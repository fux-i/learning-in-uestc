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73"/>
  </p:notesMasterIdLst>
  <p:sldIdLst>
    <p:sldId id="258" r:id="rId2"/>
    <p:sldId id="665" r:id="rId3"/>
    <p:sldId id="666" r:id="rId4"/>
    <p:sldId id="668" r:id="rId5"/>
    <p:sldId id="667" r:id="rId6"/>
    <p:sldId id="670" r:id="rId7"/>
    <p:sldId id="669" r:id="rId8"/>
    <p:sldId id="671" r:id="rId9"/>
    <p:sldId id="672" r:id="rId10"/>
    <p:sldId id="673" r:id="rId11"/>
    <p:sldId id="674" r:id="rId12"/>
    <p:sldId id="675" r:id="rId13"/>
    <p:sldId id="676" r:id="rId14"/>
    <p:sldId id="677" r:id="rId15"/>
    <p:sldId id="678" r:id="rId16"/>
    <p:sldId id="631" r:id="rId17"/>
    <p:sldId id="336" r:id="rId18"/>
    <p:sldId id="337" r:id="rId19"/>
    <p:sldId id="338" r:id="rId20"/>
    <p:sldId id="339" r:id="rId21"/>
    <p:sldId id="340" r:id="rId22"/>
    <p:sldId id="341" r:id="rId23"/>
    <p:sldId id="342" r:id="rId24"/>
    <p:sldId id="343" r:id="rId25"/>
    <p:sldId id="344" r:id="rId26"/>
    <p:sldId id="345" r:id="rId27"/>
    <p:sldId id="346" r:id="rId28"/>
    <p:sldId id="347" r:id="rId29"/>
    <p:sldId id="348" r:id="rId30"/>
    <p:sldId id="349" r:id="rId31"/>
    <p:sldId id="625" r:id="rId32"/>
    <p:sldId id="626" r:id="rId33"/>
    <p:sldId id="627" r:id="rId34"/>
    <p:sldId id="679" r:id="rId35"/>
    <p:sldId id="629" r:id="rId36"/>
    <p:sldId id="682" r:id="rId37"/>
    <p:sldId id="632" r:id="rId38"/>
    <p:sldId id="633" r:id="rId39"/>
    <p:sldId id="634" r:id="rId40"/>
    <p:sldId id="635" r:id="rId41"/>
    <p:sldId id="643" r:id="rId42"/>
    <p:sldId id="644" r:id="rId43"/>
    <p:sldId id="692" r:id="rId44"/>
    <p:sldId id="693" r:id="rId45"/>
    <p:sldId id="694" r:id="rId46"/>
    <p:sldId id="638" r:id="rId47"/>
    <p:sldId id="639" r:id="rId48"/>
    <p:sldId id="645" r:id="rId49"/>
    <p:sldId id="646" r:id="rId50"/>
    <p:sldId id="647" r:id="rId51"/>
    <p:sldId id="648" r:id="rId52"/>
    <p:sldId id="649" r:id="rId53"/>
    <p:sldId id="650" r:id="rId54"/>
    <p:sldId id="651" r:id="rId55"/>
    <p:sldId id="652" r:id="rId56"/>
    <p:sldId id="653" r:id="rId57"/>
    <p:sldId id="662" r:id="rId58"/>
    <p:sldId id="663" r:id="rId59"/>
    <p:sldId id="654" r:id="rId60"/>
    <p:sldId id="655" r:id="rId61"/>
    <p:sldId id="664" r:id="rId62"/>
    <p:sldId id="656" r:id="rId63"/>
    <p:sldId id="657" r:id="rId64"/>
    <p:sldId id="658" r:id="rId65"/>
    <p:sldId id="659" r:id="rId66"/>
    <p:sldId id="618" r:id="rId67"/>
    <p:sldId id="1274" r:id="rId68"/>
    <p:sldId id="619" r:id="rId69"/>
    <p:sldId id="1277" r:id="rId70"/>
    <p:sldId id="1273" r:id="rId71"/>
    <p:sldId id="1270" r:id="rId72"/>
  </p:sldIdLst>
  <p:sldSz cx="9144000" cy="5143500" type="screen16x9"/>
  <p:notesSz cx="7099300" cy="10234613"/>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498"/>
    <p:restoredTop sz="85714"/>
  </p:normalViewPr>
  <p:slideViewPr>
    <p:cSldViewPr showGuides="1">
      <p:cViewPr varScale="1">
        <p:scale>
          <a:sx n="119" d="100"/>
          <a:sy n="119" d="100"/>
        </p:scale>
        <p:origin x="720" y="176"/>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4465638" cy="350838"/>
          </a:xfrm>
          <a:prstGeom prst="rect">
            <a:avLst/>
          </a:prstGeom>
          <a:noFill/>
          <a:ln w="9525">
            <a:noFill/>
            <a:miter lim="800000"/>
          </a:ln>
        </p:spPr>
        <p:txBody>
          <a:bodyPr vert="horz" wrap="square" lIns="77867" tIns="38933" rIns="77867" bIns="38933" numCol="1" anchor="t" anchorCtr="0" compatLnSpc="1"/>
          <a:lstStyle>
            <a:lvl1pPr defTabSz="974725" eaLnBrk="0" hangingPunct="0">
              <a:buFont typeface="Arial" panose="020B0604020202090204" pitchFamily="34" charset="0"/>
              <a:buNone/>
              <a:defRPr sz="1300" b="1">
                <a:latin typeface="Arial" panose="020B0604020202090204" pitchFamily="34" charset="0"/>
              </a:defRPr>
            </a:lvl1pPr>
          </a:lstStyle>
          <a:p>
            <a:pPr marL="0" marR="0" lvl="0" indent="0" algn="l" defTabSz="974725"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zh-CN" altLang="en-US" sz="1300" b="1" i="0" u="none" strike="noStrike" kern="1200" cap="none" spc="0" normalizeH="0" baseline="0" noProof="0">
              <a:ln>
                <a:noFill/>
              </a:ln>
              <a:solidFill>
                <a:schemeClr val="tx1"/>
              </a:solidFill>
              <a:effectLst/>
              <a:uLnTx/>
              <a:uFillTx/>
              <a:latin typeface="Arial" panose="020B060402020209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5805488" y="0"/>
            <a:ext cx="4465638" cy="350838"/>
          </a:xfrm>
          <a:prstGeom prst="rect">
            <a:avLst/>
          </a:prstGeom>
          <a:noFill/>
          <a:ln w="9525">
            <a:noFill/>
            <a:miter lim="800000"/>
          </a:ln>
        </p:spPr>
        <p:txBody>
          <a:bodyPr vert="horz" wrap="square" lIns="77867" tIns="38933" rIns="77867" bIns="38933" numCol="1" anchor="t" anchorCtr="0" compatLnSpc="1"/>
          <a:lstStyle>
            <a:lvl1pPr algn="r" defTabSz="974725" eaLnBrk="0" hangingPunct="0">
              <a:buFont typeface="Arial" panose="020B0604020202090204" pitchFamily="34" charset="0"/>
              <a:buNone/>
              <a:defRPr sz="1300" b="1">
                <a:latin typeface="Arial" panose="020B0604020202090204" pitchFamily="34" charset="0"/>
              </a:defRPr>
            </a:lvl1pPr>
          </a:lstStyle>
          <a:p>
            <a:pPr marL="0" marR="0" lvl="0" indent="0" algn="r" defTabSz="974725"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en-US" sz="1300" b="1" i="0" u="none" strike="noStrike" kern="1200" cap="none" spc="0" normalizeH="0" baseline="0" noProof="0">
              <a:ln>
                <a:noFill/>
              </a:ln>
              <a:solidFill>
                <a:schemeClr val="tx1"/>
              </a:solidFill>
              <a:effectLst/>
              <a:uLnTx/>
              <a:uFillTx/>
              <a:latin typeface="Arial" panose="020B0604020202090204" pitchFamily="34" charset="0"/>
              <a:ea typeface="宋体" panose="02010600030101010101" pitchFamily="2" charset="-122"/>
              <a:cs typeface="+mn-cs"/>
            </a:endParaRPr>
          </a:p>
        </p:txBody>
      </p:sp>
      <p:sp>
        <p:nvSpPr>
          <p:cNvPr id="18436" name="Rectangle 4"/>
          <p:cNvSpPr>
            <a:spLocks noGrp="1" noRot="1" noChangeAspect="1" noTextEdit="1"/>
          </p:cNvSpPr>
          <p:nvPr>
            <p:ph type="sldImg" idx="2"/>
          </p:nvPr>
        </p:nvSpPr>
        <p:spPr>
          <a:xfrm>
            <a:off x="2692400" y="523875"/>
            <a:ext cx="4775200" cy="2686050"/>
          </a:xfrm>
          <a:prstGeom prst="rect">
            <a:avLst/>
          </a:prstGeom>
          <a:noFill/>
          <a:ln w="9525">
            <a:noFill/>
          </a:ln>
        </p:spPr>
      </p:sp>
      <p:sp>
        <p:nvSpPr>
          <p:cNvPr id="3077" name="Rectangle 5"/>
          <p:cNvSpPr>
            <a:spLocks noGrp="1" noChangeArrowheads="1" noTextEdit="1"/>
          </p:cNvSpPr>
          <p:nvPr>
            <p:ph type="body" sz="quarter" idx="3"/>
          </p:nvPr>
        </p:nvSpPr>
        <p:spPr bwMode="auto">
          <a:xfrm>
            <a:off x="1341438" y="3382963"/>
            <a:ext cx="7478713" cy="3211513"/>
          </a:xfrm>
          <a:prstGeom prst="rect">
            <a:avLst/>
          </a:prstGeom>
          <a:noFill/>
          <a:ln w="9525">
            <a:noFill/>
            <a:miter lim="800000"/>
          </a:ln>
        </p:spPr>
        <p:txBody>
          <a:bodyPr vert="horz" wrap="square" lIns="77867" tIns="38933" rIns="77867" bIns="38933" numCol="1" anchor="ctr" anchorCtr="0" compatLnSpc="1"/>
          <a:lstStyle/>
          <a:p>
            <a:pPr marL="113030" marR="0" lvl="0" indent="-113030" algn="l" defTabSz="1021080" rtl="0" eaLnBrk="0" fontAlgn="base" latinLnBrk="0" hangingPunct="0">
              <a:lnSpc>
                <a:spcPct val="90000"/>
              </a:lnSpc>
              <a:spcBef>
                <a:spcPct val="40000"/>
              </a:spcBef>
              <a:spcAft>
                <a:spcPct val="0"/>
              </a:spcAft>
              <a:buClrTx/>
              <a:buSzPct val="100000"/>
              <a:buFontTx/>
              <a:buChar char="•"/>
              <a:defRPr/>
            </a:pPr>
            <a:endParaRPr kumimoji="0" lang="zh-CN" altLang="zh-CN" sz="1400" b="0" i="0" u="none" strike="noStrike" kern="1200" cap="none" spc="0" normalizeH="0" baseline="0" noProof="0">
              <a:ln>
                <a:noFill/>
              </a:ln>
              <a:solidFill>
                <a:schemeClr val="tx1"/>
              </a:solidFill>
              <a:effectLst/>
              <a:uLnTx/>
              <a:uFillTx/>
              <a:latin typeface="Arial" panose="020B0604020202090204" pitchFamily="34" charset="0"/>
              <a:ea typeface="+mn-ea"/>
              <a:cs typeface="+mn-cs"/>
            </a:endParaRPr>
          </a:p>
        </p:txBody>
      </p:sp>
      <p:sp>
        <p:nvSpPr>
          <p:cNvPr id="3078" name="Rectangle 6"/>
          <p:cNvSpPr>
            <a:spLocks noGrp="1" noChangeArrowheads="1"/>
          </p:cNvSpPr>
          <p:nvPr>
            <p:ph type="ftr" sz="quarter" idx="4"/>
          </p:nvPr>
        </p:nvSpPr>
        <p:spPr bwMode="auto">
          <a:xfrm>
            <a:off x="0" y="6769100"/>
            <a:ext cx="4465638" cy="347663"/>
          </a:xfrm>
          <a:prstGeom prst="rect">
            <a:avLst/>
          </a:prstGeom>
          <a:noFill/>
          <a:ln w="9525">
            <a:noFill/>
            <a:miter lim="800000"/>
          </a:ln>
        </p:spPr>
        <p:txBody>
          <a:bodyPr vert="horz" wrap="square" lIns="77867" tIns="38933" rIns="77867" bIns="38933" numCol="1" anchor="b" anchorCtr="0" compatLnSpc="1"/>
          <a:lstStyle>
            <a:lvl1pPr defTabSz="974725" eaLnBrk="0" hangingPunct="0">
              <a:buFont typeface="Arial" panose="020B0604020202090204" pitchFamily="34" charset="0"/>
              <a:buNone/>
              <a:defRPr sz="1300" b="1">
                <a:latin typeface="Arial" panose="020B0604020202090204" pitchFamily="34" charset="0"/>
              </a:defRPr>
            </a:lvl1pPr>
          </a:lstStyle>
          <a:p>
            <a:pPr marL="0" marR="0" lvl="0" indent="0" algn="l" defTabSz="974725" rtl="0" eaLnBrk="0" fontAlgn="base" latinLnBrk="0" hangingPunct="0">
              <a:lnSpc>
                <a:spcPct val="100000"/>
              </a:lnSpc>
              <a:spcBef>
                <a:spcPct val="0"/>
              </a:spcBef>
              <a:spcAft>
                <a:spcPct val="0"/>
              </a:spcAft>
              <a:buClrTx/>
              <a:buSzTx/>
              <a:buFont typeface="Arial" panose="020B0604020202090204" pitchFamily="34" charset="0"/>
              <a:buNone/>
              <a:defRPr/>
            </a:pPr>
            <a:endParaRPr kumimoji="0" lang="en-US" sz="1300" b="1" i="0" u="none" strike="noStrike" kern="1200" cap="none" spc="0" normalizeH="0" baseline="0" noProof="0">
              <a:ln>
                <a:noFill/>
              </a:ln>
              <a:solidFill>
                <a:schemeClr val="tx1"/>
              </a:solidFill>
              <a:effectLst/>
              <a:uLnTx/>
              <a:uFillTx/>
              <a:latin typeface="Arial" panose="020B060402020209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5805488" y="6769100"/>
            <a:ext cx="4465638" cy="347663"/>
          </a:xfrm>
          <a:prstGeom prst="rect">
            <a:avLst/>
          </a:prstGeom>
          <a:noFill/>
          <a:ln w="9525">
            <a:noFill/>
            <a:miter lim="800000"/>
          </a:ln>
        </p:spPr>
        <p:txBody>
          <a:bodyPr vert="horz" wrap="square" lIns="77867" tIns="38933" rIns="77867" bIns="38933" numCol="1" anchor="b" anchorCtr="0" compatLnSpc="1"/>
          <a:lstStyle/>
          <a:p>
            <a:pPr lvl="0" algn="r" defTabSz="974725">
              <a:buNone/>
            </a:pPr>
            <a:fld id="{9A0DB2DC-4C9A-4742-B13C-FB6460FD3503}" type="slidenum">
              <a:rPr lang="zh-CN" altLang="en-US" sz="1300" b="1"/>
              <a:t>‹#›</a:t>
            </a:fld>
            <a:endParaRPr lang="zh-CN" altLang="en-US" sz="1300" b="1"/>
          </a:p>
        </p:txBody>
      </p:sp>
    </p:spTree>
  </p:cSld>
  <p:clrMap bg1="lt1" tx1="dk1" bg2="lt2" tx2="dk2" accent1="accent1" accent2="accent2" accent3="accent3" accent4="accent4" accent5="accent5" accent6="accent6" hlink="hlink" folHlink="folHlink"/>
  <p:hf sldNum="0" hdr="0" ftr="0" dt="0"/>
  <p:notesStyle>
    <a:lvl1pPr marL="113030" indent="-113030"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1pPr>
    <a:lvl2pPr marL="482600" indent="-120650"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2pPr>
    <a:lvl3pPr marL="967105" indent="-52705"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3pPr>
    <a:lvl4pPr marL="1449705" indent="-78105"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4pPr>
    <a:lvl5pPr marL="1932305" indent="-103505" algn="l" defTabSz="1021080" rtl="0" eaLnBrk="0" fontAlgn="base" hangingPunct="0">
      <a:lnSpc>
        <a:spcPct val="90000"/>
      </a:lnSpc>
      <a:spcBef>
        <a:spcPct val="40000"/>
      </a:spcBef>
      <a:spcAft>
        <a:spcPct val="0"/>
      </a:spcAft>
      <a:buSzPct val="100000"/>
      <a:buChar char="•"/>
      <a:defRPr sz="1400" kern="1200">
        <a:solidFill>
          <a:schemeClr val="tx1"/>
        </a:solidFill>
        <a:latin typeface="Arial" panose="020B060402020209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noTextEdit="1"/>
          </p:cNvSpPr>
          <p:nvPr>
            <p:ph type="sldImg"/>
          </p:nvPr>
        </p:nvSpPr>
        <p:spPr>
          <a:ln/>
        </p:spPr>
      </p:sp>
      <p:sp>
        <p:nvSpPr>
          <p:cNvPr id="36866" name="备注占位符 2"/>
          <p:cNvSpPr>
            <a:spLocks noGrp="1"/>
          </p:cNvSpPr>
          <p:nvPr>
            <p:ph type="body" idx="1"/>
          </p:nvPr>
        </p:nvSpPr>
        <p:spPr>
          <a:xfrm>
            <a:off x="1341438" y="3382963"/>
            <a:ext cx="7478712" cy="3211512"/>
          </a:xfrm>
          <a:ln/>
        </p:spPr>
        <p:txBody>
          <a:bodyPr wrap="square" lIns="77867" tIns="38933" rIns="77867" bIns="38933" anchor="ctr" anchorCtr="0"/>
          <a:lstStyle/>
          <a:p>
            <a:pPr lvl="0"/>
            <a:endParaRPr lang="zh-CN" altLang="en-US">
              <a:ea typeface="宋体" panose="02010600030101010101" pitchFamily="2" charset="-122"/>
            </a:endParaRPr>
          </a:p>
        </p:txBody>
      </p:sp>
      <p:sp>
        <p:nvSpPr>
          <p:cNvPr id="36867" name="灯片编号占位符 3"/>
          <p:cNvSpPr txBox="1">
            <a:spLocks noGrp="1"/>
          </p:cNvSpPr>
          <p:nvPr>
            <p:ph type="sldNum" sz="quarter"/>
          </p:nvPr>
        </p:nvSpPr>
        <p:spPr>
          <a:xfrm>
            <a:off x="5805488" y="6769100"/>
            <a:ext cx="4465637" cy="347663"/>
          </a:xfrm>
          <a:prstGeom prst="rect">
            <a:avLst/>
          </a:prstGeom>
          <a:noFill/>
          <a:ln w="9525">
            <a:noFill/>
          </a:ln>
        </p:spPr>
        <p:txBody>
          <a:bodyPr lIns="77867" tIns="38933" rIns="77867" bIns="38933" anchor="b" anchorCtr="0"/>
          <a:lstStyle/>
          <a:p>
            <a:pPr lvl="0" algn="r" defTabSz="974725"/>
            <a:fld id="{9A0DB2DC-4C9A-4742-B13C-FB6460FD3503}" type="slidenum">
              <a:rPr lang="zh-CN" altLang="en-US" sz="1300" b="1"/>
              <a:t>17</a:t>
            </a:fld>
            <a:endParaRPr lang="zh-CN" altLang="en-US" sz="1300" b="1"/>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txBox="1">
            <a:spLocks noGrp="1"/>
          </p:cNvSpPr>
          <p:nvPr>
            <p:ph type="sldNum" sz="quarter"/>
          </p:nvPr>
        </p:nvSpPr>
        <p:spPr>
          <a:xfrm>
            <a:off x="5805488" y="6769100"/>
            <a:ext cx="4465637" cy="347663"/>
          </a:xfrm>
          <a:prstGeom prst="rect">
            <a:avLst/>
          </a:prstGeom>
          <a:noFill/>
          <a:ln w="9525">
            <a:noFill/>
          </a:ln>
        </p:spPr>
        <p:txBody>
          <a:bodyPr lIns="77867" tIns="38933" rIns="77867" bIns="38933" anchor="b" anchorCtr="0"/>
          <a:lstStyle/>
          <a:p>
            <a:pPr lvl="0" algn="r" defTabSz="974725"/>
            <a:fld id="{9A0DB2DC-4C9A-4742-B13C-FB6460FD3503}" type="slidenum">
              <a:rPr lang="en-US" altLang="zh-CN" sz="1200" b="1"/>
              <a:t>36</a:t>
            </a:fld>
            <a:endParaRPr lang="en-US" altLang="zh-CN" sz="1200" b="1"/>
          </a:p>
        </p:txBody>
      </p:sp>
      <p:sp>
        <p:nvSpPr>
          <p:cNvPr id="57346" name="Rectangle 2"/>
          <p:cNvSpPr>
            <a:spLocks noGrp="1" noRot="1" noChangeAspect="1" noTextEdit="1"/>
          </p:cNvSpPr>
          <p:nvPr>
            <p:ph type="sldImg"/>
          </p:nvPr>
        </p:nvSpPr>
        <p:spPr>
          <a:ln/>
        </p:spPr>
      </p:sp>
      <p:sp>
        <p:nvSpPr>
          <p:cNvPr id="57347" name="Rectangle 3"/>
          <p:cNvSpPr>
            <a:spLocks noGrp="1"/>
          </p:cNvSpPr>
          <p:nvPr>
            <p:ph type="body" idx="1"/>
          </p:nvPr>
        </p:nvSpPr>
        <p:spPr>
          <a:xfrm>
            <a:off x="1341438" y="3382963"/>
            <a:ext cx="7478712" cy="3211512"/>
          </a:xfrm>
          <a:ln/>
        </p:spPr>
        <p:txBody>
          <a:bodyPr wrap="square" lIns="77867" tIns="38933" rIns="77867" bIns="38933" anchor="ctr" anchorCtr="0"/>
          <a:lstStyle/>
          <a:p>
            <a:pPr lvl="0" eaLnBrk="1" hangingPunct="1"/>
            <a:endParaRPr lang="zh-CN" altLang="zh-CN">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noTextEdit="1"/>
          </p:cNvSpPr>
          <p:nvPr>
            <p:ph type="sldImg"/>
          </p:nvPr>
        </p:nvSpPr>
        <p:spPr>
          <a:ln>
            <a:solidFill>
              <a:srgbClr val="000000">
                <a:alpha val="100000"/>
              </a:srgbClr>
            </a:solidFill>
            <a:miter lim="800000"/>
          </a:ln>
        </p:spPr>
      </p:sp>
      <p:sp>
        <p:nvSpPr>
          <p:cNvPr id="78850" name="备注占位符 2"/>
          <p:cNvSpPr>
            <a:spLocks noGrp="1"/>
          </p:cNvSpPr>
          <p:nvPr>
            <p:ph type="body" idx="1"/>
          </p:nvPr>
        </p:nvSpPr>
        <p:spPr>
          <a:xfrm>
            <a:off x="1341438" y="3382963"/>
            <a:ext cx="7478712" cy="3211512"/>
          </a:xfrm>
          <a:ln/>
        </p:spPr>
        <p:txBody>
          <a:bodyPr wrap="square" lIns="77867" tIns="38933" rIns="77867" bIns="38933" anchor="ctr" anchorCtr="0"/>
          <a:lstStyle/>
          <a:p>
            <a:pPr lvl="0"/>
            <a:endParaRPr lang="zh-CN" altLang="en-US"/>
          </a:p>
        </p:txBody>
      </p:sp>
      <p:sp>
        <p:nvSpPr>
          <p:cNvPr id="78851" name="灯片编号占位符 3"/>
          <p:cNvSpPr txBox="1">
            <a:spLocks noGrp="1"/>
          </p:cNvSpPr>
          <p:nvPr>
            <p:ph type="sldNum" sz="quarter"/>
          </p:nvPr>
        </p:nvSpPr>
        <p:spPr>
          <a:xfrm>
            <a:off x="5805488" y="6769100"/>
            <a:ext cx="4465637" cy="347663"/>
          </a:xfrm>
          <a:prstGeom prst="rect">
            <a:avLst/>
          </a:prstGeom>
          <a:noFill/>
          <a:ln w="9525">
            <a:noFill/>
          </a:ln>
        </p:spPr>
        <p:txBody>
          <a:bodyPr lIns="77867" tIns="38933" rIns="77867" bIns="38933" anchor="b" anchorCtr="0"/>
          <a:lstStyle/>
          <a:p>
            <a:pPr lvl="0" algn="r" defTabSz="974725"/>
            <a:fld id="{9A0DB2DC-4C9A-4742-B13C-FB6460FD3503}" type="slidenum">
              <a:rPr lang="en-US" sz="1300">
                <a:latin typeface="等线" pitchFamily="2" charset="-122"/>
                <a:ea typeface="等线" pitchFamily="2" charset="-122"/>
              </a:rPr>
              <a:t>68</a:t>
            </a:fld>
            <a:endParaRPr lang="en-US" altLang="en-US" sz="1300">
              <a:latin typeface="等线" pitchFamily="2" charset="-122"/>
              <a:ea typeface="等线"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AD177-631A-9B07-D904-86AD63528E21}"/>
            </a:ext>
          </a:extLst>
        </p:cNvPr>
        <p:cNvGrpSpPr/>
        <p:nvPr/>
      </p:nvGrpSpPr>
      <p:grpSpPr>
        <a:xfrm>
          <a:off x="0" y="0"/>
          <a:ext cx="0" cy="0"/>
          <a:chOff x="0" y="0"/>
          <a:chExt cx="0" cy="0"/>
        </a:xfrm>
      </p:grpSpPr>
      <p:sp>
        <p:nvSpPr>
          <p:cNvPr id="78849" name="幻灯片图像占位符 1">
            <a:extLst>
              <a:ext uri="{FF2B5EF4-FFF2-40B4-BE49-F238E27FC236}">
                <a16:creationId xmlns:a16="http://schemas.microsoft.com/office/drawing/2014/main" id="{45E8FEB1-7591-1F93-4F5D-E93FF24F723F}"/>
              </a:ext>
            </a:extLst>
          </p:cNvPr>
          <p:cNvSpPr>
            <a:spLocks noGrp="1" noRot="1" noChangeAspect="1" noTextEdit="1"/>
          </p:cNvSpPr>
          <p:nvPr>
            <p:ph type="sldImg"/>
          </p:nvPr>
        </p:nvSpPr>
        <p:spPr>
          <a:ln>
            <a:solidFill>
              <a:srgbClr val="000000">
                <a:alpha val="100000"/>
              </a:srgbClr>
            </a:solidFill>
            <a:miter lim="800000"/>
          </a:ln>
        </p:spPr>
      </p:sp>
      <p:sp>
        <p:nvSpPr>
          <p:cNvPr id="78850" name="备注占位符 2">
            <a:extLst>
              <a:ext uri="{FF2B5EF4-FFF2-40B4-BE49-F238E27FC236}">
                <a16:creationId xmlns:a16="http://schemas.microsoft.com/office/drawing/2014/main" id="{8C30B1F7-5BC6-8915-3B8C-BC3A36E2F692}"/>
              </a:ext>
            </a:extLst>
          </p:cNvPr>
          <p:cNvSpPr>
            <a:spLocks noGrp="1"/>
          </p:cNvSpPr>
          <p:nvPr>
            <p:ph type="body" idx="1"/>
          </p:nvPr>
        </p:nvSpPr>
        <p:spPr>
          <a:xfrm>
            <a:off x="1341438" y="3382963"/>
            <a:ext cx="7478712" cy="3211512"/>
          </a:xfrm>
          <a:ln/>
        </p:spPr>
        <p:txBody>
          <a:bodyPr wrap="square" lIns="77867" tIns="38933" rIns="77867" bIns="38933" anchor="ctr" anchorCtr="0"/>
          <a:lstStyle/>
          <a:p>
            <a:pPr lvl="0"/>
            <a:endParaRPr lang="zh-CN" altLang="en-US"/>
          </a:p>
        </p:txBody>
      </p:sp>
      <p:sp>
        <p:nvSpPr>
          <p:cNvPr id="78851" name="灯片编号占位符 3">
            <a:extLst>
              <a:ext uri="{FF2B5EF4-FFF2-40B4-BE49-F238E27FC236}">
                <a16:creationId xmlns:a16="http://schemas.microsoft.com/office/drawing/2014/main" id="{BB3D1714-2867-33F1-15B2-C7A5D40C6BAC}"/>
              </a:ext>
            </a:extLst>
          </p:cNvPr>
          <p:cNvSpPr txBox="1">
            <a:spLocks noGrp="1"/>
          </p:cNvSpPr>
          <p:nvPr>
            <p:ph type="sldNum" sz="quarter"/>
          </p:nvPr>
        </p:nvSpPr>
        <p:spPr>
          <a:xfrm>
            <a:off x="5805488" y="6769100"/>
            <a:ext cx="4465637" cy="347663"/>
          </a:xfrm>
          <a:prstGeom prst="rect">
            <a:avLst/>
          </a:prstGeom>
          <a:noFill/>
          <a:ln w="9525">
            <a:noFill/>
          </a:ln>
        </p:spPr>
        <p:txBody>
          <a:bodyPr lIns="77867" tIns="38933" rIns="77867" bIns="38933" anchor="b" anchorCtr="0"/>
          <a:lstStyle/>
          <a:p>
            <a:pPr lvl="0" algn="r" defTabSz="974725"/>
            <a:fld id="{9A0DB2DC-4C9A-4742-B13C-FB6460FD3503}" type="slidenum">
              <a:rPr lang="en-US" sz="1300">
                <a:latin typeface="等线" pitchFamily="2" charset="-122"/>
                <a:ea typeface="等线" pitchFamily="2" charset="-122"/>
              </a:rPr>
              <a:t>69</a:t>
            </a:fld>
            <a:endParaRPr lang="en-US" altLang="en-US" sz="1300">
              <a:latin typeface="等线" pitchFamily="2" charset="-122"/>
              <a:ea typeface="等线" pitchFamily="2" charset="-122"/>
            </a:endParaRPr>
          </a:p>
        </p:txBody>
      </p:sp>
    </p:spTree>
    <p:extLst>
      <p:ext uri="{BB962C8B-B14F-4D97-AF65-F5344CB8AC3E}">
        <p14:creationId xmlns:p14="http://schemas.microsoft.com/office/powerpoint/2010/main" val="4043260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幻灯片图像占位符 1"/>
          <p:cNvSpPr>
            <a:spLocks noGrp="1" noRot="1" noChangeAspect="1" noTextEdit="1"/>
          </p:cNvSpPr>
          <p:nvPr>
            <p:ph type="sldImg"/>
          </p:nvPr>
        </p:nvSpPr>
        <p:spPr>
          <a:ln>
            <a:solidFill>
              <a:srgbClr val="000000">
                <a:alpha val="100000"/>
              </a:srgbClr>
            </a:solidFill>
            <a:miter lim="800000"/>
          </a:ln>
        </p:spPr>
      </p:sp>
      <p:sp>
        <p:nvSpPr>
          <p:cNvPr id="84994" name="备注占位符 2"/>
          <p:cNvSpPr>
            <a:spLocks noGrp="1"/>
          </p:cNvSpPr>
          <p:nvPr>
            <p:ph type="body" idx="1"/>
          </p:nvPr>
        </p:nvSpPr>
        <p:spPr>
          <a:xfrm>
            <a:off x="1341438" y="3382963"/>
            <a:ext cx="7478712" cy="3211512"/>
          </a:xfrm>
          <a:ln/>
        </p:spPr>
        <p:txBody>
          <a:bodyPr wrap="square" lIns="77867" tIns="38933" rIns="77867" bIns="38933" anchor="ctr" anchorCtr="0"/>
          <a:lstStyle/>
          <a:p>
            <a:pPr lvl="0"/>
            <a:endParaRPr lang="zh-CN" altLang="en-US"/>
          </a:p>
        </p:txBody>
      </p:sp>
      <p:sp>
        <p:nvSpPr>
          <p:cNvPr id="84995" name="灯片编号占位符 3"/>
          <p:cNvSpPr txBox="1">
            <a:spLocks noGrp="1"/>
          </p:cNvSpPr>
          <p:nvPr>
            <p:ph type="sldNum" sz="quarter"/>
          </p:nvPr>
        </p:nvSpPr>
        <p:spPr>
          <a:xfrm>
            <a:off x="5805488" y="6769100"/>
            <a:ext cx="4465637" cy="347663"/>
          </a:xfrm>
          <a:prstGeom prst="rect">
            <a:avLst/>
          </a:prstGeom>
          <a:noFill/>
          <a:ln w="9525">
            <a:noFill/>
          </a:ln>
        </p:spPr>
        <p:txBody>
          <a:bodyPr lIns="77867" tIns="38933" rIns="77867" bIns="38933" anchor="b" anchorCtr="0"/>
          <a:lstStyle/>
          <a:p>
            <a:pPr lvl="0" algn="r" defTabSz="974725"/>
            <a:fld id="{9A0DB2DC-4C9A-4742-B13C-FB6460FD3503}" type="slidenum">
              <a:rPr lang="en-US" sz="1300">
                <a:latin typeface="等线" pitchFamily="2" charset="-122"/>
                <a:ea typeface="等线" pitchFamily="2" charset="-122"/>
              </a:rPr>
              <a:t>70</a:t>
            </a:fld>
            <a:endParaRPr lang="en-US" altLang="en-US" sz="1300">
              <a:latin typeface="等线" pitchFamily="2" charset="-122"/>
              <a:ea typeface="等线"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0" y="2025650"/>
            <a:ext cx="9144000" cy="12541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highlight>
                <a:srgbClr val="004FEE"/>
              </a:highlight>
              <a:uLnTx/>
              <a:uFillTx/>
              <a:latin typeface="Microsoft YaHei" panose="020B0503020204020204" pitchFamily="34" charset="-122"/>
              <a:ea typeface="Microsoft YaHei" panose="020B0503020204020204" pitchFamily="34" charset="-122"/>
              <a:cs typeface="+mn-cs"/>
            </a:endParaRPr>
          </a:p>
        </p:txBody>
      </p:sp>
      <p:grpSp>
        <p:nvGrpSpPr>
          <p:cNvPr id="95235" name="组合 7"/>
          <p:cNvGrpSpPr>
            <a:grpSpLocks noChangeAspect="1"/>
          </p:cNvGrpSpPr>
          <p:nvPr userDrawn="1"/>
        </p:nvGrpSpPr>
        <p:grpSpPr>
          <a:xfrm>
            <a:off x="1214438" y="798513"/>
            <a:ext cx="6292850" cy="679450"/>
            <a:chOff x="8394642" y="741050"/>
            <a:chExt cx="2932231" cy="316260"/>
          </a:xfrm>
        </p:grpSpPr>
        <p:grpSp>
          <p:nvGrpSpPr>
            <p:cNvPr id="7" name="组合 6"/>
            <p:cNvGrpSpPr/>
            <p:nvPr/>
          </p:nvGrpSpPr>
          <p:grpSpPr>
            <a:xfrm>
              <a:off x="9984674" y="807628"/>
              <a:ext cx="1342199" cy="203423"/>
              <a:chOff x="5932112" y="3305663"/>
              <a:chExt cx="2557537" cy="387619"/>
            </a:xfrm>
            <a:solidFill>
              <a:srgbClr val="304394"/>
            </a:solidFill>
          </p:grpSpPr>
          <p:pic>
            <p:nvPicPr>
              <p:cNvPr id="10" name="图形 6"/>
              <p:cNvPicPr>
                <a:picLocks noChangeAspect="1"/>
              </p:cNvPicPr>
              <p:nvPr/>
            </p:nvPicPr>
            <p:blipFill>
              <a:blip r:embed="rId2" cstate="print"/>
              <a:stretch>
                <a:fillRect/>
              </a:stretch>
            </p:blipFill>
            <p:spPr>
              <a:xfrm>
                <a:off x="5936891" y="3612719"/>
                <a:ext cx="2552758" cy="80563"/>
              </a:xfrm>
              <a:prstGeom prst="rect">
                <a:avLst/>
              </a:prstGeom>
            </p:spPr>
          </p:pic>
          <p:grpSp>
            <p:nvGrpSpPr>
              <p:cNvPr id="11" name="图形 378"/>
              <p:cNvGrpSpPr/>
              <p:nvPr/>
            </p:nvGrpSpPr>
            <p:grpSpPr>
              <a:xfrm>
                <a:off x="5932112" y="3305663"/>
                <a:ext cx="2553136" cy="260956"/>
                <a:chOff x="5932112" y="3305663"/>
                <a:chExt cx="2553136" cy="260956"/>
              </a:xfrm>
              <a:grpFill/>
            </p:grpSpPr>
            <p:sp>
              <p:nvSpPr>
                <p:cNvPr id="12" name="任意多边形: 形状 12"/>
                <p:cNvSpPr/>
                <p:nvPr/>
              </p:nvSpPr>
              <p:spPr>
                <a:xfrm>
                  <a:off x="5932112" y="3305663"/>
                  <a:ext cx="261335" cy="260767"/>
                </a:xfrm>
                <a:custGeom>
                  <a:avLst/>
                  <a:gdLst>
                    <a:gd name="connsiteX0" fmla="*/ 0 w 261335"/>
                    <a:gd name="connsiteY0" fmla="*/ 130100 h 260767"/>
                    <a:gd name="connsiteX1" fmla="*/ 11552 w 261335"/>
                    <a:gd name="connsiteY1" fmla="*/ 99989 h 260767"/>
                    <a:gd name="connsiteX2" fmla="*/ 22914 w 261335"/>
                    <a:gd name="connsiteY2" fmla="*/ 64766 h 260767"/>
                    <a:gd name="connsiteX3" fmla="*/ 32572 w 261335"/>
                    <a:gd name="connsiteY3" fmla="*/ 29732 h 260767"/>
                    <a:gd name="connsiteX4" fmla="*/ 39200 w 261335"/>
                    <a:gd name="connsiteY4" fmla="*/ 1136 h 260767"/>
                    <a:gd name="connsiteX5" fmla="*/ 78401 w 261335"/>
                    <a:gd name="connsiteY5" fmla="*/ 1136 h 260767"/>
                    <a:gd name="connsiteX6" fmla="*/ 72151 w 261335"/>
                    <a:gd name="connsiteY6" fmla="*/ 28217 h 260767"/>
                    <a:gd name="connsiteX7" fmla="*/ 63819 w 261335"/>
                    <a:gd name="connsiteY7" fmla="*/ 59274 h 260767"/>
                    <a:gd name="connsiteX8" fmla="*/ 63819 w 261335"/>
                    <a:gd name="connsiteY8" fmla="*/ 260768 h 260767"/>
                    <a:gd name="connsiteX9" fmla="*/ 27838 w 261335"/>
                    <a:gd name="connsiteY9" fmla="*/ 260768 h 260767"/>
                    <a:gd name="connsiteX10" fmla="*/ 27838 w 261335"/>
                    <a:gd name="connsiteY10" fmla="*/ 130100 h 260767"/>
                    <a:gd name="connsiteX11" fmla="*/ 0 w 261335"/>
                    <a:gd name="connsiteY11" fmla="*/ 130100 h 260767"/>
                    <a:gd name="connsiteX12" fmla="*/ 150742 w 261335"/>
                    <a:gd name="connsiteY12" fmla="*/ 17233 h 260767"/>
                    <a:gd name="connsiteX13" fmla="*/ 148848 w 261335"/>
                    <a:gd name="connsiteY13" fmla="*/ 8901 h 260767"/>
                    <a:gd name="connsiteX14" fmla="*/ 146386 w 261335"/>
                    <a:gd name="connsiteY14" fmla="*/ 0 h 260767"/>
                    <a:gd name="connsiteX15" fmla="*/ 188806 w 261335"/>
                    <a:gd name="connsiteY15" fmla="*/ 0 h 260767"/>
                    <a:gd name="connsiteX16" fmla="*/ 191267 w 261335"/>
                    <a:gd name="connsiteY16" fmla="*/ 7954 h 260767"/>
                    <a:gd name="connsiteX17" fmla="*/ 193919 w 261335"/>
                    <a:gd name="connsiteY17" fmla="*/ 17044 h 260767"/>
                    <a:gd name="connsiteX18" fmla="*/ 261336 w 261335"/>
                    <a:gd name="connsiteY18" fmla="*/ 17044 h 260767"/>
                    <a:gd name="connsiteX19" fmla="*/ 261336 w 261335"/>
                    <a:gd name="connsiteY19" fmla="*/ 47343 h 260767"/>
                    <a:gd name="connsiteX20" fmla="*/ 86165 w 261335"/>
                    <a:gd name="connsiteY20" fmla="*/ 47343 h 260767"/>
                    <a:gd name="connsiteX21" fmla="*/ 86165 w 261335"/>
                    <a:gd name="connsiteY21" fmla="*/ 17044 h 260767"/>
                    <a:gd name="connsiteX22" fmla="*/ 150742 w 261335"/>
                    <a:gd name="connsiteY22" fmla="*/ 17044 h 260767"/>
                    <a:gd name="connsiteX23" fmla="*/ 255086 w 261335"/>
                    <a:gd name="connsiteY23" fmla="*/ 64198 h 260767"/>
                    <a:gd name="connsiteX24" fmla="*/ 255086 w 261335"/>
                    <a:gd name="connsiteY24" fmla="*/ 93361 h 260767"/>
                    <a:gd name="connsiteX25" fmla="*/ 92225 w 261335"/>
                    <a:gd name="connsiteY25" fmla="*/ 93361 h 260767"/>
                    <a:gd name="connsiteX26" fmla="*/ 92225 w 261335"/>
                    <a:gd name="connsiteY26" fmla="*/ 64198 h 260767"/>
                    <a:gd name="connsiteX27" fmla="*/ 255086 w 261335"/>
                    <a:gd name="connsiteY27" fmla="*/ 64198 h 260767"/>
                    <a:gd name="connsiteX28" fmla="*/ 255086 w 261335"/>
                    <a:gd name="connsiteY28" fmla="*/ 110026 h 260767"/>
                    <a:gd name="connsiteX29" fmla="*/ 255086 w 261335"/>
                    <a:gd name="connsiteY29" fmla="*/ 139568 h 260767"/>
                    <a:gd name="connsiteX30" fmla="*/ 92225 w 261335"/>
                    <a:gd name="connsiteY30" fmla="*/ 139568 h 260767"/>
                    <a:gd name="connsiteX31" fmla="*/ 92225 w 261335"/>
                    <a:gd name="connsiteY31" fmla="*/ 110026 h 260767"/>
                    <a:gd name="connsiteX32" fmla="*/ 255086 w 261335"/>
                    <a:gd name="connsiteY32" fmla="*/ 110026 h 260767"/>
                    <a:gd name="connsiteX33" fmla="*/ 254708 w 261335"/>
                    <a:gd name="connsiteY33" fmla="*/ 156233 h 260767"/>
                    <a:gd name="connsiteX34" fmla="*/ 254708 w 261335"/>
                    <a:gd name="connsiteY34" fmla="*/ 260578 h 260767"/>
                    <a:gd name="connsiteX35" fmla="*/ 92604 w 261335"/>
                    <a:gd name="connsiteY35" fmla="*/ 260578 h 260767"/>
                    <a:gd name="connsiteX36" fmla="*/ 92604 w 261335"/>
                    <a:gd name="connsiteY36" fmla="*/ 156233 h 260767"/>
                    <a:gd name="connsiteX37" fmla="*/ 254708 w 261335"/>
                    <a:gd name="connsiteY37" fmla="*/ 156233 h 260767"/>
                    <a:gd name="connsiteX38" fmla="*/ 128585 w 261335"/>
                    <a:gd name="connsiteY38" fmla="*/ 230657 h 260767"/>
                    <a:gd name="connsiteX39" fmla="*/ 218916 w 261335"/>
                    <a:gd name="connsiteY39" fmla="*/ 230657 h 260767"/>
                    <a:gd name="connsiteX40" fmla="*/ 218916 w 261335"/>
                    <a:gd name="connsiteY40" fmla="*/ 186154 h 260767"/>
                    <a:gd name="connsiteX41" fmla="*/ 128585 w 261335"/>
                    <a:gd name="connsiteY41" fmla="*/ 186154 h 260767"/>
                    <a:gd name="connsiteX42" fmla="*/ 128585 w 261335"/>
                    <a:gd name="connsiteY42" fmla="*/ 230657 h 26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1335" h="260767">
                      <a:moveTo>
                        <a:pt x="0" y="130100"/>
                      </a:moveTo>
                      <a:cubicBezTo>
                        <a:pt x="3787" y="121578"/>
                        <a:pt x="7764" y="111541"/>
                        <a:pt x="11552" y="99989"/>
                      </a:cubicBezTo>
                      <a:cubicBezTo>
                        <a:pt x="15529" y="88438"/>
                        <a:pt x="19316" y="76696"/>
                        <a:pt x="22914" y="64766"/>
                      </a:cubicBezTo>
                      <a:cubicBezTo>
                        <a:pt x="26512" y="52646"/>
                        <a:pt x="29732" y="41094"/>
                        <a:pt x="32572" y="29732"/>
                      </a:cubicBezTo>
                      <a:cubicBezTo>
                        <a:pt x="35413" y="18369"/>
                        <a:pt x="37685" y="8901"/>
                        <a:pt x="39200" y="1136"/>
                      </a:cubicBezTo>
                      <a:lnTo>
                        <a:pt x="78401" y="1136"/>
                      </a:lnTo>
                      <a:cubicBezTo>
                        <a:pt x="76696" y="9090"/>
                        <a:pt x="74613" y="18180"/>
                        <a:pt x="72151" y="28217"/>
                      </a:cubicBezTo>
                      <a:cubicBezTo>
                        <a:pt x="69690" y="38253"/>
                        <a:pt x="66849" y="48669"/>
                        <a:pt x="63819" y="59274"/>
                      </a:cubicBezTo>
                      <a:lnTo>
                        <a:pt x="63819" y="260768"/>
                      </a:lnTo>
                      <a:lnTo>
                        <a:pt x="27838" y="260768"/>
                      </a:lnTo>
                      <a:lnTo>
                        <a:pt x="27838" y="130100"/>
                      </a:lnTo>
                      <a:lnTo>
                        <a:pt x="0" y="130100"/>
                      </a:lnTo>
                      <a:close/>
                      <a:moveTo>
                        <a:pt x="150742" y="17233"/>
                      </a:moveTo>
                      <a:cubicBezTo>
                        <a:pt x="150173" y="14392"/>
                        <a:pt x="149605" y="11552"/>
                        <a:pt x="148848" y="8901"/>
                      </a:cubicBezTo>
                      <a:cubicBezTo>
                        <a:pt x="148090" y="6249"/>
                        <a:pt x="147333" y="3219"/>
                        <a:pt x="146386" y="0"/>
                      </a:cubicBezTo>
                      <a:lnTo>
                        <a:pt x="188806" y="0"/>
                      </a:lnTo>
                      <a:cubicBezTo>
                        <a:pt x="189563" y="2462"/>
                        <a:pt x="190321" y="5113"/>
                        <a:pt x="191267" y="7954"/>
                      </a:cubicBezTo>
                      <a:cubicBezTo>
                        <a:pt x="192214" y="10794"/>
                        <a:pt x="192972" y="13824"/>
                        <a:pt x="193919" y="17044"/>
                      </a:cubicBezTo>
                      <a:lnTo>
                        <a:pt x="261336" y="17044"/>
                      </a:lnTo>
                      <a:lnTo>
                        <a:pt x="261336" y="47343"/>
                      </a:lnTo>
                      <a:lnTo>
                        <a:pt x="86165" y="47343"/>
                      </a:lnTo>
                      <a:lnTo>
                        <a:pt x="86165" y="17044"/>
                      </a:lnTo>
                      <a:lnTo>
                        <a:pt x="150742" y="17044"/>
                      </a:lnTo>
                      <a:close/>
                      <a:moveTo>
                        <a:pt x="255086" y="64198"/>
                      </a:moveTo>
                      <a:lnTo>
                        <a:pt x="255086" y="93361"/>
                      </a:lnTo>
                      <a:lnTo>
                        <a:pt x="92225" y="93361"/>
                      </a:lnTo>
                      <a:lnTo>
                        <a:pt x="92225" y="64198"/>
                      </a:lnTo>
                      <a:lnTo>
                        <a:pt x="255086" y="64198"/>
                      </a:lnTo>
                      <a:close/>
                      <a:moveTo>
                        <a:pt x="255086" y="110026"/>
                      </a:moveTo>
                      <a:lnTo>
                        <a:pt x="255086" y="139568"/>
                      </a:lnTo>
                      <a:lnTo>
                        <a:pt x="92225" y="139568"/>
                      </a:lnTo>
                      <a:lnTo>
                        <a:pt x="92225" y="110026"/>
                      </a:lnTo>
                      <a:lnTo>
                        <a:pt x="255086" y="110026"/>
                      </a:lnTo>
                      <a:close/>
                      <a:moveTo>
                        <a:pt x="254708" y="156233"/>
                      </a:moveTo>
                      <a:lnTo>
                        <a:pt x="254708" y="260578"/>
                      </a:lnTo>
                      <a:lnTo>
                        <a:pt x="92604" y="260578"/>
                      </a:lnTo>
                      <a:lnTo>
                        <a:pt x="92604" y="156233"/>
                      </a:lnTo>
                      <a:lnTo>
                        <a:pt x="254708" y="156233"/>
                      </a:lnTo>
                      <a:close/>
                      <a:moveTo>
                        <a:pt x="128585" y="230657"/>
                      </a:moveTo>
                      <a:lnTo>
                        <a:pt x="218916" y="230657"/>
                      </a:lnTo>
                      <a:lnTo>
                        <a:pt x="218916" y="186154"/>
                      </a:lnTo>
                      <a:lnTo>
                        <a:pt x="128585" y="186154"/>
                      </a:lnTo>
                      <a:lnTo>
                        <a:pt x="128585" y="230657"/>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3" name="任意多边形: 形状 13"/>
                <p:cNvSpPr/>
                <p:nvPr/>
              </p:nvSpPr>
              <p:spPr>
                <a:xfrm>
                  <a:off x="6222990" y="3305663"/>
                  <a:ext cx="252813" cy="260767"/>
                </a:xfrm>
                <a:custGeom>
                  <a:avLst/>
                  <a:gdLst>
                    <a:gd name="connsiteX0" fmla="*/ 0 w 252813"/>
                    <a:gd name="connsiteY0" fmla="*/ 260768 h 260767"/>
                    <a:gd name="connsiteX1" fmla="*/ 5113 w 252813"/>
                    <a:gd name="connsiteY1" fmla="*/ 235960 h 260767"/>
                    <a:gd name="connsiteX2" fmla="*/ 9658 w 252813"/>
                    <a:gd name="connsiteY2" fmla="*/ 208690 h 260767"/>
                    <a:gd name="connsiteX3" fmla="*/ 13256 w 252813"/>
                    <a:gd name="connsiteY3" fmla="*/ 181988 h 260767"/>
                    <a:gd name="connsiteX4" fmla="*/ 15339 w 252813"/>
                    <a:gd name="connsiteY4" fmla="*/ 159642 h 260767"/>
                    <a:gd name="connsiteX5" fmla="*/ 53403 w 252813"/>
                    <a:gd name="connsiteY5" fmla="*/ 159642 h 260767"/>
                    <a:gd name="connsiteX6" fmla="*/ 50752 w 252813"/>
                    <a:gd name="connsiteY6" fmla="*/ 184261 h 260767"/>
                    <a:gd name="connsiteX7" fmla="*/ 46965 w 252813"/>
                    <a:gd name="connsiteY7" fmla="*/ 211909 h 260767"/>
                    <a:gd name="connsiteX8" fmla="*/ 42420 w 252813"/>
                    <a:gd name="connsiteY8" fmla="*/ 238800 h 260767"/>
                    <a:gd name="connsiteX9" fmla="*/ 37685 w 252813"/>
                    <a:gd name="connsiteY9" fmla="*/ 260768 h 260767"/>
                    <a:gd name="connsiteX10" fmla="*/ 0 w 252813"/>
                    <a:gd name="connsiteY10" fmla="*/ 260768 h 260767"/>
                    <a:gd name="connsiteX11" fmla="*/ 80484 w 252813"/>
                    <a:gd name="connsiteY11" fmla="*/ 12877 h 260767"/>
                    <a:gd name="connsiteX12" fmla="*/ 84271 w 252813"/>
                    <a:gd name="connsiteY12" fmla="*/ 0 h 260767"/>
                    <a:gd name="connsiteX13" fmla="*/ 134455 w 252813"/>
                    <a:gd name="connsiteY13" fmla="*/ 0 h 260767"/>
                    <a:gd name="connsiteX14" fmla="*/ 132940 w 252813"/>
                    <a:gd name="connsiteY14" fmla="*/ 6439 h 260767"/>
                    <a:gd name="connsiteX15" fmla="*/ 130857 w 252813"/>
                    <a:gd name="connsiteY15" fmla="*/ 12877 h 260767"/>
                    <a:gd name="connsiteX16" fmla="*/ 238043 w 252813"/>
                    <a:gd name="connsiteY16" fmla="*/ 12877 h 260767"/>
                    <a:gd name="connsiteX17" fmla="*/ 238043 w 252813"/>
                    <a:gd name="connsiteY17" fmla="*/ 150741 h 260767"/>
                    <a:gd name="connsiteX18" fmla="*/ 15718 w 252813"/>
                    <a:gd name="connsiteY18" fmla="*/ 150741 h 260767"/>
                    <a:gd name="connsiteX19" fmla="*/ 15718 w 252813"/>
                    <a:gd name="connsiteY19" fmla="*/ 12877 h 260767"/>
                    <a:gd name="connsiteX20" fmla="*/ 80484 w 252813"/>
                    <a:gd name="connsiteY20" fmla="*/ 12877 h 260767"/>
                    <a:gd name="connsiteX21" fmla="*/ 53214 w 252813"/>
                    <a:gd name="connsiteY21" fmla="*/ 53593 h 260767"/>
                    <a:gd name="connsiteX22" fmla="*/ 200547 w 252813"/>
                    <a:gd name="connsiteY22" fmla="*/ 53593 h 260767"/>
                    <a:gd name="connsiteX23" fmla="*/ 200547 w 252813"/>
                    <a:gd name="connsiteY23" fmla="*/ 38443 h 260767"/>
                    <a:gd name="connsiteX24" fmla="*/ 53214 w 252813"/>
                    <a:gd name="connsiteY24" fmla="*/ 38443 h 260767"/>
                    <a:gd name="connsiteX25" fmla="*/ 53214 w 252813"/>
                    <a:gd name="connsiteY25" fmla="*/ 53593 h 260767"/>
                    <a:gd name="connsiteX26" fmla="*/ 53214 w 252813"/>
                    <a:gd name="connsiteY26" fmla="*/ 89384 h 260767"/>
                    <a:gd name="connsiteX27" fmla="*/ 200547 w 252813"/>
                    <a:gd name="connsiteY27" fmla="*/ 89384 h 260767"/>
                    <a:gd name="connsiteX28" fmla="*/ 200547 w 252813"/>
                    <a:gd name="connsiteY28" fmla="*/ 74424 h 260767"/>
                    <a:gd name="connsiteX29" fmla="*/ 53214 w 252813"/>
                    <a:gd name="connsiteY29" fmla="*/ 74424 h 260767"/>
                    <a:gd name="connsiteX30" fmla="*/ 53214 w 252813"/>
                    <a:gd name="connsiteY30" fmla="*/ 89384 h 260767"/>
                    <a:gd name="connsiteX31" fmla="*/ 200547 w 252813"/>
                    <a:gd name="connsiteY31" fmla="*/ 125555 h 260767"/>
                    <a:gd name="connsiteX32" fmla="*/ 200547 w 252813"/>
                    <a:gd name="connsiteY32" fmla="*/ 110594 h 260767"/>
                    <a:gd name="connsiteX33" fmla="*/ 53214 w 252813"/>
                    <a:gd name="connsiteY33" fmla="*/ 110594 h 260767"/>
                    <a:gd name="connsiteX34" fmla="*/ 53214 w 252813"/>
                    <a:gd name="connsiteY34" fmla="*/ 125555 h 260767"/>
                    <a:gd name="connsiteX35" fmla="*/ 200547 w 252813"/>
                    <a:gd name="connsiteY35" fmla="*/ 125555 h 260767"/>
                    <a:gd name="connsiteX36" fmla="*/ 69879 w 252813"/>
                    <a:gd name="connsiteY36" fmla="*/ 260768 h 260767"/>
                    <a:gd name="connsiteX37" fmla="*/ 69879 w 252813"/>
                    <a:gd name="connsiteY37" fmla="*/ 159642 h 260767"/>
                    <a:gd name="connsiteX38" fmla="*/ 108511 w 252813"/>
                    <a:gd name="connsiteY38" fmla="*/ 159642 h 260767"/>
                    <a:gd name="connsiteX39" fmla="*/ 108511 w 252813"/>
                    <a:gd name="connsiteY39" fmla="*/ 227817 h 260767"/>
                    <a:gd name="connsiteX40" fmla="*/ 197706 w 252813"/>
                    <a:gd name="connsiteY40" fmla="*/ 227817 h 260767"/>
                    <a:gd name="connsiteX41" fmla="*/ 197706 w 252813"/>
                    <a:gd name="connsiteY41" fmla="*/ 260768 h 260767"/>
                    <a:gd name="connsiteX42" fmla="*/ 69879 w 252813"/>
                    <a:gd name="connsiteY42" fmla="*/ 260768 h 260767"/>
                    <a:gd name="connsiteX43" fmla="*/ 146575 w 252813"/>
                    <a:gd name="connsiteY43" fmla="*/ 213424 h 260767"/>
                    <a:gd name="connsiteX44" fmla="*/ 139190 w 252813"/>
                    <a:gd name="connsiteY44" fmla="*/ 187291 h 260767"/>
                    <a:gd name="connsiteX45" fmla="*/ 132940 w 252813"/>
                    <a:gd name="connsiteY45" fmla="*/ 159642 h 260767"/>
                    <a:gd name="connsiteX46" fmla="*/ 170436 w 252813"/>
                    <a:gd name="connsiteY46" fmla="*/ 159642 h 260767"/>
                    <a:gd name="connsiteX47" fmla="*/ 176496 w 252813"/>
                    <a:gd name="connsiteY47" fmla="*/ 186722 h 260767"/>
                    <a:gd name="connsiteX48" fmla="*/ 184261 w 252813"/>
                    <a:gd name="connsiteY48" fmla="*/ 213424 h 260767"/>
                    <a:gd name="connsiteX49" fmla="*/ 146575 w 252813"/>
                    <a:gd name="connsiteY49" fmla="*/ 213424 h 260767"/>
                    <a:gd name="connsiteX50" fmla="*/ 216454 w 252813"/>
                    <a:gd name="connsiteY50" fmla="*/ 260768 h 260767"/>
                    <a:gd name="connsiteX51" fmla="*/ 212667 w 252813"/>
                    <a:gd name="connsiteY51" fmla="*/ 238990 h 260767"/>
                    <a:gd name="connsiteX52" fmla="*/ 208311 w 252813"/>
                    <a:gd name="connsiteY52" fmla="*/ 212477 h 260767"/>
                    <a:gd name="connsiteX53" fmla="*/ 204334 w 252813"/>
                    <a:gd name="connsiteY53" fmla="*/ 184829 h 260767"/>
                    <a:gd name="connsiteX54" fmla="*/ 201304 w 252813"/>
                    <a:gd name="connsiteY54" fmla="*/ 159642 h 260767"/>
                    <a:gd name="connsiteX55" fmla="*/ 238043 w 252813"/>
                    <a:gd name="connsiteY55" fmla="*/ 159642 h 260767"/>
                    <a:gd name="connsiteX56" fmla="*/ 240694 w 252813"/>
                    <a:gd name="connsiteY56" fmla="*/ 182935 h 260767"/>
                    <a:gd name="connsiteX57" fmla="*/ 244292 w 252813"/>
                    <a:gd name="connsiteY57" fmla="*/ 209637 h 260767"/>
                    <a:gd name="connsiteX58" fmla="*/ 248458 w 252813"/>
                    <a:gd name="connsiteY58" fmla="*/ 236528 h 260767"/>
                    <a:gd name="connsiteX59" fmla="*/ 252814 w 252813"/>
                    <a:gd name="connsiteY59" fmla="*/ 260768 h 260767"/>
                    <a:gd name="connsiteX60" fmla="*/ 216454 w 252813"/>
                    <a:gd name="connsiteY60" fmla="*/ 260768 h 26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252813" h="260767">
                      <a:moveTo>
                        <a:pt x="0" y="260768"/>
                      </a:moveTo>
                      <a:cubicBezTo>
                        <a:pt x="1704" y="253382"/>
                        <a:pt x="3409" y="245050"/>
                        <a:pt x="5113" y="235960"/>
                      </a:cubicBezTo>
                      <a:cubicBezTo>
                        <a:pt x="6817" y="226870"/>
                        <a:pt x="8332" y="217780"/>
                        <a:pt x="9658" y="208690"/>
                      </a:cubicBezTo>
                      <a:cubicBezTo>
                        <a:pt x="10984" y="199600"/>
                        <a:pt x="12120" y="190699"/>
                        <a:pt x="13256" y="181988"/>
                      </a:cubicBezTo>
                      <a:cubicBezTo>
                        <a:pt x="14392" y="173466"/>
                        <a:pt x="14961" y="165891"/>
                        <a:pt x="15339" y="159642"/>
                      </a:cubicBezTo>
                      <a:lnTo>
                        <a:pt x="53403" y="159642"/>
                      </a:lnTo>
                      <a:cubicBezTo>
                        <a:pt x="52835" y="166838"/>
                        <a:pt x="51888" y="175171"/>
                        <a:pt x="50752" y="184261"/>
                      </a:cubicBezTo>
                      <a:cubicBezTo>
                        <a:pt x="49616" y="193351"/>
                        <a:pt x="48290" y="202630"/>
                        <a:pt x="46965" y="211909"/>
                      </a:cubicBezTo>
                      <a:cubicBezTo>
                        <a:pt x="45450" y="221188"/>
                        <a:pt x="43935" y="230089"/>
                        <a:pt x="42420" y="238800"/>
                      </a:cubicBezTo>
                      <a:cubicBezTo>
                        <a:pt x="40715" y="247511"/>
                        <a:pt x="39200" y="254708"/>
                        <a:pt x="37685" y="260768"/>
                      </a:cubicBezTo>
                      <a:lnTo>
                        <a:pt x="0" y="260768"/>
                      </a:lnTo>
                      <a:close/>
                      <a:moveTo>
                        <a:pt x="80484" y="12877"/>
                      </a:moveTo>
                      <a:cubicBezTo>
                        <a:pt x="82188" y="8901"/>
                        <a:pt x="83514" y="4545"/>
                        <a:pt x="84271" y="0"/>
                      </a:cubicBezTo>
                      <a:lnTo>
                        <a:pt x="134455" y="0"/>
                      </a:lnTo>
                      <a:cubicBezTo>
                        <a:pt x="134077" y="2083"/>
                        <a:pt x="133508" y="4166"/>
                        <a:pt x="132940" y="6439"/>
                      </a:cubicBezTo>
                      <a:cubicBezTo>
                        <a:pt x="132372" y="8711"/>
                        <a:pt x="131615" y="10794"/>
                        <a:pt x="130857" y="12877"/>
                      </a:cubicBezTo>
                      <a:lnTo>
                        <a:pt x="238043" y="12877"/>
                      </a:lnTo>
                      <a:lnTo>
                        <a:pt x="238043" y="150741"/>
                      </a:lnTo>
                      <a:lnTo>
                        <a:pt x="15718" y="150741"/>
                      </a:lnTo>
                      <a:lnTo>
                        <a:pt x="15718" y="12877"/>
                      </a:lnTo>
                      <a:lnTo>
                        <a:pt x="80484" y="12877"/>
                      </a:lnTo>
                      <a:close/>
                      <a:moveTo>
                        <a:pt x="53214" y="53593"/>
                      </a:moveTo>
                      <a:lnTo>
                        <a:pt x="200547" y="53593"/>
                      </a:lnTo>
                      <a:lnTo>
                        <a:pt x="200547" y="38443"/>
                      </a:lnTo>
                      <a:lnTo>
                        <a:pt x="53214" y="38443"/>
                      </a:lnTo>
                      <a:lnTo>
                        <a:pt x="53214" y="53593"/>
                      </a:lnTo>
                      <a:close/>
                      <a:moveTo>
                        <a:pt x="53214" y="89384"/>
                      </a:moveTo>
                      <a:lnTo>
                        <a:pt x="200547" y="89384"/>
                      </a:lnTo>
                      <a:lnTo>
                        <a:pt x="200547" y="74424"/>
                      </a:lnTo>
                      <a:lnTo>
                        <a:pt x="53214" y="74424"/>
                      </a:lnTo>
                      <a:lnTo>
                        <a:pt x="53214" y="89384"/>
                      </a:lnTo>
                      <a:close/>
                      <a:moveTo>
                        <a:pt x="200547" y="125555"/>
                      </a:moveTo>
                      <a:lnTo>
                        <a:pt x="200547" y="110594"/>
                      </a:lnTo>
                      <a:lnTo>
                        <a:pt x="53214" y="110594"/>
                      </a:lnTo>
                      <a:lnTo>
                        <a:pt x="53214" y="125555"/>
                      </a:lnTo>
                      <a:lnTo>
                        <a:pt x="200547" y="125555"/>
                      </a:lnTo>
                      <a:close/>
                      <a:moveTo>
                        <a:pt x="69879" y="260768"/>
                      </a:moveTo>
                      <a:lnTo>
                        <a:pt x="69879" y="159642"/>
                      </a:lnTo>
                      <a:lnTo>
                        <a:pt x="108511" y="159642"/>
                      </a:lnTo>
                      <a:lnTo>
                        <a:pt x="108511" y="227817"/>
                      </a:lnTo>
                      <a:lnTo>
                        <a:pt x="197706" y="227817"/>
                      </a:lnTo>
                      <a:lnTo>
                        <a:pt x="197706" y="260768"/>
                      </a:lnTo>
                      <a:lnTo>
                        <a:pt x="69879" y="260768"/>
                      </a:lnTo>
                      <a:close/>
                      <a:moveTo>
                        <a:pt x="146575" y="213424"/>
                      </a:moveTo>
                      <a:cubicBezTo>
                        <a:pt x="143924" y="205092"/>
                        <a:pt x="141462" y="196191"/>
                        <a:pt x="139190" y="187291"/>
                      </a:cubicBezTo>
                      <a:cubicBezTo>
                        <a:pt x="136917" y="178201"/>
                        <a:pt x="134834" y="168921"/>
                        <a:pt x="132940" y="159642"/>
                      </a:cubicBezTo>
                      <a:lnTo>
                        <a:pt x="170436" y="159642"/>
                      </a:lnTo>
                      <a:cubicBezTo>
                        <a:pt x="171951" y="168353"/>
                        <a:pt x="174034" y="177443"/>
                        <a:pt x="176496" y="186722"/>
                      </a:cubicBezTo>
                      <a:cubicBezTo>
                        <a:pt x="178958" y="196002"/>
                        <a:pt x="181609" y="204902"/>
                        <a:pt x="184261" y="213424"/>
                      </a:cubicBezTo>
                      <a:lnTo>
                        <a:pt x="146575" y="213424"/>
                      </a:lnTo>
                      <a:close/>
                      <a:moveTo>
                        <a:pt x="216454" y="260768"/>
                      </a:moveTo>
                      <a:cubicBezTo>
                        <a:pt x="215318" y="254708"/>
                        <a:pt x="213992" y="247322"/>
                        <a:pt x="212667" y="238990"/>
                      </a:cubicBezTo>
                      <a:cubicBezTo>
                        <a:pt x="211152" y="230657"/>
                        <a:pt x="209826" y="221757"/>
                        <a:pt x="208311" y="212477"/>
                      </a:cubicBezTo>
                      <a:cubicBezTo>
                        <a:pt x="206796" y="203198"/>
                        <a:pt x="205471" y="193919"/>
                        <a:pt x="204334" y="184829"/>
                      </a:cubicBezTo>
                      <a:cubicBezTo>
                        <a:pt x="203009" y="175739"/>
                        <a:pt x="202062" y="167217"/>
                        <a:pt x="201304" y="159642"/>
                      </a:cubicBezTo>
                      <a:lnTo>
                        <a:pt x="238043" y="159642"/>
                      </a:lnTo>
                      <a:cubicBezTo>
                        <a:pt x="238800" y="166459"/>
                        <a:pt x="239747" y="174224"/>
                        <a:pt x="240694" y="182935"/>
                      </a:cubicBezTo>
                      <a:cubicBezTo>
                        <a:pt x="241830" y="191646"/>
                        <a:pt x="242966" y="200547"/>
                        <a:pt x="244292" y="209637"/>
                      </a:cubicBezTo>
                      <a:cubicBezTo>
                        <a:pt x="245618" y="218727"/>
                        <a:pt x="246943" y="227627"/>
                        <a:pt x="248458" y="236528"/>
                      </a:cubicBezTo>
                      <a:cubicBezTo>
                        <a:pt x="249973" y="245428"/>
                        <a:pt x="251299" y="253382"/>
                        <a:pt x="252814" y="260768"/>
                      </a:cubicBezTo>
                      <a:lnTo>
                        <a:pt x="216454" y="260768"/>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4" name="任意多边形: 形状 14"/>
                <p:cNvSpPr/>
                <p:nvPr/>
              </p:nvSpPr>
              <p:spPr>
                <a:xfrm>
                  <a:off x="6505535" y="3305663"/>
                  <a:ext cx="253192" cy="260767"/>
                </a:xfrm>
                <a:custGeom>
                  <a:avLst/>
                  <a:gdLst>
                    <a:gd name="connsiteX0" fmla="*/ 186154 w 253192"/>
                    <a:gd name="connsiteY0" fmla="*/ 170815 h 260767"/>
                    <a:gd name="connsiteX1" fmla="*/ 186154 w 253192"/>
                    <a:gd name="connsiteY1" fmla="*/ 205849 h 260767"/>
                    <a:gd name="connsiteX2" fmla="*/ 0 w 253192"/>
                    <a:gd name="connsiteY2" fmla="*/ 205849 h 260767"/>
                    <a:gd name="connsiteX3" fmla="*/ 0 w 253192"/>
                    <a:gd name="connsiteY3" fmla="*/ 170815 h 260767"/>
                    <a:gd name="connsiteX4" fmla="*/ 186154 w 253192"/>
                    <a:gd name="connsiteY4" fmla="*/ 170815 h 260767"/>
                    <a:gd name="connsiteX5" fmla="*/ 188427 w 253192"/>
                    <a:gd name="connsiteY5" fmla="*/ 260768 h 260767"/>
                    <a:gd name="connsiteX6" fmla="*/ 203387 w 253192"/>
                    <a:gd name="connsiteY6" fmla="*/ 133508 h 260767"/>
                    <a:gd name="connsiteX7" fmla="*/ 20831 w 253192"/>
                    <a:gd name="connsiteY7" fmla="*/ 133508 h 260767"/>
                    <a:gd name="connsiteX8" fmla="*/ 39200 w 253192"/>
                    <a:gd name="connsiteY8" fmla="*/ 0 h 260767"/>
                    <a:gd name="connsiteX9" fmla="*/ 79916 w 253192"/>
                    <a:gd name="connsiteY9" fmla="*/ 0 h 260767"/>
                    <a:gd name="connsiteX10" fmla="*/ 76507 w 253192"/>
                    <a:gd name="connsiteY10" fmla="*/ 25755 h 260767"/>
                    <a:gd name="connsiteX11" fmla="*/ 253193 w 253192"/>
                    <a:gd name="connsiteY11" fmla="*/ 25755 h 260767"/>
                    <a:gd name="connsiteX12" fmla="*/ 253193 w 253192"/>
                    <a:gd name="connsiteY12" fmla="*/ 60410 h 260767"/>
                    <a:gd name="connsiteX13" fmla="*/ 71773 w 253192"/>
                    <a:gd name="connsiteY13" fmla="*/ 60410 h 260767"/>
                    <a:gd name="connsiteX14" fmla="*/ 66849 w 253192"/>
                    <a:gd name="connsiteY14" fmla="*/ 98285 h 260767"/>
                    <a:gd name="connsiteX15" fmla="*/ 248080 w 253192"/>
                    <a:gd name="connsiteY15" fmla="*/ 98285 h 260767"/>
                    <a:gd name="connsiteX16" fmla="*/ 228574 w 253192"/>
                    <a:gd name="connsiteY16" fmla="*/ 260768 h 260767"/>
                    <a:gd name="connsiteX17" fmla="*/ 188427 w 253192"/>
                    <a:gd name="connsiteY17" fmla="*/ 260768 h 26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3192" h="260767">
                      <a:moveTo>
                        <a:pt x="186154" y="170815"/>
                      </a:moveTo>
                      <a:lnTo>
                        <a:pt x="186154" y="205849"/>
                      </a:lnTo>
                      <a:lnTo>
                        <a:pt x="0" y="205849"/>
                      </a:lnTo>
                      <a:lnTo>
                        <a:pt x="0" y="170815"/>
                      </a:lnTo>
                      <a:lnTo>
                        <a:pt x="186154" y="170815"/>
                      </a:lnTo>
                      <a:close/>
                      <a:moveTo>
                        <a:pt x="188427" y="260768"/>
                      </a:moveTo>
                      <a:lnTo>
                        <a:pt x="203387" y="133508"/>
                      </a:lnTo>
                      <a:lnTo>
                        <a:pt x="20831" y="133508"/>
                      </a:lnTo>
                      <a:lnTo>
                        <a:pt x="39200" y="0"/>
                      </a:lnTo>
                      <a:lnTo>
                        <a:pt x="79916" y="0"/>
                      </a:lnTo>
                      <a:lnTo>
                        <a:pt x="76507" y="25755"/>
                      </a:lnTo>
                      <a:lnTo>
                        <a:pt x="253193" y="25755"/>
                      </a:lnTo>
                      <a:lnTo>
                        <a:pt x="253193" y="60410"/>
                      </a:lnTo>
                      <a:lnTo>
                        <a:pt x="71773" y="60410"/>
                      </a:lnTo>
                      <a:lnTo>
                        <a:pt x="66849" y="98285"/>
                      </a:lnTo>
                      <a:lnTo>
                        <a:pt x="248080" y="98285"/>
                      </a:lnTo>
                      <a:lnTo>
                        <a:pt x="228574" y="260768"/>
                      </a:lnTo>
                      <a:lnTo>
                        <a:pt x="188427" y="260768"/>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5" name="任意多边形: 形状 15"/>
                <p:cNvSpPr/>
                <p:nvPr/>
              </p:nvSpPr>
              <p:spPr>
                <a:xfrm>
                  <a:off x="6792436" y="3305663"/>
                  <a:ext cx="259442" cy="260956"/>
                </a:xfrm>
                <a:custGeom>
                  <a:avLst/>
                  <a:gdLst>
                    <a:gd name="connsiteX0" fmla="*/ 62493 w 259442"/>
                    <a:gd name="connsiteY0" fmla="*/ 179905 h 260956"/>
                    <a:gd name="connsiteX1" fmla="*/ 62493 w 259442"/>
                    <a:gd name="connsiteY1" fmla="*/ 145060 h 260956"/>
                    <a:gd name="connsiteX2" fmla="*/ 1515 w 259442"/>
                    <a:gd name="connsiteY2" fmla="*/ 145060 h 260956"/>
                    <a:gd name="connsiteX3" fmla="*/ 13067 w 259442"/>
                    <a:gd name="connsiteY3" fmla="*/ 100179 h 260956"/>
                    <a:gd name="connsiteX4" fmla="*/ 21778 w 259442"/>
                    <a:gd name="connsiteY4" fmla="*/ 55865 h 260956"/>
                    <a:gd name="connsiteX5" fmla="*/ 2273 w 259442"/>
                    <a:gd name="connsiteY5" fmla="*/ 55865 h 260956"/>
                    <a:gd name="connsiteX6" fmla="*/ 2273 w 259442"/>
                    <a:gd name="connsiteY6" fmla="*/ 27459 h 260956"/>
                    <a:gd name="connsiteX7" fmla="*/ 26134 w 259442"/>
                    <a:gd name="connsiteY7" fmla="*/ 27459 h 260956"/>
                    <a:gd name="connsiteX8" fmla="*/ 28974 w 259442"/>
                    <a:gd name="connsiteY8" fmla="*/ 0 h 260956"/>
                    <a:gd name="connsiteX9" fmla="*/ 64576 w 259442"/>
                    <a:gd name="connsiteY9" fmla="*/ 0 h 260956"/>
                    <a:gd name="connsiteX10" fmla="*/ 62872 w 259442"/>
                    <a:gd name="connsiteY10" fmla="*/ 13635 h 260956"/>
                    <a:gd name="connsiteX11" fmla="*/ 60789 w 259442"/>
                    <a:gd name="connsiteY11" fmla="*/ 27459 h 260956"/>
                    <a:gd name="connsiteX12" fmla="*/ 121767 w 259442"/>
                    <a:gd name="connsiteY12" fmla="*/ 27459 h 260956"/>
                    <a:gd name="connsiteX13" fmla="*/ 121767 w 259442"/>
                    <a:gd name="connsiteY13" fmla="*/ 55865 h 260956"/>
                    <a:gd name="connsiteX14" fmla="*/ 56244 w 259442"/>
                    <a:gd name="connsiteY14" fmla="*/ 55865 h 260956"/>
                    <a:gd name="connsiteX15" fmla="*/ 49995 w 259442"/>
                    <a:gd name="connsiteY15" fmla="*/ 87680 h 260956"/>
                    <a:gd name="connsiteX16" fmla="*/ 43177 w 259442"/>
                    <a:gd name="connsiteY16" fmla="*/ 116654 h 260956"/>
                    <a:gd name="connsiteX17" fmla="*/ 64576 w 259442"/>
                    <a:gd name="connsiteY17" fmla="*/ 116654 h 260956"/>
                    <a:gd name="connsiteX18" fmla="*/ 64576 w 259442"/>
                    <a:gd name="connsiteY18" fmla="*/ 69121 h 260956"/>
                    <a:gd name="connsiteX19" fmla="*/ 99043 w 259442"/>
                    <a:gd name="connsiteY19" fmla="*/ 69121 h 260956"/>
                    <a:gd name="connsiteX20" fmla="*/ 99043 w 259442"/>
                    <a:gd name="connsiteY20" fmla="*/ 116654 h 260956"/>
                    <a:gd name="connsiteX21" fmla="*/ 124419 w 259442"/>
                    <a:gd name="connsiteY21" fmla="*/ 116654 h 260956"/>
                    <a:gd name="connsiteX22" fmla="*/ 124419 w 259442"/>
                    <a:gd name="connsiteY22" fmla="*/ 145060 h 260956"/>
                    <a:gd name="connsiteX23" fmla="*/ 99232 w 259442"/>
                    <a:gd name="connsiteY23" fmla="*/ 145060 h 260956"/>
                    <a:gd name="connsiteX24" fmla="*/ 99232 w 259442"/>
                    <a:gd name="connsiteY24" fmla="*/ 176496 h 260956"/>
                    <a:gd name="connsiteX25" fmla="*/ 125365 w 259442"/>
                    <a:gd name="connsiteY25" fmla="*/ 173845 h 260956"/>
                    <a:gd name="connsiteX26" fmla="*/ 125365 w 259442"/>
                    <a:gd name="connsiteY26" fmla="*/ 203955 h 260956"/>
                    <a:gd name="connsiteX27" fmla="*/ 99232 w 259442"/>
                    <a:gd name="connsiteY27" fmla="*/ 206607 h 260956"/>
                    <a:gd name="connsiteX28" fmla="*/ 99232 w 259442"/>
                    <a:gd name="connsiteY28" fmla="*/ 260768 h 260956"/>
                    <a:gd name="connsiteX29" fmla="*/ 62493 w 259442"/>
                    <a:gd name="connsiteY29" fmla="*/ 260768 h 260956"/>
                    <a:gd name="connsiteX30" fmla="*/ 62493 w 259442"/>
                    <a:gd name="connsiteY30" fmla="*/ 210015 h 260956"/>
                    <a:gd name="connsiteX31" fmla="*/ 0 w 259442"/>
                    <a:gd name="connsiteY31" fmla="*/ 215697 h 260956"/>
                    <a:gd name="connsiteX32" fmla="*/ 0 w 259442"/>
                    <a:gd name="connsiteY32" fmla="*/ 185586 h 260956"/>
                    <a:gd name="connsiteX33" fmla="*/ 62493 w 259442"/>
                    <a:gd name="connsiteY33" fmla="*/ 179905 h 260956"/>
                    <a:gd name="connsiteX34" fmla="*/ 220999 w 259442"/>
                    <a:gd name="connsiteY34" fmla="*/ 260768 h 260956"/>
                    <a:gd name="connsiteX35" fmla="*/ 204145 w 259442"/>
                    <a:gd name="connsiteY35" fmla="*/ 205470 h 260956"/>
                    <a:gd name="connsiteX36" fmla="*/ 190699 w 259442"/>
                    <a:gd name="connsiteY36" fmla="*/ 146386 h 260956"/>
                    <a:gd name="connsiteX37" fmla="*/ 175739 w 259442"/>
                    <a:gd name="connsiteY37" fmla="*/ 208311 h 260956"/>
                    <a:gd name="connsiteX38" fmla="*/ 158317 w 259442"/>
                    <a:gd name="connsiteY38" fmla="*/ 260768 h 260956"/>
                    <a:gd name="connsiteX39" fmla="*/ 118548 w 259442"/>
                    <a:gd name="connsiteY39" fmla="*/ 260768 h 260956"/>
                    <a:gd name="connsiteX40" fmla="*/ 132751 w 259442"/>
                    <a:gd name="connsiteY40" fmla="*/ 222893 h 260956"/>
                    <a:gd name="connsiteX41" fmla="*/ 146007 w 259442"/>
                    <a:gd name="connsiteY41" fmla="*/ 178579 h 260956"/>
                    <a:gd name="connsiteX42" fmla="*/ 157370 w 259442"/>
                    <a:gd name="connsiteY42" fmla="*/ 132372 h 260956"/>
                    <a:gd name="connsiteX43" fmla="*/ 165513 w 259442"/>
                    <a:gd name="connsiteY43" fmla="*/ 88438 h 260956"/>
                    <a:gd name="connsiteX44" fmla="*/ 200547 w 259442"/>
                    <a:gd name="connsiteY44" fmla="*/ 88438 h 260956"/>
                    <a:gd name="connsiteX45" fmla="*/ 199032 w 259442"/>
                    <a:gd name="connsiteY45" fmla="*/ 98664 h 260956"/>
                    <a:gd name="connsiteX46" fmla="*/ 197327 w 259442"/>
                    <a:gd name="connsiteY46" fmla="*/ 108890 h 260956"/>
                    <a:gd name="connsiteX47" fmla="*/ 217969 w 259442"/>
                    <a:gd name="connsiteY47" fmla="*/ 108890 h 260956"/>
                    <a:gd name="connsiteX48" fmla="*/ 235392 w 259442"/>
                    <a:gd name="connsiteY48" fmla="*/ 185018 h 260956"/>
                    <a:gd name="connsiteX49" fmla="*/ 259442 w 259442"/>
                    <a:gd name="connsiteY49" fmla="*/ 260957 h 260956"/>
                    <a:gd name="connsiteX50" fmla="*/ 220999 w 259442"/>
                    <a:gd name="connsiteY50" fmla="*/ 260957 h 260956"/>
                    <a:gd name="connsiteX51" fmla="*/ 118927 w 259442"/>
                    <a:gd name="connsiteY51" fmla="*/ 94497 h 260956"/>
                    <a:gd name="connsiteX52" fmla="*/ 129910 w 259442"/>
                    <a:gd name="connsiteY52" fmla="*/ 46397 h 260956"/>
                    <a:gd name="connsiteX53" fmla="*/ 136349 w 259442"/>
                    <a:gd name="connsiteY53" fmla="*/ 0 h 260956"/>
                    <a:gd name="connsiteX54" fmla="*/ 172520 w 259442"/>
                    <a:gd name="connsiteY54" fmla="*/ 0 h 260956"/>
                    <a:gd name="connsiteX55" fmla="*/ 171383 w 259442"/>
                    <a:gd name="connsiteY55" fmla="*/ 10226 h 260956"/>
                    <a:gd name="connsiteX56" fmla="*/ 170247 w 259442"/>
                    <a:gd name="connsiteY56" fmla="*/ 20831 h 260956"/>
                    <a:gd name="connsiteX57" fmla="*/ 258495 w 259442"/>
                    <a:gd name="connsiteY57" fmla="*/ 20831 h 260956"/>
                    <a:gd name="connsiteX58" fmla="*/ 255844 w 259442"/>
                    <a:gd name="connsiteY58" fmla="*/ 40337 h 260956"/>
                    <a:gd name="connsiteX59" fmla="*/ 252625 w 259442"/>
                    <a:gd name="connsiteY59" fmla="*/ 60221 h 260956"/>
                    <a:gd name="connsiteX60" fmla="*/ 249026 w 259442"/>
                    <a:gd name="connsiteY60" fmla="*/ 79348 h 260956"/>
                    <a:gd name="connsiteX61" fmla="*/ 245239 w 259442"/>
                    <a:gd name="connsiteY61" fmla="*/ 96391 h 260956"/>
                    <a:gd name="connsiteX62" fmla="*/ 208311 w 259442"/>
                    <a:gd name="connsiteY62" fmla="*/ 96391 h 260956"/>
                    <a:gd name="connsiteX63" fmla="*/ 215318 w 259442"/>
                    <a:gd name="connsiteY63" fmla="*/ 73288 h 260956"/>
                    <a:gd name="connsiteX64" fmla="*/ 219674 w 259442"/>
                    <a:gd name="connsiteY64" fmla="*/ 51699 h 260956"/>
                    <a:gd name="connsiteX65" fmla="*/ 165513 w 259442"/>
                    <a:gd name="connsiteY65" fmla="*/ 51699 h 260956"/>
                    <a:gd name="connsiteX66" fmla="*/ 161157 w 259442"/>
                    <a:gd name="connsiteY66" fmla="*/ 74234 h 260956"/>
                    <a:gd name="connsiteX67" fmla="*/ 156612 w 259442"/>
                    <a:gd name="connsiteY67" fmla="*/ 94497 h 260956"/>
                    <a:gd name="connsiteX68" fmla="*/ 118927 w 259442"/>
                    <a:gd name="connsiteY68" fmla="*/ 94497 h 26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59442" h="260956">
                      <a:moveTo>
                        <a:pt x="62493" y="179905"/>
                      </a:moveTo>
                      <a:lnTo>
                        <a:pt x="62493" y="145060"/>
                      </a:lnTo>
                      <a:lnTo>
                        <a:pt x="1515" y="145060"/>
                      </a:lnTo>
                      <a:cubicBezTo>
                        <a:pt x="5871" y="130289"/>
                        <a:pt x="9847" y="115329"/>
                        <a:pt x="13067" y="100179"/>
                      </a:cubicBezTo>
                      <a:cubicBezTo>
                        <a:pt x="16476" y="85029"/>
                        <a:pt x="19316" y="70258"/>
                        <a:pt x="21778" y="55865"/>
                      </a:cubicBezTo>
                      <a:lnTo>
                        <a:pt x="2273" y="55865"/>
                      </a:lnTo>
                      <a:lnTo>
                        <a:pt x="2273" y="27459"/>
                      </a:lnTo>
                      <a:lnTo>
                        <a:pt x="26134" y="27459"/>
                      </a:lnTo>
                      <a:lnTo>
                        <a:pt x="28974" y="0"/>
                      </a:lnTo>
                      <a:lnTo>
                        <a:pt x="64576" y="0"/>
                      </a:lnTo>
                      <a:cubicBezTo>
                        <a:pt x="64008" y="4356"/>
                        <a:pt x="63440" y="8901"/>
                        <a:pt x="62872" y="13635"/>
                      </a:cubicBezTo>
                      <a:cubicBezTo>
                        <a:pt x="62304" y="18369"/>
                        <a:pt x="61546" y="22914"/>
                        <a:pt x="60789" y="27459"/>
                      </a:cubicBezTo>
                      <a:lnTo>
                        <a:pt x="121767" y="27459"/>
                      </a:lnTo>
                      <a:lnTo>
                        <a:pt x="121767" y="55865"/>
                      </a:lnTo>
                      <a:lnTo>
                        <a:pt x="56244" y="55865"/>
                      </a:lnTo>
                      <a:cubicBezTo>
                        <a:pt x="54350" y="66660"/>
                        <a:pt x="52267" y="77264"/>
                        <a:pt x="49995" y="87680"/>
                      </a:cubicBezTo>
                      <a:cubicBezTo>
                        <a:pt x="47722" y="97906"/>
                        <a:pt x="45639" y="107564"/>
                        <a:pt x="43177" y="116654"/>
                      </a:cubicBezTo>
                      <a:lnTo>
                        <a:pt x="64576" y="116654"/>
                      </a:lnTo>
                      <a:lnTo>
                        <a:pt x="64576" y="69121"/>
                      </a:lnTo>
                      <a:lnTo>
                        <a:pt x="99043" y="69121"/>
                      </a:lnTo>
                      <a:lnTo>
                        <a:pt x="99043" y="116654"/>
                      </a:lnTo>
                      <a:lnTo>
                        <a:pt x="124419" y="116654"/>
                      </a:lnTo>
                      <a:lnTo>
                        <a:pt x="124419" y="145060"/>
                      </a:lnTo>
                      <a:lnTo>
                        <a:pt x="99232" y="145060"/>
                      </a:lnTo>
                      <a:lnTo>
                        <a:pt x="99232" y="176496"/>
                      </a:lnTo>
                      <a:lnTo>
                        <a:pt x="125365" y="173845"/>
                      </a:lnTo>
                      <a:lnTo>
                        <a:pt x="125365" y="203955"/>
                      </a:lnTo>
                      <a:lnTo>
                        <a:pt x="99232" y="206607"/>
                      </a:lnTo>
                      <a:lnTo>
                        <a:pt x="99232" y="260768"/>
                      </a:lnTo>
                      <a:lnTo>
                        <a:pt x="62493" y="260768"/>
                      </a:lnTo>
                      <a:lnTo>
                        <a:pt x="62493" y="210015"/>
                      </a:lnTo>
                      <a:lnTo>
                        <a:pt x="0" y="215697"/>
                      </a:lnTo>
                      <a:lnTo>
                        <a:pt x="0" y="185586"/>
                      </a:lnTo>
                      <a:lnTo>
                        <a:pt x="62493" y="179905"/>
                      </a:lnTo>
                      <a:close/>
                      <a:moveTo>
                        <a:pt x="220999" y="260768"/>
                      </a:moveTo>
                      <a:cubicBezTo>
                        <a:pt x="214939" y="242777"/>
                        <a:pt x="209258" y="224408"/>
                        <a:pt x="204145" y="205470"/>
                      </a:cubicBezTo>
                      <a:cubicBezTo>
                        <a:pt x="199032" y="186533"/>
                        <a:pt x="194487" y="166838"/>
                        <a:pt x="190699" y="146386"/>
                      </a:cubicBezTo>
                      <a:cubicBezTo>
                        <a:pt x="186344" y="167974"/>
                        <a:pt x="181420" y="188616"/>
                        <a:pt x="175739" y="208311"/>
                      </a:cubicBezTo>
                      <a:cubicBezTo>
                        <a:pt x="170247" y="228006"/>
                        <a:pt x="164376" y="245428"/>
                        <a:pt x="158317" y="260768"/>
                      </a:cubicBezTo>
                      <a:lnTo>
                        <a:pt x="118548" y="260768"/>
                      </a:lnTo>
                      <a:cubicBezTo>
                        <a:pt x="123282" y="249595"/>
                        <a:pt x="128017" y="237096"/>
                        <a:pt x="132751" y="222893"/>
                      </a:cubicBezTo>
                      <a:cubicBezTo>
                        <a:pt x="137485" y="208690"/>
                        <a:pt x="141841" y="193919"/>
                        <a:pt x="146007" y="178579"/>
                      </a:cubicBezTo>
                      <a:cubicBezTo>
                        <a:pt x="150173" y="163240"/>
                        <a:pt x="153961" y="147901"/>
                        <a:pt x="157370" y="132372"/>
                      </a:cubicBezTo>
                      <a:cubicBezTo>
                        <a:pt x="160778" y="116844"/>
                        <a:pt x="163430" y="102072"/>
                        <a:pt x="165513" y="88438"/>
                      </a:cubicBezTo>
                      <a:lnTo>
                        <a:pt x="200547" y="88438"/>
                      </a:lnTo>
                      <a:cubicBezTo>
                        <a:pt x="200168" y="91846"/>
                        <a:pt x="199600" y="95255"/>
                        <a:pt x="199032" y="98664"/>
                      </a:cubicBezTo>
                      <a:cubicBezTo>
                        <a:pt x="198464" y="102072"/>
                        <a:pt x="197896" y="105481"/>
                        <a:pt x="197327" y="108890"/>
                      </a:cubicBezTo>
                      <a:lnTo>
                        <a:pt x="217969" y="108890"/>
                      </a:lnTo>
                      <a:cubicBezTo>
                        <a:pt x="222325" y="133508"/>
                        <a:pt x="228195" y="158885"/>
                        <a:pt x="235392" y="185018"/>
                      </a:cubicBezTo>
                      <a:cubicBezTo>
                        <a:pt x="242588" y="211152"/>
                        <a:pt x="250731" y="236528"/>
                        <a:pt x="259442" y="260957"/>
                      </a:cubicBezTo>
                      <a:lnTo>
                        <a:pt x="220999" y="260957"/>
                      </a:lnTo>
                      <a:close/>
                      <a:moveTo>
                        <a:pt x="118927" y="94497"/>
                      </a:moveTo>
                      <a:cubicBezTo>
                        <a:pt x="123282" y="78969"/>
                        <a:pt x="127070" y="63061"/>
                        <a:pt x="129910" y="46397"/>
                      </a:cubicBezTo>
                      <a:cubicBezTo>
                        <a:pt x="132940" y="29732"/>
                        <a:pt x="135023" y="14392"/>
                        <a:pt x="136349" y="0"/>
                      </a:cubicBezTo>
                      <a:lnTo>
                        <a:pt x="172520" y="0"/>
                      </a:lnTo>
                      <a:cubicBezTo>
                        <a:pt x="172141" y="3409"/>
                        <a:pt x="171762" y="6817"/>
                        <a:pt x="171383" y="10226"/>
                      </a:cubicBezTo>
                      <a:cubicBezTo>
                        <a:pt x="171004" y="13635"/>
                        <a:pt x="170626" y="17233"/>
                        <a:pt x="170247" y="20831"/>
                      </a:cubicBezTo>
                      <a:lnTo>
                        <a:pt x="258495" y="20831"/>
                      </a:lnTo>
                      <a:cubicBezTo>
                        <a:pt x="257738" y="27080"/>
                        <a:pt x="256791" y="33709"/>
                        <a:pt x="255844" y="40337"/>
                      </a:cubicBezTo>
                      <a:cubicBezTo>
                        <a:pt x="254897" y="46965"/>
                        <a:pt x="253761" y="53593"/>
                        <a:pt x="252625" y="60221"/>
                      </a:cubicBezTo>
                      <a:cubicBezTo>
                        <a:pt x="251488" y="66849"/>
                        <a:pt x="250352" y="73288"/>
                        <a:pt x="249026" y="79348"/>
                      </a:cubicBezTo>
                      <a:cubicBezTo>
                        <a:pt x="247701" y="85597"/>
                        <a:pt x="246565" y="91278"/>
                        <a:pt x="245239" y="96391"/>
                      </a:cubicBezTo>
                      <a:lnTo>
                        <a:pt x="208311" y="96391"/>
                      </a:lnTo>
                      <a:cubicBezTo>
                        <a:pt x="210962" y="89195"/>
                        <a:pt x="213235" y="81431"/>
                        <a:pt x="215318" y="73288"/>
                      </a:cubicBezTo>
                      <a:cubicBezTo>
                        <a:pt x="217401" y="65145"/>
                        <a:pt x="218727" y="57948"/>
                        <a:pt x="219674" y="51699"/>
                      </a:cubicBezTo>
                      <a:lnTo>
                        <a:pt x="165513" y="51699"/>
                      </a:lnTo>
                      <a:cubicBezTo>
                        <a:pt x="164187" y="59463"/>
                        <a:pt x="162672" y="67038"/>
                        <a:pt x="161157" y="74234"/>
                      </a:cubicBezTo>
                      <a:cubicBezTo>
                        <a:pt x="159642" y="81431"/>
                        <a:pt x="158127" y="88059"/>
                        <a:pt x="156612" y="94497"/>
                      </a:cubicBezTo>
                      <a:lnTo>
                        <a:pt x="118927" y="94497"/>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6" name="任意多边形: 形状 16"/>
                <p:cNvSpPr/>
                <p:nvPr/>
              </p:nvSpPr>
              <p:spPr>
                <a:xfrm>
                  <a:off x="7078391" y="3305663"/>
                  <a:ext cx="261335" cy="260956"/>
                </a:xfrm>
                <a:custGeom>
                  <a:avLst/>
                  <a:gdLst>
                    <a:gd name="connsiteX0" fmla="*/ 0 w 261335"/>
                    <a:gd name="connsiteY0" fmla="*/ 130857 h 260956"/>
                    <a:gd name="connsiteX1" fmla="*/ 13446 w 261335"/>
                    <a:gd name="connsiteY1" fmla="*/ 97717 h 260956"/>
                    <a:gd name="connsiteX2" fmla="*/ 24997 w 261335"/>
                    <a:gd name="connsiteY2" fmla="*/ 62872 h 260956"/>
                    <a:gd name="connsiteX3" fmla="*/ 34277 w 261335"/>
                    <a:gd name="connsiteY3" fmla="*/ 29732 h 260956"/>
                    <a:gd name="connsiteX4" fmla="*/ 41094 w 261335"/>
                    <a:gd name="connsiteY4" fmla="*/ 1515 h 260956"/>
                    <a:gd name="connsiteX5" fmla="*/ 80863 w 261335"/>
                    <a:gd name="connsiteY5" fmla="*/ 1515 h 260956"/>
                    <a:gd name="connsiteX6" fmla="*/ 74424 w 261335"/>
                    <a:gd name="connsiteY6" fmla="*/ 26323 h 260956"/>
                    <a:gd name="connsiteX7" fmla="*/ 66470 w 261335"/>
                    <a:gd name="connsiteY7" fmla="*/ 54350 h 260956"/>
                    <a:gd name="connsiteX8" fmla="*/ 66470 w 261335"/>
                    <a:gd name="connsiteY8" fmla="*/ 260578 h 260956"/>
                    <a:gd name="connsiteX9" fmla="*/ 29164 w 261335"/>
                    <a:gd name="connsiteY9" fmla="*/ 260578 h 260956"/>
                    <a:gd name="connsiteX10" fmla="*/ 29164 w 261335"/>
                    <a:gd name="connsiteY10" fmla="*/ 130857 h 260956"/>
                    <a:gd name="connsiteX11" fmla="*/ 0 w 261335"/>
                    <a:gd name="connsiteY11" fmla="*/ 130857 h 260956"/>
                    <a:gd name="connsiteX12" fmla="*/ 78022 w 261335"/>
                    <a:gd name="connsiteY12" fmla="*/ 115139 h 260956"/>
                    <a:gd name="connsiteX13" fmla="*/ 85786 w 261335"/>
                    <a:gd name="connsiteY13" fmla="*/ 85976 h 260956"/>
                    <a:gd name="connsiteX14" fmla="*/ 92036 w 261335"/>
                    <a:gd name="connsiteY14" fmla="*/ 58138 h 260956"/>
                    <a:gd name="connsiteX15" fmla="*/ 96959 w 261335"/>
                    <a:gd name="connsiteY15" fmla="*/ 30868 h 260956"/>
                    <a:gd name="connsiteX16" fmla="*/ 101126 w 261335"/>
                    <a:gd name="connsiteY16" fmla="*/ 2651 h 260956"/>
                    <a:gd name="connsiteX17" fmla="*/ 136728 w 261335"/>
                    <a:gd name="connsiteY17" fmla="*/ 2651 h 260956"/>
                    <a:gd name="connsiteX18" fmla="*/ 134455 w 261335"/>
                    <a:gd name="connsiteY18" fmla="*/ 19505 h 260956"/>
                    <a:gd name="connsiteX19" fmla="*/ 131804 w 261335"/>
                    <a:gd name="connsiteY19" fmla="*/ 37496 h 260956"/>
                    <a:gd name="connsiteX20" fmla="*/ 159831 w 261335"/>
                    <a:gd name="connsiteY20" fmla="*/ 37496 h 260956"/>
                    <a:gd name="connsiteX21" fmla="*/ 159831 w 261335"/>
                    <a:gd name="connsiteY21" fmla="*/ 0 h 260956"/>
                    <a:gd name="connsiteX22" fmla="*/ 197138 w 261335"/>
                    <a:gd name="connsiteY22" fmla="*/ 0 h 260956"/>
                    <a:gd name="connsiteX23" fmla="*/ 197138 w 261335"/>
                    <a:gd name="connsiteY23" fmla="*/ 37307 h 260956"/>
                    <a:gd name="connsiteX24" fmla="*/ 255655 w 261335"/>
                    <a:gd name="connsiteY24" fmla="*/ 37307 h 260956"/>
                    <a:gd name="connsiteX25" fmla="*/ 255655 w 261335"/>
                    <a:gd name="connsiteY25" fmla="*/ 69690 h 260956"/>
                    <a:gd name="connsiteX26" fmla="*/ 197138 w 261335"/>
                    <a:gd name="connsiteY26" fmla="*/ 69690 h 260956"/>
                    <a:gd name="connsiteX27" fmla="*/ 197138 w 261335"/>
                    <a:gd name="connsiteY27" fmla="*/ 139379 h 260956"/>
                    <a:gd name="connsiteX28" fmla="*/ 261336 w 261335"/>
                    <a:gd name="connsiteY28" fmla="*/ 139379 h 260956"/>
                    <a:gd name="connsiteX29" fmla="*/ 261336 w 261335"/>
                    <a:gd name="connsiteY29" fmla="*/ 171194 h 260956"/>
                    <a:gd name="connsiteX30" fmla="*/ 197138 w 261335"/>
                    <a:gd name="connsiteY30" fmla="*/ 171194 h 260956"/>
                    <a:gd name="connsiteX31" fmla="*/ 197138 w 261335"/>
                    <a:gd name="connsiteY31" fmla="*/ 260957 h 260956"/>
                    <a:gd name="connsiteX32" fmla="*/ 159831 w 261335"/>
                    <a:gd name="connsiteY32" fmla="*/ 260957 h 260956"/>
                    <a:gd name="connsiteX33" fmla="*/ 159831 w 261335"/>
                    <a:gd name="connsiteY33" fmla="*/ 171004 h 260956"/>
                    <a:gd name="connsiteX34" fmla="*/ 81620 w 261335"/>
                    <a:gd name="connsiteY34" fmla="*/ 171004 h 260956"/>
                    <a:gd name="connsiteX35" fmla="*/ 81620 w 261335"/>
                    <a:gd name="connsiteY35" fmla="*/ 139190 h 260956"/>
                    <a:gd name="connsiteX36" fmla="*/ 159831 w 261335"/>
                    <a:gd name="connsiteY36" fmla="*/ 139190 h 260956"/>
                    <a:gd name="connsiteX37" fmla="*/ 159831 w 261335"/>
                    <a:gd name="connsiteY37" fmla="*/ 69690 h 260956"/>
                    <a:gd name="connsiteX38" fmla="*/ 125744 w 261335"/>
                    <a:gd name="connsiteY38" fmla="*/ 69690 h 260956"/>
                    <a:gd name="connsiteX39" fmla="*/ 120442 w 261335"/>
                    <a:gd name="connsiteY39" fmla="*/ 93361 h 260956"/>
                    <a:gd name="connsiteX40" fmla="*/ 114571 w 261335"/>
                    <a:gd name="connsiteY40" fmla="*/ 115329 h 260956"/>
                    <a:gd name="connsiteX41" fmla="*/ 78022 w 261335"/>
                    <a:gd name="connsiteY41" fmla="*/ 115329 h 26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61335" h="260956">
                      <a:moveTo>
                        <a:pt x="0" y="130857"/>
                      </a:moveTo>
                      <a:cubicBezTo>
                        <a:pt x="4734" y="120631"/>
                        <a:pt x="9279" y="109458"/>
                        <a:pt x="13446" y="97717"/>
                      </a:cubicBezTo>
                      <a:cubicBezTo>
                        <a:pt x="17612" y="85976"/>
                        <a:pt x="21589" y="74424"/>
                        <a:pt x="24997" y="62872"/>
                      </a:cubicBezTo>
                      <a:cubicBezTo>
                        <a:pt x="28596" y="51320"/>
                        <a:pt x="31625" y="40337"/>
                        <a:pt x="34277" y="29732"/>
                      </a:cubicBezTo>
                      <a:cubicBezTo>
                        <a:pt x="36928" y="19127"/>
                        <a:pt x="39200" y="9658"/>
                        <a:pt x="41094" y="1515"/>
                      </a:cubicBezTo>
                      <a:lnTo>
                        <a:pt x="80863" y="1515"/>
                      </a:lnTo>
                      <a:cubicBezTo>
                        <a:pt x="78969" y="9090"/>
                        <a:pt x="76886" y="17422"/>
                        <a:pt x="74424" y="26323"/>
                      </a:cubicBezTo>
                      <a:cubicBezTo>
                        <a:pt x="71962" y="35224"/>
                        <a:pt x="69500" y="44503"/>
                        <a:pt x="66470" y="54350"/>
                      </a:cubicBezTo>
                      <a:lnTo>
                        <a:pt x="66470" y="260578"/>
                      </a:lnTo>
                      <a:lnTo>
                        <a:pt x="29164" y="260578"/>
                      </a:lnTo>
                      <a:lnTo>
                        <a:pt x="29164" y="130857"/>
                      </a:lnTo>
                      <a:lnTo>
                        <a:pt x="0" y="130857"/>
                      </a:lnTo>
                      <a:close/>
                      <a:moveTo>
                        <a:pt x="78022" y="115139"/>
                      </a:moveTo>
                      <a:cubicBezTo>
                        <a:pt x="80863" y="105102"/>
                        <a:pt x="83514" y="95255"/>
                        <a:pt x="85786" y="85976"/>
                      </a:cubicBezTo>
                      <a:cubicBezTo>
                        <a:pt x="88059" y="76696"/>
                        <a:pt x="90142" y="67417"/>
                        <a:pt x="92036" y="58138"/>
                      </a:cubicBezTo>
                      <a:cubicBezTo>
                        <a:pt x="93929" y="49048"/>
                        <a:pt x="95634" y="39768"/>
                        <a:pt x="96959" y="30868"/>
                      </a:cubicBezTo>
                      <a:cubicBezTo>
                        <a:pt x="98474" y="21778"/>
                        <a:pt x="99800" y="12309"/>
                        <a:pt x="101126" y="2651"/>
                      </a:cubicBezTo>
                      <a:lnTo>
                        <a:pt x="136728" y="2651"/>
                      </a:lnTo>
                      <a:cubicBezTo>
                        <a:pt x="135970" y="7954"/>
                        <a:pt x="135213" y="13635"/>
                        <a:pt x="134455" y="19505"/>
                      </a:cubicBezTo>
                      <a:cubicBezTo>
                        <a:pt x="133698" y="25376"/>
                        <a:pt x="132751" y="31247"/>
                        <a:pt x="131804" y="37496"/>
                      </a:cubicBezTo>
                      <a:lnTo>
                        <a:pt x="159831" y="37496"/>
                      </a:lnTo>
                      <a:lnTo>
                        <a:pt x="159831" y="0"/>
                      </a:lnTo>
                      <a:lnTo>
                        <a:pt x="197138" y="0"/>
                      </a:lnTo>
                      <a:lnTo>
                        <a:pt x="197138" y="37307"/>
                      </a:lnTo>
                      <a:lnTo>
                        <a:pt x="255655" y="37307"/>
                      </a:lnTo>
                      <a:lnTo>
                        <a:pt x="255655" y="69690"/>
                      </a:lnTo>
                      <a:lnTo>
                        <a:pt x="197138" y="69690"/>
                      </a:lnTo>
                      <a:lnTo>
                        <a:pt x="197138" y="139379"/>
                      </a:lnTo>
                      <a:lnTo>
                        <a:pt x="261336" y="139379"/>
                      </a:lnTo>
                      <a:lnTo>
                        <a:pt x="261336" y="171194"/>
                      </a:lnTo>
                      <a:lnTo>
                        <a:pt x="197138" y="171194"/>
                      </a:lnTo>
                      <a:lnTo>
                        <a:pt x="197138" y="260957"/>
                      </a:lnTo>
                      <a:lnTo>
                        <a:pt x="159831" y="260957"/>
                      </a:lnTo>
                      <a:lnTo>
                        <a:pt x="159831" y="171004"/>
                      </a:lnTo>
                      <a:lnTo>
                        <a:pt x="81620" y="171004"/>
                      </a:lnTo>
                      <a:lnTo>
                        <a:pt x="81620" y="139190"/>
                      </a:lnTo>
                      <a:lnTo>
                        <a:pt x="159831" y="139190"/>
                      </a:lnTo>
                      <a:lnTo>
                        <a:pt x="159831" y="69690"/>
                      </a:lnTo>
                      <a:lnTo>
                        <a:pt x="125744" y="69690"/>
                      </a:lnTo>
                      <a:cubicBezTo>
                        <a:pt x="124040" y="77643"/>
                        <a:pt x="122336" y="85597"/>
                        <a:pt x="120442" y="93361"/>
                      </a:cubicBezTo>
                      <a:cubicBezTo>
                        <a:pt x="118548" y="101126"/>
                        <a:pt x="116654" y="108322"/>
                        <a:pt x="114571" y="115329"/>
                      </a:cubicBezTo>
                      <a:lnTo>
                        <a:pt x="78022" y="115329"/>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7" name="任意多边形: 形状 17"/>
                <p:cNvSpPr/>
                <p:nvPr/>
              </p:nvSpPr>
              <p:spPr>
                <a:xfrm>
                  <a:off x="7365103" y="3315321"/>
                  <a:ext cx="261335" cy="250352"/>
                </a:xfrm>
                <a:custGeom>
                  <a:avLst/>
                  <a:gdLst>
                    <a:gd name="connsiteX0" fmla="*/ 109269 w 261335"/>
                    <a:gd name="connsiteY0" fmla="*/ 215886 h 250352"/>
                    <a:gd name="connsiteX1" fmla="*/ 109269 w 261335"/>
                    <a:gd name="connsiteY1" fmla="*/ 35034 h 250352"/>
                    <a:gd name="connsiteX2" fmla="*/ 10794 w 261335"/>
                    <a:gd name="connsiteY2" fmla="*/ 35034 h 250352"/>
                    <a:gd name="connsiteX3" fmla="*/ 10794 w 261335"/>
                    <a:gd name="connsiteY3" fmla="*/ 0 h 250352"/>
                    <a:gd name="connsiteX4" fmla="*/ 250352 w 261335"/>
                    <a:gd name="connsiteY4" fmla="*/ 0 h 250352"/>
                    <a:gd name="connsiteX5" fmla="*/ 250352 w 261335"/>
                    <a:gd name="connsiteY5" fmla="*/ 35034 h 250352"/>
                    <a:gd name="connsiteX6" fmla="*/ 151878 w 261335"/>
                    <a:gd name="connsiteY6" fmla="*/ 35034 h 250352"/>
                    <a:gd name="connsiteX7" fmla="*/ 151878 w 261335"/>
                    <a:gd name="connsiteY7" fmla="*/ 215886 h 250352"/>
                    <a:gd name="connsiteX8" fmla="*/ 261336 w 261335"/>
                    <a:gd name="connsiteY8" fmla="*/ 215886 h 250352"/>
                    <a:gd name="connsiteX9" fmla="*/ 261336 w 261335"/>
                    <a:gd name="connsiteY9" fmla="*/ 250352 h 250352"/>
                    <a:gd name="connsiteX10" fmla="*/ 0 w 261335"/>
                    <a:gd name="connsiteY10" fmla="*/ 250352 h 250352"/>
                    <a:gd name="connsiteX11" fmla="*/ 0 w 261335"/>
                    <a:gd name="connsiteY11" fmla="*/ 215886 h 250352"/>
                    <a:gd name="connsiteX12" fmla="*/ 109269 w 261335"/>
                    <a:gd name="connsiteY12" fmla="*/ 215886 h 250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1335" h="250352">
                      <a:moveTo>
                        <a:pt x="109269" y="215886"/>
                      </a:moveTo>
                      <a:lnTo>
                        <a:pt x="109269" y="35034"/>
                      </a:lnTo>
                      <a:lnTo>
                        <a:pt x="10794" y="35034"/>
                      </a:lnTo>
                      <a:lnTo>
                        <a:pt x="10794" y="0"/>
                      </a:lnTo>
                      <a:lnTo>
                        <a:pt x="250352" y="0"/>
                      </a:lnTo>
                      <a:lnTo>
                        <a:pt x="250352" y="35034"/>
                      </a:lnTo>
                      <a:lnTo>
                        <a:pt x="151878" y="35034"/>
                      </a:lnTo>
                      <a:lnTo>
                        <a:pt x="151878" y="215886"/>
                      </a:lnTo>
                      <a:lnTo>
                        <a:pt x="261336" y="215886"/>
                      </a:lnTo>
                      <a:lnTo>
                        <a:pt x="261336" y="250352"/>
                      </a:lnTo>
                      <a:lnTo>
                        <a:pt x="0" y="250352"/>
                      </a:lnTo>
                      <a:lnTo>
                        <a:pt x="0" y="215886"/>
                      </a:lnTo>
                      <a:lnTo>
                        <a:pt x="109269" y="215886"/>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8" name="任意多边形: 形状 18"/>
                <p:cNvSpPr/>
                <p:nvPr/>
              </p:nvSpPr>
              <p:spPr>
                <a:xfrm>
                  <a:off x="7648595" y="3308882"/>
                  <a:ext cx="264176" cy="257548"/>
                </a:xfrm>
                <a:custGeom>
                  <a:avLst/>
                  <a:gdLst>
                    <a:gd name="connsiteX0" fmla="*/ 0 w 264176"/>
                    <a:gd name="connsiteY0" fmla="*/ 250920 h 257548"/>
                    <a:gd name="connsiteX1" fmla="*/ 6439 w 264176"/>
                    <a:gd name="connsiteY1" fmla="*/ 165702 h 257548"/>
                    <a:gd name="connsiteX2" fmla="*/ 8522 w 264176"/>
                    <a:gd name="connsiteY2" fmla="*/ 99989 h 257548"/>
                    <a:gd name="connsiteX3" fmla="*/ 34845 w 264176"/>
                    <a:gd name="connsiteY3" fmla="*/ 99989 h 257548"/>
                    <a:gd name="connsiteX4" fmla="*/ 33519 w 264176"/>
                    <a:gd name="connsiteY4" fmla="*/ 166081 h 257548"/>
                    <a:gd name="connsiteX5" fmla="*/ 29353 w 264176"/>
                    <a:gd name="connsiteY5" fmla="*/ 250920 h 257548"/>
                    <a:gd name="connsiteX6" fmla="*/ 0 w 264176"/>
                    <a:gd name="connsiteY6" fmla="*/ 250920 h 257548"/>
                    <a:gd name="connsiteX7" fmla="*/ 40147 w 264176"/>
                    <a:gd name="connsiteY7" fmla="*/ 90710 h 257548"/>
                    <a:gd name="connsiteX8" fmla="*/ 4545 w 264176"/>
                    <a:gd name="connsiteY8" fmla="*/ 90710 h 257548"/>
                    <a:gd name="connsiteX9" fmla="*/ 4545 w 264176"/>
                    <a:gd name="connsiteY9" fmla="*/ 60978 h 257548"/>
                    <a:gd name="connsiteX10" fmla="*/ 40147 w 264176"/>
                    <a:gd name="connsiteY10" fmla="*/ 60978 h 257548"/>
                    <a:gd name="connsiteX11" fmla="*/ 40147 w 264176"/>
                    <a:gd name="connsiteY11" fmla="*/ 34655 h 257548"/>
                    <a:gd name="connsiteX12" fmla="*/ 7575 w 264176"/>
                    <a:gd name="connsiteY12" fmla="*/ 37307 h 257548"/>
                    <a:gd name="connsiteX13" fmla="*/ 7575 w 264176"/>
                    <a:gd name="connsiteY13" fmla="*/ 7386 h 257548"/>
                    <a:gd name="connsiteX14" fmla="*/ 100747 w 264176"/>
                    <a:gd name="connsiteY14" fmla="*/ 0 h 257548"/>
                    <a:gd name="connsiteX15" fmla="*/ 100747 w 264176"/>
                    <a:gd name="connsiteY15" fmla="*/ 30110 h 257548"/>
                    <a:gd name="connsiteX16" fmla="*/ 72151 w 264176"/>
                    <a:gd name="connsiteY16" fmla="*/ 32383 h 257548"/>
                    <a:gd name="connsiteX17" fmla="*/ 72151 w 264176"/>
                    <a:gd name="connsiteY17" fmla="*/ 60978 h 257548"/>
                    <a:gd name="connsiteX18" fmla="*/ 103966 w 264176"/>
                    <a:gd name="connsiteY18" fmla="*/ 60978 h 257548"/>
                    <a:gd name="connsiteX19" fmla="*/ 103966 w 264176"/>
                    <a:gd name="connsiteY19" fmla="*/ 90710 h 257548"/>
                    <a:gd name="connsiteX20" fmla="*/ 72151 w 264176"/>
                    <a:gd name="connsiteY20" fmla="*/ 90710 h 257548"/>
                    <a:gd name="connsiteX21" fmla="*/ 72151 w 264176"/>
                    <a:gd name="connsiteY21" fmla="*/ 257548 h 257548"/>
                    <a:gd name="connsiteX22" fmla="*/ 40337 w 264176"/>
                    <a:gd name="connsiteY22" fmla="*/ 257548 h 257548"/>
                    <a:gd name="connsiteX23" fmla="*/ 40337 w 264176"/>
                    <a:gd name="connsiteY23" fmla="*/ 90710 h 257548"/>
                    <a:gd name="connsiteX24" fmla="*/ 80484 w 264176"/>
                    <a:gd name="connsiteY24" fmla="*/ 238043 h 257548"/>
                    <a:gd name="connsiteX25" fmla="*/ 79726 w 264176"/>
                    <a:gd name="connsiteY25" fmla="*/ 200168 h 257548"/>
                    <a:gd name="connsiteX26" fmla="*/ 78779 w 264176"/>
                    <a:gd name="connsiteY26" fmla="*/ 163429 h 257548"/>
                    <a:gd name="connsiteX27" fmla="*/ 77643 w 264176"/>
                    <a:gd name="connsiteY27" fmla="*/ 129532 h 257548"/>
                    <a:gd name="connsiteX28" fmla="*/ 76128 w 264176"/>
                    <a:gd name="connsiteY28" fmla="*/ 99800 h 257548"/>
                    <a:gd name="connsiteX29" fmla="*/ 101126 w 264176"/>
                    <a:gd name="connsiteY29" fmla="*/ 99800 h 257548"/>
                    <a:gd name="connsiteX30" fmla="*/ 103966 w 264176"/>
                    <a:gd name="connsiteY30" fmla="*/ 161346 h 257548"/>
                    <a:gd name="connsiteX31" fmla="*/ 106239 w 264176"/>
                    <a:gd name="connsiteY31" fmla="*/ 228195 h 257548"/>
                    <a:gd name="connsiteX32" fmla="*/ 165513 w 264176"/>
                    <a:gd name="connsiteY32" fmla="*/ 228195 h 257548"/>
                    <a:gd name="connsiteX33" fmla="*/ 165513 w 264176"/>
                    <a:gd name="connsiteY33" fmla="*/ 198653 h 257548"/>
                    <a:gd name="connsiteX34" fmla="*/ 114003 w 264176"/>
                    <a:gd name="connsiteY34" fmla="*/ 198653 h 257548"/>
                    <a:gd name="connsiteX35" fmla="*/ 114003 w 264176"/>
                    <a:gd name="connsiteY35" fmla="*/ 169868 h 257548"/>
                    <a:gd name="connsiteX36" fmla="*/ 165513 w 264176"/>
                    <a:gd name="connsiteY36" fmla="*/ 169868 h 257548"/>
                    <a:gd name="connsiteX37" fmla="*/ 165513 w 264176"/>
                    <a:gd name="connsiteY37" fmla="*/ 142409 h 257548"/>
                    <a:gd name="connsiteX38" fmla="*/ 110215 w 264176"/>
                    <a:gd name="connsiteY38" fmla="*/ 142409 h 257548"/>
                    <a:gd name="connsiteX39" fmla="*/ 110215 w 264176"/>
                    <a:gd name="connsiteY39" fmla="*/ 113435 h 257548"/>
                    <a:gd name="connsiteX40" fmla="*/ 259253 w 264176"/>
                    <a:gd name="connsiteY40" fmla="*/ 113435 h 257548"/>
                    <a:gd name="connsiteX41" fmla="*/ 259253 w 264176"/>
                    <a:gd name="connsiteY41" fmla="*/ 142409 h 257548"/>
                    <a:gd name="connsiteX42" fmla="*/ 203387 w 264176"/>
                    <a:gd name="connsiteY42" fmla="*/ 142409 h 257548"/>
                    <a:gd name="connsiteX43" fmla="*/ 203387 w 264176"/>
                    <a:gd name="connsiteY43" fmla="*/ 169868 h 257548"/>
                    <a:gd name="connsiteX44" fmla="*/ 255465 w 264176"/>
                    <a:gd name="connsiteY44" fmla="*/ 169868 h 257548"/>
                    <a:gd name="connsiteX45" fmla="*/ 255465 w 264176"/>
                    <a:gd name="connsiteY45" fmla="*/ 198842 h 257548"/>
                    <a:gd name="connsiteX46" fmla="*/ 203387 w 264176"/>
                    <a:gd name="connsiteY46" fmla="*/ 198842 h 257548"/>
                    <a:gd name="connsiteX47" fmla="*/ 203387 w 264176"/>
                    <a:gd name="connsiteY47" fmla="*/ 228385 h 257548"/>
                    <a:gd name="connsiteX48" fmla="*/ 264176 w 264176"/>
                    <a:gd name="connsiteY48" fmla="*/ 228385 h 257548"/>
                    <a:gd name="connsiteX49" fmla="*/ 264176 w 264176"/>
                    <a:gd name="connsiteY49" fmla="*/ 257548 h 257548"/>
                    <a:gd name="connsiteX50" fmla="*/ 105671 w 264176"/>
                    <a:gd name="connsiteY50" fmla="*/ 257548 h 257548"/>
                    <a:gd name="connsiteX51" fmla="*/ 105671 w 264176"/>
                    <a:gd name="connsiteY51" fmla="*/ 238043 h 257548"/>
                    <a:gd name="connsiteX52" fmla="*/ 80484 w 264176"/>
                    <a:gd name="connsiteY52" fmla="*/ 238043 h 257548"/>
                    <a:gd name="connsiteX53" fmla="*/ 255276 w 264176"/>
                    <a:gd name="connsiteY53" fmla="*/ 1326 h 257548"/>
                    <a:gd name="connsiteX54" fmla="*/ 255276 w 264176"/>
                    <a:gd name="connsiteY54" fmla="*/ 97527 h 257548"/>
                    <a:gd name="connsiteX55" fmla="*/ 114382 w 264176"/>
                    <a:gd name="connsiteY55" fmla="*/ 97527 h 257548"/>
                    <a:gd name="connsiteX56" fmla="*/ 114382 w 264176"/>
                    <a:gd name="connsiteY56" fmla="*/ 1326 h 257548"/>
                    <a:gd name="connsiteX57" fmla="*/ 255276 w 264176"/>
                    <a:gd name="connsiteY57" fmla="*/ 1326 h 257548"/>
                    <a:gd name="connsiteX58" fmla="*/ 148658 w 264176"/>
                    <a:gd name="connsiteY58" fmla="*/ 69311 h 257548"/>
                    <a:gd name="connsiteX59" fmla="*/ 220242 w 264176"/>
                    <a:gd name="connsiteY59" fmla="*/ 69311 h 257548"/>
                    <a:gd name="connsiteX60" fmla="*/ 220242 w 264176"/>
                    <a:gd name="connsiteY60" fmla="*/ 29542 h 257548"/>
                    <a:gd name="connsiteX61" fmla="*/ 148658 w 264176"/>
                    <a:gd name="connsiteY61" fmla="*/ 29542 h 257548"/>
                    <a:gd name="connsiteX62" fmla="*/ 148658 w 264176"/>
                    <a:gd name="connsiteY62" fmla="*/ 69311 h 257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264176" h="257548">
                      <a:moveTo>
                        <a:pt x="0" y="250920"/>
                      </a:moveTo>
                      <a:cubicBezTo>
                        <a:pt x="3030" y="219863"/>
                        <a:pt x="5113" y="191457"/>
                        <a:pt x="6439" y="165702"/>
                      </a:cubicBezTo>
                      <a:cubicBezTo>
                        <a:pt x="7764" y="139947"/>
                        <a:pt x="8332" y="118169"/>
                        <a:pt x="8522" y="99989"/>
                      </a:cubicBezTo>
                      <a:lnTo>
                        <a:pt x="34845" y="99989"/>
                      </a:lnTo>
                      <a:cubicBezTo>
                        <a:pt x="34655" y="119495"/>
                        <a:pt x="34277" y="141462"/>
                        <a:pt x="33519" y="166081"/>
                      </a:cubicBezTo>
                      <a:cubicBezTo>
                        <a:pt x="32762" y="190699"/>
                        <a:pt x="31436" y="218916"/>
                        <a:pt x="29353" y="250920"/>
                      </a:cubicBezTo>
                      <a:lnTo>
                        <a:pt x="0" y="250920"/>
                      </a:lnTo>
                      <a:close/>
                      <a:moveTo>
                        <a:pt x="40147" y="90710"/>
                      </a:moveTo>
                      <a:lnTo>
                        <a:pt x="4545" y="90710"/>
                      </a:lnTo>
                      <a:lnTo>
                        <a:pt x="4545" y="60978"/>
                      </a:lnTo>
                      <a:lnTo>
                        <a:pt x="40147" y="60978"/>
                      </a:lnTo>
                      <a:lnTo>
                        <a:pt x="40147" y="34655"/>
                      </a:lnTo>
                      <a:lnTo>
                        <a:pt x="7575" y="37307"/>
                      </a:lnTo>
                      <a:lnTo>
                        <a:pt x="7575" y="7386"/>
                      </a:lnTo>
                      <a:lnTo>
                        <a:pt x="100747" y="0"/>
                      </a:lnTo>
                      <a:lnTo>
                        <a:pt x="100747" y="30110"/>
                      </a:lnTo>
                      <a:lnTo>
                        <a:pt x="72151" y="32383"/>
                      </a:lnTo>
                      <a:lnTo>
                        <a:pt x="72151" y="60978"/>
                      </a:lnTo>
                      <a:lnTo>
                        <a:pt x="103966" y="60978"/>
                      </a:lnTo>
                      <a:lnTo>
                        <a:pt x="103966" y="90710"/>
                      </a:lnTo>
                      <a:lnTo>
                        <a:pt x="72151" y="90710"/>
                      </a:lnTo>
                      <a:lnTo>
                        <a:pt x="72151" y="257548"/>
                      </a:lnTo>
                      <a:lnTo>
                        <a:pt x="40337" y="257548"/>
                      </a:lnTo>
                      <a:lnTo>
                        <a:pt x="40337" y="90710"/>
                      </a:lnTo>
                      <a:close/>
                      <a:moveTo>
                        <a:pt x="80484" y="238043"/>
                      </a:moveTo>
                      <a:cubicBezTo>
                        <a:pt x="80294" y="225355"/>
                        <a:pt x="80105" y="212856"/>
                        <a:pt x="79726" y="200168"/>
                      </a:cubicBezTo>
                      <a:cubicBezTo>
                        <a:pt x="79348" y="187480"/>
                        <a:pt x="79158" y="175360"/>
                        <a:pt x="78779" y="163429"/>
                      </a:cubicBezTo>
                      <a:cubicBezTo>
                        <a:pt x="78401" y="151499"/>
                        <a:pt x="78022" y="140326"/>
                        <a:pt x="77643" y="129532"/>
                      </a:cubicBezTo>
                      <a:cubicBezTo>
                        <a:pt x="77264" y="118927"/>
                        <a:pt x="76696" y="108890"/>
                        <a:pt x="76128" y="99800"/>
                      </a:cubicBezTo>
                      <a:lnTo>
                        <a:pt x="101126" y="99800"/>
                      </a:lnTo>
                      <a:cubicBezTo>
                        <a:pt x="102072" y="118927"/>
                        <a:pt x="103019" y="139379"/>
                        <a:pt x="103966" y="161346"/>
                      </a:cubicBezTo>
                      <a:cubicBezTo>
                        <a:pt x="104913" y="183314"/>
                        <a:pt x="105671" y="205660"/>
                        <a:pt x="106239" y="228195"/>
                      </a:cubicBezTo>
                      <a:lnTo>
                        <a:pt x="165513" y="228195"/>
                      </a:lnTo>
                      <a:lnTo>
                        <a:pt x="165513" y="198653"/>
                      </a:lnTo>
                      <a:lnTo>
                        <a:pt x="114003" y="198653"/>
                      </a:lnTo>
                      <a:lnTo>
                        <a:pt x="114003" y="169868"/>
                      </a:lnTo>
                      <a:lnTo>
                        <a:pt x="165513" y="169868"/>
                      </a:lnTo>
                      <a:lnTo>
                        <a:pt x="165513" y="142409"/>
                      </a:lnTo>
                      <a:lnTo>
                        <a:pt x="110215" y="142409"/>
                      </a:lnTo>
                      <a:lnTo>
                        <a:pt x="110215" y="113435"/>
                      </a:lnTo>
                      <a:lnTo>
                        <a:pt x="259253" y="113435"/>
                      </a:lnTo>
                      <a:lnTo>
                        <a:pt x="259253" y="142409"/>
                      </a:lnTo>
                      <a:lnTo>
                        <a:pt x="203387" y="142409"/>
                      </a:lnTo>
                      <a:lnTo>
                        <a:pt x="203387" y="169868"/>
                      </a:lnTo>
                      <a:lnTo>
                        <a:pt x="255465" y="169868"/>
                      </a:lnTo>
                      <a:lnTo>
                        <a:pt x="255465" y="198842"/>
                      </a:lnTo>
                      <a:lnTo>
                        <a:pt x="203387" y="198842"/>
                      </a:lnTo>
                      <a:lnTo>
                        <a:pt x="203387" y="228385"/>
                      </a:lnTo>
                      <a:lnTo>
                        <a:pt x="264176" y="228385"/>
                      </a:lnTo>
                      <a:lnTo>
                        <a:pt x="264176" y="257548"/>
                      </a:lnTo>
                      <a:lnTo>
                        <a:pt x="105671" y="257548"/>
                      </a:lnTo>
                      <a:lnTo>
                        <a:pt x="105671" y="238043"/>
                      </a:lnTo>
                      <a:lnTo>
                        <a:pt x="80484" y="238043"/>
                      </a:lnTo>
                      <a:close/>
                      <a:moveTo>
                        <a:pt x="255276" y="1326"/>
                      </a:moveTo>
                      <a:lnTo>
                        <a:pt x="255276" y="97527"/>
                      </a:lnTo>
                      <a:lnTo>
                        <a:pt x="114382" y="97527"/>
                      </a:lnTo>
                      <a:lnTo>
                        <a:pt x="114382" y="1326"/>
                      </a:lnTo>
                      <a:lnTo>
                        <a:pt x="255276" y="1326"/>
                      </a:lnTo>
                      <a:close/>
                      <a:moveTo>
                        <a:pt x="148658" y="69311"/>
                      </a:moveTo>
                      <a:lnTo>
                        <a:pt x="220242" y="69311"/>
                      </a:lnTo>
                      <a:lnTo>
                        <a:pt x="220242" y="29542"/>
                      </a:lnTo>
                      <a:lnTo>
                        <a:pt x="148658" y="29542"/>
                      </a:lnTo>
                      <a:lnTo>
                        <a:pt x="148658" y="69311"/>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19" name="任意多边形: 形状 19"/>
                <p:cNvSpPr/>
                <p:nvPr/>
              </p:nvSpPr>
              <p:spPr>
                <a:xfrm>
                  <a:off x="7939662" y="3305663"/>
                  <a:ext cx="258684" cy="260767"/>
                </a:xfrm>
                <a:custGeom>
                  <a:avLst/>
                  <a:gdLst>
                    <a:gd name="connsiteX0" fmla="*/ 153393 w 258684"/>
                    <a:gd name="connsiteY0" fmla="*/ 125555 h 260767"/>
                    <a:gd name="connsiteX1" fmla="*/ 34466 w 258684"/>
                    <a:gd name="connsiteY1" fmla="*/ 125555 h 260767"/>
                    <a:gd name="connsiteX2" fmla="*/ 34466 w 258684"/>
                    <a:gd name="connsiteY2" fmla="*/ 96202 h 260767"/>
                    <a:gd name="connsiteX3" fmla="*/ 224219 w 258684"/>
                    <a:gd name="connsiteY3" fmla="*/ 96202 h 260767"/>
                    <a:gd name="connsiteX4" fmla="*/ 209447 w 258684"/>
                    <a:gd name="connsiteY4" fmla="*/ 113624 h 260767"/>
                    <a:gd name="connsiteX5" fmla="*/ 191078 w 258684"/>
                    <a:gd name="connsiteY5" fmla="*/ 131615 h 260767"/>
                    <a:gd name="connsiteX6" fmla="*/ 171762 w 258684"/>
                    <a:gd name="connsiteY6" fmla="*/ 148090 h 260767"/>
                    <a:gd name="connsiteX7" fmla="*/ 154340 w 258684"/>
                    <a:gd name="connsiteY7" fmla="*/ 160968 h 260767"/>
                    <a:gd name="connsiteX8" fmla="*/ 154340 w 258684"/>
                    <a:gd name="connsiteY8" fmla="*/ 161346 h 260767"/>
                    <a:gd name="connsiteX9" fmla="*/ 258684 w 258684"/>
                    <a:gd name="connsiteY9" fmla="*/ 161346 h 260767"/>
                    <a:gd name="connsiteX10" fmla="*/ 258684 w 258684"/>
                    <a:gd name="connsiteY10" fmla="*/ 192025 h 260767"/>
                    <a:gd name="connsiteX11" fmla="*/ 154340 w 258684"/>
                    <a:gd name="connsiteY11" fmla="*/ 192025 h 260767"/>
                    <a:gd name="connsiteX12" fmla="*/ 154340 w 258684"/>
                    <a:gd name="connsiteY12" fmla="*/ 209258 h 260767"/>
                    <a:gd name="connsiteX13" fmla="*/ 153582 w 258684"/>
                    <a:gd name="connsiteY13" fmla="*/ 222135 h 260767"/>
                    <a:gd name="connsiteX14" fmla="*/ 151499 w 258684"/>
                    <a:gd name="connsiteY14" fmla="*/ 235960 h 260767"/>
                    <a:gd name="connsiteX15" fmla="*/ 147901 w 258684"/>
                    <a:gd name="connsiteY15" fmla="*/ 249216 h 260767"/>
                    <a:gd name="connsiteX16" fmla="*/ 142788 w 258684"/>
                    <a:gd name="connsiteY16" fmla="*/ 260768 h 260767"/>
                    <a:gd name="connsiteX17" fmla="*/ 102262 w 258684"/>
                    <a:gd name="connsiteY17" fmla="*/ 260768 h 260767"/>
                    <a:gd name="connsiteX18" fmla="*/ 114571 w 258684"/>
                    <a:gd name="connsiteY18" fmla="*/ 209258 h 260767"/>
                    <a:gd name="connsiteX19" fmla="*/ 114571 w 258684"/>
                    <a:gd name="connsiteY19" fmla="*/ 192025 h 260767"/>
                    <a:gd name="connsiteX20" fmla="*/ 0 w 258684"/>
                    <a:gd name="connsiteY20" fmla="*/ 192025 h 260767"/>
                    <a:gd name="connsiteX21" fmla="*/ 0 w 258684"/>
                    <a:gd name="connsiteY21" fmla="*/ 161346 h 260767"/>
                    <a:gd name="connsiteX22" fmla="*/ 114571 w 258684"/>
                    <a:gd name="connsiteY22" fmla="*/ 161346 h 260767"/>
                    <a:gd name="connsiteX23" fmla="*/ 114571 w 258684"/>
                    <a:gd name="connsiteY23" fmla="*/ 161346 h 260767"/>
                    <a:gd name="connsiteX24" fmla="*/ 218348 w 258684"/>
                    <a:gd name="connsiteY24" fmla="*/ 73098 h 260767"/>
                    <a:gd name="connsiteX25" fmla="*/ 38064 w 258684"/>
                    <a:gd name="connsiteY25" fmla="*/ 73098 h 260767"/>
                    <a:gd name="connsiteX26" fmla="*/ 38064 w 258684"/>
                    <a:gd name="connsiteY26" fmla="*/ 93172 h 260767"/>
                    <a:gd name="connsiteX27" fmla="*/ 2462 w 258684"/>
                    <a:gd name="connsiteY27" fmla="*/ 93172 h 260767"/>
                    <a:gd name="connsiteX28" fmla="*/ 2462 w 258684"/>
                    <a:gd name="connsiteY28" fmla="*/ 42420 h 260767"/>
                    <a:gd name="connsiteX29" fmla="*/ 172709 w 258684"/>
                    <a:gd name="connsiteY29" fmla="*/ 42420 h 260767"/>
                    <a:gd name="connsiteX30" fmla="*/ 184829 w 258684"/>
                    <a:gd name="connsiteY30" fmla="*/ 19884 h 260767"/>
                    <a:gd name="connsiteX31" fmla="*/ 193351 w 258684"/>
                    <a:gd name="connsiteY31" fmla="*/ 0 h 260767"/>
                    <a:gd name="connsiteX32" fmla="*/ 233687 w 258684"/>
                    <a:gd name="connsiteY32" fmla="*/ 0 h 260767"/>
                    <a:gd name="connsiteX33" fmla="*/ 224787 w 258684"/>
                    <a:gd name="connsiteY33" fmla="*/ 20831 h 260767"/>
                    <a:gd name="connsiteX34" fmla="*/ 213614 w 258684"/>
                    <a:gd name="connsiteY34" fmla="*/ 42420 h 260767"/>
                    <a:gd name="connsiteX35" fmla="*/ 253761 w 258684"/>
                    <a:gd name="connsiteY35" fmla="*/ 42420 h 260767"/>
                    <a:gd name="connsiteX36" fmla="*/ 253761 w 258684"/>
                    <a:gd name="connsiteY36" fmla="*/ 93172 h 260767"/>
                    <a:gd name="connsiteX37" fmla="*/ 218159 w 258684"/>
                    <a:gd name="connsiteY37" fmla="*/ 93172 h 260767"/>
                    <a:gd name="connsiteX38" fmla="*/ 218159 w 258684"/>
                    <a:gd name="connsiteY38" fmla="*/ 73098 h 260767"/>
                    <a:gd name="connsiteX39" fmla="*/ 36170 w 258684"/>
                    <a:gd name="connsiteY39" fmla="*/ 35792 h 260767"/>
                    <a:gd name="connsiteX40" fmla="*/ 31057 w 258684"/>
                    <a:gd name="connsiteY40" fmla="*/ 18180 h 260767"/>
                    <a:gd name="connsiteX41" fmla="*/ 24240 w 258684"/>
                    <a:gd name="connsiteY41" fmla="*/ 0 h 260767"/>
                    <a:gd name="connsiteX42" fmla="*/ 63819 w 258684"/>
                    <a:gd name="connsiteY42" fmla="*/ 0 h 260767"/>
                    <a:gd name="connsiteX43" fmla="*/ 67417 w 258684"/>
                    <a:gd name="connsiteY43" fmla="*/ 7954 h 260767"/>
                    <a:gd name="connsiteX44" fmla="*/ 71204 w 258684"/>
                    <a:gd name="connsiteY44" fmla="*/ 17422 h 260767"/>
                    <a:gd name="connsiteX45" fmla="*/ 74613 w 258684"/>
                    <a:gd name="connsiteY45" fmla="*/ 27080 h 260767"/>
                    <a:gd name="connsiteX46" fmla="*/ 77265 w 258684"/>
                    <a:gd name="connsiteY46" fmla="*/ 35602 h 260767"/>
                    <a:gd name="connsiteX47" fmla="*/ 36170 w 258684"/>
                    <a:gd name="connsiteY47" fmla="*/ 35602 h 260767"/>
                    <a:gd name="connsiteX48" fmla="*/ 108890 w 258684"/>
                    <a:gd name="connsiteY48" fmla="*/ 36360 h 260767"/>
                    <a:gd name="connsiteX49" fmla="*/ 103209 w 258684"/>
                    <a:gd name="connsiteY49" fmla="*/ 17422 h 260767"/>
                    <a:gd name="connsiteX50" fmla="*/ 96770 w 258684"/>
                    <a:gd name="connsiteY50" fmla="*/ 0 h 260767"/>
                    <a:gd name="connsiteX51" fmla="*/ 137675 w 258684"/>
                    <a:gd name="connsiteY51" fmla="*/ 0 h 260767"/>
                    <a:gd name="connsiteX52" fmla="*/ 140894 w 258684"/>
                    <a:gd name="connsiteY52" fmla="*/ 7575 h 260767"/>
                    <a:gd name="connsiteX53" fmla="*/ 144682 w 258684"/>
                    <a:gd name="connsiteY53" fmla="*/ 16854 h 260767"/>
                    <a:gd name="connsiteX54" fmla="*/ 148090 w 258684"/>
                    <a:gd name="connsiteY54" fmla="*/ 26702 h 260767"/>
                    <a:gd name="connsiteX55" fmla="*/ 151120 w 258684"/>
                    <a:gd name="connsiteY55" fmla="*/ 36360 h 260767"/>
                    <a:gd name="connsiteX56" fmla="*/ 108890 w 258684"/>
                    <a:gd name="connsiteY56" fmla="*/ 36360 h 26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258684" h="260767">
                      <a:moveTo>
                        <a:pt x="153393" y="125555"/>
                      </a:moveTo>
                      <a:lnTo>
                        <a:pt x="34466" y="125555"/>
                      </a:lnTo>
                      <a:lnTo>
                        <a:pt x="34466" y="96202"/>
                      </a:lnTo>
                      <a:lnTo>
                        <a:pt x="224219" y="96202"/>
                      </a:lnTo>
                      <a:cubicBezTo>
                        <a:pt x="220242" y="101694"/>
                        <a:pt x="215318" y="107564"/>
                        <a:pt x="209447" y="113624"/>
                      </a:cubicBezTo>
                      <a:cubicBezTo>
                        <a:pt x="203577" y="119684"/>
                        <a:pt x="197517" y="125744"/>
                        <a:pt x="191078" y="131615"/>
                      </a:cubicBezTo>
                      <a:cubicBezTo>
                        <a:pt x="184639" y="137485"/>
                        <a:pt x="178201" y="142977"/>
                        <a:pt x="171762" y="148090"/>
                      </a:cubicBezTo>
                      <a:cubicBezTo>
                        <a:pt x="165323" y="153203"/>
                        <a:pt x="159453" y="157559"/>
                        <a:pt x="154340" y="160968"/>
                      </a:cubicBezTo>
                      <a:lnTo>
                        <a:pt x="154340" y="161346"/>
                      </a:lnTo>
                      <a:lnTo>
                        <a:pt x="258684" y="161346"/>
                      </a:lnTo>
                      <a:lnTo>
                        <a:pt x="258684" y="192025"/>
                      </a:lnTo>
                      <a:lnTo>
                        <a:pt x="154340" y="192025"/>
                      </a:lnTo>
                      <a:lnTo>
                        <a:pt x="154340" y="209258"/>
                      </a:lnTo>
                      <a:cubicBezTo>
                        <a:pt x="154340" y="213235"/>
                        <a:pt x="154150" y="217590"/>
                        <a:pt x="153582" y="222135"/>
                      </a:cubicBezTo>
                      <a:cubicBezTo>
                        <a:pt x="153014" y="226680"/>
                        <a:pt x="152446" y="231225"/>
                        <a:pt x="151499" y="235960"/>
                      </a:cubicBezTo>
                      <a:cubicBezTo>
                        <a:pt x="150552" y="240505"/>
                        <a:pt x="149416" y="245050"/>
                        <a:pt x="147901" y="249216"/>
                      </a:cubicBezTo>
                      <a:cubicBezTo>
                        <a:pt x="146386" y="253571"/>
                        <a:pt x="144682" y="257359"/>
                        <a:pt x="142788" y="260768"/>
                      </a:cubicBezTo>
                      <a:lnTo>
                        <a:pt x="102262" y="260768"/>
                      </a:lnTo>
                      <a:cubicBezTo>
                        <a:pt x="106049" y="252056"/>
                        <a:pt x="115707" y="227248"/>
                        <a:pt x="114571" y="209258"/>
                      </a:cubicBezTo>
                      <a:lnTo>
                        <a:pt x="114571" y="192025"/>
                      </a:lnTo>
                      <a:lnTo>
                        <a:pt x="0" y="192025"/>
                      </a:lnTo>
                      <a:lnTo>
                        <a:pt x="0" y="161346"/>
                      </a:lnTo>
                      <a:lnTo>
                        <a:pt x="114571" y="161346"/>
                      </a:lnTo>
                      <a:lnTo>
                        <a:pt x="114571" y="161346"/>
                      </a:lnTo>
                      <a:moveTo>
                        <a:pt x="218348" y="73098"/>
                      </a:moveTo>
                      <a:lnTo>
                        <a:pt x="38064" y="73098"/>
                      </a:lnTo>
                      <a:lnTo>
                        <a:pt x="38064" y="93172"/>
                      </a:lnTo>
                      <a:lnTo>
                        <a:pt x="2462" y="93172"/>
                      </a:lnTo>
                      <a:lnTo>
                        <a:pt x="2462" y="42420"/>
                      </a:lnTo>
                      <a:lnTo>
                        <a:pt x="172709" y="42420"/>
                      </a:lnTo>
                      <a:cubicBezTo>
                        <a:pt x="177443" y="34466"/>
                        <a:pt x="181609" y="26891"/>
                        <a:pt x="184829" y="19884"/>
                      </a:cubicBezTo>
                      <a:cubicBezTo>
                        <a:pt x="188238" y="12877"/>
                        <a:pt x="191078" y="6249"/>
                        <a:pt x="193351" y="0"/>
                      </a:cubicBezTo>
                      <a:lnTo>
                        <a:pt x="233687" y="0"/>
                      </a:lnTo>
                      <a:cubicBezTo>
                        <a:pt x="231036" y="7007"/>
                        <a:pt x="228006" y="14014"/>
                        <a:pt x="224787" y="20831"/>
                      </a:cubicBezTo>
                      <a:cubicBezTo>
                        <a:pt x="221567" y="27649"/>
                        <a:pt x="217780" y="34845"/>
                        <a:pt x="213614" y="42420"/>
                      </a:cubicBezTo>
                      <a:lnTo>
                        <a:pt x="253761" y="42420"/>
                      </a:lnTo>
                      <a:lnTo>
                        <a:pt x="253761" y="93172"/>
                      </a:lnTo>
                      <a:lnTo>
                        <a:pt x="218159" y="93172"/>
                      </a:lnTo>
                      <a:lnTo>
                        <a:pt x="218159" y="73098"/>
                      </a:lnTo>
                      <a:close/>
                      <a:moveTo>
                        <a:pt x="36170" y="35792"/>
                      </a:moveTo>
                      <a:cubicBezTo>
                        <a:pt x="35034" y="30868"/>
                        <a:pt x="33330" y="24997"/>
                        <a:pt x="31057" y="18180"/>
                      </a:cubicBezTo>
                      <a:cubicBezTo>
                        <a:pt x="28785" y="11362"/>
                        <a:pt x="26512" y="5302"/>
                        <a:pt x="24240" y="0"/>
                      </a:cubicBezTo>
                      <a:lnTo>
                        <a:pt x="63819" y="0"/>
                      </a:lnTo>
                      <a:cubicBezTo>
                        <a:pt x="64955" y="2272"/>
                        <a:pt x="66091" y="4924"/>
                        <a:pt x="67417" y="7954"/>
                      </a:cubicBezTo>
                      <a:cubicBezTo>
                        <a:pt x="68743" y="10984"/>
                        <a:pt x="69879" y="14203"/>
                        <a:pt x="71204" y="17422"/>
                      </a:cubicBezTo>
                      <a:cubicBezTo>
                        <a:pt x="72530" y="20642"/>
                        <a:pt x="73666" y="23861"/>
                        <a:pt x="74613" y="27080"/>
                      </a:cubicBezTo>
                      <a:cubicBezTo>
                        <a:pt x="75749" y="30300"/>
                        <a:pt x="76507" y="33140"/>
                        <a:pt x="77265" y="35602"/>
                      </a:cubicBezTo>
                      <a:lnTo>
                        <a:pt x="36170" y="35602"/>
                      </a:lnTo>
                      <a:close/>
                      <a:moveTo>
                        <a:pt x="108890" y="36360"/>
                      </a:moveTo>
                      <a:cubicBezTo>
                        <a:pt x="107375" y="30489"/>
                        <a:pt x="105481" y="24050"/>
                        <a:pt x="103209" y="17422"/>
                      </a:cubicBezTo>
                      <a:cubicBezTo>
                        <a:pt x="100936" y="10794"/>
                        <a:pt x="98853" y="4924"/>
                        <a:pt x="96770" y="0"/>
                      </a:cubicBezTo>
                      <a:lnTo>
                        <a:pt x="137675" y="0"/>
                      </a:lnTo>
                      <a:cubicBezTo>
                        <a:pt x="138622" y="2083"/>
                        <a:pt x="139758" y="4545"/>
                        <a:pt x="140894" y="7575"/>
                      </a:cubicBezTo>
                      <a:cubicBezTo>
                        <a:pt x="142220" y="10605"/>
                        <a:pt x="143356" y="13635"/>
                        <a:pt x="144682" y="16854"/>
                      </a:cubicBezTo>
                      <a:cubicBezTo>
                        <a:pt x="146007" y="20074"/>
                        <a:pt x="147144" y="23482"/>
                        <a:pt x="148090" y="26702"/>
                      </a:cubicBezTo>
                      <a:cubicBezTo>
                        <a:pt x="149227" y="30110"/>
                        <a:pt x="150173" y="33330"/>
                        <a:pt x="151120" y="36360"/>
                      </a:cubicBezTo>
                      <a:lnTo>
                        <a:pt x="108890" y="36360"/>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sp>
              <p:nvSpPr>
                <p:cNvPr id="20" name="任意多边形: 形状 20"/>
                <p:cNvSpPr/>
                <p:nvPr/>
              </p:nvSpPr>
              <p:spPr>
                <a:xfrm>
                  <a:off x="8228647" y="3305663"/>
                  <a:ext cx="256601" cy="260956"/>
                </a:xfrm>
                <a:custGeom>
                  <a:avLst/>
                  <a:gdLst>
                    <a:gd name="connsiteX0" fmla="*/ 41662 w 256601"/>
                    <a:gd name="connsiteY0" fmla="*/ 236906 h 260956"/>
                    <a:gd name="connsiteX1" fmla="*/ 53782 w 256601"/>
                    <a:gd name="connsiteY1" fmla="*/ 207554 h 260956"/>
                    <a:gd name="connsiteX2" fmla="*/ 57759 w 256601"/>
                    <a:gd name="connsiteY2" fmla="*/ 169679 h 260956"/>
                    <a:gd name="connsiteX3" fmla="*/ 57759 w 256601"/>
                    <a:gd name="connsiteY3" fmla="*/ 128963 h 260956"/>
                    <a:gd name="connsiteX4" fmla="*/ 44882 w 256601"/>
                    <a:gd name="connsiteY4" fmla="*/ 128963 h 260956"/>
                    <a:gd name="connsiteX5" fmla="*/ 53214 w 256601"/>
                    <a:gd name="connsiteY5" fmla="*/ 78590 h 260956"/>
                    <a:gd name="connsiteX6" fmla="*/ 58138 w 256601"/>
                    <a:gd name="connsiteY6" fmla="*/ 35413 h 260956"/>
                    <a:gd name="connsiteX7" fmla="*/ 32572 w 256601"/>
                    <a:gd name="connsiteY7" fmla="*/ 35413 h 260956"/>
                    <a:gd name="connsiteX8" fmla="*/ 32572 w 256601"/>
                    <a:gd name="connsiteY8" fmla="*/ 260957 h 260956"/>
                    <a:gd name="connsiteX9" fmla="*/ 0 w 256601"/>
                    <a:gd name="connsiteY9" fmla="*/ 260957 h 260956"/>
                    <a:gd name="connsiteX10" fmla="*/ 0 w 256601"/>
                    <a:gd name="connsiteY10" fmla="*/ 6628 h 260956"/>
                    <a:gd name="connsiteX11" fmla="*/ 89953 w 256601"/>
                    <a:gd name="connsiteY11" fmla="*/ 6628 h 260956"/>
                    <a:gd name="connsiteX12" fmla="*/ 87491 w 256601"/>
                    <a:gd name="connsiteY12" fmla="*/ 31625 h 260956"/>
                    <a:gd name="connsiteX13" fmla="*/ 84840 w 256601"/>
                    <a:gd name="connsiteY13" fmla="*/ 54918 h 260956"/>
                    <a:gd name="connsiteX14" fmla="*/ 81810 w 256601"/>
                    <a:gd name="connsiteY14" fmla="*/ 77643 h 260956"/>
                    <a:gd name="connsiteX15" fmla="*/ 78590 w 256601"/>
                    <a:gd name="connsiteY15" fmla="*/ 100557 h 260956"/>
                    <a:gd name="connsiteX16" fmla="*/ 89385 w 256601"/>
                    <a:gd name="connsiteY16" fmla="*/ 100557 h 260956"/>
                    <a:gd name="connsiteX17" fmla="*/ 89385 w 256601"/>
                    <a:gd name="connsiteY17" fmla="*/ 169679 h 260956"/>
                    <a:gd name="connsiteX18" fmla="*/ 88627 w 256601"/>
                    <a:gd name="connsiteY18" fmla="*/ 192972 h 260956"/>
                    <a:gd name="connsiteX19" fmla="*/ 86544 w 256601"/>
                    <a:gd name="connsiteY19" fmla="*/ 211152 h 260956"/>
                    <a:gd name="connsiteX20" fmla="*/ 83324 w 256601"/>
                    <a:gd name="connsiteY20" fmla="*/ 225355 h 260956"/>
                    <a:gd name="connsiteX21" fmla="*/ 78969 w 256601"/>
                    <a:gd name="connsiteY21" fmla="*/ 236906 h 260956"/>
                    <a:gd name="connsiteX22" fmla="*/ 41662 w 256601"/>
                    <a:gd name="connsiteY22" fmla="*/ 236906 h 260956"/>
                    <a:gd name="connsiteX23" fmla="*/ 218727 w 256601"/>
                    <a:gd name="connsiteY23" fmla="*/ 49048 h 260956"/>
                    <a:gd name="connsiteX24" fmla="*/ 129911 w 256601"/>
                    <a:gd name="connsiteY24" fmla="*/ 49048 h 260956"/>
                    <a:gd name="connsiteX25" fmla="*/ 129911 w 256601"/>
                    <a:gd name="connsiteY25" fmla="*/ 71962 h 260956"/>
                    <a:gd name="connsiteX26" fmla="*/ 96581 w 256601"/>
                    <a:gd name="connsiteY26" fmla="*/ 71962 h 260956"/>
                    <a:gd name="connsiteX27" fmla="*/ 96581 w 256601"/>
                    <a:gd name="connsiteY27" fmla="*/ 18559 h 260956"/>
                    <a:gd name="connsiteX28" fmla="*/ 153961 w 256601"/>
                    <a:gd name="connsiteY28" fmla="*/ 18559 h 260956"/>
                    <a:gd name="connsiteX29" fmla="*/ 150742 w 256601"/>
                    <a:gd name="connsiteY29" fmla="*/ 8901 h 260956"/>
                    <a:gd name="connsiteX30" fmla="*/ 146954 w 256601"/>
                    <a:gd name="connsiteY30" fmla="*/ 0 h 260956"/>
                    <a:gd name="connsiteX31" fmla="*/ 188238 w 256601"/>
                    <a:gd name="connsiteY31" fmla="*/ 0 h 260956"/>
                    <a:gd name="connsiteX32" fmla="*/ 191457 w 256601"/>
                    <a:gd name="connsiteY32" fmla="*/ 8711 h 260956"/>
                    <a:gd name="connsiteX33" fmla="*/ 194676 w 256601"/>
                    <a:gd name="connsiteY33" fmla="*/ 18559 h 260956"/>
                    <a:gd name="connsiteX34" fmla="*/ 253382 w 256601"/>
                    <a:gd name="connsiteY34" fmla="*/ 18559 h 260956"/>
                    <a:gd name="connsiteX35" fmla="*/ 253382 w 256601"/>
                    <a:gd name="connsiteY35" fmla="*/ 71962 h 260956"/>
                    <a:gd name="connsiteX36" fmla="*/ 218916 w 256601"/>
                    <a:gd name="connsiteY36" fmla="*/ 71962 h 260956"/>
                    <a:gd name="connsiteX37" fmla="*/ 218916 w 256601"/>
                    <a:gd name="connsiteY37" fmla="*/ 49048 h 260956"/>
                    <a:gd name="connsiteX38" fmla="*/ 97906 w 256601"/>
                    <a:gd name="connsiteY38" fmla="*/ 260768 h 260956"/>
                    <a:gd name="connsiteX39" fmla="*/ 114761 w 256601"/>
                    <a:gd name="connsiteY39" fmla="*/ 219295 h 260956"/>
                    <a:gd name="connsiteX40" fmla="*/ 124797 w 256601"/>
                    <a:gd name="connsiteY40" fmla="*/ 165513 h 260956"/>
                    <a:gd name="connsiteX41" fmla="*/ 96770 w 256601"/>
                    <a:gd name="connsiteY41" fmla="*/ 165513 h 260956"/>
                    <a:gd name="connsiteX42" fmla="*/ 96770 w 256601"/>
                    <a:gd name="connsiteY42" fmla="*/ 132940 h 260956"/>
                    <a:gd name="connsiteX43" fmla="*/ 253193 w 256601"/>
                    <a:gd name="connsiteY43" fmla="*/ 132940 h 260956"/>
                    <a:gd name="connsiteX44" fmla="*/ 253193 w 256601"/>
                    <a:gd name="connsiteY44" fmla="*/ 165513 h 260956"/>
                    <a:gd name="connsiteX45" fmla="*/ 221946 w 256601"/>
                    <a:gd name="connsiteY45" fmla="*/ 165513 h 260956"/>
                    <a:gd name="connsiteX46" fmla="*/ 221946 w 256601"/>
                    <a:gd name="connsiteY46" fmla="*/ 228574 h 260956"/>
                    <a:gd name="connsiteX47" fmla="*/ 256601 w 256601"/>
                    <a:gd name="connsiteY47" fmla="*/ 228574 h 260956"/>
                    <a:gd name="connsiteX48" fmla="*/ 256601 w 256601"/>
                    <a:gd name="connsiteY48" fmla="*/ 260578 h 260956"/>
                    <a:gd name="connsiteX49" fmla="*/ 186723 w 256601"/>
                    <a:gd name="connsiteY49" fmla="*/ 260578 h 260956"/>
                    <a:gd name="connsiteX50" fmla="*/ 186723 w 256601"/>
                    <a:gd name="connsiteY50" fmla="*/ 165513 h 260956"/>
                    <a:gd name="connsiteX51" fmla="*/ 160589 w 256601"/>
                    <a:gd name="connsiteY51" fmla="*/ 165513 h 260956"/>
                    <a:gd name="connsiteX52" fmla="*/ 156802 w 256601"/>
                    <a:gd name="connsiteY52" fmla="*/ 196949 h 260956"/>
                    <a:gd name="connsiteX53" fmla="*/ 151878 w 256601"/>
                    <a:gd name="connsiteY53" fmla="*/ 221946 h 260956"/>
                    <a:gd name="connsiteX54" fmla="*/ 145628 w 256601"/>
                    <a:gd name="connsiteY54" fmla="*/ 242398 h 260956"/>
                    <a:gd name="connsiteX55" fmla="*/ 138243 w 256601"/>
                    <a:gd name="connsiteY55" fmla="*/ 260578 h 260956"/>
                    <a:gd name="connsiteX56" fmla="*/ 97906 w 256601"/>
                    <a:gd name="connsiteY56" fmla="*/ 260578 h 260956"/>
                    <a:gd name="connsiteX57" fmla="*/ 240884 w 256601"/>
                    <a:gd name="connsiteY57" fmla="*/ 81999 h 260956"/>
                    <a:gd name="connsiteX58" fmla="*/ 240884 w 256601"/>
                    <a:gd name="connsiteY58" fmla="*/ 113245 h 260956"/>
                    <a:gd name="connsiteX59" fmla="*/ 105671 w 256601"/>
                    <a:gd name="connsiteY59" fmla="*/ 113245 h 260956"/>
                    <a:gd name="connsiteX60" fmla="*/ 105671 w 256601"/>
                    <a:gd name="connsiteY60" fmla="*/ 81999 h 260956"/>
                    <a:gd name="connsiteX61" fmla="*/ 240884 w 256601"/>
                    <a:gd name="connsiteY61" fmla="*/ 81999 h 260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56601" h="260956">
                      <a:moveTo>
                        <a:pt x="41662" y="236906"/>
                      </a:moveTo>
                      <a:cubicBezTo>
                        <a:pt x="46965" y="227817"/>
                        <a:pt x="50942" y="217969"/>
                        <a:pt x="53782" y="207554"/>
                      </a:cubicBezTo>
                      <a:cubicBezTo>
                        <a:pt x="56433" y="197138"/>
                        <a:pt x="57759" y="184450"/>
                        <a:pt x="57759" y="169679"/>
                      </a:cubicBezTo>
                      <a:lnTo>
                        <a:pt x="57759" y="128963"/>
                      </a:lnTo>
                      <a:lnTo>
                        <a:pt x="44882" y="128963"/>
                      </a:lnTo>
                      <a:cubicBezTo>
                        <a:pt x="48101" y="111162"/>
                        <a:pt x="50942" y="94308"/>
                        <a:pt x="53214" y="78590"/>
                      </a:cubicBezTo>
                      <a:cubicBezTo>
                        <a:pt x="55487" y="62683"/>
                        <a:pt x="57191" y="48290"/>
                        <a:pt x="58138" y="35413"/>
                      </a:cubicBezTo>
                      <a:lnTo>
                        <a:pt x="32572" y="35413"/>
                      </a:lnTo>
                      <a:lnTo>
                        <a:pt x="32572" y="260957"/>
                      </a:lnTo>
                      <a:lnTo>
                        <a:pt x="0" y="260957"/>
                      </a:lnTo>
                      <a:lnTo>
                        <a:pt x="0" y="6628"/>
                      </a:lnTo>
                      <a:lnTo>
                        <a:pt x="89953" y="6628"/>
                      </a:lnTo>
                      <a:cubicBezTo>
                        <a:pt x="89195" y="15339"/>
                        <a:pt x="88438" y="23861"/>
                        <a:pt x="87491" y="31625"/>
                      </a:cubicBezTo>
                      <a:cubicBezTo>
                        <a:pt x="86544" y="39579"/>
                        <a:pt x="85786" y="47343"/>
                        <a:pt x="84840" y="54918"/>
                      </a:cubicBezTo>
                      <a:cubicBezTo>
                        <a:pt x="83893" y="62493"/>
                        <a:pt x="82946" y="70068"/>
                        <a:pt x="81810" y="77643"/>
                      </a:cubicBezTo>
                      <a:cubicBezTo>
                        <a:pt x="80673" y="85029"/>
                        <a:pt x="79727" y="92793"/>
                        <a:pt x="78590" y="100557"/>
                      </a:cubicBezTo>
                      <a:lnTo>
                        <a:pt x="89385" y="100557"/>
                      </a:lnTo>
                      <a:lnTo>
                        <a:pt x="89385" y="169679"/>
                      </a:lnTo>
                      <a:cubicBezTo>
                        <a:pt x="89385" y="178390"/>
                        <a:pt x="89195" y="186344"/>
                        <a:pt x="88627" y="192972"/>
                      </a:cubicBezTo>
                      <a:cubicBezTo>
                        <a:pt x="88059" y="199789"/>
                        <a:pt x="87491" y="205849"/>
                        <a:pt x="86544" y="211152"/>
                      </a:cubicBezTo>
                      <a:cubicBezTo>
                        <a:pt x="85597" y="216454"/>
                        <a:pt x="84650" y="221188"/>
                        <a:pt x="83324" y="225355"/>
                      </a:cubicBezTo>
                      <a:cubicBezTo>
                        <a:pt x="81999" y="229521"/>
                        <a:pt x="80484" y="233308"/>
                        <a:pt x="78969" y="236906"/>
                      </a:cubicBezTo>
                      <a:lnTo>
                        <a:pt x="41662" y="236906"/>
                      </a:lnTo>
                      <a:close/>
                      <a:moveTo>
                        <a:pt x="218727" y="49048"/>
                      </a:moveTo>
                      <a:lnTo>
                        <a:pt x="129911" y="49048"/>
                      </a:lnTo>
                      <a:lnTo>
                        <a:pt x="129911" y="71962"/>
                      </a:lnTo>
                      <a:lnTo>
                        <a:pt x="96581" y="71962"/>
                      </a:lnTo>
                      <a:lnTo>
                        <a:pt x="96581" y="18559"/>
                      </a:lnTo>
                      <a:lnTo>
                        <a:pt x="153961" y="18559"/>
                      </a:lnTo>
                      <a:cubicBezTo>
                        <a:pt x="153014" y="15339"/>
                        <a:pt x="151878" y="12120"/>
                        <a:pt x="150742" y="8901"/>
                      </a:cubicBezTo>
                      <a:cubicBezTo>
                        <a:pt x="149416" y="5681"/>
                        <a:pt x="148280" y="2651"/>
                        <a:pt x="146954" y="0"/>
                      </a:cubicBezTo>
                      <a:lnTo>
                        <a:pt x="188238" y="0"/>
                      </a:lnTo>
                      <a:cubicBezTo>
                        <a:pt x="189184" y="2462"/>
                        <a:pt x="190321" y="5492"/>
                        <a:pt x="191457" y="8711"/>
                      </a:cubicBezTo>
                      <a:cubicBezTo>
                        <a:pt x="192593" y="12120"/>
                        <a:pt x="193729" y="15339"/>
                        <a:pt x="194676" y="18559"/>
                      </a:cubicBezTo>
                      <a:lnTo>
                        <a:pt x="253382" y="18559"/>
                      </a:lnTo>
                      <a:lnTo>
                        <a:pt x="253382" y="71962"/>
                      </a:lnTo>
                      <a:lnTo>
                        <a:pt x="218916" y="71962"/>
                      </a:lnTo>
                      <a:lnTo>
                        <a:pt x="218916" y="49048"/>
                      </a:lnTo>
                      <a:close/>
                      <a:moveTo>
                        <a:pt x="97906" y="260768"/>
                      </a:moveTo>
                      <a:cubicBezTo>
                        <a:pt x="104345" y="248269"/>
                        <a:pt x="110026" y="234634"/>
                        <a:pt x="114761" y="219295"/>
                      </a:cubicBezTo>
                      <a:cubicBezTo>
                        <a:pt x="119495" y="204145"/>
                        <a:pt x="122904" y="186154"/>
                        <a:pt x="124797" y="165513"/>
                      </a:cubicBezTo>
                      <a:lnTo>
                        <a:pt x="96770" y="165513"/>
                      </a:lnTo>
                      <a:lnTo>
                        <a:pt x="96770" y="132940"/>
                      </a:lnTo>
                      <a:lnTo>
                        <a:pt x="253193" y="132940"/>
                      </a:lnTo>
                      <a:lnTo>
                        <a:pt x="253193" y="165513"/>
                      </a:lnTo>
                      <a:lnTo>
                        <a:pt x="221946" y="165513"/>
                      </a:lnTo>
                      <a:lnTo>
                        <a:pt x="221946" y="228574"/>
                      </a:lnTo>
                      <a:lnTo>
                        <a:pt x="256601" y="228574"/>
                      </a:lnTo>
                      <a:lnTo>
                        <a:pt x="256601" y="260578"/>
                      </a:lnTo>
                      <a:lnTo>
                        <a:pt x="186723" y="260578"/>
                      </a:lnTo>
                      <a:lnTo>
                        <a:pt x="186723" y="165513"/>
                      </a:lnTo>
                      <a:lnTo>
                        <a:pt x="160589" y="165513"/>
                      </a:lnTo>
                      <a:cubicBezTo>
                        <a:pt x="159453" y="177443"/>
                        <a:pt x="158127" y="187859"/>
                        <a:pt x="156802" y="196949"/>
                      </a:cubicBezTo>
                      <a:cubicBezTo>
                        <a:pt x="155286" y="206039"/>
                        <a:pt x="153772" y="214371"/>
                        <a:pt x="151878" y="221946"/>
                      </a:cubicBezTo>
                      <a:cubicBezTo>
                        <a:pt x="149984" y="229332"/>
                        <a:pt x="147901" y="236149"/>
                        <a:pt x="145628" y="242398"/>
                      </a:cubicBezTo>
                      <a:cubicBezTo>
                        <a:pt x="143356" y="248648"/>
                        <a:pt x="140894" y="254708"/>
                        <a:pt x="138243" y="260578"/>
                      </a:cubicBezTo>
                      <a:lnTo>
                        <a:pt x="97906" y="260578"/>
                      </a:lnTo>
                      <a:close/>
                      <a:moveTo>
                        <a:pt x="240884" y="81999"/>
                      </a:moveTo>
                      <a:lnTo>
                        <a:pt x="240884" y="113245"/>
                      </a:lnTo>
                      <a:lnTo>
                        <a:pt x="105671" y="113245"/>
                      </a:lnTo>
                      <a:lnTo>
                        <a:pt x="105671" y="81999"/>
                      </a:lnTo>
                      <a:lnTo>
                        <a:pt x="240884" y="81999"/>
                      </a:lnTo>
                      <a:close/>
                    </a:path>
                  </a:pathLst>
                </a:custGeom>
                <a:grpFill/>
                <a:ln w="1894" cap="flat">
                  <a:noFill/>
                  <a:prstDash val="solid"/>
                  <a:miter/>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icrosoft YaHei" panose="020B0503020204020204" pitchFamily="34" charset="-122"/>
                    <a:ea typeface="Microsoft YaHei" panose="020B0503020204020204" pitchFamily="34" charset="-122"/>
                    <a:cs typeface="+mn-cs"/>
                  </a:endParaRPr>
                </a:p>
              </p:txBody>
            </p:sp>
          </p:grpSp>
        </p:grpSp>
        <p:pic>
          <p:nvPicPr>
            <p:cNvPr id="95239" name="图形 4"/>
            <p:cNvPicPr>
              <a:picLocks noChangeAspect="1"/>
            </p:cNvPicPr>
            <p:nvPr/>
          </p:nvPicPr>
          <p:blipFill>
            <a:blip r:embed="rId3"/>
            <a:stretch>
              <a:fillRect/>
            </a:stretch>
          </p:blipFill>
          <p:spPr>
            <a:xfrm>
              <a:off x="8394642" y="741050"/>
              <a:ext cx="1386675" cy="316260"/>
            </a:xfrm>
            <a:prstGeom prst="rect">
              <a:avLst/>
            </a:prstGeom>
            <a:noFill/>
            <a:ln w="9525">
              <a:noFill/>
            </a:ln>
          </p:spPr>
        </p:pic>
        <p:cxnSp>
          <p:nvCxnSpPr>
            <p:cNvPr id="9" name="直接连接符 9"/>
            <p:cNvCxnSpPr/>
            <p:nvPr/>
          </p:nvCxnSpPr>
          <p:spPr>
            <a:xfrm>
              <a:off x="9879250" y="751395"/>
              <a:ext cx="0" cy="295570"/>
            </a:xfrm>
            <a:prstGeom prst="line">
              <a:avLst/>
            </a:prstGeom>
            <a:ln w="5080">
              <a:solidFill>
                <a:srgbClr val="004097"/>
              </a:solidFill>
            </a:ln>
          </p:spPr>
          <p:style>
            <a:lnRef idx="1">
              <a:schemeClr val="accent1"/>
            </a:lnRef>
            <a:fillRef idx="0">
              <a:schemeClr val="accent1"/>
            </a:fillRef>
            <a:effectRef idx="0">
              <a:schemeClr val="accent1"/>
            </a:effectRef>
            <a:fontRef idx="minor">
              <a:schemeClr val="tx1"/>
            </a:fontRef>
          </p:style>
        </p:cxnSp>
      </p:gr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灯片编号占位符 4"/>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容页">
    <p:bg>
      <p:bgPr>
        <a:solidFill>
          <a:schemeClr val="bg1"/>
        </a:solidFill>
        <a:effectLst/>
      </p:bgPr>
    </p:bg>
    <p:spTree>
      <p:nvGrpSpPr>
        <p:cNvPr id="1" name=""/>
        <p:cNvGrpSpPr/>
        <p:nvPr/>
      </p:nvGrpSpPr>
      <p:grpSpPr>
        <a:xfrm>
          <a:off x="0" y="0"/>
          <a:ext cx="0" cy="0"/>
          <a:chOff x="0" y="0"/>
          <a:chExt cx="0" cy="0"/>
        </a:xfrm>
      </p:grpSpPr>
      <p:sp>
        <p:nvSpPr>
          <p:cNvPr id="2" name="任意多边形 4"/>
          <p:cNvSpPr/>
          <p:nvPr/>
        </p:nvSpPr>
        <p:spPr>
          <a:xfrm>
            <a:off x="0" y="252413"/>
            <a:ext cx="404813" cy="155575"/>
          </a:xfrm>
          <a:custGeom>
            <a:avLst/>
            <a:gdLst>
              <a:gd name="connsiteX0" fmla="*/ 0 w 539552"/>
              <a:gd name="connsiteY0" fmla="*/ 0 h 205898"/>
              <a:gd name="connsiteX1" fmla="*/ 436603 w 539552"/>
              <a:gd name="connsiteY1" fmla="*/ 0 h 205898"/>
              <a:gd name="connsiteX2" fmla="*/ 539552 w 539552"/>
              <a:gd name="connsiteY2" fmla="*/ 102949 h 205898"/>
              <a:gd name="connsiteX3" fmla="*/ 436603 w 539552"/>
              <a:gd name="connsiteY3" fmla="*/ 205898 h 205898"/>
              <a:gd name="connsiteX4" fmla="*/ 0 w 539552"/>
              <a:gd name="connsiteY4" fmla="*/ 205898 h 20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552" h="205898">
                <a:moveTo>
                  <a:pt x="0" y="0"/>
                </a:moveTo>
                <a:lnTo>
                  <a:pt x="436603" y="0"/>
                </a:lnTo>
                <a:cubicBezTo>
                  <a:pt x="493460" y="0"/>
                  <a:pt x="539552" y="46092"/>
                  <a:pt x="539552" y="102949"/>
                </a:cubicBezTo>
                <a:cubicBezTo>
                  <a:pt x="539552" y="159806"/>
                  <a:pt x="493460" y="205898"/>
                  <a:pt x="436603" y="205898"/>
                </a:cubicBezTo>
                <a:lnTo>
                  <a:pt x="0" y="205898"/>
                </a:lnTo>
                <a:close/>
              </a:path>
            </a:pathLst>
          </a:custGeom>
          <a:solidFill>
            <a:srgbClr val="57575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pic>
        <p:nvPicPr>
          <p:cNvPr id="96259" name="图片 7"/>
          <p:cNvPicPr>
            <a:picLocks noChangeAspect="1"/>
          </p:cNvPicPr>
          <p:nvPr userDrawn="1"/>
        </p:nvPicPr>
        <p:blipFill>
          <a:blip r:embed="rId2"/>
          <a:stretch>
            <a:fillRect/>
          </a:stretch>
        </p:blipFill>
        <p:spPr>
          <a:xfrm>
            <a:off x="6151563" y="4776788"/>
            <a:ext cx="2992437" cy="366712"/>
          </a:xfrm>
          <a:prstGeom prst="rect">
            <a:avLst/>
          </a:prstGeom>
          <a:noFill/>
          <a:ln w="9525">
            <a:noFill/>
          </a:ln>
        </p:spPr>
      </p:pic>
      <p:sp>
        <p:nvSpPr>
          <p:cNvPr id="4" name="标题 1"/>
          <p:cNvSpPr>
            <a:spLocks noGrp="1"/>
          </p:cNvSpPr>
          <p:nvPr>
            <p:ph type="title"/>
          </p:nvPr>
        </p:nvSpPr>
        <p:spPr>
          <a:xfrm>
            <a:off x="499295" y="87766"/>
            <a:ext cx="8170112" cy="591554"/>
          </a:xfrm>
          <a:prstGeom prst="rect">
            <a:avLst/>
          </a:prstGeom>
        </p:spPr>
        <p:txBody>
          <a:bodyPr/>
          <a:lstStyle>
            <a:lvl1pPr>
              <a:defRPr lang="zh-CN" altLang="en-US" sz="2025" b="0" i="0" dirty="0" smtClean="0">
                <a:solidFill>
                  <a:srgbClr val="0070C0"/>
                </a:solidFill>
                <a:latin typeface="Microsoft YaHei" panose="020B0503020204020204" pitchFamily="34" charset="-122"/>
                <a:ea typeface="Microsoft YaHei" panose="020B0503020204020204" pitchFamily="34" charset="-122"/>
                <a:cs typeface="+mj-cs"/>
              </a:defRPr>
            </a:lvl1pPr>
          </a:lstStyle>
          <a:p>
            <a:r>
              <a:rPr lang="zh-CN" altLang="en-US" dirty="0"/>
              <a:t>单击此处编辑母版标题样式</a:t>
            </a:r>
          </a:p>
        </p:txBody>
      </p:sp>
      <p:sp>
        <p:nvSpPr>
          <p:cNvPr id="7" name="内容占位符 2"/>
          <p:cNvSpPr>
            <a:spLocks noGrp="1"/>
          </p:cNvSpPr>
          <p:nvPr>
            <p:ph idx="1" hasCustomPrompt="1"/>
          </p:nvPr>
        </p:nvSpPr>
        <p:spPr>
          <a:xfrm>
            <a:off x="484533" y="789974"/>
            <a:ext cx="8184875" cy="3860919"/>
          </a:xfrm>
          <a:prstGeom prst="rect">
            <a:avLst/>
          </a:prstGeom>
        </p:spPr>
        <p:txBody>
          <a:bodyPr/>
          <a:lstStyle>
            <a:lvl1pPr>
              <a:lnSpc>
                <a:spcPct val="120000"/>
              </a:lnSpc>
              <a:defRPr/>
            </a:lvl1pPr>
            <a:lvl2pPr>
              <a:lnSpc>
                <a:spcPct val="120000"/>
              </a:lnSpc>
              <a:defRPr/>
            </a:lvl2pPr>
            <a:lvl3pPr>
              <a:lnSpc>
                <a:spcPct val="120000"/>
              </a:lnSpc>
              <a:defRPr/>
            </a:lvl3pPr>
            <a:lvl4pPr>
              <a:lnSpc>
                <a:spcPct val="120000"/>
              </a:lnSpc>
              <a:defRPr/>
            </a:lvl4pPr>
            <a:lvl5pPr>
              <a:lnSpc>
                <a:spcPct val="120000"/>
              </a:lnSpc>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内容页">
    <p:bg>
      <p:bgPr>
        <a:solidFill>
          <a:schemeClr val="bg1"/>
        </a:solidFill>
        <a:effectLst/>
      </p:bgPr>
    </p:bg>
    <p:spTree>
      <p:nvGrpSpPr>
        <p:cNvPr id="1" name=""/>
        <p:cNvGrpSpPr/>
        <p:nvPr/>
      </p:nvGrpSpPr>
      <p:grpSpPr>
        <a:xfrm>
          <a:off x="0" y="0"/>
          <a:ext cx="0" cy="0"/>
          <a:chOff x="0" y="0"/>
          <a:chExt cx="0" cy="0"/>
        </a:xfrm>
      </p:grpSpPr>
      <p:sp>
        <p:nvSpPr>
          <p:cNvPr id="2" name="任意多边形 4"/>
          <p:cNvSpPr/>
          <p:nvPr/>
        </p:nvSpPr>
        <p:spPr>
          <a:xfrm>
            <a:off x="0" y="252413"/>
            <a:ext cx="404813" cy="155575"/>
          </a:xfrm>
          <a:custGeom>
            <a:avLst/>
            <a:gdLst>
              <a:gd name="connsiteX0" fmla="*/ 0 w 539552"/>
              <a:gd name="connsiteY0" fmla="*/ 0 h 205898"/>
              <a:gd name="connsiteX1" fmla="*/ 436603 w 539552"/>
              <a:gd name="connsiteY1" fmla="*/ 0 h 205898"/>
              <a:gd name="connsiteX2" fmla="*/ 539552 w 539552"/>
              <a:gd name="connsiteY2" fmla="*/ 102949 h 205898"/>
              <a:gd name="connsiteX3" fmla="*/ 436603 w 539552"/>
              <a:gd name="connsiteY3" fmla="*/ 205898 h 205898"/>
              <a:gd name="connsiteX4" fmla="*/ 0 w 539552"/>
              <a:gd name="connsiteY4" fmla="*/ 205898 h 205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552" h="205898">
                <a:moveTo>
                  <a:pt x="0" y="0"/>
                </a:moveTo>
                <a:lnTo>
                  <a:pt x="436603" y="0"/>
                </a:lnTo>
                <a:cubicBezTo>
                  <a:pt x="493460" y="0"/>
                  <a:pt x="539552" y="46092"/>
                  <a:pt x="539552" y="102949"/>
                </a:cubicBezTo>
                <a:cubicBezTo>
                  <a:pt x="539552" y="159806"/>
                  <a:pt x="493460" y="205898"/>
                  <a:pt x="436603" y="205898"/>
                </a:cubicBezTo>
                <a:lnTo>
                  <a:pt x="0" y="205898"/>
                </a:lnTo>
                <a:close/>
              </a:path>
            </a:pathLst>
          </a:custGeom>
          <a:solidFill>
            <a:srgbClr val="57575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pic>
        <p:nvPicPr>
          <p:cNvPr id="97283" name="图片 7"/>
          <p:cNvPicPr>
            <a:picLocks noChangeAspect="1"/>
          </p:cNvPicPr>
          <p:nvPr userDrawn="1"/>
        </p:nvPicPr>
        <p:blipFill>
          <a:blip r:embed="rId2"/>
          <a:stretch>
            <a:fillRect/>
          </a:stretch>
        </p:blipFill>
        <p:spPr>
          <a:xfrm>
            <a:off x="6151563" y="4776788"/>
            <a:ext cx="2992437" cy="366712"/>
          </a:xfrm>
          <a:prstGeom prst="rect">
            <a:avLst/>
          </a:prstGeom>
          <a:noFill/>
          <a:ln w="9525">
            <a:noFill/>
          </a:ln>
        </p:spPr>
      </p:pic>
      <p:sp>
        <p:nvSpPr>
          <p:cNvPr id="4" name="标题 1"/>
          <p:cNvSpPr>
            <a:spLocks noGrp="1"/>
          </p:cNvSpPr>
          <p:nvPr>
            <p:ph type="title"/>
          </p:nvPr>
        </p:nvSpPr>
        <p:spPr>
          <a:xfrm>
            <a:off x="499295" y="87766"/>
            <a:ext cx="8170112" cy="591554"/>
          </a:xfrm>
          <a:prstGeom prst="rect">
            <a:avLst/>
          </a:prstGeom>
        </p:spPr>
        <p:txBody>
          <a:bodyPr/>
          <a:lstStyle>
            <a:lvl1pPr>
              <a:defRPr lang="zh-CN" altLang="en-US" sz="2025" b="0" i="0" dirty="0" smtClean="0">
                <a:solidFill>
                  <a:srgbClr val="0070C0"/>
                </a:solidFill>
                <a:latin typeface="Microsoft YaHei" panose="020B0503020204020204" pitchFamily="34" charset="-122"/>
                <a:ea typeface="Microsoft YaHei" panose="020B0503020204020204" pitchFamily="34" charset="-122"/>
                <a:cs typeface="+mj-cs"/>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尾页">
    <p:bg>
      <p:bgPr>
        <a:solidFill>
          <a:schemeClr val="bg1"/>
        </a:solidFill>
        <a:effectLst/>
      </p:bgPr>
    </p:bg>
    <p:spTree>
      <p:nvGrpSpPr>
        <p:cNvPr id="1" name=""/>
        <p:cNvGrpSpPr/>
        <p:nvPr/>
      </p:nvGrpSpPr>
      <p:grpSpPr>
        <a:xfrm>
          <a:off x="0" y="0"/>
          <a:ext cx="0" cy="0"/>
          <a:chOff x="0" y="0"/>
          <a:chExt cx="0" cy="0"/>
        </a:xfrm>
      </p:grpSpPr>
      <p:sp>
        <p:nvSpPr>
          <p:cNvPr id="2" name="圆角矩形 4"/>
          <p:cNvSpPr/>
          <p:nvPr/>
        </p:nvSpPr>
        <p:spPr>
          <a:xfrm rot="3249195">
            <a:off x="7554119" y="2355056"/>
            <a:ext cx="442913" cy="3695700"/>
          </a:xfrm>
          <a:prstGeom prst="roundRect">
            <a:avLst>
              <a:gd name="adj" fmla="val 50000"/>
            </a:avLst>
          </a:pr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sp>
        <p:nvSpPr>
          <p:cNvPr id="3" name="圆角矩形 5"/>
          <p:cNvSpPr/>
          <p:nvPr/>
        </p:nvSpPr>
        <p:spPr>
          <a:xfrm rot="3249195">
            <a:off x="6786563" y="3048000"/>
            <a:ext cx="434975" cy="2667000"/>
          </a:xfrm>
          <a:prstGeom prst="roundRect">
            <a:avLst>
              <a:gd name="adj" fmla="val 50000"/>
            </a:avLst>
          </a:pr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cxnSp>
        <p:nvCxnSpPr>
          <p:cNvPr id="7" name="直接连接符 3"/>
          <p:cNvCxnSpPr/>
          <p:nvPr/>
        </p:nvCxnSpPr>
        <p:spPr>
          <a:xfrm>
            <a:off x="3925888" y="3300413"/>
            <a:ext cx="3719513" cy="0"/>
          </a:xfrm>
          <a:prstGeom prst="line">
            <a:avLst/>
          </a:prstGeom>
          <a:ln w="25400">
            <a:solidFill>
              <a:srgbClr val="575757"/>
            </a:solidFill>
          </a:ln>
        </p:spPr>
        <p:style>
          <a:lnRef idx="1">
            <a:schemeClr val="accent1"/>
          </a:lnRef>
          <a:fillRef idx="0">
            <a:schemeClr val="accent1"/>
          </a:fillRef>
          <a:effectRef idx="0">
            <a:schemeClr val="accent1"/>
          </a:effectRef>
          <a:fontRef idx="minor">
            <a:schemeClr val="tx1"/>
          </a:fontRef>
        </p:style>
      </p:cxnSp>
      <p:sp>
        <p:nvSpPr>
          <p:cNvPr id="8" name="圆角矩形 10"/>
          <p:cNvSpPr/>
          <p:nvPr/>
        </p:nvSpPr>
        <p:spPr>
          <a:xfrm rot="3368301">
            <a:off x="4722019" y="-389731"/>
            <a:ext cx="442913" cy="3695700"/>
          </a:xfrm>
          <a:prstGeom prst="roundRect">
            <a:avLst>
              <a:gd name="adj" fmla="val 50000"/>
            </a:avLst>
          </a:pr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sp>
        <p:nvSpPr>
          <p:cNvPr id="9" name="圆角矩形 11"/>
          <p:cNvSpPr/>
          <p:nvPr/>
        </p:nvSpPr>
        <p:spPr>
          <a:xfrm rot="3437467">
            <a:off x="4000500" y="-228600"/>
            <a:ext cx="441325" cy="3695700"/>
          </a:xfrm>
          <a:prstGeom prst="roundRect">
            <a:avLst>
              <a:gd name="adj" fmla="val 50000"/>
            </a:avLst>
          </a:pr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 fill="hold" nodeType="after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animBg="1"/>
      <p:bldP spid="9"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目录">
    <p:bg>
      <p:bgPr>
        <a:solidFill>
          <a:schemeClr val="bg1"/>
        </a:solidFill>
        <a:effectLst/>
      </p:bgPr>
    </p:bg>
    <p:spTree>
      <p:nvGrpSpPr>
        <p:cNvPr id="1" name=""/>
        <p:cNvGrpSpPr/>
        <p:nvPr/>
      </p:nvGrpSpPr>
      <p:grpSpPr>
        <a:xfrm>
          <a:off x="0" y="0"/>
          <a:ext cx="0" cy="0"/>
          <a:chOff x="0" y="0"/>
          <a:chExt cx="0" cy="0"/>
        </a:xfrm>
      </p:grpSpPr>
      <p:sp>
        <p:nvSpPr>
          <p:cNvPr id="2" name="任意多边形 14"/>
          <p:cNvSpPr/>
          <p:nvPr/>
        </p:nvSpPr>
        <p:spPr>
          <a:xfrm rot="5400000">
            <a:off x="7458869" y="-353219"/>
            <a:ext cx="441325" cy="2928938"/>
          </a:xfrm>
          <a:custGeom>
            <a:avLst/>
            <a:gdLst>
              <a:gd name="connsiteX0" fmla="*/ 0 w 589616"/>
              <a:gd name="connsiteY0" fmla="*/ 4329742 h 4624550"/>
              <a:gd name="connsiteX1" fmla="*/ 0 w 589616"/>
              <a:gd name="connsiteY1" fmla="*/ 0 h 4624550"/>
              <a:gd name="connsiteX2" fmla="*/ 589616 w 589616"/>
              <a:gd name="connsiteY2" fmla="*/ 0 h 4624550"/>
              <a:gd name="connsiteX3" fmla="*/ 589616 w 589616"/>
              <a:gd name="connsiteY3" fmla="*/ 4329742 h 4624550"/>
              <a:gd name="connsiteX4" fmla="*/ 294808 w 589616"/>
              <a:gd name="connsiteY4" fmla="*/ 4624550 h 4624550"/>
              <a:gd name="connsiteX5" fmla="*/ 0 w 589616"/>
              <a:gd name="connsiteY5" fmla="*/ 4329742 h 462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9616" h="4624550">
                <a:moveTo>
                  <a:pt x="0" y="4329742"/>
                </a:moveTo>
                <a:lnTo>
                  <a:pt x="0" y="0"/>
                </a:lnTo>
                <a:lnTo>
                  <a:pt x="589616" y="0"/>
                </a:lnTo>
                <a:lnTo>
                  <a:pt x="589616" y="4329742"/>
                </a:lnTo>
                <a:cubicBezTo>
                  <a:pt x="589616" y="4492560"/>
                  <a:pt x="457626" y="4624550"/>
                  <a:pt x="294808" y="4624550"/>
                </a:cubicBezTo>
                <a:cubicBezTo>
                  <a:pt x="131990" y="4624550"/>
                  <a:pt x="0" y="4492560"/>
                  <a:pt x="0" y="4329742"/>
                </a:cubicBezTo>
                <a:close/>
              </a:path>
            </a:pathLst>
          </a:custGeom>
          <a:solidFill>
            <a:srgbClr val="686E7E">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sp>
        <p:nvSpPr>
          <p:cNvPr id="3" name="任意多边形 12"/>
          <p:cNvSpPr/>
          <p:nvPr/>
        </p:nvSpPr>
        <p:spPr>
          <a:xfrm rot="5400000">
            <a:off x="1112044" y="-299244"/>
            <a:ext cx="596900" cy="2820988"/>
          </a:xfrm>
          <a:custGeom>
            <a:avLst/>
            <a:gdLst>
              <a:gd name="connsiteX0" fmla="*/ 0 w 795552"/>
              <a:gd name="connsiteY0" fmla="*/ 3760956 h 3760956"/>
              <a:gd name="connsiteX1" fmla="*/ 0 w 795552"/>
              <a:gd name="connsiteY1" fmla="*/ 397776 h 3760956"/>
              <a:gd name="connsiteX2" fmla="*/ 397776 w 795552"/>
              <a:gd name="connsiteY2" fmla="*/ 0 h 3760956"/>
              <a:gd name="connsiteX3" fmla="*/ 795552 w 795552"/>
              <a:gd name="connsiteY3" fmla="*/ 397776 h 3760956"/>
              <a:gd name="connsiteX4" fmla="*/ 795552 w 795552"/>
              <a:gd name="connsiteY4" fmla="*/ 3760956 h 37609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95552" h="3760956">
                <a:moveTo>
                  <a:pt x="0" y="3760956"/>
                </a:moveTo>
                <a:lnTo>
                  <a:pt x="0" y="397776"/>
                </a:lnTo>
                <a:cubicBezTo>
                  <a:pt x="0" y="178090"/>
                  <a:pt x="178090" y="0"/>
                  <a:pt x="397776" y="0"/>
                </a:cubicBezTo>
                <a:cubicBezTo>
                  <a:pt x="617462" y="0"/>
                  <a:pt x="795552" y="178090"/>
                  <a:pt x="795552" y="397776"/>
                </a:cubicBezTo>
                <a:lnTo>
                  <a:pt x="795552" y="3760956"/>
                </a:lnTo>
                <a:close/>
              </a:path>
            </a:pathLst>
          </a:custGeom>
          <a:solidFill>
            <a:schemeClr val="accent1">
              <a:alpha val="6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lt1"/>
              </a:solidFill>
              <a:effectLst/>
              <a:uLnTx/>
              <a:uFillTx/>
              <a:latin typeface="Microsoft YaHei" panose="020B0503020204020204" pitchFamily="34" charset="-122"/>
              <a:ea typeface="Microsoft YaHei" panose="020B0503020204020204" pitchFamily="34" charset="-122"/>
              <a:cs typeface="+mn-cs"/>
            </a:endParaRPr>
          </a:p>
        </p:txBody>
      </p:sp>
      <p:sp>
        <p:nvSpPr>
          <p:cNvPr id="7" name="文本框 6"/>
          <p:cNvSpPr txBox="1">
            <a:spLocks noChangeArrowheads="1"/>
          </p:cNvSpPr>
          <p:nvPr/>
        </p:nvSpPr>
        <p:spPr bwMode="auto">
          <a:xfrm>
            <a:off x="2874963" y="765175"/>
            <a:ext cx="963613" cy="560388"/>
          </a:xfrm>
          <a:prstGeom prst="rect">
            <a:avLst/>
          </a:prstGeom>
          <a:noFill/>
          <a:ln>
            <a:noFill/>
          </a:ln>
        </p:spPr>
        <p:txBody>
          <a:bodyPr wrap="none">
            <a:spAutoFit/>
          </a:bodyPr>
          <a:lstStyle/>
          <a:p>
            <a:pPr lvl="0" eaLnBrk="1" hangingPunct="1">
              <a:buNone/>
            </a:pPr>
            <a:r>
              <a:rPr lang="zh-CN" altLang="en-US" sz="3000" b="1">
                <a:solidFill>
                  <a:srgbClr val="575757"/>
                </a:solidFill>
                <a:latin typeface="Arial" panose="020B0604020202090204" pitchFamily="34" charset="0"/>
                <a:ea typeface="微软雅黑" panose="020B0503020204020204" pitchFamily="34" charset="-122"/>
              </a:rPr>
              <a:t>目录</a:t>
            </a:r>
          </a:p>
        </p:txBody>
      </p:sp>
      <p:sp>
        <p:nvSpPr>
          <p:cNvPr id="8" name="文本框 7"/>
          <p:cNvSpPr txBox="1">
            <a:spLocks noChangeArrowheads="1"/>
          </p:cNvSpPr>
          <p:nvPr/>
        </p:nvSpPr>
        <p:spPr bwMode="auto">
          <a:xfrm>
            <a:off x="4021138" y="822325"/>
            <a:ext cx="1719263" cy="473075"/>
          </a:xfrm>
          <a:prstGeom prst="rect">
            <a:avLst/>
          </a:prstGeom>
          <a:noFill/>
          <a:ln>
            <a:noFill/>
          </a:ln>
        </p:spPr>
        <p:txBody>
          <a:bodyPr wrap="none">
            <a:spAutoFit/>
          </a:bodyPr>
          <a:lstStyle>
            <a:lvl1pPr>
              <a:defRPr>
                <a:solidFill>
                  <a:schemeClr val="tx1"/>
                </a:solidFill>
                <a:latin typeface="Arial" panose="020B0604020202090204" pitchFamily="34" charset="0"/>
                <a:ea typeface="微软雅黑" panose="020B0503020204020204" pitchFamily="34" charset="-122"/>
              </a:defRPr>
            </a:lvl1pPr>
            <a:lvl2pPr marL="742950" indent="-285750">
              <a:defRPr>
                <a:solidFill>
                  <a:schemeClr val="tx1"/>
                </a:solidFill>
                <a:latin typeface="Arial" panose="020B0604020202090204" pitchFamily="34" charset="0"/>
                <a:ea typeface="微软雅黑" panose="020B0503020204020204" pitchFamily="34" charset="-122"/>
              </a:defRPr>
            </a:lvl2pPr>
            <a:lvl3pPr marL="1143000" indent="-228600">
              <a:defRPr>
                <a:solidFill>
                  <a:schemeClr val="tx1"/>
                </a:solidFill>
                <a:latin typeface="Arial" panose="020B0604020202090204" pitchFamily="34" charset="0"/>
                <a:ea typeface="微软雅黑" panose="020B0503020204020204" pitchFamily="34" charset="-122"/>
              </a:defRPr>
            </a:lvl3pPr>
            <a:lvl4pPr marL="1600200" indent="-228600">
              <a:defRPr>
                <a:solidFill>
                  <a:schemeClr val="tx1"/>
                </a:solidFill>
                <a:latin typeface="Arial" panose="020B0604020202090204" pitchFamily="34" charset="0"/>
                <a:ea typeface="微软雅黑" panose="020B0503020204020204" pitchFamily="34" charset="-122"/>
              </a:defRPr>
            </a:lvl4pPr>
            <a:lvl5pPr marL="2057400" indent="-228600">
              <a:defRPr>
                <a:solidFill>
                  <a:schemeClr val="tx1"/>
                </a:solidFill>
                <a:latin typeface="Arial" panose="020B060402020209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Arial" panose="020B060402020209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Arial" panose="020B060402020209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Arial" panose="020B060402020209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Arial" panose="020B0604020202090204" pitchFamily="34" charset="0"/>
                <a:ea typeface="微软雅黑"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75" b="1" i="0" u="none" strike="noStrike" kern="1200" cap="none" spc="0" normalizeH="0" baseline="0" noProof="0">
                <a:ln>
                  <a:noFill/>
                </a:ln>
                <a:solidFill>
                  <a:srgbClr val="575757"/>
                </a:solidFill>
                <a:effectLst/>
                <a:uLnTx/>
                <a:uFillTx/>
                <a:latin typeface="Arial" panose="020B0604020202090204" pitchFamily="34" charset="0"/>
                <a:ea typeface="微软雅黑" panose="020B0503020204020204" pitchFamily="34" charset="-122"/>
                <a:cs typeface="+mn-cs"/>
              </a:rPr>
              <a:t>CONTENT</a:t>
            </a:r>
            <a:endParaRPr kumimoji="0" lang="zh-CN" altLang="en-US" sz="2475" b="1" i="0" u="none" strike="noStrike" kern="1200" cap="none" spc="0" normalizeH="0" baseline="0" noProof="0">
              <a:ln>
                <a:noFill/>
              </a:ln>
              <a:solidFill>
                <a:srgbClr val="575757"/>
              </a:solidFill>
              <a:effectLst/>
              <a:uLnTx/>
              <a:uFillTx/>
              <a:latin typeface="Arial" panose="020B0604020202090204" pitchFamily="34" charset="0"/>
              <a:ea typeface="微软雅黑" panose="020B0503020204020204" pitchFamily="34" charset="-122"/>
              <a:cs typeface="+mn-cs"/>
            </a:endParaRP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0-#ppt_w/2"/>
                                          </p:val>
                                        </p:tav>
                                        <p:tav tm="100000">
                                          <p:val>
                                            <p:strVal val="#ppt_x"/>
                                          </p:val>
                                        </p:tav>
                                      </p:tavLst>
                                    </p:anim>
                                    <p:anim calcmode="lin" valueType="num">
                                      <p:cBhvr additive="base">
                                        <p:cTn id="13" dur="500" fill="hold"/>
                                        <p:tgtEl>
                                          <p:spTgt spid="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0-#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0-#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2701926"/>
            <a:ext cx="6858000" cy="1241425"/>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1"/>
            <a:ext cx="7886700" cy="2139950"/>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3441701"/>
            <a:ext cx="7886700" cy="1125538"/>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370013"/>
            <a:ext cx="3867150" cy="326231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370013"/>
            <a:ext cx="3867150" cy="326231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7" name="灯片编号占位符 6"/>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9"/>
            <a:ext cx="7886700" cy="993775"/>
          </a:xfrm>
        </p:spPr>
        <p:txBody>
          <a:bodyPr/>
          <a:lstStyle/>
          <a:p>
            <a:r>
              <a:rPr lang="zh-CN" altLang="en-US"/>
              <a:t>单击此处编辑母版标题样式</a:t>
            </a:r>
          </a:p>
        </p:txBody>
      </p:sp>
      <p:sp>
        <p:nvSpPr>
          <p:cNvPr id="3" name="文本占位符 2"/>
          <p:cNvSpPr>
            <a:spLocks noGrp="1"/>
          </p:cNvSpPr>
          <p:nvPr>
            <p:ph type="body" idx="1"/>
          </p:nvPr>
        </p:nvSpPr>
        <p:spPr>
          <a:xfrm>
            <a:off x="630239" y="1260475"/>
            <a:ext cx="3868737" cy="619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630239" y="1879600"/>
            <a:ext cx="3868737" cy="276225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260475"/>
            <a:ext cx="3887788" cy="61912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29150" y="1879600"/>
            <a:ext cx="3887788" cy="276225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9" name="灯片编号占位符 8"/>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灯片编号占位符 4"/>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4" name="灯片编号占位符 3"/>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342900"/>
            <a:ext cx="2949575" cy="120015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788" y="741364"/>
            <a:ext cx="4629150" cy="36544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40" y="1543050"/>
            <a:ext cx="2949575" cy="28590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7" name="灯片编号占位符 6"/>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40" y="342900"/>
            <a:ext cx="2949575" cy="120015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788" y="741364"/>
            <a:ext cx="4629150" cy="3654425"/>
          </a:xfrm>
        </p:spPr>
        <p:txBody>
          <a:bodyPr vert="horz" wrap="square" lIns="91440" tIns="45720" rIns="91440" bIns="45720" numCol="1" rtlCol="0" anchor="t" anchorCtr="0" compatLnSpc="1">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90000"/>
              </a:lnSpc>
              <a:spcBef>
                <a:spcPts val="750"/>
              </a:spcBef>
              <a:spcAft>
                <a:spcPct val="0"/>
              </a:spcAft>
              <a:buClrTx/>
              <a:buSzTx/>
              <a:buFont typeface="Arial" panose="020B0604020202090204" pitchFamily="34" charset="0"/>
              <a:buNone/>
              <a:defRPr/>
            </a:pPr>
            <a:endParaRPr kumimoji="0" lang="zh-CN" altLang="en-US" sz="24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
        <p:nvSpPr>
          <p:cNvPr id="4" name="文本占位符 3"/>
          <p:cNvSpPr>
            <a:spLocks noGrp="1"/>
          </p:cNvSpPr>
          <p:nvPr>
            <p:ph type="body" sz="half" idx="2"/>
          </p:nvPr>
        </p:nvSpPr>
        <p:spPr>
          <a:xfrm>
            <a:off x="630240" y="1543050"/>
            <a:ext cx="2949575" cy="28590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7" name="灯片编号占位符 6"/>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6" y="274639"/>
            <a:ext cx="1971675" cy="43576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2" y="274639"/>
            <a:ext cx="5762625" cy="435768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28650" y="274638"/>
            <a:ext cx="7886700" cy="993775"/>
          </a:xfrm>
          <a:prstGeom prst="rect">
            <a:avLst/>
          </a:prstGeom>
          <a:noFill/>
          <a:ln w="9525">
            <a:noFill/>
          </a:ln>
        </p:spPr>
        <p:txBody>
          <a:bodyPr anchor="ctr" anchorCtr="0"/>
          <a:lstStyle/>
          <a:p>
            <a:pPr lvl="0"/>
            <a:r>
              <a:rPr lang="zh-CN" altLang="en-US"/>
              <a:t>单击此处编辑母版标题样式</a:t>
            </a:r>
          </a:p>
        </p:txBody>
      </p:sp>
      <p:sp>
        <p:nvSpPr>
          <p:cNvPr id="1027" name="文本占位符 2"/>
          <p:cNvSpPr>
            <a:spLocks noGrp="1"/>
          </p:cNvSpPr>
          <p:nvPr>
            <p:ph type="body" idx="1"/>
          </p:nvPr>
        </p:nvSpPr>
        <p:spPr>
          <a:xfrm>
            <a:off x="628650" y="1370013"/>
            <a:ext cx="7886700" cy="3262312"/>
          </a:xfrm>
          <a:prstGeom prst="rect">
            <a:avLst/>
          </a:prstGeom>
          <a:noFill/>
          <a:ln w="9525">
            <a:noFill/>
          </a:ln>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4767263"/>
            <a:ext cx="2057400" cy="274638"/>
          </a:xfrm>
          <a:prstGeom prst="rect">
            <a:avLst/>
          </a:prstGeom>
        </p:spPr>
        <p:txBody>
          <a:bodyPr vert="horz" lIns="91440" tIns="45720" rIns="91440" bIns="45720" rtlCol="0" anchor="ctr"/>
          <a:lstStyle>
            <a:lvl1pPr algn="l">
              <a:defRPr kumimoji="1" sz="900" b="0" i="0">
                <a:solidFill>
                  <a:schemeClr val="tx1">
                    <a:tint val="82000"/>
                  </a:schemeClr>
                </a:solidFill>
                <a:ea typeface="Microsoft YaHei" panose="020B0503020204020204" pitchFamily="34" charset="-122"/>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ED154B9E-9E8D-2441-8282-423B6E56074C}" type="datetimeFigureOut">
              <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rPr>
              <a:t>2026/7/2</a:t>
            </a:fld>
            <a:endParaRPr kumimoji="1" lang="zh-CN" altLang="en-US" sz="900" b="0" i="0" u="none" strike="noStrike" kern="1200" cap="none" spc="0" normalizeH="0" baseline="0" noProof="0" dirty="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5" name="页脚占位符 4"/>
          <p:cNvSpPr>
            <a:spLocks noGrp="1"/>
          </p:cNvSpPr>
          <p:nvPr>
            <p:ph type="ftr" sz="quarter" idx="3"/>
          </p:nvPr>
        </p:nvSpPr>
        <p:spPr>
          <a:xfrm>
            <a:off x="3028950" y="4767263"/>
            <a:ext cx="3086100" cy="274638"/>
          </a:xfrm>
          <a:prstGeom prst="rect">
            <a:avLst/>
          </a:prstGeom>
        </p:spPr>
        <p:txBody>
          <a:bodyPr vert="horz" lIns="91440" tIns="45720" rIns="91440" bIns="45720" rtlCol="0" anchor="ctr"/>
          <a:lstStyle>
            <a:lvl1pPr algn="ctr">
              <a:defRPr kumimoji="1" sz="900" b="0" i="0">
                <a:solidFill>
                  <a:schemeClr val="tx1">
                    <a:tint val="82000"/>
                  </a:schemeClr>
                </a:solidFill>
                <a:ea typeface="Microsoft YaHei" panose="020B0503020204020204" pitchFamily="34" charset="-122"/>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1" lang="zh-CN" altLang="en-US" sz="900" b="0" i="0" u="none" strike="noStrike" kern="1200" cap="none" spc="0" normalizeH="0" baseline="0" noProof="0">
              <a:ln>
                <a:noFill/>
              </a:ln>
              <a:solidFill>
                <a:schemeClr val="tx1">
                  <a:tint val="82000"/>
                </a:schemeClr>
              </a:solidFill>
              <a:effectLst/>
              <a:uLnTx/>
              <a:uFillTx/>
              <a:latin typeface="Arial" panose="020B0604020202090204" pitchFamily="34" charset="0"/>
              <a:ea typeface="Microsoft YaHei" panose="020B0503020204020204" pitchFamily="34" charset="-122"/>
              <a:cs typeface="+mn-cs"/>
            </a:endParaRPr>
          </a:p>
        </p:txBody>
      </p:sp>
      <p:sp>
        <p:nvSpPr>
          <p:cNvPr id="6" name="灯片编号占位符 5"/>
          <p:cNvSpPr>
            <a:spLocks noGrp="1"/>
          </p:cNvSpPr>
          <p:nvPr>
            <p:ph type="sldNum" sz="quarter" idx="4"/>
          </p:nvPr>
        </p:nvSpPr>
        <p:spPr>
          <a:xfrm>
            <a:off x="6457950" y="4767263"/>
            <a:ext cx="2057400" cy="274638"/>
          </a:xfrm>
          <a:prstGeom prst="rect">
            <a:avLst/>
          </a:prstGeom>
        </p:spPr>
        <p:txBody>
          <a:bodyPr vert="horz" lIns="91440" tIns="45720" rIns="91440" bIns="45720" rtlCol="0" anchor="ctr"/>
          <a:lstStyle>
            <a:lvl1pPr algn="r">
              <a:defRPr sz="900">
                <a:solidFill>
                  <a:srgbClr val="767676"/>
                </a:solidFill>
                <a:ea typeface="微软雅黑" panose="020B0503020204020204" pitchFamily="34" charset="-122"/>
              </a:defRPr>
            </a:lvl1pPr>
          </a:lstStyle>
          <a:p>
            <a:pPr lvl="0">
              <a:buNone/>
            </a:pPr>
            <a:fld id="{9A0DB2DC-4C9A-4742-B13C-FB6460FD3503}" type="slidenum">
              <a:rPr lang="zh-CN" altLang="en-US">
                <a:latin typeface="Arial" panose="020B0604020202090204" pitchFamily="34" charset="0"/>
              </a:rPr>
              <a:t>‹#›</a:t>
            </a:fld>
            <a:endParaRPr lang="zh-CN" altLang="en-US">
              <a:latin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l"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rtl="0" eaLnBrk="0" fontAlgn="base" hangingPunct="0">
        <a:lnSpc>
          <a:spcPct val="90000"/>
        </a:lnSpc>
        <a:spcBef>
          <a:spcPct val="0"/>
        </a:spcBef>
        <a:spcAft>
          <a:spcPct val="0"/>
        </a:spcAft>
        <a:defRPr sz="3300">
          <a:solidFill>
            <a:schemeClr val="tx1"/>
          </a:solidFill>
          <a:latin typeface="等线 Light" pitchFamily="2" charset="-122"/>
        </a:defRPr>
      </a:lvl2pPr>
      <a:lvl3pPr algn="l" rtl="0" eaLnBrk="0" fontAlgn="base" hangingPunct="0">
        <a:lnSpc>
          <a:spcPct val="90000"/>
        </a:lnSpc>
        <a:spcBef>
          <a:spcPct val="0"/>
        </a:spcBef>
        <a:spcAft>
          <a:spcPct val="0"/>
        </a:spcAft>
        <a:defRPr sz="3300">
          <a:solidFill>
            <a:schemeClr val="tx1"/>
          </a:solidFill>
          <a:latin typeface="等线 Light" pitchFamily="2" charset="-122"/>
        </a:defRPr>
      </a:lvl3pPr>
      <a:lvl4pPr algn="l" rtl="0" eaLnBrk="0" fontAlgn="base" hangingPunct="0">
        <a:lnSpc>
          <a:spcPct val="90000"/>
        </a:lnSpc>
        <a:spcBef>
          <a:spcPct val="0"/>
        </a:spcBef>
        <a:spcAft>
          <a:spcPct val="0"/>
        </a:spcAft>
        <a:defRPr sz="3300">
          <a:solidFill>
            <a:schemeClr val="tx1"/>
          </a:solidFill>
          <a:latin typeface="等线 Light" pitchFamily="2" charset="-122"/>
        </a:defRPr>
      </a:lvl4pPr>
      <a:lvl5pPr algn="l" rtl="0" eaLnBrk="0" fontAlgn="base" hangingPunct="0">
        <a:lnSpc>
          <a:spcPct val="90000"/>
        </a:lnSpc>
        <a:spcBef>
          <a:spcPct val="0"/>
        </a:spcBef>
        <a:spcAft>
          <a:spcPct val="0"/>
        </a:spcAft>
        <a:defRPr sz="3300">
          <a:solidFill>
            <a:schemeClr val="tx1"/>
          </a:solidFill>
          <a:latin typeface="等线 Light" pitchFamily="2" charset="-122"/>
        </a:defRPr>
      </a:lvl5pPr>
      <a:lvl6pPr marL="342900" algn="l" rtl="0" fontAlgn="base">
        <a:lnSpc>
          <a:spcPct val="90000"/>
        </a:lnSpc>
        <a:spcBef>
          <a:spcPct val="0"/>
        </a:spcBef>
        <a:spcAft>
          <a:spcPct val="0"/>
        </a:spcAft>
        <a:defRPr sz="3300">
          <a:solidFill>
            <a:schemeClr val="tx1"/>
          </a:solidFill>
          <a:latin typeface="等线 Light" pitchFamily="2" charset="-122"/>
        </a:defRPr>
      </a:lvl6pPr>
      <a:lvl7pPr marL="685800" algn="l" rtl="0" fontAlgn="base">
        <a:lnSpc>
          <a:spcPct val="90000"/>
        </a:lnSpc>
        <a:spcBef>
          <a:spcPct val="0"/>
        </a:spcBef>
        <a:spcAft>
          <a:spcPct val="0"/>
        </a:spcAft>
        <a:defRPr sz="3300">
          <a:solidFill>
            <a:schemeClr val="tx1"/>
          </a:solidFill>
          <a:latin typeface="等线 Light" pitchFamily="2" charset="-122"/>
        </a:defRPr>
      </a:lvl7pPr>
      <a:lvl8pPr marL="1028700" algn="l" rtl="0" fontAlgn="base">
        <a:lnSpc>
          <a:spcPct val="90000"/>
        </a:lnSpc>
        <a:spcBef>
          <a:spcPct val="0"/>
        </a:spcBef>
        <a:spcAft>
          <a:spcPct val="0"/>
        </a:spcAft>
        <a:defRPr sz="3300">
          <a:solidFill>
            <a:schemeClr val="tx1"/>
          </a:solidFill>
          <a:latin typeface="等线 Light" pitchFamily="2" charset="-122"/>
        </a:defRPr>
      </a:lvl8pPr>
      <a:lvl9pPr marL="1371600" algn="l" rtl="0" fontAlgn="base">
        <a:lnSpc>
          <a:spcPct val="90000"/>
        </a:lnSpc>
        <a:spcBef>
          <a:spcPct val="0"/>
        </a:spcBef>
        <a:spcAft>
          <a:spcPct val="0"/>
        </a:spcAft>
        <a:defRPr sz="3300">
          <a:solidFill>
            <a:schemeClr val="tx1"/>
          </a:solidFill>
          <a:latin typeface="等线 Light" pitchFamily="2" charset="-122"/>
        </a:defRPr>
      </a:lvl9pPr>
    </p:titleStyle>
    <p:body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idx="4294967295"/>
          </p:nvPr>
        </p:nvSpPr>
        <p:spPr>
          <a:xfrm>
            <a:off x="755650" y="2128838"/>
            <a:ext cx="7200900" cy="1090613"/>
          </a:xfrm>
        </p:spPr>
        <p:txBody>
          <a:bodyPr vert="horz" wrap="square" lIns="91440" tIns="45720" rIns="91440" bIns="45720" numCol="1" rtlCol="0" anchor="ctr" anchorCtr="0" compatLnSpc="1">
            <a:spAutoFit/>
          </a:bodyPr>
          <a:lstStyle>
            <a:lvl1pPr lvl="0">
              <a:buClrTx/>
              <a:buSzTx/>
              <a:buFontTx/>
              <a:defRPr/>
            </a:lvl1pPr>
          </a:lstStyle>
          <a:p>
            <a:pPr lvl="0" algn="ctr" eaLnBrk="1" hangingPunct="1">
              <a:buNone/>
            </a:pPr>
            <a:r>
              <a:rPr lang="en-US" altLang="zh-CN" sz="3600" b="1">
                <a:solidFill>
                  <a:schemeClr val="bg1"/>
                </a:solidFill>
                <a:effectLst>
                  <a:outerShdw blurRad="38100" dist="38100" dir="2700000">
                    <a:srgbClr val="C0C0C0"/>
                  </a:outerShdw>
                </a:effectLst>
                <a:latin typeface="微软雅黑" panose="020B0503020204020204" pitchFamily="34" charset="-122"/>
                <a:ea typeface="微软雅黑" panose="020B0503020204020204" pitchFamily="34" charset="-122"/>
              </a:rPr>
              <a:t>W2D1&amp;W2D2</a:t>
            </a:r>
            <a:r>
              <a:rPr lang="zh-CN" altLang="en-US" sz="3600" b="1">
                <a:solidFill>
                  <a:schemeClr val="bg1"/>
                </a:solidFill>
                <a:effectLst>
                  <a:outerShdw blurRad="38100" dist="38100" dir="2700000">
                    <a:srgbClr val="C0C0C0"/>
                  </a:outerShdw>
                </a:effectLst>
                <a:latin typeface="微软雅黑" panose="020B0503020204020204" pitchFamily="34" charset="-122"/>
                <a:ea typeface="微软雅黑" panose="020B0503020204020204" pitchFamily="34" charset="-122"/>
              </a:rPr>
              <a:t>：</a:t>
            </a:r>
            <a:r>
              <a:rPr lang="en-US" altLang="zh-CN" sz="3600" b="1">
                <a:solidFill>
                  <a:schemeClr val="bg1"/>
                </a:solidFill>
                <a:effectLst>
                  <a:outerShdw blurRad="38100" dist="38100" dir="2700000">
                    <a:srgbClr val="C0C0C0"/>
                  </a:outerShdw>
                </a:effectLst>
                <a:latin typeface="微软雅黑" panose="020B0503020204020204" pitchFamily="34" charset="-122"/>
                <a:ea typeface="微软雅黑" panose="020B0503020204020204" pitchFamily="34" charset="-122"/>
              </a:rPr>
              <a:t>Linux</a:t>
            </a:r>
            <a:r>
              <a:rPr lang="zh-CN" altLang="en-US" sz="3600" b="1">
                <a:solidFill>
                  <a:schemeClr val="bg1"/>
                </a:solidFill>
                <a:effectLst>
                  <a:outerShdw blurRad="38100" dist="38100" dir="2700000">
                    <a:srgbClr val="C0C0C0"/>
                  </a:outerShdw>
                </a:effectLst>
                <a:latin typeface="微软雅黑" panose="020B0503020204020204" pitchFamily="34" charset="-122"/>
                <a:ea typeface="微软雅黑" panose="020B0503020204020204" pitchFamily="34" charset="-122"/>
              </a:rPr>
              <a:t>下的网络编程基础</a:t>
            </a:r>
          </a:p>
        </p:txBody>
      </p:sp>
      <p:sp>
        <p:nvSpPr>
          <p:cNvPr id="19458" name="MH_Entry_1">
            <a:hlinkClick r:id="" action="ppaction://noaction"/>
          </p:cNvPr>
          <p:cNvSpPr/>
          <p:nvPr>
            <p:custDataLst>
              <p:tags r:id="rId1"/>
            </p:custDataLst>
          </p:nvPr>
        </p:nvSpPr>
        <p:spPr>
          <a:xfrm>
            <a:off x="890588" y="3292475"/>
            <a:ext cx="7361237" cy="774700"/>
          </a:xfrm>
          <a:custGeom>
            <a:avLst/>
            <a:gdLst>
              <a:gd name="txL" fmla="*/ 0 w 3064329"/>
              <a:gd name="txT" fmla="*/ 0 h 437055"/>
              <a:gd name="txR" fmla="*/ 3064329 w 3064329"/>
              <a:gd name="txB" fmla="*/ 437055 h 437055"/>
            </a:gdLst>
            <a:ahLst/>
            <a:cxnLst>
              <a:cxn ang="0">
                <a:pos x="238035976" y="6324394"/>
              </a:cxn>
              <a:cxn ang="0">
                <a:pos x="0" y="6324394"/>
              </a:cxn>
              <a:cxn ang="0">
                <a:pos x="0" y="0"/>
              </a:cxn>
              <a:cxn ang="0">
                <a:pos x="238035976" y="0"/>
              </a:cxn>
            </a:cxnLst>
            <a:rect l="txL" t="txT" r="txR" b="txB"/>
            <a:pathLst>
              <a:path w="3064329" h="437055">
                <a:moveTo>
                  <a:pt x="3064329" y="437055"/>
                </a:moveTo>
                <a:lnTo>
                  <a:pt x="0" y="437055"/>
                </a:lnTo>
                <a:lnTo>
                  <a:pt x="0" y="0"/>
                </a:lnTo>
                <a:lnTo>
                  <a:pt x="3064329" y="0"/>
                </a:lnTo>
              </a:path>
            </a:pathLst>
          </a:custGeom>
          <a:noFill/>
          <a:ln w="3175">
            <a:noFill/>
          </a:ln>
        </p:spPr>
        <p:txBody>
          <a:bodyPr lIns="360000" tIns="0" rIns="0" bIns="0"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50000"/>
              </a:lnSpc>
              <a:spcBef>
                <a:spcPct val="0"/>
              </a:spcBef>
              <a:buFontTx/>
              <a:buNone/>
            </a:pPr>
            <a:endParaRPr lang="en-US" altLang="zh-CN" sz="2800" b="1">
              <a:solidFill>
                <a:srgbClr val="0070C0"/>
              </a:solidFill>
              <a:cs typeface="Times New Roman" panose="02020503050405090304" pitchFamily="18" charset="0"/>
            </a:endParaRPr>
          </a:p>
          <a:p>
            <a:pPr marL="0" lvl="0" indent="0" algn="ctr" eaLnBrk="1" hangingPunct="1">
              <a:lnSpc>
                <a:spcPct val="150000"/>
              </a:lnSpc>
              <a:spcBef>
                <a:spcPct val="0"/>
              </a:spcBef>
              <a:buFontTx/>
              <a:buNone/>
            </a:pPr>
            <a:r>
              <a:rPr lang="en-US" altLang="zh-CN" sz="2800" b="1">
                <a:solidFill>
                  <a:srgbClr val="0070C0"/>
                </a:solidFill>
                <a:cs typeface="Times New Roman" panose="02020503050405090304" pitchFamily="18" charset="0"/>
              </a:rPr>
              <a:t>Linux</a:t>
            </a:r>
            <a:r>
              <a:rPr lang="zh-CN" altLang="zh-CN" sz="2800" b="1">
                <a:solidFill>
                  <a:srgbClr val="0070C0"/>
                </a:solidFill>
                <a:cs typeface="Times New Roman" panose="02020503050405090304" pitchFamily="18" charset="0"/>
              </a:rPr>
              <a:t>下</a:t>
            </a:r>
            <a:r>
              <a:rPr lang="en-US" altLang="zh-CN" sz="2800" b="1">
                <a:solidFill>
                  <a:srgbClr val="0070C0"/>
                </a:solidFill>
                <a:cs typeface="Times New Roman" panose="02020503050405090304" pitchFamily="18" charset="0"/>
              </a:rPr>
              <a:t>Web Server</a:t>
            </a:r>
            <a:r>
              <a:rPr lang="zh-CN" altLang="zh-CN" sz="2800" b="1">
                <a:solidFill>
                  <a:srgbClr val="0070C0"/>
                </a:solidFill>
                <a:cs typeface="Times New Roman" panose="02020503050405090304" pitchFamily="18" charset="0"/>
              </a:rPr>
              <a:t>的设计</a:t>
            </a:r>
          </a:p>
          <a:p>
            <a:pPr marL="0" lvl="0" indent="0" eaLnBrk="1" hangingPunct="1">
              <a:lnSpc>
                <a:spcPct val="150000"/>
              </a:lnSpc>
              <a:spcBef>
                <a:spcPct val="0"/>
              </a:spcBef>
              <a:buFontTx/>
              <a:buNone/>
            </a:pPr>
            <a:endParaRPr lang="zh-CN" altLang="en-US" sz="2800" b="1">
              <a:solidFill>
                <a:srgbClr val="0070C0"/>
              </a:solidFill>
              <a:ea typeface="Times New Roman" panose="02020503050405090304" pitchFamily="18" charset="0"/>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sz="2700" kern="1200">
                <a:solidFill>
                  <a:srgbClr val="0070C0"/>
                </a:solidFill>
                <a:latin typeface="微软雅黑" panose="020B0503020204020204" pitchFamily="34" charset="-122"/>
                <a:ea typeface="微软雅黑" panose="020B0503020204020204" pitchFamily="34" charset="-122"/>
                <a:cs typeface="+mj-cs"/>
              </a:rPr>
              <a:t>协议</a:t>
            </a:r>
          </a:p>
        </p:txBody>
      </p:sp>
      <p:sp>
        <p:nvSpPr>
          <p:cNvPr id="20482" name="Rectangle 3"/>
          <p:cNvSpPr>
            <a:spLocks noGrp="1"/>
          </p:cNvSpPr>
          <p:nvPr>
            <p:ph idx="1" hasCustomPrompt="1"/>
          </p:nvPr>
        </p:nvSpPr>
        <p:spPr>
          <a:xfrm>
            <a:off x="484188" y="790575"/>
            <a:ext cx="8297862" cy="3860800"/>
          </a:xfrm>
          <a:ln/>
        </p:spPr>
        <p:txBody>
          <a:bodyPr vert="horz" wrap="square" lIns="91440" tIns="45720" rIns="91440" bIns="45720" anchor="t" anchorCtr="0"/>
          <a:lstStyle/>
          <a:p>
            <a:pPr eaLnBrk="1" hangingPunct="1"/>
            <a:r>
              <a:rPr lang="zh-CN" altLang="en-US" sz="2400" kern="1200">
                <a:latin typeface="微软雅黑" panose="020B0503020204020204" pitchFamily="34" charset="-122"/>
                <a:ea typeface="微软雅黑" panose="020B0503020204020204" pitchFamily="34" charset="-122"/>
                <a:cs typeface="+mn-cs"/>
              </a:rPr>
              <a:t>要想让两台计算机进行通信，必须使它们采用相同的信息交换规则</a:t>
            </a:r>
          </a:p>
          <a:p>
            <a:pPr eaLnBrk="1" hangingPunct="1"/>
            <a:r>
              <a:rPr lang="zh-CN" altLang="en-US" sz="2400" kern="1200">
                <a:latin typeface="微软雅黑" panose="020B0503020204020204" pitchFamily="34" charset="-122"/>
                <a:ea typeface="微软雅黑" panose="020B0503020204020204" pitchFamily="34" charset="-122"/>
                <a:cs typeface="+mn-cs"/>
              </a:rPr>
              <a:t>计算机网络中用于规定信息的格式以及如何发送和接收信息的一套规则称为网络协议（</a:t>
            </a:r>
            <a:r>
              <a:rPr lang="en-US" altLang="zh-CN" sz="2400" kern="1200">
                <a:latin typeface="微软雅黑" panose="020B0503020204020204" pitchFamily="34" charset="-122"/>
                <a:ea typeface="微软雅黑" panose="020B0503020204020204" pitchFamily="34" charset="-122"/>
                <a:cs typeface="+mn-cs"/>
              </a:rPr>
              <a:t>network protocol</a:t>
            </a:r>
            <a:r>
              <a:rPr lang="zh-CN" altLang="en-US" sz="2400" kern="1200">
                <a:latin typeface="微软雅黑" panose="020B0503020204020204" pitchFamily="34" charset="-122"/>
                <a:ea typeface="微软雅黑" panose="020B0503020204020204" pitchFamily="34" charset="-122"/>
                <a:cs typeface="+mn-cs"/>
              </a:rPr>
              <a:t>）或通信协议（</a:t>
            </a:r>
            <a:r>
              <a:rPr lang="en-US" altLang="zh-CN" sz="2400" kern="1200">
                <a:latin typeface="微软雅黑" panose="020B0503020204020204" pitchFamily="34" charset="-122"/>
                <a:ea typeface="微软雅黑" panose="020B0503020204020204" pitchFamily="34" charset="-122"/>
                <a:cs typeface="+mn-cs"/>
              </a:rPr>
              <a:t>communication protocol</a:t>
            </a:r>
            <a:r>
              <a:rPr lang="zh-CN" altLang="en-US" sz="2400" kern="1200">
                <a:latin typeface="微软雅黑" panose="020B0503020204020204" pitchFamily="34" charset="-122"/>
                <a:ea typeface="微软雅黑" panose="020B0503020204020204" pitchFamily="34" charset="-122"/>
                <a:cs typeface="+mn-cs"/>
              </a:rPr>
              <a:t>），简称协议（</a:t>
            </a:r>
            <a:r>
              <a:rPr lang="en-US" altLang="zh-CN" sz="2400" kern="1200">
                <a:latin typeface="微软雅黑" panose="020B0503020204020204" pitchFamily="34" charset="-122"/>
                <a:ea typeface="微软雅黑" panose="020B0503020204020204" pitchFamily="34" charset="-122"/>
                <a:cs typeface="+mn-cs"/>
              </a:rPr>
              <a:t>Protocol</a:t>
            </a:r>
            <a:r>
              <a:rPr lang="zh-CN" altLang="en-US" sz="2400" kern="1200">
                <a:latin typeface="微软雅黑" panose="020B0503020204020204" pitchFamily="34" charset="-122"/>
                <a:ea typeface="微软雅黑" panose="020B0503020204020204" pitchFamily="34" charset="-122"/>
                <a:cs typeface="+mn-cs"/>
              </a:rPr>
              <a:t>）</a:t>
            </a:r>
          </a:p>
        </p:txBody>
      </p:sp>
      <p:sp>
        <p:nvSpPr>
          <p:cNvPr id="3" name="文本框 2"/>
          <p:cNvSpPr txBox="1"/>
          <p:nvPr/>
        </p:nvSpPr>
        <p:spPr>
          <a:xfrm>
            <a:off x="547688" y="3435350"/>
            <a:ext cx="8170863" cy="400050"/>
          </a:xfrm>
          <a:prstGeom prst="rect">
            <a:avLst/>
          </a:prstGeom>
        </p:spPr>
        <p:style>
          <a:lnRef idx="3">
            <a:schemeClr val="lt1"/>
          </a:lnRef>
          <a:fillRef idx="1">
            <a:schemeClr val="accent4"/>
          </a:fillRef>
          <a:effectRef idx="1">
            <a:schemeClr val="accent4"/>
          </a:effectRef>
          <a:fontRef idx="minor">
            <a:schemeClr val="lt1"/>
          </a:fontRef>
        </p:style>
        <p:txBody>
          <a:bodyPr>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zh-CN" altLang="en-US" sz="2000">
                <a:solidFill>
                  <a:srgbClr val="FFFFFF"/>
                </a:solidFill>
                <a:latin typeface="微软雅黑" panose="020B0503020204020204" pitchFamily="34" charset="-122"/>
                <a:ea typeface="微软雅黑" panose="020B0503020204020204" pitchFamily="34" charset="-122"/>
              </a:rPr>
              <a:t>其实就是用来说明网络中传输的二进制数据具体含义和作用的上下文</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sz="2700" kern="1200">
                <a:solidFill>
                  <a:srgbClr val="0070C0"/>
                </a:solidFill>
                <a:latin typeface="微软雅黑" panose="020B0503020204020204" pitchFamily="34" charset="-122"/>
                <a:ea typeface="微软雅黑" panose="020B0503020204020204" pitchFamily="34" charset="-122"/>
                <a:cs typeface="+mj-cs"/>
              </a:rPr>
              <a:t>协议</a:t>
            </a:r>
          </a:p>
        </p:txBody>
      </p:sp>
      <p:sp>
        <p:nvSpPr>
          <p:cNvPr id="21506" name="Rectangle 3"/>
          <p:cNvSpPr>
            <a:spLocks noGrp="1"/>
          </p:cNvSpPr>
          <p:nvPr>
            <p:ph idx="1" hasCustomPrompt="1"/>
          </p:nvPr>
        </p:nvSpPr>
        <p:spPr>
          <a:xfrm>
            <a:off x="295275" y="842963"/>
            <a:ext cx="8553450" cy="3860800"/>
          </a:xfrm>
          <a:ln/>
        </p:spPr>
        <p:txBody>
          <a:bodyPr vert="horz" wrap="square" lIns="91440" tIns="45720" rIns="91440" bIns="45720" anchor="t" anchorCtr="0"/>
          <a:lstStyle/>
          <a:p>
            <a:pPr eaLnBrk="1" hangingPunct="1"/>
            <a:r>
              <a:rPr lang="zh-CN" altLang="en-US" sz="2400" kern="1200">
                <a:latin typeface="微软雅黑" panose="020B0503020204020204" pitchFamily="34" charset="-122"/>
                <a:ea typeface="微软雅黑" panose="020B0503020204020204" pitchFamily="34" charset="-122"/>
                <a:cs typeface="+mn-cs"/>
              </a:rPr>
              <a:t>网络协议三要素：</a:t>
            </a:r>
          </a:p>
          <a:p>
            <a:pPr lvl="1" eaLnBrk="1" hangingPunct="1"/>
            <a:r>
              <a:rPr lang="zh-CN" altLang="en-US" sz="2100" kern="1200">
                <a:latin typeface="微软雅黑" panose="020B0503020204020204" pitchFamily="34" charset="-122"/>
                <a:ea typeface="微软雅黑" panose="020B0503020204020204" pitchFamily="34" charset="-122"/>
                <a:cs typeface="+mn-cs"/>
              </a:rPr>
              <a:t>语法：即数据与控制信息的结构或格式</a:t>
            </a:r>
          </a:p>
          <a:p>
            <a:pPr lvl="1" eaLnBrk="1" hangingPunct="1"/>
            <a:r>
              <a:rPr lang="zh-CN" altLang="en-US" sz="2100" kern="1200">
                <a:latin typeface="微软雅黑" panose="020B0503020204020204" pitchFamily="34" charset="-122"/>
                <a:ea typeface="微软雅黑" panose="020B0503020204020204" pitchFamily="34" charset="-122"/>
                <a:cs typeface="+mn-cs"/>
              </a:rPr>
              <a:t>语义：即需要发出何种控制信息，完成何种动作以及做出何种响应</a:t>
            </a:r>
          </a:p>
          <a:p>
            <a:pPr lvl="1" eaLnBrk="1" hangingPunct="1"/>
            <a:r>
              <a:rPr lang="zh-CN" altLang="en-US" sz="2100" kern="1200">
                <a:latin typeface="微软雅黑" panose="020B0503020204020204" pitchFamily="34" charset="-122"/>
                <a:ea typeface="微软雅黑" panose="020B0503020204020204" pitchFamily="34" charset="-122"/>
                <a:cs typeface="+mn-cs"/>
              </a:rPr>
              <a:t>时序：即事件实现顺序的详细说明</a:t>
            </a:r>
          </a:p>
          <a:p>
            <a:pPr eaLnBrk="1" hangingPunct="1"/>
            <a:r>
              <a:rPr lang="en-US" altLang="zh-CN" sz="2400" kern="1200">
                <a:latin typeface="微软雅黑" panose="020B0503020204020204" pitchFamily="34" charset="-122"/>
                <a:ea typeface="微软雅黑" panose="020B0503020204020204" pitchFamily="34" charset="-122"/>
                <a:cs typeface="+mn-cs"/>
              </a:rPr>
              <a:t>PDU</a:t>
            </a:r>
            <a:r>
              <a:rPr lang="zh-CN" altLang="en-US" sz="2400" kern="1200">
                <a:latin typeface="微软雅黑" panose="020B0503020204020204" pitchFamily="34" charset="-122"/>
                <a:ea typeface="微软雅黑" panose="020B0503020204020204" pitchFamily="34" charset="-122"/>
                <a:cs typeface="+mn-cs"/>
              </a:rPr>
              <a:t>：</a:t>
            </a:r>
            <a:r>
              <a:rPr lang="en-US" altLang="zh-CN" sz="2400" kern="1200">
                <a:latin typeface="微软雅黑" panose="020B0503020204020204" pitchFamily="34" charset="-122"/>
                <a:ea typeface="微软雅黑" panose="020B0503020204020204" pitchFamily="34" charset="-122"/>
                <a:cs typeface="+mn-cs"/>
              </a:rPr>
              <a:t>Protocol Data Unit </a:t>
            </a:r>
            <a:r>
              <a:rPr lang="zh-CN" altLang="en-US" sz="2400" kern="1200">
                <a:latin typeface="微软雅黑" panose="020B0503020204020204" pitchFamily="34" charset="-122"/>
                <a:ea typeface="微软雅黑" panose="020B0503020204020204" pitchFamily="34" charset="-122"/>
                <a:cs typeface="+mn-cs"/>
              </a:rPr>
              <a:t>协议数据单元，即协议对应的具体二进制数据</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sz="2700" kern="1200">
                <a:solidFill>
                  <a:srgbClr val="0070C0"/>
                </a:solidFill>
                <a:latin typeface="微软雅黑" panose="020B0503020204020204" pitchFamily="34" charset="-122"/>
                <a:ea typeface="微软雅黑" panose="020B0503020204020204" pitchFamily="34" charset="-122"/>
                <a:cs typeface="+mj-cs"/>
              </a:rPr>
              <a:t>分层模型</a:t>
            </a:r>
          </a:p>
        </p:txBody>
      </p:sp>
      <p:sp>
        <p:nvSpPr>
          <p:cNvPr id="22530"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lnSpc>
                <a:spcPct val="90000"/>
              </a:lnSpc>
            </a:pPr>
            <a:r>
              <a:rPr lang="zh-CN" altLang="en-US" sz="2400" kern="1200">
                <a:latin typeface="微软雅黑" panose="020B0503020204020204" pitchFamily="34" charset="-122"/>
                <a:ea typeface="微软雅黑" panose="020B0503020204020204" pitchFamily="34" charset="-122"/>
                <a:cs typeface="+mn-cs"/>
              </a:rPr>
              <a:t>为了减少网络协议设计的复杂性，网络设计者并不是设计一个单一、巨大的协议来为所有形式的通信规定完整的细节</a:t>
            </a:r>
          </a:p>
          <a:p>
            <a:pPr eaLnBrk="1" hangingPunct="1">
              <a:lnSpc>
                <a:spcPct val="90000"/>
              </a:lnSpc>
            </a:pPr>
            <a:r>
              <a:rPr lang="zh-CN" altLang="en-US" sz="2400" kern="1200">
                <a:latin typeface="微软雅黑" panose="020B0503020204020204" pitchFamily="34" charset="-122"/>
                <a:ea typeface="微软雅黑" panose="020B0503020204020204" pitchFamily="34" charset="-122"/>
                <a:cs typeface="+mn-cs"/>
              </a:rPr>
              <a:t>而是采用</a:t>
            </a:r>
            <a:r>
              <a:rPr lang="zh-CN" altLang="en-US" sz="2400" b="1" kern="1200">
                <a:latin typeface="微软雅黑" panose="020B0503020204020204" pitchFamily="34" charset="-122"/>
                <a:ea typeface="微软雅黑" panose="020B0503020204020204" pitchFamily="34" charset="-122"/>
                <a:cs typeface="+mn-cs"/>
              </a:rPr>
              <a:t>把通信问题划分为许多个小问题</a:t>
            </a:r>
            <a:r>
              <a:rPr lang="zh-CN" altLang="en-US" sz="2400" kern="1200">
                <a:latin typeface="微软雅黑" panose="020B0503020204020204" pitchFamily="34" charset="-122"/>
                <a:ea typeface="微软雅黑" panose="020B0503020204020204" pitchFamily="34" charset="-122"/>
                <a:cs typeface="+mn-cs"/>
              </a:rPr>
              <a:t>，然后为每个小问题设计一个单独的协议的方法，这样做使得每个协议的设计、分析、编码和测试都比较容易</a:t>
            </a:r>
          </a:p>
          <a:p>
            <a:pPr eaLnBrk="1" hangingPunct="1">
              <a:lnSpc>
                <a:spcPct val="90000"/>
              </a:lnSpc>
            </a:pPr>
            <a:r>
              <a:rPr lang="zh-CN" altLang="en-US" sz="2400" kern="1200">
                <a:latin typeface="微软雅黑" panose="020B0503020204020204" pitchFamily="34" charset="-122"/>
                <a:ea typeface="微软雅黑" panose="020B0503020204020204" pitchFamily="34" charset="-122"/>
                <a:cs typeface="+mn-cs"/>
              </a:rPr>
              <a:t>分层模型（</a:t>
            </a:r>
            <a:r>
              <a:rPr lang="en-US" altLang="zh-CN" sz="2400" kern="1200">
                <a:latin typeface="微软雅黑" panose="020B0503020204020204" pitchFamily="34" charset="-122"/>
                <a:ea typeface="微软雅黑" panose="020B0503020204020204" pitchFamily="34" charset="-122"/>
                <a:cs typeface="+mn-cs"/>
              </a:rPr>
              <a:t>layering model</a:t>
            </a:r>
            <a:r>
              <a:rPr lang="zh-CN" altLang="en-US" sz="2400" kern="1200">
                <a:latin typeface="微软雅黑" panose="020B0503020204020204" pitchFamily="34" charset="-122"/>
                <a:ea typeface="微软雅黑" panose="020B0503020204020204" pitchFamily="34" charset="-122"/>
                <a:cs typeface="+mn-cs"/>
              </a:rPr>
              <a:t>）是一种用于开发网络协议的设计方法。本质上，分层模型描述了把通信问题分为几个小问题（称为层次）的方法，每个小问题对应于一层。</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sz="2700" kern="1200">
                <a:solidFill>
                  <a:srgbClr val="0070C0"/>
                </a:solidFill>
                <a:latin typeface="微软雅黑" panose="020B0503020204020204" pitchFamily="34" charset="-122"/>
                <a:ea typeface="微软雅黑" panose="020B0503020204020204" pitchFamily="34" charset="-122"/>
                <a:cs typeface="+mj-cs"/>
              </a:rPr>
              <a:t>分层模型</a:t>
            </a:r>
          </a:p>
        </p:txBody>
      </p:sp>
      <p:sp>
        <p:nvSpPr>
          <p:cNvPr id="23554"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en-US" sz="2400" kern="1200">
                <a:latin typeface="微软雅黑" panose="020B0503020204020204" pitchFamily="34" charset="-122"/>
                <a:ea typeface="微软雅黑" panose="020B0503020204020204" pitchFamily="34" charset="-122"/>
                <a:cs typeface="+mn-cs"/>
              </a:rPr>
              <a:t>网络中同等层之间的通信规则就是该层使用的协议，如有关第</a:t>
            </a:r>
            <a:r>
              <a:rPr lang="en-US" altLang="zh-CN" sz="2400" kern="1200">
                <a:latin typeface="微软雅黑" panose="020B0503020204020204" pitchFamily="34" charset="-122"/>
                <a:ea typeface="微软雅黑" panose="020B0503020204020204" pitchFamily="34" charset="-122"/>
                <a:cs typeface="+mn-cs"/>
              </a:rPr>
              <a:t>N</a:t>
            </a:r>
            <a:r>
              <a:rPr lang="zh-CN" altLang="en-US" sz="2400" kern="1200">
                <a:latin typeface="微软雅黑" panose="020B0503020204020204" pitchFamily="34" charset="-122"/>
                <a:ea typeface="微软雅黑" panose="020B0503020204020204" pitchFamily="34" charset="-122"/>
                <a:cs typeface="+mn-cs"/>
              </a:rPr>
              <a:t>层的通信规则的集合，就是第</a:t>
            </a:r>
            <a:r>
              <a:rPr lang="en-US" altLang="zh-CN" sz="2400" kern="1200">
                <a:latin typeface="微软雅黑" panose="020B0503020204020204" pitchFamily="34" charset="-122"/>
                <a:ea typeface="微软雅黑" panose="020B0503020204020204" pitchFamily="34" charset="-122"/>
                <a:cs typeface="+mn-cs"/>
              </a:rPr>
              <a:t>N</a:t>
            </a:r>
            <a:r>
              <a:rPr lang="zh-CN" altLang="en-US" sz="2400" kern="1200">
                <a:latin typeface="微软雅黑" panose="020B0503020204020204" pitchFamily="34" charset="-122"/>
                <a:ea typeface="微软雅黑" panose="020B0503020204020204" pitchFamily="34" charset="-122"/>
                <a:cs typeface="+mn-cs"/>
              </a:rPr>
              <a:t>层的协议。</a:t>
            </a:r>
          </a:p>
          <a:p>
            <a:pPr eaLnBrk="1" hangingPunct="1"/>
            <a:r>
              <a:rPr lang="zh-CN" altLang="en-US" sz="2400" kern="1200">
                <a:latin typeface="微软雅黑" panose="020B0503020204020204" pitchFamily="34" charset="-122"/>
                <a:ea typeface="微软雅黑" panose="020B0503020204020204" pitchFamily="34" charset="-122"/>
                <a:cs typeface="+mn-cs"/>
              </a:rPr>
              <a:t>而同一计算机的不同功能层之间的通信规则称为接口（ </a:t>
            </a:r>
            <a:r>
              <a:rPr lang="en-US" altLang="zh-CN" sz="2400" kern="1200">
                <a:latin typeface="微软雅黑" panose="020B0503020204020204" pitchFamily="34" charset="-122"/>
                <a:ea typeface="微软雅黑" panose="020B0503020204020204" pitchFamily="34" charset="-122"/>
                <a:cs typeface="+mn-cs"/>
              </a:rPr>
              <a:t>i n t e r f a c e</a:t>
            </a:r>
            <a:r>
              <a:rPr lang="zh-CN" altLang="en-US" sz="2400" kern="1200">
                <a:latin typeface="微软雅黑" panose="020B0503020204020204" pitchFamily="34" charset="-122"/>
                <a:ea typeface="微软雅黑" panose="020B0503020204020204" pitchFamily="34" charset="-122"/>
                <a:cs typeface="+mn-cs"/>
              </a:rPr>
              <a:t>），在第</a:t>
            </a:r>
            <a:r>
              <a:rPr lang="en-US" altLang="zh-CN" sz="2400" kern="1200">
                <a:latin typeface="微软雅黑" panose="020B0503020204020204" pitchFamily="34" charset="-122"/>
                <a:ea typeface="微软雅黑" panose="020B0503020204020204" pitchFamily="34" charset="-122"/>
                <a:cs typeface="+mn-cs"/>
              </a:rPr>
              <a:t>N</a:t>
            </a:r>
            <a:r>
              <a:rPr lang="zh-CN" altLang="en-US" sz="2400" kern="1200">
                <a:latin typeface="微软雅黑" panose="020B0503020204020204" pitchFamily="34" charset="-122"/>
                <a:ea typeface="微软雅黑" panose="020B0503020204020204" pitchFamily="34" charset="-122"/>
                <a:cs typeface="+mn-cs"/>
              </a:rPr>
              <a:t>层和第（</a:t>
            </a:r>
            <a:r>
              <a:rPr lang="en-US" altLang="zh-CN" sz="2400" kern="1200">
                <a:latin typeface="微软雅黑" panose="020B0503020204020204" pitchFamily="34" charset="-122"/>
                <a:ea typeface="微软雅黑" panose="020B0503020204020204" pitchFamily="34" charset="-122"/>
                <a:cs typeface="+mn-cs"/>
              </a:rPr>
              <a:t>N+ 1</a:t>
            </a:r>
            <a:r>
              <a:rPr lang="zh-CN" altLang="en-US" sz="2400" kern="1200">
                <a:latin typeface="微软雅黑" panose="020B0503020204020204" pitchFamily="34" charset="-122"/>
                <a:ea typeface="微软雅黑" panose="020B0503020204020204" pitchFamily="34" charset="-122"/>
                <a:cs typeface="+mn-cs"/>
              </a:rPr>
              <a:t>）层之间的接口称为</a:t>
            </a:r>
            <a:r>
              <a:rPr lang="en-US" altLang="zh-CN" sz="2400" kern="1200">
                <a:latin typeface="微软雅黑" panose="020B0503020204020204" pitchFamily="34" charset="-122"/>
                <a:ea typeface="微软雅黑" panose="020B0503020204020204" pitchFamily="34" charset="-122"/>
                <a:cs typeface="+mn-cs"/>
              </a:rPr>
              <a:t>N /</a:t>
            </a:r>
            <a:r>
              <a:rPr lang="zh-CN" altLang="en-US" sz="2400" kern="1200">
                <a:latin typeface="微软雅黑" panose="020B0503020204020204" pitchFamily="34" charset="-122"/>
                <a:ea typeface="微软雅黑" panose="020B0503020204020204" pitchFamily="34" charset="-122"/>
                <a:cs typeface="+mn-cs"/>
              </a:rPr>
              <a:t>（</a:t>
            </a:r>
            <a:r>
              <a:rPr lang="en-US" altLang="zh-CN" sz="2400" kern="1200">
                <a:latin typeface="微软雅黑" panose="020B0503020204020204" pitchFamily="34" charset="-122"/>
                <a:ea typeface="微软雅黑" panose="020B0503020204020204" pitchFamily="34" charset="-122"/>
                <a:cs typeface="+mn-cs"/>
              </a:rPr>
              <a:t>N+ 1</a:t>
            </a:r>
            <a:r>
              <a:rPr lang="zh-CN" altLang="en-US" sz="2400" kern="1200">
                <a:latin typeface="微软雅黑" panose="020B0503020204020204" pitchFamily="34" charset="-122"/>
                <a:ea typeface="微软雅黑" panose="020B0503020204020204" pitchFamily="34" charset="-122"/>
                <a:cs typeface="+mn-cs"/>
              </a:rPr>
              <a:t>）层接口。</a:t>
            </a:r>
          </a:p>
          <a:p>
            <a:pPr eaLnBrk="1" hangingPunct="1"/>
            <a:r>
              <a:rPr lang="zh-CN" altLang="en-US" sz="2400" kern="1200">
                <a:latin typeface="微软雅黑" panose="020B0503020204020204" pitchFamily="34" charset="-122"/>
                <a:ea typeface="微软雅黑" panose="020B0503020204020204" pitchFamily="34" charset="-122"/>
                <a:cs typeface="+mn-cs"/>
              </a:rPr>
              <a:t>协议是不同机器同等层之间的通信约定，而接口是同一机器相邻层之间的通信约定。</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sz="2700" kern="1200">
                <a:solidFill>
                  <a:srgbClr val="0070C0"/>
                </a:solidFill>
                <a:latin typeface="微软雅黑" panose="020B0503020204020204" pitchFamily="34" charset="-122"/>
                <a:ea typeface="微软雅黑" panose="020B0503020204020204" pitchFamily="34" charset="-122"/>
                <a:cs typeface="+mj-cs"/>
              </a:rPr>
              <a:t>分层优势</a:t>
            </a:r>
          </a:p>
        </p:txBody>
      </p:sp>
      <p:sp>
        <p:nvSpPr>
          <p:cNvPr id="24578"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en-US" sz="2400" kern="1200">
                <a:latin typeface="微软雅黑" panose="020B0503020204020204" pitchFamily="34" charset="-122"/>
                <a:ea typeface="微软雅黑" panose="020B0503020204020204" pitchFamily="34" charset="-122"/>
                <a:cs typeface="+mn-cs"/>
              </a:rPr>
              <a:t>各层之间是独立的。下层对于上层而言是个黑匣子，上层不需要知道下层是如何实现的，只需要知道下层提供什么功能怎么使用功能。</a:t>
            </a:r>
          </a:p>
          <a:p>
            <a:pPr eaLnBrk="1" hangingPunct="1"/>
            <a:r>
              <a:rPr lang="zh-CN" altLang="en-US" sz="2400" kern="1200">
                <a:latin typeface="微软雅黑" panose="020B0503020204020204" pitchFamily="34" charset="-122"/>
                <a:ea typeface="微软雅黑" panose="020B0503020204020204" pitchFamily="34" charset="-122"/>
                <a:cs typeface="+mn-cs"/>
              </a:rPr>
              <a:t>灵活性好。当任何一层发生变化时，只要层间接口保持不变，则其它层不受影响。</a:t>
            </a:r>
          </a:p>
          <a:p>
            <a:pPr eaLnBrk="1" hangingPunct="1"/>
            <a:r>
              <a:rPr lang="zh-CN" altLang="en-US" sz="2400" kern="1200">
                <a:latin typeface="微软雅黑" panose="020B0503020204020204" pitchFamily="34" charset="-122"/>
                <a:ea typeface="微软雅黑" panose="020B0503020204020204" pitchFamily="34" charset="-122"/>
                <a:cs typeface="+mn-cs"/>
              </a:rPr>
              <a:t>结构上可分割开。各层都可以采用最合适的技术来实现。</a:t>
            </a:r>
          </a:p>
          <a:p>
            <a:pPr eaLnBrk="1" hangingPunct="1"/>
            <a:r>
              <a:rPr lang="zh-CN" altLang="en-US" sz="2400" kern="1200">
                <a:latin typeface="微软雅黑" panose="020B0503020204020204" pitchFamily="34" charset="-122"/>
                <a:ea typeface="微软雅黑" panose="020B0503020204020204" pitchFamily="34" charset="-122"/>
                <a:cs typeface="+mn-cs"/>
              </a:rPr>
              <a:t>易于实现和维护。使得实现和调试一个庞大而又复杂的系统变得易于处理。</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sz="2700" kern="1200">
                <a:solidFill>
                  <a:srgbClr val="0070C0"/>
                </a:solidFill>
                <a:latin typeface="微软雅黑" panose="020B0503020204020204" pitchFamily="34" charset="-122"/>
                <a:ea typeface="微软雅黑" panose="020B0503020204020204" pitchFamily="34" charset="-122"/>
                <a:cs typeface="+mj-cs"/>
              </a:rPr>
              <a:t>分层优势</a:t>
            </a:r>
          </a:p>
        </p:txBody>
      </p:sp>
      <p:sp>
        <p:nvSpPr>
          <p:cNvPr id="25602"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en-US" sz="2400" kern="1200">
                <a:latin typeface="微软雅黑" panose="020B0503020204020204" pitchFamily="34" charset="-122"/>
                <a:ea typeface="微软雅黑" panose="020B0503020204020204" pitchFamily="34" charset="-122"/>
                <a:cs typeface="+mn-cs"/>
              </a:rPr>
              <a:t>促进标准化工作。因为每一层的功能及其所提供的服务都已有了精确的说明。</a:t>
            </a:r>
          </a:p>
          <a:p>
            <a:pPr eaLnBrk="1" hangingPunct="1"/>
            <a:r>
              <a:rPr lang="zh-CN" altLang="en-US" sz="2400" kern="1200">
                <a:latin typeface="微软雅黑" panose="020B0503020204020204" pitchFamily="34" charset="-122"/>
                <a:ea typeface="微软雅黑" panose="020B0503020204020204" pitchFamily="34" charset="-122"/>
                <a:cs typeface="+mn-cs"/>
              </a:rPr>
              <a:t>通常各层需要完成的功能包括以下一种或几种任务：</a:t>
            </a:r>
          </a:p>
          <a:p>
            <a:pPr marL="800100" lvl="1" indent="-457200" eaLnBrk="1" hangingPunct="1">
              <a:buFontTx/>
              <a:buAutoNum type="circleNumDbPlain"/>
            </a:pPr>
            <a:r>
              <a:rPr lang="zh-CN" altLang="en-US" sz="2100" kern="1200">
                <a:latin typeface="微软雅黑" panose="020B0503020204020204" pitchFamily="34" charset="-122"/>
                <a:ea typeface="微软雅黑" panose="020B0503020204020204" pitchFamily="34" charset="-122"/>
                <a:cs typeface="+mn-cs"/>
              </a:rPr>
              <a:t>差错控制：使得通信更加可靠</a:t>
            </a:r>
          </a:p>
          <a:p>
            <a:pPr marL="800100" lvl="1" indent="-457200" eaLnBrk="1" hangingPunct="1">
              <a:buFontTx/>
              <a:buAutoNum type="circleNumDbPlain"/>
            </a:pPr>
            <a:r>
              <a:rPr lang="zh-CN" altLang="en-US" sz="2100" kern="1200">
                <a:latin typeface="微软雅黑" panose="020B0503020204020204" pitchFamily="34" charset="-122"/>
                <a:ea typeface="微软雅黑" panose="020B0503020204020204" pitchFamily="34" charset="-122"/>
                <a:cs typeface="+mn-cs"/>
              </a:rPr>
              <a:t>流量控制：发送速率和接收速率基本同步</a:t>
            </a:r>
          </a:p>
          <a:p>
            <a:pPr marL="800100" lvl="1" indent="-457200" eaLnBrk="1" hangingPunct="1">
              <a:buFontTx/>
              <a:buAutoNum type="circleNumDbPlain"/>
            </a:pPr>
            <a:r>
              <a:rPr lang="zh-CN" altLang="en-US" sz="2100" kern="1200">
                <a:latin typeface="微软雅黑" panose="020B0503020204020204" pitchFamily="34" charset="-122"/>
                <a:ea typeface="微软雅黑" panose="020B0503020204020204" pitchFamily="34" charset="-122"/>
                <a:cs typeface="+mn-cs"/>
              </a:rPr>
              <a:t>分段和重装：将数据分组发送，接收端再还原</a:t>
            </a:r>
          </a:p>
          <a:p>
            <a:pPr marL="800100" lvl="1" indent="-457200" eaLnBrk="1" hangingPunct="1">
              <a:buFontTx/>
              <a:buAutoNum type="circleNumDbPlain"/>
            </a:pPr>
            <a:r>
              <a:rPr lang="zh-CN" altLang="en-US" sz="2100" kern="1200">
                <a:latin typeface="微软雅黑" panose="020B0503020204020204" pitchFamily="34" charset="-122"/>
                <a:ea typeface="微软雅黑" panose="020B0503020204020204" pitchFamily="34" charset="-122"/>
                <a:cs typeface="+mn-cs"/>
              </a:rPr>
              <a:t>复用和分用：复用底层连接，在接收端再进行分用</a:t>
            </a:r>
          </a:p>
          <a:p>
            <a:pPr marL="800100" lvl="1" indent="-457200" eaLnBrk="1" hangingPunct="1">
              <a:buFontTx/>
              <a:buAutoNum type="circleNumDbPlain"/>
            </a:pPr>
            <a:r>
              <a:rPr lang="zh-CN" altLang="en-US" sz="2100" kern="1200">
                <a:latin typeface="微软雅黑" panose="020B0503020204020204" pitchFamily="34" charset="-122"/>
                <a:ea typeface="微软雅黑" panose="020B0503020204020204" pitchFamily="34" charset="-122"/>
                <a:cs typeface="+mn-cs"/>
              </a:rPr>
              <a:t>连接建立和释放：逻辑连接的建立和释放</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sz="2700" kern="1200">
                <a:solidFill>
                  <a:srgbClr val="0070C0"/>
                </a:solidFill>
                <a:latin typeface="微软雅黑" panose="020B0503020204020204" pitchFamily="34" charset="-122"/>
                <a:ea typeface="微软雅黑" panose="020B0503020204020204" pitchFamily="34" charset="-122"/>
                <a:cs typeface="+mj-cs"/>
              </a:rPr>
              <a:t>现实实例</a:t>
            </a:r>
            <a:r>
              <a:rPr lang="en-US" altLang="zh-CN" sz="2700" kern="1200">
                <a:solidFill>
                  <a:srgbClr val="0070C0"/>
                </a:solidFill>
                <a:latin typeface="微软雅黑" panose="020B0503020204020204" pitchFamily="34" charset="-122"/>
                <a:ea typeface="微软雅黑" panose="020B0503020204020204" pitchFamily="34" charset="-122"/>
                <a:cs typeface="+mj-cs"/>
              </a:rPr>
              <a:t>-</a:t>
            </a:r>
            <a:r>
              <a:rPr lang="zh-CN" altLang="en-US" sz="2700" kern="1200">
                <a:solidFill>
                  <a:srgbClr val="0070C0"/>
                </a:solidFill>
                <a:latin typeface="微软雅黑" panose="020B0503020204020204" pitchFamily="34" charset="-122"/>
                <a:ea typeface="微软雅黑" panose="020B0503020204020204" pitchFamily="34" charset="-122"/>
                <a:cs typeface="+mj-cs"/>
              </a:rPr>
              <a:t>邮局体系</a:t>
            </a:r>
          </a:p>
        </p:txBody>
      </p:sp>
      <p:sp>
        <p:nvSpPr>
          <p:cNvPr id="26626" name="内容占位符 1"/>
          <p:cNvSpPr>
            <a:spLocks noGrp="1"/>
          </p:cNvSpPr>
          <p:nvPr>
            <p:ph idx="1" hasCustomPrompt="1"/>
          </p:nvPr>
        </p:nvSpPr>
        <p:spPr>
          <a:xfrm>
            <a:off x="484188" y="790575"/>
            <a:ext cx="8185150" cy="3860800"/>
          </a:xfrm>
          <a:ln/>
        </p:spPr>
        <p:txBody>
          <a:bodyPr vert="horz" wrap="square" lIns="91440" tIns="45720" rIns="91440" bIns="45720" anchor="t" anchorCtr="0"/>
          <a:lstStyle/>
          <a:p>
            <a:endParaRPr lang="zh-CN" altLang="en-US" kern="1200">
              <a:latin typeface="微软雅黑" panose="020B0503020204020204" pitchFamily="34" charset="-122"/>
              <a:ea typeface="微软雅黑" panose="020B0503020204020204" pitchFamily="34" charset="-122"/>
              <a:cs typeface="+mn-cs"/>
            </a:endParaRPr>
          </a:p>
        </p:txBody>
      </p:sp>
      <p:pic>
        <p:nvPicPr>
          <p:cNvPr id="26627" name="图片 2"/>
          <p:cNvPicPr>
            <a:picLocks noChangeAspect="1"/>
          </p:cNvPicPr>
          <p:nvPr/>
        </p:nvPicPr>
        <p:blipFill>
          <a:blip r:embed="rId2"/>
          <a:stretch>
            <a:fillRect/>
          </a:stretch>
        </p:blipFill>
        <p:spPr>
          <a:xfrm>
            <a:off x="1223963" y="1382713"/>
            <a:ext cx="6656387" cy="3187700"/>
          </a:xfrm>
          <a:prstGeom prst="rect">
            <a:avLst/>
          </a:prstGeom>
          <a:noFill/>
          <a:ln w="9525">
            <a:noFill/>
          </a:ln>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en-US" altLang="zh-CN" sz="2700" kern="1200">
                <a:solidFill>
                  <a:srgbClr val="0070C0"/>
                </a:solidFill>
                <a:latin typeface="微软雅黑" panose="020B0503020204020204" pitchFamily="34" charset="-122"/>
                <a:ea typeface="微软雅黑" panose="020B0503020204020204" pitchFamily="34" charset="-122"/>
                <a:cs typeface="+mj-cs"/>
              </a:rPr>
              <a:t>OSI/RM</a:t>
            </a:r>
            <a:endParaRPr lang="zh-CN" altLang="en-US" sz="2700" kern="1200">
              <a:solidFill>
                <a:srgbClr val="0070C0"/>
              </a:solidFill>
              <a:latin typeface="微软雅黑" panose="020B0503020204020204" pitchFamily="34" charset="-122"/>
              <a:ea typeface="微软雅黑" panose="020B0503020204020204" pitchFamily="34" charset="-122"/>
              <a:cs typeface="+mj-cs"/>
            </a:endParaRPr>
          </a:p>
        </p:txBody>
      </p:sp>
      <p:sp>
        <p:nvSpPr>
          <p:cNvPr id="27650"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en-US" sz="2400" kern="1200">
                <a:latin typeface="微软雅黑" panose="020B0503020204020204" pitchFamily="34" charset="-122"/>
                <a:ea typeface="微软雅黑" panose="020B0503020204020204" pitchFamily="34" charset="-122"/>
                <a:cs typeface="+mn-cs"/>
              </a:rPr>
              <a:t>网络的快速发展和广泛应用迫切需要采用不同体系结构的网络能够互连从而交换信息。</a:t>
            </a:r>
          </a:p>
          <a:p>
            <a:pPr eaLnBrk="1" hangingPunct="1"/>
            <a:r>
              <a:rPr lang="en-US" altLang="zh-CN" sz="2400" kern="1200">
                <a:latin typeface="微软雅黑" panose="020B0503020204020204" pitchFamily="34" charset="-122"/>
                <a:ea typeface="微软雅黑" panose="020B0503020204020204" pitchFamily="34" charset="-122"/>
                <a:cs typeface="+mn-cs"/>
              </a:rPr>
              <a:t>ISO(</a:t>
            </a:r>
            <a:r>
              <a:rPr lang="zh-CN" altLang="en-US" sz="2400" kern="1200">
                <a:latin typeface="微软雅黑" panose="020B0503020204020204" pitchFamily="34" charset="-122"/>
                <a:ea typeface="微软雅黑" panose="020B0503020204020204" pitchFamily="34" charset="-122"/>
                <a:cs typeface="+mn-cs"/>
              </a:rPr>
              <a:t>国际标准化组织</a:t>
            </a:r>
            <a:r>
              <a:rPr lang="en-US" altLang="zh-CN" sz="2400" kern="1200">
                <a:latin typeface="微软雅黑" panose="020B0503020204020204" pitchFamily="34" charset="-122"/>
                <a:ea typeface="微软雅黑" panose="020B0503020204020204" pitchFamily="34" charset="-122"/>
                <a:cs typeface="+mn-cs"/>
              </a:rPr>
              <a:t>)</a:t>
            </a:r>
            <a:r>
              <a:rPr lang="zh-CN" altLang="en-US" sz="2400" kern="1200">
                <a:latin typeface="微软雅黑" panose="020B0503020204020204" pitchFamily="34" charset="-122"/>
                <a:ea typeface="微软雅黑" panose="020B0503020204020204" pitchFamily="34" charset="-122"/>
                <a:cs typeface="+mn-cs"/>
              </a:rPr>
              <a:t>，</a:t>
            </a:r>
            <a:r>
              <a:rPr lang="en-US" altLang="zh-CN" sz="2400" kern="1200">
                <a:latin typeface="微软雅黑" panose="020B0503020204020204" pitchFamily="34" charset="-122"/>
                <a:ea typeface="微软雅黑" panose="020B0503020204020204" pitchFamily="34" charset="-122"/>
                <a:cs typeface="+mn-cs"/>
              </a:rPr>
              <a:t>1977</a:t>
            </a:r>
            <a:r>
              <a:rPr lang="zh-CN" altLang="en-US" sz="2400" kern="1200">
                <a:latin typeface="微软雅黑" panose="020B0503020204020204" pitchFamily="34" charset="-122"/>
                <a:ea typeface="微软雅黑" panose="020B0503020204020204" pitchFamily="34" charset="-122"/>
                <a:cs typeface="+mn-cs"/>
              </a:rPr>
              <a:t>年试图制定一个统一的体系结构，即</a:t>
            </a:r>
            <a:r>
              <a:rPr lang="en-US" altLang="zh-CN" sz="2400" kern="1200">
                <a:latin typeface="微软雅黑" panose="020B0503020204020204" pitchFamily="34" charset="-122"/>
                <a:ea typeface="微软雅黑" panose="020B0503020204020204" pitchFamily="34" charset="-122"/>
                <a:cs typeface="+mn-cs"/>
              </a:rPr>
              <a:t>OSI/RM:Open Systems Interconnection Reference Mode </a:t>
            </a:r>
            <a:r>
              <a:rPr lang="zh-CN" altLang="en-US" sz="2400" kern="1200">
                <a:latin typeface="微软雅黑" panose="020B0503020204020204" pitchFamily="34" charset="-122"/>
                <a:ea typeface="微软雅黑" panose="020B0503020204020204" pitchFamily="34" charset="-122"/>
                <a:cs typeface="+mn-cs"/>
              </a:rPr>
              <a:t>开放系统互连参考模型</a:t>
            </a:r>
          </a:p>
          <a:p>
            <a:pPr eaLnBrk="1" hangingPunct="1"/>
            <a:r>
              <a:rPr lang="en-US" altLang="zh-CN" sz="2400" kern="1200">
                <a:latin typeface="微软雅黑" panose="020B0503020204020204" pitchFamily="34" charset="-122"/>
                <a:ea typeface="微软雅黑" panose="020B0503020204020204" pitchFamily="34" charset="-122"/>
                <a:cs typeface="+mn-cs"/>
              </a:rPr>
              <a:t>1983</a:t>
            </a:r>
            <a:r>
              <a:rPr lang="zh-CN" altLang="en-US" sz="2400" kern="1200">
                <a:latin typeface="微软雅黑" panose="020B0503020204020204" pitchFamily="34" charset="-122"/>
                <a:ea typeface="微软雅黑" panose="020B0503020204020204" pitchFamily="34" charset="-122"/>
                <a:cs typeface="+mn-cs"/>
              </a:rPr>
              <a:t>年</a:t>
            </a:r>
            <a:r>
              <a:rPr lang="en-US" altLang="zh-CN" sz="2400" kern="1200">
                <a:latin typeface="微软雅黑" panose="020B0503020204020204" pitchFamily="34" charset="-122"/>
                <a:ea typeface="微软雅黑" panose="020B0503020204020204" pitchFamily="34" charset="-122"/>
                <a:cs typeface="+mn-cs"/>
              </a:rPr>
              <a:t>OSI</a:t>
            </a:r>
            <a:r>
              <a:rPr lang="zh-CN" altLang="en-US" sz="2400" kern="1200">
                <a:latin typeface="微软雅黑" panose="020B0503020204020204" pitchFamily="34" charset="-122"/>
                <a:ea typeface="微软雅黑" panose="020B0503020204020204" pitchFamily="34" charset="-122"/>
                <a:cs typeface="+mn-cs"/>
              </a:rPr>
              <a:t>定稿，同年</a:t>
            </a:r>
            <a:r>
              <a:rPr lang="en-US" altLang="zh-CN" sz="2400" kern="1200">
                <a:latin typeface="微软雅黑" panose="020B0503020204020204" pitchFamily="34" charset="-122"/>
                <a:ea typeface="微软雅黑" panose="020B0503020204020204" pitchFamily="34" charset="-122"/>
                <a:cs typeface="+mn-cs"/>
              </a:rPr>
              <a:t>TCP/IP</a:t>
            </a:r>
            <a:r>
              <a:rPr lang="zh-CN" altLang="en-US" sz="2400" kern="1200">
                <a:latin typeface="微软雅黑" panose="020B0503020204020204" pitchFamily="34" charset="-122"/>
                <a:ea typeface="微软雅黑" panose="020B0503020204020204" pitchFamily="34" charset="-122"/>
                <a:cs typeface="+mn-cs"/>
              </a:rPr>
              <a:t>协议作为因特网上所有主机间的共同协议，从此以后被作为一种必须遵守的规则被肯定和应用，导致</a:t>
            </a:r>
            <a:r>
              <a:rPr lang="en-US" altLang="zh-CN" sz="2400" kern="1200">
                <a:latin typeface="微软雅黑" panose="020B0503020204020204" pitchFamily="34" charset="-122"/>
                <a:ea typeface="微软雅黑" panose="020B0503020204020204" pitchFamily="34" charset="-122"/>
                <a:cs typeface="+mn-cs"/>
              </a:rPr>
              <a:t>OSI</a:t>
            </a:r>
            <a:r>
              <a:rPr lang="zh-CN" altLang="en-US" sz="2400" kern="1200">
                <a:latin typeface="微软雅黑" panose="020B0503020204020204" pitchFamily="34" charset="-122"/>
                <a:ea typeface="微软雅黑" panose="020B0503020204020204" pitchFamily="34" charset="-122"/>
                <a:cs typeface="+mn-cs"/>
              </a:rPr>
              <a:t>未能商业化。</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3" descr="C:\Users\HiroWang\Desktop\OSI七层模型(1).jpg"/>
          <p:cNvPicPr>
            <a:picLocks noChangeAspect="1"/>
          </p:cNvPicPr>
          <p:nvPr/>
        </p:nvPicPr>
        <p:blipFill>
          <a:blip r:embed="rId2"/>
          <a:stretch>
            <a:fillRect/>
          </a:stretch>
        </p:blipFill>
        <p:spPr>
          <a:xfrm>
            <a:off x="827088" y="266700"/>
            <a:ext cx="7345362" cy="4346575"/>
          </a:xfrm>
          <a:prstGeom prst="rect">
            <a:avLst/>
          </a:prstGeom>
          <a:noFill/>
          <a:ln w="9525">
            <a:noFill/>
          </a:ln>
        </p:spPr>
      </p:pic>
      <p:sp>
        <p:nvSpPr>
          <p:cNvPr id="28674"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en-US" altLang="zh-CN" sz="2700" kern="1200">
                <a:solidFill>
                  <a:srgbClr val="0070C0"/>
                </a:solidFill>
                <a:latin typeface="微软雅黑" panose="020B0503020204020204" pitchFamily="34" charset="-122"/>
                <a:ea typeface="微软雅黑" panose="020B0503020204020204" pitchFamily="34" charset="-122"/>
                <a:cs typeface="+mj-cs"/>
              </a:rPr>
              <a:t>OSI/RM</a:t>
            </a:r>
            <a:endParaRPr lang="zh-CN" altLang="en-US" sz="2700" kern="1200">
              <a:solidFill>
                <a:srgbClr val="0070C0"/>
              </a:solidFill>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7" name="Picture 2" descr="C:\Users\HiroWang\Desktop\OSI七层模型.jpg"/>
          <p:cNvPicPr>
            <a:picLocks noChangeAspect="1"/>
          </p:cNvPicPr>
          <p:nvPr/>
        </p:nvPicPr>
        <p:blipFill>
          <a:blip r:embed="rId2"/>
          <a:stretch>
            <a:fillRect/>
          </a:stretch>
        </p:blipFill>
        <p:spPr>
          <a:xfrm>
            <a:off x="611188" y="288925"/>
            <a:ext cx="7632700" cy="4565650"/>
          </a:xfrm>
          <a:prstGeom prst="rect">
            <a:avLst/>
          </a:prstGeom>
          <a:noFill/>
          <a:ln w="9525">
            <a:noFill/>
          </a:ln>
        </p:spPr>
      </p:pic>
      <p:sp>
        <p:nvSpPr>
          <p:cNvPr id="29698"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en-US" altLang="zh-CN" sz="2700" kern="1200">
                <a:solidFill>
                  <a:srgbClr val="0070C0"/>
                </a:solidFill>
                <a:latin typeface="微软雅黑" panose="020B0503020204020204" pitchFamily="34" charset="-122"/>
                <a:ea typeface="微软雅黑" panose="020B0503020204020204" pitchFamily="34" charset="-122"/>
                <a:cs typeface="+mj-cs"/>
              </a:rPr>
              <a:t>OSI/RM</a:t>
            </a:r>
            <a:endParaRPr lang="zh-CN" altLang="en-US" sz="2700" kern="1200">
              <a:solidFill>
                <a:srgbClr val="0070C0"/>
              </a:solidFill>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en-US" altLang="zh-CN" sz="2700" kern="1200">
                <a:solidFill>
                  <a:srgbClr val="0070C0"/>
                </a:solidFill>
                <a:latin typeface="微软雅黑" panose="020B0503020204020204" pitchFamily="34" charset="-122"/>
                <a:ea typeface="微软雅黑" panose="020B0503020204020204" pitchFamily="34" charset="-122"/>
                <a:cs typeface="+mj-cs"/>
              </a:rPr>
              <a:t>TCP/IP</a:t>
            </a:r>
            <a:endParaRPr lang="zh-CN" altLang="en-US" sz="2700" kern="1200">
              <a:solidFill>
                <a:srgbClr val="0070C0"/>
              </a:solidFill>
              <a:latin typeface="微软雅黑" panose="020B0503020204020204" pitchFamily="34" charset="-122"/>
              <a:ea typeface="微软雅黑" panose="020B0503020204020204" pitchFamily="34" charset="-122"/>
              <a:cs typeface="+mj-cs"/>
            </a:endParaRPr>
          </a:p>
        </p:txBody>
      </p:sp>
      <p:sp>
        <p:nvSpPr>
          <p:cNvPr id="30722"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en-US" altLang="zh-CN" sz="2400" b="1" kern="1200">
                <a:latin typeface="微软雅黑" panose="020B0503020204020204" pitchFamily="34" charset="-122"/>
                <a:ea typeface="微软雅黑" panose="020B0503020204020204" pitchFamily="34" charset="-122"/>
                <a:cs typeface="+mn-cs"/>
              </a:rPr>
              <a:t>TCP</a:t>
            </a:r>
            <a:r>
              <a:rPr lang="zh-CN" altLang="en-US" sz="2400" b="1" kern="1200">
                <a:latin typeface="微软雅黑" panose="020B0503020204020204" pitchFamily="34" charset="-122"/>
                <a:ea typeface="微软雅黑" panose="020B0503020204020204" pitchFamily="34" charset="-122"/>
                <a:cs typeface="+mn-cs"/>
              </a:rPr>
              <a:t>：</a:t>
            </a:r>
            <a:r>
              <a:rPr lang="en-US" altLang="zh-CN" sz="2400" b="1" kern="1200">
                <a:latin typeface="微软雅黑" panose="020B0503020204020204" pitchFamily="34" charset="-122"/>
                <a:ea typeface="微软雅黑" panose="020B0503020204020204" pitchFamily="34" charset="-122"/>
                <a:cs typeface="+mn-cs"/>
              </a:rPr>
              <a:t>Transmission Control Protocol</a:t>
            </a:r>
            <a:r>
              <a:rPr lang="zh-CN" altLang="en-US" sz="2400" b="1" kern="1200">
                <a:latin typeface="微软雅黑" panose="020B0503020204020204" pitchFamily="34" charset="-122"/>
                <a:ea typeface="微软雅黑" panose="020B0503020204020204" pitchFamily="34" charset="-122"/>
                <a:cs typeface="+mn-cs"/>
              </a:rPr>
              <a:t>，传输控制协议</a:t>
            </a:r>
          </a:p>
          <a:p>
            <a:pPr eaLnBrk="1" hangingPunct="1"/>
            <a:r>
              <a:rPr lang="en-US" altLang="zh-CN" sz="2400" b="1" kern="1200">
                <a:latin typeface="微软雅黑" panose="020B0503020204020204" pitchFamily="34" charset="-122"/>
                <a:ea typeface="微软雅黑" panose="020B0503020204020204" pitchFamily="34" charset="-122"/>
                <a:cs typeface="+mn-cs"/>
              </a:rPr>
              <a:t>IP</a:t>
            </a:r>
            <a:r>
              <a:rPr lang="zh-CN" altLang="en-US" sz="2400" b="1" kern="1200">
                <a:latin typeface="微软雅黑" panose="020B0503020204020204" pitchFamily="34" charset="-122"/>
                <a:ea typeface="微软雅黑" panose="020B0503020204020204" pitchFamily="34" charset="-122"/>
                <a:cs typeface="+mn-cs"/>
              </a:rPr>
              <a:t>：</a:t>
            </a:r>
            <a:r>
              <a:rPr lang="en-US" altLang="zh-CN" sz="2400" b="1" kern="1200">
                <a:latin typeface="微软雅黑" panose="020B0503020204020204" pitchFamily="34" charset="-122"/>
                <a:ea typeface="微软雅黑" panose="020B0503020204020204" pitchFamily="34" charset="-122"/>
                <a:cs typeface="+mn-cs"/>
              </a:rPr>
              <a:t>Internet Protocol</a:t>
            </a:r>
            <a:r>
              <a:rPr lang="zh-CN" altLang="en-US" sz="2400" b="1" kern="1200">
                <a:latin typeface="微软雅黑" panose="020B0503020204020204" pitchFamily="34" charset="-122"/>
                <a:ea typeface="微软雅黑" panose="020B0503020204020204" pitchFamily="34" charset="-122"/>
                <a:cs typeface="+mn-cs"/>
              </a:rPr>
              <a:t>，因特网互联协议</a:t>
            </a:r>
          </a:p>
          <a:p>
            <a:pPr eaLnBrk="1" hangingPunct="1"/>
            <a:r>
              <a:rPr lang="zh-CN" altLang="en-US" sz="2400" kern="1200">
                <a:latin typeface="微软雅黑" panose="020B0503020204020204" pitchFamily="34" charset="-122"/>
                <a:ea typeface="微软雅黑" panose="020B0503020204020204" pitchFamily="34" charset="-122"/>
                <a:cs typeface="+mn-cs"/>
              </a:rPr>
              <a:t>这两个协议是因特网最核心的协议</a:t>
            </a:r>
          </a:p>
          <a:p>
            <a:pPr eaLnBrk="1" hangingPunct="1"/>
            <a:r>
              <a:rPr lang="zh-CN" altLang="en-US" sz="2400" kern="1200">
                <a:latin typeface="微软雅黑" panose="020B0503020204020204" pitchFamily="34" charset="-122"/>
                <a:ea typeface="微软雅黑" panose="020B0503020204020204" pitchFamily="34" charset="-122"/>
                <a:cs typeface="+mn-cs"/>
              </a:rPr>
              <a:t>因特网中传输层、网际层所有协议的统称，也叫</a:t>
            </a:r>
            <a:r>
              <a:rPr lang="en-US" altLang="zh-CN" sz="2400" kern="1200">
                <a:latin typeface="微软雅黑" panose="020B0503020204020204" pitchFamily="34" charset="-122"/>
                <a:ea typeface="微软雅黑" panose="020B0503020204020204" pitchFamily="34" charset="-122"/>
                <a:cs typeface="+mn-cs"/>
              </a:rPr>
              <a:t>TCP/IP</a:t>
            </a:r>
            <a:r>
              <a:rPr lang="zh-CN" altLang="en-US" sz="2400" kern="1200">
                <a:latin typeface="微软雅黑" panose="020B0503020204020204" pitchFamily="34" charset="-122"/>
                <a:ea typeface="微软雅黑" panose="020B0503020204020204" pitchFamily="34" charset="-122"/>
                <a:cs typeface="+mn-cs"/>
              </a:rPr>
              <a:t>协议族或</a:t>
            </a:r>
            <a:r>
              <a:rPr lang="en-US" altLang="zh-CN" sz="2400" kern="1200">
                <a:latin typeface="微软雅黑" panose="020B0503020204020204" pitchFamily="34" charset="-122"/>
                <a:ea typeface="微软雅黑" panose="020B0503020204020204" pitchFamily="34" charset="-122"/>
                <a:cs typeface="+mn-cs"/>
              </a:rPr>
              <a:t>TCP/IP</a:t>
            </a:r>
            <a:r>
              <a:rPr lang="zh-CN" altLang="en-US" sz="2400" kern="1200">
                <a:latin typeface="微软雅黑" panose="020B0503020204020204" pitchFamily="34" charset="-122"/>
                <a:ea typeface="微软雅黑" panose="020B0503020204020204" pitchFamily="34" charset="-122"/>
                <a:cs typeface="+mn-cs"/>
              </a:rPr>
              <a:t>协议栈，简称</a:t>
            </a:r>
            <a:r>
              <a:rPr lang="en-US" altLang="zh-CN" sz="2400" kern="1200">
                <a:latin typeface="微软雅黑" panose="020B0503020204020204" pitchFamily="34" charset="-122"/>
                <a:ea typeface="微软雅黑" panose="020B0503020204020204" pitchFamily="34" charset="-122"/>
                <a:cs typeface="+mn-cs"/>
              </a:rPr>
              <a:t>TCP/IP</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en-US" altLang="zh-CN" sz="2700" kern="1200">
                <a:solidFill>
                  <a:srgbClr val="0070C0"/>
                </a:solidFill>
                <a:latin typeface="微软雅黑" panose="020B0503020204020204" pitchFamily="34" charset="-122"/>
                <a:ea typeface="微软雅黑" panose="020B0503020204020204" pitchFamily="34" charset="-122"/>
                <a:cs typeface="+mj-cs"/>
              </a:rPr>
              <a:t>TCP/IP</a:t>
            </a:r>
            <a:endParaRPr lang="zh-CN" altLang="en-US" sz="2700" kern="1200">
              <a:solidFill>
                <a:srgbClr val="0070C0"/>
              </a:solidFill>
              <a:latin typeface="微软雅黑" panose="020B0503020204020204" pitchFamily="34" charset="-122"/>
              <a:ea typeface="微软雅黑" panose="020B0503020204020204" pitchFamily="34" charset="-122"/>
              <a:cs typeface="+mj-cs"/>
            </a:endParaRPr>
          </a:p>
        </p:txBody>
      </p:sp>
      <p:sp>
        <p:nvSpPr>
          <p:cNvPr id="31746"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en-US" altLang="zh-CN" sz="2400" kern="1200">
                <a:latin typeface="微软雅黑" panose="020B0503020204020204" pitchFamily="34" charset="-122"/>
                <a:ea typeface="微软雅黑" panose="020B0503020204020204" pitchFamily="34" charset="-122"/>
                <a:cs typeface="+mn-cs"/>
              </a:rPr>
              <a:t>TCP/IP</a:t>
            </a:r>
            <a:r>
              <a:rPr lang="zh-CN" altLang="en-US" sz="2400" kern="1200">
                <a:latin typeface="微软雅黑" panose="020B0503020204020204" pitchFamily="34" charset="-122"/>
                <a:ea typeface="微软雅黑" panose="020B0503020204020204" pitchFamily="34" charset="-122"/>
                <a:cs typeface="+mn-cs"/>
              </a:rPr>
              <a:t>只有四层结构：</a:t>
            </a:r>
          </a:p>
          <a:p>
            <a:pPr lvl="1" eaLnBrk="1" hangingPunct="1"/>
            <a:r>
              <a:rPr lang="zh-CN" altLang="en-US" sz="2100" kern="1200">
                <a:latin typeface="微软雅黑" panose="020B0503020204020204" pitchFamily="34" charset="-122"/>
                <a:ea typeface="微软雅黑" panose="020B0503020204020204" pitchFamily="34" charset="-122"/>
                <a:cs typeface="+mn-cs"/>
              </a:rPr>
              <a:t>应用层：直接为用户的应用进程提供服务</a:t>
            </a:r>
          </a:p>
          <a:p>
            <a:pPr lvl="1" eaLnBrk="1" hangingPunct="1"/>
            <a:r>
              <a:rPr lang="zh-CN" altLang="en-US" sz="2100" kern="1200">
                <a:latin typeface="微软雅黑" panose="020B0503020204020204" pitchFamily="34" charset="-122"/>
                <a:ea typeface="微软雅黑" panose="020B0503020204020204" pitchFamily="34" charset="-122"/>
                <a:cs typeface="+mn-cs"/>
              </a:rPr>
              <a:t>运输层：负责两个主机中进程之间的通信</a:t>
            </a:r>
          </a:p>
          <a:p>
            <a:pPr lvl="1" eaLnBrk="1" hangingPunct="1"/>
            <a:r>
              <a:rPr lang="zh-CN" altLang="en-US" sz="2100" kern="1200">
                <a:latin typeface="微软雅黑" panose="020B0503020204020204" pitchFamily="34" charset="-122"/>
                <a:ea typeface="微软雅黑" panose="020B0503020204020204" pitchFamily="34" charset="-122"/>
                <a:cs typeface="+mn-cs"/>
              </a:rPr>
              <a:t>网际层：负责不同主机之间的通信</a:t>
            </a:r>
          </a:p>
          <a:p>
            <a:pPr lvl="1" eaLnBrk="1" hangingPunct="1"/>
            <a:r>
              <a:rPr lang="zh-CN" altLang="en-US" sz="2100" kern="1200">
                <a:latin typeface="微软雅黑" panose="020B0503020204020204" pitchFamily="34" charset="-122"/>
                <a:ea typeface="微软雅黑" panose="020B0503020204020204" pitchFamily="34" charset="-122"/>
                <a:cs typeface="+mn-cs"/>
              </a:rPr>
              <a:t>网络接口层：没有具体内容</a:t>
            </a:r>
          </a:p>
          <a:p>
            <a:pPr eaLnBrk="1" hangingPunct="1"/>
            <a:r>
              <a:rPr lang="zh-CN" altLang="en-US" sz="2400" kern="1200">
                <a:latin typeface="微软雅黑" panose="020B0503020204020204" pitchFamily="34" charset="-122"/>
                <a:ea typeface="微软雅黑" panose="020B0503020204020204" pitchFamily="34" charset="-122"/>
                <a:cs typeface="+mn-cs"/>
              </a:rPr>
              <a:t>计算机科学中为了研究方便一般采用</a:t>
            </a:r>
            <a:r>
              <a:rPr lang="en-US" altLang="zh-CN" sz="2400" kern="1200">
                <a:latin typeface="微软雅黑" panose="020B0503020204020204" pitchFamily="34" charset="-122"/>
                <a:ea typeface="微软雅黑" panose="020B0503020204020204" pitchFamily="34" charset="-122"/>
                <a:cs typeface="+mn-cs"/>
              </a:rPr>
              <a:t>5</a:t>
            </a:r>
            <a:r>
              <a:rPr lang="zh-CN" altLang="en-US" sz="2400" kern="1200">
                <a:latin typeface="微软雅黑" panose="020B0503020204020204" pitchFamily="34" charset="-122"/>
                <a:ea typeface="微软雅黑" panose="020B0503020204020204" pitchFamily="34" charset="-122"/>
                <a:cs typeface="+mn-cs"/>
              </a:rPr>
              <a:t>层协议模型研究</a:t>
            </a:r>
            <a:r>
              <a:rPr lang="en-US" altLang="zh-CN" sz="2400" kern="1200">
                <a:latin typeface="微软雅黑" panose="020B0503020204020204" pitchFamily="34" charset="-122"/>
                <a:ea typeface="微软雅黑" panose="020B0503020204020204" pitchFamily="34" charset="-122"/>
                <a:cs typeface="+mn-cs"/>
              </a:rPr>
              <a:t>TCP/IP</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en-US" altLang="zh-CN" sz="2700" kern="1200">
                <a:solidFill>
                  <a:srgbClr val="0070C0"/>
                </a:solidFill>
                <a:latin typeface="微软雅黑" panose="020B0503020204020204" pitchFamily="34" charset="-122"/>
                <a:ea typeface="微软雅黑" panose="020B0503020204020204" pitchFamily="34" charset="-122"/>
                <a:cs typeface="+mj-cs"/>
              </a:rPr>
              <a:t>TCP/IP</a:t>
            </a:r>
            <a:endParaRPr lang="zh-CN" altLang="en-US" sz="2700" kern="1200">
              <a:solidFill>
                <a:srgbClr val="0070C0"/>
              </a:solidFill>
              <a:latin typeface="微软雅黑" panose="020B0503020204020204" pitchFamily="34" charset="-122"/>
              <a:ea typeface="微软雅黑" panose="020B0503020204020204" pitchFamily="34" charset="-122"/>
              <a:cs typeface="+mj-cs"/>
            </a:endParaRPr>
          </a:p>
        </p:txBody>
      </p:sp>
      <p:pic>
        <p:nvPicPr>
          <p:cNvPr id="32770" name="图片 2"/>
          <p:cNvPicPr>
            <a:picLocks noChangeAspect="1"/>
          </p:cNvPicPr>
          <p:nvPr/>
        </p:nvPicPr>
        <p:blipFill>
          <a:blip r:embed="rId2"/>
          <a:stretch>
            <a:fillRect/>
          </a:stretch>
        </p:blipFill>
        <p:spPr>
          <a:xfrm>
            <a:off x="827088" y="950913"/>
            <a:ext cx="6650037" cy="3241675"/>
          </a:xfrm>
          <a:prstGeom prst="rect">
            <a:avLst/>
          </a:prstGeom>
          <a:noFill/>
          <a:ln w="9525">
            <a:noFill/>
          </a:ln>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en-US" altLang="zh-CN" sz="2700" kern="1200">
                <a:solidFill>
                  <a:srgbClr val="0070C0"/>
                </a:solidFill>
                <a:latin typeface="微软雅黑" panose="020B0503020204020204" pitchFamily="34" charset="-122"/>
                <a:ea typeface="微软雅黑" panose="020B0503020204020204" pitchFamily="34" charset="-122"/>
                <a:cs typeface="+mj-cs"/>
              </a:rPr>
              <a:t>TCP/IP</a:t>
            </a:r>
            <a:endParaRPr lang="zh-CN" altLang="en-US" sz="2700" kern="1200">
              <a:solidFill>
                <a:srgbClr val="0070C0"/>
              </a:solidFill>
              <a:latin typeface="微软雅黑" panose="020B0503020204020204" pitchFamily="34" charset="-122"/>
              <a:ea typeface="微软雅黑" panose="020B0503020204020204" pitchFamily="34" charset="-122"/>
              <a:cs typeface="+mj-cs"/>
            </a:endParaRPr>
          </a:p>
        </p:txBody>
      </p:sp>
      <p:pic>
        <p:nvPicPr>
          <p:cNvPr id="33794" name="图片 1"/>
          <p:cNvPicPr>
            <a:picLocks noChangeAspect="1"/>
          </p:cNvPicPr>
          <p:nvPr/>
        </p:nvPicPr>
        <p:blipFill>
          <a:blip r:embed="rId2"/>
          <a:stretch>
            <a:fillRect/>
          </a:stretch>
        </p:blipFill>
        <p:spPr>
          <a:xfrm>
            <a:off x="506413" y="703263"/>
            <a:ext cx="7881937" cy="3908425"/>
          </a:xfrm>
          <a:prstGeom prst="rect">
            <a:avLst/>
          </a:prstGeom>
          <a:noFill/>
          <a:ln w="9525">
            <a:noFill/>
          </a:ln>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en-US"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TCP/IP</a:t>
            </a:r>
            <a:r>
              <a:rPr kumimoji="0" lang="zh-CN" altLang="en-US"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协议栈</a:t>
            </a:r>
          </a:p>
        </p:txBody>
      </p:sp>
      <p:grpSp>
        <p:nvGrpSpPr>
          <p:cNvPr id="34818" name="Group 23"/>
          <p:cNvGrpSpPr/>
          <p:nvPr/>
        </p:nvGrpSpPr>
        <p:grpSpPr>
          <a:xfrm>
            <a:off x="1619250" y="484188"/>
            <a:ext cx="5616575" cy="4032250"/>
            <a:chOff x="839" y="1253"/>
            <a:chExt cx="3628" cy="2177"/>
          </a:xfrm>
        </p:grpSpPr>
        <p:sp>
          <p:nvSpPr>
            <p:cNvPr id="41988" name="Rectangle 5"/>
            <p:cNvSpPr>
              <a:spLocks noChangeArrowheads="1"/>
            </p:cNvSpPr>
            <p:nvPr/>
          </p:nvSpPr>
          <p:spPr bwMode="auto">
            <a:xfrm>
              <a:off x="884" y="1525"/>
              <a:ext cx="998" cy="273"/>
            </a:xfrm>
            <a:prstGeom prst="rect">
              <a:avLst/>
            </a:prstGeom>
            <a:solidFill>
              <a:schemeClr val="accent1"/>
            </a:solidFill>
            <a:ln w="9525">
              <a:solidFill>
                <a:schemeClr val="tx1"/>
              </a:solidFill>
              <a:miter lim="800000"/>
            </a:ln>
            <a:effectLst/>
          </p:spPr>
          <p:txBody>
            <a:bodyPr wrap="none" anchor="ct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a:lnSpc>
                  <a:spcPct val="100000"/>
                </a:lnSpc>
                <a:spcBef>
                  <a:spcPct val="0"/>
                </a:spcBef>
                <a:buFontTx/>
                <a:buNone/>
              </a:pPr>
              <a:r>
                <a:rPr lang="zh-CN" altLang="en-US" sz="1300">
                  <a:solidFill>
                    <a:srgbClr val="080808"/>
                  </a:solidFill>
                  <a:latin typeface="Arial" panose="020B0604020202090204" pitchFamily="34" charset="0"/>
                  <a:ea typeface="宋体" panose="02010600030101010101" pitchFamily="2" charset="-122"/>
                </a:rPr>
                <a:t>应用层</a:t>
              </a:r>
            </a:p>
          </p:txBody>
        </p:sp>
        <p:sp>
          <p:nvSpPr>
            <p:cNvPr id="41989" name="Rectangle 6"/>
            <p:cNvSpPr>
              <a:spLocks noChangeArrowheads="1"/>
            </p:cNvSpPr>
            <p:nvPr/>
          </p:nvSpPr>
          <p:spPr bwMode="auto">
            <a:xfrm>
              <a:off x="884" y="1797"/>
              <a:ext cx="998" cy="272"/>
            </a:xfrm>
            <a:prstGeom prst="rect">
              <a:avLst/>
            </a:prstGeom>
            <a:solidFill>
              <a:schemeClr val="accent1"/>
            </a:solidFill>
            <a:ln w="9525">
              <a:solidFill>
                <a:schemeClr val="tx1"/>
              </a:solidFill>
              <a:miter lim="800000"/>
            </a:ln>
            <a:effectLst/>
          </p:spPr>
          <p:txBody>
            <a:bodyPr wrap="none" anchor="ct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a:lnSpc>
                  <a:spcPct val="100000"/>
                </a:lnSpc>
                <a:spcBef>
                  <a:spcPct val="0"/>
                </a:spcBef>
                <a:buFontTx/>
                <a:buNone/>
              </a:pPr>
              <a:r>
                <a:rPr lang="zh-CN" altLang="en-US" sz="1300">
                  <a:solidFill>
                    <a:srgbClr val="080808"/>
                  </a:solidFill>
                  <a:latin typeface="Arial" panose="020B0604020202090204" pitchFamily="34" charset="0"/>
                  <a:ea typeface="宋体" panose="02010600030101010101" pitchFamily="2" charset="-122"/>
                </a:rPr>
                <a:t>表示层</a:t>
              </a:r>
            </a:p>
          </p:txBody>
        </p:sp>
        <p:sp>
          <p:nvSpPr>
            <p:cNvPr id="41990" name="Rectangle 7"/>
            <p:cNvSpPr>
              <a:spLocks noChangeArrowheads="1"/>
            </p:cNvSpPr>
            <p:nvPr/>
          </p:nvSpPr>
          <p:spPr bwMode="auto">
            <a:xfrm>
              <a:off x="884" y="2069"/>
              <a:ext cx="998" cy="272"/>
            </a:xfrm>
            <a:prstGeom prst="rect">
              <a:avLst/>
            </a:prstGeom>
            <a:solidFill>
              <a:schemeClr val="accent1"/>
            </a:solidFill>
            <a:ln w="9525">
              <a:solidFill>
                <a:schemeClr val="tx1"/>
              </a:solidFill>
              <a:miter lim="800000"/>
            </a:ln>
            <a:effectLst/>
          </p:spPr>
          <p:txBody>
            <a:bodyPr wrap="none" anchor="ct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a:lnSpc>
                  <a:spcPct val="100000"/>
                </a:lnSpc>
                <a:spcBef>
                  <a:spcPct val="0"/>
                </a:spcBef>
                <a:buFontTx/>
                <a:buNone/>
              </a:pPr>
              <a:r>
                <a:rPr lang="zh-CN" altLang="en-US" sz="1300">
                  <a:solidFill>
                    <a:srgbClr val="080808"/>
                  </a:solidFill>
                  <a:latin typeface="Arial" panose="020B0604020202090204" pitchFamily="34" charset="0"/>
                  <a:ea typeface="宋体" panose="02010600030101010101" pitchFamily="2" charset="-122"/>
                </a:rPr>
                <a:t>会话层</a:t>
              </a:r>
            </a:p>
          </p:txBody>
        </p:sp>
        <p:sp>
          <p:nvSpPr>
            <p:cNvPr id="41991" name="Rectangle 8"/>
            <p:cNvSpPr>
              <a:spLocks noChangeArrowheads="1"/>
            </p:cNvSpPr>
            <p:nvPr/>
          </p:nvSpPr>
          <p:spPr bwMode="auto">
            <a:xfrm>
              <a:off x="884" y="2341"/>
              <a:ext cx="998" cy="273"/>
            </a:xfrm>
            <a:prstGeom prst="rect">
              <a:avLst/>
            </a:prstGeom>
            <a:solidFill>
              <a:schemeClr val="accent1"/>
            </a:solidFill>
            <a:ln w="9525">
              <a:solidFill>
                <a:schemeClr val="tx1"/>
              </a:solidFill>
              <a:miter lim="800000"/>
            </a:ln>
            <a:effectLst/>
          </p:spPr>
          <p:txBody>
            <a:bodyPr wrap="none" anchor="ctr"/>
            <a:lstStyle>
              <a:lvl1pPr>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350" b="0" i="0" u="none" strike="noStrike" kern="1200" cap="none" spc="0" normalizeH="0" baseline="0" noProof="0">
                  <a:ln>
                    <a:noFill/>
                  </a:ln>
                  <a:solidFill>
                    <a:srgbClr val="080808"/>
                  </a:solidFill>
                  <a:effectLst/>
                  <a:uLnTx/>
                  <a:uFillTx/>
                  <a:latin typeface="Arial" panose="020B0604020202090204" pitchFamily="34" charset="0"/>
                  <a:ea typeface="宋体" panose="02010600030101010101" pitchFamily="2" charset="-122"/>
                  <a:cs typeface="+mn-cs"/>
                </a:rPr>
                <a:t>传输层</a:t>
              </a:r>
            </a:p>
          </p:txBody>
        </p:sp>
        <p:sp>
          <p:nvSpPr>
            <p:cNvPr id="41992" name="Rectangle 9"/>
            <p:cNvSpPr>
              <a:spLocks noChangeArrowheads="1"/>
            </p:cNvSpPr>
            <p:nvPr/>
          </p:nvSpPr>
          <p:spPr bwMode="auto">
            <a:xfrm>
              <a:off x="884" y="2614"/>
              <a:ext cx="998" cy="272"/>
            </a:xfrm>
            <a:prstGeom prst="rect">
              <a:avLst/>
            </a:prstGeom>
            <a:solidFill>
              <a:schemeClr val="accent1"/>
            </a:solidFill>
            <a:ln w="9525">
              <a:solidFill>
                <a:schemeClr val="tx1"/>
              </a:solidFill>
              <a:miter lim="800000"/>
            </a:ln>
            <a:effectLst/>
          </p:spPr>
          <p:txBody>
            <a:bodyPr wrap="none" anchor="ct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a:lnSpc>
                  <a:spcPct val="100000"/>
                </a:lnSpc>
                <a:spcBef>
                  <a:spcPct val="0"/>
                </a:spcBef>
                <a:buFontTx/>
                <a:buNone/>
              </a:pPr>
              <a:r>
                <a:rPr lang="zh-CN" altLang="en-US" sz="1300">
                  <a:solidFill>
                    <a:srgbClr val="080808"/>
                  </a:solidFill>
                  <a:latin typeface="Arial" panose="020B0604020202090204" pitchFamily="34" charset="0"/>
                  <a:ea typeface="宋体" panose="02010600030101010101" pitchFamily="2" charset="-122"/>
                </a:rPr>
                <a:t>网络层</a:t>
              </a:r>
            </a:p>
          </p:txBody>
        </p:sp>
        <p:sp>
          <p:nvSpPr>
            <p:cNvPr id="41993" name="Rectangle 10"/>
            <p:cNvSpPr>
              <a:spLocks noChangeArrowheads="1"/>
            </p:cNvSpPr>
            <p:nvPr/>
          </p:nvSpPr>
          <p:spPr bwMode="auto">
            <a:xfrm>
              <a:off x="884" y="2886"/>
              <a:ext cx="998" cy="273"/>
            </a:xfrm>
            <a:prstGeom prst="rect">
              <a:avLst/>
            </a:prstGeom>
            <a:solidFill>
              <a:schemeClr val="accent1"/>
            </a:solidFill>
            <a:ln w="9525">
              <a:solidFill>
                <a:schemeClr val="tx1"/>
              </a:solidFill>
              <a:miter lim="800000"/>
            </a:ln>
            <a:effectLst/>
          </p:spPr>
          <p:txBody>
            <a:bodyPr wrap="none" anchor="ct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a:lnSpc>
                  <a:spcPct val="100000"/>
                </a:lnSpc>
                <a:spcBef>
                  <a:spcPct val="0"/>
                </a:spcBef>
                <a:buFontTx/>
                <a:buNone/>
              </a:pPr>
              <a:r>
                <a:rPr lang="zh-CN" altLang="en-US" sz="1300">
                  <a:solidFill>
                    <a:srgbClr val="080808"/>
                  </a:solidFill>
                  <a:latin typeface="Arial" panose="020B0604020202090204" pitchFamily="34" charset="0"/>
                  <a:ea typeface="宋体" panose="02010600030101010101" pitchFamily="2" charset="-122"/>
                </a:rPr>
                <a:t>数据链路层</a:t>
              </a:r>
            </a:p>
          </p:txBody>
        </p:sp>
        <p:sp>
          <p:nvSpPr>
            <p:cNvPr id="41994" name="Rectangle 11"/>
            <p:cNvSpPr>
              <a:spLocks noChangeArrowheads="1"/>
            </p:cNvSpPr>
            <p:nvPr/>
          </p:nvSpPr>
          <p:spPr bwMode="auto">
            <a:xfrm>
              <a:off x="884" y="3158"/>
              <a:ext cx="998" cy="272"/>
            </a:xfrm>
            <a:prstGeom prst="rect">
              <a:avLst/>
            </a:prstGeom>
            <a:solidFill>
              <a:schemeClr val="accent1"/>
            </a:solidFill>
            <a:ln w="9525">
              <a:solidFill>
                <a:schemeClr val="tx1"/>
              </a:solidFill>
              <a:miter lim="800000"/>
            </a:ln>
            <a:effectLst/>
          </p:spPr>
          <p:txBody>
            <a:bodyPr wrap="none" anchor="ct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a:lnSpc>
                  <a:spcPct val="100000"/>
                </a:lnSpc>
                <a:spcBef>
                  <a:spcPct val="0"/>
                </a:spcBef>
                <a:buFontTx/>
                <a:buNone/>
              </a:pPr>
              <a:r>
                <a:rPr lang="zh-CN" altLang="en-US" sz="1300">
                  <a:solidFill>
                    <a:srgbClr val="080808"/>
                  </a:solidFill>
                  <a:latin typeface="Arial" panose="020B0604020202090204" pitchFamily="34" charset="0"/>
                  <a:ea typeface="宋体" panose="02010600030101010101" pitchFamily="2" charset="-122"/>
                </a:rPr>
                <a:t>物理层</a:t>
              </a:r>
            </a:p>
          </p:txBody>
        </p:sp>
        <p:sp>
          <p:nvSpPr>
            <p:cNvPr id="41995" name="Rectangle 12"/>
            <p:cNvSpPr>
              <a:spLocks noChangeArrowheads="1"/>
            </p:cNvSpPr>
            <p:nvPr/>
          </p:nvSpPr>
          <p:spPr bwMode="auto">
            <a:xfrm>
              <a:off x="3243" y="1480"/>
              <a:ext cx="999" cy="862"/>
            </a:xfrm>
            <a:prstGeom prst="rect">
              <a:avLst/>
            </a:prstGeom>
            <a:solidFill>
              <a:schemeClr val="accent1"/>
            </a:solidFill>
            <a:ln w="9525">
              <a:solidFill>
                <a:schemeClr val="tx1"/>
              </a:solidFill>
              <a:miter lim="800000"/>
            </a:ln>
            <a:effectLst/>
          </p:spPr>
          <p:txBody>
            <a:bodyPr wrap="none" anchor="ct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a:lnSpc>
                  <a:spcPct val="100000"/>
                </a:lnSpc>
                <a:spcBef>
                  <a:spcPct val="0"/>
                </a:spcBef>
                <a:buFontTx/>
                <a:buNone/>
              </a:pPr>
              <a:r>
                <a:rPr lang="zh-CN" altLang="en-US" sz="1300">
                  <a:solidFill>
                    <a:srgbClr val="080808"/>
                  </a:solidFill>
                  <a:latin typeface="Arial" panose="020B0604020202090204" pitchFamily="34" charset="0"/>
                  <a:ea typeface="宋体" panose="02010600030101010101" pitchFamily="2" charset="-122"/>
                </a:rPr>
                <a:t>应用层</a:t>
              </a:r>
            </a:p>
          </p:txBody>
        </p:sp>
        <p:sp>
          <p:nvSpPr>
            <p:cNvPr id="41996" name="Rectangle 13"/>
            <p:cNvSpPr>
              <a:spLocks noChangeArrowheads="1"/>
            </p:cNvSpPr>
            <p:nvPr/>
          </p:nvSpPr>
          <p:spPr bwMode="auto">
            <a:xfrm>
              <a:off x="3243" y="2341"/>
              <a:ext cx="999" cy="273"/>
            </a:xfrm>
            <a:prstGeom prst="rect">
              <a:avLst/>
            </a:prstGeom>
            <a:solidFill>
              <a:schemeClr val="accent1"/>
            </a:solidFill>
            <a:ln w="9525">
              <a:solidFill>
                <a:schemeClr val="tx1"/>
              </a:solidFill>
              <a:miter lim="800000"/>
            </a:ln>
            <a:effectLst/>
          </p:spPr>
          <p:txBody>
            <a:bodyPr wrap="none" anchor="ctr"/>
            <a:lstStyle>
              <a:lvl1pPr>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1350" b="0" i="0" u="none" strike="noStrike" kern="1200" cap="none" spc="0" normalizeH="0" baseline="0" noProof="0">
                  <a:ln>
                    <a:noFill/>
                  </a:ln>
                  <a:solidFill>
                    <a:srgbClr val="080808"/>
                  </a:solidFill>
                  <a:effectLst/>
                  <a:uLnTx/>
                  <a:uFillTx/>
                  <a:latin typeface="Arial" panose="020B0604020202090204" pitchFamily="34" charset="0"/>
                  <a:ea typeface="宋体" panose="02010600030101010101" pitchFamily="2" charset="-122"/>
                  <a:cs typeface="+mn-cs"/>
                </a:rPr>
                <a:t>传输层</a:t>
              </a:r>
            </a:p>
          </p:txBody>
        </p:sp>
        <p:sp>
          <p:nvSpPr>
            <p:cNvPr id="41997" name="Rectangle 14"/>
            <p:cNvSpPr>
              <a:spLocks noChangeArrowheads="1"/>
            </p:cNvSpPr>
            <p:nvPr/>
          </p:nvSpPr>
          <p:spPr bwMode="auto">
            <a:xfrm>
              <a:off x="3243" y="2614"/>
              <a:ext cx="999" cy="272"/>
            </a:xfrm>
            <a:prstGeom prst="rect">
              <a:avLst/>
            </a:prstGeom>
            <a:solidFill>
              <a:schemeClr val="accent1"/>
            </a:solidFill>
            <a:ln w="9525">
              <a:solidFill>
                <a:schemeClr val="tx1"/>
              </a:solidFill>
              <a:miter lim="800000"/>
            </a:ln>
            <a:effectLst/>
          </p:spPr>
          <p:txBody>
            <a:bodyPr wrap="none" anchor="ct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a:lnSpc>
                  <a:spcPct val="100000"/>
                </a:lnSpc>
                <a:spcBef>
                  <a:spcPct val="0"/>
                </a:spcBef>
                <a:buFontTx/>
                <a:buNone/>
              </a:pPr>
              <a:r>
                <a:rPr lang="zh-CN" altLang="en-US" sz="1300">
                  <a:solidFill>
                    <a:srgbClr val="080808"/>
                  </a:solidFill>
                  <a:latin typeface="Arial" panose="020B0604020202090204" pitchFamily="34" charset="0"/>
                  <a:ea typeface="宋体" panose="02010600030101010101" pitchFamily="2" charset="-122"/>
                </a:rPr>
                <a:t>网络层</a:t>
              </a:r>
            </a:p>
          </p:txBody>
        </p:sp>
        <p:sp>
          <p:nvSpPr>
            <p:cNvPr id="41998" name="Rectangle 15"/>
            <p:cNvSpPr>
              <a:spLocks noChangeArrowheads="1"/>
            </p:cNvSpPr>
            <p:nvPr/>
          </p:nvSpPr>
          <p:spPr bwMode="auto">
            <a:xfrm>
              <a:off x="3243" y="2886"/>
              <a:ext cx="999" cy="499"/>
            </a:xfrm>
            <a:prstGeom prst="rect">
              <a:avLst/>
            </a:prstGeom>
            <a:solidFill>
              <a:schemeClr val="accent1"/>
            </a:solidFill>
            <a:ln w="9525">
              <a:solidFill>
                <a:schemeClr val="tx1"/>
              </a:solidFill>
              <a:miter lim="800000"/>
            </a:ln>
            <a:effectLst/>
          </p:spPr>
          <p:txBody>
            <a:bodyPr wrap="none" anchor="ct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a:lnSpc>
                  <a:spcPct val="100000"/>
                </a:lnSpc>
                <a:spcBef>
                  <a:spcPct val="0"/>
                </a:spcBef>
                <a:buFontTx/>
                <a:buNone/>
              </a:pPr>
              <a:r>
                <a:rPr lang="zh-CN" altLang="en-US" sz="1300">
                  <a:solidFill>
                    <a:srgbClr val="080808"/>
                  </a:solidFill>
                  <a:latin typeface="Arial" panose="020B0604020202090204" pitchFamily="34" charset="0"/>
                  <a:ea typeface="宋体" panose="02010600030101010101" pitchFamily="2" charset="-122"/>
                </a:rPr>
                <a:t>网络接口层</a:t>
              </a:r>
            </a:p>
          </p:txBody>
        </p:sp>
        <p:sp>
          <p:nvSpPr>
            <p:cNvPr id="41999" name="Text Box 17"/>
            <p:cNvSpPr txBox="1">
              <a:spLocks noChangeArrowheads="1"/>
            </p:cNvSpPr>
            <p:nvPr/>
          </p:nvSpPr>
          <p:spPr bwMode="auto">
            <a:xfrm>
              <a:off x="839" y="1298"/>
              <a:ext cx="1088" cy="186"/>
            </a:xfrm>
            <a:prstGeom prst="rect">
              <a:avLst/>
            </a:prstGeom>
            <a:noFill/>
            <a:ln>
              <a:noFill/>
            </a:ln>
            <a:effectLst/>
          </p:spPr>
          <p:txBody>
            <a:bodyPr>
              <a:spAutoFit/>
            </a:bodyPr>
            <a:lstStyle>
              <a:lvl1pPr>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rgbClr val="080808"/>
                  </a:solidFill>
                  <a:effectLst/>
                  <a:uLnTx/>
                  <a:uFillTx/>
                  <a:latin typeface="Arial" panose="020B0604020202090204" pitchFamily="34" charset="0"/>
                  <a:ea typeface="宋体" panose="02010600030101010101" pitchFamily="2" charset="-122"/>
                  <a:cs typeface="+mn-cs"/>
                </a:rPr>
                <a:t>OSI</a:t>
              </a:r>
              <a:r>
                <a:rPr kumimoji="0" lang="zh-CN" altLang="en-US" sz="1350" b="0" i="0" u="none" strike="noStrike" kern="1200" cap="none" spc="0" normalizeH="0" baseline="0" noProof="0">
                  <a:ln>
                    <a:noFill/>
                  </a:ln>
                  <a:solidFill>
                    <a:srgbClr val="080808"/>
                  </a:solidFill>
                  <a:effectLst/>
                  <a:uLnTx/>
                  <a:uFillTx/>
                  <a:latin typeface="Arial" panose="020B0604020202090204" pitchFamily="34" charset="0"/>
                  <a:ea typeface="宋体" panose="02010600030101010101" pitchFamily="2" charset="-122"/>
                  <a:cs typeface="+mn-cs"/>
                </a:rPr>
                <a:t>参考模型</a:t>
              </a:r>
            </a:p>
          </p:txBody>
        </p:sp>
        <p:sp>
          <p:nvSpPr>
            <p:cNvPr id="42000" name="Text Box 18"/>
            <p:cNvSpPr txBox="1">
              <a:spLocks noChangeArrowheads="1"/>
            </p:cNvSpPr>
            <p:nvPr/>
          </p:nvSpPr>
          <p:spPr bwMode="auto">
            <a:xfrm>
              <a:off x="3243" y="1253"/>
              <a:ext cx="1224" cy="186"/>
            </a:xfrm>
            <a:prstGeom prst="rect">
              <a:avLst/>
            </a:prstGeom>
            <a:noFill/>
            <a:ln>
              <a:noFill/>
            </a:ln>
            <a:effectLst/>
          </p:spPr>
          <p:txBody>
            <a:bodyPr>
              <a:spAutoFit/>
            </a:bodyPr>
            <a:lstStyle>
              <a:lvl1pPr>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50000"/>
                </a:spcBef>
                <a:spcAft>
                  <a:spcPct val="0"/>
                </a:spcAft>
                <a:buClrTx/>
                <a:buSzTx/>
                <a:buFontTx/>
                <a:buNone/>
                <a:defRPr/>
              </a:pPr>
              <a:r>
                <a:rPr kumimoji="0" lang="en-US" altLang="zh-CN" sz="1350" b="0" i="0" u="none" strike="noStrike" kern="1200" cap="none" spc="0" normalizeH="0" baseline="0" noProof="0">
                  <a:ln>
                    <a:noFill/>
                  </a:ln>
                  <a:solidFill>
                    <a:srgbClr val="080808"/>
                  </a:solidFill>
                  <a:effectLst/>
                  <a:uLnTx/>
                  <a:uFillTx/>
                  <a:latin typeface="Arial" panose="020B0604020202090204" pitchFamily="34" charset="0"/>
                  <a:ea typeface="宋体" panose="02010600030101010101" pitchFamily="2" charset="-122"/>
                  <a:cs typeface="+mn-cs"/>
                </a:rPr>
                <a:t>TCP/IP</a:t>
              </a:r>
              <a:r>
                <a:rPr kumimoji="0" lang="zh-CN" altLang="en-US" sz="1350" b="0" i="0" u="none" strike="noStrike" kern="1200" cap="none" spc="0" normalizeH="0" baseline="0" noProof="0">
                  <a:ln>
                    <a:noFill/>
                  </a:ln>
                  <a:solidFill>
                    <a:srgbClr val="080808"/>
                  </a:solidFill>
                  <a:effectLst/>
                  <a:uLnTx/>
                  <a:uFillTx/>
                  <a:latin typeface="Arial" panose="020B0604020202090204" pitchFamily="34" charset="0"/>
                  <a:ea typeface="宋体" panose="02010600030101010101" pitchFamily="2" charset="-122"/>
                  <a:cs typeface="+mn-cs"/>
                </a:rPr>
                <a:t>参考模型</a:t>
              </a:r>
            </a:p>
          </p:txBody>
        </p:sp>
        <p:sp>
          <p:nvSpPr>
            <p:cNvPr id="42001" name="AutoShape 19"/>
            <p:cNvSpPr>
              <a:spLocks noChangeArrowheads="1"/>
            </p:cNvSpPr>
            <p:nvPr/>
          </p:nvSpPr>
          <p:spPr bwMode="auto">
            <a:xfrm>
              <a:off x="1791" y="3067"/>
              <a:ext cx="1543" cy="136"/>
            </a:xfrm>
            <a:prstGeom prst="leftRightArrow">
              <a:avLst>
                <a:gd name="adj1" fmla="val 50000"/>
                <a:gd name="adj2" fmla="val 226912"/>
              </a:avLst>
            </a:prstGeom>
            <a:solidFill>
              <a:schemeClr val="accent2"/>
            </a:solidFill>
            <a:ln w="9525">
              <a:solidFill>
                <a:schemeClr val="tx1"/>
              </a:solidFill>
              <a:miter lim="800000"/>
            </a:ln>
            <a:effectLst/>
          </p:spPr>
          <p:txBody>
            <a:bodyPr wrap="none" anchor="ctr"/>
            <a:lstStyle>
              <a:lvl1pPr>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90204" pitchFamily="34" charset="0"/>
                <a:ea typeface="宋体" panose="02010600030101010101" pitchFamily="2" charset="-122"/>
                <a:cs typeface="+mn-cs"/>
              </a:endParaRPr>
            </a:p>
          </p:txBody>
        </p:sp>
        <p:sp>
          <p:nvSpPr>
            <p:cNvPr id="42002" name="AutoShape 20"/>
            <p:cNvSpPr>
              <a:spLocks noChangeArrowheads="1"/>
            </p:cNvSpPr>
            <p:nvPr/>
          </p:nvSpPr>
          <p:spPr bwMode="auto">
            <a:xfrm>
              <a:off x="1791" y="2704"/>
              <a:ext cx="1543" cy="136"/>
            </a:xfrm>
            <a:prstGeom prst="leftRightArrow">
              <a:avLst>
                <a:gd name="adj1" fmla="val 50000"/>
                <a:gd name="adj2" fmla="val 226912"/>
              </a:avLst>
            </a:prstGeom>
            <a:solidFill>
              <a:schemeClr val="accent2"/>
            </a:solidFill>
            <a:ln w="9525">
              <a:solidFill>
                <a:schemeClr val="tx1"/>
              </a:solidFill>
              <a:miter lim="800000"/>
            </a:ln>
            <a:effectLst/>
          </p:spPr>
          <p:txBody>
            <a:bodyPr wrap="none" anchor="ctr"/>
            <a:lstStyle>
              <a:lvl1pPr>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90204" pitchFamily="34" charset="0"/>
                <a:ea typeface="宋体" panose="02010600030101010101" pitchFamily="2" charset="-122"/>
                <a:cs typeface="+mn-cs"/>
              </a:endParaRPr>
            </a:p>
          </p:txBody>
        </p:sp>
        <p:sp>
          <p:nvSpPr>
            <p:cNvPr id="42003" name="AutoShape 21"/>
            <p:cNvSpPr>
              <a:spLocks noChangeArrowheads="1"/>
            </p:cNvSpPr>
            <p:nvPr/>
          </p:nvSpPr>
          <p:spPr bwMode="auto">
            <a:xfrm>
              <a:off x="1791" y="2387"/>
              <a:ext cx="1543" cy="136"/>
            </a:xfrm>
            <a:prstGeom prst="leftRightArrow">
              <a:avLst>
                <a:gd name="adj1" fmla="val 50000"/>
                <a:gd name="adj2" fmla="val 226912"/>
              </a:avLst>
            </a:prstGeom>
            <a:solidFill>
              <a:schemeClr val="accent2"/>
            </a:solidFill>
            <a:ln w="9525">
              <a:solidFill>
                <a:schemeClr val="tx1"/>
              </a:solidFill>
              <a:miter lim="800000"/>
            </a:ln>
            <a:effectLst/>
          </p:spPr>
          <p:txBody>
            <a:bodyPr wrap="none" anchor="ctr"/>
            <a:lstStyle>
              <a:lvl1pPr>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90204" pitchFamily="34" charset="0"/>
                <a:ea typeface="宋体" panose="02010600030101010101" pitchFamily="2" charset="-122"/>
                <a:cs typeface="+mn-cs"/>
              </a:endParaRPr>
            </a:p>
          </p:txBody>
        </p:sp>
        <p:sp>
          <p:nvSpPr>
            <p:cNvPr id="42004" name="AutoShape 22"/>
            <p:cNvSpPr>
              <a:spLocks noChangeArrowheads="1"/>
            </p:cNvSpPr>
            <p:nvPr/>
          </p:nvSpPr>
          <p:spPr bwMode="auto">
            <a:xfrm>
              <a:off x="1791" y="1888"/>
              <a:ext cx="1543" cy="136"/>
            </a:xfrm>
            <a:prstGeom prst="leftRightArrow">
              <a:avLst>
                <a:gd name="adj1" fmla="val 50000"/>
                <a:gd name="adj2" fmla="val 226912"/>
              </a:avLst>
            </a:prstGeom>
            <a:solidFill>
              <a:schemeClr val="accent2"/>
            </a:solidFill>
            <a:ln w="9525">
              <a:solidFill>
                <a:schemeClr val="tx1"/>
              </a:solidFill>
              <a:miter lim="800000"/>
            </a:ln>
            <a:effectLst/>
          </p:spPr>
          <p:txBody>
            <a:bodyPr wrap="none" anchor="ctr"/>
            <a:lstStyle>
              <a:lvl1pPr>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350" b="0" i="0" u="none" strike="noStrike" kern="1200" cap="none" spc="0" normalizeH="0" baseline="0" noProof="0">
                <a:ln>
                  <a:noFill/>
                </a:ln>
                <a:solidFill>
                  <a:schemeClr val="tx1"/>
                </a:solidFill>
                <a:effectLst/>
                <a:uLnTx/>
                <a:uFillTx/>
                <a:latin typeface="Arial" panose="020B0604020202090204" pitchFamily="34" charset="0"/>
                <a:ea typeface="宋体" panose="02010600030101010101" pitchFamily="2" charset="-122"/>
                <a:cs typeface="+mn-cs"/>
              </a:endParaRPr>
            </a:p>
          </p:txBody>
        </p:sp>
      </p:grpSp>
      <p:sp>
        <p:nvSpPr>
          <p:cNvPr id="34819" name="Text Box 24"/>
          <p:cNvSpPr txBox="1"/>
          <p:nvPr/>
        </p:nvSpPr>
        <p:spPr>
          <a:xfrm>
            <a:off x="2357438" y="4624388"/>
            <a:ext cx="4699000" cy="323850"/>
          </a:xfrm>
          <a:prstGeom prst="rect">
            <a:avLst/>
          </a:prstGeom>
          <a:noFill/>
          <a:ln w="9525">
            <a:noFill/>
          </a:ln>
        </p:spPr>
        <p:txBody>
          <a:bodyPr>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a:lnSpc>
                <a:spcPct val="100000"/>
              </a:lnSpc>
              <a:spcBef>
                <a:spcPct val="20000"/>
              </a:spcBef>
              <a:buClr>
                <a:srgbClr val="A50021"/>
              </a:buClr>
              <a:buSzPct val="75000"/>
              <a:buFont typeface="Wingdings" panose="05000000000000000000" pitchFamily="2" charset="2"/>
              <a:buNone/>
            </a:pPr>
            <a:r>
              <a:rPr lang="en-US" altLang="zh-CN" sz="1500">
                <a:solidFill>
                  <a:srgbClr val="080808"/>
                </a:solidFill>
                <a:latin typeface="Arial" panose="020B0604020202090204" pitchFamily="34" charset="0"/>
                <a:ea typeface="宋体" panose="02010600030101010101" pitchFamily="2" charset="-122"/>
              </a:rPr>
              <a:t>OSI</a:t>
            </a:r>
            <a:r>
              <a:rPr lang="zh-CN" altLang="en-US" sz="1500">
                <a:solidFill>
                  <a:srgbClr val="080808"/>
                </a:solidFill>
                <a:latin typeface="Arial" panose="020B0604020202090204" pitchFamily="34" charset="0"/>
                <a:ea typeface="宋体" panose="02010600030101010101" pitchFamily="2" charset="-122"/>
              </a:rPr>
              <a:t>参考模型与</a:t>
            </a:r>
            <a:r>
              <a:rPr lang="en-US" altLang="zh-CN" sz="1500">
                <a:solidFill>
                  <a:srgbClr val="080808"/>
                </a:solidFill>
                <a:latin typeface="Arial" panose="020B0604020202090204" pitchFamily="34" charset="0"/>
                <a:ea typeface="宋体" panose="02010600030101010101" pitchFamily="2" charset="-122"/>
              </a:rPr>
              <a:t>TCP/IP</a:t>
            </a:r>
            <a:r>
              <a:rPr lang="zh-CN" altLang="en-US" sz="1500">
                <a:solidFill>
                  <a:srgbClr val="080808"/>
                </a:solidFill>
                <a:latin typeface="Arial" panose="020B0604020202090204" pitchFamily="34" charset="0"/>
                <a:ea typeface="宋体" panose="02010600030101010101" pitchFamily="2" charset="-122"/>
              </a:rPr>
              <a:t>参考模型对应关系</a:t>
            </a:r>
            <a:endParaRPr lang="zh-CN" altLang="en-US" sz="1500">
              <a:latin typeface="Arial" panose="020B0604020202090204" pitchFamily="34" charset="0"/>
              <a:ea typeface="宋体" panose="02010600030101010101" pitchFamily="2" charset="-122"/>
            </a:endParaRP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1" name="组合 22"/>
          <p:cNvGrpSpPr/>
          <p:nvPr/>
        </p:nvGrpSpPr>
        <p:grpSpPr>
          <a:xfrm>
            <a:off x="395288" y="915988"/>
            <a:ext cx="8488362" cy="3527425"/>
            <a:chOff x="87313" y="1768266"/>
            <a:chExt cx="8991600" cy="4469022"/>
          </a:xfrm>
        </p:grpSpPr>
        <p:sp>
          <p:nvSpPr>
            <p:cNvPr id="35843" name="AutoShape 3"/>
            <p:cNvSpPr/>
            <p:nvPr/>
          </p:nvSpPr>
          <p:spPr>
            <a:xfrm rot="-5400000">
              <a:off x="4374356" y="1532731"/>
              <a:ext cx="417513" cy="8991600"/>
            </a:xfrm>
            <a:prstGeom prst="can">
              <a:avLst>
                <a:gd name="adj" fmla="val 48653"/>
              </a:avLst>
            </a:prstGeom>
            <a:gradFill rotWithShape="0">
              <a:gsLst>
                <a:gs pos="0">
                  <a:srgbClr val="ACACAC"/>
                </a:gs>
                <a:gs pos="50000">
                  <a:srgbClr val="EAEAEA"/>
                </a:gs>
                <a:gs pos="100000">
                  <a:srgbClr val="ACACAC"/>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5844" name="AutoShape 4"/>
            <p:cNvSpPr/>
            <p:nvPr/>
          </p:nvSpPr>
          <p:spPr>
            <a:xfrm>
              <a:off x="533400" y="2847975"/>
              <a:ext cx="838200" cy="2997200"/>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5845" name="Text Box 5"/>
            <p:cNvSpPr txBox="1"/>
            <p:nvPr/>
          </p:nvSpPr>
          <p:spPr>
            <a:xfrm>
              <a:off x="781049" y="3027362"/>
              <a:ext cx="463577" cy="61324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5</a:t>
              </a:r>
            </a:p>
          </p:txBody>
        </p:sp>
        <p:sp>
          <p:nvSpPr>
            <p:cNvPr id="35846" name="Text Box 6"/>
            <p:cNvSpPr txBox="1"/>
            <p:nvPr/>
          </p:nvSpPr>
          <p:spPr>
            <a:xfrm>
              <a:off x="781049" y="3654424"/>
              <a:ext cx="463577" cy="61324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4</a:t>
              </a:r>
            </a:p>
          </p:txBody>
        </p:sp>
        <p:sp>
          <p:nvSpPr>
            <p:cNvPr id="35847" name="Text Box 7"/>
            <p:cNvSpPr txBox="1"/>
            <p:nvPr/>
          </p:nvSpPr>
          <p:spPr>
            <a:xfrm>
              <a:off x="781049" y="4211638"/>
              <a:ext cx="463577" cy="61324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3</a:t>
              </a:r>
            </a:p>
          </p:txBody>
        </p:sp>
        <p:sp>
          <p:nvSpPr>
            <p:cNvPr id="35848" name="Text Box 8"/>
            <p:cNvSpPr txBox="1"/>
            <p:nvPr/>
          </p:nvSpPr>
          <p:spPr>
            <a:xfrm>
              <a:off x="781049" y="4770440"/>
              <a:ext cx="463577" cy="61324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2</a:t>
              </a:r>
            </a:p>
          </p:txBody>
        </p:sp>
        <p:sp>
          <p:nvSpPr>
            <p:cNvPr id="35849" name="Text Box 9"/>
            <p:cNvSpPr txBox="1"/>
            <p:nvPr/>
          </p:nvSpPr>
          <p:spPr>
            <a:xfrm>
              <a:off x="781049" y="5337174"/>
              <a:ext cx="463577" cy="61324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1</a:t>
              </a:r>
            </a:p>
          </p:txBody>
        </p:sp>
        <p:sp>
          <p:nvSpPr>
            <p:cNvPr id="35850" name="未知"/>
            <p:cNvSpPr/>
            <p:nvPr/>
          </p:nvSpPr>
          <p:spPr>
            <a:xfrm>
              <a:off x="533400" y="344963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5851" name="未知"/>
            <p:cNvSpPr/>
            <p:nvPr/>
          </p:nvSpPr>
          <p:spPr>
            <a:xfrm>
              <a:off x="542925" y="40243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5852" name="未知"/>
            <p:cNvSpPr/>
            <p:nvPr/>
          </p:nvSpPr>
          <p:spPr>
            <a:xfrm>
              <a:off x="520700" y="4600575"/>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5853" name="未知"/>
            <p:cNvSpPr/>
            <p:nvPr/>
          </p:nvSpPr>
          <p:spPr>
            <a:xfrm>
              <a:off x="520700" y="5192713"/>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5854" name="AutoShape 14"/>
            <p:cNvSpPr/>
            <p:nvPr/>
          </p:nvSpPr>
          <p:spPr>
            <a:xfrm>
              <a:off x="7886700" y="2814638"/>
              <a:ext cx="838200" cy="3030537"/>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5855" name="Text Box 15"/>
            <p:cNvSpPr txBox="1"/>
            <p:nvPr/>
          </p:nvSpPr>
          <p:spPr>
            <a:xfrm>
              <a:off x="7924800" y="2992438"/>
              <a:ext cx="463577" cy="61324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5</a:t>
              </a:r>
            </a:p>
          </p:txBody>
        </p:sp>
        <p:sp>
          <p:nvSpPr>
            <p:cNvPr id="35856" name="Text Box 16"/>
            <p:cNvSpPr txBox="1"/>
            <p:nvPr/>
          </p:nvSpPr>
          <p:spPr>
            <a:xfrm>
              <a:off x="7924800" y="3619500"/>
              <a:ext cx="463577" cy="61324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4</a:t>
              </a:r>
            </a:p>
          </p:txBody>
        </p:sp>
        <p:sp>
          <p:nvSpPr>
            <p:cNvPr id="35857" name="Text Box 17"/>
            <p:cNvSpPr txBox="1"/>
            <p:nvPr/>
          </p:nvSpPr>
          <p:spPr>
            <a:xfrm>
              <a:off x="7924800" y="4176712"/>
              <a:ext cx="463577" cy="61324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3</a:t>
              </a:r>
            </a:p>
          </p:txBody>
        </p:sp>
        <p:sp>
          <p:nvSpPr>
            <p:cNvPr id="35858" name="Text Box 18"/>
            <p:cNvSpPr txBox="1"/>
            <p:nvPr/>
          </p:nvSpPr>
          <p:spPr>
            <a:xfrm>
              <a:off x="7924800" y="4737102"/>
              <a:ext cx="463577" cy="61324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2</a:t>
              </a:r>
            </a:p>
          </p:txBody>
        </p:sp>
        <p:sp>
          <p:nvSpPr>
            <p:cNvPr id="35859" name="Text Box 19"/>
            <p:cNvSpPr txBox="1"/>
            <p:nvPr/>
          </p:nvSpPr>
          <p:spPr>
            <a:xfrm>
              <a:off x="7924800" y="5302250"/>
              <a:ext cx="463577" cy="61324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1</a:t>
              </a:r>
            </a:p>
          </p:txBody>
        </p:sp>
        <p:sp>
          <p:nvSpPr>
            <p:cNvPr id="35860" name="未知"/>
            <p:cNvSpPr/>
            <p:nvPr/>
          </p:nvSpPr>
          <p:spPr>
            <a:xfrm>
              <a:off x="7886700" y="34147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5861" name="未知"/>
            <p:cNvSpPr/>
            <p:nvPr/>
          </p:nvSpPr>
          <p:spPr>
            <a:xfrm>
              <a:off x="7896225" y="398938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5862" name="未知"/>
            <p:cNvSpPr/>
            <p:nvPr/>
          </p:nvSpPr>
          <p:spPr>
            <a:xfrm>
              <a:off x="7874000" y="4565650"/>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5863" name="未知"/>
            <p:cNvSpPr/>
            <p:nvPr/>
          </p:nvSpPr>
          <p:spPr>
            <a:xfrm>
              <a:off x="7874000" y="5157788"/>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3033" name="Text Box 24"/>
            <p:cNvSpPr txBox="1">
              <a:spLocks noChangeArrowheads="1"/>
            </p:cNvSpPr>
            <p:nvPr/>
          </p:nvSpPr>
          <p:spPr bwMode="auto">
            <a:xfrm>
              <a:off x="395048" y="1768266"/>
              <a:ext cx="1118275" cy="613434"/>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1</a:t>
              </a:r>
            </a:p>
          </p:txBody>
        </p:sp>
        <p:sp>
          <p:nvSpPr>
            <p:cNvPr id="35865" name="AutoShape 25"/>
            <p:cNvSpPr/>
            <p:nvPr/>
          </p:nvSpPr>
          <p:spPr>
            <a:xfrm>
              <a:off x="8034338" y="2317750"/>
              <a:ext cx="685800" cy="557213"/>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5866" name="Text Box 26"/>
            <p:cNvSpPr txBox="1"/>
            <p:nvPr/>
          </p:nvSpPr>
          <p:spPr>
            <a:xfrm>
              <a:off x="7964469" y="2383608"/>
              <a:ext cx="812148" cy="61324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AP</a:t>
              </a:r>
              <a:r>
                <a:rPr lang="zh-CN" altLang="zh-CN" sz="1500" b="1" baseline="-25000">
                  <a:solidFill>
                    <a:srgbClr val="333399"/>
                  </a:solidFill>
                  <a:latin typeface="Arial" panose="020B0604020202090204" pitchFamily="34" charset="0"/>
                  <a:ea typeface="宋体" panose="02010600030101010101" pitchFamily="2" charset="-122"/>
                </a:rPr>
                <a:t>2</a:t>
              </a:r>
              <a:endParaRPr lang="zh-CN" altLang="zh-CN" sz="1500" b="1">
                <a:solidFill>
                  <a:srgbClr val="333399"/>
                </a:solidFill>
                <a:latin typeface="Arial" panose="020B0604020202090204" pitchFamily="34" charset="0"/>
                <a:ea typeface="宋体" panose="02010600030101010101" pitchFamily="2" charset="-122"/>
              </a:endParaRPr>
            </a:p>
          </p:txBody>
        </p:sp>
        <p:sp>
          <p:nvSpPr>
            <p:cNvPr id="35867" name="AutoShape 27"/>
            <p:cNvSpPr/>
            <p:nvPr/>
          </p:nvSpPr>
          <p:spPr>
            <a:xfrm>
              <a:off x="538163" y="2360613"/>
              <a:ext cx="685800" cy="557212"/>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5868" name="Text Box 28"/>
            <p:cNvSpPr txBox="1"/>
            <p:nvPr/>
          </p:nvSpPr>
          <p:spPr>
            <a:xfrm>
              <a:off x="452561" y="2383253"/>
              <a:ext cx="812148" cy="61324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AP</a:t>
              </a:r>
              <a:r>
                <a:rPr lang="zh-CN" altLang="zh-CN" sz="1500" b="1" baseline="-25000">
                  <a:solidFill>
                    <a:srgbClr val="333399"/>
                  </a:solidFill>
                  <a:latin typeface="Arial" panose="020B0604020202090204" pitchFamily="34" charset="0"/>
                  <a:ea typeface="宋体" panose="02010600030101010101" pitchFamily="2" charset="-122"/>
                </a:rPr>
                <a:t>1</a:t>
              </a:r>
              <a:endParaRPr lang="zh-CN" altLang="zh-CN" sz="1500" b="1">
                <a:solidFill>
                  <a:srgbClr val="333399"/>
                </a:solidFill>
                <a:latin typeface="Arial" panose="020B0604020202090204" pitchFamily="34" charset="0"/>
                <a:ea typeface="宋体" panose="02010600030101010101" pitchFamily="2" charset="-122"/>
              </a:endParaRPr>
            </a:p>
          </p:txBody>
        </p:sp>
        <p:sp>
          <p:nvSpPr>
            <p:cNvPr id="35869" name="AutoShape 29"/>
            <p:cNvSpPr/>
            <p:nvPr/>
          </p:nvSpPr>
          <p:spPr>
            <a:xfrm flipV="1">
              <a:off x="654050" y="2835275"/>
              <a:ext cx="196850" cy="361950"/>
            </a:xfrm>
            <a:prstGeom prst="upArrow">
              <a:avLst>
                <a:gd name="adj1" fmla="val 50000"/>
                <a:gd name="adj2" fmla="val 45967"/>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3039" name="Text Box 30"/>
            <p:cNvSpPr txBox="1">
              <a:spLocks noChangeArrowheads="1"/>
            </p:cNvSpPr>
            <p:nvPr/>
          </p:nvSpPr>
          <p:spPr bwMode="auto">
            <a:xfrm>
              <a:off x="7770616" y="1768266"/>
              <a:ext cx="1118275" cy="613434"/>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2</a:t>
              </a:r>
            </a:p>
          </p:txBody>
        </p:sp>
        <p:sp>
          <p:nvSpPr>
            <p:cNvPr id="35871" name="Text Box 31"/>
            <p:cNvSpPr txBox="1"/>
            <p:nvPr/>
          </p:nvSpPr>
          <p:spPr>
            <a:xfrm>
              <a:off x="1619253" y="2349499"/>
              <a:ext cx="4723616" cy="622875"/>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t>应用进程数据先传送到应用层</a:t>
              </a:r>
            </a:p>
          </p:txBody>
        </p:sp>
        <p:sp>
          <p:nvSpPr>
            <p:cNvPr id="35872" name="Text Box 32"/>
            <p:cNvSpPr txBox="1"/>
            <p:nvPr/>
          </p:nvSpPr>
          <p:spPr>
            <a:xfrm>
              <a:off x="1607234" y="3040602"/>
              <a:ext cx="5526806" cy="622875"/>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t>加上应用层首部，成为应用层</a:t>
              </a:r>
              <a:r>
                <a:rPr lang="zh-CN" altLang="zh-CN" sz="1600"/>
                <a:t> </a:t>
              </a:r>
              <a:r>
                <a:rPr lang="zh-CN" altLang="zh-CN" sz="2400"/>
                <a:t>PDU</a:t>
              </a:r>
            </a:p>
          </p:txBody>
        </p:sp>
      </p:grpSp>
      <p:sp>
        <p:nvSpPr>
          <p:cNvPr id="2" name="标题 1"/>
          <p:cNvSpPr>
            <a:spLocks noGrp="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400" kern="1200">
                <a:solidFill>
                  <a:srgbClr val="0070C0"/>
                </a:solidFill>
                <a:latin typeface="微软雅黑" panose="020B0503020204020204" pitchFamily="34" charset="-122"/>
                <a:ea typeface="微软雅黑" panose="020B0503020204020204" pitchFamily="34" charset="-122"/>
                <a:cs typeface="+mj-cs"/>
              </a:rPr>
              <a:t>TCP/IP</a:t>
            </a:r>
            <a:r>
              <a:rPr lang="zh-CN" altLang="en-US" sz="2400" kern="1200">
                <a:solidFill>
                  <a:srgbClr val="0070C0"/>
                </a:solidFill>
                <a:latin typeface="微软雅黑" panose="020B0503020204020204" pitchFamily="34" charset="-122"/>
                <a:ea typeface="微软雅黑" panose="020B0503020204020204" pitchFamily="34" charset="-122"/>
                <a:cs typeface="+mj-cs"/>
              </a:rPr>
              <a:t>通信过程</a:t>
            </a:r>
            <a:endParaRPr lang="zh-CN" altLang="en-US" sz="2000" kern="1200">
              <a:solidFill>
                <a:srgbClr val="0070C0"/>
              </a:solidFill>
              <a:latin typeface="微软雅黑" panose="020B0503020204020204" pitchFamily="34" charset="-122"/>
              <a:ea typeface="微软雅黑" panose="020B0503020204020204" pitchFamily="34" charset="-122"/>
              <a:cs typeface="+mj-cs"/>
            </a:endParaRPr>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89" name="组合 39"/>
          <p:cNvGrpSpPr/>
          <p:nvPr/>
        </p:nvGrpSpPr>
        <p:grpSpPr>
          <a:xfrm>
            <a:off x="503238" y="915988"/>
            <a:ext cx="8166100" cy="3743325"/>
            <a:chOff x="87313" y="1840433"/>
            <a:chExt cx="8991600" cy="4396855"/>
          </a:xfrm>
        </p:grpSpPr>
        <p:sp>
          <p:nvSpPr>
            <p:cNvPr id="37891" name="AutoShape 3"/>
            <p:cNvSpPr/>
            <p:nvPr/>
          </p:nvSpPr>
          <p:spPr>
            <a:xfrm rot="-5400000">
              <a:off x="4374356" y="1532731"/>
              <a:ext cx="417513" cy="8991600"/>
            </a:xfrm>
            <a:prstGeom prst="can">
              <a:avLst>
                <a:gd name="adj" fmla="val 48653"/>
              </a:avLst>
            </a:prstGeom>
            <a:gradFill rotWithShape="0">
              <a:gsLst>
                <a:gs pos="0">
                  <a:srgbClr val="ACACAC"/>
                </a:gs>
                <a:gs pos="50000">
                  <a:srgbClr val="EAEAEA"/>
                </a:gs>
                <a:gs pos="100000">
                  <a:srgbClr val="ACACAC"/>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7892" name="AutoShape 4"/>
            <p:cNvSpPr/>
            <p:nvPr/>
          </p:nvSpPr>
          <p:spPr>
            <a:xfrm>
              <a:off x="533400" y="2847975"/>
              <a:ext cx="838200" cy="2997200"/>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7893" name="Text Box 5"/>
            <p:cNvSpPr txBox="1"/>
            <p:nvPr/>
          </p:nvSpPr>
          <p:spPr>
            <a:xfrm>
              <a:off x="781050" y="3027364"/>
              <a:ext cx="459904" cy="56319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5</a:t>
              </a:r>
            </a:p>
          </p:txBody>
        </p:sp>
        <p:sp>
          <p:nvSpPr>
            <p:cNvPr id="37894" name="Text Box 6"/>
            <p:cNvSpPr txBox="1"/>
            <p:nvPr/>
          </p:nvSpPr>
          <p:spPr>
            <a:xfrm>
              <a:off x="781050" y="3654425"/>
              <a:ext cx="459904" cy="56319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4</a:t>
              </a:r>
            </a:p>
          </p:txBody>
        </p:sp>
        <p:sp>
          <p:nvSpPr>
            <p:cNvPr id="37895" name="Text Box 7"/>
            <p:cNvSpPr txBox="1"/>
            <p:nvPr/>
          </p:nvSpPr>
          <p:spPr>
            <a:xfrm>
              <a:off x="781050" y="4211637"/>
              <a:ext cx="459904" cy="56319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3</a:t>
              </a:r>
            </a:p>
          </p:txBody>
        </p:sp>
        <p:sp>
          <p:nvSpPr>
            <p:cNvPr id="37896" name="Text Box 8"/>
            <p:cNvSpPr txBox="1"/>
            <p:nvPr/>
          </p:nvSpPr>
          <p:spPr>
            <a:xfrm>
              <a:off x="781050" y="4770438"/>
              <a:ext cx="459904" cy="56319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2</a:t>
              </a:r>
            </a:p>
          </p:txBody>
        </p:sp>
        <p:sp>
          <p:nvSpPr>
            <p:cNvPr id="37897" name="Text Box 9"/>
            <p:cNvSpPr txBox="1"/>
            <p:nvPr/>
          </p:nvSpPr>
          <p:spPr>
            <a:xfrm>
              <a:off x="781050" y="5337174"/>
              <a:ext cx="459904" cy="56319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1</a:t>
              </a:r>
            </a:p>
          </p:txBody>
        </p:sp>
        <p:sp>
          <p:nvSpPr>
            <p:cNvPr id="37898" name="未知"/>
            <p:cNvSpPr/>
            <p:nvPr/>
          </p:nvSpPr>
          <p:spPr>
            <a:xfrm>
              <a:off x="533400" y="344963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7899" name="未知"/>
            <p:cNvSpPr/>
            <p:nvPr/>
          </p:nvSpPr>
          <p:spPr>
            <a:xfrm>
              <a:off x="542925" y="40243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7900" name="未知"/>
            <p:cNvSpPr/>
            <p:nvPr/>
          </p:nvSpPr>
          <p:spPr>
            <a:xfrm>
              <a:off x="520700" y="4600575"/>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7901" name="未知"/>
            <p:cNvSpPr/>
            <p:nvPr/>
          </p:nvSpPr>
          <p:spPr>
            <a:xfrm>
              <a:off x="520700" y="5192713"/>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7902" name="AutoShape 14"/>
            <p:cNvSpPr/>
            <p:nvPr/>
          </p:nvSpPr>
          <p:spPr>
            <a:xfrm>
              <a:off x="7886700" y="2814638"/>
              <a:ext cx="838200" cy="3030537"/>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7903" name="Text Box 15"/>
            <p:cNvSpPr txBox="1"/>
            <p:nvPr/>
          </p:nvSpPr>
          <p:spPr>
            <a:xfrm>
              <a:off x="7924800" y="2992437"/>
              <a:ext cx="459904" cy="56319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5</a:t>
              </a:r>
            </a:p>
          </p:txBody>
        </p:sp>
        <p:sp>
          <p:nvSpPr>
            <p:cNvPr id="37904" name="Text Box 16"/>
            <p:cNvSpPr txBox="1"/>
            <p:nvPr/>
          </p:nvSpPr>
          <p:spPr>
            <a:xfrm>
              <a:off x="7924800" y="3619500"/>
              <a:ext cx="459904" cy="56319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4</a:t>
              </a:r>
            </a:p>
          </p:txBody>
        </p:sp>
        <p:sp>
          <p:nvSpPr>
            <p:cNvPr id="37905" name="Text Box 17"/>
            <p:cNvSpPr txBox="1"/>
            <p:nvPr/>
          </p:nvSpPr>
          <p:spPr>
            <a:xfrm>
              <a:off x="7924800" y="4176712"/>
              <a:ext cx="459904" cy="56319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3</a:t>
              </a:r>
            </a:p>
          </p:txBody>
        </p:sp>
        <p:sp>
          <p:nvSpPr>
            <p:cNvPr id="37906" name="Text Box 18"/>
            <p:cNvSpPr txBox="1"/>
            <p:nvPr/>
          </p:nvSpPr>
          <p:spPr>
            <a:xfrm>
              <a:off x="7924800" y="4737100"/>
              <a:ext cx="459904" cy="56319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2</a:t>
              </a:r>
            </a:p>
          </p:txBody>
        </p:sp>
        <p:sp>
          <p:nvSpPr>
            <p:cNvPr id="37907" name="Text Box 19"/>
            <p:cNvSpPr txBox="1"/>
            <p:nvPr/>
          </p:nvSpPr>
          <p:spPr>
            <a:xfrm>
              <a:off x="7924800" y="5302250"/>
              <a:ext cx="459904" cy="56319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1</a:t>
              </a:r>
            </a:p>
          </p:txBody>
        </p:sp>
        <p:sp>
          <p:nvSpPr>
            <p:cNvPr id="37908" name="未知"/>
            <p:cNvSpPr/>
            <p:nvPr/>
          </p:nvSpPr>
          <p:spPr>
            <a:xfrm>
              <a:off x="7886700" y="34147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7909" name="未知"/>
            <p:cNvSpPr/>
            <p:nvPr/>
          </p:nvSpPr>
          <p:spPr>
            <a:xfrm>
              <a:off x="7896225" y="398938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7910" name="未知"/>
            <p:cNvSpPr/>
            <p:nvPr/>
          </p:nvSpPr>
          <p:spPr>
            <a:xfrm>
              <a:off x="7874000" y="4565650"/>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7911" name="未知"/>
            <p:cNvSpPr/>
            <p:nvPr/>
          </p:nvSpPr>
          <p:spPr>
            <a:xfrm>
              <a:off x="7874000" y="5157788"/>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4057" name="Text Box 24"/>
            <p:cNvSpPr txBox="1">
              <a:spLocks noChangeArrowheads="1"/>
            </p:cNvSpPr>
            <p:nvPr/>
          </p:nvSpPr>
          <p:spPr bwMode="auto">
            <a:xfrm>
              <a:off x="394957" y="1840433"/>
              <a:ext cx="1108218" cy="563126"/>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1</a:t>
              </a:r>
            </a:p>
          </p:txBody>
        </p:sp>
        <p:sp>
          <p:nvSpPr>
            <p:cNvPr id="37913" name="AutoShape 25"/>
            <p:cNvSpPr/>
            <p:nvPr/>
          </p:nvSpPr>
          <p:spPr>
            <a:xfrm>
              <a:off x="8034338" y="2317750"/>
              <a:ext cx="685800" cy="557213"/>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7914" name="Text Box 26"/>
            <p:cNvSpPr txBox="1"/>
            <p:nvPr/>
          </p:nvSpPr>
          <p:spPr>
            <a:xfrm>
              <a:off x="7986581" y="2405148"/>
              <a:ext cx="805713" cy="56319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AP</a:t>
              </a:r>
              <a:r>
                <a:rPr lang="zh-CN" altLang="zh-CN" sz="1500" b="1" baseline="-25000">
                  <a:solidFill>
                    <a:srgbClr val="333399"/>
                  </a:solidFill>
                  <a:latin typeface="Arial" panose="020B0604020202090204" pitchFamily="34" charset="0"/>
                  <a:ea typeface="宋体" panose="02010600030101010101" pitchFamily="2" charset="-122"/>
                </a:rPr>
                <a:t>2</a:t>
              </a:r>
              <a:endParaRPr lang="zh-CN" altLang="zh-CN" sz="1500" b="1">
                <a:solidFill>
                  <a:srgbClr val="333399"/>
                </a:solidFill>
                <a:latin typeface="Arial" panose="020B0604020202090204" pitchFamily="34" charset="0"/>
                <a:ea typeface="宋体" panose="02010600030101010101" pitchFamily="2" charset="-122"/>
              </a:endParaRPr>
            </a:p>
          </p:txBody>
        </p:sp>
        <p:sp>
          <p:nvSpPr>
            <p:cNvPr id="37915" name="AutoShape 27"/>
            <p:cNvSpPr/>
            <p:nvPr/>
          </p:nvSpPr>
          <p:spPr>
            <a:xfrm>
              <a:off x="538163" y="2360613"/>
              <a:ext cx="685800" cy="557212"/>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7916" name="Text Box 28"/>
            <p:cNvSpPr txBox="1"/>
            <p:nvPr/>
          </p:nvSpPr>
          <p:spPr>
            <a:xfrm>
              <a:off x="502922" y="2405148"/>
              <a:ext cx="805713" cy="56319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AP</a:t>
              </a:r>
              <a:r>
                <a:rPr lang="zh-CN" altLang="zh-CN" sz="1500" b="1" baseline="-25000">
                  <a:solidFill>
                    <a:srgbClr val="333399"/>
                  </a:solidFill>
                  <a:latin typeface="Arial" panose="020B0604020202090204" pitchFamily="34" charset="0"/>
                  <a:ea typeface="宋体" panose="02010600030101010101" pitchFamily="2" charset="-122"/>
                </a:rPr>
                <a:t>1</a:t>
              </a:r>
              <a:endParaRPr lang="zh-CN" altLang="zh-CN" sz="1500" b="1">
                <a:solidFill>
                  <a:srgbClr val="333399"/>
                </a:solidFill>
                <a:latin typeface="Arial" panose="020B0604020202090204" pitchFamily="34" charset="0"/>
                <a:ea typeface="宋体" panose="02010600030101010101" pitchFamily="2" charset="-122"/>
              </a:endParaRPr>
            </a:p>
          </p:txBody>
        </p:sp>
        <p:sp>
          <p:nvSpPr>
            <p:cNvPr id="37917" name="AutoShape 29"/>
            <p:cNvSpPr/>
            <p:nvPr/>
          </p:nvSpPr>
          <p:spPr>
            <a:xfrm flipV="1">
              <a:off x="654050" y="3354388"/>
              <a:ext cx="196850" cy="361950"/>
            </a:xfrm>
            <a:prstGeom prst="upArrow">
              <a:avLst>
                <a:gd name="adj1" fmla="val 50000"/>
                <a:gd name="adj2" fmla="val 45967"/>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4063" name="Text Box 30"/>
            <p:cNvSpPr txBox="1">
              <a:spLocks noChangeArrowheads="1"/>
            </p:cNvSpPr>
            <p:nvPr/>
          </p:nvSpPr>
          <p:spPr bwMode="auto">
            <a:xfrm>
              <a:off x="7771425" y="1840433"/>
              <a:ext cx="1108218" cy="563126"/>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2</a:t>
              </a:r>
            </a:p>
          </p:txBody>
        </p:sp>
        <p:sp>
          <p:nvSpPr>
            <p:cNvPr id="37919" name="Text Box 31"/>
            <p:cNvSpPr txBox="1"/>
            <p:nvPr/>
          </p:nvSpPr>
          <p:spPr>
            <a:xfrm>
              <a:off x="1619249" y="3068639"/>
              <a:ext cx="4509720" cy="54210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t>应用层 PDU 再传送到运输层</a:t>
              </a:r>
            </a:p>
          </p:txBody>
        </p:sp>
        <p:sp>
          <p:nvSpPr>
            <p:cNvPr id="37920" name="Text Box 32"/>
            <p:cNvSpPr txBox="1"/>
            <p:nvPr/>
          </p:nvSpPr>
          <p:spPr>
            <a:xfrm>
              <a:off x="1619249" y="3600450"/>
              <a:ext cx="5286284" cy="54210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t>加上运输层首部，成为运输层报文</a:t>
              </a:r>
              <a:endParaRPr lang="zh-CN" altLang="zh-CN" sz="3200"/>
            </a:p>
          </p:txBody>
        </p:sp>
      </p:grpSp>
      <p:sp>
        <p:nvSpPr>
          <p:cNvPr id="2" name="标题 1"/>
          <p:cNvSpPr>
            <a:spLocks noGrp="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TCP/IP</a:t>
            </a:r>
            <a:r>
              <a:rPr lang="zh-CN" altLang="en-US" sz="2000" kern="1200">
                <a:solidFill>
                  <a:srgbClr val="0070C0"/>
                </a:solidFill>
                <a:latin typeface="微软雅黑" panose="020B0503020204020204" pitchFamily="34" charset="-122"/>
                <a:ea typeface="微软雅黑" panose="020B0503020204020204" pitchFamily="34" charset="-122"/>
                <a:cs typeface="+mj-cs"/>
              </a:rPr>
              <a:t>通信过程</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913" name="组合 50"/>
          <p:cNvGrpSpPr/>
          <p:nvPr/>
        </p:nvGrpSpPr>
        <p:grpSpPr>
          <a:xfrm>
            <a:off x="323850" y="714375"/>
            <a:ext cx="8540750" cy="3729038"/>
            <a:chOff x="87313" y="1816518"/>
            <a:chExt cx="8991600" cy="4420770"/>
          </a:xfrm>
        </p:grpSpPr>
        <p:sp>
          <p:nvSpPr>
            <p:cNvPr id="38915" name="AutoShape 3"/>
            <p:cNvSpPr/>
            <p:nvPr/>
          </p:nvSpPr>
          <p:spPr>
            <a:xfrm rot="-5400000">
              <a:off x="4374356" y="1532731"/>
              <a:ext cx="417513" cy="8991600"/>
            </a:xfrm>
            <a:prstGeom prst="can">
              <a:avLst>
                <a:gd name="adj" fmla="val 48653"/>
              </a:avLst>
            </a:prstGeom>
            <a:gradFill rotWithShape="0">
              <a:gsLst>
                <a:gs pos="0">
                  <a:srgbClr val="ACACAC"/>
                </a:gs>
                <a:gs pos="50000">
                  <a:srgbClr val="EAEAEA"/>
                </a:gs>
                <a:gs pos="100000">
                  <a:srgbClr val="ACACAC"/>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8916" name="AutoShape 4"/>
            <p:cNvSpPr/>
            <p:nvPr/>
          </p:nvSpPr>
          <p:spPr>
            <a:xfrm>
              <a:off x="533400" y="2847975"/>
              <a:ext cx="838200" cy="2997200"/>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8917" name="Text Box 5"/>
            <p:cNvSpPr txBox="1"/>
            <p:nvPr/>
          </p:nvSpPr>
          <p:spPr>
            <a:xfrm>
              <a:off x="781050" y="3027363"/>
              <a:ext cx="459233" cy="57220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5</a:t>
              </a:r>
            </a:p>
          </p:txBody>
        </p:sp>
        <p:sp>
          <p:nvSpPr>
            <p:cNvPr id="38918" name="Text Box 6"/>
            <p:cNvSpPr txBox="1"/>
            <p:nvPr/>
          </p:nvSpPr>
          <p:spPr>
            <a:xfrm>
              <a:off x="781050" y="3654426"/>
              <a:ext cx="459233" cy="57220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4</a:t>
              </a:r>
            </a:p>
          </p:txBody>
        </p:sp>
        <p:sp>
          <p:nvSpPr>
            <p:cNvPr id="38919" name="Text Box 7"/>
            <p:cNvSpPr txBox="1"/>
            <p:nvPr/>
          </p:nvSpPr>
          <p:spPr>
            <a:xfrm>
              <a:off x="781050" y="4211638"/>
              <a:ext cx="459233" cy="57220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3</a:t>
              </a:r>
            </a:p>
          </p:txBody>
        </p:sp>
        <p:sp>
          <p:nvSpPr>
            <p:cNvPr id="38920" name="Text Box 8"/>
            <p:cNvSpPr txBox="1"/>
            <p:nvPr/>
          </p:nvSpPr>
          <p:spPr>
            <a:xfrm>
              <a:off x="781050" y="4770439"/>
              <a:ext cx="459233" cy="57220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2</a:t>
              </a:r>
            </a:p>
          </p:txBody>
        </p:sp>
        <p:sp>
          <p:nvSpPr>
            <p:cNvPr id="38921" name="Text Box 9"/>
            <p:cNvSpPr txBox="1"/>
            <p:nvPr/>
          </p:nvSpPr>
          <p:spPr>
            <a:xfrm>
              <a:off x="781050" y="5337176"/>
              <a:ext cx="459233" cy="57220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1</a:t>
              </a:r>
            </a:p>
          </p:txBody>
        </p:sp>
        <p:sp>
          <p:nvSpPr>
            <p:cNvPr id="38922" name="未知"/>
            <p:cNvSpPr/>
            <p:nvPr/>
          </p:nvSpPr>
          <p:spPr>
            <a:xfrm>
              <a:off x="533400" y="344963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8923" name="未知"/>
            <p:cNvSpPr/>
            <p:nvPr/>
          </p:nvSpPr>
          <p:spPr>
            <a:xfrm>
              <a:off x="542925" y="40243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8924" name="未知"/>
            <p:cNvSpPr/>
            <p:nvPr/>
          </p:nvSpPr>
          <p:spPr>
            <a:xfrm>
              <a:off x="520700" y="4600575"/>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8925" name="未知"/>
            <p:cNvSpPr/>
            <p:nvPr/>
          </p:nvSpPr>
          <p:spPr>
            <a:xfrm>
              <a:off x="520700" y="5192713"/>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8926" name="AutoShape 14"/>
            <p:cNvSpPr/>
            <p:nvPr/>
          </p:nvSpPr>
          <p:spPr>
            <a:xfrm>
              <a:off x="7886700" y="2814638"/>
              <a:ext cx="838200" cy="3030537"/>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8927" name="Text Box 15"/>
            <p:cNvSpPr txBox="1"/>
            <p:nvPr/>
          </p:nvSpPr>
          <p:spPr>
            <a:xfrm>
              <a:off x="7924800" y="2992437"/>
              <a:ext cx="459233" cy="57220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5</a:t>
              </a:r>
            </a:p>
          </p:txBody>
        </p:sp>
        <p:sp>
          <p:nvSpPr>
            <p:cNvPr id="38928" name="Text Box 16"/>
            <p:cNvSpPr txBox="1"/>
            <p:nvPr/>
          </p:nvSpPr>
          <p:spPr>
            <a:xfrm>
              <a:off x="7924800" y="3619499"/>
              <a:ext cx="459233" cy="57220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4</a:t>
              </a:r>
            </a:p>
          </p:txBody>
        </p:sp>
        <p:sp>
          <p:nvSpPr>
            <p:cNvPr id="38929" name="Text Box 17"/>
            <p:cNvSpPr txBox="1"/>
            <p:nvPr/>
          </p:nvSpPr>
          <p:spPr>
            <a:xfrm>
              <a:off x="7924800" y="4176712"/>
              <a:ext cx="459233" cy="57220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3</a:t>
              </a:r>
            </a:p>
          </p:txBody>
        </p:sp>
        <p:sp>
          <p:nvSpPr>
            <p:cNvPr id="38930" name="Text Box 18"/>
            <p:cNvSpPr txBox="1"/>
            <p:nvPr/>
          </p:nvSpPr>
          <p:spPr>
            <a:xfrm>
              <a:off x="7924800" y="4737100"/>
              <a:ext cx="459233" cy="57220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2</a:t>
              </a:r>
            </a:p>
          </p:txBody>
        </p:sp>
        <p:sp>
          <p:nvSpPr>
            <p:cNvPr id="38931" name="Text Box 19"/>
            <p:cNvSpPr txBox="1"/>
            <p:nvPr/>
          </p:nvSpPr>
          <p:spPr>
            <a:xfrm>
              <a:off x="7924800" y="5302250"/>
              <a:ext cx="459233" cy="57220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1</a:t>
              </a:r>
            </a:p>
          </p:txBody>
        </p:sp>
        <p:sp>
          <p:nvSpPr>
            <p:cNvPr id="38932" name="未知"/>
            <p:cNvSpPr/>
            <p:nvPr/>
          </p:nvSpPr>
          <p:spPr>
            <a:xfrm>
              <a:off x="7886700" y="34147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8933" name="未知"/>
            <p:cNvSpPr/>
            <p:nvPr/>
          </p:nvSpPr>
          <p:spPr>
            <a:xfrm>
              <a:off x="7896225" y="398938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8934" name="未知"/>
            <p:cNvSpPr/>
            <p:nvPr/>
          </p:nvSpPr>
          <p:spPr>
            <a:xfrm>
              <a:off x="7874000" y="4565650"/>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8935" name="未知"/>
            <p:cNvSpPr/>
            <p:nvPr/>
          </p:nvSpPr>
          <p:spPr>
            <a:xfrm>
              <a:off x="7874000" y="5157788"/>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5081" name="Text Box 24"/>
            <p:cNvSpPr txBox="1">
              <a:spLocks noChangeArrowheads="1"/>
            </p:cNvSpPr>
            <p:nvPr/>
          </p:nvSpPr>
          <p:spPr bwMode="auto">
            <a:xfrm>
              <a:off x="394832" y="1816518"/>
              <a:ext cx="1108073" cy="572122"/>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1</a:t>
              </a:r>
            </a:p>
          </p:txBody>
        </p:sp>
        <p:sp>
          <p:nvSpPr>
            <p:cNvPr id="38937" name="AutoShape 25"/>
            <p:cNvSpPr/>
            <p:nvPr/>
          </p:nvSpPr>
          <p:spPr>
            <a:xfrm>
              <a:off x="8034338" y="2317750"/>
              <a:ext cx="685800" cy="557213"/>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8938" name="Text Box 26"/>
            <p:cNvSpPr txBox="1"/>
            <p:nvPr/>
          </p:nvSpPr>
          <p:spPr>
            <a:xfrm>
              <a:off x="7974994" y="2390446"/>
              <a:ext cx="804539" cy="57220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AP</a:t>
              </a:r>
              <a:r>
                <a:rPr lang="zh-CN" altLang="zh-CN" sz="1500" b="1" baseline="-25000">
                  <a:solidFill>
                    <a:srgbClr val="333399"/>
                  </a:solidFill>
                  <a:latin typeface="Arial" panose="020B0604020202090204" pitchFamily="34" charset="0"/>
                  <a:ea typeface="宋体" panose="02010600030101010101" pitchFamily="2" charset="-122"/>
                </a:rPr>
                <a:t>2</a:t>
              </a:r>
              <a:endParaRPr lang="zh-CN" altLang="zh-CN" sz="1500" b="1">
                <a:solidFill>
                  <a:srgbClr val="333399"/>
                </a:solidFill>
                <a:latin typeface="Arial" panose="020B0604020202090204" pitchFamily="34" charset="0"/>
                <a:ea typeface="宋体" panose="02010600030101010101" pitchFamily="2" charset="-122"/>
              </a:endParaRPr>
            </a:p>
          </p:txBody>
        </p:sp>
        <p:sp>
          <p:nvSpPr>
            <p:cNvPr id="38939" name="AutoShape 27"/>
            <p:cNvSpPr/>
            <p:nvPr/>
          </p:nvSpPr>
          <p:spPr>
            <a:xfrm>
              <a:off x="538163" y="2360613"/>
              <a:ext cx="685800" cy="557212"/>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8940" name="Text Box 28"/>
            <p:cNvSpPr txBox="1"/>
            <p:nvPr/>
          </p:nvSpPr>
          <p:spPr>
            <a:xfrm>
              <a:off x="502311" y="2390446"/>
              <a:ext cx="804539" cy="57220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solidFill>
                    <a:srgbClr val="333399"/>
                  </a:solidFill>
                  <a:latin typeface="Arial" panose="020B0604020202090204" pitchFamily="34" charset="0"/>
                  <a:ea typeface="宋体" panose="02010600030101010101" pitchFamily="2" charset="-122"/>
                </a:rPr>
                <a:t>AP</a:t>
              </a:r>
              <a:r>
                <a:rPr lang="zh-CN" altLang="zh-CN" sz="1500" b="1" baseline="-25000">
                  <a:solidFill>
                    <a:srgbClr val="333399"/>
                  </a:solidFill>
                  <a:latin typeface="Arial" panose="020B0604020202090204" pitchFamily="34" charset="0"/>
                  <a:ea typeface="宋体" panose="02010600030101010101" pitchFamily="2" charset="-122"/>
                </a:rPr>
                <a:t>1</a:t>
              </a:r>
              <a:endParaRPr lang="zh-CN" altLang="zh-CN" sz="1500" b="1">
                <a:solidFill>
                  <a:srgbClr val="333399"/>
                </a:solidFill>
                <a:latin typeface="Arial" panose="020B0604020202090204" pitchFamily="34" charset="0"/>
                <a:ea typeface="宋体" panose="02010600030101010101" pitchFamily="2" charset="-122"/>
              </a:endParaRPr>
            </a:p>
          </p:txBody>
        </p:sp>
        <p:sp>
          <p:nvSpPr>
            <p:cNvPr id="38941" name="AutoShape 29"/>
            <p:cNvSpPr/>
            <p:nvPr/>
          </p:nvSpPr>
          <p:spPr>
            <a:xfrm flipV="1">
              <a:off x="654050" y="3930650"/>
              <a:ext cx="196850" cy="361950"/>
            </a:xfrm>
            <a:prstGeom prst="upArrow">
              <a:avLst>
                <a:gd name="adj1" fmla="val 50000"/>
                <a:gd name="adj2" fmla="val 45967"/>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5087" name="Text Box 30"/>
            <p:cNvSpPr txBox="1">
              <a:spLocks noChangeArrowheads="1"/>
            </p:cNvSpPr>
            <p:nvPr/>
          </p:nvSpPr>
          <p:spPr bwMode="auto">
            <a:xfrm>
              <a:off x="7770285" y="1816518"/>
              <a:ext cx="1108072" cy="572122"/>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rgbClr val="333399"/>
                  </a:solidFill>
                  <a:effectLst/>
                  <a:uLnTx/>
                  <a:uFillTx/>
                  <a:latin typeface="Arial" panose="020B0604020202090204" pitchFamily="34" charset="0"/>
                  <a:ea typeface="黑体" panose="02010600030101010101" pitchFamily="49" charset="-122"/>
                  <a:cs typeface="+mn-cs"/>
                </a:rPr>
                <a:t>2</a:t>
              </a:r>
            </a:p>
          </p:txBody>
        </p:sp>
        <p:sp>
          <p:nvSpPr>
            <p:cNvPr id="38943" name="Text Box 31"/>
            <p:cNvSpPr txBox="1"/>
            <p:nvPr/>
          </p:nvSpPr>
          <p:spPr>
            <a:xfrm>
              <a:off x="1547814" y="3625850"/>
              <a:ext cx="5709895" cy="526907"/>
            </a:xfrm>
            <a:prstGeom prst="rect">
              <a:avLst/>
            </a:prstGeom>
            <a:noFill/>
            <a:ln w="9525">
              <a:noFill/>
            </a:ln>
          </p:spPr>
          <p:txBody>
            <a:bodyPr>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t>运输层报文再传送到网络层</a:t>
              </a:r>
            </a:p>
          </p:txBody>
        </p:sp>
        <p:sp>
          <p:nvSpPr>
            <p:cNvPr id="38944" name="Text Box 32"/>
            <p:cNvSpPr txBox="1"/>
            <p:nvPr/>
          </p:nvSpPr>
          <p:spPr>
            <a:xfrm>
              <a:off x="1547814" y="4221163"/>
              <a:ext cx="5472738" cy="948432"/>
            </a:xfrm>
            <a:prstGeom prst="rect">
              <a:avLst/>
            </a:prstGeom>
            <a:noFill/>
            <a:ln w="9525">
              <a:noFill/>
            </a:ln>
          </p:spPr>
          <p:txBody>
            <a:bodyPr>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t>加上网络层首部，</a:t>
              </a:r>
              <a:endParaRPr lang="en-US" altLang="zh-CN" sz="2400"/>
            </a:p>
            <a:p>
              <a:pPr marL="0" lvl="0" indent="0" defTabSz="762000">
                <a:lnSpc>
                  <a:spcPct val="100000"/>
                </a:lnSpc>
                <a:spcBef>
                  <a:spcPct val="0"/>
                </a:spcBef>
                <a:buFontTx/>
                <a:buNone/>
              </a:pPr>
              <a:r>
                <a:rPr lang="zh-CN" altLang="zh-CN" sz="2400"/>
                <a:t>成为 IP 数据报（或分组）</a:t>
              </a:r>
            </a:p>
          </p:txBody>
        </p:sp>
      </p:grpSp>
      <p:sp>
        <p:nvSpPr>
          <p:cNvPr id="2" name="标题 1"/>
          <p:cNvSpPr>
            <a:spLocks noGrp="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TCP/IP</a:t>
            </a:r>
            <a:r>
              <a:rPr lang="zh-CN" altLang="en-US" sz="2000" kern="1200">
                <a:solidFill>
                  <a:srgbClr val="0070C0"/>
                </a:solidFill>
                <a:latin typeface="微软雅黑" panose="020B0503020204020204" pitchFamily="34" charset="-122"/>
                <a:ea typeface="微软雅黑" panose="020B0503020204020204" pitchFamily="34" charset="-122"/>
                <a:cs typeface="+mj-cs"/>
              </a:rPr>
              <a:t>通信过程</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937" name="组合 39"/>
          <p:cNvGrpSpPr/>
          <p:nvPr/>
        </p:nvGrpSpPr>
        <p:grpSpPr>
          <a:xfrm>
            <a:off x="323850" y="704850"/>
            <a:ext cx="8550275" cy="3738563"/>
            <a:chOff x="87313" y="1864100"/>
            <a:chExt cx="8991600" cy="4373188"/>
          </a:xfrm>
        </p:grpSpPr>
        <p:sp>
          <p:nvSpPr>
            <p:cNvPr id="39939" name="AutoShape 3"/>
            <p:cNvSpPr/>
            <p:nvPr/>
          </p:nvSpPr>
          <p:spPr>
            <a:xfrm rot="-5400000">
              <a:off x="4374356" y="1532731"/>
              <a:ext cx="417513" cy="8991600"/>
            </a:xfrm>
            <a:prstGeom prst="can">
              <a:avLst>
                <a:gd name="adj" fmla="val 48653"/>
              </a:avLst>
            </a:prstGeom>
            <a:gradFill rotWithShape="0">
              <a:gsLst>
                <a:gs pos="0">
                  <a:srgbClr val="ACACAC"/>
                </a:gs>
                <a:gs pos="50000">
                  <a:srgbClr val="EAEAEA"/>
                </a:gs>
                <a:gs pos="100000">
                  <a:srgbClr val="ACACAC"/>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9940" name="AutoShape 4"/>
            <p:cNvSpPr/>
            <p:nvPr/>
          </p:nvSpPr>
          <p:spPr>
            <a:xfrm>
              <a:off x="533400" y="2847975"/>
              <a:ext cx="838200" cy="2997200"/>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9941" name="Text Box 5"/>
            <p:cNvSpPr txBox="1"/>
            <p:nvPr/>
          </p:nvSpPr>
          <p:spPr>
            <a:xfrm>
              <a:off x="781050" y="3027363"/>
              <a:ext cx="307153" cy="37804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39942" name="Text Box 6"/>
            <p:cNvSpPr txBox="1"/>
            <p:nvPr/>
          </p:nvSpPr>
          <p:spPr>
            <a:xfrm>
              <a:off x="781050" y="3654426"/>
              <a:ext cx="307153" cy="37804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39943" name="Text Box 7"/>
            <p:cNvSpPr txBox="1"/>
            <p:nvPr/>
          </p:nvSpPr>
          <p:spPr>
            <a:xfrm>
              <a:off x="781050" y="4211639"/>
              <a:ext cx="307153" cy="37804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39944" name="Text Box 8"/>
            <p:cNvSpPr txBox="1"/>
            <p:nvPr/>
          </p:nvSpPr>
          <p:spPr>
            <a:xfrm>
              <a:off x="781050" y="4770437"/>
              <a:ext cx="307153" cy="37804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39945" name="Text Box 9"/>
            <p:cNvSpPr txBox="1"/>
            <p:nvPr/>
          </p:nvSpPr>
          <p:spPr>
            <a:xfrm>
              <a:off x="781050" y="5337174"/>
              <a:ext cx="307153" cy="37804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39946" name="未知"/>
            <p:cNvSpPr/>
            <p:nvPr/>
          </p:nvSpPr>
          <p:spPr>
            <a:xfrm>
              <a:off x="533400" y="344963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9947" name="未知"/>
            <p:cNvSpPr/>
            <p:nvPr/>
          </p:nvSpPr>
          <p:spPr>
            <a:xfrm>
              <a:off x="542925" y="40243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9948" name="未知"/>
            <p:cNvSpPr/>
            <p:nvPr/>
          </p:nvSpPr>
          <p:spPr>
            <a:xfrm>
              <a:off x="520700" y="4600575"/>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9949" name="未知"/>
            <p:cNvSpPr/>
            <p:nvPr/>
          </p:nvSpPr>
          <p:spPr>
            <a:xfrm>
              <a:off x="520700" y="5192713"/>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9950" name="AutoShape 14"/>
            <p:cNvSpPr/>
            <p:nvPr/>
          </p:nvSpPr>
          <p:spPr>
            <a:xfrm>
              <a:off x="7886700" y="2814638"/>
              <a:ext cx="838200" cy="3030537"/>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9951" name="Text Box 15"/>
            <p:cNvSpPr txBox="1"/>
            <p:nvPr/>
          </p:nvSpPr>
          <p:spPr>
            <a:xfrm>
              <a:off x="7924800" y="2992438"/>
              <a:ext cx="307153" cy="37804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39952" name="Text Box 16"/>
            <p:cNvSpPr txBox="1"/>
            <p:nvPr/>
          </p:nvSpPr>
          <p:spPr>
            <a:xfrm>
              <a:off x="7924800" y="3619501"/>
              <a:ext cx="307153" cy="37804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39953" name="Text Box 17"/>
            <p:cNvSpPr txBox="1"/>
            <p:nvPr/>
          </p:nvSpPr>
          <p:spPr>
            <a:xfrm>
              <a:off x="7924800" y="4176713"/>
              <a:ext cx="307153" cy="37804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39954" name="Text Box 18"/>
            <p:cNvSpPr txBox="1"/>
            <p:nvPr/>
          </p:nvSpPr>
          <p:spPr>
            <a:xfrm>
              <a:off x="7924800" y="4737099"/>
              <a:ext cx="307153" cy="37804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39955" name="Text Box 19"/>
            <p:cNvSpPr txBox="1"/>
            <p:nvPr/>
          </p:nvSpPr>
          <p:spPr>
            <a:xfrm>
              <a:off x="7924800" y="5302249"/>
              <a:ext cx="307153" cy="37804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39956" name="未知"/>
            <p:cNvSpPr/>
            <p:nvPr/>
          </p:nvSpPr>
          <p:spPr>
            <a:xfrm>
              <a:off x="7886700" y="34147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9957" name="未知"/>
            <p:cNvSpPr/>
            <p:nvPr/>
          </p:nvSpPr>
          <p:spPr>
            <a:xfrm>
              <a:off x="7896225" y="398938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9958" name="未知"/>
            <p:cNvSpPr/>
            <p:nvPr/>
          </p:nvSpPr>
          <p:spPr>
            <a:xfrm>
              <a:off x="7874000" y="4565650"/>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39959" name="未知"/>
            <p:cNvSpPr/>
            <p:nvPr/>
          </p:nvSpPr>
          <p:spPr>
            <a:xfrm>
              <a:off x="7874000" y="5157788"/>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6105" name="Text Box 24"/>
            <p:cNvSpPr txBox="1">
              <a:spLocks noChangeArrowheads="1"/>
            </p:cNvSpPr>
            <p:nvPr/>
          </p:nvSpPr>
          <p:spPr bwMode="auto">
            <a:xfrm>
              <a:off x="394490" y="1864100"/>
              <a:ext cx="741231" cy="378824"/>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1</a:t>
              </a:r>
            </a:p>
          </p:txBody>
        </p:sp>
        <p:sp>
          <p:nvSpPr>
            <p:cNvPr id="39961" name="AutoShape 25"/>
            <p:cNvSpPr/>
            <p:nvPr/>
          </p:nvSpPr>
          <p:spPr>
            <a:xfrm>
              <a:off x="8034338" y="2317750"/>
              <a:ext cx="685800" cy="557213"/>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9962" name="Text Box 26"/>
            <p:cNvSpPr txBox="1"/>
            <p:nvPr/>
          </p:nvSpPr>
          <p:spPr>
            <a:xfrm>
              <a:off x="7986583" y="2337224"/>
              <a:ext cx="538107" cy="37804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2</a:t>
              </a:r>
              <a:endParaRPr lang="zh-CN" altLang="zh-CN" sz="1500" b="1">
                <a:latin typeface="Arial" panose="020B0604020202090204" pitchFamily="34" charset="0"/>
                <a:ea typeface="宋体" panose="02010600030101010101" pitchFamily="2" charset="-122"/>
              </a:endParaRPr>
            </a:p>
          </p:txBody>
        </p:sp>
        <p:sp>
          <p:nvSpPr>
            <p:cNvPr id="39963" name="AutoShape 27"/>
            <p:cNvSpPr/>
            <p:nvPr/>
          </p:nvSpPr>
          <p:spPr>
            <a:xfrm>
              <a:off x="538163" y="2360613"/>
              <a:ext cx="685800" cy="557212"/>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39964" name="Text Box 28"/>
            <p:cNvSpPr txBox="1"/>
            <p:nvPr/>
          </p:nvSpPr>
          <p:spPr>
            <a:xfrm>
              <a:off x="502923" y="2431850"/>
              <a:ext cx="538107" cy="37804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1</a:t>
              </a:r>
              <a:endParaRPr lang="zh-CN" altLang="zh-CN" sz="1500" b="1">
                <a:latin typeface="Arial" panose="020B0604020202090204" pitchFamily="34" charset="0"/>
                <a:ea typeface="宋体" panose="02010600030101010101" pitchFamily="2" charset="-122"/>
              </a:endParaRPr>
            </a:p>
          </p:txBody>
        </p:sp>
        <p:sp>
          <p:nvSpPr>
            <p:cNvPr id="39965" name="AutoShape 29"/>
            <p:cNvSpPr/>
            <p:nvPr/>
          </p:nvSpPr>
          <p:spPr>
            <a:xfrm flipV="1">
              <a:off x="654050" y="4506913"/>
              <a:ext cx="196850" cy="361950"/>
            </a:xfrm>
            <a:prstGeom prst="upArrow">
              <a:avLst>
                <a:gd name="adj1" fmla="val 50000"/>
                <a:gd name="adj2" fmla="val 45967"/>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6111" name="Text Box 30"/>
            <p:cNvSpPr txBox="1">
              <a:spLocks noChangeArrowheads="1"/>
            </p:cNvSpPr>
            <p:nvPr/>
          </p:nvSpPr>
          <p:spPr bwMode="auto">
            <a:xfrm>
              <a:off x="7770073" y="1864100"/>
              <a:ext cx="741231" cy="378824"/>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2</a:t>
              </a:r>
            </a:p>
          </p:txBody>
        </p:sp>
        <p:sp>
          <p:nvSpPr>
            <p:cNvPr id="39967" name="Text Box 31"/>
            <p:cNvSpPr txBox="1"/>
            <p:nvPr/>
          </p:nvSpPr>
          <p:spPr>
            <a:xfrm>
              <a:off x="1619249" y="4195764"/>
              <a:ext cx="4466894" cy="540058"/>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t>IP 数据报再传送到数据链路层</a:t>
              </a:r>
            </a:p>
          </p:txBody>
        </p:sp>
        <p:sp>
          <p:nvSpPr>
            <p:cNvPr id="39968" name="Text Box 32"/>
            <p:cNvSpPr txBox="1"/>
            <p:nvPr/>
          </p:nvSpPr>
          <p:spPr>
            <a:xfrm>
              <a:off x="1619249" y="4752975"/>
              <a:ext cx="3754610" cy="97210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t>加上链路层首部和尾部，</a:t>
              </a:r>
              <a:endParaRPr lang="en-US" altLang="zh-CN" sz="2400"/>
            </a:p>
            <a:p>
              <a:pPr marL="0" lvl="0" indent="0" defTabSz="762000">
                <a:lnSpc>
                  <a:spcPct val="100000"/>
                </a:lnSpc>
                <a:spcBef>
                  <a:spcPct val="0"/>
                </a:spcBef>
                <a:buFontTx/>
                <a:buNone/>
              </a:pPr>
              <a:r>
                <a:rPr lang="zh-CN" altLang="zh-CN" sz="2400"/>
                <a:t>成为数据链路层帧</a:t>
              </a:r>
            </a:p>
          </p:txBody>
        </p:sp>
      </p:grpSp>
      <p:sp>
        <p:nvSpPr>
          <p:cNvPr id="2" name="标题 1"/>
          <p:cNvSpPr>
            <a:spLocks noGrp="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TCP/IP</a:t>
            </a:r>
            <a:r>
              <a:rPr lang="zh-CN" altLang="en-US" sz="2000" kern="1200">
                <a:solidFill>
                  <a:srgbClr val="0070C0"/>
                </a:solidFill>
                <a:latin typeface="微软雅黑" panose="020B0503020204020204" pitchFamily="34" charset="-122"/>
                <a:ea typeface="微软雅黑" panose="020B0503020204020204" pitchFamily="34" charset="-122"/>
                <a:cs typeface="+mj-cs"/>
              </a:rPr>
              <a:t>通信过程</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1" name="组合 50"/>
          <p:cNvGrpSpPr/>
          <p:nvPr/>
        </p:nvGrpSpPr>
        <p:grpSpPr>
          <a:xfrm>
            <a:off x="250825" y="679450"/>
            <a:ext cx="8788400" cy="3836988"/>
            <a:chOff x="87313" y="1864100"/>
            <a:chExt cx="8991600" cy="4373188"/>
          </a:xfrm>
        </p:grpSpPr>
        <p:sp>
          <p:nvSpPr>
            <p:cNvPr id="40963" name="AutoShape 3"/>
            <p:cNvSpPr/>
            <p:nvPr/>
          </p:nvSpPr>
          <p:spPr>
            <a:xfrm rot="-5400000">
              <a:off x="4374356" y="1532731"/>
              <a:ext cx="417513" cy="8991600"/>
            </a:xfrm>
            <a:prstGeom prst="can">
              <a:avLst>
                <a:gd name="adj" fmla="val 48653"/>
              </a:avLst>
            </a:prstGeom>
            <a:gradFill rotWithShape="0">
              <a:gsLst>
                <a:gs pos="0">
                  <a:srgbClr val="ACACAC"/>
                </a:gs>
                <a:gs pos="50000">
                  <a:srgbClr val="EAEAEA"/>
                </a:gs>
                <a:gs pos="100000">
                  <a:srgbClr val="ACACAC"/>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0964" name="AutoShape 4"/>
            <p:cNvSpPr/>
            <p:nvPr/>
          </p:nvSpPr>
          <p:spPr>
            <a:xfrm>
              <a:off x="533400" y="2847975"/>
              <a:ext cx="838200" cy="2997200"/>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0965" name="Text Box 5"/>
            <p:cNvSpPr txBox="1"/>
            <p:nvPr/>
          </p:nvSpPr>
          <p:spPr>
            <a:xfrm>
              <a:off x="781050" y="3027362"/>
              <a:ext cx="298851" cy="36835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40966" name="Text Box 6"/>
            <p:cNvSpPr txBox="1"/>
            <p:nvPr/>
          </p:nvSpPr>
          <p:spPr>
            <a:xfrm>
              <a:off x="781050" y="3654426"/>
              <a:ext cx="298851" cy="36835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40967" name="Text Box 7"/>
            <p:cNvSpPr txBox="1"/>
            <p:nvPr/>
          </p:nvSpPr>
          <p:spPr>
            <a:xfrm>
              <a:off x="781050" y="4211639"/>
              <a:ext cx="298851" cy="36835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40968" name="Text Box 8"/>
            <p:cNvSpPr txBox="1"/>
            <p:nvPr/>
          </p:nvSpPr>
          <p:spPr>
            <a:xfrm>
              <a:off x="781050" y="4770436"/>
              <a:ext cx="298851" cy="36835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40969" name="Text Box 9"/>
            <p:cNvSpPr txBox="1"/>
            <p:nvPr/>
          </p:nvSpPr>
          <p:spPr>
            <a:xfrm>
              <a:off x="781050" y="5337174"/>
              <a:ext cx="298851" cy="36835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40970" name="未知"/>
            <p:cNvSpPr/>
            <p:nvPr/>
          </p:nvSpPr>
          <p:spPr>
            <a:xfrm>
              <a:off x="533400" y="344963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0971" name="未知"/>
            <p:cNvSpPr/>
            <p:nvPr/>
          </p:nvSpPr>
          <p:spPr>
            <a:xfrm>
              <a:off x="542925" y="40243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0972" name="未知"/>
            <p:cNvSpPr/>
            <p:nvPr/>
          </p:nvSpPr>
          <p:spPr>
            <a:xfrm>
              <a:off x="520700" y="4600575"/>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0973" name="未知"/>
            <p:cNvSpPr/>
            <p:nvPr/>
          </p:nvSpPr>
          <p:spPr>
            <a:xfrm>
              <a:off x="520700" y="5192713"/>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0974" name="AutoShape 14"/>
            <p:cNvSpPr/>
            <p:nvPr/>
          </p:nvSpPr>
          <p:spPr>
            <a:xfrm>
              <a:off x="7886700" y="2814638"/>
              <a:ext cx="838200" cy="3030537"/>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0975" name="Text Box 15"/>
            <p:cNvSpPr txBox="1"/>
            <p:nvPr/>
          </p:nvSpPr>
          <p:spPr>
            <a:xfrm>
              <a:off x="7924800" y="2992438"/>
              <a:ext cx="298851" cy="36835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40976" name="Text Box 16"/>
            <p:cNvSpPr txBox="1"/>
            <p:nvPr/>
          </p:nvSpPr>
          <p:spPr>
            <a:xfrm>
              <a:off x="7924800" y="3619501"/>
              <a:ext cx="298851" cy="36835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40977" name="Text Box 17"/>
            <p:cNvSpPr txBox="1"/>
            <p:nvPr/>
          </p:nvSpPr>
          <p:spPr>
            <a:xfrm>
              <a:off x="7924800" y="4176713"/>
              <a:ext cx="298851" cy="36835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40978" name="Text Box 18"/>
            <p:cNvSpPr txBox="1"/>
            <p:nvPr/>
          </p:nvSpPr>
          <p:spPr>
            <a:xfrm>
              <a:off x="7924800" y="4737099"/>
              <a:ext cx="298851" cy="36835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40979" name="Text Box 19"/>
            <p:cNvSpPr txBox="1"/>
            <p:nvPr/>
          </p:nvSpPr>
          <p:spPr>
            <a:xfrm>
              <a:off x="7924800" y="5302250"/>
              <a:ext cx="298851" cy="36835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40980" name="未知"/>
            <p:cNvSpPr/>
            <p:nvPr/>
          </p:nvSpPr>
          <p:spPr>
            <a:xfrm>
              <a:off x="7886700" y="34147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0981" name="未知"/>
            <p:cNvSpPr/>
            <p:nvPr/>
          </p:nvSpPr>
          <p:spPr>
            <a:xfrm>
              <a:off x="7896225" y="398938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0982" name="未知"/>
            <p:cNvSpPr/>
            <p:nvPr/>
          </p:nvSpPr>
          <p:spPr>
            <a:xfrm>
              <a:off x="7874000" y="4565650"/>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0983" name="未知"/>
            <p:cNvSpPr/>
            <p:nvPr/>
          </p:nvSpPr>
          <p:spPr>
            <a:xfrm>
              <a:off x="7874000" y="5157788"/>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7129" name="Text Box 24"/>
            <p:cNvSpPr txBox="1">
              <a:spLocks noChangeArrowheads="1"/>
            </p:cNvSpPr>
            <p:nvPr/>
          </p:nvSpPr>
          <p:spPr bwMode="auto">
            <a:xfrm>
              <a:off x="395912" y="1864100"/>
              <a:ext cx="719523" cy="369106"/>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1</a:t>
              </a:r>
            </a:p>
          </p:txBody>
        </p:sp>
        <p:sp>
          <p:nvSpPr>
            <p:cNvPr id="40985" name="AutoShape 25"/>
            <p:cNvSpPr/>
            <p:nvPr/>
          </p:nvSpPr>
          <p:spPr>
            <a:xfrm>
              <a:off x="8034338" y="2317750"/>
              <a:ext cx="685800" cy="557213"/>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0986" name="Text Box 26"/>
            <p:cNvSpPr txBox="1"/>
            <p:nvPr/>
          </p:nvSpPr>
          <p:spPr>
            <a:xfrm>
              <a:off x="7974994" y="2337224"/>
              <a:ext cx="523563" cy="36835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2</a:t>
              </a:r>
              <a:endParaRPr lang="zh-CN" altLang="zh-CN" sz="1500" b="1">
                <a:latin typeface="Arial" panose="020B0604020202090204" pitchFamily="34" charset="0"/>
                <a:ea typeface="宋体" panose="02010600030101010101" pitchFamily="2" charset="-122"/>
              </a:endParaRPr>
            </a:p>
          </p:txBody>
        </p:sp>
        <p:sp>
          <p:nvSpPr>
            <p:cNvPr id="40987" name="AutoShape 27"/>
            <p:cNvSpPr/>
            <p:nvPr/>
          </p:nvSpPr>
          <p:spPr>
            <a:xfrm>
              <a:off x="538163" y="2360613"/>
              <a:ext cx="685800" cy="557212"/>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0988" name="Text Box 28"/>
            <p:cNvSpPr txBox="1"/>
            <p:nvPr/>
          </p:nvSpPr>
          <p:spPr>
            <a:xfrm>
              <a:off x="502311" y="2431850"/>
              <a:ext cx="523563" cy="36835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1</a:t>
              </a:r>
              <a:endParaRPr lang="zh-CN" altLang="zh-CN" sz="1500" b="1">
                <a:latin typeface="Arial" panose="020B0604020202090204" pitchFamily="34" charset="0"/>
                <a:ea typeface="宋体" panose="02010600030101010101" pitchFamily="2" charset="-122"/>
              </a:endParaRPr>
            </a:p>
          </p:txBody>
        </p:sp>
        <p:sp>
          <p:nvSpPr>
            <p:cNvPr id="40989" name="AutoShape 29"/>
            <p:cNvSpPr/>
            <p:nvPr/>
          </p:nvSpPr>
          <p:spPr>
            <a:xfrm flipV="1">
              <a:off x="654050" y="5083175"/>
              <a:ext cx="196850" cy="361950"/>
            </a:xfrm>
            <a:prstGeom prst="upArrow">
              <a:avLst>
                <a:gd name="adj1" fmla="val 50000"/>
                <a:gd name="adj2" fmla="val 45967"/>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7135" name="Text Box 30"/>
            <p:cNvSpPr txBox="1">
              <a:spLocks noChangeArrowheads="1"/>
            </p:cNvSpPr>
            <p:nvPr/>
          </p:nvSpPr>
          <p:spPr bwMode="auto">
            <a:xfrm>
              <a:off x="7771428" y="1864100"/>
              <a:ext cx="719522" cy="369106"/>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2</a:t>
              </a:r>
            </a:p>
          </p:txBody>
        </p:sp>
        <p:sp>
          <p:nvSpPr>
            <p:cNvPr id="40991" name="Text Box 31"/>
            <p:cNvSpPr txBox="1"/>
            <p:nvPr/>
          </p:nvSpPr>
          <p:spPr>
            <a:xfrm>
              <a:off x="1520389" y="4686980"/>
              <a:ext cx="4282975" cy="52622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t>数据链路层帧再传送到物理层</a:t>
              </a:r>
            </a:p>
          </p:txBody>
        </p:sp>
        <p:sp>
          <p:nvSpPr>
            <p:cNvPr id="40992" name="Text Box 32"/>
            <p:cNvSpPr txBox="1"/>
            <p:nvPr/>
          </p:nvSpPr>
          <p:spPr>
            <a:xfrm>
              <a:off x="1520389" y="5160104"/>
              <a:ext cx="5857599" cy="52622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t>最下面的物理层把比特流传送到物理媒体</a:t>
              </a:r>
            </a:p>
          </p:txBody>
        </p:sp>
      </p:grpSp>
      <p:sp>
        <p:nvSpPr>
          <p:cNvPr id="2" name="标题 1"/>
          <p:cNvSpPr>
            <a:spLocks noGrp="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TCP/IP</a:t>
            </a:r>
            <a:r>
              <a:rPr lang="zh-CN" altLang="en-US" sz="2000" kern="1200">
                <a:solidFill>
                  <a:srgbClr val="0070C0"/>
                </a:solidFill>
                <a:latin typeface="微软雅黑" panose="020B0503020204020204" pitchFamily="34" charset="-122"/>
                <a:ea typeface="微软雅黑" panose="020B0503020204020204" pitchFamily="34" charset="-122"/>
                <a:cs typeface="+mj-cs"/>
              </a:rPr>
              <a:t>通信过程</a:t>
            </a:r>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5" name="组合 39"/>
          <p:cNvGrpSpPr/>
          <p:nvPr/>
        </p:nvGrpSpPr>
        <p:grpSpPr>
          <a:xfrm>
            <a:off x="250825" y="679450"/>
            <a:ext cx="8482013" cy="3781425"/>
            <a:chOff x="34925" y="1841882"/>
            <a:chExt cx="8991600" cy="4395406"/>
          </a:xfrm>
        </p:grpSpPr>
        <p:sp>
          <p:nvSpPr>
            <p:cNvPr id="41987" name="AutoShape 4"/>
            <p:cNvSpPr/>
            <p:nvPr/>
          </p:nvSpPr>
          <p:spPr>
            <a:xfrm rot="-5400000">
              <a:off x="4321968" y="1532731"/>
              <a:ext cx="417513" cy="8991600"/>
            </a:xfrm>
            <a:prstGeom prst="can">
              <a:avLst>
                <a:gd name="adj" fmla="val 48653"/>
              </a:avLst>
            </a:prstGeom>
            <a:gradFill rotWithShape="0">
              <a:gsLst>
                <a:gs pos="0">
                  <a:srgbClr val="ACACAC"/>
                </a:gs>
                <a:gs pos="50000">
                  <a:srgbClr val="EAEAEA"/>
                </a:gs>
                <a:gs pos="100000">
                  <a:srgbClr val="ACACAC"/>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1988" name="AutoShape 5"/>
            <p:cNvSpPr/>
            <p:nvPr/>
          </p:nvSpPr>
          <p:spPr>
            <a:xfrm>
              <a:off x="533400" y="2847975"/>
              <a:ext cx="838200" cy="2997200"/>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1989" name="Text Box 6"/>
            <p:cNvSpPr txBox="1"/>
            <p:nvPr/>
          </p:nvSpPr>
          <p:spPr>
            <a:xfrm>
              <a:off x="781049" y="3027362"/>
              <a:ext cx="309629" cy="375606"/>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41990" name="Text Box 7"/>
            <p:cNvSpPr txBox="1"/>
            <p:nvPr/>
          </p:nvSpPr>
          <p:spPr>
            <a:xfrm>
              <a:off x="781049" y="3654424"/>
              <a:ext cx="309629" cy="375606"/>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41991" name="Text Box 8"/>
            <p:cNvSpPr txBox="1"/>
            <p:nvPr/>
          </p:nvSpPr>
          <p:spPr>
            <a:xfrm>
              <a:off x="781049" y="4211638"/>
              <a:ext cx="309629" cy="375606"/>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41992" name="Text Box 9"/>
            <p:cNvSpPr txBox="1"/>
            <p:nvPr/>
          </p:nvSpPr>
          <p:spPr>
            <a:xfrm>
              <a:off x="781049" y="4770439"/>
              <a:ext cx="309629" cy="375606"/>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41993" name="Text Box 10"/>
            <p:cNvSpPr txBox="1"/>
            <p:nvPr/>
          </p:nvSpPr>
          <p:spPr>
            <a:xfrm>
              <a:off x="781049" y="5337176"/>
              <a:ext cx="309629" cy="375606"/>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41994" name="未知"/>
            <p:cNvSpPr/>
            <p:nvPr/>
          </p:nvSpPr>
          <p:spPr>
            <a:xfrm>
              <a:off x="533400" y="344963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1995" name="未知"/>
            <p:cNvSpPr/>
            <p:nvPr/>
          </p:nvSpPr>
          <p:spPr>
            <a:xfrm>
              <a:off x="542925" y="40243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1996" name="未知"/>
            <p:cNvSpPr/>
            <p:nvPr/>
          </p:nvSpPr>
          <p:spPr>
            <a:xfrm>
              <a:off x="520700" y="4600575"/>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1997" name="未知"/>
            <p:cNvSpPr/>
            <p:nvPr/>
          </p:nvSpPr>
          <p:spPr>
            <a:xfrm>
              <a:off x="520700" y="5192713"/>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1998" name="AutoShape 15"/>
            <p:cNvSpPr/>
            <p:nvPr/>
          </p:nvSpPr>
          <p:spPr>
            <a:xfrm>
              <a:off x="7886700" y="2814638"/>
              <a:ext cx="838200" cy="3030537"/>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1999" name="Text Box 16"/>
            <p:cNvSpPr txBox="1"/>
            <p:nvPr/>
          </p:nvSpPr>
          <p:spPr>
            <a:xfrm>
              <a:off x="7924800" y="2992437"/>
              <a:ext cx="309629" cy="375606"/>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42000" name="Text Box 17"/>
            <p:cNvSpPr txBox="1"/>
            <p:nvPr/>
          </p:nvSpPr>
          <p:spPr>
            <a:xfrm>
              <a:off x="7924800" y="3619501"/>
              <a:ext cx="309629" cy="375606"/>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42001" name="Text Box 18"/>
            <p:cNvSpPr txBox="1"/>
            <p:nvPr/>
          </p:nvSpPr>
          <p:spPr>
            <a:xfrm>
              <a:off x="7924800" y="4176712"/>
              <a:ext cx="309629" cy="375606"/>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42002" name="Text Box 19"/>
            <p:cNvSpPr txBox="1"/>
            <p:nvPr/>
          </p:nvSpPr>
          <p:spPr>
            <a:xfrm>
              <a:off x="7924800" y="4737099"/>
              <a:ext cx="309629" cy="375606"/>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42003" name="Text Box 20"/>
            <p:cNvSpPr txBox="1"/>
            <p:nvPr/>
          </p:nvSpPr>
          <p:spPr>
            <a:xfrm>
              <a:off x="7924800" y="5302249"/>
              <a:ext cx="309629" cy="375606"/>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42004" name="未知"/>
            <p:cNvSpPr/>
            <p:nvPr/>
          </p:nvSpPr>
          <p:spPr>
            <a:xfrm>
              <a:off x="7886700" y="34147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2005" name="未知"/>
            <p:cNvSpPr/>
            <p:nvPr/>
          </p:nvSpPr>
          <p:spPr>
            <a:xfrm>
              <a:off x="7896225" y="398938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2006" name="未知"/>
            <p:cNvSpPr/>
            <p:nvPr/>
          </p:nvSpPr>
          <p:spPr>
            <a:xfrm>
              <a:off x="7874000" y="4565650"/>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2007" name="未知"/>
            <p:cNvSpPr/>
            <p:nvPr/>
          </p:nvSpPr>
          <p:spPr>
            <a:xfrm>
              <a:off x="7874000" y="5157788"/>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2008" name="AutoShape 25"/>
            <p:cNvSpPr/>
            <p:nvPr/>
          </p:nvSpPr>
          <p:spPr>
            <a:xfrm flipV="1">
              <a:off x="696913" y="5730875"/>
              <a:ext cx="395287" cy="419100"/>
            </a:xfrm>
            <a:custGeom>
              <a:avLst/>
              <a:gdLst>
                <a:gd name="txL" fmla="*/ 12427 w 21600"/>
                <a:gd name="txT" fmla="*/ 2912 h 21600"/>
                <a:gd name="txR" fmla="*/ 18227 w 21600"/>
                <a:gd name="txB" fmla="*/ 9246 h 21600"/>
              </a:gdLst>
              <a:ahLst/>
              <a:cxnLst>
                <a:cxn ang="17694720">
                  <a:pos x="2147483646" y="0"/>
                </a:cxn>
                <a:cxn ang="5898240">
                  <a:pos x="2147483646" y="2147483646"/>
                </a:cxn>
                <a:cxn ang="5898240">
                  <a:pos x="2147483646" y="2147483646"/>
                </a:cxn>
                <a:cxn ang="0">
                  <a:pos x="2147483646" y="2147483646"/>
                </a:cxn>
              </a:cxnLst>
              <a:rect l="txL" t="txT" r="txR" b="txB"/>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hlink">
                <a:alpha val="100000"/>
              </a:schemeClr>
            </a:solidFill>
            <a:ln w="12700"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42009" name="Text Box 26"/>
            <p:cNvSpPr txBox="1"/>
            <p:nvPr/>
          </p:nvSpPr>
          <p:spPr>
            <a:xfrm>
              <a:off x="3851275" y="5827712"/>
              <a:ext cx="1419328" cy="375606"/>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黑体" panose="02010600030101010101" pitchFamily="49" charset="-122"/>
                  <a:ea typeface="黑体" panose="02010600030101010101" pitchFamily="49" charset="-122"/>
                </a:rPr>
                <a:t>物理传输媒体</a:t>
              </a:r>
            </a:p>
          </p:txBody>
        </p:sp>
        <p:sp>
          <p:nvSpPr>
            <p:cNvPr id="42010" name="AutoShape 27"/>
            <p:cNvSpPr/>
            <p:nvPr/>
          </p:nvSpPr>
          <p:spPr>
            <a:xfrm rot="5400000">
              <a:off x="3310731" y="5831681"/>
              <a:ext cx="179387" cy="393700"/>
            </a:xfrm>
            <a:prstGeom prst="upArrow">
              <a:avLst>
                <a:gd name="adj1" fmla="val 50000"/>
                <a:gd name="adj2" fmla="val 54867"/>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2011" name="AutoShape 28"/>
            <p:cNvSpPr/>
            <p:nvPr/>
          </p:nvSpPr>
          <p:spPr>
            <a:xfrm rot="5400000">
              <a:off x="6047581" y="5831681"/>
              <a:ext cx="179387" cy="393700"/>
            </a:xfrm>
            <a:prstGeom prst="upArrow">
              <a:avLst>
                <a:gd name="adj1" fmla="val 50000"/>
                <a:gd name="adj2" fmla="val 54867"/>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8157" name="Text Box 29"/>
            <p:cNvSpPr txBox="1">
              <a:spLocks noChangeArrowheads="1"/>
            </p:cNvSpPr>
            <p:nvPr/>
          </p:nvSpPr>
          <p:spPr bwMode="auto">
            <a:xfrm>
              <a:off x="395060" y="1841882"/>
              <a:ext cx="747196" cy="376433"/>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1</a:t>
              </a:r>
            </a:p>
          </p:txBody>
        </p:sp>
        <p:sp>
          <p:nvSpPr>
            <p:cNvPr id="42013" name="AutoShape 30"/>
            <p:cNvSpPr/>
            <p:nvPr/>
          </p:nvSpPr>
          <p:spPr>
            <a:xfrm>
              <a:off x="8034338" y="2317750"/>
              <a:ext cx="685800" cy="557213"/>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2014" name="Text Box 31"/>
            <p:cNvSpPr txBox="1"/>
            <p:nvPr/>
          </p:nvSpPr>
          <p:spPr>
            <a:xfrm>
              <a:off x="8007522" y="2400430"/>
              <a:ext cx="542445" cy="375606"/>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2</a:t>
              </a:r>
              <a:endParaRPr lang="zh-CN" altLang="zh-CN" sz="1500" b="1">
                <a:latin typeface="Arial" panose="020B0604020202090204" pitchFamily="34" charset="0"/>
                <a:ea typeface="宋体" panose="02010600030101010101" pitchFamily="2" charset="-122"/>
              </a:endParaRPr>
            </a:p>
          </p:txBody>
        </p:sp>
        <p:sp>
          <p:nvSpPr>
            <p:cNvPr id="42015" name="AutoShape 32"/>
            <p:cNvSpPr/>
            <p:nvPr/>
          </p:nvSpPr>
          <p:spPr>
            <a:xfrm>
              <a:off x="538163" y="2360613"/>
              <a:ext cx="685800" cy="557212"/>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2016" name="Text Box 33"/>
            <p:cNvSpPr txBox="1"/>
            <p:nvPr/>
          </p:nvSpPr>
          <p:spPr>
            <a:xfrm>
              <a:off x="534841" y="2400430"/>
              <a:ext cx="542445" cy="375606"/>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1</a:t>
              </a:r>
              <a:endParaRPr lang="zh-CN" altLang="zh-CN" sz="1500" b="1">
                <a:latin typeface="Arial" panose="020B0604020202090204" pitchFamily="34" charset="0"/>
                <a:ea typeface="宋体" panose="02010600030101010101" pitchFamily="2" charset="-122"/>
              </a:endParaRPr>
            </a:p>
          </p:txBody>
        </p:sp>
        <p:grpSp>
          <p:nvGrpSpPr>
            <p:cNvPr id="42017" name="Group 34"/>
            <p:cNvGrpSpPr/>
            <p:nvPr/>
          </p:nvGrpSpPr>
          <p:grpSpPr>
            <a:xfrm>
              <a:off x="1619250" y="5959475"/>
              <a:ext cx="1066800" cy="139700"/>
              <a:chOff x="0" y="0"/>
              <a:chExt cx="672" cy="96"/>
            </a:xfrm>
          </p:grpSpPr>
          <p:sp>
            <p:nvSpPr>
              <p:cNvPr id="42024" name="Line 35"/>
              <p:cNvSpPr/>
              <p:nvPr/>
            </p:nvSpPr>
            <p:spPr>
              <a:xfrm>
                <a:off x="0" y="48"/>
                <a:ext cx="672" cy="0"/>
              </a:xfrm>
              <a:prstGeom prst="line">
                <a:avLst/>
              </a:prstGeom>
              <a:ln w="12700" cap="flat" cmpd="sng">
                <a:solidFill>
                  <a:schemeClr val="tx1"/>
                </a:solidFill>
                <a:prstDash val="solid"/>
                <a:headEnd type="none" w="med" len="med"/>
                <a:tailEnd type="none" w="med" len="med"/>
              </a:ln>
            </p:spPr>
          </p:sp>
          <p:sp>
            <p:nvSpPr>
              <p:cNvPr id="42025" name="未知"/>
              <p:cNvSpPr/>
              <p:nvPr/>
            </p:nvSpPr>
            <p:spPr>
              <a:xfrm>
                <a:off x="48" y="0"/>
                <a:ext cx="576" cy="96"/>
              </a:xfrm>
              <a:custGeom>
                <a:avLst/>
                <a:gdLst>
                  <a:gd name="txL" fmla="*/ 0 w 576"/>
                  <a:gd name="txT" fmla="*/ 0 h 192"/>
                  <a:gd name="txR" fmla="*/ 576 w 576"/>
                  <a:gd name="txB" fmla="*/ 192 h 192"/>
                </a:gdLst>
                <a:ahLst/>
                <a:cxnLst>
                  <a:cxn ang="0">
                    <a:pos x="0" y="1"/>
                  </a:cxn>
                  <a:cxn ang="0">
                    <a:pos x="0" y="0"/>
                  </a:cxn>
                  <a:cxn ang="0">
                    <a:pos x="192" y="0"/>
                  </a:cxn>
                  <a:cxn ang="0">
                    <a:pos x="192" y="2"/>
                  </a:cxn>
                  <a:cxn ang="0">
                    <a:pos x="288" y="2"/>
                  </a:cxn>
                  <a:cxn ang="0">
                    <a:pos x="288" y="0"/>
                  </a:cxn>
                  <a:cxn ang="0">
                    <a:pos x="336" y="0"/>
                  </a:cxn>
                  <a:cxn ang="0">
                    <a:pos x="336" y="2"/>
                  </a:cxn>
                  <a:cxn ang="0">
                    <a:pos x="480" y="2"/>
                  </a:cxn>
                  <a:cxn ang="0">
                    <a:pos x="480" y="0"/>
                  </a:cxn>
                  <a:cxn ang="0">
                    <a:pos x="576" y="0"/>
                  </a:cxn>
                  <a:cxn ang="0">
                    <a:pos x="576" y="1"/>
                  </a:cxn>
                  <a:cxn ang="0">
                    <a:pos x="0" y="1"/>
                  </a:cxn>
                </a:cxnLst>
                <a:rect l="txL" t="txT" r="txR" b="txB"/>
                <a:pathLst>
                  <a:path w="576" h="192">
                    <a:moveTo>
                      <a:pt x="0" y="96"/>
                    </a:moveTo>
                    <a:lnTo>
                      <a:pt x="0" y="0"/>
                    </a:lnTo>
                    <a:lnTo>
                      <a:pt x="192" y="0"/>
                    </a:lnTo>
                    <a:lnTo>
                      <a:pt x="192" y="192"/>
                    </a:lnTo>
                    <a:lnTo>
                      <a:pt x="288" y="192"/>
                    </a:lnTo>
                    <a:lnTo>
                      <a:pt x="288" y="0"/>
                    </a:lnTo>
                    <a:lnTo>
                      <a:pt x="336" y="0"/>
                    </a:lnTo>
                    <a:lnTo>
                      <a:pt x="336" y="192"/>
                    </a:lnTo>
                    <a:lnTo>
                      <a:pt x="480" y="192"/>
                    </a:lnTo>
                    <a:lnTo>
                      <a:pt x="480" y="0"/>
                    </a:lnTo>
                    <a:lnTo>
                      <a:pt x="576" y="0"/>
                    </a:lnTo>
                    <a:lnTo>
                      <a:pt x="576" y="96"/>
                    </a:lnTo>
                    <a:lnTo>
                      <a:pt x="0" y="96"/>
                    </a:lnTo>
                    <a:close/>
                  </a:path>
                </a:pathLst>
              </a:custGeom>
              <a:solidFill>
                <a:schemeClr val="tx2">
                  <a:alpha val="100000"/>
                </a:schemeClr>
              </a:solidFill>
              <a:ln w="12700" cap="flat" cmpd="sng">
                <a:solidFill>
                  <a:schemeClr val="tx1">
                    <a:alpha val="100000"/>
                  </a:schemeClr>
                </a:solidFill>
                <a:prstDash val="solid"/>
                <a:round/>
                <a:headEnd type="none" w="med" len="med"/>
                <a:tailEnd type="none" w="med" len="med"/>
              </a:ln>
            </p:spPr>
            <p:txBody>
              <a:bodyPr/>
              <a:lstStyle/>
              <a:p>
                <a:endParaRPr lang="zh-CN" altLang="en-US"/>
              </a:p>
            </p:txBody>
          </p:sp>
        </p:grpSp>
        <p:grpSp>
          <p:nvGrpSpPr>
            <p:cNvPr id="42018" name="Group 37"/>
            <p:cNvGrpSpPr/>
            <p:nvPr/>
          </p:nvGrpSpPr>
          <p:grpSpPr>
            <a:xfrm>
              <a:off x="6600825" y="5957888"/>
              <a:ext cx="1066800" cy="142875"/>
              <a:chOff x="0" y="0"/>
              <a:chExt cx="672" cy="90"/>
            </a:xfrm>
          </p:grpSpPr>
          <p:sp>
            <p:nvSpPr>
              <p:cNvPr id="42022" name="Line 38"/>
              <p:cNvSpPr/>
              <p:nvPr/>
            </p:nvSpPr>
            <p:spPr>
              <a:xfrm>
                <a:off x="0" y="45"/>
                <a:ext cx="672" cy="0"/>
              </a:xfrm>
              <a:prstGeom prst="line">
                <a:avLst/>
              </a:prstGeom>
              <a:ln w="12700" cap="flat" cmpd="sng">
                <a:solidFill>
                  <a:schemeClr val="tx1"/>
                </a:solidFill>
                <a:prstDash val="solid"/>
                <a:headEnd type="none" w="med" len="med"/>
                <a:tailEnd type="none" w="med" len="med"/>
              </a:ln>
            </p:spPr>
          </p:sp>
          <p:sp>
            <p:nvSpPr>
              <p:cNvPr id="42023" name="未知"/>
              <p:cNvSpPr/>
              <p:nvPr/>
            </p:nvSpPr>
            <p:spPr>
              <a:xfrm>
                <a:off x="51" y="0"/>
                <a:ext cx="576" cy="90"/>
              </a:xfrm>
              <a:custGeom>
                <a:avLst/>
                <a:gdLst>
                  <a:gd name="txL" fmla="*/ 0 w 576"/>
                  <a:gd name="txT" fmla="*/ 0 h 99"/>
                  <a:gd name="txR" fmla="*/ 576 w 576"/>
                  <a:gd name="txB" fmla="*/ 99 h 99"/>
                </a:gdLst>
                <a:ahLst/>
                <a:cxnLst>
                  <a:cxn ang="0">
                    <a:pos x="0" y="26"/>
                  </a:cxn>
                  <a:cxn ang="0">
                    <a:pos x="0" y="3"/>
                  </a:cxn>
                  <a:cxn ang="0">
                    <a:pos x="135" y="3"/>
                  </a:cxn>
                  <a:cxn ang="0">
                    <a:pos x="138" y="51"/>
                  </a:cxn>
                  <a:cxn ang="0">
                    <a:pos x="264" y="50"/>
                  </a:cxn>
                  <a:cxn ang="0">
                    <a:pos x="264" y="0"/>
                  </a:cxn>
                  <a:cxn ang="0">
                    <a:pos x="426" y="0"/>
                  </a:cxn>
                  <a:cxn ang="0">
                    <a:pos x="426" y="51"/>
                  </a:cxn>
                  <a:cxn ang="0">
                    <a:pos x="480" y="51"/>
                  </a:cxn>
                  <a:cxn ang="0">
                    <a:pos x="480" y="3"/>
                  </a:cxn>
                  <a:cxn ang="0">
                    <a:pos x="576" y="3"/>
                  </a:cxn>
                  <a:cxn ang="0">
                    <a:pos x="576" y="26"/>
                  </a:cxn>
                  <a:cxn ang="0">
                    <a:pos x="0" y="26"/>
                  </a:cxn>
                </a:cxnLst>
                <a:rect l="txL" t="txT" r="txR" b="txB"/>
                <a:pathLst>
                  <a:path w="576" h="99">
                    <a:moveTo>
                      <a:pt x="0" y="51"/>
                    </a:moveTo>
                    <a:lnTo>
                      <a:pt x="0" y="3"/>
                    </a:lnTo>
                    <a:lnTo>
                      <a:pt x="135" y="3"/>
                    </a:lnTo>
                    <a:lnTo>
                      <a:pt x="138" y="99"/>
                    </a:lnTo>
                    <a:lnTo>
                      <a:pt x="264" y="98"/>
                    </a:lnTo>
                    <a:lnTo>
                      <a:pt x="264" y="0"/>
                    </a:lnTo>
                    <a:lnTo>
                      <a:pt x="426" y="0"/>
                    </a:lnTo>
                    <a:lnTo>
                      <a:pt x="426" y="99"/>
                    </a:lnTo>
                    <a:lnTo>
                      <a:pt x="480" y="99"/>
                    </a:lnTo>
                    <a:lnTo>
                      <a:pt x="480" y="3"/>
                    </a:lnTo>
                    <a:lnTo>
                      <a:pt x="576" y="3"/>
                    </a:lnTo>
                    <a:lnTo>
                      <a:pt x="576" y="51"/>
                    </a:lnTo>
                    <a:lnTo>
                      <a:pt x="0" y="51"/>
                    </a:lnTo>
                    <a:close/>
                  </a:path>
                </a:pathLst>
              </a:custGeom>
              <a:solidFill>
                <a:schemeClr val="tx2">
                  <a:alpha val="100000"/>
                </a:schemeClr>
              </a:solidFill>
              <a:ln w="12700" cap="flat" cmpd="sng">
                <a:solidFill>
                  <a:schemeClr val="tx1">
                    <a:alpha val="100000"/>
                  </a:schemeClr>
                </a:solidFill>
                <a:prstDash val="solid"/>
                <a:round/>
                <a:headEnd type="none" w="med" len="med"/>
                <a:tailEnd type="none" w="med" len="med"/>
              </a:ln>
            </p:spPr>
            <p:txBody>
              <a:bodyPr/>
              <a:lstStyle/>
              <a:p>
                <a:endParaRPr lang="zh-CN" altLang="en-US"/>
              </a:p>
            </p:txBody>
          </p:sp>
        </p:grpSp>
        <p:sp>
          <p:nvSpPr>
            <p:cNvPr id="42019" name="Text Box 40"/>
            <p:cNvSpPr txBox="1"/>
            <p:nvPr/>
          </p:nvSpPr>
          <p:spPr>
            <a:xfrm>
              <a:off x="1754691" y="4718062"/>
              <a:ext cx="5742569" cy="965845"/>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latin typeface="Times New Roman" panose="02020503050405090304" pitchFamily="18" charset="0"/>
                  <a:ea typeface="黑体" panose="02010600030101010101" pitchFamily="49" charset="-122"/>
                </a:rPr>
                <a:t>电信号（或光信号）在物理媒体中传播</a:t>
              </a:r>
            </a:p>
            <a:p>
              <a:pPr marL="0" lvl="0" indent="0" defTabSz="762000">
                <a:lnSpc>
                  <a:spcPct val="100000"/>
                </a:lnSpc>
                <a:spcBef>
                  <a:spcPct val="0"/>
                </a:spcBef>
                <a:buFontTx/>
                <a:buNone/>
              </a:pPr>
              <a:r>
                <a:rPr lang="zh-CN" altLang="zh-CN" sz="2400">
                  <a:latin typeface="Times New Roman" panose="02020503050405090304" pitchFamily="18" charset="0"/>
                  <a:ea typeface="黑体" panose="02010600030101010101" pitchFamily="49" charset="-122"/>
                </a:rPr>
                <a:t>从发送端物理层传送到接收端物理层</a:t>
              </a:r>
            </a:p>
          </p:txBody>
        </p:sp>
        <p:sp>
          <p:nvSpPr>
            <p:cNvPr id="48165" name="Text Box 41"/>
            <p:cNvSpPr txBox="1">
              <a:spLocks noChangeArrowheads="1"/>
            </p:cNvSpPr>
            <p:nvPr/>
          </p:nvSpPr>
          <p:spPr bwMode="auto">
            <a:xfrm>
              <a:off x="7771100" y="1841882"/>
              <a:ext cx="745513" cy="376433"/>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2</a:t>
              </a:r>
            </a:p>
          </p:txBody>
        </p:sp>
        <p:sp>
          <p:nvSpPr>
            <p:cNvPr id="42021" name="AutoShape 42"/>
            <p:cNvSpPr/>
            <p:nvPr/>
          </p:nvSpPr>
          <p:spPr>
            <a:xfrm rot="5400000" flipH="1">
              <a:off x="8071644" y="5679281"/>
              <a:ext cx="431800" cy="395288"/>
            </a:xfrm>
            <a:custGeom>
              <a:avLst/>
              <a:gdLst>
                <a:gd name="txL" fmla="*/ 12427 w 21600"/>
                <a:gd name="txT" fmla="*/ 2912 h 21600"/>
                <a:gd name="txR" fmla="*/ 18227 w 21600"/>
                <a:gd name="txB" fmla="*/ 9246 h 21600"/>
              </a:gdLst>
              <a:ahLst/>
              <a:cxnLst>
                <a:cxn ang="17694720">
                  <a:pos x="2147483646" y="0"/>
                </a:cxn>
                <a:cxn ang="5898240">
                  <a:pos x="2147483646" y="2147483646"/>
                </a:cxn>
                <a:cxn ang="5898240">
                  <a:pos x="2147483646" y="2147483646"/>
                </a:cxn>
                <a:cxn ang="0">
                  <a:pos x="2147483646" y="2147483646"/>
                </a:cxn>
              </a:cxnLst>
              <a:rect l="txL" t="txT" r="txR" b="txB"/>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hlink">
                <a:alpha val="100000"/>
              </a:schemeClr>
            </a:solidFill>
            <a:ln w="12700" cap="flat" cmpd="sng">
              <a:solidFill>
                <a:schemeClr val="tx1">
                  <a:alpha val="100000"/>
                </a:schemeClr>
              </a:solidFill>
              <a:prstDash val="solid"/>
              <a:miter lim="800000"/>
              <a:headEnd type="none" w="med" len="med"/>
              <a:tailEnd type="none" w="med" len="med"/>
            </a:ln>
          </p:spPr>
          <p:txBody>
            <a:bodyPr/>
            <a:lstStyle/>
            <a:p>
              <a:endParaRPr lang="zh-CN" altLang="en-US"/>
            </a:p>
          </p:txBody>
        </p:sp>
      </p:grpSp>
      <p:sp>
        <p:nvSpPr>
          <p:cNvPr id="2" name="标题 1"/>
          <p:cNvSpPr>
            <a:spLocks noGrp="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TCP/IP</a:t>
            </a:r>
            <a:r>
              <a:rPr lang="zh-CN" altLang="en-US" sz="2000" kern="1200">
                <a:solidFill>
                  <a:srgbClr val="0070C0"/>
                </a:solidFill>
                <a:latin typeface="微软雅黑" panose="020B0503020204020204" pitchFamily="34" charset="-122"/>
                <a:ea typeface="微软雅黑" panose="020B0503020204020204" pitchFamily="34" charset="-122"/>
                <a:cs typeface="+mj-cs"/>
              </a:rPr>
              <a:t>通信过程</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09" name="组合 50"/>
          <p:cNvGrpSpPr/>
          <p:nvPr/>
        </p:nvGrpSpPr>
        <p:grpSpPr>
          <a:xfrm>
            <a:off x="323850" y="681038"/>
            <a:ext cx="8599488" cy="3835400"/>
            <a:chOff x="87313" y="1841882"/>
            <a:chExt cx="8991600" cy="4395406"/>
          </a:xfrm>
        </p:grpSpPr>
        <p:sp>
          <p:nvSpPr>
            <p:cNvPr id="43011" name="AutoShape 3"/>
            <p:cNvSpPr/>
            <p:nvPr/>
          </p:nvSpPr>
          <p:spPr>
            <a:xfrm rot="-5400000">
              <a:off x="4374356" y="1532731"/>
              <a:ext cx="417513" cy="8991600"/>
            </a:xfrm>
            <a:prstGeom prst="can">
              <a:avLst>
                <a:gd name="adj" fmla="val 48653"/>
              </a:avLst>
            </a:prstGeom>
            <a:gradFill rotWithShape="0">
              <a:gsLst>
                <a:gs pos="0">
                  <a:srgbClr val="ACACAC"/>
                </a:gs>
                <a:gs pos="50000">
                  <a:srgbClr val="EAEAEA"/>
                </a:gs>
                <a:gs pos="100000">
                  <a:srgbClr val="ACACAC"/>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3012" name="AutoShape 4"/>
            <p:cNvSpPr/>
            <p:nvPr/>
          </p:nvSpPr>
          <p:spPr>
            <a:xfrm>
              <a:off x="533400" y="2847975"/>
              <a:ext cx="838200" cy="2997200"/>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3013" name="Text Box 5"/>
            <p:cNvSpPr txBox="1"/>
            <p:nvPr/>
          </p:nvSpPr>
          <p:spPr>
            <a:xfrm>
              <a:off x="781050" y="3027363"/>
              <a:ext cx="305354" cy="37033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43014" name="Text Box 6"/>
            <p:cNvSpPr txBox="1"/>
            <p:nvPr/>
          </p:nvSpPr>
          <p:spPr>
            <a:xfrm>
              <a:off x="781050" y="3654424"/>
              <a:ext cx="305354" cy="37033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43015" name="Text Box 7"/>
            <p:cNvSpPr txBox="1"/>
            <p:nvPr/>
          </p:nvSpPr>
          <p:spPr>
            <a:xfrm>
              <a:off x="781050" y="4211638"/>
              <a:ext cx="305354" cy="37033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43016" name="Text Box 8"/>
            <p:cNvSpPr txBox="1"/>
            <p:nvPr/>
          </p:nvSpPr>
          <p:spPr>
            <a:xfrm>
              <a:off x="781050" y="4770438"/>
              <a:ext cx="305354" cy="37033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43017" name="Text Box 9"/>
            <p:cNvSpPr txBox="1"/>
            <p:nvPr/>
          </p:nvSpPr>
          <p:spPr>
            <a:xfrm>
              <a:off x="781050" y="5337177"/>
              <a:ext cx="305354" cy="37033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43018" name="未知"/>
            <p:cNvSpPr/>
            <p:nvPr/>
          </p:nvSpPr>
          <p:spPr>
            <a:xfrm>
              <a:off x="533400" y="344963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3019" name="未知"/>
            <p:cNvSpPr/>
            <p:nvPr/>
          </p:nvSpPr>
          <p:spPr>
            <a:xfrm>
              <a:off x="542925" y="40243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3020" name="未知"/>
            <p:cNvSpPr/>
            <p:nvPr/>
          </p:nvSpPr>
          <p:spPr>
            <a:xfrm>
              <a:off x="520700" y="4600575"/>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3021" name="未知"/>
            <p:cNvSpPr/>
            <p:nvPr/>
          </p:nvSpPr>
          <p:spPr>
            <a:xfrm>
              <a:off x="520700" y="5192713"/>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3022" name="AutoShape 14"/>
            <p:cNvSpPr/>
            <p:nvPr/>
          </p:nvSpPr>
          <p:spPr>
            <a:xfrm>
              <a:off x="7886700" y="2814638"/>
              <a:ext cx="838200" cy="3030537"/>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3023" name="Text Box 15"/>
            <p:cNvSpPr txBox="1"/>
            <p:nvPr/>
          </p:nvSpPr>
          <p:spPr>
            <a:xfrm>
              <a:off x="7924800" y="2992436"/>
              <a:ext cx="305354" cy="37033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43024" name="Text Box 16"/>
            <p:cNvSpPr txBox="1"/>
            <p:nvPr/>
          </p:nvSpPr>
          <p:spPr>
            <a:xfrm>
              <a:off x="7924800" y="3619500"/>
              <a:ext cx="305354" cy="37033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43025" name="Text Box 17"/>
            <p:cNvSpPr txBox="1"/>
            <p:nvPr/>
          </p:nvSpPr>
          <p:spPr>
            <a:xfrm>
              <a:off x="7924800" y="4176712"/>
              <a:ext cx="305354" cy="37033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43026" name="Text Box 18"/>
            <p:cNvSpPr txBox="1"/>
            <p:nvPr/>
          </p:nvSpPr>
          <p:spPr>
            <a:xfrm>
              <a:off x="7924800" y="4737100"/>
              <a:ext cx="305354" cy="37033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43027" name="Text Box 19"/>
            <p:cNvSpPr txBox="1"/>
            <p:nvPr/>
          </p:nvSpPr>
          <p:spPr>
            <a:xfrm>
              <a:off x="7924800" y="5302250"/>
              <a:ext cx="305354" cy="37033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43028" name="未知"/>
            <p:cNvSpPr/>
            <p:nvPr/>
          </p:nvSpPr>
          <p:spPr>
            <a:xfrm>
              <a:off x="7886700" y="34147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3029" name="未知"/>
            <p:cNvSpPr/>
            <p:nvPr/>
          </p:nvSpPr>
          <p:spPr>
            <a:xfrm>
              <a:off x="7896225" y="398938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3030" name="未知"/>
            <p:cNvSpPr/>
            <p:nvPr/>
          </p:nvSpPr>
          <p:spPr>
            <a:xfrm>
              <a:off x="7874000" y="4565650"/>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3031" name="未知"/>
            <p:cNvSpPr/>
            <p:nvPr/>
          </p:nvSpPr>
          <p:spPr>
            <a:xfrm>
              <a:off x="7874000" y="5157788"/>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7" name="Text Box 24"/>
            <p:cNvSpPr txBox="1">
              <a:spLocks noChangeArrowheads="1"/>
            </p:cNvSpPr>
            <p:nvPr/>
          </p:nvSpPr>
          <p:spPr bwMode="auto">
            <a:xfrm>
              <a:off x="396052" y="1841882"/>
              <a:ext cx="735330" cy="371135"/>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1</a:t>
              </a:r>
            </a:p>
          </p:txBody>
        </p:sp>
        <p:sp>
          <p:nvSpPr>
            <p:cNvPr id="43033" name="AutoShape 25"/>
            <p:cNvSpPr/>
            <p:nvPr/>
          </p:nvSpPr>
          <p:spPr>
            <a:xfrm>
              <a:off x="8034338" y="2317750"/>
              <a:ext cx="685800" cy="557213"/>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3034" name="Text Box 26"/>
            <p:cNvSpPr txBox="1"/>
            <p:nvPr/>
          </p:nvSpPr>
          <p:spPr>
            <a:xfrm>
              <a:off x="7974994" y="2400430"/>
              <a:ext cx="534956" cy="37033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2</a:t>
              </a:r>
              <a:endParaRPr lang="zh-CN" altLang="zh-CN" sz="1500" b="1">
                <a:latin typeface="Arial" panose="020B0604020202090204" pitchFamily="34" charset="0"/>
                <a:ea typeface="宋体" panose="02010600030101010101" pitchFamily="2" charset="-122"/>
              </a:endParaRPr>
            </a:p>
          </p:txBody>
        </p:sp>
        <p:sp>
          <p:nvSpPr>
            <p:cNvPr id="43035" name="AutoShape 27"/>
            <p:cNvSpPr/>
            <p:nvPr/>
          </p:nvSpPr>
          <p:spPr>
            <a:xfrm>
              <a:off x="538163" y="2360613"/>
              <a:ext cx="685800" cy="557212"/>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3036" name="Text Box 28"/>
            <p:cNvSpPr txBox="1"/>
            <p:nvPr/>
          </p:nvSpPr>
          <p:spPr>
            <a:xfrm>
              <a:off x="502311" y="2400430"/>
              <a:ext cx="534956" cy="37033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1</a:t>
              </a:r>
              <a:endParaRPr lang="zh-CN" altLang="zh-CN" sz="1500" b="1">
                <a:latin typeface="Arial" panose="020B0604020202090204" pitchFamily="34" charset="0"/>
                <a:ea typeface="宋体" panose="02010600030101010101" pitchFamily="2" charset="-122"/>
              </a:endParaRPr>
            </a:p>
          </p:txBody>
        </p:sp>
        <p:sp>
          <p:nvSpPr>
            <p:cNvPr id="49182" name="Text Box 29"/>
            <p:cNvSpPr txBox="1">
              <a:spLocks noChangeArrowheads="1"/>
            </p:cNvSpPr>
            <p:nvPr/>
          </p:nvSpPr>
          <p:spPr bwMode="auto">
            <a:xfrm>
              <a:off x="7770923" y="1841882"/>
              <a:ext cx="735329" cy="371135"/>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2</a:t>
              </a:r>
            </a:p>
          </p:txBody>
        </p:sp>
        <p:sp>
          <p:nvSpPr>
            <p:cNvPr id="43038" name="Text Box 30"/>
            <p:cNvSpPr txBox="1"/>
            <p:nvPr/>
          </p:nvSpPr>
          <p:spPr>
            <a:xfrm>
              <a:off x="1864095" y="5072648"/>
              <a:ext cx="5985061" cy="52905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latin typeface="Arial" panose="020B0604020202090204" pitchFamily="34" charset="0"/>
                  <a:ea typeface="黑体" panose="02010600030101010101" pitchFamily="49" charset="-122"/>
                </a:rPr>
                <a:t>物理层接收到比特流，上交给数据链路层</a:t>
              </a:r>
            </a:p>
          </p:txBody>
        </p:sp>
        <p:sp>
          <p:nvSpPr>
            <p:cNvPr id="43039" name="AutoShape 31"/>
            <p:cNvSpPr/>
            <p:nvPr/>
          </p:nvSpPr>
          <p:spPr>
            <a:xfrm rot="-10800000" flipV="1">
              <a:off x="8305800" y="5078413"/>
              <a:ext cx="196850" cy="396875"/>
            </a:xfrm>
            <a:prstGeom prst="upArrow">
              <a:avLst>
                <a:gd name="adj1" fmla="val 50000"/>
                <a:gd name="adj2" fmla="val 50403"/>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grpSp>
      <p:sp>
        <p:nvSpPr>
          <p:cNvPr id="2" name="标题 1"/>
          <p:cNvSpPr>
            <a:spLocks noGrp="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TCP/IP</a:t>
            </a:r>
            <a:r>
              <a:rPr lang="zh-CN" altLang="en-US" sz="2000" kern="1200">
                <a:solidFill>
                  <a:srgbClr val="0070C0"/>
                </a:solidFill>
                <a:latin typeface="微软雅黑" panose="020B0503020204020204" pitchFamily="34" charset="-122"/>
                <a:ea typeface="微软雅黑" panose="020B0503020204020204" pitchFamily="34" charset="-122"/>
                <a:cs typeface="+mj-cs"/>
              </a:rPr>
              <a:t>通信过程</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3" name="组合 38"/>
          <p:cNvGrpSpPr/>
          <p:nvPr/>
        </p:nvGrpSpPr>
        <p:grpSpPr>
          <a:xfrm>
            <a:off x="250825" y="679450"/>
            <a:ext cx="8604250" cy="3836988"/>
            <a:chOff x="87313" y="1841882"/>
            <a:chExt cx="8991600" cy="4395406"/>
          </a:xfrm>
        </p:grpSpPr>
        <p:sp>
          <p:nvSpPr>
            <p:cNvPr id="44035" name="AutoShape 3"/>
            <p:cNvSpPr/>
            <p:nvPr/>
          </p:nvSpPr>
          <p:spPr>
            <a:xfrm rot="-5400000">
              <a:off x="4374356" y="1532731"/>
              <a:ext cx="417513" cy="8991600"/>
            </a:xfrm>
            <a:prstGeom prst="can">
              <a:avLst>
                <a:gd name="adj" fmla="val 48653"/>
              </a:avLst>
            </a:prstGeom>
            <a:gradFill rotWithShape="0">
              <a:gsLst>
                <a:gs pos="0">
                  <a:srgbClr val="ACACAC"/>
                </a:gs>
                <a:gs pos="50000">
                  <a:srgbClr val="EAEAEA"/>
                </a:gs>
                <a:gs pos="100000">
                  <a:srgbClr val="ACACAC"/>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4036" name="AutoShape 4"/>
            <p:cNvSpPr/>
            <p:nvPr/>
          </p:nvSpPr>
          <p:spPr>
            <a:xfrm>
              <a:off x="533400" y="2847975"/>
              <a:ext cx="838200" cy="2997200"/>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4037" name="Text Box 5"/>
            <p:cNvSpPr txBox="1"/>
            <p:nvPr/>
          </p:nvSpPr>
          <p:spPr>
            <a:xfrm>
              <a:off x="781050" y="3027364"/>
              <a:ext cx="305264"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44038" name="Text Box 6"/>
            <p:cNvSpPr txBox="1"/>
            <p:nvPr/>
          </p:nvSpPr>
          <p:spPr>
            <a:xfrm>
              <a:off x="781050" y="3654424"/>
              <a:ext cx="305264"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44039" name="Text Box 7"/>
            <p:cNvSpPr txBox="1"/>
            <p:nvPr/>
          </p:nvSpPr>
          <p:spPr>
            <a:xfrm>
              <a:off x="781050" y="4211638"/>
              <a:ext cx="305264"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44040" name="Text Box 8"/>
            <p:cNvSpPr txBox="1"/>
            <p:nvPr/>
          </p:nvSpPr>
          <p:spPr>
            <a:xfrm>
              <a:off x="781050" y="4770437"/>
              <a:ext cx="305264"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44041" name="Text Box 9"/>
            <p:cNvSpPr txBox="1"/>
            <p:nvPr/>
          </p:nvSpPr>
          <p:spPr>
            <a:xfrm>
              <a:off x="781050" y="5337177"/>
              <a:ext cx="305264"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44042" name="未知"/>
            <p:cNvSpPr/>
            <p:nvPr/>
          </p:nvSpPr>
          <p:spPr>
            <a:xfrm>
              <a:off x="533400" y="344963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4043" name="未知"/>
            <p:cNvSpPr/>
            <p:nvPr/>
          </p:nvSpPr>
          <p:spPr>
            <a:xfrm>
              <a:off x="542925" y="40243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4044" name="未知"/>
            <p:cNvSpPr/>
            <p:nvPr/>
          </p:nvSpPr>
          <p:spPr>
            <a:xfrm>
              <a:off x="520700" y="4600575"/>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4045" name="未知"/>
            <p:cNvSpPr/>
            <p:nvPr/>
          </p:nvSpPr>
          <p:spPr>
            <a:xfrm>
              <a:off x="520700" y="5192713"/>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4046" name="AutoShape 14"/>
            <p:cNvSpPr/>
            <p:nvPr/>
          </p:nvSpPr>
          <p:spPr>
            <a:xfrm>
              <a:off x="7886700" y="2814638"/>
              <a:ext cx="838200" cy="3030537"/>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4047" name="Text Box 15"/>
            <p:cNvSpPr txBox="1"/>
            <p:nvPr/>
          </p:nvSpPr>
          <p:spPr>
            <a:xfrm>
              <a:off x="7924800" y="2992436"/>
              <a:ext cx="305264"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44048" name="Text Box 16"/>
            <p:cNvSpPr txBox="1"/>
            <p:nvPr/>
          </p:nvSpPr>
          <p:spPr>
            <a:xfrm>
              <a:off x="7924800" y="3619500"/>
              <a:ext cx="305264"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44049" name="Text Box 17"/>
            <p:cNvSpPr txBox="1"/>
            <p:nvPr/>
          </p:nvSpPr>
          <p:spPr>
            <a:xfrm>
              <a:off x="7924800" y="4176712"/>
              <a:ext cx="305264"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44050" name="Text Box 18"/>
            <p:cNvSpPr txBox="1"/>
            <p:nvPr/>
          </p:nvSpPr>
          <p:spPr>
            <a:xfrm>
              <a:off x="7924800" y="4737100"/>
              <a:ext cx="305264"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44051" name="Text Box 19"/>
            <p:cNvSpPr txBox="1"/>
            <p:nvPr/>
          </p:nvSpPr>
          <p:spPr>
            <a:xfrm>
              <a:off x="7924800" y="5302250"/>
              <a:ext cx="305264"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44052" name="未知"/>
            <p:cNvSpPr/>
            <p:nvPr/>
          </p:nvSpPr>
          <p:spPr>
            <a:xfrm>
              <a:off x="7886700" y="34147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4053" name="未知"/>
            <p:cNvSpPr/>
            <p:nvPr/>
          </p:nvSpPr>
          <p:spPr>
            <a:xfrm>
              <a:off x="7896225" y="398938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4054" name="未知"/>
            <p:cNvSpPr/>
            <p:nvPr/>
          </p:nvSpPr>
          <p:spPr>
            <a:xfrm>
              <a:off x="7874000" y="4565650"/>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4055" name="未知"/>
            <p:cNvSpPr/>
            <p:nvPr/>
          </p:nvSpPr>
          <p:spPr>
            <a:xfrm>
              <a:off x="7874000" y="5157788"/>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0201" name="Text Box 24"/>
            <p:cNvSpPr txBox="1">
              <a:spLocks noChangeArrowheads="1"/>
            </p:cNvSpPr>
            <p:nvPr/>
          </p:nvSpPr>
          <p:spPr bwMode="auto">
            <a:xfrm>
              <a:off x="395881" y="1841882"/>
              <a:ext cx="734923" cy="370982"/>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1</a:t>
              </a:r>
            </a:p>
          </p:txBody>
        </p:sp>
        <p:sp>
          <p:nvSpPr>
            <p:cNvPr id="44057" name="AutoShape 25"/>
            <p:cNvSpPr/>
            <p:nvPr/>
          </p:nvSpPr>
          <p:spPr>
            <a:xfrm>
              <a:off x="8034338" y="2317750"/>
              <a:ext cx="685800" cy="557213"/>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4058" name="Text Box 26"/>
            <p:cNvSpPr txBox="1"/>
            <p:nvPr/>
          </p:nvSpPr>
          <p:spPr>
            <a:xfrm>
              <a:off x="7974994" y="2400430"/>
              <a:ext cx="534798"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2</a:t>
              </a:r>
              <a:endParaRPr lang="zh-CN" altLang="zh-CN" sz="1500" b="1">
                <a:latin typeface="Arial" panose="020B0604020202090204" pitchFamily="34" charset="0"/>
                <a:ea typeface="宋体" panose="02010600030101010101" pitchFamily="2" charset="-122"/>
              </a:endParaRPr>
            </a:p>
          </p:txBody>
        </p:sp>
        <p:sp>
          <p:nvSpPr>
            <p:cNvPr id="44059" name="AutoShape 27"/>
            <p:cNvSpPr/>
            <p:nvPr/>
          </p:nvSpPr>
          <p:spPr>
            <a:xfrm>
              <a:off x="538163" y="2360613"/>
              <a:ext cx="685800" cy="557212"/>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4060" name="Text Box 28"/>
            <p:cNvSpPr txBox="1"/>
            <p:nvPr/>
          </p:nvSpPr>
          <p:spPr>
            <a:xfrm>
              <a:off x="502311" y="2400430"/>
              <a:ext cx="534798"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1</a:t>
              </a:r>
              <a:endParaRPr lang="zh-CN" altLang="zh-CN" sz="1500" b="1">
                <a:latin typeface="Arial" panose="020B0604020202090204" pitchFamily="34" charset="0"/>
                <a:ea typeface="宋体" panose="02010600030101010101" pitchFamily="2" charset="-122"/>
              </a:endParaRPr>
            </a:p>
          </p:txBody>
        </p:sp>
        <p:sp>
          <p:nvSpPr>
            <p:cNvPr id="50206" name="Text Box 29"/>
            <p:cNvSpPr txBox="1">
              <a:spLocks noChangeArrowheads="1"/>
            </p:cNvSpPr>
            <p:nvPr/>
          </p:nvSpPr>
          <p:spPr bwMode="auto">
            <a:xfrm>
              <a:off x="7769989" y="1841882"/>
              <a:ext cx="736581" cy="370982"/>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2</a:t>
              </a:r>
            </a:p>
          </p:txBody>
        </p:sp>
        <p:sp>
          <p:nvSpPr>
            <p:cNvPr id="44062" name="Text Box 30"/>
            <p:cNvSpPr txBox="1"/>
            <p:nvPr/>
          </p:nvSpPr>
          <p:spPr>
            <a:xfrm>
              <a:off x="3114398" y="4318095"/>
              <a:ext cx="4696568" cy="95202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latin typeface="Arial" panose="020B0604020202090204" pitchFamily="34" charset="0"/>
                  <a:ea typeface="黑体" panose="02010600030101010101" pitchFamily="49" charset="-122"/>
                </a:rPr>
                <a:t>数据链路层剥去帧首部和帧尾部</a:t>
              </a:r>
            </a:p>
            <a:p>
              <a:pPr marL="0" lvl="0" indent="0" defTabSz="762000">
                <a:lnSpc>
                  <a:spcPct val="100000"/>
                </a:lnSpc>
                <a:spcBef>
                  <a:spcPct val="0"/>
                </a:spcBef>
                <a:buFontTx/>
                <a:buNone/>
              </a:pPr>
              <a:r>
                <a:rPr lang="zh-CN" altLang="zh-CN" sz="2400">
                  <a:latin typeface="Arial" panose="020B0604020202090204" pitchFamily="34" charset="0"/>
                  <a:ea typeface="黑体" panose="02010600030101010101" pitchFamily="49" charset="-122"/>
                </a:rPr>
                <a:t>取出数据部分，上交给网络层</a:t>
              </a:r>
            </a:p>
          </p:txBody>
        </p:sp>
        <p:sp>
          <p:nvSpPr>
            <p:cNvPr id="44063" name="AutoShape 31"/>
            <p:cNvSpPr/>
            <p:nvPr/>
          </p:nvSpPr>
          <p:spPr>
            <a:xfrm rot="-10800000" flipV="1">
              <a:off x="8305800" y="4437063"/>
              <a:ext cx="196850" cy="396875"/>
            </a:xfrm>
            <a:prstGeom prst="upArrow">
              <a:avLst>
                <a:gd name="adj1" fmla="val 50000"/>
                <a:gd name="adj2" fmla="val 50403"/>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grpSp>
      <p:sp>
        <p:nvSpPr>
          <p:cNvPr id="2" name="标题 1"/>
          <p:cNvSpPr>
            <a:spLocks noGrp="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TCP/IP</a:t>
            </a:r>
            <a:r>
              <a:rPr lang="zh-CN" altLang="en-US" sz="2000" kern="1200">
                <a:solidFill>
                  <a:srgbClr val="0070C0"/>
                </a:solidFill>
                <a:latin typeface="微软雅黑" panose="020B0503020204020204" pitchFamily="34" charset="-122"/>
                <a:ea typeface="微软雅黑" panose="020B0503020204020204" pitchFamily="34" charset="-122"/>
                <a:cs typeface="+mj-cs"/>
              </a:rPr>
              <a:t>通信过程</a:t>
            </a: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7" name="组合 50"/>
          <p:cNvGrpSpPr/>
          <p:nvPr/>
        </p:nvGrpSpPr>
        <p:grpSpPr>
          <a:xfrm>
            <a:off x="250825" y="657225"/>
            <a:ext cx="8653463" cy="3859213"/>
            <a:chOff x="87313" y="1841882"/>
            <a:chExt cx="8991600" cy="4395406"/>
          </a:xfrm>
        </p:grpSpPr>
        <p:sp>
          <p:nvSpPr>
            <p:cNvPr id="45059" name="AutoShape 3"/>
            <p:cNvSpPr/>
            <p:nvPr/>
          </p:nvSpPr>
          <p:spPr>
            <a:xfrm rot="-5400000">
              <a:off x="4374356" y="1532731"/>
              <a:ext cx="417513" cy="8991600"/>
            </a:xfrm>
            <a:prstGeom prst="can">
              <a:avLst>
                <a:gd name="adj" fmla="val 48653"/>
              </a:avLst>
            </a:prstGeom>
            <a:gradFill rotWithShape="0">
              <a:gsLst>
                <a:gs pos="0">
                  <a:srgbClr val="ACACAC"/>
                </a:gs>
                <a:gs pos="50000">
                  <a:srgbClr val="EAEAEA"/>
                </a:gs>
                <a:gs pos="100000">
                  <a:srgbClr val="ACACAC"/>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5060" name="AutoShape 4"/>
            <p:cNvSpPr/>
            <p:nvPr/>
          </p:nvSpPr>
          <p:spPr>
            <a:xfrm>
              <a:off x="533400" y="2847975"/>
              <a:ext cx="838200" cy="2997200"/>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5061" name="Text Box 5"/>
            <p:cNvSpPr txBox="1"/>
            <p:nvPr/>
          </p:nvSpPr>
          <p:spPr>
            <a:xfrm>
              <a:off x="781050" y="3027364"/>
              <a:ext cx="303499" cy="3680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45062" name="Text Box 6"/>
            <p:cNvSpPr txBox="1"/>
            <p:nvPr/>
          </p:nvSpPr>
          <p:spPr>
            <a:xfrm>
              <a:off x="781050" y="3654425"/>
              <a:ext cx="303499" cy="3680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45063" name="Text Box 7"/>
            <p:cNvSpPr txBox="1"/>
            <p:nvPr/>
          </p:nvSpPr>
          <p:spPr>
            <a:xfrm>
              <a:off x="781050" y="4211639"/>
              <a:ext cx="303499" cy="3680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45064" name="Text Box 8"/>
            <p:cNvSpPr txBox="1"/>
            <p:nvPr/>
          </p:nvSpPr>
          <p:spPr>
            <a:xfrm>
              <a:off x="781050" y="4770437"/>
              <a:ext cx="303499" cy="3680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45065" name="Text Box 9"/>
            <p:cNvSpPr txBox="1"/>
            <p:nvPr/>
          </p:nvSpPr>
          <p:spPr>
            <a:xfrm>
              <a:off x="781050" y="5337177"/>
              <a:ext cx="303499" cy="3680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45066" name="未知"/>
            <p:cNvSpPr/>
            <p:nvPr/>
          </p:nvSpPr>
          <p:spPr>
            <a:xfrm>
              <a:off x="533400" y="344963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5067" name="未知"/>
            <p:cNvSpPr/>
            <p:nvPr/>
          </p:nvSpPr>
          <p:spPr>
            <a:xfrm>
              <a:off x="542925" y="40243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5068" name="未知"/>
            <p:cNvSpPr/>
            <p:nvPr/>
          </p:nvSpPr>
          <p:spPr>
            <a:xfrm>
              <a:off x="520700" y="4600575"/>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5069" name="未知"/>
            <p:cNvSpPr/>
            <p:nvPr/>
          </p:nvSpPr>
          <p:spPr>
            <a:xfrm>
              <a:off x="520700" y="5192713"/>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5070" name="AutoShape 14"/>
            <p:cNvSpPr/>
            <p:nvPr/>
          </p:nvSpPr>
          <p:spPr>
            <a:xfrm>
              <a:off x="7886700" y="2814638"/>
              <a:ext cx="838200" cy="3030537"/>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5071" name="Text Box 15"/>
            <p:cNvSpPr txBox="1"/>
            <p:nvPr/>
          </p:nvSpPr>
          <p:spPr>
            <a:xfrm>
              <a:off x="7924800" y="2992436"/>
              <a:ext cx="303499" cy="3680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45072" name="Text Box 16"/>
            <p:cNvSpPr txBox="1"/>
            <p:nvPr/>
          </p:nvSpPr>
          <p:spPr>
            <a:xfrm>
              <a:off x="7924800" y="3619500"/>
              <a:ext cx="303499" cy="3680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45073" name="Text Box 17"/>
            <p:cNvSpPr txBox="1"/>
            <p:nvPr/>
          </p:nvSpPr>
          <p:spPr>
            <a:xfrm>
              <a:off x="7924800" y="4176712"/>
              <a:ext cx="303499" cy="3680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45074" name="Text Box 18"/>
            <p:cNvSpPr txBox="1"/>
            <p:nvPr/>
          </p:nvSpPr>
          <p:spPr>
            <a:xfrm>
              <a:off x="7924800" y="4737100"/>
              <a:ext cx="303499" cy="3680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45075" name="Text Box 19"/>
            <p:cNvSpPr txBox="1"/>
            <p:nvPr/>
          </p:nvSpPr>
          <p:spPr>
            <a:xfrm>
              <a:off x="7924800" y="5302250"/>
              <a:ext cx="303499" cy="3680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45076" name="未知"/>
            <p:cNvSpPr/>
            <p:nvPr/>
          </p:nvSpPr>
          <p:spPr>
            <a:xfrm>
              <a:off x="7886700" y="34147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5077" name="未知"/>
            <p:cNvSpPr/>
            <p:nvPr/>
          </p:nvSpPr>
          <p:spPr>
            <a:xfrm>
              <a:off x="7896225" y="398938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5078" name="未知"/>
            <p:cNvSpPr/>
            <p:nvPr/>
          </p:nvSpPr>
          <p:spPr>
            <a:xfrm>
              <a:off x="7874000" y="4565650"/>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5079" name="未知"/>
            <p:cNvSpPr/>
            <p:nvPr/>
          </p:nvSpPr>
          <p:spPr>
            <a:xfrm>
              <a:off x="7874000" y="5157788"/>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1225" name="Text Box 24"/>
            <p:cNvSpPr txBox="1">
              <a:spLocks noChangeArrowheads="1"/>
            </p:cNvSpPr>
            <p:nvPr/>
          </p:nvSpPr>
          <p:spPr bwMode="auto">
            <a:xfrm>
              <a:off x="395776" y="1841882"/>
              <a:ext cx="730742" cy="368845"/>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1</a:t>
              </a:r>
            </a:p>
          </p:txBody>
        </p:sp>
        <p:sp>
          <p:nvSpPr>
            <p:cNvPr id="45081" name="AutoShape 25"/>
            <p:cNvSpPr/>
            <p:nvPr/>
          </p:nvSpPr>
          <p:spPr>
            <a:xfrm>
              <a:off x="8034338" y="2317750"/>
              <a:ext cx="685800" cy="557213"/>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5082" name="Text Box 26"/>
            <p:cNvSpPr txBox="1"/>
            <p:nvPr/>
          </p:nvSpPr>
          <p:spPr>
            <a:xfrm>
              <a:off x="8027988" y="2422526"/>
              <a:ext cx="531705" cy="3680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2</a:t>
              </a:r>
              <a:endParaRPr lang="zh-CN" altLang="zh-CN" sz="1500" b="1">
                <a:latin typeface="Arial" panose="020B0604020202090204" pitchFamily="34" charset="0"/>
                <a:ea typeface="宋体" panose="02010600030101010101" pitchFamily="2" charset="-122"/>
              </a:endParaRPr>
            </a:p>
          </p:txBody>
        </p:sp>
        <p:sp>
          <p:nvSpPr>
            <p:cNvPr id="45083" name="AutoShape 27"/>
            <p:cNvSpPr/>
            <p:nvPr/>
          </p:nvSpPr>
          <p:spPr>
            <a:xfrm>
              <a:off x="538163" y="2360613"/>
              <a:ext cx="685800" cy="557212"/>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5084" name="Text Box 28"/>
            <p:cNvSpPr txBox="1"/>
            <p:nvPr/>
          </p:nvSpPr>
          <p:spPr>
            <a:xfrm>
              <a:off x="558800" y="2481263"/>
              <a:ext cx="531705" cy="3680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1</a:t>
              </a:r>
              <a:endParaRPr lang="zh-CN" altLang="zh-CN" sz="1500" b="1">
                <a:latin typeface="Arial" panose="020B0604020202090204" pitchFamily="34" charset="0"/>
                <a:ea typeface="宋体" panose="02010600030101010101" pitchFamily="2" charset="-122"/>
              </a:endParaRPr>
            </a:p>
          </p:txBody>
        </p:sp>
        <p:sp>
          <p:nvSpPr>
            <p:cNvPr id="51230" name="Text Box 29"/>
            <p:cNvSpPr txBox="1">
              <a:spLocks noChangeArrowheads="1"/>
            </p:cNvSpPr>
            <p:nvPr/>
          </p:nvSpPr>
          <p:spPr bwMode="auto">
            <a:xfrm>
              <a:off x="7770834" y="1841882"/>
              <a:ext cx="732392" cy="368845"/>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2</a:t>
              </a:r>
            </a:p>
          </p:txBody>
        </p:sp>
        <p:sp>
          <p:nvSpPr>
            <p:cNvPr id="45086" name="Text Box 30"/>
            <p:cNvSpPr txBox="1"/>
            <p:nvPr/>
          </p:nvSpPr>
          <p:spPr>
            <a:xfrm>
              <a:off x="3105712" y="3747904"/>
              <a:ext cx="4669408" cy="946516"/>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latin typeface="Arial" panose="020B0604020202090204" pitchFamily="34" charset="0"/>
                  <a:ea typeface="黑体" panose="02010600030101010101" pitchFamily="49" charset="-122"/>
                </a:rPr>
                <a:t>网络层剥去首部，取出数据部分</a:t>
              </a:r>
            </a:p>
            <a:p>
              <a:pPr marL="0" lvl="0" indent="0" defTabSz="762000">
                <a:lnSpc>
                  <a:spcPct val="100000"/>
                </a:lnSpc>
                <a:spcBef>
                  <a:spcPct val="0"/>
                </a:spcBef>
                <a:buFontTx/>
                <a:buNone/>
              </a:pPr>
              <a:r>
                <a:rPr lang="zh-CN" altLang="zh-CN" sz="2400">
                  <a:latin typeface="Arial" panose="020B0604020202090204" pitchFamily="34" charset="0"/>
                  <a:ea typeface="黑体" panose="02010600030101010101" pitchFamily="49" charset="-122"/>
                </a:rPr>
                <a:t>上交给运输层</a:t>
              </a:r>
            </a:p>
          </p:txBody>
        </p:sp>
        <p:sp>
          <p:nvSpPr>
            <p:cNvPr id="45087" name="AutoShape 31"/>
            <p:cNvSpPr/>
            <p:nvPr/>
          </p:nvSpPr>
          <p:spPr>
            <a:xfrm rot="-10800000" flipV="1">
              <a:off x="8305800" y="3824288"/>
              <a:ext cx="196850" cy="396875"/>
            </a:xfrm>
            <a:prstGeom prst="upArrow">
              <a:avLst>
                <a:gd name="adj1" fmla="val 50000"/>
                <a:gd name="adj2" fmla="val 50403"/>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grpSp>
      <p:sp>
        <p:nvSpPr>
          <p:cNvPr id="2" name="标题 1"/>
          <p:cNvSpPr>
            <a:spLocks noGrp="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TCP/IP</a:t>
            </a:r>
            <a:r>
              <a:rPr lang="zh-CN" altLang="en-US" sz="2000" kern="1200">
                <a:solidFill>
                  <a:srgbClr val="0070C0"/>
                </a:solidFill>
                <a:latin typeface="微软雅黑" panose="020B0503020204020204" pitchFamily="34" charset="-122"/>
                <a:ea typeface="微软雅黑" panose="020B0503020204020204" pitchFamily="34" charset="-122"/>
                <a:cs typeface="+mj-cs"/>
              </a:rPr>
              <a:t>通信过程</a:t>
            </a: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1" name="组合 38"/>
          <p:cNvGrpSpPr/>
          <p:nvPr/>
        </p:nvGrpSpPr>
        <p:grpSpPr>
          <a:xfrm>
            <a:off x="323850" y="679450"/>
            <a:ext cx="8620125" cy="3836988"/>
            <a:chOff x="87313" y="1841882"/>
            <a:chExt cx="8991600" cy="4395406"/>
          </a:xfrm>
        </p:grpSpPr>
        <p:sp>
          <p:nvSpPr>
            <p:cNvPr id="46083" name="AutoShape 3"/>
            <p:cNvSpPr/>
            <p:nvPr/>
          </p:nvSpPr>
          <p:spPr>
            <a:xfrm rot="-5400000">
              <a:off x="4374356" y="1532731"/>
              <a:ext cx="417513" cy="8991600"/>
            </a:xfrm>
            <a:prstGeom prst="can">
              <a:avLst>
                <a:gd name="adj" fmla="val 48653"/>
              </a:avLst>
            </a:prstGeom>
            <a:gradFill rotWithShape="0">
              <a:gsLst>
                <a:gs pos="0">
                  <a:srgbClr val="ACACAC"/>
                </a:gs>
                <a:gs pos="50000">
                  <a:srgbClr val="EAEAEA"/>
                </a:gs>
                <a:gs pos="100000">
                  <a:srgbClr val="ACACAC"/>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6084" name="AutoShape 4"/>
            <p:cNvSpPr/>
            <p:nvPr/>
          </p:nvSpPr>
          <p:spPr>
            <a:xfrm>
              <a:off x="533400" y="2847975"/>
              <a:ext cx="838200" cy="2997200"/>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6085" name="Text Box 5"/>
            <p:cNvSpPr txBox="1"/>
            <p:nvPr/>
          </p:nvSpPr>
          <p:spPr>
            <a:xfrm>
              <a:off x="781050" y="3027364"/>
              <a:ext cx="304630"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46086" name="Text Box 6"/>
            <p:cNvSpPr txBox="1"/>
            <p:nvPr/>
          </p:nvSpPr>
          <p:spPr>
            <a:xfrm>
              <a:off x="781050" y="3654424"/>
              <a:ext cx="304630"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46087" name="Text Box 7"/>
            <p:cNvSpPr txBox="1"/>
            <p:nvPr/>
          </p:nvSpPr>
          <p:spPr>
            <a:xfrm>
              <a:off x="781050" y="4211638"/>
              <a:ext cx="304630"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46088" name="Text Box 8"/>
            <p:cNvSpPr txBox="1"/>
            <p:nvPr/>
          </p:nvSpPr>
          <p:spPr>
            <a:xfrm>
              <a:off x="781050" y="4770437"/>
              <a:ext cx="304630"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46089" name="Text Box 9"/>
            <p:cNvSpPr txBox="1"/>
            <p:nvPr/>
          </p:nvSpPr>
          <p:spPr>
            <a:xfrm>
              <a:off x="781050" y="5337177"/>
              <a:ext cx="304630"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46090" name="未知"/>
            <p:cNvSpPr/>
            <p:nvPr/>
          </p:nvSpPr>
          <p:spPr>
            <a:xfrm>
              <a:off x="533400" y="344963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6091" name="未知"/>
            <p:cNvSpPr/>
            <p:nvPr/>
          </p:nvSpPr>
          <p:spPr>
            <a:xfrm>
              <a:off x="542925" y="40243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6092" name="未知"/>
            <p:cNvSpPr/>
            <p:nvPr/>
          </p:nvSpPr>
          <p:spPr>
            <a:xfrm>
              <a:off x="520700" y="4600575"/>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6093" name="未知"/>
            <p:cNvSpPr/>
            <p:nvPr/>
          </p:nvSpPr>
          <p:spPr>
            <a:xfrm>
              <a:off x="520700" y="5192713"/>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6094" name="AutoShape 14"/>
            <p:cNvSpPr/>
            <p:nvPr/>
          </p:nvSpPr>
          <p:spPr>
            <a:xfrm>
              <a:off x="7886700" y="2814638"/>
              <a:ext cx="838200" cy="3030537"/>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6095" name="Text Box 15"/>
            <p:cNvSpPr txBox="1"/>
            <p:nvPr/>
          </p:nvSpPr>
          <p:spPr>
            <a:xfrm>
              <a:off x="7924800" y="2992436"/>
              <a:ext cx="304630"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46096" name="Text Box 16"/>
            <p:cNvSpPr txBox="1"/>
            <p:nvPr/>
          </p:nvSpPr>
          <p:spPr>
            <a:xfrm>
              <a:off x="7924800" y="3619500"/>
              <a:ext cx="304630"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46097" name="Text Box 17"/>
            <p:cNvSpPr txBox="1"/>
            <p:nvPr/>
          </p:nvSpPr>
          <p:spPr>
            <a:xfrm>
              <a:off x="7924800" y="4176712"/>
              <a:ext cx="304630"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46098" name="Text Box 18"/>
            <p:cNvSpPr txBox="1"/>
            <p:nvPr/>
          </p:nvSpPr>
          <p:spPr>
            <a:xfrm>
              <a:off x="7924800" y="4737100"/>
              <a:ext cx="304630"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46099" name="Text Box 19"/>
            <p:cNvSpPr txBox="1"/>
            <p:nvPr/>
          </p:nvSpPr>
          <p:spPr>
            <a:xfrm>
              <a:off x="7924800" y="5302250"/>
              <a:ext cx="304630"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46100" name="未知"/>
            <p:cNvSpPr/>
            <p:nvPr/>
          </p:nvSpPr>
          <p:spPr>
            <a:xfrm>
              <a:off x="7886700" y="34147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6101" name="未知"/>
            <p:cNvSpPr/>
            <p:nvPr/>
          </p:nvSpPr>
          <p:spPr>
            <a:xfrm>
              <a:off x="7896225" y="398938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6102" name="未知"/>
            <p:cNvSpPr/>
            <p:nvPr/>
          </p:nvSpPr>
          <p:spPr>
            <a:xfrm>
              <a:off x="7874000" y="4565650"/>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6103" name="未知"/>
            <p:cNvSpPr/>
            <p:nvPr/>
          </p:nvSpPr>
          <p:spPr>
            <a:xfrm>
              <a:off x="7874000" y="5157788"/>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2249" name="Text Box 24"/>
            <p:cNvSpPr txBox="1">
              <a:spLocks noChangeArrowheads="1"/>
            </p:cNvSpPr>
            <p:nvPr/>
          </p:nvSpPr>
          <p:spPr bwMode="auto">
            <a:xfrm>
              <a:off x="395313" y="1841882"/>
              <a:ext cx="733569" cy="370982"/>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1</a:t>
              </a:r>
            </a:p>
          </p:txBody>
        </p:sp>
        <p:sp>
          <p:nvSpPr>
            <p:cNvPr id="46105" name="AutoShape 25"/>
            <p:cNvSpPr/>
            <p:nvPr/>
          </p:nvSpPr>
          <p:spPr>
            <a:xfrm>
              <a:off x="8034338" y="2317750"/>
              <a:ext cx="685800" cy="557213"/>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6106" name="Text Box 26"/>
            <p:cNvSpPr txBox="1"/>
            <p:nvPr/>
          </p:nvSpPr>
          <p:spPr>
            <a:xfrm>
              <a:off x="8027989" y="2422526"/>
              <a:ext cx="533687"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2</a:t>
              </a:r>
              <a:endParaRPr lang="zh-CN" altLang="zh-CN" sz="1500" b="1">
                <a:latin typeface="Arial" panose="020B0604020202090204" pitchFamily="34" charset="0"/>
                <a:ea typeface="宋体" panose="02010600030101010101" pitchFamily="2" charset="-122"/>
              </a:endParaRPr>
            </a:p>
          </p:txBody>
        </p:sp>
        <p:sp>
          <p:nvSpPr>
            <p:cNvPr id="46107" name="AutoShape 27"/>
            <p:cNvSpPr/>
            <p:nvPr/>
          </p:nvSpPr>
          <p:spPr>
            <a:xfrm>
              <a:off x="538163" y="2360613"/>
              <a:ext cx="685800" cy="557212"/>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6108" name="Text Box 28"/>
            <p:cNvSpPr txBox="1"/>
            <p:nvPr/>
          </p:nvSpPr>
          <p:spPr>
            <a:xfrm>
              <a:off x="558801" y="2481264"/>
              <a:ext cx="533687" cy="3702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1</a:t>
              </a:r>
              <a:endParaRPr lang="zh-CN" altLang="zh-CN" sz="1500" b="1">
                <a:latin typeface="Arial" panose="020B0604020202090204" pitchFamily="34" charset="0"/>
                <a:ea typeface="宋体" panose="02010600030101010101" pitchFamily="2" charset="-122"/>
              </a:endParaRPr>
            </a:p>
          </p:txBody>
        </p:sp>
        <p:sp>
          <p:nvSpPr>
            <p:cNvPr id="52254" name="Text Box 29"/>
            <p:cNvSpPr txBox="1">
              <a:spLocks noChangeArrowheads="1"/>
            </p:cNvSpPr>
            <p:nvPr/>
          </p:nvSpPr>
          <p:spPr bwMode="auto">
            <a:xfrm>
              <a:off x="7770743" y="1841882"/>
              <a:ext cx="733569" cy="370982"/>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2</a:t>
              </a:r>
            </a:p>
          </p:txBody>
        </p:sp>
        <p:sp>
          <p:nvSpPr>
            <p:cNvPr id="46110" name="Text Box 30"/>
            <p:cNvSpPr txBox="1"/>
            <p:nvPr/>
          </p:nvSpPr>
          <p:spPr>
            <a:xfrm>
              <a:off x="3161621" y="3224691"/>
              <a:ext cx="4686810" cy="95202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latin typeface="Arial" panose="020B0604020202090204" pitchFamily="34" charset="0"/>
                  <a:ea typeface="黑体" panose="02010600030101010101" pitchFamily="49" charset="-122"/>
                </a:rPr>
                <a:t>运输层剥去首部，取出数据部分</a:t>
              </a:r>
            </a:p>
            <a:p>
              <a:pPr marL="0" lvl="0" indent="0" defTabSz="762000">
                <a:lnSpc>
                  <a:spcPct val="100000"/>
                </a:lnSpc>
                <a:spcBef>
                  <a:spcPct val="0"/>
                </a:spcBef>
                <a:buFontTx/>
                <a:buNone/>
              </a:pPr>
              <a:r>
                <a:rPr lang="zh-CN" altLang="zh-CN" sz="2400">
                  <a:latin typeface="Arial" panose="020B0604020202090204" pitchFamily="34" charset="0"/>
                  <a:ea typeface="黑体" panose="02010600030101010101" pitchFamily="49" charset="-122"/>
                </a:rPr>
                <a:t>上交给应用层</a:t>
              </a:r>
            </a:p>
          </p:txBody>
        </p:sp>
        <p:sp>
          <p:nvSpPr>
            <p:cNvPr id="46111" name="AutoShape 31"/>
            <p:cNvSpPr/>
            <p:nvPr/>
          </p:nvSpPr>
          <p:spPr>
            <a:xfrm rot="-10800000" flipV="1">
              <a:off x="8305800" y="3248025"/>
              <a:ext cx="196850" cy="396875"/>
            </a:xfrm>
            <a:prstGeom prst="upArrow">
              <a:avLst>
                <a:gd name="adj1" fmla="val 50000"/>
                <a:gd name="adj2" fmla="val 50403"/>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grpSp>
      <p:sp>
        <p:nvSpPr>
          <p:cNvPr id="2" name="标题 1"/>
          <p:cNvSpPr>
            <a:spLocks noGrp="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TCP/IP</a:t>
            </a:r>
            <a:r>
              <a:rPr lang="zh-CN" altLang="en-US" sz="2000" kern="1200">
                <a:solidFill>
                  <a:srgbClr val="0070C0"/>
                </a:solidFill>
                <a:latin typeface="微软雅黑" panose="020B0503020204020204" pitchFamily="34" charset="-122"/>
                <a:ea typeface="微软雅黑" panose="020B0503020204020204" pitchFamily="34" charset="-122"/>
                <a:cs typeface="+mj-cs"/>
              </a:rPr>
              <a:t>通信过程</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5" name="组合 50"/>
          <p:cNvGrpSpPr/>
          <p:nvPr/>
        </p:nvGrpSpPr>
        <p:grpSpPr>
          <a:xfrm>
            <a:off x="250825" y="644525"/>
            <a:ext cx="8518525" cy="3798888"/>
            <a:chOff x="87313" y="1841882"/>
            <a:chExt cx="8991600" cy="4395406"/>
          </a:xfrm>
        </p:grpSpPr>
        <p:sp>
          <p:nvSpPr>
            <p:cNvPr id="47107" name="AutoShape 3"/>
            <p:cNvSpPr/>
            <p:nvPr/>
          </p:nvSpPr>
          <p:spPr>
            <a:xfrm rot="-5400000">
              <a:off x="4374356" y="1532731"/>
              <a:ext cx="417513" cy="8991600"/>
            </a:xfrm>
            <a:prstGeom prst="can">
              <a:avLst>
                <a:gd name="adj" fmla="val 48653"/>
              </a:avLst>
            </a:prstGeom>
            <a:gradFill rotWithShape="0">
              <a:gsLst>
                <a:gs pos="0">
                  <a:srgbClr val="ACACAC"/>
                </a:gs>
                <a:gs pos="50000">
                  <a:srgbClr val="EAEAEA"/>
                </a:gs>
                <a:gs pos="100000">
                  <a:srgbClr val="ACACAC"/>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7108" name="AutoShape 4"/>
            <p:cNvSpPr/>
            <p:nvPr/>
          </p:nvSpPr>
          <p:spPr>
            <a:xfrm>
              <a:off x="533400" y="2847975"/>
              <a:ext cx="838200" cy="2997200"/>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7109" name="Text Box 5"/>
            <p:cNvSpPr txBox="1"/>
            <p:nvPr/>
          </p:nvSpPr>
          <p:spPr>
            <a:xfrm>
              <a:off x="781050" y="3027364"/>
              <a:ext cx="308316" cy="3739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47110" name="Text Box 6"/>
            <p:cNvSpPr txBox="1"/>
            <p:nvPr/>
          </p:nvSpPr>
          <p:spPr>
            <a:xfrm>
              <a:off x="781050" y="3654424"/>
              <a:ext cx="308316" cy="3739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47111" name="Text Box 7"/>
            <p:cNvSpPr txBox="1"/>
            <p:nvPr/>
          </p:nvSpPr>
          <p:spPr>
            <a:xfrm>
              <a:off x="781050" y="4211638"/>
              <a:ext cx="308316" cy="3739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47112" name="Text Box 8"/>
            <p:cNvSpPr txBox="1"/>
            <p:nvPr/>
          </p:nvSpPr>
          <p:spPr>
            <a:xfrm>
              <a:off x="781050" y="4770437"/>
              <a:ext cx="308316" cy="3739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47113" name="Text Box 9"/>
            <p:cNvSpPr txBox="1"/>
            <p:nvPr/>
          </p:nvSpPr>
          <p:spPr>
            <a:xfrm>
              <a:off x="781050" y="5337177"/>
              <a:ext cx="308316" cy="3739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47114" name="未知"/>
            <p:cNvSpPr/>
            <p:nvPr/>
          </p:nvSpPr>
          <p:spPr>
            <a:xfrm>
              <a:off x="533400" y="344963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7115" name="未知"/>
            <p:cNvSpPr/>
            <p:nvPr/>
          </p:nvSpPr>
          <p:spPr>
            <a:xfrm>
              <a:off x="542925" y="40243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7116" name="未知"/>
            <p:cNvSpPr/>
            <p:nvPr/>
          </p:nvSpPr>
          <p:spPr>
            <a:xfrm>
              <a:off x="520700" y="4600575"/>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7117" name="未知"/>
            <p:cNvSpPr/>
            <p:nvPr/>
          </p:nvSpPr>
          <p:spPr>
            <a:xfrm>
              <a:off x="520700" y="5192713"/>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7118" name="AutoShape 14"/>
            <p:cNvSpPr/>
            <p:nvPr/>
          </p:nvSpPr>
          <p:spPr>
            <a:xfrm>
              <a:off x="7886700" y="2814638"/>
              <a:ext cx="838200" cy="3030537"/>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7119" name="Text Box 15"/>
            <p:cNvSpPr txBox="1"/>
            <p:nvPr/>
          </p:nvSpPr>
          <p:spPr>
            <a:xfrm>
              <a:off x="7924800" y="2992436"/>
              <a:ext cx="308316" cy="3739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5</a:t>
              </a:r>
            </a:p>
          </p:txBody>
        </p:sp>
        <p:sp>
          <p:nvSpPr>
            <p:cNvPr id="47120" name="Text Box 16"/>
            <p:cNvSpPr txBox="1"/>
            <p:nvPr/>
          </p:nvSpPr>
          <p:spPr>
            <a:xfrm>
              <a:off x="7924800" y="3619499"/>
              <a:ext cx="308316" cy="3739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4</a:t>
              </a:r>
            </a:p>
          </p:txBody>
        </p:sp>
        <p:sp>
          <p:nvSpPr>
            <p:cNvPr id="47121" name="Text Box 17"/>
            <p:cNvSpPr txBox="1"/>
            <p:nvPr/>
          </p:nvSpPr>
          <p:spPr>
            <a:xfrm>
              <a:off x="7924800" y="4176712"/>
              <a:ext cx="308316" cy="3739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3</a:t>
              </a:r>
            </a:p>
          </p:txBody>
        </p:sp>
        <p:sp>
          <p:nvSpPr>
            <p:cNvPr id="47122" name="Text Box 18"/>
            <p:cNvSpPr txBox="1"/>
            <p:nvPr/>
          </p:nvSpPr>
          <p:spPr>
            <a:xfrm>
              <a:off x="7924800" y="4737100"/>
              <a:ext cx="308316" cy="3739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2</a:t>
              </a:r>
            </a:p>
          </p:txBody>
        </p:sp>
        <p:sp>
          <p:nvSpPr>
            <p:cNvPr id="47123" name="Text Box 19"/>
            <p:cNvSpPr txBox="1"/>
            <p:nvPr/>
          </p:nvSpPr>
          <p:spPr>
            <a:xfrm>
              <a:off x="7924800" y="5302250"/>
              <a:ext cx="308316" cy="3739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1</a:t>
              </a:r>
            </a:p>
          </p:txBody>
        </p:sp>
        <p:sp>
          <p:nvSpPr>
            <p:cNvPr id="47124" name="未知"/>
            <p:cNvSpPr/>
            <p:nvPr/>
          </p:nvSpPr>
          <p:spPr>
            <a:xfrm>
              <a:off x="7886700" y="34147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7125" name="未知"/>
            <p:cNvSpPr/>
            <p:nvPr/>
          </p:nvSpPr>
          <p:spPr>
            <a:xfrm>
              <a:off x="7896225" y="398938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7126" name="未知"/>
            <p:cNvSpPr/>
            <p:nvPr/>
          </p:nvSpPr>
          <p:spPr>
            <a:xfrm>
              <a:off x="7874000" y="4565650"/>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7127" name="未知"/>
            <p:cNvSpPr/>
            <p:nvPr/>
          </p:nvSpPr>
          <p:spPr>
            <a:xfrm>
              <a:off x="7874000" y="5157788"/>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53274" name="Text Box 24"/>
            <p:cNvSpPr txBox="1">
              <a:spLocks noChangeArrowheads="1"/>
            </p:cNvSpPr>
            <p:nvPr/>
          </p:nvSpPr>
          <p:spPr bwMode="auto">
            <a:xfrm>
              <a:off x="395635" y="1841882"/>
              <a:ext cx="742319" cy="374702"/>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1</a:t>
              </a:r>
            </a:p>
          </p:txBody>
        </p:sp>
        <p:sp>
          <p:nvSpPr>
            <p:cNvPr id="47129" name="AutoShape 25"/>
            <p:cNvSpPr/>
            <p:nvPr/>
          </p:nvSpPr>
          <p:spPr>
            <a:xfrm>
              <a:off x="8034338" y="2317750"/>
              <a:ext cx="685800" cy="557213"/>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7130" name="Text Box 26"/>
            <p:cNvSpPr txBox="1"/>
            <p:nvPr/>
          </p:nvSpPr>
          <p:spPr>
            <a:xfrm>
              <a:off x="8027988" y="2422525"/>
              <a:ext cx="540143" cy="3739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2</a:t>
              </a:r>
              <a:endParaRPr lang="zh-CN" altLang="zh-CN" sz="1500" b="1">
                <a:latin typeface="Arial" panose="020B0604020202090204" pitchFamily="34" charset="0"/>
                <a:ea typeface="宋体" panose="02010600030101010101" pitchFamily="2" charset="-122"/>
              </a:endParaRPr>
            </a:p>
          </p:txBody>
        </p:sp>
        <p:sp>
          <p:nvSpPr>
            <p:cNvPr id="47131" name="AutoShape 27"/>
            <p:cNvSpPr/>
            <p:nvPr/>
          </p:nvSpPr>
          <p:spPr>
            <a:xfrm>
              <a:off x="538163" y="2360613"/>
              <a:ext cx="685800" cy="557212"/>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sp>
          <p:nvSpPr>
            <p:cNvPr id="47132" name="Text Box 28"/>
            <p:cNvSpPr txBox="1"/>
            <p:nvPr/>
          </p:nvSpPr>
          <p:spPr>
            <a:xfrm>
              <a:off x="558800" y="2481264"/>
              <a:ext cx="540143" cy="37393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500">
                  <a:latin typeface="Arial" panose="020B0604020202090204" pitchFamily="34" charset="0"/>
                  <a:ea typeface="宋体" panose="02010600030101010101" pitchFamily="2" charset="-122"/>
                </a:rPr>
                <a:t>AP</a:t>
              </a:r>
              <a:r>
                <a:rPr lang="zh-CN" altLang="zh-CN" sz="1500" b="1" baseline="-25000">
                  <a:latin typeface="Arial" panose="020B0604020202090204" pitchFamily="34" charset="0"/>
                  <a:ea typeface="宋体" panose="02010600030101010101" pitchFamily="2" charset="-122"/>
                </a:rPr>
                <a:t>1</a:t>
              </a:r>
              <a:endParaRPr lang="zh-CN" altLang="zh-CN" sz="1500" b="1">
                <a:latin typeface="Arial" panose="020B0604020202090204" pitchFamily="34" charset="0"/>
                <a:ea typeface="宋体" panose="02010600030101010101" pitchFamily="2" charset="-122"/>
              </a:endParaRPr>
            </a:p>
          </p:txBody>
        </p:sp>
        <p:sp>
          <p:nvSpPr>
            <p:cNvPr id="53279" name="Text Box 29"/>
            <p:cNvSpPr txBox="1">
              <a:spLocks noChangeArrowheads="1"/>
            </p:cNvSpPr>
            <p:nvPr/>
          </p:nvSpPr>
          <p:spPr bwMode="auto">
            <a:xfrm>
              <a:off x="7770222" y="1841882"/>
              <a:ext cx="743994" cy="374702"/>
            </a:xfrm>
            <a:prstGeom prst="rect">
              <a:avLst/>
            </a:prstGeom>
            <a:noFill/>
            <a:ln>
              <a:noFill/>
            </a:ln>
          </p:spPr>
          <p:txBody>
            <a:bodyPr wrap="none">
              <a:spAutoFit/>
            </a:bodyPr>
            <a:lstStyle>
              <a:lvl1pPr defTabSz="762000">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defTabSz="76200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defTabSz="7620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defTabSz="7620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defTabSz="7620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762000" rtl="0" eaLnBrk="0" fontAlgn="base" latinLnBrk="0" hangingPunct="0">
                <a:lnSpc>
                  <a:spcPct val="100000"/>
                </a:lnSpc>
                <a:spcBef>
                  <a:spcPct val="0"/>
                </a:spcBef>
                <a:spcAft>
                  <a:spcPct val="0"/>
                </a:spcAft>
                <a:buClrTx/>
                <a:buSzTx/>
                <a:buFontTx/>
                <a:buNone/>
                <a:defRPr/>
              </a:pP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主机</a:t>
              </a:r>
              <a:r>
                <a:rPr kumimoji="0" lang="zh-CN" altLang="zh-CN" sz="75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 </a:t>
              </a:r>
              <a:r>
                <a:rPr kumimoji="0" lang="zh-CN" altLang="zh-CN" sz="1500" b="0" i="0" u="none" strike="noStrike" kern="1200" cap="none" spc="0" normalizeH="0" baseline="0" noProof="0">
                  <a:ln>
                    <a:noFill/>
                  </a:ln>
                  <a:solidFill>
                    <a:schemeClr val="tx1"/>
                  </a:solidFill>
                  <a:effectLst/>
                  <a:uLnTx/>
                  <a:uFillTx/>
                  <a:latin typeface="Arial" panose="020B0604020202090204" pitchFamily="34" charset="0"/>
                  <a:ea typeface="黑体" panose="02010600030101010101" pitchFamily="49" charset="-122"/>
                  <a:cs typeface="+mn-cs"/>
                </a:rPr>
                <a:t>2</a:t>
              </a:r>
            </a:p>
          </p:txBody>
        </p:sp>
        <p:sp>
          <p:nvSpPr>
            <p:cNvPr id="47134" name="Text Box 30"/>
            <p:cNvSpPr txBox="1"/>
            <p:nvPr/>
          </p:nvSpPr>
          <p:spPr>
            <a:xfrm>
              <a:off x="2474344" y="2639219"/>
              <a:ext cx="5393306" cy="961537"/>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latin typeface="Arial" panose="020B0604020202090204" pitchFamily="34" charset="0"/>
                  <a:ea typeface="黑体" panose="02010600030101010101" pitchFamily="49" charset="-122"/>
                </a:rPr>
                <a:t>应用层剥去首部，取出应用程序数据</a:t>
              </a:r>
            </a:p>
            <a:p>
              <a:pPr marL="0" lvl="0" indent="0" defTabSz="762000">
                <a:lnSpc>
                  <a:spcPct val="100000"/>
                </a:lnSpc>
                <a:spcBef>
                  <a:spcPct val="0"/>
                </a:spcBef>
                <a:buFontTx/>
                <a:buNone/>
              </a:pPr>
              <a:r>
                <a:rPr lang="zh-CN" altLang="zh-CN" sz="2400">
                  <a:latin typeface="Arial" panose="020B0604020202090204" pitchFamily="34" charset="0"/>
                  <a:ea typeface="黑体" panose="02010600030101010101" pitchFamily="49" charset="-122"/>
                </a:rPr>
                <a:t>上交给应用进程</a:t>
              </a:r>
            </a:p>
          </p:txBody>
        </p:sp>
        <p:sp>
          <p:nvSpPr>
            <p:cNvPr id="47135" name="AutoShape 31"/>
            <p:cNvSpPr/>
            <p:nvPr/>
          </p:nvSpPr>
          <p:spPr>
            <a:xfrm rot="-10800000" flipV="1">
              <a:off x="8305800" y="2744788"/>
              <a:ext cx="196850" cy="396875"/>
            </a:xfrm>
            <a:prstGeom prst="upArrow">
              <a:avLst>
                <a:gd name="adj1" fmla="val 50000"/>
                <a:gd name="adj2" fmla="val 50403"/>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1800">
                <a:latin typeface="Tahoma" panose="020B0604030504040204" pitchFamily="34" charset="0"/>
                <a:ea typeface="宋体" panose="02010600030101010101" pitchFamily="2" charset="-122"/>
              </a:endParaRPr>
            </a:p>
          </p:txBody>
        </p:sp>
      </p:grpSp>
      <p:sp>
        <p:nvSpPr>
          <p:cNvPr id="2" name="标题 1"/>
          <p:cNvSpPr>
            <a:spLocks noGrp="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TCP/IP</a:t>
            </a:r>
            <a:r>
              <a:rPr lang="zh-CN" altLang="en-US" sz="2000" kern="1200">
                <a:solidFill>
                  <a:srgbClr val="0070C0"/>
                </a:solidFill>
                <a:latin typeface="微软雅黑" panose="020B0503020204020204" pitchFamily="34" charset="-122"/>
                <a:ea typeface="微软雅黑" panose="020B0503020204020204" pitchFamily="34" charset="-122"/>
                <a:cs typeface="+mj-cs"/>
              </a:rPr>
              <a:t>通信过程</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29" name="组合 38"/>
          <p:cNvGrpSpPr/>
          <p:nvPr/>
        </p:nvGrpSpPr>
        <p:grpSpPr>
          <a:xfrm>
            <a:off x="250825" y="679450"/>
            <a:ext cx="8704263" cy="3763963"/>
            <a:chOff x="87313" y="1864100"/>
            <a:chExt cx="8991600" cy="4373188"/>
          </a:xfrm>
        </p:grpSpPr>
        <p:sp>
          <p:nvSpPr>
            <p:cNvPr id="48131" name="AutoShape 3"/>
            <p:cNvSpPr/>
            <p:nvPr/>
          </p:nvSpPr>
          <p:spPr>
            <a:xfrm rot="-5400000">
              <a:off x="4374356" y="1532731"/>
              <a:ext cx="417513" cy="8991600"/>
            </a:xfrm>
            <a:prstGeom prst="can">
              <a:avLst>
                <a:gd name="adj" fmla="val 48653"/>
              </a:avLst>
            </a:prstGeom>
            <a:gradFill rotWithShape="0">
              <a:gsLst>
                <a:gs pos="0">
                  <a:srgbClr val="ACACAC"/>
                </a:gs>
                <a:gs pos="50000">
                  <a:srgbClr val="EAEAEA"/>
                </a:gs>
                <a:gs pos="100000">
                  <a:srgbClr val="ACACAC"/>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400">
                <a:latin typeface="Tahoma" panose="020B0604030504040204" pitchFamily="34" charset="0"/>
                <a:ea typeface="宋体" panose="02010600030101010101" pitchFamily="2" charset="-122"/>
              </a:endParaRPr>
            </a:p>
          </p:txBody>
        </p:sp>
        <p:sp>
          <p:nvSpPr>
            <p:cNvPr id="48132" name="AutoShape 4"/>
            <p:cNvSpPr/>
            <p:nvPr/>
          </p:nvSpPr>
          <p:spPr>
            <a:xfrm>
              <a:off x="533400" y="2847975"/>
              <a:ext cx="838200" cy="2997200"/>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400">
                <a:latin typeface="Tahoma" panose="020B0604030504040204" pitchFamily="34" charset="0"/>
                <a:ea typeface="宋体" panose="02010600030101010101" pitchFamily="2" charset="-122"/>
              </a:endParaRPr>
            </a:p>
          </p:txBody>
        </p:sp>
        <p:sp>
          <p:nvSpPr>
            <p:cNvPr id="48133" name="Text Box 5"/>
            <p:cNvSpPr txBox="1"/>
            <p:nvPr/>
          </p:nvSpPr>
          <p:spPr>
            <a:xfrm>
              <a:off x="781050" y="3027363"/>
              <a:ext cx="323269" cy="42903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800">
                  <a:latin typeface="Arial" panose="020B0604020202090204" pitchFamily="34" charset="0"/>
                  <a:ea typeface="宋体" panose="02010600030101010101" pitchFamily="2" charset="-122"/>
                </a:rPr>
                <a:t>5</a:t>
              </a:r>
            </a:p>
          </p:txBody>
        </p:sp>
        <p:sp>
          <p:nvSpPr>
            <p:cNvPr id="48134" name="Text Box 6"/>
            <p:cNvSpPr txBox="1"/>
            <p:nvPr/>
          </p:nvSpPr>
          <p:spPr>
            <a:xfrm>
              <a:off x="781050" y="3654426"/>
              <a:ext cx="323269" cy="42903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800">
                  <a:latin typeface="Arial" panose="020B0604020202090204" pitchFamily="34" charset="0"/>
                  <a:ea typeface="宋体" panose="02010600030101010101" pitchFamily="2" charset="-122"/>
                </a:rPr>
                <a:t>4</a:t>
              </a:r>
            </a:p>
          </p:txBody>
        </p:sp>
        <p:sp>
          <p:nvSpPr>
            <p:cNvPr id="48135" name="Text Box 7"/>
            <p:cNvSpPr txBox="1"/>
            <p:nvPr/>
          </p:nvSpPr>
          <p:spPr>
            <a:xfrm>
              <a:off x="781050" y="4211639"/>
              <a:ext cx="323269" cy="42903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800">
                  <a:latin typeface="Arial" panose="020B0604020202090204" pitchFamily="34" charset="0"/>
                  <a:ea typeface="宋体" panose="02010600030101010101" pitchFamily="2" charset="-122"/>
                </a:rPr>
                <a:t>3</a:t>
              </a:r>
            </a:p>
          </p:txBody>
        </p:sp>
        <p:sp>
          <p:nvSpPr>
            <p:cNvPr id="48136" name="Text Box 8"/>
            <p:cNvSpPr txBox="1"/>
            <p:nvPr/>
          </p:nvSpPr>
          <p:spPr>
            <a:xfrm>
              <a:off x="781050" y="4770437"/>
              <a:ext cx="323269" cy="42903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800">
                  <a:latin typeface="Arial" panose="020B0604020202090204" pitchFamily="34" charset="0"/>
                  <a:ea typeface="宋体" panose="02010600030101010101" pitchFamily="2" charset="-122"/>
                </a:rPr>
                <a:t>2</a:t>
              </a:r>
            </a:p>
          </p:txBody>
        </p:sp>
        <p:sp>
          <p:nvSpPr>
            <p:cNvPr id="48137" name="Text Box 9"/>
            <p:cNvSpPr txBox="1"/>
            <p:nvPr/>
          </p:nvSpPr>
          <p:spPr>
            <a:xfrm>
              <a:off x="781050" y="5337174"/>
              <a:ext cx="323269" cy="42903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800">
                  <a:latin typeface="Arial" panose="020B0604020202090204" pitchFamily="34" charset="0"/>
                  <a:ea typeface="宋体" panose="02010600030101010101" pitchFamily="2" charset="-122"/>
                </a:rPr>
                <a:t>1</a:t>
              </a:r>
            </a:p>
          </p:txBody>
        </p:sp>
        <p:sp>
          <p:nvSpPr>
            <p:cNvPr id="48138" name="未知"/>
            <p:cNvSpPr/>
            <p:nvPr/>
          </p:nvSpPr>
          <p:spPr>
            <a:xfrm>
              <a:off x="533400" y="344963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39" name="未知"/>
            <p:cNvSpPr/>
            <p:nvPr/>
          </p:nvSpPr>
          <p:spPr>
            <a:xfrm>
              <a:off x="542925" y="40243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40" name="未知"/>
            <p:cNvSpPr/>
            <p:nvPr/>
          </p:nvSpPr>
          <p:spPr>
            <a:xfrm>
              <a:off x="520700" y="4600575"/>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41" name="未知"/>
            <p:cNvSpPr/>
            <p:nvPr/>
          </p:nvSpPr>
          <p:spPr>
            <a:xfrm>
              <a:off x="520700" y="5192713"/>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42" name="AutoShape 14"/>
            <p:cNvSpPr/>
            <p:nvPr/>
          </p:nvSpPr>
          <p:spPr>
            <a:xfrm>
              <a:off x="7886700" y="2814638"/>
              <a:ext cx="838200" cy="3030537"/>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400">
                <a:latin typeface="Tahoma" panose="020B0604030504040204" pitchFamily="34" charset="0"/>
                <a:ea typeface="宋体" panose="02010600030101010101" pitchFamily="2" charset="-122"/>
              </a:endParaRPr>
            </a:p>
          </p:txBody>
        </p:sp>
        <p:sp>
          <p:nvSpPr>
            <p:cNvPr id="48143" name="Text Box 15"/>
            <p:cNvSpPr txBox="1"/>
            <p:nvPr/>
          </p:nvSpPr>
          <p:spPr>
            <a:xfrm>
              <a:off x="7924801" y="2992438"/>
              <a:ext cx="323269" cy="42903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800">
                  <a:latin typeface="Arial" panose="020B0604020202090204" pitchFamily="34" charset="0"/>
                  <a:ea typeface="宋体" panose="02010600030101010101" pitchFamily="2" charset="-122"/>
                </a:rPr>
                <a:t>5</a:t>
              </a:r>
            </a:p>
          </p:txBody>
        </p:sp>
        <p:sp>
          <p:nvSpPr>
            <p:cNvPr id="48144" name="Text Box 16"/>
            <p:cNvSpPr txBox="1"/>
            <p:nvPr/>
          </p:nvSpPr>
          <p:spPr>
            <a:xfrm>
              <a:off x="7924801" y="3619502"/>
              <a:ext cx="323269" cy="42903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800">
                  <a:latin typeface="Arial" panose="020B0604020202090204" pitchFamily="34" charset="0"/>
                  <a:ea typeface="宋体" panose="02010600030101010101" pitchFamily="2" charset="-122"/>
                </a:rPr>
                <a:t>4</a:t>
              </a:r>
            </a:p>
          </p:txBody>
        </p:sp>
        <p:sp>
          <p:nvSpPr>
            <p:cNvPr id="48145" name="Text Box 17"/>
            <p:cNvSpPr txBox="1"/>
            <p:nvPr/>
          </p:nvSpPr>
          <p:spPr>
            <a:xfrm>
              <a:off x="7924801" y="4176713"/>
              <a:ext cx="323269" cy="42903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800">
                  <a:latin typeface="Arial" panose="020B0604020202090204" pitchFamily="34" charset="0"/>
                  <a:ea typeface="宋体" panose="02010600030101010101" pitchFamily="2" charset="-122"/>
                </a:rPr>
                <a:t>3</a:t>
              </a:r>
            </a:p>
          </p:txBody>
        </p:sp>
        <p:sp>
          <p:nvSpPr>
            <p:cNvPr id="48146" name="Text Box 18"/>
            <p:cNvSpPr txBox="1"/>
            <p:nvPr/>
          </p:nvSpPr>
          <p:spPr>
            <a:xfrm>
              <a:off x="7924801" y="4737098"/>
              <a:ext cx="323269" cy="42903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800">
                  <a:latin typeface="Arial" panose="020B0604020202090204" pitchFamily="34" charset="0"/>
                  <a:ea typeface="宋体" panose="02010600030101010101" pitchFamily="2" charset="-122"/>
                </a:rPr>
                <a:t>2</a:t>
              </a:r>
            </a:p>
          </p:txBody>
        </p:sp>
        <p:sp>
          <p:nvSpPr>
            <p:cNvPr id="48147" name="Text Box 19"/>
            <p:cNvSpPr txBox="1"/>
            <p:nvPr/>
          </p:nvSpPr>
          <p:spPr>
            <a:xfrm>
              <a:off x="7924801" y="5302250"/>
              <a:ext cx="323269" cy="42903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800">
                  <a:latin typeface="Arial" panose="020B0604020202090204" pitchFamily="34" charset="0"/>
                  <a:ea typeface="宋体" panose="02010600030101010101" pitchFamily="2" charset="-122"/>
                </a:rPr>
                <a:t>1</a:t>
              </a:r>
            </a:p>
          </p:txBody>
        </p:sp>
        <p:sp>
          <p:nvSpPr>
            <p:cNvPr id="48148" name="未知"/>
            <p:cNvSpPr/>
            <p:nvPr/>
          </p:nvSpPr>
          <p:spPr>
            <a:xfrm>
              <a:off x="7886700" y="34147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49" name="未知"/>
            <p:cNvSpPr/>
            <p:nvPr/>
          </p:nvSpPr>
          <p:spPr>
            <a:xfrm>
              <a:off x="7896225" y="398938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50" name="未知"/>
            <p:cNvSpPr/>
            <p:nvPr/>
          </p:nvSpPr>
          <p:spPr>
            <a:xfrm>
              <a:off x="7874000" y="4565650"/>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51" name="未知"/>
            <p:cNvSpPr/>
            <p:nvPr/>
          </p:nvSpPr>
          <p:spPr>
            <a:xfrm>
              <a:off x="7874000" y="5157788"/>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8152" name="Text Box 24"/>
            <p:cNvSpPr txBox="1"/>
            <p:nvPr/>
          </p:nvSpPr>
          <p:spPr>
            <a:xfrm>
              <a:off x="395288" y="1864100"/>
              <a:ext cx="833344" cy="42903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800">
                  <a:latin typeface="Arial" panose="020B0604020202090204" pitchFamily="34" charset="0"/>
                  <a:ea typeface="黑体" panose="02010600030101010101" pitchFamily="49" charset="-122"/>
                </a:rPr>
                <a:t>主机</a:t>
              </a:r>
              <a:r>
                <a:rPr lang="zh-CN" altLang="zh-CN" sz="900">
                  <a:latin typeface="Arial" panose="020B0604020202090204" pitchFamily="34" charset="0"/>
                  <a:ea typeface="黑体" panose="02010600030101010101" pitchFamily="49" charset="-122"/>
                </a:rPr>
                <a:t> </a:t>
              </a:r>
              <a:r>
                <a:rPr lang="zh-CN" altLang="zh-CN" sz="1800">
                  <a:latin typeface="Arial" panose="020B0604020202090204" pitchFamily="34" charset="0"/>
                  <a:ea typeface="黑体" panose="02010600030101010101" pitchFamily="49" charset="-122"/>
                </a:rPr>
                <a:t>1</a:t>
              </a:r>
            </a:p>
          </p:txBody>
        </p:sp>
        <p:sp>
          <p:nvSpPr>
            <p:cNvPr id="48153" name="AutoShape 25"/>
            <p:cNvSpPr/>
            <p:nvPr/>
          </p:nvSpPr>
          <p:spPr>
            <a:xfrm>
              <a:off x="8034338" y="2317750"/>
              <a:ext cx="685800" cy="557213"/>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400">
                <a:latin typeface="Tahoma" panose="020B0604030504040204" pitchFamily="34" charset="0"/>
                <a:ea typeface="宋体" panose="02010600030101010101" pitchFamily="2" charset="-122"/>
              </a:endParaRPr>
            </a:p>
          </p:txBody>
        </p:sp>
        <p:sp>
          <p:nvSpPr>
            <p:cNvPr id="48154" name="Text Box 26"/>
            <p:cNvSpPr txBox="1"/>
            <p:nvPr/>
          </p:nvSpPr>
          <p:spPr>
            <a:xfrm>
              <a:off x="7985322" y="2337225"/>
              <a:ext cx="596524" cy="42903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800">
                  <a:latin typeface="Arial" panose="020B0604020202090204" pitchFamily="34" charset="0"/>
                  <a:ea typeface="宋体" panose="02010600030101010101" pitchFamily="2" charset="-122"/>
                </a:rPr>
                <a:t>AP</a:t>
              </a:r>
              <a:r>
                <a:rPr lang="zh-CN" altLang="zh-CN" sz="1800" b="1" baseline="-25000">
                  <a:latin typeface="Arial" panose="020B0604020202090204" pitchFamily="34" charset="0"/>
                  <a:ea typeface="宋体" panose="02010600030101010101" pitchFamily="2" charset="-122"/>
                </a:rPr>
                <a:t>2</a:t>
              </a:r>
              <a:endParaRPr lang="zh-CN" altLang="zh-CN" sz="1800" b="1">
                <a:latin typeface="Arial" panose="020B0604020202090204" pitchFamily="34" charset="0"/>
                <a:ea typeface="宋体" panose="02010600030101010101" pitchFamily="2" charset="-122"/>
              </a:endParaRPr>
            </a:p>
          </p:txBody>
        </p:sp>
        <p:sp>
          <p:nvSpPr>
            <p:cNvPr id="48155" name="AutoShape 27"/>
            <p:cNvSpPr/>
            <p:nvPr/>
          </p:nvSpPr>
          <p:spPr>
            <a:xfrm>
              <a:off x="538163" y="2360613"/>
              <a:ext cx="685800" cy="557212"/>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400">
                <a:latin typeface="Tahoma" panose="020B0604030504040204" pitchFamily="34" charset="0"/>
                <a:ea typeface="宋体" panose="02010600030101010101" pitchFamily="2" charset="-122"/>
              </a:endParaRPr>
            </a:p>
          </p:txBody>
        </p:sp>
        <p:sp>
          <p:nvSpPr>
            <p:cNvPr id="48156" name="Text Box 28"/>
            <p:cNvSpPr txBox="1"/>
            <p:nvPr/>
          </p:nvSpPr>
          <p:spPr>
            <a:xfrm>
              <a:off x="498430" y="2431850"/>
              <a:ext cx="596524" cy="42903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800">
                  <a:latin typeface="Arial" panose="020B0604020202090204" pitchFamily="34" charset="0"/>
                  <a:ea typeface="宋体" panose="02010600030101010101" pitchFamily="2" charset="-122"/>
                </a:rPr>
                <a:t>AP</a:t>
              </a:r>
              <a:r>
                <a:rPr lang="zh-CN" altLang="zh-CN" sz="1800" b="1" baseline="-25000">
                  <a:latin typeface="Arial" panose="020B0604020202090204" pitchFamily="34" charset="0"/>
                  <a:ea typeface="宋体" panose="02010600030101010101" pitchFamily="2" charset="-122"/>
                </a:rPr>
                <a:t>1</a:t>
              </a:r>
              <a:endParaRPr lang="zh-CN" altLang="zh-CN" sz="1800" b="1">
                <a:latin typeface="Arial" panose="020B0604020202090204" pitchFamily="34" charset="0"/>
                <a:ea typeface="宋体" panose="02010600030101010101" pitchFamily="2" charset="-122"/>
              </a:endParaRPr>
            </a:p>
          </p:txBody>
        </p:sp>
        <p:sp>
          <p:nvSpPr>
            <p:cNvPr id="48157" name="Text Box 29"/>
            <p:cNvSpPr txBox="1"/>
            <p:nvPr/>
          </p:nvSpPr>
          <p:spPr>
            <a:xfrm>
              <a:off x="7770813" y="1864100"/>
              <a:ext cx="833344" cy="429034"/>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1800">
                  <a:latin typeface="Arial" panose="020B0604020202090204" pitchFamily="34" charset="0"/>
                  <a:ea typeface="黑体" panose="02010600030101010101" pitchFamily="49" charset="-122"/>
                </a:rPr>
                <a:t>主机</a:t>
              </a:r>
              <a:r>
                <a:rPr lang="zh-CN" altLang="zh-CN" sz="900">
                  <a:latin typeface="Arial" panose="020B0604020202090204" pitchFamily="34" charset="0"/>
                  <a:ea typeface="黑体" panose="02010600030101010101" pitchFamily="49" charset="-122"/>
                </a:rPr>
                <a:t> </a:t>
              </a:r>
              <a:r>
                <a:rPr lang="zh-CN" altLang="zh-CN" sz="1800">
                  <a:latin typeface="Arial" panose="020B0604020202090204" pitchFamily="34" charset="0"/>
                  <a:ea typeface="黑体" panose="02010600030101010101" pitchFamily="49" charset="-122"/>
                </a:rPr>
                <a:t>2</a:t>
              </a:r>
            </a:p>
          </p:txBody>
        </p:sp>
        <p:sp>
          <p:nvSpPr>
            <p:cNvPr id="54303" name="AutoShape 30"/>
            <p:cNvSpPr>
              <a:spLocks noChangeArrowheads="1"/>
            </p:cNvSpPr>
            <p:nvPr/>
          </p:nvSpPr>
          <p:spPr bwMode="auto">
            <a:xfrm>
              <a:off x="3539314" y="1989522"/>
              <a:ext cx="3479879" cy="1200737"/>
            </a:xfrm>
            <a:prstGeom prst="wedgeRoundRectCallout">
              <a:avLst>
                <a:gd name="adj1" fmla="val 87310"/>
                <a:gd name="adj2" fmla="val 18931"/>
                <a:gd name="adj3" fmla="val 16667"/>
              </a:avLst>
            </a:prstGeom>
          </p:spPr>
          <p:style>
            <a:lnRef idx="2">
              <a:schemeClr val="accent4">
                <a:shade val="15000"/>
              </a:schemeClr>
            </a:lnRef>
            <a:fillRef idx="1">
              <a:schemeClr val="accent4"/>
            </a:fillRef>
            <a:effectRef idx="0">
              <a:schemeClr val="accent4"/>
            </a:effectRef>
            <a:fontRef idx="minor">
              <a:schemeClr val="lt1"/>
            </a:fontRef>
          </p:style>
          <p:txBody>
            <a:bodyPr/>
            <a:lstStyle>
              <a:lvl1pPr>
                <a:spcBef>
                  <a:spcPct val="20000"/>
                </a:spcBef>
                <a:buFont typeface="Wingdings" panose="05000000000000000000" pitchFamily="2" charset="2"/>
                <a:buChar char="n"/>
                <a:defRPr sz="2800" b="1">
                  <a:solidFill>
                    <a:schemeClr val="tx1"/>
                  </a:solidFill>
                  <a:latin typeface="Arial" panose="020B0604020202090204" pitchFamily="34" charset="0"/>
                  <a:ea typeface="黑体" panose="02010600030101010101" pitchFamily="49" charset="-122"/>
                </a:defRPr>
              </a:lvl1pPr>
              <a:lvl2pPr marL="742950" indent="-285750">
                <a:spcBef>
                  <a:spcPct val="30000"/>
                </a:spcBef>
                <a:buFont typeface="Wingdings" panose="05000000000000000000" pitchFamily="2" charset="2"/>
                <a:buChar char="l"/>
                <a:defRPr sz="2400" b="1">
                  <a:solidFill>
                    <a:schemeClr val="tx1"/>
                  </a:solidFill>
                  <a:latin typeface="Arial" panose="020B0604020202090204" pitchFamily="34" charset="0"/>
                  <a:ea typeface="宋体" panose="02010600030101010101" pitchFamily="2" charset="-122"/>
                </a:defRPr>
              </a:lvl2pPr>
              <a:lvl3pPr marL="1143000" indent="-228600">
                <a:spcBef>
                  <a:spcPct val="20000"/>
                </a:spcBef>
                <a:buFont typeface="Wingdings" panose="05000000000000000000" pitchFamily="2" charset="2"/>
                <a:buChar char="•"/>
                <a:defRPr sz="2400" b="1">
                  <a:solidFill>
                    <a:schemeClr val="tx1"/>
                  </a:solidFill>
                  <a:latin typeface="Arial" panose="020B0604020202090204" pitchFamily="34" charset="0"/>
                  <a:ea typeface="宋体" panose="02010600030101010101" pitchFamily="2" charset="-122"/>
                </a:defRPr>
              </a:lvl3pPr>
              <a:lvl4pPr marL="16002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4pPr>
              <a:lvl5pPr marL="2057400" indent="-228600">
                <a:spcBef>
                  <a:spcPct val="20000"/>
                </a:spcBef>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9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6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48159" name="Text Box 31"/>
            <p:cNvSpPr txBox="1"/>
            <p:nvPr/>
          </p:nvSpPr>
          <p:spPr>
            <a:xfrm>
              <a:off x="3800233" y="2060576"/>
              <a:ext cx="3283191" cy="965327"/>
            </a:xfrm>
            <a:prstGeom prst="rect">
              <a:avLst/>
            </a:prstGeom>
            <a:noFill/>
            <a:ln w="9525">
              <a:noFill/>
            </a:ln>
          </p:spPr>
          <p:txBody>
            <a:bodyPr>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400">
                  <a:latin typeface="Tahoma" panose="020B0604030504040204" pitchFamily="34" charset="0"/>
                  <a:ea typeface="黑体" panose="02010600030101010101" pitchFamily="49" charset="-122"/>
                </a:rPr>
                <a:t>我收到了</a:t>
              </a:r>
              <a:r>
                <a:rPr lang="zh-CN" altLang="zh-CN" sz="1200">
                  <a:latin typeface="Arial" panose="020B0604020202090204" pitchFamily="34" charset="0"/>
                  <a:ea typeface="黑体" panose="02010600030101010101" pitchFamily="49" charset="-122"/>
                </a:rPr>
                <a:t> </a:t>
              </a:r>
              <a:r>
                <a:rPr lang="zh-CN" altLang="zh-CN" sz="2400">
                  <a:latin typeface="Arial" panose="020B0604020202090204" pitchFamily="34" charset="0"/>
                  <a:ea typeface="黑体" panose="02010600030101010101" pitchFamily="49" charset="-122"/>
                </a:rPr>
                <a:t>AP</a:t>
              </a:r>
              <a:r>
                <a:rPr lang="zh-CN" altLang="zh-CN" sz="2400" baseline="-25000">
                  <a:latin typeface="Arial" panose="020B0604020202090204" pitchFamily="34" charset="0"/>
                  <a:ea typeface="黑体" panose="02010600030101010101" pitchFamily="49" charset="-122"/>
                </a:rPr>
                <a:t>1</a:t>
              </a:r>
              <a:r>
                <a:rPr lang="zh-CN" altLang="zh-CN" sz="1600">
                  <a:latin typeface="Arial" panose="020B0604020202090204" pitchFamily="34" charset="0"/>
                  <a:ea typeface="黑体" panose="02010600030101010101" pitchFamily="49" charset="-122"/>
                </a:rPr>
                <a:t> </a:t>
              </a:r>
              <a:r>
                <a:rPr lang="zh-CN" altLang="zh-CN" sz="2400">
                  <a:latin typeface="Tahoma" panose="020B0604030504040204" pitchFamily="34" charset="0"/>
                  <a:ea typeface="黑体" panose="02010600030101010101" pitchFamily="49" charset="-122"/>
                </a:rPr>
                <a:t>发来的</a:t>
              </a:r>
              <a:r>
                <a:rPr lang="zh-CN" altLang="zh-CN" sz="2400">
                  <a:latin typeface="Arial" panose="020B0604020202090204" pitchFamily="34" charset="0"/>
                  <a:ea typeface="黑体" panose="02010600030101010101" pitchFamily="49" charset="-122"/>
                </a:rPr>
                <a:t>应用程序数据！</a:t>
              </a:r>
            </a:p>
          </p:txBody>
        </p:sp>
      </p:grpSp>
      <p:sp>
        <p:nvSpPr>
          <p:cNvPr id="2" name="标题 1"/>
          <p:cNvSpPr>
            <a:spLocks noGrp="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TCP/IP</a:t>
            </a:r>
            <a:r>
              <a:rPr lang="zh-CN" altLang="en-US" sz="2000" kern="1200">
                <a:solidFill>
                  <a:srgbClr val="0070C0"/>
                </a:solidFill>
                <a:latin typeface="微软雅黑" panose="020B0503020204020204" pitchFamily="34" charset="-122"/>
                <a:ea typeface="微软雅黑" panose="020B0503020204020204" pitchFamily="34" charset="-122"/>
                <a:cs typeface="+mj-cs"/>
              </a:rPr>
              <a:t>通信过程</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153" name="组合 50"/>
          <p:cNvGrpSpPr/>
          <p:nvPr/>
        </p:nvGrpSpPr>
        <p:grpSpPr>
          <a:xfrm>
            <a:off x="250825" y="679450"/>
            <a:ext cx="8724900" cy="3836988"/>
            <a:chOff x="87313" y="1810702"/>
            <a:chExt cx="8991600" cy="4426586"/>
          </a:xfrm>
        </p:grpSpPr>
        <p:sp>
          <p:nvSpPr>
            <p:cNvPr id="49155" name="AutoShape 3"/>
            <p:cNvSpPr/>
            <p:nvPr/>
          </p:nvSpPr>
          <p:spPr>
            <a:xfrm rot="-5400000">
              <a:off x="4374356" y="1532731"/>
              <a:ext cx="417513" cy="8991600"/>
            </a:xfrm>
            <a:prstGeom prst="can">
              <a:avLst>
                <a:gd name="adj" fmla="val 48653"/>
              </a:avLst>
            </a:prstGeom>
            <a:gradFill rotWithShape="0">
              <a:gsLst>
                <a:gs pos="0">
                  <a:srgbClr val="ACACAC"/>
                </a:gs>
                <a:gs pos="50000">
                  <a:srgbClr val="EAEAEA"/>
                </a:gs>
                <a:gs pos="100000">
                  <a:srgbClr val="ACACAC"/>
                </a:gs>
              </a:gsLst>
              <a:lin ang="5400000" scaled="1"/>
              <a:tileRect/>
            </a:gradFill>
            <a:ln w="19050" cap="flat" cmpd="sng">
              <a:solidFill>
                <a:schemeClr val="tx1"/>
              </a:solidFill>
              <a:prstDash val="solid"/>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sp>
          <p:nvSpPr>
            <p:cNvPr id="49156" name="AutoShape 4"/>
            <p:cNvSpPr/>
            <p:nvPr/>
          </p:nvSpPr>
          <p:spPr>
            <a:xfrm>
              <a:off x="533400" y="2847975"/>
              <a:ext cx="838200" cy="2997200"/>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sp>
          <p:nvSpPr>
            <p:cNvPr id="49157" name="Text Box 5"/>
            <p:cNvSpPr txBox="1"/>
            <p:nvPr/>
          </p:nvSpPr>
          <p:spPr>
            <a:xfrm>
              <a:off x="781050" y="3027363"/>
              <a:ext cx="337366" cy="46163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panose="020B0604020202090204" pitchFamily="34" charset="0"/>
                  <a:ea typeface="宋体" panose="02010600030101010101" pitchFamily="2" charset="-122"/>
                </a:rPr>
                <a:t>5</a:t>
              </a:r>
            </a:p>
          </p:txBody>
        </p:sp>
        <p:sp>
          <p:nvSpPr>
            <p:cNvPr id="49158" name="Text Box 6"/>
            <p:cNvSpPr txBox="1"/>
            <p:nvPr/>
          </p:nvSpPr>
          <p:spPr>
            <a:xfrm>
              <a:off x="781050" y="3654426"/>
              <a:ext cx="337366" cy="46163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panose="020B0604020202090204" pitchFamily="34" charset="0"/>
                  <a:ea typeface="宋体" panose="02010600030101010101" pitchFamily="2" charset="-122"/>
                </a:rPr>
                <a:t>4</a:t>
              </a:r>
            </a:p>
          </p:txBody>
        </p:sp>
        <p:sp>
          <p:nvSpPr>
            <p:cNvPr id="49159" name="Text Box 7"/>
            <p:cNvSpPr txBox="1"/>
            <p:nvPr/>
          </p:nvSpPr>
          <p:spPr>
            <a:xfrm>
              <a:off x="781050" y="4211637"/>
              <a:ext cx="337366" cy="46163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panose="020B0604020202090204" pitchFamily="34" charset="0"/>
                  <a:ea typeface="宋体" panose="02010600030101010101" pitchFamily="2" charset="-122"/>
                </a:rPr>
                <a:t>3</a:t>
              </a:r>
            </a:p>
          </p:txBody>
        </p:sp>
        <p:sp>
          <p:nvSpPr>
            <p:cNvPr id="49160" name="Text Box 8"/>
            <p:cNvSpPr txBox="1"/>
            <p:nvPr/>
          </p:nvSpPr>
          <p:spPr>
            <a:xfrm>
              <a:off x="781050" y="4770438"/>
              <a:ext cx="337366" cy="46163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panose="020B0604020202090204" pitchFamily="34" charset="0"/>
                  <a:ea typeface="宋体" panose="02010600030101010101" pitchFamily="2" charset="-122"/>
                </a:rPr>
                <a:t>2</a:t>
              </a:r>
            </a:p>
          </p:txBody>
        </p:sp>
        <p:sp>
          <p:nvSpPr>
            <p:cNvPr id="49161" name="Text Box 9"/>
            <p:cNvSpPr txBox="1"/>
            <p:nvPr/>
          </p:nvSpPr>
          <p:spPr>
            <a:xfrm>
              <a:off x="781050" y="5337175"/>
              <a:ext cx="337366" cy="46163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panose="020B0604020202090204" pitchFamily="34" charset="0"/>
                  <a:ea typeface="宋体" panose="02010600030101010101" pitchFamily="2" charset="-122"/>
                </a:rPr>
                <a:t>1</a:t>
              </a:r>
            </a:p>
          </p:txBody>
        </p:sp>
        <p:sp>
          <p:nvSpPr>
            <p:cNvPr id="49162" name="未知"/>
            <p:cNvSpPr/>
            <p:nvPr/>
          </p:nvSpPr>
          <p:spPr>
            <a:xfrm>
              <a:off x="533400" y="344963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63" name="未知"/>
            <p:cNvSpPr/>
            <p:nvPr/>
          </p:nvSpPr>
          <p:spPr>
            <a:xfrm>
              <a:off x="542925" y="40243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64" name="未知"/>
            <p:cNvSpPr/>
            <p:nvPr/>
          </p:nvSpPr>
          <p:spPr>
            <a:xfrm>
              <a:off x="520700" y="4600575"/>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65" name="未知"/>
            <p:cNvSpPr/>
            <p:nvPr/>
          </p:nvSpPr>
          <p:spPr>
            <a:xfrm>
              <a:off x="520700" y="5192713"/>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66" name="AutoShape 14"/>
            <p:cNvSpPr/>
            <p:nvPr/>
          </p:nvSpPr>
          <p:spPr>
            <a:xfrm>
              <a:off x="7886700" y="2814638"/>
              <a:ext cx="838200" cy="3030537"/>
            </a:xfrm>
            <a:prstGeom prst="cube">
              <a:avLst>
                <a:gd name="adj" fmla="val 10764"/>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sp>
          <p:nvSpPr>
            <p:cNvPr id="49167" name="Text Box 15"/>
            <p:cNvSpPr txBox="1"/>
            <p:nvPr/>
          </p:nvSpPr>
          <p:spPr>
            <a:xfrm>
              <a:off x="7924801" y="2992438"/>
              <a:ext cx="337366" cy="46163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panose="020B0604020202090204" pitchFamily="34" charset="0"/>
                  <a:ea typeface="宋体" panose="02010600030101010101" pitchFamily="2" charset="-122"/>
                </a:rPr>
                <a:t>5</a:t>
              </a:r>
            </a:p>
          </p:txBody>
        </p:sp>
        <p:sp>
          <p:nvSpPr>
            <p:cNvPr id="49168" name="Text Box 16"/>
            <p:cNvSpPr txBox="1"/>
            <p:nvPr/>
          </p:nvSpPr>
          <p:spPr>
            <a:xfrm>
              <a:off x="7924801" y="3619500"/>
              <a:ext cx="337366" cy="46163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panose="020B0604020202090204" pitchFamily="34" charset="0"/>
                  <a:ea typeface="宋体" panose="02010600030101010101" pitchFamily="2" charset="-122"/>
                </a:rPr>
                <a:t>4</a:t>
              </a:r>
            </a:p>
          </p:txBody>
        </p:sp>
        <p:sp>
          <p:nvSpPr>
            <p:cNvPr id="49169" name="Text Box 17"/>
            <p:cNvSpPr txBox="1"/>
            <p:nvPr/>
          </p:nvSpPr>
          <p:spPr>
            <a:xfrm>
              <a:off x="7924801" y="4176714"/>
              <a:ext cx="337366" cy="46163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panose="020B0604020202090204" pitchFamily="34" charset="0"/>
                  <a:ea typeface="宋体" panose="02010600030101010101" pitchFamily="2" charset="-122"/>
                </a:rPr>
                <a:t>3</a:t>
              </a:r>
            </a:p>
          </p:txBody>
        </p:sp>
        <p:sp>
          <p:nvSpPr>
            <p:cNvPr id="49170" name="Text Box 18"/>
            <p:cNvSpPr txBox="1"/>
            <p:nvPr/>
          </p:nvSpPr>
          <p:spPr>
            <a:xfrm>
              <a:off x="7924801" y="4737101"/>
              <a:ext cx="337366" cy="46163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panose="020B0604020202090204" pitchFamily="34" charset="0"/>
                  <a:ea typeface="宋体" panose="02010600030101010101" pitchFamily="2" charset="-122"/>
                </a:rPr>
                <a:t>2</a:t>
              </a:r>
            </a:p>
          </p:txBody>
        </p:sp>
        <p:sp>
          <p:nvSpPr>
            <p:cNvPr id="49171" name="Text Box 19"/>
            <p:cNvSpPr txBox="1"/>
            <p:nvPr/>
          </p:nvSpPr>
          <p:spPr>
            <a:xfrm>
              <a:off x="7924801" y="5302250"/>
              <a:ext cx="337366" cy="46163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panose="020B0604020202090204" pitchFamily="34" charset="0"/>
                  <a:ea typeface="宋体" panose="02010600030101010101" pitchFamily="2" charset="-122"/>
                </a:rPr>
                <a:t>1</a:t>
              </a:r>
            </a:p>
          </p:txBody>
        </p:sp>
        <p:sp>
          <p:nvSpPr>
            <p:cNvPr id="49172" name="未知"/>
            <p:cNvSpPr/>
            <p:nvPr/>
          </p:nvSpPr>
          <p:spPr>
            <a:xfrm>
              <a:off x="7886700" y="3414713"/>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42"/>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3" name="未知"/>
            <p:cNvSpPr/>
            <p:nvPr/>
          </p:nvSpPr>
          <p:spPr>
            <a:xfrm>
              <a:off x="7896225" y="3989388"/>
              <a:ext cx="847725" cy="61912"/>
            </a:xfrm>
            <a:custGeom>
              <a:avLst/>
              <a:gdLst>
                <a:gd name="txL" fmla="*/ 0 w 534"/>
                <a:gd name="txT" fmla="*/ 0 h 42"/>
                <a:gd name="txR" fmla="*/ 534 w 534"/>
                <a:gd name="txB" fmla="*/ 42 h 42"/>
              </a:gdLst>
              <a:ahLst/>
              <a:cxnLst>
                <a:cxn ang="0">
                  <a:pos x="0" y="2147483646"/>
                </a:cxn>
                <a:cxn ang="0">
                  <a:pos x="2147483646" y="2147483646"/>
                </a:cxn>
                <a:cxn ang="0">
                  <a:pos x="2147483646" y="0"/>
                </a:cxn>
              </a:cxnLst>
              <a:rect l="txL" t="txT" r="txR" b="txB"/>
              <a:pathLst>
                <a:path w="534" h="42">
                  <a:moveTo>
                    <a:pt x="0" y="36"/>
                  </a:moveTo>
                  <a:lnTo>
                    <a:pt x="468" y="42"/>
                  </a:lnTo>
                  <a:cubicBezTo>
                    <a:pt x="490" y="28"/>
                    <a:pt x="534" y="0"/>
                    <a:pt x="534"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4" name="未知"/>
            <p:cNvSpPr/>
            <p:nvPr/>
          </p:nvSpPr>
          <p:spPr>
            <a:xfrm>
              <a:off x="7874000" y="4565650"/>
              <a:ext cx="869950" cy="60325"/>
            </a:xfrm>
            <a:custGeom>
              <a:avLst/>
              <a:gdLst>
                <a:gd name="txL" fmla="*/ 0 w 548"/>
                <a:gd name="txT" fmla="*/ 0 h 42"/>
                <a:gd name="txR" fmla="*/ 548 w 548"/>
                <a:gd name="txB" fmla="*/ 42 h 42"/>
              </a:gdLst>
              <a:ahLst/>
              <a:cxnLst>
                <a:cxn ang="0">
                  <a:pos x="0" y="2147483646"/>
                </a:cxn>
                <a:cxn ang="0">
                  <a:pos x="2147483646" y="2147483646"/>
                </a:cxn>
                <a:cxn ang="0">
                  <a:pos x="2147483646" y="0"/>
                </a:cxn>
              </a:cxnLst>
              <a:rect l="txL" t="txT" r="txR" b="txB"/>
              <a:pathLst>
                <a:path w="548" h="42">
                  <a:moveTo>
                    <a:pt x="0" y="42"/>
                  </a:moveTo>
                  <a:lnTo>
                    <a:pt x="482" y="42"/>
                  </a:lnTo>
                  <a:cubicBezTo>
                    <a:pt x="504" y="28"/>
                    <a:pt x="548" y="0"/>
                    <a:pt x="548"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5" name="未知"/>
            <p:cNvSpPr/>
            <p:nvPr/>
          </p:nvSpPr>
          <p:spPr>
            <a:xfrm>
              <a:off x="7874000" y="5157788"/>
              <a:ext cx="860425" cy="60325"/>
            </a:xfrm>
            <a:custGeom>
              <a:avLst/>
              <a:gdLst>
                <a:gd name="txL" fmla="*/ 0 w 542"/>
                <a:gd name="txT" fmla="*/ 0 h 42"/>
                <a:gd name="txR" fmla="*/ 542 w 542"/>
                <a:gd name="txB" fmla="*/ 42 h 42"/>
              </a:gdLst>
              <a:ahLst/>
              <a:cxnLst>
                <a:cxn ang="0">
                  <a:pos x="0" y="2147483646"/>
                </a:cxn>
                <a:cxn ang="0">
                  <a:pos x="2147483646" y="2147483646"/>
                </a:cxn>
                <a:cxn ang="0">
                  <a:pos x="2147483646" y="0"/>
                </a:cxn>
              </a:cxnLst>
              <a:rect l="txL" t="txT" r="txR" b="txB"/>
              <a:pathLst>
                <a:path w="542" h="42">
                  <a:moveTo>
                    <a:pt x="0" y="42"/>
                  </a:moveTo>
                  <a:lnTo>
                    <a:pt x="476" y="42"/>
                  </a:lnTo>
                  <a:cubicBezTo>
                    <a:pt x="498" y="28"/>
                    <a:pt x="542" y="0"/>
                    <a:pt x="542" y="0"/>
                  </a:cubicBezTo>
                </a:path>
              </a:pathLst>
            </a:custGeom>
            <a:noFill/>
            <a:ln w="1905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9176" name="Text Box 24"/>
            <p:cNvSpPr txBox="1"/>
            <p:nvPr/>
          </p:nvSpPr>
          <p:spPr>
            <a:xfrm>
              <a:off x="395288" y="1810702"/>
              <a:ext cx="902394" cy="46163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panose="020B0604020202090204" pitchFamily="34" charset="0"/>
                  <a:ea typeface="黑体" panose="02010600030101010101" pitchFamily="49" charset="-122"/>
                </a:rPr>
                <a:t>主机</a:t>
              </a:r>
              <a:r>
                <a:rPr lang="zh-CN" altLang="zh-CN" sz="1000">
                  <a:solidFill>
                    <a:srgbClr val="333399"/>
                  </a:solidFill>
                  <a:latin typeface="Arial" panose="020B0604020202090204" pitchFamily="34" charset="0"/>
                  <a:ea typeface="黑体" panose="02010600030101010101" pitchFamily="49" charset="-122"/>
                </a:rPr>
                <a:t> </a:t>
              </a:r>
              <a:r>
                <a:rPr lang="zh-CN" altLang="zh-CN" sz="2000">
                  <a:solidFill>
                    <a:srgbClr val="333399"/>
                  </a:solidFill>
                  <a:latin typeface="Arial" panose="020B0604020202090204" pitchFamily="34" charset="0"/>
                  <a:ea typeface="黑体" panose="02010600030101010101" pitchFamily="49" charset="-122"/>
                </a:rPr>
                <a:t>1</a:t>
              </a:r>
            </a:p>
          </p:txBody>
        </p:sp>
        <p:sp>
          <p:nvSpPr>
            <p:cNvPr id="49177" name="AutoShape 25"/>
            <p:cNvSpPr/>
            <p:nvPr/>
          </p:nvSpPr>
          <p:spPr>
            <a:xfrm>
              <a:off x="8034338" y="2317750"/>
              <a:ext cx="685800" cy="557213"/>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sp>
          <p:nvSpPr>
            <p:cNvPr id="49178" name="Text Box 26"/>
            <p:cNvSpPr txBox="1"/>
            <p:nvPr/>
          </p:nvSpPr>
          <p:spPr>
            <a:xfrm>
              <a:off x="7985322" y="2375799"/>
              <a:ext cx="641357" cy="46163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panose="020B0604020202090204" pitchFamily="34" charset="0"/>
                  <a:ea typeface="宋体" panose="02010600030101010101" pitchFamily="2" charset="-122"/>
                </a:rPr>
                <a:t>AP</a:t>
              </a:r>
              <a:r>
                <a:rPr lang="zh-CN" altLang="zh-CN" sz="2000" b="1" baseline="-25000">
                  <a:solidFill>
                    <a:srgbClr val="333399"/>
                  </a:solidFill>
                  <a:latin typeface="Arial" panose="020B0604020202090204" pitchFamily="34" charset="0"/>
                  <a:ea typeface="宋体" panose="02010600030101010101" pitchFamily="2" charset="-122"/>
                </a:rPr>
                <a:t>2</a:t>
              </a:r>
              <a:endParaRPr lang="zh-CN" altLang="zh-CN" sz="2000" b="1">
                <a:solidFill>
                  <a:srgbClr val="333399"/>
                </a:solidFill>
                <a:latin typeface="Arial" panose="020B0604020202090204" pitchFamily="34" charset="0"/>
                <a:ea typeface="宋体" panose="02010600030101010101" pitchFamily="2" charset="-122"/>
              </a:endParaRPr>
            </a:p>
          </p:txBody>
        </p:sp>
        <p:sp>
          <p:nvSpPr>
            <p:cNvPr id="49179" name="AutoShape 27"/>
            <p:cNvSpPr/>
            <p:nvPr/>
          </p:nvSpPr>
          <p:spPr>
            <a:xfrm>
              <a:off x="538163" y="2360613"/>
              <a:ext cx="685800" cy="557212"/>
            </a:xfrm>
            <a:prstGeom prst="cube">
              <a:avLst>
                <a:gd name="adj" fmla="val 17593"/>
              </a:avLst>
            </a:prstGeom>
            <a:solidFill>
              <a:srgbClr val="FFFF99"/>
            </a:solidFill>
            <a:ln w="19050"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sp>
          <p:nvSpPr>
            <p:cNvPr id="49180" name="Text Box 28"/>
            <p:cNvSpPr txBox="1"/>
            <p:nvPr/>
          </p:nvSpPr>
          <p:spPr>
            <a:xfrm>
              <a:off x="498430" y="2375799"/>
              <a:ext cx="641357" cy="46163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panose="020B0604020202090204" pitchFamily="34" charset="0"/>
                  <a:ea typeface="宋体" panose="02010600030101010101" pitchFamily="2" charset="-122"/>
                </a:rPr>
                <a:t>AP</a:t>
              </a:r>
              <a:r>
                <a:rPr lang="zh-CN" altLang="zh-CN" sz="2000" b="1" baseline="-25000">
                  <a:solidFill>
                    <a:srgbClr val="333399"/>
                  </a:solidFill>
                  <a:latin typeface="Arial" panose="020B0604020202090204" pitchFamily="34" charset="0"/>
                  <a:ea typeface="宋体" panose="02010600030101010101" pitchFamily="2" charset="-122"/>
                </a:rPr>
                <a:t>1</a:t>
              </a:r>
              <a:endParaRPr lang="zh-CN" altLang="zh-CN" sz="2000" b="1">
                <a:solidFill>
                  <a:srgbClr val="333399"/>
                </a:solidFill>
                <a:latin typeface="Arial" panose="020B0604020202090204" pitchFamily="34" charset="0"/>
                <a:ea typeface="宋体" panose="02010600030101010101" pitchFamily="2" charset="-122"/>
              </a:endParaRPr>
            </a:p>
          </p:txBody>
        </p:sp>
        <p:sp>
          <p:nvSpPr>
            <p:cNvPr id="49181" name="Text Box 29"/>
            <p:cNvSpPr txBox="1"/>
            <p:nvPr/>
          </p:nvSpPr>
          <p:spPr>
            <a:xfrm>
              <a:off x="7770813" y="1810702"/>
              <a:ext cx="902394" cy="46163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panose="020B0604020202090204" pitchFamily="34" charset="0"/>
                  <a:ea typeface="黑体" panose="02010600030101010101" pitchFamily="49" charset="-122"/>
                </a:rPr>
                <a:t>主机</a:t>
              </a:r>
              <a:r>
                <a:rPr lang="zh-CN" altLang="zh-CN" sz="1000">
                  <a:solidFill>
                    <a:srgbClr val="333399"/>
                  </a:solidFill>
                  <a:latin typeface="Arial" panose="020B0604020202090204" pitchFamily="34" charset="0"/>
                  <a:ea typeface="黑体" panose="02010600030101010101" pitchFamily="49" charset="-122"/>
                </a:rPr>
                <a:t> </a:t>
              </a:r>
              <a:r>
                <a:rPr lang="zh-CN" altLang="zh-CN" sz="2000">
                  <a:solidFill>
                    <a:srgbClr val="333399"/>
                  </a:solidFill>
                  <a:latin typeface="Arial" panose="020B0604020202090204" pitchFamily="34" charset="0"/>
                  <a:ea typeface="黑体" panose="02010600030101010101" pitchFamily="49" charset="-122"/>
                </a:rPr>
                <a:t>2</a:t>
              </a:r>
            </a:p>
          </p:txBody>
        </p:sp>
        <p:sp>
          <p:nvSpPr>
            <p:cNvPr id="49182" name="Rectangle 30"/>
            <p:cNvSpPr/>
            <p:nvPr/>
          </p:nvSpPr>
          <p:spPr>
            <a:xfrm>
              <a:off x="4067175" y="2493963"/>
              <a:ext cx="2592388" cy="358775"/>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Tahoma" panose="020B0604030504040204" pitchFamily="34" charset="0"/>
                  <a:ea typeface="黑体" panose="02010600030101010101" pitchFamily="49" charset="-122"/>
                </a:rPr>
                <a:t>应 用 程 序 数 据</a:t>
              </a:r>
            </a:p>
          </p:txBody>
        </p:sp>
        <p:grpSp>
          <p:nvGrpSpPr>
            <p:cNvPr id="49183" name="Group 31"/>
            <p:cNvGrpSpPr/>
            <p:nvPr/>
          </p:nvGrpSpPr>
          <p:grpSpPr>
            <a:xfrm>
              <a:off x="2433637" y="2420938"/>
              <a:ext cx="1635126" cy="1008062"/>
              <a:chOff x="-122" y="0"/>
              <a:chExt cx="1030" cy="635"/>
            </a:xfrm>
          </p:grpSpPr>
          <p:sp>
            <p:nvSpPr>
              <p:cNvPr id="49230" name="Text Box 32"/>
              <p:cNvSpPr txBox="1"/>
              <p:nvPr/>
            </p:nvSpPr>
            <p:spPr>
              <a:xfrm>
                <a:off x="-122" y="0"/>
                <a:ext cx="952" cy="29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Rounded MT Bold" panose="020F0704030504030204" pitchFamily="34" charset="0"/>
                    <a:ea typeface="黑体" panose="02010600030101010101" pitchFamily="49" charset="-122"/>
                  </a:rPr>
                  <a:t>应用层首部</a:t>
                </a:r>
                <a:endParaRPr lang="zh-CN" altLang="zh-CN" sz="2000">
                  <a:solidFill>
                    <a:srgbClr val="333399"/>
                  </a:solidFill>
                  <a:latin typeface="Times New Roman" panose="02020503050405090304" pitchFamily="18" charset="0"/>
                  <a:ea typeface="黑体" panose="02010600030101010101" pitchFamily="49" charset="-122"/>
                </a:endParaRPr>
              </a:p>
            </p:txBody>
          </p:sp>
          <p:sp>
            <p:nvSpPr>
              <p:cNvPr id="49231" name="Line 33"/>
              <p:cNvSpPr/>
              <p:nvPr/>
            </p:nvSpPr>
            <p:spPr>
              <a:xfrm>
                <a:off x="454" y="227"/>
                <a:ext cx="272" cy="223"/>
              </a:xfrm>
              <a:prstGeom prst="line">
                <a:avLst/>
              </a:prstGeom>
              <a:ln w="12700" cap="flat" cmpd="sng">
                <a:solidFill>
                  <a:srgbClr val="333399"/>
                </a:solidFill>
                <a:prstDash val="solid"/>
                <a:headEnd type="none" w="med" len="med"/>
                <a:tailEnd type="triangle" w="med" len="lg"/>
              </a:ln>
            </p:spPr>
          </p:sp>
          <p:sp>
            <p:nvSpPr>
              <p:cNvPr id="49232" name="Rectangle 34"/>
              <p:cNvSpPr/>
              <p:nvPr/>
            </p:nvSpPr>
            <p:spPr>
              <a:xfrm>
                <a:off x="590" y="409"/>
                <a:ext cx="318" cy="226"/>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1800">
                    <a:solidFill>
                      <a:srgbClr val="333399"/>
                    </a:solidFill>
                    <a:latin typeface="Arial" panose="020B0604020202090204" pitchFamily="34" charset="0"/>
                    <a:ea typeface="宋体" panose="02010600030101010101" pitchFamily="2" charset="-122"/>
                  </a:rPr>
                  <a:t>H</a:t>
                </a:r>
                <a:r>
                  <a:rPr lang="zh-CN" altLang="zh-CN" sz="1800" b="1" baseline="-25000">
                    <a:solidFill>
                      <a:srgbClr val="333399"/>
                    </a:solidFill>
                    <a:latin typeface="Arial" panose="020B0604020202090204" pitchFamily="34" charset="0"/>
                    <a:ea typeface="宋体" panose="02010600030101010101" pitchFamily="2" charset="-122"/>
                  </a:rPr>
                  <a:t>5</a:t>
                </a:r>
              </a:p>
            </p:txBody>
          </p:sp>
        </p:grpSp>
        <p:sp>
          <p:nvSpPr>
            <p:cNvPr id="49184" name="Rectangle 35"/>
            <p:cNvSpPr/>
            <p:nvPr/>
          </p:nvSpPr>
          <p:spPr>
            <a:xfrm>
              <a:off x="1979613" y="5373688"/>
              <a:ext cx="5184775" cy="358775"/>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Arial" panose="020B0604020202090204" pitchFamily="34" charset="0"/>
                  <a:ea typeface="黑体" panose="02010600030101010101" pitchFamily="49" charset="-122"/>
                </a:rPr>
                <a:t>10100110100101  比  特  流  110101110101</a:t>
              </a:r>
            </a:p>
          </p:txBody>
        </p:sp>
        <p:sp>
          <p:nvSpPr>
            <p:cNvPr id="49185" name="Text Box 36"/>
            <p:cNvSpPr txBox="1"/>
            <p:nvPr/>
          </p:nvSpPr>
          <p:spPr>
            <a:xfrm>
              <a:off x="1339654" y="1849436"/>
              <a:ext cx="6851714" cy="603673"/>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800">
                  <a:solidFill>
                    <a:schemeClr val="bg1"/>
                  </a:solidFill>
                  <a:latin typeface="Arial" panose="020B0604020202090204" pitchFamily="34" charset="0"/>
                  <a:ea typeface="黑体" panose="02010600030101010101" pitchFamily="49" charset="-122"/>
                </a:rPr>
                <a:t>注意观察加入或剥去首部（尾部）的层次</a:t>
              </a:r>
            </a:p>
          </p:txBody>
        </p:sp>
        <p:sp>
          <p:nvSpPr>
            <p:cNvPr id="49186" name="Rectangle 37"/>
            <p:cNvSpPr/>
            <p:nvPr/>
          </p:nvSpPr>
          <p:spPr>
            <a:xfrm>
              <a:off x="4067175" y="3070225"/>
              <a:ext cx="2592388" cy="358775"/>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Tahoma" panose="020B0604030504040204" pitchFamily="34" charset="0"/>
                  <a:ea typeface="黑体" panose="02010600030101010101" pitchFamily="49" charset="-122"/>
                </a:rPr>
                <a:t>应 用 程 序 数 据</a:t>
              </a:r>
            </a:p>
          </p:txBody>
        </p:sp>
        <p:grpSp>
          <p:nvGrpSpPr>
            <p:cNvPr id="49187" name="Group 38"/>
            <p:cNvGrpSpPr/>
            <p:nvPr/>
          </p:nvGrpSpPr>
          <p:grpSpPr>
            <a:xfrm>
              <a:off x="3563938" y="3646488"/>
              <a:ext cx="3095625" cy="358775"/>
              <a:chOff x="0" y="0"/>
              <a:chExt cx="1950" cy="226"/>
            </a:xfrm>
          </p:grpSpPr>
          <p:sp>
            <p:nvSpPr>
              <p:cNvPr id="49228" name="Rectangle 39"/>
              <p:cNvSpPr/>
              <p:nvPr/>
            </p:nvSpPr>
            <p:spPr>
              <a:xfrm>
                <a:off x="0" y="0"/>
                <a:ext cx="318" cy="226"/>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1800">
                    <a:solidFill>
                      <a:srgbClr val="333399"/>
                    </a:solidFill>
                    <a:latin typeface="Arial" panose="020B0604020202090204" pitchFamily="34" charset="0"/>
                    <a:ea typeface="宋体" panose="02010600030101010101" pitchFamily="2" charset="-122"/>
                  </a:rPr>
                  <a:t>H</a:t>
                </a:r>
                <a:r>
                  <a:rPr lang="zh-CN" altLang="zh-CN" sz="1800" b="1" baseline="-25000">
                    <a:solidFill>
                      <a:srgbClr val="333399"/>
                    </a:solidFill>
                    <a:latin typeface="Arial" panose="020B0604020202090204" pitchFamily="34" charset="0"/>
                    <a:ea typeface="宋体" panose="02010600030101010101" pitchFamily="2" charset="-122"/>
                  </a:rPr>
                  <a:t>5</a:t>
                </a:r>
              </a:p>
            </p:txBody>
          </p:sp>
          <p:sp>
            <p:nvSpPr>
              <p:cNvPr id="49229" name="Rectangle 40"/>
              <p:cNvSpPr/>
              <p:nvPr/>
            </p:nvSpPr>
            <p:spPr>
              <a:xfrm>
                <a:off x="317" y="0"/>
                <a:ext cx="1633" cy="226"/>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Tahoma" panose="020B0604030504040204" pitchFamily="34" charset="0"/>
                    <a:ea typeface="黑体" panose="02010600030101010101" pitchFamily="49" charset="-122"/>
                  </a:rPr>
                  <a:t>应 用 程 序 数 据</a:t>
                </a:r>
              </a:p>
            </p:txBody>
          </p:sp>
        </p:grpSp>
        <p:grpSp>
          <p:nvGrpSpPr>
            <p:cNvPr id="49188" name="Group 41"/>
            <p:cNvGrpSpPr/>
            <p:nvPr/>
          </p:nvGrpSpPr>
          <p:grpSpPr>
            <a:xfrm>
              <a:off x="3059113" y="4222750"/>
              <a:ext cx="3600450" cy="358775"/>
              <a:chOff x="0" y="0"/>
              <a:chExt cx="2268" cy="226"/>
            </a:xfrm>
          </p:grpSpPr>
          <p:sp>
            <p:nvSpPr>
              <p:cNvPr id="49225" name="Rectangle 42"/>
              <p:cNvSpPr/>
              <p:nvPr/>
            </p:nvSpPr>
            <p:spPr>
              <a:xfrm>
                <a:off x="0" y="0"/>
                <a:ext cx="318" cy="226"/>
              </a:xfrm>
              <a:prstGeom prst="rect">
                <a:avLst/>
              </a:prstGeom>
              <a:solidFill>
                <a:srgbClr val="FF9900"/>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1800">
                    <a:solidFill>
                      <a:srgbClr val="333399"/>
                    </a:solidFill>
                    <a:latin typeface="Arial" panose="020B0604020202090204" pitchFamily="34" charset="0"/>
                    <a:ea typeface="宋体" panose="02010600030101010101" pitchFamily="2" charset="-122"/>
                  </a:rPr>
                  <a:t>H</a:t>
                </a:r>
                <a:r>
                  <a:rPr lang="zh-CN" altLang="zh-CN" sz="1800" b="1" baseline="-25000">
                    <a:solidFill>
                      <a:srgbClr val="333399"/>
                    </a:solidFill>
                    <a:latin typeface="Arial" panose="020B0604020202090204" pitchFamily="34" charset="0"/>
                    <a:ea typeface="宋体" panose="02010600030101010101" pitchFamily="2" charset="-122"/>
                  </a:rPr>
                  <a:t>4</a:t>
                </a:r>
              </a:p>
            </p:txBody>
          </p:sp>
          <p:sp>
            <p:nvSpPr>
              <p:cNvPr id="49226" name="Rectangle 43"/>
              <p:cNvSpPr/>
              <p:nvPr/>
            </p:nvSpPr>
            <p:spPr>
              <a:xfrm>
                <a:off x="318" y="0"/>
                <a:ext cx="318" cy="226"/>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1800">
                    <a:solidFill>
                      <a:srgbClr val="333399"/>
                    </a:solidFill>
                    <a:latin typeface="Arial" panose="020B0604020202090204" pitchFamily="34" charset="0"/>
                    <a:ea typeface="宋体" panose="02010600030101010101" pitchFamily="2" charset="-122"/>
                  </a:rPr>
                  <a:t>H</a:t>
                </a:r>
                <a:r>
                  <a:rPr lang="zh-CN" altLang="zh-CN" sz="1800" b="1" baseline="-25000">
                    <a:solidFill>
                      <a:srgbClr val="333399"/>
                    </a:solidFill>
                    <a:latin typeface="Arial" panose="020B0604020202090204" pitchFamily="34" charset="0"/>
                    <a:ea typeface="宋体" panose="02010600030101010101" pitchFamily="2" charset="-122"/>
                  </a:rPr>
                  <a:t>5</a:t>
                </a:r>
              </a:p>
            </p:txBody>
          </p:sp>
          <p:sp>
            <p:nvSpPr>
              <p:cNvPr id="49227" name="Rectangle 44"/>
              <p:cNvSpPr/>
              <p:nvPr/>
            </p:nvSpPr>
            <p:spPr>
              <a:xfrm>
                <a:off x="635" y="0"/>
                <a:ext cx="1633" cy="226"/>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Tahoma" panose="020B0604030504040204" pitchFamily="34" charset="0"/>
                    <a:ea typeface="黑体" panose="02010600030101010101" pitchFamily="49" charset="-122"/>
                  </a:rPr>
                  <a:t>应 用 程 序 数 据</a:t>
                </a:r>
              </a:p>
            </p:txBody>
          </p:sp>
        </p:grpSp>
        <p:grpSp>
          <p:nvGrpSpPr>
            <p:cNvPr id="49189" name="Group 45"/>
            <p:cNvGrpSpPr/>
            <p:nvPr/>
          </p:nvGrpSpPr>
          <p:grpSpPr>
            <a:xfrm>
              <a:off x="2555875" y="4799013"/>
              <a:ext cx="4103688" cy="358775"/>
              <a:chOff x="0" y="0"/>
              <a:chExt cx="2585" cy="226"/>
            </a:xfrm>
          </p:grpSpPr>
          <p:sp>
            <p:nvSpPr>
              <p:cNvPr id="49221" name="Rectangle 46"/>
              <p:cNvSpPr/>
              <p:nvPr/>
            </p:nvSpPr>
            <p:spPr>
              <a:xfrm>
                <a:off x="0" y="0"/>
                <a:ext cx="318" cy="226"/>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1800">
                    <a:solidFill>
                      <a:srgbClr val="333399"/>
                    </a:solidFill>
                    <a:latin typeface="Arial" panose="020B0604020202090204" pitchFamily="34" charset="0"/>
                    <a:ea typeface="宋体" panose="02010600030101010101" pitchFamily="2" charset="-122"/>
                  </a:rPr>
                  <a:t>H</a:t>
                </a:r>
                <a:r>
                  <a:rPr lang="zh-CN" altLang="zh-CN" sz="1800" b="1" baseline="-25000">
                    <a:solidFill>
                      <a:srgbClr val="333399"/>
                    </a:solidFill>
                    <a:latin typeface="Arial" panose="020B0604020202090204" pitchFamily="34" charset="0"/>
                    <a:ea typeface="宋体" panose="02010600030101010101" pitchFamily="2" charset="-122"/>
                  </a:rPr>
                  <a:t>3</a:t>
                </a:r>
              </a:p>
            </p:txBody>
          </p:sp>
          <p:sp>
            <p:nvSpPr>
              <p:cNvPr id="49222" name="Rectangle 47"/>
              <p:cNvSpPr/>
              <p:nvPr/>
            </p:nvSpPr>
            <p:spPr>
              <a:xfrm>
                <a:off x="318" y="0"/>
                <a:ext cx="318" cy="226"/>
              </a:xfrm>
              <a:prstGeom prst="rect">
                <a:avLst/>
              </a:prstGeom>
              <a:solidFill>
                <a:srgbClr val="FF9900"/>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1800">
                    <a:solidFill>
                      <a:srgbClr val="333399"/>
                    </a:solidFill>
                    <a:latin typeface="Arial" panose="020B0604020202090204" pitchFamily="34" charset="0"/>
                    <a:ea typeface="宋体" panose="02010600030101010101" pitchFamily="2" charset="-122"/>
                  </a:rPr>
                  <a:t>H</a:t>
                </a:r>
                <a:r>
                  <a:rPr lang="zh-CN" altLang="zh-CN" sz="1800" b="1" baseline="-25000">
                    <a:solidFill>
                      <a:srgbClr val="333399"/>
                    </a:solidFill>
                    <a:latin typeface="Arial" panose="020B0604020202090204" pitchFamily="34" charset="0"/>
                    <a:ea typeface="宋体" panose="02010600030101010101" pitchFamily="2" charset="-122"/>
                  </a:rPr>
                  <a:t>4</a:t>
                </a:r>
              </a:p>
            </p:txBody>
          </p:sp>
          <p:sp>
            <p:nvSpPr>
              <p:cNvPr id="49223" name="Rectangle 48"/>
              <p:cNvSpPr/>
              <p:nvPr/>
            </p:nvSpPr>
            <p:spPr>
              <a:xfrm>
                <a:off x="636" y="0"/>
                <a:ext cx="318" cy="226"/>
              </a:xfrm>
              <a:prstGeom prst="rect">
                <a:avLst/>
              </a:prstGeom>
              <a:solidFill>
                <a:srgbClr val="FF99FF"/>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1800">
                    <a:solidFill>
                      <a:srgbClr val="333399"/>
                    </a:solidFill>
                    <a:latin typeface="Arial" panose="020B0604020202090204" pitchFamily="34" charset="0"/>
                    <a:ea typeface="宋体" panose="02010600030101010101" pitchFamily="2" charset="-122"/>
                  </a:rPr>
                  <a:t>H</a:t>
                </a:r>
                <a:r>
                  <a:rPr lang="zh-CN" altLang="zh-CN" sz="1800" b="1" baseline="-25000">
                    <a:solidFill>
                      <a:srgbClr val="333399"/>
                    </a:solidFill>
                    <a:latin typeface="Arial" panose="020B0604020202090204" pitchFamily="34" charset="0"/>
                    <a:ea typeface="宋体" panose="02010600030101010101" pitchFamily="2" charset="-122"/>
                  </a:rPr>
                  <a:t>5</a:t>
                </a:r>
              </a:p>
            </p:txBody>
          </p:sp>
          <p:sp>
            <p:nvSpPr>
              <p:cNvPr id="49224" name="Rectangle 49"/>
              <p:cNvSpPr/>
              <p:nvPr/>
            </p:nvSpPr>
            <p:spPr>
              <a:xfrm>
                <a:off x="952" y="0"/>
                <a:ext cx="1633" cy="226"/>
              </a:xfrm>
              <a:prstGeom prst="rect">
                <a:avLst/>
              </a:prstGeom>
              <a:solidFill>
                <a:srgbClr val="CCECFF"/>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Tahoma" panose="020B0604030504040204" pitchFamily="34" charset="0"/>
                    <a:ea typeface="黑体" panose="02010600030101010101" pitchFamily="49" charset="-122"/>
                  </a:rPr>
                  <a:t>应 用 程 序 数 据</a:t>
                </a:r>
              </a:p>
            </p:txBody>
          </p:sp>
        </p:grpSp>
        <p:grpSp>
          <p:nvGrpSpPr>
            <p:cNvPr id="49190" name="Group 50"/>
            <p:cNvGrpSpPr/>
            <p:nvPr/>
          </p:nvGrpSpPr>
          <p:grpSpPr>
            <a:xfrm>
              <a:off x="654050" y="2781300"/>
              <a:ext cx="4781550" cy="415925"/>
              <a:chOff x="0" y="0"/>
              <a:chExt cx="3012" cy="262"/>
            </a:xfrm>
          </p:grpSpPr>
          <p:sp>
            <p:nvSpPr>
              <p:cNvPr id="49219" name="AutoShape 51"/>
              <p:cNvSpPr/>
              <p:nvPr/>
            </p:nvSpPr>
            <p:spPr>
              <a:xfrm flipV="1">
                <a:off x="0" y="34"/>
                <a:ext cx="124" cy="228"/>
              </a:xfrm>
              <a:prstGeom prst="upArrow">
                <a:avLst>
                  <a:gd name="adj1" fmla="val 50000"/>
                  <a:gd name="adj2" fmla="val 45967"/>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sp>
            <p:nvSpPr>
              <p:cNvPr id="49220" name="AutoShape 52"/>
              <p:cNvSpPr/>
              <p:nvPr/>
            </p:nvSpPr>
            <p:spPr>
              <a:xfrm flipV="1">
                <a:off x="2888" y="0"/>
                <a:ext cx="124" cy="228"/>
              </a:xfrm>
              <a:prstGeom prst="upArrow">
                <a:avLst>
                  <a:gd name="adj1" fmla="val 50000"/>
                  <a:gd name="adj2" fmla="val 45967"/>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grpSp>
        <p:grpSp>
          <p:nvGrpSpPr>
            <p:cNvPr id="49191" name="Group 53"/>
            <p:cNvGrpSpPr/>
            <p:nvPr/>
          </p:nvGrpSpPr>
          <p:grpSpPr>
            <a:xfrm>
              <a:off x="650875" y="3357563"/>
              <a:ext cx="4497388" cy="396875"/>
              <a:chOff x="0" y="0"/>
              <a:chExt cx="2833" cy="250"/>
            </a:xfrm>
          </p:grpSpPr>
          <p:sp>
            <p:nvSpPr>
              <p:cNvPr id="49217" name="AutoShape 54"/>
              <p:cNvSpPr/>
              <p:nvPr/>
            </p:nvSpPr>
            <p:spPr>
              <a:xfrm rot="10800000">
                <a:off x="0" y="1"/>
                <a:ext cx="125" cy="249"/>
              </a:xfrm>
              <a:prstGeom prst="upArrow">
                <a:avLst>
                  <a:gd name="adj1" fmla="val 50000"/>
                  <a:gd name="adj2" fmla="val 49800"/>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sp>
            <p:nvSpPr>
              <p:cNvPr id="49218" name="AutoShape 55"/>
              <p:cNvSpPr/>
              <p:nvPr/>
            </p:nvSpPr>
            <p:spPr>
              <a:xfrm rot="10800000">
                <a:off x="2708" y="0"/>
                <a:ext cx="125" cy="249"/>
              </a:xfrm>
              <a:prstGeom prst="upArrow">
                <a:avLst>
                  <a:gd name="adj1" fmla="val 50000"/>
                  <a:gd name="adj2" fmla="val 49800"/>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grpSp>
        <p:grpSp>
          <p:nvGrpSpPr>
            <p:cNvPr id="49192" name="Group 56"/>
            <p:cNvGrpSpPr/>
            <p:nvPr/>
          </p:nvGrpSpPr>
          <p:grpSpPr>
            <a:xfrm>
              <a:off x="650875" y="3917950"/>
              <a:ext cx="4137025" cy="409575"/>
              <a:chOff x="0" y="0"/>
              <a:chExt cx="2606" cy="258"/>
            </a:xfrm>
          </p:grpSpPr>
          <p:sp>
            <p:nvSpPr>
              <p:cNvPr id="49215" name="AutoShape 57"/>
              <p:cNvSpPr/>
              <p:nvPr/>
            </p:nvSpPr>
            <p:spPr>
              <a:xfrm rot="10800000">
                <a:off x="0" y="0"/>
                <a:ext cx="125" cy="248"/>
              </a:xfrm>
              <a:prstGeom prst="upArrow">
                <a:avLst>
                  <a:gd name="adj1" fmla="val 50000"/>
                  <a:gd name="adj2" fmla="val 49600"/>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sp>
            <p:nvSpPr>
              <p:cNvPr id="49216" name="AutoShape 58"/>
              <p:cNvSpPr/>
              <p:nvPr/>
            </p:nvSpPr>
            <p:spPr>
              <a:xfrm rot="10800000">
                <a:off x="2481" y="10"/>
                <a:ext cx="125" cy="248"/>
              </a:xfrm>
              <a:prstGeom prst="upArrow">
                <a:avLst>
                  <a:gd name="adj1" fmla="val 50000"/>
                  <a:gd name="adj2" fmla="val 49600"/>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grpSp>
        <p:grpSp>
          <p:nvGrpSpPr>
            <p:cNvPr id="49193" name="Group 59"/>
            <p:cNvGrpSpPr/>
            <p:nvPr/>
          </p:nvGrpSpPr>
          <p:grpSpPr>
            <a:xfrm>
              <a:off x="649288" y="4508500"/>
              <a:ext cx="3832225" cy="444500"/>
              <a:chOff x="0" y="0"/>
              <a:chExt cx="2414" cy="280"/>
            </a:xfrm>
          </p:grpSpPr>
          <p:sp>
            <p:nvSpPr>
              <p:cNvPr id="49213" name="AutoShape 60"/>
              <p:cNvSpPr/>
              <p:nvPr/>
            </p:nvSpPr>
            <p:spPr>
              <a:xfrm rot="10800000">
                <a:off x="0" y="30"/>
                <a:ext cx="124" cy="250"/>
              </a:xfrm>
              <a:prstGeom prst="upArrow">
                <a:avLst>
                  <a:gd name="adj1" fmla="val 50000"/>
                  <a:gd name="adj2" fmla="val 50403"/>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sp>
            <p:nvSpPr>
              <p:cNvPr id="49214" name="AutoShape 61"/>
              <p:cNvSpPr/>
              <p:nvPr/>
            </p:nvSpPr>
            <p:spPr>
              <a:xfrm rot="10800000">
                <a:off x="2290" y="0"/>
                <a:ext cx="124" cy="250"/>
              </a:xfrm>
              <a:prstGeom prst="upArrow">
                <a:avLst>
                  <a:gd name="adj1" fmla="val 50000"/>
                  <a:gd name="adj2" fmla="val 50403"/>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grpSp>
        <p:grpSp>
          <p:nvGrpSpPr>
            <p:cNvPr id="49194" name="Group 62"/>
            <p:cNvGrpSpPr/>
            <p:nvPr/>
          </p:nvGrpSpPr>
          <p:grpSpPr>
            <a:xfrm>
              <a:off x="649288" y="5084763"/>
              <a:ext cx="3635375" cy="460375"/>
              <a:chOff x="0" y="0"/>
              <a:chExt cx="2290" cy="290"/>
            </a:xfrm>
          </p:grpSpPr>
          <p:sp>
            <p:nvSpPr>
              <p:cNvPr id="49211" name="AutoShape 63"/>
              <p:cNvSpPr/>
              <p:nvPr/>
            </p:nvSpPr>
            <p:spPr>
              <a:xfrm rot="10800000">
                <a:off x="0" y="40"/>
                <a:ext cx="124" cy="250"/>
              </a:xfrm>
              <a:prstGeom prst="upArrow">
                <a:avLst>
                  <a:gd name="adj1" fmla="val 50000"/>
                  <a:gd name="adj2" fmla="val 50403"/>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sp>
            <p:nvSpPr>
              <p:cNvPr id="49212" name="AutoShape 64"/>
              <p:cNvSpPr/>
              <p:nvPr/>
            </p:nvSpPr>
            <p:spPr>
              <a:xfrm rot="10800000">
                <a:off x="2166" y="0"/>
                <a:ext cx="124" cy="250"/>
              </a:xfrm>
              <a:prstGeom prst="upArrow">
                <a:avLst>
                  <a:gd name="adj1" fmla="val 50000"/>
                  <a:gd name="adj2" fmla="val 50403"/>
                </a:avLst>
              </a:prstGeom>
              <a:solidFill>
                <a:schemeClr val="hlink"/>
              </a:solidFill>
              <a:ln w="12700" cap="flat" cmpd="sng">
                <a:solidFill>
                  <a:schemeClr val="tx1"/>
                </a:solidFill>
                <a:prstDash val="solid"/>
                <a:miter/>
                <a:headEnd type="none" w="med" len="med"/>
                <a:tailEnd type="none" w="med" len="med"/>
              </a:ln>
            </p:spPr>
            <p:txBody>
              <a:bodyPr vert="eaVert"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endParaRPr lang="zh-CN" altLang="en-US" sz="2800">
                  <a:latin typeface="Tahoma" panose="020B0604030504040204" pitchFamily="34" charset="0"/>
                  <a:ea typeface="宋体" panose="02010600030101010101" pitchFamily="2" charset="-122"/>
                </a:endParaRPr>
              </a:p>
            </p:txBody>
          </p:sp>
        </p:grpSp>
        <p:grpSp>
          <p:nvGrpSpPr>
            <p:cNvPr id="49195" name="Group 65"/>
            <p:cNvGrpSpPr/>
            <p:nvPr/>
          </p:nvGrpSpPr>
          <p:grpSpPr>
            <a:xfrm>
              <a:off x="1928812" y="2930525"/>
              <a:ext cx="1635126" cy="1074738"/>
              <a:chOff x="-77" y="0"/>
              <a:chExt cx="1030" cy="677"/>
            </a:xfrm>
          </p:grpSpPr>
          <p:sp>
            <p:nvSpPr>
              <p:cNvPr id="49208" name="Rectangle 66"/>
              <p:cNvSpPr/>
              <p:nvPr/>
            </p:nvSpPr>
            <p:spPr>
              <a:xfrm>
                <a:off x="635" y="451"/>
                <a:ext cx="318" cy="226"/>
              </a:xfrm>
              <a:prstGeom prst="rect">
                <a:avLst/>
              </a:prstGeom>
              <a:solidFill>
                <a:srgbClr val="FF9900"/>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1800">
                    <a:solidFill>
                      <a:srgbClr val="333399"/>
                    </a:solidFill>
                    <a:latin typeface="Arial" panose="020B0604020202090204" pitchFamily="34" charset="0"/>
                    <a:ea typeface="宋体" panose="02010600030101010101" pitchFamily="2" charset="-122"/>
                  </a:rPr>
                  <a:t>H</a:t>
                </a:r>
                <a:r>
                  <a:rPr lang="zh-CN" altLang="zh-CN" sz="1800" b="1" baseline="-25000">
                    <a:solidFill>
                      <a:srgbClr val="333399"/>
                    </a:solidFill>
                    <a:latin typeface="Arial" panose="020B0604020202090204" pitchFamily="34" charset="0"/>
                    <a:ea typeface="宋体" panose="02010600030101010101" pitchFamily="2" charset="-122"/>
                  </a:rPr>
                  <a:t>4</a:t>
                </a:r>
              </a:p>
            </p:txBody>
          </p:sp>
          <p:sp>
            <p:nvSpPr>
              <p:cNvPr id="49209" name="Text Box 67"/>
              <p:cNvSpPr txBox="1"/>
              <p:nvPr/>
            </p:nvSpPr>
            <p:spPr>
              <a:xfrm>
                <a:off x="-77" y="0"/>
                <a:ext cx="952" cy="29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Rounded MT Bold" panose="020F0704030504030204" pitchFamily="34" charset="0"/>
                    <a:ea typeface="黑体" panose="02010600030101010101" pitchFamily="49" charset="-122"/>
                  </a:rPr>
                  <a:t>运输层首部</a:t>
                </a:r>
                <a:endParaRPr lang="zh-CN" altLang="zh-CN" sz="2000">
                  <a:solidFill>
                    <a:srgbClr val="333399"/>
                  </a:solidFill>
                  <a:latin typeface="Times New Roman" panose="02020503050405090304" pitchFamily="18" charset="0"/>
                  <a:ea typeface="黑体" panose="02010600030101010101" pitchFamily="49" charset="-122"/>
                </a:endParaRPr>
              </a:p>
            </p:txBody>
          </p:sp>
          <p:sp>
            <p:nvSpPr>
              <p:cNvPr id="49210" name="Line 68"/>
              <p:cNvSpPr/>
              <p:nvPr/>
            </p:nvSpPr>
            <p:spPr>
              <a:xfrm>
                <a:off x="499" y="223"/>
                <a:ext cx="227" cy="227"/>
              </a:xfrm>
              <a:prstGeom prst="line">
                <a:avLst/>
              </a:prstGeom>
              <a:ln w="12700" cap="flat" cmpd="sng">
                <a:solidFill>
                  <a:srgbClr val="333399"/>
                </a:solidFill>
                <a:prstDash val="solid"/>
                <a:headEnd type="none" w="med" len="med"/>
                <a:tailEnd type="triangle" w="med" len="lg"/>
              </a:ln>
            </p:spPr>
          </p:sp>
        </p:grpSp>
        <p:grpSp>
          <p:nvGrpSpPr>
            <p:cNvPr id="49196" name="Group 69"/>
            <p:cNvGrpSpPr/>
            <p:nvPr/>
          </p:nvGrpSpPr>
          <p:grpSpPr>
            <a:xfrm>
              <a:off x="1423987" y="3429000"/>
              <a:ext cx="1635126" cy="1152525"/>
              <a:chOff x="-69" y="0"/>
              <a:chExt cx="1030" cy="726"/>
            </a:xfrm>
          </p:grpSpPr>
          <p:sp>
            <p:nvSpPr>
              <p:cNvPr id="49205" name="Rectangle 70"/>
              <p:cNvSpPr/>
              <p:nvPr/>
            </p:nvSpPr>
            <p:spPr>
              <a:xfrm>
                <a:off x="643" y="500"/>
                <a:ext cx="318" cy="226"/>
              </a:xfrm>
              <a:prstGeom prst="rect">
                <a:avLst/>
              </a:prstGeom>
              <a:solidFill>
                <a:srgbClr val="FFFF99"/>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1800">
                    <a:solidFill>
                      <a:srgbClr val="333399"/>
                    </a:solidFill>
                    <a:latin typeface="Arial" panose="020B0604020202090204" pitchFamily="34" charset="0"/>
                    <a:ea typeface="宋体" panose="02010600030101010101" pitchFamily="2" charset="-122"/>
                  </a:rPr>
                  <a:t>H</a:t>
                </a:r>
                <a:r>
                  <a:rPr lang="zh-CN" altLang="zh-CN" sz="1800" b="1" baseline="-25000">
                    <a:solidFill>
                      <a:srgbClr val="333399"/>
                    </a:solidFill>
                    <a:latin typeface="Arial" panose="020B0604020202090204" pitchFamily="34" charset="0"/>
                    <a:ea typeface="宋体" panose="02010600030101010101" pitchFamily="2" charset="-122"/>
                  </a:rPr>
                  <a:t>3</a:t>
                </a:r>
              </a:p>
            </p:txBody>
          </p:sp>
          <p:sp>
            <p:nvSpPr>
              <p:cNvPr id="49206" name="Text Box 71"/>
              <p:cNvSpPr txBox="1"/>
              <p:nvPr/>
            </p:nvSpPr>
            <p:spPr>
              <a:xfrm>
                <a:off x="-69" y="0"/>
                <a:ext cx="952" cy="291"/>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lnSpc>
                    <a:spcPct val="100000"/>
                  </a:lnSpc>
                  <a:spcBef>
                    <a:spcPct val="0"/>
                  </a:spcBef>
                  <a:buFontTx/>
                  <a:buNone/>
                </a:pPr>
                <a:r>
                  <a:rPr lang="zh-CN" altLang="zh-CN" sz="2000">
                    <a:solidFill>
                      <a:srgbClr val="333399"/>
                    </a:solidFill>
                    <a:latin typeface="Arial Rounded MT Bold" panose="020F0704030504030204" pitchFamily="34" charset="0"/>
                    <a:ea typeface="黑体" panose="02010600030101010101" pitchFamily="49" charset="-122"/>
                  </a:rPr>
                  <a:t>网络层首部</a:t>
                </a:r>
                <a:endParaRPr lang="zh-CN" altLang="zh-CN" sz="2000">
                  <a:solidFill>
                    <a:srgbClr val="333399"/>
                  </a:solidFill>
                  <a:latin typeface="Times New Roman" panose="02020503050405090304" pitchFamily="18" charset="0"/>
                  <a:ea typeface="黑体" panose="02010600030101010101" pitchFamily="49" charset="-122"/>
                </a:endParaRPr>
              </a:p>
            </p:txBody>
          </p:sp>
          <p:sp>
            <p:nvSpPr>
              <p:cNvPr id="49207" name="Line 72"/>
              <p:cNvSpPr/>
              <p:nvPr/>
            </p:nvSpPr>
            <p:spPr>
              <a:xfrm>
                <a:off x="508" y="227"/>
                <a:ext cx="227" cy="272"/>
              </a:xfrm>
              <a:prstGeom prst="line">
                <a:avLst/>
              </a:prstGeom>
              <a:ln w="12700" cap="flat" cmpd="sng">
                <a:solidFill>
                  <a:srgbClr val="333399"/>
                </a:solidFill>
                <a:prstDash val="solid"/>
                <a:headEnd type="none" w="med" len="med"/>
                <a:tailEnd type="triangle" w="med" len="lg"/>
              </a:ln>
            </p:spPr>
          </p:sp>
        </p:grpSp>
        <p:grpSp>
          <p:nvGrpSpPr>
            <p:cNvPr id="49197" name="Group 73"/>
            <p:cNvGrpSpPr/>
            <p:nvPr/>
          </p:nvGrpSpPr>
          <p:grpSpPr>
            <a:xfrm>
              <a:off x="1393825" y="3860800"/>
              <a:ext cx="1162050" cy="1295400"/>
              <a:chOff x="0" y="0"/>
              <a:chExt cx="732" cy="816"/>
            </a:xfrm>
          </p:grpSpPr>
          <p:sp>
            <p:nvSpPr>
              <p:cNvPr id="49202" name="Rectangle 74"/>
              <p:cNvSpPr/>
              <p:nvPr/>
            </p:nvSpPr>
            <p:spPr>
              <a:xfrm>
                <a:off x="369" y="590"/>
                <a:ext cx="363" cy="226"/>
              </a:xfrm>
              <a:prstGeom prst="rect">
                <a:avLst/>
              </a:prstGeom>
              <a:solidFill>
                <a:srgbClr val="66FFFF"/>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1800">
                    <a:solidFill>
                      <a:srgbClr val="333399"/>
                    </a:solidFill>
                    <a:latin typeface="Arial" panose="020B0604020202090204" pitchFamily="34" charset="0"/>
                    <a:ea typeface="宋体" panose="02010600030101010101" pitchFamily="2" charset="-122"/>
                  </a:rPr>
                  <a:t>H</a:t>
                </a:r>
                <a:r>
                  <a:rPr lang="zh-CN" altLang="zh-CN" sz="1800" b="1" baseline="-25000">
                    <a:solidFill>
                      <a:srgbClr val="333399"/>
                    </a:solidFill>
                    <a:latin typeface="Arial" panose="020B0604020202090204" pitchFamily="34" charset="0"/>
                    <a:ea typeface="宋体" panose="02010600030101010101" pitchFamily="2" charset="-122"/>
                  </a:rPr>
                  <a:t>2</a:t>
                </a:r>
              </a:p>
            </p:txBody>
          </p:sp>
          <p:sp>
            <p:nvSpPr>
              <p:cNvPr id="49203" name="Text Box 75"/>
              <p:cNvSpPr txBox="1"/>
              <p:nvPr/>
            </p:nvSpPr>
            <p:spPr>
              <a:xfrm>
                <a:off x="0" y="0"/>
                <a:ext cx="619" cy="47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spcBef>
                    <a:spcPct val="0"/>
                  </a:spcBef>
                  <a:buFontTx/>
                  <a:buNone/>
                </a:pPr>
                <a:r>
                  <a:rPr lang="zh-CN" altLang="zh-CN" sz="2000">
                    <a:solidFill>
                      <a:srgbClr val="333399"/>
                    </a:solidFill>
                    <a:latin typeface="Arial Rounded MT Bold" panose="020F0704030504030204" pitchFamily="34" charset="0"/>
                    <a:ea typeface="黑体" panose="02010600030101010101" pitchFamily="49" charset="-122"/>
                  </a:rPr>
                  <a:t>链路层</a:t>
                </a:r>
              </a:p>
              <a:p>
                <a:pPr marL="0" lvl="0" indent="0" defTabSz="762000">
                  <a:spcBef>
                    <a:spcPct val="0"/>
                  </a:spcBef>
                  <a:buFontTx/>
                  <a:buNone/>
                </a:pPr>
                <a:r>
                  <a:rPr lang="zh-CN" altLang="zh-CN" sz="2000">
                    <a:solidFill>
                      <a:srgbClr val="333399"/>
                    </a:solidFill>
                    <a:latin typeface="Arial Rounded MT Bold" panose="020F0704030504030204" pitchFamily="34" charset="0"/>
                    <a:ea typeface="黑体" panose="02010600030101010101" pitchFamily="49" charset="-122"/>
                  </a:rPr>
                  <a:t>首部</a:t>
                </a:r>
                <a:endParaRPr lang="zh-CN" altLang="zh-CN" sz="2000">
                  <a:solidFill>
                    <a:srgbClr val="333399"/>
                  </a:solidFill>
                  <a:latin typeface="Times New Roman" panose="02020503050405090304" pitchFamily="18" charset="0"/>
                  <a:ea typeface="黑体" panose="02010600030101010101" pitchFamily="49" charset="-122"/>
                </a:endParaRPr>
              </a:p>
            </p:txBody>
          </p:sp>
          <p:sp>
            <p:nvSpPr>
              <p:cNvPr id="49204" name="Line 76"/>
              <p:cNvSpPr/>
              <p:nvPr/>
            </p:nvSpPr>
            <p:spPr>
              <a:xfrm>
                <a:off x="406" y="367"/>
                <a:ext cx="145" cy="223"/>
              </a:xfrm>
              <a:prstGeom prst="line">
                <a:avLst/>
              </a:prstGeom>
              <a:ln w="12700" cap="flat" cmpd="sng">
                <a:solidFill>
                  <a:srgbClr val="333399"/>
                </a:solidFill>
                <a:prstDash val="solid"/>
                <a:headEnd type="none" w="med" len="med"/>
                <a:tailEnd type="triangle" w="med" len="lg"/>
              </a:ln>
            </p:spPr>
          </p:sp>
        </p:grpSp>
        <p:grpSp>
          <p:nvGrpSpPr>
            <p:cNvPr id="49198" name="Group 77"/>
            <p:cNvGrpSpPr/>
            <p:nvPr/>
          </p:nvGrpSpPr>
          <p:grpSpPr>
            <a:xfrm>
              <a:off x="6659563" y="3867150"/>
              <a:ext cx="1044576" cy="1290638"/>
              <a:chOff x="0" y="0"/>
              <a:chExt cx="658" cy="813"/>
            </a:xfrm>
          </p:grpSpPr>
          <p:sp>
            <p:nvSpPr>
              <p:cNvPr id="49199" name="Rectangle 78"/>
              <p:cNvSpPr/>
              <p:nvPr/>
            </p:nvSpPr>
            <p:spPr>
              <a:xfrm>
                <a:off x="0" y="587"/>
                <a:ext cx="318" cy="226"/>
              </a:xfrm>
              <a:prstGeom prst="rect">
                <a:avLst/>
              </a:prstGeom>
              <a:solidFill>
                <a:srgbClr val="CCFF33"/>
              </a:solidFill>
              <a:ln w="9525" cap="flat" cmpd="sng">
                <a:solidFill>
                  <a:schemeClr val="tx1"/>
                </a:solidFill>
                <a:prstDash val="solid"/>
                <a:miter/>
                <a:headEnd type="none" w="med" len="med"/>
                <a:tailEnd type="none" w="med" len="med"/>
              </a:ln>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1800">
                    <a:solidFill>
                      <a:srgbClr val="333399"/>
                    </a:solidFill>
                    <a:latin typeface="Arial" panose="020B0604020202090204" pitchFamily="34" charset="0"/>
                    <a:ea typeface="宋体" panose="02010600030101010101" pitchFamily="2" charset="-122"/>
                  </a:rPr>
                  <a:t>T</a:t>
                </a:r>
                <a:r>
                  <a:rPr lang="zh-CN" altLang="zh-CN" sz="1800" b="1" baseline="-25000">
                    <a:solidFill>
                      <a:srgbClr val="333399"/>
                    </a:solidFill>
                    <a:latin typeface="Arial" panose="020B0604020202090204" pitchFamily="34" charset="0"/>
                    <a:ea typeface="宋体" panose="02010600030101010101" pitchFamily="2" charset="-122"/>
                  </a:rPr>
                  <a:t>2</a:t>
                </a:r>
              </a:p>
            </p:txBody>
          </p:sp>
          <p:sp>
            <p:nvSpPr>
              <p:cNvPr id="49200" name="Line 79"/>
              <p:cNvSpPr/>
              <p:nvPr/>
            </p:nvSpPr>
            <p:spPr>
              <a:xfrm flipH="1">
                <a:off x="182" y="404"/>
                <a:ext cx="136" cy="182"/>
              </a:xfrm>
              <a:prstGeom prst="line">
                <a:avLst/>
              </a:prstGeom>
              <a:ln w="12700" cap="flat" cmpd="sng">
                <a:solidFill>
                  <a:srgbClr val="333399"/>
                </a:solidFill>
                <a:prstDash val="solid"/>
                <a:headEnd type="none" w="med" len="med"/>
                <a:tailEnd type="triangle" w="med" len="lg"/>
              </a:ln>
            </p:spPr>
          </p:sp>
          <p:sp>
            <p:nvSpPr>
              <p:cNvPr id="49201" name="Text Box 80"/>
              <p:cNvSpPr txBox="1"/>
              <p:nvPr/>
            </p:nvSpPr>
            <p:spPr>
              <a:xfrm>
                <a:off x="39" y="0"/>
                <a:ext cx="619" cy="470"/>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defTabSz="762000">
                  <a:spcBef>
                    <a:spcPct val="0"/>
                  </a:spcBef>
                  <a:buFontTx/>
                  <a:buNone/>
                </a:pPr>
                <a:r>
                  <a:rPr lang="zh-CN" altLang="zh-CN" sz="2000">
                    <a:solidFill>
                      <a:srgbClr val="333399"/>
                    </a:solidFill>
                    <a:latin typeface="Arial Rounded MT Bold" panose="020F0704030504030204" pitchFamily="34" charset="0"/>
                    <a:ea typeface="黑体" panose="02010600030101010101" pitchFamily="49" charset="-122"/>
                  </a:rPr>
                  <a:t>链路层</a:t>
                </a:r>
              </a:p>
              <a:p>
                <a:pPr marL="0" lvl="0" indent="0" defTabSz="762000">
                  <a:spcBef>
                    <a:spcPct val="0"/>
                  </a:spcBef>
                  <a:buFontTx/>
                  <a:buNone/>
                </a:pPr>
                <a:r>
                  <a:rPr lang="zh-CN" altLang="zh-CN" sz="2000">
                    <a:solidFill>
                      <a:srgbClr val="333399"/>
                    </a:solidFill>
                    <a:latin typeface="Arial Rounded MT Bold" panose="020F0704030504030204" pitchFamily="34" charset="0"/>
                    <a:ea typeface="黑体" panose="02010600030101010101" pitchFamily="49" charset="-122"/>
                  </a:rPr>
                  <a:t>尾部</a:t>
                </a:r>
                <a:endParaRPr lang="zh-CN" altLang="zh-CN" sz="2000">
                  <a:solidFill>
                    <a:srgbClr val="333399"/>
                  </a:solidFill>
                  <a:latin typeface="Times New Roman" panose="02020503050405090304" pitchFamily="18" charset="0"/>
                  <a:ea typeface="黑体" panose="02010600030101010101" pitchFamily="49" charset="-122"/>
                </a:endParaRPr>
              </a:p>
            </p:txBody>
          </p:sp>
        </p:grpSp>
      </p:grpSp>
      <p:sp>
        <p:nvSpPr>
          <p:cNvPr id="2" name="标题 1"/>
          <p:cNvSpPr>
            <a:spLocks noGrp="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TCP/IP</a:t>
            </a:r>
            <a:r>
              <a:rPr lang="zh-CN" altLang="en-US" sz="2000" kern="1200">
                <a:solidFill>
                  <a:srgbClr val="0070C0"/>
                </a:solidFill>
                <a:latin typeface="微软雅黑" panose="020B0503020204020204" pitchFamily="34" charset="-122"/>
                <a:ea typeface="微软雅黑" panose="020B0503020204020204" pitchFamily="34" charset="-122"/>
                <a:cs typeface="+mj-cs"/>
              </a:rPr>
              <a:t>通信过程</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77" name="组合 147"/>
          <p:cNvGrpSpPr/>
          <p:nvPr/>
        </p:nvGrpSpPr>
        <p:grpSpPr>
          <a:xfrm>
            <a:off x="395288" y="915988"/>
            <a:ext cx="8415337" cy="2967037"/>
            <a:chOff x="1187450" y="1989138"/>
            <a:chExt cx="6815138" cy="3287712"/>
          </a:xfrm>
        </p:grpSpPr>
        <p:sp>
          <p:nvSpPr>
            <p:cNvPr id="50180" name="未知"/>
            <p:cNvSpPr/>
            <p:nvPr/>
          </p:nvSpPr>
          <p:spPr>
            <a:xfrm>
              <a:off x="1970088" y="4833938"/>
              <a:ext cx="5280025" cy="442912"/>
            </a:xfrm>
            <a:custGeom>
              <a:avLst/>
              <a:gdLst>
                <a:gd name="txL" fmla="*/ 0 w 2752"/>
                <a:gd name="txT" fmla="*/ 0 h 240"/>
                <a:gd name="txR" fmla="*/ 2752 w 2752"/>
                <a:gd name="txB" fmla="*/ 240 h 240"/>
              </a:gdLst>
              <a:ahLst/>
              <a:cxnLst>
                <a:cxn ang="0">
                  <a:pos x="0" y="0"/>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2752" h="240">
                  <a:moveTo>
                    <a:pt x="0" y="0"/>
                  </a:moveTo>
                  <a:lnTo>
                    <a:pt x="0" y="92"/>
                  </a:lnTo>
                  <a:lnTo>
                    <a:pt x="3" y="156"/>
                  </a:lnTo>
                  <a:lnTo>
                    <a:pt x="30" y="213"/>
                  </a:lnTo>
                  <a:lnTo>
                    <a:pt x="96" y="234"/>
                  </a:lnTo>
                  <a:lnTo>
                    <a:pt x="138" y="236"/>
                  </a:lnTo>
                  <a:lnTo>
                    <a:pt x="2621" y="238"/>
                  </a:lnTo>
                  <a:lnTo>
                    <a:pt x="2670" y="240"/>
                  </a:lnTo>
                  <a:lnTo>
                    <a:pt x="2727" y="216"/>
                  </a:lnTo>
                  <a:lnTo>
                    <a:pt x="2748" y="159"/>
                  </a:lnTo>
                  <a:lnTo>
                    <a:pt x="2752" y="113"/>
                  </a:lnTo>
                  <a:lnTo>
                    <a:pt x="2751" y="0"/>
                  </a:lnTo>
                </a:path>
              </a:pathLst>
            </a:custGeom>
            <a:noFill/>
            <a:ln w="38100" cap="flat" cmpd="sng">
              <a:solidFill>
                <a:srgbClr val="333399">
                  <a:alpha val="100000"/>
                </a:srgbClr>
              </a:solidFill>
              <a:prstDash val="solid"/>
              <a:round/>
              <a:headEnd type="none" w="med" len="med"/>
              <a:tailEnd type="none" w="med" len="med"/>
            </a:ln>
          </p:spPr>
          <p:txBody>
            <a:bodyPr/>
            <a:lstStyle/>
            <a:p>
              <a:endParaRPr lang="zh-CN" altLang="en-US"/>
            </a:p>
          </p:txBody>
        </p:sp>
        <p:sp>
          <p:nvSpPr>
            <p:cNvPr id="50181" name="Rectangle 5"/>
            <p:cNvSpPr/>
            <p:nvPr/>
          </p:nvSpPr>
          <p:spPr>
            <a:xfrm>
              <a:off x="6437313" y="1997075"/>
              <a:ext cx="1565275" cy="2836863"/>
            </a:xfrm>
            <a:prstGeom prst="rect">
              <a:avLst/>
            </a:prstGeom>
            <a:solidFill>
              <a:srgbClr val="FFFFCC"/>
            </a:solidFill>
            <a:ln w="28575" cap="flat" cmpd="sng">
              <a:solidFill>
                <a:srgbClr val="333399"/>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nSpc>
                  <a:spcPct val="100000"/>
                </a:lnSpc>
                <a:spcBef>
                  <a:spcPct val="0"/>
                </a:spcBef>
                <a:buFontTx/>
                <a:buNone/>
              </a:pPr>
              <a:endParaRPr lang="zh-CN" altLang="en-US" sz="1800">
                <a:latin typeface="Arial" panose="020B0604020202090204" pitchFamily="34" charset="0"/>
                <a:ea typeface="宋体" panose="02010600030101010101" pitchFamily="2" charset="-122"/>
              </a:endParaRPr>
            </a:p>
          </p:txBody>
        </p:sp>
        <p:sp>
          <p:nvSpPr>
            <p:cNvPr id="50182" name="Text Box 6"/>
            <p:cNvSpPr txBox="1"/>
            <p:nvPr/>
          </p:nvSpPr>
          <p:spPr>
            <a:xfrm>
              <a:off x="6483350" y="3916361"/>
              <a:ext cx="1188167" cy="4431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黑体" panose="02010600030101010101" pitchFamily="49" charset="-122"/>
                  <a:ea typeface="黑体" panose="02010600030101010101" pitchFamily="49" charset="-122"/>
                </a:rPr>
                <a:t>数据链路层</a:t>
              </a:r>
            </a:p>
          </p:txBody>
        </p:sp>
        <p:sp>
          <p:nvSpPr>
            <p:cNvPr id="50183" name="Line 7"/>
            <p:cNvSpPr/>
            <p:nvPr/>
          </p:nvSpPr>
          <p:spPr>
            <a:xfrm>
              <a:off x="6437313" y="4391025"/>
              <a:ext cx="1565275" cy="0"/>
            </a:xfrm>
            <a:prstGeom prst="line">
              <a:avLst/>
            </a:prstGeom>
            <a:ln w="9525" cap="flat" cmpd="sng">
              <a:solidFill>
                <a:srgbClr val="333399"/>
              </a:solidFill>
              <a:prstDash val="solid"/>
              <a:headEnd type="none" w="med" len="med"/>
              <a:tailEnd type="none" w="med" len="med"/>
            </a:ln>
          </p:spPr>
        </p:sp>
        <p:sp>
          <p:nvSpPr>
            <p:cNvPr id="50184" name="Line 8"/>
            <p:cNvSpPr/>
            <p:nvPr/>
          </p:nvSpPr>
          <p:spPr>
            <a:xfrm>
              <a:off x="6437313" y="3948113"/>
              <a:ext cx="1565275" cy="0"/>
            </a:xfrm>
            <a:prstGeom prst="line">
              <a:avLst/>
            </a:prstGeom>
            <a:ln w="9525" cap="flat" cmpd="sng">
              <a:solidFill>
                <a:srgbClr val="333399"/>
              </a:solidFill>
              <a:prstDash val="solid"/>
              <a:headEnd type="none" w="med" len="med"/>
              <a:tailEnd type="none" w="med" len="med"/>
            </a:ln>
          </p:spPr>
        </p:sp>
        <p:sp>
          <p:nvSpPr>
            <p:cNvPr id="50185" name="Line 9"/>
            <p:cNvSpPr/>
            <p:nvPr/>
          </p:nvSpPr>
          <p:spPr>
            <a:xfrm>
              <a:off x="6437313" y="3505200"/>
              <a:ext cx="1565275" cy="0"/>
            </a:xfrm>
            <a:prstGeom prst="line">
              <a:avLst/>
            </a:prstGeom>
            <a:ln w="9525" cap="flat" cmpd="sng">
              <a:solidFill>
                <a:srgbClr val="333399"/>
              </a:solidFill>
              <a:prstDash val="solid"/>
              <a:headEnd type="none" w="med" len="med"/>
              <a:tailEnd type="none" w="med" len="med"/>
            </a:ln>
          </p:spPr>
        </p:sp>
        <p:sp>
          <p:nvSpPr>
            <p:cNvPr id="50186" name="Line 10"/>
            <p:cNvSpPr/>
            <p:nvPr/>
          </p:nvSpPr>
          <p:spPr>
            <a:xfrm>
              <a:off x="6437313" y="3060700"/>
              <a:ext cx="1565275" cy="0"/>
            </a:xfrm>
            <a:prstGeom prst="line">
              <a:avLst/>
            </a:prstGeom>
            <a:ln w="9525" cap="flat" cmpd="sng">
              <a:solidFill>
                <a:srgbClr val="333399"/>
              </a:solidFill>
              <a:prstDash val="solid"/>
              <a:headEnd type="none" w="med" len="med"/>
              <a:tailEnd type="none" w="med" len="med"/>
            </a:ln>
          </p:spPr>
        </p:sp>
        <p:sp>
          <p:nvSpPr>
            <p:cNvPr id="50187" name="Text Box 11"/>
            <p:cNvSpPr txBox="1"/>
            <p:nvPr/>
          </p:nvSpPr>
          <p:spPr>
            <a:xfrm>
              <a:off x="6727825" y="4359275"/>
              <a:ext cx="772724" cy="4431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黑体" panose="02010600030101010101" pitchFamily="49" charset="-122"/>
                  <a:ea typeface="黑体" panose="02010600030101010101" pitchFamily="49" charset="-122"/>
                </a:rPr>
                <a:t>物理层</a:t>
              </a:r>
            </a:p>
          </p:txBody>
        </p:sp>
        <p:sp>
          <p:nvSpPr>
            <p:cNvPr id="50188" name="Text Box 12"/>
            <p:cNvSpPr txBox="1"/>
            <p:nvPr/>
          </p:nvSpPr>
          <p:spPr>
            <a:xfrm>
              <a:off x="6727825" y="3044825"/>
              <a:ext cx="772724" cy="4431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黑体" panose="02010600030101010101" pitchFamily="49" charset="-122"/>
                  <a:ea typeface="黑体" panose="02010600030101010101" pitchFamily="49" charset="-122"/>
                </a:rPr>
                <a:t>运输层</a:t>
              </a:r>
            </a:p>
          </p:txBody>
        </p:sp>
        <p:sp>
          <p:nvSpPr>
            <p:cNvPr id="50189" name="Text Box 13"/>
            <p:cNvSpPr txBox="1"/>
            <p:nvPr/>
          </p:nvSpPr>
          <p:spPr>
            <a:xfrm>
              <a:off x="6727825" y="3487739"/>
              <a:ext cx="772724" cy="4431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黑体" panose="02010600030101010101" pitchFamily="49" charset="-122"/>
                  <a:ea typeface="黑体" panose="02010600030101010101" pitchFamily="49" charset="-122"/>
                </a:rPr>
                <a:t>网络层</a:t>
              </a:r>
            </a:p>
          </p:txBody>
        </p:sp>
        <p:sp>
          <p:nvSpPr>
            <p:cNvPr id="50190" name="Rectangle 14"/>
            <p:cNvSpPr/>
            <p:nvPr/>
          </p:nvSpPr>
          <p:spPr>
            <a:xfrm>
              <a:off x="1187450" y="1997075"/>
              <a:ext cx="1565275" cy="2836863"/>
            </a:xfrm>
            <a:prstGeom prst="rect">
              <a:avLst/>
            </a:prstGeom>
            <a:solidFill>
              <a:srgbClr val="FFFFCC"/>
            </a:solidFill>
            <a:ln w="28575" cap="flat" cmpd="sng">
              <a:solidFill>
                <a:srgbClr val="333399"/>
              </a:solidFill>
              <a:prstDash val="solid"/>
              <a:miter/>
              <a:headEnd type="none" w="med" len="med"/>
              <a:tailEnd type="none" w="med" len="med"/>
            </a:ln>
            <a:effectLst>
              <a:outerShdw dist="35921" dir="2699999" algn="ctr" rotWithShape="0">
                <a:schemeClr val="bg2"/>
              </a:outerShdw>
            </a:effectLst>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nSpc>
                  <a:spcPct val="100000"/>
                </a:lnSpc>
                <a:spcBef>
                  <a:spcPct val="0"/>
                </a:spcBef>
                <a:buFontTx/>
                <a:buNone/>
              </a:pPr>
              <a:endParaRPr lang="zh-CN" altLang="en-US" sz="1800">
                <a:latin typeface="Arial" panose="020B0604020202090204" pitchFamily="34" charset="0"/>
                <a:ea typeface="宋体" panose="02010600030101010101" pitchFamily="2" charset="-122"/>
              </a:endParaRPr>
            </a:p>
          </p:txBody>
        </p:sp>
        <p:sp>
          <p:nvSpPr>
            <p:cNvPr id="50191" name="Text Box 15"/>
            <p:cNvSpPr txBox="1"/>
            <p:nvPr/>
          </p:nvSpPr>
          <p:spPr>
            <a:xfrm>
              <a:off x="1233487" y="3916361"/>
              <a:ext cx="1188167" cy="4431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黑体" panose="02010600030101010101" pitchFamily="49" charset="-122"/>
                  <a:ea typeface="黑体" panose="02010600030101010101" pitchFamily="49" charset="-122"/>
                </a:rPr>
                <a:t>数据链路层</a:t>
              </a:r>
            </a:p>
          </p:txBody>
        </p:sp>
        <p:sp>
          <p:nvSpPr>
            <p:cNvPr id="50192" name="Line 16"/>
            <p:cNvSpPr/>
            <p:nvPr/>
          </p:nvSpPr>
          <p:spPr>
            <a:xfrm>
              <a:off x="1187450" y="4391025"/>
              <a:ext cx="1565275" cy="0"/>
            </a:xfrm>
            <a:prstGeom prst="line">
              <a:avLst/>
            </a:prstGeom>
            <a:ln w="9525" cap="flat" cmpd="sng">
              <a:solidFill>
                <a:srgbClr val="333399"/>
              </a:solidFill>
              <a:prstDash val="solid"/>
              <a:headEnd type="none" w="med" len="med"/>
              <a:tailEnd type="none" w="med" len="med"/>
            </a:ln>
          </p:spPr>
        </p:sp>
        <p:sp>
          <p:nvSpPr>
            <p:cNvPr id="50193" name="Line 17"/>
            <p:cNvSpPr/>
            <p:nvPr/>
          </p:nvSpPr>
          <p:spPr>
            <a:xfrm>
              <a:off x="1187450" y="3948113"/>
              <a:ext cx="1565275" cy="0"/>
            </a:xfrm>
            <a:prstGeom prst="line">
              <a:avLst/>
            </a:prstGeom>
            <a:ln w="9525" cap="flat" cmpd="sng">
              <a:solidFill>
                <a:srgbClr val="333399"/>
              </a:solidFill>
              <a:prstDash val="solid"/>
              <a:headEnd type="none" w="med" len="med"/>
              <a:tailEnd type="none" w="med" len="med"/>
            </a:ln>
          </p:spPr>
        </p:sp>
        <p:sp>
          <p:nvSpPr>
            <p:cNvPr id="50194" name="Line 18"/>
            <p:cNvSpPr/>
            <p:nvPr/>
          </p:nvSpPr>
          <p:spPr>
            <a:xfrm>
              <a:off x="1187450" y="3505200"/>
              <a:ext cx="1565275" cy="0"/>
            </a:xfrm>
            <a:prstGeom prst="line">
              <a:avLst/>
            </a:prstGeom>
            <a:ln w="9525" cap="flat" cmpd="sng">
              <a:solidFill>
                <a:srgbClr val="333399"/>
              </a:solidFill>
              <a:prstDash val="solid"/>
              <a:headEnd type="none" w="med" len="med"/>
              <a:tailEnd type="none" w="med" len="med"/>
            </a:ln>
          </p:spPr>
        </p:sp>
        <p:sp>
          <p:nvSpPr>
            <p:cNvPr id="50195" name="Line 19"/>
            <p:cNvSpPr/>
            <p:nvPr/>
          </p:nvSpPr>
          <p:spPr>
            <a:xfrm>
              <a:off x="1187450" y="3060700"/>
              <a:ext cx="1565275" cy="0"/>
            </a:xfrm>
            <a:prstGeom prst="line">
              <a:avLst/>
            </a:prstGeom>
            <a:ln w="9525" cap="flat" cmpd="sng">
              <a:solidFill>
                <a:srgbClr val="333399"/>
              </a:solidFill>
              <a:prstDash val="solid"/>
              <a:headEnd type="none" w="med" len="med"/>
              <a:tailEnd type="none" w="med" len="med"/>
            </a:ln>
          </p:spPr>
        </p:sp>
        <p:sp>
          <p:nvSpPr>
            <p:cNvPr id="50196" name="Text Box 20"/>
            <p:cNvSpPr txBox="1"/>
            <p:nvPr/>
          </p:nvSpPr>
          <p:spPr>
            <a:xfrm>
              <a:off x="1479550" y="4359275"/>
              <a:ext cx="772724" cy="4431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黑体" panose="02010600030101010101" pitchFamily="49" charset="-122"/>
                  <a:ea typeface="黑体" panose="02010600030101010101" pitchFamily="49" charset="-122"/>
                </a:rPr>
                <a:t>物理层</a:t>
              </a:r>
            </a:p>
          </p:txBody>
        </p:sp>
        <p:sp>
          <p:nvSpPr>
            <p:cNvPr id="50197" name="Text Box 21"/>
            <p:cNvSpPr txBox="1"/>
            <p:nvPr/>
          </p:nvSpPr>
          <p:spPr>
            <a:xfrm>
              <a:off x="1479550" y="3044825"/>
              <a:ext cx="772724" cy="4431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黑体" panose="02010600030101010101" pitchFamily="49" charset="-122"/>
                  <a:ea typeface="黑体" panose="02010600030101010101" pitchFamily="49" charset="-122"/>
                </a:rPr>
                <a:t>运输层</a:t>
              </a:r>
            </a:p>
          </p:txBody>
        </p:sp>
        <p:sp>
          <p:nvSpPr>
            <p:cNvPr id="50198" name="Text Box 22"/>
            <p:cNvSpPr txBox="1"/>
            <p:nvPr/>
          </p:nvSpPr>
          <p:spPr>
            <a:xfrm>
              <a:off x="1479550" y="3487739"/>
              <a:ext cx="772724" cy="4431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黑体" panose="02010600030101010101" pitchFamily="49" charset="-122"/>
                  <a:ea typeface="黑体" panose="02010600030101010101" pitchFamily="49" charset="-122"/>
                </a:rPr>
                <a:t>网络层</a:t>
              </a:r>
            </a:p>
          </p:txBody>
        </p:sp>
        <p:sp>
          <p:nvSpPr>
            <p:cNvPr id="50199" name="Line 23"/>
            <p:cNvSpPr/>
            <p:nvPr/>
          </p:nvSpPr>
          <p:spPr>
            <a:xfrm>
              <a:off x="1954213" y="2928938"/>
              <a:ext cx="3175" cy="131762"/>
            </a:xfrm>
            <a:prstGeom prst="line">
              <a:avLst/>
            </a:prstGeom>
            <a:ln w="28575" cap="flat" cmpd="sng">
              <a:solidFill>
                <a:srgbClr val="333399"/>
              </a:solidFill>
              <a:prstDash val="solid"/>
              <a:headEnd type="none" w="med" len="med"/>
              <a:tailEnd type="none" w="med" len="med"/>
            </a:ln>
          </p:spPr>
        </p:sp>
        <p:sp>
          <p:nvSpPr>
            <p:cNvPr id="50200" name="Line 24"/>
            <p:cNvSpPr/>
            <p:nvPr/>
          </p:nvSpPr>
          <p:spPr>
            <a:xfrm>
              <a:off x="7248525" y="2928938"/>
              <a:ext cx="1588" cy="131762"/>
            </a:xfrm>
            <a:prstGeom prst="line">
              <a:avLst/>
            </a:prstGeom>
            <a:ln w="28575" cap="flat" cmpd="sng">
              <a:solidFill>
                <a:srgbClr val="333399"/>
              </a:solidFill>
              <a:prstDash val="solid"/>
              <a:headEnd type="none" w="med" len="med"/>
              <a:tailEnd type="none" w="med" len="med"/>
            </a:ln>
          </p:spPr>
        </p:sp>
        <p:grpSp>
          <p:nvGrpSpPr>
            <p:cNvPr id="50201" name="Group 25"/>
            <p:cNvGrpSpPr/>
            <p:nvPr/>
          </p:nvGrpSpPr>
          <p:grpSpPr>
            <a:xfrm>
              <a:off x="2568575" y="2155825"/>
              <a:ext cx="4019550" cy="481013"/>
              <a:chOff x="0" y="0"/>
              <a:chExt cx="2532" cy="303"/>
            </a:xfrm>
          </p:grpSpPr>
          <p:sp>
            <p:nvSpPr>
              <p:cNvPr id="50215" name="Line 26"/>
              <p:cNvSpPr/>
              <p:nvPr/>
            </p:nvSpPr>
            <p:spPr>
              <a:xfrm>
                <a:off x="0" y="291"/>
                <a:ext cx="2532" cy="12"/>
              </a:xfrm>
              <a:prstGeom prst="line">
                <a:avLst/>
              </a:prstGeom>
              <a:ln w="38100" cap="flat" cmpd="sng">
                <a:solidFill>
                  <a:srgbClr val="333399"/>
                </a:solidFill>
                <a:prstDash val="dash"/>
                <a:headEnd type="none" w="med" len="med"/>
                <a:tailEnd type="triangle" w="sm" len="lg"/>
              </a:ln>
            </p:spPr>
          </p:sp>
          <p:sp>
            <p:nvSpPr>
              <p:cNvPr id="50216" name="Text Box 27"/>
              <p:cNvSpPr txBox="1"/>
              <p:nvPr/>
            </p:nvSpPr>
            <p:spPr>
              <a:xfrm>
                <a:off x="290" y="0"/>
                <a:ext cx="1569" cy="27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b="1">
                    <a:solidFill>
                      <a:schemeClr val="bg1"/>
                    </a:solidFill>
                    <a:latin typeface="黑体" panose="02010600030101010101" pitchFamily="49" charset="-122"/>
                    <a:ea typeface="黑体" panose="02010600030101010101" pitchFamily="49" charset="-122"/>
                  </a:rPr>
                  <a:t>①</a:t>
                </a:r>
                <a:r>
                  <a:rPr lang="zh-CN" altLang="zh-CN" sz="1000">
                    <a:solidFill>
                      <a:schemeClr val="bg1"/>
                    </a:solidFill>
                    <a:latin typeface="黑体" panose="02010600030101010101" pitchFamily="49" charset="-122"/>
                    <a:ea typeface="黑体" panose="02010600030101010101" pitchFamily="49" charset="-122"/>
                  </a:rPr>
                  <a:t> </a:t>
                </a:r>
                <a:r>
                  <a:rPr lang="zh-CN" altLang="zh-CN" sz="2000">
                    <a:solidFill>
                      <a:schemeClr val="bg1"/>
                    </a:solidFill>
                    <a:latin typeface="黑体" panose="02010600030101010101" pitchFamily="49" charset="-122"/>
                    <a:ea typeface="黑体" panose="02010600030101010101" pitchFamily="49" charset="-122"/>
                  </a:rPr>
                  <a:t>客户发起连接建立请求</a:t>
                </a:r>
              </a:p>
            </p:txBody>
          </p:sp>
        </p:grpSp>
        <p:grpSp>
          <p:nvGrpSpPr>
            <p:cNvPr id="50202" name="Group 28"/>
            <p:cNvGrpSpPr/>
            <p:nvPr/>
          </p:nvGrpSpPr>
          <p:grpSpPr>
            <a:xfrm>
              <a:off x="2555875" y="2781300"/>
              <a:ext cx="3994150" cy="477838"/>
              <a:chOff x="0" y="0"/>
              <a:chExt cx="2516" cy="301"/>
            </a:xfrm>
          </p:grpSpPr>
          <p:sp>
            <p:nvSpPr>
              <p:cNvPr id="50213" name="Line 29"/>
              <p:cNvSpPr/>
              <p:nvPr/>
            </p:nvSpPr>
            <p:spPr>
              <a:xfrm flipH="1" flipV="1">
                <a:off x="0" y="0"/>
                <a:ext cx="2516" cy="9"/>
              </a:xfrm>
              <a:prstGeom prst="line">
                <a:avLst/>
              </a:prstGeom>
              <a:ln w="38100" cap="flat" cmpd="sng">
                <a:solidFill>
                  <a:schemeClr val="hlink"/>
                </a:solidFill>
                <a:prstDash val="dash"/>
                <a:headEnd type="none" w="med" len="med"/>
                <a:tailEnd type="triangle" w="sm" len="lg"/>
              </a:ln>
            </p:spPr>
          </p:sp>
          <p:sp>
            <p:nvSpPr>
              <p:cNvPr id="50214" name="Text Box 30"/>
              <p:cNvSpPr txBox="1"/>
              <p:nvPr/>
            </p:nvSpPr>
            <p:spPr>
              <a:xfrm>
                <a:off x="318" y="22"/>
                <a:ext cx="1700" cy="27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b="1">
                    <a:solidFill>
                      <a:schemeClr val="bg1"/>
                    </a:solidFill>
                    <a:latin typeface="黑体" panose="02010600030101010101" pitchFamily="49" charset="-122"/>
                    <a:ea typeface="黑体" panose="02010600030101010101" pitchFamily="49" charset="-122"/>
                  </a:rPr>
                  <a:t>②</a:t>
                </a:r>
                <a:r>
                  <a:rPr lang="zh-CN" altLang="zh-CN" sz="1000">
                    <a:solidFill>
                      <a:schemeClr val="bg1"/>
                    </a:solidFill>
                    <a:latin typeface="黑体" panose="02010600030101010101" pitchFamily="49" charset="-122"/>
                    <a:ea typeface="黑体" panose="02010600030101010101" pitchFamily="49" charset="-122"/>
                  </a:rPr>
                  <a:t> </a:t>
                </a:r>
                <a:r>
                  <a:rPr lang="zh-CN" altLang="zh-CN" sz="2000">
                    <a:solidFill>
                      <a:schemeClr val="bg1"/>
                    </a:solidFill>
                    <a:latin typeface="黑体" panose="02010600030101010101" pitchFamily="49" charset="-122"/>
                    <a:ea typeface="黑体" panose="02010600030101010101" pitchFamily="49" charset="-122"/>
                  </a:rPr>
                  <a:t>服务器接受连接建立请求</a:t>
                </a:r>
              </a:p>
            </p:txBody>
          </p:sp>
        </p:grpSp>
        <p:sp>
          <p:nvSpPr>
            <p:cNvPr id="50203" name="Text Box 31"/>
            <p:cNvSpPr txBox="1"/>
            <p:nvPr/>
          </p:nvSpPr>
          <p:spPr>
            <a:xfrm>
              <a:off x="1479550" y="2003425"/>
              <a:ext cx="772724" cy="4431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黑体" panose="02010600030101010101" pitchFamily="49" charset="-122"/>
                  <a:ea typeface="黑体" panose="02010600030101010101" pitchFamily="49" charset="-122"/>
                </a:rPr>
                <a:t>应用层</a:t>
              </a:r>
            </a:p>
          </p:txBody>
        </p:sp>
        <p:sp>
          <p:nvSpPr>
            <p:cNvPr id="50204" name="Text Box 32"/>
            <p:cNvSpPr txBox="1"/>
            <p:nvPr/>
          </p:nvSpPr>
          <p:spPr>
            <a:xfrm>
              <a:off x="6727825" y="1989138"/>
              <a:ext cx="772724" cy="4431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黑体" panose="02010600030101010101" pitchFamily="49" charset="-122"/>
                  <a:ea typeface="黑体" panose="02010600030101010101" pitchFamily="49" charset="-122"/>
                </a:rPr>
                <a:t>应用层</a:t>
              </a:r>
            </a:p>
          </p:txBody>
        </p:sp>
        <p:sp>
          <p:nvSpPr>
            <p:cNvPr id="50205" name="Text Box 33"/>
            <p:cNvSpPr txBox="1"/>
            <p:nvPr/>
          </p:nvSpPr>
          <p:spPr>
            <a:xfrm>
              <a:off x="4023713" y="4822963"/>
              <a:ext cx="772724" cy="443189"/>
            </a:xfrm>
            <a:prstGeom prst="rect">
              <a:avLst/>
            </a:prstGeom>
            <a:noFill/>
            <a:ln w="9525">
              <a:noFill/>
            </a:ln>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eaLnBrk="1" hangingPunct="1">
                <a:lnSpc>
                  <a:spcPct val="100000"/>
                </a:lnSpc>
                <a:spcBef>
                  <a:spcPct val="0"/>
                </a:spcBef>
                <a:buFontTx/>
                <a:buNone/>
              </a:pPr>
              <a:r>
                <a:rPr lang="zh-CN" altLang="zh-CN" sz="2000">
                  <a:solidFill>
                    <a:srgbClr val="333399"/>
                  </a:solidFill>
                  <a:latin typeface="Bookman Old Style" pitchFamily="18" charset="0"/>
                  <a:ea typeface="黑体" panose="02010600030101010101" pitchFamily="49" charset="-122"/>
                </a:rPr>
                <a:t>因特网</a:t>
              </a:r>
            </a:p>
          </p:txBody>
        </p:sp>
        <p:grpSp>
          <p:nvGrpSpPr>
            <p:cNvPr id="50206" name="Group 34"/>
            <p:cNvGrpSpPr/>
            <p:nvPr/>
          </p:nvGrpSpPr>
          <p:grpSpPr>
            <a:xfrm>
              <a:off x="1325563" y="2411413"/>
              <a:ext cx="1289050" cy="531812"/>
              <a:chOff x="0" y="0"/>
              <a:chExt cx="812" cy="335"/>
            </a:xfrm>
          </p:grpSpPr>
          <p:sp>
            <p:nvSpPr>
              <p:cNvPr id="50211" name="Oval 35"/>
              <p:cNvSpPr/>
              <p:nvPr/>
            </p:nvSpPr>
            <p:spPr>
              <a:xfrm>
                <a:off x="0" y="0"/>
                <a:ext cx="812" cy="335"/>
              </a:xfrm>
              <a:prstGeom prst="ellipse">
                <a:avLst/>
              </a:prstGeom>
              <a:solidFill>
                <a:srgbClr val="99FFCC"/>
              </a:solidFill>
              <a:ln w="19050" cap="flat" cmpd="sng">
                <a:solidFill>
                  <a:schemeClr val="tx1"/>
                </a:solidFill>
                <a:prstDash val="solid"/>
                <a:headEnd type="none" w="med" len="med"/>
                <a:tailEnd type="none" w="med" len="med"/>
              </a:ln>
              <a:effectLst>
                <a:outerShdw dist="35921" dir="2699999" algn="ctr" rotWithShape="0">
                  <a:schemeClr val="bg2"/>
                </a:outerShdw>
              </a:effectLst>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nSpc>
                    <a:spcPct val="100000"/>
                  </a:lnSpc>
                  <a:spcBef>
                    <a:spcPct val="0"/>
                  </a:spcBef>
                  <a:buFontTx/>
                  <a:buNone/>
                </a:pPr>
                <a:endParaRPr lang="zh-CN" altLang="zh-CN" sz="1800">
                  <a:latin typeface="Times New Roman" panose="02020503050405090304" pitchFamily="18" charset="0"/>
                  <a:ea typeface="宋体" panose="02010600030101010101" pitchFamily="2" charset="-122"/>
                </a:endParaRPr>
              </a:p>
            </p:txBody>
          </p:sp>
          <p:sp>
            <p:nvSpPr>
              <p:cNvPr id="50212" name="Text Box 36"/>
              <p:cNvSpPr txBox="1"/>
              <p:nvPr/>
            </p:nvSpPr>
            <p:spPr>
              <a:xfrm>
                <a:off x="185" y="28"/>
                <a:ext cx="356" cy="279"/>
              </a:xfrm>
              <a:prstGeom prst="rect">
                <a:avLst/>
              </a:prstGeom>
              <a:noFill/>
              <a:ln w="9525">
                <a:noFill/>
              </a:ln>
              <a:effectLst>
                <a:outerShdw dist="17961" dir="2699999" algn="ctr" rotWithShape="0">
                  <a:schemeClr val="accent2"/>
                </a:outerShdw>
              </a:effectLst>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nSpc>
                    <a:spcPct val="100000"/>
                  </a:lnSpc>
                  <a:spcBef>
                    <a:spcPct val="0"/>
                  </a:spcBef>
                  <a:buFontTx/>
                  <a:buNone/>
                </a:pPr>
                <a:r>
                  <a:rPr lang="zh-CN" altLang="en-US" sz="2000">
                    <a:solidFill>
                      <a:srgbClr val="333399"/>
                    </a:solidFill>
                    <a:latin typeface="黑体" panose="02010600030101010101" pitchFamily="49" charset="-122"/>
                    <a:ea typeface="黑体" panose="02010600030101010101" pitchFamily="49" charset="-122"/>
                  </a:rPr>
                  <a:t>客户</a:t>
                </a:r>
              </a:p>
            </p:txBody>
          </p:sp>
        </p:grpSp>
        <p:grpSp>
          <p:nvGrpSpPr>
            <p:cNvPr id="50207" name="Group 37"/>
            <p:cNvGrpSpPr/>
            <p:nvPr/>
          </p:nvGrpSpPr>
          <p:grpSpPr>
            <a:xfrm>
              <a:off x="6575425" y="2411413"/>
              <a:ext cx="1289050" cy="531812"/>
              <a:chOff x="0" y="0"/>
              <a:chExt cx="812" cy="335"/>
            </a:xfrm>
          </p:grpSpPr>
          <p:sp>
            <p:nvSpPr>
              <p:cNvPr id="50209" name="Oval 38"/>
              <p:cNvSpPr/>
              <p:nvPr/>
            </p:nvSpPr>
            <p:spPr>
              <a:xfrm>
                <a:off x="0" y="0"/>
                <a:ext cx="812" cy="335"/>
              </a:xfrm>
              <a:prstGeom prst="ellipse">
                <a:avLst/>
              </a:prstGeom>
              <a:solidFill>
                <a:schemeClr val="hlink"/>
              </a:solidFill>
              <a:ln w="19050" cap="flat" cmpd="sng">
                <a:solidFill>
                  <a:schemeClr val="tx1"/>
                </a:solidFill>
                <a:prstDash val="solid"/>
                <a:headEnd type="none" w="med" len="med"/>
                <a:tailEnd type="none" w="med" len="med"/>
              </a:ln>
              <a:effectLst>
                <a:outerShdw dist="35921" dir="2699999" algn="ctr" rotWithShape="0">
                  <a:schemeClr val="bg2"/>
                </a:outerShdw>
              </a:effectLst>
            </p:spPr>
            <p:txBody>
              <a:bodyPr wrap="none" anchor="ctr" anchorCtr="0"/>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nSpc>
                    <a:spcPct val="100000"/>
                  </a:lnSpc>
                  <a:spcBef>
                    <a:spcPct val="0"/>
                  </a:spcBef>
                  <a:buFontTx/>
                  <a:buNone/>
                </a:pPr>
                <a:endParaRPr lang="zh-CN" altLang="zh-CN" sz="1800">
                  <a:latin typeface="Times New Roman" panose="02020503050405090304" pitchFamily="18" charset="0"/>
                  <a:ea typeface="宋体" panose="02010600030101010101" pitchFamily="2" charset="-122"/>
                </a:endParaRPr>
              </a:p>
            </p:txBody>
          </p:sp>
          <p:sp>
            <p:nvSpPr>
              <p:cNvPr id="50210" name="Text Box 39"/>
              <p:cNvSpPr txBox="1"/>
              <p:nvPr/>
            </p:nvSpPr>
            <p:spPr>
              <a:xfrm>
                <a:off x="114" y="24"/>
                <a:ext cx="487" cy="279"/>
              </a:xfrm>
              <a:prstGeom prst="rect">
                <a:avLst/>
              </a:prstGeom>
              <a:noFill/>
              <a:ln w="9525">
                <a:noFill/>
              </a:ln>
              <a:effectLst>
                <a:outerShdw dist="35921" dir="2699999" algn="ctr" rotWithShape="0">
                  <a:schemeClr val="bg2"/>
                </a:outerShdw>
              </a:effectLst>
            </p:spPr>
            <p:txBody>
              <a:bodyPr wrap="none">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nSpc>
                    <a:spcPct val="100000"/>
                  </a:lnSpc>
                  <a:spcBef>
                    <a:spcPct val="0"/>
                  </a:spcBef>
                  <a:buFontTx/>
                  <a:buNone/>
                </a:pPr>
                <a:r>
                  <a:rPr lang="zh-CN" altLang="en-US" sz="2000">
                    <a:solidFill>
                      <a:srgbClr val="FFFF99"/>
                    </a:solidFill>
                    <a:latin typeface="黑体" panose="02010600030101010101" pitchFamily="49" charset="-122"/>
                    <a:ea typeface="黑体" panose="02010600030101010101" pitchFamily="49" charset="-122"/>
                  </a:rPr>
                  <a:t>服务器</a:t>
                </a:r>
              </a:p>
            </p:txBody>
          </p:sp>
        </p:grpSp>
        <p:sp>
          <p:nvSpPr>
            <p:cNvPr id="50208" name="Text Box 40"/>
            <p:cNvSpPr txBox="1"/>
            <p:nvPr/>
          </p:nvSpPr>
          <p:spPr>
            <a:xfrm>
              <a:off x="3238500" y="3357564"/>
              <a:ext cx="2619883" cy="1125018"/>
            </a:xfrm>
            <a:prstGeom prst="rect">
              <a:avLst/>
            </a:prstGeom>
            <a:solidFill>
              <a:srgbClr val="FFFFCC"/>
            </a:solidFill>
            <a:ln w="76200" cap="flat" cmpd="tri">
              <a:solidFill>
                <a:srgbClr val="333399"/>
              </a:solidFill>
              <a:prstDash val="solid"/>
              <a:miter/>
              <a:headEnd type="none" w="med" len="med"/>
              <a:tailEnd type="none" w="med" len="med"/>
            </a:ln>
          </p:spPr>
          <p:txBody>
            <a:bodyPr>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gn="ctr" eaLnBrk="1" hangingPunct="1">
                <a:lnSpc>
                  <a:spcPct val="100000"/>
                </a:lnSpc>
                <a:spcBef>
                  <a:spcPct val="0"/>
                </a:spcBef>
                <a:buFontTx/>
                <a:buNone/>
              </a:pPr>
              <a:r>
                <a:rPr lang="zh-CN" altLang="zh-CN" sz="2000">
                  <a:solidFill>
                    <a:srgbClr val="333399"/>
                  </a:solidFill>
                  <a:latin typeface="Tahoma" panose="020B0604030504040204" pitchFamily="34" charset="0"/>
                  <a:ea typeface="黑体" panose="02010600030101010101" pitchFamily="49" charset="-122"/>
                </a:rPr>
                <a:t>以后就逐级使用下层</a:t>
              </a:r>
            </a:p>
            <a:p>
              <a:pPr marL="0" lvl="0" indent="0" algn="ctr" eaLnBrk="1" hangingPunct="1">
                <a:lnSpc>
                  <a:spcPct val="100000"/>
                </a:lnSpc>
                <a:spcBef>
                  <a:spcPct val="0"/>
                </a:spcBef>
                <a:buFontTx/>
                <a:buNone/>
              </a:pPr>
              <a:r>
                <a:rPr lang="zh-CN" altLang="zh-CN" sz="2000">
                  <a:solidFill>
                    <a:srgbClr val="333399"/>
                  </a:solidFill>
                  <a:latin typeface="Tahoma" panose="020B0604030504040204" pitchFamily="34" charset="0"/>
                  <a:ea typeface="黑体" panose="02010600030101010101" pitchFamily="49" charset="-122"/>
                </a:rPr>
                <a:t>提供的服务</a:t>
              </a:r>
            </a:p>
            <a:p>
              <a:pPr marL="0" lvl="0" indent="0" algn="ctr" eaLnBrk="1" hangingPunct="1">
                <a:lnSpc>
                  <a:spcPct val="100000"/>
                </a:lnSpc>
                <a:spcBef>
                  <a:spcPct val="0"/>
                </a:spcBef>
                <a:buFontTx/>
                <a:buNone/>
              </a:pPr>
              <a:r>
                <a:rPr lang="zh-CN" altLang="zh-CN" sz="2000">
                  <a:solidFill>
                    <a:srgbClr val="333399"/>
                  </a:solidFill>
                  <a:latin typeface="Tahoma" panose="020B0604030504040204" pitchFamily="34" charset="0"/>
                  <a:ea typeface="黑体" panose="02010600030101010101" pitchFamily="49" charset="-122"/>
                </a:rPr>
                <a:t>(使用 TCP 和 IP）</a:t>
              </a:r>
            </a:p>
          </p:txBody>
        </p:sp>
      </p:grpSp>
      <p:sp>
        <p:nvSpPr>
          <p:cNvPr id="2" name="标题 1"/>
          <p:cNvSpPr>
            <a:spLocks noGrp="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TCP/IP</a:t>
            </a:r>
            <a:r>
              <a:rPr lang="zh-CN" altLang="en-US" sz="2000" kern="1200">
                <a:solidFill>
                  <a:srgbClr val="0070C0"/>
                </a:solidFill>
                <a:latin typeface="微软雅黑" panose="020B0503020204020204" pitchFamily="34" charset="-122"/>
                <a:ea typeface="微软雅黑" panose="020B0503020204020204" pitchFamily="34" charset="-122"/>
                <a:cs typeface="+mj-cs"/>
              </a:rPr>
              <a:t>通信过程</a:t>
            </a:r>
            <a:r>
              <a:rPr lang="en-US" altLang="zh-CN" sz="2000" kern="1200">
                <a:solidFill>
                  <a:srgbClr val="0070C0"/>
                </a:solidFill>
                <a:latin typeface="微软雅黑" panose="020B0503020204020204" pitchFamily="34" charset="-122"/>
                <a:ea typeface="微软雅黑" panose="020B0503020204020204" pitchFamily="34" charset="-122"/>
                <a:cs typeface="+mj-cs"/>
              </a:rPr>
              <a:t>——</a:t>
            </a:r>
            <a:r>
              <a:rPr lang="zh-CN" altLang="en-US" sz="2000" kern="1200">
                <a:solidFill>
                  <a:srgbClr val="0070C0"/>
                </a:solidFill>
                <a:latin typeface="微软雅黑" panose="020B0503020204020204" pitchFamily="34" charset="-122"/>
                <a:ea typeface="微软雅黑" panose="020B0503020204020204" pitchFamily="34" charset="-122"/>
                <a:cs typeface="+mj-cs"/>
              </a:rPr>
              <a:t>典型的</a:t>
            </a:r>
            <a:r>
              <a:rPr lang="en-US" altLang="zh-CN" sz="2000" kern="1200">
                <a:solidFill>
                  <a:srgbClr val="0070C0"/>
                </a:solidFill>
                <a:latin typeface="微软雅黑" panose="020B0503020204020204" pitchFamily="34" charset="-122"/>
                <a:ea typeface="微软雅黑" panose="020B0503020204020204" pitchFamily="34" charset="-122"/>
                <a:cs typeface="+mj-cs"/>
              </a:rPr>
              <a:t>C/S</a:t>
            </a:r>
            <a:r>
              <a:rPr lang="zh-CN" altLang="en-US" sz="2000" kern="1200">
                <a:solidFill>
                  <a:srgbClr val="0070C0"/>
                </a:solidFill>
                <a:latin typeface="微软雅黑" panose="020B0503020204020204" pitchFamily="34" charset="-122"/>
                <a:ea typeface="微软雅黑" panose="020B0503020204020204" pitchFamily="34" charset="-122"/>
                <a:cs typeface="+mj-cs"/>
              </a:rPr>
              <a:t>结构模型</a:t>
            </a:r>
          </a:p>
        </p:txBody>
      </p:sp>
      <p:graphicFrame>
        <p:nvGraphicFramePr>
          <p:cNvPr id="50179" name="Object 4"/>
          <p:cNvGraphicFramePr>
            <a:graphicFrameLocks noGrp="1" noChangeAspect="1"/>
          </p:cNvGraphicFramePr>
          <p:nvPr>
            <p:ph idx="1" hasCustomPrompt="1"/>
          </p:nvPr>
        </p:nvGraphicFramePr>
        <p:xfrm>
          <a:off x="2147483647" y="2147483647"/>
          <a:ext cx="3378200" cy="1930400"/>
        </p:xfrm>
        <a:graphic>
          <a:graphicData uri="http://schemas.openxmlformats.org/presentationml/2006/ole">
            <mc:AlternateContent xmlns:mc="http://schemas.openxmlformats.org/markup-compatibility/2006">
              <mc:Choice xmlns:v="urn:schemas-microsoft-com:vml" Requires="v">
                <p:oleObj r:id="rId2" imgW="2533650" imgH="1447800" progId="Visio.Drawing.6">
                  <p:embed/>
                </p:oleObj>
              </mc:Choice>
              <mc:Fallback>
                <p:oleObj r:id="rId2" imgW="2533650" imgH="1447800" progId="Visio.Drawing.6">
                  <p:embed/>
                  <p:pic>
                    <p:nvPicPr>
                      <p:cNvPr id="0" name="图片 3075"/>
                      <p:cNvPicPr/>
                      <p:nvPr/>
                    </p:nvPicPr>
                    <p:blipFill>
                      <a:blip r:embed="rId3"/>
                      <a:srcRect/>
                      <a:stretch>
                        <a:fillRect/>
                      </a:stretch>
                    </p:blipFill>
                    <p:spPr>
                      <a:xfrm>
                        <a:off x="2147483647" y="2147483647"/>
                        <a:ext cx="3378200" cy="1930400"/>
                      </a:xfrm>
                      <a:prstGeom prst="rect">
                        <a:avLst/>
                      </a:prstGeom>
                      <a:noFill/>
                      <a:ln w="38100">
                        <a:miter/>
                      </a:ln>
                      <a:effectLst>
                        <a:outerShdw dist="25400" dir="5400000" algn="ctr" rotWithShape="0">
                          <a:schemeClr val="bg2">
                            <a:alpha val="100000"/>
                          </a:schemeClr>
                        </a:outerShdw>
                      </a:effectLst>
                    </p:spPr>
                  </p:pic>
                </p:oleObj>
              </mc:Fallback>
            </mc:AlternateContent>
          </a:graphicData>
        </a:graphic>
      </p:graphicFrame>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sz="2700" kern="1200">
                <a:solidFill>
                  <a:srgbClr val="0070C0"/>
                </a:solidFill>
                <a:latin typeface="微软雅黑" panose="020B0503020204020204" pitchFamily="34" charset="-122"/>
                <a:ea typeface="微软雅黑" panose="020B0503020204020204" pitchFamily="34" charset="-122"/>
                <a:cs typeface="+mj-cs"/>
              </a:rPr>
              <a:t>网络编程接口的产生与发展</a:t>
            </a:r>
          </a:p>
        </p:txBody>
      </p:sp>
      <p:sp>
        <p:nvSpPr>
          <p:cNvPr id="51202"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en-US" sz="2400" kern="1200">
                <a:latin typeface="微软雅黑" panose="020B0503020204020204" pitchFamily="34" charset="-122"/>
                <a:ea typeface="微软雅黑" panose="020B0503020204020204" pitchFamily="34" charset="-122"/>
                <a:cs typeface="+mn-cs"/>
              </a:rPr>
              <a:t>问题的提出</a:t>
            </a:r>
          </a:p>
          <a:p>
            <a:pPr lvl="1" eaLnBrk="1" hangingPunct="1"/>
            <a:r>
              <a:rPr lang="zh-CN" altLang="en-US" sz="2100" kern="1200">
                <a:latin typeface="微软雅黑" panose="020B0503020204020204" pitchFamily="34" charset="-122"/>
                <a:ea typeface="微软雅黑" panose="020B0503020204020204" pitchFamily="34" charset="-122"/>
                <a:cs typeface="+mn-cs"/>
              </a:rPr>
              <a:t>站在应用程序实现的角度，应用程序如何方便地使用协议栈软件进行通信呢？</a:t>
            </a:r>
          </a:p>
          <a:p>
            <a:pPr lvl="1" eaLnBrk="1" hangingPunct="1"/>
            <a:r>
              <a:rPr lang="zh-CN" altLang="en-US" sz="2100" kern="1200">
                <a:latin typeface="微软雅黑" panose="020B0503020204020204" pitchFamily="34" charset="-122"/>
                <a:ea typeface="微软雅黑" panose="020B0503020204020204" pitchFamily="34" charset="-122"/>
                <a:cs typeface="+mn-cs"/>
              </a:rPr>
              <a:t>如果能在应用程序与协议栈软件之间提供一个软件接口，就可以方便应用程序的开发。</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sz="2700" kern="1200">
                <a:solidFill>
                  <a:srgbClr val="0070C0"/>
                </a:solidFill>
                <a:latin typeface="微软雅黑" panose="020B0503020204020204" pitchFamily="34" charset="-122"/>
                <a:ea typeface="微软雅黑" panose="020B0503020204020204" pitchFamily="34" charset="-122"/>
                <a:cs typeface="+mj-cs"/>
              </a:rPr>
              <a:t>网络编程接口的产生与发展</a:t>
            </a:r>
          </a:p>
        </p:txBody>
      </p:sp>
      <p:sp>
        <p:nvSpPr>
          <p:cNvPr id="52226"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en-US" sz="2400" kern="1200">
                <a:latin typeface="微软雅黑" panose="020B0503020204020204" pitchFamily="34" charset="-122"/>
                <a:ea typeface="微软雅黑" panose="020B0503020204020204" pitchFamily="34" charset="-122"/>
                <a:cs typeface="+mn-cs"/>
              </a:rPr>
              <a:t>套接字编程接口</a:t>
            </a:r>
          </a:p>
          <a:p>
            <a:pPr lvl="1" eaLnBrk="1" hangingPunct="1"/>
            <a:r>
              <a:rPr lang="zh-CN" altLang="en-US" sz="2100" kern="1200">
                <a:latin typeface="微软雅黑" panose="020B0503020204020204" pitchFamily="34" charset="-122"/>
                <a:ea typeface="微软雅黑" panose="020B0503020204020204" pitchFamily="34" charset="-122"/>
                <a:cs typeface="+mn-cs"/>
              </a:rPr>
              <a:t>套接字应用程序编程接口是网络应用程序通过网络协议栈进行通信时所使用的接口，即应用程序与协议栈软件之间的接口，简称套接字编程接口</a:t>
            </a:r>
            <a:r>
              <a:rPr lang="en-US" altLang="zh-CN" sz="2100" kern="1200">
                <a:latin typeface="微软雅黑" panose="020B0503020204020204" pitchFamily="34" charset="-122"/>
                <a:ea typeface="微软雅黑" panose="020B0503020204020204" pitchFamily="34" charset="-122"/>
                <a:cs typeface="+mn-cs"/>
              </a:rPr>
              <a:t>(socket API)</a:t>
            </a:r>
            <a:r>
              <a:rPr lang="zh-CN" altLang="en-US" sz="2100" kern="1200">
                <a:latin typeface="微软雅黑" panose="020B0503020204020204" pitchFamily="34" charset="-122"/>
                <a:ea typeface="微软雅黑" panose="020B0503020204020204" pitchFamily="34" charset="-122"/>
                <a:cs typeface="+mn-cs"/>
              </a:rPr>
              <a:t>。</a:t>
            </a:r>
          </a:p>
          <a:p>
            <a:pPr lvl="1" eaLnBrk="1" hangingPunct="1"/>
            <a:r>
              <a:rPr lang="zh-CN" altLang="en-US" sz="2100" kern="1200">
                <a:latin typeface="微软雅黑" panose="020B0503020204020204" pitchFamily="34" charset="-122"/>
                <a:ea typeface="微软雅黑" panose="020B0503020204020204" pitchFamily="34" charset="-122"/>
                <a:cs typeface="+mn-cs"/>
              </a:rPr>
              <a:t>它定义了应用程序与协议栈软件进行交互时可以使用的一组操作，决定了应用程序使用协议栈的方式、应用程序所能实现的功能、以及开发具有这些功能的程序的难度。</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eaLnBrk="1" hangingPunct="1">
              <a:buNone/>
            </a:pPr>
            <a:r>
              <a:rPr lang="zh-CN" altLang="en-US" sz="2000" kern="1200">
                <a:solidFill>
                  <a:srgbClr val="0070C0"/>
                </a:solidFill>
                <a:latin typeface="微软雅黑" panose="020B0503020204020204" pitchFamily="34" charset="-122"/>
                <a:ea typeface="微软雅黑" panose="020B0503020204020204" pitchFamily="34" charset="-122"/>
                <a:cs typeface="+mj-cs"/>
              </a:rPr>
              <a:t>网络编程接口的产生与发展</a:t>
            </a:r>
          </a:p>
        </p:txBody>
      </p:sp>
      <p:sp>
        <p:nvSpPr>
          <p:cNvPr id="53250" name="Rectangle 3"/>
          <p:cNvSpPr>
            <a:spLocks noGrp="1"/>
          </p:cNvSpPr>
          <p:nvPr>
            <p:ph idx="1" hasCustomPrompt="1"/>
          </p:nvPr>
        </p:nvSpPr>
        <p:spPr>
          <a:xfrm>
            <a:off x="368300" y="682625"/>
            <a:ext cx="8432800" cy="3860800"/>
          </a:xfrm>
          <a:ln/>
        </p:spPr>
        <p:txBody>
          <a:bodyPr vert="horz" wrap="square" lIns="91440" tIns="45720" rIns="91440" bIns="45720" anchor="t" anchorCtr="0"/>
          <a:lstStyle/>
          <a:p>
            <a:pPr marL="0" indent="0" eaLnBrk="1" hangingPunct="1">
              <a:lnSpc>
                <a:spcPct val="130000"/>
              </a:lnSpc>
              <a:spcBef>
                <a:spcPct val="0"/>
              </a:spcBef>
              <a:buFont typeface="Arial" panose="020B0604020202090204" pitchFamily="34" charset="0"/>
              <a:buNone/>
            </a:pPr>
            <a:r>
              <a:rPr lang="en-US" altLang="zh-CN" sz="2200" kern="1200">
                <a:latin typeface="Times New Roman" panose="02020503050405090304" pitchFamily="18" charset="0"/>
                <a:ea typeface="微软雅黑" panose="020B0503020204020204" pitchFamily="34" charset="-122"/>
                <a:cs typeface="Times New Roman" panose="02020503050405090304" pitchFamily="18" charset="0"/>
              </a:rPr>
              <a:t>socket </a:t>
            </a:r>
            <a:r>
              <a:rPr lang="zh-CN" altLang="en-US" sz="2200" kern="1200">
                <a:latin typeface="Times New Roman" panose="02020503050405090304" pitchFamily="18" charset="0"/>
                <a:ea typeface="微软雅黑" panose="020B0503020204020204" pitchFamily="34" charset="-122"/>
                <a:cs typeface="Times New Roman" panose="02020503050405090304" pitchFamily="18" charset="0"/>
              </a:rPr>
              <a:t>的历史</a:t>
            </a:r>
          </a:p>
          <a:p>
            <a:pPr lvl="1" eaLnBrk="1" hangingPunct="1">
              <a:lnSpc>
                <a:spcPct val="130000"/>
              </a:lnSpc>
              <a:spcBef>
                <a:spcPct val="0"/>
              </a:spcBef>
            </a:pPr>
            <a:r>
              <a:rPr lang="zh-CN" altLang="en-US" sz="2200" kern="1200">
                <a:latin typeface="Times New Roman" panose="02020503050405090304" pitchFamily="18" charset="0"/>
                <a:ea typeface="微软雅黑" panose="020B0503020204020204" pitchFamily="34" charset="-122"/>
                <a:cs typeface="Times New Roman" panose="02020503050405090304" pitchFamily="18" charset="0"/>
              </a:rPr>
              <a:t>在</a:t>
            </a:r>
            <a:r>
              <a:rPr lang="en-US" altLang="zh-CN" sz="2200" kern="1200">
                <a:latin typeface="Times New Roman" panose="02020503050405090304" pitchFamily="18" charset="0"/>
                <a:ea typeface="微软雅黑" panose="020B0503020204020204" pitchFamily="34" charset="-122"/>
                <a:cs typeface="Times New Roman" panose="02020503050405090304" pitchFamily="18" charset="0"/>
              </a:rPr>
              <a:t>80 </a:t>
            </a:r>
            <a:r>
              <a:rPr lang="zh-CN" altLang="en-US" sz="2200" kern="1200">
                <a:latin typeface="Times New Roman" panose="02020503050405090304" pitchFamily="18" charset="0"/>
                <a:ea typeface="微软雅黑" panose="020B0503020204020204" pitchFamily="34" charset="-122"/>
                <a:cs typeface="Times New Roman" panose="02020503050405090304" pitchFamily="18" charset="0"/>
              </a:rPr>
              <a:t>年代早期，远景研究规划局（</a:t>
            </a:r>
            <a:r>
              <a:rPr lang="en-US" altLang="zh-CN" sz="2200" kern="1200">
                <a:latin typeface="Times New Roman" panose="02020503050405090304" pitchFamily="18" charset="0"/>
                <a:ea typeface="微软雅黑" panose="020B0503020204020204" pitchFamily="34" charset="-122"/>
                <a:cs typeface="Times New Roman" panose="02020503050405090304" pitchFamily="18" charset="0"/>
              </a:rPr>
              <a:t>Advanced Research Projects Agency, ARPA</a:t>
            </a:r>
            <a:r>
              <a:rPr lang="zh-CN" altLang="en-US" sz="2200" kern="1200">
                <a:latin typeface="Times New Roman" panose="02020503050405090304" pitchFamily="18" charset="0"/>
                <a:ea typeface="微软雅黑" panose="020B0503020204020204" pitchFamily="34" charset="-122"/>
                <a:cs typeface="Times New Roman" panose="02020503050405090304" pitchFamily="18" charset="0"/>
              </a:rPr>
              <a:t>）资助了佳利福尼亚大学伯克利分校的一个研究组，让他们将</a:t>
            </a:r>
            <a:r>
              <a:rPr lang="en-US" altLang="zh-CN" sz="2200" kern="1200">
                <a:latin typeface="Times New Roman" panose="02020503050405090304" pitchFamily="18" charset="0"/>
                <a:ea typeface="微软雅黑" panose="020B0503020204020204" pitchFamily="34" charset="-122"/>
                <a:cs typeface="Times New Roman" panose="02020503050405090304" pitchFamily="18" charset="0"/>
              </a:rPr>
              <a:t>TCP/IP </a:t>
            </a:r>
            <a:r>
              <a:rPr lang="zh-CN" altLang="en-US" sz="2200" kern="1200">
                <a:latin typeface="Times New Roman" panose="02020503050405090304" pitchFamily="18" charset="0"/>
                <a:ea typeface="微软雅黑" panose="020B0503020204020204" pitchFamily="34" charset="-122"/>
                <a:cs typeface="Times New Roman" panose="02020503050405090304" pitchFamily="18" charset="0"/>
              </a:rPr>
              <a:t>软件移植到</a:t>
            </a:r>
            <a:r>
              <a:rPr lang="en-US" altLang="zh-CN" sz="2200" kern="1200">
                <a:latin typeface="Times New Roman" panose="02020503050405090304" pitchFamily="18" charset="0"/>
                <a:ea typeface="微软雅黑" panose="020B0503020204020204" pitchFamily="34" charset="-122"/>
                <a:cs typeface="Times New Roman" panose="02020503050405090304" pitchFamily="18" charset="0"/>
              </a:rPr>
              <a:t>UNIX </a:t>
            </a:r>
            <a:r>
              <a:rPr lang="zh-CN" altLang="en-US" sz="2200" kern="1200">
                <a:latin typeface="Times New Roman" panose="02020503050405090304" pitchFamily="18" charset="0"/>
                <a:ea typeface="微软雅黑" panose="020B0503020204020204" pitchFamily="34" charset="-122"/>
                <a:cs typeface="Times New Roman" panose="02020503050405090304" pitchFamily="18" charset="0"/>
              </a:rPr>
              <a:t>操作系统中。</a:t>
            </a:r>
          </a:p>
          <a:p>
            <a:pPr lvl="1" eaLnBrk="1" hangingPunct="1">
              <a:lnSpc>
                <a:spcPct val="130000"/>
              </a:lnSpc>
              <a:spcBef>
                <a:spcPct val="0"/>
              </a:spcBef>
            </a:pPr>
            <a:r>
              <a:rPr lang="zh-CN" altLang="en-US" sz="2200" kern="1200">
                <a:latin typeface="Times New Roman" panose="02020503050405090304" pitchFamily="18" charset="0"/>
                <a:ea typeface="微软雅黑" panose="020B0503020204020204" pitchFamily="34" charset="-122"/>
                <a:cs typeface="Times New Roman" panose="02020503050405090304" pitchFamily="18" charset="0"/>
              </a:rPr>
              <a:t>作为项目的一部分，设计者们创建了一个接口，应用进程使用这个接口可以方便的进行通信。</a:t>
            </a:r>
            <a:endParaRPr lang="en-US" altLang="zh-CN" sz="2200" kern="1200">
              <a:latin typeface="Times New Roman" panose="02020503050405090304" pitchFamily="18" charset="0"/>
              <a:ea typeface="微软雅黑" panose="020B0503020204020204" pitchFamily="34" charset="-122"/>
              <a:cs typeface="Times New Roman" panose="02020503050405090304" pitchFamily="18" charset="0"/>
            </a:endParaRPr>
          </a:p>
          <a:p>
            <a:pPr lvl="1" eaLnBrk="1" hangingPunct="1">
              <a:lnSpc>
                <a:spcPct val="130000"/>
              </a:lnSpc>
              <a:spcBef>
                <a:spcPct val="0"/>
              </a:spcBef>
            </a:pPr>
            <a:r>
              <a:rPr lang="zh-CN" altLang="en-US" sz="2200" kern="1200">
                <a:latin typeface="Times New Roman" panose="02020503050405090304" pitchFamily="18" charset="0"/>
                <a:ea typeface="微软雅黑" panose="020B0503020204020204" pitchFamily="34" charset="-122"/>
                <a:cs typeface="Times New Roman" panose="02020503050405090304" pitchFamily="18" charset="0"/>
              </a:rPr>
              <a:t>只要有可能就使用已有的系统调用，对那些不能方便的容入已有的函数集的情况，就再增加新的系统调用以支持</a:t>
            </a:r>
            <a:r>
              <a:rPr lang="en-US" altLang="zh-CN" sz="2200" kern="1200">
                <a:latin typeface="Times New Roman" panose="02020503050405090304" pitchFamily="18" charset="0"/>
                <a:ea typeface="微软雅黑" panose="020B0503020204020204" pitchFamily="34" charset="-122"/>
                <a:cs typeface="Times New Roman" panose="02020503050405090304" pitchFamily="18" charset="0"/>
              </a:rPr>
              <a:t>TCP/IP </a:t>
            </a:r>
            <a:r>
              <a:rPr lang="zh-CN" altLang="en-US" sz="2200" kern="1200">
                <a:latin typeface="Times New Roman" panose="02020503050405090304" pitchFamily="18" charset="0"/>
                <a:ea typeface="微软雅黑" panose="020B0503020204020204" pitchFamily="34" charset="-122"/>
                <a:cs typeface="Times New Roman" panose="02020503050405090304" pitchFamily="18" charset="0"/>
              </a:rPr>
              <a:t>功能。</a:t>
            </a:r>
            <a:endParaRPr lang="zh-CN" altLang="en-US" sz="2200" kern="1200">
              <a:latin typeface="Times New Roman" panose="02020503050405090304" pitchFamily="18" charset="0"/>
              <a:ea typeface="Times New Roman" panose="02020503050405090304" pitchFamily="18" charset="0"/>
              <a:cs typeface="+mn-cs"/>
            </a:endParaRP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eaLnBrk="1" hangingPunct="1">
              <a:buNone/>
            </a:pPr>
            <a:r>
              <a:rPr lang="zh-CN" altLang="en-US" sz="2000" kern="1200">
                <a:solidFill>
                  <a:srgbClr val="0070C0"/>
                </a:solidFill>
                <a:latin typeface="微软雅黑" panose="020B0503020204020204" pitchFamily="34" charset="-122"/>
                <a:ea typeface="微软雅黑" panose="020B0503020204020204" pitchFamily="34" charset="-122"/>
                <a:cs typeface="+mj-cs"/>
              </a:rPr>
              <a:t>网络编程接口的产生与发展</a:t>
            </a:r>
          </a:p>
        </p:txBody>
      </p:sp>
      <p:sp>
        <p:nvSpPr>
          <p:cNvPr id="54274" name="Rectangle 3"/>
          <p:cNvSpPr>
            <a:spLocks noGrp="1"/>
          </p:cNvSpPr>
          <p:nvPr>
            <p:ph idx="1" hasCustomPrompt="1"/>
          </p:nvPr>
        </p:nvSpPr>
        <p:spPr>
          <a:xfrm>
            <a:off x="381000" y="555625"/>
            <a:ext cx="8407400" cy="3860800"/>
          </a:xfrm>
          <a:ln/>
        </p:spPr>
        <p:txBody>
          <a:bodyPr vert="horz" wrap="square" lIns="91440" tIns="45720" rIns="91440" bIns="45720" anchor="t" anchorCtr="0"/>
          <a:lstStyle/>
          <a:p>
            <a:pPr marL="0" indent="0" eaLnBrk="1" hangingPunct="1">
              <a:lnSpc>
                <a:spcPct val="150000"/>
              </a:lnSpc>
              <a:spcBef>
                <a:spcPct val="0"/>
              </a:spcBef>
              <a:buFont typeface="Arial" panose="020B0604020202090204" pitchFamily="34" charset="0"/>
              <a:buNone/>
            </a:pPr>
            <a:r>
              <a:rPr lang="en-US" altLang="zh-CN" sz="2400" kern="1200">
                <a:latin typeface="Times New Roman" panose="02020503050405090304" pitchFamily="18" charset="0"/>
                <a:ea typeface="微软雅黑" panose="020B0503020204020204" pitchFamily="34" charset="-122"/>
                <a:cs typeface="+mn-cs"/>
              </a:rPr>
              <a:t>socket </a:t>
            </a:r>
            <a:r>
              <a:rPr lang="zh-CN" altLang="en-US" sz="2400" kern="1200">
                <a:latin typeface="微软雅黑" panose="020B0503020204020204" pitchFamily="34" charset="-122"/>
                <a:ea typeface="微软雅黑" panose="020B0503020204020204" pitchFamily="34" charset="-122"/>
                <a:cs typeface="+mn-cs"/>
              </a:rPr>
              <a:t>的历史</a:t>
            </a:r>
            <a:r>
              <a:rPr lang="en-US" altLang="zh-CN" sz="2400" kern="1200">
                <a:latin typeface="微软雅黑" panose="020B0503020204020204" pitchFamily="34" charset="-122"/>
                <a:ea typeface="微软雅黑" panose="020B0503020204020204" pitchFamily="34" charset="-122"/>
                <a:cs typeface="+mn-cs"/>
              </a:rPr>
              <a:t>——</a:t>
            </a:r>
            <a:r>
              <a:rPr lang="en-US" altLang="zh-CN" sz="2400" b="1" kern="1200">
                <a:latin typeface="Times New Roman" panose="02020503050405090304" pitchFamily="18" charset="0"/>
                <a:ea typeface="微软雅黑" panose="020B0503020204020204" pitchFamily="34" charset="-122"/>
                <a:cs typeface="+mn-cs"/>
              </a:rPr>
              <a:t>Berkeley Socket</a:t>
            </a:r>
            <a:endParaRPr lang="zh-CN" altLang="en-US" sz="2400" kern="1200">
              <a:latin typeface="微软雅黑" panose="020B0503020204020204" pitchFamily="34" charset="-122"/>
              <a:ea typeface="微软雅黑" panose="020B0503020204020204" pitchFamily="34" charset="-122"/>
              <a:cs typeface="+mn-cs"/>
            </a:endParaRPr>
          </a:p>
          <a:p>
            <a:pPr lvl="1" eaLnBrk="1" hangingPunct="1">
              <a:lnSpc>
                <a:spcPct val="150000"/>
              </a:lnSpc>
              <a:spcBef>
                <a:spcPct val="0"/>
              </a:spcBef>
            </a:pPr>
            <a:r>
              <a:rPr lang="zh-CN" altLang="en-US" sz="2400" kern="1200">
                <a:latin typeface="微软雅黑" panose="020B0503020204020204" pitchFamily="34" charset="-122"/>
                <a:ea typeface="微软雅黑" panose="020B0503020204020204" pitchFamily="34" charset="-122"/>
                <a:cs typeface="+mn-cs"/>
              </a:rPr>
              <a:t>这个系统被称为</a:t>
            </a:r>
            <a:r>
              <a:rPr lang="en-US" altLang="zh-CN" sz="2400" kern="1200">
                <a:latin typeface="Times New Roman" panose="02020503050405090304" pitchFamily="18" charset="0"/>
                <a:ea typeface="微软雅黑" panose="020B0503020204020204" pitchFamily="34" charset="-122"/>
                <a:cs typeface="+mn-cs"/>
              </a:rPr>
              <a:t>Berkeley UNIX</a:t>
            </a:r>
            <a:r>
              <a:rPr lang="zh-CN" altLang="en-US" sz="2400" kern="1200">
                <a:latin typeface="微软雅黑" panose="020B0503020204020204" pitchFamily="34" charset="-122"/>
                <a:ea typeface="微软雅黑" panose="020B0503020204020204" pitchFamily="34" charset="-122"/>
                <a:cs typeface="+mn-cs"/>
              </a:rPr>
              <a:t>或</a:t>
            </a:r>
            <a:r>
              <a:rPr lang="en-US" altLang="zh-CN" sz="2400" kern="1200">
                <a:latin typeface="Times New Roman" panose="02020503050405090304" pitchFamily="18" charset="0"/>
                <a:ea typeface="微软雅黑" panose="020B0503020204020204" pitchFamily="34" charset="-122"/>
                <a:cs typeface="+mn-cs"/>
              </a:rPr>
              <a:t>BSD UNIX</a:t>
            </a:r>
            <a:r>
              <a:rPr lang="zh-CN" altLang="en-US" sz="2400" kern="1200">
                <a:latin typeface="微软雅黑" panose="020B0503020204020204" pitchFamily="34" charset="-122"/>
                <a:ea typeface="微软雅黑" panose="020B0503020204020204" pitchFamily="34" charset="-122"/>
                <a:cs typeface="+mn-cs"/>
              </a:rPr>
              <a:t>。</a:t>
            </a:r>
            <a:r>
              <a:rPr lang="en-US" altLang="zh-CN" sz="2400" kern="1200">
                <a:latin typeface="Times New Roman" panose="02020503050405090304" pitchFamily="18" charset="0"/>
                <a:ea typeface="微软雅黑" panose="020B0503020204020204" pitchFamily="34" charset="-122"/>
                <a:cs typeface="+mn-cs"/>
              </a:rPr>
              <a:t>(TCP/IP </a:t>
            </a:r>
            <a:r>
              <a:rPr lang="zh-CN" altLang="en-US" sz="2400" kern="1200">
                <a:latin typeface="Times New Roman" panose="02020503050405090304" pitchFamily="18" charset="0"/>
                <a:ea typeface="微软雅黑" panose="020B0503020204020204" pitchFamily="34" charset="-122"/>
                <a:cs typeface="+mn-cs"/>
              </a:rPr>
              <a:t>协议栈</a:t>
            </a:r>
            <a:r>
              <a:rPr lang="zh-CN" altLang="en-US" sz="2400" kern="1200">
                <a:latin typeface="微软雅黑" panose="020B0503020204020204" pitchFamily="34" charset="-122"/>
                <a:ea typeface="微软雅黑" panose="020B0503020204020204" pitchFamily="34" charset="-122"/>
                <a:cs typeface="+mn-cs"/>
              </a:rPr>
              <a:t>首次出现在</a:t>
            </a:r>
            <a:r>
              <a:rPr lang="en-US" altLang="zh-CN" sz="2400" kern="1200">
                <a:latin typeface="Times New Roman" panose="02020503050405090304" pitchFamily="18" charset="0"/>
                <a:ea typeface="微软雅黑" panose="020B0503020204020204" pitchFamily="34" charset="-122"/>
                <a:cs typeface="+mn-cs"/>
              </a:rPr>
              <a:t>BSD 4.1 </a:t>
            </a:r>
            <a:r>
              <a:rPr lang="zh-CN" altLang="en-US" sz="2400" kern="1200">
                <a:latin typeface="微软雅黑" panose="020B0503020204020204" pitchFamily="34" charset="-122"/>
                <a:ea typeface="微软雅黑" panose="020B0503020204020204" pitchFamily="34" charset="-122"/>
                <a:cs typeface="+mn-cs"/>
              </a:rPr>
              <a:t>版本</a:t>
            </a:r>
            <a:r>
              <a:rPr lang="en-US" altLang="zh-CN" sz="2400" kern="1200">
                <a:latin typeface="Times New Roman" panose="02020503050405090304" pitchFamily="18" charset="0"/>
                <a:ea typeface="微软雅黑" panose="020B0503020204020204" pitchFamily="34" charset="-122"/>
                <a:cs typeface="+mn-cs"/>
              </a:rPr>
              <a:t>release 4.1 of Berkeley SoftwareDistribution)</a:t>
            </a:r>
            <a:r>
              <a:rPr lang="zh-CN" altLang="en-US" sz="2400" kern="1200">
                <a:latin typeface="微软雅黑" panose="020B0503020204020204" pitchFamily="34" charset="-122"/>
                <a:ea typeface="微软雅黑" panose="020B0503020204020204" pitchFamily="34" charset="-122"/>
                <a:cs typeface="+mn-cs"/>
              </a:rPr>
              <a:t>。</a:t>
            </a:r>
          </a:p>
          <a:p>
            <a:pPr lvl="1" eaLnBrk="1" hangingPunct="1">
              <a:lnSpc>
                <a:spcPct val="150000"/>
              </a:lnSpc>
              <a:spcBef>
                <a:spcPct val="0"/>
              </a:spcBef>
            </a:pPr>
            <a:r>
              <a:rPr lang="zh-CN" altLang="en-US" sz="2400" kern="1200">
                <a:latin typeface="微软雅黑" panose="020B0503020204020204" pitchFamily="34" charset="-122"/>
                <a:ea typeface="微软雅黑" panose="020B0503020204020204" pitchFamily="34" charset="-122"/>
                <a:cs typeface="+mn-cs"/>
              </a:rPr>
              <a:t>由许多计算机厂商，都采用了</a:t>
            </a:r>
            <a:r>
              <a:rPr lang="en-US" altLang="zh-CN" sz="2400" kern="1200">
                <a:latin typeface="Times New Roman" panose="02020503050405090304" pitchFamily="18" charset="0"/>
                <a:ea typeface="微软雅黑" panose="020B0503020204020204" pitchFamily="34" charset="-122"/>
                <a:cs typeface="+mn-cs"/>
              </a:rPr>
              <a:t>Berkeley UNIX</a:t>
            </a:r>
            <a:r>
              <a:rPr lang="zh-CN" altLang="en-US" sz="2400" kern="1200">
                <a:latin typeface="微软雅黑" panose="020B0503020204020204" pitchFamily="34" charset="-122"/>
                <a:ea typeface="微软雅黑" panose="020B0503020204020204" pitchFamily="34" charset="-122"/>
                <a:cs typeface="+mn-cs"/>
              </a:rPr>
              <a:t>，于是许多机器上都可以使用</a:t>
            </a:r>
            <a:r>
              <a:rPr lang="en-US" altLang="zh-CN" sz="2400" kern="1200">
                <a:latin typeface="Times New Roman" panose="02020503050405090304" pitchFamily="18" charset="0"/>
                <a:ea typeface="微软雅黑" panose="020B0503020204020204" pitchFamily="34" charset="-122"/>
                <a:cs typeface="+mn-cs"/>
              </a:rPr>
              <a:t>Socket</a:t>
            </a:r>
            <a:r>
              <a:rPr lang="zh-CN" altLang="en-US" sz="2400" kern="1200">
                <a:latin typeface="微软雅黑" panose="020B0503020204020204" pitchFamily="34" charset="-122"/>
                <a:ea typeface="微软雅黑" panose="020B0503020204020204" pitchFamily="34" charset="-122"/>
                <a:cs typeface="+mn-cs"/>
              </a:rPr>
              <a:t>了</a:t>
            </a:r>
            <a:endParaRPr lang="en-US" altLang="zh-CN" sz="2400" kern="1200">
              <a:latin typeface="微软雅黑" panose="020B0503020204020204" pitchFamily="34" charset="-122"/>
              <a:ea typeface="微软雅黑" panose="020B0503020204020204" pitchFamily="34" charset="-122"/>
              <a:cs typeface="+mn-cs"/>
            </a:endParaRPr>
          </a:p>
          <a:p>
            <a:pPr lvl="1" eaLnBrk="1" hangingPunct="1">
              <a:lnSpc>
                <a:spcPct val="150000"/>
              </a:lnSpc>
              <a:spcBef>
                <a:spcPct val="0"/>
              </a:spcBef>
            </a:pPr>
            <a:r>
              <a:rPr lang="en-US" altLang="zh-CN" sz="2400" kern="1200">
                <a:latin typeface="Times New Roman" panose="02020503050405090304" pitchFamily="18" charset="0"/>
                <a:ea typeface="微软雅黑" panose="020B0503020204020204" pitchFamily="34" charset="-122"/>
                <a:cs typeface="+mn-cs"/>
              </a:rPr>
              <a:t>Socket </a:t>
            </a:r>
            <a:r>
              <a:rPr lang="zh-CN" altLang="en-US" sz="2400" kern="1200">
                <a:latin typeface="微软雅黑" panose="020B0503020204020204" pitchFamily="34" charset="-122"/>
                <a:ea typeface="微软雅黑" panose="020B0503020204020204" pitchFamily="34" charset="-122"/>
                <a:cs typeface="+mn-cs"/>
              </a:rPr>
              <a:t>接口就被广泛使用，到现在已经成为事实上的标准。</a:t>
            </a: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Socket</a:t>
            </a:r>
            <a:r>
              <a:rPr kumimoji="0" lang="zh-CN" altLang="en-US"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概述</a:t>
            </a:r>
          </a:p>
        </p:txBody>
      </p:sp>
      <p:sp>
        <p:nvSpPr>
          <p:cNvPr id="61442" name="Rectangle 3"/>
          <p:cNvSpPr>
            <a:spLocks noGrp="1" noChangeArrowheads="1"/>
          </p:cNvSpPr>
          <p:nvPr>
            <p:ph idx="1" hasCustomPrompt="1"/>
          </p:nvPr>
        </p:nvSpPr>
        <p:spPr>
          <a:xfrm>
            <a:off x="484188" y="790575"/>
            <a:ext cx="8185150" cy="3860800"/>
          </a:xfrm>
        </p:spPr>
        <p:txBody>
          <a:bodyPr vert="horz" wrap="square" lIns="91440" tIns="45720" rIns="91440" bIns="45720" numCol="1" anchor="t" anchorCtr="0" compatLnSpc="1"/>
          <a:lstStyle/>
          <a:p>
            <a:pPr marL="0" indent="0" eaLnBrk="1" hangingPunct="1">
              <a:buFont typeface="Arial" panose="020B0604020202090204" pitchFamily="34" charset="0"/>
              <a:buNone/>
            </a:pPr>
            <a:r>
              <a:rPr lang="en-US" altLang="zh-CN" kern="1200">
                <a:latin typeface="Times New Roman" panose="02020503050405090304" pitchFamily="18" charset="0"/>
                <a:ea typeface="微软雅黑" panose="020B0503020204020204" pitchFamily="34" charset="-122"/>
                <a:cs typeface="+mn-cs"/>
              </a:rPr>
              <a:t>Linux</a:t>
            </a:r>
            <a:r>
              <a:rPr lang="zh-CN" altLang="en-US" kern="1200">
                <a:latin typeface="微软雅黑" panose="020B0503020204020204" pitchFamily="34" charset="-122"/>
                <a:ea typeface="微软雅黑" panose="020B0503020204020204" pitchFamily="34" charset="-122"/>
                <a:cs typeface="+mn-cs"/>
              </a:rPr>
              <a:t>系统中的应用程序通过套接字编程接口来进行网络编程的</a:t>
            </a:r>
            <a:r>
              <a:rPr lang="en-US" altLang="zh-CN" kern="1200">
                <a:latin typeface="微软雅黑" panose="020B0503020204020204" pitchFamily="34" charset="-122"/>
                <a:ea typeface="微软雅黑" panose="020B0503020204020204" pitchFamily="34" charset="-122"/>
                <a:cs typeface="+mn-cs"/>
              </a:rPr>
              <a:t>.</a:t>
            </a:r>
          </a:p>
          <a:p>
            <a:pPr marL="0" indent="0" eaLnBrk="1" hangingPunct="1"/>
            <a:r>
              <a:rPr lang="zh-CN" altLang="en-US" kern="1200">
                <a:latin typeface="微软雅黑" panose="020B0503020204020204" pitchFamily="34" charset="-122"/>
                <a:ea typeface="微软雅黑" panose="020B0503020204020204" pitchFamily="34" charset="-122"/>
                <a:cs typeface="+mn-cs"/>
              </a:rPr>
              <a:t>内核中的协议栈处理收到的各层协议数据，然后应用程序以</a:t>
            </a:r>
            <a:r>
              <a:rPr lang="en-US" altLang="zh-CN" b="1" kern="1200">
                <a:latin typeface="微软雅黑" panose="020B0503020204020204" pitchFamily="34" charset="-122"/>
                <a:ea typeface="微软雅黑" panose="020B0503020204020204" pitchFamily="34" charset="-122"/>
                <a:cs typeface="+mn-cs"/>
              </a:rPr>
              <a:t>Socket</a:t>
            </a:r>
            <a:r>
              <a:rPr lang="zh-CN" altLang="en-US" b="1" kern="1200">
                <a:latin typeface="微软雅黑" panose="020B0503020204020204" pitchFamily="34" charset="-122"/>
                <a:ea typeface="微软雅黑" panose="020B0503020204020204" pitchFamily="34" charset="-122"/>
                <a:cs typeface="+mn-cs"/>
              </a:rPr>
              <a:t>文件的方式</a:t>
            </a:r>
            <a:r>
              <a:rPr lang="zh-CN" altLang="en-US" kern="1200">
                <a:latin typeface="微软雅黑" panose="020B0503020204020204" pitchFamily="34" charset="-122"/>
                <a:ea typeface="微软雅黑" panose="020B0503020204020204" pitchFamily="34" charset="-122"/>
                <a:cs typeface="+mn-cs"/>
              </a:rPr>
              <a:t>接受内核传来的数据</a:t>
            </a:r>
            <a:endParaRPr lang="en-US" altLang="zh-CN" kern="1200">
              <a:latin typeface="微软雅黑" panose="020B0503020204020204" pitchFamily="34" charset="-122"/>
              <a:ea typeface="微软雅黑" panose="020B0503020204020204" pitchFamily="34" charset="-122"/>
              <a:cs typeface="+mn-cs"/>
            </a:endParaRPr>
          </a:p>
          <a:p>
            <a:pPr marL="0" indent="0" eaLnBrk="1" hangingPunct="1"/>
            <a:r>
              <a:rPr lang="zh-CN" altLang="en-US" kern="1200">
                <a:latin typeface="微软雅黑" panose="020B0503020204020204" pitchFamily="34" charset="-122"/>
                <a:ea typeface="微软雅黑" panose="020B0503020204020204" pitchFamily="34" charset="-122"/>
                <a:cs typeface="+mn-cs"/>
              </a:rPr>
              <a:t>应用程序通过</a:t>
            </a:r>
            <a:r>
              <a:rPr lang="zh-CN" altLang="en-US" b="1" kern="1200">
                <a:latin typeface="微软雅黑" panose="020B0503020204020204" pitchFamily="34" charset="-122"/>
                <a:ea typeface="微软雅黑" panose="020B0503020204020204" pitchFamily="34" charset="-122"/>
                <a:cs typeface="+mn-cs"/>
              </a:rPr>
              <a:t>使用</a:t>
            </a:r>
            <a:r>
              <a:rPr lang="en-US" altLang="zh-CN" b="1" kern="1200">
                <a:latin typeface="微软雅黑" panose="020B0503020204020204" pitchFamily="34" charset="-122"/>
                <a:ea typeface="微软雅黑" panose="020B0503020204020204" pitchFamily="34" charset="-122"/>
                <a:cs typeface="+mn-cs"/>
              </a:rPr>
              <a:t>Socket API</a:t>
            </a:r>
            <a:r>
              <a:rPr lang="zh-CN" altLang="en-US" kern="1200">
                <a:latin typeface="微软雅黑" panose="020B0503020204020204" pitchFamily="34" charset="-122"/>
                <a:ea typeface="微软雅黑" panose="020B0503020204020204" pitchFamily="34" charset="-122"/>
                <a:cs typeface="+mn-cs"/>
              </a:rPr>
              <a:t>，会返回</a:t>
            </a:r>
            <a:r>
              <a:rPr lang="en-US" altLang="zh-CN" kern="1200">
                <a:latin typeface="微软雅黑" panose="020B0503020204020204" pitchFamily="34" charset="-122"/>
                <a:ea typeface="微软雅黑" panose="020B0503020204020204" pitchFamily="34" charset="-122"/>
                <a:cs typeface="+mn-cs"/>
              </a:rPr>
              <a:t>Socket</a:t>
            </a:r>
            <a:r>
              <a:rPr lang="zh-CN" altLang="en-US" kern="1200">
                <a:latin typeface="微软雅黑" panose="020B0503020204020204" pitchFamily="34" charset="-122"/>
                <a:ea typeface="微软雅黑" panose="020B0503020204020204" pitchFamily="34" charset="-122"/>
                <a:cs typeface="+mn-cs"/>
              </a:rPr>
              <a:t>文件的描述符</a:t>
            </a:r>
            <a:r>
              <a:rPr lang="en-US" altLang="zh-CN" kern="1200">
                <a:latin typeface="微软雅黑" panose="020B0503020204020204" pitchFamily="34" charset="-122"/>
                <a:ea typeface="微软雅黑" panose="020B0503020204020204" pitchFamily="34" charset="-122"/>
                <a:cs typeface="+mn-cs"/>
              </a:rPr>
              <a:t>,</a:t>
            </a:r>
            <a:r>
              <a:rPr lang="zh-CN" altLang="en-US" kern="1200">
                <a:latin typeface="微软雅黑" panose="020B0503020204020204" pitchFamily="34" charset="-122"/>
                <a:ea typeface="微软雅黑" panose="020B0503020204020204" pitchFamily="34" charset="-122"/>
                <a:cs typeface="+mn-cs"/>
              </a:rPr>
              <a:t> 可以将这个描述符当做普通的文件的描述符来操作</a:t>
            </a:r>
            <a:endParaRPr lang="en-US" altLang="zh-CN" kern="1200">
              <a:latin typeface="微软雅黑" panose="020B0503020204020204" pitchFamily="34" charset="-122"/>
              <a:ea typeface="微软雅黑" panose="020B0503020204020204" pitchFamily="34" charset="-122"/>
              <a:cs typeface="+mn-cs"/>
            </a:endParaRPr>
          </a:p>
          <a:p>
            <a:pPr marL="0" indent="0" eaLnBrk="1" hangingPunct="1">
              <a:buFont typeface="Wingdings" panose="05000000000000000000" pitchFamily="2" charset="2"/>
              <a:buNone/>
            </a:pPr>
            <a:endParaRPr lang="zh-CN" altLang="en-US" kern="1200">
              <a:latin typeface="微软雅黑" panose="020B0503020204020204" pitchFamily="34" charset="-122"/>
              <a:ea typeface="微软雅黑" panose="020B0503020204020204" pitchFamily="34" charset="-122"/>
              <a:cs typeface="+mn-cs"/>
            </a:endParaRPr>
          </a:p>
        </p:txBody>
      </p:sp>
      <p:sp>
        <p:nvSpPr>
          <p:cNvPr id="3" name="文本框 2"/>
          <p:cNvSpPr txBox="1"/>
          <p:nvPr/>
        </p:nvSpPr>
        <p:spPr>
          <a:xfrm>
            <a:off x="684213" y="3363913"/>
            <a:ext cx="7775575" cy="40005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zh-CN" altLang="en-US" sz="2000">
                <a:solidFill>
                  <a:srgbClr val="FFFFFF"/>
                </a:solidFill>
                <a:latin typeface="微软雅黑" panose="020B0503020204020204" pitchFamily="34" charset="-122"/>
                <a:ea typeface="微软雅黑" panose="020B0503020204020204" pitchFamily="34" charset="-122"/>
              </a:rPr>
              <a:t>可以通过文件读写操作实现网络之间的数据交流</a:t>
            </a:r>
            <a:endParaRPr lang="en-US" altLang="zh-CN" sz="200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eaLnBrk="1" hangingPunct="1">
              <a:buNone/>
            </a:pPr>
            <a:r>
              <a:rPr lang="zh-CN" altLang="en-US" sz="2000" kern="1200">
                <a:solidFill>
                  <a:srgbClr val="0070C0"/>
                </a:solidFill>
                <a:effectLst>
                  <a:outerShdw blurRad="38100" dist="38100" dir="2700000">
                    <a:srgbClr val="C0C0C0"/>
                  </a:outerShdw>
                </a:effectLst>
                <a:latin typeface="微软雅黑" panose="020B0503020204020204" pitchFamily="34" charset="-122"/>
                <a:ea typeface="微软雅黑" panose="020B0503020204020204" pitchFamily="34" charset="-122"/>
                <a:cs typeface="+mj-cs"/>
              </a:rPr>
              <a:t>文件类型</a:t>
            </a:r>
          </a:p>
        </p:txBody>
      </p:sp>
      <p:graphicFrame>
        <p:nvGraphicFramePr>
          <p:cNvPr id="56322" name="表格 56321"/>
          <p:cNvGraphicFramePr/>
          <p:nvPr/>
        </p:nvGraphicFramePr>
        <p:xfrm>
          <a:off x="533400" y="842963"/>
          <a:ext cx="3090863" cy="3062287"/>
        </p:xfrm>
        <a:graphic>
          <a:graphicData uri="http://schemas.openxmlformats.org/drawingml/2006/table">
            <a:tbl>
              <a:tblPr/>
              <a:tblGrid>
                <a:gridCol w="717550">
                  <a:extLst>
                    <a:ext uri="{9D8B030D-6E8A-4147-A177-3AD203B41FA5}">
                      <a16:colId xmlns:a16="http://schemas.microsoft.com/office/drawing/2014/main" val="20000"/>
                    </a:ext>
                  </a:extLst>
                </a:gridCol>
                <a:gridCol w="2373313">
                  <a:extLst>
                    <a:ext uri="{9D8B030D-6E8A-4147-A177-3AD203B41FA5}">
                      <a16:colId xmlns:a16="http://schemas.microsoft.com/office/drawing/2014/main" val="20001"/>
                    </a:ext>
                  </a:extLst>
                </a:gridCol>
              </a:tblGrid>
              <a:tr h="373063">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zh-CN" altLang="en-US" sz="2000" b="1">
                          <a:latin typeface="Arial" panose="020B0604020202090204" pitchFamily="34" charset="0"/>
                          <a:ea typeface="黑体" panose="02010600030101010101" pitchFamily="49" charset="-122"/>
                        </a:rPr>
                        <a:t>标识</a:t>
                      </a: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zh-CN" altLang="en-US" sz="2000" b="1">
                          <a:latin typeface="Arial" panose="020B0604020202090204" pitchFamily="34" charset="0"/>
                          <a:ea typeface="黑体" panose="02010600030101010101" pitchFamily="49" charset="-122"/>
                        </a:rPr>
                        <a:t>文件类型</a:t>
                      </a: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841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en-US" altLang="zh-CN" sz="2000">
                          <a:latin typeface="Arial" panose="020B0604020202090204" pitchFamily="34" charset="0"/>
                          <a:ea typeface="黑体" panose="02010600030101010101" pitchFamily="49" charset="-122"/>
                        </a:rPr>
                        <a:t>-</a:t>
                      </a:r>
                      <a:endParaRPr lang="zh-CN" altLang="en-US" sz="2000">
                        <a:latin typeface="Arial" panose="020B0604020202090204" pitchFamily="34" charset="0"/>
                        <a:ea typeface="黑体" panose="02010600030101010101" pitchFamily="49" charset="-122"/>
                      </a:endParaRP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zh-CN" altLang="en-US" sz="2000">
                          <a:latin typeface="Arial" panose="020B0604020202090204" pitchFamily="34" charset="0"/>
                          <a:ea typeface="黑体" panose="02010600030101010101" pitchFamily="49" charset="-122"/>
                        </a:rPr>
                        <a:t>普通文件</a:t>
                      </a: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1"/>
                  </a:ext>
                </a:extLst>
              </a:tr>
              <a:tr h="3841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en-US" altLang="zh-CN" sz="2000">
                          <a:latin typeface="Arial" panose="020B0604020202090204" pitchFamily="34" charset="0"/>
                          <a:ea typeface="黑体" panose="02010600030101010101" pitchFamily="49" charset="-122"/>
                        </a:rPr>
                        <a:t>d</a:t>
                      </a:r>
                      <a:endParaRPr lang="zh-CN" altLang="en-US" sz="2000">
                        <a:latin typeface="Arial" panose="020B0604020202090204" pitchFamily="34" charset="0"/>
                        <a:ea typeface="黑体" panose="02010600030101010101" pitchFamily="49" charset="-122"/>
                      </a:endParaRP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3F9FA"/>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zh-CN" altLang="en-US" sz="2000">
                          <a:latin typeface="Arial" panose="020B0604020202090204" pitchFamily="34" charset="0"/>
                          <a:ea typeface="黑体" panose="02010600030101010101" pitchFamily="49" charset="-122"/>
                        </a:rPr>
                        <a:t>目录文件</a:t>
                      </a: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2"/>
                  </a:ext>
                </a:extLst>
              </a:tr>
              <a:tr h="3841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en-US" altLang="zh-CN" sz="2000">
                          <a:latin typeface="Arial" panose="020B0604020202090204" pitchFamily="34" charset="0"/>
                          <a:ea typeface="黑体" panose="02010600030101010101" pitchFamily="49" charset="-122"/>
                        </a:rPr>
                        <a:t>c</a:t>
                      </a:r>
                      <a:endParaRPr lang="zh-CN" altLang="en-US" sz="2000">
                        <a:latin typeface="Arial" panose="020B0604020202090204" pitchFamily="34" charset="0"/>
                        <a:ea typeface="黑体" panose="02010600030101010101" pitchFamily="49" charset="-122"/>
                      </a:endParaRP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zh-CN" altLang="en-US" sz="2000">
                          <a:latin typeface="Arial" panose="020B0604020202090204" pitchFamily="34" charset="0"/>
                          <a:ea typeface="黑体" panose="02010600030101010101" pitchFamily="49" charset="-122"/>
                        </a:rPr>
                        <a:t>字符设备文件</a:t>
                      </a: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3"/>
                  </a:ext>
                </a:extLst>
              </a:tr>
              <a:tr h="3841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en-US" altLang="zh-CN" sz="2000">
                          <a:latin typeface="Arial" panose="020B0604020202090204" pitchFamily="34" charset="0"/>
                          <a:ea typeface="黑体" panose="02010600030101010101" pitchFamily="49" charset="-122"/>
                        </a:rPr>
                        <a:t>b</a:t>
                      </a:r>
                      <a:endParaRPr lang="zh-CN" altLang="en-US" sz="2000">
                        <a:latin typeface="Arial" panose="020B0604020202090204" pitchFamily="34" charset="0"/>
                        <a:ea typeface="黑体" panose="02010600030101010101" pitchFamily="49" charset="-122"/>
                      </a:endParaRP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3F9FA"/>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zh-CN" altLang="en-US" sz="2000">
                          <a:latin typeface="Arial" panose="020B0604020202090204" pitchFamily="34" charset="0"/>
                          <a:ea typeface="黑体" panose="02010600030101010101" pitchFamily="49" charset="-122"/>
                        </a:rPr>
                        <a:t>块设备文件</a:t>
                      </a: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4"/>
                  </a:ext>
                </a:extLst>
              </a:tr>
              <a:tr h="3841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en-US" altLang="zh-CN" sz="2000">
                          <a:latin typeface="Arial" panose="020B0604020202090204" pitchFamily="34" charset="0"/>
                          <a:ea typeface="黑体" panose="02010600030101010101" pitchFamily="49" charset="-122"/>
                        </a:rPr>
                        <a:t>p</a:t>
                      </a:r>
                      <a:endParaRPr lang="zh-CN" altLang="en-US" sz="2000">
                        <a:latin typeface="Arial" panose="020B0604020202090204" pitchFamily="34" charset="0"/>
                        <a:ea typeface="黑体" panose="02010600030101010101" pitchFamily="49" charset="-122"/>
                      </a:endParaRP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zh-CN" altLang="en-US" sz="2000">
                          <a:latin typeface="Arial" panose="020B0604020202090204" pitchFamily="34" charset="0"/>
                          <a:ea typeface="黑体" panose="02010600030101010101" pitchFamily="49" charset="-122"/>
                        </a:rPr>
                        <a:t>管道或</a:t>
                      </a:r>
                      <a:r>
                        <a:rPr lang="en-US" altLang="zh-CN" sz="2000">
                          <a:latin typeface="Arial" panose="020B0604020202090204" pitchFamily="34" charset="0"/>
                          <a:ea typeface="黑体" panose="02010600030101010101" pitchFamily="49" charset="-122"/>
                        </a:rPr>
                        <a:t>FIFO</a:t>
                      </a:r>
                      <a:endParaRPr lang="zh-CN" altLang="en-US" sz="2000">
                        <a:latin typeface="Arial" panose="020B0604020202090204" pitchFamily="34" charset="0"/>
                        <a:ea typeface="黑体" panose="02010600030101010101" pitchFamily="49" charset="-122"/>
                      </a:endParaRP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5"/>
                  </a:ext>
                </a:extLst>
              </a:tr>
              <a:tr h="3841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en-US" altLang="zh-CN" sz="2000">
                          <a:latin typeface="Arial" panose="020B0604020202090204" pitchFamily="34" charset="0"/>
                          <a:ea typeface="黑体" panose="02010600030101010101" pitchFamily="49" charset="-122"/>
                        </a:rPr>
                        <a:t>l</a:t>
                      </a:r>
                      <a:endParaRPr lang="zh-CN" altLang="en-US" sz="2000">
                        <a:latin typeface="Arial" panose="020B0604020202090204" pitchFamily="34" charset="0"/>
                        <a:ea typeface="黑体" panose="02010600030101010101" pitchFamily="49" charset="-122"/>
                      </a:endParaRP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3F9FA"/>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zh-CN" altLang="en-US" sz="2000">
                          <a:latin typeface="Arial" panose="020B0604020202090204" pitchFamily="34" charset="0"/>
                          <a:ea typeface="黑体" panose="02010600030101010101" pitchFamily="49" charset="-122"/>
                        </a:rPr>
                        <a:t>符号链接</a:t>
                      </a: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F3F9FA"/>
                    </a:solidFill>
                  </a:tcPr>
                </a:tc>
                <a:extLst>
                  <a:ext uri="{0D108BD9-81ED-4DB2-BD59-A6C34878D82A}">
                    <a16:rowId xmlns:a16="http://schemas.microsoft.com/office/drawing/2014/main" val="10006"/>
                  </a:ext>
                </a:extLst>
              </a:tr>
              <a:tr h="38417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en-US" altLang="zh-CN" sz="2000">
                          <a:latin typeface="Arial" panose="020B0604020202090204" pitchFamily="34" charset="0"/>
                          <a:ea typeface="黑体" panose="02010600030101010101" pitchFamily="49" charset="-122"/>
                        </a:rPr>
                        <a:t>s</a:t>
                      </a:r>
                      <a:endParaRPr lang="zh-CN" altLang="en-US" sz="2000">
                        <a:latin typeface="Arial" panose="020B0604020202090204" pitchFamily="34" charset="0"/>
                        <a:ea typeface="黑体" panose="02010600030101010101" pitchFamily="49" charset="-122"/>
                      </a:endParaRP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solid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buNone/>
                      </a:pPr>
                      <a:r>
                        <a:rPr lang="zh-CN" altLang="en-US" sz="2000">
                          <a:latin typeface="Arial" panose="020B0604020202090204" pitchFamily="34" charset="0"/>
                          <a:ea typeface="黑体" panose="02010600030101010101" pitchFamily="49" charset="-122"/>
                        </a:rPr>
                        <a:t>套接字</a:t>
                      </a:r>
                    </a:p>
                  </a:txBody>
                  <a:tcPr marL="68586" marR="68586" marT="34275" marB="342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solidFill>
                  </a:tcPr>
                </a:tc>
                <a:extLst>
                  <a:ext uri="{0D108BD9-81ED-4DB2-BD59-A6C34878D82A}">
                    <a16:rowId xmlns:a16="http://schemas.microsoft.com/office/drawing/2014/main" val="10007"/>
                  </a:ext>
                </a:extLst>
              </a:tr>
            </a:tbl>
          </a:graphicData>
        </a:graphic>
      </p:graphicFrame>
      <p:pic>
        <p:nvPicPr>
          <p:cNvPr id="56351" name="图片 5"/>
          <p:cNvPicPr>
            <a:picLocks noChangeAspect="1"/>
          </p:cNvPicPr>
          <p:nvPr/>
        </p:nvPicPr>
        <p:blipFill>
          <a:blip r:embed="rId3"/>
          <a:stretch>
            <a:fillRect/>
          </a:stretch>
        </p:blipFill>
        <p:spPr>
          <a:xfrm>
            <a:off x="4140200" y="1131888"/>
            <a:ext cx="4416425" cy="2143125"/>
          </a:xfrm>
          <a:prstGeom prst="rect">
            <a:avLst/>
          </a:prstGeom>
          <a:noFill/>
          <a:ln w="9525">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322"/>
                                        </p:tgtEl>
                                        <p:attrNameLst>
                                          <p:attrName>style.visibility</p:attrName>
                                        </p:attrNameLst>
                                      </p:cBhvr>
                                      <p:to>
                                        <p:strVal val="visible"/>
                                      </p:to>
                                    </p:set>
                                    <p:anim calcmode="lin" valueType="num">
                                      <p:cBhvr additive="base">
                                        <p:cTn id="7" dur="500" fill="hold"/>
                                        <p:tgtEl>
                                          <p:spTgt spid="56322"/>
                                        </p:tgtEl>
                                        <p:attrNameLst>
                                          <p:attrName>ppt_x</p:attrName>
                                        </p:attrNameLst>
                                      </p:cBhvr>
                                      <p:tavLst>
                                        <p:tav tm="0">
                                          <p:val>
                                            <p:strVal val="#ppt_x"/>
                                          </p:val>
                                        </p:tav>
                                        <p:tav tm="100000">
                                          <p:val>
                                            <p:strVal val="#ppt_x"/>
                                          </p:val>
                                        </p:tav>
                                      </p:tavLst>
                                    </p:anim>
                                    <p:anim calcmode="lin" valueType="num">
                                      <p:cBhvr additive="base">
                                        <p:cTn id="8" dur="500" fill="hold"/>
                                        <p:tgtEl>
                                          <p:spTgt spid="563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Socket</a:t>
            </a:r>
            <a:r>
              <a:rPr kumimoji="0" lang="zh-CN" altLang="en-US"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概述</a:t>
            </a:r>
          </a:p>
        </p:txBody>
      </p:sp>
      <p:sp>
        <p:nvSpPr>
          <p:cNvPr id="58370" name="Rectangle 3"/>
          <p:cNvSpPr>
            <a:spLocks noGrp="1"/>
          </p:cNvSpPr>
          <p:nvPr>
            <p:ph idx="1" hasCustomPrompt="1"/>
          </p:nvPr>
        </p:nvSpPr>
        <p:spPr>
          <a:xfrm>
            <a:off x="500063" y="641350"/>
            <a:ext cx="8183562" cy="3860800"/>
          </a:xfrm>
          <a:ln/>
        </p:spPr>
        <p:txBody>
          <a:bodyPr vert="horz" wrap="square" lIns="91440" tIns="45720" rIns="91440" bIns="45720" anchor="t" anchorCtr="0"/>
          <a:lstStyle/>
          <a:p>
            <a:pPr eaLnBrk="1" hangingPunct="1"/>
            <a:endParaRPr lang="en-US" altLang="zh-CN" kern="1200">
              <a:latin typeface="Times New Roman" panose="02020503050405090304" pitchFamily="18" charset="0"/>
              <a:ea typeface="微软雅黑" panose="020B0503020204020204" pitchFamily="34" charset="-122"/>
              <a:cs typeface="+mn-cs"/>
            </a:endParaRPr>
          </a:p>
          <a:p>
            <a:pPr eaLnBrk="1" hangingPunct="1"/>
            <a:endParaRPr lang="en-US" altLang="zh-CN" kern="1200">
              <a:latin typeface="Times New Roman" panose="02020503050405090304" pitchFamily="18" charset="0"/>
              <a:ea typeface="微软雅黑" panose="020B0503020204020204" pitchFamily="34" charset="-122"/>
              <a:cs typeface="+mn-cs"/>
            </a:endParaRPr>
          </a:p>
          <a:p>
            <a:pPr eaLnBrk="1" hangingPunct="1"/>
            <a:endParaRPr lang="en-US" altLang="zh-CN" kern="1200">
              <a:latin typeface="Times New Roman" panose="02020503050405090304" pitchFamily="18" charset="0"/>
              <a:ea typeface="微软雅黑" panose="020B0503020204020204" pitchFamily="34" charset="-122"/>
              <a:cs typeface="+mn-cs"/>
            </a:endParaRPr>
          </a:p>
          <a:p>
            <a:pPr eaLnBrk="1" hangingPunct="1"/>
            <a:endParaRPr lang="en-US" altLang="zh-CN" kern="1200">
              <a:latin typeface="Times New Roman" panose="02020503050405090304" pitchFamily="18" charset="0"/>
              <a:ea typeface="微软雅黑" panose="020B0503020204020204" pitchFamily="34" charset="-122"/>
              <a:cs typeface="+mn-cs"/>
            </a:endParaRPr>
          </a:p>
          <a:p>
            <a:pPr eaLnBrk="1" hangingPunct="1"/>
            <a:endParaRPr lang="en-US" altLang="zh-CN" kern="1200">
              <a:latin typeface="Times New Roman" panose="02020503050405090304" pitchFamily="18" charset="0"/>
              <a:ea typeface="微软雅黑" panose="020B0503020204020204" pitchFamily="34" charset="-122"/>
              <a:cs typeface="+mn-cs"/>
            </a:endParaRPr>
          </a:p>
          <a:p>
            <a:pPr eaLnBrk="1" hangingPunct="1"/>
            <a:endParaRPr lang="en-US" altLang="zh-CN" kern="1200">
              <a:latin typeface="Times New Roman" panose="02020503050405090304" pitchFamily="18" charset="0"/>
              <a:ea typeface="微软雅黑" panose="020B0503020204020204" pitchFamily="34" charset="-122"/>
              <a:cs typeface="+mn-cs"/>
            </a:endParaRPr>
          </a:p>
          <a:p>
            <a:pPr eaLnBrk="1" hangingPunct="1"/>
            <a:r>
              <a:rPr lang="zh-CN" altLang="en-US" kern="1200">
                <a:latin typeface="Times New Roman" panose="02020503050405090304" pitchFamily="18" charset="0"/>
                <a:ea typeface="微软雅黑" panose="020B0503020204020204" pitchFamily="34" charset="-122"/>
                <a:cs typeface="+mn-cs"/>
              </a:rPr>
              <a:t>应用进程通过</a:t>
            </a:r>
            <a:r>
              <a:rPr lang="en-US" altLang="zh-CN" kern="1200">
                <a:latin typeface="Times New Roman" panose="02020503050405090304" pitchFamily="18" charset="0"/>
                <a:ea typeface="微软雅黑" panose="020B0503020204020204" pitchFamily="34" charset="-122"/>
                <a:cs typeface="+mn-cs"/>
              </a:rPr>
              <a:t>Socket</a:t>
            </a:r>
            <a:r>
              <a:rPr lang="zh-CN" altLang="en-US" kern="1200">
                <a:latin typeface="Times New Roman" panose="02020503050405090304" pitchFamily="18" charset="0"/>
                <a:ea typeface="微软雅黑" panose="020B0503020204020204" pitchFamily="34" charset="-122"/>
                <a:cs typeface="+mn-cs"/>
              </a:rPr>
              <a:t>接口，使用传输层提供的服务</a:t>
            </a:r>
            <a:r>
              <a:rPr lang="en-US" altLang="zh-CN" kern="1200">
                <a:latin typeface="Times New Roman" panose="02020503050405090304" pitchFamily="18" charset="0"/>
                <a:ea typeface="微软雅黑" panose="020B0503020204020204" pitchFamily="34" charset="-122"/>
                <a:cs typeface="+mn-cs"/>
              </a:rPr>
              <a:t>, </a:t>
            </a:r>
            <a:r>
              <a:rPr lang="zh-CN" altLang="en-US" kern="1200">
                <a:latin typeface="Times New Roman" panose="02020503050405090304" pitchFamily="18" charset="0"/>
                <a:ea typeface="微软雅黑" panose="020B0503020204020204" pitchFamily="34" charset="-122"/>
                <a:cs typeface="+mn-cs"/>
              </a:rPr>
              <a:t>跨网络发送</a:t>
            </a:r>
            <a:r>
              <a:rPr lang="en-US" altLang="zh-CN" kern="1200">
                <a:latin typeface="Times New Roman" panose="02020503050405090304" pitchFamily="18" charset="0"/>
                <a:ea typeface="微软雅黑" panose="020B0503020204020204" pitchFamily="34" charset="-122"/>
                <a:cs typeface="+mn-cs"/>
              </a:rPr>
              <a:t>/</a:t>
            </a:r>
            <a:r>
              <a:rPr lang="zh-CN" altLang="en-US" kern="1200">
                <a:latin typeface="Times New Roman" panose="02020503050405090304" pitchFamily="18" charset="0"/>
                <a:ea typeface="微软雅黑" panose="020B0503020204020204" pitchFamily="34" charset="-122"/>
                <a:cs typeface="+mn-cs"/>
              </a:rPr>
              <a:t>接收消息到</a:t>
            </a:r>
            <a:r>
              <a:rPr lang="en-US" altLang="zh-CN" kern="1200">
                <a:latin typeface="Times New Roman" panose="02020503050405090304" pitchFamily="18" charset="0"/>
                <a:ea typeface="微软雅黑" panose="020B0503020204020204" pitchFamily="34" charset="-122"/>
                <a:cs typeface="+mn-cs"/>
              </a:rPr>
              <a:t>/</a:t>
            </a:r>
            <a:r>
              <a:rPr lang="zh-CN" altLang="en-US" kern="1200">
                <a:latin typeface="Times New Roman" panose="02020503050405090304" pitchFamily="18" charset="0"/>
                <a:ea typeface="微软雅黑" panose="020B0503020204020204" pitchFamily="34" charset="-122"/>
                <a:cs typeface="+mn-cs"/>
              </a:rPr>
              <a:t>从其他应用进程。</a:t>
            </a:r>
          </a:p>
          <a:p>
            <a:pPr eaLnBrk="1" hangingPunct="1"/>
            <a:r>
              <a:rPr lang="en-US" altLang="zh-CN" kern="1200">
                <a:latin typeface="Times New Roman" panose="02020503050405090304" pitchFamily="18" charset="0"/>
                <a:ea typeface="微软雅黑" panose="020B0503020204020204" pitchFamily="34" charset="-122"/>
                <a:cs typeface="+mn-cs"/>
              </a:rPr>
              <a:t>Socket</a:t>
            </a:r>
            <a:r>
              <a:rPr lang="zh-CN" altLang="en-US" kern="1200">
                <a:latin typeface="Times New Roman" panose="02020503050405090304" pitchFamily="18" charset="0"/>
                <a:ea typeface="微软雅黑" panose="020B0503020204020204" pitchFamily="34" charset="-122"/>
                <a:cs typeface="+mn-cs"/>
              </a:rPr>
              <a:t>接口实现的程序模式是</a:t>
            </a:r>
            <a:r>
              <a:rPr lang="en-US" altLang="zh-CN" kern="1200">
                <a:latin typeface="Times New Roman" panose="02020503050405090304" pitchFamily="18" charset="0"/>
                <a:ea typeface="微软雅黑" panose="020B0503020204020204" pitchFamily="34" charset="-122"/>
                <a:cs typeface="+mn-cs"/>
              </a:rPr>
              <a:t>client/server</a:t>
            </a:r>
            <a:r>
              <a:rPr lang="zh-CN" altLang="en-US" kern="1200">
                <a:latin typeface="Times New Roman" panose="02020503050405090304" pitchFamily="18" charset="0"/>
                <a:ea typeface="微软雅黑" panose="020B0503020204020204" pitchFamily="34" charset="-122"/>
                <a:cs typeface="+mn-cs"/>
              </a:rPr>
              <a:t>模式</a:t>
            </a:r>
            <a:endParaRPr lang="en-US" altLang="zh-CN" kern="1200">
              <a:latin typeface="Times New Roman" panose="02020503050405090304" pitchFamily="18" charset="0"/>
              <a:ea typeface="微软雅黑" panose="020B0503020204020204" pitchFamily="34" charset="-122"/>
              <a:cs typeface="+mn-cs"/>
            </a:endParaRPr>
          </a:p>
        </p:txBody>
      </p:sp>
      <p:pic>
        <p:nvPicPr>
          <p:cNvPr id="58371" name="Picture 4" descr="图形2_2"/>
          <p:cNvPicPr>
            <a:picLocks noChangeAspect="1"/>
          </p:cNvPicPr>
          <p:nvPr/>
        </p:nvPicPr>
        <p:blipFill>
          <a:blip r:embed="rId2"/>
          <a:stretch>
            <a:fillRect/>
          </a:stretch>
        </p:blipFill>
        <p:spPr>
          <a:xfrm>
            <a:off x="1600200" y="1168400"/>
            <a:ext cx="6057900" cy="2028825"/>
          </a:xfrm>
          <a:prstGeom prst="rect">
            <a:avLst/>
          </a:prstGeom>
          <a:noFill/>
          <a:ln w="9525">
            <a:noFill/>
          </a:ln>
        </p:spPr>
      </p:pic>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Socket</a:t>
            </a:r>
            <a:r>
              <a:rPr kumimoji="0" lang="zh-CN" altLang="en-US"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概述</a:t>
            </a:r>
          </a:p>
        </p:txBody>
      </p:sp>
      <p:sp>
        <p:nvSpPr>
          <p:cNvPr id="59394" name="Rectangle 3"/>
          <p:cNvSpPr>
            <a:spLocks noGrp="1"/>
          </p:cNvSpPr>
          <p:nvPr>
            <p:ph idx="1" hasCustomPrompt="1"/>
          </p:nvPr>
        </p:nvSpPr>
        <p:spPr>
          <a:xfrm>
            <a:off x="484188" y="641350"/>
            <a:ext cx="8185150" cy="3860800"/>
          </a:xfrm>
          <a:ln/>
        </p:spPr>
        <p:txBody>
          <a:bodyPr vert="horz" wrap="square" lIns="91440" tIns="45720" rIns="91440" bIns="45720" anchor="t" anchorCtr="0"/>
          <a:lstStyle/>
          <a:p>
            <a:pPr eaLnBrk="1" hangingPunct="1"/>
            <a:r>
              <a:rPr lang="en-US" altLang="zh-CN" sz="2400" kern="1200">
                <a:latin typeface="Times New Roman" panose="02020503050405090304" pitchFamily="18" charset="0"/>
                <a:ea typeface="微软雅黑" panose="020B0503020204020204" pitchFamily="34" charset="-122"/>
                <a:cs typeface="+mn-cs"/>
              </a:rPr>
              <a:t>Socket</a:t>
            </a:r>
            <a:r>
              <a:rPr lang="zh-CN" altLang="en-US" sz="2400" kern="1200">
                <a:latin typeface="Times New Roman" panose="02020503050405090304" pitchFamily="18" charset="0"/>
                <a:ea typeface="微软雅黑" panose="020B0503020204020204" pitchFamily="34" charset="-122"/>
                <a:cs typeface="+mn-cs"/>
              </a:rPr>
              <a:t>既是一种特殊的</a:t>
            </a:r>
            <a:r>
              <a:rPr lang="en-US" altLang="zh-CN" sz="2400" kern="1200">
                <a:latin typeface="Times New Roman" panose="02020503050405090304" pitchFamily="18" charset="0"/>
                <a:ea typeface="微软雅黑" panose="020B0503020204020204" pitchFamily="34" charset="-122"/>
                <a:cs typeface="+mn-cs"/>
              </a:rPr>
              <a:t>I/O</a:t>
            </a:r>
            <a:r>
              <a:rPr lang="zh-CN" altLang="en-US" sz="2400" kern="1200">
                <a:latin typeface="Times New Roman" panose="02020503050405090304" pitchFamily="18" charset="0"/>
                <a:ea typeface="微软雅黑" panose="020B0503020204020204" pitchFamily="34" charset="-122"/>
                <a:cs typeface="+mn-cs"/>
              </a:rPr>
              <a:t>，也是一种文件</a:t>
            </a:r>
            <a:endParaRPr lang="en-US" altLang="zh-CN" sz="2400" kern="1200">
              <a:latin typeface="Times New Roman" panose="02020503050405090304" pitchFamily="18" charset="0"/>
              <a:ea typeface="微软雅黑" panose="020B0503020204020204" pitchFamily="34" charset="-122"/>
              <a:cs typeface="+mn-cs"/>
            </a:endParaRPr>
          </a:p>
          <a:p>
            <a:pPr eaLnBrk="1" hangingPunct="1"/>
            <a:r>
              <a:rPr lang="zh-CN" altLang="en-US" sz="2400" kern="1200">
                <a:latin typeface="Times New Roman" panose="02020503050405090304" pitchFamily="18" charset="0"/>
                <a:ea typeface="微软雅黑" panose="020B0503020204020204" pitchFamily="34" charset="-122"/>
                <a:cs typeface="+mn-cs"/>
              </a:rPr>
              <a:t>一个完整的</a:t>
            </a:r>
            <a:r>
              <a:rPr lang="en-US" altLang="zh-CN" sz="2400" kern="1200">
                <a:latin typeface="Times New Roman" panose="02020503050405090304" pitchFamily="18" charset="0"/>
                <a:ea typeface="微软雅黑" panose="020B0503020204020204" pitchFamily="34" charset="-122"/>
                <a:cs typeface="+mn-cs"/>
              </a:rPr>
              <a:t>Socket </a:t>
            </a:r>
            <a:r>
              <a:rPr lang="zh-CN" altLang="en-US" sz="2400" kern="1200">
                <a:latin typeface="Times New Roman" panose="02020503050405090304" pitchFamily="18" charset="0"/>
                <a:ea typeface="微软雅黑" panose="020B0503020204020204" pitchFamily="34" charset="-122"/>
                <a:cs typeface="+mn-cs"/>
              </a:rPr>
              <a:t>都有一个相关描述</a:t>
            </a:r>
            <a:endParaRPr lang="en-US" altLang="zh-CN" sz="2400" kern="1200">
              <a:latin typeface="Times New Roman" panose="02020503050405090304" pitchFamily="18" charset="0"/>
              <a:ea typeface="微软雅黑" panose="020B0503020204020204" pitchFamily="34" charset="-122"/>
              <a:cs typeface="+mn-cs"/>
            </a:endParaRPr>
          </a:p>
          <a:p>
            <a:pPr lvl="1" eaLnBrk="1" hangingPunct="1"/>
            <a:r>
              <a:rPr lang="zh-CN" altLang="en-US" sz="2100" kern="1200">
                <a:latin typeface="Times New Roman" panose="02020503050405090304" pitchFamily="18" charset="0"/>
                <a:ea typeface="微软雅黑" panose="020B0503020204020204" pitchFamily="34" charset="-122"/>
                <a:cs typeface="+mn-cs"/>
              </a:rPr>
              <a:t>协议</a:t>
            </a:r>
            <a:endParaRPr lang="en-US" altLang="zh-CN" sz="2100" kern="1200">
              <a:latin typeface="Times New Roman" panose="02020503050405090304" pitchFamily="18" charset="0"/>
              <a:ea typeface="微软雅黑" panose="020B0503020204020204" pitchFamily="34" charset="-122"/>
              <a:cs typeface="+mn-cs"/>
            </a:endParaRPr>
          </a:p>
          <a:p>
            <a:pPr lvl="1" eaLnBrk="1" hangingPunct="1"/>
            <a:r>
              <a:rPr lang="zh-CN" altLang="en-US" sz="2100" kern="1200">
                <a:latin typeface="Times New Roman" panose="02020503050405090304" pitchFamily="18" charset="0"/>
                <a:ea typeface="微软雅黑" panose="020B0503020204020204" pitchFamily="34" charset="-122"/>
                <a:cs typeface="+mn-cs"/>
              </a:rPr>
              <a:t>本地地址</a:t>
            </a:r>
            <a:endParaRPr lang="en-US" altLang="zh-CN" sz="2100" kern="1200">
              <a:latin typeface="Times New Roman" panose="02020503050405090304" pitchFamily="18" charset="0"/>
              <a:ea typeface="微软雅黑" panose="020B0503020204020204" pitchFamily="34" charset="-122"/>
              <a:cs typeface="+mn-cs"/>
            </a:endParaRPr>
          </a:p>
          <a:p>
            <a:pPr lvl="1" eaLnBrk="1" hangingPunct="1"/>
            <a:r>
              <a:rPr lang="zh-CN" altLang="en-US" sz="2100" kern="1200">
                <a:latin typeface="Times New Roman" panose="02020503050405090304" pitchFamily="18" charset="0"/>
                <a:ea typeface="微软雅黑" panose="020B0503020204020204" pitchFamily="34" charset="-122"/>
                <a:cs typeface="+mn-cs"/>
              </a:rPr>
              <a:t>本地端口</a:t>
            </a:r>
            <a:endParaRPr lang="en-US" altLang="zh-CN" sz="2100" kern="1200">
              <a:latin typeface="Times New Roman" panose="02020503050405090304" pitchFamily="18" charset="0"/>
              <a:ea typeface="微软雅黑" panose="020B0503020204020204" pitchFamily="34" charset="-122"/>
              <a:cs typeface="+mn-cs"/>
            </a:endParaRPr>
          </a:p>
          <a:p>
            <a:pPr lvl="1" eaLnBrk="1" hangingPunct="1"/>
            <a:r>
              <a:rPr lang="zh-CN" altLang="en-US" sz="2100" kern="1200">
                <a:latin typeface="Times New Roman" panose="02020503050405090304" pitchFamily="18" charset="0"/>
                <a:ea typeface="微软雅黑" panose="020B0503020204020204" pitchFamily="34" charset="-122"/>
                <a:cs typeface="+mn-cs"/>
              </a:rPr>
              <a:t>远程地址</a:t>
            </a:r>
            <a:endParaRPr lang="en-US" altLang="zh-CN" sz="2100" kern="1200">
              <a:latin typeface="Times New Roman" panose="02020503050405090304" pitchFamily="18" charset="0"/>
              <a:ea typeface="微软雅黑" panose="020B0503020204020204" pitchFamily="34" charset="-122"/>
              <a:cs typeface="+mn-cs"/>
            </a:endParaRPr>
          </a:p>
          <a:p>
            <a:pPr lvl="1" eaLnBrk="1" hangingPunct="1"/>
            <a:r>
              <a:rPr lang="zh-CN" altLang="en-US" sz="2100" kern="1200">
                <a:latin typeface="Times New Roman" panose="02020503050405090304" pitchFamily="18" charset="0"/>
                <a:ea typeface="微软雅黑" panose="020B0503020204020204" pitchFamily="34" charset="-122"/>
                <a:cs typeface="+mn-cs"/>
              </a:rPr>
              <a:t>远程端口</a:t>
            </a:r>
            <a:endParaRPr lang="en-US" altLang="zh-CN" sz="2100" kern="1200">
              <a:latin typeface="Times New Roman" panose="02020503050405090304" pitchFamily="18" charset="0"/>
              <a:ea typeface="微软雅黑" panose="020B0503020204020204" pitchFamily="34" charset="-122"/>
              <a:cs typeface="+mn-cs"/>
            </a:endParaRPr>
          </a:p>
          <a:p>
            <a:pPr eaLnBrk="1" hangingPunct="1"/>
            <a:r>
              <a:rPr lang="zh-CN" altLang="en-US" sz="2400" kern="1200">
                <a:latin typeface="Times New Roman" panose="02020503050405090304" pitchFamily="18" charset="0"/>
                <a:ea typeface="微软雅黑" panose="020B0503020204020204" pitchFamily="34" charset="-122"/>
                <a:cs typeface="+mn-cs"/>
              </a:rPr>
              <a:t>每一个</a:t>
            </a:r>
            <a:r>
              <a:rPr lang="en-US" altLang="zh-CN" sz="2400" kern="1200">
                <a:latin typeface="Times New Roman" panose="02020503050405090304" pitchFamily="18" charset="0"/>
                <a:ea typeface="微软雅黑" panose="020B0503020204020204" pitchFamily="34" charset="-122"/>
                <a:cs typeface="+mn-cs"/>
              </a:rPr>
              <a:t>Socket </a:t>
            </a:r>
            <a:r>
              <a:rPr lang="zh-CN" altLang="en-US" sz="2400" kern="1200">
                <a:latin typeface="Times New Roman" panose="02020503050405090304" pitchFamily="18" charset="0"/>
                <a:ea typeface="微软雅黑" panose="020B0503020204020204" pitchFamily="34" charset="-122"/>
                <a:cs typeface="+mn-cs"/>
              </a:rPr>
              <a:t>有一个本地的唯一</a:t>
            </a:r>
            <a:r>
              <a:rPr lang="en-US" altLang="zh-CN" sz="2400" kern="1200">
                <a:latin typeface="Times New Roman" panose="02020503050405090304" pitchFamily="18" charset="0"/>
                <a:ea typeface="微软雅黑" panose="020B0503020204020204" pitchFamily="34" charset="-122"/>
                <a:cs typeface="+mn-cs"/>
              </a:rPr>
              <a:t>Socket </a:t>
            </a:r>
            <a:r>
              <a:rPr lang="zh-CN" altLang="en-US" sz="2400" kern="1200">
                <a:latin typeface="Times New Roman" panose="02020503050405090304" pitchFamily="18" charset="0"/>
                <a:ea typeface="微软雅黑" panose="020B0503020204020204" pitchFamily="34" charset="-122"/>
                <a:cs typeface="+mn-cs"/>
              </a:rPr>
              <a:t>号（文件描述符），由操作系统分配</a:t>
            </a:r>
          </a:p>
          <a:p>
            <a:pPr eaLnBrk="1" hangingPunct="1">
              <a:buFont typeface="Wingdings" panose="05000000000000000000" pitchFamily="2" charset="2"/>
              <a:buNone/>
            </a:pPr>
            <a:endParaRPr lang="zh-CN" altLang="en-US" kern="1200">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eaLnBrk="1" hangingPunct="1">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Socket</a:t>
            </a:r>
            <a:r>
              <a:rPr lang="zh-CN" altLang="en-US" sz="2000" kern="1200">
                <a:solidFill>
                  <a:srgbClr val="0070C0"/>
                </a:solidFill>
                <a:latin typeface="微软雅黑" panose="020B0503020204020204" pitchFamily="34" charset="-122"/>
                <a:ea typeface="微软雅黑" panose="020B0503020204020204" pitchFamily="34" charset="-122"/>
                <a:cs typeface="+mj-cs"/>
              </a:rPr>
              <a:t>类型</a:t>
            </a:r>
          </a:p>
        </p:txBody>
      </p:sp>
      <p:sp>
        <p:nvSpPr>
          <p:cNvPr id="60418" name="Rectangle 3"/>
          <p:cNvSpPr>
            <a:spLocks noGrp="1"/>
          </p:cNvSpPr>
          <p:nvPr>
            <p:ph idx="1" hasCustomPrompt="1"/>
          </p:nvPr>
        </p:nvSpPr>
        <p:spPr>
          <a:xfrm>
            <a:off x="441325" y="679450"/>
            <a:ext cx="8185150" cy="3860800"/>
          </a:xfrm>
          <a:ln/>
        </p:spPr>
        <p:txBody>
          <a:bodyPr vert="horz" wrap="square" lIns="91440" tIns="45720" rIns="91440" bIns="45720" anchor="t" anchorCtr="0"/>
          <a:lstStyle/>
          <a:p>
            <a:pPr eaLnBrk="1" hangingPunct="1"/>
            <a:r>
              <a:rPr lang="zh-CN" altLang="en-US" sz="2400" kern="1200">
                <a:latin typeface="Times New Roman" panose="02020503050405090304" pitchFamily="18" charset="0"/>
                <a:ea typeface="微软雅黑" panose="020B0503020204020204" pitchFamily="34" charset="-122"/>
                <a:cs typeface="+mn-cs"/>
              </a:rPr>
              <a:t>流式套接字（</a:t>
            </a:r>
            <a:r>
              <a:rPr lang="en-US" altLang="zh-CN" sz="2400" kern="1200">
                <a:latin typeface="Times New Roman" panose="02020503050405090304" pitchFamily="18" charset="0"/>
                <a:ea typeface="微软雅黑" panose="020B0503020204020204" pitchFamily="34" charset="-122"/>
                <a:cs typeface="+mn-cs"/>
              </a:rPr>
              <a:t>SOCK_STREAM</a:t>
            </a:r>
            <a:r>
              <a:rPr lang="zh-CN" altLang="en-US" sz="2400" kern="1200">
                <a:latin typeface="Times New Roman" panose="02020503050405090304" pitchFamily="18" charset="0"/>
                <a:ea typeface="微软雅黑" panose="020B0503020204020204" pitchFamily="34" charset="-122"/>
                <a:cs typeface="+mn-cs"/>
              </a:rPr>
              <a:t>）</a:t>
            </a:r>
          </a:p>
          <a:p>
            <a:pPr lvl="1" eaLnBrk="1" hangingPunct="1"/>
            <a:r>
              <a:rPr lang="zh-CN" altLang="en-US" sz="2100" kern="1200">
                <a:latin typeface="Times New Roman" panose="02020503050405090304" pitchFamily="18" charset="0"/>
                <a:ea typeface="微软雅黑" panose="020B0503020204020204" pitchFamily="34" charset="-122"/>
                <a:cs typeface="+mn-cs"/>
              </a:rPr>
              <a:t>它提供基于</a:t>
            </a:r>
            <a:r>
              <a:rPr lang="en-US" altLang="zh-CN" sz="2100" kern="1200">
                <a:latin typeface="Times New Roman" panose="02020503050405090304" pitchFamily="18" charset="0"/>
                <a:ea typeface="微软雅黑" panose="020B0503020204020204" pitchFamily="34" charset="-122"/>
                <a:cs typeface="+mn-cs"/>
              </a:rPr>
              <a:t>TCP</a:t>
            </a:r>
            <a:r>
              <a:rPr lang="zh-CN" altLang="en-US" sz="2100" kern="1200">
                <a:latin typeface="Times New Roman" panose="02020503050405090304" pitchFamily="18" charset="0"/>
                <a:ea typeface="微软雅黑" panose="020B0503020204020204" pitchFamily="34" charset="-122"/>
                <a:cs typeface="+mn-cs"/>
              </a:rPr>
              <a:t>协议的双向、可靠、有序且不重复的无记录边界的数据流。</a:t>
            </a:r>
          </a:p>
          <a:p>
            <a:pPr eaLnBrk="1" hangingPunct="1"/>
            <a:r>
              <a:rPr lang="zh-CN" altLang="en-US" sz="2400" kern="1200">
                <a:latin typeface="Times New Roman" panose="02020503050405090304" pitchFamily="18" charset="0"/>
                <a:ea typeface="微软雅黑" panose="020B0503020204020204" pitchFamily="34" charset="-122"/>
                <a:cs typeface="+mn-cs"/>
              </a:rPr>
              <a:t>数据报套接字（</a:t>
            </a:r>
            <a:r>
              <a:rPr lang="en-US" altLang="zh-CN" sz="2400" kern="1200">
                <a:latin typeface="Times New Roman" panose="02020503050405090304" pitchFamily="18" charset="0"/>
                <a:ea typeface="微软雅黑" panose="020B0503020204020204" pitchFamily="34" charset="-122"/>
                <a:cs typeface="+mn-cs"/>
              </a:rPr>
              <a:t>SOCK_DGRAM</a:t>
            </a:r>
            <a:r>
              <a:rPr lang="zh-CN" altLang="en-US" sz="2400" kern="1200">
                <a:latin typeface="Times New Roman" panose="02020503050405090304" pitchFamily="18" charset="0"/>
                <a:ea typeface="微软雅黑" panose="020B0503020204020204" pitchFamily="34" charset="-122"/>
                <a:cs typeface="+mn-cs"/>
              </a:rPr>
              <a:t>）</a:t>
            </a:r>
          </a:p>
          <a:p>
            <a:pPr lvl="1" eaLnBrk="1" hangingPunct="1"/>
            <a:r>
              <a:rPr lang="zh-CN" altLang="en-US" sz="2100" kern="1200">
                <a:latin typeface="Times New Roman" panose="02020503050405090304" pitchFamily="18" charset="0"/>
                <a:ea typeface="微软雅黑" panose="020B0503020204020204" pitchFamily="34" charset="-122"/>
                <a:cs typeface="+mn-cs"/>
              </a:rPr>
              <a:t>它提供基于</a:t>
            </a:r>
            <a:r>
              <a:rPr lang="en-US" altLang="zh-CN" sz="2100" kern="1200">
                <a:latin typeface="Times New Roman" panose="02020503050405090304" pitchFamily="18" charset="0"/>
                <a:ea typeface="微软雅黑" panose="020B0503020204020204" pitchFamily="34" charset="-122"/>
                <a:cs typeface="+mn-cs"/>
              </a:rPr>
              <a:t>UDP</a:t>
            </a:r>
            <a:r>
              <a:rPr lang="zh-CN" altLang="en-US" sz="2100" kern="1200">
                <a:latin typeface="Times New Roman" panose="02020503050405090304" pitchFamily="18" charset="0"/>
                <a:ea typeface="微软雅黑" panose="020B0503020204020204" pitchFamily="34" charset="-122"/>
                <a:cs typeface="+mn-cs"/>
              </a:rPr>
              <a:t>协议的双向数据流，但不一定可靠、有序和不重复。</a:t>
            </a:r>
          </a:p>
          <a:p>
            <a:pPr eaLnBrk="1" hangingPunct="1"/>
            <a:r>
              <a:rPr lang="zh-CN" altLang="en-US" sz="2400" kern="1200">
                <a:latin typeface="Times New Roman" panose="02020503050405090304" pitchFamily="18" charset="0"/>
                <a:ea typeface="微软雅黑" panose="020B0503020204020204" pitchFamily="34" charset="-122"/>
                <a:cs typeface="+mn-cs"/>
              </a:rPr>
              <a:t>原始套接字</a:t>
            </a:r>
          </a:p>
          <a:p>
            <a:pPr lvl="1" eaLnBrk="1" hangingPunct="1"/>
            <a:r>
              <a:rPr lang="zh-CN" altLang="en-US" sz="2100" kern="1200">
                <a:latin typeface="Times New Roman" panose="02020503050405090304" pitchFamily="18" charset="0"/>
                <a:ea typeface="微软雅黑" panose="020B0503020204020204" pitchFamily="34" charset="-122"/>
                <a:cs typeface="+mn-cs"/>
              </a:rPr>
              <a:t>它提供网络下层通信协议的直接访问。一般用于开发新的网络层协议，如新的</a:t>
            </a:r>
            <a:r>
              <a:rPr lang="en-US" altLang="zh-CN" sz="2100" kern="1200">
                <a:latin typeface="Times New Roman" panose="02020503050405090304" pitchFamily="18" charset="0"/>
                <a:ea typeface="微软雅黑" panose="020B0503020204020204" pitchFamily="34" charset="-122"/>
                <a:cs typeface="+mn-cs"/>
              </a:rPr>
              <a:t>IP</a:t>
            </a:r>
            <a:r>
              <a:rPr lang="zh-CN" altLang="en-US" sz="2100" kern="1200">
                <a:latin typeface="Times New Roman" panose="02020503050405090304" pitchFamily="18" charset="0"/>
                <a:ea typeface="微软雅黑" panose="020B0503020204020204" pitchFamily="34" charset="-122"/>
                <a:cs typeface="+mn-cs"/>
              </a:rPr>
              <a:t>协议等。</a:t>
            </a:r>
          </a:p>
          <a:p>
            <a:pPr eaLnBrk="1" hangingPunct="1">
              <a:buFont typeface="Wingdings" panose="05000000000000000000" pitchFamily="2" charset="2"/>
              <a:buNone/>
            </a:pPr>
            <a:endParaRPr lang="zh-CN" altLang="en-US" kern="1200">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eaLnBrk="1" hangingPunct="1">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Socket</a:t>
            </a:r>
            <a:r>
              <a:rPr lang="zh-CN" altLang="en-US" sz="2000" kern="1200">
                <a:solidFill>
                  <a:srgbClr val="0070C0"/>
                </a:solidFill>
                <a:latin typeface="微软雅黑" panose="020B0503020204020204" pitchFamily="34" charset="-122"/>
                <a:ea typeface="微软雅黑" panose="020B0503020204020204" pitchFamily="34" charset="-122"/>
                <a:cs typeface="+mj-cs"/>
              </a:rPr>
              <a:t>地址结构</a:t>
            </a:r>
          </a:p>
        </p:txBody>
      </p:sp>
      <p:sp>
        <p:nvSpPr>
          <p:cNvPr id="61442"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eaLnBrk="1" hangingPunct="1"/>
            <a:r>
              <a:rPr lang="zh-CN" altLang="en-US" sz="2400" kern="1200">
                <a:latin typeface="微软雅黑" panose="020B0503020204020204" pitchFamily="34" charset="-122"/>
                <a:ea typeface="微软雅黑" panose="020B0503020204020204" pitchFamily="34" charset="-122"/>
                <a:cs typeface="+mn-cs"/>
              </a:rPr>
              <a:t>多数</a:t>
            </a:r>
            <a:r>
              <a:rPr lang="en-US" altLang="zh-CN" sz="2400" kern="1200">
                <a:latin typeface="微软雅黑" panose="020B0503020204020204" pitchFamily="34" charset="-122"/>
                <a:ea typeface="微软雅黑" panose="020B0503020204020204" pitchFamily="34" charset="-122"/>
                <a:cs typeface="+mn-cs"/>
              </a:rPr>
              <a:t>Socket API</a:t>
            </a:r>
            <a:r>
              <a:rPr lang="zh-CN" altLang="en-US" sz="2400" kern="1200">
                <a:latin typeface="微软雅黑" panose="020B0503020204020204" pitchFamily="34" charset="-122"/>
                <a:ea typeface="微软雅黑" panose="020B0503020204020204" pitchFamily="34" charset="-122"/>
                <a:cs typeface="+mn-cs"/>
              </a:rPr>
              <a:t>都需要是用一个指向地址结构的参数</a:t>
            </a:r>
            <a:endParaRPr lang="en-US" altLang="zh-CN" sz="2400" kern="1200">
              <a:latin typeface="微软雅黑" panose="020B0503020204020204" pitchFamily="34" charset="-122"/>
              <a:ea typeface="微软雅黑" panose="020B0503020204020204" pitchFamily="34" charset="-122"/>
              <a:cs typeface="+mn-cs"/>
            </a:endParaRPr>
          </a:p>
          <a:p>
            <a:pPr eaLnBrk="1" hangingPunct="1"/>
            <a:r>
              <a:rPr lang="zh-CN" altLang="en-US" sz="2400" kern="1200">
                <a:latin typeface="微软雅黑" panose="020B0503020204020204" pitchFamily="34" charset="-122"/>
                <a:ea typeface="微软雅黑" panose="020B0503020204020204" pitchFamily="34" charset="-122"/>
                <a:cs typeface="+mn-cs"/>
              </a:rPr>
              <a:t>对应于不同的协议簇，有不同的</a:t>
            </a:r>
            <a:r>
              <a:rPr lang="en-US" altLang="zh-CN" sz="2400" kern="1200">
                <a:latin typeface="微软雅黑" panose="020B0503020204020204" pitchFamily="34" charset="-122"/>
                <a:ea typeface="微软雅黑" panose="020B0503020204020204" pitchFamily="34" charset="-122"/>
                <a:cs typeface="+mn-cs"/>
              </a:rPr>
              <a:t>Socket</a:t>
            </a:r>
            <a:r>
              <a:rPr lang="zh-CN" altLang="en-US" sz="2400" kern="1200">
                <a:latin typeface="微软雅黑" panose="020B0503020204020204" pitchFamily="34" charset="-122"/>
                <a:ea typeface="微软雅黑" panose="020B0503020204020204" pitchFamily="34" charset="-122"/>
                <a:cs typeface="+mn-cs"/>
              </a:rPr>
              <a:t>地址结构</a:t>
            </a:r>
            <a:endParaRPr lang="en-US" altLang="zh-CN" sz="2400" kern="1200">
              <a:latin typeface="微软雅黑" panose="020B0503020204020204" pitchFamily="34" charset="-122"/>
              <a:ea typeface="微软雅黑" panose="020B0503020204020204" pitchFamily="34" charset="-122"/>
              <a:cs typeface="+mn-cs"/>
            </a:endParaRPr>
          </a:p>
          <a:p>
            <a:pPr eaLnBrk="1" hangingPunct="1"/>
            <a:r>
              <a:rPr lang="zh-CN" altLang="en-US" sz="2400" kern="1200">
                <a:latin typeface="微软雅黑" panose="020B0503020204020204" pitchFamily="34" charset="-122"/>
                <a:ea typeface="微软雅黑" panose="020B0503020204020204" pitchFamily="34" charset="-122"/>
                <a:cs typeface="+mn-cs"/>
              </a:rPr>
              <a:t>在</a:t>
            </a:r>
            <a:r>
              <a:rPr lang="en-US" altLang="zh-CN" sz="2400" kern="1200">
                <a:latin typeface="微软雅黑" panose="020B0503020204020204" pitchFamily="34" charset="-122"/>
                <a:ea typeface="微软雅黑" panose="020B0503020204020204" pitchFamily="34" charset="-122"/>
                <a:cs typeface="+mn-cs"/>
              </a:rPr>
              <a:t>Socket API</a:t>
            </a:r>
            <a:r>
              <a:rPr lang="zh-CN" altLang="en-US" sz="2400" kern="1200">
                <a:latin typeface="微软雅黑" panose="020B0503020204020204" pitchFamily="34" charset="-122"/>
                <a:ea typeface="微软雅黑" panose="020B0503020204020204" pitchFamily="34" charset="-122"/>
                <a:cs typeface="+mn-cs"/>
              </a:rPr>
              <a:t>中，专门定义了三种结构型的数据类型，用来存储协议相关的网络地址</a:t>
            </a:r>
            <a:endParaRPr lang="en-US" altLang="zh-CN" sz="2400" kern="1200">
              <a:latin typeface="微软雅黑" panose="020B0503020204020204" pitchFamily="34" charset="-122"/>
              <a:ea typeface="微软雅黑" panose="020B0503020204020204" pitchFamily="34" charset="-122"/>
              <a:cs typeface="+mn-cs"/>
            </a:endParaRPr>
          </a:p>
          <a:p>
            <a:pPr lvl="1" eaLnBrk="1" hangingPunct="1"/>
            <a:r>
              <a:rPr lang="en-US" altLang="zh-CN" sz="2100" kern="1200">
                <a:latin typeface="微软雅黑" panose="020B0503020204020204" pitchFamily="34" charset="-122"/>
                <a:ea typeface="微软雅黑" panose="020B0503020204020204" pitchFamily="34" charset="-122"/>
                <a:cs typeface="+mn-cs"/>
              </a:rPr>
              <a:t>struct sockaddr</a:t>
            </a:r>
          </a:p>
          <a:p>
            <a:pPr lvl="1" eaLnBrk="1" hangingPunct="1"/>
            <a:r>
              <a:rPr lang="en-US" altLang="zh-CN" sz="2100" kern="1200">
                <a:latin typeface="微软雅黑" panose="020B0503020204020204" pitchFamily="34" charset="-122"/>
                <a:ea typeface="微软雅黑" panose="020B0503020204020204" pitchFamily="34" charset="-122"/>
                <a:cs typeface="+mn-cs"/>
              </a:rPr>
              <a:t>struct sockaddr_in</a:t>
            </a:r>
          </a:p>
          <a:p>
            <a:pPr lvl="1" eaLnBrk="1" hangingPunct="1"/>
            <a:r>
              <a:rPr lang="en-US" altLang="zh-CN" sz="2100" kern="1200">
                <a:latin typeface="微软雅黑" panose="020B0503020204020204" pitchFamily="34" charset="-122"/>
                <a:ea typeface="微软雅黑" panose="020B0503020204020204" pitchFamily="34" charset="-122"/>
                <a:cs typeface="+mn-cs"/>
              </a:rPr>
              <a:t>struct in_addr</a:t>
            </a:r>
          </a:p>
          <a:p>
            <a:pPr lvl="1" eaLnBrk="1" hangingPunct="1"/>
            <a:endParaRPr lang="en-US" altLang="zh-CN" kern="1200">
              <a:latin typeface="微软雅黑" panose="020B0503020204020204" pitchFamily="34" charset="-122"/>
              <a:ea typeface="微软雅黑" panose="020B0503020204020204" pitchFamily="34" charset="-122"/>
              <a:cs typeface="+mn-cs"/>
            </a:endParaRPr>
          </a:p>
          <a:p>
            <a:pPr eaLnBrk="1" hangingPunct="1"/>
            <a:endParaRPr lang="zh-CN" altLang="en-US" kern="1200">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Socket</a:t>
            </a:r>
            <a:r>
              <a:rPr lang="zh-CN" altLang="en-US" sz="2000" kern="1200">
                <a:solidFill>
                  <a:srgbClr val="0070C0"/>
                </a:solidFill>
                <a:latin typeface="微软雅黑" panose="020B0503020204020204" pitchFamily="34" charset="-122"/>
                <a:ea typeface="微软雅黑" panose="020B0503020204020204" pitchFamily="34" charset="-122"/>
                <a:cs typeface="+mj-cs"/>
              </a:rPr>
              <a:t>地址结构</a:t>
            </a:r>
          </a:p>
        </p:txBody>
      </p:sp>
      <p:sp>
        <p:nvSpPr>
          <p:cNvPr id="62466" name="Rectangle 3"/>
          <p:cNvSpPr>
            <a:spLocks noGrp="1"/>
          </p:cNvSpPr>
          <p:nvPr>
            <p:ph idx="1" hasCustomPrompt="1"/>
          </p:nvPr>
        </p:nvSpPr>
        <p:spPr>
          <a:xfrm>
            <a:off x="460375" y="641350"/>
            <a:ext cx="8183563" cy="3860800"/>
          </a:xfrm>
          <a:ln/>
        </p:spPr>
        <p:txBody>
          <a:bodyPr vert="horz" wrap="square" lIns="91440" tIns="45720" rIns="91440" bIns="45720" anchor="t" anchorCtr="0"/>
          <a:lstStyle/>
          <a:p>
            <a:pPr marL="0" indent="0">
              <a:buFont typeface="Arial" panose="020B0604020202090204" pitchFamily="34" charset="0"/>
              <a:buNone/>
            </a:pPr>
            <a:r>
              <a:rPr lang="zh-CN" altLang="en-US" kern="1200">
                <a:latin typeface="微软雅黑" panose="020B0503020204020204" pitchFamily="34" charset="-122"/>
                <a:ea typeface="微软雅黑" panose="020B0503020204020204" pitchFamily="34" charset="-122"/>
                <a:cs typeface="+mn-cs"/>
              </a:rPr>
              <a:t>对应于不同的协议簇，有不同的地址结构。在头文件</a:t>
            </a:r>
            <a:r>
              <a:rPr lang="en-US" altLang="zh-CN" kern="1200">
                <a:latin typeface="微软雅黑" panose="020B0503020204020204" pitchFamily="34" charset="-122"/>
                <a:ea typeface="微软雅黑" panose="020B0503020204020204" pitchFamily="34" charset="-122"/>
                <a:cs typeface="+mn-cs"/>
              </a:rPr>
              <a:t>&lt;linux/socket.h&gt;</a:t>
            </a:r>
            <a:r>
              <a:rPr lang="zh-CN" altLang="en-US" kern="1200">
                <a:latin typeface="微软雅黑" panose="020B0503020204020204" pitchFamily="34" charset="-122"/>
                <a:ea typeface="微软雅黑" panose="020B0503020204020204" pitchFamily="34" charset="-122"/>
                <a:cs typeface="+mn-cs"/>
              </a:rPr>
              <a:t>中定义了以下结构来保持</a:t>
            </a:r>
            <a:r>
              <a:rPr lang="en-US" altLang="zh-CN" kern="1200">
                <a:latin typeface="微软雅黑" panose="020B0503020204020204" pitchFamily="34" charset="-122"/>
                <a:ea typeface="微软雅黑" panose="020B0503020204020204" pitchFamily="34" charset="-122"/>
                <a:cs typeface="+mn-cs"/>
              </a:rPr>
              <a:t>Socket API</a:t>
            </a:r>
            <a:r>
              <a:rPr lang="zh-CN" altLang="en-US" kern="1200">
                <a:latin typeface="微软雅黑" panose="020B0503020204020204" pitchFamily="34" charset="-122"/>
                <a:ea typeface="微软雅黑" panose="020B0503020204020204" pitchFamily="34" charset="-122"/>
                <a:cs typeface="+mn-cs"/>
              </a:rPr>
              <a:t>地址参数的一致性。</a:t>
            </a:r>
          </a:p>
          <a:p>
            <a:pPr marL="133350" lvl="1" indent="0">
              <a:buFont typeface="Arial" panose="020B0604020202090204" pitchFamily="34" charset="0"/>
              <a:buNone/>
            </a:pPr>
            <a:endParaRPr lang="en-US" altLang="zh-CN" kern="1200">
              <a:solidFill>
                <a:srgbClr val="0066CC"/>
              </a:solidFill>
              <a:latin typeface="微软雅黑" panose="020B0503020204020204" pitchFamily="34" charset="-122"/>
              <a:ea typeface="微软雅黑" panose="020B0503020204020204" pitchFamily="34" charset="-122"/>
              <a:cs typeface="+mn-cs"/>
            </a:endParaRPr>
          </a:p>
          <a:p>
            <a:pPr marL="133350" lvl="1" indent="0">
              <a:buFont typeface="Arial" panose="020B0604020202090204" pitchFamily="34" charset="0"/>
              <a:buNone/>
            </a:pPr>
            <a:endParaRPr lang="en-US" altLang="zh-CN" kern="1200">
              <a:solidFill>
                <a:srgbClr val="0066CC"/>
              </a:solidFill>
              <a:latin typeface="微软雅黑" panose="020B0503020204020204" pitchFamily="34" charset="-122"/>
              <a:ea typeface="微软雅黑" panose="020B0503020204020204" pitchFamily="34" charset="-122"/>
              <a:cs typeface="+mn-cs"/>
            </a:endParaRPr>
          </a:p>
          <a:p>
            <a:pPr marL="133350" lvl="1" indent="0">
              <a:buFont typeface="Arial" panose="020B0604020202090204" pitchFamily="34" charset="0"/>
              <a:buNone/>
            </a:pPr>
            <a:endParaRPr lang="en-US" altLang="zh-CN" kern="1200">
              <a:solidFill>
                <a:srgbClr val="0066CC"/>
              </a:solidFill>
              <a:latin typeface="微软雅黑" panose="020B0503020204020204" pitchFamily="34" charset="-122"/>
              <a:ea typeface="微软雅黑" panose="020B0503020204020204" pitchFamily="34" charset="-122"/>
              <a:cs typeface="+mn-cs"/>
            </a:endParaRPr>
          </a:p>
          <a:p>
            <a:pPr marL="133350" lvl="1" indent="0">
              <a:buFont typeface="Arial" panose="020B0604020202090204" pitchFamily="34" charset="0"/>
              <a:buNone/>
            </a:pPr>
            <a:endParaRPr lang="en-US" altLang="zh-CN" kern="1200">
              <a:solidFill>
                <a:srgbClr val="0066CC"/>
              </a:solidFill>
              <a:latin typeface="微软雅黑" panose="020B0503020204020204" pitchFamily="34" charset="-122"/>
              <a:ea typeface="微软雅黑" panose="020B0503020204020204" pitchFamily="34" charset="-122"/>
              <a:cs typeface="+mn-cs"/>
            </a:endParaRPr>
          </a:p>
          <a:p>
            <a:pPr marL="133350" lvl="1" indent="0">
              <a:buFont typeface="Arial" panose="020B0604020202090204" pitchFamily="34" charset="0"/>
              <a:buNone/>
            </a:pPr>
            <a:r>
              <a:rPr lang="zh-CN" altLang="en-US" kern="1200">
                <a:solidFill>
                  <a:srgbClr val="0066CC"/>
                </a:solidFill>
                <a:latin typeface="微软雅黑" panose="020B0503020204020204" pitchFamily="34" charset="-122"/>
                <a:ea typeface="微软雅黑" panose="020B0503020204020204" pitchFamily="34" charset="-122"/>
                <a:cs typeface="+mn-cs"/>
              </a:rPr>
              <a:t>其中的</a:t>
            </a:r>
            <a:r>
              <a:rPr lang="en-US" altLang="zh-CN" kern="1200">
                <a:solidFill>
                  <a:srgbClr val="0066CC"/>
                </a:solidFill>
                <a:latin typeface="微软雅黑" panose="020B0503020204020204" pitchFamily="34" charset="-122"/>
                <a:ea typeface="微软雅黑" panose="020B0503020204020204" pitchFamily="34" charset="-122"/>
                <a:cs typeface="+mn-cs"/>
              </a:rPr>
              <a:t>sa_family</a:t>
            </a:r>
            <a:r>
              <a:rPr lang="zh-CN" altLang="en-US" kern="1200">
                <a:solidFill>
                  <a:srgbClr val="0066CC"/>
                </a:solidFill>
                <a:latin typeface="微软雅黑" panose="020B0503020204020204" pitchFamily="34" charset="-122"/>
                <a:ea typeface="微软雅黑" panose="020B0503020204020204" pitchFamily="34" charset="-122"/>
                <a:cs typeface="+mn-cs"/>
              </a:rPr>
              <a:t>为套接字的协议簇地址类型，</a:t>
            </a:r>
            <a:r>
              <a:rPr lang="en-US" altLang="zh-CN" kern="1200">
                <a:solidFill>
                  <a:srgbClr val="0066CC"/>
                </a:solidFill>
                <a:latin typeface="微软雅黑" panose="020B0503020204020204" pitchFamily="34" charset="-122"/>
                <a:ea typeface="微软雅黑" panose="020B0503020204020204" pitchFamily="34" charset="-122"/>
                <a:cs typeface="+mn-cs"/>
              </a:rPr>
              <a:t>TCP/IP</a:t>
            </a:r>
            <a:r>
              <a:rPr lang="zh-CN" altLang="en-US" kern="1200">
                <a:solidFill>
                  <a:srgbClr val="0066CC"/>
                </a:solidFill>
                <a:latin typeface="微软雅黑" panose="020B0503020204020204" pitchFamily="34" charset="-122"/>
                <a:ea typeface="微软雅黑" panose="020B0503020204020204" pitchFamily="34" charset="-122"/>
                <a:cs typeface="+mn-cs"/>
              </a:rPr>
              <a:t>的协议对于</a:t>
            </a:r>
            <a:r>
              <a:rPr lang="en-US" altLang="zh-CN" kern="1200">
                <a:solidFill>
                  <a:srgbClr val="0066CC"/>
                </a:solidFill>
                <a:latin typeface="微软雅黑" panose="020B0503020204020204" pitchFamily="34" charset="-122"/>
                <a:ea typeface="微软雅黑" panose="020B0503020204020204" pitchFamily="34" charset="-122"/>
                <a:cs typeface="+mn-cs"/>
              </a:rPr>
              <a:t>IPv4</a:t>
            </a:r>
            <a:r>
              <a:rPr lang="zh-CN" altLang="en-US" kern="1200">
                <a:solidFill>
                  <a:srgbClr val="0066CC"/>
                </a:solidFill>
                <a:latin typeface="微软雅黑" panose="020B0503020204020204" pitchFamily="34" charset="-122"/>
                <a:ea typeface="微软雅黑" panose="020B0503020204020204" pitchFamily="34" charset="-122"/>
                <a:cs typeface="+mn-cs"/>
              </a:rPr>
              <a:t>地址类型为</a:t>
            </a:r>
            <a:r>
              <a:rPr lang="en-US" altLang="zh-CN" kern="1200">
                <a:solidFill>
                  <a:srgbClr val="0066CC"/>
                </a:solidFill>
                <a:latin typeface="微软雅黑" panose="020B0503020204020204" pitchFamily="34" charset="-122"/>
                <a:ea typeface="微软雅黑" panose="020B0503020204020204" pitchFamily="34" charset="-122"/>
                <a:cs typeface="+mn-cs"/>
              </a:rPr>
              <a:t>AF_INET</a:t>
            </a:r>
            <a:r>
              <a:rPr lang="zh-CN" altLang="en-US" kern="1200">
                <a:solidFill>
                  <a:srgbClr val="0066CC"/>
                </a:solidFill>
                <a:latin typeface="微软雅黑" panose="020B0503020204020204" pitchFamily="34" charset="-122"/>
                <a:ea typeface="微软雅黑" panose="020B0503020204020204" pitchFamily="34" charset="-122"/>
                <a:cs typeface="+mn-cs"/>
              </a:rPr>
              <a:t>。</a:t>
            </a:r>
            <a:r>
              <a:rPr lang="en-US" altLang="zh-CN" kern="1200">
                <a:solidFill>
                  <a:srgbClr val="0066CC"/>
                </a:solidFill>
                <a:latin typeface="微软雅黑" panose="020B0503020204020204" pitchFamily="34" charset="-122"/>
                <a:ea typeface="微软雅黑" panose="020B0503020204020204" pitchFamily="34" charset="-122"/>
                <a:cs typeface="+mn-cs"/>
              </a:rPr>
              <a:t>sa_data</a:t>
            </a:r>
            <a:r>
              <a:rPr lang="zh-CN" altLang="en-US" kern="1200">
                <a:solidFill>
                  <a:srgbClr val="0066CC"/>
                </a:solidFill>
                <a:latin typeface="微软雅黑" panose="020B0503020204020204" pitchFamily="34" charset="-122"/>
                <a:ea typeface="微软雅黑" panose="020B0503020204020204" pitchFamily="34" charset="-122"/>
                <a:cs typeface="+mn-cs"/>
              </a:rPr>
              <a:t>中存储具体的协议地址，不同的协议簇有不同的地址格式。</a:t>
            </a:r>
          </a:p>
        </p:txBody>
      </p:sp>
      <p:sp>
        <p:nvSpPr>
          <p:cNvPr id="68609"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41</a:t>
            </a:fld>
            <a:endParaRPr lang="en-US" altLang="zh-CN" sz="1000">
              <a:latin typeface="Arial" panose="020B0604020202090204" pitchFamily="34" charset="0"/>
              <a:ea typeface="宋体" panose="02010600030101010101" pitchFamily="2" charset="-122"/>
            </a:endParaRPr>
          </a:p>
        </p:txBody>
      </p:sp>
      <p:sp>
        <p:nvSpPr>
          <p:cNvPr id="3" name="文本框 2"/>
          <p:cNvSpPr txBox="1"/>
          <p:nvPr/>
        </p:nvSpPr>
        <p:spPr>
          <a:xfrm>
            <a:off x="803275" y="1971675"/>
            <a:ext cx="7292975" cy="1200150"/>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marL="133350" lvl="1" indent="0">
              <a:buNone/>
            </a:pPr>
            <a:r>
              <a:rPr lang="en-US" altLang="zh-CN">
                <a:solidFill>
                  <a:srgbClr val="000000"/>
                </a:solidFill>
                <a:latin typeface="Consolas" pitchFamily="49" charset="0"/>
                <a:ea typeface="等线" pitchFamily="2" charset="-122"/>
              </a:rPr>
              <a:t>struct sockaddr{</a:t>
            </a:r>
          </a:p>
          <a:p>
            <a:pPr marL="133350" lvl="1" indent="0">
              <a:buNone/>
            </a:pPr>
            <a:r>
              <a:rPr lang="en-US" altLang="zh-CN">
                <a:solidFill>
                  <a:srgbClr val="000000"/>
                </a:solidFill>
                <a:latin typeface="Consolas" pitchFamily="49" charset="0"/>
                <a:ea typeface="等线" pitchFamily="2" charset="-122"/>
              </a:rPr>
              <a:t>   unsigned short sa_family; </a:t>
            </a:r>
            <a:r>
              <a:rPr lang="en-US" altLang="zh-CN">
                <a:solidFill>
                  <a:srgbClr val="CC00CC"/>
                </a:solidFill>
                <a:latin typeface="Consolas" pitchFamily="49" charset="0"/>
                <a:ea typeface="等线" pitchFamily="2" charset="-122"/>
              </a:rPr>
              <a:t>/* </a:t>
            </a:r>
            <a:r>
              <a:rPr lang="zh-CN" altLang="en-US">
                <a:solidFill>
                  <a:srgbClr val="CC00CC"/>
                </a:solidFill>
                <a:latin typeface="Consolas" pitchFamily="49" charset="0"/>
                <a:ea typeface="等线" pitchFamily="2" charset="-122"/>
              </a:rPr>
              <a:t>地址类型，格式为</a:t>
            </a:r>
            <a:r>
              <a:rPr lang="en-US" altLang="zh-CN">
                <a:solidFill>
                  <a:srgbClr val="CC00CC"/>
                </a:solidFill>
                <a:latin typeface="Consolas" pitchFamily="49" charset="0"/>
                <a:ea typeface="等线" pitchFamily="2" charset="-122"/>
              </a:rPr>
              <a:t>AF_XXX */</a:t>
            </a:r>
          </a:p>
          <a:p>
            <a:pPr marL="133350" lvl="1" indent="0">
              <a:buNone/>
            </a:pPr>
            <a:r>
              <a:rPr lang="en-US" altLang="zh-CN">
                <a:solidFill>
                  <a:srgbClr val="000000"/>
                </a:solidFill>
                <a:latin typeface="Consolas" pitchFamily="49" charset="0"/>
                <a:ea typeface="等线" pitchFamily="2" charset="-122"/>
              </a:rPr>
              <a:t>   char sa_data[14]; </a:t>
            </a:r>
            <a:r>
              <a:rPr lang="en-US" altLang="zh-CN">
                <a:solidFill>
                  <a:srgbClr val="CC00CC"/>
                </a:solidFill>
                <a:latin typeface="Consolas" pitchFamily="49" charset="0"/>
                <a:ea typeface="等线" pitchFamily="2" charset="-122"/>
              </a:rPr>
              <a:t>/* 14</a:t>
            </a:r>
            <a:r>
              <a:rPr lang="zh-CN" altLang="en-US">
                <a:solidFill>
                  <a:srgbClr val="CC00CC"/>
                </a:solidFill>
                <a:latin typeface="Consolas" pitchFamily="49" charset="0"/>
                <a:ea typeface="等线" pitchFamily="2" charset="-122"/>
              </a:rPr>
              <a:t>字节的协议地址 *</a:t>
            </a:r>
            <a:r>
              <a:rPr lang="en-US" altLang="zh-CN">
                <a:solidFill>
                  <a:srgbClr val="CC00CC"/>
                </a:solidFill>
                <a:latin typeface="Consolas" pitchFamily="49" charset="0"/>
                <a:ea typeface="等线" pitchFamily="2" charset="-122"/>
              </a:rPr>
              <a:t>/</a:t>
            </a:r>
          </a:p>
          <a:p>
            <a:pPr marL="133350" lvl="1" indent="0">
              <a:buNone/>
            </a:pPr>
            <a:r>
              <a:rPr lang="en-US" altLang="zh-CN">
                <a:solidFill>
                  <a:srgbClr val="000000"/>
                </a:solidFill>
                <a:latin typeface="Consolas" pitchFamily="49" charset="0"/>
                <a:ea typeface="等线" pitchFamily="2" charset="-122"/>
              </a:rPr>
              <a:t>}</a:t>
            </a:r>
            <a:r>
              <a:rPr lang="zh-CN" altLang="en-US">
                <a:solidFill>
                  <a:srgbClr val="000000"/>
                </a:solidFill>
                <a:latin typeface="Consolas" pitchFamily="49" charset="0"/>
                <a:ea typeface="等线" pitchFamily="2" charset="-122"/>
              </a:rPr>
              <a:t>；</a:t>
            </a:r>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Socket</a:t>
            </a:r>
            <a:r>
              <a:rPr lang="zh-CN" altLang="en-US" sz="2000" kern="1200">
                <a:solidFill>
                  <a:srgbClr val="0070C0"/>
                </a:solidFill>
                <a:latin typeface="微软雅黑" panose="020B0503020204020204" pitchFamily="34" charset="-122"/>
                <a:ea typeface="微软雅黑" panose="020B0503020204020204" pitchFamily="34" charset="-122"/>
                <a:cs typeface="+mj-cs"/>
              </a:rPr>
              <a:t>地址结构</a:t>
            </a:r>
            <a:endParaRPr lang="zh-CN" altLang="zh-CN" sz="2000" kern="1200">
              <a:solidFill>
                <a:srgbClr val="0070C0"/>
              </a:solidFill>
              <a:latin typeface="微软雅黑" panose="020B0503020204020204" pitchFamily="34" charset="-122"/>
              <a:ea typeface="微软雅黑" panose="020B0503020204020204" pitchFamily="34" charset="-122"/>
              <a:cs typeface="+mj-cs"/>
            </a:endParaRPr>
          </a:p>
        </p:txBody>
      </p:sp>
      <p:sp>
        <p:nvSpPr>
          <p:cNvPr id="63490" name="Rectangle 3"/>
          <p:cNvSpPr>
            <a:spLocks noGrp="1"/>
          </p:cNvSpPr>
          <p:nvPr>
            <p:ph idx="1" hasCustomPrompt="1"/>
          </p:nvPr>
        </p:nvSpPr>
        <p:spPr>
          <a:xfrm>
            <a:off x="460375" y="646113"/>
            <a:ext cx="8359775" cy="3860800"/>
          </a:xfrm>
          <a:ln/>
        </p:spPr>
        <p:txBody>
          <a:bodyPr vert="horz" wrap="square" lIns="91440" tIns="45720" rIns="91440" bIns="45720" anchor="t" anchorCtr="0"/>
          <a:lstStyle/>
          <a:p>
            <a:pPr marL="0" indent="0">
              <a:buFont typeface="Arial" panose="020B0604020202090204" pitchFamily="34" charset="0"/>
              <a:buNone/>
            </a:pPr>
            <a:r>
              <a:rPr lang="zh-CN" altLang="en-US" kern="1200">
                <a:latin typeface="微软雅黑" panose="020B0503020204020204" pitchFamily="34" charset="-122"/>
                <a:ea typeface="微软雅黑" panose="020B0503020204020204" pitchFamily="34" charset="-122"/>
                <a:cs typeface="+mn-cs"/>
              </a:rPr>
              <a:t>但一般编程中并不直接针对</a:t>
            </a:r>
            <a:r>
              <a:rPr lang="en-US" altLang="zh-CN" kern="1200">
                <a:latin typeface="微软雅黑" panose="020B0503020204020204" pitchFamily="34" charset="-122"/>
                <a:ea typeface="微软雅黑" panose="020B0503020204020204" pitchFamily="34" charset="-122"/>
                <a:cs typeface="+mn-cs"/>
              </a:rPr>
              <a:t>socketaddr</a:t>
            </a:r>
            <a:r>
              <a:rPr lang="zh-CN" altLang="en-US" kern="1200">
                <a:latin typeface="微软雅黑" panose="020B0503020204020204" pitchFamily="34" charset="-122"/>
                <a:ea typeface="微软雅黑" panose="020B0503020204020204" pitchFamily="34" charset="-122"/>
                <a:cs typeface="+mn-cs"/>
              </a:rPr>
              <a:t>操作，而是使用另一个与</a:t>
            </a:r>
            <a:r>
              <a:rPr lang="en-US" altLang="zh-CN" kern="1200">
                <a:latin typeface="微软雅黑" panose="020B0503020204020204" pitchFamily="34" charset="-122"/>
                <a:ea typeface="微软雅黑" panose="020B0503020204020204" pitchFamily="34" charset="-122"/>
                <a:cs typeface="+mn-cs"/>
              </a:rPr>
              <a:t>sockaddr</a:t>
            </a:r>
            <a:r>
              <a:rPr lang="zh-CN" altLang="en-US" kern="1200">
                <a:latin typeface="微软雅黑" panose="020B0503020204020204" pitchFamily="34" charset="-122"/>
                <a:ea typeface="微软雅黑" panose="020B0503020204020204" pitchFamily="34" charset="-122"/>
                <a:cs typeface="+mn-cs"/>
              </a:rPr>
              <a:t>等价的数据结构</a:t>
            </a:r>
            <a:r>
              <a:rPr lang="en-US" altLang="zh-CN" kern="1200">
                <a:latin typeface="微软雅黑" panose="020B0503020204020204" pitchFamily="34" charset="-122"/>
                <a:ea typeface="微软雅黑" panose="020B0503020204020204" pitchFamily="34" charset="-122"/>
                <a:cs typeface="+mn-cs"/>
              </a:rPr>
              <a:t>sockaddr_in (</a:t>
            </a:r>
            <a:r>
              <a:rPr lang="zh-CN" altLang="en-US" kern="1200">
                <a:latin typeface="微软雅黑" panose="020B0503020204020204" pitchFamily="34" charset="-122"/>
                <a:ea typeface="微软雅黑" panose="020B0503020204020204" pitchFamily="34" charset="-122"/>
                <a:cs typeface="+mn-cs"/>
              </a:rPr>
              <a:t>在</a:t>
            </a:r>
            <a:r>
              <a:rPr lang="en-US" altLang="zh-CN" kern="1200">
                <a:latin typeface="微软雅黑" panose="020B0503020204020204" pitchFamily="34" charset="-122"/>
                <a:ea typeface="微软雅黑" panose="020B0503020204020204" pitchFamily="34" charset="-122"/>
                <a:cs typeface="+mn-cs"/>
              </a:rPr>
              <a:t>netinet/in.h</a:t>
            </a:r>
            <a:r>
              <a:rPr lang="zh-CN" altLang="en-US" kern="1200">
                <a:latin typeface="微软雅黑" panose="020B0503020204020204" pitchFamily="34" charset="-122"/>
                <a:ea typeface="微软雅黑" panose="020B0503020204020204" pitchFamily="34" charset="-122"/>
                <a:cs typeface="+mn-cs"/>
              </a:rPr>
              <a:t>中定义</a:t>
            </a:r>
            <a:r>
              <a:rPr lang="en-US" altLang="zh-CN" kern="1200">
                <a:latin typeface="微软雅黑" panose="020B0503020204020204" pitchFamily="34" charset="-122"/>
                <a:ea typeface="微软雅黑" panose="020B0503020204020204" pitchFamily="34" charset="-122"/>
                <a:cs typeface="+mn-cs"/>
              </a:rPr>
              <a:t>)</a:t>
            </a:r>
            <a:r>
              <a:rPr lang="zh-CN" altLang="en-US" kern="1200">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struct sockaddr_in{</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unsigned short int sin_len;  </a:t>
            </a:r>
            <a:r>
              <a:rPr lang="en-US" altLang="zh-CN" kern="1200">
                <a:solidFill>
                  <a:srgbClr val="CC00CC"/>
                </a:solidFill>
                <a:latin typeface="微软雅黑" panose="020B0503020204020204" pitchFamily="34" charset="-122"/>
                <a:ea typeface="微软雅黑" panose="020B0503020204020204" pitchFamily="34" charset="-122"/>
                <a:cs typeface="+mn-cs"/>
              </a:rPr>
              <a:t>/* IPv4</a:t>
            </a:r>
            <a:r>
              <a:rPr lang="zh-CN" altLang="en-US" kern="1200">
                <a:solidFill>
                  <a:srgbClr val="CC00CC"/>
                </a:solidFill>
                <a:latin typeface="微软雅黑" panose="020B0503020204020204" pitchFamily="34" charset="-122"/>
                <a:ea typeface="微软雅黑" panose="020B0503020204020204" pitchFamily="34" charset="-122"/>
                <a:cs typeface="+mn-cs"/>
              </a:rPr>
              <a:t>地址长度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short int sin_family; </a:t>
            </a:r>
            <a:r>
              <a:rPr lang="en-US" altLang="zh-CN" kern="1200">
                <a:solidFill>
                  <a:srgbClr val="CC00CC"/>
                </a:solidFill>
                <a:latin typeface="微软雅黑" panose="020B0503020204020204" pitchFamily="34" charset="-122"/>
                <a:ea typeface="微软雅黑" panose="020B0503020204020204" pitchFamily="34" charset="-122"/>
                <a:cs typeface="+mn-cs"/>
              </a:rPr>
              <a:t>/* </a:t>
            </a:r>
            <a:r>
              <a:rPr lang="zh-CN" altLang="en-US" kern="1200">
                <a:solidFill>
                  <a:srgbClr val="CC00CC"/>
                </a:solidFill>
                <a:latin typeface="微软雅黑" panose="020B0503020204020204" pitchFamily="34" charset="-122"/>
                <a:ea typeface="微软雅黑" panose="020B0503020204020204" pitchFamily="34" charset="-122"/>
                <a:cs typeface="+mn-cs"/>
              </a:rPr>
              <a:t>地址类型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unsigned short int sin_port; </a:t>
            </a:r>
            <a:r>
              <a:rPr lang="en-US" altLang="zh-CN" kern="1200">
                <a:solidFill>
                  <a:srgbClr val="CC00CC"/>
                </a:solidFill>
                <a:latin typeface="微软雅黑" panose="020B0503020204020204" pitchFamily="34" charset="-122"/>
                <a:ea typeface="微软雅黑" panose="020B0503020204020204" pitchFamily="34" charset="-122"/>
                <a:cs typeface="+mn-cs"/>
              </a:rPr>
              <a:t>/* </a:t>
            </a:r>
            <a:r>
              <a:rPr lang="zh-CN" altLang="en-US" kern="1200">
                <a:solidFill>
                  <a:srgbClr val="CC00CC"/>
                </a:solidFill>
                <a:latin typeface="微软雅黑" panose="020B0503020204020204" pitchFamily="34" charset="-122"/>
                <a:ea typeface="微软雅黑" panose="020B0503020204020204" pitchFamily="34" charset="-122"/>
                <a:cs typeface="+mn-cs"/>
              </a:rPr>
              <a:t>存储端口号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struct in_addr sin_addr;  </a:t>
            </a:r>
            <a:r>
              <a:rPr lang="en-US" altLang="zh-CN" kern="1200">
                <a:solidFill>
                  <a:srgbClr val="CC00CC"/>
                </a:solidFill>
                <a:latin typeface="微软雅黑" panose="020B0503020204020204" pitchFamily="34" charset="-122"/>
                <a:ea typeface="微软雅黑" panose="020B0503020204020204" pitchFamily="34" charset="-122"/>
                <a:cs typeface="+mn-cs"/>
              </a:rPr>
              <a:t>/*</a:t>
            </a:r>
            <a:r>
              <a:rPr lang="zh-CN" altLang="en-US" kern="1200">
                <a:solidFill>
                  <a:srgbClr val="CC00CC"/>
                </a:solidFill>
                <a:latin typeface="微软雅黑" panose="020B0503020204020204" pitchFamily="34" charset="-122"/>
                <a:ea typeface="微软雅黑" panose="020B0503020204020204" pitchFamily="34" charset="-122"/>
                <a:cs typeface="+mn-cs"/>
              </a:rPr>
              <a:t>存储</a:t>
            </a:r>
            <a:r>
              <a:rPr lang="en-US" altLang="zh-CN" kern="1200">
                <a:solidFill>
                  <a:srgbClr val="CC00CC"/>
                </a:solidFill>
                <a:latin typeface="微软雅黑" panose="020B0503020204020204" pitchFamily="34" charset="-122"/>
                <a:ea typeface="微软雅黑" panose="020B0503020204020204" pitchFamily="34" charset="-122"/>
                <a:cs typeface="+mn-cs"/>
              </a:rPr>
              <a:t>IP</a:t>
            </a:r>
            <a:r>
              <a:rPr lang="zh-CN" altLang="en-US" kern="1200">
                <a:solidFill>
                  <a:srgbClr val="CC00CC"/>
                </a:solidFill>
                <a:latin typeface="微软雅黑" panose="020B0503020204020204" pitchFamily="34" charset="-122"/>
                <a:ea typeface="微软雅黑" panose="020B0503020204020204" pitchFamily="34" charset="-122"/>
                <a:cs typeface="+mn-cs"/>
              </a:rPr>
              <a:t>地址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unsigned char sin_zero[8];  </a:t>
            </a:r>
            <a:r>
              <a:rPr lang="en-US" altLang="zh-CN" kern="1200">
                <a:solidFill>
                  <a:srgbClr val="CC00CC"/>
                </a:solidFill>
                <a:latin typeface="微软雅黑" panose="020B0503020204020204" pitchFamily="34" charset="-122"/>
                <a:ea typeface="微软雅黑" panose="020B0503020204020204" pitchFamily="34" charset="-122"/>
                <a:cs typeface="+mn-cs"/>
              </a:rPr>
              <a:t>/* </a:t>
            </a:r>
            <a:r>
              <a:rPr lang="zh-CN" altLang="en-US" kern="1200">
                <a:solidFill>
                  <a:srgbClr val="CC00CC"/>
                </a:solidFill>
                <a:latin typeface="微软雅黑" panose="020B0503020204020204" pitchFamily="34" charset="-122"/>
                <a:ea typeface="微软雅黑" panose="020B0503020204020204" pitchFamily="34" charset="-122"/>
                <a:cs typeface="+mn-cs"/>
              </a:rPr>
              <a:t>空字节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a:t>
            </a:r>
            <a:r>
              <a:rPr lang="zh-CN" altLang="en-US" kern="1200">
                <a:latin typeface="微软雅黑" panose="020B0503020204020204" pitchFamily="34" charset="-122"/>
                <a:ea typeface="微软雅黑" panose="020B0503020204020204" pitchFamily="34" charset="-122"/>
                <a:cs typeface="+mn-cs"/>
              </a:rPr>
              <a:t>；</a:t>
            </a:r>
          </a:p>
          <a:p>
            <a:pPr marL="0" indent="0">
              <a:buFont typeface="Arial" panose="020B0604020202090204" pitchFamily="34" charset="0"/>
              <a:buNone/>
            </a:pPr>
            <a:r>
              <a:rPr lang="zh-CN" altLang="en-US" kern="1200">
                <a:latin typeface="微软雅黑" panose="020B0503020204020204" pitchFamily="34" charset="-122"/>
                <a:ea typeface="微软雅黑" panose="020B0503020204020204" pitchFamily="34" charset="-122"/>
                <a:cs typeface="+mn-cs"/>
              </a:rPr>
              <a:t>在编程中大多数是使用</a:t>
            </a:r>
            <a:r>
              <a:rPr lang="en-US" altLang="zh-CN" kern="1200">
                <a:latin typeface="微软雅黑" panose="020B0503020204020204" pitchFamily="34" charset="-122"/>
                <a:ea typeface="微软雅黑" panose="020B0503020204020204" pitchFamily="34" charset="-122"/>
                <a:cs typeface="+mn-cs"/>
              </a:rPr>
              <a:t>sockaddr_in</a:t>
            </a:r>
            <a:r>
              <a:rPr lang="zh-CN" altLang="en-US" kern="1200">
                <a:latin typeface="微软雅黑" panose="020B0503020204020204" pitchFamily="34" charset="-122"/>
                <a:ea typeface="微软雅黑" panose="020B0503020204020204" pitchFamily="34" charset="-122"/>
                <a:cs typeface="+mn-cs"/>
              </a:rPr>
              <a:t>这个结构来设置</a:t>
            </a:r>
            <a:r>
              <a:rPr lang="en-US" altLang="zh-CN" kern="1200">
                <a:latin typeface="微软雅黑" panose="020B0503020204020204" pitchFamily="34" charset="-122"/>
                <a:ea typeface="微软雅黑" panose="020B0503020204020204" pitchFamily="34" charset="-122"/>
                <a:cs typeface="+mn-cs"/>
              </a:rPr>
              <a:t>/</a:t>
            </a:r>
            <a:r>
              <a:rPr lang="zh-CN" altLang="en-US" kern="1200">
                <a:latin typeface="微软雅黑" panose="020B0503020204020204" pitchFamily="34" charset="-122"/>
                <a:ea typeface="微软雅黑" panose="020B0503020204020204" pitchFamily="34" charset="-122"/>
                <a:cs typeface="+mn-cs"/>
              </a:rPr>
              <a:t>获取地址信息。</a:t>
            </a:r>
          </a:p>
        </p:txBody>
      </p:sp>
      <p:sp>
        <p:nvSpPr>
          <p:cNvPr id="69633"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42</a:t>
            </a:fld>
            <a:endParaRPr lang="en-US" altLang="zh-CN" sz="1000">
              <a:latin typeface="Arial" panose="020B0604020202090204" pitchFamily="34" charset="0"/>
              <a:ea typeface="宋体" panose="02010600030101010101" pitchFamily="2" charset="-122"/>
            </a:endParaRPr>
          </a:p>
        </p:txBody>
      </p:sp>
      <p:sp>
        <p:nvSpPr>
          <p:cNvPr id="1972228" name="AutoShape 4"/>
          <p:cNvSpPr>
            <a:spLocks noChangeArrowheads="1"/>
          </p:cNvSpPr>
          <p:nvPr/>
        </p:nvSpPr>
        <p:spPr bwMode="auto">
          <a:xfrm>
            <a:off x="784225" y="3538538"/>
            <a:ext cx="6429375" cy="704850"/>
          </a:xfrm>
          <a:prstGeom prst="wedgeRoundRectCallout">
            <a:avLst>
              <a:gd name="adj1" fmla="val -15296"/>
              <a:gd name="adj2" fmla="val -215204"/>
              <a:gd name="adj3" fmla="val 16667"/>
            </a:avLst>
          </a:prstGeom>
          <a:solidFill>
            <a:schemeClr val="bg1"/>
          </a:solidFill>
          <a:ln w="9525" algn="ctr">
            <a:solidFill>
              <a:schemeClr val="tx1"/>
            </a:solidFill>
            <a:miter lim="800000"/>
          </a:ln>
          <a:effectLst/>
        </p:spPr>
        <p:txBody>
          <a:bodyPr lIns="69056" tIns="34529" rIns="69056" bIns="34529"/>
          <a:lstStyle/>
          <a:p>
            <a:pPr>
              <a:spcBef>
                <a:spcPct val="15000"/>
              </a:spcBef>
              <a:buNone/>
            </a:pPr>
            <a:r>
              <a:rPr lang="en-US" altLang="zh-CN">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sin_family</a:t>
            </a:r>
            <a:r>
              <a:rPr lang="zh-CN" altLang="en-US">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指代协议族，在</a:t>
            </a:r>
            <a:r>
              <a:rPr lang="en-US" altLang="zh-CN">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TCP</a:t>
            </a:r>
            <a:r>
              <a:rPr lang="zh-CN" altLang="en-US">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套接字编程中只能是</a:t>
            </a:r>
            <a:r>
              <a:rPr lang="en-US" altLang="zh-CN">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AF_INET;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72228"/>
                                        </p:tgtEl>
                                        <p:attrNameLst>
                                          <p:attrName>style.visibility</p:attrName>
                                        </p:attrNameLst>
                                      </p:cBhvr>
                                      <p:to>
                                        <p:strVal val="visible"/>
                                      </p:to>
                                    </p:set>
                                    <p:animEffect transition="in" filter="blinds(horizontal)">
                                      <p:cBhvr>
                                        <p:cTn id="7" dur="500"/>
                                        <p:tgtEl>
                                          <p:spTgt spid="197222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1972228"/>
                                        </p:tgtEl>
                                      </p:cBhvr>
                                    </p:animEffect>
                                    <p:set>
                                      <p:cBhvr>
                                        <p:cTn id="12" dur="1" fill="hold">
                                          <p:stCondLst>
                                            <p:cond delay="499"/>
                                          </p:stCondLst>
                                        </p:cTn>
                                        <p:tgtEl>
                                          <p:spTgt spid="19722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2228" grpId="0" animBg="1"/>
      <p:bldP spid="1972228"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Socket</a:t>
            </a:r>
            <a:r>
              <a:rPr lang="zh-CN" altLang="en-US" sz="2000" kern="1200">
                <a:solidFill>
                  <a:srgbClr val="0070C0"/>
                </a:solidFill>
                <a:latin typeface="微软雅黑" panose="020B0503020204020204" pitchFamily="34" charset="-122"/>
                <a:ea typeface="微软雅黑" panose="020B0503020204020204" pitchFamily="34" charset="-122"/>
                <a:cs typeface="+mj-cs"/>
              </a:rPr>
              <a:t>地址结构</a:t>
            </a:r>
            <a:endParaRPr lang="zh-CN" altLang="zh-CN" sz="2000" kern="1200">
              <a:solidFill>
                <a:srgbClr val="0070C0"/>
              </a:solidFill>
              <a:latin typeface="微软雅黑" panose="020B0503020204020204" pitchFamily="34" charset="-122"/>
              <a:ea typeface="微软雅黑" panose="020B0503020204020204" pitchFamily="34" charset="-122"/>
              <a:cs typeface="+mj-cs"/>
            </a:endParaRPr>
          </a:p>
        </p:txBody>
      </p:sp>
      <p:sp>
        <p:nvSpPr>
          <p:cNvPr id="64514" name="Rectangle 3"/>
          <p:cNvSpPr>
            <a:spLocks noGrp="1"/>
          </p:cNvSpPr>
          <p:nvPr>
            <p:ph idx="1" hasCustomPrompt="1"/>
          </p:nvPr>
        </p:nvSpPr>
        <p:spPr>
          <a:xfrm>
            <a:off x="500063" y="666750"/>
            <a:ext cx="8183562" cy="3860800"/>
          </a:xfrm>
          <a:ln/>
        </p:spPr>
        <p:txBody>
          <a:bodyPr vert="horz" wrap="square" lIns="91440" tIns="45720" rIns="91440" bIns="45720" anchor="t" anchorCtr="0"/>
          <a:lstStyle/>
          <a:p>
            <a:pPr marL="0" indent="0">
              <a:buFont typeface="Arial" panose="020B0604020202090204" pitchFamily="34" charset="0"/>
              <a:buNone/>
            </a:pPr>
            <a:r>
              <a:rPr lang="zh-CN" altLang="en-US" kern="1200">
                <a:latin typeface="微软雅黑" panose="020B0503020204020204" pitchFamily="34" charset="-122"/>
                <a:ea typeface="微软雅黑" panose="020B0503020204020204" pitchFamily="34" charset="-122"/>
                <a:cs typeface="+mn-cs"/>
              </a:rPr>
              <a:t>但一般编程中并不直接针对</a:t>
            </a:r>
            <a:r>
              <a:rPr lang="en-US" altLang="zh-CN" kern="1200">
                <a:latin typeface="微软雅黑" panose="020B0503020204020204" pitchFamily="34" charset="-122"/>
                <a:ea typeface="微软雅黑" panose="020B0503020204020204" pitchFamily="34" charset="-122"/>
                <a:cs typeface="+mn-cs"/>
              </a:rPr>
              <a:t>socketaddr</a:t>
            </a:r>
            <a:r>
              <a:rPr lang="zh-CN" altLang="en-US" kern="1200">
                <a:latin typeface="微软雅黑" panose="020B0503020204020204" pitchFamily="34" charset="-122"/>
                <a:ea typeface="微软雅黑" panose="020B0503020204020204" pitchFamily="34" charset="-122"/>
                <a:cs typeface="+mn-cs"/>
              </a:rPr>
              <a:t>操作，而是使用另一个与</a:t>
            </a:r>
            <a:r>
              <a:rPr lang="en-US" altLang="zh-CN" kern="1200">
                <a:latin typeface="微软雅黑" panose="020B0503020204020204" pitchFamily="34" charset="-122"/>
                <a:ea typeface="微软雅黑" panose="020B0503020204020204" pitchFamily="34" charset="-122"/>
                <a:cs typeface="+mn-cs"/>
              </a:rPr>
              <a:t>sockaddr</a:t>
            </a:r>
            <a:r>
              <a:rPr lang="zh-CN" altLang="en-US" kern="1200">
                <a:latin typeface="微软雅黑" panose="020B0503020204020204" pitchFamily="34" charset="-122"/>
                <a:ea typeface="微软雅黑" panose="020B0503020204020204" pitchFamily="34" charset="-122"/>
                <a:cs typeface="+mn-cs"/>
              </a:rPr>
              <a:t>等价的数据结构</a:t>
            </a:r>
            <a:r>
              <a:rPr lang="en-US" altLang="zh-CN" kern="1200">
                <a:latin typeface="微软雅黑" panose="020B0503020204020204" pitchFamily="34" charset="-122"/>
                <a:ea typeface="微软雅黑" panose="020B0503020204020204" pitchFamily="34" charset="-122"/>
                <a:cs typeface="+mn-cs"/>
              </a:rPr>
              <a:t>sockaddr_in (</a:t>
            </a:r>
            <a:r>
              <a:rPr lang="zh-CN" altLang="en-US" kern="1200">
                <a:latin typeface="微软雅黑" panose="020B0503020204020204" pitchFamily="34" charset="-122"/>
                <a:ea typeface="微软雅黑" panose="020B0503020204020204" pitchFamily="34" charset="-122"/>
                <a:cs typeface="+mn-cs"/>
              </a:rPr>
              <a:t>在</a:t>
            </a:r>
            <a:r>
              <a:rPr lang="en-US" altLang="zh-CN" kern="1200">
                <a:latin typeface="微软雅黑" panose="020B0503020204020204" pitchFamily="34" charset="-122"/>
                <a:ea typeface="微软雅黑" panose="020B0503020204020204" pitchFamily="34" charset="-122"/>
                <a:cs typeface="+mn-cs"/>
              </a:rPr>
              <a:t>netinet/in.h</a:t>
            </a:r>
            <a:r>
              <a:rPr lang="zh-CN" altLang="en-US" kern="1200">
                <a:latin typeface="微软雅黑" panose="020B0503020204020204" pitchFamily="34" charset="-122"/>
                <a:ea typeface="微软雅黑" panose="020B0503020204020204" pitchFamily="34" charset="-122"/>
                <a:cs typeface="+mn-cs"/>
              </a:rPr>
              <a:t>中定义</a:t>
            </a:r>
            <a:r>
              <a:rPr lang="en-US" altLang="zh-CN" kern="1200">
                <a:latin typeface="微软雅黑" panose="020B0503020204020204" pitchFamily="34" charset="-122"/>
                <a:ea typeface="微软雅黑" panose="020B0503020204020204" pitchFamily="34" charset="-122"/>
                <a:cs typeface="+mn-cs"/>
              </a:rPr>
              <a:t>)</a:t>
            </a:r>
            <a:r>
              <a:rPr lang="zh-CN" altLang="en-US" kern="1200">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struct sockaddr_in{</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unsigned short int sin_len;  </a:t>
            </a:r>
            <a:r>
              <a:rPr lang="en-US" altLang="zh-CN" kern="1200">
                <a:solidFill>
                  <a:srgbClr val="CC00CC"/>
                </a:solidFill>
                <a:latin typeface="微软雅黑" panose="020B0503020204020204" pitchFamily="34" charset="-122"/>
                <a:ea typeface="微软雅黑" panose="020B0503020204020204" pitchFamily="34" charset="-122"/>
                <a:cs typeface="+mn-cs"/>
              </a:rPr>
              <a:t>/* IPv4</a:t>
            </a:r>
            <a:r>
              <a:rPr lang="zh-CN" altLang="en-US" kern="1200">
                <a:solidFill>
                  <a:srgbClr val="CC00CC"/>
                </a:solidFill>
                <a:latin typeface="微软雅黑" panose="020B0503020204020204" pitchFamily="34" charset="-122"/>
                <a:ea typeface="微软雅黑" panose="020B0503020204020204" pitchFamily="34" charset="-122"/>
                <a:cs typeface="+mn-cs"/>
              </a:rPr>
              <a:t>地址长度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short int sin_family; </a:t>
            </a:r>
            <a:r>
              <a:rPr lang="en-US" altLang="zh-CN" kern="1200">
                <a:solidFill>
                  <a:srgbClr val="CC00CC"/>
                </a:solidFill>
                <a:latin typeface="微软雅黑" panose="020B0503020204020204" pitchFamily="34" charset="-122"/>
                <a:ea typeface="微软雅黑" panose="020B0503020204020204" pitchFamily="34" charset="-122"/>
                <a:cs typeface="+mn-cs"/>
              </a:rPr>
              <a:t>/* </a:t>
            </a:r>
            <a:r>
              <a:rPr lang="zh-CN" altLang="en-US" kern="1200">
                <a:solidFill>
                  <a:srgbClr val="CC00CC"/>
                </a:solidFill>
                <a:latin typeface="微软雅黑" panose="020B0503020204020204" pitchFamily="34" charset="-122"/>
                <a:ea typeface="微软雅黑" panose="020B0503020204020204" pitchFamily="34" charset="-122"/>
                <a:cs typeface="+mn-cs"/>
              </a:rPr>
              <a:t>地址类型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unsigned short int sin_port; </a:t>
            </a:r>
            <a:r>
              <a:rPr lang="en-US" altLang="zh-CN" kern="1200">
                <a:solidFill>
                  <a:srgbClr val="CC00CC"/>
                </a:solidFill>
                <a:latin typeface="微软雅黑" panose="020B0503020204020204" pitchFamily="34" charset="-122"/>
                <a:ea typeface="微软雅黑" panose="020B0503020204020204" pitchFamily="34" charset="-122"/>
                <a:cs typeface="+mn-cs"/>
              </a:rPr>
              <a:t>/* </a:t>
            </a:r>
            <a:r>
              <a:rPr lang="zh-CN" altLang="en-US" kern="1200">
                <a:solidFill>
                  <a:srgbClr val="CC00CC"/>
                </a:solidFill>
                <a:latin typeface="微软雅黑" panose="020B0503020204020204" pitchFamily="34" charset="-122"/>
                <a:ea typeface="微软雅黑" panose="020B0503020204020204" pitchFamily="34" charset="-122"/>
                <a:cs typeface="+mn-cs"/>
              </a:rPr>
              <a:t>存储端口号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struct in_addr sin_addr;  </a:t>
            </a:r>
            <a:r>
              <a:rPr lang="en-US" altLang="zh-CN" kern="1200">
                <a:solidFill>
                  <a:srgbClr val="CC00CC"/>
                </a:solidFill>
                <a:latin typeface="微软雅黑" panose="020B0503020204020204" pitchFamily="34" charset="-122"/>
                <a:ea typeface="微软雅黑" panose="020B0503020204020204" pitchFamily="34" charset="-122"/>
                <a:cs typeface="+mn-cs"/>
              </a:rPr>
              <a:t>/*</a:t>
            </a:r>
            <a:r>
              <a:rPr lang="zh-CN" altLang="en-US" kern="1200">
                <a:solidFill>
                  <a:srgbClr val="CC00CC"/>
                </a:solidFill>
                <a:latin typeface="微软雅黑" panose="020B0503020204020204" pitchFamily="34" charset="-122"/>
                <a:ea typeface="微软雅黑" panose="020B0503020204020204" pitchFamily="34" charset="-122"/>
                <a:cs typeface="+mn-cs"/>
              </a:rPr>
              <a:t>存储</a:t>
            </a:r>
            <a:r>
              <a:rPr lang="en-US" altLang="zh-CN" kern="1200">
                <a:solidFill>
                  <a:srgbClr val="CC00CC"/>
                </a:solidFill>
                <a:latin typeface="微软雅黑" panose="020B0503020204020204" pitchFamily="34" charset="-122"/>
                <a:ea typeface="微软雅黑" panose="020B0503020204020204" pitchFamily="34" charset="-122"/>
                <a:cs typeface="+mn-cs"/>
              </a:rPr>
              <a:t>IP</a:t>
            </a:r>
            <a:r>
              <a:rPr lang="zh-CN" altLang="en-US" kern="1200">
                <a:solidFill>
                  <a:srgbClr val="CC00CC"/>
                </a:solidFill>
                <a:latin typeface="微软雅黑" panose="020B0503020204020204" pitchFamily="34" charset="-122"/>
                <a:ea typeface="微软雅黑" panose="020B0503020204020204" pitchFamily="34" charset="-122"/>
                <a:cs typeface="+mn-cs"/>
              </a:rPr>
              <a:t>地址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unsigned char sin_zero[8];  </a:t>
            </a:r>
            <a:r>
              <a:rPr lang="en-US" altLang="zh-CN" kern="1200">
                <a:solidFill>
                  <a:srgbClr val="CC00CC"/>
                </a:solidFill>
                <a:latin typeface="微软雅黑" panose="020B0503020204020204" pitchFamily="34" charset="-122"/>
                <a:ea typeface="微软雅黑" panose="020B0503020204020204" pitchFamily="34" charset="-122"/>
                <a:cs typeface="+mn-cs"/>
              </a:rPr>
              <a:t>/* </a:t>
            </a:r>
            <a:r>
              <a:rPr lang="zh-CN" altLang="en-US" kern="1200">
                <a:solidFill>
                  <a:srgbClr val="CC00CC"/>
                </a:solidFill>
                <a:latin typeface="微软雅黑" panose="020B0503020204020204" pitchFamily="34" charset="-122"/>
                <a:ea typeface="微软雅黑" panose="020B0503020204020204" pitchFamily="34" charset="-122"/>
                <a:cs typeface="+mn-cs"/>
              </a:rPr>
              <a:t>空字节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a:t>
            </a:r>
            <a:r>
              <a:rPr lang="zh-CN" altLang="en-US" kern="1200">
                <a:latin typeface="微软雅黑" panose="020B0503020204020204" pitchFamily="34" charset="-122"/>
                <a:ea typeface="微软雅黑" panose="020B0503020204020204" pitchFamily="34" charset="-122"/>
                <a:cs typeface="+mn-cs"/>
              </a:rPr>
              <a:t>；</a:t>
            </a:r>
          </a:p>
          <a:p>
            <a:pPr marL="0" indent="0">
              <a:buFont typeface="Arial" panose="020B0604020202090204" pitchFamily="34" charset="0"/>
              <a:buNone/>
            </a:pPr>
            <a:r>
              <a:rPr lang="zh-CN" altLang="en-US" kern="1200">
                <a:latin typeface="微软雅黑" panose="020B0503020204020204" pitchFamily="34" charset="-122"/>
                <a:ea typeface="微软雅黑" panose="020B0503020204020204" pitchFamily="34" charset="-122"/>
                <a:cs typeface="+mn-cs"/>
              </a:rPr>
              <a:t>在编程中大多数是使用</a:t>
            </a:r>
            <a:r>
              <a:rPr lang="en-US" altLang="zh-CN" kern="1200">
                <a:latin typeface="微软雅黑" panose="020B0503020204020204" pitchFamily="34" charset="-122"/>
                <a:ea typeface="微软雅黑" panose="020B0503020204020204" pitchFamily="34" charset="-122"/>
                <a:cs typeface="+mn-cs"/>
              </a:rPr>
              <a:t>sockaddr_in</a:t>
            </a:r>
            <a:r>
              <a:rPr lang="zh-CN" altLang="en-US" kern="1200">
                <a:latin typeface="微软雅黑" panose="020B0503020204020204" pitchFamily="34" charset="-122"/>
                <a:ea typeface="微软雅黑" panose="020B0503020204020204" pitchFamily="34" charset="-122"/>
                <a:cs typeface="+mn-cs"/>
              </a:rPr>
              <a:t>这个结构来设置</a:t>
            </a:r>
            <a:r>
              <a:rPr lang="en-US" altLang="zh-CN" kern="1200">
                <a:latin typeface="微软雅黑" panose="020B0503020204020204" pitchFamily="34" charset="-122"/>
                <a:ea typeface="微软雅黑" panose="020B0503020204020204" pitchFamily="34" charset="-122"/>
                <a:cs typeface="+mn-cs"/>
              </a:rPr>
              <a:t>/</a:t>
            </a:r>
            <a:r>
              <a:rPr lang="zh-CN" altLang="en-US" kern="1200">
                <a:latin typeface="微软雅黑" panose="020B0503020204020204" pitchFamily="34" charset="-122"/>
                <a:ea typeface="微软雅黑" panose="020B0503020204020204" pitchFamily="34" charset="-122"/>
                <a:cs typeface="+mn-cs"/>
              </a:rPr>
              <a:t>获取地址信息。</a:t>
            </a:r>
          </a:p>
        </p:txBody>
      </p:sp>
      <p:sp>
        <p:nvSpPr>
          <p:cNvPr id="70657"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43</a:t>
            </a:fld>
            <a:endParaRPr lang="en-US" altLang="zh-CN" sz="1000">
              <a:latin typeface="Arial" panose="020B0604020202090204" pitchFamily="34" charset="0"/>
              <a:ea typeface="宋体" panose="02010600030101010101" pitchFamily="2" charset="-122"/>
            </a:endParaRPr>
          </a:p>
        </p:txBody>
      </p:sp>
      <p:sp>
        <p:nvSpPr>
          <p:cNvPr id="1972229" name="AutoShape 5"/>
          <p:cNvSpPr>
            <a:spLocks noChangeArrowheads="1"/>
          </p:cNvSpPr>
          <p:nvPr/>
        </p:nvSpPr>
        <p:spPr bwMode="auto">
          <a:xfrm>
            <a:off x="684213" y="3579813"/>
            <a:ext cx="6534150" cy="809625"/>
          </a:xfrm>
          <a:prstGeom prst="wedgeRoundRectCallout">
            <a:avLst>
              <a:gd name="adj1" fmla="val -2204"/>
              <a:gd name="adj2" fmla="val -157796"/>
              <a:gd name="adj3" fmla="val 16667"/>
            </a:avLst>
          </a:prstGeom>
          <a:solidFill>
            <a:schemeClr val="bg1"/>
          </a:solidFill>
          <a:ln w="9525" algn="ctr">
            <a:solidFill>
              <a:schemeClr val="tx1"/>
            </a:solidFill>
            <a:miter lim="800000"/>
          </a:ln>
          <a:effectLst/>
        </p:spPr>
        <p:txBody>
          <a:bodyPr lIns="69056" tIns="34529" rIns="69056" bIns="34529"/>
          <a:lstStyle/>
          <a:p>
            <a:pPr>
              <a:spcBef>
                <a:spcPct val="15000"/>
              </a:spcBef>
              <a:buNone/>
            </a:pPr>
            <a:r>
              <a:rPr lang="en-US" altLang="zh-CN">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sin_port</a:t>
            </a:r>
            <a:r>
              <a:rPr lang="zh-CN" altLang="en-US">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存储端口号（使用网络字节顺序），数据类型是一个</a:t>
            </a:r>
            <a:r>
              <a:rPr lang="en-US" altLang="zh-CN">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16</a:t>
            </a:r>
            <a:r>
              <a:rPr lang="zh-CN" altLang="en-US">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位的无符号整数类型；</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72229"/>
                                        </p:tgtEl>
                                        <p:attrNameLst>
                                          <p:attrName>style.visibility</p:attrName>
                                        </p:attrNameLst>
                                      </p:cBhvr>
                                      <p:to>
                                        <p:strVal val="visible"/>
                                      </p:to>
                                    </p:set>
                                    <p:animEffect transition="in" filter="blinds(horizontal)">
                                      <p:cBhvr>
                                        <p:cTn id="7" dur="500"/>
                                        <p:tgtEl>
                                          <p:spTgt spid="197222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1972229"/>
                                        </p:tgtEl>
                                      </p:cBhvr>
                                    </p:animEffect>
                                    <p:set>
                                      <p:cBhvr>
                                        <p:cTn id="12" dur="1" fill="hold">
                                          <p:stCondLst>
                                            <p:cond delay="499"/>
                                          </p:stCondLst>
                                        </p:cTn>
                                        <p:tgtEl>
                                          <p:spTgt spid="19722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2229" grpId="0" animBg="1"/>
      <p:bldP spid="1972229"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Socket</a:t>
            </a:r>
            <a:r>
              <a:rPr lang="zh-CN" altLang="en-US" sz="2000" kern="1200">
                <a:solidFill>
                  <a:srgbClr val="0070C0"/>
                </a:solidFill>
                <a:latin typeface="微软雅黑" panose="020B0503020204020204" pitchFamily="34" charset="-122"/>
                <a:ea typeface="微软雅黑" panose="020B0503020204020204" pitchFamily="34" charset="-122"/>
                <a:cs typeface="+mj-cs"/>
              </a:rPr>
              <a:t>地址结构</a:t>
            </a:r>
            <a:endParaRPr lang="zh-CN" altLang="zh-CN" sz="2000" kern="1200">
              <a:solidFill>
                <a:srgbClr val="0070C0"/>
              </a:solidFill>
              <a:latin typeface="微软雅黑" panose="020B0503020204020204" pitchFamily="34" charset="-122"/>
              <a:ea typeface="微软雅黑" panose="020B0503020204020204" pitchFamily="34" charset="-122"/>
              <a:cs typeface="+mj-cs"/>
            </a:endParaRPr>
          </a:p>
        </p:txBody>
      </p:sp>
      <p:sp>
        <p:nvSpPr>
          <p:cNvPr id="65538" name="Rectangle 3"/>
          <p:cNvSpPr>
            <a:spLocks noGrp="1"/>
          </p:cNvSpPr>
          <p:nvPr>
            <p:ph idx="1" hasCustomPrompt="1"/>
          </p:nvPr>
        </p:nvSpPr>
        <p:spPr>
          <a:xfrm>
            <a:off x="484188" y="606425"/>
            <a:ext cx="8185150" cy="3860800"/>
          </a:xfrm>
          <a:ln/>
        </p:spPr>
        <p:txBody>
          <a:bodyPr vert="horz" wrap="square" lIns="91440" tIns="45720" rIns="91440" bIns="45720" anchor="t" anchorCtr="0"/>
          <a:lstStyle/>
          <a:p>
            <a:pPr marL="0" indent="0">
              <a:buFont typeface="Arial" panose="020B0604020202090204" pitchFamily="34" charset="0"/>
              <a:buNone/>
            </a:pPr>
            <a:r>
              <a:rPr lang="zh-CN" altLang="en-US" kern="1200">
                <a:latin typeface="微软雅黑" panose="020B0503020204020204" pitchFamily="34" charset="-122"/>
                <a:ea typeface="微软雅黑" panose="020B0503020204020204" pitchFamily="34" charset="-122"/>
                <a:cs typeface="+mn-cs"/>
              </a:rPr>
              <a:t>但一般编程中并不直接针对</a:t>
            </a:r>
            <a:r>
              <a:rPr lang="en-US" altLang="zh-CN" kern="1200">
                <a:latin typeface="微软雅黑" panose="020B0503020204020204" pitchFamily="34" charset="-122"/>
                <a:ea typeface="微软雅黑" panose="020B0503020204020204" pitchFamily="34" charset="-122"/>
                <a:cs typeface="+mn-cs"/>
              </a:rPr>
              <a:t>socketaddr</a:t>
            </a:r>
            <a:r>
              <a:rPr lang="zh-CN" altLang="en-US" kern="1200">
                <a:latin typeface="微软雅黑" panose="020B0503020204020204" pitchFamily="34" charset="-122"/>
                <a:ea typeface="微软雅黑" panose="020B0503020204020204" pitchFamily="34" charset="-122"/>
                <a:cs typeface="+mn-cs"/>
              </a:rPr>
              <a:t>操作，而是使用另一个与</a:t>
            </a:r>
            <a:r>
              <a:rPr lang="en-US" altLang="zh-CN" kern="1200">
                <a:latin typeface="微软雅黑" panose="020B0503020204020204" pitchFamily="34" charset="-122"/>
                <a:ea typeface="微软雅黑" panose="020B0503020204020204" pitchFamily="34" charset="-122"/>
                <a:cs typeface="+mn-cs"/>
              </a:rPr>
              <a:t>sockaddr</a:t>
            </a:r>
            <a:r>
              <a:rPr lang="zh-CN" altLang="en-US" kern="1200">
                <a:latin typeface="微软雅黑" panose="020B0503020204020204" pitchFamily="34" charset="-122"/>
                <a:ea typeface="微软雅黑" panose="020B0503020204020204" pitchFamily="34" charset="-122"/>
                <a:cs typeface="+mn-cs"/>
              </a:rPr>
              <a:t>等价的数据结构</a:t>
            </a:r>
            <a:r>
              <a:rPr lang="en-US" altLang="zh-CN" kern="1200">
                <a:latin typeface="微软雅黑" panose="020B0503020204020204" pitchFamily="34" charset="-122"/>
                <a:ea typeface="微软雅黑" panose="020B0503020204020204" pitchFamily="34" charset="-122"/>
                <a:cs typeface="+mn-cs"/>
              </a:rPr>
              <a:t>sockaddr_in (</a:t>
            </a:r>
            <a:r>
              <a:rPr lang="zh-CN" altLang="en-US" kern="1200">
                <a:latin typeface="微软雅黑" panose="020B0503020204020204" pitchFamily="34" charset="-122"/>
                <a:ea typeface="微软雅黑" panose="020B0503020204020204" pitchFamily="34" charset="-122"/>
                <a:cs typeface="+mn-cs"/>
              </a:rPr>
              <a:t>在</a:t>
            </a:r>
            <a:r>
              <a:rPr lang="en-US" altLang="zh-CN" kern="1200">
                <a:latin typeface="微软雅黑" panose="020B0503020204020204" pitchFamily="34" charset="-122"/>
                <a:ea typeface="微软雅黑" panose="020B0503020204020204" pitchFamily="34" charset="-122"/>
                <a:cs typeface="+mn-cs"/>
              </a:rPr>
              <a:t>netinet/in.h</a:t>
            </a:r>
            <a:r>
              <a:rPr lang="zh-CN" altLang="en-US" kern="1200">
                <a:latin typeface="微软雅黑" panose="020B0503020204020204" pitchFamily="34" charset="-122"/>
                <a:ea typeface="微软雅黑" panose="020B0503020204020204" pitchFamily="34" charset="-122"/>
                <a:cs typeface="+mn-cs"/>
              </a:rPr>
              <a:t>中定义</a:t>
            </a:r>
            <a:r>
              <a:rPr lang="en-US" altLang="zh-CN" kern="1200">
                <a:latin typeface="微软雅黑" panose="020B0503020204020204" pitchFamily="34" charset="-122"/>
                <a:ea typeface="微软雅黑" panose="020B0503020204020204" pitchFamily="34" charset="-122"/>
                <a:cs typeface="+mn-cs"/>
              </a:rPr>
              <a:t>)</a:t>
            </a:r>
            <a:r>
              <a:rPr lang="zh-CN" altLang="en-US" kern="1200">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struct sockaddr_in{</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unsigned short int sin_len;  </a:t>
            </a:r>
            <a:r>
              <a:rPr lang="en-US" altLang="zh-CN" kern="1200">
                <a:solidFill>
                  <a:srgbClr val="CC00CC"/>
                </a:solidFill>
                <a:latin typeface="微软雅黑" panose="020B0503020204020204" pitchFamily="34" charset="-122"/>
                <a:ea typeface="微软雅黑" panose="020B0503020204020204" pitchFamily="34" charset="-122"/>
                <a:cs typeface="+mn-cs"/>
              </a:rPr>
              <a:t>/* IPv4</a:t>
            </a:r>
            <a:r>
              <a:rPr lang="zh-CN" altLang="en-US" kern="1200">
                <a:solidFill>
                  <a:srgbClr val="CC00CC"/>
                </a:solidFill>
                <a:latin typeface="微软雅黑" panose="020B0503020204020204" pitchFamily="34" charset="-122"/>
                <a:ea typeface="微软雅黑" panose="020B0503020204020204" pitchFamily="34" charset="-122"/>
                <a:cs typeface="+mn-cs"/>
              </a:rPr>
              <a:t>地址长度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short int sin_family; </a:t>
            </a:r>
            <a:r>
              <a:rPr lang="en-US" altLang="zh-CN" kern="1200">
                <a:solidFill>
                  <a:srgbClr val="CC00CC"/>
                </a:solidFill>
                <a:latin typeface="微软雅黑" panose="020B0503020204020204" pitchFamily="34" charset="-122"/>
                <a:ea typeface="微软雅黑" panose="020B0503020204020204" pitchFamily="34" charset="-122"/>
                <a:cs typeface="+mn-cs"/>
              </a:rPr>
              <a:t>/* </a:t>
            </a:r>
            <a:r>
              <a:rPr lang="zh-CN" altLang="en-US" kern="1200">
                <a:solidFill>
                  <a:srgbClr val="CC00CC"/>
                </a:solidFill>
                <a:latin typeface="微软雅黑" panose="020B0503020204020204" pitchFamily="34" charset="-122"/>
                <a:ea typeface="微软雅黑" panose="020B0503020204020204" pitchFamily="34" charset="-122"/>
                <a:cs typeface="+mn-cs"/>
              </a:rPr>
              <a:t>地址类型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unsigned short int sin_port; </a:t>
            </a:r>
            <a:r>
              <a:rPr lang="en-US" altLang="zh-CN" kern="1200">
                <a:solidFill>
                  <a:srgbClr val="CC00CC"/>
                </a:solidFill>
                <a:latin typeface="微软雅黑" panose="020B0503020204020204" pitchFamily="34" charset="-122"/>
                <a:ea typeface="微软雅黑" panose="020B0503020204020204" pitchFamily="34" charset="-122"/>
                <a:cs typeface="+mn-cs"/>
              </a:rPr>
              <a:t>/* </a:t>
            </a:r>
            <a:r>
              <a:rPr lang="zh-CN" altLang="en-US" kern="1200">
                <a:solidFill>
                  <a:srgbClr val="CC00CC"/>
                </a:solidFill>
                <a:latin typeface="微软雅黑" panose="020B0503020204020204" pitchFamily="34" charset="-122"/>
                <a:ea typeface="微软雅黑" panose="020B0503020204020204" pitchFamily="34" charset="-122"/>
                <a:cs typeface="+mn-cs"/>
              </a:rPr>
              <a:t>存储端口号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struct in_addr sin_addr;  </a:t>
            </a:r>
            <a:r>
              <a:rPr lang="en-US" altLang="zh-CN" kern="1200">
                <a:solidFill>
                  <a:srgbClr val="CC00CC"/>
                </a:solidFill>
                <a:latin typeface="微软雅黑" panose="020B0503020204020204" pitchFamily="34" charset="-122"/>
                <a:ea typeface="微软雅黑" panose="020B0503020204020204" pitchFamily="34" charset="-122"/>
                <a:cs typeface="+mn-cs"/>
              </a:rPr>
              <a:t>/*</a:t>
            </a:r>
            <a:r>
              <a:rPr lang="zh-CN" altLang="en-US" kern="1200">
                <a:solidFill>
                  <a:srgbClr val="CC00CC"/>
                </a:solidFill>
                <a:latin typeface="微软雅黑" panose="020B0503020204020204" pitchFamily="34" charset="-122"/>
                <a:ea typeface="微软雅黑" panose="020B0503020204020204" pitchFamily="34" charset="-122"/>
                <a:cs typeface="+mn-cs"/>
              </a:rPr>
              <a:t>存储</a:t>
            </a:r>
            <a:r>
              <a:rPr lang="en-US" altLang="zh-CN" kern="1200">
                <a:solidFill>
                  <a:srgbClr val="CC00CC"/>
                </a:solidFill>
                <a:latin typeface="微软雅黑" panose="020B0503020204020204" pitchFamily="34" charset="-122"/>
                <a:ea typeface="微软雅黑" panose="020B0503020204020204" pitchFamily="34" charset="-122"/>
                <a:cs typeface="+mn-cs"/>
              </a:rPr>
              <a:t>IP</a:t>
            </a:r>
            <a:r>
              <a:rPr lang="zh-CN" altLang="en-US" kern="1200">
                <a:solidFill>
                  <a:srgbClr val="CC00CC"/>
                </a:solidFill>
                <a:latin typeface="微软雅黑" panose="020B0503020204020204" pitchFamily="34" charset="-122"/>
                <a:ea typeface="微软雅黑" panose="020B0503020204020204" pitchFamily="34" charset="-122"/>
                <a:cs typeface="+mn-cs"/>
              </a:rPr>
              <a:t>地址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unsigned char sin_zero[8];  </a:t>
            </a:r>
            <a:r>
              <a:rPr lang="en-US" altLang="zh-CN" kern="1200">
                <a:solidFill>
                  <a:srgbClr val="CC00CC"/>
                </a:solidFill>
                <a:latin typeface="微软雅黑" panose="020B0503020204020204" pitchFamily="34" charset="-122"/>
                <a:ea typeface="微软雅黑" panose="020B0503020204020204" pitchFamily="34" charset="-122"/>
                <a:cs typeface="+mn-cs"/>
              </a:rPr>
              <a:t>/* </a:t>
            </a:r>
            <a:r>
              <a:rPr lang="zh-CN" altLang="en-US" kern="1200">
                <a:solidFill>
                  <a:srgbClr val="CC00CC"/>
                </a:solidFill>
                <a:latin typeface="微软雅黑" panose="020B0503020204020204" pitchFamily="34" charset="-122"/>
                <a:ea typeface="微软雅黑" panose="020B0503020204020204" pitchFamily="34" charset="-122"/>
                <a:cs typeface="+mn-cs"/>
              </a:rPr>
              <a:t>空字节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a:t>
            </a:r>
            <a:r>
              <a:rPr lang="zh-CN" altLang="en-US" kern="1200">
                <a:latin typeface="微软雅黑" panose="020B0503020204020204" pitchFamily="34" charset="-122"/>
                <a:ea typeface="微软雅黑" panose="020B0503020204020204" pitchFamily="34" charset="-122"/>
                <a:cs typeface="+mn-cs"/>
              </a:rPr>
              <a:t>；</a:t>
            </a:r>
          </a:p>
          <a:p>
            <a:pPr marL="0" indent="0">
              <a:buFont typeface="Arial" panose="020B0604020202090204" pitchFamily="34" charset="0"/>
              <a:buNone/>
            </a:pPr>
            <a:r>
              <a:rPr lang="zh-CN" altLang="en-US" kern="1200">
                <a:latin typeface="微软雅黑" panose="020B0503020204020204" pitchFamily="34" charset="-122"/>
                <a:ea typeface="微软雅黑" panose="020B0503020204020204" pitchFamily="34" charset="-122"/>
                <a:cs typeface="+mn-cs"/>
              </a:rPr>
              <a:t>在编程中大多数是使用</a:t>
            </a:r>
            <a:r>
              <a:rPr lang="en-US" altLang="zh-CN" kern="1200">
                <a:latin typeface="微软雅黑" panose="020B0503020204020204" pitchFamily="34" charset="-122"/>
                <a:ea typeface="微软雅黑" panose="020B0503020204020204" pitchFamily="34" charset="-122"/>
                <a:cs typeface="+mn-cs"/>
              </a:rPr>
              <a:t>sockaddr_in</a:t>
            </a:r>
            <a:r>
              <a:rPr lang="zh-CN" altLang="en-US" kern="1200">
                <a:latin typeface="微软雅黑" panose="020B0503020204020204" pitchFamily="34" charset="-122"/>
                <a:ea typeface="微软雅黑" panose="020B0503020204020204" pitchFamily="34" charset="-122"/>
                <a:cs typeface="+mn-cs"/>
              </a:rPr>
              <a:t>这个结构来设置</a:t>
            </a:r>
            <a:r>
              <a:rPr lang="en-US" altLang="zh-CN" kern="1200">
                <a:latin typeface="微软雅黑" panose="020B0503020204020204" pitchFamily="34" charset="-122"/>
                <a:ea typeface="微软雅黑" panose="020B0503020204020204" pitchFamily="34" charset="-122"/>
                <a:cs typeface="+mn-cs"/>
              </a:rPr>
              <a:t>/</a:t>
            </a:r>
            <a:r>
              <a:rPr lang="zh-CN" altLang="en-US" kern="1200">
                <a:latin typeface="微软雅黑" panose="020B0503020204020204" pitchFamily="34" charset="-122"/>
                <a:ea typeface="微软雅黑" panose="020B0503020204020204" pitchFamily="34" charset="-122"/>
                <a:cs typeface="+mn-cs"/>
              </a:rPr>
              <a:t>获取地址信息。</a:t>
            </a:r>
          </a:p>
        </p:txBody>
      </p:sp>
      <p:sp>
        <p:nvSpPr>
          <p:cNvPr id="71681"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44</a:t>
            </a:fld>
            <a:endParaRPr lang="en-US" altLang="zh-CN" sz="1000">
              <a:latin typeface="Arial" panose="020B0604020202090204" pitchFamily="34" charset="0"/>
              <a:ea typeface="宋体" panose="02010600030101010101" pitchFamily="2" charset="-122"/>
            </a:endParaRPr>
          </a:p>
        </p:txBody>
      </p:sp>
      <p:sp>
        <p:nvSpPr>
          <p:cNvPr id="1972230" name="AutoShape 6"/>
          <p:cNvSpPr>
            <a:spLocks noChangeArrowheads="1"/>
          </p:cNvSpPr>
          <p:nvPr/>
        </p:nvSpPr>
        <p:spPr bwMode="auto">
          <a:xfrm>
            <a:off x="484188" y="3602038"/>
            <a:ext cx="6572250" cy="1076325"/>
          </a:xfrm>
          <a:prstGeom prst="wedgeRoundRectCallout">
            <a:avLst>
              <a:gd name="adj1" fmla="val -3171"/>
              <a:gd name="adj2" fmla="val -106083"/>
              <a:gd name="adj3" fmla="val 16667"/>
            </a:avLst>
          </a:prstGeom>
          <a:solidFill>
            <a:schemeClr val="bg1"/>
          </a:solidFill>
          <a:ln w="9525" algn="ctr">
            <a:solidFill>
              <a:schemeClr val="tx1"/>
            </a:solidFill>
            <a:miter lim="800000"/>
          </a:ln>
          <a:effectLst/>
        </p:spPr>
        <p:txBody>
          <a:bodyPr lIns="69056" tIns="34529" rIns="69056" bIns="34529"/>
          <a:lstStyle/>
          <a:p>
            <a:pPr>
              <a:spcBef>
                <a:spcPct val="15000"/>
              </a:spcBef>
              <a:buNone/>
            </a:pPr>
            <a:r>
              <a:rPr lang="en-US" altLang="zh-CN"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sin_addr</a:t>
            </a:r>
            <a:r>
              <a:rPr lang="zh-CN" altLang="en-US"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存储</a:t>
            </a:r>
            <a:r>
              <a:rPr lang="en-US" altLang="zh-CN"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IP</a:t>
            </a:r>
            <a:r>
              <a:rPr lang="zh-CN" altLang="en-US"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地址，</a:t>
            </a:r>
            <a:r>
              <a:rPr lang="en-US" altLang="zh-CN"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IP</a:t>
            </a:r>
            <a:r>
              <a:rPr lang="zh-CN" altLang="en-US"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地址使用</a:t>
            </a:r>
            <a:r>
              <a:rPr lang="en-US" altLang="zh-CN"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in_addr</a:t>
            </a:r>
            <a:r>
              <a:rPr lang="zh-CN" altLang="en-US"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这个数据结构：</a:t>
            </a:r>
          </a:p>
          <a:p>
            <a:pPr>
              <a:spcBef>
                <a:spcPct val="15000"/>
              </a:spcBef>
              <a:buNone/>
            </a:pPr>
            <a:r>
              <a:rPr lang="zh-CN" altLang="en-US"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   </a:t>
            </a:r>
            <a:r>
              <a:rPr lang="en-US" altLang="zh-CN"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struct in_addr{  unsigned long s_addr;  };</a:t>
            </a:r>
          </a:p>
          <a:p>
            <a:pPr>
              <a:spcBef>
                <a:spcPct val="15000"/>
              </a:spcBef>
              <a:buNone/>
            </a:pPr>
            <a:r>
              <a:rPr lang="zh-CN" altLang="en-US"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这个数据结构是由于历史原因保留下来，主要用作与以前的格式兼容。这里的</a:t>
            </a:r>
            <a:r>
              <a:rPr lang="en-US" altLang="zh-CN"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s_addr</a:t>
            </a:r>
            <a:r>
              <a:rPr lang="zh-CN" altLang="en-US"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按照网络字节顺序存储</a:t>
            </a:r>
            <a:r>
              <a:rPr lang="en-US" altLang="zh-CN"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IP</a:t>
            </a:r>
            <a:r>
              <a:rPr lang="zh-CN" altLang="en-US" sz="1500">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地址。</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72230"/>
                                        </p:tgtEl>
                                        <p:attrNameLst>
                                          <p:attrName>style.visibility</p:attrName>
                                        </p:attrNameLst>
                                      </p:cBhvr>
                                      <p:to>
                                        <p:strVal val="visible"/>
                                      </p:to>
                                    </p:set>
                                    <p:animEffect transition="in" filter="blinds(horizontal)">
                                      <p:cBhvr>
                                        <p:cTn id="7" dur="500"/>
                                        <p:tgtEl>
                                          <p:spTgt spid="197223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1972230"/>
                                        </p:tgtEl>
                                      </p:cBhvr>
                                    </p:animEffect>
                                    <p:set>
                                      <p:cBhvr>
                                        <p:cTn id="12" dur="1" fill="hold">
                                          <p:stCondLst>
                                            <p:cond delay="499"/>
                                          </p:stCondLst>
                                        </p:cTn>
                                        <p:tgtEl>
                                          <p:spTgt spid="19722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2230" grpId="0" animBg="1"/>
      <p:bldP spid="1972230"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Socket</a:t>
            </a:r>
            <a:r>
              <a:rPr lang="zh-CN" altLang="en-US" sz="2000" kern="1200">
                <a:solidFill>
                  <a:srgbClr val="0070C0"/>
                </a:solidFill>
                <a:latin typeface="微软雅黑" panose="020B0503020204020204" pitchFamily="34" charset="-122"/>
                <a:ea typeface="微软雅黑" panose="020B0503020204020204" pitchFamily="34" charset="-122"/>
                <a:cs typeface="+mj-cs"/>
              </a:rPr>
              <a:t>地址结构</a:t>
            </a:r>
            <a:endParaRPr lang="zh-CN" altLang="zh-CN" sz="2000" kern="1200">
              <a:solidFill>
                <a:srgbClr val="0070C0"/>
              </a:solidFill>
              <a:latin typeface="微软雅黑" panose="020B0503020204020204" pitchFamily="34" charset="-122"/>
              <a:ea typeface="微软雅黑" panose="020B0503020204020204" pitchFamily="34" charset="-122"/>
              <a:cs typeface="+mj-cs"/>
            </a:endParaRPr>
          </a:p>
        </p:txBody>
      </p:sp>
      <p:sp>
        <p:nvSpPr>
          <p:cNvPr id="66562" name="Rectangle 3"/>
          <p:cNvSpPr>
            <a:spLocks noGrp="1"/>
          </p:cNvSpPr>
          <p:nvPr>
            <p:ph idx="1" hasCustomPrompt="1"/>
          </p:nvPr>
        </p:nvSpPr>
        <p:spPr>
          <a:xfrm>
            <a:off x="469900" y="679450"/>
            <a:ext cx="8185150" cy="3860800"/>
          </a:xfrm>
          <a:ln/>
        </p:spPr>
        <p:txBody>
          <a:bodyPr vert="horz" wrap="square" lIns="91440" tIns="45720" rIns="91440" bIns="45720" anchor="t" anchorCtr="0"/>
          <a:lstStyle/>
          <a:p>
            <a:pPr marL="0" indent="0">
              <a:buFont typeface="Arial" panose="020B0604020202090204" pitchFamily="34" charset="0"/>
              <a:buNone/>
            </a:pPr>
            <a:r>
              <a:rPr lang="zh-CN" altLang="en-US" kern="1200">
                <a:latin typeface="微软雅黑" panose="020B0503020204020204" pitchFamily="34" charset="-122"/>
                <a:ea typeface="微软雅黑" panose="020B0503020204020204" pitchFamily="34" charset="-122"/>
                <a:cs typeface="+mn-cs"/>
              </a:rPr>
              <a:t>但一般编程中并不直接针对</a:t>
            </a:r>
            <a:r>
              <a:rPr lang="en-US" altLang="zh-CN" kern="1200">
                <a:latin typeface="微软雅黑" panose="020B0503020204020204" pitchFamily="34" charset="-122"/>
                <a:ea typeface="微软雅黑" panose="020B0503020204020204" pitchFamily="34" charset="-122"/>
                <a:cs typeface="+mn-cs"/>
              </a:rPr>
              <a:t>socketaddr</a:t>
            </a:r>
            <a:r>
              <a:rPr lang="zh-CN" altLang="en-US" kern="1200">
                <a:latin typeface="微软雅黑" panose="020B0503020204020204" pitchFamily="34" charset="-122"/>
                <a:ea typeface="微软雅黑" panose="020B0503020204020204" pitchFamily="34" charset="-122"/>
                <a:cs typeface="+mn-cs"/>
              </a:rPr>
              <a:t>操作，而是使用另一个与</a:t>
            </a:r>
            <a:r>
              <a:rPr lang="en-US" altLang="zh-CN" kern="1200">
                <a:latin typeface="微软雅黑" panose="020B0503020204020204" pitchFamily="34" charset="-122"/>
                <a:ea typeface="微软雅黑" panose="020B0503020204020204" pitchFamily="34" charset="-122"/>
                <a:cs typeface="+mn-cs"/>
              </a:rPr>
              <a:t>sockaddr</a:t>
            </a:r>
            <a:r>
              <a:rPr lang="zh-CN" altLang="en-US" kern="1200">
                <a:latin typeface="微软雅黑" panose="020B0503020204020204" pitchFamily="34" charset="-122"/>
                <a:ea typeface="微软雅黑" panose="020B0503020204020204" pitchFamily="34" charset="-122"/>
                <a:cs typeface="+mn-cs"/>
              </a:rPr>
              <a:t>等价的数据结构</a:t>
            </a:r>
            <a:r>
              <a:rPr lang="en-US" altLang="zh-CN" kern="1200">
                <a:latin typeface="微软雅黑" panose="020B0503020204020204" pitchFamily="34" charset="-122"/>
                <a:ea typeface="微软雅黑" panose="020B0503020204020204" pitchFamily="34" charset="-122"/>
                <a:cs typeface="+mn-cs"/>
              </a:rPr>
              <a:t>sockaddr_in (</a:t>
            </a:r>
            <a:r>
              <a:rPr lang="zh-CN" altLang="en-US" kern="1200">
                <a:latin typeface="微软雅黑" panose="020B0503020204020204" pitchFamily="34" charset="-122"/>
                <a:ea typeface="微软雅黑" panose="020B0503020204020204" pitchFamily="34" charset="-122"/>
                <a:cs typeface="+mn-cs"/>
              </a:rPr>
              <a:t>在</a:t>
            </a:r>
            <a:r>
              <a:rPr lang="en-US" altLang="zh-CN" kern="1200">
                <a:latin typeface="微软雅黑" panose="020B0503020204020204" pitchFamily="34" charset="-122"/>
                <a:ea typeface="微软雅黑" panose="020B0503020204020204" pitchFamily="34" charset="-122"/>
                <a:cs typeface="+mn-cs"/>
              </a:rPr>
              <a:t>netinet/in.h</a:t>
            </a:r>
            <a:r>
              <a:rPr lang="zh-CN" altLang="en-US" kern="1200">
                <a:latin typeface="微软雅黑" panose="020B0503020204020204" pitchFamily="34" charset="-122"/>
                <a:ea typeface="微软雅黑" panose="020B0503020204020204" pitchFamily="34" charset="-122"/>
                <a:cs typeface="+mn-cs"/>
              </a:rPr>
              <a:t>中定义</a:t>
            </a:r>
            <a:r>
              <a:rPr lang="en-US" altLang="zh-CN" kern="1200">
                <a:latin typeface="微软雅黑" panose="020B0503020204020204" pitchFamily="34" charset="-122"/>
                <a:ea typeface="微软雅黑" panose="020B0503020204020204" pitchFamily="34" charset="-122"/>
                <a:cs typeface="+mn-cs"/>
              </a:rPr>
              <a:t>)</a:t>
            </a:r>
            <a:r>
              <a:rPr lang="zh-CN" altLang="en-US" kern="1200">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struct sockaddr_in{</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unsigned short int sin_len;  </a:t>
            </a:r>
            <a:r>
              <a:rPr lang="en-US" altLang="zh-CN" kern="1200">
                <a:solidFill>
                  <a:srgbClr val="CC00CC"/>
                </a:solidFill>
                <a:latin typeface="微软雅黑" panose="020B0503020204020204" pitchFamily="34" charset="-122"/>
                <a:ea typeface="微软雅黑" panose="020B0503020204020204" pitchFamily="34" charset="-122"/>
                <a:cs typeface="+mn-cs"/>
              </a:rPr>
              <a:t>/* IPv4</a:t>
            </a:r>
            <a:r>
              <a:rPr lang="zh-CN" altLang="en-US" kern="1200">
                <a:solidFill>
                  <a:srgbClr val="CC00CC"/>
                </a:solidFill>
                <a:latin typeface="微软雅黑" panose="020B0503020204020204" pitchFamily="34" charset="-122"/>
                <a:ea typeface="微软雅黑" panose="020B0503020204020204" pitchFamily="34" charset="-122"/>
                <a:cs typeface="+mn-cs"/>
              </a:rPr>
              <a:t>地址长度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short int sin_family; </a:t>
            </a:r>
            <a:r>
              <a:rPr lang="en-US" altLang="zh-CN" kern="1200">
                <a:solidFill>
                  <a:srgbClr val="CC00CC"/>
                </a:solidFill>
                <a:latin typeface="微软雅黑" panose="020B0503020204020204" pitchFamily="34" charset="-122"/>
                <a:ea typeface="微软雅黑" panose="020B0503020204020204" pitchFamily="34" charset="-122"/>
                <a:cs typeface="+mn-cs"/>
              </a:rPr>
              <a:t>/* </a:t>
            </a:r>
            <a:r>
              <a:rPr lang="zh-CN" altLang="en-US" kern="1200">
                <a:solidFill>
                  <a:srgbClr val="CC00CC"/>
                </a:solidFill>
                <a:latin typeface="微软雅黑" panose="020B0503020204020204" pitchFamily="34" charset="-122"/>
                <a:ea typeface="微软雅黑" panose="020B0503020204020204" pitchFamily="34" charset="-122"/>
                <a:cs typeface="+mn-cs"/>
              </a:rPr>
              <a:t>地址类型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unsigned short int sin_port; </a:t>
            </a:r>
            <a:r>
              <a:rPr lang="en-US" altLang="zh-CN" kern="1200">
                <a:solidFill>
                  <a:srgbClr val="CC00CC"/>
                </a:solidFill>
                <a:latin typeface="微软雅黑" panose="020B0503020204020204" pitchFamily="34" charset="-122"/>
                <a:ea typeface="微软雅黑" panose="020B0503020204020204" pitchFamily="34" charset="-122"/>
                <a:cs typeface="+mn-cs"/>
              </a:rPr>
              <a:t>/* </a:t>
            </a:r>
            <a:r>
              <a:rPr lang="zh-CN" altLang="en-US" kern="1200">
                <a:solidFill>
                  <a:srgbClr val="CC00CC"/>
                </a:solidFill>
                <a:latin typeface="微软雅黑" panose="020B0503020204020204" pitchFamily="34" charset="-122"/>
                <a:ea typeface="微软雅黑" panose="020B0503020204020204" pitchFamily="34" charset="-122"/>
                <a:cs typeface="+mn-cs"/>
              </a:rPr>
              <a:t>存储端口号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struct in_addr sin_addr;  </a:t>
            </a:r>
            <a:r>
              <a:rPr lang="en-US" altLang="zh-CN" kern="1200">
                <a:solidFill>
                  <a:srgbClr val="CC00CC"/>
                </a:solidFill>
                <a:latin typeface="微软雅黑" panose="020B0503020204020204" pitchFamily="34" charset="-122"/>
                <a:ea typeface="微软雅黑" panose="020B0503020204020204" pitchFamily="34" charset="-122"/>
                <a:cs typeface="+mn-cs"/>
              </a:rPr>
              <a:t>/*</a:t>
            </a:r>
            <a:r>
              <a:rPr lang="zh-CN" altLang="en-US" kern="1200">
                <a:solidFill>
                  <a:srgbClr val="CC00CC"/>
                </a:solidFill>
                <a:latin typeface="微软雅黑" panose="020B0503020204020204" pitchFamily="34" charset="-122"/>
                <a:ea typeface="微软雅黑" panose="020B0503020204020204" pitchFamily="34" charset="-122"/>
                <a:cs typeface="+mn-cs"/>
              </a:rPr>
              <a:t>存储</a:t>
            </a:r>
            <a:r>
              <a:rPr lang="en-US" altLang="zh-CN" kern="1200">
                <a:solidFill>
                  <a:srgbClr val="CC00CC"/>
                </a:solidFill>
                <a:latin typeface="微软雅黑" panose="020B0503020204020204" pitchFamily="34" charset="-122"/>
                <a:ea typeface="微软雅黑" panose="020B0503020204020204" pitchFamily="34" charset="-122"/>
                <a:cs typeface="+mn-cs"/>
              </a:rPr>
              <a:t>IP</a:t>
            </a:r>
            <a:r>
              <a:rPr lang="zh-CN" altLang="en-US" kern="1200">
                <a:solidFill>
                  <a:srgbClr val="CC00CC"/>
                </a:solidFill>
                <a:latin typeface="微软雅黑" panose="020B0503020204020204" pitchFamily="34" charset="-122"/>
                <a:ea typeface="微软雅黑" panose="020B0503020204020204" pitchFamily="34" charset="-122"/>
                <a:cs typeface="+mn-cs"/>
              </a:rPr>
              <a:t>地址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  unsigned char sin_zero[8];  </a:t>
            </a:r>
            <a:r>
              <a:rPr lang="en-US" altLang="zh-CN" kern="1200">
                <a:solidFill>
                  <a:srgbClr val="CC00CC"/>
                </a:solidFill>
                <a:latin typeface="微软雅黑" panose="020B0503020204020204" pitchFamily="34" charset="-122"/>
                <a:ea typeface="微软雅黑" panose="020B0503020204020204" pitchFamily="34" charset="-122"/>
                <a:cs typeface="+mn-cs"/>
              </a:rPr>
              <a:t>/* </a:t>
            </a:r>
            <a:r>
              <a:rPr lang="zh-CN" altLang="en-US" kern="1200">
                <a:solidFill>
                  <a:srgbClr val="CC00CC"/>
                </a:solidFill>
                <a:latin typeface="微软雅黑" panose="020B0503020204020204" pitchFamily="34" charset="-122"/>
                <a:ea typeface="微软雅黑" panose="020B0503020204020204" pitchFamily="34" charset="-122"/>
                <a:cs typeface="+mn-cs"/>
              </a:rPr>
              <a:t>空字节 *</a:t>
            </a:r>
            <a:r>
              <a:rPr lang="en-US" altLang="zh-CN" kern="1200">
                <a:solidFill>
                  <a:srgbClr val="CC00CC"/>
                </a:solidFill>
                <a:latin typeface="微软雅黑" panose="020B0503020204020204" pitchFamily="34" charset="-122"/>
                <a:ea typeface="微软雅黑" panose="020B0503020204020204" pitchFamily="34" charset="-122"/>
                <a:cs typeface="+mn-cs"/>
              </a:rPr>
              <a:t>/</a:t>
            </a:r>
          </a:p>
          <a:p>
            <a:pPr marL="755650" lvl="2" indent="-4445">
              <a:buFont typeface="Arial" panose="020B0604020202090204" pitchFamily="34" charset="0"/>
              <a:buNone/>
            </a:pPr>
            <a:r>
              <a:rPr lang="en-US" altLang="zh-CN" kern="1200">
                <a:latin typeface="微软雅黑" panose="020B0503020204020204" pitchFamily="34" charset="-122"/>
                <a:ea typeface="微软雅黑" panose="020B0503020204020204" pitchFamily="34" charset="-122"/>
                <a:cs typeface="+mn-cs"/>
              </a:rPr>
              <a:t>}</a:t>
            </a:r>
            <a:r>
              <a:rPr lang="zh-CN" altLang="en-US" kern="1200">
                <a:latin typeface="微软雅黑" panose="020B0503020204020204" pitchFamily="34" charset="-122"/>
                <a:ea typeface="微软雅黑" panose="020B0503020204020204" pitchFamily="34" charset="-122"/>
                <a:cs typeface="+mn-cs"/>
              </a:rPr>
              <a:t>；</a:t>
            </a:r>
          </a:p>
          <a:p>
            <a:pPr marL="0" indent="0">
              <a:buFont typeface="Arial" panose="020B0604020202090204" pitchFamily="34" charset="0"/>
              <a:buNone/>
            </a:pPr>
            <a:r>
              <a:rPr lang="zh-CN" altLang="en-US" kern="1200">
                <a:latin typeface="微软雅黑" panose="020B0503020204020204" pitchFamily="34" charset="-122"/>
                <a:ea typeface="微软雅黑" panose="020B0503020204020204" pitchFamily="34" charset="-122"/>
                <a:cs typeface="+mn-cs"/>
              </a:rPr>
              <a:t>在编程中大多数是使用</a:t>
            </a:r>
            <a:r>
              <a:rPr lang="en-US" altLang="zh-CN" kern="1200">
                <a:latin typeface="微软雅黑" panose="020B0503020204020204" pitchFamily="34" charset="-122"/>
                <a:ea typeface="微软雅黑" panose="020B0503020204020204" pitchFamily="34" charset="-122"/>
                <a:cs typeface="+mn-cs"/>
              </a:rPr>
              <a:t>sockaddr_in</a:t>
            </a:r>
            <a:r>
              <a:rPr lang="zh-CN" altLang="en-US" kern="1200">
                <a:latin typeface="微软雅黑" panose="020B0503020204020204" pitchFamily="34" charset="-122"/>
                <a:ea typeface="微软雅黑" panose="020B0503020204020204" pitchFamily="34" charset="-122"/>
                <a:cs typeface="+mn-cs"/>
              </a:rPr>
              <a:t>这个结构来设置</a:t>
            </a:r>
            <a:r>
              <a:rPr lang="en-US" altLang="zh-CN" kern="1200">
                <a:latin typeface="微软雅黑" panose="020B0503020204020204" pitchFamily="34" charset="-122"/>
                <a:ea typeface="微软雅黑" panose="020B0503020204020204" pitchFamily="34" charset="-122"/>
                <a:cs typeface="+mn-cs"/>
              </a:rPr>
              <a:t>/</a:t>
            </a:r>
            <a:r>
              <a:rPr lang="zh-CN" altLang="en-US" kern="1200">
                <a:latin typeface="微软雅黑" panose="020B0503020204020204" pitchFamily="34" charset="-122"/>
                <a:ea typeface="微软雅黑" panose="020B0503020204020204" pitchFamily="34" charset="-122"/>
                <a:cs typeface="+mn-cs"/>
              </a:rPr>
              <a:t>获取地址信息。</a:t>
            </a:r>
          </a:p>
        </p:txBody>
      </p:sp>
      <p:sp>
        <p:nvSpPr>
          <p:cNvPr id="72705"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45</a:t>
            </a:fld>
            <a:endParaRPr lang="en-US" altLang="zh-CN" sz="1000">
              <a:latin typeface="Arial" panose="020B0604020202090204" pitchFamily="34" charset="0"/>
              <a:ea typeface="宋体" panose="02010600030101010101" pitchFamily="2" charset="-122"/>
            </a:endParaRPr>
          </a:p>
        </p:txBody>
      </p:sp>
      <p:sp>
        <p:nvSpPr>
          <p:cNvPr id="1972231" name="AutoShape 7"/>
          <p:cNvSpPr>
            <a:spLocks noChangeArrowheads="1"/>
          </p:cNvSpPr>
          <p:nvPr/>
        </p:nvSpPr>
        <p:spPr bwMode="auto">
          <a:xfrm>
            <a:off x="684213" y="3703638"/>
            <a:ext cx="6572250" cy="981075"/>
          </a:xfrm>
          <a:prstGeom prst="wedgeRoundRectCallout">
            <a:avLst>
              <a:gd name="adj1" fmla="val -2880"/>
              <a:gd name="adj2" fmla="val -90171"/>
              <a:gd name="adj3" fmla="val 16667"/>
            </a:avLst>
          </a:prstGeom>
          <a:solidFill>
            <a:schemeClr val="bg1"/>
          </a:solidFill>
          <a:ln w="9525" algn="ctr">
            <a:solidFill>
              <a:schemeClr val="tx1"/>
            </a:solidFill>
            <a:miter lim="800000"/>
          </a:ln>
          <a:effectLst/>
        </p:spPr>
        <p:txBody>
          <a:bodyPr lIns="69056" tIns="34529" rIns="69056" bIns="34529"/>
          <a:lstStyle/>
          <a:p>
            <a:pPr>
              <a:spcBef>
                <a:spcPct val="15000"/>
              </a:spcBef>
              <a:buNone/>
            </a:pPr>
            <a:r>
              <a:rPr lang="en-US" altLang="zh-CN">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sin_zero</a:t>
            </a:r>
            <a:r>
              <a:rPr lang="zh-CN" altLang="en-US">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是为了让</a:t>
            </a:r>
            <a:r>
              <a:rPr lang="en-US" altLang="zh-CN">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sockaddr</a:t>
            </a:r>
            <a:r>
              <a:rPr lang="zh-CN" altLang="en-US">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与</a:t>
            </a:r>
            <a:r>
              <a:rPr lang="en-US" altLang="zh-CN">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sockaddr_in</a:t>
            </a:r>
            <a:r>
              <a:rPr lang="zh-CN" altLang="en-US">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两个数据结构保持大小相同而保留的空字节。</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72231"/>
                                        </p:tgtEl>
                                        <p:attrNameLst>
                                          <p:attrName>style.visibility</p:attrName>
                                        </p:attrNameLst>
                                      </p:cBhvr>
                                      <p:to>
                                        <p:strVal val="visible"/>
                                      </p:to>
                                    </p:set>
                                    <p:animEffect transition="in" filter="blinds(horizontal)">
                                      <p:cBhvr>
                                        <p:cTn id="7" dur="500"/>
                                        <p:tgtEl>
                                          <p:spTgt spid="197223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1972231"/>
                                        </p:tgtEl>
                                      </p:cBhvr>
                                    </p:animEffect>
                                    <p:set>
                                      <p:cBhvr>
                                        <p:cTn id="12" dur="1" fill="hold">
                                          <p:stCondLst>
                                            <p:cond delay="499"/>
                                          </p:stCondLst>
                                        </p:cTn>
                                        <p:tgtEl>
                                          <p:spTgt spid="19722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2231" grpId="0" animBg="1"/>
      <p:bldP spid="1972231"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eaLnBrk="1" hangingPunct="1">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Socket</a:t>
            </a:r>
            <a:r>
              <a:rPr lang="zh-CN" altLang="en-US" sz="2000" kern="1200">
                <a:solidFill>
                  <a:srgbClr val="0070C0"/>
                </a:solidFill>
                <a:latin typeface="微软雅黑" panose="020B0503020204020204" pitchFamily="34" charset="-122"/>
                <a:ea typeface="微软雅黑" panose="020B0503020204020204" pitchFamily="34" charset="-122"/>
                <a:cs typeface="+mj-cs"/>
              </a:rPr>
              <a:t>地址结构</a:t>
            </a:r>
          </a:p>
        </p:txBody>
      </p:sp>
      <p:sp>
        <p:nvSpPr>
          <p:cNvPr id="73730" name="Rectangle 3"/>
          <p:cNvSpPr>
            <a:spLocks noGrp="1" noChangeArrowheads="1"/>
          </p:cNvSpPr>
          <p:nvPr>
            <p:ph idx="1" hasCustomPrompt="1"/>
          </p:nvPr>
        </p:nvSpPr>
        <p:spPr>
          <a:xfrm>
            <a:off x="339725" y="641350"/>
            <a:ext cx="8335963" cy="3860800"/>
          </a:xfrm>
        </p:spPr>
        <p:txBody>
          <a:bodyPr vert="horz" wrap="square" lIns="91440" tIns="45720" rIns="91440" bIns="45720" numCol="1" anchor="t" anchorCtr="0" compatLnSpc="1"/>
          <a:lstStyle/>
          <a:p>
            <a:pPr marL="0" indent="0" eaLnBrk="1" hangingPunct="1">
              <a:lnSpc>
                <a:spcPct val="150000"/>
              </a:lnSpc>
              <a:buFont typeface="Arial" panose="020B0604020202090204" pitchFamily="34" charset="0"/>
              <a:buNone/>
            </a:pPr>
            <a:r>
              <a:rPr lang="en-US" altLang="zh-CN" kern="1200">
                <a:latin typeface="Times New Roman" panose="02020503050405090304" pitchFamily="18" charset="0"/>
                <a:ea typeface="微软雅黑" panose="020B0503020204020204" pitchFamily="34" charset="-122"/>
                <a:cs typeface="+mn-cs"/>
              </a:rPr>
              <a:t>struct in_addr</a:t>
            </a:r>
            <a:r>
              <a:rPr lang="zh-CN" altLang="en-US" sz="1800" kern="1200">
                <a:latin typeface="Times New Roman" panose="02020503050405090304" pitchFamily="18" charset="0"/>
                <a:ea typeface="微软雅黑" panose="020B0503020204020204" pitchFamily="34" charset="-122"/>
                <a:cs typeface="+mn-cs"/>
              </a:rPr>
              <a:t>，</a:t>
            </a:r>
            <a:r>
              <a:rPr lang="zh-CN" altLang="en-US" sz="1900" kern="1200">
                <a:latin typeface="微软雅黑" panose="020B0503020204020204" pitchFamily="34" charset="-122"/>
                <a:ea typeface="微软雅黑" panose="020B0503020204020204" pitchFamily="34" charset="-122"/>
                <a:cs typeface="+mn-cs"/>
              </a:rPr>
              <a:t>专门用来</a:t>
            </a:r>
            <a:r>
              <a:rPr lang="zh-CN" altLang="en-US" sz="1900" b="1" kern="1200">
                <a:solidFill>
                  <a:schemeClr val="accent2"/>
                </a:solidFill>
                <a:latin typeface="微软雅黑" panose="020B0503020204020204" pitchFamily="34" charset="-122"/>
                <a:ea typeface="微软雅黑" panose="020B0503020204020204" pitchFamily="34" charset="-122"/>
                <a:cs typeface="+mn-cs"/>
              </a:rPr>
              <a:t>存储</a:t>
            </a:r>
            <a:r>
              <a:rPr lang="en-US" altLang="zh-CN" sz="1900" b="1" kern="1200">
                <a:solidFill>
                  <a:schemeClr val="accent2"/>
                </a:solidFill>
                <a:latin typeface="微软雅黑" panose="020B0503020204020204" pitchFamily="34" charset="-122"/>
                <a:ea typeface="微软雅黑" panose="020B0503020204020204" pitchFamily="34" charset="-122"/>
                <a:cs typeface="+mn-cs"/>
              </a:rPr>
              <a:t>IP</a:t>
            </a:r>
            <a:r>
              <a:rPr lang="zh-CN" altLang="en-US" sz="1900" b="1" kern="1200">
                <a:solidFill>
                  <a:schemeClr val="accent2"/>
                </a:solidFill>
                <a:latin typeface="微软雅黑" panose="020B0503020204020204" pitchFamily="34" charset="-122"/>
                <a:ea typeface="微软雅黑" panose="020B0503020204020204" pitchFamily="34" charset="-122"/>
                <a:cs typeface="+mn-cs"/>
              </a:rPr>
              <a:t>地址</a:t>
            </a:r>
            <a:r>
              <a:rPr lang="zh-CN" altLang="en-US" sz="1900" kern="1200">
                <a:latin typeface="微软雅黑" panose="020B0503020204020204" pitchFamily="34" charset="-122"/>
                <a:ea typeface="微软雅黑" panose="020B0503020204020204" pitchFamily="34" charset="-122"/>
                <a:cs typeface="+mn-cs"/>
              </a:rPr>
              <a:t>，其定义如下：</a:t>
            </a:r>
          </a:p>
          <a:p>
            <a:pPr lvl="1" eaLnBrk="1" hangingPunct="1">
              <a:lnSpc>
                <a:spcPct val="150000"/>
              </a:lnSpc>
            </a:pPr>
            <a:r>
              <a:rPr lang="en-US" altLang="zh-CN" sz="1900" kern="1200">
                <a:latin typeface="Times New Roman" panose="02020503050405090304" pitchFamily="18" charset="0"/>
                <a:ea typeface="微软雅黑" panose="020B0503020204020204" pitchFamily="34" charset="-122"/>
                <a:cs typeface="+mn-cs"/>
              </a:rPr>
              <a:t>/* </a:t>
            </a:r>
            <a:r>
              <a:rPr lang="zh-CN" altLang="en-US" sz="1900" kern="1200">
                <a:latin typeface="微软雅黑" panose="020B0503020204020204" pitchFamily="34" charset="-122"/>
                <a:ea typeface="微软雅黑" panose="020B0503020204020204" pitchFamily="34" charset="-122"/>
                <a:cs typeface="+mn-cs"/>
              </a:rPr>
              <a:t>因特网地址</a:t>
            </a:r>
            <a:r>
              <a:rPr lang="en-US" altLang="zh-CN" sz="1900" kern="1200">
                <a:latin typeface="Times New Roman" panose="02020503050405090304" pitchFamily="18" charset="0"/>
                <a:ea typeface="微软雅黑" panose="020B0503020204020204" pitchFamily="34" charset="-122"/>
                <a:cs typeface="+mn-cs"/>
              </a:rPr>
              <a:t>(a structure for historical reasons) */</a:t>
            </a:r>
          </a:p>
          <a:p>
            <a:pPr lvl="2" eaLnBrk="1" hangingPunct="1">
              <a:lnSpc>
                <a:spcPct val="150000"/>
              </a:lnSpc>
              <a:buFont typeface="Wingdings" panose="05000000000000000000" pitchFamily="2" charset="2"/>
              <a:buNone/>
            </a:pPr>
            <a:r>
              <a:rPr lang="en-US" altLang="zh-CN" sz="1900" kern="1200">
                <a:latin typeface="Times New Roman" panose="02020503050405090304" pitchFamily="18" charset="0"/>
                <a:ea typeface="微软雅黑" panose="020B0503020204020204" pitchFamily="34" charset="-122"/>
                <a:cs typeface="+mn-cs"/>
              </a:rPr>
              <a:t>struct sin_addr {</a:t>
            </a:r>
          </a:p>
          <a:p>
            <a:pPr lvl="2" eaLnBrk="1" hangingPunct="1">
              <a:lnSpc>
                <a:spcPct val="150000"/>
              </a:lnSpc>
              <a:buFont typeface="Wingdings" panose="05000000000000000000" pitchFamily="2" charset="2"/>
              <a:buNone/>
            </a:pPr>
            <a:r>
              <a:rPr lang="en-US" altLang="zh-CN" sz="1900" kern="1200">
                <a:latin typeface="Times New Roman" panose="02020503050405090304" pitchFamily="18" charset="0"/>
                <a:ea typeface="微软雅黑" panose="020B0503020204020204" pitchFamily="34" charset="-122"/>
                <a:cs typeface="+mn-cs"/>
              </a:rPr>
              <a:t>unsigned long s_addr;</a:t>
            </a:r>
          </a:p>
          <a:p>
            <a:pPr lvl="2" eaLnBrk="1" hangingPunct="1">
              <a:lnSpc>
                <a:spcPct val="150000"/>
              </a:lnSpc>
              <a:buFont typeface="Wingdings" panose="05000000000000000000" pitchFamily="2" charset="2"/>
              <a:buNone/>
            </a:pPr>
            <a:r>
              <a:rPr lang="en-US" altLang="zh-CN" sz="1900" kern="1200">
                <a:latin typeface="Times New Roman" panose="02020503050405090304" pitchFamily="18" charset="0"/>
                <a:ea typeface="微软雅黑" panose="020B0503020204020204" pitchFamily="34" charset="-122"/>
                <a:cs typeface="+mn-cs"/>
              </a:rPr>
              <a:t>};</a:t>
            </a:r>
          </a:p>
          <a:p>
            <a:pPr lvl="1" eaLnBrk="1" hangingPunct="1">
              <a:lnSpc>
                <a:spcPct val="150000"/>
              </a:lnSpc>
            </a:pPr>
            <a:r>
              <a:rPr lang="zh-CN" altLang="en-US" sz="1900" kern="1200">
                <a:latin typeface="微软雅黑" panose="020B0503020204020204" pitchFamily="34" charset="-122"/>
                <a:ea typeface="微软雅黑" panose="020B0503020204020204" pitchFamily="34" charset="-122"/>
                <a:cs typeface="+mn-cs"/>
              </a:rPr>
              <a:t>如果声明了 “</a:t>
            </a:r>
            <a:r>
              <a:rPr lang="zh-CN" altLang="en-US" sz="1900" kern="1200">
                <a:latin typeface="Times New Roman" panose="02020503050405090304" pitchFamily="18" charset="0"/>
                <a:ea typeface="微软雅黑" panose="020B0503020204020204" pitchFamily="34" charset="-122"/>
                <a:cs typeface="+mn-cs"/>
              </a:rPr>
              <a:t> </a:t>
            </a:r>
            <a:r>
              <a:rPr lang="en-US" altLang="zh-CN" sz="1900" kern="1200">
                <a:latin typeface="Times New Roman" panose="02020503050405090304" pitchFamily="18" charset="0"/>
                <a:ea typeface="微软雅黑" panose="020B0503020204020204" pitchFamily="34" charset="-122"/>
                <a:cs typeface="+mn-cs"/>
              </a:rPr>
              <a:t>ina </a:t>
            </a:r>
            <a:r>
              <a:rPr lang="en-US" altLang="zh-CN" sz="1900" kern="1200">
                <a:latin typeface="微软雅黑" panose="020B0503020204020204" pitchFamily="34" charset="-122"/>
                <a:ea typeface="微软雅黑" panose="020B0503020204020204" pitchFamily="34" charset="-122"/>
                <a:cs typeface="+mn-cs"/>
              </a:rPr>
              <a:t>”</a:t>
            </a:r>
            <a:r>
              <a:rPr lang="en-US" altLang="zh-CN" sz="1900" kern="1200">
                <a:latin typeface="Times New Roman" panose="02020503050405090304" pitchFamily="18" charset="0"/>
                <a:ea typeface="微软雅黑" panose="020B0503020204020204" pitchFamily="34" charset="-122"/>
                <a:cs typeface="+mn-cs"/>
              </a:rPr>
              <a:t> </a:t>
            </a:r>
            <a:r>
              <a:rPr lang="zh-CN" altLang="en-US" sz="1900" kern="1200">
                <a:latin typeface="微软雅黑" panose="020B0503020204020204" pitchFamily="34" charset="-122"/>
                <a:ea typeface="微软雅黑" panose="020B0503020204020204" pitchFamily="34" charset="-122"/>
                <a:cs typeface="+mn-cs"/>
              </a:rPr>
              <a:t>作为一个</a:t>
            </a:r>
            <a:r>
              <a:rPr lang="en-US" altLang="zh-CN" sz="1900" kern="1200">
                <a:latin typeface="Times New Roman" panose="02020503050405090304" pitchFamily="18" charset="0"/>
                <a:ea typeface="微软雅黑" panose="020B0503020204020204" pitchFamily="34" charset="-122"/>
                <a:cs typeface="+mn-cs"/>
              </a:rPr>
              <a:t>struct sockaddr_in </a:t>
            </a:r>
            <a:r>
              <a:rPr lang="zh-CN" altLang="en-US" sz="1900" kern="1200">
                <a:latin typeface="微软雅黑" panose="020B0503020204020204" pitchFamily="34" charset="-122"/>
                <a:ea typeface="微软雅黑" panose="020B0503020204020204" pitchFamily="34" charset="-122"/>
                <a:cs typeface="+mn-cs"/>
              </a:rPr>
              <a:t>的结构体变量，</a:t>
            </a:r>
            <a:r>
              <a:rPr lang="zh-CN" altLang="en-US" sz="1900" kern="1200">
                <a:latin typeface="Times New Roman" panose="02020503050405090304" pitchFamily="18" charset="0"/>
                <a:ea typeface="微软雅黑" panose="020B0503020204020204" pitchFamily="34" charset="-122"/>
                <a:cs typeface="+mn-cs"/>
              </a:rPr>
              <a:t> </a:t>
            </a:r>
            <a:r>
              <a:rPr lang="zh-CN" altLang="en-US" sz="1900" kern="1200">
                <a:latin typeface="微软雅黑" panose="020B0503020204020204" pitchFamily="34" charset="-122"/>
                <a:ea typeface="微软雅黑" panose="020B0503020204020204" pitchFamily="34" charset="-122"/>
                <a:cs typeface="+mn-cs"/>
              </a:rPr>
              <a:t>那么“</a:t>
            </a:r>
            <a:r>
              <a:rPr lang="en-US" altLang="zh-CN" sz="1900" kern="1200">
                <a:latin typeface="Times New Roman" panose="02020503050405090304" pitchFamily="18" charset="0"/>
                <a:ea typeface="微软雅黑" panose="020B0503020204020204" pitchFamily="34" charset="-122"/>
                <a:cs typeface="+mn-cs"/>
              </a:rPr>
              <a:t>ina.sin_addr.s_addr</a:t>
            </a:r>
            <a:r>
              <a:rPr lang="en-US" altLang="zh-CN" sz="1900" kern="1200">
                <a:latin typeface="微软雅黑" panose="020B0503020204020204" pitchFamily="34" charset="-122"/>
                <a:ea typeface="微软雅黑" panose="020B0503020204020204" pitchFamily="34" charset="-122"/>
                <a:cs typeface="+mn-cs"/>
              </a:rPr>
              <a:t>”</a:t>
            </a:r>
            <a:r>
              <a:rPr lang="zh-CN" altLang="en-US" sz="1900" kern="1200">
                <a:latin typeface="微软雅黑" panose="020B0503020204020204" pitchFamily="34" charset="-122"/>
                <a:ea typeface="微软雅黑" panose="020B0503020204020204" pitchFamily="34" charset="-122"/>
                <a:cs typeface="+mn-cs"/>
              </a:rPr>
              <a:t>就是</a:t>
            </a:r>
            <a:r>
              <a:rPr lang="en-US" altLang="zh-CN" sz="1900" kern="1200">
                <a:latin typeface="Times New Roman" panose="02020503050405090304" pitchFamily="18" charset="0"/>
                <a:ea typeface="微软雅黑" panose="020B0503020204020204" pitchFamily="34" charset="-122"/>
                <a:cs typeface="+mn-cs"/>
              </a:rPr>
              <a:t>4</a:t>
            </a:r>
            <a:r>
              <a:rPr lang="zh-CN" altLang="en-US" sz="1900" kern="1200">
                <a:latin typeface="微软雅黑" panose="020B0503020204020204" pitchFamily="34" charset="-122"/>
                <a:ea typeface="微软雅黑" panose="020B0503020204020204" pitchFamily="34" charset="-122"/>
                <a:cs typeface="+mn-cs"/>
              </a:rPr>
              <a:t>个字节的</a:t>
            </a:r>
            <a:r>
              <a:rPr lang="en-US" altLang="zh-CN" sz="1900" kern="1200">
                <a:latin typeface="Times New Roman" panose="02020503050405090304" pitchFamily="18" charset="0"/>
                <a:ea typeface="微软雅黑" panose="020B0503020204020204" pitchFamily="34" charset="-122"/>
                <a:cs typeface="+mn-cs"/>
              </a:rPr>
              <a:t>IP </a:t>
            </a:r>
            <a:r>
              <a:rPr lang="zh-CN" altLang="en-US" sz="1900" kern="1200">
                <a:latin typeface="微软雅黑" panose="020B0503020204020204" pitchFamily="34" charset="-122"/>
                <a:ea typeface="微软雅黑" panose="020B0503020204020204" pitchFamily="34" charset="-122"/>
                <a:cs typeface="+mn-cs"/>
              </a:rPr>
              <a:t>地址（按网络字节顺序排放）。</a:t>
            </a:r>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eaLnBrk="1" hangingPunct="1">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socket</a:t>
            </a:r>
            <a:r>
              <a:rPr lang="zh-CN" altLang="en-US" sz="2000" kern="1200">
                <a:solidFill>
                  <a:srgbClr val="0070C0"/>
                </a:solidFill>
                <a:latin typeface="微软雅黑" panose="020B0503020204020204" pitchFamily="34" charset="-122"/>
                <a:ea typeface="微软雅黑" panose="020B0503020204020204" pitchFamily="34" charset="-122"/>
                <a:cs typeface="+mj-cs"/>
              </a:rPr>
              <a:t>地址结构</a:t>
            </a:r>
          </a:p>
        </p:txBody>
      </p:sp>
      <p:sp>
        <p:nvSpPr>
          <p:cNvPr id="68610" name="Rectangle 3"/>
          <p:cNvSpPr>
            <a:spLocks noGrp="1"/>
          </p:cNvSpPr>
          <p:nvPr>
            <p:ph idx="1" hasCustomPrompt="1"/>
          </p:nvPr>
        </p:nvSpPr>
        <p:spPr>
          <a:xfrm>
            <a:off x="474663" y="484188"/>
            <a:ext cx="8185150" cy="3860800"/>
          </a:xfrm>
          <a:ln/>
        </p:spPr>
        <p:txBody>
          <a:bodyPr vert="horz" wrap="square" lIns="91440" tIns="45720" rIns="91440" bIns="45720" anchor="t" anchorCtr="0"/>
          <a:lstStyle/>
          <a:p>
            <a:pPr marL="0" indent="0" eaLnBrk="1" hangingPunct="1">
              <a:lnSpc>
                <a:spcPct val="150000"/>
              </a:lnSpc>
              <a:buFont typeface="Arial" panose="020B0604020202090204" pitchFamily="34" charset="0"/>
              <a:buNone/>
            </a:pPr>
            <a:r>
              <a:rPr lang="zh-CN" altLang="en-US" kern="1200">
                <a:solidFill>
                  <a:srgbClr val="000000"/>
                </a:solidFill>
                <a:latin typeface="微软雅黑" panose="020B0503020204020204" pitchFamily="34" charset="-122"/>
                <a:ea typeface="微软雅黑" panose="020B0503020204020204" pitchFamily="34" charset="-122"/>
                <a:cs typeface="+mn-cs"/>
              </a:rPr>
              <a:t>这些数据结构的一般用法如下</a:t>
            </a:r>
            <a:endParaRPr lang="zh-CN" altLang="en-US" kern="1200">
              <a:latin typeface="微软雅黑" panose="020B0503020204020204" pitchFamily="34" charset="-122"/>
              <a:ea typeface="微软雅黑" panose="020B0503020204020204" pitchFamily="34" charset="-122"/>
              <a:cs typeface="+mn-cs"/>
            </a:endParaRPr>
          </a:p>
          <a:p>
            <a:pPr lvl="1" eaLnBrk="1" hangingPunct="1">
              <a:lnSpc>
                <a:spcPct val="150000"/>
              </a:lnSpc>
            </a:pPr>
            <a:r>
              <a:rPr lang="zh-CN" altLang="en-US" kern="1200">
                <a:latin typeface="微软雅黑" panose="020B0503020204020204" pitchFamily="34" charset="-122"/>
                <a:ea typeface="微软雅黑" panose="020B0503020204020204" pitchFamily="34" charset="-122"/>
                <a:cs typeface="+mn-cs"/>
              </a:rPr>
              <a:t>首先，定义一个</a:t>
            </a:r>
            <a:r>
              <a:rPr lang="en-US" altLang="zh-CN" kern="1200">
                <a:latin typeface="微软雅黑" panose="020B0503020204020204" pitchFamily="34" charset="-122"/>
                <a:ea typeface="微软雅黑" panose="020B0503020204020204" pitchFamily="34" charset="-122"/>
                <a:cs typeface="+mn-cs"/>
              </a:rPr>
              <a:t>sockaddr_in</a:t>
            </a:r>
            <a:r>
              <a:rPr lang="zh-CN" altLang="en-US" kern="1200">
                <a:latin typeface="微软雅黑" panose="020B0503020204020204" pitchFamily="34" charset="-122"/>
                <a:ea typeface="微软雅黑" panose="020B0503020204020204" pitchFamily="34" charset="-122"/>
                <a:cs typeface="+mn-cs"/>
              </a:rPr>
              <a:t>的结构实例，并将它初始化为</a:t>
            </a:r>
            <a:r>
              <a:rPr lang="en-US" altLang="zh-CN" kern="1200">
                <a:latin typeface="微软雅黑" panose="020B0503020204020204" pitchFamily="34" charset="-122"/>
                <a:ea typeface="微软雅黑" panose="020B0503020204020204" pitchFamily="34" charset="-122"/>
                <a:cs typeface="+mn-cs"/>
              </a:rPr>
              <a:t>0</a:t>
            </a:r>
            <a:r>
              <a:rPr lang="zh-CN" altLang="en-US" kern="1200">
                <a:latin typeface="微软雅黑" panose="020B0503020204020204" pitchFamily="34" charset="-122"/>
                <a:ea typeface="微软雅黑" panose="020B0503020204020204" pitchFamily="34" charset="-122"/>
                <a:cs typeface="+mn-cs"/>
              </a:rPr>
              <a:t>。比如：</a:t>
            </a:r>
          </a:p>
          <a:p>
            <a:pPr lvl="2" eaLnBrk="1" hangingPunct="1">
              <a:lnSpc>
                <a:spcPct val="150000"/>
              </a:lnSpc>
              <a:buFont typeface="Wingdings" panose="05000000000000000000" pitchFamily="2" charset="2"/>
              <a:buNone/>
            </a:pPr>
            <a:r>
              <a:rPr lang="en-US" altLang="zh-CN" kern="1200">
                <a:solidFill>
                  <a:srgbClr val="000000"/>
                </a:solidFill>
                <a:latin typeface="微软雅黑" panose="020B0503020204020204" pitchFamily="34" charset="-122"/>
                <a:ea typeface="微软雅黑" panose="020B0503020204020204" pitchFamily="34" charset="-122"/>
                <a:cs typeface="+mn-cs"/>
              </a:rPr>
              <a:t>struct sockaddr_in mysocket;</a:t>
            </a:r>
            <a:endParaRPr lang="en-US" altLang="zh-CN" kern="1200">
              <a:latin typeface="微软雅黑" panose="020B0503020204020204" pitchFamily="34" charset="-122"/>
              <a:ea typeface="微软雅黑" panose="020B0503020204020204" pitchFamily="34" charset="-122"/>
              <a:cs typeface="+mn-cs"/>
            </a:endParaRPr>
          </a:p>
          <a:p>
            <a:pPr lvl="2" eaLnBrk="1" hangingPunct="1">
              <a:lnSpc>
                <a:spcPct val="150000"/>
              </a:lnSpc>
              <a:buFont typeface="Wingdings" panose="05000000000000000000" pitchFamily="2" charset="2"/>
              <a:buNone/>
            </a:pPr>
            <a:r>
              <a:rPr lang="en-US" altLang="zh-CN" kern="1200">
                <a:solidFill>
                  <a:srgbClr val="000000"/>
                </a:solidFill>
                <a:latin typeface="微软雅黑" panose="020B0503020204020204" pitchFamily="34" charset="-122"/>
                <a:ea typeface="微软雅黑" panose="020B0503020204020204" pitchFamily="34" charset="-122"/>
                <a:cs typeface="+mn-cs"/>
              </a:rPr>
              <a:t>memset(&amp; mysocket,0,sizeof(struct sockaddr_in));</a:t>
            </a:r>
          </a:p>
          <a:p>
            <a:pPr lvl="1" eaLnBrk="1" hangingPunct="1">
              <a:lnSpc>
                <a:spcPct val="150000"/>
              </a:lnSpc>
            </a:pPr>
            <a:r>
              <a:rPr lang="zh-CN" altLang="en-US" kern="1200">
                <a:latin typeface="微软雅黑" panose="020B0503020204020204" pitchFamily="34" charset="-122"/>
                <a:ea typeface="微软雅黑" panose="020B0503020204020204" pitchFamily="34" charset="-122"/>
                <a:cs typeface="+mn-cs"/>
              </a:rPr>
              <a:t>然后，为这个结构赋值，比如：</a:t>
            </a:r>
          </a:p>
          <a:p>
            <a:pPr lvl="2" eaLnBrk="1" hangingPunct="1">
              <a:lnSpc>
                <a:spcPct val="150000"/>
              </a:lnSpc>
              <a:buFont typeface="Wingdings" panose="05000000000000000000" pitchFamily="2" charset="2"/>
              <a:buNone/>
            </a:pPr>
            <a:r>
              <a:rPr lang="en-US" altLang="zh-CN" kern="1200">
                <a:solidFill>
                  <a:srgbClr val="000000"/>
                </a:solidFill>
                <a:latin typeface="微软雅黑" panose="020B0503020204020204" pitchFamily="34" charset="-122"/>
                <a:ea typeface="微软雅黑" panose="020B0503020204020204" pitchFamily="34" charset="-122"/>
                <a:cs typeface="+mn-cs"/>
              </a:rPr>
              <a:t>mysocket.sin_family=AF_INET;</a:t>
            </a:r>
            <a:endParaRPr lang="en-US" altLang="zh-CN" kern="1200">
              <a:latin typeface="微软雅黑" panose="020B0503020204020204" pitchFamily="34" charset="-122"/>
              <a:ea typeface="微软雅黑" panose="020B0503020204020204" pitchFamily="34" charset="-122"/>
              <a:cs typeface="+mn-cs"/>
            </a:endParaRPr>
          </a:p>
          <a:p>
            <a:pPr lvl="2" eaLnBrk="1" hangingPunct="1">
              <a:lnSpc>
                <a:spcPct val="150000"/>
              </a:lnSpc>
              <a:buFont typeface="Wingdings" panose="05000000000000000000" pitchFamily="2" charset="2"/>
              <a:buNone/>
            </a:pPr>
            <a:r>
              <a:rPr lang="en-US" altLang="zh-CN" kern="1200">
                <a:solidFill>
                  <a:srgbClr val="000000"/>
                </a:solidFill>
                <a:latin typeface="微软雅黑" panose="020B0503020204020204" pitchFamily="34" charset="-122"/>
                <a:ea typeface="微软雅黑" panose="020B0503020204020204" pitchFamily="34" charset="-122"/>
                <a:cs typeface="+mn-cs"/>
              </a:rPr>
              <a:t>mysocket.sin_port=htons(8080); </a:t>
            </a:r>
            <a:endParaRPr lang="en-US" altLang="zh-CN" kern="1200">
              <a:latin typeface="微软雅黑" panose="020B0503020204020204" pitchFamily="34" charset="-122"/>
              <a:ea typeface="微软雅黑" panose="020B0503020204020204" pitchFamily="34" charset="-122"/>
              <a:cs typeface="+mn-cs"/>
            </a:endParaRPr>
          </a:p>
          <a:p>
            <a:pPr lvl="2" eaLnBrk="1" hangingPunct="1">
              <a:lnSpc>
                <a:spcPct val="150000"/>
              </a:lnSpc>
              <a:buFont typeface="Wingdings" panose="05000000000000000000" pitchFamily="2" charset="2"/>
              <a:buNone/>
            </a:pPr>
            <a:r>
              <a:rPr lang="en-US" altLang="zh-CN" kern="1200">
                <a:solidFill>
                  <a:srgbClr val="000000"/>
                </a:solidFill>
                <a:latin typeface="微软雅黑" panose="020B0503020204020204" pitchFamily="34" charset="-122"/>
                <a:ea typeface="微软雅黑" panose="020B0503020204020204" pitchFamily="34" charset="-122"/>
                <a:cs typeface="+mn-cs"/>
              </a:rPr>
              <a:t>mysocket.sin_addr.s_addr=inet_addr(“192.168.1.221”); </a:t>
            </a:r>
          </a:p>
          <a:p>
            <a:pPr lvl="1" eaLnBrk="1" hangingPunct="1">
              <a:lnSpc>
                <a:spcPct val="150000"/>
              </a:lnSpc>
            </a:pPr>
            <a:r>
              <a:rPr lang="zh-CN" altLang="en-US" kern="1200">
                <a:latin typeface="微软雅黑" panose="020B0503020204020204" pitchFamily="34" charset="-122"/>
                <a:ea typeface="微软雅黑" panose="020B0503020204020204" pitchFamily="34" charset="-122"/>
                <a:cs typeface="+mn-cs"/>
              </a:rPr>
              <a:t>第三步：在函数调用中使用时，将这个结构强制转换为</a:t>
            </a:r>
            <a:r>
              <a:rPr lang="en-US" altLang="zh-CN" kern="1200">
                <a:latin typeface="微软雅黑" panose="020B0503020204020204" pitchFamily="34" charset="-122"/>
                <a:ea typeface="微软雅黑" panose="020B0503020204020204" pitchFamily="34" charset="-122"/>
                <a:cs typeface="+mn-cs"/>
              </a:rPr>
              <a:t>sockaddr</a:t>
            </a:r>
            <a:r>
              <a:rPr lang="zh-CN" altLang="en-US" kern="1200">
                <a:latin typeface="微软雅黑" panose="020B0503020204020204" pitchFamily="34" charset="-122"/>
                <a:ea typeface="微软雅黑" panose="020B0503020204020204" pitchFamily="34" charset="-122"/>
                <a:cs typeface="+mn-cs"/>
              </a:rPr>
              <a:t>类型。如：</a:t>
            </a:r>
          </a:p>
          <a:p>
            <a:pPr lvl="2" eaLnBrk="1" hangingPunct="1">
              <a:lnSpc>
                <a:spcPct val="150000"/>
              </a:lnSpc>
              <a:buFont typeface="Wingdings" panose="05000000000000000000" pitchFamily="2" charset="2"/>
              <a:buNone/>
            </a:pPr>
            <a:r>
              <a:rPr lang="en-US" altLang="zh-CN" kern="1200">
                <a:solidFill>
                  <a:srgbClr val="000000"/>
                </a:solidFill>
                <a:latin typeface="微软雅黑" panose="020B0503020204020204" pitchFamily="34" charset="-122"/>
                <a:ea typeface="微软雅黑" panose="020B0503020204020204" pitchFamily="34" charset="-122"/>
                <a:cs typeface="+mn-cs"/>
              </a:rPr>
              <a:t>accept(listenfd,(sockaddr*)(&amp; mysocket),&amp;addrlen);</a:t>
            </a:r>
            <a:endParaRPr lang="zh-CN" altLang="en-US" kern="1200">
              <a:solidFill>
                <a:srgbClr val="000000"/>
              </a:solidFill>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zh-CN" altLang="en-US" sz="2000" kern="1200">
                <a:solidFill>
                  <a:srgbClr val="0070C0"/>
                </a:solidFill>
                <a:latin typeface="微软雅黑" panose="020B0503020204020204" pitchFamily="34" charset="-122"/>
                <a:ea typeface="微软雅黑" panose="020B0503020204020204" pitchFamily="34" charset="-122"/>
                <a:cs typeface="+mj-cs"/>
              </a:rPr>
              <a:t>本机字节顺序与网络字节顺序</a:t>
            </a:r>
          </a:p>
        </p:txBody>
      </p:sp>
      <p:sp>
        <p:nvSpPr>
          <p:cNvPr id="69634" name="Rectangle 3"/>
          <p:cNvSpPr>
            <a:spLocks noGrp="1"/>
          </p:cNvSpPr>
          <p:nvPr>
            <p:ph idx="1" hasCustomPrompt="1"/>
          </p:nvPr>
        </p:nvSpPr>
        <p:spPr>
          <a:xfrm>
            <a:off x="460375" y="639763"/>
            <a:ext cx="8183563" cy="1247775"/>
          </a:xfrm>
          <a:ln/>
        </p:spPr>
        <p:txBody>
          <a:bodyPr vert="horz" wrap="square" lIns="91440" tIns="45720" rIns="91440" bIns="45720" anchor="t" anchorCtr="0"/>
          <a:lstStyle/>
          <a:p>
            <a:r>
              <a:rPr lang="zh-CN" altLang="en-US" kern="1200">
                <a:latin typeface="微软雅黑" panose="020B0503020204020204" pitchFamily="34" charset="-122"/>
                <a:ea typeface="微软雅黑" panose="020B0503020204020204" pitchFamily="34" charset="-122"/>
                <a:cs typeface="+mn-cs"/>
              </a:rPr>
              <a:t>网络中存在多种类型的机器，这些不同类型的机器表示数据的字节顺序是不同的。</a:t>
            </a:r>
          </a:p>
          <a:p>
            <a:pPr lvl="1"/>
            <a:r>
              <a:rPr lang="zh-CN" altLang="en-US" kern="1200">
                <a:latin typeface="微软雅黑" panose="020B0503020204020204" pitchFamily="34" charset="-122"/>
                <a:ea typeface="微软雅黑" panose="020B0503020204020204" pitchFamily="34" charset="-122"/>
                <a:cs typeface="+mn-cs"/>
              </a:rPr>
              <a:t>以</a:t>
            </a:r>
            <a:r>
              <a:rPr lang="en-US" altLang="zh-CN" kern="1200">
                <a:latin typeface="微软雅黑" panose="020B0503020204020204" pitchFamily="34" charset="-122"/>
                <a:ea typeface="微软雅黑" panose="020B0503020204020204" pitchFamily="34" charset="-122"/>
                <a:cs typeface="+mn-cs"/>
              </a:rPr>
              <a:t>16</a:t>
            </a:r>
            <a:r>
              <a:rPr lang="zh-CN" altLang="en-US" kern="1200">
                <a:latin typeface="微软雅黑" panose="020B0503020204020204" pitchFamily="34" charset="-122"/>
                <a:ea typeface="微软雅黑" panose="020B0503020204020204" pitchFamily="34" charset="-122"/>
                <a:cs typeface="+mn-cs"/>
              </a:rPr>
              <a:t>进制数</a:t>
            </a:r>
            <a:r>
              <a:rPr lang="en-US" altLang="zh-CN" kern="1200">
                <a:latin typeface="微软雅黑" panose="020B0503020204020204" pitchFamily="34" charset="-122"/>
                <a:ea typeface="微软雅黑" panose="020B0503020204020204" pitchFamily="34" charset="-122"/>
                <a:cs typeface="+mn-cs"/>
              </a:rPr>
              <a:t>308A</a:t>
            </a:r>
            <a:r>
              <a:rPr lang="zh-CN" altLang="en-US" kern="1200">
                <a:latin typeface="微软雅黑" panose="020B0503020204020204" pitchFamily="34" charset="-122"/>
                <a:ea typeface="微软雅黑" panose="020B0503020204020204" pitchFamily="34" charset="-122"/>
                <a:cs typeface="+mn-cs"/>
              </a:rPr>
              <a:t>，在内存地址</a:t>
            </a:r>
            <a:r>
              <a:rPr lang="en-US" altLang="zh-CN" kern="1200">
                <a:latin typeface="微软雅黑" panose="020B0503020204020204" pitchFamily="34" charset="-122"/>
                <a:ea typeface="微软雅黑" panose="020B0503020204020204" pitchFamily="34" charset="-122"/>
                <a:cs typeface="+mn-cs"/>
              </a:rPr>
              <a:t>0x1000</a:t>
            </a:r>
            <a:r>
              <a:rPr lang="zh-CN" altLang="en-US" kern="1200">
                <a:latin typeface="微软雅黑" panose="020B0503020204020204" pitchFamily="34" charset="-122"/>
                <a:ea typeface="微软雅黑" panose="020B0503020204020204" pitchFamily="34" charset="-122"/>
                <a:cs typeface="+mn-cs"/>
              </a:rPr>
              <a:t>的存储为例</a:t>
            </a:r>
          </a:p>
        </p:txBody>
      </p:sp>
      <p:sp>
        <p:nvSpPr>
          <p:cNvPr id="75777"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48</a:t>
            </a:fld>
            <a:endParaRPr lang="en-US" altLang="zh-CN" sz="1000">
              <a:latin typeface="Arial" panose="020B0604020202090204" pitchFamily="34" charset="0"/>
              <a:ea typeface="宋体" panose="02010600030101010101" pitchFamily="2" charset="-122"/>
            </a:endParaRPr>
          </a:p>
        </p:txBody>
      </p:sp>
      <p:sp>
        <p:nvSpPr>
          <p:cNvPr id="1981444" name="Rectangle 4"/>
          <p:cNvSpPr>
            <a:spLocks noChangeArrowheads="1"/>
          </p:cNvSpPr>
          <p:nvPr/>
        </p:nvSpPr>
        <p:spPr bwMode="auto">
          <a:xfrm>
            <a:off x="2870200" y="2120900"/>
            <a:ext cx="981075" cy="495300"/>
          </a:xfrm>
          <a:prstGeom prst="rect">
            <a:avLst/>
          </a:prstGeom>
          <a:noFill/>
          <a:ln w="9525" algn="ctr">
            <a:solidFill>
              <a:schemeClr val="tx1"/>
            </a:solidFill>
            <a:miter lim="800000"/>
          </a:ln>
          <a:effectLst/>
        </p:spPr>
        <p:txBody>
          <a:bodyPr wrap="none" lIns="69056" tIns="34529" rIns="69056" bIns="34529" anchor="ctr"/>
          <a:lstStyle>
            <a:lvl1pPr marL="285750" indent="-285750">
              <a:spcBef>
                <a:spcPct val="0"/>
              </a:spcBef>
              <a:defRPr kumimoji="1" sz="2400">
                <a:solidFill>
                  <a:schemeClr val="tx1"/>
                </a:solidFill>
                <a:latin typeface="Times New Roman" panose="02020503050405090304" pitchFamily="18" charset="0"/>
                <a:ea typeface="宋体" panose="02010600030101010101" pitchFamily="2" charset="-122"/>
              </a:defRPr>
            </a:lvl1pPr>
            <a:lvl2pPr>
              <a:spcBef>
                <a:spcPct val="0"/>
              </a:spcBef>
              <a:defRPr kumimoji="1" sz="2400">
                <a:solidFill>
                  <a:schemeClr val="tx1"/>
                </a:solidFill>
                <a:latin typeface="Times New Roman" panose="02020503050405090304" pitchFamily="18" charset="0"/>
                <a:ea typeface="宋体" panose="02010600030101010101" pitchFamily="2" charset="-122"/>
              </a:defRPr>
            </a:lvl2pPr>
            <a:lvl3pPr>
              <a:spcBef>
                <a:spcPct val="0"/>
              </a:spcBef>
              <a:defRPr kumimoji="1" sz="2400">
                <a:solidFill>
                  <a:schemeClr val="tx1"/>
                </a:solidFill>
                <a:latin typeface="Times New Roman" panose="02020503050405090304" pitchFamily="18" charset="0"/>
                <a:ea typeface="宋体" panose="02010600030101010101" pitchFamily="2" charset="-122"/>
              </a:defRPr>
            </a:lvl3pPr>
            <a:lvl4pPr>
              <a:spcBef>
                <a:spcPct val="0"/>
              </a:spcBef>
              <a:defRPr kumimoji="1" sz="2400">
                <a:solidFill>
                  <a:schemeClr val="tx1"/>
                </a:solidFill>
                <a:latin typeface="Times New Roman" panose="02020503050405090304" pitchFamily="18" charset="0"/>
                <a:ea typeface="宋体" panose="02010600030101010101" pitchFamily="2" charset="-122"/>
              </a:defRPr>
            </a:lvl4pPr>
            <a:lvl5pPr>
              <a:spcBef>
                <a:spcPct val="0"/>
              </a:spcBef>
              <a:defRPr kumimoji="1" sz="2400">
                <a:solidFill>
                  <a:schemeClr val="tx1"/>
                </a:solidFill>
                <a:latin typeface="Times New Roman" panose="0202050305040509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9pPr>
          </a:lstStyle>
          <a:p>
            <a:pPr marL="285750" marR="0" lvl="0" indent="-285750" algn="ctr" defTabSz="914400" rtl="0" eaLnBrk="0" fontAlgn="base" latinLnBrk="0" hangingPunct="0">
              <a:lnSpc>
                <a:spcPct val="100000"/>
              </a:lnSpc>
              <a:spcBef>
                <a:spcPct val="15000"/>
              </a:spcBef>
              <a:spcAft>
                <a:spcPct val="0"/>
              </a:spcAft>
              <a:buClrTx/>
              <a:buSzTx/>
              <a:buFontTx/>
              <a:buNone/>
              <a:defRPr/>
            </a:pPr>
            <a:r>
              <a:rPr kumimoji="1" lang="en-US" altLang="zh-CN" sz="18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902030302020204" pitchFamily="66" charset="0"/>
                <a:ea typeface="黑体" panose="02010600030101010101" pitchFamily="49" charset="-122"/>
                <a:cs typeface="+mn-cs"/>
              </a:rPr>
              <a:t>30</a:t>
            </a:r>
          </a:p>
        </p:txBody>
      </p:sp>
      <p:sp>
        <p:nvSpPr>
          <p:cNvPr id="1981445" name="Rectangle 5"/>
          <p:cNvSpPr>
            <a:spLocks noChangeArrowheads="1"/>
          </p:cNvSpPr>
          <p:nvPr/>
        </p:nvSpPr>
        <p:spPr bwMode="auto">
          <a:xfrm>
            <a:off x="2870200" y="2616200"/>
            <a:ext cx="981075" cy="495300"/>
          </a:xfrm>
          <a:prstGeom prst="rect">
            <a:avLst/>
          </a:prstGeom>
          <a:noFill/>
          <a:ln w="9525" algn="ctr">
            <a:solidFill>
              <a:schemeClr val="tx1"/>
            </a:solidFill>
            <a:miter lim="800000"/>
          </a:ln>
          <a:effectLst/>
        </p:spPr>
        <p:txBody>
          <a:bodyPr wrap="none" lIns="69056" tIns="34529" rIns="69056" bIns="34529" anchor="ctr"/>
          <a:lstStyle>
            <a:lvl1pPr marL="285750" indent="-285750">
              <a:spcBef>
                <a:spcPct val="0"/>
              </a:spcBef>
              <a:defRPr kumimoji="1" sz="2400">
                <a:solidFill>
                  <a:schemeClr val="tx1"/>
                </a:solidFill>
                <a:latin typeface="Times New Roman" panose="02020503050405090304" pitchFamily="18" charset="0"/>
                <a:ea typeface="宋体" panose="02010600030101010101" pitchFamily="2" charset="-122"/>
              </a:defRPr>
            </a:lvl1pPr>
            <a:lvl2pPr>
              <a:spcBef>
                <a:spcPct val="0"/>
              </a:spcBef>
              <a:defRPr kumimoji="1" sz="2400">
                <a:solidFill>
                  <a:schemeClr val="tx1"/>
                </a:solidFill>
                <a:latin typeface="Times New Roman" panose="02020503050405090304" pitchFamily="18" charset="0"/>
                <a:ea typeface="宋体" panose="02010600030101010101" pitchFamily="2" charset="-122"/>
              </a:defRPr>
            </a:lvl2pPr>
            <a:lvl3pPr>
              <a:spcBef>
                <a:spcPct val="0"/>
              </a:spcBef>
              <a:defRPr kumimoji="1" sz="2400">
                <a:solidFill>
                  <a:schemeClr val="tx1"/>
                </a:solidFill>
                <a:latin typeface="Times New Roman" panose="02020503050405090304" pitchFamily="18" charset="0"/>
                <a:ea typeface="宋体" panose="02010600030101010101" pitchFamily="2" charset="-122"/>
              </a:defRPr>
            </a:lvl3pPr>
            <a:lvl4pPr>
              <a:spcBef>
                <a:spcPct val="0"/>
              </a:spcBef>
              <a:defRPr kumimoji="1" sz="2400">
                <a:solidFill>
                  <a:schemeClr val="tx1"/>
                </a:solidFill>
                <a:latin typeface="Times New Roman" panose="02020503050405090304" pitchFamily="18" charset="0"/>
                <a:ea typeface="宋体" panose="02010600030101010101" pitchFamily="2" charset="-122"/>
              </a:defRPr>
            </a:lvl4pPr>
            <a:lvl5pPr>
              <a:spcBef>
                <a:spcPct val="0"/>
              </a:spcBef>
              <a:defRPr kumimoji="1" sz="2400">
                <a:solidFill>
                  <a:schemeClr val="tx1"/>
                </a:solidFill>
                <a:latin typeface="Times New Roman" panose="0202050305040509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9pPr>
          </a:lstStyle>
          <a:p>
            <a:pPr marL="285750" marR="0" lvl="0" indent="-285750" algn="ctr" defTabSz="914400" rtl="0" eaLnBrk="0" fontAlgn="base" latinLnBrk="0" hangingPunct="0">
              <a:lnSpc>
                <a:spcPct val="100000"/>
              </a:lnSpc>
              <a:spcBef>
                <a:spcPct val="15000"/>
              </a:spcBef>
              <a:spcAft>
                <a:spcPct val="0"/>
              </a:spcAft>
              <a:buClrTx/>
              <a:buSzTx/>
              <a:buFontTx/>
              <a:buNone/>
              <a:defRPr/>
            </a:pPr>
            <a:r>
              <a:rPr kumimoji="1" lang="en-US" altLang="zh-CN" sz="18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902030302020204" pitchFamily="66" charset="0"/>
                <a:ea typeface="黑体" panose="02010600030101010101" pitchFamily="49" charset="-122"/>
                <a:cs typeface="+mn-cs"/>
              </a:rPr>
              <a:t>8A</a:t>
            </a:r>
          </a:p>
        </p:txBody>
      </p:sp>
      <p:sp>
        <p:nvSpPr>
          <p:cNvPr id="1981446" name="Rectangle 6"/>
          <p:cNvSpPr>
            <a:spLocks noChangeArrowheads="1"/>
          </p:cNvSpPr>
          <p:nvPr/>
        </p:nvSpPr>
        <p:spPr bwMode="auto">
          <a:xfrm>
            <a:off x="5651500" y="2616200"/>
            <a:ext cx="981075" cy="495300"/>
          </a:xfrm>
          <a:prstGeom prst="rect">
            <a:avLst/>
          </a:prstGeom>
          <a:noFill/>
          <a:ln w="9525" algn="ctr">
            <a:solidFill>
              <a:schemeClr val="tx1"/>
            </a:solidFill>
            <a:miter lim="800000"/>
          </a:ln>
          <a:effectLst/>
        </p:spPr>
        <p:txBody>
          <a:bodyPr wrap="none" lIns="69056" tIns="34529" rIns="69056" bIns="34529" anchor="ctr"/>
          <a:lstStyle>
            <a:lvl1pPr marL="285750" indent="-285750">
              <a:spcBef>
                <a:spcPct val="0"/>
              </a:spcBef>
              <a:defRPr kumimoji="1" sz="2400">
                <a:solidFill>
                  <a:schemeClr val="tx1"/>
                </a:solidFill>
                <a:latin typeface="Times New Roman" panose="02020503050405090304" pitchFamily="18" charset="0"/>
                <a:ea typeface="宋体" panose="02010600030101010101" pitchFamily="2" charset="-122"/>
              </a:defRPr>
            </a:lvl1pPr>
            <a:lvl2pPr>
              <a:spcBef>
                <a:spcPct val="0"/>
              </a:spcBef>
              <a:defRPr kumimoji="1" sz="2400">
                <a:solidFill>
                  <a:schemeClr val="tx1"/>
                </a:solidFill>
                <a:latin typeface="Times New Roman" panose="02020503050405090304" pitchFamily="18" charset="0"/>
                <a:ea typeface="宋体" panose="02010600030101010101" pitchFamily="2" charset="-122"/>
              </a:defRPr>
            </a:lvl2pPr>
            <a:lvl3pPr>
              <a:spcBef>
                <a:spcPct val="0"/>
              </a:spcBef>
              <a:defRPr kumimoji="1" sz="2400">
                <a:solidFill>
                  <a:schemeClr val="tx1"/>
                </a:solidFill>
                <a:latin typeface="Times New Roman" panose="02020503050405090304" pitchFamily="18" charset="0"/>
                <a:ea typeface="宋体" panose="02010600030101010101" pitchFamily="2" charset="-122"/>
              </a:defRPr>
            </a:lvl3pPr>
            <a:lvl4pPr>
              <a:spcBef>
                <a:spcPct val="0"/>
              </a:spcBef>
              <a:defRPr kumimoji="1" sz="2400">
                <a:solidFill>
                  <a:schemeClr val="tx1"/>
                </a:solidFill>
                <a:latin typeface="Times New Roman" panose="02020503050405090304" pitchFamily="18" charset="0"/>
                <a:ea typeface="宋体" panose="02010600030101010101" pitchFamily="2" charset="-122"/>
              </a:defRPr>
            </a:lvl4pPr>
            <a:lvl5pPr>
              <a:spcBef>
                <a:spcPct val="0"/>
              </a:spcBef>
              <a:defRPr kumimoji="1" sz="2400">
                <a:solidFill>
                  <a:schemeClr val="tx1"/>
                </a:solidFill>
                <a:latin typeface="Times New Roman" panose="0202050305040509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9pPr>
          </a:lstStyle>
          <a:p>
            <a:pPr marL="285750" marR="0" lvl="0" indent="-285750" algn="ctr" defTabSz="914400" rtl="0" eaLnBrk="0" fontAlgn="base" latinLnBrk="0" hangingPunct="0">
              <a:lnSpc>
                <a:spcPct val="100000"/>
              </a:lnSpc>
              <a:spcBef>
                <a:spcPct val="15000"/>
              </a:spcBef>
              <a:spcAft>
                <a:spcPct val="0"/>
              </a:spcAft>
              <a:buClrTx/>
              <a:buSzTx/>
              <a:buFontTx/>
              <a:buNone/>
              <a:defRPr/>
            </a:pPr>
            <a:r>
              <a:rPr kumimoji="1" lang="en-US" altLang="zh-CN" sz="18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902030302020204" pitchFamily="66" charset="0"/>
                <a:ea typeface="黑体" panose="02010600030101010101" pitchFamily="49" charset="-122"/>
                <a:cs typeface="+mn-cs"/>
              </a:rPr>
              <a:t>30</a:t>
            </a:r>
          </a:p>
        </p:txBody>
      </p:sp>
      <p:sp>
        <p:nvSpPr>
          <p:cNvPr id="1981447" name="Rectangle 7"/>
          <p:cNvSpPr>
            <a:spLocks noChangeArrowheads="1"/>
          </p:cNvSpPr>
          <p:nvPr/>
        </p:nvSpPr>
        <p:spPr bwMode="auto">
          <a:xfrm>
            <a:off x="5651500" y="2120900"/>
            <a:ext cx="981075" cy="495300"/>
          </a:xfrm>
          <a:prstGeom prst="rect">
            <a:avLst/>
          </a:prstGeom>
          <a:noFill/>
          <a:ln w="9525" algn="ctr">
            <a:solidFill>
              <a:schemeClr val="tx1"/>
            </a:solidFill>
            <a:miter lim="800000"/>
          </a:ln>
          <a:effectLst/>
        </p:spPr>
        <p:txBody>
          <a:bodyPr wrap="none" lIns="69056" tIns="34529" rIns="69056" bIns="34529" anchor="ctr"/>
          <a:lstStyle>
            <a:lvl1pPr marL="285750" indent="-285750">
              <a:spcBef>
                <a:spcPct val="0"/>
              </a:spcBef>
              <a:defRPr kumimoji="1" sz="2400">
                <a:solidFill>
                  <a:schemeClr val="tx1"/>
                </a:solidFill>
                <a:latin typeface="Times New Roman" panose="02020503050405090304" pitchFamily="18" charset="0"/>
                <a:ea typeface="宋体" panose="02010600030101010101" pitchFamily="2" charset="-122"/>
              </a:defRPr>
            </a:lvl1pPr>
            <a:lvl2pPr>
              <a:spcBef>
                <a:spcPct val="0"/>
              </a:spcBef>
              <a:defRPr kumimoji="1" sz="2400">
                <a:solidFill>
                  <a:schemeClr val="tx1"/>
                </a:solidFill>
                <a:latin typeface="Times New Roman" panose="02020503050405090304" pitchFamily="18" charset="0"/>
                <a:ea typeface="宋体" panose="02010600030101010101" pitchFamily="2" charset="-122"/>
              </a:defRPr>
            </a:lvl2pPr>
            <a:lvl3pPr>
              <a:spcBef>
                <a:spcPct val="0"/>
              </a:spcBef>
              <a:defRPr kumimoji="1" sz="2400">
                <a:solidFill>
                  <a:schemeClr val="tx1"/>
                </a:solidFill>
                <a:latin typeface="Times New Roman" panose="02020503050405090304" pitchFamily="18" charset="0"/>
                <a:ea typeface="宋体" panose="02010600030101010101" pitchFamily="2" charset="-122"/>
              </a:defRPr>
            </a:lvl3pPr>
            <a:lvl4pPr>
              <a:spcBef>
                <a:spcPct val="0"/>
              </a:spcBef>
              <a:defRPr kumimoji="1" sz="2400">
                <a:solidFill>
                  <a:schemeClr val="tx1"/>
                </a:solidFill>
                <a:latin typeface="Times New Roman" panose="02020503050405090304" pitchFamily="18" charset="0"/>
                <a:ea typeface="宋体" panose="02010600030101010101" pitchFamily="2" charset="-122"/>
              </a:defRPr>
            </a:lvl4pPr>
            <a:lvl5pPr>
              <a:spcBef>
                <a:spcPct val="0"/>
              </a:spcBef>
              <a:defRPr kumimoji="1" sz="2400">
                <a:solidFill>
                  <a:schemeClr val="tx1"/>
                </a:solidFill>
                <a:latin typeface="Times New Roman" panose="0202050305040509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9pPr>
          </a:lstStyle>
          <a:p>
            <a:pPr marL="285750" marR="0" lvl="0" indent="-285750" algn="ctr" defTabSz="914400" rtl="0" eaLnBrk="0" fontAlgn="base" latinLnBrk="0" hangingPunct="0">
              <a:lnSpc>
                <a:spcPct val="100000"/>
              </a:lnSpc>
              <a:spcBef>
                <a:spcPct val="15000"/>
              </a:spcBef>
              <a:spcAft>
                <a:spcPct val="0"/>
              </a:spcAft>
              <a:buClrTx/>
              <a:buSzTx/>
              <a:buFontTx/>
              <a:buNone/>
              <a:defRPr/>
            </a:pPr>
            <a:r>
              <a:rPr kumimoji="1" lang="en-US" altLang="zh-CN" sz="1800" b="0" i="0" u="none" strike="noStrike" kern="1200" cap="none" spc="0" normalizeH="0" baseline="0" noProof="0">
                <a:ln>
                  <a:noFill/>
                </a:ln>
                <a:solidFill>
                  <a:srgbClr val="339933"/>
                </a:solidFill>
                <a:effectLst>
                  <a:outerShdw blurRad="38100" dist="38100" dir="2700000" algn="tl">
                    <a:srgbClr val="C0C0C0"/>
                  </a:outerShdw>
                </a:effectLst>
                <a:uLnTx/>
                <a:uFillTx/>
                <a:latin typeface="Comic Sans MS" panose="030F0902030302020204" pitchFamily="66" charset="0"/>
                <a:ea typeface="黑体" panose="02010600030101010101" pitchFamily="49" charset="-122"/>
                <a:cs typeface="+mn-cs"/>
              </a:rPr>
              <a:t>8A</a:t>
            </a:r>
          </a:p>
        </p:txBody>
      </p:sp>
      <p:sp>
        <p:nvSpPr>
          <p:cNvPr id="1981449" name="Text Box 9"/>
          <p:cNvSpPr txBox="1">
            <a:spLocks noChangeArrowheads="1"/>
          </p:cNvSpPr>
          <p:nvPr/>
        </p:nvSpPr>
        <p:spPr bwMode="auto">
          <a:xfrm>
            <a:off x="1849438" y="2728913"/>
            <a:ext cx="1127125" cy="346075"/>
          </a:xfrm>
          <a:prstGeom prst="rect">
            <a:avLst/>
          </a:prstGeom>
          <a:noFill/>
          <a:ln>
            <a:noFill/>
          </a:ln>
          <a:effectLst/>
        </p:spPr>
        <p:txBody>
          <a:bodyPr lIns="69056" tIns="34529" rIns="69056" bIns="34529">
            <a:spAutoFit/>
          </a:bodyPr>
          <a:lstStyle>
            <a:lvl1pPr>
              <a:spcBef>
                <a:spcPct val="0"/>
              </a:spcBef>
              <a:defRPr kumimoji="1" sz="2400">
                <a:solidFill>
                  <a:schemeClr val="tx1"/>
                </a:solidFill>
                <a:latin typeface="Times New Roman" panose="02020503050405090304" pitchFamily="18" charset="0"/>
                <a:ea typeface="宋体" panose="02010600030101010101" pitchFamily="2" charset="-122"/>
              </a:defRPr>
            </a:lvl1pPr>
            <a:lvl2pPr marL="922655">
              <a:spcBef>
                <a:spcPct val="0"/>
              </a:spcBef>
              <a:defRPr kumimoji="1" sz="2400">
                <a:solidFill>
                  <a:schemeClr val="tx1"/>
                </a:solidFill>
                <a:latin typeface="Times New Roman" panose="02020503050405090304" pitchFamily="18" charset="0"/>
                <a:ea typeface="宋体" panose="02010600030101010101" pitchFamily="2" charset="-122"/>
              </a:defRPr>
            </a:lvl2pPr>
            <a:lvl3pPr marL="1101725">
              <a:spcBef>
                <a:spcPct val="0"/>
              </a:spcBef>
              <a:defRPr kumimoji="1" sz="2400">
                <a:solidFill>
                  <a:schemeClr val="tx1"/>
                </a:solidFill>
                <a:latin typeface="Times New Roman" panose="02020503050405090304" pitchFamily="18" charset="0"/>
                <a:ea typeface="宋体" panose="02010600030101010101" pitchFamily="2" charset="-122"/>
              </a:defRPr>
            </a:lvl3pPr>
            <a:lvl4pPr>
              <a:spcBef>
                <a:spcPct val="0"/>
              </a:spcBef>
              <a:defRPr kumimoji="1" sz="2400">
                <a:solidFill>
                  <a:schemeClr val="tx1"/>
                </a:solidFill>
                <a:latin typeface="Times New Roman" panose="02020503050405090304" pitchFamily="18" charset="0"/>
                <a:ea typeface="宋体" panose="02010600030101010101" pitchFamily="2" charset="-122"/>
              </a:defRPr>
            </a:lvl4pPr>
            <a:lvl5pPr>
              <a:spcBef>
                <a:spcPct val="0"/>
              </a:spcBef>
              <a:defRPr kumimoji="1" sz="2400">
                <a:solidFill>
                  <a:schemeClr val="tx1"/>
                </a:solidFill>
                <a:latin typeface="Times New Roman" panose="0202050305040509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15000"/>
              </a:spcBef>
              <a:spcAft>
                <a:spcPct val="0"/>
              </a:spcAft>
              <a:buClrTx/>
              <a:buSzTx/>
              <a:buFontTx/>
              <a:buNone/>
              <a:defRPr/>
            </a:pPr>
            <a:r>
              <a:rPr kumimoji="1" lang="en-US" altLang="zh-CN" sz="1800" b="0" i="0" u="none" strike="noStrike" kern="1200" cap="none" spc="0" normalizeH="0" baseline="0" noProof="0">
                <a:ln>
                  <a:noFill/>
                </a:ln>
                <a:solidFill>
                  <a:srgbClr val="000099"/>
                </a:solidFill>
                <a:effectLst>
                  <a:outerShdw blurRad="38100" dist="38100" dir="2700000" algn="tl">
                    <a:srgbClr val="C0C0C0"/>
                  </a:outerShdw>
                </a:effectLst>
                <a:uLnTx/>
                <a:uFillTx/>
                <a:latin typeface="Comic Sans MS" panose="030F0902030302020204" pitchFamily="66" charset="0"/>
                <a:ea typeface="黑体" panose="02010600030101010101" pitchFamily="49" charset="-122"/>
                <a:cs typeface="+mn-cs"/>
              </a:rPr>
              <a:t>0x1000</a:t>
            </a:r>
          </a:p>
        </p:txBody>
      </p:sp>
      <p:sp>
        <p:nvSpPr>
          <p:cNvPr id="1981450" name="Text Box 10"/>
          <p:cNvSpPr txBox="1">
            <a:spLocks noChangeArrowheads="1"/>
          </p:cNvSpPr>
          <p:nvPr/>
        </p:nvSpPr>
        <p:spPr bwMode="auto">
          <a:xfrm>
            <a:off x="4659313" y="2700338"/>
            <a:ext cx="1127125" cy="346075"/>
          </a:xfrm>
          <a:prstGeom prst="rect">
            <a:avLst/>
          </a:prstGeom>
          <a:noFill/>
          <a:ln>
            <a:noFill/>
          </a:ln>
          <a:effectLst/>
        </p:spPr>
        <p:txBody>
          <a:bodyPr lIns="69056" tIns="34529" rIns="69056" bIns="34529">
            <a:spAutoFit/>
          </a:bodyPr>
          <a:lstStyle>
            <a:lvl1pPr>
              <a:spcBef>
                <a:spcPct val="0"/>
              </a:spcBef>
              <a:defRPr kumimoji="1" sz="2400">
                <a:solidFill>
                  <a:schemeClr val="tx1"/>
                </a:solidFill>
                <a:latin typeface="Times New Roman" panose="02020503050405090304" pitchFamily="18" charset="0"/>
                <a:ea typeface="宋体" panose="02010600030101010101" pitchFamily="2" charset="-122"/>
              </a:defRPr>
            </a:lvl1pPr>
            <a:lvl2pPr marL="922655">
              <a:spcBef>
                <a:spcPct val="0"/>
              </a:spcBef>
              <a:defRPr kumimoji="1" sz="2400">
                <a:solidFill>
                  <a:schemeClr val="tx1"/>
                </a:solidFill>
                <a:latin typeface="Times New Roman" panose="02020503050405090304" pitchFamily="18" charset="0"/>
                <a:ea typeface="宋体" panose="02010600030101010101" pitchFamily="2" charset="-122"/>
              </a:defRPr>
            </a:lvl2pPr>
            <a:lvl3pPr marL="1101725">
              <a:spcBef>
                <a:spcPct val="0"/>
              </a:spcBef>
              <a:defRPr kumimoji="1" sz="2400">
                <a:solidFill>
                  <a:schemeClr val="tx1"/>
                </a:solidFill>
                <a:latin typeface="Times New Roman" panose="02020503050405090304" pitchFamily="18" charset="0"/>
                <a:ea typeface="宋体" panose="02010600030101010101" pitchFamily="2" charset="-122"/>
              </a:defRPr>
            </a:lvl3pPr>
            <a:lvl4pPr>
              <a:spcBef>
                <a:spcPct val="0"/>
              </a:spcBef>
              <a:defRPr kumimoji="1" sz="2400">
                <a:solidFill>
                  <a:schemeClr val="tx1"/>
                </a:solidFill>
                <a:latin typeface="Times New Roman" panose="02020503050405090304" pitchFamily="18" charset="0"/>
                <a:ea typeface="宋体" panose="02010600030101010101" pitchFamily="2" charset="-122"/>
              </a:defRPr>
            </a:lvl4pPr>
            <a:lvl5pPr>
              <a:spcBef>
                <a:spcPct val="0"/>
              </a:spcBef>
              <a:defRPr kumimoji="1" sz="2400">
                <a:solidFill>
                  <a:schemeClr val="tx1"/>
                </a:solidFill>
                <a:latin typeface="Times New Roman" panose="0202050305040509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15000"/>
              </a:spcBef>
              <a:spcAft>
                <a:spcPct val="0"/>
              </a:spcAft>
              <a:buClrTx/>
              <a:buSzTx/>
              <a:buFontTx/>
              <a:buNone/>
              <a:defRPr/>
            </a:pPr>
            <a:r>
              <a:rPr kumimoji="1" lang="en-US" altLang="zh-CN" sz="1800" b="0" i="0" u="none" strike="noStrike" kern="1200" cap="none" spc="0" normalizeH="0" baseline="0" noProof="0">
                <a:ln>
                  <a:noFill/>
                </a:ln>
                <a:solidFill>
                  <a:srgbClr val="000099"/>
                </a:solidFill>
                <a:effectLst>
                  <a:outerShdw blurRad="38100" dist="38100" dir="2700000" algn="tl">
                    <a:srgbClr val="C0C0C0"/>
                  </a:outerShdw>
                </a:effectLst>
                <a:uLnTx/>
                <a:uFillTx/>
                <a:latin typeface="Comic Sans MS" panose="030F0902030302020204" pitchFamily="66" charset="0"/>
                <a:ea typeface="黑体" panose="02010600030101010101" pitchFamily="49" charset="-122"/>
                <a:cs typeface="+mn-cs"/>
              </a:rPr>
              <a:t>0x1000</a:t>
            </a:r>
          </a:p>
        </p:txBody>
      </p:sp>
      <p:sp>
        <p:nvSpPr>
          <p:cNvPr id="1981451" name="Text Box 11"/>
          <p:cNvSpPr txBox="1">
            <a:spLocks noChangeArrowheads="1"/>
          </p:cNvSpPr>
          <p:nvPr/>
        </p:nvSpPr>
        <p:spPr bwMode="auto">
          <a:xfrm>
            <a:off x="1839913" y="2233613"/>
            <a:ext cx="1127125" cy="346075"/>
          </a:xfrm>
          <a:prstGeom prst="rect">
            <a:avLst/>
          </a:prstGeom>
          <a:noFill/>
          <a:ln>
            <a:noFill/>
          </a:ln>
          <a:effectLst/>
        </p:spPr>
        <p:txBody>
          <a:bodyPr lIns="69056" tIns="34529" rIns="69056" bIns="34529">
            <a:spAutoFit/>
          </a:bodyPr>
          <a:lstStyle>
            <a:lvl1pPr>
              <a:spcBef>
                <a:spcPct val="0"/>
              </a:spcBef>
              <a:defRPr kumimoji="1" sz="2400">
                <a:solidFill>
                  <a:schemeClr val="tx1"/>
                </a:solidFill>
                <a:latin typeface="Times New Roman" panose="02020503050405090304" pitchFamily="18" charset="0"/>
                <a:ea typeface="宋体" panose="02010600030101010101" pitchFamily="2" charset="-122"/>
              </a:defRPr>
            </a:lvl1pPr>
            <a:lvl2pPr marL="922655">
              <a:spcBef>
                <a:spcPct val="0"/>
              </a:spcBef>
              <a:defRPr kumimoji="1" sz="2400">
                <a:solidFill>
                  <a:schemeClr val="tx1"/>
                </a:solidFill>
                <a:latin typeface="Times New Roman" panose="02020503050405090304" pitchFamily="18" charset="0"/>
                <a:ea typeface="宋体" panose="02010600030101010101" pitchFamily="2" charset="-122"/>
              </a:defRPr>
            </a:lvl2pPr>
            <a:lvl3pPr marL="1101725">
              <a:spcBef>
                <a:spcPct val="0"/>
              </a:spcBef>
              <a:defRPr kumimoji="1" sz="2400">
                <a:solidFill>
                  <a:schemeClr val="tx1"/>
                </a:solidFill>
                <a:latin typeface="Times New Roman" panose="02020503050405090304" pitchFamily="18" charset="0"/>
                <a:ea typeface="宋体" panose="02010600030101010101" pitchFamily="2" charset="-122"/>
              </a:defRPr>
            </a:lvl3pPr>
            <a:lvl4pPr>
              <a:spcBef>
                <a:spcPct val="0"/>
              </a:spcBef>
              <a:defRPr kumimoji="1" sz="2400">
                <a:solidFill>
                  <a:schemeClr val="tx1"/>
                </a:solidFill>
                <a:latin typeface="Times New Roman" panose="02020503050405090304" pitchFamily="18" charset="0"/>
                <a:ea typeface="宋体" panose="02010600030101010101" pitchFamily="2" charset="-122"/>
              </a:defRPr>
            </a:lvl4pPr>
            <a:lvl5pPr>
              <a:spcBef>
                <a:spcPct val="0"/>
              </a:spcBef>
              <a:defRPr kumimoji="1" sz="2400">
                <a:solidFill>
                  <a:schemeClr val="tx1"/>
                </a:solidFill>
                <a:latin typeface="Times New Roman" panose="0202050305040509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15000"/>
              </a:spcBef>
              <a:spcAft>
                <a:spcPct val="0"/>
              </a:spcAft>
              <a:buClrTx/>
              <a:buSzTx/>
              <a:buFontTx/>
              <a:buNone/>
              <a:defRPr/>
            </a:pPr>
            <a:r>
              <a:rPr kumimoji="1" lang="en-US" altLang="zh-CN" sz="1800" b="0" i="0" u="none" strike="noStrike" kern="1200" cap="none" spc="0" normalizeH="0" baseline="0" noProof="0">
                <a:ln>
                  <a:noFill/>
                </a:ln>
                <a:solidFill>
                  <a:srgbClr val="000099"/>
                </a:solidFill>
                <a:effectLst>
                  <a:outerShdw blurRad="38100" dist="38100" dir="2700000" algn="tl">
                    <a:srgbClr val="C0C0C0"/>
                  </a:outerShdw>
                </a:effectLst>
                <a:uLnTx/>
                <a:uFillTx/>
                <a:latin typeface="Comic Sans MS" panose="030F0902030302020204" pitchFamily="66" charset="0"/>
                <a:ea typeface="黑体" panose="02010600030101010101" pitchFamily="49" charset="-122"/>
                <a:cs typeface="+mn-cs"/>
              </a:rPr>
              <a:t>0x1001</a:t>
            </a:r>
          </a:p>
        </p:txBody>
      </p:sp>
      <p:sp>
        <p:nvSpPr>
          <p:cNvPr id="1981452" name="Text Box 12"/>
          <p:cNvSpPr txBox="1">
            <a:spLocks noChangeArrowheads="1"/>
          </p:cNvSpPr>
          <p:nvPr/>
        </p:nvSpPr>
        <p:spPr bwMode="auto">
          <a:xfrm>
            <a:off x="4649788" y="2262188"/>
            <a:ext cx="1127125" cy="346075"/>
          </a:xfrm>
          <a:prstGeom prst="rect">
            <a:avLst/>
          </a:prstGeom>
          <a:noFill/>
          <a:ln>
            <a:noFill/>
          </a:ln>
          <a:effectLst/>
        </p:spPr>
        <p:txBody>
          <a:bodyPr lIns="69056" tIns="34529" rIns="69056" bIns="34529">
            <a:spAutoFit/>
          </a:bodyPr>
          <a:lstStyle>
            <a:lvl1pPr>
              <a:spcBef>
                <a:spcPct val="0"/>
              </a:spcBef>
              <a:defRPr kumimoji="1" sz="2400">
                <a:solidFill>
                  <a:schemeClr val="tx1"/>
                </a:solidFill>
                <a:latin typeface="Times New Roman" panose="02020503050405090304" pitchFamily="18" charset="0"/>
                <a:ea typeface="宋体" panose="02010600030101010101" pitchFamily="2" charset="-122"/>
              </a:defRPr>
            </a:lvl1pPr>
            <a:lvl2pPr marL="922655">
              <a:spcBef>
                <a:spcPct val="0"/>
              </a:spcBef>
              <a:defRPr kumimoji="1" sz="2400">
                <a:solidFill>
                  <a:schemeClr val="tx1"/>
                </a:solidFill>
                <a:latin typeface="Times New Roman" panose="02020503050405090304" pitchFamily="18" charset="0"/>
                <a:ea typeface="宋体" panose="02010600030101010101" pitchFamily="2" charset="-122"/>
              </a:defRPr>
            </a:lvl2pPr>
            <a:lvl3pPr marL="1101725">
              <a:spcBef>
                <a:spcPct val="0"/>
              </a:spcBef>
              <a:defRPr kumimoji="1" sz="2400">
                <a:solidFill>
                  <a:schemeClr val="tx1"/>
                </a:solidFill>
                <a:latin typeface="Times New Roman" panose="02020503050405090304" pitchFamily="18" charset="0"/>
                <a:ea typeface="宋体" panose="02010600030101010101" pitchFamily="2" charset="-122"/>
              </a:defRPr>
            </a:lvl3pPr>
            <a:lvl4pPr>
              <a:spcBef>
                <a:spcPct val="0"/>
              </a:spcBef>
              <a:defRPr kumimoji="1" sz="2400">
                <a:solidFill>
                  <a:schemeClr val="tx1"/>
                </a:solidFill>
                <a:latin typeface="Times New Roman" panose="02020503050405090304" pitchFamily="18" charset="0"/>
                <a:ea typeface="宋体" panose="02010600030101010101" pitchFamily="2" charset="-122"/>
              </a:defRPr>
            </a:lvl4pPr>
            <a:lvl5pPr>
              <a:spcBef>
                <a:spcPct val="0"/>
              </a:spcBef>
              <a:defRPr kumimoji="1" sz="2400">
                <a:solidFill>
                  <a:schemeClr val="tx1"/>
                </a:solidFill>
                <a:latin typeface="Times New Roman" panose="0202050305040509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50305040509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15000"/>
              </a:spcBef>
              <a:spcAft>
                <a:spcPct val="0"/>
              </a:spcAft>
              <a:buClrTx/>
              <a:buSzTx/>
              <a:buFontTx/>
              <a:buNone/>
              <a:defRPr/>
            </a:pPr>
            <a:r>
              <a:rPr kumimoji="1" lang="en-US" altLang="zh-CN" sz="1800" b="0" i="0" u="none" strike="noStrike" kern="1200" cap="none" spc="0" normalizeH="0" baseline="0" noProof="0">
                <a:ln>
                  <a:noFill/>
                </a:ln>
                <a:solidFill>
                  <a:srgbClr val="000099"/>
                </a:solidFill>
                <a:effectLst>
                  <a:outerShdw blurRad="38100" dist="38100" dir="2700000" algn="tl">
                    <a:srgbClr val="C0C0C0"/>
                  </a:outerShdw>
                </a:effectLst>
                <a:uLnTx/>
                <a:uFillTx/>
                <a:latin typeface="Comic Sans MS" panose="030F0902030302020204" pitchFamily="66" charset="0"/>
                <a:ea typeface="黑体" panose="02010600030101010101" pitchFamily="49" charset="-122"/>
                <a:cs typeface="+mn-cs"/>
              </a:rPr>
              <a:t>0x1001</a:t>
            </a:r>
          </a:p>
        </p:txBody>
      </p:sp>
      <p:sp>
        <p:nvSpPr>
          <p:cNvPr id="1981453" name="Text Box 13"/>
          <p:cNvSpPr txBox="1">
            <a:spLocks noChangeArrowheads="1"/>
          </p:cNvSpPr>
          <p:nvPr/>
        </p:nvSpPr>
        <p:spPr bwMode="auto">
          <a:xfrm>
            <a:off x="2249488" y="3198813"/>
            <a:ext cx="1293813" cy="346075"/>
          </a:xfrm>
          <a:prstGeom prst="rect">
            <a:avLst/>
          </a:prstGeom>
          <a:noFill/>
          <a:ln>
            <a:noFill/>
          </a:ln>
          <a:effectLst/>
        </p:spPr>
        <p:txBody>
          <a:bodyPr wrap="none" lIns="69056" tIns="34529" rIns="69056" bIns="34529">
            <a:spAutoFit/>
          </a:bodyPr>
          <a:lstStyle/>
          <a:p>
            <a:pPr marL="285750" indent="-285750">
              <a:spcBef>
                <a:spcPct val="15000"/>
              </a:spcBef>
              <a:buNone/>
            </a:pPr>
            <a:r>
              <a:rPr lang="zh-CN" altLang="en-US">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小端字节序</a:t>
            </a:r>
          </a:p>
        </p:txBody>
      </p:sp>
      <p:sp>
        <p:nvSpPr>
          <p:cNvPr id="1981454" name="Text Box 14"/>
          <p:cNvSpPr txBox="1">
            <a:spLocks noChangeArrowheads="1"/>
          </p:cNvSpPr>
          <p:nvPr/>
        </p:nvSpPr>
        <p:spPr bwMode="auto">
          <a:xfrm>
            <a:off x="4935538" y="3208338"/>
            <a:ext cx="1293813" cy="346075"/>
          </a:xfrm>
          <a:prstGeom prst="rect">
            <a:avLst/>
          </a:prstGeom>
          <a:noFill/>
          <a:ln>
            <a:noFill/>
          </a:ln>
          <a:effectLst/>
        </p:spPr>
        <p:txBody>
          <a:bodyPr wrap="none" lIns="69056" tIns="34529" rIns="69056" bIns="34529">
            <a:spAutoFit/>
          </a:bodyPr>
          <a:lstStyle/>
          <a:p>
            <a:pPr marL="285750" indent="-285750">
              <a:spcBef>
                <a:spcPct val="15000"/>
              </a:spcBef>
              <a:buNone/>
            </a:pPr>
            <a:r>
              <a:rPr lang="zh-CN" altLang="en-US">
                <a:solidFill>
                  <a:srgbClr val="339933"/>
                </a:solidFill>
                <a:effectLst>
                  <a:outerShdw blurRad="38100" dist="38100" dir="2700000">
                    <a:srgbClr val="C0C0C0"/>
                  </a:outerShdw>
                </a:effectLst>
                <a:latin typeface="Comic Sans MS" panose="030F0902030302020204" pitchFamily="66" charset="0"/>
                <a:ea typeface="黑体" panose="02010600030101010101" pitchFamily="49" charset="-122"/>
              </a:rPr>
              <a:t>大端字节序</a:t>
            </a:r>
          </a:p>
        </p:txBody>
      </p:sp>
      <p:sp>
        <p:nvSpPr>
          <p:cNvPr id="1981455" name="Text Box 15"/>
          <p:cNvSpPr txBox="1">
            <a:spLocks noChangeArrowheads="1"/>
          </p:cNvSpPr>
          <p:nvPr/>
        </p:nvSpPr>
        <p:spPr bwMode="auto">
          <a:xfrm>
            <a:off x="460375" y="3614738"/>
            <a:ext cx="8345488" cy="900113"/>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lIns="69056" tIns="34529" rIns="69056" bIns="34529">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a:buNone/>
            </a:pPr>
            <a:r>
              <a:rPr lang="zh-CN" altLang="en-US">
                <a:solidFill>
                  <a:schemeClr val="bg1"/>
                </a:solidFill>
                <a:effectLst>
                  <a:outerShdw blurRad="38100" dist="38100" dir="2700000">
                    <a:srgbClr val="C0C0C0"/>
                  </a:outerShdw>
                </a:effectLst>
                <a:latin typeface="微软雅黑" panose="020B0503020204020204" pitchFamily="34" charset="-122"/>
                <a:ea typeface="微软雅黑" panose="020B0503020204020204" pitchFamily="34" charset="-122"/>
              </a:rPr>
              <a:t>网络协议中的数据采用统一的网络字节顺序，因为只有采用统一的字节顺序，才能在不同类型的硬件设备之间正确的发送和接收数据。广域网规定的网络字节顺序采用大端字节顺序方式。</a:t>
            </a: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zh-CN" altLang="en-US" sz="2000" kern="1200">
                <a:solidFill>
                  <a:srgbClr val="0070C0"/>
                </a:solidFill>
                <a:latin typeface="微软雅黑" panose="020B0503020204020204" pitchFamily="34" charset="-122"/>
                <a:ea typeface="微软雅黑" panose="020B0503020204020204" pitchFamily="34" charset="-122"/>
                <a:cs typeface="+mj-cs"/>
              </a:rPr>
              <a:t>本机字节顺序与网络字节顺序</a:t>
            </a:r>
            <a:endParaRPr lang="zh-CN" altLang="zh-CN" sz="2000" kern="1200">
              <a:solidFill>
                <a:srgbClr val="0070C0"/>
              </a:solidFill>
              <a:latin typeface="微软雅黑" panose="020B0503020204020204" pitchFamily="34" charset="-122"/>
              <a:ea typeface="微软雅黑" panose="020B0503020204020204" pitchFamily="34" charset="-122"/>
              <a:cs typeface="+mj-cs"/>
            </a:endParaRPr>
          </a:p>
        </p:txBody>
      </p:sp>
      <p:sp>
        <p:nvSpPr>
          <p:cNvPr id="70658"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marL="0" indent="0"/>
            <a:r>
              <a:rPr lang="en-US" altLang="zh-CN" kern="1200">
                <a:latin typeface="微软雅黑" panose="020B0503020204020204" pitchFamily="34" charset="-122"/>
                <a:ea typeface="微软雅黑" panose="020B0503020204020204" pitchFamily="34" charset="-122"/>
                <a:cs typeface="+mn-cs"/>
              </a:rPr>
              <a:t>Linux</a:t>
            </a:r>
            <a:r>
              <a:rPr lang="zh-CN" altLang="en-US" kern="1200">
                <a:latin typeface="微软雅黑" panose="020B0503020204020204" pitchFamily="34" charset="-122"/>
                <a:ea typeface="微软雅黑" panose="020B0503020204020204" pitchFamily="34" charset="-122"/>
                <a:cs typeface="+mn-cs"/>
              </a:rPr>
              <a:t>系统提供</a:t>
            </a:r>
            <a:r>
              <a:rPr lang="en-US" altLang="zh-CN" kern="1200">
                <a:latin typeface="微软雅黑" panose="020B0503020204020204" pitchFamily="34" charset="-122"/>
                <a:ea typeface="微软雅黑" panose="020B0503020204020204" pitchFamily="34" charset="-122"/>
                <a:cs typeface="+mn-cs"/>
              </a:rPr>
              <a:t>4</a:t>
            </a:r>
            <a:r>
              <a:rPr lang="zh-CN" altLang="en-US" kern="1200">
                <a:latin typeface="微软雅黑" panose="020B0503020204020204" pitchFamily="34" charset="-122"/>
                <a:ea typeface="微软雅黑" panose="020B0503020204020204" pitchFamily="34" charset="-122"/>
                <a:cs typeface="+mn-cs"/>
              </a:rPr>
              <a:t>个函数来进行字节顺序转换：</a:t>
            </a:r>
          </a:p>
          <a:p>
            <a:pPr marL="133350" lvl="1" indent="0">
              <a:buFont typeface="Arial" panose="020B0604020202090204" pitchFamily="34" charset="0"/>
              <a:buNone/>
            </a:pPr>
            <a:endParaRPr lang="en-US" altLang="zh-CN" kern="1200">
              <a:latin typeface="微软雅黑" panose="020B0503020204020204" pitchFamily="34" charset="-122"/>
              <a:ea typeface="微软雅黑" panose="020B0503020204020204" pitchFamily="34" charset="-122"/>
              <a:cs typeface="+mn-cs"/>
            </a:endParaRPr>
          </a:p>
          <a:p>
            <a:pPr marL="133350" lvl="1" indent="0">
              <a:buFont typeface="Arial" panose="020B0604020202090204" pitchFamily="34" charset="0"/>
              <a:buNone/>
            </a:pPr>
            <a:endParaRPr lang="en-US" altLang="zh-CN" kern="1200">
              <a:latin typeface="微软雅黑" panose="020B0503020204020204" pitchFamily="34" charset="-122"/>
              <a:ea typeface="微软雅黑" panose="020B0503020204020204" pitchFamily="34" charset="-122"/>
              <a:cs typeface="+mn-cs"/>
            </a:endParaRPr>
          </a:p>
          <a:p>
            <a:pPr marL="133350" lvl="1" indent="0">
              <a:buFont typeface="Arial" panose="020B0604020202090204" pitchFamily="34" charset="0"/>
              <a:buNone/>
            </a:pPr>
            <a:endParaRPr lang="en-US" altLang="zh-CN" kern="1200">
              <a:latin typeface="微软雅黑" panose="020B0503020204020204" pitchFamily="34" charset="-122"/>
              <a:ea typeface="微软雅黑" panose="020B0503020204020204" pitchFamily="34" charset="-122"/>
              <a:cs typeface="+mn-cs"/>
            </a:endParaRPr>
          </a:p>
          <a:p>
            <a:pPr marL="133350" lvl="1" indent="0">
              <a:buFont typeface="Arial" panose="020B0604020202090204" pitchFamily="34" charset="0"/>
              <a:buNone/>
            </a:pPr>
            <a:endParaRPr lang="en-US" altLang="zh-CN" kern="1200">
              <a:latin typeface="微软雅黑" panose="020B0503020204020204" pitchFamily="34" charset="-122"/>
              <a:ea typeface="微软雅黑" panose="020B0503020204020204" pitchFamily="34" charset="-122"/>
              <a:cs typeface="+mn-cs"/>
            </a:endParaRPr>
          </a:p>
          <a:p>
            <a:pPr marL="133350" lvl="1" indent="0">
              <a:buFont typeface="Arial" panose="020B0604020202090204" pitchFamily="34" charset="0"/>
              <a:buNone/>
            </a:pPr>
            <a:r>
              <a:rPr lang="zh-CN" altLang="en-US" kern="1200">
                <a:latin typeface="微软雅黑" panose="020B0503020204020204" pitchFamily="34" charset="-122"/>
                <a:ea typeface="微软雅黑" panose="020B0503020204020204" pitchFamily="34" charset="-122"/>
                <a:cs typeface="+mn-cs"/>
              </a:rPr>
              <a:t>其中。前两个函数将主机字节顺序转换成网络字节顺序；后两个函数将网络字节顺序转换成主机字节顺序。</a:t>
            </a:r>
          </a:p>
          <a:p>
            <a:pPr marL="133350" lvl="1" indent="0">
              <a:buFont typeface="Arial" panose="020B0604020202090204" pitchFamily="34" charset="0"/>
              <a:buNone/>
            </a:pPr>
            <a:r>
              <a:rPr lang="zh-CN" altLang="en-US" kern="1200">
                <a:latin typeface="微软雅黑" panose="020B0503020204020204" pitchFamily="34" charset="-122"/>
                <a:ea typeface="微软雅黑" panose="020B0503020204020204" pitchFamily="34" charset="-122"/>
                <a:cs typeface="+mn-cs"/>
              </a:rPr>
              <a:t>在使用这些函数时，我们不关心主机或网络顺序的真实值到底是大端还是小端，只需要调用适当的函数来对给定值（函数的整型参数）进行主机字节顺序和网络字节顺序的转换，它们的返回值就是经过转换以后的结果。</a:t>
            </a:r>
          </a:p>
        </p:txBody>
      </p:sp>
      <p:sp>
        <p:nvSpPr>
          <p:cNvPr id="76801"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49</a:t>
            </a:fld>
            <a:endParaRPr lang="en-US" altLang="zh-CN" sz="1000">
              <a:latin typeface="Arial" panose="020B0604020202090204" pitchFamily="34" charset="0"/>
              <a:ea typeface="宋体" panose="02010600030101010101" pitchFamily="2" charset="-122"/>
            </a:endParaRPr>
          </a:p>
        </p:txBody>
      </p:sp>
      <p:sp>
        <p:nvSpPr>
          <p:cNvPr id="3" name="文本框 2"/>
          <p:cNvSpPr txBox="1"/>
          <p:nvPr/>
        </p:nvSpPr>
        <p:spPr>
          <a:xfrm>
            <a:off x="500063" y="1243013"/>
            <a:ext cx="7959725" cy="1477963"/>
          </a:xfrm>
          <a:prstGeom prst="rect">
            <a:avLst/>
          </a:prstGeom>
        </p:spPr>
        <p:style>
          <a:lnRef idx="2">
            <a:schemeClr val="accent2"/>
          </a:lnRef>
          <a:fillRef idx="1">
            <a:schemeClr val="lt1"/>
          </a:fillRef>
          <a:effectRef idx="0">
            <a:schemeClr val="accent2"/>
          </a:effectRef>
          <a:fontRef idx="minor">
            <a:schemeClr val="dk1"/>
          </a:fontRef>
        </p:style>
        <p:txBody>
          <a:bodyPr>
            <a:spAutoFit/>
          </a:bodyPr>
          <a:lstStyle/>
          <a:p>
            <a:pPr marL="134620" marR="0" lvl="1"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#include “</a:t>
            </a:r>
            <a:r>
              <a:rPr kumimoji="0" lang="en-US" altLang="zh-CN" sz="1800" b="0" i="0" u="none" strike="noStrike" kern="1200" cap="none" spc="0" normalizeH="0" baseline="0" noProof="0" dirty="0" err="1">
                <a:ln>
                  <a:noFill/>
                </a:ln>
                <a:solidFill>
                  <a:schemeClr val="dk1"/>
                </a:solidFill>
                <a:effectLst/>
                <a:uLnTx/>
                <a:uFillTx/>
                <a:latin typeface="Microsoft YaHei" panose="020B0503020204020204" pitchFamily="34" charset="-122"/>
                <a:ea typeface="Microsoft YaHei" panose="020B0503020204020204" pitchFamily="34" charset="-122"/>
                <a:cs typeface="+mn-cs"/>
              </a:rPr>
              <a:t>netinet</a:t>
            </a: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a:t>
            </a:r>
            <a:r>
              <a:rPr kumimoji="0" lang="en-US" altLang="zh-CN" sz="1800" b="0" i="0" u="none" strike="noStrike" kern="1200" cap="none" spc="0" normalizeH="0" baseline="0" noProof="0" dirty="0" err="1">
                <a:ln>
                  <a:noFill/>
                </a:ln>
                <a:solidFill>
                  <a:schemeClr val="dk1"/>
                </a:solidFill>
                <a:effectLst/>
                <a:uLnTx/>
                <a:uFillTx/>
                <a:latin typeface="Microsoft YaHei" panose="020B0503020204020204" pitchFamily="34" charset="-122"/>
                <a:ea typeface="Microsoft YaHei" panose="020B0503020204020204" pitchFamily="34" charset="-122"/>
                <a:cs typeface="+mn-cs"/>
              </a:rPr>
              <a:t>in.h</a:t>
            </a: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a:t>
            </a:r>
          </a:p>
          <a:p>
            <a:pPr marL="134620" marR="0" lvl="1"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unsigned short int </a:t>
            </a:r>
            <a:r>
              <a:rPr kumimoji="0" lang="en-US" altLang="zh-CN" sz="1800" b="0" i="0" u="none" strike="noStrike" kern="1200" cap="none" spc="0" normalizeH="0" baseline="0" noProof="0" dirty="0" err="1">
                <a:ln>
                  <a:noFill/>
                </a:ln>
                <a:solidFill>
                  <a:schemeClr val="dk1"/>
                </a:solidFill>
                <a:effectLst/>
                <a:uLnTx/>
                <a:uFillTx/>
                <a:latin typeface="Microsoft YaHei" panose="020B0503020204020204" pitchFamily="34" charset="-122"/>
                <a:ea typeface="Microsoft YaHei" panose="020B0503020204020204" pitchFamily="34" charset="-122"/>
                <a:cs typeface="+mn-cs"/>
              </a:rPr>
              <a:t>htons</a:t>
            </a: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(unsigned short int </a:t>
            </a:r>
            <a:r>
              <a:rPr kumimoji="0" lang="en-US" altLang="zh-CN" sz="1800" b="0" i="1" u="none" strike="noStrike" kern="1200" cap="none" spc="0" normalizeH="0" baseline="0" noProof="0" dirty="0" err="1">
                <a:ln>
                  <a:noFill/>
                </a:ln>
                <a:solidFill>
                  <a:schemeClr val="dk1"/>
                </a:solidFill>
                <a:effectLst/>
                <a:uLnTx/>
                <a:uFillTx/>
                <a:latin typeface="Microsoft YaHei" panose="020B0503020204020204" pitchFamily="34" charset="-122"/>
                <a:ea typeface="Microsoft YaHei" panose="020B0503020204020204" pitchFamily="34" charset="-122"/>
                <a:cs typeface="+mn-cs"/>
              </a:rPr>
              <a:t>hostshort</a:t>
            </a: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 </a:t>
            </a:r>
          </a:p>
          <a:p>
            <a:pPr marL="134620" marR="0" lvl="1"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unsigned long int </a:t>
            </a:r>
            <a:r>
              <a:rPr kumimoji="0" lang="en-US" altLang="zh-CN" sz="1800" b="0" i="0" u="none" strike="noStrike" kern="1200" cap="none" spc="0" normalizeH="0" baseline="0" noProof="0" dirty="0" err="1">
                <a:ln>
                  <a:noFill/>
                </a:ln>
                <a:solidFill>
                  <a:schemeClr val="dk1"/>
                </a:solidFill>
                <a:effectLst/>
                <a:uLnTx/>
                <a:uFillTx/>
                <a:latin typeface="Microsoft YaHei" panose="020B0503020204020204" pitchFamily="34" charset="-122"/>
                <a:ea typeface="Microsoft YaHei" panose="020B0503020204020204" pitchFamily="34" charset="-122"/>
                <a:cs typeface="+mn-cs"/>
              </a:rPr>
              <a:t>htonl</a:t>
            </a: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(unsigned long int </a:t>
            </a:r>
            <a:r>
              <a:rPr kumimoji="0" lang="en-US" altLang="zh-CN" sz="1800" b="0" i="1" u="none" strike="noStrike" kern="1200" cap="none" spc="0" normalizeH="0" baseline="0" noProof="0" dirty="0" err="1">
                <a:ln>
                  <a:noFill/>
                </a:ln>
                <a:solidFill>
                  <a:schemeClr val="dk1"/>
                </a:solidFill>
                <a:effectLst/>
                <a:uLnTx/>
                <a:uFillTx/>
                <a:latin typeface="Microsoft YaHei" panose="020B0503020204020204" pitchFamily="34" charset="-122"/>
                <a:ea typeface="Microsoft YaHei" panose="020B0503020204020204" pitchFamily="34" charset="-122"/>
                <a:cs typeface="+mn-cs"/>
              </a:rPr>
              <a:t>hostlong</a:t>
            </a: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a:t>
            </a:r>
          </a:p>
          <a:p>
            <a:pPr marL="134620" marR="0" lvl="1"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unsigned short int </a:t>
            </a:r>
            <a:r>
              <a:rPr kumimoji="0" lang="en-US" altLang="zh-CN" sz="1800" b="0" i="0" u="none" strike="noStrike" kern="1200" cap="none" spc="0" normalizeH="0" baseline="0" noProof="0" dirty="0" err="1">
                <a:ln>
                  <a:noFill/>
                </a:ln>
                <a:solidFill>
                  <a:schemeClr val="dk1"/>
                </a:solidFill>
                <a:effectLst/>
                <a:uLnTx/>
                <a:uFillTx/>
                <a:latin typeface="Microsoft YaHei" panose="020B0503020204020204" pitchFamily="34" charset="-122"/>
                <a:ea typeface="Microsoft YaHei" panose="020B0503020204020204" pitchFamily="34" charset="-122"/>
                <a:cs typeface="+mn-cs"/>
              </a:rPr>
              <a:t>ntohs</a:t>
            </a: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(unsigned short int </a:t>
            </a:r>
            <a:r>
              <a:rPr kumimoji="0" lang="en-US" altLang="zh-CN" sz="1800" b="0" i="1" u="none" strike="noStrike" kern="1200" cap="none" spc="0" normalizeH="0" baseline="0" noProof="0" dirty="0" err="1">
                <a:ln>
                  <a:noFill/>
                </a:ln>
                <a:solidFill>
                  <a:schemeClr val="dk1"/>
                </a:solidFill>
                <a:effectLst/>
                <a:uLnTx/>
                <a:uFillTx/>
                <a:latin typeface="Microsoft YaHei" panose="020B0503020204020204" pitchFamily="34" charset="-122"/>
                <a:ea typeface="Microsoft YaHei" panose="020B0503020204020204" pitchFamily="34" charset="-122"/>
                <a:cs typeface="+mn-cs"/>
              </a:rPr>
              <a:t>netshort</a:t>
            </a: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a:t>
            </a:r>
          </a:p>
          <a:p>
            <a:pPr marL="134620" marR="0" lvl="1"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unsigned long int </a:t>
            </a:r>
            <a:r>
              <a:rPr kumimoji="0" lang="en-US" altLang="zh-CN" sz="1800" b="0" i="0" u="none" strike="noStrike" kern="1200" cap="none" spc="0" normalizeH="0" baseline="0" noProof="0" dirty="0" err="1">
                <a:ln>
                  <a:noFill/>
                </a:ln>
                <a:solidFill>
                  <a:schemeClr val="dk1"/>
                </a:solidFill>
                <a:effectLst/>
                <a:uLnTx/>
                <a:uFillTx/>
                <a:latin typeface="Microsoft YaHei" panose="020B0503020204020204" pitchFamily="34" charset="-122"/>
                <a:ea typeface="Microsoft YaHei" panose="020B0503020204020204" pitchFamily="34" charset="-122"/>
                <a:cs typeface="+mn-cs"/>
              </a:rPr>
              <a:t>ntohl</a:t>
            </a: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(unsigned long int </a:t>
            </a:r>
            <a:r>
              <a:rPr kumimoji="0" lang="en-US" altLang="zh-CN" sz="1800" b="0" i="1" u="none" strike="noStrike" kern="1200" cap="none" spc="0" normalizeH="0" baseline="0" noProof="0" dirty="0" err="1">
                <a:ln>
                  <a:noFill/>
                </a:ln>
                <a:solidFill>
                  <a:schemeClr val="dk1"/>
                </a:solidFill>
                <a:effectLst/>
                <a:uLnTx/>
                <a:uFillTx/>
                <a:latin typeface="Microsoft YaHei" panose="020B0503020204020204" pitchFamily="34" charset="-122"/>
                <a:ea typeface="Microsoft YaHei" panose="020B0503020204020204" pitchFamily="34" charset="-122"/>
                <a:cs typeface="+mn-cs"/>
              </a:rPr>
              <a:t>netlong</a:t>
            </a:r>
            <a:r>
              <a:rPr kumimoji="0" lang="en-US" altLang="zh-CN" sz="1800" b="0" i="0" u="none" strike="noStrike" kern="1200" cap="none" spc="0" normalizeH="0" baseline="0" noProof="0" dirty="0">
                <a:ln>
                  <a:noFill/>
                </a:ln>
                <a:solidFill>
                  <a:schemeClr val="dk1"/>
                </a:solidFill>
                <a:effectLst/>
                <a:uLnTx/>
                <a:uFillTx/>
                <a:latin typeface="Microsoft YaHei" panose="020B0503020204020204" pitchFamily="34" charset="-122"/>
                <a:ea typeface="Microsoft YaHei" panose="020B0503020204020204" pitchFamily="34" charset="-122"/>
                <a:cs typeface="+mn-cs"/>
              </a:rPr>
              <a:t>);</a:t>
            </a: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en-US" altLang="zh-CN" sz="2000" kern="1200">
                <a:solidFill>
                  <a:srgbClr val="0070C0"/>
                </a:solidFill>
                <a:latin typeface="微软雅黑" panose="020B0503020204020204" pitchFamily="34" charset="-122"/>
                <a:ea typeface="微软雅黑" panose="020B0503020204020204" pitchFamily="34" charset="-122"/>
                <a:cs typeface="+mj-cs"/>
              </a:rPr>
              <a:t>IP</a:t>
            </a:r>
            <a:r>
              <a:rPr lang="zh-CN" altLang="en-US" sz="2000" kern="1200">
                <a:solidFill>
                  <a:srgbClr val="0070C0"/>
                </a:solidFill>
                <a:latin typeface="微软雅黑" panose="020B0503020204020204" pitchFamily="34" charset="-122"/>
                <a:ea typeface="微软雅黑" panose="020B0503020204020204" pitchFamily="34" charset="-122"/>
                <a:cs typeface="+mj-cs"/>
              </a:rPr>
              <a:t>地址转换函数</a:t>
            </a:r>
          </a:p>
        </p:txBody>
      </p:sp>
      <p:sp>
        <p:nvSpPr>
          <p:cNvPr id="71682"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marL="268605" lvl="2" indent="0">
              <a:buFont typeface="Arial" panose="020B0604020202090204" pitchFamily="34" charset="0"/>
              <a:buNone/>
            </a:pPr>
            <a:r>
              <a:rPr lang="en-US" altLang="zh-CN" sz="2400" kern="1200">
                <a:latin typeface="微软雅黑" panose="020B0503020204020204" pitchFamily="34" charset="-122"/>
                <a:ea typeface="微软雅黑" panose="020B0503020204020204" pitchFamily="34" charset="-122"/>
                <a:cs typeface="+mn-cs"/>
              </a:rPr>
              <a:t>unsigned long inet_addr(const char *cp);</a:t>
            </a:r>
          </a:p>
          <a:p>
            <a:pPr marL="268605" lvl="2" indent="0">
              <a:buFont typeface="Arial" panose="020B0604020202090204" pitchFamily="34" charset="0"/>
              <a:buNone/>
            </a:pPr>
            <a:r>
              <a:rPr lang="en-US" altLang="zh-CN" sz="2400" kern="1200">
                <a:solidFill>
                  <a:srgbClr val="CC00CC"/>
                </a:solidFill>
                <a:latin typeface="微软雅黑" panose="020B0503020204020204" pitchFamily="34" charset="-122"/>
                <a:ea typeface="微软雅黑" panose="020B0503020204020204" pitchFamily="34" charset="-122"/>
                <a:cs typeface="+mn-cs"/>
              </a:rPr>
              <a:t>inet_addr</a:t>
            </a:r>
            <a:r>
              <a:rPr lang="zh-CN" altLang="en-US" sz="2400" kern="1200">
                <a:solidFill>
                  <a:srgbClr val="CC00CC"/>
                </a:solidFill>
                <a:latin typeface="微软雅黑" panose="020B0503020204020204" pitchFamily="34" charset="-122"/>
                <a:ea typeface="微软雅黑" panose="020B0503020204020204" pitchFamily="34" charset="-122"/>
                <a:cs typeface="+mn-cs"/>
              </a:rPr>
              <a:t>将一个点分十进制</a:t>
            </a:r>
            <a:r>
              <a:rPr lang="en-US" altLang="zh-CN" sz="2400" kern="1200">
                <a:solidFill>
                  <a:srgbClr val="CC00CC"/>
                </a:solidFill>
                <a:latin typeface="微软雅黑" panose="020B0503020204020204" pitchFamily="34" charset="-122"/>
                <a:ea typeface="微软雅黑" panose="020B0503020204020204" pitchFamily="34" charset="-122"/>
                <a:cs typeface="+mn-cs"/>
              </a:rPr>
              <a:t>IP</a:t>
            </a:r>
            <a:r>
              <a:rPr lang="zh-CN" altLang="en-US" sz="2400" kern="1200">
                <a:solidFill>
                  <a:srgbClr val="CC00CC"/>
                </a:solidFill>
                <a:latin typeface="微软雅黑" panose="020B0503020204020204" pitchFamily="34" charset="-122"/>
                <a:ea typeface="微软雅黑" panose="020B0503020204020204" pitchFamily="34" charset="-122"/>
                <a:cs typeface="+mn-cs"/>
              </a:rPr>
              <a:t>地址字符串转换成</a:t>
            </a:r>
            <a:r>
              <a:rPr lang="en-US" altLang="zh-CN" sz="2400" kern="1200">
                <a:solidFill>
                  <a:srgbClr val="CC00CC"/>
                </a:solidFill>
                <a:latin typeface="微软雅黑" panose="020B0503020204020204" pitchFamily="34" charset="-122"/>
                <a:ea typeface="微软雅黑" panose="020B0503020204020204" pitchFamily="34" charset="-122"/>
                <a:cs typeface="+mn-cs"/>
              </a:rPr>
              <a:t>32</a:t>
            </a:r>
            <a:r>
              <a:rPr lang="zh-CN" altLang="en-US" sz="2400" kern="1200">
                <a:solidFill>
                  <a:srgbClr val="CC00CC"/>
                </a:solidFill>
                <a:latin typeface="微软雅黑" panose="020B0503020204020204" pitchFamily="34" charset="-122"/>
                <a:ea typeface="微软雅黑" panose="020B0503020204020204" pitchFamily="34" charset="-122"/>
                <a:cs typeface="+mn-cs"/>
              </a:rPr>
              <a:t>位数字表示的</a:t>
            </a:r>
            <a:r>
              <a:rPr lang="en-US" altLang="zh-CN" sz="2400" kern="1200">
                <a:solidFill>
                  <a:srgbClr val="CC00CC"/>
                </a:solidFill>
                <a:latin typeface="微软雅黑" panose="020B0503020204020204" pitchFamily="34" charset="-122"/>
                <a:ea typeface="微软雅黑" panose="020B0503020204020204" pitchFamily="34" charset="-122"/>
                <a:cs typeface="+mn-cs"/>
              </a:rPr>
              <a:t>IP</a:t>
            </a:r>
            <a:r>
              <a:rPr lang="zh-CN" altLang="en-US" sz="2400" kern="1200">
                <a:solidFill>
                  <a:srgbClr val="CC00CC"/>
                </a:solidFill>
                <a:latin typeface="微软雅黑" panose="020B0503020204020204" pitchFamily="34" charset="-122"/>
                <a:ea typeface="微软雅黑" panose="020B0503020204020204" pitchFamily="34" charset="-122"/>
                <a:cs typeface="+mn-cs"/>
              </a:rPr>
              <a:t>地址（网络字节顺序）。</a:t>
            </a:r>
          </a:p>
          <a:p>
            <a:pPr marL="268605" lvl="2" indent="0">
              <a:buFont typeface="Arial" panose="020B0604020202090204" pitchFamily="34" charset="0"/>
              <a:buNone/>
            </a:pPr>
            <a:endParaRPr lang="zh-CN" altLang="en-US" sz="2400" kern="1200">
              <a:latin typeface="微软雅黑" panose="020B0503020204020204" pitchFamily="34" charset="-122"/>
              <a:ea typeface="微软雅黑" panose="020B0503020204020204" pitchFamily="34" charset="-122"/>
              <a:cs typeface="+mn-cs"/>
            </a:endParaRPr>
          </a:p>
          <a:p>
            <a:pPr marL="268605" lvl="2" indent="0">
              <a:buFont typeface="Arial" panose="020B0604020202090204" pitchFamily="34" charset="0"/>
              <a:buNone/>
            </a:pPr>
            <a:r>
              <a:rPr lang="en-US" altLang="zh-CN" sz="2400" kern="1200">
                <a:latin typeface="微软雅黑" panose="020B0503020204020204" pitchFamily="34" charset="-122"/>
                <a:ea typeface="微软雅黑" panose="020B0503020204020204" pitchFamily="34" charset="-122"/>
                <a:cs typeface="+mn-cs"/>
              </a:rPr>
              <a:t>char *inet_ntoa(struct in_addr in);</a:t>
            </a:r>
          </a:p>
          <a:p>
            <a:pPr marL="268605" lvl="2" indent="0">
              <a:buFont typeface="Arial" panose="020B0604020202090204" pitchFamily="34" charset="0"/>
              <a:buNone/>
            </a:pPr>
            <a:r>
              <a:rPr lang="en-US" altLang="zh-CN" sz="2400" kern="1200">
                <a:solidFill>
                  <a:srgbClr val="CC00CC"/>
                </a:solidFill>
                <a:latin typeface="微软雅黑" panose="020B0503020204020204" pitchFamily="34" charset="-122"/>
                <a:ea typeface="微软雅黑" panose="020B0503020204020204" pitchFamily="34" charset="-122"/>
                <a:cs typeface="+mn-cs"/>
              </a:rPr>
              <a:t>inet_ntoa</a:t>
            </a:r>
            <a:r>
              <a:rPr lang="zh-CN" altLang="en-US" sz="2400" kern="1200">
                <a:solidFill>
                  <a:srgbClr val="CC00CC"/>
                </a:solidFill>
                <a:latin typeface="微软雅黑" panose="020B0503020204020204" pitchFamily="34" charset="-122"/>
                <a:ea typeface="微软雅黑" panose="020B0503020204020204" pitchFamily="34" charset="-122"/>
                <a:cs typeface="+mn-cs"/>
              </a:rPr>
              <a:t>将一个</a:t>
            </a:r>
            <a:r>
              <a:rPr lang="en-US" altLang="zh-CN" sz="2400" kern="1200">
                <a:solidFill>
                  <a:srgbClr val="CC00CC"/>
                </a:solidFill>
                <a:latin typeface="微软雅黑" panose="020B0503020204020204" pitchFamily="34" charset="-122"/>
                <a:ea typeface="微软雅黑" panose="020B0503020204020204" pitchFamily="34" charset="-122"/>
                <a:cs typeface="+mn-cs"/>
              </a:rPr>
              <a:t>32</a:t>
            </a:r>
            <a:r>
              <a:rPr lang="zh-CN" altLang="en-US" sz="2400" kern="1200">
                <a:solidFill>
                  <a:srgbClr val="CC00CC"/>
                </a:solidFill>
                <a:latin typeface="微软雅黑" panose="020B0503020204020204" pitchFamily="34" charset="-122"/>
                <a:ea typeface="微软雅黑" panose="020B0503020204020204" pitchFamily="34" charset="-122"/>
                <a:cs typeface="+mn-cs"/>
              </a:rPr>
              <a:t>位数字表示的</a:t>
            </a:r>
            <a:r>
              <a:rPr lang="en-US" altLang="zh-CN" sz="2400" kern="1200">
                <a:solidFill>
                  <a:srgbClr val="CC00CC"/>
                </a:solidFill>
                <a:latin typeface="微软雅黑" panose="020B0503020204020204" pitchFamily="34" charset="-122"/>
                <a:ea typeface="微软雅黑" panose="020B0503020204020204" pitchFamily="34" charset="-122"/>
                <a:cs typeface="+mn-cs"/>
              </a:rPr>
              <a:t>IP</a:t>
            </a:r>
            <a:r>
              <a:rPr lang="zh-CN" altLang="en-US" sz="2400" kern="1200">
                <a:solidFill>
                  <a:srgbClr val="CC00CC"/>
                </a:solidFill>
                <a:latin typeface="微软雅黑" panose="020B0503020204020204" pitchFamily="34" charset="-122"/>
                <a:ea typeface="微软雅黑" panose="020B0503020204020204" pitchFamily="34" charset="-122"/>
                <a:cs typeface="+mn-cs"/>
              </a:rPr>
              <a:t>地址转换成点分十进制</a:t>
            </a:r>
            <a:r>
              <a:rPr lang="en-US" altLang="zh-CN" sz="2400" kern="1200">
                <a:solidFill>
                  <a:srgbClr val="CC00CC"/>
                </a:solidFill>
                <a:latin typeface="微软雅黑" panose="020B0503020204020204" pitchFamily="34" charset="-122"/>
                <a:ea typeface="微软雅黑" panose="020B0503020204020204" pitchFamily="34" charset="-122"/>
                <a:cs typeface="+mn-cs"/>
              </a:rPr>
              <a:t>IP</a:t>
            </a:r>
            <a:r>
              <a:rPr lang="zh-CN" altLang="en-US" sz="2400" kern="1200">
                <a:solidFill>
                  <a:srgbClr val="CC00CC"/>
                </a:solidFill>
                <a:latin typeface="微软雅黑" panose="020B0503020204020204" pitchFamily="34" charset="-122"/>
                <a:ea typeface="微软雅黑" panose="020B0503020204020204" pitchFamily="34" charset="-122"/>
                <a:cs typeface="+mn-cs"/>
              </a:rPr>
              <a:t>地址字符串。</a:t>
            </a:r>
          </a:p>
          <a:p>
            <a:pPr marL="268605" lvl="2" indent="0">
              <a:buFont typeface="Arial" panose="020B0604020202090204" pitchFamily="34" charset="0"/>
              <a:buNone/>
            </a:pPr>
            <a:endParaRPr lang="zh-CN" altLang="en-US" sz="2400" kern="1200">
              <a:solidFill>
                <a:srgbClr val="CC00CC"/>
              </a:solidFill>
              <a:latin typeface="微软雅黑" panose="020B0503020204020204" pitchFamily="34" charset="-122"/>
              <a:ea typeface="微软雅黑" panose="020B0503020204020204" pitchFamily="34" charset="-122"/>
              <a:cs typeface="+mn-cs"/>
            </a:endParaRPr>
          </a:p>
          <a:p>
            <a:pPr marL="268605" lvl="2" indent="0">
              <a:buFont typeface="Arial" panose="020B0604020202090204" pitchFamily="34" charset="0"/>
              <a:buNone/>
            </a:pPr>
            <a:endParaRPr lang="zh-CN" altLang="en-US" sz="2400" kern="1200">
              <a:latin typeface="微软雅黑" panose="020B0503020204020204" pitchFamily="34" charset="-122"/>
              <a:ea typeface="微软雅黑" panose="020B0503020204020204" pitchFamily="34" charset="-122"/>
              <a:cs typeface="+mn-cs"/>
            </a:endParaRPr>
          </a:p>
        </p:txBody>
      </p:sp>
      <p:sp>
        <p:nvSpPr>
          <p:cNvPr id="77825"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50</a:t>
            </a:fld>
            <a:endParaRPr lang="en-US" altLang="zh-CN" sz="1000">
              <a:latin typeface="Arial" panose="020B0604020202090204" pitchFamily="34" charset="0"/>
              <a:ea typeface="宋体" panose="02010600030101010101" pitchFamily="2" charset="-122"/>
            </a:endParaRPr>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p:cNvSpPr>
            <a:spLocks noGrp="1"/>
          </p:cNvSpPr>
          <p:nvPr>
            <p:ph type="title"/>
          </p:nvPr>
        </p:nvSpPr>
        <p:spPr>
          <a:xfrm>
            <a:off x="500063" y="87313"/>
            <a:ext cx="8169275" cy="592137"/>
          </a:xfrm>
          <a:ln/>
        </p:spPr>
        <p:txBody>
          <a:bodyPr vert="horz" wrap="square" lIns="91440" tIns="45720" rIns="91440" bIns="45720" anchor="ctr" anchorCtr="0"/>
          <a:lstStyle/>
          <a:p>
            <a:pPr eaLnBrk="1" hangingPunct="1"/>
            <a:r>
              <a:rPr lang="zh-CN" altLang="en-US" sz="2000" kern="1200">
                <a:solidFill>
                  <a:srgbClr val="0070C0"/>
                </a:solidFill>
                <a:latin typeface="微软雅黑" panose="020B0503020204020204" pitchFamily="34" charset="-122"/>
                <a:ea typeface="微软雅黑" panose="020B0503020204020204" pitchFamily="34" charset="-122"/>
                <a:cs typeface="+mj-cs"/>
              </a:rPr>
              <a:t>流式套接字（</a:t>
            </a:r>
            <a:r>
              <a:rPr lang="en-US" altLang="zh-CN" sz="2000" kern="1200">
                <a:solidFill>
                  <a:srgbClr val="0070C0"/>
                </a:solidFill>
                <a:latin typeface="微软雅黑" panose="020B0503020204020204" pitchFamily="34" charset="-122"/>
                <a:ea typeface="微软雅黑" panose="020B0503020204020204" pitchFamily="34" charset="-122"/>
                <a:cs typeface="+mj-cs"/>
              </a:rPr>
              <a:t>TCP</a:t>
            </a:r>
            <a:r>
              <a:rPr lang="zh-CN" altLang="en-US" sz="2000" kern="1200">
                <a:solidFill>
                  <a:srgbClr val="0070C0"/>
                </a:solidFill>
                <a:latin typeface="微软雅黑" panose="020B0503020204020204" pitchFamily="34" charset="-122"/>
                <a:ea typeface="微软雅黑" panose="020B0503020204020204" pitchFamily="34" charset="-122"/>
                <a:cs typeface="+mj-cs"/>
              </a:rPr>
              <a:t>套接字）工作流程</a:t>
            </a:r>
          </a:p>
        </p:txBody>
      </p:sp>
      <p:pic>
        <p:nvPicPr>
          <p:cNvPr id="72706" name="Picture 4" descr="图形2_5"/>
          <p:cNvPicPr>
            <a:picLocks noChangeAspect="1"/>
          </p:cNvPicPr>
          <p:nvPr/>
        </p:nvPicPr>
        <p:blipFill>
          <a:blip r:embed="rId2"/>
          <a:stretch>
            <a:fillRect/>
          </a:stretch>
        </p:blipFill>
        <p:spPr>
          <a:xfrm>
            <a:off x="1258888" y="555625"/>
            <a:ext cx="6335712" cy="4260850"/>
          </a:xfrm>
          <a:prstGeom prst="rect">
            <a:avLst/>
          </a:prstGeom>
          <a:noFill/>
          <a:ln w="9525">
            <a:noFill/>
          </a:ln>
        </p:spPr>
      </p:pic>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en-US"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socket</a:t>
            </a:r>
            <a:r>
              <a:rPr kumimoji="0" lang="zh-CN" altLang="en-US"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函数</a:t>
            </a:r>
            <a:endParaRPr kumimoji="0" lang="zh-CN"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endParaRPr>
          </a:p>
        </p:txBody>
      </p:sp>
      <p:sp>
        <p:nvSpPr>
          <p:cNvPr id="73730"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r>
              <a:rPr lang="zh-CN" altLang="en-US" kern="1200">
                <a:latin typeface="微软雅黑" panose="020B0503020204020204" pitchFamily="34" charset="-122"/>
                <a:ea typeface="微软雅黑" panose="020B0503020204020204" pitchFamily="34" charset="-122"/>
                <a:cs typeface="+mn-cs"/>
              </a:rPr>
              <a:t>为了执行网络输入输出，一个进程必须做的第一件事就是调用</a:t>
            </a:r>
            <a:r>
              <a:rPr lang="en-US" altLang="zh-CN" kern="1200">
                <a:latin typeface="微软雅黑" panose="020B0503020204020204" pitchFamily="34" charset="-122"/>
                <a:ea typeface="微软雅黑" panose="020B0503020204020204" pitchFamily="34" charset="-122"/>
                <a:cs typeface="+mn-cs"/>
              </a:rPr>
              <a:t>socket</a:t>
            </a:r>
            <a:r>
              <a:rPr lang="zh-CN" altLang="en-US" kern="1200">
                <a:latin typeface="微软雅黑" panose="020B0503020204020204" pitchFamily="34" charset="-122"/>
                <a:ea typeface="微软雅黑" panose="020B0503020204020204" pitchFamily="34" charset="-122"/>
                <a:cs typeface="+mn-cs"/>
              </a:rPr>
              <a:t>函数获得一个文件描述符（客户端和服务器端程序均适用） </a:t>
            </a:r>
          </a:p>
        </p:txBody>
      </p:sp>
      <p:sp>
        <p:nvSpPr>
          <p:cNvPr id="79873"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52</a:t>
            </a:fld>
            <a:endParaRPr lang="en-US" altLang="zh-CN" sz="1000">
              <a:latin typeface="Arial" panose="020B0604020202090204" pitchFamily="34" charset="0"/>
              <a:ea typeface="宋体" panose="02010600030101010101" pitchFamily="2" charset="-122"/>
            </a:endParaRPr>
          </a:p>
        </p:txBody>
      </p:sp>
      <p:sp>
        <p:nvSpPr>
          <p:cNvPr id="73732" name="Rectangle 4"/>
          <p:cNvSpPr/>
          <p:nvPr/>
        </p:nvSpPr>
        <p:spPr>
          <a:xfrm>
            <a:off x="777875" y="1646238"/>
            <a:ext cx="7250113" cy="901700"/>
          </a:xfrm>
          <a:prstGeom prst="rect">
            <a:avLst/>
          </a:prstGeom>
          <a:solidFill>
            <a:schemeClr val="accent1"/>
          </a:solidFill>
          <a:ln w="9525" cap="flat" cmpd="sng">
            <a:solidFill>
              <a:schemeClr val="tx1"/>
            </a:solidFill>
            <a:prstDash val="solid"/>
            <a:miter/>
            <a:headEnd type="none" w="med" len="med"/>
            <a:tailEnd type="none" w="med" len="med"/>
          </a:ln>
        </p:spPr>
        <p:txBody>
          <a:bodyPr lIns="69056" tIns="34529" rIns="69056" bIns="34529" anchor="ctr" anchorCtr="0">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nSpc>
                <a:spcPct val="100000"/>
              </a:lnSpc>
              <a:spcBef>
                <a:spcPct val="0"/>
              </a:spcBef>
              <a:buFontTx/>
              <a:buNone/>
            </a:pPr>
            <a:r>
              <a:rPr lang="en-US" altLang="zh-CN" sz="1800">
                <a:solidFill>
                  <a:schemeClr val="bg1"/>
                </a:solidFill>
                <a:latin typeface="Arial" panose="020B0604020202090204" pitchFamily="34" charset="0"/>
                <a:ea typeface="宋体" panose="02010600030101010101" pitchFamily="2" charset="-122"/>
              </a:rPr>
              <a:t>#include &lt;sys/socket.h&gt;</a:t>
            </a:r>
            <a:br>
              <a:rPr lang="en-US" altLang="zh-CN" sz="1800">
                <a:solidFill>
                  <a:schemeClr val="bg1"/>
                </a:solidFill>
                <a:latin typeface="Arial" panose="020B0604020202090204" pitchFamily="34" charset="0"/>
                <a:ea typeface="宋体" panose="02010600030101010101" pitchFamily="2" charset="-122"/>
              </a:rPr>
            </a:br>
            <a:r>
              <a:rPr lang="en-US" altLang="zh-CN" sz="1800">
                <a:solidFill>
                  <a:schemeClr val="bg1"/>
                </a:solidFill>
                <a:latin typeface="Arial" panose="020B0604020202090204" pitchFamily="34" charset="0"/>
                <a:ea typeface="宋体" panose="02010600030101010101" pitchFamily="2" charset="-122"/>
              </a:rPr>
              <a:t>int socket(int family,int type,int protocol); </a:t>
            </a:r>
            <a:r>
              <a:rPr lang="zh-CN" altLang="en-US" sz="1800">
                <a:solidFill>
                  <a:schemeClr val="bg1"/>
                </a:solidFill>
                <a:latin typeface="Arial" panose="020B0604020202090204" pitchFamily="34" charset="0"/>
                <a:ea typeface="宋体" panose="02010600030101010101" pitchFamily="2" charset="-122"/>
              </a:rPr>
              <a:t>　　　</a:t>
            </a:r>
            <a:br>
              <a:rPr lang="zh-CN" altLang="en-US" sz="1800">
                <a:solidFill>
                  <a:schemeClr val="bg1"/>
                </a:solidFill>
                <a:latin typeface="Arial" panose="020B0604020202090204" pitchFamily="34" charset="0"/>
                <a:ea typeface="宋体" panose="02010600030101010101" pitchFamily="2" charset="-122"/>
              </a:rPr>
            </a:br>
            <a:r>
              <a:rPr lang="zh-CN" altLang="en-US" sz="1800">
                <a:solidFill>
                  <a:schemeClr val="bg1"/>
                </a:solidFill>
                <a:latin typeface="Arial" panose="020B0604020202090204" pitchFamily="34" charset="0"/>
                <a:ea typeface="宋体" panose="02010600030101010101" pitchFamily="2" charset="-122"/>
              </a:rPr>
              <a:t>返回：非负描述字－－－成功　　　</a:t>
            </a:r>
            <a:r>
              <a:rPr lang="en-US" altLang="zh-CN" sz="1800">
                <a:solidFill>
                  <a:schemeClr val="bg1"/>
                </a:solidFill>
                <a:latin typeface="Arial" panose="020B0604020202090204" pitchFamily="34" charset="0"/>
                <a:ea typeface="宋体" panose="02010600030101010101" pitchFamily="2" charset="-122"/>
              </a:rPr>
              <a:t>-1</a:t>
            </a:r>
            <a:r>
              <a:rPr lang="zh-CN" altLang="en-US" sz="1800">
                <a:solidFill>
                  <a:schemeClr val="bg1"/>
                </a:solidFill>
                <a:latin typeface="Arial" panose="020B0604020202090204" pitchFamily="34" charset="0"/>
                <a:ea typeface="宋体" panose="02010600030101010101" pitchFamily="2" charset="-122"/>
              </a:rPr>
              <a:t>－－－失败</a:t>
            </a:r>
          </a:p>
        </p:txBody>
      </p:sp>
      <p:sp>
        <p:nvSpPr>
          <p:cNvPr id="1994757" name="Rectangle 5"/>
          <p:cNvSpPr>
            <a:spLocks noChangeArrowheads="1"/>
          </p:cNvSpPr>
          <p:nvPr/>
        </p:nvSpPr>
        <p:spPr bwMode="auto">
          <a:xfrm>
            <a:off x="604838" y="2595563"/>
            <a:ext cx="8042275" cy="2309813"/>
          </a:xfrm>
          <a:prstGeom prst="rect">
            <a:avLst/>
          </a:prstGeom>
          <a:noFill/>
          <a:ln>
            <a:noFill/>
          </a:ln>
          <a:effectLst/>
        </p:spPr>
        <p:txBody>
          <a:bodyPr lIns="69056" tIns="34529" rIns="69056" bIns="34529" anchor="ctr">
            <a:spAutoFit/>
          </a:bodyPr>
          <a:lstStyle/>
          <a:p>
            <a:pPr marL="342900" indent="-342900">
              <a:lnSpc>
                <a:spcPct val="150000"/>
              </a:lnSpc>
              <a:buAutoNum type="circleNumDbPlain"/>
            </a:pPr>
            <a:r>
              <a:rPr lang="zh-CN" altLang="en-US" sz="1600">
                <a:latin typeface="微软雅黑" panose="020B0503020204020204" pitchFamily="34" charset="-122"/>
                <a:ea typeface="微软雅黑" panose="020B0503020204020204" pitchFamily="34" charset="-122"/>
              </a:rPr>
              <a:t>第一个参数指明了协议簇，目前支持</a:t>
            </a:r>
            <a:r>
              <a:rPr lang="en-US" altLang="zh-CN" sz="1600">
                <a:latin typeface="微软雅黑" panose="020B0503020204020204" pitchFamily="34" charset="-122"/>
                <a:ea typeface="微软雅黑" panose="020B0503020204020204" pitchFamily="34" charset="-122"/>
              </a:rPr>
              <a:t>5</a:t>
            </a:r>
            <a:r>
              <a:rPr lang="zh-CN" altLang="en-US" sz="1600">
                <a:latin typeface="微软雅黑" panose="020B0503020204020204" pitchFamily="34" charset="-122"/>
                <a:ea typeface="微软雅黑" panose="020B0503020204020204" pitchFamily="34" charset="-122"/>
              </a:rPr>
              <a:t>种协议簇，最常用的有</a:t>
            </a:r>
            <a:r>
              <a:rPr lang="en-US" altLang="zh-CN" sz="1600">
                <a:latin typeface="微软雅黑" panose="020B0503020204020204" pitchFamily="34" charset="-122"/>
                <a:ea typeface="微软雅黑" panose="020B0503020204020204" pitchFamily="34" charset="-122"/>
              </a:rPr>
              <a:t>AF_INET(IPv4</a:t>
            </a:r>
            <a:r>
              <a:rPr lang="zh-CN" altLang="en-US" sz="1600">
                <a:latin typeface="微软雅黑" panose="020B0503020204020204" pitchFamily="34" charset="-122"/>
                <a:ea typeface="微软雅黑" panose="020B0503020204020204" pitchFamily="34" charset="-122"/>
              </a:rPr>
              <a:t>协议</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和</a:t>
            </a:r>
            <a:r>
              <a:rPr lang="en-US" altLang="zh-CN" sz="1600">
                <a:latin typeface="微软雅黑" panose="020B0503020204020204" pitchFamily="34" charset="-122"/>
                <a:ea typeface="微软雅黑" panose="020B0503020204020204" pitchFamily="34" charset="-122"/>
              </a:rPr>
              <a:t>AF_INET6(IPv6</a:t>
            </a:r>
            <a:r>
              <a:rPr lang="zh-CN" altLang="en-US" sz="1600">
                <a:latin typeface="微软雅黑" panose="020B0503020204020204" pitchFamily="34" charset="-122"/>
                <a:ea typeface="微软雅黑" panose="020B0503020204020204" pitchFamily="34" charset="-122"/>
              </a:rPr>
              <a:t>协议</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a:t>
            </a:r>
            <a:endParaRPr lang="en-US" altLang="zh-CN" sz="1600">
              <a:latin typeface="微软雅黑" panose="020B0503020204020204" pitchFamily="34" charset="-122"/>
              <a:ea typeface="微软雅黑" panose="020B0503020204020204" pitchFamily="34" charset="-122"/>
            </a:endParaRPr>
          </a:p>
          <a:p>
            <a:pPr marL="342900" indent="-342900">
              <a:lnSpc>
                <a:spcPct val="150000"/>
              </a:lnSpc>
              <a:buAutoNum type="circleNumDbPlain"/>
            </a:pPr>
            <a:r>
              <a:rPr lang="zh-CN" altLang="en-US" sz="1600">
                <a:latin typeface="微软雅黑" panose="020B0503020204020204" pitchFamily="34" charset="-122"/>
                <a:ea typeface="微软雅黑" panose="020B0503020204020204" pitchFamily="34" charset="-122"/>
              </a:rPr>
              <a:t>第二个参数指明套接口类型，有三种类型：</a:t>
            </a:r>
            <a:r>
              <a:rPr lang="en-US" altLang="zh-CN" sz="1600">
                <a:latin typeface="微软雅黑" panose="020B0503020204020204" pitchFamily="34" charset="-122"/>
                <a:ea typeface="微软雅黑" panose="020B0503020204020204" pitchFamily="34" charset="-122"/>
              </a:rPr>
              <a:t>SOCK_STREAM(</a:t>
            </a:r>
            <a:r>
              <a:rPr lang="zh-CN" altLang="en-US" sz="1600">
                <a:latin typeface="微软雅黑" panose="020B0503020204020204" pitchFamily="34" charset="-122"/>
                <a:ea typeface="微软雅黑" panose="020B0503020204020204" pitchFamily="34" charset="-122"/>
              </a:rPr>
              <a:t>字节流套接口</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rPr>
              <a:t>SOCK_DGRAM(</a:t>
            </a:r>
            <a:r>
              <a:rPr lang="zh-CN" altLang="en-US" sz="1600">
                <a:latin typeface="微软雅黑" panose="020B0503020204020204" pitchFamily="34" charset="-122"/>
                <a:ea typeface="微软雅黑" panose="020B0503020204020204" pitchFamily="34" charset="-122"/>
              </a:rPr>
              <a:t>数据报套接口</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和</a:t>
            </a:r>
            <a:r>
              <a:rPr lang="en-US" altLang="zh-CN" sz="1600">
                <a:latin typeface="微软雅黑" panose="020B0503020204020204" pitchFamily="34" charset="-122"/>
                <a:ea typeface="微软雅黑" panose="020B0503020204020204" pitchFamily="34" charset="-122"/>
              </a:rPr>
              <a:t>SOCK_RAW(</a:t>
            </a:r>
            <a:r>
              <a:rPr lang="zh-CN" altLang="en-US" sz="1600">
                <a:latin typeface="微软雅黑" panose="020B0503020204020204" pitchFamily="34" charset="-122"/>
                <a:ea typeface="微软雅黑" panose="020B0503020204020204" pitchFamily="34" charset="-122"/>
              </a:rPr>
              <a:t>原始套接口</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a:t>
            </a:r>
            <a:endParaRPr lang="en-US" altLang="zh-CN" sz="1600">
              <a:latin typeface="微软雅黑" panose="020B0503020204020204" pitchFamily="34" charset="-122"/>
              <a:ea typeface="微软雅黑" panose="020B0503020204020204" pitchFamily="34" charset="-122"/>
            </a:endParaRPr>
          </a:p>
          <a:p>
            <a:pPr marL="342900" indent="-342900">
              <a:lnSpc>
                <a:spcPct val="150000"/>
              </a:lnSpc>
              <a:buAutoNum type="circleNumDbPlain"/>
            </a:pPr>
            <a:r>
              <a:rPr lang="zh-CN" altLang="en-US" sz="1600">
                <a:latin typeface="微软雅黑" panose="020B0503020204020204" pitchFamily="34" charset="-122"/>
                <a:ea typeface="微软雅黑" panose="020B0503020204020204" pitchFamily="34" charset="-122"/>
              </a:rPr>
              <a:t>如果套接口类型不是原始套接口，那么第三个参数就为</a:t>
            </a:r>
            <a:r>
              <a:rPr lang="en-US" altLang="zh-CN" sz="1600">
                <a:latin typeface="微软雅黑" panose="020B0503020204020204" pitchFamily="34" charset="-122"/>
                <a:ea typeface="微软雅黑" panose="020B0503020204020204" pitchFamily="34" charset="-122"/>
              </a:rPr>
              <a:t>0</a:t>
            </a:r>
            <a:r>
              <a:rPr lang="zh-CN" altLang="en-US" sz="1600">
                <a:latin typeface="微软雅黑" panose="020B0503020204020204" pitchFamily="34" charset="-122"/>
                <a:ea typeface="微软雅黑" panose="020B0503020204020204" pitchFamily="34" charset="-122"/>
              </a:rPr>
              <a:t>。如果套接字接口是</a:t>
            </a:r>
            <a:r>
              <a:rPr lang="en-US" altLang="zh-CN" sz="1600">
                <a:latin typeface="微软雅黑" panose="020B0503020204020204" pitchFamily="34" charset="-122"/>
                <a:ea typeface="微软雅黑" panose="020B0503020204020204" pitchFamily="34" charset="-122"/>
              </a:rPr>
              <a:t>SOCK_RAW</a:t>
            </a:r>
            <a:r>
              <a:rPr lang="zh-CN" altLang="en-US" sz="1600">
                <a:latin typeface="微软雅黑" panose="020B0503020204020204" pitchFamily="34" charset="-122"/>
                <a:ea typeface="微软雅黑" panose="020B0503020204020204" pitchFamily="34" charset="-122"/>
              </a:rPr>
              <a:t>时可设置不同的值（</a:t>
            </a:r>
            <a:r>
              <a:rPr lang="en-US" altLang="zh-CN" sz="1600">
                <a:latin typeface="微软雅黑" panose="020B0503020204020204" pitchFamily="34" charset="-122"/>
                <a:ea typeface="微软雅黑" panose="020B0503020204020204" pitchFamily="34" charset="-122"/>
              </a:rPr>
              <a:t>IPPROTO_IP</a:t>
            </a:r>
            <a:r>
              <a:rPr lang="zh-CN" altLang="en-US" sz="1600">
                <a:latin typeface="微软雅黑" panose="020B0503020204020204" pitchFamily="34" charset="-122"/>
                <a:ea typeface="微软雅黑" panose="020B0503020204020204" pitchFamily="34" charset="-122"/>
              </a:rPr>
              <a:t>、</a:t>
            </a:r>
            <a:r>
              <a:rPr lang="en-US" altLang="zh-CN" sz="1600">
                <a:latin typeface="微软雅黑" panose="020B0503020204020204" pitchFamily="34" charset="-122"/>
                <a:ea typeface="微软雅黑" panose="020B0503020204020204" pitchFamily="34" charset="-122"/>
              </a:rPr>
              <a:t>IPPROTO_ICMP</a:t>
            </a:r>
            <a:r>
              <a:rPr lang="zh-CN" altLang="en-US" sz="1600">
                <a:latin typeface="微软雅黑" panose="020B0503020204020204" pitchFamily="34" charset="-122"/>
                <a:ea typeface="微软雅黑" panose="020B0503020204020204" pitchFamily="34" charset="-122"/>
              </a:rPr>
              <a:t>等）</a:t>
            </a:r>
            <a:r>
              <a:rPr lang="zh-CN" altLang="en-US" sz="1600">
                <a:effectLst>
                  <a:outerShdw blurRad="38100" dist="38100" dir="2700000">
                    <a:srgbClr val="C0C0C0"/>
                  </a:outerShdw>
                </a:effectLst>
                <a:latin typeface="微软雅黑" panose="020B0503020204020204" pitchFamily="34" charset="-122"/>
                <a:ea typeface="微软雅黑" panose="020B0503020204020204" pitchFamily="34" charset="-122"/>
              </a:rPr>
              <a:t> </a:t>
            </a:r>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en-US"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connect</a:t>
            </a:r>
            <a:r>
              <a:rPr kumimoji="0" lang="zh-CN" altLang="en-US"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函数</a:t>
            </a:r>
            <a:endParaRPr kumimoji="0" lang="zh-CN"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endParaRPr>
          </a:p>
        </p:txBody>
      </p:sp>
      <p:sp>
        <p:nvSpPr>
          <p:cNvPr id="74754"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r>
              <a:rPr lang="zh-CN" altLang="en-US" kern="1200">
                <a:latin typeface="微软雅黑" panose="020B0503020204020204" pitchFamily="34" charset="-122"/>
                <a:ea typeface="微软雅黑" panose="020B0503020204020204" pitchFamily="34" charset="-122"/>
                <a:cs typeface="+mn-cs"/>
              </a:rPr>
              <a:t>当客户端程序调用</a:t>
            </a:r>
            <a:r>
              <a:rPr lang="en-US" altLang="zh-CN" kern="1200">
                <a:latin typeface="微软雅黑" panose="020B0503020204020204" pitchFamily="34" charset="-122"/>
                <a:ea typeface="微软雅黑" panose="020B0503020204020204" pitchFamily="34" charset="-122"/>
                <a:cs typeface="+mn-cs"/>
              </a:rPr>
              <a:t>socket</a:t>
            </a:r>
            <a:r>
              <a:rPr lang="zh-CN" altLang="en-US" kern="1200">
                <a:latin typeface="微软雅黑" panose="020B0503020204020204" pitchFamily="34" charset="-122"/>
                <a:ea typeface="微软雅黑" panose="020B0503020204020204" pitchFamily="34" charset="-122"/>
                <a:cs typeface="+mn-cs"/>
              </a:rPr>
              <a:t>获得了套接字对应的文件描述符后，可以调用</a:t>
            </a:r>
            <a:r>
              <a:rPr lang="en-US" altLang="zh-CN" kern="1200">
                <a:latin typeface="微软雅黑" panose="020B0503020204020204" pitchFamily="34" charset="-122"/>
                <a:ea typeface="微软雅黑" panose="020B0503020204020204" pitchFamily="34" charset="-122"/>
                <a:cs typeface="+mn-cs"/>
              </a:rPr>
              <a:t>connect</a:t>
            </a:r>
            <a:r>
              <a:rPr lang="zh-CN" altLang="en-US" kern="1200">
                <a:latin typeface="微软雅黑" panose="020B0503020204020204" pitchFamily="34" charset="-122"/>
                <a:ea typeface="微软雅黑" panose="020B0503020204020204" pitchFamily="34" charset="-122"/>
                <a:cs typeface="+mn-cs"/>
              </a:rPr>
              <a:t>为这个套接字指明远程端的地址</a:t>
            </a:r>
            <a:endParaRPr lang="en-US" altLang="zh-CN" kern="1200">
              <a:latin typeface="微软雅黑" panose="020B0503020204020204" pitchFamily="34" charset="-122"/>
              <a:ea typeface="微软雅黑" panose="020B0503020204020204" pitchFamily="34" charset="-122"/>
              <a:cs typeface="+mn-cs"/>
            </a:endParaRPr>
          </a:p>
          <a:p>
            <a:pPr lvl="1"/>
            <a:r>
              <a:rPr lang="zh-CN" altLang="en-US" kern="1200">
                <a:latin typeface="微软雅黑" panose="020B0503020204020204" pitchFamily="34" charset="-122"/>
                <a:ea typeface="微软雅黑" panose="020B0503020204020204" pitchFamily="34" charset="-122"/>
                <a:cs typeface="+mn-cs"/>
              </a:rPr>
              <a:t>如果是字节流套接字，</a:t>
            </a:r>
            <a:r>
              <a:rPr lang="en-US" altLang="zh-CN" kern="1200">
                <a:latin typeface="微软雅黑" panose="020B0503020204020204" pitchFamily="34" charset="-122"/>
                <a:ea typeface="微软雅黑" panose="020B0503020204020204" pitchFamily="34" charset="-122"/>
                <a:cs typeface="+mn-cs"/>
              </a:rPr>
              <a:t>connect</a:t>
            </a:r>
            <a:r>
              <a:rPr lang="zh-CN" altLang="en-US" kern="1200">
                <a:latin typeface="微软雅黑" panose="020B0503020204020204" pitchFamily="34" charset="-122"/>
                <a:ea typeface="微软雅黑" panose="020B0503020204020204" pitchFamily="34" charset="-122"/>
                <a:cs typeface="+mn-cs"/>
              </a:rPr>
              <a:t>就使用三次握手建立一个连接</a:t>
            </a:r>
            <a:endParaRPr lang="en-US" altLang="zh-CN" kern="1200">
              <a:latin typeface="微软雅黑" panose="020B0503020204020204" pitchFamily="34" charset="-122"/>
              <a:ea typeface="微软雅黑" panose="020B0503020204020204" pitchFamily="34" charset="-122"/>
              <a:cs typeface="+mn-cs"/>
            </a:endParaRPr>
          </a:p>
          <a:p>
            <a:pPr lvl="1"/>
            <a:r>
              <a:rPr lang="zh-CN" altLang="en-US" kern="1200">
                <a:latin typeface="微软雅黑" panose="020B0503020204020204" pitchFamily="34" charset="-122"/>
                <a:ea typeface="微软雅黑" panose="020B0503020204020204" pitchFamily="34" charset="-122"/>
                <a:cs typeface="+mn-cs"/>
              </a:rPr>
              <a:t>如果是数据报套接字，</a:t>
            </a:r>
            <a:r>
              <a:rPr lang="en-US" altLang="zh-CN" kern="1200">
                <a:latin typeface="微软雅黑" panose="020B0503020204020204" pitchFamily="34" charset="-122"/>
                <a:ea typeface="微软雅黑" panose="020B0503020204020204" pitchFamily="34" charset="-122"/>
                <a:cs typeface="+mn-cs"/>
              </a:rPr>
              <a:t>connect</a:t>
            </a:r>
            <a:r>
              <a:rPr lang="zh-CN" altLang="en-US" kern="1200">
                <a:latin typeface="微软雅黑" panose="020B0503020204020204" pitchFamily="34" charset="-122"/>
                <a:ea typeface="微软雅黑" panose="020B0503020204020204" pitchFamily="34" charset="-122"/>
                <a:cs typeface="+mn-cs"/>
              </a:rPr>
              <a:t>仅指明远程端地址，而不向它发送任何数据</a:t>
            </a:r>
          </a:p>
        </p:txBody>
      </p:sp>
      <p:sp>
        <p:nvSpPr>
          <p:cNvPr id="80897"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53</a:t>
            </a:fld>
            <a:endParaRPr lang="en-US" altLang="zh-CN" sz="1000">
              <a:latin typeface="Arial" panose="020B0604020202090204" pitchFamily="34" charset="0"/>
              <a:ea typeface="宋体" panose="02010600030101010101" pitchFamily="2" charset="-122"/>
            </a:endParaRPr>
          </a:p>
        </p:txBody>
      </p:sp>
      <p:sp>
        <p:nvSpPr>
          <p:cNvPr id="1995780" name="Rectangle 4"/>
          <p:cNvSpPr>
            <a:spLocks noChangeArrowheads="1"/>
          </p:cNvSpPr>
          <p:nvPr/>
        </p:nvSpPr>
        <p:spPr bwMode="auto">
          <a:xfrm>
            <a:off x="1574800" y="2571750"/>
            <a:ext cx="6394450" cy="1039813"/>
          </a:xfrm>
          <a:prstGeom prst="rect">
            <a:avLst/>
          </a:prstGeom>
          <a:solidFill>
            <a:schemeClr val="accent1"/>
          </a:solidFill>
          <a:ln w="9525" algn="ctr">
            <a:solidFill>
              <a:schemeClr val="tx1"/>
            </a:solidFill>
            <a:miter lim="800000"/>
          </a:ln>
          <a:effectLst/>
        </p:spPr>
        <p:txBody>
          <a:bodyPr lIns="69056" tIns="34529" rIns="69056" bIns="34529" anchor="ctr">
            <a:spAutoFit/>
          </a:bodyPr>
          <a:lstStyle/>
          <a:p>
            <a:pPr>
              <a:buNone/>
            </a:pPr>
            <a:r>
              <a:rPr lang="en-US" altLang="zh-CN" sz="1500">
                <a:solidFill>
                  <a:schemeClr val="bg1"/>
                </a:solidFill>
                <a:effectLst>
                  <a:outerShdw blurRad="38100" dist="38100" dir="2700000">
                    <a:srgbClr val="C0C0C0"/>
                  </a:outerShdw>
                </a:effectLst>
                <a:latin typeface="Arial" panose="020B0604020202090204" pitchFamily="34" charset="0"/>
              </a:rPr>
              <a:t> </a:t>
            </a:r>
            <a:r>
              <a:rPr lang="en-US" altLang="zh-CN" sz="1500">
                <a:solidFill>
                  <a:schemeClr val="bg1"/>
                </a:solidFill>
                <a:latin typeface="Arial" panose="020B0604020202090204" pitchFamily="34" charset="0"/>
              </a:rPr>
              <a:t>#include &lt;sys/socket.h&gt;</a:t>
            </a:r>
            <a:r>
              <a:rPr lang="zh-CN" altLang="en-US" sz="1500">
                <a:solidFill>
                  <a:schemeClr val="bg1"/>
                </a:solidFill>
                <a:latin typeface="Arial" panose="020B0604020202090204" pitchFamily="34" charset="0"/>
              </a:rPr>
              <a:t>　　 　 　</a:t>
            </a:r>
            <a:br>
              <a:rPr lang="zh-CN" altLang="en-US" sz="1500">
                <a:solidFill>
                  <a:schemeClr val="bg1"/>
                </a:solidFill>
                <a:latin typeface="Arial" panose="020B0604020202090204" pitchFamily="34" charset="0"/>
              </a:rPr>
            </a:br>
            <a:r>
              <a:rPr lang="zh-CN" altLang="en-US" sz="1500">
                <a:solidFill>
                  <a:schemeClr val="bg1"/>
                </a:solidFill>
                <a:latin typeface="Arial" panose="020B0604020202090204" pitchFamily="34" charset="0"/>
              </a:rPr>
              <a:t>  </a:t>
            </a:r>
            <a:r>
              <a:rPr lang="en-US" altLang="zh-CN" sz="1500">
                <a:solidFill>
                  <a:schemeClr val="bg1"/>
                </a:solidFill>
                <a:latin typeface="Arial" panose="020B0604020202090204" pitchFamily="34" charset="0"/>
              </a:rPr>
              <a:t>int connect(int sockfd,const struct sockaddr * servaddr,socklen_t</a:t>
            </a:r>
            <a:br>
              <a:rPr lang="en-US" altLang="zh-CN" sz="1500">
                <a:solidFill>
                  <a:schemeClr val="bg1"/>
                </a:solidFill>
                <a:latin typeface="Arial" panose="020B0604020202090204" pitchFamily="34" charset="0"/>
              </a:rPr>
            </a:br>
            <a:r>
              <a:rPr lang="en-US" altLang="zh-CN" sz="1500">
                <a:solidFill>
                  <a:schemeClr val="bg1"/>
                </a:solidFill>
                <a:latin typeface="Arial" panose="020B0604020202090204" pitchFamily="34" charset="0"/>
              </a:rPr>
              <a:t> addrlen); </a:t>
            </a:r>
            <a:r>
              <a:rPr lang="zh-CN" altLang="en-US" sz="1500">
                <a:solidFill>
                  <a:schemeClr val="bg1"/>
                </a:solidFill>
                <a:latin typeface="Arial" panose="020B0604020202090204" pitchFamily="34" charset="0"/>
              </a:rPr>
              <a:t>　</a:t>
            </a:r>
            <a:br>
              <a:rPr lang="zh-CN" altLang="en-US" sz="1500">
                <a:solidFill>
                  <a:schemeClr val="bg1"/>
                </a:solidFill>
                <a:latin typeface="Arial" panose="020B0604020202090204" pitchFamily="34" charset="0"/>
              </a:rPr>
            </a:br>
            <a:r>
              <a:rPr lang="zh-CN" altLang="en-US" sz="1500">
                <a:solidFill>
                  <a:schemeClr val="bg1"/>
                </a:solidFill>
                <a:latin typeface="Arial" panose="020B0604020202090204" pitchFamily="34" charset="0"/>
              </a:rPr>
              <a:t> 返回：</a:t>
            </a:r>
            <a:r>
              <a:rPr lang="en-US" altLang="zh-CN" sz="1500">
                <a:solidFill>
                  <a:schemeClr val="bg1"/>
                </a:solidFill>
                <a:latin typeface="Arial" panose="020B0604020202090204" pitchFamily="34" charset="0"/>
              </a:rPr>
              <a:t>0</a:t>
            </a:r>
            <a:r>
              <a:rPr lang="zh-CN" altLang="en-US" sz="1500">
                <a:solidFill>
                  <a:schemeClr val="bg1"/>
                </a:solidFill>
                <a:latin typeface="Arial" panose="020B0604020202090204" pitchFamily="34" charset="0"/>
              </a:rPr>
              <a:t>－－－成功　　　</a:t>
            </a:r>
            <a:r>
              <a:rPr lang="en-US" altLang="zh-CN" sz="1500">
                <a:solidFill>
                  <a:schemeClr val="bg1"/>
                </a:solidFill>
                <a:latin typeface="Arial" panose="020B0604020202090204" pitchFamily="34" charset="0"/>
              </a:rPr>
              <a:t>-1</a:t>
            </a:r>
            <a:r>
              <a:rPr lang="zh-CN" altLang="en-US" sz="1500">
                <a:solidFill>
                  <a:schemeClr val="bg1"/>
                </a:solidFill>
                <a:latin typeface="Arial" panose="020B0604020202090204" pitchFamily="34" charset="0"/>
              </a:rPr>
              <a:t>－－－失败</a:t>
            </a:r>
            <a:r>
              <a:rPr lang="zh-CN" altLang="en-US">
                <a:effectLst>
                  <a:outerShdw blurRad="38100" dist="38100" dir="2700000">
                    <a:srgbClr val="C0C0C0"/>
                  </a:outerShdw>
                </a:effectLst>
                <a:latin typeface="Arial" panose="020B0604020202090204" pitchFamily="34" charset="0"/>
              </a:rPr>
              <a:t> </a:t>
            </a:r>
          </a:p>
        </p:txBody>
      </p:sp>
      <p:sp>
        <p:nvSpPr>
          <p:cNvPr id="1995781" name="Rectangle 5"/>
          <p:cNvSpPr>
            <a:spLocks noChangeArrowheads="1"/>
          </p:cNvSpPr>
          <p:nvPr/>
        </p:nvSpPr>
        <p:spPr bwMode="auto">
          <a:xfrm>
            <a:off x="1187450" y="3830638"/>
            <a:ext cx="7200900" cy="785813"/>
          </a:xfrm>
          <a:prstGeom prst="rect">
            <a:avLst/>
          </a:prstGeom>
          <a:noFill/>
          <a:ln>
            <a:noFill/>
          </a:ln>
          <a:effectLst/>
        </p:spPr>
        <p:txBody>
          <a:bodyPr lIns="69056" tIns="34529" rIns="69056" bIns="34529" anchor="ctr">
            <a:spAutoFit/>
          </a:bodyPr>
          <a:lstStyle/>
          <a:p>
            <a:pPr marL="342900" indent="-342900">
              <a:lnSpc>
                <a:spcPct val="150000"/>
              </a:lnSpc>
              <a:buAutoNum type="circleNumDbPlain"/>
            </a:pPr>
            <a:r>
              <a:rPr lang="zh-CN" altLang="en-US" sz="1600">
                <a:latin typeface="微软雅黑" panose="020B0503020204020204" pitchFamily="34" charset="-122"/>
                <a:ea typeface="微软雅黑" panose="020B0503020204020204" pitchFamily="34" charset="-122"/>
              </a:rPr>
              <a:t>第一个参数是</a:t>
            </a:r>
            <a:r>
              <a:rPr lang="en-US" altLang="zh-CN" sz="1600">
                <a:latin typeface="微软雅黑" panose="020B0503020204020204" pitchFamily="34" charset="-122"/>
                <a:ea typeface="微软雅黑" panose="020B0503020204020204" pitchFamily="34" charset="-122"/>
              </a:rPr>
              <a:t>socket</a:t>
            </a:r>
            <a:r>
              <a:rPr lang="zh-CN" altLang="en-US" sz="1600">
                <a:latin typeface="微软雅黑" panose="020B0503020204020204" pitchFamily="34" charset="-122"/>
                <a:ea typeface="微软雅黑" panose="020B0503020204020204" pitchFamily="34" charset="-122"/>
              </a:rPr>
              <a:t>函数返回的套接字对应的文件描述符；</a:t>
            </a:r>
            <a:endParaRPr lang="en-US" altLang="zh-CN" sz="1600">
              <a:latin typeface="微软雅黑" panose="020B0503020204020204" pitchFamily="34" charset="-122"/>
              <a:ea typeface="微软雅黑" panose="020B0503020204020204" pitchFamily="34" charset="-122"/>
            </a:endParaRPr>
          </a:p>
          <a:p>
            <a:pPr marL="342900" indent="-342900">
              <a:lnSpc>
                <a:spcPct val="150000"/>
              </a:lnSpc>
              <a:buAutoNum type="circleNumDbPlain"/>
            </a:pPr>
            <a:r>
              <a:rPr lang="zh-CN" altLang="en-US" sz="1600">
                <a:latin typeface="微软雅黑" panose="020B0503020204020204" pitchFamily="34" charset="-122"/>
                <a:ea typeface="微软雅黑" panose="020B0503020204020204" pitchFamily="34" charset="-122"/>
              </a:rPr>
              <a:t>第二和第三个参数分别是指向套接字地址结构的指针和该结构的大小。 </a:t>
            </a: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en-US"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bind</a:t>
            </a:r>
            <a:r>
              <a:rPr kumimoji="0" lang="zh-CN" altLang="en-US"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函数</a:t>
            </a:r>
            <a:endParaRPr kumimoji="0" lang="zh-CN"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endParaRPr>
          </a:p>
        </p:txBody>
      </p:sp>
      <p:sp>
        <p:nvSpPr>
          <p:cNvPr id="75778" name="Rectangle 3"/>
          <p:cNvSpPr>
            <a:spLocks noGrp="1"/>
          </p:cNvSpPr>
          <p:nvPr>
            <p:ph idx="1" hasCustomPrompt="1"/>
          </p:nvPr>
        </p:nvSpPr>
        <p:spPr>
          <a:xfrm>
            <a:off x="474663" y="641350"/>
            <a:ext cx="8185150" cy="3860800"/>
          </a:xfrm>
          <a:ln/>
        </p:spPr>
        <p:txBody>
          <a:bodyPr vert="horz" wrap="square" lIns="91440" tIns="45720" rIns="91440" bIns="45720" anchor="t" anchorCtr="0"/>
          <a:lstStyle/>
          <a:p>
            <a:r>
              <a:rPr lang="zh-CN" altLang="en-US" kern="1200">
                <a:latin typeface="微软雅黑" panose="020B0503020204020204" pitchFamily="34" charset="-122"/>
                <a:ea typeface="微软雅黑" panose="020B0503020204020204" pitchFamily="34" charset="-122"/>
                <a:cs typeface="+mn-cs"/>
              </a:rPr>
              <a:t>服务器端程序为套接字分配一个本地地址和协议端口</a:t>
            </a:r>
            <a:endParaRPr lang="en-US" altLang="zh-CN" kern="1200">
              <a:latin typeface="微软雅黑" panose="020B0503020204020204" pitchFamily="34" charset="-122"/>
              <a:ea typeface="微软雅黑" panose="020B0503020204020204" pitchFamily="34" charset="-122"/>
              <a:cs typeface="+mn-cs"/>
            </a:endParaRPr>
          </a:p>
          <a:p>
            <a:pPr lvl="1"/>
            <a:r>
              <a:rPr lang="zh-CN" altLang="en-US" kern="1200">
                <a:latin typeface="微软雅黑" panose="020B0503020204020204" pitchFamily="34" charset="-122"/>
                <a:ea typeface="微软雅黑" panose="020B0503020204020204" pitchFamily="34" charset="-122"/>
                <a:cs typeface="+mn-cs"/>
              </a:rPr>
              <a:t>对于</a:t>
            </a:r>
            <a:r>
              <a:rPr lang="en-US" altLang="zh-CN" kern="1200">
                <a:latin typeface="微软雅黑" panose="020B0503020204020204" pitchFamily="34" charset="-122"/>
                <a:ea typeface="微软雅黑" panose="020B0503020204020204" pitchFamily="34" charset="-122"/>
                <a:cs typeface="+mn-cs"/>
              </a:rPr>
              <a:t>IP</a:t>
            </a:r>
            <a:r>
              <a:rPr lang="zh-CN" altLang="en-US" kern="1200">
                <a:latin typeface="微软雅黑" panose="020B0503020204020204" pitchFamily="34" charset="-122"/>
                <a:ea typeface="微软雅黑" panose="020B0503020204020204" pitchFamily="34" charset="-122"/>
                <a:cs typeface="+mn-cs"/>
              </a:rPr>
              <a:t>协议，地址是</a:t>
            </a:r>
            <a:r>
              <a:rPr lang="en-US" altLang="zh-CN" kern="1200">
                <a:latin typeface="微软雅黑" panose="020B0503020204020204" pitchFamily="34" charset="-122"/>
                <a:ea typeface="微软雅黑" panose="020B0503020204020204" pitchFamily="34" charset="-122"/>
                <a:cs typeface="+mn-cs"/>
              </a:rPr>
              <a:t>32</a:t>
            </a:r>
            <a:r>
              <a:rPr lang="zh-CN" altLang="en-US" kern="1200">
                <a:latin typeface="微软雅黑" panose="020B0503020204020204" pitchFamily="34" charset="-122"/>
                <a:ea typeface="微软雅黑" panose="020B0503020204020204" pitchFamily="34" charset="-122"/>
                <a:cs typeface="+mn-cs"/>
              </a:rPr>
              <a:t>位</a:t>
            </a:r>
            <a:r>
              <a:rPr lang="en-US" altLang="zh-CN" kern="1200">
                <a:latin typeface="微软雅黑" panose="020B0503020204020204" pitchFamily="34" charset="-122"/>
                <a:ea typeface="微软雅黑" panose="020B0503020204020204" pitchFamily="34" charset="-122"/>
                <a:cs typeface="+mn-cs"/>
              </a:rPr>
              <a:t>IPv4</a:t>
            </a:r>
            <a:r>
              <a:rPr lang="zh-CN" altLang="en-US" kern="1200">
                <a:latin typeface="微软雅黑" panose="020B0503020204020204" pitchFamily="34" charset="-122"/>
                <a:ea typeface="微软雅黑" panose="020B0503020204020204" pitchFamily="34" charset="-122"/>
                <a:cs typeface="+mn-cs"/>
              </a:rPr>
              <a:t>地址（</a:t>
            </a:r>
            <a:r>
              <a:rPr lang="en-US" altLang="zh-CN" kern="1200">
                <a:latin typeface="微软雅黑" panose="020B0503020204020204" pitchFamily="34" charset="-122"/>
                <a:ea typeface="微软雅黑" panose="020B0503020204020204" pitchFamily="34" charset="-122"/>
                <a:cs typeface="+mn-cs"/>
              </a:rPr>
              <a:t>128</a:t>
            </a:r>
            <a:r>
              <a:rPr lang="zh-CN" altLang="en-US" kern="1200">
                <a:latin typeface="微软雅黑" panose="020B0503020204020204" pitchFamily="34" charset="-122"/>
                <a:ea typeface="微软雅黑" panose="020B0503020204020204" pitchFamily="34" charset="-122"/>
                <a:cs typeface="+mn-cs"/>
              </a:rPr>
              <a:t>位</a:t>
            </a:r>
            <a:r>
              <a:rPr lang="en-US" altLang="zh-CN" kern="1200">
                <a:latin typeface="微软雅黑" panose="020B0503020204020204" pitchFamily="34" charset="-122"/>
                <a:ea typeface="微软雅黑" panose="020B0503020204020204" pitchFamily="34" charset="-122"/>
                <a:cs typeface="+mn-cs"/>
              </a:rPr>
              <a:t>IPv6</a:t>
            </a:r>
            <a:r>
              <a:rPr lang="zh-CN" altLang="en-US" kern="1200">
                <a:latin typeface="微软雅黑" panose="020B0503020204020204" pitchFamily="34" charset="-122"/>
                <a:ea typeface="微软雅黑" panose="020B0503020204020204" pitchFamily="34" charset="-122"/>
                <a:cs typeface="+mn-cs"/>
              </a:rPr>
              <a:t>地址）与</a:t>
            </a:r>
            <a:r>
              <a:rPr lang="en-US" altLang="zh-CN" kern="1200">
                <a:latin typeface="微软雅黑" panose="020B0503020204020204" pitchFamily="34" charset="-122"/>
                <a:ea typeface="微软雅黑" panose="020B0503020204020204" pitchFamily="34" charset="-122"/>
                <a:cs typeface="+mn-cs"/>
              </a:rPr>
              <a:t>16</a:t>
            </a:r>
            <a:r>
              <a:rPr lang="zh-CN" altLang="en-US" kern="1200">
                <a:latin typeface="微软雅黑" panose="020B0503020204020204" pitchFamily="34" charset="-122"/>
                <a:ea typeface="微软雅黑" panose="020B0503020204020204" pitchFamily="34" charset="-122"/>
                <a:cs typeface="+mn-cs"/>
              </a:rPr>
              <a:t>位的</a:t>
            </a:r>
            <a:r>
              <a:rPr lang="en-US" altLang="zh-CN" kern="1200">
                <a:latin typeface="微软雅黑" panose="020B0503020204020204" pitchFamily="34" charset="-122"/>
                <a:ea typeface="微软雅黑" panose="020B0503020204020204" pitchFamily="34" charset="-122"/>
                <a:cs typeface="+mn-cs"/>
              </a:rPr>
              <a:t>TCP</a:t>
            </a:r>
            <a:r>
              <a:rPr lang="zh-CN" altLang="en-US" kern="1200">
                <a:latin typeface="微软雅黑" panose="020B0503020204020204" pitchFamily="34" charset="-122"/>
                <a:ea typeface="微软雅黑" panose="020B0503020204020204" pitchFamily="34" charset="-122"/>
                <a:cs typeface="+mn-cs"/>
              </a:rPr>
              <a:t>或</a:t>
            </a:r>
            <a:r>
              <a:rPr lang="en-US" altLang="zh-CN" kern="1200">
                <a:latin typeface="微软雅黑" panose="020B0503020204020204" pitchFamily="34" charset="-122"/>
                <a:ea typeface="微软雅黑" panose="020B0503020204020204" pitchFamily="34" charset="-122"/>
                <a:cs typeface="+mn-cs"/>
              </a:rPr>
              <a:t>UDP</a:t>
            </a:r>
            <a:r>
              <a:rPr lang="zh-CN" altLang="en-US" kern="1200">
                <a:latin typeface="微软雅黑" panose="020B0503020204020204" pitchFamily="34" charset="-122"/>
                <a:ea typeface="微软雅黑" panose="020B0503020204020204" pitchFamily="34" charset="-122"/>
                <a:cs typeface="+mn-cs"/>
              </a:rPr>
              <a:t>端口号的组合</a:t>
            </a:r>
            <a:endParaRPr lang="en-US" altLang="zh-CN" kern="1200">
              <a:latin typeface="微软雅黑" panose="020B0503020204020204" pitchFamily="34" charset="-122"/>
              <a:ea typeface="微软雅黑" panose="020B0503020204020204" pitchFamily="34" charset="-122"/>
              <a:cs typeface="+mn-cs"/>
            </a:endParaRPr>
          </a:p>
          <a:p>
            <a:pPr lvl="1"/>
            <a:r>
              <a:rPr lang="zh-CN" altLang="en-US" kern="1200">
                <a:latin typeface="微软雅黑" panose="020B0503020204020204" pitchFamily="34" charset="-122"/>
                <a:ea typeface="微软雅黑" panose="020B0503020204020204" pitchFamily="34" charset="-122"/>
                <a:cs typeface="+mn-cs"/>
              </a:rPr>
              <a:t>如指定端口为</a:t>
            </a:r>
            <a:r>
              <a:rPr lang="en-US" altLang="zh-CN" kern="1200">
                <a:latin typeface="微软雅黑" panose="020B0503020204020204" pitchFamily="34" charset="-122"/>
                <a:ea typeface="微软雅黑" panose="020B0503020204020204" pitchFamily="34" charset="-122"/>
                <a:cs typeface="+mn-cs"/>
              </a:rPr>
              <a:t>0</a:t>
            </a:r>
            <a:r>
              <a:rPr lang="zh-CN" altLang="en-US" kern="1200">
                <a:latin typeface="微软雅黑" panose="020B0503020204020204" pitchFamily="34" charset="-122"/>
                <a:ea typeface="微软雅黑" panose="020B0503020204020204" pitchFamily="34" charset="-122"/>
                <a:cs typeface="+mn-cs"/>
              </a:rPr>
              <a:t>，调用</a:t>
            </a:r>
            <a:r>
              <a:rPr lang="en-US" altLang="zh-CN" kern="1200">
                <a:latin typeface="微软雅黑" panose="020B0503020204020204" pitchFamily="34" charset="-122"/>
                <a:ea typeface="微软雅黑" panose="020B0503020204020204" pitchFamily="34" charset="-122"/>
                <a:cs typeface="+mn-cs"/>
              </a:rPr>
              <a:t>bind</a:t>
            </a:r>
            <a:r>
              <a:rPr lang="zh-CN" altLang="en-US" kern="1200">
                <a:latin typeface="微软雅黑" panose="020B0503020204020204" pitchFamily="34" charset="-122"/>
                <a:ea typeface="微软雅黑" panose="020B0503020204020204" pitchFamily="34" charset="-122"/>
                <a:cs typeface="+mn-cs"/>
              </a:rPr>
              <a:t>时内核将选择一个临时端口</a:t>
            </a:r>
            <a:endParaRPr lang="en-US" altLang="zh-CN" kern="1200">
              <a:latin typeface="微软雅黑" panose="020B0503020204020204" pitchFamily="34" charset="-122"/>
              <a:ea typeface="微软雅黑" panose="020B0503020204020204" pitchFamily="34" charset="-122"/>
              <a:cs typeface="+mn-cs"/>
            </a:endParaRPr>
          </a:p>
          <a:p>
            <a:pPr lvl="1"/>
            <a:r>
              <a:rPr lang="zh-CN" altLang="en-US" kern="1200">
                <a:latin typeface="微软雅黑" panose="020B0503020204020204" pitchFamily="34" charset="-122"/>
                <a:ea typeface="微软雅黑" panose="020B0503020204020204" pitchFamily="34" charset="-122"/>
                <a:cs typeface="+mn-cs"/>
              </a:rPr>
              <a:t>如果指定一个通配</a:t>
            </a:r>
            <a:r>
              <a:rPr lang="en-US" altLang="zh-CN" kern="1200">
                <a:latin typeface="微软雅黑" panose="020B0503020204020204" pitchFamily="34" charset="-122"/>
                <a:ea typeface="微软雅黑" panose="020B0503020204020204" pitchFamily="34" charset="-122"/>
                <a:cs typeface="+mn-cs"/>
              </a:rPr>
              <a:t>IP</a:t>
            </a:r>
            <a:r>
              <a:rPr lang="zh-CN" altLang="en-US" kern="1200">
                <a:latin typeface="微软雅黑" panose="020B0503020204020204" pitchFamily="34" charset="-122"/>
                <a:ea typeface="微软雅黑" panose="020B0503020204020204" pitchFamily="34" charset="-122"/>
                <a:cs typeface="+mn-cs"/>
              </a:rPr>
              <a:t>地址，则要等到建立连接后内核才选择一个本地</a:t>
            </a:r>
            <a:r>
              <a:rPr lang="en-US" altLang="zh-CN" kern="1200">
                <a:latin typeface="微软雅黑" panose="020B0503020204020204" pitchFamily="34" charset="-122"/>
                <a:ea typeface="微软雅黑" panose="020B0503020204020204" pitchFamily="34" charset="-122"/>
                <a:cs typeface="+mn-cs"/>
              </a:rPr>
              <a:t>IP</a:t>
            </a:r>
            <a:r>
              <a:rPr lang="zh-CN" altLang="en-US" kern="1200">
                <a:latin typeface="微软雅黑" panose="020B0503020204020204" pitchFamily="34" charset="-122"/>
                <a:ea typeface="微软雅黑" panose="020B0503020204020204" pitchFamily="34" charset="-122"/>
                <a:cs typeface="+mn-cs"/>
              </a:rPr>
              <a:t>地址。 </a:t>
            </a:r>
          </a:p>
        </p:txBody>
      </p:sp>
      <p:sp>
        <p:nvSpPr>
          <p:cNvPr id="81921"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54</a:t>
            </a:fld>
            <a:endParaRPr lang="en-US" altLang="zh-CN" sz="1000">
              <a:latin typeface="Arial" panose="020B0604020202090204" pitchFamily="34" charset="0"/>
              <a:ea typeface="宋体" panose="02010600030101010101" pitchFamily="2" charset="-122"/>
            </a:endParaRPr>
          </a:p>
        </p:txBody>
      </p:sp>
      <p:sp>
        <p:nvSpPr>
          <p:cNvPr id="81924" name="Rectangle 4"/>
          <p:cNvSpPr>
            <a:spLocks noChangeArrowheads="1"/>
          </p:cNvSpPr>
          <p:nvPr/>
        </p:nvSpPr>
        <p:spPr bwMode="auto">
          <a:xfrm>
            <a:off x="1763713" y="2608263"/>
            <a:ext cx="6078538" cy="993775"/>
          </a:xfrm>
          <a:prstGeom prst="rect">
            <a:avLst/>
          </a:prstGeom>
          <a:solidFill>
            <a:schemeClr val="accent1"/>
          </a:solidFill>
          <a:ln w="9525" algn="ctr">
            <a:solidFill>
              <a:schemeClr val="tx1"/>
            </a:solidFill>
            <a:miter lim="800000"/>
          </a:ln>
          <a:effectLst/>
        </p:spPr>
        <p:txBody>
          <a:bodyPr lIns="69056" tIns="34529" rIns="69056" bIns="34529" anchor="ctr">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nSpc>
                <a:spcPct val="100000"/>
              </a:lnSpc>
              <a:spcBef>
                <a:spcPct val="0"/>
              </a:spcBef>
              <a:buFontTx/>
              <a:buNone/>
            </a:pPr>
            <a:r>
              <a:rPr lang="en-US" altLang="zh-CN" sz="1500">
                <a:solidFill>
                  <a:schemeClr val="bg1"/>
                </a:solidFill>
                <a:latin typeface="Arial" panose="020B0604020202090204" pitchFamily="34" charset="0"/>
                <a:ea typeface="宋体" panose="02010600030101010101" pitchFamily="2" charset="-122"/>
              </a:rPr>
              <a:t>#include &lt;sys/socket.h&gt; </a:t>
            </a:r>
            <a:r>
              <a:rPr lang="zh-CN" altLang="en-US" sz="1500">
                <a:solidFill>
                  <a:schemeClr val="bg1"/>
                </a:solidFill>
                <a:latin typeface="Arial" panose="020B0604020202090204" pitchFamily="34" charset="0"/>
                <a:ea typeface="宋体" panose="02010600030101010101" pitchFamily="2" charset="-122"/>
              </a:rPr>
              <a:t>　</a:t>
            </a:r>
            <a:br>
              <a:rPr lang="zh-CN" altLang="en-US" sz="1500">
                <a:solidFill>
                  <a:schemeClr val="bg1"/>
                </a:solidFill>
                <a:latin typeface="Arial" panose="020B0604020202090204" pitchFamily="34" charset="0"/>
                <a:ea typeface="宋体" panose="02010600030101010101" pitchFamily="2" charset="-122"/>
              </a:rPr>
            </a:br>
            <a:r>
              <a:rPr lang="zh-CN" altLang="en-US" sz="1500">
                <a:solidFill>
                  <a:schemeClr val="bg1"/>
                </a:solidFill>
                <a:latin typeface="Arial" panose="020B0604020202090204" pitchFamily="34" charset="0"/>
                <a:ea typeface="宋体" panose="02010600030101010101" pitchFamily="2" charset="-122"/>
              </a:rPr>
              <a:t> </a:t>
            </a:r>
            <a:r>
              <a:rPr lang="en-US" altLang="zh-CN" sz="1500">
                <a:solidFill>
                  <a:schemeClr val="bg1"/>
                </a:solidFill>
                <a:latin typeface="Arial" panose="020B0604020202090204" pitchFamily="34" charset="0"/>
                <a:ea typeface="宋体" panose="02010600030101010101" pitchFamily="2" charset="-122"/>
              </a:rPr>
              <a:t>int bind(int sockfd,const struct sockaddr * myaddr,socklen_t</a:t>
            </a:r>
            <a:br>
              <a:rPr lang="en-US" altLang="zh-CN" sz="1500">
                <a:solidFill>
                  <a:schemeClr val="bg1"/>
                </a:solidFill>
                <a:latin typeface="Arial" panose="020B0604020202090204" pitchFamily="34" charset="0"/>
                <a:ea typeface="宋体" panose="02010600030101010101" pitchFamily="2" charset="-122"/>
              </a:rPr>
            </a:br>
            <a:r>
              <a:rPr lang="en-US" altLang="zh-CN" sz="1500">
                <a:solidFill>
                  <a:schemeClr val="bg1"/>
                </a:solidFill>
                <a:latin typeface="Arial" panose="020B0604020202090204" pitchFamily="34" charset="0"/>
                <a:ea typeface="宋体" panose="02010600030101010101" pitchFamily="2" charset="-122"/>
              </a:rPr>
              <a:t> addrlen);</a:t>
            </a:r>
            <a:br>
              <a:rPr lang="en-US" altLang="zh-CN" sz="1500">
                <a:solidFill>
                  <a:schemeClr val="bg1"/>
                </a:solidFill>
                <a:latin typeface="Arial" panose="020B0604020202090204" pitchFamily="34" charset="0"/>
                <a:ea typeface="宋体" panose="02010600030101010101" pitchFamily="2" charset="-122"/>
              </a:rPr>
            </a:br>
            <a:r>
              <a:rPr lang="en-US" altLang="zh-CN" sz="1500">
                <a:solidFill>
                  <a:schemeClr val="bg1"/>
                </a:solidFill>
                <a:latin typeface="Arial" panose="020B0604020202090204" pitchFamily="34" charset="0"/>
                <a:ea typeface="宋体" panose="02010600030101010101" pitchFamily="2" charset="-122"/>
              </a:rPr>
              <a:t> </a:t>
            </a:r>
            <a:r>
              <a:rPr lang="zh-CN" altLang="en-US" sz="1500">
                <a:solidFill>
                  <a:schemeClr val="bg1"/>
                </a:solidFill>
                <a:latin typeface="Arial" panose="020B0604020202090204" pitchFamily="34" charset="0"/>
                <a:ea typeface="宋体" panose="02010600030101010101" pitchFamily="2" charset="-122"/>
              </a:rPr>
              <a:t>返回：</a:t>
            </a:r>
            <a:r>
              <a:rPr lang="en-US" altLang="zh-CN" sz="1500">
                <a:solidFill>
                  <a:schemeClr val="bg1"/>
                </a:solidFill>
                <a:latin typeface="Arial" panose="020B0604020202090204" pitchFamily="34" charset="0"/>
                <a:ea typeface="宋体" panose="02010600030101010101" pitchFamily="2" charset="-122"/>
              </a:rPr>
              <a:t>0</a:t>
            </a:r>
            <a:r>
              <a:rPr lang="zh-CN" altLang="en-US" sz="1500">
                <a:solidFill>
                  <a:schemeClr val="bg1"/>
                </a:solidFill>
                <a:latin typeface="Arial" panose="020B0604020202090204" pitchFamily="34" charset="0"/>
                <a:ea typeface="宋体" panose="02010600030101010101" pitchFamily="2" charset="-122"/>
              </a:rPr>
              <a:t>－－－成功　　　</a:t>
            </a:r>
            <a:r>
              <a:rPr lang="en-US" altLang="zh-CN" sz="1500">
                <a:solidFill>
                  <a:schemeClr val="bg1"/>
                </a:solidFill>
                <a:latin typeface="Arial" panose="020B0604020202090204" pitchFamily="34" charset="0"/>
                <a:ea typeface="宋体" panose="02010600030101010101" pitchFamily="2" charset="-122"/>
              </a:rPr>
              <a:t>-1</a:t>
            </a:r>
            <a:r>
              <a:rPr lang="zh-CN" altLang="en-US" sz="1500">
                <a:solidFill>
                  <a:schemeClr val="bg1"/>
                </a:solidFill>
                <a:latin typeface="Arial" panose="020B0604020202090204" pitchFamily="34" charset="0"/>
                <a:ea typeface="宋体" panose="02010600030101010101" pitchFamily="2" charset="-122"/>
              </a:rPr>
              <a:t>－－－失败</a:t>
            </a:r>
            <a:r>
              <a:rPr lang="zh-CN" altLang="en-US" sz="1300">
                <a:solidFill>
                  <a:schemeClr val="bg1"/>
                </a:solidFill>
                <a:latin typeface="Arial" panose="020B0604020202090204" pitchFamily="34" charset="0"/>
                <a:ea typeface="宋体" panose="02010600030101010101" pitchFamily="2" charset="-122"/>
              </a:rPr>
              <a:t>　</a:t>
            </a:r>
            <a:endParaRPr lang="zh-CN" altLang="en-US" sz="1300">
              <a:latin typeface="Arial" panose="020B0604020202090204" pitchFamily="34" charset="0"/>
              <a:ea typeface="宋体" panose="02010600030101010101" pitchFamily="2" charset="-122"/>
            </a:endParaRPr>
          </a:p>
        </p:txBody>
      </p:sp>
      <p:sp>
        <p:nvSpPr>
          <p:cNvPr id="1996805" name="Rectangle 5"/>
          <p:cNvSpPr>
            <a:spLocks noChangeArrowheads="1"/>
          </p:cNvSpPr>
          <p:nvPr/>
        </p:nvSpPr>
        <p:spPr bwMode="auto">
          <a:xfrm>
            <a:off x="800100" y="3784600"/>
            <a:ext cx="8185150" cy="785813"/>
          </a:xfrm>
          <a:prstGeom prst="rect">
            <a:avLst/>
          </a:prstGeom>
          <a:noFill/>
          <a:ln>
            <a:noFill/>
          </a:ln>
          <a:effectLst/>
        </p:spPr>
        <p:txBody>
          <a:bodyPr lIns="69056" tIns="34529" rIns="69056" bIns="34529" anchor="ctr">
            <a:spAutoFit/>
          </a:bodyPr>
          <a:lstStyle/>
          <a:p>
            <a:pPr marL="342900" indent="-342900">
              <a:lnSpc>
                <a:spcPct val="150000"/>
              </a:lnSpc>
              <a:buAutoNum type="circleNumDbPlain"/>
            </a:pPr>
            <a:r>
              <a:rPr lang="zh-CN" altLang="en-US" sz="1600">
                <a:latin typeface="微软雅黑" panose="020B0503020204020204" pitchFamily="34" charset="-122"/>
                <a:ea typeface="微软雅黑" panose="020B0503020204020204" pitchFamily="34" charset="-122"/>
              </a:rPr>
              <a:t>第一个参数是</a:t>
            </a:r>
            <a:r>
              <a:rPr lang="en-US" altLang="zh-CN" sz="1600">
                <a:latin typeface="微软雅黑" panose="020B0503020204020204" pitchFamily="34" charset="-122"/>
                <a:ea typeface="微软雅黑" panose="020B0503020204020204" pitchFamily="34" charset="-122"/>
              </a:rPr>
              <a:t>socket</a:t>
            </a:r>
            <a:r>
              <a:rPr lang="zh-CN" altLang="en-US" sz="1600">
                <a:latin typeface="微软雅黑" panose="020B0503020204020204" pitchFamily="34" charset="-122"/>
                <a:ea typeface="微软雅黑" panose="020B0503020204020204" pitchFamily="34" charset="-122"/>
              </a:rPr>
              <a:t>函数返回的套接字对应的文件描述符</a:t>
            </a:r>
            <a:endParaRPr lang="en-US" altLang="zh-CN" sz="1600">
              <a:latin typeface="微软雅黑" panose="020B0503020204020204" pitchFamily="34" charset="-122"/>
              <a:ea typeface="微软雅黑" panose="020B0503020204020204" pitchFamily="34" charset="-122"/>
            </a:endParaRPr>
          </a:p>
          <a:p>
            <a:pPr marL="342900" indent="-342900">
              <a:lnSpc>
                <a:spcPct val="150000"/>
              </a:lnSpc>
              <a:buAutoNum type="circleNumDbPlain"/>
            </a:pPr>
            <a:r>
              <a:rPr lang="zh-CN" altLang="en-US" sz="1600">
                <a:latin typeface="微软雅黑" panose="020B0503020204020204" pitchFamily="34" charset="-122"/>
                <a:ea typeface="微软雅黑" panose="020B0503020204020204" pitchFamily="34" charset="-122"/>
              </a:rPr>
              <a:t>第二和第三个参数是指向特定协议的套接字地址结构的指针和该地址结构的长度。 </a:t>
            </a:r>
          </a:p>
        </p:txBody>
      </p:sp>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en-US"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listen</a:t>
            </a:r>
            <a:r>
              <a:rPr kumimoji="0" lang="zh-CN" altLang="en-US"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函数</a:t>
            </a:r>
            <a:endParaRPr kumimoji="0" lang="zh-CN"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endParaRPr>
          </a:p>
        </p:txBody>
      </p:sp>
      <p:sp>
        <p:nvSpPr>
          <p:cNvPr id="76802"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r>
              <a:rPr lang="zh-CN" altLang="en-US" kern="1200">
                <a:latin typeface="微软雅黑" panose="020B0503020204020204" pitchFamily="34" charset="-122"/>
                <a:ea typeface="微软雅黑" panose="020B0503020204020204" pitchFamily="34" charset="-122"/>
                <a:cs typeface="+mn-cs"/>
              </a:rPr>
              <a:t>仅被服务器端程序调用，它的作用是将调用</a:t>
            </a:r>
            <a:r>
              <a:rPr lang="en-US" altLang="zh-CN" kern="1200">
                <a:latin typeface="微软雅黑" panose="020B0503020204020204" pitchFamily="34" charset="-122"/>
                <a:ea typeface="微软雅黑" panose="020B0503020204020204" pitchFamily="34" charset="-122"/>
                <a:cs typeface="+mn-cs"/>
              </a:rPr>
              <a:t>socket</a:t>
            </a:r>
            <a:r>
              <a:rPr lang="zh-CN" altLang="en-US" kern="1200">
                <a:latin typeface="微软雅黑" panose="020B0503020204020204" pitchFamily="34" charset="-122"/>
                <a:ea typeface="微软雅黑" panose="020B0503020204020204" pitchFamily="34" charset="-122"/>
                <a:cs typeface="+mn-cs"/>
              </a:rPr>
              <a:t>函数创建的主动套接字转换成被动套接字，并等待来自客户端的连接请求。 </a:t>
            </a:r>
          </a:p>
        </p:txBody>
      </p:sp>
      <p:sp>
        <p:nvSpPr>
          <p:cNvPr id="82945"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55</a:t>
            </a:fld>
            <a:endParaRPr lang="en-US" altLang="zh-CN" sz="1000">
              <a:latin typeface="Arial" panose="020B0604020202090204" pitchFamily="34" charset="0"/>
              <a:ea typeface="宋体" panose="02010600030101010101" pitchFamily="2" charset="-122"/>
            </a:endParaRPr>
          </a:p>
        </p:txBody>
      </p:sp>
      <p:sp>
        <p:nvSpPr>
          <p:cNvPr id="76804" name="Rectangle 4"/>
          <p:cNvSpPr/>
          <p:nvPr/>
        </p:nvSpPr>
        <p:spPr>
          <a:xfrm>
            <a:off x="825500" y="1741488"/>
            <a:ext cx="7834313" cy="762000"/>
          </a:xfrm>
          <a:prstGeom prst="rect">
            <a:avLst/>
          </a:prstGeom>
          <a:solidFill>
            <a:schemeClr val="accent1"/>
          </a:solidFill>
          <a:ln w="9525" cap="flat" cmpd="sng">
            <a:solidFill>
              <a:schemeClr val="tx1"/>
            </a:solidFill>
            <a:prstDash val="solid"/>
            <a:miter/>
            <a:headEnd type="none" w="med" len="med"/>
            <a:tailEnd type="none" w="med" len="med"/>
          </a:ln>
        </p:spPr>
        <p:txBody>
          <a:bodyPr lIns="69056" tIns="34529" rIns="69056" bIns="34529" anchor="ctr" anchorCtr="0">
            <a:spAutoFit/>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lvl="0" indent="0">
              <a:lnSpc>
                <a:spcPct val="100000"/>
              </a:lnSpc>
              <a:spcBef>
                <a:spcPct val="0"/>
              </a:spcBef>
              <a:buFontTx/>
              <a:buNone/>
            </a:pPr>
            <a:r>
              <a:rPr lang="en-US" altLang="zh-CN" sz="1500">
                <a:solidFill>
                  <a:schemeClr val="bg1"/>
                </a:solidFill>
                <a:latin typeface="Arial" panose="020B0604020202090204" pitchFamily="34" charset="0"/>
                <a:ea typeface="宋体" panose="02010600030101010101" pitchFamily="2" charset="-122"/>
              </a:rPr>
              <a:t>#include &lt;sys/socket.h&gt;</a:t>
            </a:r>
            <a:br>
              <a:rPr lang="en-US" altLang="zh-CN" sz="1500">
                <a:solidFill>
                  <a:schemeClr val="bg1"/>
                </a:solidFill>
                <a:latin typeface="Arial" panose="020B0604020202090204" pitchFamily="34" charset="0"/>
                <a:ea typeface="宋体" panose="02010600030101010101" pitchFamily="2" charset="-122"/>
              </a:rPr>
            </a:br>
            <a:r>
              <a:rPr lang="en-US" altLang="zh-CN" sz="1500">
                <a:solidFill>
                  <a:schemeClr val="bg1"/>
                </a:solidFill>
                <a:latin typeface="Arial" panose="020B0604020202090204" pitchFamily="34" charset="0"/>
                <a:ea typeface="宋体" panose="02010600030101010101" pitchFamily="2" charset="-122"/>
              </a:rPr>
              <a:t> int listen(int sockfd,int backlog); </a:t>
            </a:r>
            <a:r>
              <a:rPr lang="zh-CN" altLang="en-US" sz="1500">
                <a:solidFill>
                  <a:schemeClr val="bg1"/>
                </a:solidFill>
                <a:latin typeface="Arial" panose="020B0604020202090204" pitchFamily="34" charset="0"/>
                <a:ea typeface="宋体" panose="02010600030101010101" pitchFamily="2" charset="-122"/>
              </a:rPr>
              <a:t>　　</a:t>
            </a:r>
            <a:br>
              <a:rPr lang="zh-CN" altLang="en-US" sz="1500">
                <a:solidFill>
                  <a:schemeClr val="bg1"/>
                </a:solidFill>
                <a:latin typeface="Arial" panose="020B0604020202090204" pitchFamily="34" charset="0"/>
                <a:ea typeface="宋体" panose="02010600030101010101" pitchFamily="2" charset="-122"/>
              </a:rPr>
            </a:br>
            <a:r>
              <a:rPr lang="zh-CN" altLang="en-US" sz="1500">
                <a:solidFill>
                  <a:schemeClr val="bg1"/>
                </a:solidFill>
                <a:latin typeface="Arial" panose="020B0604020202090204" pitchFamily="34" charset="0"/>
                <a:ea typeface="宋体" panose="02010600030101010101" pitchFamily="2" charset="-122"/>
              </a:rPr>
              <a:t> 返回：</a:t>
            </a:r>
            <a:r>
              <a:rPr lang="en-US" altLang="zh-CN" sz="1500">
                <a:solidFill>
                  <a:schemeClr val="bg1"/>
                </a:solidFill>
                <a:latin typeface="Arial" panose="020B0604020202090204" pitchFamily="34" charset="0"/>
                <a:ea typeface="宋体" panose="02010600030101010101" pitchFamily="2" charset="-122"/>
              </a:rPr>
              <a:t>0</a:t>
            </a:r>
            <a:r>
              <a:rPr lang="zh-CN" altLang="en-US" sz="1500">
                <a:solidFill>
                  <a:schemeClr val="bg1"/>
                </a:solidFill>
                <a:latin typeface="Arial" panose="020B0604020202090204" pitchFamily="34" charset="0"/>
                <a:ea typeface="宋体" panose="02010600030101010101" pitchFamily="2" charset="-122"/>
              </a:rPr>
              <a:t>－－－成功　　　</a:t>
            </a:r>
            <a:r>
              <a:rPr lang="en-US" altLang="zh-CN" sz="1500">
                <a:solidFill>
                  <a:schemeClr val="bg1"/>
                </a:solidFill>
                <a:latin typeface="Arial" panose="020B0604020202090204" pitchFamily="34" charset="0"/>
                <a:ea typeface="宋体" panose="02010600030101010101" pitchFamily="2" charset="-122"/>
              </a:rPr>
              <a:t>-1</a:t>
            </a:r>
            <a:r>
              <a:rPr lang="zh-CN" altLang="en-US" sz="1500">
                <a:solidFill>
                  <a:schemeClr val="bg1"/>
                </a:solidFill>
                <a:latin typeface="Arial" panose="020B0604020202090204" pitchFamily="34" charset="0"/>
                <a:ea typeface="宋体" panose="02010600030101010101" pitchFamily="2" charset="-122"/>
              </a:rPr>
              <a:t>－－－失败</a:t>
            </a:r>
          </a:p>
        </p:txBody>
      </p:sp>
      <p:sp>
        <p:nvSpPr>
          <p:cNvPr id="1997829" name="Rectangle 5"/>
          <p:cNvSpPr>
            <a:spLocks noChangeArrowheads="1"/>
          </p:cNvSpPr>
          <p:nvPr/>
        </p:nvSpPr>
        <p:spPr bwMode="auto">
          <a:xfrm>
            <a:off x="657225" y="2720975"/>
            <a:ext cx="8170863" cy="1547813"/>
          </a:xfrm>
          <a:prstGeom prst="rect">
            <a:avLst/>
          </a:prstGeom>
          <a:noFill/>
          <a:ln>
            <a:noFill/>
          </a:ln>
          <a:effectLst/>
        </p:spPr>
        <p:txBody>
          <a:bodyPr lIns="69056" tIns="34529" rIns="69056" bIns="34529" anchor="ctr">
            <a:spAutoFit/>
          </a:bodyPr>
          <a:lstStyle/>
          <a:p>
            <a:pPr marL="342900" indent="-342900">
              <a:lnSpc>
                <a:spcPct val="150000"/>
              </a:lnSpc>
              <a:buAutoNum type="circleNumDbPlain"/>
            </a:pPr>
            <a:r>
              <a:rPr lang="zh-CN" altLang="en-US" sz="1600">
                <a:latin typeface="微软雅黑" panose="020B0503020204020204" pitchFamily="34" charset="-122"/>
                <a:ea typeface="微软雅黑" panose="020B0503020204020204" pitchFamily="34" charset="-122"/>
              </a:rPr>
              <a:t>第一个参数是</a:t>
            </a:r>
            <a:r>
              <a:rPr lang="en-US" altLang="zh-CN" sz="1600">
                <a:latin typeface="微软雅黑" panose="020B0503020204020204" pitchFamily="34" charset="-122"/>
                <a:ea typeface="微软雅黑" panose="020B0503020204020204" pitchFamily="34" charset="-122"/>
              </a:rPr>
              <a:t>socket</a:t>
            </a:r>
            <a:r>
              <a:rPr lang="zh-CN" altLang="en-US" sz="1600">
                <a:latin typeface="微软雅黑" panose="020B0503020204020204" pitchFamily="34" charset="-122"/>
                <a:ea typeface="微软雅黑" panose="020B0503020204020204" pitchFamily="34" charset="-122"/>
              </a:rPr>
              <a:t>函数返回的套接字对应的文件描述符</a:t>
            </a:r>
            <a:endParaRPr lang="en-US" altLang="zh-CN" sz="1600">
              <a:latin typeface="微软雅黑" panose="020B0503020204020204" pitchFamily="34" charset="-122"/>
              <a:ea typeface="微软雅黑" panose="020B0503020204020204" pitchFamily="34" charset="-122"/>
            </a:endParaRPr>
          </a:p>
          <a:p>
            <a:pPr marL="342900" indent="-342900">
              <a:lnSpc>
                <a:spcPct val="150000"/>
              </a:lnSpc>
              <a:buAutoNum type="circleNumDbPlain"/>
            </a:pPr>
            <a:r>
              <a:rPr lang="zh-CN" altLang="en-US" sz="1600">
                <a:latin typeface="微软雅黑" panose="020B0503020204020204" pitchFamily="34" charset="-122"/>
                <a:ea typeface="微软雅黑" panose="020B0503020204020204" pitchFamily="34" charset="-122"/>
              </a:rPr>
              <a:t>第二个参数规定了内核为此套接口排队的最大连接个数</a:t>
            </a:r>
            <a:endParaRPr lang="en-US" altLang="zh-CN" sz="1600">
              <a:latin typeface="微软雅黑" panose="020B0503020204020204" pitchFamily="34" charset="-122"/>
              <a:ea typeface="微软雅黑" panose="020B0503020204020204" pitchFamily="34" charset="-122"/>
            </a:endParaRPr>
          </a:p>
          <a:p>
            <a:pPr marL="342900" indent="-342900">
              <a:lnSpc>
                <a:spcPct val="150000"/>
              </a:lnSpc>
              <a:buAutoNum type="circleNumDbPlain"/>
            </a:pPr>
            <a:r>
              <a:rPr lang="zh-CN" altLang="en-US" sz="1600">
                <a:latin typeface="微软雅黑" panose="020B0503020204020204" pitchFamily="34" charset="-122"/>
                <a:ea typeface="微软雅黑" panose="020B0503020204020204" pitchFamily="34" charset="-122"/>
              </a:rPr>
              <a:t>由于</a:t>
            </a:r>
            <a:r>
              <a:rPr lang="en-US" altLang="zh-CN" sz="1600">
                <a:latin typeface="微软雅黑" panose="020B0503020204020204" pitchFamily="34" charset="-122"/>
                <a:ea typeface="微软雅黑" panose="020B0503020204020204" pitchFamily="34" charset="-122"/>
              </a:rPr>
              <a:t>listen</a:t>
            </a:r>
            <a:r>
              <a:rPr lang="zh-CN" altLang="en-US" sz="1600">
                <a:latin typeface="微软雅黑" panose="020B0503020204020204" pitchFamily="34" charset="-122"/>
                <a:ea typeface="微软雅黑" panose="020B0503020204020204" pitchFamily="34" charset="-122"/>
              </a:rPr>
              <a:t>函数第二个参数的原因，内核要维护两个队列已完成连接队列和未完成连接队列，当已连接队列为空时，进程将进入睡眠状态。 </a:t>
            </a: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en-US"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accept</a:t>
            </a:r>
            <a:r>
              <a:rPr kumimoji="0" lang="zh-CN" altLang="en-US"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函数</a:t>
            </a:r>
            <a:endParaRPr kumimoji="0" lang="zh-CN"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endParaRPr>
          </a:p>
        </p:txBody>
      </p:sp>
      <p:sp>
        <p:nvSpPr>
          <p:cNvPr id="77826"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marL="0" indent="0">
              <a:buFont typeface="Arial" panose="020B0604020202090204" pitchFamily="34" charset="0"/>
              <a:buNone/>
            </a:pPr>
            <a:r>
              <a:rPr lang="zh-CN" altLang="en-US" kern="1200">
                <a:latin typeface="微软雅黑" panose="020B0503020204020204" pitchFamily="34" charset="-122"/>
                <a:ea typeface="微软雅黑" panose="020B0503020204020204" pitchFamily="34" charset="-122"/>
                <a:cs typeface="+mn-cs"/>
              </a:rPr>
              <a:t>仅被服务器端程序调用，从已完成连接队列头返回一个已完成连接，如果完成连接队列为空，则进程进入睡眠状态</a:t>
            </a:r>
            <a:endParaRPr lang="zh-CN" altLang="en-US" sz="2400" kern="1200">
              <a:latin typeface="微软雅黑" panose="020B0503020204020204" pitchFamily="34" charset="-122"/>
              <a:ea typeface="微软雅黑" panose="020B0503020204020204" pitchFamily="34" charset="-122"/>
              <a:cs typeface="+mn-cs"/>
            </a:endParaRPr>
          </a:p>
        </p:txBody>
      </p:sp>
      <p:sp>
        <p:nvSpPr>
          <p:cNvPr id="83969"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56</a:t>
            </a:fld>
            <a:endParaRPr lang="en-US" altLang="zh-CN" sz="1000">
              <a:latin typeface="Arial" panose="020B0604020202090204" pitchFamily="34" charset="0"/>
              <a:ea typeface="宋体" panose="02010600030101010101" pitchFamily="2" charset="-122"/>
            </a:endParaRPr>
          </a:p>
        </p:txBody>
      </p:sp>
      <p:sp>
        <p:nvSpPr>
          <p:cNvPr id="1998852" name="Rectangle 4"/>
          <p:cNvSpPr>
            <a:spLocks noChangeArrowheads="1"/>
          </p:cNvSpPr>
          <p:nvPr/>
        </p:nvSpPr>
        <p:spPr bwMode="auto">
          <a:xfrm>
            <a:off x="800100" y="1689100"/>
            <a:ext cx="7732713" cy="808038"/>
          </a:xfrm>
          <a:prstGeom prst="rect">
            <a:avLst/>
          </a:prstGeom>
          <a:solidFill>
            <a:schemeClr val="accent1"/>
          </a:solidFill>
          <a:ln w="9525" algn="ctr">
            <a:solidFill>
              <a:schemeClr val="tx1"/>
            </a:solidFill>
            <a:miter lim="800000"/>
          </a:ln>
          <a:effectLst/>
        </p:spPr>
        <p:txBody>
          <a:bodyPr lIns="69056" tIns="34529" rIns="69056" bIns="34529" anchor="ctr">
            <a:spAutoFit/>
          </a:bodyPr>
          <a:lstStyle/>
          <a:p>
            <a:pPr>
              <a:buNone/>
            </a:pPr>
            <a:r>
              <a:rPr lang="en-US" altLang="zh-CN" sz="1500">
                <a:solidFill>
                  <a:schemeClr val="bg1"/>
                </a:solidFill>
                <a:latin typeface="Arial" panose="020B0604020202090204" pitchFamily="34" charset="0"/>
              </a:rPr>
              <a:t>#include &lt;sys/socket.h&gt; </a:t>
            </a:r>
            <a:r>
              <a:rPr lang="zh-CN" altLang="en-US" sz="1500">
                <a:solidFill>
                  <a:schemeClr val="bg1"/>
                </a:solidFill>
                <a:latin typeface="Arial" panose="020B0604020202090204" pitchFamily="34" charset="0"/>
              </a:rPr>
              <a:t>　　 　 　 　</a:t>
            </a:r>
            <a:br>
              <a:rPr lang="zh-CN" altLang="en-US" sz="1500">
                <a:solidFill>
                  <a:schemeClr val="bg1"/>
                </a:solidFill>
                <a:latin typeface="Arial" panose="020B0604020202090204" pitchFamily="34" charset="0"/>
              </a:rPr>
            </a:br>
            <a:r>
              <a:rPr lang="zh-CN" altLang="en-US" sz="1500">
                <a:solidFill>
                  <a:schemeClr val="bg1"/>
                </a:solidFill>
                <a:latin typeface="Arial" panose="020B0604020202090204" pitchFamily="34" charset="0"/>
              </a:rPr>
              <a:t> </a:t>
            </a:r>
            <a:r>
              <a:rPr lang="en-US" altLang="zh-CN" sz="1500">
                <a:solidFill>
                  <a:schemeClr val="bg1"/>
                </a:solidFill>
                <a:latin typeface="Arial" panose="020B0604020202090204" pitchFamily="34" charset="0"/>
              </a:rPr>
              <a:t>int accept(int sockfd,struct sockaddr *cliaddr,socklen_t * addrlen); </a:t>
            </a:r>
            <a:br>
              <a:rPr lang="en-US" altLang="zh-CN" sz="1500">
                <a:solidFill>
                  <a:schemeClr val="bg1"/>
                </a:solidFill>
                <a:latin typeface="Arial" panose="020B0604020202090204" pitchFamily="34" charset="0"/>
              </a:rPr>
            </a:br>
            <a:r>
              <a:rPr lang="en-US" altLang="zh-CN" sz="1500">
                <a:solidFill>
                  <a:schemeClr val="bg1"/>
                </a:solidFill>
                <a:latin typeface="Arial" panose="020B0604020202090204" pitchFamily="34" charset="0"/>
              </a:rPr>
              <a:t> </a:t>
            </a:r>
            <a:r>
              <a:rPr lang="zh-CN" altLang="en-US" sz="1500">
                <a:solidFill>
                  <a:schemeClr val="bg1"/>
                </a:solidFill>
                <a:latin typeface="Arial" panose="020B0604020202090204" pitchFamily="34" charset="0"/>
              </a:rPr>
              <a:t>返回：非负描述字－－－成功　　　</a:t>
            </a:r>
            <a:r>
              <a:rPr lang="en-US" altLang="zh-CN" sz="1500">
                <a:solidFill>
                  <a:schemeClr val="bg1"/>
                </a:solidFill>
                <a:latin typeface="Arial" panose="020B0604020202090204" pitchFamily="34" charset="0"/>
              </a:rPr>
              <a:t>-1</a:t>
            </a:r>
            <a:r>
              <a:rPr lang="zh-CN" altLang="en-US" sz="1500">
                <a:solidFill>
                  <a:schemeClr val="bg1"/>
                </a:solidFill>
                <a:latin typeface="Arial" panose="020B0604020202090204" pitchFamily="34" charset="0"/>
              </a:rPr>
              <a:t>－－－失败</a:t>
            </a:r>
            <a:r>
              <a:rPr lang="zh-CN" altLang="en-US">
                <a:solidFill>
                  <a:schemeClr val="bg1"/>
                </a:solidFill>
                <a:effectLst>
                  <a:outerShdw blurRad="38100" dist="38100" dir="2700000">
                    <a:srgbClr val="C0C0C0"/>
                  </a:outerShdw>
                </a:effectLst>
                <a:latin typeface="Arial" panose="020B0604020202090204" pitchFamily="34" charset="0"/>
              </a:rPr>
              <a:t> </a:t>
            </a:r>
          </a:p>
        </p:txBody>
      </p:sp>
      <p:sp>
        <p:nvSpPr>
          <p:cNvPr id="1998853" name="Rectangle 5"/>
          <p:cNvSpPr>
            <a:spLocks noChangeArrowheads="1"/>
          </p:cNvSpPr>
          <p:nvPr/>
        </p:nvSpPr>
        <p:spPr bwMode="auto">
          <a:xfrm>
            <a:off x="684213" y="2714625"/>
            <a:ext cx="8169275" cy="1928813"/>
          </a:xfrm>
          <a:prstGeom prst="rect">
            <a:avLst/>
          </a:prstGeom>
          <a:noFill/>
          <a:ln>
            <a:noFill/>
          </a:ln>
          <a:effectLst/>
        </p:spPr>
        <p:txBody>
          <a:bodyPr lIns="69056" tIns="34529" rIns="69056" bIns="34529" anchor="ctr">
            <a:spAutoFit/>
          </a:bodyPr>
          <a:lstStyle/>
          <a:p>
            <a:pPr marL="342900" indent="-342900">
              <a:lnSpc>
                <a:spcPct val="150000"/>
              </a:lnSpc>
              <a:buAutoNum type="circleNumDbPlain"/>
            </a:pPr>
            <a:r>
              <a:rPr lang="zh-CN" altLang="en-US" sz="1600">
                <a:latin typeface="微软雅黑" panose="020B0503020204020204" pitchFamily="34" charset="-122"/>
                <a:ea typeface="微软雅黑" panose="020B0503020204020204" pitchFamily="34" charset="-122"/>
              </a:rPr>
              <a:t>第一个参数是</a:t>
            </a:r>
            <a:r>
              <a:rPr lang="en-US" altLang="zh-CN" sz="1600">
                <a:latin typeface="微软雅黑" panose="020B0503020204020204" pitchFamily="34" charset="-122"/>
                <a:ea typeface="微软雅黑" panose="020B0503020204020204" pitchFamily="34" charset="-122"/>
              </a:rPr>
              <a:t>socket</a:t>
            </a:r>
            <a:r>
              <a:rPr lang="zh-CN" altLang="en-US" sz="1600">
                <a:latin typeface="微软雅黑" panose="020B0503020204020204" pitchFamily="34" charset="-122"/>
                <a:ea typeface="微软雅黑" panose="020B0503020204020204" pitchFamily="34" charset="-122"/>
              </a:rPr>
              <a:t>函数返回的套接字对应的文件描述符</a:t>
            </a:r>
            <a:endParaRPr lang="en-US" altLang="zh-CN" sz="1600">
              <a:latin typeface="微软雅黑" panose="020B0503020204020204" pitchFamily="34" charset="-122"/>
              <a:ea typeface="微软雅黑" panose="020B0503020204020204" pitchFamily="34" charset="-122"/>
            </a:endParaRPr>
          </a:p>
          <a:p>
            <a:pPr marL="342900" indent="-342900">
              <a:lnSpc>
                <a:spcPct val="150000"/>
              </a:lnSpc>
              <a:buAutoNum type="circleNumDbPlain"/>
            </a:pPr>
            <a:r>
              <a:rPr lang="zh-CN" altLang="en-US" sz="1600">
                <a:latin typeface="微软雅黑" panose="020B0503020204020204" pitchFamily="34" charset="-122"/>
                <a:ea typeface="微软雅黑" panose="020B0503020204020204" pitchFamily="34" charset="-122"/>
              </a:rPr>
              <a:t>第二个和第三个参数是指向连接方的套接字地址结构和该地址结构的长度（ 如果对客户段的信息不感兴趣，可以将第二和第三个参数置为空 ）</a:t>
            </a:r>
            <a:endParaRPr lang="en-US" altLang="zh-CN" sz="1600">
              <a:latin typeface="微软雅黑" panose="020B0503020204020204" pitchFamily="34" charset="-122"/>
              <a:ea typeface="微软雅黑" panose="020B0503020204020204" pitchFamily="34" charset="-122"/>
            </a:endParaRPr>
          </a:p>
          <a:p>
            <a:pPr marL="342900" indent="-342900">
              <a:lnSpc>
                <a:spcPct val="150000"/>
              </a:lnSpc>
              <a:buAutoNum type="circleNumDbPlain"/>
            </a:pPr>
            <a:r>
              <a:rPr lang="zh-CN" altLang="en-US" sz="1600">
                <a:latin typeface="微软雅黑" panose="020B0503020204020204" pitchFamily="34" charset="-122"/>
                <a:ea typeface="微软雅黑" panose="020B0503020204020204" pitchFamily="34" charset="-122"/>
              </a:rPr>
              <a:t>该函数返回的是一个全新的套接字对应的文件描述符，可以用不同的文件描述符来区别多个客户端与服务器的不同连接</a:t>
            </a: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zh-CN" altLang="en-US" sz="2000" kern="1200">
                <a:solidFill>
                  <a:srgbClr val="0070C0"/>
                </a:solidFill>
                <a:latin typeface="微软雅黑" panose="020B0503020204020204" pitchFamily="34" charset="-122"/>
                <a:ea typeface="微软雅黑" panose="020B0503020204020204" pitchFamily="34" charset="-122"/>
                <a:cs typeface="+mj-cs"/>
              </a:rPr>
              <a:t>数据传输</a:t>
            </a:r>
            <a:endParaRPr lang="zh-CN" altLang="zh-CN" sz="2000" kern="1200">
              <a:solidFill>
                <a:srgbClr val="0070C0"/>
              </a:solidFill>
              <a:latin typeface="微软雅黑" panose="020B0503020204020204" pitchFamily="34" charset="-122"/>
              <a:ea typeface="微软雅黑" panose="020B0503020204020204" pitchFamily="34" charset="-122"/>
              <a:cs typeface="+mj-cs"/>
            </a:endParaRPr>
          </a:p>
        </p:txBody>
      </p:sp>
      <p:sp>
        <p:nvSpPr>
          <p:cNvPr id="84993"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57</a:t>
            </a:fld>
            <a:endParaRPr lang="en-US" altLang="zh-CN" sz="1000">
              <a:latin typeface="Arial" panose="020B0604020202090204" pitchFamily="34" charset="0"/>
              <a:ea typeface="宋体" panose="02010600030101010101" pitchFamily="2" charset="-122"/>
            </a:endParaRPr>
          </a:p>
        </p:txBody>
      </p:sp>
      <p:sp>
        <p:nvSpPr>
          <p:cNvPr id="84995" name="Rectangle 3"/>
          <p:cNvSpPr txBox="1">
            <a:spLocks noChangeArrowheads="1"/>
          </p:cNvSpPr>
          <p:nvPr/>
        </p:nvSpPr>
        <p:spPr bwMode="auto">
          <a:xfrm>
            <a:off x="339725" y="677863"/>
            <a:ext cx="8464550" cy="3887788"/>
          </a:xfrm>
          <a:prstGeom prst="rect">
            <a:avLst/>
          </a:prstGeom>
          <a:noFill/>
          <a:ln>
            <a:noFill/>
          </a:ln>
        </p:spPr>
        <p:txBody>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742950" lvl="1" indent="-285750" eaLnBrk="1" hangingPunct="1">
              <a:lnSpc>
                <a:spcPct val="100000"/>
              </a:lnSpc>
              <a:spcBef>
                <a:spcPct val="30000"/>
              </a:spcBef>
              <a:buFont typeface="Wingdings" panose="05000000000000000000" pitchFamily="2" charset="2"/>
              <a:buNone/>
            </a:pPr>
            <a:r>
              <a:rPr lang="zh-CN" altLang="en-US"/>
              <a:t>头文件</a:t>
            </a:r>
            <a:r>
              <a:rPr lang="en-US" altLang="zh-CN"/>
              <a:t>unistd.h</a:t>
            </a:r>
          </a:p>
          <a:p>
            <a:pPr marL="742950" lvl="1" indent="-285750" eaLnBrk="1" hangingPunct="1">
              <a:lnSpc>
                <a:spcPct val="100000"/>
              </a:lnSpc>
              <a:spcBef>
                <a:spcPct val="30000"/>
              </a:spcBef>
              <a:buFont typeface="Wingdings" panose="05000000000000000000" pitchFamily="2" charset="2"/>
              <a:buNone/>
            </a:pPr>
            <a:r>
              <a:rPr lang="en-US" altLang="zh-CN" b="1">
                <a:solidFill>
                  <a:srgbClr val="3E8853"/>
                </a:solidFill>
              </a:rPr>
              <a:t>ssize_t  read( int filedes,  void *buf, size_t  nbytes);</a:t>
            </a:r>
          </a:p>
          <a:p>
            <a:pPr marL="742950" lvl="1" indent="-285750" eaLnBrk="1" hangingPunct="1">
              <a:lnSpc>
                <a:spcPct val="100000"/>
              </a:lnSpc>
              <a:spcBef>
                <a:spcPct val="30000"/>
              </a:spcBef>
              <a:buFont typeface="Wingdings" panose="05000000000000000000" pitchFamily="2" charset="2"/>
              <a:buNone/>
            </a:pPr>
            <a:endParaRPr lang="en-US" altLang="zh-CN" b="1">
              <a:solidFill>
                <a:srgbClr val="3E8853"/>
              </a:solidFill>
            </a:endParaRPr>
          </a:p>
          <a:p>
            <a:pPr marL="342900" lvl="0" indent="-342900" eaLnBrk="1" hangingPunct="1">
              <a:lnSpc>
                <a:spcPct val="115000"/>
              </a:lnSpc>
              <a:spcBef>
                <a:spcPct val="20000"/>
              </a:spcBef>
              <a:buFont typeface="Wingdings" panose="05000000000000000000" pitchFamily="2" charset="2"/>
              <a:buChar char="n"/>
            </a:pPr>
            <a:r>
              <a:rPr lang="en-US" altLang="zh-CN" sz="1800"/>
              <a:t>read</a:t>
            </a:r>
            <a:r>
              <a:rPr lang="zh-CN" altLang="en-US" sz="1800"/>
              <a:t>函数从套接字中读数据。如成功，则返回实际读到的字节数，如无数据可读，则返回</a:t>
            </a:r>
            <a:r>
              <a:rPr lang="en-US" altLang="zh-CN" sz="1800"/>
              <a:t>0</a:t>
            </a:r>
            <a:r>
              <a:rPr lang="zh-CN" altLang="en-US" sz="1800"/>
              <a:t>；有多种情况可使实际读到的字节数少于要求读的字节数：</a:t>
            </a:r>
          </a:p>
          <a:p>
            <a:pPr marL="742950" lvl="1" indent="-285750" eaLnBrk="1" hangingPunct="1">
              <a:lnSpc>
                <a:spcPct val="115000"/>
              </a:lnSpc>
              <a:spcBef>
                <a:spcPct val="30000"/>
              </a:spcBef>
              <a:buFont typeface="Wingdings" panose="05000000000000000000" pitchFamily="2" charset="2"/>
              <a:buChar char="l"/>
            </a:pPr>
            <a:r>
              <a:rPr lang="zh-CN" altLang="en-US" sz="1500">
                <a:solidFill>
                  <a:srgbClr val="0066CC"/>
                </a:solidFill>
              </a:rPr>
              <a:t>当从网络读时，网络中的缓冲机构可能造成返回值小于所要求读的字节数；</a:t>
            </a:r>
            <a:endParaRPr lang="en-US" altLang="zh-CN" sz="1500">
              <a:solidFill>
                <a:srgbClr val="0066CC"/>
              </a:solidFill>
            </a:endParaRPr>
          </a:p>
          <a:p>
            <a:pPr marL="342900" lvl="0" indent="-342900" eaLnBrk="1" hangingPunct="1">
              <a:lnSpc>
                <a:spcPct val="115000"/>
              </a:lnSpc>
              <a:spcBef>
                <a:spcPct val="20000"/>
              </a:spcBef>
              <a:buFont typeface="Wingdings" panose="05000000000000000000" pitchFamily="2" charset="2"/>
              <a:buChar char="n"/>
            </a:pPr>
            <a:r>
              <a:rPr lang="zh-CN" altLang="en-US" sz="1800"/>
              <a:t>进程调用</a:t>
            </a:r>
            <a:r>
              <a:rPr lang="en-US" altLang="zh-CN" sz="1800"/>
              <a:t>read</a:t>
            </a:r>
            <a:r>
              <a:rPr lang="zh-CN" altLang="en-US" sz="1800"/>
              <a:t>函数从套接字上读取数据，当套接字的接收缓冲区中还没有数据可读，函数</a:t>
            </a:r>
            <a:r>
              <a:rPr lang="en-US" altLang="zh-CN" sz="1800"/>
              <a:t>read</a:t>
            </a:r>
            <a:r>
              <a:rPr lang="zh-CN" altLang="en-US" sz="1800"/>
              <a:t>将发生阻塞，等待套接字的接收缓冲区中有数据可读；经过一段时间后，缓冲区内接收到数据，于是内核便去唤醒该进程，通过</a:t>
            </a:r>
            <a:r>
              <a:rPr lang="en-US" altLang="zh-CN" sz="1800"/>
              <a:t>read</a:t>
            </a:r>
            <a:r>
              <a:rPr lang="zh-CN" altLang="en-US" sz="1800"/>
              <a:t>访问这些数据。</a:t>
            </a:r>
          </a:p>
          <a:p>
            <a:pPr marL="342900" lvl="0" indent="-342900" eaLnBrk="1" hangingPunct="1">
              <a:lnSpc>
                <a:spcPct val="115000"/>
              </a:lnSpc>
              <a:spcBef>
                <a:spcPct val="20000"/>
              </a:spcBef>
              <a:buFont typeface="Wingdings" panose="05000000000000000000" pitchFamily="2" charset="2"/>
              <a:buChar char="n"/>
            </a:pPr>
            <a:r>
              <a:rPr lang="zh-CN" altLang="en-US" sz="1800"/>
              <a:t>如果在进程阻塞过程中，对方发生故障，那这个进程将永远阻塞下去</a:t>
            </a:r>
            <a:r>
              <a:rPr lang="zh-CN" altLang="en-US" sz="1800">
                <a:solidFill>
                  <a:srgbClr val="0066CC"/>
                </a:solidFill>
              </a:rPr>
              <a:t>。</a:t>
            </a:r>
          </a:p>
          <a:p>
            <a:pPr marL="342900" lvl="0" indent="-342900" eaLnBrk="1" hangingPunct="1">
              <a:lnSpc>
                <a:spcPct val="115000"/>
              </a:lnSpc>
              <a:spcBef>
                <a:spcPct val="20000"/>
              </a:spcBef>
              <a:buFont typeface="Wingdings" panose="05000000000000000000" pitchFamily="2" charset="2"/>
              <a:buChar char="n"/>
            </a:pPr>
            <a:endParaRPr lang="zh-CN" altLang="en-US" sz="1800">
              <a:solidFill>
                <a:srgbClr val="0066CC"/>
              </a:solidFill>
            </a:endParaRP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zh-CN" altLang="en-US" sz="2000" kern="1200">
                <a:solidFill>
                  <a:srgbClr val="0070C0"/>
                </a:solidFill>
                <a:latin typeface="微软雅黑" panose="020B0503020204020204" pitchFamily="34" charset="-122"/>
                <a:ea typeface="微软雅黑" panose="020B0503020204020204" pitchFamily="34" charset="-122"/>
                <a:cs typeface="+mj-cs"/>
              </a:rPr>
              <a:t>数据传输</a:t>
            </a:r>
            <a:endParaRPr lang="zh-CN" altLang="zh-CN" sz="2000" kern="1200">
              <a:solidFill>
                <a:srgbClr val="0070C0"/>
              </a:solidFill>
              <a:latin typeface="微软雅黑" panose="020B0503020204020204" pitchFamily="34" charset="-122"/>
              <a:ea typeface="微软雅黑" panose="020B0503020204020204" pitchFamily="34" charset="-122"/>
              <a:cs typeface="+mj-cs"/>
            </a:endParaRPr>
          </a:p>
        </p:txBody>
      </p:sp>
      <p:sp>
        <p:nvSpPr>
          <p:cNvPr id="86017"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58</a:t>
            </a:fld>
            <a:endParaRPr lang="en-US" altLang="zh-CN" sz="1000">
              <a:latin typeface="Arial" panose="020B0604020202090204" pitchFamily="34" charset="0"/>
              <a:ea typeface="宋体" panose="02010600030101010101" pitchFamily="2" charset="-122"/>
            </a:endParaRPr>
          </a:p>
        </p:txBody>
      </p:sp>
      <p:sp>
        <p:nvSpPr>
          <p:cNvPr id="86019" name="Rectangle 3"/>
          <p:cNvSpPr txBox="1">
            <a:spLocks noChangeArrowheads="1"/>
          </p:cNvSpPr>
          <p:nvPr/>
        </p:nvSpPr>
        <p:spPr bwMode="auto">
          <a:xfrm>
            <a:off x="481013" y="627063"/>
            <a:ext cx="8188325" cy="3889375"/>
          </a:xfrm>
          <a:prstGeom prst="rect">
            <a:avLst/>
          </a:prstGeom>
          <a:noFill/>
          <a:ln>
            <a:noFill/>
          </a:ln>
        </p:spPr>
        <p:txBody>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742950" lvl="1" indent="-285750" eaLnBrk="1" hangingPunct="1">
              <a:lnSpc>
                <a:spcPct val="100000"/>
              </a:lnSpc>
              <a:spcBef>
                <a:spcPct val="30000"/>
              </a:spcBef>
              <a:buFont typeface="Wingdings" panose="05000000000000000000" pitchFamily="2" charset="2"/>
              <a:buNone/>
            </a:pPr>
            <a:r>
              <a:rPr lang="zh-CN" altLang="en-US" b="1"/>
              <a:t>头文件</a:t>
            </a:r>
            <a:r>
              <a:rPr lang="en-US" altLang="zh-CN" b="1"/>
              <a:t>unistd.h</a:t>
            </a:r>
          </a:p>
          <a:p>
            <a:pPr marL="742950" lvl="1" indent="-285750" eaLnBrk="1" hangingPunct="1">
              <a:lnSpc>
                <a:spcPct val="100000"/>
              </a:lnSpc>
              <a:spcBef>
                <a:spcPct val="30000"/>
              </a:spcBef>
              <a:buFont typeface="Wingdings" panose="05000000000000000000" pitchFamily="2" charset="2"/>
              <a:buNone/>
            </a:pPr>
            <a:r>
              <a:rPr lang="en-US" altLang="zh-CN" b="1">
                <a:solidFill>
                  <a:srgbClr val="3E8853"/>
                </a:solidFill>
              </a:rPr>
              <a:t>ssize_t  write( int filedes,  const void *buf, size_t  nbytes);</a:t>
            </a:r>
          </a:p>
          <a:p>
            <a:pPr marL="742950" lvl="1" indent="-285750" eaLnBrk="1" hangingPunct="1">
              <a:lnSpc>
                <a:spcPct val="100000"/>
              </a:lnSpc>
              <a:spcBef>
                <a:spcPct val="30000"/>
              </a:spcBef>
              <a:buFont typeface="Wingdings" panose="05000000000000000000" pitchFamily="2" charset="2"/>
              <a:buNone/>
            </a:pPr>
            <a:endParaRPr lang="en-US" altLang="zh-CN"/>
          </a:p>
          <a:p>
            <a:pPr marL="342900" lvl="0" indent="-342900" eaLnBrk="1" hangingPunct="1">
              <a:lnSpc>
                <a:spcPct val="100000"/>
              </a:lnSpc>
              <a:spcBef>
                <a:spcPct val="20000"/>
              </a:spcBef>
              <a:buFont typeface="Wingdings" panose="05000000000000000000" pitchFamily="2" charset="2"/>
              <a:buChar char="n"/>
            </a:pPr>
            <a:r>
              <a:rPr lang="zh-CN" altLang="en-US" sz="1800"/>
              <a:t>该函数返回实际写的字节数，通常与参数</a:t>
            </a:r>
            <a:r>
              <a:rPr lang="en-US" altLang="zh-CN" sz="1800"/>
              <a:t>nbytes</a:t>
            </a:r>
            <a:r>
              <a:rPr lang="zh-CN" altLang="en-US" sz="1800"/>
              <a:t>的值相同，否则表示出错。</a:t>
            </a:r>
            <a:endParaRPr lang="en-US" altLang="zh-CN" sz="1800"/>
          </a:p>
          <a:p>
            <a:pPr marL="342900" lvl="0" indent="-342900" eaLnBrk="1" hangingPunct="1">
              <a:lnSpc>
                <a:spcPct val="100000"/>
              </a:lnSpc>
              <a:spcBef>
                <a:spcPct val="20000"/>
              </a:spcBef>
              <a:buFont typeface="Wingdings" panose="05000000000000000000" pitchFamily="2" charset="2"/>
              <a:buChar char="n"/>
            </a:pPr>
            <a:r>
              <a:rPr lang="zh-CN" altLang="en-US" sz="1800"/>
              <a:t>如果出错，则返回－</a:t>
            </a:r>
            <a:r>
              <a:rPr lang="en-US" altLang="zh-CN" sz="1800"/>
              <a:t>1</a:t>
            </a:r>
          </a:p>
          <a:p>
            <a:pPr marL="342900" lvl="0" indent="-342900" eaLnBrk="1" hangingPunct="1">
              <a:lnSpc>
                <a:spcPct val="100000"/>
              </a:lnSpc>
              <a:spcBef>
                <a:spcPct val="20000"/>
              </a:spcBef>
              <a:buFont typeface="Wingdings" panose="05000000000000000000" pitchFamily="2" charset="2"/>
              <a:buChar char="n"/>
            </a:pPr>
            <a:r>
              <a:rPr lang="zh-CN" altLang="en-US" sz="1800"/>
              <a:t>在写操作时发生阻塞的情况要比读操作少。主要发生在要写入的缓冲区的大小小于要写入的数据量的情况下。这时，写操作不进行任何拷贝工作，将发生阻塞</a:t>
            </a:r>
          </a:p>
          <a:p>
            <a:pPr marL="342900" lvl="0" indent="-342900" eaLnBrk="1" hangingPunct="1">
              <a:lnSpc>
                <a:spcPct val="100000"/>
              </a:lnSpc>
              <a:spcBef>
                <a:spcPct val="20000"/>
              </a:spcBef>
              <a:buFont typeface="Wingdings" panose="05000000000000000000" pitchFamily="2" charset="2"/>
              <a:buChar char="n"/>
            </a:pPr>
            <a:r>
              <a:rPr lang="zh-CN" altLang="en-US" sz="1800"/>
              <a:t>一旦发送缓冲区内有足够的空间，内核将唤醒进程，将数据从用户缓冲区中拷贝到相应的发送数据缓冲区。</a:t>
            </a:r>
          </a:p>
          <a:p>
            <a:pPr marL="342900" lvl="0" indent="-342900" eaLnBrk="1" hangingPunct="1">
              <a:lnSpc>
                <a:spcPct val="100000"/>
              </a:lnSpc>
              <a:spcBef>
                <a:spcPct val="20000"/>
              </a:spcBef>
              <a:buFont typeface="Wingdings" panose="05000000000000000000" pitchFamily="2" charset="2"/>
              <a:buChar char="n"/>
            </a:pPr>
            <a:endParaRPr lang="zh-CN" altLang="en-US" sz="1800">
              <a:solidFill>
                <a:srgbClr val="0066CC"/>
              </a:solidFill>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zh-CN" altLang="en-US" sz="2000" kern="1200">
                <a:solidFill>
                  <a:srgbClr val="0070C0"/>
                </a:solidFill>
                <a:latin typeface="微软雅黑" panose="020B0503020204020204" pitchFamily="34" charset="-122"/>
                <a:ea typeface="微软雅黑" panose="020B0503020204020204" pitchFamily="34" charset="-122"/>
                <a:cs typeface="+mj-cs"/>
              </a:rPr>
              <a:t>数据传输</a:t>
            </a:r>
          </a:p>
        </p:txBody>
      </p:sp>
      <p:sp>
        <p:nvSpPr>
          <p:cNvPr id="80898" name="Rectangle 3"/>
          <p:cNvSpPr>
            <a:spLocks noGrp="1"/>
          </p:cNvSpPr>
          <p:nvPr>
            <p:ph idx="1" hasCustomPrompt="1"/>
          </p:nvPr>
        </p:nvSpPr>
        <p:spPr>
          <a:xfrm>
            <a:off x="425450" y="641350"/>
            <a:ext cx="8185150" cy="3860800"/>
          </a:xfrm>
          <a:ln/>
        </p:spPr>
        <p:txBody>
          <a:bodyPr vert="horz" wrap="square" lIns="91440" tIns="45720" rIns="91440" bIns="45720" anchor="t" anchorCtr="0"/>
          <a:lstStyle/>
          <a:p>
            <a:r>
              <a:rPr lang="en-US" altLang="zh-CN" kern="1200">
                <a:latin typeface="微软雅黑" panose="020B0503020204020204" pitchFamily="34" charset="-122"/>
                <a:ea typeface="微软雅黑" panose="020B0503020204020204" pitchFamily="34" charset="-122"/>
                <a:cs typeface="+mn-cs"/>
              </a:rPr>
              <a:t>int send(int sockfd, const void * data, int data_len, unsigned int flags)</a:t>
            </a:r>
          </a:p>
          <a:p>
            <a:endParaRPr lang="en-US" altLang="zh-CN" kern="1200">
              <a:solidFill>
                <a:srgbClr val="0000CC"/>
              </a:solidFill>
              <a:latin typeface="微软雅黑" panose="020B0503020204020204" pitchFamily="34" charset="-122"/>
              <a:ea typeface="微软雅黑" panose="020B0503020204020204" pitchFamily="34" charset="-122"/>
              <a:cs typeface="+mn-cs"/>
            </a:endParaRPr>
          </a:p>
        </p:txBody>
      </p:sp>
      <p:sp>
        <p:nvSpPr>
          <p:cNvPr id="87041"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59</a:t>
            </a:fld>
            <a:endParaRPr lang="en-US" altLang="zh-CN" sz="1000">
              <a:latin typeface="Arial" panose="020B0604020202090204" pitchFamily="34" charset="0"/>
              <a:ea typeface="宋体" panose="02010600030101010101" pitchFamily="2" charset="-122"/>
            </a:endParaRPr>
          </a:p>
        </p:txBody>
      </p:sp>
      <p:sp>
        <p:nvSpPr>
          <p:cNvPr id="1999876" name="Rectangle 4"/>
          <p:cNvSpPr>
            <a:spLocks noChangeArrowheads="1"/>
          </p:cNvSpPr>
          <p:nvPr/>
        </p:nvSpPr>
        <p:spPr bwMode="auto">
          <a:xfrm>
            <a:off x="496888" y="1512888"/>
            <a:ext cx="8185150" cy="3171825"/>
          </a:xfrm>
          <a:prstGeom prst="rect">
            <a:avLst/>
          </a:prstGeom>
          <a:noFill/>
          <a:ln>
            <a:noFill/>
          </a:ln>
          <a:effectLst/>
        </p:spPr>
        <p:txBody>
          <a:bodyPr lIns="69056" tIns="34529" rIns="69056" bIns="34529"/>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342900" lvl="0" indent="-342900">
              <a:lnSpc>
                <a:spcPct val="100000"/>
              </a:lnSpc>
              <a:spcBef>
                <a:spcPct val="20000"/>
              </a:spcBef>
              <a:buClr>
                <a:schemeClr val="tx2"/>
              </a:buClr>
              <a:buSzPct val="90000"/>
              <a:buFont typeface="Wingdings" panose="05000000000000000000" pitchFamily="2" charset="2"/>
              <a:buBlip>
                <a:blip r:embed="rId2"/>
              </a:buBlip>
            </a:pPr>
            <a:r>
              <a:rPr lang="zh-CN" altLang="en-US" sz="1800">
                <a:effectLst>
                  <a:outerShdw blurRad="38100" dist="38100" dir="2700000">
                    <a:srgbClr val="C0C0C0"/>
                  </a:outerShdw>
                </a:effectLst>
              </a:rPr>
              <a:t>功能：</a:t>
            </a:r>
          </a:p>
          <a:p>
            <a:pPr marL="742950" lvl="1" indent="-285750">
              <a:lnSpc>
                <a:spcPct val="100000"/>
              </a:lnSpc>
              <a:spcBef>
                <a:spcPct val="20000"/>
              </a:spcBef>
              <a:buClr>
                <a:srgbClr val="FF0000"/>
              </a:buClr>
              <a:buFont typeface="Wingdings" panose="05000000000000000000" pitchFamily="2" charset="2"/>
              <a:buChar char="¯"/>
            </a:pPr>
            <a:r>
              <a:rPr lang="zh-CN" altLang="en-US" sz="1600">
                <a:effectLst>
                  <a:outerShdw blurRad="38100" dist="38100" dir="2700000">
                    <a:srgbClr val="C0C0C0"/>
                  </a:outerShdw>
                </a:effectLst>
              </a:rPr>
              <a:t>在</a:t>
            </a:r>
            <a:r>
              <a:rPr lang="en-US" altLang="zh-CN" sz="1600">
                <a:effectLst>
                  <a:outerShdw blurRad="38100" dist="38100" dir="2700000">
                    <a:srgbClr val="C0C0C0"/>
                  </a:outerShdw>
                </a:effectLst>
              </a:rPr>
              <a:t>TCP</a:t>
            </a:r>
            <a:r>
              <a:rPr lang="zh-CN" altLang="en-US" sz="1600">
                <a:effectLst>
                  <a:outerShdw blurRad="38100" dist="38100" dir="2700000">
                    <a:srgbClr val="C0C0C0"/>
                  </a:outerShdw>
                </a:effectLst>
              </a:rPr>
              <a:t>连接上发送数据（服务器和客户端均适用）</a:t>
            </a:r>
            <a:r>
              <a:rPr lang="en-US" altLang="zh-CN" sz="1600">
                <a:effectLst>
                  <a:outerShdw blurRad="38100" dist="38100" dir="2700000">
                    <a:srgbClr val="C0C0C0"/>
                  </a:outerShdw>
                </a:effectLst>
              </a:rPr>
              <a:t>,</a:t>
            </a:r>
            <a:r>
              <a:rPr lang="zh-CN" altLang="en-US" sz="1600">
                <a:effectLst>
                  <a:outerShdw blurRad="38100" dist="38100" dir="2700000">
                    <a:srgbClr val="C0C0C0"/>
                  </a:outerShdw>
                </a:effectLst>
              </a:rPr>
              <a:t>返回成功传送数据的长度，出错时返回－</a:t>
            </a:r>
            <a:r>
              <a:rPr lang="en-US" altLang="zh-CN" sz="1600">
                <a:effectLst>
                  <a:outerShdw blurRad="38100" dist="38100" dir="2700000">
                    <a:srgbClr val="C0C0C0"/>
                  </a:outerShdw>
                </a:effectLst>
              </a:rPr>
              <a:t>1</a:t>
            </a:r>
            <a:endParaRPr lang="zh-CN" altLang="en-US" sz="1600">
              <a:effectLst>
                <a:outerShdw blurRad="38100" dist="38100" dir="2700000">
                  <a:srgbClr val="C0C0C0"/>
                </a:outerShdw>
              </a:effectLst>
            </a:endParaRPr>
          </a:p>
          <a:p>
            <a:pPr marL="742950" lvl="1" indent="-285750">
              <a:lnSpc>
                <a:spcPct val="100000"/>
              </a:lnSpc>
              <a:spcBef>
                <a:spcPct val="20000"/>
              </a:spcBef>
              <a:buClr>
                <a:srgbClr val="FF0000"/>
              </a:buClr>
              <a:buFont typeface="Wingdings" panose="05000000000000000000" pitchFamily="2" charset="2"/>
              <a:buChar char="¯"/>
            </a:pPr>
            <a:r>
              <a:rPr lang="en-US" altLang="zh-CN" sz="1600">
                <a:effectLst>
                  <a:outerShdw blurRad="38100" dist="38100" dir="2700000">
                    <a:srgbClr val="C0C0C0"/>
                  </a:outerShdw>
                </a:effectLst>
              </a:rPr>
              <a:t>send</a:t>
            </a:r>
            <a:r>
              <a:rPr lang="zh-CN" altLang="en-US" sz="1600">
                <a:effectLst>
                  <a:outerShdw blurRad="38100" dist="38100" dir="2700000">
                    <a:srgbClr val="C0C0C0"/>
                  </a:outerShdw>
                </a:effectLst>
              </a:rPr>
              <a:t>会将外发数据复制到</a:t>
            </a:r>
            <a:r>
              <a:rPr lang="en-US" altLang="zh-CN" sz="1600">
                <a:effectLst>
                  <a:outerShdw blurRad="38100" dist="38100" dir="2700000">
                    <a:srgbClr val="C0C0C0"/>
                  </a:outerShdw>
                </a:effectLst>
              </a:rPr>
              <a:t>OS</a:t>
            </a:r>
            <a:r>
              <a:rPr lang="zh-CN" altLang="en-US" sz="1600">
                <a:effectLst>
                  <a:outerShdw blurRad="38100" dist="38100" dir="2700000">
                    <a:srgbClr val="C0C0C0"/>
                  </a:outerShdw>
                </a:effectLst>
              </a:rPr>
              <a:t>内核中，也可以使用</a:t>
            </a:r>
            <a:r>
              <a:rPr lang="en-US" altLang="zh-CN" sz="1600">
                <a:effectLst>
                  <a:outerShdw blurRad="38100" dist="38100" dir="2700000">
                    <a:srgbClr val="C0C0C0"/>
                  </a:outerShdw>
                </a:effectLst>
              </a:rPr>
              <a:t>send</a:t>
            </a:r>
            <a:r>
              <a:rPr lang="zh-CN" altLang="en-US" sz="1600">
                <a:effectLst>
                  <a:outerShdw blurRad="38100" dist="38100" dir="2700000">
                    <a:srgbClr val="C0C0C0"/>
                  </a:outerShdw>
                </a:effectLst>
              </a:rPr>
              <a:t>发送面向连接的</a:t>
            </a:r>
            <a:r>
              <a:rPr lang="en-US" altLang="zh-CN" sz="1600">
                <a:effectLst>
                  <a:outerShdw blurRad="38100" dist="38100" dir="2700000">
                    <a:srgbClr val="C0C0C0"/>
                  </a:outerShdw>
                </a:effectLst>
              </a:rPr>
              <a:t>UDP</a:t>
            </a:r>
            <a:r>
              <a:rPr lang="zh-CN" altLang="en-US" sz="1600">
                <a:effectLst>
                  <a:outerShdw blurRad="38100" dist="38100" dir="2700000">
                    <a:srgbClr val="C0C0C0"/>
                  </a:outerShdw>
                </a:effectLst>
              </a:rPr>
              <a:t>报文。</a:t>
            </a:r>
          </a:p>
          <a:p>
            <a:pPr marL="342900" lvl="0" indent="-342900">
              <a:lnSpc>
                <a:spcPct val="100000"/>
              </a:lnSpc>
              <a:spcBef>
                <a:spcPct val="20000"/>
              </a:spcBef>
              <a:buClr>
                <a:schemeClr val="tx2"/>
              </a:buClr>
              <a:buSzPct val="90000"/>
              <a:buFont typeface="Wingdings" panose="05000000000000000000" pitchFamily="2" charset="2"/>
              <a:buBlip>
                <a:blip r:embed="rId2"/>
              </a:buBlip>
            </a:pPr>
            <a:r>
              <a:rPr lang="zh-CN" altLang="en-US" sz="1800">
                <a:effectLst>
                  <a:outerShdw blurRad="38100" dist="38100" dir="2700000">
                    <a:srgbClr val="C0C0C0"/>
                  </a:outerShdw>
                </a:effectLst>
              </a:rPr>
              <a:t>参数说明：</a:t>
            </a:r>
          </a:p>
          <a:p>
            <a:pPr marL="742950" lvl="1" indent="-285750">
              <a:lnSpc>
                <a:spcPct val="100000"/>
              </a:lnSpc>
              <a:spcBef>
                <a:spcPct val="20000"/>
              </a:spcBef>
              <a:buClr>
                <a:srgbClr val="FF0000"/>
              </a:buClr>
              <a:buFont typeface="Wingdings" panose="05000000000000000000" pitchFamily="2" charset="2"/>
              <a:buChar char="u"/>
            </a:pPr>
            <a:r>
              <a:rPr lang="en-US" altLang="zh-CN" sz="1600">
                <a:effectLst>
                  <a:outerShdw blurRad="38100" dist="38100" dir="2700000">
                    <a:srgbClr val="C0C0C0"/>
                  </a:outerShdw>
                </a:effectLst>
              </a:rPr>
              <a:t>sockfd:</a:t>
            </a:r>
            <a:r>
              <a:rPr lang="zh-CN" altLang="en-US" sz="1600">
                <a:effectLst>
                  <a:outerShdw blurRad="38100" dist="38100" dir="2700000">
                    <a:srgbClr val="C0C0C0"/>
                  </a:outerShdw>
                </a:effectLst>
              </a:rPr>
              <a:t>套接字对应的文件描述符（对于客户端是</a:t>
            </a:r>
            <a:r>
              <a:rPr lang="en-US" altLang="zh-CN" sz="1600">
                <a:effectLst>
                  <a:outerShdw blurRad="38100" dist="38100" dir="2700000">
                    <a:srgbClr val="C0C0C0"/>
                  </a:outerShdw>
                </a:effectLst>
              </a:rPr>
              <a:t>socket</a:t>
            </a:r>
            <a:r>
              <a:rPr lang="zh-CN" altLang="en-US" sz="1600">
                <a:effectLst>
                  <a:outerShdw blurRad="38100" dist="38100" dir="2700000">
                    <a:srgbClr val="C0C0C0"/>
                  </a:outerShdw>
                </a:effectLst>
              </a:rPr>
              <a:t>函数的返回值，对于服务器是</a:t>
            </a:r>
            <a:r>
              <a:rPr lang="en-US" altLang="zh-CN" sz="1600">
                <a:effectLst>
                  <a:outerShdw blurRad="38100" dist="38100" dir="2700000">
                    <a:srgbClr val="C0C0C0"/>
                  </a:outerShdw>
                </a:effectLst>
              </a:rPr>
              <a:t>connet</a:t>
            </a:r>
            <a:r>
              <a:rPr lang="zh-CN" altLang="en-US" sz="1600">
                <a:effectLst>
                  <a:outerShdw blurRad="38100" dist="38100" dir="2700000">
                    <a:srgbClr val="C0C0C0"/>
                  </a:outerShdw>
                </a:effectLst>
              </a:rPr>
              <a:t>函数的返回值）</a:t>
            </a:r>
          </a:p>
          <a:p>
            <a:pPr marL="742950" lvl="1" indent="-285750">
              <a:lnSpc>
                <a:spcPct val="100000"/>
              </a:lnSpc>
              <a:spcBef>
                <a:spcPct val="20000"/>
              </a:spcBef>
              <a:buClr>
                <a:srgbClr val="FF0000"/>
              </a:buClr>
              <a:buFont typeface="Wingdings" panose="05000000000000000000" pitchFamily="2" charset="2"/>
              <a:buChar char="u"/>
            </a:pPr>
            <a:r>
              <a:rPr lang="en-US" altLang="zh-CN" sz="1600">
                <a:effectLst>
                  <a:outerShdw blurRad="38100" dist="38100" dir="2700000">
                    <a:srgbClr val="C0C0C0"/>
                  </a:outerShdw>
                </a:effectLst>
              </a:rPr>
              <a:t>data:</a:t>
            </a:r>
            <a:r>
              <a:rPr lang="zh-CN" altLang="en-US" sz="1600">
                <a:effectLst>
                  <a:outerShdw blurRad="38100" dist="38100" dir="2700000">
                    <a:srgbClr val="C0C0C0"/>
                  </a:outerShdw>
                </a:effectLst>
              </a:rPr>
              <a:t>指向要发送数据的指针</a:t>
            </a:r>
          </a:p>
          <a:p>
            <a:pPr marL="742950" lvl="1" indent="-285750">
              <a:lnSpc>
                <a:spcPct val="100000"/>
              </a:lnSpc>
              <a:spcBef>
                <a:spcPct val="20000"/>
              </a:spcBef>
              <a:buClr>
                <a:srgbClr val="FF0000"/>
              </a:buClr>
              <a:buFont typeface="Wingdings" panose="05000000000000000000" pitchFamily="2" charset="2"/>
              <a:buChar char="u"/>
            </a:pPr>
            <a:r>
              <a:rPr lang="en-US" altLang="zh-CN" sz="1600">
                <a:effectLst>
                  <a:outerShdw blurRad="38100" dist="38100" dir="2700000">
                    <a:srgbClr val="C0C0C0"/>
                  </a:outerShdw>
                </a:effectLst>
              </a:rPr>
              <a:t>data_len:</a:t>
            </a:r>
            <a:r>
              <a:rPr lang="zh-CN" altLang="en-US" sz="1600">
                <a:effectLst>
                  <a:outerShdw blurRad="38100" dist="38100" dir="2700000">
                    <a:srgbClr val="C0C0C0"/>
                  </a:outerShdw>
                </a:effectLst>
              </a:rPr>
              <a:t>数据长度</a:t>
            </a:r>
          </a:p>
          <a:p>
            <a:pPr marL="742950" lvl="1" indent="-285750">
              <a:lnSpc>
                <a:spcPct val="100000"/>
              </a:lnSpc>
              <a:spcBef>
                <a:spcPct val="20000"/>
              </a:spcBef>
              <a:buClr>
                <a:srgbClr val="FF0000"/>
              </a:buClr>
              <a:buFont typeface="Wingdings" panose="05000000000000000000" pitchFamily="2" charset="2"/>
              <a:buChar char="u"/>
            </a:pPr>
            <a:r>
              <a:rPr lang="en-US" altLang="zh-CN" sz="1600">
                <a:effectLst>
                  <a:outerShdw blurRad="38100" dist="38100" dir="2700000">
                    <a:srgbClr val="C0C0C0"/>
                  </a:outerShdw>
                </a:effectLst>
              </a:rPr>
              <a:t>flags:</a:t>
            </a:r>
            <a:r>
              <a:rPr lang="zh-CN" altLang="en-US" sz="1600">
                <a:effectLst>
                  <a:outerShdw blurRad="38100" dist="38100" dir="2700000">
                    <a:srgbClr val="C0C0C0"/>
                  </a:outerShdw>
                </a:effectLst>
              </a:rPr>
              <a:t>一般为</a:t>
            </a:r>
            <a:r>
              <a:rPr lang="en-US" altLang="zh-CN" sz="1600">
                <a:effectLst>
                  <a:outerShdw blurRad="38100" dist="38100" dir="2700000">
                    <a:srgbClr val="C0C0C0"/>
                  </a:outerShdw>
                </a:effectLst>
              </a:rPr>
              <a:t>0</a:t>
            </a:r>
            <a:r>
              <a:rPr lang="zh-CN" altLang="en-US" sz="1600">
                <a:effectLst>
                  <a:outerShdw blurRad="38100" dist="38100" dir="2700000">
                    <a:srgbClr val="C0C0C0"/>
                  </a:outerShdw>
                </a:effectLst>
              </a:rPr>
              <a:t>，则和</a:t>
            </a:r>
            <a:r>
              <a:rPr lang="en-US" altLang="zh-CN" sz="1600">
                <a:effectLst>
                  <a:outerShdw blurRad="38100" dist="38100" dir="2700000">
                    <a:srgbClr val="C0C0C0"/>
                  </a:outerShdw>
                </a:effectLst>
              </a:rPr>
              <a:t>write</a:t>
            </a:r>
            <a:r>
              <a:rPr lang="zh-CN" altLang="en-US" sz="1600">
                <a:effectLst>
                  <a:outerShdw blurRad="38100" dist="38100" dir="2700000">
                    <a:srgbClr val="C0C0C0"/>
                  </a:outerShdw>
                </a:effectLst>
              </a:rPr>
              <a:t>一样的操作</a:t>
            </a:r>
            <a:endParaRPr lang="en-US" altLang="zh-CN" sz="1600">
              <a:effectLst>
                <a:outerShdw blurRad="38100" dist="38100" dir="2700000">
                  <a:srgbClr val="C0C0C0"/>
                </a:outerShdw>
              </a:effectLst>
            </a:endParaRPr>
          </a:p>
          <a:p>
            <a:pPr marL="742950" lvl="1" indent="-285750">
              <a:lnSpc>
                <a:spcPct val="100000"/>
              </a:lnSpc>
              <a:spcBef>
                <a:spcPct val="20000"/>
              </a:spcBef>
              <a:buClr>
                <a:srgbClr val="FF0000"/>
              </a:buClr>
              <a:buFont typeface="Wingdings" panose="05000000000000000000" pitchFamily="2" charset="2"/>
              <a:buNone/>
            </a:pPr>
            <a:endParaRPr lang="en-US" altLang="zh-CN" sz="1600">
              <a:effectLst>
                <a:outerShdw blurRad="38100" dist="38100" dir="2700000">
                  <a:srgbClr val="C0C0C0"/>
                </a:outerShdw>
              </a:effectLst>
            </a:endParaRPr>
          </a:p>
        </p:txBody>
      </p:sp>
    </p:spTree>
  </p:cSld>
  <p:clrMapOvr>
    <a:masterClrMapping/>
  </p:clrMapOvr>
  <p:transition spd="slow"/>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zh-CN" altLang="en-US" sz="2000" kern="1200">
                <a:solidFill>
                  <a:srgbClr val="0070C0"/>
                </a:solidFill>
                <a:latin typeface="微软雅黑" panose="020B0503020204020204" pitchFamily="34" charset="-122"/>
                <a:ea typeface="微软雅黑" panose="020B0503020204020204" pitchFamily="34" charset="-122"/>
                <a:cs typeface="+mj-cs"/>
              </a:rPr>
              <a:t>数据传输</a:t>
            </a:r>
            <a:endParaRPr lang="zh-CN" altLang="zh-CN" sz="2000" kern="1200">
              <a:solidFill>
                <a:srgbClr val="0070C0"/>
              </a:solidFill>
              <a:latin typeface="微软雅黑" panose="020B0503020204020204" pitchFamily="34" charset="-122"/>
              <a:ea typeface="微软雅黑" panose="020B0503020204020204" pitchFamily="34" charset="-122"/>
              <a:cs typeface="+mj-cs"/>
            </a:endParaRPr>
          </a:p>
        </p:txBody>
      </p:sp>
      <p:sp>
        <p:nvSpPr>
          <p:cNvPr id="81922"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r>
              <a:rPr lang="en-US" altLang="zh-CN" kern="1200">
                <a:latin typeface="微软雅黑" panose="020B0503020204020204" pitchFamily="34" charset="-122"/>
                <a:ea typeface="微软雅黑" panose="020B0503020204020204" pitchFamily="34" charset="-122"/>
                <a:cs typeface="+mn-cs"/>
              </a:rPr>
              <a:t>int recv(int sockfd, void *buf, int buf_len,unsigned int flags); </a:t>
            </a:r>
          </a:p>
        </p:txBody>
      </p:sp>
      <p:sp>
        <p:nvSpPr>
          <p:cNvPr id="88065"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60</a:t>
            </a:fld>
            <a:endParaRPr lang="en-US" altLang="zh-CN" sz="1000">
              <a:latin typeface="Arial" panose="020B0604020202090204" pitchFamily="34" charset="0"/>
              <a:ea typeface="宋体" panose="02010600030101010101" pitchFamily="2" charset="-122"/>
            </a:endParaRPr>
          </a:p>
        </p:txBody>
      </p:sp>
      <p:sp>
        <p:nvSpPr>
          <p:cNvPr id="2001924" name="Rectangle 4"/>
          <p:cNvSpPr>
            <a:spLocks noChangeArrowheads="1"/>
          </p:cNvSpPr>
          <p:nvPr/>
        </p:nvSpPr>
        <p:spPr bwMode="auto">
          <a:xfrm>
            <a:off x="611188" y="1325563"/>
            <a:ext cx="7921625" cy="3341688"/>
          </a:xfrm>
          <a:prstGeom prst="rect">
            <a:avLst/>
          </a:prstGeom>
          <a:noFill/>
          <a:ln>
            <a:noFill/>
          </a:ln>
          <a:effectLst/>
        </p:spPr>
        <p:txBody>
          <a:bodyPr lIns="69056" tIns="34529" rIns="69056" bIns="34529"/>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342900" lvl="0" indent="-342900">
              <a:lnSpc>
                <a:spcPct val="100000"/>
              </a:lnSpc>
              <a:spcBef>
                <a:spcPct val="20000"/>
              </a:spcBef>
              <a:buClr>
                <a:schemeClr val="tx2"/>
              </a:buClr>
              <a:buSzPct val="90000"/>
              <a:buFont typeface="Wingdings" panose="05000000000000000000" pitchFamily="2" charset="2"/>
              <a:buBlip>
                <a:blip r:embed="rId2"/>
              </a:buBlip>
            </a:pPr>
            <a:r>
              <a:rPr lang="zh-CN" altLang="en-US" sz="1600">
                <a:effectLst>
                  <a:outerShdw blurRad="38100" dist="38100" dir="2700000">
                    <a:srgbClr val="C0C0C0"/>
                  </a:outerShdw>
                </a:effectLst>
              </a:rPr>
              <a:t>功能：</a:t>
            </a:r>
          </a:p>
          <a:p>
            <a:pPr marL="742950" lvl="1" indent="-285750">
              <a:lnSpc>
                <a:spcPct val="100000"/>
              </a:lnSpc>
              <a:spcBef>
                <a:spcPct val="20000"/>
              </a:spcBef>
              <a:buClr>
                <a:srgbClr val="FF0000"/>
              </a:buClr>
              <a:buFont typeface="Wingdings" panose="05000000000000000000" pitchFamily="2" charset="2"/>
              <a:buChar char="µ"/>
            </a:pPr>
            <a:r>
              <a:rPr lang="zh-CN" altLang="en-US" sz="1600">
                <a:effectLst>
                  <a:outerShdw blurRad="38100" dist="38100" dir="2700000">
                    <a:srgbClr val="C0C0C0"/>
                  </a:outerShdw>
                </a:effectLst>
              </a:rPr>
              <a:t>从</a:t>
            </a:r>
            <a:r>
              <a:rPr lang="en-US" altLang="zh-CN" sz="1600">
                <a:effectLst>
                  <a:outerShdw blurRad="38100" dist="38100" dir="2700000">
                    <a:srgbClr val="C0C0C0"/>
                  </a:outerShdw>
                </a:effectLst>
              </a:rPr>
              <a:t>TCP</a:t>
            </a:r>
            <a:r>
              <a:rPr lang="zh-CN" altLang="en-US" sz="1600">
                <a:effectLst>
                  <a:outerShdw blurRad="38100" dist="38100" dir="2700000">
                    <a:srgbClr val="C0C0C0"/>
                  </a:outerShdw>
                </a:effectLst>
              </a:rPr>
              <a:t>接收数据</a:t>
            </a:r>
            <a:r>
              <a:rPr lang="en-US" altLang="zh-CN" sz="1600">
                <a:effectLst>
                  <a:outerShdw blurRad="38100" dist="38100" dir="2700000">
                    <a:srgbClr val="C0C0C0"/>
                  </a:outerShdw>
                </a:effectLst>
              </a:rPr>
              <a:t>,</a:t>
            </a:r>
            <a:r>
              <a:rPr lang="zh-CN" altLang="en-US" sz="1600">
                <a:effectLst>
                  <a:outerShdw blurRad="38100" dist="38100" dir="2700000">
                    <a:srgbClr val="C0C0C0"/>
                  </a:outerShdw>
                </a:effectLst>
              </a:rPr>
              <a:t>返回实际接收的数据长度，出错时返回－</a:t>
            </a:r>
            <a:r>
              <a:rPr lang="en-US" altLang="zh-CN" sz="1600">
                <a:effectLst>
                  <a:outerShdw blurRad="38100" dist="38100" dir="2700000">
                    <a:srgbClr val="C0C0C0"/>
                  </a:outerShdw>
                </a:effectLst>
              </a:rPr>
              <a:t>1</a:t>
            </a:r>
            <a:r>
              <a:rPr lang="zh-CN" altLang="en-US" sz="1600">
                <a:effectLst>
                  <a:outerShdw blurRad="38100" dist="38100" dir="2700000">
                    <a:srgbClr val="C0C0C0"/>
                  </a:outerShdw>
                </a:effectLst>
              </a:rPr>
              <a:t>。</a:t>
            </a:r>
          </a:p>
          <a:p>
            <a:pPr marL="742950" lvl="1" indent="-285750">
              <a:lnSpc>
                <a:spcPct val="100000"/>
              </a:lnSpc>
              <a:spcBef>
                <a:spcPct val="20000"/>
              </a:spcBef>
              <a:buClr>
                <a:srgbClr val="FF0000"/>
              </a:buClr>
              <a:buFont typeface="Wingdings" panose="05000000000000000000" pitchFamily="2" charset="2"/>
              <a:buChar char="µ"/>
            </a:pPr>
            <a:r>
              <a:rPr lang="zh-CN" altLang="en-US" sz="1600">
                <a:effectLst>
                  <a:outerShdw blurRad="38100" dist="38100" dir="2700000">
                    <a:srgbClr val="C0C0C0"/>
                  </a:outerShdw>
                </a:effectLst>
              </a:rPr>
              <a:t>服务器使用其接收客户请求，客户使用它接受服务器的应答。如果没有数据，将阻塞</a:t>
            </a:r>
            <a:r>
              <a:rPr lang="zh-CN" altLang="en-US" sz="1600" b="1">
                <a:effectLst>
                  <a:outerShdw blurRad="38100" dist="38100" dir="2700000">
                    <a:srgbClr val="C0C0C0"/>
                  </a:outerShdw>
                </a:effectLst>
              </a:rPr>
              <a:t>，</a:t>
            </a:r>
            <a:r>
              <a:rPr lang="zh-CN" altLang="en-US" sz="1600">
                <a:effectLst>
                  <a:outerShdw blurRad="38100" dist="38100" dir="2700000">
                    <a:srgbClr val="C0C0C0"/>
                  </a:outerShdw>
                </a:effectLst>
              </a:rPr>
              <a:t>如果收到的数据大于缓存的大小，多余的数据将丢弃。也可以使用</a:t>
            </a:r>
            <a:r>
              <a:rPr lang="en-US" altLang="zh-CN" sz="1600">
                <a:effectLst>
                  <a:outerShdw blurRad="38100" dist="38100" dir="2700000">
                    <a:srgbClr val="C0C0C0"/>
                  </a:outerShdw>
                </a:effectLst>
              </a:rPr>
              <a:t>recv</a:t>
            </a:r>
            <a:r>
              <a:rPr lang="zh-CN" altLang="en-US" sz="1600">
                <a:effectLst>
                  <a:outerShdw blurRad="38100" dist="38100" dir="2700000">
                    <a:srgbClr val="C0C0C0"/>
                  </a:outerShdw>
                </a:effectLst>
              </a:rPr>
              <a:t>接收面向连接的</a:t>
            </a:r>
            <a:r>
              <a:rPr lang="en-US" altLang="zh-CN" sz="1600">
                <a:effectLst>
                  <a:outerShdw blurRad="38100" dist="38100" dir="2700000">
                    <a:srgbClr val="C0C0C0"/>
                  </a:outerShdw>
                </a:effectLst>
              </a:rPr>
              <a:t>UDP</a:t>
            </a:r>
            <a:r>
              <a:rPr lang="zh-CN" altLang="en-US" sz="1600">
                <a:effectLst>
                  <a:outerShdw blurRad="38100" dist="38100" dir="2700000">
                    <a:srgbClr val="C0C0C0"/>
                  </a:outerShdw>
                </a:effectLst>
              </a:rPr>
              <a:t>的报文</a:t>
            </a:r>
          </a:p>
          <a:p>
            <a:pPr marL="342900" lvl="0" indent="-342900">
              <a:lnSpc>
                <a:spcPct val="100000"/>
              </a:lnSpc>
              <a:spcBef>
                <a:spcPct val="20000"/>
              </a:spcBef>
              <a:buClr>
                <a:schemeClr val="tx2"/>
              </a:buClr>
              <a:buSzPct val="90000"/>
              <a:buFont typeface="Wingdings" panose="05000000000000000000" pitchFamily="2" charset="2"/>
              <a:buBlip>
                <a:blip r:embed="rId2"/>
              </a:buBlip>
            </a:pPr>
            <a:r>
              <a:rPr lang="zh-CN" altLang="en-US" sz="1600">
                <a:effectLst>
                  <a:outerShdw blurRad="38100" dist="38100" dir="2700000">
                    <a:srgbClr val="C0C0C0"/>
                  </a:outerShdw>
                </a:effectLst>
              </a:rPr>
              <a:t>参数说明：</a:t>
            </a:r>
          </a:p>
          <a:p>
            <a:pPr marL="742950" lvl="1" indent="-285750">
              <a:lnSpc>
                <a:spcPct val="100000"/>
              </a:lnSpc>
              <a:spcBef>
                <a:spcPct val="20000"/>
              </a:spcBef>
              <a:buClr>
                <a:srgbClr val="FF0000"/>
              </a:buClr>
              <a:buFont typeface="Wingdings" panose="05000000000000000000" pitchFamily="2" charset="2"/>
              <a:buChar char="u"/>
            </a:pPr>
            <a:r>
              <a:rPr lang="en-US" altLang="zh-CN" sz="1600">
                <a:effectLst>
                  <a:outerShdw blurRad="38100" dist="38100" dir="2700000">
                    <a:srgbClr val="C0C0C0"/>
                  </a:outerShdw>
                </a:effectLst>
              </a:rPr>
              <a:t>Sockfd:</a:t>
            </a:r>
            <a:r>
              <a:rPr lang="zh-CN" altLang="en-US" sz="1600">
                <a:effectLst>
                  <a:outerShdw blurRad="38100" dist="38100" dir="2700000">
                    <a:srgbClr val="C0C0C0"/>
                  </a:outerShdw>
                </a:effectLst>
              </a:rPr>
              <a:t>套接字对应的文件描述符（对于客户端是</a:t>
            </a:r>
            <a:r>
              <a:rPr lang="en-US" altLang="zh-CN" sz="1600">
                <a:effectLst>
                  <a:outerShdw blurRad="38100" dist="38100" dir="2700000">
                    <a:srgbClr val="C0C0C0"/>
                  </a:outerShdw>
                </a:effectLst>
              </a:rPr>
              <a:t>socket</a:t>
            </a:r>
            <a:r>
              <a:rPr lang="zh-CN" altLang="en-US" sz="1600">
                <a:effectLst>
                  <a:outerShdw blurRad="38100" dist="38100" dir="2700000">
                    <a:srgbClr val="C0C0C0"/>
                  </a:outerShdw>
                </a:effectLst>
              </a:rPr>
              <a:t>函数的返回值，对于服务器是</a:t>
            </a:r>
            <a:r>
              <a:rPr lang="en-US" altLang="zh-CN" sz="1600">
                <a:effectLst>
                  <a:outerShdw blurRad="38100" dist="38100" dir="2700000">
                    <a:srgbClr val="C0C0C0"/>
                  </a:outerShdw>
                </a:effectLst>
              </a:rPr>
              <a:t>connet</a:t>
            </a:r>
            <a:r>
              <a:rPr lang="zh-CN" altLang="en-US" sz="1600">
                <a:effectLst>
                  <a:outerShdw blurRad="38100" dist="38100" dir="2700000">
                    <a:srgbClr val="C0C0C0"/>
                  </a:outerShdw>
                </a:effectLst>
              </a:rPr>
              <a:t>函数的返回值）</a:t>
            </a:r>
          </a:p>
          <a:p>
            <a:pPr marL="742950" lvl="1" indent="-285750">
              <a:lnSpc>
                <a:spcPct val="100000"/>
              </a:lnSpc>
              <a:spcBef>
                <a:spcPct val="20000"/>
              </a:spcBef>
              <a:buClr>
                <a:srgbClr val="FF0000"/>
              </a:buClr>
              <a:buFont typeface="Wingdings" panose="05000000000000000000" pitchFamily="2" charset="2"/>
              <a:buChar char="u"/>
            </a:pPr>
            <a:r>
              <a:rPr lang="en-US" altLang="zh-CN" sz="1600">
                <a:effectLst>
                  <a:outerShdw blurRad="38100" dist="38100" dir="2700000">
                    <a:srgbClr val="C0C0C0"/>
                  </a:outerShdw>
                </a:effectLst>
              </a:rPr>
              <a:t>Buf:</a:t>
            </a:r>
            <a:r>
              <a:rPr lang="zh-CN" altLang="en-US" sz="1600">
                <a:effectLst>
                  <a:outerShdw blurRad="38100" dist="38100" dir="2700000">
                    <a:srgbClr val="C0C0C0"/>
                  </a:outerShdw>
                </a:effectLst>
              </a:rPr>
              <a:t>指向缓冲区内存的指针</a:t>
            </a:r>
          </a:p>
          <a:p>
            <a:pPr marL="742950" lvl="1" indent="-285750">
              <a:lnSpc>
                <a:spcPct val="100000"/>
              </a:lnSpc>
              <a:spcBef>
                <a:spcPct val="20000"/>
              </a:spcBef>
              <a:buClr>
                <a:srgbClr val="FF0000"/>
              </a:buClr>
              <a:buFont typeface="Wingdings" panose="05000000000000000000" pitchFamily="2" charset="2"/>
              <a:buChar char="u"/>
            </a:pPr>
            <a:r>
              <a:rPr lang="en-US" altLang="zh-CN" sz="1600">
                <a:effectLst>
                  <a:outerShdw blurRad="38100" dist="38100" dir="2700000">
                    <a:srgbClr val="C0C0C0"/>
                  </a:outerShdw>
                </a:effectLst>
              </a:rPr>
              <a:t>Buf_len:</a:t>
            </a:r>
            <a:r>
              <a:rPr lang="zh-CN" altLang="en-US" sz="1600">
                <a:effectLst>
                  <a:outerShdw blurRad="38100" dist="38100" dir="2700000">
                    <a:srgbClr val="C0C0C0"/>
                  </a:outerShdw>
                </a:effectLst>
              </a:rPr>
              <a:t>缓冲区大小，以字节为单位</a:t>
            </a:r>
          </a:p>
          <a:p>
            <a:pPr marL="742950" lvl="1" indent="-285750">
              <a:lnSpc>
                <a:spcPct val="100000"/>
              </a:lnSpc>
              <a:spcBef>
                <a:spcPct val="20000"/>
              </a:spcBef>
              <a:buClr>
                <a:srgbClr val="FF0000"/>
              </a:buClr>
              <a:buFont typeface="Wingdings" panose="05000000000000000000" pitchFamily="2" charset="2"/>
              <a:buChar char="u"/>
            </a:pPr>
            <a:r>
              <a:rPr lang="en-US" altLang="zh-CN" sz="1600">
                <a:effectLst>
                  <a:outerShdw blurRad="38100" dist="38100" dir="2700000">
                    <a:srgbClr val="C0C0C0"/>
                  </a:outerShdw>
                </a:effectLst>
              </a:rPr>
              <a:t>flags:</a:t>
            </a:r>
            <a:r>
              <a:rPr lang="zh-CN" altLang="en-US" sz="1600">
                <a:effectLst>
                  <a:outerShdw blurRad="38100" dist="38100" dir="2700000">
                    <a:srgbClr val="C0C0C0"/>
                  </a:outerShdw>
                </a:effectLst>
              </a:rPr>
              <a:t>一般为</a:t>
            </a:r>
            <a:r>
              <a:rPr lang="en-US" altLang="zh-CN" sz="1600">
                <a:effectLst>
                  <a:outerShdw blurRad="38100" dist="38100" dir="2700000">
                    <a:srgbClr val="C0C0C0"/>
                  </a:outerShdw>
                </a:effectLst>
              </a:rPr>
              <a:t>0</a:t>
            </a:r>
            <a:r>
              <a:rPr lang="zh-CN" altLang="en-US" sz="1600">
                <a:effectLst>
                  <a:outerShdw blurRad="38100" dist="38100" dir="2700000">
                    <a:srgbClr val="C0C0C0"/>
                  </a:outerShdw>
                </a:effectLst>
              </a:rPr>
              <a:t>，则和</a:t>
            </a:r>
            <a:r>
              <a:rPr lang="en-US" altLang="zh-CN" sz="1600">
                <a:effectLst>
                  <a:outerShdw blurRad="38100" dist="38100" dir="2700000">
                    <a:srgbClr val="C0C0C0"/>
                  </a:outerShdw>
                </a:effectLst>
              </a:rPr>
              <a:t>read</a:t>
            </a:r>
            <a:r>
              <a:rPr lang="zh-CN" altLang="en-US" sz="1600">
                <a:effectLst>
                  <a:outerShdw blurRad="38100" dist="38100" dir="2700000">
                    <a:srgbClr val="C0C0C0"/>
                  </a:outerShdw>
                </a:effectLst>
              </a:rPr>
              <a:t>一样的操作</a:t>
            </a:r>
            <a:endParaRPr lang="en-US" altLang="zh-CN" sz="1600">
              <a:effectLst>
                <a:outerShdw blurRad="38100" dist="38100" dir="2700000">
                  <a:srgbClr val="C0C0C0"/>
                </a:outerShdw>
              </a:effectLst>
            </a:endParaRPr>
          </a:p>
          <a:p>
            <a:pPr marL="742950" lvl="1" indent="-285750">
              <a:lnSpc>
                <a:spcPct val="100000"/>
              </a:lnSpc>
              <a:spcBef>
                <a:spcPct val="20000"/>
              </a:spcBef>
              <a:buClr>
                <a:srgbClr val="FF0000"/>
              </a:buClr>
              <a:buFont typeface="Wingdings" panose="05000000000000000000" pitchFamily="2" charset="2"/>
              <a:buNone/>
            </a:pPr>
            <a:br>
              <a:rPr lang="en-US" altLang="zh-CN" sz="2000">
                <a:solidFill>
                  <a:srgbClr val="FF3300"/>
                </a:solidFill>
                <a:effectLst>
                  <a:outerShdw blurRad="38100" dist="38100" dir="2700000">
                    <a:srgbClr val="C0C0C0"/>
                  </a:outerShdw>
                </a:effectLst>
              </a:rPr>
            </a:br>
            <a:endParaRPr lang="en-US" altLang="zh-CN" sz="2000">
              <a:solidFill>
                <a:srgbClr val="FF3300"/>
              </a:solidFill>
              <a:effectLst>
                <a:outerShdw blurRad="38100" dist="38100" dir="2700000">
                  <a:srgbClr val="C0C0C0"/>
                </a:outerShdw>
              </a:effectLst>
            </a:endParaRPr>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zh-CN" altLang="en-US" sz="2000" kern="1200">
                <a:solidFill>
                  <a:srgbClr val="0070C0"/>
                </a:solidFill>
                <a:latin typeface="微软雅黑" panose="020B0503020204020204" pitchFamily="34" charset="-122"/>
                <a:ea typeface="微软雅黑" panose="020B0503020204020204" pitchFamily="34" charset="-122"/>
                <a:cs typeface="+mj-cs"/>
              </a:rPr>
              <a:t>数据传输</a:t>
            </a:r>
            <a:endParaRPr lang="zh-CN" altLang="zh-CN" sz="2000" kern="1200">
              <a:solidFill>
                <a:srgbClr val="0070C0"/>
              </a:solidFill>
              <a:latin typeface="微软雅黑" panose="020B0503020204020204" pitchFamily="34" charset="-122"/>
              <a:ea typeface="微软雅黑" panose="020B0503020204020204" pitchFamily="34" charset="-122"/>
              <a:cs typeface="+mj-cs"/>
            </a:endParaRPr>
          </a:p>
        </p:txBody>
      </p:sp>
      <p:sp>
        <p:nvSpPr>
          <p:cNvPr id="89089" name="灯片编号占位符 3"/>
          <p:cNvSpPr txBox="1">
            <a:spLocks noGrp="1"/>
          </p:cNvSpPr>
          <p:nvPr>
            <p:ph type="sldNum" sz="quarter" idx="12"/>
          </p:nvPr>
        </p:nvSpPr>
        <p:spPr>
          <a:xfrm>
            <a:off x="-612775" y="4465638"/>
            <a:ext cx="1893888"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61</a:t>
            </a:fld>
            <a:endParaRPr lang="en-US" altLang="zh-CN" sz="1000">
              <a:latin typeface="Arial" panose="020B0604020202090204" pitchFamily="34" charset="0"/>
              <a:ea typeface="宋体" panose="02010600030101010101" pitchFamily="2" charset="-122"/>
            </a:endParaRPr>
          </a:p>
        </p:txBody>
      </p:sp>
      <p:sp>
        <p:nvSpPr>
          <p:cNvPr id="82947" name="Rectangle 3"/>
          <p:cNvSpPr txBox="1"/>
          <p:nvPr/>
        </p:nvSpPr>
        <p:spPr>
          <a:xfrm>
            <a:off x="611188" y="679450"/>
            <a:ext cx="7921625" cy="4143375"/>
          </a:xfrm>
          <a:prstGeom prst="rect">
            <a:avLst/>
          </a:prstGeom>
          <a:noFill/>
          <a:ln w="9525">
            <a:noFill/>
          </a:ln>
        </p:spPr>
        <p:txBody>
          <a:bodyPr/>
          <a:lstStyle>
            <a:lvl1pPr marL="171450" indent="-171450" algn="l" rtl="0" eaLnBrk="0" fontAlgn="base" hangingPunct="0">
              <a:lnSpc>
                <a:spcPct val="90000"/>
              </a:lnSpc>
              <a:spcBef>
                <a:spcPts val="750"/>
              </a:spcBef>
              <a:spcAft>
                <a:spcPct val="0"/>
              </a:spcAft>
              <a:buFont typeface="Arial" panose="020B0604020202090204" pitchFamily="34" charset="0"/>
              <a:buChar char="•"/>
              <a:defRPr sz="21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sz="15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342900" lvl="0" indent="-342900" eaLnBrk="1" hangingPunct="1">
              <a:spcBef>
                <a:spcPct val="20000"/>
              </a:spcBef>
              <a:buFont typeface="Wingdings" panose="05000000000000000000" pitchFamily="2" charset="2"/>
              <a:buChar char="n"/>
            </a:pPr>
            <a:r>
              <a:rPr lang="en-US" altLang="zh-CN" sz="1800" b="1"/>
              <a:t>send</a:t>
            </a:r>
            <a:r>
              <a:rPr lang="zh-CN" altLang="en-US" sz="1800" b="1"/>
              <a:t>，</a:t>
            </a:r>
            <a:r>
              <a:rPr lang="en-US" altLang="zh-CN" sz="1800" b="1"/>
              <a:t>recv</a:t>
            </a:r>
            <a:r>
              <a:rPr lang="zh-CN" altLang="en-US" sz="1800" b="1"/>
              <a:t>函数</a:t>
            </a:r>
            <a:r>
              <a:rPr lang="en-US" altLang="zh-CN" sz="1800" b="1"/>
              <a:t>flag</a:t>
            </a:r>
            <a:r>
              <a:rPr lang="zh-CN" altLang="en-US" sz="1800" b="1"/>
              <a:t>标志</a:t>
            </a:r>
            <a:endParaRPr lang="en-US" altLang="zh-CN" sz="1800" b="1"/>
          </a:p>
          <a:p>
            <a:pPr marL="342900" lvl="0" indent="-342900" eaLnBrk="1" hangingPunct="1">
              <a:spcBef>
                <a:spcPct val="20000"/>
              </a:spcBef>
              <a:buFont typeface="Wingdings" panose="05000000000000000000" pitchFamily="2" charset="2"/>
              <a:buChar char="n"/>
            </a:pPr>
            <a:endParaRPr lang="en-US" altLang="zh-CN" sz="1800" b="1"/>
          </a:p>
          <a:p>
            <a:pPr marL="342900" lvl="0" indent="-342900" eaLnBrk="1" hangingPunct="1">
              <a:spcBef>
                <a:spcPct val="20000"/>
              </a:spcBef>
              <a:buFont typeface="Wingdings" panose="05000000000000000000" pitchFamily="2" charset="2"/>
              <a:buChar char="n"/>
            </a:pPr>
            <a:endParaRPr lang="en-US" altLang="zh-CN" sz="1800" b="1"/>
          </a:p>
          <a:p>
            <a:pPr marL="342900" lvl="0" indent="-342900" eaLnBrk="1" hangingPunct="1">
              <a:spcBef>
                <a:spcPct val="20000"/>
              </a:spcBef>
              <a:buFont typeface="Wingdings" panose="05000000000000000000" pitchFamily="2" charset="2"/>
              <a:buChar char="n"/>
            </a:pPr>
            <a:endParaRPr lang="en-US" altLang="zh-CN" sz="1800" b="1"/>
          </a:p>
          <a:p>
            <a:pPr marL="342900" lvl="0" indent="-342900" eaLnBrk="1" hangingPunct="1">
              <a:spcBef>
                <a:spcPct val="20000"/>
              </a:spcBef>
              <a:buFont typeface="Wingdings" panose="05000000000000000000" pitchFamily="2" charset="2"/>
              <a:buChar char="n"/>
            </a:pPr>
            <a:endParaRPr lang="en-US" altLang="zh-CN" sz="1800" b="1"/>
          </a:p>
          <a:p>
            <a:pPr marL="342900" lvl="0" indent="-342900" eaLnBrk="1" hangingPunct="1">
              <a:spcBef>
                <a:spcPct val="20000"/>
              </a:spcBef>
              <a:buFont typeface="Wingdings" panose="05000000000000000000" pitchFamily="2" charset="2"/>
              <a:buChar char="n"/>
            </a:pPr>
            <a:endParaRPr lang="en-US" altLang="zh-CN" sz="1800" b="1"/>
          </a:p>
          <a:p>
            <a:pPr marL="342900" lvl="0" indent="-342900" eaLnBrk="1" hangingPunct="1">
              <a:spcBef>
                <a:spcPct val="20000"/>
              </a:spcBef>
              <a:buFont typeface="Wingdings" panose="05000000000000000000" pitchFamily="2" charset="2"/>
              <a:buChar char="n"/>
            </a:pPr>
            <a:endParaRPr lang="en-US" altLang="zh-CN" sz="1800" b="1"/>
          </a:p>
          <a:p>
            <a:pPr marL="342900" lvl="0" indent="-342900" eaLnBrk="1" hangingPunct="1">
              <a:spcBef>
                <a:spcPct val="20000"/>
              </a:spcBef>
              <a:buFont typeface="Wingdings" panose="05000000000000000000" pitchFamily="2" charset="2"/>
              <a:buChar char="n"/>
            </a:pPr>
            <a:endParaRPr lang="en-US" altLang="zh-CN" sz="1800"/>
          </a:p>
          <a:p>
            <a:pPr marL="342900" lvl="0" indent="-342900" eaLnBrk="1" hangingPunct="1">
              <a:spcBef>
                <a:spcPct val="20000"/>
              </a:spcBef>
              <a:buFont typeface="Wingdings" panose="05000000000000000000" pitchFamily="2" charset="2"/>
              <a:buChar char="n"/>
            </a:pPr>
            <a:r>
              <a:rPr lang="en-US" altLang="zh-CN" sz="1800"/>
              <a:t>MSG_WAITALL</a:t>
            </a:r>
            <a:r>
              <a:rPr lang="zh-CN" altLang="en-US" sz="1800" b="1"/>
              <a:t>是</a:t>
            </a:r>
            <a:r>
              <a:rPr lang="en-US" altLang="zh-CN" sz="1800" b="1"/>
              <a:t>recv</a:t>
            </a:r>
            <a:r>
              <a:rPr lang="zh-CN" altLang="en-US" sz="1800" b="1"/>
              <a:t>函数的使用标志，使用这个标志的时候</a:t>
            </a:r>
            <a:r>
              <a:rPr lang="en-US" altLang="zh-CN" sz="1800" b="1"/>
              <a:t>recv</a:t>
            </a:r>
            <a:r>
              <a:rPr lang="zh-CN" altLang="en-US" sz="1800" b="1"/>
              <a:t>会一直阻塞，直到指定的条件满足，或者是发生了错误。</a:t>
            </a:r>
            <a:endParaRPr lang="en-US" altLang="zh-CN" sz="1800" b="1"/>
          </a:p>
          <a:p>
            <a:pPr marL="742950" lvl="1" indent="-285750" eaLnBrk="1" hangingPunct="1">
              <a:spcBef>
                <a:spcPct val="30000"/>
              </a:spcBef>
              <a:buFont typeface="Wingdings" panose="05000000000000000000" pitchFamily="2" charset="2"/>
              <a:buChar char="l"/>
            </a:pPr>
            <a:r>
              <a:rPr lang="en-US" altLang="zh-CN" sz="1500" b="1"/>
              <a:t>1) </a:t>
            </a:r>
            <a:r>
              <a:rPr lang="zh-CN" altLang="en-US" sz="1500" b="1"/>
              <a:t>当读到了指定的字节时，函数正常返回</a:t>
            </a:r>
            <a:r>
              <a:rPr lang="en-US" altLang="zh-CN" sz="1500" b="1"/>
              <a:t>.</a:t>
            </a:r>
            <a:r>
              <a:rPr lang="zh-CN" altLang="en-US" sz="1500" b="1"/>
              <a:t>返回值等于</a:t>
            </a:r>
            <a:r>
              <a:rPr lang="en-US" altLang="zh-CN" sz="1500" b="1"/>
              <a:t>len</a:t>
            </a:r>
            <a:r>
              <a:rPr lang="zh-CN" altLang="en-US" sz="1500" b="1"/>
              <a:t>。 </a:t>
            </a:r>
            <a:endParaRPr lang="en-US" altLang="zh-CN" sz="1500" b="1"/>
          </a:p>
          <a:p>
            <a:pPr marL="742950" lvl="1" indent="-285750" eaLnBrk="1" hangingPunct="1">
              <a:spcBef>
                <a:spcPct val="30000"/>
              </a:spcBef>
              <a:buFont typeface="Wingdings" panose="05000000000000000000" pitchFamily="2" charset="2"/>
              <a:buChar char="l"/>
            </a:pPr>
            <a:r>
              <a:rPr lang="en-US" altLang="zh-CN" sz="1500" b="1"/>
              <a:t>2) </a:t>
            </a:r>
            <a:r>
              <a:rPr lang="zh-CN" altLang="en-US" sz="1500" b="1"/>
              <a:t>当读到了文件的结尾时，函数正常返回，返回值小于</a:t>
            </a:r>
            <a:r>
              <a:rPr lang="en-US" altLang="zh-CN" sz="1500" b="1"/>
              <a:t>len </a:t>
            </a:r>
            <a:r>
              <a:rPr lang="zh-CN" altLang="en-US" sz="1500" b="1"/>
              <a:t>。</a:t>
            </a:r>
          </a:p>
          <a:p>
            <a:pPr marL="742950" lvl="1" indent="-285750" eaLnBrk="1" hangingPunct="1">
              <a:spcBef>
                <a:spcPct val="30000"/>
              </a:spcBef>
              <a:buFont typeface="Wingdings" panose="05000000000000000000" pitchFamily="2" charset="2"/>
              <a:buChar char="l"/>
            </a:pPr>
            <a:r>
              <a:rPr lang="en-US" altLang="zh-CN" sz="1500" b="1"/>
              <a:t>3)</a:t>
            </a:r>
            <a:r>
              <a:rPr lang="zh-CN" altLang="en-US" sz="1500" b="1"/>
              <a:t>当操作发生错误时，返回</a:t>
            </a:r>
            <a:r>
              <a:rPr lang="en-US" altLang="zh-CN" sz="1500" b="1"/>
              <a:t>-1</a:t>
            </a:r>
            <a:r>
              <a:rPr lang="zh-CN" altLang="en-US" sz="1500" b="1"/>
              <a:t>，且设置错误为相应的错误号</a:t>
            </a:r>
            <a:r>
              <a:rPr lang="en-US" altLang="zh-CN" sz="1500" b="1"/>
              <a:t>(errno)</a:t>
            </a:r>
          </a:p>
          <a:p>
            <a:pPr marL="342900" lvl="0" indent="-342900" eaLnBrk="1" hangingPunct="1">
              <a:spcBef>
                <a:spcPct val="20000"/>
              </a:spcBef>
              <a:buFont typeface="Wingdings" panose="05000000000000000000" pitchFamily="2" charset="2"/>
              <a:buChar char="n"/>
            </a:pPr>
            <a:endParaRPr lang="zh-CN" altLang="en-US" sz="1500" b="1">
              <a:solidFill>
                <a:srgbClr val="0066CC"/>
              </a:solidFill>
            </a:endParaRPr>
          </a:p>
        </p:txBody>
      </p:sp>
      <p:graphicFrame>
        <p:nvGraphicFramePr>
          <p:cNvPr id="82948" name="表格 82947"/>
          <p:cNvGraphicFramePr/>
          <p:nvPr/>
        </p:nvGraphicFramePr>
        <p:xfrm>
          <a:off x="719138" y="1042988"/>
          <a:ext cx="7539037" cy="1773237"/>
        </p:xfrm>
        <a:graphic>
          <a:graphicData uri="http://schemas.openxmlformats.org/drawingml/2006/table">
            <a:tbl>
              <a:tblPr/>
              <a:tblGrid>
                <a:gridCol w="3044825">
                  <a:extLst>
                    <a:ext uri="{9D8B030D-6E8A-4147-A177-3AD203B41FA5}">
                      <a16:colId xmlns:a16="http://schemas.microsoft.com/office/drawing/2014/main" val="20000"/>
                    </a:ext>
                  </a:extLst>
                </a:gridCol>
                <a:gridCol w="4494213">
                  <a:extLst>
                    <a:ext uri="{9D8B030D-6E8A-4147-A177-3AD203B41FA5}">
                      <a16:colId xmlns:a16="http://schemas.microsoft.com/office/drawing/2014/main" val="20001"/>
                    </a:ext>
                  </a:extLst>
                </a:gridCol>
              </a:tblGrid>
              <a:tr h="365125">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fontAlgn="ctr" hangingPunct="1">
                        <a:spcBef>
                          <a:spcPct val="20000"/>
                        </a:spcBef>
                        <a:buFont typeface="Wingdings" panose="05000000000000000000" pitchFamily="2" charset="2"/>
                        <a:buNone/>
                      </a:pPr>
                      <a:r>
                        <a:rPr lang="en-US" altLang="zh-CN" b="1">
                          <a:latin typeface="Arial Unicode MS" panose="020B0604020202020204" pitchFamily="34" charset="-122"/>
                        </a:rPr>
                        <a:t>MSG_DONTROUTE </a:t>
                      </a:r>
                    </a:p>
                  </a:txBody>
                  <a:tcPr marL="68580" marR="68580" marT="34296" marB="34296"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fontAlgn="ctr" hangingPunct="1">
                        <a:spcBef>
                          <a:spcPct val="20000"/>
                        </a:spcBef>
                        <a:buFont typeface="Wingdings" panose="05000000000000000000" pitchFamily="2" charset="2"/>
                        <a:buNone/>
                      </a:pPr>
                      <a:r>
                        <a:rPr lang="zh-CN" altLang="en-US" b="1">
                          <a:latin typeface="Arial Unicode MS" panose="020B0604020202020204" pitchFamily="34" charset="-122"/>
                        </a:rPr>
                        <a:t>不查找路由表 </a:t>
                      </a:r>
                    </a:p>
                  </a:txBody>
                  <a:tcPr marL="68580" marR="68580" marT="34296" marB="34296"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528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fontAlgn="ctr" hangingPunct="1">
                        <a:spcBef>
                          <a:spcPct val="20000"/>
                        </a:spcBef>
                        <a:buFont typeface="Wingdings" panose="05000000000000000000" pitchFamily="2" charset="2"/>
                        <a:buNone/>
                      </a:pPr>
                      <a:r>
                        <a:rPr lang="en-US" altLang="zh-CN" b="1">
                          <a:latin typeface="Arial Unicode MS" panose="020B0604020202020204" pitchFamily="34" charset="-122"/>
                        </a:rPr>
                        <a:t>MSG_OOB </a:t>
                      </a:r>
                    </a:p>
                  </a:txBody>
                  <a:tcPr marL="68580" marR="68580" marT="34296" marB="34296"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fontAlgn="ctr" hangingPunct="1">
                        <a:spcBef>
                          <a:spcPct val="20000"/>
                        </a:spcBef>
                        <a:buFont typeface="Wingdings" panose="05000000000000000000" pitchFamily="2" charset="2"/>
                        <a:buNone/>
                      </a:pPr>
                      <a:r>
                        <a:rPr lang="zh-CN" altLang="en-US" b="1">
                          <a:latin typeface="Arial Unicode MS" panose="020B0604020202020204" pitchFamily="34" charset="-122"/>
                        </a:rPr>
                        <a:t>接受或者发送带外数据 </a:t>
                      </a:r>
                    </a:p>
                  </a:txBody>
                  <a:tcPr marL="68580" marR="68580" marT="34296" marB="34296"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17537">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fontAlgn="ctr" hangingPunct="1">
                        <a:spcBef>
                          <a:spcPct val="20000"/>
                        </a:spcBef>
                        <a:buFont typeface="Wingdings" panose="05000000000000000000" pitchFamily="2" charset="2"/>
                        <a:buNone/>
                      </a:pPr>
                      <a:r>
                        <a:rPr lang="en-US" altLang="zh-CN" b="1">
                          <a:latin typeface="Arial Unicode MS" panose="020B0604020202020204" pitchFamily="34" charset="-122"/>
                        </a:rPr>
                        <a:t>MSG_PEEK </a:t>
                      </a:r>
                    </a:p>
                  </a:txBody>
                  <a:tcPr marL="68580" marR="68580" marT="34296" marB="34296"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fontAlgn="ctr" hangingPunct="1">
                        <a:spcBef>
                          <a:spcPct val="20000"/>
                        </a:spcBef>
                        <a:buFont typeface="Wingdings" panose="05000000000000000000" pitchFamily="2" charset="2"/>
                        <a:buNone/>
                      </a:pPr>
                      <a:r>
                        <a:rPr lang="zh-CN" altLang="en-US" b="1">
                          <a:latin typeface="Arial Unicode MS" panose="020B0604020202020204" pitchFamily="34" charset="-122"/>
                        </a:rPr>
                        <a:t>查看数据</a:t>
                      </a:r>
                      <a:r>
                        <a:rPr lang="en-US" altLang="zh-CN" b="1">
                          <a:latin typeface="Arial Unicode MS" panose="020B0604020202020204" pitchFamily="34" charset="-122"/>
                        </a:rPr>
                        <a:t>,</a:t>
                      </a:r>
                      <a:r>
                        <a:rPr lang="zh-CN" altLang="en-US" b="1">
                          <a:latin typeface="Arial Unicode MS" panose="020B0604020202020204" pitchFamily="34" charset="-122"/>
                        </a:rPr>
                        <a:t>并不从系统缓冲区移走数据 </a:t>
                      </a:r>
                    </a:p>
                  </a:txBody>
                  <a:tcPr marL="68580" marR="68580" marT="34296" marB="34296"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5288">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fontAlgn="ctr" hangingPunct="1">
                        <a:spcBef>
                          <a:spcPct val="20000"/>
                        </a:spcBef>
                        <a:buFont typeface="Wingdings" panose="05000000000000000000" pitchFamily="2" charset="2"/>
                        <a:buNone/>
                      </a:pPr>
                      <a:r>
                        <a:rPr lang="en-US" altLang="zh-CN" b="1">
                          <a:latin typeface="Arial Unicode MS" panose="020B0604020202020204" pitchFamily="34" charset="-122"/>
                        </a:rPr>
                        <a:t>MSG_WAITALL </a:t>
                      </a:r>
                    </a:p>
                  </a:txBody>
                  <a:tcPr marL="68580" marR="68580" marT="34296" marB="34296" anchor="ctr">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fontAlgn="ctr" hangingPunct="1">
                        <a:spcBef>
                          <a:spcPct val="20000"/>
                        </a:spcBef>
                        <a:buFont typeface="Wingdings" panose="05000000000000000000" pitchFamily="2" charset="2"/>
                        <a:buNone/>
                      </a:pPr>
                      <a:r>
                        <a:rPr lang="zh-CN" altLang="en-US" b="1">
                          <a:latin typeface="Arial Unicode MS" panose="020B0604020202020204" pitchFamily="34" charset="-122"/>
                        </a:rPr>
                        <a:t>等待所有数据 </a:t>
                      </a:r>
                    </a:p>
                  </a:txBody>
                  <a:tcPr marL="68580" marR="68580" marT="34296" marB="34296" anchor="ctr">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spd="slow"/>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zh-CN" altLang="en-US" sz="2000" kern="1200">
                <a:solidFill>
                  <a:srgbClr val="0070C0"/>
                </a:solidFill>
                <a:latin typeface="微软雅黑" panose="020B0503020204020204" pitchFamily="34" charset="-122"/>
                <a:ea typeface="微软雅黑" panose="020B0503020204020204" pitchFamily="34" charset="-122"/>
                <a:cs typeface="+mj-cs"/>
              </a:rPr>
              <a:t>终止连接</a:t>
            </a:r>
          </a:p>
        </p:txBody>
      </p:sp>
      <p:sp>
        <p:nvSpPr>
          <p:cNvPr id="83970" name="Rectangle 3"/>
          <p:cNvSpPr>
            <a:spLocks noGrp="1"/>
          </p:cNvSpPr>
          <p:nvPr>
            <p:ph idx="1" hasCustomPrompt="1"/>
          </p:nvPr>
        </p:nvSpPr>
        <p:spPr>
          <a:xfrm>
            <a:off x="323850" y="823913"/>
            <a:ext cx="8185150" cy="3860800"/>
          </a:xfrm>
          <a:ln/>
        </p:spPr>
        <p:txBody>
          <a:bodyPr vert="horz" wrap="square" lIns="91440" tIns="45720" rIns="91440" bIns="45720" anchor="t" anchorCtr="0"/>
          <a:lstStyle/>
          <a:p>
            <a:r>
              <a:rPr lang="en-US" altLang="zh-CN" kern="1200">
                <a:latin typeface="微软雅黑" panose="020B0503020204020204" pitchFamily="34" charset="-122"/>
                <a:ea typeface="微软雅黑" panose="020B0503020204020204" pitchFamily="34" charset="-122"/>
                <a:cs typeface="+mn-cs"/>
              </a:rPr>
              <a:t>close()</a:t>
            </a:r>
            <a:r>
              <a:rPr lang="zh-CN" altLang="en-US" kern="1200">
                <a:latin typeface="微软雅黑" panose="020B0503020204020204" pitchFamily="34" charset="-122"/>
                <a:ea typeface="微软雅黑" panose="020B0503020204020204" pitchFamily="34" charset="-122"/>
                <a:cs typeface="+mn-cs"/>
              </a:rPr>
              <a:t>函数</a:t>
            </a:r>
          </a:p>
          <a:p>
            <a:pPr lvl="1"/>
            <a:r>
              <a:rPr lang="zh-CN" altLang="en-US" kern="1200">
                <a:latin typeface="微软雅黑" panose="020B0503020204020204" pitchFamily="34" charset="-122"/>
                <a:ea typeface="微软雅黑" panose="020B0503020204020204" pitchFamily="34" charset="-122"/>
                <a:cs typeface="+mn-cs"/>
              </a:rPr>
              <a:t>用来关闭一个套接字描述符。当完成了套接字的建立、绑定、连接和通信读写之后，都需要最后关闭建立的套接字</a:t>
            </a:r>
          </a:p>
          <a:p>
            <a:pPr lvl="2">
              <a:buFontTx/>
              <a:buNone/>
            </a:pPr>
            <a:r>
              <a:rPr lang="zh-CN" altLang="en-US" kern="1200">
                <a:latin typeface="微软雅黑" panose="020B0503020204020204" pitchFamily="34" charset="-122"/>
                <a:ea typeface="微软雅黑" panose="020B0503020204020204" pitchFamily="34" charset="-122"/>
                <a:cs typeface="+mn-cs"/>
              </a:rPr>
              <a:t> </a:t>
            </a:r>
            <a:r>
              <a:rPr lang="en-US" altLang="zh-CN" kern="1200">
                <a:latin typeface="微软雅黑" panose="020B0503020204020204" pitchFamily="34" charset="-122"/>
                <a:ea typeface="微软雅黑" panose="020B0503020204020204" pitchFamily="34" charset="-122"/>
                <a:cs typeface="+mn-cs"/>
              </a:rPr>
              <a:t>#include &lt;unistd.h&gt;</a:t>
            </a:r>
          </a:p>
          <a:p>
            <a:pPr lvl="2">
              <a:buFontTx/>
              <a:buNone/>
            </a:pPr>
            <a:r>
              <a:rPr lang="en-US" altLang="zh-CN" kern="1200">
                <a:latin typeface="微软雅黑" panose="020B0503020204020204" pitchFamily="34" charset="-122"/>
                <a:ea typeface="微软雅黑" panose="020B0503020204020204" pitchFamily="34" charset="-122"/>
                <a:cs typeface="+mn-cs"/>
              </a:rPr>
              <a:t> int close(int sockfd);</a:t>
            </a:r>
          </a:p>
          <a:p>
            <a:pPr lvl="1"/>
            <a:r>
              <a:rPr lang="en-US" altLang="zh-CN" kern="1200">
                <a:latin typeface="微软雅黑" panose="020B0503020204020204" pitchFamily="34" charset="-122"/>
                <a:ea typeface="微软雅黑" panose="020B0503020204020204" pitchFamily="34" charset="-122"/>
                <a:cs typeface="+mn-cs"/>
              </a:rPr>
              <a:t>sockfd</a:t>
            </a:r>
            <a:r>
              <a:rPr lang="zh-CN" altLang="en-US" kern="1200">
                <a:latin typeface="微软雅黑" panose="020B0503020204020204" pitchFamily="34" charset="-122"/>
                <a:ea typeface="微软雅黑" panose="020B0503020204020204" pitchFamily="34" charset="-122"/>
                <a:cs typeface="+mn-cs"/>
              </a:rPr>
              <a:t>是需要关闭的套接字所对应的文件描述符。若执行成功则返回</a:t>
            </a:r>
            <a:r>
              <a:rPr lang="en-US" altLang="zh-CN" kern="1200">
                <a:latin typeface="微软雅黑" panose="020B0503020204020204" pitchFamily="34" charset="-122"/>
                <a:ea typeface="微软雅黑" panose="020B0503020204020204" pitchFamily="34" charset="-122"/>
                <a:cs typeface="+mn-cs"/>
              </a:rPr>
              <a:t>0</a:t>
            </a:r>
            <a:r>
              <a:rPr lang="zh-CN" altLang="en-US" kern="1200">
                <a:latin typeface="微软雅黑" panose="020B0503020204020204" pitchFamily="34" charset="-122"/>
                <a:ea typeface="微软雅黑" panose="020B0503020204020204" pitchFamily="34" charset="-122"/>
                <a:cs typeface="+mn-cs"/>
              </a:rPr>
              <a:t>，否则返回</a:t>
            </a:r>
            <a:r>
              <a:rPr lang="en-US" altLang="zh-CN" kern="1200">
                <a:latin typeface="微软雅黑" panose="020B0503020204020204" pitchFamily="34" charset="-122"/>
                <a:ea typeface="微软雅黑" panose="020B0503020204020204" pitchFamily="34" charset="-122"/>
                <a:cs typeface="+mn-cs"/>
              </a:rPr>
              <a:t>-1</a:t>
            </a:r>
            <a:r>
              <a:rPr lang="zh-CN" altLang="en-US" kern="1200">
                <a:latin typeface="微软雅黑" panose="020B0503020204020204" pitchFamily="34" charset="-122"/>
                <a:ea typeface="微软雅黑" panose="020B0503020204020204" pitchFamily="34" charset="-122"/>
                <a:cs typeface="+mn-cs"/>
              </a:rPr>
              <a:t>。</a:t>
            </a:r>
          </a:p>
          <a:p>
            <a:pPr lvl="1"/>
            <a:r>
              <a:rPr lang="zh-CN" altLang="en-US" kern="1200">
                <a:latin typeface="微软雅黑" panose="020B0503020204020204" pitchFamily="34" charset="-122"/>
                <a:ea typeface="微软雅黑" panose="020B0503020204020204" pitchFamily="34" charset="-122"/>
                <a:cs typeface="+mn-cs"/>
              </a:rPr>
              <a:t>清除套接字描述符的具体操作：将这个套接字描述符标记为</a:t>
            </a:r>
            <a:r>
              <a:rPr lang="en-US" altLang="zh-CN" kern="1200">
                <a:latin typeface="微软雅黑" panose="020B0503020204020204" pitchFamily="34" charset="-122"/>
                <a:ea typeface="微软雅黑" panose="020B0503020204020204" pitchFamily="34" charset="-122"/>
                <a:cs typeface="+mn-cs"/>
              </a:rPr>
              <a:t>CLOSED</a:t>
            </a:r>
            <a:r>
              <a:rPr lang="zh-CN" altLang="en-US" kern="1200">
                <a:latin typeface="微软雅黑" panose="020B0503020204020204" pitchFamily="34" charset="-122"/>
                <a:ea typeface="微软雅黑" panose="020B0503020204020204" pitchFamily="34" charset="-122"/>
                <a:cs typeface="+mn-cs"/>
              </a:rPr>
              <a:t>状态，然后立即返回进程。</a:t>
            </a:r>
            <a:r>
              <a:rPr lang="en-US" altLang="zh-CN" kern="1200">
                <a:latin typeface="微软雅黑" panose="020B0503020204020204" pitchFamily="34" charset="-122"/>
                <a:ea typeface="微软雅黑" panose="020B0503020204020204" pitchFamily="34" charset="-122"/>
                <a:cs typeface="+mn-cs"/>
              </a:rPr>
              <a:t>TCP</a:t>
            </a:r>
            <a:r>
              <a:rPr lang="zh-CN" altLang="en-US" kern="1200">
                <a:latin typeface="微软雅黑" panose="020B0503020204020204" pitchFamily="34" charset="-122"/>
                <a:ea typeface="微软雅黑" panose="020B0503020204020204" pitchFamily="34" charset="-122"/>
                <a:cs typeface="+mn-cs"/>
              </a:rPr>
              <a:t>协议将继续使用这个套接字，将尚未发送的数据传递到对方，然后发送</a:t>
            </a:r>
            <a:r>
              <a:rPr lang="en-US" altLang="zh-CN" kern="1200">
                <a:latin typeface="微软雅黑" panose="020B0503020204020204" pitchFamily="34" charset="-122"/>
                <a:ea typeface="微软雅黑" panose="020B0503020204020204" pitchFamily="34" charset="-122"/>
                <a:cs typeface="+mn-cs"/>
              </a:rPr>
              <a:t>FIN</a:t>
            </a:r>
            <a:r>
              <a:rPr lang="zh-CN" altLang="en-US" kern="1200">
                <a:latin typeface="微软雅黑" panose="020B0503020204020204" pitchFamily="34" charset="-122"/>
                <a:ea typeface="微软雅黑" panose="020B0503020204020204" pitchFamily="34" charset="-122"/>
                <a:cs typeface="+mn-cs"/>
              </a:rPr>
              <a:t>数据段，关闭和释放这个套接字。这是套接字才被完全删除。 </a:t>
            </a:r>
          </a:p>
          <a:p>
            <a:endParaRPr lang="en-US" altLang="zh-CN" kern="1200">
              <a:latin typeface="微软雅黑" panose="020B0503020204020204" pitchFamily="34" charset="-122"/>
              <a:ea typeface="微软雅黑" panose="020B0503020204020204" pitchFamily="34" charset="-122"/>
              <a:cs typeface="+mn-cs"/>
            </a:endParaRPr>
          </a:p>
        </p:txBody>
      </p:sp>
      <p:sp>
        <p:nvSpPr>
          <p:cNvPr id="90113"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62</a:t>
            </a:fld>
            <a:endParaRPr lang="en-US" altLang="zh-CN" sz="1000">
              <a:latin typeface="Arial" panose="020B0604020202090204" pitchFamily="34" charset="0"/>
              <a:ea typeface="宋体" panose="02010600030101010101" pitchFamily="2" charset="-122"/>
            </a:endParaRP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zh-CN" altLang="en-US" sz="2000" kern="1200">
                <a:solidFill>
                  <a:srgbClr val="0070C0"/>
                </a:solidFill>
                <a:latin typeface="微软雅黑" panose="020B0503020204020204" pitchFamily="34" charset="-122"/>
                <a:ea typeface="微软雅黑" panose="020B0503020204020204" pitchFamily="34" charset="-122"/>
                <a:cs typeface="+mj-cs"/>
              </a:rPr>
              <a:t>终止连接</a:t>
            </a:r>
            <a:endParaRPr lang="zh-CN" altLang="zh-CN" sz="2000" kern="1200">
              <a:solidFill>
                <a:srgbClr val="0070C0"/>
              </a:solidFill>
              <a:latin typeface="微软雅黑" panose="020B0503020204020204" pitchFamily="34" charset="-122"/>
              <a:ea typeface="微软雅黑" panose="020B0503020204020204" pitchFamily="34" charset="-122"/>
              <a:cs typeface="+mj-cs"/>
            </a:endParaRPr>
          </a:p>
        </p:txBody>
      </p:sp>
      <p:sp>
        <p:nvSpPr>
          <p:cNvPr id="84994"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r>
              <a:rPr lang="en-US" altLang="zh-CN" kern="1200">
                <a:latin typeface="微软雅黑" panose="020B0503020204020204" pitchFamily="34" charset="-122"/>
                <a:ea typeface="微软雅黑" panose="020B0503020204020204" pitchFamily="34" charset="-122"/>
                <a:cs typeface="+mn-cs"/>
              </a:rPr>
              <a:t> shutdown()</a:t>
            </a:r>
            <a:r>
              <a:rPr lang="zh-CN" altLang="en-US" kern="1200">
                <a:latin typeface="微软雅黑" panose="020B0503020204020204" pitchFamily="34" charset="-122"/>
                <a:ea typeface="微软雅黑" panose="020B0503020204020204" pitchFamily="34" charset="-122"/>
                <a:cs typeface="+mn-cs"/>
              </a:rPr>
              <a:t>函数</a:t>
            </a:r>
          </a:p>
          <a:p>
            <a:pPr lvl="1"/>
            <a:r>
              <a:rPr lang="zh-CN" altLang="en-US" kern="1200">
                <a:latin typeface="微软雅黑" panose="020B0503020204020204" pitchFamily="34" charset="-122"/>
                <a:ea typeface="微软雅黑" panose="020B0503020204020204" pitchFamily="34" charset="-122"/>
                <a:cs typeface="+mn-cs"/>
              </a:rPr>
              <a:t>可以部分关闭</a:t>
            </a:r>
            <a:r>
              <a:rPr lang="en-US" altLang="zh-CN" kern="1200">
                <a:latin typeface="微软雅黑" panose="020B0503020204020204" pitchFamily="34" charset="-122"/>
                <a:ea typeface="微软雅黑" panose="020B0503020204020204" pitchFamily="34" charset="-122"/>
                <a:cs typeface="+mn-cs"/>
              </a:rPr>
              <a:t>socket</a:t>
            </a:r>
            <a:r>
              <a:rPr lang="zh-CN" altLang="en-US" kern="1200">
                <a:latin typeface="微软雅黑" panose="020B0503020204020204" pitchFamily="34" charset="-122"/>
                <a:ea typeface="微软雅黑" panose="020B0503020204020204" pitchFamily="34" charset="-122"/>
                <a:cs typeface="+mn-cs"/>
              </a:rPr>
              <a:t>连接，单方面的中断连接，即禁止某个方向的信息传递。</a:t>
            </a:r>
          </a:p>
          <a:p>
            <a:pPr lvl="2">
              <a:buFontTx/>
              <a:buNone/>
            </a:pPr>
            <a:r>
              <a:rPr lang="zh-CN" altLang="en-US" kern="1200">
                <a:latin typeface="微软雅黑" panose="020B0503020204020204" pitchFamily="34" charset="-122"/>
                <a:ea typeface="微软雅黑" panose="020B0503020204020204" pitchFamily="34" charset="-122"/>
                <a:cs typeface="+mn-cs"/>
              </a:rPr>
              <a:t> </a:t>
            </a:r>
            <a:r>
              <a:rPr lang="en-US" altLang="zh-CN" kern="1200">
                <a:latin typeface="微软雅黑" panose="020B0503020204020204" pitchFamily="34" charset="-122"/>
                <a:ea typeface="微软雅黑" panose="020B0503020204020204" pitchFamily="34" charset="-122"/>
                <a:cs typeface="+mn-cs"/>
              </a:rPr>
              <a:t>#include &lt;unistd.h&gt;</a:t>
            </a:r>
          </a:p>
          <a:p>
            <a:pPr lvl="2">
              <a:buFontTx/>
              <a:buNone/>
            </a:pPr>
            <a:r>
              <a:rPr lang="en-US" altLang="zh-CN" kern="1200">
                <a:latin typeface="微软雅黑" panose="020B0503020204020204" pitchFamily="34" charset="-122"/>
                <a:ea typeface="微软雅黑" panose="020B0503020204020204" pitchFamily="34" charset="-122"/>
                <a:cs typeface="+mn-cs"/>
              </a:rPr>
              <a:t> int shutdown(int </a:t>
            </a:r>
            <a:r>
              <a:rPr lang="en-US" altLang="zh-CN" i="1" kern="1200">
                <a:solidFill>
                  <a:srgbClr val="CC3300"/>
                </a:solidFill>
                <a:latin typeface="微软雅黑" panose="020B0503020204020204" pitchFamily="34" charset="-122"/>
                <a:ea typeface="微软雅黑" panose="020B0503020204020204" pitchFamily="34" charset="-122"/>
                <a:cs typeface="+mn-cs"/>
              </a:rPr>
              <a:t>sockfd</a:t>
            </a:r>
            <a:r>
              <a:rPr lang="en-US" altLang="zh-CN" kern="1200">
                <a:latin typeface="微软雅黑" panose="020B0503020204020204" pitchFamily="34" charset="-122"/>
                <a:ea typeface="微软雅黑" panose="020B0503020204020204" pitchFamily="34" charset="-122"/>
                <a:cs typeface="+mn-cs"/>
              </a:rPr>
              <a:t>,int </a:t>
            </a:r>
            <a:r>
              <a:rPr lang="en-US" altLang="zh-CN" i="1" kern="1200">
                <a:solidFill>
                  <a:srgbClr val="CC3300"/>
                </a:solidFill>
                <a:latin typeface="微软雅黑" panose="020B0503020204020204" pitchFamily="34" charset="-122"/>
                <a:ea typeface="微软雅黑" panose="020B0503020204020204" pitchFamily="34" charset="-122"/>
                <a:cs typeface="+mn-cs"/>
              </a:rPr>
              <a:t>how</a:t>
            </a:r>
            <a:r>
              <a:rPr lang="en-US" altLang="zh-CN" kern="1200">
                <a:latin typeface="微软雅黑" panose="020B0503020204020204" pitchFamily="34" charset="-122"/>
                <a:ea typeface="微软雅黑" panose="020B0503020204020204" pitchFamily="34" charset="-122"/>
                <a:cs typeface="+mn-cs"/>
              </a:rPr>
              <a:t>);</a:t>
            </a:r>
          </a:p>
          <a:p>
            <a:pPr lvl="1"/>
            <a:r>
              <a:rPr lang="en-US" altLang="zh-CN" kern="1200">
                <a:latin typeface="微软雅黑" panose="020B0503020204020204" pitchFamily="34" charset="-122"/>
                <a:ea typeface="微软雅黑" panose="020B0503020204020204" pitchFamily="34" charset="-122"/>
                <a:cs typeface="+mn-cs"/>
              </a:rPr>
              <a:t> sockfd</a:t>
            </a:r>
            <a:r>
              <a:rPr lang="zh-CN" altLang="en-US" kern="1200">
                <a:latin typeface="微软雅黑" panose="020B0503020204020204" pitchFamily="34" charset="-122"/>
                <a:ea typeface="微软雅黑" panose="020B0503020204020204" pitchFamily="34" charset="-122"/>
                <a:cs typeface="+mn-cs"/>
              </a:rPr>
              <a:t>代表需要关闭的套接字描述符；</a:t>
            </a:r>
            <a:r>
              <a:rPr lang="en-US" altLang="zh-CN" kern="1200">
                <a:latin typeface="微软雅黑" panose="020B0503020204020204" pitchFamily="34" charset="-122"/>
                <a:ea typeface="微软雅黑" panose="020B0503020204020204" pitchFamily="34" charset="-122"/>
                <a:cs typeface="+mn-cs"/>
              </a:rPr>
              <a:t>how</a:t>
            </a:r>
            <a:r>
              <a:rPr lang="zh-CN" altLang="en-US" kern="1200">
                <a:latin typeface="微软雅黑" panose="020B0503020204020204" pitchFamily="34" charset="-122"/>
                <a:ea typeface="微软雅黑" panose="020B0503020204020204" pitchFamily="34" charset="-122"/>
                <a:cs typeface="+mn-cs"/>
              </a:rPr>
              <a:t>的值：</a:t>
            </a:r>
          </a:p>
          <a:p>
            <a:pPr lvl="2"/>
            <a:r>
              <a:rPr lang="en-US" altLang="zh-CN" kern="1200">
                <a:latin typeface="微软雅黑" panose="020B0503020204020204" pitchFamily="34" charset="-122"/>
                <a:ea typeface="微软雅黑" panose="020B0503020204020204" pitchFamily="34" charset="-122"/>
                <a:cs typeface="+mn-cs"/>
              </a:rPr>
              <a:t>0</a:t>
            </a:r>
            <a:r>
              <a:rPr lang="zh-CN" altLang="en-US" kern="1200">
                <a:latin typeface="微软雅黑" panose="020B0503020204020204" pitchFamily="34" charset="-122"/>
                <a:ea typeface="微软雅黑" panose="020B0503020204020204" pitchFamily="34" charset="-122"/>
                <a:cs typeface="+mn-cs"/>
              </a:rPr>
              <a:t>：禁止接收信息</a:t>
            </a:r>
          </a:p>
          <a:p>
            <a:pPr lvl="2"/>
            <a:r>
              <a:rPr lang="en-US" altLang="zh-CN" kern="1200">
                <a:latin typeface="微软雅黑" panose="020B0503020204020204" pitchFamily="34" charset="-122"/>
                <a:ea typeface="微软雅黑" panose="020B0503020204020204" pitchFamily="34" charset="-122"/>
                <a:cs typeface="+mn-cs"/>
              </a:rPr>
              <a:t>1: </a:t>
            </a:r>
            <a:r>
              <a:rPr lang="zh-CN" altLang="en-US" kern="1200">
                <a:latin typeface="微软雅黑" panose="020B0503020204020204" pitchFamily="34" charset="-122"/>
                <a:ea typeface="微软雅黑" panose="020B0503020204020204" pitchFamily="34" charset="-122"/>
                <a:cs typeface="+mn-cs"/>
              </a:rPr>
              <a:t>禁止发送信息</a:t>
            </a:r>
          </a:p>
          <a:p>
            <a:pPr lvl="2"/>
            <a:r>
              <a:rPr lang="en-US" altLang="zh-CN" kern="1200">
                <a:latin typeface="微软雅黑" panose="020B0503020204020204" pitchFamily="34" charset="-122"/>
                <a:ea typeface="微软雅黑" panose="020B0503020204020204" pitchFamily="34" charset="-122"/>
                <a:cs typeface="+mn-cs"/>
              </a:rPr>
              <a:t>2</a:t>
            </a:r>
            <a:r>
              <a:rPr lang="zh-CN" altLang="en-US" kern="1200">
                <a:latin typeface="微软雅黑" panose="020B0503020204020204" pitchFamily="34" charset="-122"/>
                <a:ea typeface="微软雅黑" panose="020B0503020204020204" pitchFamily="34" charset="-122"/>
                <a:cs typeface="+mn-cs"/>
              </a:rPr>
              <a:t>：接收和发送都被禁止，与</a:t>
            </a:r>
            <a:r>
              <a:rPr lang="en-US" altLang="zh-CN" kern="1200">
                <a:latin typeface="微软雅黑" panose="020B0503020204020204" pitchFamily="34" charset="-122"/>
                <a:ea typeface="微软雅黑" panose="020B0503020204020204" pitchFamily="34" charset="-122"/>
                <a:cs typeface="+mn-cs"/>
              </a:rPr>
              <a:t>close()</a:t>
            </a:r>
            <a:r>
              <a:rPr lang="zh-CN" altLang="en-US" kern="1200">
                <a:latin typeface="微软雅黑" panose="020B0503020204020204" pitchFamily="34" charset="-122"/>
                <a:ea typeface="微软雅黑" panose="020B0503020204020204" pitchFamily="34" charset="-122"/>
                <a:cs typeface="+mn-cs"/>
              </a:rPr>
              <a:t>函数效果相同。</a:t>
            </a:r>
          </a:p>
        </p:txBody>
      </p:sp>
      <p:sp>
        <p:nvSpPr>
          <p:cNvPr id="91137"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63</a:t>
            </a:fld>
            <a:endParaRPr lang="en-US" altLang="zh-CN" sz="1000">
              <a:latin typeface="Arial" panose="020B0604020202090204" pitchFamily="34" charset="0"/>
              <a:ea typeface="宋体" panose="02010600030101010101" pitchFamily="2" charset="-122"/>
            </a:endParaRPr>
          </a:p>
        </p:txBody>
      </p:sp>
    </p:spTree>
  </p:cSld>
  <p:clrMapOvr>
    <a:masterClrMapping/>
  </p:clrMapOvr>
  <p:transition spd="slow"/>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a:buNone/>
            </a:pPr>
            <a:r>
              <a:rPr lang="zh-CN" altLang="en-US" sz="2000" kern="1200">
                <a:solidFill>
                  <a:srgbClr val="0070C0"/>
                </a:solidFill>
                <a:latin typeface="微软雅黑" panose="020B0503020204020204" pitchFamily="34" charset="-122"/>
                <a:ea typeface="微软雅黑" panose="020B0503020204020204" pitchFamily="34" charset="-122"/>
                <a:cs typeface="+mj-cs"/>
              </a:rPr>
              <a:t>终止连接</a:t>
            </a:r>
            <a:endParaRPr lang="zh-CN" altLang="zh-CN" sz="2000" kern="1200">
              <a:solidFill>
                <a:srgbClr val="0070C0"/>
              </a:solidFill>
              <a:latin typeface="微软雅黑" panose="020B0503020204020204" pitchFamily="34" charset="-122"/>
              <a:ea typeface="微软雅黑" panose="020B0503020204020204" pitchFamily="34" charset="-122"/>
              <a:cs typeface="+mj-cs"/>
            </a:endParaRPr>
          </a:p>
        </p:txBody>
      </p:sp>
      <p:sp>
        <p:nvSpPr>
          <p:cNvPr id="86018" name="Rectangle 3"/>
          <p:cNvSpPr>
            <a:spLocks noGrp="1"/>
          </p:cNvSpPr>
          <p:nvPr>
            <p:ph idx="1" hasCustomPrompt="1"/>
          </p:nvPr>
        </p:nvSpPr>
        <p:spPr>
          <a:xfrm>
            <a:off x="484188" y="790575"/>
            <a:ext cx="8185150" cy="3860800"/>
          </a:xfrm>
          <a:ln/>
        </p:spPr>
        <p:txBody>
          <a:bodyPr vert="horz" wrap="square" lIns="91440" tIns="45720" rIns="91440" bIns="45720" anchor="t" anchorCtr="0"/>
          <a:lstStyle/>
          <a:p>
            <a:pPr>
              <a:lnSpc>
                <a:spcPct val="150000"/>
              </a:lnSpc>
            </a:pPr>
            <a:r>
              <a:rPr lang="en-US" altLang="zh-CN" kern="1200">
                <a:latin typeface="微软雅黑" panose="020B0503020204020204" pitchFamily="34" charset="-122"/>
                <a:ea typeface="微软雅黑" panose="020B0503020204020204" pitchFamily="34" charset="-122"/>
                <a:cs typeface="+mn-cs"/>
              </a:rPr>
              <a:t> close()</a:t>
            </a:r>
            <a:r>
              <a:rPr lang="zh-CN" altLang="en-US" kern="1200">
                <a:latin typeface="微软雅黑" panose="020B0503020204020204" pitchFamily="34" charset="-122"/>
                <a:ea typeface="微软雅黑" panose="020B0503020204020204" pitchFamily="34" charset="-122"/>
                <a:cs typeface="+mn-cs"/>
              </a:rPr>
              <a:t>和</a:t>
            </a:r>
            <a:r>
              <a:rPr lang="en-US" altLang="zh-CN" kern="1200">
                <a:latin typeface="微软雅黑" panose="020B0503020204020204" pitchFamily="34" charset="-122"/>
                <a:ea typeface="微软雅黑" panose="020B0503020204020204" pitchFamily="34" charset="-122"/>
                <a:cs typeface="+mn-cs"/>
              </a:rPr>
              <a:t>shutdown()</a:t>
            </a:r>
            <a:r>
              <a:rPr lang="zh-CN" altLang="en-US" kern="1200">
                <a:latin typeface="微软雅黑" panose="020B0503020204020204" pitchFamily="34" charset="-122"/>
                <a:ea typeface="微软雅黑" panose="020B0503020204020204" pitchFamily="34" charset="-122"/>
                <a:cs typeface="+mn-cs"/>
              </a:rPr>
              <a:t>的区别：</a:t>
            </a:r>
          </a:p>
          <a:p>
            <a:pPr lvl="1">
              <a:lnSpc>
                <a:spcPct val="150000"/>
              </a:lnSpc>
            </a:pPr>
            <a:r>
              <a:rPr lang="zh-CN" altLang="en-US" kern="1200">
                <a:latin typeface="微软雅黑" panose="020B0503020204020204" pitchFamily="34" charset="-122"/>
                <a:ea typeface="微软雅黑" panose="020B0503020204020204" pitchFamily="34" charset="-122"/>
                <a:cs typeface="+mn-cs"/>
              </a:rPr>
              <a:t> </a:t>
            </a:r>
            <a:r>
              <a:rPr lang="en-US" altLang="zh-CN" kern="1200">
                <a:latin typeface="微软雅黑" panose="020B0503020204020204" pitchFamily="34" charset="-122"/>
                <a:ea typeface="微软雅黑" panose="020B0503020204020204" pitchFamily="34" charset="-122"/>
                <a:cs typeface="+mn-cs"/>
              </a:rPr>
              <a:t>close()</a:t>
            </a:r>
            <a:r>
              <a:rPr lang="zh-CN" altLang="en-US" kern="1200">
                <a:latin typeface="微软雅黑" panose="020B0503020204020204" pitchFamily="34" charset="-122"/>
                <a:ea typeface="微软雅黑" panose="020B0503020204020204" pitchFamily="34" charset="-122"/>
                <a:cs typeface="+mn-cs"/>
              </a:rPr>
              <a:t>函数调用时将</a:t>
            </a:r>
            <a:r>
              <a:rPr lang="zh-CN" altLang="en-US" b="1" kern="1200">
                <a:solidFill>
                  <a:schemeClr val="accent2"/>
                </a:solidFill>
                <a:latin typeface="微软雅黑" panose="020B0503020204020204" pitchFamily="34" charset="-122"/>
                <a:ea typeface="微软雅黑" panose="020B0503020204020204" pitchFamily="34" charset="-122"/>
                <a:cs typeface="+mn-cs"/>
              </a:rPr>
              <a:t>访问计数减</a:t>
            </a:r>
            <a:r>
              <a:rPr lang="en-US" altLang="zh-CN" b="1" kern="1200">
                <a:solidFill>
                  <a:schemeClr val="accent2"/>
                </a:solidFill>
                <a:latin typeface="微软雅黑" panose="020B0503020204020204" pitchFamily="34" charset="-122"/>
                <a:ea typeface="微软雅黑" panose="020B0503020204020204" pitchFamily="34" charset="-122"/>
                <a:cs typeface="+mn-cs"/>
              </a:rPr>
              <a:t>1</a:t>
            </a:r>
            <a:r>
              <a:rPr lang="zh-CN" altLang="en-US" kern="1200">
                <a:latin typeface="微软雅黑" panose="020B0503020204020204" pitchFamily="34" charset="-122"/>
                <a:ea typeface="微软雅黑" panose="020B0503020204020204" pitchFamily="34" charset="-122"/>
                <a:cs typeface="+mn-cs"/>
              </a:rPr>
              <a:t>，只有当访问计数减少到</a:t>
            </a:r>
            <a:r>
              <a:rPr lang="en-US" altLang="zh-CN" kern="1200">
                <a:latin typeface="微软雅黑" panose="020B0503020204020204" pitchFamily="34" charset="-122"/>
                <a:ea typeface="微软雅黑" panose="020B0503020204020204" pitchFamily="34" charset="-122"/>
                <a:cs typeface="+mn-cs"/>
              </a:rPr>
              <a:t>0</a:t>
            </a:r>
            <a:r>
              <a:rPr lang="zh-CN" altLang="en-US" kern="1200">
                <a:latin typeface="微软雅黑" panose="020B0503020204020204" pitchFamily="34" charset="-122"/>
                <a:ea typeface="微软雅黑" panose="020B0503020204020204" pitchFamily="34" charset="-122"/>
                <a:cs typeface="+mn-cs"/>
              </a:rPr>
              <a:t>以后，才关闭套接字；而</a:t>
            </a:r>
            <a:r>
              <a:rPr lang="en-US" altLang="zh-CN" kern="1200">
                <a:latin typeface="微软雅黑" panose="020B0503020204020204" pitchFamily="34" charset="-122"/>
                <a:ea typeface="微软雅黑" panose="020B0503020204020204" pitchFamily="34" charset="-122"/>
                <a:cs typeface="+mn-cs"/>
              </a:rPr>
              <a:t>shutdown()</a:t>
            </a:r>
            <a:r>
              <a:rPr lang="zh-CN" altLang="en-US" kern="1200">
                <a:latin typeface="微软雅黑" panose="020B0503020204020204" pitchFamily="34" charset="-122"/>
                <a:ea typeface="微软雅黑" panose="020B0503020204020204" pitchFamily="34" charset="-122"/>
                <a:cs typeface="+mn-cs"/>
              </a:rPr>
              <a:t>函数可直接发送</a:t>
            </a:r>
            <a:r>
              <a:rPr lang="en-US" altLang="zh-CN" kern="1200">
                <a:latin typeface="微软雅黑" panose="020B0503020204020204" pitchFamily="34" charset="-122"/>
                <a:ea typeface="微软雅黑" panose="020B0503020204020204" pitchFamily="34" charset="-122"/>
                <a:cs typeface="+mn-cs"/>
              </a:rPr>
              <a:t>FIN</a:t>
            </a:r>
            <a:r>
              <a:rPr lang="zh-CN" altLang="en-US" kern="1200">
                <a:latin typeface="微软雅黑" panose="020B0503020204020204" pitchFamily="34" charset="-122"/>
                <a:ea typeface="微软雅黑" panose="020B0503020204020204" pitchFamily="34" charset="-122"/>
                <a:cs typeface="+mn-cs"/>
              </a:rPr>
              <a:t>数据段以终止网络连接，而不管访问计数的多少。</a:t>
            </a:r>
          </a:p>
          <a:p>
            <a:pPr lvl="1">
              <a:lnSpc>
                <a:spcPct val="150000"/>
              </a:lnSpc>
            </a:pPr>
            <a:r>
              <a:rPr lang="en-US" altLang="zh-CN" b="1" kern="1200">
                <a:solidFill>
                  <a:schemeClr val="accent2"/>
                </a:solidFill>
                <a:latin typeface="微软雅黑" panose="020B0503020204020204" pitchFamily="34" charset="-122"/>
                <a:ea typeface="微软雅黑" panose="020B0503020204020204" pitchFamily="34" charset="-122"/>
                <a:cs typeface="+mn-cs"/>
              </a:rPr>
              <a:t>shutdown()</a:t>
            </a:r>
            <a:r>
              <a:rPr lang="zh-CN" altLang="en-US" b="1" kern="1200">
                <a:solidFill>
                  <a:schemeClr val="accent2"/>
                </a:solidFill>
                <a:latin typeface="微软雅黑" panose="020B0503020204020204" pitchFamily="34" charset="-122"/>
                <a:ea typeface="微软雅黑" panose="020B0503020204020204" pitchFamily="34" charset="-122"/>
                <a:cs typeface="+mn-cs"/>
              </a:rPr>
              <a:t>实际上只关闭了</a:t>
            </a:r>
            <a:r>
              <a:rPr lang="en-US" altLang="zh-CN" b="1" kern="1200">
                <a:solidFill>
                  <a:schemeClr val="accent2"/>
                </a:solidFill>
                <a:latin typeface="微软雅黑" panose="020B0503020204020204" pitchFamily="34" charset="-122"/>
                <a:ea typeface="微软雅黑" panose="020B0503020204020204" pitchFamily="34" charset="-122"/>
                <a:cs typeface="+mn-cs"/>
              </a:rPr>
              <a:t>TCP</a:t>
            </a:r>
            <a:r>
              <a:rPr lang="zh-CN" altLang="en-US" b="1" kern="1200">
                <a:solidFill>
                  <a:schemeClr val="accent2"/>
                </a:solidFill>
                <a:latin typeface="微软雅黑" panose="020B0503020204020204" pitchFamily="34" charset="-122"/>
                <a:ea typeface="微软雅黑" panose="020B0503020204020204" pitchFamily="34" charset="-122"/>
                <a:cs typeface="+mn-cs"/>
              </a:rPr>
              <a:t>连接的一半</a:t>
            </a:r>
            <a:r>
              <a:rPr lang="zh-CN" altLang="en-US" kern="1200">
                <a:latin typeface="微软雅黑" panose="020B0503020204020204" pitchFamily="34" charset="-122"/>
                <a:ea typeface="微软雅黑" panose="020B0503020204020204" pitchFamily="34" charset="-122"/>
                <a:cs typeface="+mn-cs"/>
              </a:rPr>
              <a:t>。因为</a:t>
            </a:r>
            <a:r>
              <a:rPr lang="en-US" altLang="zh-CN" kern="1200">
                <a:latin typeface="微软雅黑" panose="020B0503020204020204" pitchFamily="34" charset="-122"/>
                <a:ea typeface="微软雅黑" panose="020B0503020204020204" pitchFamily="34" charset="-122"/>
                <a:cs typeface="+mn-cs"/>
              </a:rPr>
              <a:t>TCP</a:t>
            </a:r>
            <a:r>
              <a:rPr lang="zh-CN" altLang="en-US" kern="1200">
                <a:latin typeface="微软雅黑" panose="020B0503020204020204" pitchFamily="34" charset="-122"/>
                <a:ea typeface="微软雅黑" panose="020B0503020204020204" pitchFamily="34" charset="-122"/>
                <a:cs typeface="+mn-cs"/>
              </a:rPr>
              <a:t>连接是双向的，即包括读和写两个方向。</a:t>
            </a:r>
            <a:r>
              <a:rPr lang="en-US" altLang="zh-CN" kern="1200">
                <a:latin typeface="微软雅黑" panose="020B0503020204020204" pitchFamily="34" charset="-122"/>
                <a:ea typeface="微软雅黑" panose="020B0503020204020204" pitchFamily="34" charset="-122"/>
                <a:cs typeface="+mn-cs"/>
              </a:rPr>
              <a:t>shutdown()</a:t>
            </a:r>
            <a:r>
              <a:rPr lang="zh-CN" altLang="en-US" kern="1200">
                <a:latin typeface="微软雅黑" panose="020B0503020204020204" pitchFamily="34" charset="-122"/>
                <a:ea typeface="微软雅黑" panose="020B0503020204020204" pitchFamily="34" charset="-122"/>
                <a:cs typeface="+mn-cs"/>
              </a:rPr>
              <a:t>函数可以给服务器发送一个</a:t>
            </a:r>
            <a:r>
              <a:rPr lang="en-US" altLang="zh-CN" kern="1200">
                <a:latin typeface="微软雅黑" panose="020B0503020204020204" pitchFamily="34" charset="-122"/>
                <a:ea typeface="微软雅黑" panose="020B0503020204020204" pitchFamily="34" charset="-122"/>
                <a:cs typeface="+mn-cs"/>
              </a:rPr>
              <a:t>FIN</a:t>
            </a:r>
            <a:r>
              <a:rPr lang="zh-CN" altLang="en-US" kern="1200">
                <a:latin typeface="微软雅黑" panose="020B0503020204020204" pitchFamily="34" charset="-122"/>
                <a:ea typeface="微软雅黑" panose="020B0503020204020204" pitchFamily="34" charset="-122"/>
                <a:cs typeface="+mn-cs"/>
              </a:rPr>
              <a:t>，告诉它已经完成了数据发送，但仍为读而开放套接字描述符。</a:t>
            </a:r>
            <a:r>
              <a:rPr lang="en-US" altLang="zh-CN" kern="1200">
                <a:latin typeface="微软雅黑" panose="020B0503020204020204" pitchFamily="34" charset="-122"/>
                <a:ea typeface="微软雅黑" panose="020B0503020204020204" pitchFamily="34" charset="-122"/>
                <a:cs typeface="+mn-cs"/>
              </a:rPr>
              <a:t>close()</a:t>
            </a:r>
            <a:r>
              <a:rPr lang="zh-CN" altLang="en-US" kern="1200">
                <a:latin typeface="微软雅黑" panose="020B0503020204020204" pitchFamily="34" charset="-122"/>
                <a:ea typeface="微软雅黑" panose="020B0503020204020204" pitchFamily="34" charset="-122"/>
                <a:cs typeface="+mn-cs"/>
              </a:rPr>
              <a:t>函数则是同时关闭了读写两个方向。</a:t>
            </a:r>
          </a:p>
        </p:txBody>
      </p:sp>
      <p:sp>
        <p:nvSpPr>
          <p:cNvPr id="92161" name="灯片编号占位符 3"/>
          <p:cNvSpPr txBox="1">
            <a:spLocks noGrp="1"/>
          </p:cNvSpPr>
          <p:nvPr>
            <p:ph type="sldNum" sz="quarter" idx="12"/>
          </p:nvPr>
        </p:nvSpPr>
        <p:spPr>
          <a:xfrm>
            <a:off x="0" y="4684713"/>
            <a:ext cx="1600200" cy="357188"/>
          </a:xfrm>
          <a:noFill/>
        </p:spPr>
        <p:txBody>
          <a:bodyPr/>
          <a:lstStyle/>
          <a:p>
            <a:pPr marL="0" indent="0">
              <a:lnSpc>
                <a:spcPct val="100000"/>
              </a:lnSpc>
              <a:spcBef>
                <a:spcPct val="0"/>
              </a:spcBef>
              <a:buNone/>
            </a:pPr>
            <a:fld id="{9A0DB2DC-4C9A-4742-B13C-FB6460FD3503}" type="slidenum">
              <a:rPr lang="en-US" altLang="zh-CN" sz="1000">
                <a:latin typeface="Arial" panose="020B0604020202090204" pitchFamily="34" charset="0"/>
                <a:ea typeface="宋体" panose="02010600030101010101" pitchFamily="2" charset="-122"/>
              </a:rPr>
              <a:t>64</a:t>
            </a:fld>
            <a:endParaRPr lang="en-US" altLang="zh-CN" sz="1000">
              <a:latin typeface="Arial" panose="020B0604020202090204" pitchFamily="34" charset="0"/>
              <a:ea typeface="宋体" panose="02010600030101010101" pitchFamily="2" charset="-122"/>
            </a:endParaRPr>
          </a:p>
        </p:txBody>
      </p:sp>
    </p:spTree>
  </p:cSld>
  <p:clrMapOvr>
    <a:masterClrMapping/>
  </p:clrMapOvr>
  <p:transition spd="slow"/>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a:xfrm>
            <a:off x="500063" y="87313"/>
            <a:ext cx="8169275" cy="592138"/>
          </a:xfrm>
        </p:spPr>
        <p:txBody>
          <a:bodyPr vert="horz" wrap="square" lIns="91440" tIns="45720" rIns="91440" bIns="45720" numCol="1" anchor="ctr" anchorCtr="0" compatLnSpc="1"/>
          <a:lstStyle/>
          <a:p>
            <a:pPr marL="0" marR="0" lvl="0" indent="0" algn="l" defTabSz="914400" rtl="0" eaLnBrk="0" fontAlgn="base" latinLnBrk="0" hangingPunct="0">
              <a:lnSpc>
                <a:spcPct val="90000"/>
              </a:lnSpc>
              <a:spcBef>
                <a:spcPct val="0"/>
              </a:spcBef>
              <a:spcAft>
                <a:spcPct val="0"/>
              </a:spcAft>
              <a:buClrTx/>
              <a:buSzTx/>
              <a:buFontTx/>
              <a:buNone/>
              <a:defRPr/>
            </a:pPr>
            <a:r>
              <a:rPr kumimoji="0" lang="zh-CN" altLang="en-US"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训练</a:t>
            </a:r>
            <a:r>
              <a:rPr kumimoji="0" lang="en-US"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rPr>
              <a:t>1</a:t>
            </a:r>
            <a:endParaRPr kumimoji="0" lang="zh-CN" altLang="zh-CN" sz="2025" b="0" i="0" u="none" strike="noStrike" kern="1200" cap="none" spc="0" normalizeH="0" baseline="0" noProof="0">
              <a:ln>
                <a:noFill/>
              </a:ln>
              <a:solidFill>
                <a:srgbClr val="0070C0"/>
              </a:solidFill>
              <a:effectLst/>
              <a:uLnTx/>
              <a:uFillTx/>
              <a:latin typeface="Microsoft YaHei" panose="020B0503020204020204" pitchFamily="34" charset="-122"/>
              <a:ea typeface="Microsoft YaHei" panose="020B0503020204020204" pitchFamily="34" charset="-122"/>
              <a:cs typeface="+mj-cs"/>
            </a:endParaRPr>
          </a:p>
        </p:txBody>
      </p:sp>
      <p:sp>
        <p:nvSpPr>
          <p:cNvPr id="87042" name="内容占位符 2"/>
          <p:cNvSpPr>
            <a:spLocks noGrp="1"/>
          </p:cNvSpPr>
          <p:nvPr>
            <p:ph idx="1" hasCustomPrompt="1"/>
          </p:nvPr>
        </p:nvSpPr>
        <p:spPr>
          <a:xfrm>
            <a:off x="484188" y="647065"/>
            <a:ext cx="8185150" cy="3860800"/>
          </a:xfrm>
          <a:ln/>
        </p:spPr>
        <p:txBody>
          <a:bodyPr vert="horz" wrap="square" lIns="91440" tIns="45720" rIns="91440" bIns="45720" anchor="t" anchorCtr="0"/>
          <a:lstStyle/>
          <a:p>
            <a:r>
              <a:rPr lang="zh-CN" altLang="en-US" kern="1200">
                <a:latin typeface="微软雅黑" panose="020B0503020204020204" pitchFamily="34" charset="-122"/>
                <a:ea typeface="微软雅黑" panose="020B0503020204020204" pitchFamily="34" charset="-122"/>
                <a:cs typeface="+mn-cs"/>
              </a:rPr>
              <a:t>训练内容</a:t>
            </a:r>
            <a:r>
              <a:rPr lang="en-US" altLang="zh-CN" kern="1200">
                <a:latin typeface="微软雅黑" panose="020B0503020204020204" pitchFamily="34" charset="-122"/>
                <a:ea typeface="微软雅黑" panose="020B0503020204020204" pitchFamily="34" charset="-122"/>
                <a:cs typeface="+mn-cs"/>
              </a:rPr>
              <a:t>-</a:t>
            </a:r>
            <a:r>
              <a:rPr lang="zh-CN" altLang="en-US" kern="1200">
                <a:latin typeface="微软雅黑" panose="020B0503020204020204" pitchFamily="34" charset="-122"/>
                <a:ea typeface="微软雅黑" panose="020B0503020204020204" pitchFamily="34" charset="-122"/>
                <a:cs typeface="+mn-cs"/>
              </a:rPr>
              <a:t>开发基于</a:t>
            </a:r>
            <a:r>
              <a:rPr lang="en-US" altLang="zh-CN" kern="1200">
                <a:latin typeface="微软雅黑" panose="020B0503020204020204" pitchFamily="34" charset="-122"/>
                <a:ea typeface="微软雅黑" panose="020B0503020204020204" pitchFamily="34" charset="-122"/>
                <a:cs typeface="+mn-cs"/>
              </a:rPr>
              <a:t>TCP</a:t>
            </a:r>
            <a:r>
              <a:rPr lang="zh-CN" altLang="en-US" kern="1200">
                <a:latin typeface="微软雅黑" panose="020B0503020204020204" pitchFamily="34" charset="-122"/>
                <a:ea typeface="微软雅黑" panose="020B0503020204020204" pitchFamily="34" charset="-122"/>
                <a:cs typeface="+mn-cs"/>
              </a:rPr>
              <a:t>的文本聊天程序</a:t>
            </a:r>
            <a:endParaRPr lang="en-US" altLang="zh-CN" kern="1200">
              <a:latin typeface="微软雅黑" panose="020B0503020204020204" pitchFamily="34" charset="-122"/>
              <a:ea typeface="微软雅黑" panose="020B0503020204020204" pitchFamily="34" charset="-122"/>
              <a:cs typeface="+mn-cs"/>
            </a:endParaRPr>
          </a:p>
          <a:p>
            <a:pPr lvl="1">
              <a:buFontTx/>
              <a:buNone/>
            </a:pPr>
            <a:r>
              <a:rPr lang="zh-CN" altLang="en-US" kern="1200">
                <a:latin typeface="微软雅黑" panose="020B0503020204020204" pitchFamily="34" charset="-122"/>
                <a:ea typeface="微软雅黑" panose="020B0503020204020204" pitchFamily="34" charset="-122"/>
                <a:cs typeface="+mn-cs"/>
              </a:rPr>
              <a:t>文本聊天程序的双方分别是服务器和客户端（服务器和客户端运行在两个</a:t>
            </a:r>
            <a:r>
              <a:rPr lang="en-US" altLang="zh-CN" kern="1200">
                <a:latin typeface="微软雅黑" panose="020B0503020204020204" pitchFamily="34" charset="-122"/>
                <a:ea typeface="微软雅黑" panose="020B0503020204020204" pitchFamily="34" charset="-122"/>
                <a:cs typeface="+mn-cs"/>
              </a:rPr>
              <a:t>Ubuntu</a:t>
            </a:r>
            <a:r>
              <a:rPr lang="zh-CN" altLang="en-US" kern="1200">
                <a:latin typeface="微软雅黑" panose="020B0503020204020204" pitchFamily="34" charset="-122"/>
                <a:ea typeface="微软雅黑" panose="020B0503020204020204" pitchFamily="34" charset="-122"/>
                <a:cs typeface="+mn-cs"/>
              </a:rPr>
              <a:t>虚拟机中）</a:t>
            </a:r>
            <a:endParaRPr lang="en-US" altLang="zh-CN" kern="1200">
              <a:latin typeface="微软雅黑" panose="020B0503020204020204" pitchFamily="34" charset="-122"/>
              <a:ea typeface="微软雅黑" panose="020B0503020204020204" pitchFamily="34" charset="-122"/>
              <a:cs typeface="+mn-cs"/>
            </a:endParaRPr>
          </a:p>
          <a:p>
            <a:pPr lvl="1">
              <a:buFont typeface="Arial" panose="020B0604020202090204" pitchFamily="34" charset="0"/>
              <a:buAutoNum type="arabicPeriod"/>
            </a:pPr>
            <a:r>
              <a:rPr lang="zh-CN" altLang="en-US" kern="1200">
                <a:latin typeface="微软雅黑" panose="020B0503020204020204" pitchFamily="34" charset="-122"/>
                <a:ea typeface="微软雅黑" panose="020B0503020204020204" pitchFamily="34" charset="-122"/>
                <a:cs typeface="+mn-cs"/>
              </a:rPr>
              <a:t>服务器</a:t>
            </a:r>
            <a:endParaRPr lang="en-US" altLang="zh-CN" kern="1200">
              <a:latin typeface="微软雅黑" panose="020B0503020204020204" pitchFamily="34" charset="-122"/>
              <a:ea typeface="微软雅黑" panose="020B0503020204020204" pitchFamily="34" charset="-122"/>
              <a:cs typeface="+mn-cs"/>
            </a:endParaRPr>
          </a:p>
          <a:p>
            <a:pPr lvl="1">
              <a:buFontTx/>
              <a:buNone/>
            </a:pPr>
            <a:r>
              <a:rPr lang="en-US" altLang="zh-CN" kern="1200">
                <a:latin typeface="微软雅黑" panose="020B0503020204020204" pitchFamily="34" charset="-122"/>
                <a:ea typeface="微软雅黑" panose="020B0503020204020204" pitchFamily="34" charset="-122"/>
                <a:cs typeface="+mn-cs"/>
              </a:rPr>
              <a:t>	</a:t>
            </a:r>
            <a:r>
              <a:rPr lang="zh-CN" altLang="en-US" kern="1200">
                <a:latin typeface="微软雅黑" panose="020B0503020204020204" pitchFamily="34" charset="-122"/>
                <a:ea typeface="微软雅黑" panose="020B0503020204020204" pitchFamily="34" charset="-122"/>
                <a:cs typeface="+mn-cs"/>
              </a:rPr>
              <a:t>服务器程序等待客户的连接，客户连接成功后可以与客户进行文字通信（显示通信内容）。服务器如果收到客户方的</a:t>
            </a:r>
            <a:r>
              <a:rPr lang="en-US" altLang="zh-CN" kern="1200">
                <a:latin typeface="微软雅黑" panose="020B0503020204020204" pitchFamily="34" charset="-122"/>
                <a:ea typeface="微软雅黑" panose="020B0503020204020204" pitchFamily="34" charset="-122"/>
                <a:cs typeface="+mn-cs"/>
              </a:rPr>
              <a:t>exit</a:t>
            </a:r>
            <a:r>
              <a:rPr lang="zh-CN" altLang="en-US" kern="1200">
                <a:latin typeface="微软雅黑" panose="020B0503020204020204" pitchFamily="34" charset="-122"/>
                <a:ea typeface="微软雅黑" panose="020B0503020204020204" pitchFamily="34" charset="-122"/>
                <a:cs typeface="+mn-cs"/>
              </a:rPr>
              <a:t>文本，则退出服务器程序</a:t>
            </a:r>
            <a:endParaRPr lang="en-US" altLang="zh-CN" kern="1200">
              <a:latin typeface="微软雅黑" panose="020B0503020204020204" pitchFamily="34" charset="-122"/>
              <a:ea typeface="微软雅黑" panose="020B0503020204020204" pitchFamily="34" charset="-122"/>
              <a:cs typeface="+mn-cs"/>
            </a:endParaRPr>
          </a:p>
          <a:p>
            <a:pPr lvl="1">
              <a:buFont typeface="Verdana" panose="020B0804030504040204" pitchFamily="34" charset="0"/>
              <a:buAutoNum type="arabicPeriod" startAt="2"/>
            </a:pPr>
            <a:r>
              <a:rPr lang="zh-CN" altLang="en-US" kern="1200">
                <a:latin typeface="微软雅黑" panose="020B0503020204020204" pitchFamily="34" charset="-122"/>
                <a:ea typeface="微软雅黑" panose="020B0503020204020204" pitchFamily="34" charset="-122"/>
                <a:cs typeface="+mn-cs"/>
              </a:rPr>
              <a:t>客户端</a:t>
            </a:r>
            <a:endParaRPr lang="en-US" altLang="zh-CN" kern="1200">
              <a:latin typeface="微软雅黑" panose="020B0503020204020204" pitchFamily="34" charset="-122"/>
              <a:ea typeface="微软雅黑" panose="020B0503020204020204" pitchFamily="34" charset="-122"/>
              <a:cs typeface="+mn-cs"/>
            </a:endParaRPr>
          </a:p>
          <a:p>
            <a:pPr lvl="1">
              <a:buFontTx/>
              <a:buNone/>
            </a:pPr>
            <a:r>
              <a:rPr lang="en-US" altLang="zh-CN" kern="1200">
                <a:latin typeface="微软雅黑" panose="020B0503020204020204" pitchFamily="34" charset="-122"/>
                <a:ea typeface="微软雅黑" panose="020B0503020204020204" pitchFamily="34" charset="-122"/>
                <a:cs typeface="+mn-cs"/>
              </a:rPr>
              <a:t>	</a:t>
            </a:r>
            <a:r>
              <a:rPr lang="zh-CN" altLang="en-US" kern="1200">
                <a:latin typeface="微软雅黑" panose="020B0503020204020204" pitchFamily="34" charset="-122"/>
                <a:ea typeface="微软雅黑" panose="020B0503020204020204" pitchFamily="34" charset="-122"/>
                <a:cs typeface="+mn-cs"/>
              </a:rPr>
              <a:t>建立一个用</a:t>
            </a:r>
            <a:r>
              <a:rPr lang="en-US" altLang="zh-CN" kern="1200">
                <a:latin typeface="微软雅黑" panose="020B0503020204020204" pitchFamily="34" charset="-122"/>
                <a:ea typeface="微软雅黑" panose="020B0503020204020204" pitchFamily="34" charset="-122"/>
                <a:cs typeface="+mn-cs"/>
              </a:rPr>
              <a:t>TCP</a:t>
            </a:r>
            <a:r>
              <a:rPr lang="zh-CN" altLang="en-US" kern="1200">
                <a:latin typeface="微软雅黑" panose="020B0503020204020204" pitchFamily="34" charset="-122"/>
                <a:ea typeface="微软雅黑" panose="020B0503020204020204" pitchFamily="34" charset="-122"/>
                <a:cs typeface="+mn-cs"/>
              </a:rPr>
              <a:t>连接的客户，以命令行的方式启动，命令行要求有服务器地址，服务器端口号。连接建立成功后可以输入文本与服务器进行通信（显示通信内容）。客户端通过输入</a:t>
            </a:r>
            <a:r>
              <a:rPr lang="en-US" altLang="zh-CN" kern="1200">
                <a:latin typeface="微软雅黑" panose="020B0503020204020204" pitchFamily="34" charset="-122"/>
                <a:ea typeface="微软雅黑" panose="020B0503020204020204" pitchFamily="34" charset="-122"/>
                <a:cs typeface="+mn-cs"/>
              </a:rPr>
              <a:t>exit</a:t>
            </a:r>
            <a:r>
              <a:rPr lang="zh-CN" altLang="en-US" kern="1200">
                <a:latin typeface="微软雅黑" panose="020B0503020204020204" pitchFamily="34" charset="-122"/>
                <a:ea typeface="微软雅黑" panose="020B0503020204020204" pitchFamily="34" charset="-122"/>
                <a:cs typeface="+mn-cs"/>
              </a:rPr>
              <a:t>文本结束与服务器的通信并退出程序</a:t>
            </a:r>
          </a:p>
          <a:p>
            <a:pPr lvl="1">
              <a:buFontTx/>
              <a:buNone/>
            </a:pPr>
            <a:endParaRPr lang="zh-CN" altLang="en-US" kern="1200">
              <a:latin typeface="微软雅黑" panose="020B0503020204020204" pitchFamily="34" charset="-122"/>
              <a:ea typeface="微软雅黑" panose="020B0503020204020204" pitchFamily="34" charset="-122"/>
              <a:cs typeface="+mn-cs"/>
            </a:endParaRPr>
          </a:p>
        </p:txBody>
      </p:sp>
    </p:spTree>
  </p:cSld>
  <p:clrMapOvr>
    <a:masterClrMapping/>
  </p:clrMapOvr>
  <p:transition spd="slow"/>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标题 2"/>
          <p:cNvSpPr>
            <a:spLocks noGrp="1"/>
          </p:cNvSpPr>
          <p:nvPr>
            <p:ph type="title"/>
          </p:nvPr>
        </p:nvSpPr>
        <p:spPr>
          <a:xfrm>
            <a:off x="755576" y="987574"/>
            <a:ext cx="7886700" cy="2139950"/>
          </a:xfrm>
          <a:ln/>
        </p:spPr>
        <p:txBody>
          <a:bodyPr vert="horz" wrap="square" lIns="68580" tIns="34290" rIns="68580" bIns="34290" anchor="b" anchorCtr="0"/>
          <a:lstStyle/>
          <a:p>
            <a:pPr>
              <a:buNone/>
            </a:pPr>
            <a:r>
              <a:rPr lang="en-US" altLang="zh-CN" sz="4800" b="1" kern="1200" dirty="0">
                <a:latin typeface="微软雅黑" panose="020B0503020204020204" pitchFamily="34" charset="-122"/>
                <a:ea typeface="等线 Light" pitchFamily="2" charset="-122"/>
                <a:cs typeface="+mj-cs"/>
              </a:rPr>
              <a:t>Webserver</a:t>
            </a:r>
            <a:r>
              <a:rPr lang="zh-CN" altLang="en-US" sz="4800" b="1" kern="1200" dirty="0">
                <a:latin typeface="微软雅黑" panose="020B0503020204020204" pitchFamily="34" charset="-122"/>
                <a:ea typeface="等线 Light" pitchFamily="2" charset="-122"/>
                <a:cs typeface="+mj-cs"/>
              </a:rPr>
              <a:t> </a:t>
            </a:r>
            <a:r>
              <a:rPr lang="en-US" altLang="zh-CN" sz="4800" b="1" kern="1200" dirty="0">
                <a:latin typeface="微软雅黑" panose="020B0503020204020204" pitchFamily="34" charset="-122"/>
                <a:ea typeface="等线 Light" pitchFamily="2" charset="-122"/>
                <a:cs typeface="+mj-cs"/>
              </a:rPr>
              <a:t>V0.6</a:t>
            </a:r>
            <a:r>
              <a:rPr lang="zh-CN" altLang="en-US" sz="4800" b="1" kern="1200" dirty="0">
                <a:latin typeface="微软雅黑" panose="020B0503020204020204" pitchFamily="34" charset="-122"/>
                <a:ea typeface="等线 Light" pitchFamily="2" charset="-122"/>
                <a:cs typeface="+mj-cs"/>
              </a:rPr>
              <a:t>版</a:t>
            </a:r>
            <a:br>
              <a:rPr lang="en-US" altLang="zh-CN" sz="4800" b="1" kern="1200" dirty="0">
                <a:latin typeface="微软雅黑" panose="020B0503020204020204" pitchFamily="34" charset="-122"/>
                <a:ea typeface="等线 Light" pitchFamily="2" charset="-122"/>
                <a:cs typeface="+mj-cs"/>
              </a:rPr>
            </a:br>
            <a:endParaRPr lang="zh-CN" altLang="en-US" sz="4800" b="1" kern="1200" dirty="0">
              <a:latin typeface="微软雅黑" panose="020B0503020204020204" pitchFamily="34" charset="-122"/>
              <a:ea typeface="等线 Light" pitchFamily="2" charset="-122"/>
              <a:cs typeface="+mj-cs"/>
            </a:endParaRPr>
          </a:p>
        </p:txBody>
      </p:sp>
      <p:sp>
        <p:nvSpPr>
          <p:cNvPr id="76802" name="文本框 2"/>
          <p:cNvSpPr txBox="1"/>
          <p:nvPr/>
        </p:nvSpPr>
        <p:spPr>
          <a:xfrm>
            <a:off x="2627784" y="2603649"/>
            <a:ext cx="4862512" cy="523875"/>
          </a:xfrm>
          <a:prstGeom prst="rect">
            <a:avLst/>
          </a:prstGeom>
          <a:noFill/>
          <a:ln w="9525">
            <a:noFill/>
          </a:ln>
        </p:spPr>
        <p:txBody>
          <a:bodyPr>
            <a:spAutoFit/>
          </a:bodyPr>
          <a:lstStyle/>
          <a:p>
            <a:r>
              <a:rPr lang="zh-CN" altLang="en-US" sz="2800" dirty="0">
                <a:latin typeface="Microsoft YaHei" panose="020B0503020204020204" pitchFamily="34" charset="-122"/>
                <a:ea typeface="Microsoft YaHei" panose="020B0503020204020204" pitchFamily="34" charset="-122"/>
              </a:rPr>
              <a:t>网络服务模块</a:t>
            </a:r>
          </a:p>
        </p:txBody>
      </p:sp>
      <p:pic>
        <p:nvPicPr>
          <p:cNvPr id="2" name="Picture 2" descr="j0149481">
            <a:extLst>
              <a:ext uri="{FF2B5EF4-FFF2-40B4-BE49-F238E27FC236}">
                <a16:creationId xmlns:a16="http://schemas.microsoft.com/office/drawing/2014/main" id="{9A5918BC-A361-10F9-0F49-C563144CC8F9}"/>
              </a:ext>
            </a:extLst>
          </p:cNvPr>
          <p:cNvPicPr>
            <a:picLocks noChangeAspect="1"/>
          </p:cNvPicPr>
          <p:nvPr/>
        </p:nvPicPr>
        <p:blipFill>
          <a:blip r:embed="rId2"/>
          <a:stretch>
            <a:fillRect/>
          </a:stretch>
        </p:blipFill>
        <p:spPr>
          <a:xfrm>
            <a:off x="6660232" y="2566020"/>
            <a:ext cx="2284412" cy="2320925"/>
          </a:xfrm>
          <a:prstGeom prst="rect">
            <a:avLst/>
          </a:prstGeom>
          <a:noFill/>
          <a:ln w="9525">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6FD3F3-24E9-30A9-0D09-2AA34D2A638D}"/>
              </a:ext>
            </a:extLst>
          </p:cNvPr>
          <p:cNvSpPr>
            <a:spLocks noGrp="1"/>
          </p:cNvSpPr>
          <p:nvPr>
            <p:ph type="title"/>
          </p:nvPr>
        </p:nvSpPr>
        <p:spPr/>
        <p:txBody>
          <a:bodyPr/>
          <a:lstStyle/>
          <a:p>
            <a:endParaRPr kumimoji="1" lang="zh-CN" altLang="en-US"/>
          </a:p>
        </p:txBody>
      </p:sp>
      <p:sp>
        <p:nvSpPr>
          <p:cNvPr id="3" name="文本占位符 2">
            <a:extLst>
              <a:ext uri="{FF2B5EF4-FFF2-40B4-BE49-F238E27FC236}">
                <a16:creationId xmlns:a16="http://schemas.microsoft.com/office/drawing/2014/main" id="{73C2966A-D2D9-452A-104F-7812B954888A}"/>
              </a:ext>
            </a:extLst>
          </p:cNvPr>
          <p:cNvSpPr>
            <a:spLocks noGrp="1"/>
          </p:cNvSpPr>
          <p:nvPr>
            <p:ph type="body" idx="1"/>
          </p:nvPr>
        </p:nvSpPr>
        <p:spPr/>
        <p:txBody>
          <a:bodyPr/>
          <a:lstStyle/>
          <a:p>
            <a:endParaRPr kumimoji="1" lang="zh-CN" altLang="en-US"/>
          </a:p>
        </p:txBody>
      </p:sp>
      <p:pic>
        <p:nvPicPr>
          <p:cNvPr id="4" name="图片 3">
            <a:extLst>
              <a:ext uri="{FF2B5EF4-FFF2-40B4-BE49-F238E27FC236}">
                <a16:creationId xmlns:a16="http://schemas.microsoft.com/office/drawing/2014/main" id="{4668BA18-1390-B74B-3121-832C657445B6}"/>
              </a:ext>
            </a:extLst>
          </p:cNvPr>
          <p:cNvPicPr>
            <a:picLocks noChangeAspect="1"/>
          </p:cNvPicPr>
          <p:nvPr/>
        </p:nvPicPr>
        <p:blipFill>
          <a:blip r:embed="rId2"/>
          <a:stretch>
            <a:fillRect/>
          </a:stretch>
        </p:blipFill>
        <p:spPr>
          <a:xfrm>
            <a:off x="973" y="609165"/>
            <a:ext cx="9143027" cy="3958073"/>
          </a:xfrm>
          <a:prstGeom prst="rect">
            <a:avLst/>
          </a:prstGeom>
        </p:spPr>
      </p:pic>
    </p:spTree>
    <p:extLst>
      <p:ext uri="{BB962C8B-B14F-4D97-AF65-F5344CB8AC3E}">
        <p14:creationId xmlns:p14="http://schemas.microsoft.com/office/powerpoint/2010/main" val="9553072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p:cNvSpPr>
          <p:nvPr>
            <p:ph type="title"/>
          </p:nvPr>
        </p:nvSpPr>
        <p:spPr>
          <a:xfrm>
            <a:off x="496770" y="123657"/>
            <a:ext cx="6127750" cy="444500"/>
          </a:xfrm>
          <a:ln/>
        </p:spPr>
        <p:txBody>
          <a:bodyPr vert="horz" wrap="square" lIns="68580" tIns="34290" rIns="68580" bIns="34290" anchor="ctr" anchorCtr="0"/>
          <a:lstStyle/>
          <a:p>
            <a:pPr eaLnBrk="1" hangingPunct="1"/>
            <a:r>
              <a:rPr lang="en-US" altLang="zh-CN" sz="1800" kern="1200" dirty="0">
                <a:solidFill>
                  <a:srgbClr val="0070C0"/>
                </a:solidFill>
                <a:latin typeface="微软雅黑" panose="020B0503020204020204" pitchFamily="34" charset="-122"/>
                <a:ea typeface="微软雅黑" panose="020B0503020204020204" pitchFamily="34" charset="-122"/>
                <a:cs typeface="+mj-cs"/>
              </a:rPr>
              <a:t>V0.6</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版 </a:t>
            </a:r>
            <a:r>
              <a:rPr lang="zh-CN" altLang="zh-CN" sz="1800" kern="1200" dirty="0">
                <a:solidFill>
                  <a:srgbClr val="0070C0"/>
                </a:solidFill>
                <a:latin typeface="微软雅黑" panose="020B0503020204020204" pitchFamily="34" charset="-122"/>
                <a:ea typeface="微软雅黑" panose="020B0503020204020204" pitchFamily="34" charset="-122"/>
                <a:cs typeface="+mj-cs"/>
              </a:rPr>
              <a:t>mini_webserver</a:t>
            </a:r>
            <a:endParaRPr lang="zh-CN" altLang="en-US" sz="1800" kern="1200" dirty="0">
              <a:solidFill>
                <a:srgbClr val="0070C0"/>
              </a:solidFill>
              <a:latin typeface="微软雅黑" panose="020B0503020204020204" pitchFamily="34" charset="-122"/>
              <a:ea typeface="微软雅黑" panose="020B0503020204020204" pitchFamily="34" charset="-122"/>
              <a:cs typeface="+mj-cs"/>
            </a:endParaRPr>
          </a:p>
        </p:txBody>
      </p:sp>
      <p:sp>
        <p:nvSpPr>
          <p:cNvPr id="77826" name="文本框 3"/>
          <p:cNvSpPr txBox="1"/>
          <p:nvPr/>
        </p:nvSpPr>
        <p:spPr>
          <a:xfrm>
            <a:off x="526256" y="627534"/>
            <a:ext cx="8091488" cy="3939925"/>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indent="0">
              <a:lnSpc>
                <a:spcPct val="150000"/>
              </a:lnSpc>
              <a:buNone/>
            </a:pPr>
            <a:r>
              <a:rPr lang="zh-CN" altLang="zh-CN" sz="2400" dirty="0">
                <a:latin typeface="Microsoft YaHei" panose="020B0503020204020204" pitchFamily="34" charset="-122"/>
                <a:ea typeface="Microsoft YaHei" panose="020B0503020204020204" pitchFamily="34" charset="-122"/>
              </a:rPr>
              <a:t>Web Server </a:t>
            </a:r>
            <a:r>
              <a:rPr lang="en-US" altLang="zh-CN" sz="2400" dirty="0">
                <a:latin typeface="Microsoft YaHei" panose="020B0503020204020204" pitchFamily="34" charset="-122"/>
                <a:ea typeface="Microsoft YaHei" panose="020B0503020204020204" pitchFamily="34" charset="-122"/>
              </a:rPr>
              <a:t>V0.6</a:t>
            </a:r>
            <a:r>
              <a:rPr lang="zh-CN" altLang="en-US" sz="2400" dirty="0">
                <a:latin typeface="Microsoft YaHei" panose="020B0503020204020204" pitchFamily="34" charset="-122"/>
                <a:ea typeface="Microsoft YaHei" panose="020B0503020204020204" pitchFamily="34" charset="-122"/>
              </a:rPr>
              <a:t>开始，</a:t>
            </a:r>
            <a:endParaRPr lang="en-US" altLang="zh-CN" sz="2400" dirty="0">
              <a:latin typeface="Microsoft YaHei" panose="020B0503020204020204" pitchFamily="34" charset="-122"/>
              <a:ea typeface="Microsoft YaHei" panose="020B0503020204020204" pitchFamily="34" charset="-122"/>
            </a:endParaRPr>
          </a:p>
          <a:p>
            <a:pPr>
              <a:lnSpc>
                <a:spcPct val="150000"/>
              </a:lnSpc>
            </a:pPr>
            <a:r>
              <a:rPr lang="zh-CN" altLang="en-US" sz="2400" dirty="0">
                <a:latin typeface="Microsoft YaHei" panose="020B0503020204020204" pitchFamily="34" charset="-122"/>
                <a:ea typeface="Microsoft YaHei" panose="020B0503020204020204" pitchFamily="34" charset="-122"/>
              </a:rPr>
              <a:t>模拟的请求</a:t>
            </a:r>
            <a:r>
              <a:rPr lang="zh-CN" altLang="zh-CN" sz="2400" dirty="0">
                <a:latin typeface="Microsoft YaHei" panose="020B0503020204020204" pitchFamily="34" charset="-122"/>
                <a:ea typeface="Microsoft YaHei" panose="020B0503020204020204" pitchFamily="34" charset="-122"/>
              </a:rPr>
              <a:t>请求不再来自requests/hello.req，而是来自</a:t>
            </a:r>
            <a:r>
              <a:rPr lang="zh-CN" altLang="en-US" sz="2400" dirty="0">
                <a:latin typeface="Microsoft YaHei" panose="020B0503020204020204" pitchFamily="34" charset="-122"/>
                <a:ea typeface="Microsoft YaHei" panose="020B0503020204020204" pitchFamily="34" charset="-122"/>
              </a:rPr>
              <a:t>本机模拟的</a:t>
            </a:r>
            <a:r>
              <a:rPr lang="zh-CN" altLang="zh-CN" sz="2400" dirty="0">
                <a:latin typeface="Microsoft YaHei" panose="020B0503020204020204" pitchFamily="34" charset="-122"/>
                <a:ea typeface="Microsoft YaHei" panose="020B0503020204020204" pitchFamily="34" charset="-122"/>
              </a:rPr>
              <a:t>TCP连接。</a:t>
            </a:r>
            <a:endParaRPr lang="en-US" altLang="zh-CN" sz="2400" dirty="0">
              <a:latin typeface="Microsoft YaHei" panose="020B0503020204020204" pitchFamily="34" charset="-122"/>
              <a:ea typeface="Microsoft YaHei" panose="020B0503020204020204" pitchFamily="34" charset="-122"/>
            </a:endParaRPr>
          </a:p>
          <a:p>
            <a:r>
              <a:rPr lang="zh-CN" altLang="zh-CN" sz="2400" dirty="0"/>
              <a:t>conf/server.conf 里的内容真正用于</a:t>
            </a:r>
            <a:r>
              <a:rPr lang="zh-CN" altLang="en-US" sz="2400" dirty="0"/>
              <a:t>程序中的</a:t>
            </a:r>
            <a:r>
              <a:rPr lang="en-US" altLang="zh-CN" sz="2400" dirty="0"/>
              <a:t>socket</a:t>
            </a:r>
            <a:r>
              <a:rPr lang="zh-CN" altLang="en-US" sz="2400" dirty="0"/>
              <a:t>绑定</a:t>
            </a:r>
            <a:endParaRPr lang="zh-CN" altLang="zh-CN" sz="2400" dirty="0"/>
          </a:p>
          <a:p>
            <a:pPr marL="0" lvl="0" indent="0" eaLnBrk="1" hangingPunct="1">
              <a:lnSpc>
                <a:spcPct val="150000"/>
              </a:lnSpc>
              <a:spcBef>
                <a:spcPct val="0"/>
              </a:spcBef>
              <a:buFontTx/>
              <a:buNone/>
            </a:pPr>
            <a:endParaRPr lang="en-US" altLang="zh-CN" sz="2400" dirty="0">
              <a:latin typeface="Microsoft YaHei" panose="020B0503020204020204" pitchFamily="34" charset="-122"/>
              <a:ea typeface="Microsoft YaHei" panose="020B0503020204020204" pitchFamily="34" charset="-122"/>
            </a:endParaRPr>
          </a:p>
          <a:p>
            <a:pPr marL="0" lvl="0" indent="0" eaLnBrk="1" hangingPunct="1">
              <a:lnSpc>
                <a:spcPct val="150000"/>
              </a:lnSpc>
              <a:spcBef>
                <a:spcPct val="0"/>
              </a:spcBef>
              <a:buFontTx/>
              <a:buNone/>
            </a:pPr>
            <a:endParaRPr lang="zh-CN" altLang="zh-CN" sz="2400" dirty="0">
              <a:latin typeface="Microsoft YaHei" panose="020B0503020204020204" pitchFamily="34" charset="-122"/>
              <a:ea typeface="Microsoft YaHei" panose="020B0503020204020204" pitchFamily="34" charset="-122"/>
            </a:endParaRPr>
          </a:p>
          <a:p>
            <a:pPr marL="0" lvl="0" indent="0" eaLnBrk="1" hangingPunct="1">
              <a:lnSpc>
                <a:spcPct val="150000"/>
              </a:lnSpc>
              <a:spcBef>
                <a:spcPct val="0"/>
              </a:spcBef>
              <a:buFontTx/>
              <a:buNone/>
            </a:pPr>
            <a:endParaRPr lang="zh-CN" altLang="en-US" sz="2400" dirty="0">
              <a:latin typeface="Microsoft YaHei" panose="020B0503020204020204" pitchFamily="34" charset="-122"/>
              <a:ea typeface="Microsoft YaHei" panose="020B0503020204020204" pitchFamily="34" charset="-122"/>
            </a:endParaRPr>
          </a:p>
        </p:txBody>
      </p:sp>
      <p:sp>
        <p:nvSpPr>
          <p:cNvPr id="4" name="文本框 3">
            <a:extLst>
              <a:ext uri="{FF2B5EF4-FFF2-40B4-BE49-F238E27FC236}">
                <a16:creationId xmlns:a16="http://schemas.microsoft.com/office/drawing/2014/main" id="{7CAC6DB7-7D97-DCAF-61C2-E0EA70C59262}"/>
              </a:ext>
            </a:extLst>
          </p:cNvPr>
          <p:cNvSpPr txBox="1"/>
          <p:nvPr/>
        </p:nvSpPr>
        <p:spPr>
          <a:xfrm>
            <a:off x="526256" y="3075806"/>
            <a:ext cx="7772318" cy="830997"/>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zh-CN" sz="2400" dirty="0"/>
              <a:t>server_addr.sin_port = htons(config-&gt;port);</a:t>
            </a:r>
          </a:p>
          <a:p>
            <a:r>
              <a:rPr lang="zh-CN" altLang="zh-CN" sz="2400" dirty="0"/>
              <a:t>server_addr.sin_addr.s_addr = inet_addr(config-&gt;host);</a:t>
            </a:r>
          </a:p>
        </p:txBody>
      </p:sp>
    </p:spTree>
  </p:cSld>
  <p:clrMapOvr>
    <a:masterClrMapping/>
  </p:clrMapOvr>
  <p:transition spd="slow"/>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6FDDD-85FF-E932-20EB-0C3FFD801EAB}"/>
            </a:ext>
          </a:extLst>
        </p:cNvPr>
        <p:cNvGrpSpPr/>
        <p:nvPr/>
      </p:nvGrpSpPr>
      <p:grpSpPr>
        <a:xfrm>
          <a:off x="0" y="0"/>
          <a:ext cx="0" cy="0"/>
          <a:chOff x="0" y="0"/>
          <a:chExt cx="0" cy="0"/>
        </a:xfrm>
      </p:grpSpPr>
      <p:sp>
        <p:nvSpPr>
          <p:cNvPr id="77825" name="标题 1">
            <a:extLst>
              <a:ext uri="{FF2B5EF4-FFF2-40B4-BE49-F238E27FC236}">
                <a16:creationId xmlns:a16="http://schemas.microsoft.com/office/drawing/2014/main" id="{B4BC64D3-7095-F4B0-B073-FB551856D8BA}"/>
              </a:ext>
            </a:extLst>
          </p:cNvPr>
          <p:cNvSpPr>
            <a:spLocks noGrp="1"/>
          </p:cNvSpPr>
          <p:nvPr>
            <p:ph type="title"/>
          </p:nvPr>
        </p:nvSpPr>
        <p:spPr>
          <a:xfrm>
            <a:off x="496770" y="123657"/>
            <a:ext cx="6127750" cy="444500"/>
          </a:xfrm>
          <a:ln/>
        </p:spPr>
        <p:txBody>
          <a:bodyPr vert="horz" wrap="square" lIns="68580" tIns="34290" rIns="68580" bIns="34290" anchor="ctr" anchorCtr="0"/>
          <a:lstStyle/>
          <a:p>
            <a:pPr eaLnBrk="1" hangingPunct="1"/>
            <a:r>
              <a:rPr lang="en-US" altLang="zh-CN" sz="1800" kern="1200" dirty="0">
                <a:solidFill>
                  <a:srgbClr val="0070C0"/>
                </a:solidFill>
                <a:latin typeface="微软雅黑" panose="020B0503020204020204" pitchFamily="34" charset="-122"/>
                <a:ea typeface="微软雅黑" panose="020B0503020204020204" pitchFamily="34" charset="-122"/>
                <a:cs typeface="+mj-cs"/>
              </a:rPr>
              <a:t>V0.6</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版 </a:t>
            </a:r>
            <a:r>
              <a:rPr lang="zh-CN" altLang="zh-CN" sz="1800" kern="1200" dirty="0">
                <a:solidFill>
                  <a:srgbClr val="0070C0"/>
                </a:solidFill>
                <a:latin typeface="微软雅黑" panose="020B0503020204020204" pitchFamily="34" charset="-122"/>
                <a:ea typeface="微软雅黑" panose="020B0503020204020204" pitchFamily="34" charset="-122"/>
                <a:cs typeface="+mj-cs"/>
              </a:rPr>
              <a:t>mini_webserver</a:t>
            </a:r>
            <a:endParaRPr lang="zh-CN" altLang="en-US" sz="1800" kern="1200" dirty="0">
              <a:solidFill>
                <a:srgbClr val="0070C0"/>
              </a:solidFill>
              <a:latin typeface="微软雅黑" panose="020B0503020204020204" pitchFamily="34" charset="-122"/>
              <a:ea typeface="微软雅黑" panose="020B0503020204020204" pitchFamily="34" charset="-122"/>
              <a:cs typeface="+mj-cs"/>
            </a:endParaRPr>
          </a:p>
        </p:txBody>
      </p:sp>
      <p:sp>
        <p:nvSpPr>
          <p:cNvPr id="77826" name="文本框 3">
            <a:extLst>
              <a:ext uri="{FF2B5EF4-FFF2-40B4-BE49-F238E27FC236}">
                <a16:creationId xmlns:a16="http://schemas.microsoft.com/office/drawing/2014/main" id="{B5EEA707-A949-AF40-B6E8-5FAE084833D4}"/>
              </a:ext>
            </a:extLst>
          </p:cNvPr>
          <p:cNvSpPr txBox="1"/>
          <p:nvPr/>
        </p:nvSpPr>
        <p:spPr>
          <a:xfrm>
            <a:off x="526256" y="627534"/>
            <a:ext cx="8091488" cy="1817292"/>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0" indent="0">
              <a:lnSpc>
                <a:spcPct val="150000"/>
              </a:lnSpc>
              <a:buNone/>
            </a:pPr>
            <a:r>
              <a:rPr lang="zh-CN" altLang="en-US" sz="2400" dirty="0">
                <a:latin typeface="Microsoft YaHei" panose="020B0503020204020204" pitchFamily="34" charset="-122"/>
                <a:ea typeface="Microsoft YaHei" panose="020B0503020204020204" pitchFamily="34" charset="-122"/>
              </a:rPr>
              <a:t>使用</a:t>
            </a:r>
            <a:r>
              <a:rPr lang="en-US" altLang="zh-CN" sz="2400" dirty="0">
                <a:latin typeface="Microsoft YaHei" panose="020B0503020204020204" pitchFamily="34" charset="-122"/>
                <a:ea typeface="Microsoft YaHei" panose="020B0503020204020204" pitchFamily="34" charset="-122"/>
              </a:rPr>
              <a:t>curl</a:t>
            </a:r>
            <a:r>
              <a:rPr lang="zh-CN" altLang="en-US" sz="2400" dirty="0">
                <a:latin typeface="Microsoft YaHei" panose="020B0503020204020204" pitchFamily="34" charset="-122"/>
                <a:ea typeface="Microsoft YaHei" panose="020B0503020204020204" pitchFamily="34" charset="-122"/>
              </a:rPr>
              <a:t>命令模拟</a:t>
            </a:r>
            <a:r>
              <a:rPr lang="en-US" altLang="zh-CN" sz="2400" dirty="0">
                <a:latin typeface="Microsoft YaHei" panose="020B0503020204020204" pitchFamily="34" charset="-122"/>
                <a:ea typeface="Microsoft YaHei" panose="020B0503020204020204" pitchFamily="34" charset="-122"/>
              </a:rPr>
              <a:t>http</a:t>
            </a:r>
            <a:r>
              <a:rPr lang="zh-CN" altLang="en-US" sz="2400" dirty="0">
                <a:latin typeface="Microsoft YaHei" panose="020B0503020204020204" pitchFamily="34" charset="-122"/>
                <a:ea typeface="Microsoft YaHei" panose="020B0503020204020204" pitchFamily="34" charset="-122"/>
              </a:rPr>
              <a:t>请求：</a:t>
            </a:r>
            <a:endParaRPr lang="en-US" altLang="zh-CN" sz="2400" dirty="0">
              <a:latin typeface="Microsoft YaHei" panose="020B0503020204020204" pitchFamily="34" charset="-122"/>
              <a:ea typeface="Microsoft YaHei" panose="020B0503020204020204" pitchFamily="34" charset="-122"/>
            </a:endParaRPr>
          </a:p>
          <a:p>
            <a:pPr marL="0" indent="0">
              <a:lnSpc>
                <a:spcPct val="150000"/>
              </a:lnSpc>
              <a:buNone/>
            </a:pPr>
            <a:endParaRPr lang="en-US" altLang="zh-CN" sz="2400" dirty="0">
              <a:latin typeface="Microsoft YaHei" panose="020B0503020204020204" pitchFamily="34" charset="-122"/>
              <a:ea typeface="Microsoft YaHei" panose="020B0503020204020204" pitchFamily="34" charset="-122"/>
            </a:endParaRPr>
          </a:p>
          <a:p>
            <a:pPr marL="0" lvl="0" indent="0" eaLnBrk="1" hangingPunct="1">
              <a:lnSpc>
                <a:spcPct val="150000"/>
              </a:lnSpc>
              <a:spcBef>
                <a:spcPct val="0"/>
              </a:spcBef>
              <a:buFontTx/>
              <a:buNone/>
            </a:pPr>
            <a:endParaRPr lang="zh-CN" altLang="en-US" sz="2400" dirty="0">
              <a:latin typeface="Microsoft YaHei" panose="020B0503020204020204" pitchFamily="34" charset="-122"/>
              <a:ea typeface="Microsoft YaHei" panose="020B0503020204020204" pitchFamily="34" charset="-122"/>
            </a:endParaRPr>
          </a:p>
        </p:txBody>
      </p:sp>
      <p:sp>
        <p:nvSpPr>
          <p:cNvPr id="4" name="文本框 3">
            <a:extLst>
              <a:ext uri="{FF2B5EF4-FFF2-40B4-BE49-F238E27FC236}">
                <a16:creationId xmlns:a16="http://schemas.microsoft.com/office/drawing/2014/main" id="{B2ED876F-2673-C828-B688-B79D33B2D0E4}"/>
              </a:ext>
            </a:extLst>
          </p:cNvPr>
          <p:cNvSpPr txBox="1"/>
          <p:nvPr/>
        </p:nvSpPr>
        <p:spPr>
          <a:xfrm>
            <a:off x="685841" y="1419622"/>
            <a:ext cx="7772318" cy="461665"/>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zh-CN" altLang="zh-CN" sz="2400" dirty="0"/>
              <a:t>curl http://127.0.0.1:8080/hello</a:t>
            </a:r>
          </a:p>
        </p:txBody>
      </p:sp>
      <p:sp>
        <p:nvSpPr>
          <p:cNvPr id="2" name="文本框 1">
            <a:extLst>
              <a:ext uri="{FF2B5EF4-FFF2-40B4-BE49-F238E27FC236}">
                <a16:creationId xmlns:a16="http://schemas.microsoft.com/office/drawing/2014/main" id="{AF52A48B-E62C-F187-498A-AA19A1F5CE00}"/>
              </a:ext>
            </a:extLst>
          </p:cNvPr>
          <p:cNvSpPr txBox="1"/>
          <p:nvPr/>
        </p:nvSpPr>
        <p:spPr>
          <a:xfrm>
            <a:off x="685841" y="1865864"/>
            <a:ext cx="7772318" cy="646331"/>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r>
              <a:rPr lang="en-US" altLang="zh-CN" dirty="0">
                <a:latin typeface="Microsoft YaHei" panose="020B0503020204020204" pitchFamily="34" charset="-122"/>
                <a:ea typeface="Microsoft YaHei" panose="020B0503020204020204" pitchFamily="34" charset="-122"/>
              </a:rPr>
              <a:t>C</a:t>
            </a:r>
            <a:r>
              <a:rPr lang="zh-CN" altLang="zh-CN" dirty="0">
                <a:latin typeface="Microsoft YaHei" panose="020B0503020204020204" pitchFamily="34" charset="-122"/>
                <a:ea typeface="Microsoft YaHei" panose="020B0503020204020204" pitchFamily="34" charset="-122"/>
              </a:rPr>
              <a:t>URL的</a:t>
            </a:r>
            <a:r>
              <a:rPr lang="zh-CN" altLang="zh-CN" b="1" dirty="0">
                <a:latin typeface="Microsoft YaHei" panose="020B0503020204020204" pitchFamily="34" charset="-122"/>
                <a:ea typeface="Microsoft YaHei" panose="020B0503020204020204" pitchFamily="34" charset="-122"/>
              </a:rPr>
              <a:t>官方定义</a:t>
            </a:r>
            <a:r>
              <a:rPr lang="zh-CN" altLang="zh-CN" dirty="0">
                <a:latin typeface="Microsoft YaHei" panose="020B0503020204020204" pitchFamily="34" charset="-122"/>
                <a:ea typeface="Microsoft YaHei" panose="020B0503020204020204" pitchFamily="34" charset="-122"/>
              </a:rPr>
              <a:t>为:curl is a command line tool for transferring data with URL syntax,即</a:t>
            </a:r>
            <a:r>
              <a:rPr lang="zh-CN" altLang="zh-CN" b="1" dirty="0">
                <a:latin typeface="Microsoft YaHei" panose="020B0503020204020204" pitchFamily="34" charset="-122"/>
                <a:ea typeface="Microsoft YaHei" panose="020B0503020204020204" pitchFamily="34" charset="-122"/>
              </a:rPr>
              <a:t>使用URL语法规则来传输数据的命令行工具</a:t>
            </a:r>
            <a:r>
              <a:rPr lang="zh-CN" altLang="zh-CN" dirty="0">
                <a:latin typeface="Microsoft YaHei" panose="020B0503020204020204" pitchFamily="34" charset="-122"/>
                <a:ea typeface="Microsoft YaHei" panose="020B0503020204020204" pitchFamily="34" charset="-122"/>
              </a:rPr>
              <a:t>。</a:t>
            </a:r>
            <a:endParaRPr kumimoji="1" lang="zh-CN" altLang="en-US" dirty="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9E6C5B2A-A5C4-D16B-C7D6-12078EA544AA}"/>
              </a:ext>
            </a:extLst>
          </p:cNvPr>
          <p:cNvSpPr txBox="1"/>
          <p:nvPr/>
        </p:nvSpPr>
        <p:spPr>
          <a:xfrm>
            <a:off x="661524" y="3723878"/>
            <a:ext cx="457200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buNone/>
            </a:pPr>
            <a:r>
              <a:rPr lang="zh-CN" altLang="zh-CN" dirty="0">
                <a:latin typeface="Courier New" panose="02070309020205020404" pitchFamily="49" charset="0"/>
              </a:rPr>
              <a:t>GET /hello HTTP/1.1</a:t>
            </a:r>
          </a:p>
          <a:p>
            <a:pPr>
              <a:buNone/>
            </a:pPr>
            <a:r>
              <a:rPr lang="zh-CN" altLang="zh-CN" dirty="0">
                <a:latin typeface="Courier New" panose="02070309020205020404" pitchFamily="49" charset="0"/>
              </a:rPr>
              <a:t>Host: 127.0.0.1:8080</a:t>
            </a:r>
          </a:p>
          <a:p>
            <a:pPr>
              <a:buNone/>
            </a:pPr>
            <a:r>
              <a:rPr lang="zh-CN" altLang="zh-CN" dirty="0">
                <a:latin typeface="Courier New" panose="02070309020205020404" pitchFamily="49" charset="0"/>
              </a:rPr>
              <a:t>User-Agent: curl/...</a:t>
            </a:r>
          </a:p>
        </p:txBody>
      </p:sp>
      <p:sp>
        <p:nvSpPr>
          <p:cNvPr id="6" name="矩形 5">
            <a:extLst>
              <a:ext uri="{FF2B5EF4-FFF2-40B4-BE49-F238E27FC236}">
                <a16:creationId xmlns:a16="http://schemas.microsoft.com/office/drawing/2014/main" id="{99116C9F-308C-8B40-D7BC-C141287E8299}"/>
              </a:ext>
            </a:extLst>
          </p:cNvPr>
          <p:cNvSpPr/>
          <p:nvPr/>
        </p:nvSpPr>
        <p:spPr>
          <a:xfrm>
            <a:off x="644480" y="3363838"/>
            <a:ext cx="4572000" cy="3600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2000" dirty="0">
                <a:latin typeface="Microsoft YaHei" panose="020B0503020204020204" pitchFamily="34" charset="-122"/>
                <a:ea typeface="Microsoft YaHei" panose="020B0503020204020204" pitchFamily="34" charset="-122"/>
              </a:rPr>
              <a:t>浏览器或 curl 发来的内容类似：</a:t>
            </a:r>
            <a:endParaRPr kumimoji="1" lang="zh-CN" altLang="en-US" sz="2000" dirty="0">
              <a:latin typeface="Microsoft YaHei" panose="020B0503020204020204" pitchFamily="34" charset="-122"/>
              <a:ea typeface="Microsoft YaHei" panose="020B0503020204020204" pitchFamily="34" charset="-122"/>
            </a:endParaRPr>
          </a:p>
        </p:txBody>
      </p:sp>
      <p:sp>
        <p:nvSpPr>
          <p:cNvPr id="7" name="下箭头 6">
            <a:extLst>
              <a:ext uri="{FF2B5EF4-FFF2-40B4-BE49-F238E27FC236}">
                <a16:creationId xmlns:a16="http://schemas.microsoft.com/office/drawing/2014/main" id="{CDAD918E-E951-1FC3-52DB-69548530D904}"/>
              </a:ext>
            </a:extLst>
          </p:cNvPr>
          <p:cNvSpPr/>
          <p:nvPr/>
        </p:nvSpPr>
        <p:spPr>
          <a:xfrm>
            <a:off x="2267744" y="2571750"/>
            <a:ext cx="504056" cy="7621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a:extLst>
              <a:ext uri="{FF2B5EF4-FFF2-40B4-BE49-F238E27FC236}">
                <a16:creationId xmlns:a16="http://schemas.microsoft.com/office/drawing/2014/main" id="{85EC51C5-C9F6-BD1C-2B96-899AD6B720B7}"/>
              </a:ext>
            </a:extLst>
          </p:cNvPr>
          <p:cNvSpPr/>
          <p:nvPr/>
        </p:nvSpPr>
        <p:spPr>
          <a:xfrm>
            <a:off x="526256" y="3723878"/>
            <a:ext cx="3613696" cy="3600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59598B71-C50A-E019-88DD-35A8FE060EA6}"/>
              </a:ext>
            </a:extLst>
          </p:cNvPr>
          <p:cNvSpPr txBox="1"/>
          <p:nvPr/>
        </p:nvSpPr>
        <p:spPr>
          <a:xfrm>
            <a:off x="5400571" y="3714586"/>
            <a:ext cx="2262158" cy="369332"/>
          </a:xfrm>
          <a:prstGeom prst="rect">
            <a:avLst/>
          </a:prstGeom>
          <a:noFill/>
        </p:spPr>
        <p:txBody>
          <a:bodyPr wrap="none" rtlCol="0">
            <a:spAutoFit/>
          </a:bodyPr>
          <a:lstStyle/>
          <a:p>
            <a:r>
              <a:rPr kumimoji="1" lang="zh-CN" altLang="en-US" dirty="0"/>
              <a:t>本次先只处理第一行</a:t>
            </a:r>
          </a:p>
        </p:txBody>
      </p:sp>
    </p:spTree>
    <p:extLst>
      <p:ext uri="{BB962C8B-B14F-4D97-AF65-F5344CB8AC3E}">
        <p14:creationId xmlns:p14="http://schemas.microsoft.com/office/powerpoint/2010/main" val="2247797065"/>
      </p:ext>
    </p:extLst>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标题 1"/>
          <p:cNvSpPr>
            <a:spLocks noGrp="1"/>
          </p:cNvSpPr>
          <p:nvPr>
            <p:ph type="title"/>
          </p:nvPr>
        </p:nvSpPr>
        <p:spPr>
          <a:xfrm>
            <a:off x="374650" y="65088"/>
            <a:ext cx="6127750" cy="444500"/>
          </a:xfrm>
          <a:ln/>
        </p:spPr>
        <p:txBody>
          <a:bodyPr vert="horz" wrap="square" lIns="68580" tIns="34290" rIns="68580" bIns="34290" anchor="ctr" anchorCtr="0"/>
          <a:lstStyle/>
          <a:p>
            <a:pPr eaLnBrk="1" hangingPunct="1"/>
            <a:r>
              <a:rPr lang="en-US" altLang="zh-CN" sz="1800" kern="1200" dirty="0">
                <a:solidFill>
                  <a:srgbClr val="0070C0"/>
                </a:solidFill>
                <a:latin typeface="微软雅黑" panose="020B0503020204020204" pitchFamily="34" charset="-122"/>
                <a:ea typeface="微软雅黑" panose="020B0503020204020204" pitchFamily="34" charset="-122"/>
                <a:cs typeface="+mj-cs"/>
              </a:rPr>
              <a:t>V0.6</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版 </a:t>
            </a:r>
            <a:r>
              <a:rPr lang="zh-CN" altLang="zh-CN" sz="1800" kern="1200" dirty="0">
                <a:solidFill>
                  <a:srgbClr val="0070C0"/>
                </a:solidFill>
                <a:latin typeface="微软雅黑" panose="020B0503020204020204" pitchFamily="34" charset="-122"/>
                <a:ea typeface="微软雅黑" panose="020B0503020204020204" pitchFamily="34" charset="-122"/>
                <a:cs typeface="+mj-cs"/>
              </a:rPr>
              <a:t>mini_webserver</a:t>
            </a:r>
            <a:endParaRPr lang="zh-CN" altLang="en-US" sz="1800" kern="1200" dirty="0">
              <a:solidFill>
                <a:srgbClr val="0070C0"/>
              </a:solidFill>
              <a:latin typeface="微软雅黑" panose="020B0503020204020204" pitchFamily="34" charset="-122"/>
              <a:ea typeface="微软雅黑" panose="020B0503020204020204" pitchFamily="34" charset="-122"/>
              <a:cs typeface="+mj-cs"/>
            </a:endParaRPr>
          </a:p>
        </p:txBody>
      </p:sp>
      <p:sp>
        <p:nvSpPr>
          <p:cNvPr id="6" name="文本框 5"/>
          <p:cNvSpPr txBox="1"/>
          <p:nvPr/>
        </p:nvSpPr>
        <p:spPr>
          <a:xfrm>
            <a:off x="4675188" y="784225"/>
            <a:ext cx="4094163" cy="3008388"/>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9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90204" pitchFamily="34" charset="0"/>
                <a:ea typeface="宋体" panose="02010600030101010101" pitchFamily="2" charset="-122"/>
                <a:cs typeface="+mn-cs"/>
              </a:defRPr>
            </a:lvl5pPr>
          </a:lstStyle>
          <a:p>
            <a:pPr lvl="0" eaLnBrk="1" hangingPunct="1">
              <a:lnSpc>
                <a:spcPct val="150000"/>
              </a:lnSpc>
              <a:buNone/>
            </a:pPr>
            <a:r>
              <a:rPr lang="zh-CN" altLang="en-US" sz="2000" dirty="0">
                <a:solidFill>
                  <a:srgbClr val="000000"/>
                </a:solidFill>
                <a:latin typeface="等线" pitchFamily="2" charset="-122"/>
                <a:ea typeface="等线" pitchFamily="2" charset="-122"/>
              </a:rPr>
              <a:t>修改文件包括</a:t>
            </a:r>
            <a:endParaRPr lang="en-US" altLang="zh-CN" sz="2000" dirty="0">
              <a:solidFill>
                <a:srgbClr val="000000"/>
              </a:solidFill>
              <a:latin typeface="等线" pitchFamily="2" charset="-122"/>
              <a:ea typeface="等线" pitchFamily="2" charset="-122"/>
            </a:endParaRPr>
          </a:p>
          <a:p>
            <a:pPr eaLnBrk="1" hangingPunct="1">
              <a:lnSpc>
                <a:spcPct val="150000"/>
              </a:lnSpc>
              <a:buFont typeface="Arial" panose="020B0604020202090204" pitchFamily="34" charset="0"/>
              <a:buChar char="•"/>
            </a:pPr>
            <a:r>
              <a:rPr lang="zh-CN" altLang="zh-CN" dirty="0">
                <a:latin typeface="Courier New" panose="02070409020205090404" pitchFamily="49" charset="0"/>
              </a:rPr>
              <a:t>rc/main.c</a:t>
            </a:r>
          </a:p>
          <a:p>
            <a:pPr eaLnBrk="1" hangingPunct="1">
              <a:lnSpc>
                <a:spcPct val="150000"/>
              </a:lnSpc>
              <a:buFont typeface="Arial" panose="020B0604020202090204" pitchFamily="34" charset="0"/>
              <a:buChar char="•"/>
            </a:pPr>
            <a:r>
              <a:rPr lang="zh-CN" altLang="zh-CN" dirty="0">
                <a:latin typeface="Courier New" panose="02070409020205090404" pitchFamily="49" charset="0"/>
              </a:rPr>
              <a:t>src/request_handler.c</a:t>
            </a:r>
          </a:p>
          <a:p>
            <a:pPr eaLnBrk="1" hangingPunct="1">
              <a:lnSpc>
                <a:spcPct val="150000"/>
              </a:lnSpc>
              <a:buFont typeface="Arial" panose="020B0604020202090204" pitchFamily="34" charset="0"/>
              <a:buChar char="•"/>
            </a:pPr>
            <a:r>
              <a:rPr lang="zh-CN" altLang="zh-CN" dirty="0">
                <a:latin typeface="Courier New" panose="02070409020205090404" pitchFamily="49" charset="0"/>
              </a:rPr>
              <a:t>include/request_handler.h</a:t>
            </a:r>
          </a:p>
          <a:p>
            <a:pPr eaLnBrk="1" hangingPunct="1">
              <a:lnSpc>
                <a:spcPct val="150000"/>
              </a:lnSpc>
              <a:buFont typeface="Arial" panose="020B0604020202090204" pitchFamily="34" charset="0"/>
              <a:buChar char="•"/>
            </a:pPr>
            <a:r>
              <a:rPr lang="zh-CN" altLang="zh-CN" dirty="0">
                <a:latin typeface="Courier New" panose="02070409020205090404" pitchFamily="49" charset="0"/>
              </a:rPr>
              <a:t>Makefile</a:t>
            </a:r>
          </a:p>
          <a:p>
            <a:pPr eaLnBrk="1" hangingPunct="1">
              <a:lnSpc>
                <a:spcPct val="150000"/>
              </a:lnSpc>
              <a:buFont typeface="Arial" panose="020B0604020202090204" pitchFamily="34" charset="0"/>
              <a:buChar char="•"/>
            </a:pPr>
            <a:r>
              <a:rPr lang="zh-CN" altLang="zh-CN" dirty="0">
                <a:latin typeface="Courier New" panose="02070409020205090404" pitchFamily="49" charset="0"/>
              </a:rPr>
              <a:t>README.md</a:t>
            </a:r>
          </a:p>
          <a:p>
            <a:pPr lvl="0" eaLnBrk="1" hangingPunct="1">
              <a:lnSpc>
                <a:spcPct val="150000"/>
              </a:lnSpc>
              <a:buFont typeface="Arial" panose="020B0604020202090204" pitchFamily="34" charset="0"/>
              <a:buChar char="•"/>
            </a:pPr>
            <a:r>
              <a:rPr lang="en-US" altLang="zh-CN" dirty="0">
                <a:latin typeface="Courier New" panose="02070409020205090404" pitchFamily="49" charset="0"/>
              </a:rPr>
              <a:t>docs/debug-</a:t>
            </a:r>
            <a:r>
              <a:rPr lang="en-US" altLang="zh-CN" dirty="0" err="1">
                <a:latin typeface="Courier New" panose="02070409020205090404" pitchFamily="49" charset="0"/>
              </a:rPr>
              <a:t>log.txt</a:t>
            </a:r>
            <a:r>
              <a:rPr lang="en-US" altLang="zh-CN" dirty="0">
                <a:latin typeface="Courier New" panose="02070409020205090404" pitchFamily="49" charset="0"/>
              </a:rPr>
              <a:t>(</a:t>
            </a:r>
            <a:r>
              <a:rPr lang="zh-CN" altLang="en-US" dirty="0">
                <a:latin typeface="Courier New" panose="02070409020205090404" pitchFamily="49" charset="0"/>
              </a:rPr>
              <a:t>可选</a:t>
            </a:r>
            <a:r>
              <a:rPr lang="en-US" altLang="zh-CN" dirty="0">
                <a:latin typeface="Courier New" panose="02070409020205090404" pitchFamily="49" charset="0"/>
              </a:rPr>
              <a:t>)</a:t>
            </a:r>
            <a:endParaRPr lang="zh-CN" altLang="zh-CN" dirty="0">
              <a:latin typeface="Courier New" panose="02070409020205090404" pitchFamily="49" charset="0"/>
            </a:endParaRPr>
          </a:p>
        </p:txBody>
      </p:sp>
      <p:sp>
        <p:nvSpPr>
          <p:cNvPr id="8" name="文本框 7"/>
          <p:cNvSpPr txBox="1"/>
          <p:nvPr/>
        </p:nvSpPr>
        <p:spPr>
          <a:xfrm>
            <a:off x="473075" y="811213"/>
            <a:ext cx="3344863" cy="1900520"/>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marL="0" marR="0" lvl="0" indent="0" algn="l" defTabSz="914400" rtl="0" eaLnBrk="1" fontAlgn="base" latinLnBrk="0" hangingPunct="1">
              <a:lnSpc>
                <a:spcPct val="150000"/>
              </a:lnSpc>
              <a:spcBef>
                <a:spcPct val="0"/>
              </a:spcBef>
              <a:spcAft>
                <a:spcPct val="0"/>
              </a:spcAft>
              <a:buClrTx/>
              <a:buSzTx/>
              <a:buFontTx/>
              <a:buNone/>
              <a:defRPr/>
            </a:pPr>
            <a:r>
              <a:rPr kumimoji="0" lang="zh-CN" altLang="en-US" sz="2000" b="0" i="0" u="none" strike="noStrike" kern="1200" cap="none" spc="0" normalizeH="0" baseline="0" noProof="0" dirty="0">
                <a:ln>
                  <a:noFill/>
                </a:ln>
                <a:solidFill>
                  <a:schemeClr val="dk1"/>
                </a:solidFill>
                <a:effectLst/>
                <a:uLnTx/>
                <a:uFillTx/>
                <a:latin typeface="+mn-lt"/>
                <a:ea typeface="+mn-ea"/>
                <a:cs typeface="+mn-cs"/>
              </a:rPr>
              <a:t>新增文件包括：</a:t>
            </a:r>
            <a:endParaRPr kumimoji="0" lang="en-US" altLang="zh-CN" sz="2000" b="0" i="0" u="none" strike="noStrike" kern="1200" cap="none" spc="0" normalizeH="0" baseline="0" noProof="0" dirty="0">
              <a:ln>
                <a:noFill/>
              </a:ln>
              <a:solidFill>
                <a:schemeClr val="dk1"/>
              </a:solidFill>
              <a:effectLst/>
              <a:uLnTx/>
              <a:uFillTx/>
              <a:latin typeface="+mn-lt"/>
              <a:ea typeface="+mn-ea"/>
              <a:cs typeface="+mn-cs"/>
            </a:endParaRPr>
          </a:p>
          <a:p>
            <a:pPr eaLnBrk="1" hangingPunct="1">
              <a:lnSpc>
                <a:spcPct val="150000"/>
              </a:lnSpc>
              <a:buFont typeface="Arial" panose="020B0604020202090204" pitchFamily="34" charset="0"/>
              <a:buChar char="•"/>
            </a:pPr>
            <a:r>
              <a:rPr lang="zh-CN" altLang="zh-CN" sz="2000" dirty="0">
                <a:solidFill>
                  <a:schemeClr val="tx1"/>
                </a:solidFill>
                <a:latin typeface="Courier New" panose="02070409020205090404" pitchFamily="49" charset="0"/>
                <a:ea typeface="宋体" panose="02010600030101010101" pitchFamily="2" charset="-122"/>
              </a:rPr>
              <a:t>include/tcp_server.h</a:t>
            </a:r>
          </a:p>
          <a:p>
            <a:pPr eaLnBrk="1" hangingPunct="1">
              <a:lnSpc>
                <a:spcPct val="150000"/>
              </a:lnSpc>
              <a:buFont typeface="Arial" panose="020B0604020202090204" pitchFamily="34" charset="0"/>
              <a:buChar char="•"/>
            </a:pPr>
            <a:r>
              <a:rPr lang="zh-CN" altLang="zh-CN" sz="2000" dirty="0">
                <a:solidFill>
                  <a:schemeClr val="tx1"/>
                </a:solidFill>
                <a:latin typeface="Courier New" panose="02070409020205090404" pitchFamily="49" charset="0"/>
                <a:ea typeface="宋体" panose="02010600030101010101" pitchFamily="2" charset="-122"/>
              </a:rPr>
              <a:t>src/tcp_server.c</a:t>
            </a:r>
          </a:p>
          <a:p>
            <a:pPr eaLnBrk="1" hangingPunct="1">
              <a:lnSpc>
                <a:spcPct val="150000"/>
              </a:lnSpc>
              <a:buFont typeface="Arial" panose="020B0604020202090204" pitchFamily="34" charset="0"/>
              <a:buChar char="•"/>
            </a:pPr>
            <a:r>
              <a:rPr lang="zh-CN" altLang="zh-CN" sz="2000" dirty="0">
                <a:solidFill>
                  <a:schemeClr val="tx1"/>
                </a:solidFill>
                <a:latin typeface="Courier New" panose="02070409020205090404" pitchFamily="49" charset="0"/>
                <a:ea typeface="宋体" panose="02010600030101010101" pitchFamily="2" charset="-122"/>
              </a:rPr>
              <a:t>tests/test_day06.sh</a:t>
            </a: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文本框 3"/>
          <p:cNvSpPr txBox="1"/>
          <p:nvPr/>
        </p:nvSpPr>
        <p:spPr>
          <a:xfrm>
            <a:off x="474662" y="642938"/>
            <a:ext cx="8609013" cy="2345707"/>
          </a:xfrm>
          <a:prstGeom prst="rect">
            <a:avLst/>
          </a:prstGeom>
          <a:noFill/>
          <a:ln w="9525">
            <a:noFill/>
          </a:ln>
        </p:spPr>
        <p:txBody>
          <a:bodyPr>
            <a:spAutoFit/>
          </a:bodyPr>
          <a:lstStyle>
            <a:lvl1pPr marL="228600" indent="-228600" algn="l" rtl="0" eaLnBrk="0" fontAlgn="base" hangingPunct="0">
              <a:lnSpc>
                <a:spcPct val="90000"/>
              </a:lnSpc>
              <a:spcBef>
                <a:spcPts val="1000"/>
              </a:spcBef>
              <a:spcAft>
                <a:spcPct val="0"/>
              </a:spcAft>
              <a:buFont typeface="Arial" panose="020B0604020202090204" pitchFamily="34" charset="0"/>
              <a:buChar char="•"/>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9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0" fontAlgn="base" hangingPunct="0">
              <a:lnSpc>
                <a:spcPct val="90000"/>
              </a:lnSpc>
              <a:spcBef>
                <a:spcPts val="500"/>
              </a:spcBef>
              <a:spcAft>
                <a:spcPct val="0"/>
              </a:spcAft>
              <a:buFont typeface="Arial" panose="020B060402020209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0" fontAlgn="base" hangingPunct="0">
              <a:lnSpc>
                <a:spcPct val="90000"/>
              </a:lnSpc>
              <a:spcBef>
                <a:spcPts val="500"/>
              </a:spcBef>
              <a:spcAft>
                <a:spcPct val="0"/>
              </a:spcAft>
              <a:buFont typeface="Arial" panose="020B0604020202090204" pitchFamily="34" charset="0"/>
              <a:buChar char="•"/>
              <a:defRPr kern="1200">
                <a:solidFill>
                  <a:schemeClr val="tx1"/>
                </a:solidFill>
                <a:latin typeface="微软雅黑" panose="020B0503020204020204" pitchFamily="34" charset="-122"/>
                <a:ea typeface="微软雅黑" panose="020B0503020204020204" pitchFamily="34" charset="-122"/>
                <a:cs typeface="+mn-cs"/>
              </a:defRPr>
            </a:lvl5pPr>
          </a:lstStyle>
          <a:p>
            <a:pPr marL="285750" lvl="0" indent="-285750" eaLnBrk="1" hangingPunct="1">
              <a:lnSpc>
                <a:spcPct val="150000"/>
              </a:lnSpc>
              <a:spcBef>
                <a:spcPct val="0"/>
              </a:spcBef>
            </a:pPr>
            <a:r>
              <a:rPr lang="zh-CN" altLang="zh-CN" sz="2000" dirty="0"/>
              <a:t>curl /hello 能收到 HTTP/1.1 200 OK</a:t>
            </a:r>
            <a:endParaRPr lang="en-US" altLang="zh-CN" sz="2000" dirty="0"/>
          </a:p>
          <a:p>
            <a:pPr marL="285750" lvl="0" indent="-285750" eaLnBrk="1" hangingPunct="1">
              <a:lnSpc>
                <a:spcPct val="150000"/>
              </a:lnSpc>
              <a:spcBef>
                <a:spcPct val="0"/>
              </a:spcBef>
            </a:pPr>
            <a:r>
              <a:rPr lang="zh-CN" altLang="zh-CN" sz="2000" dirty="0"/>
              <a:t>curl /users/zhangsan 能收到用户信息</a:t>
            </a:r>
            <a:endParaRPr lang="en-US" altLang="zh-CN" sz="2000" dirty="0"/>
          </a:p>
          <a:p>
            <a:pPr marL="285750" lvl="0" indent="-285750" eaLnBrk="1" hangingPunct="1">
              <a:lnSpc>
                <a:spcPct val="150000"/>
              </a:lnSpc>
              <a:spcBef>
                <a:spcPct val="0"/>
              </a:spcBef>
            </a:pPr>
            <a:r>
              <a:rPr lang="zh-CN" altLang="zh-CN" sz="2000" dirty="0"/>
              <a:t>curl /not-exist 能收到 HTTP/1.1 404 Not Found</a:t>
            </a:r>
            <a:endParaRPr lang="en-US" altLang="zh-CN" sz="2000" dirty="0"/>
          </a:p>
          <a:p>
            <a:pPr marL="285750" lvl="0" indent="-285750" eaLnBrk="1" hangingPunct="1">
              <a:lnSpc>
                <a:spcPct val="150000"/>
              </a:lnSpc>
              <a:spcBef>
                <a:spcPct val="0"/>
              </a:spcBef>
            </a:pPr>
            <a:r>
              <a:rPr lang="zh-CN" altLang="zh-CN" sz="2000" dirty="0"/>
              <a:t>服务器处理一个连接后正常退出</a:t>
            </a:r>
            <a:endParaRPr lang="en-US" altLang="zh-CN" sz="2000" dirty="0"/>
          </a:p>
          <a:p>
            <a:pPr marL="285750" lvl="0" indent="-285750" eaLnBrk="1" hangingPunct="1">
              <a:lnSpc>
                <a:spcPct val="150000"/>
              </a:lnSpc>
              <a:spcBef>
                <a:spcPct val="0"/>
              </a:spcBef>
            </a:pPr>
            <a:r>
              <a:rPr lang="zh-CN" altLang="zh-CN" sz="2000" dirty="0"/>
              <a:t>能</a:t>
            </a:r>
            <a:r>
              <a:rPr lang="zh-CN" altLang="en-US" sz="2000" dirty="0"/>
              <a:t>理解</a:t>
            </a:r>
            <a:r>
              <a:rPr lang="zh-CN" altLang="zh-CN" sz="2000" dirty="0"/>
              <a:t>socket、bind、listen、accept 的作用</a:t>
            </a:r>
            <a:endParaRPr lang="zh-CN" altLang="en-US" sz="2000" dirty="0">
              <a:latin typeface="Arial" panose="020B0604020202090204" pitchFamily="34" charset="0"/>
            </a:endParaRPr>
          </a:p>
        </p:txBody>
      </p:sp>
      <p:sp>
        <p:nvSpPr>
          <p:cNvPr id="3" name="标题 1">
            <a:extLst>
              <a:ext uri="{FF2B5EF4-FFF2-40B4-BE49-F238E27FC236}">
                <a16:creationId xmlns:a16="http://schemas.microsoft.com/office/drawing/2014/main" id="{2A27DE96-FC9C-D223-BB6F-9D6D512C1C4B}"/>
              </a:ext>
            </a:extLst>
          </p:cNvPr>
          <p:cNvSpPr>
            <a:spLocks noGrp="1"/>
          </p:cNvSpPr>
          <p:nvPr>
            <p:ph type="title"/>
          </p:nvPr>
        </p:nvSpPr>
        <p:spPr>
          <a:xfrm>
            <a:off x="498475" y="50800"/>
            <a:ext cx="8170863" cy="592138"/>
          </a:xfrm>
          <a:ln/>
        </p:spPr>
        <p:txBody>
          <a:bodyPr vert="horz" wrap="square" lIns="68580" tIns="34290" rIns="68580" bIns="34290" anchor="ctr" anchorCtr="0"/>
          <a:lstStyle/>
          <a:p>
            <a:pPr eaLnBrk="1" hangingPunct="1"/>
            <a:r>
              <a:rPr lang="en-US" altLang="zh-CN" sz="1800" kern="1200" dirty="0">
                <a:solidFill>
                  <a:srgbClr val="0070C0"/>
                </a:solidFill>
                <a:latin typeface="微软雅黑" panose="020B0503020204020204" pitchFamily="34" charset="-122"/>
                <a:ea typeface="微软雅黑" panose="020B0503020204020204" pitchFamily="34" charset="-122"/>
                <a:cs typeface="+mj-cs"/>
              </a:rPr>
              <a:t>V0.6</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版 </a:t>
            </a:r>
            <a:r>
              <a:rPr lang="zh-CN" altLang="zh-CN" sz="1800" kern="1200" dirty="0">
                <a:solidFill>
                  <a:srgbClr val="0070C0"/>
                </a:solidFill>
                <a:latin typeface="微软雅黑" panose="020B0503020204020204" pitchFamily="34" charset="-122"/>
                <a:ea typeface="微软雅黑" panose="020B0503020204020204" pitchFamily="34" charset="-122"/>
                <a:cs typeface="+mj-cs"/>
              </a:rPr>
              <a:t>mini_webserver</a:t>
            </a:r>
            <a:r>
              <a:rPr lang="en-US" altLang="zh-CN" sz="1800" kern="1200" dirty="0">
                <a:solidFill>
                  <a:srgbClr val="0070C0"/>
                </a:solidFill>
                <a:latin typeface="微软雅黑" panose="020B0503020204020204" pitchFamily="34" charset="-122"/>
                <a:ea typeface="微软雅黑" panose="020B0503020204020204" pitchFamily="34" charset="-122"/>
                <a:cs typeface="+mj-cs"/>
              </a:rPr>
              <a:t>-</a:t>
            </a:r>
            <a:r>
              <a:rPr lang="zh-CN" altLang="en-US" sz="1800" kern="1200" dirty="0">
                <a:solidFill>
                  <a:srgbClr val="0070C0"/>
                </a:solidFill>
                <a:latin typeface="微软雅黑" panose="020B0503020204020204" pitchFamily="34" charset="-122"/>
                <a:ea typeface="微软雅黑" panose="020B0503020204020204" pitchFamily="34" charset="-122"/>
                <a:cs typeface="+mj-cs"/>
              </a:rPr>
              <a:t>功能检查</a:t>
            </a:r>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H" val="20161020164557"/>
  <p:tag name="MH_LIBRARY" val="CONTENTS"/>
  <p:tag name="MH_TYPE" val="ENTRY"/>
  <p:tag name="ID" val="553515"/>
  <p:tag name="MH_ORDER" val="1"/>
</p:tagLst>
</file>

<file path=ppt/theme/theme1.xml><?xml version="1.0" encoding="utf-8"?>
<a:theme xmlns:a="http://schemas.openxmlformats.org/drawingml/2006/main" name="自定义设计方案">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Pages>28</Pages>
  <Words>5925</Words>
  <Application>Microsoft Macintosh PowerPoint</Application>
  <PresentationFormat>全屏显示(16:9)</PresentationFormat>
  <Paragraphs>695</Paragraphs>
  <Slides>71</Slides>
  <Notes>5</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vt:i4>
      </vt:variant>
      <vt:variant>
        <vt:lpstr>幻灯片标题</vt:lpstr>
      </vt:variant>
      <vt:variant>
        <vt:i4>71</vt:i4>
      </vt:variant>
    </vt:vector>
  </HeadingPairs>
  <TitlesOfParts>
    <vt:vector size="90" baseType="lpstr">
      <vt:lpstr>等线</vt:lpstr>
      <vt:lpstr>等线 Light</vt:lpstr>
      <vt:lpstr>黑体</vt:lpstr>
      <vt:lpstr>宋体</vt:lpstr>
      <vt:lpstr>Microsoft YaHei</vt:lpstr>
      <vt:lpstr>Microsoft YaHei</vt:lpstr>
      <vt:lpstr>Arial Unicode MS</vt:lpstr>
      <vt:lpstr>Arial</vt:lpstr>
      <vt:lpstr>Arial Rounded MT Bold</vt:lpstr>
      <vt:lpstr>Bookman Old Style</vt:lpstr>
      <vt:lpstr>Comic Sans MS</vt:lpstr>
      <vt:lpstr>Consolas</vt:lpstr>
      <vt:lpstr>Courier New</vt:lpstr>
      <vt:lpstr>Tahoma</vt:lpstr>
      <vt:lpstr>Times New Roman</vt:lpstr>
      <vt:lpstr>Verdana</vt:lpstr>
      <vt:lpstr>Wingdings</vt:lpstr>
      <vt:lpstr>自定义设计方案</vt:lpstr>
      <vt:lpstr>Visio.Drawing.6</vt:lpstr>
      <vt:lpstr>W2D1&amp;W2D2：Linux下的网络编程基础</vt:lpstr>
      <vt:lpstr>协议</vt:lpstr>
      <vt:lpstr>协议</vt:lpstr>
      <vt:lpstr>分层模型</vt:lpstr>
      <vt:lpstr>分层模型</vt:lpstr>
      <vt:lpstr>分层优势</vt:lpstr>
      <vt:lpstr>分层优势</vt:lpstr>
      <vt:lpstr>现实实例-邮局体系</vt:lpstr>
      <vt:lpstr>OSI/RM</vt:lpstr>
      <vt:lpstr>OSI/RM</vt:lpstr>
      <vt:lpstr>OSI/RM</vt:lpstr>
      <vt:lpstr>TCP/IP</vt:lpstr>
      <vt:lpstr>TCP/IP</vt:lpstr>
      <vt:lpstr>TCP/IP</vt:lpstr>
      <vt:lpstr>TCP/IP</vt:lpstr>
      <vt:lpstr>TCP/IP协议栈</vt:lpstr>
      <vt:lpstr>TCP/IP通信过程</vt:lpstr>
      <vt:lpstr>TCP/IP通信过程</vt:lpstr>
      <vt:lpstr>TCP/IP通信过程</vt:lpstr>
      <vt:lpstr>TCP/IP通信过程</vt:lpstr>
      <vt:lpstr>TCP/IP通信过程</vt:lpstr>
      <vt:lpstr>TCP/IP通信过程</vt:lpstr>
      <vt:lpstr>TCP/IP通信过程</vt:lpstr>
      <vt:lpstr>TCP/IP通信过程</vt:lpstr>
      <vt:lpstr>TCP/IP通信过程</vt:lpstr>
      <vt:lpstr>TCP/IP通信过程</vt:lpstr>
      <vt:lpstr>TCP/IP通信过程</vt:lpstr>
      <vt:lpstr>TCP/IP通信过程</vt:lpstr>
      <vt:lpstr>TCP/IP通信过程</vt:lpstr>
      <vt:lpstr>TCP/IP通信过程——典型的C/S结构模型</vt:lpstr>
      <vt:lpstr>网络编程接口的产生与发展</vt:lpstr>
      <vt:lpstr>网络编程接口的产生与发展</vt:lpstr>
      <vt:lpstr>网络编程接口的产生与发展</vt:lpstr>
      <vt:lpstr>网络编程接口的产生与发展</vt:lpstr>
      <vt:lpstr>Socket概述</vt:lpstr>
      <vt:lpstr>文件类型</vt:lpstr>
      <vt:lpstr>Socket概述</vt:lpstr>
      <vt:lpstr>Socket概述</vt:lpstr>
      <vt:lpstr>Socket类型</vt:lpstr>
      <vt:lpstr>Socket地址结构</vt:lpstr>
      <vt:lpstr>Socket地址结构</vt:lpstr>
      <vt:lpstr>Socket地址结构</vt:lpstr>
      <vt:lpstr>Socket地址结构</vt:lpstr>
      <vt:lpstr>Socket地址结构</vt:lpstr>
      <vt:lpstr>Socket地址结构</vt:lpstr>
      <vt:lpstr>Socket地址结构</vt:lpstr>
      <vt:lpstr>socket地址结构</vt:lpstr>
      <vt:lpstr>本机字节顺序与网络字节顺序</vt:lpstr>
      <vt:lpstr>本机字节顺序与网络字节顺序</vt:lpstr>
      <vt:lpstr>IP地址转换函数</vt:lpstr>
      <vt:lpstr>流式套接字（TCP套接字）工作流程</vt:lpstr>
      <vt:lpstr>socket函数</vt:lpstr>
      <vt:lpstr>connect函数</vt:lpstr>
      <vt:lpstr>bind函数</vt:lpstr>
      <vt:lpstr>listen函数</vt:lpstr>
      <vt:lpstr>accept函数</vt:lpstr>
      <vt:lpstr>数据传输</vt:lpstr>
      <vt:lpstr>数据传输</vt:lpstr>
      <vt:lpstr>数据传输</vt:lpstr>
      <vt:lpstr>数据传输</vt:lpstr>
      <vt:lpstr>数据传输</vt:lpstr>
      <vt:lpstr>终止连接</vt:lpstr>
      <vt:lpstr>终止连接</vt:lpstr>
      <vt:lpstr>终止连接</vt:lpstr>
      <vt:lpstr>训练1</vt:lpstr>
      <vt:lpstr>Webserver V0.6版 </vt:lpstr>
      <vt:lpstr>PowerPoint 演示文稿</vt:lpstr>
      <vt:lpstr>V0.6版 mini_webserver</vt:lpstr>
      <vt:lpstr>V0.6版 mini_webserver</vt:lpstr>
      <vt:lpstr>V0.6版 mini_webserver</vt:lpstr>
      <vt:lpstr>V0.6版 mini_webserver-功能检查</vt:lpstr>
    </vt:vector>
  </TitlesOfParts>
  <Company>ӿƼ�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һ ϵͳ֪ʶ</dc:title>
  <dc:subject>Guide for Creating Powerpoint Presentations</dc:subject>
  <dc:creator>�</dc:creator>
  <cp:lastModifiedBy>256657@qq.com</cp:lastModifiedBy>
  <cp:revision>683</cp:revision>
  <cp:lastPrinted>2026-07-01T10:11:14Z</cp:lastPrinted>
  <dcterms:created xsi:type="dcterms:W3CDTF">2026-07-01T10:11:14Z</dcterms:created>
  <dcterms:modified xsi:type="dcterms:W3CDTF">2026-07-02T10:05:13Z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r8>1</vt:r8>
  </property>
  <property fmtid="{D5CDD505-2E9C-101B-9397-08002B2CF9AE}" pid="3" name="GraphicType">
    <vt:r8>1</vt:r8>
  </property>
  <property fmtid="{D5CDD505-2E9C-101B-9397-08002B2CF9AE}" pid="4" name="Compression">
    <vt:r8>100</vt:r8>
  </property>
  <property fmtid="{D5CDD505-2E9C-101B-9397-08002B2CF9AE}" pid="5" name="ScreenSize">
    <vt:r8>2</vt:r8>
  </property>
  <property fmtid="{D5CDD505-2E9C-101B-9397-08002B2CF9AE}" pid="6" name="ScreenUsage">
    <vt:r8>1</vt:r8>
  </property>
  <property fmtid="{D5CDD505-2E9C-101B-9397-08002B2CF9AE}" pid="7" name="MailAddress">
    <vt:lpwstr>kejohnst@cisco.com</vt:lpwstr>
  </property>
  <property fmtid="{D5CDD505-2E9C-101B-9397-08002B2CF9AE}" pid="8" name="HomePage">
    <vt:lpwstr>cisco.netacad.net</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r8>15132390</vt:r8>
  </property>
  <property fmtid="{D5CDD505-2E9C-101B-9397-08002B2CF9AE}" pid="14" name="TextColor">
    <vt:r8>0</vt:r8>
  </property>
  <property fmtid="{D5CDD505-2E9C-101B-9397-08002B2CF9AE}" pid="15" name="LinkColor">
    <vt:r8>16711782</vt:r8>
  </property>
  <property fmtid="{D5CDD505-2E9C-101B-9397-08002B2CF9AE}" pid="16" name="VisitedColor">
    <vt:r8>10040268</vt:r8>
  </property>
  <property fmtid="{D5CDD505-2E9C-101B-9397-08002B2CF9AE}" pid="17" name="TransparentButton">
    <vt:r8>0</vt:r8>
  </property>
  <property fmtid="{D5CDD505-2E9C-101B-9397-08002B2CF9AE}" pid="18" name="ButtonType">
    <vt:r8>2</vt:r8>
  </property>
  <property fmtid="{D5CDD505-2E9C-101B-9397-08002B2CF9AE}" pid="19" name="ShowNotes">
    <vt:bool>false</vt:bool>
  </property>
  <property fmtid="{D5CDD505-2E9C-101B-9397-08002B2CF9AE}" pid="20" name="NavBtnPos">
    <vt:r8>4</vt:r8>
  </property>
  <property fmtid="{D5CDD505-2E9C-101B-9397-08002B2CF9AE}" pid="21" name="OutputDir">
    <vt:lpwstr>C:\WINDOWS\Desktop</vt:lpwstr>
  </property>
  <property fmtid="{D5CDD505-2E9C-101B-9397-08002B2CF9AE}" pid="22" name="KSOProductBuildVer">
    <vt:lpwstr>2052-12.1.26016.26016</vt:lpwstr>
  </property>
  <property fmtid="{D5CDD505-2E9C-101B-9397-08002B2CF9AE}" pid="23" name="ICV">
    <vt:lpwstr>E611D714DB80F80BC2E7446A780F5441_43</vt:lpwstr>
  </property>
</Properties>
</file>