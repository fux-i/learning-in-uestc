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44"/>
  </p:notesMasterIdLst>
  <p:sldIdLst>
    <p:sldId id="784" r:id="rId3"/>
    <p:sldId id="785" r:id="rId4"/>
    <p:sldId id="786" r:id="rId5"/>
    <p:sldId id="680" r:id="rId6"/>
    <p:sldId id="788" r:id="rId7"/>
    <p:sldId id="789" r:id="rId8"/>
    <p:sldId id="797" r:id="rId9"/>
    <p:sldId id="807" r:id="rId10"/>
    <p:sldId id="809" r:id="rId11"/>
    <p:sldId id="808" r:id="rId12"/>
    <p:sldId id="838" r:id="rId13"/>
    <p:sldId id="805" r:id="rId14"/>
    <p:sldId id="806" r:id="rId15"/>
    <p:sldId id="803" r:id="rId16"/>
    <p:sldId id="790" r:id="rId17"/>
    <p:sldId id="810" r:id="rId18"/>
    <p:sldId id="792" r:id="rId19"/>
    <p:sldId id="787" r:id="rId20"/>
    <p:sldId id="804" r:id="rId21"/>
    <p:sldId id="795" r:id="rId22"/>
    <p:sldId id="822" r:id="rId23"/>
    <p:sldId id="837" r:id="rId24"/>
    <p:sldId id="796" r:id="rId25"/>
    <p:sldId id="823" r:id="rId26"/>
    <p:sldId id="824" r:id="rId27"/>
    <p:sldId id="825" r:id="rId28"/>
    <p:sldId id="826" r:id="rId29"/>
    <p:sldId id="832" r:id="rId30"/>
    <p:sldId id="828" r:id="rId31"/>
    <p:sldId id="829" r:id="rId32"/>
    <p:sldId id="839" r:id="rId33"/>
    <p:sldId id="835" r:id="rId34"/>
    <p:sldId id="833" r:id="rId35"/>
    <p:sldId id="830" r:id="rId36"/>
    <p:sldId id="831" r:id="rId37"/>
    <p:sldId id="834" r:id="rId38"/>
    <p:sldId id="618" r:id="rId39"/>
    <p:sldId id="1274" r:id="rId40"/>
    <p:sldId id="619" r:id="rId41"/>
    <p:sldId id="1275" r:id="rId42"/>
    <p:sldId id="1270" r:id="rId43"/>
  </p:sldIdLst>
  <p:sldSz cx="9144000" cy="5143500" type="screen16x9"/>
  <p:notesSz cx="6985000" cy="9271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80968"/>
  </p:normalViewPr>
  <p:slideViewPr>
    <p:cSldViewPr showGuides="1">
      <p:cViewPr varScale="1">
        <p:scale>
          <a:sx n="114" d="100"/>
          <a:sy n="114" d="100"/>
        </p:scale>
        <p:origin x="856" y="1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3025" tIns="36512" rIns="73025" bIns="36512" numCol="1" anchor="t" anchorCtr="0" compatLnSpc="1"/>
          <a:lstStyle>
            <a:lvl1pPr eaLnBrk="0" hangingPunct="0">
              <a:defRPr sz="1200" b="0" i="0"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07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3025" tIns="36512" rIns="73025" bIns="36512" numCol="1" anchor="t" anchorCtr="0" compatLnSpc="1"/>
          <a:lstStyle>
            <a:lvl1pPr algn="r" eaLnBrk="0" hangingPunct="0">
              <a:defRPr sz="1200" b="0" i="0">
                <a:ea typeface="Microsoft YaHei" panose="020B0503020204020204" pitchFamily="34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148" name="Rectangle 1028"/>
          <p:cNvSpPr>
            <a:spLocks noGrp="1" noRot="1" noChangeAspect="1"/>
          </p:cNvSpPr>
          <p:nvPr>
            <p:ph type="sldImg"/>
          </p:nvPr>
        </p:nvSpPr>
        <p:spPr>
          <a:xfrm>
            <a:off x="352425" y="685800"/>
            <a:ext cx="6229350" cy="35052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19600"/>
            <a:ext cx="5105400" cy="4191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3025" tIns="36512" rIns="73025" bIns="36512" numCol="1" anchor="ctr" anchorCtr="0" compatLnSpc="1"/>
          <a:lstStyle/>
          <a:p>
            <a:pPr marL="113030" marR="0" lvl="0" indent="-11303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Click to edit Master text styles</a:t>
            </a:r>
          </a:p>
          <a:p>
            <a:pPr marL="482600" marR="0" lvl="1" indent="-12065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Second level</a:t>
            </a:r>
          </a:p>
          <a:p>
            <a:pPr marL="967105" marR="0" lvl="2" indent="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Third level</a:t>
            </a:r>
          </a:p>
          <a:p>
            <a:pPr marL="1449705" marR="0" lvl="3" indent="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Fourth level</a:t>
            </a:r>
          </a:p>
          <a:p>
            <a:pPr marL="1932305" marR="0" lvl="4" indent="0" algn="l" defTabSz="102108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Fifth level</a:t>
            </a:r>
          </a:p>
        </p:txBody>
      </p:sp>
      <p:sp>
        <p:nvSpPr>
          <p:cNvPr id="307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3025" tIns="36512" rIns="73025" bIns="36512" numCol="1" anchor="b" anchorCtr="0" compatLnSpc="1"/>
          <a:lstStyle>
            <a:lvl1pPr eaLnBrk="0" hangingPunct="0">
              <a:defRPr sz="1200" b="0" i="0"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07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73025" tIns="36512" rIns="73025" bIns="36512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z="1200" strike="noStrike" noProof="1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113030" indent="-113030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1pPr>
    <a:lvl2pPr marL="482600" indent="-120650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2pPr>
    <a:lvl3pPr marL="9671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3pPr>
    <a:lvl4pPr marL="14497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4pPr>
    <a:lvl5pPr marL="1932305" algn="l" defTabSz="1021080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panose="020B060402020209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14340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16388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根据图片核心内容，关于 ​**</a:t>
            </a:r>
            <a:r>
              <a:rPr lang="en-US" altLang="zh-CN"/>
              <a:t>fork()</a:t>
            </a:r>
            <a:r>
              <a:rPr lang="zh-CN" altLang="en-US"/>
              <a:t>函数执行后父子进程的异同**，以下是标准的技术解析：</a:t>
            </a:r>
          </a:p>
          <a:p>
            <a:pPr lvl="0"/>
            <a:r>
              <a:rPr lang="zh-CN" altLang="en-US" b="1"/>
              <a:t>​父子进程的相同点​</a:t>
            </a:r>
          </a:p>
          <a:p>
            <a:pPr lvl="0"/>
            <a:r>
              <a:rPr lang="zh-CN" altLang="en-US"/>
              <a:t>​</a:t>
            </a:r>
            <a:r>
              <a:rPr lang="zh-CN" altLang="en-US" b="1"/>
              <a:t>代码段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子进程完全复制父进程的代码段（包括 </a:t>
            </a:r>
            <a:r>
              <a:rPr lang="en-US" altLang="zh-CN"/>
              <a:t>fork() </a:t>
            </a:r>
            <a:r>
              <a:rPr lang="zh-CN" altLang="en-US"/>
              <a:t>之后的代码）。</a:t>
            </a:r>
          </a:p>
          <a:p>
            <a:pPr lvl="0"/>
            <a:r>
              <a:rPr lang="zh-CN" altLang="en-US"/>
              <a:t>​</a:t>
            </a:r>
            <a:r>
              <a:rPr lang="zh-CN" altLang="en-US" b="1"/>
              <a:t>数据段与堆栈段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子进程获得父进程数据段、堆段、栈段的</a:t>
            </a:r>
            <a:r>
              <a:rPr lang="zh-CN" altLang="en-US" b="1"/>
              <a:t>副本</a:t>
            </a:r>
            <a:r>
              <a:rPr lang="zh-CN" altLang="en-US"/>
              <a:t>​（采用 ​</a:t>
            </a:r>
            <a:r>
              <a:rPr lang="zh-CN" altLang="en-US" b="1"/>
              <a:t>写时复制 </a:t>
            </a:r>
            <a:r>
              <a:rPr lang="en-US" altLang="zh-CN" b="1"/>
              <a:t>Copy-On-Write</a:t>
            </a:r>
            <a:r>
              <a:rPr lang="en-US" altLang="zh-CN"/>
              <a:t>​ </a:t>
            </a:r>
            <a:r>
              <a:rPr lang="zh-CN" altLang="en-US"/>
              <a:t>机制，物理内存实际共享直至一方修改）。</a:t>
            </a:r>
          </a:p>
          <a:p>
            <a:pPr lvl="0"/>
            <a:r>
              <a:rPr lang="zh-CN" altLang="en-US"/>
              <a:t>​</a:t>
            </a:r>
            <a:r>
              <a:rPr lang="zh-CN" altLang="en-US" b="1"/>
              <a:t>文件描述符表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子进程继承父进程打开的文件描述符（如未关闭，两者操作同一文件偏移量）。</a:t>
            </a:r>
          </a:p>
          <a:p>
            <a:pPr lvl="0"/>
            <a:r>
              <a:rPr lang="zh-CN" altLang="en-US"/>
              <a:t>​</a:t>
            </a:r>
            <a:r>
              <a:rPr lang="zh-CN" altLang="en-US" b="1"/>
              <a:t>环境变量与权限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继承用户</a:t>
            </a:r>
            <a:r>
              <a:rPr lang="en-US" altLang="zh-CN"/>
              <a:t>ID</a:t>
            </a:r>
            <a:r>
              <a:rPr lang="zh-CN" altLang="en-US"/>
              <a:t>、组</a:t>
            </a:r>
            <a:r>
              <a:rPr lang="en-US" altLang="zh-CN"/>
              <a:t>ID</a:t>
            </a:r>
            <a:r>
              <a:rPr lang="zh-CN" altLang="en-US"/>
              <a:t>、工作目录、信号处理方式等。</a:t>
            </a:r>
          </a:p>
          <a:p>
            <a:pPr lvl="0"/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r>
              <a:rPr lang="zh-CN" altLang="en-US" b="1"/>
              <a:t>进程 </a:t>
            </a:r>
            <a:r>
              <a:rPr lang="en-US" altLang="zh-CN" b="1"/>
              <a:t>ID</a:t>
            </a:r>
            <a:r>
              <a:rPr lang="zh-CN" altLang="en-US" b="1"/>
              <a:t>（</a:t>
            </a:r>
            <a:r>
              <a:rPr lang="en-US" altLang="zh-CN" b="1"/>
              <a:t>PID</a:t>
            </a:r>
            <a:r>
              <a:rPr lang="zh-CN" altLang="en-US" b="1"/>
              <a:t>）</a:t>
            </a:r>
            <a:r>
              <a:rPr lang="zh-CN" altLang="en-US"/>
              <a:t>：父进程返回的是子进程的 </a:t>
            </a:r>
            <a:r>
              <a:rPr lang="en-US" altLang="zh-CN"/>
              <a:t>PID</a:t>
            </a:r>
            <a:r>
              <a:rPr lang="zh-CN" altLang="en-US"/>
              <a:t>，而子进程返回的是 </a:t>
            </a:r>
            <a:r>
              <a:rPr lang="en-US" altLang="zh-CN"/>
              <a:t>0</a:t>
            </a:r>
            <a:r>
              <a:rPr lang="zh-CN" altLang="en-US"/>
              <a:t>，这是区分父子进程的关键依据。</a:t>
            </a:r>
          </a:p>
          <a:p>
            <a:pPr lvl="0"/>
            <a:r>
              <a:rPr lang="zh-CN" altLang="en-US" b="1"/>
              <a:t>返回值</a:t>
            </a:r>
            <a:r>
              <a:rPr lang="zh-CN" altLang="en-US"/>
              <a:t>：</a:t>
            </a:r>
            <a:r>
              <a:rPr lang="en-US" altLang="zh-CN"/>
              <a:t>fork()</a:t>
            </a:r>
            <a:r>
              <a:rPr lang="zh-CN" altLang="en-US"/>
              <a:t>在父进程中返回子进程的 </a:t>
            </a:r>
            <a:r>
              <a:rPr lang="en-US" altLang="zh-CN"/>
              <a:t>PID</a:t>
            </a:r>
            <a:r>
              <a:rPr lang="zh-CN" altLang="en-US"/>
              <a:t>（一个正整数），在子进程中则返回 </a:t>
            </a:r>
            <a:r>
              <a:rPr lang="en-US" altLang="zh-CN"/>
              <a:t>0</a:t>
            </a:r>
            <a:r>
              <a:rPr lang="zh-CN" altLang="en-US"/>
              <a:t>。要是返回值为 </a:t>
            </a:r>
            <a:r>
              <a:rPr lang="en-US" altLang="zh-CN"/>
              <a:t>- 1</a:t>
            </a:r>
            <a:r>
              <a:rPr lang="zh-CN" altLang="en-US"/>
              <a:t>，表明创建进程失败。</a:t>
            </a:r>
          </a:p>
          <a:p>
            <a:pPr lvl="0"/>
            <a:r>
              <a:rPr lang="zh-CN" altLang="en-US" b="1"/>
              <a:t>执行顺序</a:t>
            </a:r>
            <a:r>
              <a:rPr lang="zh-CN" altLang="en-US"/>
              <a:t>：父子进程的执行顺序是不确定的，具体由操作系统的调度算法来决定。</a:t>
            </a:r>
          </a:p>
          <a:p>
            <a:pPr lvl="0"/>
            <a:r>
              <a:rPr lang="zh-CN" altLang="en-US" b="1"/>
              <a:t>资源使用</a:t>
            </a:r>
            <a:r>
              <a:rPr lang="zh-CN" altLang="en-US"/>
              <a:t>：尽管子进程复制了父进程的数据和环境，但它们有各自独立的内存空间，也就是说，一个进程对变量的修改不会影响到另一个进程。</a:t>
            </a:r>
          </a:p>
          <a:p>
            <a:pPr lvl="0"/>
            <a:r>
              <a:rPr lang="zh-CN" altLang="en-US" b="1"/>
              <a:t>时间量</a:t>
            </a:r>
            <a:r>
              <a:rPr lang="zh-CN" altLang="en-US"/>
              <a:t>：子进程的 </a:t>
            </a:r>
            <a:r>
              <a:rPr lang="en-US" altLang="zh-CN"/>
              <a:t>CPU </a:t>
            </a:r>
            <a:r>
              <a:rPr lang="zh-CN" altLang="en-US"/>
              <a:t>时间计数器会重新开始计数，与父进程的时间量没有关系。</a:t>
            </a:r>
          </a:p>
          <a:p>
            <a:pPr lvl="0"/>
            <a:r>
              <a:rPr lang="zh-CN" altLang="en-US" b="1"/>
              <a:t>进程关系</a:t>
            </a:r>
            <a:r>
              <a:rPr lang="zh-CN" altLang="en-US"/>
              <a:t>：父进程的父进程是它原来的父进程，而子进程的父进程就是创建它的进程。</a:t>
            </a:r>
            <a:endParaRPr lang="en-US" altLang="zh-CN"/>
          </a:p>
          <a:p>
            <a:pPr lvl="0"/>
            <a:r>
              <a:rPr lang="zh-CN" altLang="en-US"/>
              <a:t>​</a:t>
            </a:r>
            <a:r>
              <a:rPr lang="zh-CN" altLang="en-US" b="1"/>
              <a:t>文件描述符共享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子进程复制父进程的文件描述符表项，指向相同的打开文件句柄（内核结构）。关闭描述符不影响另一方，但</a:t>
            </a:r>
            <a:r>
              <a:rPr lang="zh-CN" altLang="en-US" b="1"/>
              <a:t>读写偏移量会互相影响</a:t>
            </a:r>
            <a:r>
              <a:rPr lang="zh-CN" altLang="en-US"/>
              <a:t>。</a:t>
            </a:r>
          </a:p>
          <a:p>
            <a:pPr lvl="0"/>
            <a:r>
              <a:rPr lang="en-US" altLang="zh-CN"/>
              <a:t>​</a:t>
            </a:r>
            <a:r>
              <a:rPr lang="en-US" altLang="zh-CN" b="1"/>
              <a:t>Q: </a:t>
            </a:r>
            <a:r>
              <a:rPr lang="zh-CN" altLang="en-US" b="1"/>
              <a:t>如何避免文件描述符冲突？​</a:t>
            </a:r>
            <a:r>
              <a:rPr lang="zh-CN" altLang="en-US"/>
              <a:t>​</a:t>
            </a:r>
            <a:br>
              <a:rPr lang="zh-CN" altLang="en-US"/>
            </a:br>
            <a:r>
              <a:rPr lang="zh-CN" altLang="en-US"/>
              <a:t>​</a:t>
            </a:r>
            <a:r>
              <a:rPr lang="en-US" altLang="zh-CN" b="1"/>
              <a:t>A</a:t>
            </a:r>
            <a:r>
              <a:rPr lang="en-US" altLang="zh-CN"/>
              <a:t>: </a:t>
            </a:r>
            <a:r>
              <a:rPr lang="zh-CN" altLang="en-US"/>
              <a:t>在 </a:t>
            </a:r>
            <a:r>
              <a:rPr lang="en-US" altLang="zh-CN"/>
              <a:t>fork() </a:t>
            </a:r>
            <a:r>
              <a:rPr lang="zh-CN" altLang="en-US"/>
              <a:t>后立即关闭不需要的描述符，或使用 </a:t>
            </a:r>
            <a:r>
              <a:rPr lang="en-US" altLang="zh-CN"/>
              <a:t>fcntl() </a:t>
            </a:r>
            <a:r>
              <a:rPr lang="zh-CN" altLang="en-US"/>
              <a:t>设置文件偏移量独立（</a:t>
            </a:r>
            <a:r>
              <a:rPr lang="en-US" altLang="zh-CN"/>
              <a:t>O_APPEND </a:t>
            </a:r>
            <a:r>
              <a:rPr lang="zh-CN" altLang="en-US"/>
              <a:t>可缓解问题）</a:t>
            </a:r>
          </a:p>
          <a:p>
            <a:pPr lvl="0"/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r>
              <a:rPr lang="en-US" altLang="zh-CN">
                <a:solidFill>
                  <a:srgbClr val="333333"/>
                </a:solidFill>
                <a:latin typeface="-apple-system"/>
              </a:rPr>
              <a:t>tms_utime</a:t>
            </a:r>
            <a:r>
              <a:rPr lang="zh-CN" altLang="en-US">
                <a:solidFill>
                  <a:srgbClr val="333333"/>
                </a:solidFill>
                <a:latin typeface="-apple-system"/>
              </a:rPr>
              <a:t>记录的是进程执行用户代码的时间</a:t>
            </a:r>
            <a:r>
              <a:rPr lang="en-US" altLang="zh-CN">
                <a:solidFill>
                  <a:srgbClr val="333333"/>
                </a:solidFill>
                <a:latin typeface="-apple-system"/>
              </a:rPr>
              <a:t>.</a:t>
            </a:r>
            <a:br>
              <a:rPr lang="zh-CN" altLang="en-US"/>
            </a:br>
            <a:r>
              <a:rPr lang="en-US" altLang="zh-CN">
                <a:solidFill>
                  <a:srgbClr val="333333"/>
                </a:solidFill>
                <a:latin typeface="-apple-system"/>
              </a:rPr>
              <a:t>tms_stime</a:t>
            </a:r>
            <a:r>
              <a:rPr lang="zh-CN" altLang="en-US">
                <a:solidFill>
                  <a:srgbClr val="333333"/>
                </a:solidFill>
                <a:latin typeface="-apple-system"/>
              </a:rPr>
              <a:t>记录的是进程执行内核代码的时间</a:t>
            </a:r>
            <a:r>
              <a:rPr lang="en-US" altLang="zh-CN">
                <a:solidFill>
                  <a:srgbClr val="333333"/>
                </a:solidFill>
                <a:latin typeface="-apple-system"/>
              </a:rPr>
              <a:t>.</a:t>
            </a:r>
            <a:br>
              <a:rPr lang="zh-CN" altLang="en-US"/>
            </a:br>
            <a:r>
              <a:rPr lang="en-US" altLang="zh-CN">
                <a:solidFill>
                  <a:srgbClr val="333333"/>
                </a:solidFill>
                <a:latin typeface="-apple-system"/>
              </a:rPr>
              <a:t>tms_cutime</a:t>
            </a:r>
            <a:r>
              <a:rPr lang="zh-CN" altLang="en-US">
                <a:solidFill>
                  <a:srgbClr val="333333"/>
                </a:solidFill>
                <a:latin typeface="-apple-system"/>
              </a:rPr>
              <a:t>记录的是子进程执行用户代码的时间</a:t>
            </a:r>
            <a:r>
              <a:rPr lang="en-US" altLang="zh-CN">
                <a:solidFill>
                  <a:srgbClr val="333333"/>
                </a:solidFill>
                <a:latin typeface="-apple-system"/>
              </a:rPr>
              <a:t>.</a:t>
            </a:r>
            <a:br>
              <a:rPr lang="zh-CN" altLang="en-US"/>
            </a:br>
            <a:r>
              <a:rPr lang="en-US" altLang="zh-CN">
                <a:solidFill>
                  <a:srgbClr val="333333"/>
                </a:solidFill>
                <a:latin typeface="-apple-system"/>
              </a:rPr>
              <a:t>tms_ustime</a:t>
            </a:r>
            <a:r>
              <a:rPr lang="zh-CN" altLang="en-US">
                <a:solidFill>
                  <a:srgbClr val="333333"/>
                </a:solidFill>
                <a:latin typeface="-apple-system"/>
              </a:rPr>
              <a:t>记录的是子进程执行内核代码的时间</a:t>
            </a:r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endParaRPr lang="en-US" altLang="zh-CN">
              <a:solidFill>
                <a:srgbClr val="333333"/>
              </a:solidFill>
              <a:latin typeface="-apple-system"/>
            </a:endParaRPr>
          </a:p>
          <a:p>
            <a:pPr lvl="0"/>
            <a:endParaRPr lang="zh-CN" altLang="en-US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20484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22532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在操作系统中，内核空间和用户空间是两个不同的内存区域，它们管理着不同类型的资源。</a:t>
            </a:r>
            <a:endParaRPr lang="en-US" altLang="zh-CN"/>
          </a:p>
          <a:p>
            <a:pPr lvl="0"/>
            <a:r>
              <a:rPr lang="en-US" altLang="zh-CN"/>
              <a:t>PCB </a:t>
            </a:r>
            <a:r>
              <a:rPr lang="zh-CN" altLang="en-US"/>
              <a:t>是内核为每个进程维护的一个数据结构，包含了进程的所有状态信息。</a:t>
            </a: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27652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29700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1747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31748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3795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33796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584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35844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43275" y="539750"/>
            <a:ext cx="3546475" cy="2660650"/>
          </a:xfrm>
          <a:ln/>
        </p:spPr>
      </p:sp>
      <p:sp>
        <p:nvSpPr>
          <p:cNvPr id="37892" name="Rectangle 3"/>
          <p:cNvSpPr>
            <a:spLocks noGrp="1"/>
          </p:cNvSpPr>
          <p:nvPr>
            <p:ph type="body"/>
          </p:nvPr>
        </p:nvSpPr>
        <p:spPr>
          <a:xfrm>
            <a:off x="1023938" y="3371850"/>
            <a:ext cx="8186737" cy="3135313"/>
          </a:xfrm>
          <a:ln/>
        </p:spPr>
        <p:txBody>
          <a:bodyPr wrap="non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74725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 defTabSz="965200"/>
            <a:r>
              <a:rPr lang="en-US" altLang="zh-CN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2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这里面的 </a:t>
            </a:r>
            <a:r>
              <a:rPr lang="en-US" altLang="zh-CN"/>
              <a:t>key</a:t>
            </a:r>
            <a:r>
              <a:rPr lang="zh-CN" altLang="en-US"/>
              <a:t>，就是前面生成的那个 </a:t>
            </a:r>
            <a:r>
              <a:rPr lang="en-US" altLang="zh-CN"/>
              <a:t>key</a:t>
            </a:r>
            <a:r>
              <a:rPr lang="zh-CN" altLang="en-US"/>
              <a:t>，</a:t>
            </a:r>
            <a:r>
              <a:rPr lang="en-US" altLang="zh-CN"/>
              <a:t>shmflag </a:t>
            </a:r>
            <a:r>
              <a:rPr lang="zh-CN" altLang="en-US"/>
              <a:t>如果为 </a:t>
            </a:r>
            <a:r>
              <a:rPr lang="en-US" altLang="zh-CN"/>
              <a:t>IPC_CREAT</a:t>
            </a:r>
            <a:r>
              <a:rPr lang="zh-CN" altLang="en-US"/>
              <a:t>，就表示新创建，还可以指定读写权限 </a:t>
            </a:r>
            <a:r>
              <a:rPr lang="en-US" altLang="zh-CN"/>
              <a:t>0777</a:t>
            </a:r>
            <a:r>
              <a:rPr lang="zh-CN" altLang="en-US"/>
              <a:t>。</a:t>
            </a:r>
          </a:p>
        </p:txBody>
      </p:sp>
      <p:sp>
        <p:nvSpPr>
          <p:cNvPr id="614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0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endParaRPr lang="zh-CN" altLang="en-US"/>
          </a:p>
        </p:txBody>
      </p:sp>
      <p:sp>
        <p:nvSpPr>
          <p:cNvPr id="634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共享内存和信号量的配合机制，如下图所示：</a:t>
            </a:r>
            <a:r>
              <a:rPr lang="en-US" altLang="zh-CN"/>
              <a:t>• </a:t>
            </a:r>
            <a:r>
              <a:rPr lang="zh-CN" altLang="en-US"/>
              <a:t>无论是共享内存还是信号量，创建与初始化都遵循同样流程，通过 </a:t>
            </a:r>
            <a:r>
              <a:rPr lang="en-US" altLang="zh-CN"/>
              <a:t>ftok </a:t>
            </a:r>
            <a:r>
              <a:rPr lang="zh-CN" altLang="en-US"/>
              <a:t>得到 </a:t>
            </a:r>
            <a:r>
              <a:rPr lang="en-US" altLang="zh-CN"/>
              <a:t>key</a:t>
            </a:r>
            <a:r>
              <a:rPr lang="zh-CN" altLang="en-US"/>
              <a:t>，通过 </a:t>
            </a:r>
            <a:r>
              <a:rPr lang="en-US" altLang="zh-CN"/>
              <a:t>xxxget </a:t>
            </a:r>
            <a:r>
              <a:rPr lang="zh-CN" altLang="en-US"/>
              <a:t>创建对象并生成 </a:t>
            </a:r>
            <a:r>
              <a:rPr lang="en-US" altLang="zh-CN"/>
              <a:t>id</a:t>
            </a:r>
            <a:r>
              <a:rPr lang="zh-CN" altLang="en-US"/>
              <a:t>；</a:t>
            </a:r>
            <a:r>
              <a:rPr lang="en-US" altLang="zh-CN"/>
              <a:t>• </a:t>
            </a:r>
            <a:r>
              <a:rPr lang="zh-CN" altLang="en-US"/>
              <a:t>生产者和消费者都通过 </a:t>
            </a:r>
            <a:r>
              <a:rPr lang="en-US" altLang="zh-CN"/>
              <a:t>shmat </a:t>
            </a:r>
            <a:r>
              <a:rPr lang="zh-CN" altLang="en-US"/>
              <a:t>将共享内存映射到各自的内存空间，在不同的进程里面映射的位置不同；</a:t>
            </a:r>
            <a:r>
              <a:rPr lang="en-US" altLang="zh-CN"/>
              <a:t>• </a:t>
            </a:r>
            <a:r>
              <a:rPr lang="zh-CN" altLang="en-US"/>
              <a:t>为了访问共享内存，需要信号量进行保护，信号量需要通过 </a:t>
            </a:r>
            <a:r>
              <a:rPr lang="en-US" altLang="zh-CN"/>
              <a:t>semctl </a:t>
            </a:r>
            <a:r>
              <a:rPr lang="zh-CN" altLang="en-US"/>
              <a:t>初始化为某个值；</a:t>
            </a:r>
            <a:r>
              <a:rPr lang="en-US" altLang="zh-CN"/>
              <a:t>• </a:t>
            </a:r>
            <a:r>
              <a:rPr lang="zh-CN" altLang="en-US"/>
              <a:t>接下来生产者和消费者要通过 </a:t>
            </a:r>
            <a:r>
              <a:rPr lang="en-US" altLang="zh-CN"/>
              <a:t>semop(-1) </a:t>
            </a:r>
            <a:r>
              <a:rPr lang="zh-CN" altLang="en-US"/>
              <a:t>来竞争信号量，如果生产者抢到信号量则写入，然后通过 </a:t>
            </a:r>
            <a:r>
              <a:rPr lang="en-US" altLang="zh-CN"/>
              <a:t>semop(+1) </a:t>
            </a:r>
            <a:r>
              <a:rPr lang="zh-CN" altLang="en-US"/>
              <a:t>释放信号量，如果消费者抢到信号量则读出，然后通过 </a:t>
            </a:r>
            <a:r>
              <a:rPr lang="en-US" altLang="zh-CN"/>
              <a:t>semop(+1) </a:t>
            </a:r>
            <a:r>
              <a:rPr lang="zh-CN" altLang="en-US"/>
              <a:t>释放信号量；</a:t>
            </a:r>
            <a:r>
              <a:rPr lang="en-US" altLang="zh-CN"/>
              <a:t>• </a:t>
            </a:r>
            <a:r>
              <a:rPr lang="zh-CN" altLang="en-US"/>
              <a:t>共享内存使用完毕，可以通过 </a:t>
            </a:r>
            <a:r>
              <a:rPr lang="en-US" altLang="zh-CN"/>
              <a:t>shmdt </a:t>
            </a:r>
            <a:r>
              <a:rPr lang="zh-CN" altLang="en-US"/>
              <a:t>来解除映射</a:t>
            </a: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6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信号量以集合的形式存在的。首先，创建之前，我们同样需要有一个 </a:t>
            </a:r>
            <a:r>
              <a:rPr lang="en-US" altLang="zh-CN"/>
              <a:t>key</a:t>
            </a:r>
            <a:r>
              <a:rPr lang="zh-CN" altLang="en-US"/>
              <a:t>，来唯一标识这个信号量集合。这个 </a:t>
            </a:r>
            <a:r>
              <a:rPr lang="en-US" altLang="zh-CN"/>
              <a:t>key </a:t>
            </a:r>
            <a:r>
              <a:rPr lang="zh-CN" altLang="en-US"/>
              <a:t>同样可以根据文件系统上的一个文件的 </a:t>
            </a:r>
            <a:r>
              <a:rPr lang="en-US" altLang="zh-CN"/>
              <a:t>inode </a:t>
            </a:r>
            <a:r>
              <a:rPr lang="zh-CN" altLang="en-US"/>
              <a:t>随机生成。然后，我们需要创建一个信号量集合，同样也是使用 </a:t>
            </a:r>
            <a:r>
              <a:rPr lang="en-US" altLang="zh-CN"/>
              <a:t>xxxget </a:t>
            </a:r>
            <a:r>
              <a:rPr lang="zh-CN" altLang="en-US"/>
              <a:t>来创建，其中创建信号量集合使用的是下面这个函数。</a:t>
            </a: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8" name="备注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73025" tIns="36512" rIns="73025" bIns="36512" anchor="ctr" anchorCtr="0"/>
          <a:lstStyle/>
          <a:p>
            <a:pPr lvl="0"/>
            <a:r>
              <a:rPr lang="zh-CN" altLang="en-US"/>
              <a:t>这里面的 </a:t>
            </a:r>
            <a:r>
              <a:rPr lang="en-US" altLang="zh-CN"/>
              <a:t>key</a:t>
            </a:r>
            <a:r>
              <a:rPr lang="zh-CN" altLang="en-US"/>
              <a:t>，就是前面生成的那个 </a:t>
            </a:r>
            <a:r>
              <a:rPr lang="en-US" altLang="zh-CN"/>
              <a:t>key</a:t>
            </a:r>
            <a:r>
              <a:rPr lang="zh-CN" altLang="en-US"/>
              <a:t>，</a:t>
            </a:r>
            <a:r>
              <a:rPr lang="en-US" altLang="zh-CN"/>
              <a:t>shmflag </a:t>
            </a:r>
            <a:r>
              <a:rPr lang="zh-CN" altLang="en-US"/>
              <a:t>如果为 </a:t>
            </a:r>
            <a:r>
              <a:rPr lang="en-US" altLang="zh-CN"/>
              <a:t>IPC_CREAT</a:t>
            </a:r>
            <a:r>
              <a:rPr lang="zh-CN" altLang="en-US"/>
              <a:t>，就表示新创建，还可以指定读写权限 </a:t>
            </a:r>
            <a:r>
              <a:rPr lang="en-US" altLang="zh-CN"/>
              <a:t>0777</a:t>
            </a:r>
            <a:r>
              <a:rPr lang="zh-CN" altLang="en-US"/>
              <a:t>。这里，</a:t>
            </a:r>
            <a:r>
              <a:rPr lang="en-US" altLang="zh-CN"/>
              <a:t>nsems </a:t>
            </a:r>
            <a:r>
              <a:rPr lang="zh-CN" altLang="en-US"/>
              <a:t>表示这个信号量集合里面有几个信号量，最简单的情况下，我们设置为 </a:t>
            </a:r>
            <a:r>
              <a:rPr lang="en-US" altLang="zh-CN"/>
              <a:t>1</a:t>
            </a:r>
            <a:r>
              <a:rPr lang="zh-CN" altLang="en-US"/>
              <a:t>。对于信号量，往往要定义两种操作，</a:t>
            </a:r>
            <a:r>
              <a:rPr lang="en-US" altLang="zh-CN"/>
              <a:t>P </a:t>
            </a:r>
            <a:r>
              <a:rPr lang="zh-CN" altLang="en-US"/>
              <a:t>操作和 </a:t>
            </a:r>
            <a:r>
              <a:rPr lang="en-US" altLang="zh-CN"/>
              <a:t>V </a:t>
            </a:r>
            <a:r>
              <a:rPr lang="zh-CN" altLang="en-US"/>
              <a:t>操作。对应上面代码中 </a:t>
            </a:r>
            <a:r>
              <a:rPr lang="en-US" altLang="zh-CN"/>
              <a:t>semaphore_p </a:t>
            </a:r>
            <a:r>
              <a:rPr lang="zh-CN" altLang="en-US"/>
              <a:t>函数和 </a:t>
            </a:r>
            <a:r>
              <a:rPr lang="en-US" altLang="zh-CN"/>
              <a:t>semaphore_v </a:t>
            </a:r>
            <a:r>
              <a:rPr lang="zh-CN" altLang="en-US"/>
              <a:t>函数，</a:t>
            </a:r>
            <a:r>
              <a:rPr lang="en-US" altLang="zh-CN"/>
              <a:t>semaphore_p </a:t>
            </a:r>
            <a:r>
              <a:rPr lang="zh-CN" altLang="en-US"/>
              <a:t>会调用 </a:t>
            </a:r>
            <a:r>
              <a:rPr lang="en-US" altLang="zh-CN"/>
              <a:t>semop </a:t>
            </a:r>
            <a:r>
              <a:rPr lang="zh-CN" altLang="en-US"/>
              <a:t>函数将信号量的值减一，表示申请占用一个资源，当发现当前没有资源的时候，进入等待。</a:t>
            </a:r>
            <a:r>
              <a:rPr lang="en-US" altLang="zh-CN"/>
              <a:t>semaphore_v </a:t>
            </a:r>
            <a:r>
              <a:rPr lang="zh-CN" altLang="en-US"/>
              <a:t>会调用 </a:t>
            </a:r>
            <a:r>
              <a:rPr lang="en-US" altLang="zh-CN"/>
              <a:t>semop </a:t>
            </a:r>
            <a:r>
              <a:rPr lang="zh-CN" altLang="en-US"/>
              <a:t>函数将信号量的值加一，表示释放一个资源，释放之后，就允许等待中的其他进程占用这个资源。可以用这个信号量，来保护共享内存中的 </a:t>
            </a:r>
            <a:r>
              <a:rPr lang="en-US" altLang="zh-CN"/>
              <a:t>struct shm_data</a:t>
            </a:r>
            <a:r>
              <a:rPr lang="zh-CN" altLang="en-US"/>
              <a:t>，使得同时只有一个进程可以操作这个结构。</a:t>
            </a:r>
          </a:p>
        </p:txBody>
      </p:sp>
      <p:sp>
        <p:nvSpPr>
          <p:cNvPr id="7065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73025" tIns="36512" rIns="73025" bIns="36512" anchor="b" anchorCtr="0"/>
          <a:lstStyle/>
          <a:p>
            <a:pPr lvl="0" algn="r"/>
            <a:r>
              <a:rPr lang="zh-CN" altLang="en-US" sz="12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8850" name="备注占位符 2"/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/>
          </a:p>
        </p:txBody>
      </p:sp>
      <p:sp>
        <p:nvSpPr>
          <p:cNvPr id="7885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39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8615-0B4A-8451-616F-54180E3F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幻灯片图像占位符 1">
            <a:extLst>
              <a:ext uri="{FF2B5EF4-FFF2-40B4-BE49-F238E27FC236}">
                <a16:creationId xmlns:a16="http://schemas.microsoft.com/office/drawing/2014/main" id="{96507404-177C-F504-2C24-5846EAF2A7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4994" name="备注占位符 2">
            <a:extLst>
              <a:ext uri="{FF2B5EF4-FFF2-40B4-BE49-F238E27FC236}">
                <a16:creationId xmlns:a16="http://schemas.microsoft.com/office/drawing/2014/main" id="{AA5B9410-D5CD-378D-0870-DD93C9236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438" y="3382963"/>
            <a:ext cx="7478712" cy="3211512"/>
          </a:xfrm>
          <a:ln/>
        </p:spPr>
        <p:txBody>
          <a:bodyPr wrap="square" lIns="77867" tIns="38933" rIns="77867" bIns="38933" anchor="ctr" anchorCtr="0"/>
          <a:lstStyle/>
          <a:p>
            <a:pPr lvl="0"/>
            <a:endParaRPr lang="zh-CN" altLang="en-US"/>
          </a:p>
        </p:txBody>
      </p:sp>
      <p:sp>
        <p:nvSpPr>
          <p:cNvPr id="84995" name="灯片编号占位符 3">
            <a:extLst>
              <a:ext uri="{FF2B5EF4-FFF2-40B4-BE49-F238E27FC236}">
                <a16:creationId xmlns:a16="http://schemas.microsoft.com/office/drawing/2014/main" id="{8C8B381A-F579-2FFD-96F2-293C37E81D7A}"/>
              </a:ext>
            </a:extLst>
          </p:cNvPr>
          <p:cNvSpPr txBox="1">
            <a:spLocks noGrp="1"/>
          </p:cNvSpPr>
          <p:nvPr>
            <p:ph type="sldNum" sz="quarter"/>
          </p:nvPr>
        </p:nvSpPr>
        <p:spPr>
          <a:xfrm>
            <a:off x="5805488" y="6769100"/>
            <a:ext cx="4465637" cy="347663"/>
          </a:xfrm>
          <a:prstGeom prst="rect">
            <a:avLst/>
          </a:prstGeom>
          <a:noFill/>
          <a:ln w="9525">
            <a:noFill/>
          </a:ln>
        </p:spPr>
        <p:txBody>
          <a:bodyPr lIns="77867" tIns="38933" rIns="77867" bIns="38933" anchor="b" anchorCtr="0"/>
          <a:lstStyle/>
          <a:p>
            <a:pPr lvl="0" algn="r" defTabSz="974725"/>
            <a:fld id="{9A0DB2DC-4C9A-4742-B13C-FB6460FD3503}" type="slidenum">
              <a:rPr lang="en-US" sz="1300">
                <a:latin typeface="等线" pitchFamily="2" charset="-122"/>
                <a:ea typeface="等线" pitchFamily="2" charset="-122"/>
              </a:rPr>
              <a:t>40</a:t>
            </a:fld>
            <a:endParaRPr lang="en-US" altLang="en-US" sz="1300">
              <a:latin typeface="等线" pitchFamily="2" charset="-122"/>
              <a:ea typeface="等线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7136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25650"/>
            <a:ext cx="9144000" cy="125412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4FEE"/>
              </a:highlight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grpSp>
        <p:nvGrpSpPr>
          <p:cNvPr id="3075" name="组合 7"/>
          <p:cNvGrpSpPr>
            <a:grpSpLocks noChangeAspect="1"/>
          </p:cNvGrpSpPr>
          <p:nvPr userDrawn="1"/>
        </p:nvGrpSpPr>
        <p:grpSpPr>
          <a:xfrm>
            <a:off x="1214438" y="798513"/>
            <a:ext cx="6292850" cy="679450"/>
            <a:chOff x="8394642" y="741050"/>
            <a:chExt cx="2932231" cy="316260"/>
          </a:xfrm>
        </p:grpSpPr>
        <p:grpSp>
          <p:nvGrpSpPr>
            <p:cNvPr id="7" name="组合 6"/>
            <p:cNvGrpSpPr/>
            <p:nvPr/>
          </p:nvGrpSpPr>
          <p:grpSpPr>
            <a:xfrm>
              <a:off x="9984674" y="807628"/>
              <a:ext cx="1342199" cy="203423"/>
              <a:chOff x="5932112" y="3305663"/>
              <a:chExt cx="2557537" cy="387619"/>
            </a:xfrm>
            <a:solidFill>
              <a:srgbClr val="304394"/>
            </a:solidFill>
          </p:grpSpPr>
          <p:pic>
            <p:nvPicPr>
              <p:cNvPr id="10" name="图形 6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936891" y="3612719"/>
                <a:ext cx="2552758" cy="80563"/>
              </a:xfrm>
              <a:prstGeom prst="rect">
                <a:avLst/>
              </a:prstGeom>
            </p:spPr>
          </p:pic>
          <p:grpSp>
            <p:nvGrpSpPr>
              <p:cNvPr id="11" name="图形 378"/>
              <p:cNvGrpSpPr/>
              <p:nvPr/>
            </p:nvGrpSpPr>
            <p:grpSpPr>
              <a:xfrm>
                <a:off x="5932112" y="3305663"/>
                <a:ext cx="2553136" cy="260956"/>
                <a:chOff x="5932112" y="3305663"/>
                <a:chExt cx="2553136" cy="260956"/>
              </a:xfrm>
              <a:grpFill/>
            </p:grpSpPr>
            <p:sp>
              <p:nvSpPr>
                <p:cNvPr id="12" name="任意多边形: 形状 12"/>
                <p:cNvSpPr/>
                <p:nvPr/>
              </p:nvSpPr>
              <p:spPr>
                <a:xfrm>
                  <a:off x="5932112" y="3305663"/>
                  <a:ext cx="261335" cy="260767"/>
                </a:xfrm>
                <a:custGeom>
                  <a:avLst/>
                  <a:gdLst>
                    <a:gd name="connsiteX0" fmla="*/ 0 w 261335"/>
                    <a:gd name="connsiteY0" fmla="*/ 130100 h 260767"/>
                    <a:gd name="connsiteX1" fmla="*/ 11552 w 261335"/>
                    <a:gd name="connsiteY1" fmla="*/ 99989 h 260767"/>
                    <a:gd name="connsiteX2" fmla="*/ 22914 w 261335"/>
                    <a:gd name="connsiteY2" fmla="*/ 64766 h 260767"/>
                    <a:gd name="connsiteX3" fmla="*/ 32572 w 261335"/>
                    <a:gd name="connsiteY3" fmla="*/ 29732 h 260767"/>
                    <a:gd name="connsiteX4" fmla="*/ 39200 w 261335"/>
                    <a:gd name="connsiteY4" fmla="*/ 1136 h 260767"/>
                    <a:gd name="connsiteX5" fmla="*/ 78401 w 261335"/>
                    <a:gd name="connsiteY5" fmla="*/ 1136 h 260767"/>
                    <a:gd name="connsiteX6" fmla="*/ 72151 w 261335"/>
                    <a:gd name="connsiteY6" fmla="*/ 28217 h 260767"/>
                    <a:gd name="connsiteX7" fmla="*/ 63819 w 261335"/>
                    <a:gd name="connsiteY7" fmla="*/ 59274 h 260767"/>
                    <a:gd name="connsiteX8" fmla="*/ 63819 w 261335"/>
                    <a:gd name="connsiteY8" fmla="*/ 260768 h 260767"/>
                    <a:gd name="connsiteX9" fmla="*/ 27838 w 261335"/>
                    <a:gd name="connsiteY9" fmla="*/ 260768 h 260767"/>
                    <a:gd name="connsiteX10" fmla="*/ 27838 w 261335"/>
                    <a:gd name="connsiteY10" fmla="*/ 130100 h 260767"/>
                    <a:gd name="connsiteX11" fmla="*/ 0 w 261335"/>
                    <a:gd name="connsiteY11" fmla="*/ 130100 h 260767"/>
                    <a:gd name="connsiteX12" fmla="*/ 150742 w 261335"/>
                    <a:gd name="connsiteY12" fmla="*/ 17233 h 260767"/>
                    <a:gd name="connsiteX13" fmla="*/ 148848 w 261335"/>
                    <a:gd name="connsiteY13" fmla="*/ 8901 h 260767"/>
                    <a:gd name="connsiteX14" fmla="*/ 146386 w 261335"/>
                    <a:gd name="connsiteY14" fmla="*/ 0 h 260767"/>
                    <a:gd name="connsiteX15" fmla="*/ 188806 w 261335"/>
                    <a:gd name="connsiteY15" fmla="*/ 0 h 260767"/>
                    <a:gd name="connsiteX16" fmla="*/ 191267 w 261335"/>
                    <a:gd name="connsiteY16" fmla="*/ 7954 h 260767"/>
                    <a:gd name="connsiteX17" fmla="*/ 193919 w 261335"/>
                    <a:gd name="connsiteY17" fmla="*/ 17044 h 260767"/>
                    <a:gd name="connsiteX18" fmla="*/ 261336 w 261335"/>
                    <a:gd name="connsiteY18" fmla="*/ 17044 h 260767"/>
                    <a:gd name="connsiteX19" fmla="*/ 261336 w 261335"/>
                    <a:gd name="connsiteY19" fmla="*/ 47343 h 260767"/>
                    <a:gd name="connsiteX20" fmla="*/ 86165 w 261335"/>
                    <a:gd name="connsiteY20" fmla="*/ 47343 h 260767"/>
                    <a:gd name="connsiteX21" fmla="*/ 86165 w 261335"/>
                    <a:gd name="connsiteY21" fmla="*/ 17044 h 260767"/>
                    <a:gd name="connsiteX22" fmla="*/ 150742 w 261335"/>
                    <a:gd name="connsiteY22" fmla="*/ 17044 h 260767"/>
                    <a:gd name="connsiteX23" fmla="*/ 255086 w 261335"/>
                    <a:gd name="connsiteY23" fmla="*/ 64198 h 260767"/>
                    <a:gd name="connsiteX24" fmla="*/ 255086 w 261335"/>
                    <a:gd name="connsiteY24" fmla="*/ 93361 h 260767"/>
                    <a:gd name="connsiteX25" fmla="*/ 92225 w 261335"/>
                    <a:gd name="connsiteY25" fmla="*/ 93361 h 260767"/>
                    <a:gd name="connsiteX26" fmla="*/ 92225 w 261335"/>
                    <a:gd name="connsiteY26" fmla="*/ 64198 h 260767"/>
                    <a:gd name="connsiteX27" fmla="*/ 255086 w 261335"/>
                    <a:gd name="connsiteY27" fmla="*/ 64198 h 260767"/>
                    <a:gd name="connsiteX28" fmla="*/ 255086 w 261335"/>
                    <a:gd name="connsiteY28" fmla="*/ 110026 h 260767"/>
                    <a:gd name="connsiteX29" fmla="*/ 255086 w 261335"/>
                    <a:gd name="connsiteY29" fmla="*/ 139568 h 260767"/>
                    <a:gd name="connsiteX30" fmla="*/ 92225 w 261335"/>
                    <a:gd name="connsiteY30" fmla="*/ 139568 h 260767"/>
                    <a:gd name="connsiteX31" fmla="*/ 92225 w 261335"/>
                    <a:gd name="connsiteY31" fmla="*/ 110026 h 260767"/>
                    <a:gd name="connsiteX32" fmla="*/ 255086 w 261335"/>
                    <a:gd name="connsiteY32" fmla="*/ 110026 h 260767"/>
                    <a:gd name="connsiteX33" fmla="*/ 254708 w 261335"/>
                    <a:gd name="connsiteY33" fmla="*/ 156233 h 260767"/>
                    <a:gd name="connsiteX34" fmla="*/ 254708 w 261335"/>
                    <a:gd name="connsiteY34" fmla="*/ 260578 h 260767"/>
                    <a:gd name="connsiteX35" fmla="*/ 92604 w 261335"/>
                    <a:gd name="connsiteY35" fmla="*/ 260578 h 260767"/>
                    <a:gd name="connsiteX36" fmla="*/ 92604 w 261335"/>
                    <a:gd name="connsiteY36" fmla="*/ 156233 h 260767"/>
                    <a:gd name="connsiteX37" fmla="*/ 254708 w 261335"/>
                    <a:gd name="connsiteY37" fmla="*/ 156233 h 260767"/>
                    <a:gd name="connsiteX38" fmla="*/ 128585 w 261335"/>
                    <a:gd name="connsiteY38" fmla="*/ 230657 h 260767"/>
                    <a:gd name="connsiteX39" fmla="*/ 218916 w 261335"/>
                    <a:gd name="connsiteY39" fmla="*/ 230657 h 260767"/>
                    <a:gd name="connsiteX40" fmla="*/ 218916 w 261335"/>
                    <a:gd name="connsiteY40" fmla="*/ 186154 h 260767"/>
                    <a:gd name="connsiteX41" fmla="*/ 128585 w 261335"/>
                    <a:gd name="connsiteY41" fmla="*/ 186154 h 260767"/>
                    <a:gd name="connsiteX42" fmla="*/ 128585 w 261335"/>
                    <a:gd name="connsiteY42" fmla="*/ 230657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61335" h="260767">
                      <a:moveTo>
                        <a:pt x="0" y="130100"/>
                      </a:moveTo>
                      <a:cubicBezTo>
                        <a:pt x="3787" y="121578"/>
                        <a:pt x="7764" y="111541"/>
                        <a:pt x="11552" y="99989"/>
                      </a:cubicBezTo>
                      <a:cubicBezTo>
                        <a:pt x="15529" y="88438"/>
                        <a:pt x="19316" y="76696"/>
                        <a:pt x="22914" y="64766"/>
                      </a:cubicBezTo>
                      <a:cubicBezTo>
                        <a:pt x="26512" y="52646"/>
                        <a:pt x="29732" y="41094"/>
                        <a:pt x="32572" y="29732"/>
                      </a:cubicBezTo>
                      <a:cubicBezTo>
                        <a:pt x="35413" y="18369"/>
                        <a:pt x="37685" y="8901"/>
                        <a:pt x="39200" y="1136"/>
                      </a:cubicBezTo>
                      <a:lnTo>
                        <a:pt x="78401" y="1136"/>
                      </a:lnTo>
                      <a:cubicBezTo>
                        <a:pt x="76696" y="9090"/>
                        <a:pt x="74613" y="18180"/>
                        <a:pt x="72151" y="28217"/>
                      </a:cubicBezTo>
                      <a:cubicBezTo>
                        <a:pt x="69690" y="38253"/>
                        <a:pt x="66849" y="48669"/>
                        <a:pt x="63819" y="59274"/>
                      </a:cubicBezTo>
                      <a:lnTo>
                        <a:pt x="63819" y="260768"/>
                      </a:lnTo>
                      <a:lnTo>
                        <a:pt x="27838" y="260768"/>
                      </a:lnTo>
                      <a:lnTo>
                        <a:pt x="27838" y="130100"/>
                      </a:lnTo>
                      <a:lnTo>
                        <a:pt x="0" y="130100"/>
                      </a:lnTo>
                      <a:close/>
                      <a:moveTo>
                        <a:pt x="150742" y="17233"/>
                      </a:moveTo>
                      <a:cubicBezTo>
                        <a:pt x="150173" y="14392"/>
                        <a:pt x="149605" y="11552"/>
                        <a:pt x="148848" y="8901"/>
                      </a:cubicBezTo>
                      <a:cubicBezTo>
                        <a:pt x="148090" y="6249"/>
                        <a:pt x="147333" y="3219"/>
                        <a:pt x="146386" y="0"/>
                      </a:cubicBezTo>
                      <a:lnTo>
                        <a:pt x="188806" y="0"/>
                      </a:lnTo>
                      <a:cubicBezTo>
                        <a:pt x="189563" y="2462"/>
                        <a:pt x="190321" y="5113"/>
                        <a:pt x="191267" y="7954"/>
                      </a:cubicBezTo>
                      <a:cubicBezTo>
                        <a:pt x="192214" y="10794"/>
                        <a:pt x="192972" y="13824"/>
                        <a:pt x="193919" y="17044"/>
                      </a:cubicBezTo>
                      <a:lnTo>
                        <a:pt x="261336" y="17044"/>
                      </a:lnTo>
                      <a:lnTo>
                        <a:pt x="261336" y="47343"/>
                      </a:lnTo>
                      <a:lnTo>
                        <a:pt x="86165" y="47343"/>
                      </a:lnTo>
                      <a:lnTo>
                        <a:pt x="86165" y="17044"/>
                      </a:lnTo>
                      <a:lnTo>
                        <a:pt x="150742" y="17044"/>
                      </a:lnTo>
                      <a:close/>
                      <a:moveTo>
                        <a:pt x="255086" y="64198"/>
                      </a:moveTo>
                      <a:lnTo>
                        <a:pt x="255086" y="93361"/>
                      </a:lnTo>
                      <a:lnTo>
                        <a:pt x="92225" y="93361"/>
                      </a:lnTo>
                      <a:lnTo>
                        <a:pt x="92225" y="64198"/>
                      </a:lnTo>
                      <a:lnTo>
                        <a:pt x="255086" y="64198"/>
                      </a:lnTo>
                      <a:close/>
                      <a:moveTo>
                        <a:pt x="255086" y="110026"/>
                      </a:moveTo>
                      <a:lnTo>
                        <a:pt x="255086" y="139568"/>
                      </a:lnTo>
                      <a:lnTo>
                        <a:pt x="92225" y="139568"/>
                      </a:lnTo>
                      <a:lnTo>
                        <a:pt x="92225" y="110026"/>
                      </a:lnTo>
                      <a:lnTo>
                        <a:pt x="255086" y="110026"/>
                      </a:lnTo>
                      <a:close/>
                      <a:moveTo>
                        <a:pt x="254708" y="156233"/>
                      </a:moveTo>
                      <a:lnTo>
                        <a:pt x="254708" y="260578"/>
                      </a:lnTo>
                      <a:lnTo>
                        <a:pt x="92604" y="260578"/>
                      </a:lnTo>
                      <a:lnTo>
                        <a:pt x="92604" y="156233"/>
                      </a:lnTo>
                      <a:lnTo>
                        <a:pt x="254708" y="156233"/>
                      </a:lnTo>
                      <a:close/>
                      <a:moveTo>
                        <a:pt x="128585" y="230657"/>
                      </a:moveTo>
                      <a:lnTo>
                        <a:pt x="218916" y="230657"/>
                      </a:lnTo>
                      <a:lnTo>
                        <a:pt x="218916" y="186154"/>
                      </a:lnTo>
                      <a:lnTo>
                        <a:pt x="128585" y="186154"/>
                      </a:lnTo>
                      <a:lnTo>
                        <a:pt x="128585" y="230657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3" name="任意多边形: 形状 13"/>
                <p:cNvSpPr/>
                <p:nvPr/>
              </p:nvSpPr>
              <p:spPr>
                <a:xfrm>
                  <a:off x="6222990" y="3305663"/>
                  <a:ext cx="252813" cy="260767"/>
                </a:xfrm>
                <a:custGeom>
                  <a:avLst/>
                  <a:gdLst>
                    <a:gd name="connsiteX0" fmla="*/ 0 w 252813"/>
                    <a:gd name="connsiteY0" fmla="*/ 260768 h 260767"/>
                    <a:gd name="connsiteX1" fmla="*/ 5113 w 252813"/>
                    <a:gd name="connsiteY1" fmla="*/ 235960 h 260767"/>
                    <a:gd name="connsiteX2" fmla="*/ 9658 w 252813"/>
                    <a:gd name="connsiteY2" fmla="*/ 208690 h 260767"/>
                    <a:gd name="connsiteX3" fmla="*/ 13256 w 252813"/>
                    <a:gd name="connsiteY3" fmla="*/ 181988 h 260767"/>
                    <a:gd name="connsiteX4" fmla="*/ 15339 w 252813"/>
                    <a:gd name="connsiteY4" fmla="*/ 159642 h 260767"/>
                    <a:gd name="connsiteX5" fmla="*/ 53403 w 252813"/>
                    <a:gd name="connsiteY5" fmla="*/ 159642 h 260767"/>
                    <a:gd name="connsiteX6" fmla="*/ 50752 w 252813"/>
                    <a:gd name="connsiteY6" fmla="*/ 184261 h 260767"/>
                    <a:gd name="connsiteX7" fmla="*/ 46965 w 252813"/>
                    <a:gd name="connsiteY7" fmla="*/ 211909 h 260767"/>
                    <a:gd name="connsiteX8" fmla="*/ 42420 w 252813"/>
                    <a:gd name="connsiteY8" fmla="*/ 238800 h 260767"/>
                    <a:gd name="connsiteX9" fmla="*/ 37685 w 252813"/>
                    <a:gd name="connsiteY9" fmla="*/ 260768 h 260767"/>
                    <a:gd name="connsiteX10" fmla="*/ 0 w 252813"/>
                    <a:gd name="connsiteY10" fmla="*/ 260768 h 260767"/>
                    <a:gd name="connsiteX11" fmla="*/ 80484 w 252813"/>
                    <a:gd name="connsiteY11" fmla="*/ 12877 h 260767"/>
                    <a:gd name="connsiteX12" fmla="*/ 84271 w 252813"/>
                    <a:gd name="connsiteY12" fmla="*/ 0 h 260767"/>
                    <a:gd name="connsiteX13" fmla="*/ 134455 w 252813"/>
                    <a:gd name="connsiteY13" fmla="*/ 0 h 260767"/>
                    <a:gd name="connsiteX14" fmla="*/ 132940 w 252813"/>
                    <a:gd name="connsiteY14" fmla="*/ 6439 h 260767"/>
                    <a:gd name="connsiteX15" fmla="*/ 130857 w 252813"/>
                    <a:gd name="connsiteY15" fmla="*/ 12877 h 260767"/>
                    <a:gd name="connsiteX16" fmla="*/ 238043 w 252813"/>
                    <a:gd name="connsiteY16" fmla="*/ 12877 h 260767"/>
                    <a:gd name="connsiteX17" fmla="*/ 238043 w 252813"/>
                    <a:gd name="connsiteY17" fmla="*/ 150741 h 260767"/>
                    <a:gd name="connsiteX18" fmla="*/ 15718 w 252813"/>
                    <a:gd name="connsiteY18" fmla="*/ 150741 h 260767"/>
                    <a:gd name="connsiteX19" fmla="*/ 15718 w 252813"/>
                    <a:gd name="connsiteY19" fmla="*/ 12877 h 260767"/>
                    <a:gd name="connsiteX20" fmla="*/ 80484 w 252813"/>
                    <a:gd name="connsiteY20" fmla="*/ 12877 h 260767"/>
                    <a:gd name="connsiteX21" fmla="*/ 53214 w 252813"/>
                    <a:gd name="connsiteY21" fmla="*/ 53593 h 260767"/>
                    <a:gd name="connsiteX22" fmla="*/ 200547 w 252813"/>
                    <a:gd name="connsiteY22" fmla="*/ 53593 h 260767"/>
                    <a:gd name="connsiteX23" fmla="*/ 200547 w 252813"/>
                    <a:gd name="connsiteY23" fmla="*/ 38443 h 260767"/>
                    <a:gd name="connsiteX24" fmla="*/ 53214 w 252813"/>
                    <a:gd name="connsiteY24" fmla="*/ 38443 h 260767"/>
                    <a:gd name="connsiteX25" fmla="*/ 53214 w 252813"/>
                    <a:gd name="connsiteY25" fmla="*/ 53593 h 260767"/>
                    <a:gd name="connsiteX26" fmla="*/ 53214 w 252813"/>
                    <a:gd name="connsiteY26" fmla="*/ 89384 h 260767"/>
                    <a:gd name="connsiteX27" fmla="*/ 200547 w 252813"/>
                    <a:gd name="connsiteY27" fmla="*/ 89384 h 260767"/>
                    <a:gd name="connsiteX28" fmla="*/ 200547 w 252813"/>
                    <a:gd name="connsiteY28" fmla="*/ 74424 h 260767"/>
                    <a:gd name="connsiteX29" fmla="*/ 53214 w 252813"/>
                    <a:gd name="connsiteY29" fmla="*/ 74424 h 260767"/>
                    <a:gd name="connsiteX30" fmla="*/ 53214 w 252813"/>
                    <a:gd name="connsiteY30" fmla="*/ 89384 h 260767"/>
                    <a:gd name="connsiteX31" fmla="*/ 200547 w 252813"/>
                    <a:gd name="connsiteY31" fmla="*/ 125555 h 260767"/>
                    <a:gd name="connsiteX32" fmla="*/ 200547 w 252813"/>
                    <a:gd name="connsiteY32" fmla="*/ 110594 h 260767"/>
                    <a:gd name="connsiteX33" fmla="*/ 53214 w 252813"/>
                    <a:gd name="connsiteY33" fmla="*/ 110594 h 260767"/>
                    <a:gd name="connsiteX34" fmla="*/ 53214 w 252813"/>
                    <a:gd name="connsiteY34" fmla="*/ 125555 h 260767"/>
                    <a:gd name="connsiteX35" fmla="*/ 200547 w 252813"/>
                    <a:gd name="connsiteY35" fmla="*/ 125555 h 260767"/>
                    <a:gd name="connsiteX36" fmla="*/ 69879 w 252813"/>
                    <a:gd name="connsiteY36" fmla="*/ 260768 h 260767"/>
                    <a:gd name="connsiteX37" fmla="*/ 69879 w 252813"/>
                    <a:gd name="connsiteY37" fmla="*/ 159642 h 260767"/>
                    <a:gd name="connsiteX38" fmla="*/ 108511 w 252813"/>
                    <a:gd name="connsiteY38" fmla="*/ 159642 h 260767"/>
                    <a:gd name="connsiteX39" fmla="*/ 108511 w 252813"/>
                    <a:gd name="connsiteY39" fmla="*/ 227817 h 260767"/>
                    <a:gd name="connsiteX40" fmla="*/ 197706 w 252813"/>
                    <a:gd name="connsiteY40" fmla="*/ 227817 h 260767"/>
                    <a:gd name="connsiteX41" fmla="*/ 197706 w 252813"/>
                    <a:gd name="connsiteY41" fmla="*/ 260768 h 260767"/>
                    <a:gd name="connsiteX42" fmla="*/ 69879 w 252813"/>
                    <a:gd name="connsiteY42" fmla="*/ 260768 h 260767"/>
                    <a:gd name="connsiteX43" fmla="*/ 146575 w 252813"/>
                    <a:gd name="connsiteY43" fmla="*/ 213424 h 260767"/>
                    <a:gd name="connsiteX44" fmla="*/ 139190 w 252813"/>
                    <a:gd name="connsiteY44" fmla="*/ 187291 h 260767"/>
                    <a:gd name="connsiteX45" fmla="*/ 132940 w 252813"/>
                    <a:gd name="connsiteY45" fmla="*/ 159642 h 260767"/>
                    <a:gd name="connsiteX46" fmla="*/ 170436 w 252813"/>
                    <a:gd name="connsiteY46" fmla="*/ 159642 h 260767"/>
                    <a:gd name="connsiteX47" fmla="*/ 176496 w 252813"/>
                    <a:gd name="connsiteY47" fmla="*/ 186722 h 260767"/>
                    <a:gd name="connsiteX48" fmla="*/ 184261 w 252813"/>
                    <a:gd name="connsiteY48" fmla="*/ 213424 h 260767"/>
                    <a:gd name="connsiteX49" fmla="*/ 146575 w 252813"/>
                    <a:gd name="connsiteY49" fmla="*/ 213424 h 260767"/>
                    <a:gd name="connsiteX50" fmla="*/ 216454 w 252813"/>
                    <a:gd name="connsiteY50" fmla="*/ 260768 h 260767"/>
                    <a:gd name="connsiteX51" fmla="*/ 212667 w 252813"/>
                    <a:gd name="connsiteY51" fmla="*/ 238990 h 260767"/>
                    <a:gd name="connsiteX52" fmla="*/ 208311 w 252813"/>
                    <a:gd name="connsiteY52" fmla="*/ 212477 h 260767"/>
                    <a:gd name="connsiteX53" fmla="*/ 204334 w 252813"/>
                    <a:gd name="connsiteY53" fmla="*/ 184829 h 260767"/>
                    <a:gd name="connsiteX54" fmla="*/ 201304 w 252813"/>
                    <a:gd name="connsiteY54" fmla="*/ 159642 h 260767"/>
                    <a:gd name="connsiteX55" fmla="*/ 238043 w 252813"/>
                    <a:gd name="connsiteY55" fmla="*/ 159642 h 260767"/>
                    <a:gd name="connsiteX56" fmla="*/ 240694 w 252813"/>
                    <a:gd name="connsiteY56" fmla="*/ 182935 h 260767"/>
                    <a:gd name="connsiteX57" fmla="*/ 244292 w 252813"/>
                    <a:gd name="connsiteY57" fmla="*/ 209637 h 260767"/>
                    <a:gd name="connsiteX58" fmla="*/ 248458 w 252813"/>
                    <a:gd name="connsiteY58" fmla="*/ 236528 h 260767"/>
                    <a:gd name="connsiteX59" fmla="*/ 252814 w 252813"/>
                    <a:gd name="connsiteY59" fmla="*/ 260768 h 260767"/>
                    <a:gd name="connsiteX60" fmla="*/ 216454 w 252813"/>
                    <a:gd name="connsiteY60" fmla="*/ 260768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</a:cxnLst>
                  <a:rect l="l" t="t" r="r" b="b"/>
                  <a:pathLst>
                    <a:path w="252813" h="260767">
                      <a:moveTo>
                        <a:pt x="0" y="260768"/>
                      </a:moveTo>
                      <a:cubicBezTo>
                        <a:pt x="1704" y="253382"/>
                        <a:pt x="3409" y="245050"/>
                        <a:pt x="5113" y="235960"/>
                      </a:cubicBezTo>
                      <a:cubicBezTo>
                        <a:pt x="6817" y="226870"/>
                        <a:pt x="8332" y="217780"/>
                        <a:pt x="9658" y="208690"/>
                      </a:cubicBezTo>
                      <a:cubicBezTo>
                        <a:pt x="10984" y="199600"/>
                        <a:pt x="12120" y="190699"/>
                        <a:pt x="13256" y="181988"/>
                      </a:cubicBezTo>
                      <a:cubicBezTo>
                        <a:pt x="14392" y="173466"/>
                        <a:pt x="14961" y="165891"/>
                        <a:pt x="15339" y="159642"/>
                      </a:cubicBezTo>
                      <a:lnTo>
                        <a:pt x="53403" y="159642"/>
                      </a:lnTo>
                      <a:cubicBezTo>
                        <a:pt x="52835" y="166838"/>
                        <a:pt x="51888" y="175171"/>
                        <a:pt x="50752" y="184261"/>
                      </a:cubicBezTo>
                      <a:cubicBezTo>
                        <a:pt x="49616" y="193351"/>
                        <a:pt x="48290" y="202630"/>
                        <a:pt x="46965" y="211909"/>
                      </a:cubicBezTo>
                      <a:cubicBezTo>
                        <a:pt x="45450" y="221188"/>
                        <a:pt x="43935" y="230089"/>
                        <a:pt x="42420" y="238800"/>
                      </a:cubicBezTo>
                      <a:cubicBezTo>
                        <a:pt x="40715" y="247511"/>
                        <a:pt x="39200" y="254708"/>
                        <a:pt x="37685" y="260768"/>
                      </a:cubicBezTo>
                      <a:lnTo>
                        <a:pt x="0" y="260768"/>
                      </a:lnTo>
                      <a:close/>
                      <a:moveTo>
                        <a:pt x="80484" y="12877"/>
                      </a:moveTo>
                      <a:cubicBezTo>
                        <a:pt x="82188" y="8901"/>
                        <a:pt x="83514" y="4545"/>
                        <a:pt x="84271" y="0"/>
                      </a:cubicBezTo>
                      <a:lnTo>
                        <a:pt x="134455" y="0"/>
                      </a:lnTo>
                      <a:cubicBezTo>
                        <a:pt x="134077" y="2083"/>
                        <a:pt x="133508" y="4166"/>
                        <a:pt x="132940" y="6439"/>
                      </a:cubicBezTo>
                      <a:cubicBezTo>
                        <a:pt x="132372" y="8711"/>
                        <a:pt x="131615" y="10794"/>
                        <a:pt x="130857" y="12877"/>
                      </a:cubicBezTo>
                      <a:lnTo>
                        <a:pt x="238043" y="12877"/>
                      </a:lnTo>
                      <a:lnTo>
                        <a:pt x="238043" y="150741"/>
                      </a:lnTo>
                      <a:lnTo>
                        <a:pt x="15718" y="150741"/>
                      </a:lnTo>
                      <a:lnTo>
                        <a:pt x="15718" y="12877"/>
                      </a:lnTo>
                      <a:lnTo>
                        <a:pt x="80484" y="12877"/>
                      </a:lnTo>
                      <a:close/>
                      <a:moveTo>
                        <a:pt x="53214" y="53593"/>
                      </a:moveTo>
                      <a:lnTo>
                        <a:pt x="200547" y="53593"/>
                      </a:lnTo>
                      <a:lnTo>
                        <a:pt x="200547" y="38443"/>
                      </a:lnTo>
                      <a:lnTo>
                        <a:pt x="53214" y="38443"/>
                      </a:lnTo>
                      <a:lnTo>
                        <a:pt x="53214" y="53593"/>
                      </a:lnTo>
                      <a:close/>
                      <a:moveTo>
                        <a:pt x="53214" y="89384"/>
                      </a:moveTo>
                      <a:lnTo>
                        <a:pt x="200547" y="89384"/>
                      </a:lnTo>
                      <a:lnTo>
                        <a:pt x="200547" y="74424"/>
                      </a:lnTo>
                      <a:lnTo>
                        <a:pt x="53214" y="74424"/>
                      </a:lnTo>
                      <a:lnTo>
                        <a:pt x="53214" y="89384"/>
                      </a:lnTo>
                      <a:close/>
                      <a:moveTo>
                        <a:pt x="200547" y="125555"/>
                      </a:moveTo>
                      <a:lnTo>
                        <a:pt x="200547" y="110594"/>
                      </a:lnTo>
                      <a:lnTo>
                        <a:pt x="53214" y="110594"/>
                      </a:lnTo>
                      <a:lnTo>
                        <a:pt x="53214" y="125555"/>
                      </a:lnTo>
                      <a:lnTo>
                        <a:pt x="200547" y="125555"/>
                      </a:lnTo>
                      <a:close/>
                      <a:moveTo>
                        <a:pt x="69879" y="260768"/>
                      </a:moveTo>
                      <a:lnTo>
                        <a:pt x="69879" y="159642"/>
                      </a:lnTo>
                      <a:lnTo>
                        <a:pt x="108511" y="159642"/>
                      </a:lnTo>
                      <a:lnTo>
                        <a:pt x="108511" y="227817"/>
                      </a:lnTo>
                      <a:lnTo>
                        <a:pt x="197706" y="227817"/>
                      </a:lnTo>
                      <a:lnTo>
                        <a:pt x="197706" y="260768"/>
                      </a:lnTo>
                      <a:lnTo>
                        <a:pt x="69879" y="260768"/>
                      </a:lnTo>
                      <a:close/>
                      <a:moveTo>
                        <a:pt x="146575" y="213424"/>
                      </a:moveTo>
                      <a:cubicBezTo>
                        <a:pt x="143924" y="205092"/>
                        <a:pt x="141462" y="196191"/>
                        <a:pt x="139190" y="187291"/>
                      </a:cubicBezTo>
                      <a:cubicBezTo>
                        <a:pt x="136917" y="178201"/>
                        <a:pt x="134834" y="168921"/>
                        <a:pt x="132940" y="159642"/>
                      </a:cubicBezTo>
                      <a:lnTo>
                        <a:pt x="170436" y="159642"/>
                      </a:lnTo>
                      <a:cubicBezTo>
                        <a:pt x="171951" y="168353"/>
                        <a:pt x="174034" y="177443"/>
                        <a:pt x="176496" y="186722"/>
                      </a:cubicBezTo>
                      <a:cubicBezTo>
                        <a:pt x="178958" y="196002"/>
                        <a:pt x="181609" y="204902"/>
                        <a:pt x="184261" y="213424"/>
                      </a:cubicBezTo>
                      <a:lnTo>
                        <a:pt x="146575" y="213424"/>
                      </a:lnTo>
                      <a:close/>
                      <a:moveTo>
                        <a:pt x="216454" y="260768"/>
                      </a:moveTo>
                      <a:cubicBezTo>
                        <a:pt x="215318" y="254708"/>
                        <a:pt x="213992" y="247322"/>
                        <a:pt x="212667" y="238990"/>
                      </a:cubicBezTo>
                      <a:cubicBezTo>
                        <a:pt x="211152" y="230657"/>
                        <a:pt x="209826" y="221757"/>
                        <a:pt x="208311" y="212477"/>
                      </a:cubicBezTo>
                      <a:cubicBezTo>
                        <a:pt x="206796" y="203198"/>
                        <a:pt x="205471" y="193919"/>
                        <a:pt x="204334" y="184829"/>
                      </a:cubicBezTo>
                      <a:cubicBezTo>
                        <a:pt x="203009" y="175739"/>
                        <a:pt x="202062" y="167217"/>
                        <a:pt x="201304" y="159642"/>
                      </a:cubicBezTo>
                      <a:lnTo>
                        <a:pt x="238043" y="159642"/>
                      </a:lnTo>
                      <a:cubicBezTo>
                        <a:pt x="238800" y="166459"/>
                        <a:pt x="239747" y="174224"/>
                        <a:pt x="240694" y="182935"/>
                      </a:cubicBezTo>
                      <a:cubicBezTo>
                        <a:pt x="241830" y="191646"/>
                        <a:pt x="242966" y="200547"/>
                        <a:pt x="244292" y="209637"/>
                      </a:cubicBezTo>
                      <a:cubicBezTo>
                        <a:pt x="245618" y="218727"/>
                        <a:pt x="246943" y="227627"/>
                        <a:pt x="248458" y="236528"/>
                      </a:cubicBezTo>
                      <a:cubicBezTo>
                        <a:pt x="249973" y="245428"/>
                        <a:pt x="251299" y="253382"/>
                        <a:pt x="252814" y="260768"/>
                      </a:cubicBezTo>
                      <a:lnTo>
                        <a:pt x="216454" y="260768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4" name="任意多边形: 形状 14"/>
                <p:cNvSpPr/>
                <p:nvPr/>
              </p:nvSpPr>
              <p:spPr>
                <a:xfrm>
                  <a:off x="6505535" y="3305663"/>
                  <a:ext cx="253192" cy="260767"/>
                </a:xfrm>
                <a:custGeom>
                  <a:avLst/>
                  <a:gdLst>
                    <a:gd name="connsiteX0" fmla="*/ 186154 w 253192"/>
                    <a:gd name="connsiteY0" fmla="*/ 170815 h 260767"/>
                    <a:gd name="connsiteX1" fmla="*/ 186154 w 253192"/>
                    <a:gd name="connsiteY1" fmla="*/ 205849 h 260767"/>
                    <a:gd name="connsiteX2" fmla="*/ 0 w 253192"/>
                    <a:gd name="connsiteY2" fmla="*/ 205849 h 260767"/>
                    <a:gd name="connsiteX3" fmla="*/ 0 w 253192"/>
                    <a:gd name="connsiteY3" fmla="*/ 170815 h 260767"/>
                    <a:gd name="connsiteX4" fmla="*/ 186154 w 253192"/>
                    <a:gd name="connsiteY4" fmla="*/ 170815 h 260767"/>
                    <a:gd name="connsiteX5" fmla="*/ 188427 w 253192"/>
                    <a:gd name="connsiteY5" fmla="*/ 260768 h 260767"/>
                    <a:gd name="connsiteX6" fmla="*/ 203387 w 253192"/>
                    <a:gd name="connsiteY6" fmla="*/ 133508 h 260767"/>
                    <a:gd name="connsiteX7" fmla="*/ 20831 w 253192"/>
                    <a:gd name="connsiteY7" fmla="*/ 133508 h 260767"/>
                    <a:gd name="connsiteX8" fmla="*/ 39200 w 253192"/>
                    <a:gd name="connsiteY8" fmla="*/ 0 h 260767"/>
                    <a:gd name="connsiteX9" fmla="*/ 79916 w 253192"/>
                    <a:gd name="connsiteY9" fmla="*/ 0 h 260767"/>
                    <a:gd name="connsiteX10" fmla="*/ 76507 w 253192"/>
                    <a:gd name="connsiteY10" fmla="*/ 25755 h 260767"/>
                    <a:gd name="connsiteX11" fmla="*/ 253193 w 253192"/>
                    <a:gd name="connsiteY11" fmla="*/ 25755 h 260767"/>
                    <a:gd name="connsiteX12" fmla="*/ 253193 w 253192"/>
                    <a:gd name="connsiteY12" fmla="*/ 60410 h 260767"/>
                    <a:gd name="connsiteX13" fmla="*/ 71773 w 253192"/>
                    <a:gd name="connsiteY13" fmla="*/ 60410 h 260767"/>
                    <a:gd name="connsiteX14" fmla="*/ 66849 w 253192"/>
                    <a:gd name="connsiteY14" fmla="*/ 98285 h 260767"/>
                    <a:gd name="connsiteX15" fmla="*/ 248080 w 253192"/>
                    <a:gd name="connsiteY15" fmla="*/ 98285 h 260767"/>
                    <a:gd name="connsiteX16" fmla="*/ 228574 w 253192"/>
                    <a:gd name="connsiteY16" fmla="*/ 260768 h 260767"/>
                    <a:gd name="connsiteX17" fmla="*/ 188427 w 253192"/>
                    <a:gd name="connsiteY17" fmla="*/ 260768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53192" h="260767">
                      <a:moveTo>
                        <a:pt x="186154" y="170815"/>
                      </a:moveTo>
                      <a:lnTo>
                        <a:pt x="186154" y="205849"/>
                      </a:lnTo>
                      <a:lnTo>
                        <a:pt x="0" y="205849"/>
                      </a:lnTo>
                      <a:lnTo>
                        <a:pt x="0" y="170815"/>
                      </a:lnTo>
                      <a:lnTo>
                        <a:pt x="186154" y="170815"/>
                      </a:lnTo>
                      <a:close/>
                      <a:moveTo>
                        <a:pt x="188427" y="260768"/>
                      </a:moveTo>
                      <a:lnTo>
                        <a:pt x="203387" y="133508"/>
                      </a:lnTo>
                      <a:lnTo>
                        <a:pt x="20831" y="133508"/>
                      </a:lnTo>
                      <a:lnTo>
                        <a:pt x="39200" y="0"/>
                      </a:lnTo>
                      <a:lnTo>
                        <a:pt x="79916" y="0"/>
                      </a:lnTo>
                      <a:lnTo>
                        <a:pt x="76507" y="25755"/>
                      </a:lnTo>
                      <a:lnTo>
                        <a:pt x="253193" y="25755"/>
                      </a:lnTo>
                      <a:lnTo>
                        <a:pt x="253193" y="60410"/>
                      </a:lnTo>
                      <a:lnTo>
                        <a:pt x="71773" y="60410"/>
                      </a:lnTo>
                      <a:lnTo>
                        <a:pt x="66849" y="98285"/>
                      </a:lnTo>
                      <a:lnTo>
                        <a:pt x="248080" y="98285"/>
                      </a:lnTo>
                      <a:lnTo>
                        <a:pt x="228574" y="260768"/>
                      </a:lnTo>
                      <a:lnTo>
                        <a:pt x="188427" y="260768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" name="任意多边形: 形状 15"/>
                <p:cNvSpPr/>
                <p:nvPr/>
              </p:nvSpPr>
              <p:spPr>
                <a:xfrm>
                  <a:off x="6792436" y="3305663"/>
                  <a:ext cx="259442" cy="260956"/>
                </a:xfrm>
                <a:custGeom>
                  <a:avLst/>
                  <a:gdLst>
                    <a:gd name="connsiteX0" fmla="*/ 62493 w 259442"/>
                    <a:gd name="connsiteY0" fmla="*/ 179905 h 260956"/>
                    <a:gd name="connsiteX1" fmla="*/ 62493 w 259442"/>
                    <a:gd name="connsiteY1" fmla="*/ 145060 h 260956"/>
                    <a:gd name="connsiteX2" fmla="*/ 1515 w 259442"/>
                    <a:gd name="connsiteY2" fmla="*/ 145060 h 260956"/>
                    <a:gd name="connsiteX3" fmla="*/ 13067 w 259442"/>
                    <a:gd name="connsiteY3" fmla="*/ 100179 h 260956"/>
                    <a:gd name="connsiteX4" fmla="*/ 21778 w 259442"/>
                    <a:gd name="connsiteY4" fmla="*/ 55865 h 260956"/>
                    <a:gd name="connsiteX5" fmla="*/ 2273 w 259442"/>
                    <a:gd name="connsiteY5" fmla="*/ 55865 h 260956"/>
                    <a:gd name="connsiteX6" fmla="*/ 2273 w 259442"/>
                    <a:gd name="connsiteY6" fmla="*/ 27459 h 260956"/>
                    <a:gd name="connsiteX7" fmla="*/ 26134 w 259442"/>
                    <a:gd name="connsiteY7" fmla="*/ 27459 h 260956"/>
                    <a:gd name="connsiteX8" fmla="*/ 28974 w 259442"/>
                    <a:gd name="connsiteY8" fmla="*/ 0 h 260956"/>
                    <a:gd name="connsiteX9" fmla="*/ 64576 w 259442"/>
                    <a:gd name="connsiteY9" fmla="*/ 0 h 260956"/>
                    <a:gd name="connsiteX10" fmla="*/ 62872 w 259442"/>
                    <a:gd name="connsiteY10" fmla="*/ 13635 h 260956"/>
                    <a:gd name="connsiteX11" fmla="*/ 60789 w 259442"/>
                    <a:gd name="connsiteY11" fmla="*/ 27459 h 260956"/>
                    <a:gd name="connsiteX12" fmla="*/ 121767 w 259442"/>
                    <a:gd name="connsiteY12" fmla="*/ 27459 h 260956"/>
                    <a:gd name="connsiteX13" fmla="*/ 121767 w 259442"/>
                    <a:gd name="connsiteY13" fmla="*/ 55865 h 260956"/>
                    <a:gd name="connsiteX14" fmla="*/ 56244 w 259442"/>
                    <a:gd name="connsiteY14" fmla="*/ 55865 h 260956"/>
                    <a:gd name="connsiteX15" fmla="*/ 49995 w 259442"/>
                    <a:gd name="connsiteY15" fmla="*/ 87680 h 260956"/>
                    <a:gd name="connsiteX16" fmla="*/ 43177 w 259442"/>
                    <a:gd name="connsiteY16" fmla="*/ 116654 h 260956"/>
                    <a:gd name="connsiteX17" fmla="*/ 64576 w 259442"/>
                    <a:gd name="connsiteY17" fmla="*/ 116654 h 260956"/>
                    <a:gd name="connsiteX18" fmla="*/ 64576 w 259442"/>
                    <a:gd name="connsiteY18" fmla="*/ 69121 h 260956"/>
                    <a:gd name="connsiteX19" fmla="*/ 99043 w 259442"/>
                    <a:gd name="connsiteY19" fmla="*/ 69121 h 260956"/>
                    <a:gd name="connsiteX20" fmla="*/ 99043 w 259442"/>
                    <a:gd name="connsiteY20" fmla="*/ 116654 h 260956"/>
                    <a:gd name="connsiteX21" fmla="*/ 124419 w 259442"/>
                    <a:gd name="connsiteY21" fmla="*/ 116654 h 260956"/>
                    <a:gd name="connsiteX22" fmla="*/ 124419 w 259442"/>
                    <a:gd name="connsiteY22" fmla="*/ 145060 h 260956"/>
                    <a:gd name="connsiteX23" fmla="*/ 99232 w 259442"/>
                    <a:gd name="connsiteY23" fmla="*/ 145060 h 260956"/>
                    <a:gd name="connsiteX24" fmla="*/ 99232 w 259442"/>
                    <a:gd name="connsiteY24" fmla="*/ 176496 h 260956"/>
                    <a:gd name="connsiteX25" fmla="*/ 125365 w 259442"/>
                    <a:gd name="connsiteY25" fmla="*/ 173845 h 260956"/>
                    <a:gd name="connsiteX26" fmla="*/ 125365 w 259442"/>
                    <a:gd name="connsiteY26" fmla="*/ 203955 h 260956"/>
                    <a:gd name="connsiteX27" fmla="*/ 99232 w 259442"/>
                    <a:gd name="connsiteY27" fmla="*/ 206607 h 260956"/>
                    <a:gd name="connsiteX28" fmla="*/ 99232 w 259442"/>
                    <a:gd name="connsiteY28" fmla="*/ 260768 h 260956"/>
                    <a:gd name="connsiteX29" fmla="*/ 62493 w 259442"/>
                    <a:gd name="connsiteY29" fmla="*/ 260768 h 260956"/>
                    <a:gd name="connsiteX30" fmla="*/ 62493 w 259442"/>
                    <a:gd name="connsiteY30" fmla="*/ 210015 h 260956"/>
                    <a:gd name="connsiteX31" fmla="*/ 0 w 259442"/>
                    <a:gd name="connsiteY31" fmla="*/ 215697 h 260956"/>
                    <a:gd name="connsiteX32" fmla="*/ 0 w 259442"/>
                    <a:gd name="connsiteY32" fmla="*/ 185586 h 260956"/>
                    <a:gd name="connsiteX33" fmla="*/ 62493 w 259442"/>
                    <a:gd name="connsiteY33" fmla="*/ 179905 h 260956"/>
                    <a:gd name="connsiteX34" fmla="*/ 220999 w 259442"/>
                    <a:gd name="connsiteY34" fmla="*/ 260768 h 260956"/>
                    <a:gd name="connsiteX35" fmla="*/ 204145 w 259442"/>
                    <a:gd name="connsiteY35" fmla="*/ 205470 h 260956"/>
                    <a:gd name="connsiteX36" fmla="*/ 190699 w 259442"/>
                    <a:gd name="connsiteY36" fmla="*/ 146386 h 260956"/>
                    <a:gd name="connsiteX37" fmla="*/ 175739 w 259442"/>
                    <a:gd name="connsiteY37" fmla="*/ 208311 h 260956"/>
                    <a:gd name="connsiteX38" fmla="*/ 158317 w 259442"/>
                    <a:gd name="connsiteY38" fmla="*/ 260768 h 260956"/>
                    <a:gd name="connsiteX39" fmla="*/ 118548 w 259442"/>
                    <a:gd name="connsiteY39" fmla="*/ 260768 h 260956"/>
                    <a:gd name="connsiteX40" fmla="*/ 132751 w 259442"/>
                    <a:gd name="connsiteY40" fmla="*/ 222893 h 260956"/>
                    <a:gd name="connsiteX41" fmla="*/ 146007 w 259442"/>
                    <a:gd name="connsiteY41" fmla="*/ 178579 h 260956"/>
                    <a:gd name="connsiteX42" fmla="*/ 157370 w 259442"/>
                    <a:gd name="connsiteY42" fmla="*/ 132372 h 260956"/>
                    <a:gd name="connsiteX43" fmla="*/ 165513 w 259442"/>
                    <a:gd name="connsiteY43" fmla="*/ 88438 h 260956"/>
                    <a:gd name="connsiteX44" fmla="*/ 200547 w 259442"/>
                    <a:gd name="connsiteY44" fmla="*/ 88438 h 260956"/>
                    <a:gd name="connsiteX45" fmla="*/ 199032 w 259442"/>
                    <a:gd name="connsiteY45" fmla="*/ 98664 h 260956"/>
                    <a:gd name="connsiteX46" fmla="*/ 197327 w 259442"/>
                    <a:gd name="connsiteY46" fmla="*/ 108890 h 260956"/>
                    <a:gd name="connsiteX47" fmla="*/ 217969 w 259442"/>
                    <a:gd name="connsiteY47" fmla="*/ 108890 h 260956"/>
                    <a:gd name="connsiteX48" fmla="*/ 235392 w 259442"/>
                    <a:gd name="connsiteY48" fmla="*/ 185018 h 260956"/>
                    <a:gd name="connsiteX49" fmla="*/ 259442 w 259442"/>
                    <a:gd name="connsiteY49" fmla="*/ 260957 h 260956"/>
                    <a:gd name="connsiteX50" fmla="*/ 220999 w 259442"/>
                    <a:gd name="connsiteY50" fmla="*/ 260957 h 260956"/>
                    <a:gd name="connsiteX51" fmla="*/ 118927 w 259442"/>
                    <a:gd name="connsiteY51" fmla="*/ 94497 h 260956"/>
                    <a:gd name="connsiteX52" fmla="*/ 129910 w 259442"/>
                    <a:gd name="connsiteY52" fmla="*/ 46397 h 260956"/>
                    <a:gd name="connsiteX53" fmla="*/ 136349 w 259442"/>
                    <a:gd name="connsiteY53" fmla="*/ 0 h 260956"/>
                    <a:gd name="connsiteX54" fmla="*/ 172520 w 259442"/>
                    <a:gd name="connsiteY54" fmla="*/ 0 h 260956"/>
                    <a:gd name="connsiteX55" fmla="*/ 171383 w 259442"/>
                    <a:gd name="connsiteY55" fmla="*/ 10226 h 260956"/>
                    <a:gd name="connsiteX56" fmla="*/ 170247 w 259442"/>
                    <a:gd name="connsiteY56" fmla="*/ 20831 h 260956"/>
                    <a:gd name="connsiteX57" fmla="*/ 258495 w 259442"/>
                    <a:gd name="connsiteY57" fmla="*/ 20831 h 260956"/>
                    <a:gd name="connsiteX58" fmla="*/ 255844 w 259442"/>
                    <a:gd name="connsiteY58" fmla="*/ 40337 h 260956"/>
                    <a:gd name="connsiteX59" fmla="*/ 252625 w 259442"/>
                    <a:gd name="connsiteY59" fmla="*/ 60221 h 260956"/>
                    <a:gd name="connsiteX60" fmla="*/ 249026 w 259442"/>
                    <a:gd name="connsiteY60" fmla="*/ 79348 h 260956"/>
                    <a:gd name="connsiteX61" fmla="*/ 245239 w 259442"/>
                    <a:gd name="connsiteY61" fmla="*/ 96391 h 260956"/>
                    <a:gd name="connsiteX62" fmla="*/ 208311 w 259442"/>
                    <a:gd name="connsiteY62" fmla="*/ 96391 h 260956"/>
                    <a:gd name="connsiteX63" fmla="*/ 215318 w 259442"/>
                    <a:gd name="connsiteY63" fmla="*/ 73288 h 260956"/>
                    <a:gd name="connsiteX64" fmla="*/ 219674 w 259442"/>
                    <a:gd name="connsiteY64" fmla="*/ 51699 h 260956"/>
                    <a:gd name="connsiteX65" fmla="*/ 165513 w 259442"/>
                    <a:gd name="connsiteY65" fmla="*/ 51699 h 260956"/>
                    <a:gd name="connsiteX66" fmla="*/ 161157 w 259442"/>
                    <a:gd name="connsiteY66" fmla="*/ 74234 h 260956"/>
                    <a:gd name="connsiteX67" fmla="*/ 156612 w 259442"/>
                    <a:gd name="connsiteY67" fmla="*/ 94497 h 260956"/>
                    <a:gd name="connsiteX68" fmla="*/ 118927 w 259442"/>
                    <a:gd name="connsiteY68" fmla="*/ 94497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</a:cxnLst>
                  <a:rect l="l" t="t" r="r" b="b"/>
                  <a:pathLst>
                    <a:path w="259442" h="260956">
                      <a:moveTo>
                        <a:pt x="62493" y="179905"/>
                      </a:moveTo>
                      <a:lnTo>
                        <a:pt x="62493" y="145060"/>
                      </a:lnTo>
                      <a:lnTo>
                        <a:pt x="1515" y="145060"/>
                      </a:lnTo>
                      <a:cubicBezTo>
                        <a:pt x="5871" y="130289"/>
                        <a:pt x="9847" y="115329"/>
                        <a:pt x="13067" y="100179"/>
                      </a:cubicBezTo>
                      <a:cubicBezTo>
                        <a:pt x="16476" y="85029"/>
                        <a:pt x="19316" y="70258"/>
                        <a:pt x="21778" y="55865"/>
                      </a:cubicBezTo>
                      <a:lnTo>
                        <a:pt x="2273" y="55865"/>
                      </a:lnTo>
                      <a:lnTo>
                        <a:pt x="2273" y="27459"/>
                      </a:lnTo>
                      <a:lnTo>
                        <a:pt x="26134" y="27459"/>
                      </a:lnTo>
                      <a:lnTo>
                        <a:pt x="28974" y="0"/>
                      </a:lnTo>
                      <a:lnTo>
                        <a:pt x="64576" y="0"/>
                      </a:lnTo>
                      <a:cubicBezTo>
                        <a:pt x="64008" y="4356"/>
                        <a:pt x="63440" y="8901"/>
                        <a:pt x="62872" y="13635"/>
                      </a:cubicBezTo>
                      <a:cubicBezTo>
                        <a:pt x="62304" y="18369"/>
                        <a:pt x="61546" y="22914"/>
                        <a:pt x="60789" y="27459"/>
                      </a:cubicBezTo>
                      <a:lnTo>
                        <a:pt x="121767" y="27459"/>
                      </a:lnTo>
                      <a:lnTo>
                        <a:pt x="121767" y="55865"/>
                      </a:lnTo>
                      <a:lnTo>
                        <a:pt x="56244" y="55865"/>
                      </a:lnTo>
                      <a:cubicBezTo>
                        <a:pt x="54350" y="66660"/>
                        <a:pt x="52267" y="77264"/>
                        <a:pt x="49995" y="87680"/>
                      </a:cubicBezTo>
                      <a:cubicBezTo>
                        <a:pt x="47722" y="97906"/>
                        <a:pt x="45639" y="107564"/>
                        <a:pt x="43177" y="116654"/>
                      </a:cubicBezTo>
                      <a:lnTo>
                        <a:pt x="64576" y="116654"/>
                      </a:lnTo>
                      <a:lnTo>
                        <a:pt x="64576" y="69121"/>
                      </a:lnTo>
                      <a:lnTo>
                        <a:pt x="99043" y="69121"/>
                      </a:lnTo>
                      <a:lnTo>
                        <a:pt x="99043" y="116654"/>
                      </a:lnTo>
                      <a:lnTo>
                        <a:pt x="124419" y="116654"/>
                      </a:lnTo>
                      <a:lnTo>
                        <a:pt x="124419" y="145060"/>
                      </a:lnTo>
                      <a:lnTo>
                        <a:pt x="99232" y="145060"/>
                      </a:lnTo>
                      <a:lnTo>
                        <a:pt x="99232" y="176496"/>
                      </a:lnTo>
                      <a:lnTo>
                        <a:pt x="125365" y="173845"/>
                      </a:lnTo>
                      <a:lnTo>
                        <a:pt x="125365" y="203955"/>
                      </a:lnTo>
                      <a:lnTo>
                        <a:pt x="99232" y="206607"/>
                      </a:lnTo>
                      <a:lnTo>
                        <a:pt x="99232" y="260768"/>
                      </a:lnTo>
                      <a:lnTo>
                        <a:pt x="62493" y="260768"/>
                      </a:lnTo>
                      <a:lnTo>
                        <a:pt x="62493" y="210015"/>
                      </a:lnTo>
                      <a:lnTo>
                        <a:pt x="0" y="215697"/>
                      </a:lnTo>
                      <a:lnTo>
                        <a:pt x="0" y="185586"/>
                      </a:lnTo>
                      <a:lnTo>
                        <a:pt x="62493" y="179905"/>
                      </a:lnTo>
                      <a:close/>
                      <a:moveTo>
                        <a:pt x="220999" y="260768"/>
                      </a:moveTo>
                      <a:cubicBezTo>
                        <a:pt x="214939" y="242777"/>
                        <a:pt x="209258" y="224408"/>
                        <a:pt x="204145" y="205470"/>
                      </a:cubicBezTo>
                      <a:cubicBezTo>
                        <a:pt x="199032" y="186533"/>
                        <a:pt x="194487" y="166838"/>
                        <a:pt x="190699" y="146386"/>
                      </a:cubicBezTo>
                      <a:cubicBezTo>
                        <a:pt x="186344" y="167974"/>
                        <a:pt x="181420" y="188616"/>
                        <a:pt x="175739" y="208311"/>
                      </a:cubicBezTo>
                      <a:cubicBezTo>
                        <a:pt x="170247" y="228006"/>
                        <a:pt x="164376" y="245428"/>
                        <a:pt x="158317" y="260768"/>
                      </a:cubicBezTo>
                      <a:lnTo>
                        <a:pt x="118548" y="260768"/>
                      </a:lnTo>
                      <a:cubicBezTo>
                        <a:pt x="123282" y="249595"/>
                        <a:pt x="128017" y="237096"/>
                        <a:pt x="132751" y="222893"/>
                      </a:cubicBezTo>
                      <a:cubicBezTo>
                        <a:pt x="137485" y="208690"/>
                        <a:pt x="141841" y="193919"/>
                        <a:pt x="146007" y="178579"/>
                      </a:cubicBezTo>
                      <a:cubicBezTo>
                        <a:pt x="150173" y="163240"/>
                        <a:pt x="153961" y="147901"/>
                        <a:pt x="157370" y="132372"/>
                      </a:cubicBezTo>
                      <a:cubicBezTo>
                        <a:pt x="160778" y="116844"/>
                        <a:pt x="163430" y="102072"/>
                        <a:pt x="165513" y="88438"/>
                      </a:cubicBezTo>
                      <a:lnTo>
                        <a:pt x="200547" y="88438"/>
                      </a:lnTo>
                      <a:cubicBezTo>
                        <a:pt x="200168" y="91846"/>
                        <a:pt x="199600" y="95255"/>
                        <a:pt x="199032" y="98664"/>
                      </a:cubicBezTo>
                      <a:cubicBezTo>
                        <a:pt x="198464" y="102072"/>
                        <a:pt x="197896" y="105481"/>
                        <a:pt x="197327" y="108890"/>
                      </a:cubicBezTo>
                      <a:lnTo>
                        <a:pt x="217969" y="108890"/>
                      </a:lnTo>
                      <a:cubicBezTo>
                        <a:pt x="222325" y="133508"/>
                        <a:pt x="228195" y="158885"/>
                        <a:pt x="235392" y="185018"/>
                      </a:cubicBezTo>
                      <a:cubicBezTo>
                        <a:pt x="242588" y="211152"/>
                        <a:pt x="250731" y="236528"/>
                        <a:pt x="259442" y="260957"/>
                      </a:cubicBezTo>
                      <a:lnTo>
                        <a:pt x="220999" y="260957"/>
                      </a:lnTo>
                      <a:close/>
                      <a:moveTo>
                        <a:pt x="118927" y="94497"/>
                      </a:moveTo>
                      <a:cubicBezTo>
                        <a:pt x="123282" y="78969"/>
                        <a:pt x="127070" y="63061"/>
                        <a:pt x="129910" y="46397"/>
                      </a:cubicBezTo>
                      <a:cubicBezTo>
                        <a:pt x="132940" y="29732"/>
                        <a:pt x="135023" y="14392"/>
                        <a:pt x="136349" y="0"/>
                      </a:cubicBezTo>
                      <a:lnTo>
                        <a:pt x="172520" y="0"/>
                      </a:lnTo>
                      <a:cubicBezTo>
                        <a:pt x="172141" y="3409"/>
                        <a:pt x="171762" y="6817"/>
                        <a:pt x="171383" y="10226"/>
                      </a:cubicBezTo>
                      <a:cubicBezTo>
                        <a:pt x="171004" y="13635"/>
                        <a:pt x="170626" y="17233"/>
                        <a:pt x="170247" y="20831"/>
                      </a:cubicBezTo>
                      <a:lnTo>
                        <a:pt x="258495" y="20831"/>
                      </a:lnTo>
                      <a:cubicBezTo>
                        <a:pt x="257738" y="27080"/>
                        <a:pt x="256791" y="33709"/>
                        <a:pt x="255844" y="40337"/>
                      </a:cubicBezTo>
                      <a:cubicBezTo>
                        <a:pt x="254897" y="46965"/>
                        <a:pt x="253761" y="53593"/>
                        <a:pt x="252625" y="60221"/>
                      </a:cubicBezTo>
                      <a:cubicBezTo>
                        <a:pt x="251488" y="66849"/>
                        <a:pt x="250352" y="73288"/>
                        <a:pt x="249026" y="79348"/>
                      </a:cubicBezTo>
                      <a:cubicBezTo>
                        <a:pt x="247701" y="85597"/>
                        <a:pt x="246565" y="91278"/>
                        <a:pt x="245239" y="96391"/>
                      </a:cubicBezTo>
                      <a:lnTo>
                        <a:pt x="208311" y="96391"/>
                      </a:lnTo>
                      <a:cubicBezTo>
                        <a:pt x="210962" y="89195"/>
                        <a:pt x="213235" y="81431"/>
                        <a:pt x="215318" y="73288"/>
                      </a:cubicBezTo>
                      <a:cubicBezTo>
                        <a:pt x="217401" y="65145"/>
                        <a:pt x="218727" y="57948"/>
                        <a:pt x="219674" y="51699"/>
                      </a:cubicBezTo>
                      <a:lnTo>
                        <a:pt x="165513" y="51699"/>
                      </a:lnTo>
                      <a:cubicBezTo>
                        <a:pt x="164187" y="59463"/>
                        <a:pt x="162672" y="67038"/>
                        <a:pt x="161157" y="74234"/>
                      </a:cubicBezTo>
                      <a:cubicBezTo>
                        <a:pt x="159642" y="81431"/>
                        <a:pt x="158127" y="88059"/>
                        <a:pt x="156612" y="94497"/>
                      </a:cubicBezTo>
                      <a:lnTo>
                        <a:pt x="118927" y="94497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6" name="任意多边形: 形状 16"/>
                <p:cNvSpPr/>
                <p:nvPr/>
              </p:nvSpPr>
              <p:spPr>
                <a:xfrm>
                  <a:off x="7078391" y="3305663"/>
                  <a:ext cx="261335" cy="260956"/>
                </a:xfrm>
                <a:custGeom>
                  <a:avLst/>
                  <a:gdLst>
                    <a:gd name="connsiteX0" fmla="*/ 0 w 261335"/>
                    <a:gd name="connsiteY0" fmla="*/ 130857 h 260956"/>
                    <a:gd name="connsiteX1" fmla="*/ 13446 w 261335"/>
                    <a:gd name="connsiteY1" fmla="*/ 97717 h 260956"/>
                    <a:gd name="connsiteX2" fmla="*/ 24997 w 261335"/>
                    <a:gd name="connsiteY2" fmla="*/ 62872 h 260956"/>
                    <a:gd name="connsiteX3" fmla="*/ 34277 w 261335"/>
                    <a:gd name="connsiteY3" fmla="*/ 29732 h 260956"/>
                    <a:gd name="connsiteX4" fmla="*/ 41094 w 261335"/>
                    <a:gd name="connsiteY4" fmla="*/ 1515 h 260956"/>
                    <a:gd name="connsiteX5" fmla="*/ 80863 w 261335"/>
                    <a:gd name="connsiteY5" fmla="*/ 1515 h 260956"/>
                    <a:gd name="connsiteX6" fmla="*/ 74424 w 261335"/>
                    <a:gd name="connsiteY6" fmla="*/ 26323 h 260956"/>
                    <a:gd name="connsiteX7" fmla="*/ 66470 w 261335"/>
                    <a:gd name="connsiteY7" fmla="*/ 54350 h 260956"/>
                    <a:gd name="connsiteX8" fmla="*/ 66470 w 261335"/>
                    <a:gd name="connsiteY8" fmla="*/ 260578 h 260956"/>
                    <a:gd name="connsiteX9" fmla="*/ 29164 w 261335"/>
                    <a:gd name="connsiteY9" fmla="*/ 260578 h 260956"/>
                    <a:gd name="connsiteX10" fmla="*/ 29164 w 261335"/>
                    <a:gd name="connsiteY10" fmla="*/ 130857 h 260956"/>
                    <a:gd name="connsiteX11" fmla="*/ 0 w 261335"/>
                    <a:gd name="connsiteY11" fmla="*/ 130857 h 260956"/>
                    <a:gd name="connsiteX12" fmla="*/ 78022 w 261335"/>
                    <a:gd name="connsiteY12" fmla="*/ 115139 h 260956"/>
                    <a:gd name="connsiteX13" fmla="*/ 85786 w 261335"/>
                    <a:gd name="connsiteY13" fmla="*/ 85976 h 260956"/>
                    <a:gd name="connsiteX14" fmla="*/ 92036 w 261335"/>
                    <a:gd name="connsiteY14" fmla="*/ 58138 h 260956"/>
                    <a:gd name="connsiteX15" fmla="*/ 96959 w 261335"/>
                    <a:gd name="connsiteY15" fmla="*/ 30868 h 260956"/>
                    <a:gd name="connsiteX16" fmla="*/ 101126 w 261335"/>
                    <a:gd name="connsiteY16" fmla="*/ 2651 h 260956"/>
                    <a:gd name="connsiteX17" fmla="*/ 136728 w 261335"/>
                    <a:gd name="connsiteY17" fmla="*/ 2651 h 260956"/>
                    <a:gd name="connsiteX18" fmla="*/ 134455 w 261335"/>
                    <a:gd name="connsiteY18" fmla="*/ 19505 h 260956"/>
                    <a:gd name="connsiteX19" fmla="*/ 131804 w 261335"/>
                    <a:gd name="connsiteY19" fmla="*/ 37496 h 260956"/>
                    <a:gd name="connsiteX20" fmla="*/ 159831 w 261335"/>
                    <a:gd name="connsiteY20" fmla="*/ 37496 h 260956"/>
                    <a:gd name="connsiteX21" fmla="*/ 159831 w 261335"/>
                    <a:gd name="connsiteY21" fmla="*/ 0 h 260956"/>
                    <a:gd name="connsiteX22" fmla="*/ 197138 w 261335"/>
                    <a:gd name="connsiteY22" fmla="*/ 0 h 260956"/>
                    <a:gd name="connsiteX23" fmla="*/ 197138 w 261335"/>
                    <a:gd name="connsiteY23" fmla="*/ 37307 h 260956"/>
                    <a:gd name="connsiteX24" fmla="*/ 255655 w 261335"/>
                    <a:gd name="connsiteY24" fmla="*/ 37307 h 260956"/>
                    <a:gd name="connsiteX25" fmla="*/ 255655 w 261335"/>
                    <a:gd name="connsiteY25" fmla="*/ 69690 h 260956"/>
                    <a:gd name="connsiteX26" fmla="*/ 197138 w 261335"/>
                    <a:gd name="connsiteY26" fmla="*/ 69690 h 260956"/>
                    <a:gd name="connsiteX27" fmla="*/ 197138 w 261335"/>
                    <a:gd name="connsiteY27" fmla="*/ 139379 h 260956"/>
                    <a:gd name="connsiteX28" fmla="*/ 261336 w 261335"/>
                    <a:gd name="connsiteY28" fmla="*/ 139379 h 260956"/>
                    <a:gd name="connsiteX29" fmla="*/ 261336 w 261335"/>
                    <a:gd name="connsiteY29" fmla="*/ 171194 h 260956"/>
                    <a:gd name="connsiteX30" fmla="*/ 197138 w 261335"/>
                    <a:gd name="connsiteY30" fmla="*/ 171194 h 260956"/>
                    <a:gd name="connsiteX31" fmla="*/ 197138 w 261335"/>
                    <a:gd name="connsiteY31" fmla="*/ 260957 h 260956"/>
                    <a:gd name="connsiteX32" fmla="*/ 159831 w 261335"/>
                    <a:gd name="connsiteY32" fmla="*/ 260957 h 260956"/>
                    <a:gd name="connsiteX33" fmla="*/ 159831 w 261335"/>
                    <a:gd name="connsiteY33" fmla="*/ 171004 h 260956"/>
                    <a:gd name="connsiteX34" fmla="*/ 81620 w 261335"/>
                    <a:gd name="connsiteY34" fmla="*/ 171004 h 260956"/>
                    <a:gd name="connsiteX35" fmla="*/ 81620 w 261335"/>
                    <a:gd name="connsiteY35" fmla="*/ 139190 h 260956"/>
                    <a:gd name="connsiteX36" fmla="*/ 159831 w 261335"/>
                    <a:gd name="connsiteY36" fmla="*/ 139190 h 260956"/>
                    <a:gd name="connsiteX37" fmla="*/ 159831 w 261335"/>
                    <a:gd name="connsiteY37" fmla="*/ 69690 h 260956"/>
                    <a:gd name="connsiteX38" fmla="*/ 125744 w 261335"/>
                    <a:gd name="connsiteY38" fmla="*/ 69690 h 260956"/>
                    <a:gd name="connsiteX39" fmla="*/ 120442 w 261335"/>
                    <a:gd name="connsiteY39" fmla="*/ 93361 h 260956"/>
                    <a:gd name="connsiteX40" fmla="*/ 114571 w 261335"/>
                    <a:gd name="connsiteY40" fmla="*/ 115329 h 260956"/>
                    <a:gd name="connsiteX41" fmla="*/ 78022 w 261335"/>
                    <a:gd name="connsiteY41" fmla="*/ 115329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261335" h="260956">
                      <a:moveTo>
                        <a:pt x="0" y="130857"/>
                      </a:moveTo>
                      <a:cubicBezTo>
                        <a:pt x="4734" y="120631"/>
                        <a:pt x="9279" y="109458"/>
                        <a:pt x="13446" y="97717"/>
                      </a:cubicBezTo>
                      <a:cubicBezTo>
                        <a:pt x="17612" y="85976"/>
                        <a:pt x="21589" y="74424"/>
                        <a:pt x="24997" y="62872"/>
                      </a:cubicBezTo>
                      <a:cubicBezTo>
                        <a:pt x="28596" y="51320"/>
                        <a:pt x="31625" y="40337"/>
                        <a:pt x="34277" y="29732"/>
                      </a:cubicBezTo>
                      <a:cubicBezTo>
                        <a:pt x="36928" y="19127"/>
                        <a:pt x="39200" y="9658"/>
                        <a:pt x="41094" y="1515"/>
                      </a:cubicBezTo>
                      <a:lnTo>
                        <a:pt x="80863" y="1515"/>
                      </a:lnTo>
                      <a:cubicBezTo>
                        <a:pt x="78969" y="9090"/>
                        <a:pt x="76886" y="17422"/>
                        <a:pt x="74424" y="26323"/>
                      </a:cubicBezTo>
                      <a:cubicBezTo>
                        <a:pt x="71962" y="35224"/>
                        <a:pt x="69500" y="44503"/>
                        <a:pt x="66470" y="54350"/>
                      </a:cubicBezTo>
                      <a:lnTo>
                        <a:pt x="66470" y="260578"/>
                      </a:lnTo>
                      <a:lnTo>
                        <a:pt x="29164" y="260578"/>
                      </a:lnTo>
                      <a:lnTo>
                        <a:pt x="29164" y="130857"/>
                      </a:lnTo>
                      <a:lnTo>
                        <a:pt x="0" y="130857"/>
                      </a:lnTo>
                      <a:close/>
                      <a:moveTo>
                        <a:pt x="78022" y="115139"/>
                      </a:moveTo>
                      <a:cubicBezTo>
                        <a:pt x="80863" y="105102"/>
                        <a:pt x="83514" y="95255"/>
                        <a:pt x="85786" y="85976"/>
                      </a:cubicBezTo>
                      <a:cubicBezTo>
                        <a:pt x="88059" y="76696"/>
                        <a:pt x="90142" y="67417"/>
                        <a:pt x="92036" y="58138"/>
                      </a:cubicBezTo>
                      <a:cubicBezTo>
                        <a:pt x="93929" y="49048"/>
                        <a:pt x="95634" y="39768"/>
                        <a:pt x="96959" y="30868"/>
                      </a:cubicBezTo>
                      <a:cubicBezTo>
                        <a:pt x="98474" y="21778"/>
                        <a:pt x="99800" y="12309"/>
                        <a:pt x="101126" y="2651"/>
                      </a:cubicBezTo>
                      <a:lnTo>
                        <a:pt x="136728" y="2651"/>
                      </a:lnTo>
                      <a:cubicBezTo>
                        <a:pt x="135970" y="7954"/>
                        <a:pt x="135213" y="13635"/>
                        <a:pt x="134455" y="19505"/>
                      </a:cubicBezTo>
                      <a:cubicBezTo>
                        <a:pt x="133698" y="25376"/>
                        <a:pt x="132751" y="31247"/>
                        <a:pt x="131804" y="37496"/>
                      </a:cubicBezTo>
                      <a:lnTo>
                        <a:pt x="159831" y="37496"/>
                      </a:lnTo>
                      <a:lnTo>
                        <a:pt x="159831" y="0"/>
                      </a:lnTo>
                      <a:lnTo>
                        <a:pt x="197138" y="0"/>
                      </a:lnTo>
                      <a:lnTo>
                        <a:pt x="197138" y="37307"/>
                      </a:lnTo>
                      <a:lnTo>
                        <a:pt x="255655" y="37307"/>
                      </a:lnTo>
                      <a:lnTo>
                        <a:pt x="255655" y="69690"/>
                      </a:lnTo>
                      <a:lnTo>
                        <a:pt x="197138" y="69690"/>
                      </a:lnTo>
                      <a:lnTo>
                        <a:pt x="197138" y="139379"/>
                      </a:lnTo>
                      <a:lnTo>
                        <a:pt x="261336" y="139379"/>
                      </a:lnTo>
                      <a:lnTo>
                        <a:pt x="261336" y="171194"/>
                      </a:lnTo>
                      <a:lnTo>
                        <a:pt x="197138" y="171194"/>
                      </a:lnTo>
                      <a:lnTo>
                        <a:pt x="197138" y="260957"/>
                      </a:lnTo>
                      <a:lnTo>
                        <a:pt x="159831" y="260957"/>
                      </a:lnTo>
                      <a:lnTo>
                        <a:pt x="159831" y="171004"/>
                      </a:lnTo>
                      <a:lnTo>
                        <a:pt x="81620" y="171004"/>
                      </a:lnTo>
                      <a:lnTo>
                        <a:pt x="81620" y="139190"/>
                      </a:lnTo>
                      <a:lnTo>
                        <a:pt x="159831" y="139190"/>
                      </a:lnTo>
                      <a:lnTo>
                        <a:pt x="159831" y="69690"/>
                      </a:lnTo>
                      <a:lnTo>
                        <a:pt x="125744" y="69690"/>
                      </a:lnTo>
                      <a:cubicBezTo>
                        <a:pt x="124040" y="77643"/>
                        <a:pt x="122336" y="85597"/>
                        <a:pt x="120442" y="93361"/>
                      </a:cubicBezTo>
                      <a:cubicBezTo>
                        <a:pt x="118548" y="101126"/>
                        <a:pt x="116654" y="108322"/>
                        <a:pt x="114571" y="115329"/>
                      </a:cubicBezTo>
                      <a:lnTo>
                        <a:pt x="78022" y="115329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7" name="任意多边形: 形状 17"/>
                <p:cNvSpPr/>
                <p:nvPr/>
              </p:nvSpPr>
              <p:spPr>
                <a:xfrm>
                  <a:off x="7365103" y="3315321"/>
                  <a:ext cx="261335" cy="250352"/>
                </a:xfrm>
                <a:custGeom>
                  <a:avLst/>
                  <a:gdLst>
                    <a:gd name="connsiteX0" fmla="*/ 109269 w 261335"/>
                    <a:gd name="connsiteY0" fmla="*/ 215886 h 250352"/>
                    <a:gd name="connsiteX1" fmla="*/ 109269 w 261335"/>
                    <a:gd name="connsiteY1" fmla="*/ 35034 h 250352"/>
                    <a:gd name="connsiteX2" fmla="*/ 10794 w 261335"/>
                    <a:gd name="connsiteY2" fmla="*/ 35034 h 250352"/>
                    <a:gd name="connsiteX3" fmla="*/ 10794 w 261335"/>
                    <a:gd name="connsiteY3" fmla="*/ 0 h 250352"/>
                    <a:gd name="connsiteX4" fmla="*/ 250352 w 261335"/>
                    <a:gd name="connsiteY4" fmla="*/ 0 h 250352"/>
                    <a:gd name="connsiteX5" fmla="*/ 250352 w 261335"/>
                    <a:gd name="connsiteY5" fmla="*/ 35034 h 250352"/>
                    <a:gd name="connsiteX6" fmla="*/ 151878 w 261335"/>
                    <a:gd name="connsiteY6" fmla="*/ 35034 h 250352"/>
                    <a:gd name="connsiteX7" fmla="*/ 151878 w 261335"/>
                    <a:gd name="connsiteY7" fmla="*/ 215886 h 250352"/>
                    <a:gd name="connsiteX8" fmla="*/ 261336 w 261335"/>
                    <a:gd name="connsiteY8" fmla="*/ 215886 h 250352"/>
                    <a:gd name="connsiteX9" fmla="*/ 261336 w 261335"/>
                    <a:gd name="connsiteY9" fmla="*/ 250352 h 250352"/>
                    <a:gd name="connsiteX10" fmla="*/ 0 w 261335"/>
                    <a:gd name="connsiteY10" fmla="*/ 250352 h 250352"/>
                    <a:gd name="connsiteX11" fmla="*/ 0 w 261335"/>
                    <a:gd name="connsiteY11" fmla="*/ 215886 h 250352"/>
                    <a:gd name="connsiteX12" fmla="*/ 109269 w 261335"/>
                    <a:gd name="connsiteY12" fmla="*/ 215886 h 250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61335" h="250352">
                      <a:moveTo>
                        <a:pt x="109269" y="215886"/>
                      </a:moveTo>
                      <a:lnTo>
                        <a:pt x="109269" y="35034"/>
                      </a:lnTo>
                      <a:lnTo>
                        <a:pt x="10794" y="35034"/>
                      </a:lnTo>
                      <a:lnTo>
                        <a:pt x="10794" y="0"/>
                      </a:lnTo>
                      <a:lnTo>
                        <a:pt x="250352" y="0"/>
                      </a:lnTo>
                      <a:lnTo>
                        <a:pt x="250352" y="35034"/>
                      </a:lnTo>
                      <a:lnTo>
                        <a:pt x="151878" y="35034"/>
                      </a:lnTo>
                      <a:lnTo>
                        <a:pt x="151878" y="215886"/>
                      </a:lnTo>
                      <a:lnTo>
                        <a:pt x="261336" y="215886"/>
                      </a:lnTo>
                      <a:lnTo>
                        <a:pt x="261336" y="250352"/>
                      </a:lnTo>
                      <a:lnTo>
                        <a:pt x="0" y="250352"/>
                      </a:lnTo>
                      <a:lnTo>
                        <a:pt x="0" y="215886"/>
                      </a:lnTo>
                      <a:lnTo>
                        <a:pt x="109269" y="215886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8" name="任意多边形: 形状 18"/>
                <p:cNvSpPr/>
                <p:nvPr/>
              </p:nvSpPr>
              <p:spPr>
                <a:xfrm>
                  <a:off x="7648595" y="3308882"/>
                  <a:ext cx="264176" cy="257548"/>
                </a:xfrm>
                <a:custGeom>
                  <a:avLst/>
                  <a:gdLst>
                    <a:gd name="connsiteX0" fmla="*/ 0 w 264176"/>
                    <a:gd name="connsiteY0" fmla="*/ 250920 h 257548"/>
                    <a:gd name="connsiteX1" fmla="*/ 6439 w 264176"/>
                    <a:gd name="connsiteY1" fmla="*/ 165702 h 257548"/>
                    <a:gd name="connsiteX2" fmla="*/ 8522 w 264176"/>
                    <a:gd name="connsiteY2" fmla="*/ 99989 h 257548"/>
                    <a:gd name="connsiteX3" fmla="*/ 34845 w 264176"/>
                    <a:gd name="connsiteY3" fmla="*/ 99989 h 257548"/>
                    <a:gd name="connsiteX4" fmla="*/ 33519 w 264176"/>
                    <a:gd name="connsiteY4" fmla="*/ 166081 h 257548"/>
                    <a:gd name="connsiteX5" fmla="*/ 29353 w 264176"/>
                    <a:gd name="connsiteY5" fmla="*/ 250920 h 257548"/>
                    <a:gd name="connsiteX6" fmla="*/ 0 w 264176"/>
                    <a:gd name="connsiteY6" fmla="*/ 250920 h 257548"/>
                    <a:gd name="connsiteX7" fmla="*/ 40147 w 264176"/>
                    <a:gd name="connsiteY7" fmla="*/ 90710 h 257548"/>
                    <a:gd name="connsiteX8" fmla="*/ 4545 w 264176"/>
                    <a:gd name="connsiteY8" fmla="*/ 90710 h 257548"/>
                    <a:gd name="connsiteX9" fmla="*/ 4545 w 264176"/>
                    <a:gd name="connsiteY9" fmla="*/ 60978 h 257548"/>
                    <a:gd name="connsiteX10" fmla="*/ 40147 w 264176"/>
                    <a:gd name="connsiteY10" fmla="*/ 60978 h 257548"/>
                    <a:gd name="connsiteX11" fmla="*/ 40147 w 264176"/>
                    <a:gd name="connsiteY11" fmla="*/ 34655 h 257548"/>
                    <a:gd name="connsiteX12" fmla="*/ 7575 w 264176"/>
                    <a:gd name="connsiteY12" fmla="*/ 37307 h 257548"/>
                    <a:gd name="connsiteX13" fmla="*/ 7575 w 264176"/>
                    <a:gd name="connsiteY13" fmla="*/ 7386 h 257548"/>
                    <a:gd name="connsiteX14" fmla="*/ 100747 w 264176"/>
                    <a:gd name="connsiteY14" fmla="*/ 0 h 257548"/>
                    <a:gd name="connsiteX15" fmla="*/ 100747 w 264176"/>
                    <a:gd name="connsiteY15" fmla="*/ 30110 h 257548"/>
                    <a:gd name="connsiteX16" fmla="*/ 72151 w 264176"/>
                    <a:gd name="connsiteY16" fmla="*/ 32383 h 257548"/>
                    <a:gd name="connsiteX17" fmla="*/ 72151 w 264176"/>
                    <a:gd name="connsiteY17" fmla="*/ 60978 h 257548"/>
                    <a:gd name="connsiteX18" fmla="*/ 103966 w 264176"/>
                    <a:gd name="connsiteY18" fmla="*/ 60978 h 257548"/>
                    <a:gd name="connsiteX19" fmla="*/ 103966 w 264176"/>
                    <a:gd name="connsiteY19" fmla="*/ 90710 h 257548"/>
                    <a:gd name="connsiteX20" fmla="*/ 72151 w 264176"/>
                    <a:gd name="connsiteY20" fmla="*/ 90710 h 257548"/>
                    <a:gd name="connsiteX21" fmla="*/ 72151 w 264176"/>
                    <a:gd name="connsiteY21" fmla="*/ 257548 h 257548"/>
                    <a:gd name="connsiteX22" fmla="*/ 40337 w 264176"/>
                    <a:gd name="connsiteY22" fmla="*/ 257548 h 257548"/>
                    <a:gd name="connsiteX23" fmla="*/ 40337 w 264176"/>
                    <a:gd name="connsiteY23" fmla="*/ 90710 h 257548"/>
                    <a:gd name="connsiteX24" fmla="*/ 80484 w 264176"/>
                    <a:gd name="connsiteY24" fmla="*/ 238043 h 257548"/>
                    <a:gd name="connsiteX25" fmla="*/ 79726 w 264176"/>
                    <a:gd name="connsiteY25" fmla="*/ 200168 h 257548"/>
                    <a:gd name="connsiteX26" fmla="*/ 78779 w 264176"/>
                    <a:gd name="connsiteY26" fmla="*/ 163429 h 257548"/>
                    <a:gd name="connsiteX27" fmla="*/ 77643 w 264176"/>
                    <a:gd name="connsiteY27" fmla="*/ 129532 h 257548"/>
                    <a:gd name="connsiteX28" fmla="*/ 76128 w 264176"/>
                    <a:gd name="connsiteY28" fmla="*/ 99800 h 257548"/>
                    <a:gd name="connsiteX29" fmla="*/ 101126 w 264176"/>
                    <a:gd name="connsiteY29" fmla="*/ 99800 h 257548"/>
                    <a:gd name="connsiteX30" fmla="*/ 103966 w 264176"/>
                    <a:gd name="connsiteY30" fmla="*/ 161346 h 257548"/>
                    <a:gd name="connsiteX31" fmla="*/ 106239 w 264176"/>
                    <a:gd name="connsiteY31" fmla="*/ 228195 h 257548"/>
                    <a:gd name="connsiteX32" fmla="*/ 165513 w 264176"/>
                    <a:gd name="connsiteY32" fmla="*/ 228195 h 257548"/>
                    <a:gd name="connsiteX33" fmla="*/ 165513 w 264176"/>
                    <a:gd name="connsiteY33" fmla="*/ 198653 h 257548"/>
                    <a:gd name="connsiteX34" fmla="*/ 114003 w 264176"/>
                    <a:gd name="connsiteY34" fmla="*/ 198653 h 257548"/>
                    <a:gd name="connsiteX35" fmla="*/ 114003 w 264176"/>
                    <a:gd name="connsiteY35" fmla="*/ 169868 h 257548"/>
                    <a:gd name="connsiteX36" fmla="*/ 165513 w 264176"/>
                    <a:gd name="connsiteY36" fmla="*/ 169868 h 257548"/>
                    <a:gd name="connsiteX37" fmla="*/ 165513 w 264176"/>
                    <a:gd name="connsiteY37" fmla="*/ 142409 h 257548"/>
                    <a:gd name="connsiteX38" fmla="*/ 110215 w 264176"/>
                    <a:gd name="connsiteY38" fmla="*/ 142409 h 257548"/>
                    <a:gd name="connsiteX39" fmla="*/ 110215 w 264176"/>
                    <a:gd name="connsiteY39" fmla="*/ 113435 h 257548"/>
                    <a:gd name="connsiteX40" fmla="*/ 259253 w 264176"/>
                    <a:gd name="connsiteY40" fmla="*/ 113435 h 257548"/>
                    <a:gd name="connsiteX41" fmla="*/ 259253 w 264176"/>
                    <a:gd name="connsiteY41" fmla="*/ 142409 h 257548"/>
                    <a:gd name="connsiteX42" fmla="*/ 203387 w 264176"/>
                    <a:gd name="connsiteY42" fmla="*/ 142409 h 257548"/>
                    <a:gd name="connsiteX43" fmla="*/ 203387 w 264176"/>
                    <a:gd name="connsiteY43" fmla="*/ 169868 h 257548"/>
                    <a:gd name="connsiteX44" fmla="*/ 255465 w 264176"/>
                    <a:gd name="connsiteY44" fmla="*/ 169868 h 257548"/>
                    <a:gd name="connsiteX45" fmla="*/ 255465 w 264176"/>
                    <a:gd name="connsiteY45" fmla="*/ 198842 h 257548"/>
                    <a:gd name="connsiteX46" fmla="*/ 203387 w 264176"/>
                    <a:gd name="connsiteY46" fmla="*/ 198842 h 257548"/>
                    <a:gd name="connsiteX47" fmla="*/ 203387 w 264176"/>
                    <a:gd name="connsiteY47" fmla="*/ 228385 h 257548"/>
                    <a:gd name="connsiteX48" fmla="*/ 264176 w 264176"/>
                    <a:gd name="connsiteY48" fmla="*/ 228385 h 257548"/>
                    <a:gd name="connsiteX49" fmla="*/ 264176 w 264176"/>
                    <a:gd name="connsiteY49" fmla="*/ 257548 h 257548"/>
                    <a:gd name="connsiteX50" fmla="*/ 105671 w 264176"/>
                    <a:gd name="connsiteY50" fmla="*/ 257548 h 257548"/>
                    <a:gd name="connsiteX51" fmla="*/ 105671 w 264176"/>
                    <a:gd name="connsiteY51" fmla="*/ 238043 h 257548"/>
                    <a:gd name="connsiteX52" fmla="*/ 80484 w 264176"/>
                    <a:gd name="connsiteY52" fmla="*/ 238043 h 257548"/>
                    <a:gd name="connsiteX53" fmla="*/ 255276 w 264176"/>
                    <a:gd name="connsiteY53" fmla="*/ 1326 h 257548"/>
                    <a:gd name="connsiteX54" fmla="*/ 255276 w 264176"/>
                    <a:gd name="connsiteY54" fmla="*/ 97527 h 257548"/>
                    <a:gd name="connsiteX55" fmla="*/ 114382 w 264176"/>
                    <a:gd name="connsiteY55" fmla="*/ 97527 h 257548"/>
                    <a:gd name="connsiteX56" fmla="*/ 114382 w 264176"/>
                    <a:gd name="connsiteY56" fmla="*/ 1326 h 257548"/>
                    <a:gd name="connsiteX57" fmla="*/ 255276 w 264176"/>
                    <a:gd name="connsiteY57" fmla="*/ 1326 h 257548"/>
                    <a:gd name="connsiteX58" fmla="*/ 148658 w 264176"/>
                    <a:gd name="connsiteY58" fmla="*/ 69311 h 257548"/>
                    <a:gd name="connsiteX59" fmla="*/ 220242 w 264176"/>
                    <a:gd name="connsiteY59" fmla="*/ 69311 h 257548"/>
                    <a:gd name="connsiteX60" fmla="*/ 220242 w 264176"/>
                    <a:gd name="connsiteY60" fmla="*/ 29542 h 257548"/>
                    <a:gd name="connsiteX61" fmla="*/ 148658 w 264176"/>
                    <a:gd name="connsiteY61" fmla="*/ 29542 h 257548"/>
                    <a:gd name="connsiteX62" fmla="*/ 148658 w 264176"/>
                    <a:gd name="connsiteY62" fmla="*/ 69311 h 257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264176" h="257548">
                      <a:moveTo>
                        <a:pt x="0" y="250920"/>
                      </a:moveTo>
                      <a:cubicBezTo>
                        <a:pt x="3030" y="219863"/>
                        <a:pt x="5113" y="191457"/>
                        <a:pt x="6439" y="165702"/>
                      </a:cubicBezTo>
                      <a:cubicBezTo>
                        <a:pt x="7764" y="139947"/>
                        <a:pt x="8332" y="118169"/>
                        <a:pt x="8522" y="99989"/>
                      </a:cubicBezTo>
                      <a:lnTo>
                        <a:pt x="34845" y="99989"/>
                      </a:lnTo>
                      <a:cubicBezTo>
                        <a:pt x="34655" y="119495"/>
                        <a:pt x="34277" y="141462"/>
                        <a:pt x="33519" y="166081"/>
                      </a:cubicBezTo>
                      <a:cubicBezTo>
                        <a:pt x="32762" y="190699"/>
                        <a:pt x="31436" y="218916"/>
                        <a:pt x="29353" y="250920"/>
                      </a:cubicBezTo>
                      <a:lnTo>
                        <a:pt x="0" y="250920"/>
                      </a:lnTo>
                      <a:close/>
                      <a:moveTo>
                        <a:pt x="40147" y="90710"/>
                      </a:moveTo>
                      <a:lnTo>
                        <a:pt x="4545" y="90710"/>
                      </a:lnTo>
                      <a:lnTo>
                        <a:pt x="4545" y="60978"/>
                      </a:lnTo>
                      <a:lnTo>
                        <a:pt x="40147" y="60978"/>
                      </a:lnTo>
                      <a:lnTo>
                        <a:pt x="40147" y="34655"/>
                      </a:lnTo>
                      <a:lnTo>
                        <a:pt x="7575" y="37307"/>
                      </a:lnTo>
                      <a:lnTo>
                        <a:pt x="7575" y="7386"/>
                      </a:lnTo>
                      <a:lnTo>
                        <a:pt x="100747" y="0"/>
                      </a:lnTo>
                      <a:lnTo>
                        <a:pt x="100747" y="30110"/>
                      </a:lnTo>
                      <a:lnTo>
                        <a:pt x="72151" y="32383"/>
                      </a:lnTo>
                      <a:lnTo>
                        <a:pt x="72151" y="60978"/>
                      </a:lnTo>
                      <a:lnTo>
                        <a:pt x="103966" y="60978"/>
                      </a:lnTo>
                      <a:lnTo>
                        <a:pt x="103966" y="90710"/>
                      </a:lnTo>
                      <a:lnTo>
                        <a:pt x="72151" y="90710"/>
                      </a:lnTo>
                      <a:lnTo>
                        <a:pt x="72151" y="257548"/>
                      </a:lnTo>
                      <a:lnTo>
                        <a:pt x="40337" y="257548"/>
                      </a:lnTo>
                      <a:lnTo>
                        <a:pt x="40337" y="90710"/>
                      </a:lnTo>
                      <a:close/>
                      <a:moveTo>
                        <a:pt x="80484" y="238043"/>
                      </a:moveTo>
                      <a:cubicBezTo>
                        <a:pt x="80294" y="225355"/>
                        <a:pt x="80105" y="212856"/>
                        <a:pt x="79726" y="200168"/>
                      </a:cubicBezTo>
                      <a:cubicBezTo>
                        <a:pt x="79348" y="187480"/>
                        <a:pt x="79158" y="175360"/>
                        <a:pt x="78779" y="163429"/>
                      </a:cubicBezTo>
                      <a:cubicBezTo>
                        <a:pt x="78401" y="151499"/>
                        <a:pt x="78022" y="140326"/>
                        <a:pt x="77643" y="129532"/>
                      </a:cubicBezTo>
                      <a:cubicBezTo>
                        <a:pt x="77264" y="118927"/>
                        <a:pt x="76696" y="108890"/>
                        <a:pt x="76128" y="99800"/>
                      </a:cubicBezTo>
                      <a:lnTo>
                        <a:pt x="101126" y="99800"/>
                      </a:lnTo>
                      <a:cubicBezTo>
                        <a:pt x="102072" y="118927"/>
                        <a:pt x="103019" y="139379"/>
                        <a:pt x="103966" y="161346"/>
                      </a:cubicBezTo>
                      <a:cubicBezTo>
                        <a:pt x="104913" y="183314"/>
                        <a:pt x="105671" y="205660"/>
                        <a:pt x="106239" y="228195"/>
                      </a:cubicBezTo>
                      <a:lnTo>
                        <a:pt x="165513" y="228195"/>
                      </a:lnTo>
                      <a:lnTo>
                        <a:pt x="165513" y="198653"/>
                      </a:lnTo>
                      <a:lnTo>
                        <a:pt x="114003" y="198653"/>
                      </a:lnTo>
                      <a:lnTo>
                        <a:pt x="114003" y="169868"/>
                      </a:lnTo>
                      <a:lnTo>
                        <a:pt x="165513" y="169868"/>
                      </a:lnTo>
                      <a:lnTo>
                        <a:pt x="165513" y="142409"/>
                      </a:lnTo>
                      <a:lnTo>
                        <a:pt x="110215" y="142409"/>
                      </a:lnTo>
                      <a:lnTo>
                        <a:pt x="110215" y="113435"/>
                      </a:lnTo>
                      <a:lnTo>
                        <a:pt x="259253" y="113435"/>
                      </a:lnTo>
                      <a:lnTo>
                        <a:pt x="259253" y="142409"/>
                      </a:lnTo>
                      <a:lnTo>
                        <a:pt x="203387" y="142409"/>
                      </a:lnTo>
                      <a:lnTo>
                        <a:pt x="203387" y="169868"/>
                      </a:lnTo>
                      <a:lnTo>
                        <a:pt x="255465" y="169868"/>
                      </a:lnTo>
                      <a:lnTo>
                        <a:pt x="255465" y="198842"/>
                      </a:lnTo>
                      <a:lnTo>
                        <a:pt x="203387" y="198842"/>
                      </a:lnTo>
                      <a:lnTo>
                        <a:pt x="203387" y="228385"/>
                      </a:lnTo>
                      <a:lnTo>
                        <a:pt x="264176" y="228385"/>
                      </a:lnTo>
                      <a:lnTo>
                        <a:pt x="264176" y="257548"/>
                      </a:lnTo>
                      <a:lnTo>
                        <a:pt x="105671" y="257548"/>
                      </a:lnTo>
                      <a:lnTo>
                        <a:pt x="105671" y="238043"/>
                      </a:lnTo>
                      <a:lnTo>
                        <a:pt x="80484" y="238043"/>
                      </a:lnTo>
                      <a:close/>
                      <a:moveTo>
                        <a:pt x="255276" y="1326"/>
                      </a:moveTo>
                      <a:lnTo>
                        <a:pt x="255276" y="97527"/>
                      </a:lnTo>
                      <a:lnTo>
                        <a:pt x="114382" y="97527"/>
                      </a:lnTo>
                      <a:lnTo>
                        <a:pt x="114382" y="1326"/>
                      </a:lnTo>
                      <a:lnTo>
                        <a:pt x="255276" y="1326"/>
                      </a:lnTo>
                      <a:close/>
                      <a:moveTo>
                        <a:pt x="148658" y="69311"/>
                      </a:moveTo>
                      <a:lnTo>
                        <a:pt x="220242" y="69311"/>
                      </a:lnTo>
                      <a:lnTo>
                        <a:pt x="220242" y="29542"/>
                      </a:lnTo>
                      <a:lnTo>
                        <a:pt x="148658" y="29542"/>
                      </a:lnTo>
                      <a:lnTo>
                        <a:pt x="148658" y="69311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9" name="任意多边形: 形状 19"/>
                <p:cNvSpPr/>
                <p:nvPr/>
              </p:nvSpPr>
              <p:spPr>
                <a:xfrm>
                  <a:off x="7939662" y="3305663"/>
                  <a:ext cx="258684" cy="260767"/>
                </a:xfrm>
                <a:custGeom>
                  <a:avLst/>
                  <a:gdLst>
                    <a:gd name="connsiteX0" fmla="*/ 153393 w 258684"/>
                    <a:gd name="connsiteY0" fmla="*/ 125555 h 260767"/>
                    <a:gd name="connsiteX1" fmla="*/ 34466 w 258684"/>
                    <a:gd name="connsiteY1" fmla="*/ 125555 h 260767"/>
                    <a:gd name="connsiteX2" fmla="*/ 34466 w 258684"/>
                    <a:gd name="connsiteY2" fmla="*/ 96202 h 260767"/>
                    <a:gd name="connsiteX3" fmla="*/ 224219 w 258684"/>
                    <a:gd name="connsiteY3" fmla="*/ 96202 h 260767"/>
                    <a:gd name="connsiteX4" fmla="*/ 209447 w 258684"/>
                    <a:gd name="connsiteY4" fmla="*/ 113624 h 260767"/>
                    <a:gd name="connsiteX5" fmla="*/ 191078 w 258684"/>
                    <a:gd name="connsiteY5" fmla="*/ 131615 h 260767"/>
                    <a:gd name="connsiteX6" fmla="*/ 171762 w 258684"/>
                    <a:gd name="connsiteY6" fmla="*/ 148090 h 260767"/>
                    <a:gd name="connsiteX7" fmla="*/ 154340 w 258684"/>
                    <a:gd name="connsiteY7" fmla="*/ 160968 h 260767"/>
                    <a:gd name="connsiteX8" fmla="*/ 154340 w 258684"/>
                    <a:gd name="connsiteY8" fmla="*/ 161346 h 260767"/>
                    <a:gd name="connsiteX9" fmla="*/ 258684 w 258684"/>
                    <a:gd name="connsiteY9" fmla="*/ 161346 h 260767"/>
                    <a:gd name="connsiteX10" fmla="*/ 258684 w 258684"/>
                    <a:gd name="connsiteY10" fmla="*/ 192025 h 260767"/>
                    <a:gd name="connsiteX11" fmla="*/ 154340 w 258684"/>
                    <a:gd name="connsiteY11" fmla="*/ 192025 h 260767"/>
                    <a:gd name="connsiteX12" fmla="*/ 154340 w 258684"/>
                    <a:gd name="connsiteY12" fmla="*/ 209258 h 260767"/>
                    <a:gd name="connsiteX13" fmla="*/ 153582 w 258684"/>
                    <a:gd name="connsiteY13" fmla="*/ 222135 h 260767"/>
                    <a:gd name="connsiteX14" fmla="*/ 151499 w 258684"/>
                    <a:gd name="connsiteY14" fmla="*/ 235960 h 260767"/>
                    <a:gd name="connsiteX15" fmla="*/ 147901 w 258684"/>
                    <a:gd name="connsiteY15" fmla="*/ 249216 h 260767"/>
                    <a:gd name="connsiteX16" fmla="*/ 142788 w 258684"/>
                    <a:gd name="connsiteY16" fmla="*/ 260768 h 260767"/>
                    <a:gd name="connsiteX17" fmla="*/ 102262 w 258684"/>
                    <a:gd name="connsiteY17" fmla="*/ 260768 h 260767"/>
                    <a:gd name="connsiteX18" fmla="*/ 114571 w 258684"/>
                    <a:gd name="connsiteY18" fmla="*/ 209258 h 260767"/>
                    <a:gd name="connsiteX19" fmla="*/ 114571 w 258684"/>
                    <a:gd name="connsiteY19" fmla="*/ 192025 h 260767"/>
                    <a:gd name="connsiteX20" fmla="*/ 0 w 258684"/>
                    <a:gd name="connsiteY20" fmla="*/ 192025 h 260767"/>
                    <a:gd name="connsiteX21" fmla="*/ 0 w 258684"/>
                    <a:gd name="connsiteY21" fmla="*/ 161346 h 260767"/>
                    <a:gd name="connsiteX22" fmla="*/ 114571 w 258684"/>
                    <a:gd name="connsiteY22" fmla="*/ 161346 h 260767"/>
                    <a:gd name="connsiteX23" fmla="*/ 114571 w 258684"/>
                    <a:gd name="connsiteY23" fmla="*/ 161346 h 260767"/>
                    <a:gd name="connsiteX24" fmla="*/ 218348 w 258684"/>
                    <a:gd name="connsiteY24" fmla="*/ 73098 h 260767"/>
                    <a:gd name="connsiteX25" fmla="*/ 38064 w 258684"/>
                    <a:gd name="connsiteY25" fmla="*/ 73098 h 260767"/>
                    <a:gd name="connsiteX26" fmla="*/ 38064 w 258684"/>
                    <a:gd name="connsiteY26" fmla="*/ 93172 h 260767"/>
                    <a:gd name="connsiteX27" fmla="*/ 2462 w 258684"/>
                    <a:gd name="connsiteY27" fmla="*/ 93172 h 260767"/>
                    <a:gd name="connsiteX28" fmla="*/ 2462 w 258684"/>
                    <a:gd name="connsiteY28" fmla="*/ 42420 h 260767"/>
                    <a:gd name="connsiteX29" fmla="*/ 172709 w 258684"/>
                    <a:gd name="connsiteY29" fmla="*/ 42420 h 260767"/>
                    <a:gd name="connsiteX30" fmla="*/ 184829 w 258684"/>
                    <a:gd name="connsiteY30" fmla="*/ 19884 h 260767"/>
                    <a:gd name="connsiteX31" fmla="*/ 193351 w 258684"/>
                    <a:gd name="connsiteY31" fmla="*/ 0 h 260767"/>
                    <a:gd name="connsiteX32" fmla="*/ 233687 w 258684"/>
                    <a:gd name="connsiteY32" fmla="*/ 0 h 260767"/>
                    <a:gd name="connsiteX33" fmla="*/ 224787 w 258684"/>
                    <a:gd name="connsiteY33" fmla="*/ 20831 h 260767"/>
                    <a:gd name="connsiteX34" fmla="*/ 213614 w 258684"/>
                    <a:gd name="connsiteY34" fmla="*/ 42420 h 260767"/>
                    <a:gd name="connsiteX35" fmla="*/ 253761 w 258684"/>
                    <a:gd name="connsiteY35" fmla="*/ 42420 h 260767"/>
                    <a:gd name="connsiteX36" fmla="*/ 253761 w 258684"/>
                    <a:gd name="connsiteY36" fmla="*/ 93172 h 260767"/>
                    <a:gd name="connsiteX37" fmla="*/ 218159 w 258684"/>
                    <a:gd name="connsiteY37" fmla="*/ 93172 h 260767"/>
                    <a:gd name="connsiteX38" fmla="*/ 218159 w 258684"/>
                    <a:gd name="connsiteY38" fmla="*/ 73098 h 260767"/>
                    <a:gd name="connsiteX39" fmla="*/ 36170 w 258684"/>
                    <a:gd name="connsiteY39" fmla="*/ 35792 h 260767"/>
                    <a:gd name="connsiteX40" fmla="*/ 31057 w 258684"/>
                    <a:gd name="connsiteY40" fmla="*/ 18180 h 260767"/>
                    <a:gd name="connsiteX41" fmla="*/ 24240 w 258684"/>
                    <a:gd name="connsiteY41" fmla="*/ 0 h 260767"/>
                    <a:gd name="connsiteX42" fmla="*/ 63819 w 258684"/>
                    <a:gd name="connsiteY42" fmla="*/ 0 h 260767"/>
                    <a:gd name="connsiteX43" fmla="*/ 67417 w 258684"/>
                    <a:gd name="connsiteY43" fmla="*/ 7954 h 260767"/>
                    <a:gd name="connsiteX44" fmla="*/ 71204 w 258684"/>
                    <a:gd name="connsiteY44" fmla="*/ 17422 h 260767"/>
                    <a:gd name="connsiteX45" fmla="*/ 74613 w 258684"/>
                    <a:gd name="connsiteY45" fmla="*/ 27080 h 260767"/>
                    <a:gd name="connsiteX46" fmla="*/ 77265 w 258684"/>
                    <a:gd name="connsiteY46" fmla="*/ 35602 h 260767"/>
                    <a:gd name="connsiteX47" fmla="*/ 36170 w 258684"/>
                    <a:gd name="connsiteY47" fmla="*/ 35602 h 260767"/>
                    <a:gd name="connsiteX48" fmla="*/ 108890 w 258684"/>
                    <a:gd name="connsiteY48" fmla="*/ 36360 h 260767"/>
                    <a:gd name="connsiteX49" fmla="*/ 103209 w 258684"/>
                    <a:gd name="connsiteY49" fmla="*/ 17422 h 260767"/>
                    <a:gd name="connsiteX50" fmla="*/ 96770 w 258684"/>
                    <a:gd name="connsiteY50" fmla="*/ 0 h 260767"/>
                    <a:gd name="connsiteX51" fmla="*/ 137675 w 258684"/>
                    <a:gd name="connsiteY51" fmla="*/ 0 h 260767"/>
                    <a:gd name="connsiteX52" fmla="*/ 140894 w 258684"/>
                    <a:gd name="connsiteY52" fmla="*/ 7575 h 260767"/>
                    <a:gd name="connsiteX53" fmla="*/ 144682 w 258684"/>
                    <a:gd name="connsiteY53" fmla="*/ 16854 h 260767"/>
                    <a:gd name="connsiteX54" fmla="*/ 148090 w 258684"/>
                    <a:gd name="connsiteY54" fmla="*/ 26702 h 260767"/>
                    <a:gd name="connsiteX55" fmla="*/ 151120 w 258684"/>
                    <a:gd name="connsiteY55" fmla="*/ 36360 h 260767"/>
                    <a:gd name="connsiteX56" fmla="*/ 108890 w 258684"/>
                    <a:gd name="connsiteY56" fmla="*/ 36360 h 2607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258684" h="260767">
                      <a:moveTo>
                        <a:pt x="153393" y="125555"/>
                      </a:moveTo>
                      <a:lnTo>
                        <a:pt x="34466" y="125555"/>
                      </a:lnTo>
                      <a:lnTo>
                        <a:pt x="34466" y="96202"/>
                      </a:lnTo>
                      <a:lnTo>
                        <a:pt x="224219" y="96202"/>
                      </a:lnTo>
                      <a:cubicBezTo>
                        <a:pt x="220242" y="101694"/>
                        <a:pt x="215318" y="107564"/>
                        <a:pt x="209447" y="113624"/>
                      </a:cubicBezTo>
                      <a:cubicBezTo>
                        <a:pt x="203577" y="119684"/>
                        <a:pt x="197517" y="125744"/>
                        <a:pt x="191078" y="131615"/>
                      </a:cubicBezTo>
                      <a:cubicBezTo>
                        <a:pt x="184639" y="137485"/>
                        <a:pt x="178201" y="142977"/>
                        <a:pt x="171762" y="148090"/>
                      </a:cubicBezTo>
                      <a:cubicBezTo>
                        <a:pt x="165323" y="153203"/>
                        <a:pt x="159453" y="157559"/>
                        <a:pt x="154340" y="160968"/>
                      </a:cubicBezTo>
                      <a:lnTo>
                        <a:pt x="154340" y="161346"/>
                      </a:lnTo>
                      <a:lnTo>
                        <a:pt x="258684" y="161346"/>
                      </a:lnTo>
                      <a:lnTo>
                        <a:pt x="258684" y="192025"/>
                      </a:lnTo>
                      <a:lnTo>
                        <a:pt x="154340" y="192025"/>
                      </a:lnTo>
                      <a:lnTo>
                        <a:pt x="154340" y="209258"/>
                      </a:lnTo>
                      <a:cubicBezTo>
                        <a:pt x="154340" y="213235"/>
                        <a:pt x="154150" y="217590"/>
                        <a:pt x="153582" y="222135"/>
                      </a:cubicBezTo>
                      <a:cubicBezTo>
                        <a:pt x="153014" y="226680"/>
                        <a:pt x="152446" y="231225"/>
                        <a:pt x="151499" y="235960"/>
                      </a:cubicBezTo>
                      <a:cubicBezTo>
                        <a:pt x="150552" y="240505"/>
                        <a:pt x="149416" y="245050"/>
                        <a:pt x="147901" y="249216"/>
                      </a:cubicBezTo>
                      <a:cubicBezTo>
                        <a:pt x="146386" y="253571"/>
                        <a:pt x="144682" y="257359"/>
                        <a:pt x="142788" y="260768"/>
                      </a:cubicBezTo>
                      <a:lnTo>
                        <a:pt x="102262" y="260768"/>
                      </a:lnTo>
                      <a:cubicBezTo>
                        <a:pt x="106049" y="252056"/>
                        <a:pt x="115707" y="227248"/>
                        <a:pt x="114571" y="209258"/>
                      </a:cubicBezTo>
                      <a:lnTo>
                        <a:pt x="114571" y="192025"/>
                      </a:lnTo>
                      <a:lnTo>
                        <a:pt x="0" y="192025"/>
                      </a:lnTo>
                      <a:lnTo>
                        <a:pt x="0" y="161346"/>
                      </a:lnTo>
                      <a:lnTo>
                        <a:pt x="114571" y="161346"/>
                      </a:lnTo>
                      <a:lnTo>
                        <a:pt x="114571" y="161346"/>
                      </a:lnTo>
                      <a:moveTo>
                        <a:pt x="218348" y="73098"/>
                      </a:moveTo>
                      <a:lnTo>
                        <a:pt x="38064" y="73098"/>
                      </a:lnTo>
                      <a:lnTo>
                        <a:pt x="38064" y="93172"/>
                      </a:lnTo>
                      <a:lnTo>
                        <a:pt x="2462" y="93172"/>
                      </a:lnTo>
                      <a:lnTo>
                        <a:pt x="2462" y="42420"/>
                      </a:lnTo>
                      <a:lnTo>
                        <a:pt x="172709" y="42420"/>
                      </a:lnTo>
                      <a:cubicBezTo>
                        <a:pt x="177443" y="34466"/>
                        <a:pt x="181609" y="26891"/>
                        <a:pt x="184829" y="19884"/>
                      </a:cubicBezTo>
                      <a:cubicBezTo>
                        <a:pt x="188238" y="12877"/>
                        <a:pt x="191078" y="6249"/>
                        <a:pt x="193351" y="0"/>
                      </a:cubicBezTo>
                      <a:lnTo>
                        <a:pt x="233687" y="0"/>
                      </a:lnTo>
                      <a:cubicBezTo>
                        <a:pt x="231036" y="7007"/>
                        <a:pt x="228006" y="14014"/>
                        <a:pt x="224787" y="20831"/>
                      </a:cubicBezTo>
                      <a:cubicBezTo>
                        <a:pt x="221567" y="27649"/>
                        <a:pt x="217780" y="34845"/>
                        <a:pt x="213614" y="42420"/>
                      </a:cubicBezTo>
                      <a:lnTo>
                        <a:pt x="253761" y="42420"/>
                      </a:lnTo>
                      <a:lnTo>
                        <a:pt x="253761" y="93172"/>
                      </a:lnTo>
                      <a:lnTo>
                        <a:pt x="218159" y="93172"/>
                      </a:lnTo>
                      <a:lnTo>
                        <a:pt x="218159" y="73098"/>
                      </a:lnTo>
                      <a:close/>
                      <a:moveTo>
                        <a:pt x="36170" y="35792"/>
                      </a:moveTo>
                      <a:cubicBezTo>
                        <a:pt x="35034" y="30868"/>
                        <a:pt x="33330" y="24997"/>
                        <a:pt x="31057" y="18180"/>
                      </a:cubicBezTo>
                      <a:cubicBezTo>
                        <a:pt x="28785" y="11362"/>
                        <a:pt x="26512" y="5302"/>
                        <a:pt x="24240" y="0"/>
                      </a:cubicBezTo>
                      <a:lnTo>
                        <a:pt x="63819" y="0"/>
                      </a:lnTo>
                      <a:cubicBezTo>
                        <a:pt x="64955" y="2272"/>
                        <a:pt x="66091" y="4924"/>
                        <a:pt x="67417" y="7954"/>
                      </a:cubicBezTo>
                      <a:cubicBezTo>
                        <a:pt x="68743" y="10984"/>
                        <a:pt x="69879" y="14203"/>
                        <a:pt x="71204" y="17422"/>
                      </a:cubicBezTo>
                      <a:cubicBezTo>
                        <a:pt x="72530" y="20642"/>
                        <a:pt x="73666" y="23861"/>
                        <a:pt x="74613" y="27080"/>
                      </a:cubicBezTo>
                      <a:cubicBezTo>
                        <a:pt x="75749" y="30300"/>
                        <a:pt x="76507" y="33140"/>
                        <a:pt x="77265" y="35602"/>
                      </a:cubicBezTo>
                      <a:lnTo>
                        <a:pt x="36170" y="35602"/>
                      </a:lnTo>
                      <a:close/>
                      <a:moveTo>
                        <a:pt x="108890" y="36360"/>
                      </a:moveTo>
                      <a:cubicBezTo>
                        <a:pt x="107375" y="30489"/>
                        <a:pt x="105481" y="24050"/>
                        <a:pt x="103209" y="17422"/>
                      </a:cubicBezTo>
                      <a:cubicBezTo>
                        <a:pt x="100936" y="10794"/>
                        <a:pt x="98853" y="4924"/>
                        <a:pt x="96770" y="0"/>
                      </a:cubicBezTo>
                      <a:lnTo>
                        <a:pt x="137675" y="0"/>
                      </a:lnTo>
                      <a:cubicBezTo>
                        <a:pt x="138622" y="2083"/>
                        <a:pt x="139758" y="4545"/>
                        <a:pt x="140894" y="7575"/>
                      </a:cubicBezTo>
                      <a:cubicBezTo>
                        <a:pt x="142220" y="10605"/>
                        <a:pt x="143356" y="13635"/>
                        <a:pt x="144682" y="16854"/>
                      </a:cubicBezTo>
                      <a:cubicBezTo>
                        <a:pt x="146007" y="20074"/>
                        <a:pt x="147144" y="23482"/>
                        <a:pt x="148090" y="26702"/>
                      </a:cubicBezTo>
                      <a:cubicBezTo>
                        <a:pt x="149227" y="30110"/>
                        <a:pt x="150173" y="33330"/>
                        <a:pt x="151120" y="36360"/>
                      </a:cubicBezTo>
                      <a:lnTo>
                        <a:pt x="108890" y="36360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" name="任意多边形: 形状 20"/>
                <p:cNvSpPr/>
                <p:nvPr/>
              </p:nvSpPr>
              <p:spPr>
                <a:xfrm>
                  <a:off x="8228647" y="3305663"/>
                  <a:ext cx="256601" cy="260956"/>
                </a:xfrm>
                <a:custGeom>
                  <a:avLst/>
                  <a:gdLst>
                    <a:gd name="connsiteX0" fmla="*/ 41662 w 256601"/>
                    <a:gd name="connsiteY0" fmla="*/ 236906 h 260956"/>
                    <a:gd name="connsiteX1" fmla="*/ 53782 w 256601"/>
                    <a:gd name="connsiteY1" fmla="*/ 207554 h 260956"/>
                    <a:gd name="connsiteX2" fmla="*/ 57759 w 256601"/>
                    <a:gd name="connsiteY2" fmla="*/ 169679 h 260956"/>
                    <a:gd name="connsiteX3" fmla="*/ 57759 w 256601"/>
                    <a:gd name="connsiteY3" fmla="*/ 128963 h 260956"/>
                    <a:gd name="connsiteX4" fmla="*/ 44882 w 256601"/>
                    <a:gd name="connsiteY4" fmla="*/ 128963 h 260956"/>
                    <a:gd name="connsiteX5" fmla="*/ 53214 w 256601"/>
                    <a:gd name="connsiteY5" fmla="*/ 78590 h 260956"/>
                    <a:gd name="connsiteX6" fmla="*/ 58138 w 256601"/>
                    <a:gd name="connsiteY6" fmla="*/ 35413 h 260956"/>
                    <a:gd name="connsiteX7" fmla="*/ 32572 w 256601"/>
                    <a:gd name="connsiteY7" fmla="*/ 35413 h 260956"/>
                    <a:gd name="connsiteX8" fmla="*/ 32572 w 256601"/>
                    <a:gd name="connsiteY8" fmla="*/ 260957 h 260956"/>
                    <a:gd name="connsiteX9" fmla="*/ 0 w 256601"/>
                    <a:gd name="connsiteY9" fmla="*/ 260957 h 260956"/>
                    <a:gd name="connsiteX10" fmla="*/ 0 w 256601"/>
                    <a:gd name="connsiteY10" fmla="*/ 6628 h 260956"/>
                    <a:gd name="connsiteX11" fmla="*/ 89953 w 256601"/>
                    <a:gd name="connsiteY11" fmla="*/ 6628 h 260956"/>
                    <a:gd name="connsiteX12" fmla="*/ 87491 w 256601"/>
                    <a:gd name="connsiteY12" fmla="*/ 31625 h 260956"/>
                    <a:gd name="connsiteX13" fmla="*/ 84840 w 256601"/>
                    <a:gd name="connsiteY13" fmla="*/ 54918 h 260956"/>
                    <a:gd name="connsiteX14" fmla="*/ 81810 w 256601"/>
                    <a:gd name="connsiteY14" fmla="*/ 77643 h 260956"/>
                    <a:gd name="connsiteX15" fmla="*/ 78590 w 256601"/>
                    <a:gd name="connsiteY15" fmla="*/ 100557 h 260956"/>
                    <a:gd name="connsiteX16" fmla="*/ 89385 w 256601"/>
                    <a:gd name="connsiteY16" fmla="*/ 100557 h 260956"/>
                    <a:gd name="connsiteX17" fmla="*/ 89385 w 256601"/>
                    <a:gd name="connsiteY17" fmla="*/ 169679 h 260956"/>
                    <a:gd name="connsiteX18" fmla="*/ 88627 w 256601"/>
                    <a:gd name="connsiteY18" fmla="*/ 192972 h 260956"/>
                    <a:gd name="connsiteX19" fmla="*/ 86544 w 256601"/>
                    <a:gd name="connsiteY19" fmla="*/ 211152 h 260956"/>
                    <a:gd name="connsiteX20" fmla="*/ 83324 w 256601"/>
                    <a:gd name="connsiteY20" fmla="*/ 225355 h 260956"/>
                    <a:gd name="connsiteX21" fmla="*/ 78969 w 256601"/>
                    <a:gd name="connsiteY21" fmla="*/ 236906 h 260956"/>
                    <a:gd name="connsiteX22" fmla="*/ 41662 w 256601"/>
                    <a:gd name="connsiteY22" fmla="*/ 236906 h 260956"/>
                    <a:gd name="connsiteX23" fmla="*/ 218727 w 256601"/>
                    <a:gd name="connsiteY23" fmla="*/ 49048 h 260956"/>
                    <a:gd name="connsiteX24" fmla="*/ 129911 w 256601"/>
                    <a:gd name="connsiteY24" fmla="*/ 49048 h 260956"/>
                    <a:gd name="connsiteX25" fmla="*/ 129911 w 256601"/>
                    <a:gd name="connsiteY25" fmla="*/ 71962 h 260956"/>
                    <a:gd name="connsiteX26" fmla="*/ 96581 w 256601"/>
                    <a:gd name="connsiteY26" fmla="*/ 71962 h 260956"/>
                    <a:gd name="connsiteX27" fmla="*/ 96581 w 256601"/>
                    <a:gd name="connsiteY27" fmla="*/ 18559 h 260956"/>
                    <a:gd name="connsiteX28" fmla="*/ 153961 w 256601"/>
                    <a:gd name="connsiteY28" fmla="*/ 18559 h 260956"/>
                    <a:gd name="connsiteX29" fmla="*/ 150742 w 256601"/>
                    <a:gd name="connsiteY29" fmla="*/ 8901 h 260956"/>
                    <a:gd name="connsiteX30" fmla="*/ 146954 w 256601"/>
                    <a:gd name="connsiteY30" fmla="*/ 0 h 260956"/>
                    <a:gd name="connsiteX31" fmla="*/ 188238 w 256601"/>
                    <a:gd name="connsiteY31" fmla="*/ 0 h 260956"/>
                    <a:gd name="connsiteX32" fmla="*/ 191457 w 256601"/>
                    <a:gd name="connsiteY32" fmla="*/ 8711 h 260956"/>
                    <a:gd name="connsiteX33" fmla="*/ 194676 w 256601"/>
                    <a:gd name="connsiteY33" fmla="*/ 18559 h 260956"/>
                    <a:gd name="connsiteX34" fmla="*/ 253382 w 256601"/>
                    <a:gd name="connsiteY34" fmla="*/ 18559 h 260956"/>
                    <a:gd name="connsiteX35" fmla="*/ 253382 w 256601"/>
                    <a:gd name="connsiteY35" fmla="*/ 71962 h 260956"/>
                    <a:gd name="connsiteX36" fmla="*/ 218916 w 256601"/>
                    <a:gd name="connsiteY36" fmla="*/ 71962 h 260956"/>
                    <a:gd name="connsiteX37" fmla="*/ 218916 w 256601"/>
                    <a:gd name="connsiteY37" fmla="*/ 49048 h 260956"/>
                    <a:gd name="connsiteX38" fmla="*/ 97906 w 256601"/>
                    <a:gd name="connsiteY38" fmla="*/ 260768 h 260956"/>
                    <a:gd name="connsiteX39" fmla="*/ 114761 w 256601"/>
                    <a:gd name="connsiteY39" fmla="*/ 219295 h 260956"/>
                    <a:gd name="connsiteX40" fmla="*/ 124797 w 256601"/>
                    <a:gd name="connsiteY40" fmla="*/ 165513 h 260956"/>
                    <a:gd name="connsiteX41" fmla="*/ 96770 w 256601"/>
                    <a:gd name="connsiteY41" fmla="*/ 165513 h 260956"/>
                    <a:gd name="connsiteX42" fmla="*/ 96770 w 256601"/>
                    <a:gd name="connsiteY42" fmla="*/ 132940 h 260956"/>
                    <a:gd name="connsiteX43" fmla="*/ 253193 w 256601"/>
                    <a:gd name="connsiteY43" fmla="*/ 132940 h 260956"/>
                    <a:gd name="connsiteX44" fmla="*/ 253193 w 256601"/>
                    <a:gd name="connsiteY44" fmla="*/ 165513 h 260956"/>
                    <a:gd name="connsiteX45" fmla="*/ 221946 w 256601"/>
                    <a:gd name="connsiteY45" fmla="*/ 165513 h 260956"/>
                    <a:gd name="connsiteX46" fmla="*/ 221946 w 256601"/>
                    <a:gd name="connsiteY46" fmla="*/ 228574 h 260956"/>
                    <a:gd name="connsiteX47" fmla="*/ 256601 w 256601"/>
                    <a:gd name="connsiteY47" fmla="*/ 228574 h 260956"/>
                    <a:gd name="connsiteX48" fmla="*/ 256601 w 256601"/>
                    <a:gd name="connsiteY48" fmla="*/ 260578 h 260956"/>
                    <a:gd name="connsiteX49" fmla="*/ 186723 w 256601"/>
                    <a:gd name="connsiteY49" fmla="*/ 260578 h 260956"/>
                    <a:gd name="connsiteX50" fmla="*/ 186723 w 256601"/>
                    <a:gd name="connsiteY50" fmla="*/ 165513 h 260956"/>
                    <a:gd name="connsiteX51" fmla="*/ 160589 w 256601"/>
                    <a:gd name="connsiteY51" fmla="*/ 165513 h 260956"/>
                    <a:gd name="connsiteX52" fmla="*/ 156802 w 256601"/>
                    <a:gd name="connsiteY52" fmla="*/ 196949 h 260956"/>
                    <a:gd name="connsiteX53" fmla="*/ 151878 w 256601"/>
                    <a:gd name="connsiteY53" fmla="*/ 221946 h 260956"/>
                    <a:gd name="connsiteX54" fmla="*/ 145628 w 256601"/>
                    <a:gd name="connsiteY54" fmla="*/ 242398 h 260956"/>
                    <a:gd name="connsiteX55" fmla="*/ 138243 w 256601"/>
                    <a:gd name="connsiteY55" fmla="*/ 260578 h 260956"/>
                    <a:gd name="connsiteX56" fmla="*/ 97906 w 256601"/>
                    <a:gd name="connsiteY56" fmla="*/ 260578 h 260956"/>
                    <a:gd name="connsiteX57" fmla="*/ 240884 w 256601"/>
                    <a:gd name="connsiteY57" fmla="*/ 81999 h 260956"/>
                    <a:gd name="connsiteX58" fmla="*/ 240884 w 256601"/>
                    <a:gd name="connsiteY58" fmla="*/ 113245 h 260956"/>
                    <a:gd name="connsiteX59" fmla="*/ 105671 w 256601"/>
                    <a:gd name="connsiteY59" fmla="*/ 113245 h 260956"/>
                    <a:gd name="connsiteX60" fmla="*/ 105671 w 256601"/>
                    <a:gd name="connsiteY60" fmla="*/ 81999 h 260956"/>
                    <a:gd name="connsiteX61" fmla="*/ 240884 w 256601"/>
                    <a:gd name="connsiteY61" fmla="*/ 81999 h 260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</a:cxnLst>
                  <a:rect l="l" t="t" r="r" b="b"/>
                  <a:pathLst>
                    <a:path w="256601" h="260956">
                      <a:moveTo>
                        <a:pt x="41662" y="236906"/>
                      </a:moveTo>
                      <a:cubicBezTo>
                        <a:pt x="46965" y="227817"/>
                        <a:pt x="50942" y="217969"/>
                        <a:pt x="53782" y="207554"/>
                      </a:cubicBezTo>
                      <a:cubicBezTo>
                        <a:pt x="56433" y="197138"/>
                        <a:pt x="57759" y="184450"/>
                        <a:pt x="57759" y="169679"/>
                      </a:cubicBezTo>
                      <a:lnTo>
                        <a:pt x="57759" y="128963"/>
                      </a:lnTo>
                      <a:lnTo>
                        <a:pt x="44882" y="128963"/>
                      </a:lnTo>
                      <a:cubicBezTo>
                        <a:pt x="48101" y="111162"/>
                        <a:pt x="50942" y="94308"/>
                        <a:pt x="53214" y="78590"/>
                      </a:cubicBezTo>
                      <a:cubicBezTo>
                        <a:pt x="55487" y="62683"/>
                        <a:pt x="57191" y="48290"/>
                        <a:pt x="58138" y="35413"/>
                      </a:cubicBezTo>
                      <a:lnTo>
                        <a:pt x="32572" y="35413"/>
                      </a:lnTo>
                      <a:lnTo>
                        <a:pt x="32572" y="260957"/>
                      </a:lnTo>
                      <a:lnTo>
                        <a:pt x="0" y="260957"/>
                      </a:lnTo>
                      <a:lnTo>
                        <a:pt x="0" y="6628"/>
                      </a:lnTo>
                      <a:lnTo>
                        <a:pt x="89953" y="6628"/>
                      </a:lnTo>
                      <a:cubicBezTo>
                        <a:pt x="89195" y="15339"/>
                        <a:pt x="88438" y="23861"/>
                        <a:pt x="87491" y="31625"/>
                      </a:cubicBezTo>
                      <a:cubicBezTo>
                        <a:pt x="86544" y="39579"/>
                        <a:pt x="85786" y="47343"/>
                        <a:pt x="84840" y="54918"/>
                      </a:cubicBezTo>
                      <a:cubicBezTo>
                        <a:pt x="83893" y="62493"/>
                        <a:pt x="82946" y="70068"/>
                        <a:pt x="81810" y="77643"/>
                      </a:cubicBezTo>
                      <a:cubicBezTo>
                        <a:pt x="80673" y="85029"/>
                        <a:pt x="79727" y="92793"/>
                        <a:pt x="78590" y="100557"/>
                      </a:cubicBezTo>
                      <a:lnTo>
                        <a:pt x="89385" y="100557"/>
                      </a:lnTo>
                      <a:lnTo>
                        <a:pt x="89385" y="169679"/>
                      </a:lnTo>
                      <a:cubicBezTo>
                        <a:pt x="89385" y="178390"/>
                        <a:pt x="89195" y="186344"/>
                        <a:pt x="88627" y="192972"/>
                      </a:cubicBezTo>
                      <a:cubicBezTo>
                        <a:pt x="88059" y="199789"/>
                        <a:pt x="87491" y="205849"/>
                        <a:pt x="86544" y="211152"/>
                      </a:cubicBezTo>
                      <a:cubicBezTo>
                        <a:pt x="85597" y="216454"/>
                        <a:pt x="84650" y="221188"/>
                        <a:pt x="83324" y="225355"/>
                      </a:cubicBezTo>
                      <a:cubicBezTo>
                        <a:pt x="81999" y="229521"/>
                        <a:pt x="80484" y="233308"/>
                        <a:pt x="78969" y="236906"/>
                      </a:cubicBezTo>
                      <a:lnTo>
                        <a:pt x="41662" y="236906"/>
                      </a:lnTo>
                      <a:close/>
                      <a:moveTo>
                        <a:pt x="218727" y="49048"/>
                      </a:moveTo>
                      <a:lnTo>
                        <a:pt x="129911" y="49048"/>
                      </a:lnTo>
                      <a:lnTo>
                        <a:pt x="129911" y="71962"/>
                      </a:lnTo>
                      <a:lnTo>
                        <a:pt x="96581" y="71962"/>
                      </a:lnTo>
                      <a:lnTo>
                        <a:pt x="96581" y="18559"/>
                      </a:lnTo>
                      <a:lnTo>
                        <a:pt x="153961" y="18559"/>
                      </a:lnTo>
                      <a:cubicBezTo>
                        <a:pt x="153014" y="15339"/>
                        <a:pt x="151878" y="12120"/>
                        <a:pt x="150742" y="8901"/>
                      </a:cubicBezTo>
                      <a:cubicBezTo>
                        <a:pt x="149416" y="5681"/>
                        <a:pt x="148280" y="2651"/>
                        <a:pt x="146954" y="0"/>
                      </a:cubicBezTo>
                      <a:lnTo>
                        <a:pt x="188238" y="0"/>
                      </a:lnTo>
                      <a:cubicBezTo>
                        <a:pt x="189184" y="2462"/>
                        <a:pt x="190321" y="5492"/>
                        <a:pt x="191457" y="8711"/>
                      </a:cubicBezTo>
                      <a:cubicBezTo>
                        <a:pt x="192593" y="12120"/>
                        <a:pt x="193729" y="15339"/>
                        <a:pt x="194676" y="18559"/>
                      </a:cubicBezTo>
                      <a:lnTo>
                        <a:pt x="253382" y="18559"/>
                      </a:lnTo>
                      <a:lnTo>
                        <a:pt x="253382" y="71962"/>
                      </a:lnTo>
                      <a:lnTo>
                        <a:pt x="218916" y="71962"/>
                      </a:lnTo>
                      <a:lnTo>
                        <a:pt x="218916" y="49048"/>
                      </a:lnTo>
                      <a:close/>
                      <a:moveTo>
                        <a:pt x="97906" y="260768"/>
                      </a:moveTo>
                      <a:cubicBezTo>
                        <a:pt x="104345" y="248269"/>
                        <a:pt x="110026" y="234634"/>
                        <a:pt x="114761" y="219295"/>
                      </a:cubicBezTo>
                      <a:cubicBezTo>
                        <a:pt x="119495" y="204145"/>
                        <a:pt x="122904" y="186154"/>
                        <a:pt x="124797" y="165513"/>
                      </a:cubicBezTo>
                      <a:lnTo>
                        <a:pt x="96770" y="165513"/>
                      </a:lnTo>
                      <a:lnTo>
                        <a:pt x="96770" y="132940"/>
                      </a:lnTo>
                      <a:lnTo>
                        <a:pt x="253193" y="132940"/>
                      </a:lnTo>
                      <a:lnTo>
                        <a:pt x="253193" y="165513"/>
                      </a:lnTo>
                      <a:lnTo>
                        <a:pt x="221946" y="165513"/>
                      </a:lnTo>
                      <a:lnTo>
                        <a:pt x="221946" y="228574"/>
                      </a:lnTo>
                      <a:lnTo>
                        <a:pt x="256601" y="228574"/>
                      </a:lnTo>
                      <a:lnTo>
                        <a:pt x="256601" y="260578"/>
                      </a:lnTo>
                      <a:lnTo>
                        <a:pt x="186723" y="260578"/>
                      </a:lnTo>
                      <a:lnTo>
                        <a:pt x="186723" y="165513"/>
                      </a:lnTo>
                      <a:lnTo>
                        <a:pt x="160589" y="165513"/>
                      </a:lnTo>
                      <a:cubicBezTo>
                        <a:pt x="159453" y="177443"/>
                        <a:pt x="158127" y="187859"/>
                        <a:pt x="156802" y="196949"/>
                      </a:cubicBezTo>
                      <a:cubicBezTo>
                        <a:pt x="155286" y="206039"/>
                        <a:pt x="153772" y="214371"/>
                        <a:pt x="151878" y="221946"/>
                      </a:cubicBezTo>
                      <a:cubicBezTo>
                        <a:pt x="149984" y="229332"/>
                        <a:pt x="147901" y="236149"/>
                        <a:pt x="145628" y="242398"/>
                      </a:cubicBezTo>
                      <a:cubicBezTo>
                        <a:pt x="143356" y="248648"/>
                        <a:pt x="140894" y="254708"/>
                        <a:pt x="138243" y="260578"/>
                      </a:cubicBezTo>
                      <a:lnTo>
                        <a:pt x="97906" y="260578"/>
                      </a:lnTo>
                      <a:close/>
                      <a:moveTo>
                        <a:pt x="240884" y="81999"/>
                      </a:moveTo>
                      <a:lnTo>
                        <a:pt x="240884" y="113245"/>
                      </a:lnTo>
                      <a:lnTo>
                        <a:pt x="105671" y="113245"/>
                      </a:lnTo>
                      <a:lnTo>
                        <a:pt x="105671" y="81999"/>
                      </a:lnTo>
                      <a:lnTo>
                        <a:pt x="240884" y="81999"/>
                      </a:lnTo>
                      <a:close/>
                    </a:path>
                  </a:pathLst>
                </a:custGeom>
                <a:grpFill/>
                <a:ln w="1894" cap="flat">
                  <a:noFill/>
                  <a:prstDash val="solid"/>
                  <a:miter/>
                </a:ln>
              </p:spPr>
              <p:txBody>
                <a:bodyPr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  <a:cs typeface="+mn-cs"/>
                  </a:endParaRPr>
                </a:p>
              </p:txBody>
            </p:sp>
          </p:grpSp>
        </p:grpSp>
        <p:pic>
          <p:nvPicPr>
            <p:cNvPr id="3077" name="图形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4642" y="741050"/>
              <a:ext cx="1386675" cy="316260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9" name="直接连接符 9"/>
            <p:cNvCxnSpPr/>
            <p:nvPr/>
          </p:nvCxnSpPr>
          <p:spPr>
            <a:xfrm>
              <a:off x="9879250" y="751395"/>
              <a:ext cx="0" cy="295570"/>
            </a:xfrm>
            <a:prstGeom prst="line">
              <a:avLst/>
            </a:prstGeom>
            <a:ln w="5080">
              <a:solidFill>
                <a:srgbClr val="00409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"/>
          <p:cNvSpPr/>
          <p:nvPr/>
        </p:nvSpPr>
        <p:spPr>
          <a:xfrm>
            <a:off x="0" y="252413"/>
            <a:ext cx="404813" cy="155575"/>
          </a:xfrm>
          <a:custGeom>
            <a:avLst/>
            <a:gdLst>
              <a:gd name="connsiteX0" fmla="*/ 0 w 539552"/>
              <a:gd name="connsiteY0" fmla="*/ 0 h 205898"/>
              <a:gd name="connsiteX1" fmla="*/ 436603 w 539552"/>
              <a:gd name="connsiteY1" fmla="*/ 0 h 205898"/>
              <a:gd name="connsiteX2" fmla="*/ 539552 w 539552"/>
              <a:gd name="connsiteY2" fmla="*/ 102949 h 205898"/>
              <a:gd name="connsiteX3" fmla="*/ 436603 w 539552"/>
              <a:gd name="connsiteY3" fmla="*/ 205898 h 205898"/>
              <a:gd name="connsiteX4" fmla="*/ 0 w 539552"/>
              <a:gd name="connsiteY4" fmla="*/ 205898 h 20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52" h="205898">
                <a:moveTo>
                  <a:pt x="0" y="0"/>
                </a:moveTo>
                <a:lnTo>
                  <a:pt x="436603" y="0"/>
                </a:lnTo>
                <a:cubicBezTo>
                  <a:pt x="493460" y="0"/>
                  <a:pt x="539552" y="46092"/>
                  <a:pt x="539552" y="102949"/>
                </a:cubicBezTo>
                <a:cubicBezTo>
                  <a:pt x="539552" y="159806"/>
                  <a:pt x="493460" y="205898"/>
                  <a:pt x="436603" y="205898"/>
                </a:cubicBezTo>
                <a:lnTo>
                  <a:pt x="0" y="205898"/>
                </a:lnTo>
                <a:close/>
              </a:path>
            </a:pathLst>
          </a:custGeom>
          <a:solidFill>
            <a:srgbClr val="5757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4099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1563" y="4776788"/>
            <a:ext cx="2992437" cy="366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99295" y="87766"/>
            <a:ext cx="8170112" cy="591554"/>
          </a:xfrm>
          <a:prstGeom prst="rect">
            <a:avLst/>
          </a:prstGeom>
        </p:spPr>
        <p:txBody>
          <a:bodyPr/>
          <a:lstStyle>
            <a:lvl1pPr>
              <a:defRPr lang="zh-CN" altLang="en-US" sz="2000" b="0" i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 hasCustomPrompt="1"/>
          </p:nvPr>
        </p:nvSpPr>
        <p:spPr>
          <a:xfrm>
            <a:off x="484532" y="789973"/>
            <a:ext cx="8184875" cy="3860919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20000"/>
              </a:lnSpc>
              <a:defRPr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"/>
          <p:cNvSpPr/>
          <p:nvPr/>
        </p:nvSpPr>
        <p:spPr>
          <a:xfrm>
            <a:off x="0" y="252413"/>
            <a:ext cx="404813" cy="155575"/>
          </a:xfrm>
          <a:custGeom>
            <a:avLst/>
            <a:gdLst>
              <a:gd name="connsiteX0" fmla="*/ 0 w 539552"/>
              <a:gd name="connsiteY0" fmla="*/ 0 h 205898"/>
              <a:gd name="connsiteX1" fmla="*/ 436603 w 539552"/>
              <a:gd name="connsiteY1" fmla="*/ 0 h 205898"/>
              <a:gd name="connsiteX2" fmla="*/ 539552 w 539552"/>
              <a:gd name="connsiteY2" fmla="*/ 102949 h 205898"/>
              <a:gd name="connsiteX3" fmla="*/ 436603 w 539552"/>
              <a:gd name="connsiteY3" fmla="*/ 205898 h 205898"/>
              <a:gd name="connsiteX4" fmla="*/ 0 w 539552"/>
              <a:gd name="connsiteY4" fmla="*/ 205898 h 20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552" h="205898">
                <a:moveTo>
                  <a:pt x="0" y="0"/>
                </a:moveTo>
                <a:lnTo>
                  <a:pt x="436603" y="0"/>
                </a:lnTo>
                <a:cubicBezTo>
                  <a:pt x="493460" y="0"/>
                  <a:pt x="539552" y="46092"/>
                  <a:pt x="539552" y="102949"/>
                </a:cubicBezTo>
                <a:cubicBezTo>
                  <a:pt x="539552" y="159806"/>
                  <a:pt x="493460" y="205898"/>
                  <a:pt x="436603" y="205898"/>
                </a:cubicBezTo>
                <a:lnTo>
                  <a:pt x="0" y="205898"/>
                </a:lnTo>
                <a:close/>
              </a:path>
            </a:pathLst>
          </a:custGeom>
          <a:solidFill>
            <a:srgbClr val="57575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5123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51563" y="4776788"/>
            <a:ext cx="2992437" cy="3667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99295" y="87766"/>
            <a:ext cx="8170112" cy="591554"/>
          </a:xfrm>
          <a:prstGeom prst="rect">
            <a:avLst/>
          </a:prstGeom>
        </p:spPr>
        <p:txBody>
          <a:bodyPr/>
          <a:lstStyle>
            <a:lvl1pPr>
              <a:defRPr lang="zh-CN" altLang="en-US" sz="2700" b="0" i="0" dirty="0" smtClean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67150" cy="326350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69218"/>
            <a:ext cx="3867150" cy="326350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9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9" y="1878806"/>
            <a:ext cx="3868737" cy="276344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43"/>
            <a:ext cx="1971675" cy="4358879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273843"/>
            <a:ext cx="5762625" cy="4358879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二级</a:t>
            </a:r>
          </a:p>
          <a:p>
            <a:pPr lvl="2" fontAlgn="base"/>
            <a:r>
              <a:rPr lang="zh-CN" altLang="en-US" strike="noStrike" noProof="1"/>
              <a:t>三级</a:t>
            </a:r>
          </a:p>
          <a:p>
            <a:pPr lvl="3" fontAlgn="base"/>
            <a:r>
              <a:rPr lang="zh-CN" altLang="en-US" strike="noStrike" noProof="1"/>
              <a:t>四级</a:t>
            </a:r>
          </a:p>
          <a:p>
            <a:pPr lvl="4" fontAlgn="base"/>
            <a:r>
              <a:rPr lang="zh-CN" altLang="en-US" strike="noStrike" noProof="1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12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E1D5F7-565F-F344-A454-F6D13B7537AB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1" sz="12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767676"/>
                </a:solidFill>
                <a:ea typeface="微软雅黑" panose="020B0503020204020204" pitchFamily="34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628650" y="1368425"/>
            <a:ext cx="7886700" cy="32639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kumimoji="1" sz="9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EDF457E-596C-4D47-B7B2-93A662AC84EA}" type="datetimeFigureOut">
              <a:rPr kumimoji="1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rPr>
              <a:t>2026/7/1</a:t>
            </a:fld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kumimoji="1" sz="900" b="0" i="0">
                <a:solidFill>
                  <a:schemeClr val="tx1">
                    <a:tint val="82000"/>
                  </a:schemeClr>
                </a:solidFill>
                <a:ea typeface="Microsoft YaHei" panose="020B0503020204020204" pitchFamily="34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Arial" panose="020B0604020202090204" pitchFamily="34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767676"/>
                </a:solidFill>
                <a:ea typeface="微软雅黑" panose="020B0503020204020204" pitchFamily="34" charset="-122"/>
              </a:defRPr>
            </a:lvl1pPr>
          </a:lstStyle>
          <a:p>
            <a:pPr lvl="0" fontAlgn="base">
              <a:buNone/>
            </a:pPr>
            <a:fld id="{9A0DB2DC-4C9A-4742-B13C-FB6460FD3503}" type="slidenum">
              <a:rPr lang="zh-CN" altLang="en-US" strike="noStrike" noProof="1"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90204" pitchFamily="34" charset="0"/>
        <a:buChar char="•"/>
        <a:defRPr sz="1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069975" y="2134235"/>
            <a:ext cx="7181850" cy="1087755"/>
          </a:xfrm>
        </p:spPr>
        <p:txBody>
          <a:bodyPr vert="horz" wrap="square" lIns="91440" tIns="45720" rIns="91440" bIns="45720" numCol="1" rtlCol="0" anchor="ctr" anchorCtr="0" compatLnSpc="1">
            <a:spAutoFit/>
          </a:bodyPr>
          <a:lstStyle>
            <a:lvl1pPr lvl="0">
              <a:buClrTx/>
              <a:buSzTx/>
              <a:buFontTx/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600" b="1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W1D4</a:t>
            </a:r>
            <a:r>
              <a:rPr kumimoji="0" lang="zh-CN" altLang="en-US" sz="3600" b="1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：</a:t>
            </a:r>
            <a:r>
              <a:rPr kumimoji="0" lang="en-US" altLang="zh-CN" sz="3600" b="1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Linux</a:t>
            </a:r>
            <a:r>
              <a:rPr kumimoji="0" lang="zh-CN" altLang="en-US" sz="3600" b="1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操作系统并发编程之多进程</a:t>
            </a:r>
          </a:p>
        </p:txBody>
      </p:sp>
      <p:sp>
        <p:nvSpPr>
          <p:cNvPr id="7170" name="MH_Entry_1">
            <a:hlinkClick r:id="" action="ppaction://noaction"/>
          </p:cNvPr>
          <p:cNvSpPr/>
          <p:nvPr>
            <p:custDataLst>
              <p:tags r:id="rId1"/>
            </p:custDataLst>
          </p:nvPr>
        </p:nvSpPr>
        <p:spPr>
          <a:xfrm>
            <a:off x="890588" y="3292475"/>
            <a:ext cx="7361237" cy="774700"/>
          </a:xfrm>
          <a:custGeom>
            <a:avLst/>
            <a:gdLst>
              <a:gd name="txL" fmla="*/ 0 w 3064329"/>
              <a:gd name="txT" fmla="*/ 0 h 437055"/>
              <a:gd name="txR" fmla="*/ 3064329 w 3064329"/>
              <a:gd name="txB" fmla="*/ 437055 h 437055"/>
            </a:gdLst>
            <a:ahLst/>
            <a:cxnLst>
              <a:cxn ang="0">
                <a:pos x="238035976" y="6324394"/>
              </a:cxn>
              <a:cxn ang="0">
                <a:pos x="0" y="6324394"/>
              </a:cxn>
              <a:cxn ang="0">
                <a:pos x="0" y="0"/>
              </a:cxn>
              <a:cxn ang="0">
                <a:pos x="238035976" y="0"/>
              </a:cxn>
            </a:cxnLst>
            <a:rect l="txL" t="txT" r="txR" b="txB"/>
            <a:pathLst>
              <a:path w="3064329" h="437055">
                <a:moveTo>
                  <a:pt x="3064329" y="437055"/>
                </a:moveTo>
                <a:lnTo>
                  <a:pt x="0" y="437055"/>
                </a:lnTo>
                <a:lnTo>
                  <a:pt x="0" y="0"/>
                </a:lnTo>
                <a:lnTo>
                  <a:pt x="3064329" y="0"/>
                </a:lnTo>
              </a:path>
            </a:pathLst>
          </a:custGeom>
          <a:noFill/>
          <a:ln w="3175">
            <a:noFill/>
          </a:ln>
        </p:spPr>
        <p:txBody>
          <a:bodyPr lIns="360000" tIns="0" rIns="0" bIns="0" anchor="ctr" anchorCtr="0"/>
          <a:lstStyle/>
          <a:p>
            <a:pPr>
              <a:lnSpc>
                <a:spcPct val="150000"/>
              </a:lnSpc>
              <a:buFontTx/>
            </a:pPr>
            <a:endParaRPr lang="en-US" altLang="zh-CN" sz="2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buFontTx/>
            </a:pPr>
            <a:r>
              <a:rPr lang="en-US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en-US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Server</a:t>
            </a:r>
            <a:r>
              <a:rPr lang="zh-CN" altLang="zh-CN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</a:t>
            </a:r>
          </a:p>
          <a:p>
            <a:pPr>
              <a:lnSpc>
                <a:spcPct val="150000"/>
              </a:lnSpc>
              <a:buFontTx/>
            </a:pPr>
            <a:endParaRPr lang="zh-CN" altLang="en-US" sz="2800" b="1">
              <a:solidFill>
                <a:srgbClr val="0070C0"/>
              </a:solidFill>
              <a:latin typeface="微软雅黑" panose="020B0503020204020204" pitchFamily="34" charset="-122"/>
              <a:ea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5"/>
          <p:cNvSpPr txBox="1">
            <a:spLocks noGrp="1"/>
          </p:cNvSpPr>
          <p:nvPr/>
        </p:nvSpPr>
        <p:spPr>
          <a:xfrm>
            <a:off x="7488238" y="4948238"/>
            <a:ext cx="385762" cy="1476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>
              <a:buFont typeface="Arial" panose="020B0604020202090204" pitchFamily="34" charset="0"/>
            </a:pPr>
            <a:r>
              <a:rPr lang="zh-CN" altLang="en-US" sz="1000"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pic>
        <p:nvPicPr>
          <p:cNvPr id="8194" name="Picture 2" descr="j01494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88" y="2627313"/>
            <a:ext cx="2284412" cy="2320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Rectangle 3"/>
          <p:cNvSpPr>
            <a:spLocks noGrp="1" noChangeArrowheads="1"/>
          </p:cNvSpPr>
          <p:nvPr>
            <p:ph type="title"/>
          </p:nvPr>
        </p:nvSpPr>
        <p:spPr>
          <a:xfrm>
            <a:off x="500063" y="87313"/>
            <a:ext cx="8169275" cy="592138"/>
          </a:xfrm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1">
                <a:solidFill>
                  <a:srgbClr val="0070C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讲授内容</a:t>
            </a:r>
          </a:p>
        </p:txBody>
      </p:sp>
      <p:sp>
        <p:nvSpPr>
          <p:cNvPr id="8196" name="Rectangle 4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训练目的</a:t>
            </a:r>
            <a:endParaRPr lang="en-US" altLang="zh-CN" sz="2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训练原理</a:t>
            </a:r>
            <a:endParaRPr lang="en-US" altLang="zh-CN" sz="2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训练内容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Linux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操作系统并发编程之多进程</a:t>
            </a:r>
          </a:p>
        </p:txBody>
      </p:sp>
      <p:sp>
        <p:nvSpPr>
          <p:cNvPr id="9218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训练目的</a:t>
            </a:r>
            <a:endParaRPr lang="en-US" altLang="zh-CN" sz="2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UNIX/Linux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系统创建进程的方法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掌握在代码中如何区别父子进程的方法</a:t>
            </a: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掌握父子进程之间的资源共享与异同</a:t>
            </a: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掌握等待子进程执行结束的方法</a:t>
            </a: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掌握在进程中执行另外一个可执行文件的方法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Linux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操作系统并发编程之多进程</a:t>
            </a:r>
          </a:p>
        </p:txBody>
      </p:sp>
      <p:sp>
        <p:nvSpPr>
          <p:cNvPr id="11266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3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训练目的</a:t>
            </a:r>
            <a:endParaRPr lang="en-US" altLang="zh-CN" sz="3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了解生产者消费者问题中同步互斥的基本概念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XSI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信号量集机制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XSI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共享内存机制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中多进程协同工作的程序设计思想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26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训练原理：创建子进程</a:t>
            </a:r>
          </a:p>
        </p:txBody>
      </p:sp>
      <p:sp>
        <p:nvSpPr>
          <p:cNvPr id="13314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函数原型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头文件：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unistd.h</a:t>
            </a:r>
            <a:endParaRPr lang="zh-CN" altLang="en-US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pid_t fork(void);</a:t>
            </a:r>
          </a:p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返回值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900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</a:t>
            </a:r>
            <a:r>
              <a:rPr lang="zh-CN" altLang="en-US" sz="1900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函数被正确调用后，将会在子进程中和父进程中分别返回！！</a:t>
            </a:r>
            <a:endParaRPr lang="zh-CN" altLang="en-US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948055" lvl="2" indent="-21463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在子进程中返回值为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（不合法的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，因为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的进程是交换进程）</a:t>
            </a:r>
          </a:p>
          <a:p>
            <a:pPr marL="948055" lvl="2" indent="-21463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在父进程中返回值为子进程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（让父进程掌握其创建子进程的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号）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出错返回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-1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训练原理：创建子进程示例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395288" y="679450"/>
            <a:ext cx="3960813" cy="4354513"/>
          </a:xfrm>
          <a:ln w="28575">
            <a:solidFill>
              <a:schemeClr val="accent1"/>
            </a:solidFill>
          </a:ln>
        </p:spPr>
        <p:txBody>
          <a:bodyPr vert="horz" wrap="square" lIns="0" tIns="8229" rIns="0" bIns="0" numCol="1" rtlCol="0" anchor="t" anchorCtr="0" compatLnSpc="1">
            <a:noAutofit/>
          </a:bodyPr>
          <a:lstStyle/>
          <a:p>
            <a:pPr marL="323850" marR="0" lvl="0" indent="-243205" algn="l" defTabSz="337185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main(void){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pid_t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;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=fork();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if(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==-1)</a:t>
            </a:r>
          </a:p>
          <a:p>
            <a:pPr marL="923925" marR="0" lvl="2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rintf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(“fork error\n”);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else if(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==0)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{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(“the returned value is %d\n”,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);</a:t>
            </a:r>
          </a:p>
          <a:p>
            <a:pPr marL="923925" marR="0" lvl="2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(“in child process!!\n”);</a:t>
            </a:r>
          </a:p>
          <a:p>
            <a:pPr marL="923925" marR="0" lvl="2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(“My PID is %d\n”,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getpid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();}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else{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(“the returned value is %d\n”,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);</a:t>
            </a:r>
          </a:p>
          <a:p>
            <a:pPr marL="923925" marR="0" lvl="2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rintf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(“in father process!!\n”);</a:t>
            </a:r>
          </a:p>
          <a:p>
            <a:pPr marL="923925" marR="0" lvl="2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(“My PID is %d\n”,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getpid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();}</a:t>
            </a:r>
          </a:p>
          <a:p>
            <a:pPr marL="624205" marR="0" lvl="1" indent="-24320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return 0;</a:t>
            </a:r>
          </a:p>
          <a:p>
            <a:pPr marL="323850" marR="0" lvl="0" indent="-243205" algn="l" defTabSz="337185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}</a:t>
            </a:r>
          </a:p>
          <a:p>
            <a:pPr marL="647700" marR="0" lvl="1" indent="-215265" algn="l" defTabSz="337185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pic>
        <p:nvPicPr>
          <p:cNvPr id="15363" name="图片 2" descr="图片包含 屏幕截图&#13;&#10;&#13;&#10;已生成极高可信度的说明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938" y="1595438"/>
            <a:ext cx="4489450" cy="1036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fork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函数执行后父子进程的异同</a:t>
            </a:r>
            <a:endParaRPr lang="zh-CN" altLang="en-US" kern="12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>
            <a:solidFill>
              <a:schemeClr val="tx1"/>
            </a:solidFill>
          </a:ln>
          <a:effectLst>
            <a:outerShdw dist="53882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pPr marL="228600" marR="0" indent="-228600" algn="l" defTabSz="914400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父子进程相同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真实用户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，真实组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有效用户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，有效组</a:t>
            </a:r>
            <a:r>
              <a:rPr kumimoji="0" lang="en-US" altLang="zh-CN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endParaRPr kumimoji="0" lang="zh-CN" altLang="en-US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当前工作目录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文件模式掩码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信号量掩码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环境变量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堆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栈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kumimoji="0" lang="zh-CN" altLang="en-US" sz="2000" b="1" i="0" u="none" strike="noStrike" kern="1200" cap="none" spc="0" normalizeH="0" baseline="0" noProof="1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文件表（打开的文件）</a:t>
            </a:r>
            <a:endParaRPr kumimoji="0" lang="en-US" altLang="zh-CN" sz="2000" b="1" i="0" u="none" strike="noStrike" kern="1200" cap="none" spc="0" normalizeH="0" baseline="0" noProof="1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4503738" y="706438"/>
            <a:ext cx="4141788" cy="410368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61593" tIns="30796" rIns="61593" bIns="30796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</a:pPr>
            <a:r>
              <a:rPr kumimoji="0" lang="zh-CN" altLang="en-US" sz="2100" b="1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父子进程差异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fork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的返回值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进程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ID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父进程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ID</a:t>
            </a:r>
            <a:endParaRPr kumimoji="0" lang="zh-CN" altLang="en-US" sz="1800" b="0" i="0" u="none" strike="noStrike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子进程的 </a:t>
            </a:r>
            <a:endParaRPr kumimoji="0" lang="en-US" altLang="zh-CN" sz="1800" b="0" i="0" u="none" strike="noStrike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  <a:p>
            <a:pPr marL="85725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tms_utime, tms_stime ,</a:t>
            </a:r>
          </a:p>
          <a:p>
            <a:pPr marL="85725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tms_cutime,tms_ustime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值</a:t>
            </a:r>
            <a:endParaRPr kumimoji="0" lang="en-US" altLang="zh-CN" sz="1800" b="0" i="0" u="none" strike="noStrike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  <a:p>
            <a:pPr marL="85725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被设置为 </a:t>
            </a:r>
            <a:r>
              <a:rPr kumimoji="0" lang="en-US" altLang="zh-CN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0</a:t>
            </a:r>
            <a:endParaRPr kumimoji="0" lang="zh-CN" altLang="en-US" sz="1800" b="0" i="0" u="none" strike="noStrike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微软雅黑" panose="020B0503020204020204" pitchFamily="34" charset="-122"/>
                <a:cs typeface="+mn-cs"/>
              </a:rPr>
              <a:t>文件锁</a:t>
            </a:r>
            <a:endParaRPr kumimoji="0" lang="en-US" altLang="zh-CN" sz="1800" b="0" i="0" u="none" strike="noStrike" kern="1200" cap="none" spc="0" normalizeH="0" baseline="0" noProof="1">
              <a:solidFill>
                <a:schemeClr val="bg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 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fork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的用法</a:t>
            </a:r>
          </a:p>
        </p:txBody>
      </p:sp>
      <p:sp>
        <p:nvSpPr>
          <p:cNvPr id="82946" name="Rectangle 3"/>
          <p:cNvSpPr>
            <a:spLocks noGrp="1"/>
          </p:cNvSpPr>
          <p:nvPr>
            <p:ph idx="1" hasCustomPrompt="1"/>
          </p:nvPr>
        </p:nvSpPr>
        <p:spPr>
          <a:xfrm>
            <a:off x="395288" y="842963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父进程希望复制自己（共享代码，拷贝数据空间），但使父子进程执行相同代码中的不同分支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网络服务程序中，父进程等待客户端的服务请求，当请求达到时，父进程调用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，使子进程处理该次请求，而父进程继续等待下一个服务请求到达</a:t>
            </a:r>
          </a:p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父子进程执行不同的可执行文件（父子进程具有完全不同的代码段和数据空间）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子进程从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返回后，立即</a:t>
            </a:r>
            <a:r>
              <a:rPr lang="zh-CN" altLang="en-US" sz="21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lang="en-US" altLang="zh-CN" sz="21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1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另外一个可执行文件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2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2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训练原理：在进程中执行可执行文件</a:t>
            </a:r>
          </a:p>
        </p:txBody>
      </p:sp>
      <p:sp>
        <p:nvSpPr>
          <p:cNvPr id="21506" name="Rectangle 3"/>
          <p:cNvSpPr>
            <a:spLocks noGrp="1"/>
          </p:cNvSpPr>
          <p:nvPr>
            <p:ph idx="1" hasCustomPrompt="1"/>
          </p:nvPr>
        </p:nvSpPr>
        <p:spPr>
          <a:xfrm>
            <a:off x="473075" y="679450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79375" indent="0" defTabSz="336550" eaLnBrk="1" hangingPunct="1">
              <a:lnSpc>
                <a:spcPct val="150000"/>
              </a:lnSpc>
              <a:spcBef>
                <a:spcPts val="400"/>
              </a:spcBef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进程调用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系列函数在进程中加载执行另外一个可执行文件</a:t>
            </a:r>
          </a:p>
          <a:p>
            <a:pPr marL="79375" indent="0" defTabSz="336550" eaLnBrk="1" hangingPunct="1">
              <a:lnSpc>
                <a:spcPct val="150000"/>
              </a:lnSpc>
              <a:spcBef>
                <a:spcPts val="40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系列函数</a:t>
            </a:r>
            <a:r>
              <a:rPr lang="zh-CN" altLang="en-US" sz="20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替换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了当前进程（执行该函数的进程）的正文段、数据段、堆和栈（来源于加载的可执行文件）</a:t>
            </a:r>
            <a:endParaRPr lang="en-US" altLang="zh-CN" sz="2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9375" indent="0" defTabSz="336550" eaLnBrk="1" hangingPunct="1">
              <a:lnSpc>
                <a:spcPct val="150000"/>
              </a:lnSpc>
              <a:spcBef>
                <a:spcPts val="40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执行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系列函数后从加载可执行文件的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函数开始重新执行</a:t>
            </a:r>
          </a:p>
          <a:p>
            <a:pPr marL="79375" indent="0" defTabSz="336550" eaLnBrk="1" hangingPunct="1">
              <a:lnSpc>
                <a:spcPct val="150000"/>
              </a:lnSpc>
              <a:spcBef>
                <a:spcPts val="40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系列函数并不创建新进程，所以在调用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系列函数后其进程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并未改变，已经打开的文件描述符不变</a:t>
            </a:r>
            <a:endParaRPr lang="en-US" altLang="zh-CN" sz="2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9375" indent="0" defTabSz="336550" eaLnBrk="1" hangingPunct="1">
              <a:lnSpc>
                <a:spcPct val="150000"/>
              </a:lnSpc>
              <a:spcBef>
                <a:spcPts val="40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1507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625" y="3148013"/>
            <a:ext cx="2608263" cy="1652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进程的资源</a:t>
            </a:r>
          </a:p>
        </p:txBody>
      </p:sp>
      <p:graphicFrame>
        <p:nvGraphicFramePr>
          <p:cNvPr id="46082" name="内容占位符 46081"/>
          <p:cNvGraphicFramePr>
            <a:graphicFrameLocks noGrp="1"/>
          </p:cNvGraphicFramePr>
          <p:nvPr>
            <p:ph idx="1" hasCustomPrompt="1"/>
          </p:nvPr>
        </p:nvGraphicFramePr>
        <p:xfrm>
          <a:off x="484188" y="790575"/>
          <a:ext cx="4124325" cy="3479800"/>
        </p:xfrm>
        <a:graphic>
          <a:graphicData uri="http://schemas.openxmlformats.org/drawingml/2006/table">
            <a:tbl>
              <a:tblPr/>
              <a:tblGrid>
                <a:gridCol w="412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进程状态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调度信息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进程</a:t>
                      </a:r>
                      <a:r>
                        <a:rPr lang="en-US" altLang="zh-CN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ID</a:t>
                      </a:r>
                      <a:endParaRPr lang="zh-CN" altLang="en-US" b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90204" pitchFamily="34" charset="0"/>
                        <a:ea typeface="黑体" panose="02010600030101010101" pitchFamily="49" charset="-122"/>
                      </a:endParaRP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进程间通信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时间和定时器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用户</a:t>
                      </a:r>
                      <a:r>
                        <a:rPr lang="en-US" altLang="zh-CN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ID</a:t>
                      </a:r>
                      <a:endParaRPr lang="zh-CN" altLang="en-US" b="1">
                        <a:effectLst>
                          <a:outerShdw blurRad="38100" dist="38100" dir="2700000">
                            <a:srgbClr val="FFFFFF"/>
                          </a:outerShdw>
                        </a:effectLst>
                        <a:latin typeface="Arial" panose="020B0604020202090204" pitchFamily="34" charset="0"/>
                        <a:ea typeface="黑体" panose="02010600030101010101" pitchFamily="49" charset="-122"/>
                      </a:endParaRP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文件管理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FFFFFF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虚拟内存管理</a:t>
                      </a: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对称多处理机息</a:t>
                      </a:r>
                      <a:endParaRPr lang="zh-CN" altLang="zh-CN" b="1">
                        <a:effectLst>
                          <a:outerShdw blurRad="38100" dist="38100" dir="2700000">
                            <a:srgbClr val="C0C0C0"/>
                          </a:outerShdw>
                        </a:effectLst>
                        <a:latin typeface="Arial" panose="020B0604020202090204" pitchFamily="34" charset="0"/>
                        <a:ea typeface="黑体" panose="02010600030101010101" pitchFamily="49" charset="-122"/>
                      </a:endParaRP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7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zh-CN" altLang="en-US" b="1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90204" pitchFamily="34" charset="0"/>
                          <a:ea typeface="黑体" panose="02010600030101010101" pitchFamily="49" charset="-122"/>
                        </a:rPr>
                        <a:t>。。。</a:t>
                      </a:r>
                      <a:endParaRPr lang="zh-CN" altLang="zh-CN" b="1">
                        <a:latin typeface="Arial" panose="020B0604020202090204" pitchFamily="34" charset="0"/>
                        <a:ea typeface="黑体" panose="02010600030101010101" pitchFamily="49" charset="-122"/>
                      </a:endParaRPr>
                    </a:p>
                  </a:txBody>
                  <a:tcPr marL="54769" marR="54769" marT="27389" marB="27389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516563" y="790575"/>
            <a:ext cx="2400300" cy="342900"/>
          </a:xfrm>
          <a:prstGeom prst="rect">
            <a:avLst/>
          </a:prstGeom>
          <a:solidFill>
            <a:srgbClr val="333399"/>
          </a:solidFill>
          <a:ln w="9360">
            <a:solidFill>
              <a:srgbClr val="000000"/>
            </a:solidFill>
            <a:miter lim="800000"/>
          </a:ln>
          <a:effectLst>
            <a:outerShdw dist="71785" dir="2700000" algn="ctr" rotWithShape="0">
              <a:srgbClr val="808080"/>
            </a:outerShdw>
          </a:effectLst>
        </p:spPr>
        <p:txBody>
          <a:bodyPr wrap="none" lIns="49718" tIns="31423" rIns="49718" bIns="24737"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l" defTabSz="408305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Times New Roman" panose="02020503050405090304" pitchFamily="18" charset="0"/>
              <a:buNone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r>
              <a:rPr kumimoji="0" lang="zh-CN" altLang="en-US" sz="1800" b="0" i="0" u="none" strike="noStrike" kern="1200" cap="none" spc="0" normalizeH="0" baseline="0" noProof="1">
                <a:solidFill>
                  <a:srgbClr val="FFFFFF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Comic Sans MS" panose="030F0902030302020204" pitchFamily="66" charset="0"/>
                <a:ea typeface="微软雅黑" panose="020B0503020204020204" pitchFamily="34" charset="-122"/>
                <a:cs typeface="+mn-cs"/>
              </a:rPr>
              <a:t>命令行参数和环境变量</a:t>
            </a:r>
          </a:p>
        </p:txBody>
      </p:sp>
      <p:sp>
        <p:nvSpPr>
          <p:cNvPr id="23579" name="Rectangle 4"/>
          <p:cNvSpPr/>
          <p:nvPr/>
        </p:nvSpPr>
        <p:spPr>
          <a:xfrm>
            <a:off x="5516563" y="1133475"/>
            <a:ext cx="2400300" cy="1519238"/>
          </a:xfrm>
          <a:prstGeom prst="rect">
            <a:avLst/>
          </a:prstGeom>
          <a:solidFill>
            <a:srgbClr val="FFFF00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71785" dir="2699999" algn="ctr" rotWithShape="0">
              <a:srgbClr val="808080"/>
            </a:outerShdw>
          </a:effectLst>
        </p:spPr>
        <p:txBody>
          <a:bodyPr wrap="none" lIns="49718" tIns="31423" rIns="49718" bIns="24737" anchor="t" anchorCtr="0"/>
          <a:lstStyle/>
          <a:p>
            <a:pPr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r>
              <a:rPr lang="zh-CN" altLang="en-US">
                <a:solidFill>
                  <a:srgbClr val="000000"/>
                </a:solidFill>
                <a:latin typeface="Comic Sans MS" panose="030F0902030302020204" pitchFamily="66" charset="0"/>
                <a:ea typeface="微软雅黑" panose="020B0503020204020204" pitchFamily="34" charset="-122"/>
              </a:rPr>
              <a:t>栈</a:t>
            </a: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endParaRPr lang="en-US" altLang="zh-CN" sz="1200">
              <a:solidFill>
                <a:srgbClr val="000000"/>
              </a:solidFill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endParaRPr lang="en-US" altLang="zh-CN" sz="1200">
              <a:solidFill>
                <a:srgbClr val="000000"/>
              </a:solidFill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endParaRPr lang="en-US" altLang="zh-CN" sz="1200">
              <a:solidFill>
                <a:srgbClr val="000000"/>
              </a:solidFill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endParaRPr lang="en-US" altLang="zh-CN" sz="1200">
              <a:solidFill>
                <a:srgbClr val="000000"/>
              </a:solidFill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endParaRPr lang="en-US" altLang="zh-CN" sz="1200">
              <a:solidFill>
                <a:srgbClr val="000000"/>
              </a:solidFill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defTabSz="408305" hangingPunct="0">
              <a:lnSpc>
                <a:spcPct val="97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r>
              <a:rPr lang="zh-CN" altLang="en-US">
                <a:solidFill>
                  <a:srgbClr val="000000"/>
                </a:solidFill>
                <a:latin typeface="Comic Sans MS" panose="030F0902030302020204" pitchFamily="66" charset="0"/>
                <a:ea typeface="微软雅黑" panose="020B0503020204020204" pitchFamily="34" charset="-122"/>
              </a:rPr>
              <a:t>堆</a:t>
            </a:r>
          </a:p>
        </p:txBody>
      </p:sp>
      <p:sp>
        <p:nvSpPr>
          <p:cNvPr id="23580" name="Rectangle 5"/>
          <p:cNvSpPr/>
          <p:nvPr/>
        </p:nvSpPr>
        <p:spPr>
          <a:xfrm>
            <a:off x="5516563" y="2652713"/>
            <a:ext cx="2400300" cy="392112"/>
          </a:xfrm>
          <a:prstGeom prst="rect">
            <a:avLst/>
          </a:prstGeom>
          <a:solidFill>
            <a:srgbClr val="00FF00"/>
          </a:solidFill>
          <a:ln w="936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71785" dir="2699999" algn="ctr" rotWithShape="0">
              <a:srgbClr val="808080"/>
            </a:outerShdw>
          </a:effectLst>
        </p:spPr>
        <p:txBody>
          <a:bodyPr wrap="none" lIns="49718" tIns="31423" rIns="49718" bIns="24737" anchor="ctr" anchorCtr="0"/>
          <a:lstStyle/>
          <a:p>
            <a:pPr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  <a:tab pos="1970405" algn="l"/>
                <a:tab pos="2627630" algn="l"/>
              </a:tabLst>
            </a:pPr>
            <a:r>
              <a:rPr lang="zh-CN" altLang="en-US">
                <a:solidFill>
                  <a:srgbClr val="000000"/>
                </a:solidFill>
                <a:latin typeface="Comic Sans MS" panose="030F0902030302020204" pitchFamily="66" charset="0"/>
                <a:ea typeface="微软雅黑" panose="020B0503020204020204" pitchFamily="34" charset="-122"/>
              </a:rPr>
              <a:t>未初始化的数据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516563" y="3044825"/>
            <a:ext cx="2400300" cy="390525"/>
          </a:xfrm>
          <a:prstGeom prst="rect">
            <a:avLst/>
          </a:prstGeom>
          <a:solidFill>
            <a:srgbClr val="FF3300"/>
          </a:solidFill>
          <a:ln w="9360">
            <a:solidFill>
              <a:srgbClr val="000000"/>
            </a:solidFill>
            <a:miter lim="800000"/>
          </a:ln>
          <a:effectLst>
            <a:outerShdw dist="71785" dir="2700000" algn="ctr" rotWithShape="0">
              <a:srgbClr val="808080"/>
            </a:outerShdw>
          </a:effectLst>
        </p:spPr>
        <p:txBody>
          <a:bodyPr wrap="none" lIns="49718" tIns="31423" rIns="49718" bIns="24737" anchor="ctr"/>
          <a:lstStyle/>
          <a:p>
            <a:pPr marL="0" marR="0" lvl="0" indent="0" algn="l" defTabSz="306070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>
                <a:tab pos="492760" algn="l"/>
                <a:tab pos="984250" algn="l"/>
                <a:tab pos="1477010" algn="l"/>
                <a:tab pos="197040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anose="030F0902030302020204" pitchFamily="66" charset="0"/>
                <a:ea typeface="Microsoft YaHei" panose="020B0503020204020204" pitchFamily="34" charset="-122"/>
                <a:cs typeface="+mn-cs"/>
              </a:rPr>
              <a:t>初始化的数据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mic Sans MS" panose="030F0902030302020204" pitchFamily="66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516563" y="3436938"/>
            <a:ext cx="2400300" cy="636588"/>
          </a:xfrm>
          <a:prstGeom prst="rect">
            <a:avLst/>
          </a:prstGeom>
          <a:solidFill>
            <a:srgbClr val="008BC2"/>
          </a:solidFill>
          <a:ln w="9360">
            <a:solidFill>
              <a:srgbClr val="000000"/>
            </a:solidFill>
            <a:miter lim="800000"/>
          </a:ln>
          <a:effectLst>
            <a:outerShdw dist="71785" dir="2700000" algn="ctr" rotWithShape="0">
              <a:srgbClr val="808080"/>
            </a:outerShdw>
          </a:effectLst>
        </p:spPr>
        <p:txBody>
          <a:bodyPr wrap="none" lIns="49718" tIns="31423" rIns="49718" bIns="24737" anchor="ctr"/>
          <a:lstStyle/>
          <a:p>
            <a:pPr marL="0" marR="0" lvl="0" indent="0" algn="l" defTabSz="306070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>
                <a:tab pos="492760" algn="l"/>
                <a:tab pos="984250" algn="l"/>
                <a:tab pos="1477010" algn="l"/>
                <a:tab pos="1970405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mic Sans MS" panose="030F0902030302020204" pitchFamily="66" charset="0"/>
                <a:ea typeface="Microsoft YaHei" panose="020B0503020204020204" pitchFamily="34" charset="-122"/>
                <a:cs typeface="+mn-cs"/>
              </a:rPr>
              <a:t>正文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mic Sans MS" panose="030F0902030302020204" pitchFamily="66" charset="0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3583" name="Line 8"/>
          <p:cNvSpPr/>
          <p:nvPr/>
        </p:nvSpPr>
        <p:spPr>
          <a:xfrm>
            <a:off x="5516563" y="1428750"/>
            <a:ext cx="2057400" cy="1588"/>
          </a:xfrm>
          <a:prstGeom prst="line">
            <a:avLst/>
          </a:prstGeom>
          <a:ln w="9360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23584" name="Line 9"/>
          <p:cNvSpPr/>
          <p:nvPr/>
        </p:nvSpPr>
        <p:spPr>
          <a:xfrm>
            <a:off x="5516563" y="2211388"/>
            <a:ext cx="2057400" cy="1587"/>
          </a:xfrm>
          <a:prstGeom prst="line">
            <a:avLst/>
          </a:prstGeom>
          <a:ln w="9360" cap="flat" cmpd="sng">
            <a:solidFill>
              <a:srgbClr val="000000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23585" name="Line 10"/>
          <p:cNvSpPr/>
          <p:nvPr/>
        </p:nvSpPr>
        <p:spPr>
          <a:xfrm>
            <a:off x="6691313" y="1428750"/>
            <a:ext cx="1587" cy="293688"/>
          </a:xfrm>
          <a:prstGeom prst="line">
            <a:avLst/>
          </a:prstGeom>
          <a:ln w="46800" cap="flat" cmpd="sng">
            <a:solidFill>
              <a:srgbClr val="00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3586" name="Line 11"/>
          <p:cNvSpPr/>
          <p:nvPr/>
        </p:nvSpPr>
        <p:spPr>
          <a:xfrm flipV="1">
            <a:off x="6691313" y="1966913"/>
            <a:ext cx="1587" cy="246062"/>
          </a:xfrm>
          <a:prstGeom prst="line">
            <a:avLst/>
          </a:prstGeom>
          <a:ln w="46800" cap="flat" cmpd="sng">
            <a:solidFill>
              <a:srgbClr val="000000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23587" name="Text Box 12"/>
          <p:cNvSpPr txBox="1"/>
          <p:nvPr/>
        </p:nvSpPr>
        <p:spPr>
          <a:xfrm>
            <a:off x="1042988" y="4381500"/>
            <a:ext cx="3205162" cy="868363"/>
          </a:xfrm>
          <a:prstGeom prst="rect">
            <a:avLst/>
          </a:prstGeom>
          <a:noFill/>
          <a:ln w="9525">
            <a:noFill/>
          </a:ln>
        </p:spPr>
        <p:txBody>
          <a:bodyPr lIns="49718" tIns="29365" rIns="49718" bIns="24737" anchor="t" anchorCtr="0">
            <a:spAutoFit/>
          </a:bodyPr>
          <a:lstStyle/>
          <a:p>
            <a:pPr algn="ctr"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</a:tabLst>
            </a:pPr>
            <a:r>
              <a:rPr lang="zh-CN" altLang="en-US" b="1">
                <a:latin typeface="Comic Sans MS" panose="030F0902030302020204" pitchFamily="66" charset="0"/>
                <a:ea typeface="微软雅黑" panose="020B0503020204020204" pitchFamily="34" charset="-122"/>
              </a:rPr>
              <a:t>内核空间资源（</a:t>
            </a:r>
            <a:r>
              <a:rPr lang="en-US" altLang="zh-CN" b="1">
                <a:latin typeface="Comic Sans MS" panose="030F0902030302020204" pitchFamily="66" charset="0"/>
                <a:ea typeface="微软雅黑" panose="020B0503020204020204" pitchFamily="34" charset="-122"/>
              </a:rPr>
              <a:t>PCB</a:t>
            </a:r>
            <a:r>
              <a:rPr lang="zh-CN" altLang="en-US" b="1">
                <a:latin typeface="Comic Sans MS" panose="030F0902030302020204" pitchFamily="66" charset="0"/>
                <a:ea typeface="微软雅黑" panose="020B0503020204020204" pitchFamily="34" charset="-122"/>
              </a:rPr>
              <a:t>）</a:t>
            </a:r>
            <a:endParaRPr lang="en-US" altLang="zh-CN" b="1"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algn="ctr" defTabSz="408305" hangingPunct="0">
              <a:lnSpc>
                <a:spcPct val="98000"/>
              </a:lnSpc>
              <a:buClrTx/>
              <a:buFont typeface="Arial" panose="020B0604020202090204" pitchFamily="34" charset="0"/>
              <a:tabLst>
                <a:tab pos="657225" algn="l"/>
                <a:tab pos="1313180" algn="l"/>
              </a:tab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由操作系统内核自动管理</a:t>
            </a:r>
          </a:p>
          <a:p>
            <a:pPr algn="ctr"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</a:tabLst>
            </a:pPr>
            <a:endParaRPr lang="en-US" altLang="zh-CN" b="1">
              <a:latin typeface="Comic Sans MS" panose="030F0902030302020204" pitchFamily="66" charset="0"/>
              <a:ea typeface="微软雅黑" panose="020B0503020204020204" pitchFamily="34" charset="-122"/>
            </a:endParaRPr>
          </a:p>
        </p:txBody>
      </p:sp>
      <p:sp>
        <p:nvSpPr>
          <p:cNvPr id="23588" name="Text Box 12"/>
          <p:cNvSpPr txBox="1"/>
          <p:nvPr/>
        </p:nvSpPr>
        <p:spPr>
          <a:xfrm>
            <a:off x="5246688" y="4191000"/>
            <a:ext cx="2941637" cy="868363"/>
          </a:xfrm>
          <a:prstGeom prst="rect">
            <a:avLst/>
          </a:prstGeom>
          <a:noFill/>
          <a:ln w="9525">
            <a:noFill/>
          </a:ln>
        </p:spPr>
        <p:txBody>
          <a:bodyPr lIns="49718" tIns="29365" rIns="49718" bIns="24737" anchor="t" anchorCtr="0">
            <a:spAutoFit/>
          </a:bodyPr>
          <a:lstStyle/>
          <a:p>
            <a:pPr algn="ctr"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</a:tabLst>
            </a:pPr>
            <a:r>
              <a:rPr lang="zh-CN" altLang="en-US" b="1">
                <a:latin typeface="Comic Sans MS" panose="030F0902030302020204" pitchFamily="66" charset="0"/>
                <a:ea typeface="微软雅黑" panose="020B0503020204020204" pitchFamily="34" charset="-122"/>
              </a:rPr>
              <a:t>用户空间资源</a:t>
            </a:r>
            <a:endParaRPr lang="en-US" altLang="zh-CN" b="1">
              <a:latin typeface="Comic Sans MS" panose="030F0902030302020204" pitchFamily="66" charset="0"/>
              <a:ea typeface="微软雅黑" panose="020B0503020204020204" pitchFamily="34" charset="-122"/>
            </a:endParaRPr>
          </a:p>
          <a:p>
            <a:pPr algn="ctr" defTabSz="408305" hangingPunct="0">
              <a:lnSpc>
                <a:spcPct val="98000"/>
              </a:lnSpc>
              <a:buClrTx/>
              <a:buFont typeface="Arial" panose="020B0604020202090204" pitchFamily="34" charset="0"/>
              <a:tabLst>
                <a:tab pos="657225" algn="l"/>
                <a:tab pos="1313180" algn="l"/>
              </a:tab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由用户程序或标准库管理</a:t>
            </a:r>
          </a:p>
          <a:p>
            <a:pPr algn="ctr" defTabSz="408305" hangingPunct="0">
              <a:lnSpc>
                <a:spcPct val="98000"/>
              </a:lnSpc>
              <a:buClrTx/>
              <a:buFont typeface="Times New Roman" panose="02020503050405090304" pitchFamily="18" charset="0"/>
              <a:tabLst>
                <a:tab pos="657225" algn="l"/>
                <a:tab pos="1313180" algn="l"/>
              </a:tabLst>
            </a:pPr>
            <a:endParaRPr lang="en-US" altLang="zh-CN" b="1">
              <a:latin typeface="Comic Sans MS" panose="030F0902030302020204" pitchFamily="66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内核态用户态的两个示例</a:t>
            </a:r>
          </a:p>
        </p:txBody>
      </p:sp>
      <p:sp>
        <p:nvSpPr>
          <p:cNvPr id="25602" name="内容占位符 2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3582987" cy="3860800"/>
          </a:xfrm>
          <a:solidFill>
            <a:srgbClr val="DCEAF7"/>
          </a:solidFill>
          <a:ln/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Font typeface="Arial" panose="020B0604020202090204" pitchFamily="34" charset="0"/>
              <a:buNone/>
            </a:pPr>
            <a:r>
              <a:rPr lang="zh-CN" altLang="en-US" sz="2000" b="1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进程创建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：当用户程序调用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fork()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时，内核会：</a:t>
            </a:r>
          </a:p>
          <a:p>
            <a:pPr marL="0" indent="0" eaLnBrk="1" hangingPunct="1">
              <a:buFontTx/>
              <a:buAutoNum type="circleNumDbPlain"/>
            </a:pP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分配新的 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PCB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，填充进程信息（如 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、状态）。</a:t>
            </a:r>
          </a:p>
          <a:p>
            <a:pPr marL="0" indent="0" eaLnBrk="1" hangingPunct="1">
              <a:buFontTx/>
              <a:buAutoNum type="circleNumDbPlain"/>
            </a:pP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复制父进程的用户空间资源（代码段、数据段等）到子进程。</a:t>
            </a:r>
          </a:p>
          <a:p>
            <a:pPr marL="0" indent="0" eaLnBrk="1" hangingPunct="1">
              <a:buFontTx/>
              <a:buAutoNum type="circleNumDbPlain"/>
            </a:pP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返回子进程的 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 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给父进程，返回 </a:t>
            </a: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 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给子进程。</a:t>
            </a:r>
          </a:p>
          <a:p>
            <a:pPr marL="0" indent="0" eaLnBrk="1" hangingPunct="1">
              <a:buFont typeface="Arial" panose="020B0604020202090204" pitchFamily="34" charset="0"/>
              <a:buAutoNum type="circleNumDbPlain"/>
            </a:pPr>
            <a:endParaRPr lang="zh-CN" altLang="en-US" sz="2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603" name="文本框 4"/>
          <p:cNvSpPr txBox="1"/>
          <p:nvPr/>
        </p:nvSpPr>
        <p:spPr>
          <a:xfrm>
            <a:off x="4500563" y="790575"/>
            <a:ext cx="4159250" cy="2644775"/>
          </a:xfrm>
          <a:prstGeom prst="rect">
            <a:avLst/>
          </a:prstGeom>
          <a:solidFill>
            <a:srgbClr val="DCEAF7"/>
          </a:solidFill>
          <a:ln w="9525">
            <a:noFill/>
          </a:ln>
        </p:spPr>
        <p:txBody>
          <a:bodyPr anchor="t" anchorCtr="0"/>
          <a:lstStyle/>
          <a:p>
            <a:pPr eaLnBrk="0" hangingPunct="0">
              <a:lnSpc>
                <a:spcPct val="120000"/>
              </a:lnSpc>
              <a:spcBef>
                <a:spcPts val="1000"/>
              </a:spcBef>
              <a:buFont typeface="Arial" panose="020B0604020202090204" pitchFamily="34" charset="0"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文件读写：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当用户程序调用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read()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时，内核会：</a:t>
            </a:r>
          </a:p>
          <a:p>
            <a:pPr marL="685800" lvl="1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PCB 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查找文件描述符表</a:t>
            </a:r>
          </a:p>
          <a:p>
            <a:pPr marL="685800" lvl="1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在内核空间读取文件内容。</a:t>
            </a:r>
          </a:p>
          <a:p>
            <a:pPr marL="685800" lvl="1" indent="-228600" algn="l" rtl="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</a:pP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将数据从内核缓冲区复制到用户空间的缓冲区。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execl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函数</a:t>
            </a:r>
          </a:p>
        </p:txBody>
      </p:sp>
      <p:sp>
        <p:nvSpPr>
          <p:cNvPr id="26626" name="Rectangle 3"/>
          <p:cNvSpPr>
            <a:spLocks noGrp="1"/>
          </p:cNvSpPr>
          <p:nvPr>
            <p:ph idx="1" hasCustomPrompt="1"/>
          </p:nvPr>
        </p:nvSpPr>
        <p:spPr>
          <a:xfrm>
            <a:off x="179388" y="842963"/>
            <a:ext cx="9534525" cy="3860800"/>
          </a:xfrm>
          <a:ln/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函数原型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头文件：</a:t>
            </a:r>
            <a:r>
              <a:rPr lang="en-US" altLang="zh-CN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unistd.h</a:t>
            </a:r>
            <a:endParaRPr lang="zh-CN" altLang="en-US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b="1" kern="1200">
                <a:solidFill>
                  <a:srgbClr val="196B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execl(const char *pathname, const char *arg0, .../*(char*)0*/);</a:t>
            </a:r>
          </a:p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</a:t>
            </a:r>
            <a:endParaRPr lang="zh-CN" altLang="en-US" sz="2200" kern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pathname</a:t>
            </a: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：要执行程序的绝对路径名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可变参数：要执行程序的命令行参数，以“</a:t>
            </a:r>
            <a:r>
              <a:rPr lang="en-US" altLang="zh-CN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(char *)0”</a:t>
            </a: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返回值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出错返回</a:t>
            </a:r>
            <a:r>
              <a:rPr lang="en-US" altLang="zh-CN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-1</a:t>
            </a:r>
          </a:p>
          <a:p>
            <a:pPr marL="624205" lvl="1" indent="-24320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200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成功该函数不返回！</a:t>
            </a:r>
            <a:endParaRPr lang="en-US" altLang="zh-CN" sz="2200" kern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execl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示例代码</a:t>
            </a:r>
          </a:p>
        </p:txBody>
      </p:sp>
      <p:sp>
        <p:nvSpPr>
          <p:cNvPr id="28674" name="Rectangle 3"/>
          <p:cNvSpPr>
            <a:spLocks noGrp="1"/>
          </p:cNvSpPr>
          <p:nvPr>
            <p:ph idx="1" hasCustomPrompt="1"/>
          </p:nvPr>
        </p:nvSpPr>
        <p:spPr>
          <a:xfrm>
            <a:off x="484188" y="679450"/>
            <a:ext cx="8185150" cy="2933700"/>
          </a:xfrm>
          <a:ln w="19050">
            <a:solidFill>
              <a:schemeClr val="accent1"/>
            </a:solidFill>
            <a:miter/>
          </a:ln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main(void)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printf("entering main process---\n");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if(fork()==0){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execl("/bin/ls","ls","-l",NULL); 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printf("exiting main process ----\n");}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return 0;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pic>
        <p:nvPicPr>
          <p:cNvPr id="28675" name="图片 3" descr="12235434-d52eca31e0b24983a074594ddb3d46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13" y="3724275"/>
            <a:ext cx="4100512" cy="1165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5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训练原理：进程的终止</a:t>
            </a:r>
          </a:p>
        </p:txBody>
      </p:sp>
      <p:sp>
        <p:nvSpPr>
          <p:cNvPr id="30722" name="Rectangle 3"/>
          <p:cNvSpPr>
            <a:spLocks noGrp="1"/>
          </p:cNvSpPr>
          <p:nvPr>
            <p:ph idx="1" hasCustomPrompt="1"/>
          </p:nvPr>
        </p:nvSpPr>
        <p:spPr>
          <a:xfrm>
            <a:off x="468313" y="712788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6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正常终止</a:t>
            </a: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main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</a:t>
            </a: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exit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_exit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最后一个线程从其启动例程中返回</a:t>
            </a: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最后一个线程调用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pthread_exit</a:t>
            </a:r>
          </a:p>
          <a:p>
            <a:pPr marL="323850" indent="-242570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6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异常终止</a:t>
            </a: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调用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abort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，产生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SIGABRT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接收到终止信号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10000"/>
              </a:lnSpc>
              <a:buClr>
                <a:srgbClr val="0066CC"/>
              </a:buClr>
              <a:buSzPct val="45000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 等待子进程终止</a:t>
            </a:r>
          </a:p>
        </p:txBody>
      </p:sp>
      <p:sp>
        <p:nvSpPr>
          <p:cNvPr id="32770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79375" indent="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waitpid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函数可以等待某个特定子进程终止</a:t>
            </a:r>
          </a:p>
          <a:p>
            <a:pPr marL="79375" indent="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函数原型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头文件：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sys/wait.h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b="1" kern="1200">
                <a:solidFill>
                  <a:srgbClr val="196B2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pid_t waitpid(pid_t pid, int *statloc, int options);</a:t>
            </a:r>
          </a:p>
          <a:p>
            <a:pPr marL="79375" indent="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返回值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成功返回终止子进程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，失败返回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-1</a:t>
            </a:r>
          </a:p>
          <a:p>
            <a:pPr marL="647700" lvl="1" indent="-213995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zh-CN" altLang="en-US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训练原理：等待子进程终止</a:t>
            </a:r>
          </a:p>
        </p:txBody>
      </p:sp>
      <p:sp>
        <p:nvSpPr>
          <p:cNvPr id="34818" name="Rectangle 3"/>
          <p:cNvSpPr>
            <a:spLocks noGrp="1"/>
          </p:cNvSpPr>
          <p:nvPr>
            <p:ph idx="1" hasCustomPrompt="1"/>
          </p:nvPr>
        </p:nvSpPr>
        <p:spPr>
          <a:xfrm>
            <a:off x="484188" y="641350"/>
            <a:ext cx="8185150" cy="3860800"/>
          </a:xfrm>
          <a:ln/>
        </p:spPr>
        <p:txBody>
          <a:bodyPr vert="horz" wrap="square" lIns="0" tIns="8229" rIns="0" bIns="0" anchor="t" anchorCtr="0"/>
          <a:lstStyle/>
          <a:p>
            <a:pPr marL="79375" indent="0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参数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</a:t>
            </a:r>
          </a:p>
          <a:p>
            <a:pPr marL="948055" lvl="2" indent="-214630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 &gt; 0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：等待进程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ID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等于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的子进程执行终止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statloc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：存放子进程终止状态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options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：可以为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，也可以是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WNOHANG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（如果没有任何已经终止的子进程则马上返回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, 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函数不等待，此时返回值为</a:t>
            </a:r>
            <a:r>
              <a:rPr lang="en-US" altLang="zh-CN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47700" lvl="1" indent="-213995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9375" indent="0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79375" indent="0" defTabSz="336550" eaLnBrk="1" hangingPunct="1">
              <a:lnSpc>
                <a:spcPct val="150000"/>
              </a:lnSpc>
              <a:spcBef>
                <a:spcPct val="0"/>
              </a:spcBef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waitpid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代码示例</a:t>
            </a:r>
          </a:p>
        </p:txBody>
      </p:sp>
      <p:sp>
        <p:nvSpPr>
          <p:cNvPr id="36866" name="Rectangle 3"/>
          <p:cNvSpPr>
            <a:spLocks noGrp="1"/>
          </p:cNvSpPr>
          <p:nvPr>
            <p:ph idx="1" hasCustomPrompt="1"/>
          </p:nvPr>
        </p:nvSpPr>
        <p:spPr>
          <a:xfrm>
            <a:off x="458788" y="612775"/>
            <a:ext cx="3890962" cy="4352925"/>
          </a:xfrm>
          <a:ln w="19050">
            <a:solidFill>
              <a:schemeClr val="accent1"/>
            </a:solidFill>
            <a:miter/>
          </a:ln>
        </p:spPr>
        <p:txBody>
          <a:bodyPr vert="horz" wrap="square" lIns="0" tIns="8229" rIns="0" bIns="0" anchor="t" anchorCtr="0"/>
          <a:lstStyle/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pid_t pid_child, pid_return;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pid_child =fork();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if(pid_child &lt;0) printf("Error occured on forking.\n");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else if(pid_child ==0){                     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8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sleep(10);  </a:t>
            </a:r>
          </a:p>
          <a:p>
            <a:pPr marL="624205" lvl="1" indent="-243205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8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exit(0);}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do{    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pid_return =waitpid(pid_child,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   NULL, WNOHANG); 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if(pid_return ==0){             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printf("No child exited\n");                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sleep(1);}  }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while(pid_return ==0);   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if(pid_return == pid_child)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printf("successfullyget child %d\n", pid_return);           </a:t>
            </a:r>
          </a:p>
          <a:p>
            <a:pPr marL="323850" indent="-242570" defTabSz="336550" eaLnBrk="1" hangingPunct="1">
              <a:lnSpc>
                <a:spcPct val="98000"/>
              </a:lnSpc>
              <a:buClr>
                <a:srgbClr val="0066CC"/>
              </a:buClr>
              <a:buSzPct val="45000"/>
              <a:buFont typeface="Arial" panose="020B0604020202090204" pitchFamily="34" charset="0"/>
              <a:buNone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r>
              <a:rPr lang="en-US" altLang="zh-CN" sz="1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else  printf("some error occured\n");   </a:t>
            </a:r>
            <a:endParaRPr lang="zh-CN" altLang="en-US" sz="1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23850" indent="-242570" defTabSz="336550" eaLnBrk="1" hangingPunct="1">
              <a:buClr>
                <a:srgbClr val="0066CC"/>
              </a:buClr>
              <a:buSzPct val="45000"/>
              <a:buFont typeface="Wingdings" panose="05000000000000000000" pitchFamily="2" charset="2"/>
              <a:buChar char=""/>
              <a:tabLst>
                <a:tab pos="542925" algn="l"/>
                <a:tab pos="1085850" algn="l"/>
                <a:tab pos="1628775" algn="l"/>
                <a:tab pos="2171700" algn="l"/>
                <a:tab pos="2714625" algn="l"/>
                <a:tab pos="3257550" algn="l"/>
                <a:tab pos="3800475" algn="l"/>
                <a:tab pos="4343400" algn="l"/>
                <a:tab pos="4886325" algn="l"/>
                <a:tab pos="5429250" algn="l"/>
                <a:tab pos="5972175" algn="l"/>
                <a:tab pos="6515100" algn="l"/>
              </a:tabLst>
            </a:pPr>
            <a:endParaRPr lang="en-US" altLang="zh-CN" sz="1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6867" name="图片 3" descr="0_1321890299qhq8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825" y="711200"/>
            <a:ext cx="3889375" cy="3228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8914" name="Rectangle 3"/>
          <p:cNvSpPr>
            <a:spLocks noGrp="1"/>
          </p:cNvSpPr>
          <p:nvPr>
            <p:ph idx="1" hasCustomPrompt="1"/>
          </p:nvPr>
        </p:nvSpPr>
        <p:spPr>
          <a:xfrm>
            <a:off x="323850" y="842963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训练内容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中通过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POSIX API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（创建子进程，在进程中执行可执行文件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任意之前的训练内容即可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，等待子进程执行结束等）实现一个简单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/>
          <p:nvPr/>
        </p:nvSpPr>
        <p:spPr>
          <a:xfrm>
            <a:off x="611188" y="844550"/>
            <a:ext cx="8045450" cy="1550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10000"/>
              </a:spcBef>
              <a:buFontTx/>
            </a:pPr>
            <a:r>
              <a:rPr lang="en-US" altLang="zh-CN" sz="1600">
                <a:solidFill>
                  <a:schemeClr val="accent2"/>
                </a:solidFill>
                <a:latin typeface="Times New Roman" panose="0202050305040509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Times New Roman" panose="02020503050405090304" pitchFamily="18" charset="0"/>
                <a:ea typeface="微软雅黑" panose="020B0503020204020204" pitchFamily="34" charset="-122"/>
              </a:rPr>
              <a:t>生产者</a:t>
            </a:r>
            <a:r>
              <a:rPr lang="en-US" altLang="zh-CN" sz="2400">
                <a:latin typeface="Times New Roman" panose="02020503050405090304" pitchFamily="18" charset="0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latin typeface="Times New Roman" panose="02020503050405090304" pitchFamily="18" charset="0"/>
                <a:ea typeface="微软雅黑" panose="020B0503020204020204" pitchFamily="34" charset="-122"/>
              </a:rPr>
              <a:t>消费者问题 </a:t>
            </a:r>
            <a:endParaRPr lang="en-US" altLang="zh-CN" sz="2400">
              <a:latin typeface="Times New Roman" panose="02020503050405090304" pitchFamily="18" charset="0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  <a:buFontTx/>
            </a:pPr>
            <a:r>
              <a:rPr lang="en-US" altLang="zh-CN" sz="2800">
                <a:latin typeface="Times New Roman" panose="02020503050405090304" pitchFamily="18" charset="0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latin typeface="Times New Roman" panose="02020503050405090304" pitchFamily="18" charset="0"/>
                <a:ea typeface="微软雅黑" panose="020B0503020204020204" pitchFamily="34" charset="-122"/>
              </a:rPr>
              <a:t>问题描述：若干任务通过共享缓冲池（包含一定数量的缓冲区）交换数据。其中，</a:t>
            </a:r>
            <a:r>
              <a:rPr lang="en-US" altLang="zh-CN" sz="2000">
                <a:latin typeface="Times New Roman" panose="0202050305040509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sz="2000">
                <a:latin typeface="Times New Roman" panose="02020503050405090304" pitchFamily="18" charset="0"/>
                <a:ea typeface="微软雅黑" panose="020B0503020204020204" pitchFamily="34" charset="-122"/>
              </a:rPr>
              <a:t>生产者</a:t>
            </a:r>
            <a:r>
              <a:rPr lang="en-US" altLang="zh-CN" sz="2000">
                <a:latin typeface="Times New Roman" panose="02020503050405090304" pitchFamily="18" charset="0"/>
                <a:ea typeface="微软雅黑" panose="020B0503020204020204" pitchFamily="34" charset="-122"/>
              </a:rPr>
              <a:t>”</a:t>
            </a:r>
            <a:r>
              <a:rPr lang="zh-CN" altLang="en-US" sz="2000">
                <a:latin typeface="Times New Roman" panose="02020503050405090304" pitchFamily="18" charset="0"/>
                <a:ea typeface="微软雅黑" panose="020B0503020204020204" pitchFamily="34" charset="-122"/>
              </a:rPr>
              <a:t>任务不断写入，而</a:t>
            </a:r>
            <a:r>
              <a:rPr lang="en-US" altLang="zh-CN" sz="2000">
                <a:latin typeface="Times New Roman" panose="02020503050405090304" pitchFamily="18" charset="0"/>
                <a:ea typeface="微软雅黑" panose="020B0503020204020204" pitchFamily="34" charset="-122"/>
              </a:rPr>
              <a:t>“</a:t>
            </a:r>
            <a:r>
              <a:rPr lang="zh-CN" altLang="en-US" sz="2000">
                <a:latin typeface="Times New Roman" panose="02020503050405090304" pitchFamily="18" charset="0"/>
                <a:ea typeface="微软雅黑" panose="020B0503020204020204" pitchFamily="34" charset="-122"/>
              </a:rPr>
              <a:t>消费者</a:t>
            </a:r>
            <a:r>
              <a:rPr lang="en-US" altLang="zh-CN" sz="2000">
                <a:latin typeface="Times New Roman" panose="02020503050405090304" pitchFamily="18" charset="0"/>
                <a:ea typeface="微软雅黑" panose="020B0503020204020204" pitchFamily="34" charset="-122"/>
              </a:rPr>
              <a:t>”</a:t>
            </a:r>
            <a:r>
              <a:rPr lang="zh-CN" altLang="en-US" sz="2000">
                <a:latin typeface="Times New Roman" panose="02020503050405090304" pitchFamily="18" charset="0"/>
                <a:ea typeface="微软雅黑" panose="020B0503020204020204" pitchFamily="34" charset="-122"/>
              </a:rPr>
              <a:t>任务不断读出；任何时刻只能有一个任务可对共享缓冲池进行操作。</a:t>
            </a:r>
          </a:p>
        </p:txBody>
      </p:sp>
      <p:grpSp>
        <p:nvGrpSpPr>
          <p:cNvPr id="40962" name="Group 3"/>
          <p:cNvGrpSpPr/>
          <p:nvPr/>
        </p:nvGrpSpPr>
        <p:grpSpPr>
          <a:xfrm>
            <a:off x="846138" y="2741613"/>
            <a:ext cx="6332537" cy="1714500"/>
            <a:chOff x="240" y="2256"/>
            <a:chExt cx="5319" cy="1485"/>
          </a:xfrm>
        </p:grpSpPr>
        <p:sp>
          <p:nvSpPr>
            <p:cNvPr id="47111" name="Rectangle 4"/>
            <p:cNvSpPr>
              <a:spLocks noChangeArrowheads="1"/>
            </p:cNvSpPr>
            <p:nvPr/>
          </p:nvSpPr>
          <p:spPr bwMode="auto">
            <a:xfrm>
              <a:off x="1849" y="2927"/>
              <a:ext cx="268" cy="358"/>
            </a:xfrm>
            <a:prstGeom prst="rect">
              <a:avLst/>
            </a:prstGeom>
            <a:solidFill>
              <a:srgbClr val="A6A6A6"/>
            </a:solidFill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pic>
          <p:nvPicPr>
            <p:cNvPr id="40964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6" y="2927"/>
              <a:ext cx="179" cy="1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5" name="Picture 6"/>
            <p:cNvPicPr>
              <a:picLocks noChangeAspect="1"/>
            </p:cNvPicPr>
            <p:nvPr/>
          </p:nvPicPr>
          <p:blipFill>
            <a:blip r:embed="rId3"/>
            <a:srcRect r="49001"/>
            <a:stretch>
              <a:fillRect/>
            </a:stretch>
          </p:blipFill>
          <p:spPr>
            <a:xfrm>
              <a:off x="2295" y="2927"/>
              <a:ext cx="91" cy="1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6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6" y="3106"/>
              <a:ext cx="179" cy="1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67" name="Picture 8"/>
            <p:cNvPicPr>
              <a:picLocks noChangeAspect="1"/>
            </p:cNvPicPr>
            <p:nvPr/>
          </p:nvPicPr>
          <p:blipFill>
            <a:blip r:embed="rId3"/>
            <a:srcRect r="49001"/>
            <a:stretch>
              <a:fillRect/>
            </a:stretch>
          </p:blipFill>
          <p:spPr>
            <a:xfrm>
              <a:off x="2295" y="3106"/>
              <a:ext cx="91" cy="1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16" name="Rectangle 9"/>
            <p:cNvSpPr>
              <a:spLocks noChangeArrowheads="1"/>
            </p:cNvSpPr>
            <p:nvPr/>
          </p:nvSpPr>
          <p:spPr bwMode="auto">
            <a:xfrm>
              <a:off x="2116" y="2927"/>
              <a:ext cx="269" cy="358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17" name="Rectangle 10"/>
            <p:cNvSpPr>
              <a:spLocks noChangeArrowheads="1"/>
            </p:cNvSpPr>
            <p:nvPr/>
          </p:nvSpPr>
          <p:spPr bwMode="auto">
            <a:xfrm>
              <a:off x="2385" y="2927"/>
              <a:ext cx="268" cy="358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18" name="Rectangle 11"/>
            <p:cNvSpPr>
              <a:spLocks noChangeArrowheads="1"/>
            </p:cNvSpPr>
            <p:nvPr/>
          </p:nvSpPr>
          <p:spPr bwMode="auto">
            <a:xfrm>
              <a:off x="2653" y="2927"/>
              <a:ext cx="268" cy="358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19" name="Rectangle 12"/>
            <p:cNvSpPr>
              <a:spLocks noChangeArrowheads="1"/>
            </p:cNvSpPr>
            <p:nvPr/>
          </p:nvSpPr>
          <p:spPr bwMode="auto">
            <a:xfrm>
              <a:off x="2922" y="2927"/>
              <a:ext cx="269" cy="358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pic>
          <p:nvPicPr>
            <p:cNvPr id="40972" name="Pictur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9" y="2927"/>
              <a:ext cx="179" cy="1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3" name="Picture 14"/>
            <p:cNvPicPr>
              <a:picLocks noChangeAspect="1"/>
            </p:cNvPicPr>
            <p:nvPr/>
          </p:nvPicPr>
          <p:blipFill>
            <a:blip r:embed="rId4"/>
            <a:srcRect r="49001"/>
            <a:stretch>
              <a:fillRect/>
            </a:stretch>
          </p:blipFill>
          <p:spPr>
            <a:xfrm>
              <a:off x="3368" y="2927"/>
              <a:ext cx="91" cy="1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4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89" y="3106"/>
              <a:ext cx="179" cy="17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0975" name="Picture 16"/>
            <p:cNvPicPr>
              <a:picLocks noChangeAspect="1"/>
            </p:cNvPicPr>
            <p:nvPr/>
          </p:nvPicPr>
          <p:blipFill>
            <a:blip r:embed="rId4"/>
            <a:srcRect r="49001"/>
            <a:stretch>
              <a:fillRect/>
            </a:stretch>
          </p:blipFill>
          <p:spPr>
            <a:xfrm>
              <a:off x="3368" y="3106"/>
              <a:ext cx="91" cy="17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7124" name="Rectangle 17"/>
            <p:cNvSpPr>
              <a:spLocks noChangeArrowheads="1"/>
            </p:cNvSpPr>
            <p:nvPr/>
          </p:nvSpPr>
          <p:spPr bwMode="auto">
            <a:xfrm>
              <a:off x="3190" y="2927"/>
              <a:ext cx="269" cy="358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25" name="Rectangle 18"/>
            <p:cNvSpPr>
              <a:spLocks noChangeArrowheads="1"/>
            </p:cNvSpPr>
            <p:nvPr/>
          </p:nvSpPr>
          <p:spPr bwMode="auto">
            <a:xfrm>
              <a:off x="3459" y="2927"/>
              <a:ext cx="268" cy="358"/>
            </a:xfrm>
            <a:prstGeom prst="rect">
              <a:avLst/>
            </a:prstGeom>
            <a:solidFill>
              <a:srgbClr val="A6A6A6"/>
            </a:solidFill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26" name="Rectangle 19"/>
            <p:cNvSpPr>
              <a:spLocks noChangeArrowheads="1"/>
            </p:cNvSpPr>
            <p:nvPr/>
          </p:nvSpPr>
          <p:spPr bwMode="auto">
            <a:xfrm>
              <a:off x="3727" y="2927"/>
              <a:ext cx="268" cy="358"/>
            </a:xfrm>
            <a:prstGeom prst="rect">
              <a:avLst/>
            </a:prstGeom>
            <a:solidFill>
              <a:srgbClr val="A6A6A6"/>
            </a:solidFill>
            <a:ln w="222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7127" name="Rectangle 20"/>
            <p:cNvSpPr>
              <a:spLocks noChangeArrowheads="1"/>
            </p:cNvSpPr>
            <p:nvPr/>
          </p:nvSpPr>
          <p:spPr bwMode="auto">
            <a:xfrm>
              <a:off x="2565" y="3329"/>
              <a:ext cx="1116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0980" name="Rectangle 21"/>
            <p:cNvSpPr/>
            <p:nvPr/>
          </p:nvSpPr>
          <p:spPr>
            <a:xfrm>
              <a:off x="2731" y="3379"/>
              <a:ext cx="821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共享缓冲池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81" name="Freeform 22"/>
            <p:cNvSpPr/>
            <p:nvPr/>
          </p:nvSpPr>
          <p:spPr>
            <a:xfrm>
              <a:off x="1401" y="2685"/>
              <a:ext cx="894" cy="15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94" y="0"/>
                </a:cxn>
                <a:cxn ang="0">
                  <a:pos x="894" y="152"/>
                </a:cxn>
              </a:cxnLst>
              <a:rect l="0" t="0" r="0" b="0"/>
              <a:pathLst>
                <a:path w="894" h="152">
                  <a:moveTo>
                    <a:pt x="0" y="0"/>
                  </a:moveTo>
                  <a:lnTo>
                    <a:pt x="894" y="0"/>
                  </a:lnTo>
                  <a:lnTo>
                    <a:pt x="894" y="152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Freeform 23"/>
            <p:cNvSpPr/>
            <p:nvPr/>
          </p:nvSpPr>
          <p:spPr>
            <a:xfrm>
              <a:off x="2256" y="2834"/>
              <a:ext cx="77" cy="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" y="75"/>
                </a:cxn>
                <a:cxn ang="0">
                  <a:pos x="77" y="0"/>
                </a:cxn>
                <a:cxn ang="0">
                  <a:pos x="0" y="0"/>
                </a:cxn>
              </a:cxnLst>
              <a:rect l="0" t="0" r="0" b="0"/>
              <a:pathLst>
                <a:path w="77" h="75">
                  <a:moveTo>
                    <a:pt x="0" y="0"/>
                  </a:moveTo>
                  <a:lnTo>
                    <a:pt x="39" y="75"/>
                  </a:lnTo>
                  <a:lnTo>
                    <a:pt x="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Freeform 24"/>
            <p:cNvSpPr/>
            <p:nvPr/>
          </p:nvSpPr>
          <p:spPr>
            <a:xfrm>
              <a:off x="3323" y="2685"/>
              <a:ext cx="1029" cy="152"/>
            </a:xfrm>
            <a:custGeom>
              <a:avLst/>
              <a:gdLst/>
              <a:ahLst/>
              <a:cxnLst>
                <a:cxn ang="0">
                  <a:pos x="1029" y="0"/>
                </a:cxn>
                <a:cxn ang="0">
                  <a:pos x="0" y="0"/>
                </a:cxn>
                <a:cxn ang="0">
                  <a:pos x="0" y="152"/>
                </a:cxn>
              </a:cxnLst>
              <a:rect l="0" t="0" r="0" b="0"/>
              <a:pathLst>
                <a:path w="1029" h="152">
                  <a:moveTo>
                    <a:pt x="1029" y="0"/>
                  </a:moveTo>
                  <a:lnTo>
                    <a:pt x="0" y="0"/>
                  </a:lnTo>
                  <a:lnTo>
                    <a:pt x="0" y="152"/>
                  </a:lnTo>
                </a:path>
              </a:pathLst>
            </a:custGeom>
            <a:noFill/>
            <a:ln w="17463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Freeform 25"/>
            <p:cNvSpPr/>
            <p:nvPr/>
          </p:nvSpPr>
          <p:spPr>
            <a:xfrm>
              <a:off x="3284" y="2834"/>
              <a:ext cx="76" cy="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" y="75"/>
                </a:cxn>
                <a:cxn ang="0">
                  <a:pos x="76" y="0"/>
                </a:cxn>
                <a:cxn ang="0">
                  <a:pos x="0" y="0"/>
                </a:cxn>
              </a:cxnLst>
              <a:rect l="0" t="0" r="0" b="0"/>
              <a:pathLst>
                <a:path w="76" h="75">
                  <a:moveTo>
                    <a:pt x="0" y="0"/>
                  </a:moveTo>
                  <a:lnTo>
                    <a:pt x="39" y="75"/>
                  </a:lnTo>
                  <a:lnTo>
                    <a:pt x="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3" name="Rectangle 26"/>
            <p:cNvSpPr>
              <a:spLocks noChangeArrowheads="1"/>
            </p:cNvSpPr>
            <p:nvPr/>
          </p:nvSpPr>
          <p:spPr bwMode="auto">
            <a:xfrm>
              <a:off x="1403" y="2372"/>
              <a:ext cx="939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0986" name="Rectangle 27"/>
            <p:cNvSpPr/>
            <p:nvPr/>
          </p:nvSpPr>
          <p:spPr>
            <a:xfrm>
              <a:off x="1559" y="2422"/>
              <a:ext cx="657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生产指针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7135" name="Rectangle 28"/>
            <p:cNvSpPr>
              <a:spLocks noChangeArrowheads="1"/>
            </p:cNvSpPr>
            <p:nvPr/>
          </p:nvSpPr>
          <p:spPr bwMode="auto">
            <a:xfrm>
              <a:off x="3370" y="2372"/>
              <a:ext cx="940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0988" name="Rectangle 29"/>
            <p:cNvSpPr/>
            <p:nvPr/>
          </p:nvSpPr>
          <p:spPr>
            <a:xfrm>
              <a:off x="3525" y="2422"/>
              <a:ext cx="657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消费指针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7137" name="Rectangle 30"/>
            <p:cNvSpPr>
              <a:spLocks noChangeArrowheads="1"/>
            </p:cNvSpPr>
            <p:nvPr/>
          </p:nvSpPr>
          <p:spPr bwMode="auto">
            <a:xfrm>
              <a:off x="240" y="2256"/>
              <a:ext cx="1073" cy="1011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0990" name="Rectangle 31"/>
            <p:cNvSpPr/>
            <p:nvPr/>
          </p:nvSpPr>
          <p:spPr>
            <a:xfrm>
              <a:off x="480" y="2301"/>
              <a:ext cx="1046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Producer 1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1" name="Rectangle 32"/>
            <p:cNvSpPr/>
            <p:nvPr/>
          </p:nvSpPr>
          <p:spPr>
            <a:xfrm>
              <a:off x="480" y="2533"/>
              <a:ext cx="1046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Producer 2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2" name="Rectangle 33"/>
            <p:cNvSpPr/>
            <p:nvPr/>
          </p:nvSpPr>
          <p:spPr>
            <a:xfrm>
              <a:off x="719" y="2766"/>
              <a:ext cx="133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...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3" name="Rectangle 34"/>
            <p:cNvSpPr/>
            <p:nvPr/>
          </p:nvSpPr>
          <p:spPr>
            <a:xfrm>
              <a:off x="406" y="2996"/>
              <a:ext cx="1144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Producer M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7142" name="Rectangle 35"/>
            <p:cNvSpPr>
              <a:spLocks noChangeArrowheads="1"/>
            </p:cNvSpPr>
            <p:nvPr/>
          </p:nvSpPr>
          <p:spPr bwMode="auto">
            <a:xfrm>
              <a:off x="4486" y="2256"/>
              <a:ext cx="1073" cy="1011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0995" name="Rectangle 36"/>
            <p:cNvSpPr/>
            <p:nvPr/>
          </p:nvSpPr>
          <p:spPr>
            <a:xfrm>
              <a:off x="4501" y="2301"/>
              <a:ext cx="882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Consumer 1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6" name="Rectangle 37"/>
            <p:cNvSpPr/>
            <p:nvPr/>
          </p:nvSpPr>
          <p:spPr>
            <a:xfrm>
              <a:off x="4501" y="2533"/>
              <a:ext cx="882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Consumer 2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7" name="Rectangle 38"/>
            <p:cNvSpPr/>
            <p:nvPr/>
          </p:nvSpPr>
          <p:spPr>
            <a:xfrm>
              <a:off x="4964" y="2766"/>
              <a:ext cx="133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...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8" name="Rectangle 39"/>
            <p:cNvSpPr/>
            <p:nvPr/>
          </p:nvSpPr>
          <p:spPr>
            <a:xfrm>
              <a:off x="4501" y="2996"/>
              <a:ext cx="909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en-US" altLang="zh-CN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Consumer N</a:t>
              </a:r>
              <a:endParaRPr lang="en-US" altLang="zh-CN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0999" name="Freeform 40"/>
            <p:cNvSpPr/>
            <p:nvPr/>
          </p:nvSpPr>
          <p:spPr>
            <a:xfrm>
              <a:off x="1666" y="3505"/>
              <a:ext cx="7" cy="7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2" y="5"/>
                </a:cxn>
                <a:cxn ang="0">
                  <a:pos x="4" y="7"/>
                </a:cxn>
                <a:cxn ang="0">
                  <a:pos x="4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1"/>
                </a:cxn>
              </a:cxnLst>
              <a:rect l="0" t="0" r="0" b="0"/>
              <a:pathLst>
                <a:path w="7" h="7">
                  <a:moveTo>
                    <a:pt x="2" y="1"/>
                  </a:move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0" name="Freeform 41"/>
            <p:cNvSpPr/>
            <p:nvPr/>
          </p:nvSpPr>
          <p:spPr>
            <a:xfrm>
              <a:off x="1677" y="3496"/>
              <a:ext cx="7" cy="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1"/>
                </a:cxn>
              </a:cxnLst>
              <a:rect l="0" t="0" r="0" b="0"/>
              <a:pathLst>
                <a:path w="7" h="7">
                  <a:moveTo>
                    <a:pt x="1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Freeform 42"/>
            <p:cNvSpPr/>
            <p:nvPr/>
          </p:nvSpPr>
          <p:spPr>
            <a:xfrm>
              <a:off x="1687" y="3487"/>
              <a:ext cx="8" cy="7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5"/>
                </a:cxn>
                <a:cxn ang="0">
                  <a:pos x="8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8" h="7">
                  <a:moveTo>
                    <a:pt x="2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Freeform 43"/>
            <p:cNvSpPr/>
            <p:nvPr/>
          </p:nvSpPr>
          <p:spPr>
            <a:xfrm>
              <a:off x="1700" y="3478"/>
              <a:ext cx="7" cy="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0" b="0"/>
              <a:pathLst>
                <a:path w="7" h="7">
                  <a:moveTo>
                    <a:pt x="0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3" name="Freeform 44"/>
            <p:cNvSpPr/>
            <p:nvPr/>
          </p:nvSpPr>
          <p:spPr>
            <a:xfrm>
              <a:off x="1711" y="3469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4" name="Freeform 45"/>
            <p:cNvSpPr/>
            <p:nvPr/>
          </p:nvSpPr>
          <p:spPr>
            <a:xfrm>
              <a:off x="1721" y="3460"/>
              <a:ext cx="8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5"/>
                </a:cxn>
                <a:cxn ang="0">
                  <a:pos x="8" y="3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8" h="7">
                  <a:moveTo>
                    <a:pt x="2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8" y="7"/>
                  </a:lnTo>
                  <a:lnTo>
                    <a:pt x="8" y="5"/>
                  </a:lnTo>
                  <a:lnTo>
                    <a:pt x="8" y="3"/>
                  </a:lnTo>
                  <a:lnTo>
                    <a:pt x="8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5" name="Freeform 46"/>
            <p:cNvSpPr/>
            <p:nvPr/>
          </p:nvSpPr>
          <p:spPr>
            <a:xfrm>
              <a:off x="1732" y="3451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6" name="Freeform 47"/>
            <p:cNvSpPr/>
            <p:nvPr/>
          </p:nvSpPr>
          <p:spPr>
            <a:xfrm>
              <a:off x="1745" y="3442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Freeform 48"/>
            <p:cNvSpPr/>
            <p:nvPr/>
          </p:nvSpPr>
          <p:spPr>
            <a:xfrm>
              <a:off x="1755" y="3433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Freeform 49"/>
            <p:cNvSpPr/>
            <p:nvPr/>
          </p:nvSpPr>
          <p:spPr>
            <a:xfrm>
              <a:off x="1766" y="3424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9" name="Freeform 50"/>
            <p:cNvSpPr/>
            <p:nvPr/>
          </p:nvSpPr>
          <p:spPr>
            <a:xfrm>
              <a:off x="1777" y="3415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0" name="Freeform 51"/>
            <p:cNvSpPr/>
            <p:nvPr/>
          </p:nvSpPr>
          <p:spPr>
            <a:xfrm>
              <a:off x="1789" y="3406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Freeform 52"/>
            <p:cNvSpPr/>
            <p:nvPr/>
          </p:nvSpPr>
          <p:spPr>
            <a:xfrm>
              <a:off x="1800" y="3397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5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2" name="Freeform 53"/>
            <p:cNvSpPr/>
            <p:nvPr/>
          </p:nvSpPr>
          <p:spPr>
            <a:xfrm>
              <a:off x="1811" y="3388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2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Freeform 54"/>
            <p:cNvSpPr/>
            <p:nvPr/>
          </p:nvSpPr>
          <p:spPr>
            <a:xfrm>
              <a:off x="1821" y="3379"/>
              <a:ext cx="8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8" y="7"/>
                </a:cxn>
                <a:cxn ang="0">
                  <a:pos x="8" y="7"/>
                </a:cxn>
                <a:cxn ang="0">
                  <a:pos x="8" y="6"/>
                </a:cxn>
                <a:cxn ang="0">
                  <a:pos x="8" y="4"/>
                </a:cxn>
                <a:cxn ang="0">
                  <a:pos x="8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8" h="7">
                  <a:moveTo>
                    <a:pt x="2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8" y="7"/>
                  </a:lnTo>
                  <a:lnTo>
                    <a:pt x="8" y="6"/>
                  </a:lnTo>
                  <a:lnTo>
                    <a:pt x="8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4" name="Freeform 55"/>
            <p:cNvSpPr/>
            <p:nvPr/>
          </p:nvSpPr>
          <p:spPr>
            <a:xfrm>
              <a:off x="1834" y="3370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5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5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5" name="Freeform 56"/>
            <p:cNvSpPr/>
            <p:nvPr/>
          </p:nvSpPr>
          <p:spPr>
            <a:xfrm>
              <a:off x="1813" y="3329"/>
              <a:ext cx="82" cy="77"/>
            </a:xfrm>
            <a:custGeom>
              <a:avLst/>
              <a:gdLst/>
              <a:ahLst/>
              <a:cxnLst>
                <a:cxn ang="0">
                  <a:pos x="48" y="77"/>
                </a:cxn>
                <a:cxn ang="0">
                  <a:pos x="82" y="0"/>
                </a:cxn>
                <a:cxn ang="0">
                  <a:pos x="0" y="16"/>
                </a:cxn>
                <a:cxn ang="0">
                  <a:pos x="48" y="77"/>
                </a:cxn>
              </a:cxnLst>
              <a:rect l="0" t="0" r="0" b="0"/>
              <a:pathLst>
                <a:path w="82" h="77">
                  <a:moveTo>
                    <a:pt x="48" y="77"/>
                  </a:moveTo>
                  <a:lnTo>
                    <a:pt x="82" y="0"/>
                  </a:lnTo>
                  <a:lnTo>
                    <a:pt x="0" y="16"/>
                  </a:lnTo>
                  <a:lnTo>
                    <a:pt x="48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64" name="Rectangle 57"/>
            <p:cNvSpPr>
              <a:spLocks noChangeArrowheads="1"/>
            </p:cNvSpPr>
            <p:nvPr/>
          </p:nvSpPr>
          <p:spPr bwMode="auto">
            <a:xfrm>
              <a:off x="1359" y="3366"/>
              <a:ext cx="357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1017" name="Rectangle 58"/>
            <p:cNvSpPr/>
            <p:nvPr/>
          </p:nvSpPr>
          <p:spPr>
            <a:xfrm>
              <a:off x="1459" y="3415"/>
              <a:ext cx="164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满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1018" name="Freeform 59"/>
            <p:cNvSpPr/>
            <p:nvPr/>
          </p:nvSpPr>
          <p:spPr>
            <a:xfrm>
              <a:off x="2292" y="3522"/>
              <a:ext cx="7" cy="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6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2"/>
                </a:cxn>
              </a:cxnLst>
              <a:rect l="0" t="0" r="0" b="0"/>
              <a:pathLst>
                <a:path w="7" h="8">
                  <a:moveTo>
                    <a:pt x="1" y="2"/>
                  </a:moveTo>
                  <a:lnTo>
                    <a:pt x="0" y="4"/>
                  </a:lnTo>
                  <a:lnTo>
                    <a:pt x="1" y="6"/>
                  </a:lnTo>
                  <a:lnTo>
                    <a:pt x="3" y="8"/>
                  </a:lnTo>
                  <a:lnTo>
                    <a:pt x="7" y="8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Freeform 60"/>
            <p:cNvSpPr/>
            <p:nvPr/>
          </p:nvSpPr>
          <p:spPr>
            <a:xfrm>
              <a:off x="2302" y="3513"/>
              <a:ext cx="7" cy="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4" y="8"/>
                </a:cxn>
                <a:cxn ang="0">
                  <a:pos x="6" y="8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2" y="2"/>
                </a:cxn>
              </a:cxnLst>
              <a:rect l="0" t="0" r="0" b="0"/>
              <a:pathLst>
                <a:path w="7" h="8">
                  <a:moveTo>
                    <a:pt x="2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2" y="8"/>
                  </a:lnTo>
                  <a:lnTo>
                    <a:pt x="4" y="8"/>
                  </a:lnTo>
                  <a:lnTo>
                    <a:pt x="6" y="8"/>
                  </a:lnTo>
                  <a:lnTo>
                    <a:pt x="7" y="8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Freeform 61"/>
            <p:cNvSpPr/>
            <p:nvPr/>
          </p:nvSpPr>
          <p:spPr>
            <a:xfrm>
              <a:off x="2313" y="3505"/>
              <a:ext cx="7" cy="7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7" h="7">
                  <a:moveTo>
                    <a:pt x="2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Freeform 62"/>
            <p:cNvSpPr/>
            <p:nvPr/>
          </p:nvSpPr>
          <p:spPr>
            <a:xfrm>
              <a:off x="2325" y="3496"/>
              <a:ext cx="8" cy="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8" y="5"/>
                </a:cxn>
                <a:cxn ang="0">
                  <a:pos x="8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0" b="0"/>
              <a:pathLst>
                <a:path w="8" h="7">
                  <a:moveTo>
                    <a:pt x="0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8" y="5"/>
                  </a:lnTo>
                  <a:lnTo>
                    <a:pt x="8" y="3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2" name="Freeform 63"/>
            <p:cNvSpPr/>
            <p:nvPr/>
          </p:nvSpPr>
          <p:spPr>
            <a:xfrm>
              <a:off x="2336" y="3487"/>
              <a:ext cx="7" cy="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1"/>
                </a:cxn>
              </a:cxnLst>
              <a:rect l="0" t="0" r="0" b="0"/>
              <a:pathLst>
                <a:path w="7" h="7">
                  <a:moveTo>
                    <a:pt x="0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Freeform 64"/>
            <p:cNvSpPr/>
            <p:nvPr/>
          </p:nvSpPr>
          <p:spPr>
            <a:xfrm>
              <a:off x="2347" y="3478"/>
              <a:ext cx="7" cy="7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1"/>
                </a:cxn>
              </a:cxnLst>
              <a:rect l="0" t="0" r="0" b="0"/>
              <a:pathLst>
                <a:path w="7" h="7">
                  <a:moveTo>
                    <a:pt x="2" y="1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Freeform 65"/>
            <p:cNvSpPr/>
            <p:nvPr/>
          </p:nvSpPr>
          <p:spPr>
            <a:xfrm>
              <a:off x="2358" y="3469"/>
              <a:ext cx="7" cy="7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</a:cxnLst>
              <a:rect l="0" t="0" r="0" b="0"/>
              <a:pathLst>
                <a:path w="7" h="7">
                  <a:moveTo>
                    <a:pt x="1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5" name="Freeform 66"/>
            <p:cNvSpPr/>
            <p:nvPr/>
          </p:nvSpPr>
          <p:spPr>
            <a:xfrm>
              <a:off x="2370" y="3460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6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6" name="Freeform 67"/>
            <p:cNvSpPr/>
            <p:nvPr/>
          </p:nvSpPr>
          <p:spPr>
            <a:xfrm>
              <a:off x="2381" y="3451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Freeform 68"/>
            <p:cNvSpPr/>
            <p:nvPr/>
          </p:nvSpPr>
          <p:spPr>
            <a:xfrm>
              <a:off x="2392" y="3442"/>
              <a:ext cx="7" cy="7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</a:cxnLst>
              <a:rect l="0" t="0" r="0" b="0"/>
              <a:pathLst>
                <a:path w="7" h="7">
                  <a:moveTo>
                    <a:pt x="1" y="2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Freeform 69"/>
            <p:cNvSpPr/>
            <p:nvPr/>
          </p:nvSpPr>
          <p:spPr>
            <a:xfrm>
              <a:off x="2402" y="3433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9" name="Freeform 70"/>
            <p:cNvSpPr/>
            <p:nvPr/>
          </p:nvSpPr>
          <p:spPr>
            <a:xfrm>
              <a:off x="2415" y="3424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5" y="2"/>
                  </a:lnTo>
                  <a:lnTo>
                    <a:pt x="3" y="0"/>
                  </a:lnTo>
                  <a:lnTo>
                    <a:pt x="2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0" name="Freeform 71"/>
            <p:cNvSpPr/>
            <p:nvPr/>
          </p:nvSpPr>
          <p:spPr>
            <a:xfrm>
              <a:off x="2426" y="3415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5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1" name="Freeform 72"/>
            <p:cNvSpPr/>
            <p:nvPr/>
          </p:nvSpPr>
          <p:spPr>
            <a:xfrm>
              <a:off x="2436" y="3406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5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6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5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7"/>
                  </a:lnTo>
                  <a:lnTo>
                    <a:pt x="6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4"/>
                  </a:lnTo>
                  <a:lnTo>
                    <a:pt x="7" y="2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2" name="Freeform 73"/>
            <p:cNvSpPr/>
            <p:nvPr/>
          </p:nvSpPr>
          <p:spPr>
            <a:xfrm>
              <a:off x="2447" y="3397"/>
              <a:ext cx="7" cy="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2" y="7"/>
                </a:cxn>
                <a:cxn ang="0">
                  <a:pos x="4" y="7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7" y="7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2" y="2"/>
                </a:cxn>
              </a:cxnLst>
              <a:rect l="0" t="0" r="0" b="0"/>
              <a:pathLst>
                <a:path w="7" h="7">
                  <a:moveTo>
                    <a:pt x="2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2" y="7"/>
                  </a:lnTo>
                  <a:lnTo>
                    <a:pt x="4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7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2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3" name="Freeform 74"/>
            <p:cNvSpPr/>
            <p:nvPr/>
          </p:nvSpPr>
          <p:spPr>
            <a:xfrm>
              <a:off x="2460" y="3388"/>
              <a:ext cx="7" cy="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7"/>
                </a:cxn>
                <a:cxn ang="0">
                  <a:pos x="1" y="7"/>
                </a:cxn>
                <a:cxn ang="0">
                  <a:pos x="3" y="7"/>
                </a:cxn>
                <a:cxn ang="0">
                  <a:pos x="5" y="7"/>
                </a:cxn>
                <a:cxn ang="0">
                  <a:pos x="5" y="7"/>
                </a:cxn>
                <a:cxn ang="0">
                  <a:pos x="7" y="6"/>
                </a:cxn>
                <a:cxn ang="0">
                  <a:pos x="7" y="4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0" y="2"/>
                </a:cxn>
              </a:cxnLst>
              <a:rect l="0" t="0" r="0" b="0"/>
              <a:pathLst>
                <a:path w="7" h="7">
                  <a:moveTo>
                    <a:pt x="0" y="2"/>
                  </a:moveTo>
                  <a:lnTo>
                    <a:pt x="0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1" y="7"/>
                  </a:lnTo>
                  <a:lnTo>
                    <a:pt x="3" y="7"/>
                  </a:lnTo>
                  <a:lnTo>
                    <a:pt x="5" y="7"/>
                  </a:lnTo>
                  <a:lnTo>
                    <a:pt x="7" y="6"/>
                  </a:lnTo>
                  <a:lnTo>
                    <a:pt x="7" y="4"/>
                  </a:lnTo>
                  <a:lnTo>
                    <a:pt x="5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4" name="Freeform 75"/>
            <p:cNvSpPr/>
            <p:nvPr/>
          </p:nvSpPr>
          <p:spPr>
            <a:xfrm>
              <a:off x="2438" y="3347"/>
              <a:ext cx="82" cy="77"/>
            </a:xfrm>
            <a:custGeom>
              <a:avLst/>
              <a:gdLst/>
              <a:ahLst/>
              <a:cxnLst>
                <a:cxn ang="0">
                  <a:pos x="48" y="77"/>
                </a:cxn>
                <a:cxn ang="0">
                  <a:pos x="82" y="0"/>
                </a:cxn>
                <a:cxn ang="0">
                  <a:pos x="0" y="16"/>
                </a:cxn>
                <a:cxn ang="0">
                  <a:pos x="48" y="77"/>
                </a:cxn>
              </a:cxnLst>
              <a:rect l="0" t="0" r="0" b="0"/>
              <a:pathLst>
                <a:path w="82" h="77">
                  <a:moveTo>
                    <a:pt x="48" y="77"/>
                  </a:moveTo>
                  <a:lnTo>
                    <a:pt x="82" y="0"/>
                  </a:lnTo>
                  <a:lnTo>
                    <a:pt x="0" y="16"/>
                  </a:lnTo>
                  <a:lnTo>
                    <a:pt x="48" y="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3" name="Rectangle 76"/>
            <p:cNvSpPr>
              <a:spLocks noChangeArrowheads="1"/>
            </p:cNvSpPr>
            <p:nvPr/>
          </p:nvSpPr>
          <p:spPr bwMode="auto">
            <a:xfrm>
              <a:off x="1984" y="3384"/>
              <a:ext cx="357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1036" name="Rectangle 77"/>
            <p:cNvSpPr/>
            <p:nvPr/>
          </p:nvSpPr>
          <p:spPr>
            <a:xfrm>
              <a:off x="2084" y="3433"/>
              <a:ext cx="164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空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7185" name="Rectangle 78"/>
            <p:cNvSpPr>
              <a:spLocks noChangeArrowheads="1"/>
            </p:cNvSpPr>
            <p:nvPr/>
          </p:nvSpPr>
          <p:spPr bwMode="auto">
            <a:xfrm>
              <a:off x="3726" y="3434"/>
              <a:ext cx="124" cy="59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1038" name="Freeform 79"/>
            <p:cNvSpPr/>
            <p:nvPr/>
          </p:nvSpPr>
          <p:spPr>
            <a:xfrm>
              <a:off x="3847" y="3390"/>
              <a:ext cx="148" cy="149"/>
            </a:xfrm>
            <a:custGeom>
              <a:avLst/>
              <a:gdLst/>
              <a:ahLst/>
              <a:cxnLst>
                <a:cxn ang="0">
                  <a:pos x="0" y="149"/>
                </a:cxn>
                <a:cxn ang="0">
                  <a:pos x="148" y="73"/>
                </a:cxn>
                <a:cxn ang="0">
                  <a:pos x="0" y="0"/>
                </a:cxn>
                <a:cxn ang="0">
                  <a:pos x="0" y="149"/>
                </a:cxn>
              </a:cxnLst>
              <a:rect l="0" t="0" r="0" b="0"/>
              <a:pathLst>
                <a:path w="148" h="149">
                  <a:moveTo>
                    <a:pt x="0" y="149"/>
                  </a:moveTo>
                  <a:lnTo>
                    <a:pt x="148" y="73"/>
                  </a:lnTo>
                  <a:lnTo>
                    <a:pt x="0" y="0"/>
                  </a:lnTo>
                  <a:lnTo>
                    <a:pt x="0" y="149"/>
                  </a:lnTo>
                  <a:close/>
                </a:path>
              </a:pathLst>
            </a:custGeom>
            <a:solidFill>
              <a:srgbClr val="A6A6A6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87" name="Rectangle 80"/>
            <p:cNvSpPr>
              <a:spLocks noChangeArrowheads="1"/>
            </p:cNvSpPr>
            <p:nvPr/>
          </p:nvSpPr>
          <p:spPr bwMode="auto">
            <a:xfrm>
              <a:off x="3906" y="3346"/>
              <a:ext cx="1429" cy="35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90204" pitchFamily="34" charset="0"/>
                  <a:ea typeface="黑体" panose="02010600030101010101" pitchFamily="49" charset="-122"/>
                </a:defRPr>
              </a:lvl1pPr>
              <a:lvl2pPr marL="742950" indent="-285750">
                <a:spcBef>
                  <a:spcPct val="30000"/>
                </a:spcBef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 b="1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Microsoft YaHei" panose="020B0503020204020204" pitchFamily="34" charset="-122"/>
                <a:cs typeface="+mn-cs"/>
              </a:endParaRPr>
            </a:p>
          </p:txBody>
        </p:sp>
        <p:sp>
          <p:nvSpPr>
            <p:cNvPr id="41040" name="Rectangle 81"/>
            <p:cNvSpPr/>
            <p:nvPr/>
          </p:nvSpPr>
          <p:spPr>
            <a:xfrm>
              <a:off x="4150" y="3397"/>
              <a:ext cx="986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>
                <a:buFontTx/>
              </a:pPr>
              <a:r>
                <a:rPr lang="zh-CN" altLang="en-US" sz="1500">
                  <a:solidFill>
                    <a:srgbClr val="000000"/>
                  </a:solidFill>
                  <a:latin typeface="Arial" panose="020B0604020202090204" pitchFamily="34" charset="0"/>
                  <a:ea typeface="微软雅黑" panose="020B0503020204020204" pitchFamily="34" charset="-122"/>
                </a:rPr>
                <a:t>指针移动方向</a:t>
              </a:r>
              <a:endParaRPr lang="zh-CN" altLang="en-US" sz="1500">
                <a:latin typeface="Arial" panose="020B060402020209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425042" name="AutoShape 82"/>
          <p:cNvSpPr/>
          <p:nvPr/>
        </p:nvSpPr>
        <p:spPr>
          <a:xfrm>
            <a:off x="3635375" y="669925"/>
            <a:ext cx="5257800" cy="593725"/>
          </a:xfrm>
          <a:prstGeom prst="wedgeRoundRectCallout">
            <a:avLst>
              <a:gd name="adj1" fmla="val 23250"/>
              <a:gd name="adj2" fmla="val 81866"/>
              <a:gd name="adj3" fmla="val 16667"/>
            </a:avLst>
          </a:prstGeom>
          <a:solidFill>
            <a:srgbClr val="00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500" tIns="8100" rIns="13500" bIns="8100" anchor="t" anchorCtr="0"/>
          <a:lstStyle/>
          <a:p>
            <a:pPr>
              <a:buFontTx/>
            </a:pPr>
            <a:r>
              <a:rPr lang="zh-CN" altLang="en-US" sz="1600">
                <a:solidFill>
                  <a:srgbClr val="FFFF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有缓冲区未被生产者使用时，生产者才能写入；有缓冲区已被生产者使用时，消费者才能读出</a:t>
            </a:r>
            <a:r>
              <a:rPr lang="en-US" altLang="zh-CN" sz="1600">
                <a:solidFill>
                  <a:srgbClr val="FFFF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1600">
                <a:solidFill>
                  <a:srgbClr val="FFFF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同步</a:t>
            </a:r>
          </a:p>
        </p:txBody>
      </p:sp>
      <p:sp>
        <p:nvSpPr>
          <p:cNvPr id="425043" name="AutoShape 83"/>
          <p:cNvSpPr/>
          <p:nvPr/>
        </p:nvSpPr>
        <p:spPr>
          <a:xfrm>
            <a:off x="7380288" y="3162300"/>
            <a:ext cx="863600" cy="377825"/>
          </a:xfrm>
          <a:prstGeom prst="wedgeEllipseCallout">
            <a:avLst>
              <a:gd name="adj1" fmla="val -95181"/>
              <a:gd name="adj2" fmla="val -40880"/>
            </a:avLst>
          </a:prstGeom>
          <a:solidFill>
            <a:srgbClr val="0033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3500" tIns="8100" rIns="13500" bIns="8100" anchor="t" anchorCtr="0"/>
          <a:lstStyle/>
          <a:p>
            <a:pPr algn="ctr">
              <a:buFontTx/>
            </a:pPr>
            <a:r>
              <a:rPr lang="zh-CN" altLang="en-US">
                <a:solidFill>
                  <a:srgbClr val="FFFF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互斥</a:t>
            </a:r>
          </a:p>
        </p:txBody>
      </p:sp>
      <p:sp>
        <p:nvSpPr>
          <p:cNvPr id="41043" name="标题 1"/>
          <p:cNvSpPr>
            <a:spLocks noGrp="1"/>
          </p:cNvSpPr>
          <p:nvPr>
            <p:ph type="title"/>
          </p:nvPr>
        </p:nvSpPr>
        <p:spPr>
          <a:xfrm>
            <a:off x="487363" y="90488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训练原理：任务的同步互斥</a:t>
            </a:r>
          </a:p>
        </p:txBody>
      </p:sp>
      <p:sp>
        <p:nvSpPr>
          <p:cNvPr id="41044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2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042" grpId="0" animBg="1"/>
      <p:bldP spid="42504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训练原理：缓冲池的程序实现</a:t>
            </a:r>
          </a:p>
        </p:txBody>
      </p:sp>
      <p:sp>
        <p:nvSpPr>
          <p:cNvPr id="43010" name="Rectangle 3"/>
          <p:cNvSpPr>
            <a:spLocks noGrp="1"/>
          </p:cNvSpPr>
          <p:nvPr>
            <p:ph idx="1" hasCustomPrompt="1"/>
          </p:nvPr>
        </p:nvSpPr>
        <p:spPr>
          <a:xfrm>
            <a:off x="441325" y="641350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缓冲池结构（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个缓冲区）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0" eaLnBrk="1" hangingPunct="1">
              <a:buFont typeface="Arial" panose="020B0604020202090204" pitchFamily="34" charset="0"/>
              <a:buNone/>
            </a:pP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struct BufferPool  </a:t>
            </a:r>
          </a:p>
          <a:p>
            <a:pPr marL="342900" lvl="1" indent="0" eaLnBrk="1" hangingPunct="1">
              <a:buFont typeface="Arial" panose="020B0604020202090204" pitchFamily="34" charset="0"/>
              <a:buNone/>
            </a:pP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  </a:t>
            </a:r>
          </a:p>
          <a:p>
            <a:pPr marL="342900" lvl="1" indent="0" eaLnBrk="1" hangingPunct="1">
              <a:buFont typeface="Arial" panose="020B0604020202090204" pitchFamily="34" charset="0"/>
              <a:buNone/>
            </a:pP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char Buffer[5][100];//5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个缓冲区</a:t>
            </a:r>
            <a:endParaRPr lang="en-US" altLang="zh-CN" sz="21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0" eaLnBrk="1" hangingPunct="1">
              <a:buFont typeface="Arial" panose="020B0604020202090204" pitchFamily="34" charset="0"/>
              <a:buNone/>
            </a:pP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Index[5];</a:t>
            </a:r>
          </a:p>
          <a:p>
            <a:pPr marL="342900" lvl="1" indent="0" eaLnBrk="1" hangingPunct="1">
              <a:buFont typeface="Arial" panose="020B0604020202090204" pitchFamily="34" charset="0"/>
              <a:buNone/>
            </a:pP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}; </a:t>
            </a:r>
          </a:p>
        </p:txBody>
      </p:sp>
      <p:sp>
        <p:nvSpPr>
          <p:cNvPr id="4301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43012" name="文本框 2"/>
          <p:cNvSpPr txBox="1"/>
          <p:nvPr/>
        </p:nvSpPr>
        <p:spPr>
          <a:xfrm>
            <a:off x="396875" y="3508375"/>
            <a:ext cx="7778750" cy="8620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lvl="1" indent="0" eaLnBrk="0" hangingPunct="0">
              <a:lnSpc>
                <a:spcPts val="2000"/>
              </a:lnSpc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index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：缓冲区状态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0" eaLnBrk="0" hangingPunct="0">
              <a:lnSpc>
                <a:spcPts val="2000"/>
              </a:lnSpc>
              <a:buAutoNum type="circleNumDbPlai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表示对应的缓冲区未被生产者使用，可分配但不可消费；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0" eaLnBrk="0" hangingPunct="0">
              <a:lnSpc>
                <a:spcPts val="2000"/>
              </a:lnSpc>
              <a:buAutoNum type="circleNumDbPlain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表示对应的缓冲区以被生产者使用，不可分配但可消费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训练原理：生产者与消费者行为</a:t>
            </a:r>
          </a:p>
        </p:txBody>
      </p:sp>
      <p:sp>
        <p:nvSpPr>
          <p:cNvPr id="327683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生产者任务从源（文件，网络等）中读取数据后访问缓冲池，将数据放入未使用的缓冲区中（</a:t>
            </a:r>
            <a:r>
              <a:rPr lang="zh-CN" altLang="en-US" sz="24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分配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消费者任务访问缓冲池，从已被生产者使用的缓冲区中取走数据（</a:t>
            </a:r>
            <a:r>
              <a:rPr lang="zh-CN" altLang="en-US" sz="24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），进行处理（计算、变换等）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059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训练原理：生产者与消费者之间的互斥</a:t>
            </a:r>
          </a:p>
        </p:txBody>
      </p:sp>
      <p:sp>
        <p:nvSpPr>
          <p:cNvPr id="327683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缓冲池整体作为临界资源</a:t>
            </a:r>
          </a:p>
          <a:p>
            <a:pPr lvl="1" eaLnBrk="1" hangingPunct="1"/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当生产者任务正在访问缓冲池时，其他生产者和消费者任务不能访问缓冲池</a:t>
            </a:r>
          </a:p>
          <a:p>
            <a:pPr lvl="1" eaLnBrk="1" hangingPunct="1"/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当消费者任务正在访问缓冲池时，其他生产者和消费者任务不能访问缓冲池</a:t>
            </a: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互斥机制：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信号量集（包含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个信号量，初始值为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lang="en-US" altLang="zh-CN" sz="21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POSIX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</a:t>
            </a:r>
            <a:endParaRPr lang="en-US" altLang="zh-CN" sz="21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10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训练原理：生产者与消费者之间的同步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 hasCustomPrompt="1"/>
          </p:nvPr>
        </p:nvSpPr>
        <p:spPr>
          <a:xfrm>
            <a:off x="500063" y="73342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缓冲池中有缓冲区未被生产者使用时（</a:t>
            </a:r>
            <a:r>
              <a:rPr lang="zh-CN" altLang="en-US" sz="24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缓冲池不满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），生产者分配缓冲区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缓冲池中有缓冲区已被生产者使用时（</a:t>
            </a:r>
            <a:r>
              <a:rPr lang="zh-CN" altLang="en-US" sz="2400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缓冲池不空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 ，消费者才能消费缓冲区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同步机制：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通过缓冲池结构中的状态变量来指示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通过信号量来指示未被使用缓冲区数量和已被使用缓冲区数量</a:t>
            </a: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15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训练原理：生产者的程序实现</a:t>
            </a:r>
          </a:p>
        </p:txBody>
      </p:sp>
      <p:sp>
        <p:nvSpPr>
          <p:cNvPr id="51202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生产者任务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</a:p>
        </p:txBody>
      </p:sp>
      <p:sp>
        <p:nvSpPr>
          <p:cNvPr id="5120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6" name="流程图: 可选过程 5"/>
          <p:cNvSpPr/>
          <p:nvPr/>
        </p:nvSpPr>
        <p:spPr>
          <a:xfrm>
            <a:off x="3881438" y="87313"/>
            <a:ext cx="2808288" cy="292100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开始</a:t>
            </a:r>
          </a:p>
        </p:txBody>
      </p:sp>
      <p:sp>
        <p:nvSpPr>
          <p:cNvPr id="7" name="流程图: 过程 6"/>
          <p:cNvSpPr/>
          <p:nvPr/>
        </p:nvSpPr>
        <p:spPr bwMode="auto">
          <a:xfrm>
            <a:off x="3440113" y="598488"/>
            <a:ext cx="4075113" cy="3556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打开文本文件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producerN.txt</a:t>
            </a:r>
            <a:endParaRPr kumimoji="0" lang="zh-CN" altLang="en-US" sz="14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5310188" y="365125"/>
            <a:ext cx="0" cy="257175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" name="流程图: 过程 8"/>
          <p:cNvSpPr/>
          <p:nvPr/>
        </p:nvSpPr>
        <p:spPr bwMode="auto">
          <a:xfrm>
            <a:off x="3441700" y="1252538"/>
            <a:ext cx="4073525" cy="38893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从文件当前位置读取一定长度内容（例如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1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行，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100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字节等）</a:t>
            </a:r>
          </a:p>
        </p:txBody>
      </p:sp>
      <p:sp>
        <p:nvSpPr>
          <p:cNvPr id="10" name="流程图: 过程 9"/>
          <p:cNvSpPr/>
          <p:nvPr/>
        </p:nvSpPr>
        <p:spPr bwMode="auto">
          <a:xfrm>
            <a:off x="3916363" y="1887538"/>
            <a:ext cx="2816225" cy="2921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sp>
        <p:nvSpPr>
          <p:cNvPr id="11" name="流程图: 决策 10"/>
          <p:cNvSpPr/>
          <p:nvPr/>
        </p:nvSpPr>
        <p:spPr bwMode="auto">
          <a:xfrm>
            <a:off x="3582988" y="3097213"/>
            <a:ext cx="3403600" cy="431800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是否找到</a:t>
            </a:r>
            <a:r>
              <a:rPr kumimoji="0" lang="zh-CN" altLang="en-US" sz="1200" b="0" i="0" u="none" strike="noStrike" kern="1200" cap="none" spc="0" normalizeH="0" baseline="0" noProof="1">
                <a:solidFill>
                  <a:srgbClr val="FF0000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未被生产者使用</a:t>
            </a:r>
            <a:r>
              <a:rPr kumimoji="0" lang="zh-CN" altLang="en-US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的缓冲区</a:t>
            </a:r>
            <a:r>
              <a:rPr kumimoji="0" lang="en-US" altLang="zh-CN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Buffer[n]</a:t>
            </a:r>
            <a:endParaRPr kumimoji="0" lang="zh-CN" altLang="en-US" sz="12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5284788" y="984250"/>
            <a:ext cx="0" cy="255588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直接箭头连接符 12"/>
          <p:cNvCxnSpPr/>
          <p:nvPr/>
        </p:nvCxnSpPr>
        <p:spPr bwMode="auto">
          <a:xfrm>
            <a:off x="5284788" y="1630363"/>
            <a:ext cx="0" cy="257175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5284788" y="2159000"/>
            <a:ext cx="0" cy="255588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流程图: 过程 14"/>
          <p:cNvSpPr/>
          <p:nvPr/>
        </p:nvSpPr>
        <p:spPr bwMode="auto">
          <a:xfrm>
            <a:off x="3916363" y="2452688"/>
            <a:ext cx="2816225" cy="3556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依次检查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Buffer[0]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至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Buffer[4]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是否已经被生产者使用</a:t>
            </a:r>
          </a:p>
        </p:txBody>
      </p:sp>
      <p:cxnSp>
        <p:nvCxnSpPr>
          <p:cNvPr id="16" name="直接箭头连接符 15"/>
          <p:cNvCxnSpPr/>
          <p:nvPr/>
        </p:nvCxnSpPr>
        <p:spPr bwMode="auto">
          <a:xfrm>
            <a:off x="5280025" y="2855913"/>
            <a:ext cx="0" cy="257175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7" name="流程图: 过程 16"/>
          <p:cNvSpPr/>
          <p:nvPr/>
        </p:nvSpPr>
        <p:spPr bwMode="auto">
          <a:xfrm>
            <a:off x="3897313" y="3794125"/>
            <a:ext cx="2816225" cy="38893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将读取的字符串写入</a:t>
            </a:r>
            <a:r>
              <a:rPr kumimoji="0" lang="en-US" altLang="zh-CN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Buffer[n]</a:t>
            </a:r>
            <a:r>
              <a:rPr kumimoji="0" lang="zh-CN" altLang="en-US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，修改缓冲区状态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sp>
        <p:nvSpPr>
          <p:cNvPr id="18" name="流程图: 过程 17"/>
          <p:cNvSpPr/>
          <p:nvPr/>
        </p:nvSpPr>
        <p:spPr bwMode="auto">
          <a:xfrm>
            <a:off x="3916363" y="4440238"/>
            <a:ext cx="2816225" cy="2921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cxnSp>
        <p:nvCxnSpPr>
          <p:cNvPr id="19" name="直接箭头连接符 18"/>
          <p:cNvCxnSpPr/>
          <p:nvPr/>
        </p:nvCxnSpPr>
        <p:spPr bwMode="auto">
          <a:xfrm>
            <a:off x="5284788" y="3536950"/>
            <a:ext cx="0" cy="255588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直接箭头连接符 19"/>
          <p:cNvCxnSpPr/>
          <p:nvPr/>
        </p:nvCxnSpPr>
        <p:spPr bwMode="auto">
          <a:xfrm>
            <a:off x="5284788" y="4184650"/>
            <a:ext cx="0" cy="255588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接箭头连接符 20"/>
          <p:cNvCxnSpPr>
            <a:stCxn id="11" idx="1"/>
          </p:cNvCxnSpPr>
          <p:nvPr/>
        </p:nvCxnSpPr>
        <p:spPr bwMode="auto">
          <a:xfrm flipH="1" flipV="1">
            <a:off x="2789238" y="3295650"/>
            <a:ext cx="793750" cy="17463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flipV="1">
            <a:off x="2830513" y="3003550"/>
            <a:ext cx="0" cy="271463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>
            <a:off x="2782888" y="1762125"/>
            <a:ext cx="2492375" cy="0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接箭头连接符 23"/>
          <p:cNvCxnSpPr/>
          <p:nvPr/>
        </p:nvCxnSpPr>
        <p:spPr bwMode="auto">
          <a:xfrm>
            <a:off x="5275263" y="4746625"/>
            <a:ext cx="0" cy="255588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>
            <a:off x="5280025" y="5000625"/>
            <a:ext cx="2532063" cy="0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直接箭头连接符 25"/>
          <p:cNvCxnSpPr/>
          <p:nvPr/>
        </p:nvCxnSpPr>
        <p:spPr bwMode="auto">
          <a:xfrm flipV="1">
            <a:off x="7812088" y="1073150"/>
            <a:ext cx="0" cy="3835400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直接箭头连接符 26"/>
          <p:cNvCxnSpPr/>
          <p:nvPr/>
        </p:nvCxnSpPr>
        <p:spPr bwMode="auto">
          <a:xfrm flipH="1">
            <a:off x="5310188" y="1058863"/>
            <a:ext cx="2501900" cy="0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3479800" y="3057525"/>
            <a:ext cx="388938" cy="25558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否</a:t>
            </a: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5694363" y="3505200"/>
            <a:ext cx="390525" cy="25558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</a:t>
            </a:r>
          </a:p>
        </p:txBody>
      </p:sp>
      <p:sp>
        <p:nvSpPr>
          <p:cNvPr id="31" name="流程图: 过程 30"/>
          <p:cNvSpPr/>
          <p:nvPr/>
        </p:nvSpPr>
        <p:spPr bwMode="auto">
          <a:xfrm>
            <a:off x="1547813" y="2747963"/>
            <a:ext cx="1927225" cy="25558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sp>
        <p:nvSpPr>
          <p:cNvPr id="33" name="流程图: 过程 32"/>
          <p:cNvSpPr/>
          <p:nvPr/>
        </p:nvSpPr>
        <p:spPr bwMode="auto">
          <a:xfrm>
            <a:off x="1547813" y="2208213"/>
            <a:ext cx="1893888" cy="2413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sleep</a:t>
            </a: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一段时间</a:t>
            </a:r>
          </a:p>
        </p:txBody>
      </p:sp>
      <p:cxnSp>
        <p:nvCxnSpPr>
          <p:cNvPr id="34" name="直接箭头连接符 33"/>
          <p:cNvCxnSpPr/>
          <p:nvPr/>
        </p:nvCxnSpPr>
        <p:spPr bwMode="auto">
          <a:xfrm flipV="1">
            <a:off x="2789238" y="2463800"/>
            <a:ext cx="0" cy="269875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直接箭头连接符 34"/>
          <p:cNvCxnSpPr/>
          <p:nvPr/>
        </p:nvCxnSpPr>
        <p:spPr bwMode="auto">
          <a:xfrm flipH="1" flipV="1">
            <a:off x="2782888" y="1762125"/>
            <a:ext cx="6350" cy="431800"/>
          </a:xfrm>
          <a:prstGeom prst="straightConnector1">
            <a:avLst/>
          </a:prstGeom>
          <a:solidFill>
            <a:schemeClr val="accent1">
              <a:lumMod val="90000"/>
            </a:schemeClr>
          </a:solidFill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5" grpId="0" animBg="1"/>
      <p:bldP spid="17" grpId="0" animBg="1"/>
      <p:bldP spid="18" grpId="0" animBg="1"/>
      <p:bldP spid="28" grpId="0"/>
      <p:bldP spid="29" grpId="0"/>
      <p:bldP spid="31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训练原理：消费者的程序实现</a:t>
            </a:r>
          </a:p>
        </p:txBody>
      </p:sp>
      <p:sp>
        <p:nvSpPr>
          <p:cNvPr id="53250" name="Rectangle 3"/>
          <p:cNvSpPr>
            <a:spLocks noGrp="1"/>
          </p:cNvSpPr>
          <p:nvPr>
            <p:ph idx="1" hasCustomPrompt="1"/>
          </p:nvPr>
        </p:nvSpPr>
        <p:spPr>
          <a:xfrm>
            <a:off x="484188" y="481013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消费者任务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</a:t>
            </a:r>
          </a:p>
        </p:txBody>
      </p:sp>
      <p:sp>
        <p:nvSpPr>
          <p:cNvPr id="5325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6" name="流程图: 可选过程 5"/>
          <p:cNvSpPr/>
          <p:nvPr/>
        </p:nvSpPr>
        <p:spPr>
          <a:xfrm>
            <a:off x="3881438" y="33338"/>
            <a:ext cx="3979863" cy="282575"/>
          </a:xfrm>
          <a:prstGeom prst="flowChartAlternate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开始</a:t>
            </a:r>
          </a:p>
        </p:txBody>
      </p:sp>
      <p:sp>
        <p:nvSpPr>
          <p:cNvPr id="7" name="流程图: 过程 6"/>
          <p:cNvSpPr/>
          <p:nvPr/>
        </p:nvSpPr>
        <p:spPr bwMode="auto">
          <a:xfrm>
            <a:off x="3881438" y="544513"/>
            <a:ext cx="3979863" cy="30638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打开文本文件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consumerN.txt</a:t>
            </a:r>
            <a:endParaRPr kumimoji="0" lang="zh-CN" altLang="en-US" sz="14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cxnSp>
        <p:nvCxnSpPr>
          <p:cNvPr id="8" name="直接箭头连接符 7"/>
          <p:cNvCxnSpPr/>
          <p:nvPr/>
        </p:nvCxnSpPr>
        <p:spPr bwMode="auto">
          <a:xfrm>
            <a:off x="5837238" y="312738"/>
            <a:ext cx="0" cy="257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9" name="流程图: 过程 8"/>
          <p:cNvSpPr/>
          <p:nvPr/>
        </p:nvSpPr>
        <p:spPr bwMode="auto">
          <a:xfrm>
            <a:off x="3870325" y="4451350"/>
            <a:ext cx="3990975" cy="38893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printf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打印字符串，并将该字符串写入到文件中，修改缓冲区状态</a:t>
            </a:r>
          </a:p>
        </p:txBody>
      </p:sp>
      <p:sp>
        <p:nvSpPr>
          <p:cNvPr id="10" name="流程图: 过程 9"/>
          <p:cNvSpPr/>
          <p:nvPr/>
        </p:nvSpPr>
        <p:spPr bwMode="auto">
          <a:xfrm>
            <a:off x="3916363" y="1347788"/>
            <a:ext cx="3944938" cy="2921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sp>
        <p:nvSpPr>
          <p:cNvPr id="11" name="流程图: 决策 10"/>
          <p:cNvSpPr/>
          <p:nvPr/>
        </p:nvSpPr>
        <p:spPr bwMode="auto">
          <a:xfrm>
            <a:off x="3870325" y="2514600"/>
            <a:ext cx="3876675" cy="431800"/>
          </a:xfrm>
          <a:prstGeom prst="flowChartDecision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是否找到</a:t>
            </a:r>
            <a:r>
              <a:rPr kumimoji="0" lang="zh-CN" altLang="en-US" sz="1200" b="0" i="0" u="none" strike="noStrike" kern="1200" cap="none" spc="0" normalizeH="0" baseline="0" noProof="1">
                <a:solidFill>
                  <a:srgbClr val="FF0000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已被生产者使用</a:t>
            </a:r>
            <a:r>
              <a:rPr kumimoji="0" lang="zh-CN" altLang="en-US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的缓冲区</a:t>
            </a:r>
            <a:r>
              <a:rPr kumimoji="0" lang="en-US" altLang="zh-CN" sz="12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Buffer[n]</a:t>
            </a:r>
            <a:endParaRPr kumimoji="0" lang="zh-CN" altLang="en-US" sz="12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5811838" y="930275"/>
            <a:ext cx="0" cy="4175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>
            <a:off x="5811838" y="1617663"/>
            <a:ext cx="0" cy="257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15" name="流程图: 过程 14"/>
          <p:cNvSpPr/>
          <p:nvPr/>
        </p:nvSpPr>
        <p:spPr bwMode="auto">
          <a:xfrm>
            <a:off x="3916363" y="1912938"/>
            <a:ext cx="3944938" cy="354013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依次检查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Buffer[0]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至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Buffer[4]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是否已经被生产者使用</a:t>
            </a:r>
          </a:p>
        </p:txBody>
      </p:sp>
      <p:sp>
        <p:nvSpPr>
          <p:cNvPr id="17" name="流程图: 过程 16"/>
          <p:cNvSpPr/>
          <p:nvPr/>
        </p:nvSpPr>
        <p:spPr bwMode="auto">
          <a:xfrm>
            <a:off x="3897313" y="3198813"/>
            <a:ext cx="3990975" cy="390525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从缓冲区</a:t>
            </a:r>
            <a:r>
              <a:rPr kumimoji="0" lang="en-US" altLang="zh-CN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Buffer[n]</a:t>
            </a:r>
            <a:r>
              <a:rPr kumimoji="0" lang="zh-CN" altLang="en-US" sz="15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读取字符串</a:t>
            </a:r>
            <a:endParaRPr kumimoji="0" lang="zh-CN" altLang="en-US" sz="1800" b="0" i="0" u="none" strike="noStrike" kern="1200" cap="none" spc="0" normalizeH="0" baseline="0" noProof="1">
              <a:solidFill>
                <a:schemeClr val="tx1"/>
              </a:solidFill>
              <a:latin typeface="Arial" panose="020B0604020202090204" pitchFamily="34" charset="0"/>
              <a:ea typeface="黑体" panose="02010600030101010101" pitchFamily="49" charset="-122"/>
              <a:cs typeface="+mn-cs"/>
            </a:endParaRPr>
          </a:p>
        </p:txBody>
      </p:sp>
      <p:sp>
        <p:nvSpPr>
          <p:cNvPr id="18" name="流程图: 过程 17"/>
          <p:cNvSpPr/>
          <p:nvPr/>
        </p:nvSpPr>
        <p:spPr bwMode="auto">
          <a:xfrm>
            <a:off x="3916363" y="3903663"/>
            <a:ext cx="3971925" cy="255588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cxnSp>
        <p:nvCxnSpPr>
          <p:cNvPr id="21" name="直接箭头连接符 20"/>
          <p:cNvCxnSpPr/>
          <p:nvPr/>
        </p:nvCxnSpPr>
        <p:spPr bwMode="auto">
          <a:xfrm flipH="1">
            <a:off x="2789238" y="2733675"/>
            <a:ext cx="1092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2" name="直接箭头连接符 21"/>
          <p:cNvCxnSpPr/>
          <p:nvPr/>
        </p:nvCxnSpPr>
        <p:spPr bwMode="auto">
          <a:xfrm flipV="1">
            <a:off x="2830513" y="2408238"/>
            <a:ext cx="0" cy="2714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3" name="直接箭头连接符 22"/>
          <p:cNvCxnSpPr/>
          <p:nvPr/>
        </p:nvCxnSpPr>
        <p:spPr bwMode="auto">
          <a:xfrm>
            <a:off x="2782888" y="1112838"/>
            <a:ext cx="30289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5" name="直接箭头连接符 24"/>
          <p:cNvCxnSpPr/>
          <p:nvPr/>
        </p:nvCxnSpPr>
        <p:spPr bwMode="auto">
          <a:xfrm>
            <a:off x="5795963" y="5056188"/>
            <a:ext cx="23050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6" name="直接箭头连接符 25"/>
          <p:cNvCxnSpPr/>
          <p:nvPr/>
        </p:nvCxnSpPr>
        <p:spPr bwMode="auto">
          <a:xfrm flipV="1">
            <a:off x="8101013" y="1011238"/>
            <a:ext cx="0" cy="3962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27" name="直接箭头连接符 26"/>
          <p:cNvCxnSpPr/>
          <p:nvPr/>
        </p:nvCxnSpPr>
        <p:spPr bwMode="auto">
          <a:xfrm flipH="1">
            <a:off x="5795963" y="1006475"/>
            <a:ext cx="23050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sp>
        <p:nvSpPr>
          <p:cNvPr id="28" name="Rectangle 3"/>
          <p:cNvSpPr txBox="1">
            <a:spLocks noChangeArrowheads="1"/>
          </p:cNvSpPr>
          <p:nvPr/>
        </p:nvSpPr>
        <p:spPr bwMode="auto">
          <a:xfrm>
            <a:off x="3492500" y="2462213"/>
            <a:ext cx="388938" cy="25558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5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否</a:t>
            </a: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4376738" y="2921000"/>
            <a:ext cx="390525" cy="2540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35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是</a:t>
            </a:r>
          </a:p>
        </p:txBody>
      </p:sp>
      <p:sp>
        <p:nvSpPr>
          <p:cNvPr id="31" name="流程图: 过程 30"/>
          <p:cNvSpPr/>
          <p:nvPr/>
        </p:nvSpPr>
        <p:spPr bwMode="auto">
          <a:xfrm>
            <a:off x="1979613" y="2208213"/>
            <a:ext cx="1495425" cy="228600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信号量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V</a:t>
            </a: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操作</a:t>
            </a:r>
          </a:p>
        </p:txBody>
      </p:sp>
      <p:sp>
        <p:nvSpPr>
          <p:cNvPr id="33" name="流程图: 过程 32"/>
          <p:cNvSpPr/>
          <p:nvPr/>
        </p:nvSpPr>
        <p:spPr bwMode="auto">
          <a:xfrm>
            <a:off x="1979613" y="1666875"/>
            <a:ext cx="1512888" cy="239713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sleep</a:t>
            </a:r>
            <a:r>
              <a:rPr kumimoji="0" lang="zh-CN" altLang="en-US" sz="1600" b="0" i="0" u="none" strike="noStrike" kern="1200" cap="none" spc="0" normalizeH="0" baseline="0" noProof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  <a:cs typeface="+mn-cs"/>
              </a:rPr>
              <a:t>一段时间</a:t>
            </a:r>
          </a:p>
        </p:txBody>
      </p:sp>
      <p:cxnSp>
        <p:nvCxnSpPr>
          <p:cNvPr id="34" name="直接箭头连接符 33"/>
          <p:cNvCxnSpPr/>
          <p:nvPr/>
        </p:nvCxnSpPr>
        <p:spPr bwMode="auto">
          <a:xfrm flipV="1">
            <a:off x="2789238" y="1922463"/>
            <a:ext cx="0" cy="27146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5" name="直接箭头连接符 34"/>
          <p:cNvCxnSpPr/>
          <p:nvPr/>
        </p:nvCxnSpPr>
        <p:spPr bwMode="auto">
          <a:xfrm flipH="1" flipV="1">
            <a:off x="2782888" y="1138238"/>
            <a:ext cx="6350" cy="514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8" name="直接箭头连接符 37"/>
          <p:cNvCxnSpPr/>
          <p:nvPr/>
        </p:nvCxnSpPr>
        <p:spPr bwMode="auto">
          <a:xfrm>
            <a:off x="5795963" y="2992438"/>
            <a:ext cx="6350" cy="22701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39" name="直接箭头连接符 38"/>
          <p:cNvCxnSpPr/>
          <p:nvPr/>
        </p:nvCxnSpPr>
        <p:spPr bwMode="auto">
          <a:xfrm>
            <a:off x="5802313" y="2287588"/>
            <a:ext cx="4763" cy="228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0" name="直接箭头连接符 39"/>
          <p:cNvCxnSpPr/>
          <p:nvPr/>
        </p:nvCxnSpPr>
        <p:spPr bwMode="auto">
          <a:xfrm>
            <a:off x="5795963" y="4840288"/>
            <a:ext cx="0" cy="255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2" name="直接箭头连接符 41"/>
          <p:cNvCxnSpPr/>
          <p:nvPr/>
        </p:nvCxnSpPr>
        <p:spPr bwMode="auto">
          <a:xfrm>
            <a:off x="5802313" y="3598863"/>
            <a:ext cx="0" cy="255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3" name="直接箭头连接符 42"/>
          <p:cNvCxnSpPr/>
          <p:nvPr/>
        </p:nvCxnSpPr>
        <p:spPr bwMode="auto">
          <a:xfrm>
            <a:off x="5802313" y="4206875"/>
            <a:ext cx="0" cy="255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5" grpId="0" animBg="1"/>
      <p:bldP spid="17" grpId="0" animBg="1"/>
      <p:bldP spid="18" grpId="0" animBg="1"/>
      <p:bldP spid="28" grpId="0"/>
      <p:bldP spid="29" grpId="0"/>
      <p:bldP spid="31" grpId="0" animBg="1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训练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2</a:t>
            </a:r>
            <a:endParaRPr lang="zh-CN" altLang="en-US" kern="120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55298" name="Rectangle 3"/>
          <p:cNvSpPr>
            <a:spLocks noGrp="1"/>
          </p:cNvSpPr>
          <p:nvPr>
            <p:ph idx="1" hasCustomPrompt="1"/>
          </p:nvPr>
        </p:nvSpPr>
        <p:spPr>
          <a:xfrm>
            <a:off x="395288" y="750888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2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训练内容</a:t>
            </a:r>
            <a:endParaRPr lang="en-US" alt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综合运用所学知识在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Linux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系统上编写应用程序，要求至少支持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个生产者任务（进程）和</a:t>
            </a:r>
            <a:r>
              <a:rPr lang="en-US" altLang="zh-CN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个消费者任务（进程）的同时运行</a:t>
            </a:r>
          </a:p>
          <a:p>
            <a:pPr lvl="1" eaLnBrk="1" hangingPunct="1"/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生产者任务和消费者任务之间通过</a:t>
            </a:r>
            <a:r>
              <a:rPr lang="en-US" altLang="zh-CN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XSI</a:t>
            </a:r>
            <a:r>
              <a:rPr lang="zh-CN" altLang="en-US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共享内存机制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实现跨进程的共享缓冲池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生产者任务和消费者任务之间通过</a:t>
            </a:r>
            <a:r>
              <a:rPr lang="en-US" altLang="zh-CN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XSI</a:t>
            </a:r>
            <a:r>
              <a:rPr lang="zh-CN" altLang="en-US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信号量集机制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实现对缓冲池的互斥访问</a:t>
            </a:r>
            <a:endParaRPr lang="en-US" altLang="zh-CN" sz="19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生产者与消费者之间的</a:t>
            </a:r>
            <a:r>
              <a:rPr lang="zh-CN" altLang="en-US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同步</a:t>
            </a:r>
            <a:r>
              <a:rPr lang="zh-CN" altLang="en-US" sz="19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通过修改缓冲池结构中的</a:t>
            </a:r>
            <a:r>
              <a:rPr lang="zh-CN" altLang="en-US" sz="1900" b="1" kern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缓冲区状态变量来实现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299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Linux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编程技巧：实现多进程同时工作</a:t>
            </a:r>
          </a:p>
        </p:txBody>
      </p:sp>
      <p:sp>
        <p:nvSpPr>
          <p:cNvPr id="57346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/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分别编写、编译生产者程序和消费者程序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1" eaLnBrk="1" hangingPunct="1"/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lang="en-US" altLang="zh-CN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shell</a:t>
            </a:r>
            <a:r>
              <a:rPr lang="zh-CN" altLang="en-US" sz="21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中分别执行生产者程序或消费者程序，每执行一次产生一个生产者任务（进程）或消费者任务（进程）</a:t>
            </a:r>
            <a:endParaRPr lang="en-US" altLang="zh-CN" sz="21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编写一个应用程序，通过</a:t>
            </a:r>
            <a:r>
              <a:rPr lang="en-US" altLang="zh-CN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fork</a:t>
            </a:r>
            <a:r>
              <a:rPr lang="zh-CN" altLang="en-US" sz="24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创建子进程，在子进程中执行生产者的代码或消费者的代码</a:t>
            </a:r>
            <a:endPara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34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XSI IPC 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系统调用</a:t>
            </a:r>
          </a:p>
        </p:txBody>
      </p:sp>
      <p:graphicFrame>
        <p:nvGraphicFramePr>
          <p:cNvPr id="81922" name="内容占位符 81921"/>
          <p:cNvGraphicFramePr>
            <a:graphicFrameLocks noGrp="1"/>
          </p:cNvGraphicFramePr>
          <p:nvPr>
            <p:ph idx="1" hasCustomPrompt="1"/>
          </p:nvPr>
        </p:nvGraphicFramePr>
        <p:xfrm>
          <a:off x="484188" y="790575"/>
          <a:ext cx="8185150" cy="3530600"/>
        </p:xfrm>
        <a:graphic>
          <a:graphicData uri="http://schemas.openxmlformats.org/drawingml/2006/table">
            <a:tbl>
              <a:tblPr/>
              <a:tblGrid>
                <a:gridCol w="365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0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信号量集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共享内存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消息队列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15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创建或打开一个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对象，获得对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的访问权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semget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shmget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msgget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8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操作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发送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接收消息；连接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释放共享内存；信号量操作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semop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shmat/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shmdt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msgsnd/</a:t>
                      </a:r>
                    </a:p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msgrcv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21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控制：获得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修改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对象状态，“删除”</a:t>
                      </a: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IPC</a:t>
                      </a:r>
                      <a:r>
                        <a:rPr lang="zh-CN" altLang="en-US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对象等</a:t>
                      </a:r>
                      <a:endParaRPr lang="en-US" altLang="zh-CN">
                        <a:latin typeface="Arial" panose="020B060402020209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semctl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shmctl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>
                          <a:latin typeface="Arial" panose="020B0604020202090204" pitchFamily="34" charset="0"/>
                          <a:ea typeface="微软雅黑" panose="020B0503020204020204" pitchFamily="34" charset="-122"/>
                        </a:rPr>
                        <a:t>msgctl</a:t>
                      </a:r>
                    </a:p>
                  </a:txBody>
                  <a:tcPr marL="68582" marR="68582" marT="34293" marB="34293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42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en-US" altLang="zh-CN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参考代码：消费者读取共享内存</a:t>
            </a:r>
          </a:p>
        </p:txBody>
      </p:sp>
      <p:sp>
        <p:nvSpPr>
          <p:cNvPr id="6041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en-US" altLang="zh-CN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66563" name="TextBox 6"/>
          <p:cNvSpPr txBox="1">
            <a:spLocks noChangeArrowheads="1"/>
          </p:cNvSpPr>
          <p:nvPr/>
        </p:nvSpPr>
        <p:spPr bwMode="auto">
          <a:xfrm>
            <a:off x="638175" y="511175"/>
            <a:ext cx="3643313" cy="43513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struct shared_use_st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int written;//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非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0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：表示可读，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0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表示可写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char text[TEXT_SZ];//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记录写入和读取的文本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};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int main(){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int running = 1;</a:t>
            </a:r>
            <a:endParaRPr kumimoji="0" lang="zh-CN" altLang="en-US" sz="1400" b="0" i="0" u="none" strike="noStrike" kern="1200" cap="none" spc="0" normalizeH="0" baseline="0" noProof="1">
              <a:solidFill>
                <a:schemeClr val="tx1"/>
              </a:solidFill>
              <a:latin typeface="Times New Roman" panose="02020503050405090304" pitchFamily="18" charset="0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void *shm = NULL;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struct shared_use_st *shared;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int shmid;</a:t>
            </a:r>
            <a:r>
              <a:rPr kumimoji="0" lang="zh-CN" altLang="en-US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shmid = shmget((key_t)1234, sizeof(struct  shared_use_st), 0666|IPC_CREAT);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if(shmid == -1){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   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shm = shmat(shmid, 0, 0);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if(shm == (void*)-1){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   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1">
                <a:solidFill>
                  <a:srgbClr val="FF0000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shared = (struct shared_use_st*)shm;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kern="1200" cap="none" spc="0" normalizeH="0" baseline="0" noProof="1">
                <a:solidFill>
                  <a:schemeClr val="tx1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    </a:t>
            </a:r>
            <a:endParaRPr kumimoji="0" lang="en-US" altLang="zh-CN" sz="1400" b="0" i="0" u="none" strike="noStrike" kern="1200" cap="none" spc="0" normalizeH="0" baseline="0" noProof="1">
              <a:solidFill>
                <a:schemeClr val="tx1"/>
              </a:solidFill>
              <a:latin typeface="Times New Roman" panose="02020503050405090304" pitchFamily="18" charset="0"/>
              <a:ea typeface="Times New Roman" panose="02020503050405090304" pitchFamily="18" charset="0"/>
              <a:cs typeface="+mn-cs"/>
            </a:endParaRPr>
          </a:p>
        </p:txBody>
      </p:sp>
      <p:sp>
        <p:nvSpPr>
          <p:cNvPr id="66564" name="TextBox 7"/>
          <p:cNvSpPr txBox="1">
            <a:spLocks noChangeArrowheads="1"/>
          </p:cNvSpPr>
          <p:nvPr/>
        </p:nvSpPr>
        <p:spPr bwMode="auto">
          <a:xfrm>
            <a:off x="4859338" y="511175"/>
            <a:ext cx="3911600" cy="43386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while(running){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if(shared-&gt;written != 0)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printf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("You wrote: %s", shared-&gt;text);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sleep(rand() % 3);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shared-&gt;written = 0;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if(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strncmp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(shared-&gt;text, "end", 3) == 0)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running= 0;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else</a:t>
            </a:r>
            <a:endParaRPr kumimoji="0" lang="zh-CN" altLang="en-US" sz="1425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      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sleep(1);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if(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shmdt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 == -1)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{exit(EXIT_FAILURE);}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if(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shmctl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42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, IPC_RMID, 0) == -1)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{ 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exit(EXIT_SUCCESS);}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参考代码：生产者写共享内存</a:t>
            </a:r>
          </a:p>
        </p:txBody>
      </p:sp>
      <p:sp>
        <p:nvSpPr>
          <p:cNvPr id="6246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en-US" altLang="zh-CN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67587" name="TextBox 6"/>
          <p:cNvSpPr txBox="1">
            <a:spLocks noChangeArrowheads="1"/>
          </p:cNvSpPr>
          <p:nvPr/>
        </p:nvSpPr>
        <p:spPr bwMode="auto">
          <a:xfrm>
            <a:off x="350838" y="558800"/>
            <a:ext cx="4076700" cy="4246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742950" indent="-285750">
              <a:spcBef>
                <a:spcPct val="30000"/>
              </a:spcBef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b="1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int main()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int running = 1;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void *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= NULL;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struct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shared_use_st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*shared = NULL;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char buffer[BUFSIZ + 1];</a:t>
            </a:r>
            <a:endParaRPr kumimoji="0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int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=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shmget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key_t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)1234,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sizeof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(struct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shared_use_st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), 0666|IPC_CREAT);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if(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== -1){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=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shmat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, (void*)0, 0);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if(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== (void*)-1){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 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printf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("Memory attached at %X\n", (int)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);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shared = (struct 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shared_use_st</a:t>
            </a:r>
            <a:r>
              <a:rPr kumimoji="0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*)</a:t>
            </a:r>
            <a:r>
              <a:rPr kumimoji="0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;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606425"/>
            <a:ext cx="3816350" cy="4246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while(running){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if(shared-&gt;written == 1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 {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sleep(1);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printf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("Waiting...\n");}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else{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printf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("Enter some text: ");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fgets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(buffer, BUFSIZ,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stdin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);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strncpy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(shared-&gt;text,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buffer,TEXT_SZ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);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shared-&gt;written = 1;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}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if(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strncmp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(buffer, "end", 3) == 0)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 running = 0;  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if(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shmdt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) == -1)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{exit(EXIT_FAILURE);}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if(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shmctl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shmid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, IPC_RMID, 0) == -1)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{exit(EXIT_FAILURE);} 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503050405090304" pitchFamily="18" charset="0"/>
                <a:ea typeface="Microsoft YaHei" panose="020B0503020204020204" pitchFamily="34" charset="-122"/>
                <a:cs typeface="Times New Roman" panose="02020503050405090304" pitchFamily="18" charset="0"/>
              </a:rPr>
              <a:t>   exit(EXIT_SUCCESS);}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503050405090304" pitchFamily="18" charset="0"/>
              <a:ea typeface="Microsoft YaHei" panose="020B0503020204020204" pitchFamily="34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" descr="共享内存和信号量的配合机制_共享内存"/>
          <p:cNvPicPr>
            <a:picLocks noChangeAspect="1"/>
          </p:cNvPicPr>
          <p:nvPr/>
        </p:nvPicPr>
        <p:blipFill>
          <a:blip r:embed="rId3"/>
          <a:srcRect r="-279" b="999"/>
          <a:stretch>
            <a:fillRect/>
          </a:stretch>
        </p:blipFill>
        <p:spPr>
          <a:xfrm>
            <a:off x="684213" y="-20637"/>
            <a:ext cx="5572125" cy="5091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参考代码：创建或打开信号量集对象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84188" y="790575"/>
            <a:ext cx="6535738" cy="3860800"/>
          </a:xfrm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normAutofit fontScale="55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#include&lt;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stdio.h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#include&lt;sys/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sem.h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#define MYKEY 0x1a0a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       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semid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       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semid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semget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(MYKEY,1,IPC_CREAT|IPC_R | IPC_W| IPC_M);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       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printf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("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semid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=%d\n",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semid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        return 0;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}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6656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参考代码：信号量设置初始值</a:t>
            </a:r>
          </a:p>
        </p:txBody>
      </p:sp>
      <p:sp>
        <p:nvSpPr>
          <p:cNvPr id="69634" name="Rectangle 3"/>
          <p:cNvSpPr>
            <a:spLocks noGrp="1" noChangeArrowheads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normAutofit fontScale="92500"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init_sem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(int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sem_id,int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init_value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{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union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semun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sem_union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;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sem_union.val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init_value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;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if(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semctl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(sem_id,0,SETVAL,sem_union)==-1)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	{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		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perror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(“Initialize semaphore”);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		return -1;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	}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    return 1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；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}</a:t>
            </a:r>
          </a:p>
        </p:txBody>
      </p:sp>
      <p:sp>
        <p:nvSpPr>
          <p:cNvPr id="6861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参考代码：信号量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P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操作</a:t>
            </a:r>
          </a:p>
        </p:txBody>
      </p:sp>
      <p:sp>
        <p:nvSpPr>
          <p:cNvPr id="69634" name="Rectangle 3"/>
          <p:cNvSpPr>
            <a:spLocks noGrp="1"/>
          </p:cNvSpPr>
          <p:nvPr>
            <p:ph idx="1" hasCustomPrompt="1"/>
          </p:nvPr>
        </p:nvSpPr>
        <p:spPr>
          <a:xfrm>
            <a:off x="468313" y="733425"/>
            <a:ext cx="8185150" cy="3860800"/>
          </a:xfrm>
          <a:ln w="19050">
            <a:solidFill>
              <a:schemeClr val="accent1"/>
            </a:solidFill>
            <a:miter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semaphore_p(int sem_id,short sem_no)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struct sembuf sem_b;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sem_b.sem_num = sem_no;//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信号量集中信号量编号</a:t>
            </a:r>
            <a:endParaRPr lang="en-US" altLang="zh-CN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sem_b.sem_op = -1; // P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操作，每次分配</a:t>
            </a: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个资源</a:t>
            </a:r>
            <a:endParaRPr lang="en-US" altLang="zh-CN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sem_b.sem_flg = SEM_UNDO;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(semop(sem_id, &amp;sem_b, 1) == -1) 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perror( "semaphore_p failed");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return 0;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return 1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lang="en-US" altLang="zh-CN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sp>
        <p:nvSpPr>
          <p:cNvPr id="69635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参考代码：信号量</a:t>
            </a:r>
            <a:r>
              <a:rPr lang="en-US" altLang="zh-CN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</a:t>
            </a:r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操作</a:t>
            </a:r>
          </a:p>
        </p:txBody>
      </p:sp>
      <p:sp>
        <p:nvSpPr>
          <p:cNvPr id="71682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 w="19050">
            <a:solidFill>
              <a:schemeClr val="accent1"/>
            </a:solidFill>
            <a:miter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semaphore_v (int sem_id,short sem_no)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struct sembuf sem_b;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sem_b.sem_num = sem_no;//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信号量集中信号量编号</a:t>
            </a:r>
            <a:endParaRPr lang="en-US" altLang="zh-CN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sem_b.sem_op = 1; //V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操作，每次释放</a:t>
            </a: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个资源</a:t>
            </a:r>
            <a:endParaRPr lang="en-US" altLang="zh-CN" sz="17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sem_b.sem_flg = SEM_UNDO;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if (semop(sem_id, &amp;sem_b, 1) == -1) 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perror("semaphore_v failed");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return 0;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}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return 1;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altLang="zh-CN" sz="17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sp>
        <p:nvSpPr>
          <p:cNvPr id="7168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/>
          </p:cNvSpPr>
          <p:nvPr>
            <p:ph type="title"/>
          </p:nvPr>
        </p:nvSpPr>
        <p:spPr>
          <a:xfrm>
            <a:off x="500063" y="87313"/>
            <a:ext cx="8169275" cy="592137"/>
          </a:xfrm>
          <a:ln/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kern="12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参考代码：删除信号量对象</a:t>
            </a:r>
          </a:p>
        </p:txBody>
      </p:sp>
      <p:sp>
        <p:nvSpPr>
          <p:cNvPr id="72706" name="Rectangle 3"/>
          <p:cNvSpPr>
            <a:spLocks noGrp="1"/>
          </p:cNvSpPr>
          <p:nvPr>
            <p:ph idx="1" hasCustomPrompt="1"/>
          </p:nvPr>
        </p:nvSpPr>
        <p:spPr>
          <a:xfrm>
            <a:off x="484188" y="790575"/>
            <a:ext cx="8185150" cy="3860800"/>
          </a:xfrm>
          <a:ln w="19050">
            <a:solidFill>
              <a:schemeClr val="accent1"/>
            </a:solidFill>
            <a:miter/>
          </a:ln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int del_sem(int sem_id)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union semun sem_union;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if(semctl(sem_id,0,IPC_RMID,sem_union)==-1)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perror(“Delete semaphore”);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	return -1;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return 1</a:t>
            </a:r>
            <a:r>
              <a:rPr lang="zh-CN" altLang="en-US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lang="en-US" altLang="zh-CN" sz="20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000" kern="12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</a:p>
        </p:txBody>
      </p:sp>
      <p:sp>
        <p:nvSpPr>
          <p:cNvPr id="7270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0" y="4684713"/>
            <a:ext cx="2171700" cy="357187"/>
          </a:xfrm>
          <a:noFill/>
          <a:ln>
            <a:noFill/>
          </a:ln>
        </p:spPr>
        <p:txBody>
          <a:bodyPr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>
              <a:buFontTx/>
            </a:pPr>
            <a:r>
              <a:rPr lang="zh-CN" altLang="en-US" sz="1000">
                <a:solidFill>
                  <a:srgbClr val="767676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2"/>
          <p:cNvSpPr>
            <a:spLocks noGrp="1"/>
          </p:cNvSpPr>
          <p:nvPr>
            <p:ph type="title"/>
          </p:nvPr>
        </p:nvSpPr>
        <p:spPr>
          <a:xfrm>
            <a:off x="755576" y="987574"/>
            <a:ext cx="7886700" cy="2139950"/>
          </a:xfrm>
          <a:ln/>
        </p:spPr>
        <p:txBody>
          <a:bodyPr vert="horz" wrap="square" lIns="68580" tIns="34290" rIns="68580" bIns="34290" anchor="b" anchorCtr="0"/>
          <a:lstStyle/>
          <a:p>
            <a:pPr>
              <a:buNone/>
            </a:pPr>
            <a:r>
              <a:rPr lang="en-US" altLang="zh-CN" sz="4800" b="1" kern="1200" dirty="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Webserver</a:t>
            </a:r>
            <a:r>
              <a:rPr lang="zh-CN" altLang="en-US" sz="4800" b="1" kern="1200" dirty="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 </a:t>
            </a:r>
            <a:r>
              <a:rPr lang="en-US" altLang="zh-CN" sz="4800" b="1" kern="1200" dirty="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V0.4</a:t>
            </a:r>
            <a:r>
              <a:rPr lang="zh-CN" altLang="en-US" sz="4800" b="1" kern="1200" dirty="0">
                <a:latin typeface="微软雅黑" panose="020B0503020204020204" pitchFamily="34" charset="-122"/>
                <a:ea typeface="等线 Light" pitchFamily="2" charset="-122"/>
                <a:cs typeface="+mj-cs"/>
              </a:rPr>
              <a:t>版</a:t>
            </a:r>
            <a:br>
              <a:rPr lang="en-US" altLang="zh-CN" sz="4800" b="1" kern="1200" dirty="0">
                <a:latin typeface="微软雅黑" panose="020B0503020204020204" pitchFamily="34" charset="-122"/>
                <a:ea typeface="等线 Light" pitchFamily="2" charset="-122"/>
                <a:cs typeface="+mj-cs"/>
              </a:rPr>
            </a:br>
            <a:endParaRPr lang="zh-CN" altLang="en-US" sz="4800" b="1" kern="1200" dirty="0">
              <a:latin typeface="微软雅黑" panose="020B0503020204020204" pitchFamily="34" charset="-122"/>
              <a:ea typeface="等线 Light" pitchFamily="2" charset="-122"/>
              <a:cs typeface="+mj-cs"/>
            </a:endParaRPr>
          </a:p>
        </p:txBody>
      </p:sp>
      <p:sp>
        <p:nvSpPr>
          <p:cNvPr id="76802" name="文本框 2"/>
          <p:cNvSpPr txBox="1"/>
          <p:nvPr/>
        </p:nvSpPr>
        <p:spPr>
          <a:xfrm>
            <a:off x="1188964" y="2608412"/>
            <a:ext cx="486251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多进程处理客户请求</a:t>
            </a:r>
          </a:p>
        </p:txBody>
      </p:sp>
      <p:pic>
        <p:nvPicPr>
          <p:cNvPr id="2" name="Picture 2" descr="j0149481">
            <a:extLst>
              <a:ext uri="{FF2B5EF4-FFF2-40B4-BE49-F238E27FC236}">
                <a16:creationId xmlns:a16="http://schemas.microsoft.com/office/drawing/2014/main" id="{9A5918BC-A361-10F9-0F49-C563144C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2566020"/>
            <a:ext cx="2284412" cy="2320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FD3F3-24E9-30A9-0D09-2AA34D2A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2966A-D2D9-452A-104F-7812B954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68BA18-1390-B74B-3121-832C6574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" y="609165"/>
            <a:ext cx="9143027" cy="395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07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/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V0.4</a:t>
            </a:r>
            <a:r>
              <a:rPr lang="zh-CN" altLang="en-US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7826" name="文本框 3"/>
          <p:cNvSpPr txBox="1"/>
          <p:nvPr/>
        </p:nvSpPr>
        <p:spPr>
          <a:xfrm>
            <a:off x="526256" y="627534"/>
            <a:ext cx="8091488" cy="184999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600" dirty="0"/>
              <a:t>Web Server 后面要同时处理多个客户端请求。</a:t>
            </a:r>
            <a:r>
              <a:rPr lang="en-US" altLang="zh-CN" sz="1600" dirty="0"/>
              <a:t>V0.4</a:t>
            </a:r>
            <a:r>
              <a:rPr lang="zh-CN" altLang="en-US" sz="1600" dirty="0"/>
              <a:t>版本</a:t>
            </a:r>
            <a:r>
              <a:rPr lang="zh-CN" altLang="zh-CN" sz="1600" dirty="0"/>
              <a:t>用请求文件模拟客户端请求。父进程负责扫描请求文件并创建子进程，子进程负责处理一个请求，父进程等待所有子进程结束并记录结果。</a:t>
            </a:r>
            <a:endParaRPr lang="en-US" altLang="zh-CN" sz="1500" dirty="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zh-CN" sz="1500" dirty="0">
              <a:latin typeface="Arial" panose="020B0604020202090204" pitchFamily="34" charset="0"/>
            </a:endParaRP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zh-CN" altLang="en-US" sz="1500" dirty="0">
              <a:latin typeface="Arial" panose="020B060402020209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ABA0CD-3BEC-866C-DF49-9A6EBAAC9338}"/>
              </a:ext>
            </a:extLst>
          </p:cNvPr>
          <p:cNvSpPr txBox="1"/>
          <p:nvPr/>
        </p:nvSpPr>
        <p:spPr>
          <a:xfrm>
            <a:off x="4788024" y="1923678"/>
            <a:ext cx="4094163" cy="30083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rgbClr val="000000"/>
                </a:solidFill>
                <a:latin typeface="等线" pitchFamily="2" charset="-122"/>
                <a:ea typeface="等线" pitchFamily="2" charset="-122"/>
              </a:rPr>
              <a:t>修改文件包括</a:t>
            </a:r>
            <a:endParaRPr lang="en-US" altLang="zh-CN" sz="2000" dirty="0">
              <a:solidFill>
                <a:srgbClr val="000000"/>
              </a:solidFill>
              <a:latin typeface="等线" pitchFamily="2" charset="-122"/>
              <a:ea typeface="等线" pitchFamily="2" charset="-122"/>
            </a:endParaRPr>
          </a:p>
          <a:p>
            <a:pPr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latin typeface="Courier New" panose="02070409020205090404" pitchFamily="49" charset="0"/>
              </a:rPr>
              <a:t>src/main.c</a:t>
            </a:r>
          </a:p>
          <a:p>
            <a:pPr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latin typeface="Courier New" panose="02070409020205090404" pitchFamily="49" charset="0"/>
              </a:rPr>
              <a:t>src/log.c</a:t>
            </a:r>
          </a:p>
          <a:p>
            <a:pPr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latin typeface="Courier New" panose="02070409020205090404" pitchFamily="49" charset="0"/>
              </a:rPr>
              <a:t>include/log.h</a:t>
            </a:r>
          </a:p>
          <a:p>
            <a:pPr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latin typeface="Courier New" panose="02070409020205090404" pitchFamily="49" charset="0"/>
              </a:rPr>
              <a:t>Makefile</a:t>
            </a:r>
          </a:p>
          <a:p>
            <a:pPr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zh-CN" dirty="0">
                <a:latin typeface="Courier New" panose="02070409020205090404" pitchFamily="49" charset="0"/>
              </a:rPr>
              <a:t>README.md</a:t>
            </a:r>
          </a:p>
          <a:p>
            <a:pPr lvl="0" eaLnBrk="1" hangingPunct="1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>
                <a:latin typeface="Courier New" panose="02070409020205090404" pitchFamily="49" charset="0"/>
              </a:rPr>
              <a:t>docs/debug-</a:t>
            </a:r>
            <a:r>
              <a:rPr lang="en-US" altLang="zh-CN" dirty="0" err="1">
                <a:latin typeface="Courier New" panose="02070409020205090404" pitchFamily="49" charset="0"/>
              </a:rPr>
              <a:t>log.txt</a:t>
            </a:r>
            <a:r>
              <a:rPr lang="en-US" altLang="zh-CN" dirty="0">
                <a:latin typeface="Courier New" panose="02070409020205090404" pitchFamily="49" charset="0"/>
              </a:rPr>
              <a:t>(</a:t>
            </a:r>
            <a:r>
              <a:rPr lang="zh-CN" altLang="en-US" dirty="0">
                <a:latin typeface="Courier New" panose="02070409020205090404" pitchFamily="49" charset="0"/>
              </a:rPr>
              <a:t>可选</a:t>
            </a:r>
            <a:r>
              <a:rPr lang="en-US" altLang="zh-CN" dirty="0">
                <a:latin typeface="Courier New" panose="02070409020205090404" pitchFamily="49" charset="0"/>
              </a:rPr>
              <a:t>)</a:t>
            </a:r>
            <a:endParaRPr lang="zh-CN" altLang="zh-CN" dirty="0">
              <a:latin typeface="Courier New" panose="0207040902020509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98F935-6A96-8A52-F5B9-8A5683224595}"/>
              </a:ext>
            </a:extLst>
          </p:cNvPr>
          <p:cNvSpPr txBox="1"/>
          <p:nvPr/>
        </p:nvSpPr>
        <p:spPr>
          <a:xfrm>
            <a:off x="585911" y="1950666"/>
            <a:ext cx="3344863" cy="30008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新增文件包括：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include/request_handler.h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include/process_server.h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src/request_handler.c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src/process_server.c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tests/test_day04.sh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requests/hello.req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requests/user_find.req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requests/missing.req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/>
              <a:t>outputs/.gitkeep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5E25-93D0-40B1-DB00-463A2649C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标题 1">
            <a:extLst>
              <a:ext uri="{FF2B5EF4-FFF2-40B4-BE49-F238E27FC236}">
                <a16:creationId xmlns:a16="http://schemas.microsoft.com/office/drawing/2014/main" id="{2730B263-1D41-DDC0-511C-11DB9B1C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65088"/>
            <a:ext cx="6127750" cy="444500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V0.4</a:t>
            </a:r>
            <a:r>
              <a:rPr lang="zh-CN" altLang="en-US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zh-CN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endParaRPr lang="zh-CN" altLang="en-US" sz="1800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EA792E-D340-25F7-C5C8-DA48BFF48A7A}"/>
              </a:ext>
            </a:extLst>
          </p:cNvPr>
          <p:cNvSpPr txBox="1"/>
          <p:nvPr/>
        </p:nvSpPr>
        <p:spPr>
          <a:xfrm>
            <a:off x="473075" y="811213"/>
            <a:ext cx="3344863" cy="8810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requests/hello.req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GET /hello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B7832DC-B09D-E37E-AB63-1BA859EB694E}"/>
              </a:ext>
            </a:extLst>
          </p:cNvPr>
          <p:cNvSpPr txBox="1"/>
          <p:nvPr/>
        </p:nvSpPr>
        <p:spPr>
          <a:xfrm>
            <a:off x="473074" y="2046586"/>
            <a:ext cx="3344863" cy="8810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requests/user_find.req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GET /users/zhangsan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092C44-C2E5-0280-BE37-0F7DCF46F909}"/>
              </a:ext>
            </a:extLst>
          </p:cNvPr>
          <p:cNvSpPr txBox="1"/>
          <p:nvPr/>
        </p:nvSpPr>
        <p:spPr>
          <a:xfrm>
            <a:off x="473073" y="3437532"/>
            <a:ext cx="3344863" cy="8810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requests/missing.req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GET /not-found</a:t>
            </a:r>
          </a:p>
        </p:txBody>
      </p:sp>
      <p:sp>
        <p:nvSpPr>
          <p:cNvPr id="4" name="右箭头 3">
            <a:extLst>
              <a:ext uri="{FF2B5EF4-FFF2-40B4-BE49-F238E27FC236}">
                <a16:creationId xmlns:a16="http://schemas.microsoft.com/office/drawing/2014/main" id="{EDF846C9-9B17-4A31-6E4B-E992C54C02CD}"/>
              </a:ext>
            </a:extLst>
          </p:cNvPr>
          <p:cNvSpPr/>
          <p:nvPr/>
        </p:nvSpPr>
        <p:spPr>
          <a:xfrm>
            <a:off x="3851920" y="2127083"/>
            <a:ext cx="720080" cy="720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F6E45-4F90-BFFE-46B8-6DE41E6652D5}"/>
              </a:ext>
            </a:extLst>
          </p:cNvPr>
          <p:cNvSpPr txBox="1"/>
          <p:nvPr/>
        </p:nvSpPr>
        <p:spPr>
          <a:xfrm>
            <a:off x="4666902" y="702028"/>
            <a:ext cx="4094163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r>
              <a:rPr lang="zh-CN" altLang="zh-CN" dirty="0"/>
              <a:t>outputs/hello.out</a:t>
            </a:r>
          </a:p>
          <a:p>
            <a:r>
              <a:rPr lang="zh-CN" altLang="zh-CN" dirty="0"/>
              <a:t>HTTP/1.1 200 OK</a:t>
            </a:r>
          </a:p>
          <a:p>
            <a:r>
              <a:rPr lang="zh-CN" altLang="zh-CN" dirty="0"/>
              <a:t>Content-Type: text/html</a:t>
            </a:r>
          </a:p>
          <a:p>
            <a:r>
              <a:rPr lang="zh-CN" altLang="zh-CN" dirty="0"/>
              <a:t>Content-Length: 12</a:t>
            </a:r>
          </a:p>
          <a:p>
            <a:r>
              <a:rPr lang="zh-CN" altLang="zh-CN" dirty="0"/>
              <a:t>Hello, Web!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25E88F-6C96-137B-386E-C9B2126DB863}"/>
              </a:ext>
            </a:extLst>
          </p:cNvPr>
          <p:cNvSpPr txBox="1"/>
          <p:nvPr/>
        </p:nvSpPr>
        <p:spPr>
          <a:xfrm>
            <a:off x="4678405" y="2523997"/>
            <a:ext cx="441865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r>
              <a:rPr lang="zh-CN" altLang="zh-CN" dirty="0"/>
              <a:t>outputs/user_find.out</a:t>
            </a:r>
          </a:p>
          <a:p>
            <a:r>
              <a:rPr lang="zh-CN" altLang="zh-CN" dirty="0"/>
              <a:t>FOUND zhangsan 123456 13800000000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D7F2D7-E4C6-857E-1ACC-C2B7611AA136}"/>
              </a:ext>
            </a:extLst>
          </p:cNvPr>
          <p:cNvSpPr txBox="1"/>
          <p:nvPr/>
        </p:nvSpPr>
        <p:spPr>
          <a:xfrm>
            <a:off x="4678405" y="3641779"/>
            <a:ext cx="4094163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r>
              <a:rPr lang="zh-CN" altLang="zh-CN" dirty="0"/>
              <a:t>outputs/missing.out</a:t>
            </a:r>
            <a:endParaRPr lang="en-US" altLang="zh-CN" dirty="0"/>
          </a:p>
          <a:p>
            <a:r>
              <a:rPr lang="zh-CN" altLang="zh-CN" dirty="0"/>
              <a:t>HTTP/1.1 404 Not Found</a:t>
            </a:r>
          </a:p>
        </p:txBody>
      </p:sp>
    </p:spTree>
    <p:extLst>
      <p:ext uri="{BB962C8B-B14F-4D97-AF65-F5344CB8AC3E}">
        <p14:creationId xmlns:p14="http://schemas.microsoft.com/office/powerpoint/2010/main" val="1902876609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文本框 3"/>
          <p:cNvSpPr txBox="1"/>
          <p:nvPr/>
        </p:nvSpPr>
        <p:spPr>
          <a:xfrm>
            <a:off x="470018" y="771550"/>
            <a:ext cx="8609013" cy="335040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</a:lstStyle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/>
              <a:t>process requests 能创建多个子进程</a:t>
            </a:r>
            <a:endParaRPr lang="en-US" altLang="zh-CN" sz="2400" dirty="0"/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/>
              <a:t>每个请求文件都有对应输出文件</a:t>
            </a:r>
            <a:endParaRPr lang="en-US" altLang="zh-CN" sz="2400" dirty="0"/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/>
              <a:t>父进程能等待所有子进程结束</a:t>
            </a:r>
            <a:endParaRPr lang="en-US" altLang="zh-CN" sz="2400" dirty="0"/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/>
              <a:t>日志中能看到父进程和子进程记录</a:t>
            </a:r>
            <a:endParaRPr lang="en-US" altLang="zh-CN" sz="2400" dirty="0"/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sz="2400" dirty="0"/>
              <a:t>解释</a:t>
            </a:r>
            <a:r>
              <a:rPr lang="zh-CN" altLang="en-US" sz="2400" dirty="0"/>
              <a:t>：</a:t>
            </a:r>
            <a:r>
              <a:rPr lang="zh-CN" altLang="zh-CN" sz="2400" dirty="0"/>
              <a:t>fork 后父子进程分别执行了哪段代码</a:t>
            </a:r>
            <a:endParaRPr lang="en-US" altLang="zh-CN" sz="2400" dirty="0"/>
          </a:p>
          <a:p>
            <a:pPr marL="285750" lvl="0" indent="-285750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解释：</a:t>
            </a:r>
            <a:r>
              <a:rPr lang="zh-CN" altLang="zh-CN" sz="2400" dirty="0"/>
              <a:t>为什么要用 waitpid</a:t>
            </a:r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498475" y="87313"/>
            <a:ext cx="8170863" cy="592137"/>
          </a:xfrm>
          <a:ln/>
        </p:spPr>
        <p:txBody>
          <a:bodyPr vert="horz" wrap="square" lIns="68580" tIns="34290" rIns="68580" bIns="34290" anchor="ctr" anchorCtr="0"/>
          <a:lstStyle/>
          <a:p>
            <a:pPr eaLnBrk="1" hangingPunct="1"/>
            <a:r>
              <a:rPr lang="en-US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V0.4</a:t>
            </a:r>
            <a:r>
              <a:rPr lang="zh-CN" altLang="en-US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版 </a:t>
            </a:r>
            <a:r>
              <a:rPr lang="en-US" altLang="zh-CN" sz="1800" kern="1200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mini_webserver</a:t>
            </a:r>
            <a:r>
              <a:rPr lang="en-US" altLang="zh-CN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-</a:t>
            </a:r>
            <a:r>
              <a:rPr lang="zh-CN" altLang="en-US" sz="1800" kern="1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检查内容</a:t>
            </a:r>
            <a:endParaRPr lang="en-US" altLang="en-US" sz="1800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0164557"/>
  <p:tag name="MH_LIBRARY" val="CONTENTS"/>
  <p:tag name="MH_TYPE" val="ENTRY"/>
  <p:tag name="ID" val="553515"/>
  <p:tag name="MH_ORDER" val="1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ʾĸģ�</Template>
  <TotalTime>59</TotalTime>
  <Pages>28</Pages>
  <Words>4422</Words>
  <Application>Microsoft Macintosh PowerPoint</Application>
  <PresentationFormat>全屏显示(16:9)</PresentationFormat>
  <Paragraphs>527</Paragraphs>
  <Slides>41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-apple-system</vt:lpstr>
      <vt:lpstr>等线</vt:lpstr>
      <vt:lpstr>等线 Light</vt:lpstr>
      <vt:lpstr>Microsoft YaHei</vt:lpstr>
      <vt:lpstr>Microsoft YaHei</vt:lpstr>
      <vt:lpstr>Arial</vt:lpstr>
      <vt:lpstr>Comic Sans MS</vt:lpstr>
      <vt:lpstr>Courier New</vt:lpstr>
      <vt:lpstr>Times New Roman</vt:lpstr>
      <vt:lpstr>Wingdings</vt:lpstr>
      <vt:lpstr>1_自定义设计方案</vt:lpstr>
      <vt:lpstr>自定义设计方案</vt:lpstr>
      <vt:lpstr>W1D4：Linux操作系统并发编程之多进程</vt:lpstr>
      <vt:lpstr>讲授内容</vt:lpstr>
      <vt:lpstr>Linux操作系统并发编程之多进程</vt:lpstr>
      <vt:lpstr>Linux操作系统并发编程之多进程</vt:lpstr>
      <vt:lpstr>训练原理：创建子进程</vt:lpstr>
      <vt:lpstr>训练原理：创建子进程示例</vt:lpstr>
      <vt:lpstr>训练原理：fork函数执行后父子进程的异同</vt:lpstr>
      <vt:lpstr>训练原理： fork的用法</vt:lpstr>
      <vt:lpstr>训练原理：在进程中执行可执行文件</vt:lpstr>
      <vt:lpstr>进程的资源</vt:lpstr>
      <vt:lpstr>内核态用户态的两个示例</vt:lpstr>
      <vt:lpstr>训练原理：execl函数</vt:lpstr>
      <vt:lpstr>训练原理：execl示例代码</vt:lpstr>
      <vt:lpstr>训练原理：进程的终止</vt:lpstr>
      <vt:lpstr>训练原理： 等待子进程终止</vt:lpstr>
      <vt:lpstr>训练原理：等待子进程终止</vt:lpstr>
      <vt:lpstr>训练原理：waitpid代码示例</vt:lpstr>
      <vt:lpstr>训练1</vt:lpstr>
      <vt:lpstr>训练原理：任务的同步互斥</vt:lpstr>
      <vt:lpstr>训练原理：缓冲池的程序实现</vt:lpstr>
      <vt:lpstr>训练原理：生产者与消费者行为</vt:lpstr>
      <vt:lpstr>训练原理：生产者与消费者之间的互斥</vt:lpstr>
      <vt:lpstr>训练原理：生产者与消费者之间的同步</vt:lpstr>
      <vt:lpstr>训练原理：生产者的程序实现</vt:lpstr>
      <vt:lpstr>训练原理：消费者的程序实现</vt:lpstr>
      <vt:lpstr>训练2</vt:lpstr>
      <vt:lpstr>Linux编程技巧：实现多进程同时工作</vt:lpstr>
      <vt:lpstr>XSI IPC 系统调用</vt:lpstr>
      <vt:lpstr>参考代码：消费者读取共享内存</vt:lpstr>
      <vt:lpstr>参考代码：生产者写共享内存</vt:lpstr>
      <vt:lpstr>PowerPoint 演示文稿</vt:lpstr>
      <vt:lpstr>参考代码：创建或打开信号量集对象</vt:lpstr>
      <vt:lpstr>参考代码：信号量设置初始值</vt:lpstr>
      <vt:lpstr>参考代码：信号量P操作</vt:lpstr>
      <vt:lpstr>参考代码：信号量V操作</vt:lpstr>
      <vt:lpstr>参考代码：删除信号量对象</vt:lpstr>
      <vt:lpstr>Webserver V0.4版 </vt:lpstr>
      <vt:lpstr>PowerPoint 演示文稿</vt:lpstr>
      <vt:lpstr>V0.4版 mini_webserver</vt:lpstr>
      <vt:lpstr>V0.4版 mini_webserver</vt:lpstr>
      <vt:lpstr>V0.4版 mini_webserver-检查内容</vt:lpstr>
    </vt:vector>
  </TitlesOfParts>
  <Company>ӿƼ�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ڶ  ļĿ¼�</dc:title>
  <dc:subject>Guide for Creating Powerpoint Presentations</dc:subject>
  <dc:creator>�</dc:creator>
  <cp:lastModifiedBy>256657@qq.com</cp:lastModifiedBy>
  <cp:revision>939</cp:revision>
  <cp:lastPrinted>2026-07-01T07:45:18Z</cp:lastPrinted>
  <dcterms:created xsi:type="dcterms:W3CDTF">2026-07-01T07:45:18Z</dcterms:created>
  <dcterms:modified xsi:type="dcterms:W3CDTF">2026-07-01T09:44:56Z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1</vt:r8>
  </property>
  <property fmtid="{D5CDD505-2E9C-101B-9397-08002B2CF9AE}" pid="7" name="MailAddress">
    <vt:lpwstr>kejohnst@cisco.com</vt:lpwstr>
  </property>
  <property fmtid="{D5CDD505-2E9C-101B-9397-08002B2CF9AE}" pid="8" name="HomePage">
    <vt:lpwstr>cisco.netacad.net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2</vt:r8>
  </property>
  <property fmtid="{D5CDD505-2E9C-101B-9397-08002B2CF9AE}" pid="19" name="ShowNotes">
    <vt:bool>false</vt:bool>
  </property>
  <property fmtid="{D5CDD505-2E9C-101B-9397-08002B2CF9AE}" pid="20" name="NavBtnPos">
    <vt:r8>4</vt:r8>
  </property>
  <property fmtid="{D5CDD505-2E9C-101B-9397-08002B2CF9AE}" pid="21" name="OutputDir">
    <vt:lpwstr>C:\WINDOWS\Desktop</vt:lpwstr>
  </property>
  <property fmtid="{D5CDD505-2E9C-101B-9397-08002B2CF9AE}" pid="22" name="KSOProductBuildVer">
    <vt:lpwstr>2052-12.1.26016.26016</vt:lpwstr>
  </property>
  <property fmtid="{D5CDD505-2E9C-101B-9397-08002B2CF9AE}" pid="23" name="ICV">
    <vt:lpwstr>3FC15E8C9F5259C18EC5446A8653E1AB_43</vt:lpwstr>
  </property>
</Properties>
</file>