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61" r:id="rId2"/>
    <p:sldId id="588" r:id="rId3"/>
    <p:sldId id="559" r:id="rId4"/>
    <p:sldId id="642" r:id="rId5"/>
    <p:sldId id="626" r:id="rId6"/>
    <p:sldId id="661" r:id="rId7"/>
    <p:sldId id="662" r:id="rId8"/>
    <p:sldId id="663" r:id="rId9"/>
    <p:sldId id="664" r:id="rId10"/>
    <p:sldId id="665" r:id="rId11"/>
    <p:sldId id="666" r:id="rId12"/>
    <p:sldId id="667" r:id="rId13"/>
    <p:sldId id="668" r:id="rId14"/>
    <p:sldId id="669" r:id="rId15"/>
    <p:sldId id="670" r:id="rId16"/>
    <p:sldId id="671" r:id="rId17"/>
    <p:sldId id="672" r:id="rId18"/>
    <p:sldId id="673" r:id="rId19"/>
    <p:sldId id="674" r:id="rId20"/>
    <p:sldId id="675" r:id="rId21"/>
    <p:sldId id="676" r:id="rId22"/>
    <p:sldId id="677" r:id="rId23"/>
    <p:sldId id="678" r:id="rId24"/>
    <p:sldId id="679" r:id="rId25"/>
    <p:sldId id="680" r:id="rId26"/>
    <p:sldId id="706" r:id="rId27"/>
    <p:sldId id="681" r:id="rId28"/>
    <p:sldId id="707" r:id="rId29"/>
    <p:sldId id="708" r:id="rId30"/>
    <p:sldId id="618" r:id="rId31"/>
    <p:sldId id="1274" r:id="rId32"/>
    <p:sldId id="619" r:id="rId33"/>
    <p:sldId id="1271" r:id="rId34"/>
    <p:sldId id="1272" r:id="rId35"/>
    <p:sldId id="1273" r:id="rId36"/>
    <p:sldId id="1270" r:id="rId37"/>
  </p:sldIdLst>
  <p:sldSz cx="9144000" cy="5143500" type="screen16x9"/>
  <p:notesSz cx="7099300" cy="102346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2"/>
    <p:restoredTop sz="70161"/>
  </p:normalViewPr>
  <p:slideViewPr>
    <p:cSldViewPr showGuides="1">
      <p:cViewPr varScale="1">
        <p:scale>
          <a:sx n="97" d="100"/>
          <a:sy n="97" d="100"/>
        </p:scale>
        <p:origin x="1720" y="1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084590-6716-8C4B-86D1-11443F231045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>
                <a:ea typeface="微软雅黑" panose="020B0503020204020204" pitchFamily="34" charset="-122"/>
              </a:rPr>
              <a:t>‹#›</a:t>
            </a:fld>
            <a:endParaRPr lang="zh-CN" altLang="en-US" sz="120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6563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7867" tIns="38933" rIns="77867" bIns="38933" numCol="1" anchor="t" anchorCtr="0" compatLnSpc="1"/>
          <a:lstStyle>
            <a:lvl1pPr defTabSz="974725" eaLnBrk="0" hangingPunct="0">
              <a:buFont typeface="Arial" panose="020B0604020202090204" pitchFamily="34" charset="0"/>
              <a:buNone/>
              <a:defRPr sz="1300" b="0" i="0"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747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805488" y="0"/>
            <a:ext cx="446563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7867" tIns="38933" rIns="77867" bIns="38933" numCol="1" anchor="t" anchorCtr="0" compatLnSpc="1"/>
          <a:lstStyle>
            <a:lvl1pPr algn="r" defTabSz="974725" eaLnBrk="0" hangingPunct="0">
              <a:buFont typeface="Arial" panose="020B0604020202090204" pitchFamily="34" charset="0"/>
              <a:buNone/>
              <a:defRPr sz="1300" b="0" i="0"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r" defTabSz="9747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38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2400" y="523875"/>
            <a:ext cx="4775200" cy="268605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 noTextEdit="1"/>
          </p:cNvSpPr>
          <p:nvPr>
            <p:ph type="body" sz="quarter" idx="3"/>
          </p:nvPr>
        </p:nvSpPr>
        <p:spPr bwMode="auto">
          <a:xfrm>
            <a:off x="1341438" y="3382963"/>
            <a:ext cx="7478713" cy="3211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7867" tIns="38933" rIns="77867" bIns="38933" numCol="1" anchor="ctr" anchorCtr="0" compatLnSpc="1"/>
          <a:lstStyle/>
          <a:p>
            <a:pPr marL="113030" marR="0" lvl="0" indent="-113030" algn="l" defTabSz="102108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Pct val="100000"/>
              <a:buFontTx/>
              <a:buChar char="•"/>
              <a:defRPr/>
            </a:pP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69100"/>
            <a:ext cx="4465638" cy="347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7867" tIns="38933" rIns="77867" bIns="38933" numCol="1" anchor="b" anchorCtr="0" compatLnSpc="1"/>
          <a:lstStyle>
            <a:lvl1pPr defTabSz="974725" eaLnBrk="0" hangingPunct="0">
              <a:buFont typeface="Arial" panose="020B0604020202090204" pitchFamily="34" charset="0"/>
              <a:buNone/>
              <a:defRPr sz="1300" b="0" i="0"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747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805488" y="6769100"/>
            <a:ext cx="4465638" cy="347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7867" tIns="38933" rIns="77867" bIns="38933" numCol="1" anchor="b" anchorCtr="0" compatLnSpc="1"/>
          <a:lstStyle/>
          <a:p>
            <a:pPr lvl="0" algn="r" defTabSz="974725">
              <a:buNone/>
            </a:pPr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‹#›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113030" indent="-113030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1pPr>
    <a:lvl2pPr marL="482600" indent="-120650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2pPr>
    <a:lvl3pPr marL="967105" indent="-52705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3pPr>
    <a:lvl4pPr marL="1449705" indent="-78105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4pPr>
    <a:lvl5pPr marL="1932305" indent="-103505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sz="13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en-US" altLang="zh-CN" sz="1300">
                <a:ea typeface="微软雅黑" panose="020B0503020204020204" pitchFamily="34" charset="-122"/>
              </a:rPr>
              <a:t>3</a:t>
            </a:fld>
            <a:endParaRPr lang="en-US" altLang="zh-CN" sz="1300">
              <a:ea typeface="微软雅黑" panose="020B0503020204020204" pitchFamily="34" charset="-122"/>
            </a:endParaRPr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4D4D4D"/>
              </a:solidFill>
              <a:latin typeface="-apple-system"/>
            </a:endParaRPr>
          </a:p>
          <a:p>
            <a:pPr lvl="0"/>
            <a:endParaRPr lang="zh-CN" altLang="en-US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4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5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4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286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6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7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8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48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9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10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89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11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409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12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430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13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14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6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471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15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4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491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16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512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17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0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532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18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19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6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573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20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4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593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21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14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22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0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34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23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55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24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75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25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96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26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2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716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27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0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737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28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>
              <a:solidFill>
                <a:srgbClr val="333333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757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zh-CN" altLang="en-US" sz="1300">
                <a:ea typeface="微软雅黑" panose="020B0503020204020204" pitchFamily="34" charset="-122"/>
              </a:rPr>
              <a:t>29</a:t>
            </a:fld>
            <a:endParaRPr lang="zh-CN" altLang="en-US" sz="130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8850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/>
          </a:p>
        </p:txBody>
      </p:sp>
      <p:sp>
        <p:nvSpPr>
          <p:cNvPr id="788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en-US" sz="1300">
                <a:latin typeface="等线" pitchFamily="2" charset="-122"/>
                <a:ea typeface="等线" pitchFamily="2" charset="-122"/>
              </a:rPr>
              <a:t>32</a:t>
            </a:fld>
            <a:endParaRPr lang="en-US" altLang="en-US" sz="1300">
              <a:latin typeface="等线" pitchFamily="2" charset="-122"/>
              <a:ea typeface="等线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0898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r>
              <a:rPr lang="zh-CN" altLang="zh-CN"/>
              <a:t>链表查找：</a:t>
            </a:r>
          </a:p>
          <a:p>
            <a:pPr lvl="0"/>
            <a:r>
              <a:rPr lang="zh-CN" altLang="zh-CN"/>
              <a:t>zhangsan -&gt; lisi -&gt; wangwu -&gt; zhaoliu</a:t>
            </a:r>
          </a:p>
          <a:p>
            <a:pPr lvl="0"/>
            <a:r>
              <a:rPr lang="zh-CN" altLang="zh-CN"/>
              <a:t>如果要找 zhaoliu，可能要从头查到尾。</a:t>
            </a:r>
          </a:p>
          <a:p>
            <a:pPr lvl="0"/>
            <a:r>
              <a:rPr lang="zh-CN" altLang="zh-CN"/>
              <a:t>二叉查找树查找：</a:t>
            </a:r>
          </a:p>
          <a:p>
            <a:pPr lvl="0"/>
            <a:r>
              <a:rPr lang="zh-CN" altLang="zh-CN"/>
              <a:t>        lisi</a:t>
            </a:r>
          </a:p>
          <a:p>
            <a:pPr lvl="0"/>
            <a:r>
              <a:rPr lang="zh-CN" altLang="zh-CN"/>
              <a:t>       /    \</a:t>
            </a:r>
          </a:p>
          <a:p>
            <a:pPr lvl="0"/>
            <a:r>
              <a:rPr lang="zh-CN" altLang="zh-CN"/>
              <a:t> zhangsan  wangwu</a:t>
            </a:r>
          </a:p>
          <a:p>
            <a:pPr lvl="0"/>
            <a:r>
              <a:rPr lang="zh-CN" altLang="zh-CN"/>
              <a:t>              \</a:t>
            </a:r>
          </a:p>
          <a:p>
            <a:pPr lvl="0"/>
            <a:r>
              <a:rPr lang="zh-CN" altLang="zh-CN"/>
              <a:t>             zhaoliu</a:t>
            </a:r>
          </a:p>
          <a:p>
            <a:pPr lvl="0"/>
            <a:r>
              <a:rPr lang="zh-CN" altLang="zh-CN"/>
              <a:t>查找时根据字符串比较结果走左子树或右子树。</a:t>
            </a:r>
            <a:endParaRPr lang="en-US" altLang="zh-CN"/>
          </a:p>
          <a:p>
            <a:pPr lvl="0"/>
            <a:r>
              <a:rPr lang="zh-CN" altLang="zh-CN"/>
              <a:t>用户少时链表够用用户变多后，查找成本会变高Web Server 做认证时，每次请求都可能查用户查找模块要独立出来，后面可以替换实现</a:t>
            </a:r>
            <a:endParaRPr lang="en-US" altLang="zh-CN"/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808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en-US" sz="1300">
                <a:latin typeface="等线" pitchFamily="2" charset="-122"/>
                <a:ea typeface="等线" pitchFamily="2" charset="-122"/>
              </a:rPr>
              <a:t>33</a:t>
            </a:fld>
            <a:endParaRPr lang="en-US" altLang="en-US" sz="1300">
              <a:latin typeface="等线" pitchFamily="2" charset="-122"/>
              <a:ea typeface="等线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2946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r>
              <a:rPr lang="zh-CN" altLang="zh-CN"/>
              <a:t>user_t *user 指向链表里的用户树节点</a:t>
            </a:r>
            <a:endParaRPr lang="en-US" altLang="zh-CN"/>
          </a:p>
          <a:p>
            <a:pPr lvl="0"/>
            <a:r>
              <a:rPr lang="zh-CN" altLang="zh-CN"/>
              <a:t>不复制用户数据这样可以避免一份用户数据在两个地方不一致</a:t>
            </a:r>
            <a:endParaRPr lang="en-US" altLang="zh-CN"/>
          </a:p>
          <a:p>
            <a:pPr lvl="0"/>
            <a:r>
              <a:rPr lang="zh-CN" altLang="zh-CN"/>
              <a:t>释放时只释放树节点，不能释放 user</a:t>
            </a:r>
            <a:endParaRPr lang="en-US" altLang="zh-CN"/>
          </a:p>
          <a:p>
            <a:pPr lvl="0"/>
            <a:r>
              <a:rPr lang="zh-CN" altLang="zh-CN"/>
              <a:t>user_store_free 负责释放用户本体</a:t>
            </a:r>
            <a:endParaRPr lang="zh-CN" altLang="en-US"/>
          </a:p>
        </p:txBody>
      </p:sp>
      <p:sp>
        <p:nvSpPr>
          <p:cNvPr id="829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en-US" sz="1300">
                <a:latin typeface="等线" pitchFamily="2" charset="-122"/>
                <a:ea typeface="等线" pitchFamily="2" charset="-122"/>
              </a:rPr>
              <a:t>34</a:t>
            </a:fld>
            <a:endParaRPr lang="en-US" altLang="en-US" sz="1300">
              <a:latin typeface="等线" pitchFamily="2" charset="-122"/>
              <a:ea typeface="等线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4994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/>
          </a:p>
        </p:txBody>
      </p:sp>
      <p:sp>
        <p:nvSpPr>
          <p:cNvPr id="849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en-US" sz="1300">
                <a:latin typeface="等线" pitchFamily="2" charset="-122"/>
                <a:ea typeface="等线" pitchFamily="2" charset="-122"/>
              </a:rPr>
              <a:t>35</a:t>
            </a:fld>
            <a:endParaRPr lang="en-US" altLang="en-US" sz="1300">
              <a:latin typeface="等线" pitchFamily="2" charset="-122"/>
              <a:ea typeface="等线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25650"/>
            <a:ext cx="9144000" cy="12541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4FEE"/>
              </a:highlight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87043" name="组合 7"/>
          <p:cNvGrpSpPr>
            <a:grpSpLocks noChangeAspect="1"/>
          </p:cNvGrpSpPr>
          <p:nvPr userDrawn="1"/>
        </p:nvGrpSpPr>
        <p:grpSpPr>
          <a:xfrm>
            <a:off x="1214438" y="798513"/>
            <a:ext cx="6292850" cy="679450"/>
            <a:chOff x="8394642" y="741050"/>
            <a:chExt cx="2932231" cy="316260"/>
          </a:xfrm>
        </p:grpSpPr>
        <p:grpSp>
          <p:nvGrpSpPr>
            <p:cNvPr id="7" name="组合 6"/>
            <p:cNvGrpSpPr/>
            <p:nvPr/>
          </p:nvGrpSpPr>
          <p:grpSpPr>
            <a:xfrm>
              <a:off x="9984674" y="807628"/>
              <a:ext cx="1342199" cy="203423"/>
              <a:chOff x="5932112" y="3305663"/>
              <a:chExt cx="2557537" cy="387619"/>
            </a:xfrm>
            <a:solidFill>
              <a:srgbClr val="304394"/>
            </a:solidFill>
          </p:grpSpPr>
          <p:pic>
            <p:nvPicPr>
              <p:cNvPr id="10" name="图形 6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936891" y="3612719"/>
                <a:ext cx="2552758" cy="80563"/>
              </a:xfrm>
              <a:prstGeom prst="rect">
                <a:avLst/>
              </a:prstGeom>
            </p:spPr>
          </p:pic>
          <p:grpSp>
            <p:nvGrpSpPr>
              <p:cNvPr id="11" name="图形 378"/>
              <p:cNvGrpSpPr/>
              <p:nvPr/>
            </p:nvGrpSpPr>
            <p:grpSpPr>
              <a:xfrm>
                <a:off x="5932112" y="3305663"/>
                <a:ext cx="2553136" cy="260956"/>
                <a:chOff x="5932112" y="3305663"/>
                <a:chExt cx="2553136" cy="260956"/>
              </a:xfrm>
              <a:grpFill/>
            </p:grpSpPr>
            <p:sp>
              <p:nvSpPr>
                <p:cNvPr id="12" name="任意多边形: 形状 12"/>
                <p:cNvSpPr/>
                <p:nvPr/>
              </p:nvSpPr>
              <p:spPr>
                <a:xfrm>
                  <a:off x="5932112" y="3305663"/>
                  <a:ext cx="261335" cy="260767"/>
                </a:xfrm>
                <a:custGeom>
                  <a:avLst/>
                  <a:gdLst>
                    <a:gd name="connsiteX0" fmla="*/ 0 w 261335"/>
                    <a:gd name="connsiteY0" fmla="*/ 130100 h 260767"/>
                    <a:gd name="connsiteX1" fmla="*/ 11552 w 261335"/>
                    <a:gd name="connsiteY1" fmla="*/ 99989 h 260767"/>
                    <a:gd name="connsiteX2" fmla="*/ 22914 w 261335"/>
                    <a:gd name="connsiteY2" fmla="*/ 64766 h 260767"/>
                    <a:gd name="connsiteX3" fmla="*/ 32572 w 261335"/>
                    <a:gd name="connsiteY3" fmla="*/ 29732 h 260767"/>
                    <a:gd name="connsiteX4" fmla="*/ 39200 w 261335"/>
                    <a:gd name="connsiteY4" fmla="*/ 1136 h 260767"/>
                    <a:gd name="connsiteX5" fmla="*/ 78401 w 261335"/>
                    <a:gd name="connsiteY5" fmla="*/ 1136 h 260767"/>
                    <a:gd name="connsiteX6" fmla="*/ 72151 w 261335"/>
                    <a:gd name="connsiteY6" fmla="*/ 28217 h 260767"/>
                    <a:gd name="connsiteX7" fmla="*/ 63819 w 261335"/>
                    <a:gd name="connsiteY7" fmla="*/ 59274 h 260767"/>
                    <a:gd name="connsiteX8" fmla="*/ 63819 w 261335"/>
                    <a:gd name="connsiteY8" fmla="*/ 260768 h 260767"/>
                    <a:gd name="connsiteX9" fmla="*/ 27838 w 261335"/>
                    <a:gd name="connsiteY9" fmla="*/ 260768 h 260767"/>
                    <a:gd name="connsiteX10" fmla="*/ 27838 w 261335"/>
                    <a:gd name="connsiteY10" fmla="*/ 130100 h 260767"/>
                    <a:gd name="connsiteX11" fmla="*/ 0 w 261335"/>
                    <a:gd name="connsiteY11" fmla="*/ 130100 h 260767"/>
                    <a:gd name="connsiteX12" fmla="*/ 150742 w 261335"/>
                    <a:gd name="connsiteY12" fmla="*/ 17233 h 260767"/>
                    <a:gd name="connsiteX13" fmla="*/ 148848 w 261335"/>
                    <a:gd name="connsiteY13" fmla="*/ 8901 h 260767"/>
                    <a:gd name="connsiteX14" fmla="*/ 146386 w 261335"/>
                    <a:gd name="connsiteY14" fmla="*/ 0 h 260767"/>
                    <a:gd name="connsiteX15" fmla="*/ 188806 w 261335"/>
                    <a:gd name="connsiteY15" fmla="*/ 0 h 260767"/>
                    <a:gd name="connsiteX16" fmla="*/ 191267 w 261335"/>
                    <a:gd name="connsiteY16" fmla="*/ 7954 h 260767"/>
                    <a:gd name="connsiteX17" fmla="*/ 193919 w 261335"/>
                    <a:gd name="connsiteY17" fmla="*/ 17044 h 260767"/>
                    <a:gd name="connsiteX18" fmla="*/ 261336 w 261335"/>
                    <a:gd name="connsiteY18" fmla="*/ 17044 h 260767"/>
                    <a:gd name="connsiteX19" fmla="*/ 261336 w 261335"/>
                    <a:gd name="connsiteY19" fmla="*/ 47343 h 260767"/>
                    <a:gd name="connsiteX20" fmla="*/ 86165 w 261335"/>
                    <a:gd name="connsiteY20" fmla="*/ 47343 h 260767"/>
                    <a:gd name="connsiteX21" fmla="*/ 86165 w 261335"/>
                    <a:gd name="connsiteY21" fmla="*/ 17044 h 260767"/>
                    <a:gd name="connsiteX22" fmla="*/ 150742 w 261335"/>
                    <a:gd name="connsiteY22" fmla="*/ 17044 h 260767"/>
                    <a:gd name="connsiteX23" fmla="*/ 255086 w 261335"/>
                    <a:gd name="connsiteY23" fmla="*/ 64198 h 260767"/>
                    <a:gd name="connsiteX24" fmla="*/ 255086 w 261335"/>
                    <a:gd name="connsiteY24" fmla="*/ 93361 h 260767"/>
                    <a:gd name="connsiteX25" fmla="*/ 92225 w 261335"/>
                    <a:gd name="connsiteY25" fmla="*/ 93361 h 260767"/>
                    <a:gd name="connsiteX26" fmla="*/ 92225 w 261335"/>
                    <a:gd name="connsiteY26" fmla="*/ 64198 h 260767"/>
                    <a:gd name="connsiteX27" fmla="*/ 255086 w 261335"/>
                    <a:gd name="connsiteY27" fmla="*/ 64198 h 260767"/>
                    <a:gd name="connsiteX28" fmla="*/ 255086 w 261335"/>
                    <a:gd name="connsiteY28" fmla="*/ 110026 h 260767"/>
                    <a:gd name="connsiteX29" fmla="*/ 255086 w 261335"/>
                    <a:gd name="connsiteY29" fmla="*/ 139568 h 260767"/>
                    <a:gd name="connsiteX30" fmla="*/ 92225 w 261335"/>
                    <a:gd name="connsiteY30" fmla="*/ 139568 h 260767"/>
                    <a:gd name="connsiteX31" fmla="*/ 92225 w 261335"/>
                    <a:gd name="connsiteY31" fmla="*/ 110026 h 260767"/>
                    <a:gd name="connsiteX32" fmla="*/ 255086 w 261335"/>
                    <a:gd name="connsiteY32" fmla="*/ 110026 h 260767"/>
                    <a:gd name="connsiteX33" fmla="*/ 254708 w 261335"/>
                    <a:gd name="connsiteY33" fmla="*/ 156233 h 260767"/>
                    <a:gd name="connsiteX34" fmla="*/ 254708 w 261335"/>
                    <a:gd name="connsiteY34" fmla="*/ 260578 h 260767"/>
                    <a:gd name="connsiteX35" fmla="*/ 92604 w 261335"/>
                    <a:gd name="connsiteY35" fmla="*/ 260578 h 260767"/>
                    <a:gd name="connsiteX36" fmla="*/ 92604 w 261335"/>
                    <a:gd name="connsiteY36" fmla="*/ 156233 h 260767"/>
                    <a:gd name="connsiteX37" fmla="*/ 254708 w 261335"/>
                    <a:gd name="connsiteY37" fmla="*/ 156233 h 260767"/>
                    <a:gd name="connsiteX38" fmla="*/ 128585 w 261335"/>
                    <a:gd name="connsiteY38" fmla="*/ 230657 h 260767"/>
                    <a:gd name="connsiteX39" fmla="*/ 218916 w 261335"/>
                    <a:gd name="connsiteY39" fmla="*/ 230657 h 260767"/>
                    <a:gd name="connsiteX40" fmla="*/ 218916 w 261335"/>
                    <a:gd name="connsiteY40" fmla="*/ 186154 h 260767"/>
                    <a:gd name="connsiteX41" fmla="*/ 128585 w 261335"/>
                    <a:gd name="connsiteY41" fmla="*/ 186154 h 260767"/>
                    <a:gd name="connsiteX42" fmla="*/ 128585 w 261335"/>
                    <a:gd name="connsiteY42" fmla="*/ 230657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61335" h="260767">
                      <a:moveTo>
                        <a:pt x="0" y="130100"/>
                      </a:moveTo>
                      <a:cubicBezTo>
                        <a:pt x="3787" y="121578"/>
                        <a:pt x="7764" y="111541"/>
                        <a:pt x="11552" y="99989"/>
                      </a:cubicBezTo>
                      <a:cubicBezTo>
                        <a:pt x="15529" y="88438"/>
                        <a:pt x="19316" y="76696"/>
                        <a:pt x="22914" y="64766"/>
                      </a:cubicBezTo>
                      <a:cubicBezTo>
                        <a:pt x="26512" y="52646"/>
                        <a:pt x="29732" y="41094"/>
                        <a:pt x="32572" y="29732"/>
                      </a:cubicBezTo>
                      <a:cubicBezTo>
                        <a:pt x="35413" y="18369"/>
                        <a:pt x="37685" y="8901"/>
                        <a:pt x="39200" y="1136"/>
                      </a:cubicBezTo>
                      <a:lnTo>
                        <a:pt x="78401" y="1136"/>
                      </a:lnTo>
                      <a:cubicBezTo>
                        <a:pt x="76696" y="9090"/>
                        <a:pt x="74613" y="18180"/>
                        <a:pt x="72151" y="28217"/>
                      </a:cubicBezTo>
                      <a:cubicBezTo>
                        <a:pt x="69690" y="38253"/>
                        <a:pt x="66849" y="48669"/>
                        <a:pt x="63819" y="59274"/>
                      </a:cubicBezTo>
                      <a:lnTo>
                        <a:pt x="63819" y="260768"/>
                      </a:lnTo>
                      <a:lnTo>
                        <a:pt x="27838" y="260768"/>
                      </a:lnTo>
                      <a:lnTo>
                        <a:pt x="27838" y="130100"/>
                      </a:lnTo>
                      <a:lnTo>
                        <a:pt x="0" y="130100"/>
                      </a:lnTo>
                      <a:close/>
                      <a:moveTo>
                        <a:pt x="150742" y="17233"/>
                      </a:moveTo>
                      <a:cubicBezTo>
                        <a:pt x="150173" y="14392"/>
                        <a:pt x="149605" y="11552"/>
                        <a:pt x="148848" y="8901"/>
                      </a:cubicBezTo>
                      <a:cubicBezTo>
                        <a:pt x="148090" y="6249"/>
                        <a:pt x="147333" y="3219"/>
                        <a:pt x="146386" y="0"/>
                      </a:cubicBezTo>
                      <a:lnTo>
                        <a:pt x="188806" y="0"/>
                      </a:lnTo>
                      <a:cubicBezTo>
                        <a:pt x="189563" y="2462"/>
                        <a:pt x="190321" y="5113"/>
                        <a:pt x="191267" y="7954"/>
                      </a:cubicBezTo>
                      <a:cubicBezTo>
                        <a:pt x="192214" y="10794"/>
                        <a:pt x="192972" y="13824"/>
                        <a:pt x="193919" y="17044"/>
                      </a:cubicBezTo>
                      <a:lnTo>
                        <a:pt x="261336" y="17044"/>
                      </a:lnTo>
                      <a:lnTo>
                        <a:pt x="261336" y="47343"/>
                      </a:lnTo>
                      <a:lnTo>
                        <a:pt x="86165" y="47343"/>
                      </a:lnTo>
                      <a:lnTo>
                        <a:pt x="86165" y="17044"/>
                      </a:lnTo>
                      <a:lnTo>
                        <a:pt x="150742" y="17044"/>
                      </a:lnTo>
                      <a:close/>
                      <a:moveTo>
                        <a:pt x="255086" y="64198"/>
                      </a:moveTo>
                      <a:lnTo>
                        <a:pt x="255086" y="93361"/>
                      </a:lnTo>
                      <a:lnTo>
                        <a:pt x="92225" y="93361"/>
                      </a:lnTo>
                      <a:lnTo>
                        <a:pt x="92225" y="64198"/>
                      </a:lnTo>
                      <a:lnTo>
                        <a:pt x="255086" y="64198"/>
                      </a:lnTo>
                      <a:close/>
                      <a:moveTo>
                        <a:pt x="255086" y="110026"/>
                      </a:moveTo>
                      <a:lnTo>
                        <a:pt x="255086" y="139568"/>
                      </a:lnTo>
                      <a:lnTo>
                        <a:pt x="92225" y="139568"/>
                      </a:lnTo>
                      <a:lnTo>
                        <a:pt x="92225" y="110026"/>
                      </a:lnTo>
                      <a:lnTo>
                        <a:pt x="255086" y="110026"/>
                      </a:lnTo>
                      <a:close/>
                      <a:moveTo>
                        <a:pt x="254708" y="156233"/>
                      </a:moveTo>
                      <a:lnTo>
                        <a:pt x="254708" y="260578"/>
                      </a:lnTo>
                      <a:lnTo>
                        <a:pt x="92604" y="260578"/>
                      </a:lnTo>
                      <a:lnTo>
                        <a:pt x="92604" y="156233"/>
                      </a:lnTo>
                      <a:lnTo>
                        <a:pt x="254708" y="156233"/>
                      </a:lnTo>
                      <a:close/>
                      <a:moveTo>
                        <a:pt x="128585" y="230657"/>
                      </a:moveTo>
                      <a:lnTo>
                        <a:pt x="218916" y="230657"/>
                      </a:lnTo>
                      <a:lnTo>
                        <a:pt x="218916" y="186154"/>
                      </a:lnTo>
                      <a:lnTo>
                        <a:pt x="128585" y="186154"/>
                      </a:lnTo>
                      <a:lnTo>
                        <a:pt x="128585" y="230657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3" name="任意多边形: 形状 13"/>
                <p:cNvSpPr/>
                <p:nvPr/>
              </p:nvSpPr>
              <p:spPr>
                <a:xfrm>
                  <a:off x="6222990" y="3305663"/>
                  <a:ext cx="252813" cy="260767"/>
                </a:xfrm>
                <a:custGeom>
                  <a:avLst/>
                  <a:gdLst>
                    <a:gd name="connsiteX0" fmla="*/ 0 w 252813"/>
                    <a:gd name="connsiteY0" fmla="*/ 260768 h 260767"/>
                    <a:gd name="connsiteX1" fmla="*/ 5113 w 252813"/>
                    <a:gd name="connsiteY1" fmla="*/ 235960 h 260767"/>
                    <a:gd name="connsiteX2" fmla="*/ 9658 w 252813"/>
                    <a:gd name="connsiteY2" fmla="*/ 208690 h 260767"/>
                    <a:gd name="connsiteX3" fmla="*/ 13256 w 252813"/>
                    <a:gd name="connsiteY3" fmla="*/ 181988 h 260767"/>
                    <a:gd name="connsiteX4" fmla="*/ 15339 w 252813"/>
                    <a:gd name="connsiteY4" fmla="*/ 159642 h 260767"/>
                    <a:gd name="connsiteX5" fmla="*/ 53403 w 252813"/>
                    <a:gd name="connsiteY5" fmla="*/ 159642 h 260767"/>
                    <a:gd name="connsiteX6" fmla="*/ 50752 w 252813"/>
                    <a:gd name="connsiteY6" fmla="*/ 184261 h 260767"/>
                    <a:gd name="connsiteX7" fmla="*/ 46965 w 252813"/>
                    <a:gd name="connsiteY7" fmla="*/ 211909 h 260767"/>
                    <a:gd name="connsiteX8" fmla="*/ 42420 w 252813"/>
                    <a:gd name="connsiteY8" fmla="*/ 238800 h 260767"/>
                    <a:gd name="connsiteX9" fmla="*/ 37685 w 252813"/>
                    <a:gd name="connsiteY9" fmla="*/ 260768 h 260767"/>
                    <a:gd name="connsiteX10" fmla="*/ 0 w 252813"/>
                    <a:gd name="connsiteY10" fmla="*/ 260768 h 260767"/>
                    <a:gd name="connsiteX11" fmla="*/ 80484 w 252813"/>
                    <a:gd name="connsiteY11" fmla="*/ 12877 h 260767"/>
                    <a:gd name="connsiteX12" fmla="*/ 84271 w 252813"/>
                    <a:gd name="connsiteY12" fmla="*/ 0 h 260767"/>
                    <a:gd name="connsiteX13" fmla="*/ 134455 w 252813"/>
                    <a:gd name="connsiteY13" fmla="*/ 0 h 260767"/>
                    <a:gd name="connsiteX14" fmla="*/ 132940 w 252813"/>
                    <a:gd name="connsiteY14" fmla="*/ 6439 h 260767"/>
                    <a:gd name="connsiteX15" fmla="*/ 130857 w 252813"/>
                    <a:gd name="connsiteY15" fmla="*/ 12877 h 260767"/>
                    <a:gd name="connsiteX16" fmla="*/ 238043 w 252813"/>
                    <a:gd name="connsiteY16" fmla="*/ 12877 h 260767"/>
                    <a:gd name="connsiteX17" fmla="*/ 238043 w 252813"/>
                    <a:gd name="connsiteY17" fmla="*/ 150741 h 260767"/>
                    <a:gd name="connsiteX18" fmla="*/ 15718 w 252813"/>
                    <a:gd name="connsiteY18" fmla="*/ 150741 h 260767"/>
                    <a:gd name="connsiteX19" fmla="*/ 15718 w 252813"/>
                    <a:gd name="connsiteY19" fmla="*/ 12877 h 260767"/>
                    <a:gd name="connsiteX20" fmla="*/ 80484 w 252813"/>
                    <a:gd name="connsiteY20" fmla="*/ 12877 h 260767"/>
                    <a:gd name="connsiteX21" fmla="*/ 53214 w 252813"/>
                    <a:gd name="connsiteY21" fmla="*/ 53593 h 260767"/>
                    <a:gd name="connsiteX22" fmla="*/ 200547 w 252813"/>
                    <a:gd name="connsiteY22" fmla="*/ 53593 h 260767"/>
                    <a:gd name="connsiteX23" fmla="*/ 200547 w 252813"/>
                    <a:gd name="connsiteY23" fmla="*/ 38443 h 260767"/>
                    <a:gd name="connsiteX24" fmla="*/ 53214 w 252813"/>
                    <a:gd name="connsiteY24" fmla="*/ 38443 h 260767"/>
                    <a:gd name="connsiteX25" fmla="*/ 53214 w 252813"/>
                    <a:gd name="connsiteY25" fmla="*/ 53593 h 260767"/>
                    <a:gd name="connsiteX26" fmla="*/ 53214 w 252813"/>
                    <a:gd name="connsiteY26" fmla="*/ 89384 h 260767"/>
                    <a:gd name="connsiteX27" fmla="*/ 200547 w 252813"/>
                    <a:gd name="connsiteY27" fmla="*/ 89384 h 260767"/>
                    <a:gd name="connsiteX28" fmla="*/ 200547 w 252813"/>
                    <a:gd name="connsiteY28" fmla="*/ 74424 h 260767"/>
                    <a:gd name="connsiteX29" fmla="*/ 53214 w 252813"/>
                    <a:gd name="connsiteY29" fmla="*/ 74424 h 260767"/>
                    <a:gd name="connsiteX30" fmla="*/ 53214 w 252813"/>
                    <a:gd name="connsiteY30" fmla="*/ 89384 h 260767"/>
                    <a:gd name="connsiteX31" fmla="*/ 200547 w 252813"/>
                    <a:gd name="connsiteY31" fmla="*/ 125555 h 260767"/>
                    <a:gd name="connsiteX32" fmla="*/ 200547 w 252813"/>
                    <a:gd name="connsiteY32" fmla="*/ 110594 h 260767"/>
                    <a:gd name="connsiteX33" fmla="*/ 53214 w 252813"/>
                    <a:gd name="connsiteY33" fmla="*/ 110594 h 260767"/>
                    <a:gd name="connsiteX34" fmla="*/ 53214 w 252813"/>
                    <a:gd name="connsiteY34" fmla="*/ 125555 h 260767"/>
                    <a:gd name="connsiteX35" fmla="*/ 200547 w 252813"/>
                    <a:gd name="connsiteY35" fmla="*/ 125555 h 260767"/>
                    <a:gd name="connsiteX36" fmla="*/ 69879 w 252813"/>
                    <a:gd name="connsiteY36" fmla="*/ 260768 h 260767"/>
                    <a:gd name="connsiteX37" fmla="*/ 69879 w 252813"/>
                    <a:gd name="connsiteY37" fmla="*/ 159642 h 260767"/>
                    <a:gd name="connsiteX38" fmla="*/ 108511 w 252813"/>
                    <a:gd name="connsiteY38" fmla="*/ 159642 h 260767"/>
                    <a:gd name="connsiteX39" fmla="*/ 108511 w 252813"/>
                    <a:gd name="connsiteY39" fmla="*/ 227817 h 260767"/>
                    <a:gd name="connsiteX40" fmla="*/ 197706 w 252813"/>
                    <a:gd name="connsiteY40" fmla="*/ 227817 h 260767"/>
                    <a:gd name="connsiteX41" fmla="*/ 197706 w 252813"/>
                    <a:gd name="connsiteY41" fmla="*/ 260768 h 260767"/>
                    <a:gd name="connsiteX42" fmla="*/ 69879 w 252813"/>
                    <a:gd name="connsiteY42" fmla="*/ 260768 h 260767"/>
                    <a:gd name="connsiteX43" fmla="*/ 146575 w 252813"/>
                    <a:gd name="connsiteY43" fmla="*/ 213424 h 260767"/>
                    <a:gd name="connsiteX44" fmla="*/ 139190 w 252813"/>
                    <a:gd name="connsiteY44" fmla="*/ 187291 h 260767"/>
                    <a:gd name="connsiteX45" fmla="*/ 132940 w 252813"/>
                    <a:gd name="connsiteY45" fmla="*/ 159642 h 260767"/>
                    <a:gd name="connsiteX46" fmla="*/ 170436 w 252813"/>
                    <a:gd name="connsiteY46" fmla="*/ 159642 h 260767"/>
                    <a:gd name="connsiteX47" fmla="*/ 176496 w 252813"/>
                    <a:gd name="connsiteY47" fmla="*/ 186722 h 260767"/>
                    <a:gd name="connsiteX48" fmla="*/ 184261 w 252813"/>
                    <a:gd name="connsiteY48" fmla="*/ 213424 h 260767"/>
                    <a:gd name="connsiteX49" fmla="*/ 146575 w 252813"/>
                    <a:gd name="connsiteY49" fmla="*/ 213424 h 260767"/>
                    <a:gd name="connsiteX50" fmla="*/ 216454 w 252813"/>
                    <a:gd name="connsiteY50" fmla="*/ 260768 h 260767"/>
                    <a:gd name="connsiteX51" fmla="*/ 212667 w 252813"/>
                    <a:gd name="connsiteY51" fmla="*/ 238990 h 260767"/>
                    <a:gd name="connsiteX52" fmla="*/ 208311 w 252813"/>
                    <a:gd name="connsiteY52" fmla="*/ 212477 h 260767"/>
                    <a:gd name="connsiteX53" fmla="*/ 204334 w 252813"/>
                    <a:gd name="connsiteY53" fmla="*/ 184829 h 260767"/>
                    <a:gd name="connsiteX54" fmla="*/ 201304 w 252813"/>
                    <a:gd name="connsiteY54" fmla="*/ 159642 h 260767"/>
                    <a:gd name="connsiteX55" fmla="*/ 238043 w 252813"/>
                    <a:gd name="connsiteY55" fmla="*/ 159642 h 260767"/>
                    <a:gd name="connsiteX56" fmla="*/ 240694 w 252813"/>
                    <a:gd name="connsiteY56" fmla="*/ 182935 h 260767"/>
                    <a:gd name="connsiteX57" fmla="*/ 244292 w 252813"/>
                    <a:gd name="connsiteY57" fmla="*/ 209637 h 260767"/>
                    <a:gd name="connsiteX58" fmla="*/ 248458 w 252813"/>
                    <a:gd name="connsiteY58" fmla="*/ 236528 h 260767"/>
                    <a:gd name="connsiteX59" fmla="*/ 252814 w 252813"/>
                    <a:gd name="connsiteY59" fmla="*/ 260768 h 260767"/>
                    <a:gd name="connsiteX60" fmla="*/ 216454 w 252813"/>
                    <a:gd name="connsiteY60" fmla="*/ 260768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</a:cxnLst>
                  <a:rect l="l" t="t" r="r" b="b"/>
                  <a:pathLst>
                    <a:path w="252813" h="260767">
                      <a:moveTo>
                        <a:pt x="0" y="260768"/>
                      </a:moveTo>
                      <a:cubicBezTo>
                        <a:pt x="1704" y="253382"/>
                        <a:pt x="3409" y="245050"/>
                        <a:pt x="5113" y="235960"/>
                      </a:cubicBezTo>
                      <a:cubicBezTo>
                        <a:pt x="6817" y="226870"/>
                        <a:pt x="8332" y="217780"/>
                        <a:pt x="9658" y="208690"/>
                      </a:cubicBezTo>
                      <a:cubicBezTo>
                        <a:pt x="10984" y="199600"/>
                        <a:pt x="12120" y="190699"/>
                        <a:pt x="13256" y="181988"/>
                      </a:cubicBezTo>
                      <a:cubicBezTo>
                        <a:pt x="14392" y="173466"/>
                        <a:pt x="14961" y="165891"/>
                        <a:pt x="15339" y="159642"/>
                      </a:cubicBezTo>
                      <a:lnTo>
                        <a:pt x="53403" y="159642"/>
                      </a:lnTo>
                      <a:cubicBezTo>
                        <a:pt x="52835" y="166838"/>
                        <a:pt x="51888" y="175171"/>
                        <a:pt x="50752" y="184261"/>
                      </a:cubicBezTo>
                      <a:cubicBezTo>
                        <a:pt x="49616" y="193351"/>
                        <a:pt x="48290" y="202630"/>
                        <a:pt x="46965" y="211909"/>
                      </a:cubicBezTo>
                      <a:cubicBezTo>
                        <a:pt x="45450" y="221188"/>
                        <a:pt x="43935" y="230089"/>
                        <a:pt x="42420" y="238800"/>
                      </a:cubicBezTo>
                      <a:cubicBezTo>
                        <a:pt x="40715" y="247511"/>
                        <a:pt x="39200" y="254708"/>
                        <a:pt x="37685" y="260768"/>
                      </a:cubicBezTo>
                      <a:lnTo>
                        <a:pt x="0" y="260768"/>
                      </a:lnTo>
                      <a:close/>
                      <a:moveTo>
                        <a:pt x="80484" y="12877"/>
                      </a:moveTo>
                      <a:cubicBezTo>
                        <a:pt x="82188" y="8901"/>
                        <a:pt x="83514" y="4545"/>
                        <a:pt x="84271" y="0"/>
                      </a:cubicBezTo>
                      <a:lnTo>
                        <a:pt x="134455" y="0"/>
                      </a:lnTo>
                      <a:cubicBezTo>
                        <a:pt x="134077" y="2083"/>
                        <a:pt x="133508" y="4166"/>
                        <a:pt x="132940" y="6439"/>
                      </a:cubicBezTo>
                      <a:cubicBezTo>
                        <a:pt x="132372" y="8711"/>
                        <a:pt x="131615" y="10794"/>
                        <a:pt x="130857" y="12877"/>
                      </a:cubicBezTo>
                      <a:lnTo>
                        <a:pt x="238043" y="12877"/>
                      </a:lnTo>
                      <a:lnTo>
                        <a:pt x="238043" y="150741"/>
                      </a:lnTo>
                      <a:lnTo>
                        <a:pt x="15718" y="150741"/>
                      </a:lnTo>
                      <a:lnTo>
                        <a:pt x="15718" y="12877"/>
                      </a:lnTo>
                      <a:lnTo>
                        <a:pt x="80484" y="12877"/>
                      </a:lnTo>
                      <a:close/>
                      <a:moveTo>
                        <a:pt x="53214" y="53593"/>
                      </a:moveTo>
                      <a:lnTo>
                        <a:pt x="200547" y="53593"/>
                      </a:lnTo>
                      <a:lnTo>
                        <a:pt x="200547" y="38443"/>
                      </a:lnTo>
                      <a:lnTo>
                        <a:pt x="53214" y="38443"/>
                      </a:lnTo>
                      <a:lnTo>
                        <a:pt x="53214" y="53593"/>
                      </a:lnTo>
                      <a:close/>
                      <a:moveTo>
                        <a:pt x="53214" y="89384"/>
                      </a:moveTo>
                      <a:lnTo>
                        <a:pt x="200547" y="89384"/>
                      </a:lnTo>
                      <a:lnTo>
                        <a:pt x="200547" y="74424"/>
                      </a:lnTo>
                      <a:lnTo>
                        <a:pt x="53214" y="74424"/>
                      </a:lnTo>
                      <a:lnTo>
                        <a:pt x="53214" y="89384"/>
                      </a:lnTo>
                      <a:close/>
                      <a:moveTo>
                        <a:pt x="200547" y="125555"/>
                      </a:moveTo>
                      <a:lnTo>
                        <a:pt x="200547" y="110594"/>
                      </a:lnTo>
                      <a:lnTo>
                        <a:pt x="53214" y="110594"/>
                      </a:lnTo>
                      <a:lnTo>
                        <a:pt x="53214" y="125555"/>
                      </a:lnTo>
                      <a:lnTo>
                        <a:pt x="200547" y="125555"/>
                      </a:lnTo>
                      <a:close/>
                      <a:moveTo>
                        <a:pt x="69879" y="260768"/>
                      </a:moveTo>
                      <a:lnTo>
                        <a:pt x="69879" y="159642"/>
                      </a:lnTo>
                      <a:lnTo>
                        <a:pt x="108511" y="159642"/>
                      </a:lnTo>
                      <a:lnTo>
                        <a:pt x="108511" y="227817"/>
                      </a:lnTo>
                      <a:lnTo>
                        <a:pt x="197706" y="227817"/>
                      </a:lnTo>
                      <a:lnTo>
                        <a:pt x="197706" y="260768"/>
                      </a:lnTo>
                      <a:lnTo>
                        <a:pt x="69879" y="260768"/>
                      </a:lnTo>
                      <a:close/>
                      <a:moveTo>
                        <a:pt x="146575" y="213424"/>
                      </a:moveTo>
                      <a:cubicBezTo>
                        <a:pt x="143924" y="205092"/>
                        <a:pt x="141462" y="196191"/>
                        <a:pt x="139190" y="187291"/>
                      </a:cubicBezTo>
                      <a:cubicBezTo>
                        <a:pt x="136917" y="178201"/>
                        <a:pt x="134834" y="168921"/>
                        <a:pt x="132940" y="159642"/>
                      </a:cubicBezTo>
                      <a:lnTo>
                        <a:pt x="170436" y="159642"/>
                      </a:lnTo>
                      <a:cubicBezTo>
                        <a:pt x="171951" y="168353"/>
                        <a:pt x="174034" y="177443"/>
                        <a:pt x="176496" y="186722"/>
                      </a:cubicBezTo>
                      <a:cubicBezTo>
                        <a:pt x="178958" y="196002"/>
                        <a:pt x="181609" y="204902"/>
                        <a:pt x="184261" y="213424"/>
                      </a:cubicBezTo>
                      <a:lnTo>
                        <a:pt x="146575" y="213424"/>
                      </a:lnTo>
                      <a:close/>
                      <a:moveTo>
                        <a:pt x="216454" y="260768"/>
                      </a:moveTo>
                      <a:cubicBezTo>
                        <a:pt x="215318" y="254708"/>
                        <a:pt x="213992" y="247322"/>
                        <a:pt x="212667" y="238990"/>
                      </a:cubicBezTo>
                      <a:cubicBezTo>
                        <a:pt x="211152" y="230657"/>
                        <a:pt x="209826" y="221757"/>
                        <a:pt x="208311" y="212477"/>
                      </a:cubicBezTo>
                      <a:cubicBezTo>
                        <a:pt x="206796" y="203198"/>
                        <a:pt x="205471" y="193919"/>
                        <a:pt x="204334" y="184829"/>
                      </a:cubicBezTo>
                      <a:cubicBezTo>
                        <a:pt x="203009" y="175739"/>
                        <a:pt x="202062" y="167217"/>
                        <a:pt x="201304" y="159642"/>
                      </a:cubicBezTo>
                      <a:lnTo>
                        <a:pt x="238043" y="159642"/>
                      </a:lnTo>
                      <a:cubicBezTo>
                        <a:pt x="238800" y="166459"/>
                        <a:pt x="239747" y="174224"/>
                        <a:pt x="240694" y="182935"/>
                      </a:cubicBezTo>
                      <a:cubicBezTo>
                        <a:pt x="241830" y="191646"/>
                        <a:pt x="242966" y="200547"/>
                        <a:pt x="244292" y="209637"/>
                      </a:cubicBezTo>
                      <a:cubicBezTo>
                        <a:pt x="245618" y="218727"/>
                        <a:pt x="246943" y="227627"/>
                        <a:pt x="248458" y="236528"/>
                      </a:cubicBezTo>
                      <a:cubicBezTo>
                        <a:pt x="249973" y="245428"/>
                        <a:pt x="251299" y="253382"/>
                        <a:pt x="252814" y="260768"/>
                      </a:cubicBezTo>
                      <a:lnTo>
                        <a:pt x="216454" y="260768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" name="任意多边形: 形状 14"/>
                <p:cNvSpPr/>
                <p:nvPr/>
              </p:nvSpPr>
              <p:spPr>
                <a:xfrm>
                  <a:off x="6505535" y="3305663"/>
                  <a:ext cx="253192" cy="260767"/>
                </a:xfrm>
                <a:custGeom>
                  <a:avLst/>
                  <a:gdLst>
                    <a:gd name="connsiteX0" fmla="*/ 186154 w 253192"/>
                    <a:gd name="connsiteY0" fmla="*/ 170815 h 260767"/>
                    <a:gd name="connsiteX1" fmla="*/ 186154 w 253192"/>
                    <a:gd name="connsiteY1" fmla="*/ 205849 h 260767"/>
                    <a:gd name="connsiteX2" fmla="*/ 0 w 253192"/>
                    <a:gd name="connsiteY2" fmla="*/ 205849 h 260767"/>
                    <a:gd name="connsiteX3" fmla="*/ 0 w 253192"/>
                    <a:gd name="connsiteY3" fmla="*/ 170815 h 260767"/>
                    <a:gd name="connsiteX4" fmla="*/ 186154 w 253192"/>
                    <a:gd name="connsiteY4" fmla="*/ 170815 h 260767"/>
                    <a:gd name="connsiteX5" fmla="*/ 188427 w 253192"/>
                    <a:gd name="connsiteY5" fmla="*/ 260768 h 260767"/>
                    <a:gd name="connsiteX6" fmla="*/ 203387 w 253192"/>
                    <a:gd name="connsiteY6" fmla="*/ 133508 h 260767"/>
                    <a:gd name="connsiteX7" fmla="*/ 20831 w 253192"/>
                    <a:gd name="connsiteY7" fmla="*/ 133508 h 260767"/>
                    <a:gd name="connsiteX8" fmla="*/ 39200 w 253192"/>
                    <a:gd name="connsiteY8" fmla="*/ 0 h 260767"/>
                    <a:gd name="connsiteX9" fmla="*/ 79916 w 253192"/>
                    <a:gd name="connsiteY9" fmla="*/ 0 h 260767"/>
                    <a:gd name="connsiteX10" fmla="*/ 76507 w 253192"/>
                    <a:gd name="connsiteY10" fmla="*/ 25755 h 260767"/>
                    <a:gd name="connsiteX11" fmla="*/ 253193 w 253192"/>
                    <a:gd name="connsiteY11" fmla="*/ 25755 h 260767"/>
                    <a:gd name="connsiteX12" fmla="*/ 253193 w 253192"/>
                    <a:gd name="connsiteY12" fmla="*/ 60410 h 260767"/>
                    <a:gd name="connsiteX13" fmla="*/ 71773 w 253192"/>
                    <a:gd name="connsiteY13" fmla="*/ 60410 h 260767"/>
                    <a:gd name="connsiteX14" fmla="*/ 66849 w 253192"/>
                    <a:gd name="connsiteY14" fmla="*/ 98285 h 260767"/>
                    <a:gd name="connsiteX15" fmla="*/ 248080 w 253192"/>
                    <a:gd name="connsiteY15" fmla="*/ 98285 h 260767"/>
                    <a:gd name="connsiteX16" fmla="*/ 228574 w 253192"/>
                    <a:gd name="connsiteY16" fmla="*/ 260768 h 260767"/>
                    <a:gd name="connsiteX17" fmla="*/ 188427 w 253192"/>
                    <a:gd name="connsiteY17" fmla="*/ 260768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53192" h="260767">
                      <a:moveTo>
                        <a:pt x="186154" y="170815"/>
                      </a:moveTo>
                      <a:lnTo>
                        <a:pt x="186154" y="205849"/>
                      </a:lnTo>
                      <a:lnTo>
                        <a:pt x="0" y="205849"/>
                      </a:lnTo>
                      <a:lnTo>
                        <a:pt x="0" y="170815"/>
                      </a:lnTo>
                      <a:lnTo>
                        <a:pt x="186154" y="170815"/>
                      </a:lnTo>
                      <a:close/>
                      <a:moveTo>
                        <a:pt x="188427" y="260768"/>
                      </a:moveTo>
                      <a:lnTo>
                        <a:pt x="203387" y="133508"/>
                      </a:lnTo>
                      <a:lnTo>
                        <a:pt x="20831" y="133508"/>
                      </a:lnTo>
                      <a:lnTo>
                        <a:pt x="39200" y="0"/>
                      </a:lnTo>
                      <a:lnTo>
                        <a:pt x="79916" y="0"/>
                      </a:lnTo>
                      <a:lnTo>
                        <a:pt x="76507" y="25755"/>
                      </a:lnTo>
                      <a:lnTo>
                        <a:pt x="253193" y="25755"/>
                      </a:lnTo>
                      <a:lnTo>
                        <a:pt x="253193" y="60410"/>
                      </a:lnTo>
                      <a:lnTo>
                        <a:pt x="71773" y="60410"/>
                      </a:lnTo>
                      <a:lnTo>
                        <a:pt x="66849" y="98285"/>
                      </a:lnTo>
                      <a:lnTo>
                        <a:pt x="248080" y="98285"/>
                      </a:lnTo>
                      <a:lnTo>
                        <a:pt x="228574" y="260768"/>
                      </a:lnTo>
                      <a:lnTo>
                        <a:pt x="188427" y="260768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5" name="任意多边形: 形状 15"/>
                <p:cNvSpPr/>
                <p:nvPr/>
              </p:nvSpPr>
              <p:spPr>
                <a:xfrm>
                  <a:off x="6792436" y="3305663"/>
                  <a:ext cx="259442" cy="260956"/>
                </a:xfrm>
                <a:custGeom>
                  <a:avLst/>
                  <a:gdLst>
                    <a:gd name="connsiteX0" fmla="*/ 62493 w 259442"/>
                    <a:gd name="connsiteY0" fmla="*/ 179905 h 260956"/>
                    <a:gd name="connsiteX1" fmla="*/ 62493 w 259442"/>
                    <a:gd name="connsiteY1" fmla="*/ 145060 h 260956"/>
                    <a:gd name="connsiteX2" fmla="*/ 1515 w 259442"/>
                    <a:gd name="connsiteY2" fmla="*/ 145060 h 260956"/>
                    <a:gd name="connsiteX3" fmla="*/ 13067 w 259442"/>
                    <a:gd name="connsiteY3" fmla="*/ 100179 h 260956"/>
                    <a:gd name="connsiteX4" fmla="*/ 21778 w 259442"/>
                    <a:gd name="connsiteY4" fmla="*/ 55865 h 260956"/>
                    <a:gd name="connsiteX5" fmla="*/ 2273 w 259442"/>
                    <a:gd name="connsiteY5" fmla="*/ 55865 h 260956"/>
                    <a:gd name="connsiteX6" fmla="*/ 2273 w 259442"/>
                    <a:gd name="connsiteY6" fmla="*/ 27459 h 260956"/>
                    <a:gd name="connsiteX7" fmla="*/ 26134 w 259442"/>
                    <a:gd name="connsiteY7" fmla="*/ 27459 h 260956"/>
                    <a:gd name="connsiteX8" fmla="*/ 28974 w 259442"/>
                    <a:gd name="connsiteY8" fmla="*/ 0 h 260956"/>
                    <a:gd name="connsiteX9" fmla="*/ 64576 w 259442"/>
                    <a:gd name="connsiteY9" fmla="*/ 0 h 260956"/>
                    <a:gd name="connsiteX10" fmla="*/ 62872 w 259442"/>
                    <a:gd name="connsiteY10" fmla="*/ 13635 h 260956"/>
                    <a:gd name="connsiteX11" fmla="*/ 60789 w 259442"/>
                    <a:gd name="connsiteY11" fmla="*/ 27459 h 260956"/>
                    <a:gd name="connsiteX12" fmla="*/ 121767 w 259442"/>
                    <a:gd name="connsiteY12" fmla="*/ 27459 h 260956"/>
                    <a:gd name="connsiteX13" fmla="*/ 121767 w 259442"/>
                    <a:gd name="connsiteY13" fmla="*/ 55865 h 260956"/>
                    <a:gd name="connsiteX14" fmla="*/ 56244 w 259442"/>
                    <a:gd name="connsiteY14" fmla="*/ 55865 h 260956"/>
                    <a:gd name="connsiteX15" fmla="*/ 49995 w 259442"/>
                    <a:gd name="connsiteY15" fmla="*/ 87680 h 260956"/>
                    <a:gd name="connsiteX16" fmla="*/ 43177 w 259442"/>
                    <a:gd name="connsiteY16" fmla="*/ 116654 h 260956"/>
                    <a:gd name="connsiteX17" fmla="*/ 64576 w 259442"/>
                    <a:gd name="connsiteY17" fmla="*/ 116654 h 260956"/>
                    <a:gd name="connsiteX18" fmla="*/ 64576 w 259442"/>
                    <a:gd name="connsiteY18" fmla="*/ 69121 h 260956"/>
                    <a:gd name="connsiteX19" fmla="*/ 99043 w 259442"/>
                    <a:gd name="connsiteY19" fmla="*/ 69121 h 260956"/>
                    <a:gd name="connsiteX20" fmla="*/ 99043 w 259442"/>
                    <a:gd name="connsiteY20" fmla="*/ 116654 h 260956"/>
                    <a:gd name="connsiteX21" fmla="*/ 124419 w 259442"/>
                    <a:gd name="connsiteY21" fmla="*/ 116654 h 260956"/>
                    <a:gd name="connsiteX22" fmla="*/ 124419 w 259442"/>
                    <a:gd name="connsiteY22" fmla="*/ 145060 h 260956"/>
                    <a:gd name="connsiteX23" fmla="*/ 99232 w 259442"/>
                    <a:gd name="connsiteY23" fmla="*/ 145060 h 260956"/>
                    <a:gd name="connsiteX24" fmla="*/ 99232 w 259442"/>
                    <a:gd name="connsiteY24" fmla="*/ 176496 h 260956"/>
                    <a:gd name="connsiteX25" fmla="*/ 125365 w 259442"/>
                    <a:gd name="connsiteY25" fmla="*/ 173845 h 260956"/>
                    <a:gd name="connsiteX26" fmla="*/ 125365 w 259442"/>
                    <a:gd name="connsiteY26" fmla="*/ 203955 h 260956"/>
                    <a:gd name="connsiteX27" fmla="*/ 99232 w 259442"/>
                    <a:gd name="connsiteY27" fmla="*/ 206607 h 260956"/>
                    <a:gd name="connsiteX28" fmla="*/ 99232 w 259442"/>
                    <a:gd name="connsiteY28" fmla="*/ 260768 h 260956"/>
                    <a:gd name="connsiteX29" fmla="*/ 62493 w 259442"/>
                    <a:gd name="connsiteY29" fmla="*/ 260768 h 260956"/>
                    <a:gd name="connsiteX30" fmla="*/ 62493 w 259442"/>
                    <a:gd name="connsiteY30" fmla="*/ 210015 h 260956"/>
                    <a:gd name="connsiteX31" fmla="*/ 0 w 259442"/>
                    <a:gd name="connsiteY31" fmla="*/ 215697 h 260956"/>
                    <a:gd name="connsiteX32" fmla="*/ 0 w 259442"/>
                    <a:gd name="connsiteY32" fmla="*/ 185586 h 260956"/>
                    <a:gd name="connsiteX33" fmla="*/ 62493 w 259442"/>
                    <a:gd name="connsiteY33" fmla="*/ 179905 h 260956"/>
                    <a:gd name="connsiteX34" fmla="*/ 220999 w 259442"/>
                    <a:gd name="connsiteY34" fmla="*/ 260768 h 260956"/>
                    <a:gd name="connsiteX35" fmla="*/ 204145 w 259442"/>
                    <a:gd name="connsiteY35" fmla="*/ 205470 h 260956"/>
                    <a:gd name="connsiteX36" fmla="*/ 190699 w 259442"/>
                    <a:gd name="connsiteY36" fmla="*/ 146386 h 260956"/>
                    <a:gd name="connsiteX37" fmla="*/ 175739 w 259442"/>
                    <a:gd name="connsiteY37" fmla="*/ 208311 h 260956"/>
                    <a:gd name="connsiteX38" fmla="*/ 158317 w 259442"/>
                    <a:gd name="connsiteY38" fmla="*/ 260768 h 260956"/>
                    <a:gd name="connsiteX39" fmla="*/ 118548 w 259442"/>
                    <a:gd name="connsiteY39" fmla="*/ 260768 h 260956"/>
                    <a:gd name="connsiteX40" fmla="*/ 132751 w 259442"/>
                    <a:gd name="connsiteY40" fmla="*/ 222893 h 260956"/>
                    <a:gd name="connsiteX41" fmla="*/ 146007 w 259442"/>
                    <a:gd name="connsiteY41" fmla="*/ 178579 h 260956"/>
                    <a:gd name="connsiteX42" fmla="*/ 157370 w 259442"/>
                    <a:gd name="connsiteY42" fmla="*/ 132372 h 260956"/>
                    <a:gd name="connsiteX43" fmla="*/ 165513 w 259442"/>
                    <a:gd name="connsiteY43" fmla="*/ 88438 h 260956"/>
                    <a:gd name="connsiteX44" fmla="*/ 200547 w 259442"/>
                    <a:gd name="connsiteY44" fmla="*/ 88438 h 260956"/>
                    <a:gd name="connsiteX45" fmla="*/ 199032 w 259442"/>
                    <a:gd name="connsiteY45" fmla="*/ 98664 h 260956"/>
                    <a:gd name="connsiteX46" fmla="*/ 197327 w 259442"/>
                    <a:gd name="connsiteY46" fmla="*/ 108890 h 260956"/>
                    <a:gd name="connsiteX47" fmla="*/ 217969 w 259442"/>
                    <a:gd name="connsiteY47" fmla="*/ 108890 h 260956"/>
                    <a:gd name="connsiteX48" fmla="*/ 235392 w 259442"/>
                    <a:gd name="connsiteY48" fmla="*/ 185018 h 260956"/>
                    <a:gd name="connsiteX49" fmla="*/ 259442 w 259442"/>
                    <a:gd name="connsiteY49" fmla="*/ 260957 h 260956"/>
                    <a:gd name="connsiteX50" fmla="*/ 220999 w 259442"/>
                    <a:gd name="connsiteY50" fmla="*/ 260957 h 260956"/>
                    <a:gd name="connsiteX51" fmla="*/ 118927 w 259442"/>
                    <a:gd name="connsiteY51" fmla="*/ 94497 h 260956"/>
                    <a:gd name="connsiteX52" fmla="*/ 129910 w 259442"/>
                    <a:gd name="connsiteY52" fmla="*/ 46397 h 260956"/>
                    <a:gd name="connsiteX53" fmla="*/ 136349 w 259442"/>
                    <a:gd name="connsiteY53" fmla="*/ 0 h 260956"/>
                    <a:gd name="connsiteX54" fmla="*/ 172520 w 259442"/>
                    <a:gd name="connsiteY54" fmla="*/ 0 h 260956"/>
                    <a:gd name="connsiteX55" fmla="*/ 171383 w 259442"/>
                    <a:gd name="connsiteY55" fmla="*/ 10226 h 260956"/>
                    <a:gd name="connsiteX56" fmla="*/ 170247 w 259442"/>
                    <a:gd name="connsiteY56" fmla="*/ 20831 h 260956"/>
                    <a:gd name="connsiteX57" fmla="*/ 258495 w 259442"/>
                    <a:gd name="connsiteY57" fmla="*/ 20831 h 260956"/>
                    <a:gd name="connsiteX58" fmla="*/ 255844 w 259442"/>
                    <a:gd name="connsiteY58" fmla="*/ 40337 h 260956"/>
                    <a:gd name="connsiteX59" fmla="*/ 252625 w 259442"/>
                    <a:gd name="connsiteY59" fmla="*/ 60221 h 260956"/>
                    <a:gd name="connsiteX60" fmla="*/ 249026 w 259442"/>
                    <a:gd name="connsiteY60" fmla="*/ 79348 h 260956"/>
                    <a:gd name="connsiteX61" fmla="*/ 245239 w 259442"/>
                    <a:gd name="connsiteY61" fmla="*/ 96391 h 260956"/>
                    <a:gd name="connsiteX62" fmla="*/ 208311 w 259442"/>
                    <a:gd name="connsiteY62" fmla="*/ 96391 h 260956"/>
                    <a:gd name="connsiteX63" fmla="*/ 215318 w 259442"/>
                    <a:gd name="connsiteY63" fmla="*/ 73288 h 260956"/>
                    <a:gd name="connsiteX64" fmla="*/ 219674 w 259442"/>
                    <a:gd name="connsiteY64" fmla="*/ 51699 h 260956"/>
                    <a:gd name="connsiteX65" fmla="*/ 165513 w 259442"/>
                    <a:gd name="connsiteY65" fmla="*/ 51699 h 260956"/>
                    <a:gd name="connsiteX66" fmla="*/ 161157 w 259442"/>
                    <a:gd name="connsiteY66" fmla="*/ 74234 h 260956"/>
                    <a:gd name="connsiteX67" fmla="*/ 156612 w 259442"/>
                    <a:gd name="connsiteY67" fmla="*/ 94497 h 260956"/>
                    <a:gd name="connsiteX68" fmla="*/ 118927 w 259442"/>
                    <a:gd name="connsiteY68" fmla="*/ 94497 h 2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</a:cxnLst>
                  <a:rect l="l" t="t" r="r" b="b"/>
                  <a:pathLst>
                    <a:path w="259442" h="260956">
                      <a:moveTo>
                        <a:pt x="62493" y="179905"/>
                      </a:moveTo>
                      <a:lnTo>
                        <a:pt x="62493" y="145060"/>
                      </a:lnTo>
                      <a:lnTo>
                        <a:pt x="1515" y="145060"/>
                      </a:lnTo>
                      <a:cubicBezTo>
                        <a:pt x="5871" y="130289"/>
                        <a:pt x="9847" y="115329"/>
                        <a:pt x="13067" y="100179"/>
                      </a:cubicBezTo>
                      <a:cubicBezTo>
                        <a:pt x="16476" y="85029"/>
                        <a:pt x="19316" y="70258"/>
                        <a:pt x="21778" y="55865"/>
                      </a:cubicBezTo>
                      <a:lnTo>
                        <a:pt x="2273" y="55865"/>
                      </a:lnTo>
                      <a:lnTo>
                        <a:pt x="2273" y="27459"/>
                      </a:lnTo>
                      <a:lnTo>
                        <a:pt x="26134" y="27459"/>
                      </a:lnTo>
                      <a:lnTo>
                        <a:pt x="28974" y="0"/>
                      </a:lnTo>
                      <a:lnTo>
                        <a:pt x="64576" y="0"/>
                      </a:lnTo>
                      <a:cubicBezTo>
                        <a:pt x="64008" y="4356"/>
                        <a:pt x="63440" y="8901"/>
                        <a:pt x="62872" y="13635"/>
                      </a:cubicBezTo>
                      <a:cubicBezTo>
                        <a:pt x="62304" y="18369"/>
                        <a:pt x="61546" y="22914"/>
                        <a:pt x="60789" y="27459"/>
                      </a:cubicBezTo>
                      <a:lnTo>
                        <a:pt x="121767" y="27459"/>
                      </a:lnTo>
                      <a:lnTo>
                        <a:pt x="121767" y="55865"/>
                      </a:lnTo>
                      <a:lnTo>
                        <a:pt x="56244" y="55865"/>
                      </a:lnTo>
                      <a:cubicBezTo>
                        <a:pt x="54350" y="66660"/>
                        <a:pt x="52267" y="77264"/>
                        <a:pt x="49995" y="87680"/>
                      </a:cubicBezTo>
                      <a:cubicBezTo>
                        <a:pt x="47722" y="97906"/>
                        <a:pt x="45639" y="107564"/>
                        <a:pt x="43177" y="116654"/>
                      </a:cubicBezTo>
                      <a:lnTo>
                        <a:pt x="64576" y="116654"/>
                      </a:lnTo>
                      <a:lnTo>
                        <a:pt x="64576" y="69121"/>
                      </a:lnTo>
                      <a:lnTo>
                        <a:pt x="99043" y="69121"/>
                      </a:lnTo>
                      <a:lnTo>
                        <a:pt x="99043" y="116654"/>
                      </a:lnTo>
                      <a:lnTo>
                        <a:pt x="124419" y="116654"/>
                      </a:lnTo>
                      <a:lnTo>
                        <a:pt x="124419" y="145060"/>
                      </a:lnTo>
                      <a:lnTo>
                        <a:pt x="99232" y="145060"/>
                      </a:lnTo>
                      <a:lnTo>
                        <a:pt x="99232" y="176496"/>
                      </a:lnTo>
                      <a:lnTo>
                        <a:pt x="125365" y="173845"/>
                      </a:lnTo>
                      <a:lnTo>
                        <a:pt x="125365" y="203955"/>
                      </a:lnTo>
                      <a:lnTo>
                        <a:pt x="99232" y="206607"/>
                      </a:lnTo>
                      <a:lnTo>
                        <a:pt x="99232" y="260768"/>
                      </a:lnTo>
                      <a:lnTo>
                        <a:pt x="62493" y="260768"/>
                      </a:lnTo>
                      <a:lnTo>
                        <a:pt x="62493" y="210015"/>
                      </a:lnTo>
                      <a:lnTo>
                        <a:pt x="0" y="215697"/>
                      </a:lnTo>
                      <a:lnTo>
                        <a:pt x="0" y="185586"/>
                      </a:lnTo>
                      <a:lnTo>
                        <a:pt x="62493" y="179905"/>
                      </a:lnTo>
                      <a:close/>
                      <a:moveTo>
                        <a:pt x="220999" y="260768"/>
                      </a:moveTo>
                      <a:cubicBezTo>
                        <a:pt x="214939" y="242777"/>
                        <a:pt x="209258" y="224408"/>
                        <a:pt x="204145" y="205470"/>
                      </a:cubicBezTo>
                      <a:cubicBezTo>
                        <a:pt x="199032" y="186533"/>
                        <a:pt x="194487" y="166838"/>
                        <a:pt x="190699" y="146386"/>
                      </a:cubicBezTo>
                      <a:cubicBezTo>
                        <a:pt x="186344" y="167974"/>
                        <a:pt x="181420" y="188616"/>
                        <a:pt x="175739" y="208311"/>
                      </a:cubicBezTo>
                      <a:cubicBezTo>
                        <a:pt x="170247" y="228006"/>
                        <a:pt x="164376" y="245428"/>
                        <a:pt x="158317" y="260768"/>
                      </a:cubicBezTo>
                      <a:lnTo>
                        <a:pt x="118548" y="260768"/>
                      </a:lnTo>
                      <a:cubicBezTo>
                        <a:pt x="123282" y="249595"/>
                        <a:pt x="128017" y="237096"/>
                        <a:pt x="132751" y="222893"/>
                      </a:cubicBezTo>
                      <a:cubicBezTo>
                        <a:pt x="137485" y="208690"/>
                        <a:pt x="141841" y="193919"/>
                        <a:pt x="146007" y="178579"/>
                      </a:cubicBezTo>
                      <a:cubicBezTo>
                        <a:pt x="150173" y="163240"/>
                        <a:pt x="153961" y="147901"/>
                        <a:pt x="157370" y="132372"/>
                      </a:cubicBezTo>
                      <a:cubicBezTo>
                        <a:pt x="160778" y="116844"/>
                        <a:pt x="163430" y="102072"/>
                        <a:pt x="165513" y="88438"/>
                      </a:cubicBezTo>
                      <a:lnTo>
                        <a:pt x="200547" y="88438"/>
                      </a:lnTo>
                      <a:cubicBezTo>
                        <a:pt x="200168" y="91846"/>
                        <a:pt x="199600" y="95255"/>
                        <a:pt x="199032" y="98664"/>
                      </a:cubicBezTo>
                      <a:cubicBezTo>
                        <a:pt x="198464" y="102072"/>
                        <a:pt x="197896" y="105481"/>
                        <a:pt x="197327" y="108890"/>
                      </a:cubicBezTo>
                      <a:lnTo>
                        <a:pt x="217969" y="108890"/>
                      </a:lnTo>
                      <a:cubicBezTo>
                        <a:pt x="222325" y="133508"/>
                        <a:pt x="228195" y="158885"/>
                        <a:pt x="235392" y="185018"/>
                      </a:cubicBezTo>
                      <a:cubicBezTo>
                        <a:pt x="242588" y="211152"/>
                        <a:pt x="250731" y="236528"/>
                        <a:pt x="259442" y="260957"/>
                      </a:cubicBezTo>
                      <a:lnTo>
                        <a:pt x="220999" y="260957"/>
                      </a:lnTo>
                      <a:close/>
                      <a:moveTo>
                        <a:pt x="118927" y="94497"/>
                      </a:moveTo>
                      <a:cubicBezTo>
                        <a:pt x="123282" y="78969"/>
                        <a:pt x="127070" y="63061"/>
                        <a:pt x="129910" y="46397"/>
                      </a:cubicBezTo>
                      <a:cubicBezTo>
                        <a:pt x="132940" y="29732"/>
                        <a:pt x="135023" y="14392"/>
                        <a:pt x="136349" y="0"/>
                      </a:cubicBezTo>
                      <a:lnTo>
                        <a:pt x="172520" y="0"/>
                      </a:lnTo>
                      <a:cubicBezTo>
                        <a:pt x="172141" y="3409"/>
                        <a:pt x="171762" y="6817"/>
                        <a:pt x="171383" y="10226"/>
                      </a:cubicBezTo>
                      <a:cubicBezTo>
                        <a:pt x="171004" y="13635"/>
                        <a:pt x="170626" y="17233"/>
                        <a:pt x="170247" y="20831"/>
                      </a:cubicBezTo>
                      <a:lnTo>
                        <a:pt x="258495" y="20831"/>
                      </a:lnTo>
                      <a:cubicBezTo>
                        <a:pt x="257738" y="27080"/>
                        <a:pt x="256791" y="33709"/>
                        <a:pt x="255844" y="40337"/>
                      </a:cubicBezTo>
                      <a:cubicBezTo>
                        <a:pt x="254897" y="46965"/>
                        <a:pt x="253761" y="53593"/>
                        <a:pt x="252625" y="60221"/>
                      </a:cubicBezTo>
                      <a:cubicBezTo>
                        <a:pt x="251488" y="66849"/>
                        <a:pt x="250352" y="73288"/>
                        <a:pt x="249026" y="79348"/>
                      </a:cubicBezTo>
                      <a:cubicBezTo>
                        <a:pt x="247701" y="85597"/>
                        <a:pt x="246565" y="91278"/>
                        <a:pt x="245239" y="96391"/>
                      </a:cubicBezTo>
                      <a:lnTo>
                        <a:pt x="208311" y="96391"/>
                      </a:lnTo>
                      <a:cubicBezTo>
                        <a:pt x="210962" y="89195"/>
                        <a:pt x="213235" y="81431"/>
                        <a:pt x="215318" y="73288"/>
                      </a:cubicBezTo>
                      <a:cubicBezTo>
                        <a:pt x="217401" y="65145"/>
                        <a:pt x="218727" y="57948"/>
                        <a:pt x="219674" y="51699"/>
                      </a:cubicBezTo>
                      <a:lnTo>
                        <a:pt x="165513" y="51699"/>
                      </a:lnTo>
                      <a:cubicBezTo>
                        <a:pt x="164187" y="59463"/>
                        <a:pt x="162672" y="67038"/>
                        <a:pt x="161157" y="74234"/>
                      </a:cubicBezTo>
                      <a:cubicBezTo>
                        <a:pt x="159642" y="81431"/>
                        <a:pt x="158127" y="88059"/>
                        <a:pt x="156612" y="94497"/>
                      </a:cubicBezTo>
                      <a:lnTo>
                        <a:pt x="118927" y="94497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6" name="任意多边形: 形状 16"/>
                <p:cNvSpPr/>
                <p:nvPr/>
              </p:nvSpPr>
              <p:spPr>
                <a:xfrm>
                  <a:off x="7078391" y="3305663"/>
                  <a:ext cx="261335" cy="260956"/>
                </a:xfrm>
                <a:custGeom>
                  <a:avLst/>
                  <a:gdLst>
                    <a:gd name="connsiteX0" fmla="*/ 0 w 261335"/>
                    <a:gd name="connsiteY0" fmla="*/ 130857 h 260956"/>
                    <a:gd name="connsiteX1" fmla="*/ 13446 w 261335"/>
                    <a:gd name="connsiteY1" fmla="*/ 97717 h 260956"/>
                    <a:gd name="connsiteX2" fmla="*/ 24997 w 261335"/>
                    <a:gd name="connsiteY2" fmla="*/ 62872 h 260956"/>
                    <a:gd name="connsiteX3" fmla="*/ 34277 w 261335"/>
                    <a:gd name="connsiteY3" fmla="*/ 29732 h 260956"/>
                    <a:gd name="connsiteX4" fmla="*/ 41094 w 261335"/>
                    <a:gd name="connsiteY4" fmla="*/ 1515 h 260956"/>
                    <a:gd name="connsiteX5" fmla="*/ 80863 w 261335"/>
                    <a:gd name="connsiteY5" fmla="*/ 1515 h 260956"/>
                    <a:gd name="connsiteX6" fmla="*/ 74424 w 261335"/>
                    <a:gd name="connsiteY6" fmla="*/ 26323 h 260956"/>
                    <a:gd name="connsiteX7" fmla="*/ 66470 w 261335"/>
                    <a:gd name="connsiteY7" fmla="*/ 54350 h 260956"/>
                    <a:gd name="connsiteX8" fmla="*/ 66470 w 261335"/>
                    <a:gd name="connsiteY8" fmla="*/ 260578 h 260956"/>
                    <a:gd name="connsiteX9" fmla="*/ 29164 w 261335"/>
                    <a:gd name="connsiteY9" fmla="*/ 260578 h 260956"/>
                    <a:gd name="connsiteX10" fmla="*/ 29164 w 261335"/>
                    <a:gd name="connsiteY10" fmla="*/ 130857 h 260956"/>
                    <a:gd name="connsiteX11" fmla="*/ 0 w 261335"/>
                    <a:gd name="connsiteY11" fmla="*/ 130857 h 260956"/>
                    <a:gd name="connsiteX12" fmla="*/ 78022 w 261335"/>
                    <a:gd name="connsiteY12" fmla="*/ 115139 h 260956"/>
                    <a:gd name="connsiteX13" fmla="*/ 85786 w 261335"/>
                    <a:gd name="connsiteY13" fmla="*/ 85976 h 260956"/>
                    <a:gd name="connsiteX14" fmla="*/ 92036 w 261335"/>
                    <a:gd name="connsiteY14" fmla="*/ 58138 h 260956"/>
                    <a:gd name="connsiteX15" fmla="*/ 96959 w 261335"/>
                    <a:gd name="connsiteY15" fmla="*/ 30868 h 260956"/>
                    <a:gd name="connsiteX16" fmla="*/ 101126 w 261335"/>
                    <a:gd name="connsiteY16" fmla="*/ 2651 h 260956"/>
                    <a:gd name="connsiteX17" fmla="*/ 136728 w 261335"/>
                    <a:gd name="connsiteY17" fmla="*/ 2651 h 260956"/>
                    <a:gd name="connsiteX18" fmla="*/ 134455 w 261335"/>
                    <a:gd name="connsiteY18" fmla="*/ 19505 h 260956"/>
                    <a:gd name="connsiteX19" fmla="*/ 131804 w 261335"/>
                    <a:gd name="connsiteY19" fmla="*/ 37496 h 260956"/>
                    <a:gd name="connsiteX20" fmla="*/ 159831 w 261335"/>
                    <a:gd name="connsiteY20" fmla="*/ 37496 h 260956"/>
                    <a:gd name="connsiteX21" fmla="*/ 159831 w 261335"/>
                    <a:gd name="connsiteY21" fmla="*/ 0 h 260956"/>
                    <a:gd name="connsiteX22" fmla="*/ 197138 w 261335"/>
                    <a:gd name="connsiteY22" fmla="*/ 0 h 260956"/>
                    <a:gd name="connsiteX23" fmla="*/ 197138 w 261335"/>
                    <a:gd name="connsiteY23" fmla="*/ 37307 h 260956"/>
                    <a:gd name="connsiteX24" fmla="*/ 255655 w 261335"/>
                    <a:gd name="connsiteY24" fmla="*/ 37307 h 260956"/>
                    <a:gd name="connsiteX25" fmla="*/ 255655 w 261335"/>
                    <a:gd name="connsiteY25" fmla="*/ 69690 h 260956"/>
                    <a:gd name="connsiteX26" fmla="*/ 197138 w 261335"/>
                    <a:gd name="connsiteY26" fmla="*/ 69690 h 260956"/>
                    <a:gd name="connsiteX27" fmla="*/ 197138 w 261335"/>
                    <a:gd name="connsiteY27" fmla="*/ 139379 h 260956"/>
                    <a:gd name="connsiteX28" fmla="*/ 261336 w 261335"/>
                    <a:gd name="connsiteY28" fmla="*/ 139379 h 260956"/>
                    <a:gd name="connsiteX29" fmla="*/ 261336 w 261335"/>
                    <a:gd name="connsiteY29" fmla="*/ 171194 h 260956"/>
                    <a:gd name="connsiteX30" fmla="*/ 197138 w 261335"/>
                    <a:gd name="connsiteY30" fmla="*/ 171194 h 260956"/>
                    <a:gd name="connsiteX31" fmla="*/ 197138 w 261335"/>
                    <a:gd name="connsiteY31" fmla="*/ 260957 h 260956"/>
                    <a:gd name="connsiteX32" fmla="*/ 159831 w 261335"/>
                    <a:gd name="connsiteY32" fmla="*/ 260957 h 260956"/>
                    <a:gd name="connsiteX33" fmla="*/ 159831 w 261335"/>
                    <a:gd name="connsiteY33" fmla="*/ 171004 h 260956"/>
                    <a:gd name="connsiteX34" fmla="*/ 81620 w 261335"/>
                    <a:gd name="connsiteY34" fmla="*/ 171004 h 260956"/>
                    <a:gd name="connsiteX35" fmla="*/ 81620 w 261335"/>
                    <a:gd name="connsiteY35" fmla="*/ 139190 h 260956"/>
                    <a:gd name="connsiteX36" fmla="*/ 159831 w 261335"/>
                    <a:gd name="connsiteY36" fmla="*/ 139190 h 260956"/>
                    <a:gd name="connsiteX37" fmla="*/ 159831 w 261335"/>
                    <a:gd name="connsiteY37" fmla="*/ 69690 h 260956"/>
                    <a:gd name="connsiteX38" fmla="*/ 125744 w 261335"/>
                    <a:gd name="connsiteY38" fmla="*/ 69690 h 260956"/>
                    <a:gd name="connsiteX39" fmla="*/ 120442 w 261335"/>
                    <a:gd name="connsiteY39" fmla="*/ 93361 h 260956"/>
                    <a:gd name="connsiteX40" fmla="*/ 114571 w 261335"/>
                    <a:gd name="connsiteY40" fmla="*/ 115329 h 260956"/>
                    <a:gd name="connsiteX41" fmla="*/ 78022 w 261335"/>
                    <a:gd name="connsiteY41" fmla="*/ 115329 h 2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261335" h="260956">
                      <a:moveTo>
                        <a:pt x="0" y="130857"/>
                      </a:moveTo>
                      <a:cubicBezTo>
                        <a:pt x="4734" y="120631"/>
                        <a:pt x="9279" y="109458"/>
                        <a:pt x="13446" y="97717"/>
                      </a:cubicBezTo>
                      <a:cubicBezTo>
                        <a:pt x="17612" y="85976"/>
                        <a:pt x="21589" y="74424"/>
                        <a:pt x="24997" y="62872"/>
                      </a:cubicBezTo>
                      <a:cubicBezTo>
                        <a:pt x="28596" y="51320"/>
                        <a:pt x="31625" y="40337"/>
                        <a:pt x="34277" y="29732"/>
                      </a:cubicBezTo>
                      <a:cubicBezTo>
                        <a:pt x="36928" y="19127"/>
                        <a:pt x="39200" y="9658"/>
                        <a:pt x="41094" y="1515"/>
                      </a:cubicBezTo>
                      <a:lnTo>
                        <a:pt x="80863" y="1515"/>
                      </a:lnTo>
                      <a:cubicBezTo>
                        <a:pt x="78969" y="9090"/>
                        <a:pt x="76886" y="17422"/>
                        <a:pt x="74424" y="26323"/>
                      </a:cubicBezTo>
                      <a:cubicBezTo>
                        <a:pt x="71962" y="35224"/>
                        <a:pt x="69500" y="44503"/>
                        <a:pt x="66470" y="54350"/>
                      </a:cubicBezTo>
                      <a:lnTo>
                        <a:pt x="66470" y="260578"/>
                      </a:lnTo>
                      <a:lnTo>
                        <a:pt x="29164" y="260578"/>
                      </a:lnTo>
                      <a:lnTo>
                        <a:pt x="29164" y="130857"/>
                      </a:lnTo>
                      <a:lnTo>
                        <a:pt x="0" y="130857"/>
                      </a:lnTo>
                      <a:close/>
                      <a:moveTo>
                        <a:pt x="78022" y="115139"/>
                      </a:moveTo>
                      <a:cubicBezTo>
                        <a:pt x="80863" y="105102"/>
                        <a:pt x="83514" y="95255"/>
                        <a:pt x="85786" y="85976"/>
                      </a:cubicBezTo>
                      <a:cubicBezTo>
                        <a:pt x="88059" y="76696"/>
                        <a:pt x="90142" y="67417"/>
                        <a:pt x="92036" y="58138"/>
                      </a:cubicBezTo>
                      <a:cubicBezTo>
                        <a:pt x="93929" y="49048"/>
                        <a:pt x="95634" y="39768"/>
                        <a:pt x="96959" y="30868"/>
                      </a:cubicBezTo>
                      <a:cubicBezTo>
                        <a:pt x="98474" y="21778"/>
                        <a:pt x="99800" y="12309"/>
                        <a:pt x="101126" y="2651"/>
                      </a:cubicBezTo>
                      <a:lnTo>
                        <a:pt x="136728" y="2651"/>
                      </a:lnTo>
                      <a:cubicBezTo>
                        <a:pt x="135970" y="7954"/>
                        <a:pt x="135213" y="13635"/>
                        <a:pt x="134455" y="19505"/>
                      </a:cubicBezTo>
                      <a:cubicBezTo>
                        <a:pt x="133698" y="25376"/>
                        <a:pt x="132751" y="31247"/>
                        <a:pt x="131804" y="37496"/>
                      </a:cubicBezTo>
                      <a:lnTo>
                        <a:pt x="159831" y="37496"/>
                      </a:lnTo>
                      <a:lnTo>
                        <a:pt x="159831" y="0"/>
                      </a:lnTo>
                      <a:lnTo>
                        <a:pt x="197138" y="0"/>
                      </a:lnTo>
                      <a:lnTo>
                        <a:pt x="197138" y="37307"/>
                      </a:lnTo>
                      <a:lnTo>
                        <a:pt x="255655" y="37307"/>
                      </a:lnTo>
                      <a:lnTo>
                        <a:pt x="255655" y="69690"/>
                      </a:lnTo>
                      <a:lnTo>
                        <a:pt x="197138" y="69690"/>
                      </a:lnTo>
                      <a:lnTo>
                        <a:pt x="197138" y="139379"/>
                      </a:lnTo>
                      <a:lnTo>
                        <a:pt x="261336" y="139379"/>
                      </a:lnTo>
                      <a:lnTo>
                        <a:pt x="261336" y="171194"/>
                      </a:lnTo>
                      <a:lnTo>
                        <a:pt x="197138" y="171194"/>
                      </a:lnTo>
                      <a:lnTo>
                        <a:pt x="197138" y="260957"/>
                      </a:lnTo>
                      <a:lnTo>
                        <a:pt x="159831" y="260957"/>
                      </a:lnTo>
                      <a:lnTo>
                        <a:pt x="159831" y="171004"/>
                      </a:lnTo>
                      <a:lnTo>
                        <a:pt x="81620" y="171004"/>
                      </a:lnTo>
                      <a:lnTo>
                        <a:pt x="81620" y="139190"/>
                      </a:lnTo>
                      <a:lnTo>
                        <a:pt x="159831" y="139190"/>
                      </a:lnTo>
                      <a:lnTo>
                        <a:pt x="159831" y="69690"/>
                      </a:lnTo>
                      <a:lnTo>
                        <a:pt x="125744" y="69690"/>
                      </a:lnTo>
                      <a:cubicBezTo>
                        <a:pt x="124040" y="77643"/>
                        <a:pt x="122336" y="85597"/>
                        <a:pt x="120442" y="93361"/>
                      </a:cubicBezTo>
                      <a:cubicBezTo>
                        <a:pt x="118548" y="101126"/>
                        <a:pt x="116654" y="108322"/>
                        <a:pt x="114571" y="115329"/>
                      </a:cubicBezTo>
                      <a:lnTo>
                        <a:pt x="78022" y="115329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7" name="任意多边形: 形状 17"/>
                <p:cNvSpPr/>
                <p:nvPr/>
              </p:nvSpPr>
              <p:spPr>
                <a:xfrm>
                  <a:off x="7365103" y="3315321"/>
                  <a:ext cx="261335" cy="250352"/>
                </a:xfrm>
                <a:custGeom>
                  <a:avLst/>
                  <a:gdLst>
                    <a:gd name="connsiteX0" fmla="*/ 109269 w 261335"/>
                    <a:gd name="connsiteY0" fmla="*/ 215886 h 250352"/>
                    <a:gd name="connsiteX1" fmla="*/ 109269 w 261335"/>
                    <a:gd name="connsiteY1" fmla="*/ 35034 h 250352"/>
                    <a:gd name="connsiteX2" fmla="*/ 10794 w 261335"/>
                    <a:gd name="connsiteY2" fmla="*/ 35034 h 250352"/>
                    <a:gd name="connsiteX3" fmla="*/ 10794 w 261335"/>
                    <a:gd name="connsiteY3" fmla="*/ 0 h 250352"/>
                    <a:gd name="connsiteX4" fmla="*/ 250352 w 261335"/>
                    <a:gd name="connsiteY4" fmla="*/ 0 h 250352"/>
                    <a:gd name="connsiteX5" fmla="*/ 250352 w 261335"/>
                    <a:gd name="connsiteY5" fmla="*/ 35034 h 250352"/>
                    <a:gd name="connsiteX6" fmla="*/ 151878 w 261335"/>
                    <a:gd name="connsiteY6" fmla="*/ 35034 h 250352"/>
                    <a:gd name="connsiteX7" fmla="*/ 151878 w 261335"/>
                    <a:gd name="connsiteY7" fmla="*/ 215886 h 250352"/>
                    <a:gd name="connsiteX8" fmla="*/ 261336 w 261335"/>
                    <a:gd name="connsiteY8" fmla="*/ 215886 h 250352"/>
                    <a:gd name="connsiteX9" fmla="*/ 261336 w 261335"/>
                    <a:gd name="connsiteY9" fmla="*/ 250352 h 250352"/>
                    <a:gd name="connsiteX10" fmla="*/ 0 w 261335"/>
                    <a:gd name="connsiteY10" fmla="*/ 250352 h 250352"/>
                    <a:gd name="connsiteX11" fmla="*/ 0 w 261335"/>
                    <a:gd name="connsiteY11" fmla="*/ 215886 h 250352"/>
                    <a:gd name="connsiteX12" fmla="*/ 109269 w 261335"/>
                    <a:gd name="connsiteY12" fmla="*/ 215886 h 250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1335" h="250352">
                      <a:moveTo>
                        <a:pt x="109269" y="215886"/>
                      </a:moveTo>
                      <a:lnTo>
                        <a:pt x="109269" y="35034"/>
                      </a:lnTo>
                      <a:lnTo>
                        <a:pt x="10794" y="35034"/>
                      </a:lnTo>
                      <a:lnTo>
                        <a:pt x="10794" y="0"/>
                      </a:lnTo>
                      <a:lnTo>
                        <a:pt x="250352" y="0"/>
                      </a:lnTo>
                      <a:lnTo>
                        <a:pt x="250352" y="35034"/>
                      </a:lnTo>
                      <a:lnTo>
                        <a:pt x="151878" y="35034"/>
                      </a:lnTo>
                      <a:lnTo>
                        <a:pt x="151878" y="215886"/>
                      </a:lnTo>
                      <a:lnTo>
                        <a:pt x="261336" y="215886"/>
                      </a:lnTo>
                      <a:lnTo>
                        <a:pt x="261336" y="250352"/>
                      </a:lnTo>
                      <a:lnTo>
                        <a:pt x="0" y="250352"/>
                      </a:lnTo>
                      <a:lnTo>
                        <a:pt x="0" y="215886"/>
                      </a:lnTo>
                      <a:lnTo>
                        <a:pt x="109269" y="215886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8" name="任意多边形: 形状 18"/>
                <p:cNvSpPr/>
                <p:nvPr/>
              </p:nvSpPr>
              <p:spPr>
                <a:xfrm>
                  <a:off x="7648595" y="3308882"/>
                  <a:ext cx="264176" cy="257548"/>
                </a:xfrm>
                <a:custGeom>
                  <a:avLst/>
                  <a:gdLst>
                    <a:gd name="connsiteX0" fmla="*/ 0 w 264176"/>
                    <a:gd name="connsiteY0" fmla="*/ 250920 h 257548"/>
                    <a:gd name="connsiteX1" fmla="*/ 6439 w 264176"/>
                    <a:gd name="connsiteY1" fmla="*/ 165702 h 257548"/>
                    <a:gd name="connsiteX2" fmla="*/ 8522 w 264176"/>
                    <a:gd name="connsiteY2" fmla="*/ 99989 h 257548"/>
                    <a:gd name="connsiteX3" fmla="*/ 34845 w 264176"/>
                    <a:gd name="connsiteY3" fmla="*/ 99989 h 257548"/>
                    <a:gd name="connsiteX4" fmla="*/ 33519 w 264176"/>
                    <a:gd name="connsiteY4" fmla="*/ 166081 h 257548"/>
                    <a:gd name="connsiteX5" fmla="*/ 29353 w 264176"/>
                    <a:gd name="connsiteY5" fmla="*/ 250920 h 257548"/>
                    <a:gd name="connsiteX6" fmla="*/ 0 w 264176"/>
                    <a:gd name="connsiteY6" fmla="*/ 250920 h 257548"/>
                    <a:gd name="connsiteX7" fmla="*/ 40147 w 264176"/>
                    <a:gd name="connsiteY7" fmla="*/ 90710 h 257548"/>
                    <a:gd name="connsiteX8" fmla="*/ 4545 w 264176"/>
                    <a:gd name="connsiteY8" fmla="*/ 90710 h 257548"/>
                    <a:gd name="connsiteX9" fmla="*/ 4545 w 264176"/>
                    <a:gd name="connsiteY9" fmla="*/ 60978 h 257548"/>
                    <a:gd name="connsiteX10" fmla="*/ 40147 w 264176"/>
                    <a:gd name="connsiteY10" fmla="*/ 60978 h 257548"/>
                    <a:gd name="connsiteX11" fmla="*/ 40147 w 264176"/>
                    <a:gd name="connsiteY11" fmla="*/ 34655 h 257548"/>
                    <a:gd name="connsiteX12" fmla="*/ 7575 w 264176"/>
                    <a:gd name="connsiteY12" fmla="*/ 37307 h 257548"/>
                    <a:gd name="connsiteX13" fmla="*/ 7575 w 264176"/>
                    <a:gd name="connsiteY13" fmla="*/ 7386 h 257548"/>
                    <a:gd name="connsiteX14" fmla="*/ 100747 w 264176"/>
                    <a:gd name="connsiteY14" fmla="*/ 0 h 257548"/>
                    <a:gd name="connsiteX15" fmla="*/ 100747 w 264176"/>
                    <a:gd name="connsiteY15" fmla="*/ 30110 h 257548"/>
                    <a:gd name="connsiteX16" fmla="*/ 72151 w 264176"/>
                    <a:gd name="connsiteY16" fmla="*/ 32383 h 257548"/>
                    <a:gd name="connsiteX17" fmla="*/ 72151 w 264176"/>
                    <a:gd name="connsiteY17" fmla="*/ 60978 h 257548"/>
                    <a:gd name="connsiteX18" fmla="*/ 103966 w 264176"/>
                    <a:gd name="connsiteY18" fmla="*/ 60978 h 257548"/>
                    <a:gd name="connsiteX19" fmla="*/ 103966 w 264176"/>
                    <a:gd name="connsiteY19" fmla="*/ 90710 h 257548"/>
                    <a:gd name="connsiteX20" fmla="*/ 72151 w 264176"/>
                    <a:gd name="connsiteY20" fmla="*/ 90710 h 257548"/>
                    <a:gd name="connsiteX21" fmla="*/ 72151 w 264176"/>
                    <a:gd name="connsiteY21" fmla="*/ 257548 h 257548"/>
                    <a:gd name="connsiteX22" fmla="*/ 40337 w 264176"/>
                    <a:gd name="connsiteY22" fmla="*/ 257548 h 257548"/>
                    <a:gd name="connsiteX23" fmla="*/ 40337 w 264176"/>
                    <a:gd name="connsiteY23" fmla="*/ 90710 h 257548"/>
                    <a:gd name="connsiteX24" fmla="*/ 80484 w 264176"/>
                    <a:gd name="connsiteY24" fmla="*/ 238043 h 257548"/>
                    <a:gd name="connsiteX25" fmla="*/ 79726 w 264176"/>
                    <a:gd name="connsiteY25" fmla="*/ 200168 h 257548"/>
                    <a:gd name="connsiteX26" fmla="*/ 78779 w 264176"/>
                    <a:gd name="connsiteY26" fmla="*/ 163429 h 257548"/>
                    <a:gd name="connsiteX27" fmla="*/ 77643 w 264176"/>
                    <a:gd name="connsiteY27" fmla="*/ 129532 h 257548"/>
                    <a:gd name="connsiteX28" fmla="*/ 76128 w 264176"/>
                    <a:gd name="connsiteY28" fmla="*/ 99800 h 257548"/>
                    <a:gd name="connsiteX29" fmla="*/ 101126 w 264176"/>
                    <a:gd name="connsiteY29" fmla="*/ 99800 h 257548"/>
                    <a:gd name="connsiteX30" fmla="*/ 103966 w 264176"/>
                    <a:gd name="connsiteY30" fmla="*/ 161346 h 257548"/>
                    <a:gd name="connsiteX31" fmla="*/ 106239 w 264176"/>
                    <a:gd name="connsiteY31" fmla="*/ 228195 h 257548"/>
                    <a:gd name="connsiteX32" fmla="*/ 165513 w 264176"/>
                    <a:gd name="connsiteY32" fmla="*/ 228195 h 257548"/>
                    <a:gd name="connsiteX33" fmla="*/ 165513 w 264176"/>
                    <a:gd name="connsiteY33" fmla="*/ 198653 h 257548"/>
                    <a:gd name="connsiteX34" fmla="*/ 114003 w 264176"/>
                    <a:gd name="connsiteY34" fmla="*/ 198653 h 257548"/>
                    <a:gd name="connsiteX35" fmla="*/ 114003 w 264176"/>
                    <a:gd name="connsiteY35" fmla="*/ 169868 h 257548"/>
                    <a:gd name="connsiteX36" fmla="*/ 165513 w 264176"/>
                    <a:gd name="connsiteY36" fmla="*/ 169868 h 257548"/>
                    <a:gd name="connsiteX37" fmla="*/ 165513 w 264176"/>
                    <a:gd name="connsiteY37" fmla="*/ 142409 h 257548"/>
                    <a:gd name="connsiteX38" fmla="*/ 110215 w 264176"/>
                    <a:gd name="connsiteY38" fmla="*/ 142409 h 257548"/>
                    <a:gd name="connsiteX39" fmla="*/ 110215 w 264176"/>
                    <a:gd name="connsiteY39" fmla="*/ 113435 h 257548"/>
                    <a:gd name="connsiteX40" fmla="*/ 259253 w 264176"/>
                    <a:gd name="connsiteY40" fmla="*/ 113435 h 257548"/>
                    <a:gd name="connsiteX41" fmla="*/ 259253 w 264176"/>
                    <a:gd name="connsiteY41" fmla="*/ 142409 h 257548"/>
                    <a:gd name="connsiteX42" fmla="*/ 203387 w 264176"/>
                    <a:gd name="connsiteY42" fmla="*/ 142409 h 257548"/>
                    <a:gd name="connsiteX43" fmla="*/ 203387 w 264176"/>
                    <a:gd name="connsiteY43" fmla="*/ 169868 h 257548"/>
                    <a:gd name="connsiteX44" fmla="*/ 255465 w 264176"/>
                    <a:gd name="connsiteY44" fmla="*/ 169868 h 257548"/>
                    <a:gd name="connsiteX45" fmla="*/ 255465 w 264176"/>
                    <a:gd name="connsiteY45" fmla="*/ 198842 h 257548"/>
                    <a:gd name="connsiteX46" fmla="*/ 203387 w 264176"/>
                    <a:gd name="connsiteY46" fmla="*/ 198842 h 257548"/>
                    <a:gd name="connsiteX47" fmla="*/ 203387 w 264176"/>
                    <a:gd name="connsiteY47" fmla="*/ 228385 h 257548"/>
                    <a:gd name="connsiteX48" fmla="*/ 264176 w 264176"/>
                    <a:gd name="connsiteY48" fmla="*/ 228385 h 257548"/>
                    <a:gd name="connsiteX49" fmla="*/ 264176 w 264176"/>
                    <a:gd name="connsiteY49" fmla="*/ 257548 h 257548"/>
                    <a:gd name="connsiteX50" fmla="*/ 105671 w 264176"/>
                    <a:gd name="connsiteY50" fmla="*/ 257548 h 257548"/>
                    <a:gd name="connsiteX51" fmla="*/ 105671 w 264176"/>
                    <a:gd name="connsiteY51" fmla="*/ 238043 h 257548"/>
                    <a:gd name="connsiteX52" fmla="*/ 80484 w 264176"/>
                    <a:gd name="connsiteY52" fmla="*/ 238043 h 257548"/>
                    <a:gd name="connsiteX53" fmla="*/ 255276 w 264176"/>
                    <a:gd name="connsiteY53" fmla="*/ 1326 h 257548"/>
                    <a:gd name="connsiteX54" fmla="*/ 255276 w 264176"/>
                    <a:gd name="connsiteY54" fmla="*/ 97527 h 257548"/>
                    <a:gd name="connsiteX55" fmla="*/ 114382 w 264176"/>
                    <a:gd name="connsiteY55" fmla="*/ 97527 h 257548"/>
                    <a:gd name="connsiteX56" fmla="*/ 114382 w 264176"/>
                    <a:gd name="connsiteY56" fmla="*/ 1326 h 257548"/>
                    <a:gd name="connsiteX57" fmla="*/ 255276 w 264176"/>
                    <a:gd name="connsiteY57" fmla="*/ 1326 h 257548"/>
                    <a:gd name="connsiteX58" fmla="*/ 148658 w 264176"/>
                    <a:gd name="connsiteY58" fmla="*/ 69311 h 257548"/>
                    <a:gd name="connsiteX59" fmla="*/ 220242 w 264176"/>
                    <a:gd name="connsiteY59" fmla="*/ 69311 h 257548"/>
                    <a:gd name="connsiteX60" fmla="*/ 220242 w 264176"/>
                    <a:gd name="connsiteY60" fmla="*/ 29542 h 257548"/>
                    <a:gd name="connsiteX61" fmla="*/ 148658 w 264176"/>
                    <a:gd name="connsiteY61" fmla="*/ 29542 h 257548"/>
                    <a:gd name="connsiteX62" fmla="*/ 148658 w 264176"/>
                    <a:gd name="connsiteY62" fmla="*/ 69311 h 257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264176" h="257548">
                      <a:moveTo>
                        <a:pt x="0" y="250920"/>
                      </a:moveTo>
                      <a:cubicBezTo>
                        <a:pt x="3030" y="219863"/>
                        <a:pt x="5113" y="191457"/>
                        <a:pt x="6439" y="165702"/>
                      </a:cubicBezTo>
                      <a:cubicBezTo>
                        <a:pt x="7764" y="139947"/>
                        <a:pt x="8332" y="118169"/>
                        <a:pt x="8522" y="99989"/>
                      </a:cubicBezTo>
                      <a:lnTo>
                        <a:pt x="34845" y="99989"/>
                      </a:lnTo>
                      <a:cubicBezTo>
                        <a:pt x="34655" y="119495"/>
                        <a:pt x="34277" y="141462"/>
                        <a:pt x="33519" y="166081"/>
                      </a:cubicBezTo>
                      <a:cubicBezTo>
                        <a:pt x="32762" y="190699"/>
                        <a:pt x="31436" y="218916"/>
                        <a:pt x="29353" y="250920"/>
                      </a:cubicBezTo>
                      <a:lnTo>
                        <a:pt x="0" y="250920"/>
                      </a:lnTo>
                      <a:close/>
                      <a:moveTo>
                        <a:pt x="40147" y="90710"/>
                      </a:moveTo>
                      <a:lnTo>
                        <a:pt x="4545" y="90710"/>
                      </a:lnTo>
                      <a:lnTo>
                        <a:pt x="4545" y="60978"/>
                      </a:lnTo>
                      <a:lnTo>
                        <a:pt x="40147" y="60978"/>
                      </a:lnTo>
                      <a:lnTo>
                        <a:pt x="40147" y="34655"/>
                      </a:lnTo>
                      <a:lnTo>
                        <a:pt x="7575" y="37307"/>
                      </a:lnTo>
                      <a:lnTo>
                        <a:pt x="7575" y="7386"/>
                      </a:lnTo>
                      <a:lnTo>
                        <a:pt x="100747" y="0"/>
                      </a:lnTo>
                      <a:lnTo>
                        <a:pt x="100747" y="30110"/>
                      </a:lnTo>
                      <a:lnTo>
                        <a:pt x="72151" y="32383"/>
                      </a:lnTo>
                      <a:lnTo>
                        <a:pt x="72151" y="60978"/>
                      </a:lnTo>
                      <a:lnTo>
                        <a:pt x="103966" y="60978"/>
                      </a:lnTo>
                      <a:lnTo>
                        <a:pt x="103966" y="90710"/>
                      </a:lnTo>
                      <a:lnTo>
                        <a:pt x="72151" y="90710"/>
                      </a:lnTo>
                      <a:lnTo>
                        <a:pt x="72151" y="257548"/>
                      </a:lnTo>
                      <a:lnTo>
                        <a:pt x="40337" y="257548"/>
                      </a:lnTo>
                      <a:lnTo>
                        <a:pt x="40337" y="90710"/>
                      </a:lnTo>
                      <a:close/>
                      <a:moveTo>
                        <a:pt x="80484" y="238043"/>
                      </a:moveTo>
                      <a:cubicBezTo>
                        <a:pt x="80294" y="225355"/>
                        <a:pt x="80105" y="212856"/>
                        <a:pt x="79726" y="200168"/>
                      </a:cubicBezTo>
                      <a:cubicBezTo>
                        <a:pt x="79348" y="187480"/>
                        <a:pt x="79158" y="175360"/>
                        <a:pt x="78779" y="163429"/>
                      </a:cubicBezTo>
                      <a:cubicBezTo>
                        <a:pt x="78401" y="151499"/>
                        <a:pt x="78022" y="140326"/>
                        <a:pt x="77643" y="129532"/>
                      </a:cubicBezTo>
                      <a:cubicBezTo>
                        <a:pt x="77264" y="118927"/>
                        <a:pt x="76696" y="108890"/>
                        <a:pt x="76128" y="99800"/>
                      </a:cubicBezTo>
                      <a:lnTo>
                        <a:pt x="101126" y="99800"/>
                      </a:lnTo>
                      <a:cubicBezTo>
                        <a:pt x="102072" y="118927"/>
                        <a:pt x="103019" y="139379"/>
                        <a:pt x="103966" y="161346"/>
                      </a:cubicBezTo>
                      <a:cubicBezTo>
                        <a:pt x="104913" y="183314"/>
                        <a:pt x="105671" y="205660"/>
                        <a:pt x="106239" y="228195"/>
                      </a:cubicBezTo>
                      <a:lnTo>
                        <a:pt x="165513" y="228195"/>
                      </a:lnTo>
                      <a:lnTo>
                        <a:pt x="165513" y="198653"/>
                      </a:lnTo>
                      <a:lnTo>
                        <a:pt x="114003" y="198653"/>
                      </a:lnTo>
                      <a:lnTo>
                        <a:pt x="114003" y="169868"/>
                      </a:lnTo>
                      <a:lnTo>
                        <a:pt x="165513" y="169868"/>
                      </a:lnTo>
                      <a:lnTo>
                        <a:pt x="165513" y="142409"/>
                      </a:lnTo>
                      <a:lnTo>
                        <a:pt x="110215" y="142409"/>
                      </a:lnTo>
                      <a:lnTo>
                        <a:pt x="110215" y="113435"/>
                      </a:lnTo>
                      <a:lnTo>
                        <a:pt x="259253" y="113435"/>
                      </a:lnTo>
                      <a:lnTo>
                        <a:pt x="259253" y="142409"/>
                      </a:lnTo>
                      <a:lnTo>
                        <a:pt x="203387" y="142409"/>
                      </a:lnTo>
                      <a:lnTo>
                        <a:pt x="203387" y="169868"/>
                      </a:lnTo>
                      <a:lnTo>
                        <a:pt x="255465" y="169868"/>
                      </a:lnTo>
                      <a:lnTo>
                        <a:pt x="255465" y="198842"/>
                      </a:lnTo>
                      <a:lnTo>
                        <a:pt x="203387" y="198842"/>
                      </a:lnTo>
                      <a:lnTo>
                        <a:pt x="203387" y="228385"/>
                      </a:lnTo>
                      <a:lnTo>
                        <a:pt x="264176" y="228385"/>
                      </a:lnTo>
                      <a:lnTo>
                        <a:pt x="264176" y="257548"/>
                      </a:lnTo>
                      <a:lnTo>
                        <a:pt x="105671" y="257548"/>
                      </a:lnTo>
                      <a:lnTo>
                        <a:pt x="105671" y="238043"/>
                      </a:lnTo>
                      <a:lnTo>
                        <a:pt x="80484" y="238043"/>
                      </a:lnTo>
                      <a:close/>
                      <a:moveTo>
                        <a:pt x="255276" y="1326"/>
                      </a:moveTo>
                      <a:lnTo>
                        <a:pt x="255276" y="97527"/>
                      </a:lnTo>
                      <a:lnTo>
                        <a:pt x="114382" y="97527"/>
                      </a:lnTo>
                      <a:lnTo>
                        <a:pt x="114382" y="1326"/>
                      </a:lnTo>
                      <a:lnTo>
                        <a:pt x="255276" y="1326"/>
                      </a:lnTo>
                      <a:close/>
                      <a:moveTo>
                        <a:pt x="148658" y="69311"/>
                      </a:moveTo>
                      <a:lnTo>
                        <a:pt x="220242" y="69311"/>
                      </a:lnTo>
                      <a:lnTo>
                        <a:pt x="220242" y="29542"/>
                      </a:lnTo>
                      <a:lnTo>
                        <a:pt x="148658" y="29542"/>
                      </a:lnTo>
                      <a:lnTo>
                        <a:pt x="148658" y="69311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9" name="任意多边形: 形状 19"/>
                <p:cNvSpPr/>
                <p:nvPr/>
              </p:nvSpPr>
              <p:spPr>
                <a:xfrm>
                  <a:off x="7939662" y="3305663"/>
                  <a:ext cx="258684" cy="260767"/>
                </a:xfrm>
                <a:custGeom>
                  <a:avLst/>
                  <a:gdLst>
                    <a:gd name="connsiteX0" fmla="*/ 153393 w 258684"/>
                    <a:gd name="connsiteY0" fmla="*/ 125555 h 260767"/>
                    <a:gd name="connsiteX1" fmla="*/ 34466 w 258684"/>
                    <a:gd name="connsiteY1" fmla="*/ 125555 h 260767"/>
                    <a:gd name="connsiteX2" fmla="*/ 34466 w 258684"/>
                    <a:gd name="connsiteY2" fmla="*/ 96202 h 260767"/>
                    <a:gd name="connsiteX3" fmla="*/ 224219 w 258684"/>
                    <a:gd name="connsiteY3" fmla="*/ 96202 h 260767"/>
                    <a:gd name="connsiteX4" fmla="*/ 209447 w 258684"/>
                    <a:gd name="connsiteY4" fmla="*/ 113624 h 260767"/>
                    <a:gd name="connsiteX5" fmla="*/ 191078 w 258684"/>
                    <a:gd name="connsiteY5" fmla="*/ 131615 h 260767"/>
                    <a:gd name="connsiteX6" fmla="*/ 171762 w 258684"/>
                    <a:gd name="connsiteY6" fmla="*/ 148090 h 260767"/>
                    <a:gd name="connsiteX7" fmla="*/ 154340 w 258684"/>
                    <a:gd name="connsiteY7" fmla="*/ 160968 h 260767"/>
                    <a:gd name="connsiteX8" fmla="*/ 154340 w 258684"/>
                    <a:gd name="connsiteY8" fmla="*/ 161346 h 260767"/>
                    <a:gd name="connsiteX9" fmla="*/ 258684 w 258684"/>
                    <a:gd name="connsiteY9" fmla="*/ 161346 h 260767"/>
                    <a:gd name="connsiteX10" fmla="*/ 258684 w 258684"/>
                    <a:gd name="connsiteY10" fmla="*/ 192025 h 260767"/>
                    <a:gd name="connsiteX11" fmla="*/ 154340 w 258684"/>
                    <a:gd name="connsiteY11" fmla="*/ 192025 h 260767"/>
                    <a:gd name="connsiteX12" fmla="*/ 154340 w 258684"/>
                    <a:gd name="connsiteY12" fmla="*/ 209258 h 260767"/>
                    <a:gd name="connsiteX13" fmla="*/ 153582 w 258684"/>
                    <a:gd name="connsiteY13" fmla="*/ 222135 h 260767"/>
                    <a:gd name="connsiteX14" fmla="*/ 151499 w 258684"/>
                    <a:gd name="connsiteY14" fmla="*/ 235960 h 260767"/>
                    <a:gd name="connsiteX15" fmla="*/ 147901 w 258684"/>
                    <a:gd name="connsiteY15" fmla="*/ 249216 h 260767"/>
                    <a:gd name="connsiteX16" fmla="*/ 142788 w 258684"/>
                    <a:gd name="connsiteY16" fmla="*/ 260768 h 260767"/>
                    <a:gd name="connsiteX17" fmla="*/ 102262 w 258684"/>
                    <a:gd name="connsiteY17" fmla="*/ 260768 h 260767"/>
                    <a:gd name="connsiteX18" fmla="*/ 114571 w 258684"/>
                    <a:gd name="connsiteY18" fmla="*/ 209258 h 260767"/>
                    <a:gd name="connsiteX19" fmla="*/ 114571 w 258684"/>
                    <a:gd name="connsiteY19" fmla="*/ 192025 h 260767"/>
                    <a:gd name="connsiteX20" fmla="*/ 0 w 258684"/>
                    <a:gd name="connsiteY20" fmla="*/ 192025 h 260767"/>
                    <a:gd name="connsiteX21" fmla="*/ 0 w 258684"/>
                    <a:gd name="connsiteY21" fmla="*/ 161346 h 260767"/>
                    <a:gd name="connsiteX22" fmla="*/ 114571 w 258684"/>
                    <a:gd name="connsiteY22" fmla="*/ 161346 h 260767"/>
                    <a:gd name="connsiteX23" fmla="*/ 114571 w 258684"/>
                    <a:gd name="connsiteY23" fmla="*/ 161346 h 260767"/>
                    <a:gd name="connsiteX24" fmla="*/ 218348 w 258684"/>
                    <a:gd name="connsiteY24" fmla="*/ 73098 h 260767"/>
                    <a:gd name="connsiteX25" fmla="*/ 38064 w 258684"/>
                    <a:gd name="connsiteY25" fmla="*/ 73098 h 260767"/>
                    <a:gd name="connsiteX26" fmla="*/ 38064 w 258684"/>
                    <a:gd name="connsiteY26" fmla="*/ 93172 h 260767"/>
                    <a:gd name="connsiteX27" fmla="*/ 2462 w 258684"/>
                    <a:gd name="connsiteY27" fmla="*/ 93172 h 260767"/>
                    <a:gd name="connsiteX28" fmla="*/ 2462 w 258684"/>
                    <a:gd name="connsiteY28" fmla="*/ 42420 h 260767"/>
                    <a:gd name="connsiteX29" fmla="*/ 172709 w 258684"/>
                    <a:gd name="connsiteY29" fmla="*/ 42420 h 260767"/>
                    <a:gd name="connsiteX30" fmla="*/ 184829 w 258684"/>
                    <a:gd name="connsiteY30" fmla="*/ 19884 h 260767"/>
                    <a:gd name="connsiteX31" fmla="*/ 193351 w 258684"/>
                    <a:gd name="connsiteY31" fmla="*/ 0 h 260767"/>
                    <a:gd name="connsiteX32" fmla="*/ 233687 w 258684"/>
                    <a:gd name="connsiteY32" fmla="*/ 0 h 260767"/>
                    <a:gd name="connsiteX33" fmla="*/ 224787 w 258684"/>
                    <a:gd name="connsiteY33" fmla="*/ 20831 h 260767"/>
                    <a:gd name="connsiteX34" fmla="*/ 213614 w 258684"/>
                    <a:gd name="connsiteY34" fmla="*/ 42420 h 260767"/>
                    <a:gd name="connsiteX35" fmla="*/ 253761 w 258684"/>
                    <a:gd name="connsiteY35" fmla="*/ 42420 h 260767"/>
                    <a:gd name="connsiteX36" fmla="*/ 253761 w 258684"/>
                    <a:gd name="connsiteY36" fmla="*/ 93172 h 260767"/>
                    <a:gd name="connsiteX37" fmla="*/ 218159 w 258684"/>
                    <a:gd name="connsiteY37" fmla="*/ 93172 h 260767"/>
                    <a:gd name="connsiteX38" fmla="*/ 218159 w 258684"/>
                    <a:gd name="connsiteY38" fmla="*/ 73098 h 260767"/>
                    <a:gd name="connsiteX39" fmla="*/ 36170 w 258684"/>
                    <a:gd name="connsiteY39" fmla="*/ 35792 h 260767"/>
                    <a:gd name="connsiteX40" fmla="*/ 31057 w 258684"/>
                    <a:gd name="connsiteY40" fmla="*/ 18180 h 260767"/>
                    <a:gd name="connsiteX41" fmla="*/ 24240 w 258684"/>
                    <a:gd name="connsiteY41" fmla="*/ 0 h 260767"/>
                    <a:gd name="connsiteX42" fmla="*/ 63819 w 258684"/>
                    <a:gd name="connsiteY42" fmla="*/ 0 h 260767"/>
                    <a:gd name="connsiteX43" fmla="*/ 67417 w 258684"/>
                    <a:gd name="connsiteY43" fmla="*/ 7954 h 260767"/>
                    <a:gd name="connsiteX44" fmla="*/ 71204 w 258684"/>
                    <a:gd name="connsiteY44" fmla="*/ 17422 h 260767"/>
                    <a:gd name="connsiteX45" fmla="*/ 74613 w 258684"/>
                    <a:gd name="connsiteY45" fmla="*/ 27080 h 260767"/>
                    <a:gd name="connsiteX46" fmla="*/ 77265 w 258684"/>
                    <a:gd name="connsiteY46" fmla="*/ 35602 h 260767"/>
                    <a:gd name="connsiteX47" fmla="*/ 36170 w 258684"/>
                    <a:gd name="connsiteY47" fmla="*/ 35602 h 260767"/>
                    <a:gd name="connsiteX48" fmla="*/ 108890 w 258684"/>
                    <a:gd name="connsiteY48" fmla="*/ 36360 h 260767"/>
                    <a:gd name="connsiteX49" fmla="*/ 103209 w 258684"/>
                    <a:gd name="connsiteY49" fmla="*/ 17422 h 260767"/>
                    <a:gd name="connsiteX50" fmla="*/ 96770 w 258684"/>
                    <a:gd name="connsiteY50" fmla="*/ 0 h 260767"/>
                    <a:gd name="connsiteX51" fmla="*/ 137675 w 258684"/>
                    <a:gd name="connsiteY51" fmla="*/ 0 h 260767"/>
                    <a:gd name="connsiteX52" fmla="*/ 140894 w 258684"/>
                    <a:gd name="connsiteY52" fmla="*/ 7575 h 260767"/>
                    <a:gd name="connsiteX53" fmla="*/ 144682 w 258684"/>
                    <a:gd name="connsiteY53" fmla="*/ 16854 h 260767"/>
                    <a:gd name="connsiteX54" fmla="*/ 148090 w 258684"/>
                    <a:gd name="connsiteY54" fmla="*/ 26702 h 260767"/>
                    <a:gd name="connsiteX55" fmla="*/ 151120 w 258684"/>
                    <a:gd name="connsiteY55" fmla="*/ 36360 h 260767"/>
                    <a:gd name="connsiteX56" fmla="*/ 108890 w 258684"/>
                    <a:gd name="connsiteY56" fmla="*/ 36360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258684" h="260767">
                      <a:moveTo>
                        <a:pt x="153393" y="125555"/>
                      </a:moveTo>
                      <a:lnTo>
                        <a:pt x="34466" y="125555"/>
                      </a:lnTo>
                      <a:lnTo>
                        <a:pt x="34466" y="96202"/>
                      </a:lnTo>
                      <a:lnTo>
                        <a:pt x="224219" y="96202"/>
                      </a:lnTo>
                      <a:cubicBezTo>
                        <a:pt x="220242" y="101694"/>
                        <a:pt x="215318" y="107564"/>
                        <a:pt x="209447" y="113624"/>
                      </a:cubicBezTo>
                      <a:cubicBezTo>
                        <a:pt x="203577" y="119684"/>
                        <a:pt x="197517" y="125744"/>
                        <a:pt x="191078" y="131615"/>
                      </a:cubicBezTo>
                      <a:cubicBezTo>
                        <a:pt x="184639" y="137485"/>
                        <a:pt x="178201" y="142977"/>
                        <a:pt x="171762" y="148090"/>
                      </a:cubicBezTo>
                      <a:cubicBezTo>
                        <a:pt x="165323" y="153203"/>
                        <a:pt x="159453" y="157559"/>
                        <a:pt x="154340" y="160968"/>
                      </a:cubicBezTo>
                      <a:lnTo>
                        <a:pt x="154340" y="161346"/>
                      </a:lnTo>
                      <a:lnTo>
                        <a:pt x="258684" y="161346"/>
                      </a:lnTo>
                      <a:lnTo>
                        <a:pt x="258684" y="192025"/>
                      </a:lnTo>
                      <a:lnTo>
                        <a:pt x="154340" y="192025"/>
                      </a:lnTo>
                      <a:lnTo>
                        <a:pt x="154340" y="209258"/>
                      </a:lnTo>
                      <a:cubicBezTo>
                        <a:pt x="154340" y="213235"/>
                        <a:pt x="154150" y="217590"/>
                        <a:pt x="153582" y="222135"/>
                      </a:cubicBezTo>
                      <a:cubicBezTo>
                        <a:pt x="153014" y="226680"/>
                        <a:pt x="152446" y="231225"/>
                        <a:pt x="151499" y="235960"/>
                      </a:cubicBezTo>
                      <a:cubicBezTo>
                        <a:pt x="150552" y="240505"/>
                        <a:pt x="149416" y="245050"/>
                        <a:pt x="147901" y="249216"/>
                      </a:cubicBezTo>
                      <a:cubicBezTo>
                        <a:pt x="146386" y="253571"/>
                        <a:pt x="144682" y="257359"/>
                        <a:pt x="142788" y="260768"/>
                      </a:cubicBezTo>
                      <a:lnTo>
                        <a:pt x="102262" y="260768"/>
                      </a:lnTo>
                      <a:cubicBezTo>
                        <a:pt x="106049" y="252056"/>
                        <a:pt x="115707" y="227248"/>
                        <a:pt x="114571" y="209258"/>
                      </a:cubicBezTo>
                      <a:lnTo>
                        <a:pt x="114571" y="192025"/>
                      </a:lnTo>
                      <a:lnTo>
                        <a:pt x="0" y="192025"/>
                      </a:lnTo>
                      <a:lnTo>
                        <a:pt x="0" y="161346"/>
                      </a:lnTo>
                      <a:lnTo>
                        <a:pt x="114571" y="161346"/>
                      </a:lnTo>
                      <a:lnTo>
                        <a:pt x="114571" y="161346"/>
                      </a:lnTo>
                      <a:moveTo>
                        <a:pt x="218348" y="73098"/>
                      </a:moveTo>
                      <a:lnTo>
                        <a:pt x="38064" y="73098"/>
                      </a:lnTo>
                      <a:lnTo>
                        <a:pt x="38064" y="93172"/>
                      </a:lnTo>
                      <a:lnTo>
                        <a:pt x="2462" y="93172"/>
                      </a:lnTo>
                      <a:lnTo>
                        <a:pt x="2462" y="42420"/>
                      </a:lnTo>
                      <a:lnTo>
                        <a:pt x="172709" y="42420"/>
                      </a:lnTo>
                      <a:cubicBezTo>
                        <a:pt x="177443" y="34466"/>
                        <a:pt x="181609" y="26891"/>
                        <a:pt x="184829" y="19884"/>
                      </a:cubicBezTo>
                      <a:cubicBezTo>
                        <a:pt x="188238" y="12877"/>
                        <a:pt x="191078" y="6249"/>
                        <a:pt x="193351" y="0"/>
                      </a:cubicBezTo>
                      <a:lnTo>
                        <a:pt x="233687" y="0"/>
                      </a:lnTo>
                      <a:cubicBezTo>
                        <a:pt x="231036" y="7007"/>
                        <a:pt x="228006" y="14014"/>
                        <a:pt x="224787" y="20831"/>
                      </a:cubicBezTo>
                      <a:cubicBezTo>
                        <a:pt x="221567" y="27649"/>
                        <a:pt x="217780" y="34845"/>
                        <a:pt x="213614" y="42420"/>
                      </a:cubicBezTo>
                      <a:lnTo>
                        <a:pt x="253761" y="42420"/>
                      </a:lnTo>
                      <a:lnTo>
                        <a:pt x="253761" y="93172"/>
                      </a:lnTo>
                      <a:lnTo>
                        <a:pt x="218159" y="93172"/>
                      </a:lnTo>
                      <a:lnTo>
                        <a:pt x="218159" y="73098"/>
                      </a:lnTo>
                      <a:close/>
                      <a:moveTo>
                        <a:pt x="36170" y="35792"/>
                      </a:moveTo>
                      <a:cubicBezTo>
                        <a:pt x="35034" y="30868"/>
                        <a:pt x="33330" y="24997"/>
                        <a:pt x="31057" y="18180"/>
                      </a:cubicBezTo>
                      <a:cubicBezTo>
                        <a:pt x="28785" y="11362"/>
                        <a:pt x="26512" y="5302"/>
                        <a:pt x="24240" y="0"/>
                      </a:cubicBezTo>
                      <a:lnTo>
                        <a:pt x="63819" y="0"/>
                      </a:lnTo>
                      <a:cubicBezTo>
                        <a:pt x="64955" y="2272"/>
                        <a:pt x="66091" y="4924"/>
                        <a:pt x="67417" y="7954"/>
                      </a:cubicBezTo>
                      <a:cubicBezTo>
                        <a:pt x="68743" y="10984"/>
                        <a:pt x="69879" y="14203"/>
                        <a:pt x="71204" y="17422"/>
                      </a:cubicBezTo>
                      <a:cubicBezTo>
                        <a:pt x="72530" y="20642"/>
                        <a:pt x="73666" y="23861"/>
                        <a:pt x="74613" y="27080"/>
                      </a:cubicBezTo>
                      <a:cubicBezTo>
                        <a:pt x="75749" y="30300"/>
                        <a:pt x="76507" y="33140"/>
                        <a:pt x="77265" y="35602"/>
                      </a:cubicBezTo>
                      <a:lnTo>
                        <a:pt x="36170" y="35602"/>
                      </a:lnTo>
                      <a:close/>
                      <a:moveTo>
                        <a:pt x="108890" y="36360"/>
                      </a:moveTo>
                      <a:cubicBezTo>
                        <a:pt x="107375" y="30489"/>
                        <a:pt x="105481" y="24050"/>
                        <a:pt x="103209" y="17422"/>
                      </a:cubicBezTo>
                      <a:cubicBezTo>
                        <a:pt x="100936" y="10794"/>
                        <a:pt x="98853" y="4924"/>
                        <a:pt x="96770" y="0"/>
                      </a:cubicBezTo>
                      <a:lnTo>
                        <a:pt x="137675" y="0"/>
                      </a:lnTo>
                      <a:cubicBezTo>
                        <a:pt x="138622" y="2083"/>
                        <a:pt x="139758" y="4545"/>
                        <a:pt x="140894" y="7575"/>
                      </a:cubicBezTo>
                      <a:cubicBezTo>
                        <a:pt x="142220" y="10605"/>
                        <a:pt x="143356" y="13635"/>
                        <a:pt x="144682" y="16854"/>
                      </a:cubicBezTo>
                      <a:cubicBezTo>
                        <a:pt x="146007" y="20074"/>
                        <a:pt x="147144" y="23482"/>
                        <a:pt x="148090" y="26702"/>
                      </a:cubicBezTo>
                      <a:cubicBezTo>
                        <a:pt x="149227" y="30110"/>
                        <a:pt x="150173" y="33330"/>
                        <a:pt x="151120" y="36360"/>
                      </a:cubicBezTo>
                      <a:lnTo>
                        <a:pt x="108890" y="36360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0" name="任意多边形: 形状 20"/>
                <p:cNvSpPr/>
                <p:nvPr/>
              </p:nvSpPr>
              <p:spPr>
                <a:xfrm>
                  <a:off x="8228647" y="3305663"/>
                  <a:ext cx="256601" cy="260956"/>
                </a:xfrm>
                <a:custGeom>
                  <a:avLst/>
                  <a:gdLst>
                    <a:gd name="connsiteX0" fmla="*/ 41662 w 256601"/>
                    <a:gd name="connsiteY0" fmla="*/ 236906 h 260956"/>
                    <a:gd name="connsiteX1" fmla="*/ 53782 w 256601"/>
                    <a:gd name="connsiteY1" fmla="*/ 207554 h 260956"/>
                    <a:gd name="connsiteX2" fmla="*/ 57759 w 256601"/>
                    <a:gd name="connsiteY2" fmla="*/ 169679 h 260956"/>
                    <a:gd name="connsiteX3" fmla="*/ 57759 w 256601"/>
                    <a:gd name="connsiteY3" fmla="*/ 128963 h 260956"/>
                    <a:gd name="connsiteX4" fmla="*/ 44882 w 256601"/>
                    <a:gd name="connsiteY4" fmla="*/ 128963 h 260956"/>
                    <a:gd name="connsiteX5" fmla="*/ 53214 w 256601"/>
                    <a:gd name="connsiteY5" fmla="*/ 78590 h 260956"/>
                    <a:gd name="connsiteX6" fmla="*/ 58138 w 256601"/>
                    <a:gd name="connsiteY6" fmla="*/ 35413 h 260956"/>
                    <a:gd name="connsiteX7" fmla="*/ 32572 w 256601"/>
                    <a:gd name="connsiteY7" fmla="*/ 35413 h 260956"/>
                    <a:gd name="connsiteX8" fmla="*/ 32572 w 256601"/>
                    <a:gd name="connsiteY8" fmla="*/ 260957 h 260956"/>
                    <a:gd name="connsiteX9" fmla="*/ 0 w 256601"/>
                    <a:gd name="connsiteY9" fmla="*/ 260957 h 260956"/>
                    <a:gd name="connsiteX10" fmla="*/ 0 w 256601"/>
                    <a:gd name="connsiteY10" fmla="*/ 6628 h 260956"/>
                    <a:gd name="connsiteX11" fmla="*/ 89953 w 256601"/>
                    <a:gd name="connsiteY11" fmla="*/ 6628 h 260956"/>
                    <a:gd name="connsiteX12" fmla="*/ 87491 w 256601"/>
                    <a:gd name="connsiteY12" fmla="*/ 31625 h 260956"/>
                    <a:gd name="connsiteX13" fmla="*/ 84840 w 256601"/>
                    <a:gd name="connsiteY13" fmla="*/ 54918 h 260956"/>
                    <a:gd name="connsiteX14" fmla="*/ 81810 w 256601"/>
                    <a:gd name="connsiteY14" fmla="*/ 77643 h 260956"/>
                    <a:gd name="connsiteX15" fmla="*/ 78590 w 256601"/>
                    <a:gd name="connsiteY15" fmla="*/ 100557 h 260956"/>
                    <a:gd name="connsiteX16" fmla="*/ 89385 w 256601"/>
                    <a:gd name="connsiteY16" fmla="*/ 100557 h 260956"/>
                    <a:gd name="connsiteX17" fmla="*/ 89385 w 256601"/>
                    <a:gd name="connsiteY17" fmla="*/ 169679 h 260956"/>
                    <a:gd name="connsiteX18" fmla="*/ 88627 w 256601"/>
                    <a:gd name="connsiteY18" fmla="*/ 192972 h 260956"/>
                    <a:gd name="connsiteX19" fmla="*/ 86544 w 256601"/>
                    <a:gd name="connsiteY19" fmla="*/ 211152 h 260956"/>
                    <a:gd name="connsiteX20" fmla="*/ 83324 w 256601"/>
                    <a:gd name="connsiteY20" fmla="*/ 225355 h 260956"/>
                    <a:gd name="connsiteX21" fmla="*/ 78969 w 256601"/>
                    <a:gd name="connsiteY21" fmla="*/ 236906 h 260956"/>
                    <a:gd name="connsiteX22" fmla="*/ 41662 w 256601"/>
                    <a:gd name="connsiteY22" fmla="*/ 236906 h 260956"/>
                    <a:gd name="connsiteX23" fmla="*/ 218727 w 256601"/>
                    <a:gd name="connsiteY23" fmla="*/ 49048 h 260956"/>
                    <a:gd name="connsiteX24" fmla="*/ 129911 w 256601"/>
                    <a:gd name="connsiteY24" fmla="*/ 49048 h 260956"/>
                    <a:gd name="connsiteX25" fmla="*/ 129911 w 256601"/>
                    <a:gd name="connsiteY25" fmla="*/ 71962 h 260956"/>
                    <a:gd name="connsiteX26" fmla="*/ 96581 w 256601"/>
                    <a:gd name="connsiteY26" fmla="*/ 71962 h 260956"/>
                    <a:gd name="connsiteX27" fmla="*/ 96581 w 256601"/>
                    <a:gd name="connsiteY27" fmla="*/ 18559 h 260956"/>
                    <a:gd name="connsiteX28" fmla="*/ 153961 w 256601"/>
                    <a:gd name="connsiteY28" fmla="*/ 18559 h 260956"/>
                    <a:gd name="connsiteX29" fmla="*/ 150742 w 256601"/>
                    <a:gd name="connsiteY29" fmla="*/ 8901 h 260956"/>
                    <a:gd name="connsiteX30" fmla="*/ 146954 w 256601"/>
                    <a:gd name="connsiteY30" fmla="*/ 0 h 260956"/>
                    <a:gd name="connsiteX31" fmla="*/ 188238 w 256601"/>
                    <a:gd name="connsiteY31" fmla="*/ 0 h 260956"/>
                    <a:gd name="connsiteX32" fmla="*/ 191457 w 256601"/>
                    <a:gd name="connsiteY32" fmla="*/ 8711 h 260956"/>
                    <a:gd name="connsiteX33" fmla="*/ 194676 w 256601"/>
                    <a:gd name="connsiteY33" fmla="*/ 18559 h 260956"/>
                    <a:gd name="connsiteX34" fmla="*/ 253382 w 256601"/>
                    <a:gd name="connsiteY34" fmla="*/ 18559 h 260956"/>
                    <a:gd name="connsiteX35" fmla="*/ 253382 w 256601"/>
                    <a:gd name="connsiteY35" fmla="*/ 71962 h 260956"/>
                    <a:gd name="connsiteX36" fmla="*/ 218916 w 256601"/>
                    <a:gd name="connsiteY36" fmla="*/ 71962 h 260956"/>
                    <a:gd name="connsiteX37" fmla="*/ 218916 w 256601"/>
                    <a:gd name="connsiteY37" fmla="*/ 49048 h 260956"/>
                    <a:gd name="connsiteX38" fmla="*/ 97906 w 256601"/>
                    <a:gd name="connsiteY38" fmla="*/ 260768 h 260956"/>
                    <a:gd name="connsiteX39" fmla="*/ 114761 w 256601"/>
                    <a:gd name="connsiteY39" fmla="*/ 219295 h 260956"/>
                    <a:gd name="connsiteX40" fmla="*/ 124797 w 256601"/>
                    <a:gd name="connsiteY40" fmla="*/ 165513 h 260956"/>
                    <a:gd name="connsiteX41" fmla="*/ 96770 w 256601"/>
                    <a:gd name="connsiteY41" fmla="*/ 165513 h 260956"/>
                    <a:gd name="connsiteX42" fmla="*/ 96770 w 256601"/>
                    <a:gd name="connsiteY42" fmla="*/ 132940 h 260956"/>
                    <a:gd name="connsiteX43" fmla="*/ 253193 w 256601"/>
                    <a:gd name="connsiteY43" fmla="*/ 132940 h 260956"/>
                    <a:gd name="connsiteX44" fmla="*/ 253193 w 256601"/>
                    <a:gd name="connsiteY44" fmla="*/ 165513 h 260956"/>
                    <a:gd name="connsiteX45" fmla="*/ 221946 w 256601"/>
                    <a:gd name="connsiteY45" fmla="*/ 165513 h 260956"/>
                    <a:gd name="connsiteX46" fmla="*/ 221946 w 256601"/>
                    <a:gd name="connsiteY46" fmla="*/ 228574 h 260956"/>
                    <a:gd name="connsiteX47" fmla="*/ 256601 w 256601"/>
                    <a:gd name="connsiteY47" fmla="*/ 228574 h 260956"/>
                    <a:gd name="connsiteX48" fmla="*/ 256601 w 256601"/>
                    <a:gd name="connsiteY48" fmla="*/ 260578 h 260956"/>
                    <a:gd name="connsiteX49" fmla="*/ 186723 w 256601"/>
                    <a:gd name="connsiteY49" fmla="*/ 260578 h 260956"/>
                    <a:gd name="connsiteX50" fmla="*/ 186723 w 256601"/>
                    <a:gd name="connsiteY50" fmla="*/ 165513 h 260956"/>
                    <a:gd name="connsiteX51" fmla="*/ 160589 w 256601"/>
                    <a:gd name="connsiteY51" fmla="*/ 165513 h 260956"/>
                    <a:gd name="connsiteX52" fmla="*/ 156802 w 256601"/>
                    <a:gd name="connsiteY52" fmla="*/ 196949 h 260956"/>
                    <a:gd name="connsiteX53" fmla="*/ 151878 w 256601"/>
                    <a:gd name="connsiteY53" fmla="*/ 221946 h 260956"/>
                    <a:gd name="connsiteX54" fmla="*/ 145628 w 256601"/>
                    <a:gd name="connsiteY54" fmla="*/ 242398 h 260956"/>
                    <a:gd name="connsiteX55" fmla="*/ 138243 w 256601"/>
                    <a:gd name="connsiteY55" fmla="*/ 260578 h 260956"/>
                    <a:gd name="connsiteX56" fmla="*/ 97906 w 256601"/>
                    <a:gd name="connsiteY56" fmla="*/ 260578 h 260956"/>
                    <a:gd name="connsiteX57" fmla="*/ 240884 w 256601"/>
                    <a:gd name="connsiteY57" fmla="*/ 81999 h 260956"/>
                    <a:gd name="connsiteX58" fmla="*/ 240884 w 256601"/>
                    <a:gd name="connsiteY58" fmla="*/ 113245 h 260956"/>
                    <a:gd name="connsiteX59" fmla="*/ 105671 w 256601"/>
                    <a:gd name="connsiteY59" fmla="*/ 113245 h 260956"/>
                    <a:gd name="connsiteX60" fmla="*/ 105671 w 256601"/>
                    <a:gd name="connsiteY60" fmla="*/ 81999 h 260956"/>
                    <a:gd name="connsiteX61" fmla="*/ 240884 w 256601"/>
                    <a:gd name="connsiteY61" fmla="*/ 81999 h 2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256601" h="260956">
                      <a:moveTo>
                        <a:pt x="41662" y="236906"/>
                      </a:moveTo>
                      <a:cubicBezTo>
                        <a:pt x="46965" y="227817"/>
                        <a:pt x="50942" y="217969"/>
                        <a:pt x="53782" y="207554"/>
                      </a:cubicBezTo>
                      <a:cubicBezTo>
                        <a:pt x="56433" y="197138"/>
                        <a:pt x="57759" y="184450"/>
                        <a:pt x="57759" y="169679"/>
                      </a:cubicBezTo>
                      <a:lnTo>
                        <a:pt x="57759" y="128963"/>
                      </a:lnTo>
                      <a:lnTo>
                        <a:pt x="44882" y="128963"/>
                      </a:lnTo>
                      <a:cubicBezTo>
                        <a:pt x="48101" y="111162"/>
                        <a:pt x="50942" y="94308"/>
                        <a:pt x="53214" y="78590"/>
                      </a:cubicBezTo>
                      <a:cubicBezTo>
                        <a:pt x="55487" y="62683"/>
                        <a:pt x="57191" y="48290"/>
                        <a:pt x="58138" y="35413"/>
                      </a:cubicBezTo>
                      <a:lnTo>
                        <a:pt x="32572" y="35413"/>
                      </a:lnTo>
                      <a:lnTo>
                        <a:pt x="32572" y="260957"/>
                      </a:lnTo>
                      <a:lnTo>
                        <a:pt x="0" y="260957"/>
                      </a:lnTo>
                      <a:lnTo>
                        <a:pt x="0" y="6628"/>
                      </a:lnTo>
                      <a:lnTo>
                        <a:pt x="89953" y="6628"/>
                      </a:lnTo>
                      <a:cubicBezTo>
                        <a:pt x="89195" y="15339"/>
                        <a:pt x="88438" y="23861"/>
                        <a:pt x="87491" y="31625"/>
                      </a:cubicBezTo>
                      <a:cubicBezTo>
                        <a:pt x="86544" y="39579"/>
                        <a:pt x="85786" y="47343"/>
                        <a:pt x="84840" y="54918"/>
                      </a:cubicBezTo>
                      <a:cubicBezTo>
                        <a:pt x="83893" y="62493"/>
                        <a:pt x="82946" y="70068"/>
                        <a:pt x="81810" y="77643"/>
                      </a:cubicBezTo>
                      <a:cubicBezTo>
                        <a:pt x="80673" y="85029"/>
                        <a:pt x="79727" y="92793"/>
                        <a:pt x="78590" y="100557"/>
                      </a:cubicBezTo>
                      <a:lnTo>
                        <a:pt x="89385" y="100557"/>
                      </a:lnTo>
                      <a:lnTo>
                        <a:pt x="89385" y="169679"/>
                      </a:lnTo>
                      <a:cubicBezTo>
                        <a:pt x="89385" y="178390"/>
                        <a:pt x="89195" y="186344"/>
                        <a:pt x="88627" y="192972"/>
                      </a:cubicBezTo>
                      <a:cubicBezTo>
                        <a:pt x="88059" y="199789"/>
                        <a:pt x="87491" y="205849"/>
                        <a:pt x="86544" y="211152"/>
                      </a:cubicBezTo>
                      <a:cubicBezTo>
                        <a:pt x="85597" y="216454"/>
                        <a:pt x="84650" y="221188"/>
                        <a:pt x="83324" y="225355"/>
                      </a:cubicBezTo>
                      <a:cubicBezTo>
                        <a:pt x="81999" y="229521"/>
                        <a:pt x="80484" y="233308"/>
                        <a:pt x="78969" y="236906"/>
                      </a:cubicBezTo>
                      <a:lnTo>
                        <a:pt x="41662" y="236906"/>
                      </a:lnTo>
                      <a:close/>
                      <a:moveTo>
                        <a:pt x="218727" y="49048"/>
                      </a:moveTo>
                      <a:lnTo>
                        <a:pt x="129911" y="49048"/>
                      </a:lnTo>
                      <a:lnTo>
                        <a:pt x="129911" y="71962"/>
                      </a:lnTo>
                      <a:lnTo>
                        <a:pt x="96581" y="71962"/>
                      </a:lnTo>
                      <a:lnTo>
                        <a:pt x="96581" y="18559"/>
                      </a:lnTo>
                      <a:lnTo>
                        <a:pt x="153961" y="18559"/>
                      </a:lnTo>
                      <a:cubicBezTo>
                        <a:pt x="153014" y="15339"/>
                        <a:pt x="151878" y="12120"/>
                        <a:pt x="150742" y="8901"/>
                      </a:cubicBezTo>
                      <a:cubicBezTo>
                        <a:pt x="149416" y="5681"/>
                        <a:pt x="148280" y="2651"/>
                        <a:pt x="146954" y="0"/>
                      </a:cubicBezTo>
                      <a:lnTo>
                        <a:pt x="188238" y="0"/>
                      </a:lnTo>
                      <a:cubicBezTo>
                        <a:pt x="189184" y="2462"/>
                        <a:pt x="190321" y="5492"/>
                        <a:pt x="191457" y="8711"/>
                      </a:cubicBezTo>
                      <a:cubicBezTo>
                        <a:pt x="192593" y="12120"/>
                        <a:pt x="193729" y="15339"/>
                        <a:pt x="194676" y="18559"/>
                      </a:cubicBezTo>
                      <a:lnTo>
                        <a:pt x="253382" y="18559"/>
                      </a:lnTo>
                      <a:lnTo>
                        <a:pt x="253382" y="71962"/>
                      </a:lnTo>
                      <a:lnTo>
                        <a:pt x="218916" y="71962"/>
                      </a:lnTo>
                      <a:lnTo>
                        <a:pt x="218916" y="49048"/>
                      </a:lnTo>
                      <a:close/>
                      <a:moveTo>
                        <a:pt x="97906" y="260768"/>
                      </a:moveTo>
                      <a:cubicBezTo>
                        <a:pt x="104345" y="248269"/>
                        <a:pt x="110026" y="234634"/>
                        <a:pt x="114761" y="219295"/>
                      </a:cubicBezTo>
                      <a:cubicBezTo>
                        <a:pt x="119495" y="204145"/>
                        <a:pt x="122904" y="186154"/>
                        <a:pt x="124797" y="165513"/>
                      </a:cubicBezTo>
                      <a:lnTo>
                        <a:pt x="96770" y="165513"/>
                      </a:lnTo>
                      <a:lnTo>
                        <a:pt x="96770" y="132940"/>
                      </a:lnTo>
                      <a:lnTo>
                        <a:pt x="253193" y="132940"/>
                      </a:lnTo>
                      <a:lnTo>
                        <a:pt x="253193" y="165513"/>
                      </a:lnTo>
                      <a:lnTo>
                        <a:pt x="221946" y="165513"/>
                      </a:lnTo>
                      <a:lnTo>
                        <a:pt x="221946" y="228574"/>
                      </a:lnTo>
                      <a:lnTo>
                        <a:pt x="256601" y="228574"/>
                      </a:lnTo>
                      <a:lnTo>
                        <a:pt x="256601" y="260578"/>
                      </a:lnTo>
                      <a:lnTo>
                        <a:pt x="186723" y="260578"/>
                      </a:lnTo>
                      <a:lnTo>
                        <a:pt x="186723" y="165513"/>
                      </a:lnTo>
                      <a:lnTo>
                        <a:pt x="160589" y="165513"/>
                      </a:lnTo>
                      <a:cubicBezTo>
                        <a:pt x="159453" y="177443"/>
                        <a:pt x="158127" y="187859"/>
                        <a:pt x="156802" y="196949"/>
                      </a:cubicBezTo>
                      <a:cubicBezTo>
                        <a:pt x="155286" y="206039"/>
                        <a:pt x="153772" y="214371"/>
                        <a:pt x="151878" y="221946"/>
                      </a:cubicBezTo>
                      <a:cubicBezTo>
                        <a:pt x="149984" y="229332"/>
                        <a:pt x="147901" y="236149"/>
                        <a:pt x="145628" y="242398"/>
                      </a:cubicBezTo>
                      <a:cubicBezTo>
                        <a:pt x="143356" y="248648"/>
                        <a:pt x="140894" y="254708"/>
                        <a:pt x="138243" y="260578"/>
                      </a:cubicBezTo>
                      <a:lnTo>
                        <a:pt x="97906" y="260578"/>
                      </a:lnTo>
                      <a:close/>
                      <a:moveTo>
                        <a:pt x="240884" y="81999"/>
                      </a:moveTo>
                      <a:lnTo>
                        <a:pt x="240884" y="113245"/>
                      </a:lnTo>
                      <a:lnTo>
                        <a:pt x="105671" y="113245"/>
                      </a:lnTo>
                      <a:lnTo>
                        <a:pt x="105671" y="81999"/>
                      </a:lnTo>
                      <a:lnTo>
                        <a:pt x="240884" y="81999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</p:grpSp>
        </p:grpSp>
        <p:pic>
          <p:nvPicPr>
            <p:cNvPr id="87047" name="图形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4642" y="741050"/>
              <a:ext cx="1386675" cy="31626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9" name="直接连接符 9"/>
            <p:cNvCxnSpPr/>
            <p:nvPr/>
          </p:nvCxnSpPr>
          <p:spPr>
            <a:xfrm>
              <a:off x="9879250" y="751395"/>
              <a:ext cx="0" cy="295570"/>
            </a:xfrm>
            <a:prstGeom prst="line">
              <a:avLst/>
            </a:prstGeom>
            <a:ln w="5080">
              <a:solidFill>
                <a:srgbClr val="0040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"/>
          <p:cNvSpPr/>
          <p:nvPr/>
        </p:nvSpPr>
        <p:spPr>
          <a:xfrm>
            <a:off x="0" y="252413"/>
            <a:ext cx="404813" cy="155575"/>
          </a:xfrm>
          <a:custGeom>
            <a:avLst/>
            <a:gdLst>
              <a:gd name="connsiteX0" fmla="*/ 0 w 539552"/>
              <a:gd name="connsiteY0" fmla="*/ 0 h 205898"/>
              <a:gd name="connsiteX1" fmla="*/ 436603 w 539552"/>
              <a:gd name="connsiteY1" fmla="*/ 0 h 205898"/>
              <a:gd name="connsiteX2" fmla="*/ 539552 w 539552"/>
              <a:gd name="connsiteY2" fmla="*/ 102949 h 205898"/>
              <a:gd name="connsiteX3" fmla="*/ 436603 w 539552"/>
              <a:gd name="connsiteY3" fmla="*/ 205898 h 205898"/>
              <a:gd name="connsiteX4" fmla="*/ 0 w 539552"/>
              <a:gd name="connsiteY4" fmla="*/ 205898 h 20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552" h="205898">
                <a:moveTo>
                  <a:pt x="0" y="0"/>
                </a:moveTo>
                <a:lnTo>
                  <a:pt x="436603" y="0"/>
                </a:lnTo>
                <a:cubicBezTo>
                  <a:pt x="493460" y="0"/>
                  <a:pt x="539552" y="46092"/>
                  <a:pt x="539552" y="102949"/>
                </a:cubicBezTo>
                <a:cubicBezTo>
                  <a:pt x="539552" y="159806"/>
                  <a:pt x="493460" y="205898"/>
                  <a:pt x="436603" y="205898"/>
                </a:cubicBezTo>
                <a:lnTo>
                  <a:pt x="0" y="205898"/>
                </a:lnTo>
                <a:close/>
              </a:path>
            </a:pathLst>
          </a:custGeom>
          <a:solidFill>
            <a:srgbClr val="5757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88067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05588" y="4760913"/>
            <a:ext cx="2200275" cy="269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99295" y="87766"/>
            <a:ext cx="8170112" cy="591554"/>
          </a:xfrm>
          <a:prstGeom prst="rect">
            <a:avLst/>
          </a:prstGeom>
        </p:spPr>
        <p:txBody>
          <a:bodyPr/>
          <a:lstStyle>
            <a:lvl1pPr>
              <a:defRPr lang="zh-CN" altLang="en-US" sz="2000" b="0" i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 hasCustomPrompt="1"/>
          </p:nvPr>
        </p:nvSpPr>
        <p:spPr>
          <a:xfrm>
            <a:off x="484532" y="789973"/>
            <a:ext cx="8184875" cy="386091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"/>
          <p:cNvSpPr/>
          <p:nvPr/>
        </p:nvSpPr>
        <p:spPr>
          <a:xfrm>
            <a:off x="0" y="252413"/>
            <a:ext cx="404813" cy="155575"/>
          </a:xfrm>
          <a:custGeom>
            <a:avLst/>
            <a:gdLst>
              <a:gd name="connsiteX0" fmla="*/ 0 w 539552"/>
              <a:gd name="connsiteY0" fmla="*/ 0 h 205898"/>
              <a:gd name="connsiteX1" fmla="*/ 436603 w 539552"/>
              <a:gd name="connsiteY1" fmla="*/ 0 h 205898"/>
              <a:gd name="connsiteX2" fmla="*/ 539552 w 539552"/>
              <a:gd name="connsiteY2" fmla="*/ 102949 h 205898"/>
              <a:gd name="connsiteX3" fmla="*/ 436603 w 539552"/>
              <a:gd name="connsiteY3" fmla="*/ 205898 h 205898"/>
              <a:gd name="connsiteX4" fmla="*/ 0 w 539552"/>
              <a:gd name="connsiteY4" fmla="*/ 205898 h 20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552" h="205898">
                <a:moveTo>
                  <a:pt x="0" y="0"/>
                </a:moveTo>
                <a:lnTo>
                  <a:pt x="436603" y="0"/>
                </a:lnTo>
                <a:cubicBezTo>
                  <a:pt x="493460" y="0"/>
                  <a:pt x="539552" y="46092"/>
                  <a:pt x="539552" y="102949"/>
                </a:cubicBezTo>
                <a:cubicBezTo>
                  <a:pt x="539552" y="159806"/>
                  <a:pt x="493460" y="205898"/>
                  <a:pt x="436603" y="205898"/>
                </a:cubicBezTo>
                <a:lnTo>
                  <a:pt x="0" y="205898"/>
                </a:lnTo>
                <a:close/>
              </a:path>
            </a:pathLst>
          </a:custGeom>
          <a:solidFill>
            <a:srgbClr val="5757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89091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7400" y="188913"/>
            <a:ext cx="2992438" cy="36671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连接符 1"/>
          <p:cNvCxnSpPr/>
          <p:nvPr/>
        </p:nvCxnSpPr>
        <p:spPr>
          <a:xfrm>
            <a:off x="323850" y="641350"/>
            <a:ext cx="84963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99295" y="87766"/>
            <a:ext cx="8170112" cy="591554"/>
          </a:xfrm>
          <a:prstGeom prst="rect">
            <a:avLst/>
          </a:prstGeom>
        </p:spPr>
        <p:txBody>
          <a:bodyPr/>
          <a:lstStyle>
            <a:lvl1pPr>
              <a:defRPr lang="zh-CN" altLang="en-US" sz="2000" b="0" i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82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>
            <a:lvl1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>
            <a:lvl1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>
            <a:lvl1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>
            <a:lvl1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28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24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20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20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>
            <a:lvl1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 b="0" i="0">
                <a:solidFill>
                  <a:schemeClr val="tx1">
                    <a:tint val="82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4A7079-3F28-4C47-AF7F-01635803714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kumimoji="1" sz="1200" b="0" i="0">
                <a:solidFill>
                  <a:schemeClr val="tx1">
                    <a:tint val="82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67676"/>
                </a:solidFill>
                <a:ea typeface="微软雅黑" panose="020B0503020204020204" pitchFamily="34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3038" y="2346325"/>
            <a:ext cx="8658225" cy="64611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W1D3-C</a:t>
            </a:r>
            <a:r>
              <a:rPr lang="zh-CN" altLang="zh-CN" sz="3600" b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语言知识强化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：数组与结构</a:t>
            </a:r>
          </a:p>
        </p:txBody>
      </p:sp>
      <p:sp>
        <p:nvSpPr>
          <p:cNvPr id="18434" name="MH_Entry_1">
            <a:hlinkClick r:id="" action="ppaction://noaction"/>
          </p:cNvPr>
          <p:cNvSpPr/>
          <p:nvPr>
            <p:custDataLst>
              <p:tags r:id="rId1"/>
            </p:custDataLst>
          </p:nvPr>
        </p:nvSpPr>
        <p:spPr>
          <a:xfrm>
            <a:off x="1741488" y="3336925"/>
            <a:ext cx="5521325" cy="581025"/>
          </a:xfrm>
          <a:custGeom>
            <a:avLst/>
            <a:gdLst>
              <a:gd name="txL" fmla="*/ 0 w 3064329"/>
              <a:gd name="txT" fmla="*/ 0 h 437055"/>
              <a:gd name="txR" fmla="*/ 3064329 w 3064329"/>
              <a:gd name="txB" fmla="*/ 437055 h 437055"/>
            </a:gdLst>
            <a:ahLst/>
            <a:cxnLst>
              <a:cxn ang="0">
                <a:pos x="75332335" y="2001077"/>
              </a:cxn>
              <a:cxn ang="0">
                <a:pos x="0" y="2001077"/>
              </a:cxn>
              <a:cxn ang="0">
                <a:pos x="0" y="0"/>
              </a:cxn>
              <a:cxn ang="0">
                <a:pos x="75332335" y="0"/>
              </a:cxn>
            </a:cxnLst>
            <a:rect l="txL" t="txT" r="txR" b="txB"/>
            <a:pathLst>
              <a:path w="3064329" h="437055">
                <a:moveTo>
                  <a:pt x="3064329" y="437055"/>
                </a:moveTo>
                <a:lnTo>
                  <a:pt x="0" y="437055"/>
                </a:lnTo>
                <a:lnTo>
                  <a:pt x="0" y="0"/>
                </a:lnTo>
                <a:lnTo>
                  <a:pt x="3064329" y="0"/>
                </a:lnTo>
              </a:path>
            </a:pathLst>
          </a:custGeom>
          <a:noFill/>
          <a:ln w="3175">
            <a:noFill/>
          </a:ln>
        </p:spPr>
        <p:txBody>
          <a:bodyPr lIns="270000" tIns="0" rIns="0" bIns="0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100" b="1">
              <a:solidFill>
                <a:srgbClr val="0070C0"/>
              </a:solidFill>
              <a:cs typeface="Times New Roman" panose="02020503050405090304" pitchFamily="18" charset="0"/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100" b="1">
                <a:solidFill>
                  <a:srgbClr val="0070C0"/>
                </a:solidFill>
                <a:cs typeface="Times New Roman" panose="02020503050405090304" pitchFamily="18" charset="0"/>
              </a:rPr>
              <a:t>Linux</a:t>
            </a:r>
            <a:r>
              <a:rPr lang="zh-CN" altLang="zh-CN" sz="2100" b="1">
                <a:solidFill>
                  <a:srgbClr val="0070C0"/>
                </a:solidFill>
                <a:cs typeface="Times New Roman" panose="02020503050405090304" pitchFamily="18" charset="0"/>
              </a:rPr>
              <a:t>下</a:t>
            </a:r>
            <a:r>
              <a:rPr lang="en-US" altLang="zh-CN" sz="2100" b="1">
                <a:solidFill>
                  <a:srgbClr val="0070C0"/>
                </a:solidFill>
                <a:cs typeface="Times New Roman" panose="02020503050405090304" pitchFamily="18" charset="0"/>
              </a:rPr>
              <a:t>Web Server</a:t>
            </a:r>
            <a:r>
              <a:rPr lang="zh-CN" altLang="zh-CN" sz="2100" b="1">
                <a:solidFill>
                  <a:srgbClr val="0070C0"/>
                </a:solidFill>
                <a:cs typeface="Times New Roman" panose="02020503050405090304" pitchFamily="18" charset="0"/>
              </a:rPr>
              <a:t>的设计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100" b="1">
              <a:solidFill>
                <a:srgbClr val="0070C0"/>
              </a:solidFill>
              <a:ea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 advTm="398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/>
          <p:cNvSpPr txBox="1">
            <a:spLocks noGrp="1"/>
          </p:cNvSpPr>
          <p:nvPr/>
        </p:nvSpPr>
        <p:spPr>
          <a:xfrm>
            <a:off x="8429625" y="4849813"/>
            <a:ext cx="514350" cy="1968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fld id="{9A0DB2DC-4C9A-4742-B13C-FB6460FD3503}" type="slidenum">
              <a:rPr lang="zh-CN" altLang="en-US" sz="1400">
                <a:latin typeface="Arial" panose="020B0604020202090204" pitchFamily="34" charset="0"/>
              </a:rPr>
              <a:t>2</a:t>
            </a:fld>
            <a:endParaRPr lang="zh-CN" altLang="en-US" sz="1400">
              <a:latin typeface="Arial" panose="020B0604020202090204" pitchFamily="34" charset="0"/>
            </a:endParaRPr>
          </a:p>
        </p:txBody>
      </p:sp>
      <p:pic>
        <p:nvPicPr>
          <p:cNvPr id="20482" name="Picture 2" descr="j01494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25" y="1708150"/>
            <a:ext cx="3046413" cy="3095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3"/>
          <p:cNvSpPr>
            <a:spLocks noGrp="1" noChangeArrowheads="1"/>
          </p:cNvSpPr>
          <p:nvPr>
            <p:ph type="title"/>
          </p:nvPr>
        </p:nvSpPr>
        <p:spPr>
          <a:xfrm>
            <a:off x="500063" y="87313"/>
            <a:ext cx="8169275" cy="592138"/>
          </a:xfrm>
        </p:spPr>
        <p:txBody>
          <a:bodyPr vert="horz" wrap="square" lIns="91440" tIns="45720" rIns="91440" bIns="45720" numCol="1" rtlCol="0" anchor="ctr" anchorCtr="0" compatLnSpc="1"/>
          <a:lstStyle/>
          <a:p>
            <a:pPr eaLnBrk="1" hangingPunct="1">
              <a:buNone/>
            </a:pPr>
            <a:r>
              <a:rPr lang="zh-CN" altLang="en-US" kern="1200">
                <a:solidFill>
                  <a:srgbClr val="0070C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讲授内容</a:t>
            </a:r>
          </a:p>
        </p:txBody>
      </p:sp>
      <p:sp>
        <p:nvSpPr>
          <p:cNvPr id="20484" name="Rectangle 4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训练目的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训练原理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训练内容</a:t>
            </a:r>
            <a:endParaRPr lang="en-US" altLang="zh-CN" sz="18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训练目的</a:t>
            </a:r>
          </a:p>
        </p:txBody>
      </p:sp>
      <p:sp>
        <p:nvSpPr>
          <p:cNvPr id="4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</p:spPr>
        <p:txBody>
          <a:bodyPr vert="horz" wrap="square" lIns="91440" tIns="45720" rIns="91440" bIns="45720" numCol="1" rtlCol="0" anchor="t" anchorCtr="0" compatLnSpc="1"/>
          <a:lstStyle/>
          <a:p>
            <a:pPr eaLnBrk="1" hangingPunct="1">
              <a:lnSpc>
                <a:spcPct val="110000"/>
              </a:lnSpc>
            </a:pPr>
            <a:r>
              <a:rPr lang="zh-CN" altLang="en-US" sz="26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训练目的</a:t>
            </a:r>
            <a:endParaRPr lang="en-US" altLang="zh-CN" sz="26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回顾二叉树数据结构</a:t>
            </a: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实现基于二叉树的各种操作</a:t>
            </a: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修改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利用二叉树实现地址簿</a:t>
            </a: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1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二叉树定义</a:t>
            </a:r>
          </a:p>
        </p:txBody>
      </p:sp>
      <p:sp>
        <p:nvSpPr>
          <p:cNvPr id="23554" name="AutoShape 2" descr="图 1. 简单的一问一答的服务器 / 客户机模型"/>
          <p:cNvSpPr>
            <a:spLocks noChangeAspect="1"/>
          </p:cNvSpPr>
          <p:nvPr/>
        </p:nvSpPr>
        <p:spPr>
          <a:xfrm>
            <a:off x="1962150" y="-165100"/>
            <a:ext cx="5219700" cy="547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</a:endParaRPr>
          </a:p>
        </p:txBody>
      </p:sp>
      <p:sp>
        <p:nvSpPr>
          <p:cNvPr id="23555" name="文本框 57"/>
          <p:cNvSpPr txBox="1"/>
          <p:nvPr/>
        </p:nvSpPr>
        <p:spPr>
          <a:xfrm>
            <a:off x="495300" y="841375"/>
            <a:ext cx="8640763" cy="169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定义:把满足以下两个条件的树结构称为</a:t>
            </a:r>
            <a:r>
              <a:rPr lang="zh-CN" altLang="en-US" sz="2400">
                <a:solidFill>
                  <a:srgbClr val="C00000"/>
                </a:solidFill>
                <a:latin typeface="Arial" panose="020B0604020202090204" pitchFamily="34" charset="0"/>
                <a:ea typeface="黑体" panose="02010600030101010101" pitchFamily="49" charset="-122"/>
              </a:rPr>
              <a:t>二叉树</a:t>
            </a: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(Binary Tree) :</a:t>
            </a:r>
            <a:endParaRPr lang="en-US" altLang="zh-CN" sz="2400">
              <a:latin typeface="Arial" panose="020B0604020202090204" pitchFamily="34" charset="0"/>
              <a:ea typeface="黑体" panose="02010600030101010101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buFont typeface="黑体" panose="02010600030101010101" pitchFamily="49" charset="-122"/>
              <a:buAutoNum type="circleNumDbPlain"/>
            </a:pP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每个结点的度都不大于2。</a:t>
            </a:r>
            <a:endParaRPr lang="en-US" altLang="zh-CN" sz="2400">
              <a:latin typeface="Arial" panose="020B0604020202090204" pitchFamily="34" charset="0"/>
              <a:ea typeface="黑体" panose="02010600030101010101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buFont typeface="黑体" panose="02010600030101010101" pitchFamily="49" charset="-122"/>
              <a:buAutoNum type="circleNumDbPlain"/>
            </a:pP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每个结点的孩子结点次序不能任意颠倒。</a:t>
            </a:r>
          </a:p>
        </p:txBody>
      </p:sp>
      <p:sp>
        <p:nvSpPr>
          <p:cNvPr id="23556" name="文本框 87"/>
          <p:cNvSpPr txBox="1"/>
          <p:nvPr/>
        </p:nvSpPr>
        <p:spPr>
          <a:xfrm>
            <a:off x="471488" y="3076575"/>
            <a:ext cx="8010525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一个二叉树的每个结点可能含有</a:t>
            </a:r>
            <a:r>
              <a:rPr lang="en-US" altLang="zh-CN" sz="2400">
                <a:latin typeface="Arial" panose="020B0604020202090204" pitchFamily="34" charset="0"/>
                <a:ea typeface="黑体" panose="02010600030101010101" pitchFamily="49" charset="-122"/>
              </a:rPr>
              <a:t>0</a:t>
            </a: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、</a:t>
            </a:r>
            <a:r>
              <a:rPr lang="en-US" altLang="zh-CN" sz="2400">
                <a:latin typeface="Arial" panose="020B0604020202090204" pitchFamily="34" charset="0"/>
                <a:ea typeface="黑体" panose="02010600030101010101" pitchFamily="49" charset="-122"/>
              </a:rPr>
              <a:t>1</a:t>
            </a: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或</a:t>
            </a:r>
            <a:r>
              <a:rPr lang="en-US" altLang="zh-CN" sz="2400">
                <a:latin typeface="Arial" panose="020B0604020202090204" pitchFamily="34" charset="0"/>
                <a:ea typeface="黑体" panose="02010600030101010101" pitchFamily="49" charset="-122"/>
              </a:rPr>
              <a:t>2</a:t>
            </a:r>
            <a:r>
              <a:rPr lang="zh-CN" altLang="en-US" sz="2400">
                <a:latin typeface="Arial" panose="020B0604020202090204" pitchFamily="34" charset="0"/>
                <a:ea typeface="黑体" panose="02010600030101010101" pitchFamily="49" charset="-122"/>
              </a:rPr>
              <a:t>个孩子，且每个孩子有左右之分。</a:t>
            </a:r>
          </a:p>
        </p:txBody>
      </p:sp>
      <p:sp>
        <p:nvSpPr>
          <p:cNvPr id="6" name="对话气泡: 圆角矩形 5"/>
          <p:cNvSpPr/>
          <p:nvPr/>
        </p:nvSpPr>
        <p:spPr>
          <a:xfrm>
            <a:off x="1619250" y="4151313"/>
            <a:ext cx="1470025" cy="655638"/>
          </a:xfrm>
          <a:prstGeom prst="wedgeRoundRectCallout">
            <a:avLst>
              <a:gd name="adj1" fmla="val -41771"/>
              <a:gd name="adj2" fmla="val -866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有序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二叉树的特点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42900" y="2425700"/>
            <a:ext cx="1938338" cy="2032000"/>
          </a:xfrm>
          <a:prstGeom prst="rect">
            <a:avLst/>
          </a:prstGeom>
          <a:noFill/>
          <a:ln w="28575">
            <a:solidFill>
              <a:srgbClr val="70AD47"/>
            </a:solidFill>
            <a:prstDash val="dash"/>
          </a:ln>
        </p:spPr>
        <p:txBody>
          <a:bodyPr>
            <a:spAutoFit/>
          </a:bodyPr>
          <a:lstStyle/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27100" y="1700213"/>
            <a:ext cx="4165600" cy="3292475"/>
            <a:chOff x="2024826" y="2481340"/>
            <a:chExt cx="4672030" cy="3994529"/>
          </a:xfrm>
        </p:grpSpPr>
        <p:sp>
          <p:nvSpPr>
            <p:cNvPr id="37" name="Oval 31"/>
            <p:cNvSpPr>
              <a:spLocks noChangeArrowheads="1"/>
            </p:cNvSpPr>
            <p:nvPr/>
          </p:nvSpPr>
          <p:spPr bwMode="auto">
            <a:xfrm>
              <a:off x="3379786" y="2481340"/>
              <a:ext cx="601809" cy="575874"/>
            </a:xfrm>
            <a:prstGeom prst="ellipse">
              <a:avLst/>
            </a:prstGeom>
            <a:solidFill>
              <a:srgbClr val="C00000"/>
            </a:soli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503050405090304" pitchFamily="18" charset="0"/>
                </a:rPr>
                <a:t>A</a:t>
              </a:r>
            </a:p>
          </p:txBody>
        </p:sp>
        <p:grpSp>
          <p:nvGrpSpPr>
            <p:cNvPr id="25616" name="组合 37"/>
            <p:cNvGrpSpPr/>
            <p:nvPr/>
          </p:nvGrpSpPr>
          <p:grpSpPr>
            <a:xfrm>
              <a:off x="2024826" y="3790028"/>
              <a:ext cx="1201710" cy="1612899"/>
              <a:chOff x="1098797" y="3520201"/>
              <a:chExt cx="1201710" cy="1612899"/>
            </a:xfrm>
          </p:grpSpPr>
          <p:sp>
            <p:nvSpPr>
              <p:cNvPr id="52" name="Freeform 47"/>
              <p:cNvSpPr/>
              <p:nvPr/>
            </p:nvSpPr>
            <p:spPr bwMode="auto">
              <a:xfrm>
                <a:off x="1499410" y="4097069"/>
                <a:ext cx="350758" cy="479575"/>
              </a:xfrm>
              <a:custGeom>
                <a:avLst/>
                <a:gdLst/>
                <a:ahLst/>
                <a:cxnLst>
                  <a:cxn ang="0">
                    <a:pos x="121" y="0"/>
                  </a:cxn>
                  <a:cxn ang="0">
                    <a:pos x="0" y="144"/>
                  </a:cxn>
                </a:cxnLst>
                <a:rect l="0" t="0" r="r" b="b"/>
                <a:pathLst>
                  <a:path w="121" h="144">
                    <a:moveTo>
                      <a:pt x="121" y="0"/>
                    </a:moveTo>
                    <a:lnTo>
                      <a:pt x="0" y="144"/>
                    </a:lnTo>
                  </a:path>
                </a:pathLst>
              </a:custGeom>
              <a:solidFill>
                <a:srgbClr val="FFFFCC"/>
              </a:solidFill>
              <a:ln w="28575" cap="flat" cmpd="sng">
                <a:solidFill>
                  <a:srgbClr val="4472C4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Oval 32"/>
              <p:cNvSpPr>
                <a:spLocks noChangeArrowheads="1"/>
              </p:cNvSpPr>
              <p:nvPr/>
            </p:nvSpPr>
            <p:spPr bwMode="auto">
              <a:xfrm>
                <a:off x="1700606" y="3519268"/>
                <a:ext cx="600029" cy="577801"/>
              </a:xfrm>
              <a:prstGeom prst="ellipse">
                <a:avLst/>
              </a:prstGeom>
              <a:solidFill>
                <a:srgbClr val="ED7D31"/>
              </a:solidFill>
              <a:ln w="63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B</a:t>
                </a:r>
              </a:p>
            </p:txBody>
          </p:sp>
          <p:sp>
            <p:nvSpPr>
              <p:cNvPr id="54" name="Oval 35"/>
              <p:cNvSpPr>
                <a:spLocks noChangeArrowheads="1"/>
              </p:cNvSpPr>
              <p:nvPr/>
            </p:nvSpPr>
            <p:spPr bwMode="auto">
              <a:xfrm>
                <a:off x="1098797" y="4555457"/>
                <a:ext cx="601809" cy="577801"/>
              </a:xfrm>
              <a:prstGeom prst="ellipse">
                <a:avLst/>
              </a:prstGeom>
              <a:solidFill>
                <a:srgbClr val="70AD47"/>
              </a:solidFill>
              <a:ln w="63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D</a:t>
                </a:r>
              </a:p>
            </p:txBody>
          </p:sp>
        </p:grpSp>
        <p:sp>
          <p:nvSpPr>
            <p:cNvPr id="39" name="Line 44"/>
            <p:cNvSpPr>
              <a:spLocks noChangeShapeType="1"/>
            </p:cNvSpPr>
            <p:nvPr/>
          </p:nvSpPr>
          <p:spPr bwMode="auto">
            <a:xfrm flipH="1">
              <a:off x="3014784" y="3034102"/>
              <a:ext cx="528809" cy="801217"/>
            </a:xfrm>
            <a:prstGeom prst="line">
              <a:avLst/>
            </a:prstGeom>
            <a:solidFill>
              <a:srgbClr val="FFFFCC"/>
            </a:solidFill>
            <a:ln w="2857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Line 46"/>
            <p:cNvSpPr>
              <a:spLocks noChangeShapeType="1"/>
            </p:cNvSpPr>
            <p:nvPr/>
          </p:nvSpPr>
          <p:spPr bwMode="auto">
            <a:xfrm>
              <a:off x="3908594" y="3022546"/>
              <a:ext cx="767396" cy="855145"/>
            </a:xfrm>
            <a:prstGeom prst="line">
              <a:avLst/>
            </a:prstGeom>
            <a:solidFill>
              <a:srgbClr val="FFFFCC"/>
            </a:solidFill>
            <a:ln w="2857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5619" name="组合 40"/>
            <p:cNvGrpSpPr/>
            <p:nvPr/>
          </p:nvGrpSpPr>
          <p:grpSpPr>
            <a:xfrm>
              <a:off x="4023751" y="3784646"/>
              <a:ext cx="2673105" cy="2691223"/>
              <a:chOff x="4460410" y="3520201"/>
              <a:chExt cx="2673105" cy="2691223"/>
            </a:xfrm>
          </p:grpSpPr>
          <p:sp>
            <p:nvSpPr>
              <p:cNvPr id="42" name="Oval 34"/>
              <p:cNvSpPr>
                <a:spLocks noChangeArrowheads="1"/>
              </p:cNvSpPr>
              <p:nvPr/>
            </p:nvSpPr>
            <p:spPr bwMode="auto">
              <a:xfrm>
                <a:off x="5061014" y="3520798"/>
                <a:ext cx="601809" cy="575875"/>
              </a:xfrm>
              <a:prstGeom prst="ellipse">
                <a:avLst/>
              </a:prstGeom>
              <a:solidFill>
                <a:srgbClr val="ED7D31"/>
              </a:solidFill>
              <a:ln w="63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C</a:t>
                </a:r>
              </a:p>
            </p:txBody>
          </p:sp>
          <p:sp>
            <p:nvSpPr>
              <p:cNvPr id="43" name="Oval 39"/>
              <p:cNvSpPr>
                <a:spLocks noChangeArrowheads="1"/>
              </p:cNvSpPr>
              <p:nvPr/>
            </p:nvSpPr>
            <p:spPr bwMode="auto">
              <a:xfrm>
                <a:off x="4460986" y="4556987"/>
                <a:ext cx="600028" cy="575875"/>
              </a:xfrm>
              <a:prstGeom prst="ellipse">
                <a:avLst/>
              </a:prstGeom>
              <a:solidFill>
                <a:srgbClr val="70AD47"/>
              </a:solidFill>
              <a:ln w="63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503050405090304" pitchFamily="18" charset="0"/>
                  </a:rPr>
                  <a:t>F</a:t>
                </a:r>
              </a:p>
            </p:txBody>
          </p:sp>
          <p:sp>
            <p:nvSpPr>
              <p:cNvPr id="44" name="Freeform 51"/>
              <p:cNvSpPr/>
              <p:nvPr/>
            </p:nvSpPr>
            <p:spPr bwMode="auto">
              <a:xfrm>
                <a:off x="4847354" y="4073561"/>
                <a:ext cx="368564" cy="483426"/>
              </a:xfrm>
              <a:custGeom>
                <a:avLst/>
                <a:gdLst/>
                <a:ahLst/>
                <a:cxnLst>
                  <a:cxn ang="0">
                    <a:pos x="139" y="0"/>
                  </a:cxn>
                  <a:cxn ang="0">
                    <a:pos x="0" y="190"/>
                  </a:cxn>
                </a:cxnLst>
                <a:rect l="0" t="0" r="r" b="b"/>
                <a:pathLst>
                  <a:path w="139" h="190">
                    <a:moveTo>
                      <a:pt x="139" y="0"/>
                    </a:moveTo>
                    <a:lnTo>
                      <a:pt x="0" y="190"/>
                    </a:lnTo>
                  </a:path>
                </a:pathLst>
              </a:custGeom>
              <a:solidFill>
                <a:srgbClr val="FFFFCC"/>
              </a:solidFill>
              <a:ln w="28575" cap="flat" cmpd="sng">
                <a:solidFill>
                  <a:srgbClr val="4472C4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Freeform 52"/>
              <p:cNvSpPr/>
              <p:nvPr/>
            </p:nvSpPr>
            <p:spPr bwMode="auto">
              <a:xfrm>
                <a:off x="5580920" y="4029263"/>
                <a:ext cx="446906" cy="5758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7" y="208"/>
                  </a:cxn>
                </a:cxnLst>
                <a:rect l="0" t="0" r="r" b="b"/>
                <a:pathLst>
                  <a:path w="167" h="208">
                    <a:moveTo>
                      <a:pt x="0" y="0"/>
                    </a:moveTo>
                    <a:lnTo>
                      <a:pt x="167" y="208"/>
                    </a:lnTo>
                  </a:path>
                </a:pathLst>
              </a:custGeom>
              <a:solidFill>
                <a:srgbClr val="FFFFCC"/>
              </a:solidFill>
              <a:ln w="28575" cap="flat" cmpd="sng">
                <a:solidFill>
                  <a:srgbClr val="4472C4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25624" name="组合 45"/>
              <p:cNvGrpSpPr/>
              <p:nvPr/>
            </p:nvGrpSpPr>
            <p:grpSpPr>
              <a:xfrm>
                <a:off x="5212023" y="4569419"/>
                <a:ext cx="1921492" cy="1642005"/>
                <a:chOff x="5132310" y="4521160"/>
                <a:chExt cx="1921492" cy="1642005"/>
              </a:xfrm>
            </p:grpSpPr>
            <p:sp>
              <p:nvSpPr>
                <p:cNvPr id="47" name="Oval 40"/>
                <p:cNvSpPr>
                  <a:spLocks noChangeArrowheads="1"/>
                </p:cNvSpPr>
                <p:nvPr/>
              </p:nvSpPr>
              <p:spPr bwMode="auto">
                <a:xfrm>
                  <a:off x="5800331" y="4527988"/>
                  <a:ext cx="600029" cy="570097"/>
                </a:xfrm>
                <a:prstGeom prst="ellipse">
                  <a:avLst/>
                </a:prstGeom>
                <a:solidFill>
                  <a:srgbClr val="ED7D31"/>
                </a:solidFill>
                <a:ln w="635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503050405090304" pitchFamily="18" charset="0"/>
                    </a:rPr>
                    <a:t>G</a:t>
                  </a:r>
                </a:p>
              </p:txBody>
            </p:sp>
            <p:sp>
              <p:nvSpPr>
                <p:cNvPr id="48" name="Oval 41"/>
                <p:cNvSpPr>
                  <a:spLocks noChangeArrowheads="1"/>
                </p:cNvSpPr>
                <p:nvPr/>
              </p:nvSpPr>
              <p:spPr bwMode="auto">
                <a:xfrm>
                  <a:off x="5132644" y="5585364"/>
                  <a:ext cx="600028" cy="575874"/>
                </a:xfrm>
                <a:prstGeom prst="ellipse">
                  <a:avLst/>
                </a:prstGeom>
                <a:solidFill>
                  <a:srgbClr val="70AD47"/>
                </a:solidFill>
                <a:ln w="635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503050405090304" pitchFamily="18" charset="0"/>
                    </a:rPr>
                    <a:t>H</a:t>
                  </a:r>
                </a:p>
              </p:txBody>
            </p:sp>
            <p:sp>
              <p:nvSpPr>
                <p:cNvPr id="49" name="Oval 42"/>
                <p:cNvSpPr>
                  <a:spLocks noChangeArrowheads="1"/>
                </p:cNvSpPr>
                <p:nvPr/>
              </p:nvSpPr>
              <p:spPr bwMode="auto">
                <a:xfrm>
                  <a:off x="6453774" y="5587290"/>
                  <a:ext cx="600028" cy="575875"/>
                </a:xfrm>
                <a:prstGeom prst="ellipse">
                  <a:avLst/>
                </a:prstGeom>
                <a:solidFill>
                  <a:srgbClr val="70AD47"/>
                </a:solidFill>
                <a:ln w="635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503050405090304" pitchFamily="18" charset="0"/>
                    </a:rPr>
                    <a:t>I</a:t>
                  </a:r>
                </a:p>
              </p:txBody>
            </p:sp>
            <p:sp>
              <p:nvSpPr>
                <p:cNvPr id="50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5485183" y="5019119"/>
                  <a:ext cx="370344" cy="575874"/>
                </a:xfrm>
                <a:prstGeom prst="line">
                  <a:avLst/>
                </a:prstGeom>
                <a:solidFill>
                  <a:srgbClr val="FFFFCC"/>
                </a:solidFill>
                <a:ln w="28575">
                  <a:solidFill>
                    <a:srgbClr val="4472C4"/>
                  </a:solidFill>
                  <a:miter lim="800000"/>
                </a:ln>
                <a:effectLst/>
              </p:spPr>
              <p:txBody>
                <a:bodyPr wrap="none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Line 54"/>
                <p:cNvSpPr>
                  <a:spLocks noChangeShapeType="1"/>
                </p:cNvSpPr>
                <p:nvPr/>
              </p:nvSpPr>
              <p:spPr bwMode="auto">
                <a:xfrm>
                  <a:off x="6336261" y="5019119"/>
                  <a:ext cx="341856" cy="566245"/>
                </a:xfrm>
                <a:prstGeom prst="line">
                  <a:avLst/>
                </a:prstGeom>
                <a:solidFill>
                  <a:srgbClr val="FFFFCC"/>
                </a:solidFill>
                <a:ln w="28575">
                  <a:solidFill>
                    <a:srgbClr val="4472C4"/>
                  </a:solidFill>
                  <a:miter lim="800000"/>
                </a:ln>
                <a:effectLst/>
              </p:spPr>
              <p:txBody>
                <a:bodyPr wrap="none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55" name="文本框 54"/>
          <p:cNvSpPr txBox="1"/>
          <p:nvPr/>
        </p:nvSpPr>
        <p:spPr>
          <a:xfrm>
            <a:off x="2678113" y="2225675"/>
            <a:ext cx="2555875" cy="2862263"/>
          </a:xfrm>
          <a:prstGeom prst="rect">
            <a:avLst/>
          </a:prstGeom>
          <a:noFill/>
          <a:ln w="28575">
            <a:solidFill>
              <a:srgbClr val="ED7D31"/>
            </a:solidFill>
            <a:prstDash val="dash"/>
          </a:ln>
        </p:spPr>
        <p:txBody>
          <a:bodyPr>
            <a:spAutoFit/>
          </a:bodyPr>
          <a:lstStyle/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15746">
            <a:off x="1660525" y="2170113"/>
            <a:ext cx="820738" cy="8207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7" name="组合 56"/>
          <p:cNvGrpSpPr/>
          <p:nvPr/>
        </p:nvGrpSpPr>
        <p:grpSpPr>
          <a:xfrm>
            <a:off x="6932613" y="2820988"/>
            <a:ext cx="1544637" cy="1328737"/>
            <a:chOff x="6629781" y="4143412"/>
            <a:chExt cx="1543868" cy="1329452"/>
          </a:xfrm>
        </p:grpSpPr>
        <p:sp>
          <p:nvSpPr>
            <p:cNvPr id="58" name="Freeform 47"/>
            <p:cNvSpPr/>
            <p:nvPr/>
          </p:nvSpPr>
          <p:spPr bwMode="auto">
            <a:xfrm>
              <a:off x="6986790" y="4618329"/>
              <a:ext cx="312582" cy="395501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rect l="0" t="0" r="r" b="b"/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solidFill>
              <a:srgbClr val="FFFFCC"/>
            </a:solidFill>
            <a:ln w="28575" cap="flat" cmpd="sng">
              <a:solidFill>
                <a:srgbClr val="4472C4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Oval 32"/>
            <p:cNvSpPr>
              <a:spLocks noChangeArrowheads="1"/>
            </p:cNvSpPr>
            <p:nvPr/>
          </p:nvSpPr>
          <p:spPr bwMode="auto">
            <a:xfrm>
              <a:off x="7166089" y="4143412"/>
              <a:ext cx="534721" cy="474917"/>
            </a:xfrm>
            <a:prstGeom prst="ellipse">
              <a:avLst/>
            </a:prstGeom>
            <a:solidFill>
              <a:srgbClr val="ED7D31"/>
            </a:soli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503050405090304" pitchFamily="18" charset="0"/>
                </a:rPr>
                <a:t>B</a:t>
              </a:r>
            </a:p>
          </p:txBody>
        </p:sp>
        <p:sp>
          <p:nvSpPr>
            <p:cNvPr id="60" name="Oval 35"/>
            <p:cNvSpPr>
              <a:spLocks noChangeArrowheads="1"/>
            </p:cNvSpPr>
            <p:nvPr/>
          </p:nvSpPr>
          <p:spPr bwMode="auto">
            <a:xfrm>
              <a:off x="6629781" y="4997947"/>
              <a:ext cx="536308" cy="474917"/>
            </a:xfrm>
            <a:prstGeom prst="ellipse">
              <a:avLst/>
            </a:prstGeom>
            <a:solidFill>
              <a:srgbClr val="70AD47"/>
            </a:solidFill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503050405090304" pitchFamily="18" charset="0"/>
                </a:rPr>
                <a:t>D</a:t>
              </a:r>
            </a:p>
          </p:txBody>
        </p:sp>
        <p:sp>
          <p:nvSpPr>
            <p:cNvPr id="61" name="Freeform 48"/>
            <p:cNvSpPr/>
            <p:nvPr/>
          </p:nvSpPr>
          <p:spPr bwMode="auto">
            <a:xfrm>
              <a:off x="7629408" y="4604035"/>
              <a:ext cx="357009" cy="5178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rect l="0" t="0" r="r" b="b"/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solidFill>
              <a:srgbClr val="FFFFCC"/>
            </a:solidFill>
            <a:ln w="28575" cap="flat" cmpd="sng">
              <a:solidFill>
                <a:srgbClr val="4472C4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25614" name="图片 6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05908" y="5163601"/>
              <a:ext cx="267741" cy="263064"/>
            </a:xfrm>
            <a:prstGeom prst="rect">
              <a:avLst/>
            </a:prstGeom>
            <a:noFill/>
            <a:ln w="9525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63" name="文本框 62"/>
          <p:cNvSpPr txBox="1"/>
          <p:nvPr/>
        </p:nvSpPr>
        <p:spPr>
          <a:xfrm>
            <a:off x="6796088" y="3473450"/>
            <a:ext cx="792163" cy="923925"/>
          </a:xfrm>
          <a:prstGeom prst="rect">
            <a:avLst/>
          </a:prstGeom>
          <a:noFill/>
          <a:ln w="28575">
            <a:solidFill>
              <a:srgbClr val="70AD47"/>
            </a:solidFill>
            <a:prstDash val="dash"/>
          </a:ln>
        </p:spPr>
        <p:txBody>
          <a:bodyPr>
            <a:spAutoFit/>
          </a:bodyPr>
          <a:lstStyle/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1504" name="文本框 21503"/>
          <p:cNvSpPr txBox="1"/>
          <p:nvPr/>
        </p:nvSpPr>
        <p:spPr>
          <a:xfrm>
            <a:off x="7996238" y="3471863"/>
            <a:ext cx="792163" cy="923925"/>
          </a:xfrm>
          <a:prstGeom prst="rect">
            <a:avLst/>
          </a:prstGeom>
          <a:noFill/>
          <a:ln w="28575">
            <a:solidFill>
              <a:srgbClr val="ED7D31"/>
            </a:solidFill>
            <a:prstDash val="dash"/>
          </a:ln>
        </p:spPr>
        <p:txBody>
          <a:bodyPr>
            <a:spAutoFit/>
          </a:bodyPr>
          <a:lstStyle/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kern="0" cap="none" spc="0" normalizeH="0" baseline="0" noProof="0" dirty="0">
              <a:solidFill>
                <a:prstClr val="black"/>
              </a:solidFill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5609" name="文本框 21505"/>
          <p:cNvSpPr txBox="1"/>
          <p:nvPr/>
        </p:nvSpPr>
        <p:spPr>
          <a:xfrm>
            <a:off x="230188" y="1055688"/>
            <a:ext cx="61214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90204" pitchFamily="34" charset="0"/>
              </a:rPr>
              <a:t>二叉树是满足递归定义的数据结构</a:t>
            </a:r>
            <a:endParaRPr lang="en-US" altLang="zh-CN" sz="240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5" grpId="0" animBg="1"/>
      <p:bldP spid="63" grpId="0" animBg="1"/>
      <p:bldP spid="2150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二叉树几个性质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211138" y="681038"/>
            <a:ext cx="8953500" cy="403225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None/>
            </a:pPr>
            <a:r>
              <a:rPr lang="zh-CN" altLang="en-US" sz="2200" b="1">
                <a:solidFill>
                  <a:srgbClr val="000066"/>
                </a:solidFill>
              </a:rPr>
              <a:t>🌳</a:t>
            </a:r>
            <a:r>
              <a:rPr lang="zh-CN" altLang="en-US" sz="2200">
                <a:solidFill>
                  <a:srgbClr val="F42212"/>
                </a:solidFill>
                <a:latin typeface="Calibri" pitchFamily="34" charset="0"/>
              </a:rPr>
              <a:t>性质</a:t>
            </a:r>
            <a:r>
              <a:rPr lang="en-US" altLang="zh-CN" sz="2200">
                <a:solidFill>
                  <a:srgbClr val="F42212"/>
                </a:solidFill>
                <a:latin typeface="Calibri" pitchFamily="34" charset="0"/>
              </a:rPr>
              <a:t>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：在二叉树的第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i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层上至多有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en-US" altLang="zh-CN" sz="2200" baseline="30000">
                <a:solidFill>
                  <a:srgbClr val="000000"/>
                </a:solidFill>
                <a:latin typeface="Calibri" pitchFamily="34" charset="0"/>
              </a:rPr>
              <a:t>i-1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个结点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(i≥1)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。 </a:t>
            </a:r>
          </a:p>
          <a:p>
            <a:pPr marL="0" lvl="0" indent="0" eaLnBrk="1" hangingPunct="1">
              <a:lnSpc>
                <a:spcPct val="140000"/>
              </a:lnSpc>
              <a:buNone/>
            </a:pPr>
            <a:r>
              <a:rPr lang="zh-CN" altLang="en-US" sz="2200" b="1">
                <a:solidFill>
                  <a:srgbClr val="000066"/>
                </a:solidFill>
              </a:rPr>
              <a:t>🌳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证明：</a:t>
            </a:r>
          </a:p>
          <a:p>
            <a:pPr marL="0" lvl="0" indent="0" eaLnBrk="1" hangingPunct="1">
              <a:lnSpc>
                <a:spcPct val="140000"/>
              </a:lnSpc>
              <a:buNone/>
            </a:pPr>
            <a:r>
              <a:rPr lang="zh-CN" altLang="en-US" sz="2200" b="1">
                <a:solidFill>
                  <a:srgbClr val="000066"/>
                </a:solidFill>
              </a:rPr>
              <a:t>🌳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当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i=1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时，整个二叉树只有一根结点，此时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en-US" altLang="zh-CN" sz="2200" baseline="30000">
                <a:solidFill>
                  <a:srgbClr val="000000"/>
                </a:solidFill>
                <a:latin typeface="Calibri" pitchFamily="34" charset="0"/>
              </a:rPr>
              <a:t>i-1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=2</a:t>
            </a:r>
            <a:r>
              <a:rPr lang="en-US" altLang="zh-CN" sz="2200" baseline="30000">
                <a:solidFill>
                  <a:srgbClr val="000000"/>
                </a:solidFill>
                <a:latin typeface="Calibri" pitchFamily="34" charset="0"/>
              </a:rPr>
              <a:t>0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=1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，结论成立。 </a:t>
            </a:r>
          </a:p>
          <a:p>
            <a:pPr marL="0" lvl="0" indent="0" eaLnBrk="1" hangingPunct="1">
              <a:lnSpc>
                <a:spcPct val="140000"/>
              </a:lnSpc>
              <a:buNone/>
            </a:pPr>
            <a:r>
              <a:rPr lang="zh-CN" altLang="en-US" sz="2200" b="1">
                <a:solidFill>
                  <a:srgbClr val="000066"/>
                </a:solidFill>
              </a:rPr>
              <a:t>🌳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假设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i=k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时结论成立，即第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k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层上结点总数最多为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en-US" altLang="zh-CN" sz="2200" baseline="30000">
                <a:solidFill>
                  <a:srgbClr val="000000"/>
                </a:solidFill>
                <a:latin typeface="Calibri" pitchFamily="34" charset="0"/>
              </a:rPr>
              <a:t>k-1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个。 </a:t>
            </a:r>
          </a:p>
          <a:p>
            <a:pPr marL="0" lvl="0" indent="0" eaLnBrk="1" hangingPunct="1">
              <a:lnSpc>
                <a:spcPct val="140000"/>
              </a:lnSpc>
              <a:buNone/>
            </a:pPr>
            <a:r>
              <a:rPr lang="zh-CN" altLang="en-US" sz="2200" b="1">
                <a:solidFill>
                  <a:srgbClr val="000066"/>
                </a:solidFill>
              </a:rPr>
              <a:t>🌳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现证明当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i=k+1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时，结论成立： </a:t>
            </a:r>
          </a:p>
          <a:p>
            <a:pPr marL="685800" lvl="1" indent="-228600" eaLnBrk="1" hangingPunct="1">
              <a:lnSpc>
                <a:spcPct val="140000"/>
              </a:lnSpc>
            </a:pP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因为二叉树中每个结点的度最大为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，则第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k+1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层的结点总数最多为第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k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层上结点最大数的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倍，即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2×2</a:t>
            </a:r>
            <a:r>
              <a:rPr lang="en-US" altLang="zh-CN" sz="2200" baseline="30000">
                <a:solidFill>
                  <a:srgbClr val="000000"/>
                </a:solidFill>
                <a:latin typeface="Calibri" pitchFamily="34" charset="0"/>
              </a:rPr>
              <a:t>k-1</a:t>
            </a:r>
            <a:r>
              <a:rPr lang="en-US" altLang="zh-CN" sz="2200">
                <a:solidFill>
                  <a:srgbClr val="000000"/>
                </a:solidFill>
                <a:latin typeface="Calibri" pitchFamily="34" charset="0"/>
              </a:rPr>
              <a:t>=2</a:t>
            </a:r>
            <a:r>
              <a:rPr lang="en-US" altLang="zh-CN" sz="2200" baseline="30000">
                <a:solidFill>
                  <a:srgbClr val="000000"/>
                </a:solidFill>
                <a:latin typeface="Calibri" pitchFamily="34" charset="0"/>
              </a:rPr>
              <a:t>(k+1)-1</a:t>
            </a:r>
            <a:r>
              <a:rPr lang="zh-CN" altLang="en-US" sz="2200">
                <a:solidFill>
                  <a:srgbClr val="000000"/>
                </a:solidFill>
                <a:latin typeface="Calibri" pitchFamily="34" charset="0"/>
              </a:rPr>
              <a:t>，故结论成立。</a:t>
            </a:r>
          </a:p>
          <a:p>
            <a:pPr marL="0" lvl="0" indent="0" eaLnBrk="1" hangingPunct="1">
              <a:lnSpc>
                <a:spcPct val="140000"/>
              </a:lnSpc>
            </a:pPr>
            <a:endParaRPr lang="zh-CN" altLang="en-US" sz="22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二叉树几个性质</a:t>
            </a:r>
          </a:p>
        </p:txBody>
      </p:sp>
      <p:sp>
        <p:nvSpPr>
          <p:cNvPr id="3" name="内容占位符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3" y="1203598"/>
            <a:ext cx="8857109" cy="3831771"/>
          </a:xfrm>
          <a:prstGeom prst="rect">
            <a:avLst/>
          </a:prstGeom>
          <a:blipFill>
            <a:blip r:embed="rId3"/>
            <a:stretch>
              <a:fillRect l="-1445" t="-3975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noFill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 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二叉树几个性质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261938" y="771525"/>
            <a:ext cx="8620125" cy="40052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000" b="1">
                <a:solidFill>
                  <a:srgbClr val="000066"/>
                </a:solidFill>
              </a:rPr>
              <a:t>🌳</a:t>
            </a:r>
            <a:r>
              <a:rPr lang="zh-CN" altLang="en-US" sz="2000">
                <a:solidFill>
                  <a:srgbClr val="F42212"/>
                </a:solidFill>
                <a:latin typeface="Calibri" pitchFamily="34" charset="0"/>
              </a:rPr>
              <a:t>性质</a:t>
            </a:r>
            <a:r>
              <a:rPr lang="en-US" altLang="zh-CN" sz="2000">
                <a:solidFill>
                  <a:srgbClr val="F42212"/>
                </a:solidFill>
                <a:latin typeface="Calibri" pitchFamily="34" charset="0"/>
              </a:rPr>
              <a:t>3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：对任意一棵二叉树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T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，若终端结点数为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n</a:t>
            </a:r>
            <a:r>
              <a:rPr lang="en-US" altLang="zh-CN" sz="2000" baseline="-30000">
                <a:solidFill>
                  <a:srgbClr val="000000"/>
                </a:solidFill>
                <a:latin typeface="Calibri" pitchFamily="34" charset="0"/>
              </a:rPr>
              <a:t>0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，而其度数为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的结点数为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n</a:t>
            </a:r>
            <a:r>
              <a:rPr lang="en-US" altLang="zh-CN" sz="2000" baseline="-300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，则：</a:t>
            </a:r>
            <a:endParaRPr lang="en-US" altLang="zh-CN" sz="2000">
              <a:solidFill>
                <a:srgbClr val="000000"/>
              </a:solidFill>
              <a:latin typeface="Calibri" pitchFamily="34" charset="0"/>
            </a:endParaRPr>
          </a:p>
          <a:p>
            <a:pPr marL="685800" lvl="1" indent="-228600" algn="ctr" eaLnBrk="1" hangingPunct="1"/>
            <a:r>
              <a:rPr lang="en-US" altLang="zh-CN" sz="2000">
                <a:solidFill>
                  <a:srgbClr val="FF0000"/>
                </a:solidFill>
                <a:latin typeface="Calibri" pitchFamily="34" charset="0"/>
              </a:rPr>
              <a:t>n</a:t>
            </a:r>
            <a:r>
              <a:rPr lang="en-US" altLang="zh-CN" sz="2000" baseline="-30000">
                <a:solidFill>
                  <a:srgbClr val="FF0000"/>
                </a:solidFill>
                <a:latin typeface="Calibri" pitchFamily="34" charset="0"/>
              </a:rPr>
              <a:t>0</a:t>
            </a:r>
            <a:r>
              <a:rPr lang="en-US" altLang="zh-CN" sz="2000">
                <a:solidFill>
                  <a:srgbClr val="FF0000"/>
                </a:solidFill>
                <a:latin typeface="Calibri" pitchFamily="34" charset="0"/>
              </a:rPr>
              <a:t>= n</a:t>
            </a:r>
            <a:r>
              <a:rPr lang="en-US" altLang="zh-CN" sz="2000" baseline="-30000">
                <a:solidFill>
                  <a:srgbClr val="FF0000"/>
                </a:solidFill>
                <a:latin typeface="Calibri" pitchFamily="34" charset="0"/>
              </a:rPr>
              <a:t>2</a:t>
            </a:r>
            <a:r>
              <a:rPr lang="en-US" altLang="zh-CN" sz="2000">
                <a:solidFill>
                  <a:srgbClr val="FF0000"/>
                </a:solidFill>
                <a:latin typeface="Calibri" pitchFamily="34" charset="0"/>
              </a:rPr>
              <a:t>+1 </a:t>
            </a:r>
            <a:endParaRPr lang="zh-CN" altLang="en-US" sz="2000">
              <a:solidFill>
                <a:srgbClr val="FF0000"/>
              </a:solidFill>
              <a:latin typeface="Calibri" pitchFamily="34" charset="0"/>
            </a:endParaRPr>
          </a:p>
          <a:p>
            <a:pPr marL="0" lvl="0" indent="0" algn="just" eaLnBrk="1" hangingPunct="1">
              <a:buNone/>
            </a:pPr>
            <a:r>
              <a:rPr lang="zh-CN" altLang="en-US" sz="2000" b="1">
                <a:solidFill>
                  <a:srgbClr val="000066"/>
                </a:solidFill>
              </a:rPr>
              <a:t>🌳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证明：设二叉树中结点总数为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n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n</a:t>
            </a:r>
            <a:r>
              <a:rPr lang="en-US" altLang="zh-CN" sz="2000" baseline="-30000">
                <a:solidFill>
                  <a:srgbClr val="000000"/>
                </a:solidFill>
                <a:latin typeface="Calibri" pitchFamily="34" charset="0"/>
              </a:rPr>
              <a:t>1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为二叉树中度为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1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的结点总数。因为二叉树中所有结点的度小于等于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，所以有：	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n= 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0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 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1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2</a:t>
            </a:r>
            <a:endParaRPr lang="en-US" altLang="zh-CN" sz="2000">
              <a:solidFill>
                <a:srgbClr val="4472C4"/>
              </a:solidFill>
              <a:latin typeface="Calibri" pitchFamily="34" charset="0"/>
            </a:endParaRPr>
          </a:p>
          <a:p>
            <a:pPr marL="0" lvl="0" indent="0" algn="just" eaLnBrk="1" hangingPunct="1">
              <a:buNone/>
            </a:pPr>
            <a:r>
              <a:rPr lang="zh-CN" altLang="en-US" sz="2000" b="1">
                <a:solidFill>
                  <a:srgbClr val="000066"/>
                </a:solidFill>
              </a:rPr>
              <a:t>🌳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设二叉树中分支数目为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，因为除根结点外，每个结点均对应一个进入它的分支，所以有：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n=B+1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。</a:t>
            </a:r>
          </a:p>
          <a:p>
            <a:pPr marL="0" lvl="0" indent="0" algn="just" eaLnBrk="1" hangingPunct="1">
              <a:buNone/>
            </a:pPr>
            <a:r>
              <a:rPr lang="zh-CN" altLang="en-US" sz="2000" b="1">
                <a:solidFill>
                  <a:srgbClr val="000066"/>
                </a:solidFill>
              </a:rPr>
              <a:t>🌳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又因为二叉树中的分支都是由度为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1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和度为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的结点发出，所以分支数目为：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B=n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1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+2n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2</a:t>
            </a:r>
            <a:endParaRPr lang="en-US" altLang="zh-CN" sz="2000">
              <a:solidFill>
                <a:srgbClr val="4472C4"/>
              </a:solidFill>
              <a:latin typeface="Calibri" pitchFamily="34" charset="0"/>
            </a:endParaRPr>
          </a:p>
          <a:p>
            <a:pPr marL="0" lvl="0" indent="0" algn="just" eaLnBrk="1" hangingPunct="1">
              <a:buNone/>
            </a:pPr>
            <a:r>
              <a:rPr lang="zh-CN" altLang="en-US" sz="2000" b="1">
                <a:solidFill>
                  <a:srgbClr val="000066"/>
                </a:solidFill>
              </a:rPr>
              <a:t>🌳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整理上述两式可得到：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n=B+1= 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1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+2n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2 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+1</a:t>
            </a:r>
          </a:p>
          <a:p>
            <a:pPr marL="0" lvl="0" indent="0" eaLnBrk="1" hangingPunct="1">
              <a:buNone/>
            </a:pPr>
            <a:r>
              <a:rPr lang="zh-CN" altLang="en-US" sz="2000" b="1">
                <a:solidFill>
                  <a:srgbClr val="000066"/>
                </a:solidFill>
              </a:rPr>
              <a:t>🌳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将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n= 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0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 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1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代入上式得出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0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 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1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2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=n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1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+2n</a:t>
            </a:r>
            <a:r>
              <a:rPr lang="en-US" altLang="zh-CN" sz="2000" baseline="-30000">
                <a:solidFill>
                  <a:srgbClr val="4472C4"/>
                </a:solidFill>
                <a:latin typeface="Calibri" pitchFamily="34" charset="0"/>
              </a:rPr>
              <a:t>2</a:t>
            </a:r>
            <a:r>
              <a:rPr lang="en-US" altLang="zh-CN" sz="2000">
                <a:solidFill>
                  <a:srgbClr val="4472C4"/>
                </a:solidFill>
                <a:latin typeface="Calibri" pitchFamily="34" charset="0"/>
              </a:rPr>
              <a:t>+1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，整理后得</a:t>
            </a:r>
            <a:r>
              <a:rPr lang="en-US" altLang="zh-CN" sz="2000">
                <a:solidFill>
                  <a:srgbClr val="F42212"/>
                </a:solidFill>
                <a:latin typeface="Calibri" pitchFamily="34" charset="0"/>
              </a:rPr>
              <a:t>n</a:t>
            </a:r>
            <a:r>
              <a:rPr lang="en-US" altLang="zh-CN" sz="2000" baseline="-30000">
                <a:solidFill>
                  <a:srgbClr val="F42212"/>
                </a:solidFill>
                <a:latin typeface="Calibri" pitchFamily="34" charset="0"/>
              </a:rPr>
              <a:t>0</a:t>
            </a:r>
            <a:r>
              <a:rPr lang="en-US" altLang="zh-CN" sz="2000">
                <a:solidFill>
                  <a:srgbClr val="F42212"/>
                </a:solidFill>
                <a:latin typeface="Calibri" pitchFamily="34" charset="0"/>
              </a:rPr>
              <a:t>= n</a:t>
            </a:r>
            <a:r>
              <a:rPr lang="en-US" altLang="zh-CN" sz="2000" baseline="-30000">
                <a:solidFill>
                  <a:srgbClr val="F42212"/>
                </a:solidFill>
                <a:latin typeface="Calibri" pitchFamily="34" charset="0"/>
              </a:rPr>
              <a:t>2</a:t>
            </a:r>
            <a:r>
              <a:rPr lang="en-US" altLang="zh-CN" sz="2000">
                <a:solidFill>
                  <a:srgbClr val="F42212"/>
                </a:solidFill>
                <a:latin typeface="Calibri" pitchFamily="34" charset="0"/>
              </a:rPr>
              <a:t>+1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，故结论成立。 </a:t>
            </a:r>
          </a:p>
          <a:p>
            <a:pPr marL="0" lvl="0" indent="0" eaLnBrk="1" hangingPunct="1"/>
            <a:endParaRPr lang="zh-CN" altLang="en-US" sz="20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满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</a:t>
            </a:r>
          </a:p>
        </p:txBody>
      </p:sp>
      <p:sp>
        <p:nvSpPr>
          <p:cNvPr id="33" name="内容占位符 2"/>
          <p:cNvSpPr txBox="1"/>
          <p:nvPr/>
        </p:nvSpPr>
        <p:spPr>
          <a:xfrm>
            <a:off x="80963" y="900113"/>
            <a:ext cx="8685212" cy="7731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🌳</a:t>
            </a:r>
            <a:r>
              <a:rPr lang="zh-CN" altLang="en-US" sz="2400">
                <a:solidFill>
                  <a:srgbClr val="000000"/>
                </a:solidFill>
                <a:latin typeface="Calibri" pitchFamily="34" charset="0"/>
              </a:rPr>
              <a:t>深度为</a:t>
            </a:r>
            <a:r>
              <a:rPr lang="en-US" altLang="zh-CN" sz="2400">
                <a:solidFill>
                  <a:srgbClr val="000000"/>
                </a:solidFill>
                <a:latin typeface="Calibri" pitchFamily="34" charset="0"/>
              </a:rPr>
              <a:t>k</a:t>
            </a:r>
            <a:r>
              <a:rPr lang="zh-CN" altLang="en-US" sz="2400">
                <a:solidFill>
                  <a:srgbClr val="000000"/>
                </a:solidFill>
                <a:latin typeface="Calibri" pitchFamily="34" charset="0"/>
              </a:rPr>
              <a:t>且有</a:t>
            </a:r>
            <a:r>
              <a:rPr lang="en-US" altLang="zh-CN" sz="2400">
                <a:solidFill>
                  <a:srgbClr val="000000"/>
                </a:solidFill>
                <a:latin typeface="Calibri" pitchFamily="34" charset="0"/>
              </a:rPr>
              <a:t>2</a:t>
            </a:r>
            <a:r>
              <a:rPr lang="en-US" altLang="zh-CN" sz="2400" baseline="30000">
                <a:solidFill>
                  <a:srgbClr val="000000"/>
                </a:solidFill>
                <a:latin typeface="Calibri" pitchFamily="34" charset="0"/>
              </a:rPr>
              <a:t>k</a:t>
            </a:r>
            <a:r>
              <a:rPr lang="en-US" altLang="zh-CN" sz="2400">
                <a:solidFill>
                  <a:srgbClr val="000000"/>
                </a:solidFill>
                <a:latin typeface="Calibri" pitchFamily="34" charset="0"/>
              </a:rPr>
              <a:t>-1</a:t>
            </a:r>
            <a:r>
              <a:rPr lang="zh-CN" altLang="en-US" sz="2400">
                <a:solidFill>
                  <a:srgbClr val="000000"/>
                </a:solidFill>
                <a:latin typeface="Calibri" pitchFamily="34" charset="0"/>
              </a:rPr>
              <a:t>个结点的二叉树。在满二叉树中，每层结点都是满的，即每层结点都具有最大结点数。</a:t>
            </a:r>
            <a:endParaRPr lang="zh-CN" altLang="en-US">
              <a:solidFill>
                <a:srgbClr val="000000"/>
              </a:solidFill>
              <a:latin typeface="Calibri" pitchFamily="34" charset="0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619250" y="1892300"/>
            <a:ext cx="6005513" cy="2997200"/>
            <a:chOff x="1008" y="1872"/>
            <a:chExt cx="3744" cy="1488"/>
          </a:xfrm>
        </p:grpSpPr>
        <p:sp>
          <p:nvSpPr>
            <p:cNvPr id="21507" name="Line 32"/>
            <p:cNvSpPr>
              <a:spLocks noChangeShapeType="1"/>
            </p:cNvSpPr>
            <p:nvPr/>
          </p:nvSpPr>
          <p:spPr bwMode="auto">
            <a:xfrm flipH="1">
              <a:off x="3886" y="2856"/>
              <a:ext cx="240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08" name="Oval 4"/>
            <p:cNvSpPr>
              <a:spLocks noChangeArrowheads="1"/>
            </p:cNvSpPr>
            <p:nvPr/>
          </p:nvSpPr>
          <p:spPr bwMode="auto">
            <a:xfrm>
              <a:off x="2688" y="1872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21509" name="Oval 5"/>
            <p:cNvSpPr>
              <a:spLocks noChangeArrowheads="1"/>
            </p:cNvSpPr>
            <p:nvPr/>
          </p:nvSpPr>
          <p:spPr bwMode="auto">
            <a:xfrm>
              <a:off x="1920" y="2208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21510" name="Oval 6"/>
            <p:cNvSpPr>
              <a:spLocks noChangeArrowheads="1"/>
            </p:cNvSpPr>
            <p:nvPr/>
          </p:nvSpPr>
          <p:spPr bwMode="auto">
            <a:xfrm>
              <a:off x="3600" y="2256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21511" name="Oval 7"/>
            <p:cNvSpPr>
              <a:spLocks noChangeArrowheads="1"/>
            </p:cNvSpPr>
            <p:nvPr/>
          </p:nvSpPr>
          <p:spPr bwMode="auto">
            <a:xfrm>
              <a:off x="1392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4</a:t>
              </a:r>
            </a:p>
          </p:txBody>
        </p:sp>
        <p:sp>
          <p:nvSpPr>
            <p:cNvPr id="21512" name="Oval 8"/>
            <p:cNvSpPr>
              <a:spLocks noChangeArrowheads="1"/>
            </p:cNvSpPr>
            <p:nvPr/>
          </p:nvSpPr>
          <p:spPr bwMode="auto">
            <a:xfrm>
              <a:off x="2304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21513" name="Oval 9"/>
            <p:cNvSpPr>
              <a:spLocks noChangeArrowheads="1"/>
            </p:cNvSpPr>
            <p:nvPr/>
          </p:nvSpPr>
          <p:spPr bwMode="auto">
            <a:xfrm>
              <a:off x="3216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21514" name="Oval 10"/>
            <p:cNvSpPr>
              <a:spLocks noChangeArrowheads="1"/>
            </p:cNvSpPr>
            <p:nvPr/>
          </p:nvSpPr>
          <p:spPr bwMode="auto">
            <a:xfrm>
              <a:off x="4080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 flipH="1">
              <a:off x="2160" y="1998"/>
              <a:ext cx="528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>
              <a:off x="2976" y="2016"/>
              <a:ext cx="624" cy="33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 flipH="1">
              <a:off x="1590" y="2360"/>
              <a:ext cx="336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>
              <a:off x="2175" y="2400"/>
              <a:ext cx="240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19" name="Line 15"/>
            <p:cNvSpPr>
              <a:spLocks noChangeShapeType="1"/>
            </p:cNvSpPr>
            <p:nvPr/>
          </p:nvSpPr>
          <p:spPr bwMode="auto">
            <a:xfrm flipH="1">
              <a:off x="3407" y="2405"/>
              <a:ext cx="192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>
              <a:off x="3886" y="2405"/>
              <a:ext cx="288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21" name="Oval 18"/>
            <p:cNvSpPr>
              <a:spLocks noChangeArrowheads="1"/>
            </p:cNvSpPr>
            <p:nvPr/>
          </p:nvSpPr>
          <p:spPr bwMode="auto">
            <a:xfrm>
              <a:off x="1008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</a:t>
              </a:r>
            </a:p>
          </p:txBody>
        </p:sp>
        <p:sp>
          <p:nvSpPr>
            <p:cNvPr id="21522" name="Oval 19"/>
            <p:cNvSpPr>
              <a:spLocks noChangeArrowheads="1"/>
            </p:cNvSpPr>
            <p:nvPr/>
          </p:nvSpPr>
          <p:spPr bwMode="auto">
            <a:xfrm>
              <a:off x="1632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9</a:t>
              </a:r>
            </a:p>
          </p:txBody>
        </p:sp>
        <p:sp>
          <p:nvSpPr>
            <p:cNvPr id="21523" name="Oval 20"/>
            <p:cNvSpPr>
              <a:spLocks noChangeArrowheads="1"/>
            </p:cNvSpPr>
            <p:nvPr/>
          </p:nvSpPr>
          <p:spPr bwMode="auto">
            <a:xfrm>
              <a:off x="2016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10</a:t>
              </a:r>
            </a:p>
          </p:txBody>
        </p:sp>
        <p:sp>
          <p:nvSpPr>
            <p:cNvPr id="21524" name="Oval 21"/>
            <p:cNvSpPr>
              <a:spLocks noChangeArrowheads="1"/>
            </p:cNvSpPr>
            <p:nvPr/>
          </p:nvSpPr>
          <p:spPr bwMode="auto">
            <a:xfrm>
              <a:off x="2592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525" name="Oval 22"/>
            <p:cNvSpPr>
              <a:spLocks noChangeArrowheads="1"/>
            </p:cNvSpPr>
            <p:nvPr/>
          </p:nvSpPr>
          <p:spPr bwMode="auto">
            <a:xfrm>
              <a:off x="2976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12</a:t>
              </a:r>
            </a:p>
          </p:txBody>
        </p:sp>
        <p:sp>
          <p:nvSpPr>
            <p:cNvPr id="21526" name="Oval 23"/>
            <p:cNvSpPr>
              <a:spLocks noChangeArrowheads="1"/>
            </p:cNvSpPr>
            <p:nvPr/>
          </p:nvSpPr>
          <p:spPr bwMode="auto">
            <a:xfrm>
              <a:off x="3456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13</a:t>
              </a:r>
            </a:p>
          </p:txBody>
        </p:sp>
        <p:sp>
          <p:nvSpPr>
            <p:cNvPr id="21527" name="Oval 24"/>
            <p:cNvSpPr>
              <a:spLocks noChangeArrowheads="1"/>
            </p:cNvSpPr>
            <p:nvPr/>
          </p:nvSpPr>
          <p:spPr bwMode="auto">
            <a:xfrm>
              <a:off x="3792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14</a:t>
              </a:r>
            </a:p>
          </p:txBody>
        </p:sp>
        <p:sp>
          <p:nvSpPr>
            <p:cNvPr id="21528" name="Oval 25"/>
            <p:cNvSpPr>
              <a:spLocks noChangeArrowheads="1"/>
            </p:cNvSpPr>
            <p:nvPr/>
          </p:nvSpPr>
          <p:spPr bwMode="auto">
            <a:xfrm>
              <a:off x="4464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15</a:t>
              </a:r>
            </a:p>
          </p:txBody>
        </p:sp>
        <p:sp>
          <p:nvSpPr>
            <p:cNvPr id="21529" name="Line 26"/>
            <p:cNvSpPr>
              <a:spLocks noChangeShapeType="1"/>
            </p:cNvSpPr>
            <p:nvPr/>
          </p:nvSpPr>
          <p:spPr bwMode="auto">
            <a:xfrm flipH="1">
              <a:off x="1185" y="2832"/>
              <a:ext cx="240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0" name="Line 27"/>
            <p:cNvSpPr>
              <a:spLocks noChangeShapeType="1"/>
            </p:cNvSpPr>
            <p:nvPr/>
          </p:nvSpPr>
          <p:spPr bwMode="auto">
            <a:xfrm>
              <a:off x="1648" y="2832"/>
              <a:ext cx="144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1" name="Line 28"/>
            <p:cNvSpPr>
              <a:spLocks noChangeShapeType="1"/>
            </p:cNvSpPr>
            <p:nvPr/>
          </p:nvSpPr>
          <p:spPr bwMode="auto">
            <a:xfrm flipH="1">
              <a:off x="2146" y="2832"/>
              <a:ext cx="192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2" name="Line 29"/>
            <p:cNvSpPr>
              <a:spLocks noChangeShapeType="1"/>
            </p:cNvSpPr>
            <p:nvPr/>
          </p:nvSpPr>
          <p:spPr bwMode="auto">
            <a:xfrm>
              <a:off x="2564" y="2832"/>
              <a:ext cx="192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3" name="Line 30"/>
            <p:cNvSpPr>
              <a:spLocks noChangeShapeType="1"/>
            </p:cNvSpPr>
            <p:nvPr/>
          </p:nvSpPr>
          <p:spPr bwMode="auto">
            <a:xfrm flipH="1">
              <a:off x="3108" y="2832"/>
              <a:ext cx="144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4" name="Line 31"/>
            <p:cNvSpPr>
              <a:spLocks noChangeShapeType="1"/>
            </p:cNvSpPr>
            <p:nvPr/>
          </p:nvSpPr>
          <p:spPr bwMode="auto">
            <a:xfrm>
              <a:off x="3458" y="2856"/>
              <a:ext cx="142" cy="26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5" name="Line 33"/>
            <p:cNvSpPr>
              <a:spLocks noChangeShapeType="1"/>
            </p:cNvSpPr>
            <p:nvPr/>
          </p:nvSpPr>
          <p:spPr bwMode="auto">
            <a:xfrm>
              <a:off x="4320" y="2856"/>
              <a:ext cx="288" cy="26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完全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</a:t>
            </a:r>
          </a:p>
        </p:txBody>
      </p:sp>
      <p:sp>
        <p:nvSpPr>
          <p:cNvPr id="53" name="内容占位符 2"/>
          <p:cNvSpPr txBox="1"/>
          <p:nvPr/>
        </p:nvSpPr>
        <p:spPr>
          <a:xfrm>
            <a:off x="223838" y="809625"/>
            <a:ext cx="8791575" cy="1322388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None/>
            </a:pPr>
            <a:r>
              <a:rPr lang="zh-CN" altLang="en-US" sz="2000" b="1">
                <a:solidFill>
                  <a:srgbClr val="000066"/>
                </a:solidFill>
              </a:rPr>
              <a:t>🌳</a:t>
            </a:r>
            <a:r>
              <a:rPr lang="zh-CN" altLang="en-US" sz="2000">
                <a:solidFill>
                  <a:srgbClr val="000000"/>
                </a:solidFill>
              </a:rPr>
              <a:t>对一棵具有</a:t>
            </a:r>
            <a:r>
              <a:rPr lang="en-US" altLang="zh-CN" sz="2000">
                <a:solidFill>
                  <a:srgbClr val="000000"/>
                </a:solidFill>
              </a:rPr>
              <a:t>n</a:t>
            </a:r>
            <a:r>
              <a:rPr lang="zh-CN" altLang="en-US" sz="2000">
                <a:solidFill>
                  <a:srgbClr val="000000"/>
                </a:solidFill>
              </a:rPr>
              <a:t>个结点的二叉树</a:t>
            </a:r>
            <a:r>
              <a:rPr lang="en-US" altLang="zh-CN" sz="2000">
                <a:solidFill>
                  <a:srgbClr val="000000"/>
                </a:solidFill>
              </a:rPr>
              <a:t>T</a:t>
            </a:r>
            <a:r>
              <a:rPr lang="zh-CN" altLang="en-US" sz="2000">
                <a:solidFill>
                  <a:srgbClr val="000000"/>
                </a:solidFill>
              </a:rPr>
              <a:t>按层序编号，如果编号为</a:t>
            </a:r>
            <a:r>
              <a:rPr lang="en-US" altLang="zh-CN" sz="2000">
                <a:solidFill>
                  <a:srgbClr val="000000"/>
                </a:solidFill>
              </a:rPr>
              <a:t>i</a:t>
            </a:r>
            <a:r>
              <a:rPr lang="zh-CN" altLang="en-US" sz="2000">
                <a:solidFill>
                  <a:srgbClr val="000000"/>
                </a:solidFill>
              </a:rPr>
              <a:t>（</a:t>
            </a:r>
            <a:r>
              <a:rPr lang="en-US" altLang="zh-CN" sz="2000">
                <a:solidFill>
                  <a:srgbClr val="000000"/>
                </a:solidFill>
              </a:rPr>
              <a:t>1≤i≤n</a:t>
            </a:r>
            <a:r>
              <a:rPr lang="zh-CN" altLang="en-US" sz="2000">
                <a:solidFill>
                  <a:srgbClr val="000000"/>
                </a:solidFill>
              </a:rPr>
              <a:t>）的结点与同样深度的满二叉树中编号为</a:t>
            </a:r>
            <a:r>
              <a:rPr lang="en-US" altLang="zh-CN" sz="2000">
                <a:solidFill>
                  <a:srgbClr val="000000"/>
                </a:solidFill>
              </a:rPr>
              <a:t>i</a:t>
            </a:r>
            <a:r>
              <a:rPr lang="zh-CN" altLang="en-US" sz="2000">
                <a:solidFill>
                  <a:srgbClr val="000000"/>
                </a:solidFill>
              </a:rPr>
              <a:t>的结点在二叉树中的位置完全相同，则称</a:t>
            </a:r>
            <a:r>
              <a:rPr lang="en-US" altLang="zh-CN" sz="2000">
                <a:solidFill>
                  <a:srgbClr val="000000"/>
                </a:solidFill>
              </a:rPr>
              <a:t>T</a:t>
            </a:r>
            <a:r>
              <a:rPr lang="zh-CN" altLang="en-US" sz="2000">
                <a:solidFill>
                  <a:srgbClr val="000000"/>
                </a:solidFill>
              </a:rPr>
              <a:t>为完全二叉树。</a:t>
            </a:r>
          </a:p>
        </p:txBody>
      </p:sp>
      <p:grpSp>
        <p:nvGrpSpPr>
          <p:cNvPr id="54" name="Group 34"/>
          <p:cNvGrpSpPr>
            <a:grpSpLocks noChangeAspect="1"/>
          </p:cNvGrpSpPr>
          <p:nvPr/>
        </p:nvGrpSpPr>
        <p:grpSpPr>
          <a:xfrm>
            <a:off x="179388" y="2211388"/>
            <a:ext cx="4256087" cy="2420937"/>
            <a:chOff x="1008" y="1872"/>
            <a:chExt cx="3360" cy="1488"/>
          </a:xfrm>
        </p:grpSpPr>
        <p:sp>
          <p:nvSpPr>
            <p:cNvPr id="55" name="Oval 4"/>
            <p:cNvSpPr>
              <a:spLocks noChangeArrowheads="1"/>
            </p:cNvSpPr>
            <p:nvPr/>
          </p:nvSpPr>
          <p:spPr bwMode="auto">
            <a:xfrm>
              <a:off x="2689" y="1872"/>
              <a:ext cx="287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56" name="Oval 5"/>
            <p:cNvSpPr>
              <a:spLocks noChangeArrowheads="1"/>
            </p:cNvSpPr>
            <p:nvPr/>
          </p:nvSpPr>
          <p:spPr bwMode="auto">
            <a:xfrm>
              <a:off x="1920" y="2208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57" name="Oval 6"/>
            <p:cNvSpPr>
              <a:spLocks noChangeArrowheads="1"/>
            </p:cNvSpPr>
            <p:nvPr/>
          </p:nvSpPr>
          <p:spPr bwMode="auto">
            <a:xfrm>
              <a:off x="3600" y="2256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1391" y="2640"/>
              <a:ext cx="287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4</a:t>
              </a:r>
            </a:p>
          </p:txBody>
        </p:sp>
        <p:sp>
          <p:nvSpPr>
            <p:cNvPr id="59" name="Oval 8"/>
            <p:cNvSpPr>
              <a:spLocks noChangeArrowheads="1"/>
            </p:cNvSpPr>
            <p:nvPr/>
          </p:nvSpPr>
          <p:spPr bwMode="auto">
            <a:xfrm>
              <a:off x="2304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60" name="Oval 9"/>
            <p:cNvSpPr>
              <a:spLocks noChangeArrowheads="1"/>
            </p:cNvSpPr>
            <p:nvPr/>
          </p:nvSpPr>
          <p:spPr bwMode="auto">
            <a:xfrm>
              <a:off x="3216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61" name="Oval 10"/>
            <p:cNvSpPr>
              <a:spLocks noChangeArrowheads="1"/>
            </p:cNvSpPr>
            <p:nvPr/>
          </p:nvSpPr>
          <p:spPr bwMode="auto">
            <a:xfrm>
              <a:off x="4080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62" name="Line 11"/>
            <p:cNvSpPr>
              <a:spLocks noChangeShapeType="1"/>
            </p:cNvSpPr>
            <p:nvPr/>
          </p:nvSpPr>
          <p:spPr bwMode="auto">
            <a:xfrm flipH="1">
              <a:off x="2160" y="1998"/>
              <a:ext cx="529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63" name="Line 12"/>
            <p:cNvSpPr>
              <a:spLocks noChangeShapeType="1"/>
            </p:cNvSpPr>
            <p:nvPr/>
          </p:nvSpPr>
          <p:spPr bwMode="auto">
            <a:xfrm>
              <a:off x="2976" y="2016"/>
              <a:ext cx="624" cy="33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04" name="Line 13"/>
            <p:cNvSpPr>
              <a:spLocks noChangeShapeType="1"/>
            </p:cNvSpPr>
            <p:nvPr/>
          </p:nvSpPr>
          <p:spPr bwMode="auto">
            <a:xfrm flipH="1">
              <a:off x="1590" y="2360"/>
              <a:ext cx="336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06" name="Line 14"/>
            <p:cNvSpPr>
              <a:spLocks noChangeShapeType="1"/>
            </p:cNvSpPr>
            <p:nvPr/>
          </p:nvSpPr>
          <p:spPr bwMode="auto">
            <a:xfrm>
              <a:off x="2175" y="2400"/>
              <a:ext cx="241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07" name="Line 15"/>
            <p:cNvSpPr>
              <a:spLocks noChangeShapeType="1"/>
            </p:cNvSpPr>
            <p:nvPr/>
          </p:nvSpPr>
          <p:spPr bwMode="auto">
            <a:xfrm flipH="1">
              <a:off x="3407" y="2405"/>
              <a:ext cx="192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08" name="Line 16"/>
            <p:cNvSpPr>
              <a:spLocks noChangeShapeType="1"/>
            </p:cNvSpPr>
            <p:nvPr/>
          </p:nvSpPr>
          <p:spPr bwMode="auto">
            <a:xfrm>
              <a:off x="3885" y="2405"/>
              <a:ext cx="287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09" name="Oval 18"/>
            <p:cNvSpPr>
              <a:spLocks noChangeArrowheads="1"/>
            </p:cNvSpPr>
            <p:nvPr/>
          </p:nvSpPr>
          <p:spPr bwMode="auto">
            <a:xfrm>
              <a:off x="1008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</a:t>
              </a:r>
            </a:p>
          </p:txBody>
        </p:sp>
        <p:sp>
          <p:nvSpPr>
            <p:cNvPr id="21510" name="Oval 19"/>
            <p:cNvSpPr>
              <a:spLocks noChangeArrowheads="1"/>
            </p:cNvSpPr>
            <p:nvPr/>
          </p:nvSpPr>
          <p:spPr bwMode="auto">
            <a:xfrm>
              <a:off x="1632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9</a:t>
              </a:r>
            </a:p>
          </p:txBody>
        </p:sp>
        <p:sp>
          <p:nvSpPr>
            <p:cNvPr id="21511" name="Oval 20"/>
            <p:cNvSpPr>
              <a:spLocks noChangeArrowheads="1"/>
            </p:cNvSpPr>
            <p:nvPr/>
          </p:nvSpPr>
          <p:spPr bwMode="auto">
            <a:xfrm>
              <a:off x="2016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10</a:t>
              </a:r>
            </a:p>
          </p:txBody>
        </p:sp>
        <p:sp>
          <p:nvSpPr>
            <p:cNvPr id="21512" name="Oval 21"/>
            <p:cNvSpPr>
              <a:spLocks noChangeArrowheads="1"/>
            </p:cNvSpPr>
            <p:nvPr/>
          </p:nvSpPr>
          <p:spPr bwMode="auto">
            <a:xfrm>
              <a:off x="2592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513" name="Oval 22"/>
            <p:cNvSpPr>
              <a:spLocks noChangeArrowheads="1"/>
            </p:cNvSpPr>
            <p:nvPr/>
          </p:nvSpPr>
          <p:spPr bwMode="auto">
            <a:xfrm>
              <a:off x="2976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12</a:t>
              </a:r>
            </a:p>
          </p:txBody>
        </p:sp>
        <p:sp>
          <p:nvSpPr>
            <p:cNvPr id="21514" name="Oval 23"/>
            <p:cNvSpPr>
              <a:spLocks noChangeArrowheads="1"/>
            </p:cNvSpPr>
            <p:nvPr/>
          </p:nvSpPr>
          <p:spPr bwMode="auto">
            <a:xfrm>
              <a:off x="3456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13</a:t>
              </a:r>
            </a:p>
          </p:txBody>
        </p:sp>
        <p:sp>
          <p:nvSpPr>
            <p:cNvPr id="21515" name="Oval 24"/>
            <p:cNvSpPr>
              <a:spLocks noChangeArrowheads="1"/>
            </p:cNvSpPr>
            <p:nvPr/>
          </p:nvSpPr>
          <p:spPr bwMode="auto">
            <a:xfrm>
              <a:off x="3791" y="3120"/>
              <a:ext cx="287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14</a:t>
              </a:r>
            </a:p>
          </p:txBody>
        </p:sp>
        <p:sp>
          <p:nvSpPr>
            <p:cNvPr id="21516" name="Line 26"/>
            <p:cNvSpPr>
              <a:spLocks noChangeShapeType="1"/>
            </p:cNvSpPr>
            <p:nvPr/>
          </p:nvSpPr>
          <p:spPr bwMode="auto">
            <a:xfrm flipH="1">
              <a:off x="1185" y="2832"/>
              <a:ext cx="242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17" name="Line 27"/>
            <p:cNvSpPr>
              <a:spLocks noChangeShapeType="1"/>
            </p:cNvSpPr>
            <p:nvPr/>
          </p:nvSpPr>
          <p:spPr bwMode="auto">
            <a:xfrm>
              <a:off x="1648" y="2832"/>
              <a:ext cx="144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18" name="Line 28"/>
            <p:cNvSpPr>
              <a:spLocks noChangeShapeType="1"/>
            </p:cNvSpPr>
            <p:nvPr/>
          </p:nvSpPr>
          <p:spPr bwMode="auto">
            <a:xfrm flipH="1">
              <a:off x="2146" y="2832"/>
              <a:ext cx="192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19" name="Line 29"/>
            <p:cNvSpPr>
              <a:spLocks noChangeShapeType="1"/>
            </p:cNvSpPr>
            <p:nvPr/>
          </p:nvSpPr>
          <p:spPr bwMode="auto">
            <a:xfrm>
              <a:off x="2565" y="2832"/>
              <a:ext cx="193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20" name="Line 30"/>
            <p:cNvSpPr>
              <a:spLocks noChangeShapeType="1"/>
            </p:cNvSpPr>
            <p:nvPr/>
          </p:nvSpPr>
          <p:spPr bwMode="auto">
            <a:xfrm flipH="1">
              <a:off x="3108" y="2832"/>
              <a:ext cx="144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21" name="Line 31"/>
            <p:cNvSpPr>
              <a:spLocks noChangeShapeType="1"/>
            </p:cNvSpPr>
            <p:nvPr/>
          </p:nvSpPr>
          <p:spPr bwMode="auto">
            <a:xfrm>
              <a:off x="3458" y="2856"/>
              <a:ext cx="142" cy="26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22" name="Line 32"/>
            <p:cNvSpPr>
              <a:spLocks noChangeShapeType="1"/>
            </p:cNvSpPr>
            <p:nvPr/>
          </p:nvSpPr>
          <p:spPr bwMode="auto">
            <a:xfrm flipH="1">
              <a:off x="3921" y="2856"/>
              <a:ext cx="208" cy="26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</p:grpSp>
      <p:grpSp>
        <p:nvGrpSpPr>
          <p:cNvPr id="21523" name="Group 34"/>
          <p:cNvGrpSpPr/>
          <p:nvPr/>
        </p:nvGrpSpPr>
        <p:grpSpPr>
          <a:xfrm>
            <a:off x="4619625" y="2211388"/>
            <a:ext cx="4344988" cy="2460625"/>
            <a:chOff x="1008" y="1872"/>
            <a:chExt cx="3360" cy="1488"/>
          </a:xfrm>
        </p:grpSpPr>
        <p:sp>
          <p:nvSpPr>
            <p:cNvPr id="21524" name="Oval 4"/>
            <p:cNvSpPr>
              <a:spLocks noChangeArrowheads="1"/>
            </p:cNvSpPr>
            <p:nvPr/>
          </p:nvSpPr>
          <p:spPr bwMode="auto">
            <a:xfrm>
              <a:off x="2689" y="1872"/>
              <a:ext cx="287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21525" name="Oval 5"/>
            <p:cNvSpPr>
              <a:spLocks noChangeArrowheads="1"/>
            </p:cNvSpPr>
            <p:nvPr/>
          </p:nvSpPr>
          <p:spPr bwMode="auto">
            <a:xfrm>
              <a:off x="1920" y="2208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21526" name="Oval 6"/>
            <p:cNvSpPr>
              <a:spLocks noChangeArrowheads="1"/>
            </p:cNvSpPr>
            <p:nvPr/>
          </p:nvSpPr>
          <p:spPr bwMode="auto">
            <a:xfrm>
              <a:off x="3600" y="2256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21527" name="Oval 7"/>
            <p:cNvSpPr>
              <a:spLocks noChangeArrowheads="1"/>
            </p:cNvSpPr>
            <p:nvPr/>
          </p:nvSpPr>
          <p:spPr bwMode="auto">
            <a:xfrm>
              <a:off x="1392" y="2640"/>
              <a:ext cx="287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4</a:t>
              </a:r>
            </a:p>
          </p:txBody>
        </p:sp>
        <p:sp>
          <p:nvSpPr>
            <p:cNvPr id="21528" name="Oval 8"/>
            <p:cNvSpPr>
              <a:spLocks noChangeArrowheads="1"/>
            </p:cNvSpPr>
            <p:nvPr/>
          </p:nvSpPr>
          <p:spPr bwMode="auto">
            <a:xfrm>
              <a:off x="2304" y="2640"/>
              <a:ext cx="286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21529" name="Oval 9"/>
            <p:cNvSpPr>
              <a:spLocks noChangeArrowheads="1"/>
            </p:cNvSpPr>
            <p:nvPr/>
          </p:nvSpPr>
          <p:spPr bwMode="auto">
            <a:xfrm>
              <a:off x="3216" y="2640"/>
              <a:ext cx="286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21530" name="Oval 10"/>
            <p:cNvSpPr>
              <a:spLocks noChangeArrowheads="1"/>
            </p:cNvSpPr>
            <p:nvPr/>
          </p:nvSpPr>
          <p:spPr bwMode="auto">
            <a:xfrm>
              <a:off x="4080" y="264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21531" name="Line 11"/>
            <p:cNvSpPr>
              <a:spLocks noChangeShapeType="1"/>
            </p:cNvSpPr>
            <p:nvPr/>
          </p:nvSpPr>
          <p:spPr bwMode="auto">
            <a:xfrm flipH="1">
              <a:off x="2160" y="1998"/>
              <a:ext cx="529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2" name="Line 12"/>
            <p:cNvSpPr>
              <a:spLocks noChangeShapeType="1"/>
            </p:cNvSpPr>
            <p:nvPr/>
          </p:nvSpPr>
          <p:spPr bwMode="auto">
            <a:xfrm>
              <a:off x="2976" y="2016"/>
              <a:ext cx="624" cy="33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3" name="Line 13"/>
            <p:cNvSpPr>
              <a:spLocks noChangeShapeType="1"/>
            </p:cNvSpPr>
            <p:nvPr/>
          </p:nvSpPr>
          <p:spPr bwMode="auto">
            <a:xfrm flipH="1">
              <a:off x="1590" y="2360"/>
              <a:ext cx="336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4" name="Line 14"/>
            <p:cNvSpPr>
              <a:spLocks noChangeShapeType="1"/>
            </p:cNvSpPr>
            <p:nvPr/>
          </p:nvSpPr>
          <p:spPr bwMode="auto">
            <a:xfrm>
              <a:off x="2175" y="2400"/>
              <a:ext cx="237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5" name="Line 15"/>
            <p:cNvSpPr>
              <a:spLocks noChangeShapeType="1"/>
            </p:cNvSpPr>
            <p:nvPr/>
          </p:nvSpPr>
          <p:spPr bwMode="auto">
            <a:xfrm flipH="1">
              <a:off x="3407" y="2405"/>
              <a:ext cx="193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6" name="Line 16"/>
            <p:cNvSpPr>
              <a:spLocks noChangeShapeType="1"/>
            </p:cNvSpPr>
            <p:nvPr/>
          </p:nvSpPr>
          <p:spPr bwMode="auto">
            <a:xfrm>
              <a:off x="3886" y="2405"/>
              <a:ext cx="288" cy="24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37" name="Oval 18"/>
            <p:cNvSpPr>
              <a:spLocks noChangeArrowheads="1"/>
            </p:cNvSpPr>
            <p:nvPr/>
          </p:nvSpPr>
          <p:spPr bwMode="auto">
            <a:xfrm>
              <a:off x="1008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</a:t>
              </a:r>
            </a:p>
          </p:txBody>
        </p:sp>
        <p:sp>
          <p:nvSpPr>
            <p:cNvPr id="21538" name="Oval 19"/>
            <p:cNvSpPr>
              <a:spLocks noChangeArrowheads="1"/>
            </p:cNvSpPr>
            <p:nvPr/>
          </p:nvSpPr>
          <p:spPr bwMode="auto">
            <a:xfrm>
              <a:off x="1632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9</a:t>
              </a:r>
            </a:p>
          </p:txBody>
        </p:sp>
        <p:sp>
          <p:nvSpPr>
            <p:cNvPr id="21539" name="Oval 20"/>
            <p:cNvSpPr>
              <a:spLocks noChangeArrowheads="1"/>
            </p:cNvSpPr>
            <p:nvPr/>
          </p:nvSpPr>
          <p:spPr bwMode="auto">
            <a:xfrm>
              <a:off x="2016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10</a:t>
              </a:r>
            </a:p>
          </p:txBody>
        </p:sp>
        <p:sp>
          <p:nvSpPr>
            <p:cNvPr id="21540" name="Oval 21"/>
            <p:cNvSpPr>
              <a:spLocks noChangeArrowheads="1"/>
            </p:cNvSpPr>
            <p:nvPr/>
          </p:nvSpPr>
          <p:spPr bwMode="auto">
            <a:xfrm>
              <a:off x="2592" y="3120"/>
              <a:ext cx="288" cy="240"/>
            </a:xfrm>
            <a:prstGeom prst="ellipse">
              <a:avLst/>
            </a:prstGeom>
            <a:solidFill>
              <a:srgbClr val="4472C4"/>
            </a:solidFill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541" name="Line 26"/>
            <p:cNvSpPr>
              <a:spLocks noChangeShapeType="1"/>
            </p:cNvSpPr>
            <p:nvPr/>
          </p:nvSpPr>
          <p:spPr bwMode="auto">
            <a:xfrm flipH="1">
              <a:off x="1185" y="2832"/>
              <a:ext cx="241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42" name="Line 27"/>
            <p:cNvSpPr>
              <a:spLocks noChangeShapeType="1"/>
            </p:cNvSpPr>
            <p:nvPr/>
          </p:nvSpPr>
          <p:spPr bwMode="auto">
            <a:xfrm>
              <a:off x="1648" y="2832"/>
              <a:ext cx="145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43" name="Line 28"/>
            <p:cNvSpPr>
              <a:spLocks noChangeShapeType="1"/>
            </p:cNvSpPr>
            <p:nvPr/>
          </p:nvSpPr>
          <p:spPr bwMode="auto">
            <a:xfrm flipH="1">
              <a:off x="2146" y="2832"/>
              <a:ext cx="192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44" name="Line 29"/>
            <p:cNvSpPr>
              <a:spLocks noChangeShapeType="1"/>
            </p:cNvSpPr>
            <p:nvPr/>
          </p:nvSpPr>
          <p:spPr bwMode="auto">
            <a:xfrm>
              <a:off x="2563" y="2832"/>
              <a:ext cx="193" cy="2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二叉树的存储结构</a:t>
            </a:r>
          </a:p>
        </p:txBody>
      </p:sp>
      <p:pic>
        <p:nvPicPr>
          <p:cNvPr id="3789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987425"/>
            <a:ext cx="6502400" cy="2438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二叉树的顺序存储</a:t>
            </a:r>
          </a:p>
        </p:txBody>
      </p:sp>
      <p:grpSp>
        <p:nvGrpSpPr>
          <p:cNvPr id="21520" name="组合 21519"/>
          <p:cNvGrpSpPr/>
          <p:nvPr/>
        </p:nvGrpSpPr>
        <p:grpSpPr>
          <a:xfrm>
            <a:off x="28575" y="1212850"/>
            <a:ext cx="4613275" cy="2257425"/>
            <a:chOff x="246062" y="990600"/>
            <a:chExt cx="5004246" cy="2829063"/>
          </a:xfrm>
        </p:grpSpPr>
        <p:sp>
          <p:nvSpPr>
            <p:cNvPr id="21521" name="Oval 4"/>
            <p:cNvSpPr>
              <a:spLocks noChangeArrowheads="1"/>
            </p:cNvSpPr>
            <p:nvPr/>
          </p:nvSpPr>
          <p:spPr bwMode="auto">
            <a:xfrm>
              <a:off x="2529486" y="990600"/>
              <a:ext cx="390903" cy="455595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21522" name="Oval 5"/>
            <p:cNvSpPr>
              <a:spLocks noChangeArrowheads="1"/>
            </p:cNvSpPr>
            <p:nvPr/>
          </p:nvSpPr>
          <p:spPr bwMode="auto">
            <a:xfrm>
              <a:off x="1485930" y="1629229"/>
              <a:ext cx="390903" cy="455594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21523" name="Oval 6"/>
            <p:cNvSpPr>
              <a:spLocks noChangeArrowheads="1"/>
            </p:cNvSpPr>
            <p:nvPr/>
          </p:nvSpPr>
          <p:spPr bwMode="auto">
            <a:xfrm>
              <a:off x="3765910" y="1627239"/>
              <a:ext cx="390903" cy="45559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21524" name="Oval 7"/>
            <p:cNvSpPr>
              <a:spLocks noChangeArrowheads="1"/>
            </p:cNvSpPr>
            <p:nvPr/>
          </p:nvSpPr>
          <p:spPr bwMode="auto">
            <a:xfrm>
              <a:off x="767840" y="2450890"/>
              <a:ext cx="390902" cy="45559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</a:p>
          </p:txBody>
        </p:sp>
        <p:sp>
          <p:nvSpPr>
            <p:cNvPr id="21525" name="Oval 8"/>
            <p:cNvSpPr>
              <a:spLocks noChangeArrowheads="1"/>
            </p:cNvSpPr>
            <p:nvPr/>
          </p:nvSpPr>
          <p:spPr bwMode="auto">
            <a:xfrm>
              <a:off x="2007709" y="2450890"/>
              <a:ext cx="390902" cy="45559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21526" name="Oval 9"/>
            <p:cNvSpPr>
              <a:spLocks noChangeArrowheads="1"/>
            </p:cNvSpPr>
            <p:nvPr/>
          </p:nvSpPr>
          <p:spPr bwMode="auto">
            <a:xfrm>
              <a:off x="3247577" y="2450890"/>
              <a:ext cx="390902" cy="45559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21527" name="Oval 10"/>
            <p:cNvSpPr>
              <a:spLocks noChangeArrowheads="1"/>
            </p:cNvSpPr>
            <p:nvPr/>
          </p:nvSpPr>
          <p:spPr bwMode="auto">
            <a:xfrm>
              <a:off x="4422008" y="2450890"/>
              <a:ext cx="390902" cy="45559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21528" name="Line 11"/>
            <p:cNvSpPr>
              <a:spLocks noChangeShapeType="1"/>
            </p:cNvSpPr>
            <p:nvPr/>
          </p:nvSpPr>
          <p:spPr bwMode="auto">
            <a:xfrm flipH="1">
              <a:off x="1811396" y="1229339"/>
              <a:ext cx="718090" cy="457584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9" name="Line 12"/>
            <p:cNvSpPr>
              <a:spLocks noChangeShapeType="1"/>
            </p:cNvSpPr>
            <p:nvPr/>
          </p:nvSpPr>
          <p:spPr bwMode="auto">
            <a:xfrm>
              <a:off x="2918667" y="1215414"/>
              <a:ext cx="910959" cy="471510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0" name="Line 13"/>
            <p:cNvSpPr>
              <a:spLocks noChangeShapeType="1"/>
            </p:cNvSpPr>
            <p:nvPr/>
          </p:nvSpPr>
          <p:spPr bwMode="auto">
            <a:xfrm flipH="1">
              <a:off x="1036479" y="1995296"/>
              <a:ext cx="468395" cy="471510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1" name="Line 14"/>
            <p:cNvSpPr>
              <a:spLocks noChangeShapeType="1"/>
            </p:cNvSpPr>
            <p:nvPr/>
          </p:nvSpPr>
          <p:spPr bwMode="auto">
            <a:xfrm>
              <a:off x="1832061" y="1995296"/>
              <a:ext cx="325465" cy="455594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2" name="Line 15"/>
            <p:cNvSpPr>
              <a:spLocks noChangeShapeType="1"/>
            </p:cNvSpPr>
            <p:nvPr/>
          </p:nvSpPr>
          <p:spPr bwMode="auto">
            <a:xfrm flipH="1">
              <a:off x="3505883" y="2003254"/>
              <a:ext cx="323743" cy="457584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3" name="Line 16"/>
            <p:cNvSpPr>
              <a:spLocks noChangeShapeType="1"/>
            </p:cNvSpPr>
            <p:nvPr/>
          </p:nvSpPr>
          <p:spPr bwMode="auto">
            <a:xfrm>
              <a:off x="4156814" y="2003254"/>
              <a:ext cx="392625" cy="457584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4" name="Oval 18"/>
            <p:cNvSpPr>
              <a:spLocks noChangeArrowheads="1"/>
            </p:cNvSpPr>
            <p:nvPr/>
          </p:nvSpPr>
          <p:spPr bwMode="auto">
            <a:xfrm>
              <a:off x="246062" y="3364069"/>
              <a:ext cx="390903" cy="455594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</a:t>
              </a:r>
            </a:p>
          </p:txBody>
        </p:sp>
        <p:sp>
          <p:nvSpPr>
            <p:cNvPr id="21535" name="Oval 19"/>
            <p:cNvSpPr>
              <a:spLocks noChangeArrowheads="1"/>
            </p:cNvSpPr>
            <p:nvPr/>
          </p:nvSpPr>
          <p:spPr bwMode="auto">
            <a:xfrm>
              <a:off x="1095028" y="3364069"/>
              <a:ext cx="390902" cy="455594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9</a:t>
              </a:r>
            </a:p>
          </p:txBody>
        </p:sp>
        <p:sp>
          <p:nvSpPr>
            <p:cNvPr id="21536" name="Oval 20"/>
            <p:cNvSpPr>
              <a:spLocks noChangeArrowheads="1"/>
            </p:cNvSpPr>
            <p:nvPr/>
          </p:nvSpPr>
          <p:spPr bwMode="auto">
            <a:xfrm>
              <a:off x="1616805" y="3364069"/>
              <a:ext cx="390903" cy="455594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</a:t>
              </a:r>
            </a:p>
          </p:txBody>
        </p:sp>
        <p:sp>
          <p:nvSpPr>
            <p:cNvPr id="21537" name="Oval 21"/>
            <p:cNvSpPr>
              <a:spLocks noChangeArrowheads="1"/>
            </p:cNvSpPr>
            <p:nvPr/>
          </p:nvSpPr>
          <p:spPr bwMode="auto">
            <a:xfrm>
              <a:off x="2398611" y="3364069"/>
              <a:ext cx="392625" cy="455594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538" name="Oval 22"/>
            <p:cNvSpPr>
              <a:spLocks noChangeArrowheads="1"/>
            </p:cNvSpPr>
            <p:nvPr/>
          </p:nvSpPr>
          <p:spPr bwMode="auto">
            <a:xfrm>
              <a:off x="2920389" y="3364069"/>
              <a:ext cx="392625" cy="455594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12</a:t>
              </a:r>
            </a:p>
          </p:txBody>
        </p:sp>
        <p:sp>
          <p:nvSpPr>
            <p:cNvPr id="21539" name="Oval 23"/>
            <p:cNvSpPr>
              <a:spLocks noChangeArrowheads="1"/>
            </p:cNvSpPr>
            <p:nvPr/>
          </p:nvSpPr>
          <p:spPr bwMode="auto">
            <a:xfrm>
              <a:off x="3573042" y="3364069"/>
              <a:ext cx="390903" cy="455594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rgbClr val="70AD47"/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13</a:t>
              </a:r>
            </a:p>
          </p:txBody>
        </p:sp>
        <p:sp>
          <p:nvSpPr>
            <p:cNvPr id="21540" name="Oval 24"/>
            <p:cNvSpPr>
              <a:spLocks noChangeArrowheads="1"/>
            </p:cNvSpPr>
            <p:nvPr/>
          </p:nvSpPr>
          <p:spPr bwMode="auto">
            <a:xfrm>
              <a:off x="4029383" y="3364069"/>
              <a:ext cx="392625" cy="455594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rgbClr val="70AD47"/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14</a:t>
              </a:r>
            </a:p>
          </p:txBody>
        </p:sp>
        <p:sp>
          <p:nvSpPr>
            <p:cNvPr id="21541" name="Line 26"/>
            <p:cNvSpPr>
              <a:spLocks noChangeShapeType="1"/>
            </p:cNvSpPr>
            <p:nvPr/>
          </p:nvSpPr>
          <p:spPr bwMode="auto">
            <a:xfrm flipH="1">
              <a:off x="487147" y="2814968"/>
              <a:ext cx="325466" cy="549101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2" name="Line 27"/>
            <p:cNvSpPr>
              <a:spLocks noChangeShapeType="1"/>
            </p:cNvSpPr>
            <p:nvPr/>
          </p:nvSpPr>
          <p:spPr bwMode="auto">
            <a:xfrm>
              <a:off x="1115692" y="2814968"/>
              <a:ext cx="196312" cy="549101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3" name="Line 28"/>
            <p:cNvSpPr>
              <a:spLocks noChangeShapeType="1"/>
            </p:cNvSpPr>
            <p:nvPr/>
          </p:nvSpPr>
          <p:spPr bwMode="auto">
            <a:xfrm flipH="1">
              <a:off x="1792453" y="2814968"/>
              <a:ext cx="261750" cy="549101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4" name="Line 29"/>
            <p:cNvSpPr>
              <a:spLocks noChangeShapeType="1"/>
            </p:cNvSpPr>
            <p:nvPr/>
          </p:nvSpPr>
          <p:spPr bwMode="auto">
            <a:xfrm>
              <a:off x="2360726" y="2814968"/>
              <a:ext cx="261750" cy="549101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5" name="Line 30"/>
            <p:cNvSpPr>
              <a:spLocks noChangeShapeType="1"/>
            </p:cNvSpPr>
            <p:nvPr/>
          </p:nvSpPr>
          <p:spPr bwMode="auto">
            <a:xfrm flipH="1">
              <a:off x="3099482" y="2814968"/>
              <a:ext cx="196312" cy="549101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6" name="Line 31"/>
            <p:cNvSpPr>
              <a:spLocks noChangeShapeType="1"/>
            </p:cNvSpPr>
            <p:nvPr/>
          </p:nvSpPr>
          <p:spPr bwMode="auto">
            <a:xfrm>
              <a:off x="3576486" y="2860726"/>
              <a:ext cx="192868" cy="503343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7" name="Line 32"/>
            <p:cNvSpPr>
              <a:spLocks noChangeShapeType="1"/>
            </p:cNvSpPr>
            <p:nvPr/>
          </p:nvSpPr>
          <p:spPr bwMode="auto">
            <a:xfrm flipH="1">
              <a:off x="4291133" y="2862716"/>
              <a:ext cx="225587" cy="501353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8" name="Oval 24"/>
            <p:cNvSpPr>
              <a:spLocks noChangeArrowheads="1"/>
            </p:cNvSpPr>
            <p:nvPr/>
          </p:nvSpPr>
          <p:spPr bwMode="auto">
            <a:xfrm>
              <a:off x="4859406" y="3364069"/>
              <a:ext cx="390902" cy="455594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rgbClr val="70AD47"/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15</a:t>
              </a:r>
            </a:p>
          </p:txBody>
        </p:sp>
        <p:sp>
          <p:nvSpPr>
            <p:cNvPr id="21549" name="Line 31"/>
            <p:cNvSpPr>
              <a:spLocks noChangeShapeType="1"/>
            </p:cNvSpPr>
            <p:nvPr/>
          </p:nvSpPr>
          <p:spPr bwMode="auto">
            <a:xfrm>
              <a:off x="4745751" y="2838842"/>
              <a:ext cx="225587" cy="525227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1575" name="文本框 21574"/>
          <p:cNvSpPr txBox="1">
            <a:spLocks noChangeArrowheads="1"/>
          </p:cNvSpPr>
          <p:nvPr/>
        </p:nvSpPr>
        <p:spPr bwMode="auto">
          <a:xfrm>
            <a:off x="4595813" y="534988"/>
            <a:ext cx="4386263" cy="23082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solidFill>
                  <a:srgbClr val="859900"/>
                </a:solidFill>
                <a:latin typeface="Menlo" panose="020B0609030804020204"/>
              </a:rPr>
              <a:t>#define</a:t>
            </a:r>
            <a:r>
              <a:rPr lang="zh-CN" altLang="zh-CN" sz="1800">
                <a:solidFill>
                  <a:srgbClr val="B58900"/>
                </a:solidFill>
                <a:latin typeface="Menlo" panose="020B0609030804020204"/>
              </a:rPr>
              <a:t> </a:t>
            </a:r>
            <a:r>
              <a:rPr lang="zh-CN" altLang="zh-CN" sz="1800">
                <a:solidFill>
                  <a:srgbClr val="268BD2"/>
                </a:solidFill>
                <a:latin typeface="Menlo" panose="020B0609030804020204"/>
              </a:rPr>
              <a:t>MaxSize</a:t>
            </a:r>
            <a:r>
              <a:rPr lang="zh-CN" altLang="zh-CN" sz="1800">
                <a:solidFill>
                  <a:srgbClr val="B58900"/>
                </a:solidFill>
                <a:latin typeface="Menlo" panose="020B0609030804020204"/>
              </a:rPr>
              <a:t> </a:t>
            </a:r>
            <a:r>
              <a:rPr lang="zh-CN" altLang="zh-CN" sz="1800">
                <a:solidFill>
                  <a:srgbClr val="D33682"/>
                </a:solidFill>
                <a:latin typeface="Menlo" panose="020B0609030804020204"/>
              </a:rPr>
              <a:t>100</a:t>
            </a:r>
            <a:endParaRPr lang="zh-CN" altLang="zh-CN" sz="1800">
              <a:solidFill>
                <a:srgbClr val="333333"/>
              </a:solidFill>
              <a:latin typeface="Menlo" panose="020B0609030804020204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solidFill>
                  <a:srgbClr val="073642"/>
                </a:solidFill>
                <a:latin typeface="Menlo" panose="020B0609030804020204"/>
              </a:rPr>
              <a:t>struct</a:t>
            </a: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 </a:t>
            </a:r>
            <a:r>
              <a:rPr lang="zh-CN" altLang="zh-CN" sz="1800">
                <a:solidFill>
                  <a:srgbClr val="268BD2"/>
                </a:solidFill>
                <a:latin typeface="Menlo" panose="020B0609030804020204"/>
              </a:rPr>
              <a:t>TreeNode</a:t>
            </a: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{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	ElemType </a:t>
            </a:r>
            <a:r>
              <a:rPr lang="zh-CN" altLang="zh-CN" sz="1800">
                <a:solidFill>
                  <a:srgbClr val="268BD2"/>
                </a:solidFill>
                <a:latin typeface="Menlo" panose="020B0609030804020204"/>
              </a:rPr>
              <a:t>value</a:t>
            </a: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;</a:t>
            </a:r>
            <a:r>
              <a:rPr lang="zh-CN" altLang="zh-CN" sz="1800">
                <a:solidFill>
                  <a:srgbClr val="93A1A1"/>
                </a:solidFill>
                <a:latin typeface="Menlo" panose="020B0609030804020204"/>
              </a:rPr>
              <a:t>//</a:t>
            </a:r>
            <a:r>
              <a:rPr lang="zh-CN" altLang="en-US" sz="1800">
                <a:solidFill>
                  <a:srgbClr val="93A1A1"/>
                </a:solidFill>
                <a:latin typeface="Menlo" panose="020B0609030804020204"/>
              </a:rPr>
              <a:t>结点中的数据元素</a:t>
            </a:r>
            <a:endParaRPr lang="zh-CN" altLang="en-US" sz="1800">
              <a:solidFill>
                <a:srgbClr val="333333"/>
              </a:solidFill>
              <a:latin typeface="Menlo" panose="020B0609030804020204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solidFill>
                  <a:srgbClr val="073642"/>
                </a:solidFill>
                <a:latin typeface="Menlo" panose="020B0609030804020204"/>
              </a:rPr>
              <a:t>	bool</a:t>
            </a: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 </a:t>
            </a:r>
            <a:r>
              <a:rPr lang="zh-CN" altLang="zh-CN" sz="1800">
                <a:solidFill>
                  <a:srgbClr val="268BD2"/>
                </a:solidFill>
                <a:latin typeface="Menlo" panose="020B0609030804020204"/>
              </a:rPr>
              <a:t>isEmpty</a:t>
            </a: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; 	</a:t>
            </a:r>
            <a:r>
              <a:rPr lang="zh-CN" altLang="zh-CN" sz="1800">
                <a:solidFill>
                  <a:srgbClr val="93A1A1"/>
                </a:solidFill>
                <a:latin typeface="Menlo" panose="020B0609030804020204"/>
              </a:rPr>
              <a:t>//</a:t>
            </a:r>
            <a:r>
              <a:rPr lang="zh-CN" altLang="en-US" sz="1800">
                <a:solidFill>
                  <a:srgbClr val="93A1A1"/>
                </a:solidFill>
                <a:latin typeface="Menlo" panose="020B0609030804020204"/>
              </a:rPr>
              <a:t>结点是否为空</a:t>
            </a:r>
            <a:endParaRPr lang="zh-CN" altLang="en-US" sz="1800">
              <a:solidFill>
                <a:srgbClr val="333333"/>
              </a:solidFill>
              <a:latin typeface="Menlo" panose="020B0609030804020204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Menlo" panose="020B0609030804020204"/>
              </a:rPr>
              <a:t>};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TreeNode </a:t>
            </a:r>
            <a:r>
              <a:rPr lang="zh-CN" altLang="zh-CN" sz="1800">
                <a:solidFill>
                  <a:srgbClr val="268BD2"/>
                </a:solidFill>
                <a:latin typeface="Menlo" panose="020B0609030804020204"/>
              </a:rPr>
              <a:t>t</a:t>
            </a: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[</a:t>
            </a:r>
            <a:r>
              <a:rPr lang="zh-CN" altLang="zh-CN" sz="1800">
                <a:solidFill>
                  <a:srgbClr val="268BD2"/>
                </a:solidFill>
                <a:latin typeface="Menlo" panose="020B0609030804020204"/>
              </a:rPr>
              <a:t>MaxSize</a:t>
            </a:r>
            <a:r>
              <a:rPr lang="zh-CN" altLang="zh-CN" sz="1800">
                <a:solidFill>
                  <a:srgbClr val="333333"/>
                </a:solidFill>
                <a:latin typeface="Menlo" panose="020B0609030804020204"/>
              </a:rPr>
              <a:t>];</a:t>
            </a:r>
          </a:p>
        </p:txBody>
      </p:sp>
      <p:sp>
        <p:nvSpPr>
          <p:cNvPr id="21581" name="文本框 21580"/>
          <p:cNvSpPr txBox="1"/>
          <p:nvPr/>
        </p:nvSpPr>
        <p:spPr>
          <a:xfrm>
            <a:off x="4756347" y="2948184"/>
            <a:ext cx="4305117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rPr>
              <a:t>定义一个长度为</a:t>
            </a:r>
            <a:r>
              <a:rPr kumimoji="1" lang="en-US" altLang="zh-CN" kern="1200" cap="none" spc="0" normalizeH="0" baseline="0" noProof="0" dirty="0" err="1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rPr>
              <a:t>MaxSize</a:t>
            </a:r>
            <a:r>
              <a:rPr kumimoji="1" lang="zh-CN" altLang="en-US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rPr>
              <a:t>的数组</a:t>
            </a:r>
            <a:r>
              <a:rPr kumimoji="1" lang="en-US" altLang="zh-CN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rPr>
              <a:t>t</a:t>
            </a:r>
            <a:r>
              <a:rPr kumimoji="1" lang="zh-CN" altLang="en-US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rPr>
              <a:t>，按照从上至下、从左至右的顺序依次存储</a:t>
            </a:r>
            <a:r>
              <a:rPr kumimoji="1" lang="zh-CN" altLang="en-US" kern="1200" cap="none" spc="0" normalizeH="0" baseline="0" noProof="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  <a:ea typeface="Microsoft YaHei" panose="020B0503020204020204" pitchFamily="34" charset="-122"/>
                <a:cs typeface="+mn-cs"/>
              </a:rPr>
              <a:t>完全二叉树</a:t>
            </a:r>
            <a:r>
              <a:rPr kumimoji="1" lang="zh-CN" altLang="en-US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rPr>
              <a:t>中的各个结点</a:t>
            </a:r>
          </a:p>
        </p:txBody>
      </p:sp>
      <p:grpSp>
        <p:nvGrpSpPr>
          <p:cNvPr id="21667" name="组合 21666"/>
          <p:cNvGrpSpPr/>
          <p:nvPr/>
        </p:nvGrpSpPr>
        <p:grpSpPr>
          <a:xfrm>
            <a:off x="234950" y="3957638"/>
            <a:ext cx="8705850" cy="530225"/>
            <a:chOff x="876300" y="4603141"/>
            <a:chExt cx="8707109" cy="531341"/>
          </a:xfrm>
        </p:grpSpPr>
        <p:sp>
          <p:nvSpPr>
            <p:cNvPr id="21668" name="矩形 21667"/>
            <p:cNvSpPr/>
            <p:nvPr/>
          </p:nvSpPr>
          <p:spPr>
            <a:xfrm>
              <a:off x="876300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69" name="矩形 21668"/>
            <p:cNvSpPr/>
            <p:nvPr/>
          </p:nvSpPr>
          <p:spPr>
            <a:xfrm>
              <a:off x="1311338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0" name="矩形 21669"/>
            <p:cNvSpPr/>
            <p:nvPr/>
          </p:nvSpPr>
          <p:spPr>
            <a:xfrm>
              <a:off x="1747964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1" name="矩形 21670"/>
            <p:cNvSpPr/>
            <p:nvPr/>
          </p:nvSpPr>
          <p:spPr>
            <a:xfrm>
              <a:off x="2186177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2" name="矩形 21671"/>
            <p:cNvSpPr/>
            <p:nvPr/>
          </p:nvSpPr>
          <p:spPr>
            <a:xfrm>
              <a:off x="2621215" y="4604731"/>
              <a:ext cx="411221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3" name="矩形 21672"/>
            <p:cNvSpPr/>
            <p:nvPr/>
          </p:nvSpPr>
          <p:spPr>
            <a:xfrm>
              <a:off x="3059429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4" name="矩形 21673"/>
            <p:cNvSpPr/>
            <p:nvPr/>
          </p:nvSpPr>
          <p:spPr>
            <a:xfrm>
              <a:off x="3492878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5" name="矩形 21674"/>
            <p:cNvSpPr/>
            <p:nvPr/>
          </p:nvSpPr>
          <p:spPr>
            <a:xfrm>
              <a:off x="3927916" y="4603141"/>
              <a:ext cx="411222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6" name="矩形 21675"/>
            <p:cNvSpPr/>
            <p:nvPr/>
          </p:nvSpPr>
          <p:spPr>
            <a:xfrm>
              <a:off x="4366130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7" name="矩形 21676"/>
            <p:cNvSpPr/>
            <p:nvPr/>
          </p:nvSpPr>
          <p:spPr>
            <a:xfrm>
              <a:off x="4804343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8" name="矩形 21677"/>
            <p:cNvSpPr/>
            <p:nvPr/>
          </p:nvSpPr>
          <p:spPr>
            <a:xfrm>
              <a:off x="5239381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79" name="矩形 21678"/>
            <p:cNvSpPr/>
            <p:nvPr/>
          </p:nvSpPr>
          <p:spPr>
            <a:xfrm>
              <a:off x="5676007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0" name="矩形 21679"/>
            <p:cNvSpPr/>
            <p:nvPr/>
          </p:nvSpPr>
          <p:spPr>
            <a:xfrm>
              <a:off x="6107869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1" name="矩形 21680"/>
            <p:cNvSpPr/>
            <p:nvPr/>
          </p:nvSpPr>
          <p:spPr>
            <a:xfrm>
              <a:off x="6557196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2" name="矩形 21681"/>
            <p:cNvSpPr/>
            <p:nvPr/>
          </p:nvSpPr>
          <p:spPr>
            <a:xfrm>
              <a:off x="6993823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3" name="矩形 21682"/>
            <p:cNvSpPr/>
            <p:nvPr/>
          </p:nvSpPr>
          <p:spPr>
            <a:xfrm>
              <a:off x="7432036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4" name="矩形 21683"/>
            <p:cNvSpPr/>
            <p:nvPr/>
          </p:nvSpPr>
          <p:spPr>
            <a:xfrm>
              <a:off x="7867074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5" name="矩形 21684"/>
            <p:cNvSpPr/>
            <p:nvPr/>
          </p:nvSpPr>
          <p:spPr>
            <a:xfrm>
              <a:off x="8303699" y="4604731"/>
              <a:ext cx="409634" cy="52975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6" name="矩形 21685"/>
            <p:cNvSpPr/>
            <p:nvPr/>
          </p:nvSpPr>
          <p:spPr>
            <a:xfrm>
              <a:off x="8738737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687" name="矩形 21686"/>
            <p:cNvSpPr/>
            <p:nvPr/>
          </p:nvSpPr>
          <p:spPr>
            <a:xfrm>
              <a:off x="9173775" y="4603141"/>
              <a:ext cx="409634" cy="529750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</p:grpSp>
      <p:grpSp>
        <p:nvGrpSpPr>
          <p:cNvPr id="21692" name="组合 21691"/>
          <p:cNvGrpSpPr/>
          <p:nvPr/>
        </p:nvGrpSpPr>
        <p:grpSpPr>
          <a:xfrm>
            <a:off x="179388" y="4572000"/>
            <a:ext cx="1833562" cy="376238"/>
            <a:chOff x="821418" y="5218145"/>
            <a:chExt cx="1832789" cy="376004"/>
          </a:xfrm>
        </p:grpSpPr>
        <p:sp>
          <p:nvSpPr>
            <p:cNvPr id="39956" name="文本框 21692"/>
            <p:cNvSpPr txBox="1"/>
            <p:nvPr/>
          </p:nvSpPr>
          <p:spPr>
            <a:xfrm>
              <a:off x="821418" y="5224817"/>
              <a:ext cx="51969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Calibri" pitchFamily="34" charset="0"/>
                </a:rPr>
                <a:t>t[0]</a:t>
              </a:r>
              <a:endParaRPr lang="zh-CN" altLang="en-US" sz="18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39957" name="文本框 21693"/>
            <p:cNvSpPr txBox="1"/>
            <p:nvPr/>
          </p:nvSpPr>
          <p:spPr>
            <a:xfrm>
              <a:off x="1256749" y="5218145"/>
              <a:ext cx="51969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Calibri" pitchFamily="34" charset="0"/>
                </a:rPr>
                <a:t>t[1]</a:t>
              </a:r>
              <a:endParaRPr lang="zh-CN" altLang="en-US" sz="18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39958" name="文本框 21694"/>
            <p:cNvSpPr txBox="1"/>
            <p:nvPr/>
          </p:nvSpPr>
          <p:spPr>
            <a:xfrm>
              <a:off x="1707172" y="5224817"/>
              <a:ext cx="51969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Calibri" pitchFamily="34" charset="0"/>
                </a:rPr>
                <a:t>t[2]</a:t>
              </a:r>
              <a:endParaRPr lang="zh-CN" altLang="en-US" sz="18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39959" name="文本框 21695"/>
            <p:cNvSpPr txBox="1"/>
            <p:nvPr/>
          </p:nvSpPr>
          <p:spPr>
            <a:xfrm>
              <a:off x="2123292" y="5218145"/>
              <a:ext cx="53091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Calibri" pitchFamily="34" charset="0"/>
                </a:rPr>
                <a:t>······</a:t>
              </a:r>
              <a:endParaRPr lang="zh-CN" altLang="en-US" sz="1800">
                <a:solidFill>
                  <a:srgbClr val="000000"/>
                </a:solidFill>
                <a:latin typeface="Calibri" pitchFamily="34" charset="0"/>
              </a:endParaRPr>
            </a:p>
          </p:txBody>
        </p:sp>
      </p:grpSp>
      <p:grpSp>
        <p:nvGrpSpPr>
          <p:cNvPr id="21699" name="组合 21698"/>
          <p:cNvGrpSpPr/>
          <p:nvPr/>
        </p:nvGrpSpPr>
        <p:grpSpPr>
          <a:xfrm>
            <a:off x="655638" y="3983038"/>
            <a:ext cx="5251450" cy="473075"/>
            <a:chOff x="1297712" y="4629102"/>
            <a:chExt cx="5251413" cy="473216"/>
          </a:xfrm>
        </p:grpSpPr>
        <p:sp>
          <p:nvSpPr>
            <p:cNvPr id="21700" name="Oval 4"/>
            <p:cNvSpPr>
              <a:spLocks noChangeArrowheads="1"/>
            </p:cNvSpPr>
            <p:nvPr/>
          </p:nvSpPr>
          <p:spPr bwMode="auto">
            <a:xfrm>
              <a:off x="1297712" y="4646569"/>
              <a:ext cx="425447" cy="455749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21701" name="Oval 5"/>
            <p:cNvSpPr>
              <a:spLocks noChangeArrowheads="1"/>
            </p:cNvSpPr>
            <p:nvPr/>
          </p:nvSpPr>
          <p:spPr bwMode="auto">
            <a:xfrm>
              <a:off x="1745384" y="4640217"/>
              <a:ext cx="423859" cy="457336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21702" name="Oval 6"/>
            <p:cNvSpPr>
              <a:spLocks noChangeArrowheads="1"/>
            </p:cNvSpPr>
            <p:nvPr/>
          </p:nvSpPr>
          <p:spPr bwMode="auto">
            <a:xfrm>
              <a:off x="2189881" y="4640217"/>
              <a:ext cx="425447" cy="457336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21703" name="Oval 7"/>
            <p:cNvSpPr>
              <a:spLocks noChangeArrowheads="1"/>
            </p:cNvSpPr>
            <p:nvPr/>
          </p:nvSpPr>
          <p:spPr bwMode="auto">
            <a:xfrm>
              <a:off x="2635965" y="4640217"/>
              <a:ext cx="425447" cy="455749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</a:p>
          </p:txBody>
        </p:sp>
        <p:sp>
          <p:nvSpPr>
            <p:cNvPr id="21704" name="Oval 8"/>
            <p:cNvSpPr>
              <a:spLocks noChangeArrowheads="1"/>
            </p:cNvSpPr>
            <p:nvPr/>
          </p:nvSpPr>
          <p:spPr bwMode="auto">
            <a:xfrm>
              <a:off x="3053475" y="4635454"/>
              <a:ext cx="423859" cy="457336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21705" name="Oval 9"/>
            <p:cNvSpPr>
              <a:spLocks noChangeArrowheads="1"/>
            </p:cNvSpPr>
            <p:nvPr/>
          </p:nvSpPr>
          <p:spPr bwMode="auto">
            <a:xfrm>
              <a:off x="3496384" y="4629102"/>
              <a:ext cx="423860" cy="455748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21706" name="Oval 10"/>
            <p:cNvSpPr>
              <a:spLocks noChangeArrowheads="1"/>
            </p:cNvSpPr>
            <p:nvPr/>
          </p:nvSpPr>
          <p:spPr bwMode="auto">
            <a:xfrm>
              <a:off x="3907544" y="4630689"/>
              <a:ext cx="425447" cy="457336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21707" name="Oval 18"/>
            <p:cNvSpPr>
              <a:spLocks noChangeArrowheads="1"/>
            </p:cNvSpPr>
            <p:nvPr/>
          </p:nvSpPr>
          <p:spPr bwMode="auto">
            <a:xfrm>
              <a:off x="4347278" y="4643393"/>
              <a:ext cx="425447" cy="457336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</a:t>
              </a:r>
            </a:p>
          </p:txBody>
        </p:sp>
        <p:sp>
          <p:nvSpPr>
            <p:cNvPr id="21708" name="Oval 19"/>
            <p:cNvSpPr>
              <a:spLocks noChangeArrowheads="1"/>
            </p:cNvSpPr>
            <p:nvPr/>
          </p:nvSpPr>
          <p:spPr bwMode="auto">
            <a:xfrm>
              <a:off x="4802887" y="4644982"/>
              <a:ext cx="425447" cy="457336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9</a:t>
              </a:r>
            </a:p>
          </p:txBody>
        </p:sp>
        <p:sp>
          <p:nvSpPr>
            <p:cNvPr id="21709" name="Oval 20"/>
            <p:cNvSpPr>
              <a:spLocks noChangeArrowheads="1"/>
            </p:cNvSpPr>
            <p:nvPr/>
          </p:nvSpPr>
          <p:spPr bwMode="auto">
            <a:xfrm>
              <a:off x="5237859" y="4643393"/>
              <a:ext cx="423859" cy="457336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</a:t>
              </a:r>
            </a:p>
          </p:txBody>
        </p:sp>
        <p:sp>
          <p:nvSpPr>
            <p:cNvPr id="21710" name="Oval 21"/>
            <p:cNvSpPr>
              <a:spLocks noChangeArrowheads="1"/>
            </p:cNvSpPr>
            <p:nvPr/>
          </p:nvSpPr>
          <p:spPr bwMode="auto">
            <a:xfrm>
              <a:off x="5688706" y="4643393"/>
              <a:ext cx="423859" cy="457336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711" name="Oval 22"/>
            <p:cNvSpPr>
              <a:spLocks noChangeArrowheads="1"/>
            </p:cNvSpPr>
            <p:nvPr/>
          </p:nvSpPr>
          <p:spPr bwMode="auto">
            <a:xfrm>
              <a:off x="6123678" y="4641806"/>
              <a:ext cx="425447" cy="455748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二叉树的顺序存储</a:t>
            </a:r>
          </a:p>
        </p:txBody>
      </p:sp>
      <p:grpSp>
        <p:nvGrpSpPr>
          <p:cNvPr id="21512" name="组合 21511"/>
          <p:cNvGrpSpPr/>
          <p:nvPr/>
        </p:nvGrpSpPr>
        <p:grpSpPr>
          <a:xfrm>
            <a:off x="193675" y="1077913"/>
            <a:ext cx="4397375" cy="2103437"/>
            <a:chOff x="246062" y="990600"/>
            <a:chExt cx="5004246" cy="2829063"/>
          </a:xfrm>
        </p:grpSpPr>
        <p:sp>
          <p:nvSpPr>
            <p:cNvPr id="21513" name="Oval 4"/>
            <p:cNvSpPr>
              <a:spLocks noChangeArrowheads="1"/>
            </p:cNvSpPr>
            <p:nvPr/>
          </p:nvSpPr>
          <p:spPr bwMode="auto">
            <a:xfrm>
              <a:off x="2529588" y="990600"/>
              <a:ext cx="392030" cy="45692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21514" name="Oval 5"/>
            <p:cNvSpPr>
              <a:spLocks noChangeArrowheads="1"/>
            </p:cNvSpPr>
            <p:nvPr/>
          </p:nvSpPr>
          <p:spPr bwMode="auto">
            <a:xfrm>
              <a:off x="1485381" y="1629007"/>
              <a:ext cx="392030" cy="456920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21515" name="Oval 6"/>
            <p:cNvSpPr>
              <a:spLocks noChangeArrowheads="1"/>
            </p:cNvSpPr>
            <p:nvPr/>
          </p:nvSpPr>
          <p:spPr bwMode="auto">
            <a:xfrm>
              <a:off x="3765293" y="1626872"/>
              <a:ext cx="392030" cy="456920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21516" name="Oval 7"/>
            <p:cNvSpPr>
              <a:spLocks noChangeArrowheads="1"/>
            </p:cNvSpPr>
            <p:nvPr/>
          </p:nvSpPr>
          <p:spPr bwMode="auto">
            <a:xfrm>
              <a:off x="768166" y="2451037"/>
              <a:ext cx="392029" cy="456920"/>
            </a:xfrm>
            <a:prstGeom prst="ellipse">
              <a:avLst/>
            </a:prstGeom>
            <a:solidFill>
              <a:srgbClr val="5B9BD5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</a:p>
          </p:txBody>
        </p:sp>
        <p:sp>
          <p:nvSpPr>
            <p:cNvPr id="21517" name="Oval 8"/>
            <p:cNvSpPr>
              <a:spLocks noChangeArrowheads="1"/>
            </p:cNvSpPr>
            <p:nvPr/>
          </p:nvSpPr>
          <p:spPr bwMode="auto">
            <a:xfrm>
              <a:off x="2007485" y="2451037"/>
              <a:ext cx="392029" cy="456920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21518" name="Oval 9"/>
            <p:cNvSpPr>
              <a:spLocks noChangeArrowheads="1"/>
            </p:cNvSpPr>
            <p:nvPr/>
          </p:nvSpPr>
          <p:spPr bwMode="auto">
            <a:xfrm>
              <a:off x="3246804" y="2451037"/>
              <a:ext cx="392029" cy="456920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21519" name="Oval 10"/>
            <p:cNvSpPr>
              <a:spLocks noChangeArrowheads="1"/>
            </p:cNvSpPr>
            <p:nvPr/>
          </p:nvSpPr>
          <p:spPr bwMode="auto">
            <a:xfrm>
              <a:off x="4421085" y="2451037"/>
              <a:ext cx="392029" cy="456920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21520" name="Line 11"/>
            <p:cNvSpPr>
              <a:spLocks noChangeShapeType="1"/>
            </p:cNvSpPr>
            <p:nvPr/>
          </p:nvSpPr>
          <p:spPr bwMode="auto">
            <a:xfrm flipH="1">
              <a:off x="1812374" y="1229736"/>
              <a:ext cx="717214" cy="456920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1" name="Line 12"/>
            <p:cNvSpPr>
              <a:spLocks noChangeShapeType="1"/>
            </p:cNvSpPr>
            <p:nvPr/>
          </p:nvSpPr>
          <p:spPr bwMode="auto">
            <a:xfrm>
              <a:off x="2919811" y="1214789"/>
              <a:ext cx="908714" cy="471867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2" name="Line 13"/>
            <p:cNvSpPr>
              <a:spLocks noChangeShapeType="1"/>
            </p:cNvSpPr>
            <p:nvPr/>
          </p:nvSpPr>
          <p:spPr bwMode="auto">
            <a:xfrm flipH="1">
              <a:off x="1037347" y="1994117"/>
              <a:ext cx="467907" cy="471866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3" name="Line 14"/>
            <p:cNvSpPr>
              <a:spLocks noChangeShapeType="1"/>
            </p:cNvSpPr>
            <p:nvPr/>
          </p:nvSpPr>
          <p:spPr bwMode="auto">
            <a:xfrm>
              <a:off x="1832245" y="1994117"/>
              <a:ext cx="326993" cy="456920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4" name="Line 15"/>
            <p:cNvSpPr>
              <a:spLocks noChangeShapeType="1"/>
            </p:cNvSpPr>
            <p:nvPr/>
          </p:nvSpPr>
          <p:spPr bwMode="auto">
            <a:xfrm flipH="1">
              <a:off x="3506952" y="2004792"/>
              <a:ext cx="321572" cy="454786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5" name="Line 16"/>
            <p:cNvSpPr>
              <a:spLocks noChangeShapeType="1"/>
            </p:cNvSpPr>
            <p:nvPr/>
          </p:nvSpPr>
          <p:spPr bwMode="auto">
            <a:xfrm>
              <a:off x="4157323" y="2004792"/>
              <a:ext cx="392029" cy="454786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6" name="Oval 18"/>
            <p:cNvSpPr>
              <a:spLocks noChangeArrowheads="1"/>
            </p:cNvSpPr>
            <p:nvPr/>
          </p:nvSpPr>
          <p:spPr bwMode="auto">
            <a:xfrm>
              <a:off x="246062" y="3362743"/>
              <a:ext cx="392030" cy="456920"/>
            </a:xfrm>
            <a:prstGeom prst="ellipse">
              <a:avLst/>
            </a:prstGeom>
            <a:solidFill>
              <a:srgbClr val="70AD47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</a:t>
              </a:r>
            </a:p>
          </p:txBody>
        </p:sp>
        <p:sp>
          <p:nvSpPr>
            <p:cNvPr id="21527" name="Oval 19"/>
            <p:cNvSpPr>
              <a:spLocks noChangeArrowheads="1"/>
            </p:cNvSpPr>
            <p:nvPr/>
          </p:nvSpPr>
          <p:spPr bwMode="auto">
            <a:xfrm>
              <a:off x="1093352" y="3362743"/>
              <a:ext cx="392029" cy="456920"/>
            </a:xfrm>
            <a:prstGeom prst="ellipse">
              <a:avLst/>
            </a:prstGeom>
            <a:solidFill>
              <a:srgbClr val="70AD47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9</a:t>
              </a:r>
            </a:p>
          </p:txBody>
        </p:sp>
        <p:sp>
          <p:nvSpPr>
            <p:cNvPr id="21528" name="Oval 20"/>
            <p:cNvSpPr>
              <a:spLocks noChangeArrowheads="1"/>
            </p:cNvSpPr>
            <p:nvPr/>
          </p:nvSpPr>
          <p:spPr bwMode="auto">
            <a:xfrm>
              <a:off x="1615455" y="3362743"/>
              <a:ext cx="392030" cy="456920"/>
            </a:xfrm>
            <a:prstGeom prst="ellipse">
              <a:avLst/>
            </a:prstGeom>
            <a:solidFill>
              <a:srgbClr val="70AD47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</a:t>
              </a:r>
            </a:p>
          </p:txBody>
        </p:sp>
        <p:sp>
          <p:nvSpPr>
            <p:cNvPr id="21529" name="Oval 21"/>
            <p:cNvSpPr>
              <a:spLocks noChangeArrowheads="1"/>
            </p:cNvSpPr>
            <p:nvPr/>
          </p:nvSpPr>
          <p:spPr bwMode="auto">
            <a:xfrm>
              <a:off x="2399514" y="3362743"/>
              <a:ext cx="390223" cy="456920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530" name="Oval 22"/>
            <p:cNvSpPr>
              <a:spLocks noChangeArrowheads="1"/>
            </p:cNvSpPr>
            <p:nvPr/>
          </p:nvSpPr>
          <p:spPr bwMode="auto">
            <a:xfrm>
              <a:off x="2921618" y="3362743"/>
              <a:ext cx="390223" cy="456920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12</a:t>
              </a:r>
            </a:p>
          </p:txBody>
        </p:sp>
        <p:sp>
          <p:nvSpPr>
            <p:cNvPr id="21531" name="Oval 23"/>
            <p:cNvSpPr>
              <a:spLocks noChangeArrowheads="1"/>
            </p:cNvSpPr>
            <p:nvPr/>
          </p:nvSpPr>
          <p:spPr bwMode="auto">
            <a:xfrm>
              <a:off x="3573795" y="3362743"/>
              <a:ext cx="390223" cy="456920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2" name="Oval 24"/>
            <p:cNvSpPr>
              <a:spLocks noChangeArrowheads="1"/>
            </p:cNvSpPr>
            <p:nvPr/>
          </p:nvSpPr>
          <p:spPr bwMode="auto">
            <a:xfrm>
              <a:off x="4029055" y="3362743"/>
              <a:ext cx="392030" cy="456920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3" name="Line 26"/>
            <p:cNvSpPr>
              <a:spLocks noChangeShapeType="1"/>
            </p:cNvSpPr>
            <p:nvPr/>
          </p:nvSpPr>
          <p:spPr bwMode="auto">
            <a:xfrm flipH="1">
              <a:off x="486339" y="2816146"/>
              <a:ext cx="326992" cy="546596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4" name="Line 27"/>
            <p:cNvSpPr>
              <a:spLocks noChangeShapeType="1"/>
            </p:cNvSpPr>
            <p:nvPr/>
          </p:nvSpPr>
          <p:spPr bwMode="auto">
            <a:xfrm>
              <a:off x="1115031" y="2816146"/>
              <a:ext cx="196917" cy="546596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5" name="Line 28"/>
            <p:cNvSpPr>
              <a:spLocks noChangeShapeType="1"/>
            </p:cNvSpPr>
            <p:nvPr/>
          </p:nvSpPr>
          <p:spPr bwMode="auto">
            <a:xfrm flipH="1">
              <a:off x="1792500" y="2816146"/>
              <a:ext cx="261956" cy="546596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6" name="Line 29"/>
            <p:cNvSpPr>
              <a:spLocks noChangeShapeType="1"/>
            </p:cNvSpPr>
            <p:nvPr/>
          </p:nvSpPr>
          <p:spPr bwMode="auto">
            <a:xfrm>
              <a:off x="2361576" y="2816146"/>
              <a:ext cx="260149" cy="546596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7" name="Line 30"/>
            <p:cNvSpPr>
              <a:spLocks noChangeShapeType="1"/>
            </p:cNvSpPr>
            <p:nvPr/>
          </p:nvSpPr>
          <p:spPr bwMode="auto">
            <a:xfrm flipH="1">
              <a:off x="3100469" y="2816146"/>
              <a:ext cx="195111" cy="546596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8" name="Line 31"/>
            <p:cNvSpPr>
              <a:spLocks noChangeShapeType="1"/>
            </p:cNvSpPr>
            <p:nvPr/>
          </p:nvSpPr>
          <p:spPr bwMode="auto">
            <a:xfrm>
              <a:off x="3575602" y="2860985"/>
              <a:ext cx="193304" cy="501758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9" name="Line 32"/>
            <p:cNvSpPr>
              <a:spLocks noChangeShapeType="1"/>
            </p:cNvSpPr>
            <p:nvPr/>
          </p:nvSpPr>
          <p:spPr bwMode="auto">
            <a:xfrm flipH="1">
              <a:off x="4291011" y="2863119"/>
              <a:ext cx="225823" cy="499623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0" name="Oval 24"/>
            <p:cNvSpPr>
              <a:spLocks noChangeArrowheads="1"/>
            </p:cNvSpPr>
            <p:nvPr/>
          </p:nvSpPr>
          <p:spPr bwMode="auto">
            <a:xfrm>
              <a:off x="4858279" y="3362743"/>
              <a:ext cx="392029" cy="456920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1" name="Line 31"/>
            <p:cNvSpPr>
              <a:spLocks noChangeShapeType="1"/>
            </p:cNvSpPr>
            <p:nvPr/>
          </p:nvSpPr>
          <p:spPr bwMode="auto">
            <a:xfrm>
              <a:off x="4746271" y="2839633"/>
              <a:ext cx="225823" cy="523109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1542" name="文本框 21541"/>
          <p:cNvSpPr txBox="1"/>
          <p:nvPr/>
        </p:nvSpPr>
        <p:spPr>
          <a:xfrm>
            <a:off x="5262563" y="1285875"/>
            <a:ext cx="3754437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Calibri" pitchFamily="34" charset="0"/>
              </a:rPr>
              <a:t>二叉树的顺序存储中，一定要把二叉树的结点编号与完全二叉树对应起来</a:t>
            </a:r>
          </a:p>
        </p:txBody>
      </p:sp>
      <p:pic>
        <p:nvPicPr>
          <p:cNvPr id="21543" name="图形 21542" descr="信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425" y="1362075"/>
            <a:ext cx="646113" cy="646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1544" name="组合 21543"/>
          <p:cNvGrpSpPr/>
          <p:nvPr/>
        </p:nvGrpSpPr>
        <p:grpSpPr>
          <a:xfrm>
            <a:off x="107950" y="3841750"/>
            <a:ext cx="8761413" cy="1019175"/>
            <a:chOff x="835808" y="4573693"/>
            <a:chExt cx="8762641" cy="1020456"/>
          </a:xfrm>
        </p:grpSpPr>
        <p:sp>
          <p:nvSpPr>
            <p:cNvPr id="21545" name="文本框 21544"/>
            <p:cNvSpPr txBox="1"/>
            <p:nvPr/>
          </p:nvSpPr>
          <p:spPr>
            <a:xfrm>
              <a:off x="835808" y="5225386"/>
              <a:ext cx="519186" cy="3687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4572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kern="0" cap="none" spc="0" normalizeH="0" baseline="0" noProof="0" dirty="0">
                  <a:solidFill>
                    <a:prstClr val="black"/>
                  </a:solidFill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t[0]</a:t>
              </a:r>
              <a:endParaRPr kumimoji="1" lang="zh-CN" altLang="en-US" kern="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46" name="文本框 21545"/>
            <p:cNvSpPr txBox="1"/>
            <p:nvPr/>
          </p:nvSpPr>
          <p:spPr>
            <a:xfrm>
              <a:off x="1270844" y="5217439"/>
              <a:ext cx="520773" cy="3703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4572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kern="0" cap="none" spc="0" normalizeH="0" baseline="0" noProof="0" dirty="0">
                  <a:solidFill>
                    <a:prstClr val="black"/>
                  </a:solidFill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t[1]</a:t>
              </a:r>
              <a:endParaRPr kumimoji="1" lang="zh-CN" altLang="en-US" kern="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47" name="文本框 21546"/>
            <p:cNvSpPr txBox="1"/>
            <p:nvPr/>
          </p:nvSpPr>
          <p:spPr>
            <a:xfrm>
              <a:off x="1721757" y="5225386"/>
              <a:ext cx="519186" cy="3687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4572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kern="0" cap="none" spc="0" normalizeH="0" baseline="0" noProof="0" dirty="0">
                  <a:solidFill>
                    <a:prstClr val="black"/>
                  </a:solidFill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t[2]</a:t>
              </a:r>
              <a:endParaRPr kumimoji="1" lang="zh-CN" altLang="en-US" kern="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48" name="文本框 21547"/>
            <p:cNvSpPr txBox="1"/>
            <p:nvPr/>
          </p:nvSpPr>
          <p:spPr>
            <a:xfrm>
              <a:off x="2137740" y="5217439"/>
              <a:ext cx="530299" cy="3703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4572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kern="0" cap="none" spc="0" normalizeH="0" baseline="0" noProof="0" dirty="0">
                  <a:solidFill>
                    <a:prstClr val="black"/>
                  </a:solidFill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······</a:t>
              </a:r>
              <a:endParaRPr kumimoji="1" lang="zh-CN" altLang="en-US" kern="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49" name="矩形 21548"/>
            <p:cNvSpPr/>
            <p:nvPr/>
          </p:nvSpPr>
          <p:spPr>
            <a:xfrm>
              <a:off x="894554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0" name="矩形 21549"/>
            <p:cNvSpPr/>
            <p:nvPr/>
          </p:nvSpPr>
          <p:spPr>
            <a:xfrm>
              <a:off x="1331177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1" name="矩形 21550"/>
            <p:cNvSpPr/>
            <p:nvPr/>
          </p:nvSpPr>
          <p:spPr>
            <a:xfrm>
              <a:off x="1767802" y="4573693"/>
              <a:ext cx="409632" cy="529302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2" name="矩形 21551"/>
            <p:cNvSpPr/>
            <p:nvPr/>
          </p:nvSpPr>
          <p:spPr>
            <a:xfrm>
              <a:off x="2204425" y="4573693"/>
              <a:ext cx="409632" cy="529302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3" name="矩形 21552"/>
            <p:cNvSpPr/>
            <p:nvPr/>
          </p:nvSpPr>
          <p:spPr>
            <a:xfrm>
              <a:off x="2642636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4" name="矩形 21553"/>
            <p:cNvSpPr/>
            <p:nvPr/>
          </p:nvSpPr>
          <p:spPr>
            <a:xfrm>
              <a:off x="3077672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5" name="矩形 21554"/>
            <p:cNvSpPr/>
            <p:nvPr/>
          </p:nvSpPr>
          <p:spPr>
            <a:xfrm>
              <a:off x="3514296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6" name="矩形 21555"/>
            <p:cNvSpPr/>
            <p:nvPr/>
          </p:nvSpPr>
          <p:spPr>
            <a:xfrm>
              <a:off x="3949332" y="4573693"/>
              <a:ext cx="409632" cy="529302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7" name="矩形 21556"/>
            <p:cNvSpPr/>
            <p:nvPr/>
          </p:nvSpPr>
          <p:spPr>
            <a:xfrm>
              <a:off x="4384368" y="4573693"/>
              <a:ext cx="409632" cy="529302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8" name="矩形 21557"/>
            <p:cNvSpPr/>
            <p:nvPr/>
          </p:nvSpPr>
          <p:spPr>
            <a:xfrm>
              <a:off x="4820991" y="4573693"/>
              <a:ext cx="409632" cy="529302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59" name="矩形 21558"/>
            <p:cNvSpPr/>
            <p:nvPr/>
          </p:nvSpPr>
          <p:spPr>
            <a:xfrm>
              <a:off x="5259203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0" name="矩形 21559"/>
            <p:cNvSpPr/>
            <p:nvPr/>
          </p:nvSpPr>
          <p:spPr>
            <a:xfrm>
              <a:off x="5694239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1" name="矩形 21560"/>
            <p:cNvSpPr/>
            <p:nvPr/>
          </p:nvSpPr>
          <p:spPr>
            <a:xfrm>
              <a:off x="6130863" y="4575283"/>
              <a:ext cx="411220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2" name="矩形 21561"/>
            <p:cNvSpPr/>
            <p:nvPr/>
          </p:nvSpPr>
          <p:spPr>
            <a:xfrm>
              <a:off x="6569074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3" name="矩形 21562"/>
            <p:cNvSpPr/>
            <p:nvPr/>
          </p:nvSpPr>
          <p:spPr>
            <a:xfrm>
              <a:off x="7005698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4" name="矩形 21563"/>
            <p:cNvSpPr/>
            <p:nvPr/>
          </p:nvSpPr>
          <p:spPr>
            <a:xfrm>
              <a:off x="7440734" y="4573693"/>
              <a:ext cx="411221" cy="529302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5" name="矩形 21564"/>
            <p:cNvSpPr/>
            <p:nvPr/>
          </p:nvSpPr>
          <p:spPr>
            <a:xfrm>
              <a:off x="7878945" y="4573693"/>
              <a:ext cx="409632" cy="529302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6" name="矩形 21565"/>
            <p:cNvSpPr/>
            <p:nvPr/>
          </p:nvSpPr>
          <p:spPr>
            <a:xfrm>
              <a:off x="8317156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7" name="矩形 21566"/>
            <p:cNvSpPr/>
            <p:nvPr/>
          </p:nvSpPr>
          <p:spPr>
            <a:xfrm>
              <a:off x="8752192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68" name="矩形 21567"/>
            <p:cNvSpPr/>
            <p:nvPr/>
          </p:nvSpPr>
          <p:spPr>
            <a:xfrm>
              <a:off x="9188817" y="4575283"/>
              <a:ext cx="409632" cy="52930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^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572" name="Oval 4"/>
            <p:cNvSpPr>
              <a:spLocks noChangeArrowheads="1"/>
            </p:cNvSpPr>
            <p:nvPr/>
          </p:nvSpPr>
          <p:spPr bwMode="auto">
            <a:xfrm>
              <a:off x="1339117" y="4610252"/>
              <a:ext cx="423921" cy="456185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21573" name="Oval 5"/>
            <p:cNvSpPr>
              <a:spLocks noChangeArrowheads="1"/>
            </p:cNvSpPr>
            <p:nvPr/>
          </p:nvSpPr>
          <p:spPr bwMode="auto">
            <a:xfrm>
              <a:off x="1780503" y="4610252"/>
              <a:ext cx="425510" cy="45618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21574" name="Oval 6"/>
            <p:cNvSpPr>
              <a:spLocks noChangeArrowheads="1"/>
            </p:cNvSpPr>
            <p:nvPr/>
          </p:nvSpPr>
          <p:spPr bwMode="auto">
            <a:xfrm>
              <a:off x="2212364" y="4611841"/>
              <a:ext cx="423921" cy="456186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21575" name="Oval 8"/>
            <p:cNvSpPr>
              <a:spLocks noChangeArrowheads="1"/>
            </p:cNvSpPr>
            <p:nvPr/>
          </p:nvSpPr>
          <p:spPr bwMode="auto">
            <a:xfrm>
              <a:off x="3091962" y="4610252"/>
              <a:ext cx="425510" cy="45618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21576" name="Oval 9"/>
            <p:cNvSpPr>
              <a:spLocks noChangeArrowheads="1"/>
            </p:cNvSpPr>
            <p:nvPr/>
          </p:nvSpPr>
          <p:spPr bwMode="auto">
            <a:xfrm>
              <a:off x="3511121" y="4616610"/>
              <a:ext cx="423921" cy="456185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21577" name="Oval 10"/>
            <p:cNvSpPr>
              <a:spLocks noChangeArrowheads="1"/>
            </p:cNvSpPr>
            <p:nvPr/>
          </p:nvSpPr>
          <p:spPr bwMode="auto">
            <a:xfrm>
              <a:off x="3942981" y="4616610"/>
              <a:ext cx="425510" cy="456185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21578" name="Oval 21"/>
            <p:cNvSpPr>
              <a:spLocks noChangeArrowheads="1"/>
            </p:cNvSpPr>
            <p:nvPr/>
          </p:nvSpPr>
          <p:spPr bwMode="auto">
            <a:xfrm>
              <a:off x="5705353" y="4616610"/>
              <a:ext cx="423921" cy="456185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579" name="Oval 22"/>
            <p:cNvSpPr>
              <a:spLocks noChangeArrowheads="1"/>
            </p:cNvSpPr>
            <p:nvPr/>
          </p:nvSpPr>
          <p:spPr bwMode="auto">
            <a:xfrm>
              <a:off x="6122924" y="4616610"/>
              <a:ext cx="423922" cy="456185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12</a:t>
              </a:r>
            </a:p>
          </p:txBody>
        </p:sp>
      </p:grpSp>
      <p:sp>
        <p:nvSpPr>
          <p:cNvPr id="21580" name="文本框 21579"/>
          <p:cNvSpPr txBox="1"/>
          <p:nvPr/>
        </p:nvSpPr>
        <p:spPr>
          <a:xfrm>
            <a:off x="5700713" y="2381250"/>
            <a:ext cx="3403600" cy="922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itchFamily="34" charset="0"/>
              </a:rPr>
              <a:t>i</a:t>
            </a:r>
            <a:r>
              <a:rPr lang="zh-CN" altLang="en-US" sz="1800">
                <a:solidFill>
                  <a:srgbClr val="000000"/>
                </a:solidFill>
                <a:latin typeface="Calibri" pitchFamily="34" charset="0"/>
              </a:rPr>
              <a:t>的左孩子</a:t>
            </a:r>
            <a:endParaRPr lang="en-US" altLang="zh-CN" sz="1800">
              <a:solidFill>
                <a:srgbClr val="000000"/>
              </a:solidFill>
              <a:latin typeface="Calibri" pitchFamily="34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itchFamily="34" charset="0"/>
              </a:rPr>
              <a:t>i</a:t>
            </a:r>
            <a:r>
              <a:rPr lang="zh-CN" altLang="en-US" sz="1800">
                <a:solidFill>
                  <a:srgbClr val="000000"/>
                </a:solidFill>
                <a:latin typeface="Calibri" pitchFamily="34" charset="0"/>
              </a:rPr>
              <a:t>的右孩子</a:t>
            </a:r>
            <a:endParaRPr lang="en-US" altLang="zh-CN" sz="1800">
              <a:solidFill>
                <a:srgbClr val="000000"/>
              </a:solidFill>
              <a:latin typeface="Calibri" pitchFamily="34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itchFamily="34" charset="0"/>
              </a:rPr>
              <a:t>i</a:t>
            </a:r>
            <a:r>
              <a:rPr lang="zh-CN" altLang="en-US" sz="1800">
                <a:solidFill>
                  <a:srgbClr val="000000"/>
                </a:solidFill>
                <a:latin typeface="Calibri" pitchFamily="34" charset="0"/>
              </a:rPr>
              <a:t>的父结点</a:t>
            </a:r>
          </a:p>
        </p:txBody>
      </p:sp>
      <p:grpSp>
        <p:nvGrpSpPr>
          <p:cNvPr id="21581" name="组合 21580"/>
          <p:cNvGrpSpPr/>
          <p:nvPr/>
        </p:nvGrpSpPr>
        <p:grpSpPr>
          <a:xfrm>
            <a:off x="6908800" y="2341563"/>
            <a:ext cx="987425" cy="981075"/>
            <a:chOff x="7912237" y="1462625"/>
            <a:chExt cx="988117" cy="1183375"/>
          </a:xfrm>
        </p:grpSpPr>
        <p:sp>
          <p:nvSpPr>
            <p:cNvPr id="41992" name="文本框 21581"/>
            <p:cNvSpPr txBox="1"/>
            <p:nvPr/>
          </p:nvSpPr>
          <p:spPr>
            <a:xfrm>
              <a:off x="7912237" y="1462625"/>
              <a:ext cx="753996" cy="4081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90204" pitchFamily="34" charset="0"/>
                </a:rPr>
                <a:t>——2i</a:t>
              </a:r>
              <a:endParaRPr lang="zh-CN" altLang="en-US" sz="1600">
                <a:latin typeface="Arial" panose="020B0604020202090204" pitchFamily="34" charset="0"/>
              </a:endParaRPr>
            </a:p>
          </p:txBody>
        </p:sp>
        <p:sp>
          <p:nvSpPr>
            <p:cNvPr id="41993" name="文本框 21582"/>
            <p:cNvSpPr txBox="1"/>
            <p:nvPr/>
          </p:nvSpPr>
          <p:spPr>
            <a:xfrm>
              <a:off x="7912237" y="1828834"/>
              <a:ext cx="988117" cy="4081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90204" pitchFamily="34" charset="0"/>
                </a:rPr>
                <a:t>——2i+1</a:t>
              </a:r>
              <a:endParaRPr lang="zh-CN" altLang="en-US" sz="1600">
                <a:latin typeface="Arial" panose="020B0604020202090204" pitchFamily="34" charset="0"/>
              </a:endParaRPr>
            </a:p>
          </p:txBody>
        </p:sp>
        <p:sp>
          <p:nvSpPr>
            <p:cNvPr id="41994" name="文本框 21583"/>
            <p:cNvSpPr txBox="1"/>
            <p:nvPr/>
          </p:nvSpPr>
          <p:spPr>
            <a:xfrm>
              <a:off x="7924320" y="2237870"/>
              <a:ext cx="949632" cy="4081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" panose="020B0604020202090204" pitchFamily="34" charset="0"/>
                </a:rPr>
                <a:t>——</a:t>
              </a:r>
              <a:r>
                <a:rPr lang="en-US" altLang="zh-CN" sz="1400">
                  <a:latin typeface="Arial" panose="020B0604020202090204" pitchFamily="34" charset="0"/>
                  <a:sym typeface="Symbol" pitchFamily="18" charset="2"/>
                </a:rPr>
                <a:t></a:t>
              </a:r>
              <a:r>
                <a:rPr lang="en-US" altLang="zh-CN" sz="1600">
                  <a:latin typeface="Arial" panose="020B0604020202090204" pitchFamily="34" charset="0"/>
                  <a:sym typeface="Symbol" pitchFamily="18" charset="2"/>
                </a:rPr>
                <a:t>i/2</a:t>
              </a:r>
              <a:r>
                <a:rPr lang="en-US" altLang="zh-CN" sz="1400">
                  <a:latin typeface="Arial" panose="020B0604020202090204" pitchFamily="34" charset="0"/>
                  <a:sym typeface="Symbol" pitchFamily="18" charset="2"/>
                </a:rPr>
                <a:t></a:t>
              </a:r>
              <a:endParaRPr lang="zh-CN" altLang="en-US" sz="1400"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2" grpId="0"/>
      <p:bldP spid="215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二叉树的链式存储</a:t>
            </a:r>
          </a:p>
        </p:txBody>
      </p:sp>
      <p:grpSp>
        <p:nvGrpSpPr>
          <p:cNvPr id="21516" name="组合 21515"/>
          <p:cNvGrpSpPr/>
          <p:nvPr/>
        </p:nvGrpSpPr>
        <p:grpSpPr>
          <a:xfrm>
            <a:off x="228600" y="2744788"/>
            <a:ext cx="4711700" cy="2270125"/>
            <a:chOff x="246062" y="990600"/>
            <a:chExt cx="5004246" cy="2829063"/>
          </a:xfrm>
        </p:grpSpPr>
        <p:sp>
          <p:nvSpPr>
            <p:cNvPr id="21517" name="Oval 4"/>
            <p:cNvSpPr>
              <a:spLocks noChangeArrowheads="1"/>
            </p:cNvSpPr>
            <p:nvPr/>
          </p:nvSpPr>
          <p:spPr bwMode="auto">
            <a:xfrm>
              <a:off x="2528996" y="990600"/>
              <a:ext cx="391167" cy="457002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</p:txBody>
        </p:sp>
        <p:sp>
          <p:nvSpPr>
            <p:cNvPr id="21518" name="Oval 5"/>
            <p:cNvSpPr>
              <a:spLocks noChangeArrowheads="1"/>
            </p:cNvSpPr>
            <p:nvPr/>
          </p:nvSpPr>
          <p:spPr bwMode="auto">
            <a:xfrm>
              <a:off x="1485322" y="1629612"/>
              <a:ext cx="391167" cy="457003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</a:p>
          </p:txBody>
        </p:sp>
        <p:sp>
          <p:nvSpPr>
            <p:cNvPr id="21519" name="Oval 6"/>
            <p:cNvSpPr>
              <a:spLocks noChangeArrowheads="1"/>
            </p:cNvSpPr>
            <p:nvPr/>
          </p:nvSpPr>
          <p:spPr bwMode="auto">
            <a:xfrm>
              <a:off x="3764884" y="1627634"/>
              <a:ext cx="391167" cy="455024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</a:p>
          </p:txBody>
        </p:sp>
        <p:sp>
          <p:nvSpPr>
            <p:cNvPr id="21520" name="Oval 7"/>
            <p:cNvSpPr>
              <a:spLocks noChangeArrowheads="1"/>
            </p:cNvSpPr>
            <p:nvPr/>
          </p:nvSpPr>
          <p:spPr bwMode="auto">
            <a:xfrm>
              <a:off x="768743" y="2450634"/>
              <a:ext cx="391167" cy="457002"/>
            </a:xfrm>
            <a:prstGeom prst="ellipse">
              <a:avLst/>
            </a:prstGeom>
            <a:solidFill>
              <a:srgbClr val="5B9BD5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</a:p>
          </p:txBody>
        </p:sp>
        <p:sp>
          <p:nvSpPr>
            <p:cNvPr id="21521" name="Oval 8"/>
            <p:cNvSpPr>
              <a:spLocks noChangeArrowheads="1"/>
            </p:cNvSpPr>
            <p:nvPr/>
          </p:nvSpPr>
          <p:spPr bwMode="auto">
            <a:xfrm>
              <a:off x="2008002" y="2450634"/>
              <a:ext cx="391167" cy="457002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</a:p>
          </p:txBody>
        </p:sp>
        <p:sp>
          <p:nvSpPr>
            <p:cNvPr id="21522" name="Oval 9"/>
            <p:cNvSpPr>
              <a:spLocks noChangeArrowheads="1"/>
            </p:cNvSpPr>
            <p:nvPr/>
          </p:nvSpPr>
          <p:spPr bwMode="auto">
            <a:xfrm>
              <a:off x="3247261" y="2450634"/>
              <a:ext cx="391167" cy="457002"/>
            </a:xfrm>
            <a:prstGeom prst="ellipse">
              <a:avLst/>
            </a:prstGeom>
            <a:solidFill>
              <a:srgbClr val="4472C4">
                <a:lumMod val="60000"/>
                <a:lumOff val="40000"/>
              </a:srgbClr>
            </a:solidFill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</a:t>
              </a:r>
            </a:p>
          </p:txBody>
        </p:sp>
        <p:sp>
          <p:nvSpPr>
            <p:cNvPr id="21523" name="Oval 10"/>
            <p:cNvSpPr>
              <a:spLocks noChangeArrowheads="1"/>
            </p:cNvSpPr>
            <p:nvPr/>
          </p:nvSpPr>
          <p:spPr bwMode="auto">
            <a:xfrm>
              <a:off x="4420763" y="2450634"/>
              <a:ext cx="392854" cy="457002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</a:t>
              </a:r>
            </a:p>
          </p:txBody>
        </p:sp>
        <p:sp>
          <p:nvSpPr>
            <p:cNvPr id="21524" name="Line 11"/>
            <p:cNvSpPr>
              <a:spLocks noChangeShapeType="1"/>
            </p:cNvSpPr>
            <p:nvPr/>
          </p:nvSpPr>
          <p:spPr bwMode="auto">
            <a:xfrm flipH="1">
              <a:off x="1812419" y="1229982"/>
              <a:ext cx="716578" cy="457003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5" name="Line 12"/>
            <p:cNvSpPr>
              <a:spLocks noChangeShapeType="1"/>
            </p:cNvSpPr>
            <p:nvPr/>
          </p:nvSpPr>
          <p:spPr bwMode="auto">
            <a:xfrm>
              <a:off x="2920164" y="1214155"/>
              <a:ext cx="908790" cy="472830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6" name="Line 13"/>
            <p:cNvSpPr>
              <a:spLocks noChangeShapeType="1"/>
            </p:cNvSpPr>
            <p:nvPr/>
          </p:nvSpPr>
          <p:spPr bwMode="auto">
            <a:xfrm flipH="1">
              <a:off x="1036828" y="1993631"/>
              <a:ext cx="467040" cy="472830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7" name="Line 14"/>
            <p:cNvSpPr>
              <a:spLocks noChangeShapeType="1"/>
            </p:cNvSpPr>
            <p:nvPr/>
          </p:nvSpPr>
          <p:spPr bwMode="auto">
            <a:xfrm>
              <a:off x="1832651" y="1993631"/>
              <a:ext cx="325410" cy="457003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8" name="Line 15"/>
            <p:cNvSpPr>
              <a:spLocks noChangeShapeType="1"/>
            </p:cNvSpPr>
            <p:nvPr/>
          </p:nvSpPr>
          <p:spPr bwMode="auto">
            <a:xfrm flipH="1">
              <a:off x="3506915" y="2003523"/>
              <a:ext cx="322039" cy="457002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29" name="Line 16"/>
            <p:cNvSpPr>
              <a:spLocks noChangeShapeType="1"/>
            </p:cNvSpPr>
            <p:nvPr/>
          </p:nvSpPr>
          <p:spPr bwMode="auto">
            <a:xfrm>
              <a:off x="4156051" y="2003523"/>
              <a:ext cx="392853" cy="457002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0" name="Oval 18"/>
            <p:cNvSpPr>
              <a:spLocks noChangeArrowheads="1"/>
            </p:cNvSpPr>
            <p:nvPr/>
          </p:nvSpPr>
          <p:spPr bwMode="auto">
            <a:xfrm>
              <a:off x="246062" y="3362660"/>
              <a:ext cx="391167" cy="457003"/>
            </a:xfrm>
            <a:prstGeom prst="ellipse">
              <a:avLst/>
            </a:prstGeom>
            <a:solidFill>
              <a:srgbClr val="70AD47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</a:t>
              </a:r>
            </a:p>
          </p:txBody>
        </p:sp>
        <p:sp>
          <p:nvSpPr>
            <p:cNvPr id="21531" name="Oval 19"/>
            <p:cNvSpPr>
              <a:spLocks noChangeArrowheads="1"/>
            </p:cNvSpPr>
            <p:nvPr/>
          </p:nvSpPr>
          <p:spPr bwMode="auto">
            <a:xfrm>
              <a:off x="1094154" y="3362660"/>
              <a:ext cx="391167" cy="457003"/>
            </a:xfrm>
            <a:prstGeom prst="ellipse">
              <a:avLst/>
            </a:prstGeom>
            <a:solidFill>
              <a:srgbClr val="70AD47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9</a:t>
              </a:r>
            </a:p>
          </p:txBody>
        </p:sp>
        <p:sp>
          <p:nvSpPr>
            <p:cNvPr id="21532" name="Oval 20"/>
            <p:cNvSpPr>
              <a:spLocks noChangeArrowheads="1"/>
            </p:cNvSpPr>
            <p:nvPr/>
          </p:nvSpPr>
          <p:spPr bwMode="auto">
            <a:xfrm>
              <a:off x="1616835" y="3362660"/>
              <a:ext cx="391167" cy="457003"/>
            </a:xfrm>
            <a:prstGeom prst="ellipse">
              <a:avLst/>
            </a:prstGeom>
            <a:solidFill>
              <a:srgbClr val="70AD47">
                <a:lumMod val="20000"/>
                <a:lumOff val="80000"/>
              </a:srgbClr>
            </a:solidFill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</a:t>
              </a:r>
            </a:p>
          </p:txBody>
        </p:sp>
        <p:sp>
          <p:nvSpPr>
            <p:cNvPr id="21533" name="Oval 21"/>
            <p:cNvSpPr>
              <a:spLocks noChangeArrowheads="1"/>
            </p:cNvSpPr>
            <p:nvPr/>
          </p:nvSpPr>
          <p:spPr bwMode="auto">
            <a:xfrm>
              <a:off x="2399170" y="3362660"/>
              <a:ext cx="391167" cy="457003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11</a:t>
              </a:r>
            </a:p>
          </p:txBody>
        </p:sp>
        <p:sp>
          <p:nvSpPr>
            <p:cNvPr id="21534" name="Oval 22"/>
            <p:cNvSpPr>
              <a:spLocks noChangeArrowheads="1"/>
            </p:cNvSpPr>
            <p:nvPr/>
          </p:nvSpPr>
          <p:spPr bwMode="auto">
            <a:xfrm>
              <a:off x="2920164" y="3362660"/>
              <a:ext cx="392854" cy="457003"/>
            </a:xfrm>
            <a:prstGeom prst="ellipse">
              <a:avLst/>
            </a:prstGeom>
            <a:solidFill>
              <a:srgbClr val="70AD47"/>
            </a:solidFill>
            <a:ln w="9525">
              <a:solidFill>
                <a:srgbClr val="70AD47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12</a:t>
              </a:r>
            </a:p>
          </p:txBody>
        </p:sp>
        <p:sp>
          <p:nvSpPr>
            <p:cNvPr id="21535" name="Oval 23"/>
            <p:cNvSpPr>
              <a:spLocks noChangeArrowheads="1"/>
            </p:cNvSpPr>
            <p:nvPr/>
          </p:nvSpPr>
          <p:spPr bwMode="auto">
            <a:xfrm>
              <a:off x="3572672" y="3362660"/>
              <a:ext cx="391167" cy="457003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6" name="Oval 24"/>
            <p:cNvSpPr>
              <a:spLocks noChangeArrowheads="1"/>
            </p:cNvSpPr>
            <p:nvPr/>
          </p:nvSpPr>
          <p:spPr bwMode="auto">
            <a:xfrm>
              <a:off x="4029596" y="3362660"/>
              <a:ext cx="391167" cy="457003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7" name="Line 26"/>
            <p:cNvSpPr>
              <a:spLocks noChangeShapeType="1"/>
            </p:cNvSpPr>
            <p:nvPr/>
          </p:nvSpPr>
          <p:spPr bwMode="auto">
            <a:xfrm flipH="1">
              <a:off x="487170" y="2816631"/>
              <a:ext cx="325410" cy="546029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8" name="Line 27"/>
            <p:cNvSpPr>
              <a:spLocks noChangeShapeType="1"/>
            </p:cNvSpPr>
            <p:nvPr/>
          </p:nvSpPr>
          <p:spPr bwMode="auto">
            <a:xfrm>
              <a:off x="1116072" y="2816631"/>
              <a:ext cx="195584" cy="546029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39" name="Line 28"/>
            <p:cNvSpPr>
              <a:spLocks noChangeShapeType="1"/>
            </p:cNvSpPr>
            <p:nvPr/>
          </p:nvSpPr>
          <p:spPr bwMode="auto">
            <a:xfrm flipH="1">
              <a:off x="1792186" y="2816631"/>
              <a:ext cx="261340" cy="546029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95000"/>
                </a:sysClr>
              </a:solidFill>
              <a:prstDash val="sys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0" name="Line 29"/>
            <p:cNvSpPr>
              <a:spLocks noChangeShapeType="1"/>
            </p:cNvSpPr>
            <p:nvPr/>
          </p:nvSpPr>
          <p:spPr bwMode="auto">
            <a:xfrm>
              <a:off x="2360390" y="2816631"/>
              <a:ext cx="261341" cy="546029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1" name="Line 30"/>
            <p:cNvSpPr>
              <a:spLocks noChangeShapeType="1"/>
            </p:cNvSpPr>
            <p:nvPr/>
          </p:nvSpPr>
          <p:spPr bwMode="auto">
            <a:xfrm flipH="1">
              <a:off x="3100573" y="2816631"/>
              <a:ext cx="195584" cy="546029"/>
            </a:xfrm>
            <a:prstGeom prst="line">
              <a:avLst/>
            </a:prstGeom>
            <a:noFill/>
            <a:ln w="9525">
              <a:solidFill>
                <a:srgbClr val="4472C4"/>
              </a:solidFill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2" name="Line 31"/>
            <p:cNvSpPr>
              <a:spLocks noChangeShapeType="1"/>
            </p:cNvSpPr>
            <p:nvPr/>
          </p:nvSpPr>
          <p:spPr bwMode="auto">
            <a:xfrm>
              <a:off x="3576044" y="2862134"/>
              <a:ext cx="192212" cy="500526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3" name="Line 32"/>
            <p:cNvSpPr>
              <a:spLocks noChangeShapeType="1"/>
            </p:cNvSpPr>
            <p:nvPr/>
          </p:nvSpPr>
          <p:spPr bwMode="auto">
            <a:xfrm flipH="1">
              <a:off x="4290937" y="2864112"/>
              <a:ext cx="225933" cy="498548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4" name="Oval 24"/>
            <p:cNvSpPr>
              <a:spLocks noChangeArrowheads="1"/>
            </p:cNvSpPr>
            <p:nvPr/>
          </p:nvSpPr>
          <p:spPr bwMode="auto">
            <a:xfrm>
              <a:off x="4859141" y="3362660"/>
              <a:ext cx="391167" cy="457003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545" name="Line 31"/>
            <p:cNvSpPr>
              <a:spLocks noChangeShapeType="1"/>
            </p:cNvSpPr>
            <p:nvPr/>
          </p:nvSpPr>
          <p:spPr bwMode="auto">
            <a:xfrm>
              <a:off x="4746175" y="2838394"/>
              <a:ext cx="225933" cy="524266"/>
            </a:xfrm>
            <a:prstGeom prst="line">
              <a:avLst/>
            </a:prstGeom>
            <a:noFill/>
            <a:ln w="9525">
              <a:solidFill>
                <a:sysClr val="window" lastClr="FFFFFF">
                  <a:lumMod val="85000"/>
                </a:sysClr>
              </a:solidFill>
              <a:prstDash val="dash"/>
              <a:miter lim="800000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546" name="组合 21545"/>
          <p:cNvGrpSpPr/>
          <p:nvPr/>
        </p:nvGrpSpPr>
        <p:grpSpPr>
          <a:xfrm>
            <a:off x="4741863" y="2393950"/>
            <a:ext cx="4346575" cy="2235200"/>
            <a:chOff x="6624498" y="810222"/>
            <a:chExt cx="5532869" cy="2836075"/>
          </a:xfrm>
        </p:grpSpPr>
        <p:grpSp>
          <p:nvGrpSpPr>
            <p:cNvPr id="44039" name="组合 21546"/>
            <p:cNvGrpSpPr/>
            <p:nvPr/>
          </p:nvGrpSpPr>
          <p:grpSpPr>
            <a:xfrm>
              <a:off x="6624498" y="1674501"/>
              <a:ext cx="1151238" cy="360755"/>
              <a:chOff x="7874000" y="1421701"/>
              <a:chExt cx="1282076" cy="529513"/>
            </a:xfrm>
          </p:grpSpPr>
          <p:sp>
            <p:nvSpPr>
              <p:cNvPr id="21583" name="矩形 21582"/>
              <p:cNvSpPr/>
              <p:nvPr/>
            </p:nvSpPr>
            <p:spPr>
              <a:xfrm>
                <a:off x="7874000" y="1421464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84" name="矩形 21583"/>
              <p:cNvSpPr/>
              <p:nvPr/>
            </p:nvSpPr>
            <p:spPr>
              <a:xfrm>
                <a:off x="8310583" y="1421464"/>
                <a:ext cx="409578" cy="529215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2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85" name="矩形 21584"/>
              <p:cNvSpPr/>
              <p:nvPr/>
            </p:nvSpPr>
            <p:spPr>
              <a:xfrm>
                <a:off x="8747167" y="1421464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44040" name="组合 21547"/>
            <p:cNvGrpSpPr/>
            <p:nvPr/>
          </p:nvGrpSpPr>
          <p:grpSpPr>
            <a:xfrm>
              <a:off x="8128281" y="810222"/>
              <a:ext cx="1151238" cy="360755"/>
              <a:chOff x="7874000" y="1421701"/>
              <a:chExt cx="1282076" cy="529513"/>
            </a:xfrm>
          </p:grpSpPr>
          <p:sp>
            <p:nvSpPr>
              <p:cNvPr id="21580" name="矩形 21579"/>
              <p:cNvSpPr/>
              <p:nvPr/>
            </p:nvSpPr>
            <p:spPr>
              <a:xfrm>
                <a:off x="7873633" y="1421701"/>
                <a:ext cx="409578" cy="529217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81" name="矩形 21580"/>
              <p:cNvSpPr/>
              <p:nvPr/>
            </p:nvSpPr>
            <p:spPr>
              <a:xfrm>
                <a:off x="8310216" y="1421701"/>
                <a:ext cx="409578" cy="529217"/>
              </a:xfrm>
              <a:prstGeom prst="rect">
                <a:avLst/>
              </a:prstGeom>
              <a:solidFill>
                <a:srgbClr val="C00000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1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82" name="矩形 21581"/>
              <p:cNvSpPr/>
              <p:nvPr/>
            </p:nvSpPr>
            <p:spPr>
              <a:xfrm>
                <a:off x="8746800" y="1421701"/>
                <a:ext cx="409578" cy="529217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44041" name="组合 21548"/>
            <p:cNvGrpSpPr/>
            <p:nvPr/>
          </p:nvGrpSpPr>
          <p:grpSpPr>
            <a:xfrm>
              <a:off x="10178487" y="1674500"/>
              <a:ext cx="1151238" cy="360755"/>
              <a:chOff x="7874000" y="1421701"/>
              <a:chExt cx="1282076" cy="529513"/>
            </a:xfrm>
          </p:grpSpPr>
          <p:sp>
            <p:nvSpPr>
              <p:cNvPr id="21577" name="矩形 21576"/>
              <p:cNvSpPr/>
              <p:nvPr/>
            </p:nvSpPr>
            <p:spPr>
              <a:xfrm>
                <a:off x="7874607" y="1421464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78" name="矩形 21577"/>
              <p:cNvSpPr/>
              <p:nvPr/>
            </p:nvSpPr>
            <p:spPr>
              <a:xfrm>
                <a:off x="8308940" y="1421464"/>
                <a:ext cx="409578" cy="529215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3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79" name="矩形 21578"/>
              <p:cNvSpPr/>
              <p:nvPr/>
            </p:nvSpPr>
            <p:spPr>
              <a:xfrm>
                <a:off x="8745524" y="1421464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44042" name="组合 21549"/>
            <p:cNvGrpSpPr/>
            <p:nvPr/>
          </p:nvGrpSpPr>
          <p:grpSpPr>
            <a:xfrm>
              <a:off x="7089389" y="2422900"/>
              <a:ext cx="1151238" cy="360755"/>
              <a:chOff x="7874000" y="1421701"/>
              <a:chExt cx="1282076" cy="529513"/>
            </a:xfrm>
          </p:grpSpPr>
          <p:sp>
            <p:nvSpPr>
              <p:cNvPr id="21574" name="矩形 21573"/>
              <p:cNvSpPr/>
              <p:nvPr/>
            </p:nvSpPr>
            <p:spPr>
              <a:xfrm>
                <a:off x="7873874" y="1422792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75" name="矩形 21574"/>
              <p:cNvSpPr/>
              <p:nvPr/>
            </p:nvSpPr>
            <p:spPr>
              <a:xfrm>
                <a:off x="8310457" y="1422792"/>
                <a:ext cx="409578" cy="529215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5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76" name="矩形 21575"/>
              <p:cNvSpPr/>
              <p:nvPr/>
            </p:nvSpPr>
            <p:spPr>
              <a:xfrm>
                <a:off x="8747041" y="1422792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44043" name="组合 21550"/>
            <p:cNvGrpSpPr/>
            <p:nvPr/>
          </p:nvGrpSpPr>
          <p:grpSpPr>
            <a:xfrm>
              <a:off x="7617145" y="3285542"/>
              <a:ext cx="1229058" cy="360755"/>
              <a:chOff x="7874000" y="1421701"/>
              <a:chExt cx="1368740" cy="529513"/>
            </a:xfrm>
          </p:grpSpPr>
          <p:sp>
            <p:nvSpPr>
              <p:cNvPr id="21571" name="矩形 21570"/>
              <p:cNvSpPr/>
              <p:nvPr/>
            </p:nvSpPr>
            <p:spPr>
              <a:xfrm>
                <a:off x="7873500" y="1421999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72" name="矩形 21571"/>
              <p:cNvSpPr/>
              <p:nvPr/>
            </p:nvSpPr>
            <p:spPr>
              <a:xfrm>
                <a:off x="8307833" y="1421999"/>
                <a:ext cx="504096" cy="529215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11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73" name="矩形 21572"/>
              <p:cNvSpPr/>
              <p:nvPr/>
            </p:nvSpPr>
            <p:spPr>
              <a:xfrm>
                <a:off x="8832182" y="1421999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44044" name="组合 21551"/>
            <p:cNvGrpSpPr/>
            <p:nvPr/>
          </p:nvGrpSpPr>
          <p:grpSpPr>
            <a:xfrm>
              <a:off x="9525047" y="2414967"/>
              <a:ext cx="1151238" cy="360755"/>
              <a:chOff x="7874000" y="1421701"/>
              <a:chExt cx="1282076" cy="529513"/>
            </a:xfrm>
          </p:grpSpPr>
          <p:sp>
            <p:nvSpPr>
              <p:cNvPr id="21568" name="矩形 21567"/>
              <p:cNvSpPr/>
              <p:nvPr/>
            </p:nvSpPr>
            <p:spPr>
              <a:xfrm>
                <a:off x="7873171" y="1422610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69" name="矩形 21568"/>
              <p:cNvSpPr/>
              <p:nvPr/>
            </p:nvSpPr>
            <p:spPr>
              <a:xfrm>
                <a:off x="8309754" y="1422610"/>
                <a:ext cx="409578" cy="529215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6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70" name="矩形 21569"/>
              <p:cNvSpPr/>
              <p:nvPr/>
            </p:nvSpPr>
            <p:spPr>
              <a:xfrm>
                <a:off x="8746338" y="1422610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44045" name="组合 21552"/>
            <p:cNvGrpSpPr/>
            <p:nvPr/>
          </p:nvGrpSpPr>
          <p:grpSpPr>
            <a:xfrm>
              <a:off x="11006129" y="2414967"/>
              <a:ext cx="1151238" cy="360755"/>
              <a:chOff x="7874000" y="1421701"/>
              <a:chExt cx="1282076" cy="529513"/>
            </a:xfrm>
          </p:grpSpPr>
          <p:sp>
            <p:nvSpPr>
              <p:cNvPr id="21565" name="矩形 21564"/>
              <p:cNvSpPr/>
              <p:nvPr/>
            </p:nvSpPr>
            <p:spPr>
              <a:xfrm>
                <a:off x="7873331" y="1422610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66" name="矩形 21565"/>
              <p:cNvSpPr/>
              <p:nvPr/>
            </p:nvSpPr>
            <p:spPr>
              <a:xfrm>
                <a:off x="8309914" y="1422610"/>
                <a:ext cx="409578" cy="529215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7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67" name="矩形 21566"/>
              <p:cNvSpPr/>
              <p:nvPr/>
            </p:nvSpPr>
            <p:spPr>
              <a:xfrm>
                <a:off x="8746498" y="1422610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44046" name="组合 21553"/>
            <p:cNvGrpSpPr/>
            <p:nvPr/>
          </p:nvGrpSpPr>
          <p:grpSpPr>
            <a:xfrm>
              <a:off x="8922214" y="3285542"/>
              <a:ext cx="1248513" cy="360755"/>
              <a:chOff x="7874000" y="1421701"/>
              <a:chExt cx="1390406" cy="529513"/>
            </a:xfrm>
          </p:grpSpPr>
          <p:sp>
            <p:nvSpPr>
              <p:cNvPr id="21562" name="矩形 21561"/>
              <p:cNvSpPr/>
              <p:nvPr/>
            </p:nvSpPr>
            <p:spPr>
              <a:xfrm>
                <a:off x="7873888" y="1421999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63" name="矩形 21562"/>
              <p:cNvSpPr/>
              <p:nvPr/>
            </p:nvSpPr>
            <p:spPr>
              <a:xfrm>
                <a:off x="8308222" y="1421999"/>
                <a:ext cx="537852" cy="529215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12</a:t>
                </a:r>
                <a:endPara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64" name="矩形 21563"/>
              <p:cNvSpPr/>
              <p:nvPr/>
            </p:nvSpPr>
            <p:spPr>
              <a:xfrm>
                <a:off x="8855076" y="1421999"/>
                <a:ext cx="409578" cy="529215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^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44047" name="直线连接符 7"/>
            <p:cNvCxnSpPr>
              <a:stCxn id="21580" idx="2"/>
              <a:endCxn id="21584" idx="0"/>
            </p:cNvCxnSpPr>
            <p:nvPr/>
          </p:nvCxnSpPr>
          <p:spPr>
            <a:xfrm flipH="1">
              <a:off x="7199452" y="1170977"/>
              <a:ext cx="1112878" cy="503524"/>
            </a:xfrm>
            <a:prstGeom prst="line">
              <a:avLst/>
            </a:prstGeom>
            <a:ln w="63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44048" name="直线连接符 13"/>
            <p:cNvCxnSpPr>
              <a:stCxn id="21582" idx="2"/>
            </p:cNvCxnSpPr>
            <p:nvPr/>
          </p:nvCxnSpPr>
          <p:spPr>
            <a:xfrm>
              <a:off x="9095471" y="1170977"/>
              <a:ext cx="1385599" cy="503523"/>
            </a:xfrm>
            <a:prstGeom prst="line">
              <a:avLst/>
            </a:prstGeom>
            <a:ln w="63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44049" name="直线连接符 15"/>
            <p:cNvCxnSpPr>
              <a:stCxn id="21585" idx="2"/>
              <a:endCxn id="21575" idx="0"/>
            </p:cNvCxnSpPr>
            <p:nvPr/>
          </p:nvCxnSpPr>
          <p:spPr>
            <a:xfrm>
              <a:off x="7591688" y="2035256"/>
              <a:ext cx="72655" cy="387644"/>
            </a:xfrm>
            <a:prstGeom prst="line">
              <a:avLst/>
            </a:prstGeom>
            <a:ln w="63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44050" name="直线连接符 17"/>
            <p:cNvCxnSpPr>
              <a:stCxn id="21576" idx="2"/>
              <a:endCxn id="21572" idx="0"/>
            </p:cNvCxnSpPr>
            <p:nvPr/>
          </p:nvCxnSpPr>
          <p:spPr>
            <a:xfrm>
              <a:off x="8056579" y="2783655"/>
              <a:ext cx="177857" cy="501887"/>
            </a:xfrm>
            <a:prstGeom prst="line">
              <a:avLst/>
            </a:prstGeom>
            <a:ln w="63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44051" name="直线连接符 19"/>
            <p:cNvCxnSpPr>
              <a:stCxn id="21568" idx="2"/>
              <a:endCxn id="21563" idx="0"/>
            </p:cNvCxnSpPr>
            <p:nvPr/>
          </p:nvCxnSpPr>
          <p:spPr>
            <a:xfrm flipH="1">
              <a:off x="9554494" y="2775722"/>
              <a:ext cx="154602" cy="509820"/>
            </a:xfrm>
            <a:prstGeom prst="line">
              <a:avLst/>
            </a:prstGeom>
            <a:ln w="63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44052" name="直线连接符 21"/>
            <p:cNvCxnSpPr>
              <a:stCxn id="21577" idx="2"/>
              <a:endCxn id="21569" idx="0"/>
            </p:cNvCxnSpPr>
            <p:nvPr/>
          </p:nvCxnSpPr>
          <p:spPr>
            <a:xfrm flipH="1">
              <a:off x="10100001" y="2035255"/>
              <a:ext cx="262535" cy="379712"/>
            </a:xfrm>
            <a:prstGeom prst="line">
              <a:avLst/>
            </a:prstGeom>
            <a:ln w="63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44053" name="直线连接符 23"/>
            <p:cNvCxnSpPr>
              <a:stCxn id="21579" idx="2"/>
              <a:endCxn id="21566" idx="0"/>
            </p:cNvCxnSpPr>
            <p:nvPr/>
          </p:nvCxnSpPr>
          <p:spPr>
            <a:xfrm>
              <a:off x="11145677" y="2035255"/>
              <a:ext cx="435406" cy="379712"/>
            </a:xfrm>
            <a:prstGeom prst="line">
              <a:avLst/>
            </a:prstGeom>
            <a:ln w="63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21586" name="文本框 21585"/>
          <p:cNvSpPr txBox="1">
            <a:spLocks noChangeArrowheads="1"/>
          </p:cNvSpPr>
          <p:nvPr/>
        </p:nvSpPr>
        <p:spPr bwMode="auto">
          <a:xfrm>
            <a:off x="366713" y="849313"/>
            <a:ext cx="4759325" cy="17541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859900"/>
                </a:solidFill>
                <a:latin typeface="Consolas" pitchFamily="49" charset="0"/>
              </a:rPr>
              <a:t>typedef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073642"/>
                </a:solidFill>
                <a:latin typeface="Consolas" pitchFamily="49" charset="0"/>
              </a:rPr>
              <a:t>struct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Node</a:t>
            </a:r>
            <a:endParaRPr lang="en-US" altLang="zh-CN" sz="18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{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   DataType 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data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;       </a:t>
            </a:r>
            <a:r>
              <a:rPr lang="en-US" altLang="zh-CN" sz="1800">
                <a:solidFill>
                  <a:srgbClr val="93A1A1"/>
                </a:solidFill>
                <a:latin typeface="Consolas" pitchFamily="49" charset="0"/>
              </a:rPr>
              <a:t>//</a:t>
            </a:r>
            <a:r>
              <a:rPr lang="zh-CN" altLang="en-US" sz="1800">
                <a:solidFill>
                  <a:srgbClr val="93A1A1"/>
                </a:solidFill>
                <a:latin typeface="Consolas" pitchFamily="49" charset="0"/>
              </a:rPr>
              <a:t>数据域</a:t>
            </a:r>
            <a:endParaRPr lang="zh-CN" altLang="en-US" sz="18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333333"/>
                </a:solidFill>
                <a:latin typeface="Consolas" pitchFamily="49" charset="0"/>
              </a:rPr>
              <a:t>    </a:t>
            </a:r>
            <a:r>
              <a:rPr lang="en-US" altLang="zh-CN" sz="1800">
                <a:solidFill>
                  <a:srgbClr val="073642"/>
                </a:solidFill>
                <a:latin typeface="Consolas" pitchFamily="49" charset="0"/>
              </a:rPr>
              <a:t>struct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Node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LChild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;</a:t>
            </a:r>
            <a:r>
              <a:rPr lang="en-US" altLang="zh-CN" sz="1800">
                <a:solidFill>
                  <a:srgbClr val="93A1A1"/>
                </a:solidFill>
                <a:latin typeface="Consolas" pitchFamily="49" charset="0"/>
              </a:rPr>
              <a:t>//</a:t>
            </a:r>
            <a:r>
              <a:rPr lang="zh-CN" altLang="en-US" sz="1800">
                <a:solidFill>
                  <a:srgbClr val="93A1A1"/>
                </a:solidFill>
                <a:latin typeface="Consolas" pitchFamily="49" charset="0"/>
              </a:rPr>
              <a:t>左孩子指针</a:t>
            </a:r>
            <a:endParaRPr lang="zh-CN" altLang="en-US" sz="18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333333"/>
                </a:solidFill>
                <a:latin typeface="Consolas" pitchFamily="49" charset="0"/>
              </a:rPr>
              <a:t>    </a:t>
            </a:r>
            <a:r>
              <a:rPr lang="en-US" altLang="zh-CN" sz="1800">
                <a:solidFill>
                  <a:srgbClr val="073642"/>
                </a:solidFill>
                <a:latin typeface="Consolas" pitchFamily="49" charset="0"/>
              </a:rPr>
              <a:t>struct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Node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RChild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;</a:t>
            </a:r>
            <a:r>
              <a:rPr lang="en-US" altLang="zh-CN" sz="1800">
                <a:solidFill>
                  <a:srgbClr val="93A1A1"/>
                </a:solidFill>
                <a:latin typeface="Consolas" pitchFamily="49" charset="0"/>
              </a:rPr>
              <a:t>//</a:t>
            </a:r>
            <a:r>
              <a:rPr lang="zh-CN" altLang="en-US" sz="1800">
                <a:solidFill>
                  <a:srgbClr val="93A1A1"/>
                </a:solidFill>
                <a:latin typeface="Consolas" pitchFamily="49" charset="0"/>
              </a:rPr>
              <a:t>右孩子指针</a:t>
            </a:r>
            <a:endParaRPr lang="zh-CN" altLang="en-US" sz="18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}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BiTNode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,</a:t>
            </a:r>
            <a:r>
              <a:rPr lang="en-US" altLang="zh-CN" sz="18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800">
                <a:solidFill>
                  <a:srgbClr val="268BD2"/>
                </a:solidFill>
                <a:latin typeface="Consolas" pitchFamily="49" charset="0"/>
              </a:rPr>
              <a:t>BiTree</a:t>
            </a:r>
            <a:r>
              <a:rPr lang="en-US" altLang="zh-CN" sz="1800">
                <a:solidFill>
                  <a:srgbClr val="333333"/>
                </a:solidFill>
                <a:latin typeface="Consolas" pitchFamily="49" charset="0"/>
              </a:rPr>
              <a:t>;</a:t>
            </a:r>
          </a:p>
        </p:txBody>
      </p:sp>
      <p:sp>
        <p:nvSpPr>
          <p:cNvPr id="21587" name="文本框 21586"/>
          <p:cNvSpPr txBox="1"/>
          <p:nvPr/>
        </p:nvSpPr>
        <p:spPr>
          <a:xfrm>
            <a:off x="5843588" y="1125538"/>
            <a:ext cx="30003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n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个结点的二叉链表共有</a:t>
            </a:r>
            <a:r>
              <a:rPr lang="en-US" altLang="zh-CN" sz="2000">
                <a:solidFill>
                  <a:srgbClr val="000000"/>
                </a:solidFill>
                <a:latin typeface="Calibri" pitchFamily="34" charset="0"/>
              </a:rPr>
              <a:t>n+1</a:t>
            </a:r>
            <a:r>
              <a:rPr lang="zh-CN" altLang="en-US" sz="2000">
                <a:solidFill>
                  <a:srgbClr val="000000"/>
                </a:solidFill>
                <a:latin typeface="Calibri" pitchFamily="34" charset="0"/>
              </a:rPr>
              <a:t>个空链域</a:t>
            </a:r>
            <a:endParaRPr lang="en-US" altLang="zh-CN" sz="20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1588" name="星形: 五角 21587"/>
          <p:cNvSpPr/>
          <p:nvPr/>
        </p:nvSpPr>
        <p:spPr>
          <a:xfrm>
            <a:off x="5437188" y="1119188"/>
            <a:ext cx="390525" cy="360363"/>
          </a:xfrm>
          <a:prstGeom prst="star5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86" grpId="0" animBg="1"/>
      <p:bldP spid="215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</a:p>
        </p:txBody>
      </p:sp>
      <p:sp>
        <p:nvSpPr>
          <p:cNvPr id="30723" name="文本框 31"/>
          <p:cNvSpPr txBox="1">
            <a:spLocks noChangeArrowheads="1"/>
          </p:cNvSpPr>
          <p:nvPr/>
        </p:nvSpPr>
        <p:spPr bwMode="auto">
          <a:xfrm>
            <a:off x="257175" y="679450"/>
            <a:ext cx="8655050" cy="39036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Arial" panose="020B0604020202090204" pitchFamily="34" charset="0"/>
              </a:rPr>
              <a:t>二叉排序树</a:t>
            </a:r>
            <a:r>
              <a:rPr lang="zh-CN" altLang="en-US" sz="2400">
                <a:latin typeface="Arial" panose="020B0604020202090204" pitchFamily="34" charset="0"/>
              </a:rPr>
              <a:t>又称二叉查找树</a:t>
            </a:r>
            <a:r>
              <a:rPr lang="en-US" altLang="zh-CN" sz="2400">
                <a:latin typeface="Arial" panose="020B0604020202090204" pitchFamily="34" charset="0"/>
              </a:rPr>
              <a:t>(BST,Binary Search Tree)</a:t>
            </a:r>
            <a:r>
              <a:rPr lang="zh-CN" altLang="en-US" sz="2400">
                <a:latin typeface="Arial" panose="020B0604020202090204" pitchFamily="34" charset="0"/>
              </a:rPr>
              <a:t>，它是一种特殊的二叉树。其定义为：</a:t>
            </a:r>
            <a:endParaRPr lang="en-US" altLang="zh-CN" sz="2400">
              <a:latin typeface="Arial" panose="020B060402020209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AutoNum type="circleNumDbPlain"/>
            </a:pPr>
            <a:r>
              <a:rPr lang="zh-CN" altLang="en-US" sz="2400">
                <a:latin typeface="Arial" panose="020B0604020202090204" pitchFamily="34" charset="0"/>
              </a:rPr>
              <a:t>若它的左子树非空，则左子树上所有结点的值均小于根结点的值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AutoNum type="circleNumDbPlain"/>
            </a:pPr>
            <a:r>
              <a:rPr lang="zh-CN" altLang="en-US" sz="2400">
                <a:latin typeface="Arial" panose="020B0604020202090204" pitchFamily="34" charset="0"/>
              </a:rPr>
              <a:t>若它的右子树非空，则右子树上所有结点的值均大于或等于根结点的值</a:t>
            </a:r>
            <a:endParaRPr lang="en-US" altLang="zh-CN" sz="2400">
              <a:latin typeface="Arial" panose="020B060402020209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AutoNum type="circleNumDbPlain"/>
            </a:pPr>
            <a:r>
              <a:rPr lang="zh-CN" altLang="en-US" sz="2400">
                <a:latin typeface="Arial" panose="020B0604020202090204" pitchFamily="34" charset="0"/>
              </a:rPr>
              <a:t>它的左右子树也分别为二叉排序树。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</a:p>
        </p:txBody>
      </p:sp>
      <p:sp>
        <p:nvSpPr>
          <p:cNvPr id="48130" name="Oval 3"/>
          <p:cNvSpPr/>
          <p:nvPr/>
        </p:nvSpPr>
        <p:spPr>
          <a:xfrm>
            <a:off x="4251325" y="1095375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50</a:t>
            </a:r>
          </a:p>
        </p:txBody>
      </p:sp>
      <p:sp>
        <p:nvSpPr>
          <p:cNvPr id="48131" name="Oval 4"/>
          <p:cNvSpPr/>
          <p:nvPr/>
        </p:nvSpPr>
        <p:spPr>
          <a:xfrm>
            <a:off x="3128963" y="1804988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30</a:t>
            </a:r>
          </a:p>
        </p:txBody>
      </p:sp>
      <p:sp>
        <p:nvSpPr>
          <p:cNvPr id="48132" name="Oval 5"/>
          <p:cNvSpPr/>
          <p:nvPr/>
        </p:nvSpPr>
        <p:spPr>
          <a:xfrm>
            <a:off x="5508625" y="1887538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80</a:t>
            </a:r>
          </a:p>
        </p:txBody>
      </p:sp>
      <p:sp>
        <p:nvSpPr>
          <p:cNvPr id="48133" name="Oval 6"/>
          <p:cNvSpPr/>
          <p:nvPr/>
        </p:nvSpPr>
        <p:spPr>
          <a:xfrm>
            <a:off x="2041525" y="2414588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20</a:t>
            </a:r>
          </a:p>
        </p:txBody>
      </p:sp>
      <p:sp>
        <p:nvSpPr>
          <p:cNvPr id="48134" name="Oval 7"/>
          <p:cNvSpPr/>
          <p:nvPr/>
        </p:nvSpPr>
        <p:spPr>
          <a:xfrm>
            <a:off x="6810375" y="2466975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90</a:t>
            </a:r>
          </a:p>
        </p:txBody>
      </p:sp>
      <p:sp>
        <p:nvSpPr>
          <p:cNvPr id="48135" name="Oval 8"/>
          <p:cNvSpPr/>
          <p:nvPr/>
        </p:nvSpPr>
        <p:spPr>
          <a:xfrm>
            <a:off x="1225550" y="3346450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10</a:t>
            </a:r>
          </a:p>
        </p:txBody>
      </p:sp>
      <p:sp>
        <p:nvSpPr>
          <p:cNvPr id="48136" name="Oval 9"/>
          <p:cNvSpPr/>
          <p:nvPr/>
        </p:nvSpPr>
        <p:spPr>
          <a:xfrm>
            <a:off x="6048375" y="3309938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85</a:t>
            </a:r>
          </a:p>
        </p:txBody>
      </p:sp>
      <p:sp>
        <p:nvSpPr>
          <p:cNvPr id="48137" name="Oval 10"/>
          <p:cNvSpPr/>
          <p:nvPr/>
        </p:nvSpPr>
        <p:spPr>
          <a:xfrm>
            <a:off x="4251325" y="2466975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40</a:t>
            </a:r>
          </a:p>
        </p:txBody>
      </p:sp>
      <p:sp>
        <p:nvSpPr>
          <p:cNvPr id="48138" name="Oval 11"/>
          <p:cNvSpPr/>
          <p:nvPr/>
        </p:nvSpPr>
        <p:spPr>
          <a:xfrm>
            <a:off x="3584575" y="3309938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35</a:t>
            </a:r>
          </a:p>
        </p:txBody>
      </p:sp>
      <p:sp>
        <p:nvSpPr>
          <p:cNvPr id="48139" name="Oval 12"/>
          <p:cNvSpPr/>
          <p:nvPr/>
        </p:nvSpPr>
        <p:spPr>
          <a:xfrm>
            <a:off x="2738438" y="3298825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25</a:t>
            </a:r>
          </a:p>
        </p:txBody>
      </p:sp>
      <p:sp>
        <p:nvSpPr>
          <p:cNvPr id="48140" name="Oval 13"/>
          <p:cNvSpPr/>
          <p:nvPr/>
        </p:nvSpPr>
        <p:spPr>
          <a:xfrm>
            <a:off x="2041525" y="4278313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23</a:t>
            </a:r>
          </a:p>
        </p:txBody>
      </p:sp>
      <p:sp>
        <p:nvSpPr>
          <p:cNvPr id="48141" name="Oval 14"/>
          <p:cNvSpPr/>
          <p:nvPr/>
        </p:nvSpPr>
        <p:spPr>
          <a:xfrm>
            <a:off x="6810375" y="4224338"/>
            <a:ext cx="762000" cy="609600"/>
          </a:xfrm>
          <a:prstGeom prst="ellipse">
            <a:avLst/>
          </a:prstGeom>
          <a:noFill/>
          <a:ln w="38100" cap="sq" cmpd="sng">
            <a:solidFill>
              <a:srgbClr val="3333FF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</a:rPr>
              <a:t>88</a:t>
            </a:r>
          </a:p>
        </p:txBody>
      </p:sp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500063" y="822325"/>
            <a:ext cx="1187450" cy="46037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0" cap="none" spc="0" normalizeH="0" baseline="0" noProof="0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  <a:cs typeface="+mn-cs"/>
              </a:rPr>
              <a:t>例如</a:t>
            </a:r>
            <a:r>
              <a:rPr kumimoji="0" lang="en-US" altLang="zh-CN" sz="2400" b="1" kern="0" cap="none" spc="0" normalizeH="0" baseline="0" noProof="0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  <a:cs typeface="+mn-cs"/>
              </a:rPr>
              <a:t>:</a:t>
            </a:r>
          </a:p>
        </p:txBody>
      </p:sp>
      <p:sp>
        <p:nvSpPr>
          <p:cNvPr id="15" name="Text Box 27"/>
          <p:cNvSpPr txBox="1"/>
          <p:nvPr/>
        </p:nvSpPr>
        <p:spPr>
          <a:xfrm>
            <a:off x="4071938" y="4333875"/>
            <a:ext cx="24622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是二叉排序树。</a:t>
            </a:r>
          </a:p>
        </p:txBody>
      </p:sp>
      <p:grpSp>
        <p:nvGrpSpPr>
          <p:cNvPr id="16" name="Group 28"/>
          <p:cNvGrpSpPr/>
          <p:nvPr/>
        </p:nvGrpSpPr>
        <p:grpSpPr>
          <a:xfrm>
            <a:off x="4983163" y="2947988"/>
            <a:ext cx="927100" cy="973137"/>
            <a:chOff x="3262" y="1933"/>
            <a:chExt cx="626" cy="563"/>
          </a:xfrm>
        </p:grpSpPr>
        <p:sp>
          <p:nvSpPr>
            <p:cNvPr id="48157" name="Line 29"/>
            <p:cNvSpPr/>
            <p:nvPr/>
          </p:nvSpPr>
          <p:spPr>
            <a:xfrm>
              <a:off x="3262" y="1933"/>
              <a:ext cx="290" cy="22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8" name="Oval 30"/>
            <p:cNvSpPr/>
            <p:nvPr/>
          </p:nvSpPr>
          <p:spPr>
            <a:xfrm>
              <a:off x="3408" y="2160"/>
              <a:ext cx="480" cy="336"/>
            </a:xfrm>
            <a:prstGeom prst="ellipse">
              <a:avLst/>
            </a:prstGeom>
            <a:solidFill>
              <a:srgbClr val="CCFFCC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503050405090304" pitchFamily="18" charset="0"/>
                </a:rPr>
                <a:t>66</a:t>
              </a:r>
            </a:p>
          </p:txBody>
        </p:sp>
      </p:grpSp>
      <p:sp>
        <p:nvSpPr>
          <p:cNvPr id="19" name="Text Box 31"/>
          <p:cNvSpPr txBox="1">
            <a:spLocks noChangeArrowheads="1"/>
          </p:cNvSpPr>
          <p:nvPr/>
        </p:nvSpPr>
        <p:spPr bwMode="auto">
          <a:xfrm>
            <a:off x="3200400" y="4100513"/>
            <a:ext cx="955675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6000" kern="0" cap="none" spc="0" normalizeH="0" baseline="0" noProof="0" dirty="0">
                <a:solidFill>
                  <a:srgbClr val="FF0000"/>
                </a:solidFill>
                <a:latin typeface="Times New Roman" panose="02020503050405090304" pitchFamily="18" charset="0"/>
                <a:ea typeface="隶书" pitchFamily="49" charset="-122"/>
                <a:cs typeface="+mn-cs"/>
              </a:rPr>
              <a:t>不</a:t>
            </a:r>
          </a:p>
        </p:txBody>
      </p:sp>
      <p:cxnSp>
        <p:nvCxnSpPr>
          <p:cNvPr id="20" name="直接连接符 19"/>
          <p:cNvCxnSpPr>
            <a:stCxn id="48130" idx="3"/>
            <a:endCxn id="48131" idx="7"/>
          </p:cNvCxnSpPr>
          <p:nvPr/>
        </p:nvCxnSpPr>
        <p:spPr>
          <a:xfrm flipH="1">
            <a:off x="3779838" y="1616075"/>
            <a:ext cx="584200" cy="2778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48130" idx="5"/>
            <a:endCxn id="48132" idx="1"/>
          </p:cNvCxnSpPr>
          <p:nvPr/>
        </p:nvCxnSpPr>
        <p:spPr>
          <a:xfrm>
            <a:off x="4902200" y="1616075"/>
            <a:ext cx="719138" cy="3603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48131" idx="2"/>
            <a:endCxn id="48133" idx="7"/>
          </p:cNvCxnSpPr>
          <p:nvPr/>
        </p:nvCxnSpPr>
        <p:spPr>
          <a:xfrm flipH="1">
            <a:off x="2692400" y="2109788"/>
            <a:ext cx="436563" cy="393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48131" idx="6"/>
            <a:endCxn id="48137" idx="1"/>
          </p:cNvCxnSpPr>
          <p:nvPr/>
        </p:nvCxnSpPr>
        <p:spPr>
          <a:xfrm>
            <a:off x="3890963" y="2109788"/>
            <a:ext cx="473075" cy="447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48133" idx="3"/>
            <a:endCxn id="48135" idx="0"/>
          </p:cNvCxnSpPr>
          <p:nvPr/>
        </p:nvCxnSpPr>
        <p:spPr>
          <a:xfrm flipH="1">
            <a:off x="1606550" y="2933700"/>
            <a:ext cx="547688" cy="4127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48133" idx="5"/>
            <a:endCxn id="48139" idx="0"/>
          </p:cNvCxnSpPr>
          <p:nvPr/>
        </p:nvCxnSpPr>
        <p:spPr>
          <a:xfrm>
            <a:off x="2692400" y="2933700"/>
            <a:ext cx="427038" cy="365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48139" idx="3"/>
            <a:endCxn id="48140" idx="0"/>
          </p:cNvCxnSpPr>
          <p:nvPr/>
        </p:nvCxnSpPr>
        <p:spPr>
          <a:xfrm flipH="1">
            <a:off x="2422525" y="3819525"/>
            <a:ext cx="427038" cy="4587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48137" idx="3"/>
            <a:endCxn id="48138" idx="0"/>
          </p:cNvCxnSpPr>
          <p:nvPr/>
        </p:nvCxnSpPr>
        <p:spPr>
          <a:xfrm flipH="1">
            <a:off x="3965575" y="2987675"/>
            <a:ext cx="398463" cy="3222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48132" idx="6"/>
            <a:endCxn id="48134" idx="1"/>
          </p:cNvCxnSpPr>
          <p:nvPr/>
        </p:nvCxnSpPr>
        <p:spPr>
          <a:xfrm>
            <a:off x="6270625" y="2192338"/>
            <a:ext cx="652463" cy="365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48134" idx="3"/>
            <a:endCxn id="48136" idx="0"/>
          </p:cNvCxnSpPr>
          <p:nvPr/>
        </p:nvCxnSpPr>
        <p:spPr>
          <a:xfrm flipH="1">
            <a:off x="6429375" y="2987675"/>
            <a:ext cx="493713" cy="32226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48136" idx="5"/>
            <a:endCxn id="48141" idx="0"/>
          </p:cNvCxnSpPr>
          <p:nvPr/>
        </p:nvCxnSpPr>
        <p:spPr>
          <a:xfrm>
            <a:off x="6699250" y="3830638"/>
            <a:ext cx="492125" cy="393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查找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395288" y="555625"/>
            <a:ext cx="3975100" cy="4416425"/>
            <a:chOff x="515937" y="1400935"/>
            <a:chExt cx="3974435" cy="4417113"/>
          </a:xfrm>
        </p:grpSpPr>
        <p:sp>
          <p:nvSpPr>
            <p:cNvPr id="36" name="Oval 3"/>
            <p:cNvSpPr>
              <a:spLocks noChangeArrowheads="1"/>
            </p:cNvSpPr>
            <p:nvPr/>
          </p:nvSpPr>
          <p:spPr bwMode="auto">
            <a:xfrm>
              <a:off x="2144440" y="1400935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50</a:t>
              </a:r>
            </a:p>
          </p:txBody>
        </p:sp>
        <p:sp>
          <p:nvSpPr>
            <p:cNvPr id="37" name="Oval 4"/>
            <p:cNvSpPr>
              <a:spLocks noChangeArrowheads="1"/>
            </p:cNvSpPr>
            <p:nvPr/>
          </p:nvSpPr>
          <p:spPr bwMode="auto">
            <a:xfrm>
              <a:off x="1331775" y="2294837"/>
              <a:ext cx="649178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30</a:t>
              </a:r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auto">
            <a:xfrm>
              <a:off x="2998372" y="2294837"/>
              <a:ext cx="649178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80</a:t>
              </a:r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auto">
            <a:xfrm>
              <a:off x="515937" y="3201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20</a:t>
              </a:r>
            </a:p>
          </p:txBody>
        </p:sp>
        <p:sp>
          <p:nvSpPr>
            <p:cNvPr id="40" name="Oval 7"/>
            <p:cNvSpPr>
              <a:spLocks noChangeArrowheads="1"/>
            </p:cNvSpPr>
            <p:nvPr/>
          </p:nvSpPr>
          <p:spPr bwMode="auto">
            <a:xfrm>
              <a:off x="3842780" y="3201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90</a:t>
              </a:r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auto">
            <a:xfrm>
              <a:off x="2939643" y="4160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85</a:t>
              </a:r>
            </a:p>
          </p:txBody>
        </p:sp>
        <p:sp>
          <p:nvSpPr>
            <p:cNvPr id="42" name="Oval 10"/>
            <p:cNvSpPr>
              <a:spLocks noChangeArrowheads="1"/>
            </p:cNvSpPr>
            <p:nvPr/>
          </p:nvSpPr>
          <p:spPr bwMode="auto">
            <a:xfrm>
              <a:off x="2144440" y="3201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40</a:t>
              </a:r>
            </a:p>
          </p:txBody>
        </p:sp>
        <p:sp>
          <p:nvSpPr>
            <p:cNvPr id="43" name="Oval 11"/>
            <p:cNvSpPr>
              <a:spLocks noChangeArrowheads="1"/>
            </p:cNvSpPr>
            <p:nvPr/>
          </p:nvSpPr>
          <p:spPr bwMode="auto">
            <a:xfrm>
              <a:off x="1331775" y="4162028"/>
              <a:ext cx="649178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35</a:t>
              </a:r>
            </a:p>
          </p:txBody>
        </p:sp>
        <p:sp>
          <p:nvSpPr>
            <p:cNvPr id="44" name="Oval 12"/>
            <p:cNvSpPr>
              <a:spLocks noChangeArrowheads="1"/>
            </p:cNvSpPr>
            <p:nvPr/>
          </p:nvSpPr>
          <p:spPr bwMode="auto">
            <a:xfrm>
              <a:off x="515937" y="5170247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3842780" y="5170247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88</a:t>
              </a:r>
            </a:p>
          </p:txBody>
        </p:sp>
        <p:cxnSp>
          <p:nvCxnSpPr>
            <p:cNvPr id="50202" name="直接连接符 45"/>
            <p:cNvCxnSpPr>
              <a:stCxn id="36" idx="3"/>
              <a:endCxn id="37" idx="7"/>
            </p:cNvCxnSpPr>
            <p:nvPr/>
          </p:nvCxnSpPr>
          <p:spPr>
            <a:xfrm flipH="1">
              <a:off x="1885310" y="1954038"/>
              <a:ext cx="353885" cy="435043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03" name="直接连接符 46"/>
            <p:cNvCxnSpPr>
              <a:stCxn id="36" idx="5"/>
              <a:endCxn id="38" idx="1"/>
            </p:cNvCxnSpPr>
            <p:nvPr/>
          </p:nvCxnSpPr>
          <p:spPr>
            <a:xfrm>
              <a:off x="2697401" y="1954038"/>
              <a:ext cx="396310" cy="435043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04" name="直接连接符 47"/>
            <p:cNvCxnSpPr>
              <a:stCxn id="37" idx="3"/>
              <a:endCxn id="39" idx="7"/>
            </p:cNvCxnSpPr>
            <p:nvPr/>
          </p:nvCxnSpPr>
          <p:spPr>
            <a:xfrm flipH="1">
              <a:off x="1069040" y="2847287"/>
              <a:ext cx="358064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05" name="直接连接符 48"/>
            <p:cNvCxnSpPr>
              <a:stCxn id="37" idx="5"/>
              <a:endCxn id="42" idx="1"/>
            </p:cNvCxnSpPr>
            <p:nvPr/>
          </p:nvCxnSpPr>
          <p:spPr>
            <a:xfrm>
              <a:off x="1885310" y="2847287"/>
              <a:ext cx="353885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06" name="直接连接符 49"/>
            <p:cNvCxnSpPr>
              <a:stCxn id="38" idx="5"/>
              <a:endCxn id="40" idx="1"/>
            </p:cNvCxnSpPr>
            <p:nvPr/>
          </p:nvCxnSpPr>
          <p:spPr>
            <a:xfrm>
              <a:off x="3551917" y="2847287"/>
              <a:ext cx="385352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07" name="直接连接符 50"/>
            <p:cNvCxnSpPr>
              <a:stCxn id="42" idx="3"/>
              <a:endCxn id="43" idx="7"/>
            </p:cNvCxnSpPr>
            <p:nvPr/>
          </p:nvCxnSpPr>
          <p:spPr>
            <a:xfrm flipH="1">
              <a:off x="1885310" y="3754161"/>
              <a:ext cx="353885" cy="5029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08" name="直接连接符 51"/>
            <p:cNvCxnSpPr>
              <a:stCxn id="43" idx="3"/>
              <a:endCxn id="44" idx="7"/>
            </p:cNvCxnSpPr>
            <p:nvPr/>
          </p:nvCxnSpPr>
          <p:spPr>
            <a:xfrm flipH="1">
              <a:off x="1069040" y="4715335"/>
              <a:ext cx="358064" cy="549610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09" name="直接连接符 52"/>
            <p:cNvCxnSpPr>
              <a:stCxn id="40" idx="3"/>
              <a:endCxn id="41" idx="7"/>
            </p:cNvCxnSpPr>
            <p:nvPr/>
          </p:nvCxnSpPr>
          <p:spPr>
            <a:xfrm flipH="1">
              <a:off x="3492824" y="3754161"/>
              <a:ext cx="444445" cy="501290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0210" name="直接连接符 53"/>
            <p:cNvCxnSpPr>
              <a:stCxn id="41" idx="5"/>
              <a:endCxn id="45" idx="1"/>
            </p:cNvCxnSpPr>
            <p:nvPr/>
          </p:nvCxnSpPr>
          <p:spPr>
            <a:xfrm>
              <a:off x="3492824" y="4713657"/>
              <a:ext cx="444445" cy="55128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55" name="箭头: 下 54"/>
          <p:cNvSpPr/>
          <p:nvPr/>
        </p:nvSpPr>
        <p:spPr>
          <a:xfrm>
            <a:off x="2225675" y="-98425"/>
            <a:ext cx="244475" cy="628650"/>
          </a:xfrm>
          <a:prstGeom prst="downArrow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246563" y="561975"/>
            <a:ext cx="539750" cy="501650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rPr>
              <a:t>37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973388" y="611188"/>
            <a:ext cx="1117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Calibri" pitchFamily="34" charset="0"/>
              </a:rPr>
              <a:t>查找目标：</a:t>
            </a:r>
          </a:p>
        </p:txBody>
      </p:sp>
      <p:sp>
        <p:nvSpPr>
          <p:cNvPr id="58" name="文本框 57"/>
          <p:cNvSpPr txBox="1">
            <a:spLocks noChangeArrowheads="1"/>
          </p:cNvSpPr>
          <p:nvPr/>
        </p:nvSpPr>
        <p:spPr bwMode="auto">
          <a:xfrm>
            <a:off x="4652963" y="2836863"/>
            <a:ext cx="4435475" cy="178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BSTree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SearchBST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BSTree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，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KeyType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k) { 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if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(bt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==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NULL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||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==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k)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          //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递归出口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    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return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bt;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if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(k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&lt;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　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return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SearchBST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lchild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，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k);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//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在左子树中递归查找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else</a:t>
            </a:r>
            <a:endParaRPr lang="en-US" altLang="zh-CN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　 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return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SearchBST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rchild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，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k);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//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在右子树中递归查找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2100263" y="4318000"/>
            <a:ext cx="649288" cy="649288"/>
          </a:xfrm>
          <a:prstGeom prst="ellipse">
            <a:avLst/>
          </a:prstGeom>
          <a:noFill/>
          <a:ln w="38100" cap="sq">
            <a:solidFill>
              <a:srgbClr val="ED7D31"/>
            </a:solidFill>
            <a:prstDash val="sys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rPr>
              <a:t>88</a:t>
            </a:r>
          </a:p>
        </p:txBody>
      </p:sp>
      <p:cxnSp>
        <p:nvCxnSpPr>
          <p:cNvPr id="60" name="直接连接符 59"/>
          <p:cNvCxnSpPr>
            <a:endCxn id="59" idx="1"/>
          </p:cNvCxnSpPr>
          <p:nvPr/>
        </p:nvCxnSpPr>
        <p:spPr>
          <a:xfrm>
            <a:off x="1751013" y="3862388"/>
            <a:ext cx="444500" cy="550862"/>
          </a:xfrm>
          <a:prstGeom prst="line">
            <a:avLst/>
          </a:prstGeom>
          <a:ln w="19050" cap="flat" cmpd="sng">
            <a:solidFill>
              <a:srgbClr val="ED7D31"/>
            </a:solidFill>
            <a:prstDash val="sysDash"/>
            <a:miter/>
            <a:headEnd type="none" w="med" len="med"/>
            <a:tailEnd type="none" w="med" len="med"/>
          </a:ln>
        </p:spPr>
      </p:cxnSp>
      <p:sp>
        <p:nvSpPr>
          <p:cNvPr id="61" name="文本框 60"/>
          <p:cNvSpPr txBox="1"/>
          <p:nvPr/>
        </p:nvSpPr>
        <p:spPr>
          <a:xfrm>
            <a:off x="4822825" y="433388"/>
            <a:ext cx="44831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285750" lvl="0" indent="-285750">
              <a:lnSpc>
                <a:spcPct val="10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000066"/>
                </a:solidFill>
              </a:rPr>
              <a:t>二叉排序树可看做是一个</a:t>
            </a:r>
            <a:r>
              <a:rPr lang="zh-CN" altLang="en-US" sz="1600">
                <a:solidFill>
                  <a:srgbClr val="FF0000"/>
                </a:solidFill>
              </a:rPr>
              <a:t>有序表</a:t>
            </a:r>
            <a:r>
              <a:rPr lang="zh-CN" altLang="en-US" sz="1600">
                <a:solidFill>
                  <a:srgbClr val="000066"/>
                </a:solidFill>
              </a:rPr>
              <a:t>，在二叉排序树</a:t>
            </a:r>
            <a:r>
              <a:rPr lang="en-US" altLang="zh-CN" sz="1600">
                <a:solidFill>
                  <a:srgbClr val="000066"/>
                </a:solidFill>
              </a:rPr>
              <a:t>bt</a:t>
            </a:r>
            <a:r>
              <a:rPr lang="zh-CN" altLang="en-US" sz="1600">
                <a:solidFill>
                  <a:srgbClr val="000066"/>
                </a:solidFill>
              </a:rPr>
              <a:t>上查找关键字为</a:t>
            </a:r>
            <a:r>
              <a:rPr lang="en-US" altLang="zh-CN" sz="1600">
                <a:solidFill>
                  <a:srgbClr val="FF0000"/>
                </a:solidFill>
              </a:rPr>
              <a:t>k</a:t>
            </a:r>
            <a:r>
              <a:rPr lang="zh-CN" altLang="en-US" sz="1600">
                <a:solidFill>
                  <a:srgbClr val="000066"/>
                </a:solidFill>
              </a:rPr>
              <a:t>的记录，</a:t>
            </a:r>
            <a:endParaRPr lang="en-US" altLang="zh-CN" sz="1600">
              <a:solidFill>
                <a:srgbClr val="000066"/>
              </a:solidFill>
            </a:endParaRPr>
          </a:p>
          <a:p>
            <a:pPr marL="285750" lvl="0" indent="-285750">
              <a:lnSpc>
                <a:spcPct val="10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000066"/>
                </a:solidFill>
              </a:rPr>
              <a:t>成功时返回该结点指针，否则返回</a:t>
            </a:r>
            <a:r>
              <a:rPr lang="en-US" altLang="zh-CN" sz="1600">
                <a:solidFill>
                  <a:srgbClr val="000066"/>
                </a:solidFill>
              </a:rPr>
              <a:t>NULL</a:t>
            </a:r>
            <a:endParaRPr lang="zh-CN" altLang="en-US" sz="1600">
              <a:solidFill>
                <a:srgbClr val="000066"/>
              </a:solidFill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4660900" y="1522413"/>
            <a:ext cx="4427538" cy="1255712"/>
            <a:chOff x="5326804" y="2510844"/>
            <a:chExt cx="4474516" cy="1255169"/>
          </a:xfrm>
        </p:grpSpPr>
        <p:sp>
          <p:nvSpPr>
            <p:cNvPr id="63" name="文本框 62"/>
            <p:cNvSpPr txBox="1"/>
            <p:nvPr/>
          </p:nvSpPr>
          <p:spPr>
            <a:xfrm>
              <a:off x="5326804" y="2934523"/>
              <a:ext cx="4474516" cy="83149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typedef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</a:t>
              </a:r>
              <a:r>
                <a:rPr lang="en-US" altLang="zh-CN" sz="1200">
                  <a:solidFill>
                    <a:srgbClr val="073642"/>
                  </a:solidFill>
                  <a:latin typeface="Consolas" pitchFamily="49" charset="0"/>
                </a:rPr>
                <a:t>struct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 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node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{</a:t>
              </a:r>
            </a:p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    KeyType  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key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;         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/*</a:t>
              </a:r>
              <a:r>
                <a:rPr lang="zh-CN" altLang="en-US" sz="1200">
                  <a:solidFill>
                    <a:srgbClr val="93A1A1"/>
                  </a:solidFill>
                  <a:latin typeface="Consolas" pitchFamily="49" charset="0"/>
                </a:rPr>
                <a:t>关键字的值*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</a:t>
              </a:r>
              <a:endParaRPr lang="zh-CN" altLang="en-US" sz="1200">
                <a:solidFill>
                  <a:srgbClr val="333333"/>
                </a:solidFill>
                <a:latin typeface="Consolas" pitchFamily="49" charset="0"/>
              </a:endParaRPr>
            </a:p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rgbClr val="333333"/>
                  </a:solidFill>
                  <a:latin typeface="Consolas" pitchFamily="49" charset="0"/>
                </a:rPr>
                <a:t>     </a:t>
              </a:r>
              <a:r>
                <a:rPr lang="en-US" altLang="zh-CN" sz="1200">
                  <a:solidFill>
                    <a:srgbClr val="073642"/>
                  </a:solidFill>
                  <a:latin typeface="Consolas" pitchFamily="49" charset="0"/>
                </a:rPr>
                <a:t>struct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node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 </a:t>
              </a: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*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lchild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,</a:t>
              </a: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*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rchild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; 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/*</a:t>
              </a:r>
              <a:r>
                <a:rPr lang="zh-CN" altLang="en-US" sz="1200">
                  <a:solidFill>
                    <a:srgbClr val="93A1A1"/>
                  </a:solidFill>
                  <a:latin typeface="Consolas" pitchFamily="49" charset="0"/>
                </a:rPr>
                <a:t>左右孩子指针*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</a:t>
              </a:r>
              <a:endParaRPr lang="zh-CN" altLang="en-US" sz="1200">
                <a:solidFill>
                  <a:srgbClr val="333333"/>
                </a:solidFill>
                <a:latin typeface="Consolas" pitchFamily="49" charset="0"/>
              </a:endParaRPr>
            </a:p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}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BSTNode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,</a:t>
              </a: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*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BSTree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; </a:t>
              </a:r>
            </a:p>
          </p:txBody>
        </p:sp>
        <p:grpSp>
          <p:nvGrpSpPr>
            <p:cNvPr id="50188" name="组合 21503"/>
            <p:cNvGrpSpPr/>
            <p:nvPr/>
          </p:nvGrpSpPr>
          <p:grpSpPr>
            <a:xfrm>
              <a:off x="5397494" y="2510844"/>
              <a:ext cx="2128507" cy="362243"/>
              <a:chOff x="7172946" y="2678060"/>
              <a:chExt cx="2128507" cy="362243"/>
            </a:xfrm>
          </p:grpSpPr>
          <p:sp>
            <p:nvSpPr>
              <p:cNvPr id="21506" name="矩形 21505"/>
              <p:cNvSpPr/>
              <p:nvPr/>
            </p:nvSpPr>
            <p:spPr>
              <a:xfrm>
                <a:off x="7172847" y="2679646"/>
                <a:ext cx="746020" cy="360207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lchild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07" name="矩形 21506"/>
              <p:cNvSpPr/>
              <p:nvPr/>
            </p:nvSpPr>
            <p:spPr>
              <a:xfrm>
                <a:off x="7941328" y="2679646"/>
                <a:ext cx="600025" cy="360207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key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08" name="矩形 21507"/>
              <p:cNvSpPr/>
              <p:nvPr/>
            </p:nvSpPr>
            <p:spPr>
              <a:xfrm>
                <a:off x="8581461" y="2678060"/>
                <a:ext cx="720351" cy="360206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rhcild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69136E-6 L -0.0875 0.1734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00" y="8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75 0.17345 L -0.00087 0.3487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0" y="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0.34876 L -0.0875 0.5339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0" y="9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75 0.53395 L 0.00695 0.73148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5" grpId="3" animBg="1"/>
      <p:bldP spid="55" grpId="4" animBg="1"/>
      <p:bldP spid="56" grpId="0" animBg="1"/>
      <p:bldP spid="57" grpId="0"/>
      <p:bldP spid="58" grpId="0" animBg="1"/>
      <p:bldP spid="59" grpId="0" animBg="1"/>
      <p:bldP spid="6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查找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395288" y="663575"/>
            <a:ext cx="3975100" cy="4416425"/>
            <a:chOff x="515937" y="1400935"/>
            <a:chExt cx="3974435" cy="4417113"/>
          </a:xfrm>
        </p:grpSpPr>
        <p:sp>
          <p:nvSpPr>
            <p:cNvPr id="35" name="Oval 3"/>
            <p:cNvSpPr>
              <a:spLocks noChangeArrowheads="1"/>
            </p:cNvSpPr>
            <p:nvPr/>
          </p:nvSpPr>
          <p:spPr bwMode="auto">
            <a:xfrm>
              <a:off x="2144440" y="1400935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50</a:t>
              </a:r>
            </a:p>
          </p:txBody>
        </p:sp>
        <p:sp>
          <p:nvSpPr>
            <p:cNvPr id="36" name="Oval 4"/>
            <p:cNvSpPr>
              <a:spLocks noChangeArrowheads="1"/>
            </p:cNvSpPr>
            <p:nvPr/>
          </p:nvSpPr>
          <p:spPr bwMode="auto">
            <a:xfrm>
              <a:off x="1331775" y="2294837"/>
              <a:ext cx="649178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30</a:t>
              </a:r>
            </a:p>
          </p:txBody>
        </p:sp>
        <p:sp>
          <p:nvSpPr>
            <p:cNvPr id="37" name="Oval 5"/>
            <p:cNvSpPr>
              <a:spLocks noChangeArrowheads="1"/>
            </p:cNvSpPr>
            <p:nvPr/>
          </p:nvSpPr>
          <p:spPr bwMode="auto">
            <a:xfrm>
              <a:off x="2998372" y="2294837"/>
              <a:ext cx="649178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80</a:t>
              </a:r>
            </a:p>
          </p:txBody>
        </p:sp>
        <p:sp>
          <p:nvSpPr>
            <p:cNvPr id="38" name="Oval 6"/>
            <p:cNvSpPr>
              <a:spLocks noChangeArrowheads="1"/>
            </p:cNvSpPr>
            <p:nvPr/>
          </p:nvSpPr>
          <p:spPr bwMode="auto">
            <a:xfrm>
              <a:off x="515937" y="3201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20</a:t>
              </a:r>
            </a:p>
          </p:txBody>
        </p:sp>
        <p:sp>
          <p:nvSpPr>
            <p:cNvPr id="39" name="Oval 7"/>
            <p:cNvSpPr>
              <a:spLocks noChangeArrowheads="1"/>
            </p:cNvSpPr>
            <p:nvPr/>
          </p:nvSpPr>
          <p:spPr bwMode="auto">
            <a:xfrm>
              <a:off x="3842780" y="3201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90</a:t>
              </a:r>
            </a:p>
          </p:txBody>
        </p:sp>
        <p:sp>
          <p:nvSpPr>
            <p:cNvPr id="40" name="Oval 9"/>
            <p:cNvSpPr>
              <a:spLocks noChangeArrowheads="1"/>
            </p:cNvSpPr>
            <p:nvPr/>
          </p:nvSpPr>
          <p:spPr bwMode="auto">
            <a:xfrm>
              <a:off x="2939643" y="4160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85</a:t>
              </a:r>
            </a:p>
          </p:txBody>
        </p:sp>
        <p:sp>
          <p:nvSpPr>
            <p:cNvPr id="41" name="Oval 10"/>
            <p:cNvSpPr>
              <a:spLocks noChangeArrowheads="1"/>
            </p:cNvSpPr>
            <p:nvPr/>
          </p:nvSpPr>
          <p:spPr bwMode="auto">
            <a:xfrm>
              <a:off x="2144440" y="3201440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40</a:t>
              </a:r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1331775" y="4162028"/>
              <a:ext cx="649178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35</a:t>
              </a:r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515937" y="5170247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3842780" y="5170247"/>
              <a:ext cx="647592" cy="647801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88</a:t>
              </a:r>
            </a:p>
          </p:txBody>
        </p:sp>
        <p:cxnSp>
          <p:nvCxnSpPr>
            <p:cNvPr id="52249" name="直接连接符 44"/>
            <p:cNvCxnSpPr>
              <a:stCxn id="35" idx="3"/>
              <a:endCxn id="36" idx="7"/>
            </p:cNvCxnSpPr>
            <p:nvPr/>
          </p:nvCxnSpPr>
          <p:spPr>
            <a:xfrm flipH="1">
              <a:off x="1885310" y="1954038"/>
              <a:ext cx="353885" cy="435043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0" name="直接连接符 45"/>
            <p:cNvCxnSpPr>
              <a:stCxn id="35" idx="5"/>
              <a:endCxn id="37" idx="1"/>
            </p:cNvCxnSpPr>
            <p:nvPr/>
          </p:nvCxnSpPr>
          <p:spPr>
            <a:xfrm>
              <a:off x="2697401" y="1954038"/>
              <a:ext cx="396310" cy="435043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1" name="直接连接符 46"/>
            <p:cNvCxnSpPr>
              <a:stCxn id="36" idx="3"/>
              <a:endCxn id="38" idx="7"/>
            </p:cNvCxnSpPr>
            <p:nvPr/>
          </p:nvCxnSpPr>
          <p:spPr>
            <a:xfrm flipH="1">
              <a:off x="1069040" y="2847287"/>
              <a:ext cx="358064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2" name="直接连接符 47"/>
            <p:cNvCxnSpPr>
              <a:stCxn id="36" idx="5"/>
              <a:endCxn id="41" idx="1"/>
            </p:cNvCxnSpPr>
            <p:nvPr/>
          </p:nvCxnSpPr>
          <p:spPr>
            <a:xfrm>
              <a:off x="1885310" y="2847287"/>
              <a:ext cx="353885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3" name="直接连接符 48"/>
            <p:cNvCxnSpPr>
              <a:stCxn id="37" idx="5"/>
              <a:endCxn id="39" idx="1"/>
            </p:cNvCxnSpPr>
            <p:nvPr/>
          </p:nvCxnSpPr>
          <p:spPr>
            <a:xfrm>
              <a:off x="3551917" y="2847287"/>
              <a:ext cx="385352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4" name="直接连接符 49"/>
            <p:cNvCxnSpPr>
              <a:stCxn id="41" idx="3"/>
              <a:endCxn id="42" idx="7"/>
            </p:cNvCxnSpPr>
            <p:nvPr/>
          </p:nvCxnSpPr>
          <p:spPr>
            <a:xfrm flipH="1">
              <a:off x="1885310" y="3754161"/>
              <a:ext cx="353885" cy="5029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5" name="直接连接符 50"/>
            <p:cNvCxnSpPr>
              <a:stCxn id="42" idx="3"/>
              <a:endCxn id="43" idx="7"/>
            </p:cNvCxnSpPr>
            <p:nvPr/>
          </p:nvCxnSpPr>
          <p:spPr>
            <a:xfrm flipH="1">
              <a:off x="1069040" y="4715335"/>
              <a:ext cx="358064" cy="549610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6" name="直接连接符 51"/>
            <p:cNvCxnSpPr>
              <a:stCxn id="39" idx="3"/>
              <a:endCxn id="40" idx="7"/>
            </p:cNvCxnSpPr>
            <p:nvPr/>
          </p:nvCxnSpPr>
          <p:spPr>
            <a:xfrm flipH="1">
              <a:off x="3492824" y="3754161"/>
              <a:ext cx="444445" cy="501290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2257" name="直接连接符 52"/>
            <p:cNvCxnSpPr>
              <a:stCxn id="40" idx="5"/>
              <a:endCxn id="44" idx="1"/>
            </p:cNvCxnSpPr>
            <p:nvPr/>
          </p:nvCxnSpPr>
          <p:spPr>
            <a:xfrm>
              <a:off x="3492824" y="4713657"/>
              <a:ext cx="444445" cy="55128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54" name="箭头: 下 53"/>
          <p:cNvSpPr/>
          <p:nvPr/>
        </p:nvSpPr>
        <p:spPr>
          <a:xfrm>
            <a:off x="2225675" y="7938"/>
            <a:ext cx="244475" cy="628650"/>
          </a:xfrm>
          <a:prstGeom prst="downArrow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332288" y="666750"/>
            <a:ext cx="539750" cy="501650"/>
          </a:xfrm>
          <a:prstGeom prst="rect">
            <a:avLst/>
          </a:prstGeom>
          <a:solidFill>
            <a:srgbClr val="70AD47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rPr>
              <a:t>32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163888" y="738188"/>
            <a:ext cx="1117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Calibri" pitchFamily="34" charset="0"/>
              </a:rPr>
              <a:t>查找目标：</a:t>
            </a:r>
          </a:p>
        </p:txBody>
      </p:sp>
      <p:sp>
        <p:nvSpPr>
          <p:cNvPr id="57" name="Oval 12"/>
          <p:cNvSpPr>
            <a:spLocks noChangeArrowheads="1"/>
          </p:cNvSpPr>
          <p:nvPr/>
        </p:nvSpPr>
        <p:spPr bwMode="auto">
          <a:xfrm>
            <a:off x="395288" y="4432300"/>
            <a:ext cx="647700" cy="647700"/>
          </a:xfrm>
          <a:prstGeom prst="ellipse">
            <a:avLst/>
          </a:prstGeom>
          <a:solidFill>
            <a:srgbClr val="70AD47"/>
          </a:solidFill>
          <a:ln w="38100" cap="sq">
            <a:solidFill>
              <a:srgbClr val="70AD47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rPr>
              <a:t>32</a:t>
            </a:r>
          </a:p>
        </p:txBody>
      </p:sp>
      <p:sp>
        <p:nvSpPr>
          <p:cNvPr id="58" name="文本框 57"/>
          <p:cNvSpPr txBox="1">
            <a:spLocks noChangeArrowheads="1"/>
          </p:cNvSpPr>
          <p:nvPr/>
        </p:nvSpPr>
        <p:spPr bwMode="auto">
          <a:xfrm>
            <a:off x="4518025" y="3111500"/>
            <a:ext cx="4541838" cy="14462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BSTree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SearchBST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BSTree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，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KeyType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k) { 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if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(bt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==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NULL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||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==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k)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          //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递归出口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    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return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bt;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if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(k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&lt;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　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return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SearchBST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lchild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，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k);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//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在左子树中递归查找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else</a:t>
            </a:r>
            <a:endParaRPr lang="en-US" altLang="zh-CN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　 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return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SearchBST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rchild</a:t>
            </a: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，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k);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//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在右子树中递归查找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4935538" y="495300"/>
            <a:ext cx="3954462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285750" lvl="0" indent="-285750">
              <a:lnSpc>
                <a:spcPct val="10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000066"/>
                </a:solidFill>
              </a:rPr>
              <a:t>二叉排序树可看做是一个</a:t>
            </a:r>
            <a:r>
              <a:rPr lang="zh-CN" altLang="en-US" sz="1600">
                <a:solidFill>
                  <a:srgbClr val="FF0000"/>
                </a:solidFill>
              </a:rPr>
              <a:t>有序表</a:t>
            </a:r>
            <a:r>
              <a:rPr lang="zh-CN" altLang="en-US" sz="1600">
                <a:solidFill>
                  <a:srgbClr val="000066"/>
                </a:solidFill>
              </a:rPr>
              <a:t>，在二叉排序树</a:t>
            </a:r>
            <a:r>
              <a:rPr lang="en-US" altLang="zh-CN" sz="1600">
                <a:solidFill>
                  <a:srgbClr val="000066"/>
                </a:solidFill>
              </a:rPr>
              <a:t>bt</a:t>
            </a:r>
            <a:r>
              <a:rPr lang="zh-CN" altLang="en-US" sz="1600">
                <a:solidFill>
                  <a:srgbClr val="000066"/>
                </a:solidFill>
              </a:rPr>
              <a:t>上查找关键字为</a:t>
            </a:r>
            <a:r>
              <a:rPr lang="en-US" altLang="zh-CN" sz="1600">
                <a:solidFill>
                  <a:srgbClr val="FF0000"/>
                </a:solidFill>
              </a:rPr>
              <a:t>k</a:t>
            </a:r>
            <a:r>
              <a:rPr lang="zh-CN" altLang="en-US" sz="1600">
                <a:solidFill>
                  <a:srgbClr val="000066"/>
                </a:solidFill>
              </a:rPr>
              <a:t>的记录，</a:t>
            </a:r>
            <a:endParaRPr lang="en-US" altLang="zh-CN" sz="1600">
              <a:solidFill>
                <a:srgbClr val="000066"/>
              </a:solidFill>
            </a:endParaRPr>
          </a:p>
          <a:p>
            <a:pPr marL="285750" lvl="0" indent="-285750">
              <a:lnSpc>
                <a:spcPct val="10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000066"/>
                </a:solidFill>
              </a:rPr>
              <a:t>成功时返回该结点指针，否则返回</a:t>
            </a:r>
            <a:r>
              <a:rPr lang="en-US" altLang="zh-CN" sz="1600">
                <a:solidFill>
                  <a:srgbClr val="000066"/>
                </a:solidFill>
              </a:rPr>
              <a:t>NULL</a:t>
            </a:r>
            <a:endParaRPr lang="zh-CN" altLang="en-US" sz="1600">
              <a:solidFill>
                <a:srgbClr val="000066"/>
              </a:solidFill>
            </a:endParaRPr>
          </a:p>
        </p:txBody>
      </p:sp>
      <p:grpSp>
        <p:nvGrpSpPr>
          <p:cNvPr id="21507" name="组合 21506"/>
          <p:cNvGrpSpPr/>
          <p:nvPr/>
        </p:nvGrpSpPr>
        <p:grpSpPr>
          <a:xfrm>
            <a:off x="4572000" y="1695450"/>
            <a:ext cx="4427538" cy="1255713"/>
            <a:chOff x="5326804" y="2510844"/>
            <a:chExt cx="4474516" cy="1255169"/>
          </a:xfrm>
        </p:grpSpPr>
        <p:sp>
          <p:nvSpPr>
            <p:cNvPr id="21508" name="文本框 21507"/>
            <p:cNvSpPr txBox="1"/>
            <p:nvPr/>
          </p:nvSpPr>
          <p:spPr>
            <a:xfrm>
              <a:off x="5326804" y="2934523"/>
              <a:ext cx="4474516" cy="83149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typedef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</a:t>
              </a:r>
              <a:r>
                <a:rPr lang="en-US" altLang="zh-CN" sz="1200">
                  <a:solidFill>
                    <a:srgbClr val="073642"/>
                  </a:solidFill>
                  <a:latin typeface="Consolas" pitchFamily="49" charset="0"/>
                </a:rPr>
                <a:t>struct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 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node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{</a:t>
              </a:r>
            </a:p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    KeyType  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key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;         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/*</a:t>
              </a:r>
              <a:r>
                <a:rPr lang="zh-CN" altLang="en-US" sz="1200">
                  <a:solidFill>
                    <a:srgbClr val="93A1A1"/>
                  </a:solidFill>
                  <a:latin typeface="Consolas" pitchFamily="49" charset="0"/>
                </a:rPr>
                <a:t>关键字的值*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</a:t>
              </a:r>
              <a:endParaRPr lang="zh-CN" altLang="en-US" sz="1200">
                <a:solidFill>
                  <a:srgbClr val="333333"/>
                </a:solidFill>
                <a:latin typeface="Consolas" pitchFamily="49" charset="0"/>
              </a:endParaRPr>
            </a:p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rgbClr val="333333"/>
                  </a:solidFill>
                  <a:latin typeface="Consolas" pitchFamily="49" charset="0"/>
                </a:rPr>
                <a:t>     </a:t>
              </a:r>
              <a:r>
                <a:rPr lang="en-US" altLang="zh-CN" sz="1200">
                  <a:solidFill>
                    <a:srgbClr val="073642"/>
                  </a:solidFill>
                  <a:latin typeface="Consolas" pitchFamily="49" charset="0"/>
                </a:rPr>
                <a:t>struct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node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  </a:t>
              </a: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*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lchild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,</a:t>
              </a: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*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rchild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; 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/*</a:t>
              </a:r>
              <a:r>
                <a:rPr lang="zh-CN" altLang="en-US" sz="1200">
                  <a:solidFill>
                    <a:srgbClr val="93A1A1"/>
                  </a:solidFill>
                  <a:latin typeface="Consolas" pitchFamily="49" charset="0"/>
                </a:rPr>
                <a:t>左右孩子指针*</a:t>
              </a:r>
              <a:r>
                <a:rPr lang="en-US" altLang="zh-CN" sz="1200">
                  <a:solidFill>
                    <a:srgbClr val="93A1A1"/>
                  </a:solidFill>
                  <a:latin typeface="Consolas" pitchFamily="49" charset="0"/>
                </a:rPr>
                <a:t>/</a:t>
              </a:r>
              <a:endParaRPr lang="zh-CN" altLang="en-US" sz="1200">
                <a:solidFill>
                  <a:srgbClr val="333333"/>
                </a:solidFill>
                <a:latin typeface="Consolas" pitchFamily="49" charset="0"/>
              </a:endParaRPr>
            </a:p>
            <a:p>
              <a:pPr marL="0" lvl="0" indent="0" defTabSz="45720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}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BSTNode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,</a:t>
              </a:r>
              <a:r>
                <a:rPr lang="en-US" altLang="zh-CN" sz="1200">
                  <a:solidFill>
                    <a:srgbClr val="859900"/>
                  </a:solidFill>
                  <a:latin typeface="Consolas" pitchFamily="49" charset="0"/>
                </a:rPr>
                <a:t>*</a:t>
              </a:r>
              <a:r>
                <a:rPr lang="en-US" altLang="zh-CN" sz="1200">
                  <a:solidFill>
                    <a:srgbClr val="268BD2"/>
                  </a:solidFill>
                  <a:latin typeface="Consolas" pitchFamily="49" charset="0"/>
                </a:rPr>
                <a:t>BSTree</a:t>
              </a:r>
              <a:r>
                <a:rPr lang="en-US" altLang="zh-CN" sz="1200">
                  <a:solidFill>
                    <a:srgbClr val="333333"/>
                  </a:solidFill>
                  <a:latin typeface="Consolas" pitchFamily="49" charset="0"/>
                </a:rPr>
                <a:t>; </a:t>
              </a:r>
            </a:p>
          </p:txBody>
        </p:sp>
        <p:grpSp>
          <p:nvGrpSpPr>
            <p:cNvPr id="52235" name="组合 21508"/>
            <p:cNvGrpSpPr/>
            <p:nvPr/>
          </p:nvGrpSpPr>
          <p:grpSpPr>
            <a:xfrm>
              <a:off x="5397494" y="2510844"/>
              <a:ext cx="2128507" cy="362243"/>
              <a:chOff x="7172946" y="2678060"/>
              <a:chExt cx="2128507" cy="362243"/>
            </a:xfrm>
          </p:grpSpPr>
          <p:sp>
            <p:nvSpPr>
              <p:cNvPr id="21510" name="矩形 21509"/>
              <p:cNvSpPr/>
              <p:nvPr/>
            </p:nvSpPr>
            <p:spPr>
              <a:xfrm>
                <a:off x="7172847" y="2679647"/>
                <a:ext cx="746020" cy="360206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lchild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11" name="矩形 21510"/>
              <p:cNvSpPr/>
              <p:nvPr/>
            </p:nvSpPr>
            <p:spPr>
              <a:xfrm>
                <a:off x="7941328" y="2679647"/>
                <a:ext cx="600025" cy="360206"/>
              </a:xfrm>
              <a:prstGeom prst="rect">
                <a:avLst/>
              </a:prstGeom>
              <a:solidFill>
                <a:srgbClr val="4472C4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key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512" name="矩形 21511"/>
              <p:cNvSpPr/>
              <p:nvPr/>
            </p:nvSpPr>
            <p:spPr>
              <a:xfrm>
                <a:off x="8581461" y="2678060"/>
                <a:ext cx="720351" cy="360207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Microsoft YaHei" panose="020B0503020204020204" pitchFamily="34" charset="-122"/>
                    <a:cs typeface="+mn-cs"/>
                  </a:rPr>
                  <a:t>rhcild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32099E-6 L -0.08924 0.17284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00" y="8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924 0.17284 L 0.00035 0.35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0" y="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35 L -0.08559 0.5342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0" y="9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559 0.53426 L -0.17864 0.7305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00" y="9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4" grpId="2" animBg="1"/>
      <p:bldP spid="54" grpId="3" animBg="1"/>
      <p:bldP spid="54" grpId="4" animBg="1"/>
      <p:bldP spid="55" grpId="0" animBg="1"/>
      <p:bldP spid="56" grpId="0"/>
      <p:bldP spid="57" grpId="0" animBg="1"/>
      <p:bldP spid="58" grpId="0" animBg="1"/>
      <p:bldP spid="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新增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513263" y="1887538"/>
            <a:ext cx="4630738" cy="31384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73642"/>
                </a:solidFill>
                <a:latin typeface="Consolas" pitchFamily="49" charset="0"/>
              </a:rPr>
              <a:t>void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InsertBST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BSTree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bst, KeyType key) {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/*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若在二叉排序树中不存在关键字等于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key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的元素，插入该元素*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BiTree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;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if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bst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==</a:t>
            </a:r>
            <a:r>
              <a:rPr lang="en-US" altLang="zh-CN" sz="1100">
                <a:solidFill>
                  <a:srgbClr val="B58900"/>
                </a:solidFill>
                <a:latin typeface="Consolas" pitchFamily="49" charset="0"/>
              </a:rPr>
              <a:t>NULL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 {              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/*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递归结束条件*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         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BSTree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malloc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sizeof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BSTNode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));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/*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申请新的结点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s*/</a:t>
            </a:r>
            <a:endParaRPr lang="en-US" altLang="zh-CN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     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key;   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          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lchild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</a:t>
            </a:r>
            <a:r>
              <a:rPr lang="en-US" altLang="zh-CN" sz="1100">
                <a:solidFill>
                  <a:srgbClr val="B58900"/>
                </a:solidFill>
                <a:latin typeface="Consolas" pitchFamily="49" charset="0"/>
              </a:rPr>
              <a:t>NULL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;   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          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rchild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</a:t>
            </a:r>
            <a:r>
              <a:rPr lang="en-US" altLang="zh-CN" sz="1100">
                <a:solidFill>
                  <a:srgbClr val="B58900"/>
                </a:solidFill>
                <a:latin typeface="Consolas" pitchFamily="49" charset="0"/>
              </a:rPr>
              <a:t>NULL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;   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          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bst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=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s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;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 } 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else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if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(key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&lt;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bst)-&gt;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     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InsertBST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&amp;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bst)-&gt;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lchild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), key);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/*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将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s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插入左子树*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else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if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(key 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&gt;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bst)-&gt;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  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          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InsertBST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&amp;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((</a:t>
            </a:r>
            <a:r>
              <a:rPr lang="en-US" altLang="zh-CN" sz="11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bst)-&gt;</a:t>
            </a:r>
            <a:r>
              <a:rPr lang="en-US" altLang="zh-CN" sz="1100">
                <a:solidFill>
                  <a:srgbClr val="268BD2"/>
                </a:solidFill>
                <a:latin typeface="Consolas" pitchFamily="49" charset="0"/>
              </a:rPr>
              <a:t>rchild</a:t>
            </a: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), key);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/*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将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s</a:t>
            </a:r>
            <a:r>
              <a:rPr lang="zh-CN" altLang="en-US" sz="1100">
                <a:solidFill>
                  <a:srgbClr val="93A1A1"/>
                </a:solidFill>
                <a:latin typeface="Consolas" pitchFamily="49" charset="0"/>
              </a:rPr>
              <a:t>插入右子树*</a:t>
            </a:r>
            <a:r>
              <a:rPr lang="en-US" altLang="zh-CN" sz="1100">
                <a:solidFill>
                  <a:srgbClr val="93A1A1"/>
                </a:solidFill>
                <a:latin typeface="Consolas" pitchFamily="49" charset="0"/>
              </a:rPr>
              <a:t>/</a:t>
            </a:r>
            <a:endParaRPr lang="zh-CN" altLang="en-US" sz="11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333333"/>
                </a:solidFill>
                <a:latin typeface="Consolas" pitchFamily="49" charset="0"/>
              </a:rPr>
              <a:t>} 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618038" y="422275"/>
            <a:ext cx="4464050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333333"/>
                </a:solidFill>
                <a:latin typeface="Consolas" pitchFamily="49" charset="0"/>
              </a:rPr>
              <a:t>若二叉排序树为空，则插入结点应为新的根结点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00000"/>
                </a:solidFill>
                <a:latin typeface="Consolas" pitchFamily="49" charset="0"/>
              </a:rPr>
              <a:t>否则根据排序树的性质继续在其左</a:t>
            </a:r>
            <a:r>
              <a:rPr lang="zh-CN" altLang="en-US" sz="1600">
                <a:solidFill>
                  <a:srgbClr val="333333"/>
                </a:solidFill>
                <a:latin typeface="Consolas" pitchFamily="49" charset="0"/>
              </a:rPr>
              <a:t>、右子树上查找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333333"/>
                </a:solidFill>
                <a:latin typeface="Consolas" pitchFamily="49" charset="0"/>
              </a:rPr>
              <a:t>直至某个结点的</a:t>
            </a:r>
            <a:r>
              <a:rPr lang="zh-CN" altLang="en-US" sz="1600">
                <a:solidFill>
                  <a:srgbClr val="C00000"/>
                </a:solidFill>
                <a:latin typeface="Consolas" pitchFamily="49" charset="0"/>
              </a:rPr>
              <a:t>左子树或右子树</a:t>
            </a:r>
            <a:r>
              <a:rPr lang="zh-CN" altLang="en-US" sz="1600">
                <a:solidFill>
                  <a:srgbClr val="333333"/>
                </a:solidFill>
                <a:latin typeface="Consolas" pitchFamily="49" charset="0"/>
              </a:rPr>
              <a:t>为空为止</a:t>
            </a: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333333"/>
                </a:solidFill>
                <a:latin typeface="Consolas" pitchFamily="49" charset="0"/>
              </a:rPr>
              <a:t>则插入结点应为该结点的</a:t>
            </a:r>
            <a:r>
              <a:rPr lang="zh-CN" altLang="en-US" sz="1600">
                <a:solidFill>
                  <a:srgbClr val="C00000"/>
                </a:solidFill>
                <a:latin typeface="Consolas" pitchFamily="49" charset="0"/>
              </a:rPr>
              <a:t>左孩子或右孩子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357188" y="655638"/>
            <a:ext cx="3973512" cy="4418012"/>
            <a:chOff x="515937" y="1400935"/>
            <a:chExt cx="3974435" cy="4417113"/>
          </a:xfrm>
        </p:grpSpPr>
        <p:sp>
          <p:nvSpPr>
            <p:cNvPr id="35" name="Oval 3"/>
            <p:cNvSpPr>
              <a:spLocks noChangeArrowheads="1"/>
            </p:cNvSpPr>
            <p:nvPr/>
          </p:nvSpPr>
          <p:spPr bwMode="auto">
            <a:xfrm>
              <a:off x="2145090" y="1400935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50</a:t>
              </a:r>
            </a:p>
          </p:txBody>
        </p:sp>
        <p:sp>
          <p:nvSpPr>
            <p:cNvPr id="36" name="Oval 4"/>
            <p:cNvSpPr>
              <a:spLocks noChangeArrowheads="1"/>
            </p:cNvSpPr>
            <p:nvPr/>
          </p:nvSpPr>
          <p:spPr bwMode="auto">
            <a:xfrm>
              <a:off x="1332102" y="2294515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30</a:t>
              </a:r>
            </a:p>
          </p:txBody>
        </p:sp>
        <p:sp>
          <p:nvSpPr>
            <p:cNvPr id="37" name="Oval 5"/>
            <p:cNvSpPr>
              <a:spLocks noChangeArrowheads="1"/>
            </p:cNvSpPr>
            <p:nvPr/>
          </p:nvSpPr>
          <p:spPr bwMode="auto">
            <a:xfrm>
              <a:off x="2999364" y="2294515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80</a:t>
              </a:r>
            </a:p>
          </p:txBody>
        </p:sp>
        <p:sp>
          <p:nvSpPr>
            <p:cNvPr id="38" name="Oval 6"/>
            <p:cNvSpPr>
              <a:spLocks noChangeArrowheads="1"/>
            </p:cNvSpPr>
            <p:nvPr/>
          </p:nvSpPr>
          <p:spPr bwMode="auto">
            <a:xfrm>
              <a:off x="515937" y="3200794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20</a:t>
              </a:r>
            </a:p>
          </p:txBody>
        </p:sp>
        <p:sp>
          <p:nvSpPr>
            <p:cNvPr id="39" name="Oval 7"/>
            <p:cNvSpPr>
              <a:spLocks noChangeArrowheads="1"/>
            </p:cNvSpPr>
            <p:nvPr/>
          </p:nvSpPr>
          <p:spPr bwMode="auto">
            <a:xfrm>
              <a:off x="3842522" y="3200794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90</a:t>
              </a:r>
            </a:p>
          </p:txBody>
        </p:sp>
        <p:sp>
          <p:nvSpPr>
            <p:cNvPr id="40" name="Oval 9"/>
            <p:cNvSpPr>
              <a:spLocks noChangeArrowheads="1"/>
            </p:cNvSpPr>
            <p:nvPr/>
          </p:nvSpPr>
          <p:spPr bwMode="auto">
            <a:xfrm>
              <a:off x="2939025" y="4161035"/>
              <a:ext cx="649438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85</a:t>
              </a:r>
            </a:p>
          </p:txBody>
        </p:sp>
        <p:sp>
          <p:nvSpPr>
            <p:cNvPr id="41" name="Oval 10"/>
            <p:cNvSpPr>
              <a:spLocks noChangeArrowheads="1"/>
            </p:cNvSpPr>
            <p:nvPr/>
          </p:nvSpPr>
          <p:spPr bwMode="auto">
            <a:xfrm>
              <a:off x="2145090" y="3200794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40</a:t>
              </a:r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1332102" y="4162623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35</a:t>
              </a:r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515937" y="5170480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32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3842522" y="5170480"/>
              <a:ext cx="647850" cy="647568"/>
            </a:xfrm>
            <a:prstGeom prst="ellipse">
              <a:avLst/>
            </a:prstGeom>
            <a:solidFill>
              <a:srgbClr val="4472C4"/>
            </a:solidFill>
            <a:ln w="38100" cap="sq">
              <a:solidFill>
                <a:srgbClr val="4472C4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Microsoft YaHei" panose="020B0503020204020204" pitchFamily="34" charset="-122"/>
                  <a:cs typeface="+mn-cs"/>
                </a:rPr>
                <a:t>88</a:t>
              </a:r>
            </a:p>
          </p:txBody>
        </p:sp>
        <p:cxnSp>
          <p:nvCxnSpPr>
            <p:cNvPr id="54295" name="直接连接符 44"/>
            <p:cNvCxnSpPr>
              <a:stCxn id="35" idx="3"/>
              <a:endCxn id="36" idx="7"/>
            </p:cNvCxnSpPr>
            <p:nvPr/>
          </p:nvCxnSpPr>
          <p:spPr>
            <a:xfrm flipH="1">
              <a:off x="1885310" y="1954038"/>
              <a:ext cx="353885" cy="435043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296" name="直接连接符 45"/>
            <p:cNvCxnSpPr>
              <a:stCxn id="35" idx="5"/>
              <a:endCxn id="37" idx="1"/>
            </p:cNvCxnSpPr>
            <p:nvPr/>
          </p:nvCxnSpPr>
          <p:spPr>
            <a:xfrm>
              <a:off x="2697401" y="1954038"/>
              <a:ext cx="396310" cy="435043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297" name="直接连接符 46"/>
            <p:cNvCxnSpPr>
              <a:stCxn id="36" idx="3"/>
              <a:endCxn id="38" idx="7"/>
            </p:cNvCxnSpPr>
            <p:nvPr/>
          </p:nvCxnSpPr>
          <p:spPr>
            <a:xfrm flipH="1">
              <a:off x="1069040" y="2847287"/>
              <a:ext cx="358064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298" name="直接连接符 47"/>
            <p:cNvCxnSpPr>
              <a:stCxn id="36" idx="5"/>
              <a:endCxn id="41" idx="1"/>
            </p:cNvCxnSpPr>
            <p:nvPr/>
          </p:nvCxnSpPr>
          <p:spPr>
            <a:xfrm>
              <a:off x="1885310" y="2847287"/>
              <a:ext cx="353885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299" name="直接连接符 48"/>
            <p:cNvCxnSpPr>
              <a:stCxn id="37" idx="5"/>
              <a:endCxn id="39" idx="1"/>
            </p:cNvCxnSpPr>
            <p:nvPr/>
          </p:nvCxnSpPr>
          <p:spPr>
            <a:xfrm>
              <a:off x="3551917" y="2847287"/>
              <a:ext cx="385352" cy="4486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300" name="直接连接符 49"/>
            <p:cNvCxnSpPr>
              <a:stCxn id="41" idx="3"/>
              <a:endCxn id="42" idx="7"/>
            </p:cNvCxnSpPr>
            <p:nvPr/>
          </p:nvCxnSpPr>
          <p:spPr>
            <a:xfrm flipH="1">
              <a:off x="1885310" y="3754161"/>
              <a:ext cx="353885" cy="50296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301" name="直接连接符 50"/>
            <p:cNvCxnSpPr>
              <a:stCxn id="42" idx="3"/>
              <a:endCxn id="43" idx="7"/>
            </p:cNvCxnSpPr>
            <p:nvPr/>
          </p:nvCxnSpPr>
          <p:spPr>
            <a:xfrm flipH="1">
              <a:off x="1069040" y="4715335"/>
              <a:ext cx="358064" cy="549610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302" name="直接连接符 51"/>
            <p:cNvCxnSpPr>
              <a:stCxn id="39" idx="3"/>
              <a:endCxn id="40" idx="7"/>
            </p:cNvCxnSpPr>
            <p:nvPr/>
          </p:nvCxnSpPr>
          <p:spPr>
            <a:xfrm flipH="1">
              <a:off x="3492824" y="3754161"/>
              <a:ext cx="444445" cy="501290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54303" name="直接连接符 52"/>
            <p:cNvCxnSpPr>
              <a:stCxn id="40" idx="5"/>
              <a:endCxn id="44" idx="1"/>
            </p:cNvCxnSpPr>
            <p:nvPr/>
          </p:nvCxnSpPr>
          <p:spPr>
            <a:xfrm>
              <a:off x="3492824" y="4713657"/>
              <a:ext cx="444445" cy="551288"/>
            </a:xfrm>
            <a:prstGeom prst="line">
              <a:avLst/>
            </a:prstGeom>
            <a:ln w="19050" cap="flat" cmpd="sng">
              <a:solidFill>
                <a:srgbClr val="4472C4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54" name="箭头: 下 53"/>
          <p:cNvSpPr/>
          <p:nvPr/>
        </p:nvSpPr>
        <p:spPr>
          <a:xfrm>
            <a:off x="2185988" y="1588"/>
            <a:ext cx="246063" cy="628650"/>
          </a:xfrm>
          <a:prstGeom prst="downArrow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027488" y="1016000"/>
            <a:ext cx="539750" cy="501650"/>
          </a:xfrm>
          <a:prstGeom prst="rect">
            <a:avLst/>
          </a:prstGeom>
          <a:solidFill>
            <a:srgbClr val="70AD47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rPr>
              <a:t>37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859088" y="1087438"/>
            <a:ext cx="1117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Calibri" pitchFamily="34" charset="0"/>
              </a:rPr>
              <a:t>插入结点：</a:t>
            </a:r>
          </a:p>
        </p:txBody>
      </p:sp>
      <p:sp>
        <p:nvSpPr>
          <p:cNvPr id="57" name="Oval 14"/>
          <p:cNvSpPr>
            <a:spLocks noChangeArrowheads="1"/>
          </p:cNvSpPr>
          <p:nvPr/>
        </p:nvSpPr>
        <p:spPr bwMode="auto">
          <a:xfrm>
            <a:off x="2062163" y="4419600"/>
            <a:ext cx="647700" cy="647700"/>
          </a:xfrm>
          <a:prstGeom prst="ellipse">
            <a:avLst/>
          </a:prstGeom>
          <a:solidFill>
            <a:srgbClr val="70AD47"/>
          </a:solidFill>
          <a:ln w="38100" cap="sq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Microsoft YaHei" panose="020B0503020204020204" pitchFamily="34" charset="-122"/>
                <a:cs typeface="+mn-cs"/>
              </a:rPr>
              <a:t>37</a:t>
            </a:r>
          </a:p>
        </p:txBody>
      </p:sp>
      <p:cxnSp>
        <p:nvCxnSpPr>
          <p:cNvPr id="58" name="直接连接符 57"/>
          <p:cNvCxnSpPr>
            <a:endCxn id="57" idx="1"/>
          </p:cNvCxnSpPr>
          <p:nvPr/>
        </p:nvCxnSpPr>
        <p:spPr>
          <a:xfrm>
            <a:off x="1712913" y="3962400"/>
            <a:ext cx="444500" cy="550863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9" name="直接连接符 58"/>
          <p:cNvCxnSpPr/>
          <p:nvPr/>
        </p:nvCxnSpPr>
        <p:spPr>
          <a:xfrm flipH="1">
            <a:off x="1712913" y="1222375"/>
            <a:ext cx="354012" cy="43497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0" name="直接连接符 59"/>
          <p:cNvCxnSpPr/>
          <p:nvPr/>
        </p:nvCxnSpPr>
        <p:spPr>
          <a:xfrm>
            <a:off x="1711325" y="2081213"/>
            <a:ext cx="354013" cy="449262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1" name="直接连接符 60"/>
          <p:cNvCxnSpPr/>
          <p:nvPr/>
        </p:nvCxnSpPr>
        <p:spPr>
          <a:xfrm flipH="1">
            <a:off x="1722438" y="3005138"/>
            <a:ext cx="354012" cy="50323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46914E-7 L -0.08889 0.17284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00" y="86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89 0.17284 L 0.00052 0.3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0" y="890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35 L -0.09097 0.5379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0" y="940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54" grpId="0" animBg="1"/>
      <p:bldP spid="54" grpId="1" animBg="1"/>
      <p:bldP spid="54" grpId="2" animBg="1"/>
      <p:bldP spid="54" grpId="3" animBg="1"/>
      <p:bldP spid="55" grpId="0" animBg="1"/>
      <p:bldP spid="56" grpId="0"/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二叉排序树的创建</a:t>
            </a:r>
          </a:p>
        </p:txBody>
      </p:sp>
      <p:sp>
        <p:nvSpPr>
          <p:cNvPr id="40963" name="文本框 1"/>
          <p:cNvSpPr txBox="1">
            <a:spLocks noChangeArrowheads="1"/>
          </p:cNvSpPr>
          <p:nvPr/>
        </p:nvSpPr>
        <p:spPr bwMode="auto">
          <a:xfrm>
            <a:off x="71438" y="2097088"/>
            <a:ext cx="3716338" cy="26781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73642"/>
                </a:solidFill>
                <a:latin typeface="Consolas" pitchFamily="49" charset="0"/>
              </a:rPr>
              <a:t>void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CreateBST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BSTree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</a:t>
            </a:r>
            <a:r>
              <a:rPr lang="en-US" altLang="zh-CN" sz="14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bst) 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400">
                <a:solidFill>
                  <a:srgbClr val="93A1A1"/>
                </a:solidFill>
                <a:latin typeface="Consolas" pitchFamily="49" charset="0"/>
              </a:rPr>
              <a:t>/*</a:t>
            </a:r>
            <a:r>
              <a:rPr lang="zh-CN" altLang="en-US" sz="1400">
                <a:solidFill>
                  <a:srgbClr val="93A1A1"/>
                </a:solidFill>
                <a:latin typeface="Consolas" pitchFamily="49" charset="0"/>
              </a:rPr>
              <a:t>从键盘输入元素的值，创建相应的二叉排序树*</a:t>
            </a:r>
            <a:r>
              <a:rPr lang="en-US" altLang="zh-CN" sz="1400">
                <a:solidFill>
                  <a:srgbClr val="93A1A1"/>
                </a:solidFill>
                <a:latin typeface="Consolas" pitchFamily="49" charset="0"/>
              </a:rPr>
              <a:t>/</a:t>
            </a:r>
            <a:endParaRPr lang="zh-CN" altLang="en-US" sz="14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KeyType 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400">
                <a:solidFill>
                  <a:srgbClr val="859900"/>
                </a:solidFill>
                <a:latin typeface="Consolas" pitchFamily="49" charset="0"/>
              </a:rPr>
              <a:t>*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bst</a:t>
            </a:r>
            <a:r>
              <a:rPr lang="en-US" altLang="zh-CN" sz="1400">
                <a:solidFill>
                  <a:srgbClr val="859900"/>
                </a:solidFill>
                <a:latin typeface="Consolas" pitchFamily="49" charset="0"/>
              </a:rPr>
              <a:t>=</a:t>
            </a:r>
            <a:r>
              <a:rPr lang="en-US" altLang="zh-CN" sz="1400">
                <a:solidFill>
                  <a:srgbClr val="B58900"/>
                </a:solidFill>
                <a:latin typeface="Consolas" pitchFamily="49" charset="0"/>
              </a:rPr>
              <a:t>NULL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scanf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400">
                <a:solidFill>
                  <a:srgbClr val="2AA198"/>
                </a:solidFill>
                <a:latin typeface="Consolas" pitchFamily="49" charset="0"/>
              </a:rPr>
              <a:t>"</a:t>
            </a:r>
            <a:r>
              <a:rPr lang="en-US" altLang="zh-CN" sz="1400">
                <a:solidFill>
                  <a:srgbClr val="CB4B16"/>
                </a:solidFill>
                <a:latin typeface="Consolas" pitchFamily="49" charset="0"/>
              </a:rPr>
              <a:t>%d</a:t>
            </a:r>
            <a:r>
              <a:rPr lang="en-US" altLang="zh-CN" sz="1400">
                <a:solidFill>
                  <a:srgbClr val="2AA198"/>
                </a:solidFill>
                <a:latin typeface="Consolas" pitchFamily="49" charset="0"/>
              </a:rPr>
              <a:t>"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, </a:t>
            </a:r>
            <a:r>
              <a:rPr lang="en-US" altLang="zh-CN" sz="1400">
                <a:solidFill>
                  <a:srgbClr val="859900"/>
                </a:solidFill>
                <a:latin typeface="Consolas" pitchFamily="49" charset="0"/>
              </a:rPr>
              <a:t>&amp;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   </a:t>
            </a:r>
            <a:r>
              <a:rPr lang="en-US" altLang="zh-CN" sz="1400">
                <a:solidFill>
                  <a:srgbClr val="859900"/>
                </a:solidFill>
                <a:latin typeface="Consolas" pitchFamily="49" charset="0"/>
              </a:rPr>
              <a:t>while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400">
                <a:solidFill>
                  <a:srgbClr val="859900"/>
                </a:solidFill>
                <a:latin typeface="Consolas" pitchFamily="49" charset="0"/>
              </a:rPr>
              <a:t>!=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ENDKEY){</a:t>
            </a:r>
            <a:r>
              <a:rPr lang="en-US" altLang="zh-CN" sz="1400">
                <a:solidFill>
                  <a:srgbClr val="93A1A1"/>
                </a:solidFill>
                <a:latin typeface="Consolas" pitchFamily="49" charset="0"/>
              </a:rPr>
              <a:t>/*ENDKEY</a:t>
            </a:r>
            <a:r>
              <a:rPr lang="zh-CN" altLang="en-US" sz="1400">
                <a:solidFill>
                  <a:srgbClr val="93A1A1"/>
                </a:solidFill>
                <a:latin typeface="Consolas" pitchFamily="49" charset="0"/>
              </a:rPr>
              <a:t>为自定义常数*</a:t>
            </a:r>
            <a:r>
              <a:rPr lang="en-US" altLang="zh-CN" sz="1400">
                <a:solidFill>
                  <a:srgbClr val="93A1A1"/>
                </a:solidFill>
                <a:latin typeface="Consolas" pitchFamily="49" charset="0"/>
              </a:rPr>
              <a:t>/</a:t>
            </a:r>
            <a:endParaRPr lang="zh-CN" altLang="en-US" sz="1400">
              <a:solidFill>
                <a:srgbClr val="333333"/>
              </a:solidFill>
              <a:latin typeface="Consolas" pitchFamily="49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rgbClr val="333333"/>
                </a:solidFill>
                <a:latin typeface="Consolas" pitchFamily="49" charset="0"/>
              </a:rPr>
              <a:t>          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InsertBST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(bst, 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        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scanf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(</a:t>
            </a:r>
            <a:r>
              <a:rPr lang="en-US" altLang="zh-CN" sz="1400">
                <a:solidFill>
                  <a:srgbClr val="2AA198"/>
                </a:solidFill>
                <a:latin typeface="Consolas" pitchFamily="49" charset="0"/>
              </a:rPr>
              <a:t>"</a:t>
            </a:r>
            <a:r>
              <a:rPr lang="en-US" altLang="zh-CN" sz="1400">
                <a:solidFill>
                  <a:srgbClr val="CB4B16"/>
                </a:solidFill>
                <a:latin typeface="Consolas" pitchFamily="49" charset="0"/>
              </a:rPr>
              <a:t>%d</a:t>
            </a:r>
            <a:r>
              <a:rPr lang="en-US" altLang="zh-CN" sz="1400">
                <a:solidFill>
                  <a:srgbClr val="2AA198"/>
                </a:solidFill>
                <a:latin typeface="Consolas" pitchFamily="49" charset="0"/>
              </a:rPr>
              <a:t>"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, </a:t>
            </a:r>
            <a:r>
              <a:rPr lang="en-US" altLang="zh-CN" sz="1400">
                <a:solidFill>
                  <a:srgbClr val="859900"/>
                </a:solidFill>
                <a:latin typeface="Consolas" pitchFamily="49" charset="0"/>
              </a:rPr>
              <a:t>&amp;</a:t>
            </a:r>
            <a:r>
              <a:rPr lang="en-US" altLang="zh-CN" sz="1400">
                <a:solidFill>
                  <a:srgbClr val="268BD2"/>
                </a:solidFill>
                <a:latin typeface="Consolas" pitchFamily="49" charset="0"/>
              </a:rPr>
              <a:t>key</a:t>
            </a: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     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333333"/>
                </a:solidFill>
                <a:latin typeface="Consolas" pitchFamily="49" charset="0"/>
              </a:rPr>
              <a:t>} </a:t>
            </a:r>
          </a:p>
        </p:txBody>
      </p:sp>
      <p:grpSp>
        <p:nvGrpSpPr>
          <p:cNvPr id="3" name="Group 58"/>
          <p:cNvGrpSpPr/>
          <p:nvPr/>
        </p:nvGrpSpPr>
        <p:grpSpPr>
          <a:xfrm>
            <a:off x="5227638" y="1746250"/>
            <a:ext cx="762000" cy="946150"/>
            <a:chOff x="802" y="1770"/>
            <a:chExt cx="480" cy="596"/>
          </a:xfrm>
        </p:grpSpPr>
        <p:grpSp>
          <p:nvGrpSpPr>
            <p:cNvPr id="56378" name="Group 5"/>
            <p:cNvGrpSpPr/>
            <p:nvPr/>
          </p:nvGrpSpPr>
          <p:grpSpPr>
            <a:xfrm>
              <a:off x="960" y="1770"/>
              <a:ext cx="166" cy="303"/>
              <a:chOff x="960" y="1530"/>
              <a:chExt cx="166" cy="303"/>
            </a:xfrm>
          </p:grpSpPr>
          <p:sp>
            <p:nvSpPr>
              <p:cNvPr id="6" name="Oval 3"/>
              <p:cNvSpPr>
                <a:spLocks noChangeArrowheads="1"/>
              </p:cNvSpPr>
              <p:nvPr/>
            </p:nvSpPr>
            <p:spPr bwMode="auto">
              <a:xfrm>
                <a:off x="960" y="1606"/>
                <a:ext cx="166" cy="17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rgbClr val="9900CC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7" name="Line 4"/>
              <p:cNvSpPr>
                <a:spLocks noChangeShapeType="1"/>
              </p:cNvSpPr>
              <p:nvPr/>
            </p:nvSpPr>
            <p:spPr bwMode="auto">
              <a:xfrm flipH="1">
                <a:off x="960" y="1530"/>
                <a:ext cx="166" cy="303"/>
              </a:xfrm>
              <a:prstGeom prst="line">
                <a:avLst/>
              </a:prstGeom>
              <a:noFill/>
              <a:ln w="19050">
                <a:solidFill>
                  <a:srgbClr val="9900CC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6379" name="Text Box 51"/>
            <p:cNvSpPr txBox="1"/>
            <p:nvPr/>
          </p:nvSpPr>
          <p:spPr>
            <a:xfrm>
              <a:off x="802" y="2116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Times New Roman" panose="02020503050405090304" pitchFamily="18" charset="0"/>
                </a:rPr>
                <a:t>空树</a:t>
              </a:r>
            </a:p>
          </p:txBody>
        </p:sp>
      </p:grpSp>
      <p:grpSp>
        <p:nvGrpSpPr>
          <p:cNvPr id="8" name="Group 59"/>
          <p:cNvGrpSpPr/>
          <p:nvPr/>
        </p:nvGrpSpPr>
        <p:grpSpPr>
          <a:xfrm>
            <a:off x="6042025" y="1687513"/>
            <a:ext cx="1066800" cy="1006475"/>
            <a:chOff x="1584" y="1872"/>
            <a:chExt cx="672" cy="634"/>
          </a:xfrm>
        </p:grpSpPr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1776" y="1872"/>
              <a:ext cx="240" cy="240"/>
            </a:xfrm>
            <a:prstGeom prst="ellipse">
              <a:avLst/>
            </a:prstGeom>
            <a:solidFill>
              <a:srgbClr val="FFCC66"/>
            </a:solidFill>
            <a:ln w="9525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45</a:t>
              </a:r>
            </a:p>
          </p:txBody>
        </p:sp>
        <p:sp>
          <p:nvSpPr>
            <p:cNvPr id="10" name="Text Box 52"/>
            <p:cNvSpPr txBox="1">
              <a:spLocks noChangeArrowheads="1"/>
            </p:cNvSpPr>
            <p:nvPr/>
          </p:nvSpPr>
          <p:spPr bwMode="auto">
            <a:xfrm>
              <a:off x="1584" y="225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插入</a:t>
              </a: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45</a:t>
              </a:r>
            </a:p>
          </p:txBody>
        </p:sp>
      </p:grpSp>
      <p:grpSp>
        <p:nvGrpSpPr>
          <p:cNvPr id="11" name="Group 60"/>
          <p:cNvGrpSpPr/>
          <p:nvPr/>
        </p:nvGrpSpPr>
        <p:grpSpPr>
          <a:xfrm>
            <a:off x="7007225" y="1150938"/>
            <a:ext cx="1066800" cy="1539875"/>
            <a:chOff x="2352" y="1536"/>
            <a:chExt cx="672" cy="970"/>
          </a:xfrm>
        </p:grpSpPr>
        <p:grpSp>
          <p:nvGrpSpPr>
            <p:cNvPr id="56371" name="Group 10"/>
            <p:cNvGrpSpPr/>
            <p:nvPr/>
          </p:nvGrpSpPr>
          <p:grpSpPr>
            <a:xfrm>
              <a:off x="2448" y="1536"/>
              <a:ext cx="480" cy="612"/>
              <a:chOff x="2352" y="1536"/>
              <a:chExt cx="480" cy="612"/>
            </a:xfrm>
          </p:grpSpPr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592" y="1536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45</a:t>
                </a: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352" y="1908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24</a:t>
                </a:r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 flipH="1">
                <a:off x="2512" y="1766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3" name="Text Box 53"/>
            <p:cNvSpPr txBox="1">
              <a:spLocks noChangeArrowheads="1"/>
            </p:cNvSpPr>
            <p:nvPr/>
          </p:nvSpPr>
          <p:spPr bwMode="auto">
            <a:xfrm>
              <a:off x="2352" y="225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插入</a:t>
              </a: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24</a:t>
              </a:r>
            </a:p>
          </p:txBody>
        </p:sp>
      </p:grpSp>
      <p:grpSp>
        <p:nvGrpSpPr>
          <p:cNvPr id="17" name="Group 64"/>
          <p:cNvGrpSpPr/>
          <p:nvPr/>
        </p:nvGrpSpPr>
        <p:grpSpPr>
          <a:xfrm>
            <a:off x="5570538" y="2759075"/>
            <a:ext cx="1714500" cy="2238375"/>
            <a:chOff x="3576" y="2640"/>
            <a:chExt cx="1080" cy="1410"/>
          </a:xfrm>
        </p:grpSpPr>
        <p:grpSp>
          <p:nvGrpSpPr>
            <p:cNvPr id="56360" name="Group 50"/>
            <p:cNvGrpSpPr/>
            <p:nvPr/>
          </p:nvGrpSpPr>
          <p:grpSpPr>
            <a:xfrm>
              <a:off x="3576" y="2640"/>
              <a:ext cx="1080" cy="1036"/>
              <a:chOff x="3576" y="2640"/>
              <a:chExt cx="1080" cy="1036"/>
            </a:xfrm>
          </p:grpSpPr>
          <p:sp>
            <p:nvSpPr>
              <p:cNvPr id="20" name="Oval 39"/>
              <p:cNvSpPr>
                <a:spLocks noChangeArrowheads="1"/>
              </p:cNvSpPr>
              <p:nvPr/>
            </p:nvSpPr>
            <p:spPr bwMode="auto">
              <a:xfrm>
                <a:off x="4080" y="2640"/>
                <a:ext cx="240" cy="26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45</a:t>
                </a:r>
              </a:p>
            </p:txBody>
          </p:sp>
          <p:sp>
            <p:nvSpPr>
              <p:cNvPr id="21" name="Oval 40"/>
              <p:cNvSpPr>
                <a:spLocks noChangeArrowheads="1"/>
              </p:cNvSpPr>
              <p:nvPr/>
            </p:nvSpPr>
            <p:spPr bwMode="auto">
              <a:xfrm>
                <a:off x="3840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24</a:t>
                </a:r>
              </a:p>
            </p:txBody>
          </p:sp>
          <p:sp>
            <p:nvSpPr>
              <p:cNvPr id="22" name="Line 41"/>
              <p:cNvSpPr>
                <a:spLocks noChangeShapeType="1"/>
              </p:cNvSpPr>
              <p:nvPr/>
            </p:nvSpPr>
            <p:spPr bwMode="auto">
              <a:xfrm flipH="1">
                <a:off x="4008" y="2889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3" name="Oval 42"/>
              <p:cNvSpPr>
                <a:spLocks noChangeArrowheads="1"/>
              </p:cNvSpPr>
              <p:nvPr/>
            </p:nvSpPr>
            <p:spPr bwMode="auto">
              <a:xfrm>
                <a:off x="4416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53</a:t>
                </a:r>
              </a:p>
            </p:txBody>
          </p:sp>
          <p:sp>
            <p:nvSpPr>
              <p:cNvPr id="24" name="Line 43"/>
              <p:cNvSpPr>
                <a:spLocks noChangeShapeType="1"/>
              </p:cNvSpPr>
              <p:nvPr/>
            </p:nvSpPr>
            <p:spPr bwMode="auto">
              <a:xfrm>
                <a:off x="4272" y="2866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Oval 44"/>
              <p:cNvSpPr>
                <a:spLocks noChangeArrowheads="1"/>
              </p:cNvSpPr>
              <p:nvPr/>
            </p:nvSpPr>
            <p:spPr bwMode="auto">
              <a:xfrm>
                <a:off x="3576" y="3425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12</a:t>
                </a:r>
              </a:p>
            </p:txBody>
          </p:sp>
          <p:sp>
            <p:nvSpPr>
              <p:cNvPr id="26" name="Line 45"/>
              <p:cNvSpPr>
                <a:spLocks noChangeShapeType="1"/>
              </p:cNvSpPr>
              <p:nvPr/>
            </p:nvSpPr>
            <p:spPr bwMode="auto">
              <a:xfrm flipH="1">
                <a:off x="3732" y="3236"/>
                <a:ext cx="144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Oval 46"/>
              <p:cNvSpPr>
                <a:spLocks noChangeArrowheads="1"/>
              </p:cNvSpPr>
              <p:nvPr/>
            </p:nvSpPr>
            <p:spPr bwMode="auto">
              <a:xfrm>
                <a:off x="4080" y="3436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28</a:t>
                </a:r>
              </a:p>
            </p:txBody>
          </p:sp>
          <p:sp>
            <p:nvSpPr>
              <p:cNvPr id="28" name="Line 47"/>
              <p:cNvSpPr>
                <a:spLocks noChangeShapeType="1"/>
              </p:cNvSpPr>
              <p:nvPr/>
            </p:nvSpPr>
            <p:spPr bwMode="auto">
              <a:xfrm>
                <a:off x="4026" y="3250"/>
                <a:ext cx="144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9" name="Text Box 57"/>
            <p:cNvSpPr txBox="1">
              <a:spLocks noChangeArrowheads="1"/>
            </p:cNvSpPr>
            <p:nvPr/>
          </p:nvSpPr>
          <p:spPr bwMode="auto">
            <a:xfrm>
              <a:off x="3876" y="380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插入</a:t>
              </a: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28</a:t>
              </a:r>
            </a:p>
          </p:txBody>
        </p:sp>
      </p:grpSp>
      <p:grpSp>
        <p:nvGrpSpPr>
          <p:cNvPr id="29" name="Group 64"/>
          <p:cNvGrpSpPr/>
          <p:nvPr/>
        </p:nvGrpSpPr>
        <p:grpSpPr>
          <a:xfrm>
            <a:off x="6981825" y="2771775"/>
            <a:ext cx="2151063" cy="2225675"/>
            <a:chOff x="3576" y="2640"/>
            <a:chExt cx="1355" cy="1402"/>
          </a:xfrm>
        </p:grpSpPr>
        <p:grpSp>
          <p:nvGrpSpPr>
            <p:cNvPr id="56347" name="Group 50"/>
            <p:cNvGrpSpPr/>
            <p:nvPr/>
          </p:nvGrpSpPr>
          <p:grpSpPr>
            <a:xfrm>
              <a:off x="3576" y="2640"/>
              <a:ext cx="1355" cy="1036"/>
              <a:chOff x="3576" y="2640"/>
              <a:chExt cx="1355" cy="1036"/>
            </a:xfrm>
          </p:grpSpPr>
          <p:sp>
            <p:nvSpPr>
              <p:cNvPr id="32" name="Oval 39"/>
              <p:cNvSpPr>
                <a:spLocks noChangeArrowheads="1"/>
              </p:cNvSpPr>
              <p:nvPr/>
            </p:nvSpPr>
            <p:spPr bwMode="auto">
              <a:xfrm>
                <a:off x="4080" y="2640"/>
                <a:ext cx="240" cy="26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45</a:t>
                </a:r>
              </a:p>
            </p:txBody>
          </p:sp>
          <p:sp>
            <p:nvSpPr>
              <p:cNvPr id="33" name="Oval 40"/>
              <p:cNvSpPr>
                <a:spLocks noChangeArrowheads="1"/>
              </p:cNvSpPr>
              <p:nvPr/>
            </p:nvSpPr>
            <p:spPr bwMode="auto">
              <a:xfrm>
                <a:off x="3840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24</a:t>
                </a:r>
              </a:p>
            </p:txBody>
          </p:sp>
          <p:sp>
            <p:nvSpPr>
              <p:cNvPr id="34" name="Line 41"/>
              <p:cNvSpPr>
                <a:spLocks noChangeShapeType="1"/>
              </p:cNvSpPr>
              <p:nvPr/>
            </p:nvSpPr>
            <p:spPr bwMode="auto">
              <a:xfrm flipH="1">
                <a:off x="4008" y="2889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35" name="Oval 42"/>
              <p:cNvSpPr>
                <a:spLocks noChangeArrowheads="1"/>
              </p:cNvSpPr>
              <p:nvPr/>
            </p:nvSpPr>
            <p:spPr bwMode="auto">
              <a:xfrm>
                <a:off x="4416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53</a:t>
                </a:r>
              </a:p>
            </p:txBody>
          </p:sp>
          <p:sp>
            <p:nvSpPr>
              <p:cNvPr id="36" name="Line 43"/>
              <p:cNvSpPr>
                <a:spLocks noChangeShapeType="1"/>
              </p:cNvSpPr>
              <p:nvPr/>
            </p:nvSpPr>
            <p:spPr bwMode="auto">
              <a:xfrm>
                <a:off x="4272" y="2866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37" name="Oval 44"/>
              <p:cNvSpPr>
                <a:spLocks noChangeArrowheads="1"/>
              </p:cNvSpPr>
              <p:nvPr/>
            </p:nvSpPr>
            <p:spPr bwMode="auto">
              <a:xfrm>
                <a:off x="3576" y="3425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12</a:t>
                </a:r>
              </a:p>
            </p:txBody>
          </p:sp>
          <p:sp>
            <p:nvSpPr>
              <p:cNvPr id="38" name="Line 45"/>
              <p:cNvSpPr>
                <a:spLocks noChangeShapeType="1"/>
              </p:cNvSpPr>
              <p:nvPr/>
            </p:nvSpPr>
            <p:spPr bwMode="auto">
              <a:xfrm flipH="1">
                <a:off x="3732" y="3236"/>
                <a:ext cx="144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Oval 46"/>
              <p:cNvSpPr>
                <a:spLocks noChangeArrowheads="1"/>
              </p:cNvSpPr>
              <p:nvPr/>
            </p:nvSpPr>
            <p:spPr bwMode="auto">
              <a:xfrm>
                <a:off x="4080" y="3436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28</a:t>
                </a:r>
              </a:p>
            </p:txBody>
          </p:sp>
          <p:sp>
            <p:nvSpPr>
              <p:cNvPr id="40" name="Line 47"/>
              <p:cNvSpPr>
                <a:spLocks noChangeShapeType="1"/>
              </p:cNvSpPr>
              <p:nvPr/>
            </p:nvSpPr>
            <p:spPr bwMode="auto">
              <a:xfrm>
                <a:off x="4026" y="3250"/>
                <a:ext cx="144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Oval 48"/>
              <p:cNvSpPr>
                <a:spLocks noChangeArrowheads="1"/>
              </p:cNvSpPr>
              <p:nvPr/>
            </p:nvSpPr>
            <p:spPr bwMode="auto">
              <a:xfrm>
                <a:off x="4691" y="3425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90</a:t>
                </a:r>
              </a:p>
            </p:txBody>
          </p:sp>
          <p:sp>
            <p:nvSpPr>
              <p:cNvPr id="42" name="Line 49"/>
              <p:cNvSpPr>
                <a:spLocks noChangeShapeType="1"/>
              </p:cNvSpPr>
              <p:nvPr/>
            </p:nvSpPr>
            <p:spPr bwMode="auto">
              <a:xfrm>
                <a:off x="4595" y="3243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1" name="Text Box 57"/>
            <p:cNvSpPr txBox="1">
              <a:spLocks noChangeArrowheads="1"/>
            </p:cNvSpPr>
            <p:nvPr/>
          </p:nvSpPr>
          <p:spPr bwMode="auto">
            <a:xfrm>
              <a:off x="3984" y="379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插入</a:t>
              </a: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90</a:t>
              </a:r>
            </a:p>
          </p:txBody>
        </p:sp>
      </p:grpSp>
      <p:grpSp>
        <p:nvGrpSpPr>
          <p:cNvPr id="43" name="Group 64"/>
          <p:cNvGrpSpPr/>
          <p:nvPr/>
        </p:nvGrpSpPr>
        <p:grpSpPr>
          <a:xfrm>
            <a:off x="3836988" y="3046413"/>
            <a:ext cx="1714500" cy="1944687"/>
            <a:chOff x="3576" y="2640"/>
            <a:chExt cx="1080" cy="1225"/>
          </a:xfrm>
        </p:grpSpPr>
        <p:grpSp>
          <p:nvGrpSpPr>
            <p:cNvPr id="56338" name="Group 50"/>
            <p:cNvGrpSpPr/>
            <p:nvPr/>
          </p:nvGrpSpPr>
          <p:grpSpPr>
            <a:xfrm>
              <a:off x="3576" y="2640"/>
              <a:ext cx="1080" cy="1025"/>
              <a:chOff x="3576" y="2640"/>
              <a:chExt cx="1080" cy="1025"/>
            </a:xfrm>
          </p:grpSpPr>
          <p:sp>
            <p:nvSpPr>
              <p:cNvPr id="46" name="Oval 39"/>
              <p:cNvSpPr>
                <a:spLocks noChangeArrowheads="1"/>
              </p:cNvSpPr>
              <p:nvPr/>
            </p:nvSpPr>
            <p:spPr bwMode="auto">
              <a:xfrm>
                <a:off x="4080" y="2640"/>
                <a:ext cx="240" cy="26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45</a:t>
                </a:r>
              </a:p>
            </p:txBody>
          </p:sp>
          <p:sp>
            <p:nvSpPr>
              <p:cNvPr id="47" name="Oval 40"/>
              <p:cNvSpPr>
                <a:spLocks noChangeArrowheads="1"/>
              </p:cNvSpPr>
              <p:nvPr/>
            </p:nvSpPr>
            <p:spPr bwMode="auto">
              <a:xfrm>
                <a:off x="3840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24</a:t>
                </a:r>
              </a:p>
            </p:txBody>
          </p:sp>
          <p:sp>
            <p:nvSpPr>
              <p:cNvPr id="48" name="Line 41"/>
              <p:cNvSpPr>
                <a:spLocks noChangeShapeType="1"/>
              </p:cNvSpPr>
              <p:nvPr/>
            </p:nvSpPr>
            <p:spPr bwMode="auto">
              <a:xfrm flipH="1">
                <a:off x="4008" y="2889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Oval 42"/>
              <p:cNvSpPr>
                <a:spLocks noChangeArrowheads="1"/>
              </p:cNvSpPr>
              <p:nvPr/>
            </p:nvSpPr>
            <p:spPr bwMode="auto">
              <a:xfrm>
                <a:off x="4416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53</a:t>
                </a:r>
              </a:p>
            </p:txBody>
          </p:sp>
          <p:sp>
            <p:nvSpPr>
              <p:cNvPr id="50" name="Line 43"/>
              <p:cNvSpPr>
                <a:spLocks noChangeShapeType="1"/>
              </p:cNvSpPr>
              <p:nvPr/>
            </p:nvSpPr>
            <p:spPr bwMode="auto">
              <a:xfrm>
                <a:off x="4272" y="2866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Oval 44"/>
              <p:cNvSpPr>
                <a:spLocks noChangeArrowheads="1"/>
              </p:cNvSpPr>
              <p:nvPr/>
            </p:nvSpPr>
            <p:spPr bwMode="auto">
              <a:xfrm>
                <a:off x="3576" y="3425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12</a:t>
                </a:r>
              </a:p>
            </p:txBody>
          </p:sp>
          <p:sp>
            <p:nvSpPr>
              <p:cNvPr id="52" name="Line 45"/>
              <p:cNvSpPr>
                <a:spLocks noChangeShapeType="1"/>
              </p:cNvSpPr>
              <p:nvPr/>
            </p:nvSpPr>
            <p:spPr bwMode="auto">
              <a:xfrm flipH="1">
                <a:off x="3732" y="3236"/>
                <a:ext cx="144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5" name="Text Box 57"/>
            <p:cNvSpPr txBox="1">
              <a:spLocks noChangeArrowheads="1"/>
            </p:cNvSpPr>
            <p:nvPr/>
          </p:nvSpPr>
          <p:spPr bwMode="auto">
            <a:xfrm>
              <a:off x="3895" y="3613"/>
              <a:ext cx="67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插入</a:t>
              </a: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12</a:t>
              </a:r>
            </a:p>
          </p:txBody>
        </p:sp>
      </p:grpSp>
      <p:grpSp>
        <p:nvGrpSpPr>
          <p:cNvPr id="53" name="Group 64"/>
          <p:cNvGrpSpPr/>
          <p:nvPr/>
        </p:nvGrpSpPr>
        <p:grpSpPr>
          <a:xfrm>
            <a:off x="7832725" y="1203325"/>
            <a:ext cx="1295400" cy="1495425"/>
            <a:chOff x="3840" y="2640"/>
            <a:chExt cx="816" cy="942"/>
          </a:xfrm>
        </p:grpSpPr>
        <p:grpSp>
          <p:nvGrpSpPr>
            <p:cNvPr id="56331" name="Group 50"/>
            <p:cNvGrpSpPr/>
            <p:nvPr/>
          </p:nvGrpSpPr>
          <p:grpSpPr>
            <a:xfrm>
              <a:off x="3840" y="2640"/>
              <a:ext cx="816" cy="624"/>
              <a:chOff x="3840" y="2640"/>
              <a:chExt cx="816" cy="624"/>
            </a:xfrm>
          </p:grpSpPr>
          <p:sp>
            <p:nvSpPr>
              <p:cNvPr id="56" name="Oval 39"/>
              <p:cNvSpPr>
                <a:spLocks noChangeArrowheads="1"/>
              </p:cNvSpPr>
              <p:nvPr/>
            </p:nvSpPr>
            <p:spPr bwMode="auto">
              <a:xfrm>
                <a:off x="4080" y="2640"/>
                <a:ext cx="240" cy="26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45</a:t>
                </a:r>
              </a:p>
            </p:txBody>
          </p:sp>
          <p:sp>
            <p:nvSpPr>
              <p:cNvPr id="57" name="Oval 40"/>
              <p:cNvSpPr>
                <a:spLocks noChangeArrowheads="1"/>
              </p:cNvSpPr>
              <p:nvPr/>
            </p:nvSpPr>
            <p:spPr bwMode="auto">
              <a:xfrm>
                <a:off x="3840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24</a:t>
                </a:r>
              </a:p>
            </p:txBody>
          </p:sp>
          <p:sp>
            <p:nvSpPr>
              <p:cNvPr id="58" name="Line 41"/>
              <p:cNvSpPr>
                <a:spLocks noChangeShapeType="1"/>
              </p:cNvSpPr>
              <p:nvPr/>
            </p:nvSpPr>
            <p:spPr bwMode="auto">
              <a:xfrm flipH="1">
                <a:off x="4008" y="2889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Oval 42"/>
              <p:cNvSpPr>
                <a:spLocks noChangeArrowheads="1"/>
              </p:cNvSpPr>
              <p:nvPr/>
            </p:nvSpPr>
            <p:spPr bwMode="auto">
              <a:xfrm>
                <a:off x="4416" y="3024"/>
                <a:ext cx="240" cy="240"/>
              </a:xfrm>
              <a:prstGeom prst="ellipse">
                <a:avLst/>
              </a:prstGeom>
              <a:solidFill>
                <a:srgbClr val="FFCC66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Microsoft YaHei" panose="020B0503020204020204" pitchFamily="34" charset="-122"/>
                    <a:cs typeface="+mn-cs"/>
                  </a:rPr>
                  <a:t>53</a:t>
                </a:r>
              </a:p>
            </p:txBody>
          </p:sp>
          <p:sp>
            <p:nvSpPr>
              <p:cNvPr id="60" name="Line 43"/>
              <p:cNvSpPr>
                <a:spLocks noChangeShapeType="1"/>
              </p:cNvSpPr>
              <p:nvPr/>
            </p:nvSpPr>
            <p:spPr bwMode="auto">
              <a:xfrm>
                <a:off x="4272" y="2866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Text Box 57"/>
            <p:cNvSpPr txBox="1">
              <a:spLocks noChangeArrowheads="1"/>
            </p:cNvSpPr>
            <p:nvPr/>
          </p:nvSpPr>
          <p:spPr bwMode="auto">
            <a:xfrm>
              <a:off x="3900" y="3330"/>
              <a:ext cx="67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插入</a:t>
              </a:r>
              <a:r>
                <a: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Microsoft YaHei" panose="020B0503020204020204" pitchFamily="34" charset="-122"/>
                  <a:cs typeface="+mn-cs"/>
                </a:rPr>
                <a:t>53</a:t>
              </a:r>
            </a:p>
          </p:txBody>
        </p:sp>
      </p:grpSp>
      <p:sp>
        <p:nvSpPr>
          <p:cNvPr id="56330" name="内容占位符 2"/>
          <p:cNvSpPr txBox="1"/>
          <p:nvPr/>
        </p:nvSpPr>
        <p:spPr>
          <a:xfrm>
            <a:off x="101600" y="1089025"/>
            <a:ext cx="5032375" cy="811213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lIns="92075" tIns="46038" rIns="92075" bIns="46038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Times New Roman" panose="02020503050405090304" pitchFamily="18" charset="0"/>
              <a:buNone/>
            </a:pPr>
            <a:r>
              <a:rPr lang="zh-CN" altLang="en-US" sz="1600" b="1">
                <a:solidFill>
                  <a:srgbClr val="000066"/>
                </a:solidFill>
              </a:rPr>
              <a:t>设关键字的输入顺序为：</a:t>
            </a:r>
            <a:r>
              <a:rPr lang="en-US" altLang="zh-CN" sz="1600" b="1">
                <a:solidFill>
                  <a:srgbClr val="000066"/>
                </a:solidFill>
              </a:rPr>
              <a:t>45</a:t>
            </a:r>
            <a:r>
              <a:rPr lang="zh-CN" altLang="en-US" sz="1600" b="1">
                <a:solidFill>
                  <a:srgbClr val="000066"/>
                </a:solidFill>
              </a:rPr>
              <a:t>，</a:t>
            </a:r>
            <a:r>
              <a:rPr lang="en-US" altLang="zh-CN" sz="1600" b="1">
                <a:solidFill>
                  <a:srgbClr val="000066"/>
                </a:solidFill>
              </a:rPr>
              <a:t>24</a:t>
            </a:r>
            <a:r>
              <a:rPr lang="zh-CN" altLang="en-US" sz="1600" b="1">
                <a:solidFill>
                  <a:srgbClr val="000066"/>
                </a:solidFill>
              </a:rPr>
              <a:t>，</a:t>
            </a:r>
            <a:r>
              <a:rPr lang="en-US" altLang="zh-CN" sz="1600" b="1">
                <a:solidFill>
                  <a:srgbClr val="000066"/>
                </a:solidFill>
              </a:rPr>
              <a:t>53</a:t>
            </a:r>
            <a:r>
              <a:rPr lang="zh-CN" altLang="en-US" sz="1600" b="1">
                <a:solidFill>
                  <a:srgbClr val="000066"/>
                </a:solidFill>
              </a:rPr>
              <a:t>，</a:t>
            </a:r>
            <a:r>
              <a:rPr lang="en-US" altLang="zh-CN" sz="1600" b="1">
                <a:solidFill>
                  <a:srgbClr val="000066"/>
                </a:solidFill>
              </a:rPr>
              <a:t>12</a:t>
            </a:r>
            <a:r>
              <a:rPr lang="zh-CN" altLang="en-US" sz="1600" b="1">
                <a:solidFill>
                  <a:srgbClr val="000066"/>
                </a:solidFill>
              </a:rPr>
              <a:t>，</a:t>
            </a:r>
            <a:r>
              <a:rPr lang="en-US" altLang="zh-CN" sz="1600" b="1">
                <a:solidFill>
                  <a:srgbClr val="000066"/>
                </a:solidFill>
              </a:rPr>
              <a:t>28</a:t>
            </a:r>
            <a:r>
              <a:rPr lang="zh-CN" altLang="en-US" sz="1600" b="1">
                <a:solidFill>
                  <a:srgbClr val="000066"/>
                </a:solidFill>
              </a:rPr>
              <a:t>，</a:t>
            </a:r>
            <a:r>
              <a:rPr lang="en-US" altLang="zh-CN" sz="1600" b="1">
                <a:solidFill>
                  <a:srgbClr val="000066"/>
                </a:solidFill>
              </a:rPr>
              <a:t>90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Times New Roman" panose="02020503050405090304" pitchFamily="18" charset="0"/>
              <a:buNone/>
            </a:pPr>
            <a:r>
              <a:rPr lang="zh-CN" altLang="en-US" sz="1600" b="1">
                <a:solidFill>
                  <a:srgbClr val="000066"/>
                </a:solidFill>
              </a:rPr>
              <a:t>按算法生成的二叉排序树的过程：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 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二叉排序树练习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endParaRPr lang="zh-CN" altLang="en-US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8370" name="文本框 2"/>
          <p:cNvSpPr txBox="1"/>
          <p:nvPr/>
        </p:nvSpPr>
        <p:spPr>
          <a:xfrm>
            <a:off x="488950" y="915988"/>
            <a:ext cx="7634288" cy="2243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cs typeface="Times New Roman" panose="02020503050405090304" pitchFamily="18" charset="0"/>
              </a:rPr>
              <a:t>从</a:t>
            </a:r>
            <a:r>
              <a:rPr lang="en-US" altLang="zh-CN" sz="2400">
                <a:cs typeface="Times New Roman" panose="02020503050405090304" pitchFamily="18" charset="0"/>
              </a:rPr>
              <a:t>.csv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文件</a:t>
            </a:r>
            <a:r>
              <a:rPr lang="zh-CN" altLang="en-US" sz="2400">
                <a:cs typeface="Times New Roman" panose="02020503050405090304" pitchFamily="18" charset="0"/>
              </a:rPr>
              <a:t>中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读取</a:t>
            </a:r>
            <a:r>
              <a:rPr lang="zh-CN" altLang="en-US" sz="2400">
                <a:cs typeface="Times New Roman" panose="02020503050405090304" pitchFamily="18" charset="0"/>
              </a:rPr>
              <a:t>用户（用户名、联系方式等）信息，</a:t>
            </a:r>
            <a:endParaRPr lang="en-US" altLang="zh-CN" sz="2400">
              <a:cs typeface="Times New Roman" panose="0202050305040509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503050405090304" pitchFamily="18" charset="0"/>
              </a:rPr>
              <a:t>1.</a:t>
            </a:r>
            <a:r>
              <a:rPr lang="zh-CN" altLang="en-US" sz="2400">
                <a:cs typeface="Times New Roman" panose="02020503050405090304" pitchFamily="18" charset="0"/>
              </a:rPr>
              <a:t>以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用户名</a:t>
            </a:r>
            <a:r>
              <a:rPr lang="zh-CN" altLang="en-US" sz="2400">
                <a:cs typeface="Times New Roman" panose="02020503050405090304" pitchFamily="18" charset="0"/>
              </a:rPr>
              <a:t>为关键字，创建二叉排序树存放信息</a:t>
            </a:r>
            <a:endParaRPr lang="en-US" altLang="zh-CN" sz="2400">
              <a:cs typeface="Times New Roman" panose="0202050305040509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503050405090304" pitchFamily="18" charset="0"/>
              </a:rPr>
              <a:t>2.</a:t>
            </a:r>
            <a:r>
              <a:rPr lang="zh-CN" altLang="en-US" sz="2400">
                <a:cs typeface="Times New Roman" panose="02020503050405090304" pitchFamily="18" charset="0"/>
              </a:rPr>
              <a:t>实现用户信息的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查找</a:t>
            </a:r>
            <a:endParaRPr lang="en-US" altLang="zh-CN" sz="2400">
              <a:solidFill>
                <a:srgbClr val="C00000"/>
              </a:solidFill>
              <a:cs typeface="Times New Roman" panose="0202050305040509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503050405090304" pitchFamily="18" charset="0"/>
              </a:rPr>
              <a:t>3.</a:t>
            </a:r>
            <a:r>
              <a:rPr lang="zh-CN" altLang="en-US" sz="2400">
                <a:cs typeface="Times New Roman" panose="02020503050405090304" pitchFamily="18" charset="0"/>
              </a:rPr>
              <a:t>实现用户信息的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新增</a:t>
            </a:r>
            <a:endParaRPr lang="zh-CN" altLang="en-US" sz="2400">
              <a:solidFill>
                <a:srgbClr val="C00000"/>
              </a:solidFill>
              <a:ea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删除</a:t>
            </a:r>
          </a:p>
        </p:txBody>
      </p:sp>
      <p:sp>
        <p:nvSpPr>
          <p:cNvPr id="60418" name="Freeform 18"/>
          <p:cNvSpPr/>
          <p:nvPr/>
        </p:nvSpPr>
        <p:spPr>
          <a:xfrm>
            <a:off x="5611813" y="2865438"/>
            <a:ext cx="419100" cy="431800"/>
          </a:xfrm>
          <a:custGeom>
            <a:avLst/>
            <a:gdLst>
              <a:gd name="txL" fmla="*/ 0 w 264"/>
              <a:gd name="txT" fmla="*/ 0 h 272"/>
              <a:gd name="txR" fmla="*/ 264 w 264"/>
              <a:gd name="txB" fmla="*/ 272 h 272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264" h="272">
                <a:moveTo>
                  <a:pt x="264" y="0"/>
                </a:moveTo>
                <a:lnTo>
                  <a:pt x="0" y="272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Oval 3"/>
          <p:cNvSpPr>
            <a:spLocks noChangeArrowheads="1"/>
          </p:cNvSpPr>
          <p:nvPr/>
        </p:nvSpPr>
        <p:spPr bwMode="auto">
          <a:xfrm>
            <a:off x="3325813" y="11731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50</a:t>
            </a:r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4773613" y="17065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80</a:t>
            </a:r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5916613" y="23923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90</a:t>
            </a: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5078413" y="32305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85</a:t>
            </a: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3021013" y="23923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40</a:t>
            </a: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2106613" y="32305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35</a:t>
            </a:r>
          </a:p>
        </p:txBody>
      </p:sp>
      <p:sp>
        <p:nvSpPr>
          <p:cNvPr id="60425" name="Freeform 12"/>
          <p:cNvSpPr/>
          <p:nvPr/>
        </p:nvSpPr>
        <p:spPr>
          <a:xfrm>
            <a:off x="2538413" y="1477963"/>
            <a:ext cx="787400" cy="384175"/>
          </a:xfrm>
          <a:custGeom>
            <a:avLst/>
            <a:gdLst>
              <a:gd name="txL" fmla="*/ 0 w 496"/>
              <a:gd name="txT" fmla="*/ 0 h 242"/>
              <a:gd name="txR" fmla="*/ 496 w 496"/>
              <a:gd name="txB" fmla="*/ 242 h 242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496" h="242">
                <a:moveTo>
                  <a:pt x="496" y="0"/>
                </a:moveTo>
                <a:lnTo>
                  <a:pt x="0" y="242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828675" y="2146300"/>
            <a:ext cx="1098550" cy="763588"/>
            <a:chOff x="2435224" y="3386138"/>
            <a:chExt cx="1098283" cy="763587"/>
          </a:xfrm>
        </p:grpSpPr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2435224" y="3616326"/>
              <a:ext cx="658653" cy="533399"/>
            </a:xfrm>
            <a:prstGeom prst="ellipse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20</a:t>
              </a:r>
            </a:p>
          </p:txBody>
        </p:sp>
        <p:sp>
          <p:nvSpPr>
            <p:cNvPr id="60443" name="Line 13"/>
            <p:cNvSpPr/>
            <p:nvPr/>
          </p:nvSpPr>
          <p:spPr>
            <a:xfrm flipH="1">
              <a:off x="3000107" y="3386138"/>
              <a:ext cx="533400" cy="30480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0427" name="Freeform 14"/>
          <p:cNvSpPr/>
          <p:nvPr/>
        </p:nvSpPr>
        <p:spPr>
          <a:xfrm>
            <a:off x="4011613" y="1477963"/>
            <a:ext cx="787400" cy="371475"/>
          </a:xfrm>
          <a:custGeom>
            <a:avLst/>
            <a:gdLst>
              <a:gd name="txL" fmla="*/ 0 w 496"/>
              <a:gd name="txT" fmla="*/ 0 h 234"/>
              <a:gd name="txR" fmla="*/ 496 w 496"/>
              <a:gd name="txB" fmla="*/ 234 h 23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496" h="234">
                <a:moveTo>
                  <a:pt x="0" y="0"/>
                </a:moveTo>
                <a:lnTo>
                  <a:pt x="496" y="234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28" name="Freeform 15"/>
          <p:cNvSpPr/>
          <p:nvPr/>
        </p:nvSpPr>
        <p:spPr>
          <a:xfrm>
            <a:off x="2525713" y="2065338"/>
            <a:ext cx="571500" cy="403225"/>
          </a:xfrm>
          <a:custGeom>
            <a:avLst/>
            <a:gdLst>
              <a:gd name="txL" fmla="*/ 0 w 360"/>
              <a:gd name="txT" fmla="*/ 0 h 254"/>
              <a:gd name="txR" fmla="*/ 360 w 360"/>
              <a:gd name="txB" fmla="*/ 254 h 25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360" h="254">
                <a:moveTo>
                  <a:pt x="0" y="0"/>
                </a:moveTo>
                <a:lnTo>
                  <a:pt x="360" y="254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29" name="Freeform 16"/>
          <p:cNvSpPr/>
          <p:nvPr/>
        </p:nvSpPr>
        <p:spPr>
          <a:xfrm>
            <a:off x="2614613" y="2849563"/>
            <a:ext cx="482600" cy="409575"/>
          </a:xfrm>
          <a:custGeom>
            <a:avLst/>
            <a:gdLst>
              <a:gd name="txL" fmla="*/ 0 w 304"/>
              <a:gd name="txT" fmla="*/ 0 h 258"/>
              <a:gd name="txR" fmla="*/ 304 w 304"/>
              <a:gd name="txB" fmla="*/ 258 h 258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304" h="258">
                <a:moveTo>
                  <a:pt x="304" y="0"/>
                </a:moveTo>
                <a:lnTo>
                  <a:pt x="0" y="258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30" name="Freeform 17"/>
          <p:cNvSpPr/>
          <p:nvPr/>
        </p:nvSpPr>
        <p:spPr>
          <a:xfrm>
            <a:off x="5395913" y="2103438"/>
            <a:ext cx="596900" cy="365125"/>
          </a:xfrm>
          <a:custGeom>
            <a:avLst/>
            <a:gdLst>
              <a:gd name="txL" fmla="*/ 0 w 376"/>
              <a:gd name="txT" fmla="*/ 0 h 230"/>
              <a:gd name="txR" fmla="*/ 376 w 376"/>
              <a:gd name="txB" fmla="*/ 230 h 230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376" h="230">
                <a:moveTo>
                  <a:pt x="0" y="0"/>
                </a:moveTo>
                <a:lnTo>
                  <a:pt x="376" y="23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688013" y="3687763"/>
            <a:ext cx="1339850" cy="914400"/>
            <a:chOff x="7294562" y="4927600"/>
            <a:chExt cx="1340236" cy="914400"/>
          </a:xfrm>
        </p:grpSpPr>
        <p:sp>
          <p:nvSpPr>
            <p:cNvPr id="18" name="Oval 11"/>
            <p:cNvSpPr>
              <a:spLocks noChangeArrowheads="1"/>
            </p:cNvSpPr>
            <p:nvPr/>
          </p:nvSpPr>
          <p:spPr bwMode="auto">
            <a:xfrm>
              <a:off x="7948800" y="5308600"/>
              <a:ext cx="685998" cy="533400"/>
            </a:xfrm>
            <a:prstGeom prst="ellipse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88</a:t>
              </a:r>
            </a:p>
          </p:txBody>
        </p:sp>
        <p:sp>
          <p:nvSpPr>
            <p:cNvPr id="60441" name="Line 19"/>
            <p:cNvSpPr/>
            <p:nvPr/>
          </p:nvSpPr>
          <p:spPr>
            <a:xfrm>
              <a:off x="7294562" y="4927600"/>
              <a:ext cx="762000" cy="45720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1116013" y="40687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32</a:t>
            </a:r>
          </a:p>
        </p:txBody>
      </p:sp>
      <p:sp>
        <p:nvSpPr>
          <p:cNvPr id="60433" name="Freeform 21"/>
          <p:cNvSpPr/>
          <p:nvPr/>
        </p:nvSpPr>
        <p:spPr>
          <a:xfrm>
            <a:off x="1573213" y="3627438"/>
            <a:ext cx="584200" cy="441325"/>
          </a:xfrm>
          <a:custGeom>
            <a:avLst/>
            <a:gdLst>
              <a:gd name="txL" fmla="*/ 0 w 368"/>
              <a:gd name="txT" fmla="*/ 0 h 278"/>
              <a:gd name="txR" fmla="*/ 368 w 368"/>
              <a:gd name="txB" fmla="*/ 278 h 278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368" h="278">
                <a:moveTo>
                  <a:pt x="368" y="0"/>
                </a:moveTo>
                <a:lnTo>
                  <a:pt x="0" y="278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34" name="Rectangle 22"/>
          <p:cNvSpPr/>
          <p:nvPr/>
        </p:nvSpPr>
        <p:spPr>
          <a:xfrm>
            <a:off x="500063" y="679450"/>
            <a:ext cx="73072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0030101010101" pitchFamily="49" charset="-122"/>
                <a:cs typeface="Times New Roman" panose="02020503050405090304" pitchFamily="18" charset="0"/>
              </a:rPr>
              <a:t>1</a:t>
            </a:r>
            <a:r>
              <a:rPr lang="zh-CN" altLang="en-US" sz="2400">
                <a:latin typeface="黑体" panose="02010600030101010101" pitchFamily="49" charset="-122"/>
                <a:cs typeface="Times New Roman" panose="02020503050405090304" pitchFamily="18" charset="0"/>
              </a:rPr>
              <a:t>）被删除的结点是叶子结点：直接删去该结点。</a:t>
            </a:r>
            <a:endParaRPr lang="zh-CN" altLang="en-US" sz="2400"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>
        <p:nvSpPr>
          <p:cNvPr id="60435" name="Text Box 25"/>
          <p:cNvSpPr txBox="1"/>
          <p:nvPr/>
        </p:nvSpPr>
        <p:spPr>
          <a:xfrm>
            <a:off x="517525" y="1365250"/>
            <a:ext cx="9048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FF"/>
                </a:solidFill>
                <a:cs typeface="Times New Roman" panose="02020503050405090304" pitchFamily="18" charset="0"/>
              </a:rPr>
              <a:t>例如</a:t>
            </a:r>
            <a:r>
              <a:rPr lang="en-US" altLang="zh-CN" sz="2400">
                <a:solidFill>
                  <a:srgbClr val="3333FF"/>
                </a:solidFill>
                <a:cs typeface="Times New Roman" panose="02020503050405090304" pitchFamily="18" charset="0"/>
              </a:rPr>
              <a:t>:</a:t>
            </a:r>
            <a:endParaRPr lang="en-US" altLang="zh-CN" sz="2400">
              <a:solidFill>
                <a:srgbClr val="3333FF"/>
              </a:solidFill>
              <a:ea typeface="Times New Roman" panose="02020503050405090304" pitchFamily="18" charset="0"/>
            </a:endParaRPr>
          </a:p>
        </p:txBody>
      </p:sp>
      <p:sp>
        <p:nvSpPr>
          <p:cNvPr id="24" name="Text Box 26"/>
          <p:cNvSpPr txBox="1"/>
          <p:nvPr/>
        </p:nvSpPr>
        <p:spPr>
          <a:xfrm>
            <a:off x="5311775" y="1306513"/>
            <a:ext cx="2122488" cy="4000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被删关键字 </a:t>
            </a:r>
            <a:r>
              <a:rPr lang="en-US" altLang="zh-CN" sz="20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= 20</a:t>
            </a:r>
            <a:endParaRPr lang="en-US" altLang="zh-CN" sz="2000">
              <a:solidFill>
                <a:srgbClr val="3333FF"/>
              </a:solidFill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 useBgFill="1">
        <p:nvSpPr>
          <p:cNvPr id="25" name="Text Box 27"/>
          <p:cNvSpPr txBox="1">
            <a:spLocks noChangeArrowheads="1"/>
          </p:cNvSpPr>
          <p:nvPr/>
        </p:nvSpPr>
        <p:spPr bwMode="auto">
          <a:xfrm>
            <a:off x="7572375" y="1328738"/>
            <a:ext cx="485775" cy="400050"/>
          </a:xfrm>
          <a:prstGeom prst="rect">
            <a:avLst/>
          </a:prstGeom>
          <a:ln w="9525">
            <a:solidFill>
              <a:sysClr val="window" lastClr="FFFFFF"/>
            </a:solidFill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000" kern="0" cap="none" spc="0" normalizeH="0" baseline="0" noProof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88</a:t>
            </a:r>
          </a:p>
        </p:txBody>
      </p:sp>
      <p:sp>
        <p:nvSpPr>
          <p:cNvPr id="26" name="Text Box 28"/>
          <p:cNvSpPr txBox="1"/>
          <p:nvPr/>
        </p:nvSpPr>
        <p:spPr>
          <a:xfrm>
            <a:off x="1539875" y="4446588"/>
            <a:ext cx="5262563" cy="430212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3333FF"/>
                </a:solidFill>
                <a:latin typeface="黑体" panose="02010600030101010101" pitchFamily="49" charset="-122"/>
              </a:rPr>
              <a:t>其双亲结点中相应指针域的值改为“空”</a:t>
            </a:r>
          </a:p>
        </p:txBody>
      </p:sp>
      <p:sp>
        <p:nvSpPr>
          <p:cNvPr id="27" name="Oval 4"/>
          <p:cNvSpPr>
            <a:spLocks noChangeArrowheads="1"/>
          </p:cNvSpPr>
          <p:nvPr/>
        </p:nvSpPr>
        <p:spPr bwMode="auto">
          <a:xfrm>
            <a:off x="1878013" y="17065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30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删除</a:t>
            </a:r>
          </a:p>
        </p:txBody>
      </p:sp>
      <p:sp>
        <p:nvSpPr>
          <p:cNvPr id="2" name="Oval 3"/>
          <p:cNvSpPr>
            <a:spLocks noChangeArrowheads="1"/>
          </p:cNvSpPr>
          <p:nvPr/>
        </p:nvSpPr>
        <p:spPr bwMode="auto">
          <a:xfrm>
            <a:off x="2651125" y="1092200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50</a:t>
            </a:r>
          </a:p>
        </p:txBody>
      </p:sp>
      <p:sp>
        <p:nvSpPr>
          <p:cNvPr id="3" name="Oval 4"/>
          <p:cNvSpPr>
            <a:spLocks noChangeArrowheads="1"/>
          </p:cNvSpPr>
          <p:nvPr/>
        </p:nvSpPr>
        <p:spPr bwMode="auto">
          <a:xfrm>
            <a:off x="1498600" y="1884363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30</a:t>
            </a:r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3802063" y="1866900"/>
            <a:ext cx="685800" cy="533400"/>
          </a:xfrm>
          <a:prstGeom prst="ellipse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80</a:t>
            </a: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527050" y="2733675"/>
            <a:ext cx="685800" cy="533400"/>
          </a:xfrm>
          <a:prstGeom prst="ellipse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Times New Roman" panose="02020503050405090304" pitchFamily="18" charset="0"/>
              </a:rPr>
              <a:t>20</a:t>
            </a:r>
          </a:p>
        </p:txBody>
      </p:sp>
      <p:sp>
        <p:nvSpPr>
          <p:cNvPr id="50182" name="Rectangle 23"/>
          <p:cNvSpPr>
            <a:spLocks noChangeArrowheads="1"/>
          </p:cNvSpPr>
          <p:nvPr/>
        </p:nvSpPr>
        <p:spPr bwMode="auto">
          <a:xfrm>
            <a:off x="85725" y="631825"/>
            <a:ext cx="8856663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0030101010101" pitchFamily="49" charset="-122"/>
                <a:cs typeface="Times New Roman" panose="02020503050405090304" pitchFamily="18" charset="0"/>
              </a:rPr>
              <a:t>2</a:t>
            </a:r>
            <a:r>
              <a:rPr lang="zh-CN" altLang="en-US" sz="1800">
                <a:latin typeface="黑体" panose="02010600030101010101" pitchFamily="49" charset="-122"/>
                <a:cs typeface="Times New Roman" panose="02020503050405090304" pitchFamily="18" charset="0"/>
              </a:rPr>
              <a:t>） 被删除的结点</a:t>
            </a:r>
            <a:r>
              <a:rPr lang="zh-CN" altLang="en-US" sz="1800" b="1">
                <a:solidFill>
                  <a:srgbClr val="2683C6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只有左子树</a:t>
            </a:r>
            <a:r>
              <a:rPr lang="zh-CN" altLang="en-US" sz="1800">
                <a:latin typeface="黑体" panose="02010600030101010101" pitchFamily="49" charset="-122"/>
                <a:cs typeface="Times New Roman" panose="02020503050405090304" pitchFamily="18" charset="0"/>
              </a:rPr>
              <a:t>或者</a:t>
            </a:r>
            <a:r>
              <a:rPr lang="zh-CN" altLang="en-US" sz="1800" b="1">
                <a:solidFill>
                  <a:srgbClr val="2683C6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只有右子树</a:t>
            </a:r>
            <a:r>
              <a:rPr lang="zh-CN" altLang="en-US" sz="1800">
                <a:latin typeface="黑体" panose="02010600030101010101" pitchFamily="49" charset="-122"/>
                <a:cs typeface="Times New Roman" panose="02020503050405090304" pitchFamily="18" charset="0"/>
              </a:rPr>
              <a:t>，用其左子树或者右子树</a:t>
            </a:r>
            <a:r>
              <a:rPr lang="zh-CN" altLang="en-US" sz="1800" b="1">
                <a:solidFill>
                  <a:srgbClr val="2683C6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替换它（结点替换）</a:t>
            </a:r>
            <a:r>
              <a:rPr lang="zh-CN" altLang="en-US" sz="1800">
                <a:latin typeface="黑体" panose="02010600030101010101" pitchFamily="49" charset="-122"/>
                <a:cs typeface="Times New Roman" panose="02020503050405090304" pitchFamily="18" charset="0"/>
              </a:rPr>
              <a:t>。</a:t>
            </a:r>
            <a:endParaRPr lang="zh-CN" altLang="en-US" sz="1800"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>
        <p:nvSpPr>
          <p:cNvPr id="7" name="Text Box 29"/>
          <p:cNvSpPr txBox="1"/>
          <p:nvPr/>
        </p:nvSpPr>
        <p:spPr>
          <a:xfrm>
            <a:off x="6245225" y="1982788"/>
            <a:ext cx="2441575" cy="16795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latin typeface="黑体" panose="02010600030101010101" pitchFamily="49" charset="-122"/>
              </a:rPr>
              <a:t>其双亲结点的相应指针域的值改为： </a:t>
            </a:r>
            <a:r>
              <a:rPr lang="zh-CN" altLang="en-US" sz="2200" b="1">
                <a:solidFill>
                  <a:srgbClr val="3333FF"/>
                </a:solidFill>
                <a:latin typeface="黑体" panose="02010600030101010101" pitchFamily="49" charset="-122"/>
              </a:rPr>
              <a:t>指向被删除结点的左子树或右子树</a:t>
            </a:r>
          </a:p>
        </p:txBody>
      </p:sp>
      <p:sp>
        <p:nvSpPr>
          <p:cNvPr id="8" name="Text Box 30"/>
          <p:cNvSpPr txBox="1"/>
          <p:nvPr/>
        </p:nvSpPr>
        <p:spPr>
          <a:xfrm>
            <a:off x="5724525" y="1506538"/>
            <a:ext cx="2122488" cy="4000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被删关键字 </a:t>
            </a:r>
            <a:r>
              <a:rPr lang="en-US" altLang="zh-CN" sz="20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= 40</a:t>
            </a:r>
            <a:endParaRPr lang="en-US" altLang="zh-CN" sz="2000">
              <a:solidFill>
                <a:srgbClr val="3333FF"/>
              </a:solidFill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 useBgFill="1">
        <p:nvSpPr>
          <p:cNvPr id="9" name="Rectangle 31"/>
          <p:cNvSpPr>
            <a:spLocks noChangeArrowheads="1"/>
          </p:cNvSpPr>
          <p:nvPr/>
        </p:nvSpPr>
        <p:spPr bwMode="auto">
          <a:xfrm>
            <a:off x="8086725" y="1506538"/>
            <a:ext cx="469900" cy="400050"/>
          </a:xfrm>
          <a:prstGeom prst="rect">
            <a:avLst/>
          </a:prstGeom>
          <a:ln w="9525">
            <a:solidFill>
              <a:sysClr val="window" lastClr="FFFFFF"/>
            </a:solidFill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楷体_GB2312" panose="02010609030101010101" pitchFamily="49" charset="-122"/>
                <a:cs typeface="+mn-cs"/>
              </a:rPr>
              <a:t>80</a:t>
            </a:r>
          </a:p>
        </p:txBody>
      </p:sp>
      <p:sp>
        <p:nvSpPr>
          <p:cNvPr id="62474" name="Text Box 25"/>
          <p:cNvSpPr txBox="1"/>
          <p:nvPr/>
        </p:nvSpPr>
        <p:spPr>
          <a:xfrm>
            <a:off x="57150" y="1638300"/>
            <a:ext cx="9064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FF"/>
                </a:solidFill>
                <a:cs typeface="Times New Roman" panose="02020503050405090304" pitchFamily="18" charset="0"/>
              </a:rPr>
              <a:t>例如</a:t>
            </a:r>
            <a:r>
              <a:rPr lang="en-US" altLang="zh-CN" sz="2400">
                <a:solidFill>
                  <a:srgbClr val="3333FF"/>
                </a:solidFill>
                <a:cs typeface="Times New Roman" panose="02020503050405090304" pitchFamily="18" charset="0"/>
              </a:rPr>
              <a:t>:</a:t>
            </a:r>
            <a:endParaRPr lang="en-US" altLang="zh-CN" sz="2400">
              <a:solidFill>
                <a:srgbClr val="3333FF"/>
              </a:solidFill>
              <a:ea typeface="Times New Roman" panose="02020503050405090304" pitchFamily="18" charset="0"/>
            </a:endParaRPr>
          </a:p>
        </p:txBody>
      </p:sp>
      <p:sp>
        <p:nvSpPr>
          <p:cNvPr id="62475" name="Line 16"/>
          <p:cNvSpPr/>
          <p:nvPr/>
        </p:nvSpPr>
        <p:spPr>
          <a:xfrm flipH="1">
            <a:off x="1128713" y="2332038"/>
            <a:ext cx="457200" cy="495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6" name="Line 16"/>
          <p:cNvSpPr/>
          <p:nvPr/>
        </p:nvSpPr>
        <p:spPr>
          <a:xfrm flipH="1">
            <a:off x="2076450" y="1460500"/>
            <a:ext cx="592138" cy="490538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Line 15"/>
          <p:cNvSpPr/>
          <p:nvPr/>
        </p:nvSpPr>
        <p:spPr>
          <a:xfrm>
            <a:off x="3306763" y="1457325"/>
            <a:ext cx="604837" cy="493713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8" name="Line 15"/>
          <p:cNvSpPr/>
          <p:nvPr/>
        </p:nvSpPr>
        <p:spPr>
          <a:xfrm>
            <a:off x="2087563" y="2328863"/>
            <a:ext cx="604837" cy="493712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5" name="组合 14"/>
          <p:cNvGrpSpPr/>
          <p:nvPr/>
        </p:nvGrpSpPr>
        <p:grpSpPr>
          <a:xfrm>
            <a:off x="2232025" y="2741613"/>
            <a:ext cx="1058863" cy="981075"/>
            <a:chOff x="3167667" y="4202546"/>
            <a:chExt cx="1058888" cy="981438"/>
          </a:xfrm>
        </p:grpSpPr>
        <p:sp>
          <p:nvSpPr>
            <p:cNvPr id="16" name="Oval 9"/>
            <p:cNvSpPr>
              <a:spLocks noChangeArrowheads="1"/>
            </p:cNvSpPr>
            <p:nvPr/>
          </p:nvSpPr>
          <p:spPr bwMode="auto">
            <a:xfrm>
              <a:off x="3540739" y="4202546"/>
              <a:ext cx="685816" cy="533597"/>
            </a:xfrm>
            <a:prstGeom prst="ellipse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40</a:t>
              </a:r>
            </a:p>
          </p:txBody>
        </p:sp>
        <p:sp>
          <p:nvSpPr>
            <p:cNvPr id="62492" name="Line 16"/>
            <p:cNvSpPr/>
            <p:nvPr/>
          </p:nvSpPr>
          <p:spPr>
            <a:xfrm flipH="1">
              <a:off x="3167667" y="4688684"/>
              <a:ext cx="457200" cy="49530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8" name="组合 17"/>
          <p:cNvGrpSpPr/>
          <p:nvPr/>
        </p:nvGrpSpPr>
        <p:grpSpPr>
          <a:xfrm>
            <a:off x="747713" y="3606800"/>
            <a:ext cx="1568450" cy="1474788"/>
            <a:chOff x="1682279" y="5067975"/>
            <a:chExt cx="1569500" cy="1474760"/>
          </a:xfrm>
        </p:grpSpPr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2565520" y="5067975"/>
              <a:ext cx="686259" cy="533390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35</a:t>
              </a:r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1682279" y="6009345"/>
              <a:ext cx="686259" cy="533390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32</a:t>
              </a:r>
            </a:p>
          </p:txBody>
        </p:sp>
        <p:sp>
          <p:nvSpPr>
            <p:cNvPr id="62490" name="Line 16"/>
            <p:cNvSpPr/>
            <p:nvPr/>
          </p:nvSpPr>
          <p:spPr>
            <a:xfrm flipH="1">
              <a:off x="2250294" y="5572893"/>
              <a:ext cx="457200" cy="49530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2" name="组合 21"/>
          <p:cNvGrpSpPr/>
          <p:nvPr/>
        </p:nvGrpSpPr>
        <p:grpSpPr>
          <a:xfrm>
            <a:off x="4360863" y="2338388"/>
            <a:ext cx="2649537" cy="2278062"/>
            <a:chOff x="5296296" y="3798306"/>
            <a:chExt cx="2649322" cy="2278646"/>
          </a:xfrm>
        </p:grpSpPr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6247131" y="4589084"/>
              <a:ext cx="685744" cy="533537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90</a:t>
              </a:r>
            </a:p>
          </p:txBody>
        </p:sp>
        <p:sp>
          <p:nvSpPr>
            <p:cNvPr id="24" name="Oval 8"/>
            <p:cNvSpPr>
              <a:spLocks noChangeArrowheads="1"/>
            </p:cNvSpPr>
            <p:nvPr/>
          </p:nvSpPr>
          <p:spPr bwMode="auto">
            <a:xfrm>
              <a:off x="5296296" y="5532300"/>
              <a:ext cx="685744" cy="533537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85</a:t>
              </a:r>
            </a:p>
          </p:txBody>
        </p:sp>
        <p:sp>
          <p:nvSpPr>
            <p:cNvPr id="25" name="Oval 11"/>
            <p:cNvSpPr>
              <a:spLocks noChangeArrowheads="1"/>
            </p:cNvSpPr>
            <p:nvPr/>
          </p:nvSpPr>
          <p:spPr bwMode="auto">
            <a:xfrm>
              <a:off x="7259874" y="5543415"/>
              <a:ext cx="685744" cy="533537"/>
            </a:xfrm>
            <a:prstGeom prst="ellipse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Arial" panose="020B0604020202090204" pitchFamily="34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88</a:t>
              </a:r>
            </a:p>
          </p:txBody>
        </p:sp>
        <p:sp>
          <p:nvSpPr>
            <p:cNvPr id="62485" name="Line 15"/>
            <p:cNvSpPr/>
            <p:nvPr/>
          </p:nvSpPr>
          <p:spPr>
            <a:xfrm>
              <a:off x="5308583" y="3798306"/>
              <a:ext cx="1016017" cy="89037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6" name="Line 15"/>
            <p:cNvSpPr/>
            <p:nvPr/>
          </p:nvSpPr>
          <p:spPr>
            <a:xfrm>
              <a:off x="6817702" y="5080431"/>
              <a:ext cx="603699" cy="49422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7" name="Line 16"/>
            <p:cNvSpPr/>
            <p:nvPr/>
          </p:nvSpPr>
          <p:spPr>
            <a:xfrm flipH="1">
              <a:off x="5788370" y="5068265"/>
              <a:ext cx="592100" cy="490179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44444E-6 L 0.10591 -0.1765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00" y="-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07407E-6 L -0.11562 -0.17315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0" y="-8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删除</a:t>
            </a:r>
          </a:p>
        </p:txBody>
      </p:sp>
      <p:sp>
        <p:nvSpPr>
          <p:cNvPr id="2" name="Line 16"/>
          <p:cNvSpPr/>
          <p:nvPr/>
        </p:nvSpPr>
        <p:spPr>
          <a:xfrm flipH="1">
            <a:off x="1911350" y="3268663"/>
            <a:ext cx="533400" cy="4445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Oval 3"/>
          <p:cNvSpPr>
            <a:spLocks noChangeArrowheads="1"/>
          </p:cNvSpPr>
          <p:nvPr/>
        </p:nvSpPr>
        <p:spPr bwMode="auto">
          <a:xfrm>
            <a:off x="2673350" y="15922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50</a:t>
            </a:r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4121150" y="21256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80</a:t>
            </a: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82550" y="28114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20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5264150" y="28114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90</a:t>
            </a:r>
          </a:p>
        </p:txBody>
      </p:sp>
      <p:sp>
        <p:nvSpPr>
          <p:cNvPr id="7" name="Oval 11"/>
          <p:cNvSpPr>
            <a:spLocks noChangeArrowheads="1"/>
          </p:cNvSpPr>
          <p:nvPr/>
        </p:nvSpPr>
        <p:spPr bwMode="auto">
          <a:xfrm>
            <a:off x="5721350" y="44878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88</a:t>
            </a:r>
          </a:p>
        </p:txBody>
      </p:sp>
      <p:sp>
        <p:nvSpPr>
          <p:cNvPr id="64520" name="Line 12"/>
          <p:cNvSpPr/>
          <p:nvPr/>
        </p:nvSpPr>
        <p:spPr>
          <a:xfrm flipH="1">
            <a:off x="1835150" y="1897063"/>
            <a:ext cx="8382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1" name="Line 13"/>
          <p:cNvSpPr/>
          <p:nvPr/>
        </p:nvSpPr>
        <p:spPr>
          <a:xfrm flipH="1">
            <a:off x="692150" y="2506663"/>
            <a:ext cx="6096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2" name="Line 14"/>
          <p:cNvSpPr/>
          <p:nvPr/>
        </p:nvSpPr>
        <p:spPr>
          <a:xfrm>
            <a:off x="3359150" y="1897063"/>
            <a:ext cx="7620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3" name="Line 15"/>
          <p:cNvSpPr/>
          <p:nvPr/>
        </p:nvSpPr>
        <p:spPr>
          <a:xfrm>
            <a:off x="1835150" y="2506663"/>
            <a:ext cx="6096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4" name="Line 17"/>
          <p:cNvSpPr/>
          <p:nvPr/>
        </p:nvSpPr>
        <p:spPr>
          <a:xfrm>
            <a:off x="4730750" y="2582863"/>
            <a:ext cx="609600" cy="3048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5" name="Freeform 18"/>
          <p:cNvSpPr/>
          <p:nvPr/>
        </p:nvSpPr>
        <p:spPr>
          <a:xfrm>
            <a:off x="4959350" y="3281363"/>
            <a:ext cx="381000" cy="444500"/>
          </a:xfrm>
          <a:custGeom>
            <a:avLst/>
            <a:gdLst>
              <a:gd name="txL" fmla="*/ 0 w 240"/>
              <a:gd name="txT" fmla="*/ 0 h 280"/>
              <a:gd name="txR" fmla="*/ 240 w 240"/>
              <a:gd name="txB" fmla="*/ 280 h 280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240" h="280">
                <a:moveTo>
                  <a:pt x="240" y="0"/>
                </a:moveTo>
                <a:lnTo>
                  <a:pt x="0" y="28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26" name="Line 19"/>
          <p:cNvSpPr/>
          <p:nvPr/>
        </p:nvSpPr>
        <p:spPr>
          <a:xfrm>
            <a:off x="5035550" y="4106863"/>
            <a:ext cx="762000" cy="4572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7" name="Rectangle 23"/>
          <p:cNvSpPr/>
          <p:nvPr/>
        </p:nvSpPr>
        <p:spPr>
          <a:xfrm>
            <a:off x="469900" y="730250"/>
            <a:ext cx="7031038" cy="4667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0030101010101" pitchFamily="49" charset="-122"/>
                <a:cs typeface="Times New Roman" panose="02020503050405090304" pitchFamily="18" charset="0"/>
              </a:rPr>
              <a:t>3</a:t>
            </a:r>
            <a:r>
              <a:rPr lang="zh-CN" altLang="en-US" sz="2400">
                <a:latin typeface="黑体" panose="02010600030101010101" pitchFamily="49" charset="-122"/>
                <a:cs typeface="Times New Roman" panose="02020503050405090304" pitchFamily="18" charset="0"/>
              </a:rPr>
              <a:t>）被删除的结点既有左子树，也有右子树</a:t>
            </a:r>
            <a:endParaRPr lang="zh-CN" altLang="en-US" sz="2400"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>
        <p:nvSpPr>
          <p:cNvPr id="16" name="Oval 24"/>
          <p:cNvSpPr>
            <a:spLocks noChangeArrowheads="1"/>
          </p:cNvSpPr>
          <p:nvPr/>
        </p:nvSpPr>
        <p:spPr bwMode="auto">
          <a:xfrm>
            <a:off x="2330450" y="2797175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40</a:t>
            </a:r>
          </a:p>
        </p:txBody>
      </p:sp>
      <p:sp>
        <p:nvSpPr>
          <p:cNvPr id="17" name="Text Box 39"/>
          <p:cNvSpPr txBox="1"/>
          <p:nvPr/>
        </p:nvSpPr>
        <p:spPr>
          <a:xfrm>
            <a:off x="6275388" y="1936750"/>
            <a:ext cx="2719387" cy="2070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以其</a:t>
            </a:r>
            <a:r>
              <a:rPr lang="zh-CN" altLang="en-US" sz="2200" b="1">
                <a:solidFill>
                  <a:srgbClr val="C00000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中序前趋值替换</a:t>
            </a:r>
            <a:r>
              <a:rPr lang="zh-CN" altLang="en-US" sz="22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之（值替换） ，然后再</a:t>
            </a:r>
            <a:r>
              <a:rPr lang="zh-CN" altLang="en-US" sz="2200" b="1">
                <a:solidFill>
                  <a:srgbClr val="C00000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删除该前趋结点</a:t>
            </a:r>
            <a:r>
              <a:rPr lang="zh-CN" altLang="en-US" sz="22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。前趋是左子树中最大的结点。</a:t>
            </a:r>
            <a:endParaRPr lang="zh-CN" altLang="en-US" sz="2200">
              <a:solidFill>
                <a:srgbClr val="3333FF"/>
              </a:solidFill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>
        <p:nvSpPr>
          <p:cNvPr id="18" name="Text Box 46"/>
          <p:cNvSpPr txBox="1"/>
          <p:nvPr/>
        </p:nvSpPr>
        <p:spPr>
          <a:xfrm>
            <a:off x="4949825" y="1479550"/>
            <a:ext cx="2686050" cy="4667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被删关键字 </a:t>
            </a:r>
            <a:r>
              <a:rPr lang="en-US" altLang="zh-CN" sz="24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= 50</a:t>
            </a:r>
            <a:endParaRPr lang="en-US" altLang="zh-CN" sz="2400">
              <a:solidFill>
                <a:srgbClr val="3333FF"/>
              </a:solidFill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>
        <p:nvSpPr>
          <p:cNvPr id="64531" name="Text Box 25"/>
          <p:cNvSpPr txBox="1"/>
          <p:nvPr/>
        </p:nvSpPr>
        <p:spPr>
          <a:xfrm>
            <a:off x="463550" y="1630363"/>
            <a:ext cx="906463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FF"/>
                </a:solidFill>
                <a:cs typeface="Times New Roman" panose="02020503050405090304" pitchFamily="18" charset="0"/>
              </a:rPr>
              <a:t>例如</a:t>
            </a:r>
            <a:r>
              <a:rPr lang="en-US" altLang="zh-CN" sz="2400">
                <a:solidFill>
                  <a:srgbClr val="3333FF"/>
                </a:solidFill>
                <a:cs typeface="Times New Roman" panose="02020503050405090304" pitchFamily="18" charset="0"/>
              </a:rPr>
              <a:t>:</a:t>
            </a:r>
            <a:endParaRPr lang="en-US" altLang="zh-CN" sz="2400">
              <a:solidFill>
                <a:srgbClr val="3333FF"/>
              </a:solidFill>
              <a:ea typeface="Times New Roman" panose="02020503050405090304" pitchFamily="18" charset="0"/>
            </a:endParaRPr>
          </a:p>
        </p:txBody>
      </p:sp>
      <p:sp>
        <p:nvSpPr>
          <p:cNvPr id="20" name="Oval 4"/>
          <p:cNvSpPr>
            <a:spLocks noChangeArrowheads="1"/>
          </p:cNvSpPr>
          <p:nvPr/>
        </p:nvSpPr>
        <p:spPr bwMode="auto">
          <a:xfrm>
            <a:off x="1225550" y="21256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30</a:t>
            </a: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4425950" y="36496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85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533400" y="3630613"/>
            <a:ext cx="1606550" cy="1365250"/>
            <a:chOff x="1103114" y="4429416"/>
            <a:chExt cx="1606776" cy="1364954"/>
          </a:xfrm>
        </p:grpSpPr>
        <p:sp>
          <p:nvSpPr>
            <p:cNvPr id="23" name="Oval 10"/>
            <p:cNvSpPr>
              <a:spLocks noChangeArrowheads="1"/>
            </p:cNvSpPr>
            <p:nvPr/>
          </p:nvSpPr>
          <p:spPr bwMode="auto">
            <a:xfrm>
              <a:off x="2023994" y="4429416"/>
              <a:ext cx="685896" cy="533284"/>
            </a:xfrm>
            <a:prstGeom prst="ellipse">
              <a:avLst/>
            </a:prstGeom>
            <a:solidFill>
              <a:srgbClr val="FFFFCC"/>
            </a:solidFill>
            <a:ln w="28575" cap="flat" cmpd="sng" algn="ctr">
              <a:solidFill>
                <a:srgbClr val="006600"/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503050405090304" pitchFamily="18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35</a:t>
              </a:r>
            </a:p>
          </p:txBody>
        </p:sp>
        <p:sp>
          <p:nvSpPr>
            <p:cNvPr id="24" name="Freeform 21"/>
            <p:cNvSpPr/>
            <p:nvPr/>
          </p:nvSpPr>
          <p:spPr bwMode="auto">
            <a:xfrm>
              <a:off x="1515922" y="4842077"/>
              <a:ext cx="558879" cy="444404"/>
            </a:xfrm>
            <a:custGeom>
              <a:avLst/>
              <a:gdLst>
                <a:gd name="T0" fmla="*/ 352 w 352"/>
                <a:gd name="T1" fmla="*/ 0 h 280"/>
                <a:gd name="T2" fmla="*/ 0 w 352"/>
                <a:gd name="T3" fmla="*/ 280 h 280"/>
                <a:gd name="T4" fmla="*/ 0 60000 65536"/>
                <a:gd name="T5" fmla="*/ 0 60000 65536"/>
                <a:gd name="T6" fmla="*/ 0 w 352"/>
                <a:gd name="T7" fmla="*/ 0 h 280"/>
                <a:gd name="T8" fmla="*/ 352 w 352"/>
                <a:gd name="T9" fmla="*/ 280 h 2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2" h="280">
                  <a:moveTo>
                    <a:pt x="352" y="0"/>
                  </a:moveTo>
                  <a:lnTo>
                    <a:pt x="0" y="280"/>
                  </a:lnTo>
                </a:path>
              </a:pathLst>
            </a:custGeom>
            <a:noFill/>
            <a:ln w="38100">
              <a:solidFill>
                <a:srgbClr val="3333FF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1103114" y="5261086"/>
              <a:ext cx="685896" cy="533284"/>
            </a:xfrm>
            <a:prstGeom prst="ellipse">
              <a:avLst/>
            </a:prstGeom>
            <a:solidFill>
              <a:srgbClr val="FFFFCC"/>
            </a:solidFill>
            <a:ln w="28575" cap="flat" cmpd="sng" algn="ctr">
              <a:solidFill>
                <a:srgbClr val="006600"/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503050405090304" pitchFamily="18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32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9.87654E-7 L 0.0375 -0.235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11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46914E-7 L 0.09392 -0.1626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0" y="-8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删除</a:t>
            </a:r>
          </a:p>
        </p:txBody>
      </p:sp>
      <p:sp>
        <p:nvSpPr>
          <p:cNvPr id="2" name="Oval 3"/>
          <p:cNvSpPr>
            <a:spLocks noChangeArrowheads="1"/>
          </p:cNvSpPr>
          <p:nvPr/>
        </p:nvSpPr>
        <p:spPr bwMode="auto">
          <a:xfrm>
            <a:off x="2632075" y="15668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50</a:t>
            </a:r>
          </a:p>
        </p:txBody>
      </p:sp>
      <p:sp>
        <p:nvSpPr>
          <p:cNvPr id="3" name="Oval 5"/>
          <p:cNvSpPr>
            <a:spLocks noChangeArrowheads="1"/>
          </p:cNvSpPr>
          <p:nvPr/>
        </p:nvSpPr>
        <p:spPr bwMode="auto">
          <a:xfrm>
            <a:off x="4079875" y="21002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80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41275" y="27860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20</a:t>
            </a:r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2327275" y="2786063"/>
            <a:ext cx="685800" cy="533400"/>
          </a:xfrm>
          <a:prstGeom prst="ellipse">
            <a:avLst/>
          </a:prstGeom>
          <a:gradFill rotWithShape="1">
            <a:gsLst>
              <a:gs pos="0">
                <a:srgbClr val="FFE2B8">
                  <a:tint val="50000"/>
                  <a:satMod val="300000"/>
                </a:srgbClr>
              </a:gs>
              <a:gs pos="35000">
                <a:srgbClr val="FFE2B8">
                  <a:tint val="37000"/>
                  <a:satMod val="300000"/>
                </a:srgbClr>
              </a:gs>
              <a:gs pos="100000">
                <a:srgbClr val="FFE2B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FE2B8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40</a:t>
            </a:r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1412875" y="3595688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35</a:t>
            </a:r>
          </a:p>
        </p:txBody>
      </p:sp>
      <p:sp>
        <p:nvSpPr>
          <p:cNvPr id="66567" name="Line 12"/>
          <p:cNvSpPr/>
          <p:nvPr/>
        </p:nvSpPr>
        <p:spPr>
          <a:xfrm flipH="1">
            <a:off x="1793875" y="1871663"/>
            <a:ext cx="8382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68" name="Line 13"/>
          <p:cNvSpPr/>
          <p:nvPr/>
        </p:nvSpPr>
        <p:spPr>
          <a:xfrm flipH="1">
            <a:off x="650875" y="2481263"/>
            <a:ext cx="6096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69" name="Line 14"/>
          <p:cNvSpPr/>
          <p:nvPr/>
        </p:nvSpPr>
        <p:spPr>
          <a:xfrm>
            <a:off x="3317875" y="1871663"/>
            <a:ext cx="814388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0" name="Line 15"/>
          <p:cNvSpPr/>
          <p:nvPr/>
        </p:nvSpPr>
        <p:spPr>
          <a:xfrm>
            <a:off x="1793875" y="2481263"/>
            <a:ext cx="6096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1" name="Line 16"/>
          <p:cNvSpPr/>
          <p:nvPr/>
        </p:nvSpPr>
        <p:spPr>
          <a:xfrm flipH="1">
            <a:off x="2008188" y="3305175"/>
            <a:ext cx="533400" cy="3810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Line 17"/>
          <p:cNvSpPr/>
          <p:nvPr/>
        </p:nvSpPr>
        <p:spPr>
          <a:xfrm>
            <a:off x="4689475" y="2557463"/>
            <a:ext cx="609600" cy="3048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3" name="组合 12"/>
          <p:cNvGrpSpPr/>
          <p:nvPr/>
        </p:nvGrpSpPr>
        <p:grpSpPr>
          <a:xfrm>
            <a:off x="4383088" y="2786063"/>
            <a:ext cx="1935162" cy="2187575"/>
            <a:chOff x="4994256" y="3609970"/>
            <a:chExt cx="1935215" cy="2186187"/>
          </a:xfrm>
        </p:grpSpPr>
        <p:sp>
          <p:nvSpPr>
            <p:cNvPr id="14" name="Freeform 18"/>
            <p:cNvSpPr/>
            <p:nvPr/>
          </p:nvSpPr>
          <p:spPr bwMode="auto">
            <a:xfrm>
              <a:off x="5527671" y="4066880"/>
              <a:ext cx="533415" cy="456910"/>
            </a:xfrm>
            <a:custGeom>
              <a:avLst/>
              <a:gdLst>
                <a:gd name="T0" fmla="*/ 240 w 240"/>
                <a:gd name="T1" fmla="*/ 0 h 280"/>
                <a:gd name="T2" fmla="*/ 0 w 240"/>
                <a:gd name="T3" fmla="*/ 280 h 280"/>
                <a:gd name="T4" fmla="*/ 0 60000 65536"/>
                <a:gd name="T5" fmla="*/ 0 60000 65536"/>
                <a:gd name="T6" fmla="*/ 0 w 240"/>
                <a:gd name="T7" fmla="*/ 0 h 280"/>
                <a:gd name="T8" fmla="*/ 240 w 240"/>
                <a:gd name="T9" fmla="*/ 280 h 2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0" h="280">
                  <a:moveTo>
                    <a:pt x="240" y="0"/>
                  </a:moveTo>
                  <a:lnTo>
                    <a:pt x="0" y="280"/>
                  </a:lnTo>
                </a:path>
              </a:pathLst>
            </a:custGeom>
            <a:solidFill>
              <a:srgbClr val="FFFFCC"/>
            </a:solidFill>
            <a:ln w="28575" cap="flat" cmpd="sng" algn="ctr">
              <a:solidFill>
                <a:srgbClr val="006600"/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/>
                <a:ea typeface="楷体_GB2312" panose="02010609030101010101" pitchFamily="49" charset="-122"/>
                <a:cs typeface="Times New Roman" panose="02020503050405090304" pitchFamily="18" charset="0"/>
              </a:endParaRPr>
            </a:p>
          </p:txBody>
        </p:sp>
        <p:sp>
          <p:nvSpPr>
            <p:cNvPr id="15" name="Oval 7"/>
            <p:cNvSpPr>
              <a:spLocks noChangeArrowheads="1"/>
            </p:cNvSpPr>
            <p:nvPr/>
          </p:nvSpPr>
          <p:spPr bwMode="auto">
            <a:xfrm>
              <a:off x="5832479" y="3609970"/>
              <a:ext cx="685819" cy="533062"/>
            </a:xfrm>
            <a:prstGeom prst="ellipse">
              <a:avLst/>
            </a:prstGeom>
            <a:solidFill>
              <a:srgbClr val="FFFFCC"/>
            </a:solidFill>
            <a:ln w="28575" cap="flat" cmpd="sng" algn="ctr">
              <a:solidFill>
                <a:srgbClr val="006600"/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503050405090304" pitchFamily="18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90</a:t>
              </a:r>
            </a:p>
          </p:txBody>
        </p:sp>
        <p:sp>
          <p:nvSpPr>
            <p:cNvPr id="16" name="Oval 8"/>
            <p:cNvSpPr>
              <a:spLocks noChangeArrowheads="1"/>
            </p:cNvSpPr>
            <p:nvPr/>
          </p:nvSpPr>
          <p:spPr bwMode="auto">
            <a:xfrm>
              <a:off x="4994256" y="4447638"/>
              <a:ext cx="685819" cy="534648"/>
            </a:xfrm>
            <a:prstGeom prst="ellipse">
              <a:avLst/>
            </a:prstGeom>
            <a:solidFill>
              <a:srgbClr val="FFFFCC"/>
            </a:solidFill>
            <a:ln w="28575" cap="flat" cmpd="sng" algn="ctr">
              <a:solidFill>
                <a:srgbClr val="006600"/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503050405090304" pitchFamily="18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85</a:t>
              </a:r>
            </a:p>
          </p:txBody>
        </p:sp>
        <p:sp>
          <p:nvSpPr>
            <p:cNvPr id="17" name="Oval 11"/>
            <p:cNvSpPr>
              <a:spLocks noChangeArrowheads="1"/>
            </p:cNvSpPr>
            <p:nvPr/>
          </p:nvSpPr>
          <p:spPr bwMode="auto">
            <a:xfrm>
              <a:off x="6243652" y="5263095"/>
              <a:ext cx="685819" cy="533062"/>
            </a:xfrm>
            <a:prstGeom prst="ellipse">
              <a:avLst/>
            </a:prstGeom>
            <a:solidFill>
              <a:srgbClr val="FFFFCC"/>
            </a:solidFill>
            <a:ln w="28575" cap="flat" cmpd="sng" algn="ctr">
              <a:solidFill>
                <a:srgbClr val="006600"/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503050405090304" pitchFamily="18" charset="0"/>
                  <a:ea typeface="楷体_GB2312" panose="02010609030101010101" pitchFamily="49" charset="-122"/>
                  <a:cs typeface="Times New Roman" panose="02020503050405090304" pitchFamily="18" charset="0"/>
                </a:rPr>
                <a:t>88</a:t>
              </a: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5614985" y="4861712"/>
              <a:ext cx="762021" cy="456910"/>
            </a:xfrm>
            <a:prstGeom prst="line">
              <a:avLst/>
            </a:prstGeom>
            <a:solidFill>
              <a:srgbClr val="FFFFCC"/>
            </a:solidFill>
            <a:ln w="28575" cap="flat" cmpd="sng" algn="ctr">
              <a:solidFill>
                <a:srgbClr val="006600"/>
              </a:solidFill>
              <a:prstDash val="solid"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/>
                <a:ea typeface="楷体_GB2312" panose="02010609030101010101" pitchFamily="49" charset="-122"/>
                <a:cs typeface="Times New Roman" panose="02020503050405090304" pitchFamily="18" charset="0"/>
              </a:endParaRPr>
            </a:p>
          </p:txBody>
        </p:sp>
      </p:grpSp>
      <p:sp>
        <p:nvSpPr>
          <p:cNvPr id="66574" name="Freeform 21"/>
          <p:cNvSpPr/>
          <p:nvPr/>
        </p:nvSpPr>
        <p:spPr>
          <a:xfrm>
            <a:off x="942975" y="4037013"/>
            <a:ext cx="558800" cy="444500"/>
          </a:xfrm>
          <a:custGeom>
            <a:avLst/>
            <a:gdLst>
              <a:gd name="txL" fmla="*/ 0 w 352"/>
              <a:gd name="txT" fmla="*/ 0 h 280"/>
              <a:gd name="txR" fmla="*/ 352 w 352"/>
              <a:gd name="txB" fmla="*/ 280 h 280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352" h="280">
                <a:moveTo>
                  <a:pt x="352" y="0"/>
                </a:moveTo>
                <a:lnTo>
                  <a:pt x="0" y="280"/>
                </a:lnTo>
              </a:path>
            </a:pathLst>
          </a:custGeom>
          <a:noFill/>
          <a:ln w="38100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Oval 24"/>
          <p:cNvSpPr>
            <a:spLocks noChangeArrowheads="1"/>
          </p:cNvSpPr>
          <p:nvPr/>
        </p:nvSpPr>
        <p:spPr bwMode="auto">
          <a:xfrm>
            <a:off x="2311400" y="27860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40</a:t>
            </a:r>
          </a:p>
        </p:txBody>
      </p:sp>
      <p:sp>
        <p:nvSpPr>
          <p:cNvPr id="66576" name="Text Box 46"/>
          <p:cNvSpPr txBox="1"/>
          <p:nvPr/>
        </p:nvSpPr>
        <p:spPr>
          <a:xfrm>
            <a:off x="5203825" y="1433513"/>
            <a:ext cx="2686050" cy="4667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被删关键字 </a:t>
            </a:r>
            <a:r>
              <a:rPr lang="en-US" altLang="zh-CN" sz="2400">
                <a:solidFill>
                  <a:srgbClr val="3333FF"/>
                </a:solidFill>
                <a:latin typeface="黑体" panose="02010600030101010101" pitchFamily="49" charset="-122"/>
                <a:cs typeface="Times New Roman" panose="02020503050405090304" pitchFamily="18" charset="0"/>
              </a:rPr>
              <a:t>= 50</a:t>
            </a:r>
            <a:endParaRPr lang="en-US" altLang="zh-CN" sz="2400">
              <a:solidFill>
                <a:srgbClr val="3333FF"/>
              </a:solidFill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  <p:sp>
        <p:nvSpPr>
          <p:cNvPr id="66577" name="Text Box 25"/>
          <p:cNvSpPr txBox="1"/>
          <p:nvPr/>
        </p:nvSpPr>
        <p:spPr>
          <a:xfrm>
            <a:off x="338138" y="1493838"/>
            <a:ext cx="90646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FF"/>
                </a:solidFill>
                <a:cs typeface="Times New Roman" panose="02020503050405090304" pitchFamily="18" charset="0"/>
              </a:rPr>
              <a:t>例如</a:t>
            </a:r>
            <a:r>
              <a:rPr lang="en-US" altLang="zh-CN" sz="2400">
                <a:solidFill>
                  <a:srgbClr val="3333FF"/>
                </a:solidFill>
                <a:cs typeface="Times New Roman" panose="02020503050405090304" pitchFamily="18" charset="0"/>
              </a:rPr>
              <a:t>:</a:t>
            </a:r>
            <a:endParaRPr lang="en-US" altLang="zh-CN" sz="2400">
              <a:solidFill>
                <a:srgbClr val="3333FF"/>
              </a:solidFill>
              <a:ea typeface="Times New Roman" panose="02020503050405090304" pitchFamily="18" charset="0"/>
            </a:endParaRPr>
          </a:p>
        </p:txBody>
      </p:sp>
      <p:sp>
        <p:nvSpPr>
          <p:cNvPr id="24" name="Text Box 4"/>
          <p:cNvSpPr txBox="1"/>
          <p:nvPr/>
        </p:nvSpPr>
        <p:spPr>
          <a:xfrm>
            <a:off x="6029325" y="2187575"/>
            <a:ext cx="3038475" cy="16637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3333FF"/>
                </a:solidFill>
                <a:latin typeface="黑体" panose="02010600030101010101" pitchFamily="49" charset="-122"/>
              </a:rPr>
              <a:t>也可以用其</a:t>
            </a:r>
            <a:r>
              <a:rPr lang="zh-CN" altLang="en-US" sz="2200" b="1">
                <a:solidFill>
                  <a:srgbClr val="FF0000"/>
                </a:solidFill>
                <a:latin typeface="黑体" panose="02010600030101010101" pitchFamily="49" charset="-122"/>
              </a:rPr>
              <a:t>中序后继</a:t>
            </a:r>
            <a:r>
              <a:rPr lang="zh-CN" altLang="en-US" sz="2200">
                <a:solidFill>
                  <a:srgbClr val="3333FF"/>
                </a:solidFill>
                <a:latin typeface="黑体" panose="02010600030101010101" pitchFamily="49" charset="-122"/>
              </a:rPr>
              <a:t>替换之，然后</a:t>
            </a:r>
            <a:r>
              <a:rPr lang="zh-CN" altLang="en-US" sz="2200" b="1">
                <a:solidFill>
                  <a:srgbClr val="FF0000"/>
                </a:solidFill>
                <a:latin typeface="黑体" panose="02010600030101010101" pitchFamily="49" charset="-122"/>
              </a:rPr>
              <a:t>再删除该后继结点</a:t>
            </a:r>
            <a:r>
              <a:rPr lang="zh-CN" altLang="en-US" sz="2200">
                <a:solidFill>
                  <a:srgbClr val="3333FF"/>
                </a:solidFill>
                <a:latin typeface="黑体" panose="02010600030101010101" pitchFamily="49" charset="-122"/>
              </a:rPr>
              <a:t>。后继是右子树中最小的结点。</a:t>
            </a:r>
          </a:p>
        </p:txBody>
      </p:sp>
      <p:sp>
        <p:nvSpPr>
          <p:cNvPr id="25" name="Oval 4"/>
          <p:cNvSpPr>
            <a:spLocks noChangeArrowheads="1"/>
          </p:cNvSpPr>
          <p:nvPr/>
        </p:nvSpPr>
        <p:spPr bwMode="auto">
          <a:xfrm>
            <a:off x="1184275" y="210026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30</a:t>
            </a:r>
          </a:p>
        </p:txBody>
      </p:sp>
      <p:sp>
        <p:nvSpPr>
          <p:cNvPr id="26" name="Oval 20"/>
          <p:cNvSpPr>
            <a:spLocks noChangeArrowheads="1"/>
          </p:cNvSpPr>
          <p:nvPr/>
        </p:nvSpPr>
        <p:spPr bwMode="auto">
          <a:xfrm>
            <a:off x="498475" y="4456113"/>
            <a:ext cx="685800" cy="533400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anose="02010609030101010101" pitchFamily="49" charset="-122"/>
                <a:cs typeface="Times New Roman" panose="02020503050405090304" pitchFamily="18" charset="0"/>
              </a:rPr>
              <a:t>32</a:t>
            </a:r>
          </a:p>
        </p:txBody>
      </p:sp>
      <p:sp>
        <p:nvSpPr>
          <p:cNvPr id="66581" name="Rectangle 23"/>
          <p:cNvSpPr/>
          <p:nvPr/>
        </p:nvSpPr>
        <p:spPr>
          <a:xfrm>
            <a:off x="469900" y="730250"/>
            <a:ext cx="7031038" cy="4667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0030101010101" pitchFamily="49" charset="-122"/>
                <a:cs typeface="Times New Roman" panose="02020503050405090304" pitchFamily="18" charset="0"/>
              </a:rPr>
              <a:t>3</a:t>
            </a:r>
            <a:r>
              <a:rPr lang="zh-CN" altLang="en-US" sz="2400">
                <a:latin typeface="黑体" panose="02010600030101010101" pitchFamily="49" charset="-122"/>
                <a:cs typeface="Times New Roman" panose="02020503050405090304" pitchFamily="18" charset="0"/>
              </a:rPr>
              <a:t>）被删除的结点既有左子树，也有右子树</a:t>
            </a:r>
            <a:endParaRPr lang="zh-CN" altLang="en-US" sz="2400">
              <a:latin typeface="黑体" panose="02010600030101010101" pitchFamily="49" charset="-122"/>
              <a:ea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81481E-6 L -0.1559 -0.1037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00" y="-5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9.87654E-7 L -0.12448 -0.1324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00" y="-6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 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二叉排序树练习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endParaRPr lang="zh-CN" altLang="en-US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8610" name="文本框 2"/>
          <p:cNvSpPr txBox="1"/>
          <p:nvPr/>
        </p:nvSpPr>
        <p:spPr>
          <a:xfrm>
            <a:off x="500063" y="842963"/>
            <a:ext cx="7634287" cy="22526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cs typeface="Times New Roman" panose="02020503050405090304" pitchFamily="18" charset="0"/>
              </a:rPr>
              <a:t>在训练</a:t>
            </a:r>
            <a:r>
              <a:rPr lang="en-US" altLang="zh-CN" sz="2400">
                <a:cs typeface="Times New Roman" panose="02020503050405090304" pitchFamily="18" charset="0"/>
              </a:rPr>
              <a:t>1</a:t>
            </a:r>
            <a:r>
              <a:rPr lang="zh-CN" altLang="en-US" sz="2400">
                <a:cs typeface="Times New Roman" panose="02020503050405090304" pitchFamily="18" charset="0"/>
              </a:rPr>
              <a:t>创建的二叉排序树的基础上，</a:t>
            </a:r>
            <a:endParaRPr lang="en-US" altLang="zh-CN" sz="2400">
              <a:cs typeface="Times New Roman" panose="0202050305040509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503050405090304" pitchFamily="18" charset="0"/>
              </a:rPr>
              <a:t>1.</a:t>
            </a:r>
            <a:r>
              <a:rPr lang="zh-CN" altLang="en-US" sz="2400">
                <a:cs typeface="Times New Roman" panose="02020503050405090304" pitchFamily="18" charset="0"/>
              </a:rPr>
              <a:t>实现用户信息的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删除</a:t>
            </a:r>
            <a:endParaRPr lang="en-US" altLang="zh-CN" sz="2400">
              <a:solidFill>
                <a:srgbClr val="C00000"/>
              </a:solidFill>
              <a:cs typeface="Times New Roman" panose="0202050305040509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503050405090304" pitchFamily="18" charset="0"/>
              </a:rPr>
              <a:t>2.</a:t>
            </a:r>
            <a:r>
              <a:rPr lang="zh-CN" altLang="en-US" sz="2400">
                <a:cs typeface="Times New Roman" panose="02020503050405090304" pitchFamily="18" charset="0"/>
              </a:rPr>
              <a:t>实现用户信息的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修改</a:t>
            </a:r>
            <a:endParaRPr lang="en-US" altLang="zh-CN" sz="2400">
              <a:solidFill>
                <a:srgbClr val="C00000"/>
              </a:solidFill>
              <a:cs typeface="Times New Roman" panose="02020503050405090304" pitchFamily="18" charset="0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cs typeface="Times New Roman" panose="02020503050405090304" pitchFamily="18" charset="0"/>
              </a:rPr>
              <a:t>3.</a:t>
            </a:r>
            <a:r>
              <a:rPr lang="zh-CN" altLang="en-US" sz="2400">
                <a:cs typeface="Times New Roman" panose="02020503050405090304" pitchFamily="18" charset="0"/>
              </a:rPr>
              <a:t>实现用户信息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保存</a:t>
            </a:r>
            <a:r>
              <a:rPr lang="zh-CN" altLang="en-US" sz="2400">
                <a:cs typeface="Times New Roman" panose="02020503050405090304" pitchFamily="18" charset="0"/>
              </a:rPr>
              <a:t>到</a:t>
            </a:r>
            <a:r>
              <a:rPr lang="en-US" altLang="zh-CN" sz="2400">
                <a:cs typeface="Times New Roman" panose="02020503050405090304" pitchFamily="18" charset="0"/>
              </a:rPr>
              <a:t>.csv</a:t>
            </a:r>
            <a:r>
              <a:rPr lang="zh-CN" altLang="en-US" sz="2400">
                <a:solidFill>
                  <a:srgbClr val="C00000"/>
                </a:solidFill>
                <a:cs typeface="Times New Roman" panose="02020503050405090304" pitchFamily="18" charset="0"/>
              </a:rPr>
              <a:t>文件</a:t>
            </a:r>
            <a:r>
              <a:rPr lang="zh-CN" altLang="en-US" sz="2400">
                <a:cs typeface="Times New Roman" panose="02020503050405090304" pitchFamily="18" charset="0"/>
              </a:rPr>
              <a:t>上</a:t>
            </a:r>
            <a:endParaRPr lang="zh-CN" altLang="en-US" sz="2400">
              <a:ea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</a:t>
            </a:r>
            <a:r>
              <a:rPr lang="zh-CN" altLang="en-US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指导老师酌情给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8370" name="文本框 5"/>
          <p:cNvSpPr txBox="1">
            <a:spLocks noChangeArrowheads="1"/>
          </p:cNvSpPr>
          <p:nvPr/>
        </p:nvSpPr>
        <p:spPr bwMode="auto">
          <a:xfrm>
            <a:off x="395288" y="1022350"/>
            <a:ext cx="2305050" cy="3308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&lt;stdio.h&gt;</a:t>
            </a:r>
            <a:endParaRPr lang="en-US" altLang="zh-CN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&lt;stdlib.h&gt;</a:t>
            </a:r>
            <a:endParaRPr lang="en-US" altLang="zh-CN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&lt;string.h&gt;</a:t>
            </a:r>
            <a:endParaRPr lang="en-US" altLang="zh-CN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定义联系人结构体</a:t>
            </a: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name[20];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phone[20];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定义二叉树节点结构体</a:t>
            </a: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contact;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*left;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*right;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8371" name="文本框 7"/>
          <p:cNvSpPr txBox="1">
            <a:spLocks noChangeArrowheads="1"/>
          </p:cNvSpPr>
          <p:nvPr/>
        </p:nvSpPr>
        <p:spPr bwMode="auto">
          <a:xfrm>
            <a:off x="2986088" y="1022350"/>
            <a:ext cx="5834063" cy="34782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0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创建新节点</a:t>
            </a:r>
            <a:endParaRPr lang="zh-CN" altLang="en-US" sz="10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*createNode(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*newNode = (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*) malloc(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sizeof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newNode-&gt;contact =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newNode-&gt;left = </a:t>
            </a:r>
            <a:r>
              <a:rPr lang="en-US" altLang="zh-CN" sz="10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newNode-&gt;right = </a:t>
            </a:r>
            <a:r>
              <a:rPr lang="en-US" altLang="zh-CN" sz="10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newNode;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0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0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插入节点</a:t>
            </a:r>
            <a:endParaRPr lang="zh-CN" altLang="en-US" sz="10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*insertNode(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== </a:t>
            </a:r>
            <a:r>
              <a:rPr lang="en-US" altLang="zh-CN" sz="10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createNode(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(strcmp(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.name,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-&gt;contact.name) &lt; 0)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 = insertNode(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-&gt;left,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}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 = insertNode(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-&gt;right,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contact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0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0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100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</a:t>
            </a:r>
            <a:r>
              <a:rPr lang="zh-CN" altLang="en-US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指导老师酌情给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0418" name="文本框 5"/>
          <p:cNvSpPr txBox="1">
            <a:spLocks noChangeArrowheads="1"/>
          </p:cNvSpPr>
          <p:nvPr/>
        </p:nvSpPr>
        <p:spPr bwMode="auto">
          <a:xfrm>
            <a:off x="107950" y="649288"/>
            <a:ext cx="4103688" cy="41544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删除节点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*deleteNode(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(strcmp(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-&gt;contact.name) &lt; 0)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nl-NL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nl-NL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nl-NL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 = deleteNode(</a:t>
            </a:r>
            <a:r>
              <a:rPr lang="nl-NL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nl-NL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-&gt;left, </a:t>
            </a:r>
            <a:r>
              <a:rPr lang="nl-NL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nl-NL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(strcmp(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-&gt;contact.name) &gt; 0)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 = deleteNode(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 ==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*temp =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free(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temp;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}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 ==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*temp =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free(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temp;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*temp =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while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(temp-&gt;left !=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temp = temp-&gt;left;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 = temp-&gt;contact;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 = deleteNode(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-&gt;right, temp-&gt;contact.name);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5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5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5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0419" name="文本框 2"/>
          <p:cNvSpPr txBox="1">
            <a:spLocks noChangeArrowheads="1"/>
          </p:cNvSpPr>
          <p:nvPr/>
        </p:nvSpPr>
        <p:spPr bwMode="auto">
          <a:xfrm>
            <a:off x="4356100" y="555625"/>
            <a:ext cx="4464050" cy="3278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查找节点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*searchNode(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|| strcmp(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-&gt;contact.name,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== 0)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(strcmp(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-&gt;contact.name) &lt; 0)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searchNode(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searchNode(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修改联系人信息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modifyContact(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phone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*node = searchNode(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(node !=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strcpy(node-&gt;contact.phone, </a:t>
            </a:r>
            <a:r>
              <a:rPr lang="en-US" altLang="zh-CN" sz="9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phone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printf(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联系人信息已修改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printf(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未找到该联系人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90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</a:t>
            </a:r>
            <a:r>
              <a:rPr lang="zh-CN" altLang="en-US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指导老师酌情给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2466" name="文本框 5"/>
          <p:cNvSpPr txBox="1">
            <a:spLocks noChangeArrowheads="1"/>
          </p:cNvSpPr>
          <p:nvPr/>
        </p:nvSpPr>
        <p:spPr bwMode="auto">
          <a:xfrm>
            <a:off x="250825" y="679450"/>
            <a:ext cx="3257550" cy="28003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打印联系人信息</a:t>
            </a: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printContact(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printf(</a:t>
            </a:r>
            <a:r>
              <a:rPr lang="en-US" altLang="zh-CN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姓名：</a:t>
            </a:r>
            <a:r>
              <a:rPr lang="en-US" altLang="zh-CN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%s</a:t>
            </a:r>
            <a:r>
              <a:rPr lang="zh-CN" altLang="en-US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，电话：</a:t>
            </a:r>
            <a:r>
              <a:rPr lang="en-US" altLang="zh-CN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%s\n"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-&gt;contact.name, 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-&gt;contact.phone);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1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中序遍历</a:t>
            </a:r>
            <a:endParaRPr lang="zh-CN" altLang="en-US" sz="11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inorderTraversal(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1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FILE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fp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1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!= </a:t>
            </a:r>
            <a:r>
              <a:rPr lang="en-US" altLang="zh-CN" sz="11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inorderTraversal(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-&gt;left, 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fp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fprintf(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fp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1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"%s,%s\n"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-&gt;contact.name, 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-&gt;contact.phone);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inorderTraversal(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-&gt;right, </a:t>
            </a:r>
            <a:r>
              <a:rPr lang="en-US" altLang="zh-CN" sz="110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fp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</p:txBody>
      </p:sp>
      <p:sp>
        <p:nvSpPr>
          <p:cNvPr id="62467" name="文本框 7"/>
          <p:cNvSpPr txBox="1">
            <a:spLocks noChangeArrowheads="1"/>
          </p:cNvSpPr>
          <p:nvPr/>
        </p:nvSpPr>
        <p:spPr bwMode="auto">
          <a:xfrm>
            <a:off x="3951288" y="85725"/>
            <a:ext cx="4752975" cy="4800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main()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*root 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FILE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*fp = fopen(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"contacts.csv"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"r"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从文件中读取联系人信息</a:t>
            </a:r>
            <a:endParaRPr lang="en-US" altLang="zh-CN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(fp ==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printf(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打开文件失败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1;}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line[50];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while (fgets(line, sizeof(line), fp))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char *name = strtok(line, ",");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char *phone = strtok(NULL, ",");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struct Contact contact;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strncpy(contact.name, name, 19);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strncpy(contact.phone, phone, 19);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contact.name[19] = '\0’;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contact.phone[19] = '\0’;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root = insertNode(root, contact);}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fclose(fp);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查找联系人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TreeNode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*node1 = searchNode(root, 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张三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(node1 !=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printf(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找到联系人：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printContact(node1);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printf(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未找到该联系人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);}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modifyContact(root, 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张三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"111111111"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修改联系人信息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root = deleteNode(root, 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李四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删除联系人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90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将结果保存到文件中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fp = fopen(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"contacts_result.csv"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"w"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(fp == </a:t>
            </a:r>
            <a:r>
              <a:rPr lang="en-US" altLang="zh-CN" sz="90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NULL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printf(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打开文件失败</a:t>
            </a:r>
            <a:r>
              <a:rPr lang="en-US" altLang="zh-CN" sz="90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1;}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inorderTraversal(root, fp);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fclose(fp);</a:t>
            </a:r>
            <a:endParaRPr lang="zh-CN" altLang="en-US" sz="90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90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90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0;}</a:t>
            </a:r>
            <a:endParaRPr lang="zh-CN" altLang="en-US" sz="90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2"/>
          <p:cNvSpPr>
            <a:spLocks noGrp="1"/>
          </p:cNvSpPr>
          <p:nvPr>
            <p:ph type="title"/>
          </p:nvPr>
        </p:nvSpPr>
        <p:spPr>
          <a:xfrm>
            <a:off x="755576" y="987574"/>
            <a:ext cx="7886700" cy="2139950"/>
          </a:xfrm>
          <a:ln/>
        </p:spPr>
        <p:txBody>
          <a:bodyPr vert="horz" wrap="square" lIns="68580" tIns="34290" rIns="68580" bIns="34290" anchor="b" anchorCtr="0"/>
          <a:lstStyle/>
          <a:p>
            <a:pPr>
              <a:buNone/>
            </a:pPr>
            <a:r>
              <a:rPr lang="en-US" altLang="zh-CN" sz="4800" b="1" kern="120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Webserver</a:t>
            </a:r>
            <a:r>
              <a:rPr lang="zh-CN" altLang="en-US" sz="4800" b="1" kern="120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 </a:t>
            </a:r>
            <a:r>
              <a:rPr lang="en-US" altLang="zh-CN" sz="4800" b="1" kern="120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V0.3</a:t>
            </a:r>
            <a:r>
              <a:rPr lang="zh-CN" altLang="en-US" sz="4800" b="1" kern="120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版</a:t>
            </a:r>
            <a:br>
              <a:rPr lang="en-US" altLang="zh-CN" sz="4800" b="1" kern="1200">
                <a:latin typeface="微软雅黑" panose="020B0503020204020204" pitchFamily="34" charset="-122"/>
                <a:ea typeface="等线 Light" pitchFamily="2" charset="-122"/>
                <a:cs typeface="+mj-cs"/>
              </a:rPr>
            </a:br>
            <a:endParaRPr lang="zh-CN" altLang="en-US" sz="4800" b="1" kern="1200">
              <a:latin typeface="微软雅黑" panose="020B0503020204020204" pitchFamily="34" charset="-122"/>
              <a:ea typeface="等线 Light" pitchFamily="2" charset="-122"/>
              <a:cs typeface="+mj-cs"/>
            </a:endParaRPr>
          </a:p>
        </p:txBody>
      </p:sp>
      <p:sp>
        <p:nvSpPr>
          <p:cNvPr id="76802" name="文本框 2"/>
          <p:cNvSpPr txBox="1"/>
          <p:nvPr/>
        </p:nvSpPr>
        <p:spPr>
          <a:xfrm>
            <a:off x="1188964" y="2608412"/>
            <a:ext cx="48625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为用户建立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二叉树的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快速索引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 descr="j0149481">
            <a:extLst>
              <a:ext uri="{FF2B5EF4-FFF2-40B4-BE49-F238E27FC236}">
                <a16:creationId xmlns:a16="http://schemas.microsoft.com/office/drawing/2014/main" id="{9A5918BC-A361-10F9-0F49-C563144C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2566020"/>
            <a:ext cx="2284412" cy="232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FD3F3-24E9-30A9-0D09-2AA34D2A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2966A-D2D9-452A-104F-7812B954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68BA18-1390-B74B-3121-832C6574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" y="609165"/>
            <a:ext cx="9143027" cy="395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07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"/>
          <p:cNvSpPr>
            <a:spLocks noGrp="1"/>
          </p:cNvSpPr>
          <p:nvPr>
            <p:ph type="title"/>
          </p:nvPr>
        </p:nvSpPr>
        <p:spPr>
          <a:xfrm>
            <a:off x="374650" y="65088"/>
            <a:ext cx="6127750" cy="444500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V0.3</a:t>
            </a:r>
            <a:r>
              <a:rPr lang="zh-CN" altLang="en-US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zh-CN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</a:t>
            </a:r>
            <a:endParaRPr lang="zh-CN" altLang="en-US" sz="1800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7826" name="文本框 3"/>
          <p:cNvSpPr txBox="1"/>
          <p:nvPr/>
        </p:nvSpPr>
        <p:spPr>
          <a:xfrm>
            <a:off x="250825" y="646113"/>
            <a:ext cx="8091488" cy="2197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" panose="020B0604020202090204" pitchFamily="34" charset="0"/>
              </a:rPr>
              <a:t>V0.2</a:t>
            </a:r>
            <a:r>
              <a:rPr lang="zh-CN" altLang="en-US" sz="1600">
                <a:latin typeface="Arial" panose="020B0604020202090204" pitchFamily="34" charset="0"/>
              </a:rPr>
              <a:t>版</a:t>
            </a:r>
            <a:r>
              <a:rPr lang="zh-CN" altLang="zh-CN" sz="1600">
                <a:latin typeface="Arial" panose="020B0604020202090204" pitchFamily="34" charset="0"/>
              </a:rPr>
              <a:t>已经有 user_store 链表，可以读写 data/users.csv。</a:t>
            </a:r>
            <a:endParaRPr lang="en-US" altLang="zh-CN" sz="160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" panose="020B0604020202090204" pitchFamily="34" charset="0"/>
              </a:rPr>
              <a:t>V0.3</a:t>
            </a:r>
            <a:r>
              <a:rPr lang="zh-CN" altLang="en-US" sz="1600">
                <a:latin typeface="Arial" panose="020B0604020202090204" pitchFamily="34" charset="0"/>
              </a:rPr>
              <a:t>的任务</a:t>
            </a:r>
            <a:r>
              <a:rPr lang="zh-CN" altLang="zh-CN" sz="1600">
                <a:latin typeface="Arial" panose="020B0604020202090204" pitchFamily="34" charset="0"/>
              </a:rPr>
              <a:t>：在链表基础上建立一个按用户名查找的索引，让后面的认证模块可以更快判断用户是否存在、密码是否正确。</a:t>
            </a:r>
            <a:endParaRPr lang="en-US" altLang="zh-CN" sz="150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150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zh-CN" sz="150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1500">
              <a:latin typeface="Arial" panose="020B0604020202090204" pitchFamily="34" charset="0"/>
            </a:endParaRPr>
          </a:p>
        </p:txBody>
      </p:sp>
      <p:pic>
        <p:nvPicPr>
          <p:cNvPr id="77827" name="图片 2" descr="csv文件是什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2081213"/>
            <a:ext cx="1624012" cy="1522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68313" y="3908425"/>
            <a:ext cx="2159000" cy="36988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+mn-cs"/>
              </a:rPr>
              <a:t>data/users.csv</a:t>
            </a:r>
          </a:p>
        </p:txBody>
      </p:sp>
      <p:pic>
        <p:nvPicPr>
          <p:cNvPr id="77829" name="图片 6" descr="内存图标"/>
          <p:cNvPicPr>
            <a:picLocks noChangeAspect="1"/>
          </p:cNvPicPr>
          <p:nvPr/>
        </p:nvPicPr>
        <p:blipFill>
          <a:blip r:embed="rId4"/>
          <a:srcRect t="20760" b="22644"/>
          <a:stretch>
            <a:fillRect/>
          </a:stretch>
        </p:blipFill>
        <p:spPr>
          <a:xfrm>
            <a:off x="5321300" y="2266950"/>
            <a:ext cx="2362200" cy="1336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4241800" y="3770313"/>
            <a:ext cx="2159000" cy="64611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/>
            <a:r>
              <a:rPr lang="zh-CN" altLang="zh-CN" b="1">
                <a:solidFill>
                  <a:srgbClr val="FFFFFF"/>
                </a:solidFill>
                <a:latin typeface="Courier New" panose="02070409020205090404" pitchFamily="49" charset="0"/>
                <a:ea typeface="等线" pitchFamily="2" charset="-122"/>
              </a:rPr>
              <a:t>user_store</a:t>
            </a:r>
            <a:endParaRPr lang="en-US" altLang="zh-CN" b="1">
              <a:solidFill>
                <a:srgbClr val="FFFFFF"/>
              </a:solidFill>
              <a:latin typeface="Courier New" panose="02070409020205090404" pitchFamily="49" charset="0"/>
              <a:ea typeface="等线" pitchFamily="2" charset="-122"/>
            </a:endParaRPr>
          </a:p>
          <a:p>
            <a:pPr lvl="0" algn="ctr"/>
            <a:r>
              <a:rPr lang="zh-CN" altLang="en-US" b="1">
                <a:solidFill>
                  <a:srgbClr val="FFFFFF"/>
                </a:solidFill>
                <a:latin typeface="Courier New" panose="02070409020205090404" pitchFamily="49" charset="0"/>
                <a:ea typeface="等线" pitchFamily="2" charset="-122"/>
              </a:rPr>
              <a:t>内存中的链表</a:t>
            </a:r>
            <a:r>
              <a:rPr lang="zh-CN" altLang="zh-CN" b="1">
                <a:solidFill>
                  <a:srgbClr val="FFFFFF"/>
                </a:solidFill>
                <a:latin typeface="Courier New" panose="02070409020205090404" pitchFamily="49" charset="0"/>
                <a:ea typeface="等线" pitchFamily="2" charset="-122"/>
              </a:rPr>
              <a:t>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602413" y="3756025"/>
            <a:ext cx="2160588" cy="6477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/>
            <a:r>
              <a:rPr lang="en-US" altLang="zh-CN" b="1">
                <a:solidFill>
                  <a:srgbClr val="FFFFFF"/>
                </a:solidFill>
                <a:latin typeface="Courier New" panose="02070409020205090404" pitchFamily="49" charset="0"/>
                <a:ea typeface="等线" pitchFamily="2" charset="-122"/>
              </a:rPr>
              <a:t>user_index</a:t>
            </a:r>
          </a:p>
          <a:p>
            <a:pPr lvl="0" algn="ctr"/>
            <a:r>
              <a:rPr lang="zh-CN" altLang="en-US" b="1">
                <a:solidFill>
                  <a:srgbClr val="FFFFFF"/>
                </a:solidFill>
                <a:latin typeface="Courier New" panose="02070409020205090404" pitchFamily="49" charset="0"/>
                <a:ea typeface="等线" pitchFamily="2" charset="-122"/>
              </a:rPr>
              <a:t>内存中二叉查找树</a:t>
            </a:r>
            <a:r>
              <a:rPr lang="zh-CN" altLang="zh-CN" b="1">
                <a:solidFill>
                  <a:srgbClr val="FFFFFF"/>
                </a:solidFill>
                <a:latin typeface="Courier New" panose="02070409020205090404" pitchFamily="49" charset="0"/>
                <a:ea typeface="等线" pitchFamily="2" charset="-122"/>
              </a:rPr>
              <a:t> </a:t>
            </a:r>
          </a:p>
        </p:txBody>
      </p:sp>
      <p:sp>
        <p:nvSpPr>
          <p:cNvPr id="13" name="右箭头 12"/>
          <p:cNvSpPr/>
          <p:nvPr/>
        </p:nvSpPr>
        <p:spPr>
          <a:xfrm>
            <a:off x="3073400" y="2641600"/>
            <a:ext cx="1223963" cy="504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标题 1"/>
          <p:cNvSpPr>
            <a:spLocks noGrp="1"/>
          </p:cNvSpPr>
          <p:nvPr>
            <p:ph type="title"/>
          </p:nvPr>
        </p:nvSpPr>
        <p:spPr>
          <a:xfrm>
            <a:off x="374650" y="65088"/>
            <a:ext cx="6127750" cy="444500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V0.3</a:t>
            </a:r>
            <a:r>
              <a:rPr lang="zh-CN" altLang="en-US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zh-CN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</a:t>
            </a:r>
            <a:endParaRPr lang="zh-CN" altLang="en-US" sz="1800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9874" name="文本框 3"/>
          <p:cNvSpPr txBox="1"/>
          <p:nvPr/>
        </p:nvSpPr>
        <p:spPr>
          <a:xfrm>
            <a:off x="250825" y="646113"/>
            <a:ext cx="8091488" cy="1287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90204" pitchFamily="34" charset="0"/>
              </a:rPr>
              <a:t>为什么要在之前链表基础上增加二叉查找树？</a:t>
            </a:r>
            <a:endParaRPr lang="en-US" altLang="zh-CN" sz="180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zh-CN" sz="180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</a:endParaRPr>
          </a:p>
        </p:txBody>
      </p:sp>
      <p:sp>
        <p:nvSpPr>
          <p:cNvPr id="79875" name="文本框 3"/>
          <p:cNvSpPr txBox="1"/>
          <p:nvPr/>
        </p:nvSpPr>
        <p:spPr>
          <a:xfrm>
            <a:off x="1717675" y="1565275"/>
            <a:ext cx="66246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zh-CN">
                <a:latin typeface="Consolas" pitchFamily="49" charset="0"/>
                <a:cs typeface="Consolas" pitchFamily="49" charset="0"/>
              </a:rPr>
              <a:t>zhangsan -&gt; lisi -&gt; wangwu -&gt; zhaoliu</a:t>
            </a:r>
            <a:endParaRPr lang="zh-CN" altLang="zh-CN">
              <a:latin typeface="Consolas" pitchFamily="49" charset="0"/>
              <a:ea typeface="Consolas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8613" y="1563688"/>
            <a:ext cx="1223963" cy="369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None/>
            </a:pP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用户链表</a:t>
            </a:r>
          </a:p>
        </p:txBody>
      </p:sp>
      <p:sp>
        <p:nvSpPr>
          <p:cNvPr id="8" name="矩形 7"/>
          <p:cNvSpPr/>
          <p:nvPr/>
        </p:nvSpPr>
        <p:spPr>
          <a:xfrm>
            <a:off x="5508625" y="1563688"/>
            <a:ext cx="1366838" cy="369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9878" name="文本框 14"/>
          <p:cNvSpPr txBox="1"/>
          <p:nvPr/>
        </p:nvSpPr>
        <p:spPr>
          <a:xfrm>
            <a:off x="2771775" y="2284413"/>
            <a:ext cx="2592388" cy="1476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</a:rPr>
              <a:t>                </a:t>
            </a: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lisi</a:t>
            </a:r>
          </a:p>
          <a:p>
            <a:pPr>
              <a:buNone/>
            </a:pP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</a:rPr>
              <a:t>        </a:t>
            </a: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/    </a:t>
            </a:r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</a:rPr>
              <a:t>  </a:t>
            </a: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\</a:t>
            </a:r>
            <a:endParaRPr lang="en-US" altLang="zh-CN">
              <a:latin typeface="Arial" panose="020B0604020202090204" pitchFamily="3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zhangsan  </a:t>
            </a:r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</a:rPr>
              <a:t>    </a:t>
            </a: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wangwu</a:t>
            </a:r>
          </a:p>
          <a:p>
            <a:pPr>
              <a:buNone/>
            </a:pP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             </a:t>
            </a:r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</a:rPr>
              <a:t>              </a:t>
            </a: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 \</a:t>
            </a:r>
          </a:p>
          <a:p>
            <a:pPr>
              <a:buNone/>
            </a:pP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            </a:t>
            </a:r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</a:rPr>
              <a:t>            </a:t>
            </a:r>
            <a:r>
              <a:rPr lang="zh-CN" altLang="zh-CN">
                <a:latin typeface="Arial" panose="020B0604020202090204" pitchFamily="34" charset="0"/>
                <a:ea typeface="微软雅黑" panose="020B0503020204020204" pitchFamily="34" charset="-122"/>
              </a:rPr>
              <a:t> zhaoliu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11150" y="2511425"/>
            <a:ext cx="2143125" cy="368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None/>
            </a:pPr>
            <a:r>
              <a: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二叉查找树查找</a:t>
            </a:r>
          </a:p>
        </p:txBody>
      </p:sp>
      <p:sp>
        <p:nvSpPr>
          <p:cNvPr id="18" name="矩形 17"/>
          <p:cNvSpPr/>
          <p:nvPr/>
        </p:nvSpPr>
        <p:spPr>
          <a:xfrm>
            <a:off x="4314825" y="3430588"/>
            <a:ext cx="1366838" cy="369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标题 1"/>
          <p:cNvSpPr>
            <a:spLocks noGrp="1"/>
          </p:cNvSpPr>
          <p:nvPr>
            <p:ph type="title"/>
          </p:nvPr>
        </p:nvSpPr>
        <p:spPr>
          <a:xfrm>
            <a:off x="374650" y="65088"/>
            <a:ext cx="6127750" cy="444500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V0.3</a:t>
            </a:r>
            <a:r>
              <a:rPr lang="zh-CN" altLang="en-US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zh-CN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</a:t>
            </a:r>
            <a:endParaRPr lang="zh-CN" altLang="en-US" sz="1800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4650" y="922338"/>
            <a:ext cx="2160588" cy="36988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None/>
            </a:pPr>
            <a:r>
              <a:rPr lang="zh-CN" altLang="en-US" b="1">
                <a:solidFill>
                  <a:srgbClr val="FFFFFF"/>
                </a:solidFill>
                <a:latin typeface="Courier New" panose="02070409020205090404" pitchFamily="49" charset="0"/>
                <a:ea typeface="等线" pitchFamily="2" charset="-122"/>
              </a:rPr>
              <a:t>新增的结构体</a:t>
            </a:r>
            <a:endParaRPr lang="zh-CN" altLang="zh-CN" b="1">
              <a:solidFill>
                <a:srgbClr val="FFFFFF"/>
              </a:solidFill>
              <a:latin typeface="Courier New" panose="02070409020205090404" pitchFamily="49" charset="0"/>
              <a:ea typeface="等线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43213" y="896938"/>
            <a:ext cx="5503863" cy="28622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typedef struct user_index_node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user_t *user;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struct user_index_node *left;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struct user_index_node *right;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user_index_node_t;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typedef struct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user_index_node_t *root;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int size;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user_index_t;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43213" y="3962400"/>
            <a:ext cx="3097213" cy="3683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None/>
            </a:pP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容易出错：重复</a:t>
            </a:r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endParaRPr lang="zh-CN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标题 1"/>
          <p:cNvSpPr>
            <a:spLocks noGrp="1"/>
          </p:cNvSpPr>
          <p:nvPr>
            <p:ph type="title"/>
          </p:nvPr>
        </p:nvSpPr>
        <p:spPr>
          <a:xfrm>
            <a:off x="374650" y="65088"/>
            <a:ext cx="6127750" cy="444500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V0.3</a:t>
            </a:r>
            <a:r>
              <a:rPr lang="zh-CN" altLang="en-US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zh-CN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</a:t>
            </a:r>
            <a:endParaRPr lang="zh-CN" altLang="en-US" sz="1800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188" y="784225"/>
            <a:ext cx="4094163" cy="30083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lnSpc>
                <a:spcPct val="15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等线" pitchFamily="2" charset="-122"/>
                <a:ea typeface="等线" pitchFamily="2" charset="-122"/>
              </a:rPr>
              <a:t>修改文件包括</a:t>
            </a:r>
            <a:endParaRPr lang="en-US" altLang="zh-CN" sz="2000">
              <a:solidFill>
                <a:srgbClr val="000000"/>
              </a:solidFill>
              <a:latin typeface="等线" pitchFamily="2" charset="-122"/>
              <a:ea typeface="等线" pitchFamily="2" charset="-122"/>
            </a:endParaRPr>
          </a:p>
          <a:p>
            <a:pPr lvl="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Courier New" panose="02070409020205090404" pitchFamily="49" charset="0"/>
              </a:rPr>
              <a:t>include/user_store.h</a:t>
            </a:r>
          </a:p>
          <a:p>
            <a:pPr lvl="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Courier New" panose="02070409020205090404" pitchFamily="49" charset="0"/>
              </a:rPr>
              <a:t>src/user_store.c</a:t>
            </a:r>
          </a:p>
          <a:p>
            <a:pPr lvl="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Courier New" panose="02070409020205090404" pitchFamily="49" charset="0"/>
              </a:rPr>
              <a:t>src/main.c</a:t>
            </a:r>
          </a:p>
          <a:p>
            <a:pPr lvl="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Courier New" panose="02070409020205090404" pitchFamily="49" charset="0"/>
              </a:rPr>
              <a:t>Makefile</a:t>
            </a:r>
          </a:p>
          <a:p>
            <a:pPr lvl="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Courier New" panose="02070409020205090404" pitchFamily="49" charset="0"/>
              </a:rPr>
              <a:t>README.md</a:t>
            </a:r>
          </a:p>
          <a:p>
            <a:pPr lvl="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Courier New" panose="02070409020205090404" pitchFamily="49" charset="0"/>
              </a:rPr>
              <a:t>docs/debug-log.txt(</a:t>
            </a:r>
            <a:r>
              <a:rPr lang="zh-CN" altLang="en-US">
                <a:latin typeface="Courier New" panose="02070409020205090404" pitchFamily="49" charset="0"/>
              </a:rPr>
              <a:t>可选</a:t>
            </a:r>
            <a:r>
              <a:rPr lang="en-US" altLang="zh-CN">
                <a:latin typeface="Courier New" panose="02070409020205090404" pitchFamily="49" charset="0"/>
              </a:rPr>
              <a:t>)</a:t>
            </a:r>
            <a:endParaRPr lang="zh-CN" altLang="zh-CN">
              <a:latin typeface="Courier New" panose="020704090202050904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3075" y="811213"/>
            <a:ext cx="3344863" cy="21288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新增文件包括：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include/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user_index.h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src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user_index.c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tests/test_day03.sh</a:t>
            </a:r>
          </a:p>
          <a:p>
            <a:pPr marL="257175" marR="0" lvl="0" indent="-2571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users_large.csv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文本框 3"/>
          <p:cNvSpPr txBox="1"/>
          <p:nvPr/>
        </p:nvSpPr>
        <p:spPr>
          <a:xfrm>
            <a:off x="279400" y="896938"/>
            <a:ext cx="8609013" cy="3349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>
                <a:latin typeface="Arial" panose="020B0604020202090204" pitchFamily="34" charset="0"/>
              </a:rPr>
              <a:t>users index 能按用户名顺序输出</a:t>
            </a:r>
            <a:endParaRPr lang="en-US" altLang="zh-CN" sz="2400">
              <a:latin typeface="Arial" panose="020B0604020202090204" pitchFamily="34" charset="0"/>
            </a:endParaRPr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>
                <a:latin typeface="Arial" panose="020B0604020202090204" pitchFamily="34" charset="0"/>
              </a:rPr>
              <a:t>users find-index zhangsan 能找到用户</a:t>
            </a:r>
            <a:endParaRPr lang="en-US" altLang="zh-CN" sz="2400">
              <a:latin typeface="Arial" panose="020B0604020202090204" pitchFamily="34" charset="0"/>
            </a:endParaRPr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>
                <a:latin typeface="Arial" panose="020B0604020202090204" pitchFamily="34" charset="0"/>
              </a:rPr>
              <a:t>users find-index nobody 输出 NOT_FOUND</a:t>
            </a:r>
            <a:endParaRPr lang="en-US" altLang="zh-CN" sz="2400">
              <a:latin typeface="Arial" panose="020B0604020202090204" pitchFamily="34" charset="0"/>
            </a:endParaRPr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>
                <a:latin typeface="Arial" panose="020B0604020202090204" pitchFamily="34" charset="0"/>
              </a:rPr>
              <a:t>users compare &lt;username&gt; 能输出链表和树的查找步骤</a:t>
            </a:r>
            <a:endParaRPr lang="en-US" altLang="zh-CN" sz="2400">
              <a:latin typeface="Arial" panose="020B0604020202090204" pitchFamily="34" charset="0"/>
            </a:endParaRPr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>
                <a:latin typeface="Arial" panose="020B0604020202090204" pitchFamily="34" charset="0"/>
              </a:rPr>
              <a:t>释放索引树后程序正常退出</a:t>
            </a:r>
            <a:endParaRPr lang="en-US" altLang="zh-CN" sz="2400">
              <a:latin typeface="Arial" panose="020B0604020202090204" pitchFamily="34" charset="0"/>
            </a:endParaRPr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>
                <a:latin typeface="Arial" panose="020B0604020202090204" pitchFamily="34" charset="0"/>
              </a:rPr>
              <a:t>能解释 user_index_node_t 中为什么保存 user_t *</a:t>
            </a:r>
            <a:endParaRPr lang="zh-CN" altLang="en-US" sz="2400">
              <a:latin typeface="Arial" panose="020B0604020202090204" pitchFamily="34" charset="0"/>
            </a:endParaRPr>
          </a:p>
        </p:txBody>
      </p:sp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498475" y="87313"/>
            <a:ext cx="8170863" cy="592137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V0.3</a:t>
            </a:r>
            <a:r>
              <a:rPr lang="zh-CN" altLang="en-US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en-US" altLang="zh-CN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mini_webserver-</a:t>
            </a:r>
            <a:r>
              <a:rPr lang="zh-CN" altLang="en-US" sz="18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检查内容</a:t>
            </a:r>
            <a:endParaRPr lang="en-US" altLang="en-US" sz="1800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0164557"/>
  <p:tag name="MH_LIBRARY" val="CONTENTS"/>
  <p:tag name="MH_TYPE" val="ENTRY"/>
  <p:tag name="ID" val="553515"/>
  <p:tag name="MH_ORDER" val="1"/>
</p:tagLst>
</file>

<file path=ppt/theme/theme1.xml><?xml version="1.0" encoding="utf-8"?>
<a:theme xmlns:a="http://schemas.openxmlformats.org/drawingml/2006/main" name="自定义设计方案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ʾĸģ�</Template>
  <TotalTime>5</TotalTime>
  <Pages>28</Pages>
  <Words>3728</Words>
  <Application>Microsoft Macintosh PowerPoint</Application>
  <PresentationFormat>全屏显示(16:9)</PresentationFormat>
  <Paragraphs>719</Paragraphs>
  <Slides>36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-apple-system</vt:lpstr>
      <vt:lpstr>等线</vt:lpstr>
      <vt:lpstr>等线 Light</vt:lpstr>
      <vt:lpstr>黑体</vt:lpstr>
      <vt:lpstr>楷体</vt:lpstr>
      <vt:lpstr>微软雅黑</vt:lpstr>
      <vt:lpstr>微软雅黑</vt:lpstr>
      <vt:lpstr>新宋体</vt:lpstr>
      <vt:lpstr>PingFang SC</vt:lpstr>
      <vt:lpstr>Arial</vt:lpstr>
      <vt:lpstr>Calibri</vt:lpstr>
      <vt:lpstr>Consolas</vt:lpstr>
      <vt:lpstr>Courier New</vt:lpstr>
      <vt:lpstr>Menlo</vt:lpstr>
      <vt:lpstr>Times New Roman</vt:lpstr>
      <vt:lpstr>Wingdings</vt:lpstr>
      <vt:lpstr>自定义设计方案</vt:lpstr>
      <vt:lpstr>PowerPoint 演示文稿</vt:lpstr>
      <vt:lpstr>讲授内容</vt:lpstr>
      <vt:lpstr>训练目的</vt:lpstr>
      <vt:lpstr>二叉树定义</vt:lpstr>
      <vt:lpstr>二叉树的特点</vt:lpstr>
      <vt:lpstr>二叉树几个性质</vt:lpstr>
      <vt:lpstr>二叉树几个性质</vt:lpstr>
      <vt:lpstr>二叉树几个性质</vt:lpstr>
      <vt:lpstr>满二叉树</vt:lpstr>
      <vt:lpstr>完全二叉树</vt:lpstr>
      <vt:lpstr>二叉树的存储结构</vt:lpstr>
      <vt:lpstr>二叉树的顺序存储</vt:lpstr>
      <vt:lpstr>二叉树的顺序存储</vt:lpstr>
      <vt:lpstr>二叉树的链式存储</vt:lpstr>
      <vt:lpstr>二叉排序树</vt:lpstr>
      <vt:lpstr>二叉排序树</vt:lpstr>
      <vt:lpstr>二叉排序树-查找</vt:lpstr>
      <vt:lpstr>二叉排序树-查找</vt:lpstr>
      <vt:lpstr>二叉排序树-新增</vt:lpstr>
      <vt:lpstr>二叉排序树的创建</vt:lpstr>
      <vt:lpstr>训练1 二叉排序树练习1</vt:lpstr>
      <vt:lpstr>二叉排序树-删除</vt:lpstr>
      <vt:lpstr>二叉排序树-删除</vt:lpstr>
      <vt:lpstr>二叉排序树-删除</vt:lpstr>
      <vt:lpstr>二叉排序树-删除</vt:lpstr>
      <vt:lpstr>训练2 二叉排序树练习2</vt:lpstr>
      <vt:lpstr>参考代码(指导老师酌情给)</vt:lpstr>
      <vt:lpstr>参考代码(指导老师酌情给)</vt:lpstr>
      <vt:lpstr>参考代码(指导老师酌情给)</vt:lpstr>
      <vt:lpstr>Webserver V0.3版 </vt:lpstr>
      <vt:lpstr>PowerPoint 演示文稿</vt:lpstr>
      <vt:lpstr>V0.3版 mini_webserver</vt:lpstr>
      <vt:lpstr>V0.3版 mini_webserver</vt:lpstr>
      <vt:lpstr>V0.3版 mini_webserver</vt:lpstr>
      <vt:lpstr>V0.3版 mini_webserver</vt:lpstr>
      <vt:lpstr>V0.3版 mini_webserver-检查内容</vt:lpstr>
    </vt:vector>
  </TitlesOfParts>
  <Company>ӿƼ�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һ ϵͳ֪ʶ</dc:title>
  <dc:subject>Guide for Creating Powerpoint Presentations</dc:subject>
  <dc:creator>�</dc:creator>
  <cp:lastModifiedBy>256657@qq.com</cp:lastModifiedBy>
  <cp:revision>815</cp:revision>
  <cp:lastPrinted>2026-07-01T07:37:14Z</cp:lastPrinted>
  <dcterms:created xsi:type="dcterms:W3CDTF">2026-07-01T07:37:14Z</dcterms:created>
  <dcterms:modified xsi:type="dcterms:W3CDTF">2026-07-01T07:43:19Z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2</vt:r8>
  </property>
  <property fmtid="{D5CDD505-2E9C-101B-9397-08002B2CF9AE}" pid="6" name="ScreenUsage">
    <vt:r8>1</vt:r8>
  </property>
  <property fmtid="{D5CDD505-2E9C-101B-9397-08002B2CF9AE}" pid="7" name="MailAddress">
    <vt:lpwstr>kejohnst@cisco.com</vt:lpwstr>
  </property>
  <property fmtid="{D5CDD505-2E9C-101B-9397-08002B2CF9AE}" pid="8" name="HomePage">
    <vt:lpwstr>cisco.netacad.net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2</vt:r8>
  </property>
  <property fmtid="{D5CDD505-2E9C-101B-9397-08002B2CF9AE}" pid="19" name="ShowNotes">
    <vt:bool>false</vt:bool>
  </property>
  <property fmtid="{D5CDD505-2E9C-101B-9397-08002B2CF9AE}" pid="20" name="NavBtnPos">
    <vt:r8>4</vt:r8>
  </property>
  <property fmtid="{D5CDD505-2E9C-101B-9397-08002B2CF9AE}" pid="21" name="OutputDir">
    <vt:lpwstr>C:\WINDOWS\Desktop</vt:lpwstr>
  </property>
  <property fmtid="{D5CDD505-2E9C-101B-9397-08002B2CF9AE}" pid="22" name="KSOProductBuildVer">
    <vt:lpwstr>2052-12.1.26016.26016</vt:lpwstr>
  </property>
  <property fmtid="{D5CDD505-2E9C-101B-9397-08002B2CF9AE}" pid="23" name="ICV">
    <vt:lpwstr>ECBCDAA4E173178AAAC3446A089F3FEB_43</vt:lpwstr>
  </property>
</Properties>
</file>