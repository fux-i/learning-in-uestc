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784" r:id="rId2"/>
    <p:sldId id="785" r:id="rId3"/>
    <p:sldId id="769" r:id="rId4"/>
    <p:sldId id="786" r:id="rId5"/>
    <p:sldId id="802" r:id="rId6"/>
    <p:sldId id="814" r:id="rId7"/>
    <p:sldId id="803" r:id="rId8"/>
    <p:sldId id="816" r:id="rId9"/>
    <p:sldId id="824" r:id="rId10"/>
    <p:sldId id="815" r:id="rId11"/>
    <p:sldId id="805" r:id="rId12"/>
    <p:sldId id="813" r:id="rId13"/>
    <p:sldId id="809" r:id="rId14"/>
    <p:sldId id="806" r:id="rId15"/>
    <p:sldId id="807" r:id="rId16"/>
    <p:sldId id="808" r:id="rId17"/>
    <p:sldId id="818" r:id="rId18"/>
    <p:sldId id="787" r:id="rId19"/>
    <p:sldId id="827" r:id="rId20"/>
    <p:sldId id="828" r:id="rId21"/>
    <p:sldId id="790" r:id="rId22"/>
    <p:sldId id="791" r:id="rId23"/>
    <p:sldId id="810" r:id="rId24"/>
    <p:sldId id="799" r:id="rId25"/>
    <p:sldId id="800" r:id="rId26"/>
    <p:sldId id="801" r:id="rId27"/>
    <p:sldId id="825" r:id="rId28"/>
    <p:sldId id="756" r:id="rId29"/>
    <p:sldId id="812" r:id="rId30"/>
    <p:sldId id="618" r:id="rId31"/>
    <p:sldId id="1274" r:id="rId32"/>
    <p:sldId id="619" r:id="rId33"/>
    <p:sldId id="1275" r:id="rId34"/>
    <p:sldId id="1276" r:id="rId35"/>
    <p:sldId id="1270" r:id="rId36"/>
  </p:sldIdLst>
  <p:sldSz cx="9144000" cy="5143500" type="screen16x9"/>
  <p:notesSz cx="6985000" cy="9271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63"/>
    <p:restoredTop sz="77250"/>
  </p:normalViewPr>
  <p:slideViewPr>
    <p:cSldViewPr showGuides="1">
      <p:cViewPr varScale="1">
        <p:scale>
          <a:sx n="106" d="100"/>
          <a:sy n="106" d="100"/>
        </p:scale>
        <p:origin x="1096" y="17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026"/>
          <p:cNvSpPr>
            <a:spLocks noGrp="1" noChangeArrowheads="1"/>
          </p:cNvSpPr>
          <p:nvPr>
            <p:ph type="hdr" sz="quarter"/>
          </p:nvPr>
        </p:nvSpPr>
        <p:spPr bwMode="auto">
          <a:xfrm>
            <a:off x="0" y="0"/>
            <a:ext cx="3048000" cy="457200"/>
          </a:xfrm>
          <a:prstGeom prst="rect">
            <a:avLst/>
          </a:prstGeom>
          <a:noFill/>
          <a:ln w="9525">
            <a:noFill/>
            <a:miter lim="800000"/>
          </a:ln>
        </p:spPr>
        <p:txBody>
          <a:bodyPr vert="horz" wrap="square" lIns="73025" tIns="36512" rIns="73025" bIns="36512" numCol="1" anchor="t" anchorCtr="0" compatLnSpc="1"/>
          <a:lstStyle>
            <a:lvl1pPr eaLnBrk="0" hangingPunct="0">
              <a:defRPr sz="1200" b="0" i="0">
                <a:ea typeface="Microsoft YaHei"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Microsoft YaHei" panose="020B0503020204020204" pitchFamily="34" charset="-122"/>
              <a:cs typeface="+mn-cs"/>
            </a:endParaRPr>
          </a:p>
        </p:txBody>
      </p:sp>
      <p:sp>
        <p:nvSpPr>
          <p:cNvPr id="3075" name="Rectangle 1027"/>
          <p:cNvSpPr>
            <a:spLocks noGrp="1" noChangeArrowheads="1"/>
          </p:cNvSpPr>
          <p:nvPr>
            <p:ph type="dt" idx="1"/>
          </p:nvPr>
        </p:nvSpPr>
        <p:spPr bwMode="auto">
          <a:xfrm>
            <a:off x="3962400" y="0"/>
            <a:ext cx="3048000" cy="457200"/>
          </a:xfrm>
          <a:prstGeom prst="rect">
            <a:avLst/>
          </a:prstGeom>
          <a:noFill/>
          <a:ln w="9525">
            <a:noFill/>
            <a:miter lim="800000"/>
          </a:ln>
        </p:spPr>
        <p:txBody>
          <a:bodyPr vert="horz" wrap="square" lIns="73025" tIns="36512" rIns="73025" bIns="36512" numCol="1" anchor="t" anchorCtr="0" compatLnSpc="1"/>
          <a:lstStyle>
            <a:lvl1pPr algn="r" eaLnBrk="0" hangingPunct="0">
              <a:defRPr sz="1200" b="0" i="0">
                <a:ea typeface="Microsoft YaHei" panose="020B0503020204020204" pitchFamily="34"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90204" pitchFamily="34" charset="0"/>
              <a:ea typeface="Microsoft YaHei" panose="020B0503020204020204" pitchFamily="34" charset="-122"/>
              <a:cs typeface="+mn-cs"/>
            </a:endParaRPr>
          </a:p>
        </p:txBody>
      </p:sp>
      <p:sp>
        <p:nvSpPr>
          <p:cNvPr id="16388" name="Rectangle 1028"/>
          <p:cNvSpPr>
            <a:spLocks noGrp="1" noRot="1" noChangeAspect="1"/>
          </p:cNvSpPr>
          <p:nvPr>
            <p:ph type="sldImg" idx="2"/>
          </p:nvPr>
        </p:nvSpPr>
        <p:spPr>
          <a:xfrm>
            <a:off x="352425" y="685800"/>
            <a:ext cx="6229350" cy="3505200"/>
          </a:xfrm>
          <a:prstGeom prst="rect">
            <a:avLst/>
          </a:prstGeom>
          <a:noFill/>
          <a:ln w="9525">
            <a:noFill/>
          </a:ln>
        </p:spPr>
      </p:sp>
      <p:sp>
        <p:nvSpPr>
          <p:cNvPr id="3077" name="Rectangle 1029"/>
          <p:cNvSpPr>
            <a:spLocks noGrp="1" noChangeArrowheads="1"/>
          </p:cNvSpPr>
          <p:nvPr>
            <p:ph type="body" sz="quarter" idx="3"/>
          </p:nvPr>
        </p:nvSpPr>
        <p:spPr bwMode="auto">
          <a:xfrm>
            <a:off x="914400" y="4419600"/>
            <a:ext cx="5105400" cy="4191000"/>
          </a:xfrm>
          <a:prstGeom prst="rect">
            <a:avLst/>
          </a:prstGeom>
          <a:noFill/>
          <a:ln w="9525">
            <a:noFill/>
            <a:miter lim="800000"/>
          </a:ln>
        </p:spPr>
        <p:txBody>
          <a:bodyPr vert="horz" wrap="square" lIns="73025" tIns="36512" rIns="73025" bIns="36512" numCol="1" anchor="ctr" anchorCtr="0" compatLnSpc="1"/>
          <a:lstStyle/>
          <a:p>
            <a:pPr marL="113030" marR="0" lvl="0" indent="-113030" algn="l" defTabSz="1021080" rtl="0" eaLnBrk="0" fontAlgn="base" latinLnBrk="0" hangingPunct="0">
              <a:lnSpc>
                <a:spcPct val="90000"/>
              </a:lnSpc>
              <a:spcBef>
                <a:spcPct val="40000"/>
              </a:spcBef>
              <a:spcAft>
                <a:spcPct val="0"/>
              </a:spcAft>
              <a:buClrTx/>
              <a:buSzPct val="100000"/>
              <a:buFontTx/>
              <a:buChar char="•"/>
              <a:defRPr/>
            </a:pPr>
            <a:r>
              <a:rPr kumimoji="0" lang="en-US" sz="1400" b="0" i="0" u="none" strike="noStrike" kern="1200" cap="none" spc="0" normalizeH="0" baseline="0" noProof="0" dirty="0">
                <a:ln>
                  <a:noFill/>
                </a:ln>
                <a:solidFill>
                  <a:schemeClr val="tx1"/>
                </a:solidFill>
                <a:effectLst/>
                <a:uLnTx/>
                <a:uFillTx/>
                <a:latin typeface="Arial" panose="020B0604020202090204" pitchFamily="34" charset="0"/>
                <a:ea typeface="微软雅黑" panose="020B0503020204020204" pitchFamily="34" charset="-122"/>
                <a:cs typeface="+mn-cs"/>
              </a:rPr>
              <a:t>Click to edit Master text styles</a:t>
            </a:r>
          </a:p>
          <a:p>
            <a:pPr marL="482600" marR="0" lvl="1" indent="-120650" algn="l" defTabSz="1021080" rtl="0" eaLnBrk="0" fontAlgn="base" latinLnBrk="0" hangingPunct="0">
              <a:lnSpc>
                <a:spcPct val="90000"/>
              </a:lnSpc>
              <a:spcBef>
                <a:spcPct val="40000"/>
              </a:spcBef>
              <a:spcAft>
                <a:spcPct val="0"/>
              </a:spcAft>
              <a:buClrTx/>
              <a:buSzPct val="100000"/>
              <a:buFontTx/>
              <a:buChar char="•"/>
              <a:defRPr/>
            </a:pPr>
            <a:r>
              <a:rPr kumimoji="0" lang="en-US" sz="1400" b="0" i="0" u="none" strike="noStrike" kern="1200" cap="none" spc="0" normalizeH="0" baseline="0" noProof="0" dirty="0">
                <a:ln>
                  <a:noFill/>
                </a:ln>
                <a:solidFill>
                  <a:schemeClr val="tx1"/>
                </a:solidFill>
                <a:effectLst/>
                <a:uLnTx/>
                <a:uFillTx/>
                <a:latin typeface="Arial" panose="020B0604020202090204" pitchFamily="34" charset="0"/>
                <a:ea typeface="微软雅黑" panose="020B0503020204020204" pitchFamily="34" charset="-122"/>
                <a:cs typeface="+mn-cs"/>
              </a:rPr>
              <a:t>Second level</a:t>
            </a:r>
          </a:p>
          <a:p>
            <a:pPr marL="967105" marR="0" lvl="2" indent="0" algn="l" defTabSz="1021080" rtl="0" eaLnBrk="0" fontAlgn="base" latinLnBrk="0" hangingPunct="0">
              <a:lnSpc>
                <a:spcPct val="90000"/>
              </a:lnSpc>
              <a:spcBef>
                <a:spcPct val="40000"/>
              </a:spcBef>
              <a:spcAft>
                <a:spcPct val="0"/>
              </a:spcAft>
              <a:buClrTx/>
              <a:buSzPct val="100000"/>
              <a:buFontTx/>
              <a:buChar char="•"/>
              <a:defRPr/>
            </a:pPr>
            <a:r>
              <a:rPr kumimoji="0" lang="en-US" sz="1400" b="0" i="0" u="none" strike="noStrike" kern="1200" cap="none" spc="0" normalizeH="0" baseline="0" noProof="0" dirty="0">
                <a:ln>
                  <a:noFill/>
                </a:ln>
                <a:solidFill>
                  <a:schemeClr val="tx1"/>
                </a:solidFill>
                <a:effectLst/>
                <a:uLnTx/>
                <a:uFillTx/>
                <a:latin typeface="Arial" panose="020B0604020202090204" pitchFamily="34" charset="0"/>
                <a:ea typeface="微软雅黑" panose="020B0503020204020204" pitchFamily="34" charset="-122"/>
                <a:cs typeface="+mn-cs"/>
              </a:rPr>
              <a:t>Third level</a:t>
            </a:r>
          </a:p>
          <a:p>
            <a:pPr marL="1449705" marR="0" lvl="3" indent="0" algn="l" defTabSz="1021080" rtl="0" eaLnBrk="0" fontAlgn="base" latinLnBrk="0" hangingPunct="0">
              <a:lnSpc>
                <a:spcPct val="90000"/>
              </a:lnSpc>
              <a:spcBef>
                <a:spcPct val="40000"/>
              </a:spcBef>
              <a:spcAft>
                <a:spcPct val="0"/>
              </a:spcAft>
              <a:buClrTx/>
              <a:buSzPct val="100000"/>
              <a:buFontTx/>
              <a:buChar char="•"/>
              <a:defRPr/>
            </a:pPr>
            <a:r>
              <a:rPr kumimoji="0" lang="en-US" sz="1400" b="0" i="0" u="none" strike="noStrike" kern="1200" cap="none" spc="0" normalizeH="0" baseline="0" noProof="0" dirty="0">
                <a:ln>
                  <a:noFill/>
                </a:ln>
                <a:solidFill>
                  <a:schemeClr val="tx1"/>
                </a:solidFill>
                <a:effectLst/>
                <a:uLnTx/>
                <a:uFillTx/>
                <a:latin typeface="Arial" panose="020B0604020202090204" pitchFamily="34" charset="0"/>
                <a:ea typeface="微软雅黑" panose="020B0503020204020204" pitchFamily="34" charset="-122"/>
                <a:cs typeface="+mn-cs"/>
              </a:rPr>
              <a:t>Fourth level</a:t>
            </a:r>
          </a:p>
          <a:p>
            <a:pPr marL="1932305" marR="0" lvl="4" indent="0" algn="l" defTabSz="1021080" rtl="0" eaLnBrk="0" fontAlgn="base" latinLnBrk="0" hangingPunct="0">
              <a:lnSpc>
                <a:spcPct val="90000"/>
              </a:lnSpc>
              <a:spcBef>
                <a:spcPct val="40000"/>
              </a:spcBef>
              <a:spcAft>
                <a:spcPct val="0"/>
              </a:spcAft>
              <a:buClrTx/>
              <a:buSzPct val="100000"/>
              <a:buFontTx/>
              <a:buChar char="•"/>
              <a:defRPr/>
            </a:pPr>
            <a:r>
              <a:rPr kumimoji="0" lang="en-US" sz="1400" b="0" i="0" u="none" strike="noStrike" kern="1200" cap="none" spc="0" normalizeH="0" baseline="0" noProof="0" dirty="0">
                <a:ln>
                  <a:noFill/>
                </a:ln>
                <a:solidFill>
                  <a:schemeClr val="tx1"/>
                </a:solidFill>
                <a:effectLst/>
                <a:uLnTx/>
                <a:uFillTx/>
                <a:latin typeface="Arial" panose="020B0604020202090204" pitchFamily="34" charset="0"/>
                <a:ea typeface="微软雅黑" panose="020B0503020204020204" pitchFamily="34" charset="-122"/>
                <a:cs typeface="+mn-cs"/>
              </a:rPr>
              <a:t>Fifth level</a:t>
            </a:r>
          </a:p>
        </p:txBody>
      </p:sp>
      <p:sp>
        <p:nvSpPr>
          <p:cNvPr id="3078" name="Rectangle 1030"/>
          <p:cNvSpPr>
            <a:spLocks noGrp="1" noChangeArrowheads="1"/>
          </p:cNvSpPr>
          <p:nvPr>
            <p:ph type="ftr" sz="quarter" idx="4"/>
          </p:nvPr>
        </p:nvSpPr>
        <p:spPr bwMode="auto">
          <a:xfrm>
            <a:off x="0" y="8839200"/>
            <a:ext cx="3048000" cy="457200"/>
          </a:xfrm>
          <a:prstGeom prst="rect">
            <a:avLst/>
          </a:prstGeom>
          <a:noFill/>
          <a:ln w="9525">
            <a:noFill/>
            <a:miter lim="800000"/>
          </a:ln>
        </p:spPr>
        <p:txBody>
          <a:bodyPr vert="horz" wrap="square" lIns="73025" tIns="36512" rIns="73025" bIns="36512" numCol="1" anchor="b" anchorCtr="0" compatLnSpc="1"/>
          <a:lstStyle>
            <a:lvl1pPr eaLnBrk="0" hangingPunct="0">
              <a:defRPr sz="1200" b="0" i="0">
                <a:ea typeface="Microsoft YaHei"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90204" pitchFamily="34" charset="0"/>
              <a:ea typeface="Microsoft YaHei" panose="020B0503020204020204" pitchFamily="34" charset="-122"/>
              <a:cs typeface="+mn-cs"/>
            </a:endParaRPr>
          </a:p>
        </p:txBody>
      </p:sp>
      <p:sp>
        <p:nvSpPr>
          <p:cNvPr id="3079" name="Rectangle 1031"/>
          <p:cNvSpPr>
            <a:spLocks noGrp="1" noChangeArrowheads="1"/>
          </p:cNvSpPr>
          <p:nvPr>
            <p:ph type="sldNum" sz="quarter" idx="5"/>
          </p:nvPr>
        </p:nvSpPr>
        <p:spPr bwMode="auto">
          <a:xfrm>
            <a:off x="3962400" y="8839200"/>
            <a:ext cx="3048000" cy="457200"/>
          </a:xfrm>
          <a:prstGeom prst="rect">
            <a:avLst/>
          </a:prstGeom>
          <a:noFill/>
          <a:ln w="9525">
            <a:noFill/>
            <a:miter lim="800000"/>
          </a:ln>
        </p:spPr>
        <p:txBody>
          <a:bodyPr vert="horz" wrap="square" lIns="73025" tIns="36512" rIns="73025" bIns="36512" numCol="1" anchor="b" anchorCtr="0" compatLnSpc="1"/>
          <a:lstStyle/>
          <a:p>
            <a:pPr lvl="0" algn="r">
              <a:buNone/>
            </a:pPr>
            <a:fld id="{9A0DB2DC-4C9A-4742-B13C-FB6460FD3503}" type="slidenum">
              <a:rPr lang="zh-CN" altLang="en-US" sz="1200">
                <a:ea typeface="微软雅黑" panose="020B0503020204020204" pitchFamily="34" charset="-122"/>
              </a:rPr>
              <a:t>‹#›</a:t>
            </a:fld>
            <a:endParaRPr lang="zh-CN" altLang="en-US" sz="1200">
              <a:ea typeface="微软雅黑" panose="020B0503020204020204" pitchFamily="34" charset="-122"/>
            </a:endParaRPr>
          </a:p>
        </p:txBody>
      </p:sp>
    </p:spTree>
  </p:cSld>
  <p:clrMap bg1="lt1" tx1="dk1" bg2="lt2" tx2="dk2" accent1="accent1" accent2="accent2" accent3="accent3" accent4="accent4" accent5="accent5" accent6="accent6" hlink="hlink" folHlink="folHlink"/>
  <p:hf sldNum="0" hdr="0" ftr="0" dt="0"/>
  <p:notesStyle>
    <a:lvl1pPr marL="113030" indent="-11303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微软雅黑" panose="020B0503020204020204" pitchFamily="34" charset="-122"/>
        <a:cs typeface="+mn-cs"/>
      </a:defRPr>
    </a:lvl1pPr>
    <a:lvl2pPr marL="482600" indent="-12065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微软雅黑" panose="020B0503020204020204" pitchFamily="34" charset="-122"/>
        <a:cs typeface="+mn-cs"/>
      </a:defRPr>
    </a:lvl2pPr>
    <a:lvl3pPr marL="9671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微软雅黑" panose="020B0503020204020204" pitchFamily="34" charset="-122"/>
        <a:cs typeface="+mn-cs"/>
      </a:defRPr>
    </a:lvl3pPr>
    <a:lvl4pPr marL="14497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微软雅黑" panose="020B0503020204020204" pitchFamily="34" charset="-122"/>
        <a:cs typeface="+mn-cs"/>
      </a:defRPr>
    </a:lvl4pPr>
    <a:lvl5pPr marL="19323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74725"/>
            <a:fld id="{9A0DB2DC-4C9A-4742-B13C-FB6460FD3503}" type="slidenum">
              <a:rPr lang="en-US" altLang="zh-CN" sz="1200">
                <a:ea typeface="微软雅黑" panose="020B0503020204020204" pitchFamily="34" charset="-122"/>
              </a:rPr>
              <a:t>3</a:t>
            </a:fld>
            <a:endParaRPr lang="en-US" altLang="zh-CN" sz="1200">
              <a:ea typeface="微软雅黑" panose="020B0503020204020204" pitchFamily="34" charset="-122"/>
            </a:endParaRPr>
          </a:p>
        </p:txBody>
      </p:sp>
      <p:sp>
        <p:nvSpPr>
          <p:cNvPr id="20482" name="Rectangle 2"/>
          <p:cNvSpPr>
            <a:spLocks noGrp="1" noRot="1" noChangeAspect="1" noTextEdit="1"/>
          </p:cNvSpPr>
          <p:nvPr>
            <p:ph type="sldImg"/>
          </p:nvPr>
        </p:nvSpPr>
        <p:spPr>
          <a:ln/>
        </p:spPr>
      </p:sp>
      <p:sp>
        <p:nvSpPr>
          <p:cNvPr id="20483" name="Rectangle 3"/>
          <p:cNvSpPr>
            <a:spLocks noGrp="1"/>
          </p:cNvSpPr>
          <p:nvPr>
            <p:ph type="body" idx="1"/>
          </p:nvPr>
        </p:nvSpPr>
        <p:spPr>
          <a:ln/>
        </p:spPr>
        <p:txBody>
          <a:bodyPr wrap="square" lIns="73025" tIns="36512" rIns="73025" bIns="36512" anchor="ctr" anchorCtr="0"/>
          <a:lstStyle/>
          <a:p>
            <a:pPr lvl="0"/>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en-US" altLang="zh-CN" sz="1200">
                <a:ea typeface="微软雅黑" panose="020B0503020204020204" pitchFamily="34" charset="-122"/>
              </a:rPr>
              <a:t>4</a:t>
            </a:fld>
            <a:endParaRPr lang="en-US" altLang="zh-CN" sz="1200">
              <a:ea typeface="微软雅黑" panose="020B0503020204020204" pitchFamily="34" charset="-122"/>
            </a:endParaRPr>
          </a:p>
        </p:txBody>
      </p:sp>
      <p:sp>
        <p:nvSpPr>
          <p:cNvPr id="22530" name="Rectangle 2"/>
          <p:cNvSpPr>
            <a:spLocks noGrp="1" noRot="1" noChangeAspect="1" noTextEdit="1"/>
          </p:cNvSpPr>
          <p:nvPr>
            <p:ph type="sldImg"/>
          </p:nvPr>
        </p:nvSpPr>
        <p:spPr>
          <a:ln/>
        </p:spPr>
      </p:sp>
      <p:sp>
        <p:nvSpPr>
          <p:cNvPr id="22531" name="Rectangle 3"/>
          <p:cNvSpPr>
            <a:spLocks noGrp="1"/>
          </p:cNvSpPr>
          <p:nvPr>
            <p:ph type="body" idx="1"/>
          </p:nvPr>
        </p:nvSpPr>
        <p:spPr>
          <a:ln/>
        </p:spPr>
        <p:txBody>
          <a:bodyPr wrap="square" lIns="73025" tIns="36512" rIns="73025" bIns="36512" anchor="ctr" anchorCtr="0"/>
          <a:lstStyle/>
          <a:p>
            <a:pPr lvl="0"/>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74725"/>
            <a:fld id="{9A0DB2DC-4C9A-4742-B13C-FB6460FD3503}" type="slidenum">
              <a:rPr lang="en-US" altLang="zh-CN" sz="1200">
                <a:ea typeface="微软雅黑" panose="020B0503020204020204" pitchFamily="34" charset="-122"/>
              </a:rPr>
              <a:t>17</a:t>
            </a:fld>
            <a:endParaRPr lang="en-US" altLang="zh-CN" sz="1200">
              <a:ea typeface="微软雅黑" panose="020B0503020204020204" pitchFamily="34" charset="-122"/>
            </a:endParaRPr>
          </a:p>
        </p:txBody>
      </p:sp>
      <p:sp>
        <p:nvSpPr>
          <p:cNvPr id="36866" name="Rectangle 2"/>
          <p:cNvSpPr>
            <a:spLocks noGrp="1" noRot="1" noChangeAspect="1" noTextEdit="1"/>
          </p:cNvSpPr>
          <p:nvPr>
            <p:ph type="sldImg"/>
          </p:nvPr>
        </p:nvSpPr>
        <p:spPr>
          <a:ln/>
        </p:spPr>
      </p:sp>
      <p:sp>
        <p:nvSpPr>
          <p:cNvPr id="36867" name="Rectangle 3"/>
          <p:cNvSpPr>
            <a:spLocks noGrp="1"/>
          </p:cNvSpPr>
          <p:nvPr>
            <p:ph type="body" idx="1"/>
          </p:nvPr>
        </p:nvSpPr>
        <p:spPr>
          <a:ln/>
        </p:spPr>
        <p:txBody>
          <a:bodyPr wrap="square" lIns="73025" tIns="36512" rIns="73025" bIns="36512" anchor="ctr" anchorCtr="0"/>
          <a:lstStyle/>
          <a:p>
            <a:pPr lvl="0"/>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a:ln/>
        </p:spPr>
      </p:sp>
      <p:sp>
        <p:nvSpPr>
          <p:cNvPr id="38914"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38915"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18</a:t>
            </a:fld>
            <a:endParaRPr lang="zh-CN" altLang="en-US" sz="1200">
              <a:ea typeface="微软雅黑"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a:ln/>
        </p:spPr>
      </p:sp>
      <p:sp>
        <p:nvSpPr>
          <p:cNvPr id="40962"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40963"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19</a:t>
            </a:fld>
            <a:endParaRPr lang="zh-CN" altLang="en-US" sz="1200">
              <a:ea typeface="微软雅黑"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a:ln/>
        </p:spPr>
      </p:sp>
      <p:sp>
        <p:nvSpPr>
          <p:cNvPr id="43010"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43011"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20</a:t>
            </a:fld>
            <a:endParaRPr lang="zh-CN" altLang="en-US" sz="1200">
              <a:ea typeface="微软雅黑"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TextEdit="1"/>
          </p:cNvSpPr>
          <p:nvPr>
            <p:ph type="sldImg"/>
          </p:nvPr>
        </p:nvSpPr>
        <p:spPr>
          <a:ln/>
        </p:spPr>
      </p:sp>
      <p:sp>
        <p:nvSpPr>
          <p:cNvPr id="45058"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45059"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21</a:t>
            </a:fld>
            <a:endParaRPr lang="zh-CN" altLang="en-US" sz="1200">
              <a:ea typeface="微软雅黑" panose="020B0503020204020204"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图像占位符 1"/>
          <p:cNvSpPr>
            <a:spLocks noGrp="1" noRot="1" noChangeAspect="1" noTextEdit="1"/>
          </p:cNvSpPr>
          <p:nvPr>
            <p:ph type="sldImg"/>
          </p:nvPr>
        </p:nvSpPr>
        <p:spPr>
          <a:ln/>
        </p:spPr>
      </p:sp>
      <p:sp>
        <p:nvSpPr>
          <p:cNvPr id="47106"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47107"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22</a:t>
            </a:fld>
            <a:endParaRPr lang="zh-CN" altLang="en-US" sz="1200">
              <a:ea typeface="微软雅黑"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幻灯片图像占位符 1"/>
          <p:cNvSpPr>
            <a:spLocks noGrp="1" noRot="1" noChangeAspect="1" noTextEdit="1"/>
          </p:cNvSpPr>
          <p:nvPr>
            <p:ph type="sldImg"/>
          </p:nvPr>
        </p:nvSpPr>
        <p:spPr>
          <a:ln/>
        </p:spPr>
      </p:sp>
      <p:sp>
        <p:nvSpPr>
          <p:cNvPr id="50178" name="备注占位符 2"/>
          <p:cNvSpPr>
            <a:spLocks noGrp="1"/>
          </p:cNvSpPr>
          <p:nvPr>
            <p:ph type="body" idx="1"/>
          </p:nvPr>
        </p:nvSpPr>
        <p:spPr>
          <a:ln/>
        </p:spPr>
        <p:txBody>
          <a:bodyPr wrap="square" lIns="73025" tIns="36512" rIns="73025" bIns="36512" anchor="ctr" anchorCtr="0"/>
          <a:lstStyle/>
          <a:p>
            <a:pPr lvl="0"/>
            <a:endParaRPr lang="zh-CN" altLang="en-US"/>
          </a:p>
        </p:txBody>
      </p:sp>
      <p:sp>
        <p:nvSpPr>
          <p:cNvPr id="50179" name="灯片编号占位符 3"/>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zh-CN" altLang="en-US" sz="1200">
                <a:ea typeface="微软雅黑" panose="020B0503020204020204" pitchFamily="34" charset="-122"/>
              </a:rPr>
              <a:t>24</a:t>
            </a:fld>
            <a:endParaRPr lang="zh-CN" altLang="en-US" sz="1200">
              <a:ea typeface="微软雅黑" panose="020B0503020204020204" pitchFamily="3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p:cNvSpPr>
          <p:nvPr>
            <p:ph type="sldNum" sz="quarter"/>
          </p:nvPr>
        </p:nvSpPr>
        <p:spPr>
          <a:xfrm>
            <a:off x="3962400" y="8839200"/>
            <a:ext cx="3048000" cy="457200"/>
          </a:xfrm>
          <a:prstGeom prst="rect">
            <a:avLst/>
          </a:prstGeom>
          <a:noFill/>
          <a:ln w="9525">
            <a:noFill/>
          </a:ln>
        </p:spPr>
        <p:txBody>
          <a:bodyPr lIns="73025" tIns="36512" rIns="73025" bIns="36512" anchor="b" anchorCtr="0"/>
          <a:lstStyle/>
          <a:p>
            <a:pPr lvl="0" algn="r" defTabSz="965200"/>
            <a:fld id="{9A0DB2DC-4C9A-4742-B13C-FB6460FD3503}" type="slidenum">
              <a:rPr lang="en-US" altLang="zh-CN" sz="1200">
                <a:ea typeface="微软雅黑" panose="020B0503020204020204" pitchFamily="34" charset="-122"/>
              </a:rPr>
              <a:t>29</a:t>
            </a:fld>
            <a:endParaRPr lang="en-US" altLang="zh-CN" sz="1200">
              <a:ea typeface="微软雅黑" panose="020B0503020204020204" pitchFamily="34" charset="-122"/>
            </a:endParaRPr>
          </a:p>
        </p:txBody>
      </p:sp>
      <p:sp>
        <p:nvSpPr>
          <p:cNvPr id="56322" name="Rectangle 2"/>
          <p:cNvSpPr>
            <a:spLocks noGrp="1" noRot="1" noChangeAspect="1" noTextEdit="1"/>
          </p:cNvSpPr>
          <p:nvPr>
            <p:ph type="sldImg"/>
          </p:nvPr>
        </p:nvSpPr>
        <p:spPr>
          <a:ln/>
        </p:spPr>
      </p:sp>
      <p:sp>
        <p:nvSpPr>
          <p:cNvPr id="56323" name="Rectangle 3"/>
          <p:cNvSpPr>
            <a:spLocks noGrp="1"/>
          </p:cNvSpPr>
          <p:nvPr>
            <p:ph type="body" idx="1"/>
          </p:nvPr>
        </p:nvSpPr>
        <p:spPr>
          <a:ln/>
        </p:spPr>
        <p:txBody>
          <a:bodyPr wrap="square" lIns="73025" tIns="36512" rIns="73025" bIns="36512" anchor="ctr" anchorCtr="0"/>
          <a:lstStyle/>
          <a:p>
            <a:pPr lvl="0"/>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a:ln>
            <a:solidFill>
              <a:srgbClr val="000000">
                <a:alpha val="100000"/>
              </a:srgbClr>
            </a:solidFill>
            <a:miter lim="800000"/>
          </a:ln>
        </p:spPr>
      </p:sp>
      <p:sp>
        <p:nvSpPr>
          <p:cNvPr id="78850" name="备注占位符 2"/>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32</a:t>
            </a:fld>
            <a:endParaRPr lang="en-US" altLang="en-US" sz="1300">
              <a:latin typeface="等线" pitchFamily="2" charset="-122"/>
              <a:ea typeface="等线"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D8615-0B4A-8451-616F-54180E3F474B}"/>
            </a:ext>
          </a:extLst>
        </p:cNvPr>
        <p:cNvGrpSpPr/>
        <p:nvPr/>
      </p:nvGrpSpPr>
      <p:grpSpPr>
        <a:xfrm>
          <a:off x="0" y="0"/>
          <a:ext cx="0" cy="0"/>
          <a:chOff x="0" y="0"/>
          <a:chExt cx="0" cy="0"/>
        </a:xfrm>
      </p:grpSpPr>
      <p:sp>
        <p:nvSpPr>
          <p:cNvPr id="84993" name="幻灯片图像占位符 1">
            <a:extLst>
              <a:ext uri="{FF2B5EF4-FFF2-40B4-BE49-F238E27FC236}">
                <a16:creationId xmlns:a16="http://schemas.microsoft.com/office/drawing/2014/main" id="{96507404-177C-F504-2C24-5846EAF2A7F6}"/>
              </a:ext>
            </a:extLst>
          </p:cNvPr>
          <p:cNvSpPr>
            <a:spLocks noGrp="1" noRot="1" noChangeAspect="1" noTextEdit="1"/>
          </p:cNvSpPr>
          <p:nvPr>
            <p:ph type="sldImg"/>
          </p:nvPr>
        </p:nvSpPr>
        <p:spPr>
          <a:ln>
            <a:solidFill>
              <a:srgbClr val="000000">
                <a:alpha val="100000"/>
              </a:srgbClr>
            </a:solidFill>
            <a:miter lim="800000"/>
          </a:ln>
        </p:spPr>
      </p:sp>
      <p:sp>
        <p:nvSpPr>
          <p:cNvPr id="84994" name="备注占位符 2">
            <a:extLst>
              <a:ext uri="{FF2B5EF4-FFF2-40B4-BE49-F238E27FC236}">
                <a16:creationId xmlns:a16="http://schemas.microsoft.com/office/drawing/2014/main" id="{AA5B9410-D5CD-378D-0870-DD93C923604B}"/>
              </a:ext>
            </a:extLst>
          </p:cNvPr>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84995" name="灯片编号占位符 3">
            <a:extLst>
              <a:ext uri="{FF2B5EF4-FFF2-40B4-BE49-F238E27FC236}">
                <a16:creationId xmlns:a16="http://schemas.microsoft.com/office/drawing/2014/main" id="{8C8B381A-F579-2FFD-96F2-293C37E81D7A}"/>
              </a:ext>
            </a:extLst>
          </p:cNvPr>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33</a:t>
            </a:fld>
            <a:endParaRPr lang="en-US" altLang="en-US" sz="1300">
              <a:latin typeface="等线" pitchFamily="2" charset="-122"/>
              <a:ea typeface="等线" pitchFamily="2" charset="-122"/>
            </a:endParaRPr>
          </a:p>
        </p:txBody>
      </p:sp>
    </p:spTree>
    <p:extLst>
      <p:ext uri="{BB962C8B-B14F-4D97-AF65-F5344CB8AC3E}">
        <p14:creationId xmlns:p14="http://schemas.microsoft.com/office/powerpoint/2010/main" val="1287136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400" kern="1200" dirty="0">
                <a:solidFill>
                  <a:schemeClr val="tx1"/>
                </a:solidFill>
                <a:latin typeface="Arial" panose="020B0604020202090204" pitchFamily="34" charset="0"/>
                <a:ea typeface="微软雅黑" panose="020B0503020204020204" pitchFamily="34" charset="-122"/>
                <a:cs typeface="+mn-cs"/>
              </a:rPr>
              <a:t>为什么要引入生产者消费者模型</a:t>
            </a:r>
            <a:endParaRPr lang="en-US" altLang="zh-CN" sz="1400" kern="1200" dirty="0">
              <a:solidFill>
                <a:schemeClr val="tx1"/>
              </a:solidFill>
              <a:latin typeface="Arial" panose="020B0604020202090204" pitchFamily="34" charset="0"/>
              <a:ea typeface="微软雅黑" panose="020B0503020204020204" pitchFamily="34" charset="-122"/>
              <a:cs typeface="+mn-cs"/>
            </a:endParaRPr>
          </a:p>
          <a:p>
            <a:r>
              <a:rPr lang="zh-CN" altLang="zh-CN" sz="1400" kern="1200" dirty="0">
                <a:solidFill>
                  <a:schemeClr val="tx1"/>
                </a:solidFill>
                <a:latin typeface="Arial" panose="020B0604020202090204" pitchFamily="34" charset="0"/>
                <a:ea typeface="微软雅黑" panose="020B0503020204020204" pitchFamily="34" charset="-122"/>
                <a:cs typeface="+mn-cs"/>
              </a:rPr>
              <a:t>一请求一进程：</a:t>
            </a:r>
          </a:p>
          <a:p>
            <a:r>
              <a:rPr lang="zh-CN" altLang="zh-CN" sz="1400" kern="1200" dirty="0">
                <a:solidFill>
                  <a:schemeClr val="tx1"/>
                </a:solidFill>
                <a:latin typeface="Arial" panose="020B0604020202090204" pitchFamily="34" charset="0"/>
                <a:ea typeface="微软雅黑" panose="020B0503020204020204" pitchFamily="34" charset="-122"/>
                <a:cs typeface="+mn-cs"/>
              </a:rPr>
              <a:t>请求多时会创建大量进程</a:t>
            </a:r>
          </a:p>
          <a:p>
            <a:endParaRPr lang="zh-CN" altLang="zh-CN" sz="1400" kern="1200" dirty="0">
              <a:solidFill>
                <a:schemeClr val="tx1"/>
              </a:solidFill>
              <a:latin typeface="Arial" panose="020B0604020202090204" pitchFamily="34" charset="0"/>
              <a:ea typeface="微软雅黑" panose="020B0503020204020204" pitchFamily="34" charset="-122"/>
              <a:cs typeface="+mn-cs"/>
            </a:endParaRPr>
          </a:p>
          <a:p>
            <a:r>
              <a:rPr lang="zh-CN" altLang="zh-CN" sz="1400" kern="1200" dirty="0">
                <a:solidFill>
                  <a:schemeClr val="tx1"/>
                </a:solidFill>
                <a:latin typeface="Arial" panose="020B0604020202090204" pitchFamily="34" charset="0"/>
                <a:ea typeface="微软雅黑" panose="020B0503020204020204" pitchFamily="34" charset="-122"/>
                <a:cs typeface="+mn-cs"/>
              </a:rPr>
              <a:t>固定 worker：</a:t>
            </a:r>
          </a:p>
          <a:p>
            <a:r>
              <a:rPr lang="zh-CN" altLang="zh-CN" sz="1400" kern="1200" dirty="0">
                <a:solidFill>
                  <a:schemeClr val="tx1"/>
                </a:solidFill>
                <a:latin typeface="Arial" panose="020B0604020202090204" pitchFamily="34" charset="0"/>
                <a:ea typeface="微软雅黑" panose="020B0503020204020204" pitchFamily="34" charset="-122"/>
                <a:cs typeface="+mn-cs"/>
              </a:rPr>
              <a:t>进程数量可控，更像真实服务器</a:t>
            </a:r>
          </a:p>
          <a:p>
            <a:endParaRPr kumimoji="1" lang="zh-CN" altLang="en-US" dirty="0"/>
          </a:p>
        </p:txBody>
      </p:sp>
    </p:spTree>
    <p:extLst>
      <p:ext uri="{BB962C8B-B14F-4D97-AF65-F5344CB8AC3E}">
        <p14:creationId xmlns:p14="http://schemas.microsoft.com/office/powerpoint/2010/main" val="1274415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2025650"/>
            <a:ext cx="9144000" cy="1254125"/>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highlight>
                <a:srgbClr val="004FEE"/>
              </a:highlight>
              <a:uLnTx/>
              <a:uFillTx/>
              <a:latin typeface="Microsoft YaHei" panose="020B0503020204020204" pitchFamily="34" charset="-122"/>
              <a:ea typeface="Microsoft YaHei" panose="020B0503020204020204" pitchFamily="34" charset="-122"/>
              <a:cs typeface="+mn-cs"/>
            </a:endParaRPr>
          </a:p>
        </p:txBody>
      </p:sp>
      <p:grpSp>
        <p:nvGrpSpPr>
          <p:cNvPr id="57347" name="组合 7"/>
          <p:cNvGrpSpPr>
            <a:grpSpLocks noChangeAspect="1"/>
          </p:cNvGrpSpPr>
          <p:nvPr userDrawn="1"/>
        </p:nvGrpSpPr>
        <p:grpSpPr>
          <a:xfrm>
            <a:off x="1214438" y="798513"/>
            <a:ext cx="6292850" cy="679450"/>
            <a:chOff x="8394642" y="741050"/>
            <a:chExt cx="2932231" cy="316260"/>
          </a:xfrm>
        </p:grpSpPr>
        <p:grpSp>
          <p:nvGrpSpPr>
            <p:cNvPr id="7" name="组合 6"/>
            <p:cNvGrpSpPr/>
            <p:nvPr/>
          </p:nvGrpSpPr>
          <p:grpSpPr>
            <a:xfrm>
              <a:off x="9984674" y="807628"/>
              <a:ext cx="1342199" cy="203423"/>
              <a:chOff x="5932112" y="3305663"/>
              <a:chExt cx="2557537" cy="387619"/>
            </a:xfrm>
            <a:solidFill>
              <a:srgbClr val="304394"/>
            </a:solidFill>
          </p:grpSpPr>
          <p:pic>
            <p:nvPicPr>
              <p:cNvPr id="10" name="图形 6"/>
              <p:cNvPicPr>
                <a:picLocks noChangeAspect="1"/>
              </p:cNvPicPr>
              <p:nvPr/>
            </p:nvPicPr>
            <p:blipFill>
              <a:blip r:embed="rId2" cstate="print"/>
              <a:stretch>
                <a:fillRect/>
              </a:stretch>
            </p:blipFill>
            <p:spPr>
              <a:xfrm>
                <a:off x="5936891" y="3612719"/>
                <a:ext cx="2552758" cy="80563"/>
              </a:xfrm>
              <a:prstGeom prst="rect">
                <a:avLst/>
              </a:prstGeom>
            </p:spPr>
          </p:pic>
          <p:grpSp>
            <p:nvGrpSpPr>
              <p:cNvPr id="11" name="图形 378"/>
              <p:cNvGrpSpPr/>
              <p:nvPr/>
            </p:nvGrpSpPr>
            <p:grpSpPr>
              <a:xfrm>
                <a:off x="5932112" y="3305663"/>
                <a:ext cx="2553136" cy="260956"/>
                <a:chOff x="5932112" y="3305663"/>
                <a:chExt cx="2553136" cy="260956"/>
              </a:xfrm>
              <a:grpFill/>
            </p:grpSpPr>
            <p:sp>
              <p:nvSpPr>
                <p:cNvPr id="12" name="任意多边形: 形状 12"/>
                <p:cNvSpPr/>
                <p:nvPr/>
              </p:nvSpPr>
              <p:spPr>
                <a:xfrm>
                  <a:off x="5932112" y="3305663"/>
                  <a:ext cx="261335" cy="260767"/>
                </a:xfrm>
                <a:custGeom>
                  <a:avLst/>
                  <a:gdLst>
                    <a:gd name="connsiteX0" fmla="*/ 0 w 261335"/>
                    <a:gd name="connsiteY0" fmla="*/ 130100 h 260767"/>
                    <a:gd name="connsiteX1" fmla="*/ 11552 w 261335"/>
                    <a:gd name="connsiteY1" fmla="*/ 99989 h 260767"/>
                    <a:gd name="connsiteX2" fmla="*/ 22914 w 261335"/>
                    <a:gd name="connsiteY2" fmla="*/ 64766 h 260767"/>
                    <a:gd name="connsiteX3" fmla="*/ 32572 w 261335"/>
                    <a:gd name="connsiteY3" fmla="*/ 29732 h 260767"/>
                    <a:gd name="connsiteX4" fmla="*/ 39200 w 261335"/>
                    <a:gd name="connsiteY4" fmla="*/ 1136 h 260767"/>
                    <a:gd name="connsiteX5" fmla="*/ 78401 w 261335"/>
                    <a:gd name="connsiteY5" fmla="*/ 1136 h 260767"/>
                    <a:gd name="connsiteX6" fmla="*/ 72151 w 261335"/>
                    <a:gd name="connsiteY6" fmla="*/ 28217 h 260767"/>
                    <a:gd name="connsiteX7" fmla="*/ 63819 w 261335"/>
                    <a:gd name="connsiteY7" fmla="*/ 59274 h 260767"/>
                    <a:gd name="connsiteX8" fmla="*/ 63819 w 261335"/>
                    <a:gd name="connsiteY8" fmla="*/ 260768 h 260767"/>
                    <a:gd name="connsiteX9" fmla="*/ 27838 w 261335"/>
                    <a:gd name="connsiteY9" fmla="*/ 260768 h 260767"/>
                    <a:gd name="connsiteX10" fmla="*/ 27838 w 261335"/>
                    <a:gd name="connsiteY10" fmla="*/ 130100 h 260767"/>
                    <a:gd name="connsiteX11" fmla="*/ 0 w 261335"/>
                    <a:gd name="connsiteY11" fmla="*/ 130100 h 260767"/>
                    <a:gd name="connsiteX12" fmla="*/ 150742 w 261335"/>
                    <a:gd name="connsiteY12" fmla="*/ 17233 h 260767"/>
                    <a:gd name="connsiteX13" fmla="*/ 148848 w 261335"/>
                    <a:gd name="connsiteY13" fmla="*/ 8901 h 260767"/>
                    <a:gd name="connsiteX14" fmla="*/ 146386 w 261335"/>
                    <a:gd name="connsiteY14" fmla="*/ 0 h 260767"/>
                    <a:gd name="connsiteX15" fmla="*/ 188806 w 261335"/>
                    <a:gd name="connsiteY15" fmla="*/ 0 h 260767"/>
                    <a:gd name="connsiteX16" fmla="*/ 191267 w 261335"/>
                    <a:gd name="connsiteY16" fmla="*/ 7954 h 260767"/>
                    <a:gd name="connsiteX17" fmla="*/ 193919 w 261335"/>
                    <a:gd name="connsiteY17" fmla="*/ 17044 h 260767"/>
                    <a:gd name="connsiteX18" fmla="*/ 261336 w 261335"/>
                    <a:gd name="connsiteY18" fmla="*/ 17044 h 260767"/>
                    <a:gd name="connsiteX19" fmla="*/ 261336 w 261335"/>
                    <a:gd name="connsiteY19" fmla="*/ 47343 h 260767"/>
                    <a:gd name="connsiteX20" fmla="*/ 86165 w 261335"/>
                    <a:gd name="connsiteY20" fmla="*/ 47343 h 260767"/>
                    <a:gd name="connsiteX21" fmla="*/ 86165 w 261335"/>
                    <a:gd name="connsiteY21" fmla="*/ 17044 h 260767"/>
                    <a:gd name="connsiteX22" fmla="*/ 150742 w 261335"/>
                    <a:gd name="connsiteY22" fmla="*/ 17044 h 260767"/>
                    <a:gd name="connsiteX23" fmla="*/ 255086 w 261335"/>
                    <a:gd name="connsiteY23" fmla="*/ 64198 h 260767"/>
                    <a:gd name="connsiteX24" fmla="*/ 255086 w 261335"/>
                    <a:gd name="connsiteY24" fmla="*/ 93361 h 260767"/>
                    <a:gd name="connsiteX25" fmla="*/ 92225 w 261335"/>
                    <a:gd name="connsiteY25" fmla="*/ 93361 h 260767"/>
                    <a:gd name="connsiteX26" fmla="*/ 92225 w 261335"/>
                    <a:gd name="connsiteY26" fmla="*/ 64198 h 260767"/>
                    <a:gd name="connsiteX27" fmla="*/ 255086 w 261335"/>
                    <a:gd name="connsiteY27" fmla="*/ 64198 h 260767"/>
                    <a:gd name="connsiteX28" fmla="*/ 255086 w 261335"/>
                    <a:gd name="connsiteY28" fmla="*/ 110026 h 260767"/>
                    <a:gd name="connsiteX29" fmla="*/ 255086 w 261335"/>
                    <a:gd name="connsiteY29" fmla="*/ 139568 h 260767"/>
                    <a:gd name="connsiteX30" fmla="*/ 92225 w 261335"/>
                    <a:gd name="connsiteY30" fmla="*/ 139568 h 260767"/>
                    <a:gd name="connsiteX31" fmla="*/ 92225 w 261335"/>
                    <a:gd name="connsiteY31" fmla="*/ 110026 h 260767"/>
                    <a:gd name="connsiteX32" fmla="*/ 255086 w 261335"/>
                    <a:gd name="connsiteY32" fmla="*/ 110026 h 260767"/>
                    <a:gd name="connsiteX33" fmla="*/ 254708 w 261335"/>
                    <a:gd name="connsiteY33" fmla="*/ 156233 h 260767"/>
                    <a:gd name="connsiteX34" fmla="*/ 254708 w 261335"/>
                    <a:gd name="connsiteY34" fmla="*/ 260578 h 260767"/>
                    <a:gd name="connsiteX35" fmla="*/ 92604 w 261335"/>
                    <a:gd name="connsiteY35" fmla="*/ 260578 h 260767"/>
                    <a:gd name="connsiteX36" fmla="*/ 92604 w 261335"/>
                    <a:gd name="connsiteY36" fmla="*/ 156233 h 260767"/>
                    <a:gd name="connsiteX37" fmla="*/ 254708 w 261335"/>
                    <a:gd name="connsiteY37" fmla="*/ 156233 h 260767"/>
                    <a:gd name="connsiteX38" fmla="*/ 128585 w 261335"/>
                    <a:gd name="connsiteY38" fmla="*/ 230657 h 260767"/>
                    <a:gd name="connsiteX39" fmla="*/ 218916 w 261335"/>
                    <a:gd name="connsiteY39" fmla="*/ 230657 h 260767"/>
                    <a:gd name="connsiteX40" fmla="*/ 218916 w 261335"/>
                    <a:gd name="connsiteY40" fmla="*/ 186154 h 260767"/>
                    <a:gd name="connsiteX41" fmla="*/ 128585 w 261335"/>
                    <a:gd name="connsiteY41" fmla="*/ 186154 h 260767"/>
                    <a:gd name="connsiteX42" fmla="*/ 128585 w 261335"/>
                    <a:gd name="connsiteY42" fmla="*/ 230657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1335" h="260767">
                      <a:moveTo>
                        <a:pt x="0" y="130100"/>
                      </a:moveTo>
                      <a:cubicBezTo>
                        <a:pt x="3787" y="121578"/>
                        <a:pt x="7764" y="111541"/>
                        <a:pt x="11552" y="99989"/>
                      </a:cubicBezTo>
                      <a:cubicBezTo>
                        <a:pt x="15529" y="88438"/>
                        <a:pt x="19316" y="76696"/>
                        <a:pt x="22914" y="64766"/>
                      </a:cubicBezTo>
                      <a:cubicBezTo>
                        <a:pt x="26512" y="52646"/>
                        <a:pt x="29732" y="41094"/>
                        <a:pt x="32572" y="29732"/>
                      </a:cubicBezTo>
                      <a:cubicBezTo>
                        <a:pt x="35413" y="18369"/>
                        <a:pt x="37685" y="8901"/>
                        <a:pt x="39200" y="1136"/>
                      </a:cubicBezTo>
                      <a:lnTo>
                        <a:pt x="78401" y="1136"/>
                      </a:lnTo>
                      <a:cubicBezTo>
                        <a:pt x="76696" y="9090"/>
                        <a:pt x="74613" y="18180"/>
                        <a:pt x="72151" y="28217"/>
                      </a:cubicBezTo>
                      <a:cubicBezTo>
                        <a:pt x="69690" y="38253"/>
                        <a:pt x="66849" y="48669"/>
                        <a:pt x="63819" y="59274"/>
                      </a:cubicBezTo>
                      <a:lnTo>
                        <a:pt x="63819" y="260768"/>
                      </a:lnTo>
                      <a:lnTo>
                        <a:pt x="27838" y="260768"/>
                      </a:lnTo>
                      <a:lnTo>
                        <a:pt x="27838" y="130100"/>
                      </a:lnTo>
                      <a:lnTo>
                        <a:pt x="0" y="130100"/>
                      </a:lnTo>
                      <a:close/>
                      <a:moveTo>
                        <a:pt x="150742" y="17233"/>
                      </a:moveTo>
                      <a:cubicBezTo>
                        <a:pt x="150173" y="14392"/>
                        <a:pt x="149605" y="11552"/>
                        <a:pt x="148848" y="8901"/>
                      </a:cubicBezTo>
                      <a:cubicBezTo>
                        <a:pt x="148090" y="6249"/>
                        <a:pt x="147333" y="3219"/>
                        <a:pt x="146386" y="0"/>
                      </a:cubicBezTo>
                      <a:lnTo>
                        <a:pt x="188806" y="0"/>
                      </a:lnTo>
                      <a:cubicBezTo>
                        <a:pt x="189563" y="2462"/>
                        <a:pt x="190321" y="5113"/>
                        <a:pt x="191267" y="7954"/>
                      </a:cubicBezTo>
                      <a:cubicBezTo>
                        <a:pt x="192214" y="10794"/>
                        <a:pt x="192972" y="13824"/>
                        <a:pt x="193919" y="17044"/>
                      </a:cubicBezTo>
                      <a:lnTo>
                        <a:pt x="261336" y="17044"/>
                      </a:lnTo>
                      <a:lnTo>
                        <a:pt x="261336" y="47343"/>
                      </a:lnTo>
                      <a:lnTo>
                        <a:pt x="86165" y="47343"/>
                      </a:lnTo>
                      <a:lnTo>
                        <a:pt x="86165" y="17044"/>
                      </a:lnTo>
                      <a:lnTo>
                        <a:pt x="150742" y="17044"/>
                      </a:lnTo>
                      <a:close/>
                      <a:moveTo>
                        <a:pt x="255086" y="64198"/>
                      </a:moveTo>
                      <a:lnTo>
                        <a:pt x="255086" y="93361"/>
                      </a:lnTo>
                      <a:lnTo>
                        <a:pt x="92225" y="93361"/>
                      </a:lnTo>
                      <a:lnTo>
                        <a:pt x="92225" y="64198"/>
                      </a:lnTo>
                      <a:lnTo>
                        <a:pt x="255086" y="64198"/>
                      </a:lnTo>
                      <a:close/>
                      <a:moveTo>
                        <a:pt x="255086" y="110026"/>
                      </a:moveTo>
                      <a:lnTo>
                        <a:pt x="255086" y="139568"/>
                      </a:lnTo>
                      <a:lnTo>
                        <a:pt x="92225" y="139568"/>
                      </a:lnTo>
                      <a:lnTo>
                        <a:pt x="92225" y="110026"/>
                      </a:lnTo>
                      <a:lnTo>
                        <a:pt x="255086" y="110026"/>
                      </a:lnTo>
                      <a:close/>
                      <a:moveTo>
                        <a:pt x="254708" y="156233"/>
                      </a:moveTo>
                      <a:lnTo>
                        <a:pt x="254708" y="260578"/>
                      </a:lnTo>
                      <a:lnTo>
                        <a:pt x="92604" y="260578"/>
                      </a:lnTo>
                      <a:lnTo>
                        <a:pt x="92604" y="156233"/>
                      </a:lnTo>
                      <a:lnTo>
                        <a:pt x="254708" y="156233"/>
                      </a:lnTo>
                      <a:close/>
                      <a:moveTo>
                        <a:pt x="128585" y="230657"/>
                      </a:moveTo>
                      <a:lnTo>
                        <a:pt x="218916" y="230657"/>
                      </a:lnTo>
                      <a:lnTo>
                        <a:pt x="218916" y="186154"/>
                      </a:lnTo>
                      <a:lnTo>
                        <a:pt x="128585" y="186154"/>
                      </a:lnTo>
                      <a:lnTo>
                        <a:pt x="128585" y="23065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3" name="任意多边形: 形状 13"/>
                <p:cNvSpPr/>
                <p:nvPr/>
              </p:nvSpPr>
              <p:spPr>
                <a:xfrm>
                  <a:off x="6222990" y="3305663"/>
                  <a:ext cx="252813" cy="260767"/>
                </a:xfrm>
                <a:custGeom>
                  <a:avLst/>
                  <a:gdLst>
                    <a:gd name="connsiteX0" fmla="*/ 0 w 252813"/>
                    <a:gd name="connsiteY0" fmla="*/ 260768 h 260767"/>
                    <a:gd name="connsiteX1" fmla="*/ 5113 w 252813"/>
                    <a:gd name="connsiteY1" fmla="*/ 235960 h 260767"/>
                    <a:gd name="connsiteX2" fmla="*/ 9658 w 252813"/>
                    <a:gd name="connsiteY2" fmla="*/ 208690 h 260767"/>
                    <a:gd name="connsiteX3" fmla="*/ 13256 w 252813"/>
                    <a:gd name="connsiteY3" fmla="*/ 181988 h 260767"/>
                    <a:gd name="connsiteX4" fmla="*/ 15339 w 252813"/>
                    <a:gd name="connsiteY4" fmla="*/ 159642 h 260767"/>
                    <a:gd name="connsiteX5" fmla="*/ 53403 w 252813"/>
                    <a:gd name="connsiteY5" fmla="*/ 159642 h 260767"/>
                    <a:gd name="connsiteX6" fmla="*/ 50752 w 252813"/>
                    <a:gd name="connsiteY6" fmla="*/ 184261 h 260767"/>
                    <a:gd name="connsiteX7" fmla="*/ 46965 w 252813"/>
                    <a:gd name="connsiteY7" fmla="*/ 211909 h 260767"/>
                    <a:gd name="connsiteX8" fmla="*/ 42420 w 252813"/>
                    <a:gd name="connsiteY8" fmla="*/ 238800 h 260767"/>
                    <a:gd name="connsiteX9" fmla="*/ 37685 w 252813"/>
                    <a:gd name="connsiteY9" fmla="*/ 260768 h 260767"/>
                    <a:gd name="connsiteX10" fmla="*/ 0 w 252813"/>
                    <a:gd name="connsiteY10" fmla="*/ 260768 h 260767"/>
                    <a:gd name="connsiteX11" fmla="*/ 80484 w 252813"/>
                    <a:gd name="connsiteY11" fmla="*/ 12877 h 260767"/>
                    <a:gd name="connsiteX12" fmla="*/ 84271 w 252813"/>
                    <a:gd name="connsiteY12" fmla="*/ 0 h 260767"/>
                    <a:gd name="connsiteX13" fmla="*/ 134455 w 252813"/>
                    <a:gd name="connsiteY13" fmla="*/ 0 h 260767"/>
                    <a:gd name="connsiteX14" fmla="*/ 132940 w 252813"/>
                    <a:gd name="connsiteY14" fmla="*/ 6439 h 260767"/>
                    <a:gd name="connsiteX15" fmla="*/ 130857 w 252813"/>
                    <a:gd name="connsiteY15" fmla="*/ 12877 h 260767"/>
                    <a:gd name="connsiteX16" fmla="*/ 238043 w 252813"/>
                    <a:gd name="connsiteY16" fmla="*/ 12877 h 260767"/>
                    <a:gd name="connsiteX17" fmla="*/ 238043 w 252813"/>
                    <a:gd name="connsiteY17" fmla="*/ 150741 h 260767"/>
                    <a:gd name="connsiteX18" fmla="*/ 15718 w 252813"/>
                    <a:gd name="connsiteY18" fmla="*/ 150741 h 260767"/>
                    <a:gd name="connsiteX19" fmla="*/ 15718 w 252813"/>
                    <a:gd name="connsiteY19" fmla="*/ 12877 h 260767"/>
                    <a:gd name="connsiteX20" fmla="*/ 80484 w 252813"/>
                    <a:gd name="connsiteY20" fmla="*/ 12877 h 260767"/>
                    <a:gd name="connsiteX21" fmla="*/ 53214 w 252813"/>
                    <a:gd name="connsiteY21" fmla="*/ 53593 h 260767"/>
                    <a:gd name="connsiteX22" fmla="*/ 200547 w 252813"/>
                    <a:gd name="connsiteY22" fmla="*/ 53593 h 260767"/>
                    <a:gd name="connsiteX23" fmla="*/ 200547 w 252813"/>
                    <a:gd name="connsiteY23" fmla="*/ 38443 h 260767"/>
                    <a:gd name="connsiteX24" fmla="*/ 53214 w 252813"/>
                    <a:gd name="connsiteY24" fmla="*/ 38443 h 260767"/>
                    <a:gd name="connsiteX25" fmla="*/ 53214 w 252813"/>
                    <a:gd name="connsiteY25" fmla="*/ 53593 h 260767"/>
                    <a:gd name="connsiteX26" fmla="*/ 53214 w 252813"/>
                    <a:gd name="connsiteY26" fmla="*/ 89384 h 260767"/>
                    <a:gd name="connsiteX27" fmla="*/ 200547 w 252813"/>
                    <a:gd name="connsiteY27" fmla="*/ 89384 h 260767"/>
                    <a:gd name="connsiteX28" fmla="*/ 200547 w 252813"/>
                    <a:gd name="connsiteY28" fmla="*/ 74424 h 260767"/>
                    <a:gd name="connsiteX29" fmla="*/ 53214 w 252813"/>
                    <a:gd name="connsiteY29" fmla="*/ 74424 h 260767"/>
                    <a:gd name="connsiteX30" fmla="*/ 53214 w 252813"/>
                    <a:gd name="connsiteY30" fmla="*/ 89384 h 260767"/>
                    <a:gd name="connsiteX31" fmla="*/ 200547 w 252813"/>
                    <a:gd name="connsiteY31" fmla="*/ 125555 h 260767"/>
                    <a:gd name="connsiteX32" fmla="*/ 200547 w 252813"/>
                    <a:gd name="connsiteY32" fmla="*/ 110594 h 260767"/>
                    <a:gd name="connsiteX33" fmla="*/ 53214 w 252813"/>
                    <a:gd name="connsiteY33" fmla="*/ 110594 h 260767"/>
                    <a:gd name="connsiteX34" fmla="*/ 53214 w 252813"/>
                    <a:gd name="connsiteY34" fmla="*/ 125555 h 260767"/>
                    <a:gd name="connsiteX35" fmla="*/ 200547 w 252813"/>
                    <a:gd name="connsiteY35" fmla="*/ 125555 h 260767"/>
                    <a:gd name="connsiteX36" fmla="*/ 69879 w 252813"/>
                    <a:gd name="connsiteY36" fmla="*/ 260768 h 260767"/>
                    <a:gd name="connsiteX37" fmla="*/ 69879 w 252813"/>
                    <a:gd name="connsiteY37" fmla="*/ 159642 h 260767"/>
                    <a:gd name="connsiteX38" fmla="*/ 108511 w 252813"/>
                    <a:gd name="connsiteY38" fmla="*/ 159642 h 260767"/>
                    <a:gd name="connsiteX39" fmla="*/ 108511 w 252813"/>
                    <a:gd name="connsiteY39" fmla="*/ 227817 h 260767"/>
                    <a:gd name="connsiteX40" fmla="*/ 197706 w 252813"/>
                    <a:gd name="connsiteY40" fmla="*/ 227817 h 260767"/>
                    <a:gd name="connsiteX41" fmla="*/ 197706 w 252813"/>
                    <a:gd name="connsiteY41" fmla="*/ 260768 h 260767"/>
                    <a:gd name="connsiteX42" fmla="*/ 69879 w 252813"/>
                    <a:gd name="connsiteY42" fmla="*/ 260768 h 260767"/>
                    <a:gd name="connsiteX43" fmla="*/ 146575 w 252813"/>
                    <a:gd name="connsiteY43" fmla="*/ 213424 h 260767"/>
                    <a:gd name="connsiteX44" fmla="*/ 139190 w 252813"/>
                    <a:gd name="connsiteY44" fmla="*/ 187291 h 260767"/>
                    <a:gd name="connsiteX45" fmla="*/ 132940 w 252813"/>
                    <a:gd name="connsiteY45" fmla="*/ 159642 h 260767"/>
                    <a:gd name="connsiteX46" fmla="*/ 170436 w 252813"/>
                    <a:gd name="connsiteY46" fmla="*/ 159642 h 260767"/>
                    <a:gd name="connsiteX47" fmla="*/ 176496 w 252813"/>
                    <a:gd name="connsiteY47" fmla="*/ 186722 h 260767"/>
                    <a:gd name="connsiteX48" fmla="*/ 184261 w 252813"/>
                    <a:gd name="connsiteY48" fmla="*/ 213424 h 260767"/>
                    <a:gd name="connsiteX49" fmla="*/ 146575 w 252813"/>
                    <a:gd name="connsiteY49" fmla="*/ 213424 h 260767"/>
                    <a:gd name="connsiteX50" fmla="*/ 216454 w 252813"/>
                    <a:gd name="connsiteY50" fmla="*/ 260768 h 260767"/>
                    <a:gd name="connsiteX51" fmla="*/ 212667 w 252813"/>
                    <a:gd name="connsiteY51" fmla="*/ 238990 h 260767"/>
                    <a:gd name="connsiteX52" fmla="*/ 208311 w 252813"/>
                    <a:gd name="connsiteY52" fmla="*/ 212477 h 260767"/>
                    <a:gd name="connsiteX53" fmla="*/ 204334 w 252813"/>
                    <a:gd name="connsiteY53" fmla="*/ 184829 h 260767"/>
                    <a:gd name="connsiteX54" fmla="*/ 201304 w 252813"/>
                    <a:gd name="connsiteY54" fmla="*/ 159642 h 260767"/>
                    <a:gd name="connsiteX55" fmla="*/ 238043 w 252813"/>
                    <a:gd name="connsiteY55" fmla="*/ 159642 h 260767"/>
                    <a:gd name="connsiteX56" fmla="*/ 240694 w 252813"/>
                    <a:gd name="connsiteY56" fmla="*/ 182935 h 260767"/>
                    <a:gd name="connsiteX57" fmla="*/ 244292 w 252813"/>
                    <a:gd name="connsiteY57" fmla="*/ 209637 h 260767"/>
                    <a:gd name="connsiteX58" fmla="*/ 248458 w 252813"/>
                    <a:gd name="connsiteY58" fmla="*/ 236528 h 260767"/>
                    <a:gd name="connsiteX59" fmla="*/ 252814 w 252813"/>
                    <a:gd name="connsiteY59" fmla="*/ 260768 h 260767"/>
                    <a:gd name="connsiteX60" fmla="*/ 216454 w 252813"/>
                    <a:gd name="connsiteY60"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2813" h="260767">
                      <a:moveTo>
                        <a:pt x="0" y="260768"/>
                      </a:moveTo>
                      <a:cubicBezTo>
                        <a:pt x="1704" y="253382"/>
                        <a:pt x="3409" y="245050"/>
                        <a:pt x="5113" y="235960"/>
                      </a:cubicBezTo>
                      <a:cubicBezTo>
                        <a:pt x="6817" y="226870"/>
                        <a:pt x="8332" y="217780"/>
                        <a:pt x="9658" y="208690"/>
                      </a:cubicBezTo>
                      <a:cubicBezTo>
                        <a:pt x="10984" y="199600"/>
                        <a:pt x="12120" y="190699"/>
                        <a:pt x="13256" y="181988"/>
                      </a:cubicBezTo>
                      <a:cubicBezTo>
                        <a:pt x="14392" y="173466"/>
                        <a:pt x="14961" y="165891"/>
                        <a:pt x="15339" y="159642"/>
                      </a:cubicBezTo>
                      <a:lnTo>
                        <a:pt x="53403" y="159642"/>
                      </a:lnTo>
                      <a:cubicBezTo>
                        <a:pt x="52835" y="166838"/>
                        <a:pt x="51888" y="175171"/>
                        <a:pt x="50752" y="184261"/>
                      </a:cubicBezTo>
                      <a:cubicBezTo>
                        <a:pt x="49616" y="193351"/>
                        <a:pt x="48290" y="202630"/>
                        <a:pt x="46965" y="211909"/>
                      </a:cubicBezTo>
                      <a:cubicBezTo>
                        <a:pt x="45450" y="221188"/>
                        <a:pt x="43935" y="230089"/>
                        <a:pt x="42420" y="238800"/>
                      </a:cubicBezTo>
                      <a:cubicBezTo>
                        <a:pt x="40715" y="247511"/>
                        <a:pt x="39200" y="254708"/>
                        <a:pt x="37685" y="260768"/>
                      </a:cubicBezTo>
                      <a:lnTo>
                        <a:pt x="0" y="260768"/>
                      </a:lnTo>
                      <a:close/>
                      <a:moveTo>
                        <a:pt x="80484" y="12877"/>
                      </a:moveTo>
                      <a:cubicBezTo>
                        <a:pt x="82188" y="8901"/>
                        <a:pt x="83514" y="4545"/>
                        <a:pt x="84271" y="0"/>
                      </a:cubicBezTo>
                      <a:lnTo>
                        <a:pt x="134455" y="0"/>
                      </a:lnTo>
                      <a:cubicBezTo>
                        <a:pt x="134077" y="2083"/>
                        <a:pt x="133508" y="4166"/>
                        <a:pt x="132940" y="6439"/>
                      </a:cubicBezTo>
                      <a:cubicBezTo>
                        <a:pt x="132372" y="8711"/>
                        <a:pt x="131615" y="10794"/>
                        <a:pt x="130857" y="12877"/>
                      </a:cubicBezTo>
                      <a:lnTo>
                        <a:pt x="238043" y="12877"/>
                      </a:lnTo>
                      <a:lnTo>
                        <a:pt x="238043" y="150741"/>
                      </a:lnTo>
                      <a:lnTo>
                        <a:pt x="15718" y="150741"/>
                      </a:lnTo>
                      <a:lnTo>
                        <a:pt x="15718" y="12877"/>
                      </a:lnTo>
                      <a:lnTo>
                        <a:pt x="80484" y="12877"/>
                      </a:lnTo>
                      <a:close/>
                      <a:moveTo>
                        <a:pt x="53214" y="53593"/>
                      </a:moveTo>
                      <a:lnTo>
                        <a:pt x="200547" y="53593"/>
                      </a:lnTo>
                      <a:lnTo>
                        <a:pt x="200547" y="38443"/>
                      </a:lnTo>
                      <a:lnTo>
                        <a:pt x="53214" y="38443"/>
                      </a:lnTo>
                      <a:lnTo>
                        <a:pt x="53214" y="53593"/>
                      </a:lnTo>
                      <a:close/>
                      <a:moveTo>
                        <a:pt x="53214" y="89384"/>
                      </a:moveTo>
                      <a:lnTo>
                        <a:pt x="200547" y="89384"/>
                      </a:lnTo>
                      <a:lnTo>
                        <a:pt x="200547" y="74424"/>
                      </a:lnTo>
                      <a:lnTo>
                        <a:pt x="53214" y="74424"/>
                      </a:lnTo>
                      <a:lnTo>
                        <a:pt x="53214" y="89384"/>
                      </a:lnTo>
                      <a:close/>
                      <a:moveTo>
                        <a:pt x="200547" y="125555"/>
                      </a:moveTo>
                      <a:lnTo>
                        <a:pt x="200547" y="110594"/>
                      </a:lnTo>
                      <a:lnTo>
                        <a:pt x="53214" y="110594"/>
                      </a:lnTo>
                      <a:lnTo>
                        <a:pt x="53214" y="125555"/>
                      </a:lnTo>
                      <a:lnTo>
                        <a:pt x="200547" y="125555"/>
                      </a:lnTo>
                      <a:close/>
                      <a:moveTo>
                        <a:pt x="69879" y="260768"/>
                      </a:moveTo>
                      <a:lnTo>
                        <a:pt x="69879" y="159642"/>
                      </a:lnTo>
                      <a:lnTo>
                        <a:pt x="108511" y="159642"/>
                      </a:lnTo>
                      <a:lnTo>
                        <a:pt x="108511" y="227817"/>
                      </a:lnTo>
                      <a:lnTo>
                        <a:pt x="197706" y="227817"/>
                      </a:lnTo>
                      <a:lnTo>
                        <a:pt x="197706" y="260768"/>
                      </a:lnTo>
                      <a:lnTo>
                        <a:pt x="69879" y="260768"/>
                      </a:lnTo>
                      <a:close/>
                      <a:moveTo>
                        <a:pt x="146575" y="213424"/>
                      </a:moveTo>
                      <a:cubicBezTo>
                        <a:pt x="143924" y="205092"/>
                        <a:pt x="141462" y="196191"/>
                        <a:pt x="139190" y="187291"/>
                      </a:cubicBezTo>
                      <a:cubicBezTo>
                        <a:pt x="136917" y="178201"/>
                        <a:pt x="134834" y="168921"/>
                        <a:pt x="132940" y="159642"/>
                      </a:cubicBezTo>
                      <a:lnTo>
                        <a:pt x="170436" y="159642"/>
                      </a:lnTo>
                      <a:cubicBezTo>
                        <a:pt x="171951" y="168353"/>
                        <a:pt x="174034" y="177443"/>
                        <a:pt x="176496" y="186722"/>
                      </a:cubicBezTo>
                      <a:cubicBezTo>
                        <a:pt x="178958" y="196002"/>
                        <a:pt x="181609" y="204902"/>
                        <a:pt x="184261" y="213424"/>
                      </a:cubicBezTo>
                      <a:lnTo>
                        <a:pt x="146575" y="213424"/>
                      </a:lnTo>
                      <a:close/>
                      <a:moveTo>
                        <a:pt x="216454" y="260768"/>
                      </a:moveTo>
                      <a:cubicBezTo>
                        <a:pt x="215318" y="254708"/>
                        <a:pt x="213992" y="247322"/>
                        <a:pt x="212667" y="238990"/>
                      </a:cubicBezTo>
                      <a:cubicBezTo>
                        <a:pt x="211152" y="230657"/>
                        <a:pt x="209826" y="221757"/>
                        <a:pt x="208311" y="212477"/>
                      </a:cubicBezTo>
                      <a:cubicBezTo>
                        <a:pt x="206796" y="203198"/>
                        <a:pt x="205471" y="193919"/>
                        <a:pt x="204334" y="184829"/>
                      </a:cubicBezTo>
                      <a:cubicBezTo>
                        <a:pt x="203009" y="175739"/>
                        <a:pt x="202062" y="167217"/>
                        <a:pt x="201304" y="159642"/>
                      </a:cubicBezTo>
                      <a:lnTo>
                        <a:pt x="238043" y="159642"/>
                      </a:lnTo>
                      <a:cubicBezTo>
                        <a:pt x="238800" y="166459"/>
                        <a:pt x="239747" y="174224"/>
                        <a:pt x="240694" y="182935"/>
                      </a:cubicBezTo>
                      <a:cubicBezTo>
                        <a:pt x="241830" y="191646"/>
                        <a:pt x="242966" y="200547"/>
                        <a:pt x="244292" y="209637"/>
                      </a:cubicBezTo>
                      <a:cubicBezTo>
                        <a:pt x="245618" y="218727"/>
                        <a:pt x="246943" y="227627"/>
                        <a:pt x="248458" y="236528"/>
                      </a:cubicBezTo>
                      <a:cubicBezTo>
                        <a:pt x="249973" y="245428"/>
                        <a:pt x="251299" y="253382"/>
                        <a:pt x="252814" y="260768"/>
                      </a:cubicBezTo>
                      <a:lnTo>
                        <a:pt x="216454"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4" name="任意多边形: 形状 14"/>
                <p:cNvSpPr/>
                <p:nvPr/>
              </p:nvSpPr>
              <p:spPr>
                <a:xfrm>
                  <a:off x="6505535" y="3305663"/>
                  <a:ext cx="253192" cy="260767"/>
                </a:xfrm>
                <a:custGeom>
                  <a:avLst/>
                  <a:gdLst>
                    <a:gd name="connsiteX0" fmla="*/ 186154 w 253192"/>
                    <a:gd name="connsiteY0" fmla="*/ 170815 h 260767"/>
                    <a:gd name="connsiteX1" fmla="*/ 186154 w 253192"/>
                    <a:gd name="connsiteY1" fmla="*/ 205849 h 260767"/>
                    <a:gd name="connsiteX2" fmla="*/ 0 w 253192"/>
                    <a:gd name="connsiteY2" fmla="*/ 205849 h 260767"/>
                    <a:gd name="connsiteX3" fmla="*/ 0 w 253192"/>
                    <a:gd name="connsiteY3" fmla="*/ 170815 h 260767"/>
                    <a:gd name="connsiteX4" fmla="*/ 186154 w 253192"/>
                    <a:gd name="connsiteY4" fmla="*/ 170815 h 260767"/>
                    <a:gd name="connsiteX5" fmla="*/ 188427 w 253192"/>
                    <a:gd name="connsiteY5" fmla="*/ 260768 h 260767"/>
                    <a:gd name="connsiteX6" fmla="*/ 203387 w 253192"/>
                    <a:gd name="connsiteY6" fmla="*/ 133508 h 260767"/>
                    <a:gd name="connsiteX7" fmla="*/ 20831 w 253192"/>
                    <a:gd name="connsiteY7" fmla="*/ 133508 h 260767"/>
                    <a:gd name="connsiteX8" fmla="*/ 39200 w 253192"/>
                    <a:gd name="connsiteY8" fmla="*/ 0 h 260767"/>
                    <a:gd name="connsiteX9" fmla="*/ 79916 w 253192"/>
                    <a:gd name="connsiteY9" fmla="*/ 0 h 260767"/>
                    <a:gd name="connsiteX10" fmla="*/ 76507 w 253192"/>
                    <a:gd name="connsiteY10" fmla="*/ 25755 h 260767"/>
                    <a:gd name="connsiteX11" fmla="*/ 253193 w 253192"/>
                    <a:gd name="connsiteY11" fmla="*/ 25755 h 260767"/>
                    <a:gd name="connsiteX12" fmla="*/ 253193 w 253192"/>
                    <a:gd name="connsiteY12" fmla="*/ 60410 h 260767"/>
                    <a:gd name="connsiteX13" fmla="*/ 71773 w 253192"/>
                    <a:gd name="connsiteY13" fmla="*/ 60410 h 260767"/>
                    <a:gd name="connsiteX14" fmla="*/ 66849 w 253192"/>
                    <a:gd name="connsiteY14" fmla="*/ 98285 h 260767"/>
                    <a:gd name="connsiteX15" fmla="*/ 248080 w 253192"/>
                    <a:gd name="connsiteY15" fmla="*/ 98285 h 260767"/>
                    <a:gd name="connsiteX16" fmla="*/ 228574 w 253192"/>
                    <a:gd name="connsiteY16" fmla="*/ 260768 h 260767"/>
                    <a:gd name="connsiteX17" fmla="*/ 188427 w 253192"/>
                    <a:gd name="connsiteY17"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3192" h="260767">
                      <a:moveTo>
                        <a:pt x="186154" y="170815"/>
                      </a:moveTo>
                      <a:lnTo>
                        <a:pt x="186154" y="205849"/>
                      </a:lnTo>
                      <a:lnTo>
                        <a:pt x="0" y="205849"/>
                      </a:lnTo>
                      <a:lnTo>
                        <a:pt x="0" y="170815"/>
                      </a:lnTo>
                      <a:lnTo>
                        <a:pt x="186154" y="170815"/>
                      </a:lnTo>
                      <a:close/>
                      <a:moveTo>
                        <a:pt x="188427" y="260768"/>
                      </a:moveTo>
                      <a:lnTo>
                        <a:pt x="203387" y="133508"/>
                      </a:lnTo>
                      <a:lnTo>
                        <a:pt x="20831" y="133508"/>
                      </a:lnTo>
                      <a:lnTo>
                        <a:pt x="39200" y="0"/>
                      </a:lnTo>
                      <a:lnTo>
                        <a:pt x="79916" y="0"/>
                      </a:lnTo>
                      <a:lnTo>
                        <a:pt x="76507" y="25755"/>
                      </a:lnTo>
                      <a:lnTo>
                        <a:pt x="253193" y="25755"/>
                      </a:lnTo>
                      <a:lnTo>
                        <a:pt x="253193" y="60410"/>
                      </a:lnTo>
                      <a:lnTo>
                        <a:pt x="71773" y="60410"/>
                      </a:lnTo>
                      <a:lnTo>
                        <a:pt x="66849" y="98285"/>
                      </a:lnTo>
                      <a:lnTo>
                        <a:pt x="248080" y="98285"/>
                      </a:lnTo>
                      <a:lnTo>
                        <a:pt x="228574" y="260768"/>
                      </a:lnTo>
                      <a:lnTo>
                        <a:pt x="188427"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5" name="任意多边形: 形状 15"/>
                <p:cNvSpPr/>
                <p:nvPr/>
              </p:nvSpPr>
              <p:spPr>
                <a:xfrm>
                  <a:off x="6792436" y="3305663"/>
                  <a:ext cx="259442" cy="260956"/>
                </a:xfrm>
                <a:custGeom>
                  <a:avLst/>
                  <a:gdLst>
                    <a:gd name="connsiteX0" fmla="*/ 62493 w 259442"/>
                    <a:gd name="connsiteY0" fmla="*/ 179905 h 260956"/>
                    <a:gd name="connsiteX1" fmla="*/ 62493 w 259442"/>
                    <a:gd name="connsiteY1" fmla="*/ 145060 h 260956"/>
                    <a:gd name="connsiteX2" fmla="*/ 1515 w 259442"/>
                    <a:gd name="connsiteY2" fmla="*/ 145060 h 260956"/>
                    <a:gd name="connsiteX3" fmla="*/ 13067 w 259442"/>
                    <a:gd name="connsiteY3" fmla="*/ 100179 h 260956"/>
                    <a:gd name="connsiteX4" fmla="*/ 21778 w 259442"/>
                    <a:gd name="connsiteY4" fmla="*/ 55865 h 260956"/>
                    <a:gd name="connsiteX5" fmla="*/ 2273 w 259442"/>
                    <a:gd name="connsiteY5" fmla="*/ 55865 h 260956"/>
                    <a:gd name="connsiteX6" fmla="*/ 2273 w 259442"/>
                    <a:gd name="connsiteY6" fmla="*/ 27459 h 260956"/>
                    <a:gd name="connsiteX7" fmla="*/ 26134 w 259442"/>
                    <a:gd name="connsiteY7" fmla="*/ 27459 h 260956"/>
                    <a:gd name="connsiteX8" fmla="*/ 28974 w 259442"/>
                    <a:gd name="connsiteY8" fmla="*/ 0 h 260956"/>
                    <a:gd name="connsiteX9" fmla="*/ 64576 w 259442"/>
                    <a:gd name="connsiteY9" fmla="*/ 0 h 260956"/>
                    <a:gd name="connsiteX10" fmla="*/ 62872 w 259442"/>
                    <a:gd name="connsiteY10" fmla="*/ 13635 h 260956"/>
                    <a:gd name="connsiteX11" fmla="*/ 60789 w 259442"/>
                    <a:gd name="connsiteY11" fmla="*/ 27459 h 260956"/>
                    <a:gd name="connsiteX12" fmla="*/ 121767 w 259442"/>
                    <a:gd name="connsiteY12" fmla="*/ 27459 h 260956"/>
                    <a:gd name="connsiteX13" fmla="*/ 121767 w 259442"/>
                    <a:gd name="connsiteY13" fmla="*/ 55865 h 260956"/>
                    <a:gd name="connsiteX14" fmla="*/ 56244 w 259442"/>
                    <a:gd name="connsiteY14" fmla="*/ 55865 h 260956"/>
                    <a:gd name="connsiteX15" fmla="*/ 49995 w 259442"/>
                    <a:gd name="connsiteY15" fmla="*/ 87680 h 260956"/>
                    <a:gd name="connsiteX16" fmla="*/ 43177 w 259442"/>
                    <a:gd name="connsiteY16" fmla="*/ 116654 h 260956"/>
                    <a:gd name="connsiteX17" fmla="*/ 64576 w 259442"/>
                    <a:gd name="connsiteY17" fmla="*/ 116654 h 260956"/>
                    <a:gd name="connsiteX18" fmla="*/ 64576 w 259442"/>
                    <a:gd name="connsiteY18" fmla="*/ 69121 h 260956"/>
                    <a:gd name="connsiteX19" fmla="*/ 99043 w 259442"/>
                    <a:gd name="connsiteY19" fmla="*/ 69121 h 260956"/>
                    <a:gd name="connsiteX20" fmla="*/ 99043 w 259442"/>
                    <a:gd name="connsiteY20" fmla="*/ 116654 h 260956"/>
                    <a:gd name="connsiteX21" fmla="*/ 124419 w 259442"/>
                    <a:gd name="connsiteY21" fmla="*/ 116654 h 260956"/>
                    <a:gd name="connsiteX22" fmla="*/ 124419 w 259442"/>
                    <a:gd name="connsiteY22" fmla="*/ 145060 h 260956"/>
                    <a:gd name="connsiteX23" fmla="*/ 99232 w 259442"/>
                    <a:gd name="connsiteY23" fmla="*/ 145060 h 260956"/>
                    <a:gd name="connsiteX24" fmla="*/ 99232 w 259442"/>
                    <a:gd name="connsiteY24" fmla="*/ 176496 h 260956"/>
                    <a:gd name="connsiteX25" fmla="*/ 125365 w 259442"/>
                    <a:gd name="connsiteY25" fmla="*/ 173845 h 260956"/>
                    <a:gd name="connsiteX26" fmla="*/ 125365 w 259442"/>
                    <a:gd name="connsiteY26" fmla="*/ 203955 h 260956"/>
                    <a:gd name="connsiteX27" fmla="*/ 99232 w 259442"/>
                    <a:gd name="connsiteY27" fmla="*/ 206607 h 260956"/>
                    <a:gd name="connsiteX28" fmla="*/ 99232 w 259442"/>
                    <a:gd name="connsiteY28" fmla="*/ 260768 h 260956"/>
                    <a:gd name="connsiteX29" fmla="*/ 62493 w 259442"/>
                    <a:gd name="connsiteY29" fmla="*/ 260768 h 260956"/>
                    <a:gd name="connsiteX30" fmla="*/ 62493 w 259442"/>
                    <a:gd name="connsiteY30" fmla="*/ 210015 h 260956"/>
                    <a:gd name="connsiteX31" fmla="*/ 0 w 259442"/>
                    <a:gd name="connsiteY31" fmla="*/ 215697 h 260956"/>
                    <a:gd name="connsiteX32" fmla="*/ 0 w 259442"/>
                    <a:gd name="connsiteY32" fmla="*/ 185586 h 260956"/>
                    <a:gd name="connsiteX33" fmla="*/ 62493 w 259442"/>
                    <a:gd name="connsiteY33" fmla="*/ 179905 h 260956"/>
                    <a:gd name="connsiteX34" fmla="*/ 220999 w 259442"/>
                    <a:gd name="connsiteY34" fmla="*/ 260768 h 260956"/>
                    <a:gd name="connsiteX35" fmla="*/ 204145 w 259442"/>
                    <a:gd name="connsiteY35" fmla="*/ 205470 h 260956"/>
                    <a:gd name="connsiteX36" fmla="*/ 190699 w 259442"/>
                    <a:gd name="connsiteY36" fmla="*/ 146386 h 260956"/>
                    <a:gd name="connsiteX37" fmla="*/ 175739 w 259442"/>
                    <a:gd name="connsiteY37" fmla="*/ 208311 h 260956"/>
                    <a:gd name="connsiteX38" fmla="*/ 158317 w 259442"/>
                    <a:gd name="connsiteY38" fmla="*/ 260768 h 260956"/>
                    <a:gd name="connsiteX39" fmla="*/ 118548 w 259442"/>
                    <a:gd name="connsiteY39" fmla="*/ 260768 h 260956"/>
                    <a:gd name="connsiteX40" fmla="*/ 132751 w 259442"/>
                    <a:gd name="connsiteY40" fmla="*/ 222893 h 260956"/>
                    <a:gd name="connsiteX41" fmla="*/ 146007 w 259442"/>
                    <a:gd name="connsiteY41" fmla="*/ 178579 h 260956"/>
                    <a:gd name="connsiteX42" fmla="*/ 157370 w 259442"/>
                    <a:gd name="connsiteY42" fmla="*/ 132372 h 260956"/>
                    <a:gd name="connsiteX43" fmla="*/ 165513 w 259442"/>
                    <a:gd name="connsiteY43" fmla="*/ 88438 h 260956"/>
                    <a:gd name="connsiteX44" fmla="*/ 200547 w 259442"/>
                    <a:gd name="connsiteY44" fmla="*/ 88438 h 260956"/>
                    <a:gd name="connsiteX45" fmla="*/ 199032 w 259442"/>
                    <a:gd name="connsiteY45" fmla="*/ 98664 h 260956"/>
                    <a:gd name="connsiteX46" fmla="*/ 197327 w 259442"/>
                    <a:gd name="connsiteY46" fmla="*/ 108890 h 260956"/>
                    <a:gd name="connsiteX47" fmla="*/ 217969 w 259442"/>
                    <a:gd name="connsiteY47" fmla="*/ 108890 h 260956"/>
                    <a:gd name="connsiteX48" fmla="*/ 235392 w 259442"/>
                    <a:gd name="connsiteY48" fmla="*/ 185018 h 260956"/>
                    <a:gd name="connsiteX49" fmla="*/ 259442 w 259442"/>
                    <a:gd name="connsiteY49" fmla="*/ 260957 h 260956"/>
                    <a:gd name="connsiteX50" fmla="*/ 220999 w 259442"/>
                    <a:gd name="connsiteY50" fmla="*/ 260957 h 260956"/>
                    <a:gd name="connsiteX51" fmla="*/ 118927 w 259442"/>
                    <a:gd name="connsiteY51" fmla="*/ 94497 h 260956"/>
                    <a:gd name="connsiteX52" fmla="*/ 129910 w 259442"/>
                    <a:gd name="connsiteY52" fmla="*/ 46397 h 260956"/>
                    <a:gd name="connsiteX53" fmla="*/ 136349 w 259442"/>
                    <a:gd name="connsiteY53" fmla="*/ 0 h 260956"/>
                    <a:gd name="connsiteX54" fmla="*/ 172520 w 259442"/>
                    <a:gd name="connsiteY54" fmla="*/ 0 h 260956"/>
                    <a:gd name="connsiteX55" fmla="*/ 171383 w 259442"/>
                    <a:gd name="connsiteY55" fmla="*/ 10226 h 260956"/>
                    <a:gd name="connsiteX56" fmla="*/ 170247 w 259442"/>
                    <a:gd name="connsiteY56" fmla="*/ 20831 h 260956"/>
                    <a:gd name="connsiteX57" fmla="*/ 258495 w 259442"/>
                    <a:gd name="connsiteY57" fmla="*/ 20831 h 260956"/>
                    <a:gd name="connsiteX58" fmla="*/ 255844 w 259442"/>
                    <a:gd name="connsiteY58" fmla="*/ 40337 h 260956"/>
                    <a:gd name="connsiteX59" fmla="*/ 252625 w 259442"/>
                    <a:gd name="connsiteY59" fmla="*/ 60221 h 260956"/>
                    <a:gd name="connsiteX60" fmla="*/ 249026 w 259442"/>
                    <a:gd name="connsiteY60" fmla="*/ 79348 h 260956"/>
                    <a:gd name="connsiteX61" fmla="*/ 245239 w 259442"/>
                    <a:gd name="connsiteY61" fmla="*/ 96391 h 260956"/>
                    <a:gd name="connsiteX62" fmla="*/ 208311 w 259442"/>
                    <a:gd name="connsiteY62" fmla="*/ 96391 h 260956"/>
                    <a:gd name="connsiteX63" fmla="*/ 215318 w 259442"/>
                    <a:gd name="connsiteY63" fmla="*/ 73288 h 260956"/>
                    <a:gd name="connsiteX64" fmla="*/ 219674 w 259442"/>
                    <a:gd name="connsiteY64" fmla="*/ 51699 h 260956"/>
                    <a:gd name="connsiteX65" fmla="*/ 165513 w 259442"/>
                    <a:gd name="connsiteY65" fmla="*/ 51699 h 260956"/>
                    <a:gd name="connsiteX66" fmla="*/ 161157 w 259442"/>
                    <a:gd name="connsiteY66" fmla="*/ 74234 h 260956"/>
                    <a:gd name="connsiteX67" fmla="*/ 156612 w 259442"/>
                    <a:gd name="connsiteY67" fmla="*/ 94497 h 260956"/>
                    <a:gd name="connsiteX68" fmla="*/ 118927 w 259442"/>
                    <a:gd name="connsiteY68" fmla="*/ 94497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59442" h="260956">
                      <a:moveTo>
                        <a:pt x="62493" y="179905"/>
                      </a:moveTo>
                      <a:lnTo>
                        <a:pt x="62493" y="145060"/>
                      </a:lnTo>
                      <a:lnTo>
                        <a:pt x="1515" y="145060"/>
                      </a:lnTo>
                      <a:cubicBezTo>
                        <a:pt x="5871" y="130289"/>
                        <a:pt x="9847" y="115329"/>
                        <a:pt x="13067" y="100179"/>
                      </a:cubicBezTo>
                      <a:cubicBezTo>
                        <a:pt x="16476" y="85029"/>
                        <a:pt x="19316" y="70258"/>
                        <a:pt x="21778" y="55865"/>
                      </a:cubicBezTo>
                      <a:lnTo>
                        <a:pt x="2273" y="55865"/>
                      </a:lnTo>
                      <a:lnTo>
                        <a:pt x="2273" y="27459"/>
                      </a:lnTo>
                      <a:lnTo>
                        <a:pt x="26134" y="27459"/>
                      </a:lnTo>
                      <a:lnTo>
                        <a:pt x="28974" y="0"/>
                      </a:lnTo>
                      <a:lnTo>
                        <a:pt x="64576" y="0"/>
                      </a:lnTo>
                      <a:cubicBezTo>
                        <a:pt x="64008" y="4356"/>
                        <a:pt x="63440" y="8901"/>
                        <a:pt x="62872" y="13635"/>
                      </a:cubicBezTo>
                      <a:cubicBezTo>
                        <a:pt x="62304" y="18369"/>
                        <a:pt x="61546" y="22914"/>
                        <a:pt x="60789" y="27459"/>
                      </a:cubicBezTo>
                      <a:lnTo>
                        <a:pt x="121767" y="27459"/>
                      </a:lnTo>
                      <a:lnTo>
                        <a:pt x="121767" y="55865"/>
                      </a:lnTo>
                      <a:lnTo>
                        <a:pt x="56244" y="55865"/>
                      </a:lnTo>
                      <a:cubicBezTo>
                        <a:pt x="54350" y="66660"/>
                        <a:pt x="52267" y="77264"/>
                        <a:pt x="49995" y="87680"/>
                      </a:cubicBezTo>
                      <a:cubicBezTo>
                        <a:pt x="47722" y="97906"/>
                        <a:pt x="45639" y="107564"/>
                        <a:pt x="43177" y="116654"/>
                      </a:cubicBezTo>
                      <a:lnTo>
                        <a:pt x="64576" y="116654"/>
                      </a:lnTo>
                      <a:lnTo>
                        <a:pt x="64576" y="69121"/>
                      </a:lnTo>
                      <a:lnTo>
                        <a:pt x="99043" y="69121"/>
                      </a:lnTo>
                      <a:lnTo>
                        <a:pt x="99043" y="116654"/>
                      </a:lnTo>
                      <a:lnTo>
                        <a:pt x="124419" y="116654"/>
                      </a:lnTo>
                      <a:lnTo>
                        <a:pt x="124419" y="145060"/>
                      </a:lnTo>
                      <a:lnTo>
                        <a:pt x="99232" y="145060"/>
                      </a:lnTo>
                      <a:lnTo>
                        <a:pt x="99232" y="176496"/>
                      </a:lnTo>
                      <a:lnTo>
                        <a:pt x="125365" y="173845"/>
                      </a:lnTo>
                      <a:lnTo>
                        <a:pt x="125365" y="203955"/>
                      </a:lnTo>
                      <a:lnTo>
                        <a:pt x="99232" y="206607"/>
                      </a:lnTo>
                      <a:lnTo>
                        <a:pt x="99232" y="260768"/>
                      </a:lnTo>
                      <a:lnTo>
                        <a:pt x="62493" y="260768"/>
                      </a:lnTo>
                      <a:lnTo>
                        <a:pt x="62493" y="210015"/>
                      </a:lnTo>
                      <a:lnTo>
                        <a:pt x="0" y="215697"/>
                      </a:lnTo>
                      <a:lnTo>
                        <a:pt x="0" y="185586"/>
                      </a:lnTo>
                      <a:lnTo>
                        <a:pt x="62493" y="179905"/>
                      </a:lnTo>
                      <a:close/>
                      <a:moveTo>
                        <a:pt x="220999" y="260768"/>
                      </a:moveTo>
                      <a:cubicBezTo>
                        <a:pt x="214939" y="242777"/>
                        <a:pt x="209258" y="224408"/>
                        <a:pt x="204145" y="205470"/>
                      </a:cubicBezTo>
                      <a:cubicBezTo>
                        <a:pt x="199032" y="186533"/>
                        <a:pt x="194487" y="166838"/>
                        <a:pt x="190699" y="146386"/>
                      </a:cubicBezTo>
                      <a:cubicBezTo>
                        <a:pt x="186344" y="167974"/>
                        <a:pt x="181420" y="188616"/>
                        <a:pt x="175739" y="208311"/>
                      </a:cubicBezTo>
                      <a:cubicBezTo>
                        <a:pt x="170247" y="228006"/>
                        <a:pt x="164376" y="245428"/>
                        <a:pt x="158317" y="260768"/>
                      </a:cubicBezTo>
                      <a:lnTo>
                        <a:pt x="118548" y="260768"/>
                      </a:lnTo>
                      <a:cubicBezTo>
                        <a:pt x="123282" y="249595"/>
                        <a:pt x="128017" y="237096"/>
                        <a:pt x="132751" y="222893"/>
                      </a:cubicBezTo>
                      <a:cubicBezTo>
                        <a:pt x="137485" y="208690"/>
                        <a:pt x="141841" y="193919"/>
                        <a:pt x="146007" y="178579"/>
                      </a:cubicBezTo>
                      <a:cubicBezTo>
                        <a:pt x="150173" y="163240"/>
                        <a:pt x="153961" y="147901"/>
                        <a:pt x="157370" y="132372"/>
                      </a:cubicBezTo>
                      <a:cubicBezTo>
                        <a:pt x="160778" y="116844"/>
                        <a:pt x="163430" y="102072"/>
                        <a:pt x="165513" y="88438"/>
                      </a:cubicBezTo>
                      <a:lnTo>
                        <a:pt x="200547" y="88438"/>
                      </a:lnTo>
                      <a:cubicBezTo>
                        <a:pt x="200168" y="91846"/>
                        <a:pt x="199600" y="95255"/>
                        <a:pt x="199032" y="98664"/>
                      </a:cubicBezTo>
                      <a:cubicBezTo>
                        <a:pt x="198464" y="102072"/>
                        <a:pt x="197896" y="105481"/>
                        <a:pt x="197327" y="108890"/>
                      </a:cubicBezTo>
                      <a:lnTo>
                        <a:pt x="217969" y="108890"/>
                      </a:lnTo>
                      <a:cubicBezTo>
                        <a:pt x="222325" y="133508"/>
                        <a:pt x="228195" y="158885"/>
                        <a:pt x="235392" y="185018"/>
                      </a:cubicBezTo>
                      <a:cubicBezTo>
                        <a:pt x="242588" y="211152"/>
                        <a:pt x="250731" y="236528"/>
                        <a:pt x="259442" y="260957"/>
                      </a:cubicBezTo>
                      <a:lnTo>
                        <a:pt x="220999" y="260957"/>
                      </a:lnTo>
                      <a:close/>
                      <a:moveTo>
                        <a:pt x="118927" y="94497"/>
                      </a:moveTo>
                      <a:cubicBezTo>
                        <a:pt x="123282" y="78969"/>
                        <a:pt x="127070" y="63061"/>
                        <a:pt x="129910" y="46397"/>
                      </a:cubicBezTo>
                      <a:cubicBezTo>
                        <a:pt x="132940" y="29732"/>
                        <a:pt x="135023" y="14392"/>
                        <a:pt x="136349" y="0"/>
                      </a:cubicBezTo>
                      <a:lnTo>
                        <a:pt x="172520" y="0"/>
                      </a:lnTo>
                      <a:cubicBezTo>
                        <a:pt x="172141" y="3409"/>
                        <a:pt x="171762" y="6817"/>
                        <a:pt x="171383" y="10226"/>
                      </a:cubicBezTo>
                      <a:cubicBezTo>
                        <a:pt x="171004" y="13635"/>
                        <a:pt x="170626" y="17233"/>
                        <a:pt x="170247" y="20831"/>
                      </a:cubicBezTo>
                      <a:lnTo>
                        <a:pt x="258495" y="20831"/>
                      </a:lnTo>
                      <a:cubicBezTo>
                        <a:pt x="257738" y="27080"/>
                        <a:pt x="256791" y="33709"/>
                        <a:pt x="255844" y="40337"/>
                      </a:cubicBezTo>
                      <a:cubicBezTo>
                        <a:pt x="254897" y="46965"/>
                        <a:pt x="253761" y="53593"/>
                        <a:pt x="252625" y="60221"/>
                      </a:cubicBezTo>
                      <a:cubicBezTo>
                        <a:pt x="251488" y="66849"/>
                        <a:pt x="250352" y="73288"/>
                        <a:pt x="249026" y="79348"/>
                      </a:cubicBezTo>
                      <a:cubicBezTo>
                        <a:pt x="247701" y="85597"/>
                        <a:pt x="246565" y="91278"/>
                        <a:pt x="245239" y="96391"/>
                      </a:cubicBezTo>
                      <a:lnTo>
                        <a:pt x="208311" y="96391"/>
                      </a:lnTo>
                      <a:cubicBezTo>
                        <a:pt x="210962" y="89195"/>
                        <a:pt x="213235" y="81431"/>
                        <a:pt x="215318" y="73288"/>
                      </a:cubicBezTo>
                      <a:cubicBezTo>
                        <a:pt x="217401" y="65145"/>
                        <a:pt x="218727" y="57948"/>
                        <a:pt x="219674" y="51699"/>
                      </a:cubicBezTo>
                      <a:lnTo>
                        <a:pt x="165513" y="51699"/>
                      </a:lnTo>
                      <a:cubicBezTo>
                        <a:pt x="164187" y="59463"/>
                        <a:pt x="162672" y="67038"/>
                        <a:pt x="161157" y="74234"/>
                      </a:cubicBezTo>
                      <a:cubicBezTo>
                        <a:pt x="159642" y="81431"/>
                        <a:pt x="158127" y="88059"/>
                        <a:pt x="156612" y="94497"/>
                      </a:cubicBezTo>
                      <a:lnTo>
                        <a:pt x="118927" y="9449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6" name="任意多边形: 形状 16"/>
                <p:cNvSpPr/>
                <p:nvPr/>
              </p:nvSpPr>
              <p:spPr>
                <a:xfrm>
                  <a:off x="7078391" y="3305663"/>
                  <a:ext cx="261335" cy="260956"/>
                </a:xfrm>
                <a:custGeom>
                  <a:avLst/>
                  <a:gdLst>
                    <a:gd name="connsiteX0" fmla="*/ 0 w 261335"/>
                    <a:gd name="connsiteY0" fmla="*/ 130857 h 260956"/>
                    <a:gd name="connsiteX1" fmla="*/ 13446 w 261335"/>
                    <a:gd name="connsiteY1" fmla="*/ 97717 h 260956"/>
                    <a:gd name="connsiteX2" fmla="*/ 24997 w 261335"/>
                    <a:gd name="connsiteY2" fmla="*/ 62872 h 260956"/>
                    <a:gd name="connsiteX3" fmla="*/ 34277 w 261335"/>
                    <a:gd name="connsiteY3" fmla="*/ 29732 h 260956"/>
                    <a:gd name="connsiteX4" fmla="*/ 41094 w 261335"/>
                    <a:gd name="connsiteY4" fmla="*/ 1515 h 260956"/>
                    <a:gd name="connsiteX5" fmla="*/ 80863 w 261335"/>
                    <a:gd name="connsiteY5" fmla="*/ 1515 h 260956"/>
                    <a:gd name="connsiteX6" fmla="*/ 74424 w 261335"/>
                    <a:gd name="connsiteY6" fmla="*/ 26323 h 260956"/>
                    <a:gd name="connsiteX7" fmla="*/ 66470 w 261335"/>
                    <a:gd name="connsiteY7" fmla="*/ 54350 h 260956"/>
                    <a:gd name="connsiteX8" fmla="*/ 66470 w 261335"/>
                    <a:gd name="connsiteY8" fmla="*/ 260578 h 260956"/>
                    <a:gd name="connsiteX9" fmla="*/ 29164 w 261335"/>
                    <a:gd name="connsiteY9" fmla="*/ 260578 h 260956"/>
                    <a:gd name="connsiteX10" fmla="*/ 29164 w 261335"/>
                    <a:gd name="connsiteY10" fmla="*/ 130857 h 260956"/>
                    <a:gd name="connsiteX11" fmla="*/ 0 w 261335"/>
                    <a:gd name="connsiteY11" fmla="*/ 130857 h 260956"/>
                    <a:gd name="connsiteX12" fmla="*/ 78022 w 261335"/>
                    <a:gd name="connsiteY12" fmla="*/ 115139 h 260956"/>
                    <a:gd name="connsiteX13" fmla="*/ 85786 w 261335"/>
                    <a:gd name="connsiteY13" fmla="*/ 85976 h 260956"/>
                    <a:gd name="connsiteX14" fmla="*/ 92036 w 261335"/>
                    <a:gd name="connsiteY14" fmla="*/ 58138 h 260956"/>
                    <a:gd name="connsiteX15" fmla="*/ 96959 w 261335"/>
                    <a:gd name="connsiteY15" fmla="*/ 30868 h 260956"/>
                    <a:gd name="connsiteX16" fmla="*/ 101126 w 261335"/>
                    <a:gd name="connsiteY16" fmla="*/ 2651 h 260956"/>
                    <a:gd name="connsiteX17" fmla="*/ 136728 w 261335"/>
                    <a:gd name="connsiteY17" fmla="*/ 2651 h 260956"/>
                    <a:gd name="connsiteX18" fmla="*/ 134455 w 261335"/>
                    <a:gd name="connsiteY18" fmla="*/ 19505 h 260956"/>
                    <a:gd name="connsiteX19" fmla="*/ 131804 w 261335"/>
                    <a:gd name="connsiteY19" fmla="*/ 37496 h 260956"/>
                    <a:gd name="connsiteX20" fmla="*/ 159831 w 261335"/>
                    <a:gd name="connsiteY20" fmla="*/ 37496 h 260956"/>
                    <a:gd name="connsiteX21" fmla="*/ 159831 w 261335"/>
                    <a:gd name="connsiteY21" fmla="*/ 0 h 260956"/>
                    <a:gd name="connsiteX22" fmla="*/ 197138 w 261335"/>
                    <a:gd name="connsiteY22" fmla="*/ 0 h 260956"/>
                    <a:gd name="connsiteX23" fmla="*/ 197138 w 261335"/>
                    <a:gd name="connsiteY23" fmla="*/ 37307 h 260956"/>
                    <a:gd name="connsiteX24" fmla="*/ 255655 w 261335"/>
                    <a:gd name="connsiteY24" fmla="*/ 37307 h 260956"/>
                    <a:gd name="connsiteX25" fmla="*/ 255655 w 261335"/>
                    <a:gd name="connsiteY25" fmla="*/ 69690 h 260956"/>
                    <a:gd name="connsiteX26" fmla="*/ 197138 w 261335"/>
                    <a:gd name="connsiteY26" fmla="*/ 69690 h 260956"/>
                    <a:gd name="connsiteX27" fmla="*/ 197138 w 261335"/>
                    <a:gd name="connsiteY27" fmla="*/ 139379 h 260956"/>
                    <a:gd name="connsiteX28" fmla="*/ 261336 w 261335"/>
                    <a:gd name="connsiteY28" fmla="*/ 139379 h 260956"/>
                    <a:gd name="connsiteX29" fmla="*/ 261336 w 261335"/>
                    <a:gd name="connsiteY29" fmla="*/ 171194 h 260956"/>
                    <a:gd name="connsiteX30" fmla="*/ 197138 w 261335"/>
                    <a:gd name="connsiteY30" fmla="*/ 171194 h 260956"/>
                    <a:gd name="connsiteX31" fmla="*/ 197138 w 261335"/>
                    <a:gd name="connsiteY31" fmla="*/ 260957 h 260956"/>
                    <a:gd name="connsiteX32" fmla="*/ 159831 w 261335"/>
                    <a:gd name="connsiteY32" fmla="*/ 260957 h 260956"/>
                    <a:gd name="connsiteX33" fmla="*/ 159831 w 261335"/>
                    <a:gd name="connsiteY33" fmla="*/ 171004 h 260956"/>
                    <a:gd name="connsiteX34" fmla="*/ 81620 w 261335"/>
                    <a:gd name="connsiteY34" fmla="*/ 171004 h 260956"/>
                    <a:gd name="connsiteX35" fmla="*/ 81620 w 261335"/>
                    <a:gd name="connsiteY35" fmla="*/ 139190 h 260956"/>
                    <a:gd name="connsiteX36" fmla="*/ 159831 w 261335"/>
                    <a:gd name="connsiteY36" fmla="*/ 139190 h 260956"/>
                    <a:gd name="connsiteX37" fmla="*/ 159831 w 261335"/>
                    <a:gd name="connsiteY37" fmla="*/ 69690 h 260956"/>
                    <a:gd name="connsiteX38" fmla="*/ 125744 w 261335"/>
                    <a:gd name="connsiteY38" fmla="*/ 69690 h 260956"/>
                    <a:gd name="connsiteX39" fmla="*/ 120442 w 261335"/>
                    <a:gd name="connsiteY39" fmla="*/ 93361 h 260956"/>
                    <a:gd name="connsiteX40" fmla="*/ 114571 w 261335"/>
                    <a:gd name="connsiteY40" fmla="*/ 115329 h 260956"/>
                    <a:gd name="connsiteX41" fmla="*/ 78022 w 261335"/>
                    <a:gd name="connsiteY41" fmla="*/ 11532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61335" h="260956">
                      <a:moveTo>
                        <a:pt x="0" y="130857"/>
                      </a:moveTo>
                      <a:cubicBezTo>
                        <a:pt x="4734" y="120631"/>
                        <a:pt x="9279" y="109458"/>
                        <a:pt x="13446" y="97717"/>
                      </a:cubicBezTo>
                      <a:cubicBezTo>
                        <a:pt x="17612" y="85976"/>
                        <a:pt x="21589" y="74424"/>
                        <a:pt x="24997" y="62872"/>
                      </a:cubicBezTo>
                      <a:cubicBezTo>
                        <a:pt x="28596" y="51320"/>
                        <a:pt x="31625" y="40337"/>
                        <a:pt x="34277" y="29732"/>
                      </a:cubicBezTo>
                      <a:cubicBezTo>
                        <a:pt x="36928" y="19127"/>
                        <a:pt x="39200" y="9658"/>
                        <a:pt x="41094" y="1515"/>
                      </a:cubicBezTo>
                      <a:lnTo>
                        <a:pt x="80863" y="1515"/>
                      </a:lnTo>
                      <a:cubicBezTo>
                        <a:pt x="78969" y="9090"/>
                        <a:pt x="76886" y="17422"/>
                        <a:pt x="74424" y="26323"/>
                      </a:cubicBezTo>
                      <a:cubicBezTo>
                        <a:pt x="71962" y="35224"/>
                        <a:pt x="69500" y="44503"/>
                        <a:pt x="66470" y="54350"/>
                      </a:cubicBezTo>
                      <a:lnTo>
                        <a:pt x="66470" y="260578"/>
                      </a:lnTo>
                      <a:lnTo>
                        <a:pt x="29164" y="260578"/>
                      </a:lnTo>
                      <a:lnTo>
                        <a:pt x="29164" y="130857"/>
                      </a:lnTo>
                      <a:lnTo>
                        <a:pt x="0" y="130857"/>
                      </a:lnTo>
                      <a:close/>
                      <a:moveTo>
                        <a:pt x="78022" y="115139"/>
                      </a:moveTo>
                      <a:cubicBezTo>
                        <a:pt x="80863" y="105102"/>
                        <a:pt x="83514" y="95255"/>
                        <a:pt x="85786" y="85976"/>
                      </a:cubicBezTo>
                      <a:cubicBezTo>
                        <a:pt x="88059" y="76696"/>
                        <a:pt x="90142" y="67417"/>
                        <a:pt x="92036" y="58138"/>
                      </a:cubicBezTo>
                      <a:cubicBezTo>
                        <a:pt x="93929" y="49048"/>
                        <a:pt x="95634" y="39768"/>
                        <a:pt x="96959" y="30868"/>
                      </a:cubicBezTo>
                      <a:cubicBezTo>
                        <a:pt x="98474" y="21778"/>
                        <a:pt x="99800" y="12309"/>
                        <a:pt x="101126" y="2651"/>
                      </a:cubicBezTo>
                      <a:lnTo>
                        <a:pt x="136728" y="2651"/>
                      </a:lnTo>
                      <a:cubicBezTo>
                        <a:pt x="135970" y="7954"/>
                        <a:pt x="135213" y="13635"/>
                        <a:pt x="134455" y="19505"/>
                      </a:cubicBezTo>
                      <a:cubicBezTo>
                        <a:pt x="133698" y="25376"/>
                        <a:pt x="132751" y="31247"/>
                        <a:pt x="131804" y="37496"/>
                      </a:cubicBezTo>
                      <a:lnTo>
                        <a:pt x="159831" y="37496"/>
                      </a:lnTo>
                      <a:lnTo>
                        <a:pt x="159831" y="0"/>
                      </a:lnTo>
                      <a:lnTo>
                        <a:pt x="197138" y="0"/>
                      </a:lnTo>
                      <a:lnTo>
                        <a:pt x="197138" y="37307"/>
                      </a:lnTo>
                      <a:lnTo>
                        <a:pt x="255655" y="37307"/>
                      </a:lnTo>
                      <a:lnTo>
                        <a:pt x="255655" y="69690"/>
                      </a:lnTo>
                      <a:lnTo>
                        <a:pt x="197138" y="69690"/>
                      </a:lnTo>
                      <a:lnTo>
                        <a:pt x="197138" y="139379"/>
                      </a:lnTo>
                      <a:lnTo>
                        <a:pt x="261336" y="139379"/>
                      </a:lnTo>
                      <a:lnTo>
                        <a:pt x="261336" y="171194"/>
                      </a:lnTo>
                      <a:lnTo>
                        <a:pt x="197138" y="171194"/>
                      </a:lnTo>
                      <a:lnTo>
                        <a:pt x="197138" y="260957"/>
                      </a:lnTo>
                      <a:lnTo>
                        <a:pt x="159831" y="260957"/>
                      </a:lnTo>
                      <a:lnTo>
                        <a:pt x="159831" y="171004"/>
                      </a:lnTo>
                      <a:lnTo>
                        <a:pt x="81620" y="171004"/>
                      </a:lnTo>
                      <a:lnTo>
                        <a:pt x="81620" y="139190"/>
                      </a:lnTo>
                      <a:lnTo>
                        <a:pt x="159831" y="139190"/>
                      </a:lnTo>
                      <a:lnTo>
                        <a:pt x="159831" y="69690"/>
                      </a:lnTo>
                      <a:lnTo>
                        <a:pt x="125744" y="69690"/>
                      </a:lnTo>
                      <a:cubicBezTo>
                        <a:pt x="124040" y="77643"/>
                        <a:pt x="122336" y="85597"/>
                        <a:pt x="120442" y="93361"/>
                      </a:cubicBezTo>
                      <a:cubicBezTo>
                        <a:pt x="118548" y="101126"/>
                        <a:pt x="116654" y="108322"/>
                        <a:pt x="114571" y="115329"/>
                      </a:cubicBezTo>
                      <a:lnTo>
                        <a:pt x="78022" y="11532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7" name="任意多边形: 形状 17"/>
                <p:cNvSpPr/>
                <p:nvPr/>
              </p:nvSpPr>
              <p:spPr>
                <a:xfrm>
                  <a:off x="7365103" y="3315321"/>
                  <a:ext cx="261335" cy="250352"/>
                </a:xfrm>
                <a:custGeom>
                  <a:avLst/>
                  <a:gdLst>
                    <a:gd name="connsiteX0" fmla="*/ 109269 w 261335"/>
                    <a:gd name="connsiteY0" fmla="*/ 215886 h 250352"/>
                    <a:gd name="connsiteX1" fmla="*/ 109269 w 261335"/>
                    <a:gd name="connsiteY1" fmla="*/ 35034 h 250352"/>
                    <a:gd name="connsiteX2" fmla="*/ 10794 w 261335"/>
                    <a:gd name="connsiteY2" fmla="*/ 35034 h 250352"/>
                    <a:gd name="connsiteX3" fmla="*/ 10794 w 261335"/>
                    <a:gd name="connsiteY3" fmla="*/ 0 h 250352"/>
                    <a:gd name="connsiteX4" fmla="*/ 250352 w 261335"/>
                    <a:gd name="connsiteY4" fmla="*/ 0 h 250352"/>
                    <a:gd name="connsiteX5" fmla="*/ 250352 w 261335"/>
                    <a:gd name="connsiteY5" fmla="*/ 35034 h 250352"/>
                    <a:gd name="connsiteX6" fmla="*/ 151878 w 261335"/>
                    <a:gd name="connsiteY6" fmla="*/ 35034 h 250352"/>
                    <a:gd name="connsiteX7" fmla="*/ 151878 w 261335"/>
                    <a:gd name="connsiteY7" fmla="*/ 215886 h 250352"/>
                    <a:gd name="connsiteX8" fmla="*/ 261336 w 261335"/>
                    <a:gd name="connsiteY8" fmla="*/ 215886 h 250352"/>
                    <a:gd name="connsiteX9" fmla="*/ 261336 w 261335"/>
                    <a:gd name="connsiteY9" fmla="*/ 250352 h 250352"/>
                    <a:gd name="connsiteX10" fmla="*/ 0 w 261335"/>
                    <a:gd name="connsiteY10" fmla="*/ 250352 h 250352"/>
                    <a:gd name="connsiteX11" fmla="*/ 0 w 261335"/>
                    <a:gd name="connsiteY11" fmla="*/ 215886 h 250352"/>
                    <a:gd name="connsiteX12" fmla="*/ 109269 w 261335"/>
                    <a:gd name="connsiteY12" fmla="*/ 215886 h 250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335" h="250352">
                      <a:moveTo>
                        <a:pt x="109269" y="215886"/>
                      </a:moveTo>
                      <a:lnTo>
                        <a:pt x="109269" y="35034"/>
                      </a:lnTo>
                      <a:lnTo>
                        <a:pt x="10794" y="35034"/>
                      </a:lnTo>
                      <a:lnTo>
                        <a:pt x="10794" y="0"/>
                      </a:lnTo>
                      <a:lnTo>
                        <a:pt x="250352" y="0"/>
                      </a:lnTo>
                      <a:lnTo>
                        <a:pt x="250352" y="35034"/>
                      </a:lnTo>
                      <a:lnTo>
                        <a:pt x="151878" y="35034"/>
                      </a:lnTo>
                      <a:lnTo>
                        <a:pt x="151878" y="215886"/>
                      </a:lnTo>
                      <a:lnTo>
                        <a:pt x="261336" y="215886"/>
                      </a:lnTo>
                      <a:lnTo>
                        <a:pt x="261336" y="250352"/>
                      </a:lnTo>
                      <a:lnTo>
                        <a:pt x="0" y="250352"/>
                      </a:lnTo>
                      <a:lnTo>
                        <a:pt x="0" y="215886"/>
                      </a:lnTo>
                      <a:lnTo>
                        <a:pt x="109269" y="215886"/>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8" name="任意多边形: 形状 18"/>
                <p:cNvSpPr/>
                <p:nvPr/>
              </p:nvSpPr>
              <p:spPr>
                <a:xfrm>
                  <a:off x="7648595" y="3308882"/>
                  <a:ext cx="264176" cy="257548"/>
                </a:xfrm>
                <a:custGeom>
                  <a:avLst/>
                  <a:gdLst>
                    <a:gd name="connsiteX0" fmla="*/ 0 w 264176"/>
                    <a:gd name="connsiteY0" fmla="*/ 250920 h 257548"/>
                    <a:gd name="connsiteX1" fmla="*/ 6439 w 264176"/>
                    <a:gd name="connsiteY1" fmla="*/ 165702 h 257548"/>
                    <a:gd name="connsiteX2" fmla="*/ 8522 w 264176"/>
                    <a:gd name="connsiteY2" fmla="*/ 99989 h 257548"/>
                    <a:gd name="connsiteX3" fmla="*/ 34845 w 264176"/>
                    <a:gd name="connsiteY3" fmla="*/ 99989 h 257548"/>
                    <a:gd name="connsiteX4" fmla="*/ 33519 w 264176"/>
                    <a:gd name="connsiteY4" fmla="*/ 166081 h 257548"/>
                    <a:gd name="connsiteX5" fmla="*/ 29353 w 264176"/>
                    <a:gd name="connsiteY5" fmla="*/ 250920 h 257548"/>
                    <a:gd name="connsiteX6" fmla="*/ 0 w 264176"/>
                    <a:gd name="connsiteY6" fmla="*/ 250920 h 257548"/>
                    <a:gd name="connsiteX7" fmla="*/ 40147 w 264176"/>
                    <a:gd name="connsiteY7" fmla="*/ 90710 h 257548"/>
                    <a:gd name="connsiteX8" fmla="*/ 4545 w 264176"/>
                    <a:gd name="connsiteY8" fmla="*/ 90710 h 257548"/>
                    <a:gd name="connsiteX9" fmla="*/ 4545 w 264176"/>
                    <a:gd name="connsiteY9" fmla="*/ 60978 h 257548"/>
                    <a:gd name="connsiteX10" fmla="*/ 40147 w 264176"/>
                    <a:gd name="connsiteY10" fmla="*/ 60978 h 257548"/>
                    <a:gd name="connsiteX11" fmla="*/ 40147 w 264176"/>
                    <a:gd name="connsiteY11" fmla="*/ 34655 h 257548"/>
                    <a:gd name="connsiteX12" fmla="*/ 7575 w 264176"/>
                    <a:gd name="connsiteY12" fmla="*/ 37307 h 257548"/>
                    <a:gd name="connsiteX13" fmla="*/ 7575 w 264176"/>
                    <a:gd name="connsiteY13" fmla="*/ 7386 h 257548"/>
                    <a:gd name="connsiteX14" fmla="*/ 100747 w 264176"/>
                    <a:gd name="connsiteY14" fmla="*/ 0 h 257548"/>
                    <a:gd name="connsiteX15" fmla="*/ 100747 w 264176"/>
                    <a:gd name="connsiteY15" fmla="*/ 30110 h 257548"/>
                    <a:gd name="connsiteX16" fmla="*/ 72151 w 264176"/>
                    <a:gd name="connsiteY16" fmla="*/ 32383 h 257548"/>
                    <a:gd name="connsiteX17" fmla="*/ 72151 w 264176"/>
                    <a:gd name="connsiteY17" fmla="*/ 60978 h 257548"/>
                    <a:gd name="connsiteX18" fmla="*/ 103966 w 264176"/>
                    <a:gd name="connsiteY18" fmla="*/ 60978 h 257548"/>
                    <a:gd name="connsiteX19" fmla="*/ 103966 w 264176"/>
                    <a:gd name="connsiteY19" fmla="*/ 90710 h 257548"/>
                    <a:gd name="connsiteX20" fmla="*/ 72151 w 264176"/>
                    <a:gd name="connsiteY20" fmla="*/ 90710 h 257548"/>
                    <a:gd name="connsiteX21" fmla="*/ 72151 w 264176"/>
                    <a:gd name="connsiteY21" fmla="*/ 257548 h 257548"/>
                    <a:gd name="connsiteX22" fmla="*/ 40337 w 264176"/>
                    <a:gd name="connsiteY22" fmla="*/ 257548 h 257548"/>
                    <a:gd name="connsiteX23" fmla="*/ 40337 w 264176"/>
                    <a:gd name="connsiteY23" fmla="*/ 90710 h 257548"/>
                    <a:gd name="connsiteX24" fmla="*/ 80484 w 264176"/>
                    <a:gd name="connsiteY24" fmla="*/ 238043 h 257548"/>
                    <a:gd name="connsiteX25" fmla="*/ 79726 w 264176"/>
                    <a:gd name="connsiteY25" fmla="*/ 200168 h 257548"/>
                    <a:gd name="connsiteX26" fmla="*/ 78779 w 264176"/>
                    <a:gd name="connsiteY26" fmla="*/ 163429 h 257548"/>
                    <a:gd name="connsiteX27" fmla="*/ 77643 w 264176"/>
                    <a:gd name="connsiteY27" fmla="*/ 129532 h 257548"/>
                    <a:gd name="connsiteX28" fmla="*/ 76128 w 264176"/>
                    <a:gd name="connsiteY28" fmla="*/ 99800 h 257548"/>
                    <a:gd name="connsiteX29" fmla="*/ 101126 w 264176"/>
                    <a:gd name="connsiteY29" fmla="*/ 99800 h 257548"/>
                    <a:gd name="connsiteX30" fmla="*/ 103966 w 264176"/>
                    <a:gd name="connsiteY30" fmla="*/ 161346 h 257548"/>
                    <a:gd name="connsiteX31" fmla="*/ 106239 w 264176"/>
                    <a:gd name="connsiteY31" fmla="*/ 228195 h 257548"/>
                    <a:gd name="connsiteX32" fmla="*/ 165513 w 264176"/>
                    <a:gd name="connsiteY32" fmla="*/ 228195 h 257548"/>
                    <a:gd name="connsiteX33" fmla="*/ 165513 w 264176"/>
                    <a:gd name="connsiteY33" fmla="*/ 198653 h 257548"/>
                    <a:gd name="connsiteX34" fmla="*/ 114003 w 264176"/>
                    <a:gd name="connsiteY34" fmla="*/ 198653 h 257548"/>
                    <a:gd name="connsiteX35" fmla="*/ 114003 w 264176"/>
                    <a:gd name="connsiteY35" fmla="*/ 169868 h 257548"/>
                    <a:gd name="connsiteX36" fmla="*/ 165513 w 264176"/>
                    <a:gd name="connsiteY36" fmla="*/ 169868 h 257548"/>
                    <a:gd name="connsiteX37" fmla="*/ 165513 w 264176"/>
                    <a:gd name="connsiteY37" fmla="*/ 142409 h 257548"/>
                    <a:gd name="connsiteX38" fmla="*/ 110215 w 264176"/>
                    <a:gd name="connsiteY38" fmla="*/ 142409 h 257548"/>
                    <a:gd name="connsiteX39" fmla="*/ 110215 w 264176"/>
                    <a:gd name="connsiteY39" fmla="*/ 113435 h 257548"/>
                    <a:gd name="connsiteX40" fmla="*/ 259253 w 264176"/>
                    <a:gd name="connsiteY40" fmla="*/ 113435 h 257548"/>
                    <a:gd name="connsiteX41" fmla="*/ 259253 w 264176"/>
                    <a:gd name="connsiteY41" fmla="*/ 142409 h 257548"/>
                    <a:gd name="connsiteX42" fmla="*/ 203387 w 264176"/>
                    <a:gd name="connsiteY42" fmla="*/ 142409 h 257548"/>
                    <a:gd name="connsiteX43" fmla="*/ 203387 w 264176"/>
                    <a:gd name="connsiteY43" fmla="*/ 169868 h 257548"/>
                    <a:gd name="connsiteX44" fmla="*/ 255465 w 264176"/>
                    <a:gd name="connsiteY44" fmla="*/ 169868 h 257548"/>
                    <a:gd name="connsiteX45" fmla="*/ 255465 w 264176"/>
                    <a:gd name="connsiteY45" fmla="*/ 198842 h 257548"/>
                    <a:gd name="connsiteX46" fmla="*/ 203387 w 264176"/>
                    <a:gd name="connsiteY46" fmla="*/ 198842 h 257548"/>
                    <a:gd name="connsiteX47" fmla="*/ 203387 w 264176"/>
                    <a:gd name="connsiteY47" fmla="*/ 228385 h 257548"/>
                    <a:gd name="connsiteX48" fmla="*/ 264176 w 264176"/>
                    <a:gd name="connsiteY48" fmla="*/ 228385 h 257548"/>
                    <a:gd name="connsiteX49" fmla="*/ 264176 w 264176"/>
                    <a:gd name="connsiteY49" fmla="*/ 257548 h 257548"/>
                    <a:gd name="connsiteX50" fmla="*/ 105671 w 264176"/>
                    <a:gd name="connsiteY50" fmla="*/ 257548 h 257548"/>
                    <a:gd name="connsiteX51" fmla="*/ 105671 w 264176"/>
                    <a:gd name="connsiteY51" fmla="*/ 238043 h 257548"/>
                    <a:gd name="connsiteX52" fmla="*/ 80484 w 264176"/>
                    <a:gd name="connsiteY52" fmla="*/ 238043 h 257548"/>
                    <a:gd name="connsiteX53" fmla="*/ 255276 w 264176"/>
                    <a:gd name="connsiteY53" fmla="*/ 1326 h 257548"/>
                    <a:gd name="connsiteX54" fmla="*/ 255276 w 264176"/>
                    <a:gd name="connsiteY54" fmla="*/ 97527 h 257548"/>
                    <a:gd name="connsiteX55" fmla="*/ 114382 w 264176"/>
                    <a:gd name="connsiteY55" fmla="*/ 97527 h 257548"/>
                    <a:gd name="connsiteX56" fmla="*/ 114382 w 264176"/>
                    <a:gd name="connsiteY56" fmla="*/ 1326 h 257548"/>
                    <a:gd name="connsiteX57" fmla="*/ 255276 w 264176"/>
                    <a:gd name="connsiteY57" fmla="*/ 1326 h 257548"/>
                    <a:gd name="connsiteX58" fmla="*/ 148658 w 264176"/>
                    <a:gd name="connsiteY58" fmla="*/ 69311 h 257548"/>
                    <a:gd name="connsiteX59" fmla="*/ 220242 w 264176"/>
                    <a:gd name="connsiteY59" fmla="*/ 69311 h 257548"/>
                    <a:gd name="connsiteX60" fmla="*/ 220242 w 264176"/>
                    <a:gd name="connsiteY60" fmla="*/ 29542 h 257548"/>
                    <a:gd name="connsiteX61" fmla="*/ 148658 w 264176"/>
                    <a:gd name="connsiteY61" fmla="*/ 29542 h 257548"/>
                    <a:gd name="connsiteX62" fmla="*/ 148658 w 264176"/>
                    <a:gd name="connsiteY62" fmla="*/ 69311 h 257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64176" h="257548">
                      <a:moveTo>
                        <a:pt x="0" y="250920"/>
                      </a:moveTo>
                      <a:cubicBezTo>
                        <a:pt x="3030" y="219863"/>
                        <a:pt x="5113" y="191457"/>
                        <a:pt x="6439" y="165702"/>
                      </a:cubicBezTo>
                      <a:cubicBezTo>
                        <a:pt x="7764" y="139947"/>
                        <a:pt x="8332" y="118169"/>
                        <a:pt x="8522" y="99989"/>
                      </a:cubicBezTo>
                      <a:lnTo>
                        <a:pt x="34845" y="99989"/>
                      </a:lnTo>
                      <a:cubicBezTo>
                        <a:pt x="34655" y="119495"/>
                        <a:pt x="34277" y="141462"/>
                        <a:pt x="33519" y="166081"/>
                      </a:cubicBezTo>
                      <a:cubicBezTo>
                        <a:pt x="32762" y="190699"/>
                        <a:pt x="31436" y="218916"/>
                        <a:pt x="29353" y="250920"/>
                      </a:cubicBezTo>
                      <a:lnTo>
                        <a:pt x="0" y="250920"/>
                      </a:lnTo>
                      <a:close/>
                      <a:moveTo>
                        <a:pt x="40147" y="90710"/>
                      </a:moveTo>
                      <a:lnTo>
                        <a:pt x="4545" y="90710"/>
                      </a:lnTo>
                      <a:lnTo>
                        <a:pt x="4545" y="60978"/>
                      </a:lnTo>
                      <a:lnTo>
                        <a:pt x="40147" y="60978"/>
                      </a:lnTo>
                      <a:lnTo>
                        <a:pt x="40147" y="34655"/>
                      </a:lnTo>
                      <a:lnTo>
                        <a:pt x="7575" y="37307"/>
                      </a:lnTo>
                      <a:lnTo>
                        <a:pt x="7575" y="7386"/>
                      </a:lnTo>
                      <a:lnTo>
                        <a:pt x="100747" y="0"/>
                      </a:lnTo>
                      <a:lnTo>
                        <a:pt x="100747" y="30110"/>
                      </a:lnTo>
                      <a:lnTo>
                        <a:pt x="72151" y="32383"/>
                      </a:lnTo>
                      <a:lnTo>
                        <a:pt x="72151" y="60978"/>
                      </a:lnTo>
                      <a:lnTo>
                        <a:pt x="103966" y="60978"/>
                      </a:lnTo>
                      <a:lnTo>
                        <a:pt x="103966" y="90710"/>
                      </a:lnTo>
                      <a:lnTo>
                        <a:pt x="72151" y="90710"/>
                      </a:lnTo>
                      <a:lnTo>
                        <a:pt x="72151" y="257548"/>
                      </a:lnTo>
                      <a:lnTo>
                        <a:pt x="40337" y="257548"/>
                      </a:lnTo>
                      <a:lnTo>
                        <a:pt x="40337" y="90710"/>
                      </a:lnTo>
                      <a:close/>
                      <a:moveTo>
                        <a:pt x="80484" y="238043"/>
                      </a:moveTo>
                      <a:cubicBezTo>
                        <a:pt x="80294" y="225355"/>
                        <a:pt x="80105" y="212856"/>
                        <a:pt x="79726" y="200168"/>
                      </a:cubicBezTo>
                      <a:cubicBezTo>
                        <a:pt x="79348" y="187480"/>
                        <a:pt x="79158" y="175360"/>
                        <a:pt x="78779" y="163429"/>
                      </a:cubicBezTo>
                      <a:cubicBezTo>
                        <a:pt x="78401" y="151499"/>
                        <a:pt x="78022" y="140326"/>
                        <a:pt x="77643" y="129532"/>
                      </a:cubicBezTo>
                      <a:cubicBezTo>
                        <a:pt x="77264" y="118927"/>
                        <a:pt x="76696" y="108890"/>
                        <a:pt x="76128" y="99800"/>
                      </a:cubicBezTo>
                      <a:lnTo>
                        <a:pt x="101126" y="99800"/>
                      </a:lnTo>
                      <a:cubicBezTo>
                        <a:pt x="102072" y="118927"/>
                        <a:pt x="103019" y="139379"/>
                        <a:pt x="103966" y="161346"/>
                      </a:cubicBezTo>
                      <a:cubicBezTo>
                        <a:pt x="104913" y="183314"/>
                        <a:pt x="105671" y="205660"/>
                        <a:pt x="106239" y="228195"/>
                      </a:cubicBezTo>
                      <a:lnTo>
                        <a:pt x="165513" y="228195"/>
                      </a:lnTo>
                      <a:lnTo>
                        <a:pt x="165513" y="198653"/>
                      </a:lnTo>
                      <a:lnTo>
                        <a:pt x="114003" y="198653"/>
                      </a:lnTo>
                      <a:lnTo>
                        <a:pt x="114003" y="169868"/>
                      </a:lnTo>
                      <a:lnTo>
                        <a:pt x="165513" y="169868"/>
                      </a:lnTo>
                      <a:lnTo>
                        <a:pt x="165513" y="142409"/>
                      </a:lnTo>
                      <a:lnTo>
                        <a:pt x="110215" y="142409"/>
                      </a:lnTo>
                      <a:lnTo>
                        <a:pt x="110215" y="113435"/>
                      </a:lnTo>
                      <a:lnTo>
                        <a:pt x="259253" y="113435"/>
                      </a:lnTo>
                      <a:lnTo>
                        <a:pt x="259253" y="142409"/>
                      </a:lnTo>
                      <a:lnTo>
                        <a:pt x="203387" y="142409"/>
                      </a:lnTo>
                      <a:lnTo>
                        <a:pt x="203387" y="169868"/>
                      </a:lnTo>
                      <a:lnTo>
                        <a:pt x="255465" y="169868"/>
                      </a:lnTo>
                      <a:lnTo>
                        <a:pt x="255465" y="198842"/>
                      </a:lnTo>
                      <a:lnTo>
                        <a:pt x="203387" y="198842"/>
                      </a:lnTo>
                      <a:lnTo>
                        <a:pt x="203387" y="228385"/>
                      </a:lnTo>
                      <a:lnTo>
                        <a:pt x="264176" y="228385"/>
                      </a:lnTo>
                      <a:lnTo>
                        <a:pt x="264176" y="257548"/>
                      </a:lnTo>
                      <a:lnTo>
                        <a:pt x="105671" y="257548"/>
                      </a:lnTo>
                      <a:lnTo>
                        <a:pt x="105671" y="238043"/>
                      </a:lnTo>
                      <a:lnTo>
                        <a:pt x="80484" y="238043"/>
                      </a:lnTo>
                      <a:close/>
                      <a:moveTo>
                        <a:pt x="255276" y="1326"/>
                      </a:moveTo>
                      <a:lnTo>
                        <a:pt x="255276" y="97527"/>
                      </a:lnTo>
                      <a:lnTo>
                        <a:pt x="114382" y="97527"/>
                      </a:lnTo>
                      <a:lnTo>
                        <a:pt x="114382" y="1326"/>
                      </a:lnTo>
                      <a:lnTo>
                        <a:pt x="255276" y="1326"/>
                      </a:lnTo>
                      <a:close/>
                      <a:moveTo>
                        <a:pt x="148658" y="69311"/>
                      </a:moveTo>
                      <a:lnTo>
                        <a:pt x="220242" y="69311"/>
                      </a:lnTo>
                      <a:lnTo>
                        <a:pt x="220242" y="29542"/>
                      </a:lnTo>
                      <a:lnTo>
                        <a:pt x="148658" y="29542"/>
                      </a:lnTo>
                      <a:lnTo>
                        <a:pt x="148658" y="69311"/>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9" name="任意多边形: 形状 19"/>
                <p:cNvSpPr/>
                <p:nvPr/>
              </p:nvSpPr>
              <p:spPr>
                <a:xfrm>
                  <a:off x="7939662" y="3305663"/>
                  <a:ext cx="258684" cy="260767"/>
                </a:xfrm>
                <a:custGeom>
                  <a:avLst/>
                  <a:gdLst>
                    <a:gd name="connsiteX0" fmla="*/ 153393 w 258684"/>
                    <a:gd name="connsiteY0" fmla="*/ 125555 h 260767"/>
                    <a:gd name="connsiteX1" fmla="*/ 34466 w 258684"/>
                    <a:gd name="connsiteY1" fmla="*/ 125555 h 260767"/>
                    <a:gd name="connsiteX2" fmla="*/ 34466 w 258684"/>
                    <a:gd name="connsiteY2" fmla="*/ 96202 h 260767"/>
                    <a:gd name="connsiteX3" fmla="*/ 224219 w 258684"/>
                    <a:gd name="connsiteY3" fmla="*/ 96202 h 260767"/>
                    <a:gd name="connsiteX4" fmla="*/ 209447 w 258684"/>
                    <a:gd name="connsiteY4" fmla="*/ 113624 h 260767"/>
                    <a:gd name="connsiteX5" fmla="*/ 191078 w 258684"/>
                    <a:gd name="connsiteY5" fmla="*/ 131615 h 260767"/>
                    <a:gd name="connsiteX6" fmla="*/ 171762 w 258684"/>
                    <a:gd name="connsiteY6" fmla="*/ 148090 h 260767"/>
                    <a:gd name="connsiteX7" fmla="*/ 154340 w 258684"/>
                    <a:gd name="connsiteY7" fmla="*/ 160968 h 260767"/>
                    <a:gd name="connsiteX8" fmla="*/ 154340 w 258684"/>
                    <a:gd name="connsiteY8" fmla="*/ 161346 h 260767"/>
                    <a:gd name="connsiteX9" fmla="*/ 258684 w 258684"/>
                    <a:gd name="connsiteY9" fmla="*/ 161346 h 260767"/>
                    <a:gd name="connsiteX10" fmla="*/ 258684 w 258684"/>
                    <a:gd name="connsiteY10" fmla="*/ 192025 h 260767"/>
                    <a:gd name="connsiteX11" fmla="*/ 154340 w 258684"/>
                    <a:gd name="connsiteY11" fmla="*/ 192025 h 260767"/>
                    <a:gd name="connsiteX12" fmla="*/ 154340 w 258684"/>
                    <a:gd name="connsiteY12" fmla="*/ 209258 h 260767"/>
                    <a:gd name="connsiteX13" fmla="*/ 153582 w 258684"/>
                    <a:gd name="connsiteY13" fmla="*/ 222135 h 260767"/>
                    <a:gd name="connsiteX14" fmla="*/ 151499 w 258684"/>
                    <a:gd name="connsiteY14" fmla="*/ 235960 h 260767"/>
                    <a:gd name="connsiteX15" fmla="*/ 147901 w 258684"/>
                    <a:gd name="connsiteY15" fmla="*/ 249216 h 260767"/>
                    <a:gd name="connsiteX16" fmla="*/ 142788 w 258684"/>
                    <a:gd name="connsiteY16" fmla="*/ 260768 h 260767"/>
                    <a:gd name="connsiteX17" fmla="*/ 102262 w 258684"/>
                    <a:gd name="connsiteY17" fmla="*/ 260768 h 260767"/>
                    <a:gd name="connsiteX18" fmla="*/ 114571 w 258684"/>
                    <a:gd name="connsiteY18" fmla="*/ 209258 h 260767"/>
                    <a:gd name="connsiteX19" fmla="*/ 114571 w 258684"/>
                    <a:gd name="connsiteY19" fmla="*/ 192025 h 260767"/>
                    <a:gd name="connsiteX20" fmla="*/ 0 w 258684"/>
                    <a:gd name="connsiteY20" fmla="*/ 192025 h 260767"/>
                    <a:gd name="connsiteX21" fmla="*/ 0 w 258684"/>
                    <a:gd name="connsiteY21" fmla="*/ 161346 h 260767"/>
                    <a:gd name="connsiteX22" fmla="*/ 114571 w 258684"/>
                    <a:gd name="connsiteY22" fmla="*/ 161346 h 260767"/>
                    <a:gd name="connsiteX23" fmla="*/ 114571 w 258684"/>
                    <a:gd name="connsiteY23" fmla="*/ 161346 h 260767"/>
                    <a:gd name="connsiteX24" fmla="*/ 218348 w 258684"/>
                    <a:gd name="connsiteY24" fmla="*/ 73098 h 260767"/>
                    <a:gd name="connsiteX25" fmla="*/ 38064 w 258684"/>
                    <a:gd name="connsiteY25" fmla="*/ 73098 h 260767"/>
                    <a:gd name="connsiteX26" fmla="*/ 38064 w 258684"/>
                    <a:gd name="connsiteY26" fmla="*/ 93172 h 260767"/>
                    <a:gd name="connsiteX27" fmla="*/ 2462 w 258684"/>
                    <a:gd name="connsiteY27" fmla="*/ 93172 h 260767"/>
                    <a:gd name="connsiteX28" fmla="*/ 2462 w 258684"/>
                    <a:gd name="connsiteY28" fmla="*/ 42420 h 260767"/>
                    <a:gd name="connsiteX29" fmla="*/ 172709 w 258684"/>
                    <a:gd name="connsiteY29" fmla="*/ 42420 h 260767"/>
                    <a:gd name="connsiteX30" fmla="*/ 184829 w 258684"/>
                    <a:gd name="connsiteY30" fmla="*/ 19884 h 260767"/>
                    <a:gd name="connsiteX31" fmla="*/ 193351 w 258684"/>
                    <a:gd name="connsiteY31" fmla="*/ 0 h 260767"/>
                    <a:gd name="connsiteX32" fmla="*/ 233687 w 258684"/>
                    <a:gd name="connsiteY32" fmla="*/ 0 h 260767"/>
                    <a:gd name="connsiteX33" fmla="*/ 224787 w 258684"/>
                    <a:gd name="connsiteY33" fmla="*/ 20831 h 260767"/>
                    <a:gd name="connsiteX34" fmla="*/ 213614 w 258684"/>
                    <a:gd name="connsiteY34" fmla="*/ 42420 h 260767"/>
                    <a:gd name="connsiteX35" fmla="*/ 253761 w 258684"/>
                    <a:gd name="connsiteY35" fmla="*/ 42420 h 260767"/>
                    <a:gd name="connsiteX36" fmla="*/ 253761 w 258684"/>
                    <a:gd name="connsiteY36" fmla="*/ 93172 h 260767"/>
                    <a:gd name="connsiteX37" fmla="*/ 218159 w 258684"/>
                    <a:gd name="connsiteY37" fmla="*/ 93172 h 260767"/>
                    <a:gd name="connsiteX38" fmla="*/ 218159 w 258684"/>
                    <a:gd name="connsiteY38" fmla="*/ 73098 h 260767"/>
                    <a:gd name="connsiteX39" fmla="*/ 36170 w 258684"/>
                    <a:gd name="connsiteY39" fmla="*/ 35792 h 260767"/>
                    <a:gd name="connsiteX40" fmla="*/ 31057 w 258684"/>
                    <a:gd name="connsiteY40" fmla="*/ 18180 h 260767"/>
                    <a:gd name="connsiteX41" fmla="*/ 24240 w 258684"/>
                    <a:gd name="connsiteY41" fmla="*/ 0 h 260767"/>
                    <a:gd name="connsiteX42" fmla="*/ 63819 w 258684"/>
                    <a:gd name="connsiteY42" fmla="*/ 0 h 260767"/>
                    <a:gd name="connsiteX43" fmla="*/ 67417 w 258684"/>
                    <a:gd name="connsiteY43" fmla="*/ 7954 h 260767"/>
                    <a:gd name="connsiteX44" fmla="*/ 71204 w 258684"/>
                    <a:gd name="connsiteY44" fmla="*/ 17422 h 260767"/>
                    <a:gd name="connsiteX45" fmla="*/ 74613 w 258684"/>
                    <a:gd name="connsiteY45" fmla="*/ 27080 h 260767"/>
                    <a:gd name="connsiteX46" fmla="*/ 77265 w 258684"/>
                    <a:gd name="connsiteY46" fmla="*/ 35602 h 260767"/>
                    <a:gd name="connsiteX47" fmla="*/ 36170 w 258684"/>
                    <a:gd name="connsiteY47" fmla="*/ 35602 h 260767"/>
                    <a:gd name="connsiteX48" fmla="*/ 108890 w 258684"/>
                    <a:gd name="connsiteY48" fmla="*/ 36360 h 260767"/>
                    <a:gd name="connsiteX49" fmla="*/ 103209 w 258684"/>
                    <a:gd name="connsiteY49" fmla="*/ 17422 h 260767"/>
                    <a:gd name="connsiteX50" fmla="*/ 96770 w 258684"/>
                    <a:gd name="connsiteY50" fmla="*/ 0 h 260767"/>
                    <a:gd name="connsiteX51" fmla="*/ 137675 w 258684"/>
                    <a:gd name="connsiteY51" fmla="*/ 0 h 260767"/>
                    <a:gd name="connsiteX52" fmla="*/ 140894 w 258684"/>
                    <a:gd name="connsiteY52" fmla="*/ 7575 h 260767"/>
                    <a:gd name="connsiteX53" fmla="*/ 144682 w 258684"/>
                    <a:gd name="connsiteY53" fmla="*/ 16854 h 260767"/>
                    <a:gd name="connsiteX54" fmla="*/ 148090 w 258684"/>
                    <a:gd name="connsiteY54" fmla="*/ 26702 h 260767"/>
                    <a:gd name="connsiteX55" fmla="*/ 151120 w 258684"/>
                    <a:gd name="connsiteY55" fmla="*/ 36360 h 260767"/>
                    <a:gd name="connsiteX56" fmla="*/ 108890 w 258684"/>
                    <a:gd name="connsiteY56" fmla="*/ 36360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8684" h="260767">
                      <a:moveTo>
                        <a:pt x="153393" y="125555"/>
                      </a:moveTo>
                      <a:lnTo>
                        <a:pt x="34466" y="125555"/>
                      </a:lnTo>
                      <a:lnTo>
                        <a:pt x="34466" y="96202"/>
                      </a:lnTo>
                      <a:lnTo>
                        <a:pt x="224219" y="96202"/>
                      </a:lnTo>
                      <a:cubicBezTo>
                        <a:pt x="220242" y="101694"/>
                        <a:pt x="215318" y="107564"/>
                        <a:pt x="209447" y="113624"/>
                      </a:cubicBezTo>
                      <a:cubicBezTo>
                        <a:pt x="203577" y="119684"/>
                        <a:pt x="197517" y="125744"/>
                        <a:pt x="191078" y="131615"/>
                      </a:cubicBezTo>
                      <a:cubicBezTo>
                        <a:pt x="184639" y="137485"/>
                        <a:pt x="178201" y="142977"/>
                        <a:pt x="171762" y="148090"/>
                      </a:cubicBezTo>
                      <a:cubicBezTo>
                        <a:pt x="165323" y="153203"/>
                        <a:pt x="159453" y="157559"/>
                        <a:pt x="154340" y="160968"/>
                      </a:cubicBezTo>
                      <a:lnTo>
                        <a:pt x="154340" y="161346"/>
                      </a:lnTo>
                      <a:lnTo>
                        <a:pt x="258684" y="161346"/>
                      </a:lnTo>
                      <a:lnTo>
                        <a:pt x="258684" y="192025"/>
                      </a:lnTo>
                      <a:lnTo>
                        <a:pt x="154340" y="192025"/>
                      </a:lnTo>
                      <a:lnTo>
                        <a:pt x="154340" y="209258"/>
                      </a:lnTo>
                      <a:cubicBezTo>
                        <a:pt x="154340" y="213235"/>
                        <a:pt x="154150" y="217590"/>
                        <a:pt x="153582" y="222135"/>
                      </a:cubicBezTo>
                      <a:cubicBezTo>
                        <a:pt x="153014" y="226680"/>
                        <a:pt x="152446" y="231225"/>
                        <a:pt x="151499" y="235960"/>
                      </a:cubicBezTo>
                      <a:cubicBezTo>
                        <a:pt x="150552" y="240505"/>
                        <a:pt x="149416" y="245050"/>
                        <a:pt x="147901" y="249216"/>
                      </a:cubicBezTo>
                      <a:cubicBezTo>
                        <a:pt x="146386" y="253571"/>
                        <a:pt x="144682" y="257359"/>
                        <a:pt x="142788" y="260768"/>
                      </a:cubicBezTo>
                      <a:lnTo>
                        <a:pt x="102262" y="260768"/>
                      </a:lnTo>
                      <a:cubicBezTo>
                        <a:pt x="106049" y="252056"/>
                        <a:pt x="115707" y="227248"/>
                        <a:pt x="114571" y="209258"/>
                      </a:cubicBezTo>
                      <a:lnTo>
                        <a:pt x="114571" y="192025"/>
                      </a:lnTo>
                      <a:lnTo>
                        <a:pt x="0" y="192025"/>
                      </a:lnTo>
                      <a:lnTo>
                        <a:pt x="0" y="161346"/>
                      </a:lnTo>
                      <a:lnTo>
                        <a:pt x="114571" y="161346"/>
                      </a:lnTo>
                      <a:lnTo>
                        <a:pt x="114571" y="161346"/>
                      </a:lnTo>
                      <a:moveTo>
                        <a:pt x="218348" y="73098"/>
                      </a:moveTo>
                      <a:lnTo>
                        <a:pt x="38064" y="73098"/>
                      </a:lnTo>
                      <a:lnTo>
                        <a:pt x="38064" y="93172"/>
                      </a:lnTo>
                      <a:lnTo>
                        <a:pt x="2462" y="93172"/>
                      </a:lnTo>
                      <a:lnTo>
                        <a:pt x="2462" y="42420"/>
                      </a:lnTo>
                      <a:lnTo>
                        <a:pt x="172709" y="42420"/>
                      </a:lnTo>
                      <a:cubicBezTo>
                        <a:pt x="177443" y="34466"/>
                        <a:pt x="181609" y="26891"/>
                        <a:pt x="184829" y="19884"/>
                      </a:cubicBezTo>
                      <a:cubicBezTo>
                        <a:pt x="188238" y="12877"/>
                        <a:pt x="191078" y="6249"/>
                        <a:pt x="193351" y="0"/>
                      </a:cubicBezTo>
                      <a:lnTo>
                        <a:pt x="233687" y="0"/>
                      </a:lnTo>
                      <a:cubicBezTo>
                        <a:pt x="231036" y="7007"/>
                        <a:pt x="228006" y="14014"/>
                        <a:pt x="224787" y="20831"/>
                      </a:cubicBezTo>
                      <a:cubicBezTo>
                        <a:pt x="221567" y="27649"/>
                        <a:pt x="217780" y="34845"/>
                        <a:pt x="213614" y="42420"/>
                      </a:cubicBezTo>
                      <a:lnTo>
                        <a:pt x="253761" y="42420"/>
                      </a:lnTo>
                      <a:lnTo>
                        <a:pt x="253761" y="93172"/>
                      </a:lnTo>
                      <a:lnTo>
                        <a:pt x="218159" y="93172"/>
                      </a:lnTo>
                      <a:lnTo>
                        <a:pt x="218159" y="73098"/>
                      </a:lnTo>
                      <a:close/>
                      <a:moveTo>
                        <a:pt x="36170" y="35792"/>
                      </a:moveTo>
                      <a:cubicBezTo>
                        <a:pt x="35034" y="30868"/>
                        <a:pt x="33330" y="24997"/>
                        <a:pt x="31057" y="18180"/>
                      </a:cubicBezTo>
                      <a:cubicBezTo>
                        <a:pt x="28785" y="11362"/>
                        <a:pt x="26512" y="5302"/>
                        <a:pt x="24240" y="0"/>
                      </a:cubicBezTo>
                      <a:lnTo>
                        <a:pt x="63819" y="0"/>
                      </a:lnTo>
                      <a:cubicBezTo>
                        <a:pt x="64955" y="2272"/>
                        <a:pt x="66091" y="4924"/>
                        <a:pt x="67417" y="7954"/>
                      </a:cubicBezTo>
                      <a:cubicBezTo>
                        <a:pt x="68743" y="10984"/>
                        <a:pt x="69879" y="14203"/>
                        <a:pt x="71204" y="17422"/>
                      </a:cubicBezTo>
                      <a:cubicBezTo>
                        <a:pt x="72530" y="20642"/>
                        <a:pt x="73666" y="23861"/>
                        <a:pt x="74613" y="27080"/>
                      </a:cubicBezTo>
                      <a:cubicBezTo>
                        <a:pt x="75749" y="30300"/>
                        <a:pt x="76507" y="33140"/>
                        <a:pt x="77265" y="35602"/>
                      </a:cubicBezTo>
                      <a:lnTo>
                        <a:pt x="36170" y="35602"/>
                      </a:lnTo>
                      <a:close/>
                      <a:moveTo>
                        <a:pt x="108890" y="36360"/>
                      </a:moveTo>
                      <a:cubicBezTo>
                        <a:pt x="107375" y="30489"/>
                        <a:pt x="105481" y="24050"/>
                        <a:pt x="103209" y="17422"/>
                      </a:cubicBezTo>
                      <a:cubicBezTo>
                        <a:pt x="100936" y="10794"/>
                        <a:pt x="98853" y="4924"/>
                        <a:pt x="96770" y="0"/>
                      </a:cubicBezTo>
                      <a:lnTo>
                        <a:pt x="137675" y="0"/>
                      </a:lnTo>
                      <a:cubicBezTo>
                        <a:pt x="138622" y="2083"/>
                        <a:pt x="139758" y="4545"/>
                        <a:pt x="140894" y="7575"/>
                      </a:cubicBezTo>
                      <a:cubicBezTo>
                        <a:pt x="142220" y="10605"/>
                        <a:pt x="143356" y="13635"/>
                        <a:pt x="144682" y="16854"/>
                      </a:cubicBezTo>
                      <a:cubicBezTo>
                        <a:pt x="146007" y="20074"/>
                        <a:pt x="147144" y="23482"/>
                        <a:pt x="148090" y="26702"/>
                      </a:cubicBezTo>
                      <a:cubicBezTo>
                        <a:pt x="149227" y="30110"/>
                        <a:pt x="150173" y="33330"/>
                        <a:pt x="151120" y="36360"/>
                      </a:cubicBezTo>
                      <a:lnTo>
                        <a:pt x="108890" y="36360"/>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20" name="任意多边形: 形状 20"/>
                <p:cNvSpPr/>
                <p:nvPr/>
              </p:nvSpPr>
              <p:spPr>
                <a:xfrm>
                  <a:off x="8228647" y="3305663"/>
                  <a:ext cx="256601" cy="260956"/>
                </a:xfrm>
                <a:custGeom>
                  <a:avLst/>
                  <a:gdLst>
                    <a:gd name="connsiteX0" fmla="*/ 41662 w 256601"/>
                    <a:gd name="connsiteY0" fmla="*/ 236906 h 260956"/>
                    <a:gd name="connsiteX1" fmla="*/ 53782 w 256601"/>
                    <a:gd name="connsiteY1" fmla="*/ 207554 h 260956"/>
                    <a:gd name="connsiteX2" fmla="*/ 57759 w 256601"/>
                    <a:gd name="connsiteY2" fmla="*/ 169679 h 260956"/>
                    <a:gd name="connsiteX3" fmla="*/ 57759 w 256601"/>
                    <a:gd name="connsiteY3" fmla="*/ 128963 h 260956"/>
                    <a:gd name="connsiteX4" fmla="*/ 44882 w 256601"/>
                    <a:gd name="connsiteY4" fmla="*/ 128963 h 260956"/>
                    <a:gd name="connsiteX5" fmla="*/ 53214 w 256601"/>
                    <a:gd name="connsiteY5" fmla="*/ 78590 h 260956"/>
                    <a:gd name="connsiteX6" fmla="*/ 58138 w 256601"/>
                    <a:gd name="connsiteY6" fmla="*/ 35413 h 260956"/>
                    <a:gd name="connsiteX7" fmla="*/ 32572 w 256601"/>
                    <a:gd name="connsiteY7" fmla="*/ 35413 h 260956"/>
                    <a:gd name="connsiteX8" fmla="*/ 32572 w 256601"/>
                    <a:gd name="connsiteY8" fmla="*/ 260957 h 260956"/>
                    <a:gd name="connsiteX9" fmla="*/ 0 w 256601"/>
                    <a:gd name="connsiteY9" fmla="*/ 260957 h 260956"/>
                    <a:gd name="connsiteX10" fmla="*/ 0 w 256601"/>
                    <a:gd name="connsiteY10" fmla="*/ 6628 h 260956"/>
                    <a:gd name="connsiteX11" fmla="*/ 89953 w 256601"/>
                    <a:gd name="connsiteY11" fmla="*/ 6628 h 260956"/>
                    <a:gd name="connsiteX12" fmla="*/ 87491 w 256601"/>
                    <a:gd name="connsiteY12" fmla="*/ 31625 h 260956"/>
                    <a:gd name="connsiteX13" fmla="*/ 84840 w 256601"/>
                    <a:gd name="connsiteY13" fmla="*/ 54918 h 260956"/>
                    <a:gd name="connsiteX14" fmla="*/ 81810 w 256601"/>
                    <a:gd name="connsiteY14" fmla="*/ 77643 h 260956"/>
                    <a:gd name="connsiteX15" fmla="*/ 78590 w 256601"/>
                    <a:gd name="connsiteY15" fmla="*/ 100557 h 260956"/>
                    <a:gd name="connsiteX16" fmla="*/ 89385 w 256601"/>
                    <a:gd name="connsiteY16" fmla="*/ 100557 h 260956"/>
                    <a:gd name="connsiteX17" fmla="*/ 89385 w 256601"/>
                    <a:gd name="connsiteY17" fmla="*/ 169679 h 260956"/>
                    <a:gd name="connsiteX18" fmla="*/ 88627 w 256601"/>
                    <a:gd name="connsiteY18" fmla="*/ 192972 h 260956"/>
                    <a:gd name="connsiteX19" fmla="*/ 86544 w 256601"/>
                    <a:gd name="connsiteY19" fmla="*/ 211152 h 260956"/>
                    <a:gd name="connsiteX20" fmla="*/ 83324 w 256601"/>
                    <a:gd name="connsiteY20" fmla="*/ 225355 h 260956"/>
                    <a:gd name="connsiteX21" fmla="*/ 78969 w 256601"/>
                    <a:gd name="connsiteY21" fmla="*/ 236906 h 260956"/>
                    <a:gd name="connsiteX22" fmla="*/ 41662 w 256601"/>
                    <a:gd name="connsiteY22" fmla="*/ 236906 h 260956"/>
                    <a:gd name="connsiteX23" fmla="*/ 218727 w 256601"/>
                    <a:gd name="connsiteY23" fmla="*/ 49048 h 260956"/>
                    <a:gd name="connsiteX24" fmla="*/ 129911 w 256601"/>
                    <a:gd name="connsiteY24" fmla="*/ 49048 h 260956"/>
                    <a:gd name="connsiteX25" fmla="*/ 129911 w 256601"/>
                    <a:gd name="connsiteY25" fmla="*/ 71962 h 260956"/>
                    <a:gd name="connsiteX26" fmla="*/ 96581 w 256601"/>
                    <a:gd name="connsiteY26" fmla="*/ 71962 h 260956"/>
                    <a:gd name="connsiteX27" fmla="*/ 96581 w 256601"/>
                    <a:gd name="connsiteY27" fmla="*/ 18559 h 260956"/>
                    <a:gd name="connsiteX28" fmla="*/ 153961 w 256601"/>
                    <a:gd name="connsiteY28" fmla="*/ 18559 h 260956"/>
                    <a:gd name="connsiteX29" fmla="*/ 150742 w 256601"/>
                    <a:gd name="connsiteY29" fmla="*/ 8901 h 260956"/>
                    <a:gd name="connsiteX30" fmla="*/ 146954 w 256601"/>
                    <a:gd name="connsiteY30" fmla="*/ 0 h 260956"/>
                    <a:gd name="connsiteX31" fmla="*/ 188238 w 256601"/>
                    <a:gd name="connsiteY31" fmla="*/ 0 h 260956"/>
                    <a:gd name="connsiteX32" fmla="*/ 191457 w 256601"/>
                    <a:gd name="connsiteY32" fmla="*/ 8711 h 260956"/>
                    <a:gd name="connsiteX33" fmla="*/ 194676 w 256601"/>
                    <a:gd name="connsiteY33" fmla="*/ 18559 h 260956"/>
                    <a:gd name="connsiteX34" fmla="*/ 253382 w 256601"/>
                    <a:gd name="connsiteY34" fmla="*/ 18559 h 260956"/>
                    <a:gd name="connsiteX35" fmla="*/ 253382 w 256601"/>
                    <a:gd name="connsiteY35" fmla="*/ 71962 h 260956"/>
                    <a:gd name="connsiteX36" fmla="*/ 218916 w 256601"/>
                    <a:gd name="connsiteY36" fmla="*/ 71962 h 260956"/>
                    <a:gd name="connsiteX37" fmla="*/ 218916 w 256601"/>
                    <a:gd name="connsiteY37" fmla="*/ 49048 h 260956"/>
                    <a:gd name="connsiteX38" fmla="*/ 97906 w 256601"/>
                    <a:gd name="connsiteY38" fmla="*/ 260768 h 260956"/>
                    <a:gd name="connsiteX39" fmla="*/ 114761 w 256601"/>
                    <a:gd name="connsiteY39" fmla="*/ 219295 h 260956"/>
                    <a:gd name="connsiteX40" fmla="*/ 124797 w 256601"/>
                    <a:gd name="connsiteY40" fmla="*/ 165513 h 260956"/>
                    <a:gd name="connsiteX41" fmla="*/ 96770 w 256601"/>
                    <a:gd name="connsiteY41" fmla="*/ 165513 h 260956"/>
                    <a:gd name="connsiteX42" fmla="*/ 96770 w 256601"/>
                    <a:gd name="connsiteY42" fmla="*/ 132940 h 260956"/>
                    <a:gd name="connsiteX43" fmla="*/ 253193 w 256601"/>
                    <a:gd name="connsiteY43" fmla="*/ 132940 h 260956"/>
                    <a:gd name="connsiteX44" fmla="*/ 253193 w 256601"/>
                    <a:gd name="connsiteY44" fmla="*/ 165513 h 260956"/>
                    <a:gd name="connsiteX45" fmla="*/ 221946 w 256601"/>
                    <a:gd name="connsiteY45" fmla="*/ 165513 h 260956"/>
                    <a:gd name="connsiteX46" fmla="*/ 221946 w 256601"/>
                    <a:gd name="connsiteY46" fmla="*/ 228574 h 260956"/>
                    <a:gd name="connsiteX47" fmla="*/ 256601 w 256601"/>
                    <a:gd name="connsiteY47" fmla="*/ 228574 h 260956"/>
                    <a:gd name="connsiteX48" fmla="*/ 256601 w 256601"/>
                    <a:gd name="connsiteY48" fmla="*/ 260578 h 260956"/>
                    <a:gd name="connsiteX49" fmla="*/ 186723 w 256601"/>
                    <a:gd name="connsiteY49" fmla="*/ 260578 h 260956"/>
                    <a:gd name="connsiteX50" fmla="*/ 186723 w 256601"/>
                    <a:gd name="connsiteY50" fmla="*/ 165513 h 260956"/>
                    <a:gd name="connsiteX51" fmla="*/ 160589 w 256601"/>
                    <a:gd name="connsiteY51" fmla="*/ 165513 h 260956"/>
                    <a:gd name="connsiteX52" fmla="*/ 156802 w 256601"/>
                    <a:gd name="connsiteY52" fmla="*/ 196949 h 260956"/>
                    <a:gd name="connsiteX53" fmla="*/ 151878 w 256601"/>
                    <a:gd name="connsiteY53" fmla="*/ 221946 h 260956"/>
                    <a:gd name="connsiteX54" fmla="*/ 145628 w 256601"/>
                    <a:gd name="connsiteY54" fmla="*/ 242398 h 260956"/>
                    <a:gd name="connsiteX55" fmla="*/ 138243 w 256601"/>
                    <a:gd name="connsiteY55" fmla="*/ 260578 h 260956"/>
                    <a:gd name="connsiteX56" fmla="*/ 97906 w 256601"/>
                    <a:gd name="connsiteY56" fmla="*/ 260578 h 260956"/>
                    <a:gd name="connsiteX57" fmla="*/ 240884 w 256601"/>
                    <a:gd name="connsiteY57" fmla="*/ 81999 h 260956"/>
                    <a:gd name="connsiteX58" fmla="*/ 240884 w 256601"/>
                    <a:gd name="connsiteY58" fmla="*/ 113245 h 260956"/>
                    <a:gd name="connsiteX59" fmla="*/ 105671 w 256601"/>
                    <a:gd name="connsiteY59" fmla="*/ 113245 h 260956"/>
                    <a:gd name="connsiteX60" fmla="*/ 105671 w 256601"/>
                    <a:gd name="connsiteY60" fmla="*/ 81999 h 260956"/>
                    <a:gd name="connsiteX61" fmla="*/ 240884 w 256601"/>
                    <a:gd name="connsiteY61" fmla="*/ 8199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6601" h="260956">
                      <a:moveTo>
                        <a:pt x="41662" y="236906"/>
                      </a:moveTo>
                      <a:cubicBezTo>
                        <a:pt x="46965" y="227817"/>
                        <a:pt x="50942" y="217969"/>
                        <a:pt x="53782" y="207554"/>
                      </a:cubicBezTo>
                      <a:cubicBezTo>
                        <a:pt x="56433" y="197138"/>
                        <a:pt x="57759" y="184450"/>
                        <a:pt x="57759" y="169679"/>
                      </a:cubicBezTo>
                      <a:lnTo>
                        <a:pt x="57759" y="128963"/>
                      </a:lnTo>
                      <a:lnTo>
                        <a:pt x="44882" y="128963"/>
                      </a:lnTo>
                      <a:cubicBezTo>
                        <a:pt x="48101" y="111162"/>
                        <a:pt x="50942" y="94308"/>
                        <a:pt x="53214" y="78590"/>
                      </a:cubicBezTo>
                      <a:cubicBezTo>
                        <a:pt x="55487" y="62683"/>
                        <a:pt x="57191" y="48290"/>
                        <a:pt x="58138" y="35413"/>
                      </a:cubicBezTo>
                      <a:lnTo>
                        <a:pt x="32572" y="35413"/>
                      </a:lnTo>
                      <a:lnTo>
                        <a:pt x="32572" y="260957"/>
                      </a:lnTo>
                      <a:lnTo>
                        <a:pt x="0" y="260957"/>
                      </a:lnTo>
                      <a:lnTo>
                        <a:pt x="0" y="6628"/>
                      </a:lnTo>
                      <a:lnTo>
                        <a:pt x="89953" y="6628"/>
                      </a:lnTo>
                      <a:cubicBezTo>
                        <a:pt x="89195" y="15339"/>
                        <a:pt x="88438" y="23861"/>
                        <a:pt x="87491" y="31625"/>
                      </a:cubicBezTo>
                      <a:cubicBezTo>
                        <a:pt x="86544" y="39579"/>
                        <a:pt x="85786" y="47343"/>
                        <a:pt x="84840" y="54918"/>
                      </a:cubicBezTo>
                      <a:cubicBezTo>
                        <a:pt x="83893" y="62493"/>
                        <a:pt x="82946" y="70068"/>
                        <a:pt x="81810" y="77643"/>
                      </a:cubicBezTo>
                      <a:cubicBezTo>
                        <a:pt x="80673" y="85029"/>
                        <a:pt x="79727" y="92793"/>
                        <a:pt x="78590" y="100557"/>
                      </a:cubicBezTo>
                      <a:lnTo>
                        <a:pt x="89385" y="100557"/>
                      </a:lnTo>
                      <a:lnTo>
                        <a:pt x="89385" y="169679"/>
                      </a:lnTo>
                      <a:cubicBezTo>
                        <a:pt x="89385" y="178390"/>
                        <a:pt x="89195" y="186344"/>
                        <a:pt x="88627" y="192972"/>
                      </a:cubicBezTo>
                      <a:cubicBezTo>
                        <a:pt x="88059" y="199789"/>
                        <a:pt x="87491" y="205849"/>
                        <a:pt x="86544" y="211152"/>
                      </a:cubicBezTo>
                      <a:cubicBezTo>
                        <a:pt x="85597" y="216454"/>
                        <a:pt x="84650" y="221188"/>
                        <a:pt x="83324" y="225355"/>
                      </a:cubicBezTo>
                      <a:cubicBezTo>
                        <a:pt x="81999" y="229521"/>
                        <a:pt x="80484" y="233308"/>
                        <a:pt x="78969" y="236906"/>
                      </a:cubicBezTo>
                      <a:lnTo>
                        <a:pt x="41662" y="236906"/>
                      </a:lnTo>
                      <a:close/>
                      <a:moveTo>
                        <a:pt x="218727" y="49048"/>
                      </a:moveTo>
                      <a:lnTo>
                        <a:pt x="129911" y="49048"/>
                      </a:lnTo>
                      <a:lnTo>
                        <a:pt x="129911" y="71962"/>
                      </a:lnTo>
                      <a:lnTo>
                        <a:pt x="96581" y="71962"/>
                      </a:lnTo>
                      <a:lnTo>
                        <a:pt x="96581" y="18559"/>
                      </a:lnTo>
                      <a:lnTo>
                        <a:pt x="153961" y="18559"/>
                      </a:lnTo>
                      <a:cubicBezTo>
                        <a:pt x="153014" y="15339"/>
                        <a:pt x="151878" y="12120"/>
                        <a:pt x="150742" y="8901"/>
                      </a:cubicBezTo>
                      <a:cubicBezTo>
                        <a:pt x="149416" y="5681"/>
                        <a:pt x="148280" y="2651"/>
                        <a:pt x="146954" y="0"/>
                      </a:cubicBezTo>
                      <a:lnTo>
                        <a:pt x="188238" y="0"/>
                      </a:lnTo>
                      <a:cubicBezTo>
                        <a:pt x="189184" y="2462"/>
                        <a:pt x="190321" y="5492"/>
                        <a:pt x="191457" y="8711"/>
                      </a:cubicBezTo>
                      <a:cubicBezTo>
                        <a:pt x="192593" y="12120"/>
                        <a:pt x="193729" y="15339"/>
                        <a:pt x="194676" y="18559"/>
                      </a:cubicBezTo>
                      <a:lnTo>
                        <a:pt x="253382" y="18559"/>
                      </a:lnTo>
                      <a:lnTo>
                        <a:pt x="253382" y="71962"/>
                      </a:lnTo>
                      <a:lnTo>
                        <a:pt x="218916" y="71962"/>
                      </a:lnTo>
                      <a:lnTo>
                        <a:pt x="218916" y="49048"/>
                      </a:lnTo>
                      <a:close/>
                      <a:moveTo>
                        <a:pt x="97906" y="260768"/>
                      </a:moveTo>
                      <a:cubicBezTo>
                        <a:pt x="104345" y="248269"/>
                        <a:pt x="110026" y="234634"/>
                        <a:pt x="114761" y="219295"/>
                      </a:cubicBezTo>
                      <a:cubicBezTo>
                        <a:pt x="119495" y="204145"/>
                        <a:pt x="122904" y="186154"/>
                        <a:pt x="124797" y="165513"/>
                      </a:cubicBezTo>
                      <a:lnTo>
                        <a:pt x="96770" y="165513"/>
                      </a:lnTo>
                      <a:lnTo>
                        <a:pt x="96770" y="132940"/>
                      </a:lnTo>
                      <a:lnTo>
                        <a:pt x="253193" y="132940"/>
                      </a:lnTo>
                      <a:lnTo>
                        <a:pt x="253193" y="165513"/>
                      </a:lnTo>
                      <a:lnTo>
                        <a:pt x="221946" y="165513"/>
                      </a:lnTo>
                      <a:lnTo>
                        <a:pt x="221946" y="228574"/>
                      </a:lnTo>
                      <a:lnTo>
                        <a:pt x="256601" y="228574"/>
                      </a:lnTo>
                      <a:lnTo>
                        <a:pt x="256601" y="260578"/>
                      </a:lnTo>
                      <a:lnTo>
                        <a:pt x="186723" y="260578"/>
                      </a:lnTo>
                      <a:lnTo>
                        <a:pt x="186723" y="165513"/>
                      </a:lnTo>
                      <a:lnTo>
                        <a:pt x="160589" y="165513"/>
                      </a:lnTo>
                      <a:cubicBezTo>
                        <a:pt x="159453" y="177443"/>
                        <a:pt x="158127" y="187859"/>
                        <a:pt x="156802" y="196949"/>
                      </a:cubicBezTo>
                      <a:cubicBezTo>
                        <a:pt x="155286" y="206039"/>
                        <a:pt x="153772" y="214371"/>
                        <a:pt x="151878" y="221946"/>
                      </a:cubicBezTo>
                      <a:cubicBezTo>
                        <a:pt x="149984" y="229332"/>
                        <a:pt x="147901" y="236149"/>
                        <a:pt x="145628" y="242398"/>
                      </a:cubicBezTo>
                      <a:cubicBezTo>
                        <a:pt x="143356" y="248648"/>
                        <a:pt x="140894" y="254708"/>
                        <a:pt x="138243" y="260578"/>
                      </a:cubicBezTo>
                      <a:lnTo>
                        <a:pt x="97906" y="260578"/>
                      </a:lnTo>
                      <a:close/>
                      <a:moveTo>
                        <a:pt x="240884" y="81999"/>
                      </a:moveTo>
                      <a:lnTo>
                        <a:pt x="240884" y="113245"/>
                      </a:lnTo>
                      <a:lnTo>
                        <a:pt x="105671" y="113245"/>
                      </a:lnTo>
                      <a:lnTo>
                        <a:pt x="105671" y="81999"/>
                      </a:lnTo>
                      <a:lnTo>
                        <a:pt x="240884" y="8199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grpSp>
        </p:grpSp>
        <p:pic>
          <p:nvPicPr>
            <p:cNvPr id="57351" name="图形 4"/>
            <p:cNvPicPr>
              <a:picLocks noChangeAspect="1"/>
            </p:cNvPicPr>
            <p:nvPr/>
          </p:nvPicPr>
          <p:blipFill>
            <a:blip r:embed="rId3"/>
            <a:stretch>
              <a:fillRect/>
            </a:stretch>
          </p:blipFill>
          <p:spPr>
            <a:xfrm>
              <a:off x="8394642" y="741050"/>
              <a:ext cx="1386675" cy="316260"/>
            </a:xfrm>
            <a:prstGeom prst="rect">
              <a:avLst/>
            </a:prstGeom>
            <a:noFill/>
            <a:ln w="9525">
              <a:noFill/>
            </a:ln>
          </p:spPr>
        </p:pic>
        <p:cxnSp>
          <p:nvCxnSpPr>
            <p:cNvPr id="9" name="直接连接符 9"/>
            <p:cNvCxnSpPr/>
            <p:nvPr/>
          </p:nvCxnSpPr>
          <p:spPr>
            <a:xfrm>
              <a:off x="9879250" y="751395"/>
              <a:ext cx="0" cy="295570"/>
            </a:xfrm>
            <a:prstGeom prst="line">
              <a:avLst/>
            </a:prstGeom>
            <a:ln w="5080">
              <a:solidFill>
                <a:srgbClr val="004097"/>
              </a:solidFill>
            </a:ln>
          </p:spPr>
          <p:style>
            <a:lnRef idx="1">
              <a:schemeClr val="accent1"/>
            </a:lnRef>
            <a:fillRef idx="0">
              <a:schemeClr val="accent1"/>
            </a:fillRef>
            <a:effectRef idx="0">
              <a:schemeClr val="accent1"/>
            </a:effectRef>
            <a:fontRef idx="minor">
              <a:schemeClr val="tx1"/>
            </a:fontRef>
          </p:style>
        </p:cxnSp>
      </p:gr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58371"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000"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7" name="内容占位符 2"/>
          <p:cNvSpPr>
            <a:spLocks noGrp="1"/>
          </p:cNvSpPr>
          <p:nvPr>
            <p:ph idx="1" hasCustomPrompt="1"/>
          </p:nvPr>
        </p:nvSpPr>
        <p:spPr>
          <a:xfrm>
            <a:off x="484532" y="789973"/>
            <a:ext cx="8184875" cy="3860919"/>
          </a:xfrm>
          <a:prstGeom prst="rect">
            <a:avLst/>
          </a:prstGeom>
        </p:spPr>
        <p:txBody>
          <a:bodyPr/>
          <a:lstStyle>
            <a:lvl1pPr>
              <a:lnSpc>
                <a:spcPct val="120000"/>
              </a:lnSpc>
              <a:defRPr b="0" i="0">
                <a:latin typeface="Microsoft YaHei" panose="020B0503020204020204" pitchFamily="34" charset="-122"/>
                <a:ea typeface="Microsoft YaHei" panose="020B0503020204020204" pitchFamily="34" charset="-122"/>
              </a:defRPr>
            </a:lvl1pPr>
            <a:lvl2pPr>
              <a:lnSpc>
                <a:spcPct val="120000"/>
              </a:lnSpc>
              <a:defRPr b="0" i="0">
                <a:latin typeface="Microsoft YaHei" panose="020B0503020204020204" pitchFamily="34" charset="-122"/>
                <a:ea typeface="Microsoft YaHei" panose="020B0503020204020204" pitchFamily="34" charset="-122"/>
              </a:defRPr>
            </a:lvl2pPr>
            <a:lvl3pPr>
              <a:lnSpc>
                <a:spcPct val="120000"/>
              </a:lnSpc>
              <a:defRPr b="0" i="0">
                <a:latin typeface="Microsoft YaHei" panose="020B0503020204020204" pitchFamily="34" charset="-122"/>
                <a:ea typeface="Microsoft YaHei" panose="020B0503020204020204" pitchFamily="34" charset="-122"/>
              </a:defRPr>
            </a:lvl3pPr>
            <a:lvl4pPr>
              <a:lnSpc>
                <a:spcPct val="120000"/>
              </a:lnSpc>
              <a:defRPr b="0" i="0">
                <a:latin typeface="Microsoft YaHei" panose="020B0503020204020204" pitchFamily="34" charset="-122"/>
                <a:ea typeface="Microsoft YaHei" panose="020B0503020204020204" pitchFamily="34" charset="-122"/>
              </a:defRPr>
            </a:lvl4pPr>
            <a:lvl5pPr>
              <a:lnSpc>
                <a:spcPct val="120000"/>
              </a:lnSpc>
              <a:defRPr b="0" i="0">
                <a:latin typeface="Microsoft YaHei" panose="020B0503020204020204" pitchFamily="34" charset="-122"/>
                <a:ea typeface="Microsoft YaHei" panose="020B0503020204020204"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59395"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700"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3441700"/>
            <a:ext cx="7886700" cy="1125538"/>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p:spPr>
        <p:txBody>
          <a:bodyPr/>
          <a:lstStyle/>
          <a:p>
            <a:r>
              <a:rPr lang="zh-CN" altLang="en-US"/>
              <a:t>单击此处编辑母版标题样式</a:t>
            </a:r>
          </a:p>
        </p:txBody>
      </p:sp>
      <p:sp>
        <p:nvSpPr>
          <p:cNvPr id="3" name="文本占位符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1879600"/>
            <a:ext cx="3868737"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1879600"/>
            <a:ext cx="3887788"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9" name="灯片编号占位符 8"/>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灯片编号占位符 3"/>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90204" pitchFamily="34" charset="0"/>
              <a:buNone/>
              <a:defRPr/>
            </a:pPr>
            <a:endParaRPr kumimoji="0" lang="zh-CN" altLang="en-US" sz="3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4638"/>
            <a:ext cx="5762625" cy="435768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a:t>单击此处编辑母版标题样式</a:t>
            </a:r>
          </a:p>
        </p:txBody>
      </p:sp>
      <p:sp>
        <p:nvSpPr>
          <p:cNvPr id="1027" name="文本占位符 2"/>
          <p:cNvSpPr>
            <a:spLocks noGrp="1"/>
          </p:cNvSpPr>
          <p:nvPr>
            <p:ph type="body" idx="1"/>
          </p:nvPr>
        </p:nvSpPr>
        <p:spPr>
          <a:xfrm>
            <a:off x="628650" y="1370013"/>
            <a:ext cx="7886700" cy="3262312"/>
          </a:xfrm>
          <a:prstGeom prst="rect">
            <a:avLst/>
          </a:prstGeom>
          <a:noFill/>
          <a:ln w="9525">
            <a:noFill/>
          </a:ln>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a:defRPr kumimoji="1" sz="1200" b="0" i="0">
                <a:solidFill>
                  <a:schemeClr val="tx1">
                    <a:tint val="82000"/>
                  </a:schemeClr>
                </a:solidFill>
                <a:ea typeface="Microsoft YaHei"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568204E1-B40B-5045-81F7-E359E3040D94}" type="datetimeFigureOut">
              <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2026/7/1</a:t>
            </a:fld>
            <a:endParaRPr kumimoji="1" lang="zh-CN" altLang="en-US" sz="12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a:defRPr kumimoji="1" sz="1200" b="0" i="0">
                <a:solidFill>
                  <a:schemeClr val="tx1">
                    <a:tint val="82000"/>
                  </a:schemeClr>
                </a:solidFill>
                <a:ea typeface="Microsoft YaHei"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lIns="91440" tIns="45720" rIns="91440" bIns="45720" rtlCol="0" anchor="ctr"/>
          <a:lstStyle>
            <a:lvl1pPr algn="r">
              <a:defRPr sz="1200">
                <a:solidFill>
                  <a:srgbClr val="767676"/>
                </a:solidFill>
                <a:ea typeface="微软雅黑" panose="020B0503020204020204" pitchFamily="34" charset="-122"/>
              </a:defRPr>
            </a:lvl1p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itchFamily="2" charset="-122"/>
        </a:defRPr>
      </a:lvl2pPr>
      <a:lvl3pPr algn="l" rtl="0" eaLnBrk="0" fontAlgn="base" hangingPunct="0">
        <a:lnSpc>
          <a:spcPct val="90000"/>
        </a:lnSpc>
        <a:spcBef>
          <a:spcPct val="0"/>
        </a:spcBef>
        <a:spcAft>
          <a:spcPct val="0"/>
        </a:spcAft>
        <a:defRPr sz="4400">
          <a:solidFill>
            <a:schemeClr val="tx1"/>
          </a:solidFill>
          <a:latin typeface="等线 Light" pitchFamily="2" charset="-122"/>
        </a:defRPr>
      </a:lvl3pPr>
      <a:lvl4pPr algn="l" rtl="0" eaLnBrk="0" fontAlgn="base" hangingPunct="0">
        <a:lnSpc>
          <a:spcPct val="90000"/>
        </a:lnSpc>
        <a:spcBef>
          <a:spcPct val="0"/>
        </a:spcBef>
        <a:spcAft>
          <a:spcPct val="0"/>
        </a:spcAft>
        <a:defRPr sz="4400">
          <a:solidFill>
            <a:schemeClr val="tx1"/>
          </a:solidFill>
          <a:latin typeface="等线 Light" pitchFamily="2" charset="-122"/>
        </a:defRPr>
      </a:lvl4pPr>
      <a:lvl5pPr algn="l" rtl="0" eaLnBrk="0" fontAlgn="base" hangingPunct="0">
        <a:lnSpc>
          <a:spcPct val="90000"/>
        </a:lnSpc>
        <a:spcBef>
          <a:spcPct val="0"/>
        </a:spcBef>
        <a:spcAft>
          <a:spcPct val="0"/>
        </a:spcAft>
        <a:defRPr sz="4400">
          <a:solidFill>
            <a:schemeClr val="tx1"/>
          </a:solidFill>
          <a:latin typeface="等线 Light" pitchFamily="2" charset="-122"/>
        </a:defRPr>
      </a:lvl5pPr>
      <a:lvl6pPr marL="457200" algn="l" rtl="0" fontAlgn="base">
        <a:lnSpc>
          <a:spcPct val="90000"/>
        </a:lnSpc>
        <a:spcBef>
          <a:spcPct val="0"/>
        </a:spcBef>
        <a:spcAft>
          <a:spcPct val="0"/>
        </a:spcAft>
        <a:defRPr sz="4400">
          <a:solidFill>
            <a:schemeClr val="tx1"/>
          </a:solidFill>
          <a:latin typeface="等线 Light" pitchFamily="2" charset="-122"/>
        </a:defRPr>
      </a:lvl6pPr>
      <a:lvl7pPr marL="914400" algn="l" rtl="0" fontAlgn="base">
        <a:lnSpc>
          <a:spcPct val="90000"/>
        </a:lnSpc>
        <a:spcBef>
          <a:spcPct val="0"/>
        </a:spcBef>
        <a:spcAft>
          <a:spcPct val="0"/>
        </a:spcAft>
        <a:defRPr sz="4400">
          <a:solidFill>
            <a:schemeClr val="tx1"/>
          </a:solidFill>
          <a:latin typeface="等线 Light" pitchFamily="2" charset="-122"/>
        </a:defRPr>
      </a:lvl7pPr>
      <a:lvl8pPr marL="1371600" algn="l" rtl="0" fontAlgn="base">
        <a:lnSpc>
          <a:spcPct val="90000"/>
        </a:lnSpc>
        <a:spcBef>
          <a:spcPct val="0"/>
        </a:spcBef>
        <a:spcAft>
          <a:spcPct val="0"/>
        </a:spcAft>
        <a:defRPr sz="4400">
          <a:solidFill>
            <a:schemeClr val="tx1"/>
          </a:solidFill>
          <a:latin typeface="等线 Light" pitchFamily="2" charset="-122"/>
        </a:defRPr>
      </a:lvl8pPr>
      <a:lvl9pPr marL="1828800" algn="l" rtl="0" fontAlgn="base">
        <a:lnSpc>
          <a:spcPct val="90000"/>
        </a:lnSpc>
        <a:spcBef>
          <a:spcPct val="0"/>
        </a:spcBef>
        <a:spcAft>
          <a:spcPct val="0"/>
        </a:spcAft>
        <a:defRPr sz="4400">
          <a:solidFill>
            <a:schemeClr val="tx1"/>
          </a:solidFill>
          <a:latin typeface="等线 Light"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image" Target="../media/image9.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971550" y="2066925"/>
            <a:ext cx="6858000" cy="1228725"/>
          </a:xfrm>
        </p:spPr>
        <p:txBody>
          <a:bodyPr vert="horz" wrap="square" lIns="61593" tIns="30796" rIns="61593" bIns="30796" numCol="1" rtlCol="0" anchor="ctr" anchorCtr="0" compatLnSpc="1"/>
          <a:lstStyle>
            <a:lvl1pPr lvl="0">
              <a:buClrTx/>
              <a:buSzTx/>
              <a:buFontTx/>
              <a:defRPr/>
            </a:lvl1pPr>
          </a:lstStyle>
          <a:p>
            <a:pPr lvl="0" algn="ctr" eaLnBrk="1" hangingPunct="1">
              <a:buNone/>
            </a:pPr>
            <a:r>
              <a:rPr lang="en-US" altLang="zh-CN" sz="3600">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W1D5:Linux</a:t>
            </a:r>
            <a:r>
              <a:rPr lang="zh-CN" altLang="en-US" sz="3600">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操作系统并发编程之多线程</a:t>
            </a:r>
          </a:p>
        </p:txBody>
      </p:sp>
      <p:sp>
        <p:nvSpPr>
          <p:cNvPr id="17410" name="MH_Entry_1">
            <a:hlinkClick r:id="" action="ppaction://noaction"/>
          </p:cNvPr>
          <p:cNvSpPr/>
          <p:nvPr>
            <p:custDataLst>
              <p:tags r:id="rId1"/>
            </p:custDataLst>
          </p:nvPr>
        </p:nvSpPr>
        <p:spPr>
          <a:xfrm>
            <a:off x="1741488" y="3336925"/>
            <a:ext cx="5521325" cy="581025"/>
          </a:xfrm>
          <a:custGeom>
            <a:avLst/>
            <a:gdLst>
              <a:gd name="txL" fmla="*/ 0 w 3064329"/>
              <a:gd name="txT" fmla="*/ 0 h 437055"/>
              <a:gd name="txR" fmla="*/ 3064329 w 3064329"/>
              <a:gd name="txB" fmla="*/ 437055 h 437055"/>
            </a:gdLst>
            <a:ahLst/>
            <a:cxnLst>
              <a:cxn ang="0">
                <a:pos x="75332335" y="2001077"/>
              </a:cxn>
              <a:cxn ang="0">
                <a:pos x="0" y="2001077"/>
              </a:cxn>
              <a:cxn ang="0">
                <a:pos x="0" y="0"/>
              </a:cxn>
              <a:cxn ang="0">
                <a:pos x="75332335" y="0"/>
              </a:cxn>
            </a:cxnLst>
            <a:rect l="txL" t="txT" r="txR" b="txB"/>
            <a:pathLst>
              <a:path w="3064329" h="437055">
                <a:moveTo>
                  <a:pt x="3064329" y="437055"/>
                </a:moveTo>
                <a:lnTo>
                  <a:pt x="0" y="437055"/>
                </a:lnTo>
                <a:lnTo>
                  <a:pt x="0" y="0"/>
                </a:lnTo>
                <a:lnTo>
                  <a:pt x="3064329" y="0"/>
                </a:lnTo>
              </a:path>
            </a:pathLst>
          </a:custGeom>
          <a:noFill/>
          <a:ln w="3175">
            <a:noFill/>
          </a:ln>
        </p:spPr>
        <p:txBody>
          <a:bodyPr lIns="270000" tIns="0" rIns="0" bIns="0" anchor="ctr" anchorCtr="0"/>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50000"/>
              </a:lnSpc>
              <a:spcBef>
                <a:spcPct val="0"/>
              </a:spcBef>
              <a:buFontTx/>
              <a:buNone/>
            </a:pPr>
            <a:endParaRPr lang="en-US" altLang="zh-CN" sz="2100" b="1">
              <a:solidFill>
                <a:srgbClr val="0070C0"/>
              </a:solidFill>
              <a:cs typeface="Times New Roman" panose="02020503050405090304" pitchFamily="18" charset="0"/>
            </a:endParaRPr>
          </a:p>
          <a:p>
            <a:pPr marL="0" lvl="0" indent="0" algn="ctr" eaLnBrk="1" hangingPunct="1">
              <a:lnSpc>
                <a:spcPct val="150000"/>
              </a:lnSpc>
              <a:spcBef>
                <a:spcPct val="0"/>
              </a:spcBef>
              <a:buFontTx/>
              <a:buNone/>
            </a:pPr>
            <a:r>
              <a:rPr lang="en-US" altLang="zh-CN" sz="2100" b="1">
                <a:solidFill>
                  <a:srgbClr val="0070C0"/>
                </a:solidFill>
                <a:cs typeface="Times New Roman" panose="02020503050405090304" pitchFamily="18" charset="0"/>
              </a:rPr>
              <a:t>Linux</a:t>
            </a:r>
            <a:r>
              <a:rPr lang="zh-CN" altLang="zh-CN" sz="2100" b="1">
                <a:solidFill>
                  <a:srgbClr val="0070C0"/>
                </a:solidFill>
                <a:cs typeface="Times New Roman" panose="02020503050405090304" pitchFamily="18" charset="0"/>
              </a:rPr>
              <a:t>下</a:t>
            </a:r>
            <a:r>
              <a:rPr lang="en-US" altLang="zh-CN" sz="2100" b="1">
                <a:solidFill>
                  <a:srgbClr val="0070C0"/>
                </a:solidFill>
                <a:cs typeface="Times New Roman" panose="02020503050405090304" pitchFamily="18" charset="0"/>
              </a:rPr>
              <a:t>Web Server</a:t>
            </a:r>
            <a:r>
              <a:rPr lang="zh-CN" altLang="zh-CN" sz="2100" b="1">
                <a:solidFill>
                  <a:srgbClr val="0070C0"/>
                </a:solidFill>
                <a:cs typeface="Times New Roman" panose="02020503050405090304" pitchFamily="18" charset="0"/>
              </a:rPr>
              <a:t>的设计</a:t>
            </a:r>
          </a:p>
          <a:p>
            <a:pPr marL="0" lvl="0" indent="0" eaLnBrk="1" hangingPunct="1">
              <a:lnSpc>
                <a:spcPct val="150000"/>
              </a:lnSpc>
              <a:spcBef>
                <a:spcPct val="0"/>
              </a:spcBef>
              <a:buFontTx/>
              <a:buNone/>
            </a:pPr>
            <a:endParaRPr lang="zh-CN" altLang="en-US" sz="2100" b="1">
              <a:solidFill>
                <a:srgbClr val="0070C0"/>
              </a:solidFill>
              <a:ea typeface="Times New Roman" panose="02020503050405090304" pitchFamily="18"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noChangeArrowheads="1"/>
          </p:cNvSpPr>
          <p:nvPr/>
        </p:nvSpPr>
        <p:spPr bwMode="auto">
          <a:xfrm>
            <a:off x="7488238" y="4948238"/>
            <a:ext cx="385763" cy="147638"/>
          </a:xfrm>
          <a:prstGeom prst="rect">
            <a:avLst/>
          </a:prstGeom>
          <a:noFill/>
          <a:ln>
            <a:noFill/>
          </a:ln>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None/>
            </a:pPr>
            <a:fld id="{9A0DB2DC-4C9A-4742-B13C-FB6460FD3503}" type="slidenum">
              <a:rPr lang="zh-CN" altLang="en-US" sz="1000">
                <a:latin typeface="Arial" panose="020B0604020202090204" pitchFamily="34" charset="0"/>
              </a:rPr>
              <a:t>2</a:t>
            </a:fld>
            <a:endParaRPr lang="zh-CN" altLang="en-US" sz="1000">
              <a:latin typeface="Arial" panose="020B0604020202090204" pitchFamily="34" charset="0"/>
            </a:endParaRPr>
          </a:p>
        </p:txBody>
      </p:sp>
      <p:pic>
        <p:nvPicPr>
          <p:cNvPr id="18434" name="Picture 2" descr="j0149481"/>
          <p:cNvPicPr>
            <a:picLocks noChangeAspect="1"/>
          </p:cNvPicPr>
          <p:nvPr/>
        </p:nvPicPr>
        <p:blipFill>
          <a:blip r:embed="rId2"/>
          <a:stretch>
            <a:fillRect/>
          </a:stretch>
        </p:blipFill>
        <p:spPr>
          <a:xfrm>
            <a:off x="5437188" y="2627313"/>
            <a:ext cx="2284412" cy="2320925"/>
          </a:xfrm>
          <a:prstGeom prst="rect">
            <a:avLst/>
          </a:prstGeom>
          <a:noFill/>
          <a:ln w="9525">
            <a:noFill/>
          </a:ln>
        </p:spPr>
      </p:pic>
      <p:sp>
        <p:nvSpPr>
          <p:cNvPr id="5124" name="Rectangle 3"/>
          <p:cNvSpPr>
            <a:spLocks noGrp="1" noChangeArrowheads="1"/>
          </p:cNvSpPr>
          <p:nvPr>
            <p:ph type="title"/>
          </p:nvPr>
        </p:nvSpPr>
        <p:spPr>
          <a:xfrm>
            <a:off x="500063" y="87313"/>
            <a:ext cx="8169275" cy="592138"/>
          </a:xfrm>
        </p:spPr>
        <p:txBody>
          <a:bodyPr vert="horz" wrap="square" lIns="91440" tIns="45720" rIns="91440" bIns="45720" numCol="1" rtlCol="0" anchor="ctr" anchorCtr="0" compatLnSpc="1"/>
          <a:lstStyle/>
          <a:p>
            <a:pPr eaLnBrk="1" hangingPunct="1">
              <a:buNone/>
            </a:pPr>
            <a:r>
              <a:rPr lang="zh-CN" altLang="en-US" kern="1200">
                <a:solidFill>
                  <a:srgbClr val="0070C0"/>
                </a:solidFill>
                <a:effectLst>
                  <a:outerShdw blurRad="38100" dist="38100" dir="2700000">
                    <a:srgbClr val="C0C0C0"/>
                  </a:outerShdw>
                </a:effectLst>
                <a:latin typeface="微软雅黑" panose="020B0503020204020204" pitchFamily="34" charset="-122"/>
                <a:ea typeface="微软雅黑" panose="020B0503020204020204" pitchFamily="34" charset="-122"/>
                <a:cs typeface="+mj-cs"/>
              </a:rPr>
              <a:t>讲授内容</a:t>
            </a:r>
          </a:p>
        </p:txBody>
      </p:sp>
      <p:sp>
        <p:nvSpPr>
          <p:cNvPr id="18436" name="Rectangle 4"/>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700" kern="1200">
                <a:latin typeface="微软雅黑" panose="020B0503020204020204" pitchFamily="34" charset="-122"/>
                <a:ea typeface="微软雅黑" panose="020B0503020204020204" pitchFamily="34" charset="-122"/>
                <a:cs typeface="+mn-cs"/>
              </a:rPr>
              <a:t>训练目的</a:t>
            </a:r>
            <a:endParaRPr lang="en-US" altLang="zh-CN" sz="2700" kern="1200">
              <a:latin typeface="微软雅黑" panose="020B0503020204020204" pitchFamily="34" charset="-122"/>
              <a:ea typeface="微软雅黑" panose="020B0503020204020204" pitchFamily="34" charset="-122"/>
              <a:cs typeface="+mn-cs"/>
            </a:endParaRPr>
          </a:p>
          <a:p>
            <a:pPr eaLnBrk="1" hangingPunct="1"/>
            <a:r>
              <a:rPr lang="zh-CN" altLang="en-US" sz="2700" kern="1200">
                <a:latin typeface="微软雅黑" panose="020B0503020204020204" pitchFamily="34" charset="-122"/>
                <a:ea typeface="微软雅黑" panose="020B0503020204020204" pitchFamily="34" charset="-122"/>
                <a:cs typeface="+mn-cs"/>
              </a:rPr>
              <a:t>训练原理</a:t>
            </a:r>
            <a:endParaRPr lang="en-US" altLang="zh-CN" sz="2700" kern="1200">
              <a:latin typeface="微软雅黑" panose="020B0503020204020204" pitchFamily="34" charset="-122"/>
              <a:ea typeface="微软雅黑" panose="020B0503020204020204" pitchFamily="34" charset="-122"/>
              <a:cs typeface="+mn-cs"/>
            </a:endParaRPr>
          </a:p>
          <a:p>
            <a:pPr eaLnBrk="1" hangingPunct="1"/>
            <a:r>
              <a:rPr lang="zh-CN" altLang="en-US" sz="2700" kern="1200">
                <a:latin typeface="微软雅黑" panose="020B0503020204020204" pitchFamily="34" charset="-122"/>
                <a:ea typeface="微软雅黑" panose="020B0503020204020204" pitchFamily="34" charset="-122"/>
                <a:cs typeface="+mn-cs"/>
              </a:rPr>
              <a:t>训练内容</a:t>
            </a:r>
            <a:endParaRPr lang="en-US" altLang="zh-CN"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kern="1200">
                <a:solidFill>
                  <a:srgbClr val="0070C0"/>
                </a:solidFill>
                <a:latin typeface="微软雅黑" panose="020B0503020204020204" pitchFamily="34" charset="-122"/>
                <a:ea typeface="微软雅黑" panose="020B0503020204020204" pitchFamily="34" charset="-122"/>
                <a:cs typeface="+mj-cs"/>
              </a:rPr>
              <a:t>Linux</a:t>
            </a:r>
            <a:r>
              <a:rPr lang="zh-CN" altLang="en-US" kern="1200">
                <a:solidFill>
                  <a:srgbClr val="0070C0"/>
                </a:solidFill>
                <a:latin typeface="微软雅黑" panose="020B0503020204020204" pitchFamily="34" charset="-122"/>
                <a:ea typeface="微软雅黑" panose="020B0503020204020204" pitchFamily="34" charset="-122"/>
                <a:cs typeface="+mj-cs"/>
              </a:rPr>
              <a:t>操作系统并发编程之多线程</a:t>
            </a:r>
          </a:p>
        </p:txBody>
      </p:sp>
      <p:sp>
        <p:nvSpPr>
          <p:cNvPr id="19458"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700" kern="1200">
                <a:latin typeface="微软雅黑" panose="020B0503020204020204" pitchFamily="34" charset="-122"/>
                <a:ea typeface="微软雅黑" panose="020B0503020204020204" pitchFamily="34" charset="-122"/>
                <a:cs typeface="+mn-cs"/>
              </a:rPr>
              <a:t>训练目的</a:t>
            </a:r>
          </a:p>
          <a:p>
            <a:pPr lvl="1" eaLnBrk="1" hangingPunct="1"/>
            <a:r>
              <a:rPr lang="zh-CN" altLang="en-US" kern="1200">
                <a:latin typeface="微软雅黑" panose="020B0503020204020204" pitchFamily="34" charset="-122"/>
                <a:ea typeface="微软雅黑" panose="020B0503020204020204" pitchFamily="34" charset="-122"/>
                <a:cs typeface="+mn-cs"/>
              </a:rPr>
              <a:t>掌握</a:t>
            </a:r>
            <a:r>
              <a:rPr lang="en-US" altLang="zh-CN" kern="1200">
                <a:latin typeface="微软雅黑" panose="020B0503020204020204" pitchFamily="34" charset="-122"/>
                <a:ea typeface="微软雅黑" panose="020B0503020204020204" pitchFamily="34" charset="-122"/>
                <a:cs typeface="+mn-cs"/>
              </a:rPr>
              <a:t>UNIX/Linux</a:t>
            </a:r>
            <a:r>
              <a:rPr lang="zh-CN" altLang="en-US" kern="1200">
                <a:latin typeface="微软雅黑" panose="020B0503020204020204" pitchFamily="34" charset="-122"/>
                <a:ea typeface="微软雅黑" panose="020B0503020204020204" pitchFamily="34" charset="-122"/>
                <a:cs typeface="+mn-cs"/>
              </a:rPr>
              <a:t>系统创建线程的方法</a:t>
            </a:r>
          </a:p>
          <a:p>
            <a:pPr lvl="1" eaLnBrk="1" hangingPunct="1"/>
            <a:r>
              <a:rPr lang="zh-CN" altLang="en-US" kern="1200">
                <a:latin typeface="微软雅黑" panose="020B0503020204020204" pitchFamily="34" charset="-122"/>
                <a:ea typeface="微软雅黑" panose="020B0503020204020204" pitchFamily="34" charset="-122"/>
                <a:cs typeface="+mn-cs"/>
              </a:rPr>
              <a:t>理解线程启动例程的设计思想</a:t>
            </a:r>
          </a:p>
          <a:p>
            <a:pPr lvl="1" eaLnBrk="1" hangingPunct="1"/>
            <a:r>
              <a:rPr lang="zh-CN" altLang="en-US" kern="1200">
                <a:latin typeface="微软雅黑" panose="020B0503020204020204" pitchFamily="34" charset="-122"/>
                <a:ea typeface="微软雅黑" panose="020B0503020204020204" pitchFamily="34" charset="-122"/>
                <a:cs typeface="+mn-cs"/>
              </a:rPr>
              <a:t>掌握线程终止的方式</a:t>
            </a:r>
          </a:p>
          <a:p>
            <a:pPr lvl="1" eaLnBrk="1" hangingPunct="1"/>
            <a:r>
              <a:rPr lang="zh-CN" altLang="en-US" kern="1200">
                <a:latin typeface="微软雅黑" panose="020B0503020204020204" pitchFamily="34" charset="-122"/>
                <a:ea typeface="微软雅黑" panose="020B0503020204020204" pitchFamily="34" charset="-122"/>
                <a:cs typeface="+mn-cs"/>
              </a:rPr>
              <a:t>掌握线程之间共享数据的方法</a:t>
            </a:r>
          </a:p>
          <a:p>
            <a:pPr lvl="1" eaLnBrk="1" hangingPunct="1"/>
            <a:r>
              <a:rPr lang="zh-CN" altLang="en-US" kern="1200">
                <a:latin typeface="微软雅黑" panose="020B0503020204020204" pitchFamily="34" charset="-122"/>
                <a:ea typeface="微软雅黑" panose="020B0503020204020204" pitchFamily="34" charset="-122"/>
                <a:cs typeface="+mn-cs"/>
              </a:rPr>
              <a:t>掌握等待线程终止的方法</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kern="1200">
                <a:solidFill>
                  <a:srgbClr val="0070C0"/>
                </a:solidFill>
                <a:latin typeface="微软雅黑" panose="020B0503020204020204" pitchFamily="34" charset="-122"/>
                <a:ea typeface="微软雅黑" panose="020B0503020204020204" pitchFamily="34" charset="-122"/>
                <a:cs typeface="+mj-cs"/>
              </a:rPr>
              <a:t>Linux</a:t>
            </a:r>
            <a:r>
              <a:rPr lang="zh-CN" altLang="en-US" kern="1200">
                <a:solidFill>
                  <a:srgbClr val="0070C0"/>
                </a:solidFill>
                <a:latin typeface="微软雅黑" panose="020B0503020204020204" pitchFamily="34" charset="-122"/>
                <a:ea typeface="微软雅黑" panose="020B0503020204020204" pitchFamily="34" charset="-122"/>
                <a:cs typeface="+mj-cs"/>
              </a:rPr>
              <a:t>操作系统并发编程之多线程</a:t>
            </a:r>
          </a:p>
        </p:txBody>
      </p:sp>
      <p:sp>
        <p:nvSpPr>
          <p:cNvPr id="21506"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黑体" panose="02010600030101010101" pitchFamily="49" charset="-122"/>
                <a:ea typeface="微软雅黑" panose="020B0503020204020204" pitchFamily="34" charset="-122"/>
                <a:cs typeface="+mn-cs"/>
              </a:rPr>
              <a:t>训练目的：</a:t>
            </a:r>
            <a:endParaRPr lang="en-US" altLang="zh-CN" sz="2400" kern="1200">
              <a:latin typeface="黑体" panose="02010600030101010101" pitchFamily="49" charset="-122"/>
              <a:ea typeface="微软雅黑" panose="020B0503020204020204" pitchFamily="34" charset="-122"/>
              <a:cs typeface="+mn-cs"/>
            </a:endParaRPr>
          </a:p>
          <a:p>
            <a:pPr lvl="1" eaLnBrk="1" hangingPunct="1"/>
            <a:r>
              <a:rPr lang="zh-CN" altLang="en-US" sz="2100" kern="1200">
                <a:latin typeface="黑体" panose="02010600030101010101" pitchFamily="49" charset="-122"/>
                <a:ea typeface="微软雅黑" panose="020B0503020204020204" pitchFamily="34" charset="-122"/>
                <a:cs typeface="+mn-cs"/>
              </a:rPr>
              <a:t>了解临界资源、哲学家进餐问题、死锁等经典的操作系统同步互斥问题的基本概念</a:t>
            </a:r>
            <a:endParaRPr lang="en-US" altLang="zh-CN" sz="2100" kern="1200">
              <a:latin typeface="黑体" panose="02010600030101010101" pitchFamily="49" charset="-122"/>
              <a:ea typeface="微软雅黑" panose="020B0503020204020204" pitchFamily="34" charset="-122"/>
              <a:cs typeface="+mn-cs"/>
            </a:endParaRPr>
          </a:p>
          <a:p>
            <a:pPr lvl="1" eaLnBrk="1" hangingPunct="1"/>
            <a:r>
              <a:rPr lang="zh-CN" altLang="en-US" sz="2100" kern="1200">
                <a:latin typeface="黑体" panose="02010600030101010101" pitchFamily="49" charset="-122"/>
                <a:ea typeface="微软雅黑" panose="020B0503020204020204" pitchFamily="34" charset="-122"/>
                <a:cs typeface="+mn-cs"/>
              </a:rPr>
              <a:t>掌握利用互斥量机制实现多线程对临界资源互斥访问的方法</a:t>
            </a:r>
            <a:endParaRPr lang="en-US" altLang="zh-CN" sz="2100" kern="1200">
              <a:latin typeface="黑体" panose="02010600030101010101" pitchFamily="49" charset="-122"/>
              <a:ea typeface="微软雅黑" panose="020B0503020204020204" pitchFamily="34" charset="-122"/>
              <a:cs typeface="+mn-cs"/>
            </a:endParaRPr>
          </a:p>
          <a:p>
            <a:pPr lvl="1" eaLnBrk="1" hangingPunct="1"/>
            <a:r>
              <a:rPr lang="zh-CN" altLang="en-US" sz="2100" kern="1200">
                <a:latin typeface="黑体" panose="02010600030101010101" pitchFamily="49" charset="-122"/>
                <a:ea typeface="微软雅黑" panose="020B0503020204020204" pitchFamily="34" charset="-122"/>
                <a:cs typeface="+mn-cs"/>
              </a:rPr>
              <a:t>掌握互斥量非阻塞加锁的操作方法</a:t>
            </a:r>
            <a:endParaRPr lang="en-US" altLang="zh-CN" sz="2100" kern="1200">
              <a:latin typeface="黑体" panose="02010600030101010101" pitchFamily="49" charset="-122"/>
              <a:ea typeface="微软雅黑" panose="020B0503020204020204" pitchFamily="34" charset="-122"/>
              <a:cs typeface="+mn-cs"/>
            </a:endParaRPr>
          </a:p>
          <a:p>
            <a:pPr lvl="1" eaLnBrk="1" hangingPunct="1"/>
            <a:r>
              <a:rPr lang="zh-CN" altLang="zh-CN" sz="2100" kern="1200">
                <a:latin typeface="黑体" panose="02010600030101010101" pitchFamily="49" charset="-122"/>
                <a:ea typeface="微软雅黑" panose="020B0503020204020204" pitchFamily="34" charset="-122"/>
                <a:cs typeface="+mn-cs"/>
              </a:rPr>
              <a:t>掌握在保证对临界</a:t>
            </a:r>
            <a:r>
              <a:rPr lang="zh-CN" altLang="en-US" sz="2100" kern="1200">
                <a:latin typeface="黑体" panose="02010600030101010101" pitchFamily="49" charset="-122"/>
                <a:ea typeface="微软雅黑" panose="020B0503020204020204" pitchFamily="34" charset="-122"/>
                <a:cs typeface="+mn-cs"/>
              </a:rPr>
              <a:t>资源</a:t>
            </a:r>
            <a:r>
              <a:rPr lang="zh-CN" altLang="zh-CN" sz="2100" kern="1200">
                <a:latin typeface="黑体" panose="02010600030101010101" pitchFamily="49" charset="-122"/>
                <a:ea typeface="微软雅黑" panose="020B0503020204020204" pitchFamily="34" charset="-122"/>
                <a:cs typeface="+mn-cs"/>
              </a:rPr>
              <a:t>互斥访问的基础上通过让权等待的方式预防死锁的编程思想</a:t>
            </a:r>
            <a:endParaRPr lang="en-US" altLang="zh-CN" sz="2100" kern="1200">
              <a:latin typeface="黑体" panose="02010600030101010101" pitchFamily="49" charset="-122"/>
              <a:ea typeface="微软雅黑" panose="020B0503020204020204" pitchFamily="34" charset="-122"/>
              <a:cs typeface="+mn-cs"/>
            </a:endParaRPr>
          </a:p>
          <a:p>
            <a:pPr lvl="1" eaLnBrk="1" hangingPunct="1"/>
            <a:endParaRPr lang="zh-CN" altLang="en-US"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训练原理：线程的创建</a:t>
            </a:r>
          </a:p>
        </p:txBody>
      </p:sp>
      <p:sp>
        <p:nvSpPr>
          <p:cNvPr id="7172" name="Rectangle 3"/>
          <p:cNvSpPr>
            <a:spLocks noGrp="1"/>
          </p:cNvSpPr>
          <p:nvPr>
            <p:ph idx="1" hasCustomPrompt="1"/>
          </p:nvPr>
        </p:nvSpPr>
        <p:spPr>
          <a:xfrm>
            <a:off x="506413" y="679450"/>
            <a:ext cx="8185150" cy="3860800"/>
          </a:xfrm>
          <a:ln/>
        </p:spPr>
        <p:txBody>
          <a:bodyPr vert="horz" wrap="square" lIns="91440" tIns="45720" rIns="91440" bIns="45720" anchor="t" anchorCtr="0"/>
          <a:lstStyle/>
          <a:p>
            <a:pPr eaLnBrk="1" hangingPunct="1">
              <a:lnSpc>
                <a:spcPct val="150000"/>
              </a:lnSpc>
              <a:spcBef>
                <a:spcPct val="0"/>
              </a:spcBef>
            </a:pPr>
            <a:r>
              <a:rPr lang="en-US" altLang="zh-CN" sz="2400" kern="1200">
                <a:latin typeface="微软雅黑" panose="020B0503020204020204" pitchFamily="34" charset="-122"/>
                <a:ea typeface="微软雅黑" panose="020B0503020204020204" pitchFamily="34" charset="-122"/>
                <a:cs typeface="+mn-cs"/>
              </a:rPr>
              <a:t>pthread_create</a:t>
            </a:r>
            <a:r>
              <a:rPr lang="zh-CN" altLang="en-US" sz="2400" kern="1200">
                <a:latin typeface="微软雅黑" panose="020B0503020204020204" pitchFamily="34" charset="-122"/>
                <a:ea typeface="微软雅黑" panose="020B0503020204020204" pitchFamily="34" charset="-122"/>
                <a:cs typeface="+mn-cs"/>
              </a:rPr>
              <a:t>函数用于创建一个线程</a:t>
            </a:r>
          </a:p>
          <a:p>
            <a:pPr eaLnBrk="1" hangingPunct="1">
              <a:lnSpc>
                <a:spcPct val="150000"/>
              </a:lnSpc>
              <a:spcBef>
                <a:spcPct val="0"/>
              </a:spcBef>
            </a:pPr>
            <a:r>
              <a:rPr lang="zh-CN" altLang="en-US" sz="2400" kern="1200">
                <a:latin typeface="微软雅黑" panose="020B0503020204020204" pitchFamily="34" charset="-122"/>
                <a:ea typeface="微软雅黑" panose="020B0503020204020204" pitchFamily="34" charset="-122"/>
                <a:cs typeface="+mn-cs"/>
              </a:rPr>
              <a:t>函数原型</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lnSpc>
                <a:spcPct val="150000"/>
              </a:lnSpc>
              <a:spcBef>
                <a:spcPct val="0"/>
              </a:spcBef>
            </a:pPr>
            <a:r>
              <a:rPr lang="zh-CN" altLang="en-US" sz="2000" kern="1200">
                <a:latin typeface="微软雅黑" panose="020B0503020204020204" pitchFamily="34" charset="-122"/>
                <a:ea typeface="微软雅黑" panose="020B0503020204020204" pitchFamily="34" charset="-122"/>
                <a:cs typeface="+mn-cs"/>
              </a:rPr>
              <a:t>头文件：</a:t>
            </a:r>
            <a:r>
              <a:rPr lang="en-US" altLang="zh-CN" sz="2000" kern="1200">
                <a:latin typeface="微软雅黑" panose="020B0503020204020204" pitchFamily="34" charset="-122"/>
                <a:ea typeface="微软雅黑" panose="020B0503020204020204" pitchFamily="34" charset="-122"/>
                <a:cs typeface="+mn-cs"/>
              </a:rPr>
              <a:t>pthread.h</a:t>
            </a:r>
          </a:p>
          <a:p>
            <a:pPr lvl="1" eaLnBrk="1" hangingPunct="1">
              <a:lnSpc>
                <a:spcPct val="150000"/>
              </a:lnSpc>
              <a:spcBef>
                <a:spcPct val="0"/>
              </a:spcBef>
            </a:pPr>
            <a:r>
              <a:rPr lang="en-US" altLang="zh-CN" sz="2000" b="1" kern="1200">
                <a:solidFill>
                  <a:srgbClr val="00B050"/>
                </a:solidFill>
                <a:latin typeface="微软雅黑" panose="020B0503020204020204" pitchFamily="34" charset="-122"/>
                <a:ea typeface="微软雅黑" panose="020B0503020204020204" pitchFamily="34" charset="-122"/>
                <a:cs typeface="+mn-cs"/>
              </a:rPr>
              <a:t>int pthread_create(</a:t>
            </a:r>
            <a:r>
              <a:rPr lang="en-US" altLang="zh-CN" sz="2000" kern="1200">
                <a:solidFill>
                  <a:srgbClr val="FF0000"/>
                </a:solidFill>
                <a:latin typeface="微软雅黑" panose="020B0503020204020204" pitchFamily="34" charset="-122"/>
                <a:ea typeface="微软雅黑" panose="020B0503020204020204" pitchFamily="34" charset="-122"/>
                <a:cs typeface="+mn-cs"/>
              </a:rPr>
              <a:t>pthread_t *restrict tidp</a:t>
            </a:r>
            <a:r>
              <a:rPr lang="en-US" altLang="zh-CN" sz="2000" kern="1200">
                <a:latin typeface="微软雅黑" panose="020B0503020204020204" pitchFamily="34" charset="-122"/>
                <a:ea typeface="微软雅黑" panose="020B0503020204020204" pitchFamily="34" charset="-122"/>
                <a:cs typeface="+mn-cs"/>
              </a:rPr>
              <a:t>,</a:t>
            </a:r>
          </a:p>
          <a:p>
            <a:pPr lvl="1" eaLnBrk="1" hangingPunct="1">
              <a:lnSpc>
                <a:spcPct val="150000"/>
              </a:lnSpc>
              <a:spcBef>
                <a:spcPct val="0"/>
              </a:spcBef>
              <a:buFont typeface="Wingdings" panose="05000000000000000000" pitchFamily="2" charset="2"/>
              <a:buNone/>
            </a:pPr>
            <a:r>
              <a:rPr lang="en-US" altLang="zh-CN" sz="2000" kern="1200">
                <a:latin typeface="微软雅黑" panose="020B0503020204020204" pitchFamily="34" charset="-122"/>
                <a:ea typeface="微软雅黑" panose="020B0503020204020204" pitchFamily="34" charset="-122"/>
                <a:cs typeface="+mn-cs"/>
              </a:rPr>
              <a:t>			    </a:t>
            </a:r>
            <a:r>
              <a:rPr lang="en-US" altLang="zh-CN" sz="2000" kern="1200">
                <a:solidFill>
                  <a:srgbClr val="FF0000"/>
                </a:solidFill>
                <a:latin typeface="微软雅黑" panose="020B0503020204020204" pitchFamily="34" charset="-122"/>
                <a:ea typeface="微软雅黑" panose="020B0503020204020204" pitchFamily="34" charset="-122"/>
                <a:cs typeface="+mn-cs"/>
              </a:rPr>
              <a:t>const pthread_attr_t *restrict attr</a:t>
            </a:r>
            <a:r>
              <a:rPr lang="en-US" altLang="zh-CN" sz="2000" kern="1200">
                <a:latin typeface="微软雅黑" panose="020B0503020204020204" pitchFamily="34" charset="-122"/>
                <a:ea typeface="微软雅黑" panose="020B0503020204020204" pitchFamily="34" charset="-122"/>
                <a:cs typeface="+mn-cs"/>
              </a:rPr>
              <a:t>,</a:t>
            </a:r>
          </a:p>
          <a:p>
            <a:pPr lvl="1" eaLnBrk="1" hangingPunct="1">
              <a:lnSpc>
                <a:spcPct val="150000"/>
              </a:lnSpc>
              <a:spcBef>
                <a:spcPct val="0"/>
              </a:spcBef>
              <a:buFont typeface="Wingdings" panose="05000000000000000000" pitchFamily="2" charset="2"/>
              <a:buNone/>
            </a:pPr>
            <a:r>
              <a:rPr lang="en-US" altLang="zh-CN" sz="2000" kern="1200">
                <a:latin typeface="微软雅黑" panose="020B0503020204020204" pitchFamily="34" charset="-122"/>
                <a:ea typeface="微软雅黑" panose="020B0503020204020204" pitchFamily="34" charset="-122"/>
                <a:cs typeface="+mn-cs"/>
              </a:rPr>
              <a:t>			      	</a:t>
            </a:r>
            <a:r>
              <a:rPr lang="en-US" altLang="zh-CN" sz="2000" kern="1200">
                <a:solidFill>
                  <a:srgbClr val="FF0000"/>
                </a:solidFill>
                <a:latin typeface="微软雅黑" panose="020B0503020204020204" pitchFamily="34" charset="-122"/>
                <a:ea typeface="微软雅黑" panose="020B0503020204020204" pitchFamily="34" charset="-122"/>
                <a:cs typeface="+mn-cs"/>
              </a:rPr>
              <a:t>          void *(*start_rtn)(void *)</a:t>
            </a:r>
            <a:r>
              <a:rPr lang="en-US" altLang="zh-CN" sz="2000" kern="1200">
                <a:latin typeface="微软雅黑" panose="020B0503020204020204" pitchFamily="34" charset="-122"/>
                <a:ea typeface="微软雅黑" panose="020B0503020204020204" pitchFamily="34" charset="-122"/>
                <a:cs typeface="+mn-cs"/>
              </a:rPr>
              <a:t>, </a:t>
            </a:r>
          </a:p>
          <a:p>
            <a:pPr lvl="1" eaLnBrk="1" hangingPunct="1">
              <a:lnSpc>
                <a:spcPct val="150000"/>
              </a:lnSpc>
              <a:spcBef>
                <a:spcPct val="0"/>
              </a:spcBef>
              <a:buFont typeface="Wingdings" panose="05000000000000000000" pitchFamily="2" charset="2"/>
              <a:buNone/>
            </a:pPr>
            <a:r>
              <a:rPr lang="en-US" altLang="zh-CN" sz="2000" kern="1200">
                <a:latin typeface="微软雅黑" panose="020B0503020204020204" pitchFamily="34" charset="-122"/>
                <a:ea typeface="微软雅黑" panose="020B0503020204020204" pitchFamily="34" charset="-122"/>
                <a:cs typeface="+mn-cs"/>
              </a:rPr>
              <a:t>				                     </a:t>
            </a:r>
            <a:r>
              <a:rPr lang="en-US" altLang="zh-CN" sz="2000" kern="1200">
                <a:solidFill>
                  <a:srgbClr val="FF0000"/>
                </a:solidFill>
                <a:latin typeface="微软雅黑" panose="020B0503020204020204" pitchFamily="34" charset="-122"/>
                <a:ea typeface="微软雅黑" panose="020B0503020204020204" pitchFamily="34" charset="-122"/>
                <a:cs typeface="+mn-cs"/>
              </a:rPr>
              <a:t>void *restrict arg</a:t>
            </a:r>
            <a:r>
              <a:rPr lang="en-US" altLang="zh-CN" sz="2000" kern="1200">
                <a:latin typeface="微软雅黑" panose="020B0503020204020204" pitchFamily="34" charset="-122"/>
                <a:ea typeface="微软雅黑" panose="020B0503020204020204" pitchFamily="34" charset="-122"/>
                <a:cs typeface="+mn-cs"/>
              </a:rPr>
              <a:t>);</a:t>
            </a:r>
          </a:p>
          <a:p>
            <a:pPr eaLnBrk="1" hangingPunct="1">
              <a:lnSpc>
                <a:spcPct val="150000"/>
              </a:lnSpc>
              <a:spcBef>
                <a:spcPct val="0"/>
              </a:spcBef>
            </a:pPr>
            <a:r>
              <a:rPr lang="zh-CN" altLang="en-US" sz="2400" kern="1200">
                <a:latin typeface="微软雅黑" panose="020B0503020204020204" pitchFamily="34" charset="-122"/>
                <a:ea typeface="微软雅黑" panose="020B0503020204020204" pitchFamily="34" charset="-122"/>
                <a:cs typeface="+mn-cs"/>
              </a:rPr>
              <a:t>调用</a:t>
            </a:r>
            <a:r>
              <a:rPr lang="en-US" altLang="zh-CN" sz="2400" kern="1200">
                <a:latin typeface="微软雅黑" panose="020B0503020204020204" pitchFamily="34" charset="-122"/>
                <a:ea typeface="微软雅黑" panose="020B0503020204020204" pitchFamily="34" charset="-122"/>
                <a:cs typeface="+mn-cs"/>
              </a:rPr>
              <a:t>pthread_create</a:t>
            </a:r>
            <a:r>
              <a:rPr lang="zh-CN" altLang="en-US" sz="2400" kern="1200">
                <a:latin typeface="微软雅黑" panose="020B0503020204020204" pitchFamily="34" charset="-122"/>
                <a:ea typeface="微软雅黑" panose="020B0503020204020204" pitchFamily="34" charset="-122"/>
                <a:cs typeface="+mn-cs"/>
              </a:rPr>
              <a:t>函数的线程是所创建线程的父线程</a:t>
            </a:r>
            <a:endParaRPr lang="en-US" altLang="zh-CN" sz="2400" kern="1200">
              <a:latin typeface="微软雅黑" panose="020B0503020204020204" pitchFamily="34" charset="-122"/>
              <a:ea typeface="微软雅黑" panose="020B0503020204020204" pitchFamily="34" charset="-122"/>
              <a:cs typeface="+mn-cs"/>
            </a:endParaRPr>
          </a:p>
        </p:txBody>
      </p:sp>
      <p:sp>
        <p:nvSpPr>
          <p:cNvPr id="9218"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5</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 calcmode="lin" valueType="num">
                                      <p:cBhvr additive="base">
                                        <p:cTn id="7" dur="500" fill="hold"/>
                                        <p:tgtEl>
                                          <p:spTgt spid="717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anim calcmode="lin" valueType="num">
                                      <p:cBhvr additive="base">
                                        <p:cTn id="11" dur="500" fill="hold"/>
                                        <p:tgtEl>
                                          <p:spTgt spid="717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72">
                                            <p:txEl>
                                              <p:pRg st="3" end="3"/>
                                            </p:txEl>
                                          </p:spTgt>
                                        </p:tgtEl>
                                        <p:attrNameLst>
                                          <p:attrName>style.visibility</p:attrName>
                                        </p:attrNameLst>
                                      </p:cBhvr>
                                      <p:to>
                                        <p:strVal val="visible"/>
                                      </p:to>
                                    </p:set>
                                    <p:anim calcmode="lin" valueType="num">
                                      <p:cBhvr additive="base">
                                        <p:cTn id="15" dur="500" fill="hold"/>
                                        <p:tgtEl>
                                          <p:spTgt spid="717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172">
                                            <p:txEl>
                                              <p:pRg st="4" end="4"/>
                                            </p:txEl>
                                          </p:spTgt>
                                        </p:tgtEl>
                                        <p:attrNameLst>
                                          <p:attrName>style.visibility</p:attrName>
                                        </p:attrNameLst>
                                      </p:cBhvr>
                                      <p:to>
                                        <p:strVal val="visible"/>
                                      </p:to>
                                    </p:set>
                                    <p:anim calcmode="lin" valueType="num">
                                      <p:cBhvr additive="base">
                                        <p:cTn id="19" dur="500" fill="hold"/>
                                        <p:tgtEl>
                                          <p:spTgt spid="717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172">
                                            <p:txEl>
                                              <p:pRg st="5" end="5"/>
                                            </p:txEl>
                                          </p:spTgt>
                                        </p:tgtEl>
                                        <p:attrNameLst>
                                          <p:attrName>style.visibility</p:attrName>
                                        </p:attrNameLst>
                                      </p:cBhvr>
                                      <p:to>
                                        <p:strVal val="visible"/>
                                      </p:to>
                                    </p:set>
                                    <p:anim calcmode="lin" valueType="num">
                                      <p:cBhvr additive="base">
                                        <p:cTn id="23" dur="500" fill="hold"/>
                                        <p:tgtEl>
                                          <p:spTgt spid="717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172">
                                            <p:txEl>
                                              <p:pRg st="6" end="6"/>
                                            </p:txEl>
                                          </p:spTgt>
                                        </p:tgtEl>
                                        <p:attrNameLst>
                                          <p:attrName>style.visibility</p:attrName>
                                        </p:attrNameLst>
                                      </p:cBhvr>
                                      <p:to>
                                        <p:strVal val="visible"/>
                                      </p:to>
                                    </p:set>
                                    <p:anim calcmode="lin" valueType="num">
                                      <p:cBhvr additive="base">
                                        <p:cTn id="27" dur="500" fill="hold"/>
                                        <p:tgtEl>
                                          <p:spTgt spid="717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172">
                                            <p:txEl>
                                              <p:pRg st="7" end="7"/>
                                            </p:txEl>
                                          </p:spTgt>
                                        </p:tgtEl>
                                        <p:attrNameLst>
                                          <p:attrName>style.visibility</p:attrName>
                                        </p:attrNameLst>
                                      </p:cBhvr>
                                      <p:to>
                                        <p:strVal val="visible"/>
                                      </p:to>
                                    </p:set>
                                    <p:anim calcmode="lin" valueType="num">
                                      <p:cBhvr additive="base">
                                        <p:cTn id="33" dur="500" fill="hold"/>
                                        <p:tgtEl>
                                          <p:spTgt spid="7172">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17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训练原理：线程的创建</a:t>
            </a:r>
          </a:p>
        </p:txBody>
      </p:sp>
      <p:sp>
        <p:nvSpPr>
          <p:cNvPr id="8196" name="Rectangle 3"/>
          <p:cNvSpPr>
            <a:spLocks noGrp="1" noChangeArrowheads="1"/>
          </p:cNvSpPr>
          <p:nvPr>
            <p:ph idx="1" hasCustomPrompt="1"/>
          </p:nvPr>
        </p:nvSpPr>
        <p:spPr>
          <a:xfrm>
            <a:off x="484188" y="790575"/>
            <a:ext cx="8185150" cy="3860800"/>
          </a:xfrm>
        </p:spPr>
        <p:txBody>
          <a:bodyPr vert="horz" wrap="square" lIns="91440" tIns="45720" rIns="91440" bIns="45720" numCol="1" rtlCol="0" anchor="t" anchorCtr="0" compatLnSpc="1"/>
          <a:lstStyle/>
          <a:p>
            <a:pPr eaLnBrk="1" hangingPunct="1"/>
            <a:r>
              <a:rPr lang="zh-CN" altLang="en-US" sz="2200" kern="1200">
                <a:latin typeface="微软雅黑" panose="020B0503020204020204" pitchFamily="34" charset="-122"/>
                <a:ea typeface="微软雅黑" panose="020B0503020204020204" pitchFamily="34" charset="-122"/>
                <a:cs typeface="+mn-cs"/>
              </a:rPr>
              <a:t>参数</a:t>
            </a:r>
          </a:p>
          <a:p>
            <a:pPr lvl="1" eaLnBrk="1" hangingPunct="1"/>
            <a:r>
              <a:rPr lang="en-US" altLang="zh-CN" sz="1900" kern="1200">
                <a:latin typeface="微软雅黑" panose="020B0503020204020204" pitchFamily="34" charset="-122"/>
                <a:ea typeface="微软雅黑" panose="020B0503020204020204" pitchFamily="34" charset="-122"/>
                <a:cs typeface="+mn-cs"/>
              </a:rPr>
              <a:t>tidp</a:t>
            </a:r>
            <a:r>
              <a:rPr lang="zh-CN" altLang="en-US" sz="1900" kern="1200">
                <a:latin typeface="微软雅黑" panose="020B0503020204020204" pitchFamily="34" charset="-122"/>
                <a:ea typeface="微软雅黑" panose="020B0503020204020204" pitchFamily="34" charset="-122"/>
                <a:cs typeface="+mn-cs"/>
              </a:rPr>
              <a:t>：指向线程</a:t>
            </a:r>
            <a:r>
              <a:rPr lang="en-US" altLang="zh-CN" sz="1900" kern="1200">
                <a:latin typeface="微软雅黑" panose="020B0503020204020204" pitchFamily="34" charset="-122"/>
                <a:ea typeface="微软雅黑" panose="020B0503020204020204" pitchFamily="34" charset="-122"/>
                <a:cs typeface="+mn-cs"/>
              </a:rPr>
              <a:t>ID</a:t>
            </a:r>
            <a:r>
              <a:rPr lang="zh-CN" altLang="en-US" sz="1900" kern="1200">
                <a:latin typeface="微软雅黑" panose="020B0503020204020204" pitchFamily="34" charset="-122"/>
                <a:ea typeface="微软雅黑" panose="020B0503020204020204" pitchFamily="34" charset="-122"/>
                <a:cs typeface="+mn-cs"/>
              </a:rPr>
              <a:t>的指针，当函数成功返回时将存储所创建的子线程</a:t>
            </a:r>
            <a:r>
              <a:rPr lang="en-US" altLang="zh-CN" sz="1900" kern="1200">
                <a:latin typeface="微软雅黑" panose="020B0503020204020204" pitchFamily="34" charset="-122"/>
                <a:ea typeface="微软雅黑" panose="020B0503020204020204" pitchFamily="34" charset="-122"/>
                <a:cs typeface="+mn-cs"/>
              </a:rPr>
              <a:t>ID</a:t>
            </a:r>
          </a:p>
          <a:p>
            <a:pPr lvl="1" eaLnBrk="1" hangingPunct="1"/>
            <a:r>
              <a:rPr lang="en-US" altLang="zh-CN" sz="1900" kern="1200">
                <a:latin typeface="微软雅黑" panose="020B0503020204020204" pitchFamily="34" charset="-122"/>
                <a:ea typeface="微软雅黑" panose="020B0503020204020204" pitchFamily="34" charset="-122"/>
                <a:cs typeface="+mn-cs"/>
              </a:rPr>
              <a:t>attr</a:t>
            </a:r>
            <a:r>
              <a:rPr lang="zh-CN" altLang="en-US" sz="1900" kern="1200">
                <a:latin typeface="微软雅黑" panose="020B0503020204020204" pitchFamily="34" charset="-122"/>
                <a:ea typeface="微软雅黑" panose="020B0503020204020204" pitchFamily="34" charset="-122"/>
                <a:cs typeface="+mn-cs"/>
              </a:rPr>
              <a:t>：用于指定所创建线程的属性（</a:t>
            </a:r>
            <a:r>
              <a:rPr lang="zh-CN" altLang="en-US" sz="1900" kern="1200">
                <a:solidFill>
                  <a:srgbClr val="FF0000"/>
                </a:solidFill>
                <a:latin typeface="微软雅黑" panose="020B0503020204020204" pitchFamily="34" charset="-122"/>
                <a:ea typeface="微软雅黑" panose="020B0503020204020204" pitchFamily="34" charset="-122"/>
                <a:cs typeface="+mn-cs"/>
              </a:rPr>
              <a:t>一般直接传入空指针</a:t>
            </a:r>
            <a:r>
              <a:rPr lang="en-US" altLang="zh-CN" sz="1900" kern="1200">
                <a:solidFill>
                  <a:srgbClr val="FF0000"/>
                </a:solidFill>
                <a:latin typeface="微软雅黑" panose="020B0503020204020204" pitchFamily="34" charset="-122"/>
                <a:ea typeface="微软雅黑" panose="020B0503020204020204" pitchFamily="34" charset="-122"/>
                <a:cs typeface="+mn-cs"/>
              </a:rPr>
              <a:t>NULL</a:t>
            </a:r>
            <a:r>
              <a:rPr lang="zh-CN" altLang="en-US" sz="1900" kern="1200">
                <a:solidFill>
                  <a:srgbClr val="FF0000"/>
                </a:solidFill>
                <a:latin typeface="微软雅黑" panose="020B0503020204020204" pitchFamily="34" charset="-122"/>
                <a:ea typeface="微软雅黑" panose="020B0503020204020204" pitchFamily="34" charset="-122"/>
                <a:cs typeface="+mn-cs"/>
              </a:rPr>
              <a:t>，表示线程属性采用默认值</a:t>
            </a:r>
            <a:r>
              <a:rPr lang="zh-CN" altLang="en-US" sz="1900" kern="1200">
                <a:latin typeface="微软雅黑" panose="020B0503020204020204" pitchFamily="34" charset="-122"/>
                <a:ea typeface="微软雅黑" panose="020B0503020204020204" pitchFamily="34" charset="-122"/>
                <a:cs typeface="+mn-cs"/>
              </a:rPr>
              <a:t>）</a:t>
            </a:r>
          </a:p>
          <a:p>
            <a:pPr lvl="1" eaLnBrk="1" hangingPunct="1"/>
            <a:r>
              <a:rPr lang="en-US" altLang="zh-CN" sz="1900" kern="1200">
                <a:latin typeface="微软雅黑" panose="020B0503020204020204" pitchFamily="34" charset="-122"/>
                <a:ea typeface="微软雅黑" panose="020B0503020204020204" pitchFamily="34" charset="-122"/>
                <a:cs typeface="+mn-cs"/>
              </a:rPr>
              <a:t>start_rtn</a:t>
            </a:r>
            <a:r>
              <a:rPr lang="zh-CN" altLang="en-US" sz="1900" kern="1200">
                <a:latin typeface="微软雅黑" panose="020B0503020204020204" pitchFamily="34" charset="-122"/>
                <a:ea typeface="微软雅黑" panose="020B0503020204020204" pitchFamily="34" charset="-122"/>
                <a:cs typeface="+mn-cs"/>
              </a:rPr>
              <a:t>：线程的启动例程函数指针，新创建的线程入口点是该函数</a:t>
            </a:r>
          </a:p>
          <a:p>
            <a:pPr lvl="1" eaLnBrk="1" hangingPunct="1"/>
            <a:r>
              <a:rPr lang="en-US" altLang="zh-CN" sz="1900" kern="1200">
                <a:latin typeface="微软雅黑" panose="020B0503020204020204" pitchFamily="34" charset="-122"/>
                <a:ea typeface="微软雅黑" panose="020B0503020204020204" pitchFamily="34" charset="-122"/>
                <a:cs typeface="+mn-cs"/>
              </a:rPr>
              <a:t>arg</a:t>
            </a:r>
            <a:r>
              <a:rPr lang="zh-CN" altLang="en-US" sz="1900" kern="1200">
                <a:latin typeface="微软雅黑" panose="020B0503020204020204" pitchFamily="34" charset="-122"/>
                <a:ea typeface="微软雅黑" panose="020B0503020204020204" pitchFamily="34" charset="-122"/>
                <a:cs typeface="+mn-cs"/>
              </a:rPr>
              <a:t>：向线程的启动例程函数传递信息的参数</a:t>
            </a:r>
            <a:endParaRPr lang="en-US" altLang="zh-CN" sz="1900" kern="1200">
              <a:latin typeface="微软雅黑" panose="020B0503020204020204" pitchFamily="34" charset="-122"/>
              <a:ea typeface="微软雅黑" panose="020B0503020204020204" pitchFamily="34" charset="-122"/>
              <a:cs typeface="+mn-cs"/>
            </a:endParaRPr>
          </a:p>
          <a:p>
            <a:pPr eaLnBrk="1" hangingPunct="1"/>
            <a:r>
              <a:rPr lang="zh-CN" altLang="en-US" sz="2200" kern="1200">
                <a:latin typeface="微软雅黑" panose="020B0503020204020204" pitchFamily="34" charset="-122"/>
                <a:ea typeface="微软雅黑" panose="020B0503020204020204" pitchFamily="34" charset="-122"/>
                <a:cs typeface="+mn-cs"/>
              </a:rPr>
              <a:t>返回值</a:t>
            </a:r>
          </a:p>
          <a:p>
            <a:pPr lvl="1" eaLnBrk="1" hangingPunct="1"/>
            <a:r>
              <a:rPr lang="zh-CN" altLang="en-US" sz="1900" kern="1200">
                <a:latin typeface="微软雅黑" panose="020B0503020204020204" pitchFamily="34" charset="-122"/>
                <a:ea typeface="微软雅黑" panose="020B0503020204020204" pitchFamily="34" charset="-122"/>
                <a:cs typeface="+mn-cs"/>
              </a:rPr>
              <a:t>成功返回</a:t>
            </a:r>
            <a:r>
              <a:rPr lang="en-US" altLang="zh-CN" sz="1900" kern="1200">
                <a:latin typeface="微软雅黑" panose="020B0503020204020204" pitchFamily="34" charset="-122"/>
                <a:ea typeface="微软雅黑" panose="020B0503020204020204" pitchFamily="34" charset="-122"/>
                <a:cs typeface="+mn-cs"/>
              </a:rPr>
              <a:t>0</a:t>
            </a:r>
            <a:r>
              <a:rPr lang="zh-CN" altLang="en-US" sz="1900" kern="1200">
                <a:latin typeface="微软雅黑" panose="020B0503020204020204" pitchFamily="34" charset="-122"/>
                <a:ea typeface="微软雅黑" panose="020B0503020204020204" pitchFamily="34" charset="-122"/>
                <a:cs typeface="+mn-cs"/>
              </a:rPr>
              <a:t>，出错时返回错误码</a:t>
            </a:r>
          </a:p>
        </p:txBody>
      </p:sp>
      <p:sp>
        <p:nvSpPr>
          <p:cNvPr id="10242"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6</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6">
                                            <p:txEl>
                                              <p:pRg st="1" end="1"/>
                                            </p:txEl>
                                          </p:spTgt>
                                        </p:tgtEl>
                                        <p:attrNameLst>
                                          <p:attrName>style.visibility</p:attrName>
                                        </p:attrNameLst>
                                      </p:cBhvr>
                                      <p:to>
                                        <p:strVal val="visible"/>
                                      </p:to>
                                    </p:set>
                                    <p:anim calcmode="lin" valueType="num">
                                      <p:cBhvr additive="base">
                                        <p:cTn id="7" dur="500" fill="hold"/>
                                        <p:tgtEl>
                                          <p:spTgt spid="819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6">
                                            <p:txEl>
                                              <p:pRg st="2" end="2"/>
                                            </p:txEl>
                                          </p:spTgt>
                                        </p:tgtEl>
                                        <p:attrNameLst>
                                          <p:attrName>style.visibility</p:attrName>
                                        </p:attrNameLst>
                                      </p:cBhvr>
                                      <p:to>
                                        <p:strVal val="visible"/>
                                      </p:to>
                                    </p:set>
                                    <p:anim calcmode="lin" valueType="num">
                                      <p:cBhvr additive="base">
                                        <p:cTn id="13" dur="500" fill="hold"/>
                                        <p:tgtEl>
                                          <p:spTgt spid="819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6">
                                            <p:txEl>
                                              <p:pRg st="3" end="3"/>
                                            </p:txEl>
                                          </p:spTgt>
                                        </p:tgtEl>
                                        <p:attrNameLst>
                                          <p:attrName>style.visibility</p:attrName>
                                        </p:attrNameLst>
                                      </p:cBhvr>
                                      <p:to>
                                        <p:strVal val="visible"/>
                                      </p:to>
                                    </p:set>
                                    <p:anim calcmode="lin" valueType="num">
                                      <p:cBhvr additive="base">
                                        <p:cTn id="19" dur="500" fill="hold"/>
                                        <p:tgtEl>
                                          <p:spTgt spid="819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6">
                                            <p:txEl>
                                              <p:pRg st="4" end="4"/>
                                            </p:txEl>
                                          </p:spTgt>
                                        </p:tgtEl>
                                        <p:attrNameLst>
                                          <p:attrName>style.visibility</p:attrName>
                                        </p:attrNameLst>
                                      </p:cBhvr>
                                      <p:to>
                                        <p:strVal val="visible"/>
                                      </p:to>
                                    </p:set>
                                    <p:anim calcmode="lin" valueType="num">
                                      <p:cBhvr additive="base">
                                        <p:cTn id="25" dur="500" fill="hold"/>
                                        <p:tgtEl>
                                          <p:spTgt spid="819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196">
                                            <p:txEl>
                                              <p:pRg st="6" end="6"/>
                                            </p:txEl>
                                          </p:spTgt>
                                        </p:tgtEl>
                                        <p:attrNameLst>
                                          <p:attrName>style.visibility</p:attrName>
                                        </p:attrNameLst>
                                      </p:cBhvr>
                                      <p:to>
                                        <p:strVal val="visible"/>
                                      </p:to>
                                    </p:set>
                                    <p:anim calcmode="lin" valueType="num">
                                      <p:cBhvr additive="base">
                                        <p:cTn id="31" dur="500" fill="hold"/>
                                        <p:tgtEl>
                                          <p:spTgt spid="819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19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训练原理：线程的设计</a:t>
            </a:r>
          </a:p>
        </p:txBody>
      </p:sp>
      <p:sp>
        <p:nvSpPr>
          <p:cNvPr id="8196" name="Rectangle 3"/>
          <p:cNvSpPr>
            <a:spLocks noGrp="1" noChangeArrowheads="1"/>
          </p:cNvSpPr>
          <p:nvPr>
            <p:ph idx="1" hasCustomPrompt="1"/>
          </p:nvPr>
        </p:nvSpPr>
        <p:spPr>
          <a:xfrm>
            <a:off x="484188" y="790575"/>
            <a:ext cx="8185150" cy="3860800"/>
          </a:xfrm>
        </p:spPr>
        <p:txBody>
          <a:bodyPr vert="horz" wrap="square" lIns="91440" tIns="45720" rIns="91440" bIns="45720" numCol="1" rtlCol="0" anchor="t" anchorCtr="0" compatLnSpc="1"/>
          <a:lstStyle/>
          <a:p>
            <a:pPr eaLnBrk="1" hangingPunct="1"/>
            <a:r>
              <a:rPr lang="zh-CN" altLang="en-US" sz="2200" kern="1200">
                <a:latin typeface="微软雅黑" panose="020B0503020204020204" pitchFamily="34" charset="-122"/>
                <a:ea typeface="微软雅黑" panose="020B0503020204020204" pitchFamily="34" charset="-122"/>
                <a:cs typeface="+mn-cs"/>
              </a:rPr>
              <a:t>多线程程序主要用于需要并发执行的场合</a:t>
            </a:r>
            <a:endParaRPr lang="en-US" altLang="zh-CN" sz="2200" kern="1200">
              <a:latin typeface="微软雅黑" panose="020B0503020204020204" pitchFamily="34" charset="-122"/>
              <a:ea typeface="微软雅黑" panose="020B0503020204020204" pitchFamily="34" charset="-122"/>
              <a:cs typeface="+mn-cs"/>
            </a:endParaRPr>
          </a:p>
          <a:p>
            <a:pPr eaLnBrk="1" hangingPunct="1"/>
            <a:r>
              <a:rPr lang="zh-CN" altLang="en-US" sz="2200" kern="1200">
                <a:latin typeface="微软雅黑" panose="020B0503020204020204" pitchFamily="34" charset="-122"/>
                <a:ea typeface="微软雅黑" panose="020B0503020204020204" pitchFamily="34" charset="-122"/>
                <a:cs typeface="+mn-cs"/>
              </a:rPr>
              <a:t>例如在游戏中，需要维持一个动画场景，而玩家可以通过鼠标或键盘来输入操作指令，控制游戏的进行。</a:t>
            </a:r>
            <a:endParaRPr lang="en-US" altLang="zh-CN" sz="2200" kern="1200">
              <a:latin typeface="微软雅黑" panose="020B0503020204020204" pitchFamily="34" charset="-122"/>
              <a:ea typeface="微软雅黑" panose="020B0503020204020204" pitchFamily="34" charset="-122"/>
              <a:cs typeface="+mn-cs"/>
            </a:endParaRPr>
          </a:p>
          <a:p>
            <a:pPr eaLnBrk="1" hangingPunct="1"/>
            <a:r>
              <a:rPr lang="zh-CN" altLang="en-US" sz="2200" kern="1200">
                <a:latin typeface="微软雅黑" panose="020B0503020204020204" pitchFamily="34" charset="-122"/>
                <a:ea typeface="微软雅黑" panose="020B0503020204020204" pitchFamily="34" charset="-122"/>
                <a:cs typeface="+mn-cs"/>
              </a:rPr>
              <a:t>假如程序只有一个控制流，则当程序执行到等待用户输入指令的时候，由于用户输入较慢（相对 </a:t>
            </a:r>
            <a:r>
              <a:rPr lang="en-US" altLang="zh-CN" sz="2200" kern="1200">
                <a:latin typeface="微软雅黑" panose="020B0503020204020204" pitchFamily="34" charset="-122"/>
                <a:ea typeface="微软雅黑" panose="020B0503020204020204" pitchFamily="34" charset="-122"/>
                <a:cs typeface="+mn-cs"/>
              </a:rPr>
              <a:t>CPU </a:t>
            </a:r>
            <a:r>
              <a:rPr lang="zh-CN" altLang="en-US" sz="2200" kern="1200">
                <a:latin typeface="微软雅黑" panose="020B0503020204020204" pitchFamily="34" charset="-122"/>
                <a:ea typeface="微软雅黑" panose="020B0503020204020204" pitchFamily="34" charset="-122"/>
                <a:cs typeface="+mn-cs"/>
              </a:rPr>
              <a:t>速度来说），程序无法向前继续执行，因而无法更新动画，效果上动画就停顿了</a:t>
            </a:r>
            <a:endParaRPr lang="en-US" altLang="zh-CN" sz="2200" kern="1200">
              <a:latin typeface="微软雅黑" panose="020B0503020204020204" pitchFamily="34" charset="-122"/>
              <a:ea typeface="微软雅黑" panose="020B0503020204020204" pitchFamily="34" charset="-122"/>
              <a:cs typeface="+mn-cs"/>
            </a:endParaRPr>
          </a:p>
          <a:p>
            <a:pPr eaLnBrk="1" hangingPunct="1"/>
            <a:r>
              <a:rPr lang="zh-CN" altLang="en-US" sz="2200" kern="1200">
                <a:latin typeface="微软雅黑" panose="020B0503020204020204" pitchFamily="34" charset="-122"/>
                <a:ea typeface="微软雅黑" panose="020B0503020204020204" pitchFamily="34" charset="-122"/>
                <a:cs typeface="+mn-cs"/>
              </a:rPr>
              <a:t>在线视频播放也存在同样的问题</a:t>
            </a:r>
          </a:p>
        </p:txBody>
      </p:sp>
      <p:sp>
        <p:nvSpPr>
          <p:cNvPr id="11266"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7</a:t>
            </a:fld>
            <a:endParaRPr lang="en-US" altLang="zh-CN" sz="1000">
              <a:latin typeface="Arial" panose="020B0604020202090204" pitchFamily="34" charset="0"/>
            </a:endParaRPr>
          </a:p>
        </p:txBody>
      </p:sp>
      <p:pic>
        <p:nvPicPr>
          <p:cNvPr id="3" name="图片 2"/>
          <p:cNvPicPr>
            <a:picLocks noChangeAspect="1"/>
          </p:cNvPicPr>
          <p:nvPr/>
        </p:nvPicPr>
        <p:blipFill>
          <a:blip r:embed="rId2"/>
          <a:stretch>
            <a:fillRect/>
          </a:stretch>
        </p:blipFill>
        <p:spPr>
          <a:xfrm>
            <a:off x="5435600" y="3598863"/>
            <a:ext cx="1220788" cy="14573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 calcmode="lin" valueType="num">
                                      <p:cBhvr additive="base">
                                        <p:cTn id="7" dur="500" fill="hold"/>
                                        <p:tgtEl>
                                          <p:spTgt spid="81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6">
                                            <p:txEl>
                                              <p:pRg st="1" end="1"/>
                                            </p:txEl>
                                          </p:spTgt>
                                        </p:tgtEl>
                                        <p:attrNameLst>
                                          <p:attrName>style.visibility</p:attrName>
                                        </p:attrNameLst>
                                      </p:cBhvr>
                                      <p:to>
                                        <p:strVal val="visible"/>
                                      </p:to>
                                    </p:set>
                                    <p:anim calcmode="lin" valueType="num">
                                      <p:cBhvr additive="base">
                                        <p:cTn id="13" dur="500" fill="hold"/>
                                        <p:tgtEl>
                                          <p:spTgt spid="819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6">
                                            <p:txEl>
                                              <p:pRg st="2" end="2"/>
                                            </p:txEl>
                                          </p:spTgt>
                                        </p:tgtEl>
                                        <p:attrNameLst>
                                          <p:attrName>style.visibility</p:attrName>
                                        </p:attrNameLst>
                                      </p:cBhvr>
                                      <p:to>
                                        <p:strVal val="visible"/>
                                      </p:to>
                                    </p:set>
                                    <p:anim calcmode="lin" valueType="num">
                                      <p:cBhvr additive="base">
                                        <p:cTn id="19" dur="500" fill="hold"/>
                                        <p:tgtEl>
                                          <p:spTgt spid="819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6">
                                            <p:txEl>
                                              <p:pRg st="3" end="3"/>
                                            </p:txEl>
                                          </p:spTgt>
                                        </p:tgtEl>
                                        <p:attrNameLst>
                                          <p:attrName>style.visibility</p:attrName>
                                        </p:attrNameLst>
                                      </p:cBhvr>
                                      <p:to>
                                        <p:strVal val="visible"/>
                                      </p:to>
                                    </p:set>
                                    <p:anim calcmode="lin" valueType="num">
                                      <p:cBhvr additive="base">
                                        <p:cTn id="25" dur="500" fill="hold"/>
                                        <p:tgtEl>
                                          <p:spTgt spid="819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训练原理：线程的设计</a:t>
            </a:r>
          </a:p>
        </p:txBody>
      </p:sp>
      <p:sp>
        <p:nvSpPr>
          <p:cNvPr id="922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线程的启动</a:t>
            </a:r>
          </a:p>
          <a:p>
            <a:pPr lvl="1"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线程创建后等待系统调度，被调度后从线程启动例程函数开始执行</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lnSpc>
                <a:spcPct val="80000"/>
              </a:lnSpc>
            </a:pPr>
            <a:r>
              <a:rPr lang="zh-CN" altLang="en-US" sz="2000" kern="1200">
                <a:solidFill>
                  <a:srgbClr val="FF0000"/>
                </a:solidFill>
                <a:latin typeface="微软雅黑" panose="020B0503020204020204" pitchFamily="34" charset="-122"/>
                <a:ea typeface="微软雅黑" panose="020B0503020204020204" pitchFamily="34" charset="-122"/>
                <a:cs typeface="+mn-cs"/>
              </a:rPr>
              <a:t>一次创建多个线程，其调度顺序和创建顺序无关！！</a:t>
            </a:r>
            <a:endParaRPr lang="en-US" altLang="zh-CN" sz="2000" kern="1200">
              <a:latin typeface="微软雅黑" panose="020B0503020204020204" pitchFamily="34" charset="-122"/>
              <a:ea typeface="微软雅黑" panose="020B0503020204020204" pitchFamily="34" charset="-122"/>
              <a:cs typeface="+mn-cs"/>
            </a:endParaRPr>
          </a:p>
          <a:p>
            <a:pPr eaLnBrk="1" hangingPunct="1">
              <a:lnSpc>
                <a:spcPct val="80000"/>
              </a:lnSpc>
            </a:pPr>
            <a:endParaRPr lang="en-US" altLang="zh-CN" sz="2000" kern="1200">
              <a:latin typeface="微软雅黑" panose="020B0503020204020204" pitchFamily="34" charset="-122"/>
              <a:ea typeface="微软雅黑" panose="020B0503020204020204" pitchFamily="34" charset="-122"/>
              <a:cs typeface="+mn-cs"/>
            </a:endParaRPr>
          </a:p>
          <a:p>
            <a:pPr eaLnBrk="1" hangingPunct="1">
              <a:lnSpc>
                <a:spcPct val="80000"/>
              </a:lnSpc>
            </a:pPr>
            <a:endParaRPr lang="en-US" altLang="zh-CN" sz="2000" kern="1200">
              <a:latin typeface="微软雅黑" panose="020B0503020204020204" pitchFamily="34" charset="-122"/>
              <a:ea typeface="微软雅黑" panose="020B0503020204020204" pitchFamily="34" charset="-122"/>
              <a:cs typeface="+mn-cs"/>
            </a:endParaRPr>
          </a:p>
          <a:p>
            <a:pPr eaLnBrk="1" hangingPunct="1">
              <a:lnSpc>
                <a:spcPct val="80000"/>
              </a:lnSpc>
            </a:pPr>
            <a:endParaRPr lang="en-US" altLang="zh-CN" sz="2000" kern="1200">
              <a:latin typeface="微软雅黑" panose="020B0503020204020204" pitchFamily="34" charset="-122"/>
              <a:ea typeface="微软雅黑" panose="020B0503020204020204" pitchFamily="34" charset="-122"/>
              <a:cs typeface="+mn-cs"/>
            </a:endParaRPr>
          </a:p>
          <a:p>
            <a:pPr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可以在线程启动例程中设计业务流程，也可以在线程启动例程中调用其他函数</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循环（可以是无限循环，直到进程生命周期终止！）</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条件</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lnSpc>
                <a:spcPct val="80000"/>
              </a:lnSpc>
            </a:pPr>
            <a:r>
              <a:rPr lang="zh-CN" altLang="en-US" sz="2000" kern="1200">
                <a:latin typeface="微软雅黑" panose="020B0503020204020204" pitchFamily="34" charset="-122"/>
                <a:ea typeface="微软雅黑" panose="020B0503020204020204" pitchFamily="34" charset="-122"/>
                <a:cs typeface="+mn-cs"/>
              </a:rPr>
              <a:t>分支</a:t>
            </a:r>
            <a:endParaRPr lang="en-US" altLang="zh-CN" sz="2000" kern="1200">
              <a:latin typeface="微软雅黑" panose="020B0503020204020204" pitchFamily="34" charset="-122"/>
              <a:ea typeface="微软雅黑" panose="020B0503020204020204" pitchFamily="34" charset="-122"/>
              <a:cs typeface="+mn-cs"/>
            </a:endParaRPr>
          </a:p>
          <a:p>
            <a:pPr lvl="2" eaLnBrk="1" hangingPunct="1">
              <a:lnSpc>
                <a:spcPct val="80000"/>
              </a:lnSpc>
            </a:pPr>
            <a:endParaRPr lang="zh-CN" altLang="en-US" kern="1200">
              <a:latin typeface="微软雅黑" panose="020B0503020204020204" pitchFamily="34" charset="-122"/>
              <a:ea typeface="微软雅黑" panose="020B0503020204020204" pitchFamily="34" charset="-122"/>
              <a:cs typeface="+mn-cs"/>
            </a:endParaRPr>
          </a:p>
        </p:txBody>
      </p:sp>
      <p:sp>
        <p:nvSpPr>
          <p:cNvPr id="12290"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8</a:t>
            </a:fld>
            <a:endParaRPr lang="en-US" altLang="zh-CN" sz="1000">
              <a:latin typeface="Arial" panose="020B0604020202090204" pitchFamily="34" charset="0"/>
            </a:endParaRPr>
          </a:p>
        </p:txBody>
      </p:sp>
      <p:pic>
        <p:nvPicPr>
          <p:cNvPr id="3" name="图片 2" descr="图片包含 剪贴画&#13;&#10;&#13;&#10;已生成极高可信度的说明"/>
          <p:cNvPicPr>
            <a:picLocks noChangeAspect="1"/>
          </p:cNvPicPr>
          <p:nvPr/>
        </p:nvPicPr>
        <p:blipFill>
          <a:blip r:embed="rId2"/>
          <a:stretch>
            <a:fillRect/>
          </a:stretch>
        </p:blipFill>
        <p:spPr>
          <a:xfrm>
            <a:off x="2843213" y="2095500"/>
            <a:ext cx="3149600" cy="9525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anim calcmode="lin" valueType="num">
                                      <p:cBhvr additive="base">
                                        <p:cTn id="7" dur="500" fill="hold"/>
                                        <p:tgtEl>
                                          <p:spTgt spid="922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anim calcmode="lin" valueType="num">
                                      <p:cBhvr additive="base">
                                        <p:cTn id="13" dur="500" fill="hold"/>
                                        <p:tgtEl>
                                          <p:spTgt spid="922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9220">
                                            <p:txEl>
                                              <p:pRg st="6" end="6"/>
                                            </p:txEl>
                                          </p:spTgt>
                                        </p:tgtEl>
                                        <p:attrNameLst>
                                          <p:attrName>style.visibility</p:attrName>
                                        </p:attrNameLst>
                                      </p:cBhvr>
                                      <p:to>
                                        <p:strVal val="visible"/>
                                      </p:to>
                                    </p:set>
                                    <p:animEffect transition="in" filter="fade">
                                      <p:cBhvr>
                                        <p:cTn id="25" dur="1000"/>
                                        <p:tgtEl>
                                          <p:spTgt spid="9220">
                                            <p:txEl>
                                              <p:pRg st="6" end="6"/>
                                            </p:txEl>
                                          </p:spTgt>
                                        </p:tgtEl>
                                      </p:cBhvr>
                                    </p:animEffect>
                                    <p:anim calcmode="lin" valueType="num">
                                      <p:cBhvr>
                                        <p:cTn id="26" dur="1000" fill="hold"/>
                                        <p:tgtEl>
                                          <p:spTgt spid="9220">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9220">
                                            <p:txEl>
                                              <p:pRg st="6" end="6"/>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9220">
                                            <p:txEl>
                                              <p:pRg st="7" end="7"/>
                                            </p:txEl>
                                          </p:spTgt>
                                        </p:tgtEl>
                                        <p:attrNameLst>
                                          <p:attrName>style.visibility</p:attrName>
                                        </p:attrNameLst>
                                      </p:cBhvr>
                                      <p:to>
                                        <p:strVal val="visible"/>
                                      </p:to>
                                    </p:set>
                                    <p:animEffect transition="in" filter="fade">
                                      <p:cBhvr>
                                        <p:cTn id="30" dur="1000"/>
                                        <p:tgtEl>
                                          <p:spTgt spid="9220">
                                            <p:txEl>
                                              <p:pRg st="7" end="7"/>
                                            </p:txEl>
                                          </p:spTgt>
                                        </p:tgtEl>
                                      </p:cBhvr>
                                    </p:animEffect>
                                    <p:anim calcmode="lin" valueType="num">
                                      <p:cBhvr>
                                        <p:cTn id="31" dur="1000" fill="hold"/>
                                        <p:tgtEl>
                                          <p:spTgt spid="9220">
                                            <p:txEl>
                                              <p:pRg st="7" end="7"/>
                                            </p:txEl>
                                          </p:spTgt>
                                        </p:tgtEl>
                                        <p:attrNameLst>
                                          <p:attrName>ppt_x</p:attrName>
                                        </p:attrNameLst>
                                      </p:cBhvr>
                                      <p:tavLst>
                                        <p:tav tm="0">
                                          <p:val>
                                            <p:strVal val="#ppt_x"/>
                                          </p:val>
                                        </p:tav>
                                        <p:tav tm="100000">
                                          <p:val>
                                            <p:strVal val="#ppt_x"/>
                                          </p:val>
                                        </p:tav>
                                      </p:tavLst>
                                    </p:anim>
                                    <p:anim calcmode="lin" valueType="num">
                                      <p:cBhvr>
                                        <p:cTn id="32" dur="1000" fill="hold"/>
                                        <p:tgtEl>
                                          <p:spTgt spid="9220">
                                            <p:txEl>
                                              <p:pRg st="7" end="7"/>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9220">
                                            <p:txEl>
                                              <p:pRg st="8" end="8"/>
                                            </p:txEl>
                                          </p:spTgt>
                                        </p:tgtEl>
                                        <p:attrNameLst>
                                          <p:attrName>style.visibility</p:attrName>
                                        </p:attrNameLst>
                                      </p:cBhvr>
                                      <p:to>
                                        <p:strVal val="visible"/>
                                      </p:to>
                                    </p:set>
                                    <p:animEffect transition="in" filter="fade">
                                      <p:cBhvr>
                                        <p:cTn id="35" dur="1000"/>
                                        <p:tgtEl>
                                          <p:spTgt spid="9220">
                                            <p:txEl>
                                              <p:pRg st="8" end="8"/>
                                            </p:txEl>
                                          </p:spTgt>
                                        </p:tgtEl>
                                      </p:cBhvr>
                                    </p:animEffect>
                                    <p:anim calcmode="lin" valueType="num">
                                      <p:cBhvr>
                                        <p:cTn id="36" dur="1000" fill="hold"/>
                                        <p:tgtEl>
                                          <p:spTgt spid="9220">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9220">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9220">
                                            <p:txEl>
                                              <p:pRg st="9" end="9"/>
                                            </p:txEl>
                                          </p:spTgt>
                                        </p:tgtEl>
                                        <p:attrNameLst>
                                          <p:attrName>style.visibility</p:attrName>
                                        </p:attrNameLst>
                                      </p:cBhvr>
                                      <p:to>
                                        <p:strVal val="visible"/>
                                      </p:to>
                                    </p:set>
                                    <p:animEffect transition="in" filter="fade">
                                      <p:cBhvr>
                                        <p:cTn id="40" dur="1000"/>
                                        <p:tgtEl>
                                          <p:spTgt spid="9220">
                                            <p:txEl>
                                              <p:pRg st="9" end="9"/>
                                            </p:txEl>
                                          </p:spTgt>
                                        </p:tgtEl>
                                      </p:cBhvr>
                                    </p:animEffect>
                                    <p:anim calcmode="lin" valueType="num">
                                      <p:cBhvr>
                                        <p:cTn id="41" dur="1000" fill="hold"/>
                                        <p:tgtEl>
                                          <p:spTgt spid="9220">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9220">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训练原理：线程的设计</a:t>
            </a:r>
          </a:p>
        </p:txBody>
      </p:sp>
      <p:sp>
        <p:nvSpPr>
          <p:cNvPr id="27650" name="Rectangle 3"/>
          <p:cNvSpPr>
            <a:spLocks noGrp="1"/>
          </p:cNvSpPr>
          <p:nvPr>
            <p:ph idx="1" hasCustomPrompt="1"/>
          </p:nvPr>
        </p:nvSpPr>
        <p:spPr>
          <a:xfrm>
            <a:off x="471488" y="641350"/>
            <a:ext cx="8185150" cy="3860800"/>
          </a:xfrm>
          <a:ln/>
        </p:spPr>
        <p:txBody>
          <a:bodyPr vert="horz" wrap="square" lIns="91440" tIns="45720" rIns="91440" bIns="45720" anchor="t" anchorCtr="0"/>
          <a:lstStyle/>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线程启动例程函数</a:t>
            </a:r>
            <a:endParaRPr lang="en-US" altLang="zh-CN" sz="2400" kern="1200">
              <a:latin typeface="微软雅黑" panose="020B0503020204020204" pitchFamily="34" charset="-122"/>
              <a:ea typeface="微软雅黑" panose="020B0503020204020204" pitchFamily="34" charset="-122"/>
              <a:cs typeface="+mn-cs"/>
            </a:endParaRPr>
          </a:p>
          <a:p>
            <a:pPr eaLnBrk="1" hangingPunct="1">
              <a:lnSpc>
                <a:spcPct val="90000"/>
              </a:lnSpc>
              <a:buFont typeface="Wingdings" panose="05000000000000000000" pitchFamily="2" charset="2"/>
              <a:buNone/>
            </a:pPr>
            <a:r>
              <a:rPr lang="en-US" altLang="zh-CN" sz="2400" kern="1200">
                <a:latin typeface="微软雅黑" panose="020B0503020204020204" pitchFamily="34" charset="-122"/>
                <a:ea typeface="微软雅黑" panose="020B0503020204020204" pitchFamily="34" charset="-122"/>
                <a:cs typeface="+mn-cs"/>
              </a:rPr>
              <a:t>void * start_rtn(void *arg)</a:t>
            </a:r>
          </a:p>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参数</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lnSpc>
                <a:spcPct val="90000"/>
              </a:lnSpc>
            </a:pPr>
            <a:r>
              <a:rPr lang="en-US" altLang="zh-CN" kern="1200">
                <a:latin typeface="微软雅黑" panose="020B0503020204020204" pitchFamily="34" charset="-122"/>
                <a:ea typeface="微软雅黑" panose="020B0503020204020204" pitchFamily="34" charset="-122"/>
                <a:cs typeface="+mn-cs"/>
              </a:rPr>
              <a:t>void *arg</a:t>
            </a:r>
            <a:r>
              <a:rPr lang="zh-CN" altLang="en-US" kern="1200">
                <a:latin typeface="微软雅黑" panose="020B0503020204020204" pitchFamily="34" charset="-122"/>
                <a:ea typeface="微软雅黑" panose="020B0503020204020204" pitchFamily="34" charset="-122"/>
                <a:cs typeface="+mn-cs"/>
              </a:rPr>
              <a:t>，可以是指向任意数据结构的指针，包括整形、结构体、缓冲区等。此时该参数由</a:t>
            </a:r>
            <a:r>
              <a:rPr lang="en-US" altLang="zh-CN" kern="1200">
                <a:latin typeface="微软雅黑" panose="020B0503020204020204" pitchFamily="34" charset="-122"/>
                <a:ea typeface="微软雅黑" panose="020B0503020204020204" pitchFamily="34" charset="-122"/>
                <a:cs typeface="+mn-cs"/>
              </a:rPr>
              <a:t>pthread_create</a:t>
            </a:r>
            <a:r>
              <a:rPr lang="zh-CN" altLang="en-US" kern="1200">
                <a:latin typeface="微软雅黑" panose="020B0503020204020204" pitchFamily="34" charset="-122"/>
                <a:ea typeface="微软雅黑" panose="020B0503020204020204" pitchFamily="34" charset="-122"/>
                <a:cs typeface="+mn-cs"/>
              </a:rPr>
              <a:t>的第四个参数传入</a:t>
            </a:r>
            <a:endParaRPr lang="en-US" altLang="zh-CN" kern="1200">
              <a:latin typeface="微软雅黑" panose="020B0503020204020204" pitchFamily="34" charset="-122"/>
              <a:ea typeface="微软雅黑" panose="020B0503020204020204" pitchFamily="34" charset="-122"/>
              <a:cs typeface="+mn-cs"/>
            </a:endParaRPr>
          </a:p>
          <a:p>
            <a:pPr lvl="1" eaLnBrk="1" hangingPunct="1">
              <a:lnSpc>
                <a:spcPct val="90000"/>
              </a:lnSpc>
            </a:pPr>
            <a:r>
              <a:rPr lang="zh-CN" altLang="en-US" kern="1200">
                <a:latin typeface="微软雅黑" panose="020B0503020204020204" pitchFamily="34" charset="-122"/>
                <a:ea typeface="微软雅黑" panose="020B0503020204020204" pitchFamily="34" charset="-122"/>
                <a:cs typeface="+mn-cs"/>
              </a:rPr>
              <a:t>不需要传递参数时可以变化为</a:t>
            </a:r>
            <a:r>
              <a:rPr lang="en-US" altLang="zh-CN" kern="1200">
                <a:latin typeface="微软雅黑" panose="020B0503020204020204" pitchFamily="34" charset="-122"/>
                <a:ea typeface="微软雅黑" panose="020B0503020204020204" pitchFamily="34" charset="-122"/>
                <a:cs typeface="+mn-cs"/>
              </a:rPr>
              <a:t>void * start_rtn(void</a:t>
            </a:r>
            <a:r>
              <a:rPr lang="zh-CN" altLang="en-US" kern="1200">
                <a:latin typeface="微软雅黑" panose="020B0503020204020204" pitchFamily="34" charset="-122"/>
                <a:ea typeface="微软雅黑" panose="020B0503020204020204" pitchFamily="34" charset="-122"/>
                <a:cs typeface="+mn-cs"/>
              </a:rPr>
              <a:t>），此时</a:t>
            </a:r>
            <a:r>
              <a:rPr lang="en-US" altLang="zh-CN" kern="1200">
                <a:latin typeface="微软雅黑" panose="020B0503020204020204" pitchFamily="34" charset="-122"/>
                <a:ea typeface="微软雅黑" panose="020B0503020204020204" pitchFamily="34" charset="-122"/>
                <a:cs typeface="+mn-cs"/>
              </a:rPr>
              <a:t>pthread_create</a:t>
            </a:r>
            <a:r>
              <a:rPr lang="zh-CN" altLang="en-US" kern="1200">
                <a:latin typeface="微软雅黑" panose="020B0503020204020204" pitchFamily="34" charset="-122"/>
                <a:ea typeface="微软雅黑" panose="020B0503020204020204" pitchFamily="34" charset="-122"/>
                <a:cs typeface="+mn-cs"/>
              </a:rPr>
              <a:t>的第四个参数为</a:t>
            </a:r>
            <a:r>
              <a:rPr lang="en-US" altLang="zh-CN" kern="1200">
                <a:latin typeface="微软雅黑" panose="020B0503020204020204" pitchFamily="34" charset="-122"/>
                <a:ea typeface="微软雅黑" panose="020B0503020204020204" pitchFamily="34" charset="-122"/>
                <a:cs typeface="+mn-cs"/>
              </a:rPr>
              <a:t>NULL</a:t>
            </a:r>
          </a:p>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返回值</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lnSpc>
                <a:spcPct val="90000"/>
              </a:lnSpc>
            </a:pPr>
            <a:r>
              <a:rPr lang="en-US" altLang="zh-CN" kern="1200">
                <a:latin typeface="微软雅黑" panose="020B0503020204020204" pitchFamily="34" charset="-122"/>
                <a:ea typeface="微软雅黑" panose="020B0503020204020204" pitchFamily="34" charset="-122"/>
                <a:cs typeface="+mn-cs"/>
              </a:rPr>
              <a:t>void </a:t>
            </a:r>
            <a:r>
              <a:rPr lang="zh-CN" altLang="en-US" kern="1200">
                <a:latin typeface="微软雅黑" panose="020B0503020204020204" pitchFamily="34" charset="-122"/>
                <a:ea typeface="微软雅黑" panose="020B0503020204020204" pitchFamily="34" charset="-122"/>
                <a:cs typeface="+mn-cs"/>
              </a:rPr>
              <a:t>*，可以返回指向任意数据结构的指针，包括整形、结构体、缓冲区等</a:t>
            </a:r>
            <a:endParaRPr lang="en-US" altLang="zh-CN" kern="1200">
              <a:latin typeface="微软雅黑" panose="020B0503020204020204" pitchFamily="34" charset="-122"/>
              <a:ea typeface="微软雅黑" panose="020B0503020204020204" pitchFamily="34" charset="-122"/>
              <a:cs typeface="+mn-cs"/>
            </a:endParaRPr>
          </a:p>
          <a:p>
            <a:pPr lvl="1" eaLnBrk="1" hangingPunct="1">
              <a:lnSpc>
                <a:spcPct val="90000"/>
              </a:lnSpc>
            </a:pPr>
            <a:endParaRPr lang="en-US" altLang="zh-CN" kern="1200">
              <a:latin typeface="微软雅黑" panose="020B0503020204020204" pitchFamily="34" charset="-122"/>
              <a:ea typeface="微软雅黑" panose="020B0503020204020204" pitchFamily="34" charset="-122"/>
              <a:cs typeface="+mn-cs"/>
            </a:endParaRPr>
          </a:p>
          <a:p>
            <a:pPr eaLnBrk="1" hangingPunct="1">
              <a:lnSpc>
                <a:spcPct val="90000"/>
              </a:lnSpc>
              <a:buFont typeface="Wingdings" panose="05000000000000000000" pitchFamily="2" charset="2"/>
              <a:buNone/>
            </a:pPr>
            <a:endParaRPr lang="en-US" altLang="zh-CN" sz="2400" kern="1200">
              <a:latin typeface="微软雅黑" panose="020B0503020204020204" pitchFamily="34" charset="-122"/>
              <a:ea typeface="微软雅黑" panose="020B0503020204020204" pitchFamily="34" charset="-122"/>
              <a:cs typeface="+mn-cs"/>
            </a:endParaRPr>
          </a:p>
          <a:p>
            <a:pPr lvl="1" eaLnBrk="1" hangingPunct="1">
              <a:lnSpc>
                <a:spcPct val="90000"/>
              </a:lnSpc>
            </a:pPr>
            <a:endParaRPr lang="en-US" altLang="zh-CN" kern="1200">
              <a:latin typeface="微软雅黑" panose="020B0503020204020204" pitchFamily="34" charset="-122"/>
              <a:ea typeface="微软雅黑" panose="020B0503020204020204" pitchFamily="34" charset="-122"/>
              <a:cs typeface="+mn-cs"/>
            </a:endParaRPr>
          </a:p>
        </p:txBody>
      </p:sp>
      <p:sp>
        <p:nvSpPr>
          <p:cNvPr id="13314"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9</a:t>
            </a:fld>
            <a:endParaRPr lang="en-US" altLang="zh-CN" sz="1000">
              <a:latin typeface="Arial" panose="020B0604020202090204" pitchFamily="34" charset="0"/>
            </a:endParaRP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训练原理：线程的设计</a:t>
            </a:r>
          </a:p>
        </p:txBody>
      </p:sp>
      <p:sp>
        <p:nvSpPr>
          <p:cNvPr id="922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700" kern="1200">
                <a:latin typeface="微软雅黑" panose="020B0503020204020204" pitchFamily="34" charset="-122"/>
                <a:ea typeface="微软雅黑" panose="020B0503020204020204" pitchFamily="34" charset="-122"/>
                <a:cs typeface="+mn-cs"/>
              </a:rPr>
              <a:t>线程的终止</a:t>
            </a:r>
          </a:p>
          <a:p>
            <a:pPr lvl="1" eaLnBrk="1" hangingPunct="1"/>
            <a:r>
              <a:rPr lang="zh-CN" altLang="en-US" kern="1200">
                <a:latin typeface="微软雅黑" panose="020B0503020204020204" pitchFamily="34" charset="-122"/>
                <a:ea typeface="微软雅黑" panose="020B0503020204020204" pitchFamily="34" charset="-122"/>
                <a:cs typeface="+mn-cs"/>
              </a:rPr>
              <a:t>线程从启动例程函数中返回，函数返回值作为线程的退出码</a:t>
            </a:r>
            <a:endParaRPr lang="en-US" altLang="zh-CN" kern="1200">
              <a:latin typeface="微软雅黑" panose="020B0503020204020204" pitchFamily="34" charset="-122"/>
              <a:ea typeface="微软雅黑" panose="020B0503020204020204" pitchFamily="34" charset="-122"/>
              <a:cs typeface="+mn-cs"/>
            </a:endParaRPr>
          </a:p>
          <a:p>
            <a:pPr lvl="1" eaLnBrk="1" hangingPunct="1"/>
            <a:r>
              <a:rPr lang="zh-CN" altLang="en-US" kern="1200">
                <a:latin typeface="微软雅黑" panose="020B0503020204020204" pitchFamily="34" charset="-122"/>
                <a:ea typeface="微软雅黑" panose="020B0503020204020204" pitchFamily="34" charset="-122"/>
                <a:cs typeface="+mn-cs"/>
              </a:rPr>
              <a:t>线程调用</a:t>
            </a:r>
            <a:r>
              <a:rPr lang="en-US" altLang="zh-CN" kern="1200">
                <a:latin typeface="微软雅黑" panose="020B0503020204020204" pitchFamily="34" charset="-122"/>
                <a:ea typeface="微软雅黑" panose="020B0503020204020204" pitchFamily="34" charset="-122"/>
                <a:cs typeface="+mn-cs"/>
              </a:rPr>
              <a:t>pthread_exit</a:t>
            </a:r>
            <a:r>
              <a:rPr lang="zh-CN" altLang="en-US" kern="1200">
                <a:latin typeface="微软雅黑" panose="020B0503020204020204" pitchFamily="34" charset="-122"/>
                <a:ea typeface="微软雅黑" panose="020B0503020204020204" pitchFamily="34" charset="-122"/>
                <a:cs typeface="+mn-cs"/>
              </a:rPr>
              <a:t>函数终止自身执行</a:t>
            </a:r>
          </a:p>
          <a:p>
            <a:pPr lvl="1" eaLnBrk="1" hangingPunct="1"/>
            <a:r>
              <a:rPr lang="zh-CN" altLang="en-US" kern="1200">
                <a:latin typeface="微软雅黑" panose="020B0503020204020204" pitchFamily="34" charset="-122"/>
                <a:ea typeface="微软雅黑" panose="020B0503020204020204" pitchFamily="34" charset="-122"/>
                <a:cs typeface="+mn-cs"/>
              </a:rPr>
              <a:t>线程被同一进程中的其他线程取消</a:t>
            </a:r>
          </a:p>
        </p:txBody>
      </p:sp>
      <p:sp>
        <p:nvSpPr>
          <p:cNvPr id="14338"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10</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anim calcmode="lin" valueType="num">
                                      <p:cBhvr additive="base">
                                        <p:cTn id="7" dur="500" fill="hold"/>
                                        <p:tgtEl>
                                          <p:spTgt spid="922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2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20">
                                            <p:txEl>
                                              <p:pRg st="2" end="2"/>
                                            </p:txEl>
                                          </p:spTgt>
                                        </p:tgtEl>
                                        <p:attrNameLst>
                                          <p:attrName>style.visibility</p:attrName>
                                        </p:attrNameLst>
                                      </p:cBhvr>
                                      <p:to>
                                        <p:strVal val="visible"/>
                                      </p:to>
                                    </p:set>
                                    <p:anim calcmode="lin" valueType="num">
                                      <p:cBhvr additive="base">
                                        <p:cTn id="13" dur="500" fill="hold"/>
                                        <p:tgtEl>
                                          <p:spTgt spid="922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2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0">
                                            <p:txEl>
                                              <p:pRg st="3" end="3"/>
                                            </p:txEl>
                                          </p:spTgt>
                                        </p:tgtEl>
                                        <p:attrNameLst>
                                          <p:attrName>style.visibility</p:attrName>
                                        </p:attrNameLst>
                                      </p:cBhvr>
                                      <p:to>
                                        <p:strVal val="visible"/>
                                      </p:to>
                                    </p:set>
                                    <p:anim calcmode="lin" valueType="num">
                                      <p:cBhvr additive="base">
                                        <p:cTn id="19" dur="500" fill="hold"/>
                                        <p:tgtEl>
                                          <p:spTgt spid="922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2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en-US" altLang="zh-CN" kern="1200">
                <a:solidFill>
                  <a:srgbClr val="0070C0"/>
                </a:solidFill>
                <a:latin typeface="微软雅黑" panose="020B0503020204020204" pitchFamily="34" charset="-122"/>
                <a:ea typeface="微软雅黑" panose="020B0503020204020204" pitchFamily="34" charset="-122"/>
                <a:cs typeface="+mj-cs"/>
              </a:rPr>
              <a:t>pthread_exit</a:t>
            </a:r>
            <a:r>
              <a:rPr lang="zh-CN" altLang="en-US" kern="1200">
                <a:solidFill>
                  <a:srgbClr val="0070C0"/>
                </a:solidFill>
                <a:latin typeface="微软雅黑" panose="020B0503020204020204" pitchFamily="34" charset="-122"/>
                <a:ea typeface="微软雅黑" panose="020B0503020204020204" pitchFamily="34" charset="-122"/>
                <a:cs typeface="+mj-cs"/>
              </a:rPr>
              <a:t>函数</a:t>
            </a:r>
          </a:p>
        </p:txBody>
      </p:sp>
      <p:sp>
        <p:nvSpPr>
          <p:cNvPr id="10244"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700" kern="1200">
                <a:latin typeface="微软雅黑" panose="020B0503020204020204" pitchFamily="34" charset="-122"/>
                <a:ea typeface="微软雅黑" panose="020B0503020204020204" pitchFamily="34" charset="-122"/>
                <a:cs typeface="+mn-cs"/>
              </a:rPr>
              <a:t>线程终止函数</a:t>
            </a:r>
            <a:endParaRPr lang="en-US" altLang="zh-CN" sz="2700" kern="1200">
              <a:latin typeface="微软雅黑" panose="020B0503020204020204" pitchFamily="34" charset="-122"/>
              <a:ea typeface="微软雅黑" panose="020B0503020204020204" pitchFamily="34" charset="-122"/>
              <a:cs typeface="+mn-cs"/>
            </a:endParaRPr>
          </a:p>
          <a:p>
            <a:pPr lvl="1" eaLnBrk="1" hangingPunct="1"/>
            <a:r>
              <a:rPr lang="zh-CN" altLang="en-US" kern="1200">
                <a:latin typeface="微软雅黑" panose="020B0503020204020204" pitchFamily="34" charset="-122"/>
                <a:ea typeface="微软雅黑" panose="020B0503020204020204" pitchFamily="34" charset="-122"/>
                <a:cs typeface="+mn-cs"/>
              </a:rPr>
              <a:t>头文件：</a:t>
            </a:r>
            <a:r>
              <a:rPr lang="en-US" altLang="zh-CN" kern="1200">
                <a:latin typeface="微软雅黑" panose="020B0503020204020204" pitchFamily="34" charset="-122"/>
                <a:ea typeface="微软雅黑" panose="020B0503020204020204" pitchFamily="34" charset="-122"/>
                <a:cs typeface="+mn-cs"/>
              </a:rPr>
              <a:t>pthread.h</a:t>
            </a:r>
          </a:p>
          <a:p>
            <a:pPr lvl="1" eaLnBrk="1" hangingPunct="1"/>
            <a:r>
              <a:rPr lang="en-US" altLang="zh-CN" b="1" kern="1200">
                <a:solidFill>
                  <a:srgbClr val="00B050"/>
                </a:solidFill>
                <a:latin typeface="微软雅黑" panose="020B0503020204020204" pitchFamily="34" charset="-122"/>
                <a:ea typeface="微软雅黑" panose="020B0503020204020204" pitchFamily="34" charset="-122"/>
                <a:cs typeface="+mn-cs"/>
              </a:rPr>
              <a:t>void pthread_exit(void *rval_ptr);</a:t>
            </a:r>
          </a:p>
          <a:p>
            <a:pPr eaLnBrk="1" hangingPunct="1"/>
            <a:r>
              <a:rPr lang="zh-CN" altLang="en-US" sz="2700" kern="1200">
                <a:latin typeface="微软雅黑" panose="020B0503020204020204" pitchFamily="34" charset="-122"/>
                <a:ea typeface="微软雅黑" panose="020B0503020204020204" pitchFamily="34" charset="-122"/>
                <a:cs typeface="+mn-cs"/>
              </a:rPr>
              <a:t>参数</a:t>
            </a:r>
          </a:p>
          <a:p>
            <a:pPr lvl="1" eaLnBrk="1" hangingPunct="1"/>
            <a:r>
              <a:rPr lang="en-US" altLang="zh-CN" kern="1200">
                <a:latin typeface="微软雅黑" panose="020B0503020204020204" pitchFamily="34" charset="-122"/>
                <a:ea typeface="微软雅黑" panose="020B0503020204020204" pitchFamily="34" charset="-122"/>
                <a:cs typeface="+mn-cs"/>
              </a:rPr>
              <a:t>rval_ptr</a:t>
            </a:r>
            <a:r>
              <a:rPr lang="zh-CN" altLang="en-US" kern="1200">
                <a:latin typeface="微软雅黑" panose="020B0503020204020204" pitchFamily="34" charset="-122"/>
                <a:ea typeface="微软雅黑" panose="020B0503020204020204" pitchFamily="34" charset="-122"/>
                <a:cs typeface="+mn-cs"/>
              </a:rPr>
              <a:t>：该指针将传递给等待线程终止函数（与</a:t>
            </a:r>
            <a:r>
              <a:rPr lang="en-US" altLang="zh-CN" kern="1200">
                <a:latin typeface="微软雅黑" panose="020B0503020204020204" pitchFamily="34" charset="-122"/>
                <a:ea typeface="微软雅黑" panose="020B0503020204020204" pitchFamily="34" charset="-122"/>
                <a:cs typeface="+mn-cs"/>
              </a:rPr>
              <a:t>exit</a:t>
            </a:r>
            <a:r>
              <a:rPr lang="zh-CN" altLang="en-US" kern="1200">
                <a:latin typeface="微软雅黑" panose="020B0503020204020204" pitchFamily="34" charset="-122"/>
                <a:ea typeface="微软雅黑" panose="020B0503020204020204" pitchFamily="34" charset="-122"/>
                <a:cs typeface="+mn-cs"/>
              </a:rPr>
              <a:t>函数参数用法类似）</a:t>
            </a:r>
          </a:p>
        </p:txBody>
      </p:sp>
      <p:sp>
        <p:nvSpPr>
          <p:cNvPr id="15362"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11</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4">
                                            <p:txEl>
                                              <p:pRg st="1" end="1"/>
                                            </p:txEl>
                                          </p:spTgt>
                                        </p:tgtEl>
                                        <p:attrNameLst>
                                          <p:attrName>style.visibility</p:attrName>
                                        </p:attrNameLst>
                                      </p:cBhvr>
                                      <p:to>
                                        <p:strVal val="visible"/>
                                      </p:to>
                                    </p:set>
                                    <p:anim calcmode="lin" valueType="num">
                                      <p:cBhvr additive="base">
                                        <p:cTn id="7" dur="500" fill="hold"/>
                                        <p:tgtEl>
                                          <p:spTgt spid="1024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44">
                                            <p:txEl>
                                              <p:pRg st="2" end="2"/>
                                            </p:txEl>
                                          </p:spTgt>
                                        </p:tgtEl>
                                        <p:attrNameLst>
                                          <p:attrName>style.visibility</p:attrName>
                                        </p:attrNameLst>
                                      </p:cBhvr>
                                      <p:to>
                                        <p:strVal val="visible"/>
                                      </p:to>
                                    </p:set>
                                    <p:anim calcmode="lin" valueType="num">
                                      <p:cBhvr additive="base">
                                        <p:cTn id="11" dur="500" fill="hold"/>
                                        <p:tgtEl>
                                          <p:spTgt spid="1024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2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44">
                                            <p:txEl>
                                              <p:pRg st="4" end="4"/>
                                            </p:txEl>
                                          </p:spTgt>
                                        </p:tgtEl>
                                        <p:attrNameLst>
                                          <p:attrName>style.visibility</p:attrName>
                                        </p:attrNameLst>
                                      </p:cBhvr>
                                      <p:to>
                                        <p:strVal val="visible"/>
                                      </p:to>
                                    </p:set>
                                    <p:anim calcmode="lin" valueType="num">
                                      <p:cBhvr additive="base">
                                        <p:cTn id="17" dur="500" fill="hold"/>
                                        <p:tgtEl>
                                          <p:spTgt spid="1024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24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线程</a:t>
            </a:r>
            <a:r>
              <a:rPr lang="zh-CN" altLang="en-US" kern="1200">
                <a:solidFill>
                  <a:srgbClr val="0070C0"/>
                </a:solidFill>
                <a:latin typeface="微软雅黑" panose="020B0503020204020204" pitchFamily="34" charset="-122"/>
                <a:ea typeface="微软雅黑" panose="020B0503020204020204" pitchFamily="34" charset="-122"/>
                <a:cs typeface="+mj-cs"/>
              </a:rPr>
              <a:t>的数据共享</a:t>
            </a:r>
            <a:endParaRPr lang="zh-CN" altLang="zh-CN" kern="1200">
              <a:solidFill>
                <a:srgbClr val="0070C0"/>
              </a:solidFill>
              <a:latin typeface="微软雅黑" panose="020B0503020204020204" pitchFamily="34" charset="-122"/>
              <a:ea typeface="微软雅黑" panose="020B0503020204020204" pitchFamily="34" charset="-122"/>
              <a:cs typeface="+mj-cs"/>
            </a:endParaRPr>
          </a:p>
        </p:txBody>
      </p:sp>
      <p:sp>
        <p:nvSpPr>
          <p:cNvPr id="30722" name="内容占位符 1"/>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endParaRPr lang="zh-CN" altLang="en-US" kern="1200">
              <a:latin typeface="微软雅黑" panose="020B0503020204020204" pitchFamily="34" charset="-122"/>
              <a:ea typeface="微软雅黑" panose="020B0503020204020204" pitchFamily="34" charset="-122"/>
              <a:cs typeface="+mn-cs"/>
            </a:endParaRPr>
          </a:p>
        </p:txBody>
      </p:sp>
      <p:sp>
        <p:nvSpPr>
          <p:cNvPr id="16386"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zh-CN" altLang="zh-CN" sz="1000">
                <a:latin typeface="Arial" panose="020B0604020202090204" pitchFamily="34" charset="0"/>
              </a:rPr>
              <a:t>12</a:t>
            </a:fld>
            <a:endParaRPr lang="zh-CN" altLang="zh-CN" sz="1000">
              <a:latin typeface="Arial" panose="020B0604020202090204" pitchFamily="34" charset="0"/>
            </a:endParaRPr>
          </a:p>
        </p:txBody>
      </p:sp>
      <p:pic>
        <p:nvPicPr>
          <p:cNvPr id="30724" name="图片 2" descr="图片包含 屏幕截图&#13;&#10;&#13;&#10;已生成高可信度的说明"/>
          <p:cNvPicPr>
            <a:picLocks noChangeAspect="1"/>
          </p:cNvPicPr>
          <p:nvPr/>
        </p:nvPicPr>
        <p:blipFill>
          <a:blip r:embed="rId2"/>
          <a:stretch>
            <a:fillRect/>
          </a:stretch>
        </p:blipFill>
        <p:spPr>
          <a:xfrm>
            <a:off x="1909763" y="1168400"/>
            <a:ext cx="5324475" cy="3725863"/>
          </a:xfrm>
          <a:prstGeom prst="rect">
            <a:avLst/>
          </a:prstGeom>
          <a:noFill/>
          <a:ln w="9525">
            <a:noFill/>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线程</a:t>
            </a:r>
            <a:r>
              <a:rPr lang="zh-CN" altLang="en-US" kern="1200">
                <a:solidFill>
                  <a:srgbClr val="0070C0"/>
                </a:solidFill>
                <a:latin typeface="微软雅黑" panose="020B0503020204020204" pitchFamily="34" charset="-122"/>
                <a:ea typeface="微软雅黑" panose="020B0503020204020204" pitchFamily="34" charset="-122"/>
                <a:cs typeface="+mj-cs"/>
              </a:rPr>
              <a:t>的数据共享</a:t>
            </a:r>
            <a:endParaRPr lang="zh-CN" altLang="zh-CN" kern="1200">
              <a:solidFill>
                <a:srgbClr val="0070C0"/>
              </a:solidFill>
              <a:latin typeface="微软雅黑" panose="020B0503020204020204" pitchFamily="34" charset="-122"/>
              <a:ea typeface="微软雅黑" panose="020B0503020204020204" pitchFamily="34" charset="-122"/>
              <a:cs typeface="+mj-cs"/>
            </a:endParaRPr>
          </a:p>
        </p:txBody>
      </p:sp>
      <p:sp>
        <p:nvSpPr>
          <p:cNvPr id="11268"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zh-CN" sz="2400" kern="1200">
                <a:latin typeface="微软雅黑" panose="020B0503020204020204" pitchFamily="34" charset="-122"/>
                <a:ea typeface="微软雅黑" panose="020B0503020204020204" pitchFamily="34" charset="-122"/>
                <a:cs typeface="+mn-cs"/>
              </a:rPr>
              <a:t>一个进程内的所有线程共享</a:t>
            </a:r>
            <a:r>
              <a:rPr lang="zh-CN" altLang="en-US" sz="2400" kern="1200">
                <a:latin typeface="微软雅黑" panose="020B0503020204020204" pitchFamily="34" charset="-122"/>
                <a:ea typeface="微软雅黑" panose="020B0503020204020204" pitchFamily="34" charset="-122"/>
                <a:cs typeface="+mn-cs"/>
              </a:rPr>
              <a:t>进程的多种数据和资源</a:t>
            </a:r>
            <a:r>
              <a:rPr lang="zh-CN" altLang="zh-CN" sz="2400" kern="1200">
                <a:latin typeface="微软雅黑" panose="020B0503020204020204" pitchFamily="34" charset="-122"/>
                <a:ea typeface="微软雅黑" panose="020B0503020204020204" pitchFamily="34" charset="-122"/>
                <a:cs typeface="+mn-cs"/>
              </a:rPr>
              <a:t>（这种机制又带来了同步问题）</a:t>
            </a:r>
            <a:endParaRPr lang="en-US" altLang="zh-CN" sz="2400" kern="1200">
              <a:latin typeface="微软雅黑" panose="020B0503020204020204" pitchFamily="34" charset="-122"/>
              <a:ea typeface="微软雅黑" panose="020B0503020204020204" pitchFamily="34" charset="-122"/>
              <a:cs typeface="+mn-cs"/>
            </a:endParaRPr>
          </a:p>
          <a:p>
            <a:pPr eaLnBrk="1" hangingPunct="1"/>
            <a:r>
              <a:rPr lang="zh-CN" altLang="en-US" sz="2400" kern="1200">
                <a:latin typeface="微软雅黑" panose="020B0503020204020204" pitchFamily="34" charset="-122"/>
                <a:ea typeface="微软雅黑" panose="020B0503020204020204" pitchFamily="34" charset="-122"/>
                <a:cs typeface="+mn-cs"/>
              </a:rPr>
              <a:t>线程间共享的数据和资源：</a:t>
            </a:r>
            <a:r>
              <a:rPr lang="zh-CN" altLang="zh-CN" sz="2400" kern="1200">
                <a:latin typeface="微软雅黑" panose="020B0503020204020204" pitchFamily="34" charset="-122"/>
                <a:ea typeface="微软雅黑" panose="020B0503020204020204" pitchFamily="34" charset="-122"/>
                <a:cs typeface="+mn-cs"/>
              </a:rPr>
              <a:t>进程</a:t>
            </a:r>
            <a:r>
              <a:rPr lang="zh-CN" altLang="en-US" sz="2400" kern="1200">
                <a:latin typeface="微软雅黑" panose="020B0503020204020204" pitchFamily="34" charset="-122"/>
                <a:ea typeface="微软雅黑" panose="020B0503020204020204" pitchFamily="34" charset="-122"/>
                <a:cs typeface="+mn-cs"/>
              </a:rPr>
              <a:t>代码段、进程中的全局变量、进程</a:t>
            </a:r>
            <a:r>
              <a:rPr lang="zh-CN" altLang="zh-CN" sz="2400" kern="1200">
                <a:latin typeface="微软雅黑" panose="020B0503020204020204" pitchFamily="34" charset="-122"/>
                <a:ea typeface="微软雅黑" panose="020B0503020204020204" pitchFamily="34" charset="-122"/>
                <a:cs typeface="+mn-cs"/>
              </a:rPr>
              <a:t>打开的文件</a:t>
            </a:r>
            <a:r>
              <a:rPr lang="en-US" altLang="zh-CN" sz="2400" kern="1200">
                <a:latin typeface="微软雅黑" panose="020B0503020204020204" pitchFamily="34" charset="-122"/>
                <a:ea typeface="微软雅黑" panose="020B0503020204020204" pitchFamily="34" charset="-122"/>
                <a:cs typeface="+mn-cs"/>
              </a:rPr>
              <a:t>……</a:t>
            </a:r>
          </a:p>
          <a:p>
            <a:pPr eaLnBrk="1" hangingPunct="1"/>
            <a:r>
              <a:rPr lang="zh-CN" altLang="en-US" sz="2400" kern="1200">
                <a:latin typeface="微软雅黑" panose="020B0503020204020204" pitchFamily="34" charset="-122"/>
                <a:ea typeface="微软雅黑" panose="020B0503020204020204" pitchFamily="34" charset="-122"/>
                <a:cs typeface="+mn-cs"/>
              </a:rPr>
              <a:t>每个线程私有的数据和资源：线程</a:t>
            </a:r>
            <a:r>
              <a:rPr lang="en-US" altLang="zh-CN" sz="2400" kern="1200">
                <a:latin typeface="微软雅黑" panose="020B0503020204020204" pitchFamily="34" charset="-122"/>
                <a:ea typeface="微软雅黑" panose="020B0503020204020204" pitchFamily="34" charset="-122"/>
                <a:cs typeface="+mn-cs"/>
              </a:rPr>
              <a:t>ID</a:t>
            </a:r>
            <a:r>
              <a:rPr lang="zh-CN" altLang="en-US" sz="2400" kern="1200">
                <a:latin typeface="微软雅黑" panose="020B0503020204020204" pitchFamily="34" charset="-122"/>
                <a:ea typeface="微软雅黑" panose="020B0503020204020204" pitchFamily="34" charset="-122"/>
                <a:cs typeface="+mn-cs"/>
              </a:rPr>
              <a:t>、线程上下文（一组寄存器值的集合）、线程局部变量（存储在栈中）</a:t>
            </a:r>
            <a:r>
              <a:rPr lang="en-US" altLang="zh-CN" sz="2400" kern="1200">
                <a:latin typeface="微软雅黑" panose="020B0503020204020204" pitchFamily="34" charset="-122"/>
                <a:ea typeface="微软雅黑" panose="020B0503020204020204" pitchFamily="34" charset="-122"/>
                <a:cs typeface="+mn-cs"/>
              </a:rPr>
              <a:t>……</a:t>
            </a:r>
          </a:p>
          <a:p>
            <a:pPr eaLnBrk="1" hangingPunct="1"/>
            <a:endParaRPr lang="zh-CN" altLang="zh-CN" sz="2400" kern="1200">
              <a:latin typeface="微软雅黑" panose="020B0503020204020204" pitchFamily="34" charset="-122"/>
              <a:ea typeface="微软雅黑" panose="020B0503020204020204" pitchFamily="34" charset="-122"/>
              <a:cs typeface="+mn-cs"/>
            </a:endParaRPr>
          </a:p>
          <a:p>
            <a:pPr lvl="1" eaLnBrk="1" hangingPunct="1"/>
            <a:endParaRPr lang="zh-CN" altLang="zh-CN" sz="1400" kern="1200">
              <a:latin typeface="微软雅黑" panose="020B0503020204020204" pitchFamily="34" charset="-122"/>
              <a:ea typeface="微软雅黑" panose="020B0503020204020204" pitchFamily="34" charset="-122"/>
              <a:cs typeface="+mn-cs"/>
            </a:endParaRPr>
          </a:p>
          <a:p>
            <a:pPr eaLnBrk="1" hangingPunct="1">
              <a:buFont typeface="Wingdings" panose="05000000000000000000" pitchFamily="2" charset="2"/>
              <a:buNone/>
            </a:pPr>
            <a:endParaRPr lang="zh-CN" altLang="zh-CN" sz="1600" kern="1200">
              <a:latin typeface="微软雅黑" panose="020B0503020204020204" pitchFamily="34" charset="-122"/>
              <a:ea typeface="微软雅黑" panose="020B0503020204020204" pitchFamily="34" charset="-122"/>
              <a:cs typeface="+mn-cs"/>
            </a:endParaRPr>
          </a:p>
        </p:txBody>
      </p:sp>
      <p:sp>
        <p:nvSpPr>
          <p:cNvPr id="17410"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zh-CN" altLang="zh-CN" sz="1000">
                <a:latin typeface="Arial" panose="020B0604020202090204" pitchFamily="34" charset="0"/>
              </a:rPr>
              <a:t>13</a:t>
            </a:fld>
            <a:endParaRPr lang="zh-CN"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anim calcmode="lin" valueType="num">
                                      <p:cBhvr additive="base">
                                        <p:cTn id="7" dur="500" fill="hold"/>
                                        <p:tgtEl>
                                          <p:spTgt spid="1126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8">
                                            <p:txEl>
                                              <p:pRg st="2" end="2"/>
                                            </p:txEl>
                                          </p:spTgt>
                                        </p:tgtEl>
                                        <p:attrNameLst>
                                          <p:attrName>style.visibility</p:attrName>
                                        </p:attrNameLst>
                                      </p:cBhvr>
                                      <p:to>
                                        <p:strVal val="visible"/>
                                      </p:to>
                                    </p:set>
                                    <p:anim calcmode="lin" valueType="num">
                                      <p:cBhvr additive="base">
                                        <p:cTn id="13" dur="500" fill="hold"/>
                                        <p:tgtEl>
                                          <p:spTgt spid="1126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训练原理：父线程等待子线程终止</a:t>
            </a:r>
          </a:p>
        </p:txBody>
      </p:sp>
      <p:sp>
        <p:nvSpPr>
          <p:cNvPr id="1229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700" kern="1200">
                <a:latin typeface="微软雅黑" panose="020B0503020204020204" pitchFamily="34" charset="-122"/>
                <a:ea typeface="微软雅黑" panose="020B0503020204020204" pitchFamily="34" charset="-122"/>
                <a:cs typeface="+mn-cs"/>
              </a:rPr>
              <a:t>父线程等待子线程终止函数原型</a:t>
            </a:r>
            <a:endParaRPr lang="en-US" altLang="zh-CN" sz="2700" kern="1200">
              <a:latin typeface="微软雅黑" panose="020B0503020204020204" pitchFamily="34" charset="-122"/>
              <a:ea typeface="微软雅黑" panose="020B0503020204020204" pitchFamily="34" charset="-122"/>
              <a:cs typeface="+mn-cs"/>
            </a:endParaRPr>
          </a:p>
          <a:p>
            <a:pPr lvl="1" eaLnBrk="1" hangingPunct="1"/>
            <a:r>
              <a:rPr lang="zh-CN" altLang="en-US" kern="1200">
                <a:latin typeface="微软雅黑" panose="020B0503020204020204" pitchFamily="34" charset="-122"/>
                <a:ea typeface="微软雅黑" panose="020B0503020204020204" pitchFamily="34" charset="-122"/>
                <a:cs typeface="+mn-cs"/>
              </a:rPr>
              <a:t>头文件：</a:t>
            </a:r>
            <a:r>
              <a:rPr lang="en-US" altLang="zh-CN" kern="1200">
                <a:latin typeface="微软雅黑" panose="020B0503020204020204" pitchFamily="34" charset="-122"/>
                <a:ea typeface="微软雅黑" panose="020B0503020204020204" pitchFamily="34" charset="-122"/>
                <a:cs typeface="+mn-cs"/>
              </a:rPr>
              <a:t>pthread.h</a:t>
            </a:r>
          </a:p>
          <a:p>
            <a:pPr lvl="1" eaLnBrk="1" hangingPunct="1"/>
            <a:r>
              <a:rPr lang="en-US" altLang="zh-CN" b="1" kern="1200">
                <a:solidFill>
                  <a:srgbClr val="00B050"/>
                </a:solidFill>
                <a:latin typeface="微软雅黑" panose="020B0503020204020204" pitchFamily="34" charset="-122"/>
                <a:ea typeface="微软雅黑" panose="020B0503020204020204" pitchFamily="34" charset="-122"/>
                <a:cs typeface="+mn-cs"/>
              </a:rPr>
              <a:t>int pthread_join(pthread_t thread,void **rval_ptr);</a:t>
            </a:r>
          </a:p>
          <a:p>
            <a:pPr eaLnBrk="1" hangingPunct="1"/>
            <a:r>
              <a:rPr lang="zh-CN" altLang="en-US" sz="2700" kern="1200">
                <a:latin typeface="微软雅黑" panose="020B0503020204020204" pitchFamily="34" charset="-122"/>
                <a:ea typeface="微软雅黑" panose="020B0503020204020204" pitchFamily="34" charset="-122"/>
                <a:cs typeface="+mn-cs"/>
              </a:rPr>
              <a:t>调用该函数的父线程将一直被阻塞，直到指定的子线程（通过线程</a:t>
            </a:r>
            <a:r>
              <a:rPr lang="en-US" altLang="zh-CN" sz="2700" kern="1200">
                <a:latin typeface="微软雅黑" panose="020B0503020204020204" pitchFamily="34" charset="-122"/>
                <a:ea typeface="微软雅黑" panose="020B0503020204020204" pitchFamily="34" charset="-122"/>
                <a:cs typeface="+mn-cs"/>
              </a:rPr>
              <a:t>ID</a:t>
            </a:r>
            <a:r>
              <a:rPr lang="zh-CN" altLang="en-US" sz="2700" kern="1200">
                <a:latin typeface="微软雅黑" panose="020B0503020204020204" pitchFamily="34" charset="-122"/>
                <a:ea typeface="微软雅黑" panose="020B0503020204020204" pitchFamily="34" charset="-122"/>
                <a:cs typeface="+mn-cs"/>
              </a:rPr>
              <a:t>）终止</a:t>
            </a:r>
            <a:endParaRPr lang="en-US" altLang="zh-CN" sz="2700" kern="1200">
              <a:latin typeface="微软雅黑" panose="020B0503020204020204" pitchFamily="34" charset="-122"/>
              <a:ea typeface="微软雅黑" panose="020B0503020204020204" pitchFamily="34" charset="-122"/>
              <a:cs typeface="+mn-cs"/>
            </a:endParaRPr>
          </a:p>
        </p:txBody>
      </p:sp>
      <p:sp>
        <p:nvSpPr>
          <p:cNvPr id="18434"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14</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2">
                                            <p:txEl>
                                              <p:pRg st="1" end="1"/>
                                            </p:txEl>
                                          </p:spTgt>
                                        </p:tgtEl>
                                        <p:attrNameLst>
                                          <p:attrName>style.visibility</p:attrName>
                                        </p:attrNameLst>
                                      </p:cBhvr>
                                      <p:to>
                                        <p:strVal val="visible"/>
                                      </p:to>
                                    </p:set>
                                    <p:anim calcmode="lin" valueType="num">
                                      <p:cBhvr additive="base">
                                        <p:cTn id="7" dur="500" fill="hold"/>
                                        <p:tgtEl>
                                          <p:spTgt spid="1229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92">
                                            <p:txEl>
                                              <p:pRg st="2" end="2"/>
                                            </p:txEl>
                                          </p:spTgt>
                                        </p:tgtEl>
                                        <p:attrNameLst>
                                          <p:attrName>style.visibility</p:attrName>
                                        </p:attrNameLst>
                                      </p:cBhvr>
                                      <p:to>
                                        <p:strVal val="visible"/>
                                      </p:to>
                                    </p:set>
                                    <p:anim calcmode="lin" valueType="num">
                                      <p:cBhvr additive="base">
                                        <p:cTn id="11" dur="500" fill="hold"/>
                                        <p:tgtEl>
                                          <p:spTgt spid="1229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9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292">
                                            <p:txEl>
                                              <p:pRg st="3" end="3"/>
                                            </p:txEl>
                                          </p:spTgt>
                                        </p:tgtEl>
                                        <p:attrNameLst>
                                          <p:attrName>style.visibility</p:attrName>
                                        </p:attrNameLst>
                                      </p:cBhvr>
                                      <p:to>
                                        <p:strVal val="visible"/>
                                      </p:to>
                                    </p:set>
                                    <p:anim calcmode="lin" valueType="num">
                                      <p:cBhvr additive="base">
                                        <p:cTn id="17" dur="500" fill="hold"/>
                                        <p:tgtEl>
                                          <p:spTgt spid="1229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9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训练原理：父线程等待子线程终止</a:t>
            </a:r>
          </a:p>
        </p:txBody>
      </p:sp>
      <p:sp>
        <p:nvSpPr>
          <p:cNvPr id="13316" name="Rectangle 3"/>
          <p:cNvSpPr>
            <a:spLocks noGrp="1" noChangeArrowheads="1"/>
          </p:cNvSpPr>
          <p:nvPr>
            <p:ph idx="1" hasCustomPrompt="1"/>
          </p:nvPr>
        </p:nvSpPr>
        <p:spPr>
          <a:xfrm>
            <a:off x="484188" y="790575"/>
            <a:ext cx="8185150" cy="3860800"/>
          </a:xfrm>
        </p:spPr>
        <p:txBody>
          <a:bodyPr vert="horz" wrap="square" lIns="91440" tIns="45720" rIns="91440" bIns="45720" numCol="1" rtlCol="0" anchor="t" anchorCtr="0" compatLnSpc="1"/>
          <a:lstStyle/>
          <a:p>
            <a:pPr eaLnBrk="1" hangingPunct="1">
              <a:lnSpc>
                <a:spcPct val="110000"/>
              </a:lnSpc>
            </a:pPr>
            <a:r>
              <a:rPr lang="zh-CN" altLang="en-US" sz="2200" kern="1200">
                <a:latin typeface="微软雅黑" panose="020B0503020204020204" pitchFamily="34" charset="-122"/>
                <a:ea typeface="微软雅黑" panose="020B0503020204020204" pitchFamily="34" charset="-122"/>
                <a:cs typeface="+mn-cs"/>
              </a:rPr>
              <a:t>参数</a:t>
            </a:r>
          </a:p>
          <a:p>
            <a:pPr lvl="1" eaLnBrk="1" hangingPunct="1">
              <a:lnSpc>
                <a:spcPct val="110000"/>
              </a:lnSpc>
            </a:pPr>
            <a:r>
              <a:rPr lang="en-US" altLang="zh-CN" sz="1900" b="1" kern="1200">
                <a:latin typeface="微软雅黑" panose="020B0503020204020204" pitchFamily="34" charset="-122"/>
                <a:ea typeface="微软雅黑" panose="020B0503020204020204" pitchFamily="34" charset="-122"/>
                <a:cs typeface="+mn-cs"/>
              </a:rPr>
              <a:t>thread</a:t>
            </a:r>
            <a:r>
              <a:rPr lang="zh-CN" altLang="en-US" sz="1900" b="1" kern="1200">
                <a:latin typeface="微软雅黑" panose="020B0503020204020204" pitchFamily="34" charset="-122"/>
                <a:ea typeface="微软雅黑" panose="020B0503020204020204" pitchFamily="34" charset="-122"/>
                <a:cs typeface="+mn-cs"/>
              </a:rPr>
              <a:t>：</a:t>
            </a:r>
            <a:r>
              <a:rPr lang="zh-CN" altLang="en-US" sz="1900" kern="1200">
                <a:latin typeface="微软雅黑" panose="020B0503020204020204" pitchFamily="34" charset="-122"/>
                <a:ea typeface="微软雅黑" panose="020B0503020204020204" pitchFamily="34" charset="-122"/>
                <a:cs typeface="+mn-cs"/>
              </a:rPr>
              <a:t>线程</a:t>
            </a:r>
            <a:r>
              <a:rPr lang="en-US" altLang="zh-CN" sz="1900" kern="1200">
                <a:latin typeface="微软雅黑" panose="020B0503020204020204" pitchFamily="34" charset="-122"/>
                <a:ea typeface="微软雅黑" panose="020B0503020204020204" pitchFamily="34" charset="-122"/>
                <a:cs typeface="+mn-cs"/>
              </a:rPr>
              <a:t>ID</a:t>
            </a:r>
            <a:r>
              <a:rPr lang="zh-CN" altLang="en-US" sz="1900" kern="1200">
                <a:latin typeface="微软雅黑" panose="020B0503020204020204" pitchFamily="34" charset="-122"/>
                <a:ea typeface="微软雅黑" panose="020B0503020204020204" pitchFamily="34" charset="-122"/>
                <a:cs typeface="+mn-cs"/>
              </a:rPr>
              <a:t>，指定需要等待的子线程</a:t>
            </a:r>
            <a:endParaRPr lang="en-US" altLang="zh-CN" sz="1900" kern="1200">
              <a:latin typeface="微软雅黑" panose="020B0503020204020204" pitchFamily="34" charset="-122"/>
              <a:ea typeface="微软雅黑" panose="020B0503020204020204" pitchFamily="34" charset="-122"/>
              <a:cs typeface="+mn-cs"/>
            </a:endParaRPr>
          </a:p>
          <a:p>
            <a:pPr lvl="1" eaLnBrk="1" hangingPunct="1">
              <a:lnSpc>
                <a:spcPct val="110000"/>
              </a:lnSpc>
            </a:pPr>
            <a:r>
              <a:rPr lang="en-US" altLang="zh-CN" sz="1900" b="1" kern="1200">
                <a:latin typeface="微软雅黑" panose="020B0503020204020204" pitchFamily="34" charset="-122"/>
                <a:ea typeface="微软雅黑" panose="020B0503020204020204" pitchFamily="34" charset="-122"/>
                <a:cs typeface="+mn-cs"/>
              </a:rPr>
              <a:t>rval_ptr</a:t>
            </a:r>
            <a:r>
              <a:rPr lang="zh-CN" altLang="en-US" sz="1900" b="1" kern="1200">
                <a:latin typeface="微软雅黑" panose="020B0503020204020204" pitchFamily="34" charset="-122"/>
                <a:ea typeface="微软雅黑" panose="020B0503020204020204" pitchFamily="34" charset="-122"/>
                <a:cs typeface="+mn-cs"/>
              </a:rPr>
              <a:t>：</a:t>
            </a:r>
            <a:r>
              <a:rPr lang="zh-CN" altLang="en-US" sz="1900" kern="1200">
                <a:latin typeface="微软雅黑" panose="020B0503020204020204" pitchFamily="34" charset="-122"/>
                <a:ea typeface="微软雅黑" panose="020B0503020204020204" pitchFamily="34" charset="-122"/>
                <a:cs typeface="+mn-cs"/>
              </a:rPr>
              <a:t>接收子线程终止返回值的指针（</a:t>
            </a:r>
            <a:r>
              <a:rPr lang="zh-CN" altLang="en-US" sz="1900" kern="1200">
                <a:solidFill>
                  <a:srgbClr val="FF0000"/>
                </a:solidFill>
                <a:latin typeface="微软雅黑" panose="020B0503020204020204" pitchFamily="34" charset="-122"/>
                <a:ea typeface="微软雅黑" panose="020B0503020204020204" pitchFamily="34" charset="-122"/>
                <a:cs typeface="+mn-cs"/>
              </a:rPr>
              <a:t>若不关心该返回值，可直接将该参数设置为空指针</a:t>
            </a:r>
            <a:r>
              <a:rPr lang="en-US" altLang="zh-CN" sz="1900" kern="1200">
                <a:solidFill>
                  <a:srgbClr val="FF0000"/>
                </a:solidFill>
                <a:latin typeface="微软雅黑" panose="020B0503020204020204" pitchFamily="34" charset="-122"/>
                <a:ea typeface="微软雅黑" panose="020B0503020204020204" pitchFamily="34" charset="-122"/>
                <a:cs typeface="+mn-cs"/>
              </a:rPr>
              <a:t>NULL</a:t>
            </a:r>
            <a:r>
              <a:rPr lang="zh-CN" altLang="en-US" sz="1900" kern="1200">
                <a:latin typeface="微软雅黑" panose="020B0503020204020204" pitchFamily="34" charset="-122"/>
                <a:ea typeface="微软雅黑" panose="020B0503020204020204" pitchFamily="34" charset="-122"/>
                <a:cs typeface="+mn-cs"/>
              </a:rPr>
              <a:t>）</a:t>
            </a:r>
          </a:p>
          <a:p>
            <a:pPr marL="1257300" lvl="2" indent="-342900" eaLnBrk="1" hangingPunct="1">
              <a:lnSpc>
                <a:spcPct val="110000"/>
              </a:lnSpc>
              <a:buFontTx/>
              <a:buAutoNum type="circleNumDbPlain"/>
            </a:pPr>
            <a:r>
              <a:rPr lang="zh-CN" altLang="en-US" sz="1700" kern="1200">
                <a:latin typeface="微软雅黑" panose="020B0503020204020204" pitchFamily="34" charset="-122"/>
                <a:ea typeface="微软雅黑" panose="020B0503020204020204" pitchFamily="34" charset="-122"/>
                <a:cs typeface="+mn-cs"/>
              </a:rPr>
              <a:t>若线程从启动例程返回，</a:t>
            </a:r>
            <a:r>
              <a:rPr lang="en-US" altLang="zh-CN" sz="1700" kern="1200">
                <a:latin typeface="微软雅黑" panose="020B0503020204020204" pitchFamily="34" charset="-122"/>
                <a:ea typeface="微软雅黑" panose="020B0503020204020204" pitchFamily="34" charset="-122"/>
                <a:cs typeface="+mn-cs"/>
              </a:rPr>
              <a:t>rval_ptr</a:t>
            </a:r>
            <a:r>
              <a:rPr lang="zh-CN" altLang="en-US" sz="1700" kern="1200">
                <a:latin typeface="微软雅黑" panose="020B0503020204020204" pitchFamily="34" charset="-122"/>
                <a:ea typeface="微软雅黑" panose="020B0503020204020204" pitchFamily="34" charset="-122"/>
                <a:cs typeface="+mn-cs"/>
              </a:rPr>
              <a:t>将指向返回值</a:t>
            </a:r>
          </a:p>
          <a:p>
            <a:pPr marL="1257300" lvl="2" indent="-342900" eaLnBrk="1" hangingPunct="1">
              <a:lnSpc>
                <a:spcPct val="110000"/>
              </a:lnSpc>
              <a:buFontTx/>
              <a:buAutoNum type="circleNumDbPlain"/>
            </a:pPr>
            <a:r>
              <a:rPr lang="zh-CN" altLang="en-US" sz="1700" kern="1200">
                <a:latin typeface="微软雅黑" panose="020B0503020204020204" pitchFamily="34" charset="-122"/>
                <a:ea typeface="微软雅黑" panose="020B0503020204020204" pitchFamily="34" charset="-122"/>
                <a:cs typeface="+mn-cs"/>
              </a:rPr>
              <a:t>若线程被其他线程取消，</a:t>
            </a:r>
            <a:r>
              <a:rPr lang="en-US" altLang="zh-CN" sz="1700" kern="1200">
                <a:latin typeface="微软雅黑" panose="020B0503020204020204" pitchFamily="34" charset="-122"/>
                <a:ea typeface="微软雅黑" panose="020B0503020204020204" pitchFamily="34" charset="-122"/>
                <a:cs typeface="+mn-cs"/>
              </a:rPr>
              <a:t>rval_ptr</a:t>
            </a:r>
            <a:r>
              <a:rPr lang="zh-CN" altLang="en-US" sz="1700" kern="1200">
                <a:latin typeface="微软雅黑" panose="020B0503020204020204" pitchFamily="34" charset="-122"/>
                <a:ea typeface="微软雅黑" panose="020B0503020204020204" pitchFamily="34" charset="-122"/>
                <a:cs typeface="+mn-cs"/>
              </a:rPr>
              <a:t>指向的值置为</a:t>
            </a:r>
            <a:r>
              <a:rPr lang="en-US" altLang="zh-CN" sz="1700" kern="1200">
                <a:latin typeface="微软雅黑" panose="020B0503020204020204" pitchFamily="34" charset="-122"/>
                <a:ea typeface="微软雅黑" panose="020B0503020204020204" pitchFamily="34" charset="-122"/>
                <a:cs typeface="+mn-cs"/>
              </a:rPr>
              <a:t>PTHREAD_CANCELED</a:t>
            </a:r>
          </a:p>
          <a:p>
            <a:pPr marL="1257300" lvl="2" indent="-342900" eaLnBrk="1" hangingPunct="1">
              <a:lnSpc>
                <a:spcPct val="110000"/>
              </a:lnSpc>
              <a:buFontTx/>
              <a:buAutoNum type="circleNumDbPlain"/>
            </a:pPr>
            <a:r>
              <a:rPr lang="zh-CN" altLang="en-US" sz="1700" kern="1200">
                <a:latin typeface="微软雅黑" panose="020B0503020204020204" pitchFamily="34" charset="-122"/>
                <a:ea typeface="微软雅黑" panose="020B0503020204020204" pitchFamily="34" charset="-122"/>
                <a:cs typeface="+mn-cs"/>
              </a:rPr>
              <a:t>若线程通过调用</a:t>
            </a:r>
            <a:r>
              <a:rPr lang="en-US" altLang="zh-CN" sz="1700" kern="1200">
                <a:latin typeface="微软雅黑" panose="020B0503020204020204" pitchFamily="34" charset="-122"/>
                <a:ea typeface="微软雅黑" panose="020B0503020204020204" pitchFamily="34" charset="-122"/>
                <a:cs typeface="+mn-cs"/>
              </a:rPr>
              <a:t>pthread_exit</a:t>
            </a:r>
            <a:r>
              <a:rPr lang="zh-CN" altLang="en-US" sz="1700" kern="1200">
                <a:latin typeface="微软雅黑" panose="020B0503020204020204" pitchFamily="34" charset="-122"/>
                <a:ea typeface="微软雅黑" panose="020B0503020204020204" pitchFamily="34" charset="-122"/>
                <a:cs typeface="+mn-cs"/>
              </a:rPr>
              <a:t>终止，</a:t>
            </a:r>
            <a:r>
              <a:rPr lang="en-US" altLang="zh-CN" sz="1700" kern="1200">
                <a:latin typeface="微软雅黑" panose="020B0503020204020204" pitchFamily="34" charset="-122"/>
                <a:ea typeface="微软雅黑" panose="020B0503020204020204" pitchFamily="34" charset="-122"/>
                <a:cs typeface="+mn-cs"/>
              </a:rPr>
              <a:t>rval_ptr</a:t>
            </a:r>
            <a:r>
              <a:rPr lang="zh-CN" altLang="en-US" sz="1700" kern="1200">
                <a:latin typeface="微软雅黑" panose="020B0503020204020204" pitchFamily="34" charset="-122"/>
                <a:ea typeface="微软雅黑" panose="020B0503020204020204" pitchFamily="34" charset="-122"/>
                <a:cs typeface="+mn-cs"/>
              </a:rPr>
              <a:t>就是</a:t>
            </a:r>
            <a:r>
              <a:rPr lang="en-US" altLang="zh-CN" sz="1700" kern="1200">
                <a:latin typeface="微软雅黑" panose="020B0503020204020204" pitchFamily="34" charset="-122"/>
                <a:ea typeface="微软雅黑" panose="020B0503020204020204" pitchFamily="34" charset="-122"/>
                <a:cs typeface="+mn-cs"/>
              </a:rPr>
              <a:t>pthread_exit</a:t>
            </a:r>
            <a:r>
              <a:rPr lang="zh-CN" altLang="en-US" sz="1700" kern="1200">
                <a:latin typeface="微软雅黑" panose="020B0503020204020204" pitchFamily="34" charset="-122"/>
                <a:ea typeface="微软雅黑" panose="020B0503020204020204" pitchFamily="34" charset="-122"/>
                <a:cs typeface="+mn-cs"/>
              </a:rPr>
              <a:t>函数中指定的参数</a:t>
            </a:r>
            <a:endParaRPr lang="en-US" altLang="zh-CN" sz="1700" kern="1200">
              <a:latin typeface="微软雅黑" panose="020B0503020204020204" pitchFamily="34" charset="-122"/>
              <a:ea typeface="微软雅黑" panose="020B0503020204020204" pitchFamily="34" charset="-122"/>
              <a:cs typeface="+mn-cs"/>
            </a:endParaRPr>
          </a:p>
          <a:p>
            <a:pPr eaLnBrk="1" hangingPunct="1">
              <a:lnSpc>
                <a:spcPct val="110000"/>
              </a:lnSpc>
            </a:pPr>
            <a:r>
              <a:rPr lang="zh-CN" altLang="en-US" sz="2200" kern="1200">
                <a:latin typeface="微软雅黑" panose="020B0503020204020204" pitchFamily="34" charset="-122"/>
                <a:ea typeface="微软雅黑" panose="020B0503020204020204" pitchFamily="34" charset="-122"/>
                <a:cs typeface="+mn-cs"/>
              </a:rPr>
              <a:t>返回值</a:t>
            </a:r>
            <a:endParaRPr lang="en-US" altLang="zh-CN" sz="2200" kern="1200">
              <a:latin typeface="微软雅黑" panose="020B0503020204020204" pitchFamily="34" charset="-122"/>
              <a:ea typeface="微软雅黑" panose="020B0503020204020204" pitchFamily="34" charset="-122"/>
              <a:cs typeface="+mn-cs"/>
            </a:endParaRPr>
          </a:p>
          <a:p>
            <a:pPr lvl="1" eaLnBrk="1" hangingPunct="1">
              <a:lnSpc>
                <a:spcPct val="110000"/>
              </a:lnSpc>
            </a:pPr>
            <a:r>
              <a:rPr lang="zh-CN" altLang="en-US" sz="1900" kern="1200">
                <a:latin typeface="微软雅黑" panose="020B0503020204020204" pitchFamily="34" charset="-122"/>
                <a:ea typeface="微软雅黑" panose="020B0503020204020204" pitchFamily="34" charset="-122"/>
                <a:cs typeface="+mn-cs"/>
              </a:rPr>
              <a:t>成功返回</a:t>
            </a:r>
            <a:r>
              <a:rPr lang="en-US" altLang="zh-CN" sz="1900" kern="1200">
                <a:latin typeface="微软雅黑" panose="020B0503020204020204" pitchFamily="34" charset="-122"/>
                <a:ea typeface="微软雅黑" panose="020B0503020204020204" pitchFamily="34" charset="-122"/>
                <a:cs typeface="+mn-cs"/>
              </a:rPr>
              <a:t>0</a:t>
            </a:r>
            <a:r>
              <a:rPr lang="zh-CN" altLang="en-US" sz="1900" kern="1200">
                <a:latin typeface="微软雅黑" panose="020B0503020204020204" pitchFamily="34" charset="-122"/>
                <a:ea typeface="微软雅黑" panose="020B0503020204020204" pitchFamily="34" charset="-122"/>
                <a:cs typeface="+mn-cs"/>
              </a:rPr>
              <a:t>，出错返回错误编号</a:t>
            </a:r>
          </a:p>
          <a:p>
            <a:pPr lvl="1" eaLnBrk="1" hangingPunct="1">
              <a:lnSpc>
                <a:spcPct val="110000"/>
              </a:lnSpc>
            </a:pPr>
            <a:endParaRPr lang="en-US" altLang="zh-CN" sz="1900" kern="1200">
              <a:latin typeface="微软雅黑" panose="020B0503020204020204" pitchFamily="34" charset="-122"/>
              <a:ea typeface="微软雅黑" panose="020B0503020204020204" pitchFamily="34" charset="-122"/>
              <a:cs typeface="+mn-cs"/>
            </a:endParaRPr>
          </a:p>
        </p:txBody>
      </p:sp>
      <p:sp>
        <p:nvSpPr>
          <p:cNvPr id="19458"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15</a:t>
            </a:fld>
            <a:endParaRPr lang="en-US" altLang="zh-CN" sz="1000">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anim calcmode="lin" valueType="num">
                                      <p:cBhvr additive="base">
                                        <p:cTn id="7" dur="500" fill="hold"/>
                                        <p:tgtEl>
                                          <p:spTgt spid="133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6">
                                            <p:txEl>
                                              <p:pRg st="2" end="2"/>
                                            </p:txEl>
                                          </p:spTgt>
                                        </p:tgtEl>
                                        <p:attrNameLst>
                                          <p:attrName>style.visibility</p:attrName>
                                        </p:attrNameLst>
                                      </p:cBhvr>
                                      <p:to>
                                        <p:strVal val="visible"/>
                                      </p:to>
                                    </p:set>
                                    <p:anim calcmode="lin" valueType="num">
                                      <p:cBhvr additive="base">
                                        <p:cTn id="13" dur="500" fill="hold"/>
                                        <p:tgtEl>
                                          <p:spTgt spid="133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6">
                                            <p:txEl>
                                              <p:pRg st="3" end="3"/>
                                            </p:txEl>
                                          </p:spTgt>
                                        </p:tgtEl>
                                        <p:attrNameLst>
                                          <p:attrName>style.visibility</p:attrName>
                                        </p:attrNameLst>
                                      </p:cBhvr>
                                      <p:to>
                                        <p:strVal val="visible"/>
                                      </p:to>
                                    </p:set>
                                    <p:anim calcmode="lin" valueType="num">
                                      <p:cBhvr additive="base">
                                        <p:cTn id="19" dur="500" fill="hold"/>
                                        <p:tgtEl>
                                          <p:spTgt spid="133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316">
                                            <p:txEl>
                                              <p:pRg st="4" end="4"/>
                                            </p:txEl>
                                          </p:spTgt>
                                        </p:tgtEl>
                                        <p:attrNameLst>
                                          <p:attrName>style.visibility</p:attrName>
                                        </p:attrNameLst>
                                      </p:cBhvr>
                                      <p:to>
                                        <p:strVal val="visible"/>
                                      </p:to>
                                    </p:set>
                                    <p:anim calcmode="lin" valueType="num">
                                      <p:cBhvr additive="base">
                                        <p:cTn id="25" dur="500" fill="hold"/>
                                        <p:tgtEl>
                                          <p:spTgt spid="1331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3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316">
                                            <p:txEl>
                                              <p:pRg st="5" end="5"/>
                                            </p:txEl>
                                          </p:spTgt>
                                        </p:tgtEl>
                                        <p:attrNameLst>
                                          <p:attrName>style.visibility</p:attrName>
                                        </p:attrNameLst>
                                      </p:cBhvr>
                                      <p:to>
                                        <p:strVal val="visible"/>
                                      </p:to>
                                    </p:set>
                                    <p:anim calcmode="lin" valueType="num">
                                      <p:cBhvr additive="base">
                                        <p:cTn id="31" dur="500" fill="hold"/>
                                        <p:tgtEl>
                                          <p:spTgt spid="1331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3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3316">
                                            <p:txEl>
                                              <p:pRg st="7" end="7"/>
                                            </p:txEl>
                                          </p:spTgt>
                                        </p:tgtEl>
                                        <p:attrNameLst>
                                          <p:attrName>style.visibility</p:attrName>
                                        </p:attrNameLst>
                                      </p:cBhvr>
                                      <p:to>
                                        <p:strVal val="visible"/>
                                      </p:to>
                                    </p:set>
                                    <p:anim calcmode="lin" valueType="num">
                                      <p:cBhvr additive="base">
                                        <p:cTn id="37" dur="500" fill="hold"/>
                                        <p:tgtEl>
                                          <p:spTgt spid="13316">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3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训练原理：创建并等待子线程代码示例</a:t>
            </a:r>
          </a:p>
        </p:txBody>
      </p:sp>
      <p:sp>
        <p:nvSpPr>
          <p:cNvPr id="34818" name="Rectangle 3"/>
          <p:cNvSpPr>
            <a:spLocks noGrp="1"/>
          </p:cNvSpPr>
          <p:nvPr>
            <p:ph idx="1" hasCustomPrompt="1"/>
          </p:nvPr>
        </p:nvSpPr>
        <p:spPr>
          <a:xfrm>
            <a:off x="209550" y="790575"/>
            <a:ext cx="4375150" cy="2862263"/>
          </a:xfrm>
          <a:ln w="28575">
            <a:solidFill>
              <a:schemeClr val="accent2">
                <a:alpha val="100000"/>
              </a:schemeClr>
            </a:solidFill>
            <a:miter lim="800000"/>
          </a:ln>
        </p:spPr>
        <p:txBody>
          <a:bodyPr vert="horz" wrap="square" lIns="91440" tIns="45720" rIns="91440" bIns="45720" anchor="t" anchorCtr="0"/>
          <a:lstStyle/>
          <a:p>
            <a:pPr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void *childthread(void </a:t>
            </a:r>
            <a:r>
              <a:rPr lang="zh-CN" altLang="en-US" sz="1800" kern="120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arg){</a:t>
            </a:r>
          </a:p>
          <a:p>
            <a:pPr lvl="1"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int i;</a:t>
            </a:r>
          </a:p>
          <a:p>
            <a:pPr lvl="1"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for(i=0;i&lt;10;i++){</a:t>
            </a:r>
          </a:p>
          <a:p>
            <a:pPr lvl="1"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	printf(“childthread message:%s\n”,(char *)arg);</a:t>
            </a:r>
          </a:p>
          <a:p>
            <a:pPr lvl="1"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	sleep(1);} </a:t>
            </a:r>
          </a:p>
          <a:p>
            <a:pPr lvl="1" eaLnBrk="1" hangingPunct="1">
              <a:buFont typeface="Wingdings" panose="05000000000000000000" pitchFamily="2" charset="2"/>
              <a:buNone/>
            </a:pPr>
            <a:r>
              <a:rPr lang="en-US" altLang="zh-CN" sz="1800" kern="1200">
                <a:latin typeface="Times New Roman" panose="02020503050405090304" pitchFamily="18" charset="0"/>
                <a:ea typeface="微软雅黑" panose="020B0503020204020204" pitchFamily="34" charset="-122"/>
                <a:cs typeface="Times New Roman" panose="02020503050405090304" pitchFamily="18" charset="0"/>
              </a:rPr>
              <a:t>   return 0;</a:t>
            </a:r>
            <a:r>
              <a:rPr lang="en-US" altLang="zh-CN" sz="1800" b="1" kern="120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1800" b="1" kern="1200">
              <a:latin typeface="Times New Roman" panose="02020503050405090304" pitchFamily="18" charset="0"/>
              <a:ea typeface="Times New Roman" panose="02020503050405090304" pitchFamily="18" charset="0"/>
              <a:cs typeface="+mn-cs"/>
            </a:endParaRPr>
          </a:p>
        </p:txBody>
      </p:sp>
      <p:sp>
        <p:nvSpPr>
          <p:cNvPr id="20482" name="灯片编号占位符 5"/>
          <p:cNvSpPr txBox="1">
            <a:spLocks noGrp="1"/>
          </p:cNvSpPr>
          <p:nvPr>
            <p:ph type="sldNum" sz="quarter" idx="12"/>
          </p:nvPr>
        </p:nvSpPr>
        <p:spPr>
          <a:xfrm>
            <a:off x="7010400" y="4894263"/>
            <a:ext cx="2133600" cy="161925"/>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rPr>
              <a:t>16</a:t>
            </a:fld>
            <a:endParaRPr lang="en-US" altLang="zh-CN" sz="1000">
              <a:latin typeface="Arial" panose="020B0604020202090204" pitchFamily="34" charset="0"/>
            </a:endParaRPr>
          </a:p>
        </p:txBody>
      </p:sp>
      <p:sp>
        <p:nvSpPr>
          <p:cNvPr id="3" name="文本框 2"/>
          <p:cNvSpPr txBox="1"/>
          <p:nvPr/>
        </p:nvSpPr>
        <p:spPr>
          <a:xfrm>
            <a:off x="4859338" y="790575"/>
            <a:ext cx="3971925" cy="286226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int main(int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argc,char</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argv</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pthread_t</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tid</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char str[100];</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printf</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(“create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childthread</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\n”); </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sprint(</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str,”str</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from parent”);</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pthread_create</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(&amp;</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tid,NULL</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,(void *)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childthread,str</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pthread_join</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tid,NULL</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printf</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a:t>
            </a:r>
            <a:r>
              <a:rPr kumimoji="0" lang="en-US" altLang="zh-CN" sz="1800" b="0" i="0" u="none" strike="noStrike" kern="1200" cap="none" spc="0" normalizeH="0" baseline="0" noProof="0" dirty="0" err="1">
                <a:ln>
                  <a:noFill/>
                </a:ln>
                <a:solidFill>
                  <a:schemeClr val="dk1"/>
                </a:solidFill>
                <a:effectLst/>
                <a:uLnTx/>
                <a:uFillTx/>
                <a:latin typeface="Times New Roman" panose="02020503050405090304" pitchFamily="18" charset="0"/>
                <a:ea typeface="+mn-ea"/>
                <a:cs typeface="Times New Roman" panose="02020503050405090304" pitchFamily="18" charset="0"/>
              </a:rPr>
              <a:t>childthread</a:t>
            </a: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exit\n”); </a:t>
            </a:r>
          </a:p>
          <a:p>
            <a:pPr marL="0" marR="0" lvl="0" indent="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rPr>
              <a:t>    return 0;}</a:t>
            </a:r>
            <a:endParaRPr kumimoji="0" lang="zh-CN" altLang="en-US" sz="1800" b="0" i="0" u="none" strike="noStrike" kern="1200" cap="none" spc="0" normalizeH="0" baseline="0" noProof="0" dirty="0">
              <a:ln>
                <a:noFill/>
              </a:ln>
              <a:solidFill>
                <a:schemeClr val="dk1"/>
              </a:solidFill>
              <a:effectLst/>
              <a:uLnTx/>
              <a:uFillTx/>
              <a:latin typeface="Times New Roman" panose="02020503050405090304" pitchFamily="18" charset="0"/>
              <a:ea typeface="+mn-ea"/>
              <a:cs typeface="Times New Roman" panose="02020503050405090304" pitchFamily="18"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kern="1200">
                <a:solidFill>
                  <a:srgbClr val="0070C0"/>
                </a:solidFill>
                <a:latin typeface="微软雅黑" panose="020B0503020204020204" pitchFamily="34" charset="-122"/>
                <a:ea typeface="微软雅黑" panose="020B0503020204020204" pitchFamily="34" charset="-122"/>
                <a:cs typeface="+mj-cs"/>
              </a:rPr>
              <a:t>Linux</a:t>
            </a:r>
            <a:r>
              <a:rPr lang="zh-CN" altLang="en-US" kern="1200">
                <a:solidFill>
                  <a:srgbClr val="0070C0"/>
                </a:solidFill>
                <a:latin typeface="微软雅黑" panose="020B0503020204020204" pitchFamily="34" charset="-122"/>
                <a:ea typeface="微软雅黑" panose="020B0503020204020204" pitchFamily="34" charset="-122"/>
                <a:cs typeface="+mj-cs"/>
              </a:rPr>
              <a:t>编程技巧</a:t>
            </a:r>
          </a:p>
        </p:txBody>
      </p:sp>
      <p:sp>
        <p:nvSpPr>
          <p:cNvPr id="3584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多个源文件编译为一个可执行文件</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r>
              <a:rPr lang="en-US" altLang="zh-CN" sz="2100" b="1" kern="1200">
                <a:solidFill>
                  <a:srgbClr val="00B050"/>
                </a:solidFill>
                <a:latin typeface="微软雅黑" panose="020B0503020204020204" pitchFamily="34" charset="-122"/>
                <a:ea typeface="微软雅黑" panose="020B0503020204020204" pitchFamily="34" charset="-122"/>
                <a:cs typeface="+mn-cs"/>
              </a:rPr>
              <a:t>gcc file1.c</a:t>
            </a:r>
            <a:r>
              <a:rPr lang="zh-CN" altLang="en-US" sz="2100" b="1" kern="1200">
                <a:solidFill>
                  <a:srgbClr val="00B050"/>
                </a:solidFill>
                <a:latin typeface="微软雅黑" panose="020B0503020204020204" pitchFamily="34" charset="-122"/>
                <a:ea typeface="微软雅黑" panose="020B0503020204020204" pitchFamily="34" charset="-122"/>
                <a:cs typeface="+mn-cs"/>
              </a:rPr>
              <a:t> </a:t>
            </a:r>
            <a:r>
              <a:rPr lang="en-US" altLang="zh-CN" sz="2100" b="1" kern="1200">
                <a:solidFill>
                  <a:srgbClr val="00B050"/>
                </a:solidFill>
                <a:latin typeface="微软雅黑" panose="020B0503020204020204" pitchFamily="34" charset="-122"/>
                <a:ea typeface="微软雅黑" panose="020B0503020204020204" pitchFamily="34" charset="-122"/>
                <a:cs typeface="+mn-cs"/>
              </a:rPr>
              <a:t>file2.c</a:t>
            </a:r>
            <a:r>
              <a:rPr lang="zh-CN" altLang="en-US" sz="2100" b="1" kern="1200">
                <a:solidFill>
                  <a:srgbClr val="00B050"/>
                </a:solidFill>
                <a:latin typeface="微软雅黑" panose="020B0503020204020204" pitchFamily="34" charset="-122"/>
                <a:ea typeface="微软雅黑" panose="020B0503020204020204" pitchFamily="34" charset="-122"/>
                <a:cs typeface="+mn-cs"/>
              </a:rPr>
              <a:t> </a:t>
            </a:r>
            <a:r>
              <a:rPr lang="en-US" altLang="zh-CN" sz="2100" b="1" kern="1200">
                <a:solidFill>
                  <a:srgbClr val="00B050"/>
                </a:solidFill>
                <a:latin typeface="微软雅黑" panose="020B0503020204020204" pitchFamily="34" charset="-122"/>
                <a:ea typeface="微软雅黑" panose="020B0503020204020204" pitchFamily="34" charset="-122"/>
                <a:cs typeface="+mn-cs"/>
              </a:rPr>
              <a:t>-o</a:t>
            </a:r>
            <a:r>
              <a:rPr lang="zh-CN" altLang="en-US" sz="2100" b="1" kern="1200">
                <a:solidFill>
                  <a:srgbClr val="00B050"/>
                </a:solidFill>
                <a:latin typeface="微软雅黑" panose="020B0503020204020204" pitchFamily="34" charset="-122"/>
                <a:ea typeface="微软雅黑" panose="020B0503020204020204" pitchFamily="34" charset="-122"/>
                <a:cs typeface="+mn-cs"/>
              </a:rPr>
              <a:t> </a:t>
            </a:r>
            <a:r>
              <a:rPr lang="en-US" altLang="zh-CN" sz="2100" b="1" kern="1200">
                <a:solidFill>
                  <a:srgbClr val="00B050"/>
                </a:solidFill>
                <a:latin typeface="微软雅黑" panose="020B0503020204020204" pitchFamily="34" charset="-122"/>
                <a:ea typeface="微软雅黑" panose="020B0503020204020204" pitchFamily="34" charset="-122"/>
                <a:cs typeface="+mn-cs"/>
              </a:rPr>
              <a:t>objfile.o</a:t>
            </a:r>
          </a:p>
          <a:p>
            <a:pPr eaLnBrk="1" hangingPunct="1"/>
            <a:r>
              <a:rPr lang="zh-CN" altLang="en-US" sz="2400" kern="1200">
                <a:latin typeface="微软雅黑" panose="020B0503020204020204" pitchFamily="34" charset="-122"/>
                <a:ea typeface="微软雅黑" panose="020B0503020204020204" pitchFamily="34" charset="-122"/>
                <a:cs typeface="+mn-cs"/>
              </a:rPr>
              <a:t>外部库的链接</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r>
              <a:rPr lang="zh-CN" altLang="en-US" sz="2100" kern="1200">
                <a:latin typeface="微软雅黑" panose="020B0503020204020204" pitchFamily="34" charset="-122"/>
                <a:ea typeface="微软雅黑" panose="020B0503020204020204" pitchFamily="34" charset="-122"/>
                <a:cs typeface="+mn-cs"/>
              </a:rPr>
              <a:t>在</a:t>
            </a:r>
            <a:r>
              <a:rPr lang="en-US" altLang="zh-CN" sz="2100" kern="1200">
                <a:latin typeface="微软雅黑" panose="020B0503020204020204" pitchFamily="34" charset="-122"/>
                <a:ea typeface="微软雅黑" panose="020B0503020204020204" pitchFamily="34" charset="-122"/>
                <a:cs typeface="+mn-cs"/>
              </a:rPr>
              <a:t>Linux</a:t>
            </a:r>
            <a:r>
              <a:rPr lang="zh-CN" altLang="en-US" sz="2100" kern="1200">
                <a:latin typeface="微软雅黑" panose="020B0503020204020204" pitchFamily="34" charset="-122"/>
                <a:ea typeface="微软雅黑" panose="020B0503020204020204" pitchFamily="34" charset="-122"/>
                <a:cs typeface="+mn-cs"/>
              </a:rPr>
              <a:t>中线程控制</a:t>
            </a:r>
            <a:r>
              <a:rPr lang="en-US" altLang="zh-CN" sz="2100" kern="1200">
                <a:latin typeface="微软雅黑" panose="020B0503020204020204" pitchFamily="34" charset="-122"/>
                <a:ea typeface="微软雅黑" panose="020B0503020204020204" pitchFamily="34" charset="-122"/>
                <a:cs typeface="+mn-cs"/>
              </a:rPr>
              <a:t>API</a:t>
            </a:r>
            <a:r>
              <a:rPr lang="zh-CN" altLang="en-US" sz="2100" kern="1200">
                <a:latin typeface="微软雅黑" panose="020B0503020204020204" pitchFamily="34" charset="-122"/>
                <a:ea typeface="微软雅黑" panose="020B0503020204020204" pitchFamily="34" charset="-122"/>
                <a:cs typeface="+mn-cs"/>
              </a:rPr>
              <a:t>并未实现在标准</a:t>
            </a:r>
            <a:r>
              <a:rPr lang="en-US" altLang="zh-CN" sz="2100" kern="1200">
                <a:latin typeface="微软雅黑" panose="020B0503020204020204" pitchFamily="34" charset="-122"/>
                <a:ea typeface="微软雅黑" panose="020B0503020204020204" pitchFamily="34" charset="-122"/>
                <a:cs typeface="+mn-cs"/>
              </a:rPr>
              <a:t>C</a:t>
            </a:r>
            <a:r>
              <a:rPr lang="zh-CN" altLang="en-US" sz="2100" kern="1200">
                <a:latin typeface="微软雅黑" panose="020B0503020204020204" pitchFamily="34" charset="-122"/>
                <a:ea typeface="微软雅黑" panose="020B0503020204020204" pitchFamily="34" charset="-122"/>
                <a:cs typeface="+mn-cs"/>
              </a:rPr>
              <a:t>库中而是实现在了线程库中</a:t>
            </a:r>
            <a:endParaRPr lang="en-US" altLang="zh-CN" sz="2100" kern="1200">
              <a:latin typeface="微软雅黑" panose="020B0503020204020204" pitchFamily="34" charset="-122"/>
              <a:ea typeface="微软雅黑" panose="020B0503020204020204" pitchFamily="34" charset="-122"/>
              <a:cs typeface="+mn-cs"/>
            </a:endParaRPr>
          </a:p>
          <a:p>
            <a:pPr lvl="1" eaLnBrk="1" hangingPunct="1"/>
            <a:r>
              <a:rPr lang="zh-CN" altLang="en-US" sz="2100" kern="1200">
                <a:latin typeface="微软雅黑" panose="020B0503020204020204" pitchFamily="34" charset="-122"/>
                <a:ea typeface="微软雅黑" panose="020B0503020204020204" pitchFamily="34" charset="-122"/>
                <a:cs typeface="+mn-cs"/>
              </a:rPr>
              <a:t>应用程序中使用了外部库需要在编译时进行显示链接</a:t>
            </a:r>
            <a:endParaRPr lang="en-US" altLang="zh-CN" sz="2100" kern="1200">
              <a:latin typeface="微软雅黑" panose="020B0503020204020204" pitchFamily="34" charset="-122"/>
              <a:ea typeface="微软雅黑" panose="020B0503020204020204" pitchFamily="34" charset="-122"/>
              <a:cs typeface="+mn-cs"/>
            </a:endParaRPr>
          </a:p>
          <a:p>
            <a:pPr lvl="1" eaLnBrk="1" hangingPunct="1">
              <a:buFont typeface="Wingdings" panose="05000000000000000000" pitchFamily="2" charset="2"/>
              <a:buNone/>
            </a:pPr>
            <a:r>
              <a:rPr lang="en-US" altLang="zh-CN" sz="2100" b="1" kern="1200">
                <a:solidFill>
                  <a:srgbClr val="00B050"/>
                </a:solidFill>
                <a:latin typeface="微软雅黑" panose="020B0503020204020204" pitchFamily="34" charset="-122"/>
                <a:ea typeface="微软雅黑" panose="020B0503020204020204" pitchFamily="34" charset="-122"/>
                <a:cs typeface="+mn-cs"/>
              </a:rPr>
              <a:t>gcc file1.c file2.c –o objfile.o -lpthread</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训练原理：哲学家进餐</a:t>
            </a:r>
          </a:p>
        </p:txBody>
      </p:sp>
      <p:sp>
        <p:nvSpPr>
          <p:cNvPr id="37890" name="Rectangle 3"/>
          <p:cNvSpPr>
            <a:spLocks noGrp="1"/>
          </p:cNvSpPr>
          <p:nvPr>
            <p:ph idx="1" hasCustomPrompt="1"/>
          </p:nvPr>
        </p:nvSpPr>
        <p:spPr>
          <a:xfrm>
            <a:off x="433388" y="655638"/>
            <a:ext cx="8185150" cy="3860800"/>
          </a:xfrm>
          <a:ln/>
        </p:spPr>
        <p:txBody>
          <a:bodyPr vert="horz" wrap="square" lIns="91440" tIns="45720" rIns="91440" bIns="45720" anchor="t" anchorCtr="0"/>
          <a:lstStyle/>
          <a:p>
            <a:pPr eaLnBrk="1" hangingPunct="1">
              <a:lnSpc>
                <a:spcPct val="130000"/>
              </a:lnSpc>
              <a:buFontTx/>
              <a:buNone/>
            </a:pPr>
            <a:r>
              <a:rPr lang="en-US" altLang="zh-CN" sz="1600" kern="1200">
                <a:latin typeface="微软雅黑" panose="020B0503020204020204" pitchFamily="34" charset="-122"/>
                <a:ea typeface="微软雅黑" panose="020B0503020204020204" pitchFamily="34" charset="-122"/>
                <a:cs typeface="+mn-cs"/>
              </a:rPr>
              <a:t>            </a:t>
            </a:r>
            <a:r>
              <a:rPr lang="zh-CN" altLang="en-US" sz="2400" kern="1200">
                <a:solidFill>
                  <a:srgbClr val="0000CC"/>
                </a:solidFill>
                <a:latin typeface="微软雅黑" panose="020B0503020204020204" pitchFamily="34" charset="-122"/>
                <a:ea typeface="微软雅黑" panose="020B0503020204020204" pitchFamily="34" charset="-122"/>
                <a:cs typeface="+mn-cs"/>
              </a:rPr>
              <a:t>五个哲学家</a:t>
            </a:r>
            <a:r>
              <a:rPr lang="zh-CN" altLang="en-US" sz="2400" kern="1200">
                <a:latin typeface="微软雅黑" panose="020B0503020204020204" pitchFamily="34" charset="-122"/>
                <a:ea typeface="微软雅黑" panose="020B0503020204020204" pitchFamily="34" charset="-122"/>
                <a:cs typeface="+mn-cs"/>
              </a:rPr>
              <a:t>共用一张圆桌，分别坐在周围的五张椅子上，在圆桌上有</a:t>
            </a:r>
            <a:r>
              <a:rPr lang="zh-CN" altLang="en-US" sz="2400" kern="1200">
                <a:solidFill>
                  <a:srgbClr val="0000CC"/>
                </a:solidFill>
                <a:latin typeface="微软雅黑" panose="020B0503020204020204" pitchFamily="34" charset="-122"/>
                <a:ea typeface="微软雅黑" panose="020B0503020204020204" pitchFamily="34" charset="-122"/>
                <a:cs typeface="+mn-cs"/>
              </a:rPr>
              <a:t>五个碗和五只筷子</a:t>
            </a:r>
            <a:r>
              <a:rPr lang="zh-CN" altLang="en-US" sz="2400" kern="1200">
                <a:latin typeface="微软雅黑" panose="020B0503020204020204" pitchFamily="34" charset="-122"/>
                <a:ea typeface="微软雅黑" panose="020B0503020204020204" pitchFamily="34" charset="-122"/>
                <a:cs typeface="+mn-cs"/>
              </a:rPr>
              <a:t>，他们的生活方式是交替地进行思考和进餐。平时，一个哲学家进行思考，饥饿时便试图取其左右最靠近它的筷子，</a:t>
            </a:r>
            <a:r>
              <a:rPr lang="zh-CN" altLang="en-US" sz="2400" kern="1200">
                <a:solidFill>
                  <a:srgbClr val="0000CC"/>
                </a:solidFill>
                <a:latin typeface="微软雅黑" panose="020B0503020204020204" pitchFamily="34" charset="-122"/>
                <a:ea typeface="微软雅黑" panose="020B0503020204020204" pitchFamily="34" charset="-122"/>
                <a:cs typeface="+mn-cs"/>
              </a:rPr>
              <a:t>只有他拿到两只筷子时</a:t>
            </a:r>
            <a:r>
              <a:rPr lang="zh-CN" altLang="en-US" sz="2400" kern="1200">
                <a:latin typeface="微软雅黑" panose="020B0503020204020204" pitchFamily="34" charset="-122"/>
                <a:ea typeface="微软雅黑" panose="020B0503020204020204" pitchFamily="34" charset="-122"/>
                <a:cs typeface="+mn-cs"/>
              </a:rPr>
              <a:t>才能进餐。进餐毕，放下筷子继续思考。</a:t>
            </a:r>
          </a:p>
        </p:txBody>
      </p:sp>
      <p:pic>
        <p:nvPicPr>
          <p:cNvPr id="37891" name="Picture 5"/>
          <p:cNvPicPr>
            <a:picLocks noChangeAspect="1"/>
          </p:cNvPicPr>
          <p:nvPr/>
        </p:nvPicPr>
        <p:blipFill>
          <a:blip r:embed="rId3"/>
          <a:srcRect l="9184" t="752" r="9151" b="710"/>
          <a:stretch>
            <a:fillRect/>
          </a:stretch>
        </p:blipFill>
        <p:spPr>
          <a:xfrm>
            <a:off x="2735263" y="3543300"/>
            <a:ext cx="1458912" cy="1330325"/>
          </a:xfrm>
          <a:prstGeom prst="rect">
            <a:avLst/>
          </a:prstGeom>
          <a:noFill/>
          <a:ln w="9525">
            <a:noFill/>
          </a:ln>
        </p:spPr>
      </p:pic>
      <p:grpSp>
        <p:nvGrpSpPr>
          <p:cNvPr id="37892" name="Group 6"/>
          <p:cNvGrpSpPr/>
          <p:nvPr/>
        </p:nvGrpSpPr>
        <p:grpSpPr>
          <a:xfrm>
            <a:off x="4684713" y="3760788"/>
            <a:ext cx="1885950" cy="808037"/>
            <a:chOff x="624" y="2395"/>
            <a:chExt cx="4344" cy="1452"/>
          </a:xfrm>
        </p:grpSpPr>
        <p:pic>
          <p:nvPicPr>
            <p:cNvPr id="37893" name="Picture 7"/>
            <p:cNvPicPr>
              <a:picLocks noChangeAspect="1"/>
            </p:cNvPicPr>
            <p:nvPr/>
          </p:nvPicPr>
          <p:blipFill>
            <a:blip r:embed="rId4">
              <a:grayscl/>
              <a:lum bright="70001" contrast="-39999"/>
            </a:blip>
            <a:stretch>
              <a:fillRect/>
            </a:stretch>
          </p:blipFill>
          <p:spPr>
            <a:xfrm>
              <a:off x="624" y="2489"/>
              <a:ext cx="1208" cy="1358"/>
            </a:xfrm>
            <a:prstGeom prst="rect">
              <a:avLst/>
            </a:prstGeom>
            <a:noFill/>
            <a:ln w="9525">
              <a:noFill/>
            </a:ln>
          </p:spPr>
        </p:pic>
        <p:pic>
          <p:nvPicPr>
            <p:cNvPr id="37894" name="Picture 8"/>
            <p:cNvPicPr>
              <a:picLocks noChangeAspect="1"/>
            </p:cNvPicPr>
            <p:nvPr/>
          </p:nvPicPr>
          <p:blipFill>
            <a:blip r:embed="rId5">
              <a:grayscl/>
              <a:lum bright="-100000" contrast="-75999"/>
            </a:blip>
            <a:stretch>
              <a:fillRect/>
            </a:stretch>
          </p:blipFill>
          <p:spPr>
            <a:xfrm>
              <a:off x="1488" y="2395"/>
              <a:ext cx="3480" cy="1376"/>
            </a:xfrm>
            <a:prstGeom prst="rect">
              <a:avLst/>
            </a:prstGeom>
            <a:noFill/>
            <a:ln w="9525">
              <a:noFill/>
            </a:ln>
          </p:spPr>
        </p:pic>
      </p:gr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可选过程 4"/>
          <p:cNvSpPr/>
          <p:nvPr/>
        </p:nvSpPr>
        <p:spPr>
          <a:xfrm>
            <a:off x="3006725" y="1112838"/>
            <a:ext cx="2806700" cy="292100"/>
          </a:xfrm>
          <a:prstGeom prst="flowChartAlternate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开始</a:t>
            </a:r>
          </a:p>
        </p:txBody>
      </p:sp>
      <p:sp>
        <p:nvSpPr>
          <p:cNvPr id="7" name="流程图: 过程 6"/>
          <p:cNvSpPr/>
          <p:nvPr/>
        </p:nvSpPr>
        <p:spPr bwMode="auto">
          <a:xfrm>
            <a:off x="3006725" y="1836738"/>
            <a:ext cx="2816225" cy="504825"/>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初始化</a:t>
            </a:r>
          </a:p>
        </p:txBody>
      </p:sp>
      <p:cxnSp>
        <p:nvCxnSpPr>
          <p:cNvPr id="9" name="直接箭头连接符 8"/>
          <p:cNvCxnSpPr>
            <a:endCxn id="7" idx="0"/>
          </p:cNvCxnSpPr>
          <p:nvPr/>
        </p:nvCxnSpPr>
        <p:spPr bwMode="auto">
          <a:xfrm>
            <a:off x="4410075" y="1404938"/>
            <a:ext cx="3175" cy="4318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
        <p:nvSpPr>
          <p:cNvPr id="48" name="流程图: 过程 47"/>
          <p:cNvSpPr/>
          <p:nvPr/>
        </p:nvSpPr>
        <p:spPr bwMode="auto">
          <a:xfrm>
            <a:off x="3008313" y="2773363"/>
            <a:ext cx="2817813" cy="506413"/>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创建五个任务</a:t>
            </a:r>
            <a:endParaRPr lang="en-US" altLang="zh-CN" sz="1800">
              <a:latin typeface="Arial" panose="020B0604020202090204" pitchFamily="34" charset="0"/>
              <a:ea typeface="黑体" panose="02010600030101010101" pitchFamily="49" charset="-122"/>
            </a:endParaRPr>
          </a:p>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（子线程）</a:t>
            </a:r>
          </a:p>
        </p:txBody>
      </p:sp>
      <p:cxnSp>
        <p:nvCxnSpPr>
          <p:cNvPr id="49" name="直接箭头连接符 48"/>
          <p:cNvCxnSpPr/>
          <p:nvPr/>
        </p:nvCxnSpPr>
        <p:spPr bwMode="auto">
          <a:xfrm>
            <a:off x="4410075" y="2322513"/>
            <a:ext cx="3175" cy="4318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
        <p:nvSpPr>
          <p:cNvPr id="50" name="流程图: 过程 49"/>
          <p:cNvSpPr/>
          <p:nvPr/>
        </p:nvSpPr>
        <p:spPr bwMode="auto">
          <a:xfrm>
            <a:off x="3008313" y="3711575"/>
            <a:ext cx="2817813" cy="506413"/>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等待任务执行结束</a:t>
            </a:r>
          </a:p>
        </p:txBody>
      </p:sp>
      <p:cxnSp>
        <p:nvCxnSpPr>
          <p:cNvPr id="51" name="直接箭头连接符 50"/>
          <p:cNvCxnSpPr/>
          <p:nvPr/>
        </p:nvCxnSpPr>
        <p:spPr bwMode="auto">
          <a:xfrm>
            <a:off x="4410075" y="3295650"/>
            <a:ext cx="3175" cy="43180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
        <p:nvSpPr>
          <p:cNvPr id="52" name="流程图: 可选过程 51"/>
          <p:cNvSpPr/>
          <p:nvPr/>
        </p:nvSpPr>
        <p:spPr>
          <a:xfrm>
            <a:off x="3013075" y="4632325"/>
            <a:ext cx="2808288" cy="290513"/>
          </a:xfrm>
          <a:prstGeom prst="flowChartAlternate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结束</a:t>
            </a:r>
          </a:p>
        </p:txBody>
      </p:sp>
      <p:cxnSp>
        <p:nvCxnSpPr>
          <p:cNvPr id="53" name="直接箭头连接符 52"/>
          <p:cNvCxnSpPr/>
          <p:nvPr/>
        </p:nvCxnSpPr>
        <p:spPr bwMode="auto">
          <a:xfrm>
            <a:off x="4460875" y="4213225"/>
            <a:ext cx="3175" cy="430213"/>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
        <p:nvSpPr>
          <p:cNvPr id="54" name="Rectangle 3"/>
          <p:cNvSpPr txBox="1">
            <a:spLocks noChangeArrowheads="1"/>
          </p:cNvSpPr>
          <p:nvPr/>
        </p:nvSpPr>
        <p:spPr bwMode="auto">
          <a:xfrm>
            <a:off x="1316038" y="950913"/>
            <a:ext cx="1635125" cy="541338"/>
          </a:xfrm>
          <a:prstGeom prst="rect">
            <a:avLst/>
          </a:prstGeom>
          <a:noFill/>
          <a:ln>
            <a:noFill/>
          </a:ln>
        </p:spPr>
        <p:txBody>
          <a:bodyPr>
            <a:normAutofit/>
          </a:bodyPr>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b="1">
                <a:solidFill>
                  <a:schemeClr val="tx1"/>
                </a:solidFill>
                <a:latin typeface="+mn-lt"/>
                <a:ea typeface="宋体" panose="02010600030101010101" pitchFamily="2" charset="-122"/>
              </a:defRPr>
            </a:lvl6pPr>
            <a:lvl7pPr marL="2971800" indent="-228600" algn="l" rtl="0" fontAlgn="base">
              <a:spcBef>
                <a:spcPct val="20000"/>
              </a:spcBef>
              <a:spcAft>
                <a:spcPct val="0"/>
              </a:spcAft>
              <a:buChar char="•"/>
              <a:defRPr sz="2000" b="1">
                <a:solidFill>
                  <a:schemeClr val="tx1"/>
                </a:solidFill>
                <a:latin typeface="+mn-lt"/>
                <a:ea typeface="宋体" panose="02010600030101010101" pitchFamily="2" charset="-122"/>
              </a:defRPr>
            </a:lvl7pPr>
            <a:lvl8pPr marL="3429000" indent="-228600" algn="l" rtl="0" fontAlgn="base">
              <a:spcBef>
                <a:spcPct val="20000"/>
              </a:spcBef>
              <a:spcAft>
                <a:spcPct val="0"/>
              </a:spcAft>
              <a:buChar char="•"/>
              <a:defRPr sz="2000" b="1">
                <a:solidFill>
                  <a:schemeClr val="tx1"/>
                </a:solidFill>
                <a:latin typeface="+mn-lt"/>
                <a:ea typeface="宋体" panose="02010600030101010101" pitchFamily="2" charset="-122"/>
              </a:defRPr>
            </a:lvl8pPr>
            <a:lvl9pPr marL="3886200" indent="-228600" algn="l" rtl="0" fontAlgn="base">
              <a:spcBef>
                <a:spcPct val="20000"/>
              </a:spcBef>
              <a:spcAft>
                <a:spcPct val="0"/>
              </a:spcAft>
              <a:buChar char="•"/>
              <a:defRPr sz="2000" b="1">
                <a:solidFill>
                  <a:schemeClr val="tx1"/>
                </a:solidFill>
                <a:latin typeface="+mn-lt"/>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main</a:t>
            </a:r>
            <a:r>
              <a:rPr kumimoji="0" lang="zh-CN" altLang="en-US" sz="240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函数</a:t>
            </a:r>
            <a:endParaRPr kumimoji="0" lang="en-US" altLang="zh-CN" sz="240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a:p>
            <a:pPr marL="742950" marR="0" lvl="1" indent="-285750" algn="l" defTabSz="914400" rtl="0" eaLnBrk="0" fontAlgn="base" latinLnBrk="0" hangingPunct="0">
              <a:lnSpc>
                <a:spcPct val="100000"/>
              </a:lnSpc>
              <a:spcBef>
                <a:spcPct val="30000"/>
              </a:spcBef>
              <a:spcAft>
                <a:spcPct val="0"/>
              </a:spcAft>
              <a:buClrTx/>
              <a:buSzTx/>
              <a:buFont typeface="Wingdings" panose="05000000000000000000" pitchFamily="2" charset="2"/>
              <a:buChar char="l"/>
              <a:defRPr/>
            </a:pPr>
            <a:endParaRPr kumimoji="0" lang="zh-CN" altLang="en-US" sz="180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39947" name="标题 1"/>
          <p:cNvSpPr>
            <a:spLocks noGrp="1"/>
          </p:cNvSpPr>
          <p:nvPr>
            <p:ph type="title"/>
          </p:nvPr>
        </p:nvSpPr>
        <p:spPr>
          <a:xfrm>
            <a:off x="487363" y="88900"/>
            <a:ext cx="8169275" cy="592138"/>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训练原理：哲学家进餐问题的程序实现</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additive="base">
                                        <p:cTn id="17" dur="500" fill="hold"/>
                                        <p:tgtEl>
                                          <p:spTgt spid="49"/>
                                        </p:tgtEl>
                                        <p:attrNameLst>
                                          <p:attrName>ppt_x</p:attrName>
                                        </p:attrNameLst>
                                      </p:cBhvr>
                                      <p:tavLst>
                                        <p:tav tm="0">
                                          <p:val>
                                            <p:strVal val="#ppt_x"/>
                                          </p:val>
                                        </p:tav>
                                        <p:tav tm="100000">
                                          <p:val>
                                            <p:strVal val="#ppt_x"/>
                                          </p:val>
                                        </p:tav>
                                      </p:tavLst>
                                    </p:anim>
                                    <p:anim calcmode="lin" valueType="num">
                                      <p:cBhvr additive="base">
                                        <p:cTn id="18" dur="500" fill="hold"/>
                                        <p:tgtEl>
                                          <p:spTgt spid="4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additive="base">
                                        <p:cTn id="21" dur="500" fill="hold"/>
                                        <p:tgtEl>
                                          <p:spTgt spid="48"/>
                                        </p:tgtEl>
                                        <p:attrNameLst>
                                          <p:attrName>ppt_x</p:attrName>
                                        </p:attrNameLst>
                                      </p:cBhvr>
                                      <p:tavLst>
                                        <p:tav tm="0">
                                          <p:val>
                                            <p:strVal val="#ppt_x"/>
                                          </p:val>
                                        </p:tav>
                                        <p:tav tm="100000">
                                          <p:val>
                                            <p:strVal val="#ppt_x"/>
                                          </p:val>
                                        </p:tav>
                                      </p:tavLst>
                                    </p:anim>
                                    <p:anim calcmode="lin" valueType="num">
                                      <p:cBhvr additive="base">
                                        <p:cTn id="2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 calcmode="lin" valueType="num">
                                      <p:cBhvr additive="base">
                                        <p:cTn id="27" dur="500" fill="hold"/>
                                        <p:tgtEl>
                                          <p:spTgt spid="51"/>
                                        </p:tgtEl>
                                        <p:attrNameLst>
                                          <p:attrName>ppt_x</p:attrName>
                                        </p:attrNameLst>
                                      </p:cBhvr>
                                      <p:tavLst>
                                        <p:tav tm="0">
                                          <p:val>
                                            <p:strVal val="#ppt_x"/>
                                          </p:val>
                                        </p:tav>
                                        <p:tav tm="100000">
                                          <p:val>
                                            <p:strVal val="#ppt_x"/>
                                          </p:val>
                                        </p:tav>
                                      </p:tavLst>
                                    </p:anim>
                                    <p:anim calcmode="lin" valueType="num">
                                      <p:cBhvr additive="base">
                                        <p:cTn id="28" dur="500" fill="hold"/>
                                        <p:tgtEl>
                                          <p:spTgt spid="5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ppt_x"/>
                                          </p:val>
                                        </p:tav>
                                        <p:tav tm="100000">
                                          <p:val>
                                            <p:strVal val="#ppt_x"/>
                                          </p:val>
                                        </p:tav>
                                      </p:tavLst>
                                    </p:anim>
                                    <p:anim calcmode="lin" valueType="num">
                                      <p:cBhvr additive="base">
                                        <p:cTn id="38" dur="500" fill="hold"/>
                                        <p:tgtEl>
                                          <p:spTgt spid="5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 calcmode="lin" valueType="num">
                                      <p:cBhvr additive="base">
                                        <p:cTn id="41" dur="500" fill="hold"/>
                                        <p:tgtEl>
                                          <p:spTgt spid="52"/>
                                        </p:tgtEl>
                                        <p:attrNameLst>
                                          <p:attrName>ppt_x</p:attrName>
                                        </p:attrNameLst>
                                      </p:cBhvr>
                                      <p:tavLst>
                                        <p:tav tm="0">
                                          <p:val>
                                            <p:strVal val="#ppt_x"/>
                                          </p:val>
                                        </p:tav>
                                        <p:tav tm="100000">
                                          <p:val>
                                            <p:strVal val="#ppt_x"/>
                                          </p:val>
                                        </p:tav>
                                      </p:tavLst>
                                    </p:anim>
                                    <p:anim calcmode="lin" valueType="num">
                                      <p:cBhvr additive="base">
                                        <p:cTn id="42"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8" grpId="0" animBg="1"/>
      <p:bldP spid="50" grpId="0" animBg="1"/>
      <p:bldP spid="5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7399338" y="1628775"/>
            <a:ext cx="1744663" cy="396875"/>
          </a:xfrm>
          <a:prstGeom prst="rect">
            <a:avLst/>
          </a:prstGeom>
          <a:noFill/>
          <a:ln>
            <a:noFill/>
          </a:ln>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80000"/>
              </a:lnSpc>
              <a:spcBef>
                <a:spcPct val="20000"/>
              </a:spcBef>
              <a:buFont typeface="Wingdings" panose="05000000000000000000" pitchFamily="2" charset="2"/>
              <a:buNone/>
            </a:pPr>
            <a:r>
              <a:rPr lang="zh-CN" altLang="en-US" sz="2200" b="1">
                <a:latin typeface="黑体" panose="02010600030101010101" pitchFamily="49" charset="-122"/>
                <a:ea typeface="黑体" panose="02010600030101010101" pitchFamily="49" charset="-122"/>
              </a:rPr>
              <a:t>哲学家任务</a:t>
            </a:r>
            <a:endParaRPr lang="en-US" altLang="zh-CN" sz="2200" b="1">
              <a:latin typeface="黑体" panose="02010600030101010101" pitchFamily="49" charset="-122"/>
              <a:ea typeface="黑体" panose="02010600030101010101" pitchFamily="49" charset="-122"/>
            </a:endParaRPr>
          </a:p>
          <a:p>
            <a:pPr marL="742950" lvl="1" indent="-285750">
              <a:lnSpc>
                <a:spcPct val="80000"/>
              </a:lnSpc>
              <a:spcBef>
                <a:spcPct val="30000"/>
              </a:spcBef>
              <a:buFont typeface="Wingdings" panose="05000000000000000000" pitchFamily="2" charset="2"/>
              <a:buChar char="l"/>
            </a:pPr>
            <a:endParaRPr lang="zh-CN" altLang="en-US" sz="1600" b="1">
              <a:latin typeface="Arial" panose="020B0604020202090204" pitchFamily="34" charset="0"/>
              <a:ea typeface="黑体" panose="02010600030101010101" pitchFamily="49" charset="-122"/>
            </a:endParaRPr>
          </a:p>
        </p:txBody>
      </p:sp>
      <p:sp>
        <p:nvSpPr>
          <p:cNvPr id="6" name="流程图: 可选过程 5"/>
          <p:cNvSpPr/>
          <p:nvPr/>
        </p:nvSpPr>
        <p:spPr>
          <a:xfrm>
            <a:off x="3232150" y="87313"/>
            <a:ext cx="2808288" cy="292100"/>
          </a:xfrm>
          <a:prstGeom prst="flowChartAlternate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800">
                <a:latin typeface="Arial" panose="020B0604020202090204" pitchFamily="34" charset="0"/>
                <a:ea typeface="黑体" panose="02010600030101010101" pitchFamily="49" charset="-122"/>
              </a:rPr>
              <a:t>开始</a:t>
            </a:r>
          </a:p>
        </p:txBody>
      </p:sp>
      <p:sp>
        <p:nvSpPr>
          <p:cNvPr id="7" name="流程图: 过程 6"/>
          <p:cNvSpPr/>
          <p:nvPr/>
        </p:nvSpPr>
        <p:spPr bwMode="auto">
          <a:xfrm>
            <a:off x="1187450" y="598488"/>
            <a:ext cx="4860925" cy="354013"/>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400">
                <a:latin typeface="Arial" panose="020B0604020202090204" pitchFamily="34" charset="0"/>
                <a:ea typeface="黑体" panose="02010600030101010101" pitchFamily="49" charset="-122"/>
              </a:rPr>
              <a:t>开始思考（无具体工作，通过格式化输出语句打印信息）</a:t>
            </a:r>
          </a:p>
        </p:txBody>
      </p:sp>
      <p:cxnSp>
        <p:nvCxnSpPr>
          <p:cNvPr id="9" name="直接箭头连接符 8"/>
          <p:cNvCxnSpPr/>
          <p:nvPr/>
        </p:nvCxnSpPr>
        <p:spPr bwMode="auto">
          <a:xfrm>
            <a:off x="4660900" y="365125"/>
            <a:ext cx="0" cy="257175"/>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sp>
        <p:nvSpPr>
          <p:cNvPr id="10" name="流程图: 过程 9"/>
          <p:cNvSpPr/>
          <p:nvPr/>
        </p:nvSpPr>
        <p:spPr bwMode="auto">
          <a:xfrm>
            <a:off x="1187450" y="1239838"/>
            <a:ext cx="4878388" cy="388938"/>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400">
                <a:latin typeface="Arial" panose="020B0604020202090204" pitchFamily="34" charset="0"/>
                <a:ea typeface="黑体" panose="02010600030101010101" pitchFamily="49" charset="-122"/>
              </a:rPr>
              <a:t>思考一段时间（无具体工作，系统延时一段时间</a:t>
            </a:r>
            <a:r>
              <a:rPr lang="en-US" altLang="zh-CN" sz="1400">
                <a:latin typeface="Arial" panose="020B0604020202090204" pitchFamily="34" charset="0"/>
                <a:ea typeface="黑体" panose="02010600030101010101" pitchFamily="49" charset="-122"/>
              </a:rPr>
              <a:t>-</a:t>
            </a:r>
            <a:r>
              <a:rPr lang="zh-CN" altLang="en-US" sz="1400">
                <a:latin typeface="Arial" panose="020B0604020202090204" pitchFamily="34" charset="0"/>
                <a:ea typeface="黑体" panose="02010600030101010101" pitchFamily="49" charset="-122"/>
              </a:rPr>
              <a:t>随机数或固定时间）</a:t>
            </a:r>
          </a:p>
        </p:txBody>
      </p:sp>
      <p:sp>
        <p:nvSpPr>
          <p:cNvPr id="12" name="流程图: 过程 11"/>
          <p:cNvSpPr/>
          <p:nvPr/>
        </p:nvSpPr>
        <p:spPr bwMode="auto">
          <a:xfrm>
            <a:off x="3267075" y="1887538"/>
            <a:ext cx="2817813" cy="292100"/>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500">
                <a:latin typeface="Arial" panose="020B0604020202090204" pitchFamily="34" charset="0"/>
                <a:ea typeface="黑体" panose="02010600030101010101" pitchFamily="49" charset="-122"/>
              </a:rPr>
              <a:t>尝试拿起左右筷子</a:t>
            </a:r>
          </a:p>
        </p:txBody>
      </p:sp>
      <p:sp>
        <p:nvSpPr>
          <p:cNvPr id="16" name="流程图: 决策 15"/>
          <p:cNvSpPr/>
          <p:nvPr/>
        </p:nvSpPr>
        <p:spPr bwMode="auto">
          <a:xfrm>
            <a:off x="3860800" y="2427288"/>
            <a:ext cx="1550988" cy="431800"/>
          </a:xfrm>
          <a:prstGeom prst="flowChartDecision">
            <a:avLst/>
          </a:prstGeom>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是否</a:t>
            </a:r>
            <a:endParaRPr kumimoji="0" lang="en-US" altLang="zh-CN" sz="12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成功</a:t>
            </a:r>
          </a:p>
        </p:txBody>
      </p:sp>
      <p:cxnSp>
        <p:nvCxnSpPr>
          <p:cNvPr id="17" name="直接箭头连接符 16"/>
          <p:cNvCxnSpPr/>
          <p:nvPr/>
        </p:nvCxnSpPr>
        <p:spPr bwMode="auto">
          <a:xfrm>
            <a:off x="4637088" y="984250"/>
            <a:ext cx="0" cy="25558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18" name="直接箭头连接符 17"/>
          <p:cNvCxnSpPr/>
          <p:nvPr/>
        </p:nvCxnSpPr>
        <p:spPr bwMode="auto">
          <a:xfrm>
            <a:off x="4637088" y="1630363"/>
            <a:ext cx="0" cy="257175"/>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19" name="直接箭头连接符 18"/>
          <p:cNvCxnSpPr/>
          <p:nvPr/>
        </p:nvCxnSpPr>
        <p:spPr bwMode="auto">
          <a:xfrm>
            <a:off x="4637088" y="2159000"/>
            <a:ext cx="0" cy="25558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sp>
        <p:nvSpPr>
          <p:cNvPr id="20" name="流程图: 过程 19"/>
          <p:cNvSpPr/>
          <p:nvPr/>
        </p:nvSpPr>
        <p:spPr bwMode="auto">
          <a:xfrm>
            <a:off x="1185863" y="3151188"/>
            <a:ext cx="4860925" cy="355600"/>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400">
                <a:latin typeface="Arial" panose="020B0604020202090204" pitchFamily="34" charset="0"/>
                <a:ea typeface="黑体" panose="02010600030101010101" pitchFamily="49" charset="-122"/>
              </a:rPr>
              <a:t>开始进餐（无具体工作，通过格式化输出语句打印信息）</a:t>
            </a:r>
          </a:p>
        </p:txBody>
      </p:sp>
      <p:cxnSp>
        <p:nvCxnSpPr>
          <p:cNvPr id="21" name="直接箭头连接符 20"/>
          <p:cNvCxnSpPr/>
          <p:nvPr/>
        </p:nvCxnSpPr>
        <p:spPr bwMode="auto">
          <a:xfrm>
            <a:off x="4630738" y="2855913"/>
            <a:ext cx="0" cy="257175"/>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sp>
        <p:nvSpPr>
          <p:cNvPr id="22" name="流程图: 过程 21"/>
          <p:cNvSpPr/>
          <p:nvPr/>
        </p:nvSpPr>
        <p:spPr bwMode="auto">
          <a:xfrm>
            <a:off x="1185863" y="3794125"/>
            <a:ext cx="4879975" cy="388938"/>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400">
                <a:latin typeface="Arial" panose="020B0604020202090204" pitchFamily="34" charset="0"/>
                <a:ea typeface="黑体" panose="02010600030101010101" pitchFamily="49" charset="-122"/>
              </a:rPr>
              <a:t>进餐一段时间（无具体工作，系统延时一段时间</a:t>
            </a:r>
            <a:r>
              <a:rPr lang="en-US" altLang="zh-CN" sz="1400">
                <a:latin typeface="Arial" panose="020B0604020202090204" pitchFamily="34" charset="0"/>
                <a:ea typeface="黑体" panose="02010600030101010101" pitchFamily="49" charset="-122"/>
              </a:rPr>
              <a:t>-</a:t>
            </a:r>
            <a:r>
              <a:rPr lang="zh-CN" altLang="en-US" sz="1400">
                <a:latin typeface="Arial" panose="020B0604020202090204" pitchFamily="34" charset="0"/>
                <a:ea typeface="黑体" panose="02010600030101010101" pitchFamily="49" charset="-122"/>
              </a:rPr>
              <a:t>随机数或固定时间）</a:t>
            </a:r>
          </a:p>
        </p:txBody>
      </p:sp>
      <p:sp>
        <p:nvSpPr>
          <p:cNvPr id="23" name="流程图: 过程 22"/>
          <p:cNvSpPr/>
          <p:nvPr/>
        </p:nvSpPr>
        <p:spPr bwMode="auto">
          <a:xfrm>
            <a:off x="1185863" y="4470400"/>
            <a:ext cx="4899025" cy="261938"/>
          </a:xfrm>
          <a:prstGeom prst="flowChartProcess">
            <a:avLst/>
          </a:prstGeom>
        </p:spPr>
        <p:style>
          <a:lnRef idx="2">
            <a:schemeClr val="accent1"/>
          </a:lnRef>
          <a:fillRef idx="1">
            <a:schemeClr val="lt1"/>
          </a:fillRef>
          <a:effectRef idx="0">
            <a:schemeClr val="accent1"/>
          </a:effectRef>
          <a:fontRef idx="minor">
            <a:schemeClr val="dk1"/>
          </a:fontRef>
        </p:style>
        <p:txBody>
          <a:bodyPr anchor="ct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en-US" sz="1500">
                <a:latin typeface="Arial" panose="020B0604020202090204" pitchFamily="34" charset="0"/>
                <a:ea typeface="黑体" panose="02010600030101010101" pitchFamily="49" charset="-122"/>
              </a:rPr>
              <a:t>放下左右筷子</a:t>
            </a:r>
          </a:p>
        </p:txBody>
      </p:sp>
      <p:cxnSp>
        <p:nvCxnSpPr>
          <p:cNvPr id="24" name="直接箭头连接符 23"/>
          <p:cNvCxnSpPr/>
          <p:nvPr/>
        </p:nvCxnSpPr>
        <p:spPr bwMode="auto">
          <a:xfrm>
            <a:off x="4635500" y="3536950"/>
            <a:ext cx="0" cy="25558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25" name="直接箭头连接符 24"/>
          <p:cNvCxnSpPr/>
          <p:nvPr/>
        </p:nvCxnSpPr>
        <p:spPr bwMode="auto">
          <a:xfrm>
            <a:off x="4635500" y="4184650"/>
            <a:ext cx="0" cy="25558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26" name="直接箭头连接符 25"/>
          <p:cNvCxnSpPr/>
          <p:nvPr/>
        </p:nvCxnSpPr>
        <p:spPr bwMode="auto">
          <a:xfrm flipH="1">
            <a:off x="2681288" y="2625725"/>
            <a:ext cx="1189038" cy="0"/>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29" name="直接箭头连接符 28"/>
          <p:cNvCxnSpPr/>
          <p:nvPr/>
        </p:nvCxnSpPr>
        <p:spPr bwMode="auto">
          <a:xfrm flipV="1">
            <a:off x="2681288" y="1762125"/>
            <a:ext cx="0" cy="80803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32" name="直接箭头连接符 31"/>
          <p:cNvCxnSpPr/>
          <p:nvPr/>
        </p:nvCxnSpPr>
        <p:spPr bwMode="auto">
          <a:xfrm>
            <a:off x="2730500" y="1752600"/>
            <a:ext cx="1841500" cy="0"/>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35" name="直接箭头连接符 34"/>
          <p:cNvCxnSpPr/>
          <p:nvPr/>
        </p:nvCxnSpPr>
        <p:spPr bwMode="auto">
          <a:xfrm>
            <a:off x="4625975" y="4746625"/>
            <a:ext cx="0" cy="255588"/>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36" name="直接箭头连接符 35"/>
          <p:cNvCxnSpPr/>
          <p:nvPr/>
        </p:nvCxnSpPr>
        <p:spPr bwMode="auto">
          <a:xfrm>
            <a:off x="4632325" y="5000625"/>
            <a:ext cx="1841500" cy="0"/>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37" name="直接箭头连接符 36"/>
          <p:cNvCxnSpPr/>
          <p:nvPr/>
        </p:nvCxnSpPr>
        <p:spPr bwMode="auto">
          <a:xfrm flipV="1">
            <a:off x="6473825" y="465138"/>
            <a:ext cx="0" cy="4429125"/>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cxnSp>
        <p:nvCxnSpPr>
          <p:cNvPr id="40" name="直接箭头连接符 39"/>
          <p:cNvCxnSpPr/>
          <p:nvPr/>
        </p:nvCxnSpPr>
        <p:spPr bwMode="auto">
          <a:xfrm flipH="1">
            <a:off x="4660900" y="465138"/>
            <a:ext cx="1812925" cy="0"/>
          </a:xfrm>
          <a:prstGeom prst="straightConnector1">
            <a:avLst/>
          </a:prstGeom>
          <a:solidFill>
            <a:schemeClr val="accent1">
              <a:lumMod val="90000"/>
            </a:schemeClr>
          </a:solidFill>
          <a:ln>
            <a:tailEnd type="arrow"/>
          </a:ln>
        </p:spPr>
        <p:style>
          <a:lnRef idx="2">
            <a:schemeClr val="dk1"/>
          </a:lnRef>
          <a:fillRef idx="1">
            <a:schemeClr val="lt1"/>
          </a:fillRef>
          <a:effectRef idx="0">
            <a:schemeClr val="dk1"/>
          </a:effectRef>
          <a:fontRef idx="minor">
            <a:schemeClr val="dk1"/>
          </a:fontRef>
        </p:style>
      </p:cxnSp>
      <p:sp>
        <p:nvSpPr>
          <p:cNvPr id="42" name="Rectangle 3"/>
          <p:cNvSpPr txBox="1">
            <a:spLocks noChangeArrowheads="1"/>
          </p:cNvSpPr>
          <p:nvPr/>
        </p:nvSpPr>
        <p:spPr bwMode="auto">
          <a:xfrm>
            <a:off x="3205163" y="2387600"/>
            <a:ext cx="388938" cy="254000"/>
          </a:xfrm>
          <a:prstGeom prst="rect">
            <a:avLst/>
          </a:prstGeom>
          <a:noFill/>
          <a:ln>
            <a:noFill/>
          </a:ln>
        </p:spPr>
        <p:txBody>
          <a:bodyPr>
            <a:normAutofit fontScale="85000" lnSpcReduction="20000"/>
          </a:bodyPr>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b="1">
                <a:solidFill>
                  <a:schemeClr val="tx1"/>
                </a:solidFill>
                <a:latin typeface="+mn-lt"/>
                <a:ea typeface="宋体" panose="02010600030101010101" pitchFamily="2" charset="-122"/>
              </a:defRPr>
            </a:lvl6pPr>
            <a:lvl7pPr marL="2971800" indent="-228600" algn="l" rtl="0" fontAlgn="base">
              <a:spcBef>
                <a:spcPct val="20000"/>
              </a:spcBef>
              <a:spcAft>
                <a:spcPct val="0"/>
              </a:spcAft>
              <a:buChar char="•"/>
              <a:defRPr sz="2000" b="1">
                <a:solidFill>
                  <a:schemeClr val="tx1"/>
                </a:solidFill>
                <a:latin typeface="+mn-lt"/>
                <a:ea typeface="宋体" panose="02010600030101010101" pitchFamily="2" charset="-122"/>
              </a:defRPr>
            </a:lvl7pPr>
            <a:lvl8pPr marL="3429000" indent="-228600" algn="l" rtl="0" fontAlgn="base">
              <a:spcBef>
                <a:spcPct val="20000"/>
              </a:spcBef>
              <a:spcAft>
                <a:spcPct val="0"/>
              </a:spcAft>
              <a:buChar char="•"/>
              <a:defRPr sz="2000" b="1">
                <a:solidFill>
                  <a:schemeClr val="tx1"/>
                </a:solidFill>
                <a:latin typeface="+mn-lt"/>
                <a:ea typeface="宋体" panose="02010600030101010101" pitchFamily="2" charset="-122"/>
              </a:defRPr>
            </a:lvl8pPr>
            <a:lvl9pPr marL="3886200" indent="-228600" algn="l" rtl="0" fontAlgn="base">
              <a:spcBef>
                <a:spcPct val="20000"/>
              </a:spcBef>
              <a:spcAft>
                <a:spcPct val="0"/>
              </a:spcAft>
              <a:buChar char="•"/>
              <a:defRPr sz="2000" b="1">
                <a:solidFill>
                  <a:schemeClr val="tx1"/>
                </a:solidFill>
                <a:latin typeface="+mn-lt"/>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150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否</a:t>
            </a:r>
            <a:endParaRPr kumimoji="0" lang="zh-CN" altLang="en-US" sz="135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43" name="Rectangle 3"/>
          <p:cNvSpPr txBox="1">
            <a:spLocks noChangeArrowheads="1"/>
          </p:cNvSpPr>
          <p:nvPr/>
        </p:nvSpPr>
        <p:spPr bwMode="auto">
          <a:xfrm>
            <a:off x="4719638" y="2838450"/>
            <a:ext cx="388938" cy="255588"/>
          </a:xfrm>
          <a:prstGeom prst="rect">
            <a:avLst/>
          </a:prstGeom>
          <a:noFill/>
          <a:ln>
            <a:noFill/>
          </a:ln>
        </p:spPr>
        <p:txBody>
          <a:bodyPr>
            <a:normAutofit fontScale="92500" lnSpcReduction="20000"/>
          </a:bodyPr>
          <a:lstStyle>
            <a:lvl1pPr marL="342900" indent="-342900"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30000"/>
              </a:spcBef>
              <a:spcAft>
                <a:spcPct val="0"/>
              </a:spcAft>
              <a:buFont typeface="Wingdings" panose="05000000000000000000" pitchFamily="2" charset="2"/>
              <a:buChar char="l"/>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b="1">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b="1">
                <a:solidFill>
                  <a:schemeClr val="tx1"/>
                </a:solidFill>
                <a:latin typeface="+mn-lt"/>
                <a:ea typeface="宋体" panose="02010600030101010101" pitchFamily="2" charset="-122"/>
              </a:defRPr>
            </a:lvl6pPr>
            <a:lvl7pPr marL="2971800" indent="-228600" algn="l" rtl="0" fontAlgn="base">
              <a:spcBef>
                <a:spcPct val="20000"/>
              </a:spcBef>
              <a:spcAft>
                <a:spcPct val="0"/>
              </a:spcAft>
              <a:buChar char="•"/>
              <a:defRPr sz="2000" b="1">
                <a:solidFill>
                  <a:schemeClr val="tx1"/>
                </a:solidFill>
                <a:latin typeface="+mn-lt"/>
                <a:ea typeface="宋体" panose="02010600030101010101" pitchFamily="2" charset="-122"/>
              </a:defRPr>
            </a:lvl7pPr>
            <a:lvl8pPr marL="3429000" indent="-228600" algn="l" rtl="0" fontAlgn="base">
              <a:spcBef>
                <a:spcPct val="20000"/>
              </a:spcBef>
              <a:spcAft>
                <a:spcPct val="0"/>
              </a:spcAft>
              <a:buChar char="•"/>
              <a:defRPr sz="2000" b="1">
                <a:solidFill>
                  <a:schemeClr val="tx1"/>
                </a:solidFill>
                <a:latin typeface="+mn-lt"/>
                <a:ea typeface="宋体" panose="02010600030101010101" pitchFamily="2" charset="-122"/>
              </a:defRPr>
            </a:lvl8pPr>
            <a:lvl9pPr marL="3886200" indent="-228600" algn="l" rtl="0" fontAlgn="base">
              <a:spcBef>
                <a:spcPct val="20000"/>
              </a:spcBef>
              <a:spcAft>
                <a:spcPct val="0"/>
              </a:spcAft>
              <a:buChar char="•"/>
              <a:defRPr sz="2000" b="1">
                <a:solidFill>
                  <a:schemeClr val="tx1"/>
                </a:solidFill>
                <a:latin typeface="+mn-lt"/>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1350" b="0" i="0" u="none" strike="noStrike" kern="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是</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ppt_x"/>
                                          </p:val>
                                        </p:tav>
                                        <p:tav tm="100000">
                                          <p:val>
                                            <p:strVal val="#ppt_x"/>
                                          </p:val>
                                        </p:tav>
                                      </p:tavLst>
                                    </p:anim>
                                    <p:anim calcmode="lin" valueType="num">
                                      <p:cBhvr additive="base">
                                        <p:cTn id="48" dur="500" fill="hold"/>
                                        <p:tgtEl>
                                          <p:spTgt spid="4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 calcmode="lin" valueType="num">
                                      <p:cBhvr additive="base">
                                        <p:cTn id="51" dur="500" fill="hold"/>
                                        <p:tgtEl>
                                          <p:spTgt spid="26"/>
                                        </p:tgtEl>
                                        <p:attrNameLst>
                                          <p:attrName>ppt_x</p:attrName>
                                        </p:attrNameLst>
                                      </p:cBhvr>
                                      <p:tavLst>
                                        <p:tav tm="0">
                                          <p:val>
                                            <p:strVal val="#ppt_x"/>
                                          </p:val>
                                        </p:tav>
                                        <p:tav tm="100000">
                                          <p:val>
                                            <p:strVal val="#ppt_x"/>
                                          </p:val>
                                        </p:tav>
                                      </p:tavLst>
                                    </p:anim>
                                    <p:anim calcmode="lin" valueType="num">
                                      <p:cBhvr additive="base">
                                        <p:cTn id="52" dur="500" fill="hold"/>
                                        <p:tgtEl>
                                          <p:spTgt spid="26"/>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ppt_x"/>
                                          </p:val>
                                        </p:tav>
                                        <p:tav tm="100000">
                                          <p:val>
                                            <p:strVal val="#ppt_x"/>
                                          </p:val>
                                        </p:tav>
                                      </p:tavLst>
                                    </p:anim>
                                    <p:anim calcmode="lin" valueType="num">
                                      <p:cBhvr additive="base">
                                        <p:cTn id="6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3"/>
                                        </p:tgtEl>
                                        <p:attrNameLst>
                                          <p:attrName>style.visibility</p:attrName>
                                        </p:attrNameLst>
                                      </p:cBhvr>
                                      <p:to>
                                        <p:strVal val="visible"/>
                                      </p:to>
                                    </p:set>
                                    <p:anim calcmode="lin" valueType="num">
                                      <p:cBhvr additive="base">
                                        <p:cTn id="69" dur="500" fill="hold"/>
                                        <p:tgtEl>
                                          <p:spTgt spid="43"/>
                                        </p:tgtEl>
                                        <p:attrNameLst>
                                          <p:attrName>ppt_x</p:attrName>
                                        </p:attrNameLst>
                                      </p:cBhvr>
                                      <p:tavLst>
                                        <p:tav tm="0">
                                          <p:val>
                                            <p:strVal val="#ppt_x"/>
                                          </p:val>
                                        </p:tav>
                                        <p:tav tm="100000">
                                          <p:val>
                                            <p:strVal val="#ppt_x"/>
                                          </p:val>
                                        </p:tav>
                                      </p:tavLst>
                                    </p:anim>
                                    <p:anim calcmode="lin" valueType="num">
                                      <p:cBhvr additive="base">
                                        <p:cTn id="70" dur="500" fill="hold"/>
                                        <p:tgtEl>
                                          <p:spTgt spid="43"/>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4"/>
                                        </p:tgtEl>
                                        <p:attrNameLst>
                                          <p:attrName>style.visibility</p:attrName>
                                        </p:attrNameLst>
                                      </p:cBhvr>
                                      <p:to>
                                        <p:strVal val="visible"/>
                                      </p:to>
                                    </p:set>
                                    <p:anim calcmode="lin" valueType="num">
                                      <p:cBhvr additive="base">
                                        <p:cTn id="79" dur="500" fill="hold"/>
                                        <p:tgtEl>
                                          <p:spTgt spid="24"/>
                                        </p:tgtEl>
                                        <p:attrNameLst>
                                          <p:attrName>ppt_x</p:attrName>
                                        </p:attrNameLst>
                                      </p:cBhvr>
                                      <p:tavLst>
                                        <p:tav tm="0">
                                          <p:val>
                                            <p:strVal val="#ppt_x"/>
                                          </p:val>
                                        </p:tav>
                                        <p:tav tm="100000">
                                          <p:val>
                                            <p:strVal val="#ppt_x"/>
                                          </p:val>
                                        </p:tav>
                                      </p:tavLst>
                                    </p:anim>
                                    <p:anim calcmode="lin" valueType="num">
                                      <p:cBhvr additive="base">
                                        <p:cTn id="80" dur="500" fill="hold"/>
                                        <p:tgtEl>
                                          <p:spTgt spid="24"/>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00" fill="hold"/>
                                        <p:tgtEl>
                                          <p:spTgt spid="25"/>
                                        </p:tgtEl>
                                        <p:attrNameLst>
                                          <p:attrName>ppt_x</p:attrName>
                                        </p:attrNameLst>
                                      </p:cBhvr>
                                      <p:tavLst>
                                        <p:tav tm="0">
                                          <p:val>
                                            <p:strVal val="#ppt_x"/>
                                          </p:val>
                                        </p:tav>
                                        <p:tav tm="100000">
                                          <p:val>
                                            <p:strVal val="#ppt_x"/>
                                          </p:val>
                                        </p:tav>
                                      </p:tavLst>
                                    </p:anim>
                                    <p:anim calcmode="lin" valueType="num">
                                      <p:cBhvr additive="base">
                                        <p:cTn id="90" dur="500" fill="hold"/>
                                        <p:tgtEl>
                                          <p:spTgt spid="25"/>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500" fill="hold"/>
                                        <p:tgtEl>
                                          <p:spTgt spid="23"/>
                                        </p:tgtEl>
                                        <p:attrNameLst>
                                          <p:attrName>ppt_x</p:attrName>
                                        </p:attrNameLst>
                                      </p:cBhvr>
                                      <p:tavLst>
                                        <p:tav tm="0">
                                          <p:val>
                                            <p:strVal val="#ppt_x"/>
                                          </p:val>
                                        </p:tav>
                                        <p:tav tm="100000">
                                          <p:val>
                                            <p:strVal val="#ppt_x"/>
                                          </p:val>
                                        </p:tav>
                                      </p:tavLst>
                                    </p:anim>
                                    <p:anim calcmode="lin" valueType="num">
                                      <p:cBhvr additive="base">
                                        <p:cTn id="9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nodeType="clickEffect">
                                  <p:stCondLst>
                                    <p:cond delay="0"/>
                                  </p:stCondLst>
                                  <p:childTnLst>
                                    <p:set>
                                      <p:cBhvr>
                                        <p:cTn id="98" dur="1" fill="hold">
                                          <p:stCondLst>
                                            <p:cond delay="0"/>
                                          </p:stCondLst>
                                        </p:cTn>
                                        <p:tgtEl>
                                          <p:spTgt spid="35"/>
                                        </p:tgtEl>
                                        <p:attrNameLst>
                                          <p:attrName>style.visibility</p:attrName>
                                        </p:attrNameLst>
                                      </p:cBhvr>
                                      <p:to>
                                        <p:strVal val="visible"/>
                                      </p:to>
                                    </p:set>
                                    <p:anim calcmode="lin" valueType="num">
                                      <p:cBhvr additive="base">
                                        <p:cTn id="99" dur="500" fill="hold"/>
                                        <p:tgtEl>
                                          <p:spTgt spid="35"/>
                                        </p:tgtEl>
                                        <p:attrNameLst>
                                          <p:attrName>ppt_x</p:attrName>
                                        </p:attrNameLst>
                                      </p:cBhvr>
                                      <p:tavLst>
                                        <p:tav tm="0">
                                          <p:val>
                                            <p:strVal val="#ppt_x"/>
                                          </p:val>
                                        </p:tav>
                                        <p:tav tm="100000">
                                          <p:val>
                                            <p:strVal val="#ppt_x"/>
                                          </p:val>
                                        </p:tav>
                                      </p:tavLst>
                                    </p:anim>
                                    <p:anim calcmode="lin" valueType="num">
                                      <p:cBhvr additive="base">
                                        <p:cTn id="100" dur="500" fill="hold"/>
                                        <p:tgtEl>
                                          <p:spTgt spid="35"/>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36"/>
                                        </p:tgtEl>
                                        <p:attrNameLst>
                                          <p:attrName>style.visibility</p:attrName>
                                        </p:attrNameLst>
                                      </p:cBhvr>
                                      <p:to>
                                        <p:strVal val="visible"/>
                                      </p:to>
                                    </p:set>
                                    <p:anim calcmode="lin" valueType="num">
                                      <p:cBhvr additive="base">
                                        <p:cTn id="103" dur="500" fill="hold"/>
                                        <p:tgtEl>
                                          <p:spTgt spid="36"/>
                                        </p:tgtEl>
                                        <p:attrNameLst>
                                          <p:attrName>ppt_x</p:attrName>
                                        </p:attrNameLst>
                                      </p:cBhvr>
                                      <p:tavLst>
                                        <p:tav tm="0">
                                          <p:val>
                                            <p:strVal val="#ppt_x"/>
                                          </p:val>
                                        </p:tav>
                                        <p:tav tm="100000">
                                          <p:val>
                                            <p:strVal val="#ppt_x"/>
                                          </p:val>
                                        </p:tav>
                                      </p:tavLst>
                                    </p:anim>
                                    <p:anim calcmode="lin" valueType="num">
                                      <p:cBhvr additive="base">
                                        <p:cTn id="104" dur="500" fill="hold"/>
                                        <p:tgtEl>
                                          <p:spTgt spid="36"/>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37"/>
                                        </p:tgtEl>
                                        <p:attrNameLst>
                                          <p:attrName>style.visibility</p:attrName>
                                        </p:attrNameLst>
                                      </p:cBhvr>
                                      <p:to>
                                        <p:strVal val="visible"/>
                                      </p:to>
                                    </p:set>
                                    <p:anim calcmode="lin" valueType="num">
                                      <p:cBhvr additive="base">
                                        <p:cTn id="107" dur="500" fill="hold"/>
                                        <p:tgtEl>
                                          <p:spTgt spid="37"/>
                                        </p:tgtEl>
                                        <p:attrNameLst>
                                          <p:attrName>ppt_x</p:attrName>
                                        </p:attrNameLst>
                                      </p:cBhvr>
                                      <p:tavLst>
                                        <p:tav tm="0">
                                          <p:val>
                                            <p:strVal val="#ppt_x"/>
                                          </p:val>
                                        </p:tav>
                                        <p:tav tm="100000">
                                          <p:val>
                                            <p:strVal val="#ppt_x"/>
                                          </p:val>
                                        </p:tav>
                                      </p:tavLst>
                                    </p:anim>
                                    <p:anim calcmode="lin" valueType="num">
                                      <p:cBhvr additive="base">
                                        <p:cTn id="108" dur="500" fill="hold"/>
                                        <p:tgtEl>
                                          <p:spTgt spid="37"/>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0"/>
                                        </p:tgtEl>
                                        <p:attrNameLst>
                                          <p:attrName>style.visibility</p:attrName>
                                        </p:attrNameLst>
                                      </p:cBhvr>
                                      <p:to>
                                        <p:strVal val="visible"/>
                                      </p:to>
                                    </p:set>
                                    <p:anim calcmode="lin" valueType="num">
                                      <p:cBhvr additive="base">
                                        <p:cTn id="111" dur="500" fill="hold"/>
                                        <p:tgtEl>
                                          <p:spTgt spid="40"/>
                                        </p:tgtEl>
                                        <p:attrNameLst>
                                          <p:attrName>ppt_x</p:attrName>
                                        </p:attrNameLst>
                                      </p:cBhvr>
                                      <p:tavLst>
                                        <p:tav tm="0">
                                          <p:val>
                                            <p:strVal val="#ppt_x"/>
                                          </p:val>
                                        </p:tav>
                                        <p:tav tm="100000">
                                          <p:val>
                                            <p:strVal val="#ppt_x"/>
                                          </p:val>
                                        </p:tav>
                                      </p:tavLst>
                                    </p:anim>
                                    <p:anim calcmode="lin" valueType="num">
                                      <p:cBhvr additive="base">
                                        <p:cTn id="1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6" grpId="0" animBg="1"/>
      <p:bldP spid="20" grpId="0" animBg="1"/>
      <p:bldP spid="22" grpId="0" animBg="1"/>
      <p:bldP spid="23" grpId="0" animBg="1"/>
      <p:bldP spid="42" grpId="0"/>
      <p:bldP spid="4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hasCustomPrompt="1"/>
          </p:nvPr>
        </p:nvSpPr>
        <p:spPr>
          <a:xfrm>
            <a:off x="487363" y="681038"/>
            <a:ext cx="8185150" cy="4067175"/>
          </a:xfrm>
          <a:ln w="19050">
            <a:solidFill>
              <a:schemeClr val="accent1"/>
            </a:solidFill>
          </a:ln>
        </p:spPr>
        <p:txBody>
          <a:bodyPr vert="horz" wrap="square" lIns="91440" tIns="45720" rIns="91440" bIns="45720" numCol="1" rtlCol="0" anchor="t" anchorCtr="0" compatLnSpc="1">
            <a:normAutofit/>
          </a:bodyPr>
          <a:lstStyle/>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void philosopher(int number) {</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while(1){</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printf</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(“philosopher %d is thinking\</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n”,number</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sleep(2);</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takechopstick</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(number);</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takechopstick</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((number+1)%5);</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printf</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(“philosopher %d is eating\</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n”,number</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sleep(2);</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putchopstick</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(number);</a:t>
            </a:r>
          </a:p>
          <a:p>
            <a:pPr marL="228600" marR="0" lvl="0" indent="-228600" algn="l" defTabSz="914400" rtl="0" eaLnBrk="1" fontAlgn="auto" latinLnBrk="0" hangingPunct="1">
              <a:lnSpc>
                <a:spcPct val="110000"/>
              </a:lnSpc>
              <a:spcBef>
                <a:spcPts val="1000"/>
              </a:spcBef>
              <a:spcAft>
                <a:spcPts val="0"/>
              </a:spcAft>
              <a:buClrTx/>
              <a:buSzTx/>
              <a:buFontTx/>
              <a:buNone/>
              <a:defRPr/>
            </a:pP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     </a:t>
            </a:r>
            <a:r>
              <a:rPr kumimoji="0" lang="en-US" altLang="zh-CN" sz="1650" b="0" i="0" u="none" strike="noStrike" kern="1200" cap="none" spc="0" normalizeH="0" baseline="0" noProof="0" dirty="0" err="1">
                <a:ln>
                  <a:noFill/>
                </a:ln>
                <a:solidFill>
                  <a:schemeClr val="tx1"/>
                </a:solidFill>
                <a:effectLst/>
                <a:uLnTx/>
                <a:uFillTx/>
                <a:latin typeface="Microsoft YaHei" panose="020B0503020204020204" pitchFamily="34" charset="-122"/>
                <a:ea typeface="Microsoft YaHei" panose="020B0503020204020204" pitchFamily="34" charset="-122"/>
                <a:cs typeface="+mn-cs"/>
              </a:rPr>
              <a:t>putchopstick</a:t>
            </a:r>
            <a:r>
              <a:rPr kumimoji="0" lang="en-US" altLang="zh-CN"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rPr>
              <a:t>((number+1)%5);}}</a:t>
            </a:r>
            <a:endParaRPr kumimoji="0" lang="zh-CN" altLang="en-US" sz="165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44034" name="标题 1"/>
          <p:cNvSpPr>
            <a:spLocks noGrp="1"/>
          </p:cNvSpPr>
          <p:nvPr>
            <p:ph type="title"/>
          </p:nvPr>
        </p:nvSpPr>
        <p:spPr>
          <a:xfrm>
            <a:off x="487363" y="88900"/>
            <a:ext cx="8169275" cy="592138"/>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训练原理：哲学家进餐问题的程序实现</a:t>
            </a:r>
          </a:p>
        </p:txBody>
      </p:sp>
      <p:sp>
        <p:nvSpPr>
          <p:cNvPr id="3" name="文本框 2"/>
          <p:cNvSpPr txBox="1"/>
          <p:nvPr/>
        </p:nvSpPr>
        <p:spPr>
          <a:xfrm>
            <a:off x="5795963" y="1927225"/>
            <a:ext cx="2716213" cy="12890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lnSpc>
                <a:spcPct val="110000"/>
              </a:lnSpc>
              <a:buNone/>
            </a:pPr>
            <a:r>
              <a:rPr lang="zh-CN" altLang="en-US">
                <a:solidFill>
                  <a:srgbClr val="FFFFFF"/>
                </a:solidFill>
                <a:latin typeface="微软雅黑" panose="020B0503020204020204" pitchFamily="34" charset="-122"/>
                <a:ea typeface="微软雅黑" panose="020B0503020204020204" pitchFamily="34" charset="-122"/>
              </a:rPr>
              <a:t>代码示例：哲学家任务用线程来实现，对哲学家和筷子进行编号，并通过参数来传递编号</a:t>
            </a:r>
            <a:endParaRPr lang="en-US" altLang="zh-CN">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p:nvPr/>
        </p:nvSpPr>
        <p:spPr>
          <a:xfrm>
            <a:off x="487363" y="771525"/>
            <a:ext cx="8169275" cy="3995738"/>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50000"/>
              </a:lnSpc>
              <a:spcBef>
                <a:spcPct val="20000"/>
              </a:spcBef>
              <a:buNone/>
            </a:pPr>
            <a:r>
              <a:rPr lang="zh-CN" altLang="en-US" sz="2400"/>
              <a:t>筷子是临界资源，拿起筷子操作就哲学家（不同任务）之间是对临界资源的互斥访问，放下筷子就是对临界资源的释放，在</a:t>
            </a:r>
            <a:r>
              <a:rPr lang="en-US" altLang="zh-CN" sz="2400"/>
              <a:t>Linux</a:t>
            </a:r>
            <a:r>
              <a:rPr lang="zh-CN" altLang="en-US" sz="2400"/>
              <a:t>中可以通过多种机制来实现</a:t>
            </a:r>
          </a:p>
          <a:p>
            <a:pPr marL="742950" lvl="1" indent="-285750">
              <a:lnSpc>
                <a:spcPct val="150000"/>
              </a:lnSpc>
              <a:spcBef>
                <a:spcPct val="30000"/>
              </a:spcBef>
              <a:buFont typeface="Wingdings" panose="05000000000000000000" pitchFamily="2" charset="2"/>
              <a:buChar char="l"/>
            </a:pPr>
            <a:r>
              <a:rPr lang="zh-CN" altLang="en-US" b="1"/>
              <a:t>互斥量（加锁，解锁）</a:t>
            </a:r>
          </a:p>
          <a:p>
            <a:pPr marL="742950" lvl="1" indent="-285750">
              <a:lnSpc>
                <a:spcPct val="150000"/>
              </a:lnSpc>
              <a:spcBef>
                <a:spcPct val="30000"/>
              </a:spcBef>
              <a:buFont typeface="Wingdings" panose="05000000000000000000" pitchFamily="2" charset="2"/>
              <a:buChar char="l"/>
            </a:pPr>
            <a:r>
              <a:rPr lang="en-US" altLang="zh-CN" b="1"/>
              <a:t>XSI</a:t>
            </a:r>
            <a:r>
              <a:rPr lang="zh-CN" altLang="en-US" b="1"/>
              <a:t>信号量集（</a:t>
            </a:r>
            <a:r>
              <a:rPr lang="en-US" altLang="zh-CN" b="1"/>
              <a:t>P</a:t>
            </a:r>
            <a:r>
              <a:rPr lang="zh-CN" altLang="en-US" b="1"/>
              <a:t>，</a:t>
            </a:r>
            <a:r>
              <a:rPr lang="en-US" altLang="zh-CN" b="1"/>
              <a:t>V</a:t>
            </a:r>
            <a:r>
              <a:rPr lang="zh-CN" altLang="en-US" b="1"/>
              <a:t>操作）</a:t>
            </a:r>
          </a:p>
          <a:p>
            <a:pPr marL="742950" lvl="1" indent="-285750">
              <a:lnSpc>
                <a:spcPct val="150000"/>
              </a:lnSpc>
              <a:spcBef>
                <a:spcPct val="30000"/>
              </a:spcBef>
              <a:buFont typeface="Wingdings" panose="05000000000000000000" pitchFamily="2" charset="2"/>
              <a:buChar char="l"/>
            </a:pPr>
            <a:r>
              <a:rPr lang="en-US" altLang="zh-CN" b="1"/>
              <a:t>POSIX</a:t>
            </a:r>
            <a:r>
              <a:rPr lang="zh-CN" altLang="en-US" b="1"/>
              <a:t>信号量（</a:t>
            </a:r>
            <a:r>
              <a:rPr lang="en-US" altLang="zh-CN" b="1"/>
              <a:t>P</a:t>
            </a:r>
            <a:r>
              <a:rPr lang="zh-CN" altLang="en-US" b="1"/>
              <a:t>，</a:t>
            </a:r>
            <a:r>
              <a:rPr lang="en-US" altLang="zh-CN" b="1"/>
              <a:t>V</a:t>
            </a:r>
            <a:r>
              <a:rPr lang="zh-CN" altLang="en-US" b="1"/>
              <a:t>操作）</a:t>
            </a:r>
          </a:p>
        </p:txBody>
      </p:sp>
      <p:sp>
        <p:nvSpPr>
          <p:cNvPr id="46082" name="标题 1"/>
          <p:cNvSpPr>
            <a:spLocks noGrp="1"/>
          </p:cNvSpPr>
          <p:nvPr>
            <p:ph type="title"/>
          </p:nvPr>
        </p:nvSpPr>
        <p:spPr>
          <a:xfrm>
            <a:off x="487363" y="88900"/>
            <a:ext cx="8169275" cy="592138"/>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训练原理：拿起放下筷子操作</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互斥量的操作</a:t>
            </a:r>
          </a:p>
        </p:txBody>
      </p:sp>
      <p:sp>
        <p:nvSpPr>
          <p:cNvPr id="4813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marL="457200" indent="-457200" eaLnBrk="1" hangingPunct="1">
              <a:buFontTx/>
              <a:buAutoNum type="circleNumDbPlain"/>
            </a:pPr>
            <a:r>
              <a:rPr lang="zh-CN" altLang="zh-CN" sz="2400" kern="1200">
                <a:latin typeface="微软雅黑" panose="020B0503020204020204" pitchFamily="34" charset="-122"/>
                <a:ea typeface="微软雅黑" panose="020B0503020204020204" pitchFamily="34" charset="-122"/>
                <a:cs typeface="+mn-cs"/>
              </a:rPr>
              <a:t>定义一个互斥量</a:t>
            </a:r>
            <a:r>
              <a:rPr lang="zh-CN" altLang="en-US" sz="2400" kern="1200">
                <a:latin typeface="微软雅黑" panose="020B0503020204020204" pitchFamily="34" charset="-122"/>
                <a:ea typeface="微软雅黑" panose="020B0503020204020204" pitchFamily="34" charset="-122"/>
                <a:cs typeface="+mn-cs"/>
              </a:rPr>
              <a:t>变量（</a:t>
            </a:r>
            <a:r>
              <a:rPr lang="en-US" altLang="zh-CN" sz="2400" kern="1200">
                <a:latin typeface="微软雅黑" panose="020B0503020204020204" pitchFamily="34" charset="-122"/>
                <a:ea typeface="微软雅黑" panose="020B0503020204020204" pitchFamily="34" charset="-122"/>
                <a:cs typeface="+mn-cs"/>
              </a:rPr>
              <a:t> pthread_mutex_t </a:t>
            </a:r>
            <a:r>
              <a:rPr lang="zh-CN" altLang="en-US" sz="2400" kern="1200">
                <a:latin typeface="微软雅黑" panose="020B0503020204020204" pitchFamily="34" charset="-122"/>
                <a:ea typeface="微软雅黑" panose="020B0503020204020204" pitchFamily="34" charset="-122"/>
                <a:cs typeface="+mn-cs"/>
              </a:rPr>
              <a:t>类型）</a:t>
            </a:r>
            <a:endParaRPr lang="en-US" altLang="zh-CN" sz="2400" kern="1200">
              <a:latin typeface="微软雅黑" panose="020B0503020204020204" pitchFamily="34" charset="-122"/>
              <a:ea typeface="微软雅黑" panose="020B0503020204020204" pitchFamily="34" charset="-122"/>
              <a:cs typeface="+mn-cs"/>
            </a:endParaRPr>
          </a:p>
          <a:p>
            <a:pPr marL="457200" indent="-457200" eaLnBrk="1" hangingPunct="1">
              <a:buFontTx/>
              <a:buAutoNum type="circleNumDbPlain"/>
            </a:pPr>
            <a:r>
              <a:rPr lang="zh-CN" altLang="zh-CN" sz="2400" kern="1200">
                <a:latin typeface="微软雅黑" panose="020B0503020204020204" pitchFamily="34" charset="-122"/>
                <a:ea typeface="微软雅黑" panose="020B0503020204020204" pitchFamily="34" charset="-122"/>
                <a:cs typeface="+mn-cs"/>
              </a:rPr>
              <a:t>初始化互斥量</a:t>
            </a:r>
          </a:p>
          <a:p>
            <a:pPr marL="457200" indent="-457200" eaLnBrk="1" hangingPunct="1">
              <a:buFontTx/>
              <a:buAutoNum type="circleNumDbPlain"/>
            </a:pPr>
            <a:r>
              <a:rPr lang="zh-CN" altLang="en-US" sz="2400" kern="1200">
                <a:latin typeface="微软雅黑" panose="020B0503020204020204" pitchFamily="34" charset="-122"/>
                <a:ea typeface="微软雅黑" panose="020B0503020204020204" pitchFamily="34" charset="-122"/>
                <a:cs typeface="+mn-cs"/>
              </a:rPr>
              <a:t>访问临界资源前对</a:t>
            </a:r>
            <a:r>
              <a:rPr lang="zh-CN" altLang="zh-CN" sz="2400" kern="1200">
                <a:latin typeface="微软雅黑" panose="020B0503020204020204" pitchFamily="34" charset="-122"/>
                <a:ea typeface="微软雅黑" panose="020B0503020204020204" pitchFamily="34" charset="-122"/>
                <a:cs typeface="+mn-cs"/>
              </a:rPr>
              <a:t>互斥量加锁</a:t>
            </a:r>
          </a:p>
          <a:p>
            <a:pPr marL="457200" indent="-457200" eaLnBrk="1" hangingPunct="1">
              <a:buFontTx/>
              <a:buAutoNum type="circleNumDbPlain"/>
            </a:pPr>
            <a:r>
              <a:rPr lang="zh-CN" altLang="en-US" sz="2400" kern="1200">
                <a:latin typeface="微软雅黑" panose="020B0503020204020204" pitchFamily="34" charset="-122"/>
                <a:ea typeface="微软雅黑" panose="020B0503020204020204" pitchFamily="34" charset="-122"/>
                <a:cs typeface="+mn-cs"/>
              </a:rPr>
              <a:t>访问临界资源后</a:t>
            </a:r>
            <a:r>
              <a:rPr lang="zh-CN" altLang="zh-CN" sz="2400" kern="1200">
                <a:latin typeface="微软雅黑" panose="020B0503020204020204" pitchFamily="34" charset="-122"/>
                <a:ea typeface="微软雅黑" panose="020B0503020204020204" pitchFamily="34" charset="-122"/>
                <a:cs typeface="+mn-cs"/>
              </a:rPr>
              <a:t>对互斥量解锁</a:t>
            </a:r>
          </a:p>
          <a:p>
            <a:pPr marL="457200" indent="-457200" eaLnBrk="1" hangingPunct="1">
              <a:buFontTx/>
              <a:buAutoNum type="circleNumDbPlain"/>
            </a:pPr>
            <a:r>
              <a:rPr lang="zh-CN" altLang="zh-CN" sz="2400" kern="1200">
                <a:latin typeface="微软雅黑" panose="020B0503020204020204" pitchFamily="34" charset="-122"/>
                <a:ea typeface="微软雅黑" panose="020B0503020204020204" pitchFamily="34" charset="-122"/>
                <a:cs typeface="+mn-cs"/>
              </a:rPr>
              <a:t>销毁互斥量</a:t>
            </a:r>
          </a:p>
        </p:txBody>
      </p:sp>
      <p:sp>
        <p:nvSpPr>
          <p:cNvPr id="33794" name="灯片编号占位符 5"/>
          <p:cNvSpPr txBox="1">
            <a:spLocks noGrp="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zh-CN" sz="1000">
                <a:latin typeface="Arial" panose="020B0604020202090204" pitchFamily="34" charset="0"/>
              </a:rPr>
              <a:t>23</a:t>
            </a:fld>
            <a:endParaRPr lang="zh-CN" altLang="zh-CN" sz="1000">
              <a:latin typeface="Arial" panose="020B0604020202090204" pitchFamily="34" charset="0"/>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互斥量初始化</a:t>
            </a:r>
          </a:p>
        </p:txBody>
      </p:sp>
      <p:sp>
        <p:nvSpPr>
          <p:cNvPr id="49154" name="Rectangle 3"/>
          <p:cNvSpPr>
            <a:spLocks noGrp="1" noChangeArrowheads="1"/>
          </p:cNvSpPr>
          <p:nvPr>
            <p:ph idx="1" hasCustomPrompt="1"/>
          </p:nvPr>
        </p:nvSpPr>
        <p:spPr>
          <a:xfrm>
            <a:off x="376238" y="750888"/>
            <a:ext cx="8767763" cy="3860800"/>
          </a:xfrm>
        </p:spPr>
        <p:txBody>
          <a:bodyPr vert="horz" wrap="square" lIns="91440" tIns="45720" rIns="91440" bIns="45720" numCol="1" anchor="t" anchorCtr="0" compatLnSpc="1"/>
          <a:lstStyle/>
          <a:p>
            <a:pPr eaLnBrk="1" hangingPunct="1">
              <a:lnSpc>
                <a:spcPct val="90000"/>
              </a:lnSpc>
            </a:pPr>
            <a:r>
              <a:rPr lang="zh-CN" altLang="en-US" sz="2000" kern="1200">
                <a:latin typeface="微软雅黑" panose="020B0503020204020204" pitchFamily="34" charset="-122"/>
                <a:ea typeface="微软雅黑" panose="020B0503020204020204" pitchFamily="34" charset="-122"/>
                <a:cs typeface="+mn-cs"/>
              </a:rPr>
              <a:t>头文件：</a:t>
            </a:r>
            <a:r>
              <a:rPr lang="en-US" altLang="zh-CN" sz="2000" kern="1200">
                <a:latin typeface="微软雅黑" panose="020B0503020204020204" pitchFamily="34" charset="-122"/>
                <a:ea typeface="微软雅黑" panose="020B0503020204020204" pitchFamily="34" charset="-122"/>
                <a:cs typeface="+mn-cs"/>
              </a:rPr>
              <a:t>pthread.h</a:t>
            </a:r>
          </a:p>
          <a:p>
            <a:pPr eaLnBrk="1" hangingPunct="1">
              <a:lnSpc>
                <a:spcPct val="90000"/>
              </a:lnSpc>
              <a:buFontTx/>
              <a:buAutoNum type="circleNumDbPlain"/>
            </a:pPr>
            <a:r>
              <a:rPr lang="zh-CN" altLang="en-US" sz="2000" kern="1200">
                <a:latin typeface="微软雅黑" panose="020B0503020204020204" pitchFamily="34" charset="-122"/>
                <a:ea typeface="微软雅黑" panose="020B0503020204020204" pitchFamily="34" charset="-122"/>
                <a:cs typeface="+mn-cs"/>
              </a:rPr>
              <a:t>定义和静态初始化互斥量变量</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lnSpc>
                <a:spcPct val="90000"/>
              </a:lnSpc>
              <a:buFont typeface="Arial" panose="020B0604020202090204" pitchFamily="34" charset="0"/>
              <a:buNone/>
            </a:pPr>
            <a:r>
              <a:rPr lang="en-US" altLang="zh-CN" sz="2000" b="1" kern="1200">
                <a:solidFill>
                  <a:srgbClr val="00B050"/>
                </a:solidFill>
                <a:latin typeface="微软雅黑" panose="020B0503020204020204" pitchFamily="34" charset="-122"/>
                <a:ea typeface="微软雅黑" panose="020B0503020204020204" pitchFamily="34" charset="-122"/>
                <a:cs typeface="+mn-cs"/>
              </a:rPr>
              <a:t>pthread_mutex_t mlock = PTHREAD_MUTEX_INITIALIZER</a:t>
            </a:r>
          </a:p>
          <a:p>
            <a:pPr eaLnBrk="1" hangingPunct="1">
              <a:lnSpc>
                <a:spcPct val="90000"/>
              </a:lnSpc>
              <a:buFontTx/>
              <a:buAutoNum type="circleNumDbPlain"/>
            </a:pPr>
            <a:r>
              <a:rPr lang="zh-CN" altLang="en-US" sz="2000" kern="1200">
                <a:latin typeface="微软雅黑" panose="020B0503020204020204" pitchFamily="34" charset="-122"/>
                <a:ea typeface="微软雅黑" panose="020B0503020204020204" pitchFamily="34" charset="-122"/>
                <a:cs typeface="+mn-cs"/>
              </a:rPr>
              <a:t>动态初始化</a:t>
            </a:r>
            <a:endParaRPr lang="zh-CN" altLang="zh-CN" sz="2000" kern="1200">
              <a:latin typeface="微软雅黑" panose="020B0503020204020204" pitchFamily="34" charset="-122"/>
              <a:ea typeface="微软雅黑" panose="020B0503020204020204" pitchFamily="34" charset="-122"/>
              <a:cs typeface="+mn-cs"/>
            </a:endParaRPr>
          </a:p>
          <a:p>
            <a:pPr lvl="1" eaLnBrk="1" hangingPunct="1">
              <a:lnSpc>
                <a:spcPct val="90000"/>
              </a:lnSpc>
            </a:pPr>
            <a:r>
              <a:rPr lang="zh-CN" altLang="zh-CN" sz="2000" kern="1200">
                <a:latin typeface="微软雅黑" panose="020B0503020204020204" pitchFamily="34" charset="-122"/>
                <a:ea typeface="微软雅黑" panose="020B0503020204020204" pitchFamily="34" charset="-122"/>
                <a:cs typeface="+mn-cs"/>
              </a:rPr>
              <a:t>函数原型</a:t>
            </a:r>
          </a:p>
          <a:p>
            <a:pPr lvl="1" eaLnBrk="1" hangingPunct="1">
              <a:lnSpc>
                <a:spcPct val="90000"/>
              </a:lnSpc>
              <a:buFont typeface="Arial" panose="020B0604020202090204" pitchFamily="34" charset="0"/>
              <a:buNone/>
            </a:pPr>
            <a:r>
              <a:rPr lang="zh-CN" altLang="zh-CN" sz="2000" b="1" kern="1200">
                <a:solidFill>
                  <a:srgbClr val="00B050"/>
                </a:solidFill>
                <a:latin typeface="微软雅黑" panose="020B0503020204020204" pitchFamily="34" charset="-122"/>
                <a:ea typeface="微软雅黑" panose="020B0503020204020204" pitchFamily="34" charset="-122"/>
                <a:cs typeface="+mn-cs"/>
              </a:rPr>
              <a:t>int pthread_mutex_init(pthread_mutex_t *mutex,const pthread_mutexattr_t *attr);</a:t>
            </a:r>
          </a:p>
          <a:p>
            <a:pPr lvl="1" eaLnBrk="1" hangingPunct="1">
              <a:lnSpc>
                <a:spcPct val="90000"/>
              </a:lnSpc>
            </a:pPr>
            <a:r>
              <a:rPr lang="zh-CN" altLang="zh-CN" sz="2000" kern="1200">
                <a:latin typeface="微软雅黑" panose="020B0503020204020204" pitchFamily="34" charset="-122"/>
                <a:ea typeface="微软雅黑" panose="020B0503020204020204" pitchFamily="34" charset="-122"/>
                <a:cs typeface="+mn-cs"/>
              </a:rPr>
              <a:t>参数与返回值</a:t>
            </a:r>
          </a:p>
          <a:p>
            <a:pPr lvl="2" eaLnBrk="1" hangingPunct="1">
              <a:lnSpc>
                <a:spcPct val="90000"/>
              </a:lnSpc>
            </a:pPr>
            <a:r>
              <a:rPr lang="zh-CN" altLang="zh-CN" kern="1200">
                <a:latin typeface="微软雅黑" panose="020B0503020204020204" pitchFamily="34" charset="-122"/>
                <a:ea typeface="微软雅黑" panose="020B0503020204020204" pitchFamily="34" charset="-122"/>
                <a:cs typeface="+mn-cs"/>
              </a:rPr>
              <a:t>mutex：互斥</a:t>
            </a:r>
            <a:r>
              <a:rPr lang="zh-CN" altLang="en-US" kern="1200">
                <a:latin typeface="微软雅黑" panose="020B0503020204020204" pitchFamily="34" charset="-122"/>
                <a:ea typeface="微软雅黑" panose="020B0503020204020204" pitchFamily="34" charset="-122"/>
                <a:cs typeface="+mn-cs"/>
              </a:rPr>
              <a:t>变量指针</a:t>
            </a:r>
            <a:endParaRPr lang="en-US" altLang="zh-CN" kern="1200">
              <a:latin typeface="微软雅黑" panose="020B0503020204020204" pitchFamily="34" charset="-122"/>
              <a:ea typeface="微软雅黑" panose="020B0503020204020204" pitchFamily="34" charset="-122"/>
              <a:cs typeface="+mn-cs"/>
            </a:endParaRPr>
          </a:p>
          <a:p>
            <a:pPr lvl="2" eaLnBrk="1" hangingPunct="1">
              <a:lnSpc>
                <a:spcPct val="90000"/>
              </a:lnSpc>
            </a:pPr>
            <a:r>
              <a:rPr lang="zh-CN" altLang="zh-CN" kern="1200">
                <a:latin typeface="微软雅黑" panose="020B0503020204020204" pitchFamily="34" charset="-122"/>
                <a:ea typeface="微软雅黑" panose="020B0503020204020204" pitchFamily="34" charset="-122"/>
                <a:cs typeface="+mn-cs"/>
              </a:rPr>
              <a:t>attr：设置互斥量的属性，通常采用默认属性，将attr设为NULL</a:t>
            </a:r>
          </a:p>
          <a:p>
            <a:pPr lvl="2" eaLnBrk="1" hangingPunct="1"/>
            <a:r>
              <a:rPr lang="zh-CN" altLang="zh-CN" kern="1200">
                <a:latin typeface="微软雅黑" panose="020B0503020204020204" pitchFamily="34" charset="-122"/>
                <a:ea typeface="微软雅黑" panose="020B0503020204020204" pitchFamily="34" charset="-122"/>
                <a:cs typeface="+mn-cs"/>
              </a:rPr>
              <a:t>成功返回0，出错返回错误码</a:t>
            </a:r>
          </a:p>
          <a:p>
            <a:pPr lvl="1" eaLnBrk="1" hangingPunct="1">
              <a:lnSpc>
                <a:spcPct val="90000"/>
              </a:lnSpc>
              <a:buFont typeface="Wingdings" panose="05000000000000000000" pitchFamily="2" charset="2"/>
              <a:buNone/>
            </a:pPr>
            <a:endParaRPr lang="zh-CN" altLang="zh-CN" sz="2000" kern="1200">
              <a:latin typeface="微软雅黑" panose="020B0503020204020204" pitchFamily="34" charset="-122"/>
              <a:ea typeface="微软雅黑" panose="020B0503020204020204" pitchFamily="34" charset="-122"/>
              <a:cs typeface="+mn-cs"/>
            </a:endParaRPr>
          </a:p>
        </p:txBody>
      </p:sp>
      <p:sp>
        <p:nvSpPr>
          <p:cNvPr id="34818" name="灯片编号占位符 5"/>
          <p:cNvSpPr txBox="1">
            <a:spLocks noGrp="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zh-CN" sz="1000">
                <a:latin typeface="Arial" panose="020B0604020202090204" pitchFamily="34" charset="0"/>
              </a:rPr>
              <a:t>24</a:t>
            </a:fld>
            <a:endParaRPr lang="zh-CN" altLang="zh-CN" sz="1000">
              <a:latin typeface="Arial" panose="020B0604020202090204" pitchFamily="34" charset="0"/>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互斥量销毁</a:t>
            </a:r>
          </a:p>
        </p:txBody>
      </p:sp>
      <p:sp>
        <p:nvSpPr>
          <p:cNvPr id="5120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lnSpc>
                <a:spcPct val="150000"/>
              </a:lnSpc>
            </a:pPr>
            <a:r>
              <a:rPr lang="zh-CN" altLang="zh-CN" sz="2000" kern="1200">
                <a:latin typeface="微软雅黑" panose="020B0503020204020204" pitchFamily="34" charset="-122"/>
                <a:ea typeface="微软雅黑" panose="020B0503020204020204" pitchFamily="34" charset="-122"/>
                <a:cs typeface="+mn-cs"/>
              </a:rPr>
              <a:t>互斥量在使用完毕后，必须要对互斥量进行销毁，以释放资源</a:t>
            </a:r>
          </a:p>
          <a:p>
            <a:pPr eaLnBrk="1" hangingPunct="1">
              <a:lnSpc>
                <a:spcPct val="150000"/>
              </a:lnSpc>
            </a:pPr>
            <a:r>
              <a:rPr lang="zh-CN" altLang="zh-CN" sz="2000" kern="1200">
                <a:latin typeface="微软雅黑" panose="020B0503020204020204" pitchFamily="34" charset="-122"/>
                <a:ea typeface="微软雅黑" panose="020B0503020204020204" pitchFamily="34" charset="-122"/>
                <a:cs typeface="+mn-cs"/>
              </a:rPr>
              <a:t>函数原型</a:t>
            </a:r>
            <a:r>
              <a:rPr lang="zh-CN" altLang="en-US" sz="2000" kern="1200">
                <a:latin typeface="微软雅黑" panose="020B0503020204020204" pitchFamily="34" charset="-122"/>
                <a:ea typeface="微软雅黑" panose="020B0503020204020204" pitchFamily="34" charset="-122"/>
                <a:cs typeface="+mn-cs"/>
              </a:rPr>
              <a:t>（头文件：</a:t>
            </a:r>
            <a:r>
              <a:rPr lang="zh-CN" altLang="zh-CN" sz="2000" kern="1200">
                <a:latin typeface="微软雅黑" panose="020B0503020204020204" pitchFamily="34" charset="-122"/>
                <a:ea typeface="微软雅黑" panose="020B0503020204020204" pitchFamily="34" charset="-122"/>
                <a:cs typeface="+mn-cs"/>
              </a:rPr>
              <a:t>pthread.h</a:t>
            </a:r>
            <a:r>
              <a:rPr lang="zh-CN" altLang="en-US" sz="2000" kern="1200">
                <a:latin typeface="微软雅黑" panose="020B0503020204020204" pitchFamily="34" charset="-122"/>
                <a:ea typeface="微软雅黑" panose="020B0503020204020204" pitchFamily="34" charset="-122"/>
                <a:cs typeface="+mn-cs"/>
              </a:rPr>
              <a:t>）</a:t>
            </a:r>
            <a:endParaRPr lang="en-US" altLang="zh-CN" sz="1800" kern="1200">
              <a:latin typeface="微软雅黑" panose="020B0503020204020204" pitchFamily="34" charset="-122"/>
              <a:ea typeface="微软雅黑" panose="020B0503020204020204" pitchFamily="34" charset="-122"/>
              <a:cs typeface="+mn-cs"/>
            </a:endParaRPr>
          </a:p>
          <a:p>
            <a:pPr lvl="1" eaLnBrk="1" hangingPunct="1">
              <a:lnSpc>
                <a:spcPct val="150000"/>
              </a:lnSpc>
              <a:buFont typeface="Arial" panose="020B0604020202090204" pitchFamily="34" charset="0"/>
              <a:buNone/>
            </a:pPr>
            <a:r>
              <a:rPr lang="zh-CN" altLang="zh-CN" sz="2000" b="1" kern="1200">
                <a:solidFill>
                  <a:srgbClr val="00B050"/>
                </a:solidFill>
                <a:latin typeface="微软雅黑" panose="020B0503020204020204" pitchFamily="34" charset="-122"/>
                <a:ea typeface="微软雅黑" panose="020B0503020204020204" pitchFamily="34" charset="-122"/>
                <a:cs typeface="+mn-cs"/>
              </a:rPr>
              <a:t>int pthread_mutex_destroy(pthread_mutex_t *mutex);</a:t>
            </a:r>
          </a:p>
          <a:p>
            <a:pPr eaLnBrk="1" hangingPunct="1">
              <a:lnSpc>
                <a:spcPct val="150000"/>
              </a:lnSpc>
            </a:pPr>
            <a:r>
              <a:rPr lang="zh-CN" altLang="zh-CN" sz="2000" kern="1200">
                <a:latin typeface="微软雅黑" panose="020B0503020204020204" pitchFamily="34" charset="-122"/>
                <a:ea typeface="微软雅黑" panose="020B0503020204020204" pitchFamily="34" charset="-122"/>
                <a:cs typeface="+mn-cs"/>
              </a:rPr>
              <a:t>参数与返回值</a:t>
            </a:r>
          </a:p>
          <a:p>
            <a:pPr lvl="1" eaLnBrk="1" hangingPunct="1">
              <a:lnSpc>
                <a:spcPct val="150000"/>
              </a:lnSpc>
            </a:pPr>
            <a:r>
              <a:rPr lang="zh-CN" altLang="zh-CN" sz="1800" kern="1200">
                <a:latin typeface="微软雅黑" panose="020B0503020204020204" pitchFamily="34" charset="-122"/>
                <a:ea typeface="微软雅黑" panose="020B0503020204020204" pitchFamily="34" charset="-122"/>
                <a:cs typeface="+mn-cs"/>
              </a:rPr>
              <a:t>mutex：互斥量</a:t>
            </a:r>
            <a:r>
              <a:rPr lang="zh-CN" altLang="en-US" sz="1800" kern="1200">
                <a:latin typeface="微软雅黑" panose="020B0503020204020204" pitchFamily="34" charset="-122"/>
                <a:ea typeface="微软雅黑" panose="020B0503020204020204" pitchFamily="34" charset="-122"/>
                <a:cs typeface="+mn-cs"/>
              </a:rPr>
              <a:t>变量指针</a:t>
            </a:r>
            <a:endParaRPr lang="zh-CN" altLang="zh-CN" sz="1800" kern="1200">
              <a:latin typeface="微软雅黑" panose="020B0503020204020204" pitchFamily="34" charset="-122"/>
              <a:ea typeface="微软雅黑" panose="020B0503020204020204" pitchFamily="34" charset="-122"/>
              <a:cs typeface="+mn-cs"/>
            </a:endParaRPr>
          </a:p>
          <a:p>
            <a:pPr lvl="1" eaLnBrk="1" hangingPunct="1">
              <a:lnSpc>
                <a:spcPct val="150000"/>
              </a:lnSpc>
            </a:pPr>
            <a:r>
              <a:rPr lang="zh-CN" altLang="zh-CN" sz="1800" kern="1200">
                <a:latin typeface="微软雅黑" panose="020B0503020204020204" pitchFamily="34" charset="-122"/>
                <a:ea typeface="微软雅黑" panose="020B0503020204020204" pitchFamily="34" charset="-122"/>
                <a:cs typeface="+mn-cs"/>
              </a:rPr>
              <a:t>成功返回0，出错返回错误码</a:t>
            </a:r>
          </a:p>
        </p:txBody>
      </p:sp>
      <p:sp>
        <p:nvSpPr>
          <p:cNvPr id="36866" name="灯片编号占位符 5"/>
          <p:cNvSpPr txBox="1">
            <a:spLocks noGrp="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zh-CN" sz="1000">
                <a:latin typeface="Arial" panose="020B0604020202090204" pitchFamily="34" charset="0"/>
              </a:rPr>
              <a:t>25</a:t>
            </a:fld>
            <a:endParaRPr lang="zh-CN" altLang="zh-CN" sz="1000">
              <a:latin typeface="Arial" panose="020B0604020202090204" pitchFamily="34" charset="0"/>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a:t>
            </a:r>
            <a:r>
              <a:rPr lang="zh-CN" altLang="zh-CN" kern="1200">
                <a:solidFill>
                  <a:srgbClr val="0070C0"/>
                </a:solidFill>
                <a:latin typeface="微软雅黑" panose="020B0503020204020204" pitchFamily="34" charset="-122"/>
                <a:ea typeface="微软雅黑" panose="020B0503020204020204" pitchFamily="34" charset="-122"/>
                <a:cs typeface="+mj-cs"/>
              </a:rPr>
              <a:t>互斥量的加锁和解锁操作</a:t>
            </a:r>
          </a:p>
        </p:txBody>
      </p:sp>
      <p:sp>
        <p:nvSpPr>
          <p:cNvPr id="52226"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zh-CN" sz="2000" kern="1200">
                <a:latin typeface="微软雅黑" panose="020B0503020204020204" pitchFamily="34" charset="-122"/>
                <a:ea typeface="微软雅黑" panose="020B0503020204020204" pitchFamily="34" charset="-122"/>
                <a:cs typeface="+mn-cs"/>
              </a:rPr>
              <a:t>在对共享资源访问之前和访问之后，需要对互斥量进行加锁和解锁操作</a:t>
            </a:r>
            <a:endParaRPr lang="en-US" altLang="zh-CN" sz="2000" kern="1200">
              <a:latin typeface="微软雅黑" panose="020B0503020204020204" pitchFamily="34" charset="-122"/>
              <a:ea typeface="微软雅黑" panose="020B0503020204020204" pitchFamily="34" charset="-122"/>
              <a:cs typeface="+mn-cs"/>
            </a:endParaRPr>
          </a:p>
          <a:p>
            <a:pPr eaLnBrk="1" hangingPunct="1"/>
            <a:r>
              <a:rPr lang="zh-CN" altLang="zh-CN" sz="2000" kern="1200">
                <a:latin typeface="微软雅黑" panose="020B0503020204020204" pitchFamily="34" charset="-122"/>
                <a:ea typeface="微软雅黑" panose="020B0503020204020204" pitchFamily="34" charset="-122"/>
                <a:cs typeface="+mn-cs"/>
              </a:rPr>
              <a:t>函数原型</a:t>
            </a:r>
            <a:r>
              <a:rPr lang="zh-CN" altLang="en-US" sz="2000" kern="1200">
                <a:latin typeface="微软雅黑" panose="020B0503020204020204" pitchFamily="34" charset="-122"/>
                <a:ea typeface="微软雅黑" panose="020B0503020204020204" pitchFamily="34" charset="-122"/>
                <a:cs typeface="+mn-cs"/>
              </a:rPr>
              <a:t>（头文件：</a:t>
            </a:r>
            <a:r>
              <a:rPr lang="zh-CN" altLang="zh-CN" sz="2000" kern="1200">
                <a:latin typeface="微软雅黑" panose="020B0503020204020204" pitchFamily="34" charset="-122"/>
                <a:ea typeface="微软雅黑" panose="020B0503020204020204" pitchFamily="34" charset="-122"/>
                <a:cs typeface="+mn-cs"/>
              </a:rPr>
              <a:t>pthread.h </a:t>
            </a:r>
            <a:r>
              <a:rPr lang="zh-CN" altLang="en-US" sz="2000" kern="1200">
                <a:latin typeface="微软雅黑" panose="020B0503020204020204" pitchFamily="34" charset="-122"/>
                <a:ea typeface="微软雅黑" panose="020B0503020204020204" pitchFamily="34" charset="-122"/>
                <a:cs typeface="+mn-cs"/>
              </a:rPr>
              <a:t>）</a:t>
            </a:r>
            <a:endParaRPr lang="en-US" altLang="zh-CN" sz="1800" kern="1200">
              <a:latin typeface="微软雅黑" panose="020B0503020204020204" pitchFamily="34" charset="-122"/>
              <a:ea typeface="微软雅黑" panose="020B0503020204020204" pitchFamily="34" charset="-122"/>
              <a:cs typeface="+mn-cs"/>
            </a:endParaRPr>
          </a:p>
          <a:p>
            <a:pPr lvl="1" eaLnBrk="1" hangingPunct="1">
              <a:buFont typeface="Wingdings" panose="05000000000000000000" pitchFamily="2" charset="2"/>
              <a:buNone/>
            </a:pPr>
            <a:r>
              <a:rPr lang="zh-CN" altLang="zh-CN" sz="1800" b="1" kern="1200">
                <a:solidFill>
                  <a:srgbClr val="00B050"/>
                </a:solidFill>
                <a:latin typeface="微软雅黑" panose="020B0503020204020204" pitchFamily="34" charset="-122"/>
                <a:ea typeface="微软雅黑" panose="020B0503020204020204" pitchFamily="34" charset="-122"/>
                <a:cs typeface="+mn-cs"/>
              </a:rPr>
              <a:t>int pthread_mutex_lock(pthread_mutex_t *mutex);</a:t>
            </a:r>
          </a:p>
          <a:p>
            <a:pPr lvl="1" eaLnBrk="1" hangingPunct="1">
              <a:buFont typeface="Wingdings" panose="05000000000000000000" pitchFamily="2" charset="2"/>
              <a:buNone/>
            </a:pPr>
            <a:r>
              <a:rPr lang="zh-CN" altLang="zh-CN" sz="1800" b="1" kern="1200">
                <a:solidFill>
                  <a:srgbClr val="00B050"/>
                </a:solidFill>
                <a:latin typeface="微软雅黑" panose="020B0503020204020204" pitchFamily="34" charset="-122"/>
                <a:ea typeface="微软雅黑" panose="020B0503020204020204" pitchFamily="34" charset="-122"/>
                <a:cs typeface="+mn-cs"/>
              </a:rPr>
              <a:t>Int pthread_mutex_unlock(pthread_mutex_t *mutex);</a:t>
            </a:r>
            <a:endParaRPr lang="en-US" altLang="zh-CN" sz="1800" b="1" kern="1200">
              <a:solidFill>
                <a:srgbClr val="00B050"/>
              </a:solidFill>
              <a:latin typeface="微软雅黑" panose="020B0503020204020204" pitchFamily="34" charset="-122"/>
              <a:ea typeface="微软雅黑" panose="020B0503020204020204" pitchFamily="34" charset="-122"/>
              <a:cs typeface="+mn-cs"/>
            </a:endParaRPr>
          </a:p>
          <a:p>
            <a:pPr eaLnBrk="1" hangingPunct="1"/>
            <a:r>
              <a:rPr lang="zh-CN" altLang="zh-CN" sz="2000" kern="1200">
                <a:latin typeface="微软雅黑" panose="020B0503020204020204" pitchFamily="34" charset="-122"/>
                <a:ea typeface="微软雅黑" panose="020B0503020204020204" pitchFamily="34" charset="-122"/>
                <a:cs typeface="+mn-cs"/>
              </a:rPr>
              <a:t>当</a:t>
            </a:r>
            <a:r>
              <a:rPr lang="zh-CN" altLang="en-US" sz="2000" kern="1200">
                <a:latin typeface="微软雅黑" panose="020B0503020204020204" pitchFamily="34" charset="-122"/>
                <a:ea typeface="微软雅黑" panose="020B0503020204020204" pitchFamily="34" charset="-122"/>
                <a:cs typeface="+mn-cs"/>
              </a:rPr>
              <a:t>调用</a:t>
            </a:r>
            <a:r>
              <a:rPr lang="zh-CN" altLang="zh-CN" sz="2000" kern="1200">
                <a:latin typeface="微软雅黑" panose="020B0503020204020204" pitchFamily="34" charset="-122"/>
                <a:ea typeface="微软雅黑" panose="020B0503020204020204" pitchFamily="34" charset="-122"/>
                <a:cs typeface="+mn-cs"/>
              </a:rPr>
              <a:t>pthread_mutex_lock时，若</a:t>
            </a:r>
            <a:r>
              <a:rPr lang="zh-CN" altLang="en-US" sz="2000" kern="1200">
                <a:latin typeface="微软雅黑" panose="020B0503020204020204" pitchFamily="34" charset="-122"/>
                <a:ea typeface="微软雅黑" panose="020B0503020204020204" pitchFamily="34" charset="-122"/>
                <a:cs typeface="+mn-cs"/>
              </a:rPr>
              <a:t>互斥量</a:t>
            </a:r>
            <a:r>
              <a:rPr lang="zh-CN" altLang="zh-CN" sz="2000" kern="1200">
                <a:latin typeface="微软雅黑" panose="020B0503020204020204" pitchFamily="34" charset="-122"/>
                <a:ea typeface="微软雅黑" panose="020B0503020204020204" pitchFamily="34" charset="-122"/>
                <a:cs typeface="+mn-cs"/>
              </a:rPr>
              <a:t>已被加锁，则调用线程将被阻塞</a:t>
            </a:r>
            <a:endParaRPr lang="en-US" altLang="zh-CN" sz="2000" kern="1200">
              <a:latin typeface="微软雅黑" panose="020B0503020204020204" pitchFamily="34" charset="-122"/>
              <a:ea typeface="微软雅黑" panose="020B0503020204020204" pitchFamily="34" charset="-122"/>
              <a:cs typeface="+mn-cs"/>
            </a:endParaRPr>
          </a:p>
          <a:p>
            <a:pPr eaLnBrk="1" hangingPunct="1"/>
            <a:r>
              <a:rPr lang="zh-CN" altLang="en-US" sz="2000" kern="1200">
                <a:latin typeface="微软雅黑" panose="020B0503020204020204" pitchFamily="34" charset="-122"/>
                <a:ea typeface="微软雅黑" panose="020B0503020204020204" pitchFamily="34" charset="-122"/>
                <a:cs typeface="+mn-cs"/>
              </a:rPr>
              <a:t>成功返回</a:t>
            </a:r>
            <a:r>
              <a:rPr lang="en-US" altLang="zh-CN" sz="2000" kern="1200">
                <a:latin typeface="微软雅黑" panose="020B0503020204020204" pitchFamily="34" charset="-122"/>
                <a:ea typeface="微软雅黑" panose="020B0503020204020204" pitchFamily="34" charset="-122"/>
                <a:cs typeface="+mn-cs"/>
              </a:rPr>
              <a:t>0</a:t>
            </a:r>
            <a:r>
              <a:rPr lang="zh-CN" altLang="en-US" sz="2000" kern="1200">
                <a:latin typeface="微软雅黑" panose="020B0503020204020204" pitchFamily="34" charset="-122"/>
                <a:ea typeface="微软雅黑" panose="020B0503020204020204" pitchFamily="34" charset="-122"/>
                <a:cs typeface="+mn-cs"/>
              </a:rPr>
              <a:t>，出错返回错误码</a:t>
            </a:r>
          </a:p>
          <a:p>
            <a:pPr eaLnBrk="1" hangingPunct="1">
              <a:buFont typeface="Wingdings" panose="05000000000000000000" pitchFamily="2" charset="2"/>
              <a:buNone/>
            </a:pPr>
            <a:endParaRPr lang="zh-CN" altLang="zh-CN" sz="2000" kern="1200">
              <a:latin typeface="微软雅黑" panose="020B0503020204020204" pitchFamily="34" charset="-122"/>
              <a:ea typeface="微软雅黑" panose="020B0503020204020204" pitchFamily="34" charset="-122"/>
              <a:cs typeface="+mn-cs"/>
            </a:endParaRPr>
          </a:p>
        </p:txBody>
      </p:sp>
      <p:sp>
        <p:nvSpPr>
          <p:cNvPr id="37890" name="灯片编号占位符 5"/>
          <p:cNvSpPr txBox="1">
            <a:spLocks noGrp="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zh-CN" sz="1000">
                <a:latin typeface="Arial" panose="020B0604020202090204" pitchFamily="34" charset="0"/>
              </a:rPr>
              <a:t>26</a:t>
            </a:fld>
            <a:endParaRPr lang="zh-CN" altLang="zh-CN" sz="1000">
              <a:latin typeface="Arial" panose="020B0604020202090204" pitchFamily="34" charset="0"/>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训练原理：非阻塞加锁</a:t>
            </a:r>
            <a:endParaRPr lang="zh-CN" altLang="zh-CN" kern="1200">
              <a:solidFill>
                <a:srgbClr val="0070C0"/>
              </a:solidFill>
              <a:latin typeface="微软雅黑" panose="020B0503020204020204" pitchFamily="34" charset="-122"/>
              <a:ea typeface="微软雅黑" panose="020B0503020204020204" pitchFamily="34" charset="-122"/>
              <a:cs typeface="+mj-cs"/>
            </a:endParaRPr>
          </a:p>
        </p:txBody>
      </p:sp>
      <p:sp>
        <p:nvSpPr>
          <p:cNvPr id="40962" name="Rectangle 3"/>
          <p:cNvSpPr>
            <a:spLocks noGrp="1" noChangeArrowheads="1"/>
          </p:cNvSpPr>
          <p:nvPr>
            <p:ph idx="1" hasCustomPrompt="1"/>
          </p:nvPr>
        </p:nvSpPr>
        <p:spPr>
          <a:xfrm>
            <a:off x="484188" y="790575"/>
            <a:ext cx="8185150" cy="3860800"/>
          </a:xfrm>
        </p:spPr>
        <p:txBody>
          <a:bodyPr vert="horz" wrap="square" lIns="91440" tIns="45720" rIns="91440" bIns="45720" numCol="1" anchor="t" anchorCtr="0" compatLnSpc="1"/>
          <a:lstStyle/>
          <a:p>
            <a:pPr eaLnBrk="1" hangingPunct="1"/>
            <a:r>
              <a:rPr lang="zh-CN" altLang="zh-CN" sz="2000" kern="1200">
                <a:latin typeface="微软雅黑" panose="020B0503020204020204" pitchFamily="34" charset="-122"/>
                <a:ea typeface="微软雅黑" panose="020B0503020204020204" pitchFamily="34" charset="-122"/>
                <a:cs typeface="+mn-cs"/>
              </a:rPr>
              <a:t>函数原型</a:t>
            </a:r>
            <a:r>
              <a:rPr lang="zh-CN" altLang="en-US" sz="2000" kern="1200">
                <a:latin typeface="微软雅黑" panose="020B0503020204020204" pitchFamily="34" charset="-122"/>
                <a:ea typeface="微软雅黑" panose="020B0503020204020204" pitchFamily="34" charset="-122"/>
                <a:cs typeface="+mn-cs"/>
              </a:rPr>
              <a:t>（头文件：</a:t>
            </a:r>
            <a:r>
              <a:rPr lang="zh-CN" altLang="zh-CN" sz="2000" kern="1200">
                <a:latin typeface="微软雅黑" panose="020B0503020204020204" pitchFamily="34" charset="-122"/>
                <a:ea typeface="微软雅黑" panose="020B0503020204020204" pitchFamily="34" charset="-122"/>
                <a:cs typeface="+mn-cs"/>
              </a:rPr>
              <a:t> pthread.h</a:t>
            </a:r>
            <a:r>
              <a:rPr lang="zh-CN" altLang="en-US" sz="2000" kern="1200">
                <a:latin typeface="微软雅黑" panose="020B0503020204020204" pitchFamily="34" charset="-122"/>
                <a:ea typeface="微软雅黑" panose="020B0503020204020204" pitchFamily="34" charset="-122"/>
                <a:cs typeface="+mn-cs"/>
              </a:rPr>
              <a:t>）</a:t>
            </a:r>
            <a:endParaRPr lang="en-US" altLang="zh-CN" sz="2000" kern="1200">
              <a:latin typeface="微软雅黑" panose="020B0503020204020204" pitchFamily="34" charset="-122"/>
              <a:ea typeface="微软雅黑" panose="020B0503020204020204" pitchFamily="34" charset="-122"/>
              <a:cs typeface="+mn-cs"/>
            </a:endParaRPr>
          </a:p>
          <a:p>
            <a:pPr eaLnBrk="1" hangingPunct="1">
              <a:buFont typeface="Wingdings" panose="05000000000000000000" pitchFamily="2" charset="2"/>
              <a:buNone/>
            </a:pPr>
            <a:r>
              <a:rPr lang="zh-CN" altLang="zh-CN" sz="2000" b="1" kern="1200">
                <a:solidFill>
                  <a:srgbClr val="00B050"/>
                </a:solidFill>
                <a:latin typeface="微软雅黑" panose="020B0503020204020204" pitchFamily="34" charset="-122"/>
                <a:ea typeface="微软雅黑" panose="020B0503020204020204" pitchFamily="34" charset="-122"/>
                <a:cs typeface="+mn-cs"/>
              </a:rPr>
              <a:t>int pthread_mutex_trylock(pthread_mutex_t *mutex);</a:t>
            </a:r>
          </a:p>
          <a:p>
            <a:pPr eaLnBrk="1" hangingPunct="1">
              <a:buFont typeface="Arial" panose="020B0604020202090204" pitchFamily="34" charset="0"/>
              <a:buNone/>
            </a:pPr>
            <a:r>
              <a:rPr lang="zh-CN" altLang="zh-CN" sz="2000" kern="1200">
                <a:latin typeface="微软雅黑" panose="020B0503020204020204" pitchFamily="34" charset="-122"/>
                <a:ea typeface="微软雅黑" panose="020B0503020204020204" pitchFamily="34" charset="-122"/>
                <a:cs typeface="+mn-cs"/>
              </a:rPr>
              <a:t>调用该函数时</a:t>
            </a:r>
            <a:r>
              <a:rPr lang="zh-CN" altLang="en-US" sz="2000" kern="1200">
                <a:latin typeface="微软雅黑" panose="020B0503020204020204" pitchFamily="34" charset="-122"/>
                <a:ea typeface="微软雅黑" panose="020B0503020204020204" pitchFamily="34" charset="-122"/>
                <a:cs typeface="+mn-cs"/>
              </a:rPr>
              <a:t>：</a:t>
            </a:r>
            <a:endParaRPr lang="en-US" altLang="zh-CN" sz="2000" kern="1200">
              <a:latin typeface="微软雅黑" panose="020B0503020204020204" pitchFamily="34" charset="-122"/>
              <a:ea typeface="微软雅黑" panose="020B0503020204020204" pitchFamily="34" charset="-122"/>
              <a:cs typeface="+mn-cs"/>
            </a:endParaRPr>
          </a:p>
          <a:p>
            <a:pPr eaLnBrk="1" hangingPunct="1"/>
            <a:r>
              <a:rPr lang="zh-CN" altLang="zh-CN" sz="2000" kern="1200">
                <a:latin typeface="微软雅黑" panose="020B0503020204020204" pitchFamily="34" charset="-122"/>
                <a:ea typeface="微软雅黑" panose="020B0503020204020204" pitchFamily="34" charset="-122"/>
                <a:cs typeface="+mn-cs"/>
              </a:rPr>
              <a:t>若互斥量未加锁，则锁住该互斥量，返回0；</a:t>
            </a:r>
            <a:endParaRPr lang="en-US" altLang="zh-CN" sz="2000" kern="1200">
              <a:latin typeface="微软雅黑" panose="020B0503020204020204" pitchFamily="34" charset="-122"/>
              <a:ea typeface="微软雅黑" panose="020B0503020204020204" pitchFamily="34" charset="-122"/>
              <a:cs typeface="+mn-cs"/>
            </a:endParaRPr>
          </a:p>
          <a:p>
            <a:pPr eaLnBrk="1" hangingPunct="1"/>
            <a:r>
              <a:rPr lang="zh-CN" altLang="zh-CN" sz="2000" kern="1200">
                <a:latin typeface="微软雅黑" panose="020B0503020204020204" pitchFamily="34" charset="-122"/>
                <a:ea typeface="微软雅黑" panose="020B0503020204020204" pitchFamily="34" charset="-122"/>
                <a:cs typeface="+mn-cs"/>
              </a:rPr>
              <a:t>若互斥量已加锁，则函数直接返回失败</a:t>
            </a:r>
            <a:r>
              <a:rPr lang="zh-CN" altLang="en-US" sz="2000" kern="1200">
                <a:latin typeface="微软雅黑" panose="020B0503020204020204" pitchFamily="34" charset="-122"/>
                <a:ea typeface="微软雅黑" panose="020B0503020204020204" pitchFamily="34" charset="-122"/>
                <a:cs typeface="+mn-cs"/>
              </a:rPr>
              <a:t>（不会阻塞调用线程）</a:t>
            </a:r>
            <a:endParaRPr lang="zh-CN" altLang="zh-CN" sz="2000" kern="1200">
              <a:latin typeface="微软雅黑" panose="020B0503020204020204" pitchFamily="34" charset="-122"/>
              <a:ea typeface="微软雅黑" panose="020B0503020204020204" pitchFamily="34" charset="-122"/>
              <a:cs typeface="+mn-cs"/>
            </a:endParaRPr>
          </a:p>
        </p:txBody>
      </p:sp>
      <p:sp>
        <p:nvSpPr>
          <p:cNvPr id="38914" name="灯片编号占位符 5"/>
          <p:cNvSpPr txBox="1">
            <a:spLocks noGrp="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zh-CN" sz="1000">
                <a:latin typeface="Arial" panose="020B0604020202090204" pitchFamily="34" charset="0"/>
              </a:rPr>
              <a:t>27</a:t>
            </a:fld>
            <a:endParaRPr lang="zh-CN" altLang="zh-CN" sz="1000">
              <a:latin typeface="Arial" panose="020B0604020202090204" pitchFamily="34"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kern="1200">
                <a:solidFill>
                  <a:srgbClr val="0070C0"/>
                </a:solidFill>
                <a:latin typeface="微软雅黑" panose="020B0503020204020204" pitchFamily="34" charset="-122"/>
                <a:ea typeface="微软雅黑" panose="020B0503020204020204" pitchFamily="34" charset="-122"/>
                <a:cs typeface="+mj-cs"/>
              </a:rPr>
              <a:t>POSIX</a:t>
            </a:r>
            <a:r>
              <a:rPr lang="zh-CN" altLang="en-US" kern="1200">
                <a:solidFill>
                  <a:srgbClr val="0070C0"/>
                </a:solidFill>
                <a:latin typeface="微软雅黑" panose="020B0503020204020204" pitchFamily="34" charset="-122"/>
                <a:ea typeface="微软雅黑" panose="020B0503020204020204" pitchFamily="34" charset="-122"/>
                <a:cs typeface="+mj-cs"/>
              </a:rPr>
              <a:t>信号量</a:t>
            </a:r>
          </a:p>
        </p:txBody>
      </p:sp>
      <p:sp>
        <p:nvSpPr>
          <p:cNvPr id="54274" name="Rectangle 3"/>
          <p:cNvSpPr>
            <a:spLocks noGrp="1"/>
          </p:cNvSpPr>
          <p:nvPr>
            <p:ph idx="1" hasCustomPrompt="1"/>
          </p:nvPr>
        </p:nvSpPr>
        <p:spPr>
          <a:xfrm>
            <a:off x="484188" y="673100"/>
            <a:ext cx="8659812" cy="3860800"/>
          </a:xfrm>
          <a:ln/>
        </p:spPr>
        <p:txBody>
          <a:bodyPr vert="horz" wrap="square" lIns="91440" tIns="45720" rIns="91440" bIns="45720" anchor="t" anchorCtr="0"/>
          <a:lstStyle/>
          <a:p>
            <a:pPr eaLnBrk="1" hangingPunct="1">
              <a:spcBef>
                <a:spcPts val="400"/>
              </a:spcBef>
            </a:pPr>
            <a:r>
              <a:rPr lang="zh-CN" altLang="en-US" sz="2000" kern="1200">
                <a:latin typeface="微软雅黑" panose="020B0503020204020204" pitchFamily="34" charset="-122"/>
                <a:ea typeface="微软雅黑" panose="020B0503020204020204" pitchFamily="34" charset="-122"/>
                <a:cs typeface="+mn-cs"/>
              </a:rPr>
              <a:t>建一个新的信号量或打开一个已存在的信号量</a:t>
            </a:r>
            <a:endParaRPr lang="en-US" altLang="zh-CN" sz="2000" kern="1200">
              <a:latin typeface="微软雅黑" panose="020B0503020204020204" pitchFamily="34" charset="-122"/>
              <a:ea typeface="微软雅黑" panose="020B0503020204020204" pitchFamily="34" charset="-122"/>
              <a:cs typeface="+mn-cs"/>
            </a:endParaRPr>
          </a:p>
          <a:p>
            <a:pPr eaLnBrk="1" hangingPunct="1">
              <a:spcBef>
                <a:spcPts val="400"/>
              </a:spcBef>
              <a:buFont typeface="Wingdings" panose="05000000000000000000" pitchFamily="2" charset="2"/>
              <a:buNone/>
            </a:pPr>
            <a:r>
              <a:rPr lang="en-US" altLang="zh-CN" sz="2000" b="1" kern="1200">
                <a:solidFill>
                  <a:srgbClr val="00B050"/>
                </a:solidFill>
                <a:latin typeface="微软雅黑" panose="020B0503020204020204" pitchFamily="34" charset="-122"/>
                <a:ea typeface="微软雅黑" panose="020B0503020204020204" pitchFamily="34" charset="-122"/>
                <a:cs typeface="+mn-cs"/>
              </a:rPr>
              <a:t>sem_t *sem_open(const char *name,int oflag,mode_t mode,unsigned int value); </a:t>
            </a:r>
          </a:p>
          <a:p>
            <a:pPr eaLnBrk="1" hangingPunct="1">
              <a:spcBef>
                <a:spcPts val="400"/>
              </a:spcBef>
            </a:pPr>
            <a:r>
              <a:rPr lang="zh-CN" altLang="en-US" sz="2000" kern="1200">
                <a:latin typeface="微软雅黑" panose="020B0503020204020204" pitchFamily="34" charset="-122"/>
                <a:ea typeface="微软雅黑" panose="020B0503020204020204" pitchFamily="34" charset="-122"/>
                <a:cs typeface="+mn-cs"/>
              </a:rPr>
              <a:t>删除信号量</a:t>
            </a:r>
            <a:endParaRPr lang="en-US" altLang="zh-CN" sz="2000" kern="1200">
              <a:latin typeface="微软雅黑" panose="020B0503020204020204" pitchFamily="34" charset="-122"/>
              <a:ea typeface="微软雅黑" panose="020B0503020204020204" pitchFamily="34" charset="-122"/>
              <a:cs typeface="+mn-cs"/>
            </a:endParaRPr>
          </a:p>
          <a:p>
            <a:pPr eaLnBrk="1" hangingPunct="1">
              <a:spcBef>
                <a:spcPts val="400"/>
              </a:spcBef>
              <a:buFont typeface="Wingdings" panose="05000000000000000000" pitchFamily="2" charset="2"/>
              <a:buNone/>
            </a:pPr>
            <a:r>
              <a:rPr lang="en-US" altLang="zh-CN" sz="2000" b="1" kern="1200">
                <a:solidFill>
                  <a:srgbClr val="00B050"/>
                </a:solidFill>
                <a:latin typeface="微软雅黑" panose="020B0503020204020204" pitchFamily="34" charset="-122"/>
                <a:ea typeface="微软雅黑" panose="020B0503020204020204" pitchFamily="34" charset="-122"/>
                <a:cs typeface="+mn-cs"/>
              </a:rPr>
              <a:t>int sem_unlink(const char *name);</a:t>
            </a:r>
          </a:p>
          <a:p>
            <a:pPr eaLnBrk="1" hangingPunct="1">
              <a:spcBef>
                <a:spcPts val="400"/>
              </a:spcBef>
            </a:pPr>
            <a:r>
              <a:rPr lang="zh-CN" altLang="en-US" sz="2000" kern="1200">
                <a:latin typeface="微软雅黑" panose="020B0503020204020204" pitchFamily="34" charset="-122"/>
                <a:ea typeface="微软雅黑" panose="020B0503020204020204" pitchFamily="34" charset="-122"/>
                <a:cs typeface="+mn-cs"/>
              </a:rPr>
              <a:t>信号量</a:t>
            </a:r>
            <a:r>
              <a:rPr lang="en-US" altLang="zh-CN" sz="2000" kern="1200">
                <a:latin typeface="微软雅黑" panose="020B0503020204020204" pitchFamily="34" charset="-122"/>
                <a:ea typeface="微软雅黑" panose="020B0503020204020204" pitchFamily="34" charset="-122"/>
                <a:cs typeface="+mn-cs"/>
              </a:rPr>
              <a:t>P</a:t>
            </a:r>
            <a:r>
              <a:rPr lang="zh-CN" altLang="en-US" sz="2000" kern="1200">
                <a:latin typeface="微软雅黑" panose="020B0503020204020204" pitchFamily="34" charset="-122"/>
                <a:ea typeface="微软雅黑" panose="020B0503020204020204" pitchFamily="34" charset="-122"/>
                <a:cs typeface="+mn-cs"/>
              </a:rPr>
              <a:t>操作</a:t>
            </a:r>
            <a:endParaRPr lang="en-US" altLang="zh-CN" sz="2000" kern="1200">
              <a:latin typeface="微软雅黑" panose="020B0503020204020204" pitchFamily="34" charset="-122"/>
              <a:ea typeface="微软雅黑" panose="020B0503020204020204" pitchFamily="34" charset="-122"/>
              <a:cs typeface="+mn-cs"/>
            </a:endParaRPr>
          </a:p>
          <a:p>
            <a:pPr eaLnBrk="1" hangingPunct="1">
              <a:spcBef>
                <a:spcPts val="400"/>
              </a:spcBef>
              <a:buFont typeface="Wingdings" panose="05000000000000000000" pitchFamily="2" charset="2"/>
              <a:buNone/>
            </a:pPr>
            <a:r>
              <a:rPr lang="pt-BR" altLang="zh-CN" sz="2000" b="1" kern="1200">
                <a:solidFill>
                  <a:srgbClr val="00B050"/>
                </a:solidFill>
                <a:latin typeface="微软雅黑" panose="020B0503020204020204" pitchFamily="34" charset="-122"/>
                <a:ea typeface="微软雅黑" panose="020B0503020204020204" pitchFamily="34" charset="-122"/>
                <a:cs typeface="+mn-cs"/>
              </a:rPr>
              <a:t>int sem_wait(sem_t *sem);</a:t>
            </a:r>
          </a:p>
          <a:p>
            <a:pPr eaLnBrk="1" hangingPunct="1">
              <a:spcBef>
                <a:spcPts val="400"/>
              </a:spcBef>
              <a:buFont typeface="Wingdings" panose="05000000000000000000" pitchFamily="2" charset="2"/>
              <a:buNone/>
            </a:pPr>
            <a:r>
              <a:rPr lang="pt-BR" altLang="zh-CN" sz="2000" b="1" kern="1200">
                <a:solidFill>
                  <a:srgbClr val="00B050"/>
                </a:solidFill>
                <a:latin typeface="微软雅黑" panose="020B0503020204020204" pitchFamily="34" charset="-122"/>
                <a:ea typeface="微软雅黑" panose="020B0503020204020204" pitchFamily="34" charset="-122"/>
                <a:cs typeface="+mn-cs"/>
              </a:rPr>
              <a:t>int sem_trywait(sem_t *sem);</a:t>
            </a:r>
          </a:p>
          <a:p>
            <a:pPr eaLnBrk="1" hangingPunct="1">
              <a:spcBef>
                <a:spcPts val="400"/>
              </a:spcBef>
            </a:pPr>
            <a:r>
              <a:rPr lang="zh-CN" altLang="en-US" sz="2000" kern="1200">
                <a:latin typeface="微软雅黑" panose="020B0503020204020204" pitchFamily="34" charset="-122"/>
                <a:ea typeface="微软雅黑" panose="020B0503020204020204" pitchFamily="34" charset="-122"/>
                <a:cs typeface="+mn-cs"/>
              </a:rPr>
              <a:t>信号量</a:t>
            </a:r>
            <a:r>
              <a:rPr lang="en-US" altLang="zh-CN" sz="2000" kern="1200">
                <a:latin typeface="微软雅黑" panose="020B0503020204020204" pitchFamily="34" charset="-122"/>
                <a:ea typeface="微软雅黑" panose="020B0503020204020204" pitchFamily="34" charset="-122"/>
                <a:cs typeface="+mn-cs"/>
              </a:rPr>
              <a:t>V</a:t>
            </a:r>
            <a:r>
              <a:rPr lang="zh-CN" altLang="en-US" sz="2000" kern="1200">
                <a:latin typeface="微软雅黑" panose="020B0503020204020204" pitchFamily="34" charset="-122"/>
                <a:ea typeface="微软雅黑" panose="020B0503020204020204" pitchFamily="34" charset="-122"/>
                <a:cs typeface="+mn-cs"/>
              </a:rPr>
              <a:t>操作</a:t>
            </a:r>
            <a:endParaRPr lang="en-US" altLang="zh-CN" sz="2000" kern="1200">
              <a:latin typeface="微软雅黑" panose="020B0503020204020204" pitchFamily="34" charset="-122"/>
              <a:ea typeface="微软雅黑" panose="020B0503020204020204" pitchFamily="34" charset="-122"/>
              <a:cs typeface="+mn-cs"/>
            </a:endParaRPr>
          </a:p>
          <a:p>
            <a:pPr eaLnBrk="1" hangingPunct="1">
              <a:spcBef>
                <a:spcPts val="400"/>
              </a:spcBef>
              <a:buFont typeface="Wingdings" panose="05000000000000000000" pitchFamily="2" charset="2"/>
              <a:buNone/>
            </a:pPr>
            <a:r>
              <a:rPr lang="pt-BR" altLang="zh-CN" sz="2000" b="1" kern="1200">
                <a:solidFill>
                  <a:srgbClr val="00B050"/>
                </a:solidFill>
                <a:latin typeface="微软雅黑" panose="020B0503020204020204" pitchFamily="34" charset="-122"/>
                <a:ea typeface="微软雅黑" panose="020B0503020204020204" pitchFamily="34" charset="-122"/>
                <a:cs typeface="+mn-cs"/>
              </a:rPr>
              <a:t>int sem_post(sem_t *sem);</a:t>
            </a:r>
            <a:endParaRPr lang="zh-CN" altLang="en-US" sz="2000" b="1" kern="1200">
              <a:solidFill>
                <a:srgbClr val="00B050"/>
              </a:solidFill>
              <a:latin typeface="微软雅黑" panose="020B0503020204020204" pitchFamily="34" charset="-122"/>
              <a:ea typeface="微软雅黑" panose="020B0503020204020204" pitchFamily="34" charset="-122"/>
              <a:cs typeface="+mn-cs"/>
            </a:endParaRPr>
          </a:p>
        </p:txBody>
      </p:sp>
      <p:sp>
        <p:nvSpPr>
          <p:cNvPr id="39940" name="灯片编号占位符 1"/>
          <p:cNvSpPr txBox="1">
            <a:spLocks noGrp="1" noChangeArrowheads="1"/>
          </p:cNvSpPr>
          <p:nvPr>
            <p:ph type="sldNum" sz="quarter" idx="12"/>
          </p:nvPr>
        </p:nvSpPr>
        <p:spPr>
          <a:xfrm>
            <a:off x="0" y="4684713"/>
            <a:ext cx="2171700" cy="357188"/>
          </a:xfrm>
          <a:noFill/>
        </p:spPr>
        <p:txBody>
          <a:bodyPr/>
          <a:lstStyle/>
          <a:p>
            <a:pPr marL="0" indent="0" algn="ctr">
              <a:lnSpc>
                <a:spcPct val="100000"/>
              </a:lnSpc>
              <a:spcBef>
                <a:spcPct val="0"/>
              </a:spcBef>
              <a:buFontTx/>
              <a:buNone/>
            </a:pPr>
            <a:fld id="{9A0DB2DC-4C9A-4742-B13C-FB6460FD3503}" type="slidenum">
              <a:rPr lang="zh-CN" altLang="en-US" sz="1000">
                <a:latin typeface="Arial" panose="020B0604020202090204" pitchFamily="34" charset="0"/>
              </a:rPr>
              <a:t>28</a:t>
            </a:fld>
            <a:endParaRPr lang="zh-CN" altLang="en-US" sz="1000">
              <a:latin typeface="Arial" panose="020B0604020202090204" pitchFamily="34" charset="0"/>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kern="1200">
                <a:solidFill>
                  <a:srgbClr val="0070C0"/>
                </a:solidFill>
                <a:latin typeface="微软雅黑" panose="020B0503020204020204" pitchFamily="34" charset="-122"/>
                <a:ea typeface="微软雅黑" panose="020B0503020204020204" pitchFamily="34" charset="-122"/>
                <a:cs typeface="+mj-cs"/>
              </a:rPr>
              <a:t>训练</a:t>
            </a:r>
          </a:p>
        </p:txBody>
      </p:sp>
      <p:sp>
        <p:nvSpPr>
          <p:cNvPr id="236547" name="Rectangle 3"/>
          <p:cNvSpPr>
            <a:spLocks noGrp="1"/>
          </p:cNvSpPr>
          <p:nvPr>
            <p:ph idx="1" hasCustomPrompt="1"/>
          </p:nvPr>
        </p:nvSpPr>
        <p:spPr>
          <a:xfrm>
            <a:off x="485775" y="639763"/>
            <a:ext cx="8183563" cy="3860800"/>
          </a:xfrm>
          <a:ln/>
        </p:spPr>
        <p:txBody>
          <a:bodyPr vert="horz" wrap="square" lIns="91440" tIns="45720" rIns="91440" bIns="45720" anchor="t" anchorCtr="0"/>
          <a:lstStyle/>
          <a:p>
            <a:pPr marL="0" indent="0" eaLnBrk="1" hangingPunct="1">
              <a:buFont typeface="Arial" panose="020B0604020202090204" pitchFamily="34" charset="0"/>
              <a:buNone/>
            </a:pPr>
            <a:r>
              <a:rPr lang="zh-CN" altLang="en-US" sz="2000" kern="1200">
                <a:latin typeface="微软雅黑" panose="020B0503020204020204" pitchFamily="34" charset="-122"/>
                <a:ea typeface="微软雅黑" panose="020B0503020204020204" pitchFamily="34" charset="-122"/>
                <a:cs typeface="+mn-cs"/>
              </a:rPr>
              <a:t>利用</a:t>
            </a:r>
            <a:r>
              <a:rPr lang="en-US" altLang="zh-CN" sz="2000" kern="1200">
                <a:latin typeface="微软雅黑" panose="020B0503020204020204" pitchFamily="34" charset="-122"/>
                <a:ea typeface="微软雅黑" panose="020B0503020204020204" pitchFamily="34" charset="-122"/>
                <a:cs typeface="+mn-cs"/>
              </a:rPr>
              <a:t>POSIX API</a:t>
            </a:r>
            <a:r>
              <a:rPr lang="zh-CN" altLang="en-US" sz="2000" kern="1200">
                <a:latin typeface="微软雅黑" panose="020B0503020204020204" pitchFamily="34" charset="-122"/>
                <a:ea typeface="微软雅黑" panose="020B0503020204020204" pitchFamily="34" charset="-122"/>
                <a:cs typeface="+mn-cs"/>
              </a:rPr>
              <a:t>在</a:t>
            </a:r>
            <a:r>
              <a:rPr lang="en-US" altLang="zh-CN" sz="2000" kern="1200">
                <a:latin typeface="微软雅黑" panose="020B0503020204020204" pitchFamily="34" charset="-122"/>
                <a:ea typeface="微软雅黑" panose="020B0503020204020204" pitchFamily="34" charset="-122"/>
                <a:cs typeface="+mn-cs"/>
              </a:rPr>
              <a:t>Linux</a:t>
            </a:r>
            <a:r>
              <a:rPr lang="zh-CN" altLang="en-US" sz="2000" kern="1200">
                <a:latin typeface="微软雅黑" panose="020B0503020204020204" pitchFamily="34" charset="-122"/>
                <a:ea typeface="微软雅黑" panose="020B0503020204020204" pitchFamily="34" charset="-122"/>
                <a:cs typeface="+mn-cs"/>
              </a:rPr>
              <a:t>系统上编写应用程序，通过多线程和互斥量机制</a:t>
            </a:r>
            <a:r>
              <a:rPr lang="en-US" altLang="zh-CN" sz="2000" kern="1200">
                <a:latin typeface="微软雅黑" panose="020B0503020204020204" pitchFamily="34" charset="-122"/>
                <a:ea typeface="微软雅黑" panose="020B0503020204020204" pitchFamily="34" charset="-122"/>
                <a:cs typeface="+mn-cs"/>
              </a:rPr>
              <a:t>/POSIX</a:t>
            </a:r>
            <a:r>
              <a:rPr lang="zh-CN" altLang="en-US" sz="2000" kern="1200">
                <a:latin typeface="微软雅黑" panose="020B0503020204020204" pitchFamily="34" charset="-122"/>
                <a:ea typeface="微软雅黑" panose="020B0503020204020204" pitchFamily="34" charset="-122"/>
                <a:cs typeface="+mn-cs"/>
              </a:rPr>
              <a:t>信号量机制实现哲学家进餐问题（</a:t>
            </a:r>
            <a:r>
              <a:rPr lang="zh-CN" altLang="en-US" sz="2000" b="1" kern="1200">
                <a:solidFill>
                  <a:srgbClr val="FF0000"/>
                </a:solidFill>
                <a:latin typeface="微软雅黑" panose="020B0503020204020204" pitchFamily="34" charset="-122"/>
                <a:ea typeface="微软雅黑" panose="020B0503020204020204" pitchFamily="34" charset="-122"/>
                <a:cs typeface="+mn-cs"/>
              </a:rPr>
              <a:t>哲学家的数量可以通过简单的配置进行修改</a:t>
            </a:r>
            <a:r>
              <a:rPr lang="zh-CN" altLang="en-US" sz="2000" kern="1200">
                <a:latin typeface="微软雅黑" panose="020B0503020204020204" pitchFamily="34" charset="-122"/>
                <a:ea typeface="微软雅黑" panose="020B0503020204020204" pitchFamily="34" charset="-122"/>
                <a:cs typeface="+mn-cs"/>
              </a:rPr>
              <a:t>）</a:t>
            </a:r>
            <a:endParaRPr lang="en-US" altLang="zh-CN" sz="2000" kern="1200">
              <a:latin typeface="微软雅黑" panose="020B0503020204020204" pitchFamily="34" charset="-122"/>
              <a:ea typeface="微软雅黑" panose="020B0503020204020204" pitchFamily="34" charset="-122"/>
              <a:cs typeface="+mn-cs"/>
            </a:endParaRPr>
          </a:p>
          <a:p>
            <a:pPr lvl="1" eaLnBrk="1" hangingPunct="1"/>
            <a:r>
              <a:rPr lang="zh-CN" altLang="en-US" sz="2000" kern="1200">
                <a:latin typeface="微软雅黑" panose="020B0503020204020204" pitchFamily="34" charset="-122"/>
                <a:ea typeface="微软雅黑" panose="020B0503020204020204" pitchFamily="34" charset="-122"/>
                <a:cs typeface="+mn-cs"/>
              </a:rPr>
              <a:t>首先通过阻塞加锁的操作方式实现哲学家之间（线程）对筷子（临界资源）的互斥访问，</a:t>
            </a:r>
            <a:r>
              <a:rPr lang="zh-CN" altLang="en-US" sz="2000" b="1" kern="1200">
                <a:solidFill>
                  <a:srgbClr val="FF0000"/>
                </a:solidFill>
                <a:latin typeface="微软雅黑" panose="020B0503020204020204" pitchFamily="34" charset="-122"/>
                <a:ea typeface="微软雅黑" panose="020B0503020204020204" pitchFamily="34" charset="-122"/>
                <a:cs typeface="+mn-cs"/>
              </a:rPr>
              <a:t>观察程序运行一段时间以后会出现的死锁状态。</a:t>
            </a:r>
            <a:endParaRPr lang="en-US" altLang="zh-CN" sz="2000" b="1" kern="1200">
              <a:solidFill>
                <a:srgbClr val="FF0000"/>
              </a:solidFill>
              <a:latin typeface="微软雅黑" panose="020B0503020204020204" pitchFamily="34" charset="-122"/>
              <a:ea typeface="微软雅黑" panose="020B0503020204020204" pitchFamily="34" charset="-122"/>
              <a:cs typeface="+mn-cs"/>
            </a:endParaRPr>
          </a:p>
          <a:p>
            <a:pPr lvl="1" eaLnBrk="1" hangingPunct="1"/>
            <a:endParaRPr lang="en-US" altLang="zh-CN" sz="2000" b="1" kern="1200">
              <a:solidFill>
                <a:srgbClr val="FF0000"/>
              </a:solidFill>
              <a:latin typeface="微软雅黑" panose="020B0503020204020204" pitchFamily="34" charset="-122"/>
              <a:ea typeface="微软雅黑" panose="020B0503020204020204" pitchFamily="34" charset="-122"/>
              <a:cs typeface="+mn-cs"/>
            </a:endParaRPr>
          </a:p>
          <a:p>
            <a:pPr lvl="1" eaLnBrk="1" hangingPunct="1"/>
            <a:endParaRPr lang="en-US" altLang="zh-CN" sz="2000" kern="1200">
              <a:latin typeface="微软雅黑" panose="020B0503020204020204" pitchFamily="34" charset="-122"/>
              <a:ea typeface="微软雅黑" panose="020B0503020204020204" pitchFamily="34" charset="-122"/>
              <a:cs typeface="+mn-cs"/>
            </a:endParaRPr>
          </a:p>
          <a:p>
            <a:pPr lvl="1" eaLnBrk="1" hangingPunct="1"/>
            <a:r>
              <a:rPr lang="zh-CN" altLang="en-US" sz="2000" kern="1200">
                <a:latin typeface="微软雅黑" panose="020B0503020204020204" pitchFamily="34" charset="-122"/>
                <a:ea typeface="微软雅黑" panose="020B0503020204020204" pitchFamily="34" charset="-122"/>
                <a:cs typeface="+mn-cs"/>
              </a:rPr>
              <a:t>将互斥量的加锁操作从阻塞方式修改为非阻塞方式，通过让权等待的思想预防死锁状态的出现。</a:t>
            </a:r>
          </a:p>
          <a:p>
            <a:pPr lvl="1" eaLnBrk="1" hangingPunct="1"/>
            <a:endParaRPr lang="zh-CN" altLang="en-US" sz="2000" kern="1200">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971550" y="3003550"/>
            <a:ext cx="7561263" cy="64611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1" eaLnBrk="1" hangingPunct="1">
              <a:buNone/>
            </a:pPr>
            <a:r>
              <a:rPr lang="zh-CN" altLang="en-US">
                <a:solidFill>
                  <a:srgbClr val="FFFFFF"/>
                </a:solidFill>
                <a:latin typeface="微软雅黑" panose="020B0503020204020204" pitchFamily="34" charset="-122"/>
                <a:ea typeface="微软雅黑" panose="020B0503020204020204" pitchFamily="34" charset="-122"/>
              </a:rPr>
              <a:t>如果未出现死锁状态的可以通过修改哲学家数量以及修改延时设置来增大出现死锁的机率。</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6547">
                                            <p:txEl>
                                              <p:pRg st="1" end="1"/>
                                            </p:txEl>
                                          </p:spTgt>
                                        </p:tgtEl>
                                        <p:attrNameLst>
                                          <p:attrName>style.visibility</p:attrName>
                                        </p:attrNameLst>
                                      </p:cBhvr>
                                      <p:to>
                                        <p:strVal val="visible"/>
                                      </p:to>
                                    </p:set>
                                    <p:anim calcmode="lin" valueType="num">
                                      <p:cBhvr additive="base">
                                        <p:cTn id="7" dur="500" fill="hold"/>
                                        <p:tgtEl>
                                          <p:spTgt spid="2365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65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6547">
                                            <p:txEl>
                                              <p:pRg st="4" end="4"/>
                                            </p:txEl>
                                          </p:spTgt>
                                        </p:tgtEl>
                                        <p:attrNameLst>
                                          <p:attrName>style.visibility</p:attrName>
                                        </p:attrNameLst>
                                      </p:cBhvr>
                                      <p:to>
                                        <p:strVal val="visible"/>
                                      </p:to>
                                    </p:set>
                                    <p:anim calcmode="lin" valueType="num">
                                      <p:cBhvr additive="base">
                                        <p:cTn id="13" dur="500" fill="hold"/>
                                        <p:tgtEl>
                                          <p:spTgt spid="23654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65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2"/>
          <p:cNvSpPr>
            <a:spLocks noGrp="1"/>
          </p:cNvSpPr>
          <p:nvPr>
            <p:ph type="title"/>
          </p:nvPr>
        </p:nvSpPr>
        <p:spPr>
          <a:xfrm>
            <a:off x="755576" y="987574"/>
            <a:ext cx="7886700" cy="2139950"/>
          </a:xfrm>
          <a:ln/>
        </p:spPr>
        <p:txBody>
          <a:bodyPr vert="horz" wrap="square" lIns="68580" tIns="34290" rIns="68580" bIns="34290" anchor="b" anchorCtr="0"/>
          <a:lstStyle/>
          <a:p>
            <a:pPr>
              <a:buNone/>
            </a:pPr>
            <a:r>
              <a:rPr lang="en-US" altLang="zh-CN" sz="4800" b="1" kern="1200" dirty="0">
                <a:latin typeface="微软雅黑" panose="020B0503020204020204" pitchFamily="34" charset="-122"/>
                <a:ea typeface="等线 Light" pitchFamily="2" charset="-122"/>
                <a:cs typeface="+mj-cs"/>
              </a:rPr>
              <a:t>Webserver</a:t>
            </a:r>
            <a:r>
              <a:rPr lang="zh-CN" altLang="en-US" sz="4800" b="1" kern="1200" dirty="0">
                <a:latin typeface="微软雅黑" panose="020B0503020204020204" pitchFamily="34" charset="-122"/>
                <a:ea typeface="等线 Light" pitchFamily="2" charset="-122"/>
                <a:cs typeface="+mj-cs"/>
              </a:rPr>
              <a:t> </a:t>
            </a:r>
            <a:r>
              <a:rPr lang="en-US" altLang="zh-CN" sz="4800" b="1" kern="1200" dirty="0">
                <a:latin typeface="微软雅黑" panose="020B0503020204020204" pitchFamily="34" charset="-122"/>
                <a:ea typeface="等线 Light" pitchFamily="2" charset="-122"/>
                <a:cs typeface="+mj-cs"/>
              </a:rPr>
              <a:t>V0.5</a:t>
            </a:r>
            <a:r>
              <a:rPr lang="zh-CN" altLang="en-US" sz="4800" b="1" kern="1200" dirty="0">
                <a:latin typeface="微软雅黑" panose="020B0503020204020204" pitchFamily="34" charset="-122"/>
                <a:ea typeface="等线 Light" pitchFamily="2" charset="-122"/>
                <a:cs typeface="+mj-cs"/>
              </a:rPr>
              <a:t>版</a:t>
            </a:r>
            <a:br>
              <a:rPr lang="en-US" altLang="zh-CN" sz="4800" b="1" kern="1200" dirty="0">
                <a:latin typeface="微软雅黑" panose="020B0503020204020204" pitchFamily="34" charset="-122"/>
                <a:ea typeface="等线 Light" pitchFamily="2" charset="-122"/>
                <a:cs typeface="+mj-cs"/>
              </a:rPr>
            </a:br>
            <a:endParaRPr lang="zh-CN" altLang="en-US" sz="4800" b="1" kern="1200" dirty="0">
              <a:latin typeface="微软雅黑" panose="020B0503020204020204" pitchFamily="34" charset="-122"/>
              <a:ea typeface="等线 Light" pitchFamily="2" charset="-122"/>
              <a:cs typeface="+mj-cs"/>
            </a:endParaRPr>
          </a:p>
        </p:txBody>
      </p:sp>
      <p:sp>
        <p:nvSpPr>
          <p:cNvPr id="76802" name="文本框 2"/>
          <p:cNvSpPr txBox="1"/>
          <p:nvPr/>
        </p:nvSpPr>
        <p:spPr>
          <a:xfrm>
            <a:off x="1188964" y="2608412"/>
            <a:ext cx="4862512" cy="523875"/>
          </a:xfrm>
          <a:prstGeom prst="rect">
            <a:avLst/>
          </a:prstGeom>
          <a:noFill/>
          <a:ln w="9525">
            <a:noFill/>
          </a:ln>
        </p:spPr>
        <p:txBody>
          <a:bodyPr>
            <a:spAutoFit/>
          </a:bodyPr>
          <a:lstStyle/>
          <a:p>
            <a:r>
              <a:rPr lang="zh-CN" altLang="zh-CN" sz="2800" dirty="0">
                <a:latin typeface="Microsoft YaHei" panose="020B0503020204020204" pitchFamily="34" charset="-122"/>
                <a:ea typeface="Microsoft YaHei" panose="020B0503020204020204" pitchFamily="34" charset="-122"/>
              </a:rPr>
              <a:t>多线程请求处理与资源竞争</a:t>
            </a:r>
            <a:endParaRPr lang="zh-CN" altLang="en-US" sz="2800" dirty="0">
              <a:latin typeface="Microsoft YaHei" panose="020B0503020204020204" pitchFamily="34" charset="-122"/>
              <a:ea typeface="Microsoft YaHei" panose="020B0503020204020204" pitchFamily="34" charset="-122"/>
            </a:endParaRPr>
          </a:p>
        </p:txBody>
      </p:sp>
      <p:pic>
        <p:nvPicPr>
          <p:cNvPr id="2" name="Picture 2" descr="j0149481">
            <a:extLst>
              <a:ext uri="{FF2B5EF4-FFF2-40B4-BE49-F238E27FC236}">
                <a16:creationId xmlns:a16="http://schemas.microsoft.com/office/drawing/2014/main" id="{9A5918BC-A361-10F9-0F49-C563144CC8F9}"/>
              </a:ext>
            </a:extLst>
          </p:cNvPr>
          <p:cNvPicPr>
            <a:picLocks noChangeAspect="1"/>
          </p:cNvPicPr>
          <p:nvPr/>
        </p:nvPicPr>
        <p:blipFill>
          <a:blip r:embed="rId2"/>
          <a:stretch>
            <a:fillRect/>
          </a:stretch>
        </p:blipFill>
        <p:spPr>
          <a:xfrm>
            <a:off x="6660232" y="2566020"/>
            <a:ext cx="2284412" cy="232092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FD3F3-24E9-30A9-0D09-2AA34D2A638D}"/>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73C2966A-D2D9-452A-104F-7812B954888A}"/>
              </a:ext>
            </a:extLst>
          </p:cNvPr>
          <p:cNvSpPr>
            <a:spLocks noGrp="1"/>
          </p:cNvSpPr>
          <p:nvPr>
            <p:ph type="body" idx="1"/>
          </p:nvPr>
        </p:nvSpPr>
        <p:spPr/>
        <p:txBody>
          <a:bodyPr/>
          <a:lstStyle/>
          <a:p>
            <a:endParaRPr kumimoji="1" lang="zh-CN" altLang="en-US"/>
          </a:p>
        </p:txBody>
      </p:sp>
      <p:pic>
        <p:nvPicPr>
          <p:cNvPr id="4" name="图片 3">
            <a:extLst>
              <a:ext uri="{FF2B5EF4-FFF2-40B4-BE49-F238E27FC236}">
                <a16:creationId xmlns:a16="http://schemas.microsoft.com/office/drawing/2014/main" id="{4668BA18-1390-B74B-3121-832C657445B6}"/>
              </a:ext>
            </a:extLst>
          </p:cNvPr>
          <p:cNvPicPr>
            <a:picLocks noChangeAspect="1"/>
          </p:cNvPicPr>
          <p:nvPr/>
        </p:nvPicPr>
        <p:blipFill>
          <a:blip r:embed="rId2"/>
          <a:stretch>
            <a:fillRect/>
          </a:stretch>
        </p:blipFill>
        <p:spPr>
          <a:xfrm>
            <a:off x="973" y="609165"/>
            <a:ext cx="9143027" cy="3958073"/>
          </a:xfrm>
          <a:prstGeom prst="rect">
            <a:avLst/>
          </a:prstGeom>
        </p:spPr>
      </p:pic>
    </p:spTree>
    <p:extLst>
      <p:ext uri="{BB962C8B-B14F-4D97-AF65-F5344CB8AC3E}">
        <p14:creationId xmlns:p14="http://schemas.microsoft.com/office/powerpoint/2010/main" val="955307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V0.5</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p:cNvSpPr txBox="1"/>
          <p:nvPr/>
        </p:nvSpPr>
        <p:spPr>
          <a:xfrm>
            <a:off x="526256" y="627534"/>
            <a:ext cx="8091488" cy="457760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zh-CN" sz="2000" dirty="0">
                <a:latin typeface="Microsoft YaHei" panose="020B0503020204020204" pitchFamily="34" charset="-122"/>
                <a:ea typeface="Microsoft YaHei" panose="020B0503020204020204" pitchFamily="34" charset="-122"/>
              </a:rPr>
              <a:t>Web Server 后面要同时处理多个客户端请求。</a:t>
            </a:r>
            <a:r>
              <a:rPr lang="en-US" altLang="zh-CN" sz="2000" dirty="0">
                <a:latin typeface="Microsoft YaHei" panose="020B0503020204020204" pitchFamily="34" charset="-122"/>
                <a:ea typeface="Microsoft YaHei" panose="020B0503020204020204" pitchFamily="34" charset="-122"/>
              </a:rPr>
              <a:t>V0.4</a:t>
            </a:r>
            <a:r>
              <a:rPr lang="zh-CN" altLang="en-US" sz="2000" dirty="0">
                <a:latin typeface="Microsoft YaHei" panose="020B0503020204020204" pitchFamily="34" charset="-122"/>
                <a:ea typeface="Microsoft YaHei" panose="020B0503020204020204" pitchFamily="34" charset="-122"/>
              </a:rPr>
              <a:t>版本</a:t>
            </a:r>
            <a:r>
              <a:rPr lang="zh-CN" altLang="zh-CN" sz="2000" dirty="0">
                <a:latin typeface="Microsoft YaHei" panose="020B0503020204020204" pitchFamily="34" charset="-122"/>
                <a:ea typeface="Microsoft YaHei" panose="020B0503020204020204" pitchFamily="34" charset="-122"/>
              </a:rPr>
              <a:t>用请求文件模拟客户端请求。父进程负责扫描请求文件并创建子进程，子进程负责处理一个请求，父进程等待所有子进程结束并记录结果。</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zh-CN" sz="2000" dirty="0">
                <a:latin typeface="Microsoft YaHei" panose="020B0503020204020204" pitchFamily="34" charset="-122"/>
                <a:ea typeface="Microsoft YaHei" panose="020B0503020204020204" pitchFamily="34" charset="-122"/>
              </a:rPr>
              <a:t>进程</a:t>
            </a:r>
            <a:r>
              <a:rPr lang="zh-CN" altLang="en-US" sz="2000" dirty="0">
                <a:latin typeface="Microsoft YaHei" panose="020B0503020204020204" pitchFamily="34" charset="-122"/>
                <a:ea typeface="Microsoft YaHei" panose="020B0503020204020204" pitchFamily="34" charset="-122"/>
              </a:rPr>
              <a:t>间有</a:t>
            </a:r>
            <a:r>
              <a:rPr lang="zh-CN" altLang="zh-CN" sz="2000" dirty="0">
                <a:latin typeface="Microsoft YaHei" panose="020B0503020204020204" pitchFamily="34" charset="-122"/>
                <a:ea typeface="Microsoft YaHei" panose="020B0503020204020204" pitchFamily="34" charset="-122"/>
              </a:rPr>
              <a:t>隔离，资源开销更大</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dirty="0">
                <a:latin typeface="Microsoft YaHei" panose="020B0503020204020204" pitchFamily="34" charset="-122"/>
                <a:ea typeface="Microsoft YaHei" panose="020B0503020204020204" pitchFamily="34" charset="-122"/>
              </a:rPr>
              <a:t>而</a:t>
            </a:r>
            <a:r>
              <a:rPr lang="zh-CN" altLang="zh-CN" sz="2000" dirty="0">
                <a:latin typeface="Microsoft YaHei" panose="020B0503020204020204" pitchFamily="34" charset="-122"/>
                <a:ea typeface="Microsoft YaHei" panose="020B0503020204020204" pitchFamily="34" charset="-122"/>
              </a:rPr>
              <a:t>线程共享内存，通信方便，但更容易出现数据竞争</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en-US" altLang="zh-CN" sz="2000" dirty="0"/>
              <a:t>V0.5</a:t>
            </a:r>
            <a:r>
              <a:rPr lang="zh-CN" altLang="en-US" sz="2000" dirty="0"/>
              <a:t>版本</a:t>
            </a:r>
            <a:r>
              <a:rPr lang="zh-CN" altLang="zh-CN" sz="2000" dirty="0"/>
              <a:t>改成多线程 worker，做共享请求队列。</a:t>
            </a:r>
            <a:endParaRPr lang="zh-CN" altLang="zh-CN" sz="20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en-US" altLang="zh-CN" sz="20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zh-CN" sz="20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000" dirty="0">
              <a:latin typeface="Microsoft YaHei" panose="020B0503020204020204" pitchFamily="34" charset="-122"/>
              <a:ea typeface="Microsoft YaHei" panose="020B0503020204020204" pitchFamily="34"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95E25-93D0-40B1-DB00-463A2649C646}"/>
            </a:ext>
          </a:extLst>
        </p:cNvPr>
        <p:cNvGrpSpPr/>
        <p:nvPr/>
      </p:nvGrpSpPr>
      <p:grpSpPr>
        <a:xfrm>
          <a:off x="0" y="0"/>
          <a:ext cx="0" cy="0"/>
          <a:chOff x="0" y="0"/>
          <a:chExt cx="0" cy="0"/>
        </a:xfrm>
      </p:grpSpPr>
      <p:sp>
        <p:nvSpPr>
          <p:cNvPr id="83969" name="标题 1">
            <a:extLst>
              <a:ext uri="{FF2B5EF4-FFF2-40B4-BE49-F238E27FC236}">
                <a16:creationId xmlns:a16="http://schemas.microsoft.com/office/drawing/2014/main" id="{2730B263-1D41-DDC0-511C-11DB9B1C70F4}"/>
              </a:ext>
            </a:extLst>
          </p:cNvPr>
          <p:cNvSpPr>
            <a:spLocks noGrp="1"/>
          </p:cNvSpPr>
          <p:nvPr>
            <p:ph type="title"/>
          </p:nvPr>
        </p:nvSpPr>
        <p:spPr>
          <a:xfrm>
            <a:off x="473073" y="125480"/>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V0.5</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8" name="文本框 7">
            <a:extLst>
              <a:ext uri="{FF2B5EF4-FFF2-40B4-BE49-F238E27FC236}">
                <a16:creationId xmlns:a16="http://schemas.microsoft.com/office/drawing/2014/main" id="{9EEA792E-D340-25F7-C5C8-DA48BFF48A7A}"/>
              </a:ext>
            </a:extLst>
          </p:cNvPr>
          <p:cNvSpPr txBox="1"/>
          <p:nvPr/>
        </p:nvSpPr>
        <p:spPr>
          <a:xfrm>
            <a:off x="473075" y="811213"/>
            <a:ext cx="3344863" cy="88107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nSpc>
                <a:spcPct val="150000"/>
              </a:lnSpc>
            </a:pPr>
            <a:r>
              <a:rPr lang="zh-CN" altLang="zh-CN" dirty="0"/>
              <a:t>requests/hello.req</a:t>
            </a:r>
            <a:endParaRPr lang="en-US" altLang="zh-CN" dirty="0"/>
          </a:p>
          <a:p>
            <a:pPr>
              <a:lnSpc>
                <a:spcPct val="150000"/>
              </a:lnSpc>
            </a:pPr>
            <a:r>
              <a:rPr lang="zh-CN" altLang="zh-CN" dirty="0"/>
              <a:t>GET /hello</a:t>
            </a:r>
          </a:p>
        </p:txBody>
      </p:sp>
      <p:sp>
        <p:nvSpPr>
          <p:cNvPr id="2" name="文本框 1">
            <a:extLst>
              <a:ext uri="{FF2B5EF4-FFF2-40B4-BE49-F238E27FC236}">
                <a16:creationId xmlns:a16="http://schemas.microsoft.com/office/drawing/2014/main" id="{8B7832DC-B09D-E37E-AB63-1BA859EB694E}"/>
              </a:ext>
            </a:extLst>
          </p:cNvPr>
          <p:cNvSpPr txBox="1"/>
          <p:nvPr/>
        </p:nvSpPr>
        <p:spPr>
          <a:xfrm>
            <a:off x="473074" y="2046586"/>
            <a:ext cx="3344863" cy="88107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nSpc>
                <a:spcPct val="150000"/>
              </a:lnSpc>
            </a:pPr>
            <a:r>
              <a:rPr lang="zh-CN" altLang="zh-CN" dirty="0"/>
              <a:t>requests/user_find.req</a:t>
            </a:r>
            <a:endParaRPr lang="en-US" altLang="zh-CN" dirty="0"/>
          </a:p>
          <a:p>
            <a:pPr>
              <a:lnSpc>
                <a:spcPct val="150000"/>
              </a:lnSpc>
            </a:pPr>
            <a:r>
              <a:rPr lang="zh-CN" altLang="zh-CN" dirty="0"/>
              <a:t>GET /users/zhangsan</a:t>
            </a:r>
          </a:p>
        </p:txBody>
      </p:sp>
      <p:sp>
        <p:nvSpPr>
          <p:cNvPr id="3" name="文本框 2">
            <a:extLst>
              <a:ext uri="{FF2B5EF4-FFF2-40B4-BE49-F238E27FC236}">
                <a16:creationId xmlns:a16="http://schemas.microsoft.com/office/drawing/2014/main" id="{01092C44-C2E5-0280-BE37-0F7DCF46F909}"/>
              </a:ext>
            </a:extLst>
          </p:cNvPr>
          <p:cNvSpPr txBox="1"/>
          <p:nvPr/>
        </p:nvSpPr>
        <p:spPr>
          <a:xfrm>
            <a:off x="473073" y="3437532"/>
            <a:ext cx="3344863" cy="88107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nSpc>
                <a:spcPct val="150000"/>
              </a:lnSpc>
            </a:pPr>
            <a:r>
              <a:rPr lang="zh-CN" altLang="zh-CN" dirty="0"/>
              <a:t>requests/missing.req</a:t>
            </a:r>
            <a:endParaRPr lang="en-US" altLang="zh-CN" dirty="0"/>
          </a:p>
          <a:p>
            <a:pPr>
              <a:lnSpc>
                <a:spcPct val="150000"/>
              </a:lnSpc>
            </a:pPr>
            <a:r>
              <a:rPr lang="zh-CN" altLang="zh-CN" dirty="0"/>
              <a:t>GET /not-found</a:t>
            </a:r>
          </a:p>
        </p:txBody>
      </p:sp>
      <p:sp>
        <p:nvSpPr>
          <p:cNvPr id="4" name="右箭头 3">
            <a:extLst>
              <a:ext uri="{FF2B5EF4-FFF2-40B4-BE49-F238E27FC236}">
                <a16:creationId xmlns:a16="http://schemas.microsoft.com/office/drawing/2014/main" id="{EDF846C9-9B17-4A31-6E4B-E992C54C02CD}"/>
              </a:ext>
            </a:extLst>
          </p:cNvPr>
          <p:cNvSpPr/>
          <p:nvPr/>
        </p:nvSpPr>
        <p:spPr>
          <a:xfrm>
            <a:off x="3851920" y="2127083"/>
            <a:ext cx="720080" cy="7200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2BDF6E45-4F90-BFFE-46B8-6DE41E6652D5}"/>
              </a:ext>
            </a:extLst>
          </p:cNvPr>
          <p:cNvSpPr txBox="1"/>
          <p:nvPr/>
        </p:nvSpPr>
        <p:spPr>
          <a:xfrm>
            <a:off x="4666902" y="702028"/>
            <a:ext cx="4094163" cy="147732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r>
              <a:rPr lang="zh-CN" altLang="zh-CN" dirty="0"/>
              <a:t>outputs/hello.out</a:t>
            </a:r>
          </a:p>
          <a:p>
            <a:r>
              <a:rPr lang="zh-CN" altLang="zh-CN" dirty="0"/>
              <a:t>HTTP/1.1 200 OK</a:t>
            </a:r>
          </a:p>
          <a:p>
            <a:r>
              <a:rPr lang="zh-CN" altLang="zh-CN" dirty="0"/>
              <a:t>Content-Type: text/html</a:t>
            </a:r>
          </a:p>
          <a:p>
            <a:r>
              <a:rPr lang="zh-CN" altLang="zh-CN" dirty="0"/>
              <a:t>Content-Length: 12</a:t>
            </a:r>
          </a:p>
          <a:p>
            <a:r>
              <a:rPr lang="zh-CN" altLang="zh-CN" dirty="0"/>
              <a:t>Hello, Web!</a:t>
            </a:r>
          </a:p>
        </p:txBody>
      </p:sp>
      <p:sp>
        <p:nvSpPr>
          <p:cNvPr id="10" name="文本框 9">
            <a:extLst>
              <a:ext uri="{FF2B5EF4-FFF2-40B4-BE49-F238E27FC236}">
                <a16:creationId xmlns:a16="http://schemas.microsoft.com/office/drawing/2014/main" id="{9025E88F-6C96-137B-386E-C9B2126DB863}"/>
              </a:ext>
            </a:extLst>
          </p:cNvPr>
          <p:cNvSpPr txBox="1"/>
          <p:nvPr/>
        </p:nvSpPr>
        <p:spPr>
          <a:xfrm>
            <a:off x="4678405" y="2523997"/>
            <a:ext cx="4418652"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r>
              <a:rPr lang="zh-CN" altLang="zh-CN" dirty="0"/>
              <a:t>outputs/user_find.out</a:t>
            </a:r>
          </a:p>
          <a:p>
            <a:r>
              <a:rPr lang="zh-CN" altLang="zh-CN" dirty="0"/>
              <a:t>FOUND zhangsan 123456 13800000000</a:t>
            </a:r>
          </a:p>
        </p:txBody>
      </p:sp>
      <p:sp>
        <p:nvSpPr>
          <p:cNvPr id="11" name="文本框 10">
            <a:extLst>
              <a:ext uri="{FF2B5EF4-FFF2-40B4-BE49-F238E27FC236}">
                <a16:creationId xmlns:a16="http://schemas.microsoft.com/office/drawing/2014/main" id="{D8D7F2D7-E4C6-857E-1ACC-C2B7611AA136}"/>
              </a:ext>
            </a:extLst>
          </p:cNvPr>
          <p:cNvSpPr txBox="1"/>
          <p:nvPr/>
        </p:nvSpPr>
        <p:spPr>
          <a:xfrm>
            <a:off x="4678405" y="3641779"/>
            <a:ext cx="4094163"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r>
              <a:rPr lang="zh-CN" altLang="zh-CN" dirty="0"/>
              <a:t>outputs/missing.out</a:t>
            </a:r>
            <a:endParaRPr lang="en-US" altLang="zh-CN" dirty="0"/>
          </a:p>
          <a:p>
            <a:r>
              <a:rPr lang="zh-CN" altLang="zh-CN" dirty="0"/>
              <a:t>HTTP/1.1 404 Not Found</a:t>
            </a:r>
          </a:p>
        </p:txBody>
      </p:sp>
    </p:spTree>
    <p:extLst>
      <p:ext uri="{BB962C8B-B14F-4D97-AF65-F5344CB8AC3E}">
        <p14:creationId xmlns:p14="http://schemas.microsoft.com/office/powerpoint/2010/main" val="1902876609"/>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783D-249B-E457-0350-8F8F278356D6}"/>
            </a:ext>
          </a:extLst>
        </p:cNvPr>
        <p:cNvGrpSpPr/>
        <p:nvPr/>
      </p:nvGrpSpPr>
      <p:grpSpPr>
        <a:xfrm>
          <a:off x="0" y="0"/>
          <a:ext cx="0" cy="0"/>
          <a:chOff x="0" y="0"/>
          <a:chExt cx="0" cy="0"/>
        </a:xfrm>
      </p:grpSpPr>
      <p:sp>
        <p:nvSpPr>
          <p:cNvPr id="86017" name="文本框 3">
            <a:extLst>
              <a:ext uri="{FF2B5EF4-FFF2-40B4-BE49-F238E27FC236}">
                <a16:creationId xmlns:a16="http://schemas.microsoft.com/office/drawing/2014/main" id="{32907A6B-12B4-AE15-D0AE-38BAE823BADB}"/>
              </a:ext>
            </a:extLst>
          </p:cNvPr>
          <p:cNvSpPr txBox="1"/>
          <p:nvPr/>
        </p:nvSpPr>
        <p:spPr>
          <a:xfrm>
            <a:off x="246708" y="2283718"/>
            <a:ext cx="4101981" cy="273094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a:lnSpc>
                <a:spcPct val="150000"/>
              </a:lnSpc>
            </a:pPr>
            <a:r>
              <a:rPr lang="zh-CN" altLang="zh-CN" sz="2000" dirty="0"/>
              <a:t>父进程先扫描 requests/</a:t>
            </a:r>
          </a:p>
          <a:p>
            <a:pPr>
              <a:lnSpc>
                <a:spcPct val="150000"/>
              </a:lnSpc>
            </a:pPr>
            <a:r>
              <a:rPr lang="zh-CN" altLang="zh-CN" sz="2000" dirty="0"/>
              <a:t>父进程把任务路径放到request_queue</a:t>
            </a:r>
          </a:p>
          <a:p>
            <a:pPr>
              <a:lnSpc>
                <a:spcPct val="150000"/>
              </a:lnSpc>
            </a:pPr>
            <a:r>
              <a:rPr lang="zh-CN" altLang="zh-CN" sz="2000" dirty="0"/>
              <a:t>父进程</a:t>
            </a:r>
            <a:r>
              <a:rPr lang="zh-CN" altLang="en-US" sz="2000" dirty="0"/>
              <a:t>生成</a:t>
            </a:r>
            <a:r>
              <a:rPr lang="zh-CN" altLang="zh-CN" sz="2000" b="1" dirty="0">
                <a:solidFill>
                  <a:srgbClr val="FF0000"/>
                </a:solidFill>
              </a:rPr>
              <a:t>多个</a:t>
            </a:r>
            <a:r>
              <a:rPr lang="zh-CN" altLang="zh-CN" sz="2000" dirty="0"/>
              <a:t> worker</a:t>
            </a:r>
            <a:r>
              <a:rPr lang="zh-CN" altLang="en-US" sz="2000" dirty="0"/>
              <a:t>线程</a:t>
            </a:r>
            <a:endParaRPr lang="zh-CN" altLang="zh-CN" sz="2000" dirty="0"/>
          </a:p>
          <a:p>
            <a:pPr>
              <a:lnSpc>
                <a:spcPct val="150000"/>
              </a:lnSpc>
            </a:pPr>
            <a:r>
              <a:rPr lang="zh-CN" altLang="zh-CN" sz="2000" dirty="0"/>
              <a:t>每个 worker</a:t>
            </a:r>
            <a:r>
              <a:rPr lang="zh-CN" altLang="en-US" sz="2000" dirty="0"/>
              <a:t>都从队列取任务</a:t>
            </a:r>
            <a:endParaRPr lang="zh-CN" altLang="zh-CN" sz="2000" dirty="0"/>
          </a:p>
        </p:txBody>
      </p:sp>
      <p:sp>
        <p:nvSpPr>
          <p:cNvPr id="86018" name="标题 1">
            <a:extLst>
              <a:ext uri="{FF2B5EF4-FFF2-40B4-BE49-F238E27FC236}">
                <a16:creationId xmlns:a16="http://schemas.microsoft.com/office/drawing/2014/main" id="{19F9E8AD-0837-E478-75C7-06E51AE63B06}"/>
              </a:ext>
            </a:extLst>
          </p:cNvPr>
          <p:cNvSpPr>
            <a:spLocks noGrp="1"/>
          </p:cNvSpPr>
          <p:nvPr>
            <p:ph type="title"/>
          </p:nvPr>
        </p:nvSpPr>
        <p:spPr>
          <a:xfrm>
            <a:off x="486568" y="55649"/>
            <a:ext cx="8170863" cy="592137"/>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V0.5</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en-US" altLang="zh-CN" sz="1800" kern="1200" dirty="0" err="1">
                <a:solidFill>
                  <a:srgbClr val="0070C0"/>
                </a:solidFill>
                <a:latin typeface="微软雅黑" panose="020B0503020204020204" pitchFamily="34" charset="-122"/>
                <a:ea typeface="微软雅黑" panose="020B0503020204020204" pitchFamily="34" charset="-122"/>
                <a:cs typeface="+mj-cs"/>
              </a:rPr>
              <a:t>mini_webserver</a:t>
            </a:r>
            <a:r>
              <a:rPr lang="en-US" altLang="zh-CN" sz="1800" kern="1200" dirty="0">
                <a:solidFill>
                  <a:srgbClr val="0070C0"/>
                </a:solidFill>
                <a:latin typeface="微软雅黑" panose="020B0503020204020204" pitchFamily="34" charset="-122"/>
                <a:ea typeface="微软雅黑" panose="020B0503020204020204" pitchFamily="34" charset="-122"/>
                <a:cs typeface="+mj-cs"/>
              </a:rPr>
              <a:t>-</a:t>
            </a:r>
            <a:endParaRPr lang="en-US" altLang="en-US" sz="1800" kern="1200" dirty="0">
              <a:solidFill>
                <a:srgbClr val="FF0000"/>
              </a:solidFill>
              <a:latin typeface="微软雅黑" panose="020B0503020204020204" pitchFamily="34" charset="-122"/>
              <a:ea typeface="微软雅黑" panose="020B0503020204020204" pitchFamily="34" charset="-122"/>
              <a:cs typeface="+mj-cs"/>
            </a:endParaRPr>
          </a:p>
        </p:txBody>
      </p:sp>
      <p:sp>
        <p:nvSpPr>
          <p:cNvPr id="2" name="矩形 1">
            <a:extLst>
              <a:ext uri="{FF2B5EF4-FFF2-40B4-BE49-F238E27FC236}">
                <a16:creationId xmlns:a16="http://schemas.microsoft.com/office/drawing/2014/main" id="{1D6ADC4C-5A66-239C-D0ED-2204FC4BC2F9}"/>
              </a:ext>
            </a:extLst>
          </p:cNvPr>
          <p:cNvSpPr/>
          <p:nvPr/>
        </p:nvSpPr>
        <p:spPr>
          <a:xfrm>
            <a:off x="317478" y="1842457"/>
            <a:ext cx="3960439"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父线程</a:t>
            </a:r>
          </a:p>
        </p:txBody>
      </p:sp>
      <p:sp>
        <p:nvSpPr>
          <p:cNvPr id="3" name="矩形 2">
            <a:extLst>
              <a:ext uri="{FF2B5EF4-FFF2-40B4-BE49-F238E27FC236}">
                <a16:creationId xmlns:a16="http://schemas.microsoft.com/office/drawing/2014/main" id="{346339B7-846B-78FB-49D5-CB5230511D02}"/>
              </a:ext>
            </a:extLst>
          </p:cNvPr>
          <p:cNvSpPr/>
          <p:nvPr/>
        </p:nvSpPr>
        <p:spPr>
          <a:xfrm>
            <a:off x="4986314" y="1851670"/>
            <a:ext cx="3960439" cy="43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t>子线程</a:t>
            </a:r>
          </a:p>
        </p:txBody>
      </p:sp>
      <p:sp>
        <p:nvSpPr>
          <p:cNvPr id="4" name="文本框 3">
            <a:extLst>
              <a:ext uri="{FF2B5EF4-FFF2-40B4-BE49-F238E27FC236}">
                <a16:creationId xmlns:a16="http://schemas.microsoft.com/office/drawing/2014/main" id="{047E03C8-F9FA-3A0E-35BF-2D861629A406}"/>
              </a:ext>
            </a:extLst>
          </p:cNvPr>
          <p:cNvSpPr txBox="1"/>
          <p:nvPr/>
        </p:nvSpPr>
        <p:spPr>
          <a:xfrm>
            <a:off x="4855049" y="2384588"/>
            <a:ext cx="4288353" cy="2346220"/>
          </a:xfrm>
          <a:prstGeom prst="rect">
            <a:avLst/>
          </a:prstGeom>
          <a:noFill/>
        </p:spPr>
        <p:txBody>
          <a:bodyPr wrap="none" rtlCol="0">
            <a:spAutoFit/>
          </a:bodyPr>
          <a:lstStyle/>
          <a:p>
            <a:pPr>
              <a:lnSpc>
                <a:spcPct val="150000"/>
              </a:lnSpc>
            </a:pPr>
            <a:r>
              <a:rPr lang="zh-CN" altLang="en-US" sz="2000" dirty="0">
                <a:latin typeface="Microsoft YaHei" panose="020B0503020204020204" pitchFamily="34" charset="-122"/>
                <a:ea typeface="Microsoft YaHei" panose="020B0503020204020204" pitchFamily="34" charset="-122"/>
              </a:rPr>
              <a:t>根据信号量决定是否去共享队列获取</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dirty="0">
                <a:latin typeface="Microsoft YaHei" panose="020B0503020204020204" pitchFamily="34" charset="-122"/>
                <a:ea typeface="Microsoft YaHei" panose="020B0503020204020204" pitchFamily="34" charset="-122"/>
              </a:rPr>
              <a:t>获取请求后</a:t>
            </a:r>
            <a:r>
              <a:rPr lang="zh-CN" altLang="zh-CN" sz="2000" dirty="0">
                <a:latin typeface="Microsoft YaHei" panose="020B0503020204020204" pitchFamily="34" charset="-122"/>
                <a:ea typeface="Microsoft YaHei" panose="020B0503020204020204" pitchFamily="34" charset="-122"/>
              </a:rPr>
              <a:t>处理请求</a:t>
            </a:r>
          </a:p>
          <a:p>
            <a:pPr>
              <a:lnSpc>
                <a:spcPct val="150000"/>
              </a:lnSpc>
            </a:pPr>
            <a:r>
              <a:rPr lang="zh-CN" altLang="zh-CN" sz="2000" dirty="0">
                <a:latin typeface="Microsoft YaHei" panose="020B0503020204020204" pitchFamily="34" charset="-122"/>
                <a:ea typeface="Microsoft YaHei" panose="020B0503020204020204" pitchFamily="34" charset="-122"/>
              </a:rPr>
              <a:t>输出结果到 outputs/</a:t>
            </a:r>
            <a:endParaRPr lang="en-US" altLang="zh-CN" sz="2000" dirty="0">
              <a:latin typeface="Microsoft YaHei" panose="020B0503020204020204" pitchFamily="34" charset="-122"/>
              <a:ea typeface="Microsoft YaHei" panose="020B0503020204020204" pitchFamily="34" charset="-122"/>
            </a:endParaRPr>
          </a:p>
          <a:p>
            <a:pPr>
              <a:lnSpc>
                <a:spcPct val="150000"/>
              </a:lnSpc>
            </a:pPr>
            <a:r>
              <a:rPr lang="zh-CN" altLang="en-US" sz="2000" dirty="0">
                <a:latin typeface="Microsoft YaHei" panose="020B0503020204020204" pitchFamily="34" charset="-122"/>
                <a:ea typeface="Microsoft YaHei" panose="020B0503020204020204" pitchFamily="34" charset="-122"/>
              </a:rPr>
              <a:t>继续根据信号量获取新请求</a:t>
            </a:r>
            <a:endParaRPr lang="zh-CN" altLang="zh-CN" sz="2000" dirty="0">
              <a:latin typeface="Microsoft YaHei" panose="020B0503020204020204" pitchFamily="34" charset="-122"/>
              <a:ea typeface="Microsoft YaHei" panose="020B0503020204020204" pitchFamily="34" charset="-122"/>
            </a:endParaRPr>
          </a:p>
          <a:p>
            <a:pPr>
              <a:lnSpc>
                <a:spcPct val="150000"/>
              </a:lnSpc>
            </a:pPr>
            <a:endParaRPr kumimoji="1" lang="zh-CN" altLang="en-US" sz="2000" dirty="0">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F6F4157E-B202-080C-56E0-B37978DC104C}"/>
              </a:ext>
            </a:extLst>
          </p:cNvPr>
          <p:cNvSpPr/>
          <p:nvPr/>
        </p:nvSpPr>
        <p:spPr>
          <a:xfrm>
            <a:off x="173462" y="4406772"/>
            <a:ext cx="4175227" cy="6480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7" name="直线箭头连接符 6">
            <a:extLst>
              <a:ext uri="{FF2B5EF4-FFF2-40B4-BE49-F238E27FC236}">
                <a16:creationId xmlns:a16="http://schemas.microsoft.com/office/drawing/2014/main" id="{892E94FB-6DA4-A86B-0A03-322A573A5520}"/>
              </a:ext>
            </a:extLst>
          </p:cNvPr>
          <p:cNvCxnSpPr>
            <a:cxnSpLocks/>
            <a:stCxn id="5" idx="3"/>
            <a:endCxn id="3" idx="1"/>
          </p:cNvCxnSpPr>
          <p:nvPr/>
        </p:nvCxnSpPr>
        <p:spPr>
          <a:xfrm flipV="1">
            <a:off x="4348689" y="2067694"/>
            <a:ext cx="637625" cy="2663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27C9F175-0F09-8BBC-55C1-C9C1D56CADC2}"/>
              </a:ext>
            </a:extLst>
          </p:cNvPr>
          <p:cNvSpPr txBox="1"/>
          <p:nvPr/>
        </p:nvSpPr>
        <p:spPr>
          <a:xfrm>
            <a:off x="282216" y="793379"/>
            <a:ext cx="8710246" cy="707886"/>
          </a:xfrm>
          <a:prstGeom prst="rect">
            <a:avLst/>
          </a:prstGeom>
          <a:noFill/>
        </p:spPr>
        <p:txBody>
          <a:bodyPr wrap="square">
            <a:spAutoFit/>
          </a:bodyPr>
          <a:lstStyle/>
          <a:p>
            <a:r>
              <a:rPr lang="zh-CN" altLang="zh-CN" sz="2000" dirty="0">
                <a:latin typeface="Microsoft YaHei" panose="020B0503020204020204" pitchFamily="34" charset="-122"/>
                <a:ea typeface="Microsoft YaHei" panose="020B0503020204020204" pitchFamily="34" charset="-122"/>
              </a:rPr>
              <a:t>用请求文件模拟客户端请求。父进程负责扫描请求目录，把请求加入队列；多个子进程从队列中取任务并处理。</a:t>
            </a:r>
            <a:endParaRPr lang="zh-CN" alt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06084303"/>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文本框 3"/>
          <p:cNvSpPr txBox="1"/>
          <p:nvPr/>
        </p:nvSpPr>
        <p:spPr>
          <a:xfrm>
            <a:off x="474662" y="498730"/>
            <a:ext cx="8609013" cy="4654031"/>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285750" lvl="0" indent="-285750" eaLnBrk="1" hangingPunct="1">
              <a:lnSpc>
                <a:spcPct val="150000"/>
              </a:lnSpc>
              <a:spcBef>
                <a:spcPct val="0"/>
              </a:spcBef>
            </a:pPr>
            <a:r>
              <a:rPr lang="zh-CN" altLang="zh-CN" sz="2000" dirty="0"/>
              <a:t>主线程扫描 requests/</a:t>
            </a:r>
            <a:endParaRPr lang="en-US" altLang="zh-CN" sz="2000" dirty="0"/>
          </a:p>
          <a:p>
            <a:pPr marL="285750" lvl="0" indent="-285750" eaLnBrk="1" hangingPunct="1">
              <a:lnSpc>
                <a:spcPct val="150000"/>
              </a:lnSpc>
              <a:spcBef>
                <a:spcPct val="0"/>
              </a:spcBef>
            </a:pPr>
            <a:r>
              <a:rPr lang="zh-CN" altLang="zh-CN" sz="2000" dirty="0"/>
              <a:t>主线程把请求路径放入共享队列</a:t>
            </a:r>
            <a:endParaRPr lang="en-US" altLang="zh-CN" sz="2000" dirty="0"/>
          </a:p>
          <a:p>
            <a:pPr marL="285750" lvl="0" indent="-285750" eaLnBrk="1" hangingPunct="1">
              <a:lnSpc>
                <a:spcPct val="150000"/>
              </a:lnSpc>
              <a:spcBef>
                <a:spcPct val="0"/>
              </a:spcBef>
            </a:pPr>
            <a:r>
              <a:rPr lang="zh-CN" altLang="zh-CN" sz="2000" dirty="0"/>
              <a:t>创建指定数量 worker 线程</a:t>
            </a:r>
            <a:endParaRPr lang="en-US" altLang="zh-CN" sz="2000" dirty="0"/>
          </a:p>
          <a:p>
            <a:pPr marL="285750" lvl="0" indent="-285750" eaLnBrk="1" hangingPunct="1">
              <a:lnSpc>
                <a:spcPct val="150000"/>
              </a:lnSpc>
              <a:spcBef>
                <a:spcPct val="0"/>
              </a:spcBef>
            </a:pPr>
            <a:r>
              <a:rPr lang="zh-CN" altLang="zh-CN" sz="2000" dirty="0"/>
              <a:t>worker 线程从队列取任务</a:t>
            </a:r>
            <a:endParaRPr lang="en-US" altLang="zh-CN" sz="2000" dirty="0"/>
          </a:p>
          <a:p>
            <a:pPr marL="285750" lvl="0" indent="-285750" eaLnBrk="1" hangingPunct="1">
              <a:lnSpc>
                <a:spcPct val="150000"/>
              </a:lnSpc>
              <a:spcBef>
                <a:spcPct val="0"/>
              </a:spcBef>
            </a:pPr>
            <a:r>
              <a:rPr lang="zh-CN" altLang="zh-CN" sz="2000" dirty="0"/>
              <a:t>每个请求只处理一次</a:t>
            </a:r>
            <a:endParaRPr lang="en-US" altLang="zh-CN" sz="2000" dirty="0"/>
          </a:p>
          <a:p>
            <a:pPr marL="285750" lvl="0" indent="-285750" eaLnBrk="1" hangingPunct="1">
              <a:lnSpc>
                <a:spcPct val="150000"/>
              </a:lnSpc>
              <a:spcBef>
                <a:spcPct val="0"/>
              </a:spcBef>
            </a:pPr>
            <a:r>
              <a:rPr lang="zh-CN" altLang="zh-CN" sz="2000" dirty="0"/>
              <a:t>输出结果写入 outputs/</a:t>
            </a:r>
            <a:endParaRPr lang="en-US" altLang="zh-CN" sz="2000" dirty="0"/>
          </a:p>
          <a:p>
            <a:pPr marL="285750" lvl="0" indent="-285750" eaLnBrk="1" hangingPunct="1">
              <a:lnSpc>
                <a:spcPct val="150000"/>
              </a:lnSpc>
              <a:spcBef>
                <a:spcPct val="0"/>
              </a:spcBef>
            </a:pPr>
            <a:r>
              <a:rPr lang="zh-CN" altLang="zh-CN" sz="2000" dirty="0"/>
              <a:t>用</a:t>
            </a:r>
            <a:r>
              <a:rPr lang="zh-CN" altLang="zh-CN" sz="2000" b="1" dirty="0">
                <a:solidFill>
                  <a:srgbClr val="FF0000"/>
                </a:solidFill>
              </a:rPr>
              <a:t>互斥量</a:t>
            </a:r>
            <a:r>
              <a:rPr lang="zh-CN" altLang="zh-CN" sz="2000" dirty="0"/>
              <a:t>保护请求队列</a:t>
            </a:r>
            <a:endParaRPr lang="en-US" altLang="zh-CN" sz="2000" dirty="0"/>
          </a:p>
          <a:p>
            <a:pPr marL="285750" lvl="0" indent="-285750" eaLnBrk="1" hangingPunct="1">
              <a:lnSpc>
                <a:spcPct val="150000"/>
              </a:lnSpc>
              <a:spcBef>
                <a:spcPct val="0"/>
              </a:spcBef>
            </a:pPr>
            <a:r>
              <a:rPr lang="zh-CN" altLang="zh-CN" sz="2000" dirty="0"/>
              <a:t>用</a:t>
            </a:r>
            <a:r>
              <a:rPr lang="zh-CN" altLang="zh-CN" sz="2000" b="1" dirty="0">
                <a:solidFill>
                  <a:srgbClr val="FF0000"/>
                </a:solidFill>
              </a:rPr>
              <a:t>条件变量</a:t>
            </a:r>
            <a:r>
              <a:rPr lang="zh-CN" altLang="zh-CN" sz="2000" dirty="0"/>
              <a:t>等待任务</a:t>
            </a:r>
            <a:endParaRPr lang="en-US" altLang="zh-CN" sz="2000" dirty="0"/>
          </a:p>
          <a:p>
            <a:pPr marL="285750" lvl="0" indent="-285750" eaLnBrk="1" hangingPunct="1">
              <a:lnSpc>
                <a:spcPct val="150000"/>
              </a:lnSpc>
              <a:spcBef>
                <a:spcPct val="0"/>
              </a:spcBef>
            </a:pPr>
            <a:r>
              <a:rPr lang="zh-CN" altLang="zh-CN" sz="2000" dirty="0"/>
              <a:t>用互斥量保护统计数据</a:t>
            </a:r>
            <a:endParaRPr lang="en-US" altLang="zh-CN" sz="2000" dirty="0"/>
          </a:p>
          <a:p>
            <a:pPr marL="285750" lvl="0" indent="-285750" eaLnBrk="1" hangingPunct="1">
              <a:lnSpc>
                <a:spcPct val="150000"/>
              </a:lnSpc>
              <a:spcBef>
                <a:spcPct val="0"/>
              </a:spcBef>
            </a:pPr>
            <a:r>
              <a:rPr lang="zh-CN" altLang="zh-CN" sz="2000" dirty="0"/>
              <a:t>主线程用 pthread_join 等待所有 worker 结束</a:t>
            </a:r>
            <a:endParaRPr lang="zh-CN" altLang="en-US" sz="2000" dirty="0">
              <a:latin typeface="Arial" panose="020B0604020202090204" pitchFamily="34" charset="0"/>
            </a:endParaRPr>
          </a:p>
        </p:txBody>
      </p:sp>
      <p:sp>
        <p:nvSpPr>
          <p:cNvPr id="86018" name="标题 1"/>
          <p:cNvSpPr>
            <a:spLocks noGrp="1"/>
          </p:cNvSpPr>
          <p:nvPr>
            <p:ph type="title"/>
          </p:nvPr>
        </p:nvSpPr>
        <p:spPr>
          <a:xfrm>
            <a:off x="498475" y="51470"/>
            <a:ext cx="8170863" cy="592137"/>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V0.5</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en-US" altLang="zh-CN" sz="1800" kern="1200" dirty="0" err="1">
                <a:solidFill>
                  <a:srgbClr val="0070C0"/>
                </a:solidFill>
                <a:latin typeface="微软雅黑" panose="020B0503020204020204" pitchFamily="34" charset="-122"/>
                <a:ea typeface="微软雅黑" panose="020B0503020204020204" pitchFamily="34" charset="-122"/>
                <a:cs typeface="+mj-cs"/>
              </a:rPr>
              <a:t>mini_webserver</a:t>
            </a:r>
            <a:r>
              <a:rPr lang="en-US" altLang="zh-CN" sz="1800" kern="1200" dirty="0">
                <a:solidFill>
                  <a:srgbClr val="0070C0"/>
                </a:solidFill>
                <a:latin typeface="微软雅黑" panose="020B0503020204020204" pitchFamily="34" charset="-122"/>
                <a:ea typeface="微软雅黑" panose="020B0503020204020204" pitchFamily="34" charset="-122"/>
                <a:cs typeface="+mj-cs"/>
              </a:rPr>
              <a:t>-</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检查内容</a:t>
            </a:r>
            <a:endParaRPr lang="en-US"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H" val="20161020164557"/>
  <p:tag name="MH_LIBRARY" val="CONTENTS"/>
  <p:tag name="MH_TYPE" val="ENTRY"/>
  <p:tag name="ID" val="553515"/>
  <p:tag name="MH_ORDER" val="1"/>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ʾĸģ�</Template>
  <TotalTime>934</TotalTime>
  <Pages>28</Pages>
  <Words>2540</Words>
  <Application>Microsoft Macintosh PowerPoint</Application>
  <PresentationFormat>全屏显示(16:9)</PresentationFormat>
  <Paragraphs>293</Paragraphs>
  <Slides>35</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等线</vt:lpstr>
      <vt:lpstr>等线 Light</vt:lpstr>
      <vt:lpstr>黑体</vt:lpstr>
      <vt:lpstr>微软雅黑</vt:lpstr>
      <vt:lpstr>微软雅黑</vt:lpstr>
      <vt:lpstr>Arial</vt:lpstr>
      <vt:lpstr>Times New Roman</vt:lpstr>
      <vt:lpstr>Wingdings</vt:lpstr>
      <vt:lpstr>自定义设计方案</vt:lpstr>
      <vt:lpstr>W1D5:Linux操作系统并发编程之多线程</vt:lpstr>
      <vt:lpstr>讲授内容</vt:lpstr>
      <vt:lpstr>Linux操作系统并发编程之多线程</vt:lpstr>
      <vt:lpstr>Linux操作系统并发编程之多线程</vt:lpstr>
      <vt:lpstr>训练原理：线程的创建</vt:lpstr>
      <vt:lpstr>训练原理：线程的创建</vt:lpstr>
      <vt:lpstr>训练原理：线程的设计</vt:lpstr>
      <vt:lpstr>训练原理：线程的设计</vt:lpstr>
      <vt:lpstr>训练原理：线程的设计</vt:lpstr>
      <vt:lpstr>训练原理：线程的设计</vt:lpstr>
      <vt:lpstr>训练原理：pthread_exit函数</vt:lpstr>
      <vt:lpstr>训练原理：线程的数据共享</vt:lpstr>
      <vt:lpstr>训练原理：线程的数据共享</vt:lpstr>
      <vt:lpstr>训练原理：父线程等待子线程终止</vt:lpstr>
      <vt:lpstr>训练原理：父线程等待子线程终止</vt:lpstr>
      <vt:lpstr>训练原理：创建并等待子线程代码示例</vt:lpstr>
      <vt:lpstr>Linux编程技巧</vt:lpstr>
      <vt:lpstr>训练原理：哲学家进餐</vt:lpstr>
      <vt:lpstr>训练原理：哲学家进餐问题的程序实现</vt:lpstr>
      <vt:lpstr>PowerPoint 演示文稿</vt:lpstr>
      <vt:lpstr>训练原理：哲学家进餐问题的程序实现</vt:lpstr>
      <vt:lpstr>训练原理：拿起放下筷子操作</vt:lpstr>
      <vt:lpstr>训练原理：互斥量的操作</vt:lpstr>
      <vt:lpstr>训练原理：互斥量初始化</vt:lpstr>
      <vt:lpstr>训练原理：互斥量销毁</vt:lpstr>
      <vt:lpstr>训练原理：互斥量的加锁和解锁操作</vt:lpstr>
      <vt:lpstr>训练原理：非阻塞加锁</vt:lpstr>
      <vt:lpstr>POSIX信号量</vt:lpstr>
      <vt:lpstr>训练</vt:lpstr>
      <vt:lpstr>Webserver V0.5版 </vt:lpstr>
      <vt:lpstr>PowerPoint 演示文稿</vt:lpstr>
      <vt:lpstr>V0.5版 mini_webserver</vt:lpstr>
      <vt:lpstr>V0.5版 mini_webserver</vt:lpstr>
      <vt:lpstr>V0.5版 mini_webserver-</vt:lpstr>
      <vt:lpstr>V0.5版 mini_webserver-检查内容</vt:lpstr>
    </vt:vector>
  </TitlesOfParts>
  <Company>ӿƼ�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ڶ  ļĿ¼�</dc:title>
  <dc:subject>Guide for Creating Powerpoint Presentations</dc:subject>
  <dc:creator>�</dc:creator>
  <cp:lastModifiedBy>256657@qq.com</cp:lastModifiedBy>
  <cp:revision>936</cp:revision>
  <cp:lastPrinted>2026-07-01T08:59:27Z</cp:lastPrinted>
  <dcterms:created xsi:type="dcterms:W3CDTF">2026-07-01T08:59:27Z</dcterms:created>
  <dcterms:modified xsi:type="dcterms:W3CDTF">2026-07-02T01:00:49Z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1</vt:r8>
  </property>
  <property fmtid="{D5CDD505-2E9C-101B-9397-08002B2CF9AE}" pid="3" name="GraphicType">
    <vt:r8>1</vt:r8>
  </property>
  <property fmtid="{D5CDD505-2E9C-101B-9397-08002B2CF9AE}" pid="4" name="Compression">
    <vt:r8>100</vt:r8>
  </property>
  <property fmtid="{D5CDD505-2E9C-101B-9397-08002B2CF9AE}" pid="5" name="ScreenSize">
    <vt:r8>2</vt:r8>
  </property>
  <property fmtid="{D5CDD505-2E9C-101B-9397-08002B2CF9AE}" pid="6" name="ScreenUsage">
    <vt:r8>1</vt:r8>
  </property>
  <property fmtid="{D5CDD505-2E9C-101B-9397-08002B2CF9AE}" pid="7" name="MailAddress">
    <vt:lpwstr>kejohnst@cisco.com</vt:lpwstr>
  </property>
  <property fmtid="{D5CDD505-2E9C-101B-9397-08002B2CF9AE}" pid="8" name="HomePage">
    <vt:lpwstr>cisco.netacad.net</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2</vt:r8>
  </property>
  <property fmtid="{D5CDD505-2E9C-101B-9397-08002B2CF9AE}" pid="19" name="ShowNotes">
    <vt:bool>false</vt:bool>
  </property>
  <property fmtid="{D5CDD505-2E9C-101B-9397-08002B2CF9AE}" pid="20" name="NavBtnPos">
    <vt:r8>4</vt:r8>
  </property>
  <property fmtid="{D5CDD505-2E9C-101B-9397-08002B2CF9AE}" pid="21" name="OutputDir">
    <vt:lpwstr>C:\WINDOWS\Desktop</vt:lpwstr>
  </property>
  <property fmtid="{D5CDD505-2E9C-101B-9397-08002B2CF9AE}" pid="22" name="KSOProductBuildVer">
    <vt:lpwstr>2052-12.1.26016.26016</vt:lpwstr>
  </property>
  <property fmtid="{D5CDD505-2E9C-101B-9397-08002B2CF9AE}" pid="23" name="ICV">
    <vt:lpwstr>C837C62BD3CF912EEFD6446AA1ADAC7C_43</vt:lpwstr>
  </property>
</Properties>
</file>