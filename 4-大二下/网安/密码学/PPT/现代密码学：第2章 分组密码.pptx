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076" r:id="rId1"/>
    <p:sldMasterId id="2147484701" r:id="rId2"/>
    <p:sldMasterId id="2147484771" r:id="rId3"/>
  </p:sldMasterIdLst>
  <p:notesMasterIdLst>
    <p:notesMasterId r:id="rId181"/>
  </p:notesMasterIdLst>
  <p:handoutMasterIdLst>
    <p:handoutMasterId r:id="rId182"/>
  </p:handoutMasterIdLst>
  <p:sldIdLst>
    <p:sldId id="533" r:id="rId4"/>
    <p:sldId id="1223" r:id="rId5"/>
    <p:sldId id="1222" r:id="rId6"/>
    <p:sldId id="611" r:id="rId7"/>
    <p:sldId id="612" r:id="rId8"/>
    <p:sldId id="613" r:id="rId9"/>
    <p:sldId id="614" r:id="rId10"/>
    <p:sldId id="615" r:id="rId11"/>
    <p:sldId id="616" r:id="rId12"/>
    <p:sldId id="617" r:id="rId13"/>
    <p:sldId id="618" r:id="rId14"/>
    <p:sldId id="619" r:id="rId15"/>
    <p:sldId id="620" r:id="rId16"/>
    <p:sldId id="622" r:id="rId17"/>
    <p:sldId id="624" r:id="rId18"/>
    <p:sldId id="625" r:id="rId19"/>
    <p:sldId id="626" r:id="rId20"/>
    <p:sldId id="627" r:id="rId21"/>
    <p:sldId id="628" r:id="rId22"/>
    <p:sldId id="630" r:id="rId23"/>
    <p:sldId id="631" r:id="rId24"/>
    <p:sldId id="632" r:id="rId25"/>
    <p:sldId id="633" r:id="rId26"/>
    <p:sldId id="634" r:id="rId27"/>
    <p:sldId id="635" r:id="rId28"/>
    <p:sldId id="637" r:id="rId29"/>
    <p:sldId id="638" r:id="rId30"/>
    <p:sldId id="639" r:id="rId31"/>
    <p:sldId id="641" r:id="rId32"/>
    <p:sldId id="642" r:id="rId33"/>
    <p:sldId id="643" r:id="rId34"/>
    <p:sldId id="644" r:id="rId35"/>
    <p:sldId id="645" r:id="rId36"/>
    <p:sldId id="646" r:id="rId37"/>
    <p:sldId id="648" r:id="rId38"/>
    <p:sldId id="649" r:id="rId39"/>
    <p:sldId id="650" r:id="rId40"/>
    <p:sldId id="651" r:id="rId41"/>
    <p:sldId id="652" r:id="rId42"/>
    <p:sldId id="653" r:id="rId43"/>
    <p:sldId id="655" r:id="rId44"/>
    <p:sldId id="656" r:id="rId45"/>
    <p:sldId id="657" r:id="rId46"/>
    <p:sldId id="658" r:id="rId47"/>
    <p:sldId id="659" r:id="rId48"/>
    <p:sldId id="660" r:id="rId49"/>
    <p:sldId id="661" r:id="rId50"/>
    <p:sldId id="662" r:id="rId51"/>
    <p:sldId id="664" r:id="rId52"/>
    <p:sldId id="665" r:id="rId53"/>
    <p:sldId id="666" r:id="rId54"/>
    <p:sldId id="667" r:id="rId55"/>
    <p:sldId id="668" r:id="rId56"/>
    <p:sldId id="669" r:id="rId57"/>
    <p:sldId id="670" r:id="rId58"/>
    <p:sldId id="671" r:id="rId59"/>
    <p:sldId id="672" r:id="rId60"/>
    <p:sldId id="674" r:id="rId61"/>
    <p:sldId id="675" r:id="rId62"/>
    <p:sldId id="676" r:id="rId63"/>
    <p:sldId id="808" r:id="rId64"/>
    <p:sldId id="923" r:id="rId65"/>
    <p:sldId id="922" r:id="rId66"/>
    <p:sldId id="677" r:id="rId67"/>
    <p:sldId id="1217" r:id="rId68"/>
    <p:sldId id="1216" r:id="rId69"/>
    <p:sldId id="679" r:id="rId70"/>
    <p:sldId id="680" r:id="rId71"/>
    <p:sldId id="1215" r:id="rId72"/>
    <p:sldId id="682" r:id="rId73"/>
    <p:sldId id="683" r:id="rId74"/>
    <p:sldId id="684" r:id="rId75"/>
    <p:sldId id="685" r:id="rId76"/>
    <p:sldId id="686" r:id="rId77"/>
    <p:sldId id="687" r:id="rId78"/>
    <p:sldId id="688" r:id="rId79"/>
    <p:sldId id="689" r:id="rId80"/>
    <p:sldId id="691" r:id="rId81"/>
    <p:sldId id="692" r:id="rId82"/>
    <p:sldId id="693" r:id="rId83"/>
    <p:sldId id="694" r:id="rId84"/>
    <p:sldId id="696" r:id="rId85"/>
    <p:sldId id="697" r:id="rId86"/>
    <p:sldId id="698" r:id="rId87"/>
    <p:sldId id="699" r:id="rId88"/>
    <p:sldId id="700" r:id="rId89"/>
    <p:sldId id="701" r:id="rId90"/>
    <p:sldId id="703" r:id="rId91"/>
    <p:sldId id="704" r:id="rId92"/>
    <p:sldId id="705" r:id="rId93"/>
    <p:sldId id="707" r:id="rId94"/>
    <p:sldId id="708" r:id="rId95"/>
    <p:sldId id="709" r:id="rId96"/>
    <p:sldId id="710" r:id="rId97"/>
    <p:sldId id="711" r:id="rId98"/>
    <p:sldId id="712" r:id="rId99"/>
    <p:sldId id="713" r:id="rId100"/>
    <p:sldId id="714" r:id="rId101"/>
    <p:sldId id="715" r:id="rId102"/>
    <p:sldId id="716" r:id="rId103"/>
    <p:sldId id="718" r:id="rId104"/>
    <p:sldId id="719" r:id="rId105"/>
    <p:sldId id="722" r:id="rId106"/>
    <p:sldId id="723" r:id="rId107"/>
    <p:sldId id="724" r:id="rId108"/>
    <p:sldId id="725" r:id="rId109"/>
    <p:sldId id="727" r:id="rId110"/>
    <p:sldId id="1219" r:id="rId111"/>
    <p:sldId id="728" r:id="rId112"/>
    <p:sldId id="729" r:id="rId113"/>
    <p:sldId id="730" r:id="rId114"/>
    <p:sldId id="732" r:id="rId115"/>
    <p:sldId id="733" r:id="rId116"/>
    <p:sldId id="734" r:id="rId117"/>
    <p:sldId id="735" r:id="rId118"/>
    <p:sldId id="736" r:id="rId119"/>
    <p:sldId id="737" r:id="rId120"/>
    <p:sldId id="738" r:id="rId121"/>
    <p:sldId id="739" r:id="rId122"/>
    <p:sldId id="740" r:id="rId123"/>
    <p:sldId id="741" r:id="rId124"/>
    <p:sldId id="743" r:id="rId125"/>
    <p:sldId id="744" r:id="rId126"/>
    <p:sldId id="745" r:id="rId127"/>
    <p:sldId id="746" r:id="rId128"/>
    <p:sldId id="747" r:id="rId129"/>
    <p:sldId id="749" r:id="rId130"/>
    <p:sldId id="750" r:id="rId131"/>
    <p:sldId id="751" r:id="rId132"/>
    <p:sldId id="752" r:id="rId133"/>
    <p:sldId id="753" r:id="rId134"/>
    <p:sldId id="754" r:id="rId135"/>
    <p:sldId id="755" r:id="rId136"/>
    <p:sldId id="756" r:id="rId137"/>
    <p:sldId id="758" r:id="rId138"/>
    <p:sldId id="759" r:id="rId139"/>
    <p:sldId id="760" r:id="rId140"/>
    <p:sldId id="761" r:id="rId141"/>
    <p:sldId id="762" r:id="rId142"/>
    <p:sldId id="763" r:id="rId143"/>
    <p:sldId id="764" r:id="rId144"/>
    <p:sldId id="766" r:id="rId145"/>
    <p:sldId id="767" r:id="rId146"/>
    <p:sldId id="768" r:id="rId147"/>
    <p:sldId id="770" r:id="rId148"/>
    <p:sldId id="771" r:id="rId149"/>
    <p:sldId id="772" r:id="rId150"/>
    <p:sldId id="773" r:id="rId151"/>
    <p:sldId id="774" r:id="rId152"/>
    <p:sldId id="776" r:id="rId153"/>
    <p:sldId id="777" r:id="rId154"/>
    <p:sldId id="779" r:id="rId155"/>
    <p:sldId id="780" r:id="rId156"/>
    <p:sldId id="781" r:id="rId157"/>
    <p:sldId id="782" r:id="rId158"/>
    <p:sldId id="783" r:id="rId159"/>
    <p:sldId id="784" r:id="rId160"/>
    <p:sldId id="785" r:id="rId161"/>
    <p:sldId id="786" r:id="rId162"/>
    <p:sldId id="788" r:id="rId163"/>
    <p:sldId id="789" r:id="rId164"/>
    <p:sldId id="790" r:id="rId165"/>
    <p:sldId id="791" r:id="rId166"/>
    <p:sldId id="793" r:id="rId167"/>
    <p:sldId id="794" r:id="rId168"/>
    <p:sldId id="795" r:id="rId169"/>
    <p:sldId id="797" r:id="rId170"/>
    <p:sldId id="798" r:id="rId171"/>
    <p:sldId id="799" r:id="rId172"/>
    <p:sldId id="800" r:id="rId173"/>
    <p:sldId id="801" r:id="rId174"/>
    <p:sldId id="802" r:id="rId175"/>
    <p:sldId id="803" r:id="rId176"/>
    <p:sldId id="805" r:id="rId177"/>
    <p:sldId id="806" r:id="rId178"/>
    <p:sldId id="807" r:id="rId179"/>
    <p:sldId id="1221" r:id="rId180"/>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9">
          <p15:clr>
            <a:srgbClr val="A4A3A4"/>
          </p15:clr>
        </p15:guide>
        <p15:guide id="2" pos="38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5" autoAdjust="0"/>
    <p:restoredTop sz="74275" autoAdjust="0"/>
  </p:normalViewPr>
  <p:slideViewPr>
    <p:cSldViewPr>
      <p:cViewPr varScale="1">
        <p:scale>
          <a:sx n="63" d="100"/>
          <a:sy n="63" d="100"/>
        </p:scale>
        <p:origin x="652" y="52"/>
      </p:cViewPr>
      <p:guideLst>
        <p:guide orient="horz" pos="2219"/>
        <p:guide pos="3831"/>
      </p:guideLst>
    </p:cSldViewPr>
  </p:slideViewPr>
  <p:notesTextViewPr>
    <p:cViewPr>
      <p:scale>
        <a:sx n="100" d="100"/>
        <a:sy n="100" d="100"/>
      </p:scale>
      <p:origin x="0" y="0"/>
    </p:cViewPr>
  </p:notesTextViewPr>
  <p:sorterViewPr>
    <p:cViewPr>
      <p:scale>
        <a:sx n="100" d="100"/>
        <a:sy n="100" d="100"/>
      </p:scale>
      <p:origin x="0" y="-35916"/>
    </p:cViewPr>
  </p:sorterViewPr>
  <p:gridSpacing cx="76198" cy="7619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notesMaster" Target="notesMasters/notesMaster1.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handoutMaster" Target="handoutMasters/handoutMaster1.xml"/><Relationship Id="rId6" Type="http://schemas.openxmlformats.org/officeDocument/2006/relationships/slide" Target="slides/slide3.xml"/><Relationship Id="rId23" Type="http://schemas.openxmlformats.org/officeDocument/2006/relationships/slide" Target="slides/slide20.xml"/><Relationship Id="rId119" Type="http://schemas.openxmlformats.org/officeDocument/2006/relationships/slide" Target="slides/slide116.xml"/><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172" Type="http://schemas.openxmlformats.org/officeDocument/2006/relationships/slide" Target="slides/slide169.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183"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tableStyles" Target="tableStyles.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 Type="http://schemas.openxmlformats.org/officeDocument/2006/relationships/slideMaster" Target="slideMasters/slideMaster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image" Target="../media/image3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AED87AE-12FB-1C4E-B1CC-56D34C8B8D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a:extLst>
              <a:ext uri="{FF2B5EF4-FFF2-40B4-BE49-F238E27FC236}">
                <a16:creationId xmlns:a16="http://schemas.microsoft.com/office/drawing/2014/main" id="{B4F944C3-1D52-A64C-850B-B15A308FDB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0F9B84EA-7D68-4D60-9CB1-D50884785D1C}" type="datetimeFigureOut">
              <a:rPr lang="zh-CN" altLang="en-US"/>
              <a:pPr/>
              <a:t>2024/3/15</a:t>
            </a:fld>
            <a:endParaRPr lang="zh-CN" altLang="en-US"/>
          </a:p>
        </p:txBody>
      </p:sp>
      <p:sp>
        <p:nvSpPr>
          <p:cNvPr id="4" name="页脚占位符 3">
            <a:extLst>
              <a:ext uri="{FF2B5EF4-FFF2-40B4-BE49-F238E27FC236}">
                <a16:creationId xmlns:a16="http://schemas.microsoft.com/office/drawing/2014/main" id="{0440B804-E6C7-F74E-A827-8272C6FFD8E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5" name="灯片编号占位符 4">
            <a:extLst>
              <a:ext uri="{FF2B5EF4-FFF2-40B4-BE49-F238E27FC236}">
                <a16:creationId xmlns:a16="http://schemas.microsoft.com/office/drawing/2014/main" id="{8F956575-1768-2A45-B8CF-75AEE167C84E}"/>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b="1">
                <a:solidFill>
                  <a:srgbClr val="898989"/>
                </a:solidFill>
              </a:defRPr>
            </a:lvl1pPr>
          </a:lstStyle>
          <a:p>
            <a:fld id="{E433EC0B-27AC-AA48-9867-4C4FE97E5890}" type="slidenum">
              <a:rPr lang="zh-CN" altLang="en-US"/>
              <a:pPr/>
              <a:t>‹#›</a:t>
            </a:fld>
            <a:endParaRPr lang="zh-CN" altLang="en-US">
              <a:latin typeface="Calibri" panose="020F0502020204030204" pitchFamily="34" charset="0"/>
              <a:ea typeface="仿宋" pitchFamily="49"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FFFDD04-8897-B647-AE9A-053FCAEEB87E}"/>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3555" name="Rectangle 3">
            <a:extLst>
              <a:ext uri="{FF2B5EF4-FFF2-40B4-BE49-F238E27FC236}">
                <a16:creationId xmlns:a16="http://schemas.microsoft.com/office/drawing/2014/main" id="{C3E73C77-55BF-C642-B3BA-4F1CEF149044}"/>
              </a:ext>
            </a:extLst>
          </p:cNvPr>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86020" name="Rectangle 4">
            <a:extLst>
              <a:ext uri="{FF2B5EF4-FFF2-40B4-BE49-F238E27FC236}">
                <a16:creationId xmlns:a16="http://schemas.microsoft.com/office/drawing/2014/main" id="{3365C1A2-5BC7-2E41-BEE3-F59374A43AD1}"/>
              </a:ext>
            </a:extLst>
          </p:cNvPr>
          <p:cNvSpPr>
            <a:spLocks noGrp="1" noRot="1" noChangeAspect="1" noChangeArrowheads="1" noTextEdit="1"/>
          </p:cNvSpPr>
          <p:nvPr>
            <p:ph type="sldImg" idx="4294967295"/>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21" name="Rectangle 5">
            <a:extLst>
              <a:ext uri="{FF2B5EF4-FFF2-40B4-BE49-F238E27FC236}">
                <a16:creationId xmlns:a16="http://schemas.microsoft.com/office/drawing/2014/main" id="{65CCE0E0-32DC-F741-A925-BAAE0D564FAA}"/>
              </a:ext>
            </a:extLst>
          </p:cNvPr>
          <p:cNvSpPr>
            <a:spLocks noGrp="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3558" name="Rectangle 6">
            <a:extLst>
              <a:ext uri="{FF2B5EF4-FFF2-40B4-BE49-F238E27FC236}">
                <a16:creationId xmlns:a16="http://schemas.microsoft.com/office/drawing/2014/main" id="{A525C2A4-7EC2-E144-9A13-7C2369A3AA54}"/>
              </a:ext>
            </a:extLst>
          </p:cNvPr>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3559" name="Rectangle 7">
            <a:extLst>
              <a:ext uri="{FF2B5EF4-FFF2-40B4-BE49-F238E27FC236}">
                <a16:creationId xmlns:a16="http://schemas.microsoft.com/office/drawing/2014/main" id="{E628DB09-BE78-5543-ABD1-A39C449C72D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00A2094C-8DB3-1544-B0F0-982B1A0905FF}"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a:extLst>
              <a:ext uri="{FF2B5EF4-FFF2-40B4-BE49-F238E27FC236}">
                <a16:creationId xmlns:a16="http://schemas.microsoft.com/office/drawing/2014/main" id="{6D174FAD-1902-ED4F-9250-6CFE3B9CD5EC}"/>
              </a:ext>
            </a:extLst>
          </p:cNvPr>
          <p:cNvSpPr>
            <a:spLocks noGrp="1" noRot="1" noChangeAspect="1" noChangeArrowheads="1" noTextEdit="1"/>
          </p:cNvSpPr>
          <p:nvPr>
            <p:ph type="sldImg" idx="4294967295"/>
          </p:nvPr>
        </p:nvSpPr>
        <p:spPr>
          <a:ln/>
        </p:spPr>
      </p:sp>
      <p:sp>
        <p:nvSpPr>
          <p:cNvPr id="88066" name="备注占位符 2">
            <a:extLst>
              <a:ext uri="{FF2B5EF4-FFF2-40B4-BE49-F238E27FC236}">
                <a16:creationId xmlns:a16="http://schemas.microsoft.com/office/drawing/2014/main" id="{222F9293-9E73-044D-BBB9-FD3D6337BE20}"/>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6BA68D8A-8811-7C45-BD81-0CF2E869D1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A88E1CD-4862-C34A-BC87-E27561077B36}" type="slidenum">
              <a:rPr lang="en-US" altLang="zh-CN"/>
              <a:pPr/>
              <a:t>2</a:t>
            </a:fld>
            <a:endParaRPr lang="en-US" altLang="zh-CN"/>
          </a:p>
        </p:txBody>
      </p:sp>
      <p:sp>
        <p:nvSpPr>
          <p:cNvPr id="106498" name="Rectangle 2">
            <a:extLst>
              <a:ext uri="{FF2B5EF4-FFF2-40B4-BE49-F238E27FC236}">
                <a16:creationId xmlns:a16="http://schemas.microsoft.com/office/drawing/2014/main" id="{179AF3F7-3EBC-0442-9819-1CD75F7D4EC7}"/>
              </a:ext>
            </a:extLst>
          </p:cNvPr>
          <p:cNvSpPr>
            <a:spLocks noGrp="1" noRot="1" noChangeAspect="1" noChangeArrowheads="1" noTextEdit="1"/>
          </p:cNvSpPr>
          <p:nvPr>
            <p:ph type="sldImg" idx="4294967295"/>
          </p:nvPr>
        </p:nvSpPr>
        <p:spPr>
          <a:xfrm>
            <a:off x="3429000" y="2400300"/>
            <a:ext cx="0" cy="0"/>
          </a:xfrm>
          <a:ln/>
        </p:spPr>
      </p:sp>
      <p:sp>
        <p:nvSpPr>
          <p:cNvPr id="106499" name="Rectangle 3">
            <a:extLst>
              <a:ext uri="{FF2B5EF4-FFF2-40B4-BE49-F238E27FC236}">
                <a16:creationId xmlns:a16="http://schemas.microsoft.com/office/drawing/2014/main" id="{1B0D156A-42F2-474A-A37B-DED00D8D9C5E}"/>
              </a:ext>
            </a:extLst>
          </p:cNvPr>
          <p:cNvSpPr>
            <a:spLocks noGrp="1" noChangeArrowheads="1"/>
          </p:cNvSpPr>
          <p:nvPr>
            <p:ph type="body" idx="4294967295"/>
          </p:nvPr>
        </p:nvSpPr>
        <p:spPr>
          <a:xfrm>
            <a:off x="914400" y="6262688"/>
            <a:ext cx="1403350" cy="274637"/>
          </a:xfrm>
        </p:spPr>
        <p:txBody>
          <a:bodyPr/>
          <a:lstStyle/>
          <a:p>
            <a:r>
              <a:rPr lang="zh-CN" altLang="en-US"/>
              <a:t>图中表示</a:t>
            </a:r>
            <a:r>
              <a:rPr lang="en-US" altLang="zh-CN"/>
              <a:t>n=4</a:t>
            </a:r>
            <a:r>
              <a:rPr lang="zh-CN" altLang="en-US"/>
              <a:t>的代换密码的一般结构，</a:t>
            </a:r>
            <a:r>
              <a:rPr lang="en-US" altLang="zh-CN"/>
              <a:t>4</a:t>
            </a:r>
            <a:r>
              <a:rPr lang="zh-CN" altLang="en-US"/>
              <a:t>比特输入产生</a:t>
            </a:r>
            <a:r>
              <a:rPr lang="en-US" altLang="zh-CN"/>
              <a:t>16</a:t>
            </a:r>
            <a:r>
              <a:rPr lang="zh-CN" altLang="en-US"/>
              <a:t>个可能输入状态中的一个，由代换结构将这一状态映射为</a:t>
            </a:r>
            <a:r>
              <a:rPr lang="en-US" altLang="zh-CN"/>
              <a:t>16</a:t>
            </a:r>
            <a:r>
              <a:rPr lang="zh-CN" altLang="en-US"/>
              <a:t>个可能输出状态中的一个，每一输出状态由</a:t>
            </a:r>
            <a:r>
              <a:rPr lang="en-US" altLang="zh-CN"/>
              <a:t>4</a:t>
            </a:r>
            <a:r>
              <a:rPr lang="zh-CN" altLang="en-US"/>
              <a:t>个密文比特表示。</a:t>
            </a:r>
          </a:p>
          <a:p>
            <a:endParaRPr lang="zh-CN" altLang="zh-CN"/>
          </a:p>
        </p:txBody>
      </p:sp>
    </p:spTree>
    <p:extLst>
      <p:ext uri="{BB962C8B-B14F-4D97-AF65-F5344CB8AC3E}">
        <p14:creationId xmlns:p14="http://schemas.microsoft.com/office/powerpoint/2010/main" val="213133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a:extLst>
              <a:ext uri="{FF2B5EF4-FFF2-40B4-BE49-F238E27FC236}">
                <a16:creationId xmlns:a16="http://schemas.microsoft.com/office/drawing/2014/main" id="{D273375B-7905-D540-BFC6-4FB65441D77C}"/>
              </a:ext>
            </a:extLst>
          </p:cNvPr>
          <p:cNvSpPr>
            <a:spLocks noGrp="1" noRot="1" noChangeAspect="1" noChangeArrowheads="1" noTextEdit="1"/>
          </p:cNvSpPr>
          <p:nvPr>
            <p:ph type="sldImg" idx="4294967295"/>
          </p:nvPr>
        </p:nvSpPr>
        <p:spPr>
          <a:ln/>
        </p:spPr>
      </p:sp>
      <p:sp>
        <p:nvSpPr>
          <p:cNvPr id="90114" name="Notes Placeholder 2">
            <a:extLst>
              <a:ext uri="{FF2B5EF4-FFF2-40B4-BE49-F238E27FC236}">
                <a16:creationId xmlns:a16="http://schemas.microsoft.com/office/drawing/2014/main" id="{7B2807F4-0650-C64B-B5E4-A07F765E9BDD}"/>
              </a:ext>
            </a:extLst>
          </p:cNvPr>
          <p:cNvSpPr>
            <a:spLocks noGrp="1" noChangeArrowheads="1"/>
          </p:cNvSpPr>
          <p:nvPr>
            <p:ph type="body" idx="4294967295"/>
          </p:nvPr>
        </p:nvSpPr>
        <p:spPr/>
        <p:txBody>
          <a:bodyPr/>
          <a:lstStyle/>
          <a:p>
            <a:endParaRPr lang="en-US" altLang="en-CN"/>
          </a:p>
        </p:txBody>
      </p:sp>
      <p:sp>
        <p:nvSpPr>
          <p:cNvPr id="90115" name="Slide Number Placeholder 3">
            <a:extLst>
              <a:ext uri="{FF2B5EF4-FFF2-40B4-BE49-F238E27FC236}">
                <a16:creationId xmlns:a16="http://schemas.microsoft.com/office/drawing/2014/main" id="{24477791-7C93-E240-9BD2-CBEE5A39B0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6B2E778-2C1C-1442-9143-0C465D79F3E2}" type="slidenum">
              <a:rPr lang="en-US" altLang="zh-CN"/>
              <a:pPr/>
              <a:t>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a:extLst>
              <a:ext uri="{FF2B5EF4-FFF2-40B4-BE49-F238E27FC236}">
                <a16:creationId xmlns:a16="http://schemas.microsoft.com/office/drawing/2014/main" id="{A6AC8CA7-AE4B-F94E-8C35-3EC00B067A95}"/>
              </a:ext>
            </a:extLst>
          </p:cNvPr>
          <p:cNvSpPr>
            <a:spLocks noGrp="1" noRot="1" noChangeAspect="1" noChangeArrowheads="1" noTextEdit="1"/>
          </p:cNvSpPr>
          <p:nvPr>
            <p:ph type="sldImg" idx="4294967295"/>
          </p:nvPr>
        </p:nvSpPr>
        <p:spPr>
          <a:ln/>
        </p:spPr>
      </p:sp>
      <p:sp>
        <p:nvSpPr>
          <p:cNvPr id="96258" name="Notes Placeholder 2">
            <a:extLst>
              <a:ext uri="{FF2B5EF4-FFF2-40B4-BE49-F238E27FC236}">
                <a16:creationId xmlns:a16="http://schemas.microsoft.com/office/drawing/2014/main" id="{61A557DA-91E8-4D44-868E-44E4229FBF94}"/>
              </a:ext>
            </a:extLst>
          </p:cNvPr>
          <p:cNvSpPr>
            <a:spLocks noGrp="1" noChangeArrowheads="1"/>
          </p:cNvSpPr>
          <p:nvPr>
            <p:ph type="body" idx="4294967295"/>
          </p:nvPr>
        </p:nvSpPr>
        <p:spPr/>
        <p:txBody>
          <a:bodyPr/>
          <a:lstStyle/>
          <a:p>
            <a:r>
              <a:rPr lang="zh-CN" altLang="en-US"/>
              <a:t>隐藏明文，隐藏密钥</a:t>
            </a:r>
            <a:endParaRPr lang="en-US" altLang="en-US"/>
          </a:p>
        </p:txBody>
      </p:sp>
      <p:sp>
        <p:nvSpPr>
          <p:cNvPr id="96259" name="Slide Number Placeholder 3">
            <a:extLst>
              <a:ext uri="{FF2B5EF4-FFF2-40B4-BE49-F238E27FC236}">
                <a16:creationId xmlns:a16="http://schemas.microsoft.com/office/drawing/2014/main" id="{27E9221D-1251-214D-A489-D816A43914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9A126A3-1569-CE43-9CC4-A848316F829F}" type="slidenum">
              <a:rPr lang="en-US" altLang="zh-CN"/>
              <a:pPr/>
              <a:t>9</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幻灯片图像占位符 1">
            <a:extLst>
              <a:ext uri="{FF2B5EF4-FFF2-40B4-BE49-F238E27FC236}">
                <a16:creationId xmlns:a16="http://schemas.microsoft.com/office/drawing/2014/main" id="{F644AF95-8AB0-A84A-90B1-C8A69BBD9499}"/>
              </a:ext>
            </a:extLst>
          </p:cNvPr>
          <p:cNvSpPr>
            <a:spLocks noGrp="1" noRot="1" noChangeAspect="1" noChangeArrowheads="1" noTextEdit="1"/>
          </p:cNvSpPr>
          <p:nvPr>
            <p:ph type="sldImg" idx="4294967295"/>
          </p:nvPr>
        </p:nvSpPr>
        <p:spPr>
          <a:ln/>
        </p:spPr>
      </p:sp>
      <p:sp>
        <p:nvSpPr>
          <p:cNvPr id="102402" name="备注占位符 2">
            <a:extLst>
              <a:ext uri="{FF2B5EF4-FFF2-40B4-BE49-F238E27FC236}">
                <a16:creationId xmlns:a16="http://schemas.microsoft.com/office/drawing/2014/main" id="{60ED1BE4-FDBC-9B4F-AA7D-365175FAA352}"/>
              </a:ext>
            </a:extLst>
          </p:cNvPr>
          <p:cNvSpPr>
            <a:spLocks noGrp="1" noChangeArrowheads="1"/>
          </p:cNvSpPr>
          <p:nvPr>
            <p:ph type="body" idx="4294967295"/>
          </p:nvPr>
        </p:nvSpPr>
        <p:spPr/>
        <p:txBody>
          <a:bodyPr/>
          <a:lstStyle/>
          <a:p>
            <a:r>
              <a:rPr lang="zh-CN" altLang="en-US" dirty="0"/>
              <a:t>同学们大家好，上一讲我们提到了分组密码设计的两种主要结构类型为</a:t>
            </a:r>
            <a:r>
              <a:rPr lang="en-US" altLang="zh-CN" dirty="0"/>
              <a:t>SP</a:t>
            </a:r>
            <a:r>
              <a:rPr lang="zh-CN" altLang="en-US" dirty="0"/>
              <a:t>网络和</a:t>
            </a:r>
            <a:r>
              <a:rPr lang="en-US" altLang="zh-CN" dirty="0"/>
              <a:t>Feistel</a:t>
            </a:r>
            <a:r>
              <a:rPr lang="zh-CN" altLang="en-US" dirty="0"/>
              <a:t>结构， 这一讲我们来了解一下</a:t>
            </a:r>
            <a:r>
              <a:rPr lang="en-US" altLang="zh-CN" dirty="0"/>
              <a:t>SP</a:t>
            </a:r>
            <a:r>
              <a:rPr lang="zh-CN" altLang="en-US" dirty="0"/>
              <a:t>网络。</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9F76833F-A501-6A41-A24F-D862EDB658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957C751-0881-E64C-832B-F3F8F7F12BCD}" type="slidenum">
              <a:rPr lang="en-US" altLang="zh-CN"/>
              <a:pPr/>
              <a:t>15</a:t>
            </a:fld>
            <a:endParaRPr lang="en-US" altLang="zh-CN"/>
          </a:p>
        </p:txBody>
      </p:sp>
      <p:sp>
        <p:nvSpPr>
          <p:cNvPr id="104450" name="Rectangle 2">
            <a:extLst>
              <a:ext uri="{FF2B5EF4-FFF2-40B4-BE49-F238E27FC236}">
                <a16:creationId xmlns:a16="http://schemas.microsoft.com/office/drawing/2014/main" id="{D271ACD8-3A7E-DD43-8EBF-6EF971DB7DAB}"/>
              </a:ext>
            </a:extLst>
          </p:cNvPr>
          <p:cNvSpPr>
            <a:spLocks noGrp="1" noRot="1" noChangeAspect="1" noChangeArrowheads="1" noTextEdit="1"/>
          </p:cNvSpPr>
          <p:nvPr>
            <p:ph type="sldImg" idx="4294967295"/>
          </p:nvPr>
        </p:nvSpPr>
        <p:spPr>
          <a:xfrm>
            <a:off x="3429000" y="2400300"/>
            <a:ext cx="0" cy="0"/>
          </a:xfrm>
          <a:ln/>
        </p:spPr>
      </p:sp>
      <p:sp>
        <p:nvSpPr>
          <p:cNvPr id="104451" name="Rectangle 3">
            <a:extLst>
              <a:ext uri="{FF2B5EF4-FFF2-40B4-BE49-F238E27FC236}">
                <a16:creationId xmlns:a16="http://schemas.microsoft.com/office/drawing/2014/main" id="{2E2CBFE4-B2A2-3344-AADB-822B041976C2}"/>
              </a:ext>
            </a:extLst>
          </p:cNvPr>
          <p:cNvSpPr>
            <a:spLocks noGrp="1" noChangeArrowheads="1"/>
          </p:cNvSpPr>
          <p:nvPr>
            <p:ph type="body" idx="4294967295"/>
          </p:nvPr>
        </p:nvSpPr>
        <p:spPr>
          <a:xfrm>
            <a:off x="914400" y="6262688"/>
            <a:ext cx="1403350" cy="274637"/>
          </a:xfrm>
        </p:spPr>
        <p:txBody>
          <a:bodyPr/>
          <a:lstStyle/>
          <a:p>
            <a:r>
              <a:rPr lang="en-US" altLang="zh-CN"/>
              <a:t>SP</a:t>
            </a:r>
            <a:r>
              <a:rPr lang="zh-CN" altLang="en-US"/>
              <a:t>网络又称为代换网络，所谓的代换定义如下：如果明文和密文的分组长都为</a:t>
            </a:r>
            <a:r>
              <a:rPr lang="en-US" altLang="zh-CN"/>
              <a:t>n</a:t>
            </a:r>
            <a:r>
              <a:rPr lang="zh-CN" altLang="en-US"/>
              <a:t>比特，则明文的每一个分组都有</a:t>
            </a:r>
            <a:r>
              <a:rPr lang="en-US" altLang="zh-CN"/>
              <a:t>2</a:t>
            </a:r>
            <a:r>
              <a:rPr lang="zh-CN" altLang="en-US"/>
              <a:t>的</a:t>
            </a:r>
            <a:r>
              <a:rPr lang="en-US" altLang="zh-CN"/>
              <a:t>n</a:t>
            </a:r>
            <a:r>
              <a:rPr lang="zh-CN" altLang="en-US"/>
              <a:t>次方个可能的取值。为使加密运算可逆（使解密运算可行），明文的每一个分组都应产生惟一的一个密文分组，这样的变换是可逆的，称明文分组到密文分组的可逆变换为代换。这样的不同的可逆变换有</a:t>
            </a:r>
            <a:r>
              <a:rPr lang="en-US" altLang="zh-CN"/>
              <a:t>2</a:t>
            </a:r>
            <a:r>
              <a:rPr lang="zh-CN" altLang="en-US"/>
              <a:t>的</a:t>
            </a:r>
            <a:r>
              <a:rPr lang="en-US" altLang="zh-CN"/>
              <a:t>n</a:t>
            </a:r>
            <a:r>
              <a:rPr lang="zh-CN" altLang="en-US"/>
              <a:t>次方阶乘个</a:t>
            </a:r>
          </a:p>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6BA68D8A-8811-7C45-BD81-0CF2E869D1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A88E1CD-4862-C34A-BC87-E27561077B36}" type="slidenum">
              <a:rPr lang="en-US" altLang="zh-CN"/>
              <a:pPr/>
              <a:t>16</a:t>
            </a:fld>
            <a:endParaRPr lang="en-US" altLang="zh-CN"/>
          </a:p>
        </p:txBody>
      </p:sp>
      <p:sp>
        <p:nvSpPr>
          <p:cNvPr id="106498" name="Rectangle 2">
            <a:extLst>
              <a:ext uri="{FF2B5EF4-FFF2-40B4-BE49-F238E27FC236}">
                <a16:creationId xmlns:a16="http://schemas.microsoft.com/office/drawing/2014/main" id="{179AF3F7-3EBC-0442-9819-1CD75F7D4EC7}"/>
              </a:ext>
            </a:extLst>
          </p:cNvPr>
          <p:cNvSpPr>
            <a:spLocks noGrp="1" noRot="1" noChangeAspect="1" noChangeArrowheads="1" noTextEdit="1"/>
          </p:cNvSpPr>
          <p:nvPr>
            <p:ph type="sldImg" idx="4294967295"/>
          </p:nvPr>
        </p:nvSpPr>
        <p:spPr>
          <a:xfrm>
            <a:off x="3429000" y="2400300"/>
            <a:ext cx="0" cy="0"/>
          </a:xfrm>
          <a:ln/>
        </p:spPr>
      </p:sp>
      <p:sp>
        <p:nvSpPr>
          <p:cNvPr id="106499" name="Rectangle 3">
            <a:extLst>
              <a:ext uri="{FF2B5EF4-FFF2-40B4-BE49-F238E27FC236}">
                <a16:creationId xmlns:a16="http://schemas.microsoft.com/office/drawing/2014/main" id="{1B0D156A-42F2-474A-A37B-DED00D8D9C5E}"/>
              </a:ext>
            </a:extLst>
          </p:cNvPr>
          <p:cNvSpPr>
            <a:spLocks noGrp="1" noChangeArrowheads="1"/>
          </p:cNvSpPr>
          <p:nvPr>
            <p:ph type="body" idx="4294967295"/>
          </p:nvPr>
        </p:nvSpPr>
        <p:spPr>
          <a:xfrm>
            <a:off x="914400" y="6262688"/>
            <a:ext cx="1403350" cy="274637"/>
          </a:xfrm>
        </p:spPr>
        <p:txBody>
          <a:bodyPr/>
          <a:lstStyle/>
          <a:p>
            <a:r>
              <a:rPr lang="zh-CN" altLang="en-US"/>
              <a:t>图中表示</a:t>
            </a:r>
            <a:r>
              <a:rPr lang="en-US" altLang="zh-CN"/>
              <a:t>n=4</a:t>
            </a:r>
            <a:r>
              <a:rPr lang="zh-CN" altLang="en-US"/>
              <a:t>的代换密码的一般结构，</a:t>
            </a:r>
            <a:r>
              <a:rPr lang="en-US" altLang="zh-CN"/>
              <a:t>4</a:t>
            </a:r>
            <a:r>
              <a:rPr lang="zh-CN" altLang="en-US"/>
              <a:t>比特输入产生</a:t>
            </a:r>
            <a:r>
              <a:rPr lang="en-US" altLang="zh-CN"/>
              <a:t>16</a:t>
            </a:r>
            <a:r>
              <a:rPr lang="zh-CN" altLang="en-US"/>
              <a:t>个可能输入状态中的一个，由代换结构将这一状态映射为</a:t>
            </a:r>
            <a:r>
              <a:rPr lang="en-US" altLang="zh-CN"/>
              <a:t>16</a:t>
            </a:r>
            <a:r>
              <a:rPr lang="zh-CN" altLang="en-US"/>
              <a:t>个可能输出状态中的一个，每一输出状态由</a:t>
            </a:r>
            <a:r>
              <a:rPr lang="en-US" altLang="zh-CN"/>
              <a:t>4</a:t>
            </a:r>
            <a:r>
              <a:rPr lang="zh-CN" altLang="en-US"/>
              <a:t>个密文比特表示。</a:t>
            </a:r>
          </a:p>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幻灯片图像占位符 1">
            <a:extLst>
              <a:ext uri="{FF2B5EF4-FFF2-40B4-BE49-F238E27FC236}">
                <a16:creationId xmlns:a16="http://schemas.microsoft.com/office/drawing/2014/main" id="{0AA7D700-5219-FB4D-B71B-A7FB391114D1}"/>
              </a:ext>
            </a:extLst>
          </p:cNvPr>
          <p:cNvSpPr>
            <a:spLocks noGrp="1" noRot="1" noChangeAspect="1" noChangeArrowheads="1" noTextEdit="1"/>
          </p:cNvSpPr>
          <p:nvPr>
            <p:ph type="sldImg" idx="4294967295"/>
          </p:nvPr>
        </p:nvSpPr>
        <p:spPr>
          <a:ln/>
        </p:spPr>
      </p:sp>
      <p:sp>
        <p:nvSpPr>
          <p:cNvPr id="108546" name="备注占位符 2">
            <a:extLst>
              <a:ext uri="{FF2B5EF4-FFF2-40B4-BE49-F238E27FC236}">
                <a16:creationId xmlns:a16="http://schemas.microsoft.com/office/drawing/2014/main" id="{536B55F1-B003-1C44-9E5F-6856AAD17403}"/>
              </a:ext>
            </a:extLst>
          </p:cNvPr>
          <p:cNvSpPr>
            <a:spLocks noGrp="1" noChangeArrowheads="1"/>
          </p:cNvSpPr>
          <p:nvPr>
            <p:ph type="body" idx="4294967295"/>
          </p:nvPr>
        </p:nvSpPr>
        <p:spPr/>
        <p:txBody>
          <a:bodyPr/>
          <a:lstStyle/>
          <a:p>
            <a:r>
              <a:rPr lang="zh-CN" altLang="en-US"/>
              <a:t>这一类的加密映射和解密映射也可由代换表来定义，如</a:t>
            </a:r>
            <a:r>
              <a:rPr lang="en-US" altLang="zh-CN"/>
              <a:t>PPT</a:t>
            </a:r>
            <a:r>
              <a:rPr lang="zh-CN" altLang="en-US"/>
              <a:t>中的表所示。这种定义法是分组密码最常用的形式，能用于定义明文和密文之间的任何可逆映射。当然，分组长度太长的话，这种定义方式就不合适了</a:t>
            </a:r>
          </a:p>
        </p:txBody>
      </p:sp>
      <p:sp>
        <p:nvSpPr>
          <p:cNvPr id="108547" name="灯片编号占位符 3">
            <a:extLst>
              <a:ext uri="{FF2B5EF4-FFF2-40B4-BE49-F238E27FC236}">
                <a16:creationId xmlns:a16="http://schemas.microsoft.com/office/drawing/2014/main" id="{763D018A-5D1A-5849-8936-778866A9F8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FE7DC78-F76A-1346-9B87-38BCD30FAD62}" type="slidenum">
              <a:rPr lang="en-US" altLang="zh-CN"/>
              <a:pPr/>
              <a:t>17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F5C926EC-F42A-184F-B6BB-357D6EBE4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C3AAEC9-F9FF-A548-83F8-471C11E06791}" type="slidenum">
              <a:rPr lang="en-US" altLang="zh-CN"/>
              <a:pPr/>
              <a:t>18</a:t>
            </a:fld>
            <a:endParaRPr lang="en-US" altLang="zh-CN"/>
          </a:p>
        </p:txBody>
      </p:sp>
      <p:sp>
        <p:nvSpPr>
          <p:cNvPr id="110594" name="Rectangle 2">
            <a:extLst>
              <a:ext uri="{FF2B5EF4-FFF2-40B4-BE49-F238E27FC236}">
                <a16:creationId xmlns:a16="http://schemas.microsoft.com/office/drawing/2014/main" id="{7CB63CA9-9C8E-C047-80A4-D14CBC0BA02D}"/>
              </a:ext>
            </a:extLst>
          </p:cNvPr>
          <p:cNvSpPr>
            <a:spLocks noGrp="1" noRot="1" noChangeAspect="1" noChangeArrowheads="1" noTextEdit="1"/>
          </p:cNvSpPr>
          <p:nvPr>
            <p:ph type="sldImg" idx="4294967295"/>
          </p:nvPr>
        </p:nvSpPr>
        <p:spPr>
          <a:xfrm>
            <a:off x="3429000" y="2400300"/>
            <a:ext cx="0" cy="0"/>
          </a:xfrm>
          <a:ln/>
        </p:spPr>
      </p:sp>
      <p:sp>
        <p:nvSpPr>
          <p:cNvPr id="110595" name="Rectangle 3">
            <a:extLst>
              <a:ext uri="{FF2B5EF4-FFF2-40B4-BE49-F238E27FC236}">
                <a16:creationId xmlns:a16="http://schemas.microsoft.com/office/drawing/2014/main" id="{F2E0A9E2-C5B8-C84E-AF69-BF6E5120D760}"/>
              </a:ext>
            </a:extLst>
          </p:cNvPr>
          <p:cNvSpPr>
            <a:spLocks noGrp="1" noChangeArrowheads="1"/>
          </p:cNvSpPr>
          <p:nvPr>
            <p:ph type="body" idx="4294967295"/>
          </p:nvPr>
        </p:nvSpPr>
        <p:spPr>
          <a:xfrm>
            <a:off x="914400" y="6262688"/>
            <a:ext cx="1403350" cy="274637"/>
          </a:xfrm>
        </p:spPr>
        <p:txBody>
          <a:bodyPr/>
          <a:lstStyle/>
          <a:p>
            <a:r>
              <a:rPr lang="zh-CN" altLang="en-US"/>
              <a:t>如果分组长度太小，如</a:t>
            </a:r>
            <a:r>
              <a:rPr lang="en-US" altLang="zh-CN"/>
              <a:t>n=4</a:t>
            </a:r>
            <a:r>
              <a:rPr lang="zh-CN" altLang="en-US"/>
              <a:t>，系统则等价于古典的代换密码，容易通过对明文的统计分析而被攻破。这个弱点不是代换结构固有的，只是因为分组长度太小</a:t>
            </a:r>
          </a:p>
          <a:p>
            <a:r>
              <a:rPr lang="zh-CN" altLang="en-US"/>
              <a:t>如果分组长度</a:t>
            </a:r>
            <a:r>
              <a:rPr lang="en-US" altLang="zh-CN"/>
              <a:t>n</a:t>
            </a:r>
            <a:r>
              <a:rPr lang="zh-CN" altLang="en-US"/>
              <a:t>足够大，而且从明文到密文可有任意可逆的代换，那么明文的统计特性将被隐藏而使以上的攻击不能奏效。</a:t>
            </a:r>
          </a:p>
          <a:p>
            <a:endParaRPr lang="en-US" altLang="zh-CN"/>
          </a:p>
          <a:p>
            <a:r>
              <a:rPr lang="en-US" altLang="zh-CN"/>
              <a:t>N</a:t>
            </a:r>
            <a:r>
              <a:rPr lang="zh-CN" altLang="en-US"/>
              <a:t>要够大</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976CC933-F294-8946-B63B-75EA6FAFF1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A5BFEB0-A483-5B47-ABCD-2BC1578B6104}" type="slidenum">
              <a:rPr lang="en-US" altLang="zh-CN"/>
              <a:pPr/>
              <a:t>19</a:t>
            </a:fld>
            <a:endParaRPr lang="en-US" altLang="zh-CN"/>
          </a:p>
        </p:txBody>
      </p:sp>
      <p:sp>
        <p:nvSpPr>
          <p:cNvPr id="112642" name="Rectangle 2">
            <a:extLst>
              <a:ext uri="{FF2B5EF4-FFF2-40B4-BE49-F238E27FC236}">
                <a16:creationId xmlns:a16="http://schemas.microsoft.com/office/drawing/2014/main" id="{679CC351-52B1-214C-AB6A-B4905C074051}"/>
              </a:ext>
            </a:extLst>
          </p:cNvPr>
          <p:cNvSpPr>
            <a:spLocks noGrp="1" noRot="1" noChangeAspect="1" noChangeArrowheads="1" noTextEdit="1"/>
          </p:cNvSpPr>
          <p:nvPr>
            <p:ph type="sldImg" idx="4294967295"/>
          </p:nvPr>
        </p:nvSpPr>
        <p:spPr>
          <a:xfrm>
            <a:off x="3429000" y="2400300"/>
            <a:ext cx="0" cy="0"/>
          </a:xfrm>
          <a:ln/>
        </p:spPr>
      </p:sp>
      <p:sp>
        <p:nvSpPr>
          <p:cNvPr id="112643" name="Rectangle 3">
            <a:extLst>
              <a:ext uri="{FF2B5EF4-FFF2-40B4-BE49-F238E27FC236}">
                <a16:creationId xmlns:a16="http://schemas.microsoft.com/office/drawing/2014/main" id="{34DC7AD6-7F02-2F4D-9E43-5B2AA0E47962}"/>
              </a:ext>
            </a:extLst>
          </p:cNvPr>
          <p:cNvSpPr>
            <a:spLocks noGrp="1" noChangeArrowheads="1"/>
          </p:cNvSpPr>
          <p:nvPr>
            <p:ph type="body" idx="4294967295"/>
          </p:nvPr>
        </p:nvSpPr>
        <p:spPr>
          <a:xfrm>
            <a:off x="914400" y="6262688"/>
            <a:ext cx="1403350" cy="274637"/>
          </a:xfrm>
        </p:spPr>
        <p:txBody>
          <a:bodyPr/>
          <a:lstStyle/>
          <a:p>
            <a:r>
              <a:rPr lang="zh-CN" altLang="en-US"/>
              <a:t>从实现的角度来看，分组长度很大的可逆代换结构是不实际的。仍以</a:t>
            </a:r>
            <a:r>
              <a:rPr lang="en-US" altLang="zh-CN"/>
              <a:t>4</a:t>
            </a:r>
            <a:r>
              <a:rPr lang="zh-CN" altLang="en-US"/>
              <a:t>比特的代换表为例，该表定义了</a:t>
            </a:r>
            <a:r>
              <a:rPr lang="en-US" altLang="zh-CN"/>
              <a:t>n=4</a:t>
            </a:r>
            <a:r>
              <a:rPr lang="zh-CN" altLang="en-US"/>
              <a:t>时从明文到密文的一个可逆映射，其中第</a:t>
            </a:r>
            <a:r>
              <a:rPr lang="en-US" altLang="zh-CN"/>
              <a:t>2</a:t>
            </a:r>
            <a:r>
              <a:rPr lang="zh-CN" altLang="en-US"/>
              <a:t>列是每个明文分组对应的密文分组的值，可用来定义这个可逆映射。从本质上来说，第</a:t>
            </a:r>
            <a:r>
              <a:rPr lang="en-US" altLang="zh-CN"/>
              <a:t>2</a:t>
            </a:r>
            <a:r>
              <a:rPr lang="zh-CN" altLang="en-US"/>
              <a:t>列是从所有可能映射中决定某一特定映射的密钥，密钥需要</a:t>
            </a:r>
            <a:r>
              <a:rPr lang="en-US" altLang="zh-CN"/>
              <a:t>64</a:t>
            </a:r>
            <a:r>
              <a:rPr lang="zh-CN" altLang="en-US"/>
              <a:t>比特。一般地，对</a:t>
            </a:r>
            <a:r>
              <a:rPr lang="en-US" altLang="zh-CN"/>
              <a:t>n</a:t>
            </a:r>
            <a:r>
              <a:rPr lang="zh-CN" altLang="en-US"/>
              <a:t>比特的代换结构，密钥的大小是</a:t>
            </a:r>
            <a:r>
              <a:rPr lang="en-US" altLang="zh-CN"/>
              <a:t>n×2n</a:t>
            </a:r>
            <a:r>
              <a:rPr lang="zh-CN" altLang="en-US"/>
              <a:t>比特。如对</a:t>
            </a:r>
            <a:r>
              <a:rPr lang="en-US" altLang="zh-CN"/>
              <a:t>64</a:t>
            </a:r>
            <a:r>
              <a:rPr lang="zh-CN" altLang="en-US"/>
              <a:t>比特的分组，密钥大小应是</a:t>
            </a:r>
            <a:r>
              <a:rPr lang="en-US" altLang="zh-CN"/>
              <a:t>64×264=270≈1021</a:t>
            </a:r>
            <a:r>
              <a:rPr lang="zh-CN" altLang="en-US"/>
              <a:t>比特，因此难以处理。</a:t>
            </a:r>
          </a:p>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a:extLst>
              <a:ext uri="{FF2B5EF4-FFF2-40B4-BE49-F238E27FC236}">
                <a16:creationId xmlns:a16="http://schemas.microsoft.com/office/drawing/2014/main" id="{BC4FB5E5-1DA9-A84B-B590-225D754EF8D1}"/>
              </a:ext>
            </a:extLst>
          </p:cNvPr>
          <p:cNvSpPr>
            <a:spLocks noGrp="1" noRot="1" noChangeAspect="1" noChangeArrowheads="1" noTextEdit="1"/>
          </p:cNvSpPr>
          <p:nvPr>
            <p:ph type="sldImg" idx="4294967295"/>
          </p:nvPr>
        </p:nvSpPr>
        <p:spPr>
          <a:ln/>
        </p:spPr>
      </p:sp>
      <p:sp>
        <p:nvSpPr>
          <p:cNvPr id="114690" name="备注占位符 2">
            <a:extLst>
              <a:ext uri="{FF2B5EF4-FFF2-40B4-BE49-F238E27FC236}">
                <a16:creationId xmlns:a16="http://schemas.microsoft.com/office/drawing/2014/main" id="{D69283DB-9A85-8443-8943-1E0382DEB767}"/>
              </a:ext>
            </a:extLst>
          </p:cNvPr>
          <p:cNvSpPr>
            <a:spLocks noGrp="1" noChangeArrowheads="1"/>
          </p:cNvSpPr>
          <p:nvPr>
            <p:ph type="body" idx="4294967295"/>
          </p:nvPr>
        </p:nvSpPr>
        <p:spPr/>
        <p:txBody>
          <a:bodyPr/>
          <a:lstStyle/>
          <a:p>
            <a:r>
              <a:rPr lang="en-US" altLang="zh-CN"/>
              <a:t>1949</a:t>
            </a:r>
            <a:r>
              <a:rPr lang="zh-CN" altLang="en-US"/>
              <a:t>年，</a:t>
            </a:r>
            <a:r>
              <a:rPr lang="en-US" altLang="zh-CN"/>
              <a:t>Shannon </a:t>
            </a:r>
            <a:r>
              <a:rPr lang="zh-CN" altLang="en-US"/>
              <a:t>就提出了替代</a:t>
            </a:r>
            <a:r>
              <a:rPr lang="en-US" altLang="zh-CN"/>
              <a:t>-</a:t>
            </a:r>
            <a:r>
              <a:rPr lang="zh-CN" altLang="en-US"/>
              <a:t>置换网络的思想即</a:t>
            </a:r>
            <a:r>
              <a:rPr lang="en-US" altLang="zh-CN"/>
              <a:t>SP</a:t>
            </a:r>
            <a:r>
              <a:rPr lang="zh-CN" altLang="en-US"/>
              <a:t>网络。这种思想形成了现代密码的基础，</a:t>
            </a:r>
            <a:r>
              <a:rPr lang="en-US" altLang="zh-CN"/>
              <a:t>SP</a:t>
            </a:r>
            <a:r>
              <a:rPr lang="zh-CN" altLang="en-US"/>
              <a:t>网络就是替代</a:t>
            </a:r>
            <a:r>
              <a:rPr lang="en-US" altLang="zh-CN"/>
              <a:t>-</a:t>
            </a:r>
            <a:r>
              <a:rPr lang="zh-CN" altLang="en-US"/>
              <a:t>置换乘积密码的现代形式。</a:t>
            </a:r>
          </a:p>
        </p:txBody>
      </p:sp>
      <p:sp>
        <p:nvSpPr>
          <p:cNvPr id="114691" name="灯片编号占位符 3">
            <a:extLst>
              <a:ext uri="{FF2B5EF4-FFF2-40B4-BE49-F238E27FC236}">
                <a16:creationId xmlns:a16="http://schemas.microsoft.com/office/drawing/2014/main" id="{86563AD7-E8E2-CD4B-B2B9-020EAE31DF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1CC2532-5677-C846-A420-22BEB4867D52}" type="slidenum">
              <a:rPr lang="en-US" altLang="zh-CN"/>
              <a:pPr/>
              <a:t>20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a:extLst>
              <a:ext uri="{FF2B5EF4-FFF2-40B4-BE49-F238E27FC236}">
                <a16:creationId xmlns:a16="http://schemas.microsoft.com/office/drawing/2014/main" id="{70162B5B-D768-0049-857A-00827DCD6316}"/>
              </a:ext>
            </a:extLst>
          </p:cNvPr>
          <p:cNvSpPr>
            <a:spLocks noGrp="1" noRot="1" noChangeAspect="1" noChangeArrowheads="1" noTextEdit="1"/>
          </p:cNvSpPr>
          <p:nvPr>
            <p:ph type="sldImg" idx="4294967295"/>
          </p:nvPr>
        </p:nvSpPr>
        <p:spPr>
          <a:ln/>
        </p:spPr>
      </p:sp>
      <p:sp>
        <p:nvSpPr>
          <p:cNvPr id="116738" name="备注占位符 2">
            <a:extLst>
              <a:ext uri="{FF2B5EF4-FFF2-40B4-BE49-F238E27FC236}">
                <a16:creationId xmlns:a16="http://schemas.microsoft.com/office/drawing/2014/main" id="{22756509-2B27-5249-8B0F-049AC578FC65}"/>
              </a:ext>
            </a:extLst>
          </p:cNvPr>
          <p:cNvSpPr>
            <a:spLocks noGrp="1" noChangeArrowheads="1"/>
          </p:cNvSpPr>
          <p:nvPr>
            <p:ph type="body" idx="4294967295"/>
          </p:nvPr>
        </p:nvSpPr>
        <p:spPr/>
        <p:txBody>
          <a:bodyPr/>
          <a:lstStyle/>
          <a:p>
            <a:pPr marL="0" lvl="1"/>
            <a:r>
              <a:rPr lang="zh-CN" altLang="en-US"/>
              <a:t>用密码学的术语来解释代换，代换就是在密钥控制下输入集</a:t>
            </a:r>
            <a:r>
              <a:rPr lang="en-US" altLang="zh-CN"/>
              <a:t>A</a:t>
            </a:r>
            <a:r>
              <a:rPr lang="zh-CN" altLang="en-US"/>
              <a:t>到输出集</a:t>
            </a:r>
            <a:r>
              <a:rPr lang="en-US" altLang="zh-CN"/>
              <a:t>A</a:t>
            </a:r>
            <a:r>
              <a:rPr lang="zh-CN" altLang="en-US"/>
              <a:t>‘的一一映射</a:t>
            </a:r>
            <a:r>
              <a:rPr lang="en-US" altLang="zh-CN"/>
              <a:t>fk</a:t>
            </a:r>
            <a:r>
              <a:rPr lang="zh-CN" altLang="en-US"/>
              <a:t>。实现代换</a:t>
            </a:r>
            <a:r>
              <a:rPr lang="en-US" altLang="zh-CN"/>
              <a:t>fk</a:t>
            </a:r>
            <a:r>
              <a:rPr lang="zh-CN" altLang="en-US"/>
              <a:t>的网络称为代换网络。前面我们也说了可能的代换有</a:t>
            </a:r>
            <a:r>
              <a:rPr lang="en-US" altLang="zh-CN"/>
              <a:t>2</a:t>
            </a:r>
            <a:r>
              <a:rPr lang="zh-CN" altLang="en-US"/>
              <a:t>的</a:t>
            </a:r>
            <a:r>
              <a:rPr lang="en-US" altLang="zh-CN"/>
              <a:t>n</a:t>
            </a:r>
            <a:r>
              <a:rPr lang="zh-CN" altLang="en-US"/>
              <a:t>次方阶乘个，</a:t>
            </a:r>
            <a:r>
              <a:rPr lang="zh-CN" altLang="en-US">
                <a:latin typeface="Times New Roman" panose="02020603050405020304" pitchFamily="18" charset="0"/>
              </a:rPr>
              <a:t>如果网络可以实现所有可能的</a:t>
            </a:r>
            <a:r>
              <a:rPr lang="en-US" altLang="zh-CN">
                <a:latin typeface="Times New Roman" panose="02020603050405020304" pitchFamily="18" charset="0"/>
              </a:rPr>
              <a:t>2</a:t>
            </a:r>
            <a:r>
              <a:rPr lang="en-US" altLang="zh-CN" baseline="30000">
                <a:latin typeface="Times New Roman" panose="02020603050405020304" pitchFamily="18" charset="0"/>
              </a:rPr>
              <a:t>n</a:t>
            </a:r>
            <a:r>
              <a:rPr lang="en-US" altLang="zh-CN">
                <a:latin typeface="Times New Roman" panose="02020603050405020304" pitchFamily="18" charset="0"/>
              </a:rPr>
              <a:t>!</a:t>
            </a:r>
            <a:r>
              <a:rPr lang="zh-CN" altLang="en-US">
                <a:latin typeface="Times New Roman" panose="02020603050405020304" pitchFamily="18" charset="0"/>
              </a:rPr>
              <a:t>个代换，则称其为</a:t>
            </a:r>
            <a:r>
              <a:rPr lang="zh-CN" altLang="en-US">
                <a:solidFill>
                  <a:srgbClr val="FF0000"/>
                </a:solidFill>
                <a:latin typeface="Times New Roman" panose="02020603050405020304" pitchFamily="18" charset="0"/>
              </a:rPr>
              <a:t>全代换网络。那当然</a:t>
            </a:r>
            <a:r>
              <a:rPr lang="zh-CN" altLang="en-US" sz="2400">
                <a:latin typeface="Times New Roman" panose="02020603050405020304" pitchFamily="18" charset="0"/>
              </a:rPr>
              <a:t>全代换网络密钥个数必须满足条件：＃</a:t>
            </a:r>
            <a:r>
              <a:rPr lang="en-US" altLang="zh-CN" sz="2400">
                <a:latin typeface="Times New Roman" panose="02020603050405020304" pitchFamily="18" charset="0"/>
              </a:rPr>
              <a:t>{</a:t>
            </a:r>
            <a:r>
              <a:rPr lang="en-US" altLang="zh-CN" sz="2400" i="1">
                <a:latin typeface="Times New Roman" panose="02020603050405020304" pitchFamily="18" charset="0"/>
              </a:rPr>
              <a:t>k</a:t>
            </a:r>
            <a:r>
              <a:rPr lang="en-US" altLang="zh-CN" sz="2400">
                <a:latin typeface="Times New Roman" panose="02020603050405020304" pitchFamily="18" charset="0"/>
              </a:rPr>
              <a:t>}</a:t>
            </a:r>
            <a:r>
              <a:rPr lang="en-US" altLang="zh-CN" sz="2400">
                <a:latin typeface="Times New Roman" panose="02020603050405020304" pitchFamily="18" charset="0"/>
                <a:sym typeface="Symbol" pitchFamily="2" charset="2"/>
              </a:rPr>
              <a:t></a:t>
            </a:r>
            <a:r>
              <a:rPr lang="en-US" altLang="zh-CN" sz="2400">
                <a:latin typeface="Times New Roman" panose="02020603050405020304" pitchFamily="18" charset="0"/>
              </a:rPr>
              <a:t>2</a:t>
            </a:r>
            <a:r>
              <a:rPr lang="en-US" altLang="zh-CN" sz="2400" baseline="30000">
                <a:latin typeface="Times New Roman" panose="02020603050405020304" pitchFamily="18" charset="0"/>
              </a:rPr>
              <a:t>n</a:t>
            </a:r>
            <a:r>
              <a:rPr lang="en-US" altLang="zh-CN" sz="2400">
                <a:latin typeface="Times New Roman" panose="02020603050405020304" pitchFamily="18" charset="0"/>
              </a:rPr>
              <a:t>! </a:t>
            </a:r>
          </a:p>
          <a:p>
            <a:endParaRPr lang="zh-CN" altLang="en-US">
              <a:solidFill>
                <a:srgbClr val="FF0000"/>
              </a:solidFill>
              <a:latin typeface="Times New Roman" panose="02020603050405020304" pitchFamily="18" charset="0"/>
            </a:endParaRPr>
          </a:p>
          <a:p>
            <a:endParaRPr lang="zh-CN" altLang="en-US"/>
          </a:p>
        </p:txBody>
      </p:sp>
      <p:sp>
        <p:nvSpPr>
          <p:cNvPr id="116739" name="灯片编号占位符 3">
            <a:extLst>
              <a:ext uri="{FF2B5EF4-FFF2-40B4-BE49-F238E27FC236}">
                <a16:creationId xmlns:a16="http://schemas.microsoft.com/office/drawing/2014/main" id="{712CA72B-E9FC-364E-A156-9250C23D4E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E1C49C4-8C5D-4644-B3DD-FEB51E615821}" type="slidenum">
              <a:rPr lang="en-US" altLang="zh-CN"/>
              <a:pPr/>
              <a:t>21</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a:extLst>
              <a:ext uri="{FF2B5EF4-FFF2-40B4-BE49-F238E27FC236}">
                <a16:creationId xmlns:a16="http://schemas.microsoft.com/office/drawing/2014/main" id="{5B9874D4-4B12-9A49-B302-62FB8013771E}"/>
              </a:ext>
            </a:extLst>
          </p:cNvPr>
          <p:cNvSpPr>
            <a:spLocks noGrp="1" noRot="1" noChangeAspect="1" noChangeArrowheads="1" noTextEdit="1"/>
          </p:cNvSpPr>
          <p:nvPr>
            <p:ph type="sldImg" idx="4294967295"/>
          </p:nvPr>
        </p:nvSpPr>
        <p:spPr>
          <a:ln/>
        </p:spPr>
      </p:sp>
      <p:sp>
        <p:nvSpPr>
          <p:cNvPr id="118786" name="备注占位符 2">
            <a:extLst>
              <a:ext uri="{FF2B5EF4-FFF2-40B4-BE49-F238E27FC236}">
                <a16:creationId xmlns:a16="http://schemas.microsoft.com/office/drawing/2014/main" id="{86F0D633-CD1B-664A-BC4C-73850327BED5}"/>
              </a:ext>
            </a:extLst>
          </p:cNvPr>
          <p:cNvSpPr>
            <a:spLocks noGrp="1" noChangeArrowheads="1"/>
          </p:cNvSpPr>
          <p:nvPr>
            <p:ph type="body" idx="4294967295"/>
          </p:nvPr>
        </p:nvSpPr>
        <p:spPr/>
        <p:txBody>
          <a:bodyPr/>
          <a:lstStyle/>
          <a:p>
            <a:r>
              <a:rPr lang="zh-CN" altLang="en-US"/>
              <a:t>代换网络密码设计中需要先定义代换集</a:t>
            </a:r>
            <a:r>
              <a:rPr lang="en-US" altLang="zh-CN"/>
              <a:t>S</a:t>
            </a:r>
            <a:r>
              <a:rPr lang="zh-CN" altLang="en-US"/>
              <a:t>，而后还需定义解密变换集，即逆代换网络</a:t>
            </a:r>
            <a:r>
              <a:rPr lang="en-US" altLang="zh-CN"/>
              <a:t>S</a:t>
            </a:r>
            <a:r>
              <a:rPr lang="zh-CN" altLang="en-US"/>
              <a:t>逆，它以密文</a:t>
            </a:r>
            <a:r>
              <a:rPr lang="en-US" altLang="zh-CN"/>
              <a:t>y</a:t>
            </a:r>
            <a:r>
              <a:rPr lang="zh-CN" altLang="en-US"/>
              <a:t>作为输入矢量，其输出为恢复的明文矢量</a:t>
            </a:r>
            <a:r>
              <a:rPr lang="en-US" altLang="zh-CN"/>
              <a:t>x</a:t>
            </a:r>
            <a:r>
              <a:rPr lang="zh-CN" altLang="en-US"/>
              <a:t>。</a:t>
            </a:r>
          </a:p>
          <a:p>
            <a:r>
              <a:rPr lang="zh-CN" altLang="en-US"/>
              <a:t>要实现全代换网络并不容易。因此实用中常常利用一些简单的基本代换，通过组合实现较复杂的、元素个数较多的代换集。实用密码体制的集合</a:t>
            </a:r>
            <a:r>
              <a:rPr lang="en-US" altLang="zh-CN"/>
              <a:t>S</a:t>
            </a:r>
            <a:r>
              <a:rPr lang="zh-CN" altLang="en-US"/>
              <a:t>中的元素个数都远小于</a:t>
            </a:r>
            <a:r>
              <a:rPr lang="en-US" altLang="zh-CN"/>
              <a:t>2n!</a:t>
            </a:r>
            <a:r>
              <a:rPr lang="zh-CN" altLang="en-US"/>
              <a:t>。</a:t>
            </a:r>
          </a:p>
          <a:p>
            <a:endParaRPr lang="zh-CN" altLang="en-US"/>
          </a:p>
        </p:txBody>
      </p:sp>
      <p:sp>
        <p:nvSpPr>
          <p:cNvPr id="118787" name="灯片编号占位符 3">
            <a:extLst>
              <a:ext uri="{FF2B5EF4-FFF2-40B4-BE49-F238E27FC236}">
                <a16:creationId xmlns:a16="http://schemas.microsoft.com/office/drawing/2014/main" id="{3A7BD65C-9F81-AC46-B918-D74209B14D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8C8ABCF-3AD7-2645-96F3-581CA3F644A6}" type="slidenum">
              <a:rPr lang="en-US" altLang="zh-CN"/>
              <a:pPr/>
              <a:t>22</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幻灯片图像占位符 1">
            <a:extLst>
              <a:ext uri="{FF2B5EF4-FFF2-40B4-BE49-F238E27FC236}">
                <a16:creationId xmlns:a16="http://schemas.microsoft.com/office/drawing/2014/main" id="{A38976E4-C8FA-5B42-9BBC-993BEEEF303C}"/>
              </a:ext>
            </a:extLst>
          </p:cNvPr>
          <p:cNvSpPr>
            <a:spLocks noGrp="1" noRot="1" noChangeAspect="1" noChangeArrowheads="1" noTextEdit="1"/>
          </p:cNvSpPr>
          <p:nvPr>
            <p:ph type="sldImg" idx="4294967295"/>
          </p:nvPr>
        </p:nvSpPr>
        <p:spPr>
          <a:ln/>
        </p:spPr>
      </p:sp>
      <p:sp>
        <p:nvSpPr>
          <p:cNvPr id="120834" name="备注占位符 2">
            <a:extLst>
              <a:ext uri="{FF2B5EF4-FFF2-40B4-BE49-F238E27FC236}">
                <a16:creationId xmlns:a16="http://schemas.microsoft.com/office/drawing/2014/main" id="{3EB4FC6E-1319-FD44-BC56-29E35118E5DD}"/>
              </a:ext>
            </a:extLst>
          </p:cNvPr>
          <p:cNvSpPr>
            <a:spLocks noGrp="1" noChangeArrowheads="1"/>
          </p:cNvSpPr>
          <p:nvPr>
            <p:ph type="body" idx="4294967295"/>
          </p:nvPr>
        </p:nvSpPr>
        <p:spPr/>
        <p:txBody>
          <a:bodyPr/>
          <a:lstStyle/>
          <a:p>
            <a:r>
              <a:rPr lang="zh-CN" altLang="en-US">
                <a:latin typeface="Times New Roman" panose="02020603050405020304" pitchFamily="18" charset="0"/>
              </a:rPr>
              <a:t>在密码设计中，可选</a:t>
            </a:r>
            <a:r>
              <a:rPr lang="en-US" altLang="zh-CN" i="1">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r</a:t>
            </a:r>
            <a:r>
              <a:rPr lang="en-US" altLang="zh-CN">
                <a:latin typeface="Times New Roman" panose="02020603050405020304" pitchFamily="18" charset="0"/>
                <a:sym typeface="Symbol" pitchFamily="2" charset="2"/>
              </a:rPr>
              <a:t></a:t>
            </a:r>
            <a:r>
              <a:rPr lang="en-US" altLang="zh-CN" i="1">
                <a:latin typeface="Times New Roman" panose="02020603050405020304" pitchFamily="18" charset="0"/>
              </a:rPr>
              <a:t>n</a:t>
            </a:r>
            <a:r>
              <a:rPr lang="en-US" altLang="zh-CN" baseline="-25000">
                <a:latin typeface="Times New Roman" panose="02020603050405020304" pitchFamily="18" charset="0"/>
              </a:rPr>
              <a:t>0</a:t>
            </a:r>
            <a:r>
              <a:rPr lang="zh-CN" altLang="en-US">
                <a:latin typeface="Times New Roman" panose="02020603050405020304" pitchFamily="18" charset="0"/>
              </a:rPr>
              <a:t>，其中</a:t>
            </a:r>
            <a:r>
              <a:rPr lang="en-US" altLang="zh-CN" i="1">
                <a:latin typeface="Times New Roman" panose="02020603050405020304" pitchFamily="18" charset="0"/>
              </a:rPr>
              <a:t>r</a:t>
            </a:r>
            <a:r>
              <a:rPr lang="zh-CN" altLang="en-US">
                <a:latin typeface="Times New Roman" panose="02020603050405020304" pitchFamily="18" charset="0"/>
              </a:rPr>
              <a:t>和</a:t>
            </a:r>
            <a:r>
              <a:rPr lang="en-US" altLang="zh-CN" i="1">
                <a:latin typeface="Times New Roman" panose="02020603050405020304" pitchFamily="18" charset="0"/>
              </a:rPr>
              <a:t>n</a:t>
            </a:r>
            <a:r>
              <a:rPr lang="en-US" altLang="zh-CN" baseline="-25000">
                <a:latin typeface="Times New Roman" panose="02020603050405020304" pitchFamily="18" charset="0"/>
              </a:rPr>
              <a:t>0</a:t>
            </a:r>
            <a:r>
              <a:rPr lang="zh-CN" altLang="en-US">
                <a:latin typeface="Times New Roman" panose="02020603050405020304" pitchFamily="18" charset="0"/>
              </a:rPr>
              <a:t>都为正整数，将设计</a:t>
            </a:r>
            <a:r>
              <a:rPr lang="en-US" altLang="zh-CN" i="1">
                <a:latin typeface="Times New Roman" panose="02020603050405020304" pitchFamily="18" charset="0"/>
              </a:rPr>
              <a:t>n</a:t>
            </a:r>
            <a:r>
              <a:rPr lang="zh-CN" altLang="en-US">
                <a:latin typeface="Times New Roman" panose="02020603050405020304" pitchFamily="18" charset="0"/>
              </a:rPr>
              <a:t>个变量的代换网络化为设计</a:t>
            </a:r>
            <a:r>
              <a:rPr lang="en-US" altLang="zh-CN">
                <a:latin typeface="Times New Roman" panose="02020603050405020304" pitchFamily="18" charset="0"/>
              </a:rPr>
              <a:t>r</a:t>
            </a:r>
            <a:r>
              <a:rPr lang="zh-CN" altLang="en-US">
                <a:latin typeface="Times New Roman" panose="02020603050405020304" pitchFamily="18" charset="0"/>
              </a:rPr>
              <a:t>个较小的子代换网络，而每个子代换网络只有</a:t>
            </a:r>
            <a:r>
              <a:rPr lang="en-US" altLang="zh-CN" i="1">
                <a:latin typeface="Times New Roman" panose="02020603050405020304" pitchFamily="18" charset="0"/>
              </a:rPr>
              <a:t>n</a:t>
            </a:r>
            <a:r>
              <a:rPr lang="en-US" altLang="zh-CN" baseline="-25000">
                <a:latin typeface="Times New Roman" panose="02020603050405020304" pitchFamily="18" charset="0"/>
              </a:rPr>
              <a:t>0</a:t>
            </a:r>
            <a:r>
              <a:rPr lang="zh-CN" altLang="en-US">
                <a:latin typeface="Times New Roman" panose="02020603050405020304" pitchFamily="18" charset="0"/>
              </a:rPr>
              <a:t>个输入变量。称每个子代换网络为代换盒</a:t>
            </a:r>
            <a:r>
              <a:rPr lang="en-US" altLang="zh-CN">
                <a:latin typeface="Times New Roman" panose="02020603050405020304" pitchFamily="18" charset="0"/>
              </a:rPr>
              <a:t>(Substitution Box)</a:t>
            </a:r>
            <a:r>
              <a:rPr lang="zh-CN" altLang="en-US">
                <a:latin typeface="Times New Roman" panose="02020603050405020304" pitchFamily="18" charset="0"/>
              </a:rPr>
              <a:t>，即</a:t>
            </a:r>
            <a:r>
              <a:rPr lang="en-US" altLang="zh-CN">
                <a:latin typeface="Times New Roman" panose="02020603050405020304" pitchFamily="18" charset="0"/>
              </a:rPr>
              <a:t>S</a:t>
            </a:r>
            <a:r>
              <a:rPr lang="zh-CN" altLang="en-US">
                <a:latin typeface="Times New Roman" panose="02020603050405020304" pitchFamily="18" charset="0"/>
              </a:rPr>
              <a:t>盒。我们后面要介绍的分组密码算法中都用到了</a:t>
            </a:r>
            <a:r>
              <a:rPr lang="en-US" altLang="zh-CN">
                <a:latin typeface="Times New Roman" panose="02020603050405020304" pitchFamily="18" charset="0"/>
              </a:rPr>
              <a:t>S</a:t>
            </a:r>
            <a:r>
              <a:rPr lang="zh-CN" altLang="en-US">
                <a:latin typeface="Times New Roman" panose="02020603050405020304" pitchFamily="18" charset="0"/>
              </a:rPr>
              <a:t>盒。</a:t>
            </a:r>
            <a:endParaRPr lang="en-US" altLang="zh-CN">
              <a:latin typeface="Times New Roman" panose="02020603050405020304" pitchFamily="18" charset="0"/>
            </a:endParaRPr>
          </a:p>
          <a:p>
            <a:endParaRPr lang="zh-CN" altLang="en-US"/>
          </a:p>
        </p:txBody>
      </p:sp>
      <p:sp>
        <p:nvSpPr>
          <p:cNvPr id="120835" name="灯片编号占位符 3">
            <a:extLst>
              <a:ext uri="{FF2B5EF4-FFF2-40B4-BE49-F238E27FC236}">
                <a16:creationId xmlns:a16="http://schemas.microsoft.com/office/drawing/2014/main" id="{D40CC065-90CB-A849-90E3-BCA4CB46E6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FE44CF9-01FF-E145-9455-2B069DDB69AA}" type="slidenum">
              <a:rPr lang="en-US" altLang="zh-CN"/>
              <a:pPr/>
              <a:t>23</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幻灯片图像占位符 1">
            <a:extLst>
              <a:ext uri="{FF2B5EF4-FFF2-40B4-BE49-F238E27FC236}">
                <a16:creationId xmlns:a16="http://schemas.microsoft.com/office/drawing/2014/main" id="{37D47F52-EAD8-4F49-B8BF-8B6C328FC433}"/>
              </a:ext>
            </a:extLst>
          </p:cNvPr>
          <p:cNvSpPr>
            <a:spLocks noGrp="1" noRot="1" noChangeAspect="1" noChangeArrowheads="1" noTextEdit="1"/>
          </p:cNvSpPr>
          <p:nvPr>
            <p:ph type="sldImg" idx="4294967295"/>
          </p:nvPr>
        </p:nvSpPr>
        <p:spPr>
          <a:ln/>
        </p:spPr>
      </p:sp>
      <p:sp>
        <p:nvSpPr>
          <p:cNvPr id="122882" name="备注占位符 2">
            <a:extLst>
              <a:ext uri="{FF2B5EF4-FFF2-40B4-BE49-F238E27FC236}">
                <a16:creationId xmlns:a16="http://schemas.microsoft.com/office/drawing/2014/main" id="{EE4D4B86-94F0-0D4D-8BC9-60B636C84729}"/>
              </a:ext>
            </a:extLst>
          </p:cNvPr>
          <p:cNvSpPr>
            <a:spLocks noGrp="1" noChangeArrowheads="1"/>
          </p:cNvSpPr>
          <p:nvPr>
            <p:ph type="body" idx="4294967295"/>
          </p:nvPr>
        </p:nvSpPr>
        <p:spPr/>
        <p:txBody>
          <a:bodyPr/>
          <a:lstStyle/>
          <a:p>
            <a:r>
              <a:rPr lang="en-US" altLang="zh-CN"/>
              <a:t>DES</a:t>
            </a:r>
            <a:r>
              <a:rPr lang="zh-CN" altLang="en-US"/>
              <a:t>是最早采用</a:t>
            </a:r>
            <a:r>
              <a:rPr lang="en-US" altLang="zh-CN"/>
              <a:t>S</a:t>
            </a:r>
            <a:r>
              <a:rPr lang="zh-CN" altLang="en-US"/>
              <a:t>盒的分组密码算法，但迄今为止，有关方面未曾完全公开有关</a:t>
            </a:r>
            <a:r>
              <a:rPr lang="en-US" altLang="zh-CN"/>
              <a:t>DES</a:t>
            </a:r>
            <a:r>
              <a:rPr lang="zh-CN" altLang="en-US"/>
              <a:t>的</a:t>
            </a:r>
            <a:r>
              <a:rPr lang="en-US" altLang="zh-CN"/>
              <a:t>S</a:t>
            </a:r>
            <a:r>
              <a:rPr lang="zh-CN" altLang="en-US"/>
              <a:t>盒的设计准则。</a:t>
            </a:r>
            <a:r>
              <a:rPr lang="en-US" altLang="zh-CN"/>
              <a:t>Branstead</a:t>
            </a:r>
            <a:r>
              <a:rPr lang="zh-CN" altLang="en-US"/>
              <a:t>等曾披露过下述准则：</a:t>
            </a:r>
            <a:r>
              <a:rPr lang="en-US" altLang="zh-CN"/>
              <a:t>P1  S</a:t>
            </a:r>
            <a:r>
              <a:rPr lang="zh-CN" altLang="en-US"/>
              <a:t>盒的输出都不是其输入的线性或仿射函数。</a:t>
            </a:r>
            <a:r>
              <a:rPr lang="en-US" altLang="zh-CN"/>
              <a:t>P2 </a:t>
            </a:r>
            <a:r>
              <a:rPr lang="zh-CN" altLang="en-US"/>
              <a:t>改变</a:t>
            </a:r>
            <a:r>
              <a:rPr lang="en-US" altLang="zh-CN"/>
              <a:t>S</a:t>
            </a:r>
            <a:r>
              <a:rPr lang="zh-CN" altLang="en-US"/>
              <a:t>盒的一个输入比特，其输出至少有两比特产生变化，即近一半产生变化。</a:t>
            </a:r>
            <a:r>
              <a:rPr lang="en-US" altLang="zh-CN"/>
              <a:t>P3 </a:t>
            </a:r>
            <a:r>
              <a:rPr lang="zh-CN" altLang="en-US"/>
              <a:t>当</a:t>
            </a:r>
            <a:r>
              <a:rPr lang="en-US" altLang="zh-CN"/>
              <a:t>S</a:t>
            </a:r>
            <a:r>
              <a:rPr lang="zh-CN" altLang="en-US"/>
              <a:t>盒的任一输入位保持不变，其它</a:t>
            </a:r>
            <a:r>
              <a:rPr lang="en-US" altLang="zh-CN"/>
              <a:t>5</a:t>
            </a:r>
            <a:r>
              <a:rPr lang="zh-CN" altLang="en-US"/>
              <a:t>位输入变化时</a:t>
            </a:r>
            <a:r>
              <a:rPr lang="en-US" altLang="zh-CN"/>
              <a:t>(</a:t>
            </a:r>
            <a:r>
              <a:rPr lang="zh-CN" altLang="en-US"/>
              <a:t>共有</a:t>
            </a:r>
            <a:r>
              <a:rPr lang="en-US" altLang="zh-CN"/>
              <a:t>25 =32</a:t>
            </a:r>
            <a:r>
              <a:rPr lang="zh-CN" altLang="en-US"/>
              <a:t>种情况</a:t>
            </a:r>
            <a:r>
              <a:rPr lang="en-US" altLang="zh-CN"/>
              <a:t>)</a:t>
            </a:r>
            <a:r>
              <a:rPr lang="zh-CN" altLang="en-US"/>
              <a:t>，输出数字中的</a:t>
            </a:r>
            <a:r>
              <a:rPr lang="en-US" altLang="zh-CN"/>
              <a:t>0</a:t>
            </a:r>
            <a:r>
              <a:rPr lang="zh-CN" altLang="en-US"/>
              <a:t>和</a:t>
            </a:r>
            <a:r>
              <a:rPr lang="en-US" altLang="zh-CN"/>
              <a:t>1</a:t>
            </a:r>
            <a:r>
              <a:rPr lang="zh-CN" altLang="en-US"/>
              <a:t>的总数近于相等。 这三点使</a:t>
            </a:r>
            <a:r>
              <a:rPr lang="en-US" altLang="zh-CN"/>
              <a:t>DES</a:t>
            </a:r>
            <a:r>
              <a:rPr lang="zh-CN" altLang="en-US"/>
              <a:t>的</a:t>
            </a:r>
            <a:r>
              <a:rPr lang="en-US" altLang="zh-CN"/>
              <a:t>S</a:t>
            </a:r>
            <a:r>
              <a:rPr lang="zh-CN" altLang="en-US"/>
              <a:t>盒能够实现较好的混淆。</a:t>
            </a:r>
          </a:p>
          <a:p>
            <a:endParaRPr lang="zh-CN" altLang="en-US"/>
          </a:p>
        </p:txBody>
      </p:sp>
      <p:sp>
        <p:nvSpPr>
          <p:cNvPr id="122883" name="灯片编号占位符 3">
            <a:extLst>
              <a:ext uri="{FF2B5EF4-FFF2-40B4-BE49-F238E27FC236}">
                <a16:creationId xmlns:a16="http://schemas.microsoft.com/office/drawing/2014/main" id="{89B5F70D-E60A-8049-83AA-AD45A07E10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38A09D8-3AFA-994D-A8FA-A7912AB5288C}" type="slidenum">
              <a:rPr lang="en-US" altLang="zh-CN"/>
              <a:pPr/>
              <a:t>24</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幻灯片图像占位符 1">
            <a:extLst>
              <a:ext uri="{FF2B5EF4-FFF2-40B4-BE49-F238E27FC236}">
                <a16:creationId xmlns:a16="http://schemas.microsoft.com/office/drawing/2014/main" id="{8DD5B84B-E96E-F34F-84B2-38EEAEB14EFA}"/>
              </a:ext>
            </a:extLst>
          </p:cNvPr>
          <p:cNvSpPr>
            <a:spLocks noGrp="1" noRot="1" noChangeAspect="1" noChangeArrowheads="1" noTextEdit="1"/>
          </p:cNvSpPr>
          <p:nvPr>
            <p:ph type="sldImg" idx="4294967295"/>
          </p:nvPr>
        </p:nvSpPr>
        <p:spPr>
          <a:ln/>
        </p:spPr>
      </p:sp>
      <p:sp>
        <p:nvSpPr>
          <p:cNvPr id="124930" name="备注占位符 2">
            <a:extLst>
              <a:ext uri="{FF2B5EF4-FFF2-40B4-BE49-F238E27FC236}">
                <a16:creationId xmlns:a16="http://schemas.microsoft.com/office/drawing/2014/main" id="{697B63D5-D0F8-7A4A-A5A4-6546505126A3}"/>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a:extLst>
              <a:ext uri="{FF2B5EF4-FFF2-40B4-BE49-F238E27FC236}">
                <a16:creationId xmlns:a16="http://schemas.microsoft.com/office/drawing/2014/main" id="{BF8BB1CB-B3C2-C14C-8CB9-512DBC7EC3F0}"/>
              </a:ext>
            </a:extLst>
          </p:cNvPr>
          <p:cNvSpPr>
            <a:spLocks noGrp="1" noRot="1" noChangeAspect="1" noChangeArrowheads="1" noTextEdit="1"/>
          </p:cNvSpPr>
          <p:nvPr>
            <p:ph type="sldImg" idx="4294967295"/>
          </p:nvPr>
        </p:nvSpPr>
        <p:spPr>
          <a:ln/>
        </p:spPr>
      </p:sp>
      <p:sp>
        <p:nvSpPr>
          <p:cNvPr id="134146" name="Notes Placeholder 2">
            <a:extLst>
              <a:ext uri="{FF2B5EF4-FFF2-40B4-BE49-F238E27FC236}">
                <a16:creationId xmlns:a16="http://schemas.microsoft.com/office/drawing/2014/main" id="{7AC6DA4F-5E5A-7646-AD6A-72B39C9AD621}"/>
              </a:ext>
            </a:extLst>
          </p:cNvPr>
          <p:cNvSpPr>
            <a:spLocks noGrp="1" noChangeArrowheads="1"/>
          </p:cNvSpPr>
          <p:nvPr>
            <p:ph type="body" idx="4294967295"/>
          </p:nvPr>
        </p:nvSpPr>
        <p:spPr/>
        <p:txBody>
          <a:bodyPr/>
          <a:lstStyle/>
          <a:p>
            <a:r>
              <a:rPr lang="zh-CN" altLang="en-US"/>
              <a:t>每一层都可以通过上一层来计算</a:t>
            </a:r>
            <a:endParaRPr lang="en-US" altLang="en-US"/>
          </a:p>
        </p:txBody>
      </p:sp>
      <p:sp>
        <p:nvSpPr>
          <p:cNvPr id="134147" name="Slide Number Placeholder 3">
            <a:extLst>
              <a:ext uri="{FF2B5EF4-FFF2-40B4-BE49-F238E27FC236}">
                <a16:creationId xmlns:a16="http://schemas.microsoft.com/office/drawing/2014/main" id="{E2EE07CD-024D-FB42-B394-97CE46BD64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F138CB6-892D-994D-957F-6DE985B1F141}" type="slidenum">
              <a:rPr lang="en-US" altLang="zh-CN"/>
              <a:pPr/>
              <a:t>33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幻灯片图像占位符 1">
            <a:extLst>
              <a:ext uri="{FF2B5EF4-FFF2-40B4-BE49-F238E27FC236}">
                <a16:creationId xmlns:a16="http://schemas.microsoft.com/office/drawing/2014/main" id="{893A9084-21CE-C343-AC55-1EE765293473}"/>
              </a:ext>
            </a:extLst>
          </p:cNvPr>
          <p:cNvSpPr>
            <a:spLocks noGrp="1" noRot="1" noChangeAspect="1" noChangeArrowheads="1" noTextEdit="1"/>
          </p:cNvSpPr>
          <p:nvPr>
            <p:ph type="sldImg" idx="4294967295"/>
          </p:nvPr>
        </p:nvSpPr>
        <p:spPr>
          <a:ln/>
        </p:spPr>
      </p:sp>
      <p:sp>
        <p:nvSpPr>
          <p:cNvPr id="136194" name="备注占位符 2">
            <a:extLst>
              <a:ext uri="{FF2B5EF4-FFF2-40B4-BE49-F238E27FC236}">
                <a16:creationId xmlns:a16="http://schemas.microsoft.com/office/drawing/2014/main" id="{061BCA5C-4A1B-944A-926E-7A8EB9BDCDD3}"/>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a:extLst>
              <a:ext uri="{FF2B5EF4-FFF2-40B4-BE49-F238E27FC236}">
                <a16:creationId xmlns:a16="http://schemas.microsoft.com/office/drawing/2014/main" id="{AA904552-DA1E-CD4C-BA71-4AC4B4D56467}"/>
              </a:ext>
            </a:extLst>
          </p:cNvPr>
          <p:cNvSpPr>
            <a:spLocks noGrp="1" noRot="1" noChangeAspect="1" noChangeArrowheads="1" noTextEdit="1"/>
          </p:cNvSpPr>
          <p:nvPr>
            <p:ph type="sldImg" idx="4294967295"/>
          </p:nvPr>
        </p:nvSpPr>
        <p:spPr>
          <a:ln/>
        </p:spPr>
      </p:sp>
      <p:sp>
        <p:nvSpPr>
          <p:cNvPr id="138242" name="Notes Placeholder 2">
            <a:extLst>
              <a:ext uri="{FF2B5EF4-FFF2-40B4-BE49-F238E27FC236}">
                <a16:creationId xmlns:a16="http://schemas.microsoft.com/office/drawing/2014/main" id="{03D3FFD6-7E31-144B-8A5F-F20A25DED807}"/>
              </a:ext>
            </a:extLst>
          </p:cNvPr>
          <p:cNvSpPr>
            <a:spLocks noGrp="1" noChangeArrowheads="1"/>
          </p:cNvSpPr>
          <p:nvPr>
            <p:ph type="body" idx="4294967295"/>
          </p:nvPr>
        </p:nvSpPr>
        <p:spPr/>
        <p:txBody>
          <a:bodyPr/>
          <a:lstStyle/>
          <a:p>
            <a:r>
              <a:rPr lang="zh-CN" altLang="en-US"/>
              <a:t>标准化</a:t>
            </a:r>
            <a:endParaRPr lang="en-US" altLang="en-US"/>
          </a:p>
        </p:txBody>
      </p:sp>
      <p:sp>
        <p:nvSpPr>
          <p:cNvPr id="138243" name="Slide Number Placeholder 3">
            <a:extLst>
              <a:ext uri="{FF2B5EF4-FFF2-40B4-BE49-F238E27FC236}">
                <a16:creationId xmlns:a16="http://schemas.microsoft.com/office/drawing/2014/main" id="{51921681-D5A4-7E43-812C-88428FA98C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FB8C3E3-A491-2B41-BC73-9CD9B174F63E}" type="slidenum">
              <a:rPr lang="en-US" altLang="zh-CN"/>
              <a:pPr/>
              <a:t>35</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Slide Image Placeholder 1">
            <a:extLst>
              <a:ext uri="{FF2B5EF4-FFF2-40B4-BE49-F238E27FC236}">
                <a16:creationId xmlns:a16="http://schemas.microsoft.com/office/drawing/2014/main" id="{A89699EF-DAA0-7D4F-B544-5F5A60762EA9}"/>
              </a:ext>
            </a:extLst>
          </p:cNvPr>
          <p:cNvSpPr>
            <a:spLocks noGrp="1" noRot="1" noChangeAspect="1" noChangeArrowheads="1" noTextEdit="1"/>
          </p:cNvSpPr>
          <p:nvPr>
            <p:ph type="sldImg" idx="4294967295"/>
          </p:nvPr>
        </p:nvSpPr>
        <p:spPr>
          <a:ln/>
        </p:spPr>
      </p:sp>
      <p:sp>
        <p:nvSpPr>
          <p:cNvPr id="141314" name="Notes Placeholder 2">
            <a:extLst>
              <a:ext uri="{FF2B5EF4-FFF2-40B4-BE49-F238E27FC236}">
                <a16:creationId xmlns:a16="http://schemas.microsoft.com/office/drawing/2014/main" id="{DACAA1E4-E6C2-674C-B69C-8E7DDB79B57B}"/>
              </a:ext>
            </a:extLst>
          </p:cNvPr>
          <p:cNvSpPr>
            <a:spLocks noGrp="1" noChangeArrowheads="1"/>
          </p:cNvSpPr>
          <p:nvPr>
            <p:ph type="body" idx="4294967295"/>
          </p:nvPr>
        </p:nvSpPr>
        <p:spPr/>
        <p:txBody>
          <a:bodyPr/>
          <a:lstStyle/>
          <a:p>
            <a:r>
              <a:rPr lang="zh-CN" altLang="en-US"/>
              <a:t>路西法 改成的</a:t>
            </a:r>
            <a:r>
              <a:rPr lang="en-US" altLang="zh-CN"/>
              <a:t>DES</a:t>
            </a:r>
            <a:r>
              <a:rPr lang="zh-CN" altLang="en-US"/>
              <a:t> </a:t>
            </a:r>
            <a:endParaRPr lang="en-US" altLang="en-US"/>
          </a:p>
        </p:txBody>
      </p:sp>
      <p:sp>
        <p:nvSpPr>
          <p:cNvPr id="141315" name="Slide Number Placeholder 3">
            <a:extLst>
              <a:ext uri="{FF2B5EF4-FFF2-40B4-BE49-F238E27FC236}">
                <a16:creationId xmlns:a16="http://schemas.microsoft.com/office/drawing/2014/main" id="{C3CFFCA2-DEC4-7B45-8AB4-B6CFF85D93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483550F-12A1-9D41-934B-FFE11C1138C7}" type="slidenum">
              <a:rPr lang="en-US" altLang="zh-CN"/>
              <a:pPr/>
              <a:t>37</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幻灯片图像占位符 1">
            <a:extLst>
              <a:ext uri="{FF2B5EF4-FFF2-40B4-BE49-F238E27FC236}">
                <a16:creationId xmlns:a16="http://schemas.microsoft.com/office/drawing/2014/main" id="{5BE5CD7D-DD35-B243-9006-CF0B04845DAB}"/>
              </a:ext>
            </a:extLst>
          </p:cNvPr>
          <p:cNvSpPr>
            <a:spLocks noGrp="1" noRot="1" noChangeAspect="1" noChangeArrowheads="1" noTextEdit="1"/>
          </p:cNvSpPr>
          <p:nvPr>
            <p:ph type="sldImg" idx="4294967295"/>
          </p:nvPr>
        </p:nvSpPr>
        <p:spPr>
          <a:ln/>
        </p:spPr>
      </p:sp>
      <p:sp>
        <p:nvSpPr>
          <p:cNvPr id="145410" name="备注占位符 2">
            <a:extLst>
              <a:ext uri="{FF2B5EF4-FFF2-40B4-BE49-F238E27FC236}">
                <a16:creationId xmlns:a16="http://schemas.microsoft.com/office/drawing/2014/main" id="{80821189-2C09-7142-AB58-CC0B5FBACB40}"/>
              </a:ext>
            </a:extLst>
          </p:cNvPr>
          <p:cNvSpPr>
            <a:spLocks noGrp="1" noChangeArrowheads="1"/>
          </p:cNvSpPr>
          <p:nvPr>
            <p:ph type="body" idx="4294967295"/>
          </p:nvPr>
        </p:nvSpPr>
        <p:spPr/>
        <p:txBody>
          <a:bodyPr/>
          <a:lstStyle/>
          <a:p>
            <a:endParaRPr lang="zh-CN" altLang="en-US"/>
          </a:p>
        </p:txBody>
      </p:sp>
      <p:sp>
        <p:nvSpPr>
          <p:cNvPr id="145411" name="灯片编号占位符 3">
            <a:extLst>
              <a:ext uri="{FF2B5EF4-FFF2-40B4-BE49-F238E27FC236}">
                <a16:creationId xmlns:a16="http://schemas.microsoft.com/office/drawing/2014/main" id="{8A6B773C-201E-BD46-9D1D-D82ADF32FB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1FAD231-8541-514A-BF06-A546068C4467}" type="slidenum">
              <a:rPr lang="en-US" altLang="zh-CN"/>
              <a:pPr/>
              <a:t>40</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Slide Image Placeholder 1">
            <a:extLst>
              <a:ext uri="{FF2B5EF4-FFF2-40B4-BE49-F238E27FC236}">
                <a16:creationId xmlns:a16="http://schemas.microsoft.com/office/drawing/2014/main" id="{4E3C080C-D567-5D42-A042-B56FAC445A20}"/>
              </a:ext>
            </a:extLst>
          </p:cNvPr>
          <p:cNvSpPr>
            <a:spLocks noGrp="1" noRot="1" noChangeAspect="1" noChangeArrowheads="1" noTextEdit="1"/>
          </p:cNvSpPr>
          <p:nvPr>
            <p:ph type="sldImg" idx="4294967295"/>
          </p:nvPr>
        </p:nvSpPr>
        <p:spPr>
          <a:ln/>
        </p:spPr>
      </p:sp>
      <p:sp>
        <p:nvSpPr>
          <p:cNvPr id="147458" name="Notes Placeholder 2">
            <a:extLst>
              <a:ext uri="{FF2B5EF4-FFF2-40B4-BE49-F238E27FC236}">
                <a16:creationId xmlns:a16="http://schemas.microsoft.com/office/drawing/2014/main" id="{47C50870-4A0D-8346-A064-6F6F6AD2A270}"/>
              </a:ext>
            </a:extLst>
          </p:cNvPr>
          <p:cNvSpPr>
            <a:spLocks noGrp="1" noChangeArrowheads="1"/>
          </p:cNvSpPr>
          <p:nvPr>
            <p:ph type="body" idx="4294967295"/>
          </p:nvPr>
        </p:nvSpPr>
        <p:spPr/>
        <p:txBody>
          <a:bodyPr/>
          <a:lstStyle/>
          <a:p>
            <a:endParaRPr lang="en-US" altLang="en-US"/>
          </a:p>
        </p:txBody>
      </p:sp>
      <p:sp>
        <p:nvSpPr>
          <p:cNvPr id="147459" name="Slide Number Placeholder 3">
            <a:extLst>
              <a:ext uri="{FF2B5EF4-FFF2-40B4-BE49-F238E27FC236}">
                <a16:creationId xmlns:a16="http://schemas.microsoft.com/office/drawing/2014/main" id="{B5BC8841-9524-C349-A434-4969427CD8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933F052-9005-494F-91EA-2D86A8D81F6F}" type="slidenum">
              <a:rPr lang="en-US" altLang="zh-CN"/>
              <a:pPr/>
              <a:t>41</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Slide Image Placeholder 1">
            <a:extLst>
              <a:ext uri="{FF2B5EF4-FFF2-40B4-BE49-F238E27FC236}">
                <a16:creationId xmlns:a16="http://schemas.microsoft.com/office/drawing/2014/main" id="{1C2E155D-BC30-474C-BACA-CA15D9CAE89F}"/>
              </a:ext>
            </a:extLst>
          </p:cNvPr>
          <p:cNvSpPr>
            <a:spLocks noGrp="1" noRot="1" noChangeAspect="1" noChangeArrowheads="1" noTextEdit="1"/>
          </p:cNvSpPr>
          <p:nvPr>
            <p:ph type="sldImg" idx="4294967295"/>
          </p:nvPr>
        </p:nvSpPr>
        <p:spPr>
          <a:ln/>
        </p:spPr>
      </p:sp>
      <p:sp>
        <p:nvSpPr>
          <p:cNvPr id="153602" name="Notes Placeholder 2">
            <a:extLst>
              <a:ext uri="{FF2B5EF4-FFF2-40B4-BE49-F238E27FC236}">
                <a16:creationId xmlns:a16="http://schemas.microsoft.com/office/drawing/2014/main" id="{D6A359B7-FB70-B546-A47A-B85EAE4BC033}"/>
              </a:ext>
            </a:extLst>
          </p:cNvPr>
          <p:cNvSpPr>
            <a:spLocks noGrp="1" noChangeArrowheads="1"/>
          </p:cNvSpPr>
          <p:nvPr>
            <p:ph type="body" idx="4294967295"/>
          </p:nvPr>
        </p:nvSpPr>
        <p:spPr/>
        <p:txBody>
          <a:bodyPr/>
          <a:lstStyle/>
          <a:p>
            <a:endParaRPr lang="en-US" altLang="en-US"/>
          </a:p>
        </p:txBody>
      </p:sp>
      <p:sp>
        <p:nvSpPr>
          <p:cNvPr id="153603" name="Slide Number Placeholder 3">
            <a:extLst>
              <a:ext uri="{FF2B5EF4-FFF2-40B4-BE49-F238E27FC236}">
                <a16:creationId xmlns:a16="http://schemas.microsoft.com/office/drawing/2014/main" id="{FBB16918-2815-5E4D-ADEE-493F101E08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0777E1E-275E-C641-B16A-5401B6922844}" type="slidenum">
              <a:rPr lang="en-US" altLang="zh-CN"/>
              <a:pPr/>
              <a:t>46</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幻灯片图像占位符 1">
            <a:extLst>
              <a:ext uri="{FF2B5EF4-FFF2-40B4-BE49-F238E27FC236}">
                <a16:creationId xmlns:a16="http://schemas.microsoft.com/office/drawing/2014/main" id="{972AAD2C-C405-6442-B83D-DC5705386AE3}"/>
              </a:ext>
            </a:extLst>
          </p:cNvPr>
          <p:cNvSpPr>
            <a:spLocks noGrp="1" noRot="1" noChangeAspect="1" noChangeArrowheads="1" noTextEdit="1"/>
          </p:cNvSpPr>
          <p:nvPr>
            <p:ph type="sldImg" idx="4294967295"/>
          </p:nvPr>
        </p:nvSpPr>
        <p:spPr>
          <a:ln/>
        </p:spPr>
      </p:sp>
      <p:sp>
        <p:nvSpPr>
          <p:cNvPr id="156674" name="备注占位符 2">
            <a:extLst>
              <a:ext uri="{FF2B5EF4-FFF2-40B4-BE49-F238E27FC236}">
                <a16:creationId xmlns:a16="http://schemas.microsoft.com/office/drawing/2014/main" id="{52CBBB8C-2260-E347-BBDC-13F6D52EDE78}"/>
              </a:ext>
            </a:extLst>
          </p:cNvPr>
          <p:cNvSpPr>
            <a:spLocks noGrp="1" noChangeArrowheads="1"/>
          </p:cNvSpPr>
          <p:nvPr>
            <p:ph type="body" idx="4294967295"/>
          </p:nvPr>
        </p:nvSpPr>
        <p:spPr/>
        <p:txBody>
          <a:bodyPr/>
          <a:lstStyle/>
          <a:p>
            <a:r>
              <a:rPr lang="zh-CN" altLang="en-US"/>
              <a:t>同学们，大家好，上一讲我们介绍了</a:t>
            </a:r>
            <a:r>
              <a:rPr lang="en-US" altLang="zh-CN"/>
              <a:t>DES</a:t>
            </a:r>
            <a:r>
              <a:rPr lang="zh-CN" altLang="en-US"/>
              <a:t>产生的背景和</a:t>
            </a:r>
            <a:r>
              <a:rPr lang="en-US" altLang="zh-CN"/>
              <a:t>DES</a:t>
            </a:r>
            <a:r>
              <a:rPr lang="zh-CN" altLang="en-US"/>
              <a:t>的主要结构。</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幻灯片图像占位符 1">
            <a:extLst>
              <a:ext uri="{FF2B5EF4-FFF2-40B4-BE49-F238E27FC236}">
                <a16:creationId xmlns:a16="http://schemas.microsoft.com/office/drawing/2014/main" id="{3D9EBD59-FE09-854D-83AB-1B2B4F45B680}"/>
              </a:ext>
            </a:extLst>
          </p:cNvPr>
          <p:cNvSpPr>
            <a:spLocks noGrp="1" noRot="1" noChangeAspect="1" noChangeArrowheads="1" noTextEdit="1"/>
          </p:cNvSpPr>
          <p:nvPr>
            <p:ph type="sldImg" idx="4294967295"/>
          </p:nvPr>
        </p:nvSpPr>
        <p:spPr>
          <a:ln/>
        </p:spPr>
      </p:sp>
      <p:sp>
        <p:nvSpPr>
          <p:cNvPr id="158722" name="备注占位符 2">
            <a:extLst>
              <a:ext uri="{FF2B5EF4-FFF2-40B4-BE49-F238E27FC236}">
                <a16:creationId xmlns:a16="http://schemas.microsoft.com/office/drawing/2014/main" id="{395CAA11-E110-1047-871A-C849B97EC7FE}"/>
              </a:ext>
            </a:extLst>
          </p:cNvPr>
          <p:cNvSpPr>
            <a:spLocks noGrp="1" noChangeArrowheads="1"/>
          </p:cNvSpPr>
          <p:nvPr>
            <p:ph type="body" idx="4294967295"/>
          </p:nvPr>
        </p:nvSpPr>
        <p:spPr/>
        <p:txBody>
          <a:bodyPr/>
          <a:lstStyle/>
          <a:p>
            <a:r>
              <a:rPr lang="en-US" altLang="zh-CN"/>
              <a:t>DES</a:t>
            </a:r>
            <a:r>
              <a:rPr lang="zh-CN" altLang="en-US"/>
              <a:t>的轮函数的结构如图所示。所谓对合变换就会作用两次就还原为本身的变换。</a:t>
            </a:r>
          </a:p>
        </p:txBody>
      </p:sp>
      <p:sp>
        <p:nvSpPr>
          <p:cNvPr id="158723" name="灯片编号占位符 3">
            <a:extLst>
              <a:ext uri="{FF2B5EF4-FFF2-40B4-BE49-F238E27FC236}">
                <a16:creationId xmlns:a16="http://schemas.microsoft.com/office/drawing/2014/main" id="{E02610A4-0936-4649-BEB3-7C41795987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1D17688-D68E-AF42-A90F-6D883E728C9E}" type="slidenum">
              <a:rPr lang="en-US" altLang="zh-CN"/>
              <a:pPr/>
              <a:t>49</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幻灯片图像占位符 1">
            <a:extLst>
              <a:ext uri="{FF2B5EF4-FFF2-40B4-BE49-F238E27FC236}">
                <a16:creationId xmlns:a16="http://schemas.microsoft.com/office/drawing/2014/main" id="{BDD177A6-35C3-DC48-84CC-7DE30734E2B5}"/>
              </a:ext>
            </a:extLst>
          </p:cNvPr>
          <p:cNvSpPr>
            <a:spLocks noGrp="1" noRot="1" noChangeAspect="1" noChangeArrowheads="1" noTextEdit="1"/>
          </p:cNvSpPr>
          <p:nvPr>
            <p:ph type="sldImg" idx="4294967295"/>
          </p:nvPr>
        </p:nvSpPr>
        <p:spPr>
          <a:ln/>
        </p:spPr>
      </p:sp>
      <p:sp>
        <p:nvSpPr>
          <p:cNvPr id="160770" name="备注占位符 2">
            <a:extLst>
              <a:ext uri="{FF2B5EF4-FFF2-40B4-BE49-F238E27FC236}">
                <a16:creationId xmlns:a16="http://schemas.microsoft.com/office/drawing/2014/main" id="{9156119D-6C62-344C-96DB-86A3CFE8CEC8}"/>
              </a:ext>
            </a:extLst>
          </p:cNvPr>
          <p:cNvSpPr>
            <a:spLocks noGrp="1" noChangeArrowheads="1"/>
          </p:cNvSpPr>
          <p:nvPr>
            <p:ph type="body" idx="4294967295"/>
          </p:nvPr>
        </p:nvSpPr>
        <p:spPr/>
        <p:txBody>
          <a:bodyPr/>
          <a:lstStyle/>
          <a:p>
            <a:r>
              <a:rPr lang="zh-CN" altLang="en-US"/>
              <a:t>很显然，无论</a:t>
            </a:r>
            <a:r>
              <a:rPr lang="en-US" altLang="zh-CN"/>
              <a:t>f</a:t>
            </a:r>
            <a:r>
              <a:rPr lang="zh-CN" altLang="en-US"/>
              <a:t>函数如何选取，</a:t>
            </a:r>
            <a:r>
              <a:rPr lang="en-US" altLang="zh-CN"/>
              <a:t>DES</a:t>
            </a:r>
            <a:r>
              <a:rPr lang="zh-CN" altLang="en-US"/>
              <a:t>的轮函数是一个对合变换。</a:t>
            </a:r>
          </a:p>
        </p:txBody>
      </p:sp>
      <p:sp>
        <p:nvSpPr>
          <p:cNvPr id="160771" name="灯片编号占位符 3">
            <a:extLst>
              <a:ext uri="{FF2B5EF4-FFF2-40B4-BE49-F238E27FC236}">
                <a16:creationId xmlns:a16="http://schemas.microsoft.com/office/drawing/2014/main" id="{D45C2835-3534-6341-A672-883A42AD53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6180C7A-4747-9645-AF15-1F3C4CFF85A4}" type="slidenum">
              <a:rPr lang="en-US" altLang="zh-CN"/>
              <a:pPr/>
              <a:t>50</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幻灯片图像占位符 1">
            <a:extLst>
              <a:ext uri="{FF2B5EF4-FFF2-40B4-BE49-F238E27FC236}">
                <a16:creationId xmlns:a16="http://schemas.microsoft.com/office/drawing/2014/main" id="{5C62DFC1-A03A-E843-BD68-77A0585CE93C}"/>
              </a:ext>
            </a:extLst>
          </p:cNvPr>
          <p:cNvSpPr>
            <a:spLocks noGrp="1" noRot="1" noChangeAspect="1" noChangeArrowheads="1" noTextEdit="1"/>
          </p:cNvSpPr>
          <p:nvPr>
            <p:ph type="sldImg" idx="4294967295"/>
          </p:nvPr>
        </p:nvSpPr>
        <p:spPr>
          <a:ln/>
        </p:spPr>
      </p:sp>
      <p:sp>
        <p:nvSpPr>
          <p:cNvPr id="162818" name="备注占位符 2">
            <a:extLst>
              <a:ext uri="{FF2B5EF4-FFF2-40B4-BE49-F238E27FC236}">
                <a16:creationId xmlns:a16="http://schemas.microsoft.com/office/drawing/2014/main" id="{4F842B89-4654-DB49-8242-EB45044475EB}"/>
              </a:ext>
            </a:extLst>
          </p:cNvPr>
          <p:cNvSpPr>
            <a:spLocks noGrp="1" noChangeArrowheads="1"/>
          </p:cNvSpPr>
          <p:nvPr>
            <p:ph type="body" idx="4294967295"/>
          </p:nvPr>
        </p:nvSpPr>
        <p:spPr/>
        <p:txBody>
          <a:bodyPr/>
          <a:lstStyle/>
          <a:p>
            <a:r>
              <a:rPr lang="en-US" altLang="zh-CN"/>
              <a:t>DES</a:t>
            </a:r>
            <a:r>
              <a:rPr lang="zh-CN" altLang="en-US"/>
              <a:t>算法每一轮展开就是这样的结构。左边是轮函数，右边是密钥编排。左边虚线框内就是函数</a:t>
            </a:r>
            <a:r>
              <a:rPr lang="en-US" altLang="zh-CN"/>
              <a:t>f</a:t>
            </a:r>
            <a:endParaRPr lang="zh-CN" altLang="en-US"/>
          </a:p>
        </p:txBody>
      </p:sp>
      <p:sp>
        <p:nvSpPr>
          <p:cNvPr id="162819" name="灯片编号占位符 3">
            <a:extLst>
              <a:ext uri="{FF2B5EF4-FFF2-40B4-BE49-F238E27FC236}">
                <a16:creationId xmlns:a16="http://schemas.microsoft.com/office/drawing/2014/main" id="{5D5D41A3-5825-5848-9C34-C8CF5EA97F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82901E1-68AC-684F-8E62-1E0C2F97E3FB}" type="slidenum">
              <a:rPr lang="en-US" altLang="zh-CN"/>
              <a:pPr/>
              <a:t>51</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幻灯片图像占位符 1">
            <a:extLst>
              <a:ext uri="{FF2B5EF4-FFF2-40B4-BE49-F238E27FC236}">
                <a16:creationId xmlns:a16="http://schemas.microsoft.com/office/drawing/2014/main" id="{5DF904A3-9E2A-B645-93D1-DC996B974C19}"/>
              </a:ext>
            </a:extLst>
          </p:cNvPr>
          <p:cNvSpPr>
            <a:spLocks noGrp="1" noRot="1" noChangeAspect="1" noChangeArrowheads="1" noTextEdit="1"/>
          </p:cNvSpPr>
          <p:nvPr>
            <p:ph type="sldImg" idx="4294967295"/>
          </p:nvPr>
        </p:nvSpPr>
        <p:spPr>
          <a:ln/>
        </p:spPr>
      </p:sp>
      <p:sp>
        <p:nvSpPr>
          <p:cNvPr id="164866" name="备注占位符 2">
            <a:extLst>
              <a:ext uri="{FF2B5EF4-FFF2-40B4-BE49-F238E27FC236}">
                <a16:creationId xmlns:a16="http://schemas.microsoft.com/office/drawing/2014/main" id="{94D2E238-F2F9-BA49-8C9C-466BE1DD5050}"/>
              </a:ext>
            </a:extLst>
          </p:cNvPr>
          <p:cNvSpPr>
            <a:spLocks noGrp="1" noChangeArrowheads="1"/>
          </p:cNvSpPr>
          <p:nvPr>
            <p:ph type="body" idx="4294967295"/>
          </p:nvPr>
        </p:nvSpPr>
        <p:spPr/>
        <p:txBody>
          <a:bodyPr/>
          <a:lstStyle/>
          <a:p>
            <a:r>
              <a:rPr lang="zh-CN" altLang="en-US"/>
              <a:t>轮函数中</a:t>
            </a:r>
            <a:r>
              <a:rPr lang="en-US" altLang="zh-CN"/>
              <a:t>f</a:t>
            </a:r>
            <a:r>
              <a:rPr lang="zh-CN" altLang="en-US"/>
              <a:t>函数是如下计算的，首先右边</a:t>
            </a:r>
            <a:r>
              <a:rPr lang="en-US" altLang="zh-CN"/>
              <a:t>32</a:t>
            </a:r>
            <a:r>
              <a:rPr lang="zh-CN" altLang="en-US"/>
              <a:t>比特数据先通过选择扩展置换，扩展为</a:t>
            </a:r>
            <a:r>
              <a:rPr lang="en-US" altLang="zh-CN"/>
              <a:t>48</a:t>
            </a:r>
            <a:r>
              <a:rPr lang="zh-CN" altLang="en-US"/>
              <a:t>比特，然后与该轮的子密钥进行异或，异或后的结果作为</a:t>
            </a:r>
            <a:r>
              <a:rPr lang="en-US" altLang="zh-CN"/>
              <a:t>S</a:t>
            </a:r>
            <a:r>
              <a:rPr lang="zh-CN" altLang="en-US"/>
              <a:t>盒的输入，注意通过</a:t>
            </a:r>
            <a:r>
              <a:rPr lang="en-US" altLang="zh-CN"/>
              <a:t>S</a:t>
            </a:r>
            <a:r>
              <a:rPr lang="zh-CN" altLang="en-US"/>
              <a:t>盒后输出为</a:t>
            </a:r>
            <a:r>
              <a:rPr lang="en-US" altLang="zh-CN"/>
              <a:t>32</a:t>
            </a:r>
            <a:r>
              <a:rPr lang="zh-CN" altLang="en-US"/>
              <a:t>比特的消息，最后通过置换</a:t>
            </a:r>
            <a:r>
              <a:rPr lang="en-US" altLang="zh-CN"/>
              <a:t>P</a:t>
            </a:r>
            <a:r>
              <a:rPr lang="zh-CN" altLang="en-US"/>
              <a:t>得到</a:t>
            </a:r>
            <a:r>
              <a:rPr lang="en-US" altLang="zh-CN"/>
              <a:t>32</a:t>
            </a:r>
            <a:r>
              <a:rPr lang="zh-CN" altLang="en-US"/>
              <a:t>比特的输出。</a:t>
            </a:r>
          </a:p>
        </p:txBody>
      </p:sp>
      <p:sp>
        <p:nvSpPr>
          <p:cNvPr id="164867" name="灯片编号占位符 3">
            <a:extLst>
              <a:ext uri="{FF2B5EF4-FFF2-40B4-BE49-F238E27FC236}">
                <a16:creationId xmlns:a16="http://schemas.microsoft.com/office/drawing/2014/main" id="{8023DDCE-ECA2-8B45-8A23-70B376206E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B460779-99B0-BE40-8853-2FB802033D92}" type="slidenum">
              <a:rPr lang="en-US" altLang="zh-CN"/>
              <a:pPr/>
              <a:t>52</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幻灯片图像占位符 1">
            <a:extLst>
              <a:ext uri="{FF2B5EF4-FFF2-40B4-BE49-F238E27FC236}">
                <a16:creationId xmlns:a16="http://schemas.microsoft.com/office/drawing/2014/main" id="{DB76552A-83EB-BE47-B9FD-BC23791E3298}"/>
              </a:ext>
            </a:extLst>
          </p:cNvPr>
          <p:cNvSpPr>
            <a:spLocks noGrp="1" noRot="1" noChangeAspect="1" noChangeArrowheads="1" noTextEdit="1"/>
          </p:cNvSpPr>
          <p:nvPr>
            <p:ph type="sldImg" idx="4294967295"/>
          </p:nvPr>
        </p:nvSpPr>
        <p:spPr>
          <a:ln/>
        </p:spPr>
      </p:sp>
      <p:sp>
        <p:nvSpPr>
          <p:cNvPr id="166914" name="备注占位符 2">
            <a:extLst>
              <a:ext uri="{FF2B5EF4-FFF2-40B4-BE49-F238E27FC236}">
                <a16:creationId xmlns:a16="http://schemas.microsoft.com/office/drawing/2014/main" id="{3EF0F0A7-715B-9F41-9DFD-A743D1A4207A}"/>
              </a:ext>
            </a:extLst>
          </p:cNvPr>
          <p:cNvSpPr>
            <a:spLocks noGrp="1" noChangeArrowheads="1"/>
          </p:cNvSpPr>
          <p:nvPr>
            <p:ph type="body" idx="4294967295"/>
          </p:nvPr>
        </p:nvSpPr>
        <p:spPr/>
        <p:txBody>
          <a:bodyPr/>
          <a:lstStyle/>
          <a:p>
            <a:r>
              <a:rPr lang="zh-CN" altLang="en-US"/>
              <a:t>先来看选择扩展置换，选择扩展置换很有规律，首先将</a:t>
            </a:r>
            <a:r>
              <a:rPr lang="en-US" altLang="zh-CN"/>
              <a:t>1</a:t>
            </a:r>
            <a:r>
              <a:rPr lang="zh-CN" altLang="en-US"/>
              <a:t>到</a:t>
            </a:r>
            <a:r>
              <a:rPr lang="en-US" altLang="zh-CN"/>
              <a:t>32</a:t>
            </a:r>
            <a:r>
              <a:rPr lang="zh-CN" altLang="en-US"/>
              <a:t>比特用</a:t>
            </a:r>
            <a:r>
              <a:rPr lang="en-US" altLang="zh-CN"/>
              <a:t>4</a:t>
            </a:r>
            <a:r>
              <a:rPr lang="zh-CN" altLang="en-US"/>
              <a:t>行</a:t>
            </a:r>
            <a:r>
              <a:rPr lang="en-US" altLang="zh-CN"/>
              <a:t>8</a:t>
            </a:r>
            <a:r>
              <a:rPr lang="zh-CN" altLang="en-US"/>
              <a:t>列的矩阵按顺序写出，然后在左右两边进行扩展，左边扩展就是原矩阵最左边的一列的位置数减一，</a:t>
            </a:r>
            <a:r>
              <a:rPr lang="en-US" altLang="zh-CN"/>
              <a:t>1</a:t>
            </a:r>
            <a:r>
              <a:rPr lang="zh-CN" altLang="en-US"/>
              <a:t>没有办法减，就将第</a:t>
            </a:r>
            <a:r>
              <a:rPr lang="en-US" altLang="zh-CN"/>
              <a:t>32</a:t>
            </a:r>
            <a:r>
              <a:rPr lang="zh-CN" altLang="en-US"/>
              <a:t>位的值放在</a:t>
            </a:r>
            <a:r>
              <a:rPr lang="en-US" altLang="zh-CN"/>
              <a:t>1</a:t>
            </a:r>
            <a:r>
              <a:rPr lang="zh-CN" altLang="en-US"/>
              <a:t>的左边。而右边扩展就是原始矩阵最右边一列的位置加一，</a:t>
            </a:r>
            <a:r>
              <a:rPr lang="en-US" altLang="zh-CN"/>
              <a:t>32</a:t>
            </a:r>
            <a:r>
              <a:rPr lang="zh-CN" altLang="en-US"/>
              <a:t>右边放位置</a:t>
            </a:r>
            <a:r>
              <a:rPr lang="en-US" altLang="zh-CN"/>
              <a:t>1</a:t>
            </a:r>
            <a:r>
              <a:rPr lang="zh-CN" altLang="en-US"/>
              <a:t>的值。这样</a:t>
            </a:r>
            <a:r>
              <a:rPr lang="en-US" altLang="zh-CN"/>
              <a:t>32</a:t>
            </a:r>
            <a:r>
              <a:rPr lang="zh-CN" altLang="en-US"/>
              <a:t>比特就扩展成了</a:t>
            </a:r>
          </a:p>
        </p:txBody>
      </p:sp>
      <p:sp>
        <p:nvSpPr>
          <p:cNvPr id="166915" name="灯片编号占位符 3">
            <a:extLst>
              <a:ext uri="{FF2B5EF4-FFF2-40B4-BE49-F238E27FC236}">
                <a16:creationId xmlns:a16="http://schemas.microsoft.com/office/drawing/2014/main" id="{AFBBC6E1-55F2-6D45-9EDF-244FA0F41B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B469B21-2B12-0B45-8751-1A059EE254AF}" type="slidenum">
              <a:rPr lang="en-US" altLang="zh-CN"/>
              <a:pPr/>
              <a:t>53</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幻灯片图像占位符 1">
            <a:extLst>
              <a:ext uri="{FF2B5EF4-FFF2-40B4-BE49-F238E27FC236}">
                <a16:creationId xmlns:a16="http://schemas.microsoft.com/office/drawing/2014/main" id="{B49AB4FE-7874-FB49-B648-D04A1BB6C1E4}"/>
              </a:ext>
            </a:extLst>
          </p:cNvPr>
          <p:cNvSpPr>
            <a:spLocks noGrp="1" noRot="1" noChangeAspect="1" noChangeArrowheads="1" noTextEdit="1"/>
          </p:cNvSpPr>
          <p:nvPr>
            <p:ph type="sldImg" idx="4294967295"/>
          </p:nvPr>
        </p:nvSpPr>
        <p:spPr>
          <a:ln/>
        </p:spPr>
      </p:sp>
      <p:sp>
        <p:nvSpPr>
          <p:cNvPr id="168962" name="备注占位符 2">
            <a:extLst>
              <a:ext uri="{FF2B5EF4-FFF2-40B4-BE49-F238E27FC236}">
                <a16:creationId xmlns:a16="http://schemas.microsoft.com/office/drawing/2014/main" id="{674A701A-09EE-C14C-9486-81C6C90A624B}"/>
              </a:ext>
            </a:extLst>
          </p:cNvPr>
          <p:cNvSpPr>
            <a:spLocks noGrp="1" noChangeArrowheads="1"/>
          </p:cNvSpPr>
          <p:nvPr>
            <p:ph type="body" idx="4294967295"/>
          </p:nvPr>
        </p:nvSpPr>
        <p:spPr/>
        <p:txBody>
          <a:bodyPr/>
          <a:lstStyle/>
          <a:p>
            <a:r>
              <a:rPr lang="zh-CN" altLang="en-US"/>
              <a:t>选择压缩运算</a:t>
            </a:r>
            <a:r>
              <a:rPr lang="en-US" altLang="zh-CN"/>
              <a:t>S</a:t>
            </a:r>
            <a:r>
              <a:rPr lang="zh-CN" altLang="en-US"/>
              <a:t>共分为</a:t>
            </a:r>
            <a:r>
              <a:rPr lang="en-US" altLang="zh-CN"/>
              <a:t>8</a:t>
            </a:r>
            <a:r>
              <a:rPr lang="zh-CN" altLang="en-US"/>
              <a:t>个</a:t>
            </a:r>
            <a:r>
              <a:rPr lang="en-US" altLang="zh-CN"/>
              <a:t>S</a:t>
            </a:r>
            <a:r>
              <a:rPr lang="zh-CN" altLang="en-US"/>
              <a:t>盒，所以输入的</a:t>
            </a:r>
            <a:r>
              <a:rPr lang="en-US" altLang="zh-CN"/>
              <a:t>48</a:t>
            </a:r>
            <a:r>
              <a:rPr lang="zh-CN" altLang="en-US"/>
              <a:t>比特也分为</a:t>
            </a:r>
            <a:r>
              <a:rPr lang="en-US" altLang="zh-CN"/>
              <a:t>8</a:t>
            </a:r>
            <a:r>
              <a:rPr lang="zh-CN" altLang="en-US"/>
              <a:t>个</a:t>
            </a:r>
            <a:r>
              <a:rPr lang="en-US" altLang="zh-CN"/>
              <a:t>6</a:t>
            </a:r>
            <a:r>
              <a:rPr lang="zh-CN" altLang="en-US"/>
              <a:t>比特，而这一步骤的输出是</a:t>
            </a:r>
            <a:r>
              <a:rPr lang="en-US" altLang="zh-CN"/>
              <a:t>32</a:t>
            </a:r>
            <a:r>
              <a:rPr lang="zh-CN" altLang="en-US"/>
              <a:t>比特</a:t>
            </a:r>
          </a:p>
        </p:txBody>
      </p:sp>
      <p:sp>
        <p:nvSpPr>
          <p:cNvPr id="168963" name="灯片编号占位符 3">
            <a:extLst>
              <a:ext uri="{FF2B5EF4-FFF2-40B4-BE49-F238E27FC236}">
                <a16:creationId xmlns:a16="http://schemas.microsoft.com/office/drawing/2014/main" id="{A082A9FA-4A07-2145-86BA-90D02956AC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5CC2B31-5AA7-6F45-803F-1AFDF8F17C56}" type="slidenum">
              <a:rPr lang="en-US" altLang="zh-CN"/>
              <a:pPr/>
              <a:t>54</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幻灯片图像占位符 1">
            <a:extLst>
              <a:ext uri="{FF2B5EF4-FFF2-40B4-BE49-F238E27FC236}">
                <a16:creationId xmlns:a16="http://schemas.microsoft.com/office/drawing/2014/main" id="{68389727-D316-8247-87A3-7501FF305AB3}"/>
              </a:ext>
            </a:extLst>
          </p:cNvPr>
          <p:cNvSpPr>
            <a:spLocks noGrp="1" noRot="1" noChangeAspect="1" noChangeArrowheads="1" noTextEdit="1"/>
          </p:cNvSpPr>
          <p:nvPr>
            <p:ph type="sldImg" idx="4294967295"/>
          </p:nvPr>
        </p:nvSpPr>
        <p:spPr>
          <a:ln/>
        </p:spPr>
      </p:sp>
      <p:sp>
        <p:nvSpPr>
          <p:cNvPr id="171010" name="备注占位符 2">
            <a:extLst>
              <a:ext uri="{FF2B5EF4-FFF2-40B4-BE49-F238E27FC236}">
                <a16:creationId xmlns:a16="http://schemas.microsoft.com/office/drawing/2014/main" id="{0EC9ACAD-ABFE-BA43-A489-2E5BD7EA539F}"/>
              </a:ext>
            </a:extLst>
          </p:cNvPr>
          <p:cNvSpPr>
            <a:spLocks noGrp="1" noChangeArrowheads="1"/>
          </p:cNvSpPr>
          <p:nvPr>
            <p:ph type="body" idx="4294967295"/>
          </p:nvPr>
        </p:nvSpPr>
        <p:spPr/>
        <p:txBody>
          <a:bodyPr/>
          <a:lstStyle/>
          <a:p>
            <a:r>
              <a:rPr lang="zh-CN" altLang="en-US"/>
              <a:t>来看一下</a:t>
            </a:r>
            <a:r>
              <a:rPr lang="en-US" altLang="zh-CN"/>
              <a:t>S</a:t>
            </a:r>
            <a:r>
              <a:rPr lang="zh-CN" altLang="en-US"/>
              <a:t>盒的例子，这是其中的三个</a:t>
            </a:r>
            <a:r>
              <a:rPr lang="en-US" altLang="zh-CN"/>
              <a:t>S</a:t>
            </a:r>
            <a:r>
              <a:rPr lang="zh-CN" altLang="en-US"/>
              <a:t>盒，每个</a:t>
            </a:r>
            <a:r>
              <a:rPr lang="en-US" altLang="zh-CN"/>
              <a:t>S</a:t>
            </a:r>
            <a:r>
              <a:rPr lang="zh-CN" altLang="en-US"/>
              <a:t>盒都是一个</a:t>
            </a:r>
            <a:r>
              <a:rPr lang="en-US" altLang="zh-CN"/>
              <a:t>4</a:t>
            </a:r>
            <a:r>
              <a:rPr lang="zh-CN" altLang="en-US"/>
              <a:t>乘</a:t>
            </a:r>
            <a:r>
              <a:rPr lang="en-US" altLang="zh-CN"/>
              <a:t>16</a:t>
            </a:r>
            <a:r>
              <a:rPr lang="zh-CN" altLang="en-US"/>
              <a:t>的矩阵。</a:t>
            </a:r>
          </a:p>
        </p:txBody>
      </p:sp>
      <p:sp>
        <p:nvSpPr>
          <p:cNvPr id="171011" name="灯片编号占位符 3">
            <a:extLst>
              <a:ext uri="{FF2B5EF4-FFF2-40B4-BE49-F238E27FC236}">
                <a16:creationId xmlns:a16="http://schemas.microsoft.com/office/drawing/2014/main" id="{024CAA0E-3C34-4A42-91C7-4B0206FB95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633F240-6006-0F4F-9EEF-F2240FF572F3}" type="slidenum">
              <a:rPr lang="en-US" altLang="zh-CN"/>
              <a:pPr/>
              <a:t>55</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幻灯片图像占位符 1">
            <a:extLst>
              <a:ext uri="{FF2B5EF4-FFF2-40B4-BE49-F238E27FC236}">
                <a16:creationId xmlns:a16="http://schemas.microsoft.com/office/drawing/2014/main" id="{7872C2BE-6B3F-FA43-825C-04C30AF32E97}"/>
              </a:ext>
            </a:extLst>
          </p:cNvPr>
          <p:cNvSpPr>
            <a:spLocks noGrp="1" noRot="1" noChangeAspect="1" noChangeArrowheads="1" noTextEdit="1"/>
          </p:cNvSpPr>
          <p:nvPr>
            <p:ph type="sldImg" idx="4294967295"/>
          </p:nvPr>
        </p:nvSpPr>
        <p:spPr>
          <a:ln/>
        </p:spPr>
      </p:sp>
      <p:sp>
        <p:nvSpPr>
          <p:cNvPr id="173058" name="备注占位符 2">
            <a:extLst>
              <a:ext uri="{FF2B5EF4-FFF2-40B4-BE49-F238E27FC236}">
                <a16:creationId xmlns:a16="http://schemas.microsoft.com/office/drawing/2014/main" id="{9AA0B5EB-ED0F-8B49-AC02-B5E48A325150}"/>
              </a:ext>
            </a:extLst>
          </p:cNvPr>
          <p:cNvSpPr>
            <a:spLocks noGrp="1" noChangeArrowheads="1"/>
          </p:cNvSpPr>
          <p:nvPr>
            <p:ph type="body" idx="4294967295"/>
          </p:nvPr>
        </p:nvSpPr>
        <p:spPr/>
        <p:txBody>
          <a:bodyPr/>
          <a:lstStyle/>
          <a:p>
            <a:r>
              <a:rPr lang="en-US" altLang="zh-CN"/>
              <a:t>S</a:t>
            </a:r>
            <a:r>
              <a:rPr lang="zh-CN" altLang="en-US"/>
              <a:t>盒是如何进行输入输出的呢？来看个例子，比如输入的</a:t>
            </a:r>
            <a:r>
              <a:rPr lang="en-US" altLang="zh-CN"/>
              <a:t>6</a:t>
            </a:r>
            <a:r>
              <a:rPr lang="zh-CN" altLang="en-US"/>
              <a:t>比特是</a:t>
            </a:r>
            <a:r>
              <a:rPr lang="en-US" altLang="zh-CN"/>
              <a:t>101100</a:t>
            </a:r>
            <a:r>
              <a:rPr lang="zh-CN" altLang="en-US"/>
              <a:t>，那我们将最高位和最低为比特拿出来构成一个数，这个数就是</a:t>
            </a:r>
            <a:r>
              <a:rPr lang="en-US" altLang="zh-CN"/>
              <a:t>S</a:t>
            </a:r>
            <a:r>
              <a:rPr lang="zh-CN" altLang="en-US"/>
              <a:t>盒的行号，而中间</a:t>
            </a:r>
            <a:r>
              <a:rPr lang="en-US" altLang="zh-CN"/>
              <a:t>4</a:t>
            </a:r>
            <a:r>
              <a:rPr lang="zh-CN" altLang="en-US"/>
              <a:t>个比特构成</a:t>
            </a:r>
            <a:r>
              <a:rPr lang="en-US" altLang="zh-CN"/>
              <a:t>S</a:t>
            </a:r>
            <a:r>
              <a:rPr lang="zh-CN" altLang="en-US"/>
              <a:t>盒的列号，在这里列号是</a:t>
            </a:r>
            <a:r>
              <a:rPr lang="en-US" altLang="zh-CN"/>
              <a:t>2</a:t>
            </a:r>
            <a:r>
              <a:rPr lang="zh-CN" altLang="en-US"/>
              <a:t>，行号是</a:t>
            </a:r>
            <a:r>
              <a:rPr lang="en-US" altLang="zh-CN"/>
              <a:t>6</a:t>
            </a:r>
            <a:r>
              <a:rPr lang="zh-CN" altLang="en-US"/>
              <a:t>，其输出就是第</a:t>
            </a:r>
            <a:r>
              <a:rPr lang="en-US" altLang="zh-CN"/>
              <a:t>2</a:t>
            </a:r>
            <a:r>
              <a:rPr lang="zh-CN" altLang="en-US"/>
              <a:t>行第</a:t>
            </a:r>
            <a:r>
              <a:rPr lang="en-US" altLang="zh-CN"/>
              <a:t>6</a:t>
            </a:r>
            <a:r>
              <a:rPr lang="zh-CN" altLang="en-US"/>
              <a:t>列的数</a:t>
            </a:r>
            <a:r>
              <a:rPr lang="en-US" altLang="zh-CN"/>
              <a:t>2</a:t>
            </a:r>
            <a:r>
              <a:rPr lang="zh-CN" altLang="en-US"/>
              <a:t>，转换为四位二进制数就是</a:t>
            </a:r>
            <a:r>
              <a:rPr lang="en-US" altLang="zh-CN"/>
              <a:t>0010</a:t>
            </a:r>
            <a:r>
              <a:rPr lang="zh-CN" altLang="en-US"/>
              <a:t>，注意这里的行列号都是由零开始的。</a:t>
            </a:r>
          </a:p>
        </p:txBody>
      </p:sp>
      <p:sp>
        <p:nvSpPr>
          <p:cNvPr id="173059" name="灯片编号占位符 3">
            <a:extLst>
              <a:ext uri="{FF2B5EF4-FFF2-40B4-BE49-F238E27FC236}">
                <a16:creationId xmlns:a16="http://schemas.microsoft.com/office/drawing/2014/main" id="{6E074093-6AC4-E845-B608-B0601E41D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DDC3131-1F94-DD41-AEED-00B80A5CACC1}" type="slidenum">
              <a:rPr lang="en-US" altLang="zh-CN"/>
              <a:pPr/>
              <a:t>56</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幻灯片图像占位符 1">
            <a:extLst>
              <a:ext uri="{FF2B5EF4-FFF2-40B4-BE49-F238E27FC236}">
                <a16:creationId xmlns:a16="http://schemas.microsoft.com/office/drawing/2014/main" id="{5D791B4C-7572-2346-84D7-60391137D0B1}"/>
              </a:ext>
            </a:extLst>
          </p:cNvPr>
          <p:cNvSpPr>
            <a:spLocks noGrp="1" noRot="1" noChangeAspect="1" noChangeArrowheads="1" noTextEdit="1"/>
          </p:cNvSpPr>
          <p:nvPr>
            <p:ph type="sldImg" idx="4294967295"/>
          </p:nvPr>
        </p:nvSpPr>
        <p:spPr>
          <a:ln/>
        </p:spPr>
      </p:sp>
      <p:sp>
        <p:nvSpPr>
          <p:cNvPr id="175106" name="备注占位符 2">
            <a:extLst>
              <a:ext uri="{FF2B5EF4-FFF2-40B4-BE49-F238E27FC236}">
                <a16:creationId xmlns:a16="http://schemas.microsoft.com/office/drawing/2014/main" id="{6DC8B658-CB7B-6843-B05B-0DAFD13198E9}"/>
              </a:ext>
            </a:extLst>
          </p:cNvPr>
          <p:cNvSpPr>
            <a:spLocks noGrp="1" noChangeArrowheads="1"/>
          </p:cNvSpPr>
          <p:nvPr>
            <p:ph type="body" idx="4294967295"/>
          </p:nvPr>
        </p:nvSpPr>
        <p:spPr/>
        <p:txBody>
          <a:bodyPr/>
          <a:lstStyle/>
          <a:p>
            <a:pPr eaLnBrk="1" hangingPunct="1">
              <a:lnSpc>
                <a:spcPct val="120000"/>
              </a:lnSpc>
              <a:spcBef>
                <a:spcPct val="20000"/>
              </a:spcBef>
              <a:buClr>
                <a:srgbClr val="A50021"/>
              </a:buClr>
              <a:buSzPct val="75000"/>
              <a:buFont typeface="Wingdings" pitchFamily="2" charset="2"/>
              <a:buChar char="•"/>
            </a:pPr>
            <a:r>
              <a:rPr lang="zh-CN" altLang="en-US">
                <a:latin typeface="Times New Roman" panose="02020603050405020304" pitchFamily="18" charset="0"/>
              </a:rPr>
              <a:t>将</a:t>
            </a:r>
            <a:r>
              <a:rPr lang="en-US" altLang="zh-CN">
                <a:latin typeface="Times New Roman" panose="02020603050405020304" pitchFamily="18" charset="0"/>
              </a:rPr>
              <a:t>S-</a:t>
            </a:r>
            <a:r>
              <a:rPr lang="zh-CN" altLang="en-US">
                <a:latin typeface="Times New Roman" panose="02020603050405020304" pitchFamily="18" charset="0"/>
              </a:rPr>
              <a:t>盒变换后的</a:t>
            </a:r>
            <a:r>
              <a:rPr lang="zh-CN" altLang="zh-CN">
                <a:latin typeface="Times New Roman" panose="02020603050405020304" pitchFamily="18" charset="0"/>
              </a:rPr>
              <a:t>32</a:t>
            </a:r>
            <a:r>
              <a:rPr lang="zh-CN" altLang="en-US">
                <a:latin typeface="Times New Roman" panose="02020603050405020304" pitchFamily="18" charset="0"/>
              </a:rPr>
              <a:t>比特数据再进行</a:t>
            </a:r>
            <a:r>
              <a:rPr lang="en-US" altLang="zh-CN">
                <a:latin typeface="Times New Roman" panose="02020603050405020304" pitchFamily="18" charset="0"/>
              </a:rPr>
              <a:t>P</a:t>
            </a:r>
            <a:r>
              <a:rPr lang="zh-CN" altLang="en-US">
                <a:latin typeface="Times New Roman" panose="02020603050405020304" pitchFamily="18" charset="0"/>
              </a:rPr>
              <a:t>盒置换，置换后得到的</a:t>
            </a:r>
            <a:r>
              <a:rPr lang="zh-CN" altLang="zh-CN">
                <a:latin typeface="Times New Roman" panose="02020603050405020304" pitchFamily="18" charset="0"/>
              </a:rPr>
              <a:t>32</a:t>
            </a:r>
            <a:r>
              <a:rPr lang="zh-CN" altLang="en-US">
                <a:latin typeface="Times New Roman" panose="02020603050405020304" pitchFamily="18" charset="0"/>
              </a:rPr>
              <a:t>比特即为 </a:t>
            </a:r>
            <a:r>
              <a:rPr lang="en-US" altLang="zh-CN" i="1">
                <a:latin typeface="Times New Roman" panose="02020603050405020304" pitchFamily="18" charset="0"/>
              </a:rPr>
              <a:t>f </a:t>
            </a:r>
            <a:r>
              <a:rPr lang="zh-CN" altLang="en-US">
                <a:latin typeface="Times New Roman" panose="02020603050405020304" pitchFamily="18" charset="0"/>
              </a:rPr>
              <a:t>函数的输出。它的含义仍然是置换函数，也就是仅改变位置而不改变值，比如</a:t>
            </a:r>
            <a:r>
              <a:rPr lang="zh-CN" altLang="zh-CN" b="1">
                <a:latin typeface="Times New Roman" panose="02020603050405020304" pitchFamily="18" charset="0"/>
              </a:rPr>
              <a:t>P盒输出的第1个元是输入的第16个元</a:t>
            </a:r>
            <a:r>
              <a:rPr lang="zh-CN" altLang="en-US" b="1">
                <a:latin typeface="Times New Roman" panose="02020603050405020304" pitchFamily="18" charset="0"/>
              </a:rPr>
              <a:t>。它有以下特点：</a:t>
            </a:r>
            <a:r>
              <a:rPr lang="zh-CN" altLang="zh-CN">
                <a:latin typeface="Times New Roman" panose="02020603050405020304" pitchFamily="18" charset="0"/>
              </a:rPr>
              <a:t>（1）P盒的各输出块的4个比特都来自不同的输入块</a:t>
            </a:r>
            <a:r>
              <a:rPr lang="zh-CN" altLang="en-US">
                <a:latin typeface="Times New Roman" panose="02020603050405020304" pitchFamily="18" charset="0"/>
              </a:rPr>
              <a:t>，（</a:t>
            </a:r>
            <a:r>
              <a:rPr lang="en-US" altLang="zh-CN">
                <a:latin typeface="Times New Roman" panose="02020603050405020304" pitchFamily="18" charset="0"/>
              </a:rPr>
              <a:t>2</a:t>
            </a:r>
            <a:r>
              <a:rPr lang="zh-CN" altLang="en-US">
                <a:latin typeface="Times New Roman" panose="02020603050405020304" pitchFamily="18" charset="0"/>
              </a:rPr>
              <a:t>）</a:t>
            </a:r>
            <a:r>
              <a:rPr lang="zh-CN" altLang="zh-CN">
                <a:latin typeface="Times New Roman" panose="02020603050405020304" pitchFamily="18" charset="0"/>
              </a:rPr>
              <a:t>P盒的各输入块的4个比特都分配到不同的输出块之中</a:t>
            </a:r>
            <a:r>
              <a:rPr lang="zh-CN" altLang="en-US">
                <a:latin typeface="Times New Roman" panose="02020603050405020304" pitchFamily="18" charset="0"/>
              </a:rPr>
              <a:t>，</a:t>
            </a:r>
            <a:r>
              <a:rPr lang="zh-CN" altLang="zh-CN">
                <a:latin typeface="Times New Roman" panose="02020603050405020304" pitchFamily="18" charset="0"/>
              </a:rPr>
              <a:t>（3） P盒的第t输出块的4个比特都不来自第t输入块</a:t>
            </a:r>
            <a:r>
              <a:rPr lang="zh-CN" altLang="en-US">
                <a:latin typeface="Times New Roman" panose="02020603050405020304" pitchFamily="18" charset="0"/>
              </a:rPr>
              <a:t>。</a:t>
            </a:r>
            <a:endParaRPr lang="en-US" altLang="zh-CN">
              <a:latin typeface="Times New Roman" panose="02020603050405020304" pitchFamily="18" charset="0"/>
            </a:endParaRPr>
          </a:p>
        </p:txBody>
      </p:sp>
      <p:sp>
        <p:nvSpPr>
          <p:cNvPr id="175107" name="灯片编号占位符 3">
            <a:extLst>
              <a:ext uri="{FF2B5EF4-FFF2-40B4-BE49-F238E27FC236}">
                <a16:creationId xmlns:a16="http://schemas.microsoft.com/office/drawing/2014/main" id="{D3242C06-B2B9-794D-816D-DD8E7DCFA4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F2FD959-8AD1-8846-9560-AF8F50787676}" type="slidenum">
              <a:rPr lang="en-US" altLang="zh-CN"/>
              <a:pPr/>
              <a:t>57</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幻灯片图像占位符 1">
            <a:extLst>
              <a:ext uri="{FF2B5EF4-FFF2-40B4-BE49-F238E27FC236}">
                <a16:creationId xmlns:a16="http://schemas.microsoft.com/office/drawing/2014/main" id="{5477BF89-783B-B04B-B79A-E61B82B184C3}"/>
              </a:ext>
            </a:extLst>
          </p:cNvPr>
          <p:cNvSpPr>
            <a:spLocks noGrp="1" noRot="1" noChangeAspect="1" noChangeArrowheads="1" noTextEdit="1"/>
          </p:cNvSpPr>
          <p:nvPr>
            <p:ph type="sldImg" idx="4294967295"/>
          </p:nvPr>
        </p:nvSpPr>
        <p:spPr>
          <a:ln/>
        </p:spPr>
      </p:sp>
      <p:sp>
        <p:nvSpPr>
          <p:cNvPr id="177154" name="备注占位符 2">
            <a:extLst>
              <a:ext uri="{FF2B5EF4-FFF2-40B4-BE49-F238E27FC236}">
                <a16:creationId xmlns:a16="http://schemas.microsoft.com/office/drawing/2014/main" id="{EA517BD1-E2A2-5945-B536-188B7EFB11C5}"/>
              </a:ext>
            </a:extLst>
          </p:cNvPr>
          <p:cNvSpPr>
            <a:spLocks noGrp="1" noChangeArrowheads="1"/>
          </p:cNvSpPr>
          <p:nvPr>
            <p:ph type="body" idx="4294967295"/>
          </p:nvPr>
        </p:nvSpPr>
        <p:spPr/>
        <p:txBody>
          <a:bodyPr/>
          <a:lstStyle/>
          <a:p>
            <a:r>
              <a:rPr lang="en-US" altLang="zh-CN"/>
              <a:t>DES</a:t>
            </a:r>
            <a:r>
              <a:rPr lang="zh-CN" altLang="en-US"/>
              <a:t>的密钥编排比较简单，首先将密钥中的</a:t>
            </a:r>
            <a:r>
              <a:rPr lang="en-US" altLang="zh-CN"/>
              <a:t>8</a:t>
            </a:r>
            <a:r>
              <a:rPr lang="zh-CN" altLang="en-US"/>
              <a:t>个校验位去掉，然后通过置换选择</a:t>
            </a:r>
            <a:r>
              <a:rPr lang="en-US" altLang="zh-CN"/>
              <a:t>1</a:t>
            </a:r>
            <a:r>
              <a:rPr lang="zh-CN" altLang="en-US"/>
              <a:t>得到</a:t>
            </a:r>
            <a:r>
              <a:rPr lang="en-US" altLang="zh-CN"/>
              <a:t>56</a:t>
            </a:r>
            <a:r>
              <a:rPr lang="zh-CN" altLang="en-US"/>
              <a:t>比特输出，再将这</a:t>
            </a:r>
            <a:r>
              <a:rPr lang="en-US" altLang="zh-CN"/>
              <a:t>56</a:t>
            </a:r>
            <a:r>
              <a:rPr lang="zh-CN" altLang="en-US"/>
              <a:t>比特输出分为左右两部分，分别进行循环左移，最后合并成</a:t>
            </a:r>
            <a:r>
              <a:rPr lang="en-US" altLang="zh-CN"/>
              <a:t>56</a:t>
            </a:r>
            <a:r>
              <a:rPr lang="zh-CN" altLang="en-US"/>
              <a:t>比特，通过置换选择</a:t>
            </a:r>
            <a:r>
              <a:rPr lang="en-US" altLang="zh-CN"/>
              <a:t>2</a:t>
            </a:r>
            <a:r>
              <a:rPr lang="zh-CN" altLang="en-US"/>
              <a:t>得到这一轮的轮密钥。</a:t>
            </a:r>
          </a:p>
        </p:txBody>
      </p:sp>
      <p:sp>
        <p:nvSpPr>
          <p:cNvPr id="177155" name="灯片编号占位符 3">
            <a:extLst>
              <a:ext uri="{FF2B5EF4-FFF2-40B4-BE49-F238E27FC236}">
                <a16:creationId xmlns:a16="http://schemas.microsoft.com/office/drawing/2014/main" id="{E2D214F1-1694-2742-A64C-98466243E8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DA5862E-442B-0643-B4D9-4641C41B3A62}" type="slidenum">
              <a:rPr lang="en-US" altLang="zh-CN"/>
              <a:pPr/>
              <a:t>58</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a:extLst>
              <a:ext uri="{FF2B5EF4-FFF2-40B4-BE49-F238E27FC236}">
                <a16:creationId xmlns:a16="http://schemas.microsoft.com/office/drawing/2014/main" id="{06E5F287-A1FB-A047-A26C-3328970E6B80}"/>
              </a:ext>
            </a:extLst>
          </p:cNvPr>
          <p:cNvSpPr>
            <a:spLocks noGrp="1" noRot="1" noChangeAspect="1" noChangeArrowheads="1" noTextEdit="1"/>
          </p:cNvSpPr>
          <p:nvPr>
            <p:ph type="sldImg" idx="4294967295"/>
          </p:nvPr>
        </p:nvSpPr>
        <p:spPr>
          <a:ln/>
        </p:spPr>
      </p:sp>
      <p:sp>
        <p:nvSpPr>
          <p:cNvPr id="179202" name="备注占位符 2">
            <a:extLst>
              <a:ext uri="{FF2B5EF4-FFF2-40B4-BE49-F238E27FC236}">
                <a16:creationId xmlns:a16="http://schemas.microsoft.com/office/drawing/2014/main" id="{CB7E816C-65F5-414B-98B4-E9E9C870DAF0}"/>
              </a:ext>
            </a:extLst>
          </p:cNvPr>
          <p:cNvSpPr>
            <a:spLocks noGrp="1" noChangeArrowheads="1"/>
          </p:cNvSpPr>
          <p:nvPr>
            <p:ph type="body" idx="4294967295"/>
          </p:nvPr>
        </p:nvSpPr>
        <p:spPr/>
        <p:txBody>
          <a:bodyPr/>
          <a:lstStyle/>
          <a:p>
            <a:r>
              <a:rPr lang="zh-CN" altLang="en-US"/>
              <a:t>具体的如图所示</a:t>
            </a:r>
          </a:p>
        </p:txBody>
      </p:sp>
      <p:sp>
        <p:nvSpPr>
          <p:cNvPr id="179203" name="灯片编号占位符 3">
            <a:extLst>
              <a:ext uri="{FF2B5EF4-FFF2-40B4-BE49-F238E27FC236}">
                <a16:creationId xmlns:a16="http://schemas.microsoft.com/office/drawing/2014/main" id="{5FE61FCA-D106-094E-8426-D2E9C4B902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FBDB84F-6D49-DF4E-B081-445E51CD0637}" type="slidenum">
              <a:rPr lang="en-US" altLang="zh-CN"/>
              <a:pPr/>
              <a:t>59</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幻灯片图像占位符 1">
            <a:extLst>
              <a:ext uri="{FF2B5EF4-FFF2-40B4-BE49-F238E27FC236}">
                <a16:creationId xmlns:a16="http://schemas.microsoft.com/office/drawing/2014/main" id="{4D18871F-94CE-914D-859B-67A6BDDAC661}"/>
              </a:ext>
            </a:extLst>
          </p:cNvPr>
          <p:cNvSpPr>
            <a:spLocks noGrp="1" noRot="1" noChangeAspect="1" noChangeArrowheads="1" noTextEdit="1"/>
          </p:cNvSpPr>
          <p:nvPr>
            <p:ph type="sldImg" idx="4294967295"/>
          </p:nvPr>
        </p:nvSpPr>
        <p:spPr>
          <a:ln/>
        </p:spPr>
      </p:sp>
      <p:sp>
        <p:nvSpPr>
          <p:cNvPr id="181250" name="备注占位符 2">
            <a:extLst>
              <a:ext uri="{FF2B5EF4-FFF2-40B4-BE49-F238E27FC236}">
                <a16:creationId xmlns:a16="http://schemas.microsoft.com/office/drawing/2014/main" id="{EC78103D-0335-8E43-9109-345F0C9674B8}"/>
              </a:ext>
            </a:extLst>
          </p:cNvPr>
          <p:cNvSpPr>
            <a:spLocks noGrp="1" noChangeArrowheads="1"/>
          </p:cNvSpPr>
          <p:nvPr>
            <p:ph type="body" idx="4294967295"/>
          </p:nvPr>
        </p:nvSpPr>
        <p:spPr/>
        <p:txBody>
          <a:bodyPr/>
          <a:lstStyle/>
          <a:p>
            <a:r>
              <a:rPr lang="zh-CN" altLang="en-US"/>
              <a:t>这是密钥编排中所使用的表。左上是置换选择</a:t>
            </a:r>
            <a:r>
              <a:rPr lang="en-US" altLang="zh-CN"/>
              <a:t>1</a:t>
            </a:r>
            <a:r>
              <a:rPr lang="zh-CN" altLang="en-US"/>
              <a:t>，右上是置换选择</a:t>
            </a:r>
            <a:r>
              <a:rPr lang="en-US" altLang="zh-CN"/>
              <a:t>2</a:t>
            </a:r>
            <a:r>
              <a:rPr lang="zh-CN" altLang="en-US"/>
              <a:t>，下边是移位次数表，也就是说每一轮移位的次数不完全一样。</a:t>
            </a:r>
          </a:p>
        </p:txBody>
      </p:sp>
      <p:sp>
        <p:nvSpPr>
          <p:cNvPr id="181251" name="灯片编号占位符 3">
            <a:extLst>
              <a:ext uri="{FF2B5EF4-FFF2-40B4-BE49-F238E27FC236}">
                <a16:creationId xmlns:a16="http://schemas.microsoft.com/office/drawing/2014/main" id="{B237007A-F86D-4240-9034-7D8F6FCB50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479B7F9-BA33-4047-A296-E87084F52CFE}" type="slidenum">
              <a:rPr lang="en-US" altLang="zh-CN"/>
              <a:pPr/>
              <a:t>60</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幻灯片图像占位符 1">
            <a:extLst>
              <a:ext uri="{FF2B5EF4-FFF2-40B4-BE49-F238E27FC236}">
                <a16:creationId xmlns:a16="http://schemas.microsoft.com/office/drawing/2014/main" id="{183A5917-C403-3B47-B4BC-90CB4C997FC9}"/>
              </a:ext>
            </a:extLst>
          </p:cNvPr>
          <p:cNvSpPr>
            <a:spLocks noGrp="1" noRot="1" noChangeAspect="1" noChangeArrowheads="1" noTextEdit="1"/>
          </p:cNvSpPr>
          <p:nvPr>
            <p:ph type="sldImg" idx="4294967295"/>
          </p:nvPr>
        </p:nvSpPr>
        <p:spPr>
          <a:ln/>
        </p:spPr>
      </p:sp>
      <p:sp>
        <p:nvSpPr>
          <p:cNvPr id="189442" name="备注占位符 2">
            <a:extLst>
              <a:ext uri="{FF2B5EF4-FFF2-40B4-BE49-F238E27FC236}">
                <a16:creationId xmlns:a16="http://schemas.microsoft.com/office/drawing/2014/main" id="{A498ED6F-63DD-1247-A7D8-AFE639C4CD71}"/>
              </a:ext>
            </a:extLst>
          </p:cNvPr>
          <p:cNvSpPr>
            <a:spLocks noGrp="1" noChangeArrowheads="1"/>
          </p:cNvSpPr>
          <p:nvPr>
            <p:ph type="body" idx="4294967295"/>
          </p:nvPr>
        </p:nvSpPr>
        <p:spPr/>
        <p:txBody>
          <a:bodyPr/>
          <a:lstStyle/>
          <a:p>
            <a:r>
              <a:rPr lang="zh-CN" altLang="en-US"/>
              <a:t>同学们大家好，前面两讲我们介绍了</a:t>
            </a:r>
            <a:r>
              <a:rPr lang="en-US" altLang="zh-CN"/>
              <a:t>DES</a:t>
            </a:r>
            <a:r>
              <a:rPr lang="zh-CN" altLang="en-US"/>
              <a:t>算法的原理，这一讲我们来讨论一下</a:t>
            </a:r>
            <a:r>
              <a:rPr lang="en-US" altLang="zh-CN"/>
              <a:t>DES</a:t>
            </a:r>
            <a:r>
              <a:rPr lang="zh-CN" altLang="en-US"/>
              <a:t>的安全性。</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幻灯片图像占位符 1">
            <a:extLst>
              <a:ext uri="{FF2B5EF4-FFF2-40B4-BE49-F238E27FC236}">
                <a16:creationId xmlns:a16="http://schemas.microsoft.com/office/drawing/2014/main" id="{88E2BAC0-D899-0345-A33C-7DF9AE146273}"/>
              </a:ext>
            </a:extLst>
          </p:cNvPr>
          <p:cNvSpPr>
            <a:spLocks noGrp="1" noRot="1" noChangeAspect="1" noChangeArrowheads="1" noTextEdit="1"/>
          </p:cNvSpPr>
          <p:nvPr>
            <p:ph type="sldImg" idx="4294967295"/>
          </p:nvPr>
        </p:nvSpPr>
        <p:spPr>
          <a:ln/>
        </p:spPr>
      </p:sp>
      <p:sp>
        <p:nvSpPr>
          <p:cNvPr id="191490" name="备注占位符 2">
            <a:extLst>
              <a:ext uri="{FF2B5EF4-FFF2-40B4-BE49-F238E27FC236}">
                <a16:creationId xmlns:a16="http://schemas.microsoft.com/office/drawing/2014/main" id="{38F191C4-9D58-F94F-B865-59D8A42B53A1}"/>
              </a:ext>
            </a:extLst>
          </p:cNvPr>
          <p:cNvSpPr>
            <a:spLocks noGrp="1" noChangeArrowheads="1"/>
          </p:cNvSpPr>
          <p:nvPr>
            <p:ph type="body" idx="4294967295"/>
          </p:nvPr>
        </p:nvSpPr>
        <p:spPr/>
        <p:txBody>
          <a:bodyPr/>
          <a:lstStyle/>
          <a:p>
            <a:r>
              <a:rPr lang="en-US" altLang="zh-CN"/>
              <a:t>DES</a:t>
            </a:r>
            <a:r>
              <a:rPr lang="zh-CN" altLang="en-US"/>
              <a:t>算法满足互补性，也就是若明文组</a:t>
            </a:r>
            <a:r>
              <a:rPr lang="en-US" altLang="zh-CN" i="1"/>
              <a:t>x</a:t>
            </a:r>
            <a:r>
              <a:rPr lang="zh-CN" altLang="en-US"/>
              <a:t>逐位取补，密钥</a:t>
            </a:r>
            <a:r>
              <a:rPr lang="en-US" altLang="zh-CN" i="1"/>
              <a:t>k</a:t>
            </a:r>
            <a:r>
              <a:rPr lang="zh-CN" altLang="en-US"/>
              <a:t>逐位取补，即</a:t>
            </a:r>
            <a:r>
              <a:rPr lang="en-US" altLang="zh-CN" i="1"/>
              <a:t>y</a:t>
            </a:r>
            <a:r>
              <a:rPr lang="en-US" altLang="zh-CN"/>
              <a:t>=DES</a:t>
            </a:r>
            <a:r>
              <a:rPr lang="en-US" altLang="zh-CN" baseline="-25000"/>
              <a:t>k</a:t>
            </a:r>
            <a:r>
              <a:rPr lang="en-US" altLang="zh-CN"/>
              <a:t>(</a:t>
            </a:r>
            <a:r>
              <a:rPr lang="en-US" altLang="zh-CN" i="1"/>
              <a:t>x</a:t>
            </a:r>
            <a:r>
              <a:rPr lang="en-US" altLang="zh-CN"/>
              <a:t>), </a:t>
            </a:r>
            <a:r>
              <a:rPr lang="zh-CN" altLang="en-US"/>
              <a:t>则有</a:t>
            </a:r>
            <a:r>
              <a:rPr lang="en-US" altLang="zh-CN"/>
              <a:t>x</a:t>
            </a:r>
            <a:r>
              <a:rPr lang="zh-CN" altLang="en-US"/>
              <a:t>的补在</a:t>
            </a:r>
            <a:r>
              <a:rPr lang="en-US" altLang="zh-CN"/>
              <a:t>k</a:t>
            </a:r>
            <a:r>
              <a:rPr lang="zh-CN" altLang="en-US"/>
              <a:t>补加密下得到</a:t>
            </a:r>
            <a:r>
              <a:rPr lang="en-US" altLang="zh-CN"/>
              <a:t>y</a:t>
            </a:r>
            <a:r>
              <a:rPr lang="zh-CN" altLang="en-US"/>
              <a:t>补。这种互补性是的</a:t>
            </a:r>
            <a:r>
              <a:rPr lang="en-US" altLang="zh-CN"/>
              <a:t>DES</a:t>
            </a:r>
            <a:r>
              <a:rPr lang="zh-CN" altLang="en-US"/>
              <a:t>在选择明文攻击下破译所需的工作量减半。</a:t>
            </a:r>
            <a:endParaRPr lang="en-US" altLang="zh-CN"/>
          </a:p>
          <a:p>
            <a:r>
              <a:rPr lang="en-US" altLang="zh-CN"/>
              <a:t>DES</a:t>
            </a:r>
            <a:r>
              <a:rPr lang="zh-CN" altLang="en-US"/>
              <a:t>存在弱密钥和半弱密钥。所谓弱密钥指的是在同一密钥下加密两次为恒等变换，</a:t>
            </a:r>
            <a:r>
              <a:rPr lang="en-US" altLang="zh-CN"/>
              <a:t>DES</a:t>
            </a:r>
            <a:r>
              <a:rPr lang="zh-CN" altLang="en-US"/>
              <a:t>存在</a:t>
            </a:r>
            <a:r>
              <a:rPr lang="en-US" altLang="zh-CN"/>
              <a:t>4</a:t>
            </a:r>
            <a:r>
              <a:rPr lang="zh-CN" altLang="en-US"/>
              <a:t>个弱密钥，一会我们来分析一下。</a:t>
            </a:r>
            <a:endParaRPr lang="en-US" altLang="zh-CN"/>
          </a:p>
          <a:p>
            <a:r>
              <a:rPr lang="zh-CN" altLang="en-US"/>
              <a:t>所谓半弱密钥指的是一些密钥对，</a:t>
            </a:r>
            <a:r>
              <a:rPr lang="en-US" altLang="zh-CN"/>
              <a:t>k1</a:t>
            </a:r>
            <a:r>
              <a:rPr lang="zh-CN" altLang="en-US"/>
              <a:t>和</a:t>
            </a:r>
            <a:r>
              <a:rPr lang="en-US" altLang="zh-CN"/>
              <a:t>k2</a:t>
            </a:r>
            <a:r>
              <a:rPr lang="zh-CN" altLang="en-US"/>
              <a:t>互不相同，但是其加密出来的明文是一样的，或者换句话说用</a:t>
            </a:r>
            <a:r>
              <a:rPr lang="en-US" altLang="zh-CN"/>
              <a:t>k1</a:t>
            </a:r>
            <a:r>
              <a:rPr lang="zh-CN" altLang="en-US"/>
              <a:t>加密的密文可以用</a:t>
            </a:r>
            <a:r>
              <a:rPr lang="en-US" altLang="zh-CN"/>
              <a:t>k2</a:t>
            </a:r>
            <a:r>
              <a:rPr lang="zh-CN" altLang="en-US"/>
              <a:t>来解密。我们这里不对半弱密钥进行分析，有兴趣的同学可以去查阅</a:t>
            </a:r>
            <a:r>
              <a:rPr lang="en-US" altLang="zh-CN"/>
              <a:t>moore</a:t>
            </a:r>
            <a:r>
              <a:rPr lang="zh-CN" altLang="en-US"/>
              <a:t>和</a:t>
            </a:r>
            <a:r>
              <a:rPr lang="en-US" altLang="zh-CN"/>
              <a:t>simmons</a:t>
            </a:r>
            <a:r>
              <a:rPr lang="zh-CN" altLang="en-US"/>
              <a:t>在</a:t>
            </a:r>
            <a:r>
              <a:rPr lang="en-US" altLang="zh-CN"/>
              <a:t>86</a:t>
            </a:r>
            <a:r>
              <a:rPr lang="zh-CN" altLang="en-US"/>
              <a:t>年美密会上发表的文章</a:t>
            </a:r>
            <a:r>
              <a:rPr lang="en-US" altLang="zh-CN"/>
              <a:t>《Cycle structure of DES with weak and semi-weak keys》.</a:t>
            </a:r>
          </a:p>
          <a:p>
            <a:endParaRPr lang="en-US" altLang="zh-CN"/>
          </a:p>
        </p:txBody>
      </p:sp>
      <p:sp>
        <p:nvSpPr>
          <p:cNvPr id="191491" name="灯片编号占位符 3">
            <a:extLst>
              <a:ext uri="{FF2B5EF4-FFF2-40B4-BE49-F238E27FC236}">
                <a16:creationId xmlns:a16="http://schemas.microsoft.com/office/drawing/2014/main" id="{07A5EC48-0983-2F4E-A282-8373C0E6C6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693529D-E7D5-1644-898A-EBB06D531C83}" type="slidenum">
              <a:rPr lang="en-US" altLang="zh-CN"/>
              <a:pPr/>
              <a:t>65</a:t>
            </a:fld>
            <a:endParaRPr lang="en-US" altLang="zh-CN"/>
          </a:p>
        </p:txBody>
      </p:sp>
    </p:spTree>
    <p:extLst>
      <p:ext uri="{BB962C8B-B14F-4D97-AF65-F5344CB8AC3E}">
        <p14:creationId xmlns:p14="http://schemas.microsoft.com/office/powerpoint/2010/main" val="34667916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幻灯片图像占位符 1">
            <a:extLst>
              <a:ext uri="{FF2B5EF4-FFF2-40B4-BE49-F238E27FC236}">
                <a16:creationId xmlns:a16="http://schemas.microsoft.com/office/drawing/2014/main" id="{5C62DFC1-A03A-E843-BD68-77A0585CE93C}"/>
              </a:ext>
            </a:extLst>
          </p:cNvPr>
          <p:cNvSpPr>
            <a:spLocks noGrp="1" noRot="1" noChangeAspect="1" noChangeArrowheads="1" noTextEdit="1"/>
          </p:cNvSpPr>
          <p:nvPr>
            <p:ph type="sldImg" idx="4294967295"/>
          </p:nvPr>
        </p:nvSpPr>
        <p:spPr>
          <a:ln/>
        </p:spPr>
      </p:sp>
      <p:sp>
        <p:nvSpPr>
          <p:cNvPr id="162818" name="备注占位符 2">
            <a:extLst>
              <a:ext uri="{FF2B5EF4-FFF2-40B4-BE49-F238E27FC236}">
                <a16:creationId xmlns:a16="http://schemas.microsoft.com/office/drawing/2014/main" id="{4F842B89-4654-DB49-8242-EB45044475EB}"/>
              </a:ext>
            </a:extLst>
          </p:cNvPr>
          <p:cNvSpPr>
            <a:spLocks noGrp="1" noChangeArrowheads="1"/>
          </p:cNvSpPr>
          <p:nvPr>
            <p:ph type="body" idx="4294967295"/>
          </p:nvPr>
        </p:nvSpPr>
        <p:spPr/>
        <p:txBody>
          <a:bodyPr/>
          <a:lstStyle/>
          <a:p>
            <a:r>
              <a:rPr lang="en-US" altLang="zh-CN"/>
              <a:t>DES</a:t>
            </a:r>
            <a:r>
              <a:rPr lang="zh-CN" altLang="en-US"/>
              <a:t>算法每一轮展开就是这样的结构。左边是轮函数，右边是密钥编排。左边虚线框内就是函数</a:t>
            </a:r>
            <a:r>
              <a:rPr lang="en-US" altLang="zh-CN"/>
              <a:t>f</a:t>
            </a:r>
            <a:endParaRPr lang="zh-CN" altLang="en-US"/>
          </a:p>
        </p:txBody>
      </p:sp>
      <p:sp>
        <p:nvSpPr>
          <p:cNvPr id="162819" name="灯片编号占位符 3">
            <a:extLst>
              <a:ext uri="{FF2B5EF4-FFF2-40B4-BE49-F238E27FC236}">
                <a16:creationId xmlns:a16="http://schemas.microsoft.com/office/drawing/2014/main" id="{5D5D41A3-5825-5848-9C34-C8CF5EA97F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82901E1-68AC-684F-8E62-1E0C2F97E3FB}" type="slidenum">
              <a:rPr lang="en-US" altLang="zh-CN"/>
              <a:pPr/>
              <a:t>66</a:t>
            </a:fld>
            <a:endParaRPr lang="en-US" altLang="zh-CN"/>
          </a:p>
        </p:txBody>
      </p:sp>
    </p:spTree>
    <p:extLst>
      <p:ext uri="{BB962C8B-B14F-4D97-AF65-F5344CB8AC3E}">
        <p14:creationId xmlns:p14="http://schemas.microsoft.com/office/powerpoint/2010/main" val="23133801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幻灯片图像占位符 1">
            <a:extLst>
              <a:ext uri="{FF2B5EF4-FFF2-40B4-BE49-F238E27FC236}">
                <a16:creationId xmlns:a16="http://schemas.microsoft.com/office/drawing/2014/main" id="{88E2BAC0-D899-0345-A33C-7DF9AE146273}"/>
              </a:ext>
            </a:extLst>
          </p:cNvPr>
          <p:cNvSpPr>
            <a:spLocks noGrp="1" noRot="1" noChangeAspect="1" noChangeArrowheads="1" noTextEdit="1"/>
          </p:cNvSpPr>
          <p:nvPr>
            <p:ph type="sldImg" idx="4294967295"/>
          </p:nvPr>
        </p:nvSpPr>
        <p:spPr>
          <a:ln/>
        </p:spPr>
      </p:sp>
      <p:sp>
        <p:nvSpPr>
          <p:cNvPr id="191490" name="备注占位符 2">
            <a:extLst>
              <a:ext uri="{FF2B5EF4-FFF2-40B4-BE49-F238E27FC236}">
                <a16:creationId xmlns:a16="http://schemas.microsoft.com/office/drawing/2014/main" id="{38F191C4-9D58-F94F-B865-59D8A42B53A1}"/>
              </a:ext>
            </a:extLst>
          </p:cNvPr>
          <p:cNvSpPr>
            <a:spLocks noGrp="1" noChangeArrowheads="1"/>
          </p:cNvSpPr>
          <p:nvPr>
            <p:ph type="body" idx="4294967295"/>
          </p:nvPr>
        </p:nvSpPr>
        <p:spPr/>
        <p:txBody>
          <a:bodyPr/>
          <a:lstStyle/>
          <a:p>
            <a:r>
              <a:rPr lang="en-US" altLang="zh-CN"/>
              <a:t>DES</a:t>
            </a:r>
            <a:r>
              <a:rPr lang="zh-CN" altLang="en-US"/>
              <a:t>算法满足互补性，也就是若明文组</a:t>
            </a:r>
            <a:r>
              <a:rPr lang="en-US" altLang="zh-CN" i="1"/>
              <a:t>x</a:t>
            </a:r>
            <a:r>
              <a:rPr lang="zh-CN" altLang="en-US"/>
              <a:t>逐位取补，密钥</a:t>
            </a:r>
            <a:r>
              <a:rPr lang="en-US" altLang="zh-CN" i="1"/>
              <a:t>k</a:t>
            </a:r>
            <a:r>
              <a:rPr lang="zh-CN" altLang="en-US"/>
              <a:t>逐位取补，即</a:t>
            </a:r>
            <a:r>
              <a:rPr lang="en-US" altLang="zh-CN" i="1"/>
              <a:t>y</a:t>
            </a:r>
            <a:r>
              <a:rPr lang="en-US" altLang="zh-CN"/>
              <a:t>=DES</a:t>
            </a:r>
            <a:r>
              <a:rPr lang="en-US" altLang="zh-CN" baseline="-25000"/>
              <a:t>k</a:t>
            </a:r>
            <a:r>
              <a:rPr lang="en-US" altLang="zh-CN"/>
              <a:t>(</a:t>
            </a:r>
            <a:r>
              <a:rPr lang="en-US" altLang="zh-CN" i="1"/>
              <a:t>x</a:t>
            </a:r>
            <a:r>
              <a:rPr lang="en-US" altLang="zh-CN"/>
              <a:t>), </a:t>
            </a:r>
            <a:r>
              <a:rPr lang="zh-CN" altLang="en-US"/>
              <a:t>则有</a:t>
            </a:r>
            <a:r>
              <a:rPr lang="en-US" altLang="zh-CN"/>
              <a:t>x</a:t>
            </a:r>
            <a:r>
              <a:rPr lang="zh-CN" altLang="en-US"/>
              <a:t>的补在</a:t>
            </a:r>
            <a:r>
              <a:rPr lang="en-US" altLang="zh-CN"/>
              <a:t>k</a:t>
            </a:r>
            <a:r>
              <a:rPr lang="zh-CN" altLang="en-US"/>
              <a:t>补加密下得到</a:t>
            </a:r>
            <a:r>
              <a:rPr lang="en-US" altLang="zh-CN"/>
              <a:t>y</a:t>
            </a:r>
            <a:r>
              <a:rPr lang="zh-CN" altLang="en-US"/>
              <a:t>补。这种互补性是的</a:t>
            </a:r>
            <a:r>
              <a:rPr lang="en-US" altLang="zh-CN"/>
              <a:t>DES</a:t>
            </a:r>
            <a:r>
              <a:rPr lang="zh-CN" altLang="en-US"/>
              <a:t>在选择明文攻击下破译所需的工作量减半。</a:t>
            </a:r>
            <a:endParaRPr lang="en-US" altLang="zh-CN"/>
          </a:p>
          <a:p>
            <a:r>
              <a:rPr lang="en-US" altLang="zh-CN"/>
              <a:t>DES</a:t>
            </a:r>
            <a:r>
              <a:rPr lang="zh-CN" altLang="en-US"/>
              <a:t>存在弱密钥和半弱密钥。所谓弱密钥指的是在同一密钥下加密两次为恒等变换，</a:t>
            </a:r>
            <a:r>
              <a:rPr lang="en-US" altLang="zh-CN"/>
              <a:t>DES</a:t>
            </a:r>
            <a:r>
              <a:rPr lang="zh-CN" altLang="en-US"/>
              <a:t>存在</a:t>
            </a:r>
            <a:r>
              <a:rPr lang="en-US" altLang="zh-CN"/>
              <a:t>4</a:t>
            </a:r>
            <a:r>
              <a:rPr lang="zh-CN" altLang="en-US"/>
              <a:t>个弱密钥，一会我们来分析一下。</a:t>
            </a:r>
            <a:endParaRPr lang="en-US" altLang="zh-CN"/>
          </a:p>
          <a:p>
            <a:r>
              <a:rPr lang="zh-CN" altLang="en-US"/>
              <a:t>所谓半弱密钥指的是一些密钥对，</a:t>
            </a:r>
            <a:r>
              <a:rPr lang="en-US" altLang="zh-CN"/>
              <a:t>k1</a:t>
            </a:r>
            <a:r>
              <a:rPr lang="zh-CN" altLang="en-US"/>
              <a:t>和</a:t>
            </a:r>
            <a:r>
              <a:rPr lang="en-US" altLang="zh-CN"/>
              <a:t>k2</a:t>
            </a:r>
            <a:r>
              <a:rPr lang="zh-CN" altLang="en-US"/>
              <a:t>互不相同，但是其加密出来的明文是一样的，或者换句话说用</a:t>
            </a:r>
            <a:r>
              <a:rPr lang="en-US" altLang="zh-CN"/>
              <a:t>k1</a:t>
            </a:r>
            <a:r>
              <a:rPr lang="zh-CN" altLang="en-US"/>
              <a:t>加密的密文可以用</a:t>
            </a:r>
            <a:r>
              <a:rPr lang="en-US" altLang="zh-CN"/>
              <a:t>k2</a:t>
            </a:r>
            <a:r>
              <a:rPr lang="zh-CN" altLang="en-US"/>
              <a:t>来解密。我们这里不对半弱密钥进行分析，有兴趣的同学可以去查阅</a:t>
            </a:r>
            <a:r>
              <a:rPr lang="en-US" altLang="zh-CN"/>
              <a:t>moore</a:t>
            </a:r>
            <a:r>
              <a:rPr lang="zh-CN" altLang="en-US"/>
              <a:t>和</a:t>
            </a:r>
            <a:r>
              <a:rPr lang="en-US" altLang="zh-CN"/>
              <a:t>simmons</a:t>
            </a:r>
            <a:r>
              <a:rPr lang="zh-CN" altLang="en-US"/>
              <a:t>在</a:t>
            </a:r>
            <a:r>
              <a:rPr lang="en-US" altLang="zh-CN"/>
              <a:t>86</a:t>
            </a:r>
            <a:r>
              <a:rPr lang="zh-CN" altLang="en-US"/>
              <a:t>年美密会上发表的文章</a:t>
            </a:r>
            <a:r>
              <a:rPr lang="en-US" altLang="zh-CN"/>
              <a:t>《Cycle structure of DES with weak and semi-weak keys》.</a:t>
            </a:r>
          </a:p>
          <a:p>
            <a:endParaRPr lang="en-US" altLang="zh-CN"/>
          </a:p>
        </p:txBody>
      </p:sp>
      <p:sp>
        <p:nvSpPr>
          <p:cNvPr id="191491" name="灯片编号占位符 3">
            <a:extLst>
              <a:ext uri="{FF2B5EF4-FFF2-40B4-BE49-F238E27FC236}">
                <a16:creationId xmlns:a16="http://schemas.microsoft.com/office/drawing/2014/main" id="{07A5EC48-0983-2F4E-A282-8373C0E6C6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693529D-E7D5-1644-898A-EBB06D531C83}" type="slidenum">
              <a:rPr lang="en-US" altLang="zh-CN"/>
              <a:pPr/>
              <a:t>67</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幻灯片图像占位符 1">
            <a:extLst>
              <a:ext uri="{FF2B5EF4-FFF2-40B4-BE49-F238E27FC236}">
                <a16:creationId xmlns:a16="http://schemas.microsoft.com/office/drawing/2014/main" id="{328D05E5-E2BC-F241-ABA8-EC0747EB51F4}"/>
              </a:ext>
            </a:extLst>
          </p:cNvPr>
          <p:cNvSpPr>
            <a:spLocks noGrp="1" noRot="1" noChangeAspect="1" noChangeArrowheads="1" noTextEdit="1"/>
          </p:cNvSpPr>
          <p:nvPr>
            <p:ph type="sldImg" idx="4294967295"/>
          </p:nvPr>
        </p:nvSpPr>
        <p:spPr>
          <a:ln/>
        </p:spPr>
      </p:sp>
      <p:sp>
        <p:nvSpPr>
          <p:cNvPr id="194562" name="备注占位符 2">
            <a:extLst>
              <a:ext uri="{FF2B5EF4-FFF2-40B4-BE49-F238E27FC236}">
                <a16:creationId xmlns:a16="http://schemas.microsoft.com/office/drawing/2014/main" id="{80815809-338A-2B4A-B0DD-B580F19410A5}"/>
              </a:ext>
            </a:extLst>
          </p:cNvPr>
          <p:cNvSpPr>
            <a:spLocks noGrp="1" noChangeArrowheads="1"/>
          </p:cNvSpPr>
          <p:nvPr>
            <p:ph type="body" idx="4294967295"/>
          </p:nvPr>
        </p:nvSpPr>
        <p:spPr/>
        <p:txBody>
          <a:bodyPr/>
          <a:lstStyle/>
          <a:p>
            <a:pPr algn="just" eaLnBrk="1" hangingPunct="1">
              <a:spcAft>
                <a:spcPts val="600"/>
              </a:spcAft>
            </a:pPr>
            <a:r>
              <a:rPr lang="zh-CN" altLang="en-US" b="1">
                <a:latin typeface="Times New Roman" panose="02020603050405020304" pitchFamily="18" charset="0"/>
              </a:rPr>
              <a:t>再来分析一下弱密钥。从弱密钥的定义，我们可以看出只要每一轮使用的轮密钥相同，就一定是弱密钥。轮密钥的产生是原始密钥在置换选择</a:t>
            </a:r>
            <a:r>
              <a:rPr lang="en-US" altLang="zh-CN" b="1">
                <a:latin typeface="Times New Roman" panose="02020603050405020304" pitchFamily="18" charset="0"/>
              </a:rPr>
              <a:t>1</a:t>
            </a:r>
            <a:r>
              <a:rPr lang="zh-CN" altLang="en-US" b="1">
                <a:latin typeface="Times New Roman" panose="02020603050405020304" pitchFamily="18" charset="0"/>
              </a:rPr>
              <a:t>后，分成左右两半，然后进行循环移位，最后通过置换选择</a:t>
            </a:r>
            <a:r>
              <a:rPr lang="en-US" altLang="zh-CN" b="1">
                <a:latin typeface="Times New Roman" panose="02020603050405020304" pitchFamily="18" charset="0"/>
              </a:rPr>
              <a:t>2</a:t>
            </a:r>
            <a:r>
              <a:rPr lang="zh-CN" altLang="en-US" b="1">
                <a:latin typeface="Times New Roman" panose="02020603050405020304" pitchFamily="18" charset="0"/>
              </a:rPr>
              <a:t>输出轮密钥，因此只要左右两边循环移位后仍相同即可，从</a:t>
            </a:r>
            <a:r>
              <a:rPr lang="en-US" altLang="zh-CN" b="1">
                <a:latin typeface="Times New Roman" panose="02020603050405020304" pitchFamily="18" charset="0"/>
              </a:rPr>
              <a:t>PPT</a:t>
            </a:r>
            <a:r>
              <a:rPr lang="zh-CN" altLang="en-US" b="1">
                <a:latin typeface="Times New Roman" panose="02020603050405020304" pitchFamily="18" charset="0"/>
              </a:rPr>
              <a:t>右边可以看出只要</a:t>
            </a:r>
            <a:r>
              <a:rPr lang="en-US" altLang="zh-CN" b="1">
                <a:latin typeface="Times New Roman" panose="02020603050405020304" pitchFamily="18" charset="0"/>
              </a:rPr>
              <a:t>28</a:t>
            </a:r>
            <a:r>
              <a:rPr lang="zh-CN" altLang="en-US" b="1">
                <a:latin typeface="Times New Roman" panose="02020603050405020304" pitchFamily="18" charset="0"/>
              </a:rPr>
              <a:t>比特全零或全</a:t>
            </a:r>
            <a:r>
              <a:rPr lang="en-US" altLang="zh-CN" b="1">
                <a:latin typeface="Times New Roman" panose="02020603050405020304" pitchFamily="18" charset="0"/>
              </a:rPr>
              <a:t>1</a:t>
            </a:r>
            <a:r>
              <a:rPr lang="zh-CN" altLang="en-US" b="1">
                <a:latin typeface="Times New Roman" panose="02020603050405020304" pitchFamily="18" charset="0"/>
              </a:rPr>
              <a:t>就可满足要求。因此有四个：</a:t>
            </a:r>
            <a:r>
              <a:rPr lang="en-US" altLang="zh-CN" b="1">
                <a:latin typeface="Times New Roman" panose="02020603050405020304" pitchFamily="18" charset="0"/>
              </a:rPr>
              <a:t>1</a:t>
            </a:r>
            <a:r>
              <a:rPr lang="zh-CN" altLang="en-US" b="1">
                <a:latin typeface="Times New Roman" panose="02020603050405020304" pitchFamily="18" charset="0"/>
              </a:rPr>
              <a:t>是全零，</a:t>
            </a:r>
            <a:r>
              <a:rPr lang="en-US" altLang="zh-CN" b="1">
                <a:latin typeface="Times New Roman" panose="02020603050405020304" pitchFamily="18" charset="0"/>
              </a:rPr>
              <a:t>2</a:t>
            </a:r>
            <a:r>
              <a:rPr lang="zh-CN" altLang="en-US" b="1">
                <a:latin typeface="Times New Roman" panose="02020603050405020304" pitchFamily="18" charset="0"/>
              </a:rPr>
              <a:t>是左边</a:t>
            </a:r>
            <a:r>
              <a:rPr lang="en-US" altLang="zh-CN" b="1">
                <a:latin typeface="Times New Roman" panose="02020603050405020304" pitchFamily="18" charset="0"/>
              </a:rPr>
              <a:t>28</a:t>
            </a:r>
            <a:r>
              <a:rPr lang="zh-CN" altLang="en-US" b="1">
                <a:latin typeface="Times New Roman" panose="02020603050405020304" pitchFamily="18" charset="0"/>
              </a:rPr>
              <a:t>比特为</a:t>
            </a:r>
            <a:r>
              <a:rPr lang="en-US" altLang="zh-CN" b="1">
                <a:latin typeface="Times New Roman" panose="02020603050405020304" pitchFamily="18" charset="0"/>
              </a:rPr>
              <a:t>0</a:t>
            </a:r>
            <a:r>
              <a:rPr lang="zh-CN" altLang="en-US" b="1">
                <a:latin typeface="Times New Roman" panose="02020603050405020304" pitchFamily="18" charset="0"/>
              </a:rPr>
              <a:t>，右边</a:t>
            </a:r>
            <a:r>
              <a:rPr lang="en-US" altLang="zh-CN" b="1">
                <a:latin typeface="Times New Roman" panose="02020603050405020304" pitchFamily="18" charset="0"/>
              </a:rPr>
              <a:t>28</a:t>
            </a:r>
            <a:r>
              <a:rPr lang="zh-CN" altLang="en-US" b="1">
                <a:latin typeface="Times New Roman" panose="02020603050405020304" pitchFamily="18" charset="0"/>
              </a:rPr>
              <a:t>比特为</a:t>
            </a:r>
            <a:r>
              <a:rPr lang="en-US" altLang="zh-CN" b="1">
                <a:latin typeface="Times New Roman" panose="02020603050405020304" pitchFamily="18" charset="0"/>
              </a:rPr>
              <a:t>1,3</a:t>
            </a:r>
            <a:r>
              <a:rPr lang="zh-CN" altLang="en-US" b="1">
                <a:latin typeface="Times New Roman" panose="02020603050405020304" pitchFamily="18" charset="0"/>
              </a:rPr>
              <a:t>是左边</a:t>
            </a:r>
            <a:r>
              <a:rPr lang="en-US" altLang="zh-CN" b="1">
                <a:latin typeface="Times New Roman" panose="02020603050405020304" pitchFamily="18" charset="0"/>
              </a:rPr>
              <a:t>28</a:t>
            </a:r>
            <a:r>
              <a:rPr lang="zh-CN" altLang="en-US" b="1">
                <a:latin typeface="Times New Roman" panose="02020603050405020304" pitchFamily="18" charset="0"/>
              </a:rPr>
              <a:t>比特为</a:t>
            </a:r>
            <a:r>
              <a:rPr lang="en-US" altLang="zh-CN" b="1">
                <a:latin typeface="Times New Roman" panose="02020603050405020304" pitchFamily="18" charset="0"/>
              </a:rPr>
              <a:t>1</a:t>
            </a:r>
            <a:r>
              <a:rPr lang="zh-CN" altLang="en-US" b="1">
                <a:latin typeface="Times New Roman" panose="02020603050405020304" pitchFamily="18" charset="0"/>
              </a:rPr>
              <a:t>，右边</a:t>
            </a:r>
            <a:r>
              <a:rPr lang="en-US" altLang="zh-CN" b="1">
                <a:latin typeface="Times New Roman" panose="02020603050405020304" pitchFamily="18" charset="0"/>
              </a:rPr>
              <a:t>28</a:t>
            </a:r>
            <a:r>
              <a:rPr lang="zh-CN" altLang="en-US" b="1">
                <a:latin typeface="Times New Roman" panose="02020603050405020304" pitchFamily="18" charset="0"/>
              </a:rPr>
              <a:t>比特为</a:t>
            </a:r>
            <a:r>
              <a:rPr lang="en-US" altLang="zh-CN" b="1">
                <a:latin typeface="Times New Roman" panose="02020603050405020304" pitchFamily="18" charset="0"/>
              </a:rPr>
              <a:t>0,4</a:t>
            </a:r>
            <a:r>
              <a:rPr lang="zh-CN" altLang="en-US" b="1">
                <a:latin typeface="Times New Roman" panose="02020603050405020304" pitchFamily="18" charset="0"/>
              </a:rPr>
              <a:t>是全</a:t>
            </a:r>
            <a:r>
              <a:rPr lang="en-US" altLang="zh-CN" b="1">
                <a:latin typeface="Times New Roman" panose="02020603050405020304" pitchFamily="18" charset="0"/>
              </a:rPr>
              <a:t>1.</a:t>
            </a:r>
            <a:r>
              <a:rPr lang="zh-CN" altLang="en-US" b="1">
                <a:latin typeface="Times New Roman" panose="02020603050405020304" pitchFamily="18" charset="0"/>
              </a:rPr>
              <a:t>通过逆置换选择</a:t>
            </a:r>
            <a:r>
              <a:rPr lang="en-US" altLang="zh-CN" b="1">
                <a:latin typeface="Times New Roman" panose="02020603050405020304" pitchFamily="18" charset="0"/>
              </a:rPr>
              <a:t>1</a:t>
            </a:r>
            <a:r>
              <a:rPr lang="zh-CN" altLang="en-US" b="1">
                <a:latin typeface="Times New Roman" panose="02020603050405020304" pitchFamily="18" charset="0"/>
              </a:rPr>
              <a:t>，再添加上奇偶校验位就可得到左边这四个弱密钥。弱密钥下同样使</a:t>
            </a:r>
            <a:r>
              <a:rPr lang="en-US" altLang="zh-CN" b="1">
                <a:latin typeface="Times New Roman" panose="02020603050405020304" pitchFamily="18" charset="0"/>
              </a:rPr>
              <a:t>DES</a:t>
            </a:r>
            <a:r>
              <a:rPr lang="zh-CN" altLang="en-US" b="1">
                <a:latin typeface="Times New Roman" panose="02020603050405020304" pitchFamily="18" charset="0"/>
              </a:rPr>
              <a:t>在选择明文攻击下的搜索量减半。不过，如果随机地选择密钥，弱密钥所占比例极小，而且稍加注意就不难避开。因此，弱密钥的存在不会危及</a:t>
            </a:r>
            <a:r>
              <a:rPr lang="en-US" altLang="zh-CN" b="1">
                <a:latin typeface="Times New Roman" panose="02020603050405020304" pitchFamily="18" charset="0"/>
              </a:rPr>
              <a:t>DES</a:t>
            </a:r>
            <a:r>
              <a:rPr lang="zh-CN" altLang="en-US" b="1">
                <a:latin typeface="Times New Roman" panose="02020603050405020304" pitchFamily="18" charset="0"/>
              </a:rPr>
              <a:t>的安全性。</a:t>
            </a:r>
            <a:endParaRPr lang="en-US" altLang="zh-CN" b="1">
              <a:latin typeface="Times New Roman" panose="02020603050405020304" pitchFamily="18" charset="0"/>
            </a:endParaRPr>
          </a:p>
          <a:p>
            <a:pPr algn="just" eaLnBrk="1" hangingPunct="1">
              <a:spcAft>
                <a:spcPts val="600"/>
              </a:spcAft>
            </a:pPr>
            <a:endParaRPr lang="en-US" altLang="zh-CN" b="1">
              <a:latin typeface="Times New Roman" panose="02020603050405020304" pitchFamily="18" charset="0"/>
            </a:endParaRPr>
          </a:p>
          <a:p>
            <a:pPr algn="just" eaLnBrk="1" hangingPunct="1">
              <a:spcAft>
                <a:spcPts val="600"/>
              </a:spcAft>
            </a:pPr>
            <a:r>
              <a:rPr lang="zh-CN" altLang="en-US" b="1">
                <a:latin typeface="Times New Roman" panose="02020603050405020304" pitchFamily="18" charset="0"/>
              </a:rPr>
              <a:t>怎么置换都白换</a:t>
            </a:r>
            <a:endParaRPr lang="zh-CN" altLang="en-US"/>
          </a:p>
        </p:txBody>
      </p:sp>
      <p:sp>
        <p:nvSpPr>
          <p:cNvPr id="194563" name="灯片编号占位符 3">
            <a:extLst>
              <a:ext uri="{FF2B5EF4-FFF2-40B4-BE49-F238E27FC236}">
                <a16:creationId xmlns:a16="http://schemas.microsoft.com/office/drawing/2014/main" id="{99465881-7071-0F4C-9739-2C13B12C42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123FC90-FDF6-C949-A3E9-882593D4DBD6}" type="slidenum">
              <a:rPr lang="en-US" altLang="zh-CN"/>
              <a:pPr/>
              <a:t>68</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幻灯片图像占位符 1">
            <a:extLst>
              <a:ext uri="{FF2B5EF4-FFF2-40B4-BE49-F238E27FC236}">
                <a16:creationId xmlns:a16="http://schemas.microsoft.com/office/drawing/2014/main" id="{A9EB417B-87FC-B445-9147-05331EAAF86B}"/>
              </a:ext>
            </a:extLst>
          </p:cNvPr>
          <p:cNvSpPr>
            <a:spLocks noGrp="1" noRot="1" noChangeAspect="1" noChangeArrowheads="1" noTextEdit="1"/>
          </p:cNvSpPr>
          <p:nvPr>
            <p:ph type="sldImg" idx="4294967295"/>
          </p:nvPr>
        </p:nvSpPr>
        <p:spPr>
          <a:ln/>
        </p:spPr>
      </p:sp>
      <p:sp>
        <p:nvSpPr>
          <p:cNvPr id="196610" name="备注占位符 2">
            <a:extLst>
              <a:ext uri="{FF2B5EF4-FFF2-40B4-BE49-F238E27FC236}">
                <a16:creationId xmlns:a16="http://schemas.microsoft.com/office/drawing/2014/main" id="{AE8FA838-0A47-9F4E-8648-25A0FB19A4B0}"/>
              </a:ext>
            </a:extLst>
          </p:cNvPr>
          <p:cNvSpPr>
            <a:spLocks noGrp="1" noChangeArrowheads="1"/>
          </p:cNvSpPr>
          <p:nvPr>
            <p:ph type="body" idx="4294967295"/>
          </p:nvPr>
        </p:nvSpPr>
        <p:spPr/>
        <p:txBody>
          <a:bodyPr/>
          <a:lstStyle/>
          <a:p>
            <a:r>
              <a:rPr lang="zh-CN" altLang="en-US"/>
              <a:t>具体的如图所示</a:t>
            </a:r>
          </a:p>
        </p:txBody>
      </p:sp>
      <p:sp>
        <p:nvSpPr>
          <p:cNvPr id="196611" name="灯片编号占位符 3">
            <a:extLst>
              <a:ext uri="{FF2B5EF4-FFF2-40B4-BE49-F238E27FC236}">
                <a16:creationId xmlns:a16="http://schemas.microsoft.com/office/drawing/2014/main" id="{E23E2F4D-77B6-F241-85F3-91BD56D8E3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18F8841-CF4B-404B-8FA7-32EA8F7587A8}" type="slidenum">
              <a:rPr lang="en-US" altLang="zh-CN"/>
              <a:pPr/>
              <a:t>69</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幻灯片图像占位符 1">
            <a:extLst>
              <a:ext uri="{FF2B5EF4-FFF2-40B4-BE49-F238E27FC236}">
                <a16:creationId xmlns:a16="http://schemas.microsoft.com/office/drawing/2014/main" id="{30580F2D-72B1-644F-850B-243EE84D86C4}"/>
              </a:ext>
            </a:extLst>
          </p:cNvPr>
          <p:cNvSpPr>
            <a:spLocks noGrp="1" noRot="1" noChangeAspect="1" noChangeArrowheads="1" noTextEdit="1"/>
          </p:cNvSpPr>
          <p:nvPr>
            <p:ph type="sldImg" idx="4294967295"/>
          </p:nvPr>
        </p:nvSpPr>
        <p:spPr>
          <a:ln/>
        </p:spPr>
      </p:sp>
      <p:sp>
        <p:nvSpPr>
          <p:cNvPr id="198658" name="备注占位符 2">
            <a:extLst>
              <a:ext uri="{FF2B5EF4-FFF2-40B4-BE49-F238E27FC236}">
                <a16:creationId xmlns:a16="http://schemas.microsoft.com/office/drawing/2014/main" id="{33FECD78-37AE-7445-982C-6F4B7229CC21}"/>
              </a:ext>
            </a:extLst>
          </p:cNvPr>
          <p:cNvSpPr>
            <a:spLocks noGrp="1" noChangeArrowheads="1"/>
          </p:cNvSpPr>
          <p:nvPr>
            <p:ph type="body" idx="4294967295"/>
          </p:nvPr>
        </p:nvSpPr>
        <p:spPr/>
        <p:txBody>
          <a:bodyPr/>
          <a:lstStyle/>
          <a:p>
            <a:r>
              <a:rPr lang="en-US" altLang="zh-CN"/>
              <a:t>IBM</a:t>
            </a:r>
            <a:r>
              <a:rPr lang="zh-CN" altLang="en-US"/>
              <a:t>最初向</a:t>
            </a:r>
            <a:r>
              <a:rPr lang="en-US" altLang="zh-CN"/>
              <a:t>NBS</a:t>
            </a:r>
            <a:r>
              <a:rPr lang="zh-CN" altLang="en-US"/>
              <a:t>提交的建议方案采用</a:t>
            </a:r>
            <a:r>
              <a:rPr lang="en-US" altLang="zh-CN"/>
              <a:t>112 bits</a:t>
            </a:r>
            <a:r>
              <a:rPr lang="zh-CN" altLang="en-US"/>
              <a:t>密钥，但公布的</a:t>
            </a:r>
            <a:r>
              <a:rPr lang="en-US" altLang="zh-CN"/>
              <a:t>DES</a:t>
            </a:r>
            <a:r>
              <a:rPr lang="zh-CN" altLang="en-US"/>
              <a:t>标准采用</a:t>
            </a:r>
            <a:r>
              <a:rPr lang="en-US" altLang="zh-CN"/>
              <a:t>64 bits</a:t>
            </a:r>
            <a:r>
              <a:rPr lang="zh-CN" altLang="en-US"/>
              <a:t>密钥。有人认为</a:t>
            </a:r>
            <a:r>
              <a:rPr lang="en-US" altLang="zh-CN"/>
              <a:t>NSA</a:t>
            </a:r>
            <a:r>
              <a:rPr lang="zh-CN" altLang="en-US"/>
              <a:t>故意限制</a:t>
            </a:r>
            <a:r>
              <a:rPr lang="en-US" altLang="zh-CN"/>
              <a:t>DES</a:t>
            </a:r>
            <a:r>
              <a:rPr lang="zh-CN" altLang="en-US"/>
              <a:t>的密钥长度。采用穷搜索对已经对</a:t>
            </a:r>
            <a:r>
              <a:rPr lang="en-US" altLang="zh-CN"/>
              <a:t>DES</a:t>
            </a:r>
            <a:r>
              <a:rPr lang="zh-CN" altLang="en-US"/>
              <a:t>构成了威胁。</a:t>
            </a:r>
            <a:r>
              <a:rPr lang="en-US" altLang="zh-CN"/>
              <a:t>1977</a:t>
            </a:r>
            <a:r>
              <a:rPr lang="zh-CN" altLang="en-US"/>
              <a:t>年</a:t>
            </a:r>
            <a:r>
              <a:rPr lang="en-US" altLang="zh-CN"/>
              <a:t>Diffie</a:t>
            </a:r>
            <a:r>
              <a:rPr lang="zh-CN" altLang="en-US"/>
              <a:t>和</a:t>
            </a:r>
            <a:r>
              <a:rPr lang="en-US" altLang="zh-CN"/>
              <a:t>Hellman</a:t>
            </a:r>
            <a:r>
              <a:rPr lang="zh-CN" altLang="en-US"/>
              <a:t>提出了制造一个每秒能测试</a:t>
            </a:r>
            <a:r>
              <a:rPr lang="en-US" altLang="zh-CN"/>
              <a:t>106</a:t>
            </a:r>
            <a:r>
              <a:rPr lang="zh-CN" altLang="en-US"/>
              <a:t>个密钥的大规模芯片，这种芯片的机器大约一天就可以搜索</a:t>
            </a:r>
            <a:r>
              <a:rPr lang="en-US" altLang="zh-CN"/>
              <a:t>DES</a:t>
            </a:r>
            <a:r>
              <a:rPr lang="zh-CN" altLang="en-US"/>
              <a:t>算法的整个密钥空间，制造这样的机器需要两千万美元。</a:t>
            </a:r>
          </a:p>
          <a:p>
            <a:r>
              <a:rPr lang="zh-CN" altLang="en-US"/>
              <a:t>事实上</a:t>
            </a:r>
            <a:r>
              <a:rPr lang="en-US" altLang="zh-CN"/>
              <a:t>56</a:t>
            </a:r>
            <a:r>
              <a:rPr lang="zh-CN" altLang="en-US"/>
              <a:t>位参与运算</a:t>
            </a:r>
          </a:p>
        </p:txBody>
      </p:sp>
      <p:sp>
        <p:nvSpPr>
          <p:cNvPr id="198659" name="灯片编号占位符 3">
            <a:extLst>
              <a:ext uri="{FF2B5EF4-FFF2-40B4-BE49-F238E27FC236}">
                <a16:creationId xmlns:a16="http://schemas.microsoft.com/office/drawing/2014/main" id="{28FBFBE1-C48B-C245-8081-23F146567A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B5E7804-DB0C-2345-93AD-D3B646A33B6C}" type="slidenum">
              <a:rPr lang="en-US" altLang="zh-CN"/>
              <a:pPr/>
              <a:t>70</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幻灯片图像占位符 1">
            <a:extLst>
              <a:ext uri="{FF2B5EF4-FFF2-40B4-BE49-F238E27FC236}">
                <a16:creationId xmlns:a16="http://schemas.microsoft.com/office/drawing/2014/main" id="{FBAC7C94-19CE-FD48-8586-FE8B35B9D36B}"/>
              </a:ext>
            </a:extLst>
          </p:cNvPr>
          <p:cNvSpPr>
            <a:spLocks noGrp="1" noRot="1" noChangeAspect="1" noChangeArrowheads="1" noTextEdit="1"/>
          </p:cNvSpPr>
          <p:nvPr>
            <p:ph type="sldImg" idx="4294967295"/>
          </p:nvPr>
        </p:nvSpPr>
        <p:spPr>
          <a:ln/>
        </p:spPr>
      </p:sp>
      <p:sp>
        <p:nvSpPr>
          <p:cNvPr id="200706" name="备注占位符 2">
            <a:extLst>
              <a:ext uri="{FF2B5EF4-FFF2-40B4-BE49-F238E27FC236}">
                <a16:creationId xmlns:a16="http://schemas.microsoft.com/office/drawing/2014/main" id="{7914F0A3-376D-E341-B5C9-26B293195539}"/>
              </a:ext>
            </a:extLst>
          </p:cNvPr>
          <p:cNvSpPr>
            <a:spLocks noGrp="1" noChangeArrowheads="1"/>
          </p:cNvSpPr>
          <p:nvPr>
            <p:ph type="body" idx="4294967295"/>
          </p:nvPr>
        </p:nvSpPr>
        <p:spPr/>
        <p:txBody>
          <a:bodyPr/>
          <a:lstStyle/>
          <a:p>
            <a:r>
              <a:rPr lang="en-US" altLang="zh-CN"/>
              <a:t>1993</a:t>
            </a:r>
            <a:r>
              <a:rPr lang="zh-CN" altLang="en-US"/>
              <a:t>年，</a:t>
            </a:r>
            <a:r>
              <a:rPr lang="en-US" altLang="zh-CN"/>
              <a:t>R.Session</a:t>
            </a:r>
            <a:r>
              <a:rPr lang="zh-CN" altLang="en-US"/>
              <a:t>和</a:t>
            </a:r>
            <a:r>
              <a:rPr lang="en-US" altLang="zh-CN"/>
              <a:t>M.Wiener</a:t>
            </a:r>
            <a:r>
              <a:rPr lang="zh-CN" altLang="en-US"/>
              <a:t>给出了一个非常详细的密钥搜索机器的设计方案。他们的方案中采用了基于并行的密钥搜索芯片，此芯片每秒测试</a:t>
            </a:r>
            <a:r>
              <a:rPr lang="en-US" altLang="zh-CN"/>
              <a:t>5×107</a:t>
            </a:r>
            <a:r>
              <a:rPr lang="zh-CN" altLang="en-US"/>
              <a:t>个密钥。当时这种芯片的造价是</a:t>
            </a:r>
            <a:r>
              <a:rPr lang="en-US" altLang="zh-CN"/>
              <a:t>10.5</a:t>
            </a:r>
            <a:r>
              <a:rPr lang="zh-CN" altLang="en-US"/>
              <a:t>美元，</a:t>
            </a:r>
            <a:r>
              <a:rPr lang="en-US" altLang="zh-CN"/>
              <a:t>5760</a:t>
            </a:r>
            <a:r>
              <a:rPr lang="zh-CN" altLang="en-US"/>
              <a:t>个这样的芯片组成的系统需要</a:t>
            </a:r>
            <a:r>
              <a:rPr lang="en-US" altLang="zh-CN"/>
              <a:t>10</a:t>
            </a:r>
            <a:r>
              <a:rPr lang="zh-CN" altLang="en-US"/>
              <a:t>万美元，这一系统平均</a:t>
            </a:r>
            <a:r>
              <a:rPr lang="en-US" altLang="zh-CN"/>
              <a:t>1.5</a:t>
            </a:r>
            <a:r>
              <a:rPr lang="zh-CN" altLang="en-US"/>
              <a:t>天即可找到</a:t>
            </a:r>
            <a:r>
              <a:rPr lang="en-US" altLang="zh-CN"/>
              <a:t>DES</a:t>
            </a:r>
            <a:r>
              <a:rPr lang="zh-CN" altLang="en-US"/>
              <a:t>的密钥。如果利用</a:t>
            </a:r>
            <a:r>
              <a:rPr lang="en-US" altLang="zh-CN"/>
              <a:t>10</a:t>
            </a:r>
            <a:r>
              <a:rPr lang="zh-CN" altLang="en-US"/>
              <a:t>个这样的系统，费用是</a:t>
            </a:r>
            <a:r>
              <a:rPr lang="en-US" altLang="zh-CN"/>
              <a:t>100</a:t>
            </a:r>
            <a:r>
              <a:rPr lang="zh-CN" altLang="en-US"/>
              <a:t>万美元，但搜索时间可以降到</a:t>
            </a:r>
            <a:r>
              <a:rPr lang="en-US" altLang="zh-CN"/>
              <a:t>2.5</a:t>
            </a:r>
            <a:r>
              <a:rPr lang="zh-CN" altLang="en-US"/>
              <a:t>小时。当然，这样做代价还是比较大的。</a:t>
            </a:r>
          </a:p>
          <a:p>
            <a:endParaRPr lang="zh-CN" altLang="en-US"/>
          </a:p>
        </p:txBody>
      </p:sp>
      <p:sp>
        <p:nvSpPr>
          <p:cNvPr id="200707" name="灯片编号占位符 3">
            <a:extLst>
              <a:ext uri="{FF2B5EF4-FFF2-40B4-BE49-F238E27FC236}">
                <a16:creationId xmlns:a16="http://schemas.microsoft.com/office/drawing/2014/main" id="{D353D74D-B3E9-3D47-9D00-85B302A56F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C241D99-86B0-764F-861A-EB4446BD6084}" type="slidenum">
              <a:rPr lang="en-US" altLang="zh-CN"/>
              <a:pPr/>
              <a:t>71</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幻灯片图像占位符 1">
            <a:extLst>
              <a:ext uri="{FF2B5EF4-FFF2-40B4-BE49-F238E27FC236}">
                <a16:creationId xmlns:a16="http://schemas.microsoft.com/office/drawing/2014/main" id="{B8375342-2543-A841-95F6-77AD9D1296A6}"/>
              </a:ext>
            </a:extLst>
          </p:cNvPr>
          <p:cNvSpPr>
            <a:spLocks noGrp="1" noRot="1" noChangeAspect="1" noChangeArrowheads="1" noTextEdit="1"/>
          </p:cNvSpPr>
          <p:nvPr>
            <p:ph type="sldImg" idx="4294967295"/>
          </p:nvPr>
        </p:nvSpPr>
        <p:spPr>
          <a:ln/>
        </p:spPr>
      </p:sp>
      <p:sp>
        <p:nvSpPr>
          <p:cNvPr id="202754" name="备注占位符 2">
            <a:extLst>
              <a:ext uri="{FF2B5EF4-FFF2-40B4-BE49-F238E27FC236}">
                <a16:creationId xmlns:a16="http://schemas.microsoft.com/office/drawing/2014/main" id="{FF362BF2-2C67-874E-80F8-58E0BDC00A3B}"/>
              </a:ext>
            </a:extLst>
          </p:cNvPr>
          <p:cNvSpPr>
            <a:spLocks noGrp="1" noChangeArrowheads="1"/>
          </p:cNvSpPr>
          <p:nvPr>
            <p:ph type="body" idx="4294967295"/>
          </p:nvPr>
        </p:nvSpPr>
        <p:spPr/>
        <p:txBody>
          <a:bodyPr/>
          <a:lstStyle/>
          <a:p>
            <a:r>
              <a:rPr lang="en-US" altLang="zh-CN"/>
              <a:t>DES</a:t>
            </a:r>
            <a:r>
              <a:rPr lang="zh-CN" altLang="en-US"/>
              <a:t>的</a:t>
            </a:r>
            <a:r>
              <a:rPr lang="en-US" altLang="zh-CN"/>
              <a:t>56</a:t>
            </a:r>
            <a:r>
              <a:rPr lang="zh-CN" altLang="en-US"/>
              <a:t>位短密钥面临的另外一个严峻而现实的问题是：国际互联网</a:t>
            </a:r>
            <a:r>
              <a:rPr lang="en-US" altLang="zh-CN"/>
              <a:t>Internet</a:t>
            </a:r>
            <a:r>
              <a:rPr lang="zh-CN" altLang="en-US"/>
              <a:t>的超级计算能力。</a:t>
            </a:r>
            <a:r>
              <a:rPr lang="en-US" altLang="zh-CN"/>
              <a:t>1997</a:t>
            </a:r>
            <a:r>
              <a:rPr lang="zh-CN" altLang="en-US"/>
              <a:t>年</a:t>
            </a:r>
            <a:r>
              <a:rPr lang="en-US" altLang="zh-CN"/>
              <a:t>1</a:t>
            </a:r>
            <a:r>
              <a:rPr lang="zh-CN" altLang="en-US"/>
              <a:t>月</a:t>
            </a:r>
            <a:r>
              <a:rPr lang="en-US" altLang="zh-CN"/>
              <a:t>28</a:t>
            </a:r>
            <a:r>
              <a:rPr lang="zh-CN" altLang="en-US"/>
              <a:t>日，美国的</a:t>
            </a:r>
            <a:r>
              <a:rPr lang="en-US" altLang="zh-CN"/>
              <a:t>RSA</a:t>
            </a:r>
            <a:r>
              <a:rPr lang="zh-CN" altLang="en-US"/>
              <a:t>数据安全公司在互联网上开展了一项名为“密钥挑战”的竞赛，悬赏一万美元，破解一段用</a:t>
            </a:r>
            <a:r>
              <a:rPr lang="en-US" altLang="zh-CN"/>
              <a:t>56</a:t>
            </a:r>
            <a:r>
              <a:rPr lang="zh-CN" altLang="en-US"/>
              <a:t>位密钥加密的</a:t>
            </a:r>
            <a:r>
              <a:rPr lang="en-US" altLang="zh-CN"/>
              <a:t>DES</a:t>
            </a:r>
            <a:r>
              <a:rPr lang="zh-CN" altLang="en-US"/>
              <a:t>密文。</a:t>
            </a:r>
          </a:p>
          <a:p>
            <a:endParaRPr lang="zh-CN" altLang="en-US"/>
          </a:p>
        </p:txBody>
      </p:sp>
      <p:sp>
        <p:nvSpPr>
          <p:cNvPr id="202755" name="灯片编号占位符 3">
            <a:extLst>
              <a:ext uri="{FF2B5EF4-FFF2-40B4-BE49-F238E27FC236}">
                <a16:creationId xmlns:a16="http://schemas.microsoft.com/office/drawing/2014/main" id="{70E0E937-0498-884E-84F4-36C9075576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4CF6AAF-6D9B-BD45-8969-04195CC7BAE2}" type="slidenum">
              <a:rPr lang="en-US" altLang="zh-CN"/>
              <a:pPr/>
              <a:t>72</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幻灯片图像占位符 1">
            <a:extLst>
              <a:ext uri="{FF2B5EF4-FFF2-40B4-BE49-F238E27FC236}">
                <a16:creationId xmlns:a16="http://schemas.microsoft.com/office/drawing/2014/main" id="{AE44B989-DF0F-174C-8AB7-74E4116C0C5A}"/>
              </a:ext>
            </a:extLst>
          </p:cNvPr>
          <p:cNvSpPr>
            <a:spLocks noGrp="1" noRot="1" noChangeAspect="1" noChangeArrowheads="1" noTextEdit="1"/>
          </p:cNvSpPr>
          <p:nvPr>
            <p:ph type="sldImg" idx="4294967295"/>
          </p:nvPr>
        </p:nvSpPr>
        <p:spPr>
          <a:ln/>
        </p:spPr>
      </p:sp>
      <p:sp>
        <p:nvSpPr>
          <p:cNvPr id="204802" name="备注占位符 2">
            <a:extLst>
              <a:ext uri="{FF2B5EF4-FFF2-40B4-BE49-F238E27FC236}">
                <a16:creationId xmlns:a16="http://schemas.microsoft.com/office/drawing/2014/main" id="{AEE2EBF5-9D30-164C-88C8-852904981436}"/>
              </a:ext>
            </a:extLst>
          </p:cNvPr>
          <p:cNvSpPr>
            <a:spLocks noGrp="1" noChangeArrowheads="1"/>
          </p:cNvSpPr>
          <p:nvPr>
            <p:ph type="body" idx="4294967295"/>
          </p:nvPr>
        </p:nvSpPr>
        <p:spPr/>
        <p:txBody>
          <a:bodyPr/>
          <a:lstStyle/>
          <a:p>
            <a:pPr eaLnBrk="1" hangingPunct="1">
              <a:lnSpc>
                <a:spcPct val="120000"/>
              </a:lnSpc>
            </a:pPr>
            <a:r>
              <a:rPr lang="zh-CN" altLang="en-US"/>
              <a:t>一位名叫</a:t>
            </a:r>
            <a:r>
              <a:rPr lang="en-US" altLang="zh-CN"/>
              <a:t>Rocke Verser</a:t>
            </a:r>
            <a:r>
              <a:rPr lang="zh-CN" altLang="en-US"/>
              <a:t>的程序员设计了一个可以通过互联网分段运行的密钥穷举搜索程序，组织实施了一个称为</a:t>
            </a:r>
            <a:r>
              <a:rPr lang="en-US" altLang="zh-CN"/>
              <a:t>DESHALL</a:t>
            </a:r>
            <a:r>
              <a:rPr lang="zh-CN" altLang="en-US"/>
              <a:t>的搜索行动，成千上万的志愿者加入到计划中。计划实施的第</a:t>
            </a:r>
            <a:r>
              <a:rPr lang="en-US" altLang="zh-CN"/>
              <a:t>96</a:t>
            </a:r>
            <a:r>
              <a:rPr lang="zh-CN" altLang="en-US"/>
              <a:t>天，即挑战赛计划公布的第</a:t>
            </a:r>
            <a:r>
              <a:rPr lang="en-US" altLang="zh-CN"/>
              <a:t>140</a:t>
            </a:r>
            <a:r>
              <a:rPr lang="zh-CN" altLang="en-US"/>
              <a:t>天，</a:t>
            </a:r>
            <a:r>
              <a:rPr lang="en-US" altLang="zh-CN"/>
              <a:t>1997</a:t>
            </a:r>
            <a:r>
              <a:rPr lang="zh-CN" altLang="en-US"/>
              <a:t>年</a:t>
            </a:r>
            <a:r>
              <a:rPr lang="en-US" altLang="zh-CN"/>
              <a:t>6</a:t>
            </a:r>
            <a:r>
              <a:rPr lang="zh-CN" altLang="en-US"/>
              <a:t>月</a:t>
            </a:r>
            <a:r>
              <a:rPr lang="en-US" altLang="zh-CN"/>
              <a:t>17</a:t>
            </a:r>
            <a:r>
              <a:rPr lang="zh-CN" altLang="en-US"/>
              <a:t>日晚上</a:t>
            </a:r>
            <a:r>
              <a:rPr lang="en-US" altLang="zh-CN"/>
              <a:t>10</a:t>
            </a:r>
            <a:r>
              <a:rPr lang="zh-CN" altLang="en-US"/>
              <a:t>点</a:t>
            </a:r>
            <a:r>
              <a:rPr lang="en-US" altLang="zh-CN"/>
              <a:t>39</a:t>
            </a:r>
            <a:r>
              <a:rPr lang="zh-CN" altLang="en-US"/>
              <a:t>分，美国盐湖城</a:t>
            </a:r>
            <a:r>
              <a:rPr lang="en-US" altLang="zh-CN"/>
              <a:t>Inetz</a:t>
            </a:r>
            <a:r>
              <a:rPr lang="zh-CN" altLang="en-US"/>
              <a:t>公司的职员</a:t>
            </a:r>
            <a:r>
              <a:rPr lang="en-US" altLang="zh-CN"/>
              <a:t>Michael Sanders</a:t>
            </a:r>
            <a:r>
              <a:rPr lang="zh-CN" altLang="en-US"/>
              <a:t>成功地找到了密钥。</a:t>
            </a:r>
            <a:endParaRPr lang="en-US" altLang="zh-CN"/>
          </a:p>
          <a:p>
            <a:pPr eaLnBrk="1" hangingPunct="1">
              <a:lnSpc>
                <a:spcPct val="120000"/>
              </a:lnSpc>
            </a:pPr>
            <a:r>
              <a:rPr lang="zh-CN" altLang="en-US"/>
              <a:t>在计算机上显示了明文：“</a:t>
            </a:r>
            <a:r>
              <a:rPr lang="en-US" altLang="zh-CN"/>
              <a:t>The unknown message is: Strong cryptography makes the world a safer place”</a:t>
            </a:r>
            <a:endParaRPr lang="zh-CN" altLang="en-US"/>
          </a:p>
          <a:p>
            <a:endParaRPr lang="zh-CN" altLang="en-US"/>
          </a:p>
        </p:txBody>
      </p:sp>
      <p:sp>
        <p:nvSpPr>
          <p:cNvPr id="204803" name="灯片编号占位符 3">
            <a:extLst>
              <a:ext uri="{FF2B5EF4-FFF2-40B4-BE49-F238E27FC236}">
                <a16:creationId xmlns:a16="http://schemas.microsoft.com/office/drawing/2014/main" id="{2148C9C9-16AD-4647-98A7-4F98519964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CFB8CD6-4FE7-B247-9551-F4B49259C759}" type="slidenum">
              <a:rPr lang="en-US" altLang="zh-CN"/>
              <a:pPr/>
              <a:t>73</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幻灯片图像占位符 1">
            <a:extLst>
              <a:ext uri="{FF2B5EF4-FFF2-40B4-BE49-F238E27FC236}">
                <a16:creationId xmlns:a16="http://schemas.microsoft.com/office/drawing/2014/main" id="{F2776EFB-966B-7947-BE54-1A9B5879B365}"/>
              </a:ext>
            </a:extLst>
          </p:cNvPr>
          <p:cNvSpPr>
            <a:spLocks noGrp="1" noRot="1" noChangeAspect="1" noChangeArrowheads="1" noTextEdit="1"/>
          </p:cNvSpPr>
          <p:nvPr>
            <p:ph type="sldImg" idx="4294967295"/>
          </p:nvPr>
        </p:nvSpPr>
        <p:spPr>
          <a:ln/>
        </p:spPr>
      </p:sp>
      <p:sp>
        <p:nvSpPr>
          <p:cNvPr id="206850" name="备注占位符 2">
            <a:extLst>
              <a:ext uri="{FF2B5EF4-FFF2-40B4-BE49-F238E27FC236}">
                <a16:creationId xmlns:a16="http://schemas.microsoft.com/office/drawing/2014/main" id="{D63A0B05-861D-1743-9D9E-800B5AEC09C4}"/>
              </a:ext>
            </a:extLst>
          </p:cNvPr>
          <p:cNvSpPr>
            <a:spLocks noGrp="1" noChangeArrowheads="1"/>
          </p:cNvSpPr>
          <p:nvPr>
            <p:ph type="body" idx="4294967295"/>
          </p:nvPr>
        </p:nvSpPr>
        <p:spPr/>
        <p:txBody>
          <a:bodyPr/>
          <a:lstStyle/>
          <a:p>
            <a:pPr eaLnBrk="1" hangingPunct="1">
              <a:lnSpc>
                <a:spcPct val="120000"/>
              </a:lnSpc>
            </a:pPr>
            <a:r>
              <a:rPr lang="zh-CN" altLang="en-US"/>
              <a:t>此后，</a:t>
            </a:r>
            <a:r>
              <a:rPr lang="en-US" altLang="zh-CN"/>
              <a:t>1998</a:t>
            </a:r>
            <a:r>
              <a:rPr lang="zh-CN" altLang="en-US"/>
              <a:t>年</a:t>
            </a:r>
            <a:r>
              <a:rPr lang="en-US" altLang="zh-CN"/>
              <a:t>7</a:t>
            </a:r>
            <a:r>
              <a:rPr lang="zh-CN" altLang="en-US"/>
              <a:t>月电子前沿基金会（</a:t>
            </a:r>
            <a:r>
              <a:rPr lang="en-US" altLang="zh-CN"/>
              <a:t>EFF</a:t>
            </a:r>
            <a:r>
              <a:rPr lang="zh-CN" altLang="en-US"/>
              <a:t>）使用一台</a:t>
            </a:r>
            <a:r>
              <a:rPr lang="en-US" altLang="zh-CN"/>
              <a:t>25</a:t>
            </a:r>
            <a:r>
              <a:rPr lang="zh-CN" altLang="en-US"/>
              <a:t>万美圆的电脑在</a:t>
            </a:r>
            <a:r>
              <a:rPr lang="en-US" altLang="zh-CN"/>
              <a:t>56</a:t>
            </a:r>
            <a:r>
              <a:rPr lang="zh-CN" altLang="en-US"/>
              <a:t>小时内破译了</a:t>
            </a:r>
            <a:r>
              <a:rPr lang="en-US" altLang="zh-CN"/>
              <a:t>56</a:t>
            </a:r>
            <a:r>
              <a:rPr lang="zh-CN" altLang="en-US"/>
              <a:t>比特密钥的</a:t>
            </a:r>
            <a:r>
              <a:rPr lang="en-US" altLang="zh-CN"/>
              <a:t>DES</a:t>
            </a:r>
            <a:r>
              <a:rPr lang="zh-CN" altLang="en-US"/>
              <a:t>。</a:t>
            </a:r>
            <a:r>
              <a:rPr lang="en-US" altLang="zh-CN"/>
              <a:t>1999</a:t>
            </a:r>
            <a:r>
              <a:rPr lang="zh-CN" altLang="en-US"/>
              <a:t>年</a:t>
            </a:r>
            <a:r>
              <a:rPr lang="en-US" altLang="zh-CN"/>
              <a:t>1</a:t>
            </a:r>
            <a:r>
              <a:rPr lang="zh-CN" altLang="en-US"/>
              <a:t>月</a:t>
            </a:r>
            <a:r>
              <a:rPr lang="en-US" altLang="zh-CN"/>
              <a:t>RSA</a:t>
            </a:r>
            <a:r>
              <a:rPr lang="zh-CN" altLang="en-US"/>
              <a:t>数据安全会议期间，他们将破解</a:t>
            </a:r>
            <a:r>
              <a:rPr lang="en-US" altLang="zh-CN"/>
              <a:t>DES</a:t>
            </a:r>
            <a:r>
              <a:rPr lang="zh-CN" altLang="en-US"/>
              <a:t>密钥的时间缩短至</a:t>
            </a:r>
            <a:r>
              <a:rPr lang="en-US" altLang="zh-CN"/>
              <a:t>22</a:t>
            </a:r>
            <a:r>
              <a:rPr lang="zh-CN" altLang="en-US"/>
              <a:t>小时</a:t>
            </a:r>
            <a:r>
              <a:rPr lang="en-US" altLang="zh-CN"/>
              <a:t>15</a:t>
            </a:r>
            <a:r>
              <a:rPr lang="zh-CN" altLang="en-US"/>
              <a:t>分钟。</a:t>
            </a:r>
          </a:p>
          <a:p>
            <a:endParaRPr lang="zh-CN" altLang="en-US"/>
          </a:p>
        </p:txBody>
      </p:sp>
      <p:sp>
        <p:nvSpPr>
          <p:cNvPr id="206851" name="灯片编号占位符 3">
            <a:extLst>
              <a:ext uri="{FF2B5EF4-FFF2-40B4-BE49-F238E27FC236}">
                <a16:creationId xmlns:a16="http://schemas.microsoft.com/office/drawing/2014/main" id="{9931B7BD-962A-9A46-8E08-3F4FDE702A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9902A6F-E28F-4B49-B145-197C58CABE0F}" type="slidenum">
              <a:rPr lang="en-US" altLang="zh-CN"/>
              <a:pPr/>
              <a:t>74</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幻灯片图像占位符 1">
            <a:extLst>
              <a:ext uri="{FF2B5EF4-FFF2-40B4-BE49-F238E27FC236}">
                <a16:creationId xmlns:a16="http://schemas.microsoft.com/office/drawing/2014/main" id="{A27E0C81-2A46-BD40-AEBB-017DC239382D}"/>
              </a:ext>
            </a:extLst>
          </p:cNvPr>
          <p:cNvSpPr>
            <a:spLocks noGrp="1" noRot="1" noChangeAspect="1" noChangeArrowheads="1" noTextEdit="1"/>
          </p:cNvSpPr>
          <p:nvPr>
            <p:ph type="sldImg" idx="4294967295"/>
          </p:nvPr>
        </p:nvSpPr>
        <p:spPr>
          <a:ln/>
        </p:spPr>
      </p:sp>
      <p:sp>
        <p:nvSpPr>
          <p:cNvPr id="208898" name="备注占位符 2">
            <a:extLst>
              <a:ext uri="{FF2B5EF4-FFF2-40B4-BE49-F238E27FC236}">
                <a16:creationId xmlns:a16="http://schemas.microsoft.com/office/drawing/2014/main" id="{3E923D6D-DA35-EB41-A708-C745F70F3C78}"/>
              </a:ext>
            </a:extLst>
          </p:cNvPr>
          <p:cNvSpPr>
            <a:spLocks noGrp="1" noChangeArrowheads="1"/>
          </p:cNvSpPr>
          <p:nvPr>
            <p:ph type="body" idx="4294967295"/>
          </p:nvPr>
        </p:nvSpPr>
        <p:spPr/>
        <p:txBody>
          <a:bodyPr/>
          <a:lstStyle/>
          <a:p>
            <a:r>
              <a:rPr lang="en-US" altLang="zh-CN"/>
              <a:t>DES</a:t>
            </a:r>
            <a:r>
              <a:rPr lang="zh-CN" altLang="en-US"/>
              <a:t>同样也面临了其他几个方面的分析。</a:t>
            </a:r>
            <a:r>
              <a:rPr lang="en-US" altLang="zh-CN">
                <a:latin typeface="Times New Roman" panose="02020603050405020304" pitchFamily="18" charset="0"/>
              </a:rPr>
              <a:t>Meyer[1978]</a:t>
            </a:r>
            <a:r>
              <a:rPr lang="zh-CN" altLang="en-US">
                <a:latin typeface="Times New Roman" panose="02020603050405020304" pitchFamily="18" charset="0"/>
              </a:rPr>
              <a:t>详细研究了</a:t>
            </a:r>
            <a:r>
              <a:rPr lang="en-US" altLang="zh-CN">
                <a:latin typeface="Times New Roman" panose="02020603050405020304" pitchFamily="18" charset="0"/>
              </a:rPr>
              <a:t>DES</a:t>
            </a:r>
            <a:r>
              <a:rPr lang="zh-CN" altLang="en-US">
                <a:latin typeface="Times New Roman" panose="02020603050405020304" pitchFamily="18" charset="0"/>
              </a:rPr>
              <a:t>的输入明文与密文及密钥与密文之间的相关性。表明每个密文比特都是所有明文比特和所有密钥比特的复合函数，并且指出达到这一要求所需的迭代次数至少为</a:t>
            </a:r>
            <a:r>
              <a:rPr lang="en-US" altLang="zh-CN">
                <a:latin typeface="Times New Roman" panose="02020603050405020304" pitchFamily="18" charset="0"/>
              </a:rPr>
              <a:t>5</a:t>
            </a:r>
            <a:r>
              <a:rPr lang="zh-CN" altLang="en-US">
                <a:latin typeface="Times New Roman" panose="02020603050405020304" pitchFamily="18" charset="0"/>
              </a:rPr>
              <a:t>。</a:t>
            </a:r>
            <a:r>
              <a:rPr lang="en-US" altLang="zh-CN">
                <a:latin typeface="Times New Roman" panose="02020603050405020304" pitchFamily="18" charset="0"/>
              </a:rPr>
              <a:t>Konheim[1981]</a:t>
            </a:r>
            <a:r>
              <a:rPr lang="zh-CN" altLang="en-US">
                <a:latin typeface="Times New Roman" panose="02020603050405020304" pitchFamily="18" charset="0"/>
              </a:rPr>
              <a:t>用</a:t>
            </a:r>
            <a:r>
              <a:rPr lang="zh-CN" altLang="en-US">
                <a:latin typeface="Times New Roman" panose="02020603050405020304" pitchFamily="18" charset="0"/>
                <a:sym typeface="Symbol" pitchFamily="2" charset="2"/>
              </a:rPr>
              <a:t></a:t>
            </a:r>
            <a:r>
              <a:rPr lang="en-US" altLang="zh-CN" baseline="30000">
                <a:latin typeface="Times New Roman" panose="02020603050405020304" pitchFamily="18" charset="0"/>
              </a:rPr>
              <a:t>2</a:t>
            </a:r>
            <a:r>
              <a:rPr lang="zh-CN" altLang="en-US">
                <a:latin typeface="Times New Roman" panose="02020603050405020304" pitchFamily="18" charset="0"/>
              </a:rPr>
              <a:t>检验证明，迭代</a:t>
            </a:r>
            <a:r>
              <a:rPr lang="en-US" altLang="zh-CN">
                <a:latin typeface="Times New Roman" panose="02020603050405020304" pitchFamily="18" charset="0"/>
              </a:rPr>
              <a:t>8</a:t>
            </a:r>
            <a:r>
              <a:rPr lang="zh-CN" altLang="en-US">
                <a:latin typeface="Times New Roman" panose="02020603050405020304" pitchFamily="18" charset="0"/>
              </a:rPr>
              <a:t>次后输出和输入就可认为是不相关的了。 目前攻击</a:t>
            </a:r>
            <a:r>
              <a:rPr lang="en-US" altLang="zh-CN">
                <a:latin typeface="Times New Roman" panose="02020603050405020304" pitchFamily="18" charset="0"/>
              </a:rPr>
              <a:t>DES</a:t>
            </a:r>
            <a:r>
              <a:rPr lang="zh-CN" altLang="en-US">
                <a:latin typeface="Times New Roman" panose="02020603050405020304" pitchFamily="18" charset="0"/>
              </a:rPr>
              <a:t>的主要方法有时间</a:t>
            </a:r>
            <a:r>
              <a:rPr lang="en-US" altLang="zh-CN">
                <a:latin typeface="Times New Roman" panose="02020603050405020304" pitchFamily="18" charset="0"/>
              </a:rPr>
              <a:t>-</a:t>
            </a:r>
            <a:r>
              <a:rPr lang="zh-CN" altLang="en-US">
                <a:latin typeface="Times New Roman" panose="02020603050405020304" pitchFamily="18" charset="0"/>
              </a:rPr>
              <a:t>空间权衡攻击、差分攻击、线性攻击、相关密钥攻击和代数攻击等方法，在这些攻击方法中，线性攻击方法是最有效的一种方法。</a:t>
            </a:r>
            <a:endParaRPr lang="zh-CN" altLang="en-US"/>
          </a:p>
        </p:txBody>
      </p:sp>
      <p:sp>
        <p:nvSpPr>
          <p:cNvPr id="208899" name="灯片编号占位符 3">
            <a:extLst>
              <a:ext uri="{FF2B5EF4-FFF2-40B4-BE49-F238E27FC236}">
                <a16:creationId xmlns:a16="http://schemas.microsoft.com/office/drawing/2014/main" id="{2BEBB3AC-F1F8-F441-80EE-AAEB731899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CD19B1E-61CD-DB4F-B384-660F51C99B1B}" type="slidenum">
              <a:rPr lang="en-US" altLang="zh-CN"/>
              <a:pPr/>
              <a:t>75</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幻灯片图像占位符 1">
            <a:extLst>
              <a:ext uri="{FF2B5EF4-FFF2-40B4-BE49-F238E27FC236}">
                <a16:creationId xmlns:a16="http://schemas.microsoft.com/office/drawing/2014/main" id="{1EDA592C-D9AB-D441-BCA0-BFD5803B615B}"/>
              </a:ext>
            </a:extLst>
          </p:cNvPr>
          <p:cNvSpPr>
            <a:spLocks noGrp="1" noRot="1" noChangeAspect="1" noChangeArrowheads="1" noTextEdit="1"/>
          </p:cNvSpPr>
          <p:nvPr>
            <p:ph type="sldImg" idx="4294967295"/>
          </p:nvPr>
        </p:nvSpPr>
        <p:spPr>
          <a:ln/>
        </p:spPr>
      </p:sp>
      <p:sp>
        <p:nvSpPr>
          <p:cNvPr id="210946" name="备注占位符 2">
            <a:extLst>
              <a:ext uri="{FF2B5EF4-FFF2-40B4-BE49-F238E27FC236}">
                <a16:creationId xmlns:a16="http://schemas.microsoft.com/office/drawing/2014/main" id="{A0057255-B1DE-DB4A-BC6A-28AC08D05B82}"/>
              </a:ext>
            </a:extLst>
          </p:cNvPr>
          <p:cNvSpPr>
            <a:spLocks noGrp="1" noChangeArrowheads="1"/>
          </p:cNvSpPr>
          <p:nvPr>
            <p:ph type="body" idx="4294967295"/>
          </p:nvPr>
        </p:nvSpPr>
        <p:spPr/>
        <p:txBody>
          <a:bodyPr/>
          <a:lstStyle/>
          <a:p>
            <a:r>
              <a:rPr lang="zh-CN" altLang="en-US"/>
              <a:t>同学们大家好，上一讲我们跟大家介绍了</a:t>
            </a:r>
            <a:r>
              <a:rPr lang="en-US" altLang="zh-CN"/>
              <a:t>DES</a:t>
            </a:r>
            <a:r>
              <a:rPr lang="zh-CN" altLang="en-US"/>
              <a:t>由于其密钥较短，安全性不高，因此人们希望采用多重加密的方式来增大其密钥空间，从而提高其安全性。</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幻灯片图像占位符 1">
            <a:extLst>
              <a:ext uri="{FF2B5EF4-FFF2-40B4-BE49-F238E27FC236}">
                <a16:creationId xmlns:a16="http://schemas.microsoft.com/office/drawing/2014/main" id="{C63F358D-0D7B-EB41-B4E8-3F58B0235681}"/>
              </a:ext>
            </a:extLst>
          </p:cNvPr>
          <p:cNvSpPr>
            <a:spLocks noGrp="1" noRot="1" noChangeAspect="1" noChangeArrowheads="1" noTextEdit="1"/>
          </p:cNvSpPr>
          <p:nvPr>
            <p:ph type="sldImg" idx="4294967295"/>
          </p:nvPr>
        </p:nvSpPr>
        <p:spPr>
          <a:ln/>
        </p:spPr>
      </p:sp>
      <p:sp>
        <p:nvSpPr>
          <p:cNvPr id="212994" name="备注占位符 2">
            <a:extLst>
              <a:ext uri="{FF2B5EF4-FFF2-40B4-BE49-F238E27FC236}">
                <a16:creationId xmlns:a16="http://schemas.microsoft.com/office/drawing/2014/main" id="{96EF3B53-8887-C144-92CA-88B6E5995D3C}"/>
              </a:ext>
            </a:extLst>
          </p:cNvPr>
          <p:cNvSpPr>
            <a:spLocks noGrp="1" noChangeArrowheads="1"/>
          </p:cNvSpPr>
          <p:nvPr>
            <p:ph type="body" idx="4294967295"/>
          </p:nvPr>
        </p:nvSpPr>
        <p:spPr/>
        <p:txBody>
          <a:bodyPr/>
          <a:lstStyle/>
          <a:p>
            <a:r>
              <a:rPr lang="zh-CN" altLang="en-US"/>
              <a:t>如果一个分组密码易受到穷举密钥搜索攻击，那么对同一消息加密多次就有可能增强安全性。多重</a:t>
            </a:r>
            <a:r>
              <a:rPr lang="en-US" altLang="zh-CN"/>
              <a:t>DES</a:t>
            </a:r>
            <a:r>
              <a:rPr lang="zh-CN" altLang="en-US"/>
              <a:t>就是使用多个密钥利用</a:t>
            </a:r>
            <a:r>
              <a:rPr lang="en-US" altLang="zh-CN"/>
              <a:t>DES</a:t>
            </a:r>
            <a:r>
              <a:rPr lang="zh-CN" altLang="en-US"/>
              <a:t>对明文进行多次加密。使用多重</a:t>
            </a:r>
            <a:r>
              <a:rPr lang="en-US" altLang="zh-CN"/>
              <a:t>DES</a:t>
            </a:r>
            <a:r>
              <a:rPr lang="zh-CN" altLang="en-US"/>
              <a:t>可以增加密钥量，从而大大提高抵抗穷举密钥搜索攻击的能力。多重加密类似于一个有着多个相同密码的级联，但各级密码无需独立，且每级密码既可以是一个分组密码加密函数，也可是相应的解密函数。</a:t>
            </a:r>
          </a:p>
          <a:p>
            <a:endParaRPr lang="zh-CN" altLang="en-US"/>
          </a:p>
        </p:txBody>
      </p:sp>
      <p:sp>
        <p:nvSpPr>
          <p:cNvPr id="212995" name="灯片编号占位符 3">
            <a:extLst>
              <a:ext uri="{FF2B5EF4-FFF2-40B4-BE49-F238E27FC236}">
                <a16:creationId xmlns:a16="http://schemas.microsoft.com/office/drawing/2014/main" id="{DB0589E7-D758-C94E-9508-86EE9B6556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4BA4C4E-9AB3-7947-9B67-3A10C0F6170B}" type="slidenum">
              <a:rPr lang="en-US" altLang="zh-CN"/>
              <a:pPr/>
              <a:t>77</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幻灯片图像占位符 1">
            <a:extLst>
              <a:ext uri="{FF2B5EF4-FFF2-40B4-BE49-F238E27FC236}">
                <a16:creationId xmlns:a16="http://schemas.microsoft.com/office/drawing/2014/main" id="{5020A632-6E96-6A4C-91F3-47AC6ACD38AC}"/>
              </a:ext>
            </a:extLst>
          </p:cNvPr>
          <p:cNvSpPr>
            <a:spLocks noGrp="1" noRot="1" noChangeAspect="1" noChangeArrowheads="1" noTextEdit="1"/>
          </p:cNvSpPr>
          <p:nvPr>
            <p:ph type="sldImg" idx="4294967295"/>
          </p:nvPr>
        </p:nvSpPr>
        <p:spPr>
          <a:ln/>
        </p:spPr>
      </p:sp>
      <p:sp>
        <p:nvSpPr>
          <p:cNvPr id="215042" name="备注占位符 2">
            <a:extLst>
              <a:ext uri="{FF2B5EF4-FFF2-40B4-BE49-F238E27FC236}">
                <a16:creationId xmlns:a16="http://schemas.microsoft.com/office/drawing/2014/main" id="{0B6C9743-A4EC-BD4A-A18E-FBF3AACC7FDB}"/>
              </a:ext>
            </a:extLst>
          </p:cNvPr>
          <p:cNvSpPr>
            <a:spLocks noGrp="1" noChangeArrowheads="1"/>
          </p:cNvSpPr>
          <p:nvPr>
            <p:ph type="body" idx="4294967295"/>
          </p:nvPr>
        </p:nvSpPr>
        <p:spPr/>
        <p:txBody>
          <a:bodyPr/>
          <a:lstStyle/>
          <a:p>
            <a:r>
              <a:rPr lang="zh-CN" altLang="en-US"/>
              <a:t>首先来看双重</a:t>
            </a:r>
            <a:r>
              <a:rPr lang="en-US" altLang="zh-CN"/>
              <a:t>DES</a:t>
            </a:r>
            <a:r>
              <a:rPr lang="zh-CN" altLang="en-US"/>
              <a:t>。双重</a:t>
            </a:r>
            <a:r>
              <a:rPr lang="en-US" altLang="zh-CN"/>
              <a:t>DES</a:t>
            </a:r>
            <a:r>
              <a:rPr lang="zh-CN" altLang="en-US"/>
              <a:t>就是简单地对消息</a:t>
            </a:r>
            <a:r>
              <a:rPr lang="en-US" altLang="zh-CN"/>
              <a:t>xi</a:t>
            </a:r>
            <a:r>
              <a:rPr lang="zh-CN" altLang="en-US"/>
              <a:t>利用两个不同的密钥进行两次加密，其目的是为了增加密钥长度抵抗穷搜索攻击。看上去两个不同的密钥一起就将密钥长度扩展到了</a:t>
            </a:r>
            <a:r>
              <a:rPr lang="en-US" altLang="zh-CN"/>
              <a:t>112</a:t>
            </a:r>
            <a:r>
              <a:rPr lang="zh-CN" altLang="en-US"/>
              <a:t>比特。可事实上，真的能达到</a:t>
            </a:r>
            <a:r>
              <a:rPr lang="en-US" altLang="zh-CN"/>
              <a:t>2</a:t>
            </a:r>
            <a:r>
              <a:rPr lang="zh-CN" altLang="en-US"/>
              <a:t>的</a:t>
            </a:r>
            <a:r>
              <a:rPr lang="en-US" altLang="zh-CN"/>
              <a:t>112</a:t>
            </a:r>
            <a:r>
              <a:rPr lang="zh-CN" altLang="en-US"/>
              <a:t>次方的安全性吗？答案是否定的。</a:t>
            </a:r>
          </a:p>
        </p:txBody>
      </p:sp>
      <p:sp>
        <p:nvSpPr>
          <p:cNvPr id="215043" name="灯片编号占位符 3">
            <a:extLst>
              <a:ext uri="{FF2B5EF4-FFF2-40B4-BE49-F238E27FC236}">
                <a16:creationId xmlns:a16="http://schemas.microsoft.com/office/drawing/2014/main" id="{BE657655-52CA-694C-AFC1-A1812E5142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179D7CD-1B6D-FD48-8987-2F5088A3B93B}" type="slidenum">
              <a:rPr lang="en-US" altLang="zh-CN"/>
              <a:pPr/>
              <a:t>78</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幻灯片图像占位符 1">
            <a:extLst>
              <a:ext uri="{FF2B5EF4-FFF2-40B4-BE49-F238E27FC236}">
                <a16:creationId xmlns:a16="http://schemas.microsoft.com/office/drawing/2014/main" id="{4BF66FC4-9B2E-DF41-AC14-657EE835EB3B}"/>
              </a:ext>
            </a:extLst>
          </p:cNvPr>
          <p:cNvSpPr>
            <a:spLocks noGrp="1" noRot="1" noChangeAspect="1" noChangeArrowheads="1" noTextEdit="1"/>
          </p:cNvSpPr>
          <p:nvPr>
            <p:ph type="sldImg" idx="4294967295"/>
          </p:nvPr>
        </p:nvSpPr>
        <p:spPr>
          <a:ln/>
        </p:spPr>
      </p:sp>
      <p:sp>
        <p:nvSpPr>
          <p:cNvPr id="217090" name="备注占位符 2">
            <a:extLst>
              <a:ext uri="{FF2B5EF4-FFF2-40B4-BE49-F238E27FC236}">
                <a16:creationId xmlns:a16="http://schemas.microsoft.com/office/drawing/2014/main" id="{FDA8CE1F-1220-BA43-A83C-93C8D96AB771}"/>
              </a:ext>
            </a:extLst>
          </p:cNvPr>
          <p:cNvSpPr>
            <a:spLocks noGrp="1" noChangeArrowheads="1"/>
          </p:cNvSpPr>
          <p:nvPr>
            <p:ph type="body" idx="4294967295"/>
          </p:nvPr>
        </p:nvSpPr>
        <p:spPr/>
        <p:txBody>
          <a:bodyPr/>
          <a:lstStyle/>
          <a:p>
            <a:r>
              <a:rPr lang="en-US" altLang="zh-CN"/>
              <a:t>1977</a:t>
            </a:r>
            <a:r>
              <a:rPr lang="zh-CN" altLang="en-US"/>
              <a:t>年</a:t>
            </a:r>
            <a:r>
              <a:rPr lang="en-US" altLang="zh-CN"/>
              <a:t>Diffie-Hellman</a:t>
            </a:r>
            <a:r>
              <a:rPr lang="zh-CN" altLang="en-US"/>
              <a:t>提出了中间相遇攻击可以降低穷搜攻击的搜索量。如果明文</a:t>
            </a:r>
            <a:r>
              <a:rPr lang="en-US" altLang="zh-CN"/>
              <a:t>/</a:t>
            </a:r>
            <a:r>
              <a:rPr lang="zh-CN" altLang="en-US"/>
              <a:t>密文对</a:t>
            </a:r>
            <a:r>
              <a:rPr lang="en-US" altLang="zh-CN"/>
              <a:t>xiyi</a:t>
            </a:r>
            <a:r>
              <a:rPr lang="zh-CN" altLang="en-US"/>
              <a:t>满足</a:t>
            </a:r>
            <a:r>
              <a:rPr lang="en-US" altLang="zh-CN" sz="800" i="1"/>
              <a:t>y</a:t>
            </a:r>
            <a:r>
              <a:rPr lang="en-US" altLang="zh-CN" sz="800" baseline="-25000"/>
              <a:t>i</a:t>
            </a:r>
            <a:r>
              <a:rPr lang="en-US" altLang="zh-CN" sz="800"/>
              <a:t>=</a:t>
            </a:r>
            <a:r>
              <a:rPr lang="en-US" altLang="zh-CN" sz="800" i="1"/>
              <a:t>E</a:t>
            </a:r>
            <a:r>
              <a:rPr lang="en-US" altLang="zh-CN" sz="800" baseline="-25000"/>
              <a:t>k2</a:t>
            </a:r>
            <a:r>
              <a:rPr lang="en-US" altLang="zh-CN" sz="800"/>
              <a:t>[</a:t>
            </a:r>
            <a:r>
              <a:rPr lang="en-US" altLang="zh-CN" sz="800" i="1"/>
              <a:t>E</a:t>
            </a:r>
            <a:r>
              <a:rPr lang="en-US" altLang="zh-CN" sz="800" baseline="-25000"/>
              <a:t>k1</a:t>
            </a:r>
            <a:r>
              <a:rPr lang="en-US" altLang="zh-CN" sz="800"/>
              <a:t>[</a:t>
            </a:r>
            <a:r>
              <a:rPr lang="en-US" altLang="zh-CN" sz="800" i="1"/>
              <a:t>x</a:t>
            </a:r>
            <a:r>
              <a:rPr lang="en-US" altLang="zh-CN" sz="800" baseline="-25000"/>
              <a:t>i</a:t>
            </a:r>
            <a:r>
              <a:rPr lang="en-US" altLang="zh-CN" sz="800"/>
              <a:t>]] </a:t>
            </a:r>
            <a:r>
              <a:rPr lang="zh-CN" altLang="en-US" sz="800"/>
              <a:t>，则有中间变量</a:t>
            </a:r>
            <a:r>
              <a:rPr lang="en-US" altLang="zh-CN" sz="800"/>
              <a:t>z</a:t>
            </a:r>
            <a:r>
              <a:rPr lang="zh-CN" altLang="en-US" sz="800"/>
              <a:t>满足</a:t>
            </a:r>
            <a:r>
              <a:rPr lang="en-US" altLang="zh-CN" sz="800" i="1"/>
              <a:t>z</a:t>
            </a:r>
            <a:r>
              <a:rPr lang="en-US" altLang="zh-CN" sz="800"/>
              <a:t>=</a:t>
            </a:r>
            <a:r>
              <a:rPr lang="en-US" altLang="zh-CN" sz="800" i="1"/>
              <a:t>E</a:t>
            </a:r>
            <a:r>
              <a:rPr lang="en-US" altLang="zh-CN" sz="800" baseline="-25000"/>
              <a:t>k1</a:t>
            </a:r>
            <a:r>
              <a:rPr lang="en-US" altLang="zh-CN" sz="800"/>
              <a:t>[</a:t>
            </a:r>
            <a:r>
              <a:rPr lang="en-US" altLang="zh-CN" sz="800" i="1"/>
              <a:t>x</a:t>
            </a:r>
            <a:r>
              <a:rPr lang="en-US" altLang="zh-CN" sz="800" baseline="-25000"/>
              <a:t>i</a:t>
            </a:r>
            <a:r>
              <a:rPr lang="en-US" altLang="zh-CN" sz="800"/>
              <a:t>]=</a:t>
            </a:r>
            <a:r>
              <a:rPr lang="en-US" altLang="zh-CN" sz="800" i="1"/>
              <a:t>D</a:t>
            </a:r>
            <a:r>
              <a:rPr lang="en-US" altLang="zh-CN" sz="800" baseline="-25000"/>
              <a:t>k2</a:t>
            </a:r>
            <a:r>
              <a:rPr lang="en-US" altLang="zh-CN" sz="800"/>
              <a:t>[</a:t>
            </a:r>
            <a:r>
              <a:rPr lang="en-US" altLang="zh-CN" sz="800" i="1"/>
              <a:t>y</a:t>
            </a:r>
            <a:r>
              <a:rPr lang="en-US" altLang="zh-CN" sz="800" baseline="-25000"/>
              <a:t>i</a:t>
            </a:r>
            <a:r>
              <a:rPr lang="en-US" altLang="zh-CN" sz="800"/>
              <a:t>]</a:t>
            </a:r>
            <a:endParaRPr lang="zh-CN" altLang="en-US" sz="800"/>
          </a:p>
        </p:txBody>
      </p:sp>
      <p:sp>
        <p:nvSpPr>
          <p:cNvPr id="217091" name="灯片编号占位符 3">
            <a:extLst>
              <a:ext uri="{FF2B5EF4-FFF2-40B4-BE49-F238E27FC236}">
                <a16:creationId xmlns:a16="http://schemas.microsoft.com/office/drawing/2014/main" id="{64654045-295D-F742-BB8F-948C5046F4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4843452-BF78-9645-9F39-197A0691F192}" type="slidenum">
              <a:rPr lang="en-US" altLang="zh-CN"/>
              <a:pPr/>
              <a:t>79</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幻灯片图像占位符 1">
            <a:extLst>
              <a:ext uri="{FF2B5EF4-FFF2-40B4-BE49-F238E27FC236}">
                <a16:creationId xmlns:a16="http://schemas.microsoft.com/office/drawing/2014/main" id="{7F951C7F-A4AE-EE40-A185-59D9C59F8E60}"/>
              </a:ext>
            </a:extLst>
          </p:cNvPr>
          <p:cNvSpPr>
            <a:spLocks noGrp="1" noRot="1" noChangeAspect="1" noChangeArrowheads="1" noTextEdit="1"/>
          </p:cNvSpPr>
          <p:nvPr>
            <p:ph type="sldImg" idx="4294967295"/>
          </p:nvPr>
        </p:nvSpPr>
        <p:spPr>
          <a:ln/>
        </p:spPr>
      </p:sp>
      <p:sp>
        <p:nvSpPr>
          <p:cNvPr id="219138" name="备注占位符 2">
            <a:extLst>
              <a:ext uri="{FF2B5EF4-FFF2-40B4-BE49-F238E27FC236}">
                <a16:creationId xmlns:a16="http://schemas.microsoft.com/office/drawing/2014/main" id="{471E5A34-1ACF-144A-A67E-B55C8A15D423}"/>
              </a:ext>
            </a:extLst>
          </p:cNvPr>
          <p:cNvSpPr>
            <a:spLocks noGrp="1" noChangeArrowheads="1"/>
          </p:cNvSpPr>
          <p:nvPr>
            <p:ph type="body" idx="4294967295"/>
          </p:nvPr>
        </p:nvSpPr>
        <p:spPr/>
        <p:txBody>
          <a:bodyPr/>
          <a:lstStyle/>
          <a:p>
            <a:r>
              <a:rPr lang="zh-CN" altLang="en-US"/>
              <a:t>给定一已知明密文对</a:t>
            </a:r>
            <a:r>
              <a:rPr lang="en-US" altLang="zh-CN"/>
              <a:t>(x1,y1)</a:t>
            </a:r>
            <a:r>
              <a:rPr lang="zh-CN" altLang="en-US"/>
              <a:t>，可按下述方法攻击。以密钥</a:t>
            </a:r>
            <a:r>
              <a:rPr lang="en-US" altLang="zh-CN"/>
              <a:t>k1</a:t>
            </a:r>
            <a:r>
              <a:rPr lang="zh-CN" altLang="en-US"/>
              <a:t>的所有</a:t>
            </a:r>
            <a:r>
              <a:rPr lang="en-US" altLang="zh-CN"/>
              <a:t>256</a:t>
            </a:r>
            <a:r>
              <a:rPr lang="zh-CN" altLang="en-US"/>
              <a:t>个可能的取值对此明文</a:t>
            </a:r>
            <a:r>
              <a:rPr lang="en-US" altLang="zh-CN"/>
              <a:t>x1</a:t>
            </a:r>
            <a:r>
              <a:rPr lang="zh-CN" altLang="en-US"/>
              <a:t>加密，并将所有的密文</a:t>
            </a:r>
            <a:r>
              <a:rPr lang="en-US" altLang="zh-CN"/>
              <a:t>z</a:t>
            </a:r>
            <a:r>
              <a:rPr lang="zh-CN" altLang="en-US"/>
              <a:t>存储在一个表中；从所有可能的</a:t>
            </a:r>
            <a:r>
              <a:rPr lang="en-US" altLang="zh-CN"/>
              <a:t>2</a:t>
            </a:r>
            <a:r>
              <a:rPr lang="zh-CN" altLang="en-US"/>
              <a:t>的</a:t>
            </a:r>
            <a:r>
              <a:rPr lang="en-US" altLang="zh-CN"/>
              <a:t>56</a:t>
            </a:r>
            <a:r>
              <a:rPr lang="zh-CN" altLang="en-US"/>
              <a:t>次方个密钥</a:t>
            </a:r>
            <a:r>
              <a:rPr lang="en-US" altLang="zh-CN"/>
              <a:t>k2</a:t>
            </a:r>
            <a:r>
              <a:rPr lang="zh-CN" altLang="en-US"/>
              <a:t>中依任意次序选出一个对给定的密文</a:t>
            </a:r>
            <a:r>
              <a:rPr lang="en-US" altLang="zh-CN"/>
              <a:t>y1</a:t>
            </a:r>
            <a:r>
              <a:rPr lang="zh-CN" altLang="en-US"/>
              <a:t>解密，并将每次解密结果</a:t>
            </a:r>
            <a:r>
              <a:rPr lang="en-US" altLang="zh-CN"/>
              <a:t>z</a:t>
            </a:r>
            <a:r>
              <a:rPr lang="zh-CN" altLang="en-US"/>
              <a:t>在上述表中查找相匹配的值。一旦找到，则可确定出两个密钥</a:t>
            </a:r>
            <a:r>
              <a:rPr lang="en-US" altLang="zh-CN"/>
              <a:t>k1</a:t>
            </a:r>
            <a:r>
              <a:rPr lang="zh-CN" altLang="en-US"/>
              <a:t>和</a:t>
            </a:r>
            <a:r>
              <a:rPr lang="en-US" altLang="zh-CN"/>
              <a:t>k2</a:t>
            </a:r>
            <a:r>
              <a:rPr lang="zh-CN" altLang="en-US"/>
              <a:t>；以此对密钥</a:t>
            </a:r>
            <a:r>
              <a:rPr lang="en-US" altLang="zh-CN"/>
              <a:t>k1</a:t>
            </a:r>
            <a:r>
              <a:rPr lang="zh-CN" altLang="en-US"/>
              <a:t>和</a:t>
            </a:r>
            <a:r>
              <a:rPr lang="en-US" altLang="zh-CN"/>
              <a:t>k2</a:t>
            </a:r>
            <a:r>
              <a:rPr lang="zh-CN" altLang="en-US"/>
              <a:t>对另一已知明文密文对</a:t>
            </a:r>
            <a:r>
              <a:rPr lang="en-US" altLang="zh-CN"/>
              <a:t>(x2, y2)</a:t>
            </a:r>
            <a:r>
              <a:rPr lang="zh-CN" altLang="en-US"/>
              <a:t>中的明文</a:t>
            </a:r>
            <a:r>
              <a:rPr lang="en-US" altLang="zh-CN"/>
              <a:t>x2</a:t>
            </a:r>
            <a:r>
              <a:rPr lang="zh-CN" altLang="en-US"/>
              <a:t>进行加密，如果能得出相应的密文</a:t>
            </a:r>
            <a:r>
              <a:rPr lang="en-US" altLang="zh-CN"/>
              <a:t>y2</a:t>
            </a:r>
            <a:r>
              <a:rPr lang="zh-CN" altLang="en-US"/>
              <a:t>就可确定</a:t>
            </a:r>
            <a:r>
              <a:rPr lang="en-US" altLang="zh-CN"/>
              <a:t>k1</a:t>
            </a:r>
            <a:r>
              <a:rPr lang="zh-CN" altLang="en-US"/>
              <a:t>和</a:t>
            </a:r>
            <a:r>
              <a:rPr lang="en-US" altLang="zh-CN"/>
              <a:t>k2</a:t>
            </a:r>
            <a:r>
              <a:rPr lang="zh-CN" altLang="en-US"/>
              <a:t>是所要找的密钥。</a:t>
            </a:r>
          </a:p>
          <a:p>
            <a:endParaRPr lang="zh-CN" altLang="en-US"/>
          </a:p>
        </p:txBody>
      </p:sp>
      <p:sp>
        <p:nvSpPr>
          <p:cNvPr id="219139" name="灯片编号占位符 3">
            <a:extLst>
              <a:ext uri="{FF2B5EF4-FFF2-40B4-BE49-F238E27FC236}">
                <a16:creationId xmlns:a16="http://schemas.microsoft.com/office/drawing/2014/main" id="{68F03FBA-32DC-C545-97D3-5F1C2BE828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E2EAFF4-B68D-FC4E-B664-4ED6E50D25F1}" type="slidenum">
              <a:rPr lang="en-US" altLang="zh-CN"/>
              <a:pPr/>
              <a:t>80</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幻灯片图像占位符 1">
            <a:extLst>
              <a:ext uri="{FF2B5EF4-FFF2-40B4-BE49-F238E27FC236}">
                <a16:creationId xmlns:a16="http://schemas.microsoft.com/office/drawing/2014/main" id="{58DDE975-5F96-A948-91B2-E1FD04EC3F64}"/>
              </a:ext>
            </a:extLst>
          </p:cNvPr>
          <p:cNvSpPr>
            <a:spLocks noGrp="1" noRot="1" noChangeAspect="1" noChangeArrowheads="1" noTextEdit="1"/>
          </p:cNvSpPr>
          <p:nvPr>
            <p:ph type="sldImg" idx="4294967295"/>
          </p:nvPr>
        </p:nvSpPr>
        <p:spPr>
          <a:ln/>
        </p:spPr>
      </p:sp>
      <p:sp>
        <p:nvSpPr>
          <p:cNvPr id="221186" name="备注占位符 2">
            <a:extLst>
              <a:ext uri="{FF2B5EF4-FFF2-40B4-BE49-F238E27FC236}">
                <a16:creationId xmlns:a16="http://schemas.microsoft.com/office/drawing/2014/main" id="{AC0C49E3-3CB0-8F46-8C92-9261DB3502E6}"/>
              </a:ext>
            </a:extLst>
          </p:cNvPr>
          <p:cNvSpPr>
            <a:spLocks noGrp="1" noChangeArrowheads="1"/>
          </p:cNvSpPr>
          <p:nvPr>
            <p:ph type="body" idx="4294967295"/>
          </p:nvPr>
        </p:nvSpPr>
        <p:spPr/>
        <p:txBody>
          <a:bodyPr/>
          <a:lstStyle/>
          <a:p>
            <a:pPr algn="just" eaLnBrk="1" hangingPunct="1">
              <a:lnSpc>
                <a:spcPct val="120000"/>
              </a:lnSpc>
            </a:pPr>
            <a:r>
              <a:rPr lang="zh-CN" altLang="en-US"/>
              <a:t>我们来分析一下攻击成功的数学原理。</a:t>
            </a:r>
            <a:r>
              <a:rPr lang="zh-CN" altLang="en-US">
                <a:latin typeface="Times New Roman" panose="02020603050405020304" pitchFamily="18" charset="0"/>
              </a:rPr>
              <a:t>对于给定明文</a:t>
            </a:r>
            <a:r>
              <a:rPr lang="en-US" altLang="zh-CN" i="1">
                <a:latin typeface="Times New Roman" panose="02020603050405020304" pitchFamily="18" charset="0"/>
              </a:rPr>
              <a:t>x</a:t>
            </a:r>
            <a:r>
              <a:rPr lang="zh-CN" altLang="en-US">
                <a:latin typeface="Times New Roman" panose="02020603050405020304" pitchFamily="18" charset="0"/>
              </a:rPr>
              <a:t>，以两重</a:t>
            </a:r>
            <a:r>
              <a:rPr lang="en-US" altLang="zh-CN">
                <a:latin typeface="Times New Roman" panose="02020603050405020304" pitchFamily="18" charset="0"/>
              </a:rPr>
              <a:t>DES</a:t>
            </a:r>
            <a:r>
              <a:rPr lang="zh-CN" altLang="en-US">
                <a:latin typeface="Times New Roman" panose="02020603050405020304" pitchFamily="18" charset="0"/>
              </a:rPr>
              <a:t>加密将有</a:t>
            </a:r>
            <a:r>
              <a:rPr lang="en-US" altLang="zh-CN">
                <a:latin typeface="Times New Roman" panose="02020603050405020304" pitchFamily="18" charset="0"/>
              </a:rPr>
              <a:t>2</a:t>
            </a:r>
            <a:r>
              <a:rPr lang="en-US" altLang="zh-CN" baseline="30000">
                <a:latin typeface="Times New Roman" panose="02020603050405020304" pitchFamily="18" charset="0"/>
              </a:rPr>
              <a:t>64</a:t>
            </a:r>
            <a:r>
              <a:rPr lang="zh-CN" altLang="en-US">
                <a:latin typeface="Times New Roman" panose="02020603050405020304" pitchFamily="18" charset="0"/>
              </a:rPr>
              <a:t>个可能的密文。可能的密钥数为</a:t>
            </a:r>
            <a:r>
              <a:rPr lang="en-US" altLang="zh-CN">
                <a:latin typeface="Times New Roman" panose="02020603050405020304" pitchFamily="18" charset="0"/>
              </a:rPr>
              <a:t>2</a:t>
            </a:r>
            <a:r>
              <a:rPr lang="en-US" altLang="zh-CN" baseline="30000">
                <a:latin typeface="Times New Roman" panose="02020603050405020304" pitchFamily="18" charset="0"/>
              </a:rPr>
              <a:t>112</a:t>
            </a:r>
            <a:r>
              <a:rPr lang="zh-CN" altLang="en-US">
                <a:latin typeface="Times New Roman" panose="02020603050405020304" pitchFamily="18" charset="0"/>
              </a:rPr>
              <a:t>个。所以，在给定明文下，将有</a:t>
            </a:r>
            <a:r>
              <a:rPr lang="en-US" altLang="zh-CN">
                <a:latin typeface="Times New Roman" panose="02020603050405020304" pitchFamily="18" charset="0"/>
              </a:rPr>
              <a:t>2</a:t>
            </a:r>
            <a:r>
              <a:rPr lang="en-US" altLang="zh-CN" baseline="30000">
                <a:latin typeface="Times New Roman" panose="02020603050405020304" pitchFamily="18" charset="0"/>
              </a:rPr>
              <a:t>112</a:t>
            </a:r>
            <a:r>
              <a:rPr lang="en-US" altLang="zh-CN">
                <a:latin typeface="Times New Roman" panose="02020603050405020304" pitchFamily="18" charset="0"/>
              </a:rPr>
              <a:t>/2</a:t>
            </a:r>
            <a:r>
              <a:rPr lang="en-US" altLang="zh-CN" baseline="30000">
                <a:latin typeface="Times New Roman" panose="02020603050405020304" pitchFamily="18" charset="0"/>
              </a:rPr>
              <a:t>64 </a:t>
            </a:r>
            <a:r>
              <a:rPr lang="en-US" altLang="zh-CN">
                <a:latin typeface="Times New Roman" panose="02020603050405020304" pitchFamily="18" charset="0"/>
              </a:rPr>
              <a:t>=2</a:t>
            </a:r>
            <a:r>
              <a:rPr lang="en-US" altLang="zh-CN" baseline="30000">
                <a:latin typeface="Times New Roman" panose="02020603050405020304" pitchFamily="18" charset="0"/>
              </a:rPr>
              <a:t>48</a:t>
            </a:r>
            <a:r>
              <a:rPr lang="zh-CN" altLang="en-US">
                <a:latin typeface="Times New Roman" panose="02020603050405020304" pitchFamily="18" charset="0"/>
              </a:rPr>
              <a:t>个密钥能产生给定的密文。用另一对</a:t>
            </a:r>
            <a:r>
              <a:rPr lang="en-US" altLang="zh-CN">
                <a:latin typeface="Times New Roman" panose="02020603050405020304" pitchFamily="18" charset="0"/>
              </a:rPr>
              <a:t>64</a:t>
            </a:r>
            <a:r>
              <a:rPr lang="zh-CN" altLang="en-US">
                <a:latin typeface="Times New Roman" panose="02020603050405020304" pitchFamily="18" charset="0"/>
              </a:rPr>
              <a:t>比特明文</a:t>
            </a:r>
            <a:r>
              <a:rPr lang="en-US" altLang="zh-CN">
                <a:latin typeface="Times New Roman" panose="02020603050405020304" pitchFamily="18" charset="0"/>
              </a:rPr>
              <a:t>/</a:t>
            </a:r>
            <a:r>
              <a:rPr lang="zh-CN" altLang="en-US">
                <a:latin typeface="Times New Roman" panose="02020603050405020304" pitchFamily="18" charset="0"/>
              </a:rPr>
              <a:t>密文对进行检验，就使虚报率降为</a:t>
            </a:r>
            <a:r>
              <a:rPr lang="en-US" altLang="zh-CN">
                <a:latin typeface="Times New Roman" panose="02020603050405020304" pitchFamily="18" charset="0"/>
              </a:rPr>
              <a:t>2</a:t>
            </a:r>
            <a:r>
              <a:rPr lang="en-US" altLang="zh-CN" baseline="30000">
                <a:latin typeface="Times New Roman" panose="02020603050405020304" pitchFamily="18" charset="0"/>
              </a:rPr>
              <a:t>48-64</a:t>
            </a:r>
            <a:r>
              <a:rPr lang="en-US" altLang="zh-CN">
                <a:latin typeface="Times New Roman" panose="02020603050405020304" pitchFamily="18" charset="0"/>
              </a:rPr>
              <a:t>=2</a:t>
            </a:r>
            <a:r>
              <a:rPr lang="en-US" altLang="zh-CN" baseline="30000">
                <a:latin typeface="Times New Roman" panose="02020603050405020304" pitchFamily="18" charset="0"/>
              </a:rPr>
              <a:t>-16</a:t>
            </a:r>
            <a:r>
              <a:rPr lang="zh-CN" altLang="en-US">
                <a:latin typeface="Times New Roman" panose="02020603050405020304" pitchFamily="18" charset="0"/>
              </a:rPr>
              <a:t>。这一攻击法所需的存储量为</a:t>
            </a:r>
            <a:r>
              <a:rPr lang="en-US" altLang="zh-CN">
                <a:latin typeface="Times New Roman" panose="02020603050405020304" pitchFamily="18" charset="0"/>
              </a:rPr>
              <a:t>2</a:t>
            </a:r>
            <a:r>
              <a:rPr lang="en-US" altLang="zh-CN" baseline="30000">
                <a:latin typeface="Times New Roman" panose="02020603050405020304" pitchFamily="18" charset="0"/>
              </a:rPr>
              <a:t>56</a:t>
            </a:r>
            <a:r>
              <a:rPr lang="en-US" altLang="zh-CN">
                <a:latin typeface="Times New Roman" panose="02020603050405020304" pitchFamily="18" charset="0"/>
              </a:rPr>
              <a:t>×8 Byte</a:t>
            </a:r>
            <a:r>
              <a:rPr lang="zh-CN" altLang="en-US">
                <a:latin typeface="Times New Roman" panose="02020603050405020304" pitchFamily="18" charset="0"/>
              </a:rPr>
              <a:t>，最大试验的加密次数</a:t>
            </a:r>
            <a:r>
              <a:rPr lang="en-US" altLang="zh-CN">
                <a:latin typeface="Times New Roman" panose="02020603050405020304" pitchFamily="18" charset="0"/>
              </a:rPr>
              <a:t>2×2</a:t>
            </a:r>
            <a:r>
              <a:rPr lang="en-US" altLang="zh-CN" baseline="30000">
                <a:latin typeface="Times New Roman" panose="02020603050405020304" pitchFamily="18" charset="0"/>
              </a:rPr>
              <a:t>56 </a:t>
            </a:r>
            <a:r>
              <a:rPr lang="en-US" altLang="zh-CN">
                <a:latin typeface="Times New Roman" panose="02020603050405020304" pitchFamily="18" charset="0"/>
              </a:rPr>
              <a:t>=2</a:t>
            </a:r>
            <a:r>
              <a:rPr lang="en-US" altLang="zh-CN" baseline="30000">
                <a:latin typeface="Times New Roman" panose="02020603050405020304" pitchFamily="18" charset="0"/>
              </a:rPr>
              <a:t>57</a:t>
            </a:r>
            <a:r>
              <a:rPr lang="zh-CN" altLang="en-US">
                <a:latin typeface="Times New Roman" panose="02020603050405020304" pitchFamily="18" charset="0"/>
              </a:rPr>
              <a:t>。这说明破译双重</a:t>
            </a:r>
            <a:r>
              <a:rPr lang="en-US" altLang="zh-CN">
                <a:latin typeface="Times New Roman" panose="02020603050405020304" pitchFamily="18" charset="0"/>
              </a:rPr>
              <a:t>DES</a:t>
            </a:r>
            <a:r>
              <a:rPr lang="zh-CN" altLang="en-US">
                <a:latin typeface="Times New Roman" panose="02020603050405020304" pitchFamily="18" charset="0"/>
              </a:rPr>
              <a:t>的难度为</a:t>
            </a:r>
            <a:r>
              <a:rPr lang="en-US" altLang="zh-CN">
                <a:latin typeface="Times New Roman" panose="02020603050405020304" pitchFamily="18" charset="0"/>
              </a:rPr>
              <a:t>2</a:t>
            </a:r>
            <a:r>
              <a:rPr lang="en-US" altLang="zh-CN" baseline="30000">
                <a:latin typeface="Times New Roman" panose="02020603050405020304" pitchFamily="18" charset="0"/>
              </a:rPr>
              <a:t>57</a:t>
            </a:r>
            <a:r>
              <a:rPr lang="zh-CN" altLang="en-US">
                <a:latin typeface="Times New Roman" panose="02020603050405020304" pitchFamily="18" charset="0"/>
              </a:rPr>
              <a:t>量级。这种攻击方法实际上在密码学中经常应用，其核心是空间换时间，尽量去发现一些可以预计算值，将这些值存储起来，实际攻击时与计算出来的值比较或相结合来破解密码体制。</a:t>
            </a:r>
          </a:p>
          <a:p>
            <a:pPr algn="just" eaLnBrk="1" hangingPunct="1">
              <a:lnSpc>
                <a:spcPct val="120000"/>
              </a:lnSpc>
            </a:pPr>
            <a:endParaRPr lang="zh-CN" altLang="en-US"/>
          </a:p>
        </p:txBody>
      </p:sp>
      <p:sp>
        <p:nvSpPr>
          <p:cNvPr id="221187" name="灯片编号占位符 3">
            <a:extLst>
              <a:ext uri="{FF2B5EF4-FFF2-40B4-BE49-F238E27FC236}">
                <a16:creationId xmlns:a16="http://schemas.microsoft.com/office/drawing/2014/main" id="{5156529B-CCC1-7D43-A2B8-65D7910A12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B2FA213-315A-1B4F-AD13-8F8EBE464651}" type="slidenum">
              <a:rPr lang="en-US" altLang="zh-CN"/>
              <a:pPr/>
              <a:t>81</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幻灯片图像占位符 1">
            <a:extLst>
              <a:ext uri="{FF2B5EF4-FFF2-40B4-BE49-F238E27FC236}">
                <a16:creationId xmlns:a16="http://schemas.microsoft.com/office/drawing/2014/main" id="{90BF3D89-EB96-0543-9777-142535CD9FD1}"/>
              </a:ext>
            </a:extLst>
          </p:cNvPr>
          <p:cNvSpPr>
            <a:spLocks noGrp="1" noRot="1" noChangeAspect="1" noChangeArrowheads="1" noTextEdit="1"/>
          </p:cNvSpPr>
          <p:nvPr>
            <p:ph type="sldImg" idx="4294967295"/>
          </p:nvPr>
        </p:nvSpPr>
        <p:spPr>
          <a:ln/>
        </p:spPr>
      </p:sp>
      <p:sp>
        <p:nvSpPr>
          <p:cNvPr id="223234" name="备注占位符 2">
            <a:extLst>
              <a:ext uri="{FF2B5EF4-FFF2-40B4-BE49-F238E27FC236}">
                <a16:creationId xmlns:a16="http://schemas.microsoft.com/office/drawing/2014/main" id="{9DE3D295-7817-C74F-803B-02FEB8E377DD}"/>
              </a:ext>
            </a:extLst>
          </p:cNvPr>
          <p:cNvSpPr>
            <a:spLocks noGrp="1" noChangeArrowheads="1"/>
          </p:cNvSpPr>
          <p:nvPr>
            <p:ph type="body" idx="4294967295"/>
          </p:nvPr>
        </p:nvSpPr>
        <p:spPr/>
        <p:txBody>
          <a:bodyPr/>
          <a:lstStyle/>
          <a:p>
            <a:r>
              <a:rPr lang="en-US" altLang="zh-CN"/>
              <a:t>3</a:t>
            </a:r>
            <a:r>
              <a:rPr lang="zh-CN" altLang="en-US"/>
              <a:t>重</a:t>
            </a:r>
            <a:r>
              <a:rPr lang="en-US" altLang="zh-CN"/>
              <a:t>DES</a:t>
            </a:r>
            <a:r>
              <a:rPr lang="zh-CN" altLang="en-US">
                <a:latin typeface="Times New Roman" panose="02020603050405020304" pitchFamily="18" charset="0"/>
              </a:rPr>
              <a:t>中三个密码组件既可以是一个加密函数，也可以是一个解密函数。如果是用</a:t>
            </a:r>
            <a:r>
              <a:rPr lang="en-US" altLang="zh-CN">
                <a:latin typeface="Times New Roman" panose="02020603050405020304" pitchFamily="18" charset="0"/>
              </a:rPr>
              <a:t>3</a:t>
            </a:r>
            <a:r>
              <a:rPr lang="zh-CN" altLang="en-US">
                <a:latin typeface="Times New Roman" panose="02020603050405020304" pitchFamily="18" charset="0"/>
              </a:rPr>
              <a:t>个不同的密钥进行加密，则密钥长度达到了</a:t>
            </a:r>
            <a:r>
              <a:rPr lang="en-US" altLang="zh-CN">
                <a:latin typeface="Times New Roman" panose="02020603050405020304" pitchFamily="18" charset="0"/>
              </a:rPr>
              <a:t>168</a:t>
            </a:r>
            <a:r>
              <a:rPr lang="zh-CN" altLang="en-US">
                <a:latin typeface="Times New Roman" panose="02020603050405020304" pitchFamily="18" charset="0"/>
              </a:rPr>
              <a:t>比特，从安全性和效率权衡来看，这并没有必要。所以一般推荐使用双密钥三重</a:t>
            </a:r>
            <a:r>
              <a:rPr lang="en-US" altLang="zh-CN">
                <a:latin typeface="Times New Roman" panose="02020603050405020304" pitchFamily="18" charset="0"/>
              </a:rPr>
              <a:t>DES</a:t>
            </a:r>
            <a:endParaRPr lang="zh-CN" altLang="en-US"/>
          </a:p>
        </p:txBody>
      </p:sp>
      <p:sp>
        <p:nvSpPr>
          <p:cNvPr id="223235" name="灯片编号占位符 3">
            <a:extLst>
              <a:ext uri="{FF2B5EF4-FFF2-40B4-BE49-F238E27FC236}">
                <a16:creationId xmlns:a16="http://schemas.microsoft.com/office/drawing/2014/main" id="{68FCDAFB-9EF1-6F42-A573-18BF51895F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8152179-5B9D-0640-9429-33B644A2334E}" type="slidenum">
              <a:rPr lang="en-US" altLang="zh-CN"/>
              <a:pPr/>
              <a:t>82</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幻灯片图像占位符 1">
            <a:extLst>
              <a:ext uri="{FF2B5EF4-FFF2-40B4-BE49-F238E27FC236}">
                <a16:creationId xmlns:a16="http://schemas.microsoft.com/office/drawing/2014/main" id="{029E4494-5801-0F4F-9652-37B42D62BBCC}"/>
              </a:ext>
            </a:extLst>
          </p:cNvPr>
          <p:cNvSpPr>
            <a:spLocks noGrp="1" noRot="1" noChangeAspect="1" noChangeArrowheads="1" noTextEdit="1"/>
          </p:cNvSpPr>
          <p:nvPr>
            <p:ph type="sldImg" idx="4294967295"/>
          </p:nvPr>
        </p:nvSpPr>
        <p:spPr>
          <a:ln/>
        </p:spPr>
      </p:sp>
      <p:sp>
        <p:nvSpPr>
          <p:cNvPr id="225282" name="备注占位符 2">
            <a:extLst>
              <a:ext uri="{FF2B5EF4-FFF2-40B4-BE49-F238E27FC236}">
                <a16:creationId xmlns:a16="http://schemas.microsoft.com/office/drawing/2014/main" id="{29F0EE57-4260-0648-890F-7FDF841E94F7}"/>
              </a:ext>
            </a:extLst>
          </p:cNvPr>
          <p:cNvSpPr>
            <a:spLocks noGrp="1" noChangeArrowheads="1"/>
          </p:cNvSpPr>
          <p:nvPr>
            <p:ph type="body" idx="4294967295"/>
          </p:nvPr>
        </p:nvSpPr>
        <p:spPr/>
        <p:txBody>
          <a:bodyPr/>
          <a:lstStyle/>
          <a:p>
            <a:r>
              <a:rPr lang="zh-CN" altLang="en-US"/>
              <a:t>双密钥三重</a:t>
            </a:r>
            <a:r>
              <a:rPr lang="en-US" altLang="zh-CN"/>
              <a:t>DES</a:t>
            </a:r>
            <a:r>
              <a:rPr lang="zh-CN" altLang="en-US"/>
              <a:t>中，加密时中间的组件为解密器，所以又称为加密</a:t>
            </a:r>
            <a:r>
              <a:rPr lang="en-US" altLang="zh-CN"/>
              <a:t>-</a:t>
            </a:r>
            <a:r>
              <a:rPr lang="zh-CN" altLang="en-US"/>
              <a:t>解密</a:t>
            </a:r>
            <a:r>
              <a:rPr lang="en-US" altLang="zh-CN"/>
              <a:t>-</a:t>
            </a:r>
            <a:r>
              <a:rPr lang="zh-CN" altLang="en-US"/>
              <a:t>加密方案，简记为</a:t>
            </a:r>
            <a:r>
              <a:rPr lang="en-US" altLang="zh-CN"/>
              <a:t>EDE</a:t>
            </a:r>
            <a:r>
              <a:rPr lang="zh-CN" altLang="en-US"/>
              <a:t>。</a:t>
            </a:r>
            <a:r>
              <a:rPr lang="zh-CN" altLang="en-US">
                <a:latin typeface="Times New Roman" panose="02020603050405020304" pitchFamily="18" charset="0"/>
              </a:rPr>
              <a:t>此方案已在</a:t>
            </a:r>
            <a:r>
              <a:rPr lang="en-US" altLang="zh-CN">
                <a:latin typeface="Times New Roman" panose="02020603050405020304" pitchFamily="18" charset="0"/>
              </a:rPr>
              <a:t>ANSI X9.17</a:t>
            </a:r>
            <a:r>
              <a:rPr lang="zh-CN" altLang="en-US">
                <a:latin typeface="Times New Roman" panose="02020603050405020304" pitchFamily="18" charset="0"/>
              </a:rPr>
              <a:t>和</a:t>
            </a:r>
            <a:r>
              <a:rPr lang="en-US" altLang="zh-CN">
                <a:latin typeface="Times New Roman" panose="02020603050405020304" pitchFamily="18" charset="0"/>
              </a:rPr>
              <a:t>ISO 8732</a:t>
            </a:r>
            <a:r>
              <a:rPr lang="zh-CN" altLang="en-US">
                <a:latin typeface="Times New Roman" panose="02020603050405020304" pitchFamily="18" charset="0"/>
              </a:rPr>
              <a:t>标准中采用，并在保密增强邮件</a:t>
            </a:r>
            <a:r>
              <a:rPr lang="en-US" altLang="zh-CN">
                <a:latin typeface="Times New Roman" panose="02020603050405020304" pitchFamily="18" charset="0"/>
              </a:rPr>
              <a:t>(PEM)</a:t>
            </a:r>
            <a:r>
              <a:rPr lang="zh-CN" altLang="en-US">
                <a:latin typeface="Times New Roman" panose="02020603050405020304" pitchFamily="18" charset="0"/>
              </a:rPr>
              <a:t>系统中得到利用。</a:t>
            </a:r>
            <a:endParaRPr lang="zh-CN" altLang="en-US"/>
          </a:p>
        </p:txBody>
      </p:sp>
      <p:sp>
        <p:nvSpPr>
          <p:cNvPr id="225283" name="灯片编号占位符 3">
            <a:extLst>
              <a:ext uri="{FF2B5EF4-FFF2-40B4-BE49-F238E27FC236}">
                <a16:creationId xmlns:a16="http://schemas.microsoft.com/office/drawing/2014/main" id="{BDAD50BF-2292-934A-B4EB-AA4BCA31BA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C4F7984-5484-514C-880D-CB041C467191}" type="slidenum">
              <a:rPr lang="en-US" altLang="zh-CN"/>
              <a:pPr/>
              <a:t>83</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幻灯片图像占位符 1">
            <a:extLst>
              <a:ext uri="{FF2B5EF4-FFF2-40B4-BE49-F238E27FC236}">
                <a16:creationId xmlns:a16="http://schemas.microsoft.com/office/drawing/2014/main" id="{65FC7720-AE51-C14A-8E23-DDEA4E07AB74}"/>
              </a:ext>
            </a:extLst>
          </p:cNvPr>
          <p:cNvSpPr>
            <a:spLocks noGrp="1" noRot="1" noChangeAspect="1" noChangeArrowheads="1" noTextEdit="1"/>
          </p:cNvSpPr>
          <p:nvPr>
            <p:ph type="sldImg" idx="4294967295"/>
          </p:nvPr>
        </p:nvSpPr>
        <p:spPr>
          <a:ln/>
        </p:spPr>
      </p:sp>
      <p:sp>
        <p:nvSpPr>
          <p:cNvPr id="227330" name="备注占位符 2">
            <a:extLst>
              <a:ext uri="{FF2B5EF4-FFF2-40B4-BE49-F238E27FC236}">
                <a16:creationId xmlns:a16="http://schemas.microsoft.com/office/drawing/2014/main" id="{E5402549-F470-134C-9773-542AF971BE77}"/>
              </a:ext>
            </a:extLst>
          </p:cNvPr>
          <p:cNvSpPr>
            <a:spLocks noGrp="1" noChangeArrowheads="1"/>
          </p:cNvSpPr>
          <p:nvPr>
            <p:ph type="body" idx="4294967295"/>
          </p:nvPr>
        </p:nvSpPr>
        <p:spPr/>
        <p:txBody>
          <a:bodyPr/>
          <a:lstStyle/>
          <a:p>
            <a:pPr>
              <a:lnSpc>
                <a:spcPct val="120000"/>
              </a:lnSpc>
            </a:pPr>
            <a:r>
              <a:rPr lang="zh-CN" altLang="en-US">
                <a:latin typeface="Times New Roman" panose="02020603050405020304" pitchFamily="18" charset="0"/>
              </a:rPr>
              <a:t>破译双密钥三重</a:t>
            </a:r>
            <a:r>
              <a:rPr lang="en-US" altLang="zh-CN">
                <a:latin typeface="Times New Roman" panose="02020603050405020304" pitchFamily="18" charset="0"/>
              </a:rPr>
              <a:t>DES</a:t>
            </a:r>
            <a:r>
              <a:rPr lang="zh-CN" altLang="en-US">
                <a:latin typeface="Times New Roman" panose="02020603050405020304" pitchFamily="18" charset="0"/>
              </a:rPr>
              <a:t>的穷举密钥搜索量为</a:t>
            </a:r>
            <a:r>
              <a:rPr lang="en-US" altLang="zh-CN">
                <a:latin typeface="Times New Roman" panose="02020603050405020304" pitchFamily="18" charset="0"/>
              </a:rPr>
              <a:t>2</a:t>
            </a:r>
            <a:r>
              <a:rPr lang="en-US" altLang="zh-CN" baseline="30000">
                <a:latin typeface="Times New Roman" panose="02020603050405020304" pitchFamily="18" charset="0"/>
              </a:rPr>
              <a:t>112</a:t>
            </a:r>
            <a:r>
              <a:rPr lang="en-US" altLang="zh-CN">
                <a:latin typeface="Times New Roman" panose="02020603050405020304" pitchFamily="18" charset="0"/>
                <a:sym typeface="Symbol" pitchFamily="2" charset="2"/>
              </a:rPr>
              <a:t></a:t>
            </a:r>
            <a:r>
              <a:rPr lang="en-US" altLang="zh-CN">
                <a:latin typeface="Times New Roman" panose="02020603050405020304" pitchFamily="18" charset="0"/>
              </a:rPr>
              <a:t>5×10</a:t>
            </a:r>
            <a:r>
              <a:rPr lang="en-US" altLang="zh-CN" baseline="30000">
                <a:latin typeface="Times New Roman" panose="02020603050405020304" pitchFamily="18" charset="0"/>
              </a:rPr>
              <a:t>35</a:t>
            </a:r>
            <a:r>
              <a:rPr lang="zh-CN" altLang="en-US">
                <a:latin typeface="Times New Roman" panose="02020603050405020304" pitchFamily="18" charset="0"/>
              </a:rPr>
              <a:t>量级。差分分析破译也要超过</a:t>
            </a:r>
            <a:r>
              <a:rPr lang="en-US" altLang="zh-CN">
                <a:latin typeface="Times New Roman" panose="02020603050405020304" pitchFamily="18" charset="0"/>
              </a:rPr>
              <a:t>10</a:t>
            </a:r>
            <a:r>
              <a:rPr lang="en-US" altLang="zh-CN" baseline="30000">
                <a:latin typeface="Times New Roman" panose="02020603050405020304" pitchFamily="18" charset="0"/>
              </a:rPr>
              <a:t>52</a:t>
            </a:r>
            <a:r>
              <a:rPr lang="zh-CN" altLang="en-US">
                <a:latin typeface="Times New Roman" panose="02020603050405020304" pitchFamily="18" charset="0"/>
              </a:rPr>
              <a:t>量级。此方案仍有足够的安全性。目前，我们的网络通信当中仍然还在使用</a:t>
            </a:r>
            <a:r>
              <a:rPr lang="en-US" altLang="zh-CN">
                <a:latin typeface="Times New Roman" panose="02020603050405020304" pitchFamily="18" charset="0"/>
              </a:rPr>
              <a:t>3DES</a:t>
            </a:r>
            <a:r>
              <a:rPr lang="zh-CN" altLang="en-US">
                <a:latin typeface="Times New Roman" panose="02020603050405020304" pitchFamily="18" charset="0"/>
              </a:rPr>
              <a:t>。</a:t>
            </a:r>
          </a:p>
          <a:p>
            <a:endParaRPr lang="zh-CN" altLang="en-US"/>
          </a:p>
        </p:txBody>
      </p:sp>
      <p:sp>
        <p:nvSpPr>
          <p:cNvPr id="227331" name="灯片编号占位符 3">
            <a:extLst>
              <a:ext uri="{FF2B5EF4-FFF2-40B4-BE49-F238E27FC236}">
                <a16:creationId xmlns:a16="http://schemas.microsoft.com/office/drawing/2014/main" id="{1747244E-4495-4546-B2E1-CAF3BC9570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BDE7E22-24BA-8444-A58E-49F9004AC36C}" type="slidenum">
              <a:rPr lang="en-US" altLang="zh-CN"/>
              <a:pPr/>
              <a:t>84</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幻灯片图像占位符 1">
            <a:extLst>
              <a:ext uri="{FF2B5EF4-FFF2-40B4-BE49-F238E27FC236}">
                <a16:creationId xmlns:a16="http://schemas.microsoft.com/office/drawing/2014/main" id="{37806DF6-CB34-9A49-94BD-52168F2299B8}"/>
              </a:ext>
            </a:extLst>
          </p:cNvPr>
          <p:cNvSpPr>
            <a:spLocks noGrp="1" noRot="1" noChangeAspect="1" noChangeArrowheads="1" noTextEdit="1"/>
          </p:cNvSpPr>
          <p:nvPr>
            <p:ph type="sldImg" idx="4294967295"/>
          </p:nvPr>
        </p:nvSpPr>
        <p:spPr>
          <a:ln/>
        </p:spPr>
      </p:sp>
      <p:sp>
        <p:nvSpPr>
          <p:cNvPr id="229378" name="备注占位符 2">
            <a:extLst>
              <a:ext uri="{FF2B5EF4-FFF2-40B4-BE49-F238E27FC236}">
                <a16:creationId xmlns:a16="http://schemas.microsoft.com/office/drawing/2014/main" id="{C82128FA-28DE-874F-AACD-C003E17C9BC5}"/>
              </a:ext>
            </a:extLst>
          </p:cNvPr>
          <p:cNvSpPr>
            <a:spLocks noGrp="1" noChangeArrowheads="1"/>
          </p:cNvSpPr>
          <p:nvPr>
            <p:ph type="body" idx="4294967295"/>
          </p:nvPr>
        </p:nvSpPr>
        <p:spPr/>
        <p:txBody>
          <a:bodyPr/>
          <a:lstStyle/>
          <a:p>
            <a:r>
              <a:rPr lang="zh-CN" altLang="en-US"/>
              <a:t>同学们大家好，今天这一讲我们来介绍一下分组密码的工作模式。</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幻灯片图像占位符 1">
            <a:extLst>
              <a:ext uri="{FF2B5EF4-FFF2-40B4-BE49-F238E27FC236}">
                <a16:creationId xmlns:a16="http://schemas.microsoft.com/office/drawing/2014/main" id="{DAF81395-659D-AB41-81B9-783F71E26C25}"/>
              </a:ext>
            </a:extLst>
          </p:cNvPr>
          <p:cNvSpPr>
            <a:spLocks noGrp="1" noRot="1" noChangeAspect="1" noChangeArrowheads="1" noTextEdit="1"/>
          </p:cNvSpPr>
          <p:nvPr>
            <p:ph type="sldImg" idx="4294967295"/>
          </p:nvPr>
        </p:nvSpPr>
        <p:spPr>
          <a:ln/>
        </p:spPr>
      </p:sp>
      <p:sp>
        <p:nvSpPr>
          <p:cNvPr id="231426" name="备注占位符 2">
            <a:extLst>
              <a:ext uri="{FF2B5EF4-FFF2-40B4-BE49-F238E27FC236}">
                <a16:creationId xmlns:a16="http://schemas.microsoft.com/office/drawing/2014/main" id="{64C8DCFE-970F-6D42-A14B-7F37FBA19A17}"/>
              </a:ext>
            </a:extLst>
          </p:cNvPr>
          <p:cNvSpPr>
            <a:spLocks noGrp="1" noChangeArrowheads="1"/>
          </p:cNvSpPr>
          <p:nvPr>
            <p:ph type="body" idx="4294967295"/>
          </p:nvPr>
        </p:nvSpPr>
        <p:spPr/>
        <p:txBody>
          <a:bodyPr/>
          <a:lstStyle/>
          <a:p>
            <a:pPr>
              <a:lnSpc>
                <a:spcPct val="120000"/>
              </a:lnSpc>
            </a:pPr>
            <a:r>
              <a:rPr lang="zh-CN" altLang="en-US"/>
              <a:t>为什么需要工作模式呢？分组密码在加密时</a:t>
            </a:r>
            <a:r>
              <a:rPr lang="en-US" altLang="zh-CN"/>
              <a:t>,</a:t>
            </a:r>
            <a:r>
              <a:rPr lang="zh-CN" altLang="en-US"/>
              <a:t>明文分组的长度是固定的，而实际应用中待加密消息的数据量是不定的，数据格式可能是多种多样的。分组密码的工作模式就是：根据不同的数据格式和安全性要求</a:t>
            </a:r>
            <a:r>
              <a:rPr lang="en-US" altLang="zh-CN"/>
              <a:t>, </a:t>
            </a:r>
            <a:r>
              <a:rPr lang="zh-CN" altLang="en-US"/>
              <a:t>以一个具体的分组密码算法为基础构造一个分组密码系统的方法。分组密码的工作模式应当力求简单</a:t>
            </a:r>
            <a:r>
              <a:rPr lang="en-US" altLang="zh-CN"/>
              <a:t>, </a:t>
            </a:r>
            <a:r>
              <a:rPr lang="zh-CN" altLang="en-US"/>
              <a:t>有效和易于实现。实际应用当中需要采用适当的工作模式来隐蔽明文的统计特性、数据的格式等，降低删除、重放、插入和伪造成功的机会。</a:t>
            </a:r>
          </a:p>
          <a:p>
            <a:endParaRPr lang="zh-CN" altLang="en-US"/>
          </a:p>
        </p:txBody>
      </p:sp>
      <p:sp>
        <p:nvSpPr>
          <p:cNvPr id="231427" name="灯片编号占位符 3">
            <a:extLst>
              <a:ext uri="{FF2B5EF4-FFF2-40B4-BE49-F238E27FC236}">
                <a16:creationId xmlns:a16="http://schemas.microsoft.com/office/drawing/2014/main" id="{E5109A9C-5DE4-FE44-8315-D46D35C35E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213D5EE-5118-4041-9AC2-D90916AA25EA}" type="slidenum">
              <a:rPr lang="en-US" altLang="zh-CN"/>
              <a:pPr/>
              <a:t>86</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幻灯片图像占位符 1">
            <a:extLst>
              <a:ext uri="{FF2B5EF4-FFF2-40B4-BE49-F238E27FC236}">
                <a16:creationId xmlns:a16="http://schemas.microsoft.com/office/drawing/2014/main" id="{CFD2263C-CC69-E64E-B89D-07240A03CFBC}"/>
              </a:ext>
            </a:extLst>
          </p:cNvPr>
          <p:cNvSpPr>
            <a:spLocks noGrp="1" noRot="1" noChangeAspect="1" noChangeArrowheads="1" noTextEdit="1"/>
          </p:cNvSpPr>
          <p:nvPr>
            <p:ph type="sldImg" idx="4294967295"/>
          </p:nvPr>
        </p:nvSpPr>
        <p:spPr>
          <a:ln/>
        </p:spPr>
      </p:sp>
      <p:sp>
        <p:nvSpPr>
          <p:cNvPr id="233474" name="备注占位符 2">
            <a:extLst>
              <a:ext uri="{FF2B5EF4-FFF2-40B4-BE49-F238E27FC236}">
                <a16:creationId xmlns:a16="http://schemas.microsoft.com/office/drawing/2014/main" id="{E76FEEA4-7077-1D49-B91B-0CE5C88A74C1}"/>
              </a:ext>
            </a:extLst>
          </p:cNvPr>
          <p:cNvSpPr>
            <a:spLocks noGrp="1" noChangeArrowheads="1"/>
          </p:cNvSpPr>
          <p:nvPr>
            <p:ph type="body" idx="4294967295"/>
          </p:nvPr>
        </p:nvSpPr>
        <p:spPr/>
        <p:txBody>
          <a:bodyPr/>
          <a:lstStyle/>
          <a:p>
            <a:r>
              <a:rPr lang="zh-CN" altLang="en-US"/>
              <a:t>为了能在各种应用场合使用</a:t>
            </a:r>
            <a:r>
              <a:rPr lang="en-US" altLang="zh-CN"/>
              <a:t>DES</a:t>
            </a:r>
            <a:r>
              <a:rPr lang="zh-CN" altLang="en-US"/>
              <a:t>，美国在</a:t>
            </a:r>
            <a:r>
              <a:rPr lang="en-US" altLang="zh-CN"/>
              <a:t>FIPS PUS 74</a:t>
            </a:r>
            <a:r>
              <a:rPr lang="zh-CN" altLang="en-US"/>
              <a:t>和</a:t>
            </a:r>
            <a:r>
              <a:rPr lang="en-US" altLang="zh-CN"/>
              <a:t>81</a:t>
            </a:r>
            <a:r>
              <a:rPr lang="zh-CN" altLang="en-US"/>
              <a:t>中定义了</a:t>
            </a:r>
            <a:r>
              <a:rPr lang="en-US" altLang="zh-CN"/>
              <a:t>DES</a:t>
            </a:r>
            <a:r>
              <a:rPr lang="zh-CN" altLang="en-US"/>
              <a:t>的</a:t>
            </a:r>
            <a:r>
              <a:rPr lang="en-US" altLang="zh-CN"/>
              <a:t>5</a:t>
            </a:r>
            <a:r>
              <a:rPr lang="zh-CN" altLang="en-US"/>
              <a:t>种运行模式，这些运行模式同样适合其他的分组密码体制</a:t>
            </a:r>
          </a:p>
        </p:txBody>
      </p:sp>
      <p:sp>
        <p:nvSpPr>
          <p:cNvPr id="233475" name="灯片编号占位符 3">
            <a:extLst>
              <a:ext uri="{FF2B5EF4-FFF2-40B4-BE49-F238E27FC236}">
                <a16:creationId xmlns:a16="http://schemas.microsoft.com/office/drawing/2014/main" id="{E88BC9AD-50E5-214D-BCA7-5F50755EDD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BD0D80C-4C2D-3448-8330-2E326836C0DD}" type="slidenum">
              <a:rPr lang="en-US" altLang="zh-CN"/>
              <a:pPr/>
              <a:t>87</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幻灯片图像占位符 1">
            <a:extLst>
              <a:ext uri="{FF2B5EF4-FFF2-40B4-BE49-F238E27FC236}">
                <a16:creationId xmlns:a16="http://schemas.microsoft.com/office/drawing/2014/main" id="{98C8B09F-4260-EA4D-8BA2-91DAE8C529C0}"/>
              </a:ext>
            </a:extLst>
          </p:cNvPr>
          <p:cNvSpPr>
            <a:spLocks noGrp="1" noRot="1" noChangeAspect="1" noChangeArrowheads="1" noTextEdit="1"/>
          </p:cNvSpPr>
          <p:nvPr>
            <p:ph type="sldImg" idx="4294967295"/>
          </p:nvPr>
        </p:nvSpPr>
        <p:spPr>
          <a:ln/>
        </p:spPr>
      </p:sp>
      <p:sp>
        <p:nvSpPr>
          <p:cNvPr id="235522" name="备注占位符 2">
            <a:extLst>
              <a:ext uri="{FF2B5EF4-FFF2-40B4-BE49-F238E27FC236}">
                <a16:creationId xmlns:a16="http://schemas.microsoft.com/office/drawing/2014/main" id="{D4893D69-9F24-B546-B681-8783337D768C}"/>
              </a:ext>
            </a:extLst>
          </p:cNvPr>
          <p:cNvSpPr>
            <a:spLocks noGrp="1" noChangeArrowheads="1"/>
          </p:cNvSpPr>
          <p:nvPr>
            <p:ph type="body" idx="4294967295"/>
          </p:nvPr>
        </p:nvSpPr>
        <p:spPr/>
        <p:txBody>
          <a:bodyPr/>
          <a:lstStyle/>
          <a:p>
            <a:r>
              <a:rPr lang="zh-CN" altLang="en-US" b="1">
                <a:solidFill>
                  <a:srgbClr val="1C1C1C"/>
                </a:solidFill>
                <a:latin typeface="宋体" panose="02010600030101010101" pitchFamily="2" charset="-122"/>
              </a:rPr>
              <a:t>所谓的电码本模式就是直接利用加密算法分别对分组数据组加密。如图所示，将明文分组</a:t>
            </a:r>
            <a:r>
              <a:rPr lang="en-US" altLang="zh-CN" b="1">
                <a:solidFill>
                  <a:srgbClr val="1C1C1C"/>
                </a:solidFill>
                <a:latin typeface="宋体" panose="02010600030101010101" pitchFamily="2" charset="-122"/>
              </a:rPr>
              <a:t>P1P2</a:t>
            </a:r>
            <a:r>
              <a:rPr lang="zh-CN" altLang="en-US" b="1">
                <a:solidFill>
                  <a:srgbClr val="1C1C1C"/>
                </a:solidFill>
                <a:latin typeface="宋体" panose="02010600030101010101" pitchFamily="2" charset="-122"/>
              </a:rPr>
              <a:t>到</a:t>
            </a:r>
            <a:r>
              <a:rPr lang="en-US" altLang="zh-CN" b="1">
                <a:solidFill>
                  <a:srgbClr val="1C1C1C"/>
                </a:solidFill>
                <a:latin typeface="宋体" panose="02010600030101010101" pitchFamily="2" charset="-122"/>
              </a:rPr>
              <a:t>Pn</a:t>
            </a:r>
            <a:r>
              <a:rPr lang="zh-CN" altLang="en-US" b="1">
                <a:solidFill>
                  <a:srgbClr val="1C1C1C"/>
                </a:solidFill>
                <a:latin typeface="宋体" panose="02010600030101010101" pitchFamily="2" charset="-122"/>
              </a:rPr>
              <a:t>，采用相同的密钥对这些分组进行加密。解密各个分组也是相互独立的。</a:t>
            </a:r>
          </a:p>
          <a:p>
            <a:endParaRPr lang="zh-CN" altLang="en-US"/>
          </a:p>
        </p:txBody>
      </p:sp>
      <p:sp>
        <p:nvSpPr>
          <p:cNvPr id="235523" name="灯片编号占位符 3">
            <a:extLst>
              <a:ext uri="{FF2B5EF4-FFF2-40B4-BE49-F238E27FC236}">
                <a16:creationId xmlns:a16="http://schemas.microsoft.com/office/drawing/2014/main" id="{416472B1-FE67-9A40-9C0E-882FD9E846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C351FBD-75E1-8A45-969E-6F60DA7A1796}" type="slidenum">
              <a:rPr lang="en-US" altLang="zh-CN"/>
              <a:pPr/>
              <a:t>88</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幻灯片图像占位符 1">
            <a:extLst>
              <a:ext uri="{FF2B5EF4-FFF2-40B4-BE49-F238E27FC236}">
                <a16:creationId xmlns:a16="http://schemas.microsoft.com/office/drawing/2014/main" id="{D6A6E80E-C02A-1D44-9F97-F35F20BF9DB3}"/>
              </a:ext>
            </a:extLst>
          </p:cNvPr>
          <p:cNvSpPr>
            <a:spLocks noGrp="1" noRot="1" noChangeAspect="1" noChangeArrowheads="1" noTextEdit="1"/>
          </p:cNvSpPr>
          <p:nvPr>
            <p:ph type="sldImg" idx="4294967295"/>
          </p:nvPr>
        </p:nvSpPr>
        <p:spPr>
          <a:ln/>
        </p:spPr>
      </p:sp>
      <p:sp>
        <p:nvSpPr>
          <p:cNvPr id="237570" name="备注占位符 2">
            <a:extLst>
              <a:ext uri="{FF2B5EF4-FFF2-40B4-BE49-F238E27FC236}">
                <a16:creationId xmlns:a16="http://schemas.microsoft.com/office/drawing/2014/main" id="{F885B0D3-5EF1-5F42-95D0-61C1BBA1883E}"/>
              </a:ext>
            </a:extLst>
          </p:cNvPr>
          <p:cNvSpPr>
            <a:spLocks noGrp="1" noChangeArrowheads="1"/>
          </p:cNvSpPr>
          <p:nvPr>
            <p:ph type="body" idx="4294967295"/>
          </p:nvPr>
        </p:nvSpPr>
        <p:spPr/>
        <p:txBody>
          <a:bodyPr/>
          <a:lstStyle/>
          <a:p>
            <a:pPr algn="just" eaLnBrk="1" hangingPunct="1">
              <a:lnSpc>
                <a:spcPct val="110000"/>
              </a:lnSpc>
              <a:spcBef>
                <a:spcPts val="600"/>
              </a:spcBef>
            </a:pPr>
            <a:r>
              <a:rPr lang="en-US" altLang="zh-CN">
                <a:solidFill>
                  <a:srgbClr val="1C1C1C"/>
                </a:solidFill>
                <a:latin typeface="宋体" panose="02010600030101010101" pitchFamily="2" charset="-122"/>
              </a:rPr>
              <a:t>ECB</a:t>
            </a:r>
            <a:r>
              <a:rPr lang="zh-CN" altLang="en-US">
                <a:solidFill>
                  <a:srgbClr val="1C1C1C"/>
                </a:solidFill>
                <a:latin typeface="宋体" panose="02010600030101010101" pitchFamily="2" charset="-122"/>
              </a:rPr>
              <a:t>模式的优点显而易见，实现起来比较简单，不同的明文分组的加密可并行实施，尤其是硬件实现时速度很快。缺点是在给定的密钥下，同一明文组总产生同样的密文组。这会暴露明文数据的格式和统计特征。明文数据都有固定的格式，需要以协议的形式定义，重要的数据常常在同一位置上出现，使密码分析者可以对其进行统计分析、重传和代换攻击</a:t>
            </a:r>
            <a:r>
              <a:rPr lang="zh-CN" altLang="zh-CN">
                <a:solidFill>
                  <a:srgbClr val="1C1C1C"/>
                </a:solidFill>
                <a:latin typeface="宋体" panose="02010600030101010101" pitchFamily="2" charset="-122"/>
              </a:rPr>
              <a:t>。</a:t>
            </a:r>
            <a:r>
              <a:rPr lang="zh-CN" altLang="en-US">
                <a:solidFill>
                  <a:srgbClr val="1C1C1C"/>
                </a:solidFill>
                <a:latin typeface="宋体" panose="02010600030101010101" pitchFamily="2" charset="-122"/>
              </a:rPr>
              <a:t>一般来说，</a:t>
            </a:r>
            <a:r>
              <a:rPr lang="en-US" altLang="zh-CN">
                <a:solidFill>
                  <a:srgbClr val="1C1C1C"/>
                </a:solidFill>
                <a:latin typeface="宋体" panose="02010600030101010101" pitchFamily="2" charset="-122"/>
              </a:rPr>
              <a:t>ECB</a:t>
            </a:r>
            <a:r>
              <a:rPr lang="zh-CN" altLang="en-US">
                <a:solidFill>
                  <a:srgbClr val="1C1C1C"/>
                </a:solidFill>
                <a:latin typeface="宋体" panose="02010600030101010101" pitchFamily="2" charset="-122"/>
              </a:rPr>
              <a:t>模式适用于加密短的消息，如随机数、会话密钥。</a:t>
            </a:r>
          </a:p>
          <a:p>
            <a:endParaRPr lang="zh-CN" altLang="en-US"/>
          </a:p>
        </p:txBody>
      </p:sp>
      <p:sp>
        <p:nvSpPr>
          <p:cNvPr id="237571" name="灯片编号占位符 3">
            <a:extLst>
              <a:ext uri="{FF2B5EF4-FFF2-40B4-BE49-F238E27FC236}">
                <a16:creationId xmlns:a16="http://schemas.microsoft.com/office/drawing/2014/main" id="{28DF0FC5-4E43-AF41-B035-F666360310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CBFDD72-919B-B64B-A7EE-1A27BB7457F4}" type="slidenum">
              <a:rPr lang="en-US" altLang="zh-CN"/>
              <a:pPr/>
              <a:t>89</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幻灯片图像占位符 1">
            <a:extLst>
              <a:ext uri="{FF2B5EF4-FFF2-40B4-BE49-F238E27FC236}">
                <a16:creationId xmlns:a16="http://schemas.microsoft.com/office/drawing/2014/main" id="{8087C38B-46F2-1540-ABE1-8529C348456F}"/>
              </a:ext>
            </a:extLst>
          </p:cNvPr>
          <p:cNvSpPr>
            <a:spLocks noGrp="1" noRot="1" noChangeAspect="1" noChangeArrowheads="1" noTextEdit="1"/>
          </p:cNvSpPr>
          <p:nvPr>
            <p:ph type="sldImg" idx="4294967295"/>
          </p:nvPr>
        </p:nvSpPr>
        <p:spPr>
          <a:ln/>
        </p:spPr>
      </p:sp>
      <p:sp>
        <p:nvSpPr>
          <p:cNvPr id="239618" name="备注占位符 2">
            <a:extLst>
              <a:ext uri="{FF2B5EF4-FFF2-40B4-BE49-F238E27FC236}">
                <a16:creationId xmlns:a16="http://schemas.microsoft.com/office/drawing/2014/main" id="{5CCF5787-F914-2544-B079-C6F46440041C}"/>
              </a:ext>
            </a:extLst>
          </p:cNvPr>
          <p:cNvSpPr>
            <a:spLocks noGrp="1" noChangeArrowheads="1"/>
          </p:cNvSpPr>
          <p:nvPr>
            <p:ph type="body" idx="4294967295"/>
          </p:nvPr>
        </p:nvSpPr>
        <p:spPr/>
        <p:txBody>
          <a:bodyPr/>
          <a:lstStyle/>
          <a:p>
            <a:r>
              <a:rPr lang="zh-CN" altLang="en-US"/>
              <a:t>我们来看一下，如果单纯使用电码本模式加密，可能会造成的攻击。</a:t>
            </a:r>
            <a:r>
              <a:rPr lang="zh-CN" altLang="en-US">
                <a:latin typeface="Times New Roman" panose="02020603050405020304" pitchFamily="18" charset="0"/>
              </a:rPr>
              <a:t>: 假设银行</a:t>
            </a:r>
            <a:r>
              <a:rPr lang="en-US" altLang="zh-CN">
                <a:latin typeface="Times New Roman" panose="02020603050405020304" pitchFamily="18" charset="0"/>
              </a:rPr>
              <a:t>A</a:t>
            </a:r>
            <a:r>
              <a:rPr lang="zh-CN" altLang="en-US">
                <a:latin typeface="Times New Roman" panose="02020603050405020304" pitchFamily="18" charset="0"/>
              </a:rPr>
              <a:t>和银行</a:t>
            </a:r>
            <a:r>
              <a:rPr lang="en-US" altLang="zh-CN">
                <a:latin typeface="Times New Roman" panose="02020603050405020304" pitchFamily="18" charset="0"/>
              </a:rPr>
              <a:t>B</a:t>
            </a:r>
            <a:r>
              <a:rPr lang="zh-CN" altLang="en-US">
                <a:latin typeface="Times New Roman" panose="02020603050405020304" pitchFamily="18" charset="0"/>
              </a:rPr>
              <a:t>之间的资金转帐系统所使用报文模式如下，敌手</a:t>
            </a:r>
            <a:r>
              <a:rPr lang="en-US" altLang="zh-CN">
                <a:latin typeface="Times New Roman" panose="02020603050405020304" pitchFamily="18" charset="0"/>
              </a:rPr>
              <a:t>C</a:t>
            </a:r>
            <a:r>
              <a:rPr lang="zh-CN" altLang="en-US">
                <a:latin typeface="Times New Roman" panose="02020603050405020304" pitchFamily="18" charset="0"/>
              </a:rPr>
              <a:t>通过截收从</a:t>
            </a:r>
            <a:r>
              <a:rPr lang="en-US" altLang="zh-CN">
                <a:latin typeface="Times New Roman" panose="02020603050405020304" pitchFamily="18" charset="0"/>
              </a:rPr>
              <a:t>A</a:t>
            </a:r>
            <a:r>
              <a:rPr lang="zh-CN" altLang="en-US">
                <a:latin typeface="Times New Roman" panose="02020603050405020304" pitchFamily="18" charset="0"/>
              </a:rPr>
              <a:t>到</a:t>
            </a:r>
            <a:r>
              <a:rPr lang="en-US" altLang="zh-CN">
                <a:latin typeface="Times New Roman" panose="02020603050405020304" pitchFamily="18" charset="0"/>
              </a:rPr>
              <a:t>B</a:t>
            </a:r>
            <a:r>
              <a:rPr lang="zh-CN" altLang="en-US">
                <a:latin typeface="Times New Roman" panose="02020603050405020304" pitchFamily="18" charset="0"/>
              </a:rPr>
              <a:t>的加密消息，只要将第</a:t>
            </a:r>
            <a:r>
              <a:rPr lang="zh-CN" altLang="zh-CN">
                <a:latin typeface="Times New Roman" panose="02020603050405020304" pitchFamily="18" charset="0"/>
              </a:rPr>
              <a:t>5</a:t>
            </a:r>
            <a:r>
              <a:rPr lang="zh-CN" altLang="en-US">
                <a:latin typeface="Times New Roman" panose="02020603050405020304" pitchFamily="18" charset="0"/>
              </a:rPr>
              <a:t>至第</a:t>
            </a:r>
            <a:r>
              <a:rPr lang="zh-CN" altLang="zh-CN">
                <a:latin typeface="Times New Roman" panose="02020603050405020304" pitchFamily="18" charset="0"/>
              </a:rPr>
              <a:t>12</a:t>
            </a:r>
            <a:r>
              <a:rPr lang="zh-CN" altLang="en-US">
                <a:latin typeface="Times New Roman" panose="02020603050405020304" pitchFamily="18" charset="0"/>
              </a:rPr>
              <a:t>分组替换为自己的姓名和帐号相对应的密文，即可将别人的存款存入自己的帐号。</a:t>
            </a:r>
          </a:p>
        </p:txBody>
      </p:sp>
      <p:sp>
        <p:nvSpPr>
          <p:cNvPr id="239619" name="灯片编号占位符 3">
            <a:extLst>
              <a:ext uri="{FF2B5EF4-FFF2-40B4-BE49-F238E27FC236}">
                <a16:creationId xmlns:a16="http://schemas.microsoft.com/office/drawing/2014/main" id="{68F71E8B-A23C-9548-BA1E-42D599EEB5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6219FB3-0CF4-D743-BE65-59AB343F7DDC}" type="slidenum">
              <a:rPr lang="en-US" altLang="zh-CN"/>
              <a:pPr/>
              <a:t>90</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幻灯片图像占位符 1">
            <a:extLst>
              <a:ext uri="{FF2B5EF4-FFF2-40B4-BE49-F238E27FC236}">
                <a16:creationId xmlns:a16="http://schemas.microsoft.com/office/drawing/2014/main" id="{E060343E-9E6D-B34F-84A7-3DABB6B0ED45}"/>
              </a:ext>
            </a:extLst>
          </p:cNvPr>
          <p:cNvSpPr>
            <a:spLocks noGrp="1" noRot="1" noChangeAspect="1" noChangeArrowheads="1" noTextEdit="1"/>
          </p:cNvSpPr>
          <p:nvPr>
            <p:ph type="sldImg" idx="4294967295"/>
          </p:nvPr>
        </p:nvSpPr>
        <p:spPr>
          <a:ln/>
        </p:spPr>
      </p:sp>
      <p:sp>
        <p:nvSpPr>
          <p:cNvPr id="241666" name="备注占位符 2">
            <a:extLst>
              <a:ext uri="{FF2B5EF4-FFF2-40B4-BE49-F238E27FC236}">
                <a16:creationId xmlns:a16="http://schemas.microsoft.com/office/drawing/2014/main" id="{CECBFB60-900D-9248-AF47-FFE238E71AD1}"/>
              </a:ext>
            </a:extLst>
          </p:cNvPr>
          <p:cNvSpPr>
            <a:spLocks noGrp="1" noChangeArrowheads="1"/>
          </p:cNvSpPr>
          <p:nvPr>
            <p:ph type="body" idx="4294967295"/>
          </p:nvPr>
        </p:nvSpPr>
        <p:spPr/>
        <p:txBody>
          <a:bodyPr/>
          <a:lstStyle/>
          <a:p>
            <a:r>
              <a:rPr lang="zh-CN" altLang="en-US"/>
              <a:t>这种模式先将明文分组与上一次的密文块进行按比特异或，然后再进行加密处理。这种模式必须选择一个初始向量</a:t>
            </a:r>
            <a:r>
              <a:rPr lang="en-US" altLang="zh-CN"/>
              <a:t>c</a:t>
            </a:r>
            <a:r>
              <a:rPr lang="en-US" altLang="zh-CN" baseline="-25000"/>
              <a:t>0</a:t>
            </a:r>
            <a:r>
              <a:rPr lang="en-US" altLang="zh-CN"/>
              <a:t>=IV</a:t>
            </a:r>
            <a:r>
              <a:rPr lang="zh-CN" altLang="en-US"/>
              <a:t>，用于加密第一块明文。</a:t>
            </a:r>
            <a:endParaRPr lang="en-US" altLang="zh-CN"/>
          </a:p>
          <a:p>
            <a:r>
              <a:rPr lang="zh-CN" altLang="en-US"/>
              <a:t>加密过程为。。。 解密过程为。。。</a:t>
            </a:r>
          </a:p>
        </p:txBody>
      </p:sp>
      <p:sp>
        <p:nvSpPr>
          <p:cNvPr id="241667" name="灯片编号占位符 3">
            <a:extLst>
              <a:ext uri="{FF2B5EF4-FFF2-40B4-BE49-F238E27FC236}">
                <a16:creationId xmlns:a16="http://schemas.microsoft.com/office/drawing/2014/main" id="{33133E9F-7284-D24B-B448-F471F489CB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37A2951-9768-3F4E-ADE2-3D34A6D860FC}" type="slidenum">
              <a:rPr lang="en-US" altLang="zh-CN"/>
              <a:pPr/>
              <a:t>91</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幻灯片图像占位符 1">
            <a:extLst>
              <a:ext uri="{FF2B5EF4-FFF2-40B4-BE49-F238E27FC236}">
                <a16:creationId xmlns:a16="http://schemas.microsoft.com/office/drawing/2014/main" id="{7E929980-0312-8149-9E27-ECB6E96281DB}"/>
              </a:ext>
            </a:extLst>
          </p:cNvPr>
          <p:cNvSpPr>
            <a:spLocks noGrp="1" noRot="1" noChangeAspect="1" noChangeArrowheads="1" noTextEdit="1"/>
          </p:cNvSpPr>
          <p:nvPr>
            <p:ph type="sldImg" idx="4294967295"/>
          </p:nvPr>
        </p:nvSpPr>
        <p:spPr>
          <a:ln/>
        </p:spPr>
      </p:sp>
      <p:sp>
        <p:nvSpPr>
          <p:cNvPr id="243714" name="备注占位符 2">
            <a:extLst>
              <a:ext uri="{FF2B5EF4-FFF2-40B4-BE49-F238E27FC236}">
                <a16:creationId xmlns:a16="http://schemas.microsoft.com/office/drawing/2014/main" id="{1A03E809-641E-9C4F-80D0-F4F66F2CC855}"/>
              </a:ext>
            </a:extLst>
          </p:cNvPr>
          <p:cNvSpPr>
            <a:spLocks noGrp="1" noChangeArrowheads="1"/>
          </p:cNvSpPr>
          <p:nvPr>
            <p:ph type="body" idx="4294967295"/>
          </p:nvPr>
        </p:nvSpPr>
        <p:spPr/>
        <p:txBody>
          <a:bodyPr/>
          <a:lstStyle/>
          <a:p>
            <a:r>
              <a:rPr lang="zh-CN" altLang="en-US"/>
              <a:t>从图片上更能直观的理解密码分组链接模式。加密时第一组明文与</a:t>
            </a:r>
            <a:r>
              <a:rPr lang="en-US" altLang="zh-CN"/>
              <a:t>IV</a:t>
            </a:r>
            <a:r>
              <a:rPr lang="zh-CN" altLang="en-US"/>
              <a:t>异或再用</a:t>
            </a:r>
            <a:r>
              <a:rPr lang="en-US" altLang="zh-CN"/>
              <a:t>DES</a:t>
            </a:r>
            <a:r>
              <a:rPr lang="zh-CN" altLang="en-US"/>
              <a:t>加密，第二组明文与第一组密文进行异或然后在加密，以此类推。解密时第一组密文解密出来的结果需要与</a:t>
            </a:r>
            <a:r>
              <a:rPr lang="en-US" altLang="zh-CN"/>
              <a:t>IV</a:t>
            </a:r>
            <a:r>
              <a:rPr lang="zh-CN" altLang="en-US"/>
              <a:t>进行异或得到相应的明文。同样，第二组密文解密后的结果需要与第一组密文进行异或得到相应的明文。看到这种解密方式，自然而然就会想，如果有一块密文分组在传输中发生了错误，会不会影响其他的分组解密？会影响多少个分组？这就是分组密码中所谓的错误传播。很显然，比如</a:t>
            </a:r>
            <a:r>
              <a:rPr lang="en-US" altLang="zh-CN"/>
              <a:t>C1</a:t>
            </a:r>
            <a:r>
              <a:rPr lang="zh-CN" altLang="en-US"/>
              <a:t>错了，</a:t>
            </a:r>
            <a:r>
              <a:rPr lang="en-US" altLang="zh-CN"/>
              <a:t>P1</a:t>
            </a:r>
            <a:r>
              <a:rPr lang="zh-CN" altLang="en-US"/>
              <a:t>自然是错的，而且</a:t>
            </a:r>
            <a:r>
              <a:rPr lang="en-US" altLang="zh-CN"/>
              <a:t>P2</a:t>
            </a:r>
            <a:r>
              <a:rPr lang="zh-CN" altLang="en-US"/>
              <a:t>也是错的，而由于</a:t>
            </a:r>
            <a:r>
              <a:rPr lang="en-US" altLang="zh-CN"/>
              <a:t>C2</a:t>
            </a:r>
            <a:r>
              <a:rPr lang="zh-CN" altLang="en-US"/>
              <a:t>没有出错，所以</a:t>
            </a:r>
            <a:r>
              <a:rPr lang="en-US" altLang="zh-CN"/>
              <a:t>P3</a:t>
            </a:r>
            <a:r>
              <a:rPr lang="zh-CN" altLang="en-US"/>
              <a:t>不会出错，也就是</a:t>
            </a:r>
            <a:r>
              <a:rPr lang="en-US" altLang="zh-CN"/>
              <a:t>CBC</a:t>
            </a:r>
            <a:r>
              <a:rPr lang="zh-CN" altLang="en-US"/>
              <a:t>模式的错误传播长度为</a:t>
            </a:r>
            <a:r>
              <a:rPr lang="en-US" altLang="zh-CN"/>
              <a:t>1</a:t>
            </a:r>
            <a:r>
              <a:rPr lang="zh-CN" altLang="en-US"/>
              <a:t>，也就是除了自身受影响外，最多只有一个分组受其影响。</a:t>
            </a:r>
          </a:p>
        </p:txBody>
      </p:sp>
      <p:sp>
        <p:nvSpPr>
          <p:cNvPr id="243715" name="灯片编号占位符 3">
            <a:extLst>
              <a:ext uri="{FF2B5EF4-FFF2-40B4-BE49-F238E27FC236}">
                <a16:creationId xmlns:a16="http://schemas.microsoft.com/office/drawing/2014/main" id="{172E51B2-F966-334D-870E-AF6E4009F2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EECDFF-5855-EF4D-A958-D8441FF0C2A8}" type="slidenum">
              <a:rPr lang="en-US" altLang="zh-CN"/>
              <a:pPr/>
              <a:t>92</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幻灯片图像占位符 1">
            <a:extLst>
              <a:ext uri="{FF2B5EF4-FFF2-40B4-BE49-F238E27FC236}">
                <a16:creationId xmlns:a16="http://schemas.microsoft.com/office/drawing/2014/main" id="{3C963144-58DE-ED49-930D-42F72D46B2C4}"/>
              </a:ext>
            </a:extLst>
          </p:cNvPr>
          <p:cNvSpPr>
            <a:spLocks noGrp="1" noRot="1" noChangeAspect="1" noChangeArrowheads="1" noTextEdit="1"/>
          </p:cNvSpPr>
          <p:nvPr>
            <p:ph type="sldImg" idx="4294967295"/>
          </p:nvPr>
        </p:nvSpPr>
        <p:spPr>
          <a:ln/>
        </p:spPr>
      </p:sp>
      <p:sp>
        <p:nvSpPr>
          <p:cNvPr id="245762" name="备注占位符 2">
            <a:extLst>
              <a:ext uri="{FF2B5EF4-FFF2-40B4-BE49-F238E27FC236}">
                <a16:creationId xmlns:a16="http://schemas.microsoft.com/office/drawing/2014/main" id="{C8746DB4-7913-6143-8CA9-7E3A1CAA9F56}"/>
              </a:ext>
            </a:extLst>
          </p:cNvPr>
          <p:cNvSpPr>
            <a:spLocks noGrp="1" noChangeArrowheads="1"/>
          </p:cNvSpPr>
          <p:nvPr>
            <p:ph type="body" idx="4294967295"/>
          </p:nvPr>
        </p:nvSpPr>
        <p:spPr/>
        <p:txBody>
          <a:bodyPr/>
          <a:lstStyle/>
          <a:p>
            <a:pPr>
              <a:lnSpc>
                <a:spcPct val="120000"/>
              </a:lnSpc>
              <a:spcBef>
                <a:spcPts val="600"/>
              </a:spcBef>
            </a:pPr>
            <a:r>
              <a:rPr lang="en-US" altLang="zh-CN"/>
              <a:t>CBC</a:t>
            </a:r>
            <a:r>
              <a:rPr lang="zh-CN" altLang="en-US"/>
              <a:t>模式有如下特点：</a:t>
            </a:r>
            <a:r>
              <a:rPr lang="en-US" altLang="zh-CN"/>
              <a:t>1.</a:t>
            </a:r>
            <a:r>
              <a:rPr lang="zh-CN" altLang="en-US" sz="2800">
                <a:latin typeface="宋体" panose="02010600030101010101" pitchFamily="2" charset="-122"/>
              </a:rPr>
              <a:t>明文块的统计特性得到了隐蔽。</a:t>
            </a:r>
            <a:r>
              <a:rPr lang="zh-CN" altLang="en-US" sz="2400">
                <a:latin typeface="宋体" panose="02010600030101010101" pitchFamily="2" charset="-122"/>
              </a:rPr>
              <a:t>由于在</a:t>
            </a:r>
            <a:r>
              <a:rPr lang="en-US" altLang="zh-CN" sz="2400">
                <a:latin typeface="宋体" panose="02010600030101010101" pitchFamily="2" charset="-122"/>
              </a:rPr>
              <a:t>CBC</a:t>
            </a:r>
            <a:r>
              <a:rPr lang="zh-CN" altLang="en-US" sz="2400">
                <a:latin typeface="宋体" panose="02010600030101010101" pitchFamily="2" charset="-122"/>
              </a:rPr>
              <a:t>模式中，各密文块不仅与当前明文块有关，而且还与以前的明文块及初始化向量有关，从而</a:t>
            </a:r>
            <a:r>
              <a:rPr lang="zh-CN" altLang="zh-CN" sz="2400">
                <a:latin typeface="宋体" panose="02010600030101010101" pitchFamily="2" charset="-122"/>
              </a:rPr>
              <a:t>使</a:t>
            </a:r>
            <a:r>
              <a:rPr lang="zh-CN" altLang="en-US" sz="2400">
                <a:latin typeface="宋体" panose="02010600030101010101" pitchFamily="2" charset="-122"/>
              </a:rPr>
              <a:t>明文的统计规律在密文中得到了较好的隐藏。</a:t>
            </a:r>
            <a:r>
              <a:rPr lang="zh-CN" altLang="zh-CN" sz="2800">
                <a:latin typeface="宋体" panose="02010600030101010101" pitchFamily="2" charset="-122"/>
              </a:rPr>
              <a:t>2. </a:t>
            </a:r>
            <a:r>
              <a:rPr lang="zh-CN" altLang="en-US" sz="2800">
                <a:latin typeface="宋体" panose="02010600030101010101" pitchFamily="2" charset="-122"/>
              </a:rPr>
              <a:t>具有有限的(两步)错误传播特性。</a:t>
            </a:r>
            <a:r>
              <a:rPr lang="zh-CN" altLang="en-US" sz="2400">
                <a:latin typeface="宋体" panose="02010600030101010101" pitchFamily="2" charset="-122"/>
              </a:rPr>
              <a:t>一个密文块的错误将导致两个密文块不能正确解密。</a:t>
            </a:r>
            <a:r>
              <a:rPr lang="zh-CN" altLang="zh-CN" sz="2800">
                <a:latin typeface="宋体" panose="02010600030101010101" pitchFamily="2" charset="-122"/>
              </a:rPr>
              <a:t>3. </a:t>
            </a:r>
            <a:r>
              <a:rPr lang="zh-CN" altLang="en-US" sz="2800">
                <a:latin typeface="宋体" panose="02010600030101010101" pitchFamily="2" charset="-122"/>
              </a:rPr>
              <a:t>具有自同步功能。</a:t>
            </a:r>
            <a:r>
              <a:rPr lang="zh-CN" altLang="en-US" sz="2400">
                <a:latin typeface="宋体" panose="02010600030101010101" pitchFamily="2" charset="-122"/>
              </a:rPr>
              <a:t>密文出现丢块和错块不影响后续密文块的解密.若从第</a:t>
            </a:r>
            <a:r>
              <a:rPr lang="zh-CN" altLang="zh-CN" sz="2400">
                <a:latin typeface="宋体" panose="02010600030101010101" pitchFamily="2" charset="-122"/>
              </a:rPr>
              <a:t>t块起</a:t>
            </a:r>
            <a:r>
              <a:rPr lang="zh-CN" altLang="en-US" sz="2400">
                <a:latin typeface="宋体" panose="02010600030101010101" pitchFamily="2" charset="-122"/>
              </a:rPr>
              <a:t>密文块正确,则第</a:t>
            </a:r>
            <a:r>
              <a:rPr lang="zh-CN" altLang="zh-CN" sz="2400">
                <a:latin typeface="宋体" panose="02010600030101010101" pitchFamily="2" charset="-122"/>
              </a:rPr>
              <a:t>t+1个明文块就能正确求出</a:t>
            </a:r>
            <a:r>
              <a:rPr lang="zh-CN" altLang="en-US" sz="2400">
                <a:latin typeface="宋体" panose="02010600030101010101" pitchFamily="2" charset="-122"/>
              </a:rPr>
              <a:t>。</a:t>
            </a:r>
            <a:endParaRPr lang="zh-CN" altLang="en-US"/>
          </a:p>
        </p:txBody>
      </p:sp>
      <p:sp>
        <p:nvSpPr>
          <p:cNvPr id="245763" name="灯片编号占位符 3">
            <a:extLst>
              <a:ext uri="{FF2B5EF4-FFF2-40B4-BE49-F238E27FC236}">
                <a16:creationId xmlns:a16="http://schemas.microsoft.com/office/drawing/2014/main" id="{7CAA12E2-310A-C94A-A369-54C6E366E7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0B99EF0-B3CA-4342-A55C-EDF0BE76EBD4}" type="slidenum">
              <a:rPr lang="en-US" altLang="zh-CN"/>
              <a:pPr/>
              <a:t>93</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幻灯片图像占位符 1">
            <a:extLst>
              <a:ext uri="{FF2B5EF4-FFF2-40B4-BE49-F238E27FC236}">
                <a16:creationId xmlns:a16="http://schemas.microsoft.com/office/drawing/2014/main" id="{23861E4D-D1F1-8C42-A561-38007DB46AF2}"/>
              </a:ext>
            </a:extLst>
          </p:cNvPr>
          <p:cNvSpPr>
            <a:spLocks noGrp="1" noRot="1" noChangeAspect="1" noChangeArrowheads="1" noTextEdit="1"/>
          </p:cNvSpPr>
          <p:nvPr>
            <p:ph type="sldImg" idx="4294967295"/>
          </p:nvPr>
        </p:nvSpPr>
        <p:spPr>
          <a:ln/>
        </p:spPr>
      </p:sp>
      <p:sp>
        <p:nvSpPr>
          <p:cNvPr id="247810" name="备注占位符 2">
            <a:extLst>
              <a:ext uri="{FF2B5EF4-FFF2-40B4-BE49-F238E27FC236}">
                <a16:creationId xmlns:a16="http://schemas.microsoft.com/office/drawing/2014/main" id="{BD6509C8-E7E7-474A-9983-EC9984A4212E}"/>
              </a:ext>
            </a:extLst>
          </p:cNvPr>
          <p:cNvSpPr>
            <a:spLocks noGrp="1" noChangeArrowheads="1"/>
          </p:cNvSpPr>
          <p:nvPr>
            <p:ph type="body" idx="4294967295"/>
          </p:nvPr>
        </p:nvSpPr>
        <p:spPr/>
        <p:txBody>
          <a:bodyPr/>
          <a:lstStyle/>
          <a:p>
            <a:pPr eaLnBrk="1" hangingPunct="1">
              <a:lnSpc>
                <a:spcPct val="120000"/>
              </a:lnSpc>
            </a:pPr>
            <a:r>
              <a:rPr lang="en-US" altLang="zh-CN" b="1">
                <a:latin typeface="Times New Roman" panose="02020603050405020304" pitchFamily="18" charset="0"/>
              </a:rPr>
              <a:t>CBC</a:t>
            </a:r>
            <a:r>
              <a:rPr lang="zh-CN" altLang="en-US" b="1">
                <a:latin typeface="Times New Roman" panose="02020603050405020304" pitchFamily="18" charset="0"/>
              </a:rPr>
              <a:t>模式不仅能应用于加密，还可用于完整性认证。完整性认证的目的是</a:t>
            </a:r>
            <a:r>
              <a:rPr lang="zh-CN" altLang="en-US">
                <a:latin typeface="Times New Roman" panose="02020603050405020304" pitchFamily="18" charset="0"/>
              </a:rPr>
              <a:t>检查文件在(直接或加密)传输和存储中是否遭到有意或无意的篡改. 要实现完整性认证，这里需要</a:t>
            </a:r>
            <a:r>
              <a:rPr lang="en-US" altLang="zh-CN">
                <a:latin typeface="Times New Roman" panose="02020603050405020304" pitchFamily="18" charset="0"/>
              </a:rPr>
              <a:t>1</a:t>
            </a:r>
            <a:r>
              <a:rPr lang="zh-CN" altLang="en-US">
                <a:latin typeface="Times New Roman" panose="02020603050405020304" pitchFamily="18" charset="0"/>
              </a:rPr>
              <a:t>) 文件的制造者和检验者共享一个密钥；(2) 文件的明文必须具有检验者预先知道的冗余度；(3) 文件的制造者用共享密钥对具有约定冗余度的明文用</a:t>
            </a:r>
            <a:r>
              <a:rPr lang="en-US" altLang="zh-CN">
                <a:latin typeface="Times New Roman" panose="02020603050405020304" pitchFamily="18" charset="0"/>
              </a:rPr>
              <a:t>CBC</a:t>
            </a:r>
            <a:r>
              <a:rPr lang="zh-CN" altLang="en-US">
                <a:latin typeface="Times New Roman" panose="02020603050405020304" pitchFamily="18" charset="0"/>
              </a:rPr>
              <a:t>模式加密；(4) 文件的检验者用共享密钥对密文解密，并检验约定冗余度是否正确   </a:t>
            </a:r>
          </a:p>
          <a:p>
            <a:pPr eaLnBrk="1" hangingPunct="1">
              <a:lnSpc>
                <a:spcPct val="120000"/>
              </a:lnSpc>
            </a:pPr>
            <a:endParaRPr lang="zh-CN" altLang="en-US">
              <a:latin typeface="Times New Roman" panose="02020603050405020304" pitchFamily="18" charset="0"/>
            </a:endParaRPr>
          </a:p>
          <a:p>
            <a:pPr eaLnBrk="1" hangingPunct="1">
              <a:lnSpc>
                <a:spcPct val="120000"/>
              </a:lnSpc>
            </a:pPr>
            <a:endParaRPr lang="zh-CN" altLang="en-US"/>
          </a:p>
        </p:txBody>
      </p:sp>
      <p:sp>
        <p:nvSpPr>
          <p:cNvPr id="247811" name="灯片编号占位符 3">
            <a:extLst>
              <a:ext uri="{FF2B5EF4-FFF2-40B4-BE49-F238E27FC236}">
                <a16:creationId xmlns:a16="http://schemas.microsoft.com/office/drawing/2014/main" id="{B8F61A98-C4CE-414E-A232-75BDEF06EA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C01DCED-7CB7-7F47-9ACB-1CCB0EBB8C0E}" type="slidenum">
              <a:rPr lang="en-US" altLang="zh-CN"/>
              <a:pPr/>
              <a:t>94</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幻灯片图像占位符 1">
            <a:extLst>
              <a:ext uri="{FF2B5EF4-FFF2-40B4-BE49-F238E27FC236}">
                <a16:creationId xmlns:a16="http://schemas.microsoft.com/office/drawing/2014/main" id="{8BF1589F-E1D5-8C44-B5DA-EBDB82827EB6}"/>
              </a:ext>
            </a:extLst>
          </p:cNvPr>
          <p:cNvSpPr>
            <a:spLocks noGrp="1" noRot="1" noChangeAspect="1" noChangeArrowheads="1" noTextEdit="1"/>
          </p:cNvSpPr>
          <p:nvPr>
            <p:ph type="sldImg" idx="4294967295"/>
          </p:nvPr>
        </p:nvSpPr>
        <p:spPr>
          <a:ln/>
        </p:spPr>
      </p:sp>
      <p:sp>
        <p:nvSpPr>
          <p:cNvPr id="249858" name="备注占位符 2">
            <a:extLst>
              <a:ext uri="{FF2B5EF4-FFF2-40B4-BE49-F238E27FC236}">
                <a16:creationId xmlns:a16="http://schemas.microsoft.com/office/drawing/2014/main" id="{7CE8CD34-4749-9448-80BC-EE059D90201C}"/>
              </a:ext>
            </a:extLst>
          </p:cNvPr>
          <p:cNvSpPr>
            <a:spLocks noGrp="1" noChangeArrowheads="1"/>
          </p:cNvSpPr>
          <p:nvPr>
            <p:ph type="body" idx="4294967295"/>
          </p:nvPr>
        </p:nvSpPr>
        <p:spPr/>
        <p:txBody>
          <a:bodyPr/>
          <a:lstStyle/>
          <a:p>
            <a:r>
              <a:rPr lang="zh-CN" altLang="en-US"/>
              <a:t>具体是现实：首先文件的制造者与检验者共享一个密钥；然后</a:t>
            </a:r>
            <a:r>
              <a:rPr lang="zh-CN" altLang="en-US">
                <a:latin typeface="Times New Roman" panose="02020603050405020304" pitchFamily="18" charset="0"/>
              </a:rPr>
              <a:t>利用文件的明文</a:t>
            </a:r>
            <a:r>
              <a:rPr lang="en-US" altLang="zh-CN">
                <a:latin typeface="Times New Roman" panose="02020603050405020304" pitchFamily="18" charset="0"/>
              </a:rPr>
              <a:t>m</a:t>
            </a:r>
            <a:r>
              <a:rPr lang="zh-CN" altLang="en-US">
                <a:latin typeface="Times New Roman" panose="02020603050405020304" pitchFamily="18" charset="0"/>
              </a:rPr>
              <a:t>产生一个奇偶校验码</a:t>
            </a:r>
            <a:r>
              <a:rPr lang="en-US" altLang="zh-CN">
                <a:latin typeface="Times New Roman" panose="02020603050405020304" pitchFamily="18" charset="0"/>
              </a:rPr>
              <a:t>r</a:t>
            </a:r>
            <a:r>
              <a:rPr lang="zh-CN" altLang="en-US">
                <a:latin typeface="Times New Roman" panose="02020603050405020304" pitchFamily="18" charset="0"/>
              </a:rPr>
              <a:t>的分组，采用分组密码的</a:t>
            </a:r>
            <a:r>
              <a:rPr lang="en-US" altLang="zh-CN">
                <a:latin typeface="Times New Roman" panose="02020603050405020304" pitchFamily="18" charset="0"/>
              </a:rPr>
              <a:t>CBC</a:t>
            </a:r>
            <a:r>
              <a:rPr lang="zh-CN" altLang="en-US">
                <a:latin typeface="Times New Roman" panose="02020603050405020304" pitchFamily="18" charset="0"/>
              </a:rPr>
              <a:t>模式，对附带校验码的已扩充的明文(</a:t>
            </a:r>
            <a:r>
              <a:rPr lang="en-US" altLang="zh-CN">
                <a:latin typeface="Times New Roman" panose="02020603050405020304" pitchFamily="18" charset="0"/>
              </a:rPr>
              <a:t>m, r)</a:t>
            </a:r>
            <a:r>
              <a:rPr lang="zh-CN" altLang="zh-CN">
                <a:latin typeface="Times New Roman" panose="02020603050405020304" pitchFamily="18" charset="0"/>
              </a:rPr>
              <a:t>进行加密，得到的最后一个密文分组就是认证码</a:t>
            </a:r>
            <a:r>
              <a:rPr lang="zh-CN" altLang="en-US">
                <a:latin typeface="Times New Roman" panose="02020603050405020304" pitchFamily="18" charset="0"/>
              </a:rPr>
              <a:t>。</a:t>
            </a:r>
            <a:endParaRPr lang="zh-CN" altLang="en-US"/>
          </a:p>
        </p:txBody>
      </p:sp>
      <p:sp>
        <p:nvSpPr>
          <p:cNvPr id="249859" name="灯片编号占位符 3">
            <a:extLst>
              <a:ext uri="{FF2B5EF4-FFF2-40B4-BE49-F238E27FC236}">
                <a16:creationId xmlns:a16="http://schemas.microsoft.com/office/drawing/2014/main" id="{A6DC9077-E716-AA4F-A4E1-CD338AE1A5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521F1A-358F-9144-A2CF-7669068E3808}" type="slidenum">
              <a:rPr lang="en-US" altLang="zh-CN"/>
              <a:pPr/>
              <a:t>95</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幻灯片图像占位符 1">
            <a:extLst>
              <a:ext uri="{FF2B5EF4-FFF2-40B4-BE49-F238E27FC236}">
                <a16:creationId xmlns:a16="http://schemas.microsoft.com/office/drawing/2014/main" id="{A5B0BAC7-B06A-E044-AA8E-BCDE049DD7AE}"/>
              </a:ext>
            </a:extLst>
          </p:cNvPr>
          <p:cNvSpPr>
            <a:spLocks noGrp="1" noRot="1" noChangeAspect="1" noChangeArrowheads="1" noTextEdit="1"/>
          </p:cNvSpPr>
          <p:nvPr>
            <p:ph type="sldImg" idx="4294967295"/>
          </p:nvPr>
        </p:nvSpPr>
        <p:spPr>
          <a:ln/>
        </p:spPr>
      </p:sp>
      <p:sp>
        <p:nvSpPr>
          <p:cNvPr id="251906" name="备注占位符 2">
            <a:extLst>
              <a:ext uri="{FF2B5EF4-FFF2-40B4-BE49-F238E27FC236}">
                <a16:creationId xmlns:a16="http://schemas.microsoft.com/office/drawing/2014/main" id="{A8C2C066-200D-5243-8B43-A84615DDF9A8}"/>
              </a:ext>
            </a:extLst>
          </p:cNvPr>
          <p:cNvSpPr>
            <a:spLocks noGrp="1" noChangeArrowheads="1"/>
          </p:cNvSpPr>
          <p:nvPr>
            <p:ph type="body" idx="4294967295"/>
          </p:nvPr>
        </p:nvSpPr>
        <p:spPr/>
        <p:txBody>
          <a:bodyPr/>
          <a:lstStyle/>
          <a:p>
            <a:r>
              <a:rPr lang="zh-CN" altLang="en-US"/>
              <a:t>具体流程如图所示。首先将明文分组，计算奇偶校验码，然后开始利用</a:t>
            </a:r>
            <a:r>
              <a:rPr lang="en-US" altLang="zh-CN"/>
              <a:t>CBC</a:t>
            </a:r>
            <a:r>
              <a:rPr lang="zh-CN" altLang="en-US"/>
              <a:t>模式加密明文和其校验码，最后得到的</a:t>
            </a:r>
            <a:r>
              <a:rPr lang="en-US" altLang="zh-CN"/>
              <a:t>Cn+1</a:t>
            </a:r>
            <a:r>
              <a:rPr lang="zh-CN" altLang="en-US"/>
              <a:t>就是认证码。如果仅需对明文认证</a:t>
            </a:r>
            <a:r>
              <a:rPr lang="en-US" altLang="zh-CN"/>
              <a:t>,</a:t>
            </a:r>
            <a:r>
              <a:rPr lang="zh-CN" altLang="en-US"/>
              <a:t>而不需加密时</a:t>
            </a:r>
            <a:r>
              <a:rPr lang="en-US" altLang="zh-CN"/>
              <a:t>, </a:t>
            </a:r>
            <a:r>
              <a:rPr lang="zh-CN" altLang="en-US"/>
              <a:t>则传送明文</a:t>
            </a:r>
            <a:r>
              <a:rPr lang="en-US" altLang="zh-CN"/>
              <a:t>m</a:t>
            </a:r>
            <a:r>
              <a:rPr lang="zh-CN" altLang="en-US"/>
              <a:t>和认证码</a:t>
            </a:r>
            <a:r>
              <a:rPr lang="en-US" altLang="zh-CN"/>
              <a:t>Cn+1</a:t>
            </a:r>
            <a:r>
              <a:rPr lang="zh-CN" altLang="en-US"/>
              <a:t>，此时也可仅保留</a:t>
            </a:r>
            <a:r>
              <a:rPr lang="en-US" altLang="zh-CN"/>
              <a:t>Cn+1</a:t>
            </a:r>
            <a:r>
              <a:rPr lang="zh-CN" altLang="en-US"/>
              <a:t>的 </a:t>
            </a:r>
            <a:r>
              <a:rPr lang="en-US" altLang="zh-CN"/>
              <a:t>t </a:t>
            </a:r>
            <a:r>
              <a:rPr lang="zh-CN" altLang="en-US"/>
              <a:t>个比特作为认证码；当既需对明文认证</a:t>
            </a:r>
            <a:r>
              <a:rPr lang="en-US" altLang="zh-CN"/>
              <a:t>,</a:t>
            </a:r>
            <a:r>
              <a:rPr lang="zh-CN" altLang="en-US"/>
              <a:t>又需要加密时</a:t>
            </a:r>
            <a:r>
              <a:rPr lang="en-US" altLang="zh-CN"/>
              <a:t>,</a:t>
            </a:r>
            <a:r>
              <a:rPr lang="zh-CN" altLang="en-US"/>
              <a:t>传送密文</a:t>
            </a:r>
            <a:r>
              <a:rPr lang="en-US" altLang="zh-CN"/>
              <a:t>C</a:t>
            </a:r>
            <a:r>
              <a:rPr lang="zh-CN" altLang="en-US"/>
              <a:t>和认证码</a:t>
            </a:r>
            <a:r>
              <a:rPr lang="en-US" altLang="zh-CN"/>
              <a:t>Cn+1</a:t>
            </a:r>
          </a:p>
          <a:p>
            <a:endParaRPr lang="zh-CN" altLang="en-US"/>
          </a:p>
        </p:txBody>
      </p:sp>
      <p:sp>
        <p:nvSpPr>
          <p:cNvPr id="251907" name="灯片编号占位符 3">
            <a:extLst>
              <a:ext uri="{FF2B5EF4-FFF2-40B4-BE49-F238E27FC236}">
                <a16:creationId xmlns:a16="http://schemas.microsoft.com/office/drawing/2014/main" id="{F58A4955-0B84-F445-947D-C522EEA3B9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49AD538-8CA6-B743-B72D-D9A62EFBB876}" type="slidenum">
              <a:rPr lang="en-US" altLang="zh-CN"/>
              <a:pPr/>
              <a:t>96</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幻灯片图像占位符 1">
            <a:extLst>
              <a:ext uri="{FF2B5EF4-FFF2-40B4-BE49-F238E27FC236}">
                <a16:creationId xmlns:a16="http://schemas.microsoft.com/office/drawing/2014/main" id="{5172E9B6-E2F3-CC4C-835D-13392AAB5EAE}"/>
              </a:ext>
            </a:extLst>
          </p:cNvPr>
          <p:cNvSpPr>
            <a:spLocks noGrp="1" noRot="1" noChangeAspect="1" noChangeArrowheads="1" noTextEdit="1"/>
          </p:cNvSpPr>
          <p:nvPr>
            <p:ph type="sldImg" idx="4294967295"/>
          </p:nvPr>
        </p:nvSpPr>
        <p:spPr>
          <a:ln/>
        </p:spPr>
      </p:sp>
      <p:sp>
        <p:nvSpPr>
          <p:cNvPr id="253954" name="备注占位符 2">
            <a:extLst>
              <a:ext uri="{FF2B5EF4-FFF2-40B4-BE49-F238E27FC236}">
                <a16:creationId xmlns:a16="http://schemas.microsoft.com/office/drawing/2014/main" id="{ECE13EA2-F9D4-2545-BC5A-3ED1774FF8EE}"/>
              </a:ext>
            </a:extLst>
          </p:cNvPr>
          <p:cNvSpPr>
            <a:spLocks noGrp="1" noChangeArrowheads="1"/>
          </p:cNvSpPr>
          <p:nvPr>
            <p:ph type="body" idx="4294967295"/>
          </p:nvPr>
        </p:nvSpPr>
        <p:spPr/>
        <p:txBody>
          <a:bodyPr/>
          <a:lstStyle/>
          <a:p>
            <a:r>
              <a:rPr lang="zh-CN" altLang="en-US"/>
              <a:t>当仅需对明文认证而不需加密时</a:t>
            </a:r>
            <a:r>
              <a:rPr lang="en-US" altLang="zh-CN"/>
              <a:t>,</a:t>
            </a:r>
            <a:r>
              <a:rPr lang="zh-CN" altLang="en-US"/>
              <a:t>此时验证者仅收到明文</a:t>
            </a:r>
            <a:r>
              <a:rPr lang="en-US" altLang="zh-CN"/>
              <a:t>m</a:t>
            </a:r>
            <a:r>
              <a:rPr lang="zh-CN" altLang="en-US"/>
              <a:t>和认证码</a:t>
            </a:r>
            <a:r>
              <a:rPr lang="en-US" altLang="zh-CN"/>
              <a:t>Cn+1</a:t>
            </a:r>
            <a:r>
              <a:rPr lang="zh-CN" altLang="en-US"/>
              <a:t>，他需要：首先产生明文</a:t>
            </a:r>
            <a:r>
              <a:rPr lang="en-US" altLang="zh-CN"/>
              <a:t>m</a:t>
            </a:r>
            <a:r>
              <a:rPr lang="zh-CN" altLang="en-US"/>
              <a:t>的校验码</a:t>
            </a:r>
            <a:r>
              <a:rPr lang="en-US" altLang="zh-CN"/>
              <a:t>r</a:t>
            </a:r>
            <a:r>
              <a:rPr lang="zh-CN" altLang="en-US"/>
              <a:t>，然后利用共享密钥使用</a:t>
            </a:r>
            <a:r>
              <a:rPr lang="en-US" altLang="zh-CN"/>
              <a:t>CBC</a:t>
            </a:r>
            <a:r>
              <a:rPr lang="zh-CN" altLang="en-US"/>
              <a:t>模式对</a:t>
            </a:r>
            <a:r>
              <a:rPr lang="en-US" altLang="zh-CN"/>
              <a:t>(m,r)</a:t>
            </a:r>
            <a:r>
              <a:rPr lang="zh-CN" altLang="en-US"/>
              <a:t>加密，将得到的最后一个密文分组与接收到的认证码</a:t>
            </a:r>
            <a:r>
              <a:rPr lang="en-US" altLang="zh-CN"/>
              <a:t>Cn+1</a:t>
            </a:r>
            <a:r>
              <a:rPr lang="zh-CN" altLang="en-US"/>
              <a:t>比较，二者一致时判定接收的明文无错；二者不一致时判定明文出错。当既需对明文认证</a:t>
            </a:r>
            <a:r>
              <a:rPr lang="en-US" altLang="zh-CN"/>
              <a:t>,</a:t>
            </a:r>
            <a:r>
              <a:rPr lang="zh-CN" altLang="en-US"/>
              <a:t>又需要加密时，他首先利用共享密钥解密密文</a:t>
            </a:r>
            <a:r>
              <a:rPr lang="en-US" altLang="zh-CN"/>
              <a:t>C</a:t>
            </a:r>
            <a:r>
              <a:rPr lang="zh-CN" altLang="en-US"/>
              <a:t>得到明文，然后再计算明文的校验码，最后用</a:t>
            </a:r>
            <a:r>
              <a:rPr lang="en-US" altLang="zh-CN"/>
              <a:t>CBC</a:t>
            </a:r>
            <a:r>
              <a:rPr lang="zh-CN" altLang="en-US"/>
              <a:t>模式对对</a:t>
            </a:r>
            <a:r>
              <a:rPr lang="en-US" altLang="zh-CN"/>
              <a:t>(m,r)</a:t>
            </a:r>
            <a:r>
              <a:rPr lang="zh-CN" altLang="en-US"/>
              <a:t>加密，将得到的最后一个密文分组与接收到的认证码</a:t>
            </a:r>
            <a:r>
              <a:rPr lang="en-US" altLang="zh-CN"/>
              <a:t>Cn+1</a:t>
            </a:r>
            <a:r>
              <a:rPr lang="zh-CN" altLang="en-US"/>
              <a:t>比较，二者一致时判定接收的明文无错；二者不一致时判定明文出错。这样就能判定在传输过程中完整性是否被破坏。</a:t>
            </a:r>
          </a:p>
          <a:p>
            <a:r>
              <a:rPr lang="en-US" altLang="zh-CN"/>
              <a:t>MAC</a:t>
            </a:r>
            <a:endParaRPr lang="zh-CN" altLang="en-US"/>
          </a:p>
        </p:txBody>
      </p:sp>
      <p:sp>
        <p:nvSpPr>
          <p:cNvPr id="253955" name="灯片编号占位符 3">
            <a:extLst>
              <a:ext uri="{FF2B5EF4-FFF2-40B4-BE49-F238E27FC236}">
                <a16:creationId xmlns:a16="http://schemas.microsoft.com/office/drawing/2014/main" id="{CD9FC488-8062-6F48-807B-136468AD2F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B5B5D11-2F44-0841-A6E4-AAB5D7A1E103}" type="slidenum">
              <a:rPr lang="en-US" altLang="zh-CN"/>
              <a:pPr/>
              <a:t>97</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幻灯片图像占位符 1">
            <a:extLst>
              <a:ext uri="{FF2B5EF4-FFF2-40B4-BE49-F238E27FC236}">
                <a16:creationId xmlns:a16="http://schemas.microsoft.com/office/drawing/2014/main" id="{8CAAE0E2-366A-D640-893E-44D5CF259FF8}"/>
              </a:ext>
            </a:extLst>
          </p:cNvPr>
          <p:cNvSpPr>
            <a:spLocks noGrp="1" noRot="1" noChangeAspect="1" noChangeArrowheads="1" noTextEdit="1"/>
          </p:cNvSpPr>
          <p:nvPr>
            <p:ph type="sldImg" idx="4294967295"/>
          </p:nvPr>
        </p:nvSpPr>
        <p:spPr>
          <a:ln/>
        </p:spPr>
      </p:sp>
      <p:sp>
        <p:nvSpPr>
          <p:cNvPr id="256002" name="备注占位符 2">
            <a:extLst>
              <a:ext uri="{FF2B5EF4-FFF2-40B4-BE49-F238E27FC236}">
                <a16:creationId xmlns:a16="http://schemas.microsoft.com/office/drawing/2014/main" id="{7EEC64A5-F444-EE46-A95C-FAAF9F71606C}"/>
              </a:ext>
            </a:extLst>
          </p:cNvPr>
          <p:cNvSpPr>
            <a:spLocks noGrp="1" noChangeArrowheads="1"/>
          </p:cNvSpPr>
          <p:nvPr>
            <p:ph type="body" idx="4294967295"/>
          </p:nvPr>
        </p:nvSpPr>
        <p:spPr/>
        <p:txBody>
          <a:bodyPr/>
          <a:lstStyle/>
          <a:p>
            <a:pPr eaLnBrk="1" hangingPunct="1">
              <a:lnSpc>
                <a:spcPct val="125000"/>
              </a:lnSpc>
              <a:spcBef>
                <a:spcPct val="0"/>
              </a:spcBef>
            </a:pPr>
            <a:r>
              <a:rPr lang="zh-CN" altLang="en-US"/>
              <a:t>第一个解决办法是密码反馈模式</a:t>
            </a:r>
            <a:r>
              <a:rPr lang="en-US" altLang="zh-CN"/>
              <a:t>CFB</a:t>
            </a:r>
            <a:r>
              <a:rPr lang="zh-CN" altLang="en-US"/>
              <a:t>。</a:t>
            </a:r>
            <a:r>
              <a:rPr lang="zh-CN" altLang="en-US" sz="2800">
                <a:latin typeface="宋体" panose="02010600030101010101" pitchFamily="2" charset="-122"/>
              </a:rPr>
              <a:t>若待加密消息需按字符、字节或比特处理时，可采用</a:t>
            </a:r>
            <a:r>
              <a:rPr lang="en-US" altLang="zh-CN" sz="2800">
                <a:latin typeface="Times New Roman" panose="02020603050405020304" pitchFamily="18" charset="0"/>
              </a:rPr>
              <a:t>CFB</a:t>
            </a:r>
            <a:r>
              <a:rPr lang="zh-CN" altLang="en-US" sz="2800">
                <a:latin typeface="Times New Roman" panose="02020603050405020304" pitchFamily="18" charset="0"/>
              </a:rPr>
              <a:t>模式。并称</a:t>
            </a:r>
            <a:r>
              <a:rPr lang="zh-CN" altLang="en-US" sz="2800">
                <a:latin typeface="宋体" panose="02010600030101010101" pitchFamily="2" charset="-122"/>
              </a:rPr>
              <a:t>待加密消息按 </a:t>
            </a:r>
            <a:r>
              <a:rPr lang="en-US" altLang="zh-CN" sz="2800" i="1">
                <a:latin typeface="Times New Roman" panose="02020603050405020304" pitchFamily="18" charset="0"/>
              </a:rPr>
              <a:t>r </a:t>
            </a:r>
            <a:r>
              <a:rPr lang="zh-CN" altLang="en-US" sz="2800">
                <a:latin typeface="宋体" panose="02010600030101010101" pitchFamily="2" charset="-122"/>
              </a:rPr>
              <a:t>比特处理的</a:t>
            </a:r>
            <a:r>
              <a:rPr lang="en-US" altLang="zh-CN" sz="2800">
                <a:latin typeface="Times New Roman" panose="02020603050405020304" pitchFamily="18" charset="0"/>
              </a:rPr>
              <a:t>CFB</a:t>
            </a:r>
            <a:r>
              <a:rPr lang="zh-CN" altLang="en-US" sz="2800">
                <a:latin typeface="Times New Roman" panose="02020603050405020304" pitchFamily="18" charset="0"/>
              </a:rPr>
              <a:t>模式为 </a:t>
            </a:r>
            <a:r>
              <a:rPr lang="en-US" altLang="zh-CN" sz="2800" i="1">
                <a:latin typeface="Times New Roman" panose="02020603050405020304" pitchFamily="18" charset="0"/>
              </a:rPr>
              <a:t>r </a:t>
            </a:r>
            <a:r>
              <a:rPr lang="zh-CN" altLang="en-US" sz="2800">
                <a:latin typeface="宋体" panose="02010600030101010101" pitchFamily="2" charset="-122"/>
              </a:rPr>
              <a:t>比特</a:t>
            </a:r>
            <a:r>
              <a:rPr lang="en-US" altLang="zh-CN" sz="2800">
                <a:latin typeface="宋体" panose="02010600030101010101" pitchFamily="2" charset="-122"/>
              </a:rPr>
              <a:t>CFB</a:t>
            </a:r>
            <a:r>
              <a:rPr lang="zh-CN" altLang="en-US" sz="2800">
                <a:latin typeface="Times New Roman" panose="02020603050405020304" pitchFamily="18" charset="0"/>
              </a:rPr>
              <a:t>模式。</a:t>
            </a:r>
          </a:p>
          <a:p>
            <a:pPr eaLnBrk="1" hangingPunct="1">
              <a:lnSpc>
                <a:spcPct val="125000"/>
              </a:lnSpc>
              <a:spcBef>
                <a:spcPct val="0"/>
              </a:spcBef>
            </a:pPr>
            <a:r>
              <a:rPr lang="zh-CN" altLang="en-US" sz="2800">
                <a:latin typeface="Times New Roman" panose="02020603050405020304" pitchFamily="18" charset="0"/>
              </a:rPr>
              <a:t>适用范围:</a:t>
            </a:r>
            <a:r>
              <a:rPr lang="zh-CN" altLang="en-US" sz="2400">
                <a:latin typeface="Times New Roman" panose="02020603050405020304" pitchFamily="18" charset="0"/>
              </a:rPr>
              <a:t>适用于每次处理 </a:t>
            </a:r>
            <a:r>
              <a:rPr lang="en-US" altLang="zh-CN" sz="2400" i="1">
                <a:latin typeface="Times New Roman" panose="02020603050405020304" pitchFamily="18" charset="0"/>
              </a:rPr>
              <a:t>r</a:t>
            </a:r>
            <a:r>
              <a:rPr lang="zh-CN" altLang="zh-CN" sz="2400">
                <a:latin typeface="Times New Roman" panose="02020603050405020304" pitchFamily="18" charset="0"/>
              </a:rPr>
              <a:t>比特明文块的特定需求的加密情形,能灵活适应数据各格式的需要</a:t>
            </a:r>
            <a:r>
              <a:rPr lang="zh-CN" altLang="en-US" sz="2400">
                <a:latin typeface="Times New Roman" panose="02020603050405020304" pitchFamily="18" charset="0"/>
              </a:rPr>
              <a:t>。</a:t>
            </a:r>
            <a:r>
              <a:rPr lang="zh-CN" altLang="zh-CN" sz="2400">
                <a:latin typeface="Times New Roman" panose="02020603050405020304" pitchFamily="18" charset="0"/>
              </a:rPr>
              <a:t>例如,数据库加密要求加密时不能改变明文的字节长度,这时就要以明文字节为单位进行加密</a:t>
            </a:r>
          </a:p>
          <a:p>
            <a:endParaRPr lang="zh-CN" altLang="en-US"/>
          </a:p>
        </p:txBody>
      </p:sp>
      <p:sp>
        <p:nvSpPr>
          <p:cNvPr id="256003" name="灯片编号占位符 3">
            <a:extLst>
              <a:ext uri="{FF2B5EF4-FFF2-40B4-BE49-F238E27FC236}">
                <a16:creationId xmlns:a16="http://schemas.microsoft.com/office/drawing/2014/main" id="{C626B8A2-06CD-4646-87FA-9BB0B91DAC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96ED336-7AEC-8D45-BB3C-D4D7188BCA06}" type="slidenum">
              <a:rPr lang="en-US" altLang="zh-CN"/>
              <a:pPr/>
              <a:t>98</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幻灯片图像占位符 1">
            <a:extLst>
              <a:ext uri="{FF2B5EF4-FFF2-40B4-BE49-F238E27FC236}">
                <a16:creationId xmlns:a16="http://schemas.microsoft.com/office/drawing/2014/main" id="{A37FF8AA-A441-8741-8CDD-191641892A5A}"/>
              </a:ext>
            </a:extLst>
          </p:cNvPr>
          <p:cNvSpPr>
            <a:spLocks noGrp="1" noRot="1" noChangeAspect="1" noChangeArrowheads="1" noTextEdit="1"/>
          </p:cNvSpPr>
          <p:nvPr>
            <p:ph type="sldImg" idx="4294967295"/>
          </p:nvPr>
        </p:nvSpPr>
        <p:spPr>
          <a:ln/>
        </p:spPr>
      </p:sp>
      <p:sp>
        <p:nvSpPr>
          <p:cNvPr id="258050" name="备注占位符 2">
            <a:extLst>
              <a:ext uri="{FF2B5EF4-FFF2-40B4-BE49-F238E27FC236}">
                <a16:creationId xmlns:a16="http://schemas.microsoft.com/office/drawing/2014/main" id="{7B8A3483-857A-374F-838E-D9AECA5A6754}"/>
              </a:ext>
            </a:extLst>
          </p:cNvPr>
          <p:cNvSpPr>
            <a:spLocks noGrp="1" noChangeArrowheads="1"/>
          </p:cNvSpPr>
          <p:nvPr>
            <p:ph type="body" idx="4294967295"/>
          </p:nvPr>
        </p:nvSpPr>
        <p:spPr/>
        <p:txBody>
          <a:bodyPr/>
          <a:lstStyle/>
          <a:p>
            <a:r>
              <a:rPr lang="en-US" altLang="zh-CN"/>
              <a:t>CFB</a:t>
            </a:r>
            <a:r>
              <a:rPr lang="zh-CN" altLang="en-US"/>
              <a:t>模式和</a:t>
            </a:r>
            <a:r>
              <a:rPr lang="en-US" altLang="zh-CN"/>
              <a:t>CBC</a:t>
            </a:r>
            <a:r>
              <a:rPr lang="zh-CN" altLang="en-US"/>
              <a:t>模式同样需要一个初始向量</a:t>
            </a:r>
            <a:r>
              <a:rPr lang="en-US" altLang="zh-CN"/>
              <a:t>IV</a:t>
            </a:r>
            <a:r>
              <a:rPr lang="zh-CN" altLang="en-US"/>
              <a:t>。加密过程是这样的，将初始向量放在一个</a:t>
            </a:r>
            <a:r>
              <a:rPr lang="en-US" altLang="zh-CN"/>
              <a:t>n</a:t>
            </a:r>
            <a:r>
              <a:rPr lang="zh-CN" altLang="en-US"/>
              <a:t>级移位寄存器当中，每次移位</a:t>
            </a:r>
            <a:r>
              <a:rPr lang="en-US" altLang="zh-CN"/>
              <a:t>r</a:t>
            </a:r>
            <a:r>
              <a:rPr lang="zh-CN" altLang="en-US"/>
              <a:t>位。这里</a:t>
            </a:r>
            <a:r>
              <a:rPr lang="en-US" altLang="zh-CN"/>
              <a:t>n</a:t>
            </a:r>
            <a:r>
              <a:rPr lang="zh-CN" altLang="en-US"/>
              <a:t>是加密算法的明文分组长度，</a:t>
            </a:r>
            <a:r>
              <a:rPr lang="en-US" altLang="zh-CN"/>
              <a:t>r</a:t>
            </a:r>
            <a:r>
              <a:rPr lang="zh-CN" altLang="en-US"/>
              <a:t>是特定格式需求的明文长度。首先对寄存器当前状态进行加密，选取输出</a:t>
            </a:r>
            <a:r>
              <a:rPr lang="en-US" altLang="zh-CN"/>
              <a:t>n</a:t>
            </a:r>
            <a:r>
              <a:rPr lang="zh-CN" altLang="en-US"/>
              <a:t>比特中的最左边的</a:t>
            </a:r>
            <a:r>
              <a:rPr lang="en-US" altLang="zh-CN"/>
              <a:t>r</a:t>
            </a:r>
            <a:r>
              <a:rPr lang="zh-CN" altLang="en-US"/>
              <a:t>比特作为加密密钥，将其与明文进行以后得到</a:t>
            </a:r>
            <a:r>
              <a:rPr lang="en-US" altLang="zh-CN"/>
              <a:t>r</a:t>
            </a:r>
            <a:r>
              <a:rPr lang="zh-CN" altLang="en-US"/>
              <a:t>比特密文。接着对移位寄存器移位，并将这</a:t>
            </a:r>
            <a:r>
              <a:rPr lang="en-US" altLang="zh-CN"/>
              <a:t>r</a:t>
            </a:r>
            <a:r>
              <a:rPr lang="zh-CN" altLang="en-US"/>
              <a:t>比特密文移入移位寄存器的右边。对第二组明文加密又重复上述步骤。而解密的时候步骤也是一样的，解密第</a:t>
            </a:r>
            <a:r>
              <a:rPr lang="en-US" altLang="zh-CN"/>
              <a:t>i</a:t>
            </a:r>
            <a:r>
              <a:rPr lang="zh-CN" altLang="en-US"/>
              <a:t>个密文之前需要将第</a:t>
            </a:r>
            <a:r>
              <a:rPr lang="en-US" altLang="zh-CN"/>
              <a:t>i-1</a:t>
            </a:r>
            <a:r>
              <a:rPr lang="zh-CN" altLang="en-US"/>
              <a:t>个密文先移入移位寄存器，在来生成解密密钥进行解密。</a:t>
            </a:r>
          </a:p>
        </p:txBody>
      </p:sp>
      <p:sp>
        <p:nvSpPr>
          <p:cNvPr id="258051" name="灯片编号占位符 3">
            <a:extLst>
              <a:ext uri="{FF2B5EF4-FFF2-40B4-BE49-F238E27FC236}">
                <a16:creationId xmlns:a16="http://schemas.microsoft.com/office/drawing/2014/main" id="{454C8813-7951-6447-95BC-F7D75C0F8D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50448E6-FB4F-7D45-A346-3E9D5D298F00}" type="slidenum">
              <a:rPr lang="en-US" altLang="zh-CN"/>
              <a:pPr/>
              <a:t>99</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幻灯片图像占位符 1">
            <a:extLst>
              <a:ext uri="{FF2B5EF4-FFF2-40B4-BE49-F238E27FC236}">
                <a16:creationId xmlns:a16="http://schemas.microsoft.com/office/drawing/2014/main" id="{7B0FE6C1-7ECA-2047-98AF-365089437B39}"/>
              </a:ext>
            </a:extLst>
          </p:cNvPr>
          <p:cNvSpPr>
            <a:spLocks noGrp="1" noRot="1" noChangeAspect="1" noChangeArrowheads="1" noTextEdit="1"/>
          </p:cNvSpPr>
          <p:nvPr>
            <p:ph type="sldImg" idx="4294967295"/>
          </p:nvPr>
        </p:nvSpPr>
        <p:spPr>
          <a:ln/>
        </p:spPr>
      </p:sp>
      <p:sp>
        <p:nvSpPr>
          <p:cNvPr id="260098" name="备注占位符 2">
            <a:extLst>
              <a:ext uri="{FF2B5EF4-FFF2-40B4-BE49-F238E27FC236}">
                <a16:creationId xmlns:a16="http://schemas.microsoft.com/office/drawing/2014/main" id="{912C4D95-CC34-794A-99E9-CCB315949F9D}"/>
              </a:ext>
            </a:extLst>
          </p:cNvPr>
          <p:cNvSpPr>
            <a:spLocks noGrp="1" noChangeArrowheads="1"/>
          </p:cNvSpPr>
          <p:nvPr>
            <p:ph type="body" idx="4294967295"/>
          </p:nvPr>
        </p:nvSpPr>
        <p:spPr/>
        <p:txBody>
          <a:bodyPr/>
          <a:lstStyle/>
          <a:p>
            <a:r>
              <a:rPr lang="en-US" altLang="zh-CN"/>
              <a:t>n/r:</a:t>
            </a:r>
            <a:r>
              <a:rPr lang="zh-CN" altLang="en-US"/>
              <a:t>密文组的数量</a:t>
            </a:r>
          </a:p>
        </p:txBody>
      </p:sp>
      <p:sp>
        <p:nvSpPr>
          <p:cNvPr id="260099" name="灯片编号占位符 3">
            <a:extLst>
              <a:ext uri="{FF2B5EF4-FFF2-40B4-BE49-F238E27FC236}">
                <a16:creationId xmlns:a16="http://schemas.microsoft.com/office/drawing/2014/main" id="{E4E527A3-7F5E-7944-A4B4-460A179FEA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DC79EE6-51BB-0748-B97B-9FA5AE3EDAE3}" type="slidenum">
              <a:rPr lang="en-US" altLang="zh-CN"/>
              <a:pPr/>
              <a:t>100</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幻灯片图像占位符 1">
            <a:extLst>
              <a:ext uri="{FF2B5EF4-FFF2-40B4-BE49-F238E27FC236}">
                <a16:creationId xmlns:a16="http://schemas.microsoft.com/office/drawing/2014/main" id="{AE36D861-874F-6D4D-BEE5-372D2B4F33B8}"/>
              </a:ext>
            </a:extLst>
          </p:cNvPr>
          <p:cNvSpPr>
            <a:spLocks noGrp="1" noRot="1" noChangeAspect="1" noChangeArrowheads="1" noTextEdit="1"/>
          </p:cNvSpPr>
          <p:nvPr>
            <p:ph type="sldImg" idx="4294967295"/>
          </p:nvPr>
        </p:nvSpPr>
        <p:spPr>
          <a:ln/>
        </p:spPr>
      </p:sp>
      <p:sp>
        <p:nvSpPr>
          <p:cNvPr id="262146" name="备注占位符 2">
            <a:extLst>
              <a:ext uri="{FF2B5EF4-FFF2-40B4-BE49-F238E27FC236}">
                <a16:creationId xmlns:a16="http://schemas.microsoft.com/office/drawing/2014/main" id="{06DEF1FA-6A5A-A644-B26C-4D54BD37B5BB}"/>
              </a:ext>
            </a:extLst>
          </p:cNvPr>
          <p:cNvSpPr>
            <a:spLocks noGrp="1" noChangeArrowheads="1"/>
          </p:cNvSpPr>
          <p:nvPr>
            <p:ph type="body" idx="4294967295"/>
          </p:nvPr>
        </p:nvSpPr>
        <p:spPr/>
        <p:txBody>
          <a:bodyPr/>
          <a:lstStyle/>
          <a:p>
            <a:r>
              <a:rPr lang="zh-CN" altLang="en-US"/>
              <a:t>输出反馈模式</a:t>
            </a:r>
            <a:r>
              <a:rPr lang="en-US" altLang="zh-CN"/>
              <a:t>OFB</a:t>
            </a:r>
            <a:r>
              <a:rPr lang="zh-CN" altLang="en-US"/>
              <a:t>模式在结构上类似于</a:t>
            </a:r>
            <a:r>
              <a:rPr lang="en-US" altLang="zh-CN"/>
              <a:t>CFB</a:t>
            </a:r>
            <a:r>
              <a:rPr lang="zh-CN" altLang="en-US"/>
              <a:t>模式，但其反馈的内容是</a:t>
            </a:r>
            <a:r>
              <a:rPr lang="en-US" altLang="zh-CN"/>
              <a:t>DES</a:t>
            </a:r>
            <a:r>
              <a:rPr lang="zh-CN" altLang="en-US"/>
              <a:t>的输出而不是密文，其反馈的长度可以是</a:t>
            </a:r>
            <a:r>
              <a:rPr lang="en-US" altLang="zh-CN"/>
              <a:t>n</a:t>
            </a:r>
            <a:r>
              <a:rPr lang="zh-CN" altLang="en-US"/>
              <a:t>也可以小于</a:t>
            </a:r>
            <a:r>
              <a:rPr lang="en-US" altLang="zh-CN"/>
              <a:t>n</a:t>
            </a:r>
            <a:r>
              <a:rPr lang="zh-CN" altLang="en-US"/>
              <a:t>，出于输出值的随机性考虑，建议</a:t>
            </a:r>
            <a:r>
              <a:rPr lang="zh-CN" altLang="zh-CN"/>
              <a:t>采用全</a:t>
            </a:r>
            <a:r>
              <a:rPr lang="es-ES_tradnl" altLang="zh-CN" i="1"/>
              <a:t>n</a:t>
            </a:r>
            <a:r>
              <a:rPr lang="zh-CN" altLang="zh-CN"/>
              <a:t>比特反馈的</a:t>
            </a:r>
            <a:r>
              <a:rPr lang="es-ES_tradnl" altLang="zh-CN"/>
              <a:t>OFB</a:t>
            </a:r>
            <a:r>
              <a:rPr lang="zh-CN" altLang="zh-CN"/>
              <a:t>模式。</a:t>
            </a:r>
            <a:r>
              <a:rPr lang="zh-CN" altLang="en-US"/>
              <a:t>这样实际上</a:t>
            </a:r>
            <a:r>
              <a:rPr lang="en-US" altLang="zh-CN"/>
              <a:t>DES</a:t>
            </a:r>
            <a:r>
              <a:rPr lang="zh-CN" altLang="en-US"/>
              <a:t>加密器和明文的加密是相对独立的，他可以看作是一个密钥流生成器。当</a:t>
            </a:r>
            <a:r>
              <a:rPr lang="en-US" altLang="zh-CN"/>
              <a:t>r=1</a:t>
            </a:r>
            <a:r>
              <a:rPr lang="zh-CN" altLang="en-US"/>
              <a:t>是，它就是一个流密码体制</a:t>
            </a:r>
          </a:p>
        </p:txBody>
      </p:sp>
      <p:sp>
        <p:nvSpPr>
          <p:cNvPr id="262147" name="灯片编号占位符 3">
            <a:extLst>
              <a:ext uri="{FF2B5EF4-FFF2-40B4-BE49-F238E27FC236}">
                <a16:creationId xmlns:a16="http://schemas.microsoft.com/office/drawing/2014/main" id="{4138C19E-7BA7-794C-899F-01FFC25388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CAD2F73-4744-0249-A176-5E5BF6A8C20A}" type="slidenum">
              <a:rPr lang="en-US" altLang="zh-CN"/>
              <a:pPr/>
              <a:t>101</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幻灯片图像占位符 1">
            <a:extLst>
              <a:ext uri="{FF2B5EF4-FFF2-40B4-BE49-F238E27FC236}">
                <a16:creationId xmlns:a16="http://schemas.microsoft.com/office/drawing/2014/main" id="{72718E31-23B4-E645-95DA-E04C4D61AED0}"/>
              </a:ext>
            </a:extLst>
          </p:cNvPr>
          <p:cNvSpPr>
            <a:spLocks noGrp="1" noRot="1" noChangeAspect="1" noChangeArrowheads="1" noTextEdit="1"/>
          </p:cNvSpPr>
          <p:nvPr>
            <p:ph type="sldImg" idx="4294967295"/>
          </p:nvPr>
        </p:nvSpPr>
        <p:spPr>
          <a:ln/>
        </p:spPr>
      </p:sp>
      <p:sp>
        <p:nvSpPr>
          <p:cNvPr id="264194" name="备注占位符 2">
            <a:extLst>
              <a:ext uri="{FF2B5EF4-FFF2-40B4-BE49-F238E27FC236}">
                <a16:creationId xmlns:a16="http://schemas.microsoft.com/office/drawing/2014/main" id="{007FE317-3C35-C840-971F-1DD57865FC90}"/>
              </a:ext>
            </a:extLst>
          </p:cNvPr>
          <p:cNvSpPr>
            <a:spLocks noGrp="1" noChangeArrowheads="1"/>
          </p:cNvSpPr>
          <p:nvPr>
            <p:ph type="body" idx="4294967295"/>
          </p:nvPr>
        </p:nvSpPr>
        <p:spPr/>
        <p:txBody>
          <a:bodyPr/>
          <a:lstStyle/>
          <a:p>
            <a:r>
              <a:rPr lang="zh-CN" altLang="en-US"/>
              <a:t>错误传播：相互独立</a:t>
            </a:r>
          </a:p>
        </p:txBody>
      </p:sp>
      <p:sp>
        <p:nvSpPr>
          <p:cNvPr id="264195" name="灯片编号占位符 3">
            <a:extLst>
              <a:ext uri="{FF2B5EF4-FFF2-40B4-BE49-F238E27FC236}">
                <a16:creationId xmlns:a16="http://schemas.microsoft.com/office/drawing/2014/main" id="{8BBEFACC-6FC4-E147-96CC-F32B43FEC3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C3295AB-5080-7C49-8EE2-7C18B69083A4}" type="slidenum">
              <a:rPr lang="en-US" altLang="zh-CN"/>
              <a:pPr/>
              <a:t>102</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幻灯片图像占位符 1">
            <a:extLst>
              <a:ext uri="{FF2B5EF4-FFF2-40B4-BE49-F238E27FC236}">
                <a16:creationId xmlns:a16="http://schemas.microsoft.com/office/drawing/2014/main" id="{8A5B9510-9916-FD4C-83AB-611AC3A30E4F}"/>
              </a:ext>
            </a:extLst>
          </p:cNvPr>
          <p:cNvSpPr>
            <a:spLocks noGrp="1" noRot="1" noChangeAspect="1" noChangeArrowheads="1" noTextEdit="1"/>
          </p:cNvSpPr>
          <p:nvPr>
            <p:ph type="sldImg" idx="4294967295"/>
          </p:nvPr>
        </p:nvSpPr>
        <p:spPr>
          <a:ln/>
        </p:spPr>
      </p:sp>
      <p:sp>
        <p:nvSpPr>
          <p:cNvPr id="266242" name="备注占位符 2">
            <a:extLst>
              <a:ext uri="{FF2B5EF4-FFF2-40B4-BE49-F238E27FC236}">
                <a16:creationId xmlns:a16="http://schemas.microsoft.com/office/drawing/2014/main" id="{709E983C-DFA1-4D4E-B0FB-7D3C84E2AA1E}"/>
              </a:ext>
            </a:extLst>
          </p:cNvPr>
          <p:cNvSpPr>
            <a:spLocks noGrp="1" noChangeArrowheads="1"/>
          </p:cNvSpPr>
          <p:nvPr>
            <p:ph type="body" idx="4294967295"/>
          </p:nvPr>
        </p:nvSpPr>
        <p:spPr/>
        <p:txBody>
          <a:bodyPr/>
          <a:lstStyle/>
          <a:p>
            <a:r>
              <a:rPr lang="zh-CN" altLang="en-US"/>
              <a:t>计数器模式可以看做是</a:t>
            </a:r>
            <a:r>
              <a:rPr lang="en-US" altLang="zh-CN"/>
              <a:t>OFB</a:t>
            </a:r>
            <a:r>
              <a:rPr lang="zh-CN" altLang="en-US"/>
              <a:t>模式的简化版本，其输入由计数器来更新。即将加密函数看作是一个密钥流产生器，</a:t>
            </a:r>
            <a:r>
              <a:rPr lang="zh-CN" altLang="en-US">
                <a:latin typeface="Times New Roman" panose="02020603050405020304" pitchFamily="18" charset="0"/>
              </a:rPr>
              <a:t>利用固定密钥</a:t>
            </a:r>
            <a:r>
              <a:rPr lang="zh-CN" altLang="zh-CN">
                <a:latin typeface="Times New Roman" panose="02020603050405020304" pitchFamily="18" charset="0"/>
              </a:rPr>
              <a:t>k对自然数序列加密</a:t>
            </a:r>
            <a:r>
              <a:rPr lang="zh-CN" altLang="en-US">
                <a:latin typeface="Times New Roman" panose="02020603050405020304" pitchFamily="18" charset="0"/>
              </a:rPr>
              <a:t>，</a:t>
            </a:r>
            <a:r>
              <a:rPr lang="zh-CN" altLang="zh-CN">
                <a:latin typeface="Times New Roman" panose="02020603050405020304" pitchFamily="18" charset="0"/>
              </a:rPr>
              <a:t>将得到的密文分组序列看作</a:t>
            </a:r>
            <a:r>
              <a:rPr lang="zh-CN" altLang="en-US">
                <a:latin typeface="Times New Roman" panose="02020603050405020304" pitchFamily="18" charset="0"/>
              </a:rPr>
              <a:t>密钥流</a:t>
            </a:r>
            <a:r>
              <a:rPr lang="zh-CN" altLang="zh-CN">
                <a:latin typeface="Times New Roman" panose="02020603050405020304" pitchFamily="18" charset="0"/>
              </a:rPr>
              <a:t>序列</a:t>
            </a:r>
            <a:r>
              <a:rPr lang="zh-CN" altLang="en-US">
                <a:latin typeface="Times New Roman" panose="02020603050405020304" pitchFamily="18" charset="0"/>
              </a:rPr>
              <a:t>，</a:t>
            </a:r>
            <a:r>
              <a:rPr lang="zh-CN" altLang="zh-CN">
                <a:latin typeface="Times New Roman" panose="02020603050405020304" pitchFamily="18" charset="0"/>
              </a:rPr>
              <a:t>按加</a:t>
            </a:r>
            <a:r>
              <a:rPr lang="zh-CN" altLang="en-US">
                <a:latin typeface="Times New Roman" panose="02020603050405020304" pitchFamily="18" charset="0"/>
              </a:rPr>
              <a:t>法</a:t>
            </a:r>
            <a:r>
              <a:rPr lang="zh-CN" altLang="zh-CN">
                <a:latin typeface="Times New Roman" panose="02020603050405020304" pitchFamily="18" charset="0"/>
              </a:rPr>
              <a:t>密码的方式与明文分组逐位</a:t>
            </a:r>
            <a:r>
              <a:rPr lang="zh-CN" altLang="en-US">
                <a:latin typeface="Times New Roman" panose="02020603050405020304" pitchFamily="18" charset="0"/>
              </a:rPr>
              <a:t>异或</a:t>
            </a:r>
            <a:r>
              <a:rPr lang="zh-CN" altLang="zh-CN">
                <a:latin typeface="Times New Roman" panose="02020603050405020304" pitchFamily="18" charset="0"/>
              </a:rPr>
              <a:t>的一种方式</a:t>
            </a:r>
            <a:r>
              <a:rPr lang="zh-CN" altLang="en-US">
                <a:latin typeface="Times New Roman" panose="02020603050405020304" pitchFamily="18" charset="0"/>
              </a:rPr>
              <a:t>，</a:t>
            </a:r>
            <a:r>
              <a:rPr lang="zh-CN" altLang="zh-CN">
                <a:latin typeface="Times New Roman" panose="02020603050405020304" pitchFamily="18" charset="0"/>
              </a:rPr>
              <a:t>利用这种方式可以产生伪随机数序列,其伪随机特性远比计算机产生的随机数的性质好</a:t>
            </a:r>
            <a:endParaRPr lang="zh-CN" altLang="en-US">
              <a:latin typeface="Times New Roman" panose="02020603050405020304" pitchFamily="18" charset="0"/>
            </a:endParaRPr>
          </a:p>
          <a:p>
            <a:endParaRPr lang="zh-CN" altLang="zh-CN">
              <a:latin typeface="Times New Roman" panose="02020603050405020304" pitchFamily="18" charset="0"/>
            </a:endParaRPr>
          </a:p>
          <a:p>
            <a:endParaRPr lang="zh-CN" altLang="en-US"/>
          </a:p>
        </p:txBody>
      </p:sp>
      <p:sp>
        <p:nvSpPr>
          <p:cNvPr id="266243" name="灯片编号占位符 3">
            <a:extLst>
              <a:ext uri="{FF2B5EF4-FFF2-40B4-BE49-F238E27FC236}">
                <a16:creationId xmlns:a16="http://schemas.microsoft.com/office/drawing/2014/main" id="{1F63457B-D76E-C541-B5F6-2F01306CDB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ACEECAF-7A9B-FB4B-B64A-113DD8C4DB4F}" type="slidenum">
              <a:rPr lang="en-US" altLang="zh-CN"/>
              <a:pPr/>
              <a:t>103</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161D40CA-4EF2-8043-A585-431314B61C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Verdana" panose="020B0604030504040204" pitchFamily="34" charset="0"/>
                <a:ea typeface="宋体" panose="02010600030101010101" pitchFamily="2" charset="-122"/>
              </a:defRPr>
            </a:lvl1pPr>
            <a:lvl2pPr defTabSz="947738">
              <a:defRPr>
                <a:solidFill>
                  <a:schemeClr val="tx1"/>
                </a:solidFill>
                <a:latin typeface="Verdana" panose="020B0604030504040204" pitchFamily="34" charset="0"/>
                <a:ea typeface="宋体" panose="02010600030101010101" pitchFamily="2" charset="-122"/>
              </a:defRPr>
            </a:lvl2pPr>
            <a:lvl3pPr defTabSz="947738">
              <a:defRPr>
                <a:solidFill>
                  <a:schemeClr val="tx1"/>
                </a:solidFill>
                <a:latin typeface="Verdana" panose="020B0604030504040204" pitchFamily="34" charset="0"/>
                <a:ea typeface="宋体" panose="02010600030101010101" pitchFamily="2" charset="-122"/>
              </a:defRPr>
            </a:lvl3pPr>
            <a:lvl4pPr defTabSz="947738">
              <a:defRPr>
                <a:solidFill>
                  <a:schemeClr val="tx1"/>
                </a:solidFill>
                <a:latin typeface="Verdana" panose="020B0604030504040204" pitchFamily="34" charset="0"/>
                <a:ea typeface="宋体" panose="02010600030101010101" pitchFamily="2" charset="-122"/>
              </a:defRPr>
            </a:lvl4pPr>
            <a:lvl5pPr defTabSz="947738">
              <a:defRPr>
                <a:solidFill>
                  <a:schemeClr val="tx1"/>
                </a:solidFill>
                <a:latin typeface="Verdana" panose="020B0604030504040204" pitchFamily="34" charset="0"/>
                <a:ea typeface="宋体" panose="02010600030101010101" pitchFamily="2" charset="-122"/>
              </a:defRPr>
            </a:lvl5pPr>
            <a:lvl6pPr defTabSz="947738"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defTabSz="947738"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defTabSz="947738"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defTabSz="947738"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0FE6826-9E65-9347-BED0-C1814B1FCA2D}" type="slidenum">
              <a:rPr lang="en-US" altLang="zh-CN" sz="1800"/>
              <a:pPr/>
              <a:t>104</a:t>
            </a:fld>
            <a:endParaRPr lang="en-US" altLang="zh-CN" sz="1800"/>
          </a:p>
        </p:txBody>
      </p:sp>
      <p:sp>
        <p:nvSpPr>
          <p:cNvPr id="268290" name="Rectangle 2">
            <a:extLst>
              <a:ext uri="{FF2B5EF4-FFF2-40B4-BE49-F238E27FC236}">
                <a16:creationId xmlns:a16="http://schemas.microsoft.com/office/drawing/2014/main" id="{22023BFB-DFEE-2141-9170-66958F876FCF}"/>
              </a:ext>
            </a:extLst>
          </p:cNvPr>
          <p:cNvSpPr>
            <a:spLocks noGrp="1" noRot="1" noChangeAspect="1" noChangeArrowheads="1" noTextEdit="1"/>
          </p:cNvSpPr>
          <p:nvPr>
            <p:ph type="sldImg" idx="4294967295"/>
          </p:nvPr>
        </p:nvSpPr>
        <p:spPr>
          <a:ln/>
        </p:spPr>
      </p:sp>
      <p:sp>
        <p:nvSpPr>
          <p:cNvPr id="268291" name="Rectangle 3">
            <a:extLst>
              <a:ext uri="{FF2B5EF4-FFF2-40B4-BE49-F238E27FC236}">
                <a16:creationId xmlns:a16="http://schemas.microsoft.com/office/drawing/2014/main" id="{4A5CE4D4-F24E-B74C-8E92-E10A1AFC801F}"/>
              </a:ext>
            </a:extLst>
          </p:cNvPr>
          <p:cNvSpPr>
            <a:spLocks noGrp="1" noChangeArrowheads="1"/>
          </p:cNvSpPr>
          <p:nvPr>
            <p:ph type="body" idx="4294967295"/>
          </p:nvPr>
        </p:nvSpPr>
        <p:spPr/>
        <p:txBody>
          <a:bodyPr/>
          <a:lstStyle/>
          <a:p>
            <a:r>
              <a:rPr lang="zh-CN" altLang="en-US"/>
              <a:t>如图所示，加密前先对计数器进行初始化，然后在密钥控制下加密计数器的内容得到的密文作为加密明文的密钥，根据明文分组，将计数器顺序加</a:t>
            </a:r>
            <a:r>
              <a:rPr lang="en-US" altLang="zh-CN"/>
              <a:t>1</a:t>
            </a:r>
            <a:r>
              <a:rPr lang="zh-CN" altLang="en-US"/>
              <a:t>来产生加密密钥。</a:t>
            </a:r>
            <a:endParaRPr lang="en-AU"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幻灯片图像占位符 1">
            <a:extLst>
              <a:ext uri="{FF2B5EF4-FFF2-40B4-BE49-F238E27FC236}">
                <a16:creationId xmlns:a16="http://schemas.microsoft.com/office/drawing/2014/main" id="{C79CDF9C-7685-5945-BD9B-A8A17D6FD06A}"/>
              </a:ext>
            </a:extLst>
          </p:cNvPr>
          <p:cNvSpPr>
            <a:spLocks noGrp="1" noRot="1" noChangeAspect="1" noChangeArrowheads="1" noTextEdit="1"/>
          </p:cNvSpPr>
          <p:nvPr>
            <p:ph type="sldImg" idx="4294967295"/>
          </p:nvPr>
        </p:nvSpPr>
        <p:spPr>
          <a:ln/>
        </p:spPr>
      </p:sp>
      <p:sp>
        <p:nvSpPr>
          <p:cNvPr id="270338" name="备注占位符 2">
            <a:extLst>
              <a:ext uri="{FF2B5EF4-FFF2-40B4-BE49-F238E27FC236}">
                <a16:creationId xmlns:a16="http://schemas.microsoft.com/office/drawing/2014/main" id="{55A5AA75-F362-1A41-8714-8011D802D04E}"/>
              </a:ext>
            </a:extLst>
          </p:cNvPr>
          <p:cNvSpPr>
            <a:spLocks noGrp="1" noChangeArrowheads="1"/>
          </p:cNvSpPr>
          <p:nvPr>
            <p:ph type="body" idx="4294967295"/>
          </p:nvPr>
        </p:nvSpPr>
        <p:spPr/>
        <p:txBody>
          <a:bodyPr/>
          <a:lstStyle/>
          <a:p>
            <a:r>
              <a:rPr lang="en-US" altLang="zh-CN"/>
              <a:t>CTR</a:t>
            </a:r>
            <a:r>
              <a:rPr lang="zh-CN" altLang="en-US"/>
              <a:t>模式有很多优点：他可以并行加密，固定计数器的值后，可将后续加密密钥并行生成，加密时直接顺序使用密钥流加密即可。而且可以证明</a:t>
            </a:r>
            <a:r>
              <a:rPr lang="en-US" altLang="zh-CN"/>
              <a:t>CTR</a:t>
            </a:r>
            <a:r>
              <a:rPr lang="zh-CN" altLang="en-US"/>
              <a:t>的输出密钥流具有很好的随机性。</a:t>
            </a:r>
            <a:r>
              <a:rPr lang="en-US" altLang="zh-CN"/>
              <a:t>CTR</a:t>
            </a:r>
            <a:r>
              <a:rPr lang="zh-CN" altLang="en-US"/>
              <a:t>模式使用起来也非常简单。</a:t>
            </a:r>
          </a:p>
        </p:txBody>
      </p:sp>
      <p:sp>
        <p:nvSpPr>
          <p:cNvPr id="270339" name="灯片编号占位符 3">
            <a:extLst>
              <a:ext uri="{FF2B5EF4-FFF2-40B4-BE49-F238E27FC236}">
                <a16:creationId xmlns:a16="http://schemas.microsoft.com/office/drawing/2014/main" id="{4D7640D8-9140-F944-B642-369F76617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4EE5EC0-C4EC-8148-AE60-B5AA57EC5BDB}" type="slidenum">
              <a:rPr lang="en-US" altLang="zh-CN"/>
              <a:pPr/>
              <a:t>105</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幻灯片图像占位符 1">
            <a:extLst>
              <a:ext uri="{FF2B5EF4-FFF2-40B4-BE49-F238E27FC236}">
                <a16:creationId xmlns:a16="http://schemas.microsoft.com/office/drawing/2014/main" id="{CB585FD6-BC59-6B45-9E73-A72FD3181597}"/>
              </a:ext>
            </a:extLst>
          </p:cNvPr>
          <p:cNvSpPr>
            <a:spLocks noGrp="1" noRot="1" noChangeAspect="1" noChangeArrowheads="1" noTextEdit="1"/>
          </p:cNvSpPr>
          <p:nvPr>
            <p:ph type="sldImg" idx="4294967295"/>
          </p:nvPr>
        </p:nvSpPr>
        <p:spPr>
          <a:ln/>
        </p:spPr>
      </p:sp>
      <p:sp>
        <p:nvSpPr>
          <p:cNvPr id="272386" name="备注占位符 2">
            <a:extLst>
              <a:ext uri="{FF2B5EF4-FFF2-40B4-BE49-F238E27FC236}">
                <a16:creationId xmlns:a16="http://schemas.microsoft.com/office/drawing/2014/main" id="{6D8B7525-3457-F74F-AF23-AED4277A998A}"/>
              </a:ext>
            </a:extLst>
          </p:cNvPr>
          <p:cNvSpPr>
            <a:spLocks noGrp="1" noChangeArrowheads="1"/>
          </p:cNvSpPr>
          <p:nvPr>
            <p:ph type="body" idx="4294967295"/>
          </p:nvPr>
        </p:nvSpPr>
        <p:spPr/>
        <p:txBody>
          <a:bodyPr/>
          <a:lstStyle/>
          <a:p>
            <a:r>
              <a:rPr lang="zh-CN" altLang="en-US"/>
              <a:t>同学们大家好，在介绍</a:t>
            </a:r>
            <a:r>
              <a:rPr lang="en-US" altLang="zh-CN"/>
              <a:t>AES</a:t>
            </a:r>
            <a:r>
              <a:rPr lang="zh-CN" altLang="en-US"/>
              <a:t>算法之前，我们需要先了解一下有限域的相关知识，因为</a:t>
            </a:r>
            <a:r>
              <a:rPr lang="en-US" altLang="zh-CN"/>
              <a:t>AES</a:t>
            </a:r>
            <a:r>
              <a:rPr lang="zh-CN" altLang="en-US"/>
              <a:t>中的操作都是定义在</a:t>
            </a:r>
            <a:r>
              <a:rPr lang="en-US" altLang="zh-CN"/>
              <a:t>2</a:t>
            </a:r>
            <a:r>
              <a:rPr lang="zh-CN" altLang="en-US"/>
              <a:t>的</a:t>
            </a:r>
            <a:r>
              <a:rPr lang="en-US" altLang="zh-CN"/>
              <a:t>8</a:t>
            </a:r>
            <a:r>
              <a:rPr lang="zh-CN" altLang="en-US"/>
              <a:t>次方有限域上的。</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Slide Image Placeholder 1">
            <a:extLst>
              <a:ext uri="{FF2B5EF4-FFF2-40B4-BE49-F238E27FC236}">
                <a16:creationId xmlns:a16="http://schemas.microsoft.com/office/drawing/2014/main" id="{C2C80159-DF3C-D54A-BA60-9012FDB794F7}"/>
              </a:ext>
            </a:extLst>
          </p:cNvPr>
          <p:cNvSpPr>
            <a:spLocks noGrp="1" noRot="1" noChangeAspect="1" noChangeArrowheads="1" noTextEdit="1"/>
          </p:cNvSpPr>
          <p:nvPr>
            <p:ph type="sldImg" idx="4294967295"/>
          </p:nvPr>
        </p:nvSpPr>
        <p:spPr>
          <a:ln/>
        </p:spPr>
      </p:sp>
      <p:sp>
        <p:nvSpPr>
          <p:cNvPr id="277506" name="Notes Placeholder 2">
            <a:extLst>
              <a:ext uri="{FF2B5EF4-FFF2-40B4-BE49-F238E27FC236}">
                <a16:creationId xmlns:a16="http://schemas.microsoft.com/office/drawing/2014/main" id="{5C4E5472-8978-3647-9CA6-39D745F8174E}"/>
              </a:ext>
            </a:extLst>
          </p:cNvPr>
          <p:cNvSpPr>
            <a:spLocks noGrp="1" noChangeArrowheads="1"/>
          </p:cNvSpPr>
          <p:nvPr>
            <p:ph type="body" idx="4294967295"/>
          </p:nvPr>
        </p:nvSpPr>
        <p:spPr/>
        <p:txBody>
          <a:bodyPr/>
          <a:lstStyle/>
          <a:p>
            <a:endParaRPr lang="en-US" altLang="en-US"/>
          </a:p>
        </p:txBody>
      </p:sp>
      <p:sp>
        <p:nvSpPr>
          <p:cNvPr id="277507" name="Slide Number Placeholder 3">
            <a:extLst>
              <a:ext uri="{FF2B5EF4-FFF2-40B4-BE49-F238E27FC236}">
                <a16:creationId xmlns:a16="http://schemas.microsoft.com/office/drawing/2014/main" id="{18903C0D-F3A4-0F42-B421-EAE300A348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CC8D52F-78B4-5243-93BC-030402FB8C9F}" type="slidenum">
              <a:rPr lang="en-US" altLang="zh-CN"/>
              <a:pPr/>
              <a:t>111</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3" name="Slide Image Placeholder 1">
            <a:extLst>
              <a:ext uri="{FF2B5EF4-FFF2-40B4-BE49-F238E27FC236}">
                <a16:creationId xmlns:a16="http://schemas.microsoft.com/office/drawing/2014/main" id="{87710B67-3FCE-B84D-B514-FD5D18FF3DBC}"/>
              </a:ext>
            </a:extLst>
          </p:cNvPr>
          <p:cNvSpPr>
            <a:spLocks noGrp="1" noRot="1" noChangeAspect="1" noChangeArrowheads="1" noTextEdit="1"/>
          </p:cNvSpPr>
          <p:nvPr>
            <p:ph type="sldImg" idx="4294967295"/>
          </p:nvPr>
        </p:nvSpPr>
        <p:spPr>
          <a:ln/>
        </p:spPr>
      </p:sp>
      <p:sp>
        <p:nvSpPr>
          <p:cNvPr id="279554" name="Notes Placeholder 2">
            <a:extLst>
              <a:ext uri="{FF2B5EF4-FFF2-40B4-BE49-F238E27FC236}">
                <a16:creationId xmlns:a16="http://schemas.microsoft.com/office/drawing/2014/main" id="{866D8062-CD80-CC4C-A3E8-2E470E62D432}"/>
              </a:ext>
            </a:extLst>
          </p:cNvPr>
          <p:cNvSpPr>
            <a:spLocks noGrp="1" noChangeArrowheads="1"/>
          </p:cNvSpPr>
          <p:nvPr>
            <p:ph type="body" idx="4294967295"/>
          </p:nvPr>
        </p:nvSpPr>
        <p:spPr/>
        <p:txBody>
          <a:bodyPr/>
          <a:lstStyle/>
          <a:p>
            <a:endParaRPr lang="en-US" altLang="en-US"/>
          </a:p>
        </p:txBody>
      </p:sp>
      <p:sp>
        <p:nvSpPr>
          <p:cNvPr id="279555" name="Slide Number Placeholder 3">
            <a:extLst>
              <a:ext uri="{FF2B5EF4-FFF2-40B4-BE49-F238E27FC236}">
                <a16:creationId xmlns:a16="http://schemas.microsoft.com/office/drawing/2014/main" id="{CEF6456E-D580-B54C-9969-513DCC7800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6C9898C-0256-D54D-B464-E52ADEE5352E}" type="slidenum">
              <a:rPr lang="en-US" altLang="zh-CN"/>
              <a:pPr/>
              <a:t>112</a:t>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Slide Image Placeholder 1">
            <a:extLst>
              <a:ext uri="{FF2B5EF4-FFF2-40B4-BE49-F238E27FC236}">
                <a16:creationId xmlns:a16="http://schemas.microsoft.com/office/drawing/2014/main" id="{0C381C80-C3F6-9C40-B1B8-06CC40CFCEAB}"/>
              </a:ext>
            </a:extLst>
          </p:cNvPr>
          <p:cNvSpPr>
            <a:spLocks noGrp="1" noRot="1" noChangeAspect="1" noChangeArrowheads="1" noTextEdit="1"/>
          </p:cNvSpPr>
          <p:nvPr>
            <p:ph type="sldImg" idx="4294967295"/>
          </p:nvPr>
        </p:nvSpPr>
        <p:spPr>
          <a:ln/>
        </p:spPr>
      </p:sp>
      <p:sp>
        <p:nvSpPr>
          <p:cNvPr id="282626" name="Notes Placeholder 2">
            <a:extLst>
              <a:ext uri="{FF2B5EF4-FFF2-40B4-BE49-F238E27FC236}">
                <a16:creationId xmlns:a16="http://schemas.microsoft.com/office/drawing/2014/main" id="{9D543B1C-2B1F-D34D-8C89-E7F9C583C30B}"/>
              </a:ext>
            </a:extLst>
          </p:cNvPr>
          <p:cNvSpPr>
            <a:spLocks noGrp="1" noChangeArrowheads="1"/>
          </p:cNvSpPr>
          <p:nvPr>
            <p:ph type="body" idx="4294967295"/>
          </p:nvPr>
        </p:nvSpPr>
        <p:spPr/>
        <p:txBody>
          <a:bodyPr/>
          <a:lstStyle/>
          <a:p>
            <a:endParaRPr lang="en-US" altLang="en-CN"/>
          </a:p>
        </p:txBody>
      </p:sp>
      <p:sp>
        <p:nvSpPr>
          <p:cNvPr id="282627" name="Slide Number Placeholder 3">
            <a:extLst>
              <a:ext uri="{FF2B5EF4-FFF2-40B4-BE49-F238E27FC236}">
                <a16:creationId xmlns:a16="http://schemas.microsoft.com/office/drawing/2014/main" id="{17187929-3DF8-9B4D-BD5E-766653F1E5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8A39864-FF2A-244F-B181-2A07077B00D1}" type="slidenum">
              <a:rPr lang="en-US" altLang="zh-CN"/>
              <a:pPr/>
              <a:t>114</a:t>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Rectangle 7">
            <a:extLst>
              <a:ext uri="{FF2B5EF4-FFF2-40B4-BE49-F238E27FC236}">
                <a16:creationId xmlns:a16="http://schemas.microsoft.com/office/drawing/2014/main" id="{7E5CD493-0F77-694E-8DB5-B5DA608403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C11DA27-C938-3B4E-9D64-49A780AA192D}" type="slidenum">
              <a:rPr lang="zh-CN" altLang="en-US"/>
              <a:pPr/>
              <a:t>115</a:t>
            </a:fld>
            <a:endParaRPr lang="zh-CN" altLang="en-US"/>
          </a:p>
        </p:txBody>
      </p:sp>
      <p:sp>
        <p:nvSpPr>
          <p:cNvPr id="284674" name="Rectangle 2">
            <a:extLst>
              <a:ext uri="{FF2B5EF4-FFF2-40B4-BE49-F238E27FC236}">
                <a16:creationId xmlns:a16="http://schemas.microsoft.com/office/drawing/2014/main" id="{07D78287-B4D1-EB44-8197-DC8BDC7D5BA5}"/>
              </a:ext>
            </a:extLst>
          </p:cNvPr>
          <p:cNvSpPr>
            <a:spLocks noGrp="1" noRot="1" noChangeAspect="1" noChangeArrowheads="1" noTextEdit="1"/>
          </p:cNvSpPr>
          <p:nvPr>
            <p:ph type="sldImg" idx="4294967295"/>
          </p:nvPr>
        </p:nvSpPr>
        <p:spPr>
          <a:xfrm>
            <a:off x="3429000" y="2400300"/>
            <a:ext cx="0" cy="0"/>
          </a:xfrm>
          <a:solidFill>
            <a:srgbClr val="FFFFFF"/>
          </a:solidFill>
          <a:ln/>
        </p:spPr>
      </p:sp>
      <p:sp>
        <p:nvSpPr>
          <p:cNvPr id="284675" name="Rectangle 3">
            <a:extLst>
              <a:ext uri="{FF2B5EF4-FFF2-40B4-BE49-F238E27FC236}">
                <a16:creationId xmlns:a16="http://schemas.microsoft.com/office/drawing/2014/main" id="{18108F85-7A3E-B748-A753-BCA0B9086F65}"/>
              </a:ext>
            </a:extLst>
          </p:cNvPr>
          <p:cNvSpPr>
            <a:spLocks noGrp="1" noChangeArrowheads="1"/>
          </p:cNvSpPr>
          <p:nvPr>
            <p:ph type="body" idx="4294967295"/>
          </p:nvPr>
        </p:nvSpPr>
        <p:spPr>
          <a:xfrm>
            <a:off x="914400" y="6262688"/>
            <a:ext cx="1403350" cy="274637"/>
          </a:xfrm>
          <a:solidFill>
            <a:srgbClr val="FFFFFF"/>
          </a:solidFill>
          <a:ln>
            <a:solidFill>
              <a:srgbClr val="000000"/>
            </a:solidFill>
            <a:miter lim="800000"/>
            <a:headEnd/>
            <a:tailEnd/>
          </a:ln>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1" name="幻灯片图像占位符 1">
            <a:extLst>
              <a:ext uri="{FF2B5EF4-FFF2-40B4-BE49-F238E27FC236}">
                <a16:creationId xmlns:a16="http://schemas.microsoft.com/office/drawing/2014/main" id="{72BA971B-32AF-B049-9BD9-1A4E820BC9DA}"/>
              </a:ext>
            </a:extLst>
          </p:cNvPr>
          <p:cNvSpPr>
            <a:spLocks noGrp="1" noRot="1" noChangeAspect="1" noChangeArrowheads="1" noTextEdit="1"/>
          </p:cNvSpPr>
          <p:nvPr>
            <p:ph type="sldImg" idx="4294967295"/>
          </p:nvPr>
        </p:nvSpPr>
        <p:spPr>
          <a:ln/>
        </p:spPr>
      </p:sp>
      <p:sp>
        <p:nvSpPr>
          <p:cNvPr id="286722" name="备注占位符 2">
            <a:extLst>
              <a:ext uri="{FF2B5EF4-FFF2-40B4-BE49-F238E27FC236}">
                <a16:creationId xmlns:a16="http://schemas.microsoft.com/office/drawing/2014/main" id="{FC4EAA97-6D45-2D4F-9A09-C9E5BBF83A7B}"/>
              </a:ext>
            </a:extLst>
          </p:cNvPr>
          <p:cNvSpPr>
            <a:spLocks noGrp="1" noChangeArrowheads="1"/>
          </p:cNvSpPr>
          <p:nvPr>
            <p:ph type="body" idx="4294967295"/>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x^(j-4)*x^4 mod (x^4+1)=x^(j-4)*(x^4+1-1) mod (x^4+1)=-x^(j-4)=x^(j-4)</a:t>
            </a:r>
          </a:p>
          <a:p>
            <a:endParaRPr lang="zh-CN" altLang="en-US" dirty="0"/>
          </a:p>
        </p:txBody>
      </p:sp>
      <p:sp>
        <p:nvSpPr>
          <p:cNvPr id="286723" name="灯片编号占位符 3">
            <a:extLst>
              <a:ext uri="{FF2B5EF4-FFF2-40B4-BE49-F238E27FC236}">
                <a16:creationId xmlns:a16="http://schemas.microsoft.com/office/drawing/2014/main" id="{38E80E52-BFA2-7247-9F0A-A9E1A08BA6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FB0FC49-2550-DE4B-82F7-9734FF29C37E}" type="slidenum">
              <a:rPr lang="en-US" altLang="zh-CN"/>
              <a:pPr/>
              <a:t>116</a:t>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69" name="Rectangle 7">
            <a:extLst>
              <a:ext uri="{FF2B5EF4-FFF2-40B4-BE49-F238E27FC236}">
                <a16:creationId xmlns:a16="http://schemas.microsoft.com/office/drawing/2014/main" id="{D1CEFD3D-40A9-4E4C-AD8F-1A5D2F398F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4A1B425-0B8B-4849-92B0-CB08025566FA}" type="slidenum">
              <a:rPr lang="en-US" altLang="zh-CN"/>
              <a:pPr/>
              <a:t>117</a:t>
            </a:fld>
            <a:endParaRPr lang="en-US" altLang="zh-CN"/>
          </a:p>
        </p:txBody>
      </p:sp>
      <p:sp>
        <p:nvSpPr>
          <p:cNvPr id="288770" name="Rectangle 2">
            <a:extLst>
              <a:ext uri="{FF2B5EF4-FFF2-40B4-BE49-F238E27FC236}">
                <a16:creationId xmlns:a16="http://schemas.microsoft.com/office/drawing/2014/main" id="{2276F7A9-F07A-684E-9A94-3123F8C018F8}"/>
              </a:ext>
            </a:extLst>
          </p:cNvPr>
          <p:cNvSpPr>
            <a:spLocks noGrp="1" noRot="1" noChangeAspect="1" noChangeArrowheads="1" noTextEdit="1"/>
          </p:cNvSpPr>
          <p:nvPr>
            <p:ph type="sldImg" idx="4294967295"/>
          </p:nvPr>
        </p:nvSpPr>
        <p:spPr>
          <a:xfrm>
            <a:off x="3429000" y="2400300"/>
            <a:ext cx="0" cy="0"/>
          </a:xfrm>
          <a:ln/>
        </p:spPr>
      </p:sp>
      <p:sp>
        <p:nvSpPr>
          <p:cNvPr id="288771" name="Rectangle 3">
            <a:extLst>
              <a:ext uri="{FF2B5EF4-FFF2-40B4-BE49-F238E27FC236}">
                <a16:creationId xmlns:a16="http://schemas.microsoft.com/office/drawing/2014/main" id="{4A1CF132-5143-5C44-A0D9-227BA01D027F}"/>
              </a:ext>
            </a:extLst>
          </p:cNvPr>
          <p:cNvSpPr>
            <a:spLocks noGrp="1" noChangeArrowheads="1"/>
          </p:cNvSpPr>
          <p:nvPr>
            <p:ph type="body" idx="4294967295"/>
          </p:nvPr>
        </p:nvSpPr>
        <p:spPr>
          <a:xfrm>
            <a:off x="914400" y="6262688"/>
            <a:ext cx="1403350" cy="274637"/>
          </a:xfrm>
        </p:spPr>
        <p:txBody>
          <a:bodyPr/>
          <a:lstStyle/>
          <a:p>
            <a:pPr eaLnBrk="1" hangingPunct="1"/>
            <a:endParaRPr lang="zh-CN" altLang="zh-CN"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7" name="Rectangle 7">
            <a:extLst>
              <a:ext uri="{FF2B5EF4-FFF2-40B4-BE49-F238E27FC236}">
                <a16:creationId xmlns:a16="http://schemas.microsoft.com/office/drawing/2014/main" id="{DD23DD6E-1268-A246-9C31-3EEFD678CD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7CD23A-5972-F74B-BB9E-D57940AEC4FB}" type="slidenum">
              <a:rPr lang="en-US" altLang="zh-CN"/>
              <a:pPr/>
              <a:t>118</a:t>
            </a:fld>
            <a:endParaRPr lang="en-US" altLang="zh-CN"/>
          </a:p>
        </p:txBody>
      </p:sp>
      <p:sp>
        <p:nvSpPr>
          <p:cNvPr id="290818" name="Rectangle 2">
            <a:extLst>
              <a:ext uri="{FF2B5EF4-FFF2-40B4-BE49-F238E27FC236}">
                <a16:creationId xmlns:a16="http://schemas.microsoft.com/office/drawing/2014/main" id="{26C2D517-34D0-F040-A4F3-D7AA81CDC2C9}"/>
              </a:ext>
            </a:extLst>
          </p:cNvPr>
          <p:cNvSpPr>
            <a:spLocks noGrp="1" noRot="1" noChangeAspect="1" noChangeArrowheads="1" noTextEdit="1"/>
          </p:cNvSpPr>
          <p:nvPr>
            <p:ph type="sldImg" idx="4294967295"/>
          </p:nvPr>
        </p:nvSpPr>
        <p:spPr>
          <a:xfrm>
            <a:off x="3429000" y="2400300"/>
            <a:ext cx="0" cy="0"/>
          </a:xfrm>
          <a:ln/>
        </p:spPr>
      </p:sp>
      <p:sp>
        <p:nvSpPr>
          <p:cNvPr id="290819" name="Rectangle 3">
            <a:extLst>
              <a:ext uri="{FF2B5EF4-FFF2-40B4-BE49-F238E27FC236}">
                <a16:creationId xmlns:a16="http://schemas.microsoft.com/office/drawing/2014/main" id="{C88076F5-5951-1640-8521-C60A7903ECF2}"/>
              </a:ext>
            </a:extLst>
          </p:cNvPr>
          <p:cNvSpPr>
            <a:spLocks noGrp="1" noChangeArrowheads="1"/>
          </p:cNvSpPr>
          <p:nvPr>
            <p:ph type="body" idx="4294967295"/>
          </p:nvPr>
        </p:nvSpPr>
        <p:spPr>
          <a:xfrm>
            <a:off x="914400" y="6262688"/>
            <a:ext cx="1403350" cy="274637"/>
          </a:xfrm>
        </p:spPr>
        <p:txBody>
          <a:bodyPr/>
          <a:lstStyle/>
          <a:p>
            <a:pPr eaLnBrk="1" hangingPunct="1"/>
            <a:endParaRPr lang="zh-CN"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5" name="Rectangle 7">
            <a:extLst>
              <a:ext uri="{FF2B5EF4-FFF2-40B4-BE49-F238E27FC236}">
                <a16:creationId xmlns:a16="http://schemas.microsoft.com/office/drawing/2014/main" id="{42B39D58-FEDB-BA48-87CD-2F2ABAD8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2A92110-90CE-D34C-BF7B-45C490EDEA49}" type="slidenum">
              <a:rPr lang="en-US" altLang="zh-CN"/>
              <a:pPr/>
              <a:t>119</a:t>
            </a:fld>
            <a:endParaRPr lang="en-US" altLang="zh-CN"/>
          </a:p>
        </p:txBody>
      </p:sp>
      <p:sp>
        <p:nvSpPr>
          <p:cNvPr id="292866" name="Rectangle 2">
            <a:extLst>
              <a:ext uri="{FF2B5EF4-FFF2-40B4-BE49-F238E27FC236}">
                <a16:creationId xmlns:a16="http://schemas.microsoft.com/office/drawing/2014/main" id="{271F6AA4-4574-D540-924F-8E867FED0663}"/>
              </a:ext>
            </a:extLst>
          </p:cNvPr>
          <p:cNvSpPr>
            <a:spLocks noGrp="1" noRot="1" noChangeAspect="1" noChangeArrowheads="1" noTextEdit="1"/>
          </p:cNvSpPr>
          <p:nvPr>
            <p:ph type="sldImg" idx="4294967295"/>
          </p:nvPr>
        </p:nvSpPr>
        <p:spPr>
          <a:xfrm>
            <a:off x="3429000" y="2400300"/>
            <a:ext cx="0" cy="0"/>
          </a:xfrm>
          <a:ln/>
        </p:spPr>
      </p:sp>
      <p:sp>
        <p:nvSpPr>
          <p:cNvPr id="292867" name="Rectangle 3">
            <a:extLst>
              <a:ext uri="{FF2B5EF4-FFF2-40B4-BE49-F238E27FC236}">
                <a16:creationId xmlns:a16="http://schemas.microsoft.com/office/drawing/2014/main" id="{324894AB-9110-6447-9270-0CC819A1BB9D}"/>
              </a:ext>
            </a:extLst>
          </p:cNvPr>
          <p:cNvSpPr>
            <a:spLocks noGrp="1" noChangeArrowheads="1"/>
          </p:cNvSpPr>
          <p:nvPr>
            <p:ph type="body" idx="4294967295"/>
          </p:nvPr>
        </p:nvSpPr>
        <p:spPr>
          <a:xfrm>
            <a:off x="914400" y="6262688"/>
            <a:ext cx="1403350" cy="274637"/>
          </a:xfrm>
        </p:spPr>
        <p:txBody>
          <a:bodyPr/>
          <a:lstStyle/>
          <a:p>
            <a:pPr eaLnBrk="1" hangingPunct="1"/>
            <a:endParaRPr lang="zh-CN"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Rectangle 7">
            <a:extLst>
              <a:ext uri="{FF2B5EF4-FFF2-40B4-BE49-F238E27FC236}">
                <a16:creationId xmlns:a16="http://schemas.microsoft.com/office/drawing/2014/main" id="{C3DB4ABD-590E-7541-89B2-C17624962E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1A6F2F7-C565-6045-A60B-E3F5F157E38B}" type="slidenum">
              <a:rPr lang="en-US" altLang="zh-CN"/>
              <a:pPr/>
              <a:t>120</a:t>
            </a:fld>
            <a:endParaRPr lang="en-US" altLang="zh-CN"/>
          </a:p>
        </p:txBody>
      </p:sp>
      <p:sp>
        <p:nvSpPr>
          <p:cNvPr id="294914" name="Rectangle 2">
            <a:extLst>
              <a:ext uri="{FF2B5EF4-FFF2-40B4-BE49-F238E27FC236}">
                <a16:creationId xmlns:a16="http://schemas.microsoft.com/office/drawing/2014/main" id="{F62A9471-7AEF-3244-B8FF-6AD2AE46E8F5}"/>
              </a:ext>
            </a:extLst>
          </p:cNvPr>
          <p:cNvSpPr>
            <a:spLocks noGrp="1" noRot="1" noChangeAspect="1" noChangeArrowheads="1" noTextEdit="1"/>
          </p:cNvSpPr>
          <p:nvPr>
            <p:ph type="sldImg" idx="4294967295"/>
          </p:nvPr>
        </p:nvSpPr>
        <p:spPr>
          <a:xfrm>
            <a:off x="3429000" y="2400300"/>
            <a:ext cx="0" cy="0"/>
          </a:xfrm>
          <a:ln/>
        </p:spPr>
      </p:sp>
      <p:sp>
        <p:nvSpPr>
          <p:cNvPr id="294915" name="Rectangle 3">
            <a:extLst>
              <a:ext uri="{FF2B5EF4-FFF2-40B4-BE49-F238E27FC236}">
                <a16:creationId xmlns:a16="http://schemas.microsoft.com/office/drawing/2014/main" id="{F51E0972-8854-924A-ABC0-C2BBF84DECA0}"/>
              </a:ext>
            </a:extLst>
          </p:cNvPr>
          <p:cNvSpPr>
            <a:spLocks noGrp="1" noChangeArrowheads="1"/>
          </p:cNvSpPr>
          <p:nvPr>
            <p:ph type="body" idx="4294967295"/>
          </p:nvPr>
        </p:nvSpPr>
        <p:spPr>
          <a:xfrm>
            <a:off x="914400" y="6262688"/>
            <a:ext cx="1403350" cy="274637"/>
          </a:xfrm>
        </p:spPr>
        <p:txBody>
          <a:bodyPr/>
          <a:lstStyle/>
          <a:p>
            <a:pPr eaLnBrk="1" hangingPunct="1"/>
            <a:endParaRPr lang="zh-CN"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幻灯片图像占位符 1">
            <a:extLst>
              <a:ext uri="{FF2B5EF4-FFF2-40B4-BE49-F238E27FC236}">
                <a16:creationId xmlns:a16="http://schemas.microsoft.com/office/drawing/2014/main" id="{A42AAA51-F73B-2548-AE19-560F91EBC99B}"/>
              </a:ext>
            </a:extLst>
          </p:cNvPr>
          <p:cNvSpPr>
            <a:spLocks noGrp="1" noRot="1" noChangeAspect="1" noChangeArrowheads="1" noTextEdit="1"/>
          </p:cNvSpPr>
          <p:nvPr>
            <p:ph type="sldImg" idx="4294967295"/>
          </p:nvPr>
        </p:nvSpPr>
        <p:spPr>
          <a:ln/>
        </p:spPr>
      </p:sp>
      <p:sp>
        <p:nvSpPr>
          <p:cNvPr id="296962" name="备注占位符 2">
            <a:extLst>
              <a:ext uri="{FF2B5EF4-FFF2-40B4-BE49-F238E27FC236}">
                <a16:creationId xmlns:a16="http://schemas.microsoft.com/office/drawing/2014/main" id="{26B2C8C8-BA54-FF45-8C90-177FDEF49419}"/>
              </a:ext>
            </a:extLst>
          </p:cNvPr>
          <p:cNvSpPr>
            <a:spLocks noGrp="1" noChangeArrowheads="1"/>
          </p:cNvSpPr>
          <p:nvPr>
            <p:ph type="body" idx="4294967295"/>
          </p:nvPr>
        </p:nvSpPr>
        <p:spPr/>
        <p:txBody>
          <a:bodyPr/>
          <a:lstStyle/>
          <a:p>
            <a:r>
              <a:rPr lang="zh-CN" altLang="en-US"/>
              <a:t>同学们大家好，这一讲我们来了解一下</a:t>
            </a:r>
            <a:r>
              <a:rPr lang="en-US" altLang="zh-CN"/>
              <a:t>AES</a:t>
            </a:r>
            <a:r>
              <a:rPr lang="zh-CN" altLang="en-US"/>
              <a:t>算法</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幻灯片图像占位符 1">
            <a:extLst>
              <a:ext uri="{FF2B5EF4-FFF2-40B4-BE49-F238E27FC236}">
                <a16:creationId xmlns:a16="http://schemas.microsoft.com/office/drawing/2014/main" id="{849803D3-2278-ED44-A87E-AB3BCD99A7CC}"/>
              </a:ext>
            </a:extLst>
          </p:cNvPr>
          <p:cNvSpPr>
            <a:spLocks noGrp="1" noRot="1" noChangeAspect="1" noChangeArrowheads="1" noTextEdit="1"/>
          </p:cNvSpPr>
          <p:nvPr>
            <p:ph type="sldImg" idx="4294967295"/>
          </p:nvPr>
        </p:nvSpPr>
        <p:spPr>
          <a:ln/>
        </p:spPr>
      </p:sp>
      <p:sp>
        <p:nvSpPr>
          <p:cNvPr id="299010" name="备注占位符 2">
            <a:extLst>
              <a:ext uri="{FF2B5EF4-FFF2-40B4-BE49-F238E27FC236}">
                <a16:creationId xmlns:a16="http://schemas.microsoft.com/office/drawing/2014/main" id="{8D1F652B-79AB-CE47-9FA7-B43B72EB5C36}"/>
              </a:ext>
            </a:extLst>
          </p:cNvPr>
          <p:cNvSpPr>
            <a:spLocks noGrp="1" noChangeArrowheads="1"/>
          </p:cNvSpPr>
          <p:nvPr>
            <p:ph type="body" idx="4294967295"/>
          </p:nvPr>
        </p:nvSpPr>
        <p:spPr/>
        <p:txBody>
          <a:bodyPr/>
          <a:lstStyle/>
          <a:p>
            <a:r>
              <a:rPr lang="en-US" altLang="zh-CN"/>
              <a:t>AES</a:t>
            </a:r>
            <a:r>
              <a:rPr lang="zh-CN" altLang="en-US"/>
              <a:t>指的是</a:t>
            </a:r>
            <a:r>
              <a:rPr lang="en-US" altLang="zh-CN">
                <a:latin typeface="Times New Roman" panose="02020603050405020304" pitchFamily="18" charset="0"/>
              </a:rPr>
              <a:t>Advanced Encryption Standard</a:t>
            </a:r>
            <a:r>
              <a:rPr lang="zh-CN" altLang="en-US">
                <a:latin typeface="Times New Roman" panose="02020603050405020304" pitchFamily="18" charset="0"/>
              </a:rPr>
              <a:t>即高级加密标准。由于</a:t>
            </a:r>
            <a:r>
              <a:rPr lang="en-US" altLang="zh-CN">
                <a:latin typeface="Times New Roman" panose="02020603050405020304" pitchFamily="18" charset="0"/>
              </a:rPr>
              <a:t>DES</a:t>
            </a:r>
            <a:r>
              <a:rPr lang="zh-CN" altLang="en-US">
                <a:latin typeface="Times New Roman" panose="02020603050405020304" pitchFamily="18" charset="0"/>
              </a:rPr>
              <a:t>算法难以抵抗现有攻击，不能再作为加密标准，因此需要有新的标准来替代它。</a:t>
            </a:r>
            <a:r>
              <a:rPr lang="en-US" altLang="zh-CN">
                <a:latin typeface="Times New Roman" panose="02020603050405020304" pitchFamily="18" charset="0"/>
              </a:rPr>
              <a:t>1997</a:t>
            </a:r>
            <a:r>
              <a:rPr lang="zh-CN" altLang="en-US">
                <a:latin typeface="Times New Roman" panose="02020603050405020304" pitchFamily="18" charset="0"/>
              </a:rPr>
              <a:t>年</a:t>
            </a:r>
            <a:r>
              <a:rPr lang="en-US" altLang="zh-CN">
                <a:latin typeface="Times New Roman" panose="02020603050405020304" pitchFamily="18" charset="0"/>
              </a:rPr>
              <a:t>1</a:t>
            </a:r>
            <a:r>
              <a:rPr lang="zh-CN" altLang="en-US">
                <a:latin typeface="Times New Roman" panose="02020603050405020304" pitchFamily="18" charset="0"/>
              </a:rPr>
              <a:t>月，美国</a:t>
            </a:r>
            <a:r>
              <a:rPr lang="en-US" altLang="zh-CN">
                <a:latin typeface="Times New Roman" panose="02020603050405020304" pitchFamily="18" charset="0"/>
              </a:rPr>
              <a:t>NIST</a:t>
            </a:r>
            <a:r>
              <a:rPr lang="zh-CN" altLang="en-US">
                <a:latin typeface="Times New Roman" panose="02020603050405020304" pitchFamily="18" charset="0"/>
              </a:rPr>
              <a:t>向全世界密码学界发出征集</a:t>
            </a:r>
            <a:r>
              <a:rPr lang="en-US" altLang="zh-CN">
                <a:latin typeface="Times New Roman" panose="02020603050405020304" pitchFamily="18" charset="0"/>
              </a:rPr>
              <a:t>21</a:t>
            </a:r>
            <a:r>
              <a:rPr lang="zh-CN" altLang="en-US">
                <a:latin typeface="Times New Roman" panose="02020603050405020304" pitchFamily="18" charset="0"/>
              </a:rPr>
              <a:t>世纪高级加密标准（</a:t>
            </a:r>
            <a:r>
              <a:rPr lang="en-US" altLang="zh-CN">
                <a:latin typeface="Times New Roman" panose="02020603050405020304" pitchFamily="18" charset="0"/>
              </a:rPr>
              <a:t>AES——Advanced Encryption Standard</a:t>
            </a:r>
            <a:r>
              <a:rPr lang="zh-CN" altLang="en-US">
                <a:latin typeface="Times New Roman" panose="02020603050405020304" pitchFamily="18" charset="0"/>
              </a:rPr>
              <a:t>）算法的公告，并成立了</a:t>
            </a:r>
            <a:r>
              <a:rPr lang="en-US" altLang="zh-CN">
                <a:latin typeface="Times New Roman" panose="02020603050405020304" pitchFamily="18" charset="0"/>
              </a:rPr>
              <a:t>AES</a:t>
            </a:r>
            <a:r>
              <a:rPr lang="zh-CN" altLang="en-US">
                <a:latin typeface="Times New Roman" panose="02020603050405020304" pitchFamily="18" charset="0"/>
              </a:rPr>
              <a:t>标准工作研究室，</a:t>
            </a:r>
            <a:r>
              <a:rPr lang="en-US" altLang="zh-CN">
                <a:latin typeface="Times New Roman" panose="02020603050405020304" pitchFamily="18" charset="0"/>
              </a:rPr>
              <a:t>1997</a:t>
            </a:r>
            <a:r>
              <a:rPr lang="zh-CN" altLang="en-US">
                <a:latin typeface="Times New Roman" panose="02020603050405020304" pitchFamily="18" charset="0"/>
              </a:rPr>
              <a:t>年</a:t>
            </a:r>
            <a:r>
              <a:rPr lang="en-US" altLang="zh-CN">
                <a:latin typeface="Times New Roman" panose="02020603050405020304" pitchFamily="18" charset="0"/>
              </a:rPr>
              <a:t>4</a:t>
            </a:r>
            <a:r>
              <a:rPr lang="zh-CN" altLang="en-US">
                <a:latin typeface="Times New Roman" panose="02020603050405020304" pitchFamily="18" charset="0"/>
              </a:rPr>
              <a:t>月</a:t>
            </a:r>
            <a:r>
              <a:rPr lang="en-US" altLang="zh-CN">
                <a:latin typeface="Times New Roman" panose="02020603050405020304" pitchFamily="18" charset="0"/>
              </a:rPr>
              <a:t>15</a:t>
            </a:r>
            <a:r>
              <a:rPr lang="zh-CN" altLang="en-US">
                <a:latin typeface="Times New Roman" panose="02020603050405020304" pitchFamily="18" charset="0"/>
              </a:rPr>
              <a:t>日的例会制定了对</a:t>
            </a:r>
            <a:r>
              <a:rPr lang="en-US" altLang="zh-CN">
                <a:latin typeface="Times New Roman" panose="02020603050405020304" pitchFamily="18" charset="0"/>
              </a:rPr>
              <a:t>AES</a:t>
            </a:r>
            <a:r>
              <a:rPr lang="zh-CN" altLang="en-US">
                <a:latin typeface="Times New Roman" panose="02020603050405020304" pitchFamily="18" charset="0"/>
              </a:rPr>
              <a:t>的评估标准。</a:t>
            </a:r>
          </a:p>
          <a:p>
            <a:endParaRPr lang="zh-CN" altLang="en-US"/>
          </a:p>
        </p:txBody>
      </p:sp>
      <p:sp>
        <p:nvSpPr>
          <p:cNvPr id="299011" name="灯片编号占位符 3">
            <a:extLst>
              <a:ext uri="{FF2B5EF4-FFF2-40B4-BE49-F238E27FC236}">
                <a16:creationId xmlns:a16="http://schemas.microsoft.com/office/drawing/2014/main" id="{F9663F21-75E8-964C-8BB8-13F2E0555F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14EF025-F476-CA45-8749-62C59C05A548}" type="slidenum">
              <a:rPr lang="en-US" altLang="zh-CN"/>
              <a:pPr/>
              <a:t>122</a:t>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幻灯片图像占位符 1">
            <a:extLst>
              <a:ext uri="{FF2B5EF4-FFF2-40B4-BE49-F238E27FC236}">
                <a16:creationId xmlns:a16="http://schemas.microsoft.com/office/drawing/2014/main" id="{BBD9544A-296B-C440-A407-7E259A266AD9}"/>
              </a:ext>
            </a:extLst>
          </p:cNvPr>
          <p:cNvSpPr>
            <a:spLocks noGrp="1" noRot="1" noChangeAspect="1" noChangeArrowheads="1" noTextEdit="1"/>
          </p:cNvSpPr>
          <p:nvPr>
            <p:ph type="sldImg" idx="4294967295"/>
          </p:nvPr>
        </p:nvSpPr>
        <p:spPr>
          <a:ln/>
        </p:spPr>
      </p:sp>
      <p:sp>
        <p:nvSpPr>
          <p:cNvPr id="301058" name="备注占位符 2">
            <a:extLst>
              <a:ext uri="{FF2B5EF4-FFF2-40B4-BE49-F238E27FC236}">
                <a16:creationId xmlns:a16="http://schemas.microsoft.com/office/drawing/2014/main" id="{9C77175E-4E15-2B4A-9BC6-D6C1E95EEC59}"/>
              </a:ext>
            </a:extLst>
          </p:cNvPr>
          <p:cNvSpPr>
            <a:spLocks noGrp="1" noChangeArrowheads="1"/>
          </p:cNvSpPr>
          <p:nvPr>
            <p:ph type="body" idx="4294967295"/>
          </p:nvPr>
        </p:nvSpPr>
        <p:spPr/>
        <p:txBody>
          <a:bodyPr/>
          <a:lstStyle/>
          <a:p>
            <a:r>
              <a:rPr lang="en-US" altLang="zh-CN"/>
              <a:t>AES</a:t>
            </a:r>
            <a:r>
              <a:rPr lang="zh-CN" altLang="en-US"/>
              <a:t>算法征集对算法提出了</a:t>
            </a:r>
            <a:r>
              <a:rPr lang="en-US" altLang="zh-CN"/>
              <a:t>5</a:t>
            </a:r>
            <a:r>
              <a:rPr lang="zh-CN" altLang="en-US"/>
              <a:t>个要求。（</a:t>
            </a:r>
            <a:r>
              <a:rPr lang="en-US" altLang="zh-CN"/>
              <a:t>1</a:t>
            </a:r>
            <a:r>
              <a:rPr lang="zh-CN" altLang="en-US"/>
              <a:t>）</a:t>
            </a:r>
            <a:r>
              <a:rPr lang="en-US" altLang="zh-CN"/>
              <a:t>AES</a:t>
            </a:r>
            <a:r>
              <a:rPr lang="zh-CN" altLang="en-US"/>
              <a:t>是公开的；（</a:t>
            </a:r>
            <a:r>
              <a:rPr lang="en-US" altLang="zh-CN"/>
              <a:t>2</a:t>
            </a:r>
            <a:r>
              <a:rPr lang="zh-CN" altLang="en-US"/>
              <a:t>）</a:t>
            </a:r>
            <a:r>
              <a:rPr lang="en-US" altLang="zh-CN"/>
              <a:t>AES</a:t>
            </a:r>
            <a:r>
              <a:rPr lang="zh-CN" altLang="en-US"/>
              <a:t>为对称密钥分组密码体制；（</a:t>
            </a:r>
            <a:r>
              <a:rPr lang="en-US" altLang="zh-CN"/>
              <a:t>3</a:t>
            </a:r>
            <a:r>
              <a:rPr lang="zh-CN" altLang="en-US"/>
              <a:t>）</a:t>
            </a:r>
            <a:r>
              <a:rPr lang="en-US" altLang="zh-CN"/>
              <a:t>AES</a:t>
            </a:r>
            <a:r>
              <a:rPr lang="zh-CN" altLang="en-US"/>
              <a:t>的密钥长度可变，可按需要增大；（</a:t>
            </a:r>
            <a:r>
              <a:rPr lang="en-US" altLang="zh-CN"/>
              <a:t>4</a:t>
            </a:r>
            <a:r>
              <a:rPr lang="zh-CN" altLang="en-US"/>
              <a:t>）</a:t>
            </a:r>
            <a:r>
              <a:rPr lang="en-US" altLang="zh-CN"/>
              <a:t>AES</a:t>
            </a:r>
            <a:r>
              <a:rPr lang="zh-CN" altLang="en-US"/>
              <a:t>适于用软件和硬件实现；（</a:t>
            </a:r>
            <a:r>
              <a:rPr lang="en-US" altLang="zh-CN"/>
              <a:t>5</a:t>
            </a:r>
            <a:r>
              <a:rPr lang="zh-CN" altLang="en-US"/>
              <a:t>）</a:t>
            </a:r>
            <a:r>
              <a:rPr lang="en-US" altLang="zh-CN"/>
              <a:t>AES</a:t>
            </a:r>
            <a:r>
              <a:rPr lang="zh-CN" altLang="en-US"/>
              <a:t>可以自由地使用，或按符合美国国家标准（</a:t>
            </a:r>
            <a:r>
              <a:rPr lang="en-US" altLang="zh-CN"/>
              <a:t>ANST</a:t>
            </a:r>
            <a:r>
              <a:rPr lang="zh-CN" altLang="en-US"/>
              <a:t>）策略的条件使用。</a:t>
            </a:r>
          </a:p>
          <a:p>
            <a:endParaRPr lang="zh-CN" altLang="en-US"/>
          </a:p>
        </p:txBody>
      </p:sp>
      <p:sp>
        <p:nvSpPr>
          <p:cNvPr id="301059" name="灯片编号占位符 3">
            <a:extLst>
              <a:ext uri="{FF2B5EF4-FFF2-40B4-BE49-F238E27FC236}">
                <a16:creationId xmlns:a16="http://schemas.microsoft.com/office/drawing/2014/main" id="{D093EE75-5EAD-F34A-90D2-4F0058F89A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73BF4AB-246F-D947-AF6F-0C6030F614CA}" type="slidenum">
              <a:rPr lang="en-US" altLang="zh-CN"/>
              <a:pPr/>
              <a:t>123</a:t>
            </a:fld>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5" name="幻灯片图像占位符 1">
            <a:extLst>
              <a:ext uri="{FF2B5EF4-FFF2-40B4-BE49-F238E27FC236}">
                <a16:creationId xmlns:a16="http://schemas.microsoft.com/office/drawing/2014/main" id="{D9673FDE-FADE-224C-84CF-CE9E90A4587B}"/>
              </a:ext>
            </a:extLst>
          </p:cNvPr>
          <p:cNvSpPr>
            <a:spLocks noGrp="1" noRot="1" noChangeAspect="1" noChangeArrowheads="1" noTextEdit="1"/>
          </p:cNvSpPr>
          <p:nvPr>
            <p:ph type="sldImg" idx="4294967295"/>
          </p:nvPr>
        </p:nvSpPr>
        <p:spPr>
          <a:ln/>
        </p:spPr>
      </p:sp>
      <p:sp>
        <p:nvSpPr>
          <p:cNvPr id="303106" name="备注占位符 2">
            <a:extLst>
              <a:ext uri="{FF2B5EF4-FFF2-40B4-BE49-F238E27FC236}">
                <a16:creationId xmlns:a16="http://schemas.microsoft.com/office/drawing/2014/main" id="{6B422A86-1874-1C40-B9BD-3E48F2F6786A}"/>
              </a:ext>
            </a:extLst>
          </p:cNvPr>
          <p:cNvSpPr>
            <a:spLocks noGrp="1" noChangeArrowheads="1"/>
          </p:cNvSpPr>
          <p:nvPr>
            <p:ph type="body" idx="4294967295"/>
          </p:nvPr>
        </p:nvSpPr>
        <p:spPr/>
        <p:txBody>
          <a:bodyPr/>
          <a:lstStyle/>
          <a:p>
            <a:r>
              <a:rPr lang="zh-CN" altLang="en-US"/>
              <a:t>当然算法还应当可以从安全性、计算效率、内存需求、使用简便性以及灵活性几个方面来进行评估</a:t>
            </a:r>
          </a:p>
        </p:txBody>
      </p:sp>
      <p:sp>
        <p:nvSpPr>
          <p:cNvPr id="303107" name="灯片编号占位符 3">
            <a:extLst>
              <a:ext uri="{FF2B5EF4-FFF2-40B4-BE49-F238E27FC236}">
                <a16:creationId xmlns:a16="http://schemas.microsoft.com/office/drawing/2014/main" id="{185B5A9E-82A2-F047-BEA4-94DB0E8637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28A57F9-EB29-A447-84F8-EDA209033097}" type="slidenum">
              <a:rPr lang="en-US" altLang="zh-CN"/>
              <a:pPr/>
              <a:t>124</a:t>
            </a:fld>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3" name="幻灯片图像占位符 1">
            <a:extLst>
              <a:ext uri="{FF2B5EF4-FFF2-40B4-BE49-F238E27FC236}">
                <a16:creationId xmlns:a16="http://schemas.microsoft.com/office/drawing/2014/main" id="{A0CE44C0-D8CF-E842-AB24-01BA5B20CC34}"/>
              </a:ext>
            </a:extLst>
          </p:cNvPr>
          <p:cNvSpPr>
            <a:spLocks noGrp="1" noRot="1" noChangeAspect="1" noChangeArrowheads="1" noTextEdit="1"/>
          </p:cNvSpPr>
          <p:nvPr>
            <p:ph type="sldImg" idx="4294967295"/>
          </p:nvPr>
        </p:nvSpPr>
        <p:spPr>
          <a:ln/>
        </p:spPr>
      </p:sp>
      <p:sp>
        <p:nvSpPr>
          <p:cNvPr id="305154" name="备注占位符 2">
            <a:extLst>
              <a:ext uri="{FF2B5EF4-FFF2-40B4-BE49-F238E27FC236}">
                <a16:creationId xmlns:a16="http://schemas.microsoft.com/office/drawing/2014/main" id="{A6776FD8-9763-0249-9E8A-E23AF0F5C0BB}"/>
              </a:ext>
            </a:extLst>
          </p:cNvPr>
          <p:cNvSpPr>
            <a:spLocks noGrp="1" noChangeArrowheads="1"/>
          </p:cNvSpPr>
          <p:nvPr>
            <p:ph type="body" idx="4294967295"/>
          </p:nvPr>
        </p:nvSpPr>
        <p:spPr/>
        <p:txBody>
          <a:bodyPr/>
          <a:lstStyle/>
          <a:p>
            <a:r>
              <a:rPr lang="en-US" altLang="zh-CN"/>
              <a:t>1998</a:t>
            </a:r>
            <a:r>
              <a:rPr lang="zh-CN" altLang="en-US"/>
              <a:t>年</a:t>
            </a:r>
            <a:r>
              <a:rPr lang="en-US" altLang="zh-CN"/>
              <a:t>4</a:t>
            </a:r>
            <a:r>
              <a:rPr lang="zh-CN" altLang="en-US"/>
              <a:t>月</a:t>
            </a:r>
            <a:r>
              <a:rPr lang="en-US" altLang="zh-CN"/>
              <a:t>15</a:t>
            </a:r>
            <a:r>
              <a:rPr lang="zh-CN" altLang="en-US"/>
              <a:t>日全面征集</a:t>
            </a:r>
            <a:r>
              <a:rPr lang="en-US" altLang="zh-CN"/>
              <a:t>AES</a:t>
            </a:r>
            <a:r>
              <a:rPr lang="zh-CN" altLang="en-US"/>
              <a:t>算法的工作结束。</a:t>
            </a:r>
            <a:r>
              <a:rPr lang="en-US" altLang="zh-CN"/>
              <a:t>1998</a:t>
            </a:r>
            <a:r>
              <a:rPr lang="zh-CN" altLang="en-US"/>
              <a:t>年</a:t>
            </a:r>
            <a:r>
              <a:rPr lang="en-US" altLang="zh-CN"/>
              <a:t>8</a:t>
            </a:r>
            <a:r>
              <a:rPr lang="zh-CN" altLang="en-US"/>
              <a:t>月</a:t>
            </a:r>
            <a:r>
              <a:rPr lang="en-US" altLang="zh-CN"/>
              <a:t>20</a:t>
            </a:r>
            <a:r>
              <a:rPr lang="zh-CN" altLang="en-US"/>
              <a:t>日举行了首届</a:t>
            </a:r>
            <a:r>
              <a:rPr lang="en-US" altLang="zh-CN"/>
              <a:t>AES</a:t>
            </a:r>
            <a:r>
              <a:rPr lang="zh-CN" altLang="en-US"/>
              <a:t>讨论会，对涉及</a:t>
            </a:r>
            <a:r>
              <a:rPr lang="en-US" altLang="zh-CN"/>
              <a:t>14</a:t>
            </a:r>
            <a:r>
              <a:rPr lang="zh-CN" altLang="en-US"/>
              <a:t>个国家的密码学家所提出的候选</a:t>
            </a:r>
            <a:r>
              <a:rPr lang="en-US" altLang="zh-CN"/>
              <a:t>AES</a:t>
            </a:r>
            <a:r>
              <a:rPr lang="zh-CN" altLang="en-US"/>
              <a:t>算法进行了评估和测试，初选并公布了</a:t>
            </a:r>
            <a:r>
              <a:rPr lang="en-US" altLang="zh-CN"/>
              <a:t>15</a:t>
            </a:r>
            <a:r>
              <a:rPr lang="zh-CN" altLang="en-US"/>
              <a:t>个被选方案，供大家公开讨论。这些算法设计思想新颖，技术水平先进，算法的强度都超过</a:t>
            </a:r>
            <a:r>
              <a:rPr lang="en-US" altLang="zh-CN"/>
              <a:t>3-DES</a:t>
            </a:r>
            <a:r>
              <a:rPr lang="zh-CN" altLang="en-US"/>
              <a:t>，实现速度也快于</a:t>
            </a:r>
            <a:r>
              <a:rPr lang="en-US" altLang="zh-CN"/>
              <a:t>3-DES</a:t>
            </a:r>
            <a:r>
              <a:rPr lang="zh-CN" altLang="en-US"/>
              <a:t>。公布之后，密码研究者都可以对这些算法来进行攻击或安全性分析，以此来筛选这些算法。</a:t>
            </a:r>
          </a:p>
          <a:p>
            <a:endParaRPr lang="zh-CN" altLang="en-US"/>
          </a:p>
          <a:p>
            <a:endParaRPr lang="zh-CN" altLang="en-US"/>
          </a:p>
        </p:txBody>
      </p:sp>
      <p:sp>
        <p:nvSpPr>
          <p:cNvPr id="305155" name="灯片编号占位符 3">
            <a:extLst>
              <a:ext uri="{FF2B5EF4-FFF2-40B4-BE49-F238E27FC236}">
                <a16:creationId xmlns:a16="http://schemas.microsoft.com/office/drawing/2014/main" id="{B30D64FD-AF95-3449-8738-9F5B5AE2EA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CAF2E00-1FB0-674A-A366-0432DCA9AF0A}" type="slidenum">
              <a:rPr lang="en-US" altLang="zh-CN"/>
              <a:pPr/>
              <a:t>125</a:t>
            </a:fld>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1" name="幻灯片图像占位符 1">
            <a:extLst>
              <a:ext uri="{FF2B5EF4-FFF2-40B4-BE49-F238E27FC236}">
                <a16:creationId xmlns:a16="http://schemas.microsoft.com/office/drawing/2014/main" id="{FCFA9551-9221-8645-A038-BE629B68D113}"/>
              </a:ext>
            </a:extLst>
          </p:cNvPr>
          <p:cNvSpPr>
            <a:spLocks noGrp="1" noRot="1" noChangeAspect="1" noChangeArrowheads="1" noTextEdit="1"/>
          </p:cNvSpPr>
          <p:nvPr>
            <p:ph type="sldImg" idx="4294967295"/>
          </p:nvPr>
        </p:nvSpPr>
        <p:spPr>
          <a:ln/>
        </p:spPr>
      </p:sp>
      <p:sp>
        <p:nvSpPr>
          <p:cNvPr id="307202" name="备注占位符 2">
            <a:extLst>
              <a:ext uri="{FF2B5EF4-FFF2-40B4-BE49-F238E27FC236}">
                <a16:creationId xmlns:a16="http://schemas.microsoft.com/office/drawing/2014/main" id="{00F615BA-4D06-2C48-9283-7D7774144EEC}"/>
              </a:ext>
            </a:extLst>
          </p:cNvPr>
          <p:cNvSpPr>
            <a:spLocks noGrp="1" noChangeArrowheads="1"/>
          </p:cNvSpPr>
          <p:nvPr>
            <p:ph type="body" idx="4294967295"/>
          </p:nvPr>
        </p:nvSpPr>
        <p:spPr/>
        <p:txBody>
          <a:bodyPr/>
          <a:lstStyle/>
          <a:p>
            <a:r>
              <a:rPr lang="zh-CN" altLang="en-US"/>
              <a:t>经过</a:t>
            </a:r>
            <a:r>
              <a:rPr lang="en-US" altLang="zh-CN"/>
              <a:t>1</a:t>
            </a:r>
            <a:r>
              <a:rPr lang="zh-CN" altLang="en-US"/>
              <a:t>年的公开评估，</a:t>
            </a:r>
            <a:r>
              <a:rPr lang="en-US" altLang="zh-CN"/>
              <a:t>1999</a:t>
            </a:r>
            <a:r>
              <a:rPr lang="zh-CN" altLang="en-US"/>
              <a:t>年</a:t>
            </a:r>
            <a:r>
              <a:rPr lang="en-US" altLang="zh-CN"/>
              <a:t>8</a:t>
            </a:r>
            <a:r>
              <a:rPr lang="zh-CN" altLang="en-US"/>
              <a:t>月</a:t>
            </a:r>
            <a:r>
              <a:rPr lang="en-US" altLang="zh-CN"/>
              <a:t>9</a:t>
            </a:r>
            <a:r>
              <a:rPr lang="zh-CN" altLang="en-US"/>
              <a:t>日</a:t>
            </a:r>
            <a:r>
              <a:rPr lang="en-US" altLang="zh-CN"/>
              <a:t>NIST</a:t>
            </a:r>
            <a:r>
              <a:rPr lang="zh-CN" altLang="en-US"/>
              <a:t>宣布第二轮筛选出的</a:t>
            </a:r>
            <a:r>
              <a:rPr lang="en-US" altLang="zh-CN"/>
              <a:t>5</a:t>
            </a:r>
            <a:r>
              <a:rPr lang="zh-CN" altLang="en-US"/>
              <a:t>个候选算法为：。。。。最终在</a:t>
            </a:r>
            <a:r>
              <a:rPr lang="en-US" altLang="zh-CN">
                <a:latin typeface="Times New Roman" panose="02020603050405020304" pitchFamily="18" charset="0"/>
                <a:sym typeface="Monotype Sorts" pitchFamily="2" charset="2"/>
              </a:rPr>
              <a:t>2000</a:t>
            </a:r>
            <a:r>
              <a:rPr lang="zh-CN" altLang="en-US">
                <a:latin typeface="Times New Roman" panose="02020603050405020304" pitchFamily="18" charset="0"/>
                <a:sym typeface="Monotype Sorts" pitchFamily="2" charset="2"/>
              </a:rPr>
              <a:t>年</a:t>
            </a:r>
            <a:r>
              <a:rPr lang="en-US" altLang="zh-CN">
                <a:latin typeface="Times New Roman" panose="02020603050405020304" pitchFamily="18" charset="0"/>
                <a:sym typeface="Monotype Sorts" pitchFamily="2" charset="2"/>
              </a:rPr>
              <a:t>10</a:t>
            </a:r>
            <a:r>
              <a:rPr lang="zh-CN" altLang="en-US">
                <a:latin typeface="Times New Roman" panose="02020603050405020304" pitchFamily="18" charset="0"/>
                <a:sym typeface="Monotype Sorts" pitchFamily="2" charset="2"/>
              </a:rPr>
              <a:t>月</a:t>
            </a:r>
            <a:r>
              <a:rPr lang="en-US" altLang="zh-CN">
                <a:latin typeface="Times New Roman" panose="02020603050405020304" pitchFamily="18" charset="0"/>
                <a:sym typeface="Monotype Sorts" pitchFamily="2" charset="2"/>
              </a:rPr>
              <a:t>2</a:t>
            </a:r>
            <a:r>
              <a:rPr lang="zh-CN" altLang="en-US">
                <a:latin typeface="Times New Roman" panose="02020603050405020304" pitchFamily="18" charset="0"/>
                <a:sym typeface="Monotype Sorts" pitchFamily="2" charset="2"/>
              </a:rPr>
              <a:t>日，</a:t>
            </a:r>
            <a:r>
              <a:rPr lang="en-US" altLang="zh-CN">
                <a:latin typeface="Times New Roman" panose="02020603050405020304" pitchFamily="18" charset="0"/>
                <a:sym typeface="Monotype Sorts" pitchFamily="2" charset="2"/>
              </a:rPr>
              <a:t>NIST</a:t>
            </a:r>
            <a:r>
              <a:rPr lang="zh-CN" altLang="en-US">
                <a:latin typeface="Times New Roman" panose="02020603050405020304" pitchFamily="18" charset="0"/>
                <a:sym typeface="Monotype Sorts" pitchFamily="2" charset="2"/>
              </a:rPr>
              <a:t>宣布比利时的</a:t>
            </a:r>
            <a:r>
              <a:rPr lang="en-US" altLang="zh-CN">
                <a:latin typeface="Times New Roman" panose="02020603050405020304" pitchFamily="18" charset="0"/>
                <a:sym typeface="Monotype Sorts" pitchFamily="2" charset="2"/>
              </a:rPr>
              <a:t>Rijndael</a:t>
            </a:r>
            <a:r>
              <a:rPr lang="zh-CN" altLang="en-US">
                <a:latin typeface="Times New Roman" panose="02020603050405020304" pitchFamily="18" charset="0"/>
                <a:sym typeface="Monotype Sorts" pitchFamily="2" charset="2"/>
              </a:rPr>
              <a:t>作为新的</a:t>
            </a:r>
            <a:r>
              <a:rPr lang="en-US" altLang="zh-CN">
                <a:latin typeface="Times New Roman" panose="02020603050405020304" pitchFamily="18" charset="0"/>
                <a:sym typeface="Monotype Sorts" pitchFamily="2" charset="2"/>
              </a:rPr>
              <a:t>AES</a:t>
            </a:r>
          </a:p>
          <a:p>
            <a:endParaRPr lang="zh-CN" altLang="en-US"/>
          </a:p>
          <a:p>
            <a:endParaRPr lang="zh-CN" altLang="en-US"/>
          </a:p>
        </p:txBody>
      </p:sp>
      <p:sp>
        <p:nvSpPr>
          <p:cNvPr id="307203" name="灯片编号占位符 3">
            <a:extLst>
              <a:ext uri="{FF2B5EF4-FFF2-40B4-BE49-F238E27FC236}">
                <a16:creationId xmlns:a16="http://schemas.microsoft.com/office/drawing/2014/main" id="{3262E541-2BF5-4F40-A2D4-12A01BB74B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1FFC2F4-6CA8-B14B-B3B2-E0227427739E}" type="slidenum">
              <a:rPr lang="en-US" altLang="zh-CN"/>
              <a:pPr/>
              <a:t>126</a:t>
            </a:fld>
            <a:endParaRPr lang="en-US"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49" name="幻灯片图像占位符 1">
            <a:extLst>
              <a:ext uri="{FF2B5EF4-FFF2-40B4-BE49-F238E27FC236}">
                <a16:creationId xmlns:a16="http://schemas.microsoft.com/office/drawing/2014/main" id="{4BD2C777-E516-D747-BE4D-6B4CB9A7C6D9}"/>
              </a:ext>
            </a:extLst>
          </p:cNvPr>
          <p:cNvSpPr>
            <a:spLocks noGrp="1" noRot="1" noChangeAspect="1" noChangeArrowheads="1" noTextEdit="1"/>
          </p:cNvSpPr>
          <p:nvPr>
            <p:ph type="sldImg" idx="4294967295"/>
          </p:nvPr>
        </p:nvSpPr>
        <p:spPr>
          <a:ln/>
        </p:spPr>
      </p:sp>
      <p:sp>
        <p:nvSpPr>
          <p:cNvPr id="309250" name="备注占位符 2">
            <a:extLst>
              <a:ext uri="{FF2B5EF4-FFF2-40B4-BE49-F238E27FC236}">
                <a16:creationId xmlns:a16="http://schemas.microsoft.com/office/drawing/2014/main" id="{5C4D807D-A966-C94C-BB34-1E90F7733A15}"/>
              </a:ext>
            </a:extLst>
          </p:cNvPr>
          <p:cNvSpPr>
            <a:spLocks noGrp="1" noChangeArrowheads="1"/>
          </p:cNvSpPr>
          <p:nvPr>
            <p:ph type="body" idx="4294967295"/>
          </p:nvPr>
        </p:nvSpPr>
        <p:spPr/>
        <p:txBody>
          <a:bodyPr/>
          <a:lstStyle/>
          <a:p>
            <a:r>
              <a:rPr lang="en-US" altLang="zh-CN" dirty="0"/>
              <a:t>AES</a:t>
            </a:r>
            <a:r>
              <a:rPr lang="zh-CN" altLang="en-US" dirty="0"/>
              <a:t>算法设计简单，可在多个平台上快速运行，且编码紧凑，能抵抗所有已知的攻击。它没有采用</a:t>
            </a:r>
            <a:r>
              <a:rPr lang="en-US" altLang="zh-CN" dirty="0"/>
              <a:t>Feistel</a:t>
            </a:r>
            <a:r>
              <a:rPr lang="zh-CN" altLang="en-US" dirty="0"/>
              <a:t>结构，其轮函数由</a:t>
            </a:r>
            <a:r>
              <a:rPr lang="en-US" altLang="zh-CN" dirty="0"/>
              <a:t>3</a:t>
            </a:r>
            <a:r>
              <a:rPr lang="zh-CN" altLang="en-US" dirty="0"/>
              <a:t>个不同的可逆均匀变换构成，这里均匀变换是指状态中的每个比特都用类似的方法处理。</a:t>
            </a:r>
          </a:p>
        </p:txBody>
      </p:sp>
      <p:sp>
        <p:nvSpPr>
          <p:cNvPr id="309251" name="灯片编号占位符 3">
            <a:extLst>
              <a:ext uri="{FF2B5EF4-FFF2-40B4-BE49-F238E27FC236}">
                <a16:creationId xmlns:a16="http://schemas.microsoft.com/office/drawing/2014/main" id="{B705C456-FAAB-8F40-A47C-8B89477D54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2511C8B-FBD9-BE44-9BB4-12D8A79D3AF9}" type="slidenum">
              <a:rPr lang="en-US" altLang="zh-CN"/>
              <a:pPr/>
              <a:t>127</a:t>
            </a:fld>
            <a:endParaRPr lang="en-US"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7" name="幻灯片图像占位符 1">
            <a:extLst>
              <a:ext uri="{FF2B5EF4-FFF2-40B4-BE49-F238E27FC236}">
                <a16:creationId xmlns:a16="http://schemas.microsoft.com/office/drawing/2014/main" id="{009A0A1E-E089-E24B-BD35-6F839B6C5519}"/>
              </a:ext>
            </a:extLst>
          </p:cNvPr>
          <p:cNvSpPr>
            <a:spLocks noGrp="1" noRot="1" noChangeAspect="1" noChangeArrowheads="1" noTextEdit="1"/>
          </p:cNvSpPr>
          <p:nvPr>
            <p:ph type="sldImg" idx="4294967295"/>
          </p:nvPr>
        </p:nvSpPr>
        <p:spPr>
          <a:ln/>
        </p:spPr>
      </p:sp>
      <p:sp>
        <p:nvSpPr>
          <p:cNvPr id="311298" name="备注占位符 2">
            <a:extLst>
              <a:ext uri="{FF2B5EF4-FFF2-40B4-BE49-F238E27FC236}">
                <a16:creationId xmlns:a16="http://schemas.microsoft.com/office/drawing/2014/main" id="{E87C31DD-6CB9-CC45-AD3F-CDF58FE95B9B}"/>
              </a:ext>
            </a:extLst>
          </p:cNvPr>
          <p:cNvSpPr>
            <a:spLocks noGrp="1" noChangeArrowheads="1"/>
          </p:cNvSpPr>
          <p:nvPr>
            <p:ph type="body" idx="4294967295"/>
          </p:nvPr>
        </p:nvSpPr>
        <p:spPr/>
        <p:txBody>
          <a:bodyPr/>
          <a:lstStyle/>
          <a:p>
            <a:r>
              <a:rPr lang="zh-CN" altLang="en-US"/>
              <a:t>其轮函数的</a:t>
            </a:r>
            <a:r>
              <a:rPr lang="en-US" altLang="zh-CN"/>
              <a:t>3</a:t>
            </a:r>
            <a:r>
              <a:rPr lang="zh-CN" altLang="en-US"/>
              <a:t>层分别是线性混合层、非线性层和密钥加层。线性混合层确保了多轮之上的高度扩散，非线性层将具有最优的最坏情况风险性特性的</a:t>
            </a:r>
            <a:r>
              <a:rPr lang="en-US" altLang="zh-CN"/>
              <a:t>S</a:t>
            </a:r>
            <a:r>
              <a:rPr lang="zh-CN" altLang="en-US"/>
              <a:t>盒并行使用，确保混淆特性。密钥加层将单轮子密钥简单的异或到中间状态，实现了一次性掩盖</a:t>
            </a:r>
          </a:p>
        </p:txBody>
      </p:sp>
      <p:sp>
        <p:nvSpPr>
          <p:cNvPr id="311299" name="灯片编号占位符 3">
            <a:extLst>
              <a:ext uri="{FF2B5EF4-FFF2-40B4-BE49-F238E27FC236}">
                <a16:creationId xmlns:a16="http://schemas.microsoft.com/office/drawing/2014/main" id="{7B87D7F3-2A15-204C-8C9E-5EB3BD11E1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8783502-62BC-3A46-9AB3-A56E6B8D7BD5}" type="slidenum">
              <a:rPr lang="en-US" altLang="zh-CN"/>
              <a:pPr/>
              <a:t>128</a:t>
            </a:fld>
            <a:endParaRPr lang="en-US"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5" name="幻灯片图像占位符 1">
            <a:extLst>
              <a:ext uri="{FF2B5EF4-FFF2-40B4-BE49-F238E27FC236}">
                <a16:creationId xmlns:a16="http://schemas.microsoft.com/office/drawing/2014/main" id="{CC1BEC47-CB3E-D848-AB3C-249D8644207F}"/>
              </a:ext>
            </a:extLst>
          </p:cNvPr>
          <p:cNvSpPr>
            <a:spLocks noGrp="1" noRot="1" noChangeAspect="1" noChangeArrowheads="1" noTextEdit="1"/>
          </p:cNvSpPr>
          <p:nvPr>
            <p:ph type="sldImg" idx="4294967295"/>
          </p:nvPr>
        </p:nvSpPr>
        <p:spPr>
          <a:ln/>
        </p:spPr>
      </p:sp>
      <p:sp>
        <p:nvSpPr>
          <p:cNvPr id="313346" name="备注占位符 2">
            <a:extLst>
              <a:ext uri="{FF2B5EF4-FFF2-40B4-BE49-F238E27FC236}">
                <a16:creationId xmlns:a16="http://schemas.microsoft.com/office/drawing/2014/main" id="{5090DCBA-2513-5440-B14F-7A45B31C6C2E}"/>
              </a:ext>
            </a:extLst>
          </p:cNvPr>
          <p:cNvSpPr>
            <a:spLocks noGrp="1" noChangeArrowheads="1"/>
          </p:cNvSpPr>
          <p:nvPr>
            <p:ph type="body" idx="4294967295"/>
          </p:nvPr>
        </p:nvSpPr>
        <p:spPr/>
        <p:txBody>
          <a:bodyPr/>
          <a:lstStyle/>
          <a:p>
            <a:r>
              <a:rPr lang="zh-CN" altLang="en-US"/>
              <a:t>算法中明文分组可变，</a:t>
            </a:r>
            <a:r>
              <a:rPr lang="en-US" altLang="zh-CN"/>
              <a:t>128</a:t>
            </a:r>
            <a:r>
              <a:rPr lang="zh-CN" altLang="en-US"/>
              <a:t>、</a:t>
            </a:r>
            <a:r>
              <a:rPr lang="en-US" altLang="zh-CN"/>
              <a:t>192</a:t>
            </a:r>
            <a:r>
              <a:rPr lang="zh-CN" altLang="en-US"/>
              <a:t>、</a:t>
            </a:r>
            <a:r>
              <a:rPr lang="en-US" altLang="zh-CN"/>
              <a:t>256</a:t>
            </a:r>
            <a:r>
              <a:rPr lang="zh-CN" altLang="en-US"/>
              <a:t>比特。密钥长度可变，各自可独立指定为</a:t>
            </a:r>
            <a:r>
              <a:rPr lang="en-US" altLang="zh-CN"/>
              <a:t>128</a:t>
            </a:r>
            <a:r>
              <a:rPr lang="zh-CN" altLang="en-US"/>
              <a:t>、</a:t>
            </a:r>
            <a:r>
              <a:rPr lang="en-US" altLang="zh-CN"/>
              <a:t>192</a:t>
            </a:r>
            <a:r>
              <a:rPr lang="zh-CN" altLang="en-US"/>
              <a:t>、</a:t>
            </a:r>
            <a:r>
              <a:rPr lang="en-US" altLang="zh-CN"/>
              <a:t>256</a:t>
            </a:r>
            <a:r>
              <a:rPr lang="zh-CN" altLang="en-US"/>
              <a:t>比特。分组长度和密钥长度可任意组合。</a:t>
            </a:r>
            <a:r>
              <a:rPr lang="en-US" altLang="zh-CN"/>
              <a:t>AES</a:t>
            </a:r>
            <a:r>
              <a:rPr lang="zh-CN" altLang="en-US"/>
              <a:t>的中间结果称为状态状态可以用以字节为元素的矩阵阵列表示，该阵列有</a:t>
            </a:r>
            <a:r>
              <a:rPr lang="en-US" altLang="zh-CN"/>
              <a:t>4</a:t>
            </a:r>
            <a:r>
              <a:rPr lang="zh-CN" altLang="en-US"/>
              <a:t>行，列数</a:t>
            </a:r>
            <a:r>
              <a:rPr lang="en-US" altLang="zh-CN"/>
              <a:t>Nb</a:t>
            </a:r>
            <a:r>
              <a:rPr lang="zh-CN" altLang="en-US"/>
              <a:t>为分组长度除</a:t>
            </a:r>
            <a:r>
              <a:rPr lang="en-US" altLang="zh-CN"/>
              <a:t>32</a:t>
            </a:r>
            <a:r>
              <a:rPr lang="zh-CN" altLang="en-US"/>
              <a:t>。而种子密钥也是以字节为元素的矩阵阵列描述，阵列为</a:t>
            </a:r>
            <a:r>
              <a:rPr lang="en-US" altLang="zh-CN"/>
              <a:t>4</a:t>
            </a:r>
            <a:r>
              <a:rPr lang="zh-CN" altLang="en-US"/>
              <a:t>行，列数</a:t>
            </a:r>
            <a:r>
              <a:rPr lang="en-US" altLang="zh-CN"/>
              <a:t>Nk</a:t>
            </a:r>
            <a:r>
              <a:rPr lang="zh-CN" altLang="en-US"/>
              <a:t>为密钥长度除</a:t>
            </a:r>
            <a:r>
              <a:rPr lang="en-US" altLang="zh-CN"/>
              <a:t>32</a:t>
            </a:r>
          </a:p>
          <a:p>
            <a:endParaRPr lang="zh-CN" altLang="en-US"/>
          </a:p>
        </p:txBody>
      </p:sp>
      <p:sp>
        <p:nvSpPr>
          <p:cNvPr id="313347" name="灯片编号占位符 3">
            <a:extLst>
              <a:ext uri="{FF2B5EF4-FFF2-40B4-BE49-F238E27FC236}">
                <a16:creationId xmlns:a16="http://schemas.microsoft.com/office/drawing/2014/main" id="{FA68D323-A6DD-7E43-B36D-8FFC98FD27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5FF8473-0440-3547-81EB-694C063F6CF5}" type="slidenum">
              <a:rPr lang="en-US" altLang="zh-CN"/>
              <a:pPr/>
              <a:t>129</a:t>
            </a:fld>
            <a:endParaRPr lang="en-US"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3" name="幻灯片图像占位符 1">
            <a:extLst>
              <a:ext uri="{FF2B5EF4-FFF2-40B4-BE49-F238E27FC236}">
                <a16:creationId xmlns:a16="http://schemas.microsoft.com/office/drawing/2014/main" id="{8F8DC7C3-086D-4D4E-8401-36BD961C6CBC}"/>
              </a:ext>
            </a:extLst>
          </p:cNvPr>
          <p:cNvSpPr>
            <a:spLocks noGrp="1" noRot="1" noChangeAspect="1" noChangeArrowheads="1" noTextEdit="1"/>
          </p:cNvSpPr>
          <p:nvPr>
            <p:ph type="sldImg" idx="4294967295"/>
          </p:nvPr>
        </p:nvSpPr>
        <p:spPr>
          <a:ln/>
        </p:spPr>
      </p:sp>
      <p:sp>
        <p:nvSpPr>
          <p:cNvPr id="315394" name="备注占位符 2">
            <a:extLst>
              <a:ext uri="{FF2B5EF4-FFF2-40B4-BE49-F238E27FC236}">
                <a16:creationId xmlns:a16="http://schemas.microsoft.com/office/drawing/2014/main" id="{9D189202-F0C0-2046-BAFE-AA1CEA9C1D15}"/>
              </a:ext>
            </a:extLst>
          </p:cNvPr>
          <p:cNvSpPr>
            <a:spLocks noGrp="1" noChangeArrowheads="1"/>
          </p:cNvSpPr>
          <p:nvPr>
            <p:ph type="body" idx="4294967295"/>
          </p:nvPr>
        </p:nvSpPr>
        <p:spPr/>
        <p:txBody>
          <a:bodyPr/>
          <a:lstStyle/>
          <a:p>
            <a:r>
              <a:rPr lang="zh-CN" altLang="en-US"/>
              <a:t>算法的输入、输出和种子密钥都可看成字节组成的一维数组，其下标由</a:t>
            </a:r>
            <a:r>
              <a:rPr lang="en-US" altLang="zh-CN"/>
              <a:t>0</a:t>
            </a:r>
            <a:r>
              <a:rPr lang="zh-CN" altLang="en-US"/>
              <a:t>开始</a:t>
            </a:r>
          </a:p>
        </p:txBody>
      </p:sp>
      <p:sp>
        <p:nvSpPr>
          <p:cNvPr id="315395" name="灯片编号占位符 3">
            <a:extLst>
              <a:ext uri="{FF2B5EF4-FFF2-40B4-BE49-F238E27FC236}">
                <a16:creationId xmlns:a16="http://schemas.microsoft.com/office/drawing/2014/main" id="{5419EC9F-58F7-174F-8193-DCF50A43D4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6446C87-DB7F-4A43-9F0B-45BA93808141}" type="slidenum">
              <a:rPr lang="en-US" altLang="zh-CN"/>
              <a:pPr/>
              <a:t>130</a:t>
            </a:fld>
            <a:endParaRPr lang="en-US"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1" name="幻灯片图像占位符 1">
            <a:extLst>
              <a:ext uri="{FF2B5EF4-FFF2-40B4-BE49-F238E27FC236}">
                <a16:creationId xmlns:a16="http://schemas.microsoft.com/office/drawing/2014/main" id="{A7608F9C-457B-3047-89C1-F8C0A86D513D}"/>
              </a:ext>
            </a:extLst>
          </p:cNvPr>
          <p:cNvSpPr>
            <a:spLocks noGrp="1" noRot="1" noChangeAspect="1" noChangeArrowheads="1" noTextEdit="1"/>
          </p:cNvSpPr>
          <p:nvPr>
            <p:ph type="sldImg" idx="4294967295"/>
          </p:nvPr>
        </p:nvSpPr>
        <p:spPr>
          <a:ln/>
        </p:spPr>
      </p:sp>
      <p:sp>
        <p:nvSpPr>
          <p:cNvPr id="317442" name="备注占位符 2">
            <a:extLst>
              <a:ext uri="{FF2B5EF4-FFF2-40B4-BE49-F238E27FC236}">
                <a16:creationId xmlns:a16="http://schemas.microsoft.com/office/drawing/2014/main" id="{D1310D7A-5776-104F-9456-B40FC82B544C}"/>
              </a:ext>
            </a:extLst>
          </p:cNvPr>
          <p:cNvSpPr>
            <a:spLocks noGrp="1" noChangeArrowheads="1"/>
          </p:cNvSpPr>
          <p:nvPr>
            <p:ph type="body" idx="4294967295"/>
          </p:nvPr>
        </p:nvSpPr>
        <p:spPr/>
        <p:txBody>
          <a:bodyPr/>
          <a:lstStyle/>
          <a:p>
            <a:r>
              <a:rPr lang="zh-CN" altLang="en-US"/>
              <a:t>其放入和读取的方式如图所示。比如</a:t>
            </a:r>
            <a:r>
              <a:rPr lang="en-US" altLang="zh-CN"/>
              <a:t>Nb=6</a:t>
            </a:r>
            <a:r>
              <a:rPr lang="zh-CN" altLang="en-US"/>
              <a:t>时，共</a:t>
            </a:r>
            <a:r>
              <a:rPr lang="en-US" altLang="zh-CN"/>
              <a:t>24</a:t>
            </a:r>
            <a:r>
              <a:rPr lang="zh-CN" altLang="en-US"/>
              <a:t>个字节依次填充矩阵的列，密钥也是如此。</a:t>
            </a:r>
          </a:p>
        </p:txBody>
      </p:sp>
      <p:sp>
        <p:nvSpPr>
          <p:cNvPr id="317443" name="灯片编号占位符 3">
            <a:extLst>
              <a:ext uri="{FF2B5EF4-FFF2-40B4-BE49-F238E27FC236}">
                <a16:creationId xmlns:a16="http://schemas.microsoft.com/office/drawing/2014/main" id="{CEC921C3-3388-1F4E-8F09-7436C410DB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AF4C562-49CE-9744-B9D8-E784C31C9F66}" type="slidenum">
              <a:rPr lang="en-US" altLang="zh-CN"/>
              <a:pPr/>
              <a:t>131</a:t>
            </a:fld>
            <a:endParaRPr lang="en-US"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89" name="幻灯片图像占位符 1">
            <a:extLst>
              <a:ext uri="{FF2B5EF4-FFF2-40B4-BE49-F238E27FC236}">
                <a16:creationId xmlns:a16="http://schemas.microsoft.com/office/drawing/2014/main" id="{30FC36AC-335E-3243-9EB7-F44150894D22}"/>
              </a:ext>
            </a:extLst>
          </p:cNvPr>
          <p:cNvSpPr>
            <a:spLocks noGrp="1" noRot="1" noChangeAspect="1" noChangeArrowheads="1" noTextEdit="1"/>
          </p:cNvSpPr>
          <p:nvPr>
            <p:ph type="sldImg" idx="4294967295"/>
          </p:nvPr>
        </p:nvSpPr>
        <p:spPr>
          <a:ln/>
        </p:spPr>
      </p:sp>
      <p:sp>
        <p:nvSpPr>
          <p:cNvPr id="319490" name="备注占位符 2">
            <a:extLst>
              <a:ext uri="{FF2B5EF4-FFF2-40B4-BE49-F238E27FC236}">
                <a16:creationId xmlns:a16="http://schemas.microsoft.com/office/drawing/2014/main" id="{C72C8C74-EAF4-164F-9249-DB020615971C}"/>
              </a:ext>
            </a:extLst>
          </p:cNvPr>
          <p:cNvSpPr>
            <a:spLocks noGrp="1" noChangeArrowheads="1"/>
          </p:cNvSpPr>
          <p:nvPr>
            <p:ph type="body" idx="4294967295"/>
          </p:nvPr>
        </p:nvSpPr>
        <p:spPr/>
        <p:txBody>
          <a:bodyPr/>
          <a:lstStyle/>
          <a:p>
            <a:r>
              <a:rPr lang="zh-CN" altLang="en-US"/>
              <a:t>分组长度和密钥长度不同其轮函数迭代的轮数也随之改变，其对应关系如表所示，</a:t>
            </a:r>
            <a:endParaRPr lang="en-US" altLang="zh-CN"/>
          </a:p>
          <a:p>
            <a:r>
              <a:rPr lang="zh-CN" altLang="en-US"/>
              <a:t>当分组长度为</a:t>
            </a:r>
            <a:r>
              <a:rPr lang="en-US" altLang="zh-CN"/>
              <a:t>Nb*4*8=4*4*8=128</a:t>
            </a:r>
            <a:r>
              <a:rPr lang="zh-CN" altLang="en-US"/>
              <a:t>比特，密钥长度也是</a:t>
            </a:r>
            <a:r>
              <a:rPr lang="en-US" altLang="zh-CN"/>
              <a:t>Nb*4*8=4*4*8=128</a:t>
            </a:r>
            <a:r>
              <a:rPr lang="zh-CN" altLang="en-US"/>
              <a:t>比特时</a:t>
            </a:r>
            <a:r>
              <a:rPr lang="en-US" altLang="zh-CN"/>
              <a:t>,</a:t>
            </a:r>
            <a:r>
              <a:rPr lang="zh-CN" altLang="en-US"/>
              <a:t>迭代轮数为</a:t>
            </a:r>
            <a:r>
              <a:rPr lang="en-US" altLang="zh-CN"/>
              <a:t>10</a:t>
            </a:r>
            <a:r>
              <a:rPr lang="zh-CN" altLang="en-US"/>
              <a:t>轮当分组长度和密钥长度有一个达到了</a:t>
            </a:r>
            <a:r>
              <a:rPr lang="en-US" altLang="zh-CN"/>
              <a:t>6*4*8=192</a:t>
            </a:r>
            <a:r>
              <a:rPr lang="zh-CN" altLang="en-US"/>
              <a:t>比特，其迭代轮数为</a:t>
            </a:r>
            <a:r>
              <a:rPr lang="en-US" altLang="zh-CN"/>
              <a:t>12</a:t>
            </a:r>
            <a:r>
              <a:rPr lang="zh-CN" altLang="en-US"/>
              <a:t>轮，当有一个达到了</a:t>
            </a:r>
            <a:r>
              <a:rPr lang="en-US" altLang="zh-CN"/>
              <a:t>256</a:t>
            </a:r>
            <a:r>
              <a:rPr lang="zh-CN" altLang="en-US"/>
              <a:t>比特时，迭代轮数达到</a:t>
            </a:r>
            <a:r>
              <a:rPr lang="en-US" altLang="zh-CN"/>
              <a:t>14</a:t>
            </a:r>
            <a:r>
              <a:rPr lang="zh-CN" altLang="en-US"/>
              <a:t>轮。</a:t>
            </a:r>
          </a:p>
        </p:txBody>
      </p:sp>
      <p:sp>
        <p:nvSpPr>
          <p:cNvPr id="319491" name="灯片编号占位符 3">
            <a:extLst>
              <a:ext uri="{FF2B5EF4-FFF2-40B4-BE49-F238E27FC236}">
                <a16:creationId xmlns:a16="http://schemas.microsoft.com/office/drawing/2014/main" id="{7941D711-0BAC-494C-92F2-E96BC974A1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C79490B-48E8-E741-861E-11789873A0A9}" type="slidenum">
              <a:rPr lang="en-US" altLang="zh-CN"/>
              <a:pPr/>
              <a:t>132</a:t>
            </a:fld>
            <a:endParaRPr lang="en-US"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幻灯片图像占位符 1">
            <a:extLst>
              <a:ext uri="{FF2B5EF4-FFF2-40B4-BE49-F238E27FC236}">
                <a16:creationId xmlns:a16="http://schemas.microsoft.com/office/drawing/2014/main" id="{C3119380-F1C5-B441-A5FC-CE15B3AF8CE1}"/>
              </a:ext>
            </a:extLst>
          </p:cNvPr>
          <p:cNvSpPr>
            <a:spLocks noGrp="1" noRot="1" noChangeAspect="1" noChangeArrowheads="1" noTextEdit="1"/>
          </p:cNvSpPr>
          <p:nvPr>
            <p:ph type="sldImg" idx="4294967295"/>
          </p:nvPr>
        </p:nvSpPr>
        <p:spPr>
          <a:ln/>
        </p:spPr>
      </p:sp>
      <p:sp>
        <p:nvSpPr>
          <p:cNvPr id="321538" name="备注占位符 2">
            <a:extLst>
              <a:ext uri="{FF2B5EF4-FFF2-40B4-BE49-F238E27FC236}">
                <a16:creationId xmlns:a16="http://schemas.microsoft.com/office/drawing/2014/main" id="{A0EB2611-F8FA-9647-8F35-00940B0FF259}"/>
              </a:ext>
            </a:extLst>
          </p:cNvPr>
          <p:cNvSpPr>
            <a:spLocks noGrp="1" noChangeArrowheads="1"/>
          </p:cNvSpPr>
          <p:nvPr>
            <p:ph type="body" idx="4294967295"/>
          </p:nvPr>
        </p:nvSpPr>
        <p:spPr/>
        <p:txBody>
          <a:bodyPr/>
          <a:lstStyle/>
          <a:p>
            <a:r>
              <a:rPr lang="zh-CN" altLang="en-US"/>
              <a:t>这是</a:t>
            </a:r>
            <a:r>
              <a:rPr lang="en-US" altLang="zh-CN"/>
              <a:t>AES</a:t>
            </a:r>
            <a:r>
              <a:rPr lang="zh-CN" altLang="en-US"/>
              <a:t>的加密和解密流程，以分组长度和密钥长度都为</a:t>
            </a:r>
            <a:r>
              <a:rPr lang="en-US" altLang="zh-CN"/>
              <a:t>128</a:t>
            </a:r>
            <a:r>
              <a:rPr lang="zh-CN" altLang="en-US"/>
              <a:t>比特为例，其迭代轮数为</a:t>
            </a:r>
            <a:r>
              <a:rPr lang="en-US" altLang="zh-CN"/>
              <a:t>10</a:t>
            </a:r>
            <a:r>
              <a:rPr lang="zh-CN" altLang="en-US"/>
              <a:t>轮，明文首先与初始秘钥进行轮密钥加，然后进入轮函数迭代，要注意的是加密时前九轮都为四个函数运算分别是字节代换、行移位、列混淆和轮密钥加，而第</a:t>
            </a:r>
            <a:r>
              <a:rPr lang="en-US" altLang="zh-CN"/>
              <a:t>10</a:t>
            </a:r>
            <a:r>
              <a:rPr lang="zh-CN" altLang="en-US"/>
              <a:t>轮只有三个函数运算字节代换、行移位、轮密钥加，而没有列混淆，这样确保了解密时可以采用同样的结构，只不过所使用的函数是加密时函数的逆函数即逆字节代换、逆行移位、逆列混淆和轮密钥加。这里每一轮的密钥也是由初始密钥经过密钥编排产生的。解密的时候轮密钥的使用顺序与加密时正好相反，这与</a:t>
            </a:r>
            <a:r>
              <a:rPr lang="en-US" altLang="zh-CN"/>
              <a:t>DES</a:t>
            </a:r>
            <a:r>
              <a:rPr lang="zh-CN" altLang="en-US"/>
              <a:t>解密中轮密钥的使用是相同的。</a:t>
            </a:r>
          </a:p>
        </p:txBody>
      </p:sp>
      <p:sp>
        <p:nvSpPr>
          <p:cNvPr id="321539" name="灯片编号占位符 3">
            <a:extLst>
              <a:ext uri="{FF2B5EF4-FFF2-40B4-BE49-F238E27FC236}">
                <a16:creationId xmlns:a16="http://schemas.microsoft.com/office/drawing/2014/main" id="{DBAA98D8-535A-374D-AEBE-92A407A963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9774E0-76B1-D64C-A37C-0FB67213AEFC}" type="slidenum">
              <a:rPr lang="en-US" altLang="zh-CN"/>
              <a:pPr/>
              <a:t>133</a:t>
            </a:fld>
            <a:endParaRPr lang="en-US" altLang="zh-CN"/>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5" name="幻灯片图像占位符 1">
            <a:extLst>
              <a:ext uri="{FF2B5EF4-FFF2-40B4-BE49-F238E27FC236}">
                <a16:creationId xmlns:a16="http://schemas.microsoft.com/office/drawing/2014/main" id="{FAF3BBB4-913E-964B-A8E4-E1BB73D53CF2}"/>
              </a:ext>
            </a:extLst>
          </p:cNvPr>
          <p:cNvSpPr>
            <a:spLocks noGrp="1" noRot="1" noChangeAspect="1" noChangeArrowheads="1" noTextEdit="1"/>
          </p:cNvSpPr>
          <p:nvPr>
            <p:ph type="sldImg" idx="4294967295"/>
          </p:nvPr>
        </p:nvSpPr>
        <p:spPr>
          <a:ln/>
        </p:spPr>
      </p:sp>
      <p:sp>
        <p:nvSpPr>
          <p:cNvPr id="323586" name="备注占位符 2">
            <a:extLst>
              <a:ext uri="{FF2B5EF4-FFF2-40B4-BE49-F238E27FC236}">
                <a16:creationId xmlns:a16="http://schemas.microsoft.com/office/drawing/2014/main" id="{28B249F8-544D-744B-89C2-B8925773AC20}"/>
              </a:ext>
            </a:extLst>
          </p:cNvPr>
          <p:cNvSpPr>
            <a:spLocks noGrp="1" noChangeArrowheads="1"/>
          </p:cNvSpPr>
          <p:nvPr>
            <p:ph type="body" idx="4294967295"/>
          </p:nvPr>
        </p:nvSpPr>
        <p:spPr/>
        <p:txBody>
          <a:bodyPr/>
          <a:lstStyle/>
          <a:p>
            <a:r>
              <a:rPr lang="zh-CN" altLang="en-US"/>
              <a:t>同学们大家好，上一讲我们介绍了</a:t>
            </a:r>
            <a:r>
              <a:rPr lang="en-US" altLang="zh-CN"/>
              <a:t>AES</a:t>
            </a:r>
            <a:r>
              <a:rPr lang="zh-CN" altLang="en-US"/>
              <a:t>的整体结构，这一讲我们来看看</a:t>
            </a:r>
            <a:r>
              <a:rPr lang="en-US" altLang="zh-CN"/>
              <a:t>AES</a:t>
            </a:r>
            <a:r>
              <a:rPr lang="zh-CN" altLang="en-US"/>
              <a:t>轮函数的具体原理。</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3" name="幻灯片图像占位符 1">
            <a:extLst>
              <a:ext uri="{FF2B5EF4-FFF2-40B4-BE49-F238E27FC236}">
                <a16:creationId xmlns:a16="http://schemas.microsoft.com/office/drawing/2014/main" id="{4EF42D9D-F3D1-5D4A-858E-6A68E640BD04}"/>
              </a:ext>
            </a:extLst>
          </p:cNvPr>
          <p:cNvSpPr>
            <a:spLocks noGrp="1" noRot="1" noChangeAspect="1" noChangeArrowheads="1" noTextEdit="1"/>
          </p:cNvSpPr>
          <p:nvPr>
            <p:ph type="sldImg" idx="4294967295"/>
          </p:nvPr>
        </p:nvSpPr>
        <p:spPr>
          <a:ln/>
        </p:spPr>
      </p:sp>
      <p:sp>
        <p:nvSpPr>
          <p:cNvPr id="325634" name="备注占位符 2">
            <a:extLst>
              <a:ext uri="{FF2B5EF4-FFF2-40B4-BE49-F238E27FC236}">
                <a16:creationId xmlns:a16="http://schemas.microsoft.com/office/drawing/2014/main" id="{462AC2BE-3685-4F4D-A1B3-02B69C415845}"/>
              </a:ext>
            </a:extLst>
          </p:cNvPr>
          <p:cNvSpPr>
            <a:spLocks noGrp="1" noChangeArrowheads="1"/>
          </p:cNvSpPr>
          <p:nvPr>
            <p:ph type="body" idx="4294967295"/>
          </p:nvPr>
        </p:nvSpPr>
        <p:spPr/>
        <p:txBody>
          <a:bodyPr/>
          <a:lstStyle/>
          <a:p>
            <a:endParaRPr lang="zh-CN" altLang="en-US"/>
          </a:p>
        </p:txBody>
      </p:sp>
      <p:sp>
        <p:nvSpPr>
          <p:cNvPr id="325635" name="灯片编号占位符 3">
            <a:extLst>
              <a:ext uri="{FF2B5EF4-FFF2-40B4-BE49-F238E27FC236}">
                <a16:creationId xmlns:a16="http://schemas.microsoft.com/office/drawing/2014/main" id="{BB5FD7AA-308A-3041-99D6-6295D8E723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40B5382-8178-A340-A272-D00A96EA298F}" type="slidenum">
              <a:rPr lang="en-US" altLang="zh-CN"/>
              <a:pPr/>
              <a:t>135</a:t>
            </a:fld>
            <a:endParaRPr lang="en-US" altLang="zh-CN"/>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1" name="幻灯片图像占位符 1">
            <a:extLst>
              <a:ext uri="{FF2B5EF4-FFF2-40B4-BE49-F238E27FC236}">
                <a16:creationId xmlns:a16="http://schemas.microsoft.com/office/drawing/2014/main" id="{4CA9C072-0F42-C84A-8BF2-A413667EADE0}"/>
              </a:ext>
            </a:extLst>
          </p:cNvPr>
          <p:cNvSpPr>
            <a:spLocks noGrp="1" noRot="1" noChangeAspect="1" noChangeArrowheads="1" noTextEdit="1"/>
          </p:cNvSpPr>
          <p:nvPr>
            <p:ph type="sldImg" idx="4294967295"/>
          </p:nvPr>
        </p:nvSpPr>
        <p:spPr>
          <a:ln/>
        </p:spPr>
      </p:sp>
      <p:sp>
        <p:nvSpPr>
          <p:cNvPr id="327682" name="备注占位符 2">
            <a:extLst>
              <a:ext uri="{FF2B5EF4-FFF2-40B4-BE49-F238E27FC236}">
                <a16:creationId xmlns:a16="http://schemas.microsoft.com/office/drawing/2014/main" id="{DC51BE28-AB1C-534B-91EE-5CBB68510EA0}"/>
              </a:ext>
            </a:extLst>
          </p:cNvPr>
          <p:cNvSpPr>
            <a:spLocks noGrp="1" noChangeArrowheads="1"/>
          </p:cNvSpPr>
          <p:nvPr>
            <p:ph type="body" idx="4294967295"/>
          </p:nvPr>
        </p:nvSpPr>
        <p:spPr/>
        <p:txBody>
          <a:bodyPr/>
          <a:lstStyle/>
          <a:p>
            <a:r>
              <a:rPr lang="zh-CN" altLang="en-US"/>
              <a:t>这就是刚才说的这个仿射变换，这里的矩阵</a:t>
            </a:r>
            <a:r>
              <a:rPr lang="en-US" altLang="zh-CN"/>
              <a:t>A</a:t>
            </a:r>
            <a:r>
              <a:rPr lang="zh-CN" altLang="en-US"/>
              <a:t>实际上是一个循环矩阵，即每一行都是上一行循环右移一位。</a:t>
            </a:r>
          </a:p>
        </p:txBody>
      </p:sp>
      <p:sp>
        <p:nvSpPr>
          <p:cNvPr id="327683" name="灯片编号占位符 3">
            <a:extLst>
              <a:ext uri="{FF2B5EF4-FFF2-40B4-BE49-F238E27FC236}">
                <a16:creationId xmlns:a16="http://schemas.microsoft.com/office/drawing/2014/main" id="{D64CA93B-78D8-7847-96B3-F61331E7BE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5DE02AD-3CD4-5944-9E79-FC59789C8538}" type="slidenum">
              <a:rPr lang="en-US" altLang="zh-CN"/>
              <a:pPr/>
              <a:t>136</a:t>
            </a:fld>
            <a:endParaRPr lang="en-US" altLang="zh-CN"/>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29" name="幻灯片图像占位符 1">
            <a:extLst>
              <a:ext uri="{FF2B5EF4-FFF2-40B4-BE49-F238E27FC236}">
                <a16:creationId xmlns:a16="http://schemas.microsoft.com/office/drawing/2014/main" id="{0FBA6096-C6D6-2145-9B95-C417855E7EF9}"/>
              </a:ext>
            </a:extLst>
          </p:cNvPr>
          <p:cNvSpPr>
            <a:spLocks noGrp="1" noRot="1" noChangeAspect="1" noChangeArrowheads="1" noTextEdit="1"/>
          </p:cNvSpPr>
          <p:nvPr>
            <p:ph type="sldImg" idx="4294967295"/>
          </p:nvPr>
        </p:nvSpPr>
        <p:spPr>
          <a:ln/>
        </p:spPr>
      </p:sp>
      <p:sp>
        <p:nvSpPr>
          <p:cNvPr id="329730" name="备注占位符 2">
            <a:extLst>
              <a:ext uri="{FF2B5EF4-FFF2-40B4-BE49-F238E27FC236}">
                <a16:creationId xmlns:a16="http://schemas.microsoft.com/office/drawing/2014/main" id="{70F9E081-3DD4-EE4C-A76D-3BCF5B1BEB1A}"/>
              </a:ext>
            </a:extLst>
          </p:cNvPr>
          <p:cNvSpPr>
            <a:spLocks noGrp="1" noChangeArrowheads="1"/>
          </p:cNvSpPr>
          <p:nvPr>
            <p:ph type="body" idx="4294967295"/>
          </p:nvPr>
        </p:nvSpPr>
        <p:spPr/>
        <p:txBody>
          <a:bodyPr/>
          <a:lstStyle/>
          <a:p>
            <a:r>
              <a:rPr lang="zh-CN" altLang="en-US"/>
              <a:t>取遍</a:t>
            </a:r>
            <a:r>
              <a:rPr lang="en-US" altLang="zh-CN"/>
              <a:t>2</a:t>
            </a:r>
            <a:r>
              <a:rPr lang="zh-CN" altLang="en-US"/>
              <a:t>的</a:t>
            </a:r>
            <a:r>
              <a:rPr lang="en-US" altLang="zh-CN"/>
              <a:t>8</a:t>
            </a:r>
            <a:r>
              <a:rPr lang="zh-CN" altLang="en-US"/>
              <a:t>次方域上所有的值，可以得到一个</a:t>
            </a:r>
            <a:r>
              <a:rPr lang="en-US" altLang="zh-CN"/>
              <a:t>16</a:t>
            </a:r>
            <a:r>
              <a:rPr lang="zh-CN" altLang="en-US"/>
              <a:t>乘</a:t>
            </a:r>
            <a:r>
              <a:rPr lang="en-US" altLang="zh-CN"/>
              <a:t>16</a:t>
            </a:r>
            <a:r>
              <a:rPr lang="zh-CN" altLang="en-US"/>
              <a:t>的一个表，表的行号从</a:t>
            </a:r>
            <a:r>
              <a:rPr lang="en-US" altLang="zh-CN"/>
              <a:t>0</a:t>
            </a:r>
            <a:r>
              <a:rPr lang="zh-CN" altLang="en-US"/>
              <a:t>到</a:t>
            </a:r>
            <a:r>
              <a:rPr lang="en-US" altLang="zh-CN"/>
              <a:t>f</a:t>
            </a:r>
            <a:r>
              <a:rPr lang="zh-CN" altLang="en-US"/>
              <a:t>，列号也是从</a:t>
            </a:r>
            <a:r>
              <a:rPr lang="en-US" altLang="zh-CN"/>
              <a:t>0</a:t>
            </a:r>
            <a:r>
              <a:rPr lang="zh-CN" altLang="en-US"/>
              <a:t>到</a:t>
            </a:r>
            <a:r>
              <a:rPr lang="en-US" altLang="zh-CN"/>
              <a:t>f</a:t>
            </a:r>
            <a:r>
              <a:rPr lang="zh-CN" altLang="en-US"/>
              <a:t>，这就是</a:t>
            </a:r>
            <a:r>
              <a:rPr lang="en-US" altLang="zh-CN"/>
              <a:t>AES</a:t>
            </a:r>
            <a:r>
              <a:rPr lang="zh-CN" altLang="en-US"/>
              <a:t>的</a:t>
            </a:r>
            <a:r>
              <a:rPr lang="en-US" altLang="zh-CN"/>
              <a:t>S</a:t>
            </a:r>
            <a:r>
              <a:rPr lang="zh-CN" altLang="en-US"/>
              <a:t>盒。</a:t>
            </a:r>
          </a:p>
        </p:txBody>
      </p:sp>
      <p:sp>
        <p:nvSpPr>
          <p:cNvPr id="329731" name="灯片编号占位符 3">
            <a:extLst>
              <a:ext uri="{FF2B5EF4-FFF2-40B4-BE49-F238E27FC236}">
                <a16:creationId xmlns:a16="http://schemas.microsoft.com/office/drawing/2014/main" id="{4929C499-3FD2-2C4F-9024-20DA3DD262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16E4304-0B07-7C4E-93E8-13E4F3628F41}" type="slidenum">
              <a:rPr lang="en-US" altLang="zh-CN"/>
              <a:pPr/>
              <a:t>137</a:t>
            </a:fld>
            <a:endParaRPr lang="en-US" altLang="zh-CN"/>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7" name="幻灯片图像占位符 1">
            <a:extLst>
              <a:ext uri="{FF2B5EF4-FFF2-40B4-BE49-F238E27FC236}">
                <a16:creationId xmlns:a16="http://schemas.microsoft.com/office/drawing/2014/main" id="{35735B75-9AA9-4947-9151-83A68C2ADD35}"/>
              </a:ext>
            </a:extLst>
          </p:cNvPr>
          <p:cNvSpPr>
            <a:spLocks noGrp="1" noRot="1" noChangeAspect="1" noChangeArrowheads="1" noTextEdit="1"/>
          </p:cNvSpPr>
          <p:nvPr>
            <p:ph type="sldImg" idx="4294967295"/>
          </p:nvPr>
        </p:nvSpPr>
        <p:spPr>
          <a:ln/>
        </p:spPr>
      </p:sp>
      <p:sp>
        <p:nvSpPr>
          <p:cNvPr id="331778" name="备注占位符 2">
            <a:extLst>
              <a:ext uri="{FF2B5EF4-FFF2-40B4-BE49-F238E27FC236}">
                <a16:creationId xmlns:a16="http://schemas.microsoft.com/office/drawing/2014/main" id="{65D4FF84-541E-F847-A330-F861C1F3A9B6}"/>
              </a:ext>
            </a:extLst>
          </p:cNvPr>
          <p:cNvSpPr>
            <a:spLocks noGrp="1" noChangeArrowheads="1"/>
          </p:cNvSpPr>
          <p:nvPr>
            <p:ph type="body" idx="4294967295"/>
          </p:nvPr>
        </p:nvSpPr>
        <p:spPr/>
        <p:txBody>
          <a:bodyPr/>
          <a:lstStyle/>
          <a:p>
            <a:r>
              <a:rPr lang="zh-CN" altLang="en-US"/>
              <a:t>在</a:t>
            </a:r>
            <a:r>
              <a:rPr lang="en-US" altLang="zh-CN"/>
              <a:t>AES</a:t>
            </a:r>
            <a:r>
              <a:rPr lang="zh-CN" altLang="en-US"/>
              <a:t>加密过程中不用再去计算逆元和仿射变换来得到一个输入字节的输出，只需要通过查询上述</a:t>
            </a:r>
            <a:r>
              <a:rPr lang="en-US" altLang="zh-CN"/>
              <a:t>S</a:t>
            </a:r>
            <a:r>
              <a:rPr lang="zh-CN" altLang="en-US"/>
              <a:t>盒就可得到输出结果。将输入的字节高四位对应的</a:t>
            </a:r>
            <a:r>
              <a:rPr lang="en-US" altLang="zh-CN"/>
              <a:t>16</a:t>
            </a:r>
            <a:r>
              <a:rPr lang="zh-CN" altLang="en-US"/>
              <a:t>进制数作为行号，低四位对应的</a:t>
            </a:r>
            <a:r>
              <a:rPr lang="en-US" altLang="zh-CN"/>
              <a:t>16</a:t>
            </a:r>
            <a:r>
              <a:rPr lang="zh-CN" altLang="en-US"/>
              <a:t>进制数作为列号，则对应的表中的值就是输出。比如输入是</a:t>
            </a:r>
            <a:r>
              <a:rPr lang="en-US" altLang="zh-CN"/>
              <a:t>8a</a:t>
            </a:r>
            <a:r>
              <a:rPr lang="zh-CN" altLang="en-US"/>
              <a:t>，则取行号为</a:t>
            </a:r>
            <a:r>
              <a:rPr lang="en-US" altLang="zh-CN"/>
              <a:t>8</a:t>
            </a:r>
            <a:r>
              <a:rPr lang="zh-CN" altLang="en-US"/>
              <a:t>，列号为</a:t>
            </a:r>
            <a:r>
              <a:rPr lang="en-US" altLang="zh-CN"/>
              <a:t>a</a:t>
            </a:r>
            <a:r>
              <a:rPr lang="zh-CN" altLang="en-US"/>
              <a:t>，在</a:t>
            </a:r>
            <a:r>
              <a:rPr lang="en-US" altLang="zh-CN"/>
              <a:t>S</a:t>
            </a:r>
            <a:r>
              <a:rPr lang="zh-CN" altLang="en-US"/>
              <a:t>盒中对应的值是</a:t>
            </a:r>
            <a:r>
              <a:rPr lang="en-US" altLang="zh-CN"/>
              <a:t>7e</a:t>
            </a:r>
            <a:r>
              <a:rPr lang="zh-CN" altLang="en-US"/>
              <a:t>，所以可以写成</a:t>
            </a:r>
            <a:r>
              <a:rPr lang="en-US" altLang="zh-CN"/>
              <a:t>7e=S(8a)</a:t>
            </a:r>
            <a:endParaRPr lang="zh-CN" altLang="en-US"/>
          </a:p>
        </p:txBody>
      </p:sp>
      <p:sp>
        <p:nvSpPr>
          <p:cNvPr id="331779" name="灯片编号占位符 3">
            <a:extLst>
              <a:ext uri="{FF2B5EF4-FFF2-40B4-BE49-F238E27FC236}">
                <a16:creationId xmlns:a16="http://schemas.microsoft.com/office/drawing/2014/main" id="{CC1015CC-D4C5-F048-884F-2EEFA403FF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1CB195F-327A-7944-A97F-292EA628804C}" type="slidenum">
              <a:rPr lang="en-US" altLang="zh-CN"/>
              <a:pPr/>
              <a:t>138</a:t>
            </a:fld>
            <a:endParaRPr lang="en-US" altLang="zh-CN"/>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幻灯片图像占位符 1">
            <a:extLst>
              <a:ext uri="{FF2B5EF4-FFF2-40B4-BE49-F238E27FC236}">
                <a16:creationId xmlns:a16="http://schemas.microsoft.com/office/drawing/2014/main" id="{63F332D9-FD76-5143-A674-1CC9981C256E}"/>
              </a:ext>
            </a:extLst>
          </p:cNvPr>
          <p:cNvSpPr>
            <a:spLocks noGrp="1" noRot="1" noChangeAspect="1" noChangeArrowheads="1" noTextEdit="1"/>
          </p:cNvSpPr>
          <p:nvPr>
            <p:ph type="sldImg" idx="4294967295"/>
          </p:nvPr>
        </p:nvSpPr>
        <p:spPr>
          <a:ln/>
        </p:spPr>
      </p:sp>
      <p:sp>
        <p:nvSpPr>
          <p:cNvPr id="333826" name="备注占位符 2">
            <a:extLst>
              <a:ext uri="{FF2B5EF4-FFF2-40B4-BE49-F238E27FC236}">
                <a16:creationId xmlns:a16="http://schemas.microsoft.com/office/drawing/2014/main" id="{F80AA8C8-CF47-AD4C-B5CE-FB5783B9A3E5}"/>
              </a:ext>
            </a:extLst>
          </p:cNvPr>
          <p:cNvSpPr>
            <a:spLocks noGrp="1" noChangeArrowheads="1"/>
          </p:cNvSpPr>
          <p:nvPr>
            <p:ph type="body" idx="4294967295"/>
          </p:nvPr>
        </p:nvSpPr>
        <p:spPr/>
        <p:txBody>
          <a:bodyPr/>
          <a:lstStyle/>
          <a:p>
            <a:r>
              <a:rPr lang="en-US" altLang="zh-CN"/>
              <a:t>AES</a:t>
            </a:r>
            <a:r>
              <a:rPr lang="zh-CN" altLang="en-US"/>
              <a:t>在解密过程中使用的是逆</a:t>
            </a:r>
            <a:r>
              <a:rPr lang="en-US" altLang="zh-CN"/>
              <a:t>S</a:t>
            </a:r>
            <a:r>
              <a:rPr lang="zh-CN" altLang="en-US"/>
              <a:t>盒，它是通过</a:t>
            </a:r>
            <a:r>
              <a:rPr lang="en-US" altLang="zh-CN"/>
              <a:t>S</a:t>
            </a:r>
            <a:r>
              <a:rPr lang="zh-CN" altLang="en-US"/>
              <a:t>盒的逆运算得到的</a:t>
            </a:r>
          </a:p>
        </p:txBody>
      </p:sp>
      <p:sp>
        <p:nvSpPr>
          <p:cNvPr id="333827" name="灯片编号占位符 3">
            <a:extLst>
              <a:ext uri="{FF2B5EF4-FFF2-40B4-BE49-F238E27FC236}">
                <a16:creationId xmlns:a16="http://schemas.microsoft.com/office/drawing/2014/main" id="{193AA682-51E6-5B47-A7A2-556F487286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42E5592-CC3D-7A4A-9F8D-E0F9BA28B49E}" type="slidenum">
              <a:rPr lang="en-US" altLang="zh-CN"/>
              <a:pPr/>
              <a:t>139</a:t>
            </a:fld>
            <a:endParaRPr lang="en-US" altLang="zh-CN"/>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3" name="幻灯片图像占位符 1">
            <a:extLst>
              <a:ext uri="{FF2B5EF4-FFF2-40B4-BE49-F238E27FC236}">
                <a16:creationId xmlns:a16="http://schemas.microsoft.com/office/drawing/2014/main" id="{93BFE060-DA6F-9D4A-91A5-22D1331985E7}"/>
              </a:ext>
            </a:extLst>
          </p:cNvPr>
          <p:cNvSpPr>
            <a:spLocks noGrp="1" noRot="1" noChangeAspect="1" noChangeArrowheads="1" noTextEdit="1"/>
          </p:cNvSpPr>
          <p:nvPr>
            <p:ph type="sldImg" idx="4294967295"/>
          </p:nvPr>
        </p:nvSpPr>
        <p:spPr>
          <a:ln/>
        </p:spPr>
      </p:sp>
      <p:sp>
        <p:nvSpPr>
          <p:cNvPr id="335874" name="备注占位符 2">
            <a:extLst>
              <a:ext uri="{FF2B5EF4-FFF2-40B4-BE49-F238E27FC236}">
                <a16:creationId xmlns:a16="http://schemas.microsoft.com/office/drawing/2014/main" id="{8E4ED405-4021-C845-B0E9-FF60F3FD8393}"/>
              </a:ext>
            </a:extLst>
          </p:cNvPr>
          <p:cNvSpPr>
            <a:spLocks noGrp="1" noChangeArrowheads="1"/>
          </p:cNvSpPr>
          <p:nvPr>
            <p:ph type="body" idx="4294967295"/>
          </p:nvPr>
        </p:nvSpPr>
        <p:spPr/>
        <p:txBody>
          <a:bodyPr/>
          <a:lstStyle/>
          <a:p>
            <a:r>
              <a:rPr lang="zh-CN" altLang="en-US"/>
              <a:t>这就是</a:t>
            </a:r>
            <a:r>
              <a:rPr lang="en-US" altLang="zh-CN"/>
              <a:t>AES</a:t>
            </a:r>
            <a:r>
              <a:rPr lang="zh-CN" altLang="en-US"/>
              <a:t>的逆</a:t>
            </a:r>
            <a:r>
              <a:rPr lang="en-US" altLang="zh-CN"/>
              <a:t>S</a:t>
            </a:r>
            <a:r>
              <a:rPr lang="zh-CN" altLang="en-US"/>
              <a:t>盒，可以看到当输入为</a:t>
            </a:r>
            <a:r>
              <a:rPr lang="en-US" altLang="zh-CN"/>
              <a:t>7e</a:t>
            </a:r>
            <a:r>
              <a:rPr lang="zh-CN" altLang="en-US"/>
              <a:t>时，输出为</a:t>
            </a:r>
            <a:r>
              <a:rPr lang="en-US" altLang="zh-CN"/>
              <a:t>8a</a:t>
            </a:r>
            <a:endParaRPr lang="zh-CN" altLang="en-US"/>
          </a:p>
        </p:txBody>
      </p:sp>
      <p:sp>
        <p:nvSpPr>
          <p:cNvPr id="335875" name="灯片编号占位符 3">
            <a:extLst>
              <a:ext uri="{FF2B5EF4-FFF2-40B4-BE49-F238E27FC236}">
                <a16:creationId xmlns:a16="http://schemas.microsoft.com/office/drawing/2014/main" id="{7B57A3E1-86DB-E640-B8F0-8E4E145D49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3545AF6-8EF6-0C4F-A1E6-F7B5880D0D88}" type="slidenum">
              <a:rPr lang="en-US" altLang="zh-CN"/>
              <a:pPr/>
              <a:t>140</a:t>
            </a:fld>
            <a:endParaRPr lang="en-US" altLang="zh-CN"/>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1" name="Rectangle 7">
            <a:extLst>
              <a:ext uri="{FF2B5EF4-FFF2-40B4-BE49-F238E27FC236}">
                <a16:creationId xmlns:a16="http://schemas.microsoft.com/office/drawing/2014/main" id="{CAF1A75F-DC49-7D4E-80FA-4CEF08EAB7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35421A3-1B98-1C4A-8A09-8E8F4FB81C00}" type="slidenum">
              <a:rPr lang="en-US" altLang="zh-CN"/>
              <a:pPr/>
              <a:t>141</a:t>
            </a:fld>
            <a:endParaRPr lang="en-US" altLang="zh-CN"/>
          </a:p>
        </p:txBody>
      </p:sp>
      <p:sp>
        <p:nvSpPr>
          <p:cNvPr id="337922" name="Rectangle 2">
            <a:extLst>
              <a:ext uri="{FF2B5EF4-FFF2-40B4-BE49-F238E27FC236}">
                <a16:creationId xmlns:a16="http://schemas.microsoft.com/office/drawing/2014/main" id="{7C863EC7-F4B7-854A-9A87-E4AF48B5BB76}"/>
              </a:ext>
            </a:extLst>
          </p:cNvPr>
          <p:cNvSpPr>
            <a:spLocks noGrp="1" noRot="1" noChangeAspect="1" noChangeArrowheads="1" noTextEdit="1"/>
          </p:cNvSpPr>
          <p:nvPr>
            <p:ph type="sldImg" idx="4294967295"/>
          </p:nvPr>
        </p:nvSpPr>
        <p:spPr>
          <a:xfrm>
            <a:off x="3429000" y="2400300"/>
            <a:ext cx="0" cy="0"/>
          </a:xfrm>
          <a:ln/>
        </p:spPr>
      </p:sp>
      <p:sp>
        <p:nvSpPr>
          <p:cNvPr id="337923" name="Rectangle 3">
            <a:extLst>
              <a:ext uri="{FF2B5EF4-FFF2-40B4-BE49-F238E27FC236}">
                <a16:creationId xmlns:a16="http://schemas.microsoft.com/office/drawing/2014/main" id="{E01EAC08-BBBA-C94C-866B-2BAF496866CE}"/>
              </a:ext>
            </a:extLst>
          </p:cNvPr>
          <p:cNvSpPr>
            <a:spLocks noGrp="1" noChangeArrowheads="1"/>
          </p:cNvSpPr>
          <p:nvPr>
            <p:ph type="body" idx="4294967295"/>
          </p:nvPr>
        </p:nvSpPr>
        <p:spPr>
          <a:xfrm>
            <a:off x="914400" y="6262688"/>
            <a:ext cx="1403350" cy="274637"/>
          </a:xfrm>
        </p:spPr>
        <p:txBody>
          <a:bodyPr/>
          <a:lstStyle/>
          <a:p>
            <a:pPr eaLnBrk="1" hangingPunct="1"/>
            <a:r>
              <a:rPr lang="zh-CN" altLang="en-US"/>
              <a:t>上述</a:t>
            </a:r>
            <a:r>
              <a:rPr lang="en-US" altLang="zh-CN"/>
              <a:t>S-</a:t>
            </a:r>
            <a:r>
              <a:rPr lang="zh-CN" altLang="en-US"/>
              <a:t>盒对状态的所有字节进行变换，用</a:t>
            </a:r>
            <a:r>
              <a:rPr lang="en-US" altLang="zh-CN"/>
              <a:t>S</a:t>
            </a:r>
            <a:r>
              <a:rPr lang="zh-CN" altLang="en-US"/>
              <a:t>盒的输出取代原字节</a:t>
            </a:r>
            <a:endParaRPr lang="zh-CN" altLang="zh-CN"/>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69" name="幻灯片图像占位符 1">
            <a:extLst>
              <a:ext uri="{FF2B5EF4-FFF2-40B4-BE49-F238E27FC236}">
                <a16:creationId xmlns:a16="http://schemas.microsoft.com/office/drawing/2014/main" id="{7A2FCD69-19D7-744B-B377-ED9FC51475BC}"/>
              </a:ext>
            </a:extLst>
          </p:cNvPr>
          <p:cNvSpPr>
            <a:spLocks noGrp="1" noRot="1" noChangeAspect="1" noChangeArrowheads="1" noTextEdit="1"/>
          </p:cNvSpPr>
          <p:nvPr>
            <p:ph type="sldImg" idx="4294967295"/>
          </p:nvPr>
        </p:nvSpPr>
        <p:spPr>
          <a:ln/>
        </p:spPr>
      </p:sp>
      <p:sp>
        <p:nvSpPr>
          <p:cNvPr id="339970" name="备注占位符 2">
            <a:extLst>
              <a:ext uri="{FF2B5EF4-FFF2-40B4-BE49-F238E27FC236}">
                <a16:creationId xmlns:a16="http://schemas.microsoft.com/office/drawing/2014/main" id="{928818F9-3264-B843-9F15-F07715D87CCB}"/>
              </a:ext>
            </a:extLst>
          </p:cNvPr>
          <p:cNvSpPr>
            <a:spLocks noGrp="1" noChangeArrowheads="1"/>
          </p:cNvSpPr>
          <p:nvPr>
            <p:ph type="body" idx="4294967295"/>
          </p:nvPr>
        </p:nvSpPr>
        <p:spPr/>
        <p:txBody>
          <a:bodyPr/>
          <a:lstStyle/>
          <a:p>
            <a:r>
              <a:rPr lang="zh-CN" altLang="en-US"/>
              <a:t>行移位比较简单，直接将状态的各行进行循环移位，不同行的移位量不同，第</a:t>
            </a:r>
            <a:r>
              <a:rPr lang="en-US" altLang="zh-CN"/>
              <a:t>0</a:t>
            </a:r>
            <a:r>
              <a:rPr lang="zh-CN" altLang="en-US"/>
              <a:t>行不动，第一行循环左移</a:t>
            </a:r>
            <a:r>
              <a:rPr lang="en-US" altLang="zh-CN"/>
              <a:t>C1</a:t>
            </a:r>
            <a:r>
              <a:rPr lang="zh-CN" altLang="en-US"/>
              <a:t>字节，第二行循环左移</a:t>
            </a:r>
            <a:r>
              <a:rPr lang="en-US" altLang="zh-CN"/>
              <a:t>C2</a:t>
            </a:r>
            <a:r>
              <a:rPr lang="zh-CN" altLang="en-US"/>
              <a:t>字节，第三行循环左移</a:t>
            </a:r>
            <a:r>
              <a:rPr lang="en-US" altLang="zh-CN"/>
              <a:t>C3</a:t>
            </a:r>
            <a:r>
              <a:rPr lang="zh-CN" altLang="en-US"/>
              <a:t>字节。右边是</a:t>
            </a:r>
            <a:r>
              <a:rPr lang="en-US" altLang="zh-CN"/>
              <a:t>C1</a:t>
            </a:r>
            <a:r>
              <a:rPr lang="zh-CN" altLang="en-US"/>
              <a:t>、</a:t>
            </a:r>
            <a:r>
              <a:rPr lang="en-US" altLang="zh-CN"/>
              <a:t>C2</a:t>
            </a:r>
            <a:r>
              <a:rPr lang="zh-CN" altLang="en-US"/>
              <a:t>、</a:t>
            </a:r>
            <a:r>
              <a:rPr lang="en-US" altLang="zh-CN"/>
              <a:t>C3</a:t>
            </a:r>
            <a:r>
              <a:rPr lang="zh-CN" altLang="en-US"/>
              <a:t>与分组长度的关系。当分组长度为</a:t>
            </a:r>
            <a:r>
              <a:rPr lang="en-US" altLang="zh-CN"/>
              <a:t>128</a:t>
            </a:r>
            <a:r>
              <a:rPr lang="zh-CN" altLang="en-US"/>
              <a:t>和</a:t>
            </a:r>
            <a:r>
              <a:rPr lang="en-US" altLang="zh-CN"/>
              <a:t>192</a:t>
            </a:r>
            <a:r>
              <a:rPr lang="zh-CN" altLang="en-US"/>
              <a:t>比特时时，</a:t>
            </a:r>
            <a:r>
              <a:rPr lang="en-US" altLang="zh-CN"/>
              <a:t>C1</a:t>
            </a:r>
            <a:r>
              <a:rPr lang="zh-CN" altLang="en-US"/>
              <a:t>、</a:t>
            </a:r>
            <a:r>
              <a:rPr lang="en-US" altLang="zh-CN"/>
              <a:t>C2</a:t>
            </a:r>
            <a:r>
              <a:rPr lang="zh-CN" altLang="en-US"/>
              <a:t>、</a:t>
            </a:r>
            <a:r>
              <a:rPr lang="en-US" altLang="zh-CN"/>
              <a:t>C3</a:t>
            </a:r>
            <a:r>
              <a:rPr lang="zh-CN" altLang="en-US"/>
              <a:t>分别为</a:t>
            </a:r>
            <a:r>
              <a:rPr lang="en-US" altLang="zh-CN"/>
              <a:t>123</a:t>
            </a:r>
            <a:r>
              <a:rPr lang="zh-CN" altLang="en-US"/>
              <a:t>，当分组长度为</a:t>
            </a:r>
            <a:r>
              <a:rPr lang="en-US" altLang="zh-CN"/>
              <a:t>256</a:t>
            </a:r>
            <a:r>
              <a:rPr lang="zh-CN" altLang="en-US"/>
              <a:t>比特时，</a:t>
            </a:r>
            <a:r>
              <a:rPr lang="en-US" altLang="zh-CN"/>
              <a:t>C1</a:t>
            </a:r>
            <a:r>
              <a:rPr lang="zh-CN" altLang="en-US"/>
              <a:t>、</a:t>
            </a:r>
            <a:r>
              <a:rPr lang="en-US" altLang="zh-CN"/>
              <a:t>C2</a:t>
            </a:r>
            <a:r>
              <a:rPr lang="zh-CN" altLang="en-US"/>
              <a:t>、</a:t>
            </a:r>
            <a:r>
              <a:rPr lang="en-US" altLang="zh-CN"/>
              <a:t>C3</a:t>
            </a:r>
            <a:r>
              <a:rPr lang="zh-CN" altLang="en-US"/>
              <a:t>分别为</a:t>
            </a:r>
            <a:r>
              <a:rPr lang="en-US" altLang="zh-CN"/>
              <a:t>1</a:t>
            </a:r>
            <a:r>
              <a:rPr lang="zh-CN" altLang="en-US"/>
              <a:t>、</a:t>
            </a:r>
            <a:r>
              <a:rPr lang="en-US" altLang="zh-CN"/>
              <a:t>3</a:t>
            </a:r>
            <a:r>
              <a:rPr lang="zh-CN" altLang="en-US"/>
              <a:t>、</a:t>
            </a:r>
            <a:r>
              <a:rPr lang="en-US" altLang="zh-CN"/>
              <a:t>4.</a:t>
            </a:r>
            <a:endParaRPr lang="zh-CN" altLang="en-US"/>
          </a:p>
          <a:p>
            <a:endParaRPr lang="zh-CN" altLang="en-US"/>
          </a:p>
        </p:txBody>
      </p:sp>
      <p:sp>
        <p:nvSpPr>
          <p:cNvPr id="339971" name="灯片编号占位符 3">
            <a:extLst>
              <a:ext uri="{FF2B5EF4-FFF2-40B4-BE49-F238E27FC236}">
                <a16:creationId xmlns:a16="http://schemas.microsoft.com/office/drawing/2014/main" id="{D74D7BAF-A97F-E345-B7C5-CED13E4F1D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72A1046-60F1-DD42-AF18-A5574F9AA122}" type="slidenum">
              <a:rPr lang="en-US" altLang="zh-CN"/>
              <a:pPr/>
              <a:t>142</a:t>
            </a:fld>
            <a:endParaRPr lang="en-US" altLang="zh-CN"/>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7" name="Rectangle 7">
            <a:extLst>
              <a:ext uri="{FF2B5EF4-FFF2-40B4-BE49-F238E27FC236}">
                <a16:creationId xmlns:a16="http://schemas.microsoft.com/office/drawing/2014/main" id="{C9B3FC5B-3CD8-8C4F-84F4-E666DA699A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F5732DE-62B5-E449-AA34-E90AD4296783}" type="slidenum">
              <a:rPr lang="en-US" altLang="zh-CN"/>
              <a:pPr/>
              <a:t>143</a:t>
            </a:fld>
            <a:endParaRPr lang="en-US" altLang="zh-CN"/>
          </a:p>
        </p:txBody>
      </p:sp>
      <p:sp>
        <p:nvSpPr>
          <p:cNvPr id="342018" name="Rectangle 2">
            <a:extLst>
              <a:ext uri="{FF2B5EF4-FFF2-40B4-BE49-F238E27FC236}">
                <a16:creationId xmlns:a16="http://schemas.microsoft.com/office/drawing/2014/main" id="{8B9FF4E3-527B-ED40-A828-2009BC52B23E}"/>
              </a:ext>
            </a:extLst>
          </p:cNvPr>
          <p:cNvSpPr>
            <a:spLocks noGrp="1" noRot="1" noChangeAspect="1" noChangeArrowheads="1" noTextEdit="1"/>
          </p:cNvSpPr>
          <p:nvPr>
            <p:ph type="sldImg" idx="4294967295"/>
          </p:nvPr>
        </p:nvSpPr>
        <p:spPr>
          <a:xfrm>
            <a:off x="3429000" y="2400300"/>
            <a:ext cx="0" cy="0"/>
          </a:xfrm>
          <a:ln/>
        </p:spPr>
      </p:sp>
      <p:sp>
        <p:nvSpPr>
          <p:cNvPr id="342019" name="Rectangle 3">
            <a:extLst>
              <a:ext uri="{FF2B5EF4-FFF2-40B4-BE49-F238E27FC236}">
                <a16:creationId xmlns:a16="http://schemas.microsoft.com/office/drawing/2014/main" id="{8FD10B83-D795-A74C-8EA4-B9849BFC688E}"/>
              </a:ext>
            </a:extLst>
          </p:cNvPr>
          <p:cNvSpPr>
            <a:spLocks noGrp="1" noChangeArrowheads="1"/>
          </p:cNvSpPr>
          <p:nvPr>
            <p:ph type="body" idx="4294967295"/>
          </p:nvPr>
        </p:nvSpPr>
        <p:spPr>
          <a:xfrm>
            <a:off x="914400" y="6262688"/>
            <a:ext cx="1403350" cy="274637"/>
          </a:xfrm>
        </p:spPr>
        <p:txBody>
          <a:bodyPr/>
          <a:lstStyle/>
          <a:p>
            <a:pPr eaLnBrk="1" hangingPunct="1"/>
            <a:r>
              <a:rPr lang="zh-CN" altLang="en-US"/>
              <a:t>比如说，分组长度为</a:t>
            </a:r>
            <a:r>
              <a:rPr lang="en-US" altLang="zh-CN"/>
              <a:t>192</a:t>
            </a:r>
            <a:r>
              <a:rPr lang="zh-CN" altLang="en-US"/>
              <a:t>比特时，第</a:t>
            </a:r>
            <a:r>
              <a:rPr lang="en-US" altLang="zh-CN"/>
              <a:t>0</a:t>
            </a:r>
            <a:r>
              <a:rPr lang="zh-CN" altLang="en-US"/>
              <a:t>行不动，第</a:t>
            </a:r>
            <a:r>
              <a:rPr lang="en-US" altLang="zh-CN"/>
              <a:t>1</a:t>
            </a:r>
            <a:r>
              <a:rPr lang="zh-CN" altLang="en-US"/>
              <a:t>行循环左移</a:t>
            </a:r>
            <a:r>
              <a:rPr lang="en-US" altLang="zh-CN"/>
              <a:t>1</a:t>
            </a:r>
            <a:r>
              <a:rPr lang="zh-CN" altLang="en-US"/>
              <a:t>字节，第二行循环左移</a:t>
            </a:r>
            <a:r>
              <a:rPr lang="en-US" altLang="zh-CN"/>
              <a:t>2</a:t>
            </a:r>
            <a:r>
              <a:rPr lang="zh-CN" altLang="en-US"/>
              <a:t>字节，第三行循环左移</a:t>
            </a:r>
            <a:r>
              <a:rPr lang="en-US" altLang="zh-CN"/>
              <a:t>3</a:t>
            </a:r>
            <a:r>
              <a:rPr lang="zh-CN" altLang="en-US"/>
              <a:t>字节</a:t>
            </a:r>
            <a:endParaRPr lang="zh-CN" altLang="zh-CN"/>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5" name="幻灯片图像占位符 1">
            <a:extLst>
              <a:ext uri="{FF2B5EF4-FFF2-40B4-BE49-F238E27FC236}">
                <a16:creationId xmlns:a16="http://schemas.microsoft.com/office/drawing/2014/main" id="{418B50ED-82F0-C548-9ECE-74C97132FC92}"/>
              </a:ext>
            </a:extLst>
          </p:cNvPr>
          <p:cNvSpPr>
            <a:spLocks noGrp="1" noRot="1" noChangeAspect="1" noChangeArrowheads="1" noTextEdit="1"/>
          </p:cNvSpPr>
          <p:nvPr>
            <p:ph type="sldImg" idx="4294967295"/>
          </p:nvPr>
        </p:nvSpPr>
        <p:spPr>
          <a:ln/>
        </p:spPr>
      </p:sp>
      <p:sp>
        <p:nvSpPr>
          <p:cNvPr id="344066" name="备注占位符 2">
            <a:extLst>
              <a:ext uri="{FF2B5EF4-FFF2-40B4-BE49-F238E27FC236}">
                <a16:creationId xmlns:a16="http://schemas.microsoft.com/office/drawing/2014/main" id="{8E667EC5-9EA6-A948-A574-33FC3EA8BDB1}"/>
              </a:ext>
            </a:extLst>
          </p:cNvPr>
          <p:cNvSpPr>
            <a:spLocks noGrp="1" noChangeArrowheads="1"/>
          </p:cNvSpPr>
          <p:nvPr>
            <p:ph type="body" idx="4294967295"/>
          </p:nvPr>
        </p:nvSpPr>
        <p:spPr/>
        <p:txBody>
          <a:bodyPr/>
          <a:lstStyle/>
          <a:p>
            <a:r>
              <a:rPr lang="zh-CN" altLang="en-US"/>
              <a:t>解密时，</a:t>
            </a:r>
            <a:r>
              <a:rPr lang="en-US" altLang="zh-CN"/>
              <a:t>AES</a:t>
            </a:r>
            <a:r>
              <a:rPr lang="zh-CN" altLang="en-US"/>
              <a:t>使用的是逆行移位，所谓逆行移位也就是与行移位刚好相反，比如第一行，行移位循环左移</a:t>
            </a:r>
            <a:r>
              <a:rPr lang="en-US" altLang="zh-CN"/>
              <a:t>1</a:t>
            </a:r>
            <a:r>
              <a:rPr lang="zh-CN" altLang="en-US"/>
              <a:t>个字节，在逆行移位中第一行就循环右移</a:t>
            </a:r>
            <a:r>
              <a:rPr lang="en-US" altLang="zh-CN"/>
              <a:t>1</a:t>
            </a:r>
            <a:r>
              <a:rPr lang="zh-CN" altLang="en-US"/>
              <a:t>个字节，其余两行也类似。</a:t>
            </a:r>
          </a:p>
        </p:txBody>
      </p:sp>
      <p:sp>
        <p:nvSpPr>
          <p:cNvPr id="344067" name="灯片编号占位符 3">
            <a:extLst>
              <a:ext uri="{FF2B5EF4-FFF2-40B4-BE49-F238E27FC236}">
                <a16:creationId xmlns:a16="http://schemas.microsoft.com/office/drawing/2014/main" id="{6BE91813-0EDD-9946-AEC8-F6D827E106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60A03E3-B158-8A45-B05B-005D5A9F5C1B}" type="slidenum">
              <a:rPr lang="en-US" altLang="zh-CN"/>
              <a:pPr/>
              <a:t>144</a:t>
            </a:fld>
            <a:endParaRPr lang="en-US" altLang="zh-CN"/>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3" name="幻灯片图像占位符 1">
            <a:extLst>
              <a:ext uri="{FF2B5EF4-FFF2-40B4-BE49-F238E27FC236}">
                <a16:creationId xmlns:a16="http://schemas.microsoft.com/office/drawing/2014/main" id="{EAA57CF3-CA11-B34A-993C-E689D39881E9}"/>
              </a:ext>
            </a:extLst>
          </p:cNvPr>
          <p:cNvSpPr>
            <a:spLocks noGrp="1" noRot="1" noChangeAspect="1" noChangeArrowheads="1" noTextEdit="1"/>
          </p:cNvSpPr>
          <p:nvPr>
            <p:ph type="sldImg" idx="4294967295"/>
          </p:nvPr>
        </p:nvSpPr>
        <p:spPr>
          <a:ln/>
        </p:spPr>
      </p:sp>
      <p:sp>
        <p:nvSpPr>
          <p:cNvPr id="346114" name="备注占位符 2">
            <a:extLst>
              <a:ext uri="{FF2B5EF4-FFF2-40B4-BE49-F238E27FC236}">
                <a16:creationId xmlns:a16="http://schemas.microsoft.com/office/drawing/2014/main" id="{0741FFBE-C0EE-D44E-AFD6-B52CFEBC7A8C}"/>
              </a:ext>
            </a:extLst>
          </p:cNvPr>
          <p:cNvSpPr>
            <a:spLocks noGrp="1" noChangeArrowheads="1"/>
          </p:cNvSpPr>
          <p:nvPr>
            <p:ph type="body" idx="4294967295"/>
          </p:nvPr>
        </p:nvSpPr>
        <p:spPr/>
        <p:txBody>
          <a:bodyPr/>
          <a:lstStyle/>
          <a:p>
            <a:r>
              <a:rPr lang="zh-CN" altLang="en-US"/>
              <a:t>列混淆用到了我们在“有限域基础”一讲中说提到的</a:t>
            </a:r>
            <a:r>
              <a:rPr lang="en-US" altLang="zh-CN"/>
              <a:t>GF(2</a:t>
            </a:r>
            <a:r>
              <a:rPr lang="en-US" altLang="zh-CN" baseline="30000"/>
              <a:t>8</a:t>
            </a:r>
            <a:r>
              <a:rPr lang="en-US" altLang="zh-CN"/>
              <a:t>)</a:t>
            </a:r>
            <a:r>
              <a:rPr lang="zh-CN" altLang="en-US"/>
              <a:t>域上模</a:t>
            </a:r>
            <a:r>
              <a:rPr lang="en-US" altLang="zh-CN"/>
              <a:t>x</a:t>
            </a:r>
            <a:r>
              <a:rPr lang="en-US" altLang="zh-CN" baseline="30000"/>
              <a:t>4</a:t>
            </a:r>
            <a:r>
              <a:rPr lang="en-US" altLang="zh-CN"/>
              <a:t>+1</a:t>
            </a:r>
            <a:r>
              <a:rPr lang="zh-CN" altLang="en-US"/>
              <a:t>的运算。将每列视为</a:t>
            </a:r>
            <a:r>
              <a:rPr lang="en-US" altLang="zh-CN"/>
              <a:t>GF(2</a:t>
            </a:r>
            <a:r>
              <a:rPr lang="en-US" altLang="zh-CN" baseline="30000"/>
              <a:t>8</a:t>
            </a:r>
            <a:r>
              <a:rPr lang="en-US" altLang="zh-CN"/>
              <a:t>)</a:t>
            </a:r>
            <a:r>
              <a:rPr lang="zh-CN" altLang="en-US"/>
              <a:t>上多项式，与固定的多项式</a:t>
            </a:r>
            <a:r>
              <a:rPr lang="en-US" altLang="zh-CN"/>
              <a:t>c(x)</a:t>
            </a:r>
            <a:r>
              <a:rPr lang="zh-CN" altLang="en-US"/>
              <a:t>进行模</a:t>
            </a:r>
            <a:r>
              <a:rPr lang="en-US" altLang="zh-CN"/>
              <a:t>x</a:t>
            </a:r>
            <a:r>
              <a:rPr lang="en-US" altLang="zh-CN" baseline="30000"/>
              <a:t>4</a:t>
            </a:r>
            <a:r>
              <a:rPr lang="en-US" altLang="zh-CN"/>
              <a:t>+1</a:t>
            </a:r>
            <a:r>
              <a:rPr lang="zh-CN" altLang="en-US"/>
              <a:t>乘法，记为圈乘 </a:t>
            </a:r>
            <a:r>
              <a:rPr lang="en-US" altLang="zh-CN"/>
              <a:t>,</a:t>
            </a:r>
            <a:r>
              <a:rPr lang="zh-CN" altLang="en-US"/>
              <a:t>要求</a:t>
            </a:r>
            <a:r>
              <a:rPr lang="en-US" altLang="zh-CN"/>
              <a:t>c(x)</a:t>
            </a:r>
            <a:r>
              <a:rPr lang="zh-CN" altLang="en-US"/>
              <a:t>模</a:t>
            </a:r>
            <a:r>
              <a:rPr lang="en-US" altLang="zh-CN"/>
              <a:t>x</a:t>
            </a:r>
            <a:r>
              <a:rPr lang="en-US" altLang="zh-CN" baseline="30000"/>
              <a:t>4</a:t>
            </a:r>
            <a:r>
              <a:rPr lang="en-US" altLang="zh-CN"/>
              <a:t>+1</a:t>
            </a:r>
            <a:r>
              <a:rPr lang="zh-CN" altLang="en-US"/>
              <a:t>可逆。这里</a:t>
            </a:r>
            <a:r>
              <a:rPr lang="en-US" altLang="zh-CN"/>
              <a:t>c(x)=03x</a:t>
            </a:r>
            <a:r>
              <a:rPr lang="zh-CN" altLang="en-US"/>
              <a:t>立方加上</a:t>
            </a:r>
            <a:r>
              <a:rPr lang="en-US" altLang="zh-CN"/>
              <a:t>01x</a:t>
            </a:r>
            <a:r>
              <a:rPr lang="zh-CN" altLang="en-US"/>
              <a:t>平方加上</a:t>
            </a:r>
            <a:r>
              <a:rPr lang="en-US" altLang="zh-CN"/>
              <a:t>01x</a:t>
            </a:r>
            <a:r>
              <a:rPr lang="zh-CN" altLang="en-US"/>
              <a:t>加</a:t>
            </a:r>
            <a:r>
              <a:rPr lang="en-US" altLang="zh-CN"/>
              <a:t>02</a:t>
            </a:r>
            <a:r>
              <a:rPr lang="zh-CN" altLang="en-US"/>
              <a:t>，这里</a:t>
            </a:r>
            <a:r>
              <a:rPr lang="en-US" altLang="zh-CN"/>
              <a:t>01,02,03</a:t>
            </a:r>
            <a:r>
              <a:rPr lang="zh-CN" altLang="en-US"/>
              <a:t>都是</a:t>
            </a:r>
            <a:r>
              <a:rPr lang="en-US" altLang="zh-CN"/>
              <a:t>GF(2</a:t>
            </a:r>
            <a:r>
              <a:rPr lang="en-US" altLang="zh-CN" baseline="30000"/>
              <a:t>8</a:t>
            </a:r>
            <a:r>
              <a:rPr lang="en-US" altLang="zh-CN"/>
              <a:t>)</a:t>
            </a:r>
            <a:r>
              <a:rPr lang="zh-CN" altLang="en-US"/>
              <a:t>域中的元素</a:t>
            </a:r>
          </a:p>
          <a:p>
            <a:endParaRPr lang="zh-CN" altLang="en-US"/>
          </a:p>
        </p:txBody>
      </p:sp>
      <p:sp>
        <p:nvSpPr>
          <p:cNvPr id="346115" name="灯片编号占位符 3">
            <a:extLst>
              <a:ext uri="{FF2B5EF4-FFF2-40B4-BE49-F238E27FC236}">
                <a16:creationId xmlns:a16="http://schemas.microsoft.com/office/drawing/2014/main" id="{88AA2F78-2BE0-9E44-BF5E-AD605271FF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961602-7317-C54B-8331-A8A988FEFAD9}" type="slidenum">
              <a:rPr lang="en-US" altLang="zh-CN"/>
              <a:pPr/>
              <a:t>145</a:t>
            </a:fld>
            <a:endParaRPr lang="en-US" altLang="zh-CN"/>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1" name="Rectangle 7">
            <a:extLst>
              <a:ext uri="{FF2B5EF4-FFF2-40B4-BE49-F238E27FC236}">
                <a16:creationId xmlns:a16="http://schemas.microsoft.com/office/drawing/2014/main" id="{421DCF34-FB2B-3742-844F-A4A2E9D9B9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A2438D4-2E76-2840-812F-A57564A923E7}" type="slidenum">
              <a:rPr lang="en-US" altLang="zh-CN"/>
              <a:pPr/>
              <a:t>146</a:t>
            </a:fld>
            <a:endParaRPr lang="en-US" altLang="zh-CN"/>
          </a:p>
        </p:txBody>
      </p:sp>
      <p:sp>
        <p:nvSpPr>
          <p:cNvPr id="348162" name="Rectangle 2">
            <a:extLst>
              <a:ext uri="{FF2B5EF4-FFF2-40B4-BE49-F238E27FC236}">
                <a16:creationId xmlns:a16="http://schemas.microsoft.com/office/drawing/2014/main" id="{FC485B7A-626B-5E40-9046-22DA7620C57A}"/>
              </a:ext>
            </a:extLst>
          </p:cNvPr>
          <p:cNvSpPr>
            <a:spLocks noGrp="1" noRot="1" noChangeAspect="1" noChangeArrowheads="1" noTextEdit="1"/>
          </p:cNvSpPr>
          <p:nvPr>
            <p:ph type="sldImg" idx="4294967295"/>
          </p:nvPr>
        </p:nvSpPr>
        <p:spPr>
          <a:xfrm>
            <a:off x="3429000" y="2400300"/>
            <a:ext cx="0" cy="0"/>
          </a:xfrm>
          <a:ln/>
        </p:spPr>
      </p:sp>
      <p:sp>
        <p:nvSpPr>
          <p:cNvPr id="348163" name="Rectangle 3">
            <a:extLst>
              <a:ext uri="{FF2B5EF4-FFF2-40B4-BE49-F238E27FC236}">
                <a16:creationId xmlns:a16="http://schemas.microsoft.com/office/drawing/2014/main" id="{C72375C9-939F-9940-9975-3BBCAC5F27CD}"/>
              </a:ext>
            </a:extLst>
          </p:cNvPr>
          <p:cNvSpPr>
            <a:spLocks noGrp="1" noChangeArrowheads="1"/>
          </p:cNvSpPr>
          <p:nvPr>
            <p:ph type="body" idx="4294967295"/>
          </p:nvPr>
        </p:nvSpPr>
        <p:spPr>
          <a:xfrm>
            <a:off x="914400" y="6262688"/>
            <a:ext cx="1403350" cy="274637"/>
          </a:xfrm>
        </p:spPr>
        <p:txBody>
          <a:bodyPr/>
          <a:lstStyle/>
          <a:p>
            <a:pPr eaLnBrk="1" hangingPunct="1"/>
            <a:r>
              <a:rPr lang="zh-CN" altLang="en-US"/>
              <a:t>根据有限域基础这一讲，列混淆运算也可写为矩阵乘法，事实上在实现</a:t>
            </a:r>
            <a:r>
              <a:rPr lang="en-US" altLang="zh-CN"/>
              <a:t>AES</a:t>
            </a:r>
            <a:r>
              <a:rPr lang="zh-CN" altLang="en-US"/>
              <a:t>算法时，也是用矩阵运算来实现，不过要注意这里面的运算都是</a:t>
            </a:r>
            <a:r>
              <a:rPr lang="en-US" altLang="zh-CN"/>
              <a:t>GF(2</a:t>
            </a:r>
            <a:r>
              <a:rPr lang="en-US" altLang="zh-CN" baseline="30000"/>
              <a:t>8</a:t>
            </a:r>
            <a:r>
              <a:rPr lang="en-US" altLang="zh-CN"/>
              <a:t>)</a:t>
            </a:r>
            <a:r>
              <a:rPr lang="zh-CN" altLang="en-US"/>
              <a:t>域上的运算</a:t>
            </a:r>
            <a:endParaRPr lang="zh-CN" altLang="zh-CN"/>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09" name="Rectangle 7">
            <a:extLst>
              <a:ext uri="{FF2B5EF4-FFF2-40B4-BE49-F238E27FC236}">
                <a16:creationId xmlns:a16="http://schemas.microsoft.com/office/drawing/2014/main" id="{502D4635-B951-9148-BDA0-B2C728F313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186530F-3669-5442-936C-05736777AEB3}" type="slidenum">
              <a:rPr lang="en-US" altLang="zh-CN"/>
              <a:pPr/>
              <a:t>147</a:t>
            </a:fld>
            <a:endParaRPr lang="en-US" altLang="zh-CN"/>
          </a:p>
        </p:txBody>
      </p:sp>
      <p:sp>
        <p:nvSpPr>
          <p:cNvPr id="350210" name="Rectangle 2">
            <a:extLst>
              <a:ext uri="{FF2B5EF4-FFF2-40B4-BE49-F238E27FC236}">
                <a16:creationId xmlns:a16="http://schemas.microsoft.com/office/drawing/2014/main" id="{26CD940B-7A1A-3D43-9E6A-A7A70DF36ECC}"/>
              </a:ext>
            </a:extLst>
          </p:cNvPr>
          <p:cNvSpPr>
            <a:spLocks noGrp="1" noRot="1" noChangeAspect="1" noChangeArrowheads="1" noTextEdit="1"/>
          </p:cNvSpPr>
          <p:nvPr>
            <p:ph type="sldImg" idx="4294967295"/>
          </p:nvPr>
        </p:nvSpPr>
        <p:spPr>
          <a:xfrm>
            <a:off x="3429000" y="2400300"/>
            <a:ext cx="0" cy="0"/>
          </a:xfrm>
          <a:ln/>
        </p:spPr>
      </p:sp>
      <p:sp>
        <p:nvSpPr>
          <p:cNvPr id="350211" name="Rectangle 3">
            <a:extLst>
              <a:ext uri="{FF2B5EF4-FFF2-40B4-BE49-F238E27FC236}">
                <a16:creationId xmlns:a16="http://schemas.microsoft.com/office/drawing/2014/main" id="{2DD577FD-8F27-CB4A-9703-B48BF58EC6C1}"/>
              </a:ext>
            </a:extLst>
          </p:cNvPr>
          <p:cNvSpPr>
            <a:spLocks noGrp="1" noChangeArrowheads="1"/>
          </p:cNvSpPr>
          <p:nvPr>
            <p:ph type="body" idx="4294967295"/>
          </p:nvPr>
        </p:nvSpPr>
        <p:spPr>
          <a:xfrm>
            <a:off x="914400" y="6262688"/>
            <a:ext cx="1403350" cy="274637"/>
          </a:xfrm>
        </p:spPr>
        <p:txBody>
          <a:bodyPr/>
          <a:lstStyle/>
          <a:p>
            <a:pPr eaLnBrk="1" hangingPunct="1"/>
            <a:r>
              <a:rPr lang="zh-CN" altLang="en-US"/>
              <a:t>列混淆也就如示意图所示，将每一列取出来与</a:t>
            </a:r>
            <a:r>
              <a:rPr lang="en-US" altLang="zh-CN"/>
              <a:t>C(x)</a:t>
            </a:r>
            <a:r>
              <a:rPr lang="zh-CN" altLang="en-US"/>
              <a:t>对应的矩阵相乘得到</a:t>
            </a:r>
            <a:r>
              <a:rPr lang="en-US" altLang="zh-CN"/>
              <a:t>4</a:t>
            </a:r>
            <a:r>
              <a:rPr lang="zh-CN" altLang="en-US"/>
              <a:t>个字节的列向量替换原来的列向量</a:t>
            </a:r>
            <a:endParaRPr lang="zh-CN" altLang="zh-CN"/>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7" name="幻灯片图像占位符 1">
            <a:extLst>
              <a:ext uri="{FF2B5EF4-FFF2-40B4-BE49-F238E27FC236}">
                <a16:creationId xmlns:a16="http://schemas.microsoft.com/office/drawing/2014/main" id="{81B71832-733D-BC4A-B403-DABF5FEB5C00}"/>
              </a:ext>
            </a:extLst>
          </p:cNvPr>
          <p:cNvSpPr>
            <a:spLocks noGrp="1" noRot="1" noChangeAspect="1" noChangeArrowheads="1" noTextEdit="1"/>
          </p:cNvSpPr>
          <p:nvPr>
            <p:ph type="sldImg" idx="4294967295"/>
          </p:nvPr>
        </p:nvSpPr>
        <p:spPr>
          <a:ln/>
        </p:spPr>
      </p:sp>
      <p:sp>
        <p:nvSpPr>
          <p:cNvPr id="352258" name="备注占位符 2">
            <a:extLst>
              <a:ext uri="{FF2B5EF4-FFF2-40B4-BE49-F238E27FC236}">
                <a16:creationId xmlns:a16="http://schemas.microsoft.com/office/drawing/2014/main" id="{A08A38D3-5DC4-EE4D-BE92-4AC0D354C2F2}"/>
              </a:ext>
            </a:extLst>
          </p:cNvPr>
          <p:cNvSpPr>
            <a:spLocks noGrp="1" noChangeArrowheads="1"/>
          </p:cNvSpPr>
          <p:nvPr>
            <p:ph type="body" idx="4294967295"/>
          </p:nvPr>
        </p:nvSpPr>
        <p:spPr/>
        <p:txBody>
          <a:bodyPr/>
          <a:lstStyle/>
          <a:p>
            <a:r>
              <a:rPr lang="zh-CN" altLang="en-US"/>
              <a:t>解密中使用的是逆列混淆，它是列混淆的逆函数，这也就是为什么要求</a:t>
            </a:r>
            <a:r>
              <a:rPr lang="en-US" altLang="zh-CN"/>
              <a:t>c(x)</a:t>
            </a:r>
            <a:r>
              <a:rPr lang="zh-CN" altLang="en-US"/>
              <a:t>可逆的原因</a:t>
            </a:r>
          </a:p>
        </p:txBody>
      </p:sp>
      <p:sp>
        <p:nvSpPr>
          <p:cNvPr id="352259" name="灯片编号占位符 3">
            <a:extLst>
              <a:ext uri="{FF2B5EF4-FFF2-40B4-BE49-F238E27FC236}">
                <a16:creationId xmlns:a16="http://schemas.microsoft.com/office/drawing/2014/main" id="{49C3998B-5D02-344C-98CD-A663D88C35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8C00E1E-0556-0B4C-B7CD-B8A7CAF13FB2}" type="slidenum">
              <a:rPr lang="en-US" altLang="zh-CN"/>
              <a:pPr/>
              <a:t>148</a:t>
            </a:fld>
            <a:endParaRPr lang="en-US" altLang="zh-CN"/>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5" name="幻灯片图像占位符 1">
            <a:extLst>
              <a:ext uri="{FF2B5EF4-FFF2-40B4-BE49-F238E27FC236}">
                <a16:creationId xmlns:a16="http://schemas.microsoft.com/office/drawing/2014/main" id="{D85B63AE-CAA6-2C4C-9047-622CA27BA64D}"/>
              </a:ext>
            </a:extLst>
          </p:cNvPr>
          <p:cNvSpPr>
            <a:spLocks noGrp="1" noRot="1" noChangeAspect="1" noChangeArrowheads="1" noTextEdit="1"/>
          </p:cNvSpPr>
          <p:nvPr>
            <p:ph type="sldImg" idx="4294967295"/>
          </p:nvPr>
        </p:nvSpPr>
        <p:spPr>
          <a:ln/>
        </p:spPr>
      </p:sp>
      <p:sp>
        <p:nvSpPr>
          <p:cNvPr id="354306" name="备注占位符 2">
            <a:extLst>
              <a:ext uri="{FF2B5EF4-FFF2-40B4-BE49-F238E27FC236}">
                <a16:creationId xmlns:a16="http://schemas.microsoft.com/office/drawing/2014/main" id="{2E08F733-AFB0-8E43-8719-E8079F1EBB60}"/>
              </a:ext>
            </a:extLst>
          </p:cNvPr>
          <p:cNvSpPr>
            <a:spLocks noGrp="1" noChangeArrowheads="1"/>
          </p:cNvSpPr>
          <p:nvPr>
            <p:ph type="body" idx="4294967295"/>
          </p:nvPr>
        </p:nvSpPr>
        <p:spPr/>
        <p:txBody>
          <a:bodyPr/>
          <a:lstStyle/>
          <a:p>
            <a:r>
              <a:rPr lang="zh-CN" altLang="en-US"/>
              <a:t>同样，逆列混淆可以写成矩阵乘法形式 。这是他的矩阵表示。</a:t>
            </a:r>
          </a:p>
        </p:txBody>
      </p:sp>
      <p:sp>
        <p:nvSpPr>
          <p:cNvPr id="354307" name="灯片编号占位符 3">
            <a:extLst>
              <a:ext uri="{FF2B5EF4-FFF2-40B4-BE49-F238E27FC236}">
                <a16:creationId xmlns:a16="http://schemas.microsoft.com/office/drawing/2014/main" id="{F2BB4987-C065-A548-8A60-6B77B5875A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DC6C1B8-5049-1D4E-9333-66F0B41E314F}" type="slidenum">
              <a:rPr lang="en-US" altLang="zh-CN"/>
              <a:pPr/>
              <a:t>149</a:t>
            </a:fld>
            <a:endParaRPr lang="en-US" altLang="zh-CN"/>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3" name="幻灯片图像占位符 1">
            <a:extLst>
              <a:ext uri="{FF2B5EF4-FFF2-40B4-BE49-F238E27FC236}">
                <a16:creationId xmlns:a16="http://schemas.microsoft.com/office/drawing/2014/main" id="{5D086972-9DD3-EF47-B4D4-9DDADFA5BC65}"/>
              </a:ext>
            </a:extLst>
          </p:cNvPr>
          <p:cNvSpPr>
            <a:spLocks noGrp="1" noRot="1" noChangeAspect="1" noChangeArrowheads="1" noTextEdit="1"/>
          </p:cNvSpPr>
          <p:nvPr>
            <p:ph type="sldImg" idx="4294967295"/>
          </p:nvPr>
        </p:nvSpPr>
        <p:spPr>
          <a:ln/>
        </p:spPr>
      </p:sp>
      <p:sp>
        <p:nvSpPr>
          <p:cNvPr id="356354" name="备注占位符 2">
            <a:extLst>
              <a:ext uri="{FF2B5EF4-FFF2-40B4-BE49-F238E27FC236}">
                <a16:creationId xmlns:a16="http://schemas.microsoft.com/office/drawing/2014/main" id="{0C567C0C-41B9-8848-A0C3-00EFFFFFAF1A}"/>
              </a:ext>
            </a:extLst>
          </p:cNvPr>
          <p:cNvSpPr>
            <a:spLocks noGrp="1" noChangeArrowheads="1"/>
          </p:cNvSpPr>
          <p:nvPr>
            <p:ph type="body" idx="4294967295"/>
          </p:nvPr>
        </p:nvSpPr>
        <p:spPr/>
        <p:txBody>
          <a:bodyPr/>
          <a:lstStyle/>
          <a:p>
            <a:r>
              <a:rPr lang="zh-CN" altLang="en-US"/>
              <a:t>轮密钥加就是将轮密钥与状态进行逐比特异或。轮密钥由种子密钥通过密钥编排算法得到，轮密钥长度与分组密钥长度相同。轮密钥加的逆还是轮密钥加。</a:t>
            </a:r>
          </a:p>
        </p:txBody>
      </p:sp>
      <p:sp>
        <p:nvSpPr>
          <p:cNvPr id="356355" name="灯片编号占位符 3">
            <a:extLst>
              <a:ext uri="{FF2B5EF4-FFF2-40B4-BE49-F238E27FC236}">
                <a16:creationId xmlns:a16="http://schemas.microsoft.com/office/drawing/2014/main" id="{3B2918D2-9060-594F-A24E-B1343893C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E0A06D6-F0DC-174B-AF7E-43AF5C7D0875}" type="slidenum">
              <a:rPr lang="en-US" altLang="zh-CN"/>
              <a:pPr/>
              <a:t>150</a:t>
            </a:fld>
            <a:endParaRPr lang="en-US" altLang="zh-CN"/>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1" name="幻灯片图像占位符 1">
            <a:extLst>
              <a:ext uri="{FF2B5EF4-FFF2-40B4-BE49-F238E27FC236}">
                <a16:creationId xmlns:a16="http://schemas.microsoft.com/office/drawing/2014/main" id="{786F1533-30C9-1046-8C03-90006DB8A96E}"/>
              </a:ext>
            </a:extLst>
          </p:cNvPr>
          <p:cNvSpPr>
            <a:spLocks noGrp="1" noRot="1" noChangeAspect="1" noChangeArrowheads="1" noTextEdit="1"/>
          </p:cNvSpPr>
          <p:nvPr>
            <p:ph type="sldImg" idx="4294967295"/>
          </p:nvPr>
        </p:nvSpPr>
        <p:spPr>
          <a:ln/>
        </p:spPr>
      </p:sp>
      <p:sp>
        <p:nvSpPr>
          <p:cNvPr id="358402" name="备注占位符 2">
            <a:extLst>
              <a:ext uri="{FF2B5EF4-FFF2-40B4-BE49-F238E27FC236}">
                <a16:creationId xmlns:a16="http://schemas.microsoft.com/office/drawing/2014/main" id="{1E58AEDD-CDFC-7D4F-89AA-355ED3B64D14}"/>
              </a:ext>
            </a:extLst>
          </p:cNvPr>
          <p:cNvSpPr>
            <a:spLocks noGrp="1" noChangeArrowheads="1"/>
          </p:cNvSpPr>
          <p:nvPr>
            <p:ph type="body" idx="4294967295"/>
          </p:nvPr>
        </p:nvSpPr>
        <p:spPr/>
        <p:txBody>
          <a:bodyPr/>
          <a:lstStyle/>
          <a:p>
            <a:r>
              <a:rPr lang="zh-CN" altLang="en-US"/>
              <a:t>同学们大家好，上一讲我们介绍了</a:t>
            </a:r>
            <a:r>
              <a:rPr lang="en-US" altLang="zh-CN"/>
              <a:t>AES</a:t>
            </a:r>
            <a:r>
              <a:rPr lang="zh-CN" altLang="en-US"/>
              <a:t>算法的轮函数，这一讲我们来看看</a:t>
            </a:r>
            <a:r>
              <a:rPr lang="en-US" altLang="zh-CN"/>
              <a:t>AES</a:t>
            </a:r>
            <a:r>
              <a:rPr lang="zh-CN" altLang="en-US"/>
              <a:t>的密钥编排</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49" name="Rectangle 7">
            <a:extLst>
              <a:ext uri="{FF2B5EF4-FFF2-40B4-BE49-F238E27FC236}">
                <a16:creationId xmlns:a16="http://schemas.microsoft.com/office/drawing/2014/main" id="{1CFD5BCE-87A6-A742-BBB9-04D4F02A51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5691D57-F967-CE4F-AA3E-0A433AF06947}" type="slidenum">
              <a:rPr lang="en-US" altLang="zh-CN"/>
              <a:pPr/>
              <a:t>152</a:t>
            </a:fld>
            <a:endParaRPr lang="en-US" altLang="zh-CN"/>
          </a:p>
        </p:txBody>
      </p:sp>
      <p:sp>
        <p:nvSpPr>
          <p:cNvPr id="360450" name="Rectangle 2">
            <a:extLst>
              <a:ext uri="{FF2B5EF4-FFF2-40B4-BE49-F238E27FC236}">
                <a16:creationId xmlns:a16="http://schemas.microsoft.com/office/drawing/2014/main" id="{CFAD899B-FDD0-EC45-97BB-B9B46E88D9E8}"/>
              </a:ext>
            </a:extLst>
          </p:cNvPr>
          <p:cNvSpPr>
            <a:spLocks noGrp="1" noRot="1" noChangeAspect="1" noChangeArrowheads="1" noTextEdit="1"/>
          </p:cNvSpPr>
          <p:nvPr>
            <p:ph type="sldImg" idx="4294967295"/>
          </p:nvPr>
        </p:nvSpPr>
        <p:spPr>
          <a:xfrm>
            <a:off x="3429000" y="2400300"/>
            <a:ext cx="0" cy="0"/>
          </a:xfrm>
          <a:ln/>
        </p:spPr>
      </p:sp>
      <p:sp>
        <p:nvSpPr>
          <p:cNvPr id="360451" name="Rectangle 3">
            <a:extLst>
              <a:ext uri="{FF2B5EF4-FFF2-40B4-BE49-F238E27FC236}">
                <a16:creationId xmlns:a16="http://schemas.microsoft.com/office/drawing/2014/main" id="{7C2F593A-A11C-6147-AFDD-12FE497021B3}"/>
              </a:ext>
            </a:extLst>
          </p:cNvPr>
          <p:cNvSpPr>
            <a:spLocks noGrp="1" noChangeArrowheads="1"/>
          </p:cNvSpPr>
          <p:nvPr>
            <p:ph type="body" idx="4294967295"/>
          </p:nvPr>
        </p:nvSpPr>
        <p:spPr>
          <a:xfrm>
            <a:off x="914400" y="6262688"/>
            <a:ext cx="1403350" cy="274637"/>
          </a:xfrm>
        </p:spPr>
        <p:txBody>
          <a:bodyPr/>
          <a:lstStyle/>
          <a:p>
            <a:r>
              <a:rPr lang="zh-CN" altLang="en-US"/>
              <a:t>它由密钥扩展和轮密钥选取两部分组成。其基本原则如下：（</a:t>
            </a:r>
            <a:r>
              <a:rPr lang="en-US" altLang="zh-CN"/>
              <a:t>1</a:t>
            </a:r>
            <a:r>
              <a:rPr lang="zh-CN" altLang="en-US"/>
              <a:t>）轮密钥的比特数等于分组长度乘以轮数加</a:t>
            </a:r>
            <a:r>
              <a:rPr lang="en-US" altLang="zh-CN"/>
              <a:t>1</a:t>
            </a:r>
            <a:r>
              <a:rPr lang="zh-CN" altLang="en-US"/>
              <a:t>；例如要将</a:t>
            </a:r>
            <a:r>
              <a:rPr lang="en-US" altLang="zh-CN"/>
              <a:t>128</a:t>
            </a:r>
            <a:r>
              <a:rPr lang="zh-CN" altLang="en-US"/>
              <a:t>比特的明文经过</a:t>
            </a:r>
            <a:r>
              <a:rPr lang="en-US" altLang="zh-CN"/>
              <a:t>10</a:t>
            </a:r>
            <a:r>
              <a:rPr lang="zh-CN" altLang="en-US"/>
              <a:t>轮的加密，则总共需要（</a:t>
            </a:r>
            <a:r>
              <a:rPr lang="en-US" altLang="zh-CN"/>
              <a:t>10+1</a:t>
            </a:r>
            <a:r>
              <a:rPr lang="zh-CN" altLang="en-US"/>
              <a:t>）*</a:t>
            </a:r>
            <a:r>
              <a:rPr lang="en-US" altLang="zh-CN"/>
              <a:t>128=1408</a:t>
            </a:r>
            <a:r>
              <a:rPr lang="zh-CN" altLang="en-US"/>
              <a:t>比特的密钥。（</a:t>
            </a:r>
            <a:r>
              <a:rPr lang="en-US" altLang="zh-CN"/>
              <a:t>2</a:t>
            </a:r>
            <a:r>
              <a:rPr lang="zh-CN" altLang="en-US"/>
              <a:t>）种子密钥被扩展成为扩展密钥；（</a:t>
            </a:r>
            <a:r>
              <a:rPr lang="en-US" altLang="zh-CN"/>
              <a:t>3</a:t>
            </a:r>
            <a:r>
              <a:rPr lang="zh-CN" altLang="en-US"/>
              <a:t>）轮密钥从扩展密钥中取，其中第</a:t>
            </a:r>
            <a:r>
              <a:rPr lang="en-US" altLang="zh-CN"/>
              <a:t>1</a:t>
            </a:r>
            <a:r>
              <a:rPr lang="zh-CN" altLang="en-US"/>
              <a:t>轮轮密钥取扩展密钥的前</a:t>
            </a:r>
            <a:r>
              <a:rPr lang="en-US" altLang="zh-CN"/>
              <a:t>Nb</a:t>
            </a:r>
            <a:r>
              <a:rPr lang="zh-CN" altLang="en-US"/>
              <a:t>个字，第</a:t>
            </a:r>
            <a:r>
              <a:rPr lang="en-US" altLang="zh-CN"/>
              <a:t>2</a:t>
            </a:r>
            <a:r>
              <a:rPr lang="zh-CN" altLang="en-US"/>
              <a:t>轮轮密钥取接下来的</a:t>
            </a:r>
            <a:r>
              <a:rPr lang="en-US" altLang="zh-CN"/>
              <a:t>Nb</a:t>
            </a:r>
            <a:r>
              <a:rPr lang="zh-CN" altLang="en-US"/>
              <a:t>个字，如此下去</a:t>
            </a:r>
            <a:endParaRPr lang="zh-CN" altLang="zh-CN"/>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7" name="Rectangle 7">
            <a:extLst>
              <a:ext uri="{FF2B5EF4-FFF2-40B4-BE49-F238E27FC236}">
                <a16:creationId xmlns:a16="http://schemas.microsoft.com/office/drawing/2014/main" id="{1641ACAA-0052-CC47-A36A-C73CA37822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A74D956-66D3-ED45-BFE6-4126DE107255}" type="slidenum">
              <a:rPr lang="en-US" altLang="zh-CN"/>
              <a:pPr/>
              <a:t>153</a:t>
            </a:fld>
            <a:endParaRPr lang="en-US" altLang="zh-CN"/>
          </a:p>
        </p:txBody>
      </p:sp>
      <p:sp>
        <p:nvSpPr>
          <p:cNvPr id="362498" name="Rectangle 2">
            <a:extLst>
              <a:ext uri="{FF2B5EF4-FFF2-40B4-BE49-F238E27FC236}">
                <a16:creationId xmlns:a16="http://schemas.microsoft.com/office/drawing/2014/main" id="{A667CEB0-0818-6C43-AEC0-309E3C9E7145}"/>
              </a:ext>
            </a:extLst>
          </p:cNvPr>
          <p:cNvSpPr>
            <a:spLocks noGrp="1" noRot="1" noChangeAspect="1" noChangeArrowheads="1" noTextEdit="1"/>
          </p:cNvSpPr>
          <p:nvPr>
            <p:ph type="sldImg" idx="4294967295"/>
          </p:nvPr>
        </p:nvSpPr>
        <p:spPr>
          <a:xfrm>
            <a:off x="3429000" y="2400300"/>
            <a:ext cx="0" cy="0"/>
          </a:xfrm>
          <a:ln/>
        </p:spPr>
      </p:sp>
      <p:sp>
        <p:nvSpPr>
          <p:cNvPr id="362499" name="Rectangle 3">
            <a:extLst>
              <a:ext uri="{FF2B5EF4-FFF2-40B4-BE49-F238E27FC236}">
                <a16:creationId xmlns:a16="http://schemas.microsoft.com/office/drawing/2014/main" id="{66AC4E99-1DED-924C-A959-6891CA5D54CF}"/>
              </a:ext>
            </a:extLst>
          </p:cNvPr>
          <p:cNvSpPr>
            <a:spLocks noGrp="1" noChangeArrowheads="1"/>
          </p:cNvSpPr>
          <p:nvPr>
            <p:ph type="body" idx="4294967295"/>
          </p:nvPr>
        </p:nvSpPr>
        <p:spPr>
          <a:xfrm>
            <a:off x="914400" y="6262688"/>
            <a:ext cx="1403350" cy="274637"/>
          </a:xfrm>
        </p:spPr>
        <p:txBody>
          <a:bodyPr/>
          <a:lstStyle/>
          <a:p>
            <a:r>
              <a:rPr lang="zh-CN" altLang="en-US">
                <a:latin typeface="Times New Roman" panose="02020603050405020304" pitchFamily="18" charset="0"/>
              </a:rPr>
              <a:t>扩展密钥是以</a:t>
            </a:r>
            <a:r>
              <a:rPr lang="en-US" altLang="zh-CN">
                <a:latin typeface="Times New Roman" panose="02020603050405020304" pitchFamily="18" charset="0"/>
              </a:rPr>
              <a:t>4</a:t>
            </a:r>
            <a:r>
              <a:rPr lang="zh-CN" altLang="en-US">
                <a:latin typeface="Times New Roman" panose="02020603050405020304" pitchFamily="18" charset="0"/>
              </a:rPr>
              <a:t>字节字为元素的一维阵列，表示为</a:t>
            </a:r>
            <a:r>
              <a:rPr lang="en-US" altLang="zh-CN">
                <a:latin typeface="Times New Roman" panose="02020603050405020304" pitchFamily="18" charset="0"/>
              </a:rPr>
              <a:t>W[Nb* (N</a:t>
            </a:r>
            <a:r>
              <a:rPr lang="en-US" altLang="zh-CN" baseline="-25000">
                <a:latin typeface="Times New Roman" panose="02020603050405020304" pitchFamily="18" charset="0"/>
              </a:rPr>
              <a:t>r</a:t>
            </a:r>
            <a:r>
              <a:rPr lang="en-US" altLang="zh-CN">
                <a:latin typeface="Times New Roman" panose="02020603050405020304" pitchFamily="18" charset="0"/>
              </a:rPr>
              <a:t>+1)]</a:t>
            </a:r>
            <a:r>
              <a:rPr lang="zh-CN" altLang="en-US">
                <a:latin typeface="Times New Roman" panose="02020603050405020304" pitchFamily="18" charset="0"/>
              </a:rPr>
              <a:t>，其中前</a:t>
            </a:r>
            <a:r>
              <a:rPr lang="en-US" altLang="zh-CN">
                <a:latin typeface="Times New Roman" panose="02020603050405020304" pitchFamily="18" charset="0"/>
              </a:rPr>
              <a:t>N</a:t>
            </a:r>
            <a:r>
              <a:rPr lang="en-US" altLang="zh-CN" baseline="-25000">
                <a:latin typeface="Times New Roman" panose="02020603050405020304" pitchFamily="18" charset="0"/>
              </a:rPr>
              <a:t>k</a:t>
            </a:r>
            <a:r>
              <a:rPr lang="zh-CN" altLang="en-US">
                <a:latin typeface="Times New Roman" panose="02020603050405020304" pitchFamily="18" charset="0"/>
              </a:rPr>
              <a:t>个字取为种子密钥，以后每个字按递归方式定义。扩展算法根据</a:t>
            </a:r>
            <a:r>
              <a:rPr lang="en-US" altLang="zh-CN">
                <a:latin typeface="Times New Roman" panose="02020603050405020304" pitchFamily="18" charset="0"/>
              </a:rPr>
              <a:t>N</a:t>
            </a:r>
            <a:r>
              <a:rPr lang="en-US" altLang="zh-CN" baseline="-25000">
                <a:latin typeface="Times New Roman" panose="02020603050405020304" pitchFamily="18" charset="0"/>
              </a:rPr>
              <a:t>k</a:t>
            </a:r>
            <a:r>
              <a:rPr lang="en-US" altLang="zh-CN">
                <a:latin typeface="Times New Roman" panose="02020603050405020304" pitchFamily="18" charset="0"/>
              </a:rPr>
              <a:t>≤6</a:t>
            </a:r>
            <a:r>
              <a:rPr lang="zh-CN" altLang="en-US">
                <a:latin typeface="Times New Roman" panose="02020603050405020304" pitchFamily="18" charset="0"/>
              </a:rPr>
              <a:t>和</a:t>
            </a:r>
            <a:r>
              <a:rPr lang="en-US" altLang="zh-CN">
                <a:latin typeface="Times New Roman" panose="02020603050405020304" pitchFamily="18" charset="0"/>
              </a:rPr>
              <a:t>N</a:t>
            </a:r>
            <a:r>
              <a:rPr lang="en-US" altLang="zh-CN" baseline="-25000">
                <a:latin typeface="Times New Roman" panose="02020603050405020304" pitchFamily="18" charset="0"/>
              </a:rPr>
              <a:t>k</a:t>
            </a:r>
            <a:r>
              <a:rPr lang="en-US" altLang="zh-CN">
                <a:latin typeface="Times New Roman" panose="02020603050405020304" pitchFamily="18" charset="0"/>
              </a:rPr>
              <a:t>&gt;6</a:t>
            </a:r>
            <a:r>
              <a:rPr lang="zh-CN" altLang="en-US">
                <a:latin typeface="Times New Roman" panose="02020603050405020304" pitchFamily="18" charset="0"/>
              </a:rPr>
              <a:t>有所不同。</a:t>
            </a:r>
          </a:p>
          <a:p>
            <a:endParaRPr lang="zh-CN" altLang="zh-CN"/>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5" name="Rectangle 7">
            <a:extLst>
              <a:ext uri="{FF2B5EF4-FFF2-40B4-BE49-F238E27FC236}">
                <a16:creationId xmlns:a16="http://schemas.microsoft.com/office/drawing/2014/main" id="{42933777-3094-9E49-AC9F-F7C88BBF36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E92B99E-A11C-F84E-935C-4F1AAEBAE793}" type="slidenum">
              <a:rPr lang="en-US" altLang="zh-CN"/>
              <a:pPr/>
              <a:t>154</a:t>
            </a:fld>
            <a:endParaRPr lang="en-US" altLang="zh-CN"/>
          </a:p>
        </p:txBody>
      </p:sp>
      <p:sp>
        <p:nvSpPr>
          <p:cNvPr id="364546" name="Rectangle 2">
            <a:extLst>
              <a:ext uri="{FF2B5EF4-FFF2-40B4-BE49-F238E27FC236}">
                <a16:creationId xmlns:a16="http://schemas.microsoft.com/office/drawing/2014/main" id="{9B9B372F-76C6-AB46-9DDE-9C7364C82AE1}"/>
              </a:ext>
            </a:extLst>
          </p:cNvPr>
          <p:cNvSpPr>
            <a:spLocks noGrp="1" noRot="1" noChangeAspect="1" noChangeArrowheads="1" noTextEdit="1"/>
          </p:cNvSpPr>
          <p:nvPr>
            <p:ph type="sldImg" idx="4294967295"/>
          </p:nvPr>
        </p:nvSpPr>
        <p:spPr>
          <a:xfrm>
            <a:off x="3429000" y="2400300"/>
            <a:ext cx="0" cy="0"/>
          </a:xfrm>
          <a:ln/>
        </p:spPr>
      </p:sp>
      <p:sp>
        <p:nvSpPr>
          <p:cNvPr id="364547" name="Rectangle 3">
            <a:extLst>
              <a:ext uri="{FF2B5EF4-FFF2-40B4-BE49-F238E27FC236}">
                <a16:creationId xmlns:a16="http://schemas.microsoft.com/office/drawing/2014/main" id="{41181204-F8B9-124F-820C-8181B4CE43F9}"/>
              </a:ext>
            </a:extLst>
          </p:cNvPr>
          <p:cNvSpPr>
            <a:spLocks noGrp="1" noChangeArrowheads="1"/>
          </p:cNvSpPr>
          <p:nvPr>
            <p:ph type="body" idx="4294967295"/>
          </p:nvPr>
        </p:nvSpPr>
        <p:spPr>
          <a:xfrm>
            <a:off x="914400" y="6262688"/>
            <a:ext cx="1403350" cy="274637"/>
          </a:xfrm>
        </p:spPr>
        <p:txBody>
          <a:bodyPr/>
          <a:lstStyle/>
          <a:p>
            <a:pPr>
              <a:lnSpc>
                <a:spcPct val="120000"/>
              </a:lnSpc>
            </a:pPr>
            <a:r>
              <a:rPr lang="zh-CN" altLang="en-US"/>
              <a:t>这是</a:t>
            </a:r>
            <a:r>
              <a:rPr lang="en-US" altLang="zh-CN"/>
              <a:t>Nk</a:t>
            </a:r>
            <a:r>
              <a:rPr lang="zh-CN" altLang="en-US"/>
              <a:t>小于等于</a:t>
            </a:r>
            <a:r>
              <a:rPr lang="en-US" altLang="zh-CN"/>
              <a:t>6</a:t>
            </a:r>
            <a:r>
              <a:rPr lang="zh-CN" altLang="en-US"/>
              <a:t>时，密钥扩展算法的代码。</a:t>
            </a:r>
            <a:r>
              <a:rPr lang="zh-CN" altLang="en-US">
                <a:latin typeface="Times New Roman" panose="02020603050405020304" pitchFamily="18" charset="0"/>
              </a:rPr>
              <a:t>其中</a:t>
            </a:r>
            <a:r>
              <a:rPr lang="en-US" altLang="zh-CN">
                <a:latin typeface="Times New Roman" panose="02020603050405020304" pitchFamily="18" charset="0"/>
              </a:rPr>
              <a:t>Key[4*N</a:t>
            </a:r>
            <a:r>
              <a:rPr lang="en-US" altLang="zh-CN" baseline="-25000"/>
              <a:t>k</a:t>
            </a:r>
            <a:r>
              <a:rPr lang="en-US" altLang="zh-CN">
                <a:latin typeface="Times New Roman" panose="02020603050405020304" pitchFamily="18" charset="0"/>
              </a:rPr>
              <a:t>]</a:t>
            </a:r>
            <a:r>
              <a:rPr lang="zh-CN" altLang="en-US">
                <a:latin typeface="Times New Roman" panose="02020603050405020304" pitchFamily="18" charset="0"/>
              </a:rPr>
              <a:t>为种子密钥，看作以字节为元素的一维阵列。</a:t>
            </a:r>
            <a:r>
              <a:rPr lang="zh-CN" altLang="en-US">
                <a:solidFill>
                  <a:srgbClr val="FF0000"/>
                </a:solidFill>
                <a:latin typeface="Times New Roman" panose="02020603050405020304" pitchFamily="18" charset="0"/>
              </a:rPr>
              <a:t>扩展密钥的前</a:t>
            </a:r>
            <a:r>
              <a:rPr lang="en-US" altLang="zh-CN">
                <a:solidFill>
                  <a:srgbClr val="FF0000"/>
                </a:solidFill>
                <a:latin typeface="Times New Roman" panose="02020603050405020304" pitchFamily="18" charset="0"/>
              </a:rPr>
              <a:t>N</a:t>
            </a:r>
            <a:r>
              <a:rPr lang="en-US" altLang="zh-CN" baseline="-25000">
                <a:solidFill>
                  <a:srgbClr val="FF0000"/>
                </a:solidFill>
                <a:latin typeface="Times New Roman" panose="02020603050405020304" pitchFamily="18" charset="0"/>
              </a:rPr>
              <a:t>k</a:t>
            </a:r>
            <a:r>
              <a:rPr lang="zh-CN" altLang="en-US">
                <a:solidFill>
                  <a:srgbClr val="FF0000"/>
                </a:solidFill>
                <a:latin typeface="Times New Roman" panose="02020603050405020304" pitchFamily="18" charset="0"/>
              </a:rPr>
              <a:t>个字即为种子密钥</a:t>
            </a:r>
            <a:r>
              <a:rPr lang="zh-CN" altLang="en-US">
                <a:latin typeface="Times New Roman" panose="02020603050405020304" pitchFamily="18" charset="0"/>
              </a:rPr>
              <a:t>，之后的每个字</a:t>
            </a:r>
            <a:r>
              <a:rPr lang="en-US" altLang="zh-CN">
                <a:latin typeface="Times New Roman" panose="02020603050405020304" pitchFamily="18" charset="0"/>
              </a:rPr>
              <a:t>W[i]</a:t>
            </a:r>
            <a:r>
              <a:rPr lang="zh-CN" altLang="en-US">
                <a:latin typeface="Times New Roman" panose="02020603050405020304" pitchFamily="18" charset="0"/>
              </a:rPr>
              <a:t>等于前一个字</a:t>
            </a:r>
            <a:r>
              <a:rPr lang="en-US" altLang="zh-CN">
                <a:latin typeface="Times New Roman" panose="02020603050405020304" pitchFamily="18" charset="0"/>
              </a:rPr>
              <a:t>W[i-1]</a:t>
            </a:r>
            <a:r>
              <a:rPr lang="zh-CN" altLang="en-US">
                <a:latin typeface="Times New Roman" panose="02020603050405020304" pitchFamily="18" charset="0"/>
              </a:rPr>
              <a:t>与</a:t>
            </a:r>
            <a:r>
              <a:rPr lang="en-US" altLang="zh-CN">
                <a:latin typeface="Times New Roman" panose="02020603050405020304" pitchFamily="18" charset="0"/>
              </a:rPr>
              <a:t>N</a:t>
            </a:r>
            <a:r>
              <a:rPr lang="en-US" altLang="zh-CN" baseline="-25000"/>
              <a:t>k</a:t>
            </a:r>
            <a:r>
              <a:rPr lang="zh-CN" altLang="en-US">
                <a:latin typeface="Times New Roman" panose="02020603050405020304" pitchFamily="18" charset="0"/>
              </a:rPr>
              <a:t>个位置之前的字</a:t>
            </a:r>
            <a:r>
              <a:rPr lang="en-US" altLang="zh-CN">
                <a:latin typeface="Times New Roman" panose="02020603050405020304" pitchFamily="18" charset="0"/>
              </a:rPr>
              <a:t>W[i- N</a:t>
            </a:r>
            <a:r>
              <a:rPr lang="en-US" altLang="zh-CN" baseline="-25000"/>
              <a:t>k</a:t>
            </a:r>
            <a:r>
              <a:rPr lang="en-US" altLang="zh-CN">
                <a:latin typeface="Times New Roman" panose="02020603050405020304" pitchFamily="18" charset="0"/>
              </a:rPr>
              <a:t>]</a:t>
            </a:r>
            <a:r>
              <a:rPr lang="zh-CN" altLang="en-US">
                <a:latin typeface="Times New Roman" panose="02020603050405020304" pitchFamily="18" charset="0"/>
              </a:rPr>
              <a:t>的异或。当</a:t>
            </a:r>
            <a:r>
              <a:rPr lang="en-US" altLang="zh-CN">
                <a:solidFill>
                  <a:srgbClr val="FF0000"/>
                </a:solidFill>
                <a:latin typeface="Times New Roman" panose="02020603050405020304" pitchFamily="18" charset="0"/>
              </a:rPr>
              <a:t>i/N</a:t>
            </a:r>
            <a:r>
              <a:rPr lang="en-US" altLang="zh-CN" baseline="-25000">
                <a:solidFill>
                  <a:srgbClr val="FF0000"/>
                </a:solidFill>
              </a:rPr>
              <a:t>k</a:t>
            </a:r>
            <a:r>
              <a:rPr lang="zh-CN" altLang="en-US">
                <a:solidFill>
                  <a:srgbClr val="FF0000"/>
                </a:solidFill>
                <a:latin typeface="Times New Roman" panose="02020603050405020304" pitchFamily="18" charset="0"/>
              </a:rPr>
              <a:t>为整数</a:t>
            </a:r>
            <a:r>
              <a:rPr lang="zh-CN" altLang="en-US">
                <a:latin typeface="Times New Roman" panose="02020603050405020304" pitchFamily="18" charset="0"/>
              </a:rPr>
              <a:t>时，须先将前一个字</a:t>
            </a:r>
            <a:r>
              <a:rPr lang="en-US" altLang="zh-CN">
                <a:latin typeface="Times New Roman" panose="02020603050405020304" pitchFamily="18" charset="0"/>
              </a:rPr>
              <a:t>W[i-1]</a:t>
            </a:r>
            <a:r>
              <a:rPr lang="zh-CN" altLang="en-US">
                <a:latin typeface="Times New Roman" panose="02020603050405020304" pitchFamily="18" charset="0"/>
              </a:rPr>
              <a:t>经过以下一系列的变换：</a:t>
            </a:r>
            <a:r>
              <a:rPr lang="en-US" altLang="zh-CN" sz="2400">
                <a:latin typeface="Times New Roman" panose="02020603050405020304" pitchFamily="18" charset="0"/>
              </a:rPr>
              <a:t>1</a:t>
            </a:r>
            <a:r>
              <a:rPr lang="zh-CN" altLang="en-US" sz="2400">
                <a:latin typeface="Times New Roman" panose="02020603050405020304" pitchFamily="18" charset="0"/>
              </a:rPr>
              <a:t>字节的循环移位</a:t>
            </a:r>
            <a:r>
              <a:rPr lang="en-US" altLang="zh-CN" sz="2400">
                <a:latin typeface="Times New Roman" panose="02020603050405020304" pitchFamily="18" charset="0"/>
              </a:rPr>
              <a:t>RotByte→</a:t>
            </a:r>
            <a:r>
              <a:rPr lang="zh-CN" altLang="en-US" sz="2400">
                <a:latin typeface="Times New Roman" panose="02020603050405020304" pitchFamily="18" charset="0"/>
              </a:rPr>
              <a:t>用</a:t>
            </a:r>
            <a:r>
              <a:rPr lang="en-US" altLang="zh-CN" sz="2400">
                <a:latin typeface="Times New Roman" panose="02020603050405020304" pitchFamily="18" charset="0"/>
              </a:rPr>
              <a:t>S</a:t>
            </a:r>
            <a:r>
              <a:rPr lang="zh-CN" altLang="en-US" sz="2400">
                <a:latin typeface="Times New Roman" panose="02020603050405020304" pitchFamily="18" charset="0"/>
              </a:rPr>
              <a:t>盒进行变换</a:t>
            </a:r>
            <a:r>
              <a:rPr lang="en-US" altLang="zh-CN" sz="2400">
                <a:latin typeface="Times New Roman" panose="02020603050405020304" pitchFamily="18" charset="0"/>
              </a:rPr>
              <a:t>SubByte→</a:t>
            </a:r>
            <a:r>
              <a:rPr lang="zh-CN" altLang="en-US" sz="2400">
                <a:latin typeface="Times New Roman" panose="02020603050405020304" pitchFamily="18" charset="0"/>
              </a:rPr>
              <a:t>异或轮常数</a:t>
            </a:r>
            <a:r>
              <a:rPr lang="en-US" altLang="zh-CN" sz="2400">
                <a:latin typeface="Times New Roman" panose="02020603050405020304" pitchFamily="18" charset="0"/>
              </a:rPr>
              <a:t>Rcon[i/Nk]</a:t>
            </a:r>
            <a:r>
              <a:rPr lang="zh-CN" altLang="en-US" sz="2400">
                <a:latin typeface="Times New Roman" panose="02020603050405020304" pitchFamily="18" charset="0"/>
              </a:rPr>
              <a:t>。函数</a:t>
            </a:r>
            <a:r>
              <a:rPr lang="en-US" altLang="zh-CN" sz="2400">
                <a:latin typeface="Times New Roman" panose="02020603050405020304" pitchFamily="18" charset="0"/>
              </a:rPr>
              <a:t>SubByte ( )</a:t>
            </a:r>
            <a:r>
              <a:rPr lang="zh-CN" altLang="en-US" sz="2400">
                <a:latin typeface="Times New Roman" panose="02020603050405020304" pitchFamily="18" charset="0"/>
              </a:rPr>
              <a:t>返回</a:t>
            </a:r>
            <a:r>
              <a:rPr lang="en-US" altLang="zh-CN" sz="2400">
                <a:latin typeface="Times New Roman" panose="02020603050405020304" pitchFamily="18" charset="0"/>
              </a:rPr>
              <a:t>4</a:t>
            </a:r>
            <a:r>
              <a:rPr lang="zh-CN" altLang="en-US" sz="2400">
                <a:latin typeface="Times New Roman" panose="02020603050405020304" pitchFamily="18" charset="0"/>
              </a:rPr>
              <a:t>字节字，其中每一个字节都是用</a:t>
            </a:r>
            <a:r>
              <a:rPr lang="en-US" altLang="zh-CN" sz="2400">
                <a:latin typeface="Times New Roman" panose="02020603050405020304" pitchFamily="18" charset="0"/>
              </a:rPr>
              <a:t>S</a:t>
            </a:r>
            <a:r>
              <a:rPr lang="zh-CN" altLang="en-US" sz="2400">
                <a:latin typeface="Times New Roman" panose="02020603050405020304" pitchFamily="18" charset="0"/>
              </a:rPr>
              <a:t>盒作用到输入字对应的字节得到。函数</a:t>
            </a:r>
            <a:r>
              <a:rPr lang="en-US" altLang="zh-CN" sz="2400">
                <a:latin typeface="Times New Roman" panose="02020603050405020304" pitchFamily="18" charset="0"/>
              </a:rPr>
              <a:t>RotByte ( ) </a:t>
            </a:r>
            <a:r>
              <a:rPr lang="zh-CN" altLang="en-US" sz="2400">
                <a:latin typeface="Times New Roman" panose="02020603050405020304" pitchFamily="18" charset="0"/>
              </a:rPr>
              <a:t>也返回</a:t>
            </a:r>
            <a:r>
              <a:rPr lang="en-US" altLang="zh-CN" sz="2400">
                <a:latin typeface="Times New Roman" panose="02020603050405020304" pitchFamily="18" charset="0"/>
              </a:rPr>
              <a:t>4</a:t>
            </a:r>
            <a:r>
              <a:rPr lang="zh-CN" altLang="en-US" sz="2400">
                <a:latin typeface="Times New Roman" panose="02020603050405020304" pitchFamily="18" charset="0"/>
              </a:rPr>
              <a:t>字节字，该字由输入的字循环移位得到，即当输入字为</a:t>
            </a:r>
            <a:r>
              <a:rPr lang="en-US" altLang="zh-CN" sz="2400">
                <a:latin typeface="Times New Roman" panose="02020603050405020304" pitchFamily="18" charset="0"/>
              </a:rPr>
              <a:t>(a, b, c, d)</a:t>
            </a:r>
            <a:r>
              <a:rPr lang="zh-CN" altLang="en-US" sz="2400">
                <a:latin typeface="Times New Roman" panose="02020603050405020304" pitchFamily="18" charset="0"/>
              </a:rPr>
              <a:t>时，输出字为 </a:t>
            </a:r>
            <a:r>
              <a:rPr lang="en-US" altLang="zh-CN" sz="2400">
                <a:latin typeface="Times New Roman" panose="02020603050405020304" pitchFamily="18" charset="0"/>
              </a:rPr>
              <a:t>(b, c, d, a)</a:t>
            </a:r>
            <a:r>
              <a:rPr lang="zh-CN" altLang="en-US" sz="2400">
                <a:latin typeface="Times New Roman" panose="02020603050405020304" pitchFamily="18" charset="0"/>
              </a:rPr>
              <a:t>。</a:t>
            </a:r>
          </a:p>
          <a:p>
            <a:endParaRPr lang="zh-CN" altLang="zh-CN"/>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3" name="幻灯片图像占位符 1">
            <a:extLst>
              <a:ext uri="{FF2B5EF4-FFF2-40B4-BE49-F238E27FC236}">
                <a16:creationId xmlns:a16="http://schemas.microsoft.com/office/drawing/2014/main" id="{FCC4BC2C-16CF-B14E-9FAA-B4811BAFC0A8}"/>
              </a:ext>
            </a:extLst>
          </p:cNvPr>
          <p:cNvSpPr>
            <a:spLocks noGrp="1" noRot="1" noChangeAspect="1" noChangeArrowheads="1" noTextEdit="1"/>
          </p:cNvSpPr>
          <p:nvPr>
            <p:ph type="sldImg" idx="4294967295"/>
          </p:nvPr>
        </p:nvSpPr>
        <p:spPr>
          <a:ln/>
        </p:spPr>
      </p:sp>
      <p:sp>
        <p:nvSpPr>
          <p:cNvPr id="366594" name="备注占位符 2">
            <a:extLst>
              <a:ext uri="{FF2B5EF4-FFF2-40B4-BE49-F238E27FC236}">
                <a16:creationId xmlns:a16="http://schemas.microsoft.com/office/drawing/2014/main" id="{73C631E2-75F5-8C43-A37E-79AEC14EF5BD}"/>
              </a:ext>
            </a:extLst>
          </p:cNvPr>
          <p:cNvSpPr>
            <a:spLocks noGrp="1" noChangeArrowheads="1"/>
          </p:cNvSpPr>
          <p:nvPr>
            <p:ph type="body" idx="4294967295"/>
          </p:nvPr>
        </p:nvSpPr>
        <p:spPr/>
        <p:txBody>
          <a:bodyPr/>
          <a:lstStyle/>
          <a:p>
            <a:r>
              <a:rPr lang="zh-CN" altLang="en-US"/>
              <a:t>来看例子，</a:t>
            </a:r>
            <a:r>
              <a:rPr lang="en-US" altLang="zh-CN"/>
              <a:t>Nk</a:t>
            </a:r>
            <a:r>
              <a:rPr lang="zh-CN" altLang="en-US"/>
              <a:t>等于</a:t>
            </a:r>
            <a:r>
              <a:rPr lang="en-US" altLang="zh-CN"/>
              <a:t>4</a:t>
            </a:r>
            <a:r>
              <a:rPr lang="zh-CN" altLang="en-US"/>
              <a:t>的情况，也就是密钥长度为</a:t>
            </a:r>
            <a:r>
              <a:rPr lang="en-US" altLang="zh-CN"/>
              <a:t>128</a:t>
            </a:r>
            <a:r>
              <a:rPr lang="zh-CN" altLang="en-US"/>
              <a:t>比特，首先将</a:t>
            </a:r>
            <a:r>
              <a:rPr lang="en-US" altLang="zh-CN"/>
              <a:t>128</a:t>
            </a:r>
            <a:r>
              <a:rPr lang="zh-CN" altLang="en-US"/>
              <a:t>比特放入</a:t>
            </a:r>
            <a:r>
              <a:rPr lang="en-US" altLang="zh-CN"/>
              <a:t>4</a:t>
            </a:r>
            <a:r>
              <a:rPr lang="zh-CN" altLang="en-US"/>
              <a:t>乘</a:t>
            </a:r>
            <a:r>
              <a:rPr lang="en-US" altLang="zh-CN"/>
              <a:t>4</a:t>
            </a:r>
            <a:r>
              <a:rPr lang="zh-CN" altLang="en-US"/>
              <a:t>的矩阵，每一列分别为</a:t>
            </a:r>
            <a:r>
              <a:rPr lang="en-US" altLang="zh-CN"/>
              <a:t>w0</a:t>
            </a:r>
            <a:r>
              <a:rPr lang="zh-CN" altLang="en-US"/>
              <a:t>，</a:t>
            </a:r>
            <a:r>
              <a:rPr lang="en-US" altLang="zh-CN"/>
              <a:t>w1</a:t>
            </a:r>
            <a:r>
              <a:rPr lang="zh-CN" altLang="en-US"/>
              <a:t>，</a:t>
            </a:r>
            <a:r>
              <a:rPr lang="en-US" altLang="zh-CN"/>
              <a:t>w2</a:t>
            </a:r>
            <a:r>
              <a:rPr lang="zh-CN" altLang="en-US"/>
              <a:t>，</a:t>
            </a:r>
            <a:r>
              <a:rPr lang="en-US" altLang="zh-CN"/>
              <a:t>w3</a:t>
            </a:r>
            <a:r>
              <a:rPr lang="zh-CN" altLang="en-US"/>
              <a:t>，然后开始计算</a:t>
            </a:r>
            <a:r>
              <a:rPr lang="en-US" altLang="zh-CN"/>
              <a:t>w4</a:t>
            </a:r>
            <a:r>
              <a:rPr lang="zh-CN" altLang="en-US"/>
              <a:t>，由于</a:t>
            </a:r>
            <a:r>
              <a:rPr lang="en-US" altLang="zh-CN"/>
              <a:t>4</a:t>
            </a:r>
            <a:r>
              <a:rPr lang="zh-CN" altLang="en-US"/>
              <a:t>是</a:t>
            </a:r>
            <a:r>
              <a:rPr lang="en-US" altLang="zh-CN"/>
              <a:t>Nk</a:t>
            </a:r>
            <a:r>
              <a:rPr lang="zh-CN" altLang="en-US"/>
              <a:t>的倍数，所以这里需要首先将</a:t>
            </a:r>
            <a:r>
              <a:rPr lang="en-US" altLang="zh-CN"/>
              <a:t>w3</a:t>
            </a:r>
            <a:r>
              <a:rPr lang="zh-CN" altLang="en-US"/>
              <a:t>进行字循环移位，然后进行</a:t>
            </a:r>
            <a:r>
              <a:rPr lang="en-US" altLang="zh-CN"/>
              <a:t>S</a:t>
            </a:r>
            <a:r>
              <a:rPr lang="zh-CN" altLang="en-US"/>
              <a:t>盒变换，再将其与轮常数异或，最后与</a:t>
            </a:r>
            <a:r>
              <a:rPr lang="en-US" altLang="zh-CN"/>
              <a:t>w0</a:t>
            </a:r>
            <a:r>
              <a:rPr lang="zh-CN" altLang="en-US"/>
              <a:t>异或后得到</a:t>
            </a:r>
            <a:r>
              <a:rPr lang="en-US" altLang="zh-CN"/>
              <a:t>w4</a:t>
            </a:r>
            <a:r>
              <a:rPr lang="zh-CN" altLang="en-US"/>
              <a:t>的值</a:t>
            </a:r>
          </a:p>
        </p:txBody>
      </p:sp>
      <p:sp>
        <p:nvSpPr>
          <p:cNvPr id="366595" name="灯片编号占位符 3">
            <a:extLst>
              <a:ext uri="{FF2B5EF4-FFF2-40B4-BE49-F238E27FC236}">
                <a16:creationId xmlns:a16="http://schemas.microsoft.com/office/drawing/2014/main" id="{199420B0-451D-6E4C-B317-0C7E9BDAE0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32ED57-1EF5-494C-8641-DA0A9E49E946}" type="slidenum">
              <a:rPr lang="en-US" altLang="zh-CN"/>
              <a:pPr/>
              <a:t>155</a:t>
            </a:fld>
            <a:endParaRPr lang="en-US" altLang="zh-CN"/>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1" name="幻灯片图像占位符 1">
            <a:extLst>
              <a:ext uri="{FF2B5EF4-FFF2-40B4-BE49-F238E27FC236}">
                <a16:creationId xmlns:a16="http://schemas.microsoft.com/office/drawing/2014/main" id="{FBCCDD23-D4BA-1541-83C6-1C5078389B03}"/>
              </a:ext>
            </a:extLst>
          </p:cNvPr>
          <p:cNvSpPr>
            <a:spLocks noGrp="1" noRot="1" noChangeAspect="1" noChangeArrowheads="1" noTextEdit="1"/>
          </p:cNvSpPr>
          <p:nvPr>
            <p:ph type="sldImg" idx="4294967295"/>
          </p:nvPr>
        </p:nvSpPr>
        <p:spPr>
          <a:ln/>
        </p:spPr>
      </p:sp>
      <p:sp>
        <p:nvSpPr>
          <p:cNvPr id="368642" name="备注占位符 2">
            <a:extLst>
              <a:ext uri="{FF2B5EF4-FFF2-40B4-BE49-F238E27FC236}">
                <a16:creationId xmlns:a16="http://schemas.microsoft.com/office/drawing/2014/main" id="{0ED79FA7-F8B2-7C42-9CA2-CA34F2BFBABE}"/>
              </a:ext>
            </a:extLst>
          </p:cNvPr>
          <p:cNvSpPr>
            <a:spLocks noGrp="1" noChangeArrowheads="1"/>
          </p:cNvSpPr>
          <p:nvPr>
            <p:ph type="body" idx="4294967295"/>
          </p:nvPr>
        </p:nvSpPr>
        <p:spPr/>
        <p:txBody>
          <a:bodyPr/>
          <a:lstStyle/>
          <a:p>
            <a:r>
              <a:rPr lang="en-US" altLang="zh-CN"/>
              <a:t>w5</a:t>
            </a:r>
            <a:r>
              <a:rPr lang="zh-CN" altLang="en-US"/>
              <a:t>相对简单，直接将</a:t>
            </a:r>
            <a:r>
              <a:rPr lang="en-US" altLang="zh-CN"/>
              <a:t>w4</a:t>
            </a:r>
            <a:r>
              <a:rPr lang="zh-CN" altLang="en-US"/>
              <a:t>与</a:t>
            </a:r>
            <a:r>
              <a:rPr lang="en-US" altLang="zh-CN"/>
              <a:t>w1</a:t>
            </a:r>
            <a:r>
              <a:rPr lang="zh-CN" altLang="en-US"/>
              <a:t>异或就行，类似的有</a:t>
            </a:r>
            <a:r>
              <a:rPr lang="en-US" altLang="zh-CN"/>
              <a:t>w6</a:t>
            </a:r>
            <a:r>
              <a:rPr lang="zh-CN" altLang="en-US"/>
              <a:t>，</a:t>
            </a:r>
            <a:r>
              <a:rPr lang="en-US" altLang="zh-CN"/>
              <a:t>w7</a:t>
            </a:r>
            <a:r>
              <a:rPr lang="zh-CN" altLang="en-US"/>
              <a:t>，到了</a:t>
            </a:r>
            <a:r>
              <a:rPr lang="en-US" altLang="zh-CN"/>
              <a:t>w8</a:t>
            </a:r>
            <a:r>
              <a:rPr lang="zh-CN" altLang="en-US"/>
              <a:t>，由于</a:t>
            </a:r>
            <a:r>
              <a:rPr lang="en-US" altLang="zh-CN"/>
              <a:t>8</a:t>
            </a:r>
            <a:r>
              <a:rPr lang="zh-CN" altLang="en-US"/>
              <a:t>是</a:t>
            </a:r>
            <a:r>
              <a:rPr lang="en-US" altLang="zh-CN"/>
              <a:t>Nk</a:t>
            </a:r>
            <a:r>
              <a:rPr lang="zh-CN" altLang="en-US"/>
              <a:t>的倍数说以他又要重复</a:t>
            </a:r>
            <a:r>
              <a:rPr lang="en-US" altLang="zh-CN"/>
              <a:t>w4</a:t>
            </a:r>
            <a:r>
              <a:rPr lang="zh-CN" altLang="en-US"/>
              <a:t>计算过程中的步骤，以此类推就得到所有的轮密钥</a:t>
            </a:r>
            <a:endParaRPr lang="en-US" altLang="zh-CN"/>
          </a:p>
        </p:txBody>
      </p:sp>
      <p:sp>
        <p:nvSpPr>
          <p:cNvPr id="368643" name="灯片编号占位符 3">
            <a:extLst>
              <a:ext uri="{FF2B5EF4-FFF2-40B4-BE49-F238E27FC236}">
                <a16:creationId xmlns:a16="http://schemas.microsoft.com/office/drawing/2014/main" id="{C92A4982-3938-C94E-8FC7-5F7620B54A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A3ADBD6-CD26-FF4F-8819-63A710D8B98F}" type="slidenum">
              <a:rPr lang="en-US" altLang="zh-CN"/>
              <a:pPr/>
              <a:t>156</a:t>
            </a:fld>
            <a:endParaRPr lang="en-US" altLang="zh-CN"/>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89" name="Rectangle 7">
            <a:extLst>
              <a:ext uri="{FF2B5EF4-FFF2-40B4-BE49-F238E27FC236}">
                <a16:creationId xmlns:a16="http://schemas.microsoft.com/office/drawing/2014/main" id="{C6D01992-3999-2746-A039-07CFD1E012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62AF08B-CF70-AC4B-B50F-85413A39FF1F}" type="slidenum">
              <a:rPr lang="en-US" altLang="zh-CN"/>
              <a:pPr/>
              <a:t>157</a:t>
            </a:fld>
            <a:endParaRPr lang="en-US" altLang="zh-CN"/>
          </a:p>
        </p:txBody>
      </p:sp>
      <p:sp>
        <p:nvSpPr>
          <p:cNvPr id="370690" name="Rectangle 2">
            <a:extLst>
              <a:ext uri="{FF2B5EF4-FFF2-40B4-BE49-F238E27FC236}">
                <a16:creationId xmlns:a16="http://schemas.microsoft.com/office/drawing/2014/main" id="{FBAB5F92-1F54-0240-96ED-5300F9B978A6}"/>
              </a:ext>
            </a:extLst>
          </p:cNvPr>
          <p:cNvSpPr>
            <a:spLocks noGrp="1" noRot="1" noChangeAspect="1" noChangeArrowheads="1" noTextEdit="1"/>
          </p:cNvSpPr>
          <p:nvPr>
            <p:ph type="sldImg" idx="4294967295"/>
          </p:nvPr>
        </p:nvSpPr>
        <p:spPr>
          <a:xfrm>
            <a:off x="3429000" y="2400300"/>
            <a:ext cx="0" cy="0"/>
          </a:xfrm>
          <a:ln/>
        </p:spPr>
      </p:sp>
      <p:sp>
        <p:nvSpPr>
          <p:cNvPr id="370691" name="Rectangle 3">
            <a:extLst>
              <a:ext uri="{FF2B5EF4-FFF2-40B4-BE49-F238E27FC236}">
                <a16:creationId xmlns:a16="http://schemas.microsoft.com/office/drawing/2014/main" id="{EEC34E1D-E536-004D-B526-5D2EE5309644}"/>
              </a:ext>
            </a:extLst>
          </p:cNvPr>
          <p:cNvSpPr>
            <a:spLocks noGrp="1" noChangeArrowheads="1"/>
          </p:cNvSpPr>
          <p:nvPr>
            <p:ph type="body" idx="4294967295"/>
          </p:nvPr>
        </p:nvSpPr>
        <p:spPr>
          <a:xfrm>
            <a:off x="914400" y="6262688"/>
            <a:ext cx="1403350" cy="274637"/>
          </a:xfrm>
        </p:spPr>
        <p:txBody>
          <a:bodyPr/>
          <a:lstStyle/>
          <a:p>
            <a:r>
              <a:rPr lang="zh-CN" altLang="en-US"/>
              <a:t>当</a:t>
            </a:r>
            <a:r>
              <a:rPr lang="en-US" altLang="zh-CN"/>
              <a:t>Nk</a:t>
            </a:r>
            <a:r>
              <a:rPr lang="zh-CN" altLang="en-US"/>
              <a:t>大于六是还需注意，它与</a:t>
            </a:r>
            <a:r>
              <a:rPr lang="en-US" altLang="zh-CN" b="1"/>
              <a:t>N</a:t>
            </a:r>
            <a:r>
              <a:rPr lang="en-US" altLang="zh-CN" b="1" baseline="-25000"/>
              <a:t>k</a:t>
            </a:r>
            <a:r>
              <a:rPr lang="en-US" altLang="zh-CN" b="1"/>
              <a:t>≤6</a:t>
            </a:r>
            <a:r>
              <a:rPr lang="zh-CN" altLang="en-US" b="1"/>
              <a:t>的密钥扩展算法的区别在于：当</a:t>
            </a:r>
            <a:r>
              <a:rPr lang="en-US" altLang="zh-CN" b="1"/>
              <a:t>i-4</a:t>
            </a:r>
            <a:r>
              <a:rPr lang="zh-CN" altLang="en-US" b="1"/>
              <a:t>为</a:t>
            </a:r>
            <a:r>
              <a:rPr lang="en-US" altLang="zh-CN" b="1"/>
              <a:t>N</a:t>
            </a:r>
            <a:r>
              <a:rPr lang="en-US" altLang="zh-CN" b="1" baseline="-25000"/>
              <a:t>k</a:t>
            </a:r>
            <a:r>
              <a:rPr lang="zh-CN" altLang="en-US" b="1"/>
              <a:t>的整数倍时，须先将前一个字</a:t>
            </a:r>
            <a:r>
              <a:rPr lang="en-US" altLang="zh-CN" b="1"/>
              <a:t>W[i-1]</a:t>
            </a:r>
            <a:r>
              <a:rPr lang="zh-CN" altLang="en-US" b="1"/>
              <a:t>经过</a:t>
            </a:r>
            <a:r>
              <a:rPr lang="en-US" altLang="zh-CN" b="1"/>
              <a:t>SubByte</a:t>
            </a:r>
            <a:r>
              <a:rPr lang="zh-CN" altLang="en-US" b="1"/>
              <a:t>变换</a:t>
            </a:r>
          </a:p>
          <a:p>
            <a:endParaRPr lang="zh-CN" altLang="zh-CN"/>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7" name="Rectangle 7">
            <a:extLst>
              <a:ext uri="{FF2B5EF4-FFF2-40B4-BE49-F238E27FC236}">
                <a16:creationId xmlns:a16="http://schemas.microsoft.com/office/drawing/2014/main" id="{B73E0B98-0120-2148-9A27-C03508662E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22CB88F-6B4D-E64A-AFA1-7803FCD90C57}" type="slidenum">
              <a:rPr lang="en-US" altLang="zh-CN"/>
              <a:pPr/>
              <a:t>158</a:t>
            </a:fld>
            <a:endParaRPr lang="en-US" altLang="zh-CN"/>
          </a:p>
        </p:txBody>
      </p:sp>
      <p:sp>
        <p:nvSpPr>
          <p:cNvPr id="372738" name="Rectangle 2">
            <a:extLst>
              <a:ext uri="{FF2B5EF4-FFF2-40B4-BE49-F238E27FC236}">
                <a16:creationId xmlns:a16="http://schemas.microsoft.com/office/drawing/2014/main" id="{6F339ADA-5073-B543-BC30-09ADB0A8E707}"/>
              </a:ext>
            </a:extLst>
          </p:cNvPr>
          <p:cNvSpPr>
            <a:spLocks noGrp="1" noRot="1" noChangeAspect="1" noChangeArrowheads="1" noTextEdit="1"/>
          </p:cNvSpPr>
          <p:nvPr>
            <p:ph type="sldImg" idx="4294967295"/>
          </p:nvPr>
        </p:nvSpPr>
        <p:spPr>
          <a:xfrm>
            <a:off x="3429000" y="2400300"/>
            <a:ext cx="0" cy="0"/>
          </a:xfrm>
          <a:ln/>
        </p:spPr>
      </p:sp>
      <p:sp>
        <p:nvSpPr>
          <p:cNvPr id="372739" name="Rectangle 3">
            <a:extLst>
              <a:ext uri="{FF2B5EF4-FFF2-40B4-BE49-F238E27FC236}">
                <a16:creationId xmlns:a16="http://schemas.microsoft.com/office/drawing/2014/main" id="{C8136044-2653-3249-90A3-AFC2A33C4F5C}"/>
              </a:ext>
            </a:extLst>
          </p:cNvPr>
          <p:cNvSpPr>
            <a:spLocks noGrp="1" noChangeArrowheads="1"/>
          </p:cNvSpPr>
          <p:nvPr>
            <p:ph type="body" idx="4294967295"/>
          </p:nvPr>
        </p:nvSpPr>
        <p:spPr>
          <a:xfrm>
            <a:off x="914400" y="6262688"/>
            <a:ext cx="1403350" cy="274637"/>
          </a:xfrm>
        </p:spPr>
        <p:txBody>
          <a:bodyPr/>
          <a:lstStyle/>
          <a:p>
            <a:pPr>
              <a:lnSpc>
                <a:spcPct val="120000"/>
              </a:lnSpc>
            </a:pPr>
            <a:r>
              <a:rPr lang="zh-CN" altLang="en-US">
                <a:latin typeface="Times New Roman" panose="02020603050405020304" pitchFamily="18" charset="0"/>
              </a:rPr>
              <a:t>以上两个算法中，</a:t>
            </a:r>
            <a:r>
              <a:rPr lang="en-US" altLang="zh-CN">
                <a:latin typeface="Times New Roman" panose="02020603050405020304" pitchFamily="18" charset="0"/>
              </a:rPr>
              <a:t>Rcon[i/Nk] </a:t>
            </a:r>
            <a:r>
              <a:rPr lang="zh-CN" altLang="en-US">
                <a:latin typeface="Times New Roman" panose="02020603050405020304" pitchFamily="18" charset="0"/>
              </a:rPr>
              <a:t>为轮常数，其值与</a:t>
            </a:r>
            <a:r>
              <a:rPr lang="en-US" altLang="zh-CN">
                <a:latin typeface="Times New Roman" panose="02020603050405020304" pitchFamily="18" charset="0"/>
              </a:rPr>
              <a:t>Nk</a:t>
            </a:r>
            <a:r>
              <a:rPr lang="zh-CN" altLang="en-US">
                <a:latin typeface="Times New Roman" panose="02020603050405020304" pitchFamily="18" charset="0"/>
              </a:rPr>
              <a:t>无关，定义为（字节用十六进制表示，同时理解为</a:t>
            </a:r>
            <a:r>
              <a:rPr lang="en-US" altLang="zh-CN">
                <a:latin typeface="Times New Roman" panose="02020603050405020304" pitchFamily="18" charset="0"/>
              </a:rPr>
              <a:t>GF(2</a:t>
            </a:r>
            <a:r>
              <a:rPr lang="en-US" altLang="zh-CN" baseline="30000">
                <a:latin typeface="Times New Roman" panose="02020603050405020304" pitchFamily="18" charset="0"/>
              </a:rPr>
              <a:t>8</a:t>
            </a:r>
            <a:r>
              <a:rPr lang="en-US" altLang="zh-CN">
                <a:latin typeface="Times New Roman" panose="02020603050405020304" pitchFamily="18" charset="0"/>
              </a:rPr>
              <a:t>)</a:t>
            </a:r>
            <a:r>
              <a:rPr lang="zh-CN" altLang="en-US">
                <a:latin typeface="Times New Roman" panose="02020603050405020304" pitchFamily="18" charset="0"/>
              </a:rPr>
              <a:t>上的元素）：       </a:t>
            </a:r>
            <a:r>
              <a:rPr lang="en-US" altLang="zh-CN">
                <a:latin typeface="Times New Roman" panose="02020603050405020304" pitchFamily="18" charset="0"/>
              </a:rPr>
              <a:t>Rcon [i]=(RC[i], ‘00’, ‘00’, ‘00’)      </a:t>
            </a:r>
            <a:r>
              <a:rPr lang="zh-CN" altLang="en-US">
                <a:latin typeface="Times New Roman" panose="02020603050405020304" pitchFamily="18" charset="0"/>
              </a:rPr>
              <a:t>其中</a:t>
            </a:r>
            <a:r>
              <a:rPr lang="en-US" altLang="zh-CN">
                <a:latin typeface="Times New Roman" panose="02020603050405020304" pitchFamily="18" charset="0"/>
              </a:rPr>
              <a:t>RC[i] </a:t>
            </a:r>
            <a:r>
              <a:rPr lang="zh-CN" altLang="en-US">
                <a:latin typeface="Times New Roman" panose="02020603050405020304" pitchFamily="18" charset="0"/>
              </a:rPr>
              <a:t>是</a:t>
            </a:r>
            <a:r>
              <a:rPr lang="en-US" altLang="zh-CN">
                <a:latin typeface="Times New Roman" panose="02020603050405020304" pitchFamily="18" charset="0"/>
              </a:rPr>
              <a:t>GF(2</a:t>
            </a:r>
            <a:r>
              <a:rPr lang="en-US" altLang="zh-CN" baseline="30000">
                <a:latin typeface="Times New Roman" panose="02020603050405020304" pitchFamily="18" charset="0"/>
              </a:rPr>
              <a:t>8</a:t>
            </a:r>
            <a:r>
              <a:rPr lang="en-US" altLang="zh-CN">
                <a:latin typeface="Times New Roman" panose="02020603050405020304" pitchFamily="18" charset="0"/>
              </a:rPr>
              <a:t>) </a:t>
            </a:r>
            <a:r>
              <a:rPr lang="zh-CN" altLang="en-US">
                <a:latin typeface="Times New Roman" panose="02020603050405020304" pitchFamily="18" charset="0"/>
              </a:rPr>
              <a:t>中值为</a:t>
            </a:r>
            <a:r>
              <a:rPr lang="en-US" altLang="zh-CN">
                <a:latin typeface="Times New Roman" panose="02020603050405020304" pitchFamily="18" charset="0"/>
              </a:rPr>
              <a:t>x</a:t>
            </a:r>
            <a:r>
              <a:rPr lang="en-US" altLang="zh-CN" baseline="30000">
                <a:latin typeface="Times New Roman" panose="02020603050405020304" pitchFamily="18" charset="0"/>
              </a:rPr>
              <a:t>i-1</a:t>
            </a:r>
            <a:r>
              <a:rPr lang="zh-CN" altLang="en-US">
                <a:latin typeface="Times New Roman" panose="02020603050405020304" pitchFamily="18" charset="0"/>
              </a:rPr>
              <a:t>的元素，因此</a:t>
            </a:r>
            <a:r>
              <a:rPr lang="en-US" altLang="zh-CN">
                <a:latin typeface="Times New Roman" panose="02020603050405020304" pitchFamily="18" charset="0"/>
              </a:rPr>
              <a:t>RC[1] =1(</a:t>
            </a:r>
            <a:r>
              <a:rPr lang="zh-CN" altLang="en-US">
                <a:latin typeface="Times New Roman" panose="02020603050405020304" pitchFamily="18" charset="0"/>
              </a:rPr>
              <a:t>即‘</a:t>
            </a:r>
            <a:r>
              <a:rPr lang="en-US" altLang="zh-CN">
                <a:latin typeface="Times New Roman" panose="02020603050405020304" pitchFamily="18" charset="0"/>
              </a:rPr>
              <a:t>01’) RC[i] = x(</a:t>
            </a:r>
            <a:r>
              <a:rPr lang="zh-CN" altLang="en-US">
                <a:latin typeface="Times New Roman" panose="02020603050405020304" pitchFamily="18" charset="0"/>
              </a:rPr>
              <a:t>即‘</a:t>
            </a:r>
            <a:r>
              <a:rPr lang="en-US" altLang="zh-CN">
                <a:latin typeface="Times New Roman" panose="02020603050405020304" pitchFamily="18" charset="0"/>
              </a:rPr>
              <a:t>02’)·RC[i-1]= x</a:t>
            </a:r>
            <a:r>
              <a:rPr lang="en-US" altLang="zh-CN" baseline="30000">
                <a:latin typeface="Times New Roman" panose="02020603050405020304" pitchFamily="18" charset="0"/>
              </a:rPr>
              <a:t>i-1</a:t>
            </a:r>
          </a:p>
          <a:p>
            <a:endParaRPr lang="zh-CN" altLang="zh-CN"/>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5" name="Rectangle 7">
            <a:extLst>
              <a:ext uri="{FF2B5EF4-FFF2-40B4-BE49-F238E27FC236}">
                <a16:creationId xmlns:a16="http://schemas.microsoft.com/office/drawing/2014/main" id="{CBC8D768-0375-2B47-BD9E-ED339FF24A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F0D9201-D59C-CE4F-A00D-26846BE48E21}" type="slidenum">
              <a:rPr lang="en-US" altLang="zh-CN"/>
              <a:pPr/>
              <a:t>159</a:t>
            </a:fld>
            <a:endParaRPr lang="en-US" altLang="zh-CN"/>
          </a:p>
        </p:txBody>
      </p:sp>
      <p:sp>
        <p:nvSpPr>
          <p:cNvPr id="374786" name="Rectangle 2">
            <a:extLst>
              <a:ext uri="{FF2B5EF4-FFF2-40B4-BE49-F238E27FC236}">
                <a16:creationId xmlns:a16="http://schemas.microsoft.com/office/drawing/2014/main" id="{623C0E13-D1A7-6D4F-AAD2-AE43F2373626}"/>
              </a:ext>
            </a:extLst>
          </p:cNvPr>
          <p:cNvSpPr>
            <a:spLocks noGrp="1" noRot="1" noChangeAspect="1" noChangeArrowheads="1" noTextEdit="1"/>
          </p:cNvSpPr>
          <p:nvPr>
            <p:ph type="sldImg" idx="4294967295"/>
          </p:nvPr>
        </p:nvSpPr>
        <p:spPr>
          <a:xfrm>
            <a:off x="3429000" y="2400300"/>
            <a:ext cx="0" cy="0"/>
          </a:xfrm>
          <a:ln/>
        </p:spPr>
      </p:sp>
      <p:sp>
        <p:nvSpPr>
          <p:cNvPr id="374787" name="Rectangle 3">
            <a:extLst>
              <a:ext uri="{FF2B5EF4-FFF2-40B4-BE49-F238E27FC236}">
                <a16:creationId xmlns:a16="http://schemas.microsoft.com/office/drawing/2014/main" id="{BA80F01F-400B-B749-9570-C7608A673AAF}"/>
              </a:ext>
            </a:extLst>
          </p:cNvPr>
          <p:cNvSpPr>
            <a:spLocks noGrp="1" noChangeArrowheads="1"/>
          </p:cNvSpPr>
          <p:nvPr>
            <p:ph type="body" idx="4294967295"/>
          </p:nvPr>
        </p:nvSpPr>
        <p:spPr>
          <a:xfrm>
            <a:off x="914400" y="6262688"/>
            <a:ext cx="1403350" cy="274637"/>
          </a:xfrm>
        </p:spPr>
        <p:txBody>
          <a:bodyPr/>
          <a:lstStyle/>
          <a:p>
            <a:r>
              <a:rPr lang="zh-CN" altLang="en-US">
                <a:latin typeface="Times New Roman" panose="02020603050405020304" pitchFamily="18" charset="0"/>
              </a:rPr>
              <a:t>轮密钥</a:t>
            </a:r>
            <a:r>
              <a:rPr lang="en-US" altLang="zh-CN">
                <a:latin typeface="Times New Roman" panose="02020603050405020304" pitchFamily="18" charset="0"/>
              </a:rPr>
              <a:t>i</a:t>
            </a:r>
            <a:r>
              <a:rPr lang="zh-CN" altLang="en-US">
                <a:latin typeface="Times New Roman" panose="02020603050405020304" pitchFamily="18" charset="0"/>
              </a:rPr>
              <a:t>（即第</a:t>
            </a:r>
            <a:r>
              <a:rPr lang="en-US" altLang="zh-CN">
                <a:latin typeface="Times New Roman" panose="02020603050405020304" pitchFamily="18" charset="0"/>
              </a:rPr>
              <a:t>i </a:t>
            </a:r>
            <a:r>
              <a:rPr lang="zh-CN" altLang="en-US">
                <a:latin typeface="Times New Roman" panose="02020603050405020304" pitchFamily="18" charset="0"/>
              </a:rPr>
              <a:t>个轮密钥）由轮密钥缓冲字</a:t>
            </a:r>
            <a:r>
              <a:rPr lang="en-US" altLang="zh-CN">
                <a:latin typeface="Times New Roman" panose="02020603050405020304" pitchFamily="18" charset="0"/>
              </a:rPr>
              <a:t>W[Nb* i]</a:t>
            </a:r>
            <a:r>
              <a:rPr lang="zh-CN" altLang="en-US">
                <a:latin typeface="Times New Roman" panose="02020603050405020304" pitchFamily="18" charset="0"/>
              </a:rPr>
              <a:t>到</a:t>
            </a:r>
            <a:r>
              <a:rPr lang="en-US" altLang="zh-CN">
                <a:latin typeface="Times New Roman" panose="02020603050405020304" pitchFamily="18" charset="0"/>
              </a:rPr>
              <a:t>W[Nb*(i+1)]</a:t>
            </a:r>
            <a:r>
              <a:rPr lang="zh-CN" altLang="en-US">
                <a:latin typeface="Times New Roman" panose="02020603050405020304" pitchFamily="18" charset="0"/>
              </a:rPr>
              <a:t>给出，如图所示。</a:t>
            </a:r>
            <a:r>
              <a:rPr lang="en-US" altLang="zh-CN" b="1"/>
              <a:t>N</a:t>
            </a:r>
            <a:r>
              <a:rPr lang="en-US" altLang="zh-CN" b="1" baseline="-25000"/>
              <a:t>b</a:t>
            </a:r>
            <a:r>
              <a:rPr lang="en-US" altLang="zh-CN" b="1"/>
              <a:t>=6</a:t>
            </a:r>
            <a:r>
              <a:rPr lang="zh-CN" altLang="en-US" b="1"/>
              <a:t>且</a:t>
            </a:r>
            <a:r>
              <a:rPr lang="en-US" altLang="zh-CN" b="1"/>
              <a:t>N</a:t>
            </a:r>
            <a:r>
              <a:rPr lang="en-US" altLang="zh-CN" b="1" baseline="-25000"/>
              <a:t>k</a:t>
            </a:r>
            <a:r>
              <a:rPr lang="en-US" altLang="zh-CN" b="1"/>
              <a:t>=4</a:t>
            </a:r>
            <a:r>
              <a:rPr lang="zh-CN" altLang="en-US" b="1"/>
              <a:t>时的密钥扩展与轮密钥选取。密钥扩展从</a:t>
            </a:r>
            <a:r>
              <a:rPr lang="en-US" altLang="zh-CN" b="1"/>
              <a:t>w4</a:t>
            </a:r>
            <a:r>
              <a:rPr lang="zh-CN" altLang="en-US" b="1"/>
              <a:t>开始，而轮密钥选取，每次选</a:t>
            </a:r>
            <a:r>
              <a:rPr lang="en-US" altLang="zh-CN" b="1"/>
              <a:t>6</a:t>
            </a:r>
            <a:r>
              <a:rPr lang="zh-CN" altLang="en-US" b="1"/>
              <a:t>列</a:t>
            </a:r>
          </a:p>
          <a:p>
            <a:endParaRPr lang="zh-CN" altLang="en-US">
              <a:latin typeface="Times New Roman" panose="02020603050405020304" pitchFamily="18" charset="0"/>
            </a:endParaRPr>
          </a:p>
          <a:p>
            <a:endParaRPr lang="zh-CN" altLang="zh-CN"/>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3" name="幻灯片图像占位符 1">
            <a:extLst>
              <a:ext uri="{FF2B5EF4-FFF2-40B4-BE49-F238E27FC236}">
                <a16:creationId xmlns:a16="http://schemas.microsoft.com/office/drawing/2014/main" id="{09562A96-CBAA-4545-96CE-8755C7AA00A6}"/>
              </a:ext>
            </a:extLst>
          </p:cNvPr>
          <p:cNvSpPr>
            <a:spLocks noGrp="1" noRot="1" noChangeAspect="1" noChangeArrowheads="1" noTextEdit="1"/>
          </p:cNvSpPr>
          <p:nvPr>
            <p:ph type="sldImg" idx="4294967295"/>
          </p:nvPr>
        </p:nvSpPr>
        <p:spPr>
          <a:ln/>
        </p:spPr>
      </p:sp>
      <p:sp>
        <p:nvSpPr>
          <p:cNvPr id="376834" name="备注占位符 2">
            <a:extLst>
              <a:ext uri="{FF2B5EF4-FFF2-40B4-BE49-F238E27FC236}">
                <a16:creationId xmlns:a16="http://schemas.microsoft.com/office/drawing/2014/main" id="{F6FC3198-EDC5-C140-B83E-A05AA2E99842}"/>
              </a:ext>
            </a:extLst>
          </p:cNvPr>
          <p:cNvSpPr>
            <a:spLocks noGrp="1" noChangeArrowheads="1"/>
          </p:cNvSpPr>
          <p:nvPr>
            <p:ph type="body" idx="4294967295"/>
          </p:nvPr>
        </p:nvSpPr>
        <p:spPr/>
        <p:txBody>
          <a:bodyPr/>
          <a:lstStyle/>
          <a:p>
            <a:r>
              <a:rPr lang="zh-CN" altLang="en-US"/>
              <a:t>这是</a:t>
            </a:r>
            <a:r>
              <a:rPr lang="en-US" altLang="zh-CN"/>
              <a:t>AES</a:t>
            </a:r>
            <a:r>
              <a:rPr lang="zh-CN" altLang="en-US"/>
              <a:t>加密算法的伪代码。可以看到首先将明文分组填充到状态中，然后进行轮密钥加，接着就进入轮函数迭代，轮函数中按照字节代换、行移位、列混淆和轮密钥加的顺序进行。最后一轮少了列混淆</a:t>
            </a:r>
          </a:p>
        </p:txBody>
      </p:sp>
      <p:sp>
        <p:nvSpPr>
          <p:cNvPr id="376835" name="灯片编号占位符 3">
            <a:extLst>
              <a:ext uri="{FF2B5EF4-FFF2-40B4-BE49-F238E27FC236}">
                <a16:creationId xmlns:a16="http://schemas.microsoft.com/office/drawing/2014/main" id="{53A94F91-C524-1847-A706-61C895BC56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1187B6D-85FF-7049-A672-4A0380A6D396}" type="slidenum">
              <a:rPr lang="en-US" altLang="zh-CN"/>
              <a:pPr/>
              <a:t>160</a:t>
            </a:fld>
            <a:endParaRPr lang="en-US" altLang="zh-CN"/>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1" name="幻灯片图像占位符 1">
            <a:extLst>
              <a:ext uri="{FF2B5EF4-FFF2-40B4-BE49-F238E27FC236}">
                <a16:creationId xmlns:a16="http://schemas.microsoft.com/office/drawing/2014/main" id="{69EF6879-0DBA-7042-A6D3-1B41609D38FC}"/>
              </a:ext>
            </a:extLst>
          </p:cNvPr>
          <p:cNvSpPr>
            <a:spLocks noGrp="1" noRot="1" noChangeAspect="1" noChangeArrowheads="1" noTextEdit="1"/>
          </p:cNvSpPr>
          <p:nvPr>
            <p:ph type="sldImg" idx="4294967295"/>
          </p:nvPr>
        </p:nvSpPr>
        <p:spPr>
          <a:ln/>
        </p:spPr>
      </p:sp>
      <p:sp>
        <p:nvSpPr>
          <p:cNvPr id="378882" name="备注占位符 2">
            <a:extLst>
              <a:ext uri="{FF2B5EF4-FFF2-40B4-BE49-F238E27FC236}">
                <a16:creationId xmlns:a16="http://schemas.microsoft.com/office/drawing/2014/main" id="{A5A5CB4C-FE75-7040-BC22-DBF136737DAC}"/>
              </a:ext>
            </a:extLst>
          </p:cNvPr>
          <p:cNvSpPr>
            <a:spLocks noGrp="1" noChangeArrowheads="1"/>
          </p:cNvSpPr>
          <p:nvPr>
            <p:ph type="body" idx="4294967295"/>
          </p:nvPr>
        </p:nvSpPr>
        <p:spPr/>
        <p:txBody>
          <a:bodyPr/>
          <a:lstStyle/>
          <a:p>
            <a:r>
              <a:rPr lang="zh-CN" altLang="en-US"/>
              <a:t>这是解密算法的伪代码，接收到密文分组后将其导入状态矩阵，然后进行轮密钥加，轮密钥的使用顺序与加密相反。接着进入轮函数迭代，其顺序为逆行移位、逆字节代换、轮密钥加和逆列混淆，最后一轮同样少了逆列混淆。</a:t>
            </a:r>
          </a:p>
        </p:txBody>
      </p:sp>
      <p:sp>
        <p:nvSpPr>
          <p:cNvPr id="378883" name="灯片编号占位符 3">
            <a:extLst>
              <a:ext uri="{FF2B5EF4-FFF2-40B4-BE49-F238E27FC236}">
                <a16:creationId xmlns:a16="http://schemas.microsoft.com/office/drawing/2014/main" id="{8C34BBC4-FC17-6F4D-89FB-420C023296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EED266D-1C13-4C41-A2E2-2A0214EAEC27}" type="slidenum">
              <a:rPr lang="en-US" altLang="zh-CN"/>
              <a:pPr/>
              <a:t>161</a:t>
            </a:fld>
            <a:endParaRPr lang="en-US" altLang="zh-CN"/>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29" name="幻灯片图像占位符 1">
            <a:extLst>
              <a:ext uri="{FF2B5EF4-FFF2-40B4-BE49-F238E27FC236}">
                <a16:creationId xmlns:a16="http://schemas.microsoft.com/office/drawing/2014/main" id="{892FB364-D94E-D34D-8092-4C460979A676}"/>
              </a:ext>
            </a:extLst>
          </p:cNvPr>
          <p:cNvSpPr>
            <a:spLocks noGrp="1" noRot="1" noChangeAspect="1" noChangeArrowheads="1" noTextEdit="1"/>
          </p:cNvSpPr>
          <p:nvPr>
            <p:ph type="sldImg" idx="4294967295"/>
          </p:nvPr>
        </p:nvSpPr>
        <p:spPr>
          <a:ln/>
        </p:spPr>
      </p:sp>
      <p:sp>
        <p:nvSpPr>
          <p:cNvPr id="380930" name="备注占位符 2">
            <a:extLst>
              <a:ext uri="{FF2B5EF4-FFF2-40B4-BE49-F238E27FC236}">
                <a16:creationId xmlns:a16="http://schemas.microsoft.com/office/drawing/2014/main" id="{2189F80F-4006-5045-83FE-1A8DD34DAE1A}"/>
              </a:ext>
            </a:extLst>
          </p:cNvPr>
          <p:cNvSpPr>
            <a:spLocks noGrp="1" noChangeArrowheads="1"/>
          </p:cNvSpPr>
          <p:nvPr>
            <p:ph type="body" idx="4294967295"/>
          </p:nvPr>
        </p:nvSpPr>
        <p:spPr/>
        <p:txBody>
          <a:bodyPr/>
          <a:lstStyle/>
          <a:p>
            <a:r>
              <a:rPr lang="zh-CN" altLang="en-US"/>
              <a:t>这是密钥编排算法的伪代码，首先将原始密钥导入到密钥扩展矩阵当中，进行密钥扩展，密钥扩展需要注意的两点是</a:t>
            </a:r>
            <a:r>
              <a:rPr lang="en-US" altLang="zh-CN"/>
              <a:t>i</a:t>
            </a:r>
            <a:r>
              <a:rPr lang="zh-CN" altLang="en-US"/>
              <a:t>是</a:t>
            </a:r>
            <a:r>
              <a:rPr lang="en-US" altLang="zh-CN"/>
              <a:t>Nk</a:t>
            </a:r>
            <a:r>
              <a:rPr lang="zh-CN" altLang="en-US"/>
              <a:t>的整数倍时处理方式与其余列处理方式不同，</a:t>
            </a:r>
            <a:r>
              <a:rPr lang="en-US" altLang="zh-CN"/>
              <a:t>Nk</a:t>
            </a:r>
            <a:r>
              <a:rPr lang="zh-CN" altLang="en-US"/>
              <a:t>大于</a:t>
            </a:r>
            <a:r>
              <a:rPr lang="en-US" altLang="zh-CN"/>
              <a:t>6</a:t>
            </a:r>
            <a:r>
              <a:rPr lang="zh-CN" altLang="en-US"/>
              <a:t>与</a:t>
            </a:r>
            <a:r>
              <a:rPr lang="en-US" altLang="zh-CN"/>
              <a:t>Nk</a:t>
            </a:r>
            <a:r>
              <a:rPr lang="zh-CN" altLang="en-US"/>
              <a:t>小于等于</a:t>
            </a:r>
            <a:r>
              <a:rPr lang="en-US" altLang="zh-CN"/>
              <a:t>6</a:t>
            </a:r>
            <a:r>
              <a:rPr lang="zh-CN" altLang="en-US"/>
              <a:t>的处理方式也有所不同。</a:t>
            </a:r>
          </a:p>
        </p:txBody>
      </p:sp>
      <p:sp>
        <p:nvSpPr>
          <p:cNvPr id="380931" name="灯片编号占位符 3">
            <a:extLst>
              <a:ext uri="{FF2B5EF4-FFF2-40B4-BE49-F238E27FC236}">
                <a16:creationId xmlns:a16="http://schemas.microsoft.com/office/drawing/2014/main" id="{647DDCCE-31F8-7B4C-9309-BE7738483F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63F94DA-BAB2-2845-9581-C0EBC64F385B}" type="slidenum">
              <a:rPr lang="en-US" altLang="zh-CN"/>
              <a:pPr/>
              <a:t>162</a:t>
            </a:fld>
            <a:endParaRPr lang="en-US" altLang="zh-CN"/>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7" name="幻灯片图像占位符 1">
            <a:extLst>
              <a:ext uri="{FF2B5EF4-FFF2-40B4-BE49-F238E27FC236}">
                <a16:creationId xmlns:a16="http://schemas.microsoft.com/office/drawing/2014/main" id="{FCA01768-5CF0-9041-BD65-ECD0BC6635EF}"/>
              </a:ext>
            </a:extLst>
          </p:cNvPr>
          <p:cNvSpPr>
            <a:spLocks noGrp="1" noRot="1" noChangeAspect="1" noChangeArrowheads="1" noTextEdit="1"/>
          </p:cNvSpPr>
          <p:nvPr>
            <p:ph type="sldImg" idx="4294967295"/>
          </p:nvPr>
        </p:nvSpPr>
        <p:spPr>
          <a:ln/>
        </p:spPr>
      </p:sp>
      <p:sp>
        <p:nvSpPr>
          <p:cNvPr id="382978" name="备注占位符 2">
            <a:extLst>
              <a:ext uri="{FF2B5EF4-FFF2-40B4-BE49-F238E27FC236}">
                <a16:creationId xmlns:a16="http://schemas.microsoft.com/office/drawing/2014/main" id="{C67D1092-0602-CC45-9866-04417C3B3FA1}"/>
              </a:ext>
            </a:extLst>
          </p:cNvPr>
          <p:cNvSpPr>
            <a:spLocks noGrp="1" noChangeArrowheads="1"/>
          </p:cNvSpPr>
          <p:nvPr>
            <p:ph type="body" idx="4294967295"/>
          </p:nvPr>
        </p:nvSpPr>
        <p:spPr/>
        <p:txBody>
          <a:bodyPr/>
          <a:lstStyle/>
          <a:p>
            <a:r>
              <a:rPr lang="zh-CN" altLang="en-US"/>
              <a:t>同学们大家好，上一讲我们介绍了国际上通用的高级加密标准，这一讲我们来了解一下我们国家的商用密码标准算法</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5" name="幻灯片图像占位符 1">
            <a:extLst>
              <a:ext uri="{FF2B5EF4-FFF2-40B4-BE49-F238E27FC236}">
                <a16:creationId xmlns:a16="http://schemas.microsoft.com/office/drawing/2014/main" id="{D2750496-BBF0-9946-8FE9-22C3A804A581}"/>
              </a:ext>
            </a:extLst>
          </p:cNvPr>
          <p:cNvSpPr>
            <a:spLocks noGrp="1" noRot="1" noChangeAspect="1" noChangeArrowheads="1" noTextEdit="1"/>
          </p:cNvSpPr>
          <p:nvPr>
            <p:ph type="sldImg" idx="4294967295"/>
          </p:nvPr>
        </p:nvSpPr>
        <p:spPr>
          <a:ln/>
        </p:spPr>
      </p:sp>
      <p:sp>
        <p:nvSpPr>
          <p:cNvPr id="385026" name="备注占位符 2">
            <a:extLst>
              <a:ext uri="{FF2B5EF4-FFF2-40B4-BE49-F238E27FC236}">
                <a16:creationId xmlns:a16="http://schemas.microsoft.com/office/drawing/2014/main" id="{EE73329A-C881-0D4F-BCD1-24A3C06A350E}"/>
              </a:ext>
            </a:extLst>
          </p:cNvPr>
          <p:cNvSpPr>
            <a:spLocks noGrp="1" noChangeArrowheads="1"/>
          </p:cNvSpPr>
          <p:nvPr>
            <p:ph type="body" idx="4294967295"/>
          </p:nvPr>
        </p:nvSpPr>
        <p:spPr/>
        <p:txBody>
          <a:bodyPr/>
          <a:lstStyle/>
          <a:p>
            <a:r>
              <a:rPr lang="en-US" altLang="zh-CN"/>
              <a:t>SM4</a:t>
            </a:r>
            <a:r>
              <a:rPr lang="zh-CN" altLang="en-US"/>
              <a:t>分组密码算法是国家密码管理局于</a:t>
            </a:r>
            <a:r>
              <a:rPr lang="en-US" altLang="zh-CN"/>
              <a:t>2006</a:t>
            </a:r>
            <a:r>
              <a:rPr lang="zh-CN" altLang="en-US"/>
              <a:t>年</a:t>
            </a:r>
            <a:r>
              <a:rPr lang="en-US" altLang="zh-CN"/>
              <a:t>1</a:t>
            </a:r>
            <a:r>
              <a:rPr lang="zh-CN" altLang="en-US"/>
              <a:t>月</a:t>
            </a:r>
            <a:r>
              <a:rPr lang="en-US" altLang="zh-CN"/>
              <a:t>6</a:t>
            </a:r>
            <a:r>
              <a:rPr lang="zh-CN" altLang="en-US"/>
              <a:t>日公布的无线局域网产品使用的密码算法，是国内官方公布的第一个商用密码算法。</a:t>
            </a:r>
            <a:r>
              <a:rPr lang="en-US" altLang="zh-CN"/>
              <a:t>SM4</a:t>
            </a:r>
            <a:r>
              <a:rPr lang="zh-CN" altLang="en-US"/>
              <a:t>是一个分组密码算法，分组长度和密钥长度均为</a:t>
            </a:r>
            <a:r>
              <a:rPr lang="en-US" altLang="zh-CN"/>
              <a:t>128</a:t>
            </a:r>
            <a:r>
              <a:rPr lang="zh-CN" altLang="en-US"/>
              <a:t>比特。加密算法与密钥扩展算法都采用</a:t>
            </a:r>
            <a:r>
              <a:rPr lang="en-US" altLang="zh-CN"/>
              <a:t>32</a:t>
            </a:r>
            <a:r>
              <a:rPr lang="zh-CN" altLang="en-US"/>
              <a:t>轮非线性迭代结构。它的解密算法与加密算法的结构相同，只是轮密钥的使用顺序相反，解密轮密钥是加密轮密钥的逆序。</a:t>
            </a:r>
          </a:p>
        </p:txBody>
      </p:sp>
      <p:sp>
        <p:nvSpPr>
          <p:cNvPr id="385027" name="灯片编号占位符 3">
            <a:extLst>
              <a:ext uri="{FF2B5EF4-FFF2-40B4-BE49-F238E27FC236}">
                <a16:creationId xmlns:a16="http://schemas.microsoft.com/office/drawing/2014/main" id="{A1E58BEF-EF14-8146-A2DE-8120A8E415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37E14CF-8A6C-AF47-B9E6-8EC23F3E4F89}" type="slidenum">
              <a:rPr lang="en-US" altLang="zh-CN"/>
              <a:pPr/>
              <a:t>164</a:t>
            </a:fld>
            <a:endParaRPr lang="en-US" altLang="zh-CN"/>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3" name="幻灯片图像占位符 1">
            <a:extLst>
              <a:ext uri="{FF2B5EF4-FFF2-40B4-BE49-F238E27FC236}">
                <a16:creationId xmlns:a16="http://schemas.microsoft.com/office/drawing/2014/main" id="{C47AA10E-CEAD-614D-AED7-7D8330AF9779}"/>
              </a:ext>
            </a:extLst>
          </p:cNvPr>
          <p:cNvSpPr>
            <a:spLocks noGrp="1" noRot="1" noChangeAspect="1" noChangeArrowheads="1" noTextEdit="1"/>
          </p:cNvSpPr>
          <p:nvPr>
            <p:ph type="sldImg" idx="4294967295"/>
          </p:nvPr>
        </p:nvSpPr>
        <p:spPr>
          <a:ln/>
        </p:spPr>
      </p:sp>
      <p:sp>
        <p:nvSpPr>
          <p:cNvPr id="387074" name="备注占位符 2">
            <a:extLst>
              <a:ext uri="{FF2B5EF4-FFF2-40B4-BE49-F238E27FC236}">
                <a16:creationId xmlns:a16="http://schemas.microsoft.com/office/drawing/2014/main" id="{AEDD8CDD-9309-6845-8DD7-74EDA3B1A9FC}"/>
              </a:ext>
            </a:extLst>
          </p:cNvPr>
          <p:cNvSpPr>
            <a:spLocks noGrp="1" noChangeArrowheads="1"/>
          </p:cNvSpPr>
          <p:nvPr>
            <p:ph type="body" idx="4294967295"/>
          </p:nvPr>
        </p:nvSpPr>
        <p:spPr/>
        <p:txBody>
          <a:bodyPr/>
          <a:lstStyle/>
          <a:p>
            <a:r>
              <a:rPr lang="zh-CN" altLang="en-US"/>
              <a:t>同</a:t>
            </a:r>
            <a:r>
              <a:rPr lang="en-US" altLang="zh-CN"/>
              <a:t>PPT</a:t>
            </a:r>
            <a:endParaRPr lang="zh-CN" altLang="en-US"/>
          </a:p>
        </p:txBody>
      </p:sp>
      <p:sp>
        <p:nvSpPr>
          <p:cNvPr id="387075" name="灯片编号占位符 3">
            <a:extLst>
              <a:ext uri="{FF2B5EF4-FFF2-40B4-BE49-F238E27FC236}">
                <a16:creationId xmlns:a16="http://schemas.microsoft.com/office/drawing/2014/main" id="{639C49A2-15C7-644D-BB17-4D09F065F1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1DA0B9C-F19F-854E-9E93-AE58BC376844}" type="slidenum">
              <a:rPr lang="en-US" altLang="zh-CN"/>
              <a:pPr/>
              <a:t>165</a:t>
            </a:fld>
            <a:endParaRPr lang="en-US" altLang="zh-CN"/>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1" name="幻灯片图像占位符 1">
            <a:extLst>
              <a:ext uri="{FF2B5EF4-FFF2-40B4-BE49-F238E27FC236}">
                <a16:creationId xmlns:a16="http://schemas.microsoft.com/office/drawing/2014/main" id="{386CFAB3-BBE7-944A-A2C0-4B551DE8F860}"/>
              </a:ext>
            </a:extLst>
          </p:cNvPr>
          <p:cNvSpPr>
            <a:spLocks noGrp="1" noRot="1" noChangeAspect="1" noChangeArrowheads="1" noTextEdit="1"/>
          </p:cNvSpPr>
          <p:nvPr>
            <p:ph type="sldImg" idx="4294967295"/>
          </p:nvPr>
        </p:nvSpPr>
        <p:spPr>
          <a:ln/>
        </p:spPr>
      </p:sp>
      <p:sp>
        <p:nvSpPr>
          <p:cNvPr id="389122" name="备注占位符 2">
            <a:extLst>
              <a:ext uri="{FF2B5EF4-FFF2-40B4-BE49-F238E27FC236}">
                <a16:creationId xmlns:a16="http://schemas.microsoft.com/office/drawing/2014/main" id="{06A03EDC-4555-E541-8CC9-43F5372AFA5E}"/>
              </a:ext>
            </a:extLst>
          </p:cNvPr>
          <p:cNvSpPr>
            <a:spLocks noGrp="1" noChangeArrowheads="1"/>
          </p:cNvSpPr>
          <p:nvPr>
            <p:ph type="body" idx="4294967295"/>
          </p:nvPr>
        </p:nvSpPr>
        <p:spPr/>
        <p:txBody>
          <a:bodyPr/>
          <a:lstStyle/>
          <a:p>
            <a:r>
              <a:rPr lang="en-US" altLang="zh-CN"/>
              <a:t>SM4</a:t>
            </a:r>
            <a:r>
              <a:rPr lang="zh-CN" altLang="en-US"/>
              <a:t>算法的加密密钥长度为</a:t>
            </a:r>
            <a:r>
              <a:rPr lang="en-US" altLang="zh-CN"/>
              <a:t>128</a:t>
            </a:r>
            <a:r>
              <a:rPr lang="zh-CN" altLang="en-US"/>
              <a:t>比特，记为</a:t>
            </a:r>
            <a:r>
              <a:rPr lang="en-US" altLang="zh-CN"/>
              <a:t>MK</a:t>
            </a:r>
            <a:r>
              <a:rPr lang="zh-CN" altLang="en-US"/>
              <a:t>，分为</a:t>
            </a:r>
            <a:r>
              <a:rPr lang="en-US" altLang="zh-CN"/>
              <a:t>4</a:t>
            </a:r>
            <a:r>
              <a:rPr lang="zh-CN" altLang="en-US"/>
              <a:t>个</a:t>
            </a:r>
            <a:r>
              <a:rPr lang="en-US" altLang="zh-CN"/>
              <a:t>32</a:t>
            </a:r>
            <a:r>
              <a:rPr lang="zh-CN" altLang="en-US"/>
              <a:t>比特的字。轮密钥</a:t>
            </a:r>
            <a:r>
              <a:rPr lang="en-US" altLang="zh-CN"/>
              <a:t>RK0</a:t>
            </a:r>
            <a:r>
              <a:rPr lang="zh-CN" altLang="en-US"/>
              <a:t>到</a:t>
            </a:r>
            <a:r>
              <a:rPr lang="en-US" altLang="zh-CN"/>
              <a:t>rk31</a:t>
            </a:r>
            <a:r>
              <a:rPr lang="zh-CN" altLang="en-US"/>
              <a:t>，为</a:t>
            </a:r>
            <a:r>
              <a:rPr lang="en-US" altLang="zh-CN"/>
              <a:t>32</a:t>
            </a:r>
            <a:r>
              <a:rPr lang="zh-CN" altLang="en-US"/>
              <a:t>个字，</a:t>
            </a:r>
            <a:r>
              <a:rPr lang="en-US" altLang="zh-CN"/>
              <a:t>128</a:t>
            </a:r>
            <a:r>
              <a:rPr lang="zh-CN" altLang="en-US"/>
              <a:t>比特的系统参数</a:t>
            </a:r>
            <a:r>
              <a:rPr lang="en-US" altLang="zh-CN"/>
              <a:t>FK</a:t>
            </a:r>
            <a:r>
              <a:rPr lang="zh-CN" altLang="en-US"/>
              <a:t>也分为</a:t>
            </a:r>
            <a:r>
              <a:rPr lang="en-US" altLang="zh-CN"/>
              <a:t>4</a:t>
            </a:r>
            <a:r>
              <a:rPr lang="zh-CN" altLang="en-US"/>
              <a:t>个</a:t>
            </a:r>
            <a:r>
              <a:rPr lang="en-US" altLang="zh-CN"/>
              <a:t>32</a:t>
            </a:r>
            <a:r>
              <a:rPr lang="zh-CN" altLang="en-US"/>
              <a:t>比特的字，</a:t>
            </a:r>
            <a:r>
              <a:rPr lang="en-US" altLang="zh-CN"/>
              <a:t>CK</a:t>
            </a:r>
            <a:r>
              <a:rPr lang="zh-CN" altLang="en-US"/>
              <a:t>为</a:t>
            </a:r>
            <a:r>
              <a:rPr lang="en-US" altLang="zh-CN"/>
              <a:t>128</a:t>
            </a:r>
            <a:r>
              <a:rPr lang="zh-CN" altLang="en-US"/>
              <a:t>比特的固定参数，将用于密钥扩展算法</a:t>
            </a:r>
          </a:p>
        </p:txBody>
      </p:sp>
      <p:sp>
        <p:nvSpPr>
          <p:cNvPr id="389123" name="灯片编号占位符 3">
            <a:extLst>
              <a:ext uri="{FF2B5EF4-FFF2-40B4-BE49-F238E27FC236}">
                <a16:creationId xmlns:a16="http://schemas.microsoft.com/office/drawing/2014/main" id="{620C5908-A441-1C42-A365-1092C6FF3F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3ABC4B4-F8AE-E54A-A852-8A5AE3FE1171}" type="slidenum">
              <a:rPr lang="en-US" altLang="zh-CN"/>
              <a:pPr/>
              <a:t>166</a:t>
            </a:fld>
            <a:endParaRPr lang="en-US" altLang="zh-CN"/>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69" name="幻灯片图像占位符 1">
            <a:extLst>
              <a:ext uri="{FF2B5EF4-FFF2-40B4-BE49-F238E27FC236}">
                <a16:creationId xmlns:a16="http://schemas.microsoft.com/office/drawing/2014/main" id="{91A8B393-A332-FC40-9AB9-50B1AA9B2FE3}"/>
              </a:ext>
            </a:extLst>
          </p:cNvPr>
          <p:cNvSpPr>
            <a:spLocks noGrp="1" noRot="1" noChangeAspect="1" noChangeArrowheads="1" noTextEdit="1"/>
          </p:cNvSpPr>
          <p:nvPr>
            <p:ph type="sldImg" idx="4294967295"/>
          </p:nvPr>
        </p:nvSpPr>
        <p:spPr>
          <a:ln/>
        </p:spPr>
      </p:sp>
      <p:sp>
        <p:nvSpPr>
          <p:cNvPr id="391170" name="备注占位符 2">
            <a:extLst>
              <a:ext uri="{FF2B5EF4-FFF2-40B4-BE49-F238E27FC236}">
                <a16:creationId xmlns:a16="http://schemas.microsoft.com/office/drawing/2014/main" id="{598B6395-2FB9-2644-A81C-EF24E3656D7A}"/>
              </a:ext>
            </a:extLst>
          </p:cNvPr>
          <p:cNvSpPr>
            <a:spLocks noGrp="1" noChangeArrowheads="1"/>
          </p:cNvSpPr>
          <p:nvPr>
            <p:ph type="body" idx="4294967295"/>
          </p:nvPr>
        </p:nvSpPr>
        <p:spPr/>
        <p:txBody>
          <a:bodyPr/>
          <a:lstStyle/>
          <a:p>
            <a:r>
              <a:rPr lang="zh-CN" altLang="en-US"/>
              <a:t>首先将</a:t>
            </a:r>
            <a:r>
              <a:rPr lang="en-US" altLang="zh-CN"/>
              <a:t>128</a:t>
            </a:r>
            <a:r>
              <a:rPr lang="zh-CN" altLang="en-US"/>
              <a:t>比特明文分为</a:t>
            </a:r>
            <a:r>
              <a:rPr lang="en-US" altLang="zh-CN"/>
              <a:t>4</a:t>
            </a:r>
            <a:r>
              <a:rPr lang="zh-CN" altLang="en-US"/>
              <a:t>个</a:t>
            </a:r>
            <a:r>
              <a:rPr lang="en-US" altLang="zh-CN"/>
              <a:t>32</a:t>
            </a:r>
            <a:r>
              <a:rPr lang="zh-CN" altLang="en-US"/>
              <a:t>比特的字，</a:t>
            </a:r>
            <a:r>
              <a:rPr lang="en-US" altLang="zh-CN"/>
              <a:t>X0X1X2</a:t>
            </a:r>
            <a:r>
              <a:rPr lang="zh-CN" altLang="en-US"/>
              <a:t>和</a:t>
            </a:r>
            <a:r>
              <a:rPr lang="en-US" altLang="zh-CN"/>
              <a:t>X3</a:t>
            </a:r>
            <a:r>
              <a:rPr lang="zh-CN" altLang="en-US"/>
              <a:t>，然后进入第一轮，参与的轮密钥为</a:t>
            </a:r>
            <a:r>
              <a:rPr lang="en-US" altLang="zh-CN"/>
              <a:t>rk0.</a:t>
            </a:r>
            <a:r>
              <a:rPr lang="zh-CN" altLang="en-US"/>
              <a:t>它的输出为</a:t>
            </a:r>
            <a:r>
              <a:rPr lang="en-US" altLang="zh-CN"/>
              <a:t>X1</a:t>
            </a:r>
            <a:r>
              <a:rPr lang="zh-CN" altLang="en-US"/>
              <a:t>，</a:t>
            </a:r>
            <a:r>
              <a:rPr lang="en-US" altLang="zh-CN"/>
              <a:t>X2X3</a:t>
            </a:r>
            <a:r>
              <a:rPr lang="zh-CN" altLang="en-US"/>
              <a:t>和</a:t>
            </a:r>
            <a:r>
              <a:rPr lang="en-US" altLang="zh-CN"/>
              <a:t>X4</a:t>
            </a:r>
            <a:r>
              <a:rPr lang="zh-CN" altLang="en-US"/>
              <a:t>，可以看到</a:t>
            </a:r>
            <a:r>
              <a:rPr lang="en-US" altLang="zh-CN"/>
              <a:t>X1X2X3</a:t>
            </a:r>
            <a:r>
              <a:rPr lang="zh-CN" altLang="en-US"/>
              <a:t>仅仅是左移了一个字，而</a:t>
            </a:r>
            <a:r>
              <a:rPr lang="en-US" altLang="zh-CN"/>
              <a:t>X4</a:t>
            </a:r>
            <a:r>
              <a:rPr lang="zh-CN" altLang="en-US"/>
              <a:t>是由轮函数计算出来的。在第</a:t>
            </a:r>
            <a:r>
              <a:rPr lang="en-US" altLang="zh-CN"/>
              <a:t>32</a:t>
            </a:r>
            <a:r>
              <a:rPr lang="zh-CN" altLang="en-US"/>
              <a:t>轮过后输出</a:t>
            </a:r>
            <a:r>
              <a:rPr lang="en-US" altLang="zh-CN"/>
              <a:t>X32X33X34</a:t>
            </a:r>
            <a:r>
              <a:rPr lang="zh-CN" altLang="en-US"/>
              <a:t>和</a:t>
            </a:r>
            <a:r>
              <a:rPr lang="en-US" altLang="zh-CN"/>
              <a:t>X35</a:t>
            </a:r>
            <a:r>
              <a:rPr lang="zh-CN" altLang="en-US"/>
              <a:t>，再经过一次反序变换得到最后的密文</a:t>
            </a:r>
            <a:r>
              <a:rPr lang="en-US" altLang="zh-CN"/>
              <a:t>Y1Y2Y3Y4</a:t>
            </a:r>
          </a:p>
        </p:txBody>
      </p:sp>
      <p:sp>
        <p:nvSpPr>
          <p:cNvPr id="391171" name="灯片编号占位符 3">
            <a:extLst>
              <a:ext uri="{FF2B5EF4-FFF2-40B4-BE49-F238E27FC236}">
                <a16:creationId xmlns:a16="http://schemas.microsoft.com/office/drawing/2014/main" id="{AAA80239-C5BA-0742-B04F-B859E5FA97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ECA6673-175D-914E-9E49-E699CDD9D96F}" type="slidenum">
              <a:rPr lang="en-US" altLang="zh-CN"/>
              <a:pPr/>
              <a:t>167</a:t>
            </a:fld>
            <a:endParaRPr lang="en-US" altLang="zh-CN"/>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7" name="幻灯片图像占位符 1">
            <a:extLst>
              <a:ext uri="{FF2B5EF4-FFF2-40B4-BE49-F238E27FC236}">
                <a16:creationId xmlns:a16="http://schemas.microsoft.com/office/drawing/2014/main" id="{95F75FF9-4FF4-0447-88D4-F0AC87B59DAC}"/>
              </a:ext>
            </a:extLst>
          </p:cNvPr>
          <p:cNvSpPr>
            <a:spLocks noGrp="1" noRot="1" noChangeAspect="1" noChangeArrowheads="1" noTextEdit="1"/>
          </p:cNvSpPr>
          <p:nvPr>
            <p:ph type="sldImg" idx="4294967295"/>
          </p:nvPr>
        </p:nvSpPr>
        <p:spPr>
          <a:ln/>
        </p:spPr>
      </p:sp>
      <p:sp>
        <p:nvSpPr>
          <p:cNvPr id="393218" name="备注占位符 2">
            <a:extLst>
              <a:ext uri="{FF2B5EF4-FFF2-40B4-BE49-F238E27FC236}">
                <a16:creationId xmlns:a16="http://schemas.microsoft.com/office/drawing/2014/main" id="{AFAFDC79-67E6-4B43-AA02-848E81B43B12}"/>
              </a:ext>
            </a:extLst>
          </p:cNvPr>
          <p:cNvSpPr>
            <a:spLocks noGrp="1" noChangeArrowheads="1"/>
          </p:cNvSpPr>
          <p:nvPr>
            <p:ph type="body" idx="4294967295"/>
          </p:nvPr>
        </p:nvSpPr>
        <p:spPr/>
        <p:txBody>
          <a:bodyPr/>
          <a:lstStyle/>
          <a:p>
            <a:r>
              <a:rPr lang="zh-CN" altLang="en-US"/>
              <a:t>同</a:t>
            </a:r>
            <a:r>
              <a:rPr lang="en-US" altLang="zh-CN"/>
              <a:t>PPT</a:t>
            </a:r>
            <a:endParaRPr lang="zh-CN" altLang="en-US"/>
          </a:p>
        </p:txBody>
      </p:sp>
      <p:sp>
        <p:nvSpPr>
          <p:cNvPr id="393219" name="灯片编号占位符 3">
            <a:extLst>
              <a:ext uri="{FF2B5EF4-FFF2-40B4-BE49-F238E27FC236}">
                <a16:creationId xmlns:a16="http://schemas.microsoft.com/office/drawing/2014/main" id="{D357DEAA-0A72-B94C-B619-799AF20E3A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CDB9486-A13A-B049-A04E-5A9F547C1B2B}" type="slidenum">
              <a:rPr lang="en-US" altLang="zh-CN"/>
              <a:pPr/>
              <a:t>168</a:t>
            </a:fld>
            <a:endParaRPr lang="en-US" altLang="zh-CN"/>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5" name="幻灯片图像占位符 1">
            <a:extLst>
              <a:ext uri="{FF2B5EF4-FFF2-40B4-BE49-F238E27FC236}">
                <a16:creationId xmlns:a16="http://schemas.microsoft.com/office/drawing/2014/main" id="{066B4A1C-6119-C44E-8D21-627F47FED307}"/>
              </a:ext>
            </a:extLst>
          </p:cNvPr>
          <p:cNvSpPr>
            <a:spLocks noGrp="1" noRot="1" noChangeAspect="1" noChangeArrowheads="1" noTextEdit="1"/>
          </p:cNvSpPr>
          <p:nvPr>
            <p:ph type="sldImg" idx="4294967295"/>
          </p:nvPr>
        </p:nvSpPr>
        <p:spPr>
          <a:ln/>
        </p:spPr>
      </p:sp>
      <p:sp>
        <p:nvSpPr>
          <p:cNvPr id="395266" name="备注占位符 2">
            <a:extLst>
              <a:ext uri="{FF2B5EF4-FFF2-40B4-BE49-F238E27FC236}">
                <a16:creationId xmlns:a16="http://schemas.microsoft.com/office/drawing/2014/main" id="{EC953A20-EFBF-D046-AC28-98510D24FCBB}"/>
              </a:ext>
            </a:extLst>
          </p:cNvPr>
          <p:cNvSpPr>
            <a:spLocks noGrp="1" noChangeArrowheads="1"/>
          </p:cNvSpPr>
          <p:nvPr>
            <p:ph type="body" idx="4294967295"/>
          </p:nvPr>
        </p:nvSpPr>
        <p:spPr/>
        <p:txBody>
          <a:bodyPr/>
          <a:lstStyle/>
          <a:p>
            <a:r>
              <a:rPr lang="zh-CN" altLang="en-US"/>
              <a:t>这是</a:t>
            </a:r>
            <a:r>
              <a:rPr lang="en-US" altLang="zh-CN"/>
              <a:t>SM4</a:t>
            </a:r>
            <a:r>
              <a:rPr lang="zh-CN" altLang="en-US"/>
              <a:t>轮函数的示意图，其中虚线部分就是函数</a:t>
            </a:r>
            <a:r>
              <a:rPr lang="en-US" altLang="zh-CN"/>
              <a:t>T</a:t>
            </a:r>
            <a:r>
              <a:rPr lang="zh-CN" altLang="en-US"/>
              <a:t>它由一个非线性函数</a:t>
            </a:r>
            <a:r>
              <a:rPr lang="en-US" altLang="zh-CN"/>
              <a:t>τ</a:t>
            </a:r>
            <a:r>
              <a:rPr lang="zh-CN" altLang="en-US"/>
              <a:t>和线性函数</a:t>
            </a:r>
            <a:r>
              <a:rPr lang="en-US" altLang="zh-CN"/>
              <a:t>L</a:t>
            </a:r>
            <a:r>
              <a:rPr lang="zh-CN" altLang="en-US"/>
              <a:t>复合而成，函数</a:t>
            </a:r>
            <a:r>
              <a:rPr lang="en-US" altLang="zh-CN"/>
              <a:t>τ</a:t>
            </a:r>
            <a:r>
              <a:rPr lang="zh-CN" altLang="en-US"/>
              <a:t>为</a:t>
            </a:r>
            <a:r>
              <a:rPr lang="en-US" altLang="zh-CN"/>
              <a:t>4</a:t>
            </a:r>
            <a:r>
              <a:rPr lang="zh-CN" altLang="en-US"/>
              <a:t>个</a:t>
            </a:r>
            <a:r>
              <a:rPr lang="en-US" altLang="zh-CN"/>
              <a:t>2</a:t>
            </a:r>
            <a:r>
              <a:rPr lang="zh-CN" altLang="en-US"/>
              <a:t>的</a:t>
            </a:r>
            <a:r>
              <a:rPr lang="en-US" altLang="zh-CN"/>
              <a:t>8</a:t>
            </a:r>
            <a:r>
              <a:rPr lang="zh-CN" altLang="en-US"/>
              <a:t>次方域上的</a:t>
            </a:r>
            <a:r>
              <a:rPr lang="en-US" altLang="zh-CN"/>
              <a:t>S</a:t>
            </a:r>
            <a:r>
              <a:rPr lang="zh-CN" altLang="en-US"/>
              <a:t>盒变换，即将</a:t>
            </a:r>
            <a:r>
              <a:rPr lang="en-US" altLang="zh-CN"/>
              <a:t>32</a:t>
            </a:r>
            <a:r>
              <a:rPr lang="zh-CN" altLang="en-US"/>
              <a:t>比特的字拆成</a:t>
            </a:r>
            <a:r>
              <a:rPr lang="en-US" altLang="zh-CN"/>
              <a:t>4</a:t>
            </a:r>
            <a:r>
              <a:rPr lang="zh-CN" altLang="en-US"/>
              <a:t>个</a:t>
            </a:r>
            <a:r>
              <a:rPr lang="en-US" altLang="zh-CN"/>
              <a:t>8</a:t>
            </a:r>
            <a:r>
              <a:rPr lang="zh-CN" altLang="en-US"/>
              <a:t>比特的字节，对每一个字节进行</a:t>
            </a:r>
            <a:r>
              <a:rPr lang="en-US" altLang="zh-CN"/>
              <a:t>S</a:t>
            </a:r>
            <a:r>
              <a:rPr lang="zh-CN" altLang="en-US"/>
              <a:t>盒变换，其</a:t>
            </a:r>
            <a:r>
              <a:rPr lang="en-US" altLang="zh-CN"/>
              <a:t>S</a:t>
            </a:r>
            <a:r>
              <a:rPr lang="zh-CN" altLang="en-US"/>
              <a:t>盒查询与</a:t>
            </a:r>
            <a:r>
              <a:rPr lang="en-US" altLang="zh-CN"/>
              <a:t>AES</a:t>
            </a:r>
            <a:r>
              <a:rPr lang="zh-CN" altLang="en-US"/>
              <a:t>类似，线性函数</a:t>
            </a:r>
            <a:r>
              <a:rPr lang="en-US" altLang="zh-CN"/>
              <a:t>L</a:t>
            </a:r>
            <a:r>
              <a:rPr lang="zh-CN" altLang="en-US"/>
              <a:t>是由</a:t>
            </a:r>
            <a:r>
              <a:rPr lang="en-US" altLang="zh-CN"/>
              <a:t>4</a:t>
            </a:r>
            <a:r>
              <a:rPr lang="zh-CN" altLang="en-US"/>
              <a:t>个移位函数构成的</a:t>
            </a:r>
          </a:p>
        </p:txBody>
      </p:sp>
      <p:sp>
        <p:nvSpPr>
          <p:cNvPr id="395267" name="灯片编号占位符 3">
            <a:extLst>
              <a:ext uri="{FF2B5EF4-FFF2-40B4-BE49-F238E27FC236}">
                <a16:creationId xmlns:a16="http://schemas.microsoft.com/office/drawing/2014/main" id="{6DC0D65B-7CB5-1340-AD47-563EC6733E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58BFC9E-D294-D749-81CA-C4912F782A37}" type="slidenum">
              <a:rPr lang="en-US" altLang="zh-CN"/>
              <a:pPr/>
              <a:t>169</a:t>
            </a:fld>
            <a:endParaRPr lang="en-US" altLang="zh-CN"/>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3" name="幻灯片图像占位符 1">
            <a:extLst>
              <a:ext uri="{FF2B5EF4-FFF2-40B4-BE49-F238E27FC236}">
                <a16:creationId xmlns:a16="http://schemas.microsoft.com/office/drawing/2014/main" id="{01981BE4-C9E9-8445-85E1-579BE210FB20}"/>
              </a:ext>
            </a:extLst>
          </p:cNvPr>
          <p:cNvSpPr>
            <a:spLocks noGrp="1" noRot="1" noChangeAspect="1" noChangeArrowheads="1" noTextEdit="1"/>
          </p:cNvSpPr>
          <p:nvPr>
            <p:ph type="sldImg" idx="4294967295"/>
          </p:nvPr>
        </p:nvSpPr>
        <p:spPr>
          <a:ln/>
        </p:spPr>
      </p:sp>
      <p:sp>
        <p:nvSpPr>
          <p:cNvPr id="397314" name="备注占位符 2">
            <a:extLst>
              <a:ext uri="{FF2B5EF4-FFF2-40B4-BE49-F238E27FC236}">
                <a16:creationId xmlns:a16="http://schemas.microsoft.com/office/drawing/2014/main" id="{D2FE2DAA-9661-9743-911B-2391955D6C94}"/>
              </a:ext>
            </a:extLst>
          </p:cNvPr>
          <p:cNvSpPr>
            <a:spLocks noGrp="1" noChangeArrowheads="1"/>
          </p:cNvSpPr>
          <p:nvPr>
            <p:ph type="body" idx="4294967295"/>
          </p:nvPr>
        </p:nvSpPr>
        <p:spPr/>
        <p:txBody>
          <a:bodyPr/>
          <a:lstStyle/>
          <a:p>
            <a:r>
              <a:rPr lang="en-US" altLang="zh-CN"/>
              <a:t>SM4</a:t>
            </a:r>
            <a:r>
              <a:rPr lang="zh-CN" altLang="en-US"/>
              <a:t>的</a:t>
            </a:r>
            <a:r>
              <a:rPr lang="en-US" altLang="zh-CN"/>
              <a:t>S</a:t>
            </a:r>
            <a:r>
              <a:rPr lang="zh-CN" altLang="en-US"/>
              <a:t>盒形式上和</a:t>
            </a:r>
            <a:r>
              <a:rPr lang="en-US" altLang="zh-CN"/>
              <a:t>AES</a:t>
            </a:r>
            <a:r>
              <a:rPr lang="zh-CN" altLang="en-US"/>
              <a:t>的</a:t>
            </a:r>
            <a:r>
              <a:rPr lang="en-US" altLang="zh-CN"/>
              <a:t>S</a:t>
            </a:r>
            <a:r>
              <a:rPr lang="zh-CN" altLang="en-US"/>
              <a:t>盒是一致的，使用时也是将输入的高四位作为行号，低四位作为列号，查询该行该列在</a:t>
            </a:r>
            <a:r>
              <a:rPr lang="en-US" altLang="zh-CN"/>
              <a:t>S</a:t>
            </a:r>
            <a:r>
              <a:rPr lang="zh-CN" altLang="en-US"/>
              <a:t>盒中的值即为输出。</a:t>
            </a:r>
          </a:p>
        </p:txBody>
      </p:sp>
      <p:sp>
        <p:nvSpPr>
          <p:cNvPr id="397315" name="灯片编号占位符 3">
            <a:extLst>
              <a:ext uri="{FF2B5EF4-FFF2-40B4-BE49-F238E27FC236}">
                <a16:creationId xmlns:a16="http://schemas.microsoft.com/office/drawing/2014/main" id="{1979821A-4B68-6142-B6FC-F55DEE41E7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3BA3F51-EB56-814B-B242-12F29F8364BC}" type="slidenum">
              <a:rPr lang="en-US" altLang="zh-CN"/>
              <a:pPr/>
              <a:t>170</a:t>
            </a:fld>
            <a:endParaRPr lang="en-US" altLang="zh-CN"/>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1" name="幻灯片图像占位符 1">
            <a:extLst>
              <a:ext uri="{FF2B5EF4-FFF2-40B4-BE49-F238E27FC236}">
                <a16:creationId xmlns:a16="http://schemas.microsoft.com/office/drawing/2014/main" id="{4C557E5D-60E6-EF45-A7A2-09432EC6978D}"/>
              </a:ext>
            </a:extLst>
          </p:cNvPr>
          <p:cNvSpPr>
            <a:spLocks noGrp="1" noRot="1" noChangeAspect="1" noChangeArrowheads="1" noTextEdit="1"/>
          </p:cNvSpPr>
          <p:nvPr>
            <p:ph type="sldImg" idx="4294967295"/>
          </p:nvPr>
        </p:nvSpPr>
        <p:spPr>
          <a:ln/>
        </p:spPr>
      </p:sp>
      <p:sp>
        <p:nvSpPr>
          <p:cNvPr id="399362" name="备注占位符 2">
            <a:extLst>
              <a:ext uri="{FF2B5EF4-FFF2-40B4-BE49-F238E27FC236}">
                <a16:creationId xmlns:a16="http://schemas.microsoft.com/office/drawing/2014/main" id="{E1EDC664-2326-3D4B-A4F8-052FCAA6EBA8}"/>
              </a:ext>
            </a:extLst>
          </p:cNvPr>
          <p:cNvSpPr>
            <a:spLocks noGrp="1" noChangeArrowheads="1"/>
          </p:cNvSpPr>
          <p:nvPr>
            <p:ph type="body" idx="4294967295"/>
          </p:nvPr>
        </p:nvSpPr>
        <p:spPr/>
        <p:txBody>
          <a:bodyPr/>
          <a:lstStyle/>
          <a:p>
            <a:r>
              <a:rPr lang="zh-CN" altLang="en-US"/>
              <a:t>非线性变换</a:t>
            </a:r>
            <a:r>
              <a:rPr lang="en-US" altLang="zh-CN"/>
              <a:t>τ</a:t>
            </a:r>
            <a:r>
              <a:rPr lang="zh-CN" altLang="en-US"/>
              <a:t>中所使用的</a:t>
            </a:r>
            <a:r>
              <a:rPr lang="en-US" altLang="zh-CN"/>
              <a:t>S</a:t>
            </a:r>
            <a:r>
              <a:rPr lang="zh-CN" altLang="en-US"/>
              <a:t>盒是一个具有很好密码学特性的、由</a:t>
            </a:r>
            <a:r>
              <a:rPr lang="en-US" altLang="zh-CN"/>
              <a:t>8</a:t>
            </a:r>
            <a:r>
              <a:rPr lang="zh-CN" altLang="en-US"/>
              <a:t>比特输入产生</a:t>
            </a:r>
            <a:r>
              <a:rPr lang="en-US" altLang="zh-CN"/>
              <a:t>8</a:t>
            </a:r>
            <a:r>
              <a:rPr lang="zh-CN" altLang="en-US"/>
              <a:t>比特输出的置换。在设计原理上，</a:t>
            </a:r>
            <a:r>
              <a:rPr lang="en-US" altLang="zh-CN"/>
              <a:t>SMS4</a:t>
            </a:r>
            <a:r>
              <a:rPr lang="zh-CN" altLang="en-US"/>
              <a:t>比</a:t>
            </a:r>
            <a:r>
              <a:rPr lang="en-US" altLang="zh-CN"/>
              <a:t>AES</a:t>
            </a:r>
            <a:r>
              <a:rPr lang="zh-CN" altLang="en-US"/>
              <a:t>的</a:t>
            </a:r>
            <a:r>
              <a:rPr lang="en-US" altLang="zh-CN"/>
              <a:t>S</a:t>
            </a:r>
            <a:r>
              <a:rPr lang="zh-CN" altLang="en-US"/>
              <a:t>盒设计多了一个仿射变换。即</a:t>
            </a:r>
            <a:r>
              <a:rPr lang="en-US" altLang="zh-CN"/>
              <a:t>8</a:t>
            </a:r>
            <a:r>
              <a:rPr lang="zh-CN" altLang="en-US"/>
              <a:t>维向量</a:t>
            </a:r>
            <a:r>
              <a:rPr lang="en-US" altLang="zh-CN"/>
              <a:t>y</a:t>
            </a:r>
            <a:r>
              <a:rPr lang="zh-CN" altLang="en-US"/>
              <a:t>等于可逆矩阵</a:t>
            </a:r>
            <a:r>
              <a:rPr lang="en-US" altLang="zh-CN"/>
              <a:t>A</a:t>
            </a:r>
            <a:r>
              <a:rPr lang="zh-CN" altLang="en-US"/>
              <a:t>乘上（</a:t>
            </a:r>
            <a:r>
              <a:rPr lang="en-US" altLang="zh-CN"/>
              <a:t>Ax+B</a:t>
            </a:r>
            <a:r>
              <a:rPr lang="zh-CN" altLang="en-US"/>
              <a:t>）的逆然后再加</a:t>
            </a:r>
            <a:r>
              <a:rPr lang="en-US" altLang="zh-CN"/>
              <a:t>B</a:t>
            </a:r>
            <a:r>
              <a:rPr lang="zh-CN" altLang="en-US"/>
              <a:t>，</a:t>
            </a:r>
            <a:r>
              <a:rPr lang="en-US" altLang="zh-CN"/>
              <a:t>B</a:t>
            </a:r>
            <a:r>
              <a:rPr lang="zh-CN" altLang="en-US"/>
              <a:t>是一个</a:t>
            </a:r>
            <a:r>
              <a:rPr lang="en-US" altLang="zh-CN"/>
              <a:t>8</a:t>
            </a:r>
            <a:r>
              <a:rPr lang="zh-CN" altLang="en-US"/>
              <a:t>维常数向量，和</a:t>
            </a:r>
            <a:r>
              <a:rPr lang="en-US" altLang="zh-CN"/>
              <a:t>AES</a:t>
            </a:r>
            <a:r>
              <a:rPr lang="zh-CN" altLang="en-US"/>
              <a:t>中的一样，</a:t>
            </a:r>
            <a:r>
              <a:rPr lang="en-US" altLang="zh-CN"/>
              <a:t>A</a:t>
            </a:r>
            <a:r>
              <a:rPr lang="zh-CN" altLang="en-US"/>
              <a:t>也是一个循环矩阵。</a:t>
            </a:r>
            <a:r>
              <a:rPr lang="en-US" altLang="zh-CN"/>
              <a:t>SM4</a:t>
            </a:r>
            <a:r>
              <a:rPr lang="zh-CN" altLang="en-US"/>
              <a:t>公布之初并没有公布</a:t>
            </a:r>
            <a:r>
              <a:rPr lang="en-US" altLang="zh-CN"/>
              <a:t>S</a:t>
            </a:r>
            <a:r>
              <a:rPr lang="zh-CN" altLang="en-US"/>
              <a:t>盒的设计方法，但是由研究人员找到了其生成的方法。</a:t>
            </a:r>
            <a:r>
              <a:rPr lang="en-US" altLang="zh-CN"/>
              <a:t>SMS4</a:t>
            </a:r>
            <a:r>
              <a:rPr lang="zh-CN" altLang="en-US"/>
              <a:t>有很高的灵活性，所采用的</a:t>
            </a:r>
            <a:r>
              <a:rPr lang="en-US" altLang="zh-CN"/>
              <a:t>S</a:t>
            </a:r>
            <a:r>
              <a:rPr lang="zh-CN" altLang="en-US"/>
              <a:t>盒可以灵活地被替换，以应对突发性的安全威胁。算法的</a:t>
            </a:r>
            <a:r>
              <a:rPr lang="en-US" altLang="zh-CN"/>
              <a:t>32</a:t>
            </a:r>
            <a:r>
              <a:rPr lang="zh-CN" altLang="en-US"/>
              <a:t>轮迭代采用串行处理，这与</a:t>
            </a:r>
            <a:r>
              <a:rPr lang="en-US" altLang="zh-CN"/>
              <a:t>AES</a:t>
            </a:r>
            <a:r>
              <a:rPr lang="zh-CN" altLang="en-US"/>
              <a:t>中每轮使用代换和混淆并行地处理整个分组有很大不同。</a:t>
            </a:r>
          </a:p>
          <a:p>
            <a:endParaRPr lang="en-US" altLang="zh-CN"/>
          </a:p>
          <a:p>
            <a:endParaRPr lang="zh-CN" altLang="en-US"/>
          </a:p>
        </p:txBody>
      </p:sp>
      <p:sp>
        <p:nvSpPr>
          <p:cNvPr id="399363" name="灯片编号占位符 3">
            <a:extLst>
              <a:ext uri="{FF2B5EF4-FFF2-40B4-BE49-F238E27FC236}">
                <a16:creationId xmlns:a16="http://schemas.microsoft.com/office/drawing/2014/main" id="{4B3B9278-4756-BC42-B69C-A61D8610AF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341AA2D-7D2B-F84B-A4DE-C4A3C93A26FD}" type="slidenum">
              <a:rPr lang="en-US" altLang="zh-CN"/>
              <a:pPr/>
              <a:t>171</a:t>
            </a:fld>
            <a:endParaRPr lang="en-US" altLang="zh-CN"/>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09" name="幻灯片图像占位符 1">
            <a:extLst>
              <a:ext uri="{FF2B5EF4-FFF2-40B4-BE49-F238E27FC236}">
                <a16:creationId xmlns:a16="http://schemas.microsoft.com/office/drawing/2014/main" id="{7DC95A3F-FDB3-CF4C-A60A-D99A8CD728C6}"/>
              </a:ext>
            </a:extLst>
          </p:cNvPr>
          <p:cNvSpPr>
            <a:spLocks noGrp="1" noRot="1" noChangeAspect="1" noChangeArrowheads="1" noTextEdit="1"/>
          </p:cNvSpPr>
          <p:nvPr>
            <p:ph type="sldImg" idx="4294967295"/>
          </p:nvPr>
        </p:nvSpPr>
        <p:spPr>
          <a:ln/>
        </p:spPr>
      </p:sp>
      <p:sp>
        <p:nvSpPr>
          <p:cNvPr id="401410" name="备注占位符 2">
            <a:extLst>
              <a:ext uri="{FF2B5EF4-FFF2-40B4-BE49-F238E27FC236}">
                <a16:creationId xmlns:a16="http://schemas.microsoft.com/office/drawing/2014/main" id="{33592B09-A557-0744-AC6F-C7CDB84D0A39}"/>
              </a:ext>
            </a:extLst>
          </p:cNvPr>
          <p:cNvSpPr>
            <a:spLocks noGrp="1" noChangeArrowheads="1"/>
          </p:cNvSpPr>
          <p:nvPr>
            <p:ph type="body" idx="4294967295"/>
          </p:nvPr>
        </p:nvSpPr>
        <p:spPr/>
        <p:txBody>
          <a:bodyPr/>
          <a:lstStyle/>
          <a:p>
            <a:r>
              <a:rPr lang="zh-CN" altLang="en-US"/>
              <a:t>见</a:t>
            </a:r>
            <a:r>
              <a:rPr lang="en-US" altLang="zh-CN"/>
              <a:t>PPT</a:t>
            </a:r>
            <a:endParaRPr lang="zh-CN" altLang="en-US"/>
          </a:p>
        </p:txBody>
      </p:sp>
      <p:sp>
        <p:nvSpPr>
          <p:cNvPr id="401411" name="灯片编号占位符 3">
            <a:extLst>
              <a:ext uri="{FF2B5EF4-FFF2-40B4-BE49-F238E27FC236}">
                <a16:creationId xmlns:a16="http://schemas.microsoft.com/office/drawing/2014/main" id="{8B033349-5659-2A4B-982E-E313602AF2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04CF777-6ABF-E84F-8042-61C9D9254DBC}" type="slidenum">
              <a:rPr lang="en-US" altLang="zh-CN"/>
              <a:pPr/>
              <a:t>172</a:t>
            </a:fld>
            <a:endParaRPr lang="en-US" altLang="zh-CN"/>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7" name="幻灯片图像占位符 1">
            <a:extLst>
              <a:ext uri="{FF2B5EF4-FFF2-40B4-BE49-F238E27FC236}">
                <a16:creationId xmlns:a16="http://schemas.microsoft.com/office/drawing/2014/main" id="{2B12C25B-37C6-F545-B339-D115085B605B}"/>
              </a:ext>
            </a:extLst>
          </p:cNvPr>
          <p:cNvSpPr>
            <a:spLocks noGrp="1" noRot="1" noChangeAspect="1" noChangeArrowheads="1" noTextEdit="1"/>
          </p:cNvSpPr>
          <p:nvPr>
            <p:ph type="sldImg" idx="4294967295"/>
          </p:nvPr>
        </p:nvSpPr>
        <p:spPr>
          <a:ln/>
        </p:spPr>
      </p:sp>
      <p:sp>
        <p:nvSpPr>
          <p:cNvPr id="403458" name="备注占位符 2">
            <a:extLst>
              <a:ext uri="{FF2B5EF4-FFF2-40B4-BE49-F238E27FC236}">
                <a16:creationId xmlns:a16="http://schemas.microsoft.com/office/drawing/2014/main" id="{69A8D61F-3F9F-6541-874C-1DA465342EB0}"/>
              </a:ext>
            </a:extLst>
          </p:cNvPr>
          <p:cNvSpPr>
            <a:spLocks noGrp="1" noChangeArrowheads="1"/>
          </p:cNvSpPr>
          <p:nvPr>
            <p:ph type="body" idx="4294967295"/>
          </p:nvPr>
        </p:nvSpPr>
        <p:spPr/>
        <p:txBody>
          <a:bodyPr/>
          <a:lstStyle/>
          <a:p>
            <a:r>
              <a:rPr lang="zh-CN" altLang="en-US"/>
              <a:t>我们来证明一下解密的合理性。</a:t>
            </a:r>
          </a:p>
        </p:txBody>
      </p:sp>
      <p:sp>
        <p:nvSpPr>
          <p:cNvPr id="403459" name="灯片编号占位符 3">
            <a:extLst>
              <a:ext uri="{FF2B5EF4-FFF2-40B4-BE49-F238E27FC236}">
                <a16:creationId xmlns:a16="http://schemas.microsoft.com/office/drawing/2014/main" id="{EBDCF6FF-3C5B-4D4D-8DE7-9C173840F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EAFC3A6-C6E3-BE4D-BC2B-F70677448F8E}" type="slidenum">
              <a:rPr lang="en-US" altLang="zh-CN"/>
              <a:pPr/>
              <a:t>173</a:t>
            </a:fld>
            <a:endParaRPr lang="en-US" altLang="zh-CN"/>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5" name="幻灯片图像占位符 1">
            <a:extLst>
              <a:ext uri="{FF2B5EF4-FFF2-40B4-BE49-F238E27FC236}">
                <a16:creationId xmlns:a16="http://schemas.microsoft.com/office/drawing/2014/main" id="{7E23C85A-976B-C648-9DA3-01172D48988C}"/>
              </a:ext>
            </a:extLst>
          </p:cNvPr>
          <p:cNvSpPr>
            <a:spLocks noGrp="1" noRot="1" noChangeAspect="1" noChangeArrowheads="1" noTextEdit="1"/>
          </p:cNvSpPr>
          <p:nvPr>
            <p:ph type="sldImg" idx="4294967295"/>
          </p:nvPr>
        </p:nvSpPr>
        <p:spPr>
          <a:ln/>
        </p:spPr>
      </p:sp>
      <p:sp>
        <p:nvSpPr>
          <p:cNvPr id="405506" name="备注占位符 2">
            <a:extLst>
              <a:ext uri="{FF2B5EF4-FFF2-40B4-BE49-F238E27FC236}">
                <a16:creationId xmlns:a16="http://schemas.microsoft.com/office/drawing/2014/main" id="{462587A3-4CDB-CE46-BE1B-C19F67D1E6D6}"/>
              </a:ext>
            </a:extLst>
          </p:cNvPr>
          <p:cNvSpPr>
            <a:spLocks noGrp="1" noChangeArrowheads="1"/>
          </p:cNvSpPr>
          <p:nvPr>
            <p:ph type="body" idx="4294967295"/>
          </p:nvPr>
        </p:nvSpPr>
        <p:spPr/>
        <p:txBody>
          <a:bodyPr/>
          <a:lstStyle/>
          <a:p>
            <a:r>
              <a:rPr lang="zh-CN" altLang="en-US"/>
              <a:t>同</a:t>
            </a:r>
            <a:r>
              <a:rPr lang="en-US" altLang="zh-CN"/>
              <a:t>PPT</a:t>
            </a:r>
            <a:endParaRPr lang="zh-CN" altLang="en-US"/>
          </a:p>
        </p:txBody>
      </p:sp>
      <p:sp>
        <p:nvSpPr>
          <p:cNvPr id="405507" name="灯片编号占位符 3">
            <a:extLst>
              <a:ext uri="{FF2B5EF4-FFF2-40B4-BE49-F238E27FC236}">
                <a16:creationId xmlns:a16="http://schemas.microsoft.com/office/drawing/2014/main" id="{AAC4CB6F-4D8A-6B40-BFA4-1964EBF808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21B1E65-C159-6742-9E83-6EAE9C05A63E}" type="slidenum">
              <a:rPr lang="en-US" altLang="zh-CN"/>
              <a:pPr/>
              <a:t>174</a:t>
            </a:fld>
            <a:endParaRPr lang="en-US" altLang="zh-CN"/>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5" name="幻灯片图像占位符 1">
            <a:extLst>
              <a:ext uri="{FF2B5EF4-FFF2-40B4-BE49-F238E27FC236}">
                <a16:creationId xmlns:a16="http://schemas.microsoft.com/office/drawing/2014/main" id="{7E23C85A-976B-C648-9DA3-01172D48988C}"/>
              </a:ext>
            </a:extLst>
          </p:cNvPr>
          <p:cNvSpPr>
            <a:spLocks noGrp="1" noRot="1" noChangeAspect="1" noChangeArrowheads="1" noTextEdit="1"/>
          </p:cNvSpPr>
          <p:nvPr>
            <p:ph type="sldImg" idx="4294967295"/>
          </p:nvPr>
        </p:nvSpPr>
        <p:spPr>
          <a:ln/>
        </p:spPr>
      </p:sp>
      <p:sp>
        <p:nvSpPr>
          <p:cNvPr id="405506" name="备注占位符 2">
            <a:extLst>
              <a:ext uri="{FF2B5EF4-FFF2-40B4-BE49-F238E27FC236}">
                <a16:creationId xmlns:a16="http://schemas.microsoft.com/office/drawing/2014/main" id="{462587A3-4CDB-CE46-BE1B-C19F67D1E6D6}"/>
              </a:ext>
            </a:extLst>
          </p:cNvPr>
          <p:cNvSpPr>
            <a:spLocks noGrp="1" noChangeArrowheads="1"/>
          </p:cNvSpPr>
          <p:nvPr>
            <p:ph type="body" idx="4294967295"/>
          </p:nvPr>
        </p:nvSpPr>
        <p:spPr/>
        <p:txBody>
          <a:bodyPr/>
          <a:lstStyle/>
          <a:p>
            <a:r>
              <a:rPr lang="zh-CN" altLang="en-US" dirty="0"/>
              <a:t>这儿</a:t>
            </a:r>
            <a:r>
              <a:rPr lang="en-US" altLang="zh-CN" dirty="0"/>
              <a:t>c</a:t>
            </a:r>
            <a:r>
              <a:rPr lang="zh-CN" altLang="en-US" dirty="0"/>
              <a:t>就是前面公式里面的</a:t>
            </a:r>
            <a:r>
              <a:rPr lang="en-US" altLang="zh-CN"/>
              <a:t>B</a:t>
            </a:r>
            <a:endParaRPr lang="zh-CN" altLang="en-US" dirty="0"/>
          </a:p>
        </p:txBody>
      </p:sp>
      <p:sp>
        <p:nvSpPr>
          <p:cNvPr id="405507" name="灯片编号占位符 3">
            <a:extLst>
              <a:ext uri="{FF2B5EF4-FFF2-40B4-BE49-F238E27FC236}">
                <a16:creationId xmlns:a16="http://schemas.microsoft.com/office/drawing/2014/main" id="{AAC4CB6F-4D8A-6B40-BFA4-1964EBF808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21B1E65-C159-6742-9E83-6EAE9C05A63E}" type="slidenum">
              <a:rPr lang="en-US" altLang="zh-CN"/>
              <a:pPr/>
              <a:t>177</a:t>
            </a:fld>
            <a:endParaRPr lang="en-US" altLang="zh-CN"/>
          </a:p>
        </p:txBody>
      </p:sp>
    </p:spTree>
    <p:extLst>
      <p:ext uri="{BB962C8B-B14F-4D97-AF65-F5344CB8AC3E}">
        <p14:creationId xmlns:p14="http://schemas.microsoft.com/office/powerpoint/2010/main" val="38933746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平行四边形 7">
            <a:extLst>
              <a:ext uri="{FF2B5EF4-FFF2-40B4-BE49-F238E27FC236}">
                <a16:creationId xmlns:a16="http://schemas.microsoft.com/office/drawing/2014/main" id="{FDA90D41-8EEA-844F-AB22-944E53D4A79E}"/>
              </a:ext>
            </a:extLst>
          </p:cNvPr>
          <p:cNvSpPr>
            <a:spLocks noChangeArrowheads="1"/>
          </p:cNvSpPr>
          <p:nvPr/>
        </p:nvSpPr>
        <p:spPr bwMode="auto">
          <a:xfrm>
            <a:off x="588963" y="407988"/>
            <a:ext cx="10460037" cy="608012"/>
          </a:xfrm>
          <a:prstGeom prst="parallelogram">
            <a:avLst>
              <a:gd name="adj" fmla="val 0"/>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BA1B512A-5F9F-3641-BFA2-EADB17080B92}"/>
              </a:ext>
            </a:extLst>
          </p:cNvPr>
          <p:cNvCxnSpPr/>
          <p:nvPr/>
        </p:nvCxnSpPr>
        <p:spPr>
          <a:xfrm>
            <a:off x="588963" y="5988050"/>
            <a:ext cx="10460037" cy="19050"/>
          </a:xfrm>
          <a:prstGeom prst="line">
            <a:avLst/>
          </a:prstGeom>
          <a:ln w="38100">
            <a:solidFill>
              <a:schemeClr val="accent1">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 name="Title 1"/>
          <p:cNvSpPr>
            <a:spLocks noGrp="1"/>
          </p:cNvSpPr>
          <p:nvPr>
            <p:ph type="ctrTitle"/>
          </p:nvPr>
        </p:nvSpPr>
        <p:spPr>
          <a:xfrm>
            <a:off x="637383" y="1390656"/>
            <a:ext cx="10363200" cy="1780381"/>
          </a:xfrm>
        </p:spPr>
        <p:txBody>
          <a:bodyPr>
            <a:normAutofit/>
          </a:bodyPr>
          <a:lstStyle>
            <a:lvl1pPr algn="ctr">
              <a:defRPr sz="4800" b="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637383" y="3190876"/>
            <a:ext cx="9810484" cy="790574"/>
          </a:xfrm>
        </p:spPr>
        <p:txBody>
          <a:bodyPr anchor="ctr">
            <a:normAutofit/>
          </a:bodyPr>
          <a:lstStyle>
            <a:lvl1pPr marL="0" indent="0" algn="ctr">
              <a:buNone/>
              <a:defRPr sz="2800" b="0">
                <a:latin typeface="仿宋" panose="02010609060101010101" pitchFamily="49" charset="-122"/>
                <a:ea typeface="仿宋"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en-US" noProof="1"/>
          </a:p>
        </p:txBody>
      </p:sp>
      <p:sp>
        <p:nvSpPr>
          <p:cNvPr id="6" name="Date Placeholder 3">
            <a:extLst>
              <a:ext uri="{FF2B5EF4-FFF2-40B4-BE49-F238E27FC236}">
                <a16:creationId xmlns:a16="http://schemas.microsoft.com/office/drawing/2014/main" id="{700E0506-AE18-1946-99DA-162D3B42F1C9}"/>
              </a:ext>
            </a:extLst>
          </p:cNvPr>
          <p:cNvSpPr>
            <a:spLocks noGrp="1"/>
          </p:cNvSpPr>
          <p:nvPr>
            <p:ph type="dt" sz="half" idx="10"/>
          </p:nvPr>
        </p:nvSpPr>
        <p:spPr>
          <a:xfrm>
            <a:off x="584200" y="6356350"/>
            <a:ext cx="2743200" cy="365125"/>
          </a:xfrm>
        </p:spPr>
        <p:txBody>
          <a:bodyPr/>
          <a:lstStyle>
            <a:lvl1pPr>
              <a:defRPr b="0">
                <a:latin typeface="Times New Roman" panose="02020603050405020304" pitchFamily="18" charset="0"/>
                <a:cs typeface="Times New Roman" panose="02020603050405020304" pitchFamily="18" charset="0"/>
              </a:defRPr>
            </a:lvl1pPr>
          </a:lstStyle>
          <a:p>
            <a:pPr>
              <a:defRPr/>
            </a:pPr>
            <a:fld id="{8632BBA6-7EFC-9A40-95F5-DE24218BFB08}" type="datetime1">
              <a:rPr lang="zh-CN" altLang="en-US"/>
              <a:pPr>
                <a:defRPr/>
              </a:pPr>
              <a:t>2024/3/15</a:t>
            </a:fld>
            <a:endParaRPr lang="zh-CN" altLang="en-US" dirty="0"/>
          </a:p>
        </p:txBody>
      </p:sp>
      <p:sp>
        <p:nvSpPr>
          <p:cNvPr id="7" name="Footer Placeholder 4">
            <a:extLst>
              <a:ext uri="{FF2B5EF4-FFF2-40B4-BE49-F238E27FC236}">
                <a16:creationId xmlns:a16="http://schemas.microsoft.com/office/drawing/2014/main" id="{BE241CFD-9FEB-F744-AE17-D05F26E1ECB1}"/>
              </a:ext>
            </a:extLst>
          </p:cNvPr>
          <p:cNvSpPr>
            <a:spLocks noGrp="1"/>
          </p:cNvSpPr>
          <p:nvPr>
            <p:ph type="ftr" sz="quarter" idx="11"/>
          </p:nvPr>
        </p:nvSpPr>
        <p:spPr>
          <a:xfrm>
            <a:off x="3784600" y="6356350"/>
            <a:ext cx="4241800" cy="365125"/>
          </a:xfrm>
        </p:spPr>
        <p:txBody>
          <a:bodyPr/>
          <a:lstStyle>
            <a:lvl1pPr>
              <a:defRPr>
                <a:latin typeface="Times New Roman" panose="02020603050405020304" pitchFamily="18" charset="0"/>
              </a:defRPr>
            </a:lvl1pPr>
          </a:lstStyle>
          <a:p>
            <a:r>
              <a:rPr lang="zh-CN" altLang="en-US"/>
              <a:t>电子科技大学 信息与软件工程学院</a:t>
            </a:r>
            <a:r>
              <a:rPr lang="en-US" altLang="zh-CN"/>
              <a:t>——</a:t>
            </a:r>
            <a:r>
              <a:rPr lang="zh-CN" altLang="en-US"/>
              <a:t>现代密码学  </a:t>
            </a:r>
            <a:endParaRPr lang="en-US" altLang="en-US"/>
          </a:p>
        </p:txBody>
      </p:sp>
      <p:sp>
        <p:nvSpPr>
          <p:cNvPr id="8" name="Slide Number Placeholder 5">
            <a:extLst>
              <a:ext uri="{FF2B5EF4-FFF2-40B4-BE49-F238E27FC236}">
                <a16:creationId xmlns:a16="http://schemas.microsoft.com/office/drawing/2014/main" id="{9EF1EE0E-9FCA-2C44-8AFF-3E01F5E95DA4}"/>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7D578A72-CAD2-4B4D-ADA5-1B963FFC8C9E}" type="slidenum">
              <a:rPr lang="zh-CN" altLang="en-US"/>
              <a:pPr/>
              <a:t>‹#›</a:t>
            </a:fld>
            <a:r>
              <a:rPr lang="zh-CN" altLang="en-US"/>
              <a:t>页</a:t>
            </a:r>
          </a:p>
        </p:txBody>
      </p:sp>
    </p:spTree>
    <p:extLst>
      <p:ext uri="{BB962C8B-B14F-4D97-AF65-F5344CB8AC3E}">
        <p14:creationId xmlns:p14="http://schemas.microsoft.com/office/powerpoint/2010/main" val="1831522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58459105-687F-624F-A415-DBC4D175096D}"/>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b="1">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42CFEBC6-5522-9C41-A277-1607760C79D2}"/>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6F6763B4-CC59-A84A-920D-B31DD993680D}"/>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BE6D05BB-DD5A-A549-9479-0AD485D8353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b="1">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b="1">
                <a:solidFill>
                  <a:schemeClr val="tx1"/>
                </a:solidFill>
                <a:latin typeface="仿宋" panose="02010609060101010101" pitchFamily="49" charset="-122"/>
                <a:ea typeface="仿宋" panose="02010609060101010101" pitchFamily="49" charset="-122"/>
              </a:defRPr>
            </a:lvl1pPr>
            <a:lvl2pPr>
              <a:defRPr sz="2000" b="1">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7780E865-0F19-4A40-92D1-534C7382E749}"/>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b="1">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9BAE87AD-886A-F943-A90A-F73C27CB72E0}" type="datetime1">
              <a:rPr lang="zh-CN" altLang="en-US"/>
              <a:pPr>
                <a:defRPr/>
              </a:pPr>
              <a:t>2024/3/15</a:t>
            </a:fld>
            <a:endParaRPr lang="zh-CN" altLang="en-US" dirty="0"/>
          </a:p>
        </p:txBody>
      </p:sp>
      <p:sp>
        <p:nvSpPr>
          <p:cNvPr id="9" name="Footer Placeholder 4">
            <a:extLst>
              <a:ext uri="{FF2B5EF4-FFF2-40B4-BE49-F238E27FC236}">
                <a16:creationId xmlns:a16="http://schemas.microsoft.com/office/drawing/2014/main" id="{8E2F76F4-412C-694B-8CA2-222BCCF8E735}"/>
              </a:ext>
            </a:extLst>
          </p:cNvPr>
          <p:cNvSpPr>
            <a:spLocks noGrp="1"/>
          </p:cNvSpPr>
          <p:nvPr>
            <p:ph type="ftr" sz="quarter" idx="11"/>
          </p:nvPr>
        </p:nvSpPr>
        <p:spPr>
          <a:xfrm>
            <a:off x="3884613" y="6356350"/>
            <a:ext cx="4394200" cy="365125"/>
          </a:xfrm>
        </p:spPr>
        <p:txBody>
          <a:bodyPr/>
          <a:lstStyle>
            <a:lvl1pPr>
              <a:defRPr>
                <a:latin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
        <p:nvSpPr>
          <p:cNvPr id="10" name="Slide Number Placeholder 5">
            <a:extLst>
              <a:ext uri="{FF2B5EF4-FFF2-40B4-BE49-F238E27FC236}">
                <a16:creationId xmlns:a16="http://schemas.microsoft.com/office/drawing/2014/main" id="{2402F9C7-01B4-2E44-98D3-968C04E25BA5}"/>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D2B9F255-38AB-4440-9AB1-C4DEBDDB9437}" type="slidenum">
              <a:rPr lang="zh-CN" altLang="en-US"/>
              <a:pPr/>
              <a:t>‹#›</a:t>
            </a:fld>
            <a:r>
              <a:rPr lang="zh-CN" altLang="en-US"/>
              <a:t>页</a:t>
            </a:r>
          </a:p>
        </p:txBody>
      </p:sp>
    </p:spTree>
    <p:extLst>
      <p:ext uri="{BB962C8B-B14F-4D97-AF65-F5344CB8AC3E}">
        <p14:creationId xmlns:p14="http://schemas.microsoft.com/office/powerpoint/2010/main" val="445815797"/>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1834E0B1-3416-DD43-9691-AA5E603DD7D6}"/>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8261605A-8CB6-A74C-8695-AA8B029E76E6}"/>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82252EDF-6A5C-764C-8591-525842ADBBFA}"/>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823913" y="1466056"/>
            <a:ext cx="10515600" cy="4579144"/>
          </a:xfrm>
        </p:spPr>
        <p:txBody>
          <a:bodyPr/>
          <a:lstStyle>
            <a:lvl1pPr>
              <a:defRPr sz="2400">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lvl3pPr>
            <a:lvl4pPr>
              <a:defRPr sz="1600"/>
            </a:lvl4pPr>
            <a:lvl5pPr>
              <a:defRPr sz="16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Date Placeholder 3">
            <a:extLst>
              <a:ext uri="{FF2B5EF4-FFF2-40B4-BE49-F238E27FC236}">
                <a16:creationId xmlns:a16="http://schemas.microsoft.com/office/drawing/2014/main" id="{59006587-A194-6E47-A36F-9231CEDA8295}"/>
              </a:ext>
            </a:extLst>
          </p:cNvPr>
          <p:cNvSpPr>
            <a:spLocks noGrp="1"/>
          </p:cNvSpPr>
          <p:nvPr>
            <p:ph type="dt" sz="half" idx="10"/>
          </p:nvPr>
        </p:nvSpPr>
        <p:spPr>
          <a:xfrm>
            <a:off x="7366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pPr>
              <a:defRPr/>
            </a:pPr>
            <a:fld id="{2CF6280B-CAF4-8044-AB36-39194F5213E1}" type="datetime1">
              <a:rPr lang="zh-CN" altLang="en-US"/>
              <a:pPr>
                <a:defRPr/>
              </a:pPr>
              <a:t>2024/3/15</a:t>
            </a:fld>
            <a:endParaRPr lang="zh-CN" altLang="en-US" dirty="0"/>
          </a:p>
        </p:txBody>
      </p:sp>
      <p:sp>
        <p:nvSpPr>
          <p:cNvPr id="8" name="Slide Number Placeholder 5">
            <a:extLst>
              <a:ext uri="{FF2B5EF4-FFF2-40B4-BE49-F238E27FC236}">
                <a16:creationId xmlns:a16="http://schemas.microsoft.com/office/drawing/2014/main" id="{5AB8EA80-22BD-834C-BBBC-6B88CF4A4813}"/>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1B4B360B-ACB4-9445-A585-F7D5BCD10387}" type="slidenum">
              <a:rPr lang="zh-CN" altLang="en-US"/>
              <a:pPr/>
              <a:t>‹#›</a:t>
            </a:fld>
            <a:r>
              <a:rPr lang="zh-CN" altLang="en-US"/>
              <a:t>页</a:t>
            </a:r>
          </a:p>
        </p:txBody>
      </p:sp>
      <p:sp>
        <p:nvSpPr>
          <p:cNvPr id="9" name="Footer Placeholder 4">
            <a:extLst>
              <a:ext uri="{FF2B5EF4-FFF2-40B4-BE49-F238E27FC236}">
                <a16:creationId xmlns:a16="http://schemas.microsoft.com/office/drawing/2014/main" id="{760F8210-0268-4B49-9031-3AFE795037EC}"/>
              </a:ext>
            </a:extLst>
          </p:cNvPr>
          <p:cNvSpPr>
            <a:spLocks noGrp="1"/>
          </p:cNvSpPr>
          <p:nvPr>
            <p:ph type="ftr" sz="quarter" idx="12"/>
          </p:nvPr>
        </p:nvSpPr>
        <p:spPr>
          <a:xfrm>
            <a:off x="3884613" y="6356350"/>
            <a:ext cx="4394200" cy="365125"/>
          </a:xfrm>
        </p:spPr>
        <p:txBody>
          <a:bodyPr/>
          <a:lstStyle>
            <a:lvl1pPr>
              <a:defRPr>
                <a:latin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Tree>
    <p:extLst>
      <p:ext uri="{BB962C8B-B14F-4D97-AF65-F5344CB8AC3E}">
        <p14:creationId xmlns:p14="http://schemas.microsoft.com/office/powerpoint/2010/main" val="2395108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3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0A9857EF-35C6-3841-ADDF-F978DF9E4214}"/>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92580AE0-598D-3145-B8F4-82D4C315136E}"/>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574754BF-6579-284F-9FE5-19DD3327E4A9}"/>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592D0A0F-1EEC-9542-A3FE-25283D11C88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B5F806CE-E6C0-CD45-A30B-9A70E4913793}"/>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367BA9AB-2EBE-CB42-976A-1B08051FC8BB}"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CFAC176A-09A8-1E4E-B38E-A6192D9CF1EF}"/>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1A8977CC-7E9E-9840-B04E-AAC856F9BC82}" type="slidenum">
              <a:rPr lang="zh-CN" altLang="en-US"/>
              <a:pPr/>
              <a:t>‹#›</a:t>
            </a:fld>
            <a:r>
              <a:rPr lang="zh-CN" altLang="en-US"/>
              <a:t>页</a:t>
            </a:r>
          </a:p>
        </p:txBody>
      </p:sp>
      <p:sp>
        <p:nvSpPr>
          <p:cNvPr id="10" name="Footer Placeholder 4">
            <a:extLst>
              <a:ext uri="{FF2B5EF4-FFF2-40B4-BE49-F238E27FC236}">
                <a16:creationId xmlns:a16="http://schemas.microsoft.com/office/drawing/2014/main" id="{ED7A1212-6C5F-6648-B7B7-4521CD882591}"/>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2209986861"/>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4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0B2FF16C-5C79-E44A-9FC0-C64BA384877A}"/>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C26B799F-DF2B-FC44-8348-E7A74223F90F}"/>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727541AF-B34D-3F49-8042-5B1484D256F4}"/>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41BEC921-65DC-8048-A10D-F9F6699AFEE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27F33134-EBD3-7346-A76D-406D4C81C1A7}"/>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3A8CF0DB-0FB9-7449-9EAF-37E6F8358AE6}"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2B6A6310-E8BD-5E40-A5EA-BFE16BE436AD}"/>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DAE6A740-2819-CA45-AAC0-CD54AB720A1D}" type="slidenum">
              <a:rPr lang="zh-CN" altLang="en-US"/>
              <a:pPr/>
              <a:t>‹#›</a:t>
            </a:fld>
            <a:r>
              <a:rPr lang="zh-CN" altLang="en-US"/>
              <a:t>页</a:t>
            </a:r>
          </a:p>
        </p:txBody>
      </p:sp>
      <p:sp>
        <p:nvSpPr>
          <p:cNvPr id="10" name="Footer Placeholder 4">
            <a:extLst>
              <a:ext uri="{FF2B5EF4-FFF2-40B4-BE49-F238E27FC236}">
                <a16:creationId xmlns:a16="http://schemas.microsoft.com/office/drawing/2014/main" id="{13AA5A78-5944-0042-8CAB-25054D897485}"/>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81074459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5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316566DF-9FE3-5D49-BCAF-8C8430604F05}"/>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C5DE8FCA-5EC6-0F4C-9483-4BBA71F4EF56}"/>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6DBAF255-4AC8-DF43-92D4-53419341553C}"/>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A6086F4D-969B-4F4E-8A16-469DA10A0A0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F3549030-136F-0D4B-B804-557B96C98C08}"/>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CB3A9731-A910-6B46-B724-4167E9243EAB}"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396A8F42-0EB8-7045-9BB7-AA7A4D5924D9}"/>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A48C8067-7044-884E-8B28-60608C9EDE6E}" type="slidenum">
              <a:rPr lang="zh-CN" altLang="en-US"/>
              <a:pPr/>
              <a:t>‹#›</a:t>
            </a:fld>
            <a:r>
              <a:rPr lang="zh-CN" altLang="en-US"/>
              <a:t>页</a:t>
            </a:r>
          </a:p>
        </p:txBody>
      </p:sp>
      <p:sp>
        <p:nvSpPr>
          <p:cNvPr id="10" name="Footer Placeholder 4">
            <a:extLst>
              <a:ext uri="{FF2B5EF4-FFF2-40B4-BE49-F238E27FC236}">
                <a16:creationId xmlns:a16="http://schemas.microsoft.com/office/drawing/2014/main" id="{26E50FFF-9E5B-F347-A27F-AF93FAC8B738}"/>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4263064577"/>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6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189276E2-F182-5543-B57B-CC47D89AF009}"/>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7F783EDE-5C2F-B842-B24A-6EBB667A7788}"/>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30987062-7A68-BF4A-82CE-B29B70DE8BEB}"/>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E91144ED-19D9-C441-BA4D-33734C36D65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21B37BAE-FEB9-3047-8F74-D75E4D5F003A}"/>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9EAB05A5-BFB5-E444-8F0D-BCCDE42D665E}"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8F158EA6-9873-B24D-AF9E-D3F67B0B9F34}"/>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5CF45E08-0B19-C442-8200-4D7E58544AC4}" type="slidenum">
              <a:rPr lang="zh-CN" altLang="en-US"/>
              <a:pPr/>
              <a:t>‹#›</a:t>
            </a:fld>
            <a:r>
              <a:rPr lang="zh-CN" altLang="en-US"/>
              <a:t>页</a:t>
            </a:r>
          </a:p>
        </p:txBody>
      </p:sp>
      <p:sp>
        <p:nvSpPr>
          <p:cNvPr id="10" name="Footer Placeholder 4">
            <a:extLst>
              <a:ext uri="{FF2B5EF4-FFF2-40B4-BE49-F238E27FC236}">
                <a16:creationId xmlns:a16="http://schemas.microsoft.com/office/drawing/2014/main" id="{484C326D-4E0A-3346-8E99-AE378F13C3EA}"/>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2292525358"/>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600201"/>
            <a:ext cx="5384800"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4">
            <a:extLst>
              <a:ext uri="{FF2B5EF4-FFF2-40B4-BE49-F238E27FC236}">
                <a16:creationId xmlns:a16="http://schemas.microsoft.com/office/drawing/2014/main" id="{6426DE71-577A-C647-8F9F-1AC0397957EE}"/>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DF58ACAC-413E-F44D-B714-2D91EC11AB5F}"/>
              </a:ext>
            </a:extLst>
          </p:cNvPr>
          <p:cNvSpPr>
            <a:spLocks noGrp="1" noChangeArrowheads="1"/>
          </p:cNvSpPr>
          <p:nvPr>
            <p:ph type="ftr" sz="quarter" idx="11"/>
          </p:nvPr>
        </p:nvSpPr>
        <p:spPr/>
        <p:txBody>
          <a:bodyPr rtlCol="0"/>
          <a:lstStyle>
            <a:lvl1pPr eaLnBrk="0" hangingPunct="0">
              <a:defRPr>
                <a:solidFill>
                  <a:prstClr val="black">
                    <a:tint val="75000"/>
                  </a:prstClr>
                </a:solidFill>
              </a:defRPr>
            </a:lvl1pPr>
          </a:lstStyle>
          <a:p>
            <a:pPr>
              <a:defRPr/>
            </a:pPr>
            <a:endParaRPr lang="en-US" altLang="zh-CN"/>
          </a:p>
        </p:txBody>
      </p:sp>
      <p:sp>
        <p:nvSpPr>
          <p:cNvPr id="7" name="Slide Number Placeholder 6">
            <a:extLst>
              <a:ext uri="{FF2B5EF4-FFF2-40B4-BE49-F238E27FC236}">
                <a16:creationId xmlns:a16="http://schemas.microsoft.com/office/drawing/2014/main" id="{7BE87DE7-0FDD-0F4D-820A-E50883A8BEB2}"/>
              </a:ext>
            </a:extLst>
          </p:cNvPr>
          <p:cNvSpPr>
            <a:spLocks noGrp="1" noChangeArrowheads="1"/>
          </p:cNvSpPr>
          <p:nvPr>
            <p:ph type="sldNum" sz="quarter" idx="12"/>
          </p:nvPr>
        </p:nvSpPr>
        <p:spPr/>
        <p:txBody>
          <a:bodyPr/>
          <a:lstStyle>
            <a:lvl1pPr>
              <a:defRPr/>
            </a:lvl1pPr>
          </a:lstStyle>
          <a:p>
            <a:fld id="{5D3A79A8-3FE9-5E43-B1C5-DF160A6B7D41}" type="slidenum">
              <a:rPr lang="en-US" altLang="zh-CN"/>
              <a:pPr/>
              <a:t>‹#›</a:t>
            </a:fld>
            <a:endParaRPr lang="en-US" altLang="zh-CN"/>
          </a:p>
        </p:txBody>
      </p:sp>
    </p:spTree>
    <p:extLst>
      <p:ext uri="{BB962C8B-B14F-4D97-AF65-F5344CB8AC3E}">
        <p14:creationId xmlns:p14="http://schemas.microsoft.com/office/powerpoint/2010/main" val="3155542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2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3EF8C19-9946-9F45-881E-35E3F154673F}"/>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
            <a:extLst>
              <a:ext uri="{FF2B5EF4-FFF2-40B4-BE49-F238E27FC236}">
                <a16:creationId xmlns:a16="http://schemas.microsoft.com/office/drawing/2014/main" id="{6D74BA40-2914-CF4C-92CF-DC8AF2F6ABDD}"/>
              </a:ext>
            </a:extLst>
          </p:cNvPr>
          <p:cNvSpPr>
            <a:spLocks noGrp="1"/>
          </p:cNvSpPr>
          <p:nvPr>
            <p:ph type="ftr" sz="quarter" idx="11"/>
          </p:nvPr>
        </p:nvSpPr>
        <p:spPr/>
        <p:txBody>
          <a:bodyPr rtlCol="0"/>
          <a:lstStyle>
            <a:lvl1pPr eaLnBrk="0" hangingPunct="0">
              <a:defRPr>
                <a:solidFill>
                  <a:prstClr val="black">
                    <a:tint val="75000"/>
                  </a:prstClr>
                </a:solidFill>
              </a:defRPr>
            </a:lvl1pPr>
          </a:lstStyle>
          <a:p>
            <a:pPr>
              <a:defRPr/>
            </a:pPr>
            <a:endParaRPr lang="en-US" altLang="zh-CN"/>
          </a:p>
        </p:txBody>
      </p:sp>
      <p:sp>
        <p:nvSpPr>
          <p:cNvPr id="4" name="灯片编号占位符 3">
            <a:extLst>
              <a:ext uri="{FF2B5EF4-FFF2-40B4-BE49-F238E27FC236}">
                <a16:creationId xmlns:a16="http://schemas.microsoft.com/office/drawing/2014/main" id="{020F4395-47CD-2E46-8EBC-40A74E07BB23}"/>
              </a:ext>
            </a:extLst>
          </p:cNvPr>
          <p:cNvSpPr>
            <a:spLocks noGrp="1"/>
          </p:cNvSpPr>
          <p:nvPr>
            <p:ph type="sldNum" sz="quarter" idx="12"/>
          </p:nvPr>
        </p:nvSpPr>
        <p:spPr/>
        <p:txBody>
          <a:bodyPr/>
          <a:lstStyle>
            <a:lvl1pPr>
              <a:defRPr/>
            </a:lvl1pPr>
          </a:lstStyle>
          <a:p>
            <a:fld id="{B84B20DC-7A34-534A-8983-74BEF1A62B5E}" type="slidenum">
              <a:rPr lang="en-US" altLang="zh-CN"/>
              <a:pPr/>
              <a:t>‹#›</a:t>
            </a:fld>
            <a:endParaRPr lang="en-US" altLang="zh-CN"/>
          </a:p>
        </p:txBody>
      </p:sp>
    </p:spTree>
    <p:extLst>
      <p:ext uri="{BB962C8B-B14F-4D97-AF65-F5344CB8AC3E}">
        <p14:creationId xmlns:p14="http://schemas.microsoft.com/office/powerpoint/2010/main" val="141006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E1B614F-6858-CE4F-B8FB-1D3D27DED951}"/>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3E3504AF-0820-9D4B-B5D9-2420A48B78B8}"/>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933583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0_空白">
    <p:spTree>
      <p:nvGrpSpPr>
        <p:cNvPr id="1" name=""/>
        <p:cNvGrpSpPr/>
        <p:nvPr/>
      </p:nvGrpSpPr>
      <p:grpSpPr>
        <a:xfrm>
          <a:off x="0" y="0"/>
          <a:ext cx="0" cy="0"/>
          <a:chOff x="0" y="0"/>
          <a:chExt cx="0" cy="0"/>
        </a:xfrm>
      </p:grpSpPr>
      <p:sp>
        <p:nvSpPr>
          <p:cNvPr id="4" name="矩形 10">
            <a:extLst>
              <a:ext uri="{FF2B5EF4-FFF2-40B4-BE49-F238E27FC236}">
                <a16:creationId xmlns:a16="http://schemas.microsoft.com/office/drawing/2014/main" id="{E460EF2E-D68B-734D-B32B-1A83F8841BA4}"/>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b="1">
              <a:solidFill>
                <a:srgbClr val="FFFFFF"/>
              </a:solidFill>
            </a:endParaRPr>
          </a:p>
        </p:txBody>
      </p:sp>
      <p:cxnSp>
        <p:nvCxnSpPr>
          <p:cNvPr id="5" name="直接连接符 11">
            <a:extLst>
              <a:ext uri="{FF2B5EF4-FFF2-40B4-BE49-F238E27FC236}">
                <a16:creationId xmlns:a16="http://schemas.microsoft.com/office/drawing/2014/main" id="{14B33FB0-9EFF-D549-A33A-BADF9971D71F}"/>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12">
            <a:extLst>
              <a:ext uri="{FF2B5EF4-FFF2-40B4-BE49-F238E27FC236}">
                <a16:creationId xmlns:a16="http://schemas.microsoft.com/office/drawing/2014/main" id="{0C0ABEBA-369F-F442-905B-FCCA7FC65EF0}"/>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6E542FAD-6ADA-BD40-ACFD-D48535B720C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3"/>
            <a:ext cx="9037637" cy="668337"/>
          </a:xfrm>
        </p:spPr>
        <p:txBody>
          <a:bodyPr>
            <a:normAutofit/>
          </a:bodyPr>
          <a:lstStyle>
            <a:lvl1pPr>
              <a:defRPr sz="2400" b="1">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1800" b="1">
                <a:solidFill>
                  <a:schemeClr val="tx1"/>
                </a:solidFill>
                <a:latin typeface="仿宋" panose="02010609060101010101" pitchFamily="49" charset="-122"/>
                <a:ea typeface="仿宋" panose="02010609060101010101" pitchFamily="49" charset="-122"/>
              </a:defRPr>
            </a:lvl1pPr>
            <a:lvl2pPr>
              <a:defRPr sz="1500" b="1">
                <a:solidFill>
                  <a:schemeClr val="tx1"/>
                </a:solidFill>
                <a:latin typeface="仿宋" panose="02010609060101010101" pitchFamily="49" charset="-122"/>
                <a:ea typeface="仿宋" panose="02010609060101010101" pitchFamily="49" charset="-122"/>
              </a:defRPr>
            </a:lvl2pPr>
            <a:lvl3pPr>
              <a:defRPr sz="1350" b="1">
                <a:solidFill>
                  <a:schemeClr val="tx1"/>
                </a:solidFill>
              </a:defRPr>
            </a:lvl3pPr>
            <a:lvl4pPr>
              <a:defRPr sz="1200" b="1">
                <a:solidFill>
                  <a:schemeClr val="tx1"/>
                </a:solidFill>
              </a:defRPr>
            </a:lvl4pPr>
            <a:lvl5pPr>
              <a:defRPr sz="1200" b="1">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75BE11FB-0BCA-9640-99F6-53E6DDC1519B}"/>
              </a:ext>
            </a:extLst>
          </p:cNvPr>
          <p:cNvSpPr>
            <a:spLocks noGrp="1"/>
          </p:cNvSpPr>
          <p:nvPr>
            <p:ph type="dt" sz="half" idx="10"/>
          </p:nvPr>
        </p:nvSpPr>
        <p:spPr bwMode="auto">
          <a:xfrm>
            <a:off x="736600" y="6356350"/>
            <a:ext cx="2743200" cy="365125"/>
          </a:xfrm>
          <a:ln>
            <a:miter lim="800000"/>
          </a:ln>
        </p:spPr>
        <p:txBody>
          <a:bodyPr wrap="square" numCol="1" anchor="t" anchorCtr="0" compatLnSpc="1"/>
          <a:lstStyle>
            <a:lvl1pPr eaLnBrk="0" fontAlgn="base" hangingPunct="0">
              <a:spcBef>
                <a:spcPct val="0"/>
              </a:spcBef>
              <a:spcAft>
                <a:spcPct val="0"/>
              </a:spcAft>
              <a:defRPr sz="1000" b="1">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9793B553-E426-0D42-B3A7-CF285194CFFA}" type="datetime1">
              <a:rPr lang="zh-CN" altLang="en-US"/>
              <a:pPr>
                <a:defRPr/>
              </a:pPr>
              <a:t>2024/3/15</a:t>
            </a:fld>
            <a:endParaRPr lang="zh-CN" altLang="en-US" dirty="0"/>
          </a:p>
        </p:txBody>
      </p:sp>
      <p:sp>
        <p:nvSpPr>
          <p:cNvPr id="9" name="Footer Placeholder 4">
            <a:extLst>
              <a:ext uri="{FF2B5EF4-FFF2-40B4-BE49-F238E27FC236}">
                <a16:creationId xmlns:a16="http://schemas.microsoft.com/office/drawing/2014/main" id="{0EA5044C-9345-624B-844F-3E9C2F5707DB}"/>
              </a:ext>
            </a:extLst>
          </p:cNvPr>
          <p:cNvSpPr>
            <a:spLocks noGrp="1"/>
          </p:cNvSpPr>
          <p:nvPr>
            <p:ph type="ftr" sz="quarter" idx="11"/>
          </p:nvPr>
        </p:nvSpPr>
        <p:spPr bwMode="auto">
          <a:xfrm>
            <a:off x="3884613" y="6356350"/>
            <a:ext cx="4394200" cy="365125"/>
          </a:xfrm>
          <a:ln>
            <a:miter lim="800000"/>
          </a:ln>
        </p:spPr>
        <p:txBody>
          <a:bodyPr anchor="t"/>
          <a:lstStyle>
            <a:lvl1pPr>
              <a:defRPr>
                <a:latin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
        <p:nvSpPr>
          <p:cNvPr id="10" name="Slide Number Placeholder 5">
            <a:extLst>
              <a:ext uri="{FF2B5EF4-FFF2-40B4-BE49-F238E27FC236}">
                <a16:creationId xmlns:a16="http://schemas.microsoft.com/office/drawing/2014/main" id="{CC1AD6BB-BF47-4444-AC79-F410A5A36A1F}"/>
              </a:ext>
            </a:extLst>
          </p:cNvPr>
          <p:cNvSpPr>
            <a:spLocks noGrp="1"/>
          </p:cNvSpPr>
          <p:nvPr>
            <p:ph type="sldNum" sz="quarter" idx="12"/>
          </p:nvPr>
        </p:nvSpPr>
        <p:spPr bwMode="auto">
          <a:xfrm>
            <a:off x="8509000" y="6356350"/>
            <a:ext cx="2743200" cy="365125"/>
          </a:xfrm>
          <a:ln>
            <a:miter lim="800000"/>
          </a:ln>
        </p:spPr>
        <p:txBody>
          <a:bodyPr anchor="t"/>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3D4B33B3-57C1-084F-8607-F635E1E1AABC}" type="slidenum">
              <a:rPr lang="zh-CN" altLang="en-US"/>
              <a:pPr/>
              <a:t>‹#›</a:t>
            </a:fld>
            <a:r>
              <a:rPr lang="zh-CN" altLang="en-US"/>
              <a:t>页</a:t>
            </a:r>
          </a:p>
        </p:txBody>
      </p:sp>
    </p:spTree>
    <p:extLst>
      <p:ext uri="{BB962C8B-B14F-4D97-AF65-F5344CB8AC3E}">
        <p14:creationId xmlns:p14="http://schemas.microsoft.com/office/powerpoint/2010/main" val="819917335"/>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平行四边形 4">
            <a:extLst>
              <a:ext uri="{FF2B5EF4-FFF2-40B4-BE49-F238E27FC236}">
                <a16:creationId xmlns:a16="http://schemas.microsoft.com/office/drawing/2014/main" id="{CFB0438D-B9CC-7F4B-B1FC-A5EDA93B93E9}"/>
              </a:ext>
            </a:extLst>
          </p:cNvPr>
          <p:cNvSpPr>
            <a:spLocks noChangeArrowheads="1"/>
          </p:cNvSpPr>
          <p:nvPr/>
        </p:nvSpPr>
        <p:spPr bwMode="auto">
          <a:xfrm>
            <a:off x="588963" y="407988"/>
            <a:ext cx="10460037" cy="608012"/>
          </a:xfrm>
          <a:prstGeom prst="parallelogram">
            <a:avLst>
              <a:gd name="adj" fmla="val 0"/>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sp>
        <p:nvSpPr>
          <p:cNvPr id="5" name="标题 1">
            <a:extLst>
              <a:ext uri="{FF2B5EF4-FFF2-40B4-BE49-F238E27FC236}">
                <a16:creationId xmlns:a16="http://schemas.microsoft.com/office/drawing/2014/main" id="{D9E30CB3-5AFA-D34B-A5A3-D7DB62BC13C1}"/>
              </a:ext>
            </a:extLst>
          </p:cNvPr>
          <p:cNvSpPr txBox="1">
            <a:spLocks noChangeArrowheads="1"/>
          </p:cNvSpPr>
          <p:nvPr/>
        </p:nvSpPr>
        <p:spPr bwMode="auto">
          <a:xfrm>
            <a:off x="0" y="1390650"/>
            <a:ext cx="121920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lnSpc>
                <a:spcPct val="90000"/>
              </a:lnSpc>
            </a:pPr>
            <a:r>
              <a:rPr lang="zh-CN" altLang="en-US" sz="4400">
                <a:solidFill>
                  <a:srgbClr val="1F4E79"/>
                </a:solidFill>
                <a:latin typeface="仿宋" pitchFamily="49" charset="-122"/>
                <a:ea typeface="仿宋" pitchFamily="49" charset="-122"/>
              </a:rPr>
              <a:t>现代密码学</a:t>
            </a:r>
          </a:p>
        </p:txBody>
      </p:sp>
      <p:sp>
        <p:nvSpPr>
          <p:cNvPr id="6" name="副标题 2">
            <a:extLst>
              <a:ext uri="{FF2B5EF4-FFF2-40B4-BE49-F238E27FC236}">
                <a16:creationId xmlns:a16="http://schemas.microsoft.com/office/drawing/2014/main" id="{64E1FFF1-D591-FC41-9706-3C9ACDDAC2FC}"/>
              </a:ext>
            </a:extLst>
          </p:cNvPr>
          <p:cNvSpPr txBox="1">
            <a:spLocks noChangeArrowheads="1"/>
          </p:cNvSpPr>
          <p:nvPr/>
        </p:nvSpPr>
        <p:spPr bwMode="auto">
          <a:xfrm>
            <a:off x="0" y="4572000"/>
            <a:ext cx="1219200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0" hangingPunct="0">
              <a:lnSpc>
                <a:spcPct val="90000"/>
              </a:lnSpc>
              <a:spcBef>
                <a:spcPts val="1000"/>
              </a:spcBef>
            </a:pPr>
            <a:endParaRPr lang="en-US" altLang="zh-CN" sz="2400">
              <a:solidFill>
                <a:srgbClr val="000000"/>
              </a:solidFill>
              <a:latin typeface="仿宋" pitchFamily="49" charset="-122"/>
              <a:ea typeface="仿宋" pitchFamily="49" charset="-122"/>
            </a:endParaRPr>
          </a:p>
          <a:p>
            <a:pPr algn="ctr" eaLnBrk="0" hangingPunct="0">
              <a:lnSpc>
                <a:spcPct val="90000"/>
              </a:lnSpc>
              <a:spcBef>
                <a:spcPts val="1000"/>
              </a:spcBef>
            </a:pPr>
            <a:r>
              <a:rPr lang="zh-CN" altLang="en-US" sz="2400">
                <a:solidFill>
                  <a:srgbClr val="000000"/>
                </a:solidFill>
                <a:latin typeface="仿宋" pitchFamily="49" charset="-122"/>
                <a:ea typeface="仿宋" pitchFamily="49" charset="-122"/>
              </a:rPr>
              <a:t>信息与软件工程学院</a:t>
            </a:r>
            <a:endParaRPr lang="en-US" altLang="zh-CN" sz="2400">
              <a:solidFill>
                <a:srgbClr val="000000"/>
              </a:solidFill>
              <a:latin typeface="仿宋" pitchFamily="49" charset="-122"/>
              <a:ea typeface="仿宋" pitchFamily="49" charset="-122"/>
            </a:endParaRPr>
          </a:p>
          <a:p>
            <a:pPr algn="ctr" eaLnBrk="0" hangingPunct="0">
              <a:lnSpc>
                <a:spcPct val="90000"/>
              </a:lnSpc>
              <a:spcBef>
                <a:spcPts val="1000"/>
              </a:spcBef>
            </a:pPr>
            <a:endParaRPr lang="zh-CN" altLang="en-US" sz="2400">
              <a:solidFill>
                <a:srgbClr val="000000"/>
              </a:solidFill>
              <a:latin typeface="仿宋" pitchFamily="49" charset="-122"/>
              <a:ea typeface="仿宋" pitchFamily="49" charset="-122"/>
            </a:endParaRPr>
          </a:p>
        </p:txBody>
      </p:sp>
      <p:sp>
        <p:nvSpPr>
          <p:cNvPr id="2" name="Title 1"/>
          <p:cNvSpPr>
            <a:spLocks noGrp="1"/>
          </p:cNvSpPr>
          <p:nvPr>
            <p:ph type="ctrTitle"/>
          </p:nvPr>
        </p:nvSpPr>
        <p:spPr>
          <a:xfrm>
            <a:off x="637383" y="1390656"/>
            <a:ext cx="10363200" cy="1780381"/>
          </a:xfrm>
        </p:spPr>
        <p:txBody>
          <a:bodyPr>
            <a:normAutofit/>
          </a:bodyPr>
          <a:lstStyle>
            <a:lvl1pPr algn="ctr">
              <a:defRPr sz="48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637383" y="3190876"/>
            <a:ext cx="9810484" cy="790574"/>
          </a:xfrm>
        </p:spPr>
        <p:txBody>
          <a:bodyPr anchor="ctr">
            <a:normAutofit/>
          </a:bodyPr>
          <a:lstStyle>
            <a:lvl1pPr marL="0" indent="0" algn="ctr">
              <a:buNone/>
              <a:defRPr sz="2800">
                <a:latin typeface="仿宋" panose="02010609060101010101" pitchFamily="49" charset="-122"/>
                <a:ea typeface="仿宋"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en-US" noProof="1"/>
          </a:p>
        </p:txBody>
      </p:sp>
    </p:spTree>
    <p:extLst>
      <p:ext uri="{BB962C8B-B14F-4D97-AF65-F5344CB8AC3E}">
        <p14:creationId xmlns:p14="http://schemas.microsoft.com/office/powerpoint/2010/main" val="752345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5133427D-C016-734B-9168-C4DD582FF260}"/>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D7924BBC-358A-6D4B-AFD7-1BA5229DE2C3}"/>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76EE87FD-DD4C-8C4D-AFE1-65C4E8B7704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327455065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2CFA03C1-D7F8-F949-9E69-FD7073CFD79F}"/>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34DB404F-BFF9-4C4F-BC5E-1E2484537985}"/>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823913" y="1466056"/>
            <a:ext cx="10515600" cy="4579144"/>
          </a:xfrm>
        </p:spPr>
        <p:txBody>
          <a:bodyPr/>
          <a:lstStyle>
            <a:lvl1pPr>
              <a:defRPr sz="2400">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lvl3pPr>
            <a:lvl4pPr>
              <a:defRPr sz="1600"/>
            </a:lvl4pPr>
            <a:lvl5pPr>
              <a:defRPr sz="16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3533132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22BBB818-4866-C64B-8870-07C4E41A0D01}"/>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B1AE8E2A-E690-A44E-92A5-3AA58CAB1BF2}"/>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6C953AA8-91E0-244F-9DB8-14E55657592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1195771147"/>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4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C8CF9DF-3DD6-3045-897A-5CD14451A64C}"/>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39C5DEF4-8A37-8D48-900E-45D518F62D54}"/>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60895939-4387-6C4A-B250-9B204E3DA1E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2159677501"/>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6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31EB5B70-8B79-A84F-9416-F4E37B32D15E}"/>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A79211BC-9317-3245-8771-8A3B384B42A2}"/>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71DE89F0-AE78-9145-A6F1-1CB09F5710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1792126312"/>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7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AB22CC7E-577A-9F45-AB78-091964C595DF}"/>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AFEDAAFA-4E23-6145-A98F-84179BC8D76B}"/>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1CD879F9-616A-F649-B8D4-59E2157A214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2700702195"/>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3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3CCDA206-5A02-F34A-8B09-7652CA48063F}"/>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32FF581A-88FA-CF4B-A38A-6E6B30807943}"/>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2D42BD34-6E93-584F-AAF4-1B3D50894B5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3228470799"/>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4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3AD98775-9B14-2E43-98BE-E54882EBCF4C}"/>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DBE974F6-2BBB-5F42-82EF-CBF718FD9715}"/>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97EB920E-4FB0-D04E-AADE-F2F920A3EA9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1811946709"/>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5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59DD3E4D-2FC2-3045-B66E-8471540FB997}"/>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20B9BDD0-C44D-614D-92E3-98D251F3DA7B}"/>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8BA33E14-D518-3342-8152-DD73591752C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769450659"/>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6_空白">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50B9A580-2A6B-D944-ACA0-DB3E74F29D19}"/>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13B6E87A-8A08-604D-BBDD-BE5B03FE6E4F}"/>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8">
            <a:extLst>
              <a:ext uri="{FF2B5EF4-FFF2-40B4-BE49-F238E27FC236}">
                <a16:creationId xmlns:a16="http://schemas.microsoft.com/office/drawing/2014/main" id="{E357DAD1-06D3-154D-BAF3-B3E5551D0AE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Tree>
    <p:extLst>
      <p:ext uri="{BB962C8B-B14F-4D97-AF65-F5344CB8AC3E}">
        <p14:creationId xmlns:p14="http://schemas.microsoft.com/office/powerpoint/2010/main" val="2832437987"/>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8142AF-56AC-E94F-9F5A-F8E1ADE7C707}"/>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CCD98202-BF36-AC42-94B7-4C03BD7C37E0}"/>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149087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B3A2BA-FF3E-CA46-B574-197EE463DAF2}"/>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86D98A9D-0D75-9247-B657-6CF379247270}"/>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692629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3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5DC2EF-8A77-E340-BF9C-90EC86ABA8A9}"/>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A78A4CB2-6C41-224C-93B5-A927B2EF2D53}"/>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9010520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4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B3C331-A5B1-1442-92C9-C113ABE928B7}"/>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C875DB48-F195-9745-BF69-00E5FD9D3750}"/>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3044511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5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93098E-3ADC-E746-BC97-E42899C04E04}"/>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B0D83AF3-0E6A-4146-8E2C-47E439CFBC32}"/>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0704351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6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164273-4C99-9C42-B9D0-EF100770DAB9}"/>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486F8055-C2C2-EA43-A866-6B52FE28A7B2}"/>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9224961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7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095F38-F1A4-F341-9BB9-5CC6CF50C4F0}"/>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B35585CC-9F87-B14B-8FC1-13D691F7A2EB}"/>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8924484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8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3377F4-6320-0E49-B304-5AD35E459B82}"/>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ED0DDB9E-F194-F343-ACF5-FE64A74D3A0C}"/>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0729370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9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F409E5-409B-004C-BA2B-EADE98D3791A}"/>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F8B8665A-331A-034D-B0F9-6CD02067B59B}"/>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188609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0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32EDD5-2144-2344-AD6D-725FA98AFE2B}"/>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E2CAC857-23A5-804A-BD94-D7568A5D46C2}"/>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2472945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11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6B7DC2-7FEB-C045-80D1-38AB7FB3C739}"/>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97499FDE-82A1-F64D-9047-B86F081DAD55}"/>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52661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12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2B59FE-743B-1644-BC3F-2F8D5EB7AF4E}"/>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56522BAB-53D7-3845-9F72-775BAAC630F8}"/>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724435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13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8F3A1F-CB34-604B-986F-C1647D2D1C1F}"/>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176DBC33-5247-E443-A06C-B420CA505B72}"/>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8716586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4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C04843-7742-2B41-AA46-EE70572B37E5}"/>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053890C3-526E-4C4A-984A-DAE30FB413FC}"/>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2870668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086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15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2DA037-5153-0B4E-BD21-1D52329AC2CD}"/>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1A265A47-5CAD-EC43-9631-E6861B581E26}"/>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1745838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16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EAA4A7-1E35-274F-B524-0C853D624A74}"/>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B2171757-2A17-524B-9F4E-2D23AE34B52D}"/>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1463869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7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09EDE4-02B4-EF4A-9FF6-6735D7651F86}"/>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6FA0597E-13BF-784C-8A05-578B8C1B7F4C}"/>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19770089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8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867612-48A9-2F4A-94A3-B89812CCBD38}"/>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F2D7895A-A8D5-1443-97F9-7E4A2807B811}"/>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0881562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9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1B80DF-4924-0A41-9C70-D3201CA0C140}"/>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AF334AE9-1BDE-2648-B189-DA55510EB3A4}"/>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4677930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20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C11A8F-418A-DD4A-8BF5-131A08820874}"/>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6EEC005C-DE17-AE4E-B9D9-AADE81FB846B}"/>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346796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21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BE5C68-FE84-DE4C-BD42-B9535F1CED9D}"/>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62AD8067-5251-C74E-BEE8-C288F162121C}"/>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6246968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22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2020CC-A229-0D40-9EA4-DE10F4F36D6E}"/>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9546DD25-B0FE-DD4F-9A51-9455DB993A09}"/>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0743643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3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30FCDF-0593-6F45-8983-1A54B7894D2D}"/>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8A0A36ED-5B99-654B-BCB1-2D27300EBC4D}"/>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0087475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24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8A4B21-D057-7D48-B8E9-B8DFD5A4E33E}"/>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AC0A3311-E741-A342-981A-B6A96CE59D91}"/>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8295069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25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027671-8B48-C642-B2E2-2D187606E00C}"/>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ACD0CEAC-10FC-2E42-BBF5-E33101217B7F}"/>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2977306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26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05A24E-EBE9-1B47-9426-A53122B66FC8}"/>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3BA7DAF3-3AE3-8F44-AB20-78D95D8FFF11}"/>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876907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27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46897E-540A-454D-B134-3C62717D129B}"/>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0EB3DCAE-061E-A241-9AE7-2CEB7ADF19F1}"/>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6416465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28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106DD2-57BC-8A48-9721-6104E26D2394}"/>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108CA95E-AF00-3D4D-90D8-8C2588AE154D}"/>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2861383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29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C255F7-16D0-9442-A4F4-6180F4E1C2CB}"/>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56A15881-495C-D143-9BE5-D165BD56EF86}"/>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8826718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userDrawn="1">
  <p:cSld name="30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60C12D-7EAD-8D47-BE34-2072B595AFBD}"/>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51E4B083-2E71-AE4D-B423-A8F536DD0B84}"/>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0378753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31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A0BD54-7A9F-2A46-BA96-63B730B5AB6B}"/>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5A734936-DD81-9741-81B2-6C4BC367691D}"/>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0335635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32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4C3A32-E7BA-4946-A42D-4DEA6C71C51A}"/>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56794478-C70C-D547-9F44-0216B1ACF1E8}"/>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72856982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33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202994-E3C9-3F43-8BAB-2705D589EAF9}"/>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708FAD9B-D46C-2C4A-AFA1-96D21727C829}"/>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41218457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34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09BF3B-70BD-2A4D-AF22-2BF4B3655B28}"/>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B35EF669-7E27-9D4F-A319-1D126EFE00D8}"/>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9311983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35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A3FA13-0798-1049-AA9A-17E4DA3FC4C3}"/>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DE2884ED-99A4-0043-88FD-8AC541F853AB}"/>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18216487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36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06CC45-D2DA-414F-B07B-1F1C0131CAB3}"/>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06180789-02BB-0F40-82E7-7E18225480E1}"/>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46490814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37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BAD552-165F-384E-8EDE-46707C151063}"/>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7FEC3FB1-520A-0A4E-91B6-A1E57D7711BE}"/>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99399047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38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C20EBE-C516-A94C-9386-F635136FE38B}"/>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83463682-D7A9-2E40-A17C-CFE0CD6DF422}"/>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8698912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39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422FF6-B207-3B4C-99B3-7925B20D290D}"/>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043A32F6-D42E-0D47-9034-5AFFE56A705F}"/>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0593852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40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F3AA62-2D8C-C449-81A1-0CBBE7CA012E}"/>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F34D643C-D83F-424C-B32F-A016A7F3597F}"/>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4810428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41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44E84C-A93B-124E-84E1-00BF1DB91E29}"/>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FA2279F9-8690-3143-A5B3-F14F03F0BED8}"/>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2558767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42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422FA7-7085-3F40-9A44-2FC810B81351}"/>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3FF3ED05-33FF-A54E-ABE1-5790321B40CE}"/>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34653206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43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6100A3-BA02-0646-BFE8-53984F022758}"/>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3469CAF0-2C80-A24F-A368-71A5F52A5E06}"/>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8848010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44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E0E57D-F75E-9749-B3A1-6263206F9E8C}"/>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D0A4A6D5-4815-3845-8314-8409B26D7BCA}"/>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14455974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45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D13B7D-C3E7-2B4B-ADD6-AC4BAFDD4FA0}"/>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DE3D327E-D907-5643-965F-06F31DEBF638}"/>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72100119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46_标题幻灯片">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8EB1A3-E635-6D4D-A0DC-10541B793136}"/>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FD86737C-9E65-A844-ADE3-CF17CC790308}"/>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2785144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cSld name="2_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7BD2AC5E-A60A-DD4F-87DC-0EA33575D989}"/>
              </a:ext>
            </a:extLst>
          </p:cNvPr>
          <p:cNvSpPr>
            <a:spLocks noGrp="1" noChangeArrowheads="1"/>
          </p:cNvSpPr>
          <p:nvPr>
            <p:ph type="dt" sz="half" idx="10"/>
          </p:nvPr>
        </p:nvSpPr>
        <p:spPr>
          <a:xfrm>
            <a:off x="1549400" y="6243638"/>
            <a:ext cx="2540000" cy="457200"/>
          </a:xfrm>
          <a:prstGeom prst="rect">
            <a:avLst/>
          </a:prstGeom>
        </p:spPr>
        <p:txBody>
          <a:bodyPr/>
          <a:lstStyle>
            <a:lvl1pPr eaLnBrk="0" hangingPunct="0">
              <a:defRPr/>
            </a:lvl1pPr>
          </a:lstStyle>
          <a:p>
            <a:pPr>
              <a:defRPr/>
            </a:pPr>
            <a:endParaRPr lang="en-US" altLang="zh-CN"/>
          </a:p>
        </p:txBody>
      </p:sp>
      <p:sp>
        <p:nvSpPr>
          <p:cNvPr id="3" name="Rectangle 12">
            <a:extLst>
              <a:ext uri="{FF2B5EF4-FFF2-40B4-BE49-F238E27FC236}">
                <a16:creationId xmlns:a16="http://schemas.microsoft.com/office/drawing/2014/main" id="{13AEC851-E841-ED4A-89D5-E6F85044C05F}"/>
              </a:ext>
            </a:extLst>
          </p:cNvPr>
          <p:cNvSpPr>
            <a:spLocks noGrp="1" noChangeArrowheads="1"/>
          </p:cNvSpPr>
          <p:nvPr>
            <p:ph type="ftr" sz="quarter" idx="11"/>
          </p:nvPr>
        </p:nvSpPr>
        <p:spPr>
          <a:xfrm>
            <a:off x="4876800" y="6243638"/>
            <a:ext cx="3860800" cy="457200"/>
          </a:xfrm>
          <a:prstGeom prst="rect">
            <a:avLst/>
          </a:prstGeom>
        </p:spPr>
        <p:txBody>
          <a:bodyPr/>
          <a:lstStyle>
            <a:lvl1pPr eaLnBrk="0" hangingPunct="0">
              <a:defRPr/>
            </a:lvl1pPr>
          </a:lstStyle>
          <a:p>
            <a:pPr>
              <a:defRPr/>
            </a:pPr>
            <a:endParaRPr lang="en-US" altLang="zh-CN"/>
          </a:p>
        </p:txBody>
      </p:sp>
      <p:sp>
        <p:nvSpPr>
          <p:cNvPr id="4" name="Rectangle 13">
            <a:extLst>
              <a:ext uri="{FF2B5EF4-FFF2-40B4-BE49-F238E27FC236}">
                <a16:creationId xmlns:a16="http://schemas.microsoft.com/office/drawing/2014/main" id="{E6561ACC-46F4-F643-BD2E-CD9FDC9491DC}"/>
              </a:ext>
            </a:extLst>
          </p:cNvPr>
          <p:cNvSpPr>
            <a:spLocks noGrp="1" noChangeArrowheads="1"/>
          </p:cNvSpPr>
          <p:nvPr>
            <p:ph type="sldNum" sz="quarter" idx="12"/>
          </p:nvPr>
        </p:nvSpPr>
        <p:spPr>
          <a:xfrm>
            <a:off x="9390063" y="6243638"/>
            <a:ext cx="2540000" cy="457200"/>
          </a:xfrm>
          <a:prstGeom prst="rect">
            <a:avLst/>
          </a:prstGeom>
        </p:spPr>
        <p:txBody>
          <a:bodyPr vert="horz" wrap="square" lIns="91440" tIns="45720" rIns="91440" bIns="45720" numCol="1" anchor="t" anchorCtr="0" compatLnSpc="1">
            <a:prstTxWarp prst="textNoShape">
              <a:avLst/>
            </a:prstTxWarp>
          </a:bodyPr>
          <a:lstStyle>
            <a:lvl1pPr>
              <a:defRPr>
                <a:ea typeface="仿宋" pitchFamily="49" charset="-122"/>
              </a:defRPr>
            </a:lvl1pPr>
          </a:lstStyle>
          <a:p>
            <a:fld id="{C8F87F34-4E20-0846-A2F9-A136DA5885D8}" type="slidenum">
              <a:rPr lang="en-US" altLang="zh-CN"/>
              <a:pPr/>
              <a:t>‹#›</a:t>
            </a:fld>
            <a:endParaRPr lang="en-US" altLang="zh-CN"/>
          </a:p>
        </p:txBody>
      </p:sp>
    </p:spTree>
    <p:extLst>
      <p:ext uri="{BB962C8B-B14F-4D97-AF65-F5344CB8AC3E}">
        <p14:creationId xmlns:p14="http://schemas.microsoft.com/office/powerpoint/2010/main" val="362499709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平行四边形 7">
            <a:extLst>
              <a:ext uri="{FF2B5EF4-FFF2-40B4-BE49-F238E27FC236}">
                <a16:creationId xmlns:a16="http://schemas.microsoft.com/office/drawing/2014/main" id="{3F958BAE-BF20-4740-9FE2-8782FC852CDD}"/>
              </a:ext>
            </a:extLst>
          </p:cNvPr>
          <p:cNvSpPr>
            <a:spLocks noChangeArrowheads="1"/>
          </p:cNvSpPr>
          <p:nvPr/>
        </p:nvSpPr>
        <p:spPr bwMode="auto">
          <a:xfrm>
            <a:off x="588963" y="407988"/>
            <a:ext cx="10460037" cy="608012"/>
          </a:xfrm>
          <a:prstGeom prst="parallelogram">
            <a:avLst>
              <a:gd name="adj" fmla="val 0"/>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B25CBBEC-0522-634E-85D9-6D5D9749F93F}"/>
              </a:ext>
            </a:extLst>
          </p:cNvPr>
          <p:cNvCxnSpPr/>
          <p:nvPr/>
        </p:nvCxnSpPr>
        <p:spPr>
          <a:xfrm>
            <a:off x="588963" y="5988050"/>
            <a:ext cx="10460037" cy="19050"/>
          </a:xfrm>
          <a:prstGeom prst="line">
            <a:avLst/>
          </a:prstGeom>
          <a:ln w="38100">
            <a:solidFill>
              <a:schemeClr val="accent1">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 name="Title 1"/>
          <p:cNvSpPr>
            <a:spLocks noGrp="1"/>
          </p:cNvSpPr>
          <p:nvPr>
            <p:ph type="ctrTitle"/>
          </p:nvPr>
        </p:nvSpPr>
        <p:spPr>
          <a:xfrm>
            <a:off x="637383" y="1390656"/>
            <a:ext cx="10363200" cy="1780381"/>
          </a:xfrm>
        </p:spPr>
        <p:txBody>
          <a:bodyPr>
            <a:normAutofit/>
          </a:bodyPr>
          <a:lstStyle>
            <a:lvl1pPr algn="ctr">
              <a:defRPr sz="4800" b="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637383" y="3190876"/>
            <a:ext cx="9810484" cy="790574"/>
          </a:xfrm>
        </p:spPr>
        <p:txBody>
          <a:bodyPr anchor="ctr">
            <a:normAutofit/>
          </a:bodyPr>
          <a:lstStyle>
            <a:lvl1pPr marL="0" indent="0" algn="ctr">
              <a:buNone/>
              <a:defRPr sz="2800" b="0">
                <a:latin typeface="仿宋" panose="02010609060101010101" pitchFamily="49" charset="-122"/>
                <a:ea typeface="仿宋"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en-US" noProof="1"/>
          </a:p>
        </p:txBody>
      </p:sp>
      <p:sp>
        <p:nvSpPr>
          <p:cNvPr id="6" name="Date Placeholder 3">
            <a:extLst>
              <a:ext uri="{FF2B5EF4-FFF2-40B4-BE49-F238E27FC236}">
                <a16:creationId xmlns:a16="http://schemas.microsoft.com/office/drawing/2014/main" id="{D79BC111-6E88-0F42-8135-B935F2B8E9DB}"/>
              </a:ext>
            </a:extLst>
          </p:cNvPr>
          <p:cNvSpPr>
            <a:spLocks noGrp="1"/>
          </p:cNvSpPr>
          <p:nvPr>
            <p:ph type="dt" sz="half" idx="10"/>
          </p:nvPr>
        </p:nvSpPr>
        <p:spPr>
          <a:xfrm>
            <a:off x="584200" y="6356350"/>
            <a:ext cx="2743200" cy="365125"/>
          </a:xfrm>
        </p:spPr>
        <p:txBody>
          <a:bodyPr/>
          <a:lstStyle>
            <a:lvl1pPr>
              <a:defRPr b="0">
                <a:latin typeface="Times New Roman" panose="02020603050405020304" pitchFamily="18" charset="0"/>
                <a:cs typeface="Times New Roman" panose="02020603050405020304" pitchFamily="18" charset="0"/>
              </a:defRPr>
            </a:lvl1pPr>
          </a:lstStyle>
          <a:p>
            <a:pPr>
              <a:defRPr/>
            </a:pPr>
            <a:fld id="{BCDB311B-BD07-BC49-8070-843058CEE591}" type="datetime1">
              <a:rPr lang="zh-CN" altLang="en-US"/>
              <a:pPr>
                <a:defRPr/>
              </a:pPr>
              <a:t>2024/3/15</a:t>
            </a:fld>
            <a:endParaRPr lang="zh-CN" altLang="en-US" dirty="0"/>
          </a:p>
        </p:txBody>
      </p:sp>
      <p:sp>
        <p:nvSpPr>
          <p:cNvPr id="7" name="Footer Placeholder 4">
            <a:extLst>
              <a:ext uri="{FF2B5EF4-FFF2-40B4-BE49-F238E27FC236}">
                <a16:creationId xmlns:a16="http://schemas.microsoft.com/office/drawing/2014/main" id="{E25C1EC2-481D-F04B-87A6-C729A6B63845}"/>
              </a:ext>
            </a:extLst>
          </p:cNvPr>
          <p:cNvSpPr>
            <a:spLocks noGrp="1"/>
          </p:cNvSpPr>
          <p:nvPr>
            <p:ph type="ftr" sz="quarter" idx="11"/>
          </p:nvPr>
        </p:nvSpPr>
        <p:spPr>
          <a:xfrm>
            <a:off x="3784600" y="6356350"/>
            <a:ext cx="4241800" cy="365125"/>
          </a:xfrm>
        </p:spPr>
        <p:txBody>
          <a:bodyPr/>
          <a:lstStyle>
            <a:lvl1pPr>
              <a:defRPr>
                <a:latin typeface="Times New Roman" panose="02020603050405020304" pitchFamily="18" charset="0"/>
              </a:defRPr>
            </a:lvl1pPr>
          </a:lstStyle>
          <a:p>
            <a:r>
              <a:rPr lang="zh-CN" altLang="en-US"/>
              <a:t>电子科技大学 信息与软件工程学院</a:t>
            </a:r>
            <a:r>
              <a:rPr lang="en-US" altLang="zh-CN"/>
              <a:t>——</a:t>
            </a:r>
            <a:r>
              <a:rPr lang="zh-CN" altLang="en-US"/>
              <a:t>现代密码学  </a:t>
            </a:r>
            <a:endParaRPr lang="en-US" altLang="en-US"/>
          </a:p>
        </p:txBody>
      </p:sp>
      <p:sp>
        <p:nvSpPr>
          <p:cNvPr id="8" name="Slide Number Placeholder 5">
            <a:extLst>
              <a:ext uri="{FF2B5EF4-FFF2-40B4-BE49-F238E27FC236}">
                <a16:creationId xmlns:a16="http://schemas.microsoft.com/office/drawing/2014/main" id="{7BAA8002-7D62-8146-A58B-EFFA1A9546AC}"/>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0FF3345B-BF41-F642-BD92-E859FADB2215}" type="slidenum">
              <a:rPr lang="zh-CN" altLang="en-US"/>
              <a:pPr/>
              <a:t>‹#›</a:t>
            </a:fld>
            <a:r>
              <a:rPr lang="zh-CN" altLang="en-US"/>
              <a:t>页</a:t>
            </a:r>
          </a:p>
        </p:txBody>
      </p:sp>
    </p:spTree>
    <p:extLst>
      <p:ext uri="{BB962C8B-B14F-4D97-AF65-F5344CB8AC3E}">
        <p14:creationId xmlns:p14="http://schemas.microsoft.com/office/powerpoint/2010/main" val="163357591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9F042F2B-81AA-F342-9BBE-266960B24BEF}"/>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b="1">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4745A34A-DDBF-F840-8733-726A90FBDC4E}"/>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AC44B092-49BA-5946-B4D5-7072B66746C9}"/>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1F4EE816-1924-2243-BEF8-4F6D8EAE9EF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b="1">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b="1">
                <a:solidFill>
                  <a:schemeClr val="tx1"/>
                </a:solidFill>
                <a:latin typeface="仿宋" panose="02010609060101010101" pitchFamily="49" charset="-122"/>
                <a:ea typeface="仿宋" panose="02010609060101010101" pitchFamily="49" charset="-122"/>
              </a:defRPr>
            </a:lvl1pPr>
            <a:lvl2pPr>
              <a:defRPr sz="2000" b="1">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C66AC105-9E65-2841-80AB-5261AD9B2F52}"/>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b="1">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BC02DC76-8D08-B34D-BC8A-B2258913E930}" type="datetime1">
              <a:rPr lang="zh-CN" altLang="en-US"/>
              <a:pPr>
                <a:defRPr/>
              </a:pPr>
              <a:t>2024/3/15</a:t>
            </a:fld>
            <a:endParaRPr lang="zh-CN" altLang="en-US" dirty="0"/>
          </a:p>
        </p:txBody>
      </p:sp>
      <p:sp>
        <p:nvSpPr>
          <p:cNvPr id="9" name="Footer Placeholder 4">
            <a:extLst>
              <a:ext uri="{FF2B5EF4-FFF2-40B4-BE49-F238E27FC236}">
                <a16:creationId xmlns:a16="http://schemas.microsoft.com/office/drawing/2014/main" id="{49D6A910-0BFC-0F45-AFA4-759247761C57}"/>
              </a:ext>
            </a:extLst>
          </p:cNvPr>
          <p:cNvSpPr>
            <a:spLocks noGrp="1"/>
          </p:cNvSpPr>
          <p:nvPr>
            <p:ph type="ftr" sz="quarter" idx="11"/>
          </p:nvPr>
        </p:nvSpPr>
        <p:spPr>
          <a:xfrm>
            <a:off x="3884613" y="6356350"/>
            <a:ext cx="4394200" cy="365125"/>
          </a:xfrm>
        </p:spPr>
        <p:txBody>
          <a:bodyPr/>
          <a:lstStyle>
            <a:lvl1pPr>
              <a:defRPr>
                <a:latin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
        <p:nvSpPr>
          <p:cNvPr id="10" name="Slide Number Placeholder 5">
            <a:extLst>
              <a:ext uri="{FF2B5EF4-FFF2-40B4-BE49-F238E27FC236}">
                <a16:creationId xmlns:a16="http://schemas.microsoft.com/office/drawing/2014/main" id="{05CE8EBC-E76D-564E-B027-B0A6084E5C86}"/>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58C66FA9-3469-FB41-B790-DAD74C1D6E73}" type="slidenum">
              <a:rPr lang="zh-CN" altLang="en-US"/>
              <a:pPr/>
              <a:t>‹#›</a:t>
            </a:fld>
            <a:r>
              <a:rPr lang="zh-CN" altLang="en-US"/>
              <a:t>页</a:t>
            </a:r>
          </a:p>
        </p:txBody>
      </p:sp>
    </p:spTree>
    <p:extLst>
      <p:ext uri="{BB962C8B-B14F-4D97-AF65-F5344CB8AC3E}">
        <p14:creationId xmlns:p14="http://schemas.microsoft.com/office/powerpoint/2010/main" val="581598369"/>
      </p:ext>
    </p:extLst>
  </p:cSld>
  <p:clrMapOvr>
    <a:masterClrMapping/>
  </p:clrMapOvr>
  <p:transition spd="slow"/>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3FEE36B2-E517-A44F-90DA-2278DEDB34C3}"/>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DF6E0D83-80A6-6143-BDDD-EF8157FE4AEC}"/>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9BF3EDEE-070E-B843-9A18-9D50381D6041}"/>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823913" y="1466056"/>
            <a:ext cx="10515600" cy="4579144"/>
          </a:xfrm>
        </p:spPr>
        <p:txBody>
          <a:bodyPr/>
          <a:lstStyle>
            <a:lvl1pPr>
              <a:defRPr sz="2400">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lvl3pPr>
            <a:lvl4pPr>
              <a:defRPr sz="1600"/>
            </a:lvl4pPr>
            <a:lvl5pPr>
              <a:defRPr sz="16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Date Placeholder 3">
            <a:extLst>
              <a:ext uri="{FF2B5EF4-FFF2-40B4-BE49-F238E27FC236}">
                <a16:creationId xmlns:a16="http://schemas.microsoft.com/office/drawing/2014/main" id="{8E1FA4EF-3C5E-B541-AC11-D28BDC2D8158}"/>
              </a:ext>
            </a:extLst>
          </p:cNvPr>
          <p:cNvSpPr>
            <a:spLocks noGrp="1"/>
          </p:cNvSpPr>
          <p:nvPr>
            <p:ph type="dt" sz="half" idx="10"/>
          </p:nvPr>
        </p:nvSpPr>
        <p:spPr>
          <a:xfrm>
            <a:off x="7366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pPr>
              <a:defRPr/>
            </a:pPr>
            <a:fld id="{6AE06389-98B5-E844-BBBD-9FE356402E6D}" type="datetime1">
              <a:rPr lang="zh-CN" altLang="en-US"/>
              <a:pPr>
                <a:defRPr/>
              </a:pPr>
              <a:t>2024/3/15</a:t>
            </a:fld>
            <a:endParaRPr lang="zh-CN" altLang="en-US" dirty="0"/>
          </a:p>
        </p:txBody>
      </p:sp>
      <p:sp>
        <p:nvSpPr>
          <p:cNvPr id="8" name="Slide Number Placeholder 5">
            <a:extLst>
              <a:ext uri="{FF2B5EF4-FFF2-40B4-BE49-F238E27FC236}">
                <a16:creationId xmlns:a16="http://schemas.microsoft.com/office/drawing/2014/main" id="{11FDD01A-E769-3240-855D-E26239EED0DC}"/>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C59AC735-E8B6-FC45-9FA3-627E30187AB4}" type="slidenum">
              <a:rPr lang="zh-CN" altLang="en-US"/>
              <a:pPr/>
              <a:t>‹#›</a:t>
            </a:fld>
            <a:r>
              <a:rPr lang="zh-CN" altLang="en-US"/>
              <a:t>页</a:t>
            </a:r>
          </a:p>
        </p:txBody>
      </p:sp>
      <p:sp>
        <p:nvSpPr>
          <p:cNvPr id="9" name="Footer Placeholder 4">
            <a:extLst>
              <a:ext uri="{FF2B5EF4-FFF2-40B4-BE49-F238E27FC236}">
                <a16:creationId xmlns:a16="http://schemas.microsoft.com/office/drawing/2014/main" id="{FF0E851F-1615-8646-9E28-A074A90D57D3}"/>
              </a:ext>
            </a:extLst>
          </p:cNvPr>
          <p:cNvSpPr>
            <a:spLocks noGrp="1"/>
          </p:cNvSpPr>
          <p:nvPr>
            <p:ph type="ftr" sz="quarter" idx="12"/>
          </p:nvPr>
        </p:nvSpPr>
        <p:spPr>
          <a:xfrm>
            <a:off x="3884613" y="6356350"/>
            <a:ext cx="4394200" cy="365125"/>
          </a:xfrm>
        </p:spPr>
        <p:txBody>
          <a:bodyPr/>
          <a:lstStyle>
            <a:lvl1pPr>
              <a:defRPr>
                <a:latin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Tree>
    <p:extLst>
      <p:ext uri="{BB962C8B-B14F-4D97-AF65-F5344CB8AC3E}">
        <p14:creationId xmlns:p14="http://schemas.microsoft.com/office/powerpoint/2010/main" val="297527275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13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0A685E99-E198-A643-BD69-E61C76D643AA}"/>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F4E95E60-9E50-0B42-98AB-21844BF15603}"/>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EA81C4EE-4908-7044-9A73-C69D7D0E4948}"/>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50F8699D-BE60-9F4A-9E89-D61D6A8ABE0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BC7E2B40-F06F-3246-9892-3B8FFAA293BF}"/>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4B83333A-5E24-7944-8CF7-74357058736D}"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1CE6867D-D882-7C49-A64D-416225A6C8AF}"/>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2994B082-BA56-1C4C-A400-99F8C6D988D5}" type="slidenum">
              <a:rPr lang="zh-CN" altLang="en-US"/>
              <a:pPr/>
              <a:t>‹#›</a:t>
            </a:fld>
            <a:r>
              <a:rPr lang="zh-CN" altLang="en-US"/>
              <a:t>页</a:t>
            </a:r>
          </a:p>
        </p:txBody>
      </p:sp>
      <p:sp>
        <p:nvSpPr>
          <p:cNvPr id="10" name="Footer Placeholder 4">
            <a:extLst>
              <a:ext uri="{FF2B5EF4-FFF2-40B4-BE49-F238E27FC236}">
                <a16:creationId xmlns:a16="http://schemas.microsoft.com/office/drawing/2014/main" id="{AC525EE9-8AB5-6B49-BBE7-F14007BF44C4}"/>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2755151325"/>
      </p:ext>
    </p:extLst>
  </p:cSld>
  <p:clrMapOvr>
    <a:masterClrMapping/>
  </p:clrMapOvr>
  <p:transition spd="slow"/>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14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1270EE45-E732-5743-B5A5-C2D020E1B2AC}"/>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B93EA361-AFF6-814B-934B-BB0FEB9D2774}"/>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24C0A049-39CE-3843-A3D4-0D6AD42C7FB8}"/>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D95C4028-31C2-154A-B1C9-89E11045C42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7F8A2C1E-A20A-0946-82FE-CFC34CC7D7CC}"/>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03E6B57D-DD46-2D40-AD96-310425F02DC1}"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C78CD598-6AAC-7D4C-B434-53B51CF92184}"/>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BB7D0363-FF48-3549-8CAF-D618AB5CF207}" type="slidenum">
              <a:rPr lang="zh-CN" altLang="en-US"/>
              <a:pPr/>
              <a:t>‹#›</a:t>
            </a:fld>
            <a:r>
              <a:rPr lang="zh-CN" altLang="en-US"/>
              <a:t>页</a:t>
            </a:r>
          </a:p>
        </p:txBody>
      </p:sp>
      <p:sp>
        <p:nvSpPr>
          <p:cNvPr id="10" name="Footer Placeholder 4">
            <a:extLst>
              <a:ext uri="{FF2B5EF4-FFF2-40B4-BE49-F238E27FC236}">
                <a16:creationId xmlns:a16="http://schemas.microsoft.com/office/drawing/2014/main" id="{C6BA933D-4FBF-7440-8D4B-5D6DD75C663F}"/>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671370872"/>
      </p:ext>
    </p:extLst>
  </p:cSld>
  <p:clrMapOvr>
    <a:masterClrMapping/>
  </p:clrMapOvr>
  <p:transition spd="slow"/>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15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56AB3398-22D0-0B40-B4B3-4D506E285D67}"/>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3C2CB132-4708-4047-914C-67F4CB7811EF}"/>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8C0A92A2-ECE2-0F40-AF2C-ADEE52FD587F}"/>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AA517A36-1BC6-BB43-88CB-4B6DD5851F2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0216FEFD-81AA-3048-A0BC-E6671CE25B85}"/>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D060E152-A544-A645-ABE6-114D11A4F6E1}"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4DBB9121-320E-3A4F-A777-DA3204398BFC}"/>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5674C1ED-2BEE-CC43-BFD4-965F2295CE23}" type="slidenum">
              <a:rPr lang="zh-CN" altLang="en-US"/>
              <a:pPr/>
              <a:t>‹#›</a:t>
            </a:fld>
            <a:r>
              <a:rPr lang="zh-CN" altLang="en-US"/>
              <a:t>页</a:t>
            </a:r>
          </a:p>
        </p:txBody>
      </p:sp>
      <p:sp>
        <p:nvSpPr>
          <p:cNvPr id="10" name="Footer Placeholder 4">
            <a:extLst>
              <a:ext uri="{FF2B5EF4-FFF2-40B4-BE49-F238E27FC236}">
                <a16:creationId xmlns:a16="http://schemas.microsoft.com/office/drawing/2014/main" id="{39988FA5-4FE0-B243-97A3-CED454E5C7B6}"/>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1761548190"/>
      </p:ext>
    </p:extLst>
  </p:cSld>
  <p:clrMapOvr>
    <a:masterClrMapping/>
  </p:clrMapOvr>
  <p:transition spd="slow"/>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16_空白">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FA157974-F022-2245-AE9C-2DD7ED43B67E}"/>
              </a:ext>
            </a:extLst>
          </p:cNvPr>
          <p:cNvSpPr>
            <a:spLocks noChangeArrowheads="1"/>
          </p:cNvSpPr>
          <p:nvPr/>
        </p:nvSpPr>
        <p:spPr bwMode="auto">
          <a:xfrm>
            <a:off x="823913" y="407988"/>
            <a:ext cx="419100" cy="655637"/>
          </a:xfrm>
          <a:prstGeom prst="rect">
            <a:avLst/>
          </a:prstGeom>
          <a:blipFill dpi="0" rotWithShape="0">
            <a:blip r:embed="rId2"/>
            <a:srcRect/>
            <a:tile tx="0" ty="0" sx="100000" sy="100000" flip="none" algn="tl"/>
          </a:blipFill>
          <a:ln>
            <a:noFill/>
          </a:ln>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0" hangingPunct="0">
              <a:defRPr/>
            </a:pPr>
            <a:endParaRPr lang="zh-CN" altLang="en-US">
              <a:solidFill>
                <a:srgbClr val="FFFFFF"/>
              </a:solidFill>
              <a:latin typeface="Times New Roman" panose="02020603050405020304" pitchFamily="18" charset="0"/>
              <a:ea typeface="仿宋" panose="02010609060101010101" pitchFamily="49" charset="-122"/>
            </a:endParaRPr>
          </a:p>
        </p:txBody>
      </p:sp>
      <p:cxnSp>
        <p:nvCxnSpPr>
          <p:cNvPr id="5" name="直接连接符 8">
            <a:extLst>
              <a:ext uri="{FF2B5EF4-FFF2-40B4-BE49-F238E27FC236}">
                <a16:creationId xmlns:a16="http://schemas.microsoft.com/office/drawing/2014/main" id="{8114334F-562D-1249-89FD-07AAEB0AEDD3}"/>
              </a:ext>
            </a:extLst>
          </p:cNvPr>
          <p:cNvCxnSpPr/>
          <p:nvPr/>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61228BBE-1C0F-2745-A382-BC0F71005C75}"/>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图片 8">
            <a:extLst>
              <a:ext uri="{FF2B5EF4-FFF2-40B4-BE49-F238E27FC236}">
                <a16:creationId xmlns:a16="http://schemas.microsoft.com/office/drawing/2014/main" id="{3557F2DE-F32F-9145-B5DE-48CC6EF6BB0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noProof="1"/>
              <a:t>单击此处编辑母版标题样式</a:t>
            </a:r>
            <a:endParaRPr lang="en-US" noProof="1"/>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8" name="Date Placeholder 3">
            <a:extLst>
              <a:ext uri="{FF2B5EF4-FFF2-40B4-BE49-F238E27FC236}">
                <a16:creationId xmlns:a16="http://schemas.microsoft.com/office/drawing/2014/main" id="{817EA749-C17B-6F46-BBFA-8DE25A966158}"/>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FD870EC7-990E-AA4A-9784-F9CF34522893}" type="datetime1">
              <a:rPr lang="zh-CN" altLang="en-US"/>
              <a:pPr>
                <a:defRPr/>
              </a:pPr>
              <a:t>2024/3/15</a:t>
            </a:fld>
            <a:endParaRPr lang="zh-CN" altLang="en-US" dirty="0"/>
          </a:p>
        </p:txBody>
      </p:sp>
      <p:sp>
        <p:nvSpPr>
          <p:cNvPr id="9" name="Slide Number Placeholder 5">
            <a:extLst>
              <a:ext uri="{FF2B5EF4-FFF2-40B4-BE49-F238E27FC236}">
                <a16:creationId xmlns:a16="http://schemas.microsoft.com/office/drawing/2014/main" id="{FE0E107F-9818-5248-9278-F48D1EE3DFBE}"/>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9BDDFDCC-E1AC-034F-AC8D-282CF3D51C11}" type="slidenum">
              <a:rPr lang="zh-CN" altLang="en-US"/>
              <a:pPr/>
              <a:t>‹#›</a:t>
            </a:fld>
            <a:r>
              <a:rPr lang="zh-CN" altLang="en-US"/>
              <a:t>页</a:t>
            </a:r>
          </a:p>
        </p:txBody>
      </p:sp>
      <p:sp>
        <p:nvSpPr>
          <p:cNvPr id="10" name="Footer Placeholder 4">
            <a:extLst>
              <a:ext uri="{FF2B5EF4-FFF2-40B4-BE49-F238E27FC236}">
                <a16:creationId xmlns:a16="http://schemas.microsoft.com/office/drawing/2014/main" id="{FE2F6E22-A26C-F546-8D85-7B6E7F222868}"/>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515193129"/>
      </p:ext>
    </p:extLst>
  </p:cSld>
  <p:clrMapOvr>
    <a:masterClrMapping/>
  </p:clrMapOvr>
  <p:transition spd="slow"/>
</p:sldLayout>
</file>

<file path=ppt/slideLayouts/slideLayout7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600201"/>
            <a:ext cx="5384800"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4">
            <a:extLst>
              <a:ext uri="{FF2B5EF4-FFF2-40B4-BE49-F238E27FC236}">
                <a16:creationId xmlns:a16="http://schemas.microsoft.com/office/drawing/2014/main" id="{D64853F2-20D6-184B-84E0-44F8CBB91A0B}"/>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3EC323F4-4B2F-864F-8B59-BF92E31131B4}"/>
              </a:ext>
            </a:extLst>
          </p:cNvPr>
          <p:cNvSpPr>
            <a:spLocks noGrp="1" noChangeArrowheads="1"/>
          </p:cNvSpPr>
          <p:nvPr>
            <p:ph type="ftr" sz="quarter" idx="11"/>
          </p:nvPr>
        </p:nvSpPr>
        <p:spPr/>
        <p:txBody>
          <a:bodyPr rtlCol="0"/>
          <a:lstStyle>
            <a:lvl1pPr eaLnBrk="0" hangingPunct="0">
              <a:defRPr>
                <a:solidFill>
                  <a:prstClr val="black">
                    <a:tint val="75000"/>
                  </a:prstClr>
                </a:solidFill>
              </a:defRPr>
            </a:lvl1pPr>
          </a:lstStyle>
          <a:p>
            <a:pPr>
              <a:defRPr/>
            </a:pPr>
            <a:endParaRPr lang="en-US" altLang="zh-CN"/>
          </a:p>
        </p:txBody>
      </p:sp>
      <p:sp>
        <p:nvSpPr>
          <p:cNvPr id="7" name="Slide Number Placeholder 6">
            <a:extLst>
              <a:ext uri="{FF2B5EF4-FFF2-40B4-BE49-F238E27FC236}">
                <a16:creationId xmlns:a16="http://schemas.microsoft.com/office/drawing/2014/main" id="{11C1D28E-3358-3B4B-977A-0C511E639990}"/>
              </a:ext>
            </a:extLst>
          </p:cNvPr>
          <p:cNvSpPr>
            <a:spLocks noGrp="1" noChangeArrowheads="1"/>
          </p:cNvSpPr>
          <p:nvPr>
            <p:ph type="sldNum" sz="quarter" idx="12"/>
          </p:nvPr>
        </p:nvSpPr>
        <p:spPr/>
        <p:txBody>
          <a:bodyPr/>
          <a:lstStyle>
            <a:lvl1pPr>
              <a:defRPr/>
            </a:lvl1pPr>
          </a:lstStyle>
          <a:p>
            <a:fld id="{4A830E5A-C648-7B44-AE7D-F2F2588EE8D9}" type="slidenum">
              <a:rPr lang="en-US" altLang="zh-CN"/>
              <a:pPr/>
              <a:t>‹#›</a:t>
            </a:fld>
            <a:endParaRPr lang="en-US" altLang="zh-CN"/>
          </a:p>
        </p:txBody>
      </p:sp>
    </p:spTree>
    <p:extLst>
      <p:ext uri="{BB962C8B-B14F-4D97-AF65-F5344CB8AC3E}">
        <p14:creationId xmlns:p14="http://schemas.microsoft.com/office/powerpoint/2010/main" val="307274393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cSld name="2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77041B7-8AC6-A542-BE1F-CDFBC1BAE05C}"/>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
            <a:extLst>
              <a:ext uri="{FF2B5EF4-FFF2-40B4-BE49-F238E27FC236}">
                <a16:creationId xmlns:a16="http://schemas.microsoft.com/office/drawing/2014/main" id="{544EAD9D-F9C8-4847-9B3B-F81FE97790C6}"/>
              </a:ext>
            </a:extLst>
          </p:cNvPr>
          <p:cNvSpPr>
            <a:spLocks noGrp="1"/>
          </p:cNvSpPr>
          <p:nvPr>
            <p:ph type="ftr" sz="quarter" idx="11"/>
          </p:nvPr>
        </p:nvSpPr>
        <p:spPr/>
        <p:txBody>
          <a:bodyPr rtlCol="0"/>
          <a:lstStyle>
            <a:lvl1pPr eaLnBrk="0" hangingPunct="0">
              <a:defRPr>
                <a:solidFill>
                  <a:prstClr val="black">
                    <a:tint val="75000"/>
                  </a:prstClr>
                </a:solidFill>
              </a:defRPr>
            </a:lvl1pPr>
          </a:lstStyle>
          <a:p>
            <a:pPr>
              <a:defRPr/>
            </a:pPr>
            <a:endParaRPr lang="en-US" altLang="zh-CN"/>
          </a:p>
        </p:txBody>
      </p:sp>
      <p:sp>
        <p:nvSpPr>
          <p:cNvPr id="4" name="灯片编号占位符 3">
            <a:extLst>
              <a:ext uri="{FF2B5EF4-FFF2-40B4-BE49-F238E27FC236}">
                <a16:creationId xmlns:a16="http://schemas.microsoft.com/office/drawing/2014/main" id="{4A755CBC-52D5-E646-8A58-97BFFE682306}"/>
              </a:ext>
            </a:extLst>
          </p:cNvPr>
          <p:cNvSpPr>
            <a:spLocks noGrp="1"/>
          </p:cNvSpPr>
          <p:nvPr>
            <p:ph type="sldNum" sz="quarter" idx="12"/>
          </p:nvPr>
        </p:nvSpPr>
        <p:spPr/>
        <p:txBody>
          <a:bodyPr/>
          <a:lstStyle>
            <a:lvl1pPr>
              <a:defRPr/>
            </a:lvl1pPr>
          </a:lstStyle>
          <a:p>
            <a:fld id="{7CA22E69-CCB7-9442-9FC4-0EDC2A0DEF9A}" type="slidenum">
              <a:rPr lang="en-US" altLang="zh-CN"/>
              <a:pPr/>
              <a:t>‹#›</a:t>
            </a:fld>
            <a:endParaRPr lang="en-US" altLang="zh-CN"/>
          </a:p>
        </p:txBody>
      </p:sp>
    </p:spTree>
    <p:extLst>
      <p:ext uri="{BB962C8B-B14F-4D97-AF65-F5344CB8AC3E}">
        <p14:creationId xmlns:p14="http://schemas.microsoft.com/office/powerpoint/2010/main" val="109860485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B658AA9-FC52-2240-A286-2C22D46DD33F}"/>
              </a:ext>
            </a:extLst>
          </p:cNvPr>
          <p:cNvSpPr>
            <a:spLocks noChangeArrowheads="1"/>
          </p:cNvSpPr>
          <p:nvPr/>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3" name="Text Box 5">
            <a:extLst>
              <a:ext uri="{FF2B5EF4-FFF2-40B4-BE49-F238E27FC236}">
                <a16:creationId xmlns:a16="http://schemas.microsoft.com/office/drawing/2014/main" id="{CA5F7B5B-466B-8B47-BFE7-FB091B06BB35}"/>
              </a:ext>
            </a:extLst>
          </p:cNvPr>
          <p:cNvSpPr txBox="1">
            <a:spLocks noChangeArrowheads="1"/>
          </p:cNvSpPr>
          <p:nvPr/>
        </p:nvSpPr>
        <p:spPr bwMode="auto">
          <a:xfrm>
            <a:off x="1200150" y="0"/>
            <a:ext cx="902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solidFill>
                  <a:srgbClr val="FF0000"/>
                </a:solidFill>
                <a:latin typeface="Times New Roman" panose="02020603050405020304" pitchFamily="18" charset="0"/>
              </a:rPr>
              <a:t>密码学基础</a:t>
            </a:r>
            <a:r>
              <a:rPr lang="en-US" altLang="zh-CN" sz="2400" b="1">
                <a:solidFill>
                  <a:srgbClr val="FF0000"/>
                </a:solidFill>
                <a:latin typeface="Times New Roman" panose="02020603050405020304" pitchFamily="18" charset="0"/>
              </a:rPr>
              <a:t>---UESTC</a:t>
            </a:r>
          </a:p>
        </p:txBody>
      </p:sp>
    </p:spTree>
    <p:extLst>
      <p:ext uri="{BB962C8B-B14F-4D97-AF65-F5344CB8AC3E}">
        <p14:creationId xmlns:p14="http://schemas.microsoft.com/office/powerpoint/2010/main" val="767697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5" Type="http://schemas.openxmlformats.org/officeDocument/2006/relationships/slideLayout" Target="../slideLayouts/slideLayout16.xml"/><Relationship Id="rId61" Type="http://schemas.openxmlformats.org/officeDocument/2006/relationships/image" Target="../media/image1.jpeg"/><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image" Target="../media/image1.jpeg"/><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theme" Target="../theme/theme3.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AC55319-F694-A94F-9F7E-8F17599DB5F7}"/>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a:extLst>
              <a:ext uri="{FF2B5EF4-FFF2-40B4-BE49-F238E27FC236}">
                <a16:creationId xmlns:a16="http://schemas.microsoft.com/office/drawing/2014/main" id="{095C6DBE-00E2-4A44-9417-9D36C9F9838D}"/>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a:extLst>
              <a:ext uri="{FF2B5EF4-FFF2-40B4-BE49-F238E27FC236}">
                <a16:creationId xmlns:a16="http://schemas.microsoft.com/office/drawing/2014/main" id="{E276B8FC-116F-1247-9A8E-5E08CEA03E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0" hangingPunct="0">
              <a:defRPr sz="1200" b="1">
                <a:solidFill>
                  <a:prstClr val="black">
                    <a:tint val="75000"/>
                  </a:prstClr>
                </a:solidFill>
                <a:latin typeface="Calibri" panose="020F0502020204030204" pitchFamily="34" charset="0"/>
                <a:ea typeface="仿宋" panose="02010609060101010101" pitchFamily="49" charset="-122"/>
              </a:defRPr>
            </a:lvl1pPr>
          </a:lstStyle>
          <a:p>
            <a:pPr>
              <a:defRPr/>
            </a:pPr>
            <a:fld id="{8011A4E4-1C6B-064B-B903-60D46FBBC647}" type="datetime1">
              <a:rPr lang="zh-CN" altLang="en-US"/>
              <a:pPr>
                <a:defRPr/>
              </a:pPr>
              <a:t>2024/3/15</a:t>
            </a:fld>
            <a:endParaRPr lang="zh-CN" altLang="en-US"/>
          </a:p>
        </p:txBody>
      </p:sp>
      <p:sp>
        <p:nvSpPr>
          <p:cNvPr id="5" name="Footer Placeholder 4">
            <a:extLst>
              <a:ext uri="{FF2B5EF4-FFF2-40B4-BE49-F238E27FC236}">
                <a16:creationId xmlns:a16="http://schemas.microsoft.com/office/drawing/2014/main" id="{3EEDDCC3-0F22-DF4E-B3FA-573BBA5F348B}"/>
              </a:ext>
            </a:extLst>
          </p:cNvPr>
          <p:cNvSpPr>
            <a:spLocks noGrp="1"/>
          </p:cNvSpPr>
          <p:nvPr>
            <p:ph type="ftr" sz="quarter" idx="3"/>
          </p:nvPr>
        </p:nvSpPr>
        <p:spPr>
          <a:xfrm>
            <a:off x="3956050" y="6356350"/>
            <a:ext cx="427355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898989"/>
                </a:solidFill>
                <a:latin typeface="Calibri" panose="020F0502020204030204" pitchFamily="34" charset="0"/>
                <a:ea typeface="仿宋" pitchFamily="49" charset="-122"/>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
        <p:nvSpPr>
          <p:cNvPr id="6" name="Slide Number Placeholder 5">
            <a:extLst>
              <a:ext uri="{FF2B5EF4-FFF2-40B4-BE49-F238E27FC236}">
                <a16:creationId xmlns:a16="http://schemas.microsoft.com/office/drawing/2014/main" id="{973B9CBB-3513-A642-B583-9B2218591A2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898989"/>
                </a:solidFill>
                <a:latin typeface="Calibri" panose="020F0502020204030204" pitchFamily="34" charset="0"/>
                <a:ea typeface="仿宋" pitchFamily="49" charset="-122"/>
              </a:defRPr>
            </a:lvl1pPr>
          </a:lstStyle>
          <a:p>
            <a:r>
              <a:rPr lang="zh-CN" altLang="en-US"/>
              <a:t>共 </a:t>
            </a:r>
            <a:r>
              <a:rPr lang="en-US" altLang="zh-CN"/>
              <a:t>51 </a:t>
            </a:r>
            <a:r>
              <a:rPr lang="zh-CN" altLang="en-US"/>
              <a:t>页</a:t>
            </a:r>
            <a:r>
              <a:rPr lang="en-US" altLang="zh-CN"/>
              <a:t>/</a:t>
            </a:r>
            <a:r>
              <a:rPr lang="zh-CN" altLang="en-US"/>
              <a:t>第</a:t>
            </a:r>
            <a:fld id="{F2CFF8AC-CE62-7341-9C1C-33B2E65955D6}" type="slidenum">
              <a:rPr lang="zh-CN" altLang="en-US"/>
              <a:pPr/>
              <a:t>‹#›</a:t>
            </a:fld>
            <a:r>
              <a:rPr lang="zh-CN" altLang="en-US"/>
              <a:t>页</a:t>
            </a:r>
          </a:p>
        </p:txBody>
      </p:sp>
      <p:pic>
        <p:nvPicPr>
          <p:cNvPr id="1031" name="图片 8">
            <a:extLst>
              <a:ext uri="{FF2B5EF4-FFF2-40B4-BE49-F238E27FC236}">
                <a16:creationId xmlns:a16="http://schemas.microsoft.com/office/drawing/2014/main" id="{420DF8EF-7DD7-4F47-A1C8-ECAA926E23C6}"/>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53" r:id="rId1"/>
    <p:sldLayoutId id="2147484854" r:id="rId2"/>
    <p:sldLayoutId id="2147484855" r:id="rId3"/>
    <p:sldLayoutId id="2147484856" r:id="rId4"/>
    <p:sldLayoutId id="2147484857" r:id="rId5"/>
    <p:sldLayoutId id="2147484858" r:id="rId6"/>
    <p:sldLayoutId id="2147484859" r:id="rId7"/>
    <p:sldLayoutId id="2147484860" r:id="rId8"/>
    <p:sldLayoutId id="2147484861" r:id="rId9"/>
    <p:sldLayoutId id="2147484862" r:id="rId10"/>
    <p:sldLayoutId id="2147484863" r:id="rId11"/>
  </p:sldLayoutIdLst>
  <p:hf sldNum="0" hdr="0" ftr="0"/>
  <p:txStyles>
    <p:titleStyle>
      <a:lvl1pPr algn="l" rtl="0" eaLnBrk="0" fontAlgn="base" hangingPunct="0">
        <a:lnSpc>
          <a:spcPct val="90000"/>
        </a:lnSpc>
        <a:spcBef>
          <a:spcPct val="0"/>
        </a:spcBef>
        <a:spcAft>
          <a:spcPct val="0"/>
        </a:spcAft>
        <a:defRPr sz="4400" b="1" kern="1200">
          <a:solidFill>
            <a:schemeClr val="tx1"/>
          </a:solidFill>
          <a:latin typeface="+mj-lt"/>
          <a:ea typeface="仿宋" panose="02010609060101010101" pitchFamily="49" charset="-122"/>
          <a:cs typeface="+mj-cs"/>
        </a:defRPr>
      </a:lvl1pPr>
      <a:lvl2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2pPr>
      <a:lvl3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3pPr>
      <a:lvl4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4pPr>
      <a:lvl5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b="1" kern="1200">
          <a:solidFill>
            <a:schemeClr val="tx1"/>
          </a:solidFill>
          <a:latin typeface="+mn-lt"/>
          <a:ea typeface="仿宋" panose="02010609060101010101" pitchFamily="49"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b="1" kern="1200">
          <a:solidFill>
            <a:schemeClr val="tx1"/>
          </a:solidFill>
          <a:latin typeface="+mn-lt"/>
          <a:ea typeface="仿宋" panose="02010609060101010101" pitchFamily="49"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b="1" kern="1200">
          <a:solidFill>
            <a:schemeClr val="tx1"/>
          </a:solidFill>
          <a:latin typeface="+mn-lt"/>
          <a:ea typeface="仿宋" panose="02010609060101010101" pitchFamily="49"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b="1" kern="1200">
          <a:solidFill>
            <a:schemeClr val="tx1"/>
          </a:solidFill>
          <a:latin typeface="+mn-lt"/>
          <a:ea typeface="仿宋" panose="02010609060101010101" pitchFamily="49"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b="1" kern="1200">
          <a:solidFill>
            <a:schemeClr val="tx1"/>
          </a:solidFill>
          <a:latin typeface="+mn-lt"/>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6F5F1D0D-32B1-EF42-AA09-3C01FFF2C5C7}"/>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051" name="Text Placeholder 2">
            <a:extLst>
              <a:ext uri="{FF2B5EF4-FFF2-40B4-BE49-F238E27FC236}">
                <a16:creationId xmlns:a16="http://schemas.microsoft.com/office/drawing/2014/main" id="{F17C93AA-EE4F-754B-B84D-29A65C8944A2}"/>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pic>
        <p:nvPicPr>
          <p:cNvPr id="2052" name="图片 8">
            <a:extLst>
              <a:ext uri="{FF2B5EF4-FFF2-40B4-BE49-F238E27FC236}">
                <a16:creationId xmlns:a16="http://schemas.microsoft.com/office/drawing/2014/main" id="{01F4EB4D-A2BD-3546-9720-D060F5B55686}"/>
              </a:ext>
            </a:extLst>
          </p:cNvPr>
          <p:cNvPicPr>
            <a:picLocks noChangeAspect="1" noChangeArrowheads="1"/>
          </p:cNvPicPr>
          <p:nvPr userDrawn="1"/>
        </p:nvPicPr>
        <p:blipFill>
          <a:blip r:embed="rId61">
            <a:extLst>
              <a:ext uri="{28A0092B-C50C-407E-A947-70E740481C1C}">
                <a14:useLocalDpi xmlns:a14="http://schemas.microsoft.com/office/drawing/2010/main" val="0"/>
              </a:ext>
            </a:extLst>
          </a:blip>
          <a:srcRect/>
          <a:stretch>
            <a:fillRect/>
          </a:stretch>
        </p:blipFill>
        <p:spPr bwMode="auto">
          <a:xfrm>
            <a:off x="11237913" y="23813"/>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64" r:id="rId1"/>
    <p:sldLayoutId id="2147484865" r:id="rId2"/>
    <p:sldLayoutId id="2147484866" r:id="rId3"/>
    <p:sldLayoutId id="2147484867" r:id="rId4"/>
    <p:sldLayoutId id="2147484868" r:id="rId5"/>
    <p:sldLayoutId id="2147484869" r:id="rId6"/>
    <p:sldLayoutId id="2147484870" r:id="rId7"/>
    <p:sldLayoutId id="2147484871" r:id="rId8"/>
    <p:sldLayoutId id="2147484872" r:id="rId9"/>
    <p:sldLayoutId id="2147484873" r:id="rId10"/>
    <p:sldLayoutId id="2147484874" r:id="rId11"/>
    <p:sldLayoutId id="2147484875" r:id="rId12"/>
    <p:sldLayoutId id="2147484876" r:id="rId13"/>
    <p:sldLayoutId id="2147484877" r:id="rId14"/>
    <p:sldLayoutId id="2147484878" r:id="rId15"/>
    <p:sldLayoutId id="2147484879" r:id="rId16"/>
    <p:sldLayoutId id="2147484880" r:id="rId17"/>
    <p:sldLayoutId id="2147484881" r:id="rId18"/>
    <p:sldLayoutId id="2147484882" r:id="rId19"/>
    <p:sldLayoutId id="2147484883" r:id="rId20"/>
    <p:sldLayoutId id="2147484884" r:id="rId21"/>
    <p:sldLayoutId id="2147484885" r:id="rId22"/>
    <p:sldLayoutId id="2147484886" r:id="rId23"/>
    <p:sldLayoutId id="2147484887" r:id="rId24"/>
    <p:sldLayoutId id="2147484888" r:id="rId25"/>
    <p:sldLayoutId id="2147484852" r:id="rId26"/>
    <p:sldLayoutId id="2147484889" r:id="rId27"/>
    <p:sldLayoutId id="2147484890" r:id="rId28"/>
    <p:sldLayoutId id="2147484891" r:id="rId29"/>
    <p:sldLayoutId id="2147484892" r:id="rId30"/>
    <p:sldLayoutId id="2147484893" r:id="rId31"/>
    <p:sldLayoutId id="2147484894" r:id="rId32"/>
    <p:sldLayoutId id="2147484895" r:id="rId33"/>
    <p:sldLayoutId id="2147484896" r:id="rId34"/>
    <p:sldLayoutId id="2147484897" r:id="rId35"/>
    <p:sldLayoutId id="2147484898" r:id="rId36"/>
    <p:sldLayoutId id="2147484899" r:id="rId37"/>
    <p:sldLayoutId id="2147484900" r:id="rId38"/>
    <p:sldLayoutId id="2147484901" r:id="rId39"/>
    <p:sldLayoutId id="2147484902" r:id="rId40"/>
    <p:sldLayoutId id="2147484903" r:id="rId41"/>
    <p:sldLayoutId id="2147484904" r:id="rId42"/>
    <p:sldLayoutId id="2147484905" r:id="rId43"/>
    <p:sldLayoutId id="2147484906" r:id="rId44"/>
    <p:sldLayoutId id="2147484907" r:id="rId45"/>
    <p:sldLayoutId id="2147484908" r:id="rId46"/>
    <p:sldLayoutId id="2147484909" r:id="rId47"/>
    <p:sldLayoutId id="2147484910" r:id="rId48"/>
    <p:sldLayoutId id="2147484911" r:id="rId49"/>
    <p:sldLayoutId id="2147484912" r:id="rId50"/>
    <p:sldLayoutId id="2147484913" r:id="rId51"/>
    <p:sldLayoutId id="2147484914" r:id="rId52"/>
    <p:sldLayoutId id="2147484915" r:id="rId53"/>
    <p:sldLayoutId id="2147484916" r:id="rId54"/>
    <p:sldLayoutId id="2147484917" r:id="rId55"/>
    <p:sldLayoutId id="2147484918" r:id="rId56"/>
    <p:sldLayoutId id="2147484919" r:id="rId57"/>
    <p:sldLayoutId id="2147484920" r:id="rId58"/>
    <p:sldLayoutId id="2147484921" r:id="rId59"/>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仿宋" panose="02010609060101010101" pitchFamily="49"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仿宋" panose="02010609060101010101" pitchFamily="49"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仿宋" panose="02010609060101010101" pitchFamily="49"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仿宋" panose="02010609060101010101" pitchFamily="49"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仿宋" panose="02010609060101010101" pitchFamily="49"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EA772887-382D-6544-92D3-E34D13BA47CA}"/>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075" name="Text Placeholder 2">
            <a:extLst>
              <a:ext uri="{FF2B5EF4-FFF2-40B4-BE49-F238E27FC236}">
                <a16:creationId xmlns:a16="http://schemas.microsoft.com/office/drawing/2014/main" id="{1F9DD6D1-43CC-B84B-80F1-AD57E882B4D6}"/>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a:extLst>
              <a:ext uri="{FF2B5EF4-FFF2-40B4-BE49-F238E27FC236}">
                <a16:creationId xmlns:a16="http://schemas.microsoft.com/office/drawing/2014/main" id="{C3729F06-8D67-084E-8CFB-7500688CA7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0" hangingPunct="0">
              <a:defRPr sz="1200" b="1">
                <a:solidFill>
                  <a:prstClr val="black">
                    <a:tint val="75000"/>
                  </a:prstClr>
                </a:solidFill>
                <a:latin typeface="Calibri" panose="020F0502020204030204" pitchFamily="34" charset="0"/>
                <a:ea typeface="仿宋" panose="02010609060101010101" pitchFamily="49" charset="-122"/>
              </a:defRPr>
            </a:lvl1pPr>
          </a:lstStyle>
          <a:p>
            <a:pPr>
              <a:defRPr/>
            </a:pPr>
            <a:fld id="{635109F3-58D5-9245-9F4B-3928FE781801}" type="datetime1">
              <a:rPr lang="zh-CN" altLang="en-US"/>
              <a:pPr>
                <a:defRPr/>
              </a:pPr>
              <a:t>2024/3/15</a:t>
            </a:fld>
            <a:endParaRPr lang="zh-CN" altLang="en-US"/>
          </a:p>
        </p:txBody>
      </p:sp>
      <p:sp>
        <p:nvSpPr>
          <p:cNvPr id="5" name="Footer Placeholder 4">
            <a:extLst>
              <a:ext uri="{FF2B5EF4-FFF2-40B4-BE49-F238E27FC236}">
                <a16:creationId xmlns:a16="http://schemas.microsoft.com/office/drawing/2014/main" id="{5BC82DFC-CEEA-C144-A83B-C92E0869E815}"/>
              </a:ext>
            </a:extLst>
          </p:cNvPr>
          <p:cNvSpPr>
            <a:spLocks noGrp="1"/>
          </p:cNvSpPr>
          <p:nvPr>
            <p:ph type="ftr" sz="quarter" idx="3"/>
          </p:nvPr>
        </p:nvSpPr>
        <p:spPr>
          <a:xfrm>
            <a:off x="3956050" y="6356350"/>
            <a:ext cx="427355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898989"/>
                </a:solidFill>
                <a:latin typeface="Calibri" panose="020F0502020204030204" pitchFamily="34" charset="0"/>
                <a:ea typeface="仿宋" pitchFamily="49" charset="-122"/>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
        <p:nvSpPr>
          <p:cNvPr id="6" name="Slide Number Placeholder 5">
            <a:extLst>
              <a:ext uri="{FF2B5EF4-FFF2-40B4-BE49-F238E27FC236}">
                <a16:creationId xmlns:a16="http://schemas.microsoft.com/office/drawing/2014/main" id="{C53B540E-6F2F-784A-8CA2-86D2B256E11E}"/>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898989"/>
                </a:solidFill>
                <a:latin typeface="Calibri" panose="020F0502020204030204" pitchFamily="34" charset="0"/>
                <a:ea typeface="仿宋" pitchFamily="49" charset="-122"/>
              </a:defRPr>
            </a:lvl1pPr>
          </a:lstStyle>
          <a:p>
            <a:r>
              <a:rPr lang="zh-CN" altLang="en-US"/>
              <a:t>共 </a:t>
            </a:r>
            <a:r>
              <a:rPr lang="en-US" altLang="zh-CN"/>
              <a:t>51 </a:t>
            </a:r>
            <a:r>
              <a:rPr lang="zh-CN" altLang="en-US"/>
              <a:t>页</a:t>
            </a:r>
            <a:r>
              <a:rPr lang="en-US" altLang="zh-CN"/>
              <a:t>/</a:t>
            </a:r>
            <a:r>
              <a:rPr lang="zh-CN" altLang="en-US"/>
              <a:t>第</a:t>
            </a:r>
            <a:fld id="{DC912CA8-AD90-264D-98BB-8178652262F8}" type="slidenum">
              <a:rPr lang="zh-CN" altLang="en-US"/>
              <a:pPr/>
              <a:t>‹#›</a:t>
            </a:fld>
            <a:r>
              <a:rPr lang="zh-CN" altLang="en-US"/>
              <a:t>页</a:t>
            </a:r>
          </a:p>
        </p:txBody>
      </p:sp>
      <p:pic>
        <p:nvPicPr>
          <p:cNvPr id="3079" name="图片 8">
            <a:extLst>
              <a:ext uri="{FF2B5EF4-FFF2-40B4-BE49-F238E27FC236}">
                <a16:creationId xmlns:a16="http://schemas.microsoft.com/office/drawing/2014/main" id="{37EDFAE4-8EAD-7D49-B532-E2DD58A6E705}"/>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922" r:id="rId1"/>
    <p:sldLayoutId id="2147484923" r:id="rId2"/>
    <p:sldLayoutId id="2147484924" r:id="rId3"/>
    <p:sldLayoutId id="2147484925" r:id="rId4"/>
    <p:sldLayoutId id="2147484926" r:id="rId5"/>
    <p:sldLayoutId id="2147484927" r:id="rId6"/>
    <p:sldLayoutId id="2147484928" r:id="rId7"/>
    <p:sldLayoutId id="2147484929" r:id="rId8"/>
    <p:sldLayoutId id="2147484930" r:id="rId9"/>
    <p:sldLayoutId id="2147484931" r:id="rId10"/>
  </p:sldLayoutIdLst>
  <p:hf sldNum="0" hdr="0" ftr="0"/>
  <p:txStyles>
    <p:titleStyle>
      <a:lvl1pPr algn="l" rtl="0" eaLnBrk="0" fontAlgn="base" hangingPunct="0">
        <a:lnSpc>
          <a:spcPct val="90000"/>
        </a:lnSpc>
        <a:spcBef>
          <a:spcPct val="0"/>
        </a:spcBef>
        <a:spcAft>
          <a:spcPct val="0"/>
        </a:spcAft>
        <a:defRPr sz="4400" b="1" kern="1200">
          <a:solidFill>
            <a:schemeClr val="tx1"/>
          </a:solidFill>
          <a:latin typeface="+mj-lt"/>
          <a:ea typeface="仿宋" panose="02010609060101010101" pitchFamily="49" charset="-122"/>
          <a:cs typeface="+mj-cs"/>
        </a:defRPr>
      </a:lvl1pPr>
      <a:lvl2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2pPr>
      <a:lvl3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3pPr>
      <a:lvl4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4pPr>
      <a:lvl5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b="1" kern="1200">
          <a:solidFill>
            <a:schemeClr val="tx1"/>
          </a:solidFill>
          <a:latin typeface="+mn-lt"/>
          <a:ea typeface="仿宋" panose="02010609060101010101" pitchFamily="49"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b="1" kern="1200">
          <a:solidFill>
            <a:schemeClr val="tx1"/>
          </a:solidFill>
          <a:latin typeface="+mn-lt"/>
          <a:ea typeface="仿宋" panose="02010609060101010101" pitchFamily="49"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b="1" kern="1200">
          <a:solidFill>
            <a:schemeClr val="tx1"/>
          </a:solidFill>
          <a:latin typeface="+mn-lt"/>
          <a:ea typeface="仿宋" panose="02010609060101010101" pitchFamily="49"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b="1" kern="1200">
          <a:solidFill>
            <a:schemeClr val="tx1"/>
          </a:solidFill>
          <a:latin typeface="+mn-lt"/>
          <a:ea typeface="仿宋" panose="02010609060101010101" pitchFamily="49"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b="1" kern="1200">
          <a:solidFill>
            <a:schemeClr val="tx1"/>
          </a:solidFill>
          <a:latin typeface="+mn-lt"/>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image" Target="../media/image1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9.jpeg"/><Relationship Id="rId7" Type="http://schemas.openxmlformats.org/officeDocument/2006/relationships/image" Target="../media/image38.pn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7.png"/><Relationship Id="rId4" Type="http://schemas.openxmlformats.org/officeDocument/2006/relationships/oleObject" Target="../embeddings/oleObject1.bin"/><Relationship Id="rId9" Type="http://schemas.openxmlformats.org/officeDocument/2006/relationships/image" Target="../media/image41.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50.emf"/><Relationship Id="rId4" Type="http://schemas.openxmlformats.org/officeDocument/2006/relationships/oleObject" Target="../embeddings/oleObject3.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35.xml"/><Relationship Id="rId7" Type="http://schemas.openxmlformats.org/officeDocument/2006/relationships/image" Target="../media/image52.png"/><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51.emf"/><Relationship Id="rId4" Type="http://schemas.openxmlformats.org/officeDocument/2006/relationships/oleObject" Target="../embeddings/oleObject4.bin"/><Relationship Id="rId9" Type="http://schemas.openxmlformats.org/officeDocument/2006/relationships/image" Target="../media/image5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42.xml"/><Relationship Id="rId7" Type="http://schemas.openxmlformats.org/officeDocument/2006/relationships/image" Target="../media/image52.png"/><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51.emf"/><Relationship Id="rId4" Type="http://schemas.openxmlformats.org/officeDocument/2006/relationships/oleObject" Target="../embeddings/oleObject7.bin"/><Relationship Id="rId9" Type="http://schemas.openxmlformats.org/officeDocument/2006/relationships/image" Target="../media/image5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63.xml"/><Relationship Id="rId7" Type="http://schemas.openxmlformats.org/officeDocument/2006/relationships/image" Target="../media/image57.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1.bin"/><Relationship Id="rId5" Type="http://schemas.openxmlformats.org/officeDocument/2006/relationships/image" Target="../media/image56.emf"/><Relationship Id="rId4" Type="http://schemas.openxmlformats.org/officeDocument/2006/relationships/oleObject" Target="../embeddings/oleObject10.bin"/></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9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 Type="http://schemas.openxmlformats.org/officeDocument/2006/relationships/notesSlide" Target="../notesSlides/notesSlide69.xml"/><Relationship Id="rId16" Type="http://schemas.openxmlformats.org/officeDocument/2006/relationships/image" Target="../media/image79.png"/><Relationship Id="rId20"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97.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18" Type="http://schemas.openxmlformats.org/officeDocument/2006/relationships/image" Target="../media/image99.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17" Type="http://schemas.openxmlformats.org/officeDocument/2006/relationships/image" Target="../media/image98.png"/><Relationship Id="rId2" Type="http://schemas.openxmlformats.org/officeDocument/2006/relationships/notesSlide" Target="../notesSlides/notesSlide70.xml"/><Relationship Id="rId16"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5" Type="http://schemas.openxmlformats.org/officeDocument/2006/relationships/image" Target="../media/image96.png"/><Relationship Id="rId10" Type="http://schemas.openxmlformats.org/officeDocument/2006/relationships/image" Target="../media/image91.png"/><Relationship Id="rId19" Type="http://schemas.openxmlformats.org/officeDocument/2006/relationships/image" Target="../media/image100.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0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10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11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65.emf"/><Relationship Id="rId4" Type="http://schemas.openxmlformats.org/officeDocument/2006/relationships/oleObject" Target="../embeddings/oleObject12.bin"/></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66.emf"/><Relationship Id="rId4" Type="http://schemas.openxmlformats.org/officeDocument/2006/relationships/oleObject" Target="../embeddings/oleObject13.bin"/></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67.emf"/><Relationship Id="rId4" Type="http://schemas.openxmlformats.org/officeDocument/2006/relationships/oleObject" Target="../embeddings/oleObject14.bin"/></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68.emf"/><Relationship Id="rId4" Type="http://schemas.openxmlformats.org/officeDocument/2006/relationships/oleObject" Target="../embeddings/oleObject15.bin"/></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24.png"/><Relationship Id="rId5" Type="http://schemas.openxmlformats.org/officeDocument/2006/relationships/image" Target="../media/image107.emf"/><Relationship Id="rId4" Type="http://schemas.openxmlformats.org/officeDocument/2006/relationships/oleObject" Target="../embeddings/oleObject16.bin"/></Relationships>
</file>

<file path=ppt/slides/_rels/slide14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14.emf"/><Relationship Id="rId4" Type="http://schemas.openxmlformats.org/officeDocument/2006/relationships/oleObject" Target="../embeddings/oleObject17.bin"/></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23.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5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6.png"/><Relationship Id="rId7" Type="http://schemas.openxmlformats.org/officeDocument/2006/relationships/image" Target="../media/image137.png"/><Relationship Id="rId2" Type="http://schemas.openxmlformats.org/officeDocument/2006/relationships/notesSlide" Target="../notesSlides/notesSlide133.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7.png"/></Relationships>
</file>

<file path=ppt/slides/_rels/slide16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41.xml"/><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6.png"/></Relationships>
</file>

<file path=ppt/slides/_rels/slide17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9.xml"/></Relationships>
</file>

<file path=ppt/slides/_rels/slide17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副标题 2">
            <a:extLst>
              <a:ext uri="{FF2B5EF4-FFF2-40B4-BE49-F238E27FC236}">
                <a16:creationId xmlns:a16="http://schemas.microsoft.com/office/drawing/2014/main" id="{DDF96E85-41AB-0448-9CE9-4EEC35B52D6E}"/>
              </a:ext>
            </a:extLst>
          </p:cNvPr>
          <p:cNvSpPr>
            <a:spLocks noGrp="1" noChangeArrowheads="1"/>
          </p:cNvSpPr>
          <p:nvPr>
            <p:ph type="subTitle" idx="1"/>
          </p:nvPr>
        </p:nvSpPr>
        <p:spPr>
          <a:xfrm>
            <a:off x="0" y="3048000"/>
            <a:ext cx="12192000" cy="790575"/>
          </a:xfrm>
        </p:spPr>
        <p:txBody>
          <a:bodyPr/>
          <a:lstStyle/>
          <a:p>
            <a:r>
              <a:rPr lang="zh-CN" altLang="en-US" sz="3600" b="1" dirty="0"/>
              <a:t>第二章 分组密码</a:t>
            </a:r>
            <a:endParaRPr lang="en-US" altLang="zh-CN" sz="3600" b="1" dirty="0"/>
          </a:p>
        </p:txBody>
      </p:sp>
      <p:cxnSp>
        <p:nvCxnSpPr>
          <p:cNvPr id="3" name="直接连接符 2">
            <a:extLst>
              <a:ext uri="{FF2B5EF4-FFF2-40B4-BE49-F238E27FC236}">
                <a16:creationId xmlns:a16="http://schemas.microsoft.com/office/drawing/2014/main" id="{53A8159B-5C4F-D54A-9E36-D162CFE880D3}"/>
              </a:ext>
            </a:extLst>
          </p:cNvPr>
          <p:cNvCxnSpPr/>
          <p:nvPr/>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4">
            <a:extLst>
              <a:ext uri="{FF2B5EF4-FFF2-40B4-BE49-F238E27FC236}">
                <a16:creationId xmlns:a16="http://schemas.microsoft.com/office/drawing/2014/main" id="{D43AB6A4-262D-7842-8867-921054A243A9}"/>
              </a:ext>
            </a:extLst>
          </p:cNvPr>
          <p:cNvSpPr>
            <a:spLocks noGrp="1" noChangeArrowheads="1"/>
          </p:cNvSpPr>
          <p:nvPr>
            <p:ph type="title"/>
          </p:nvPr>
        </p:nvSpPr>
        <p:spPr>
          <a:xfrm>
            <a:off x="1465263" y="365125"/>
            <a:ext cx="9037637" cy="668338"/>
          </a:xfrm>
        </p:spPr>
        <p:txBody>
          <a:bodyPr/>
          <a:lstStyle/>
          <a:p>
            <a:pPr>
              <a:lnSpc>
                <a:spcPct val="150000"/>
              </a:lnSpc>
              <a:spcBef>
                <a:spcPct val="50000"/>
              </a:spcBef>
            </a:pPr>
            <a:r>
              <a:rPr lang="en-US" altLang="zh-CN" sz="2800" b="1" dirty="0"/>
              <a:t>Feistel</a:t>
            </a:r>
            <a:r>
              <a:rPr lang="zh-CN" altLang="en-US" sz="2800" b="1" dirty="0"/>
              <a:t>密码结构 </a:t>
            </a:r>
            <a:r>
              <a:rPr lang="en-US" altLang="zh-CN" sz="2800" b="1" dirty="0"/>
              <a:t>VS SP</a:t>
            </a:r>
            <a:r>
              <a:rPr lang="zh-CN" altLang="en-US" sz="2800" b="1" dirty="0"/>
              <a:t>网络</a:t>
            </a:r>
            <a:endParaRPr lang="zh-CN" altLang="en-US" sz="2600" dirty="0">
              <a:solidFill>
                <a:srgbClr val="1F4E79"/>
              </a:solidFill>
            </a:endParaRPr>
          </a:p>
        </p:txBody>
      </p:sp>
      <p:pic>
        <p:nvPicPr>
          <p:cNvPr id="105474" name="Picture 3" descr="xd24">
            <a:extLst>
              <a:ext uri="{FF2B5EF4-FFF2-40B4-BE49-F238E27FC236}">
                <a16:creationId xmlns:a16="http://schemas.microsoft.com/office/drawing/2014/main" id="{10EEF140-9A8B-E34C-8A66-A43BDE19D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781" y="1465263"/>
            <a:ext cx="3352713"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内容占位符 3">
            <a:extLst>
              <a:ext uri="{FF2B5EF4-FFF2-40B4-BE49-F238E27FC236}">
                <a16:creationId xmlns:a16="http://schemas.microsoft.com/office/drawing/2014/main" id="{E107A0F7-FAB0-4FA2-BE6F-84FA5310B4BE}"/>
              </a:ext>
            </a:extLst>
          </p:cNvPr>
          <p:cNvPicPr>
            <a:picLocks noGrp="1" noChangeAspect="1"/>
          </p:cNvPicPr>
          <p:nvPr>
            <p:ph idx="1"/>
          </p:nvPr>
        </p:nvPicPr>
        <p:blipFill>
          <a:blip r:embed="rId4"/>
          <a:stretch>
            <a:fillRect/>
          </a:stretch>
        </p:blipFill>
        <p:spPr>
          <a:xfrm>
            <a:off x="-152236" y="2317214"/>
            <a:ext cx="6248236" cy="2223572"/>
          </a:xfrm>
          <a:prstGeom prst="rect">
            <a:avLst/>
          </a:prstGeom>
        </p:spPr>
      </p:pic>
    </p:spTree>
    <p:extLst>
      <p:ext uri="{BB962C8B-B14F-4D97-AF65-F5344CB8AC3E}">
        <p14:creationId xmlns:p14="http://schemas.microsoft.com/office/powerpoint/2010/main" val="261565977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3103C6-6F50-409E-84F0-BE0476A86B42}"/>
              </a:ext>
            </a:extLst>
          </p:cNvPr>
          <p:cNvSpPr>
            <a:spLocks noGrp="1"/>
          </p:cNvSpPr>
          <p:nvPr>
            <p:ph type="title"/>
          </p:nvPr>
        </p:nvSpPr>
        <p:spPr/>
        <p:txBody>
          <a:bodyPr>
            <a:normAutofit fontScale="90000"/>
          </a:bodyPr>
          <a:lstStyle/>
          <a:p>
            <a:r>
              <a:rPr lang="en-US" altLang="zh-CN" b="1" dirty="0"/>
              <a:t>Feistel</a:t>
            </a:r>
            <a:r>
              <a:rPr lang="zh-CN" altLang="en-US" b="1" dirty="0"/>
              <a:t>密码结构 </a:t>
            </a:r>
            <a:r>
              <a:rPr lang="en-US" altLang="zh-CN" b="1" dirty="0"/>
              <a:t>VS SP</a:t>
            </a:r>
            <a:r>
              <a:rPr lang="zh-CN" altLang="en-US" b="1" dirty="0"/>
              <a:t>网络</a:t>
            </a:r>
            <a:br>
              <a:rPr lang="en-US" altLang="zh-CN" b="1" dirty="0"/>
            </a:br>
            <a:endParaRPr lang="zh-CN" altLang="en-US" dirty="0"/>
          </a:p>
        </p:txBody>
      </p:sp>
      <p:pic>
        <p:nvPicPr>
          <p:cNvPr id="4" name="内容占位符 3">
            <a:extLst>
              <a:ext uri="{FF2B5EF4-FFF2-40B4-BE49-F238E27FC236}">
                <a16:creationId xmlns:a16="http://schemas.microsoft.com/office/drawing/2014/main" id="{2105B192-FF4F-4274-8F34-16289592B4BC}"/>
              </a:ext>
            </a:extLst>
          </p:cNvPr>
          <p:cNvPicPr>
            <a:picLocks noGrp="1" noChangeAspect="1"/>
          </p:cNvPicPr>
          <p:nvPr>
            <p:ph idx="1"/>
          </p:nvPr>
        </p:nvPicPr>
        <p:blipFill>
          <a:blip r:embed="rId2"/>
          <a:stretch>
            <a:fillRect/>
          </a:stretch>
        </p:blipFill>
        <p:spPr>
          <a:xfrm>
            <a:off x="76358" y="2171575"/>
            <a:ext cx="6248236" cy="2223572"/>
          </a:xfrm>
          <a:prstGeom prst="rect">
            <a:avLst/>
          </a:prstGeom>
        </p:spPr>
      </p:pic>
      <p:pic>
        <p:nvPicPr>
          <p:cNvPr id="5" name="图片 4">
            <a:extLst>
              <a:ext uri="{FF2B5EF4-FFF2-40B4-BE49-F238E27FC236}">
                <a16:creationId xmlns:a16="http://schemas.microsoft.com/office/drawing/2014/main" id="{0F8A28FE-298F-49E9-923F-8283D6DC7BB6}"/>
              </a:ext>
            </a:extLst>
          </p:cNvPr>
          <p:cNvPicPr>
            <a:picLocks noChangeAspect="1"/>
          </p:cNvPicPr>
          <p:nvPr/>
        </p:nvPicPr>
        <p:blipFill>
          <a:blip r:embed="rId3"/>
          <a:stretch>
            <a:fillRect/>
          </a:stretch>
        </p:blipFill>
        <p:spPr>
          <a:xfrm>
            <a:off x="7086574" y="2370202"/>
            <a:ext cx="2591162" cy="1724266"/>
          </a:xfrm>
          <a:prstGeom prst="rect">
            <a:avLst/>
          </a:prstGeom>
        </p:spPr>
      </p:pic>
    </p:spTree>
    <p:extLst>
      <p:ext uri="{BB962C8B-B14F-4D97-AF65-F5344CB8AC3E}">
        <p14:creationId xmlns:p14="http://schemas.microsoft.com/office/powerpoint/2010/main" val="34076773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680EF13C-1B7D-9E4C-BE50-99097091CA5E}"/>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latin typeface="Times New Roman" panose="02020603050405020304" pitchFamily="18" charset="0"/>
              </a:rPr>
              <a:t>分组密码概述</a:t>
            </a:r>
            <a:endParaRPr lang="zh-CN" altLang="en-US" sz="4800">
              <a:solidFill>
                <a:schemeClr val="hlink"/>
              </a:solidFill>
              <a:latin typeface="Times New Roman" panose="02020603050405020304" pitchFamily="18" charset="0"/>
            </a:endParaRPr>
          </a:p>
        </p:txBody>
      </p:sp>
      <p:sp>
        <p:nvSpPr>
          <p:cNvPr id="89090" name="Rectangle 3">
            <a:extLst>
              <a:ext uri="{FF2B5EF4-FFF2-40B4-BE49-F238E27FC236}">
                <a16:creationId xmlns:a16="http://schemas.microsoft.com/office/drawing/2014/main" id="{D3B7BEAB-A9DA-4F43-8CAD-0D11849CB1FA}"/>
              </a:ext>
            </a:extLst>
          </p:cNvPr>
          <p:cNvSpPr>
            <a:spLocks noGrp="1" noChangeArrowheads="1"/>
          </p:cNvSpPr>
          <p:nvPr>
            <p:ph idx="1"/>
          </p:nvPr>
        </p:nvSpPr>
        <p:spPr>
          <a:xfrm>
            <a:off x="823913" y="1465263"/>
            <a:ext cx="10515600" cy="4579937"/>
          </a:xfrm>
        </p:spPr>
        <p:txBody>
          <a:bodyPr/>
          <a:lstStyle/>
          <a:p>
            <a:pPr eaLnBrk="1" hangingPunct="1">
              <a:spcAft>
                <a:spcPts val="600"/>
              </a:spcAft>
            </a:pPr>
            <a:r>
              <a:rPr lang="zh-CN" altLang="en-US" sz="2800">
                <a:latin typeface="Times New Roman" panose="02020603050405020304" pitchFamily="18" charset="0"/>
              </a:rPr>
              <a:t>分组密码是许多系统安全的一个重要组成部分。可用于构造</a:t>
            </a:r>
          </a:p>
          <a:p>
            <a:pPr lvl="1" eaLnBrk="1" hangingPunct="1">
              <a:spcAft>
                <a:spcPts val="600"/>
              </a:spcAft>
            </a:pPr>
            <a:r>
              <a:rPr lang="zh-CN" altLang="en-US" sz="2400">
                <a:latin typeface="Times New Roman" panose="02020603050405020304" pitchFamily="18" charset="0"/>
              </a:rPr>
              <a:t>伪随机数生成器</a:t>
            </a:r>
          </a:p>
          <a:p>
            <a:pPr lvl="1" eaLnBrk="1" hangingPunct="1">
              <a:spcAft>
                <a:spcPts val="600"/>
              </a:spcAft>
            </a:pPr>
            <a:r>
              <a:rPr lang="zh-CN" altLang="en-US" sz="2400">
                <a:latin typeface="Times New Roman" panose="02020603050405020304" pitchFamily="18" charset="0"/>
              </a:rPr>
              <a:t>流密码</a:t>
            </a:r>
          </a:p>
          <a:p>
            <a:pPr lvl="1" eaLnBrk="1" hangingPunct="1">
              <a:spcAft>
                <a:spcPts val="600"/>
              </a:spcAft>
            </a:pPr>
            <a:r>
              <a:rPr lang="zh-CN" altLang="en-US" sz="2400">
                <a:latin typeface="Times New Roman" panose="02020603050405020304" pitchFamily="18" charset="0"/>
              </a:rPr>
              <a:t>消息认证码</a:t>
            </a:r>
            <a:r>
              <a:rPr lang="en-US" altLang="zh-CN" sz="2400">
                <a:latin typeface="Times New Roman" panose="02020603050405020304" pitchFamily="18" charset="0"/>
              </a:rPr>
              <a:t>(MAC)</a:t>
            </a:r>
            <a:r>
              <a:rPr lang="zh-CN" altLang="en-US" sz="2400">
                <a:latin typeface="Times New Roman" panose="02020603050405020304" pitchFamily="18" charset="0"/>
              </a:rPr>
              <a:t>和杂凑函数</a:t>
            </a:r>
          </a:p>
          <a:p>
            <a:pPr lvl="1" eaLnBrk="1" hangingPunct="1">
              <a:spcAft>
                <a:spcPts val="600"/>
              </a:spcAft>
            </a:pPr>
            <a:r>
              <a:rPr lang="zh-CN" altLang="en-US" sz="2400">
                <a:latin typeface="Times New Roman" panose="02020603050405020304" pitchFamily="18" charset="0"/>
              </a:rPr>
              <a:t>消息认证技术、数据完整性机制、实体认证协议以及单钥数字签字体制的核心组成部分</a:t>
            </a:r>
            <a:r>
              <a:rPr lang="zh-CN" altLang="en-US">
                <a:latin typeface="Times New Roman" panose="02020603050405020304" pitchFamily="18" charset="0"/>
              </a:rPr>
              <a:t>。</a:t>
            </a:r>
          </a:p>
          <a:p>
            <a:pPr eaLnBrk="1" hangingPunct="1">
              <a:buFont typeface="Wingdings" pitchFamily="2" charset="2"/>
              <a:buNone/>
            </a:pPr>
            <a:r>
              <a:rPr lang="zh-CN" altLang="en-US">
                <a:latin typeface="Times New Roman" panose="02020603050405020304" pitchFamily="18" charset="0"/>
              </a:rPr>
              <a:t>    </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29698706-DCB1-D34A-92D9-E9CD1A2CBDAC}"/>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应用中对于分组码的要求</a:t>
            </a:r>
          </a:p>
        </p:txBody>
      </p:sp>
      <p:sp>
        <p:nvSpPr>
          <p:cNvPr id="8195" name="Rectangle 3">
            <a:extLst>
              <a:ext uri="{FF2B5EF4-FFF2-40B4-BE49-F238E27FC236}">
                <a16:creationId xmlns:a16="http://schemas.microsoft.com/office/drawing/2014/main" id="{E8BCA839-B817-944E-BCCF-5F0997E18338}"/>
              </a:ext>
            </a:extLst>
          </p:cNvPr>
          <p:cNvSpPr>
            <a:spLocks noGrp="1" noChangeArrowheads="1"/>
          </p:cNvSpPr>
          <p:nvPr>
            <p:ph idx="1"/>
          </p:nvPr>
        </p:nvSpPr>
        <p:spPr>
          <a:xfrm>
            <a:off x="823913" y="1465263"/>
            <a:ext cx="10515600" cy="4579937"/>
          </a:xfrm>
        </p:spPr>
        <p:txBody>
          <a:bodyPr/>
          <a:lstStyle/>
          <a:p>
            <a:pPr eaLnBrk="1" hangingPunct="1">
              <a:spcAft>
                <a:spcPts val="600"/>
              </a:spcAft>
            </a:pPr>
            <a:r>
              <a:rPr lang="zh-CN" altLang="en-US" sz="2800"/>
              <a:t>安全性</a:t>
            </a:r>
          </a:p>
          <a:p>
            <a:pPr eaLnBrk="1" hangingPunct="1">
              <a:spcAft>
                <a:spcPts val="600"/>
              </a:spcAft>
            </a:pPr>
            <a:r>
              <a:rPr lang="zh-CN" altLang="en-US" sz="2800"/>
              <a:t>运行速度</a:t>
            </a:r>
          </a:p>
          <a:p>
            <a:pPr eaLnBrk="1" hangingPunct="1">
              <a:spcAft>
                <a:spcPts val="600"/>
              </a:spcAft>
            </a:pPr>
            <a:r>
              <a:rPr lang="zh-CN" altLang="en-US" sz="2800"/>
              <a:t>存储量</a:t>
            </a:r>
            <a:r>
              <a:rPr lang="en-US" altLang="zh-CN" sz="2800"/>
              <a:t>(</a:t>
            </a:r>
            <a:r>
              <a:rPr lang="zh-CN" altLang="en-US" sz="2800"/>
              <a:t>程序的长度、数据分组长度、高速缓存大小</a:t>
            </a:r>
            <a:r>
              <a:rPr lang="en-US" altLang="zh-CN" sz="2800"/>
              <a:t>)</a:t>
            </a:r>
          </a:p>
          <a:p>
            <a:pPr eaLnBrk="1" hangingPunct="1">
              <a:spcAft>
                <a:spcPts val="600"/>
              </a:spcAft>
            </a:pPr>
            <a:r>
              <a:rPr lang="zh-CN" altLang="en-US" sz="2800"/>
              <a:t>实现平台</a:t>
            </a:r>
            <a:r>
              <a:rPr lang="en-US" altLang="zh-CN" sz="2800"/>
              <a:t>(</a:t>
            </a:r>
            <a:r>
              <a:rPr lang="zh-CN" altLang="en-US" sz="2800"/>
              <a:t>硬、软件、芯片</a:t>
            </a:r>
            <a:r>
              <a:rPr lang="en-US" altLang="zh-CN" sz="2800"/>
              <a:t>)</a:t>
            </a:r>
          </a:p>
          <a:p>
            <a:pPr eaLnBrk="1" hangingPunct="1">
              <a:spcAft>
                <a:spcPts val="600"/>
              </a:spcAft>
            </a:pPr>
            <a:r>
              <a:rPr lang="zh-CN" altLang="en-US" sz="2800"/>
              <a:t>运行模式</a:t>
            </a:r>
          </a:p>
          <a:p>
            <a:pPr eaLnBrk="1" hangingPunct="1">
              <a:spcAft>
                <a:spcPts val="600"/>
              </a:spcAft>
            </a:pPr>
            <a:endParaRPr lang="zh-CN" altLang="en-US" sz="2800"/>
          </a:p>
          <a:p>
            <a:pPr eaLnBrk="1" hangingPunct="1"/>
            <a:endParaRPr lang="en-US" altLang="zh-CN"/>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33CF05D3-FDF1-0C4D-A6A7-A6C19B656EEC}"/>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分组密码概述</a:t>
            </a:r>
          </a:p>
        </p:txBody>
      </p:sp>
      <p:sp>
        <p:nvSpPr>
          <p:cNvPr id="92162" name="Rectangle 3">
            <a:extLst>
              <a:ext uri="{FF2B5EF4-FFF2-40B4-BE49-F238E27FC236}">
                <a16:creationId xmlns:a16="http://schemas.microsoft.com/office/drawing/2014/main" id="{46A16963-720E-134C-BDB4-032A0AC52BF0}"/>
              </a:ext>
            </a:extLst>
          </p:cNvPr>
          <p:cNvSpPr>
            <a:spLocks noGrp="1" noChangeArrowheads="1"/>
          </p:cNvSpPr>
          <p:nvPr>
            <p:ph idx="1"/>
          </p:nvPr>
        </p:nvSpPr>
        <p:spPr>
          <a:xfrm>
            <a:off x="823913" y="1465263"/>
            <a:ext cx="10515600" cy="4579937"/>
          </a:xfrm>
        </p:spPr>
        <p:txBody>
          <a:bodyPr/>
          <a:lstStyle/>
          <a:p>
            <a:pPr eaLnBrk="1" hangingPunct="1">
              <a:spcAft>
                <a:spcPts val="600"/>
              </a:spcAft>
              <a:buFont typeface="Arial" panose="020B0604020202020204" pitchFamily="34" charset="0"/>
              <a:buNone/>
            </a:pPr>
            <a:r>
              <a:rPr lang="en-US" altLang="zh-CN">
                <a:latin typeface="Times New Roman" panose="02020603050405020304" pitchFamily="18" charset="0"/>
              </a:rPr>
              <a:t>    </a:t>
            </a:r>
            <a:r>
              <a:rPr lang="zh-CN" altLang="en-US">
                <a:latin typeface="Times New Roman" panose="02020603050405020304" pitchFamily="18" charset="0"/>
              </a:rPr>
              <a:t>明文序列 </a:t>
            </a:r>
            <a:r>
              <a:rPr lang="en-US" altLang="zh-CN" i="1">
                <a:latin typeface="Times New Roman" panose="02020603050405020304" pitchFamily="18" charset="0"/>
              </a:rPr>
              <a:t>x</a:t>
            </a:r>
            <a:r>
              <a:rPr lang="en-US" altLang="zh-CN" baseline="-25000">
                <a:latin typeface="Times New Roman" panose="02020603050405020304" pitchFamily="18" charset="0"/>
              </a:rPr>
              <a:t>0</a:t>
            </a:r>
            <a:r>
              <a:rPr lang="en-US" altLang="zh-CN">
                <a:latin typeface="Times New Roman" panose="02020603050405020304" pitchFamily="18" charset="0"/>
              </a:rPr>
              <a:t>, </a:t>
            </a:r>
            <a:r>
              <a:rPr lang="en-US" altLang="zh-CN" i="1">
                <a:latin typeface="Times New Roman" panose="02020603050405020304" pitchFamily="18" charset="0"/>
              </a:rPr>
              <a:t>x</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x</a:t>
            </a:r>
            <a:r>
              <a:rPr lang="en-US" altLang="zh-CN" baseline="-25000">
                <a:latin typeface="Times New Roman" panose="02020603050405020304" pitchFamily="18" charset="0"/>
              </a:rPr>
              <a:t>n-1</a:t>
            </a:r>
            <a:r>
              <a:rPr lang="en-US" altLang="zh-CN">
                <a:latin typeface="Times New Roman" panose="02020603050405020304" pitchFamily="18" charset="0"/>
              </a:rPr>
              <a:t>,…</a:t>
            </a:r>
            <a:r>
              <a:rPr lang="zh-CN" altLang="en-US">
                <a:latin typeface="Times New Roman" panose="02020603050405020304" pitchFamily="18" charset="0"/>
              </a:rPr>
              <a:t>，分组长度为</a:t>
            </a:r>
            <a:r>
              <a:rPr lang="en-US" altLang="zh-CN">
                <a:latin typeface="Times New Roman" panose="02020603050405020304" pitchFamily="18" charset="0"/>
              </a:rPr>
              <a:t>n</a:t>
            </a:r>
          </a:p>
          <a:p>
            <a:pPr eaLnBrk="1" hangingPunct="1">
              <a:spcAft>
                <a:spcPts val="600"/>
              </a:spcAft>
              <a:buFont typeface="Arial" panose="020B0604020202020204" pitchFamily="34" charset="0"/>
              <a:buNone/>
            </a:pPr>
            <a:r>
              <a:rPr lang="en-US" altLang="zh-CN">
                <a:latin typeface="Times New Roman" panose="02020603050405020304" pitchFamily="18" charset="0"/>
              </a:rPr>
              <a:t>    </a:t>
            </a:r>
            <a:r>
              <a:rPr lang="zh-CN" altLang="en-US">
                <a:latin typeface="Times New Roman" panose="02020603050405020304" pitchFamily="18" charset="0"/>
              </a:rPr>
              <a:t>加密函数 </a:t>
            </a:r>
            <a:r>
              <a:rPr lang="en-US" altLang="zh-CN">
                <a:latin typeface="Times New Roman" panose="02020603050405020304" pitchFamily="18" charset="0"/>
              </a:rPr>
              <a:t>E: </a:t>
            </a:r>
            <a:r>
              <a:rPr lang="en-US" altLang="zh-CN" i="1">
                <a:latin typeface="Times New Roman" panose="02020603050405020304" pitchFamily="18" charset="0"/>
              </a:rPr>
              <a:t>V</a:t>
            </a:r>
            <a:r>
              <a:rPr lang="en-US" altLang="zh-CN" baseline="-25000">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K</a:t>
            </a:r>
            <a:r>
              <a:rPr lang="en-US" altLang="zh-CN">
                <a:latin typeface="Times New Roman" panose="02020603050405020304" pitchFamily="18" charset="0"/>
                <a:sym typeface="Symbol" pitchFamily="2" charset="2"/>
              </a:rPr>
              <a:t></a:t>
            </a:r>
            <a:r>
              <a:rPr lang="en-US" altLang="zh-CN" i="1">
                <a:latin typeface="Times New Roman" panose="02020603050405020304" pitchFamily="18" charset="0"/>
              </a:rPr>
              <a:t>V</a:t>
            </a:r>
            <a:r>
              <a:rPr lang="en-US" altLang="zh-CN" baseline="-25000">
                <a:latin typeface="Times New Roman" panose="02020603050405020304" pitchFamily="18" charset="0"/>
              </a:rPr>
              <a:t>m </a:t>
            </a:r>
          </a:p>
          <a:p>
            <a:pPr eaLnBrk="1" hangingPunct="1">
              <a:spcAft>
                <a:spcPts val="600"/>
              </a:spcAft>
              <a:buFont typeface="Arial" panose="020B0604020202020204" pitchFamily="34" charset="0"/>
              <a:buNone/>
            </a:pPr>
            <a:r>
              <a:rPr lang="en-US" altLang="zh-CN">
                <a:latin typeface="Times New Roman" panose="02020603050405020304" pitchFamily="18" charset="0"/>
              </a:rPr>
              <a:t>    </a:t>
            </a:r>
            <a:r>
              <a:rPr lang="zh-CN" altLang="en-US">
                <a:latin typeface="Times New Roman" panose="02020603050405020304" pitchFamily="18" charset="0"/>
              </a:rPr>
              <a:t>密文分组长度为</a:t>
            </a:r>
            <a:r>
              <a:rPr lang="en-US" altLang="zh-CN">
                <a:latin typeface="Times New Roman" panose="02020603050405020304" pitchFamily="18" charset="0"/>
              </a:rPr>
              <a:t>m</a:t>
            </a:r>
          </a:p>
          <a:p>
            <a:pPr eaLnBrk="1" hangingPunct="1">
              <a:spcAft>
                <a:spcPts val="600"/>
              </a:spcAft>
              <a:buFont typeface="Arial" panose="020B0604020202020204" pitchFamily="34" charset="0"/>
              <a:buNone/>
            </a:pPr>
            <a:r>
              <a:rPr lang="en-US" altLang="zh-CN">
                <a:latin typeface="Times New Roman" panose="02020603050405020304" pitchFamily="18" charset="0"/>
              </a:rPr>
              <a:t>    </a:t>
            </a:r>
            <a:r>
              <a:rPr lang="zh-CN" altLang="en-US">
                <a:latin typeface="Times New Roman" panose="02020603050405020304" pitchFamily="18" charset="0"/>
              </a:rPr>
              <a:t>这种密码实质上是字长为</a:t>
            </a:r>
            <a:r>
              <a:rPr lang="en-US" altLang="zh-CN" i="1">
                <a:latin typeface="Times New Roman" panose="02020603050405020304" pitchFamily="18" charset="0"/>
              </a:rPr>
              <a:t>n</a:t>
            </a:r>
            <a:r>
              <a:rPr lang="zh-CN" altLang="en-US">
                <a:latin typeface="Times New Roman" panose="02020603050405020304" pitchFamily="18" charset="0"/>
              </a:rPr>
              <a:t>的数字序列的代换密码。</a:t>
            </a:r>
          </a:p>
          <a:p>
            <a:pPr algn="just" eaLnBrk="1" hangingPunct="1">
              <a:spcAft>
                <a:spcPts val="600"/>
              </a:spcAft>
              <a:buFont typeface="Arial" panose="020B0604020202020204" pitchFamily="34" charset="0"/>
              <a:buNone/>
            </a:pPr>
            <a:endParaRPr lang="zh-CN" altLang="en-US">
              <a:latin typeface="Times New Roman" panose="02020603050405020304" pitchFamily="18" charset="0"/>
            </a:endParaRPr>
          </a:p>
          <a:p>
            <a:pPr algn="just" eaLnBrk="1" hangingPunct="1">
              <a:lnSpc>
                <a:spcPct val="50000"/>
              </a:lnSpc>
              <a:spcAft>
                <a:spcPts val="600"/>
              </a:spcAft>
              <a:buFont typeface="Arial" panose="020B0604020202020204" pitchFamily="34" charset="0"/>
              <a:buNone/>
            </a:pPr>
            <a:endParaRPr lang="zh-CN" altLang="en-US">
              <a:latin typeface="Times New Roman" panose="02020603050405020304" pitchFamily="18" charset="0"/>
            </a:endParaRPr>
          </a:p>
          <a:p>
            <a:pPr algn="just" eaLnBrk="1" hangingPunct="1">
              <a:lnSpc>
                <a:spcPct val="50000"/>
              </a:lnSpc>
              <a:spcAft>
                <a:spcPts val="600"/>
              </a:spcAft>
              <a:buFont typeface="Arial" panose="020B0604020202020204" pitchFamily="34" charset="0"/>
              <a:buNone/>
            </a:pPr>
            <a:r>
              <a:rPr lang="zh-CN" altLang="en-US">
                <a:latin typeface="Times New Roman" panose="02020603050405020304" pitchFamily="18" charset="0"/>
              </a:rPr>
              <a:t>     </a:t>
            </a:r>
            <a:endParaRPr lang="zh-CN" altLang="en-US" i="1">
              <a:latin typeface="Times New Roman" panose="02020603050405020304" pitchFamily="18" charset="0"/>
            </a:endParaRPr>
          </a:p>
          <a:p>
            <a:pPr algn="just" eaLnBrk="1" hangingPunct="1">
              <a:lnSpc>
                <a:spcPct val="50000"/>
              </a:lnSpc>
              <a:spcAft>
                <a:spcPts val="600"/>
              </a:spcAft>
              <a:buFont typeface="Arial" panose="020B0604020202020204" pitchFamily="34" charset="0"/>
              <a:buNone/>
            </a:pPr>
            <a:endParaRPr lang="zh-CN" altLang="en-US">
              <a:latin typeface="Times New Roman" panose="02020603050405020304" pitchFamily="18" charset="0"/>
            </a:endParaRPr>
          </a:p>
          <a:p>
            <a:pPr algn="just" eaLnBrk="1" hangingPunct="1">
              <a:spcAft>
                <a:spcPts val="600"/>
              </a:spcAft>
              <a:buFont typeface="Arial" panose="020B0604020202020204" pitchFamily="34" charset="0"/>
              <a:buNone/>
            </a:pPr>
            <a:endParaRPr lang="zh-CN" altLang="en-US">
              <a:latin typeface="Times New Roman" panose="02020603050405020304" pitchFamily="18" charset="0"/>
            </a:endParaRPr>
          </a:p>
          <a:p>
            <a:pPr algn="just" eaLnBrk="1" hangingPunct="1">
              <a:spcAft>
                <a:spcPts val="600"/>
              </a:spcAft>
              <a:buFont typeface="Arial" panose="020B0604020202020204" pitchFamily="34" charset="0"/>
              <a:buNone/>
            </a:pPr>
            <a:endParaRPr lang="zh-CN" altLang="en-US">
              <a:latin typeface="Times New Roman" panose="02020603050405020304" pitchFamily="18" charset="0"/>
            </a:endParaRPr>
          </a:p>
          <a:p>
            <a:pPr algn="just" eaLnBrk="1" hangingPunct="1">
              <a:spcAft>
                <a:spcPts val="600"/>
              </a:spcAft>
              <a:buFont typeface="Arial" panose="020B0604020202020204" pitchFamily="34" charset="0"/>
              <a:buNone/>
            </a:pPr>
            <a:r>
              <a:rPr lang="zh-CN" altLang="en-US">
                <a:latin typeface="Times New Roman" panose="02020603050405020304" pitchFamily="18" charset="0"/>
              </a:rPr>
              <a:t>                              </a:t>
            </a:r>
          </a:p>
          <a:p>
            <a:pPr algn="just" eaLnBrk="1" hangingPunct="1">
              <a:spcAft>
                <a:spcPts val="600"/>
              </a:spcAft>
              <a:buFont typeface="Arial" panose="020B0604020202020204" pitchFamily="34" charset="0"/>
              <a:buNone/>
            </a:pPr>
            <a:r>
              <a:rPr lang="zh-CN" altLang="en-US">
                <a:latin typeface="Times New Roman" panose="02020603050405020304" pitchFamily="18" charset="0"/>
              </a:rPr>
              <a:t>    </a:t>
            </a:r>
          </a:p>
        </p:txBody>
      </p:sp>
      <p:grpSp>
        <p:nvGrpSpPr>
          <p:cNvPr id="92163" name="Group 4">
            <a:extLst>
              <a:ext uri="{FF2B5EF4-FFF2-40B4-BE49-F238E27FC236}">
                <a16:creationId xmlns:a16="http://schemas.microsoft.com/office/drawing/2014/main" id="{E28B8397-6BFD-6746-88F9-0D44D43FAD12}"/>
              </a:ext>
            </a:extLst>
          </p:cNvPr>
          <p:cNvGrpSpPr>
            <a:grpSpLocks/>
          </p:cNvGrpSpPr>
          <p:nvPr/>
        </p:nvGrpSpPr>
        <p:grpSpPr bwMode="auto">
          <a:xfrm>
            <a:off x="1847850" y="3733800"/>
            <a:ext cx="8353425" cy="2152650"/>
            <a:chOff x="385" y="2160"/>
            <a:chExt cx="5262" cy="1356"/>
          </a:xfrm>
        </p:grpSpPr>
        <p:sp>
          <p:nvSpPr>
            <p:cNvPr id="61445" name="AutoShape 5">
              <a:extLst>
                <a:ext uri="{FF2B5EF4-FFF2-40B4-BE49-F238E27FC236}">
                  <a16:creationId xmlns:a16="http://schemas.microsoft.com/office/drawing/2014/main" id="{47B52203-7C63-3748-90EE-E0E95EF67760}"/>
                </a:ext>
              </a:extLst>
            </p:cNvPr>
            <p:cNvSpPr>
              <a:spLocks noChangeArrowheads="1"/>
            </p:cNvSpPr>
            <p:nvPr/>
          </p:nvSpPr>
          <p:spPr bwMode="auto">
            <a:xfrm>
              <a:off x="2496" y="3264"/>
              <a:ext cx="1056" cy="156"/>
            </a:xfrm>
            <a:prstGeom prst="rightArrow">
              <a:avLst>
                <a:gd name="adj1" fmla="val 50000"/>
                <a:gd name="adj2" fmla="val 169231"/>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lang="zh-CN" altLang="en-US" sz="1800" b="1">
                <a:latin typeface="+mn-ea"/>
                <a:ea typeface="+mn-ea"/>
              </a:endParaRPr>
            </a:p>
          </p:txBody>
        </p:sp>
        <p:sp>
          <p:nvSpPr>
            <p:cNvPr id="61446" name="Rectangle 6">
              <a:extLst>
                <a:ext uri="{FF2B5EF4-FFF2-40B4-BE49-F238E27FC236}">
                  <a16:creationId xmlns:a16="http://schemas.microsoft.com/office/drawing/2014/main" id="{ABAD27DF-08F9-004C-84E0-F47A3EC94A1C}"/>
                </a:ext>
              </a:extLst>
            </p:cNvPr>
            <p:cNvSpPr>
              <a:spLocks noChangeArrowheads="1"/>
            </p:cNvSpPr>
            <p:nvPr/>
          </p:nvSpPr>
          <p:spPr bwMode="auto">
            <a:xfrm>
              <a:off x="3552" y="3180"/>
              <a:ext cx="1008" cy="336"/>
            </a:xfrm>
            <a:prstGeom prst="rect">
              <a:avLst/>
            </a:prstGeom>
            <a:noFill/>
            <a:ln w="38100">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defRPr/>
              </a:pPr>
              <a:r>
                <a:rPr lang="zh-CN" altLang="en-US" sz="1800" b="1">
                  <a:latin typeface="+mn-ea"/>
                  <a:ea typeface="+mn-ea"/>
                </a:rPr>
                <a:t>解密算法</a:t>
              </a:r>
            </a:p>
          </p:txBody>
        </p:sp>
        <p:sp>
          <p:nvSpPr>
            <p:cNvPr id="61447" name="AutoShape 7">
              <a:extLst>
                <a:ext uri="{FF2B5EF4-FFF2-40B4-BE49-F238E27FC236}">
                  <a16:creationId xmlns:a16="http://schemas.microsoft.com/office/drawing/2014/main" id="{2A4FC0E3-5B00-2A47-9BF6-A8DB8A6CE693}"/>
                </a:ext>
              </a:extLst>
            </p:cNvPr>
            <p:cNvSpPr>
              <a:spLocks noChangeArrowheads="1"/>
            </p:cNvSpPr>
            <p:nvPr/>
          </p:nvSpPr>
          <p:spPr bwMode="auto">
            <a:xfrm>
              <a:off x="4560" y="3216"/>
              <a:ext cx="528" cy="240"/>
            </a:xfrm>
            <a:prstGeom prst="rightArrow">
              <a:avLst>
                <a:gd name="adj1" fmla="val 50000"/>
                <a:gd name="adj2" fmla="val 55000"/>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lang="zh-CN" altLang="en-US" sz="1800" b="1">
                <a:latin typeface="+mn-ea"/>
                <a:ea typeface="+mn-ea"/>
              </a:endParaRPr>
            </a:p>
          </p:txBody>
        </p:sp>
        <p:sp>
          <p:nvSpPr>
            <p:cNvPr id="61448" name="AutoShape 8">
              <a:extLst>
                <a:ext uri="{FF2B5EF4-FFF2-40B4-BE49-F238E27FC236}">
                  <a16:creationId xmlns:a16="http://schemas.microsoft.com/office/drawing/2014/main" id="{7CBB5CDE-2D8C-EF42-BF0D-9B6868219908}"/>
                </a:ext>
              </a:extLst>
            </p:cNvPr>
            <p:cNvSpPr>
              <a:spLocks noChangeArrowheads="1"/>
            </p:cNvSpPr>
            <p:nvPr/>
          </p:nvSpPr>
          <p:spPr bwMode="auto">
            <a:xfrm rot="5400000">
              <a:off x="3816" y="2796"/>
              <a:ext cx="528" cy="240"/>
            </a:xfrm>
            <a:prstGeom prst="rightArrow">
              <a:avLst>
                <a:gd name="adj1" fmla="val 50000"/>
                <a:gd name="adj2" fmla="val 55000"/>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lang="zh-CN" altLang="en-US" sz="1800" b="1">
                <a:latin typeface="+mn-ea"/>
                <a:ea typeface="+mn-ea"/>
              </a:endParaRPr>
            </a:p>
          </p:txBody>
        </p:sp>
        <p:sp>
          <p:nvSpPr>
            <p:cNvPr id="61449" name="Rectangle 9">
              <a:extLst>
                <a:ext uri="{FF2B5EF4-FFF2-40B4-BE49-F238E27FC236}">
                  <a16:creationId xmlns:a16="http://schemas.microsoft.com/office/drawing/2014/main" id="{A8EDE33B-9543-564D-9744-92B06B37C9D1}"/>
                </a:ext>
              </a:extLst>
            </p:cNvPr>
            <p:cNvSpPr>
              <a:spLocks noChangeArrowheads="1"/>
            </p:cNvSpPr>
            <p:nvPr/>
          </p:nvSpPr>
          <p:spPr bwMode="auto">
            <a:xfrm>
              <a:off x="1488" y="3168"/>
              <a:ext cx="1008" cy="336"/>
            </a:xfrm>
            <a:prstGeom prst="rect">
              <a:avLst/>
            </a:prstGeom>
            <a:noFill/>
            <a:ln w="38100">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defRPr/>
              </a:pPr>
              <a:r>
                <a:rPr lang="zh-CN" altLang="en-US" sz="1800" b="1">
                  <a:latin typeface="+mn-ea"/>
                  <a:ea typeface="+mn-ea"/>
                </a:rPr>
                <a:t>加密算法</a:t>
              </a:r>
            </a:p>
          </p:txBody>
        </p:sp>
        <p:sp>
          <p:nvSpPr>
            <p:cNvPr id="61450" name="AutoShape 10">
              <a:extLst>
                <a:ext uri="{FF2B5EF4-FFF2-40B4-BE49-F238E27FC236}">
                  <a16:creationId xmlns:a16="http://schemas.microsoft.com/office/drawing/2014/main" id="{7C6F4523-4989-BC4B-A712-3C700B1DFC7E}"/>
                </a:ext>
              </a:extLst>
            </p:cNvPr>
            <p:cNvSpPr>
              <a:spLocks noChangeArrowheads="1"/>
            </p:cNvSpPr>
            <p:nvPr/>
          </p:nvSpPr>
          <p:spPr bwMode="auto">
            <a:xfrm>
              <a:off x="960" y="3216"/>
              <a:ext cx="528" cy="240"/>
            </a:xfrm>
            <a:prstGeom prst="rightArrow">
              <a:avLst>
                <a:gd name="adj1" fmla="val 50000"/>
                <a:gd name="adj2" fmla="val 55000"/>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lang="zh-CN" altLang="en-US" sz="1800" b="1">
                <a:latin typeface="+mn-ea"/>
                <a:ea typeface="+mn-ea"/>
              </a:endParaRPr>
            </a:p>
          </p:txBody>
        </p:sp>
        <p:sp>
          <p:nvSpPr>
            <p:cNvPr id="61451" name="AutoShape 11">
              <a:extLst>
                <a:ext uri="{FF2B5EF4-FFF2-40B4-BE49-F238E27FC236}">
                  <a16:creationId xmlns:a16="http://schemas.microsoft.com/office/drawing/2014/main" id="{3F25DC80-31F6-9244-8D7E-B8D33E3E77FD}"/>
                </a:ext>
              </a:extLst>
            </p:cNvPr>
            <p:cNvSpPr>
              <a:spLocks noChangeArrowheads="1"/>
            </p:cNvSpPr>
            <p:nvPr/>
          </p:nvSpPr>
          <p:spPr bwMode="auto">
            <a:xfrm rot="5400000">
              <a:off x="1704" y="2784"/>
              <a:ext cx="528" cy="240"/>
            </a:xfrm>
            <a:prstGeom prst="rightArrow">
              <a:avLst>
                <a:gd name="adj1" fmla="val 50000"/>
                <a:gd name="adj2" fmla="val 55000"/>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lang="zh-CN" altLang="en-US" sz="1800" b="1">
                <a:latin typeface="+mn-ea"/>
                <a:ea typeface="+mn-ea"/>
              </a:endParaRPr>
            </a:p>
          </p:txBody>
        </p:sp>
        <p:sp>
          <p:nvSpPr>
            <p:cNvPr id="92171" name="Rectangle 12">
              <a:extLst>
                <a:ext uri="{FF2B5EF4-FFF2-40B4-BE49-F238E27FC236}">
                  <a16:creationId xmlns:a16="http://schemas.microsoft.com/office/drawing/2014/main" id="{D1F2387D-332C-E145-9DDA-C1469E396ADA}"/>
                </a:ext>
              </a:extLst>
            </p:cNvPr>
            <p:cNvSpPr>
              <a:spLocks noChangeArrowheads="1"/>
            </p:cNvSpPr>
            <p:nvPr/>
          </p:nvSpPr>
          <p:spPr bwMode="auto">
            <a:xfrm>
              <a:off x="1093" y="2160"/>
              <a:ext cx="1651" cy="40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b="1">
                  <a:latin typeface="仿宋" pitchFamily="49" charset="-122"/>
                  <a:ea typeface="仿宋" pitchFamily="49" charset="-122"/>
                </a:rPr>
                <a:t>密钥</a:t>
              </a:r>
              <a:r>
                <a:rPr lang="en-US" altLang="zh-CN" b="1" i="1">
                  <a:latin typeface="仿宋" pitchFamily="49" charset="-122"/>
                  <a:ea typeface="仿宋" pitchFamily="49" charset="-122"/>
                </a:rPr>
                <a:t>k</a:t>
              </a:r>
              <a:r>
                <a:rPr lang="en-US" altLang="zh-CN" b="1">
                  <a:latin typeface="仿宋" pitchFamily="49" charset="-122"/>
                  <a:ea typeface="仿宋" pitchFamily="49" charset="-122"/>
                </a:rPr>
                <a:t>=(</a:t>
              </a:r>
              <a:r>
                <a:rPr lang="en-US" altLang="zh-CN" b="1" i="1">
                  <a:latin typeface="仿宋" pitchFamily="49" charset="-122"/>
                  <a:ea typeface="仿宋" pitchFamily="49" charset="-122"/>
                </a:rPr>
                <a:t>k</a:t>
              </a:r>
              <a:r>
                <a:rPr lang="en-US" altLang="zh-CN" b="1" baseline="-25000">
                  <a:latin typeface="仿宋" pitchFamily="49" charset="-122"/>
                  <a:ea typeface="仿宋" pitchFamily="49" charset="-122"/>
                </a:rPr>
                <a:t>0</a:t>
              </a:r>
              <a:r>
                <a:rPr lang="en-US" altLang="zh-CN" b="1">
                  <a:latin typeface="仿宋" pitchFamily="49" charset="-122"/>
                  <a:ea typeface="仿宋" pitchFamily="49" charset="-122"/>
                </a:rPr>
                <a:t>, </a:t>
              </a:r>
              <a:r>
                <a:rPr lang="en-US" altLang="zh-CN" b="1" i="1">
                  <a:latin typeface="仿宋" pitchFamily="49" charset="-122"/>
                  <a:ea typeface="仿宋" pitchFamily="49" charset="-122"/>
                </a:rPr>
                <a:t>k</a:t>
              </a:r>
              <a:r>
                <a:rPr lang="en-US" altLang="zh-CN" b="1" baseline="-25000">
                  <a:latin typeface="仿宋" pitchFamily="49" charset="-122"/>
                  <a:ea typeface="仿宋" pitchFamily="49" charset="-122"/>
                </a:rPr>
                <a:t>1</a:t>
              </a:r>
              <a:r>
                <a:rPr lang="en-US" altLang="zh-CN" b="1">
                  <a:latin typeface="仿宋" pitchFamily="49" charset="-122"/>
                  <a:ea typeface="仿宋" pitchFamily="49" charset="-122"/>
                </a:rPr>
                <a:t>,…, </a:t>
              </a:r>
              <a:r>
                <a:rPr lang="en-US" altLang="zh-CN" b="1" i="1">
                  <a:latin typeface="仿宋" pitchFamily="49" charset="-122"/>
                  <a:ea typeface="仿宋" pitchFamily="49" charset="-122"/>
                </a:rPr>
                <a:t>k</a:t>
              </a:r>
              <a:r>
                <a:rPr lang="en-US" altLang="zh-CN" b="1" baseline="-25000">
                  <a:latin typeface="仿宋" pitchFamily="49" charset="-122"/>
                  <a:ea typeface="仿宋" pitchFamily="49" charset="-122"/>
                </a:rPr>
                <a:t>t-1</a:t>
              </a:r>
              <a:r>
                <a:rPr lang="en-US" altLang="zh-CN" b="1">
                  <a:latin typeface="仿宋" pitchFamily="49" charset="-122"/>
                  <a:ea typeface="仿宋" pitchFamily="49" charset="-122"/>
                </a:rPr>
                <a:t> )</a:t>
              </a:r>
            </a:p>
          </p:txBody>
        </p:sp>
        <p:sp>
          <p:nvSpPr>
            <p:cNvPr id="92172" name="Rectangle 13">
              <a:extLst>
                <a:ext uri="{FF2B5EF4-FFF2-40B4-BE49-F238E27FC236}">
                  <a16:creationId xmlns:a16="http://schemas.microsoft.com/office/drawing/2014/main" id="{E0BD928E-A07D-0B41-8EBE-4DF7628C8357}"/>
                </a:ext>
              </a:extLst>
            </p:cNvPr>
            <p:cNvSpPr>
              <a:spLocks noChangeArrowheads="1"/>
            </p:cNvSpPr>
            <p:nvPr/>
          </p:nvSpPr>
          <p:spPr bwMode="auto">
            <a:xfrm>
              <a:off x="3334" y="2160"/>
              <a:ext cx="1647" cy="40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b="1">
                  <a:latin typeface="仿宋" pitchFamily="49" charset="-122"/>
                  <a:ea typeface="仿宋" pitchFamily="49" charset="-122"/>
                </a:rPr>
                <a:t>密钥</a:t>
              </a:r>
              <a:r>
                <a:rPr lang="en-US" altLang="zh-CN" b="1" i="1">
                  <a:latin typeface="仿宋" pitchFamily="49" charset="-122"/>
                  <a:ea typeface="仿宋" pitchFamily="49" charset="-122"/>
                </a:rPr>
                <a:t>k</a:t>
              </a:r>
              <a:r>
                <a:rPr lang="en-US" altLang="zh-CN" b="1">
                  <a:latin typeface="仿宋" pitchFamily="49" charset="-122"/>
                  <a:ea typeface="仿宋" pitchFamily="49" charset="-122"/>
                </a:rPr>
                <a:t>=(</a:t>
              </a:r>
              <a:r>
                <a:rPr lang="en-US" altLang="zh-CN" b="1" i="1">
                  <a:latin typeface="仿宋" pitchFamily="49" charset="-122"/>
                  <a:ea typeface="仿宋" pitchFamily="49" charset="-122"/>
                </a:rPr>
                <a:t>k</a:t>
              </a:r>
              <a:r>
                <a:rPr lang="en-US" altLang="zh-CN" b="1" baseline="-25000">
                  <a:latin typeface="仿宋" pitchFamily="49" charset="-122"/>
                  <a:ea typeface="仿宋" pitchFamily="49" charset="-122"/>
                </a:rPr>
                <a:t>0</a:t>
              </a:r>
              <a:r>
                <a:rPr lang="en-US" altLang="zh-CN" b="1">
                  <a:latin typeface="仿宋" pitchFamily="49" charset="-122"/>
                  <a:ea typeface="仿宋" pitchFamily="49" charset="-122"/>
                </a:rPr>
                <a:t>, </a:t>
              </a:r>
              <a:r>
                <a:rPr lang="en-US" altLang="zh-CN" b="1" i="1">
                  <a:latin typeface="仿宋" pitchFamily="49" charset="-122"/>
                  <a:ea typeface="仿宋" pitchFamily="49" charset="-122"/>
                </a:rPr>
                <a:t>k</a:t>
              </a:r>
              <a:r>
                <a:rPr lang="en-US" altLang="zh-CN" b="1" baseline="-25000">
                  <a:latin typeface="仿宋" pitchFamily="49" charset="-122"/>
                  <a:ea typeface="仿宋" pitchFamily="49" charset="-122"/>
                </a:rPr>
                <a:t>1</a:t>
              </a:r>
              <a:r>
                <a:rPr lang="en-US" altLang="zh-CN" b="1">
                  <a:latin typeface="仿宋" pitchFamily="49" charset="-122"/>
                  <a:ea typeface="仿宋" pitchFamily="49" charset="-122"/>
                </a:rPr>
                <a:t>,…, </a:t>
              </a:r>
              <a:r>
                <a:rPr lang="en-US" altLang="zh-CN" b="1" i="1">
                  <a:latin typeface="仿宋" pitchFamily="49" charset="-122"/>
                  <a:ea typeface="仿宋" pitchFamily="49" charset="-122"/>
                </a:rPr>
                <a:t>k</a:t>
              </a:r>
              <a:r>
                <a:rPr lang="en-US" altLang="zh-CN" b="1" baseline="-25000">
                  <a:latin typeface="仿宋" pitchFamily="49" charset="-122"/>
                  <a:ea typeface="仿宋" pitchFamily="49" charset="-122"/>
                </a:rPr>
                <a:t>t-1</a:t>
              </a:r>
              <a:r>
                <a:rPr lang="en-US" altLang="zh-CN" b="1">
                  <a:latin typeface="仿宋" pitchFamily="49" charset="-122"/>
                  <a:ea typeface="仿宋" pitchFamily="49" charset="-122"/>
                </a:rPr>
                <a:t> )</a:t>
              </a:r>
            </a:p>
          </p:txBody>
        </p:sp>
        <p:sp>
          <p:nvSpPr>
            <p:cNvPr id="61454" name="Rectangle 14">
              <a:extLst>
                <a:ext uri="{FF2B5EF4-FFF2-40B4-BE49-F238E27FC236}">
                  <a16:creationId xmlns:a16="http://schemas.microsoft.com/office/drawing/2014/main" id="{A92D1B94-65B9-E34E-B262-FC5C8FF79C04}"/>
                </a:ext>
              </a:extLst>
            </p:cNvPr>
            <p:cNvSpPr>
              <a:spLocks noChangeArrowheads="1"/>
            </p:cNvSpPr>
            <p:nvPr/>
          </p:nvSpPr>
          <p:spPr bwMode="auto">
            <a:xfrm>
              <a:off x="385" y="2614"/>
              <a:ext cx="1452" cy="499"/>
            </a:xfrm>
            <a:prstGeom prst="rect">
              <a:avLst/>
            </a:prstGeom>
            <a:noFill/>
            <a:ln>
              <a:noFill/>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defRPr/>
              </a:pPr>
              <a:r>
                <a:rPr lang="zh-CN" altLang="en-US" sz="1800" b="1">
                  <a:latin typeface="+mn-ea"/>
                  <a:ea typeface="+mn-ea"/>
                </a:rPr>
                <a:t>明文</a:t>
              </a:r>
            </a:p>
            <a:p>
              <a:pPr algn="ctr">
                <a:spcBef>
                  <a:spcPct val="0"/>
                </a:spcBef>
                <a:buClrTx/>
                <a:buSzTx/>
                <a:buFontTx/>
                <a:buNone/>
                <a:defRPr/>
              </a:pPr>
              <a:r>
                <a:rPr lang="en-US" altLang="zh-CN" sz="1800" b="1" i="1">
                  <a:latin typeface="+mn-ea"/>
                  <a:ea typeface="+mn-ea"/>
                </a:rPr>
                <a:t>x</a:t>
              </a:r>
              <a:r>
                <a:rPr lang="en-US" altLang="zh-CN" sz="1800" b="1">
                  <a:latin typeface="+mn-ea"/>
                  <a:ea typeface="+mn-ea"/>
                </a:rPr>
                <a:t>=(</a:t>
              </a:r>
              <a:r>
                <a:rPr lang="en-US" altLang="zh-CN" sz="1800" b="1" i="1">
                  <a:latin typeface="+mn-ea"/>
                  <a:ea typeface="+mn-ea"/>
                </a:rPr>
                <a:t>x</a:t>
              </a:r>
              <a:r>
                <a:rPr lang="en-US" altLang="zh-CN" sz="1800" b="1" baseline="-25000">
                  <a:latin typeface="+mn-ea"/>
                  <a:ea typeface="+mn-ea"/>
                </a:rPr>
                <a:t>0</a:t>
              </a:r>
              <a:r>
                <a:rPr lang="en-US" altLang="zh-CN" sz="1800" b="1">
                  <a:latin typeface="+mn-ea"/>
                  <a:ea typeface="+mn-ea"/>
                </a:rPr>
                <a:t>, </a:t>
              </a:r>
              <a:r>
                <a:rPr lang="en-US" altLang="zh-CN" sz="1800" b="1" i="1">
                  <a:latin typeface="+mn-ea"/>
                  <a:ea typeface="+mn-ea"/>
                </a:rPr>
                <a:t>x</a:t>
              </a:r>
              <a:r>
                <a:rPr lang="en-US" altLang="zh-CN" sz="1800" b="1" baseline="-25000">
                  <a:latin typeface="+mn-ea"/>
                  <a:ea typeface="+mn-ea"/>
                </a:rPr>
                <a:t>1</a:t>
              </a:r>
              <a:r>
                <a:rPr lang="en-US" altLang="zh-CN" sz="1800" b="1">
                  <a:latin typeface="+mn-ea"/>
                  <a:ea typeface="+mn-ea"/>
                </a:rPr>
                <a:t>,…, </a:t>
              </a:r>
              <a:r>
                <a:rPr lang="en-US" altLang="zh-CN" sz="1800" b="1" i="1">
                  <a:latin typeface="+mn-ea"/>
                  <a:ea typeface="+mn-ea"/>
                </a:rPr>
                <a:t>x</a:t>
              </a:r>
              <a:r>
                <a:rPr lang="en-US" altLang="zh-CN" sz="1800" b="1" baseline="-25000">
                  <a:latin typeface="+mn-ea"/>
                  <a:ea typeface="+mn-ea"/>
                </a:rPr>
                <a:t>n-1</a:t>
              </a:r>
              <a:r>
                <a:rPr lang="en-US" altLang="zh-CN" sz="1800" b="1">
                  <a:latin typeface="+mn-ea"/>
                  <a:ea typeface="+mn-ea"/>
                </a:rPr>
                <a:t>)</a:t>
              </a:r>
            </a:p>
          </p:txBody>
        </p:sp>
        <p:sp>
          <p:nvSpPr>
            <p:cNvPr id="61455" name="Rectangle 15">
              <a:extLst>
                <a:ext uri="{FF2B5EF4-FFF2-40B4-BE49-F238E27FC236}">
                  <a16:creationId xmlns:a16="http://schemas.microsoft.com/office/drawing/2014/main" id="{2D82DD73-9472-0942-AE86-8DCA4FB0716E}"/>
                </a:ext>
              </a:extLst>
            </p:cNvPr>
            <p:cNvSpPr>
              <a:spLocks noChangeArrowheads="1"/>
            </p:cNvSpPr>
            <p:nvPr/>
          </p:nvSpPr>
          <p:spPr bwMode="auto">
            <a:xfrm>
              <a:off x="4308" y="2614"/>
              <a:ext cx="1339" cy="499"/>
            </a:xfrm>
            <a:prstGeom prst="rect">
              <a:avLst/>
            </a:prstGeom>
            <a:noFill/>
            <a:ln>
              <a:noFill/>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defRPr/>
              </a:pPr>
              <a:r>
                <a:rPr lang="zh-CN" altLang="en-US" sz="1800" b="1">
                  <a:latin typeface="+mn-ea"/>
                  <a:ea typeface="+mn-ea"/>
                </a:rPr>
                <a:t>明文</a:t>
              </a:r>
            </a:p>
            <a:p>
              <a:pPr algn="ctr">
                <a:spcBef>
                  <a:spcPct val="0"/>
                </a:spcBef>
                <a:buClrTx/>
                <a:buSzTx/>
                <a:buFontTx/>
                <a:buNone/>
                <a:defRPr/>
              </a:pPr>
              <a:r>
                <a:rPr lang="en-US" altLang="zh-CN" sz="1800" b="1" i="1">
                  <a:latin typeface="+mn-ea"/>
                  <a:ea typeface="+mn-ea"/>
                </a:rPr>
                <a:t>x</a:t>
              </a:r>
              <a:r>
                <a:rPr lang="en-US" altLang="zh-CN" sz="1800" b="1">
                  <a:latin typeface="+mn-ea"/>
                  <a:ea typeface="+mn-ea"/>
                </a:rPr>
                <a:t>=(</a:t>
              </a:r>
              <a:r>
                <a:rPr lang="en-US" altLang="zh-CN" sz="1800" b="1" i="1">
                  <a:latin typeface="+mn-ea"/>
                  <a:ea typeface="+mn-ea"/>
                </a:rPr>
                <a:t>x</a:t>
              </a:r>
              <a:r>
                <a:rPr lang="en-US" altLang="zh-CN" sz="1800" b="1" baseline="-25000">
                  <a:latin typeface="+mn-ea"/>
                  <a:ea typeface="+mn-ea"/>
                </a:rPr>
                <a:t>0</a:t>
              </a:r>
              <a:r>
                <a:rPr lang="en-US" altLang="zh-CN" sz="1800" b="1">
                  <a:latin typeface="+mn-ea"/>
                  <a:ea typeface="+mn-ea"/>
                </a:rPr>
                <a:t>, </a:t>
              </a:r>
              <a:r>
                <a:rPr lang="en-US" altLang="zh-CN" sz="1800" b="1" i="1">
                  <a:latin typeface="+mn-ea"/>
                  <a:ea typeface="+mn-ea"/>
                </a:rPr>
                <a:t>x</a:t>
              </a:r>
              <a:r>
                <a:rPr lang="en-US" altLang="zh-CN" sz="1800" b="1" baseline="-25000">
                  <a:latin typeface="+mn-ea"/>
                  <a:ea typeface="+mn-ea"/>
                </a:rPr>
                <a:t>1</a:t>
              </a:r>
              <a:r>
                <a:rPr lang="en-US" altLang="zh-CN" sz="1800" b="1">
                  <a:latin typeface="+mn-ea"/>
                  <a:ea typeface="+mn-ea"/>
                </a:rPr>
                <a:t>,…, </a:t>
              </a:r>
              <a:r>
                <a:rPr lang="en-US" altLang="zh-CN" sz="1800" b="1" i="1">
                  <a:latin typeface="+mn-ea"/>
                  <a:ea typeface="+mn-ea"/>
                </a:rPr>
                <a:t>x</a:t>
              </a:r>
              <a:r>
                <a:rPr lang="en-US" altLang="zh-CN" sz="1800" b="1" baseline="-25000">
                  <a:latin typeface="+mn-ea"/>
                  <a:ea typeface="+mn-ea"/>
                </a:rPr>
                <a:t>n-1</a:t>
              </a:r>
              <a:r>
                <a:rPr lang="en-US" altLang="zh-CN" sz="1800" b="1">
                  <a:latin typeface="+mn-ea"/>
                  <a:ea typeface="+mn-ea"/>
                </a:rPr>
                <a:t>)</a:t>
              </a:r>
            </a:p>
          </p:txBody>
        </p:sp>
        <p:sp>
          <p:nvSpPr>
            <p:cNvPr id="61456" name="Rectangle 16">
              <a:extLst>
                <a:ext uri="{FF2B5EF4-FFF2-40B4-BE49-F238E27FC236}">
                  <a16:creationId xmlns:a16="http://schemas.microsoft.com/office/drawing/2014/main" id="{8C559E20-502D-5F43-81C9-8A7193958C6D}"/>
                </a:ext>
              </a:extLst>
            </p:cNvPr>
            <p:cNvSpPr>
              <a:spLocks noChangeArrowheads="1"/>
            </p:cNvSpPr>
            <p:nvPr/>
          </p:nvSpPr>
          <p:spPr bwMode="auto">
            <a:xfrm>
              <a:off x="2290" y="2614"/>
              <a:ext cx="1452" cy="499"/>
            </a:xfrm>
            <a:prstGeom prst="rect">
              <a:avLst/>
            </a:prstGeom>
            <a:noFill/>
            <a:ln>
              <a:noFill/>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defRPr/>
              </a:pPr>
              <a:r>
                <a:rPr lang="zh-CN" altLang="en-US" sz="1800" b="1">
                  <a:latin typeface="+mn-ea"/>
                  <a:ea typeface="+mn-ea"/>
                </a:rPr>
                <a:t>密文</a:t>
              </a:r>
            </a:p>
            <a:p>
              <a:pPr algn="ctr">
                <a:spcBef>
                  <a:spcPct val="0"/>
                </a:spcBef>
                <a:buClrTx/>
                <a:buSzTx/>
                <a:buFontTx/>
                <a:buNone/>
                <a:defRPr/>
              </a:pPr>
              <a:r>
                <a:rPr lang="en-US" altLang="zh-CN" sz="1800" b="1" i="1">
                  <a:latin typeface="+mn-ea"/>
                  <a:ea typeface="+mn-ea"/>
                </a:rPr>
                <a:t>y</a:t>
              </a:r>
              <a:r>
                <a:rPr lang="en-US" altLang="zh-CN" sz="1800" b="1">
                  <a:latin typeface="+mn-ea"/>
                  <a:ea typeface="+mn-ea"/>
                </a:rPr>
                <a:t>=(</a:t>
              </a:r>
              <a:r>
                <a:rPr lang="en-US" altLang="zh-CN" sz="1800" b="1" i="1">
                  <a:latin typeface="+mn-ea"/>
                  <a:ea typeface="+mn-ea"/>
                </a:rPr>
                <a:t>y</a:t>
              </a:r>
              <a:r>
                <a:rPr lang="en-US" altLang="zh-CN" sz="1800" b="1" baseline="-25000">
                  <a:latin typeface="+mn-ea"/>
                  <a:ea typeface="+mn-ea"/>
                </a:rPr>
                <a:t>0</a:t>
              </a:r>
              <a:r>
                <a:rPr lang="en-US" altLang="zh-CN" sz="1800" b="1">
                  <a:latin typeface="+mn-ea"/>
                  <a:ea typeface="+mn-ea"/>
                </a:rPr>
                <a:t>, </a:t>
              </a:r>
              <a:r>
                <a:rPr lang="en-US" altLang="zh-CN" sz="1800" b="1" i="1">
                  <a:latin typeface="+mn-ea"/>
                  <a:ea typeface="+mn-ea"/>
                </a:rPr>
                <a:t>y</a:t>
              </a:r>
              <a:r>
                <a:rPr lang="en-US" altLang="zh-CN" sz="1800" b="1" baseline="-25000">
                  <a:latin typeface="+mn-ea"/>
                  <a:ea typeface="+mn-ea"/>
                </a:rPr>
                <a:t>1</a:t>
              </a:r>
              <a:r>
                <a:rPr lang="en-US" altLang="zh-CN" sz="1800" b="1">
                  <a:latin typeface="+mn-ea"/>
                  <a:ea typeface="+mn-ea"/>
                </a:rPr>
                <a:t>,…, </a:t>
              </a:r>
              <a:r>
                <a:rPr lang="en-US" altLang="zh-CN" sz="1800" b="1" i="1">
                  <a:latin typeface="+mn-ea"/>
                  <a:ea typeface="+mn-ea"/>
                </a:rPr>
                <a:t>y</a:t>
              </a:r>
              <a:r>
                <a:rPr lang="en-US" altLang="zh-CN" sz="1800" b="1" baseline="-25000">
                  <a:latin typeface="+mn-ea"/>
                  <a:ea typeface="+mn-ea"/>
                </a:rPr>
                <a:t>m-1</a:t>
              </a:r>
              <a:r>
                <a:rPr lang="en-US" altLang="zh-CN" sz="1800" b="1">
                  <a:latin typeface="+mn-ea"/>
                  <a:ea typeface="+mn-ea"/>
                </a:rPr>
                <a:t>)</a:t>
              </a:r>
            </a:p>
          </p:txBody>
        </p:sp>
      </p:gr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AC5F2253-E566-EC48-8BED-6D03AB156BD4}"/>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分组密码概述</a:t>
            </a:r>
          </a:p>
        </p:txBody>
      </p:sp>
      <p:sp>
        <p:nvSpPr>
          <p:cNvPr id="93186" name="Rectangle 3">
            <a:extLst>
              <a:ext uri="{FF2B5EF4-FFF2-40B4-BE49-F238E27FC236}">
                <a16:creationId xmlns:a16="http://schemas.microsoft.com/office/drawing/2014/main" id="{802A7291-3808-BB4A-AB0D-EA7512C5058D}"/>
              </a:ext>
            </a:extLst>
          </p:cNvPr>
          <p:cNvSpPr>
            <a:spLocks noGrp="1" noChangeArrowheads="1"/>
          </p:cNvSpPr>
          <p:nvPr>
            <p:ph idx="1"/>
          </p:nvPr>
        </p:nvSpPr>
        <p:spPr>
          <a:xfrm>
            <a:off x="823913" y="1465263"/>
            <a:ext cx="10515600" cy="4579937"/>
          </a:xfrm>
        </p:spPr>
        <p:txBody>
          <a:bodyPr/>
          <a:lstStyle/>
          <a:p>
            <a:pPr eaLnBrk="1" hangingPunct="1">
              <a:spcAft>
                <a:spcPts val="600"/>
              </a:spcAft>
            </a:pPr>
            <a:r>
              <a:rPr lang="zh-CN" altLang="en-US">
                <a:latin typeface="Times New Roman" panose="02020603050405020304" pitchFamily="18" charset="0"/>
              </a:rPr>
              <a:t>通常取</a:t>
            </a:r>
            <a:r>
              <a:rPr lang="en-US" altLang="zh-CN" i="1">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m</a:t>
            </a:r>
            <a:r>
              <a:rPr lang="zh-CN" altLang="en-US">
                <a:latin typeface="Times New Roman" panose="02020603050405020304" pitchFamily="18" charset="0"/>
              </a:rPr>
              <a:t>。</a:t>
            </a:r>
          </a:p>
          <a:p>
            <a:pPr eaLnBrk="1" hangingPunct="1">
              <a:spcAft>
                <a:spcPts val="600"/>
              </a:spcAft>
            </a:pPr>
            <a:r>
              <a:rPr lang="zh-CN" altLang="en-US">
                <a:latin typeface="Times New Roman" panose="02020603050405020304" pitchFamily="18" charset="0"/>
              </a:rPr>
              <a:t>若</a:t>
            </a:r>
            <a:r>
              <a:rPr lang="en-US" altLang="zh-CN" i="1">
                <a:latin typeface="Times New Roman" panose="02020603050405020304" pitchFamily="18" charset="0"/>
              </a:rPr>
              <a:t>n</a:t>
            </a:r>
            <a:r>
              <a:rPr lang="en-US" altLang="zh-CN">
                <a:latin typeface="Times New Roman" panose="02020603050405020304" pitchFamily="18" charset="0"/>
              </a:rPr>
              <a:t>&lt;</a:t>
            </a:r>
            <a:r>
              <a:rPr lang="en-US" altLang="zh-CN" i="1">
                <a:latin typeface="Times New Roman" panose="02020603050405020304" pitchFamily="18" charset="0"/>
              </a:rPr>
              <a:t>m</a:t>
            </a:r>
            <a:r>
              <a:rPr lang="en-US" altLang="zh-CN">
                <a:latin typeface="Times New Roman" panose="02020603050405020304" pitchFamily="18" charset="0"/>
              </a:rPr>
              <a:t> </a:t>
            </a:r>
            <a:r>
              <a:rPr lang="zh-CN" altLang="en-US">
                <a:latin typeface="Times New Roman" panose="02020603050405020304" pitchFamily="18" charset="0"/>
              </a:rPr>
              <a:t>，则为有数据扩展的分组密码。</a:t>
            </a:r>
          </a:p>
          <a:p>
            <a:pPr eaLnBrk="1" hangingPunct="1">
              <a:spcAft>
                <a:spcPts val="600"/>
              </a:spcAft>
            </a:pPr>
            <a:r>
              <a:rPr lang="zh-CN" altLang="en-US">
                <a:latin typeface="Times New Roman" panose="02020603050405020304" pitchFamily="18" charset="0"/>
              </a:rPr>
              <a:t>若</a:t>
            </a:r>
            <a:r>
              <a:rPr lang="en-US" altLang="zh-CN" i="1">
                <a:latin typeface="Times New Roman" panose="02020603050405020304" pitchFamily="18" charset="0"/>
              </a:rPr>
              <a:t>n</a:t>
            </a:r>
            <a:r>
              <a:rPr lang="en-US" altLang="zh-CN">
                <a:latin typeface="Times New Roman" panose="02020603050405020304" pitchFamily="18" charset="0"/>
              </a:rPr>
              <a:t>&gt;</a:t>
            </a:r>
            <a:r>
              <a:rPr lang="en-US" altLang="zh-CN" i="1">
                <a:latin typeface="Times New Roman" panose="02020603050405020304" pitchFamily="18" charset="0"/>
              </a:rPr>
              <a:t>m</a:t>
            </a:r>
            <a:r>
              <a:rPr lang="en-US" altLang="zh-CN">
                <a:latin typeface="Times New Roman" panose="02020603050405020304" pitchFamily="18" charset="0"/>
              </a:rPr>
              <a:t> </a:t>
            </a:r>
            <a:r>
              <a:rPr lang="zh-CN" altLang="en-US">
                <a:latin typeface="Times New Roman" panose="02020603050405020304" pitchFamily="18" charset="0"/>
              </a:rPr>
              <a:t>，则为有数据压缩的分组密码。</a:t>
            </a:r>
          </a:p>
          <a:p>
            <a:pPr eaLnBrk="1" hangingPunct="1">
              <a:spcAft>
                <a:spcPts val="600"/>
              </a:spcAft>
            </a:pPr>
            <a:endParaRPr lang="en-US" altLang="zh-CN">
              <a:latin typeface="Times New Roman" panose="02020603050405020304" pitchFamily="18" charset="0"/>
            </a:endParaRPr>
          </a:p>
        </p:txBody>
      </p:sp>
      <p:sp>
        <p:nvSpPr>
          <p:cNvPr id="62468" name="Text Box 4">
            <a:extLst>
              <a:ext uri="{FF2B5EF4-FFF2-40B4-BE49-F238E27FC236}">
                <a16:creationId xmlns:a16="http://schemas.microsoft.com/office/drawing/2014/main" id="{13472A82-B362-7341-910F-67E892E05C7A}"/>
              </a:ext>
            </a:extLst>
          </p:cNvPr>
          <p:cNvSpPr txBox="1">
            <a:spLocks noChangeArrowheads="1"/>
          </p:cNvSpPr>
          <p:nvPr/>
        </p:nvSpPr>
        <p:spPr bwMode="auto">
          <a:xfrm>
            <a:off x="3946525" y="3602038"/>
            <a:ext cx="184150" cy="457200"/>
          </a:xfrm>
          <a:prstGeom prst="rect">
            <a:avLst/>
          </a:prstGeom>
          <a:noFill/>
          <a:ln>
            <a:noFill/>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kumimoji="1" lang="zh-CN" altLang="zh-CN" sz="2400">
              <a:latin typeface="+mn-ea"/>
              <a:ea typeface="+mn-ea"/>
            </a:endParaRPr>
          </a:p>
        </p:txBody>
      </p:sp>
      <p:sp>
        <p:nvSpPr>
          <p:cNvPr id="62469" name="Text Box 5">
            <a:extLst>
              <a:ext uri="{FF2B5EF4-FFF2-40B4-BE49-F238E27FC236}">
                <a16:creationId xmlns:a16="http://schemas.microsoft.com/office/drawing/2014/main" id="{912A6EB7-492E-D546-A1AE-F410C0074F55}"/>
              </a:ext>
            </a:extLst>
          </p:cNvPr>
          <p:cNvSpPr txBox="1">
            <a:spLocks noChangeArrowheads="1"/>
          </p:cNvSpPr>
          <p:nvPr/>
        </p:nvSpPr>
        <p:spPr bwMode="auto">
          <a:xfrm>
            <a:off x="3489325" y="4592638"/>
            <a:ext cx="184150" cy="457200"/>
          </a:xfrm>
          <a:prstGeom prst="rect">
            <a:avLst/>
          </a:prstGeom>
          <a:noFill/>
          <a:ln>
            <a:noFill/>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kumimoji="1" lang="zh-CN" altLang="zh-CN" sz="2400">
              <a:latin typeface="+mn-ea"/>
              <a:ea typeface="+mn-ea"/>
            </a:endParaRPr>
          </a:p>
        </p:txBody>
      </p:sp>
      <p:sp>
        <p:nvSpPr>
          <p:cNvPr id="62470" name="Text Box 6">
            <a:extLst>
              <a:ext uri="{FF2B5EF4-FFF2-40B4-BE49-F238E27FC236}">
                <a16:creationId xmlns:a16="http://schemas.microsoft.com/office/drawing/2014/main" id="{948A9683-9BAB-4C4B-BC3A-2ACD87E75ECE}"/>
              </a:ext>
            </a:extLst>
          </p:cNvPr>
          <p:cNvSpPr txBox="1">
            <a:spLocks noChangeArrowheads="1"/>
          </p:cNvSpPr>
          <p:nvPr/>
        </p:nvSpPr>
        <p:spPr bwMode="auto">
          <a:xfrm>
            <a:off x="4556125" y="5126038"/>
            <a:ext cx="184150" cy="457200"/>
          </a:xfrm>
          <a:prstGeom prst="rect">
            <a:avLst/>
          </a:prstGeom>
          <a:noFill/>
          <a:ln>
            <a:noFill/>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kumimoji="1" lang="zh-CN" altLang="zh-CN" sz="2400">
              <a:latin typeface="+mn-ea"/>
              <a:ea typeface="+mn-ea"/>
            </a:endParaRPr>
          </a:p>
        </p:txBody>
      </p:sp>
      <p:sp>
        <p:nvSpPr>
          <p:cNvPr id="62471" name="Text Box 7">
            <a:extLst>
              <a:ext uri="{FF2B5EF4-FFF2-40B4-BE49-F238E27FC236}">
                <a16:creationId xmlns:a16="http://schemas.microsoft.com/office/drawing/2014/main" id="{8F4B19C6-0E46-AA4F-A665-C436129B2923}"/>
              </a:ext>
            </a:extLst>
          </p:cNvPr>
          <p:cNvSpPr txBox="1">
            <a:spLocks noChangeArrowheads="1"/>
          </p:cNvSpPr>
          <p:nvPr/>
        </p:nvSpPr>
        <p:spPr bwMode="auto">
          <a:xfrm>
            <a:off x="7756525" y="5202238"/>
            <a:ext cx="184150" cy="457200"/>
          </a:xfrm>
          <a:prstGeom prst="rect">
            <a:avLst/>
          </a:prstGeom>
          <a:noFill/>
          <a:ln>
            <a:noFill/>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defRPr/>
            </a:pPr>
            <a:endParaRPr kumimoji="1" lang="zh-CN" altLang="zh-CN" sz="2400">
              <a:latin typeface="+mn-ea"/>
              <a:ea typeface="+mn-ea"/>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92B2D261-F4AF-CD45-9423-6FB15438DB6B}"/>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分组密码设计问题</a:t>
            </a:r>
          </a:p>
        </p:txBody>
      </p:sp>
      <p:sp>
        <p:nvSpPr>
          <p:cNvPr id="94210" name="Rectangle 3">
            <a:extLst>
              <a:ext uri="{FF2B5EF4-FFF2-40B4-BE49-F238E27FC236}">
                <a16:creationId xmlns:a16="http://schemas.microsoft.com/office/drawing/2014/main" id="{F9475901-38A3-A049-A929-A7C2B2B92A66}"/>
              </a:ext>
            </a:extLst>
          </p:cNvPr>
          <p:cNvSpPr>
            <a:spLocks noGrp="1" noChangeArrowheads="1"/>
          </p:cNvSpPr>
          <p:nvPr>
            <p:ph idx="1"/>
          </p:nvPr>
        </p:nvSpPr>
        <p:spPr>
          <a:xfrm>
            <a:off x="823913" y="1465263"/>
            <a:ext cx="10515600" cy="4579937"/>
          </a:xfrm>
        </p:spPr>
        <p:txBody>
          <a:bodyPr/>
          <a:lstStyle/>
          <a:p>
            <a:pPr algn="just" eaLnBrk="1" hangingPunct="1">
              <a:lnSpc>
                <a:spcPct val="110000"/>
              </a:lnSpc>
              <a:spcAft>
                <a:spcPts val="600"/>
              </a:spcAft>
              <a:buFont typeface="Arial" panose="020B0604020202020204" pitchFamily="34" charset="0"/>
              <a:buNone/>
            </a:pPr>
            <a:r>
              <a:rPr lang="en-US" altLang="zh-CN" dirty="0"/>
              <a:t>  </a:t>
            </a:r>
            <a:r>
              <a:rPr lang="zh-CN" altLang="en-US" sz="2800" dirty="0"/>
              <a:t>分组密码的设计问题在于：找到一种算法，</a:t>
            </a:r>
            <a:r>
              <a:rPr lang="zh-CN" altLang="en-US" sz="2800" dirty="0">
                <a:highlight>
                  <a:srgbClr val="FFFF00"/>
                </a:highlight>
              </a:rPr>
              <a:t>能在密钥控制下</a:t>
            </a:r>
            <a:r>
              <a:rPr lang="zh-CN" altLang="en-US" sz="2800" dirty="0"/>
              <a:t>从一个</a:t>
            </a:r>
            <a:r>
              <a:rPr lang="zh-CN" altLang="en-US" sz="2800" u="sng" dirty="0"/>
              <a:t>足够大且足够好</a:t>
            </a:r>
            <a:r>
              <a:rPr lang="zh-CN" altLang="en-US" sz="2800" dirty="0"/>
              <a:t>的置换子集中，</a:t>
            </a:r>
            <a:r>
              <a:rPr lang="zh-CN" altLang="en-US" sz="2800" u="sng" dirty="0"/>
              <a:t>简单而迅速地选出一个置换</a:t>
            </a:r>
            <a:r>
              <a:rPr lang="zh-CN" altLang="en-US" sz="2800" dirty="0"/>
              <a:t>，用来对当前输入的明文的数字组进行加密变换。</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a:extLst>
              <a:ext uri="{FF2B5EF4-FFF2-40B4-BE49-F238E27FC236}">
                <a16:creationId xmlns:a16="http://schemas.microsoft.com/office/drawing/2014/main" id="{7E2C0A98-1253-4048-ABEE-A0A7C1F1C674}"/>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安全性设计原则</a:t>
            </a:r>
          </a:p>
        </p:txBody>
      </p:sp>
      <p:sp>
        <p:nvSpPr>
          <p:cNvPr id="3" name="内容占位符 2">
            <a:extLst>
              <a:ext uri="{FF2B5EF4-FFF2-40B4-BE49-F238E27FC236}">
                <a16:creationId xmlns:a16="http://schemas.microsoft.com/office/drawing/2014/main" id="{CF26C804-34AB-E948-92D2-BE545180D21A}"/>
              </a:ext>
            </a:extLst>
          </p:cNvPr>
          <p:cNvSpPr>
            <a:spLocks noGrp="1"/>
          </p:cNvSpPr>
          <p:nvPr>
            <p:ph idx="1"/>
          </p:nvPr>
        </p:nvSpPr>
        <p:spPr>
          <a:xfrm>
            <a:off x="823913" y="1465263"/>
            <a:ext cx="10515600" cy="4579937"/>
          </a:xfrm>
        </p:spPr>
        <p:txBody>
          <a:bodyPr/>
          <a:lstStyle/>
          <a:p>
            <a:pPr>
              <a:lnSpc>
                <a:spcPct val="135000"/>
              </a:lnSpc>
            </a:pPr>
            <a:r>
              <a:rPr lang="zh-CN" altLang="en-US" sz="2800" dirty="0">
                <a:solidFill>
                  <a:srgbClr val="FF0066"/>
                </a:solidFill>
                <a:effectLst>
                  <a:outerShdw blurRad="38100" dist="38100" dir="2700000" algn="tl">
                    <a:srgbClr val="C0C0C0"/>
                  </a:outerShdw>
                </a:effectLst>
                <a:latin typeface="Times New Roman" panose="02020603050405020304" pitchFamily="18" charset="0"/>
              </a:rPr>
              <a:t>1. </a:t>
            </a:r>
            <a:r>
              <a:rPr lang="zh-CN" altLang="en-US" sz="2800" dirty="0">
                <a:solidFill>
                  <a:srgbClr val="3333FF"/>
                </a:solidFill>
                <a:effectLst>
                  <a:outerShdw blurRad="38100" dist="38100" dir="2700000" algn="tl">
                    <a:srgbClr val="C0C0C0"/>
                  </a:outerShdw>
                </a:effectLst>
                <a:latin typeface="Times New Roman" panose="02020603050405020304" pitchFamily="18" charset="0"/>
              </a:rPr>
              <a:t>混淆原则</a:t>
            </a:r>
            <a:r>
              <a:rPr lang="zh-CN" altLang="en-US" sz="2800" dirty="0">
                <a:effectLst>
                  <a:outerShdw blurRad="38100" dist="38100" dir="2700000" algn="tl">
                    <a:srgbClr val="C0C0C0"/>
                  </a:outerShdw>
                </a:effectLst>
                <a:latin typeface="Times New Roman" panose="02020603050405020304" pitchFamily="18" charset="0"/>
              </a:rPr>
              <a:t>(</a:t>
            </a:r>
            <a:r>
              <a:rPr lang="zh-CN" altLang="zh-CN" sz="2800" dirty="0">
                <a:effectLst>
                  <a:outerShdw blurRad="38100" dist="38100" dir="2700000" algn="tl">
                    <a:srgbClr val="C0C0C0"/>
                  </a:outerShdw>
                </a:effectLst>
                <a:latin typeface="Times New Roman" panose="02020603050405020304" pitchFamily="18" charset="0"/>
              </a:rPr>
              <a:t>Confusion)</a:t>
            </a:r>
            <a:endParaRPr lang="en-US" altLang="zh-CN" sz="2800" dirty="0">
              <a:solidFill>
                <a:srgbClr val="FF0066"/>
              </a:solidFill>
              <a:effectLst>
                <a:outerShdw blurRad="38100" dist="38100" dir="2700000" algn="tl">
                  <a:srgbClr val="C0C0C0"/>
                </a:outerShdw>
              </a:effectLst>
              <a:latin typeface="Times New Roman" panose="02020603050405020304" pitchFamily="18" charset="0"/>
            </a:endParaRPr>
          </a:p>
          <a:p>
            <a:pPr>
              <a:lnSpc>
                <a:spcPct val="120000"/>
              </a:lnSpc>
            </a:pPr>
            <a:r>
              <a:rPr lang="zh-CN" altLang="en-US" dirty="0">
                <a:solidFill>
                  <a:srgbClr val="0000FF"/>
                </a:solidFill>
                <a:latin typeface="Times New Roman" panose="02020603050405020304" pitchFamily="18" charset="0"/>
              </a:rPr>
              <a:t>　　</a:t>
            </a:r>
            <a:r>
              <a:rPr lang="zh-CN" altLang="en-US" dirty="0">
                <a:latin typeface="Times New Roman" panose="02020603050405020304" pitchFamily="18" charset="0"/>
              </a:rPr>
              <a:t>混淆原则</a:t>
            </a:r>
            <a:r>
              <a:rPr lang="zh-CN" altLang="en-US" dirty="0">
                <a:solidFill>
                  <a:srgbClr val="0000FF"/>
                </a:solidFill>
                <a:latin typeface="Times New Roman" panose="02020603050405020304" pitchFamily="18" charset="0"/>
              </a:rPr>
              <a:t>就是将</a:t>
            </a:r>
            <a:r>
              <a:rPr lang="zh-CN" altLang="en-US" dirty="0">
                <a:solidFill>
                  <a:srgbClr val="CC0066"/>
                </a:solidFill>
                <a:latin typeface="Times New Roman" panose="02020603050405020304" pitchFamily="18" charset="0"/>
              </a:rPr>
              <a:t>密文、</a:t>
            </a:r>
            <a:r>
              <a:rPr lang="zh-CN" altLang="zh-CN" dirty="0">
                <a:solidFill>
                  <a:srgbClr val="CC0066"/>
                </a:solidFill>
                <a:latin typeface="Times New Roman" panose="02020603050405020304" pitchFamily="18" charset="0"/>
              </a:rPr>
              <a:t>明文、</a:t>
            </a:r>
            <a:r>
              <a:rPr lang="zh-CN" altLang="en-US" dirty="0">
                <a:solidFill>
                  <a:srgbClr val="CC0066"/>
                </a:solidFill>
                <a:latin typeface="Times New Roman" panose="02020603050405020304" pitchFamily="18" charset="0"/>
              </a:rPr>
              <a:t>密钥三者之间</a:t>
            </a:r>
            <a:r>
              <a:rPr lang="zh-CN" altLang="en-US" dirty="0">
                <a:solidFill>
                  <a:srgbClr val="0000FF"/>
                </a:solidFill>
                <a:latin typeface="Times New Roman" panose="02020603050405020304" pitchFamily="18" charset="0"/>
              </a:rPr>
              <a:t>的统计关系和代数</a:t>
            </a:r>
            <a:r>
              <a:rPr lang="zh-CN" altLang="en-US" dirty="0">
                <a:solidFill>
                  <a:srgbClr val="CC0066"/>
                </a:solidFill>
                <a:latin typeface="Times New Roman" panose="02020603050405020304" pitchFamily="18" charset="0"/>
              </a:rPr>
              <a:t>关系</a:t>
            </a:r>
            <a:r>
              <a:rPr lang="zh-CN" altLang="en-US" dirty="0">
                <a:solidFill>
                  <a:srgbClr val="0000FF"/>
                </a:solidFill>
                <a:latin typeface="Times New Roman" panose="02020603050405020304" pitchFamily="18" charset="0"/>
              </a:rPr>
              <a:t>变得尽可能复杂，使得敌手即使获得了密文和明文，也无法求出密钥的任何信息；即使获得了密文和明文的统计规律，也无法求出明文的新的信息。</a:t>
            </a:r>
          </a:p>
          <a:p>
            <a:pPr>
              <a:lnSpc>
                <a:spcPct val="120000"/>
              </a:lnSpc>
            </a:pPr>
            <a:r>
              <a:rPr lang="zh-CN" altLang="en-US" dirty="0">
                <a:solidFill>
                  <a:srgbClr val="0000FF"/>
                </a:solidFill>
                <a:latin typeface="Times New Roman" panose="02020603050405020304" pitchFamily="18" charset="0"/>
              </a:rPr>
              <a:t>　　</a:t>
            </a:r>
            <a:r>
              <a:rPr lang="zh-CN" altLang="en-US" dirty="0">
                <a:solidFill>
                  <a:srgbClr val="CC0066"/>
                </a:solidFill>
                <a:latin typeface="Times New Roman" panose="02020603050405020304" pitchFamily="18" charset="0"/>
              </a:rPr>
              <a:t>可进一步理解为：</a:t>
            </a:r>
            <a:endParaRPr lang="zh-CN" altLang="en-US" dirty="0">
              <a:solidFill>
                <a:srgbClr val="0000FF"/>
              </a:solidFill>
              <a:latin typeface="Times New Roman" panose="02020603050405020304" pitchFamily="18" charset="0"/>
            </a:endParaRPr>
          </a:p>
          <a:p>
            <a:pPr>
              <a:lnSpc>
                <a:spcPct val="120000"/>
              </a:lnSpc>
            </a:pPr>
            <a:r>
              <a:rPr lang="zh-CN" altLang="en-US" dirty="0">
                <a:solidFill>
                  <a:srgbClr val="0000FF"/>
                </a:solidFill>
                <a:latin typeface="Times New Roman" panose="02020603050405020304" pitchFamily="18" charset="0"/>
              </a:rPr>
              <a:t>　　（</a:t>
            </a:r>
            <a:r>
              <a:rPr lang="zh-CN" altLang="zh-CN" dirty="0">
                <a:solidFill>
                  <a:srgbClr val="0000FF"/>
                </a:solidFill>
                <a:latin typeface="Times New Roman" panose="02020603050405020304" pitchFamily="18" charset="0"/>
              </a:rPr>
              <a:t>1</a:t>
            </a:r>
            <a:r>
              <a:rPr lang="zh-CN" altLang="en-US" dirty="0">
                <a:solidFill>
                  <a:srgbClr val="0000FF"/>
                </a:solidFill>
                <a:latin typeface="Times New Roman" panose="02020603050405020304" pitchFamily="18" charset="0"/>
              </a:rPr>
              <a:t>）明文不能由已知的明文，密文及少许密钥比特代数地或统计地表示出来。</a:t>
            </a:r>
          </a:p>
          <a:p>
            <a:pPr>
              <a:lnSpc>
                <a:spcPct val="120000"/>
              </a:lnSpc>
            </a:pPr>
            <a:r>
              <a:rPr lang="zh-CN" altLang="en-US" dirty="0">
                <a:solidFill>
                  <a:srgbClr val="0000FF"/>
                </a:solidFill>
                <a:latin typeface="Arial" panose="020B0604020202020204" pitchFamily="34" charset="0"/>
              </a:rPr>
              <a:t>　　（</a:t>
            </a:r>
            <a:r>
              <a:rPr lang="zh-CN" altLang="zh-CN" dirty="0">
                <a:solidFill>
                  <a:srgbClr val="0000FF"/>
                </a:solidFill>
                <a:latin typeface="Arial" panose="020B0604020202020204" pitchFamily="34" charset="0"/>
              </a:rPr>
              <a:t>2</a:t>
            </a:r>
            <a:r>
              <a:rPr lang="zh-CN" altLang="en-US" dirty="0">
                <a:solidFill>
                  <a:srgbClr val="0000FF"/>
                </a:solidFill>
                <a:latin typeface="Arial" panose="020B0604020202020204" pitchFamily="34" charset="0"/>
              </a:rPr>
              <a:t>）</a:t>
            </a:r>
            <a:r>
              <a:rPr lang="zh-CN" altLang="en-US" dirty="0">
                <a:solidFill>
                  <a:srgbClr val="0000FF"/>
                </a:solidFill>
                <a:latin typeface="Times New Roman" panose="02020603050405020304" pitchFamily="18" charset="0"/>
              </a:rPr>
              <a:t>密钥不能由已知的明文，密文及少许密钥比特代数地或统计地表示出来。</a:t>
            </a:r>
          </a:p>
        </p:txBody>
      </p:sp>
    </p:spTree>
  </p:cSld>
  <p:clrMapOvr>
    <a:masterClrMapping/>
  </p:clrMapOvr>
  <p:transition spd="slow">
    <p:pull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a:extLst>
              <a:ext uri="{FF2B5EF4-FFF2-40B4-BE49-F238E27FC236}">
                <a16:creationId xmlns:a16="http://schemas.microsoft.com/office/drawing/2014/main" id="{B87550DC-7A02-0342-88BC-207A482F1C2D}"/>
              </a:ext>
            </a:extLst>
          </p:cNvPr>
          <p:cNvSpPr>
            <a:spLocks noGrp="1" noChangeArrowheads="1"/>
          </p:cNvSpPr>
          <p:nvPr>
            <p:ph type="title"/>
          </p:nvPr>
        </p:nvSpPr>
        <p:spPr>
          <a:xfrm>
            <a:off x="1447800" y="304800"/>
            <a:ext cx="9037638" cy="668338"/>
          </a:xfrm>
        </p:spPr>
        <p:txBody>
          <a:bodyPr/>
          <a:lstStyle/>
          <a:p>
            <a:r>
              <a:rPr lang="zh-CN" altLang="en-US">
                <a:solidFill>
                  <a:srgbClr val="1F4E79"/>
                </a:solidFill>
              </a:rPr>
              <a:t>安全性设计原则</a:t>
            </a:r>
          </a:p>
        </p:txBody>
      </p:sp>
      <p:sp>
        <p:nvSpPr>
          <p:cNvPr id="3" name="内容占位符 2">
            <a:extLst>
              <a:ext uri="{FF2B5EF4-FFF2-40B4-BE49-F238E27FC236}">
                <a16:creationId xmlns:a16="http://schemas.microsoft.com/office/drawing/2014/main" id="{9FD2E2F2-A0BC-2349-BAC4-F712A4DFE6FD}"/>
              </a:ext>
            </a:extLst>
          </p:cNvPr>
          <p:cNvSpPr>
            <a:spLocks noGrp="1"/>
          </p:cNvSpPr>
          <p:nvPr>
            <p:ph idx="1"/>
          </p:nvPr>
        </p:nvSpPr>
        <p:spPr>
          <a:xfrm>
            <a:off x="823913" y="1465263"/>
            <a:ext cx="10515600" cy="4579937"/>
          </a:xfrm>
        </p:spPr>
        <p:txBody>
          <a:bodyPr/>
          <a:lstStyle/>
          <a:p>
            <a:pPr>
              <a:lnSpc>
                <a:spcPct val="120000"/>
              </a:lnSpc>
            </a:pPr>
            <a:r>
              <a:rPr lang="zh-CN" altLang="zh-CN" sz="2800">
                <a:solidFill>
                  <a:srgbClr val="FF0066"/>
                </a:solidFill>
                <a:effectLst>
                  <a:outerShdw blurRad="38100" dist="38100" dir="2700000" algn="tl">
                    <a:srgbClr val="C0C0C0"/>
                  </a:outerShdw>
                </a:effectLst>
                <a:latin typeface="Times New Roman" panose="02020603050405020304" pitchFamily="18" charset="0"/>
              </a:rPr>
              <a:t>2. </a:t>
            </a:r>
            <a:r>
              <a:rPr lang="zh-CN" altLang="en-US" sz="2800">
                <a:solidFill>
                  <a:srgbClr val="FF0066"/>
                </a:solidFill>
                <a:effectLst>
                  <a:outerShdw blurRad="38100" dist="38100" dir="2700000" algn="tl">
                    <a:srgbClr val="C0C0C0"/>
                  </a:outerShdw>
                </a:effectLst>
                <a:latin typeface="Times New Roman" panose="02020603050405020304" pitchFamily="18" charset="0"/>
              </a:rPr>
              <a:t>扩散原则</a:t>
            </a:r>
            <a:r>
              <a:rPr lang="zh-CN" altLang="en-US" sz="2800">
                <a:effectLst>
                  <a:outerShdw blurRad="38100" dist="38100" dir="2700000" algn="tl">
                    <a:srgbClr val="C0C0C0"/>
                  </a:outerShdw>
                </a:effectLst>
                <a:latin typeface="Times New Roman" panose="02020603050405020304" pitchFamily="18" charset="0"/>
              </a:rPr>
              <a:t>(</a:t>
            </a:r>
            <a:r>
              <a:rPr lang="en-US" altLang="zh-CN" sz="2800">
                <a:effectLst>
                  <a:outerShdw blurRad="38100" dist="38100" dir="2700000" algn="tl">
                    <a:srgbClr val="C0C0C0"/>
                  </a:outerShdw>
                </a:effectLst>
                <a:latin typeface="Times New Roman" panose="02020603050405020304" pitchFamily="18" charset="0"/>
              </a:rPr>
              <a:t>Diffusion)</a:t>
            </a:r>
            <a:endParaRPr lang="zh-CN" altLang="zh-CN" sz="2800">
              <a:solidFill>
                <a:srgbClr val="FF0066"/>
              </a:solidFill>
              <a:effectLst>
                <a:outerShdw blurRad="38100" dist="38100" dir="2700000" algn="tl">
                  <a:srgbClr val="C0C0C0"/>
                </a:outerShdw>
              </a:effectLst>
              <a:latin typeface="Times New Roman" panose="02020603050405020304" pitchFamily="18" charset="0"/>
            </a:endParaRPr>
          </a:p>
          <a:p>
            <a:pPr>
              <a:lnSpc>
                <a:spcPct val="120000"/>
              </a:lnSpc>
            </a:pPr>
            <a:r>
              <a:rPr lang="zh-CN" altLang="en-US">
                <a:solidFill>
                  <a:srgbClr val="0000FF"/>
                </a:solidFill>
                <a:latin typeface="Times New Roman" panose="02020603050405020304" pitchFamily="18" charset="0"/>
              </a:rPr>
              <a:t>   　扩散原则就是应将明文的统计规律和结构规律散射到相当长的一段统计中去</a:t>
            </a:r>
            <a:r>
              <a:rPr lang="zh-CN" altLang="en-US">
                <a:latin typeface="Times New Roman" panose="02020603050405020304" pitchFamily="18" charset="0"/>
              </a:rPr>
              <a:t>(</a:t>
            </a:r>
            <a:r>
              <a:rPr lang="zh-CN" altLang="zh-CN">
                <a:latin typeface="Times New Roman" panose="02020603050405020304" pitchFamily="18" charset="0"/>
              </a:rPr>
              <a:t>Shannon的原话)</a:t>
            </a:r>
            <a:r>
              <a:rPr lang="zh-CN" altLang="zh-CN">
                <a:solidFill>
                  <a:srgbClr val="0000FF"/>
                </a:solidFill>
                <a:latin typeface="Times New Roman" panose="02020603050405020304" pitchFamily="18" charset="0"/>
              </a:rPr>
              <a:t>。</a:t>
            </a:r>
          </a:p>
          <a:p>
            <a:pPr>
              <a:lnSpc>
                <a:spcPct val="120000"/>
              </a:lnSpc>
            </a:pPr>
            <a:r>
              <a:rPr lang="zh-CN" altLang="zh-CN">
                <a:solidFill>
                  <a:srgbClr val="0000FF"/>
                </a:solidFill>
                <a:latin typeface="Times New Roman" panose="02020603050405020304" pitchFamily="18" charset="0"/>
              </a:rPr>
              <a:t>        </a:t>
            </a:r>
            <a:r>
              <a:rPr lang="zh-CN" altLang="en-US">
                <a:solidFill>
                  <a:srgbClr val="0000FF"/>
                </a:solidFill>
                <a:latin typeface="Times New Roman" panose="02020603050405020304" pitchFamily="18" charset="0"/>
              </a:rPr>
              <a:t>也就是说让明文中的每一位影响密文中的尽可能多的位，或者说让密文中的每一位都受到明文中的尽可能多位的影响。</a:t>
            </a:r>
          </a:p>
          <a:p>
            <a:pPr>
              <a:lnSpc>
                <a:spcPct val="120000"/>
              </a:lnSpc>
            </a:pPr>
            <a:r>
              <a:rPr lang="zh-CN" altLang="en-US">
                <a:solidFill>
                  <a:srgbClr val="0000FF"/>
                </a:solidFill>
                <a:latin typeface="Times New Roman" panose="02020603050405020304" pitchFamily="18" charset="0"/>
              </a:rPr>
              <a:t>        如果当明文变化一个比特时,密文有某些比特不可能发生变化,则这个明文就与那些密文无关,因而在攻击这个明文比比特时就可不利用那些密文比特.</a:t>
            </a:r>
            <a:endParaRPr lang="zh-CN" altLang="en-US"/>
          </a:p>
        </p:txBody>
      </p:sp>
    </p:spTree>
  </p:cSld>
  <p:clrMapOvr>
    <a:masterClrMapping/>
  </p:clrMapOvr>
  <p:transition spd="slow">
    <p:pull dir="u"/>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09636286-EB9E-2E4F-BEA4-A27E69DD7A83}"/>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分组密码算法应满足的要求</a:t>
            </a:r>
            <a:endParaRPr lang="zh-CN" altLang="en-US">
              <a:solidFill>
                <a:srgbClr val="CC3300"/>
              </a:solidFill>
            </a:endParaRPr>
          </a:p>
        </p:txBody>
      </p:sp>
      <p:sp>
        <p:nvSpPr>
          <p:cNvPr id="12291" name="Rectangle 3">
            <a:extLst>
              <a:ext uri="{FF2B5EF4-FFF2-40B4-BE49-F238E27FC236}">
                <a16:creationId xmlns:a16="http://schemas.microsoft.com/office/drawing/2014/main" id="{26715DE4-84E1-E342-A8AA-3E1547971622}"/>
              </a:ext>
            </a:extLst>
          </p:cNvPr>
          <p:cNvSpPr>
            <a:spLocks noGrp="1" noChangeArrowheads="1"/>
          </p:cNvSpPr>
          <p:nvPr>
            <p:ph idx="1"/>
          </p:nvPr>
        </p:nvSpPr>
        <p:spPr>
          <a:xfrm>
            <a:off x="823913" y="1465263"/>
            <a:ext cx="10515600" cy="4579937"/>
          </a:xfrm>
        </p:spPr>
        <p:txBody>
          <a:bodyPr/>
          <a:lstStyle/>
          <a:p>
            <a:pPr marL="533400" indent="-533400" algn="just" eaLnBrk="1" hangingPunct="1">
              <a:lnSpc>
                <a:spcPct val="120000"/>
              </a:lnSpc>
              <a:spcAft>
                <a:spcPts val="600"/>
              </a:spcAft>
            </a:pPr>
            <a:r>
              <a:rPr lang="zh-CN" altLang="en-US" sz="2800"/>
              <a:t>分组长度</a:t>
            </a:r>
            <a:r>
              <a:rPr lang="en-US" altLang="zh-CN" sz="2800" i="1"/>
              <a:t>n</a:t>
            </a:r>
            <a:r>
              <a:rPr lang="zh-CN" altLang="en-US" sz="2800"/>
              <a:t>要足够大：</a:t>
            </a:r>
          </a:p>
          <a:p>
            <a:pPr marL="533400" indent="-533400" algn="just" eaLnBrk="1" hangingPunct="1">
              <a:lnSpc>
                <a:spcPct val="120000"/>
              </a:lnSpc>
              <a:spcAft>
                <a:spcPts val="600"/>
              </a:spcAft>
              <a:buFont typeface="Arial" panose="020B0604020202020204" pitchFamily="34" charset="0"/>
              <a:buNone/>
            </a:pPr>
            <a:r>
              <a:rPr lang="zh-CN" altLang="en-US"/>
              <a:t>        防止明文穷举攻击法奏效。</a:t>
            </a:r>
          </a:p>
          <a:p>
            <a:pPr marL="533400" indent="-533400" algn="just" eaLnBrk="1" hangingPunct="1">
              <a:lnSpc>
                <a:spcPct val="120000"/>
              </a:lnSpc>
              <a:spcAft>
                <a:spcPts val="600"/>
              </a:spcAft>
            </a:pPr>
            <a:r>
              <a:rPr lang="zh-CN" altLang="en-US" sz="2800"/>
              <a:t>密钥量要足够大：</a:t>
            </a:r>
          </a:p>
          <a:p>
            <a:pPr marL="533400" indent="-533400" algn="just" eaLnBrk="1" hangingPunct="1">
              <a:lnSpc>
                <a:spcPct val="120000"/>
              </a:lnSpc>
              <a:spcAft>
                <a:spcPts val="600"/>
              </a:spcAft>
              <a:buFont typeface="Arial" panose="020B0604020202020204" pitchFamily="34" charset="0"/>
              <a:buNone/>
            </a:pPr>
            <a:r>
              <a:rPr lang="zh-CN" altLang="en-US"/>
              <a:t>       尽可能消除弱密钥并使所有密钥同等地好，以防止密钥穷举攻击奏效</a:t>
            </a:r>
            <a:r>
              <a:rPr lang="zh-CN" altLang="en-US" sz="2800"/>
              <a:t>。</a:t>
            </a:r>
          </a:p>
          <a:p>
            <a:pPr marL="533400" indent="-533400" algn="just" eaLnBrk="1" hangingPunct="1">
              <a:lnSpc>
                <a:spcPct val="120000"/>
              </a:lnSpc>
              <a:spcAft>
                <a:spcPts val="600"/>
              </a:spcAft>
            </a:pPr>
            <a:r>
              <a:rPr lang="zh-CN" altLang="en-US" sz="2800"/>
              <a:t>由密钥确定置换的算法要足够复杂：</a:t>
            </a:r>
          </a:p>
          <a:p>
            <a:pPr marL="533400" indent="-533400" algn="just" eaLnBrk="1" hangingPunct="1">
              <a:lnSpc>
                <a:spcPct val="120000"/>
              </a:lnSpc>
              <a:spcAft>
                <a:spcPts val="600"/>
              </a:spcAft>
              <a:buFont typeface="Arial" panose="020B0604020202020204" pitchFamily="34" charset="0"/>
              <a:buNone/>
            </a:pPr>
            <a:r>
              <a:rPr lang="zh-CN" altLang="en-US"/>
              <a:t>       充分实现明文与密钥的扩散和混淆，没有简单的关系可循</a:t>
            </a:r>
            <a:r>
              <a:rPr lang="zh-CN" altLang="zh-CN"/>
              <a:t>，</a:t>
            </a:r>
            <a:r>
              <a:rPr lang="zh-CN" altLang="en-US"/>
              <a:t>要能抗击各种已知的攻击。   </a:t>
            </a:r>
          </a:p>
          <a:p>
            <a:pPr marL="533400" indent="-533400" eaLnBrk="1" hangingPunct="1"/>
            <a:endParaRPr lang="en-US" altLang="zh-CN"/>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381566E5-CB50-E443-A723-37DE78DE1E87}"/>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分组密码算法应满足的要求</a:t>
            </a:r>
          </a:p>
        </p:txBody>
      </p:sp>
      <p:sp>
        <p:nvSpPr>
          <p:cNvPr id="13315" name="Rectangle 3">
            <a:extLst>
              <a:ext uri="{FF2B5EF4-FFF2-40B4-BE49-F238E27FC236}">
                <a16:creationId xmlns:a16="http://schemas.microsoft.com/office/drawing/2014/main" id="{1AA6D3D6-0F18-5142-8CC2-7C74734170F9}"/>
              </a:ext>
            </a:extLst>
          </p:cNvPr>
          <p:cNvSpPr>
            <a:spLocks noGrp="1" noChangeArrowheads="1"/>
          </p:cNvSpPr>
          <p:nvPr>
            <p:ph idx="1"/>
          </p:nvPr>
        </p:nvSpPr>
        <p:spPr>
          <a:xfrm>
            <a:off x="823913" y="1465263"/>
            <a:ext cx="10515600" cy="4579937"/>
          </a:xfrm>
        </p:spPr>
        <p:txBody>
          <a:bodyPr/>
          <a:lstStyle/>
          <a:p>
            <a:pPr algn="just" eaLnBrk="1" hangingPunct="1">
              <a:lnSpc>
                <a:spcPct val="120000"/>
              </a:lnSpc>
              <a:spcAft>
                <a:spcPts val="600"/>
              </a:spcAft>
            </a:pPr>
            <a:r>
              <a:rPr lang="zh-CN" altLang="en-US" sz="2800"/>
              <a:t>加密和解密运算简单</a:t>
            </a:r>
            <a:r>
              <a:rPr lang="zh-CN" altLang="en-US"/>
              <a:t>：</a:t>
            </a:r>
          </a:p>
          <a:p>
            <a:pPr algn="just" eaLnBrk="1" hangingPunct="1">
              <a:lnSpc>
                <a:spcPct val="120000"/>
              </a:lnSpc>
              <a:spcAft>
                <a:spcPts val="600"/>
              </a:spcAft>
              <a:buFont typeface="Arial" panose="020B0604020202020204" pitchFamily="34" charset="0"/>
              <a:buNone/>
            </a:pPr>
            <a:r>
              <a:rPr lang="zh-CN" altLang="en-US"/>
              <a:t>     易于软件和硬件高速实现。</a:t>
            </a:r>
          </a:p>
          <a:p>
            <a:pPr algn="just" eaLnBrk="1" hangingPunct="1">
              <a:lnSpc>
                <a:spcPct val="120000"/>
              </a:lnSpc>
              <a:spcAft>
                <a:spcPts val="600"/>
              </a:spcAft>
            </a:pPr>
            <a:r>
              <a:rPr lang="zh-CN" altLang="en-US" sz="2800"/>
              <a:t>数据扩展：</a:t>
            </a:r>
            <a:endParaRPr lang="zh-CN" altLang="en-US"/>
          </a:p>
          <a:p>
            <a:pPr algn="just" eaLnBrk="1" hangingPunct="1">
              <a:lnSpc>
                <a:spcPct val="120000"/>
              </a:lnSpc>
              <a:spcAft>
                <a:spcPts val="600"/>
              </a:spcAft>
              <a:buFont typeface="Arial" panose="020B0604020202020204" pitchFamily="34" charset="0"/>
              <a:buNone/>
            </a:pPr>
            <a:r>
              <a:rPr lang="zh-CN" altLang="en-US"/>
              <a:t>     一般无数据扩展，在采用同态置换和随机化加密技术时可引入数据扩展。</a:t>
            </a:r>
          </a:p>
          <a:p>
            <a:pPr algn="just" eaLnBrk="1" hangingPunct="1">
              <a:lnSpc>
                <a:spcPct val="120000"/>
              </a:lnSpc>
              <a:spcAft>
                <a:spcPts val="600"/>
              </a:spcAft>
            </a:pPr>
            <a:r>
              <a:rPr lang="zh-CN" altLang="en-US" sz="2800"/>
              <a:t>差错传播尽可能地小</a:t>
            </a:r>
            <a:r>
              <a:rPr lang="zh-CN" altLang="en-US"/>
              <a:t>。</a:t>
            </a:r>
            <a:endParaRPr lang="en-US" altLang="zh-CN"/>
          </a:p>
          <a:p>
            <a:pPr marL="457200" lvl="1" indent="0" algn="just" eaLnBrk="1" hangingPunct="1">
              <a:lnSpc>
                <a:spcPct val="120000"/>
              </a:lnSpc>
              <a:spcAft>
                <a:spcPts val="600"/>
              </a:spcAft>
              <a:buFont typeface="Arial" panose="020B0604020202020204" pitchFamily="34" charset="0"/>
              <a:buNone/>
            </a:pPr>
            <a:r>
              <a:rPr lang="zh-CN" altLang="en-US" sz="2400"/>
              <a:t>一个密文分组的错误尽可能少的影响其他密文分组的解密</a:t>
            </a:r>
          </a:p>
          <a:p>
            <a:pPr algn="just" eaLnBrk="1" hangingPunct="1">
              <a:spcAft>
                <a:spcPts val="600"/>
              </a:spcAft>
              <a:buFont typeface="Arial" panose="020B0604020202020204" pitchFamily="34" charset="0"/>
              <a:buNone/>
            </a:pPr>
            <a:r>
              <a:rPr lang="zh-CN" altLang="en-US"/>
              <a:t>     </a:t>
            </a:r>
          </a:p>
          <a:p>
            <a:pPr eaLnBrk="1" hangingPunct="1">
              <a:spcAft>
                <a:spcPts val="600"/>
              </a:spcAft>
              <a:buFont typeface="Arial" panose="020B0604020202020204" pitchFamily="34" charset="0"/>
              <a:buNone/>
            </a:pPr>
            <a:endParaRPr lang="en-US" altLang="zh-CN"/>
          </a:p>
        </p:txBody>
      </p:sp>
      <p:sp>
        <p:nvSpPr>
          <p:cNvPr id="99331" name="Text Box 4">
            <a:extLst>
              <a:ext uri="{FF2B5EF4-FFF2-40B4-BE49-F238E27FC236}">
                <a16:creationId xmlns:a16="http://schemas.microsoft.com/office/drawing/2014/main" id="{82F2B246-7537-4C4B-8122-B3CBE750F5BB}"/>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99332" name="Text Box 5">
            <a:extLst>
              <a:ext uri="{FF2B5EF4-FFF2-40B4-BE49-F238E27FC236}">
                <a16:creationId xmlns:a16="http://schemas.microsoft.com/office/drawing/2014/main" id="{72E3BAEB-1374-644A-84B8-9D97016C6696}"/>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99333" name="Text Box 6">
            <a:extLst>
              <a:ext uri="{FF2B5EF4-FFF2-40B4-BE49-F238E27FC236}">
                <a16:creationId xmlns:a16="http://schemas.microsoft.com/office/drawing/2014/main" id="{650A0BFA-3508-E14D-9E75-3942EB1F792B}"/>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99334" name="Text Box 7">
            <a:extLst>
              <a:ext uri="{FF2B5EF4-FFF2-40B4-BE49-F238E27FC236}">
                <a16:creationId xmlns:a16="http://schemas.microsoft.com/office/drawing/2014/main" id="{58B4E064-8F1E-F44B-B44F-69ABD0DE2C3E}"/>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99335" name="Text Box 8">
            <a:extLst>
              <a:ext uri="{FF2B5EF4-FFF2-40B4-BE49-F238E27FC236}">
                <a16:creationId xmlns:a16="http://schemas.microsoft.com/office/drawing/2014/main" id="{6B50AE6F-8091-EE44-9997-7E8CFFBF9A41}"/>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37211325-B0A0-394F-B157-86A80A447ABB}"/>
              </a:ext>
            </a:extLst>
          </p:cNvPr>
          <p:cNvSpPr>
            <a:spLocks noGrp="1" noChangeArrowheads="1"/>
          </p:cNvSpPr>
          <p:nvPr>
            <p:ph type="title"/>
          </p:nvPr>
        </p:nvSpPr>
        <p:spPr>
          <a:xfrm>
            <a:off x="1371600" y="304800"/>
            <a:ext cx="9037638" cy="668338"/>
          </a:xfrm>
        </p:spPr>
        <p:txBody>
          <a:bodyPr/>
          <a:lstStyle/>
          <a:p>
            <a:pPr eaLnBrk="1" hangingPunct="1"/>
            <a:r>
              <a:rPr lang="zh-CN" altLang="en-US">
                <a:solidFill>
                  <a:srgbClr val="1F4E79"/>
                </a:solidFill>
              </a:rPr>
              <a:t>分组密码的实现原则</a:t>
            </a:r>
          </a:p>
        </p:txBody>
      </p:sp>
      <p:sp>
        <p:nvSpPr>
          <p:cNvPr id="100354" name="Rectangle 3">
            <a:extLst>
              <a:ext uri="{FF2B5EF4-FFF2-40B4-BE49-F238E27FC236}">
                <a16:creationId xmlns:a16="http://schemas.microsoft.com/office/drawing/2014/main" id="{DE6F63A3-BBB0-374E-B54A-8CECEA7F9B6E}"/>
              </a:ext>
            </a:extLst>
          </p:cNvPr>
          <p:cNvSpPr>
            <a:spLocks noGrp="1" noChangeArrowheads="1"/>
          </p:cNvSpPr>
          <p:nvPr>
            <p:ph idx="1"/>
          </p:nvPr>
        </p:nvSpPr>
        <p:spPr>
          <a:xfrm>
            <a:off x="823913" y="1465263"/>
            <a:ext cx="10515600" cy="4579937"/>
          </a:xfrm>
        </p:spPr>
        <p:txBody>
          <a:bodyPr/>
          <a:lstStyle/>
          <a:p>
            <a:pPr algn="just" eaLnBrk="1" hangingPunct="1">
              <a:lnSpc>
                <a:spcPct val="115000"/>
              </a:lnSpc>
            </a:pPr>
            <a:r>
              <a:rPr lang="zh-CN" altLang="en-US" sz="2800">
                <a:solidFill>
                  <a:schemeClr val="hlink"/>
                </a:solidFill>
              </a:rPr>
              <a:t>软件实现的原则</a:t>
            </a:r>
            <a:r>
              <a:rPr lang="zh-CN" altLang="en-US" sz="2800"/>
              <a:t>：</a:t>
            </a:r>
            <a:endParaRPr lang="en-US" altLang="zh-CN" sz="2800"/>
          </a:p>
          <a:p>
            <a:pPr lvl="1" algn="just" eaLnBrk="1" hangingPunct="1">
              <a:lnSpc>
                <a:spcPct val="115000"/>
              </a:lnSpc>
            </a:pPr>
            <a:r>
              <a:rPr lang="zh-CN" altLang="en-US" sz="2400"/>
              <a:t>使用子块和简单的运算。如将分组</a:t>
            </a:r>
            <a:r>
              <a:rPr lang="en-US" altLang="zh-CN" sz="2400" i="1"/>
              <a:t>n</a:t>
            </a:r>
            <a:r>
              <a:rPr lang="zh-CN" altLang="en-US" sz="2400"/>
              <a:t>化分为子段，每段长为</a:t>
            </a:r>
            <a:r>
              <a:rPr lang="en-US" altLang="zh-CN" sz="2400">
                <a:solidFill>
                  <a:schemeClr val="hlink"/>
                </a:solidFill>
              </a:rPr>
              <a:t>8</a:t>
            </a:r>
            <a:r>
              <a:rPr lang="zh-CN" altLang="en-US" sz="2400">
                <a:solidFill>
                  <a:schemeClr val="hlink"/>
                </a:solidFill>
              </a:rPr>
              <a:t>、</a:t>
            </a:r>
            <a:r>
              <a:rPr lang="en-US" altLang="zh-CN" sz="2400">
                <a:solidFill>
                  <a:schemeClr val="hlink"/>
                </a:solidFill>
              </a:rPr>
              <a:t>16</a:t>
            </a:r>
            <a:r>
              <a:rPr lang="zh-CN" altLang="en-US" sz="2400"/>
              <a:t>或</a:t>
            </a:r>
            <a:r>
              <a:rPr lang="en-US" altLang="zh-CN" sz="2400">
                <a:solidFill>
                  <a:schemeClr val="hlink"/>
                </a:solidFill>
              </a:rPr>
              <a:t>32</a:t>
            </a:r>
            <a:r>
              <a:rPr lang="zh-CN" altLang="en-US" sz="2400"/>
              <a:t>。在以软件实现时，应选用简单的运算，使作用于子段上的密码运算易于以标准处理器的基本运算，如</a:t>
            </a:r>
            <a:r>
              <a:rPr lang="zh-CN" altLang="en-US" sz="2400">
                <a:solidFill>
                  <a:schemeClr val="hlink"/>
                </a:solidFill>
              </a:rPr>
              <a:t>加、乘、移位</a:t>
            </a:r>
            <a:r>
              <a:rPr lang="zh-CN" altLang="en-US" sz="2400"/>
              <a:t>等实现，避免用以软件难于实现的逐比特置换。</a:t>
            </a:r>
          </a:p>
          <a:p>
            <a:pPr algn="just" eaLnBrk="1" hangingPunct="1">
              <a:lnSpc>
                <a:spcPct val="115000"/>
              </a:lnSpc>
            </a:pPr>
            <a:r>
              <a:rPr lang="zh-CN" altLang="en-US" sz="2800">
                <a:solidFill>
                  <a:schemeClr val="hlink"/>
                </a:solidFill>
              </a:rPr>
              <a:t>硬件实现的原则</a:t>
            </a:r>
            <a:r>
              <a:rPr lang="zh-CN" altLang="en-US" sz="2800"/>
              <a:t>：</a:t>
            </a:r>
            <a:endParaRPr lang="en-US" altLang="zh-CN" sz="2800"/>
          </a:p>
          <a:p>
            <a:pPr lvl="1" algn="just" eaLnBrk="1" hangingPunct="1">
              <a:lnSpc>
                <a:spcPct val="115000"/>
              </a:lnSpc>
            </a:pPr>
            <a:r>
              <a:rPr lang="zh-CN" altLang="en-US" sz="2400"/>
              <a:t>加密解密可用同样的器件来实现。</a:t>
            </a:r>
          </a:p>
          <a:p>
            <a:pPr algn="just" eaLnBrk="1" hangingPunct="1"/>
            <a:endParaRPr lang="en-US" altLang="zh-CN"/>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副标题 2">
            <a:extLst>
              <a:ext uri="{FF2B5EF4-FFF2-40B4-BE49-F238E27FC236}">
                <a16:creationId xmlns:a16="http://schemas.microsoft.com/office/drawing/2014/main" id="{006CBD52-A7DC-694C-A18C-A2AA7F938B61}"/>
              </a:ext>
            </a:extLst>
          </p:cNvPr>
          <p:cNvSpPr>
            <a:spLocks noGrp="1" noChangeArrowheads="1"/>
          </p:cNvSpPr>
          <p:nvPr>
            <p:ph type="subTitle" idx="1"/>
          </p:nvPr>
        </p:nvSpPr>
        <p:spPr>
          <a:xfrm>
            <a:off x="0" y="3048000"/>
            <a:ext cx="12192000" cy="790575"/>
          </a:xfrm>
        </p:spPr>
        <p:txBody>
          <a:bodyPr/>
          <a:lstStyle/>
          <a:p>
            <a:r>
              <a:rPr lang="en-US" altLang="zh-CN" sz="3600" b="1"/>
              <a:t>SP</a:t>
            </a:r>
            <a:r>
              <a:rPr lang="zh-CN" altLang="en-US" sz="3600" b="1"/>
              <a:t>网络</a:t>
            </a:r>
            <a:endParaRPr lang="en-US" altLang="zh-CN" sz="3600" b="1"/>
          </a:p>
        </p:txBody>
      </p:sp>
    </p:spTree>
  </p:cSld>
  <p:clrMapOvr>
    <a:masterClrMapping/>
  </p:clrMapOvr>
  <p:transition spd="slow">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3">
            <a:extLst>
              <a:ext uri="{FF2B5EF4-FFF2-40B4-BE49-F238E27FC236}">
                <a16:creationId xmlns:a16="http://schemas.microsoft.com/office/drawing/2014/main" id="{82A07096-37B0-E54C-B765-E4F43ECF1481}"/>
              </a:ext>
            </a:extLst>
          </p:cNvPr>
          <p:cNvSpPr>
            <a:spLocks noGrp="1" noChangeArrowheads="1"/>
          </p:cNvSpPr>
          <p:nvPr>
            <p:ph type="title"/>
          </p:nvPr>
        </p:nvSpPr>
        <p:spPr>
          <a:xfrm>
            <a:off x="1465263" y="365125"/>
            <a:ext cx="9037637" cy="668338"/>
          </a:xfrm>
        </p:spPr>
        <p:txBody>
          <a:bodyPr/>
          <a:lstStyle/>
          <a:p>
            <a:pPr>
              <a:lnSpc>
                <a:spcPct val="150000"/>
              </a:lnSpc>
              <a:spcBef>
                <a:spcPct val="50000"/>
              </a:spcBef>
            </a:pPr>
            <a:r>
              <a:rPr lang="zh-CN" altLang="en-US" sz="2600">
                <a:solidFill>
                  <a:srgbClr val="1F4E79"/>
                </a:solidFill>
              </a:rPr>
              <a:t>代换的定义</a:t>
            </a:r>
          </a:p>
        </p:txBody>
      </p:sp>
      <p:sp>
        <p:nvSpPr>
          <p:cNvPr id="103426" name="Rectangle 2">
            <a:extLst>
              <a:ext uri="{FF2B5EF4-FFF2-40B4-BE49-F238E27FC236}">
                <a16:creationId xmlns:a16="http://schemas.microsoft.com/office/drawing/2014/main" id="{3521B7F7-DA6C-A742-A089-31ED398D2E93}"/>
              </a:ext>
            </a:extLst>
          </p:cNvPr>
          <p:cNvSpPr>
            <a:spLocks noGrp="1" noChangeArrowheads="1"/>
          </p:cNvSpPr>
          <p:nvPr>
            <p:ph idx="1"/>
          </p:nvPr>
        </p:nvSpPr>
        <p:spPr>
          <a:xfrm>
            <a:off x="823913" y="1465263"/>
            <a:ext cx="10515600" cy="4579937"/>
          </a:xfrm>
        </p:spPr>
        <p:txBody>
          <a:bodyPr/>
          <a:lstStyle/>
          <a:p>
            <a:pPr marL="287338" indent="-6350">
              <a:lnSpc>
                <a:spcPct val="120000"/>
              </a:lnSpc>
            </a:pPr>
            <a:r>
              <a:rPr lang="zh-CN" altLang="en-US" sz="2800" dirty="0">
                <a:latin typeface="Times New Roman" panose="02020603050405020304" pitchFamily="18" charset="0"/>
              </a:rPr>
              <a:t>如果明文和密文的分组长都为</a:t>
            </a:r>
            <a:r>
              <a:rPr lang="en-US" altLang="zh-CN" sz="2800" dirty="0">
                <a:latin typeface="Times New Roman" panose="02020603050405020304" pitchFamily="18" charset="0"/>
              </a:rPr>
              <a:t>n</a:t>
            </a:r>
            <a:r>
              <a:rPr lang="zh-CN" altLang="en-US" sz="2800" dirty="0">
                <a:latin typeface="Times New Roman" panose="02020603050405020304" pitchFamily="18" charset="0"/>
              </a:rPr>
              <a:t>比特，则明文的每一个分组都有</a:t>
            </a:r>
            <a:r>
              <a:rPr lang="en-US" altLang="zh-CN" sz="2800" dirty="0">
                <a:latin typeface="Times New Roman" panose="02020603050405020304" pitchFamily="18" charset="0"/>
              </a:rPr>
              <a:t>2</a:t>
            </a:r>
            <a:r>
              <a:rPr lang="en-US" altLang="zh-CN" sz="2800" baseline="30000" dirty="0">
                <a:latin typeface="Times New Roman" panose="02020603050405020304" pitchFamily="18" charset="0"/>
              </a:rPr>
              <a:t>n</a:t>
            </a:r>
            <a:r>
              <a:rPr lang="zh-CN" altLang="en-US" sz="2800" dirty="0">
                <a:latin typeface="Times New Roman" panose="02020603050405020304" pitchFamily="18" charset="0"/>
              </a:rPr>
              <a:t>个可能的取值。为使加密运算可逆（使解密运算可行），明文的每一个分组都应产生惟一的一个密文分组，这样的变换是可逆的，称明文分组到密文分组的</a:t>
            </a:r>
            <a:r>
              <a:rPr lang="zh-CN" altLang="en-US" sz="2800" dirty="0">
                <a:solidFill>
                  <a:srgbClr val="FF0000"/>
                </a:solidFill>
                <a:latin typeface="Times New Roman" panose="02020603050405020304" pitchFamily="18" charset="0"/>
              </a:rPr>
              <a:t>可逆变换</a:t>
            </a:r>
            <a:r>
              <a:rPr lang="zh-CN" altLang="en-US" sz="2800" dirty="0">
                <a:latin typeface="Times New Roman" panose="02020603050405020304" pitchFamily="18" charset="0"/>
              </a:rPr>
              <a:t>为</a:t>
            </a:r>
            <a:r>
              <a:rPr lang="zh-CN" altLang="en-US" sz="2800" dirty="0">
                <a:solidFill>
                  <a:srgbClr val="FF0000"/>
                </a:solidFill>
                <a:latin typeface="Times New Roman" panose="02020603050405020304" pitchFamily="18" charset="0"/>
              </a:rPr>
              <a:t>代换</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a:p>
            <a:pPr marL="287338" indent="-6350">
              <a:lnSpc>
                <a:spcPct val="120000"/>
              </a:lnSpc>
            </a:pPr>
            <a:endParaRPr lang="en-US" altLang="zh-CN" sz="2800" dirty="0">
              <a:latin typeface="Times New Roman" panose="02020603050405020304" pitchFamily="18" charset="0"/>
            </a:endParaRPr>
          </a:p>
          <a:p>
            <a:pPr marL="287338" indent="-6350">
              <a:lnSpc>
                <a:spcPct val="120000"/>
              </a:lnSpc>
            </a:pPr>
            <a:r>
              <a:rPr lang="zh-CN" altLang="en-US" sz="2800" dirty="0">
                <a:latin typeface="Times New Roman" panose="02020603050405020304" pitchFamily="18" charset="0"/>
              </a:rPr>
              <a:t>不同可逆变换的个数有</a:t>
            </a:r>
            <a:r>
              <a:rPr lang="en-US" altLang="zh-CN" sz="2800" dirty="0">
                <a:latin typeface="Times New Roman" panose="02020603050405020304" pitchFamily="18" charset="0"/>
              </a:rPr>
              <a:t>2</a:t>
            </a:r>
            <a:r>
              <a:rPr lang="en-US" altLang="zh-CN" sz="2800" baseline="30000" dirty="0">
                <a:latin typeface="Times New Roman" panose="02020603050405020304" pitchFamily="18" charset="0"/>
              </a:rPr>
              <a:t>n</a:t>
            </a:r>
            <a:r>
              <a:rPr lang="en-US" altLang="zh-CN" sz="2800" dirty="0">
                <a:latin typeface="Times New Roman" panose="02020603050405020304" pitchFamily="18" charset="0"/>
              </a:rPr>
              <a:t>!</a:t>
            </a:r>
            <a:r>
              <a:rPr lang="zh-CN" altLang="en-US" sz="2800" dirty="0">
                <a:latin typeface="Times New Roman" panose="02020603050405020304" pitchFamily="18" charset="0"/>
              </a:rPr>
              <a:t>个。</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4">
            <a:extLst>
              <a:ext uri="{FF2B5EF4-FFF2-40B4-BE49-F238E27FC236}">
                <a16:creationId xmlns:a16="http://schemas.microsoft.com/office/drawing/2014/main" id="{D43AB6A4-262D-7842-8867-921054A243A9}"/>
              </a:ext>
            </a:extLst>
          </p:cNvPr>
          <p:cNvSpPr>
            <a:spLocks noGrp="1" noChangeArrowheads="1"/>
          </p:cNvSpPr>
          <p:nvPr>
            <p:ph type="title"/>
          </p:nvPr>
        </p:nvSpPr>
        <p:spPr>
          <a:xfrm>
            <a:off x="1465263" y="365125"/>
            <a:ext cx="9037637" cy="668338"/>
          </a:xfrm>
        </p:spPr>
        <p:txBody>
          <a:bodyPr/>
          <a:lstStyle/>
          <a:p>
            <a:pPr>
              <a:lnSpc>
                <a:spcPct val="150000"/>
              </a:lnSpc>
              <a:spcBef>
                <a:spcPct val="50000"/>
              </a:spcBef>
            </a:pPr>
            <a:r>
              <a:rPr lang="zh-CN" altLang="en-US" sz="2600">
                <a:solidFill>
                  <a:srgbClr val="1F4E79"/>
                </a:solidFill>
              </a:rPr>
              <a:t>代换结构</a:t>
            </a:r>
          </a:p>
        </p:txBody>
      </p:sp>
      <p:pic>
        <p:nvPicPr>
          <p:cNvPr id="105474" name="Picture 3" descr="xd24">
            <a:extLst>
              <a:ext uri="{FF2B5EF4-FFF2-40B4-BE49-F238E27FC236}">
                <a16:creationId xmlns:a16="http://schemas.microsoft.com/office/drawing/2014/main" id="{10EEF140-9A8B-E34C-8A66-A43BDE19D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6013" y="1465263"/>
            <a:ext cx="7391400"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a:extLst>
              <a:ext uri="{FF2B5EF4-FFF2-40B4-BE49-F238E27FC236}">
                <a16:creationId xmlns:a16="http://schemas.microsoft.com/office/drawing/2014/main" id="{57133E04-A57A-7F4D-8B24-65CE062F5975}"/>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代换表</a:t>
            </a:r>
          </a:p>
        </p:txBody>
      </p:sp>
      <p:graphicFrame>
        <p:nvGraphicFramePr>
          <p:cNvPr id="1244162" name="Group 2">
            <a:extLst>
              <a:ext uri="{FF2B5EF4-FFF2-40B4-BE49-F238E27FC236}">
                <a16:creationId xmlns:a16="http://schemas.microsoft.com/office/drawing/2014/main" id="{DB2D8EF2-757C-CF49-B39F-9E5F329EAE80}"/>
              </a:ext>
            </a:extLst>
          </p:cNvPr>
          <p:cNvGraphicFramePr>
            <a:graphicFrameLocks noGrp="1"/>
          </p:cNvGraphicFramePr>
          <p:nvPr/>
        </p:nvGraphicFramePr>
        <p:xfrm>
          <a:off x="1752600" y="1219200"/>
          <a:ext cx="4267200" cy="4894320"/>
        </p:xfrm>
        <a:graphic>
          <a:graphicData uri="http://schemas.openxmlformats.org/drawingml/2006/table">
            <a:tbl>
              <a:tblPr/>
              <a:tblGrid>
                <a:gridCol w="2254250">
                  <a:extLst>
                    <a:ext uri="{9D8B030D-6E8A-4147-A177-3AD203B41FA5}">
                      <a16:colId xmlns:a16="http://schemas.microsoft.com/office/drawing/2014/main" val="20000"/>
                    </a:ext>
                  </a:extLst>
                </a:gridCol>
                <a:gridCol w="2012950">
                  <a:extLst>
                    <a:ext uri="{9D8B030D-6E8A-4147-A177-3AD203B41FA5}">
                      <a16:colId xmlns:a16="http://schemas.microsoft.com/office/drawing/2014/main" val="20001"/>
                    </a:ext>
                  </a:extLst>
                </a:gridCol>
              </a:tblGrid>
              <a:tr h="486986">
                <a:tc>
                  <a:txBody>
                    <a:bodyPr/>
                    <a:lstStyle>
                      <a:lvl1pPr>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明文       密文</a:t>
                      </a:r>
                    </a:p>
                  </a:txBody>
                  <a:tcPr marT="45683" marB="4568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明文      密文</a:t>
                      </a:r>
                    </a:p>
                  </a:txBody>
                  <a:tcPr marT="45683" marB="4568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07277">
                <a:tc>
                  <a:txBody>
                    <a:bodyPr/>
                    <a:lstStyle>
                      <a:lvl1pPr marL="533400" indent="-533400">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marL="914400" indent="-45720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295400" indent="-3810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714500" indent="-3429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171700" indent="-3429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6289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30861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5433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40005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0000       1101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0001       0101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0010       0001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0011       0110</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0100       1001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0101       1111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0110       0010</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0111       0011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683" marB="4568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1000     1010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1001     1000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1010     1011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1011     1110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1100     0111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1101     0100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1110     1100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1111     0000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45683" marB="4568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244173" name="Group 13">
            <a:extLst>
              <a:ext uri="{FF2B5EF4-FFF2-40B4-BE49-F238E27FC236}">
                <a16:creationId xmlns:a16="http://schemas.microsoft.com/office/drawing/2014/main" id="{B748C0ED-130C-DE4D-A7EA-8305E2FB2038}"/>
              </a:ext>
            </a:extLst>
          </p:cNvPr>
          <p:cNvGraphicFramePr>
            <a:graphicFrameLocks noGrp="1"/>
          </p:cNvGraphicFramePr>
          <p:nvPr/>
        </p:nvGraphicFramePr>
        <p:xfrm>
          <a:off x="6172200" y="1219200"/>
          <a:ext cx="4114800" cy="487680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576263">
                <a:tc>
                  <a:txBody>
                    <a:bodyPr/>
                    <a:lstStyle>
                      <a:lvl1pPr>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密文      明文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密文     明文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0537">
                <a:tc>
                  <a:txBody>
                    <a:bodyPr/>
                    <a:lstStyle>
                      <a:lvl1pPr marL="533400" indent="-533400">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marL="914400" indent="-45720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295400" indent="-3810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714500" indent="-3429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171700" indent="-3429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6289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30861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5433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4000500" indent="-3429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0000     1111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0001     0010</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0010     0110</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0011     0111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0100     1101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0101     0001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0110     0011</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0111     1100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bg2"/>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1000     1001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1001     0100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1010     1000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1011     1010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1100     1110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1101     0000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1110     1011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1111     0101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7544" name="Text Box 24">
            <a:extLst>
              <a:ext uri="{FF2B5EF4-FFF2-40B4-BE49-F238E27FC236}">
                <a16:creationId xmlns:a16="http://schemas.microsoft.com/office/drawing/2014/main" id="{849083D7-8614-A040-A7B2-A166E73D9564}"/>
              </a:ext>
            </a:extLst>
          </p:cNvPr>
          <p:cNvSpPr txBox="1">
            <a:spLocks noChangeArrowheads="1"/>
          </p:cNvSpPr>
          <p:nvPr/>
        </p:nvSpPr>
        <p:spPr bwMode="auto">
          <a:xfrm>
            <a:off x="3260725" y="6324600"/>
            <a:ext cx="184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latin typeface="Times New Roman" panose="02020603050405020304" pitchFamily="18" charset="0"/>
              </a:rPr>
              <a:t>正向代换</a:t>
            </a:r>
          </a:p>
        </p:txBody>
      </p:sp>
      <p:sp>
        <p:nvSpPr>
          <p:cNvPr id="107545" name="Text Box 25">
            <a:extLst>
              <a:ext uri="{FF2B5EF4-FFF2-40B4-BE49-F238E27FC236}">
                <a16:creationId xmlns:a16="http://schemas.microsoft.com/office/drawing/2014/main" id="{6C36EB95-1249-4444-9356-1E92C442DB91}"/>
              </a:ext>
            </a:extLst>
          </p:cNvPr>
          <p:cNvSpPr txBox="1">
            <a:spLocks noChangeArrowheads="1"/>
          </p:cNvSpPr>
          <p:nvPr/>
        </p:nvSpPr>
        <p:spPr bwMode="auto">
          <a:xfrm>
            <a:off x="7756525" y="6324600"/>
            <a:ext cx="184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latin typeface="Times New Roman" panose="02020603050405020304" pitchFamily="18" charset="0"/>
              </a:rPr>
              <a:t>反向代换</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3">
            <a:extLst>
              <a:ext uri="{FF2B5EF4-FFF2-40B4-BE49-F238E27FC236}">
                <a16:creationId xmlns:a16="http://schemas.microsoft.com/office/drawing/2014/main" id="{14B00240-5E40-2F4B-B527-3562D80D1430}"/>
              </a:ext>
            </a:extLst>
          </p:cNvPr>
          <p:cNvSpPr>
            <a:spLocks noGrp="1" noChangeArrowheads="1"/>
          </p:cNvSpPr>
          <p:nvPr>
            <p:ph type="title"/>
          </p:nvPr>
        </p:nvSpPr>
        <p:spPr>
          <a:xfrm>
            <a:off x="1465263" y="365125"/>
            <a:ext cx="9037637" cy="668338"/>
          </a:xfrm>
        </p:spPr>
        <p:txBody>
          <a:bodyPr/>
          <a:lstStyle/>
          <a:p>
            <a:pPr>
              <a:lnSpc>
                <a:spcPct val="150000"/>
              </a:lnSpc>
              <a:spcBef>
                <a:spcPct val="50000"/>
              </a:spcBef>
            </a:pPr>
            <a:r>
              <a:rPr lang="zh-CN" altLang="en-US" sz="2600">
                <a:solidFill>
                  <a:srgbClr val="1F4E79"/>
                </a:solidFill>
              </a:rPr>
              <a:t>代换的弱点</a:t>
            </a:r>
          </a:p>
        </p:txBody>
      </p:sp>
      <p:sp>
        <p:nvSpPr>
          <p:cNvPr id="109570" name="Rectangle 2">
            <a:extLst>
              <a:ext uri="{FF2B5EF4-FFF2-40B4-BE49-F238E27FC236}">
                <a16:creationId xmlns:a16="http://schemas.microsoft.com/office/drawing/2014/main" id="{00776612-5091-9047-8B66-DBB9F6FE1656}"/>
              </a:ext>
            </a:extLst>
          </p:cNvPr>
          <p:cNvSpPr>
            <a:spLocks noGrp="1" noChangeArrowheads="1"/>
          </p:cNvSpPr>
          <p:nvPr>
            <p:ph idx="1"/>
          </p:nvPr>
        </p:nvSpPr>
        <p:spPr>
          <a:xfrm>
            <a:off x="823913" y="1465263"/>
            <a:ext cx="10834687" cy="4579937"/>
          </a:xfrm>
        </p:spPr>
        <p:txBody>
          <a:bodyPr/>
          <a:lstStyle/>
          <a:p>
            <a:pPr marL="287338" indent="-6350">
              <a:lnSpc>
                <a:spcPct val="120000"/>
              </a:lnSpc>
            </a:pPr>
            <a:r>
              <a:rPr lang="zh-CN" altLang="en-US" sz="3200" dirty="0"/>
              <a:t>如果分组长度太小，如</a:t>
            </a:r>
            <a:r>
              <a:rPr lang="en-US" altLang="zh-CN" sz="3200" dirty="0"/>
              <a:t>n=4</a:t>
            </a:r>
            <a:r>
              <a:rPr lang="zh-CN" altLang="en-US" sz="3200" dirty="0"/>
              <a:t>，系统则等价于古典的代换密码，容易通过对明文的统计分析而被攻破</a:t>
            </a:r>
            <a:endParaRPr lang="en-US" altLang="zh-CN" sz="3200" dirty="0"/>
          </a:p>
          <a:p>
            <a:pPr marL="744538" lvl="1" indent="-6350">
              <a:lnSpc>
                <a:spcPct val="120000"/>
              </a:lnSpc>
            </a:pPr>
            <a:r>
              <a:rPr lang="zh-CN" altLang="en-US" sz="2800" dirty="0"/>
              <a:t>这个弱点</a:t>
            </a:r>
            <a:r>
              <a:rPr lang="zh-CN" altLang="en-US" sz="2800" dirty="0">
                <a:highlight>
                  <a:srgbClr val="FFFF00"/>
                </a:highlight>
              </a:rPr>
              <a:t>不是代换结构固有的</a:t>
            </a:r>
            <a:r>
              <a:rPr lang="zh-CN" altLang="en-US" sz="2800" dirty="0"/>
              <a:t>，只是因为分组长度太小</a:t>
            </a:r>
            <a:endParaRPr lang="en-US" altLang="zh-CN" sz="2800" dirty="0"/>
          </a:p>
          <a:p>
            <a:pPr marL="744538" lvl="1" indent="-6350">
              <a:lnSpc>
                <a:spcPct val="120000"/>
              </a:lnSpc>
            </a:pPr>
            <a:r>
              <a:rPr lang="zh-CN" altLang="en-US" sz="2800" dirty="0"/>
              <a:t>如果</a:t>
            </a:r>
            <a:r>
              <a:rPr lang="zh-CN" altLang="en-US" sz="2800" dirty="0">
                <a:highlight>
                  <a:srgbClr val="FFFF00"/>
                </a:highlight>
              </a:rPr>
              <a:t>分组长度</a:t>
            </a:r>
            <a:r>
              <a:rPr lang="en-US" altLang="zh-CN" sz="2800" dirty="0">
                <a:highlight>
                  <a:srgbClr val="FFFF00"/>
                </a:highlight>
              </a:rPr>
              <a:t>n</a:t>
            </a:r>
            <a:r>
              <a:rPr lang="zh-CN" altLang="en-US" sz="2800" dirty="0">
                <a:highlight>
                  <a:srgbClr val="FFFF00"/>
                </a:highlight>
              </a:rPr>
              <a:t>足够大</a:t>
            </a:r>
            <a:r>
              <a:rPr lang="zh-CN" altLang="en-US" sz="2800" dirty="0"/>
              <a:t>，而且从明文到密文可有任意可逆的代换，那么明文的统计特性将被隐藏而使以上的攻击不能奏效。</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3">
            <a:extLst>
              <a:ext uri="{FF2B5EF4-FFF2-40B4-BE49-F238E27FC236}">
                <a16:creationId xmlns:a16="http://schemas.microsoft.com/office/drawing/2014/main" id="{908E8330-38F9-924B-B7D2-0534CF062455}"/>
              </a:ext>
            </a:extLst>
          </p:cNvPr>
          <p:cNvSpPr>
            <a:spLocks noGrp="1" noChangeArrowheads="1"/>
          </p:cNvSpPr>
          <p:nvPr>
            <p:ph type="title"/>
          </p:nvPr>
        </p:nvSpPr>
        <p:spPr>
          <a:xfrm>
            <a:off x="1465263" y="365125"/>
            <a:ext cx="9037637" cy="668338"/>
          </a:xfrm>
        </p:spPr>
        <p:txBody>
          <a:bodyPr/>
          <a:lstStyle/>
          <a:p>
            <a:pPr>
              <a:lnSpc>
                <a:spcPct val="150000"/>
              </a:lnSpc>
              <a:spcBef>
                <a:spcPct val="50000"/>
              </a:spcBef>
            </a:pPr>
            <a:r>
              <a:rPr lang="zh-CN" altLang="en-US" sz="2600">
                <a:solidFill>
                  <a:srgbClr val="1F4E79"/>
                </a:solidFill>
              </a:rPr>
              <a:t>代换的弱点（续）</a:t>
            </a:r>
          </a:p>
        </p:txBody>
      </p:sp>
      <p:sp>
        <p:nvSpPr>
          <p:cNvPr id="111618" name="Rectangle 2">
            <a:extLst>
              <a:ext uri="{FF2B5EF4-FFF2-40B4-BE49-F238E27FC236}">
                <a16:creationId xmlns:a16="http://schemas.microsoft.com/office/drawing/2014/main" id="{D9E48E6A-DB01-ED44-A780-65087E9AD9F8}"/>
              </a:ext>
            </a:extLst>
          </p:cNvPr>
          <p:cNvSpPr>
            <a:spLocks noGrp="1" noChangeArrowheads="1"/>
          </p:cNvSpPr>
          <p:nvPr>
            <p:ph idx="1"/>
          </p:nvPr>
        </p:nvSpPr>
        <p:spPr>
          <a:xfrm>
            <a:off x="609600" y="1295400"/>
            <a:ext cx="10515600" cy="5029200"/>
          </a:xfrm>
        </p:spPr>
        <p:txBody>
          <a:bodyPr/>
          <a:lstStyle/>
          <a:p>
            <a:pPr marL="623888" indent="-342900">
              <a:lnSpc>
                <a:spcPct val="120000"/>
              </a:lnSpc>
            </a:pPr>
            <a:r>
              <a:rPr lang="zh-CN" altLang="en-US" sz="2800" dirty="0"/>
              <a:t>从实现的角度来看，</a:t>
            </a:r>
            <a:r>
              <a:rPr lang="zh-CN" altLang="en-US" sz="2800" dirty="0">
                <a:highlight>
                  <a:srgbClr val="FFFF00"/>
                </a:highlight>
              </a:rPr>
              <a:t>分组长度很大的可逆代换结构是不实际的</a:t>
            </a:r>
            <a:endParaRPr lang="en-US" altLang="zh-CN" sz="2800" dirty="0">
              <a:highlight>
                <a:srgbClr val="FFFF00"/>
              </a:highlight>
            </a:endParaRPr>
          </a:p>
          <a:p>
            <a:pPr marL="1081088" lvl="1" indent="-342900">
              <a:lnSpc>
                <a:spcPct val="120000"/>
              </a:lnSpc>
            </a:pPr>
            <a:r>
              <a:rPr lang="zh-CN" altLang="en-US" sz="2400" dirty="0"/>
              <a:t>仍以</a:t>
            </a:r>
            <a:r>
              <a:rPr lang="en-US" altLang="zh-CN" sz="2400" dirty="0"/>
              <a:t>4</a:t>
            </a:r>
            <a:r>
              <a:rPr lang="zh-CN" altLang="en-US" sz="2400" dirty="0"/>
              <a:t>比特的代换表为例，该表定义了</a:t>
            </a:r>
            <a:r>
              <a:rPr lang="en-US" altLang="zh-CN" sz="2400" dirty="0"/>
              <a:t>n=4</a:t>
            </a:r>
            <a:r>
              <a:rPr lang="zh-CN" altLang="en-US" sz="2400" dirty="0"/>
              <a:t>时从明文到密文的一个可逆映射，其中第</a:t>
            </a:r>
            <a:r>
              <a:rPr lang="en-US" altLang="zh-CN" sz="2400" dirty="0"/>
              <a:t>2</a:t>
            </a:r>
            <a:r>
              <a:rPr lang="zh-CN" altLang="en-US" sz="2400" dirty="0"/>
              <a:t>列是每个明文分组对应的密文分组的值，可用来定义这个可逆映射。</a:t>
            </a:r>
          </a:p>
          <a:p>
            <a:pPr marL="1081088" lvl="1" indent="-342900">
              <a:lnSpc>
                <a:spcPct val="120000"/>
              </a:lnSpc>
            </a:pPr>
            <a:r>
              <a:rPr lang="zh-CN" altLang="en-US" sz="2400" dirty="0"/>
              <a:t>从本质上来说，第</a:t>
            </a:r>
            <a:r>
              <a:rPr lang="en-US" altLang="zh-CN" sz="2400" dirty="0"/>
              <a:t>2</a:t>
            </a:r>
            <a:r>
              <a:rPr lang="zh-CN" altLang="en-US" sz="2400" dirty="0"/>
              <a:t>列是从所有可能映射中决定某一特定映射的密钥</a:t>
            </a:r>
            <a:endParaRPr lang="en-US" altLang="zh-CN" sz="2400" dirty="0"/>
          </a:p>
          <a:p>
            <a:pPr marL="1081088" lvl="1" indent="-342900">
              <a:lnSpc>
                <a:spcPct val="120000"/>
              </a:lnSpc>
            </a:pPr>
            <a:r>
              <a:rPr lang="zh-CN" altLang="en-US" sz="2400" dirty="0"/>
              <a:t>密钥需要</a:t>
            </a:r>
            <a:r>
              <a:rPr lang="en-US" altLang="zh-CN" sz="2400" dirty="0"/>
              <a:t>64</a:t>
            </a:r>
            <a:r>
              <a:rPr lang="zh-CN" altLang="en-US" sz="2400" dirty="0"/>
              <a:t>比特</a:t>
            </a:r>
            <a:endParaRPr lang="en-US" altLang="zh-CN" sz="2400" dirty="0"/>
          </a:p>
          <a:p>
            <a:pPr marL="623888" indent="-342900">
              <a:lnSpc>
                <a:spcPct val="120000"/>
              </a:lnSpc>
            </a:pPr>
            <a:r>
              <a:rPr lang="zh-CN" altLang="en-US" sz="2800" dirty="0"/>
              <a:t>一般地，对</a:t>
            </a:r>
            <a:r>
              <a:rPr lang="en-US" altLang="zh-CN" sz="2800" dirty="0"/>
              <a:t>n</a:t>
            </a:r>
            <a:r>
              <a:rPr lang="zh-CN" altLang="en-US" sz="2800" dirty="0"/>
              <a:t>比特的代换结构，密钥的大小是</a:t>
            </a:r>
            <a:r>
              <a:rPr lang="en-US" altLang="zh-CN" sz="2800" dirty="0"/>
              <a:t>n×2</a:t>
            </a:r>
            <a:r>
              <a:rPr lang="en-US" altLang="zh-CN" sz="2800" baseline="30000" dirty="0"/>
              <a:t>n</a:t>
            </a:r>
            <a:r>
              <a:rPr lang="zh-CN" altLang="en-US" sz="2800" dirty="0"/>
              <a:t>比特。如对</a:t>
            </a:r>
            <a:r>
              <a:rPr lang="en-US" altLang="zh-CN" sz="2800" dirty="0"/>
              <a:t>64</a:t>
            </a:r>
            <a:r>
              <a:rPr lang="zh-CN" altLang="en-US" sz="2800" dirty="0"/>
              <a:t>比特的分组，密钥大小应是</a:t>
            </a:r>
            <a:r>
              <a:rPr lang="en-US" altLang="zh-CN" sz="2800" dirty="0"/>
              <a:t>64×2</a:t>
            </a:r>
            <a:r>
              <a:rPr lang="en-US" altLang="zh-CN" sz="2800" baseline="30000" dirty="0"/>
              <a:t>64</a:t>
            </a:r>
            <a:r>
              <a:rPr lang="en-US" altLang="zh-CN" sz="2800" dirty="0"/>
              <a:t>=2</a:t>
            </a:r>
            <a:r>
              <a:rPr lang="en-US" altLang="zh-CN" sz="2800" baseline="30000" dirty="0"/>
              <a:t>70</a:t>
            </a:r>
            <a:r>
              <a:rPr lang="en-US" altLang="zh-CN" sz="2800" dirty="0"/>
              <a:t>≈10</a:t>
            </a:r>
            <a:r>
              <a:rPr lang="en-US" altLang="zh-CN" sz="2800" baseline="30000" dirty="0"/>
              <a:t>21</a:t>
            </a:r>
            <a:r>
              <a:rPr lang="zh-CN" altLang="en-US" sz="2800" dirty="0"/>
              <a:t>比特，因此难以处理。</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5">
            <a:extLst>
              <a:ext uri="{FF2B5EF4-FFF2-40B4-BE49-F238E27FC236}">
                <a16:creationId xmlns:a16="http://schemas.microsoft.com/office/drawing/2014/main" id="{1BDAC1AA-0667-0B41-AED9-3E24D65356CA}"/>
              </a:ext>
            </a:extLst>
          </p:cNvPr>
          <p:cNvSpPr>
            <a:spLocks noGrp="1" noChangeArrowheads="1"/>
          </p:cNvSpPr>
          <p:nvPr>
            <p:ph type="title"/>
          </p:nvPr>
        </p:nvSpPr>
        <p:spPr>
          <a:xfrm>
            <a:off x="1465263" y="365125"/>
            <a:ext cx="9037637" cy="668338"/>
          </a:xfrm>
        </p:spPr>
        <p:txBody>
          <a:bodyPr/>
          <a:lstStyle/>
          <a:p>
            <a:pPr>
              <a:lnSpc>
                <a:spcPct val="150000"/>
              </a:lnSpc>
              <a:spcBef>
                <a:spcPct val="50000"/>
              </a:spcBef>
            </a:pPr>
            <a:r>
              <a:rPr lang="en-US" altLang="zh-CN" sz="2600">
                <a:solidFill>
                  <a:srgbClr val="1F4E79"/>
                </a:solidFill>
              </a:rPr>
              <a:t>SP</a:t>
            </a:r>
            <a:r>
              <a:rPr lang="zh-CN" altLang="en-US" sz="2600">
                <a:solidFill>
                  <a:srgbClr val="1F4E79"/>
                </a:solidFill>
              </a:rPr>
              <a:t>网络</a:t>
            </a:r>
          </a:p>
        </p:txBody>
      </p:sp>
      <p:sp>
        <p:nvSpPr>
          <p:cNvPr id="113666" name="Rectangle 3">
            <a:extLst>
              <a:ext uri="{FF2B5EF4-FFF2-40B4-BE49-F238E27FC236}">
                <a16:creationId xmlns:a16="http://schemas.microsoft.com/office/drawing/2014/main" id="{176FEBB3-51F5-A346-B26E-B52F3A42D4ED}"/>
              </a:ext>
            </a:extLst>
          </p:cNvPr>
          <p:cNvSpPr>
            <a:spLocks noGrp="1" noChangeArrowheads="1"/>
          </p:cNvSpPr>
          <p:nvPr>
            <p:ph idx="1"/>
          </p:nvPr>
        </p:nvSpPr>
        <p:spPr>
          <a:xfrm>
            <a:off x="823913" y="1465263"/>
            <a:ext cx="10834687" cy="4579937"/>
          </a:xfrm>
        </p:spPr>
        <p:txBody>
          <a:bodyPr/>
          <a:lstStyle/>
          <a:p>
            <a:pPr>
              <a:lnSpc>
                <a:spcPct val="120000"/>
              </a:lnSpc>
            </a:pPr>
            <a:r>
              <a:rPr lang="zh-CN" altLang="en-US" sz="2800" dirty="0"/>
              <a:t>在</a:t>
            </a:r>
            <a:r>
              <a:rPr lang="en-US" altLang="zh-CN" sz="2800" dirty="0"/>
              <a:t>Shannon 1949 </a:t>
            </a:r>
            <a:r>
              <a:rPr lang="zh-CN" altLang="en-US" sz="2800" dirty="0"/>
              <a:t>的文章中，介绍了代换</a:t>
            </a:r>
            <a:r>
              <a:rPr lang="en-US" altLang="zh-CN" sz="2800" dirty="0"/>
              <a:t>-</a:t>
            </a:r>
            <a:r>
              <a:rPr lang="zh-CN" altLang="en-US" sz="2800" dirty="0"/>
              <a:t>置换网络的思想即</a:t>
            </a:r>
            <a:r>
              <a:rPr lang="en-US" altLang="zh-CN" sz="2800" dirty="0"/>
              <a:t>SP</a:t>
            </a:r>
            <a:r>
              <a:rPr lang="zh-CN" altLang="en-US" sz="2800" dirty="0"/>
              <a:t>网络</a:t>
            </a:r>
            <a:r>
              <a:rPr lang="en-US" altLang="zh-CN" sz="2800" dirty="0"/>
              <a:t> </a:t>
            </a:r>
          </a:p>
          <a:p>
            <a:pPr lvl="1">
              <a:lnSpc>
                <a:spcPct val="120000"/>
              </a:lnSpc>
            </a:pPr>
            <a:r>
              <a:rPr lang="zh-CN" altLang="en-US" sz="2400" dirty="0"/>
              <a:t>这种思想形成了现代密码的基础</a:t>
            </a:r>
          </a:p>
          <a:p>
            <a:pPr lvl="1">
              <a:lnSpc>
                <a:spcPct val="120000"/>
              </a:lnSpc>
            </a:pPr>
            <a:r>
              <a:rPr lang="en-US" altLang="zh-CN" sz="2400" dirty="0"/>
              <a:t>SP</a:t>
            </a:r>
            <a:r>
              <a:rPr lang="zh-CN" altLang="en-US" sz="2400" dirty="0"/>
              <a:t>网络是代换</a:t>
            </a:r>
            <a:r>
              <a:rPr lang="en-US" altLang="zh-CN" sz="2400" dirty="0"/>
              <a:t>-</a:t>
            </a:r>
            <a:r>
              <a:rPr lang="zh-CN" altLang="en-US" sz="2400" dirty="0"/>
              <a:t>置换乘积密码的现代形式</a:t>
            </a:r>
          </a:p>
          <a:p>
            <a:pPr>
              <a:lnSpc>
                <a:spcPct val="120000"/>
              </a:lnSpc>
            </a:pPr>
            <a:r>
              <a:rPr lang="en-US" altLang="zh-CN" sz="2800" dirty="0"/>
              <a:t>SP</a:t>
            </a:r>
            <a:r>
              <a:rPr lang="zh-CN" altLang="en-US" sz="2800" dirty="0"/>
              <a:t>网络是基于下列两种最基本的密码运算：</a:t>
            </a:r>
          </a:p>
          <a:p>
            <a:pPr lvl="1">
              <a:lnSpc>
                <a:spcPct val="120000"/>
              </a:lnSpc>
            </a:pPr>
            <a:r>
              <a:rPr lang="zh-CN" altLang="en-US" sz="2400" dirty="0"/>
              <a:t>代换（ </a:t>
            </a:r>
            <a:r>
              <a:rPr lang="en-US" altLang="zh-CN" sz="2400" dirty="0"/>
              <a:t>Substitution </a:t>
            </a:r>
            <a:r>
              <a:rPr lang="zh-CN" altLang="en-US" sz="2400" dirty="0"/>
              <a:t>）</a:t>
            </a:r>
          </a:p>
          <a:p>
            <a:pPr lvl="1">
              <a:lnSpc>
                <a:spcPct val="120000"/>
              </a:lnSpc>
            </a:pPr>
            <a:r>
              <a:rPr lang="zh-CN" altLang="en-US" sz="2400" dirty="0"/>
              <a:t>置换（ </a:t>
            </a:r>
            <a:r>
              <a:rPr lang="en-US" altLang="zh-CN" sz="2400" dirty="0"/>
              <a:t>Permutation </a:t>
            </a:r>
            <a:r>
              <a:rPr lang="zh-CN" altLang="en-US" sz="2400" dirty="0"/>
              <a:t>）</a:t>
            </a:r>
          </a:p>
          <a:p>
            <a:pPr>
              <a:lnSpc>
                <a:spcPct val="120000"/>
              </a:lnSpc>
            </a:pPr>
            <a:endParaRPr lang="en-US" altLang="zh-CN" sz="2800" dirty="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CA04186E-B0DB-404F-9376-822EB49928E6}"/>
              </a:ext>
            </a:extLst>
          </p:cNvPr>
          <p:cNvSpPr>
            <a:spLocks noGrp="1" noChangeArrowheads="1"/>
          </p:cNvSpPr>
          <p:nvPr>
            <p:ph type="title"/>
          </p:nvPr>
        </p:nvSpPr>
        <p:spPr>
          <a:xfrm>
            <a:off x="1465263" y="365125"/>
            <a:ext cx="9037637" cy="668338"/>
          </a:xfrm>
        </p:spPr>
        <p:txBody>
          <a:bodyPr/>
          <a:lstStyle/>
          <a:p>
            <a:r>
              <a:rPr lang="zh-CN" altLang="en-US">
                <a:solidFill>
                  <a:srgbClr val="1F4E79"/>
                </a:solidFill>
                <a:latin typeface="Times New Roman" panose="02020603050405020304" pitchFamily="18" charset="0"/>
              </a:rPr>
              <a:t>代换网络</a:t>
            </a:r>
          </a:p>
        </p:txBody>
      </p:sp>
      <p:sp>
        <p:nvSpPr>
          <p:cNvPr id="115714" name="Rectangle 3">
            <a:extLst>
              <a:ext uri="{FF2B5EF4-FFF2-40B4-BE49-F238E27FC236}">
                <a16:creationId xmlns:a16="http://schemas.microsoft.com/office/drawing/2014/main" id="{5F07D87E-30A4-E540-915A-4DCD1FC4C33A}"/>
              </a:ext>
            </a:extLst>
          </p:cNvPr>
          <p:cNvSpPr>
            <a:spLocks noGrp="1" noChangeArrowheads="1"/>
          </p:cNvSpPr>
          <p:nvPr>
            <p:ph idx="1"/>
          </p:nvPr>
        </p:nvSpPr>
        <p:spPr>
          <a:xfrm>
            <a:off x="1066800" y="1201738"/>
            <a:ext cx="10896600" cy="5427662"/>
          </a:xfrm>
        </p:spPr>
        <p:txBody>
          <a:bodyPr/>
          <a:lstStyle/>
          <a:p>
            <a:pPr>
              <a:lnSpc>
                <a:spcPct val="120000"/>
              </a:lnSpc>
              <a:spcBef>
                <a:spcPts val="600"/>
              </a:spcBef>
            </a:pPr>
            <a:r>
              <a:rPr lang="zh-CN" altLang="en-US" sz="2800" dirty="0">
                <a:solidFill>
                  <a:srgbClr val="FF3300"/>
                </a:solidFill>
                <a:latin typeface="Times New Roman" panose="02020603050405020304" pitchFamily="18" charset="0"/>
              </a:rPr>
              <a:t>代换</a:t>
            </a:r>
            <a:r>
              <a:rPr lang="zh-CN" altLang="en-US" sz="2800" dirty="0">
                <a:latin typeface="Times New Roman" panose="02020603050405020304" pitchFamily="18" charset="0"/>
              </a:rPr>
              <a:t>是输入集</a:t>
            </a:r>
            <a:r>
              <a:rPr lang="en-US" altLang="zh-CN" sz="2800" i="1" dirty="0">
                <a:latin typeface="Times New Roman" panose="02020603050405020304" pitchFamily="18" charset="0"/>
              </a:rPr>
              <a:t>A</a:t>
            </a:r>
            <a:r>
              <a:rPr lang="zh-CN" altLang="en-US" sz="2800" dirty="0">
                <a:latin typeface="Times New Roman" panose="02020603050405020304" pitchFamily="18" charset="0"/>
              </a:rPr>
              <a:t>到输出</a:t>
            </a:r>
            <a:r>
              <a:rPr lang="en-US" altLang="zh-CN" sz="2800" i="1" dirty="0">
                <a:latin typeface="Times New Roman" panose="02020603050405020304" pitchFamily="18" charset="0"/>
              </a:rPr>
              <a:t>A’</a:t>
            </a:r>
            <a:r>
              <a:rPr lang="zh-CN" altLang="en-US" sz="2800" dirty="0">
                <a:latin typeface="Times New Roman" panose="02020603050405020304" pitchFamily="18" charset="0"/>
              </a:rPr>
              <a:t>上的双射变换：</a:t>
            </a:r>
          </a:p>
          <a:p>
            <a:pPr>
              <a:lnSpc>
                <a:spcPct val="120000"/>
              </a:lnSpc>
              <a:spcBef>
                <a:spcPts val="600"/>
              </a:spcBef>
              <a:buFont typeface="Arial" panose="020B0604020202020204" pitchFamily="34" charset="0"/>
              <a:buNone/>
            </a:pPr>
            <a:r>
              <a:rPr lang="zh-CN" altLang="en-US" sz="2800" dirty="0">
                <a:latin typeface="Times New Roman" panose="02020603050405020304" pitchFamily="18" charset="0"/>
              </a:rPr>
              <a:t>                      </a:t>
            </a:r>
            <a:r>
              <a:rPr lang="en-US" altLang="zh-CN" sz="2800" i="1" dirty="0" err="1">
                <a:latin typeface="Times New Roman" panose="02020603050405020304" pitchFamily="18" charset="0"/>
              </a:rPr>
              <a:t>f</a:t>
            </a:r>
            <a:r>
              <a:rPr lang="en-US" altLang="zh-CN" sz="2800" baseline="-25000" dirty="0" err="1">
                <a:latin typeface="Times New Roman" panose="02020603050405020304" pitchFamily="18" charset="0"/>
              </a:rPr>
              <a:t>k</a:t>
            </a:r>
            <a:r>
              <a:rPr lang="zh-CN" altLang="en-US" sz="2800" dirty="0">
                <a:latin typeface="Times New Roman" panose="02020603050405020304" pitchFamily="18" charset="0"/>
              </a:rPr>
              <a:t>：</a:t>
            </a:r>
            <a:r>
              <a:rPr lang="en-US" altLang="zh-CN" sz="2800" i="1" dirty="0">
                <a:latin typeface="Times New Roman" panose="02020603050405020304" pitchFamily="18" charset="0"/>
              </a:rPr>
              <a:t>A</a:t>
            </a:r>
            <a:r>
              <a:rPr lang="en-US" altLang="zh-CN" sz="2800" dirty="0">
                <a:latin typeface="Times New Roman" panose="02020603050405020304" pitchFamily="18" charset="0"/>
                <a:sym typeface="Symbol" pitchFamily="2" charset="2"/>
              </a:rPr>
              <a:t></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p>
          <a:p>
            <a:pPr>
              <a:lnSpc>
                <a:spcPct val="120000"/>
              </a:lnSpc>
              <a:spcBef>
                <a:spcPts val="600"/>
              </a:spcBef>
              <a:buFont typeface="Arial" panose="020B0604020202020204" pitchFamily="34" charset="0"/>
              <a:buNone/>
            </a:pPr>
            <a:r>
              <a:rPr lang="zh-CN" altLang="en-US" sz="2800" dirty="0">
                <a:latin typeface="Times New Roman" panose="02020603050405020304" pitchFamily="18" charset="0"/>
              </a:rPr>
              <a:t>式中，</a:t>
            </a:r>
            <a:r>
              <a:rPr lang="en-US" altLang="zh-CN" sz="2800" i="1" dirty="0">
                <a:latin typeface="Times New Roman" panose="02020603050405020304" pitchFamily="18" charset="0"/>
              </a:rPr>
              <a:t>k</a:t>
            </a:r>
            <a:r>
              <a:rPr lang="zh-CN" altLang="en-US" sz="2800" dirty="0">
                <a:latin typeface="Times New Roman" panose="02020603050405020304" pitchFamily="18" charset="0"/>
              </a:rPr>
              <a:t>是控制输入变量，在密码学中则为密钥。</a:t>
            </a:r>
          </a:p>
          <a:p>
            <a:pPr>
              <a:lnSpc>
                <a:spcPct val="120000"/>
              </a:lnSpc>
              <a:spcBef>
                <a:spcPts val="600"/>
              </a:spcBef>
            </a:pPr>
            <a:r>
              <a:rPr lang="zh-CN" altLang="en-US" sz="2800" dirty="0">
                <a:latin typeface="Times New Roman" panose="02020603050405020304" pitchFamily="18" charset="0"/>
              </a:rPr>
              <a:t>实现代换</a:t>
            </a:r>
            <a:r>
              <a:rPr lang="en-US" altLang="zh-CN" sz="2800" i="1" dirty="0" err="1">
                <a:latin typeface="Times New Roman" panose="02020603050405020304" pitchFamily="18" charset="0"/>
              </a:rPr>
              <a:t>f</a:t>
            </a:r>
            <a:r>
              <a:rPr lang="en-US" altLang="zh-CN" sz="2800" baseline="-25000" dirty="0" err="1">
                <a:latin typeface="Times New Roman" panose="02020603050405020304" pitchFamily="18" charset="0"/>
              </a:rPr>
              <a:t>k</a:t>
            </a:r>
            <a:r>
              <a:rPr lang="zh-CN" altLang="en-US" sz="2800" dirty="0">
                <a:latin typeface="Times New Roman" panose="02020603050405020304" pitchFamily="18" charset="0"/>
              </a:rPr>
              <a:t>的网络称作</a:t>
            </a:r>
            <a:r>
              <a:rPr lang="zh-CN" altLang="en-US" sz="2800" dirty="0">
                <a:solidFill>
                  <a:srgbClr val="FF0000"/>
                </a:solidFill>
                <a:latin typeface="Times New Roman" panose="02020603050405020304" pitchFamily="18" charset="0"/>
              </a:rPr>
              <a:t>代换网络</a:t>
            </a:r>
            <a:endParaRPr lang="en-US" altLang="zh-CN" sz="2800" dirty="0">
              <a:latin typeface="Times New Roman" panose="02020603050405020304" pitchFamily="18" charset="0"/>
            </a:endParaRPr>
          </a:p>
          <a:p>
            <a:pPr lvl="1">
              <a:lnSpc>
                <a:spcPct val="120000"/>
              </a:lnSpc>
              <a:spcBef>
                <a:spcPts val="600"/>
              </a:spcBef>
            </a:pPr>
            <a:r>
              <a:rPr lang="zh-CN" altLang="en-US" sz="2400" dirty="0">
                <a:latin typeface="Times New Roman" panose="02020603050405020304" pitchFamily="18" charset="0"/>
              </a:rPr>
              <a:t>双射条件保证在给定</a:t>
            </a:r>
            <a:r>
              <a:rPr lang="en-US" altLang="zh-CN" sz="2400" i="1" dirty="0">
                <a:latin typeface="Times New Roman" panose="02020603050405020304" pitchFamily="18" charset="0"/>
              </a:rPr>
              <a:t>k</a:t>
            </a:r>
            <a:r>
              <a:rPr lang="zh-CN" altLang="en-US" sz="2400" dirty="0">
                <a:latin typeface="Times New Roman" panose="02020603050405020304" pitchFamily="18" charset="0"/>
              </a:rPr>
              <a:t>下可从密文惟一地恢复出原明文</a:t>
            </a:r>
            <a:endParaRPr lang="en-US" altLang="zh-CN" sz="2400" dirty="0">
              <a:latin typeface="Times New Roman" panose="02020603050405020304" pitchFamily="18" charset="0"/>
            </a:endParaRPr>
          </a:p>
          <a:p>
            <a:pPr algn="just">
              <a:lnSpc>
                <a:spcPct val="120000"/>
              </a:lnSpc>
              <a:spcBef>
                <a:spcPts val="600"/>
              </a:spcBef>
            </a:pPr>
            <a:r>
              <a:rPr lang="zh-CN" altLang="en-US" sz="2800" dirty="0">
                <a:latin typeface="Times New Roman" panose="02020603050405020304" pitchFamily="18" charset="0"/>
              </a:rPr>
              <a:t>代换</a:t>
            </a:r>
            <a:r>
              <a:rPr lang="en-US" altLang="zh-CN" sz="2800" i="1" dirty="0" err="1">
                <a:latin typeface="Times New Roman" panose="02020603050405020304" pitchFamily="18" charset="0"/>
              </a:rPr>
              <a:t>f</a:t>
            </a:r>
            <a:r>
              <a:rPr lang="en-US" altLang="zh-CN" sz="2800" baseline="-25000" dirty="0" err="1">
                <a:latin typeface="Times New Roman" panose="02020603050405020304" pitchFamily="18" charset="0"/>
              </a:rPr>
              <a:t>k</a:t>
            </a:r>
            <a:r>
              <a:rPr lang="zh-CN" altLang="en-US" sz="2800" dirty="0">
                <a:latin typeface="Times New Roman" panose="02020603050405020304" pitchFamily="18" charset="0"/>
              </a:rPr>
              <a:t>的集合：   </a:t>
            </a:r>
            <a:r>
              <a:rPr lang="en-US" altLang="zh-CN" sz="2800" i="1" dirty="0">
                <a:latin typeface="Times New Roman" panose="02020603050405020304" pitchFamily="18" charset="0"/>
              </a:rPr>
              <a:t>S</a:t>
            </a:r>
            <a:r>
              <a:rPr lang="en-US" altLang="zh-CN" sz="2800" dirty="0">
                <a:latin typeface="Times New Roman" panose="02020603050405020304" pitchFamily="18" charset="0"/>
              </a:rPr>
              <a:t>={</a:t>
            </a:r>
            <a:r>
              <a:rPr lang="en-US" altLang="zh-CN" sz="2800" i="1" dirty="0" err="1">
                <a:latin typeface="Times New Roman" panose="02020603050405020304" pitchFamily="18" charset="0"/>
              </a:rPr>
              <a:t>f</a:t>
            </a:r>
            <a:r>
              <a:rPr lang="en-US" altLang="zh-CN" sz="2800" baseline="-25000" dirty="0" err="1">
                <a:latin typeface="Times New Roman" panose="02020603050405020304" pitchFamily="18" charset="0"/>
              </a:rPr>
              <a:t>k</a:t>
            </a:r>
            <a:r>
              <a:rPr lang="en-US" altLang="zh-CN" sz="2800" dirty="0" err="1">
                <a:latin typeface="Times New Roman" panose="02020603050405020304" pitchFamily="18" charset="0"/>
                <a:sym typeface="Symbol" pitchFamily="2" charset="2"/>
              </a:rPr>
              <a:t></a:t>
            </a:r>
            <a:r>
              <a:rPr lang="en-US" altLang="zh-CN" sz="2800" i="1" dirty="0" err="1">
                <a:latin typeface="Times New Roman" panose="02020603050405020304" pitchFamily="18" charset="0"/>
              </a:rPr>
              <a:t>k</a:t>
            </a:r>
            <a:r>
              <a:rPr lang="en-US" altLang="zh-CN" sz="2800" dirty="0" err="1">
                <a:latin typeface="Times New Roman" panose="02020603050405020304" pitchFamily="18" charset="0"/>
                <a:sym typeface="Symbol" pitchFamily="2" charset="2"/>
              </a:rPr>
              <a:t></a:t>
            </a:r>
            <a:r>
              <a:rPr lang="en-US" altLang="zh-CN" sz="2800" i="1" dirty="0" err="1">
                <a:latin typeface="Times New Roman" panose="02020603050405020304" pitchFamily="18" charset="0"/>
              </a:rPr>
              <a:t>K</a:t>
            </a:r>
            <a:r>
              <a:rPr lang="en-US" altLang="zh-CN" sz="2800" dirty="0">
                <a:latin typeface="Times New Roman" panose="02020603050405020304" pitchFamily="18" charset="0"/>
              </a:rPr>
              <a:t>}</a:t>
            </a:r>
          </a:p>
          <a:p>
            <a:pPr algn="just">
              <a:lnSpc>
                <a:spcPct val="120000"/>
              </a:lnSpc>
              <a:spcBef>
                <a:spcPts val="600"/>
              </a:spcBef>
            </a:pPr>
            <a:r>
              <a:rPr lang="zh-CN" altLang="en-US" sz="2800" dirty="0">
                <a:latin typeface="Times New Roman" panose="02020603050405020304" pitchFamily="18" charset="0"/>
              </a:rPr>
              <a:t>如果网络可以实现所有可能的</a:t>
            </a:r>
            <a:r>
              <a:rPr lang="en-US" altLang="zh-CN" sz="2800" dirty="0">
                <a:latin typeface="Times New Roman" panose="02020603050405020304" pitchFamily="18" charset="0"/>
              </a:rPr>
              <a:t>2</a:t>
            </a:r>
            <a:r>
              <a:rPr lang="en-US" altLang="zh-CN" sz="2800" baseline="30000" dirty="0">
                <a:latin typeface="Times New Roman" panose="02020603050405020304" pitchFamily="18" charset="0"/>
              </a:rPr>
              <a:t>n</a:t>
            </a:r>
            <a:r>
              <a:rPr lang="en-US" altLang="zh-CN" sz="2800" dirty="0">
                <a:latin typeface="Times New Roman" panose="02020603050405020304" pitchFamily="18" charset="0"/>
              </a:rPr>
              <a:t>!</a:t>
            </a:r>
            <a:r>
              <a:rPr lang="zh-CN" altLang="en-US" sz="2800" dirty="0">
                <a:latin typeface="Times New Roman" panose="02020603050405020304" pitchFamily="18" charset="0"/>
              </a:rPr>
              <a:t>个代换，则称其为</a:t>
            </a:r>
            <a:r>
              <a:rPr lang="zh-CN" altLang="en-US" sz="2800" dirty="0">
                <a:solidFill>
                  <a:srgbClr val="FF0000"/>
                </a:solidFill>
                <a:latin typeface="Times New Roman" panose="02020603050405020304" pitchFamily="18" charset="0"/>
              </a:rPr>
              <a:t>全代换网络</a:t>
            </a:r>
          </a:p>
          <a:p>
            <a:pPr lvl="1" algn="just">
              <a:lnSpc>
                <a:spcPct val="120000"/>
              </a:lnSpc>
              <a:spcBef>
                <a:spcPts val="600"/>
              </a:spcBef>
            </a:pPr>
            <a:r>
              <a:rPr lang="zh-CN" altLang="en-US" sz="2400" dirty="0">
                <a:latin typeface="Times New Roman" panose="02020603050405020304" pitchFamily="18" charset="0"/>
              </a:rPr>
              <a:t>全代换网络密钥个数必须满足条件：＃</a:t>
            </a:r>
            <a:r>
              <a:rPr lang="en-US" altLang="zh-CN" sz="2400" dirty="0">
                <a:latin typeface="Times New Roman" panose="02020603050405020304" pitchFamily="18" charset="0"/>
              </a:rPr>
              <a:t>{</a:t>
            </a:r>
            <a:r>
              <a:rPr lang="en-US" altLang="zh-CN" sz="2400" i="1" dirty="0">
                <a:latin typeface="Times New Roman" panose="02020603050405020304" pitchFamily="18" charset="0"/>
              </a:rPr>
              <a:t>k</a:t>
            </a:r>
            <a:r>
              <a:rPr lang="en-US" altLang="zh-CN" sz="2400" dirty="0">
                <a:latin typeface="Times New Roman" panose="02020603050405020304" pitchFamily="18" charset="0"/>
              </a:rPr>
              <a:t>}</a:t>
            </a:r>
            <a:r>
              <a:rPr lang="en-US" altLang="zh-CN" sz="2400" dirty="0">
                <a:latin typeface="Times New Roman" panose="02020603050405020304" pitchFamily="18" charset="0"/>
                <a:sym typeface="Symbol" pitchFamily="2" charset="2"/>
              </a:rPr>
              <a:t></a:t>
            </a:r>
            <a:r>
              <a:rPr lang="en-US" altLang="zh-CN" sz="2400" dirty="0">
                <a:latin typeface="Times New Roman" panose="02020603050405020304" pitchFamily="18" charset="0"/>
              </a:rPr>
              <a:t>2</a:t>
            </a:r>
            <a:r>
              <a:rPr lang="en-US" altLang="zh-CN" sz="2400" baseline="30000" dirty="0">
                <a:latin typeface="Times New Roman" panose="02020603050405020304" pitchFamily="18" charset="0"/>
              </a:rPr>
              <a:t>n</a:t>
            </a:r>
            <a:r>
              <a:rPr lang="en-US" altLang="zh-CN" sz="2400" dirty="0">
                <a:latin typeface="Times New Roman" panose="02020603050405020304" pitchFamily="18" charset="0"/>
              </a:rPr>
              <a:t>! </a:t>
            </a:r>
          </a:p>
        </p:txBody>
      </p:sp>
      <p:sp>
        <p:nvSpPr>
          <p:cNvPr id="115715" name="Text Box 4">
            <a:extLst>
              <a:ext uri="{FF2B5EF4-FFF2-40B4-BE49-F238E27FC236}">
                <a16:creationId xmlns:a16="http://schemas.microsoft.com/office/drawing/2014/main" id="{15F54E87-2E3D-D94B-88AC-94810BE6D28B}"/>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15716" name="Text Box 5">
            <a:extLst>
              <a:ext uri="{FF2B5EF4-FFF2-40B4-BE49-F238E27FC236}">
                <a16:creationId xmlns:a16="http://schemas.microsoft.com/office/drawing/2014/main" id="{11EF40C2-5376-2748-9529-6E8F6CD20AB4}"/>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15717" name="Text Box 6">
            <a:extLst>
              <a:ext uri="{FF2B5EF4-FFF2-40B4-BE49-F238E27FC236}">
                <a16:creationId xmlns:a16="http://schemas.microsoft.com/office/drawing/2014/main" id="{D16ADF72-BEB8-3741-90B8-E1BF22BB8B8F}"/>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15718" name="Text Box 7">
            <a:extLst>
              <a:ext uri="{FF2B5EF4-FFF2-40B4-BE49-F238E27FC236}">
                <a16:creationId xmlns:a16="http://schemas.microsoft.com/office/drawing/2014/main" id="{79405712-C1FE-4B4D-9C7A-1DF085749183}"/>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15719" name="Text Box 8">
            <a:extLst>
              <a:ext uri="{FF2B5EF4-FFF2-40B4-BE49-F238E27FC236}">
                <a16:creationId xmlns:a16="http://schemas.microsoft.com/office/drawing/2014/main" id="{A968495B-47C3-7F48-8479-1C9462A81032}"/>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1" name="Rectangle 5">
            <a:extLst>
              <a:ext uri="{FF2B5EF4-FFF2-40B4-BE49-F238E27FC236}">
                <a16:creationId xmlns:a16="http://schemas.microsoft.com/office/drawing/2014/main" id="{949FCF29-82C0-1A4C-8A7C-BA2F2FFF6B79}"/>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代换网络</a:t>
            </a:r>
          </a:p>
        </p:txBody>
      </p:sp>
      <p:sp>
        <p:nvSpPr>
          <p:cNvPr id="1235971" name="Rectangle 3">
            <a:extLst>
              <a:ext uri="{FF2B5EF4-FFF2-40B4-BE49-F238E27FC236}">
                <a16:creationId xmlns:a16="http://schemas.microsoft.com/office/drawing/2014/main" id="{85E42251-3009-7E45-97B6-2304440D3680}"/>
              </a:ext>
            </a:extLst>
          </p:cNvPr>
          <p:cNvSpPr>
            <a:spLocks noGrp="1" noChangeArrowheads="1"/>
          </p:cNvSpPr>
          <p:nvPr>
            <p:ph idx="1"/>
          </p:nvPr>
        </p:nvSpPr>
        <p:spPr>
          <a:xfrm>
            <a:off x="823913" y="1465263"/>
            <a:ext cx="10515600" cy="4579937"/>
          </a:xfrm>
        </p:spPr>
        <p:txBody>
          <a:bodyPr/>
          <a:lstStyle/>
          <a:p>
            <a:pPr algn="just">
              <a:lnSpc>
                <a:spcPct val="120000"/>
              </a:lnSpc>
              <a:spcAft>
                <a:spcPts val="600"/>
              </a:spcAft>
            </a:pPr>
            <a:r>
              <a:rPr lang="zh-CN" altLang="en-US" sz="2800">
                <a:latin typeface="Times New Roman" panose="02020603050405020304" pitchFamily="18" charset="0"/>
              </a:rPr>
              <a:t>密码设计中需要先定义代换集</a:t>
            </a:r>
            <a:r>
              <a:rPr lang="en-US" altLang="zh-CN" sz="2800" i="1">
                <a:latin typeface="Times New Roman" panose="02020603050405020304" pitchFamily="18" charset="0"/>
              </a:rPr>
              <a:t>S</a:t>
            </a:r>
            <a:r>
              <a:rPr lang="zh-CN" altLang="en-US" sz="2800">
                <a:latin typeface="Times New Roman" panose="02020603050405020304" pitchFamily="18" charset="0"/>
              </a:rPr>
              <a:t>，而后还需定义解密变换集，即逆代换网络</a:t>
            </a:r>
            <a:r>
              <a:rPr lang="en-US" altLang="zh-CN" sz="2800" i="1">
                <a:latin typeface="Times New Roman" panose="02020603050405020304" pitchFamily="18" charset="0"/>
              </a:rPr>
              <a:t>S</a:t>
            </a:r>
            <a:r>
              <a:rPr lang="en-US" altLang="zh-CN" sz="2800" baseline="30000">
                <a:latin typeface="Times New Roman" panose="02020603050405020304" pitchFamily="18" charset="0"/>
              </a:rPr>
              <a:t>-1</a:t>
            </a:r>
            <a:r>
              <a:rPr lang="zh-CN" altLang="en-US" sz="2800">
                <a:latin typeface="Times New Roman" panose="02020603050405020304" pitchFamily="18" charset="0"/>
              </a:rPr>
              <a:t>，它以密文</a:t>
            </a:r>
            <a:r>
              <a:rPr lang="en-US" altLang="zh-CN" sz="2800" i="1">
                <a:latin typeface="Times New Roman" panose="02020603050405020304" pitchFamily="18" charset="0"/>
              </a:rPr>
              <a:t>y</a:t>
            </a:r>
            <a:r>
              <a:rPr lang="zh-CN" altLang="en-US" sz="2800">
                <a:latin typeface="Times New Roman" panose="02020603050405020304" pitchFamily="18" charset="0"/>
              </a:rPr>
              <a:t>作为输入矢量，其输出为恢复的明文矢量</a:t>
            </a:r>
            <a:r>
              <a:rPr lang="en-US" altLang="zh-CN" sz="2800" i="1">
                <a:latin typeface="Times New Roman" panose="02020603050405020304" pitchFamily="18" charset="0"/>
              </a:rPr>
              <a:t>x</a:t>
            </a:r>
            <a:r>
              <a:rPr lang="zh-CN" altLang="en-US" sz="2800">
                <a:latin typeface="Times New Roman" panose="02020603050405020304" pitchFamily="18" charset="0"/>
              </a:rPr>
              <a:t>。</a:t>
            </a:r>
          </a:p>
          <a:p>
            <a:pPr algn="just">
              <a:lnSpc>
                <a:spcPct val="120000"/>
              </a:lnSpc>
              <a:spcAft>
                <a:spcPts val="600"/>
              </a:spcAft>
            </a:pPr>
            <a:r>
              <a:rPr lang="zh-CN" altLang="en-US" sz="2800">
                <a:latin typeface="Times New Roman" panose="02020603050405020304" pitchFamily="18" charset="0"/>
              </a:rPr>
              <a:t>要实现全代换网络并不容易。因此实用中常常利用一些简单的基本代换，通过组合实现较复杂的、元素个数较多的代换集。</a:t>
            </a:r>
            <a:endParaRPr lang="en-US" altLang="zh-CN" sz="2800">
              <a:latin typeface="Times New Roman" panose="02020603050405020304" pitchFamily="18" charset="0"/>
            </a:endParaRPr>
          </a:p>
          <a:p>
            <a:pPr algn="just">
              <a:lnSpc>
                <a:spcPct val="120000"/>
              </a:lnSpc>
              <a:spcAft>
                <a:spcPts val="600"/>
              </a:spcAft>
            </a:pPr>
            <a:r>
              <a:rPr lang="zh-CN" altLang="en-US" sz="2800">
                <a:latin typeface="Times New Roman" panose="02020603050405020304" pitchFamily="18" charset="0"/>
              </a:rPr>
              <a:t>实用密码体制的集合</a:t>
            </a:r>
            <a:r>
              <a:rPr lang="en-US" altLang="zh-CN" sz="2800" i="1">
                <a:latin typeface="Times New Roman" panose="02020603050405020304" pitchFamily="18" charset="0"/>
              </a:rPr>
              <a:t>S</a:t>
            </a:r>
            <a:r>
              <a:rPr lang="zh-CN" altLang="en-US" sz="2800">
                <a:latin typeface="Times New Roman" panose="02020603050405020304" pitchFamily="18" charset="0"/>
              </a:rPr>
              <a:t>中的元素个数都远小于</a:t>
            </a:r>
            <a:r>
              <a:rPr lang="en-US" altLang="zh-CN" sz="2800">
                <a:latin typeface="Times New Roman" panose="02020603050405020304" pitchFamily="18" charset="0"/>
              </a:rPr>
              <a:t>2</a:t>
            </a:r>
            <a:r>
              <a:rPr lang="en-US" altLang="zh-CN" sz="2800" baseline="30000">
                <a:latin typeface="Times New Roman" panose="02020603050405020304" pitchFamily="18" charset="0"/>
              </a:rPr>
              <a:t>n</a:t>
            </a:r>
            <a:r>
              <a:rPr lang="en-US" altLang="zh-CN" sz="2800">
                <a:latin typeface="Times New Roman" panose="02020603050405020304" pitchFamily="18" charset="0"/>
              </a:rPr>
              <a:t>!</a:t>
            </a:r>
            <a:r>
              <a:rPr lang="zh-CN" altLang="en-US" sz="2800">
                <a:latin typeface="Times New Roman" panose="02020603050405020304" pitchFamily="18" charset="0"/>
              </a:rPr>
              <a:t>。</a:t>
            </a:r>
            <a:endParaRPr lang="zh-CN" altLang="en-US" sz="28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59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59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59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5971"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09" name="Rectangle 25">
            <a:extLst>
              <a:ext uri="{FF2B5EF4-FFF2-40B4-BE49-F238E27FC236}">
                <a16:creationId xmlns:a16="http://schemas.microsoft.com/office/drawing/2014/main" id="{83F32AE4-7EF6-CC4C-B5C5-5AF27F05448D}"/>
              </a:ext>
            </a:extLst>
          </p:cNvPr>
          <p:cNvSpPr>
            <a:spLocks noGrp="1" noChangeArrowheads="1"/>
          </p:cNvSpPr>
          <p:nvPr>
            <p:ph type="title"/>
          </p:nvPr>
        </p:nvSpPr>
        <p:spPr>
          <a:xfrm>
            <a:off x="1465263" y="365125"/>
            <a:ext cx="9037637" cy="668338"/>
          </a:xfrm>
        </p:spPr>
        <p:txBody>
          <a:bodyPr/>
          <a:lstStyle/>
          <a:p>
            <a:r>
              <a:rPr lang="zh-CN" altLang="en-US">
                <a:solidFill>
                  <a:srgbClr val="1F4E79"/>
                </a:solidFill>
                <a:latin typeface="黑体" panose="02010609060101010101" pitchFamily="49" charset="-122"/>
              </a:rPr>
              <a:t>代换盒</a:t>
            </a:r>
            <a:r>
              <a:rPr lang="en-US" altLang="zh-CN">
                <a:solidFill>
                  <a:srgbClr val="1F4E79"/>
                </a:solidFill>
                <a:latin typeface="黑体" panose="02010609060101010101" pitchFamily="49" charset="-122"/>
              </a:rPr>
              <a:t>(S</a:t>
            </a:r>
            <a:r>
              <a:rPr lang="zh-CN" altLang="en-US">
                <a:solidFill>
                  <a:srgbClr val="1F4E79"/>
                </a:solidFill>
                <a:latin typeface="黑体" panose="02010609060101010101" pitchFamily="49" charset="-122"/>
              </a:rPr>
              <a:t>盒</a:t>
            </a:r>
            <a:r>
              <a:rPr lang="en-US" altLang="zh-CN">
                <a:solidFill>
                  <a:srgbClr val="1F4E79"/>
                </a:solidFill>
                <a:latin typeface="黑体" panose="02010609060101010101" pitchFamily="49" charset="-122"/>
              </a:rPr>
              <a:t>)</a:t>
            </a:r>
          </a:p>
        </p:txBody>
      </p:sp>
      <p:sp>
        <p:nvSpPr>
          <p:cNvPr id="119810" name="Rectangle 3">
            <a:extLst>
              <a:ext uri="{FF2B5EF4-FFF2-40B4-BE49-F238E27FC236}">
                <a16:creationId xmlns:a16="http://schemas.microsoft.com/office/drawing/2014/main" id="{6BD8C6D9-8754-5240-8CFF-2214C7427E04}"/>
              </a:ext>
            </a:extLst>
          </p:cNvPr>
          <p:cNvSpPr>
            <a:spLocks noGrp="1" noChangeArrowheads="1"/>
          </p:cNvSpPr>
          <p:nvPr>
            <p:ph idx="1"/>
          </p:nvPr>
        </p:nvSpPr>
        <p:spPr>
          <a:xfrm>
            <a:off x="812800" y="1225550"/>
            <a:ext cx="10845800" cy="4579938"/>
          </a:xfrm>
        </p:spPr>
        <p:txBody>
          <a:bodyPr/>
          <a:lstStyle/>
          <a:p>
            <a:pPr algn="just">
              <a:spcAft>
                <a:spcPts val="600"/>
              </a:spcAft>
              <a:buFont typeface="Arial" panose="020B0604020202020204" pitchFamily="34" charset="0"/>
              <a:buNone/>
            </a:pPr>
            <a:r>
              <a:rPr lang="zh-CN" altLang="en-US" sz="2800">
                <a:latin typeface="Times New Roman" panose="02020603050405020304" pitchFamily="18" charset="0"/>
              </a:rPr>
              <a:t>  在密码设计中，可选</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r</a:t>
            </a:r>
            <a:r>
              <a:rPr lang="en-US" altLang="zh-CN" sz="2800">
                <a:latin typeface="Times New Roman" panose="02020603050405020304" pitchFamily="18" charset="0"/>
                <a:sym typeface="Symbol" pitchFamily="2" charset="2"/>
              </a:rPr>
              <a:t></a:t>
            </a:r>
            <a:r>
              <a:rPr lang="en-US" altLang="zh-CN" sz="2800" i="1">
                <a:latin typeface="Times New Roman" panose="02020603050405020304" pitchFamily="18" charset="0"/>
              </a:rPr>
              <a:t>n</a:t>
            </a:r>
            <a:r>
              <a:rPr lang="en-US" altLang="zh-CN" sz="2800" baseline="-25000">
                <a:latin typeface="Times New Roman" panose="02020603050405020304" pitchFamily="18" charset="0"/>
              </a:rPr>
              <a:t>0</a:t>
            </a:r>
            <a:r>
              <a:rPr lang="zh-CN" altLang="en-US" sz="2800">
                <a:latin typeface="Times New Roman" panose="02020603050405020304" pitchFamily="18" charset="0"/>
              </a:rPr>
              <a:t>，其中</a:t>
            </a:r>
            <a:r>
              <a:rPr lang="en-US" altLang="zh-CN" sz="2800" i="1">
                <a:latin typeface="Times New Roman" panose="02020603050405020304" pitchFamily="18" charset="0"/>
              </a:rPr>
              <a:t>r</a:t>
            </a:r>
            <a:r>
              <a:rPr lang="zh-CN" altLang="en-US" sz="2800">
                <a:latin typeface="Times New Roman" panose="02020603050405020304" pitchFamily="18" charset="0"/>
              </a:rPr>
              <a:t>和</a:t>
            </a:r>
            <a:r>
              <a:rPr lang="en-US" altLang="zh-CN" sz="2800" i="1">
                <a:latin typeface="Times New Roman" panose="02020603050405020304" pitchFamily="18" charset="0"/>
              </a:rPr>
              <a:t>n</a:t>
            </a:r>
            <a:r>
              <a:rPr lang="en-US" altLang="zh-CN" sz="2800" baseline="-25000">
                <a:latin typeface="Times New Roman" panose="02020603050405020304" pitchFamily="18" charset="0"/>
              </a:rPr>
              <a:t>0</a:t>
            </a:r>
            <a:r>
              <a:rPr lang="zh-CN" altLang="en-US" sz="2800">
                <a:latin typeface="Times New Roman" panose="02020603050405020304" pitchFamily="18" charset="0"/>
              </a:rPr>
              <a:t>都为正整数，将设计</a:t>
            </a:r>
            <a:r>
              <a:rPr lang="en-US" altLang="zh-CN" sz="2800" i="1">
                <a:latin typeface="Times New Roman" panose="02020603050405020304" pitchFamily="18" charset="0"/>
              </a:rPr>
              <a:t>n</a:t>
            </a:r>
            <a:r>
              <a:rPr lang="zh-CN" altLang="en-US" sz="2800">
                <a:latin typeface="Times New Roman" panose="02020603050405020304" pitchFamily="18" charset="0"/>
              </a:rPr>
              <a:t>个变量的代换网络化为设计</a:t>
            </a:r>
            <a:r>
              <a:rPr lang="en-US" altLang="zh-CN" sz="2800">
                <a:latin typeface="Times New Roman" panose="02020603050405020304" pitchFamily="18" charset="0"/>
              </a:rPr>
              <a:t>r</a:t>
            </a:r>
            <a:r>
              <a:rPr lang="zh-CN" altLang="en-US" sz="2800">
                <a:latin typeface="Times New Roman" panose="02020603050405020304" pitchFamily="18" charset="0"/>
              </a:rPr>
              <a:t>个较小的子代换网络，而每个子代换网络只有</a:t>
            </a:r>
            <a:r>
              <a:rPr lang="en-US" altLang="zh-CN" sz="2800" i="1">
                <a:latin typeface="Times New Roman" panose="02020603050405020304" pitchFamily="18" charset="0"/>
              </a:rPr>
              <a:t>n</a:t>
            </a:r>
            <a:r>
              <a:rPr lang="en-US" altLang="zh-CN" sz="2800" baseline="-25000">
                <a:latin typeface="Times New Roman" panose="02020603050405020304" pitchFamily="18" charset="0"/>
              </a:rPr>
              <a:t>0</a:t>
            </a:r>
            <a:r>
              <a:rPr lang="zh-CN" altLang="en-US" sz="2800">
                <a:latin typeface="Times New Roman" panose="02020603050405020304" pitchFamily="18" charset="0"/>
              </a:rPr>
              <a:t>个输入变量。称每个子代换网络为代换盒</a:t>
            </a:r>
            <a:r>
              <a:rPr lang="en-US" altLang="zh-CN" sz="2800">
                <a:latin typeface="Times New Roman" panose="02020603050405020304" pitchFamily="18" charset="0"/>
              </a:rPr>
              <a:t>(Substitution Box)</a:t>
            </a:r>
          </a:p>
        </p:txBody>
      </p:sp>
      <p:sp>
        <p:nvSpPr>
          <p:cNvPr id="119811" name="Text Box 4">
            <a:extLst>
              <a:ext uri="{FF2B5EF4-FFF2-40B4-BE49-F238E27FC236}">
                <a16:creationId xmlns:a16="http://schemas.microsoft.com/office/drawing/2014/main" id="{AD8C5D42-D59A-344B-BF8E-E6C2F2668DD1}"/>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19812" name="Text Box 5">
            <a:extLst>
              <a:ext uri="{FF2B5EF4-FFF2-40B4-BE49-F238E27FC236}">
                <a16:creationId xmlns:a16="http://schemas.microsoft.com/office/drawing/2014/main" id="{AA2455B3-700C-9F4A-9535-D9A33E7B5DD1}"/>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19813" name="Text Box 6">
            <a:extLst>
              <a:ext uri="{FF2B5EF4-FFF2-40B4-BE49-F238E27FC236}">
                <a16:creationId xmlns:a16="http://schemas.microsoft.com/office/drawing/2014/main" id="{FDC47EEB-A168-EF4B-8E18-811835F20BA3}"/>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19814" name="Text Box 7">
            <a:extLst>
              <a:ext uri="{FF2B5EF4-FFF2-40B4-BE49-F238E27FC236}">
                <a16:creationId xmlns:a16="http://schemas.microsoft.com/office/drawing/2014/main" id="{3C3DB0AD-C8FD-E847-B6EF-01CF465533CD}"/>
              </a:ext>
            </a:extLst>
          </p:cNvPr>
          <p:cNvSpPr txBox="1">
            <a:spLocks noChangeArrowheads="1"/>
          </p:cNvSpPr>
          <p:nvPr/>
        </p:nvSpPr>
        <p:spPr bwMode="auto">
          <a:xfrm>
            <a:off x="3108325" y="4287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grpSp>
        <p:nvGrpSpPr>
          <p:cNvPr id="1237000" name="Group 8">
            <a:extLst>
              <a:ext uri="{FF2B5EF4-FFF2-40B4-BE49-F238E27FC236}">
                <a16:creationId xmlns:a16="http://schemas.microsoft.com/office/drawing/2014/main" id="{581B8DA7-D7E1-2E40-A8D5-78FB3A0CC2B1}"/>
              </a:ext>
            </a:extLst>
          </p:cNvPr>
          <p:cNvGrpSpPr>
            <a:grpSpLocks/>
          </p:cNvGrpSpPr>
          <p:nvPr/>
        </p:nvGrpSpPr>
        <p:grpSpPr bwMode="auto">
          <a:xfrm>
            <a:off x="3489325" y="3109913"/>
            <a:ext cx="4419600" cy="2813050"/>
            <a:chOff x="1474" y="2341"/>
            <a:chExt cx="1950" cy="1435"/>
          </a:xfrm>
        </p:grpSpPr>
        <p:sp>
          <p:nvSpPr>
            <p:cNvPr id="119816" name="Text Box 9">
              <a:extLst>
                <a:ext uri="{FF2B5EF4-FFF2-40B4-BE49-F238E27FC236}">
                  <a16:creationId xmlns:a16="http://schemas.microsoft.com/office/drawing/2014/main" id="{F68A0CA3-5CC2-F94A-94DF-82FA1441F005}"/>
                </a:ext>
              </a:extLst>
            </p:cNvPr>
            <p:cNvSpPr txBox="1">
              <a:spLocks noChangeArrowheads="1"/>
            </p:cNvSpPr>
            <p:nvPr/>
          </p:nvSpPr>
          <p:spPr bwMode="auto">
            <a:xfrm>
              <a:off x="1910" y="3229"/>
              <a:ext cx="8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b="1">
                <a:latin typeface="Times New Roman" panose="02020603050405020304" pitchFamily="18" charset="0"/>
              </a:endParaRPr>
            </a:p>
          </p:txBody>
        </p:sp>
        <p:sp>
          <p:nvSpPr>
            <p:cNvPr id="119817" name="Rectangle 10">
              <a:extLst>
                <a:ext uri="{FF2B5EF4-FFF2-40B4-BE49-F238E27FC236}">
                  <a16:creationId xmlns:a16="http://schemas.microsoft.com/office/drawing/2014/main" id="{2BA8AECC-B607-A541-965A-9EBE5CF16D8F}"/>
                </a:ext>
              </a:extLst>
            </p:cNvPr>
            <p:cNvSpPr>
              <a:spLocks noChangeArrowheads="1"/>
            </p:cNvSpPr>
            <p:nvPr/>
          </p:nvSpPr>
          <p:spPr bwMode="auto">
            <a:xfrm>
              <a:off x="1728" y="3031"/>
              <a:ext cx="1536" cy="308"/>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sz="2400" b="1"/>
                <a:t>S</a:t>
              </a:r>
              <a:r>
                <a:rPr lang="zh-CN" altLang="en-US" sz="2400" b="1"/>
                <a:t>盒</a:t>
              </a:r>
            </a:p>
          </p:txBody>
        </p:sp>
        <p:sp>
          <p:nvSpPr>
            <p:cNvPr id="119818" name="Line 11">
              <a:extLst>
                <a:ext uri="{FF2B5EF4-FFF2-40B4-BE49-F238E27FC236}">
                  <a16:creationId xmlns:a16="http://schemas.microsoft.com/office/drawing/2014/main" id="{BBD49C62-E0C4-0641-B47D-92C9A0ADD892}"/>
                </a:ext>
              </a:extLst>
            </p:cNvPr>
            <p:cNvSpPr>
              <a:spLocks noChangeShapeType="1"/>
            </p:cNvSpPr>
            <p:nvPr/>
          </p:nvSpPr>
          <p:spPr bwMode="auto">
            <a:xfrm>
              <a:off x="2613" y="2593"/>
              <a:ext cx="0" cy="43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19" name="Line 12">
              <a:extLst>
                <a:ext uri="{FF2B5EF4-FFF2-40B4-BE49-F238E27FC236}">
                  <a16:creationId xmlns:a16="http://schemas.microsoft.com/office/drawing/2014/main" id="{6F70C4BA-6B3F-B146-92FC-3840A1EF2196}"/>
                </a:ext>
              </a:extLst>
            </p:cNvPr>
            <p:cNvSpPr>
              <a:spLocks noChangeShapeType="1"/>
            </p:cNvSpPr>
            <p:nvPr/>
          </p:nvSpPr>
          <p:spPr bwMode="auto">
            <a:xfrm>
              <a:off x="3125" y="2593"/>
              <a:ext cx="1" cy="43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20" name="Line 13">
              <a:extLst>
                <a:ext uri="{FF2B5EF4-FFF2-40B4-BE49-F238E27FC236}">
                  <a16:creationId xmlns:a16="http://schemas.microsoft.com/office/drawing/2014/main" id="{E1EB3EE2-0C26-0445-A121-D424A0D6AECA}"/>
                </a:ext>
              </a:extLst>
            </p:cNvPr>
            <p:cNvSpPr>
              <a:spLocks noChangeShapeType="1"/>
            </p:cNvSpPr>
            <p:nvPr/>
          </p:nvSpPr>
          <p:spPr bwMode="auto">
            <a:xfrm>
              <a:off x="2357" y="2593"/>
              <a:ext cx="0" cy="43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21" name="Line 14">
              <a:extLst>
                <a:ext uri="{FF2B5EF4-FFF2-40B4-BE49-F238E27FC236}">
                  <a16:creationId xmlns:a16="http://schemas.microsoft.com/office/drawing/2014/main" id="{3F2789D6-AFE8-E840-AF09-C4039E896148}"/>
                </a:ext>
              </a:extLst>
            </p:cNvPr>
            <p:cNvSpPr>
              <a:spLocks noChangeShapeType="1"/>
            </p:cNvSpPr>
            <p:nvPr/>
          </p:nvSpPr>
          <p:spPr bwMode="auto">
            <a:xfrm>
              <a:off x="1844" y="2592"/>
              <a:ext cx="1" cy="43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22" name="Line 15">
              <a:extLst>
                <a:ext uri="{FF2B5EF4-FFF2-40B4-BE49-F238E27FC236}">
                  <a16:creationId xmlns:a16="http://schemas.microsoft.com/office/drawing/2014/main" id="{5F2835B8-85B1-6447-AC43-90FF57C4E85C}"/>
                </a:ext>
              </a:extLst>
            </p:cNvPr>
            <p:cNvSpPr>
              <a:spLocks noChangeShapeType="1"/>
            </p:cNvSpPr>
            <p:nvPr/>
          </p:nvSpPr>
          <p:spPr bwMode="auto">
            <a:xfrm>
              <a:off x="2100" y="2592"/>
              <a:ext cx="1" cy="43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23" name="Line 16">
              <a:extLst>
                <a:ext uri="{FF2B5EF4-FFF2-40B4-BE49-F238E27FC236}">
                  <a16:creationId xmlns:a16="http://schemas.microsoft.com/office/drawing/2014/main" id="{0D7DA1DA-5DA6-674D-9A09-5715DA9EEAEE}"/>
                </a:ext>
              </a:extLst>
            </p:cNvPr>
            <p:cNvSpPr>
              <a:spLocks noChangeShapeType="1"/>
            </p:cNvSpPr>
            <p:nvPr/>
          </p:nvSpPr>
          <p:spPr bwMode="auto">
            <a:xfrm>
              <a:off x="2869" y="2592"/>
              <a:ext cx="1" cy="43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grpSp>
          <p:nvGrpSpPr>
            <p:cNvPr id="119824" name="Group 17">
              <a:extLst>
                <a:ext uri="{FF2B5EF4-FFF2-40B4-BE49-F238E27FC236}">
                  <a16:creationId xmlns:a16="http://schemas.microsoft.com/office/drawing/2014/main" id="{8AF59FBA-750F-344D-B815-610A6409C011}"/>
                </a:ext>
              </a:extLst>
            </p:cNvPr>
            <p:cNvGrpSpPr>
              <a:grpSpLocks/>
            </p:cNvGrpSpPr>
            <p:nvPr/>
          </p:nvGrpSpPr>
          <p:grpSpPr bwMode="auto">
            <a:xfrm>
              <a:off x="1973" y="3339"/>
              <a:ext cx="1026" cy="437"/>
              <a:chOff x="710" y="0"/>
              <a:chExt cx="19290" cy="20000"/>
            </a:xfrm>
          </p:grpSpPr>
          <p:sp>
            <p:nvSpPr>
              <p:cNvPr id="119825" name="Line 18">
                <a:extLst>
                  <a:ext uri="{FF2B5EF4-FFF2-40B4-BE49-F238E27FC236}">
                    <a16:creationId xmlns:a16="http://schemas.microsoft.com/office/drawing/2014/main" id="{6B9CEFA6-B467-3F45-A2CE-2DDEB49C1AE4}"/>
                  </a:ext>
                </a:extLst>
              </p:cNvPr>
              <p:cNvSpPr>
                <a:spLocks noChangeShapeType="1"/>
              </p:cNvSpPr>
              <p:nvPr/>
            </p:nvSpPr>
            <p:spPr bwMode="auto">
              <a:xfrm>
                <a:off x="19987" y="31"/>
                <a:ext cx="13" cy="19969"/>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26" name="Line 19">
                <a:extLst>
                  <a:ext uri="{FF2B5EF4-FFF2-40B4-BE49-F238E27FC236}">
                    <a16:creationId xmlns:a16="http://schemas.microsoft.com/office/drawing/2014/main" id="{93AA0911-8309-1A44-AE2C-A8C5F38F3232}"/>
                  </a:ext>
                </a:extLst>
              </p:cNvPr>
              <p:cNvSpPr>
                <a:spLocks noChangeShapeType="1"/>
              </p:cNvSpPr>
              <p:nvPr/>
            </p:nvSpPr>
            <p:spPr bwMode="auto">
              <a:xfrm>
                <a:off x="13561" y="31"/>
                <a:ext cx="13" cy="19969"/>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27" name="Line 20">
                <a:extLst>
                  <a:ext uri="{FF2B5EF4-FFF2-40B4-BE49-F238E27FC236}">
                    <a16:creationId xmlns:a16="http://schemas.microsoft.com/office/drawing/2014/main" id="{0CA6B166-E54E-0740-A28A-A110605EEDA1}"/>
                  </a:ext>
                </a:extLst>
              </p:cNvPr>
              <p:cNvSpPr>
                <a:spLocks noChangeShapeType="1"/>
              </p:cNvSpPr>
              <p:nvPr/>
            </p:nvSpPr>
            <p:spPr bwMode="auto">
              <a:xfrm>
                <a:off x="710" y="0"/>
                <a:ext cx="13" cy="1996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sp>
            <p:nvSpPr>
              <p:cNvPr id="119828" name="Line 21">
                <a:extLst>
                  <a:ext uri="{FF2B5EF4-FFF2-40B4-BE49-F238E27FC236}">
                    <a16:creationId xmlns:a16="http://schemas.microsoft.com/office/drawing/2014/main" id="{FFD9CF6E-5B76-D642-9E66-C70E42F9CE66}"/>
                  </a:ext>
                </a:extLst>
              </p:cNvPr>
              <p:cNvSpPr>
                <a:spLocks noChangeShapeType="1"/>
              </p:cNvSpPr>
              <p:nvPr/>
            </p:nvSpPr>
            <p:spPr bwMode="auto">
              <a:xfrm>
                <a:off x="7135" y="0"/>
                <a:ext cx="14" cy="19966"/>
              </a:xfrm>
              <a:prstGeom prst="line">
                <a:avLst/>
              </a:prstGeom>
              <a:noFill/>
              <a:ln w="38100">
                <a:solidFill>
                  <a:srgbClr val="CC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CN"/>
              </a:p>
            </p:txBody>
          </p:sp>
        </p:grpSp>
        <p:sp>
          <p:nvSpPr>
            <p:cNvPr id="119829" name="Rectangle 22">
              <a:extLst>
                <a:ext uri="{FF2B5EF4-FFF2-40B4-BE49-F238E27FC236}">
                  <a16:creationId xmlns:a16="http://schemas.microsoft.com/office/drawing/2014/main" id="{C1303583-3C1D-6C4E-87F7-DBBB6D14F22D}"/>
                </a:ext>
              </a:extLst>
            </p:cNvPr>
            <p:cNvSpPr>
              <a:spLocks noChangeArrowheads="1"/>
            </p:cNvSpPr>
            <p:nvPr/>
          </p:nvSpPr>
          <p:spPr bwMode="auto">
            <a:xfrm>
              <a:off x="1474" y="2341"/>
              <a:ext cx="195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a:latin typeface="Times New Roman" panose="02020603050405020304" pitchFamily="18" charset="0"/>
                </a:rPr>
                <a:t>   x</a:t>
              </a:r>
              <a:r>
                <a:rPr lang="en-US" altLang="zh-CN" b="1" baseline="-25000">
                  <a:latin typeface="Times New Roman" panose="02020603050405020304" pitchFamily="18" charset="0"/>
                </a:rPr>
                <a:t>5</a:t>
              </a:r>
              <a:r>
                <a:rPr lang="en-US" altLang="zh-CN" b="1">
                  <a:latin typeface="Times New Roman" panose="02020603050405020304" pitchFamily="18" charset="0"/>
                </a:rPr>
                <a:t>       </a:t>
              </a:r>
              <a:r>
                <a:rPr lang="en-US" altLang="zh-CN" b="1" i="1">
                  <a:latin typeface="Times New Roman" panose="02020603050405020304" pitchFamily="18" charset="0"/>
                </a:rPr>
                <a:t>x</a:t>
              </a:r>
              <a:r>
                <a:rPr lang="en-US" altLang="zh-CN" b="1" baseline="-25000">
                  <a:latin typeface="Times New Roman" panose="02020603050405020304" pitchFamily="18" charset="0"/>
                </a:rPr>
                <a:t>4</a:t>
              </a:r>
              <a:r>
                <a:rPr lang="en-US" altLang="zh-CN" b="1">
                  <a:latin typeface="Times New Roman" panose="02020603050405020304" pitchFamily="18" charset="0"/>
                </a:rPr>
                <a:t>       </a:t>
              </a:r>
              <a:r>
                <a:rPr lang="en-US" altLang="zh-CN" b="1" i="1">
                  <a:latin typeface="Times New Roman" panose="02020603050405020304" pitchFamily="18" charset="0"/>
                </a:rPr>
                <a:t>x</a:t>
              </a:r>
              <a:r>
                <a:rPr lang="en-US" altLang="zh-CN" b="1" baseline="-25000">
                  <a:latin typeface="Times New Roman" panose="02020603050405020304" pitchFamily="18" charset="0"/>
                </a:rPr>
                <a:t>3</a:t>
              </a:r>
              <a:r>
                <a:rPr lang="en-US" altLang="zh-CN" b="1">
                  <a:latin typeface="Times New Roman" panose="02020603050405020304" pitchFamily="18" charset="0"/>
                </a:rPr>
                <a:t>       </a:t>
              </a:r>
              <a:r>
                <a:rPr lang="en-US" altLang="zh-CN" b="1" i="1">
                  <a:latin typeface="Times New Roman" panose="02020603050405020304" pitchFamily="18" charset="0"/>
                </a:rPr>
                <a:t>x</a:t>
              </a:r>
              <a:r>
                <a:rPr lang="en-US" altLang="zh-CN" b="1" baseline="-25000">
                  <a:latin typeface="Times New Roman" panose="02020603050405020304" pitchFamily="18" charset="0"/>
                </a:rPr>
                <a:t>2</a:t>
              </a:r>
              <a:r>
                <a:rPr lang="en-US" altLang="zh-CN" b="1">
                  <a:latin typeface="Times New Roman" panose="02020603050405020304" pitchFamily="18" charset="0"/>
                </a:rPr>
                <a:t>      </a:t>
              </a:r>
              <a:r>
                <a:rPr lang="en-US" altLang="zh-CN" b="1" i="1">
                  <a:latin typeface="Times New Roman" panose="02020603050405020304" pitchFamily="18" charset="0"/>
                </a:rPr>
                <a:t>x</a:t>
              </a:r>
              <a:r>
                <a:rPr lang="en-US" altLang="zh-CN" b="1" baseline="-25000">
                  <a:latin typeface="Times New Roman" panose="02020603050405020304" pitchFamily="18" charset="0"/>
                </a:rPr>
                <a:t>1</a:t>
              </a:r>
              <a:r>
                <a:rPr lang="en-US" altLang="zh-CN" b="1">
                  <a:latin typeface="Times New Roman" panose="02020603050405020304" pitchFamily="18" charset="0"/>
                </a:rPr>
                <a:t>      </a:t>
              </a:r>
              <a:r>
                <a:rPr lang="en-US" altLang="zh-CN" b="1" i="1">
                  <a:latin typeface="Times New Roman" panose="02020603050405020304" pitchFamily="18" charset="0"/>
                </a:rPr>
                <a:t>x</a:t>
              </a:r>
              <a:r>
                <a:rPr lang="en-US" altLang="zh-CN" b="1" baseline="-25000">
                  <a:latin typeface="Times New Roman" panose="02020603050405020304" pitchFamily="18" charset="0"/>
                </a:rPr>
                <a:t>0</a:t>
              </a:r>
            </a:p>
          </p:txBody>
        </p:sp>
        <p:sp>
          <p:nvSpPr>
            <p:cNvPr id="119830" name="Rectangle 23">
              <a:extLst>
                <a:ext uri="{FF2B5EF4-FFF2-40B4-BE49-F238E27FC236}">
                  <a16:creationId xmlns:a16="http://schemas.microsoft.com/office/drawing/2014/main" id="{CF8A030D-6080-7644-BF2C-5CB4BCE1318D}"/>
                </a:ext>
              </a:extLst>
            </p:cNvPr>
            <p:cNvSpPr>
              <a:spLocks noChangeArrowheads="1"/>
            </p:cNvSpPr>
            <p:nvPr/>
          </p:nvSpPr>
          <p:spPr bwMode="auto">
            <a:xfrm>
              <a:off x="1515" y="3438"/>
              <a:ext cx="163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a:latin typeface="Times New Roman" panose="02020603050405020304" pitchFamily="18" charset="0"/>
                </a:rPr>
                <a:t>     y</a:t>
              </a:r>
              <a:r>
                <a:rPr lang="en-US" altLang="zh-CN" b="1" baseline="-25000">
                  <a:latin typeface="Times New Roman" panose="02020603050405020304" pitchFamily="18" charset="0"/>
                </a:rPr>
                <a:t>3</a:t>
              </a:r>
              <a:r>
                <a:rPr lang="en-US" altLang="zh-CN" b="1">
                  <a:latin typeface="Times New Roman" panose="02020603050405020304" pitchFamily="18" charset="0"/>
                </a:rPr>
                <a:t>           </a:t>
              </a:r>
              <a:r>
                <a:rPr lang="en-US" altLang="zh-CN" b="1" i="1">
                  <a:latin typeface="Times New Roman" panose="02020603050405020304" pitchFamily="18" charset="0"/>
                </a:rPr>
                <a:t>y</a:t>
              </a:r>
              <a:r>
                <a:rPr lang="en-US" altLang="zh-CN" b="1" baseline="-25000">
                  <a:latin typeface="Times New Roman" panose="02020603050405020304" pitchFamily="18" charset="0"/>
                </a:rPr>
                <a:t>2</a:t>
              </a:r>
              <a:r>
                <a:rPr lang="en-US" altLang="zh-CN" b="1">
                  <a:latin typeface="Times New Roman" panose="02020603050405020304" pitchFamily="18" charset="0"/>
                </a:rPr>
                <a:t>           </a:t>
              </a:r>
              <a:r>
                <a:rPr lang="en-US" altLang="zh-CN" b="1" i="1">
                  <a:latin typeface="Times New Roman" panose="02020603050405020304" pitchFamily="18" charset="0"/>
                </a:rPr>
                <a:t>y</a:t>
              </a:r>
              <a:r>
                <a:rPr lang="en-US" altLang="zh-CN" b="1" baseline="-25000">
                  <a:latin typeface="Times New Roman" panose="02020603050405020304" pitchFamily="18" charset="0"/>
                </a:rPr>
                <a:t>1</a:t>
              </a:r>
              <a:r>
                <a:rPr lang="en-US" altLang="zh-CN" b="1">
                  <a:latin typeface="Times New Roman" panose="02020603050405020304" pitchFamily="18" charset="0"/>
                </a:rPr>
                <a:t>           </a:t>
              </a:r>
              <a:r>
                <a:rPr lang="en-US" altLang="zh-CN" b="1" i="1">
                  <a:latin typeface="Times New Roman" panose="02020603050405020304" pitchFamily="18" charset="0"/>
                </a:rPr>
                <a:t>y</a:t>
              </a:r>
              <a:r>
                <a:rPr lang="en-US" altLang="zh-CN" b="1" baseline="-25000">
                  <a:latin typeface="Times New Roman" panose="02020603050405020304" pitchFamily="18" charset="0"/>
                </a:rPr>
                <a:t>0</a:t>
              </a:r>
            </a:p>
          </p:txBody>
        </p:sp>
      </p:grpSp>
      <p:sp>
        <p:nvSpPr>
          <p:cNvPr id="1237016" name="AutoShape 24">
            <a:extLst>
              <a:ext uri="{FF2B5EF4-FFF2-40B4-BE49-F238E27FC236}">
                <a16:creationId xmlns:a16="http://schemas.microsoft.com/office/drawing/2014/main" id="{0DEAF07C-D3E0-0648-A2A8-FD0143A85B8E}"/>
              </a:ext>
            </a:extLst>
          </p:cNvPr>
          <p:cNvSpPr>
            <a:spLocks noChangeArrowheads="1"/>
          </p:cNvSpPr>
          <p:nvPr/>
        </p:nvSpPr>
        <p:spPr bwMode="auto">
          <a:xfrm>
            <a:off x="8382000" y="3276600"/>
            <a:ext cx="1439863" cy="431800"/>
          </a:xfrm>
          <a:prstGeom prst="wedgeRoundRectCallout">
            <a:avLst>
              <a:gd name="adj1" fmla="val -140296"/>
              <a:gd name="adj2" fmla="val 281616"/>
              <a:gd name="adj3" fmla="val 16667"/>
            </a:avLst>
          </a:prstGeom>
          <a:solidFill>
            <a:schemeClr val="accent1"/>
          </a:solidFill>
          <a:ln w="9525">
            <a:solidFill>
              <a:schemeClr val="tx1"/>
            </a:solidFill>
            <a:miter lim="800000"/>
            <a:headEnd/>
            <a:tailEnd/>
          </a:ln>
        </p:spPr>
        <p:txBody>
          <a:bodyPr/>
          <a:lstStyle/>
          <a:p>
            <a:pPr algn="ctr" eaLnBrk="0" hangingPunct="0"/>
            <a:r>
              <a:rPr lang="en-US" altLang="zh-CN"/>
              <a:t>DES</a:t>
            </a:r>
            <a:r>
              <a:rPr lang="zh-CN" altLang="en-US"/>
              <a:t>的</a:t>
            </a:r>
            <a:r>
              <a:rPr lang="en-US" altLang="zh-CN"/>
              <a:t>S</a:t>
            </a:r>
            <a:r>
              <a:rPr lang="zh-CN" altLang="en-US"/>
              <a:t>盒</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237000"/>
                                        </p:tgtEl>
                                        <p:attrNameLst>
                                          <p:attrName>style.visibility</p:attrName>
                                        </p:attrNameLst>
                                      </p:cBhvr>
                                      <p:to>
                                        <p:strVal val="visible"/>
                                      </p:to>
                                    </p:set>
                                    <p:animEffect transition="in" filter="diamond(in)">
                                      <p:cBhvr>
                                        <p:cTn id="7" dur="2000"/>
                                        <p:tgtEl>
                                          <p:spTgt spid="12370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37016"/>
                                        </p:tgtEl>
                                        <p:attrNameLst>
                                          <p:attrName>style.visibility</p:attrName>
                                        </p:attrNameLst>
                                      </p:cBhvr>
                                      <p:to>
                                        <p:strVal val="visible"/>
                                      </p:to>
                                    </p:set>
                                    <p:animEffect transition="in" filter="checkerboard(across)">
                                      <p:cBhvr>
                                        <p:cTn id="12" dur="500"/>
                                        <p:tgtEl>
                                          <p:spTgt spid="1237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7016"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7" name="Rectangle 10">
            <a:extLst>
              <a:ext uri="{FF2B5EF4-FFF2-40B4-BE49-F238E27FC236}">
                <a16:creationId xmlns:a16="http://schemas.microsoft.com/office/drawing/2014/main" id="{65ED3CB4-E8C2-3C4C-A2EF-4A9E241F9966}"/>
              </a:ext>
            </a:extLst>
          </p:cNvPr>
          <p:cNvSpPr>
            <a:spLocks noGrp="1" noChangeArrowheads="1"/>
          </p:cNvSpPr>
          <p:nvPr>
            <p:ph type="title"/>
          </p:nvPr>
        </p:nvSpPr>
        <p:spPr>
          <a:xfrm>
            <a:off x="1465263" y="365125"/>
            <a:ext cx="9037637" cy="668338"/>
          </a:xfrm>
        </p:spPr>
        <p:txBody>
          <a:bodyPr/>
          <a:lstStyle/>
          <a:p>
            <a:r>
              <a:rPr lang="en-US" altLang="zh-CN">
                <a:solidFill>
                  <a:srgbClr val="1F4E79"/>
                </a:solidFill>
                <a:latin typeface="黑体" panose="02010609060101010101" pitchFamily="49" charset="-122"/>
              </a:rPr>
              <a:t>S</a:t>
            </a:r>
            <a:r>
              <a:rPr lang="zh-CN" altLang="en-US">
                <a:solidFill>
                  <a:srgbClr val="1F4E79"/>
                </a:solidFill>
                <a:latin typeface="黑体" panose="02010609060101010101" pitchFamily="49" charset="-122"/>
              </a:rPr>
              <a:t>盒的设计准则</a:t>
            </a:r>
          </a:p>
        </p:txBody>
      </p:sp>
      <p:sp>
        <p:nvSpPr>
          <p:cNvPr id="1239043" name="Rectangle 3">
            <a:extLst>
              <a:ext uri="{FF2B5EF4-FFF2-40B4-BE49-F238E27FC236}">
                <a16:creationId xmlns:a16="http://schemas.microsoft.com/office/drawing/2014/main" id="{8343F6B3-5425-4843-923A-3FC9EF9D130F}"/>
              </a:ext>
            </a:extLst>
          </p:cNvPr>
          <p:cNvSpPr>
            <a:spLocks noGrp="1" noChangeArrowheads="1"/>
          </p:cNvSpPr>
          <p:nvPr>
            <p:ph idx="1"/>
          </p:nvPr>
        </p:nvSpPr>
        <p:spPr>
          <a:xfrm>
            <a:off x="823913" y="1465263"/>
            <a:ext cx="10515600" cy="4579937"/>
          </a:xfrm>
        </p:spPr>
        <p:txBody>
          <a:bodyPr/>
          <a:lstStyle/>
          <a:p>
            <a:pPr algn="just">
              <a:lnSpc>
                <a:spcPct val="120000"/>
              </a:lnSpc>
              <a:spcAft>
                <a:spcPts val="600"/>
              </a:spcAft>
              <a:buFont typeface="Arial" panose="020B0604020202020204" pitchFamily="34" charset="0"/>
              <a:buNone/>
            </a:pPr>
            <a:r>
              <a:rPr lang="en-US" altLang="zh-CN">
                <a:latin typeface="Times New Roman" panose="02020603050405020304" pitchFamily="18" charset="0"/>
              </a:rPr>
              <a:t>     </a:t>
            </a:r>
            <a:r>
              <a:rPr lang="zh-CN" altLang="en-US">
                <a:latin typeface="Times New Roman" panose="02020603050405020304" pitchFamily="18" charset="0"/>
              </a:rPr>
              <a:t>迄今为止，有关方面未曾完全公开有关</a:t>
            </a:r>
            <a:r>
              <a:rPr lang="en-US" altLang="zh-CN">
                <a:latin typeface="Times New Roman" panose="02020603050405020304" pitchFamily="18" charset="0"/>
              </a:rPr>
              <a:t>DES</a:t>
            </a:r>
            <a:r>
              <a:rPr lang="zh-CN" altLang="en-US">
                <a:latin typeface="Times New Roman" panose="02020603050405020304" pitchFamily="18" charset="0"/>
              </a:rPr>
              <a:t>的</a:t>
            </a:r>
            <a:r>
              <a:rPr lang="en-US" altLang="zh-CN">
                <a:latin typeface="Times New Roman" panose="02020603050405020304" pitchFamily="18" charset="0"/>
              </a:rPr>
              <a:t>S</a:t>
            </a:r>
            <a:r>
              <a:rPr lang="zh-CN" altLang="en-US">
                <a:latin typeface="Times New Roman" panose="02020603050405020304" pitchFamily="18" charset="0"/>
              </a:rPr>
              <a:t>盒的设计准则。</a:t>
            </a:r>
            <a:r>
              <a:rPr lang="en-US" altLang="zh-CN">
                <a:latin typeface="Times New Roman" panose="02020603050405020304" pitchFamily="18" charset="0"/>
              </a:rPr>
              <a:t>Branstead</a:t>
            </a:r>
            <a:r>
              <a:rPr lang="zh-CN" altLang="en-US">
                <a:latin typeface="Times New Roman" panose="02020603050405020304" pitchFamily="18" charset="0"/>
              </a:rPr>
              <a:t>等曾披露过下述准则：</a:t>
            </a:r>
          </a:p>
          <a:p>
            <a:pPr algn="just">
              <a:lnSpc>
                <a:spcPct val="120000"/>
              </a:lnSpc>
              <a:spcAft>
                <a:spcPts val="600"/>
              </a:spcAft>
            </a:pPr>
            <a:r>
              <a:rPr lang="en-US" altLang="zh-CN">
                <a:latin typeface="Times New Roman" panose="02020603050405020304" pitchFamily="18" charset="0"/>
              </a:rPr>
              <a:t>P1  S</a:t>
            </a:r>
            <a:r>
              <a:rPr lang="zh-CN" altLang="en-US">
                <a:latin typeface="Times New Roman" panose="02020603050405020304" pitchFamily="18" charset="0"/>
              </a:rPr>
              <a:t>盒的输出都不是其输入的线性或仿射函数。</a:t>
            </a:r>
          </a:p>
          <a:p>
            <a:pPr algn="just">
              <a:lnSpc>
                <a:spcPct val="120000"/>
              </a:lnSpc>
              <a:spcAft>
                <a:spcPts val="600"/>
              </a:spcAft>
            </a:pPr>
            <a:r>
              <a:rPr lang="en-US" altLang="zh-CN">
                <a:latin typeface="Times New Roman" panose="02020603050405020304" pitchFamily="18" charset="0"/>
              </a:rPr>
              <a:t>P2 </a:t>
            </a:r>
            <a:r>
              <a:rPr lang="zh-CN" altLang="en-US">
                <a:latin typeface="Times New Roman" panose="02020603050405020304" pitchFamily="18" charset="0"/>
              </a:rPr>
              <a:t>改变</a:t>
            </a:r>
            <a:r>
              <a:rPr lang="en-US" altLang="zh-CN">
                <a:latin typeface="Times New Roman" panose="02020603050405020304" pitchFamily="18" charset="0"/>
              </a:rPr>
              <a:t>S</a:t>
            </a:r>
            <a:r>
              <a:rPr lang="zh-CN" altLang="en-US">
                <a:latin typeface="Times New Roman" panose="02020603050405020304" pitchFamily="18" charset="0"/>
              </a:rPr>
              <a:t>盒的一个输入比特，其输出至少有两比特产生变化。</a:t>
            </a:r>
          </a:p>
          <a:p>
            <a:pPr algn="just">
              <a:lnSpc>
                <a:spcPct val="120000"/>
              </a:lnSpc>
              <a:spcAft>
                <a:spcPts val="600"/>
              </a:spcAft>
            </a:pPr>
            <a:r>
              <a:rPr lang="en-US" altLang="zh-CN">
                <a:latin typeface="Times New Roman" panose="02020603050405020304" pitchFamily="18" charset="0"/>
              </a:rPr>
              <a:t>P3 </a:t>
            </a:r>
            <a:r>
              <a:rPr lang="zh-CN" altLang="en-US">
                <a:latin typeface="Times New Roman" panose="02020603050405020304" pitchFamily="18" charset="0"/>
              </a:rPr>
              <a:t>当</a:t>
            </a:r>
            <a:r>
              <a:rPr lang="en-US" altLang="zh-CN">
                <a:latin typeface="Times New Roman" panose="02020603050405020304" pitchFamily="18" charset="0"/>
              </a:rPr>
              <a:t>S</a:t>
            </a:r>
            <a:r>
              <a:rPr lang="zh-CN" altLang="en-US">
                <a:latin typeface="Times New Roman" panose="02020603050405020304" pitchFamily="18" charset="0"/>
              </a:rPr>
              <a:t>盒的任一输入位保持不变，其它</a:t>
            </a:r>
            <a:r>
              <a:rPr lang="en-US" altLang="zh-CN">
                <a:latin typeface="Times New Roman" panose="02020603050405020304" pitchFamily="18" charset="0"/>
              </a:rPr>
              <a:t>5</a:t>
            </a:r>
            <a:r>
              <a:rPr lang="zh-CN" altLang="en-US">
                <a:latin typeface="Times New Roman" panose="02020603050405020304" pitchFamily="18" charset="0"/>
              </a:rPr>
              <a:t>位输入变化时</a:t>
            </a:r>
            <a:r>
              <a:rPr lang="en-US" altLang="zh-CN">
                <a:latin typeface="Times New Roman" panose="02020603050405020304" pitchFamily="18" charset="0"/>
              </a:rPr>
              <a:t>(</a:t>
            </a:r>
            <a:r>
              <a:rPr lang="zh-CN" altLang="en-US">
                <a:latin typeface="Times New Roman" panose="02020603050405020304" pitchFamily="18" charset="0"/>
              </a:rPr>
              <a:t>共有</a:t>
            </a:r>
            <a:r>
              <a:rPr lang="en-US" altLang="zh-CN">
                <a:latin typeface="Times New Roman" panose="02020603050405020304" pitchFamily="18" charset="0"/>
              </a:rPr>
              <a:t>2</a:t>
            </a:r>
            <a:r>
              <a:rPr lang="en-US" altLang="zh-CN" baseline="30000">
                <a:latin typeface="Times New Roman" panose="02020603050405020304" pitchFamily="18" charset="0"/>
              </a:rPr>
              <a:t>5 </a:t>
            </a:r>
            <a:r>
              <a:rPr lang="en-US" altLang="zh-CN">
                <a:latin typeface="Times New Roman" panose="02020603050405020304" pitchFamily="18" charset="0"/>
              </a:rPr>
              <a:t>=32</a:t>
            </a:r>
            <a:r>
              <a:rPr lang="zh-CN" altLang="en-US">
                <a:latin typeface="Times New Roman" panose="02020603050405020304" pitchFamily="18" charset="0"/>
              </a:rPr>
              <a:t>种情况</a:t>
            </a:r>
            <a:r>
              <a:rPr lang="en-US" altLang="zh-CN">
                <a:latin typeface="Times New Roman" panose="02020603050405020304" pitchFamily="18" charset="0"/>
              </a:rPr>
              <a:t>)</a:t>
            </a:r>
            <a:r>
              <a:rPr lang="zh-CN" altLang="en-US">
                <a:latin typeface="Times New Roman" panose="02020603050405020304" pitchFamily="18" charset="0"/>
              </a:rPr>
              <a:t>，输出数字中的</a:t>
            </a:r>
            <a:r>
              <a:rPr lang="en-US" altLang="zh-CN">
                <a:latin typeface="Times New Roman" panose="02020603050405020304" pitchFamily="18" charset="0"/>
              </a:rPr>
              <a:t>0</a:t>
            </a:r>
            <a:r>
              <a:rPr lang="zh-CN" altLang="en-US">
                <a:latin typeface="Times New Roman" panose="02020603050405020304" pitchFamily="18" charset="0"/>
              </a:rPr>
              <a:t>和</a:t>
            </a:r>
            <a:r>
              <a:rPr lang="en-US" altLang="zh-CN">
                <a:latin typeface="Times New Roman" panose="02020603050405020304" pitchFamily="18" charset="0"/>
              </a:rPr>
              <a:t>1</a:t>
            </a:r>
            <a:r>
              <a:rPr lang="zh-CN" altLang="en-US">
                <a:latin typeface="Times New Roman" panose="02020603050405020304" pitchFamily="18" charset="0"/>
              </a:rPr>
              <a:t>的总数近于相等。</a:t>
            </a:r>
          </a:p>
          <a:p>
            <a:pPr algn="just">
              <a:lnSpc>
                <a:spcPct val="120000"/>
              </a:lnSpc>
              <a:spcAft>
                <a:spcPts val="600"/>
              </a:spcAft>
              <a:buFont typeface="Arial" panose="020B0604020202020204" pitchFamily="34" charset="0"/>
              <a:buNone/>
            </a:pPr>
            <a:r>
              <a:rPr lang="zh-CN" altLang="en-US">
                <a:latin typeface="Times New Roman" panose="02020603050405020304" pitchFamily="18" charset="0"/>
              </a:rPr>
              <a:t>          这三点使</a:t>
            </a:r>
            <a:r>
              <a:rPr lang="en-US" altLang="zh-CN">
                <a:latin typeface="Times New Roman" panose="02020603050405020304" pitchFamily="18" charset="0"/>
              </a:rPr>
              <a:t>DES</a:t>
            </a:r>
            <a:r>
              <a:rPr lang="zh-CN" altLang="en-US">
                <a:latin typeface="Times New Roman" panose="02020603050405020304" pitchFamily="18" charset="0"/>
              </a:rPr>
              <a:t>的</a:t>
            </a:r>
            <a:r>
              <a:rPr lang="en-US" altLang="zh-CN">
                <a:latin typeface="Times New Roman" panose="02020603050405020304" pitchFamily="18" charset="0"/>
              </a:rPr>
              <a:t>S</a:t>
            </a:r>
            <a:r>
              <a:rPr lang="zh-CN" altLang="en-US">
                <a:latin typeface="Times New Roman" panose="02020603050405020304" pitchFamily="18" charset="0"/>
              </a:rPr>
              <a:t>盒能够实现较好的混淆。</a:t>
            </a:r>
          </a:p>
        </p:txBody>
      </p:sp>
      <p:sp>
        <p:nvSpPr>
          <p:cNvPr id="121859" name="灯片编号占位符 5">
            <a:extLst>
              <a:ext uri="{FF2B5EF4-FFF2-40B4-BE49-F238E27FC236}">
                <a16:creationId xmlns:a16="http://schemas.microsoft.com/office/drawing/2014/main" id="{B51818B7-CBEF-1343-9D07-FEA931A901F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6D1FCA7-697A-D84C-A1A3-F61391A19950}" type="slidenum">
              <a:rPr lang="en-US" altLang="zh-CN">
                <a:latin typeface="Calibri" panose="020F0502020204030204" pitchFamily="34" charset="0"/>
              </a:rPr>
              <a:pPr/>
              <a:t>24</a:t>
            </a:fld>
            <a:endParaRPr lang="en-US" altLang="zh-CN">
              <a:latin typeface="Calibri" panose="020F0502020204030204" pitchFamily="34" charset="0"/>
            </a:endParaRPr>
          </a:p>
        </p:txBody>
      </p:sp>
      <p:sp>
        <p:nvSpPr>
          <p:cNvPr id="121860" name="Text Box 4">
            <a:extLst>
              <a:ext uri="{FF2B5EF4-FFF2-40B4-BE49-F238E27FC236}">
                <a16:creationId xmlns:a16="http://schemas.microsoft.com/office/drawing/2014/main" id="{ECBA0A99-1E30-C24B-9624-97319789A576}"/>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21861" name="Text Box 5">
            <a:extLst>
              <a:ext uri="{FF2B5EF4-FFF2-40B4-BE49-F238E27FC236}">
                <a16:creationId xmlns:a16="http://schemas.microsoft.com/office/drawing/2014/main" id="{3DA10795-F53E-0846-A651-1C48551E849F}"/>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21862" name="Text Box 6">
            <a:extLst>
              <a:ext uri="{FF2B5EF4-FFF2-40B4-BE49-F238E27FC236}">
                <a16:creationId xmlns:a16="http://schemas.microsoft.com/office/drawing/2014/main" id="{B53EF869-8FFA-0544-B562-43B12B1082F1}"/>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21863" name="Text Box 7">
            <a:extLst>
              <a:ext uri="{FF2B5EF4-FFF2-40B4-BE49-F238E27FC236}">
                <a16:creationId xmlns:a16="http://schemas.microsoft.com/office/drawing/2014/main" id="{FEE49318-249F-4342-97E1-D21E143012BB}"/>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21864" name="Text Box 8">
            <a:extLst>
              <a:ext uri="{FF2B5EF4-FFF2-40B4-BE49-F238E27FC236}">
                <a16:creationId xmlns:a16="http://schemas.microsoft.com/office/drawing/2014/main" id="{0B186043-D824-0441-BEBB-3C739F5F0659}"/>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
        <p:nvSpPr>
          <p:cNvPr id="121865" name="Text Box 9">
            <a:extLst>
              <a:ext uri="{FF2B5EF4-FFF2-40B4-BE49-F238E27FC236}">
                <a16:creationId xmlns:a16="http://schemas.microsoft.com/office/drawing/2014/main" id="{81E89708-64B0-ED41-82C0-198CE7E915E6}"/>
              </a:ext>
            </a:extLst>
          </p:cNvPr>
          <p:cNvSpPr txBox="1">
            <a:spLocks noChangeArrowheads="1"/>
          </p:cNvSpPr>
          <p:nvPr/>
        </p:nvSpPr>
        <p:spPr bwMode="auto">
          <a:xfrm>
            <a:off x="3108325" y="4287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4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0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90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90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390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4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副标题 2">
            <a:extLst>
              <a:ext uri="{FF2B5EF4-FFF2-40B4-BE49-F238E27FC236}">
                <a16:creationId xmlns:a16="http://schemas.microsoft.com/office/drawing/2014/main" id="{25A010E3-5738-D04F-80D6-6D37AB5E017B}"/>
              </a:ext>
            </a:extLst>
          </p:cNvPr>
          <p:cNvSpPr>
            <a:spLocks noGrp="1" noChangeArrowheads="1"/>
          </p:cNvSpPr>
          <p:nvPr>
            <p:ph type="subTitle" idx="1"/>
          </p:nvPr>
        </p:nvSpPr>
        <p:spPr>
          <a:xfrm>
            <a:off x="0" y="3048000"/>
            <a:ext cx="12192000" cy="790575"/>
          </a:xfrm>
        </p:spPr>
        <p:txBody>
          <a:bodyPr/>
          <a:lstStyle/>
          <a:p>
            <a:r>
              <a:rPr lang="en-US" altLang="zh-CN" sz="3600" b="1" dirty="0"/>
              <a:t>Feistel</a:t>
            </a:r>
            <a:r>
              <a:rPr lang="zh-CN" altLang="en-US" sz="3600" b="1" dirty="0"/>
              <a:t>密码结构</a:t>
            </a:r>
            <a:endParaRPr lang="en-US" altLang="zh-CN" sz="3600" b="1" dirty="0"/>
          </a:p>
        </p:txBody>
      </p:sp>
    </p:spTree>
  </p:cSld>
  <p:clrMapOvr>
    <a:masterClrMapping/>
  </p:clrMapOvr>
  <p:transition spd="slow">
    <p:random/>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3" name="Text Box 2">
            <a:extLst>
              <a:ext uri="{FF2B5EF4-FFF2-40B4-BE49-F238E27FC236}">
                <a16:creationId xmlns:a16="http://schemas.microsoft.com/office/drawing/2014/main" id="{63AFE326-819A-1D48-A54F-7704AE927179}"/>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5954" name="Text Box 3">
            <a:extLst>
              <a:ext uri="{FF2B5EF4-FFF2-40B4-BE49-F238E27FC236}">
                <a16:creationId xmlns:a16="http://schemas.microsoft.com/office/drawing/2014/main" id="{6CEC4920-6B56-D748-9688-560276BE25C4}"/>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5955" name="Text Box 4">
            <a:extLst>
              <a:ext uri="{FF2B5EF4-FFF2-40B4-BE49-F238E27FC236}">
                <a16:creationId xmlns:a16="http://schemas.microsoft.com/office/drawing/2014/main" id="{84B1CC08-5D49-7D40-B655-75B63DADC62A}"/>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5956" name="Text Box 5">
            <a:extLst>
              <a:ext uri="{FF2B5EF4-FFF2-40B4-BE49-F238E27FC236}">
                <a16:creationId xmlns:a16="http://schemas.microsoft.com/office/drawing/2014/main" id="{B270E77F-31E6-A142-B8E3-878115AB64BC}"/>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5957" name="Text Box 6">
            <a:extLst>
              <a:ext uri="{FF2B5EF4-FFF2-40B4-BE49-F238E27FC236}">
                <a16:creationId xmlns:a16="http://schemas.microsoft.com/office/drawing/2014/main" id="{93E6F898-E5CD-CA45-BA0C-0D621E98B9BD}"/>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5958" name="Text Box 7">
            <a:extLst>
              <a:ext uri="{FF2B5EF4-FFF2-40B4-BE49-F238E27FC236}">
                <a16:creationId xmlns:a16="http://schemas.microsoft.com/office/drawing/2014/main" id="{8BC97804-56D8-E844-BC1B-56C9CC7C1923}"/>
              </a:ext>
            </a:extLst>
          </p:cNvPr>
          <p:cNvSpPr txBox="1">
            <a:spLocks noChangeArrowheads="1"/>
          </p:cNvSpPr>
          <p:nvPr/>
        </p:nvSpPr>
        <p:spPr bwMode="auto">
          <a:xfrm>
            <a:off x="3108325" y="4287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5959" name="Rectangle 9">
            <a:extLst>
              <a:ext uri="{FF2B5EF4-FFF2-40B4-BE49-F238E27FC236}">
                <a16:creationId xmlns:a16="http://schemas.microsoft.com/office/drawing/2014/main" id="{71F105F4-3FB6-5844-ABFE-ACE9C5D5E278}"/>
              </a:ext>
            </a:extLst>
          </p:cNvPr>
          <p:cNvSpPr>
            <a:spLocks noGrp="1" noChangeArrowheads="1"/>
          </p:cNvSpPr>
          <p:nvPr>
            <p:ph type="title"/>
          </p:nvPr>
        </p:nvSpPr>
        <p:spPr>
          <a:xfrm>
            <a:off x="1465263" y="365125"/>
            <a:ext cx="9037637" cy="668338"/>
          </a:xfrm>
        </p:spPr>
        <p:txBody>
          <a:bodyPr/>
          <a:lstStyle/>
          <a:p>
            <a:pPr eaLnBrk="1" hangingPunct="1"/>
            <a:r>
              <a:rPr lang="en-US" altLang="zh-CN">
                <a:solidFill>
                  <a:schemeClr val="hlink"/>
                </a:solidFill>
                <a:latin typeface="Times New Roman" panose="02020603050405020304" pitchFamily="18" charset="0"/>
              </a:rPr>
              <a:t>Feistel</a:t>
            </a:r>
            <a:r>
              <a:rPr lang="zh-CN" altLang="en-US">
                <a:solidFill>
                  <a:schemeClr val="hlink"/>
                </a:solidFill>
              </a:rPr>
              <a:t>密码的思想</a:t>
            </a:r>
          </a:p>
        </p:txBody>
      </p:sp>
      <p:sp>
        <p:nvSpPr>
          <p:cNvPr id="125960" name="内容占位符 3">
            <a:extLst>
              <a:ext uri="{FF2B5EF4-FFF2-40B4-BE49-F238E27FC236}">
                <a16:creationId xmlns:a16="http://schemas.microsoft.com/office/drawing/2014/main" id="{448D282B-2B91-5444-8DE7-43A631A48210}"/>
              </a:ext>
            </a:extLst>
          </p:cNvPr>
          <p:cNvSpPr>
            <a:spLocks noGrp="1" noChangeArrowheads="1"/>
          </p:cNvSpPr>
          <p:nvPr>
            <p:ph idx="1"/>
          </p:nvPr>
        </p:nvSpPr>
        <p:spPr>
          <a:xfrm>
            <a:off x="823913" y="1465263"/>
            <a:ext cx="10515600" cy="4579937"/>
          </a:xfrm>
        </p:spPr>
        <p:txBody>
          <a:bodyPr/>
          <a:lstStyle/>
          <a:p>
            <a:pPr algn="just" eaLnBrk="1" hangingPunct="1">
              <a:lnSpc>
                <a:spcPct val="150000"/>
              </a:lnSpc>
              <a:buFont typeface="Wingdings" pitchFamily="2" charset="2"/>
              <a:buChar char="Ø"/>
            </a:pPr>
            <a:r>
              <a:rPr lang="zh-CN" altLang="en-US" dirty="0">
                <a:solidFill>
                  <a:srgbClr val="FF0000"/>
                </a:solidFill>
                <a:latin typeface="楷体_GB2312" pitchFamily="49" charset="-122"/>
                <a:ea typeface="楷体_GB2312" pitchFamily="49" charset="-122"/>
              </a:rPr>
              <a:t>乘积密码</a:t>
            </a:r>
            <a:r>
              <a:rPr lang="zh-CN" altLang="en-US" dirty="0">
                <a:latin typeface="楷体_GB2312" pitchFamily="49" charset="-122"/>
                <a:ea typeface="楷体_GB2312" pitchFamily="49" charset="-122"/>
              </a:rPr>
              <a:t>指顺序地执行两个或多个基本密码系统，使得最后结果的密码强度高于每个基本密码系统产生的结果</a:t>
            </a:r>
            <a:r>
              <a:rPr lang="en-US" altLang="zh-CN" dirty="0">
                <a:latin typeface="楷体_GB2312" pitchFamily="49" charset="-122"/>
                <a:ea typeface="楷体_GB2312" pitchFamily="49" charset="-122"/>
              </a:rPr>
              <a:t>.</a:t>
            </a:r>
          </a:p>
          <a:p>
            <a:pPr algn="just" eaLnBrk="1" hangingPunct="1">
              <a:lnSpc>
                <a:spcPct val="150000"/>
              </a:lnSpc>
              <a:buFont typeface="Wingdings" pitchFamily="2" charset="2"/>
              <a:buChar char="Ø"/>
            </a:pPr>
            <a:r>
              <a:rPr lang="en-US" altLang="zh-CN" dirty="0">
                <a:latin typeface="Times New Roman" panose="02020603050405020304" pitchFamily="18" charset="0"/>
                <a:ea typeface="楷体_GB2312" pitchFamily="49" charset="-122"/>
              </a:rPr>
              <a:t>Feistel</a:t>
            </a:r>
            <a:r>
              <a:rPr lang="zh-CN" altLang="en-US" dirty="0">
                <a:latin typeface="楷体_GB2312" pitchFamily="49" charset="-122"/>
                <a:ea typeface="楷体_GB2312" pitchFamily="49" charset="-122"/>
              </a:rPr>
              <a:t>还提出了实现代换和置换的方法。其思想实际上是</a:t>
            </a:r>
            <a:r>
              <a:rPr lang="en-US" altLang="zh-CN" dirty="0">
                <a:latin typeface="Times New Roman" panose="02020603050405020304" pitchFamily="18" charset="0"/>
                <a:ea typeface="楷体_GB2312" pitchFamily="49" charset="-122"/>
              </a:rPr>
              <a:t>Shannon</a:t>
            </a:r>
            <a:r>
              <a:rPr lang="zh-CN" altLang="en-US" dirty="0">
                <a:latin typeface="楷体_GB2312" pitchFamily="49" charset="-122"/>
                <a:ea typeface="楷体_GB2312" pitchFamily="49" charset="-122"/>
              </a:rPr>
              <a:t>提出的</a:t>
            </a:r>
            <a:r>
              <a:rPr lang="zh-CN" altLang="en-US" dirty="0">
                <a:solidFill>
                  <a:schemeClr val="hlink"/>
                </a:solidFill>
                <a:latin typeface="楷体_GB2312" pitchFamily="49" charset="-122"/>
                <a:ea typeface="楷体_GB2312" pitchFamily="49" charset="-122"/>
              </a:rPr>
              <a:t>利用乘积密码实现混淆和扩散思想</a:t>
            </a:r>
            <a:r>
              <a:rPr lang="zh-CN" altLang="en-US" dirty="0">
                <a:latin typeface="楷体_GB2312" pitchFamily="49" charset="-122"/>
                <a:ea typeface="楷体_GB2312" pitchFamily="49" charset="-122"/>
              </a:rPr>
              <a:t>的具体应用。</a:t>
            </a:r>
          </a:p>
          <a:p>
            <a:endParaRPr lang="zh-CN" altLang="en-US"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7" name="Text Box 2">
            <a:extLst>
              <a:ext uri="{FF2B5EF4-FFF2-40B4-BE49-F238E27FC236}">
                <a16:creationId xmlns:a16="http://schemas.microsoft.com/office/drawing/2014/main" id="{0A8EF3D1-FC4B-554E-B2F2-F489E18B2D7B}"/>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6978" name="Text Box 3">
            <a:extLst>
              <a:ext uri="{FF2B5EF4-FFF2-40B4-BE49-F238E27FC236}">
                <a16:creationId xmlns:a16="http://schemas.microsoft.com/office/drawing/2014/main" id="{AC3204BF-A59C-C141-807F-EAED8F44BA33}"/>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6979" name="Text Box 4">
            <a:extLst>
              <a:ext uri="{FF2B5EF4-FFF2-40B4-BE49-F238E27FC236}">
                <a16:creationId xmlns:a16="http://schemas.microsoft.com/office/drawing/2014/main" id="{46A42E92-7FEC-3545-A56E-1F852467EB10}"/>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6980" name="Text Box 5">
            <a:extLst>
              <a:ext uri="{FF2B5EF4-FFF2-40B4-BE49-F238E27FC236}">
                <a16:creationId xmlns:a16="http://schemas.microsoft.com/office/drawing/2014/main" id="{59344D0B-BAA2-364D-BC1F-ECD6C975E1A9}"/>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6981" name="Text Box 6">
            <a:extLst>
              <a:ext uri="{FF2B5EF4-FFF2-40B4-BE49-F238E27FC236}">
                <a16:creationId xmlns:a16="http://schemas.microsoft.com/office/drawing/2014/main" id="{6E42EC94-7AEE-BA42-85CF-9FFEE2EF6C92}"/>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6982" name="Text Box 7">
            <a:extLst>
              <a:ext uri="{FF2B5EF4-FFF2-40B4-BE49-F238E27FC236}">
                <a16:creationId xmlns:a16="http://schemas.microsoft.com/office/drawing/2014/main" id="{42CA796C-4A60-0F4D-9BB5-F7FFCCC3D0AC}"/>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6983" name="标题 5">
            <a:extLst>
              <a:ext uri="{FF2B5EF4-FFF2-40B4-BE49-F238E27FC236}">
                <a16:creationId xmlns:a16="http://schemas.microsoft.com/office/drawing/2014/main" id="{484B3F82-E4E8-6543-8993-8188FDF6082E}"/>
              </a:ext>
            </a:extLst>
          </p:cNvPr>
          <p:cNvSpPr>
            <a:spLocks noGrp="1" noChangeArrowheads="1"/>
          </p:cNvSpPr>
          <p:nvPr>
            <p:ph type="title"/>
          </p:nvPr>
        </p:nvSpPr>
        <p:spPr>
          <a:xfrm>
            <a:off x="1465263" y="365125"/>
            <a:ext cx="9037637" cy="668338"/>
          </a:xfrm>
        </p:spPr>
        <p:txBody>
          <a:bodyPr/>
          <a:lstStyle/>
          <a:p>
            <a:r>
              <a:rPr lang="en-US" altLang="zh-CN">
                <a:solidFill>
                  <a:schemeClr val="hlink"/>
                </a:solidFill>
              </a:rPr>
              <a:t>Feistel</a:t>
            </a:r>
            <a:r>
              <a:rPr lang="zh-CN" altLang="en-US">
                <a:solidFill>
                  <a:schemeClr val="hlink"/>
                </a:solidFill>
              </a:rPr>
              <a:t>密码实现的参数</a:t>
            </a:r>
            <a:endParaRPr lang="zh-CN" altLang="en-US">
              <a:solidFill>
                <a:srgbClr val="1F4E79"/>
              </a:solidFill>
            </a:endParaRPr>
          </a:p>
        </p:txBody>
      </p:sp>
      <p:sp>
        <p:nvSpPr>
          <p:cNvPr id="126984" name="内容占位符 6">
            <a:extLst>
              <a:ext uri="{FF2B5EF4-FFF2-40B4-BE49-F238E27FC236}">
                <a16:creationId xmlns:a16="http://schemas.microsoft.com/office/drawing/2014/main" id="{EFEBB66C-4637-464E-826D-92B410DEBC85}"/>
              </a:ext>
            </a:extLst>
          </p:cNvPr>
          <p:cNvSpPr>
            <a:spLocks noGrp="1" noChangeArrowheads="1"/>
          </p:cNvSpPr>
          <p:nvPr>
            <p:ph idx="1"/>
          </p:nvPr>
        </p:nvSpPr>
        <p:spPr>
          <a:xfrm>
            <a:off x="914400" y="1247775"/>
            <a:ext cx="10515600" cy="4578350"/>
          </a:xfrm>
        </p:spPr>
        <p:txBody>
          <a:bodyPr/>
          <a:lstStyle/>
          <a:p>
            <a:pPr eaLnBrk="1" hangingPunct="1">
              <a:lnSpc>
                <a:spcPct val="120000"/>
              </a:lnSpc>
              <a:buFont typeface="Wingdings" pitchFamily="2" charset="2"/>
              <a:buNone/>
            </a:pPr>
            <a:r>
              <a:rPr lang="en-US" altLang="zh-CN">
                <a:latin typeface="Times New Roman" panose="02020603050405020304" pitchFamily="18" charset="0"/>
              </a:rPr>
              <a:t>Feistel</a:t>
            </a:r>
            <a:r>
              <a:rPr lang="zh-CN" altLang="en-US">
                <a:latin typeface="Times New Roman" panose="02020603050405020304" pitchFamily="18" charset="0"/>
              </a:rPr>
              <a:t>网络的实现与以下参数和特性有关：  </a:t>
            </a:r>
          </a:p>
          <a:p>
            <a:pPr eaLnBrk="1" hangingPunct="1">
              <a:lnSpc>
                <a:spcPct val="120000"/>
              </a:lnSpc>
              <a:buFont typeface="Wingdings" pitchFamily="2" charset="2"/>
              <a:buNone/>
            </a:pPr>
            <a:r>
              <a:rPr lang="zh-CN" altLang="en-US">
                <a:latin typeface="Times New Roman" panose="02020603050405020304" pitchFamily="18" charset="0"/>
              </a:rPr>
              <a:t>① </a:t>
            </a:r>
            <a:r>
              <a:rPr lang="zh-CN" altLang="en-US">
                <a:solidFill>
                  <a:schemeClr val="folHlink"/>
                </a:solidFill>
                <a:latin typeface="Times New Roman" panose="02020603050405020304" pitchFamily="18" charset="0"/>
              </a:rPr>
              <a:t>分组大小</a:t>
            </a:r>
            <a:r>
              <a:rPr lang="en-US" altLang="zh-CN">
                <a:latin typeface="Times New Roman" panose="02020603050405020304" pitchFamily="18" charset="0"/>
              </a:rPr>
              <a:t>: </a:t>
            </a:r>
            <a:r>
              <a:rPr lang="zh-CN" altLang="en-US">
                <a:latin typeface="Times New Roman" panose="02020603050405020304" pitchFamily="18" charset="0"/>
              </a:rPr>
              <a:t>分组越大则安全性越高，但加密速度就越慢。</a:t>
            </a:r>
          </a:p>
          <a:p>
            <a:pPr eaLnBrk="1" hangingPunct="1">
              <a:lnSpc>
                <a:spcPct val="120000"/>
              </a:lnSpc>
              <a:buFont typeface="Wingdings" pitchFamily="2" charset="2"/>
              <a:buNone/>
            </a:pPr>
            <a:r>
              <a:rPr lang="zh-CN" altLang="en-US">
                <a:latin typeface="Times New Roman" panose="02020603050405020304" pitchFamily="18" charset="0"/>
              </a:rPr>
              <a:t>② </a:t>
            </a:r>
            <a:r>
              <a:rPr lang="zh-CN" altLang="en-US">
                <a:solidFill>
                  <a:schemeClr val="folHlink"/>
                </a:solidFill>
                <a:latin typeface="Times New Roman" panose="02020603050405020304" pitchFamily="18" charset="0"/>
              </a:rPr>
              <a:t>密钥大小</a:t>
            </a:r>
            <a:r>
              <a:rPr lang="zh-CN" altLang="en-US">
                <a:latin typeface="Times New Roman" panose="02020603050405020304" pitchFamily="18" charset="0"/>
              </a:rPr>
              <a:t>：密钥越长则安全性越高，但加密速度就越慢。</a:t>
            </a:r>
            <a:endParaRPr lang="en-US" altLang="zh-CN">
              <a:latin typeface="Times New Roman" panose="02020603050405020304" pitchFamily="18" charset="0"/>
            </a:endParaRPr>
          </a:p>
          <a:p>
            <a:pPr eaLnBrk="1" hangingPunct="1">
              <a:lnSpc>
                <a:spcPct val="120000"/>
              </a:lnSpc>
              <a:buFont typeface="Wingdings" pitchFamily="2" charset="2"/>
              <a:buNone/>
            </a:pPr>
            <a:r>
              <a:rPr lang="zh-CN" altLang="en-US">
                <a:latin typeface="Times New Roman" panose="02020603050405020304" pitchFamily="18" charset="0"/>
              </a:rPr>
              <a:t>③ </a:t>
            </a:r>
            <a:r>
              <a:rPr lang="zh-CN" altLang="en-US">
                <a:solidFill>
                  <a:schemeClr val="folHlink"/>
                </a:solidFill>
                <a:latin typeface="Times New Roman" panose="02020603050405020304" pitchFamily="18" charset="0"/>
              </a:rPr>
              <a:t>轮数</a:t>
            </a:r>
            <a:r>
              <a:rPr lang="zh-CN" altLang="en-US">
                <a:latin typeface="Times New Roman" panose="02020603050405020304" pitchFamily="18" charset="0"/>
              </a:rPr>
              <a:t>：单轮结构远不足以保证安全性，但多轮结构可提供足够的安全性。典型地，轮数取为</a:t>
            </a:r>
            <a:r>
              <a:rPr lang="en-US" altLang="zh-CN">
                <a:latin typeface="Times New Roman" panose="02020603050405020304" pitchFamily="18" charset="0"/>
              </a:rPr>
              <a:t>16</a:t>
            </a:r>
            <a:r>
              <a:rPr lang="zh-CN" altLang="en-US">
                <a:latin typeface="Times New Roman" panose="02020603050405020304" pitchFamily="18" charset="0"/>
              </a:rPr>
              <a:t>。</a:t>
            </a:r>
          </a:p>
          <a:p>
            <a:pPr eaLnBrk="1" hangingPunct="1">
              <a:lnSpc>
                <a:spcPct val="120000"/>
              </a:lnSpc>
              <a:buFont typeface="Wingdings" pitchFamily="2" charset="2"/>
              <a:buNone/>
            </a:pPr>
            <a:r>
              <a:rPr lang="zh-CN" altLang="en-US">
                <a:latin typeface="Times New Roman" panose="02020603050405020304" pitchFamily="18" charset="0"/>
              </a:rPr>
              <a:t>④ </a:t>
            </a:r>
            <a:r>
              <a:rPr lang="zh-CN" altLang="en-US">
                <a:solidFill>
                  <a:schemeClr val="folHlink"/>
                </a:solidFill>
                <a:latin typeface="Times New Roman" panose="02020603050405020304" pitchFamily="18" charset="0"/>
              </a:rPr>
              <a:t>子密钥产生算法</a:t>
            </a:r>
            <a:r>
              <a:rPr lang="zh-CN" altLang="en-US">
                <a:latin typeface="Times New Roman" panose="02020603050405020304" pitchFamily="18" charset="0"/>
              </a:rPr>
              <a:t>：该算法的复杂性越大，则密码分析的困难性就越大。</a:t>
            </a:r>
          </a:p>
          <a:p>
            <a:pPr eaLnBrk="1" hangingPunct="1">
              <a:lnSpc>
                <a:spcPct val="120000"/>
              </a:lnSpc>
              <a:buFont typeface="Wingdings" pitchFamily="2" charset="2"/>
              <a:buNone/>
            </a:pPr>
            <a:r>
              <a:rPr lang="zh-CN" altLang="en-US">
                <a:latin typeface="Times New Roman" panose="02020603050405020304" pitchFamily="18" charset="0"/>
              </a:rPr>
              <a:t>⑤ </a:t>
            </a:r>
            <a:r>
              <a:rPr lang="zh-CN" altLang="en-US">
                <a:solidFill>
                  <a:schemeClr val="folHlink"/>
                </a:solidFill>
                <a:latin typeface="Times New Roman" panose="02020603050405020304" pitchFamily="18" charset="0"/>
              </a:rPr>
              <a:t>轮函数</a:t>
            </a:r>
            <a:r>
              <a:rPr lang="zh-CN" altLang="en-US">
                <a:latin typeface="Times New Roman" panose="02020603050405020304" pitchFamily="18" charset="0"/>
              </a:rPr>
              <a:t>：轮函数的复杂性越大，密码分析的困难性也越大。</a:t>
            </a:r>
          </a:p>
          <a:p>
            <a:pPr>
              <a:buFont typeface="Arial" panose="020B0604020202020204" pitchFamily="34" charset="0"/>
              <a:buNone/>
            </a:pPr>
            <a:endParaRPr lang="zh-CN" altLang="en-US">
              <a:latin typeface="Times New Roman" panose="02020603050405020304" pitchFamily="18"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1" name="标题 5">
            <a:extLst>
              <a:ext uri="{FF2B5EF4-FFF2-40B4-BE49-F238E27FC236}">
                <a16:creationId xmlns:a16="http://schemas.microsoft.com/office/drawing/2014/main" id="{454276FF-73D8-804C-A18E-60F11689AAE1}"/>
              </a:ext>
            </a:extLst>
          </p:cNvPr>
          <p:cNvSpPr>
            <a:spLocks noGrp="1" noChangeArrowheads="1"/>
          </p:cNvSpPr>
          <p:nvPr>
            <p:ph type="title"/>
          </p:nvPr>
        </p:nvSpPr>
        <p:spPr>
          <a:xfrm>
            <a:off x="1465263" y="365125"/>
            <a:ext cx="9037637" cy="668338"/>
          </a:xfrm>
        </p:spPr>
        <p:txBody>
          <a:bodyPr/>
          <a:lstStyle/>
          <a:p>
            <a:r>
              <a:rPr lang="zh-CN" altLang="en-US">
                <a:solidFill>
                  <a:schemeClr val="hlink"/>
                </a:solidFill>
              </a:rPr>
              <a:t>设计</a:t>
            </a:r>
            <a:r>
              <a:rPr lang="en-US" altLang="zh-CN">
                <a:solidFill>
                  <a:schemeClr val="hlink"/>
                </a:solidFill>
              </a:rPr>
              <a:t>Feistel</a:t>
            </a:r>
            <a:r>
              <a:rPr lang="zh-CN" altLang="en-US">
                <a:solidFill>
                  <a:schemeClr val="hlink"/>
                </a:solidFill>
              </a:rPr>
              <a:t>密码的两个要求</a:t>
            </a:r>
            <a:endParaRPr lang="zh-CN" altLang="en-US">
              <a:solidFill>
                <a:srgbClr val="1F4E79"/>
              </a:solidFill>
            </a:endParaRPr>
          </a:p>
        </p:txBody>
      </p:sp>
      <p:sp>
        <p:nvSpPr>
          <p:cNvPr id="128002" name="内容占位符 6">
            <a:extLst>
              <a:ext uri="{FF2B5EF4-FFF2-40B4-BE49-F238E27FC236}">
                <a16:creationId xmlns:a16="http://schemas.microsoft.com/office/drawing/2014/main" id="{7F9DDE30-A4A6-9142-BEC4-19F3C6201EC0}"/>
              </a:ext>
            </a:extLst>
          </p:cNvPr>
          <p:cNvSpPr>
            <a:spLocks noGrp="1" noChangeArrowheads="1"/>
          </p:cNvSpPr>
          <p:nvPr>
            <p:ph idx="1"/>
          </p:nvPr>
        </p:nvSpPr>
        <p:spPr>
          <a:xfrm>
            <a:off x="727075" y="1295400"/>
            <a:ext cx="10515600" cy="4579938"/>
          </a:xfrm>
        </p:spPr>
        <p:txBody>
          <a:bodyPr/>
          <a:lstStyle/>
          <a:p>
            <a:pPr algn="just" eaLnBrk="1" hangingPunct="1">
              <a:lnSpc>
                <a:spcPct val="115000"/>
              </a:lnSpc>
              <a:buFont typeface="Wingdings" pitchFamily="2" charset="2"/>
              <a:buNone/>
            </a:pPr>
            <a:r>
              <a:rPr lang="zh-CN" altLang="en-US">
                <a:latin typeface="Times New Roman" panose="02020603050405020304" pitchFamily="18" charset="0"/>
              </a:rPr>
              <a:t>在设计</a:t>
            </a:r>
            <a:r>
              <a:rPr lang="en-US" altLang="zh-CN">
                <a:latin typeface="Times New Roman" panose="02020603050405020304" pitchFamily="18" charset="0"/>
              </a:rPr>
              <a:t>Feistel</a:t>
            </a:r>
            <a:r>
              <a:rPr lang="zh-CN" altLang="en-US">
                <a:latin typeface="Times New Roman" panose="02020603050405020304" pitchFamily="18" charset="0"/>
              </a:rPr>
              <a:t>网络时，还有以下两个方面需要考虑：  </a:t>
            </a:r>
          </a:p>
          <a:p>
            <a:pPr algn="just" eaLnBrk="1" hangingPunct="1">
              <a:lnSpc>
                <a:spcPct val="115000"/>
              </a:lnSpc>
              <a:buFont typeface="Wingdings" pitchFamily="2" charset="2"/>
              <a:buNone/>
            </a:pPr>
            <a:r>
              <a:rPr lang="zh-CN" altLang="en-US">
                <a:latin typeface="Times New Roman" panose="02020603050405020304" pitchFamily="18" charset="0"/>
              </a:rPr>
              <a:t>① </a:t>
            </a:r>
            <a:r>
              <a:rPr lang="zh-CN" altLang="en-US">
                <a:solidFill>
                  <a:schemeClr val="hlink"/>
                </a:solidFill>
                <a:latin typeface="Times New Roman" panose="02020603050405020304" pitchFamily="18" charset="0"/>
              </a:rPr>
              <a:t>快速的软件实现</a:t>
            </a:r>
            <a:r>
              <a:rPr lang="zh-CN" altLang="en-US">
                <a:latin typeface="Times New Roman" panose="02020603050405020304" pitchFamily="18" charset="0"/>
              </a:rPr>
              <a:t>：在很多情况中，算法是被镶嵌在应用程序中，因而无法用硬件实现。此时算法的执行速度是考虑的关键。</a:t>
            </a:r>
          </a:p>
          <a:p>
            <a:pPr algn="just" eaLnBrk="1" hangingPunct="1">
              <a:lnSpc>
                <a:spcPct val="115000"/>
              </a:lnSpc>
              <a:buFont typeface="Wingdings" pitchFamily="2" charset="2"/>
              <a:buNone/>
            </a:pPr>
            <a:r>
              <a:rPr lang="zh-CN" altLang="en-US">
                <a:latin typeface="Times New Roman" panose="02020603050405020304" pitchFamily="18" charset="0"/>
              </a:rPr>
              <a:t>② </a:t>
            </a:r>
            <a:r>
              <a:rPr lang="zh-CN" altLang="en-US">
                <a:solidFill>
                  <a:schemeClr val="hlink"/>
                </a:solidFill>
                <a:latin typeface="Times New Roman" panose="02020603050405020304" pitchFamily="18" charset="0"/>
              </a:rPr>
              <a:t>算法容易分析</a:t>
            </a:r>
            <a:r>
              <a:rPr lang="zh-CN" altLang="en-US">
                <a:latin typeface="Times New Roman" panose="02020603050405020304" pitchFamily="18" charset="0"/>
              </a:rPr>
              <a:t>：如果算法能被无疑义地解释清楚，就可容易地分析算法抵抗攻击的能力，有助于设计高强度的算法。</a:t>
            </a:r>
          </a:p>
          <a:p>
            <a:endParaRPr lang="zh-CN" altLang="en-US">
              <a:latin typeface="Times New Roman" panose="02020603050405020304" pitchFamily="18"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5" name="Text Box 2">
            <a:extLst>
              <a:ext uri="{FF2B5EF4-FFF2-40B4-BE49-F238E27FC236}">
                <a16:creationId xmlns:a16="http://schemas.microsoft.com/office/drawing/2014/main" id="{0D103D96-5AB3-514F-A218-D99F431E9DFA}"/>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9026" name="Text Box 3">
            <a:extLst>
              <a:ext uri="{FF2B5EF4-FFF2-40B4-BE49-F238E27FC236}">
                <a16:creationId xmlns:a16="http://schemas.microsoft.com/office/drawing/2014/main" id="{C5C69FD5-0984-B140-96D1-235A88BDFD87}"/>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9027" name="Text Box 4">
            <a:extLst>
              <a:ext uri="{FF2B5EF4-FFF2-40B4-BE49-F238E27FC236}">
                <a16:creationId xmlns:a16="http://schemas.microsoft.com/office/drawing/2014/main" id="{C3F8B3FA-ECBF-2941-AA24-FBA547393179}"/>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29028" name="Text Box 5">
            <a:extLst>
              <a:ext uri="{FF2B5EF4-FFF2-40B4-BE49-F238E27FC236}">
                <a16:creationId xmlns:a16="http://schemas.microsoft.com/office/drawing/2014/main" id="{7E042D93-11C3-8C41-AA83-2E3A9FEDC27C}"/>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217094" name="Rectangle 6">
            <a:extLst>
              <a:ext uri="{FF2B5EF4-FFF2-40B4-BE49-F238E27FC236}">
                <a16:creationId xmlns:a16="http://schemas.microsoft.com/office/drawing/2014/main" id="{6D1B6365-3406-D647-9866-41BD2E3A92C3}"/>
              </a:ext>
            </a:extLst>
          </p:cNvPr>
          <p:cNvSpPr>
            <a:spLocks noChangeArrowheads="1"/>
          </p:cNvSpPr>
          <p:nvPr/>
        </p:nvSpPr>
        <p:spPr bwMode="auto">
          <a:xfrm>
            <a:off x="1219200" y="1347788"/>
            <a:ext cx="9982200" cy="420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7338" indent="-635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0000"/>
              </a:lnSpc>
              <a:spcBef>
                <a:spcPct val="20000"/>
              </a:spcBef>
              <a:buClr>
                <a:schemeClr val="folHlink"/>
              </a:buClr>
              <a:buSzPct val="60000"/>
              <a:buFont typeface="Wingdings" pitchFamily="2" charset="2"/>
              <a:buChar char="Ø"/>
            </a:pPr>
            <a:r>
              <a:rPr lang="zh-CN" altLang="en-US" sz="2800" b="1" dirty="0">
                <a:latin typeface="Times New Roman" panose="02020603050405020304" pitchFamily="18" charset="0"/>
                <a:ea typeface="仿宋" pitchFamily="49" charset="-122"/>
              </a:rPr>
              <a:t>输入是分组长为</a:t>
            </a:r>
            <a:r>
              <a:rPr lang="en-US" altLang="zh-CN" sz="2800" b="1" dirty="0">
                <a:latin typeface="Times New Roman" panose="02020603050405020304" pitchFamily="18" charset="0"/>
                <a:ea typeface="仿宋" pitchFamily="49" charset="-122"/>
              </a:rPr>
              <a:t>2</a:t>
            </a:r>
            <a:r>
              <a:rPr lang="en-US" altLang="zh-CN" sz="2800" b="1" i="1" dirty="0">
                <a:latin typeface="Times New Roman" panose="02020603050405020304" pitchFamily="18" charset="0"/>
                <a:ea typeface="仿宋" pitchFamily="49" charset="-122"/>
              </a:rPr>
              <a:t>w</a:t>
            </a:r>
            <a:r>
              <a:rPr lang="zh-CN" altLang="en-US" sz="2800" b="1" dirty="0">
                <a:latin typeface="Times New Roman" panose="02020603050405020304" pitchFamily="18" charset="0"/>
                <a:ea typeface="仿宋" pitchFamily="49" charset="-122"/>
              </a:rPr>
              <a:t>的明文和一个密钥</a:t>
            </a:r>
            <a:r>
              <a:rPr lang="en-US" altLang="zh-CN" sz="2800" b="1" i="1" dirty="0">
                <a:latin typeface="Times New Roman" panose="02020603050405020304" pitchFamily="18" charset="0"/>
                <a:ea typeface="仿宋" pitchFamily="49" charset="-122"/>
              </a:rPr>
              <a:t>K</a:t>
            </a:r>
            <a:r>
              <a:rPr lang="zh-CN" altLang="en-US" sz="2800" b="1" dirty="0">
                <a:latin typeface="Times New Roman" panose="02020603050405020304" pitchFamily="18" charset="0"/>
                <a:ea typeface="仿宋" pitchFamily="49" charset="-122"/>
              </a:rPr>
              <a:t>。将每组明文分成左右两半</a:t>
            </a:r>
            <a:r>
              <a:rPr lang="en-US" altLang="zh-CN" sz="2800" b="1" i="1" dirty="0">
                <a:latin typeface="Times New Roman" panose="02020603050405020304" pitchFamily="18" charset="0"/>
                <a:ea typeface="仿宋" pitchFamily="49" charset="-122"/>
              </a:rPr>
              <a:t>L</a:t>
            </a:r>
            <a:r>
              <a:rPr lang="en-US" altLang="zh-CN" sz="2800" b="1" i="1" baseline="-25000" dirty="0">
                <a:latin typeface="Times New Roman" panose="02020603050405020304" pitchFamily="18" charset="0"/>
                <a:ea typeface="仿宋" pitchFamily="49" charset="-122"/>
              </a:rPr>
              <a:t>0</a:t>
            </a:r>
            <a:r>
              <a:rPr lang="zh-CN" altLang="en-US" sz="2800" b="1" dirty="0">
                <a:latin typeface="Times New Roman" panose="02020603050405020304" pitchFamily="18" charset="0"/>
                <a:ea typeface="仿宋" pitchFamily="49" charset="-122"/>
              </a:rPr>
              <a:t>和</a:t>
            </a:r>
            <a:r>
              <a:rPr lang="en-US" altLang="zh-CN" sz="2800" b="1" i="1" dirty="0">
                <a:latin typeface="Times New Roman" panose="02020603050405020304" pitchFamily="18" charset="0"/>
                <a:ea typeface="仿宋" pitchFamily="49" charset="-122"/>
              </a:rPr>
              <a:t>R</a:t>
            </a:r>
            <a:r>
              <a:rPr lang="en-US" altLang="zh-CN" sz="2800" b="1" i="1" baseline="-25000" dirty="0">
                <a:latin typeface="Times New Roman" panose="02020603050405020304" pitchFamily="18" charset="0"/>
                <a:ea typeface="仿宋" pitchFamily="49" charset="-122"/>
              </a:rPr>
              <a:t>0</a:t>
            </a:r>
            <a:r>
              <a:rPr lang="zh-CN" altLang="en-US" sz="2800" b="1" dirty="0">
                <a:latin typeface="Times New Roman" panose="02020603050405020304" pitchFamily="18" charset="0"/>
                <a:ea typeface="仿宋" pitchFamily="49" charset="-122"/>
              </a:rPr>
              <a:t>，在进行完</a:t>
            </a:r>
            <a:r>
              <a:rPr lang="en-US" altLang="zh-CN" sz="2800" b="1" i="1" dirty="0">
                <a:latin typeface="Times New Roman" panose="02020603050405020304" pitchFamily="18" charset="0"/>
                <a:ea typeface="仿宋" pitchFamily="49" charset="-122"/>
              </a:rPr>
              <a:t>n</a:t>
            </a:r>
            <a:r>
              <a:rPr lang="zh-CN" altLang="en-US" sz="2800" b="1" dirty="0">
                <a:latin typeface="Times New Roman" panose="02020603050405020304" pitchFamily="18" charset="0"/>
                <a:ea typeface="仿宋" pitchFamily="49" charset="-122"/>
              </a:rPr>
              <a:t>轮迭代后，左右两半再合并到一起以产生密文分组。第</a:t>
            </a:r>
            <a:r>
              <a:rPr lang="en-US" altLang="zh-CN" sz="2800" b="1" i="1" dirty="0" err="1">
                <a:latin typeface="Times New Roman" panose="02020603050405020304" pitchFamily="18" charset="0"/>
                <a:ea typeface="仿宋" pitchFamily="49" charset="-122"/>
              </a:rPr>
              <a:t>i</a:t>
            </a:r>
            <a:r>
              <a:rPr lang="zh-CN" altLang="en-US" sz="2800" b="1" dirty="0">
                <a:latin typeface="Times New Roman" panose="02020603050405020304" pitchFamily="18" charset="0"/>
                <a:ea typeface="仿宋" pitchFamily="49" charset="-122"/>
              </a:rPr>
              <a:t>轮迭代的输入为前一轮输出的函数：</a:t>
            </a:r>
          </a:p>
          <a:p>
            <a:pPr>
              <a:lnSpc>
                <a:spcPct val="110000"/>
              </a:lnSpc>
              <a:spcBef>
                <a:spcPct val="20000"/>
              </a:spcBef>
              <a:buClr>
                <a:schemeClr val="folHlink"/>
              </a:buClr>
              <a:buSzPct val="60000"/>
              <a:buFont typeface="Wingdings" pitchFamily="2" charset="2"/>
              <a:buChar char="Ø"/>
            </a:pPr>
            <a:endParaRPr lang="zh-CN" altLang="en-US" sz="2800" b="1" dirty="0">
              <a:latin typeface="Times New Roman" panose="02020603050405020304" pitchFamily="18" charset="0"/>
              <a:ea typeface="仿宋" pitchFamily="49" charset="-122"/>
            </a:endParaRPr>
          </a:p>
          <a:p>
            <a:pPr>
              <a:lnSpc>
                <a:spcPct val="110000"/>
              </a:lnSpc>
              <a:spcBef>
                <a:spcPct val="20000"/>
              </a:spcBef>
              <a:buClr>
                <a:schemeClr val="folHlink"/>
              </a:buClr>
              <a:buSzPct val="60000"/>
              <a:buFont typeface="Wingdings" pitchFamily="2" charset="2"/>
              <a:buChar char="Ø"/>
            </a:pPr>
            <a:endParaRPr lang="zh-CN" altLang="en-US" sz="2800" b="1" dirty="0">
              <a:latin typeface="Times New Roman" panose="02020603050405020304" pitchFamily="18" charset="0"/>
              <a:ea typeface="仿宋" pitchFamily="49" charset="-122"/>
            </a:endParaRPr>
          </a:p>
          <a:p>
            <a:pPr>
              <a:lnSpc>
                <a:spcPct val="110000"/>
              </a:lnSpc>
              <a:spcBef>
                <a:spcPct val="20000"/>
              </a:spcBef>
              <a:buClr>
                <a:schemeClr val="folHlink"/>
              </a:buClr>
              <a:buSzPct val="60000"/>
              <a:buFont typeface="Wingdings" pitchFamily="2" charset="2"/>
              <a:buChar char="Ø"/>
            </a:pPr>
            <a:endParaRPr lang="zh-CN" altLang="en-US" sz="2800" b="1" dirty="0">
              <a:latin typeface="Times New Roman" panose="02020603050405020304" pitchFamily="18" charset="0"/>
              <a:ea typeface="仿宋" pitchFamily="49" charset="-122"/>
            </a:endParaRPr>
          </a:p>
          <a:p>
            <a:pPr>
              <a:lnSpc>
                <a:spcPct val="110000"/>
              </a:lnSpc>
              <a:spcBef>
                <a:spcPct val="20000"/>
              </a:spcBef>
              <a:buClr>
                <a:schemeClr val="folHlink"/>
              </a:buClr>
              <a:buSzPct val="60000"/>
              <a:buFont typeface="Wingdings" pitchFamily="2" charset="2"/>
              <a:buChar char="Ø"/>
            </a:pPr>
            <a:r>
              <a:rPr lang="zh-CN" altLang="en-US" sz="2800" b="1" dirty="0">
                <a:latin typeface="Times New Roman" panose="02020603050405020304" pitchFamily="18" charset="0"/>
                <a:ea typeface="仿宋" pitchFamily="49" charset="-122"/>
              </a:rPr>
              <a:t>其中</a:t>
            </a:r>
            <a:r>
              <a:rPr lang="en-US" altLang="zh-CN" sz="2800" b="1" i="1" dirty="0">
                <a:latin typeface="Times New Roman" panose="02020603050405020304" pitchFamily="18" charset="0"/>
                <a:ea typeface="仿宋" pitchFamily="49" charset="-122"/>
              </a:rPr>
              <a:t>K</a:t>
            </a:r>
            <a:r>
              <a:rPr lang="en-US" altLang="zh-CN" sz="2800" b="1" i="1" baseline="-25000" dirty="0">
                <a:latin typeface="Times New Roman" panose="02020603050405020304" pitchFamily="18" charset="0"/>
                <a:ea typeface="仿宋" pitchFamily="49" charset="-122"/>
              </a:rPr>
              <a:t>i</a:t>
            </a:r>
            <a:r>
              <a:rPr lang="zh-CN" altLang="en-US" sz="2800" b="1" dirty="0">
                <a:latin typeface="Times New Roman" panose="02020603050405020304" pitchFamily="18" charset="0"/>
                <a:ea typeface="仿宋" pitchFamily="49" charset="-122"/>
              </a:rPr>
              <a:t>是第</a:t>
            </a:r>
            <a:r>
              <a:rPr lang="en-US" altLang="zh-CN" sz="2800" b="1" i="1" dirty="0" err="1">
                <a:latin typeface="Times New Roman" panose="02020603050405020304" pitchFamily="18" charset="0"/>
                <a:ea typeface="仿宋" pitchFamily="49" charset="-122"/>
              </a:rPr>
              <a:t>i</a:t>
            </a:r>
            <a:r>
              <a:rPr lang="zh-CN" altLang="en-US" sz="2800" b="1" dirty="0">
                <a:latin typeface="Times New Roman" panose="02020603050405020304" pitchFamily="18" charset="0"/>
                <a:ea typeface="仿宋" pitchFamily="49" charset="-122"/>
              </a:rPr>
              <a:t>轮用的子密钥，由加密密钥</a:t>
            </a:r>
            <a:r>
              <a:rPr lang="en-US" altLang="zh-CN" sz="2800" b="1" i="1" dirty="0">
                <a:latin typeface="Times New Roman" panose="02020603050405020304" pitchFamily="18" charset="0"/>
                <a:ea typeface="仿宋" pitchFamily="49" charset="-122"/>
              </a:rPr>
              <a:t>K</a:t>
            </a:r>
            <a:r>
              <a:rPr lang="zh-CN" altLang="en-US" sz="2800" b="1" dirty="0">
                <a:latin typeface="Times New Roman" panose="02020603050405020304" pitchFamily="18" charset="0"/>
                <a:ea typeface="仿宋" pitchFamily="49" charset="-122"/>
              </a:rPr>
              <a:t>得到。一般地，各轮子密钥彼此不同而且与</a:t>
            </a:r>
            <a:r>
              <a:rPr lang="en-US" altLang="zh-CN" sz="2800" b="1" i="1" dirty="0">
                <a:latin typeface="Times New Roman" panose="02020603050405020304" pitchFamily="18" charset="0"/>
                <a:ea typeface="仿宋" pitchFamily="49" charset="-122"/>
              </a:rPr>
              <a:t>K</a:t>
            </a:r>
            <a:r>
              <a:rPr lang="zh-CN" altLang="en-US" sz="2800" b="1" dirty="0">
                <a:latin typeface="Times New Roman" panose="02020603050405020304" pitchFamily="18" charset="0"/>
                <a:ea typeface="仿宋" pitchFamily="49" charset="-122"/>
              </a:rPr>
              <a:t>也不同。</a:t>
            </a:r>
          </a:p>
        </p:txBody>
      </p:sp>
      <p:sp>
        <p:nvSpPr>
          <p:cNvPr id="129030" name="标题 3">
            <a:extLst>
              <a:ext uri="{FF2B5EF4-FFF2-40B4-BE49-F238E27FC236}">
                <a16:creationId xmlns:a16="http://schemas.microsoft.com/office/drawing/2014/main" id="{E64FA4BD-1158-2C4E-B405-99D782C067A9}"/>
              </a:ext>
            </a:extLst>
          </p:cNvPr>
          <p:cNvSpPr>
            <a:spLocks noGrp="1" noChangeArrowheads="1"/>
          </p:cNvSpPr>
          <p:nvPr>
            <p:ph type="title"/>
          </p:nvPr>
        </p:nvSpPr>
        <p:spPr>
          <a:xfrm>
            <a:off x="1465263" y="365125"/>
            <a:ext cx="9037637" cy="668338"/>
          </a:xfrm>
        </p:spPr>
        <p:txBody>
          <a:bodyPr/>
          <a:lstStyle/>
          <a:p>
            <a:r>
              <a:rPr lang="en-US" altLang="zh-CN">
                <a:solidFill>
                  <a:schemeClr val="hlink"/>
                </a:solidFill>
                <a:latin typeface="Times New Roman" panose="02020603050405020304" pitchFamily="18" charset="0"/>
              </a:rPr>
              <a:t>Feistel</a:t>
            </a:r>
            <a:r>
              <a:rPr lang="zh-CN" altLang="en-US">
                <a:solidFill>
                  <a:schemeClr val="hlink"/>
                </a:solidFill>
                <a:latin typeface="Times New Roman" panose="02020603050405020304" pitchFamily="18" charset="0"/>
              </a:rPr>
              <a:t>加密结构</a:t>
            </a:r>
            <a:endParaRPr lang="zh-CN" altLang="en-US">
              <a:solidFill>
                <a:srgbClr val="1F4E79"/>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17095" name="Object 7">
                <a:extLst>
                  <a:ext uri="{FF2B5EF4-FFF2-40B4-BE49-F238E27FC236}">
                    <a16:creationId xmlns:a16="http://schemas.microsoft.com/office/drawing/2014/main" id="{EC4CBC6B-C03E-E749-8946-04E2EC899503}"/>
                  </a:ext>
                </a:extLst>
              </p:cNvPr>
              <p:cNvSpPr txBox="1">
                <a:spLocks noGrp="1"/>
              </p:cNvSpPr>
              <p:nvPr>
                <p:ph idx="1"/>
              </p:nvPr>
            </p:nvSpPr>
            <p:spPr bwMode="auto">
              <a:xfrm>
                <a:off x="3963988" y="2940050"/>
                <a:ext cx="3933825" cy="1323975"/>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𝑳</m:t>
                          </m:r>
                        </m:e>
                        <m:sub>
                          <m:r>
                            <a:rPr lang="zh-CN" altLang="en-US" b="1" i="1">
                              <a:solidFill>
                                <a:srgbClr val="FF0000"/>
                              </a:solidFill>
                              <a:latin typeface="Cambria Math" panose="02040503050406030204" pitchFamily="18" charset="0"/>
                            </a:rPr>
                            <m:t>𝒊</m:t>
                          </m:r>
                        </m:sub>
                      </m:sSub>
                      <m:r>
                        <a:rPr lang="zh-CN" altLang="en-US" b="1"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𝑹</m:t>
                          </m:r>
                        </m:e>
                        <m:sub>
                          <m:r>
                            <a:rPr lang="zh-CN" altLang="en-US" b="1" i="1">
                              <a:solidFill>
                                <a:srgbClr val="FF0000"/>
                              </a:solidFill>
                              <a:latin typeface="Cambria Math" panose="02040503050406030204" pitchFamily="18" charset="0"/>
                            </a:rPr>
                            <m:t>𝒊</m:t>
                          </m:r>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𝟏</m:t>
                          </m:r>
                        </m:sub>
                      </m:sSub>
                    </m:oMath>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𝑹</m:t>
                          </m:r>
                        </m:e>
                        <m:sub>
                          <m:r>
                            <a:rPr lang="zh-CN" altLang="en-US" b="1" i="1">
                              <a:solidFill>
                                <a:srgbClr val="FF0000"/>
                              </a:solidFill>
                              <a:latin typeface="Cambria Math" panose="02040503050406030204" pitchFamily="18" charset="0"/>
                            </a:rPr>
                            <m:t>𝒊</m:t>
                          </m:r>
                        </m:sub>
                      </m:sSub>
                      <m:r>
                        <a:rPr lang="zh-CN" altLang="en-US" b="1"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𝑳</m:t>
                          </m:r>
                        </m:e>
                        <m:sub>
                          <m:r>
                            <a:rPr lang="zh-CN" altLang="en-US" b="1" i="1">
                              <a:solidFill>
                                <a:srgbClr val="FF0000"/>
                              </a:solidFill>
                              <a:latin typeface="Cambria Math" panose="02040503050406030204" pitchFamily="18" charset="0"/>
                            </a:rPr>
                            <m:t>𝒊</m:t>
                          </m:r>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𝟏</m:t>
                          </m:r>
                        </m:sub>
                      </m:sSub>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𝑭</m:t>
                      </m:r>
                      <m:d>
                        <m:dPr>
                          <m:ctrlPr>
                            <a:rPr lang="zh-CN" altLang="en-US" i="1">
                              <a:solidFill>
                                <a:srgbClr val="FF0000"/>
                              </a:solidFill>
                              <a:latin typeface="Cambria Math" panose="02040503050406030204" pitchFamily="18" charset="0"/>
                            </a:rPr>
                          </m:ctrlPr>
                        </m:dPr>
                        <m:e>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𝑹</m:t>
                              </m:r>
                            </m:e>
                            <m:sub>
                              <m:r>
                                <a:rPr lang="zh-CN" altLang="en-US" b="1" i="1">
                                  <a:solidFill>
                                    <a:srgbClr val="FF0000"/>
                                  </a:solidFill>
                                  <a:latin typeface="Cambria Math" panose="02040503050406030204" pitchFamily="18" charset="0"/>
                                </a:rPr>
                                <m:t>𝒊</m:t>
                              </m:r>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𝟏</m:t>
                              </m:r>
                            </m:sub>
                          </m:sSub>
                          <m:r>
                            <a:rPr lang="zh-CN" altLang="en-US" b="1"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𝑲</m:t>
                              </m:r>
                            </m:e>
                            <m:sub>
                              <m:r>
                                <a:rPr lang="zh-CN" altLang="en-US"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217095" name="Object 7">
                <a:extLst>
                  <a:ext uri="{FF2B5EF4-FFF2-40B4-BE49-F238E27FC236}">
                    <a16:creationId xmlns:a16="http://schemas.microsoft.com/office/drawing/2014/main" id="{EC4CBC6B-C03E-E749-8946-04E2EC899503}"/>
                  </a:ext>
                </a:extLst>
              </p:cNvPr>
              <p:cNvSpPr txBox="1">
                <a:spLocks noGrp="1" noRot="1" noChangeAspect="1" noMove="1" noResize="1" noEditPoints="1" noAdjustHandles="1" noChangeArrowheads="1" noChangeShapeType="1" noTextEdit="1"/>
              </p:cNvSpPr>
              <p:nvPr>
                <p:ph idx="1"/>
              </p:nvPr>
            </p:nvSpPr>
            <p:spPr bwMode="auto">
              <a:xfrm>
                <a:off x="3963988" y="2940050"/>
                <a:ext cx="3933825" cy="1323975"/>
              </a:xfrm>
              <a:prstGeom prst="rect">
                <a:avLst/>
              </a:prstGeom>
              <a:blipFill>
                <a:blip r:embed="rId2"/>
                <a:stretch>
                  <a:fillRect/>
                </a:stretch>
              </a:blipFill>
              <a:ln>
                <a:noFill/>
              </a:ln>
            </p:spPr>
            <p:txBody>
              <a:bodyPr/>
              <a:lstStyle/>
              <a:p>
                <a:r>
                  <a:rPr lang="en-CN">
                    <a:noFill/>
                  </a:rPr>
                  <a:t> </a:t>
                </a:r>
              </a:p>
            </p:txBody>
          </p:sp>
        </mc:Fallback>
      </mc:AlternateContent>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7094">
                                            <p:txEl>
                                              <p:pRg st="0" end="0"/>
                                            </p:txEl>
                                          </p:spTgt>
                                        </p:tgtEl>
                                        <p:attrNameLst>
                                          <p:attrName>style.visibility</p:attrName>
                                        </p:attrNameLst>
                                      </p:cBhvr>
                                      <p:to>
                                        <p:strVal val="visible"/>
                                      </p:to>
                                    </p:set>
                                    <p:anim calcmode="lin" valueType="num">
                                      <p:cBhvr additive="base">
                                        <p:cTn id="7" dur="500" fill="hold"/>
                                        <p:tgtEl>
                                          <p:spTgt spid="2170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70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7094">
                                            <p:txEl>
                                              <p:pRg st="4" end="4"/>
                                            </p:txEl>
                                          </p:spTgt>
                                        </p:tgtEl>
                                        <p:attrNameLst>
                                          <p:attrName>style.visibility</p:attrName>
                                        </p:attrNameLst>
                                      </p:cBhvr>
                                      <p:to>
                                        <p:strVal val="visible"/>
                                      </p:to>
                                    </p:set>
                                    <p:anim calcmode="lin" valueType="num">
                                      <p:cBhvr additive="base">
                                        <p:cTn id="13" dur="500" fill="hold"/>
                                        <p:tgtEl>
                                          <p:spTgt spid="21709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709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49" name="Text Box 2">
            <a:extLst>
              <a:ext uri="{FF2B5EF4-FFF2-40B4-BE49-F238E27FC236}">
                <a16:creationId xmlns:a16="http://schemas.microsoft.com/office/drawing/2014/main" id="{EAFDD8D2-62A6-DB46-BEEE-16C45CDB8336}"/>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0050" name="Text Box 3">
            <a:extLst>
              <a:ext uri="{FF2B5EF4-FFF2-40B4-BE49-F238E27FC236}">
                <a16:creationId xmlns:a16="http://schemas.microsoft.com/office/drawing/2014/main" id="{7319331D-7B6E-504A-95AD-5D7C9C5D2B83}"/>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0051" name="Text Box 4">
            <a:extLst>
              <a:ext uri="{FF2B5EF4-FFF2-40B4-BE49-F238E27FC236}">
                <a16:creationId xmlns:a16="http://schemas.microsoft.com/office/drawing/2014/main" id="{54090BE6-8F2C-374D-B0A0-5BD6F99C41B7}"/>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0052" name="Text Box 5">
            <a:extLst>
              <a:ext uri="{FF2B5EF4-FFF2-40B4-BE49-F238E27FC236}">
                <a16:creationId xmlns:a16="http://schemas.microsoft.com/office/drawing/2014/main" id="{747676A2-F175-624A-9652-396B0700F70D}"/>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0053" name="Text Box 6">
            <a:extLst>
              <a:ext uri="{FF2B5EF4-FFF2-40B4-BE49-F238E27FC236}">
                <a16:creationId xmlns:a16="http://schemas.microsoft.com/office/drawing/2014/main" id="{5D7E3204-8DA7-024C-A29F-A00C08E3F026}"/>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0054" name="Text Box 7">
            <a:extLst>
              <a:ext uri="{FF2B5EF4-FFF2-40B4-BE49-F238E27FC236}">
                <a16:creationId xmlns:a16="http://schemas.microsoft.com/office/drawing/2014/main" id="{DB100597-AA42-3049-B6D6-D753D17EDFB4}"/>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0055" name="标题 5">
            <a:extLst>
              <a:ext uri="{FF2B5EF4-FFF2-40B4-BE49-F238E27FC236}">
                <a16:creationId xmlns:a16="http://schemas.microsoft.com/office/drawing/2014/main" id="{05882F6D-E597-F243-9541-9F153366C028}"/>
              </a:ext>
            </a:extLst>
          </p:cNvPr>
          <p:cNvSpPr>
            <a:spLocks noGrp="1" noChangeArrowheads="1"/>
          </p:cNvSpPr>
          <p:nvPr>
            <p:ph type="title"/>
          </p:nvPr>
        </p:nvSpPr>
        <p:spPr>
          <a:xfrm>
            <a:off x="1465263" y="365125"/>
            <a:ext cx="9037637" cy="668338"/>
          </a:xfrm>
        </p:spPr>
        <p:txBody>
          <a:bodyPr/>
          <a:lstStyle/>
          <a:p>
            <a:r>
              <a:rPr lang="en-US" altLang="zh-CN">
                <a:solidFill>
                  <a:schemeClr val="hlink"/>
                </a:solidFill>
                <a:latin typeface="Times New Roman" panose="02020603050405020304" pitchFamily="18" charset="0"/>
              </a:rPr>
              <a:t>Feistel</a:t>
            </a:r>
            <a:r>
              <a:rPr lang="zh-CN" altLang="en-US">
                <a:solidFill>
                  <a:schemeClr val="hlink"/>
                </a:solidFill>
              </a:rPr>
              <a:t>解密结构</a:t>
            </a:r>
            <a:endParaRPr lang="zh-CN" altLang="en-US">
              <a:solidFill>
                <a:srgbClr val="1F4E79"/>
              </a:solidFill>
            </a:endParaRPr>
          </a:p>
        </p:txBody>
      </p:sp>
      <p:sp>
        <p:nvSpPr>
          <p:cNvPr id="130056" name="内容占位符 6">
            <a:extLst>
              <a:ext uri="{FF2B5EF4-FFF2-40B4-BE49-F238E27FC236}">
                <a16:creationId xmlns:a16="http://schemas.microsoft.com/office/drawing/2014/main" id="{3F1D2AB7-E4B2-F945-8594-F09C932E5F93}"/>
              </a:ext>
            </a:extLst>
          </p:cNvPr>
          <p:cNvSpPr>
            <a:spLocks noGrp="1" noChangeArrowheads="1"/>
          </p:cNvSpPr>
          <p:nvPr>
            <p:ph idx="1"/>
          </p:nvPr>
        </p:nvSpPr>
        <p:spPr>
          <a:xfrm>
            <a:off x="727075" y="1541463"/>
            <a:ext cx="10515600" cy="4578350"/>
          </a:xfrm>
        </p:spPr>
        <p:txBody>
          <a:bodyPr/>
          <a:lstStyle/>
          <a:p>
            <a:pPr eaLnBrk="1" hangingPunct="1">
              <a:lnSpc>
                <a:spcPct val="120000"/>
              </a:lnSpc>
              <a:buFont typeface="Wingdings" pitchFamily="2" charset="2"/>
              <a:buChar char="Ø"/>
            </a:pPr>
            <a:r>
              <a:rPr lang="en-US" altLang="zh-CN" sz="2800">
                <a:latin typeface="Times New Roman" panose="02020603050405020304" pitchFamily="18" charset="0"/>
              </a:rPr>
              <a:t>  Feistel</a:t>
            </a:r>
            <a:r>
              <a:rPr lang="zh-CN" altLang="en-US" sz="2800">
                <a:latin typeface="Times New Roman" panose="02020603050405020304" pitchFamily="18" charset="0"/>
              </a:rPr>
              <a:t>解密过程本质上和加密过程是一样的，算法使用密文作为输入</a:t>
            </a:r>
            <a:endParaRPr lang="en-US" altLang="zh-CN" sz="2800">
              <a:latin typeface="Times New Roman" panose="02020603050405020304" pitchFamily="18" charset="0"/>
            </a:endParaRPr>
          </a:p>
          <a:p>
            <a:pPr eaLnBrk="1" hangingPunct="1">
              <a:lnSpc>
                <a:spcPct val="120000"/>
              </a:lnSpc>
              <a:buFont typeface="Wingdings" pitchFamily="2" charset="2"/>
              <a:buChar char="Ø"/>
            </a:pPr>
            <a:r>
              <a:rPr lang="zh-CN" altLang="en-US" sz="2800">
                <a:latin typeface="Times New Roman" panose="02020603050405020304" pitchFamily="18" charset="0"/>
              </a:rPr>
              <a:t>但使用子密钥</a:t>
            </a:r>
            <a:r>
              <a:rPr lang="en-US" altLang="zh-CN" sz="2800" i="1">
                <a:latin typeface="Times New Roman" panose="02020603050405020304" pitchFamily="18" charset="0"/>
              </a:rPr>
              <a:t>K</a:t>
            </a:r>
            <a:r>
              <a:rPr lang="en-US" altLang="zh-CN" sz="2800" i="1" baseline="-25000">
                <a:latin typeface="Times New Roman" panose="02020603050405020304" pitchFamily="18" charset="0"/>
              </a:rPr>
              <a:t>i</a:t>
            </a:r>
            <a:r>
              <a:rPr lang="zh-CN" altLang="en-US" sz="2800">
                <a:latin typeface="Times New Roman" panose="02020603050405020304" pitchFamily="18" charset="0"/>
              </a:rPr>
              <a:t>的次序与加密过程相反，即第</a:t>
            </a:r>
            <a:r>
              <a:rPr lang="en-US" altLang="zh-CN" sz="2800">
                <a:latin typeface="Times New Roman" panose="02020603050405020304" pitchFamily="18" charset="0"/>
              </a:rPr>
              <a:t>1</a:t>
            </a:r>
            <a:r>
              <a:rPr lang="zh-CN" altLang="en-US" sz="2800">
                <a:latin typeface="Times New Roman" panose="02020603050405020304" pitchFamily="18" charset="0"/>
              </a:rPr>
              <a:t>轮使用</a:t>
            </a:r>
            <a:r>
              <a:rPr lang="en-US" altLang="zh-CN" sz="2800" i="1">
                <a:latin typeface="Times New Roman" panose="02020603050405020304" pitchFamily="18" charset="0"/>
              </a:rPr>
              <a:t>K</a:t>
            </a:r>
            <a:r>
              <a:rPr lang="en-US" altLang="zh-CN" sz="2800" i="1" baseline="-25000">
                <a:latin typeface="Times New Roman" panose="02020603050405020304" pitchFamily="18" charset="0"/>
              </a:rPr>
              <a:t>n</a:t>
            </a:r>
            <a:r>
              <a:rPr lang="zh-CN" altLang="en-US" sz="2800">
                <a:latin typeface="Times New Roman" panose="02020603050405020304" pitchFamily="18" charset="0"/>
              </a:rPr>
              <a:t>，第</a:t>
            </a:r>
            <a:r>
              <a:rPr lang="en-US" altLang="zh-CN" sz="2800">
                <a:latin typeface="Times New Roman" panose="02020603050405020304" pitchFamily="18" charset="0"/>
              </a:rPr>
              <a:t>2</a:t>
            </a:r>
            <a:r>
              <a:rPr lang="zh-CN" altLang="en-US" sz="2800">
                <a:latin typeface="Times New Roman" panose="02020603050405020304" pitchFamily="18" charset="0"/>
              </a:rPr>
              <a:t>轮使用</a:t>
            </a:r>
            <a:r>
              <a:rPr lang="en-US" altLang="zh-CN" sz="2800" i="1">
                <a:latin typeface="Times New Roman" panose="02020603050405020304" pitchFamily="18" charset="0"/>
              </a:rPr>
              <a:t>K</a:t>
            </a:r>
            <a:r>
              <a:rPr lang="en-US" altLang="zh-CN" sz="2800" i="1" baseline="-25000">
                <a:latin typeface="Times New Roman" panose="02020603050405020304" pitchFamily="18" charset="0"/>
              </a:rPr>
              <a:t>n</a:t>
            </a:r>
            <a:r>
              <a:rPr lang="en-US" altLang="zh-CN" sz="2800" baseline="-250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a:t>
            </a:r>
            <a:r>
              <a:rPr lang="zh-CN" altLang="en-US" sz="2800">
                <a:latin typeface="Times New Roman" panose="02020603050405020304" pitchFamily="18" charset="0"/>
              </a:rPr>
              <a:t>，最后一轮使用</a:t>
            </a:r>
            <a:r>
              <a:rPr lang="en-US" altLang="zh-CN" sz="2800" i="1">
                <a:latin typeface="Times New Roman" panose="02020603050405020304" pitchFamily="18" charset="0"/>
              </a:rPr>
              <a:t>K</a:t>
            </a:r>
            <a:r>
              <a:rPr lang="en-US" altLang="zh-CN" sz="2800" i="1" baseline="-25000">
                <a:latin typeface="Times New Roman" panose="02020603050405020304" pitchFamily="18" charset="0"/>
              </a:rPr>
              <a:t>1</a:t>
            </a:r>
            <a:r>
              <a:rPr lang="zh-CN" altLang="en-US" sz="2800">
                <a:latin typeface="Times New Roman" panose="02020603050405020304" pitchFamily="18" charset="0"/>
              </a:rPr>
              <a:t>。这一特性保证了解密和加密可采用同一算法。</a:t>
            </a:r>
          </a:p>
          <a:p>
            <a:endParaRPr lang="zh-CN" altLang="en-US" sz="2800">
              <a:latin typeface="Times New Roman" panose="02020603050405020304" pitchFamily="18"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3" name="Text Box 2">
            <a:extLst>
              <a:ext uri="{FF2B5EF4-FFF2-40B4-BE49-F238E27FC236}">
                <a16:creationId xmlns:a16="http://schemas.microsoft.com/office/drawing/2014/main" id="{E8988B56-9E3F-334D-A129-DC572EDFF905}"/>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1074" name="Text Box 3">
            <a:extLst>
              <a:ext uri="{FF2B5EF4-FFF2-40B4-BE49-F238E27FC236}">
                <a16:creationId xmlns:a16="http://schemas.microsoft.com/office/drawing/2014/main" id="{5C0E88A2-3E30-4645-B9FE-5858B10B797F}"/>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1075" name="Text Box 4">
            <a:extLst>
              <a:ext uri="{FF2B5EF4-FFF2-40B4-BE49-F238E27FC236}">
                <a16:creationId xmlns:a16="http://schemas.microsoft.com/office/drawing/2014/main" id="{4ACC363F-FC6C-C14C-B2FA-B64769C90824}"/>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1076" name="Text Box 5">
            <a:extLst>
              <a:ext uri="{FF2B5EF4-FFF2-40B4-BE49-F238E27FC236}">
                <a16:creationId xmlns:a16="http://schemas.microsoft.com/office/drawing/2014/main" id="{810A4385-7E60-DD45-A8A1-7F0B53FA0FB3}"/>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1077" name="Text Box 6">
            <a:extLst>
              <a:ext uri="{FF2B5EF4-FFF2-40B4-BE49-F238E27FC236}">
                <a16:creationId xmlns:a16="http://schemas.microsoft.com/office/drawing/2014/main" id="{A714060E-33BC-4148-BA16-980B952BC090}"/>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1078" name="Text Box 7">
            <a:extLst>
              <a:ext uri="{FF2B5EF4-FFF2-40B4-BE49-F238E27FC236}">
                <a16:creationId xmlns:a16="http://schemas.microsoft.com/office/drawing/2014/main" id="{EDDF87E6-9750-2448-83FF-6EF6F03F1028}"/>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pic>
        <p:nvPicPr>
          <p:cNvPr id="131079" name="Picture 8" descr="xd26">
            <a:extLst>
              <a:ext uri="{FF2B5EF4-FFF2-40B4-BE49-F238E27FC236}">
                <a16:creationId xmlns:a16="http://schemas.microsoft.com/office/drawing/2014/main" id="{21453ED4-B838-C24B-9EA0-DC96661EB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65088"/>
            <a:ext cx="8305800" cy="589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80" name="Rectangle 9">
            <a:extLst>
              <a:ext uri="{FF2B5EF4-FFF2-40B4-BE49-F238E27FC236}">
                <a16:creationId xmlns:a16="http://schemas.microsoft.com/office/drawing/2014/main" id="{4FAFD921-D9E7-A04A-AA5B-75E519AE9372}"/>
              </a:ext>
            </a:extLst>
          </p:cNvPr>
          <p:cNvSpPr>
            <a:spLocks noChangeArrowheads="1"/>
          </p:cNvSpPr>
          <p:nvPr/>
        </p:nvSpPr>
        <p:spPr bwMode="auto">
          <a:xfrm>
            <a:off x="5105400" y="6248400"/>
            <a:ext cx="2289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a:latin typeface="Tahoma" panose="020B0604030504040204" pitchFamily="34" charset="0"/>
              </a:rPr>
              <a:t> </a:t>
            </a:r>
            <a:r>
              <a:rPr lang="en-US" altLang="zh-CN" b="1">
                <a:latin typeface="楷体_GB2312" pitchFamily="49" charset="-122"/>
                <a:ea typeface="楷体_GB2312" pitchFamily="49" charset="-122"/>
              </a:rPr>
              <a:t>Feistel</a:t>
            </a:r>
            <a:r>
              <a:rPr lang="zh-CN" altLang="en-US" b="1">
                <a:latin typeface="楷体_GB2312" pitchFamily="49" charset="-122"/>
                <a:ea typeface="楷体_GB2312" pitchFamily="49" charset="-122"/>
              </a:rPr>
              <a:t>加解密过程</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A5E048C3-84D7-1E4C-85F3-A8811F4D9145}"/>
              </a:ext>
            </a:extLst>
          </p:cNvPr>
          <p:cNvSpPr>
            <a:spLocks noChangeArrowheads="1"/>
          </p:cNvSpPr>
          <p:nvPr/>
        </p:nvSpPr>
        <p:spPr bwMode="auto">
          <a:xfrm>
            <a:off x="1143000" y="1033463"/>
            <a:ext cx="10134600" cy="404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7338" indent="-635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20000"/>
              </a:lnSpc>
              <a:spcBef>
                <a:spcPct val="20000"/>
              </a:spcBef>
              <a:buClr>
                <a:schemeClr val="folHlink"/>
              </a:buClr>
              <a:buSzPct val="60000"/>
            </a:pPr>
            <a:r>
              <a:rPr lang="zh-CN" altLang="en-US" sz="2800" b="1" dirty="0">
                <a:latin typeface="Times New Roman" panose="02020603050405020304" pitchFamily="18" charset="0"/>
                <a:ea typeface="仿宋" pitchFamily="49" charset="-122"/>
              </a:rPr>
              <a:t>在加密过程中：</a:t>
            </a:r>
          </a:p>
          <a:p>
            <a:pPr>
              <a:lnSpc>
                <a:spcPct val="120000"/>
              </a:lnSpc>
              <a:spcBef>
                <a:spcPct val="20000"/>
              </a:spcBef>
              <a:buClr>
                <a:schemeClr val="folHlink"/>
              </a:buClr>
              <a:buSzPct val="60000"/>
            </a:pPr>
            <a:endParaRPr lang="zh-CN" altLang="en-US" sz="2800" b="1" dirty="0">
              <a:latin typeface="Times New Roman" panose="02020603050405020304" pitchFamily="18" charset="0"/>
              <a:ea typeface="仿宋" pitchFamily="49" charset="-122"/>
            </a:endParaRPr>
          </a:p>
          <a:p>
            <a:pPr>
              <a:lnSpc>
                <a:spcPct val="120000"/>
              </a:lnSpc>
              <a:spcBef>
                <a:spcPct val="20000"/>
              </a:spcBef>
              <a:buClr>
                <a:schemeClr val="folHlink"/>
              </a:buClr>
              <a:buSzPct val="60000"/>
            </a:pPr>
            <a:r>
              <a:rPr lang="zh-CN" altLang="en-US" sz="2800" b="1" dirty="0">
                <a:latin typeface="Times New Roman" panose="02020603050405020304" pitchFamily="18" charset="0"/>
                <a:ea typeface="仿宋" pitchFamily="49" charset="-122"/>
              </a:rPr>
              <a:t>在解密过程中</a:t>
            </a:r>
            <a:endParaRPr lang="en-US" altLang="zh-CN" sz="2800" b="1" dirty="0">
              <a:latin typeface="Times New Roman" panose="02020603050405020304" pitchFamily="18" charset="0"/>
              <a:ea typeface="仿宋" pitchFamily="49" charset="-122"/>
            </a:endParaRPr>
          </a:p>
          <a:p>
            <a:pPr>
              <a:lnSpc>
                <a:spcPct val="120000"/>
              </a:lnSpc>
              <a:spcBef>
                <a:spcPct val="20000"/>
              </a:spcBef>
              <a:buClr>
                <a:schemeClr val="folHlink"/>
              </a:buClr>
              <a:buSzPct val="60000"/>
            </a:pPr>
            <a:endParaRPr lang="en-US" altLang="zh-CN" sz="2800" b="1" dirty="0">
              <a:latin typeface="Times New Roman" panose="02020603050405020304" pitchFamily="18" charset="0"/>
              <a:ea typeface="仿宋" pitchFamily="49" charset="-122"/>
            </a:endParaRPr>
          </a:p>
          <a:p>
            <a:pPr>
              <a:lnSpc>
                <a:spcPct val="120000"/>
              </a:lnSpc>
              <a:spcBef>
                <a:spcPct val="20000"/>
              </a:spcBef>
              <a:buClr>
                <a:schemeClr val="folHlink"/>
              </a:buClr>
              <a:buSzPct val="60000"/>
            </a:pPr>
            <a:endParaRPr lang="en-US" altLang="zh-CN" sz="2800" b="1" dirty="0">
              <a:latin typeface="Times New Roman" panose="02020603050405020304" pitchFamily="18" charset="0"/>
              <a:ea typeface="仿宋" pitchFamily="49" charset="-122"/>
            </a:endParaRPr>
          </a:p>
          <a:p>
            <a:pPr>
              <a:lnSpc>
                <a:spcPct val="120000"/>
              </a:lnSpc>
              <a:spcBef>
                <a:spcPct val="20000"/>
              </a:spcBef>
              <a:buClr>
                <a:schemeClr val="folHlink"/>
              </a:buClr>
              <a:buSzPct val="60000"/>
            </a:pPr>
            <a:endParaRPr lang="en-US" altLang="zh-CN" sz="2800" b="1" dirty="0">
              <a:latin typeface="Times New Roman" panose="02020603050405020304" pitchFamily="18" charset="0"/>
              <a:ea typeface="仿宋" pitchFamily="49" charset="-122"/>
            </a:endParaRPr>
          </a:p>
          <a:p>
            <a:pPr>
              <a:lnSpc>
                <a:spcPct val="120000"/>
              </a:lnSpc>
              <a:spcBef>
                <a:spcPct val="20000"/>
              </a:spcBef>
              <a:buClr>
                <a:schemeClr val="folHlink"/>
              </a:buClr>
              <a:buSzPct val="60000"/>
            </a:pPr>
            <a:endParaRPr lang="en-US" altLang="zh-CN" sz="2800" b="1" dirty="0">
              <a:latin typeface="Times New Roman" panose="02020603050405020304" pitchFamily="18" charset="0"/>
              <a:ea typeface="仿宋" pitchFamily="49" charset="-122"/>
            </a:endParaRPr>
          </a:p>
          <a:p>
            <a:pPr>
              <a:lnSpc>
                <a:spcPct val="120000"/>
              </a:lnSpc>
              <a:spcBef>
                <a:spcPct val="20000"/>
              </a:spcBef>
              <a:buClr>
                <a:schemeClr val="folHlink"/>
              </a:buClr>
              <a:buSzPct val="60000"/>
            </a:pPr>
            <a:r>
              <a:rPr lang="zh-CN" altLang="en-US" sz="2800" b="1" dirty="0">
                <a:latin typeface="Times New Roman" panose="02020603050405020304" pitchFamily="18" charset="0"/>
                <a:ea typeface="仿宋" pitchFamily="49" charset="-122"/>
              </a:rPr>
              <a:t>所以解密过程第</a:t>
            </a:r>
            <a:r>
              <a:rPr lang="en-US" altLang="zh-CN" sz="2800" b="1" dirty="0">
                <a:latin typeface="Times New Roman" panose="02020603050405020304" pitchFamily="18" charset="0"/>
                <a:ea typeface="仿宋" pitchFamily="49" charset="-122"/>
              </a:rPr>
              <a:t>1</a:t>
            </a:r>
            <a:r>
              <a:rPr lang="zh-CN" altLang="en-US" sz="2800" b="1" dirty="0">
                <a:latin typeface="Times New Roman" panose="02020603050405020304" pitchFamily="18" charset="0"/>
                <a:ea typeface="仿宋" pitchFamily="49" charset="-122"/>
              </a:rPr>
              <a:t>轮的输出为</a:t>
            </a:r>
            <a:r>
              <a:rPr lang="en-US" altLang="zh-CN" sz="2800" b="1" dirty="0">
                <a:latin typeface="Times New Roman" panose="02020603050405020304" pitchFamily="18" charset="0"/>
                <a:ea typeface="仿宋" pitchFamily="49" charset="-122"/>
              </a:rPr>
              <a:t>LE</a:t>
            </a:r>
            <a:r>
              <a:rPr lang="en-US" altLang="zh-CN" sz="2800" b="1" baseline="-25000" dirty="0">
                <a:latin typeface="Times New Roman" panose="02020603050405020304" pitchFamily="18" charset="0"/>
                <a:ea typeface="仿宋" pitchFamily="49" charset="-122"/>
              </a:rPr>
              <a:t>15</a:t>
            </a:r>
            <a:r>
              <a:rPr lang="en-US" altLang="zh-CN" sz="2800" b="1" dirty="0">
                <a:latin typeface="Times New Roman" panose="02020603050405020304" pitchFamily="18" charset="0"/>
                <a:ea typeface="仿宋" pitchFamily="49" charset="-122"/>
              </a:rPr>
              <a:t>‖RE</a:t>
            </a:r>
            <a:r>
              <a:rPr lang="en-US" altLang="zh-CN" sz="2800" b="1" baseline="-25000" dirty="0">
                <a:latin typeface="Times New Roman" panose="02020603050405020304" pitchFamily="18" charset="0"/>
                <a:ea typeface="仿宋" pitchFamily="49" charset="-122"/>
              </a:rPr>
              <a:t>15</a:t>
            </a:r>
            <a:r>
              <a:rPr lang="zh-CN" altLang="en-US" sz="2800" b="1" dirty="0">
                <a:latin typeface="Times New Roman" panose="02020603050405020304" pitchFamily="18" charset="0"/>
                <a:ea typeface="仿宋" pitchFamily="49" charset="-122"/>
              </a:rPr>
              <a:t>，等于加密过程第</a:t>
            </a:r>
            <a:r>
              <a:rPr lang="en-US" altLang="zh-CN" sz="2800" b="1" dirty="0">
                <a:latin typeface="Times New Roman" panose="02020603050405020304" pitchFamily="18" charset="0"/>
                <a:ea typeface="仿宋" pitchFamily="49" charset="-122"/>
              </a:rPr>
              <a:t>16</a:t>
            </a:r>
            <a:r>
              <a:rPr lang="zh-CN" altLang="en-US" sz="2800" b="1" dirty="0">
                <a:latin typeface="Times New Roman" panose="02020603050405020304" pitchFamily="18" charset="0"/>
                <a:ea typeface="仿宋" pitchFamily="49" charset="-122"/>
              </a:rPr>
              <a:t>轮输入左右两半交换后的结果。</a:t>
            </a:r>
            <a:endParaRPr lang="en-US" altLang="zh-CN" sz="2800" b="1" dirty="0">
              <a:latin typeface="Times New Roman" panose="02020603050405020304" pitchFamily="18" charset="0"/>
              <a:ea typeface="仿宋" pitchFamily="49" charset="-122"/>
            </a:endParaRPr>
          </a:p>
          <a:p>
            <a:pPr>
              <a:spcBef>
                <a:spcPct val="20000"/>
              </a:spcBef>
              <a:buClr>
                <a:schemeClr val="folHlink"/>
              </a:buClr>
              <a:buSzPct val="60000"/>
            </a:pPr>
            <a:endParaRPr lang="en-US" altLang="zh-CN" sz="2800" b="1" dirty="0">
              <a:latin typeface="Times New Roman" panose="02020603050405020304" pitchFamily="18" charset="0"/>
              <a:ea typeface="仿宋" pitchFamily="49" charset="-122"/>
            </a:endParaRPr>
          </a:p>
        </p:txBody>
      </p:sp>
      <p:sp>
        <p:nvSpPr>
          <p:cNvPr id="132098" name="标题 3">
            <a:extLst>
              <a:ext uri="{FF2B5EF4-FFF2-40B4-BE49-F238E27FC236}">
                <a16:creationId xmlns:a16="http://schemas.microsoft.com/office/drawing/2014/main" id="{57FDE6B4-2971-4A4B-AFF7-CB931B934E04}"/>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Feistel</a:t>
            </a:r>
            <a:r>
              <a:rPr lang="zh-CN" altLang="en-US">
                <a:solidFill>
                  <a:srgbClr val="1F4E79"/>
                </a:solidFill>
              </a:rPr>
              <a:t>密码解密的正确性</a:t>
            </a:r>
          </a:p>
        </p:txBody>
      </p:sp>
      <mc:AlternateContent xmlns:mc="http://schemas.openxmlformats.org/markup-compatibility/2006" xmlns:a14="http://schemas.microsoft.com/office/drawing/2010/main">
        <mc:Choice Requires="a14">
          <p:sp>
            <p:nvSpPr>
              <p:cNvPr id="222211" name="Object 3">
                <a:extLst>
                  <a:ext uri="{FF2B5EF4-FFF2-40B4-BE49-F238E27FC236}">
                    <a16:creationId xmlns:a16="http://schemas.microsoft.com/office/drawing/2014/main" id="{01824A46-BC8A-5445-883C-525FEF8BF268}"/>
                  </a:ext>
                </a:extLst>
              </p:cNvPr>
              <p:cNvSpPr txBox="1">
                <a:spLocks noGrp="1"/>
              </p:cNvSpPr>
              <p:nvPr>
                <p:ph idx="1"/>
              </p:nvPr>
            </p:nvSpPr>
            <p:spPr bwMode="auto">
              <a:xfrm>
                <a:off x="4221163" y="1189038"/>
                <a:ext cx="4694163" cy="1096992"/>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16</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oMath>
                    <m:oMath xmlns:m="http://schemas.openxmlformats.org/officeDocument/2006/math">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16</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16</m:t>
                              </m:r>
                            </m:sub>
                          </m:sSub>
                        </m:e>
                      </m:d>
                    </m:oMath>
                  </m:oMathPara>
                </a14:m>
                <a:endParaRPr lang="zh-CN" altLang="en-US" dirty="0"/>
              </a:p>
            </p:txBody>
          </p:sp>
        </mc:Choice>
        <mc:Fallback xmlns="">
          <p:sp>
            <p:nvSpPr>
              <p:cNvPr id="222211" name="Object 3">
                <a:extLst>
                  <a:ext uri="{FF2B5EF4-FFF2-40B4-BE49-F238E27FC236}">
                    <a16:creationId xmlns:a16="http://schemas.microsoft.com/office/drawing/2014/main" id="{01824A46-BC8A-5445-883C-525FEF8BF268}"/>
                  </a:ext>
                </a:extLst>
              </p:cNvPr>
              <p:cNvSpPr txBox="1">
                <a:spLocks noGrp="1" noRot="1" noChangeAspect="1" noMove="1" noResize="1" noEditPoints="1" noAdjustHandles="1" noChangeArrowheads="1" noChangeShapeType="1" noTextEdit="1"/>
              </p:cNvSpPr>
              <p:nvPr>
                <p:ph idx="1"/>
              </p:nvPr>
            </p:nvSpPr>
            <p:spPr bwMode="auto">
              <a:xfrm>
                <a:off x="4221163" y="1189038"/>
                <a:ext cx="4694163" cy="1096992"/>
              </a:xfrm>
              <a:prstGeom prst="rect">
                <a:avLst/>
              </a:prstGeom>
              <a:blipFill>
                <a:blip r:embed="rId2"/>
                <a:stretch>
                  <a:fillRect/>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2212" name="Object 4">
                <a:extLst>
                  <a:ext uri="{FF2B5EF4-FFF2-40B4-BE49-F238E27FC236}">
                    <a16:creationId xmlns:a16="http://schemas.microsoft.com/office/drawing/2014/main" id="{CFEAB3F6-5502-0940-8EED-04D7050297E6}"/>
                  </a:ext>
                </a:extLst>
              </p:cNvPr>
              <p:cNvSpPr txBox="1">
                <a:spLocks noGrp="1"/>
              </p:cNvSpPr>
              <p:nvPr>
                <p:ph idx="1"/>
              </p:nvPr>
            </p:nvSpPr>
            <p:spPr bwMode="auto">
              <a:xfrm>
                <a:off x="2425700" y="2876520"/>
                <a:ext cx="8077200" cy="2212975"/>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𝐷</m:t>
                          </m:r>
                        </m:e>
                        <m:sub>
                          <m:r>
                            <a:rPr lang="zh-CN" altLang="en-US" i="1">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𝐷</m:t>
                          </m:r>
                        </m:e>
                        <m:sub>
                          <m:r>
                            <a:rPr lang="zh-CN" altLang="en-US" i="1">
                              <a:solidFill>
                                <a:srgbClr val="0000FF"/>
                              </a:solidFill>
                              <a:latin typeface="Cambria Math" panose="02040503050406030204" pitchFamily="18" charset="0"/>
                            </a:rPr>
                            <m:t>0</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16</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oMath>
                    <m:oMath xmlns:m="http://schemas.openxmlformats.org/officeDocument/2006/math">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𝐷</m:t>
                          </m:r>
                        </m:e>
                        <m:sub>
                          <m:r>
                            <a:rPr lang="zh-CN" altLang="en-US" i="1">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𝐷</m:t>
                          </m:r>
                        </m:e>
                        <m:sub>
                          <m:r>
                            <a:rPr lang="zh-CN" altLang="en-US" i="1">
                              <a:solidFill>
                                <a:srgbClr val="0000FF"/>
                              </a:solidFill>
                              <a:latin typeface="Cambria Math" panose="02040503050406030204" pitchFamily="18" charset="0"/>
                            </a:rPr>
                            <m:t>0</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𝐷</m:t>
                              </m:r>
                            </m:e>
                            <m:sub>
                              <m:r>
                                <a:rPr lang="zh-CN" altLang="en-US" i="1">
                                  <a:solidFill>
                                    <a:srgbClr val="0000FF"/>
                                  </a:solidFill>
                                  <a:latin typeface="Cambria Math" panose="02040503050406030204" pitchFamily="18" charset="0"/>
                                </a:rPr>
                                <m:t>0</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16</m:t>
                              </m:r>
                            </m:sub>
                          </m:sSub>
                        </m:e>
                      </m:d>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16</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16</m:t>
                              </m:r>
                            </m:sub>
                          </m:sSub>
                        </m:e>
                      </m:d>
                    </m:oMath>
                    <m:oMath xmlns:m="http://schemas.openxmlformats.org/officeDocument/2006/math">
                      <m:r>
                        <a:rPr lang="zh-CN" altLang="en-US" i="1">
                          <a:solidFill>
                            <a:srgbClr val="0000FF"/>
                          </a:solidFill>
                          <a:latin typeface="Cambria Math" panose="02040503050406030204" pitchFamily="18" charset="0"/>
                        </a:rPr>
                        <m:t>=</m:t>
                      </m:r>
                      <m:d>
                        <m:dPr>
                          <m:begChr m:val="["/>
                          <m:endChr m:val="]"/>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16</m:t>
                                  </m:r>
                                </m:sub>
                              </m:sSub>
                            </m:e>
                          </m:d>
                        </m:e>
                      </m:d>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16</m:t>
                              </m:r>
                            </m:sub>
                          </m:sSub>
                        </m:e>
                      </m:d>
                    </m:oMath>
                    <m:oMath xmlns:m="http://schemas.openxmlformats.org/officeDocument/2006/math">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15</m:t>
                          </m:r>
                        </m:sub>
                      </m:sSub>
                    </m:oMath>
                  </m:oMathPara>
                </a14:m>
                <a:endParaRPr lang="zh-CN" altLang="en-US" dirty="0"/>
              </a:p>
            </p:txBody>
          </p:sp>
        </mc:Choice>
        <mc:Fallback xmlns="">
          <p:sp>
            <p:nvSpPr>
              <p:cNvPr id="222212" name="Object 4">
                <a:extLst>
                  <a:ext uri="{FF2B5EF4-FFF2-40B4-BE49-F238E27FC236}">
                    <a16:creationId xmlns:a16="http://schemas.microsoft.com/office/drawing/2014/main" id="{CFEAB3F6-5502-0940-8EED-04D7050297E6}"/>
                  </a:ext>
                </a:extLst>
              </p:cNvPr>
              <p:cNvSpPr txBox="1">
                <a:spLocks noGrp="1" noRot="1" noChangeAspect="1" noMove="1" noResize="1" noEditPoints="1" noAdjustHandles="1" noChangeArrowheads="1" noChangeShapeType="1" noTextEdit="1"/>
              </p:cNvSpPr>
              <p:nvPr>
                <p:ph idx="1"/>
              </p:nvPr>
            </p:nvSpPr>
            <p:spPr bwMode="auto">
              <a:xfrm>
                <a:off x="2425700" y="2876520"/>
                <a:ext cx="8077200" cy="2212975"/>
              </a:xfrm>
              <a:prstGeom prst="rect">
                <a:avLst/>
              </a:prstGeom>
              <a:blipFill>
                <a:blip r:embed="rId3"/>
                <a:stretch>
                  <a:fillRect/>
                </a:stretch>
              </a:blipFill>
              <a:ln>
                <a:noFill/>
              </a:ln>
            </p:spPr>
            <p:txBody>
              <a:bodyPr/>
              <a:lstStyle/>
              <a:p>
                <a:r>
                  <a:rPr lang="en-CN">
                    <a:noFill/>
                  </a:rPr>
                  <a:t> </a:t>
                </a:r>
              </a:p>
            </p:txBody>
          </p:sp>
        </mc:Fallback>
      </mc:AlternateContent>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2210">
                                            <p:txEl>
                                              <p:pRg st="0" end="0"/>
                                            </p:txEl>
                                          </p:spTgt>
                                        </p:tgtEl>
                                        <p:attrNameLst>
                                          <p:attrName>style.visibility</p:attrName>
                                        </p:attrNameLst>
                                      </p:cBhvr>
                                      <p:to>
                                        <p:strVal val="visible"/>
                                      </p:to>
                                    </p:set>
                                    <p:anim calcmode="lin" valueType="num">
                                      <p:cBhvr additive="base">
                                        <p:cTn id="7" dur="500" fill="hold"/>
                                        <p:tgtEl>
                                          <p:spTgt spid="2222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22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22210">
                                            <p:txEl>
                                              <p:pRg st="2" end="2"/>
                                            </p:txEl>
                                          </p:spTgt>
                                        </p:tgtEl>
                                        <p:attrNameLst>
                                          <p:attrName>style.visibility</p:attrName>
                                        </p:attrNameLst>
                                      </p:cBhvr>
                                      <p:to>
                                        <p:strVal val="visible"/>
                                      </p:to>
                                    </p:set>
                                    <p:anim calcmode="lin" valueType="num">
                                      <p:cBhvr additive="base">
                                        <p:cTn id="13" dur="500" fill="hold"/>
                                        <p:tgtEl>
                                          <p:spTgt spid="2222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22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22210">
                                            <p:txEl>
                                              <p:pRg st="7" end="7"/>
                                            </p:txEl>
                                          </p:spTgt>
                                        </p:tgtEl>
                                        <p:attrNameLst>
                                          <p:attrName>style.visibility</p:attrName>
                                        </p:attrNameLst>
                                      </p:cBhvr>
                                      <p:to>
                                        <p:strVal val="visible"/>
                                      </p:to>
                                    </p:set>
                                    <p:anim calcmode="lin" valueType="num">
                                      <p:cBhvr additive="base">
                                        <p:cTn id="19" dur="500" fill="hold"/>
                                        <p:tgtEl>
                                          <p:spTgt spid="222210">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22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1" name="Text Box 2">
            <a:extLst>
              <a:ext uri="{FF2B5EF4-FFF2-40B4-BE49-F238E27FC236}">
                <a16:creationId xmlns:a16="http://schemas.microsoft.com/office/drawing/2014/main" id="{FF9B8C1A-CBF2-D34E-9E66-D5D38DBF95C6}"/>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3122" name="Text Box 3">
            <a:extLst>
              <a:ext uri="{FF2B5EF4-FFF2-40B4-BE49-F238E27FC236}">
                <a16:creationId xmlns:a16="http://schemas.microsoft.com/office/drawing/2014/main" id="{48597BEA-76DC-864A-9177-83E42DAB89E7}"/>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3123" name="Text Box 4">
            <a:extLst>
              <a:ext uri="{FF2B5EF4-FFF2-40B4-BE49-F238E27FC236}">
                <a16:creationId xmlns:a16="http://schemas.microsoft.com/office/drawing/2014/main" id="{46B57094-BDF2-8445-BCA8-1E46C6BE5E3C}"/>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3124" name="Text Box 5">
            <a:extLst>
              <a:ext uri="{FF2B5EF4-FFF2-40B4-BE49-F238E27FC236}">
                <a16:creationId xmlns:a16="http://schemas.microsoft.com/office/drawing/2014/main" id="{E0A7EEE4-E5DC-0344-96AA-091FD65B59F9}"/>
              </a:ext>
            </a:extLst>
          </p:cNvPr>
          <p:cNvSpPr txBox="1">
            <a:spLocks noChangeArrowheads="1"/>
          </p:cNvSpPr>
          <p:nvPr/>
        </p:nvSpPr>
        <p:spPr bwMode="auto">
          <a:xfrm>
            <a:off x="7756525" y="520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3125" name="Text Box 6">
            <a:extLst>
              <a:ext uri="{FF2B5EF4-FFF2-40B4-BE49-F238E27FC236}">
                <a16:creationId xmlns:a16="http://schemas.microsoft.com/office/drawing/2014/main" id="{FBF5CABC-A358-E343-A9E4-2A3781C7F336}"/>
              </a:ext>
            </a:extLst>
          </p:cNvPr>
          <p:cNvSpPr txBox="1">
            <a:spLocks noChangeArrowheads="1"/>
          </p:cNvSpPr>
          <p:nvPr/>
        </p:nvSpPr>
        <p:spPr bwMode="auto">
          <a:xfrm>
            <a:off x="4327525"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3126" name="Text Box 7">
            <a:extLst>
              <a:ext uri="{FF2B5EF4-FFF2-40B4-BE49-F238E27FC236}">
                <a16:creationId xmlns:a16="http://schemas.microsoft.com/office/drawing/2014/main" id="{D5D063ED-4214-434C-A866-AC1F1E4060D4}"/>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3127" name="Text Box 8">
            <a:extLst>
              <a:ext uri="{FF2B5EF4-FFF2-40B4-BE49-F238E27FC236}">
                <a16:creationId xmlns:a16="http://schemas.microsoft.com/office/drawing/2014/main" id="{14543CA5-74C7-7340-A9BD-04201474E3A4}"/>
              </a:ext>
            </a:extLst>
          </p:cNvPr>
          <p:cNvSpPr txBox="1">
            <a:spLocks noChangeArrowheads="1"/>
          </p:cNvSpPr>
          <p:nvPr/>
        </p:nvSpPr>
        <p:spPr bwMode="auto">
          <a:xfrm>
            <a:off x="7527925" y="383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3128" name="Text Box 9">
            <a:extLst>
              <a:ext uri="{FF2B5EF4-FFF2-40B4-BE49-F238E27FC236}">
                <a16:creationId xmlns:a16="http://schemas.microsoft.com/office/drawing/2014/main" id="{F882CAC7-D283-A74A-89CF-2A8B49EA91D6}"/>
              </a:ext>
            </a:extLst>
          </p:cNvPr>
          <p:cNvSpPr txBox="1">
            <a:spLocks noChangeArrowheads="1"/>
          </p:cNvSpPr>
          <p:nvPr/>
        </p:nvSpPr>
        <p:spPr bwMode="auto">
          <a:xfrm>
            <a:off x="4327525" y="45164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223242" name="Rectangle 10">
            <a:extLst>
              <a:ext uri="{FF2B5EF4-FFF2-40B4-BE49-F238E27FC236}">
                <a16:creationId xmlns:a16="http://schemas.microsoft.com/office/drawing/2014/main" id="{A765C22F-819B-D14F-A934-1EE9BC104D02}"/>
              </a:ext>
            </a:extLst>
          </p:cNvPr>
          <p:cNvSpPr>
            <a:spLocks noChangeArrowheads="1"/>
          </p:cNvSpPr>
          <p:nvPr/>
        </p:nvSpPr>
        <p:spPr bwMode="auto">
          <a:xfrm>
            <a:off x="1143000" y="1252538"/>
            <a:ext cx="9829800"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7338" indent="-635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10000"/>
              </a:lnSpc>
              <a:spcBef>
                <a:spcPct val="20000"/>
              </a:spcBef>
              <a:buClr>
                <a:schemeClr val="folHlink"/>
              </a:buClr>
              <a:buSzPct val="60000"/>
              <a:buFont typeface="Wingdings" pitchFamily="2" charset="2"/>
              <a:buChar char="Ø"/>
            </a:pPr>
            <a:r>
              <a:rPr lang="zh-CN" altLang="en-US" sz="2400" b="1" dirty="0">
                <a:latin typeface="仿宋" pitchFamily="49" charset="-122"/>
                <a:ea typeface="仿宋" pitchFamily="49" charset="-122"/>
              </a:rPr>
              <a:t>容易证明这种对应关系在</a:t>
            </a:r>
            <a:r>
              <a:rPr lang="en-US" altLang="zh-CN" sz="2400" b="1" dirty="0">
                <a:latin typeface="仿宋" pitchFamily="49" charset="-122"/>
                <a:ea typeface="仿宋" pitchFamily="49" charset="-122"/>
              </a:rPr>
              <a:t>16</a:t>
            </a:r>
            <a:r>
              <a:rPr lang="zh-CN" altLang="en-US" sz="2400" b="1" dirty="0">
                <a:latin typeface="仿宋" pitchFamily="49" charset="-122"/>
                <a:ea typeface="仿宋" pitchFamily="49" charset="-122"/>
              </a:rPr>
              <a:t>轮中每轮都成立。一般地，加密过程的第</a:t>
            </a:r>
            <a:r>
              <a:rPr lang="en-US" altLang="zh-CN" sz="2400" b="1" dirty="0" err="1">
                <a:latin typeface="仿宋" pitchFamily="49" charset="-122"/>
                <a:ea typeface="仿宋" pitchFamily="49" charset="-122"/>
              </a:rPr>
              <a:t>i</a:t>
            </a:r>
            <a:r>
              <a:rPr lang="zh-CN" altLang="en-US" sz="2400" b="1" dirty="0">
                <a:latin typeface="仿宋" pitchFamily="49" charset="-122"/>
                <a:ea typeface="仿宋" pitchFamily="49" charset="-122"/>
              </a:rPr>
              <a:t>轮有</a:t>
            </a:r>
          </a:p>
          <a:p>
            <a:pPr>
              <a:spcBef>
                <a:spcPct val="20000"/>
              </a:spcBef>
              <a:buClr>
                <a:schemeClr val="folHlink"/>
              </a:buClr>
              <a:buSzPct val="60000"/>
            </a:pPr>
            <a:endParaRPr lang="zh-CN" altLang="en-US" sz="2400" b="1" dirty="0">
              <a:latin typeface="仿宋" pitchFamily="49" charset="-122"/>
              <a:ea typeface="仿宋" pitchFamily="49" charset="-122"/>
            </a:endParaRPr>
          </a:p>
          <a:p>
            <a:pPr>
              <a:spcBef>
                <a:spcPct val="20000"/>
              </a:spcBef>
              <a:buClr>
                <a:schemeClr val="folHlink"/>
              </a:buClr>
              <a:buSzPct val="60000"/>
            </a:pPr>
            <a:endParaRPr lang="zh-CN" altLang="en-US" sz="2400" b="1" dirty="0">
              <a:latin typeface="仿宋" pitchFamily="49" charset="-122"/>
              <a:ea typeface="仿宋" pitchFamily="49" charset="-122"/>
            </a:endParaRPr>
          </a:p>
          <a:p>
            <a:pPr>
              <a:spcBef>
                <a:spcPct val="20000"/>
              </a:spcBef>
              <a:buClr>
                <a:schemeClr val="folHlink"/>
              </a:buClr>
              <a:buSzPct val="60000"/>
            </a:pPr>
            <a:endParaRPr lang="en-US" altLang="zh-CN" sz="2400" b="1" dirty="0">
              <a:latin typeface="仿宋" pitchFamily="49" charset="-122"/>
              <a:ea typeface="仿宋" pitchFamily="49" charset="-122"/>
            </a:endParaRPr>
          </a:p>
          <a:p>
            <a:pPr>
              <a:spcBef>
                <a:spcPct val="20000"/>
              </a:spcBef>
              <a:buClr>
                <a:schemeClr val="folHlink"/>
              </a:buClr>
              <a:buSzPct val="60000"/>
            </a:pPr>
            <a:r>
              <a:rPr lang="zh-CN" altLang="en-US" sz="2400" b="1" dirty="0">
                <a:latin typeface="仿宋" pitchFamily="49" charset="-122"/>
                <a:ea typeface="仿宋" pitchFamily="49" charset="-122"/>
              </a:rPr>
              <a:t>因此</a:t>
            </a:r>
          </a:p>
        </p:txBody>
      </p:sp>
      <p:sp>
        <p:nvSpPr>
          <p:cNvPr id="133130" name="标题 3">
            <a:extLst>
              <a:ext uri="{FF2B5EF4-FFF2-40B4-BE49-F238E27FC236}">
                <a16:creationId xmlns:a16="http://schemas.microsoft.com/office/drawing/2014/main" id="{F08E4D11-D366-8D47-9CAC-DB5932AE586A}"/>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Feistel</a:t>
            </a:r>
            <a:r>
              <a:rPr lang="zh-CN" altLang="en-US">
                <a:solidFill>
                  <a:srgbClr val="1F4E79"/>
                </a:solidFill>
              </a:rPr>
              <a:t>密码解密的正确性（续）</a:t>
            </a:r>
          </a:p>
        </p:txBody>
      </p:sp>
      <mc:AlternateContent xmlns:mc="http://schemas.openxmlformats.org/markup-compatibility/2006" xmlns:a14="http://schemas.microsoft.com/office/drawing/2010/main">
        <mc:Choice Requires="a14">
          <p:sp>
            <p:nvSpPr>
              <p:cNvPr id="223243" name="Object 11">
                <a:extLst>
                  <a:ext uri="{FF2B5EF4-FFF2-40B4-BE49-F238E27FC236}">
                    <a16:creationId xmlns:a16="http://schemas.microsoft.com/office/drawing/2014/main" id="{8C99C57D-0E93-AF47-AE48-7FCF1FB8BB72}"/>
                  </a:ext>
                </a:extLst>
              </p:cNvPr>
              <p:cNvSpPr txBox="1">
                <a:spLocks noGrp="1"/>
              </p:cNvSpPr>
              <p:nvPr>
                <p:ph idx="1"/>
              </p:nvPr>
            </p:nvSpPr>
            <p:spPr bwMode="auto">
              <a:xfrm>
                <a:off x="3463924" y="2087563"/>
                <a:ext cx="4994213" cy="1052513"/>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r>
                            <a:rPr lang="zh-CN" altLang="en-US" i="1">
                              <a:solidFill>
                                <a:srgbClr val="0000FF"/>
                              </a:solidFill>
                              <a:latin typeface="Cambria Math" panose="02040503050406030204" pitchFamily="18" charset="0"/>
                            </a:rPr>
                            <m:t>−1</m:t>
                          </m:r>
                        </m:sub>
                      </m:sSub>
                    </m:oMath>
                    <m:oMath xmlns:m="http://schemas.openxmlformats.org/officeDocument/2006/math">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r>
                            <a:rPr lang="zh-CN" altLang="en-US" i="1">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r>
                                <a:rPr lang="zh-CN" altLang="en-US" i="1">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𝑖</m:t>
                              </m:r>
                            </m:sub>
                          </m:sSub>
                        </m:e>
                      </m:d>
                    </m:oMath>
                  </m:oMathPara>
                </a14:m>
                <a:endParaRPr lang="zh-CN" altLang="en-US" dirty="0"/>
              </a:p>
            </p:txBody>
          </p:sp>
        </mc:Choice>
        <mc:Fallback xmlns="">
          <p:sp>
            <p:nvSpPr>
              <p:cNvPr id="223243" name="Object 11">
                <a:extLst>
                  <a:ext uri="{FF2B5EF4-FFF2-40B4-BE49-F238E27FC236}">
                    <a16:creationId xmlns:a16="http://schemas.microsoft.com/office/drawing/2014/main" id="{8C99C57D-0E93-AF47-AE48-7FCF1FB8BB72}"/>
                  </a:ext>
                </a:extLst>
              </p:cNvPr>
              <p:cNvSpPr txBox="1">
                <a:spLocks noGrp="1" noRot="1" noChangeAspect="1" noMove="1" noResize="1" noEditPoints="1" noAdjustHandles="1" noChangeArrowheads="1" noChangeShapeType="1" noTextEdit="1"/>
              </p:cNvSpPr>
              <p:nvPr>
                <p:ph idx="1"/>
              </p:nvPr>
            </p:nvSpPr>
            <p:spPr bwMode="auto">
              <a:xfrm>
                <a:off x="3463924" y="2087563"/>
                <a:ext cx="4994213" cy="1052513"/>
              </a:xfrm>
              <a:prstGeom prst="rect">
                <a:avLst/>
              </a:prstGeom>
              <a:blipFill>
                <a:blip r:embed="rId3"/>
                <a:stretch>
                  <a:fillRect/>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3244" name="Object 12">
                <a:extLst>
                  <a:ext uri="{FF2B5EF4-FFF2-40B4-BE49-F238E27FC236}">
                    <a16:creationId xmlns:a16="http://schemas.microsoft.com/office/drawing/2014/main" id="{5E426B05-3B56-484F-8016-8F06A17FC6E8}"/>
                  </a:ext>
                </a:extLst>
              </p:cNvPr>
              <p:cNvSpPr txBox="1">
                <a:spLocks noGrp="1"/>
              </p:cNvSpPr>
              <p:nvPr>
                <p:ph idx="1"/>
              </p:nvPr>
            </p:nvSpPr>
            <p:spPr bwMode="auto">
              <a:xfrm>
                <a:off x="2362200" y="4054475"/>
                <a:ext cx="7543700" cy="1300163"/>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r>
                            <a:rPr lang="zh-CN" altLang="en-US" i="1">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sub>
                      </m:sSub>
                    </m:oMath>
                    <m:oMath xmlns:m="http://schemas.openxmlformats.org/officeDocument/2006/math">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r>
                            <a:rPr lang="zh-CN" altLang="en-US" i="1">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r>
                                <a:rPr lang="zh-CN" altLang="en-US" i="1">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𝑖</m:t>
                              </m:r>
                            </m:sub>
                          </m:sSub>
                        </m:e>
                      </m:d>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𝑅</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sub>
                      </m:sSub>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𝐹</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𝐿</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𝐸</m:t>
                              </m:r>
                            </m:e>
                            <m:sub>
                              <m:r>
                                <a:rPr lang="zh-CN" altLang="en-US" i="1">
                                  <a:solidFill>
                                    <a:srgbClr val="0000FF"/>
                                  </a:solidFill>
                                  <a:latin typeface="Cambria Math" panose="02040503050406030204" pitchFamily="18" charset="0"/>
                                </a:rPr>
                                <m:t>𝑖</m:t>
                              </m:r>
                            </m:sub>
                          </m:sSub>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𝐾</m:t>
                              </m:r>
                            </m:e>
                            <m:sub>
                              <m:r>
                                <a:rPr lang="zh-CN" altLang="en-US" i="1">
                                  <a:solidFill>
                                    <a:srgbClr val="0000FF"/>
                                  </a:solidFill>
                                  <a:latin typeface="Cambria Math" panose="02040503050406030204" pitchFamily="18" charset="0"/>
                                </a:rPr>
                                <m:t>𝑖</m:t>
                              </m:r>
                            </m:sub>
                          </m:sSub>
                        </m:e>
                      </m:d>
                    </m:oMath>
                  </m:oMathPara>
                </a14:m>
                <a:endParaRPr lang="zh-CN" altLang="en-US" dirty="0"/>
              </a:p>
            </p:txBody>
          </p:sp>
        </mc:Choice>
        <mc:Fallback xmlns="">
          <p:sp>
            <p:nvSpPr>
              <p:cNvPr id="223244" name="Object 12">
                <a:extLst>
                  <a:ext uri="{FF2B5EF4-FFF2-40B4-BE49-F238E27FC236}">
                    <a16:creationId xmlns:a16="http://schemas.microsoft.com/office/drawing/2014/main" id="{5E426B05-3B56-484F-8016-8F06A17FC6E8}"/>
                  </a:ext>
                </a:extLst>
              </p:cNvPr>
              <p:cNvSpPr txBox="1">
                <a:spLocks noGrp="1" noRot="1" noChangeAspect="1" noMove="1" noResize="1" noEditPoints="1" noAdjustHandles="1" noChangeArrowheads="1" noChangeShapeType="1" noTextEdit="1"/>
              </p:cNvSpPr>
              <p:nvPr>
                <p:ph idx="1"/>
              </p:nvPr>
            </p:nvSpPr>
            <p:spPr bwMode="auto">
              <a:xfrm>
                <a:off x="2362200" y="4054475"/>
                <a:ext cx="7543700" cy="1300163"/>
              </a:xfrm>
              <a:prstGeom prst="rect">
                <a:avLst/>
              </a:prstGeom>
              <a:blipFill>
                <a:blip r:embed="rId4"/>
                <a:stretch>
                  <a:fillRect/>
                </a:stretch>
              </a:blipFill>
              <a:ln>
                <a:noFill/>
              </a:ln>
            </p:spPr>
            <p:txBody>
              <a:bodyPr/>
              <a:lstStyle/>
              <a:p>
                <a:r>
                  <a:rPr lang="en-CN">
                    <a:noFill/>
                  </a:rPr>
                  <a:t> </a:t>
                </a:r>
              </a:p>
            </p:txBody>
          </p:sp>
        </mc:Fallback>
      </mc:AlternateContent>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3242">
                                            <p:txEl>
                                              <p:pRg st="0" end="0"/>
                                            </p:txEl>
                                          </p:spTgt>
                                        </p:tgtEl>
                                        <p:attrNameLst>
                                          <p:attrName>style.visibility</p:attrName>
                                        </p:attrNameLst>
                                      </p:cBhvr>
                                      <p:to>
                                        <p:strVal val="visible"/>
                                      </p:to>
                                    </p:set>
                                    <p:anim calcmode="lin" valueType="num">
                                      <p:cBhvr additive="base">
                                        <p:cTn id="7" dur="500" fill="hold"/>
                                        <p:tgtEl>
                                          <p:spTgt spid="22324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324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23242">
                                            <p:txEl>
                                              <p:pRg st="4" end="4"/>
                                            </p:txEl>
                                          </p:spTgt>
                                        </p:tgtEl>
                                        <p:attrNameLst>
                                          <p:attrName>style.visibility</p:attrName>
                                        </p:attrNameLst>
                                      </p:cBhvr>
                                      <p:to>
                                        <p:strVal val="visible"/>
                                      </p:to>
                                    </p:set>
                                    <p:anim calcmode="lin" valueType="num">
                                      <p:cBhvr additive="base">
                                        <p:cTn id="13" dur="500" fill="hold"/>
                                        <p:tgtEl>
                                          <p:spTgt spid="22324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324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副标题 2">
            <a:extLst>
              <a:ext uri="{FF2B5EF4-FFF2-40B4-BE49-F238E27FC236}">
                <a16:creationId xmlns:a16="http://schemas.microsoft.com/office/drawing/2014/main" id="{02F621CE-B0B7-4242-BAA6-FD652A5D92E3}"/>
              </a:ext>
            </a:extLst>
          </p:cNvPr>
          <p:cNvSpPr>
            <a:spLocks noGrp="1" noChangeArrowheads="1"/>
          </p:cNvSpPr>
          <p:nvPr>
            <p:ph type="subTitle" idx="1"/>
          </p:nvPr>
        </p:nvSpPr>
        <p:spPr>
          <a:xfrm>
            <a:off x="0" y="3048000"/>
            <a:ext cx="12192000" cy="790575"/>
          </a:xfrm>
        </p:spPr>
        <p:txBody>
          <a:bodyPr/>
          <a:lstStyle/>
          <a:p>
            <a:r>
              <a:rPr lang="en-US" altLang="zh-CN" sz="3600" b="1"/>
              <a:t>DES</a:t>
            </a:r>
            <a:r>
              <a:rPr lang="zh-CN" altLang="en-US" sz="3600" b="1"/>
              <a:t>算法简介</a:t>
            </a:r>
            <a:endParaRPr lang="en-US" altLang="zh-CN" sz="3600" b="1"/>
          </a:p>
        </p:txBody>
      </p:sp>
    </p:spTree>
  </p:cSld>
  <p:clrMapOvr>
    <a:masterClrMapping/>
  </p:clrMapOvr>
  <p:transition spd="slow">
    <p:random/>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66D31E08-F41E-174A-9E97-33B2DACCACD5}"/>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FF3300"/>
                </a:solidFill>
              </a:rPr>
              <a:t>美国制定数据加密标准简况</a:t>
            </a:r>
            <a:endParaRPr lang="zh-CN" altLang="en-US">
              <a:solidFill>
                <a:schemeClr val="bg2"/>
              </a:solidFill>
            </a:endParaRPr>
          </a:p>
        </p:txBody>
      </p:sp>
      <p:sp>
        <p:nvSpPr>
          <p:cNvPr id="137218" name="Rectangle 3">
            <a:extLst>
              <a:ext uri="{FF2B5EF4-FFF2-40B4-BE49-F238E27FC236}">
                <a16:creationId xmlns:a16="http://schemas.microsoft.com/office/drawing/2014/main" id="{0A1C99F3-566F-024E-A05D-FDD78543F248}"/>
              </a:ext>
            </a:extLst>
          </p:cNvPr>
          <p:cNvSpPr>
            <a:spLocks noGrp="1" noChangeArrowheads="1"/>
          </p:cNvSpPr>
          <p:nvPr>
            <p:ph idx="1"/>
          </p:nvPr>
        </p:nvSpPr>
        <p:spPr>
          <a:xfrm>
            <a:off x="823913" y="1465263"/>
            <a:ext cx="10515600" cy="4579937"/>
          </a:xfrm>
        </p:spPr>
        <p:txBody>
          <a:bodyPr/>
          <a:lstStyle/>
          <a:p>
            <a:pPr eaLnBrk="1" hangingPunct="1">
              <a:spcAft>
                <a:spcPts val="600"/>
              </a:spcAft>
            </a:pPr>
            <a:r>
              <a:rPr lang="zh-CN" altLang="en-US" sz="2800"/>
              <a:t>目的</a:t>
            </a:r>
          </a:p>
          <a:p>
            <a:pPr eaLnBrk="1" hangingPunct="1">
              <a:spcAft>
                <a:spcPts val="600"/>
              </a:spcAft>
              <a:buFont typeface="Arial" panose="020B0604020202020204" pitchFamily="34" charset="0"/>
              <a:buNone/>
            </a:pPr>
            <a:r>
              <a:rPr lang="zh-CN" altLang="en-US" sz="2000"/>
              <a:t>             </a:t>
            </a:r>
            <a:r>
              <a:rPr lang="zh-CN" altLang="en-US" sz="2800"/>
              <a:t>通信与计算机相结合是人类步入信息社会的一个阶梯，它始于六十年代末，完成于</a:t>
            </a:r>
            <a:r>
              <a:rPr lang="en-US" altLang="zh-CN" sz="2800"/>
              <a:t>90</a:t>
            </a:r>
            <a:r>
              <a:rPr lang="zh-CN" altLang="en-US" sz="2800"/>
              <a:t>年代初。计算机通信网的形成与发展，要求信息作业标准化，安全保密亦不例外。只有标准化，才能真正实现网的安全，才能推广使用加密手段，以便于训练、生产和降低成本。</a:t>
            </a:r>
          </a:p>
          <a:p>
            <a:pPr eaLnBrk="1" hangingPunct="1">
              <a:spcAft>
                <a:spcPts val="600"/>
              </a:spcAft>
              <a:buFont typeface="Arial" panose="020B0604020202020204" pitchFamily="34" charset="0"/>
              <a:buNone/>
            </a:pPr>
            <a:r>
              <a:rPr lang="zh-CN" altLang="en-US"/>
              <a:t>       </a:t>
            </a:r>
            <a:endParaRPr lang="zh-CN" altLang="en-US" sz="2000"/>
          </a:p>
        </p:txBody>
      </p:sp>
      <p:sp>
        <p:nvSpPr>
          <p:cNvPr id="137219" name="Text Box 4">
            <a:extLst>
              <a:ext uri="{FF2B5EF4-FFF2-40B4-BE49-F238E27FC236}">
                <a16:creationId xmlns:a16="http://schemas.microsoft.com/office/drawing/2014/main" id="{77A0834F-6593-3E4E-B5C6-DE38F9A3F59A}"/>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7220" name="Text Box 5">
            <a:extLst>
              <a:ext uri="{FF2B5EF4-FFF2-40B4-BE49-F238E27FC236}">
                <a16:creationId xmlns:a16="http://schemas.microsoft.com/office/drawing/2014/main" id="{93298ABC-7BE2-D34E-B57C-3E7564218413}"/>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7221" name="Text Box 6">
            <a:extLst>
              <a:ext uri="{FF2B5EF4-FFF2-40B4-BE49-F238E27FC236}">
                <a16:creationId xmlns:a16="http://schemas.microsoft.com/office/drawing/2014/main" id="{B2FDA5E4-41F9-DE48-8F4E-AB53E2481F31}"/>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7222" name="Text Box 7">
            <a:extLst>
              <a:ext uri="{FF2B5EF4-FFF2-40B4-BE49-F238E27FC236}">
                <a16:creationId xmlns:a16="http://schemas.microsoft.com/office/drawing/2014/main" id="{7A152974-3EBC-894D-B66F-5212855EEE6B}"/>
              </a:ext>
            </a:extLst>
          </p:cNvPr>
          <p:cNvSpPr txBox="1">
            <a:spLocks noChangeArrowheads="1"/>
          </p:cNvSpPr>
          <p:nvPr/>
        </p:nvSpPr>
        <p:spPr bwMode="auto">
          <a:xfrm>
            <a:off x="434340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7223" name="Text Box 8">
            <a:extLst>
              <a:ext uri="{FF2B5EF4-FFF2-40B4-BE49-F238E27FC236}">
                <a16:creationId xmlns:a16="http://schemas.microsoft.com/office/drawing/2014/main" id="{3710ABE3-E08D-1C4B-BBD9-3CD43E5A2B6E}"/>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7224" name="Text Box 9">
            <a:extLst>
              <a:ext uri="{FF2B5EF4-FFF2-40B4-BE49-F238E27FC236}">
                <a16:creationId xmlns:a16="http://schemas.microsoft.com/office/drawing/2014/main" id="{C15CC594-0AF6-304F-822C-D557BEF414CB}"/>
              </a:ext>
            </a:extLst>
          </p:cNvPr>
          <p:cNvSpPr txBox="1">
            <a:spLocks noChangeArrowheads="1"/>
          </p:cNvSpPr>
          <p:nvPr/>
        </p:nvSpPr>
        <p:spPr bwMode="auto">
          <a:xfrm>
            <a:off x="3336925" y="436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37225" name="Text Box 10">
            <a:extLst>
              <a:ext uri="{FF2B5EF4-FFF2-40B4-BE49-F238E27FC236}">
                <a16:creationId xmlns:a16="http://schemas.microsoft.com/office/drawing/2014/main" id="{230801AB-E9D4-F949-B8D3-786AB348B09D}"/>
              </a:ext>
            </a:extLst>
          </p:cNvPr>
          <p:cNvSpPr txBox="1">
            <a:spLocks noChangeArrowheads="1"/>
          </p:cNvSpPr>
          <p:nvPr/>
        </p:nvSpPr>
        <p:spPr bwMode="auto">
          <a:xfrm>
            <a:off x="3108325" y="4821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4F5BD63E-E815-B840-ACC4-1CD129F4FD18}"/>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FF3300"/>
                </a:solidFill>
              </a:rPr>
              <a:t>美国制定数据加密标准简况</a:t>
            </a:r>
          </a:p>
        </p:txBody>
      </p:sp>
      <p:sp>
        <p:nvSpPr>
          <p:cNvPr id="54275" name="Rectangle 3">
            <a:extLst>
              <a:ext uri="{FF2B5EF4-FFF2-40B4-BE49-F238E27FC236}">
                <a16:creationId xmlns:a16="http://schemas.microsoft.com/office/drawing/2014/main" id="{FD51FC9E-8A82-D848-A539-A8613F79005E}"/>
              </a:ext>
            </a:extLst>
          </p:cNvPr>
          <p:cNvSpPr>
            <a:spLocks noGrp="1" noChangeArrowheads="1"/>
          </p:cNvSpPr>
          <p:nvPr>
            <p:ph idx="1"/>
          </p:nvPr>
        </p:nvSpPr>
        <p:spPr>
          <a:xfrm>
            <a:off x="838200" y="1295400"/>
            <a:ext cx="10515600" cy="4579938"/>
          </a:xfrm>
        </p:spPr>
        <p:txBody>
          <a:bodyPr/>
          <a:lstStyle/>
          <a:p>
            <a:pPr eaLnBrk="1" hangingPunct="1">
              <a:lnSpc>
                <a:spcPct val="105000"/>
              </a:lnSpc>
            </a:pPr>
            <a:r>
              <a:rPr lang="zh-CN" altLang="en-US">
                <a:latin typeface="楷体_GB2312" pitchFamily="49" charset="-122"/>
                <a:ea typeface="楷体_GB2312" pitchFamily="49" charset="-122"/>
              </a:rPr>
              <a:t>美国</a:t>
            </a:r>
            <a:r>
              <a:rPr lang="en-US" altLang="zh-CN">
                <a:latin typeface="楷体_GB2312" pitchFamily="49" charset="-122"/>
                <a:ea typeface="楷体_GB2312" pitchFamily="49" charset="-122"/>
              </a:rPr>
              <a:t>NBS</a:t>
            </a:r>
            <a:r>
              <a:rPr lang="zh-CN" altLang="en-US">
                <a:latin typeface="楷体_GB2312" pitchFamily="49" charset="-122"/>
                <a:ea typeface="楷体_GB2312" pitchFamily="49" charset="-122"/>
              </a:rPr>
              <a:t>在</a:t>
            </a:r>
            <a:r>
              <a:rPr lang="en-US" altLang="zh-CN">
                <a:latin typeface="楷体_GB2312" pitchFamily="49" charset="-122"/>
                <a:ea typeface="楷体_GB2312" pitchFamily="49" charset="-122"/>
              </a:rPr>
              <a:t>1973</a:t>
            </a:r>
            <a:r>
              <a:rPr lang="zh-CN" altLang="en-US">
                <a:latin typeface="楷体_GB2312" pitchFamily="49" charset="-122"/>
                <a:ea typeface="楷体_GB2312" pitchFamily="49" charset="-122"/>
              </a:rPr>
              <a:t>年</a:t>
            </a:r>
            <a:r>
              <a:rPr lang="en-US" altLang="zh-CN">
                <a:latin typeface="楷体_GB2312" pitchFamily="49" charset="-122"/>
                <a:ea typeface="楷体_GB2312" pitchFamily="49" charset="-122"/>
              </a:rPr>
              <a:t>5</a:t>
            </a:r>
            <a:r>
              <a:rPr lang="zh-CN" altLang="en-US">
                <a:latin typeface="楷体_GB2312" pitchFamily="49" charset="-122"/>
                <a:ea typeface="楷体_GB2312" pitchFamily="49" charset="-122"/>
              </a:rPr>
              <a:t>月</a:t>
            </a:r>
            <a:r>
              <a:rPr lang="en-US" altLang="zh-CN">
                <a:latin typeface="楷体_GB2312" pitchFamily="49" charset="-122"/>
                <a:ea typeface="楷体_GB2312" pitchFamily="49" charset="-122"/>
              </a:rPr>
              <a:t>15</a:t>
            </a:r>
            <a:r>
              <a:rPr lang="zh-CN" altLang="en-US">
                <a:latin typeface="楷体_GB2312" pitchFamily="49" charset="-122"/>
                <a:ea typeface="楷体_GB2312" pitchFamily="49" charset="-122"/>
              </a:rPr>
              <a:t>公布了征求建议。</a:t>
            </a:r>
            <a:r>
              <a:rPr lang="en-US" altLang="zh-CN">
                <a:latin typeface="楷体_GB2312" pitchFamily="49" charset="-122"/>
                <a:ea typeface="楷体_GB2312" pitchFamily="49" charset="-122"/>
              </a:rPr>
              <a:t>1974</a:t>
            </a:r>
            <a:r>
              <a:rPr lang="zh-CN" altLang="en-US">
                <a:latin typeface="楷体_GB2312" pitchFamily="49" charset="-122"/>
                <a:ea typeface="楷体_GB2312" pitchFamily="49" charset="-122"/>
              </a:rPr>
              <a:t>年</a:t>
            </a:r>
            <a:r>
              <a:rPr lang="en-US" altLang="zh-CN">
                <a:latin typeface="楷体_GB2312" pitchFamily="49" charset="-122"/>
                <a:ea typeface="楷体_GB2312" pitchFamily="49" charset="-122"/>
              </a:rPr>
              <a:t>8</a:t>
            </a:r>
            <a:r>
              <a:rPr lang="zh-CN" altLang="en-US">
                <a:latin typeface="楷体_GB2312" pitchFamily="49" charset="-122"/>
                <a:ea typeface="楷体_GB2312" pitchFamily="49" charset="-122"/>
              </a:rPr>
              <a:t>月</a:t>
            </a:r>
            <a:r>
              <a:rPr lang="en-US" altLang="zh-CN">
                <a:latin typeface="楷体_GB2312" pitchFamily="49" charset="-122"/>
                <a:ea typeface="楷体_GB2312" pitchFamily="49" charset="-122"/>
              </a:rPr>
              <a:t>27</a:t>
            </a:r>
            <a:r>
              <a:rPr lang="zh-CN" altLang="en-US">
                <a:latin typeface="楷体_GB2312" pitchFamily="49" charset="-122"/>
                <a:ea typeface="楷体_GB2312" pitchFamily="49" charset="-122"/>
              </a:rPr>
              <a:t>日</a:t>
            </a:r>
            <a:r>
              <a:rPr lang="en-US" altLang="zh-CN">
                <a:latin typeface="楷体_GB2312" pitchFamily="49" charset="-122"/>
                <a:ea typeface="楷体_GB2312" pitchFamily="49" charset="-122"/>
              </a:rPr>
              <a:t>NBS</a:t>
            </a:r>
            <a:r>
              <a:rPr lang="zh-CN" altLang="en-US">
                <a:latin typeface="楷体_GB2312" pitchFamily="49" charset="-122"/>
                <a:ea typeface="楷体_GB2312" pitchFamily="49" charset="-122"/>
              </a:rPr>
              <a:t>再次出公告征求建议，对建议方案提出如下要求：</a:t>
            </a:r>
          </a:p>
          <a:p>
            <a:pPr eaLnBrk="1" hangingPunct="1">
              <a:lnSpc>
                <a:spcPct val="105000"/>
              </a:lnSpc>
              <a:buFont typeface="Wingdings" pitchFamily="2" charset="2"/>
              <a:buNone/>
            </a:pP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算法必须提供高度的安全性</a:t>
            </a:r>
          </a:p>
          <a:p>
            <a:pPr eaLnBrk="1" hangingPunct="1">
              <a:lnSpc>
                <a:spcPct val="105000"/>
              </a:lnSpc>
              <a:buFont typeface="Wingdings" pitchFamily="2" charset="2"/>
              <a:buNone/>
            </a:pPr>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算法必须有详细的说明</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并易于理解</a:t>
            </a:r>
          </a:p>
          <a:p>
            <a:pPr eaLnBrk="1" hangingPunct="1">
              <a:lnSpc>
                <a:spcPct val="105000"/>
              </a:lnSpc>
              <a:buFont typeface="Wingdings" pitchFamily="2" charset="2"/>
              <a:buNone/>
            </a:pPr>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算法的安全性取决于密钥</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不依赖于算法</a:t>
            </a:r>
          </a:p>
          <a:p>
            <a:pPr eaLnBrk="1" hangingPunct="1">
              <a:lnSpc>
                <a:spcPct val="105000"/>
              </a:lnSpc>
              <a:buFont typeface="Wingdings" pitchFamily="2" charset="2"/>
              <a:buNone/>
            </a:pPr>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算法适用于所有用户</a:t>
            </a:r>
          </a:p>
          <a:p>
            <a:pPr eaLnBrk="1" hangingPunct="1">
              <a:lnSpc>
                <a:spcPct val="105000"/>
              </a:lnSpc>
              <a:buFont typeface="Wingdings" pitchFamily="2" charset="2"/>
              <a:buNone/>
            </a:pPr>
            <a:r>
              <a:rPr lang="en-US" altLang="zh-CN">
                <a:latin typeface="楷体_GB2312" pitchFamily="49" charset="-122"/>
                <a:ea typeface="楷体_GB2312" pitchFamily="49" charset="-122"/>
              </a:rPr>
              <a:t>(5)</a:t>
            </a:r>
            <a:r>
              <a:rPr lang="zh-CN" altLang="en-US">
                <a:latin typeface="楷体_GB2312" pitchFamily="49" charset="-122"/>
                <a:ea typeface="楷体_GB2312" pitchFamily="49" charset="-122"/>
              </a:rPr>
              <a:t>算法适用于不同应用场合</a:t>
            </a:r>
          </a:p>
          <a:p>
            <a:pPr eaLnBrk="1" hangingPunct="1">
              <a:lnSpc>
                <a:spcPct val="105000"/>
              </a:lnSpc>
              <a:buFont typeface="Wingdings" pitchFamily="2" charset="2"/>
              <a:buNone/>
            </a:pPr>
            <a:r>
              <a:rPr lang="en-US" altLang="zh-CN">
                <a:latin typeface="楷体_GB2312" pitchFamily="49" charset="-122"/>
                <a:ea typeface="楷体_GB2312" pitchFamily="49" charset="-122"/>
              </a:rPr>
              <a:t>(6)</a:t>
            </a:r>
            <a:r>
              <a:rPr lang="zh-CN" altLang="en-US">
                <a:latin typeface="楷体_GB2312" pitchFamily="49" charset="-122"/>
                <a:ea typeface="楷体_GB2312" pitchFamily="49" charset="-122"/>
              </a:rPr>
              <a:t>算法必须高效、经济</a:t>
            </a:r>
          </a:p>
          <a:p>
            <a:pPr eaLnBrk="1" hangingPunct="1">
              <a:lnSpc>
                <a:spcPct val="105000"/>
              </a:lnSpc>
              <a:buFont typeface="Wingdings" pitchFamily="2" charset="2"/>
              <a:buNone/>
            </a:pPr>
            <a:r>
              <a:rPr lang="en-US" altLang="zh-CN">
                <a:latin typeface="楷体_GB2312" pitchFamily="49" charset="-122"/>
                <a:ea typeface="楷体_GB2312" pitchFamily="49" charset="-122"/>
              </a:rPr>
              <a:t>(7)</a:t>
            </a:r>
            <a:r>
              <a:rPr lang="zh-CN" altLang="en-US">
                <a:latin typeface="楷体_GB2312" pitchFamily="49" charset="-122"/>
                <a:ea typeface="楷体_GB2312" pitchFamily="49" charset="-122"/>
              </a:rPr>
              <a:t>算法必须能被证实有效</a:t>
            </a:r>
          </a:p>
          <a:p>
            <a:pPr eaLnBrk="1" hangingPunct="1">
              <a:lnSpc>
                <a:spcPct val="105000"/>
              </a:lnSpc>
              <a:buFont typeface="Wingdings" pitchFamily="2" charset="2"/>
              <a:buNone/>
            </a:pPr>
            <a:r>
              <a:rPr lang="en-US" altLang="zh-CN">
                <a:latin typeface="楷体_GB2312" pitchFamily="49" charset="-122"/>
                <a:ea typeface="楷体_GB2312" pitchFamily="49" charset="-122"/>
              </a:rPr>
              <a:t>(8)</a:t>
            </a:r>
            <a:r>
              <a:rPr lang="zh-CN" altLang="en-US">
                <a:latin typeface="楷体_GB2312" pitchFamily="49" charset="-122"/>
                <a:ea typeface="楷体_GB2312" pitchFamily="49" charset="-122"/>
              </a:rPr>
              <a:t>算法必须是可出口的</a:t>
            </a:r>
          </a:p>
          <a:p>
            <a:pPr eaLnBrk="1" hangingPunct="1">
              <a:lnSpc>
                <a:spcPct val="80000"/>
              </a:lnSpc>
              <a:buFont typeface="Wingdings" pitchFamily="2" charset="2"/>
              <a:buNone/>
            </a:pPr>
            <a:endParaRPr lang="zh-CN" altLang="en-US">
              <a:latin typeface="楷体_GB2312" pitchFamily="49" charset="-122"/>
              <a:ea typeface="楷体_GB2312" pitchFamily="49" charset="-122"/>
            </a:endParaRPr>
          </a:p>
          <a:p>
            <a:pPr eaLnBrk="1" hangingPunct="1">
              <a:lnSpc>
                <a:spcPct val="80000"/>
              </a:lnSpc>
            </a:pPr>
            <a:endParaRPr lang="en-US" altLang="zh-CN"/>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7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27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27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27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27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2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965DD0A-299C-AA4D-8403-9F77C3767B9F}"/>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FF3300"/>
                </a:solidFill>
              </a:rPr>
              <a:t>美国制定数据加密标准简况</a:t>
            </a:r>
          </a:p>
        </p:txBody>
      </p:sp>
      <p:sp>
        <p:nvSpPr>
          <p:cNvPr id="55299" name="Rectangle 3">
            <a:extLst>
              <a:ext uri="{FF2B5EF4-FFF2-40B4-BE49-F238E27FC236}">
                <a16:creationId xmlns:a16="http://schemas.microsoft.com/office/drawing/2014/main" id="{B839F371-DD8A-1E46-9093-D947D8B64C6E}"/>
              </a:ext>
            </a:extLst>
          </p:cNvPr>
          <p:cNvSpPr>
            <a:spLocks noGrp="1" noChangeArrowheads="1"/>
          </p:cNvSpPr>
          <p:nvPr>
            <p:ph idx="1"/>
          </p:nvPr>
        </p:nvSpPr>
        <p:spPr>
          <a:xfrm>
            <a:off x="823913" y="1465263"/>
            <a:ext cx="10515600" cy="4579937"/>
          </a:xfrm>
        </p:spPr>
        <p:txBody>
          <a:bodyPr/>
          <a:lstStyle/>
          <a:p>
            <a:pPr algn="just" eaLnBrk="1" hangingPunct="1">
              <a:spcAft>
                <a:spcPts val="600"/>
              </a:spcAft>
            </a:pPr>
            <a:r>
              <a:rPr lang="en-US" altLang="zh-CN">
                <a:latin typeface="Times New Roman" panose="02020603050405020304" pitchFamily="18" charset="0"/>
              </a:rPr>
              <a:t>IBM</a:t>
            </a:r>
            <a:r>
              <a:rPr lang="zh-CN" altLang="en-US">
                <a:latin typeface="Times New Roman" panose="02020603050405020304" pitchFamily="18" charset="0"/>
              </a:rPr>
              <a:t>公司在</a:t>
            </a:r>
            <a:r>
              <a:rPr lang="en-US" altLang="zh-CN">
                <a:latin typeface="Times New Roman" panose="02020603050405020304" pitchFamily="18" charset="0"/>
              </a:rPr>
              <a:t>1971</a:t>
            </a:r>
            <a:r>
              <a:rPr lang="zh-CN" altLang="en-US">
                <a:latin typeface="Times New Roman" panose="02020603050405020304" pitchFamily="18" charset="0"/>
              </a:rPr>
              <a:t>年完成的</a:t>
            </a:r>
            <a:r>
              <a:rPr lang="en-US" altLang="zh-CN">
                <a:latin typeface="Times New Roman" panose="02020603050405020304" pitchFamily="18" charset="0"/>
              </a:rPr>
              <a:t>LUCIFER</a:t>
            </a:r>
            <a:r>
              <a:rPr lang="zh-CN" altLang="en-US">
                <a:latin typeface="Times New Roman" panose="02020603050405020304" pitchFamily="18" charset="0"/>
              </a:rPr>
              <a:t>密码 </a:t>
            </a:r>
            <a:r>
              <a:rPr lang="en-US" altLang="zh-CN">
                <a:latin typeface="Times New Roman" panose="02020603050405020304" pitchFamily="18" charset="0"/>
              </a:rPr>
              <a:t>(64 bit</a:t>
            </a:r>
            <a:r>
              <a:rPr lang="zh-CN" altLang="en-US">
                <a:latin typeface="Times New Roman" panose="02020603050405020304" pitchFamily="18" charset="0"/>
              </a:rPr>
              <a:t>分组，代换</a:t>
            </a:r>
            <a:r>
              <a:rPr lang="en-US" altLang="zh-CN">
                <a:latin typeface="Times New Roman" panose="02020603050405020304" pitchFamily="18" charset="0"/>
              </a:rPr>
              <a:t>-</a:t>
            </a:r>
            <a:r>
              <a:rPr lang="zh-CN" altLang="en-US">
                <a:latin typeface="Times New Roman" panose="02020603050405020304" pitchFamily="18" charset="0"/>
              </a:rPr>
              <a:t>置换，</a:t>
            </a:r>
            <a:r>
              <a:rPr lang="en-US" altLang="zh-CN">
                <a:latin typeface="Times New Roman" panose="02020603050405020304" pitchFamily="18" charset="0"/>
              </a:rPr>
              <a:t>128 bit</a:t>
            </a:r>
            <a:r>
              <a:rPr lang="zh-CN" altLang="en-US">
                <a:latin typeface="Times New Roman" panose="02020603050405020304" pitchFamily="18" charset="0"/>
              </a:rPr>
              <a:t>密钥</a:t>
            </a:r>
            <a:r>
              <a:rPr lang="en-US" altLang="zh-CN">
                <a:latin typeface="Times New Roman" panose="02020603050405020304" pitchFamily="18" charset="0"/>
              </a:rPr>
              <a:t>)</a:t>
            </a:r>
            <a:r>
              <a:rPr lang="zh-CN" altLang="en-US">
                <a:latin typeface="Times New Roman" panose="02020603050405020304" pitchFamily="18" charset="0"/>
              </a:rPr>
              <a:t>的基础上，改进成为建议的</a:t>
            </a:r>
            <a:r>
              <a:rPr lang="en-US" altLang="zh-CN">
                <a:latin typeface="Times New Roman" panose="02020603050405020304" pitchFamily="18" charset="0"/>
              </a:rPr>
              <a:t>DES</a:t>
            </a:r>
            <a:r>
              <a:rPr lang="zh-CN" altLang="en-US">
                <a:latin typeface="Times New Roman" panose="02020603050405020304" pitchFamily="18" charset="0"/>
              </a:rPr>
              <a:t>体制</a:t>
            </a:r>
          </a:p>
          <a:p>
            <a:pPr algn="just" eaLnBrk="1" hangingPunct="1">
              <a:spcAft>
                <a:spcPts val="600"/>
              </a:spcAft>
            </a:pPr>
            <a:r>
              <a:rPr lang="en-US" altLang="zh-CN">
                <a:latin typeface="Times New Roman" panose="02020603050405020304" pitchFamily="18" charset="0"/>
              </a:rPr>
              <a:t>1975</a:t>
            </a:r>
            <a:r>
              <a:rPr lang="zh-CN" altLang="en-US">
                <a:latin typeface="Times New Roman" panose="02020603050405020304" pitchFamily="18" charset="0"/>
              </a:rPr>
              <a:t>年</a:t>
            </a:r>
            <a:r>
              <a:rPr lang="en-US" altLang="zh-CN">
                <a:latin typeface="Times New Roman" panose="02020603050405020304" pitchFamily="18" charset="0"/>
              </a:rPr>
              <a:t>3</a:t>
            </a:r>
            <a:r>
              <a:rPr lang="zh-CN" altLang="en-US">
                <a:latin typeface="Times New Roman" panose="02020603050405020304" pitchFamily="18" charset="0"/>
              </a:rPr>
              <a:t>月</a:t>
            </a:r>
            <a:r>
              <a:rPr lang="en-US" altLang="zh-CN">
                <a:latin typeface="Times New Roman" panose="02020603050405020304" pitchFamily="18" charset="0"/>
              </a:rPr>
              <a:t>17</a:t>
            </a:r>
            <a:r>
              <a:rPr lang="zh-CN" altLang="en-US">
                <a:latin typeface="Times New Roman" panose="02020603050405020304" pitchFamily="18" charset="0"/>
              </a:rPr>
              <a:t>日</a:t>
            </a:r>
            <a:r>
              <a:rPr lang="en-US" altLang="zh-CN">
                <a:latin typeface="Times New Roman" panose="02020603050405020304" pitchFamily="18" charset="0"/>
              </a:rPr>
              <a:t>NBS</a:t>
            </a:r>
            <a:r>
              <a:rPr lang="zh-CN" altLang="en-US">
                <a:latin typeface="Times New Roman" panose="02020603050405020304" pitchFamily="18" charset="0"/>
              </a:rPr>
              <a:t>公布了这个算法，并说明要以它作为联邦信息处理标准，征求各方意见。</a:t>
            </a:r>
          </a:p>
          <a:p>
            <a:pPr algn="just" eaLnBrk="1" hangingPunct="1">
              <a:spcAft>
                <a:spcPts val="600"/>
              </a:spcAft>
            </a:pPr>
            <a:r>
              <a:rPr lang="en-US" altLang="zh-CN">
                <a:latin typeface="Times New Roman" panose="02020603050405020304" pitchFamily="18" charset="0"/>
              </a:rPr>
              <a:t>1977</a:t>
            </a:r>
            <a:r>
              <a:rPr lang="zh-CN" altLang="en-US">
                <a:latin typeface="Times New Roman" panose="02020603050405020304" pitchFamily="18" charset="0"/>
              </a:rPr>
              <a:t>年</a:t>
            </a:r>
            <a:r>
              <a:rPr lang="en-US" altLang="zh-CN">
                <a:latin typeface="Times New Roman" panose="02020603050405020304" pitchFamily="18" charset="0"/>
              </a:rPr>
              <a:t>1</a:t>
            </a:r>
            <a:r>
              <a:rPr lang="zh-CN" altLang="en-US">
                <a:latin typeface="Times New Roman" panose="02020603050405020304" pitchFamily="18" charset="0"/>
              </a:rPr>
              <a:t>月</a:t>
            </a:r>
            <a:r>
              <a:rPr lang="en-US" altLang="zh-CN">
                <a:latin typeface="Times New Roman" panose="02020603050405020304" pitchFamily="18" charset="0"/>
              </a:rPr>
              <a:t>15</a:t>
            </a:r>
            <a:r>
              <a:rPr lang="zh-CN" altLang="en-US">
                <a:latin typeface="Times New Roman" panose="02020603050405020304" pitchFamily="18" charset="0"/>
              </a:rPr>
              <a:t>日建议被批准为</a:t>
            </a:r>
            <a:r>
              <a:rPr lang="zh-CN" altLang="en-US" u="sng">
                <a:latin typeface="Times New Roman" panose="02020603050405020304" pitchFamily="18" charset="0"/>
              </a:rPr>
              <a:t>联邦标准</a:t>
            </a:r>
            <a:r>
              <a:rPr lang="en-US" altLang="zh-CN" u="sng">
                <a:latin typeface="Times New Roman" panose="02020603050405020304" pitchFamily="18" charset="0"/>
              </a:rPr>
              <a:t>[FIPS PUB 46]</a:t>
            </a:r>
            <a:r>
              <a:rPr lang="zh-CN" altLang="en-US">
                <a:latin typeface="Times New Roman" panose="02020603050405020304" pitchFamily="18" charset="0"/>
              </a:rPr>
              <a:t>，并设计推出</a:t>
            </a:r>
            <a:r>
              <a:rPr lang="en-US" altLang="zh-CN">
                <a:latin typeface="Times New Roman" panose="02020603050405020304" pitchFamily="18" charset="0"/>
              </a:rPr>
              <a:t>DES</a:t>
            </a:r>
            <a:r>
              <a:rPr lang="zh-CN" altLang="en-US">
                <a:latin typeface="Times New Roman" panose="02020603050405020304" pitchFamily="18" charset="0"/>
              </a:rPr>
              <a:t>芯片。</a:t>
            </a:r>
          </a:p>
          <a:p>
            <a:pPr algn="just" eaLnBrk="1" hangingPunct="1">
              <a:spcAft>
                <a:spcPts val="600"/>
              </a:spcAft>
            </a:pPr>
            <a:r>
              <a:rPr lang="en-US" altLang="zh-CN">
                <a:latin typeface="Times New Roman" panose="02020603050405020304" pitchFamily="18" charset="0"/>
              </a:rPr>
              <a:t>1981</a:t>
            </a:r>
            <a:r>
              <a:rPr lang="zh-CN" altLang="en-US">
                <a:latin typeface="Times New Roman" panose="02020603050405020304" pitchFamily="18" charset="0"/>
              </a:rPr>
              <a:t>年</a:t>
            </a:r>
            <a:r>
              <a:rPr lang="zh-CN" altLang="en-US" u="sng">
                <a:latin typeface="Times New Roman" panose="02020603050405020304" pitchFamily="18" charset="0"/>
              </a:rPr>
              <a:t>美国国家标准学会</a:t>
            </a:r>
            <a:r>
              <a:rPr lang="en-US" altLang="zh-CN" u="sng">
                <a:latin typeface="Times New Roman" panose="02020603050405020304" pitchFamily="18" charset="0"/>
              </a:rPr>
              <a:t>ANSI </a:t>
            </a:r>
            <a:r>
              <a:rPr lang="zh-CN" altLang="en-US">
                <a:latin typeface="Times New Roman" panose="02020603050405020304" pitchFamily="18" charset="0"/>
              </a:rPr>
              <a:t>将其作为标准，称之为</a:t>
            </a:r>
            <a:r>
              <a:rPr lang="en-US" altLang="zh-CN" u="sng">
                <a:latin typeface="Times New Roman" panose="02020603050405020304" pitchFamily="18" charset="0"/>
              </a:rPr>
              <a:t>DEA[ANSI X3.92]</a:t>
            </a:r>
          </a:p>
          <a:p>
            <a:pPr algn="just" eaLnBrk="1" hangingPunct="1">
              <a:spcAft>
                <a:spcPts val="600"/>
              </a:spcAft>
            </a:pPr>
            <a:r>
              <a:rPr lang="en-US" altLang="zh-CN">
                <a:latin typeface="Times New Roman" panose="02020603050405020304" pitchFamily="18" charset="0"/>
              </a:rPr>
              <a:t>1983</a:t>
            </a:r>
            <a:r>
              <a:rPr lang="zh-CN" altLang="en-US">
                <a:latin typeface="Times New Roman" panose="02020603050405020304" pitchFamily="18" charset="0"/>
              </a:rPr>
              <a:t>年</a:t>
            </a:r>
            <a:r>
              <a:rPr lang="zh-CN" altLang="en-US" u="sng">
                <a:latin typeface="Times New Roman" panose="02020603050405020304" pitchFamily="18" charset="0"/>
              </a:rPr>
              <a:t>国际标准化组织</a:t>
            </a:r>
            <a:r>
              <a:rPr lang="en-US" altLang="zh-CN" u="sng">
                <a:latin typeface="Times New Roman" panose="02020603050405020304" pitchFamily="18" charset="0"/>
              </a:rPr>
              <a:t>(ISO)</a:t>
            </a:r>
            <a:r>
              <a:rPr lang="zh-CN" altLang="en-US">
                <a:latin typeface="Times New Roman" panose="02020603050405020304" pitchFamily="18" charset="0"/>
              </a:rPr>
              <a:t>采用它作为标准，称作</a:t>
            </a:r>
            <a:r>
              <a:rPr lang="en-US" altLang="zh-CN" u="sng">
                <a:latin typeface="Times New Roman" panose="02020603050405020304" pitchFamily="18" charset="0"/>
              </a:rPr>
              <a:t>DEA-1</a:t>
            </a:r>
          </a:p>
          <a:p>
            <a:pPr eaLnBrk="1" hangingPunct="1">
              <a:spcAft>
                <a:spcPts val="600"/>
              </a:spcAft>
              <a:buFont typeface="Arial" panose="020B0604020202020204" pitchFamily="34" charset="0"/>
              <a:buNone/>
            </a:pPr>
            <a:r>
              <a:rPr lang="en-US" altLang="zh-CN" sz="2800">
                <a:latin typeface="Times New Roman" panose="02020603050405020304" pitchFamily="18" charset="0"/>
              </a:rPr>
              <a:t>     </a:t>
            </a:r>
          </a:p>
          <a:p>
            <a:pPr algn="just" eaLnBrk="1" hangingPunct="1">
              <a:spcAft>
                <a:spcPts val="600"/>
              </a:spcAft>
              <a:buFont typeface="Arial" panose="020B0604020202020204" pitchFamily="34" charset="0"/>
              <a:buNone/>
            </a:pPr>
            <a:endParaRPr lang="en-US" altLang="zh-CN" sz="2800">
              <a:latin typeface="Times New Roman" panose="02020603050405020304" pitchFamily="18" charset="0"/>
            </a:endParaRPr>
          </a:p>
        </p:txBody>
      </p:sp>
      <p:sp>
        <p:nvSpPr>
          <p:cNvPr id="140291" name="Text Box 4">
            <a:extLst>
              <a:ext uri="{FF2B5EF4-FFF2-40B4-BE49-F238E27FC236}">
                <a16:creationId xmlns:a16="http://schemas.microsoft.com/office/drawing/2014/main" id="{8A5C912A-2F9F-2C42-9A8A-18C3CC08591E}"/>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0292" name="Text Box 5">
            <a:extLst>
              <a:ext uri="{FF2B5EF4-FFF2-40B4-BE49-F238E27FC236}">
                <a16:creationId xmlns:a16="http://schemas.microsoft.com/office/drawing/2014/main" id="{5215D44C-1E2D-C846-B007-B145362973E4}"/>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0293" name="Text Box 6">
            <a:extLst>
              <a:ext uri="{FF2B5EF4-FFF2-40B4-BE49-F238E27FC236}">
                <a16:creationId xmlns:a16="http://schemas.microsoft.com/office/drawing/2014/main" id="{30E35453-43CE-564A-9B3C-34418505A20D}"/>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0294" name="Text Box 7">
            <a:extLst>
              <a:ext uri="{FF2B5EF4-FFF2-40B4-BE49-F238E27FC236}">
                <a16:creationId xmlns:a16="http://schemas.microsoft.com/office/drawing/2014/main" id="{E7429DBA-2E21-EE4A-A971-425B0904F1C4}"/>
              </a:ext>
            </a:extLst>
          </p:cNvPr>
          <p:cNvSpPr txBox="1">
            <a:spLocks noChangeArrowheads="1"/>
          </p:cNvSpPr>
          <p:nvPr/>
        </p:nvSpPr>
        <p:spPr bwMode="auto">
          <a:xfrm>
            <a:off x="434340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0295" name="Text Box 8">
            <a:extLst>
              <a:ext uri="{FF2B5EF4-FFF2-40B4-BE49-F238E27FC236}">
                <a16:creationId xmlns:a16="http://schemas.microsoft.com/office/drawing/2014/main" id="{2A1955CC-1950-D74A-AC8A-1D3C306BCFBA}"/>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0296" name="Text Box 9">
            <a:extLst>
              <a:ext uri="{FF2B5EF4-FFF2-40B4-BE49-F238E27FC236}">
                <a16:creationId xmlns:a16="http://schemas.microsoft.com/office/drawing/2014/main" id="{F08FD2EB-3E46-F440-AE4D-22638DF005F8}"/>
              </a:ext>
            </a:extLst>
          </p:cNvPr>
          <p:cNvSpPr txBox="1">
            <a:spLocks noChangeArrowheads="1"/>
          </p:cNvSpPr>
          <p:nvPr/>
        </p:nvSpPr>
        <p:spPr bwMode="auto">
          <a:xfrm>
            <a:off x="3336925" y="436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0297" name="Text Box 10">
            <a:extLst>
              <a:ext uri="{FF2B5EF4-FFF2-40B4-BE49-F238E27FC236}">
                <a16:creationId xmlns:a16="http://schemas.microsoft.com/office/drawing/2014/main" id="{6246A6DC-B8E3-104C-BD93-1F6F9655C9E5}"/>
              </a:ext>
            </a:extLst>
          </p:cNvPr>
          <p:cNvSpPr txBox="1">
            <a:spLocks noChangeArrowheads="1"/>
          </p:cNvSpPr>
          <p:nvPr/>
        </p:nvSpPr>
        <p:spPr bwMode="auto">
          <a:xfrm>
            <a:off x="3108325" y="4821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2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2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1AC7D115-014B-024F-AD88-6A9D46B1D2CB}"/>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FF3300"/>
                </a:solidFill>
              </a:rPr>
              <a:t>美国制定数据加密标准简况</a:t>
            </a:r>
          </a:p>
        </p:txBody>
      </p:sp>
      <p:sp>
        <p:nvSpPr>
          <p:cNvPr id="56323" name="Rectangle 3">
            <a:extLst>
              <a:ext uri="{FF2B5EF4-FFF2-40B4-BE49-F238E27FC236}">
                <a16:creationId xmlns:a16="http://schemas.microsoft.com/office/drawing/2014/main" id="{8D9CE24B-05D2-DF45-907E-9A27EBC74E65}"/>
              </a:ext>
            </a:extLst>
          </p:cNvPr>
          <p:cNvSpPr>
            <a:spLocks noGrp="1" noChangeArrowheads="1"/>
          </p:cNvSpPr>
          <p:nvPr>
            <p:ph idx="1"/>
          </p:nvPr>
        </p:nvSpPr>
        <p:spPr>
          <a:xfrm>
            <a:off x="823913" y="1465263"/>
            <a:ext cx="10515600" cy="4579937"/>
          </a:xfrm>
        </p:spPr>
        <p:txBody>
          <a:bodyPr/>
          <a:lstStyle/>
          <a:p>
            <a:pPr algn="just" eaLnBrk="1" hangingPunct="1">
              <a:lnSpc>
                <a:spcPct val="120000"/>
              </a:lnSpc>
              <a:spcAft>
                <a:spcPts val="600"/>
              </a:spcAft>
            </a:pPr>
            <a:r>
              <a:rPr lang="en-US" altLang="zh-CN">
                <a:latin typeface="Times New Roman" panose="02020603050405020304" pitchFamily="18" charset="0"/>
              </a:rPr>
              <a:t>NSA</a:t>
            </a:r>
            <a:r>
              <a:rPr lang="zh-CN" altLang="en-US">
                <a:latin typeface="Times New Roman" panose="02020603050405020304" pitchFamily="18" charset="0"/>
              </a:rPr>
              <a:t>宣布每隔</a:t>
            </a:r>
            <a:r>
              <a:rPr lang="en-US" altLang="zh-CN">
                <a:latin typeface="Times New Roman" panose="02020603050405020304" pitchFamily="18" charset="0"/>
              </a:rPr>
              <a:t>5</a:t>
            </a:r>
            <a:r>
              <a:rPr lang="zh-CN" altLang="en-US">
                <a:latin typeface="Times New Roman" panose="02020603050405020304" pitchFamily="18" charset="0"/>
              </a:rPr>
              <a:t>年重新审议</a:t>
            </a:r>
            <a:r>
              <a:rPr lang="en-US" altLang="zh-CN">
                <a:latin typeface="Times New Roman" panose="02020603050405020304" pitchFamily="18" charset="0"/>
              </a:rPr>
              <a:t>DES</a:t>
            </a:r>
            <a:r>
              <a:rPr lang="zh-CN" altLang="en-US">
                <a:latin typeface="Times New Roman" panose="02020603050405020304" pitchFamily="18" charset="0"/>
              </a:rPr>
              <a:t>是否继续作为联邦标准，</a:t>
            </a:r>
            <a:r>
              <a:rPr lang="en-US" altLang="zh-CN" u="sng">
                <a:latin typeface="Times New Roman" panose="02020603050405020304" pitchFamily="18" charset="0"/>
              </a:rPr>
              <a:t>1988</a:t>
            </a:r>
            <a:r>
              <a:rPr lang="zh-CN" altLang="en-US" u="sng">
                <a:latin typeface="Times New Roman" panose="02020603050405020304" pitchFamily="18" charset="0"/>
              </a:rPr>
              <a:t>年（</a:t>
            </a:r>
            <a:r>
              <a:rPr lang="en-US" altLang="zh-CN" u="sng">
                <a:latin typeface="Times New Roman" panose="02020603050405020304" pitchFamily="18" charset="0"/>
              </a:rPr>
              <a:t>FIPS46-1</a:t>
            </a:r>
            <a:r>
              <a:rPr lang="zh-CN" altLang="en-US" u="sng">
                <a:latin typeface="Times New Roman" panose="02020603050405020304" pitchFamily="18" charset="0"/>
              </a:rPr>
              <a:t>）、</a:t>
            </a:r>
            <a:r>
              <a:rPr lang="en-US" altLang="zh-CN" u="sng">
                <a:latin typeface="Times New Roman" panose="02020603050405020304" pitchFamily="18" charset="0"/>
              </a:rPr>
              <a:t>1993</a:t>
            </a:r>
            <a:r>
              <a:rPr lang="zh-CN" altLang="en-US" u="sng">
                <a:latin typeface="Times New Roman" panose="02020603050405020304" pitchFamily="18" charset="0"/>
              </a:rPr>
              <a:t>年</a:t>
            </a:r>
            <a:r>
              <a:rPr lang="zh-CN" altLang="zh-CN" u="sng">
                <a:latin typeface="Times New Roman" panose="02020603050405020304" pitchFamily="18" charset="0"/>
              </a:rPr>
              <a:t>（</a:t>
            </a:r>
            <a:r>
              <a:rPr lang="en-US" altLang="zh-CN" u="sng">
                <a:latin typeface="Times New Roman" panose="02020603050405020304" pitchFamily="18" charset="0"/>
              </a:rPr>
              <a:t>FIPS46-2</a:t>
            </a:r>
            <a:r>
              <a:rPr lang="zh-CN" altLang="en-US" u="sng">
                <a:latin typeface="Times New Roman" panose="02020603050405020304" pitchFamily="18" charset="0"/>
              </a:rPr>
              <a:t>），</a:t>
            </a:r>
            <a:r>
              <a:rPr lang="en-US" altLang="zh-CN" u="sng">
                <a:latin typeface="Times New Roman" panose="02020603050405020304" pitchFamily="18" charset="0"/>
              </a:rPr>
              <a:t>1998</a:t>
            </a:r>
            <a:r>
              <a:rPr lang="zh-CN" altLang="en-US" u="sng">
                <a:latin typeface="Times New Roman" panose="02020603050405020304" pitchFamily="18" charset="0"/>
              </a:rPr>
              <a:t>年不再重新批准</a:t>
            </a:r>
            <a:r>
              <a:rPr lang="en-US" altLang="zh-CN" u="sng">
                <a:latin typeface="Times New Roman" panose="02020603050405020304" pitchFamily="18" charset="0"/>
              </a:rPr>
              <a:t>DES</a:t>
            </a:r>
            <a:r>
              <a:rPr lang="zh-CN" altLang="en-US" u="sng">
                <a:latin typeface="Times New Roman" panose="02020603050405020304" pitchFamily="18" charset="0"/>
              </a:rPr>
              <a:t>为联邦标准</a:t>
            </a:r>
            <a:r>
              <a:rPr lang="zh-CN" altLang="en-US">
                <a:latin typeface="Times New Roman" panose="02020603050405020304" pitchFamily="18" charset="0"/>
              </a:rPr>
              <a:t>。</a:t>
            </a:r>
          </a:p>
          <a:p>
            <a:pPr algn="just" eaLnBrk="1" hangingPunct="1">
              <a:lnSpc>
                <a:spcPct val="120000"/>
              </a:lnSpc>
              <a:spcAft>
                <a:spcPts val="600"/>
              </a:spcAft>
            </a:pPr>
            <a:r>
              <a:rPr lang="zh-CN" altLang="en-US">
                <a:latin typeface="Times New Roman" panose="02020603050405020304" pitchFamily="18" charset="0"/>
              </a:rPr>
              <a:t>虽然</a:t>
            </a:r>
            <a:r>
              <a:rPr lang="en-US" altLang="zh-CN">
                <a:latin typeface="Times New Roman" panose="02020603050405020304" pitchFamily="18" charset="0"/>
              </a:rPr>
              <a:t>DES</a:t>
            </a:r>
            <a:r>
              <a:rPr lang="zh-CN" altLang="en-US">
                <a:latin typeface="Times New Roman" panose="02020603050405020304" pitchFamily="18" charset="0"/>
              </a:rPr>
              <a:t>已有替代的数据加密标准算法，但它仍是迄今为止得到</a:t>
            </a:r>
            <a:r>
              <a:rPr lang="zh-CN" altLang="en-US" u="sng">
                <a:latin typeface="Times New Roman" panose="02020603050405020304" pitchFamily="18" charset="0"/>
              </a:rPr>
              <a:t>最广泛应用</a:t>
            </a:r>
            <a:r>
              <a:rPr lang="zh-CN" altLang="en-US">
                <a:latin typeface="Times New Roman" panose="02020603050405020304" pitchFamily="18" charset="0"/>
              </a:rPr>
              <a:t>的一种算法，也是一种最有代表性的分组加密体制。</a:t>
            </a:r>
          </a:p>
          <a:p>
            <a:pPr algn="just" eaLnBrk="1" hangingPunct="1">
              <a:lnSpc>
                <a:spcPct val="120000"/>
              </a:lnSpc>
              <a:spcAft>
                <a:spcPts val="600"/>
              </a:spcAft>
            </a:pPr>
            <a:r>
              <a:rPr lang="en-US" altLang="zh-CN">
                <a:latin typeface="Times New Roman" panose="02020603050405020304" pitchFamily="18" charset="0"/>
              </a:rPr>
              <a:t>1993</a:t>
            </a:r>
            <a:r>
              <a:rPr lang="zh-CN" altLang="en-US">
                <a:latin typeface="Times New Roman" panose="02020603050405020304" pitchFamily="18" charset="0"/>
              </a:rPr>
              <a:t>年</a:t>
            </a:r>
            <a:r>
              <a:rPr lang="en-US" altLang="zh-CN">
                <a:latin typeface="Times New Roman" panose="02020603050405020304" pitchFamily="18" charset="0"/>
              </a:rPr>
              <a:t>4</a:t>
            </a:r>
            <a:r>
              <a:rPr lang="zh-CN" altLang="en-US">
                <a:latin typeface="Times New Roman" panose="02020603050405020304" pitchFamily="18" charset="0"/>
              </a:rPr>
              <a:t>月，</a:t>
            </a:r>
            <a:r>
              <a:rPr lang="en-US" altLang="zh-CN">
                <a:latin typeface="Times New Roman" panose="02020603050405020304" pitchFamily="18" charset="0"/>
              </a:rPr>
              <a:t>Clinton</a:t>
            </a:r>
            <a:r>
              <a:rPr lang="zh-CN" altLang="en-US">
                <a:latin typeface="Times New Roman" panose="02020603050405020304" pitchFamily="18" charset="0"/>
              </a:rPr>
              <a:t>政府公布了一项建议的加密技术标准，称作</a:t>
            </a:r>
            <a:r>
              <a:rPr lang="zh-CN" altLang="en-US" u="sng">
                <a:latin typeface="Times New Roman" panose="02020603050405020304" pitchFamily="18" charset="0"/>
              </a:rPr>
              <a:t>密钥托管加密技术标准</a:t>
            </a:r>
            <a:r>
              <a:rPr lang="en-US" altLang="zh-CN" u="sng">
                <a:latin typeface="Times New Roman" panose="02020603050405020304" pitchFamily="18" charset="0"/>
              </a:rPr>
              <a:t>EES</a:t>
            </a:r>
            <a:r>
              <a:rPr lang="en-US" altLang="zh-CN">
                <a:latin typeface="Times New Roman" panose="02020603050405020304" pitchFamily="18" charset="0"/>
              </a:rPr>
              <a:t>(Escrowed Encryption Standard)</a:t>
            </a:r>
            <a:r>
              <a:rPr lang="zh-CN" altLang="en-US">
                <a:latin typeface="Times New Roman" panose="02020603050405020304" pitchFamily="18" charset="0"/>
              </a:rPr>
              <a:t>。算法属美国政府</a:t>
            </a:r>
            <a:r>
              <a:rPr lang="en-US" altLang="zh-CN">
                <a:latin typeface="Times New Roman" panose="02020603050405020304" pitchFamily="18" charset="0"/>
              </a:rPr>
              <a:t>SECRET</a:t>
            </a:r>
            <a:r>
              <a:rPr lang="zh-CN" altLang="en-US">
                <a:latin typeface="Times New Roman" panose="02020603050405020304" pitchFamily="18" charset="0"/>
              </a:rPr>
              <a:t>密级。</a:t>
            </a:r>
          </a:p>
        </p:txBody>
      </p:sp>
      <p:sp>
        <p:nvSpPr>
          <p:cNvPr id="142339" name="Text Box 4">
            <a:extLst>
              <a:ext uri="{FF2B5EF4-FFF2-40B4-BE49-F238E27FC236}">
                <a16:creationId xmlns:a16="http://schemas.microsoft.com/office/drawing/2014/main" id="{864334C4-699D-7649-B276-F41433252675}"/>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2340" name="Text Box 5">
            <a:extLst>
              <a:ext uri="{FF2B5EF4-FFF2-40B4-BE49-F238E27FC236}">
                <a16:creationId xmlns:a16="http://schemas.microsoft.com/office/drawing/2014/main" id="{2B126057-F456-E343-9273-EE5A2BBC65CE}"/>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2341" name="Text Box 6">
            <a:extLst>
              <a:ext uri="{FF2B5EF4-FFF2-40B4-BE49-F238E27FC236}">
                <a16:creationId xmlns:a16="http://schemas.microsoft.com/office/drawing/2014/main" id="{9FD408CC-4484-834C-8361-788DCD68C47F}"/>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2342" name="Text Box 7">
            <a:extLst>
              <a:ext uri="{FF2B5EF4-FFF2-40B4-BE49-F238E27FC236}">
                <a16:creationId xmlns:a16="http://schemas.microsoft.com/office/drawing/2014/main" id="{94A113DA-0747-BF4B-AD20-1838FEB24E15}"/>
              </a:ext>
            </a:extLst>
          </p:cNvPr>
          <p:cNvSpPr txBox="1">
            <a:spLocks noChangeArrowheads="1"/>
          </p:cNvSpPr>
          <p:nvPr/>
        </p:nvSpPr>
        <p:spPr bwMode="auto">
          <a:xfrm>
            <a:off x="434340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2343" name="Text Box 8">
            <a:extLst>
              <a:ext uri="{FF2B5EF4-FFF2-40B4-BE49-F238E27FC236}">
                <a16:creationId xmlns:a16="http://schemas.microsoft.com/office/drawing/2014/main" id="{5E9C1858-3DD2-7244-B586-D82ABA8DB944}"/>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2344" name="Text Box 9">
            <a:extLst>
              <a:ext uri="{FF2B5EF4-FFF2-40B4-BE49-F238E27FC236}">
                <a16:creationId xmlns:a16="http://schemas.microsoft.com/office/drawing/2014/main" id="{EF3136AA-2CF0-6E4B-A18D-AB7DE894B66A}"/>
              </a:ext>
            </a:extLst>
          </p:cNvPr>
          <p:cNvSpPr txBox="1">
            <a:spLocks noChangeArrowheads="1"/>
          </p:cNvSpPr>
          <p:nvPr/>
        </p:nvSpPr>
        <p:spPr bwMode="auto">
          <a:xfrm>
            <a:off x="3336925" y="436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2345" name="Text Box 10">
            <a:extLst>
              <a:ext uri="{FF2B5EF4-FFF2-40B4-BE49-F238E27FC236}">
                <a16:creationId xmlns:a16="http://schemas.microsoft.com/office/drawing/2014/main" id="{311E0AE8-9ED5-AC46-9E32-BA509C57F80B}"/>
              </a:ext>
            </a:extLst>
          </p:cNvPr>
          <p:cNvSpPr txBox="1">
            <a:spLocks noChangeArrowheads="1"/>
          </p:cNvSpPr>
          <p:nvPr/>
        </p:nvSpPr>
        <p:spPr bwMode="auto">
          <a:xfrm>
            <a:off x="3108325" y="4821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300B948D-335F-9641-BC15-5B50AF3C0539}"/>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FF3300"/>
                </a:solidFill>
              </a:rPr>
              <a:t>美国制定数据加密标准简况</a:t>
            </a:r>
          </a:p>
        </p:txBody>
      </p:sp>
      <p:sp>
        <p:nvSpPr>
          <p:cNvPr id="57347" name="Rectangle 3">
            <a:extLst>
              <a:ext uri="{FF2B5EF4-FFF2-40B4-BE49-F238E27FC236}">
                <a16:creationId xmlns:a16="http://schemas.microsoft.com/office/drawing/2014/main" id="{96B1136F-E3E6-824F-8C6D-C24BD6F607F1}"/>
              </a:ext>
            </a:extLst>
          </p:cNvPr>
          <p:cNvSpPr>
            <a:spLocks noGrp="1" noChangeArrowheads="1"/>
          </p:cNvSpPr>
          <p:nvPr>
            <p:ph idx="1"/>
          </p:nvPr>
        </p:nvSpPr>
        <p:spPr>
          <a:xfrm>
            <a:off x="823913" y="1465263"/>
            <a:ext cx="10515600" cy="4579937"/>
          </a:xfrm>
        </p:spPr>
        <p:txBody>
          <a:bodyPr/>
          <a:lstStyle/>
          <a:p>
            <a:pPr algn="just" eaLnBrk="1" hangingPunct="1">
              <a:lnSpc>
                <a:spcPct val="120000"/>
              </a:lnSpc>
              <a:spcAft>
                <a:spcPts val="600"/>
              </a:spcAft>
            </a:pPr>
            <a:r>
              <a:rPr lang="en-US" altLang="zh-CN">
                <a:latin typeface="Times New Roman" panose="02020603050405020304" pitchFamily="18" charset="0"/>
              </a:rPr>
              <a:t>DES</a:t>
            </a:r>
            <a:r>
              <a:rPr lang="zh-CN" altLang="en-US">
                <a:latin typeface="Times New Roman" panose="02020603050405020304" pitchFamily="18" charset="0"/>
              </a:rPr>
              <a:t>发展史确定了发展公用标准算法模式，而</a:t>
            </a:r>
            <a:r>
              <a:rPr lang="en-US" altLang="zh-CN">
                <a:latin typeface="Times New Roman" panose="02020603050405020304" pitchFamily="18" charset="0"/>
              </a:rPr>
              <a:t>EES</a:t>
            </a:r>
            <a:r>
              <a:rPr lang="zh-CN" altLang="en-US">
                <a:latin typeface="Times New Roman" panose="02020603050405020304" pitchFamily="18" charset="0"/>
              </a:rPr>
              <a:t>的制定路线与</a:t>
            </a:r>
            <a:r>
              <a:rPr lang="en-US" altLang="zh-CN">
                <a:latin typeface="Times New Roman" panose="02020603050405020304" pitchFamily="18" charset="0"/>
              </a:rPr>
              <a:t>DES</a:t>
            </a:r>
            <a:r>
              <a:rPr lang="zh-CN" altLang="en-US">
                <a:latin typeface="Times New Roman" panose="02020603050405020304" pitchFamily="18" charset="0"/>
              </a:rPr>
              <a:t>的背道而驰。人们怀疑</a:t>
            </a:r>
            <a:r>
              <a:rPr lang="zh-CN" altLang="en-US" u="sng">
                <a:latin typeface="Times New Roman" panose="02020603050405020304" pitchFamily="18" charset="0"/>
              </a:rPr>
              <a:t>有陷门和政府部门</a:t>
            </a:r>
            <a:r>
              <a:rPr lang="zh-CN" altLang="en-US">
                <a:latin typeface="Times New Roman" panose="02020603050405020304" pitchFamily="18" charset="0"/>
              </a:rPr>
              <a:t>肆意侵犯公民权利。此举遭到广为反对。</a:t>
            </a:r>
          </a:p>
          <a:p>
            <a:pPr algn="just" eaLnBrk="1" hangingPunct="1">
              <a:lnSpc>
                <a:spcPct val="120000"/>
              </a:lnSpc>
              <a:spcAft>
                <a:spcPts val="600"/>
              </a:spcAft>
            </a:pPr>
            <a:r>
              <a:rPr lang="en-US" altLang="zh-CN">
                <a:latin typeface="Times New Roman" panose="02020603050405020304" pitchFamily="18" charset="0"/>
              </a:rPr>
              <a:t>1995</a:t>
            </a:r>
            <a:r>
              <a:rPr lang="zh-CN" altLang="en-US">
                <a:latin typeface="Times New Roman" panose="02020603050405020304" pitchFamily="18" charset="0"/>
              </a:rPr>
              <a:t>年</a:t>
            </a:r>
            <a:r>
              <a:rPr lang="en-US" altLang="zh-CN">
                <a:latin typeface="Times New Roman" panose="02020603050405020304" pitchFamily="18" charset="0"/>
              </a:rPr>
              <a:t>5</a:t>
            </a:r>
            <a:r>
              <a:rPr lang="zh-CN" altLang="en-US">
                <a:latin typeface="Times New Roman" panose="02020603050405020304" pitchFamily="18" charset="0"/>
              </a:rPr>
              <a:t>月</a:t>
            </a:r>
            <a:r>
              <a:rPr lang="en-US" altLang="zh-CN">
                <a:latin typeface="Times New Roman" panose="02020603050405020304" pitchFamily="18" charset="0"/>
              </a:rPr>
              <a:t>AT&amp;T Bell Lab</a:t>
            </a:r>
            <a:r>
              <a:rPr lang="zh-CN" altLang="en-US">
                <a:latin typeface="Times New Roman" panose="02020603050405020304" pitchFamily="18" charset="0"/>
              </a:rPr>
              <a:t>的</a:t>
            </a:r>
            <a:r>
              <a:rPr lang="en-US" altLang="zh-CN">
                <a:latin typeface="Times New Roman" panose="02020603050405020304" pitchFamily="18" charset="0"/>
              </a:rPr>
              <a:t>M. Blaze</a:t>
            </a:r>
            <a:r>
              <a:rPr lang="zh-CN" altLang="en-US">
                <a:latin typeface="Times New Roman" panose="02020603050405020304" pitchFamily="18" charset="0"/>
              </a:rPr>
              <a:t>博士在</a:t>
            </a:r>
            <a:r>
              <a:rPr lang="en-US" altLang="zh-CN">
                <a:latin typeface="Times New Roman" panose="02020603050405020304" pitchFamily="18" charset="0"/>
              </a:rPr>
              <a:t>PC</a:t>
            </a:r>
            <a:r>
              <a:rPr lang="zh-CN" altLang="en-US">
                <a:latin typeface="Times New Roman" panose="02020603050405020304" pitchFamily="18" charset="0"/>
              </a:rPr>
              <a:t>机上用</a:t>
            </a:r>
            <a:r>
              <a:rPr lang="en-US" altLang="zh-CN">
                <a:latin typeface="Times New Roman" panose="02020603050405020304" pitchFamily="18" charset="0"/>
              </a:rPr>
              <a:t>45</a:t>
            </a:r>
            <a:r>
              <a:rPr lang="zh-CN" altLang="en-US">
                <a:latin typeface="Times New Roman" panose="02020603050405020304" pitchFamily="18" charset="0"/>
              </a:rPr>
              <a:t>分钟时间使</a:t>
            </a:r>
            <a:r>
              <a:rPr lang="en-US" altLang="zh-CN">
                <a:latin typeface="Times New Roman" panose="02020603050405020304" pitchFamily="18" charset="0"/>
              </a:rPr>
              <a:t>SKIPJACK</a:t>
            </a:r>
            <a:r>
              <a:rPr lang="zh-CN" altLang="en-US">
                <a:latin typeface="Times New Roman" panose="02020603050405020304" pitchFamily="18" charset="0"/>
              </a:rPr>
              <a:t>（</a:t>
            </a:r>
            <a:r>
              <a:rPr lang="en-US" altLang="zh-CN">
                <a:latin typeface="Times New Roman" panose="02020603050405020304" pitchFamily="18" charset="0"/>
              </a:rPr>
              <a:t>EES</a:t>
            </a:r>
            <a:r>
              <a:rPr lang="zh-CN" altLang="en-US">
                <a:latin typeface="Times New Roman" panose="02020603050405020304" pitchFamily="18" charset="0"/>
              </a:rPr>
              <a:t>标准中的加密算法）的</a:t>
            </a:r>
            <a:r>
              <a:rPr lang="en-US" altLang="zh-CN">
                <a:latin typeface="Times New Roman" panose="02020603050405020304" pitchFamily="18" charset="0"/>
              </a:rPr>
              <a:t>LEAF</a:t>
            </a:r>
            <a:r>
              <a:rPr lang="zh-CN" altLang="en-US">
                <a:latin typeface="Times New Roman" panose="02020603050405020304" pitchFamily="18" charset="0"/>
              </a:rPr>
              <a:t>协议失败，伪造</a:t>
            </a:r>
            <a:r>
              <a:rPr lang="en-US" altLang="zh-CN">
                <a:latin typeface="Times New Roman" panose="02020603050405020304" pitchFamily="18" charset="0"/>
              </a:rPr>
              <a:t>ID</a:t>
            </a:r>
            <a:r>
              <a:rPr lang="zh-CN" altLang="en-US">
                <a:latin typeface="Times New Roman" panose="02020603050405020304" pitchFamily="18" charset="0"/>
              </a:rPr>
              <a:t>码获得成功。</a:t>
            </a:r>
            <a:r>
              <a:rPr lang="en-US" altLang="zh-CN">
                <a:latin typeface="Times New Roman" panose="02020603050405020304" pitchFamily="18" charset="0"/>
              </a:rPr>
              <a:t>1995</a:t>
            </a:r>
            <a:r>
              <a:rPr lang="zh-CN" altLang="en-US">
                <a:latin typeface="Times New Roman" panose="02020603050405020304" pitchFamily="18" charset="0"/>
              </a:rPr>
              <a:t>年</a:t>
            </a:r>
            <a:r>
              <a:rPr lang="en-US" altLang="zh-CN">
                <a:latin typeface="Times New Roman" panose="02020603050405020304" pitchFamily="18" charset="0"/>
              </a:rPr>
              <a:t>7</a:t>
            </a:r>
            <a:r>
              <a:rPr lang="zh-CN" altLang="en-US">
                <a:latin typeface="Times New Roman" panose="02020603050405020304" pitchFamily="18" charset="0"/>
              </a:rPr>
              <a:t>月美国政府</a:t>
            </a:r>
            <a:r>
              <a:rPr lang="zh-CN" altLang="en-US" u="sng">
                <a:latin typeface="Times New Roman" panose="02020603050405020304" pitchFamily="18" charset="0"/>
              </a:rPr>
              <a:t>宣布放弃用</a:t>
            </a:r>
            <a:r>
              <a:rPr lang="en-US" altLang="zh-CN" u="sng">
                <a:latin typeface="Times New Roman" panose="02020603050405020304" pitchFamily="18" charset="0"/>
              </a:rPr>
              <a:t>EES</a:t>
            </a:r>
            <a:r>
              <a:rPr lang="zh-CN" altLang="en-US">
                <a:latin typeface="Times New Roman" panose="02020603050405020304" pitchFamily="18" charset="0"/>
              </a:rPr>
              <a:t>来加密数据，只将它用于语音通信。</a:t>
            </a:r>
          </a:p>
          <a:p>
            <a:pPr algn="just" eaLnBrk="1" hangingPunct="1">
              <a:lnSpc>
                <a:spcPct val="120000"/>
              </a:lnSpc>
              <a:spcAft>
                <a:spcPts val="600"/>
              </a:spcAft>
            </a:pPr>
            <a:r>
              <a:rPr lang="en-US" altLang="zh-CN">
                <a:latin typeface="Times New Roman" panose="02020603050405020304" pitchFamily="18" charset="0"/>
                <a:sym typeface="Monotype Sorts" pitchFamily="2" charset="2"/>
              </a:rPr>
              <a:t>1997</a:t>
            </a:r>
            <a:r>
              <a:rPr lang="zh-CN" altLang="en-US">
                <a:latin typeface="Times New Roman" panose="02020603050405020304" pitchFamily="18" charset="0"/>
                <a:sym typeface="Monotype Sorts" pitchFamily="2" charset="2"/>
              </a:rPr>
              <a:t>年</a:t>
            </a:r>
            <a:r>
              <a:rPr lang="en-US" altLang="zh-CN">
                <a:latin typeface="Times New Roman" panose="02020603050405020304" pitchFamily="18" charset="0"/>
                <a:sym typeface="Monotype Sorts" pitchFamily="2" charset="2"/>
              </a:rPr>
              <a:t>1</a:t>
            </a:r>
            <a:r>
              <a:rPr lang="zh-CN" altLang="en-US">
                <a:latin typeface="Times New Roman" panose="02020603050405020304" pitchFamily="18" charset="0"/>
                <a:sym typeface="Monotype Sorts" pitchFamily="2" charset="2"/>
              </a:rPr>
              <a:t>月</a:t>
            </a:r>
            <a:r>
              <a:rPr lang="zh-CN" altLang="en-US" u="sng">
                <a:latin typeface="Times New Roman" panose="02020603050405020304" pitchFamily="18" charset="0"/>
                <a:sym typeface="Monotype Sorts" pitchFamily="2" charset="2"/>
              </a:rPr>
              <a:t>美国国家标准与技术研究所</a:t>
            </a:r>
            <a:r>
              <a:rPr lang="en-US" altLang="zh-CN" u="sng">
                <a:latin typeface="Times New Roman" panose="02020603050405020304" pitchFamily="18" charset="0"/>
                <a:sym typeface="Monotype Sorts" pitchFamily="2" charset="2"/>
              </a:rPr>
              <a:t>NIST</a:t>
            </a:r>
            <a:r>
              <a:rPr lang="zh-CN" altLang="en-US">
                <a:latin typeface="Times New Roman" panose="02020603050405020304" pitchFamily="18" charset="0"/>
                <a:sym typeface="Monotype Sorts" pitchFamily="2" charset="2"/>
              </a:rPr>
              <a:t>着手进行</a:t>
            </a:r>
            <a:r>
              <a:rPr lang="en-US" altLang="zh-CN" u="sng">
                <a:latin typeface="Times New Roman" panose="02020603050405020304" pitchFamily="18" charset="0"/>
                <a:sym typeface="Monotype Sorts" pitchFamily="2" charset="2"/>
              </a:rPr>
              <a:t>AES</a:t>
            </a:r>
            <a:r>
              <a:rPr lang="zh-CN" altLang="en-US">
                <a:latin typeface="Times New Roman" panose="02020603050405020304" pitchFamily="18" charset="0"/>
                <a:sym typeface="Monotype Sorts" pitchFamily="2" charset="2"/>
              </a:rPr>
              <a:t>（</a:t>
            </a:r>
            <a:r>
              <a:rPr lang="en-US" altLang="zh-CN">
                <a:latin typeface="Times New Roman" panose="02020603050405020304" pitchFamily="18" charset="0"/>
                <a:sym typeface="Monotype Sorts" pitchFamily="2" charset="2"/>
              </a:rPr>
              <a:t>Advanced Encryption Standard</a:t>
            </a:r>
            <a:r>
              <a:rPr lang="zh-CN" altLang="en-US">
                <a:latin typeface="Times New Roman" panose="02020603050405020304" pitchFamily="18" charset="0"/>
                <a:sym typeface="Monotype Sorts" pitchFamily="2" charset="2"/>
              </a:rPr>
              <a:t>）的研究，成立了标准工作室。</a:t>
            </a:r>
            <a:r>
              <a:rPr lang="en-US" altLang="zh-CN">
                <a:latin typeface="Times New Roman" panose="02020603050405020304" pitchFamily="18" charset="0"/>
                <a:sym typeface="Monotype Sorts" pitchFamily="2" charset="2"/>
              </a:rPr>
              <a:t>2001</a:t>
            </a:r>
            <a:r>
              <a:rPr lang="zh-CN" altLang="en-US">
                <a:latin typeface="Times New Roman" panose="02020603050405020304" pitchFamily="18" charset="0"/>
                <a:sym typeface="Monotype Sorts" pitchFamily="2" charset="2"/>
              </a:rPr>
              <a:t>年</a:t>
            </a:r>
            <a:r>
              <a:rPr lang="en-US" altLang="zh-CN" u="sng">
                <a:latin typeface="Times New Roman" panose="02020603050405020304" pitchFamily="18" charset="0"/>
                <a:sym typeface="Monotype Sorts" pitchFamily="2" charset="2"/>
              </a:rPr>
              <a:t>Rijndael</a:t>
            </a:r>
            <a:r>
              <a:rPr lang="zh-CN" altLang="en-US">
                <a:latin typeface="Times New Roman" panose="02020603050405020304" pitchFamily="18" charset="0"/>
                <a:sym typeface="Monotype Sorts" pitchFamily="2" charset="2"/>
              </a:rPr>
              <a:t>被批准为</a:t>
            </a:r>
            <a:r>
              <a:rPr lang="en-US" altLang="zh-CN">
                <a:latin typeface="Times New Roman" panose="02020603050405020304" pitchFamily="18" charset="0"/>
                <a:sym typeface="Monotype Sorts" pitchFamily="2" charset="2"/>
              </a:rPr>
              <a:t>AES</a:t>
            </a:r>
            <a:r>
              <a:rPr lang="zh-CN" altLang="en-US">
                <a:latin typeface="Times New Roman" panose="02020603050405020304" pitchFamily="18" charset="0"/>
                <a:sym typeface="Monotype Sorts" pitchFamily="2" charset="2"/>
              </a:rPr>
              <a:t>标准。</a:t>
            </a:r>
          </a:p>
        </p:txBody>
      </p:sp>
      <p:sp>
        <p:nvSpPr>
          <p:cNvPr id="143363" name="Text Box 4">
            <a:extLst>
              <a:ext uri="{FF2B5EF4-FFF2-40B4-BE49-F238E27FC236}">
                <a16:creationId xmlns:a16="http://schemas.microsoft.com/office/drawing/2014/main" id="{CF132F1F-DB20-4244-BD50-320F3B2A6F29}"/>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3364" name="Text Box 5">
            <a:extLst>
              <a:ext uri="{FF2B5EF4-FFF2-40B4-BE49-F238E27FC236}">
                <a16:creationId xmlns:a16="http://schemas.microsoft.com/office/drawing/2014/main" id="{971C9EC7-F3C3-104B-8D4A-CC333E2F0426}"/>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3365" name="Text Box 6">
            <a:extLst>
              <a:ext uri="{FF2B5EF4-FFF2-40B4-BE49-F238E27FC236}">
                <a16:creationId xmlns:a16="http://schemas.microsoft.com/office/drawing/2014/main" id="{BFA79CDA-F34C-374F-AD9A-5861ED111835}"/>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3366" name="Text Box 7">
            <a:extLst>
              <a:ext uri="{FF2B5EF4-FFF2-40B4-BE49-F238E27FC236}">
                <a16:creationId xmlns:a16="http://schemas.microsoft.com/office/drawing/2014/main" id="{E5B47778-E34F-6B47-9AD5-79BC88C2CC7A}"/>
              </a:ext>
            </a:extLst>
          </p:cNvPr>
          <p:cNvSpPr txBox="1">
            <a:spLocks noChangeArrowheads="1"/>
          </p:cNvSpPr>
          <p:nvPr/>
        </p:nvSpPr>
        <p:spPr bwMode="auto">
          <a:xfrm>
            <a:off x="434340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3367" name="Text Box 8">
            <a:extLst>
              <a:ext uri="{FF2B5EF4-FFF2-40B4-BE49-F238E27FC236}">
                <a16:creationId xmlns:a16="http://schemas.microsoft.com/office/drawing/2014/main" id="{46A43C9E-82DD-8344-B70F-92A138BE6EC8}"/>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3368" name="Text Box 9">
            <a:extLst>
              <a:ext uri="{FF2B5EF4-FFF2-40B4-BE49-F238E27FC236}">
                <a16:creationId xmlns:a16="http://schemas.microsoft.com/office/drawing/2014/main" id="{7B225782-B3B8-E541-BCF0-C8DEBE2E84B6}"/>
              </a:ext>
            </a:extLst>
          </p:cNvPr>
          <p:cNvSpPr txBox="1">
            <a:spLocks noChangeArrowheads="1"/>
          </p:cNvSpPr>
          <p:nvPr/>
        </p:nvSpPr>
        <p:spPr bwMode="auto">
          <a:xfrm>
            <a:off x="3336925" y="436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3369" name="Text Box 10">
            <a:extLst>
              <a:ext uri="{FF2B5EF4-FFF2-40B4-BE49-F238E27FC236}">
                <a16:creationId xmlns:a16="http://schemas.microsoft.com/office/drawing/2014/main" id="{0A2A938E-5E45-C740-83F1-1B85884DB8C8}"/>
              </a:ext>
            </a:extLst>
          </p:cNvPr>
          <p:cNvSpPr txBox="1">
            <a:spLocks noChangeArrowheads="1"/>
          </p:cNvSpPr>
          <p:nvPr/>
        </p:nvSpPr>
        <p:spPr bwMode="auto">
          <a:xfrm>
            <a:off x="3108325" y="4821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1">
            <a:extLst>
              <a:ext uri="{FF2B5EF4-FFF2-40B4-BE49-F238E27FC236}">
                <a16:creationId xmlns:a16="http://schemas.microsoft.com/office/drawing/2014/main" id="{0026917B-5B84-3F41-91A1-C4BE24316BF0}"/>
              </a:ext>
            </a:extLst>
          </p:cNvPr>
          <p:cNvSpPr>
            <a:spLocks noGrp="1" noChangeArrowheads="1"/>
          </p:cNvSpPr>
          <p:nvPr>
            <p:ph type="title"/>
          </p:nvPr>
        </p:nvSpPr>
        <p:spPr>
          <a:xfrm>
            <a:off x="1465263" y="365125"/>
            <a:ext cx="9037637" cy="668338"/>
          </a:xfrm>
        </p:spPr>
        <p:txBody>
          <a:bodyPr/>
          <a:lstStyle/>
          <a:p>
            <a:r>
              <a:rPr lang="zh-CN" altLang="en-US">
                <a:solidFill>
                  <a:srgbClr val="FF3300"/>
                </a:solidFill>
              </a:rPr>
              <a:t>美国制定数据加密标准简况</a:t>
            </a:r>
            <a:endParaRPr lang="zh-CN" altLang="en-US">
              <a:solidFill>
                <a:srgbClr val="1F4E79"/>
              </a:solidFill>
            </a:endParaRPr>
          </a:p>
        </p:txBody>
      </p:sp>
      <p:sp>
        <p:nvSpPr>
          <p:cNvPr id="144386" name="Rectangle 3">
            <a:extLst>
              <a:ext uri="{FF2B5EF4-FFF2-40B4-BE49-F238E27FC236}">
                <a16:creationId xmlns:a16="http://schemas.microsoft.com/office/drawing/2014/main" id="{0FAC6C89-C422-A343-84DF-671138422E8D}"/>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en-US" altLang="zh-CN" u="sng">
                <a:latin typeface="Times New Roman" panose="02020603050405020304" pitchFamily="18" charset="0"/>
              </a:rPr>
              <a:t>DES</a:t>
            </a:r>
            <a:r>
              <a:rPr lang="zh-CN" altLang="en-US">
                <a:latin typeface="Times New Roman" panose="02020603050405020304" pitchFamily="18" charset="0"/>
              </a:rPr>
              <a:t>（</a:t>
            </a:r>
            <a:r>
              <a:rPr lang="en-US" altLang="zh-CN">
                <a:latin typeface="Times New Roman" panose="02020603050405020304" pitchFamily="18" charset="0"/>
              </a:rPr>
              <a:t>Data Encryption Standard</a:t>
            </a:r>
            <a:r>
              <a:rPr lang="zh-CN" altLang="en-US">
                <a:latin typeface="Times New Roman" panose="02020603050405020304" pitchFamily="18" charset="0"/>
              </a:rPr>
              <a:t>）</a:t>
            </a:r>
            <a:r>
              <a:rPr lang="zh-CN" altLang="en-US"/>
              <a:t>算法于</a:t>
            </a:r>
            <a:r>
              <a:rPr lang="en-US" altLang="zh-CN"/>
              <a:t>1977</a:t>
            </a:r>
            <a:r>
              <a:rPr lang="zh-CN" altLang="en-US"/>
              <a:t>年得到美国政府的正式许可，是一种用</a:t>
            </a:r>
            <a:r>
              <a:rPr lang="en-US" altLang="zh-CN"/>
              <a:t>56</a:t>
            </a:r>
            <a:r>
              <a:rPr lang="zh-CN" altLang="en-US"/>
              <a:t>位密钥来加密</a:t>
            </a:r>
            <a:r>
              <a:rPr lang="en-US" altLang="zh-CN"/>
              <a:t>64</a:t>
            </a:r>
            <a:r>
              <a:rPr lang="zh-CN" altLang="en-US"/>
              <a:t>位数据的方法。这是</a:t>
            </a:r>
            <a:r>
              <a:rPr lang="en-US" altLang="zh-CN" u="sng"/>
              <a:t>IBM</a:t>
            </a:r>
            <a:r>
              <a:rPr lang="zh-CN" altLang="en-US"/>
              <a:t>的研究成果。</a:t>
            </a:r>
          </a:p>
          <a:p>
            <a:pPr eaLnBrk="1" hangingPunct="1">
              <a:lnSpc>
                <a:spcPct val="120000"/>
              </a:lnSpc>
            </a:pPr>
            <a:r>
              <a:rPr lang="en-US" altLang="zh-CN"/>
              <a:t>DES</a:t>
            </a:r>
            <a:r>
              <a:rPr lang="zh-CN" altLang="en-US"/>
              <a:t>是</a:t>
            </a:r>
            <a:r>
              <a:rPr lang="zh-CN" altLang="en-US" u="sng"/>
              <a:t>第一代公开的、完全说明细节</a:t>
            </a:r>
            <a:r>
              <a:rPr lang="zh-CN" altLang="en-US"/>
              <a:t>的商业级现代算法，并被世界公认。</a:t>
            </a:r>
          </a:p>
          <a:p>
            <a:pPr eaLnBrk="1" hangingPunct="1">
              <a:buFont typeface="Wingdings" pitchFamily="2" charset="2"/>
              <a:buNone/>
            </a:pPr>
            <a:endParaRPr lang="en-US" altLang="zh-CN"/>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D11BD7A5-D1FA-1649-AB8A-57D53CEDC085}"/>
              </a:ext>
            </a:extLst>
          </p:cNvPr>
          <p:cNvSpPr>
            <a:spLocks noGrp="1" noChangeArrowheads="1"/>
          </p:cNvSpPr>
          <p:nvPr>
            <p:ph type="title"/>
          </p:nvPr>
        </p:nvSpPr>
        <p:spPr>
          <a:xfrm>
            <a:off x="1465263" y="365125"/>
            <a:ext cx="9037637" cy="668338"/>
          </a:xfrm>
        </p:spPr>
        <p:txBody>
          <a:bodyPr>
            <a:noAutofit/>
          </a:bodyPr>
          <a:lstStyle/>
          <a:p>
            <a:pPr eaLnBrk="1" hangingPunct="1">
              <a:defRPr/>
            </a:pPr>
            <a:r>
              <a:rPr lang="en-US" altLang="zh-CN" dirty="0">
                <a:solidFill>
                  <a:schemeClr val="hlink"/>
                </a:solidFill>
                <a:latin typeface="+mn-ea"/>
                <a:ea typeface="+mn-ea"/>
              </a:rPr>
              <a:t>DES </a:t>
            </a:r>
            <a:r>
              <a:rPr lang="zh-CN" altLang="en-US" dirty="0">
                <a:solidFill>
                  <a:schemeClr val="hlink"/>
                </a:solidFill>
                <a:latin typeface="+mn-ea"/>
                <a:ea typeface="+mn-ea"/>
              </a:rPr>
              <a:t>算法</a:t>
            </a:r>
          </a:p>
        </p:txBody>
      </p:sp>
      <p:sp>
        <p:nvSpPr>
          <p:cNvPr id="58371" name="Rectangle 3">
            <a:extLst>
              <a:ext uri="{FF2B5EF4-FFF2-40B4-BE49-F238E27FC236}">
                <a16:creationId xmlns:a16="http://schemas.microsoft.com/office/drawing/2014/main" id="{30F7F2F3-9BEB-0048-A0AD-80459FCEF923}"/>
              </a:ext>
            </a:extLst>
          </p:cNvPr>
          <p:cNvSpPr>
            <a:spLocks noGrp="1" noChangeArrowheads="1"/>
          </p:cNvSpPr>
          <p:nvPr>
            <p:ph idx="1"/>
          </p:nvPr>
        </p:nvSpPr>
        <p:spPr>
          <a:xfrm>
            <a:off x="823913" y="1465263"/>
            <a:ext cx="10515600" cy="4579937"/>
          </a:xfrm>
        </p:spPr>
        <p:txBody>
          <a:bodyPr/>
          <a:lstStyle/>
          <a:p>
            <a:pPr algn="just" eaLnBrk="1" hangingPunct="1">
              <a:lnSpc>
                <a:spcPct val="120000"/>
              </a:lnSpc>
              <a:spcAft>
                <a:spcPts val="600"/>
              </a:spcAft>
            </a:pPr>
            <a:r>
              <a:rPr lang="zh-CN" altLang="en-US" sz="2800">
                <a:latin typeface="Times New Roman" panose="02020603050405020304" pitchFamily="18" charset="0"/>
              </a:rPr>
              <a:t>分组长度为</a:t>
            </a:r>
            <a:r>
              <a:rPr lang="en-US" altLang="zh-CN" sz="2800">
                <a:latin typeface="Times New Roman" panose="02020603050405020304" pitchFamily="18" charset="0"/>
              </a:rPr>
              <a:t>64 bits (8 bytes)</a:t>
            </a:r>
          </a:p>
          <a:p>
            <a:pPr algn="just" eaLnBrk="1" hangingPunct="1">
              <a:lnSpc>
                <a:spcPct val="120000"/>
              </a:lnSpc>
              <a:spcAft>
                <a:spcPts val="600"/>
              </a:spcAft>
            </a:pPr>
            <a:r>
              <a:rPr lang="zh-CN" altLang="en-US" sz="2800">
                <a:latin typeface="Times New Roman" panose="02020603050405020304" pitchFamily="18" charset="0"/>
              </a:rPr>
              <a:t>密文分组长度也是</a:t>
            </a:r>
            <a:r>
              <a:rPr lang="en-US" altLang="zh-CN" sz="2800">
                <a:latin typeface="Times New Roman" panose="02020603050405020304" pitchFamily="18" charset="0"/>
              </a:rPr>
              <a:t>64 bits</a:t>
            </a:r>
            <a:r>
              <a:rPr lang="zh-CN" altLang="en-US" sz="2800">
                <a:latin typeface="Times New Roman" panose="02020603050405020304" pitchFamily="18" charset="0"/>
              </a:rPr>
              <a:t>。</a:t>
            </a:r>
          </a:p>
          <a:p>
            <a:pPr algn="just" eaLnBrk="1" hangingPunct="1">
              <a:lnSpc>
                <a:spcPct val="120000"/>
              </a:lnSpc>
              <a:spcAft>
                <a:spcPts val="600"/>
              </a:spcAft>
            </a:pPr>
            <a:r>
              <a:rPr lang="zh-CN" altLang="en-US" sz="2800">
                <a:latin typeface="Times New Roman" panose="02020603050405020304" pitchFamily="18" charset="0"/>
              </a:rPr>
              <a:t>密钥长度为</a:t>
            </a:r>
            <a:r>
              <a:rPr lang="en-US" altLang="zh-CN" sz="2800">
                <a:latin typeface="Times New Roman" panose="02020603050405020304" pitchFamily="18" charset="0"/>
              </a:rPr>
              <a:t>64 bits</a:t>
            </a:r>
            <a:r>
              <a:rPr lang="zh-CN" altLang="en-US" sz="2800">
                <a:latin typeface="Times New Roman" panose="02020603050405020304" pitchFamily="18" charset="0"/>
              </a:rPr>
              <a:t>，有</a:t>
            </a:r>
            <a:r>
              <a:rPr lang="en-US" altLang="zh-CN" sz="2800">
                <a:latin typeface="Times New Roman" panose="02020603050405020304" pitchFamily="18" charset="0"/>
              </a:rPr>
              <a:t>8 bits</a:t>
            </a:r>
            <a:r>
              <a:rPr lang="zh-CN" altLang="en-US" sz="2800">
                <a:latin typeface="Times New Roman" panose="02020603050405020304" pitchFamily="18" charset="0"/>
              </a:rPr>
              <a:t>奇偶校验，有效密钥长度为</a:t>
            </a:r>
            <a:r>
              <a:rPr lang="en-US" altLang="zh-CN" sz="2800">
                <a:latin typeface="Times New Roman" panose="02020603050405020304" pitchFamily="18" charset="0"/>
              </a:rPr>
              <a:t>56 bits</a:t>
            </a:r>
            <a:r>
              <a:rPr lang="zh-CN" altLang="en-US" sz="2800">
                <a:latin typeface="Times New Roman" panose="02020603050405020304" pitchFamily="18" charset="0"/>
              </a:rPr>
              <a:t>。</a:t>
            </a:r>
          </a:p>
          <a:p>
            <a:pPr algn="just" eaLnBrk="1" hangingPunct="1">
              <a:lnSpc>
                <a:spcPct val="120000"/>
              </a:lnSpc>
              <a:spcAft>
                <a:spcPts val="600"/>
              </a:spcAft>
            </a:pPr>
            <a:r>
              <a:rPr lang="zh-CN" altLang="en-US" sz="2800">
                <a:latin typeface="Times New Roman" panose="02020603050405020304" pitchFamily="18" charset="0"/>
              </a:rPr>
              <a:t>算法主要包括：初始置换</a:t>
            </a:r>
            <a:r>
              <a:rPr lang="en-US" altLang="zh-CN" sz="2800" i="1">
                <a:latin typeface="Times New Roman" panose="02020603050405020304" pitchFamily="18" charset="0"/>
              </a:rPr>
              <a:t>IP</a:t>
            </a:r>
            <a:r>
              <a:rPr lang="zh-CN" altLang="en-US" sz="2800">
                <a:latin typeface="Times New Roman" panose="02020603050405020304" pitchFamily="18" charset="0"/>
              </a:rPr>
              <a:t>、</a:t>
            </a:r>
            <a:r>
              <a:rPr lang="en-US" altLang="zh-CN" sz="2800">
                <a:latin typeface="Times New Roman" panose="02020603050405020304" pitchFamily="18" charset="0"/>
              </a:rPr>
              <a:t>16</a:t>
            </a:r>
            <a:r>
              <a:rPr lang="zh-CN" altLang="en-US" sz="2800">
                <a:latin typeface="Times New Roman" panose="02020603050405020304" pitchFamily="18" charset="0"/>
              </a:rPr>
              <a:t>轮迭代的乘积变换、逆初始置换</a:t>
            </a:r>
            <a:r>
              <a:rPr lang="en-US" altLang="zh-CN" sz="2800" i="1">
                <a:latin typeface="Times New Roman" panose="02020603050405020304" pitchFamily="18" charset="0"/>
              </a:rPr>
              <a:t>IP</a:t>
            </a:r>
            <a:r>
              <a:rPr lang="en-US" altLang="zh-CN" sz="2800" baseline="30000">
                <a:latin typeface="Times New Roman" panose="02020603050405020304" pitchFamily="18" charset="0"/>
              </a:rPr>
              <a:t>-1</a:t>
            </a:r>
            <a:r>
              <a:rPr lang="zh-CN" altLang="en-US" sz="2800">
                <a:latin typeface="Times New Roman" panose="02020603050405020304" pitchFamily="18" charset="0"/>
              </a:rPr>
              <a:t>以及</a:t>
            </a:r>
            <a:r>
              <a:rPr lang="en-US" altLang="zh-CN" sz="2800">
                <a:latin typeface="Times New Roman" panose="02020603050405020304" pitchFamily="18" charset="0"/>
              </a:rPr>
              <a:t>16</a:t>
            </a:r>
            <a:r>
              <a:rPr lang="zh-CN" altLang="en-US" sz="2800">
                <a:latin typeface="Times New Roman" panose="02020603050405020304" pitchFamily="18" charset="0"/>
              </a:rPr>
              <a:t>个子密钥产生器。</a:t>
            </a:r>
          </a:p>
          <a:p>
            <a:pPr algn="just" eaLnBrk="1" hangingPunct="1">
              <a:lnSpc>
                <a:spcPct val="120000"/>
              </a:lnSpc>
              <a:spcAft>
                <a:spcPts val="600"/>
              </a:spcAft>
              <a:buFont typeface="Arial" panose="020B0604020202020204" pitchFamily="34" charset="0"/>
              <a:buNone/>
            </a:pPr>
            <a:endParaRPr lang="zh-CN" altLang="en-US" sz="2800">
              <a:latin typeface="Times New Roman" panose="02020603050405020304" pitchFamily="18" charset="0"/>
            </a:endParaRPr>
          </a:p>
          <a:p>
            <a:pPr algn="just" eaLnBrk="1" hangingPunct="1">
              <a:lnSpc>
                <a:spcPct val="120000"/>
              </a:lnSpc>
              <a:spcAft>
                <a:spcPts val="600"/>
              </a:spcAft>
              <a:buFont typeface="Arial" panose="020B0604020202020204" pitchFamily="34" charset="0"/>
              <a:buNone/>
            </a:pPr>
            <a:r>
              <a:rPr lang="zh-CN" altLang="en-US" sz="2800">
                <a:latin typeface="宋体" panose="02010600030101010101" pitchFamily="2" charset="-122"/>
              </a:rPr>
              <a:t>  </a:t>
            </a:r>
            <a:endParaRPr lang="zh-CN" altLang="en-US" sz="2800">
              <a:latin typeface="Times New Roman" panose="02020603050405020304" pitchFamily="18" charset="0"/>
            </a:endParaRPr>
          </a:p>
        </p:txBody>
      </p:sp>
      <p:sp>
        <p:nvSpPr>
          <p:cNvPr id="146435" name="Text Box 4">
            <a:extLst>
              <a:ext uri="{FF2B5EF4-FFF2-40B4-BE49-F238E27FC236}">
                <a16:creationId xmlns:a16="http://schemas.microsoft.com/office/drawing/2014/main" id="{8E7D96FD-47CB-E943-958E-B865D6DB201D}"/>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6436" name="Text Box 5">
            <a:extLst>
              <a:ext uri="{FF2B5EF4-FFF2-40B4-BE49-F238E27FC236}">
                <a16:creationId xmlns:a16="http://schemas.microsoft.com/office/drawing/2014/main" id="{0B0014E3-0B8E-9843-85AF-FBC048FBA006}"/>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6437" name="Text Box 6">
            <a:extLst>
              <a:ext uri="{FF2B5EF4-FFF2-40B4-BE49-F238E27FC236}">
                <a16:creationId xmlns:a16="http://schemas.microsoft.com/office/drawing/2014/main" id="{EB1ACCF7-4F13-5344-B23A-1624E2F2C7F0}"/>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6438" name="Text Box 7">
            <a:extLst>
              <a:ext uri="{FF2B5EF4-FFF2-40B4-BE49-F238E27FC236}">
                <a16:creationId xmlns:a16="http://schemas.microsoft.com/office/drawing/2014/main" id="{3DCBD836-ABA0-414C-8703-D86D145AF36F}"/>
              </a:ext>
            </a:extLst>
          </p:cNvPr>
          <p:cNvSpPr txBox="1">
            <a:spLocks noChangeArrowheads="1"/>
          </p:cNvSpPr>
          <p:nvPr/>
        </p:nvSpPr>
        <p:spPr bwMode="auto">
          <a:xfrm>
            <a:off x="434340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6439" name="Text Box 8">
            <a:extLst>
              <a:ext uri="{FF2B5EF4-FFF2-40B4-BE49-F238E27FC236}">
                <a16:creationId xmlns:a16="http://schemas.microsoft.com/office/drawing/2014/main" id="{80D9787C-0844-FC43-ADB9-1E5F9936BD46}"/>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6440" name="Text Box 9">
            <a:extLst>
              <a:ext uri="{FF2B5EF4-FFF2-40B4-BE49-F238E27FC236}">
                <a16:creationId xmlns:a16="http://schemas.microsoft.com/office/drawing/2014/main" id="{DEDDF6A8-27CA-614B-BD20-1B5D7D15BC66}"/>
              </a:ext>
            </a:extLst>
          </p:cNvPr>
          <p:cNvSpPr txBox="1">
            <a:spLocks noChangeArrowheads="1"/>
          </p:cNvSpPr>
          <p:nvPr/>
        </p:nvSpPr>
        <p:spPr bwMode="auto">
          <a:xfrm>
            <a:off x="3336925" y="436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6441" name="Text Box 10">
            <a:extLst>
              <a:ext uri="{FF2B5EF4-FFF2-40B4-BE49-F238E27FC236}">
                <a16:creationId xmlns:a16="http://schemas.microsoft.com/office/drawing/2014/main" id="{78634D78-AB04-B446-86C0-814DF8FC3C24}"/>
              </a:ext>
            </a:extLst>
          </p:cNvPr>
          <p:cNvSpPr txBox="1">
            <a:spLocks noChangeArrowheads="1"/>
          </p:cNvSpPr>
          <p:nvPr/>
        </p:nvSpPr>
        <p:spPr bwMode="auto">
          <a:xfrm>
            <a:off x="3108325" y="4821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3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E32762B0-6641-9540-8323-B0FE518F7279}"/>
              </a:ext>
            </a:extLst>
          </p:cNvPr>
          <p:cNvSpPr>
            <a:spLocks noGrp="1" noChangeArrowheads="1"/>
          </p:cNvSpPr>
          <p:nvPr>
            <p:ph type="title"/>
          </p:nvPr>
        </p:nvSpPr>
        <p:spPr>
          <a:xfrm>
            <a:off x="1465263" y="365125"/>
            <a:ext cx="9037637" cy="668338"/>
          </a:xfrm>
        </p:spPr>
        <p:txBody>
          <a:bodyPr/>
          <a:lstStyle/>
          <a:p>
            <a:pPr algn="ctr" eaLnBrk="1" hangingPunct="1"/>
            <a:r>
              <a:rPr lang="en-US" altLang="zh-CN" sz="2400">
                <a:solidFill>
                  <a:schemeClr val="hlink"/>
                </a:solidFill>
              </a:rPr>
              <a:t>DES</a:t>
            </a:r>
            <a:r>
              <a:rPr lang="zh-CN" altLang="en-US" sz="2400">
                <a:solidFill>
                  <a:schemeClr val="hlink"/>
                </a:solidFill>
              </a:rPr>
              <a:t>算法框图</a:t>
            </a:r>
          </a:p>
        </p:txBody>
      </p:sp>
      <p:sp>
        <p:nvSpPr>
          <p:cNvPr id="148482" name="Rectangle 3">
            <a:extLst>
              <a:ext uri="{FF2B5EF4-FFF2-40B4-BE49-F238E27FC236}">
                <a16:creationId xmlns:a16="http://schemas.microsoft.com/office/drawing/2014/main" id="{DA81D7F0-5F1C-5A4E-943A-6646D3239D71}"/>
              </a:ext>
            </a:extLst>
          </p:cNvPr>
          <p:cNvSpPr>
            <a:spLocks noGrp="1" noChangeArrowheads="1"/>
          </p:cNvSpPr>
          <p:nvPr>
            <p:ph idx="1"/>
          </p:nvPr>
        </p:nvSpPr>
        <p:spPr>
          <a:xfrm>
            <a:off x="823913" y="1465263"/>
            <a:ext cx="10515600" cy="4579937"/>
          </a:xfrm>
        </p:spPr>
        <p:txBody>
          <a:bodyPr/>
          <a:lstStyle/>
          <a:p>
            <a:pPr algn="just" eaLnBrk="1" hangingPunct="1">
              <a:spcAft>
                <a:spcPts val="600"/>
              </a:spcAft>
              <a:buFont typeface="Arial" panose="020B0604020202020204" pitchFamily="34" charset="0"/>
              <a:buNone/>
            </a:pPr>
            <a:r>
              <a:rPr lang="zh-CN" altLang="zh-CN">
                <a:solidFill>
                  <a:schemeClr val="bg2"/>
                </a:solidFill>
                <a:latin typeface="Times New Roman" panose="02020603050405020304" pitchFamily="18" charset="0"/>
              </a:rPr>
              <a:t>   </a:t>
            </a:r>
            <a:r>
              <a:rPr lang="en-US" altLang="zh-CN">
                <a:solidFill>
                  <a:schemeClr val="bg2"/>
                </a:solidFill>
                <a:latin typeface="宋体" panose="02010600030101010101" pitchFamily="2" charset="-122"/>
              </a:rPr>
              <a:t> </a:t>
            </a:r>
            <a:endParaRPr lang="en-US" altLang="zh-CN">
              <a:solidFill>
                <a:schemeClr val="bg2"/>
              </a:solidFill>
              <a:latin typeface="Times New Roman" panose="02020603050405020304" pitchFamily="18" charset="0"/>
            </a:endParaRPr>
          </a:p>
        </p:txBody>
      </p:sp>
      <p:sp>
        <p:nvSpPr>
          <p:cNvPr id="148483" name="Text Box 4">
            <a:extLst>
              <a:ext uri="{FF2B5EF4-FFF2-40B4-BE49-F238E27FC236}">
                <a16:creationId xmlns:a16="http://schemas.microsoft.com/office/drawing/2014/main" id="{6C43C8FE-0035-C54C-A742-12BF8C8AA7B9}"/>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8484" name="Text Box 5">
            <a:extLst>
              <a:ext uri="{FF2B5EF4-FFF2-40B4-BE49-F238E27FC236}">
                <a16:creationId xmlns:a16="http://schemas.microsoft.com/office/drawing/2014/main" id="{49745141-65C8-4B48-B59D-BD2B4E6FD7F5}"/>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8485" name="Text Box 6">
            <a:extLst>
              <a:ext uri="{FF2B5EF4-FFF2-40B4-BE49-F238E27FC236}">
                <a16:creationId xmlns:a16="http://schemas.microsoft.com/office/drawing/2014/main" id="{A0501F77-A49F-7244-AAC9-27684975E194}"/>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8486" name="Text Box 7">
            <a:extLst>
              <a:ext uri="{FF2B5EF4-FFF2-40B4-BE49-F238E27FC236}">
                <a16:creationId xmlns:a16="http://schemas.microsoft.com/office/drawing/2014/main" id="{46AAC9B6-B001-D24D-9D9D-0D4211AC659D}"/>
              </a:ext>
            </a:extLst>
          </p:cNvPr>
          <p:cNvSpPr txBox="1">
            <a:spLocks noChangeArrowheads="1"/>
          </p:cNvSpPr>
          <p:nvPr/>
        </p:nvSpPr>
        <p:spPr bwMode="auto">
          <a:xfrm>
            <a:off x="434340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8487" name="Text Box 8">
            <a:extLst>
              <a:ext uri="{FF2B5EF4-FFF2-40B4-BE49-F238E27FC236}">
                <a16:creationId xmlns:a16="http://schemas.microsoft.com/office/drawing/2014/main" id="{DCE1F46D-8D58-D149-AF1D-7D28EAF80B20}"/>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8488" name="Text Box 9">
            <a:extLst>
              <a:ext uri="{FF2B5EF4-FFF2-40B4-BE49-F238E27FC236}">
                <a16:creationId xmlns:a16="http://schemas.microsoft.com/office/drawing/2014/main" id="{1750A840-43CC-2C46-B994-499DBBEA6783}"/>
              </a:ext>
            </a:extLst>
          </p:cNvPr>
          <p:cNvSpPr txBox="1">
            <a:spLocks noChangeArrowheads="1"/>
          </p:cNvSpPr>
          <p:nvPr/>
        </p:nvSpPr>
        <p:spPr bwMode="auto">
          <a:xfrm>
            <a:off x="3336925" y="436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48489" name="Text Box 10">
            <a:extLst>
              <a:ext uri="{FF2B5EF4-FFF2-40B4-BE49-F238E27FC236}">
                <a16:creationId xmlns:a16="http://schemas.microsoft.com/office/drawing/2014/main" id="{490E6593-E60C-BC45-B3D4-9D99DAB936C7}"/>
              </a:ext>
            </a:extLst>
          </p:cNvPr>
          <p:cNvSpPr txBox="1">
            <a:spLocks noChangeArrowheads="1"/>
          </p:cNvSpPr>
          <p:nvPr/>
        </p:nvSpPr>
        <p:spPr bwMode="auto">
          <a:xfrm>
            <a:off x="3108325" y="4821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pic>
        <p:nvPicPr>
          <p:cNvPr id="148490" name="Picture 27" descr="xd27">
            <a:extLst>
              <a:ext uri="{FF2B5EF4-FFF2-40B4-BE49-F238E27FC236}">
                <a16:creationId xmlns:a16="http://schemas.microsoft.com/office/drawing/2014/main" id="{2B4FBE7A-0AC4-6B4C-9286-EA50AF6A36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143000"/>
            <a:ext cx="734695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1" name="Object 7">
                <a:extLst>
                  <a:ext uri="{FF2B5EF4-FFF2-40B4-BE49-F238E27FC236}">
                    <a16:creationId xmlns:a16="http://schemas.microsoft.com/office/drawing/2014/main" id="{9D2726A8-7E09-F24E-9828-99A201AFC8F6}"/>
                  </a:ext>
                </a:extLst>
              </p:cNvPr>
              <p:cNvSpPr txBox="1">
                <a:spLocks noGrp="1"/>
              </p:cNvSpPr>
              <p:nvPr>
                <p:ph idx="1"/>
              </p:nvPr>
            </p:nvSpPr>
            <p:spPr bwMode="auto">
              <a:xfrm>
                <a:off x="1069975" y="2609850"/>
                <a:ext cx="3933825" cy="1323975"/>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𝑳</m:t>
                          </m:r>
                        </m:e>
                        <m:sub>
                          <m:r>
                            <a:rPr lang="zh-CN" altLang="en-US" b="1" i="1">
                              <a:solidFill>
                                <a:srgbClr val="FF0000"/>
                              </a:solidFill>
                              <a:latin typeface="Cambria Math" panose="02040503050406030204" pitchFamily="18" charset="0"/>
                            </a:rPr>
                            <m:t>𝒊</m:t>
                          </m:r>
                        </m:sub>
                      </m:sSub>
                      <m:r>
                        <a:rPr lang="zh-CN" altLang="en-US" b="1"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𝑹</m:t>
                          </m:r>
                        </m:e>
                        <m:sub>
                          <m:r>
                            <a:rPr lang="zh-CN" altLang="en-US" b="1" i="1">
                              <a:solidFill>
                                <a:srgbClr val="FF0000"/>
                              </a:solidFill>
                              <a:latin typeface="Cambria Math" panose="02040503050406030204" pitchFamily="18" charset="0"/>
                            </a:rPr>
                            <m:t>𝒊</m:t>
                          </m:r>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𝟏</m:t>
                          </m:r>
                        </m:sub>
                      </m:sSub>
                    </m:oMath>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𝑹</m:t>
                          </m:r>
                        </m:e>
                        <m:sub>
                          <m:r>
                            <a:rPr lang="zh-CN" altLang="en-US" b="1" i="1">
                              <a:solidFill>
                                <a:srgbClr val="FF0000"/>
                              </a:solidFill>
                              <a:latin typeface="Cambria Math" panose="02040503050406030204" pitchFamily="18" charset="0"/>
                            </a:rPr>
                            <m:t>𝒊</m:t>
                          </m:r>
                        </m:sub>
                      </m:sSub>
                      <m:r>
                        <a:rPr lang="zh-CN" altLang="en-US" b="1"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𝑳</m:t>
                          </m:r>
                        </m:e>
                        <m:sub>
                          <m:r>
                            <a:rPr lang="zh-CN" altLang="en-US" b="1" i="1">
                              <a:solidFill>
                                <a:srgbClr val="FF0000"/>
                              </a:solidFill>
                              <a:latin typeface="Cambria Math" panose="02040503050406030204" pitchFamily="18" charset="0"/>
                            </a:rPr>
                            <m:t>𝒊</m:t>
                          </m:r>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𝟏</m:t>
                          </m:r>
                        </m:sub>
                      </m:sSub>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𝑭</m:t>
                      </m:r>
                      <m:d>
                        <m:dPr>
                          <m:ctrlPr>
                            <a:rPr lang="zh-CN" altLang="en-US" i="1">
                              <a:solidFill>
                                <a:srgbClr val="FF0000"/>
                              </a:solidFill>
                              <a:latin typeface="Cambria Math" panose="02040503050406030204" pitchFamily="18" charset="0"/>
                            </a:rPr>
                          </m:ctrlPr>
                        </m:dPr>
                        <m:e>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𝑹</m:t>
                              </m:r>
                            </m:e>
                            <m:sub>
                              <m:r>
                                <a:rPr lang="zh-CN" altLang="en-US" b="1" i="1">
                                  <a:solidFill>
                                    <a:srgbClr val="FF0000"/>
                                  </a:solidFill>
                                  <a:latin typeface="Cambria Math" panose="02040503050406030204" pitchFamily="18" charset="0"/>
                                </a:rPr>
                                <m:t>𝒊</m:t>
                              </m:r>
                              <m:r>
                                <a:rPr lang="zh-CN" altLang="en-US" b="1" i="1">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𝟏</m:t>
                              </m:r>
                            </m:sub>
                          </m:sSub>
                          <m:r>
                            <a:rPr lang="zh-CN" altLang="en-US" b="1"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𝑲</m:t>
                              </m:r>
                            </m:e>
                            <m:sub>
                              <m:r>
                                <a:rPr lang="zh-CN" altLang="en-US"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111" name="Object 7">
                <a:extLst>
                  <a:ext uri="{FF2B5EF4-FFF2-40B4-BE49-F238E27FC236}">
                    <a16:creationId xmlns:a16="http://schemas.microsoft.com/office/drawing/2014/main" id="{9D2726A8-7E09-F24E-9828-99A201AFC8F6}"/>
                  </a:ext>
                </a:extLst>
              </p:cNvPr>
              <p:cNvSpPr txBox="1">
                <a:spLocks noGrp="1" noRot="1" noChangeAspect="1" noMove="1" noResize="1" noEditPoints="1" noAdjustHandles="1" noChangeArrowheads="1" noChangeShapeType="1" noTextEdit="1"/>
              </p:cNvSpPr>
              <p:nvPr>
                <p:ph idx="1"/>
              </p:nvPr>
            </p:nvSpPr>
            <p:spPr bwMode="auto">
              <a:xfrm>
                <a:off x="1069975" y="2609850"/>
                <a:ext cx="3933825" cy="1323975"/>
              </a:xfrm>
              <a:prstGeom prst="rect">
                <a:avLst/>
              </a:prstGeom>
              <a:blipFill>
                <a:blip r:embed="rId2"/>
                <a:stretch>
                  <a:fillRect/>
                </a:stretch>
              </a:blipFill>
              <a:ln>
                <a:noFill/>
              </a:ln>
            </p:spPr>
            <p:txBody>
              <a:bodyPr/>
              <a:lstStyle/>
              <a:p>
                <a:r>
                  <a:rPr lang="en-CN">
                    <a:noFill/>
                  </a:rPr>
                  <a:t> </a:t>
                </a:r>
              </a:p>
            </p:txBody>
          </p:sp>
        </mc:Fallback>
      </mc:AlternateContent>
      <p:grpSp>
        <p:nvGrpSpPr>
          <p:cNvPr id="149506" name="Group 2">
            <a:extLst>
              <a:ext uri="{FF2B5EF4-FFF2-40B4-BE49-F238E27FC236}">
                <a16:creationId xmlns:a16="http://schemas.microsoft.com/office/drawing/2014/main" id="{8EC07C7D-4A88-F045-A5CD-6CBC3906A480}"/>
              </a:ext>
            </a:extLst>
          </p:cNvPr>
          <p:cNvGrpSpPr>
            <a:grpSpLocks/>
          </p:cNvGrpSpPr>
          <p:nvPr/>
        </p:nvGrpSpPr>
        <p:grpSpPr bwMode="auto">
          <a:xfrm>
            <a:off x="5715010" y="609674"/>
            <a:ext cx="5133975" cy="6530975"/>
            <a:chOff x="2113" y="2580"/>
            <a:chExt cx="6315" cy="9172"/>
          </a:xfrm>
        </p:grpSpPr>
        <p:sp>
          <p:nvSpPr>
            <p:cNvPr id="149507" name="Line 3">
              <a:extLst>
                <a:ext uri="{FF2B5EF4-FFF2-40B4-BE49-F238E27FC236}">
                  <a16:creationId xmlns:a16="http://schemas.microsoft.com/office/drawing/2014/main" id="{D425F2A8-D0EC-C749-83DA-7D0899D61BB4}"/>
                </a:ext>
              </a:extLst>
            </p:cNvPr>
            <p:cNvSpPr>
              <a:spLocks noChangeShapeType="1"/>
            </p:cNvSpPr>
            <p:nvPr/>
          </p:nvSpPr>
          <p:spPr bwMode="auto">
            <a:xfrm>
              <a:off x="3373" y="10293"/>
              <a:ext cx="0" cy="289"/>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08" name="Line 4">
              <a:extLst>
                <a:ext uri="{FF2B5EF4-FFF2-40B4-BE49-F238E27FC236}">
                  <a16:creationId xmlns:a16="http://schemas.microsoft.com/office/drawing/2014/main" id="{8F33C9A8-3DBE-DD4C-9AE0-565A0562A012}"/>
                </a:ext>
              </a:extLst>
            </p:cNvPr>
            <p:cNvSpPr>
              <a:spLocks noChangeShapeType="1"/>
            </p:cNvSpPr>
            <p:nvPr/>
          </p:nvSpPr>
          <p:spPr bwMode="auto">
            <a:xfrm>
              <a:off x="4858" y="10557"/>
              <a:ext cx="0" cy="21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09" name="Line 5">
              <a:extLst>
                <a:ext uri="{FF2B5EF4-FFF2-40B4-BE49-F238E27FC236}">
                  <a16:creationId xmlns:a16="http://schemas.microsoft.com/office/drawing/2014/main" id="{02912A9B-8D40-9147-9986-7C790DA9C6F1}"/>
                </a:ext>
              </a:extLst>
            </p:cNvPr>
            <p:cNvSpPr>
              <a:spLocks noChangeShapeType="1"/>
            </p:cNvSpPr>
            <p:nvPr/>
          </p:nvSpPr>
          <p:spPr bwMode="auto">
            <a:xfrm>
              <a:off x="6328" y="10293"/>
              <a:ext cx="0" cy="289"/>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10" name="Line 6">
              <a:extLst>
                <a:ext uri="{FF2B5EF4-FFF2-40B4-BE49-F238E27FC236}">
                  <a16:creationId xmlns:a16="http://schemas.microsoft.com/office/drawing/2014/main" id="{6A597935-C5F3-4C42-B416-7C6BD3535468}"/>
                </a:ext>
              </a:extLst>
            </p:cNvPr>
            <p:cNvSpPr>
              <a:spLocks noChangeShapeType="1"/>
            </p:cNvSpPr>
            <p:nvPr/>
          </p:nvSpPr>
          <p:spPr bwMode="auto">
            <a:xfrm>
              <a:off x="3358" y="10557"/>
              <a:ext cx="297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11" name="Rectangle 7">
              <a:extLst>
                <a:ext uri="{FF2B5EF4-FFF2-40B4-BE49-F238E27FC236}">
                  <a16:creationId xmlns:a16="http://schemas.microsoft.com/office/drawing/2014/main" id="{C257387D-B634-9D4F-9C0F-D7CE7D1DBD7A}"/>
                </a:ext>
              </a:extLst>
            </p:cNvPr>
            <p:cNvSpPr>
              <a:spLocks noChangeArrowheads="1"/>
            </p:cNvSpPr>
            <p:nvPr/>
          </p:nvSpPr>
          <p:spPr bwMode="auto">
            <a:xfrm>
              <a:off x="4363" y="11355"/>
              <a:ext cx="945" cy="397"/>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grpSp>
          <p:nvGrpSpPr>
            <p:cNvPr id="149512" name="Group 8">
              <a:extLst>
                <a:ext uri="{FF2B5EF4-FFF2-40B4-BE49-F238E27FC236}">
                  <a16:creationId xmlns:a16="http://schemas.microsoft.com/office/drawing/2014/main" id="{1AF8BC3C-3B70-E14B-84F0-E0E0B91EF5F4}"/>
                </a:ext>
              </a:extLst>
            </p:cNvPr>
            <p:cNvGrpSpPr>
              <a:grpSpLocks/>
            </p:cNvGrpSpPr>
            <p:nvPr/>
          </p:nvGrpSpPr>
          <p:grpSpPr bwMode="auto">
            <a:xfrm>
              <a:off x="2113" y="2580"/>
              <a:ext cx="6315" cy="7861"/>
              <a:chOff x="2113" y="2580"/>
              <a:chExt cx="6315" cy="7861"/>
            </a:xfrm>
          </p:grpSpPr>
          <p:grpSp>
            <p:nvGrpSpPr>
              <p:cNvPr id="149513" name="Group 9">
                <a:extLst>
                  <a:ext uri="{FF2B5EF4-FFF2-40B4-BE49-F238E27FC236}">
                    <a16:creationId xmlns:a16="http://schemas.microsoft.com/office/drawing/2014/main" id="{B24695DC-1FF6-5A41-9F69-E0CD32C688E7}"/>
                  </a:ext>
                </a:extLst>
              </p:cNvPr>
              <p:cNvGrpSpPr>
                <a:grpSpLocks/>
              </p:cNvGrpSpPr>
              <p:nvPr/>
            </p:nvGrpSpPr>
            <p:grpSpPr bwMode="auto">
              <a:xfrm>
                <a:off x="2113" y="3680"/>
                <a:ext cx="6315" cy="6761"/>
                <a:chOff x="2113" y="3365"/>
                <a:chExt cx="6315" cy="6761"/>
              </a:xfrm>
            </p:grpSpPr>
            <p:sp>
              <p:nvSpPr>
                <p:cNvPr id="149514" name="Line 10">
                  <a:extLst>
                    <a:ext uri="{FF2B5EF4-FFF2-40B4-BE49-F238E27FC236}">
                      <a16:creationId xmlns:a16="http://schemas.microsoft.com/office/drawing/2014/main" id="{FFE31141-3F63-EB4D-A332-093A4DFF4244}"/>
                    </a:ext>
                  </a:extLst>
                </p:cNvPr>
                <p:cNvSpPr>
                  <a:spLocks noChangeShapeType="1"/>
                </p:cNvSpPr>
                <p:nvPr/>
              </p:nvSpPr>
              <p:spPr bwMode="auto">
                <a:xfrm>
                  <a:off x="6328" y="4094"/>
                  <a:ext cx="0" cy="7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grpSp>
              <p:nvGrpSpPr>
                <p:cNvPr id="149515" name="Group 11">
                  <a:extLst>
                    <a:ext uri="{FF2B5EF4-FFF2-40B4-BE49-F238E27FC236}">
                      <a16:creationId xmlns:a16="http://schemas.microsoft.com/office/drawing/2014/main" id="{4EF5BFE8-08CE-8445-A659-64CE70E5A531}"/>
                    </a:ext>
                  </a:extLst>
                </p:cNvPr>
                <p:cNvGrpSpPr>
                  <a:grpSpLocks/>
                </p:cNvGrpSpPr>
                <p:nvPr/>
              </p:nvGrpSpPr>
              <p:grpSpPr bwMode="auto">
                <a:xfrm>
                  <a:off x="2113" y="3365"/>
                  <a:ext cx="6315" cy="6761"/>
                  <a:chOff x="2113" y="3365"/>
                  <a:chExt cx="6315" cy="6761"/>
                </a:xfrm>
              </p:grpSpPr>
              <p:grpSp>
                <p:nvGrpSpPr>
                  <p:cNvPr id="149516" name="Group 12">
                    <a:extLst>
                      <a:ext uri="{FF2B5EF4-FFF2-40B4-BE49-F238E27FC236}">
                        <a16:creationId xmlns:a16="http://schemas.microsoft.com/office/drawing/2014/main" id="{3E6A021B-DDBA-6B46-9682-0E0064D7F5C1}"/>
                      </a:ext>
                    </a:extLst>
                  </p:cNvPr>
                  <p:cNvGrpSpPr>
                    <a:grpSpLocks/>
                  </p:cNvGrpSpPr>
                  <p:nvPr/>
                </p:nvGrpSpPr>
                <p:grpSpPr bwMode="auto">
                  <a:xfrm>
                    <a:off x="2113" y="6587"/>
                    <a:ext cx="6300" cy="1853"/>
                    <a:chOff x="2113" y="5736"/>
                    <a:chExt cx="6300" cy="1853"/>
                  </a:xfrm>
                </p:grpSpPr>
                <mc:AlternateContent xmlns:mc="http://schemas.openxmlformats.org/markup-compatibility/2006" xmlns:a14="http://schemas.microsoft.com/office/drawing/2010/main">
                  <mc:Choice Requires="a14">
                    <p:sp>
                      <p:nvSpPr>
                        <p:cNvPr id="149517" name="Object 13">
                          <a:extLst>
                            <a:ext uri="{FF2B5EF4-FFF2-40B4-BE49-F238E27FC236}">
                              <a16:creationId xmlns:a16="http://schemas.microsoft.com/office/drawing/2014/main" id="{944F1015-76F4-B643-B378-BC6B82B4A087}"/>
                            </a:ext>
                          </a:extLst>
                        </p:cNvPr>
                        <p:cNvSpPr txBox="1"/>
                        <p:nvPr/>
                      </p:nvSpPr>
                      <p:spPr bwMode="auto">
                        <a:xfrm>
                          <a:off x="8090" y="6116"/>
                          <a:ext cx="277" cy="1215"/>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第</m:t>
                                </m:r>
                              </m:oMath>
                              <m:oMath xmlns:m="http://schemas.openxmlformats.org/officeDocument/2006/math">
                                <m:r>
                                  <a:rPr lang="zh-CN" altLang="en-US" i="1">
                                    <a:solidFill>
                                      <a:srgbClr val="000000"/>
                                    </a:solidFill>
                                    <a:latin typeface="Cambria Math" panose="02040503050406030204" pitchFamily="18" charset="0"/>
                                  </a:rPr>
                                  <m:t>十</m:t>
                                </m:r>
                              </m:oMath>
                              <m:oMath xmlns:m="http://schemas.openxmlformats.org/officeDocument/2006/math">
                                <m:r>
                                  <a:rPr lang="zh-CN" altLang="en-US" i="1">
                                    <a:solidFill>
                                      <a:srgbClr val="000000"/>
                                    </a:solidFill>
                                    <a:latin typeface="Cambria Math" panose="02040503050406030204" pitchFamily="18" charset="0"/>
                                  </a:rPr>
                                  <m:t>五</m:t>
                                </m:r>
                              </m:oMath>
                              <m:oMath xmlns:m="http://schemas.openxmlformats.org/officeDocument/2006/math">
                                <m:r>
                                  <a:rPr lang="zh-CN" altLang="en-US" i="1">
                                    <a:solidFill>
                                      <a:srgbClr val="000000"/>
                                    </a:solidFill>
                                    <a:latin typeface="Cambria Math" panose="02040503050406030204" pitchFamily="18" charset="0"/>
                                  </a:rPr>
                                  <m:t>轮</m:t>
                                </m:r>
                              </m:oMath>
                            </m:oMathPara>
                          </a14:m>
                          <a:endParaRPr lang="zh-CN" altLang="en-US"/>
                        </a:p>
                      </p:txBody>
                    </p:sp>
                  </mc:Choice>
                  <mc:Fallback xmlns="">
                    <p:sp>
                      <p:nvSpPr>
                        <p:cNvPr id="149517" name="Object 13">
                          <a:extLst>
                            <a:ext uri="{FF2B5EF4-FFF2-40B4-BE49-F238E27FC236}">
                              <a16:creationId xmlns:a16="http://schemas.microsoft.com/office/drawing/2014/main" id="{944F1015-76F4-B643-B378-BC6B82B4A087}"/>
                            </a:ext>
                          </a:extLst>
                        </p:cNvPr>
                        <p:cNvSpPr txBox="1">
                          <a:spLocks noRot="1" noChangeAspect="1" noMove="1" noResize="1" noEditPoints="1" noAdjustHandles="1" noChangeArrowheads="1" noChangeShapeType="1" noTextEdit="1"/>
                        </p:cNvSpPr>
                        <p:nvPr/>
                      </p:nvSpPr>
                      <p:spPr bwMode="auto">
                        <a:xfrm>
                          <a:off x="8090" y="6116"/>
                          <a:ext cx="277" cy="1215"/>
                        </a:xfrm>
                        <a:prstGeom prst="rect">
                          <a:avLst/>
                        </a:prstGeom>
                        <a:blipFill>
                          <a:blip r:embed="rId3"/>
                          <a:stretch>
                            <a:fillRect r="-32432"/>
                          </a:stretch>
                        </a:blipFill>
                        <a:ln>
                          <a:noFill/>
                        </a:ln>
                        <a:extLst/>
                      </p:spPr>
                      <p:txBody>
                        <a:bodyPr/>
                        <a:lstStyle/>
                        <a:p>
                          <a:r>
                            <a:rPr lang="zh-CN" altLang="en-US">
                              <a:noFill/>
                            </a:rPr>
                            <a:t> </a:t>
                          </a:r>
                        </a:p>
                      </p:txBody>
                    </p:sp>
                  </mc:Fallback>
                </mc:AlternateContent>
                <p:sp>
                  <p:nvSpPr>
                    <p:cNvPr id="149518" name="Rectangle 14">
                      <a:extLst>
                        <a:ext uri="{FF2B5EF4-FFF2-40B4-BE49-F238E27FC236}">
                          <a16:creationId xmlns:a16="http://schemas.microsoft.com/office/drawing/2014/main" id="{60671F84-9F18-8E4F-8FDA-A36B0B8989F1}"/>
                        </a:ext>
                      </a:extLst>
                    </p:cNvPr>
                    <p:cNvSpPr>
                      <a:spLocks noChangeArrowheads="1"/>
                    </p:cNvSpPr>
                    <p:nvPr/>
                  </p:nvSpPr>
                  <p:spPr bwMode="auto">
                    <a:xfrm>
                      <a:off x="2113" y="7023"/>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sp>
                  <p:nvSpPr>
                    <p:cNvPr id="149519" name="Rectangle 15">
                      <a:extLst>
                        <a:ext uri="{FF2B5EF4-FFF2-40B4-BE49-F238E27FC236}">
                          <a16:creationId xmlns:a16="http://schemas.microsoft.com/office/drawing/2014/main" id="{B5786BFD-E764-FB4A-BBE7-C38F50BCDA37}"/>
                        </a:ext>
                      </a:extLst>
                    </p:cNvPr>
                    <p:cNvSpPr>
                      <a:spLocks noChangeArrowheads="1"/>
                    </p:cNvSpPr>
                    <p:nvPr/>
                  </p:nvSpPr>
                  <p:spPr bwMode="auto">
                    <a:xfrm>
                      <a:off x="5038" y="7038"/>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sp>
                  <p:nvSpPr>
                    <p:cNvPr id="149520" name="Line 16">
                      <a:extLst>
                        <a:ext uri="{FF2B5EF4-FFF2-40B4-BE49-F238E27FC236}">
                          <a16:creationId xmlns:a16="http://schemas.microsoft.com/office/drawing/2014/main" id="{167CBF71-ECBC-4245-9FF8-21B21E3BDD87}"/>
                        </a:ext>
                      </a:extLst>
                    </p:cNvPr>
                    <p:cNvSpPr>
                      <a:spLocks noChangeShapeType="1"/>
                    </p:cNvSpPr>
                    <p:nvPr/>
                  </p:nvSpPr>
                  <p:spPr bwMode="auto">
                    <a:xfrm>
                      <a:off x="3373" y="6762"/>
                      <a:ext cx="0" cy="26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21" name="Line 17">
                      <a:extLst>
                        <a:ext uri="{FF2B5EF4-FFF2-40B4-BE49-F238E27FC236}">
                          <a16:creationId xmlns:a16="http://schemas.microsoft.com/office/drawing/2014/main" id="{283E5511-2AE3-844C-8A9A-585B1D7DC991}"/>
                        </a:ext>
                      </a:extLst>
                    </p:cNvPr>
                    <p:cNvSpPr>
                      <a:spLocks noChangeShapeType="1"/>
                    </p:cNvSpPr>
                    <p:nvPr/>
                  </p:nvSpPr>
                  <p:spPr bwMode="auto">
                    <a:xfrm>
                      <a:off x="6313" y="6777"/>
                      <a:ext cx="0" cy="26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22" name="Line 18">
                      <a:extLst>
                        <a:ext uri="{FF2B5EF4-FFF2-40B4-BE49-F238E27FC236}">
                          <a16:creationId xmlns:a16="http://schemas.microsoft.com/office/drawing/2014/main" id="{E3F01827-5D76-3548-AA51-D50441BFCDFE}"/>
                        </a:ext>
                      </a:extLst>
                    </p:cNvPr>
                    <p:cNvSpPr>
                      <a:spLocks noChangeShapeType="1"/>
                    </p:cNvSpPr>
                    <p:nvPr/>
                  </p:nvSpPr>
                  <p:spPr bwMode="auto">
                    <a:xfrm>
                      <a:off x="6328" y="5742"/>
                      <a:ext cx="0" cy="7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23" name="Line 19">
                      <a:extLst>
                        <a:ext uri="{FF2B5EF4-FFF2-40B4-BE49-F238E27FC236}">
                          <a16:creationId xmlns:a16="http://schemas.microsoft.com/office/drawing/2014/main" id="{8210A674-C18A-D24E-A24D-2052AAD360F6}"/>
                        </a:ext>
                      </a:extLst>
                    </p:cNvPr>
                    <p:cNvSpPr>
                      <a:spLocks noChangeShapeType="1"/>
                    </p:cNvSpPr>
                    <p:nvPr/>
                  </p:nvSpPr>
                  <p:spPr bwMode="auto">
                    <a:xfrm flipH="1">
                      <a:off x="5053" y="6258"/>
                      <a:ext cx="12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24" name="Line 20">
                      <a:extLst>
                        <a:ext uri="{FF2B5EF4-FFF2-40B4-BE49-F238E27FC236}">
                          <a16:creationId xmlns:a16="http://schemas.microsoft.com/office/drawing/2014/main" id="{6C6AEC96-C951-C24D-B24E-FB74AE411990}"/>
                        </a:ext>
                      </a:extLst>
                    </p:cNvPr>
                    <p:cNvSpPr>
                      <a:spLocks noChangeShapeType="1"/>
                    </p:cNvSpPr>
                    <p:nvPr/>
                  </p:nvSpPr>
                  <p:spPr bwMode="auto">
                    <a:xfrm>
                      <a:off x="3373" y="5736"/>
                      <a:ext cx="0" cy="4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25" name="Oval 21">
                      <a:extLst>
                        <a:ext uri="{FF2B5EF4-FFF2-40B4-BE49-F238E27FC236}">
                          <a16:creationId xmlns:a16="http://schemas.microsoft.com/office/drawing/2014/main" id="{B0A4B52A-682B-F648-BAAE-DDD58A57EE24}"/>
                        </a:ext>
                      </a:extLst>
                    </p:cNvPr>
                    <p:cNvSpPr>
                      <a:spLocks noChangeArrowheads="1"/>
                    </p:cNvSpPr>
                    <p:nvPr/>
                  </p:nvSpPr>
                  <p:spPr bwMode="auto">
                    <a:xfrm>
                      <a:off x="4633" y="6027"/>
                      <a:ext cx="420" cy="468"/>
                    </a:xfrm>
                    <a:prstGeom prst="ellipse">
                      <a:avLst/>
                    </a:prstGeom>
                    <a:solidFill>
                      <a:srgbClr val="FFFFFF"/>
                    </a:solidFill>
                    <a:ln w="9525">
                      <a:solidFill>
                        <a:srgbClr val="000000"/>
                      </a:solidFill>
                      <a:round/>
                      <a:headEnd/>
                      <a:tailEnd/>
                    </a:ln>
                  </p:spPr>
                  <p:txBody>
                    <a:bodyPr/>
                    <a:lstStyle/>
                    <a:p>
                      <a:endParaRPr lang="zh-CN" altLang="en-US">
                        <a:solidFill>
                          <a:srgbClr val="006699"/>
                        </a:solidFill>
                      </a:endParaRPr>
                    </a:p>
                  </p:txBody>
                </p:sp>
                <p:sp>
                  <p:nvSpPr>
                    <p:cNvPr id="149526" name="Line 22">
                      <a:extLst>
                        <a:ext uri="{FF2B5EF4-FFF2-40B4-BE49-F238E27FC236}">
                          <a16:creationId xmlns:a16="http://schemas.microsoft.com/office/drawing/2014/main" id="{730BA6D0-A10B-B341-B561-681B0AB402F6}"/>
                        </a:ext>
                      </a:extLst>
                    </p:cNvPr>
                    <p:cNvSpPr>
                      <a:spLocks noChangeShapeType="1"/>
                    </p:cNvSpPr>
                    <p:nvPr/>
                  </p:nvSpPr>
                  <p:spPr bwMode="auto">
                    <a:xfrm flipH="1">
                      <a:off x="3478" y="6258"/>
                      <a:ext cx="1145"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27" name="Line 23">
                      <a:extLst>
                        <a:ext uri="{FF2B5EF4-FFF2-40B4-BE49-F238E27FC236}">
                          <a16:creationId xmlns:a16="http://schemas.microsoft.com/office/drawing/2014/main" id="{A4ED6D68-77FB-404E-A5FE-F285F12DBF11}"/>
                        </a:ext>
                      </a:extLst>
                    </p:cNvPr>
                    <p:cNvSpPr>
                      <a:spLocks noChangeShapeType="1"/>
                    </p:cNvSpPr>
                    <p:nvPr/>
                  </p:nvSpPr>
                  <p:spPr bwMode="auto">
                    <a:xfrm>
                      <a:off x="3358" y="6369"/>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28" name="Line 24">
                      <a:extLst>
                        <a:ext uri="{FF2B5EF4-FFF2-40B4-BE49-F238E27FC236}">
                          <a16:creationId xmlns:a16="http://schemas.microsoft.com/office/drawing/2014/main" id="{93541F5D-911B-B34D-AA43-320E78AC69D9}"/>
                        </a:ext>
                      </a:extLst>
                    </p:cNvPr>
                    <p:cNvSpPr>
                      <a:spLocks noChangeShapeType="1"/>
                    </p:cNvSpPr>
                    <p:nvPr/>
                  </p:nvSpPr>
                  <p:spPr bwMode="auto">
                    <a:xfrm>
                      <a:off x="3373" y="6465"/>
                      <a:ext cx="294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29" name="Line 25">
                      <a:extLst>
                        <a:ext uri="{FF2B5EF4-FFF2-40B4-BE49-F238E27FC236}">
                          <a16:creationId xmlns:a16="http://schemas.microsoft.com/office/drawing/2014/main" id="{1781FDDA-47E9-9440-9404-590B17D9D7F6}"/>
                        </a:ext>
                      </a:extLst>
                    </p:cNvPr>
                    <p:cNvSpPr>
                      <a:spLocks noChangeShapeType="1"/>
                    </p:cNvSpPr>
                    <p:nvPr/>
                  </p:nvSpPr>
                  <p:spPr bwMode="auto">
                    <a:xfrm flipH="1">
                      <a:off x="3373" y="6450"/>
                      <a:ext cx="2942"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30" name="Line 26">
                      <a:extLst>
                        <a:ext uri="{FF2B5EF4-FFF2-40B4-BE49-F238E27FC236}">
                          <a16:creationId xmlns:a16="http://schemas.microsoft.com/office/drawing/2014/main" id="{088C1F87-9772-5B41-923A-C57B876F7D36}"/>
                        </a:ext>
                      </a:extLst>
                    </p:cNvPr>
                    <p:cNvSpPr>
                      <a:spLocks noChangeShapeType="1"/>
                    </p:cNvSpPr>
                    <p:nvPr/>
                  </p:nvSpPr>
                  <p:spPr bwMode="auto">
                    <a:xfrm flipH="1">
                      <a:off x="5068" y="6042"/>
                      <a:ext cx="105" cy="21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31" name="Line 27">
                      <a:extLst>
                        <a:ext uri="{FF2B5EF4-FFF2-40B4-BE49-F238E27FC236}">
                          <a16:creationId xmlns:a16="http://schemas.microsoft.com/office/drawing/2014/main" id="{44AB7155-4450-2F4D-99AB-81F2E92CB0FB}"/>
                        </a:ext>
                      </a:extLst>
                    </p:cNvPr>
                    <p:cNvSpPr>
                      <a:spLocks noChangeShapeType="1"/>
                    </p:cNvSpPr>
                    <p:nvPr/>
                  </p:nvSpPr>
                  <p:spPr bwMode="auto">
                    <a:xfrm>
                      <a:off x="5173" y="6042"/>
                      <a:ext cx="199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32" name="Line 28">
                      <a:extLst>
                        <a:ext uri="{FF2B5EF4-FFF2-40B4-BE49-F238E27FC236}">
                          <a16:creationId xmlns:a16="http://schemas.microsoft.com/office/drawing/2014/main" id="{7301A8CC-B6A0-4248-AB89-6068CFBD09EE}"/>
                        </a:ext>
                      </a:extLst>
                    </p:cNvPr>
                    <p:cNvSpPr>
                      <a:spLocks noChangeShapeType="1"/>
                    </p:cNvSpPr>
                    <p:nvPr/>
                  </p:nvSpPr>
                  <p:spPr bwMode="auto">
                    <a:xfrm>
                      <a:off x="3373" y="5847"/>
                      <a:ext cx="504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CN"/>
                    </a:p>
                  </p:txBody>
                </p:sp>
                <p:sp>
                  <p:nvSpPr>
                    <p:cNvPr id="149533" name="Line 29">
                      <a:extLst>
                        <a:ext uri="{FF2B5EF4-FFF2-40B4-BE49-F238E27FC236}">
                          <a16:creationId xmlns:a16="http://schemas.microsoft.com/office/drawing/2014/main" id="{9598F07D-D121-AF4D-85FF-42EA0AB48ABD}"/>
                        </a:ext>
                      </a:extLst>
                    </p:cNvPr>
                    <p:cNvSpPr>
                      <a:spLocks noChangeShapeType="1"/>
                    </p:cNvSpPr>
                    <p:nvPr/>
                  </p:nvSpPr>
                  <p:spPr bwMode="auto">
                    <a:xfrm flipV="1">
                      <a:off x="8203" y="5847"/>
                      <a:ext cx="0" cy="22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34" name="Line 30">
                      <a:extLst>
                        <a:ext uri="{FF2B5EF4-FFF2-40B4-BE49-F238E27FC236}">
                          <a16:creationId xmlns:a16="http://schemas.microsoft.com/office/drawing/2014/main" id="{40FB3480-067E-0242-BA2A-6E45F70B725B}"/>
                        </a:ext>
                      </a:extLst>
                    </p:cNvPr>
                    <p:cNvSpPr>
                      <a:spLocks noChangeShapeType="1"/>
                    </p:cNvSpPr>
                    <p:nvPr/>
                  </p:nvSpPr>
                  <p:spPr bwMode="auto">
                    <a:xfrm>
                      <a:off x="8203" y="7362"/>
                      <a:ext cx="0" cy="22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mc:AlternateContent xmlns:mc="http://schemas.openxmlformats.org/markup-compatibility/2006" xmlns:a14="http://schemas.microsoft.com/office/drawing/2010/main">
                  <mc:Choice Requires="a14">
                    <p:sp>
                      <p:nvSpPr>
                        <p:cNvPr id="149535" name="Object 31">
                          <a:extLst>
                            <a:ext uri="{FF2B5EF4-FFF2-40B4-BE49-F238E27FC236}">
                              <a16:creationId xmlns:a16="http://schemas.microsoft.com/office/drawing/2014/main" id="{DDA64622-B3F7-C84E-BD35-5646088DA9A4}"/>
                            </a:ext>
                          </a:extLst>
                        </p:cNvPr>
                        <p:cNvSpPr txBox="1"/>
                        <p:nvPr/>
                      </p:nvSpPr>
                      <p:spPr bwMode="auto">
                        <a:xfrm>
                          <a:off x="7153" y="5888"/>
                          <a:ext cx="320" cy="360"/>
                        </a:xfrm>
                        <a:prstGeom prst="rect">
                          <a:avLst/>
                        </a:prstGeom>
                        <a:noFill/>
                        <a:ln>
                          <a:noFill/>
                        </a:ln>
                      </p:spPr>
                      <p:txBody>
                        <a:bodyPr>
                          <a:normAutofit fontScale="55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15</m:t>
                                    </m:r>
                                  </m:sub>
                                </m:sSub>
                              </m:oMath>
                            </m:oMathPara>
                          </a14:m>
                          <a:endParaRPr lang="zh-CN" altLang="en-US"/>
                        </a:p>
                      </p:txBody>
                    </p:sp>
                  </mc:Choice>
                  <mc:Fallback xmlns="">
                    <p:sp>
                      <p:nvSpPr>
                        <p:cNvPr id="149535" name="Object 31">
                          <a:extLst>
                            <a:ext uri="{FF2B5EF4-FFF2-40B4-BE49-F238E27FC236}">
                              <a16:creationId xmlns:a16="http://schemas.microsoft.com/office/drawing/2014/main" id="{DDA64622-B3F7-C84E-BD35-5646088DA9A4}"/>
                            </a:ext>
                          </a:extLst>
                        </p:cNvPr>
                        <p:cNvSpPr txBox="1">
                          <a:spLocks noRot="1" noChangeAspect="1" noMove="1" noResize="1" noEditPoints="1" noAdjustHandles="1" noChangeArrowheads="1" noChangeShapeType="1" noTextEdit="1"/>
                        </p:cNvSpPr>
                        <p:nvPr/>
                      </p:nvSpPr>
                      <p:spPr bwMode="auto">
                        <a:xfrm>
                          <a:off x="7153" y="5888"/>
                          <a:ext cx="320" cy="360"/>
                        </a:xfrm>
                        <a:prstGeom prst="rect">
                          <a:avLst/>
                        </a:prstGeom>
                        <a:blipFill>
                          <a:blip r:embed="rId4"/>
                          <a:stretch>
                            <a:fillRect r="-18605"/>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36" name="Object 32">
                          <a:extLst>
                            <a:ext uri="{FF2B5EF4-FFF2-40B4-BE49-F238E27FC236}">
                              <a16:creationId xmlns:a16="http://schemas.microsoft.com/office/drawing/2014/main" id="{29EE6197-19E9-4E43-9F62-E753041F19DF}"/>
                            </a:ext>
                          </a:extLst>
                        </p:cNvPr>
                        <p:cNvSpPr txBox="1"/>
                        <p:nvPr/>
                      </p:nvSpPr>
                      <p:spPr bwMode="auto">
                        <a:xfrm>
                          <a:off x="4738" y="6134"/>
                          <a:ext cx="240" cy="32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𝑓</m:t>
                                </m:r>
                              </m:oMath>
                            </m:oMathPara>
                          </a14:m>
                          <a:endParaRPr lang="zh-CN" altLang="en-US"/>
                        </a:p>
                      </p:txBody>
                    </p:sp>
                  </mc:Choice>
                  <mc:Fallback xmlns="">
                    <p:sp>
                      <p:nvSpPr>
                        <p:cNvPr id="149536" name="Object 32">
                          <a:extLst>
                            <a:ext uri="{FF2B5EF4-FFF2-40B4-BE49-F238E27FC236}">
                              <a16:creationId xmlns:a16="http://schemas.microsoft.com/office/drawing/2014/main" id="{29EE6197-19E9-4E43-9F62-E753041F19DF}"/>
                            </a:ext>
                          </a:extLst>
                        </p:cNvPr>
                        <p:cNvSpPr txBox="1">
                          <a:spLocks noRot="1" noChangeAspect="1" noMove="1" noResize="1" noEditPoints="1" noAdjustHandles="1" noChangeArrowheads="1" noChangeShapeType="1" noTextEdit="1"/>
                        </p:cNvSpPr>
                        <p:nvPr/>
                      </p:nvSpPr>
                      <p:spPr bwMode="auto">
                        <a:xfrm>
                          <a:off x="4738" y="6134"/>
                          <a:ext cx="240" cy="320"/>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37" name="Object 33">
                          <a:extLst>
                            <a:ext uri="{FF2B5EF4-FFF2-40B4-BE49-F238E27FC236}">
                              <a16:creationId xmlns:a16="http://schemas.microsoft.com/office/drawing/2014/main" id="{29ACA9DB-FE47-5342-976E-ACDADAA3D329}"/>
                            </a:ext>
                          </a:extLst>
                        </p:cNvPr>
                        <p:cNvSpPr txBox="1"/>
                        <p:nvPr/>
                      </p:nvSpPr>
                      <p:spPr bwMode="auto">
                        <a:xfrm>
                          <a:off x="3238" y="6119"/>
                          <a:ext cx="279"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37" name="Object 33">
                          <a:extLst>
                            <a:ext uri="{FF2B5EF4-FFF2-40B4-BE49-F238E27FC236}">
                              <a16:creationId xmlns:a16="http://schemas.microsoft.com/office/drawing/2014/main" id="{29ACA9DB-FE47-5342-976E-ACDADAA3D329}"/>
                            </a:ext>
                          </a:extLst>
                        </p:cNvPr>
                        <p:cNvSpPr txBox="1">
                          <a:spLocks noRot="1" noChangeAspect="1" noMove="1" noResize="1" noEditPoints="1" noAdjustHandles="1" noChangeArrowheads="1" noChangeShapeType="1" noTextEdit="1"/>
                        </p:cNvSpPr>
                        <p:nvPr/>
                      </p:nvSpPr>
                      <p:spPr bwMode="auto">
                        <a:xfrm>
                          <a:off x="3238" y="6119"/>
                          <a:ext cx="279" cy="30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38" name="Object 34">
                          <a:extLst>
                            <a:ext uri="{FF2B5EF4-FFF2-40B4-BE49-F238E27FC236}">
                              <a16:creationId xmlns:a16="http://schemas.microsoft.com/office/drawing/2014/main" id="{96F4A9E5-72F0-1C4A-8B0E-DE47868F3EF2}"/>
                            </a:ext>
                          </a:extLst>
                        </p:cNvPr>
                        <p:cNvSpPr txBox="1"/>
                        <p:nvPr/>
                      </p:nvSpPr>
                      <p:spPr bwMode="auto">
                        <a:xfrm>
                          <a:off x="2968" y="7136"/>
                          <a:ext cx="800"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15</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14</m:t>
                                    </m:r>
                                  </m:sub>
                                </m:sSub>
                              </m:oMath>
                            </m:oMathPara>
                          </a14:m>
                          <a:endParaRPr lang="zh-CN" altLang="en-US"/>
                        </a:p>
                      </p:txBody>
                    </p:sp>
                  </mc:Choice>
                  <mc:Fallback xmlns="">
                    <p:sp>
                      <p:nvSpPr>
                        <p:cNvPr id="149538" name="Object 34">
                          <a:extLst>
                            <a:ext uri="{FF2B5EF4-FFF2-40B4-BE49-F238E27FC236}">
                              <a16:creationId xmlns:a16="http://schemas.microsoft.com/office/drawing/2014/main" id="{96F4A9E5-72F0-1C4A-8B0E-DE47868F3EF2}"/>
                            </a:ext>
                          </a:extLst>
                        </p:cNvPr>
                        <p:cNvSpPr txBox="1">
                          <a:spLocks noRot="1" noChangeAspect="1" noMove="1" noResize="1" noEditPoints="1" noAdjustHandles="1" noChangeArrowheads="1" noChangeShapeType="1" noTextEdit="1"/>
                        </p:cNvSpPr>
                        <p:nvPr/>
                      </p:nvSpPr>
                      <p:spPr bwMode="auto">
                        <a:xfrm>
                          <a:off x="2968" y="7136"/>
                          <a:ext cx="800" cy="30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39" name="Object 35">
                          <a:extLst>
                            <a:ext uri="{FF2B5EF4-FFF2-40B4-BE49-F238E27FC236}">
                              <a16:creationId xmlns:a16="http://schemas.microsoft.com/office/drawing/2014/main" id="{061CB6BD-6857-2C4D-ADD5-24962740587E}"/>
                            </a:ext>
                          </a:extLst>
                        </p:cNvPr>
                        <p:cNvSpPr txBox="1"/>
                        <p:nvPr/>
                      </p:nvSpPr>
                      <p:spPr bwMode="auto">
                        <a:xfrm>
                          <a:off x="5308" y="7136"/>
                          <a:ext cx="2000"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15</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14</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14</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15</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39" name="Object 35">
                          <a:extLst>
                            <a:ext uri="{FF2B5EF4-FFF2-40B4-BE49-F238E27FC236}">
                              <a16:creationId xmlns:a16="http://schemas.microsoft.com/office/drawing/2014/main" id="{061CB6BD-6857-2C4D-ADD5-24962740587E}"/>
                            </a:ext>
                          </a:extLst>
                        </p:cNvPr>
                        <p:cNvSpPr txBox="1">
                          <a:spLocks noRot="1" noChangeAspect="1" noMove="1" noResize="1" noEditPoints="1" noAdjustHandles="1" noChangeArrowheads="1" noChangeShapeType="1" noTextEdit="1"/>
                        </p:cNvSpPr>
                        <p:nvPr/>
                      </p:nvSpPr>
                      <p:spPr bwMode="auto">
                        <a:xfrm>
                          <a:off x="5308" y="7136"/>
                          <a:ext cx="2000" cy="300"/>
                        </a:xfrm>
                        <a:prstGeom prst="rect">
                          <a:avLst/>
                        </a:prstGeom>
                        <a:blipFill>
                          <a:blip r:embed="rId8"/>
                          <a:stretch>
                            <a:fillRect/>
                          </a:stretch>
                        </a:blipFill>
                        <a:ln>
                          <a:noFill/>
                        </a:ln>
                        <a:extLst/>
                      </p:spPr>
                      <p:txBody>
                        <a:bodyPr/>
                        <a:lstStyle/>
                        <a:p>
                          <a:r>
                            <a:rPr lang="zh-CN" altLang="en-US">
                              <a:noFill/>
                            </a:rPr>
                            <a:t> </a:t>
                          </a:r>
                        </a:p>
                      </p:txBody>
                    </p:sp>
                  </mc:Fallback>
                </mc:AlternateContent>
                <p:sp>
                  <p:nvSpPr>
                    <p:cNvPr id="149540" name="Line 36">
                      <a:extLst>
                        <a:ext uri="{FF2B5EF4-FFF2-40B4-BE49-F238E27FC236}">
                          <a16:creationId xmlns:a16="http://schemas.microsoft.com/office/drawing/2014/main" id="{61E7CB09-956E-964C-ABA8-F8AC8ABF8A2B}"/>
                        </a:ext>
                      </a:extLst>
                    </p:cNvPr>
                    <p:cNvSpPr>
                      <a:spLocks noChangeShapeType="1"/>
                    </p:cNvSpPr>
                    <p:nvPr/>
                  </p:nvSpPr>
                  <p:spPr bwMode="auto">
                    <a:xfrm>
                      <a:off x="3373" y="7587"/>
                      <a:ext cx="504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CN"/>
                    </a:p>
                  </p:txBody>
                </p:sp>
              </p:grpSp>
              <p:grpSp>
                <p:nvGrpSpPr>
                  <p:cNvPr id="149541" name="Group 37">
                    <a:extLst>
                      <a:ext uri="{FF2B5EF4-FFF2-40B4-BE49-F238E27FC236}">
                        <a16:creationId xmlns:a16="http://schemas.microsoft.com/office/drawing/2014/main" id="{9E29044F-F3D5-D546-97B9-F885AA9B8879}"/>
                      </a:ext>
                    </a:extLst>
                  </p:cNvPr>
                  <p:cNvGrpSpPr>
                    <a:grpSpLocks/>
                  </p:cNvGrpSpPr>
                  <p:nvPr/>
                </p:nvGrpSpPr>
                <p:grpSpPr bwMode="auto">
                  <a:xfrm>
                    <a:off x="2113" y="8348"/>
                    <a:ext cx="6315" cy="1778"/>
                    <a:chOff x="2113" y="8348"/>
                    <a:chExt cx="6315" cy="1778"/>
                  </a:xfrm>
                </p:grpSpPr>
                <p:sp>
                  <p:nvSpPr>
                    <p:cNvPr id="149542" name="Line 38">
                      <a:extLst>
                        <a:ext uri="{FF2B5EF4-FFF2-40B4-BE49-F238E27FC236}">
                          <a16:creationId xmlns:a16="http://schemas.microsoft.com/office/drawing/2014/main" id="{A98BB1D5-FFA7-734C-B8DD-B8E08B8D1B02}"/>
                        </a:ext>
                      </a:extLst>
                    </p:cNvPr>
                    <p:cNvSpPr>
                      <a:spLocks noChangeShapeType="1"/>
                    </p:cNvSpPr>
                    <p:nvPr/>
                  </p:nvSpPr>
                  <p:spPr bwMode="auto">
                    <a:xfrm flipV="1">
                      <a:off x="8203" y="8432"/>
                      <a:ext cx="0" cy="21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43" name="Line 39">
                      <a:extLst>
                        <a:ext uri="{FF2B5EF4-FFF2-40B4-BE49-F238E27FC236}">
                          <a16:creationId xmlns:a16="http://schemas.microsoft.com/office/drawing/2014/main" id="{0CDD0352-5256-C54E-8DAA-C8D96C14F115}"/>
                        </a:ext>
                      </a:extLst>
                    </p:cNvPr>
                    <p:cNvSpPr>
                      <a:spLocks noChangeShapeType="1"/>
                    </p:cNvSpPr>
                    <p:nvPr/>
                  </p:nvSpPr>
                  <p:spPr bwMode="auto">
                    <a:xfrm>
                      <a:off x="8203" y="9911"/>
                      <a:ext cx="0" cy="21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44" name="Line 40">
                      <a:extLst>
                        <a:ext uri="{FF2B5EF4-FFF2-40B4-BE49-F238E27FC236}">
                          <a16:creationId xmlns:a16="http://schemas.microsoft.com/office/drawing/2014/main" id="{6E1F01DF-993B-B145-8124-B9009C4C433C}"/>
                        </a:ext>
                      </a:extLst>
                    </p:cNvPr>
                    <p:cNvSpPr>
                      <a:spLocks noChangeShapeType="1"/>
                    </p:cNvSpPr>
                    <p:nvPr/>
                  </p:nvSpPr>
                  <p:spPr bwMode="auto">
                    <a:xfrm>
                      <a:off x="3388" y="10103"/>
                      <a:ext cx="504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CN"/>
                    </a:p>
                  </p:txBody>
                </p:sp>
                <p:sp>
                  <p:nvSpPr>
                    <p:cNvPr id="149545" name="Rectangle 41">
                      <a:extLst>
                        <a:ext uri="{FF2B5EF4-FFF2-40B4-BE49-F238E27FC236}">
                          <a16:creationId xmlns:a16="http://schemas.microsoft.com/office/drawing/2014/main" id="{03D54F5F-CB5C-6941-9B4B-1B10270A7EED}"/>
                        </a:ext>
                      </a:extLst>
                    </p:cNvPr>
                    <p:cNvSpPr>
                      <a:spLocks noChangeArrowheads="1"/>
                    </p:cNvSpPr>
                    <p:nvPr/>
                  </p:nvSpPr>
                  <p:spPr bwMode="auto">
                    <a:xfrm>
                      <a:off x="5068" y="9509"/>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sp>
                  <p:nvSpPr>
                    <p:cNvPr id="149546" name="Rectangle 42">
                      <a:extLst>
                        <a:ext uri="{FF2B5EF4-FFF2-40B4-BE49-F238E27FC236}">
                          <a16:creationId xmlns:a16="http://schemas.microsoft.com/office/drawing/2014/main" id="{18EDAC60-307F-C94B-8680-6A62DB2B31E0}"/>
                        </a:ext>
                      </a:extLst>
                    </p:cNvPr>
                    <p:cNvSpPr>
                      <a:spLocks noChangeArrowheads="1"/>
                    </p:cNvSpPr>
                    <p:nvPr/>
                  </p:nvSpPr>
                  <p:spPr bwMode="auto">
                    <a:xfrm>
                      <a:off x="2113" y="9509"/>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mc:AlternateContent xmlns:mc="http://schemas.openxmlformats.org/markup-compatibility/2006" xmlns:a14="http://schemas.microsoft.com/office/drawing/2010/main">
                  <mc:Choice Requires="a14">
                    <p:sp>
                      <p:nvSpPr>
                        <p:cNvPr id="149547" name="Object 43">
                          <a:extLst>
                            <a:ext uri="{FF2B5EF4-FFF2-40B4-BE49-F238E27FC236}">
                              <a16:creationId xmlns:a16="http://schemas.microsoft.com/office/drawing/2014/main" id="{E8D279AB-2598-B341-A316-F2A045D2175B}"/>
                            </a:ext>
                          </a:extLst>
                        </p:cNvPr>
                        <p:cNvSpPr txBox="1"/>
                        <p:nvPr/>
                      </p:nvSpPr>
                      <p:spPr bwMode="auto">
                        <a:xfrm>
                          <a:off x="2368" y="9607"/>
                          <a:ext cx="1980"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16</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15</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15</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16</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47" name="Object 43">
                          <a:extLst>
                            <a:ext uri="{FF2B5EF4-FFF2-40B4-BE49-F238E27FC236}">
                              <a16:creationId xmlns:a16="http://schemas.microsoft.com/office/drawing/2014/main" id="{E8D279AB-2598-B341-A316-F2A045D2175B}"/>
                            </a:ext>
                          </a:extLst>
                        </p:cNvPr>
                        <p:cNvSpPr txBox="1">
                          <a:spLocks noRot="1" noChangeAspect="1" noMove="1" noResize="1" noEditPoints="1" noAdjustHandles="1" noChangeArrowheads="1" noChangeShapeType="1" noTextEdit="1"/>
                        </p:cNvSpPr>
                        <p:nvPr/>
                      </p:nvSpPr>
                      <p:spPr bwMode="auto">
                        <a:xfrm>
                          <a:off x="2368" y="9607"/>
                          <a:ext cx="1980" cy="300"/>
                        </a:xfrm>
                        <a:prstGeom prst="rect">
                          <a:avLst/>
                        </a:prstGeom>
                        <a:blipFill>
                          <a:blip r:embed="rId9"/>
                          <a:stretch>
                            <a:fillRect/>
                          </a:stretch>
                        </a:blipFill>
                        <a:ln>
                          <a:noFill/>
                        </a:ln>
                        <a:extLst/>
                      </p:spPr>
                      <p:txBody>
                        <a:bodyPr/>
                        <a:lstStyle/>
                        <a:p>
                          <a:r>
                            <a:rPr lang="zh-CN" altLang="en-US">
                              <a:noFill/>
                            </a:rPr>
                            <a:t> </a:t>
                          </a:r>
                        </a:p>
                      </p:txBody>
                    </p:sp>
                  </mc:Fallback>
                </mc:AlternateContent>
                <p:sp>
                  <p:nvSpPr>
                    <p:cNvPr id="149548" name="Line 44">
                      <a:extLst>
                        <a:ext uri="{FF2B5EF4-FFF2-40B4-BE49-F238E27FC236}">
                          <a16:creationId xmlns:a16="http://schemas.microsoft.com/office/drawing/2014/main" id="{4FC76621-8E96-5544-A3BE-1EEB87DA77F9}"/>
                        </a:ext>
                      </a:extLst>
                    </p:cNvPr>
                    <p:cNvSpPr>
                      <a:spLocks noChangeShapeType="1"/>
                    </p:cNvSpPr>
                    <p:nvPr/>
                  </p:nvSpPr>
                  <p:spPr bwMode="auto">
                    <a:xfrm flipH="1">
                      <a:off x="5053" y="8864"/>
                      <a:ext cx="12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49" name="Line 45">
                      <a:extLst>
                        <a:ext uri="{FF2B5EF4-FFF2-40B4-BE49-F238E27FC236}">
                          <a16:creationId xmlns:a16="http://schemas.microsoft.com/office/drawing/2014/main" id="{4691F9EF-DF19-244D-B6D5-792026CF21F3}"/>
                        </a:ext>
                      </a:extLst>
                    </p:cNvPr>
                    <p:cNvSpPr>
                      <a:spLocks noChangeShapeType="1"/>
                    </p:cNvSpPr>
                    <p:nvPr/>
                  </p:nvSpPr>
                  <p:spPr bwMode="auto">
                    <a:xfrm>
                      <a:off x="3373" y="8357"/>
                      <a:ext cx="0" cy="414"/>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50" name="Oval 46">
                      <a:extLst>
                        <a:ext uri="{FF2B5EF4-FFF2-40B4-BE49-F238E27FC236}">
                          <a16:creationId xmlns:a16="http://schemas.microsoft.com/office/drawing/2014/main" id="{DD56B452-0038-C242-B26C-A820CDF2A11D}"/>
                        </a:ext>
                      </a:extLst>
                    </p:cNvPr>
                    <p:cNvSpPr>
                      <a:spLocks noChangeArrowheads="1"/>
                    </p:cNvSpPr>
                    <p:nvPr/>
                  </p:nvSpPr>
                  <p:spPr bwMode="auto">
                    <a:xfrm>
                      <a:off x="4633" y="8633"/>
                      <a:ext cx="420" cy="468"/>
                    </a:xfrm>
                    <a:prstGeom prst="ellipse">
                      <a:avLst/>
                    </a:prstGeom>
                    <a:solidFill>
                      <a:srgbClr val="FFFFFF"/>
                    </a:solidFill>
                    <a:ln w="9525">
                      <a:solidFill>
                        <a:srgbClr val="000000"/>
                      </a:solidFill>
                      <a:round/>
                      <a:headEnd/>
                      <a:tailEnd/>
                    </a:ln>
                  </p:spPr>
                  <p:txBody>
                    <a:bodyPr/>
                    <a:lstStyle/>
                    <a:p>
                      <a:endParaRPr lang="zh-CN" altLang="en-US">
                        <a:solidFill>
                          <a:srgbClr val="006699"/>
                        </a:solidFill>
                      </a:endParaRPr>
                    </a:p>
                  </p:txBody>
                </p:sp>
                <p:sp>
                  <p:nvSpPr>
                    <p:cNvPr id="149551" name="Line 47">
                      <a:extLst>
                        <a:ext uri="{FF2B5EF4-FFF2-40B4-BE49-F238E27FC236}">
                          <a16:creationId xmlns:a16="http://schemas.microsoft.com/office/drawing/2014/main" id="{719250C4-4FE8-A746-8F12-30023E09E79D}"/>
                        </a:ext>
                      </a:extLst>
                    </p:cNvPr>
                    <p:cNvSpPr>
                      <a:spLocks noChangeShapeType="1"/>
                    </p:cNvSpPr>
                    <p:nvPr/>
                  </p:nvSpPr>
                  <p:spPr bwMode="auto">
                    <a:xfrm flipH="1">
                      <a:off x="3478" y="8864"/>
                      <a:ext cx="1145"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52" name="Line 48">
                      <a:extLst>
                        <a:ext uri="{FF2B5EF4-FFF2-40B4-BE49-F238E27FC236}">
                          <a16:creationId xmlns:a16="http://schemas.microsoft.com/office/drawing/2014/main" id="{2A21AEC1-566D-984A-806F-E5DD0E3D237D}"/>
                        </a:ext>
                      </a:extLst>
                    </p:cNvPr>
                    <p:cNvSpPr>
                      <a:spLocks noChangeShapeType="1"/>
                    </p:cNvSpPr>
                    <p:nvPr/>
                  </p:nvSpPr>
                  <p:spPr bwMode="auto">
                    <a:xfrm>
                      <a:off x="3370" y="8936"/>
                      <a:ext cx="0" cy="59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53" name="Line 49">
                      <a:extLst>
                        <a:ext uri="{FF2B5EF4-FFF2-40B4-BE49-F238E27FC236}">
                          <a16:creationId xmlns:a16="http://schemas.microsoft.com/office/drawing/2014/main" id="{49E5CC38-1155-CF4E-9C2E-3C0F11B3E373}"/>
                        </a:ext>
                      </a:extLst>
                    </p:cNvPr>
                    <p:cNvSpPr>
                      <a:spLocks noChangeShapeType="1"/>
                    </p:cNvSpPr>
                    <p:nvPr/>
                  </p:nvSpPr>
                  <p:spPr bwMode="auto">
                    <a:xfrm>
                      <a:off x="6328" y="8348"/>
                      <a:ext cx="0" cy="1174"/>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54" name="Line 50">
                      <a:extLst>
                        <a:ext uri="{FF2B5EF4-FFF2-40B4-BE49-F238E27FC236}">
                          <a16:creationId xmlns:a16="http://schemas.microsoft.com/office/drawing/2014/main" id="{D3646188-004C-F345-AD34-C06953F05704}"/>
                        </a:ext>
                      </a:extLst>
                    </p:cNvPr>
                    <p:cNvSpPr>
                      <a:spLocks noChangeShapeType="1"/>
                    </p:cNvSpPr>
                    <p:nvPr/>
                  </p:nvSpPr>
                  <p:spPr bwMode="auto">
                    <a:xfrm flipH="1">
                      <a:off x="5068" y="8648"/>
                      <a:ext cx="105" cy="21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55" name="Line 51">
                      <a:extLst>
                        <a:ext uri="{FF2B5EF4-FFF2-40B4-BE49-F238E27FC236}">
                          <a16:creationId xmlns:a16="http://schemas.microsoft.com/office/drawing/2014/main" id="{02F066AC-D0EC-D645-885D-291EFBBAB917}"/>
                        </a:ext>
                      </a:extLst>
                    </p:cNvPr>
                    <p:cNvSpPr>
                      <a:spLocks noChangeShapeType="1"/>
                    </p:cNvSpPr>
                    <p:nvPr/>
                  </p:nvSpPr>
                  <p:spPr bwMode="auto">
                    <a:xfrm>
                      <a:off x="5173" y="8648"/>
                      <a:ext cx="199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mc:AlternateContent xmlns:mc="http://schemas.openxmlformats.org/markup-compatibility/2006" xmlns:a14="http://schemas.microsoft.com/office/drawing/2010/main">
                  <mc:Choice Requires="a14">
                    <p:sp>
                      <p:nvSpPr>
                        <p:cNvPr id="149556" name="Object 52">
                          <a:extLst>
                            <a:ext uri="{FF2B5EF4-FFF2-40B4-BE49-F238E27FC236}">
                              <a16:creationId xmlns:a16="http://schemas.microsoft.com/office/drawing/2014/main" id="{E331B0E3-AC18-0D4D-86B9-56085C3F2FDE}"/>
                            </a:ext>
                          </a:extLst>
                        </p:cNvPr>
                        <p:cNvSpPr txBox="1"/>
                        <p:nvPr/>
                      </p:nvSpPr>
                      <p:spPr bwMode="auto">
                        <a:xfrm>
                          <a:off x="3253" y="8716"/>
                          <a:ext cx="279"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56" name="Object 52">
                          <a:extLst>
                            <a:ext uri="{FF2B5EF4-FFF2-40B4-BE49-F238E27FC236}">
                              <a16:creationId xmlns:a16="http://schemas.microsoft.com/office/drawing/2014/main" id="{E331B0E3-AC18-0D4D-86B9-56085C3F2FDE}"/>
                            </a:ext>
                          </a:extLst>
                        </p:cNvPr>
                        <p:cNvSpPr txBox="1">
                          <a:spLocks noRot="1" noChangeAspect="1" noMove="1" noResize="1" noEditPoints="1" noAdjustHandles="1" noChangeArrowheads="1" noChangeShapeType="1" noTextEdit="1"/>
                        </p:cNvSpPr>
                        <p:nvPr/>
                      </p:nvSpPr>
                      <p:spPr bwMode="auto">
                        <a:xfrm>
                          <a:off x="3253" y="8716"/>
                          <a:ext cx="279" cy="30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57" name="Object 53">
                          <a:extLst>
                            <a:ext uri="{FF2B5EF4-FFF2-40B4-BE49-F238E27FC236}">
                              <a16:creationId xmlns:a16="http://schemas.microsoft.com/office/drawing/2014/main" id="{7C7355B4-1EEE-964F-BE08-981095D99189}"/>
                            </a:ext>
                          </a:extLst>
                        </p:cNvPr>
                        <p:cNvSpPr txBox="1"/>
                        <p:nvPr/>
                      </p:nvSpPr>
                      <p:spPr bwMode="auto">
                        <a:xfrm>
                          <a:off x="4738" y="8731"/>
                          <a:ext cx="240" cy="32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𝑓</m:t>
                                </m:r>
                              </m:oMath>
                            </m:oMathPara>
                          </a14:m>
                          <a:endParaRPr lang="zh-CN" altLang="en-US"/>
                        </a:p>
                      </p:txBody>
                    </p:sp>
                  </mc:Choice>
                  <mc:Fallback xmlns="">
                    <p:sp>
                      <p:nvSpPr>
                        <p:cNvPr id="149557" name="Object 53">
                          <a:extLst>
                            <a:ext uri="{FF2B5EF4-FFF2-40B4-BE49-F238E27FC236}">
                              <a16:creationId xmlns:a16="http://schemas.microsoft.com/office/drawing/2014/main" id="{7C7355B4-1EEE-964F-BE08-981095D99189}"/>
                            </a:ext>
                          </a:extLst>
                        </p:cNvPr>
                        <p:cNvSpPr txBox="1">
                          <a:spLocks noRot="1" noChangeAspect="1" noMove="1" noResize="1" noEditPoints="1" noAdjustHandles="1" noChangeArrowheads="1" noChangeShapeType="1" noTextEdit="1"/>
                        </p:cNvSpPr>
                        <p:nvPr/>
                      </p:nvSpPr>
                      <p:spPr bwMode="auto">
                        <a:xfrm>
                          <a:off x="4738" y="8731"/>
                          <a:ext cx="240" cy="320"/>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58" name="Object 54">
                          <a:extLst>
                            <a:ext uri="{FF2B5EF4-FFF2-40B4-BE49-F238E27FC236}">
                              <a16:creationId xmlns:a16="http://schemas.microsoft.com/office/drawing/2014/main" id="{55020162-447B-6C43-8C48-457AF438366D}"/>
                            </a:ext>
                          </a:extLst>
                        </p:cNvPr>
                        <p:cNvSpPr txBox="1"/>
                        <p:nvPr/>
                      </p:nvSpPr>
                      <p:spPr bwMode="auto">
                        <a:xfrm>
                          <a:off x="7153" y="8500"/>
                          <a:ext cx="320" cy="360"/>
                        </a:xfrm>
                        <a:prstGeom prst="rect">
                          <a:avLst/>
                        </a:prstGeom>
                        <a:noFill/>
                        <a:ln>
                          <a:noFill/>
                        </a:ln>
                      </p:spPr>
                      <p:txBody>
                        <a:bodyPr>
                          <a:normAutofit fontScale="55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16</m:t>
                                    </m:r>
                                  </m:sub>
                                </m:sSub>
                              </m:oMath>
                            </m:oMathPara>
                          </a14:m>
                          <a:endParaRPr lang="zh-CN" altLang="en-US"/>
                        </a:p>
                      </p:txBody>
                    </p:sp>
                  </mc:Choice>
                  <mc:Fallback xmlns="">
                    <p:sp>
                      <p:nvSpPr>
                        <p:cNvPr id="149558" name="Object 54">
                          <a:extLst>
                            <a:ext uri="{FF2B5EF4-FFF2-40B4-BE49-F238E27FC236}">
                              <a16:creationId xmlns:a16="http://schemas.microsoft.com/office/drawing/2014/main" id="{55020162-447B-6C43-8C48-457AF438366D}"/>
                            </a:ext>
                          </a:extLst>
                        </p:cNvPr>
                        <p:cNvSpPr txBox="1">
                          <a:spLocks noRot="1" noChangeAspect="1" noMove="1" noResize="1" noEditPoints="1" noAdjustHandles="1" noChangeArrowheads="1" noChangeShapeType="1" noTextEdit="1"/>
                        </p:cNvSpPr>
                        <p:nvPr/>
                      </p:nvSpPr>
                      <p:spPr bwMode="auto">
                        <a:xfrm>
                          <a:off x="7153" y="8500"/>
                          <a:ext cx="320" cy="360"/>
                        </a:xfrm>
                        <a:prstGeom prst="rect">
                          <a:avLst/>
                        </a:prstGeom>
                        <a:blipFill>
                          <a:blip r:embed="rId10"/>
                          <a:stretch>
                            <a:fillRect r="-16279"/>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59" name="Object 55">
                          <a:extLst>
                            <a:ext uri="{FF2B5EF4-FFF2-40B4-BE49-F238E27FC236}">
                              <a16:creationId xmlns:a16="http://schemas.microsoft.com/office/drawing/2014/main" id="{AADDD3E0-1592-D44C-B1C5-F00991E8C880}"/>
                            </a:ext>
                          </a:extLst>
                        </p:cNvPr>
                        <p:cNvSpPr txBox="1"/>
                        <p:nvPr/>
                      </p:nvSpPr>
                      <p:spPr bwMode="auto">
                        <a:xfrm>
                          <a:off x="5923" y="9592"/>
                          <a:ext cx="800"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16</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15</m:t>
                                    </m:r>
                                  </m:sub>
                                </m:sSub>
                              </m:oMath>
                            </m:oMathPara>
                          </a14:m>
                          <a:endParaRPr lang="zh-CN" altLang="en-US"/>
                        </a:p>
                      </p:txBody>
                    </p:sp>
                  </mc:Choice>
                  <mc:Fallback xmlns="">
                    <p:sp>
                      <p:nvSpPr>
                        <p:cNvPr id="149559" name="Object 55">
                          <a:extLst>
                            <a:ext uri="{FF2B5EF4-FFF2-40B4-BE49-F238E27FC236}">
                              <a16:creationId xmlns:a16="http://schemas.microsoft.com/office/drawing/2014/main" id="{AADDD3E0-1592-D44C-B1C5-F00991E8C880}"/>
                            </a:ext>
                          </a:extLst>
                        </p:cNvPr>
                        <p:cNvSpPr txBox="1">
                          <a:spLocks noRot="1" noChangeAspect="1" noMove="1" noResize="1" noEditPoints="1" noAdjustHandles="1" noChangeArrowheads="1" noChangeShapeType="1" noTextEdit="1"/>
                        </p:cNvSpPr>
                        <p:nvPr/>
                      </p:nvSpPr>
                      <p:spPr bwMode="auto">
                        <a:xfrm>
                          <a:off x="5923" y="9592"/>
                          <a:ext cx="800" cy="300"/>
                        </a:xfrm>
                        <a:prstGeom prst="rect">
                          <a:avLst/>
                        </a:prstGeom>
                        <a:blipFill>
                          <a:blip r:embed="rId11"/>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60" name="Object 56">
                          <a:extLst>
                            <a:ext uri="{FF2B5EF4-FFF2-40B4-BE49-F238E27FC236}">
                              <a16:creationId xmlns:a16="http://schemas.microsoft.com/office/drawing/2014/main" id="{A42829EC-1463-5443-9496-ADD65EAB537F}"/>
                            </a:ext>
                          </a:extLst>
                        </p:cNvPr>
                        <p:cNvSpPr txBox="1"/>
                        <p:nvPr/>
                      </p:nvSpPr>
                      <p:spPr bwMode="auto">
                        <a:xfrm>
                          <a:off x="8090" y="8670"/>
                          <a:ext cx="277" cy="1219"/>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第</m:t>
                                </m:r>
                              </m:oMath>
                              <m:oMath xmlns:m="http://schemas.openxmlformats.org/officeDocument/2006/math">
                                <m:r>
                                  <a:rPr lang="zh-CN" altLang="en-US" i="1">
                                    <a:solidFill>
                                      <a:srgbClr val="000000"/>
                                    </a:solidFill>
                                    <a:latin typeface="Cambria Math" panose="02040503050406030204" pitchFamily="18" charset="0"/>
                                  </a:rPr>
                                  <m:t>十</m:t>
                                </m:r>
                              </m:oMath>
                              <m:oMath xmlns:m="http://schemas.openxmlformats.org/officeDocument/2006/math">
                                <m:r>
                                  <a:rPr lang="zh-CN" altLang="en-US" i="1">
                                    <a:solidFill>
                                      <a:srgbClr val="000000"/>
                                    </a:solidFill>
                                    <a:latin typeface="Cambria Math" panose="02040503050406030204" pitchFamily="18" charset="0"/>
                                  </a:rPr>
                                  <m:t>六</m:t>
                                </m:r>
                              </m:oMath>
                              <m:oMath xmlns:m="http://schemas.openxmlformats.org/officeDocument/2006/math">
                                <m:r>
                                  <a:rPr lang="zh-CN" altLang="en-US" i="1">
                                    <a:solidFill>
                                      <a:srgbClr val="000000"/>
                                    </a:solidFill>
                                    <a:latin typeface="Cambria Math" panose="02040503050406030204" pitchFamily="18" charset="0"/>
                                  </a:rPr>
                                  <m:t>轮</m:t>
                                </m:r>
                              </m:oMath>
                            </m:oMathPara>
                          </a14:m>
                          <a:endParaRPr lang="zh-CN" altLang="en-US"/>
                        </a:p>
                      </p:txBody>
                    </p:sp>
                  </mc:Choice>
                  <mc:Fallback xmlns="">
                    <p:sp>
                      <p:nvSpPr>
                        <p:cNvPr id="149560" name="Object 56">
                          <a:extLst>
                            <a:ext uri="{FF2B5EF4-FFF2-40B4-BE49-F238E27FC236}">
                              <a16:creationId xmlns:a16="http://schemas.microsoft.com/office/drawing/2014/main" id="{A42829EC-1463-5443-9496-ADD65EAB537F}"/>
                            </a:ext>
                          </a:extLst>
                        </p:cNvPr>
                        <p:cNvSpPr txBox="1">
                          <a:spLocks noRot="1" noChangeAspect="1" noMove="1" noResize="1" noEditPoints="1" noAdjustHandles="1" noChangeArrowheads="1" noChangeShapeType="1" noTextEdit="1"/>
                        </p:cNvSpPr>
                        <p:nvPr/>
                      </p:nvSpPr>
                      <p:spPr bwMode="auto">
                        <a:xfrm>
                          <a:off x="8090" y="8670"/>
                          <a:ext cx="277" cy="1219"/>
                        </a:xfrm>
                        <a:prstGeom prst="rect">
                          <a:avLst/>
                        </a:prstGeom>
                        <a:blipFill>
                          <a:blip r:embed="rId12"/>
                          <a:stretch>
                            <a:fillRect r="-32432"/>
                          </a:stretch>
                        </a:blipFill>
                        <a:ln>
                          <a:noFill/>
                        </a:ln>
                        <a:extLst/>
                      </p:spPr>
                      <p:txBody>
                        <a:bodyPr/>
                        <a:lstStyle/>
                        <a:p>
                          <a:r>
                            <a:rPr lang="zh-CN" altLang="en-US">
                              <a:noFill/>
                            </a:rPr>
                            <a:t> </a:t>
                          </a:r>
                        </a:p>
                      </p:txBody>
                    </p:sp>
                  </mc:Fallback>
                </mc:AlternateContent>
              </p:grpSp>
              <p:grpSp>
                <p:nvGrpSpPr>
                  <p:cNvPr id="149561" name="Group 57">
                    <a:extLst>
                      <a:ext uri="{FF2B5EF4-FFF2-40B4-BE49-F238E27FC236}">
                        <a16:creationId xmlns:a16="http://schemas.microsoft.com/office/drawing/2014/main" id="{90A48B0D-77CC-4146-ADDB-BDA07CE87A1B}"/>
                      </a:ext>
                    </a:extLst>
                  </p:cNvPr>
                  <p:cNvGrpSpPr>
                    <a:grpSpLocks/>
                  </p:cNvGrpSpPr>
                  <p:nvPr/>
                </p:nvGrpSpPr>
                <p:grpSpPr bwMode="auto">
                  <a:xfrm>
                    <a:off x="2113" y="3365"/>
                    <a:ext cx="6315" cy="3155"/>
                    <a:chOff x="2113" y="2514"/>
                    <a:chExt cx="6315" cy="3155"/>
                  </a:xfrm>
                </p:grpSpPr>
                <p:sp>
                  <p:nvSpPr>
                    <p:cNvPr id="149562" name="Rectangle 58">
                      <a:extLst>
                        <a:ext uri="{FF2B5EF4-FFF2-40B4-BE49-F238E27FC236}">
                          <a16:creationId xmlns:a16="http://schemas.microsoft.com/office/drawing/2014/main" id="{DEFDFC35-B3C7-3B45-95A8-7EE2BF49B91B}"/>
                        </a:ext>
                      </a:extLst>
                    </p:cNvPr>
                    <p:cNvSpPr>
                      <a:spLocks noChangeArrowheads="1"/>
                    </p:cNvSpPr>
                    <p:nvPr/>
                  </p:nvSpPr>
                  <p:spPr bwMode="auto">
                    <a:xfrm>
                      <a:off x="5068" y="2766"/>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sp>
                  <p:nvSpPr>
                    <p:cNvPr id="149563" name="Rectangle 59">
                      <a:extLst>
                        <a:ext uri="{FF2B5EF4-FFF2-40B4-BE49-F238E27FC236}">
                          <a16:creationId xmlns:a16="http://schemas.microsoft.com/office/drawing/2014/main" id="{10C84752-E9D7-BE44-93EC-10F71B3A345A}"/>
                        </a:ext>
                      </a:extLst>
                    </p:cNvPr>
                    <p:cNvSpPr>
                      <a:spLocks noChangeArrowheads="1"/>
                    </p:cNvSpPr>
                    <p:nvPr/>
                  </p:nvSpPr>
                  <p:spPr bwMode="auto">
                    <a:xfrm>
                      <a:off x="2113" y="2766"/>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sp>
                  <p:nvSpPr>
                    <p:cNvPr id="149564" name="Line 60">
                      <a:extLst>
                        <a:ext uri="{FF2B5EF4-FFF2-40B4-BE49-F238E27FC236}">
                          <a16:creationId xmlns:a16="http://schemas.microsoft.com/office/drawing/2014/main" id="{AE8DD699-BDA1-4941-86D8-9741C4F0938D}"/>
                        </a:ext>
                      </a:extLst>
                    </p:cNvPr>
                    <p:cNvSpPr>
                      <a:spLocks noChangeShapeType="1"/>
                    </p:cNvSpPr>
                    <p:nvPr/>
                  </p:nvSpPr>
                  <p:spPr bwMode="auto">
                    <a:xfrm>
                      <a:off x="3388" y="2514"/>
                      <a:ext cx="295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65" name="Line 61">
                      <a:extLst>
                        <a:ext uri="{FF2B5EF4-FFF2-40B4-BE49-F238E27FC236}">
                          <a16:creationId xmlns:a16="http://schemas.microsoft.com/office/drawing/2014/main" id="{6018DFDC-FAB9-B941-AC12-64A539EE5238}"/>
                        </a:ext>
                      </a:extLst>
                    </p:cNvPr>
                    <p:cNvSpPr>
                      <a:spLocks noChangeShapeType="1"/>
                    </p:cNvSpPr>
                    <p:nvPr/>
                  </p:nvSpPr>
                  <p:spPr bwMode="auto">
                    <a:xfrm>
                      <a:off x="3385" y="2514"/>
                      <a:ext cx="0" cy="25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66" name="Line 62">
                      <a:extLst>
                        <a:ext uri="{FF2B5EF4-FFF2-40B4-BE49-F238E27FC236}">
                          <a16:creationId xmlns:a16="http://schemas.microsoft.com/office/drawing/2014/main" id="{FBDF5ED9-BC19-4D47-8379-B17F4F03A2B3}"/>
                        </a:ext>
                      </a:extLst>
                    </p:cNvPr>
                    <p:cNvSpPr>
                      <a:spLocks noChangeShapeType="1"/>
                    </p:cNvSpPr>
                    <p:nvPr/>
                  </p:nvSpPr>
                  <p:spPr bwMode="auto">
                    <a:xfrm>
                      <a:off x="6328" y="2514"/>
                      <a:ext cx="0" cy="25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67" name="Oval 63">
                      <a:extLst>
                        <a:ext uri="{FF2B5EF4-FFF2-40B4-BE49-F238E27FC236}">
                          <a16:creationId xmlns:a16="http://schemas.microsoft.com/office/drawing/2014/main" id="{B3ECAA9D-8B2E-044D-904E-3FD2D4C4C2D1}"/>
                        </a:ext>
                      </a:extLst>
                    </p:cNvPr>
                    <p:cNvSpPr>
                      <a:spLocks noChangeArrowheads="1"/>
                    </p:cNvSpPr>
                    <p:nvPr/>
                  </p:nvSpPr>
                  <p:spPr bwMode="auto">
                    <a:xfrm>
                      <a:off x="4648" y="3525"/>
                      <a:ext cx="420" cy="468"/>
                    </a:xfrm>
                    <a:prstGeom prst="ellipse">
                      <a:avLst/>
                    </a:prstGeom>
                    <a:solidFill>
                      <a:srgbClr val="FFFFFF"/>
                    </a:solidFill>
                    <a:ln w="9525">
                      <a:solidFill>
                        <a:srgbClr val="000000"/>
                      </a:solidFill>
                      <a:round/>
                      <a:headEnd/>
                      <a:tailEnd/>
                    </a:ln>
                  </p:spPr>
                  <p:txBody>
                    <a:bodyPr/>
                    <a:lstStyle/>
                    <a:p>
                      <a:endParaRPr lang="zh-CN" altLang="en-US">
                        <a:solidFill>
                          <a:srgbClr val="006699"/>
                        </a:solidFill>
                      </a:endParaRPr>
                    </a:p>
                  </p:txBody>
                </p:sp>
                <p:sp>
                  <p:nvSpPr>
                    <p:cNvPr id="149568" name="Line 64">
                      <a:extLst>
                        <a:ext uri="{FF2B5EF4-FFF2-40B4-BE49-F238E27FC236}">
                          <a16:creationId xmlns:a16="http://schemas.microsoft.com/office/drawing/2014/main" id="{13D7EE43-CFFE-5B48-8B71-443D36AE9458}"/>
                        </a:ext>
                      </a:extLst>
                    </p:cNvPr>
                    <p:cNvSpPr>
                      <a:spLocks noChangeShapeType="1"/>
                    </p:cNvSpPr>
                    <p:nvPr/>
                  </p:nvSpPr>
                  <p:spPr bwMode="auto">
                    <a:xfrm flipH="1">
                      <a:off x="5068" y="3741"/>
                      <a:ext cx="12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69" name="Line 65">
                      <a:extLst>
                        <a:ext uri="{FF2B5EF4-FFF2-40B4-BE49-F238E27FC236}">
                          <a16:creationId xmlns:a16="http://schemas.microsoft.com/office/drawing/2014/main" id="{D3480E6F-B97F-F147-9CDF-48B2A5A107C5}"/>
                        </a:ext>
                      </a:extLst>
                    </p:cNvPr>
                    <p:cNvSpPr>
                      <a:spLocks noChangeShapeType="1"/>
                    </p:cNvSpPr>
                    <p:nvPr/>
                  </p:nvSpPr>
                  <p:spPr bwMode="auto">
                    <a:xfrm flipH="1">
                      <a:off x="5083" y="3540"/>
                      <a:ext cx="105" cy="21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70" name="Line 66">
                      <a:extLst>
                        <a:ext uri="{FF2B5EF4-FFF2-40B4-BE49-F238E27FC236}">
                          <a16:creationId xmlns:a16="http://schemas.microsoft.com/office/drawing/2014/main" id="{2A81CAEF-A103-6243-9D3D-C5188C13075A}"/>
                        </a:ext>
                      </a:extLst>
                    </p:cNvPr>
                    <p:cNvSpPr>
                      <a:spLocks noChangeShapeType="1"/>
                    </p:cNvSpPr>
                    <p:nvPr/>
                  </p:nvSpPr>
                  <p:spPr bwMode="auto">
                    <a:xfrm>
                      <a:off x="5188" y="3540"/>
                      <a:ext cx="199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71" name="Line 67">
                      <a:extLst>
                        <a:ext uri="{FF2B5EF4-FFF2-40B4-BE49-F238E27FC236}">
                          <a16:creationId xmlns:a16="http://schemas.microsoft.com/office/drawing/2014/main" id="{88B277DF-1A20-4A43-BB69-E92267E9EC43}"/>
                        </a:ext>
                      </a:extLst>
                    </p:cNvPr>
                    <p:cNvSpPr>
                      <a:spLocks noChangeShapeType="1"/>
                    </p:cNvSpPr>
                    <p:nvPr/>
                  </p:nvSpPr>
                  <p:spPr bwMode="auto">
                    <a:xfrm>
                      <a:off x="3388" y="3369"/>
                      <a:ext cx="504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CN"/>
                    </a:p>
                  </p:txBody>
                </p:sp>
                <mc:AlternateContent xmlns:mc="http://schemas.openxmlformats.org/markup-compatibility/2006" xmlns:a14="http://schemas.microsoft.com/office/drawing/2010/main">
                  <mc:Choice Requires="a14">
                    <p:sp>
                      <p:nvSpPr>
                        <p:cNvPr id="149572" name="Object 68">
                          <a:extLst>
                            <a:ext uri="{FF2B5EF4-FFF2-40B4-BE49-F238E27FC236}">
                              <a16:creationId xmlns:a16="http://schemas.microsoft.com/office/drawing/2014/main" id="{511B333C-9D96-C741-BAC0-B8E6DBDF18B7}"/>
                            </a:ext>
                          </a:extLst>
                        </p:cNvPr>
                        <p:cNvSpPr txBox="1"/>
                        <p:nvPr/>
                      </p:nvSpPr>
                      <p:spPr bwMode="auto">
                        <a:xfrm>
                          <a:off x="7183" y="3392"/>
                          <a:ext cx="240" cy="340"/>
                        </a:xfrm>
                        <a:prstGeom prst="rect">
                          <a:avLst/>
                        </a:prstGeom>
                        <a:noFill/>
                        <a:ln>
                          <a:noFill/>
                        </a:ln>
                      </p:spPr>
                      <p:txBody>
                        <a:bodyPr>
                          <a:normAutofit fontScale="4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49572" name="Object 68">
                          <a:extLst>
                            <a:ext uri="{FF2B5EF4-FFF2-40B4-BE49-F238E27FC236}">
                              <a16:creationId xmlns:a16="http://schemas.microsoft.com/office/drawing/2014/main" id="{511B333C-9D96-C741-BAC0-B8E6DBDF18B7}"/>
                            </a:ext>
                          </a:extLst>
                        </p:cNvPr>
                        <p:cNvSpPr txBox="1">
                          <a:spLocks noRot="1" noChangeAspect="1" noMove="1" noResize="1" noEditPoints="1" noAdjustHandles="1" noChangeArrowheads="1" noChangeShapeType="1" noTextEdit="1"/>
                        </p:cNvSpPr>
                        <p:nvPr/>
                      </p:nvSpPr>
                      <p:spPr bwMode="auto">
                        <a:xfrm>
                          <a:off x="7183" y="3392"/>
                          <a:ext cx="240" cy="340"/>
                        </a:xfrm>
                        <a:prstGeom prst="rect">
                          <a:avLst/>
                        </a:prstGeom>
                        <a:blipFill>
                          <a:blip r:embed="rId13"/>
                          <a:stretch>
                            <a:fillRect r="-18750"/>
                          </a:stretch>
                        </a:blipFill>
                        <a:ln>
                          <a:noFill/>
                        </a:ln>
                        <a:extLst/>
                      </p:spPr>
                      <p:txBody>
                        <a:bodyPr/>
                        <a:lstStyle/>
                        <a:p>
                          <a:r>
                            <a:rPr lang="zh-CN" altLang="en-US">
                              <a:noFill/>
                            </a:rPr>
                            <a:t> </a:t>
                          </a:r>
                        </a:p>
                      </p:txBody>
                    </p:sp>
                  </mc:Fallback>
                </mc:AlternateContent>
                <p:grpSp>
                  <p:nvGrpSpPr>
                    <p:cNvPr id="149573" name="Group 69">
                      <a:extLst>
                        <a:ext uri="{FF2B5EF4-FFF2-40B4-BE49-F238E27FC236}">
                          <a16:creationId xmlns:a16="http://schemas.microsoft.com/office/drawing/2014/main" id="{54BACE70-65B6-5A4E-A390-CCD69B8461D7}"/>
                        </a:ext>
                      </a:extLst>
                    </p:cNvPr>
                    <p:cNvGrpSpPr>
                      <a:grpSpLocks/>
                    </p:cNvGrpSpPr>
                    <p:nvPr/>
                  </p:nvGrpSpPr>
                  <p:grpSpPr bwMode="auto">
                    <a:xfrm>
                      <a:off x="3253" y="3249"/>
                      <a:ext cx="3077" cy="1281"/>
                      <a:chOff x="3253" y="4528"/>
                      <a:chExt cx="3077" cy="1281"/>
                    </a:xfrm>
                  </p:grpSpPr>
                  <p:sp>
                    <p:nvSpPr>
                      <p:cNvPr id="149574" name="Line 70">
                        <a:extLst>
                          <a:ext uri="{FF2B5EF4-FFF2-40B4-BE49-F238E27FC236}">
                            <a16:creationId xmlns:a16="http://schemas.microsoft.com/office/drawing/2014/main" id="{20432568-B6AF-AF4B-A5A7-9EF041D3889F}"/>
                          </a:ext>
                        </a:extLst>
                      </p:cNvPr>
                      <p:cNvSpPr>
                        <a:spLocks noChangeShapeType="1"/>
                      </p:cNvSpPr>
                      <p:nvPr/>
                    </p:nvSpPr>
                    <p:spPr bwMode="auto">
                      <a:xfrm>
                        <a:off x="3373" y="4528"/>
                        <a:ext cx="0" cy="403"/>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75" name="Line 71">
                        <a:extLst>
                          <a:ext uri="{FF2B5EF4-FFF2-40B4-BE49-F238E27FC236}">
                            <a16:creationId xmlns:a16="http://schemas.microsoft.com/office/drawing/2014/main" id="{D8565294-F79C-0949-9F20-667B2A5AFCD8}"/>
                          </a:ext>
                        </a:extLst>
                      </p:cNvPr>
                      <p:cNvSpPr>
                        <a:spLocks noChangeShapeType="1"/>
                      </p:cNvSpPr>
                      <p:nvPr/>
                    </p:nvSpPr>
                    <p:spPr bwMode="auto">
                      <a:xfrm flipH="1">
                        <a:off x="3493" y="5020"/>
                        <a:ext cx="1145"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76" name="Line 72">
                        <a:extLst>
                          <a:ext uri="{FF2B5EF4-FFF2-40B4-BE49-F238E27FC236}">
                            <a16:creationId xmlns:a16="http://schemas.microsoft.com/office/drawing/2014/main" id="{7F593B91-B4AC-4344-8409-45D3CC82ACA7}"/>
                          </a:ext>
                        </a:extLst>
                      </p:cNvPr>
                      <p:cNvSpPr>
                        <a:spLocks noChangeShapeType="1"/>
                      </p:cNvSpPr>
                      <p:nvPr/>
                    </p:nvSpPr>
                    <p:spPr bwMode="auto">
                      <a:xfrm>
                        <a:off x="3373" y="5131"/>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77" name="Line 73">
                        <a:extLst>
                          <a:ext uri="{FF2B5EF4-FFF2-40B4-BE49-F238E27FC236}">
                            <a16:creationId xmlns:a16="http://schemas.microsoft.com/office/drawing/2014/main" id="{476A2A3D-F5E4-A94B-A9B9-8E4A5C1D40DD}"/>
                          </a:ext>
                        </a:extLst>
                      </p:cNvPr>
                      <p:cNvSpPr>
                        <a:spLocks noChangeShapeType="1"/>
                      </p:cNvSpPr>
                      <p:nvPr/>
                    </p:nvSpPr>
                    <p:spPr bwMode="auto">
                      <a:xfrm>
                        <a:off x="3373" y="5242"/>
                        <a:ext cx="294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78" name="Line 74">
                        <a:extLst>
                          <a:ext uri="{FF2B5EF4-FFF2-40B4-BE49-F238E27FC236}">
                            <a16:creationId xmlns:a16="http://schemas.microsoft.com/office/drawing/2014/main" id="{6B71C65A-26F5-0F49-B14F-484762619280}"/>
                          </a:ext>
                        </a:extLst>
                      </p:cNvPr>
                      <p:cNvSpPr>
                        <a:spLocks noChangeShapeType="1"/>
                      </p:cNvSpPr>
                      <p:nvPr/>
                    </p:nvSpPr>
                    <p:spPr bwMode="auto">
                      <a:xfrm flipH="1">
                        <a:off x="3388" y="5227"/>
                        <a:ext cx="2942"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49579" name="Line 75">
                        <a:extLst>
                          <a:ext uri="{FF2B5EF4-FFF2-40B4-BE49-F238E27FC236}">
                            <a16:creationId xmlns:a16="http://schemas.microsoft.com/office/drawing/2014/main" id="{9FA242AD-1F18-4C4C-9467-D2B09D2A4F49}"/>
                          </a:ext>
                        </a:extLst>
                      </p:cNvPr>
                      <p:cNvSpPr>
                        <a:spLocks noChangeShapeType="1"/>
                      </p:cNvSpPr>
                      <p:nvPr/>
                    </p:nvSpPr>
                    <p:spPr bwMode="auto">
                      <a:xfrm>
                        <a:off x="3385" y="5536"/>
                        <a:ext cx="0" cy="26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80" name="Line 76">
                        <a:extLst>
                          <a:ext uri="{FF2B5EF4-FFF2-40B4-BE49-F238E27FC236}">
                            <a16:creationId xmlns:a16="http://schemas.microsoft.com/office/drawing/2014/main" id="{EFCF7F57-98CC-BD4D-A6B2-B9BE062E3497}"/>
                          </a:ext>
                        </a:extLst>
                      </p:cNvPr>
                      <p:cNvSpPr>
                        <a:spLocks noChangeShapeType="1"/>
                      </p:cNvSpPr>
                      <p:nvPr/>
                    </p:nvSpPr>
                    <p:spPr bwMode="auto">
                      <a:xfrm>
                        <a:off x="6313" y="5554"/>
                        <a:ext cx="0" cy="25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mc:AlternateContent xmlns:mc="http://schemas.openxmlformats.org/markup-compatibility/2006" xmlns:a14="http://schemas.microsoft.com/office/drawing/2010/main">
                    <mc:Choice Requires="a14">
                      <p:sp>
                        <p:nvSpPr>
                          <p:cNvPr id="149581" name="Object 77">
                            <a:extLst>
                              <a:ext uri="{FF2B5EF4-FFF2-40B4-BE49-F238E27FC236}">
                                <a16:creationId xmlns:a16="http://schemas.microsoft.com/office/drawing/2014/main" id="{70FCFD7A-5961-A84B-839A-C74A06B9A20E}"/>
                              </a:ext>
                            </a:extLst>
                          </p:cNvPr>
                          <p:cNvSpPr txBox="1"/>
                          <p:nvPr/>
                        </p:nvSpPr>
                        <p:spPr bwMode="auto">
                          <a:xfrm>
                            <a:off x="3253" y="4887"/>
                            <a:ext cx="279"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81" name="Object 77">
                            <a:extLst>
                              <a:ext uri="{FF2B5EF4-FFF2-40B4-BE49-F238E27FC236}">
                                <a16:creationId xmlns:a16="http://schemas.microsoft.com/office/drawing/2014/main" id="{70FCFD7A-5961-A84B-839A-C74A06B9A20E}"/>
                              </a:ext>
                            </a:extLst>
                          </p:cNvPr>
                          <p:cNvSpPr txBox="1">
                            <a:spLocks noRot="1" noChangeAspect="1" noMove="1" noResize="1" noEditPoints="1" noAdjustHandles="1" noChangeArrowheads="1" noChangeShapeType="1" noTextEdit="1"/>
                          </p:cNvSpPr>
                          <p:nvPr/>
                        </p:nvSpPr>
                        <p:spPr bwMode="auto">
                          <a:xfrm>
                            <a:off x="3253" y="4887"/>
                            <a:ext cx="279" cy="300"/>
                          </a:xfrm>
                          <a:prstGeom prst="rect">
                            <a:avLst/>
                          </a:prstGeom>
                          <a:blipFill>
                            <a:blip r:embed="rId14"/>
                            <a:stretch>
                              <a:fillRect/>
                            </a:stretch>
                          </a:blipFill>
                          <a:ln>
                            <a:noFill/>
                          </a:ln>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9582" name="Object 78">
                          <a:extLst>
                            <a:ext uri="{FF2B5EF4-FFF2-40B4-BE49-F238E27FC236}">
                              <a16:creationId xmlns:a16="http://schemas.microsoft.com/office/drawing/2014/main" id="{CA8F4ADE-92E0-344E-8FFD-12D74385024F}"/>
                            </a:ext>
                          </a:extLst>
                        </p:cNvPr>
                        <p:cNvSpPr txBox="1"/>
                        <p:nvPr/>
                      </p:nvSpPr>
                      <p:spPr bwMode="auto">
                        <a:xfrm>
                          <a:off x="3268" y="2858"/>
                          <a:ext cx="279"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0</m:t>
                                    </m:r>
                                  </m:sub>
                                </m:sSub>
                              </m:oMath>
                            </m:oMathPara>
                          </a14:m>
                          <a:endParaRPr lang="zh-CN" altLang="en-US"/>
                        </a:p>
                      </p:txBody>
                    </p:sp>
                  </mc:Choice>
                  <mc:Fallback xmlns="">
                    <p:sp>
                      <p:nvSpPr>
                        <p:cNvPr id="149582" name="Object 78">
                          <a:extLst>
                            <a:ext uri="{FF2B5EF4-FFF2-40B4-BE49-F238E27FC236}">
                              <a16:creationId xmlns:a16="http://schemas.microsoft.com/office/drawing/2014/main" id="{CA8F4ADE-92E0-344E-8FFD-12D74385024F}"/>
                            </a:ext>
                          </a:extLst>
                        </p:cNvPr>
                        <p:cNvSpPr txBox="1">
                          <a:spLocks noRot="1" noChangeAspect="1" noMove="1" noResize="1" noEditPoints="1" noAdjustHandles="1" noChangeArrowheads="1" noChangeShapeType="1" noTextEdit="1"/>
                        </p:cNvSpPr>
                        <p:nvPr/>
                      </p:nvSpPr>
                      <p:spPr bwMode="auto">
                        <a:xfrm>
                          <a:off x="3268" y="2858"/>
                          <a:ext cx="279" cy="300"/>
                        </a:xfrm>
                        <a:prstGeom prst="rect">
                          <a:avLst/>
                        </a:prstGeom>
                        <a:blipFill>
                          <a:blip r:embed="rId1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83" name="Object 79">
                          <a:extLst>
                            <a:ext uri="{FF2B5EF4-FFF2-40B4-BE49-F238E27FC236}">
                              <a16:creationId xmlns:a16="http://schemas.microsoft.com/office/drawing/2014/main" id="{24A5F04B-B529-C145-989C-D4B8D3BBD067}"/>
                            </a:ext>
                          </a:extLst>
                        </p:cNvPr>
                        <p:cNvSpPr txBox="1"/>
                        <p:nvPr/>
                      </p:nvSpPr>
                      <p:spPr bwMode="auto">
                        <a:xfrm>
                          <a:off x="6208" y="2858"/>
                          <a:ext cx="300"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0</m:t>
                                    </m:r>
                                  </m:sub>
                                </m:sSub>
                              </m:oMath>
                            </m:oMathPara>
                          </a14:m>
                          <a:endParaRPr lang="zh-CN" altLang="en-US"/>
                        </a:p>
                      </p:txBody>
                    </p:sp>
                  </mc:Choice>
                  <mc:Fallback xmlns="">
                    <p:sp>
                      <p:nvSpPr>
                        <p:cNvPr id="149583" name="Object 79">
                          <a:extLst>
                            <a:ext uri="{FF2B5EF4-FFF2-40B4-BE49-F238E27FC236}">
                              <a16:creationId xmlns:a16="http://schemas.microsoft.com/office/drawing/2014/main" id="{24A5F04B-B529-C145-989C-D4B8D3BBD067}"/>
                            </a:ext>
                          </a:extLst>
                        </p:cNvPr>
                        <p:cNvSpPr txBox="1">
                          <a:spLocks noRot="1" noChangeAspect="1" noMove="1" noResize="1" noEditPoints="1" noAdjustHandles="1" noChangeArrowheads="1" noChangeShapeType="1" noTextEdit="1"/>
                        </p:cNvSpPr>
                        <p:nvPr/>
                      </p:nvSpPr>
                      <p:spPr bwMode="auto">
                        <a:xfrm>
                          <a:off x="6208" y="2858"/>
                          <a:ext cx="300" cy="300"/>
                        </a:xfrm>
                        <a:prstGeom prst="rect">
                          <a:avLst/>
                        </a:prstGeom>
                        <a:blipFill>
                          <a:blip r:embed="rId16"/>
                          <a:stretch>
                            <a:fillRect/>
                          </a:stretch>
                        </a:blipFill>
                        <a:ln>
                          <a:noFill/>
                        </a:ln>
                        <a:extLst/>
                      </p:spPr>
                      <p:txBody>
                        <a:bodyPr/>
                        <a:lstStyle/>
                        <a:p>
                          <a:r>
                            <a:rPr lang="zh-CN" altLang="en-US">
                              <a:noFill/>
                            </a:rPr>
                            <a:t> </a:t>
                          </a:r>
                        </a:p>
                      </p:txBody>
                    </p:sp>
                  </mc:Fallback>
                </mc:AlternateContent>
                <p:sp>
                  <p:nvSpPr>
                    <p:cNvPr id="149584" name="Rectangle 80">
                      <a:extLst>
                        <a:ext uri="{FF2B5EF4-FFF2-40B4-BE49-F238E27FC236}">
                          <a16:creationId xmlns:a16="http://schemas.microsoft.com/office/drawing/2014/main" id="{97C41596-21B7-DA42-A720-9CD86BE37802}"/>
                        </a:ext>
                      </a:extLst>
                    </p:cNvPr>
                    <p:cNvSpPr>
                      <a:spLocks noChangeArrowheads="1"/>
                    </p:cNvSpPr>
                    <p:nvPr/>
                  </p:nvSpPr>
                  <p:spPr bwMode="auto">
                    <a:xfrm>
                      <a:off x="2128" y="4500"/>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sp>
                  <p:nvSpPr>
                    <p:cNvPr id="149585" name="Rectangle 81">
                      <a:extLst>
                        <a:ext uri="{FF2B5EF4-FFF2-40B4-BE49-F238E27FC236}">
                          <a16:creationId xmlns:a16="http://schemas.microsoft.com/office/drawing/2014/main" id="{AC599B67-4A28-5843-A40A-D6C5E29B3ED9}"/>
                        </a:ext>
                      </a:extLst>
                    </p:cNvPr>
                    <p:cNvSpPr>
                      <a:spLocks noChangeArrowheads="1"/>
                    </p:cNvSpPr>
                    <p:nvPr/>
                  </p:nvSpPr>
                  <p:spPr bwMode="auto">
                    <a:xfrm>
                      <a:off x="5053" y="4499"/>
                      <a:ext cx="2520" cy="468"/>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sp>
                  <p:nvSpPr>
                    <p:cNvPr id="149586" name="Line 82">
                      <a:extLst>
                        <a:ext uri="{FF2B5EF4-FFF2-40B4-BE49-F238E27FC236}">
                          <a16:creationId xmlns:a16="http://schemas.microsoft.com/office/drawing/2014/main" id="{340B676D-DDDC-7647-AD90-1ACFA6989A22}"/>
                        </a:ext>
                      </a:extLst>
                    </p:cNvPr>
                    <p:cNvSpPr>
                      <a:spLocks noChangeShapeType="1"/>
                    </p:cNvSpPr>
                    <p:nvPr/>
                  </p:nvSpPr>
                  <p:spPr bwMode="auto">
                    <a:xfrm>
                      <a:off x="3373" y="4982"/>
                      <a:ext cx="0" cy="329"/>
                    </a:xfrm>
                    <a:prstGeom prst="line">
                      <a:avLst/>
                    </a:prstGeom>
                    <a:noFill/>
                    <a:ln w="9525">
                      <a:solidFill>
                        <a:srgbClr val="000000"/>
                      </a:solidFill>
                      <a:prstDash val="sysDot"/>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87" name="Line 83">
                      <a:extLst>
                        <a:ext uri="{FF2B5EF4-FFF2-40B4-BE49-F238E27FC236}">
                          <a16:creationId xmlns:a16="http://schemas.microsoft.com/office/drawing/2014/main" id="{D39B1B3F-AE17-284C-965D-5386351948D4}"/>
                        </a:ext>
                      </a:extLst>
                    </p:cNvPr>
                    <p:cNvSpPr>
                      <a:spLocks noChangeShapeType="1"/>
                    </p:cNvSpPr>
                    <p:nvPr/>
                  </p:nvSpPr>
                  <p:spPr bwMode="auto">
                    <a:xfrm>
                      <a:off x="6328" y="4983"/>
                      <a:ext cx="0" cy="329"/>
                    </a:xfrm>
                    <a:prstGeom prst="line">
                      <a:avLst/>
                    </a:prstGeom>
                    <a:noFill/>
                    <a:ln w="9525">
                      <a:solidFill>
                        <a:srgbClr val="000000"/>
                      </a:solidFill>
                      <a:prstDash val="sysDot"/>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88" name="Line 84">
                      <a:extLst>
                        <a:ext uri="{FF2B5EF4-FFF2-40B4-BE49-F238E27FC236}">
                          <a16:creationId xmlns:a16="http://schemas.microsoft.com/office/drawing/2014/main" id="{CA62445C-000D-B04E-B5C8-FD160FB934B1}"/>
                        </a:ext>
                      </a:extLst>
                    </p:cNvPr>
                    <p:cNvSpPr>
                      <a:spLocks noChangeShapeType="1"/>
                    </p:cNvSpPr>
                    <p:nvPr/>
                  </p:nvSpPr>
                  <p:spPr bwMode="auto">
                    <a:xfrm>
                      <a:off x="3388" y="5085"/>
                      <a:ext cx="504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CN"/>
                    </a:p>
                  </p:txBody>
                </p:sp>
                <p:sp>
                  <p:nvSpPr>
                    <p:cNvPr id="149589" name="Line 85">
                      <a:extLst>
                        <a:ext uri="{FF2B5EF4-FFF2-40B4-BE49-F238E27FC236}">
                          <a16:creationId xmlns:a16="http://schemas.microsoft.com/office/drawing/2014/main" id="{AF00134D-E3E7-9C4A-946B-A2425F67A016}"/>
                        </a:ext>
                      </a:extLst>
                    </p:cNvPr>
                    <p:cNvSpPr>
                      <a:spLocks noChangeShapeType="1"/>
                    </p:cNvSpPr>
                    <p:nvPr/>
                  </p:nvSpPr>
                  <p:spPr bwMode="auto">
                    <a:xfrm flipV="1">
                      <a:off x="8203" y="3369"/>
                      <a:ext cx="0" cy="329"/>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590" name="Line 86">
                      <a:extLst>
                        <a:ext uri="{FF2B5EF4-FFF2-40B4-BE49-F238E27FC236}">
                          <a16:creationId xmlns:a16="http://schemas.microsoft.com/office/drawing/2014/main" id="{AA095A2E-A944-2445-9C25-2F7C6487AEF7}"/>
                        </a:ext>
                      </a:extLst>
                    </p:cNvPr>
                    <p:cNvSpPr>
                      <a:spLocks noChangeShapeType="1"/>
                    </p:cNvSpPr>
                    <p:nvPr/>
                  </p:nvSpPr>
                  <p:spPr bwMode="auto">
                    <a:xfrm>
                      <a:off x="8203" y="4773"/>
                      <a:ext cx="0" cy="329"/>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mc:AlternateContent xmlns:mc="http://schemas.openxmlformats.org/markup-compatibility/2006" xmlns:a14="http://schemas.microsoft.com/office/drawing/2010/main">
                  <mc:Choice Requires="a14">
                    <p:sp>
                      <p:nvSpPr>
                        <p:cNvPr id="149591" name="Object 87">
                          <a:extLst>
                            <a:ext uri="{FF2B5EF4-FFF2-40B4-BE49-F238E27FC236}">
                              <a16:creationId xmlns:a16="http://schemas.microsoft.com/office/drawing/2014/main" id="{04DE63F0-2380-9E4A-9D08-1DBAD40FAAA7}"/>
                            </a:ext>
                          </a:extLst>
                        </p:cNvPr>
                        <p:cNvSpPr txBox="1"/>
                        <p:nvPr/>
                      </p:nvSpPr>
                      <p:spPr bwMode="auto">
                        <a:xfrm>
                          <a:off x="8090" y="3780"/>
                          <a:ext cx="277" cy="898"/>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第</m:t>
                                </m:r>
                              </m:oMath>
                              <m:oMath xmlns:m="http://schemas.openxmlformats.org/officeDocument/2006/math">
                                <m:r>
                                  <a:rPr lang="zh-CN" altLang="en-US" i="1">
                                    <a:solidFill>
                                      <a:srgbClr val="000000"/>
                                    </a:solidFill>
                                    <a:latin typeface="Cambria Math" panose="02040503050406030204" pitchFamily="18" charset="0"/>
                                  </a:rPr>
                                  <m:t>一</m:t>
                                </m:r>
                              </m:oMath>
                              <m:oMath xmlns:m="http://schemas.openxmlformats.org/officeDocument/2006/math">
                                <m:r>
                                  <a:rPr lang="zh-CN" altLang="en-US" i="1">
                                    <a:solidFill>
                                      <a:srgbClr val="000000"/>
                                    </a:solidFill>
                                    <a:latin typeface="Cambria Math" panose="02040503050406030204" pitchFamily="18" charset="0"/>
                                  </a:rPr>
                                  <m:t>轮</m:t>
                                </m:r>
                              </m:oMath>
                            </m:oMathPara>
                          </a14:m>
                          <a:endParaRPr lang="zh-CN" altLang="en-US"/>
                        </a:p>
                      </p:txBody>
                    </p:sp>
                  </mc:Choice>
                  <mc:Fallback xmlns="">
                    <p:sp>
                      <p:nvSpPr>
                        <p:cNvPr id="149591" name="Object 87">
                          <a:extLst>
                            <a:ext uri="{FF2B5EF4-FFF2-40B4-BE49-F238E27FC236}">
                              <a16:creationId xmlns:a16="http://schemas.microsoft.com/office/drawing/2014/main" id="{04DE63F0-2380-9E4A-9D08-1DBAD40FAAA7}"/>
                            </a:ext>
                          </a:extLst>
                        </p:cNvPr>
                        <p:cNvSpPr txBox="1">
                          <a:spLocks noRot="1" noChangeAspect="1" noMove="1" noResize="1" noEditPoints="1" noAdjustHandles="1" noChangeArrowheads="1" noChangeShapeType="1" noTextEdit="1"/>
                        </p:cNvSpPr>
                        <p:nvPr/>
                      </p:nvSpPr>
                      <p:spPr bwMode="auto">
                        <a:xfrm>
                          <a:off x="8090" y="3780"/>
                          <a:ext cx="277" cy="898"/>
                        </a:xfrm>
                        <a:prstGeom prst="rect">
                          <a:avLst/>
                        </a:prstGeom>
                        <a:blipFill>
                          <a:blip r:embed="rId17"/>
                          <a:stretch>
                            <a:fillRect r="-32432"/>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92" name="Object 88">
                          <a:extLst>
                            <a:ext uri="{FF2B5EF4-FFF2-40B4-BE49-F238E27FC236}">
                              <a16:creationId xmlns:a16="http://schemas.microsoft.com/office/drawing/2014/main" id="{B3CF531E-2D8D-B242-9FC4-337909346E7B}"/>
                            </a:ext>
                          </a:extLst>
                        </p:cNvPr>
                        <p:cNvSpPr txBox="1"/>
                        <p:nvPr/>
                      </p:nvSpPr>
                      <p:spPr bwMode="auto">
                        <a:xfrm>
                          <a:off x="3073" y="4625"/>
                          <a:ext cx="639"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0</m:t>
                                    </m:r>
                                  </m:sub>
                                </m:sSub>
                              </m:oMath>
                            </m:oMathPara>
                          </a14:m>
                          <a:endParaRPr lang="zh-CN" altLang="en-US"/>
                        </a:p>
                      </p:txBody>
                    </p:sp>
                  </mc:Choice>
                  <mc:Fallback xmlns="">
                    <p:sp>
                      <p:nvSpPr>
                        <p:cNvPr id="149592" name="Object 88">
                          <a:extLst>
                            <a:ext uri="{FF2B5EF4-FFF2-40B4-BE49-F238E27FC236}">
                              <a16:creationId xmlns:a16="http://schemas.microsoft.com/office/drawing/2014/main" id="{B3CF531E-2D8D-B242-9FC4-337909346E7B}"/>
                            </a:ext>
                          </a:extLst>
                        </p:cNvPr>
                        <p:cNvSpPr txBox="1">
                          <a:spLocks noRot="1" noChangeAspect="1" noMove="1" noResize="1" noEditPoints="1" noAdjustHandles="1" noChangeArrowheads="1" noChangeShapeType="1" noTextEdit="1"/>
                        </p:cNvSpPr>
                        <p:nvPr/>
                      </p:nvSpPr>
                      <p:spPr bwMode="auto">
                        <a:xfrm>
                          <a:off x="3073" y="4625"/>
                          <a:ext cx="639" cy="300"/>
                        </a:xfrm>
                        <a:prstGeom prst="rect">
                          <a:avLst/>
                        </a:prstGeom>
                        <a:blipFill>
                          <a:blip r:embed="rId18"/>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93" name="Object 89">
                          <a:extLst>
                            <a:ext uri="{FF2B5EF4-FFF2-40B4-BE49-F238E27FC236}">
                              <a16:creationId xmlns:a16="http://schemas.microsoft.com/office/drawing/2014/main" id="{D3C97495-7A02-D647-9182-3BC2D35DF18F}"/>
                            </a:ext>
                          </a:extLst>
                        </p:cNvPr>
                        <p:cNvSpPr txBox="1"/>
                        <p:nvPr/>
                      </p:nvSpPr>
                      <p:spPr bwMode="auto">
                        <a:xfrm>
                          <a:off x="5458" y="4635"/>
                          <a:ext cx="1719"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93" name="Object 89">
                          <a:extLst>
                            <a:ext uri="{FF2B5EF4-FFF2-40B4-BE49-F238E27FC236}">
                              <a16:creationId xmlns:a16="http://schemas.microsoft.com/office/drawing/2014/main" id="{D3C97495-7A02-D647-9182-3BC2D35DF18F}"/>
                            </a:ext>
                          </a:extLst>
                        </p:cNvPr>
                        <p:cNvSpPr txBox="1">
                          <a:spLocks noRot="1" noChangeAspect="1" noMove="1" noResize="1" noEditPoints="1" noAdjustHandles="1" noChangeArrowheads="1" noChangeShapeType="1" noTextEdit="1"/>
                        </p:cNvSpPr>
                        <p:nvPr/>
                      </p:nvSpPr>
                      <p:spPr bwMode="auto">
                        <a:xfrm>
                          <a:off x="5458" y="4635"/>
                          <a:ext cx="1719" cy="300"/>
                        </a:xfrm>
                        <a:prstGeom prst="rect">
                          <a:avLst/>
                        </a:prstGeom>
                        <a:blipFill>
                          <a:blip r:embed="rId19"/>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94" name="Object 90">
                          <a:extLst>
                            <a:ext uri="{FF2B5EF4-FFF2-40B4-BE49-F238E27FC236}">
                              <a16:creationId xmlns:a16="http://schemas.microsoft.com/office/drawing/2014/main" id="{FFADC4D9-CAC0-A140-8F6E-7AA0437C83EE}"/>
                            </a:ext>
                          </a:extLst>
                        </p:cNvPr>
                        <p:cNvSpPr txBox="1"/>
                        <p:nvPr/>
                      </p:nvSpPr>
                      <p:spPr bwMode="auto">
                        <a:xfrm>
                          <a:off x="3313" y="5369"/>
                          <a:ext cx="173"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94" name="Object 90">
                          <a:extLst>
                            <a:ext uri="{FF2B5EF4-FFF2-40B4-BE49-F238E27FC236}">
                              <a16:creationId xmlns:a16="http://schemas.microsoft.com/office/drawing/2014/main" id="{FFADC4D9-CAC0-A140-8F6E-7AA0437C83EE}"/>
                            </a:ext>
                          </a:extLst>
                        </p:cNvPr>
                        <p:cNvSpPr txBox="1">
                          <a:spLocks noRot="1" noChangeAspect="1" noMove="1" noResize="1" noEditPoints="1" noAdjustHandles="1" noChangeArrowheads="1" noChangeShapeType="1" noTextEdit="1"/>
                        </p:cNvSpPr>
                        <p:nvPr/>
                      </p:nvSpPr>
                      <p:spPr bwMode="auto">
                        <a:xfrm>
                          <a:off x="3313" y="5369"/>
                          <a:ext cx="173" cy="300"/>
                        </a:xfrm>
                        <a:prstGeom prst="rect">
                          <a:avLst/>
                        </a:prstGeom>
                        <a:blipFill>
                          <a:blip r:embed="rId20"/>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95" name="Object 91">
                          <a:extLst>
                            <a:ext uri="{FF2B5EF4-FFF2-40B4-BE49-F238E27FC236}">
                              <a16:creationId xmlns:a16="http://schemas.microsoft.com/office/drawing/2014/main" id="{79ED0F77-12C8-EE4B-B227-F748EC0803E6}"/>
                            </a:ext>
                          </a:extLst>
                        </p:cNvPr>
                        <p:cNvSpPr txBox="1"/>
                        <p:nvPr/>
                      </p:nvSpPr>
                      <p:spPr bwMode="auto">
                        <a:xfrm>
                          <a:off x="6268" y="5369"/>
                          <a:ext cx="173" cy="30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9595" name="Object 91">
                          <a:extLst>
                            <a:ext uri="{FF2B5EF4-FFF2-40B4-BE49-F238E27FC236}">
                              <a16:creationId xmlns:a16="http://schemas.microsoft.com/office/drawing/2014/main" id="{79ED0F77-12C8-EE4B-B227-F748EC0803E6}"/>
                            </a:ext>
                          </a:extLst>
                        </p:cNvPr>
                        <p:cNvSpPr txBox="1">
                          <a:spLocks noRot="1" noChangeAspect="1" noMove="1" noResize="1" noEditPoints="1" noAdjustHandles="1" noChangeArrowheads="1" noChangeShapeType="1" noTextEdit="1"/>
                        </p:cNvSpPr>
                        <p:nvPr/>
                      </p:nvSpPr>
                      <p:spPr bwMode="auto">
                        <a:xfrm>
                          <a:off x="6268" y="5369"/>
                          <a:ext cx="173" cy="300"/>
                        </a:xfrm>
                        <a:prstGeom prst="rect">
                          <a:avLst/>
                        </a:prstGeom>
                        <a:blipFill>
                          <a:blip r:embed="rId20"/>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596" name="Object 92">
                          <a:extLst>
                            <a:ext uri="{FF2B5EF4-FFF2-40B4-BE49-F238E27FC236}">
                              <a16:creationId xmlns:a16="http://schemas.microsoft.com/office/drawing/2014/main" id="{773CF6A8-8A65-1E44-A685-1159E976D7BF}"/>
                            </a:ext>
                          </a:extLst>
                        </p:cNvPr>
                        <p:cNvSpPr txBox="1"/>
                        <p:nvPr/>
                      </p:nvSpPr>
                      <p:spPr bwMode="auto">
                        <a:xfrm>
                          <a:off x="4738" y="3615"/>
                          <a:ext cx="240" cy="32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𝑓</m:t>
                                </m:r>
                              </m:oMath>
                            </m:oMathPara>
                          </a14:m>
                          <a:endParaRPr lang="zh-CN" altLang="en-US"/>
                        </a:p>
                      </p:txBody>
                    </p:sp>
                  </mc:Choice>
                  <mc:Fallback xmlns="">
                    <p:sp>
                      <p:nvSpPr>
                        <p:cNvPr id="149596" name="Object 92">
                          <a:extLst>
                            <a:ext uri="{FF2B5EF4-FFF2-40B4-BE49-F238E27FC236}">
                              <a16:creationId xmlns:a16="http://schemas.microsoft.com/office/drawing/2014/main" id="{773CF6A8-8A65-1E44-A685-1159E976D7BF}"/>
                            </a:ext>
                          </a:extLst>
                        </p:cNvPr>
                        <p:cNvSpPr txBox="1">
                          <a:spLocks noRot="1" noChangeAspect="1" noMove="1" noResize="1" noEditPoints="1" noAdjustHandles="1" noChangeArrowheads="1" noChangeShapeType="1" noTextEdit="1"/>
                        </p:cNvSpPr>
                        <p:nvPr/>
                      </p:nvSpPr>
                      <p:spPr bwMode="auto">
                        <a:xfrm>
                          <a:off x="4738" y="3615"/>
                          <a:ext cx="240" cy="320"/>
                        </a:xfrm>
                        <a:prstGeom prst="rect">
                          <a:avLst/>
                        </a:prstGeom>
                        <a:blipFill>
                          <a:blip r:embed="rId21"/>
                          <a:stretch>
                            <a:fillRect/>
                          </a:stretch>
                        </a:blipFill>
                        <a:ln>
                          <a:noFill/>
                        </a:ln>
                        <a:extLst/>
                      </p:spPr>
                      <p:txBody>
                        <a:bodyPr/>
                        <a:lstStyle/>
                        <a:p>
                          <a:r>
                            <a:rPr lang="zh-CN" altLang="en-US">
                              <a:noFill/>
                            </a:rPr>
                            <a:t> </a:t>
                          </a:r>
                        </a:p>
                      </p:txBody>
                    </p:sp>
                  </mc:Fallback>
                </mc:AlternateContent>
              </p:grpSp>
            </p:grpSp>
          </p:grpSp>
          <p:sp>
            <p:nvSpPr>
              <p:cNvPr id="149597" name="Line 93">
                <a:extLst>
                  <a:ext uri="{FF2B5EF4-FFF2-40B4-BE49-F238E27FC236}">
                    <a16:creationId xmlns:a16="http://schemas.microsoft.com/office/drawing/2014/main" id="{2605D68C-ECB7-094D-AF07-2177365EDCE8}"/>
                  </a:ext>
                </a:extLst>
              </p:cNvPr>
              <p:cNvSpPr>
                <a:spLocks noChangeShapeType="1"/>
              </p:cNvSpPr>
              <p:nvPr/>
            </p:nvSpPr>
            <p:spPr bwMode="auto">
              <a:xfrm>
                <a:off x="4843" y="3588"/>
                <a:ext cx="0"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grpSp>
            <p:nvGrpSpPr>
              <p:cNvPr id="149598" name="Group 94">
                <a:extLst>
                  <a:ext uri="{FF2B5EF4-FFF2-40B4-BE49-F238E27FC236}">
                    <a16:creationId xmlns:a16="http://schemas.microsoft.com/office/drawing/2014/main" id="{4EE03217-4E1F-9945-B94E-D22299B3CC66}"/>
                  </a:ext>
                </a:extLst>
              </p:cNvPr>
              <p:cNvGrpSpPr>
                <a:grpSpLocks/>
              </p:cNvGrpSpPr>
              <p:nvPr/>
            </p:nvGrpSpPr>
            <p:grpSpPr bwMode="auto">
              <a:xfrm>
                <a:off x="4393" y="2580"/>
                <a:ext cx="945" cy="997"/>
                <a:chOff x="4393" y="2580"/>
                <a:chExt cx="945" cy="997"/>
              </a:xfrm>
            </p:grpSpPr>
            <p:sp>
              <p:nvSpPr>
                <p:cNvPr id="149599" name="Line 95">
                  <a:extLst>
                    <a:ext uri="{FF2B5EF4-FFF2-40B4-BE49-F238E27FC236}">
                      <a16:creationId xmlns:a16="http://schemas.microsoft.com/office/drawing/2014/main" id="{6D663898-96AB-8746-BE7C-49B9025947C5}"/>
                    </a:ext>
                  </a:extLst>
                </p:cNvPr>
                <p:cNvSpPr>
                  <a:spLocks noChangeShapeType="1"/>
                </p:cNvSpPr>
                <p:nvPr/>
              </p:nvSpPr>
              <p:spPr bwMode="auto">
                <a:xfrm>
                  <a:off x="4858" y="2966"/>
                  <a:ext cx="0" cy="23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p:sp>
              <p:nvSpPr>
                <p:cNvPr id="149600" name="Rectangle 96">
                  <a:extLst>
                    <a:ext uri="{FF2B5EF4-FFF2-40B4-BE49-F238E27FC236}">
                      <a16:creationId xmlns:a16="http://schemas.microsoft.com/office/drawing/2014/main" id="{331EB6D9-993A-D54B-B90A-5452D44A5FBB}"/>
                    </a:ext>
                  </a:extLst>
                </p:cNvPr>
                <p:cNvSpPr>
                  <a:spLocks noChangeArrowheads="1"/>
                </p:cNvSpPr>
                <p:nvPr/>
              </p:nvSpPr>
              <p:spPr bwMode="auto">
                <a:xfrm>
                  <a:off x="4543" y="3180"/>
                  <a:ext cx="630" cy="397"/>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p:grpSp>
              <p:nvGrpSpPr>
                <p:cNvPr id="149601" name="Group 97">
                  <a:extLst>
                    <a:ext uri="{FF2B5EF4-FFF2-40B4-BE49-F238E27FC236}">
                      <a16:creationId xmlns:a16="http://schemas.microsoft.com/office/drawing/2014/main" id="{F585EB84-398D-454A-B202-6C5C7028A693}"/>
                    </a:ext>
                  </a:extLst>
                </p:cNvPr>
                <p:cNvGrpSpPr>
                  <a:grpSpLocks/>
                </p:cNvGrpSpPr>
                <p:nvPr/>
              </p:nvGrpSpPr>
              <p:grpSpPr bwMode="auto">
                <a:xfrm>
                  <a:off x="4393" y="2580"/>
                  <a:ext cx="945" cy="397"/>
                  <a:chOff x="4393" y="2580"/>
                  <a:chExt cx="945" cy="397"/>
                </a:xfrm>
              </p:grpSpPr>
              <p:sp>
                <p:nvSpPr>
                  <p:cNvPr id="149602" name="Rectangle 98">
                    <a:extLst>
                      <a:ext uri="{FF2B5EF4-FFF2-40B4-BE49-F238E27FC236}">
                        <a16:creationId xmlns:a16="http://schemas.microsoft.com/office/drawing/2014/main" id="{232CD801-6242-414D-A4FD-51E1F1BF2084}"/>
                      </a:ext>
                    </a:extLst>
                  </p:cNvPr>
                  <p:cNvSpPr>
                    <a:spLocks noChangeArrowheads="1"/>
                  </p:cNvSpPr>
                  <p:nvPr/>
                </p:nvSpPr>
                <p:spPr bwMode="auto">
                  <a:xfrm>
                    <a:off x="4393" y="2580"/>
                    <a:ext cx="945" cy="397"/>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mc:AlternateContent xmlns:mc="http://schemas.openxmlformats.org/markup-compatibility/2006" xmlns:a14="http://schemas.microsoft.com/office/drawing/2010/main">
                <mc:Choice Requires="a14">
                  <p:sp>
                    <p:nvSpPr>
                      <p:cNvPr id="149603" name="Object 99">
                        <a:extLst>
                          <a:ext uri="{FF2B5EF4-FFF2-40B4-BE49-F238E27FC236}">
                            <a16:creationId xmlns:a16="http://schemas.microsoft.com/office/drawing/2014/main" id="{0AEA9D09-376F-1645-8D3D-79692A28BB03}"/>
                          </a:ext>
                        </a:extLst>
                      </p:cNvPr>
                      <p:cNvSpPr txBox="1"/>
                      <p:nvPr/>
                    </p:nvSpPr>
                    <p:spPr bwMode="auto">
                      <a:xfrm>
                        <a:off x="4558" y="2655"/>
                        <a:ext cx="639" cy="32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明</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文</m:t>
                              </m:r>
                            </m:oMath>
                          </m:oMathPara>
                        </a14:m>
                        <a:endParaRPr lang="zh-CN" altLang="en-US"/>
                      </a:p>
                    </p:txBody>
                  </p:sp>
                </mc:Choice>
                <mc:Fallback xmlns="">
                  <p:sp>
                    <p:nvSpPr>
                      <p:cNvPr id="149603" name="Object 99">
                        <a:extLst>
                          <a:ext uri="{FF2B5EF4-FFF2-40B4-BE49-F238E27FC236}">
                            <a16:creationId xmlns:a16="http://schemas.microsoft.com/office/drawing/2014/main" id="{0AEA9D09-376F-1645-8D3D-79692A28BB03}"/>
                          </a:ext>
                        </a:extLst>
                      </p:cNvPr>
                      <p:cNvSpPr txBox="1">
                        <a:spLocks noRot="1" noChangeAspect="1" noMove="1" noResize="1" noEditPoints="1" noAdjustHandles="1" noChangeArrowheads="1" noChangeShapeType="1" noTextEdit="1"/>
                      </p:cNvSpPr>
                      <p:nvPr/>
                    </p:nvSpPr>
                    <p:spPr bwMode="auto">
                      <a:xfrm>
                        <a:off x="4558" y="2655"/>
                        <a:ext cx="639" cy="320"/>
                      </a:xfrm>
                      <a:prstGeom prst="rect">
                        <a:avLst/>
                      </a:prstGeom>
                      <a:blipFill>
                        <a:blip r:embed="rId22"/>
                        <a:stretch>
                          <a:fillRect/>
                        </a:stretch>
                      </a:blipFill>
                      <a:ln>
                        <a:noFill/>
                      </a:ln>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9604" name="Object 100">
                      <a:extLst>
                        <a:ext uri="{FF2B5EF4-FFF2-40B4-BE49-F238E27FC236}">
                          <a16:creationId xmlns:a16="http://schemas.microsoft.com/office/drawing/2014/main" id="{5B399841-F4B9-E548-A65E-E794AD270F6A}"/>
                        </a:ext>
                      </a:extLst>
                    </p:cNvPr>
                    <p:cNvSpPr txBox="1"/>
                    <p:nvPr/>
                  </p:nvSpPr>
                  <p:spPr bwMode="auto">
                    <a:xfrm>
                      <a:off x="4708" y="3285"/>
                      <a:ext cx="279" cy="220"/>
                    </a:xfrm>
                    <a:prstGeom prst="rect">
                      <a:avLst/>
                    </a:prstGeom>
                    <a:noFill/>
                    <a:ln>
                      <a:noFill/>
                    </a:ln>
                  </p:spPr>
                  <p:txBody>
                    <a:bodyPr>
                      <a:normAutofit fontScale="25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𝐼𝑃</m:t>
                            </m:r>
                          </m:oMath>
                        </m:oMathPara>
                      </a14:m>
                      <a:endParaRPr lang="zh-CN" altLang="en-US"/>
                    </a:p>
                  </p:txBody>
                </p:sp>
              </mc:Choice>
              <mc:Fallback xmlns="">
                <p:sp>
                  <p:nvSpPr>
                    <p:cNvPr id="149604" name="Object 100">
                      <a:extLst>
                        <a:ext uri="{FF2B5EF4-FFF2-40B4-BE49-F238E27FC236}">
                          <a16:creationId xmlns:a16="http://schemas.microsoft.com/office/drawing/2014/main" id="{5B399841-F4B9-E548-A65E-E794AD270F6A}"/>
                        </a:ext>
                      </a:extLst>
                    </p:cNvPr>
                    <p:cNvSpPr txBox="1">
                      <a:spLocks noRot="1" noChangeAspect="1" noMove="1" noResize="1" noEditPoints="1" noAdjustHandles="1" noChangeArrowheads="1" noChangeShapeType="1" noTextEdit="1"/>
                    </p:cNvSpPr>
                    <p:nvPr/>
                  </p:nvSpPr>
                  <p:spPr bwMode="auto">
                    <a:xfrm>
                      <a:off x="4708" y="3285"/>
                      <a:ext cx="279" cy="220"/>
                    </a:xfrm>
                    <a:prstGeom prst="rect">
                      <a:avLst/>
                    </a:prstGeom>
                    <a:blipFill>
                      <a:blip r:embed="rId23"/>
                      <a:stretch>
                        <a:fillRect/>
                      </a:stretch>
                    </a:blipFill>
                    <a:ln>
                      <a:noFill/>
                    </a:ln>
                    <a:extLst/>
                  </p:spPr>
                  <p:txBody>
                    <a:bodyPr/>
                    <a:lstStyle/>
                    <a:p>
                      <a:r>
                        <a:rPr lang="zh-CN" altLang="en-US">
                          <a:noFill/>
                        </a:rPr>
                        <a:t> </a:t>
                      </a:r>
                    </a:p>
                  </p:txBody>
                </p:sp>
              </mc:Fallback>
            </mc:AlternateContent>
          </p:grpSp>
        </p:grpSp>
        <p:grpSp>
          <p:nvGrpSpPr>
            <p:cNvPr id="149605" name="Group 101">
              <a:extLst>
                <a:ext uri="{FF2B5EF4-FFF2-40B4-BE49-F238E27FC236}">
                  <a16:creationId xmlns:a16="http://schemas.microsoft.com/office/drawing/2014/main" id="{AD324B0A-740D-EA47-9D75-FA00DA9897DD}"/>
                </a:ext>
              </a:extLst>
            </p:cNvPr>
            <p:cNvGrpSpPr>
              <a:grpSpLocks/>
            </p:cNvGrpSpPr>
            <p:nvPr/>
          </p:nvGrpSpPr>
          <p:grpSpPr bwMode="auto">
            <a:xfrm>
              <a:off x="4528" y="10755"/>
              <a:ext cx="630" cy="397"/>
              <a:chOff x="4528" y="10815"/>
              <a:chExt cx="630" cy="397"/>
            </a:xfrm>
          </p:grpSpPr>
          <p:sp>
            <p:nvSpPr>
              <p:cNvPr id="149606" name="Rectangle 102">
                <a:extLst>
                  <a:ext uri="{FF2B5EF4-FFF2-40B4-BE49-F238E27FC236}">
                    <a16:creationId xmlns:a16="http://schemas.microsoft.com/office/drawing/2014/main" id="{607B5514-BA6D-0F47-AD42-CE8DC829D7F2}"/>
                  </a:ext>
                </a:extLst>
              </p:cNvPr>
              <p:cNvSpPr>
                <a:spLocks noChangeArrowheads="1"/>
              </p:cNvSpPr>
              <p:nvPr/>
            </p:nvSpPr>
            <p:spPr bwMode="auto">
              <a:xfrm>
                <a:off x="4528" y="10815"/>
                <a:ext cx="630" cy="397"/>
              </a:xfrm>
              <a:prstGeom prst="rect">
                <a:avLst/>
              </a:prstGeom>
              <a:solidFill>
                <a:srgbClr val="FFFFFF"/>
              </a:solidFill>
              <a:ln w="9525">
                <a:solidFill>
                  <a:srgbClr val="000000"/>
                </a:solidFill>
                <a:miter lim="800000"/>
                <a:headEnd/>
                <a:tailEnd/>
              </a:ln>
            </p:spPr>
            <p:txBody>
              <a:bodyPr/>
              <a:lstStyle/>
              <a:p>
                <a:endParaRPr lang="zh-CN" altLang="en-US">
                  <a:solidFill>
                    <a:srgbClr val="006699"/>
                  </a:solidFill>
                </a:endParaRPr>
              </a:p>
            </p:txBody>
          </p:sp>
          <mc:AlternateContent xmlns:mc="http://schemas.openxmlformats.org/markup-compatibility/2006" xmlns:a14="http://schemas.microsoft.com/office/drawing/2010/main">
            <mc:Choice Requires="a14">
              <p:sp>
                <p:nvSpPr>
                  <p:cNvPr id="149607" name="Object 103">
                    <a:extLst>
                      <a:ext uri="{FF2B5EF4-FFF2-40B4-BE49-F238E27FC236}">
                        <a16:creationId xmlns:a16="http://schemas.microsoft.com/office/drawing/2014/main" id="{FAB5F348-5927-A94A-AF7A-764DB0D5D98F}"/>
                      </a:ext>
                    </a:extLst>
                  </p:cNvPr>
                  <p:cNvSpPr txBox="1"/>
                  <p:nvPr/>
                </p:nvSpPr>
                <p:spPr bwMode="auto">
                  <a:xfrm>
                    <a:off x="4648" y="10860"/>
                    <a:ext cx="440" cy="279"/>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𝐼</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𝑃</m:t>
                              </m:r>
                            </m:e>
                            <m:sup>
                              <m:r>
                                <a:rPr lang="zh-CN" altLang="en-US" i="1">
                                  <a:solidFill>
                                    <a:srgbClr val="000000"/>
                                  </a:solidFill>
                                  <a:latin typeface="Cambria Math" panose="02040503050406030204" pitchFamily="18" charset="0"/>
                                </a:rPr>
                                <m:t>−1</m:t>
                              </m:r>
                            </m:sup>
                          </m:sSup>
                        </m:oMath>
                      </m:oMathPara>
                    </a14:m>
                    <a:endParaRPr lang="zh-CN" altLang="en-US"/>
                  </a:p>
                </p:txBody>
              </p:sp>
            </mc:Choice>
            <mc:Fallback xmlns="">
              <p:sp>
                <p:nvSpPr>
                  <p:cNvPr id="149607" name="Object 103">
                    <a:extLst>
                      <a:ext uri="{FF2B5EF4-FFF2-40B4-BE49-F238E27FC236}">
                        <a16:creationId xmlns:a16="http://schemas.microsoft.com/office/drawing/2014/main" id="{FAB5F348-5927-A94A-AF7A-764DB0D5D98F}"/>
                      </a:ext>
                    </a:extLst>
                  </p:cNvPr>
                  <p:cNvSpPr txBox="1">
                    <a:spLocks noRot="1" noChangeAspect="1" noMove="1" noResize="1" noEditPoints="1" noAdjustHandles="1" noChangeArrowheads="1" noChangeShapeType="1" noTextEdit="1"/>
                  </p:cNvSpPr>
                  <p:nvPr/>
                </p:nvSpPr>
                <p:spPr bwMode="auto">
                  <a:xfrm>
                    <a:off x="4648" y="10860"/>
                    <a:ext cx="440" cy="279"/>
                  </a:xfrm>
                  <a:prstGeom prst="rect">
                    <a:avLst/>
                  </a:prstGeom>
                  <a:blipFill>
                    <a:blip r:embed="rId24"/>
                    <a:stretch>
                      <a:fillRect/>
                    </a:stretch>
                  </a:blipFill>
                  <a:ln>
                    <a:noFill/>
                  </a:ln>
                  <a:extLst/>
                </p:spPr>
                <p:txBody>
                  <a:bodyPr/>
                  <a:lstStyle/>
                  <a:p>
                    <a:r>
                      <a:rPr lang="zh-CN" altLang="en-US">
                        <a:noFill/>
                      </a:rPr>
                      <a:t> </a:t>
                    </a:r>
                  </a:p>
                </p:txBody>
              </p:sp>
            </mc:Fallback>
          </mc:AlternateContent>
        </p:grpSp>
        <p:sp>
          <p:nvSpPr>
            <p:cNvPr id="149608" name="Line 104">
              <a:extLst>
                <a:ext uri="{FF2B5EF4-FFF2-40B4-BE49-F238E27FC236}">
                  <a16:creationId xmlns:a16="http://schemas.microsoft.com/office/drawing/2014/main" id="{A8D9098C-1B13-EE40-AF01-97CE75C920B5}"/>
                </a:ext>
              </a:extLst>
            </p:cNvPr>
            <p:cNvSpPr>
              <a:spLocks noChangeShapeType="1"/>
            </p:cNvSpPr>
            <p:nvPr/>
          </p:nvSpPr>
          <p:spPr bwMode="auto">
            <a:xfrm>
              <a:off x="4843" y="11160"/>
              <a:ext cx="0" cy="21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CN"/>
            </a:p>
          </p:txBody>
        </p:sp>
        <mc:AlternateContent xmlns:mc="http://schemas.openxmlformats.org/markup-compatibility/2006" xmlns:a14="http://schemas.microsoft.com/office/drawing/2010/main">
          <mc:Choice Requires="a14">
            <p:sp>
              <p:nvSpPr>
                <p:cNvPr id="149609" name="Object 105">
                  <a:extLst>
                    <a:ext uri="{FF2B5EF4-FFF2-40B4-BE49-F238E27FC236}">
                      <a16:creationId xmlns:a16="http://schemas.microsoft.com/office/drawing/2014/main" id="{7F5249B7-CA6B-874E-818D-1013B1352431}"/>
                    </a:ext>
                  </a:extLst>
                </p:cNvPr>
                <p:cNvSpPr txBox="1"/>
                <p:nvPr/>
              </p:nvSpPr>
              <p:spPr bwMode="auto">
                <a:xfrm>
                  <a:off x="4528" y="11415"/>
                  <a:ext cx="660" cy="320"/>
                </a:xfrm>
                <a:prstGeom prst="rect">
                  <a:avLst/>
                </a:prstGeom>
                <a:noFill/>
                <a:ln>
                  <a:noFill/>
                </a:ln>
              </p:spPr>
              <p:txBody>
                <a:bodyPr>
                  <a:normAutofit fontScale="4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密</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文</m:t>
                        </m:r>
                      </m:oMath>
                    </m:oMathPara>
                  </a14:m>
                  <a:endParaRPr lang="zh-CN" altLang="en-US"/>
                </a:p>
              </p:txBody>
            </p:sp>
          </mc:Choice>
          <mc:Fallback xmlns="">
            <p:sp>
              <p:nvSpPr>
                <p:cNvPr id="149609" name="Object 105">
                  <a:extLst>
                    <a:ext uri="{FF2B5EF4-FFF2-40B4-BE49-F238E27FC236}">
                      <a16:creationId xmlns:a16="http://schemas.microsoft.com/office/drawing/2014/main" id="{7F5249B7-CA6B-874E-818D-1013B1352431}"/>
                    </a:ext>
                  </a:extLst>
                </p:cNvPr>
                <p:cNvSpPr txBox="1">
                  <a:spLocks noRot="1" noChangeAspect="1" noMove="1" noResize="1" noEditPoints="1" noAdjustHandles="1" noChangeArrowheads="1" noChangeShapeType="1" noTextEdit="1"/>
                </p:cNvSpPr>
                <p:nvPr/>
              </p:nvSpPr>
              <p:spPr bwMode="auto">
                <a:xfrm>
                  <a:off x="4528" y="11415"/>
                  <a:ext cx="660" cy="320"/>
                </a:xfrm>
                <a:prstGeom prst="rect">
                  <a:avLst/>
                </a:prstGeom>
                <a:blipFill>
                  <a:blip r:embed="rId25"/>
                  <a:stretch>
                    <a:fillRect/>
                  </a:stretch>
                </a:blipFill>
                <a:ln>
                  <a:noFill/>
                </a:ln>
                <a:extLst/>
              </p:spPr>
              <p:txBody>
                <a:bodyPr/>
                <a:lstStyle/>
                <a:p>
                  <a:r>
                    <a:rPr lang="zh-CN" altLang="en-US">
                      <a:noFill/>
                    </a:rPr>
                    <a:t> </a:t>
                  </a:r>
                </a:p>
              </p:txBody>
            </p:sp>
          </mc:Fallback>
        </mc:AlternateContent>
      </p:grpSp>
      <p:sp>
        <p:nvSpPr>
          <p:cNvPr id="218" name="矩形 217">
            <a:extLst>
              <a:ext uri="{FF2B5EF4-FFF2-40B4-BE49-F238E27FC236}">
                <a16:creationId xmlns:a16="http://schemas.microsoft.com/office/drawing/2014/main" id="{49F281CC-2B23-3647-B5AE-B5F6982962AA}"/>
              </a:ext>
            </a:extLst>
          </p:cNvPr>
          <p:cNvSpPr/>
          <p:nvPr/>
        </p:nvSpPr>
        <p:spPr>
          <a:xfrm>
            <a:off x="1524000" y="454025"/>
            <a:ext cx="2630488" cy="584200"/>
          </a:xfrm>
          <a:prstGeom prst="rect">
            <a:avLst/>
          </a:prstGeom>
        </p:spPr>
        <p:txBody>
          <a:bodyPr wrap="none">
            <a:spAutoFit/>
          </a:bodyPr>
          <a:lstStyle/>
          <a:p>
            <a:pPr eaLnBrk="0" hangingPunct="0">
              <a:defRPr/>
            </a:pPr>
            <a:r>
              <a:rPr lang="en-US" altLang="zh-CN" sz="3200" b="1" dirty="0">
                <a:solidFill>
                  <a:schemeClr val="hlink"/>
                </a:solidFill>
                <a:latin typeface="+mn-lt"/>
                <a:ea typeface="+mn-ea"/>
              </a:rPr>
              <a:t>DES</a:t>
            </a:r>
            <a:r>
              <a:rPr lang="zh-CN" altLang="en-US" sz="3200" b="1" dirty="0">
                <a:solidFill>
                  <a:schemeClr val="hlink"/>
                </a:solidFill>
                <a:latin typeface="+mn-lt"/>
                <a:ea typeface="+mn-ea"/>
              </a:rPr>
              <a:t>算法流程</a:t>
            </a:r>
            <a:endParaRPr lang="zh-CN" altLang="en-US" sz="3200" dirty="0">
              <a:latin typeface="+mn-lt"/>
              <a:ea typeface="+mn-ea"/>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2748A092-B1E2-FA48-879F-4C413503020F}"/>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FF3300"/>
                </a:solidFill>
                <a:latin typeface="宋体" panose="02010600030101010101" pitchFamily="2" charset="-122"/>
              </a:rPr>
              <a:t>初始置换</a:t>
            </a:r>
            <a:r>
              <a:rPr lang="en-US" altLang="zh-CN" i="1">
                <a:solidFill>
                  <a:srgbClr val="FF3300"/>
                </a:solidFill>
                <a:latin typeface="宋体" panose="02010600030101010101" pitchFamily="2" charset="-122"/>
              </a:rPr>
              <a:t>IP</a:t>
            </a:r>
            <a:r>
              <a:rPr lang="zh-CN" altLang="en-US">
                <a:solidFill>
                  <a:srgbClr val="FF3300"/>
                </a:solidFill>
                <a:latin typeface="宋体" panose="02010600030101010101" pitchFamily="2" charset="-122"/>
              </a:rPr>
              <a:t>与逆初始置换</a:t>
            </a:r>
            <a:endParaRPr lang="en-US" altLang="zh-CN">
              <a:solidFill>
                <a:schemeClr val="bg2"/>
              </a:solidFill>
              <a:latin typeface="Times New Roman" panose="02020603050405020304" pitchFamily="18" charset="0"/>
            </a:endParaRPr>
          </a:p>
        </p:txBody>
      </p:sp>
      <p:sp>
        <p:nvSpPr>
          <p:cNvPr id="60419" name="Rectangle 3">
            <a:extLst>
              <a:ext uri="{FF2B5EF4-FFF2-40B4-BE49-F238E27FC236}">
                <a16:creationId xmlns:a16="http://schemas.microsoft.com/office/drawing/2014/main" id="{A0DA07D3-8F12-C442-836D-ACC58F27F3DB}"/>
              </a:ext>
            </a:extLst>
          </p:cNvPr>
          <p:cNvSpPr>
            <a:spLocks noGrp="1" noChangeArrowheads="1"/>
          </p:cNvSpPr>
          <p:nvPr>
            <p:ph idx="1"/>
          </p:nvPr>
        </p:nvSpPr>
        <p:spPr>
          <a:xfrm>
            <a:off x="1225550" y="1371600"/>
            <a:ext cx="9517063" cy="4114800"/>
          </a:xfrm>
        </p:spPr>
        <p:txBody>
          <a:bodyPr/>
          <a:lstStyle/>
          <a:p>
            <a:pPr eaLnBrk="1" hangingPunct="1">
              <a:lnSpc>
                <a:spcPct val="120000"/>
              </a:lnSpc>
            </a:pPr>
            <a:r>
              <a:rPr lang="zh-CN" altLang="en-US" sz="2800">
                <a:latin typeface="Times New Roman" panose="02020603050405020304" pitchFamily="18" charset="0"/>
              </a:rPr>
              <a:t>初始置换是将</a:t>
            </a:r>
            <a:r>
              <a:rPr lang="en-US" altLang="zh-CN" sz="2800">
                <a:latin typeface="Times New Roman" panose="02020603050405020304" pitchFamily="18" charset="0"/>
              </a:rPr>
              <a:t>64 bit</a:t>
            </a:r>
            <a:r>
              <a:rPr lang="zh-CN" altLang="en-US" sz="2800">
                <a:latin typeface="Times New Roman" panose="02020603050405020304" pitchFamily="18" charset="0"/>
              </a:rPr>
              <a:t>明文的位置进行置换，得到一个乱序的</a:t>
            </a:r>
            <a:r>
              <a:rPr lang="en-US" altLang="zh-CN" sz="2800">
                <a:latin typeface="Times New Roman" panose="02020603050405020304" pitchFamily="18" charset="0"/>
              </a:rPr>
              <a:t>64 bit</a:t>
            </a:r>
            <a:r>
              <a:rPr lang="zh-CN" altLang="en-US" sz="2800">
                <a:latin typeface="Times New Roman" panose="02020603050405020304" pitchFamily="18" charset="0"/>
              </a:rPr>
              <a:t>明文组。</a:t>
            </a:r>
          </a:p>
          <a:p>
            <a:pPr algn="just" eaLnBrk="1" hangingPunct="1">
              <a:lnSpc>
                <a:spcPct val="120000"/>
              </a:lnSpc>
              <a:spcAft>
                <a:spcPts val="600"/>
              </a:spcAft>
            </a:pPr>
            <a:r>
              <a:rPr lang="zh-CN" altLang="en-US" sz="2800">
                <a:latin typeface="Times New Roman" panose="02020603050405020304" pitchFamily="18" charset="0"/>
              </a:rPr>
              <a:t>逆初始置换</a:t>
            </a:r>
            <a:r>
              <a:rPr lang="en-US" altLang="zh-CN" sz="2800" i="1">
                <a:latin typeface="Times New Roman" panose="02020603050405020304" pitchFamily="18" charset="0"/>
              </a:rPr>
              <a:t>IP</a:t>
            </a:r>
            <a:r>
              <a:rPr lang="en-US" altLang="zh-CN" sz="2800" baseline="30000">
                <a:latin typeface="Times New Roman" panose="02020603050405020304" pitchFamily="18" charset="0"/>
              </a:rPr>
              <a:t>-1</a:t>
            </a:r>
            <a:r>
              <a:rPr lang="zh-CN" altLang="en-US" sz="2800">
                <a:latin typeface="Times New Roman" panose="02020603050405020304" pitchFamily="18" charset="0"/>
              </a:rPr>
              <a:t>。将</a:t>
            </a:r>
            <a:r>
              <a:rPr lang="en-US" altLang="zh-CN" sz="2800">
                <a:latin typeface="Times New Roman" panose="02020603050405020304" pitchFamily="18" charset="0"/>
              </a:rPr>
              <a:t>16</a:t>
            </a:r>
            <a:r>
              <a:rPr lang="zh-CN" altLang="en-US" sz="2800">
                <a:latin typeface="Times New Roman" panose="02020603050405020304" pitchFamily="18" charset="0"/>
              </a:rPr>
              <a:t>轮迭代后给出的</a:t>
            </a:r>
            <a:r>
              <a:rPr lang="en-US" altLang="zh-CN" sz="2800">
                <a:latin typeface="Times New Roman" panose="02020603050405020304" pitchFamily="18" charset="0"/>
              </a:rPr>
              <a:t>64 bit</a:t>
            </a:r>
            <a:r>
              <a:rPr lang="zh-CN" altLang="en-US" sz="2800">
                <a:latin typeface="Times New Roman" panose="02020603050405020304" pitchFamily="18" charset="0"/>
              </a:rPr>
              <a:t>组进行置换，得到输出的密文组。输出为阵中元素按行读得的结果。</a:t>
            </a:r>
          </a:p>
          <a:p>
            <a:pPr algn="just" eaLnBrk="1" hangingPunct="1">
              <a:lnSpc>
                <a:spcPct val="120000"/>
              </a:lnSpc>
              <a:spcAft>
                <a:spcPts val="600"/>
              </a:spcAft>
            </a:pPr>
            <a:r>
              <a:rPr lang="en-US" altLang="zh-CN" sz="2800" i="1">
                <a:latin typeface="Times New Roman" panose="02020603050405020304" pitchFamily="18" charset="0"/>
              </a:rPr>
              <a:t>IP</a:t>
            </a:r>
            <a:r>
              <a:rPr lang="zh-CN" altLang="en-US" sz="2800">
                <a:latin typeface="Times New Roman" panose="02020603050405020304" pitchFamily="18" charset="0"/>
              </a:rPr>
              <a:t>和</a:t>
            </a:r>
            <a:r>
              <a:rPr lang="en-US" altLang="zh-CN" sz="2800" i="1">
                <a:latin typeface="Times New Roman" panose="02020603050405020304" pitchFamily="18" charset="0"/>
              </a:rPr>
              <a:t>IP</a:t>
            </a:r>
            <a:r>
              <a:rPr lang="en-US" altLang="zh-CN" sz="2800" baseline="30000">
                <a:latin typeface="Times New Roman" panose="02020603050405020304" pitchFamily="18" charset="0"/>
              </a:rPr>
              <a:t>-1</a:t>
            </a:r>
            <a:r>
              <a:rPr lang="zh-CN" altLang="en-US" sz="2800">
                <a:latin typeface="Times New Roman" panose="02020603050405020304" pitchFamily="18" charset="0"/>
              </a:rPr>
              <a:t>在密码意义上作用不大，它们的作用在于</a:t>
            </a:r>
            <a:r>
              <a:rPr lang="zh-CN" altLang="en-US" sz="2800" u="sng">
                <a:latin typeface="Times New Roman" panose="02020603050405020304" pitchFamily="18" charset="0"/>
              </a:rPr>
              <a:t>打乱原来输入</a:t>
            </a:r>
            <a:r>
              <a:rPr lang="en-US" altLang="zh-CN" sz="2800" i="1" u="sng">
                <a:latin typeface="Times New Roman" panose="02020603050405020304" pitchFamily="18" charset="0"/>
              </a:rPr>
              <a:t>x</a:t>
            </a:r>
            <a:r>
              <a:rPr lang="zh-CN" altLang="en-US" sz="2800" u="sng">
                <a:latin typeface="Times New Roman" panose="02020603050405020304" pitchFamily="18" charset="0"/>
              </a:rPr>
              <a:t>的</a:t>
            </a:r>
            <a:r>
              <a:rPr lang="en-US" altLang="zh-CN" sz="2800" u="sng">
                <a:latin typeface="Times New Roman" panose="02020603050405020304" pitchFamily="18" charset="0"/>
              </a:rPr>
              <a:t>ASCII</a:t>
            </a:r>
            <a:r>
              <a:rPr lang="zh-CN" altLang="en-US" sz="2800" u="sng">
                <a:latin typeface="Times New Roman" panose="02020603050405020304" pitchFamily="18" charset="0"/>
              </a:rPr>
              <a:t>码字划分</a:t>
            </a:r>
            <a:r>
              <a:rPr lang="zh-CN" altLang="en-US" sz="2800">
                <a:latin typeface="Times New Roman" panose="02020603050405020304" pitchFamily="18" charset="0"/>
              </a:rPr>
              <a:t>的关系。</a:t>
            </a:r>
          </a:p>
          <a:p>
            <a:pPr eaLnBrk="1" hangingPunct="1">
              <a:lnSpc>
                <a:spcPct val="120000"/>
              </a:lnSpc>
            </a:pPr>
            <a:endParaRPr lang="en-US" altLang="zh-CN"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3" name="标题 1">
            <a:extLst>
              <a:ext uri="{FF2B5EF4-FFF2-40B4-BE49-F238E27FC236}">
                <a16:creationId xmlns:a16="http://schemas.microsoft.com/office/drawing/2014/main" id="{4344FA06-D4A6-0343-9993-3CF50B2372BC}"/>
              </a:ext>
            </a:extLst>
          </p:cNvPr>
          <p:cNvSpPr>
            <a:spLocks noGrp="1" noChangeArrowheads="1"/>
          </p:cNvSpPr>
          <p:nvPr>
            <p:ph type="title"/>
          </p:nvPr>
        </p:nvSpPr>
        <p:spPr>
          <a:xfrm>
            <a:off x="1465263" y="365125"/>
            <a:ext cx="9037637" cy="668338"/>
          </a:xfrm>
        </p:spPr>
        <p:txBody>
          <a:bodyPr/>
          <a:lstStyle/>
          <a:p>
            <a:r>
              <a:rPr lang="zh-CN" altLang="en-US">
                <a:solidFill>
                  <a:schemeClr val="folHlink"/>
                </a:solidFill>
              </a:rPr>
              <a:t>初值置换</a:t>
            </a:r>
            <a:r>
              <a:rPr lang="en-US" altLang="zh-CN">
                <a:solidFill>
                  <a:schemeClr val="folHlink"/>
                </a:solidFill>
              </a:rPr>
              <a:t>IP</a:t>
            </a:r>
            <a:endParaRPr lang="zh-CN" altLang="en-US">
              <a:solidFill>
                <a:srgbClr val="1F4E79"/>
              </a:solidFill>
            </a:endParaRPr>
          </a:p>
        </p:txBody>
      </p:sp>
      <p:sp>
        <p:nvSpPr>
          <p:cNvPr id="151554" name="Rectangle 2">
            <a:extLst>
              <a:ext uri="{FF2B5EF4-FFF2-40B4-BE49-F238E27FC236}">
                <a16:creationId xmlns:a16="http://schemas.microsoft.com/office/drawing/2014/main" id="{B22B398B-CE0C-5D4A-B7A3-E0BA99396470}"/>
              </a:ext>
            </a:extLst>
          </p:cNvPr>
          <p:cNvSpPr>
            <a:spLocks noGrp="1" noChangeArrowheads="1"/>
          </p:cNvSpPr>
          <p:nvPr>
            <p:ph idx="1"/>
          </p:nvPr>
        </p:nvSpPr>
        <p:spPr>
          <a:xfrm>
            <a:off x="823913" y="1465263"/>
            <a:ext cx="10515600" cy="4579937"/>
          </a:xfrm>
        </p:spPr>
        <p:txBody>
          <a:bodyPr/>
          <a:lstStyle/>
          <a:p>
            <a:pPr algn="just" eaLnBrk="1" hangingPunct="1">
              <a:spcAft>
                <a:spcPts val="600"/>
              </a:spcAft>
              <a:buFont typeface="Arial" panose="020B0604020202020204" pitchFamily="34" charset="0"/>
              <a:buNone/>
            </a:pPr>
            <a:r>
              <a:rPr lang="zh-CN" altLang="zh-CN">
                <a:solidFill>
                  <a:schemeClr val="bg2"/>
                </a:solidFill>
                <a:latin typeface="Times New Roman" panose="02020603050405020304" pitchFamily="18" charset="0"/>
              </a:rPr>
              <a:t>   </a:t>
            </a:r>
            <a:r>
              <a:rPr lang="en-US" altLang="zh-CN">
                <a:solidFill>
                  <a:schemeClr val="bg2"/>
                </a:solidFill>
                <a:latin typeface="宋体" panose="02010600030101010101" pitchFamily="2" charset="-122"/>
              </a:rPr>
              <a:t> </a:t>
            </a:r>
            <a:endParaRPr lang="en-US" altLang="zh-CN">
              <a:solidFill>
                <a:schemeClr val="bg2"/>
              </a:solidFill>
              <a:latin typeface="Times New Roman" panose="02020603050405020304" pitchFamily="18" charset="0"/>
            </a:endParaRPr>
          </a:p>
        </p:txBody>
      </p:sp>
      <p:pic>
        <p:nvPicPr>
          <p:cNvPr id="151555" name="Picture 3">
            <a:extLst>
              <a:ext uri="{FF2B5EF4-FFF2-40B4-BE49-F238E27FC236}">
                <a16:creationId xmlns:a16="http://schemas.microsoft.com/office/drawing/2014/main" id="{259FA092-AE2F-0E48-B2D3-EB20E86C87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438275"/>
            <a:ext cx="59436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7" name="标题 1">
            <a:extLst>
              <a:ext uri="{FF2B5EF4-FFF2-40B4-BE49-F238E27FC236}">
                <a16:creationId xmlns:a16="http://schemas.microsoft.com/office/drawing/2014/main" id="{6F6BD1C1-23FF-6542-946D-B82DF61819EE}"/>
              </a:ext>
            </a:extLst>
          </p:cNvPr>
          <p:cNvSpPr>
            <a:spLocks noGrp="1" noChangeArrowheads="1"/>
          </p:cNvSpPr>
          <p:nvPr>
            <p:ph type="title"/>
          </p:nvPr>
        </p:nvSpPr>
        <p:spPr>
          <a:xfrm>
            <a:off x="1465263" y="365125"/>
            <a:ext cx="9037637" cy="668338"/>
          </a:xfrm>
        </p:spPr>
        <p:txBody>
          <a:bodyPr/>
          <a:lstStyle/>
          <a:p>
            <a:r>
              <a:rPr lang="zh-CN" altLang="en-US">
                <a:solidFill>
                  <a:schemeClr val="folHlink"/>
                </a:solidFill>
              </a:rPr>
              <a:t>逆初值置换</a:t>
            </a:r>
            <a:r>
              <a:rPr lang="en-US" altLang="zh-CN">
                <a:solidFill>
                  <a:schemeClr val="folHlink"/>
                </a:solidFill>
              </a:rPr>
              <a:t>IP</a:t>
            </a:r>
            <a:r>
              <a:rPr lang="en-US" altLang="zh-CN" baseline="30000">
                <a:solidFill>
                  <a:schemeClr val="folHlink"/>
                </a:solidFill>
              </a:rPr>
              <a:t>-1</a:t>
            </a:r>
            <a:endParaRPr lang="zh-CN" altLang="en-US" baseline="30000">
              <a:solidFill>
                <a:srgbClr val="1F4E79"/>
              </a:solidFill>
            </a:endParaRPr>
          </a:p>
        </p:txBody>
      </p:sp>
      <p:sp>
        <p:nvSpPr>
          <p:cNvPr id="152578" name="Rectangle 2">
            <a:extLst>
              <a:ext uri="{FF2B5EF4-FFF2-40B4-BE49-F238E27FC236}">
                <a16:creationId xmlns:a16="http://schemas.microsoft.com/office/drawing/2014/main" id="{DFC741D4-CA7E-7744-BBFB-C452FD8FF1DB}"/>
              </a:ext>
            </a:extLst>
          </p:cNvPr>
          <p:cNvSpPr>
            <a:spLocks noGrp="1" noChangeArrowheads="1"/>
          </p:cNvSpPr>
          <p:nvPr>
            <p:ph idx="1"/>
          </p:nvPr>
        </p:nvSpPr>
        <p:spPr>
          <a:xfrm>
            <a:off x="823913" y="1465263"/>
            <a:ext cx="10515600" cy="4579937"/>
          </a:xfrm>
        </p:spPr>
        <p:txBody>
          <a:bodyPr/>
          <a:lstStyle/>
          <a:p>
            <a:pPr algn="just" eaLnBrk="1" hangingPunct="1">
              <a:spcAft>
                <a:spcPts val="600"/>
              </a:spcAft>
              <a:buFont typeface="Arial" panose="020B0604020202020204" pitchFamily="34" charset="0"/>
              <a:buNone/>
            </a:pPr>
            <a:r>
              <a:rPr lang="zh-CN" altLang="zh-CN">
                <a:solidFill>
                  <a:schemeClr val="bg2"/>
                </a:solidFill>
                <a:latin typeface="Times New Roman" panose="02020603050405020304" pitchFamily="18" charset="0"/>
              </a:rPr>
              <a:t>   </a:t>
            </a:r>
            <a:r>
              <a:rPr lang="en-US" altLang="zh-CN">
                <a:solidFill>
                  <a:schemeClr val="bg2"/>
                </a:solidFill>
                <a:latin typeface="宋体" panose="02010600030101010101" pitchFamily="2" charset="-122"/>
              </a:rPr>
              <a:t> </a:t>
            </a:r>
            <a:endParaRPr lang="en-US" altLang="zh-CN">
              <a:solidFill>
                <a:schemeClr val="bg2"/>
              </a:solidFill>
              <a:latin typeface="Times New Roman" panose="02020603050405020304" pitchFamily="18" charset="0"/>
            </a:endParaRPr>
          </a:p>
        </p:txBody>
      </p:sp>
      <p:pic>
        <p:nvPicPr>
          <p:cNvPr id="152579" name="Picture 4">
            <a:extLst>
              <a:ext uri="{FF2B5EF4-FFF2-40B4-BE49-F238E27FC236}">
                <a16:creationId xmlns:a16="http://schemas.microsoft.com/office/drawing/2014/main" id="{DEA4DC6D-1867-9944-80CF-17299A9A32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219200"/>
            <a:ext cx="5043488" cy="410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216587-9C14-9040-995E-2F809DC1881D}"/>
              </a:ext>
            </a:extLst>
          </p:cNvPr>
          <p:cNvSpPr>
            <a:spLocks noGrp="1"/>
          </p:cNvSpPr>
          <p:nvPr>
            <p:ph type="title"/>
          </p:nvPr>
        </p:nvSpPr>
        <p:spPr>
          <a:xfrm>
            <a:off x="1465263" y="365125"/>
            <a:ext cx="9037637" cy="668338"/>
          </a:xfrm>
        </p:spPr>
        <p:txBody>
          <a:bodyPr/>
          <a:lstStyle/>
          <a:p>
            <a:pPr>
              <a:defRPr/>
            </a:pPr>
            <a:r>
              <a:rPr lang="en-US" altLang="zh-CN" dirty="0">
                <a:solidFill>
                  <a:schemeClr val="folHlink"/>
                </a:solidFill>
              </a:rPr>
              <a:t>IP</a:t>
            </a:r>
            <a:r>
              <a:rPr lang="zh-CN" altLang="en-US" dirty="0">
                <a:solidFill>
                  <a:schemeClr val="folHlink"/>
                </a:solidFill>
              </a:rPr>
              <a:t>与</a:t>
            </a:r>
            <a:r>
              <a:rPr lang="en-US" altLang="zh-CN" dirty="0">
                <a:solidFill>
                  <a:schemeClr val="folHlink"/>
                </a:solidFill>
              </a:rPr>
              <a:t>IP</a:t>
            </a:r>
            <a:r>
              <a:rPr lang="en-US" altLang="zh-CN" baseline="30000" dirty="0">
                <a:solidFill>
                  <a:schemeClr val="folHlink"/>
                </a:solidFill>
              </a:rPr>
              <a:t>-1</a:t>
            </a:r>
            <a:endParaRPr lang="zh-CN" altLang="en-US" baseline="30000" dirty="0"/>
          </a:p>
        </p:txBody>
      </p:sp>
      <p:sp>
        <p:nvSpPr>
          <p:cNvPr id="154626" name="Rectangle 2">
            <a:extLst>
              <a:ext uri="{FF2B5EF4-FFF2-40B4-BE49-F238E27FC236}">
                <a16:creationId xmlns:a16="http://schemas.microsoft.com/office/drawing/2014/main" id="{46B94764-5130-EE44-A234-1BFFE342D7D7}"/>
              </a:ext>
            </a:extLst>
          </p:cNvPr>
          <p:cNvSpPr>
            <a:spLocks noGrp="1" noChangeArrowheads="1"/>
          </p:cNvSpPr>
          <p:nvPr>
            <p:ph idx="1"/>
          </p:nvPr>
        </p:nvSpPr>
        <p:spPr>
          <a:xfrm>
            <a:off x="823913" y="1465263"/>
            <a:ext cx="10515600" cy="4579937"/>
          </a:xfrm>
        </p:spPr>
        <p:txBody>
          <a:bodyPr/>
          <a:lstStyle/>
          <a:p>
            <a:pPr algn="just" eaLnBrk="1" hangingPunct="1">
              <a:spcAft>
                <a:spcPts val="600"/>
              </a:spcAft>
              <a:buFont typeface="Arial" panose="020B0604020202020204" pitchFamily="34" charset="0"/>
              <a:buNone/>
            </a:pPr>
            <a:r>
              <a:rPr lang="zh-CN" altLang="zh-CN">
                <a:solidFill>
                  <a:schemeClr val="bg2"/>
                </a:solidFill>
                <a:latin typeface="Times New Roman" panose="02020603050405020304" pitchFamily="18" charset="0"/>
              </a:rPr>
              <a:t>   </a:t>
            </a:r>
            <a:r>
              <a:rPr lang="en-US" altLang="zh-CN">
                <a:solidFill>
                  <a:schemeClr val="bg2"/>
                </a:solidFill>
                <a:latin typeface="宋体" panose="02010600030101010101" pitchFamily="2" charset="-122"/>
              </a:rPr>
              <a:t> </a:t>
            </a:r>
            <a:endParaRPr lang="en-US" altLang="zh-CN">
              <a:solidFill>
                <a:schemeClr val="bg2"/>
              </a:solidFill>
              <a:latin typeface="Times New Roman" panose="02020603050405020304" pitchFamily="18" charset="0"/>
            </a:endParaRPr>
          </a:p>
        </p:txBody>
      </p:sp>
      <p:pic>
        <p:nvPicPr>
          <p:cNvPr id="154627" name="Picture 24" descr="1">
            <a:extLst>
              <a:ext uri="{FF2B5EF4-FFF2-40B4-BE49-F238E27FC236}">
                <a16:creationId xmlns:a16="http://schemas.microsoft.com/office/drawing/2014/main" id="{BB4DB873-D98F-924A-B22C-87F6BC7D87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3625850"/>
            <a:ext cx="2652713"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28" name="Picture 22" descr="1">
            <a:extLst>
              <a:ext uri="{FF2B5EF4-FFF2-40B4-BE49-F238E27FC236}">
                <a16:creationId xmlns:a16="http://schemas.microsoft.com/office/drawing/2014/main" id="{CB30E0BE-4883-A54C-A3DE-77098B093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1219200"/>
            <a:ext cx="2571750"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4629" name="Object 5">
            <a:extLst>
              <a:ext uri="{FF2B5EF4-FFF2-40B4-BE49-F238E27FC236}">
                <a16:creationId xmlns:a16="http://schemas.microsoft.com/office/drawing/2014/main" id="{BFA41804-B466-F14A-87AB-70893572BC58}"/>
              </a:ext>
            </a:extLst>
          </p:cNvPr>
          <p:cNvGraphicFramePr>
            <a:graphicFrameLocks noChangeAspect="1"/>
          </p:cNvGraphicFramePr>
          <p:nvPr/>
        </p:nvGraphicFramePr>
        <p:xfrm>
          <a:off x="5710238" y="1403350"/>
          <a:ext cx="2406650" cy="1824038"/>
        </p:xfrm>
        <a:graphic>
          <a:graphicData uri="http://schemas.openxmlformats.org/presentationml/2006/ole">
            <mc:AlternateContent xmlns:mc="http://schemas.openxmlformats.org/markup-compatibility/2006">
              <mc:Choice xmlns:v="urn:schemas-microsoft-com:vml" Requires="v">
                <p:oleObj spid="_x0000_s154787" r:id="rId4" imgW="2762250" imgH="2324100" progId="Paint.Picture">
                  <p:embed/>
                </p:oleObj>
              </mc:Choice>
              <mc:Fallback>
                <p:oleObj r:id="rId4" imgW="2762250" imgH="2324100" progId="Paint.Picture">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0238" y="1403350"/>
                        <a:ext cx="2406650" cy="182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4630" name="Object 8">
            <a:extLst>
              <a:ext uri="{FF2B5EF4-FFF2-40B4-BE49-F238E27FC236}">
                <a16:creationId xmlns:a16="http://schemas.microsoft.com/office/drawing/2014/main" id="{43B75BF4-E452-4049-AD4C-9BB10600E9C3}"/>
              </a:ext>
            </a:extLst>
          </p:cNvPr>
          <p:cNvGraphicFramePr>
            <a:graphicFrameLocks noChangeAspect="1"/>
          </p:cNvGraphicFramePr>
          <p:nvPr/>
        </p:nvGraphicFramePr>
        <p:xfrm>
          <a:off x="5781675" y="3438525"/>
          <a:ext cx="2271713" cy="1928813"/>
        </p:xfrm>
        <a:graphic>
          <a:graphicData uri="http://schemas.openxmlformats.org/presentationml/2006/ole">
            <mc:AlternateContent xmlns:mc="http://schemas.openxmlformats.org/markup-compatibility/2006">
              <mc:Choice xmlns:v="urn:schemas-microsoft-com:vml" Requires="v">
                <p:oleObj spid="_x0000_s154788" r:id="rId6" imgW="2444750" imgH="2095500" progId="Paint.Picture">
                  <p:embed/>
                </p:oleObj>
              </mc:Choice>
              <mc:Fallback>
                <p:oleObj r:id="rId6" imgW="2444750" imgH="2095500" progId="Paint.Picture">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81675" y="3438525"/>
                        <a:ext cx="2271713"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9">
            <a:extLst>
              <a:ext uri="{FF2B5EF4-FFF2-40B4-BE49-F238E27FC236}">
                <a16:creationId xmlns:a16="http://schemas.microsoft.com/office/drawing/2014/main" id="{A457AF0D-602D-4540-8504-0594C01CCC3E}"/>
              </a:ext>
            </a:extLst>
          </p:cNvPr>
          <p:cNvSpPr>
            <a:spLocks noChangeArrowheads="1"/>
          </p:cNvSpPr>
          <p:nvPr/>
        </p:nvSpPr>
        <p:spPr bwMode="auto">
          <a:xfrm>
            <a:off x="2973388" y="1835150"/>
            <a:ext cx="282575" cy="28098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latin typeface="Tahoma" panose="020B0604030504040204" pitchFamily="34" charset="0"/>
            </a:endParaRPr>
          </a:p>
        </p:txBody>
      </p:sp>
      <p:sp>
        <p:nvSpPr>
          <p:cNvPr id="10" name="Rectangle 11">
            <a:extLst>
              <a:ext uri="{FF2B5EF4-FFF2-40B4-BE49-F238E27FC236}">
                <a16:creationId xmlns:a16="http://schemas.microsoft.com/office/drawing/2014/main" id="{4A5F7357-55C2-7044-92FC-0144AEC89225}"/>
              </a:ext>
            </a:extLst>
          </p:cNvPr>
          <p:cNvSpPr>
            <a:spLocks noChangeArrowheads="1"/>
          </p:cNvSpPr>
          <p:nvPr/>
        </p:nvSpPr>
        <p:spPr bwMode="auto">
          <a:xfrm>
            <a:off x="7269163" y="1589088"/>
            <a:ext cx="282575" cy="280987"/>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latin typeface="Tahoma" panose="020B0604030504040204" pitchFamily="34" charset="0"/>
            </a:endParaRPr>
          </a:p>
        </p:txBody>
      </p:sp>
      <p:sp>
        <p:nvSpPr>
          <p:cNvPr id="11" name="Text Box 12">
            <a:extLst>
              <a:ext uri="{FF2B5EF4-FFF2-40B4-BE49-F238E27FC236}">
                <a16:creationId xmlns:a16="http://schemas.microsoft.com/office/drawing/2014/main" id="{6C3F7076-14FD-AD49-8CB5-26028E130D1A}"/>
              </a:ext>
            </a:extLst>
          </p:cNvPr>
          <p:cNvSpPr txBox="1">
            <a:spLocks noChangeArrowheads="1"/>
          </p:cNvSpPr>
          <p:nvPr/>
        </p:nvSpPr>
        <p:spPr bwMode="auto">
          <a:xfrm>
            <a:off x="8186738" y="1824038"/>
            <a:ext cx="2054225" cy="409575"/>
          </a:xfrm>
          <a:prstGeom prst="rect">
            <a:avLst/>
          </a:prstGeom>
          <a:noFill/>
          <a:ln>
            <a:noFill/>
          </a:ln>
          <a:effectLst/>
        </p:spPr>
        <p:txBody>
          <a:bodyPr>
            <a:spAutoFit/>
          </a:bodyPr>
          <a:lstStyle/>
          <a:p>
            <a:pPr>
              <a:spcBef>
                <a:spcPct val="50000"/>
              </a:spcBef>
              <a:defRPr/>
            </a:pPr>
            <a:endParaRPr kumimoji="1" lang="zh-CN" altLang="en-US" sz="2055"/>
          </a:p>
        </p:txBody>
      </p:sp>
      <mc:AlternateContent xmlns:mc="http://schemas.openxmlformats.org/markup-compatibility/2006" xmlns:a14="http://schemas.microsoft.com/office/drawing/2010/main">
        <mc:Choice Requires="a14">
          <p:sp>
            <p:nvSpPr>
              <p:cNvPr id="12" name="Object 13">
                <a:extLst>
                  <a:ext uri="{FF2B5EF4-FFF2-40B4-BE49-F238E27FC236}">
                    <a16:creationId xmlns:a16="http://schemas.microsoft.com/office/drawing/2014/main" id="{B1F0D7DB-51C3-2648-86B3-017113C0F5BB}"/>
                  </a:ext>
                </a:extLst>
              </p:cNvPr>
              <p:cNvSpPr txBox="1"/>
              <p:nvPr/>
            </p:nvSpPr>
            <p:spPr bwMode="auto">
              <a:xfrm>
                <a:off x="8088165" y="1870075"/>
                <a:ext cx="2406650" cy="542923"/>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𝑴</m:t>
                          </m:r>
                        </m:e>
                        <m:sub>
                          <m:r>
                            <a:rPr lang="zh-CN" altLang="en-US" sz="2400" b="1" i="1">
                              <a:solidFill>
                                <a:srgbClr val="000000"/>
                              </a:solidFill>
                              <a:latin typeface="Cambria Math" panose="02040503050406030204" pitchFamily="18" charset="0"/>
                            </a:rPr>
                            <m:t>𝟐𝟎</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m:t>
                          </m:r>
                        </m:e>
                        <m:sub>
                          <m:r>
                            <a:rPr lang="zh-CN" altLang="en-US" sz="2400" b="1" i="1">
                              <a:solidFill>
                                <a:srgbClr val="000000"/>
                              </a:solidFill>
                              <a:latin typeface="Cambria Math" panose="02040503050406030204" pitchFamily="18" charset="0"/>
                            </a:rPr>
                            <m:t>𝟏𝟒</m:t>
                          </m:r>
                        </m:sub>
                      </m:sSub>
                    </m:oMath>
                  </m:oMathPara>
                </a14:m>
                <a:endParaRPr lang="zh-CN" altLang="en-US" sz="2400" b="1" dirty="0"/>
              </a:p>
            </p:txBody>
          </p:sp>
        </mc:Choice>
        <mc:Fallback xmlns="">
          <p:sp>
            <p:nvSpPr>
              <p:cNvPr id="12" name="Object 13">
                <a:extLst>
                  <a:ext uri="{FF2B5EF4-FFF2-40B4-BE49-F238E27FC236}">
                    <a16:creationId xmlns:a16="http://schemas.microsoft.com/office/drawing/2014/main" id="{B1F0D7DB-51C3-2648-86B3-017113C0F5BB}"/>
                  </a:ext>
                </a:extLst>
              </p:cNvPr>
              <p:cNvSpPr txBox="1">
                <a:spLocks noRot="1" noChangeAspect="1" noMove="1" noResize="1" noEditPoints="1" noAdjustHandles="1" noChangeArrowheads="1" noChangeShapeType="1" noTextEdit="1"/>
              </p:cNvSpPr>
              <p:nvPr/>
            </p:nvSpPr>
            <p:spPr bwMode="auto">
              <a:xfrm>
                <a:off x="8088165" y="1870075"/>
                <a:ext cx="2406650" cy="542923"/>
              </a:xfrm>
              <a:prstGeom prst="rect">
                <a:avLst/>
              </a:prstGeom>
              <a:blipFill>
                <a:blip r:embed="rId8"/>
                <a:stretch>
                  <a:fillRect/>
                </a:stretch>
              </a:blipFill>
              <a:ln>
                <a:noFill/>
              </a:ln>
            </p:spPr>
            <p:txBody>
              <a:bodyPr/>
              <a:lstStyle/>
              <a:p>
                <a:r>
                  <a:rPr lang="en-CN">
                    <a:noFill/>
                  </a:rPr>
                  <a:t> </a:t>
                </a:r>
              </a:p>
            </p:txBody>
          </p:sp>
        </mc:Fallback>
      </mc:AlternateContent>
      <p:sp>
        <p:nvSpPr>
          <p:cNvPr id="13" name="Rectangle 14">
            <a:extLst>
              <a:ext uri="{FF2B5EF4-FFF2-40B4-BE49-F238E27FC236}">
                <a16:creationId xmlns:a16="http://schemas.microsoft.com/office/drawing/2014/main" id="{1B8EFA4B-9C08-5E42-B559-A620058EE6D0}"/>
              </a:ext>
            </a:extLst>
          </p:cNvPr>
          <p:cNvSpPr>
            <a:spLocks noChangeArrowheads="1"/>
          </p:cNvSpPr>
          <p:nvPr/>
        </p:nvSpPr>
        <p:spPr bwMode="auto">
          <a:xfrm>
            <a:off x="3659188" y="3886200"/>
            <a:ext cx="282575" cy="282575"/>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latin typeface="Tahoma" panose="020B0604030504040204" pitchFamily="34" charset="0"/>
            </a:endParaRPr>
          </a:p>
        </p:txBody>
      </p:sp>
      <p:sp>
        <p:nvSpPr>
          <p:cNvPr id="14" name="Rectangle 15">
            <a:extLst>
              <a:ext uri="{FF2B5EF4-FFF2-40B4-BE49-F238E27FC236}">
                <a16:creationId xmlns:a16="http://schemas.microsoft.com/office/drawing/2014/main" id="{78008ED2-F624-6D4D-BE66-AA5F7177E872}"/>
              </a:ext>
            </a:extLst>
          </p:cNvPr>
          <p:cNvSpPr>
            <a:spLocks noChangeArrowheads="1"/>
          </p:cNvSpPr>
          <p:nvPr/>
        </p:nvSpPr>
        <p:spPr bwMode="auto">
          <a:xfrm>
            <a:off x="6605588" y="3929063"/>
            <a:ext cx="282575" cy="280987"/>
          </a:xfrm>
          <a:prstGeom prst="rect">
            <a:avLst/>
          </a:prstGeom>
          <a:noFill/>
          <a:ln w="28575">
            <a:solidFill>
              <a:srgbClr val="FF0000"/>
            </a:solidFill>
            <a:miter lim="800000"/>
          </a:ln>
          <a:effectLst/>
        </p:spPr>
        <p:txBody>
          <a:bodyPr wrap="none" anchor="ctr"/>
          <a:lstStyle/>
          <a:p>
            <a:pPr algn="ctr" eaLnBrk="0" hangingPunct="0">
              <a:defRPr/>
            </a:pPr>
            <a:endParaRPr kumimoji="1" lang="zh-CN" altLang="en-US" sz="2055"/>
          </a:p>
        </p:txBody>
      </p:sp>
      <mc:AlternateContent xmlns:mc="http://schemas.openxmlformats.org/markup-compatibility/2006" xmlns:a14="http://schemas.microsoft.com/office/drawing/2010/main">
        <mc:Choice Requires="a14">
          <p:sp>
            <p:nvSpPr>
              <p:cNvPr id="15" name="Object 16">
                <a:extLst>
                  <a:ext uri="{FF2B5EF4-FFF2-40B4-BE49-F238E27FC236}">
                    <a16:creationId xmlns:a16="http://schemas.microsoft.com/office/drawing/2014/main" id="{2E37A5AA-D2F9-3245-87B8-C8A52EA02B6F}"/>
                  </a:ext>
                </a:extLst>
              </p:cNvPr>
              <p:cNvSpPr txBox="1"/>
              <p:nvPr/>
            </p:nvSpPr>
            <p:spPr bwMode="auto">
              <a:xfrm>
                <a:off x="8410575" y="3860799"/>
                <a:ext cx="2054225" cy="690563"/>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zh-CN" altLang="en-US" sz="2400" b="1" i="1">
                          <a:solidFill>
                            <a:srgbClr val="000000"/>
                          </a:solidFill>
                          <a:latin typeface="Cambria Math" panose="02040503050406030204" pitchFamily="18" charset="0"/>
                        </a:rPr>
                        <m:t>𝑴</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m:t>
                          </m:r>
                        </m:e>
                        <m:sub>
                          <m:r>
                            <a:rPr lang="zh-CN" altLang="en-US" sz="2400" b="1" i="1">
                              <a:solidFill>
                                <a:srgbClr val="000000"/>
                              </a:solidFill>
                              <a:latin typeface="Cambria Math" panose="02040503050406030204" pitchFamily="18" charset="0"/>
                            </a:rPr>
                            <m:t>𝟏𝟒</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m:t>
                          </m:r>
                        </m:e>
                        <m:sub>
                          <m:r>
                            <a:rPr lang="zh-CN" altLang="en-US" sz="2400" b="1" i="1">
                              <a:solidFill>
                                <a:srgbClr val="000000"/>
                              </a:solidFill>
                              <a:latin typeface="Cambria Math" panose="02040503050406030204" pitchFamily="18" charset="0"/>
                            </a:rPr>
                            <m:t>𝟐𝟎</m:t>
                          </m:r>
                        </m:sub>
                      </m:sSub>
                    </m:oMath>
                  </m:oMathPara>
                </a14:m>
                <a:endParaRPr lang="zh-CN" altLang="en-US" sz="2400" b="1" dirty="0"/>
              </a:p>
            </p:txBody>
          </p:sp>
        </mc:Choice>
        <mc:Fallback xmlns="">
          <p:sp>
            <p:nvSpPr>
              <p:cNvPr id="15" name="Object 16">
                <a:extLst>
                  <a:ext uri="{FF2B5EF4-FFF2-40B4-BE49-F238E27FC236}">
                    <a16:creationId xmlns:a16="http://schemas.microsoft.com/office/drawing/2014/main" id="{2E37A5AA-D2F9-3245-87B8-C8A52EA02B6F}"/>
                  </a:ext>
                </a:extLst>
              </p:cNvPr>
              <p:cNvSpPr txBox="1">
                <a:spLocks noRot="1" noChangeAspect="1" noMove="1" noResize="1" noEditPoints="1" noAdjustHandles="1" noChangeArrowheads="1" noChangeShapeType="1" noTextEdit="1"/>
              </p:cNvSpPr>
              <p:nvPr/>
            </p:nvSpPr>
            <p:spPr bwMode="auto">
              <a:xfrm>
                <a:off x="8410575" y="3860799"/>
                <a:ext cx="2054225" cy="690563"/>
              </a:xfrm>
              <a:prstGeom prst="rect">
                <a:avLst/>
              </a:prstGeom>
              <a:blipFill>
                <a:blip r:embed="rId9"/>
                <a:stretch>
                  <a:fillRect/>
                </a:stretch>
              </a:blipFill>
              <a:ln>
                <a:noFill/>
              </a:ln>
            </p:spPr>
            <p:txBody>
              <a:bodyPr/>
              <a:lstStyle/>
              <a:p>
                <a:r>
                  <a:rPr lang="en-CN">
                    <a:noFill/>
                  </a:rPr>
                  <a:t> </a:t>
                </a:r>
              </a:p>
            </p:txBody>
          </p:sp>
        </mc:Fallback>
      </mc:AlternateContent>
      <p:sp>
        <p:nvSpPr>
          <p:cNvPr id="16" name="Line 17">
            <a:extLst>
              <a:ext uri="{FF2B5EF4-FFF2-40B4-BE49-F238E27FC236}">
                <a16:creationId xmlns:a16="http://schemas.microsoft.com/office/drawing/2014/main" id="{117749C7-FF86-9548-AD26-AB75F8CFEC95}"/>
              </a:ext>
            </a:extLst>
          </p:cNvPr>
          <p:cNvSpPr>
            <a:spLocks noChangeShapeType="1"/>
          </p:cNvSpPr>
          <p:nvPr/>
        </p:nvSpPr>
        <p:spPr bwMode="auto">
          <a:xfrm flipV="1">
            <a:off x="3255963" y="1755775"/>
            <a:ext cx="4011612" cy="265113"/>
          </a:xfrm>
          <a:prstGeom prst="line">
            <a:avLst/>
          </a:prstGeom>
          <a:noFill/>
          <a:ln w="2857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7" name="AutoShape 18">
            <a:extLst>
              <a:ext uri="{FF2B5EF4-FFF2-40B4-BE49-F238E27FC236}">
                <a16:creationId xmlns:a16="http://schemas.microsoft.com/office/drawing/2014/main" id="{534EC86F-BD76-9340-8264-D027513FD77F}"/>
              </a:ext>
            </a:extLst>
          </p:cNvPr>
          <p:cNvSpPr>
            <a:spLocks noChangeArrowheads="1"/>
          </p:cNvSpPr>
          <p:nvPr/>
        </p:nvSpPr>
        <p:spPr bwMode="auto">
          <a:xfrm>
            <a:off x="4719638" y="2174875"/>
            <a:ext cx="990600" cy="492125"/>
          </a:xfrm>
          <a:prstGeom prst="rightArrow">
            <a:avLst>
              <a:gd name="adj1" fmla="val 50000"/>
              <a:gd name="adj2" fmla="val 50415"/>
            </a:avLst>
          </a:prstGeom>
          <a:solidFill>
            <a:schemeClr val="accent1"/>
          </a:solidFill>
          <a:ln w="9525">
            <a:solidFill>
              <a:schemeClr val="tx1"/>
            </a:solidFill>
            <a:miter lim="800000"/>
          </a:ln>
          <a:effectLst/>
        </p:spPr>
        <p:txBody>
          <a:bodyPr wrap="none" anchor="ctr"/>
          <a:lstStyle/>
          <a:p>
            <a:pPr algn="ctr" eaLnBrk="0" hangingPunct="0">
              <a:defRPr/>
            </a:pPr>
            <a:r>
              <a:rPr kumimoji="1" lang="en-US" altLang="zh-CN" sz="2055"/>
              <a:t>IP</a:t>
            </a:r>
          </a:p>
        </p:txBody>
      </p:sp>
      <p:sp>
        <p:nvSpPr>
          <p:cNvPr id="18" name="AutoShape 19">
            <a:extLst>
              <a:ext uri="{FF2B5EF4-FFF2-40B4-BE49-F238E27FC236}">
                <a16:creationId xmlns:a16="http://schemas.microsoft.com/office/drawing/2014/main" id="{32C005CE-4C36-914E-AAEE-9133B3DECD30}"/>
              </a:ext>
            </a:extLst>
          </p:cNvPr>
          <p:cNvSpPr>
            <a:spLocks noChangeArrowheads="1"/>
          </p:cNvSpPr>
          <p:nvPr/>
        </p:nvSpPr>
        <p:spPr bwMode="auto">
          <a:xfrm>
            <a:off x="4791075" y="4140200"/>
            <a:ext cx="990600" cy="492125"/>
          </a:xfrm>
          <a:prstGeom prst="rightArrow">
            <a:avLst>
              <a:gd name="adj1" fmla="val 50000"/>
              <a:gd name="adj2" fmla="val 50415"/>
            </a:avLst>
          </a:prstGeom>
          <a:solidFill>
            <a:schemeClr val="accent1"/>
          </a:solidFill>
          <a:ln w="9525">
            <a:solidFill>
              <a:schemeClr val="tx1"/>
            </a:solidFill>
            <a:miter lim="800000"/>
          </a:ln>
          <a:effectLst/>
        </p:spPr>
        <p:txBody>
          <a:bodyPr wrap="none" anchor="ctr"/>
          <a:lstStyle/>
          <a:p>
            <a:pPr algn="ctr" eaLnBrk="0" hangingPunct="0">
              <a:defRPr/>
            </a:pPr>
            <a:r>
              <a:rPr kumimoji="1" lang="en-US" altLang="zh-CN" sz="1715">
                <a:latin typeface="Comic Sans MS" panose="030F0702030302020204" pitchFamily="66" charset="0"/>
              </a:rPr>
              <a:t>IP</a:t>
            </a:r>
            <a:r>
              <a:rPr kumimoji="1" lang="en-US" altLang="zh-CN" sz="1715" baseline="30000">
                <a:latin typeface="Comic Sans MS" panose="030F0702030302020204" pitchFamily="66" charset="0"/>
              </a:rPr>
              <a:t>—1</a:t>
            </a:r>
          </a:p>
        </p:txBody>
      </p:sp>
      <p:sp>
        <p:nvSpPr>
          <p:cNvPr id="19" name="Line 20">
            <a:extLst>
              <a:ext uri="{FF2B5EF4-FFF2-40B4-BE49-F238E27FC236}">
                <a16:creationId xmlns:a16="http://schemas.microsoft.com/office/drawing/2014/main" id="{F62FB8A6-2115-FF4F-ABC4-A53C5390DC13}"/>
              </a:ext>
            </a:extLst>
          </p:cNvPr>
          <p:cNvSpPr>
            <a:spLocks noChangeShapeType="1"/>
          </p:cNvSpPr>
          <p:nvPr/>
        </p:nvSpPr>
        <p:spPr bwMode="auto">
          <a:xfrm flipH="1">
            <a:off x="3941763" y="1824038"/>
            <a:ext cx="3325812" cy="2101850"/>
          </a:xfrm>
          <a:prstGeom prst="line">
            <a:avLst/>
          </a:prstGeom>
          <a:noFill/>
          <a:ln w="2857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0" name="Line 21">
            <a:extLst>
              <a:ext uri="{FF2B5EF4-FFF2-40B4-BE49-F238E27FC236}">
                <a16:creationId xmlns:a16="http://schemas.microsoft.com/office/drawing/2014/main" id="{E638889D-E6FC-5B40-AFA7-715A0DF52533}"/>
              </a:ext>
            </a:extLst>
          </p:cNvPr>
          <p:cNvSpPr>
            <a:spLocks noChangeShapeType="1"/>
          </p:cNvSpPr>
          <p:nvPr/>
        </p:nvSpPr>
        <p:spPr bwMode="auto">
          <a:xfrm>
            <a:off x="3941763" y="4079875"/>
            <a:ext cx="2663825" cy="0"/>
          </a:xfrm>
          <a:prstGeom prst="line">
            <a:avLst/>
          </a:prstGeom>
          <a:noFill/>
          <a:ln w="2857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par>
                                <p:cTn id="18" presetID="3" presetClass="entr" presetSubtype="10" fill="hold" grpId="1"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linds(horizontal)">
                                      <p:cBhvr>
                                        <p:cTn id="35" dur="500"/>
                                        <p:tgtEl>
                                          <p:spTgt spid="2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0" grpId="1" animBg="1"/>
      <p:bldP spid="13" grpId="0" animBg="1"/>
      <p:bldP spid="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副标题 2">
            <a:extLst>
              <a:ext uri="{FF2B5EF4-FFF2-40B4-BE49-F238E27FC236}">
                <a16:creationId xmlns:a16="http://schemas.microsoft.com/office/drawing/2014/main" id="{AB29A226-3812-D349-8093-887AFD847A99}"/>
              </a:ext>
            </a:extLst>
          </p:cNvPr>
          <p:cNvSpPr>
            <a:spLocks noGrp="1" noChangeArrowheads="1"/>
          </p:cNvSpPr>
          <p:nvPr>
            <p:ph type="subTitle" idx="1"/>
          </p:nvPr>
        </p:nvSpPr>
        <p:spPr>
          <a:xfrm>
            <a:off x="0" y="3048000"/>
            <a:ext cx="12192000" cy="790575"/>
          </a:xfrm>
        </p:spPr>
        <p:txBody>
          <a:bodyPr/>
          <a:lstStyle/>
          <a:p>
            <a:r>
              <a:rPr lang="en-US" altLang="zh-CN" sz="3600" b="1"/>
              <a:t>DES</a:t>
            </a:r>
            <a:r>
              <a:rPr lang="zh-CN" altLang="en-US" sz="3600" b="1"/>
              <a:t>的轮函数及密钥编排</a:t>
            </a:r>
            <a:endParaRPr lang="en-US" altLang="zh-CN" sz="3600" b="1"/>
          </a:p>
        </p:txBody>
      </p:sp>
    </p:spTree>
  </p:cSld>
  <p:clrMapOvr>
    <a:masterClrMapping/>
  </p:clrMapOvr>
  <p:transition spd="slow">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Line 7">
            <a:extLst>
              <a:ext uri="{FF2B5EF4-FFF2-40B4-BE49-F238E27FC236}">
                <a16:creationId xmlns:a16="http://schemas.microsoft.com/office/drawing/2014/main" id="{C4939F8E-8E04-2040-A649-079634C06672}"/>
              </a:ext>
            </a:extLst>
          </p:cNvPr>
          <p:cNvSpPr>
            <a:spLocks noChangeShapeType="1"/>
          </p:cNvSpPr>
          <p:nvPr/>
        </p:nvSpPr>
        <p:spPr bwMode="auto">
          <a:xfrm>
            <a:off x="6424613" y="3119438"/>
            <a:ext cx="0" cy="185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21865" name="Rectangle 9">
            <a:extLst>
              <a:ext uri="{FF2B5EF4-FFF2-40B4-BE49-F238E27FC236}">
                <a16:creationId xmlns:a16="http://schemas.microsoft.com/office/drawing/2014/main" id="{AFD758B7-21DE-164F-9C23-DFD20113D994}"/>
              </a:ext>
            </a:extLst>
          </p:cNvPr>
          <p:cNvSpPr>
            <a:spLocks noChangeArrowheads="1"/>
          </p:cNvSpPr>
          <p:nvPr/>
        </p:nvSpPr>
        <p:spPr bwMode="auto">
          <a:xfrm>
            <a:off x="5497513" y="4168775"/>
            <a:ext cx="2160587" cy="369888"/>
          </a:xfrm>
          <a:prstGeom prst="rect">
            <a:avLst/>
          </a:prstGeom>
          <a:noFill/>
          <a:ln w="9525">
            <a:solidFill>
              <a:schemeClr val="tx1"/>
            </a:solidFill>
            <a:miter lim="800000"/>
          </a:ln>
          <a:effectLst/>
        </p:spPr>
        <p:txBody>
          <a:bodyPr wrap="none" lIns="0" tIns="0" rIns="0" bIns="39187" anchor="ctr"/>
          <a:lstStyle/>
          <a:p>
            <a:pPr algn="ctr">
              <a:defRPr/>
            </a:pPr>
            <a:r>
              <a:rPr lang="en-US" altLang="zh-CN" sz="2485">
                <a:latin typeface="Times New Roman" panose="02020603050405020304" pitchFamily="18" charset="0"/>
              </a:rPr>
              <a:t>L</a:t>
            </a:r>
            <a:r>
              <a:rPr lang="en-US" altLang="zh-CN" sz="2485" baseline="-25000">
                <a:latin typeface="Times New Roman" panose="02020603050405020304" pitchFamily="18" charset="0"/>
              </a:rPr>
              <a:t>i</a:t>
            </a:r>
            <a:r>
              <a:rPr lang="zh-CN" altLang="en-US" sz="2485">
                <a:latin typeface="Times New Roman" panose="02020603050405020304" pitchFamily="18" charset="0"/>
              </a:rPr>
              <a:t>（</a:t>
            </a:r>
            <a:r>
              <a:rPr lang="en-US" altLang="zh-CN" sz="2485">
                <a:latin typeface="Times New Roman" panose="02020603050405020304" pitchFamily="18" charset="0"/>
              </a:rPr>
              <a:t>32</a:t>
            </a:r>
            <a:r>
              <a:rPr lang="zh-CN" altLang="en-US" sz="2485">
                <a:latin typeface="Times New Roman" panose="02020603050405020304" pitchFamily="18" charset="0"/>
              </a:rPr>
              <a:t>位）</a:t>
            </a:r>
          </a:p>
        </p:txBody>
      </p:sp>
      <p:sp>
        <p:nvSpPr>
          <p:cNvPr id="121866" name="Rectangle 10">
            <a:extLst>
              <a:ext uri="{FF2B5EF4-FFF2-40B4-BE49-F238E27FC236}">
                <a16:creationId xmlns:a16="http://schemas.microsoft.com/office/drawing/2014/main" id="{E0867696-1298-0341-9253-4D3487AC4AF7}"/>
              </a:ext>
            </a:extLst>
          </p:cNvPr>
          <p:cNvSpPr>
            <a:spLocks noChangeArrowheads="1"/>
          </p:cNvSpPr>
          <p:nvPr/>
        </p:nvSpPr>
        <p:spPr bwMode="auto">
          <a:xfrm>
            <a:off x="8583613" y="4168775"/>
            <a:ext cx="2160587" cy="369888"/>
          </a:xfrm>
          <a:prstGeom prst="rect">
            <a:avLst/>
          </a:prstGeom>
          <a:noFill/>
          <a:ln w="9525">
            <a:solidFill>
              <a:schemeClr val="tx1"/>
            </a:solidFill>
            <a:miter lim="800000"/>
          </a:ln>
          <a:effectLst/>
        </p:spPr>
        <p:txBody>
          <a:bodyPr wrap="none" lIns="0" tIns="0" rIns="0" bIns="39187" anchor="ctr"/>
          <a:lstStyle/>
          <a:p>
            <a:pPr algn="ctr">
              <a:defRPr/>
            </a:pPr>
            <a:r>
              <a:rPr lang="en-US" altLang="zh-CN" sz="2485" dirty="0" err="1">
                <a:latin typeface="Times New Roman" panose="02020603050405020304" pitchFamily="18" charset="0"/>
              </a:rPr>
              <a:t>R</a:t>
            </a:r>
            <a:r>
              <a:rPr lang="en-US" altLang="zh-CN" sz="2485" baseline="-25000" dirty="0" err="1">
                <a:latin typeface="Times New Roman" panose="02020603050405020304" pitchFamily="18" charset="0"/>
              </a:rPr>
              <a:t>i</a:t>
            </a:r>
            <a:r>
              <a:rPr lang="zh-CN" altLang="en-US" sz="2485" dirty="0">
                <a:latin typeface="Times New Roman" panose="02020603050405020304" pitchFamily="18" charset="0"/>
              </a:rPr>
              <a:t>（</a:t>
            </a:r>
            <a:r>
              <a:rPr lang="en-US" altLang="zh-CN" sz="2485" dirty="0">
                <a:latin typeface="Times New Roman" panose="02020603050405020304" pitchFamily="18" charset="0"/>
              </a:rPr>
              <a:t>32</a:t>
            </a:r>
            <a:r>
              <a:rPr lang="zh-CN" altLang="en-US" sz="2485" dirty="0">
                <a:latin typeface="Times New Roman" panose="02020603050405020304" pitchFamily="18" charset="0"/>
              </a:rPr>
              <a:t>位）</a:t>
            </a:r>
          </a:p>
        </p:txBody>
      </p:sp>
      <p:sp>
        <p:nvSpPr>
          <p:cNvPr id="121868" name="Rectangle 12">
            <a:extLst>
              <a:ext uri="{FF2B5EF4-FFF2-40B4-BE49-F238E27FC236}">
                <a16:creationId xmlns:a16="http://schemas.microsoft.com/office/drawing/2014/main" id="{4DCF4D21-E1CE-4A4D-B5F9-403357595F49}"/>
              </a:ext>
            </a:extLst>
          </p:cNvPr>
          <p:cNvSpPr>
            <a:spLocks noChangeArrowheads="1"/>
          </p:cNvSpPr>
          <p:nvPr/>
        </p:nvSpPr>
        <p:spPr bwMode="auto">
          <a:xfrm>
            <a:off x="5497513" y="2132013"/>
            <a:ext cx="2160587" cy="369887"/>
          </a:xfrm>
          <a:prstGeom prst="rect">
            <a:avLst/>
          </a:prstGeom>
          <a:noFill/>
          <a:ln w="9525">
            <a:solidFill>
              <a:schemeClr val="tx1"/>
            </a:solidFill>
            <a:miter lim="800000"/>
          </a:ln>
          <a:effectLst/>
        </p:spPr>
        <p:txBody>
          <a:bodyPr wrap="none" lIns="0" tIns="0" rIns="0" bIns="39187" anchor="ctr"/>
          <a:lstStyle/>
          <a:p>
            <a:pPr algn="ctr">
              <a:defRPr/>
            </a:pPr>
            <a:r>
              <a:rPr lang="en-US" altLang="zh-CN" sz="2485" dirty="0">
                <a:latin typeface="Times New Roman" panose="02020603050405020304" pitchFamily="18" charset="0"/>
              </a:rPr>
              <a:t>L</a:t>
            </a:r>
            <a:r>
              <a:rPr lang="en-US" altLang="zh-CN" sz="2485" baseline="-25000" dirty="0">
                <a:latin typeface="Times New Roman" panose="02020603050405020304" pitchFamily="18" charset="0"/>
              </a:rPr>
              <a:t>i-1</a:t>
            </a:r>
            <a:r>
              <a:rPr lang="zh-CN" altLang="en-US" sz="2485" dirty="0">
                <a:latin typeface="Times New Roman" panose="02020603050405020304" pitchFamily="18" charset="0"/>
              </a:rPr>
              <a:t>（</a:t>
            </a:r>
            <a:r>
              <a:rPr lang="en-US" altLang="zh-CN" sz="2485" dirty="0">
                <a:latin typeface="Times New Roman" panose="02020603050405020304" pitchFamily="18" charset="0"/>
              </a:rPr>
              <a:t>32</a:t>
            </a:r>
            <a:r>
              <a:rPr lang="zh-CN" altLang="en-US" sz="2485" dirty="0">
                <a:latin typeface="Times New Roman" panose="02020603050405020304" pitchFamily="18" charset="0"/>
              </a:rPr>
              <a:t>位）</a:t>
            </a:r>
          </a:p>
        </p:txBody>
      </p:sp>
      <p:sp>
        <p:nvSpPr>
          <p:cNvPr id="121869" name="Rectangle 13">
            <a:extLst>
              <a:ext uri="{FF2B5EF4-FFF2-40B4-BE49-F238E27FC236}">
                <a16:creationId xmlns:a16="http://schemas.microsoft.com/office/drawing/2014/main" id="{E1134AFF-FE6F-1E41-8D73-A9A5997E91C1}"/>
              </a:ext>
            </a:extLst>
          </p:cNvPr>
          <p:cNvSpPr>
            <a:spLocks noChangeArrowheads="1"/>
          </p:cNvSpPr>
          <p:nvPr/>
        </p:nvSpPr>
        <p:spPr bwMode="auto">
          <a:xfrm>
            <a:off x="8583613" y="2132013"/>
            <a:ext cx="2160587" cy="369887"/>
          </a:xfrm>
          <a:prstGeom prst="rect">
            <a:avLst/>
          </a:prstGeom>
          <a:noFill/>
          <a:ln w="9525">
            <a:solidFill>
              <a:schemeClr val="tx1"/>
            </a:solidFill>
            <a:miter lim="800000"/>
          </a:ln>
          <a:effectLst/>
        </p:spPr>
        <p:txBody>
          <a:bodyPr wrap="none" lIns="0" tIns="0" rIns="0" bIns="39187" anchor="ctr"/>
          <a:lstStyle/>
          <a:p>
            <a:pPr algn="ctr">
              <a:defRPr/>
            </a:pPr>
            <a:r>
              <a:rPr lang="en-US" altLang="zh-CN" sz="2485" dirty="0">
                <a:latin typeface="Times New Roman" panose="02020603050405020304" pitchFamily="18" charset="0"/>
              </a:rPr>
              <a:t>R</a:t>
            </a:r>
            <a:r>
              <a:rPr lang="en-US" altLang="zh-CN" sz="2485" baseline="-25000" dirty="0">
                <a:latin typeface="Times New Roman" panose="02020603050405020304" pitchFamily="18" charset="0"/>
              </a:rPr>
              <a:t>i-1</a:t>
            </a:r>
            <a:r>
              <a:rPr lang="zh-CN" altLang="en-US" sz="2485" dirty="0">
                <a:latin typeface="Times New Roman" panose="02020603050405020304" pitchFamily="18" charset="0"/>
              </a:rPr>
              <a:t>（</a:t>
            </a:r>
            <a:r>
              <a:rPr lang="en-US" altLang="zh-CN" sz="2485" dirty="0">
                <a:latin typeface="Times New Roman" panose="02020603050405020304" pitchFamily="18" charset="0"/>
              </a:rPr>
              <a:t>32</a:t>
            </a:r>
            <a:r>
              <a:rPr lang="zh-CN" altLang="en-US" sz="2485" dirty="0">
                <a:latin typeface="Times New Roman" panose="02020603050405020304" pitchFamily="18" charset="0"/>
              </a:rPr>
              <a:t>位）</a:t>
            </a:r>
          </a:p>
        </p:txBody>
      </p:sp>
      <p:sp>
        <p:nvSpPr>
          <p:cNvPr id="157702" name="Line 14">
            <a:extLst>
              <a:ext uri="{FF2B5EF4-FFF2-40B4-BE49-F238E27FC236}">
                <a16:creationId xmlns:a16="http://schemas.microsoft.com/office/drawing/2014/main" id="{0F35D471-5792-0F43-9F1B-83FF62F81683}"/>
              </a:ext>
            </a:extLst>
          </p:cNvPr>
          <p:cNvSpPr>
            <a:spLocks noChangeShapeType="1"/>
          </p:cNvSpPr>
          <p:nvPr/>
        </p:nvSpPr>
        <p:spPr bwMode="auto">
          <a:xfrm>
            <a:off x="6424613" y="2501900"/>
            <a:ext cx="0" cy="3095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7703" name="AutoShape 15">
            <a:extLst>
              <a:ext uri="{FF2B5EF4-FFF2-40B4-BE49-F238E27FC236}">
                <a16:creationId xmlns:a16="http://schemas.microsoft.com/office/drawing/2014/main" id="{820BAD5D-B2D6-8849-BDF7-6922739CC745}"/>
              </a:ext>
            </a:extLst>
          </p:cNvPr>
          <p:cNvSpPr>
            <a:spLocks noChangeArrowheads="1"/>
          </p:cNvSpPr>
          <p:nvPr/>
        </p:nvSpPr>
        <p:spPr bwMode="auto">
          <a:xfrm>
            <a:off x="6269038" y="2873375"/>
            <a:ext cx="309562" cy="246063"/>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anchor="ctr"/>
          <a:lstStyle/>
          <a:p>
            <a:endParaRPr lang="zh-CN" altLang="en-US"/>
          </a:p>
        </p:txBody>
      </p:sp>
      <p:sp>
        <p:nvSpPr>
          <p:cNvPr id="157704" name="Line 16">
            <a:extLst>
              <a:ext uri="{FF2B5EF4-FFF2-40B4-BE49-F238E27FC236}">
                <a16:creationId xmlns:a16="http://schemas.microsoft.com/office/drawing/2014/main" id="{9A76AE26-EC29-2E41-8209-869DE00A1C43}"/>
              </a:ext>
            </a:extLst>
          </p:cNvPr>
          <p:cNvSpPr>
            <a:spLocks noChangeShapeType="1"/>
          </p:cNvSpPr>
          <p:nvPr/>
        </p:nvSpPr>
        <p:spPr bwMode="auto">
          <a:xfrm>
            <a:off x="9632950" y="2501900"/>
            <a:ext cx="0" cy="803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57705" name="Line 17">
            <a:extLst>
              <a:ext uri="{FF2B5EF4-FFF2-40B4-BE49-F238E27FC236}">
                <a16:creationId xmlns:a16="http://schemas.microsoft.com/office/drawing/2014/main" id="{4CAF7C84-1984-0743-BDD3-7AC76F02C17F}"/>
              </a:ext>
            </a:extLst>
          </p:cNvPr>
          <p:cNvSpPr>
            <a:spLocks noChangeShapeType="1"/>
          </p:cNvSpPr>
          <p:nvPr/>
        </p:nvSpPr>
        <p:spPr bwMode="auto">
          <a:xfrm flipH="1">
            <a:off x="6424613" y="3305175"/>
            <a:ext cx="3208337" cy="369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57706" name="Line 18">
            <a:extLst>
              <a:ext uri="{FF2B5EF4-FFF2-40B4-BE49-F238E27FC236}">
                <a16:creationId xmlns:a16="http://schemas.microsoft.com/office/drawing/2014/main" id="{6967A1C8-BE88-5C42-92A9-D1903C8DF44C}"/>
              </a:ext>
            </a:extLst>
          </p:cNvPr>
          <p:cNvSpPr>
            <a:spLocks noChangeShapeType="1"/>
          </p:cNvSpPr>
          <p:nvPr/>
        </p:nvSpPr>
        <p:spPr bwMode="auto">
          <a:xfrm>
            <a:off x="6424613" y="3678238"/>
            <a:ext cx="0" cy="3698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7707" name="Line 19">
            <a:extLst>
              <a:ext uri="{FF2B5EF4-FFF2-40B4-BE49-F238E27FC236}">
                <a16:creationId xmlns:a16="http://schemas.microsoft.com/office/drawing/2014/main" id="{D44DF5F6-C103-AB43-B95C-F2F6587625B5}"/>
              </a:ext>
            </a:extLst>
          </p:cNvPr>
          <p:cNvSpPr>
            <a:spLocks noChangeShapeType="1"/>
          </p:cNvSpPr>
          <p:nvPr/>
        </p:nvSpPr>
        <p:spPr bwMode="auto">
          <a:xfrm>
            <a:off x="6424613" y="3305175"/>
            <a:ext cx="3208337" cy="369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57708" name="Line 20">
            <a:extLst>
              <a:ext uri="{FF2B5EF4-FFF2-40B4-BE49-F238E27FC236}">
                <a16:creationId xmlns:a16="http://schemas.microsoft.com/office/drawing/2014/main" id="{A009A9E4-2EB3-EA42-A1A1-2806996CFC86}"/>
              </a:ext>
            </a:extLst>
          </p:cNvPr>
          <p:cNvSpPr>
            <a:spLocks noChangeShapeType="1"/>
          </p:cNvSpPr>
          <p:nvPr/>
        </p:nvSpPr>
        <p:spPr bwMode="auto">
          <a:xfrm>
            <a:off x="9632950" y="3692525"/>
            <a:ext cx="0" cy="414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21877" name="Oval 21">
            <a:extLst>
              <a:ext uri="{FF2B5EF4-FFF2-40B4-BE49-F238E27FC236}">
                <a16:creationId xmlns:a16="http://schemas.microsoft.com/office/drawing/2014/main" id="{619A3496-ADDF-A640-B598-E59974B6F6D4}"/>
              </a:ext>
            </a:extLst>
          </p:cNvPr>
          <p:cNvSpPr>
            <a:spLocks noChangeArrowheads="1"/>
          </p:cNvSpPr>
          <p:nvPr/>
        </p:nvSpPr>
        <p:spPr bwMode="auto">
          <a:xfrm>
            <a:off x="7720013" y="2811463"/>
            <a:ext cx="369887" cy="369887"/>
          </a:xfrm>
          <a:prstGeom prst="ellipse">
            <a:avLst/>
          </a:prstGeom>
          <a:noFill/>
          <a:ln w="9525">
            <a:solidFill>
              <a:schemeClr val="tx1"/>
            </a:solidFill>
            <a:round/>
          </a:ln>
          <a:effectLst/>
        </p:spPr>
        <p:txBody>
          <a:bodyPr wrap="none" lIns="0" tIns="0" rIns="0" bIns="39187" anchor="ctr"/>
          <a:lstStyle/>
          <a:p>
            <a:pPr algn="ctr">
              <a:defRPr/>
            </a:pPr>
            <a:r>
              <a:rPr lang="en-US" altLang="zh-CN" sz="2485" i="1" dirty="0">
                <a:latin typeface="Times New Roman" panose="02020603050405020304" pitchFamily="18" charset="0"/>
              </a:rPr>
              <a:t>f</a:t>
            </a:r>
          </a:p>
        </p:txBody>
      </p:sp>
      <p:sp>
        <p:nvSpPr>
          <p:cNvPr id="157710" name="Line 22">
            <a:extLst>
              <a:ext uri="{FF2B5EF4-FFF2-40B4-BE49-F238E27FC236}">
                <a16:creationId xmlns:a16="http://schemas.microsoft.com/office/drawing/2014/main" id="{30B3606C-5D8B-9C4D-B6F0-72D4BC91FA09}"/>
              </a:ext>
            </a:extLst>
          </p:cNvPr>
          <p:cNvSpPr>
            <a:spLocks noChangeShapeType="1"/>
          </p:cNvSpPr>
          <p:nvPr/>
        </p:nvSpPr>
        <p:spPr bwMode="auto">
          <a:xfrm flipH="1">
            <a:off x="6608763" y="2995613"/>
            <a:ext cx="1111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7711" name="Line 23">
            <a:extLst>
              <a:ext uri="{FF2B5EF4-FFF2-40B4-BE49-F238E27FC236}">
                <a16:creationId xmlns:a16="http://schemas.microsoft.com/office/drawing/2014/main" id="{52E4DB83-92D7-8949-9239-384A6D18B50F}"/>
              </a:ext>
            </a:extLst>
          </p:cNvPr>
          <p:cNvSpPr>
            <a:spLocks noChangeShapeType="1"/>
          </p:cNvSpPr>
          <p:nvPr/>
        </p:nvSpPr>
        <p:spPr bwMode="auto">
          <a:xfrm flipH="1">
            <a:off x="8151813" y="2995613"/>
            <a:ext cx="148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mc:AlternateContent xmlns:mc="http://schemas.openxmlformats.org/markup-compatibility/2006" xmlns:a14="http://schemas.microsoft.com/office/drawing/2010/main">
        <mc:Choice Requires="a14">
          <p:sp>
            <p:nvSpPr>
              <p:cNvPr id="121883" name="Object 27">
                <a:extLst>
                  <a:ext uri="{FF2B5EF4-FFF2-40B4-BE49-F238E27FC236}">
                    <a16:creationId xmlns:a16="http://schemas.microsoft.com/office/drawing/2014/main" id="{152F2B0C-3050-5148-9FC3-501D3F3902FF}"/>
                  </a:ext>
                </a:extLst>
              </p:cNvPr>
              <p:cNvSpPr txBox="1"/>
              <p:nvPr/>
            </p:nvSpPr>
            <p:spPr bwMode="auto">
              <a:xfrm>
                <a:off x="1893888" y="2744788"/>
                <a:ext cx="2070100" cy="6096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21883" name="Object 27">
                <a:extLst>
                  <a:ext uri="{FF2B5EF4-FFF2-40B4-BE49-F238E27FC236}">
                    <a16:creationId xmlns:a16="http://schemas.microsoft.com/office/drawing/2014/main" id="{152F2B0C-3050-5148-9FC3-501D3F3902FF}"/>
                  </a:ext>
                </a:extLst>
              </p:cNvPr>
              <p:cNvSpPr txBox="1">
                <a:spLocks noRot="1" noChangeAspect="1" noMove="1" noResize="1" noEditPoints="1" noAdjustHandles="1" noChangeArrowheads="1" noChangeShapeType="1" noTextEdit="1"/>
              </p:cNvSpPr>
              <p:nvPr/>
            </p:nvSpPr>
            <p:spPr bwMode="auto">
              <a:xfrm>
                <a:off x="1893888" y="2744788"/>
                <a:ext cx="2070100" cy="609600"/>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121886" name="Text Box 30">
            <a:extLst>
              <a:ext uri="{FF2B5EF4-FFF2-40B4-BE49-F238E27FC236}">
                <a16:creationId xmlns:a16="http://schemas.microsoft.com/office/drawing/2014/main" id="{07190AC2-EB8D-E54A-8CD0-BDE49353CA14}"/>
              </a:ext>
            </a:extLst>
          </p:cNvPr>
          <p:cNvSpPr txBox="1">
            <a:spLocks noChangeArrowheads="1"/>
          </p:cNvSpPr>
          <p:nvPr/>
        </p:nvSpPr>
        <p:spPr bwMode="auto">
          <a:xfrm>
            <a:off x="838200" y="4113213"/>
            <a:ext cx="426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369" tIns="39184" rIns="78369" bIns="39184">
            <a:spAutoFit/>
          </a:bodyPr>
          <a:lstStyle/>
          <a:p>
            <a:pPr>
              <a:lnSpc>
                <a:spcPct val="120000"/>
              </a:lnSpc>
              <a:spcBef>
                <a:spcPct val="20000"/>
              </a:spcBef>
              <a:buClr>
                <a:srgbClr val="A50021"/>
              </a:buClr>
              <a:buSzPct val="75000"/>
            </a:pPr>
            <a:r>
              <a:rPr lang="zh-CN" altLang="zh-CN" sz="2400" b="1">
                <a:latin typeface="Times New Roman" panose="02020603050405020304" pitchFamily="18" charset="0"/>
                <a:ea typeface="仿宋" pitchFamily="49" charset="-122"/>
              </a:rPr>
              <a:t>它等价于两个对合变换</a:t>
            </a:r>
            <a:r>
              <a:rPr lang="zh-CN" altLang="en-US" sz="2400" b="1">
                <a:latin typeface="Times New Roman" panose="02020603050405020304" pitchFamily="18" charset="0"/>
                <a:ea typeface="仿宋" pitchFamily="49" charset="-122"/>
              </a:rPr>
              <a:t>的复合</a:t>
            </a:r>
            <a:r>
              <a:rPr lang="zh-CN" altLang="zh-CN" sz="2400" b="1">
                <a:latin typeface="Times New Roman" panose="02020603050405020304" pitchFamily="18" charset="0"/>
                <a:ea typeface="仿宋" pitchFamily="49" charset="-122"/>
              </a:rPr>
              <a:t>:</a:t>
            </a:r>
          </a:p>
        </p:txBody>
      </p:sp>
      <mc:AlternateContent xmlns:mc="http://schemas.openxmlformats.org/markup-compatibility/2006" xmlns:a14="http://schemas.microsoft.com/office/drawing/2010/main">
        <mc:Choice Requires="a14">
          <p:sp>
            <p:nvSpPr>
              <p:cNvPr id="121888" name="Object 32">
                <a:extLst>
                  <a:ext uri="{FF2B5EF4-FFF2-40B4-BE49-F238E27FC236}">
                    <a16:creationId xmlns:a16="http://schemas.microsoft.com/office/drawing/2014/main" id="{E7706106-D336-414F-91DA-76ECC8EED84F}"/>
                  </a:ext>
                </a:extLst>
              </p:cNvPr>
              <p:cNvSpPr txBox="1"/>
              <p:nvPr/>
            </p:nvSpPr>
            <p:spPr bwMode="auto">
              <a:xfrm>
                <a:off x="4808538" y="5453063"/>
                <a:ext cx="2301875" cy="522287"/>
              </a:xfrm>
              <a:prstGeom prst="rect">
                <a:avLst/>
              </a:prstGeom>
              <a:solidFill>
                <a:srgbClr val="FF99CC"/>
              </a:solid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21888" name="Object 32">
                <a:extLst>
                  <a:ext uri="{FF2B5EF4-FFF2-40B4-BE49-F238E27FC236}">
                    <a16:creationId xmlns:a16="http://schemas.microsoft.com/office/drawing/2014/main" id="{E7706106-D336-414F-91DA-76ECC8EED84F}"/>
                  </a:ext>
                </a:extLst>
              </p:cNvPr>
              <p:cNvSpPr txBox="1">
                <a:spLocks noRot="1" noChangeAspect="1" noMove="1" noResize="1" noEditPoints="1" noAdjustHandles="1" noChangeArrowheads="1" noChangeShapeType="1" noTextEdit="1"/>
              </p:cNvSpPr>
              <p:nvPr/>
            </p:nvSpPr>
            <p:spPr bwMode="auto">
              <a:xfrm>
                <a:off x="4808538" y="5453063"/>
                <a:ext cx="2301875" cy="522287"/>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889" name="Object 33">
                <a:extLst>
                  <a:ext uri="{FF2B5EF4-FFF2-40B4-BE49-F238E27FC236}">
                    <a16:creationId xmlns:a16="http://schemas.microsoft.com/office/drawing/2014/main" id="{31DF9573-27BE-5D43-A025-52CBB04E7F35}"/>
                  </a:ext>
                </a:extLst>
              </p:cNvPr>
              <p:cNvSpPr txBox="1"/>
              <p:nvPr/>
            </p:nvSpPr>
            <p:spPr bwMode="auto">
              <a:xfrm>
                <a:off x="1714500" y="4775200"/>
                <a:ext cx="3976688" cy="52228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21889" name="Object 33">
                <a:extLst>
                  <a:ext uri="{FF2B5EF4-FFF2-40B4-BE49-F238E27FC236}">
                    <a16:creationId xmlns:a16="http://schemas.microsoft.com/office/drawing/2014/main" id="{31DF9573-27BE-5D43-A025-52CBB04E7F35}"/>
                  </a:ext>
                </a:extLst>
              </p:cNvPr>
              <p:cNvSpPr txBox="1">
                <a:spLocks noRot="1" noChangeAspect="1" noMove="1" noResize="1" noEditPoints="1" noAdjustHandles="1" noChangeArrowheads="1" noChangeShapeType="1" noTextEdit="1"/>
              </p:cNvSpPr>
              <p:nvPr/>
            </p:nvSpPr>
            <p:spPr bwMode="auto">
              <a:xfrm>
                <a:off x="1714500" y="4775200"/>
                <a:ext cx="3976688" cy="522288"/>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890" name="Object 34">
                <a:extLst>
                  <a:ext uri="{FF2B5EF4-FFF2-40B4-BE49-F238E27FC236}">
                    <a16:creationId xmlns:a16="http://schemas.microsoft.com/office/drawing/2014/main" id="{16AA76A5-DF56-8B4A-9F9F-509B7FAEFEEA}"/>
                  </a:ext>
                </a:extLst>
              </p:cNvPr>
              <p:cNvSpPr txBox="1"/>
              <p:nvPr/>
            </p:nvSpPr>
            <p:spPr bwMode="auto">
              <a:xfrm>
                <a:off x="5699125" y="4775200"/>
                <a:ext cx="3024188" cy="52228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21890" name="Object 34">
                <a:extLst>
                  <a:ext uri="{FF2B5EF4-FFF2-40B4-BE49-F238E27FC236}">
                    <a16:creationId xmlns:a16="http://schemas.microsoft.com/office/drawing/2014/main" id="{16AA76A5-DF56-8B4A-9F9F-509B7FAEFEEA}"/>
                  </a:ext>
                </a:extLst>
              </p:cNvPr>
              <p:cNvSpPr txBox="1">
                <a:spLocks noRot="1" noChangeAspect="1" noMove="1" noResize="1" noEditPoints="1" noAdjustHandles="1" noChangeArrowheads="1" noChangeShapeType="1" noTextEdit="1"/>
              </p:cNvSpPr>
              <p:nvPr/>
            </p:nvSpPr>
            <p:spPr bwMode="auto">
              <a:xfrm>
                <a:off x="5699125" y="4775200"/>
                <a:ext cx="3024188" cy="522288"/>
              </a:xfrm>
              <a:prstGeom prst="rect">
                <a:avLst/>
              </a:prstGeom>
              <a:blipFill>
                <a:blip r:embed="rId6"/>
                <a:stretch>
                  <a:fillRect/>
                </a:stretch>
              </a:blipFill>
              <a:ln>
                <a:noFill/>
              </a:ln>
              <a:extLst/>
            </p:spPr>
            <p:txBody>
              <a:bodyPr/>
              <a:lstStyle/>
              <a:p>
                <a:r>
                  <a:rPr lang="zh-CN" altLang="en-US">
                    <a:noFill/>
                  </a:rPr>
                  <a:t> </a:t>
                </a:r>
              </a:p>
            </p:txBody>
          </p:sp>
        </mc:Fallback>
      </mc:AlternateContent>
      <p:grpSp>
        <p:nvGrpSpPr>
          <p:cNvPr id="157698" name="Group 2">
            <a:extLst>
              <a:ext uri="{FF2B5EF4-FFF2-40B4-BE49-F238E27FC236}">
                <a16:creationId xmlns:a16="http://schemas.microsoft.com/office/drawing/2014/main" id="{23E840B2-14DA-3B48-B857-AE3F0239A23B}"/>
              </a:ext>
            </a:extLst>
          </p:cNvPr>
          <p:cNvGrpSpPr>
            <a:grpSpLocks/>
          </p:cNvGrpSpPr>
          <p:nvPr/>
        </p:nvGrpSpPr>
        <p:grpSpPr bwMode="auto">
          <a:xfrm>
            <a:off x="8089900" y="2379663"/>
            <a:ext cx="2406650" cy="555625"/>
            <a:chOff x="2770" y="2854"/>
            <a:chExt cx="2767" cy="408"/>
          </a:xfrm>
        </p:grpSpPr>
        <p:sp>
          <p:nvSpPr>
            <p:cNvPr id="157718" name="Line 3">
              <a:extLst>
                <a:ext uri="{FF2B5EF4-FFF2-40B4-BE49-F238E27FC236}">
                  <a16:creationId xmlns:a16="http://schemas.microsoft.com/office/drawing/2014/main" id="{2F3F0808-6134-014C-B70F-9608491947E2}"/>
                </a:ext>
              </a:extLst>
            </p:cNvPr>
            <p:cNvSpPr>
              <a:spLocks noChangeShapeType="1"/>
            </p:cNvSpPr>
            <p:nvPr/>
          </p:nvSpPr>
          <p:spPr bwMode="auto">
            <a:xfrm>
              <a:off x="2861" y="3126"/>
              <a:ext cx="208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57719" name="Line 4">
              <a:extLst>
                <a:ext uri="{FF2B5EF4-FFF2-40B4-BE49-F238E27FC236}">
                  <a16:creationId xmlns:a16="http://schemas.microsoft.com/office/drawing/2014/main" id="{9811A958-AAED-6C46-8BFB-0242A118EEEF}"/>
                </a:ext>
              </a:extLst>
            </p:cNvPr>
            <p:cNvSpPr>
              <a:spLocks noChangeShapeType="1"/>
            </p:cNvSpPr>
            <p:nvPr/>
          </p:nvSpPr>
          <p:spPr bwMode="auto">
            <a:xfrm flipH="1">
              <a:off x="2770" y="3126"/>
              <a:ext cx="91"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7701" name="Text Box 5">
              <a:extLst>
                <a:ext uri="{FF2B5EF4-FFF2-40B4-BE49-F238E27FC236}">
                  <a16:creationId xmlns:a16="http://schemas.microsoft.com/office/drawing/2014/main" id="{CA82B915-328F-E940-A2D9-0AF889F9E160}"/>
                </a:ext>
              </a:extLst>
            </p:cNvPr>
            <p:cNvSpPr txBox="1">
              <a:spLocks noChangeArrowheads="1"/>
            </p:cNvSpPr>
            <p:nvPr/>
          </p:nvSpPr>
          <p:spPr bwMode="auto">
            <a:xfrm>
              <a:off x="4993" y="2854"/>
              <a:ext cx="544" cy="384"/>
            </a:xfrm>
            <a:prstGeom prst="rect">
              <a:avLst/>
            </a:prstGeom>
            <a:noFill/>
            <a:ln>
              <a:noFill/>
            </a:ln>
            <a:effectLst/>
          </p:spPr>
          <p:txBody>
            <a:bodyPr lIns="0" tIns="0" rIns="0">
              <a:spAutoFit/>
            </a:bodyPr>
            <a:lstStyle/>
            <a:p>
              <a:pPr>
                <a:spcBef>
                  <a:spcPct val="50000"/>
                </a:spcBef>
                <a:defRPr/>
              </a:pPr>
              <a:r>
                <a:rPr lang="en-US" altLang="zh-CN" sz="3085"/>
                <a:t>K</a:t>
              </a:r>
              <a:r>
                <a:rPr lang="en-US" altLang="zh-CN" sz="3085" baseline="-25000"/>
                <a:t>i</a:t>
              </a:r>
            </a:p>
          </p:txBody>
        </p:sp>
      </p:grpSp>
      <p:sp>
        <p:nvSpPr>
          <p:cNvPr id="4" name="标题 3">
            <a:extLst>
              <a:ext uri="{FF2B5EF4-FFF2-40B4-BE49-F238E27FC236}">
                <a16:creationId xmlns:a16="http://schemas.microsoft.com/office/drawing/2014/main" id="{817D56A9-9F74-384B-883D-B0F2B174B335}"/>
              </a:ext>
            </a:extLst>
          </p:cNvPr>
          <p:cNvSpPr>
            <a:spLocks noGrp="1"/>
          </p:cNvSpPr>
          <p:nvPr>
            <p:ph type="title"/>
          </p:nvPr>
        </p:nvSpPr>
        <p:spPr>
          <a:xfrm>
            <a:off x="1441450" y="400050"/>
            <a:ext cx="9037638" cy="668338"/>
          </a:xfrm>
        </p:spPr>
        <p:txBody>
          <a:bodyPr/>
          <a:lstStyle/>
          <a:p>
            <a:r>
              <a:rPr lang="en-US" altLang="zh-CN">
                <a:solidFill>
                  <a:srgbClr val="CC0066"/>
                </a:solidFill>
                <a:effectLst>
                  <a:outerShdw blurRad="38100" dist="38100" dir="2700000" algn="tl">
                    <a:srgbClr val="C0C0C0"/>
                  </a:outerShdw>
                </a:effectLst>
                <a:latin typeface="Times New Roman" panose="02020603050405020304" pitchFamily="18" charset="0"/>
              </a:rPr>
              <a:t>DES</a:t>
            </a:r>
            <a:r>
              <a:rPr lang="zh-CN" altLang="en-US">
                <a:solidFill>
                  <a:srgbClr val="CC0066"/>
                </a:solidFill>
                <a:effectLst>
                  <a:outerShdw blurRad="38100" dist="38100" dir="2700000" algn="tl">
                    <a:srgbClr val="C0C0C0"/>
                  </a:outerShdw>
                </a:effectLst>
                <a:latin typeface="Times New Roman" panose="02020603050405020304" pitchFamily="18" charset="0"/>
              </a:rPr>
              <a:t>的轮函数的结构</a:t>
            </a:r>
            <a:endParaRPr lang="zh-CN" altLang="en-US">
              <a:solidFill>
                <a:srgbClr val="1F4E79"/>
              </a:solidFill>
            </a:endParaRPr>
          </a:p>
        </p:txBody>
      </p:sp>
      <p:sp>
        <p:nvSpPr>
          <p:cNvPr id="157722" name="文本框 1">
            <a:extLst>
              <a:ext uri="{FF2B5EF4-FFF2-40B4-BE49-F238E27FC236}">
                <a16:creationId xmlns:a16="http://schemas.microsoft.com/office/drawing/2014/main" id="{BA9A96C6-9A61-FB45-A385-098E768FE146}"/>
              </a:ext>
            </a:extLst>
          </p:cNvPr>
          <p:cNvSpPr txBox="1">
            <a:spLocks noChangeArrowheads="1"/>
          </p:cNvSpPr>
          <p:nvPr/>
        </p:nvSpPr>
        <p:spPr bwMode="auto">
          <a:xfrm>
            <a:off x="1192213" y="2132013"/>
            <a:ext cx="3536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369" tIns="39184" rIns="78369" bIns="39184">
            <a:spAutoFit/>
          </a:bodyPr>
          <a:lstStyle/>
          <a:p>
            <a:pPr>
              <a:lnSpc>
                <a:spcPct val="120000"/>
              </a:lnSpc>
              <a:spcBef>
                <a:spcPct val="20000"/>
              </a:spcBef>
              <a:buClr>
                <a:srgbClr val="A50021"/>
              </a:buClr>
              <a:buSzPct val="75000"/>
            </a:pPr>
            <a:r>
              <a:rPr lang="zh-CN" altLang="en-US" sz="2400" b="1">
                <a:latin typeface="Times New Roman" panose="02020603050405020304" pitchFamily="18" charset="0"/>
                <a:ea typeface="仿宋" pitchFamily="49" charset="-122"/>
              </a:rPr>
              <a:t>则</a:t>
            </a:r>
            <a:r>
              <a:rPr lang="en-US" altLang="zh-CN" sz="2400" b="1">
                <a:latin typeface="Times New Roman" panose="02020603050405020304" pitchFamily="18" charset="0"/>
                <a:ea typeface="仿宋" pitchFamily="49" charset="-122"/>
              </a:rPr>
              <a:t>DES</a:t>
            </a:r>
            <a:r>
              <a:rPr lang="zh-CN" altLang="en-US" sz="2400" b="1">
                <a:latin typeface="Times New Roman" panose="02020603050405020304" pitchFamily="18" charset="0"/>
                <a:ea typeface="仿宋" pitchFamily="49" charset="-122"/>
              </a:rPr>
              <a:t>的轮函数输出为：</a:t>
            </a:r>
          </a:p>
        </p:txBody>
      </p:sp>
      <p:sp>
        <p:nvSpPr>
          <p:cNvPr id="157723" name="文本框 4">
            <a:extLst>
              <a:ext uri="{FF2B5EF4-FFF2-40B4-BE49-F238E27FC236}">
                <a16:creationId xmlns:a16="http://schemas.microsoft.com/office/drawing/2014/main" id="{9C3EB38A-2198-8140-90BE-78ADA1F4FFE4}"/>
              </a:ext>
            </a:extLst>
          </p:cNvPr>
          <p:cNvSpPr txBox="1">
            <a:spLocks noChangeArrowheads="1"/>
          </p:cNvSpPr>
          <p:nvPr/>
        </p:nvSpPr>
        <p:spPr bwMode="auto">
          <a:xfrm>
            <a:off x="1252538" y="1543050"/>
            <a:ext cx="31638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latin typeface="Times New Roman" panose="02020603050405020304" pitchFamily="18" charset="0"/>
                <a:ea typeface="仿宋" pitchFamily="49" charset="-122"/>
              </a:rPr>
              <a:t>设输入为（</a:t>
            </a:r>
            <a:r>
              <a:rPr lang="en-US" altLang="zh-CN" sz="2400" b="1" i="1">
                <a:latin typeface="Times New Roman" panose="02020603050405020304" pitchFamily="18" charset="0"/>
                <a:ea typeface="仿宋" pitchFamily="49" charset="-122"/>
              </a:rPr>
              <a:t>x</a:t>
            </a:r>
            <a:r>
              <a:rPr lang="en-US" altLang="zh-CN" sz="2400" b="1">
                <a:latin typeface="Times New Roman" panose="02020603050405020304" pitchFamily="18" charset="0"/>
                <a:ea typeface="仿宋" pitchFamily="49" charset="-122"/>
              </a:rPr>
              <a:t>, </a:t>
            </a:r>
            <a:r>
              <a:rPr lang="en-US" altLang="zh-CN" sz="2400" b="1" i="1">
                <a:latin typeface="Times New Roman" panose="02020603050405020304" pitchFamily="18" charset="0"/>
                <a:ea typeface="仿宋" pitchFamily="49" charset="-122"/>
              </a:rPr>
              <a:t>y</a:t>
            </a:r>
            <a:r>
              <a:rPr lang="zh-CN" altLang="en-US" sz="2400" b="1">
                <a:latin typeface="Times New Roman" panose="02020603050405020304" pitchFamily="18" charset="0"/>
                <a:ea typeface="仿宋" pitchFamily="49"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157698"/>
                                        </p:tgtEl>
                                        <p:attrNameLst>
                                          <p:attrName>style.visibility</p:attrName>
                                        </p:attrNameLst>
                                      </p:cBhvr>
                                      <p:to>
                                        <p:strVal val="visible"/>
                                      </p:to>
                                    </p:set>
                                    <p:animEffect transition="in" filter="blinds(horizontal)">
                                      <p:cBhvr>
                                        <p:cTn id="7" dur="500"/>
                                        <p:tgtEl>
                                          <p:spTgt spid="157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21886"/>
                                        </p:tgtEl>
                                        <p:attrNameLst>
                                          <p:attrName>style.visibility</p:attrName>
                                        </p:attrNameLst>
                                      </p:cBhvr>
                                      <p:to>
                                        <p:strVal val="visible"/>
                                      </p:to>
                                    </p:set>
                                    <p:anim calcmode="lin" valueType="num">
                                      <p:cBhvr additive="base">
                                        <p:cTn id="12" dur="500" fill="hold"/>
                                        <p:tgtEl>
                                          <p:spTgt spid="121886"/>
                                        </p:tgtEl>
                                        <p:attrNameLst>
                                          <p:attrName>ppt_x</p:attrName>
                                        </p:attrNameLst>
                                      </p:cBhvr>
                                      <p:tavLst>
                                        <p:tav tm="0">
                                          <p:val>
                                            <p:strVal val="0-#ppt_w/2"/>
                                          </p:val>
                                        </p:tav>
                                        <p:tav tm="100000">
                                          <p:val>
                                            <p:strVal val="#ppt_x"/>
                                          </p:val>
                                        </p:tav>
                                      </p:tavLst>
                                    </p:anim>
                                    <p:anim calcmode="lin" valueType="num">
                                      <p:cBhvr additive="base">
                                        <p:cTn id="13" dur="500" fill="hold"/>
                                        <p:tgtEl>
                                          <p:spTgt spid="1218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93BCA135-D3B1-2E46-B5D8-8A5E374C2581}"/>
              </a:ext>
            </a:extLst>
          </p:cNvPr>
          <p:cNvSpPr>
            <a:spLocks noGrp="1" noChangeArrowheads="1"/>
          </p:cNvSpPr>
          <p:nvPr>
            <p:ph type="title"/>
          </p:nvPr>
        </p:nvSpPr>
        <p:spPr>
          <a:xfrm>
            <a:off x="1465263" y="365125"/>
            <a:ext cx="9037637" cy="668338"/>
          </a:xfrm>
        </p:spPr>
        <p:txBody>
          <a:bodyPr>
            <a:normAutofit fontScale="90000"/>
          </a:bodyPr>
          <a:lstStyle/>
          <a:p>
            <a:pPr defTabSz="895350" eaLnBrk="1" hangingPunct="1">
              <a:defRPr/>
            </a:pPr>
            <a:r>
              <a:rPr lang="zh-CN" altLang="en-US" sz="4285">
                <a:solidFill>
                  <a:srgbClr val="FF3300"/>
                </a:solidFill>
              </a:rPr>
              <a:t>注意</a:t>
            </a:r>
          </a:p>
        </p:txBody>
      </p:sp>
      <p:sp>
        <p:nvSpPr>
          <p:cNvPr id="159746" name="Rectangle 5">
            <a:extLst>
              <a:ext uri="{FF2B5EF4-FFF2-40B4-BE49-F238E27FC236}">
                <a16:creationId xmlns:a16="http://schemas.microsoft.com/office/drawing/2014/main" id="{952BD4CA-4071-7441-83D1-D8E8F01A4B39}"/>
              </a:ext>
            </a:extLst>
          </p:cNvPr>
          <p:cNvSpPr>
            <a:spLocks noGrp="1" noChangeArrowheads="1"/>
          </p:cNvSpPr>
          <p:nvPr>
            <p:ph idx="1"/>
          </p:nvPr>
        </p:nvSpPr>
        <p:spPr>
          <a:xfrm>
            <a:off x="823913" y="1465263"/>
            <a:ext cx="10515600" cy="4579937"/>
          </a:xfrm>
        </p:spPr>
        <p:txBody>
          <a:bodyPr/>
          <a:lstStyle/>
          <a:p>
            <a:pPr marL="334963" indent="-334963" defTabSz="893763" eaLnBrk="1" hangingPunct="1"/>
            <a:r>
              <a:rPr lang="zh-CN" altLang="en-US" sz="3100"/>
              <a:t>无论</a:t>
            </a:r>
            <a:r>
              <a:rPr lang="en-US" altLang="zh-CN" sz="3100"/>
              <a:t>f</a:t>
            </a:r>
            <a:r>
              <a:rPr lang="zh-CN" altLang="en-US" sz="3100"/>
              <a:t>函数如何选取，</a:t>
            </a:r>
            <a:r>
              <a:rPr lang="en-US" altLang="zh-CN" sz="3100"/>
              <a:t>DES</a:t>
            </a:r>
            <a:r>
              <a:rPr lang="zh-CN" altLang="en-US" sz="3100"/>
              <a:t>的轮函数是对合变换的复合。</a:t>
            </a:r>
          </a:p>
        </p:txBody>
      </p:sp>
      <mc:AlternateContent xmlns:mc="http://schemas.openxmlformats.org/markup-compatibility/2006" xmlns:a14="http://schemas.microsoft.com/office/drawing/2010/main">
        <mc:Choice Requires="a14">
          <p:sp>
            <p:nvSpPr>
              <p:cNvPr id="148487" name="Object 7">
                <a:extLst>
                  <a:ext uri="{FF2B5EF4-FFF2-40B4-BE49-F238E27FC236}">
                    <a16:creationId xmlns:a16="http://schemas.microsoft.com/office/drawing/2014/main" id="{42CCD0C8-345E-E542-B5C6-C964BD435991}"/>
                  </a:ext>
                </a:extLst>
              </p:cNvPr>
              <p:cNvSpPr txBox="1"/>
              <p:nvPr/>
            </p:nvSpPr>
            <p:spPr bwMode="auto">
              <a:xfrm>
                <a:off x="3733800" y="2667000"/>
                <a:ext cx="3402013" cy="43497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8487" name="Object 7">
                <a:extLst>
                  <a:ext uri="{FF2B5EF4-FFF2-40B4-BE49-F238E27FC236}">
                    <a16:creationId xmlns:a16="http://schemas.microsoft.com/office/drawing/2014/main" id="{42CCD0C8-345E-E542-B5C6-C964BD435991}"/>
                  </a:ext>
                </a:extLst>
              </p:cNvPr>
              <p:cNvSpPr txBox="1">
                <a:spLocks noRot="1" noChangeAspect="1" noMove="1" noResize="1" noEditPoints="1" noAdjustHandles="1" noChangeArrowheads="1" noChangeShapeType="1" noTextEdit="1"/>
              </p:cNvSpPr>
              <p:nvPr/>
            </p:nvSpPr>
            <p:spPr bwMode="auto">
              <a:xfrm>
                <a:off x="3733800" y="2667000"/>
                <a:ext cx="3402013" cy="434975"/>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8488" name="Object 8">
                <a:extLst>
                  <a:ext uri="{FF2B5EF4-FFF2-40B4-BE49-F238E27FC236}">
                    <a16:creationId xmlns:a16="http://schemas.microsoft.com/office/drawing/2014/main" id="{D05A15AB-781D-EF4B-932F-8EFD71C2669F}"/>
                  </a:ext>
                </a:extLst>
              </p:cNvPr>
              <p:cNvSpPr txBox="1"/>
              <p:nvPr/>
            </p:nvSpPr>
            <p:spPr bwMode="auto">
              <a:xfrm>
                <a:off x="1522413" y="3860800"/>
                <a:ext cx="9118600" cy="43497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48488" name="Object 8">
                <a:extLst>
                  <a:ext uri="{FF2B5EF4-FFF2-40B4-BE49-F238E27FC236}">
                    <a16:creationId xmlns:a16="http://schemas.microsoft.com/office/drawing/2014/main" id="{D05A15AB-781D-EF4B-932F-8EFD71C2669F}"/>
                  </a:ext>
                </a:extLst>
              </p:cNvPr>
              <p:cNvSpPr txBox="1">
                <a:spLocks noRot="1" noChangeAspect="1" noMove="1" noResize="1" noEditPoints="1" noAdjustHandles="1" noChangeArrowheads="1" noChangeShapeType="1" noTextEdit="1"/>
              </p:cNvSpPr>
              <p:nvPr/>
            </p:nvSpPr>
            <p:spPr bwMode="auto">
              <a:xfrm>
                <a:off x="1522413" y="3860800"/>
                <a:ext cx="9118600" cy="434975"/>
              </a:xfrm>
              <a:prstGeom prst="rect">
                <a:avLst/>
              </a:prstGeom>
              <a:blipFill>
                <a:blip r:embed="rId4"/>
                <a:stretch>
                  <a:fillRect/>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3" name="标题 2">
            <a:extLst>
              <a:ext uri="{FF2B5EF4-FFF2-40B4-BE49-F238E27FC236}">
                <a16:creationId xmlns:a16="http://schemas.microsoft.com/office/drawing/2014/main" id="{E7E28713-7155-6648-ADB5-0A0A731AFF8E}"/>
              </a:ext>
            </a:extLst>
          </p:cNvPr>
          <p:cNvSpPr>
            <a:spLocks noGrp="1" noChangeArrowheads="1"/>
          </p:cNvSpPr>
          <p:nvPr>
            <p:ph type="title"/>
          </p:nvPr>
        </p:nvSpPr>
        <p:spPr>
          <a:xfrm>
            <a:off x="1465263" y="365125"/>
            <a:ext cx="9037637" cy="668338"/>
          </a:xfrm>
        </p:spPr>
        <p:txBody>
          <a:bodyPr/>
          <a:lstStyle/>
          <a:p>
            <a:r>
              <a:rPr lang="en-US" altLang="zh-CN">
                <a:solidFill>
                  <a:schemeClr val="hlink"/>
                </a:solidFill>
              </a:rPr>
              <a:t>DES</a:t>
            </a:r>
            <a:r>
              <a:rPr lang="zh-CN" altLang="en-US">
                <a:solidFill>
                  <a:schemeClr val="hlink"/>
                </a:solidFill>
              </a:rPr>
              <a:t>算法轮结构</a:t>
            </a:r>
            <a:endParaRPr lang="zh-CN" altLang="en-US">
              <a:solidFill>
                <a:srgbClr val="1F4E79"/>
              </a:solidFill>
            </a:endParaRPr>
          </a:p>
        </p:txBody>
      </p:sp>
      <p:pic>
        <p:nvPicPr>
          <p:cNvPr id="161794" name="Picture 4" descr="xd28">
            <a:extLst>
              <a:ext uri="{FF2B5EF4-FFF2-40B4-BE49-F238E27FC236}">
                <a16:creationId xmlns:a16="http://schemas.microsoft.com/office/drawing/2014/main" id="{F32CFDA5-B5E0-AE4E-9F9D-58D98CB0C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475" y="1155700"/>
            <a:ext cx="8645525" cy="567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1" name="标题 2">
            <a:extLst>
              <a:ext uri="{FF2B5EF4-FFF2-40B4-BE49-F238E27FC236}">
                <a16:creationId xmlns:a16="http://schemas.microsoft.com/office/drawing/2014/main" id="{2A8DCDD3-55BE-0148-B65F-48E2A93F9E00}"/>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函数</a:t>
            </a:r>
            <a:r>
              <a:rPr lang="en-US" altLang="zh-CN">
                <a:solidFill>
                  <a:srgbClr val="1F4E79"/>
                </a:solidFill>
              </a:rPr>
              <a:t>f(R,K)</a:t>
            </a:r>
            <a:r>
              <a:rPr lang="zh-CN" altLang="en-US">
                <a:solidFill>
                  <a:srgbClr val="1F4E79"/>
                </a:solidFill>
              </a:rPr>
              <a:t>的计算过程</a:t>
            </a:r>
          </a:p>
        </p:txBody>
      </p:sp>
      <p:sp>
        <p:nvSpPr>
          <p:cNvPr id="163842" name="Rectangle 2">
            <a:extLst>
              <a:ext uri="{FF2B5EF4-FFF2-40B4-BE49-F238E27FC236}">
                <a16:creationId xmlns:a16="http://schemas.microsoft.com/office/drawing/2014/main" id="{67D5BD0D-476A-1B48-A0E0-AFAE2B7054A4}"/>
              </a:ext>
            </a:extLst>
          </p:cNvPr>
          <p:cNvSpPr>
            <a:spLocks noGrp="1" noChangeArrowheads="1"/>
          </p:cNvSpPr>
          <p:nvPr>
            <p:ph idx="1"/>
          </p:nvPr>
        </p:nvSpPr>
        <p:spPr>
          <a:xfrm>
            <a:off x="823913" y="1465263"/>
            <a:ext cx="10515600" cy="4579937"/>
          </a:xfrm>
        </p:spPr>
        <p:txBody>
          <a:bodyPr/>
          <a:lstStyle/>
          <a:p>
            <a:pPr algn="just" eaLnBrk="1" hangingPunct="1">
              <a:spcAft>
                <a:spcPts val="600"/>
              </a:spcAft>
              <a:buFont typeface="Arial" panose="020B0604020202020204" pitchFamily="34" charset="0"/>
              <a:buNone/>
            </a:pPr>
            <a:r>
              <a:rPr lang="zh-CN" altLang="zh-CN">
                <a:solidFill>
                  <a:schemeClr val="bg2"/>
                </a:solidFill>
                <a:latin typeface="Times New Roman" panose="02020603050405020304" pitchFamily="18" charset="0"/>
              </a:rPr>
              <a:t>   </a:t>
            </a:r>
            <a:r>
              <a:rPr lang="en-US" altLang="zh-CN">
                <a:solidFill>
                  <a:schemeClr val="bg2"/>
                </a:solidFill>
                <a:latin typeface="宋体" panose="02010600030101010101" pitchFamily="2" charset="-122"/>
              </a:rPr>
              <a:t> </a:t>
            </a:r>
            <a:endParaRPr lang="en-US" altLang="zh-CN">
              <a:solidFill>
                <a:schemeClr val="bg2"/>
              </a:solidFill>
              <a:latin typeface="Times New Roman" panose="02020603050405020304" pitchFamily="18" charset="0"/>
            </a:endParaRPr>
          </a:p>
        </p:txBody>
      </p:sp>
      <p:pic>
        <p:nvPicPr>
          <p:cNvPr id="163843" name="Picture 4" descr="xd29">
            <a:extLst>
              <a:ext uri="{FF2B5EF4-FFF2-40B4-BE49-F238E27FC236}">
                <a16:creationId xmlns:a16="http://schemas.microsoft.com/office/drawing/2014/main" id="{1C70A4DA-B758-AC4F-962B-19B6E62C6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187450"/>
            <a:ext cx="79248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89" name="标题 3">
            <a:extLst>
              <a:ext uri="{FF2B5EF4-FFF2-40B4-BE49-F238E27FC236}">
                <a16:creationId xmlns:a16="http://schemas.microsoft.com/office/drawing/2014/main" id="{320562A0-1CD5-9840-A4AF-710136EF2ED3}"/>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选择扩展运算</a:t>
            </a:r>
            <a:r>
              <a:rPr lang="en-US" altLang="zh-CN">
                <a:solidFill>
                  <a:srgbClr val="1F4E79"/>
                </a:solidFill>
              </a:rPr>
              <a:t>E</a:t>
            </a:r>
            <a:endParaRPr lang="zh-CN" altLang="en-US">
              <a:solidFill>
                <a:srgbClr val="1F4E79"/>
              </a:solidFill>
            </a:endParaRPr>
          </a:p>
        </p:txBody>
      </p:sp>
      <p:graphicFrame>
        <p:nvGraphicFramePr>
          <p:cNvPr id="6" name="表格 5">
            <a:extLst>
              <a:ext uri="{FF2B5EF4-FFF2-40B4-BE49-F238E27FC236}">
                <a16:creationId xmlns:a16="http://schemas.microsoft.com/office/drawing/2014/main" id="{5C6674E4-EC2B-794B-9129-A6D6AA398E40}"/>
              </a:ext>
            </a:extLst>
          </p:cNvPr>
          <p:cNvGraphicFramePr>
            <a:graphicFrameLocks noGrp="1"/>
          </p:cNvGraphicFramePr>
          <p:nvPr/>
        </p:nvGraphicFramePr>
        <p:xfrm>
          <a:off x="3200400" y="1447800"/>
          <a:ext cx="5418140" cy="4145008"/>
        </p:xfrm>
        <a:graphic>
          <a:graphicData uri="http://schemas.openxmlformats.org/drawingml/2006/table">
            <a:tbl>
              <a:tblPr firstRow="1" bandRow="1">
                <a:tableStyleId>{5C22544A-7EE6-4342-B048-85BDC9FD1C3A}</a:tableStyleId>
              </a:tblPr>
              <a:tblGrid>
                <a:gridCol w="1354535">
                  <a:extLst>
                    <a:ext uri="{9D8B030D-6E8A-4147-A177-3AD203B41FA5}">
                      <a16:colId xmlns:a16="http://schemas.microsoft.com/office/drawing/2014/main" val="20000"/>
                    </a:ext>
                  </a:extLst>
                </a:gridCol>
                <a:gridCol w="1354535">
                  <a:extLst>
                    <a:ext uri="{9D8B030D-6E8A-4147-A177-3AD203B41FA5}">
                      <a16:colId xmlns:a16="http://schemas.microsoft.com/office/drawing/2014/main" val="20001"/>
                    </a:ext>
                  </a:extLst>
                </a:gridCol>
                <a:gridCol w="1354535">
                  <a:extLst>
                    <a:ext uri="{9D8B030D-6E8A-4147-A177-3AD203B41FA5}">
                      <a16:colId xmlns:a16="http://schemas.microsoft.com/office/drawing/2014/main" val="20002"/>
                    </a:ext>
                  </a:extLst>
                </a:gridCol>
                <a:gridCol w="1354535">
                  <a:extLst>
                    <a:ext uri="{9D8B030D-6E8A-4147-A177-3AD203B41FA5}">
                      <a16:colId xmlns:a16="http://schemas.microsoft.com/office/drawing/2014/main" val="20003"/>
                    </a:ext>
                  </a:extLst>
                </a:gridCol>
              </a:tblGrid>
              <a:tr h="518120">
                <a:tc>
                  <a:txBody>
                    <a:bodyPr/>
                    <a:lstStyle/>
                    <a:p>
                      <a:pPr algn="ctr"/>
                      <a:r>
                        <a:rPr lang="en-US" altLang="zh-CN" sz="2800" b="0" dirty="0">
                          <a:solidFill>
                            <a:schemeClr val="tx1"/>
                          </a:solidFill>
                        </a:rPr>
                        <a:t>1</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3</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4</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18120">
                <a:tc>
                  <a:txBody>
                    <a:bodyPr/>
                    <a:lstStyle/>
                    <a:p>
                      <a:pPr algn="ctr"/>
                      <a:r>
                        <a:rPr lang="en-US" altLang="zh-CN" sz="2800" b="0" dirty="0">
                          <a:solidFill>
                            <a:schemeClr val="tx1"/>
                          </a:solidFill>
                        </a:rPr>
                        <a:t>5</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6</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7</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8</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8120">
                <a:tc>
                  <a:txBody>
                    <a:bodyPr/>
                    <a:lstStyle/>
                    <a:p>
                      <a:pPr algn="ctr"/>
                      <a:r>
                        <a:rPr lang="en-US" altLang="zh-CN" sz="2800" b="0" dirty="0">
                          <a:solidFill>
                            <a:schemeClr val="tx1"/>
                          </a:solidFill>
                        </a:rPr>
                        <a:t>9</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10</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11</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12</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18120">
                <a:tc>
                  <a:txBody>
                    <a:bodyPr/>
                    <a:lstStyle/>
                    <a:p>
                      <a:pPr algn="ctr"/>
                      <a:r>
                        <a:rPr lang="en-US" altLang="zh-CN" sz="2800" b="0" dirty="0">
                          <a:solidFill>
                            <a:schemeClr val="tx1"/>
                          </a:solidFill>
                        </a:rPr>
                        <a:t>13</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14</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15</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16</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18120">
                <a:tc>
                  <a:txBody>
                    <a:bodyPr/>
                    <a:lstStyle/>
                    <a:p>
                      <a:pPr algn="ctr"/>
                      <a:r>
                        <a:rPr lang="en-US" altLang="zh-CN" sz="2800" b="0" dirty="0">
                          <a:solidFill>
                            <a:schemeClr val="tx1"/>
                          </a:solidFill>
                        </a:rPr>
                        <a:t>17</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18</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19</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20</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18120">
                <a:tc>
                  <a:txBody>
                    <a:bodyPr/>
                    <a:lstStyle/>
                    <a:p>
                      <a:pPr algn="ctr"/>
                      <a:r>
                        <a:rPr lang="en-US" altLang="zh-CN" sz="2800" b="0" dirty="0">
                          <a:solidFill>
                            <a:schemeClr val="tx1"/>
                          </a:solidFill>
                        </a:rPr>
                        <a:t>21</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22</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23</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24</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18120">
                <a:tc>
                  <a:txBody>
                    <a:bodyPr/>
                    <a:lstStyle/>
                    <a:p>
                      <a:pPr algn="ctr"/>
                      <a:r>
                        <a:rPr lang="en-US" altLang="zh-CN" sz="2800" b="0" dirty="0">
                          <a:solidFill>
                            <a:schemeClr val="tx1"/>
                          </a:solidFill>
                        </a:rPr>
                        <a:t>25</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26</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27</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28</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518120">
                <a:tc>
                  <a:txBody>
                    <a:bodyPr/>
                    <a:lstStyle/>
                    <a:p>
                      <a:pPr algn="ctr"/>
                      <a:r>
                        <a:rPr lang="en-US" altLang="zh-CN" sz="2800" b="0" dirty="0">
                          <a:solidFill>
                            <a:schemeClr val="tx1"/>
                          </a:solidFill>
                        </a:rPr>
                        <a:t>29</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30</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31</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800" b="0" dirty="0">
                          <a:solidFill>
                            <a:schemeClr val="tx1"/>
                          </a:solidFill>
                        </a:rPr>
                        <a:t>32</a:t>
                      </a:r>
                      <a:endParaRPr lang="zh-CN" altLang="en-US" sz="2800" b="0" dirty="0">
                        <a:solidFill>
                          <a:schemeClr val="tx1"/>
                        </a:solidFill>
                      </a:endParaRPr>
                    </a:p>
                  </a:txBody>
                  <a:tcPr marL="91431" marR="91431"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7" name="表格 6">
            <a:extLst>
              <a:ext uri="{FF2B5EF4-FFF2-40B4-BE49-F238E27FC236}">
                <a16:creationId xmlns:a16="http://schemas.microsoft.com/office/drawing/2014/main" id="{B28FF524-72AF-124E-B8EC-E96F7A060523}"/>
              </a:ext>
            </a:extLst>
          </p:cNvPr>
          <p:cNvGraphicFramePr>
            <a:graphicFrameLocks noGrp="1"/>
          </p:cNvGraphicFramePr>
          <p:nvPr/>
        </p:nvGraphicFramePr>
        <p:xfrm>
          <a:off x="1828800" y="1447800"/>
          <a:ext cx="1354138" cy="4145008"/>
        </p:xfrm>
        <a:graphic>
          <a:graphicData uri="http://schemas.openxmlformats.org/drawingml/2006/table">
            <a:tbl>
              <a:tblPr firstRow="1" bandRow="1">
                <a:tableStyleId>{5C22544A-7EE6-4342-B048-85BDC9FD1C3A}</a:tableStyleId>
              </a:tblPr>
              <a:tblGrid>
                <a:gridCol w="1354138">
                  <a:extLst>
                    <a:ext uri="{9D8B030D-6E8A-4147-A177-3AD203B41FA5}">
                      <a16:colId xmlns:a16="http://schemas.microsoft.com/office/drawing/2014/main" val="20000"/>
                    </a:ext>
                  </a:extLst>
                </a:gridCol>
              </a:tblGrid>
              <a:tr h="518120">
                <a:tc>
                  <a:txBody>
                    <a:bodyPr/>
                    <a:lstStyle/>
                    <a:p>
                      <a:pPr algn="ctr"/>
                      <a:r>
                        <a:rPr lang="en-US" altLang="zh-CN" sz="2800" b="1" dirty="0">
                          <a:solidFill>
                            <a:schemeClr val="tx1"/>
                          </a:solidFill>
                        </a:rPr>
                        <a:t>32</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18120">
                <a:tc>
                  <a:txBody>
                    <a:bodyPr/>
                    <a:lstStyle/>
                    <a:p>
                      <a:pPr algn="ctr"/>
                      <a:r>
                        <a:rPr lang="en-US" altLang="zh-CN" sz="2800" b="1" dirty="0">
                          <a:solidFill>
                            <a:schemeClr val="tx1"/>
                          </a:solidFill>
                        </a:rPr>
                        <a:t>4</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8120">
                <a:tc>
                  <a:txBody>
                    <a:bodyPr/>
                    <a:lstStyle/>
                    <a:p>
                      <a:pPr algn="ctr"/>
                      <a:r>
                        <a:rPr lang="en-US" altLang="zh-CN" sz="2800" b="1" dirty="0">
                          <a:solidFill>
                            <a:schemeClr val="tx1"/>
                          </a:solidFill>
                        </a:rPr>
                        <a:t>8</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18120">
                <a:tc>
                  <a:txBody>
                    <a:bodyPr/>
                    <a:lstStyle/>
                    <a:p>
                      <a:pPr algn="ctr"/>
                      <a:r>
                        <a:rPr lang="en-US" altLang="zh-CN" sz="2800" b="1" dirty="0">
                          <a:solidFill>
                            <a:schemeClr val="tx1"/>
                          </a:solidFill>
                        </a:rPr>
                        <a:t>12</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18120">
                <a:tc>
                  <a:txBody>
                    <a:bodyPr/>
                    <a:lstStyle/>
                    <a:p>
                      <a:pPr algn="ctr"/>
                      <a:r>
                        <a:rPr lang="en-US" altLang="zh-CN" sz="2800" b="1" dirty="0">
                          <a:solidFill>
                            <a:schemeClr val="tx1"/>
                          </a:solidFill>
                        </a:rPr>
                        <a:t>16</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18120">
                <a:tc>
                  <a:txBody>
                    <a:bodyPr/>
                    <a:lstStyle/>
                    <a:p>
                      <a:pPr algn="ctr"/>
                      <a:r>
                        <a:rPr lang="en-US" altLang="zh-CN" sz="2800" b="1" dirty="0">
                          <a:solidFill>
                            <a:schemeClr val="tx1"/>
                          </a:solidFill>
                        </a:rPr>
                        <a:t>20</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18120">
                <a:tc>
                  <a:txBody>
                    <a:bodyPr/>
                    <a:lstStyle/>
                    <a:p>
                      <a:pPr algn="ctr"/>
                      <a:r>
                        <a:rPr lang="en-US" altLang="zh-CN" sz="2800" b="1" dirty="0">
                          <a:solidFill>
                            <a:schemeClr val="tx1"/>
                          </a:solidFill>
                        </a:rPr>
                        <a:t>24</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518120">
                <a:tc>
                  <a:txBody>
                    <a:bodyPr/>
                    <a:lstStyle/>
                    <a:p>
                      <a:pPr algn="ctr"/>
                      <a:r>
                        <a:rPr lang="en-US" altLang="zh-CN" sz="2800" b="1" dirty="0">
                          <a:solidFill>
                            <a:schemeClr val="tx1"/>
                          </a:solidFill>
                        </a:rPr>
                        <a:t>28</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8" name="表格 7">
            <a:extLst>
              <a:ext uri="{FF2B5EF4-FFF2-40B4-BE49-F238E27FC236}">
                <a16:creationId xmlns:a16="http://schemas.microsoft.com/office/drawing/2014/main" id="{6E353DAE-ACA4-834C-B058-0B196C9E69DB}"/>
              </a:ext>
            </a:extLst>
          </p:cNvPr>
          <p:cNvGraphicFramePr>
            <a:graphicFrameLocks noGrp="1"/>
          </p:cNvGraphicFramePr>
          <p:nvPr/>
        </p:nvGraphicFramePr>
        <p:xfrm>
          <a:off x="8610600" y="1447800"/>
          <a:ext cx="1354138" cy="4145008"/>
        </p:xfrm>
        <a:graphic>
          <a:graphicData uri="http://schemas.openxmlformats.org/drawingml/2006/table">
            <a:tbl>
              <a:tblPr firstRow="1" bandRow="1">
                <a:tableStyleId>{5C22544A-7EE6-4342-B048-85BDC9FD1C3A}</a:tableStyleId>
              </a:tblPr>
              <a:tblGrid>
                <a:gridCol w="1354138">
                  <a:extLst>
                    <a:ext uri="{9D8B030D-6E8A-4147-A177-3AD203B41FA5}">
                      <a16:colId xmlns:a16="http://schemas.microsoft.com/office/drawing/2014/main" val="20000"/>
                    </a:ext>
                  </a:extLst>
                </a:gridCol>
              </a:tblGrid>
              <a:tr h="518120">
                <a:tc>
                  <a:txBody>
                    <a:bodyPr/>
                    <a:lstStyle/>
                    <a:p>
                      <a:pPr algn="ctr"/>
                      <a:r>
                        <a:rPr lang="en-US" altLang="zh-CN" sz="2800" b="1" dirty="0">
                          <a:solidFill>
                            <a:schemeClr val="tx1"/>
                          </a:solidFill>
                        </a:rPr>
                        <a:t>5</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18120">
                <a:tc>
                  <a:txBody>
                    <a:bodyPr/>
                    <a:lstStyle/>
                    <a:p>
                      <a:pPr algn="ctr"/>
                      <a:r>
                        <a:rPr lang="en-US" altLang="zh-CN" sz="2800" b="1" dirty="0">
                          <a:solidFill>
                            <a:schemeClr val="tx1"/>
                          </a:solidFill>
                        </a:rPr>
                        <a:t>9</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8120">
                <a:tc>
                  <a:txBody>
                    <a:bodyPr/>
                    <a:lstStyle/>
                    <a:p>
                      <a:pPr algn="ctr"/>
                      <a:r>
                        <a:rPr lang="en-US" altLang="zh-CN" sz="2800" b="1" dirty="0">
                          <a:solidFill>
                            <a:schemeClr val="tx1"/>
                          </a:solidFill>
                        </a:rPr>
                        <a:t>13</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18120">
                <a:tc>
                  <a:txBody>
                    <a:bodyPr/>
                    <a:lstStyle/>
                    <a:p>
                      <a:pPr algn="ctr"/>
                      <a:r>
                        <a:rPr lang="en-US" altLang="zh-CN" sz="2800" b="1" dirty="0">
                          <a:solidFill>
                            <a:schemeClr val="tx1"/>
                          </a:solidFill>
                        </a:rPr>
                        <a:t>17</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18120">
                <a:tc>
                  <a:txBody>
                    <a:bodyPr/>
                    <a:lstStyle/>
                    <a:p>
                      <a:pPr algn="ctr"/>
                      <a:r>
                        <a:rPr lang="en-US" altLang="zh-CN" sz="2800" b="1" dirty="0">
                          <a:solidFill>
                            <a:schemeClr val="tx1"/>
                          </a:solidFill>
                        </a:rPr>
                        <a:t>21</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18120">
                <a:tc>
                  <a:txBody>
                    <a:bodyPr/>
                    <a:lstStyle/>
                    <a:p>
                      <a:pPr algn="ctr"/>
                      <a:r>
                        <a:rPr lang="en-US" altLang="zh-CN" sz="2800" b="1" dirty="0">
                          <a:solidFill>
                            <a:schemeClr val="tx1"/>
                          </a:solidFill>
                        </a:rPr>
                        <a:t>25</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18120">
                <a:tc>
                  <a:txBody>
                    <a:bodyPr/>
                    <a:lstStyle/>
                    <a:p>
                      <a:pPr algn="ctr"/>
                      <a:r>
                        <a:rPr lang="en-US" altLang="zh-CN" sz="2800" b="1" dirty="0">
                          <a:solidFill>
                            <a:schemeClr val="tx1"/>
                          </a:solidFill>
                        </a:rPr>
                        <a:t>29</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518120">
                <a:tc>
                  <a:txBody>
                    <a:bodyPr/>
                    <a:lstStyle/>
                    <a:p>
                      <a:pPr algn="ctr"/>
                      <a:r>
                        <a:rPr lang="en-US" altLang="zh-CN" sz="2800" b="1" dirty="0">
                          <a:solidFill>
                            <a:schemeClr val="tx1"/>
                          </a:solidFill>
                        </a:rPr>
                        <a:t>1</a:t>
                      </a:r>
                      <a:endParaRPr lang="zh-CN" altLang="en-US" sz="2800" b="1" dirty="0">
                        <a:solidFill>
                          <a:schemeClr val="tx1"/>
                        </a:solidFill>
                      </a:endParaRPr>
                    </a:p>
                  </a:txBody>
                  <a:tcPr marL="91404" marR="91404"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strVal val="#ppt_w*0.70"/>
                                          </p:val>
                                        </p:tav>
                                        <p:tav tm="100000">
                                          <p:val>
                                            <p:strVal val="#ppt_w"/>
                                          </p:val>
                                        </p:tav>
                                      </p:tavLst>
                                    </p:anim>
                                    <p:anim calcmode="lin" valueType="num">
                                      <p:cBhvr>
                                        <p:cTn id="15" dur="1000" fill="hold"/>
                                        <p:tgtEl>
                                          <p:spTgt spid="8"/>
                                        </p:tgtEl>
                                        <p:attrNameLst>
                                          <p:attrName>ppt_h</p:attrName>
                                        </p:attrNameLst>
                                      </p:cBhvr>
                                      <p:tavLst>
                                        <p:tav tm="0">
                                          <p:val>
                                            <p:strVal val="#ppt_h"/>
                                          </p:val>
                                        </p:tav>
                                        <p:tav tm="100000">
                                          <p:val>
                                            <p:strVal val="#ppt_h"/>
                                          </p:val>
                                        </p:tav>
                                      </p:tavLst>
                                    </p:anim>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7" name="Rectangle 2">
            <a:extLst>
              <a:ext uri="{FF2B5EF4-FFF2-40B4-BE49-F238E27FC236}">
                <a16:creationId xmlns:a16="http://schemas.microsoft.com/office/drawing/2014/main" id="{1EE5671C-C3F4-8645-857F-607EFD2D9AAF}"/>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latin typeface="Times New Roman" panose="02020603050405020304" pitchFamily="18" charset="0"/>
              </a:rPr>
              <a:t>选择压缩运算</a:t>
            </a:r>
            <a:r>
              <a:rPr lang="en-US" altLang="zh-CN" i="1">
                <a:solidFill>
                  <a:schemeClr val="hlink"/>
                </a:solidFill>
                <a:latin typeface="Times New Roman" panose="02020603050405020304" pitchFamily="18" charset="0"/>
              </a:rPr>
              <a:t>S</a:t>
            </a:r>
            <a:endParaRPr lang="en-US" altLang="zh-CN" sz="3600">
              <a:solidFill>
                <a:schemeClr val="hlink"/>
              </a:solidFill>
              <a:latin typeface="Times New Roman" panose="02020603050405020304" pitchFamily="18" charset="0"/>
            </a:endParaRPr>
          </a:p>
        </p:txBody>
      </p:sp>
      <p:grpSp>
        <p:nvGrpSpPr>
          <p:cNvPr id="167938" name="Group 8">
            <a:extLst>
              <a:ext uri="{FF2B5EF4-FFF2-40B4-BE49-F238E27FC236}">
                <a16:creationId xmlns:a16="http://schemas.microsoft.com/office/drawing/2014/main" id="{86620A48-D8ED-B649-88EA-9473AF25AE40}"/>
              </a:ext>
            </a:extLst>
          </p:cNvPr>
          <p:cNvGrpSpPr>
            <a:grpSpLocks/>
          </p:cNvGrpSpPr>
          <p:nvPr/>
        </p:nvGrpSpPr>
        <p:grpSpPr bwMode="auto">
          <a:xfrm>
            <a:off x="3352800" y="2057400"/>
            <a:ext cx="5410200" cy="3581400"/>
            <a:chOff x="1152" y="1296"/>
            <a:chExt cx="3408" cy="2256"/>
          </a:xfrm>
        </p:grpSpPr>
        <p:sp>
          <p:nvSpPr>
            <p:cNvPr id="167939" name="Rectangle 9">
              <a:extLst>
                <a:ext uri="{FF2B5EF4-FFF2-40B4-BE49-F238E27FC236}">
                  <a16:creationId xmlns:a16="http://schemas.microsoft.com/office/drawing/2014/main" id="{A1AB3A20-B332-F74E-BEE7-05B5F4FF5D65}"/>
                </a:ext>
              </a:extLst>
            </p:cNvPr>
            <p:cNvSpPr>
              <a:spLocks noChangeArrowheads="1"/>
            </p:cNvSpPr>
            <p:nvPr/>
          </p:nvSpPr>
          <p:spPr bwMode="auto">
            <a:xfrm>
              <a:off x="1152" y="1584"/>
              <a:ext cx="3360" cy="240"/>
            </a:xfrm>
            <a:prstGeom prst="rect">
              <a:avLst/>
            </a:prstGeom>
            <a:solidFill>
              <a:srgbClr val="66FFFF"/>
            </a:solidFill>
            <a:ln w="38100">
              <a:solidFill>
                <a:srgbClr val="CC3300"/>
              </a:solidFill>
              <a:miter lim="800000"/>
              <a:headEnd/>
              <a:tailEnd/>
            </a:ln>
          </p:spPr>
          <p:txBody>
            <a:bodyPr wrap="none" anchor="ctr"/>
            <a:lstStyle/>
            <a:p>
              <a:pPr algn="ctr"/>
              <a:r>
                <a:rPr lang="en-US" altLang="zh-CN" sz="2400">
                  <a:latin typeface="Times New Roman" panose="02020603050405020304" pitchFamily="18" charset="0"/>
                </a:rPr>
                <a:t>48 bit </a:t>
              </a:r>
              <a:r>
                <a:rPr lang="zh-CN" altLang="en-US" sz="2400">
                  <a:latin typeface="Times New Roman" panose="02020603050405020304" pitchFamily="18" charset="0"/>
                </a:rPr>
                <a:t>寄存器</a:t>
              </a:r>
            </a:p>
          </p:txBody>
        </p:sp>
        <p:sp>
          <p:nvSpPr>
            <p:cNvPr id="167940" name="Rectangle 10">
              <a:extLst>
                <a:ext uri="{FF2B5EF4-FFF2-40B4-BE49-F238E27FC236}">
                  <a16:creationId xmlns:a16="http://schemas.microsoft.com/office/drawing/2014/main" id="{A1683B06-828D-B547-9DCF-D07AA0E623AE}"/>
                </a:ext>
              </a:extLst>
            </p:cNvPr>
            <p:cNvSpPr>
              <a:spLocks noChangeArrowheads="1"/>
            </p:cNvSpPr>
            <p:nvPr/>
          </p:nvSpPr>
          <p:spPr bwMode="auto">
            <a:xfrm>
              <a:off x="1200" y="3024"/>
              <a:ext cx="3360" cy="240"/>
            </a:xfrm>
            <a:prstGeom prst="rect">
              <a:avLst/>
            </a:prstGeom>
            <a:solidFill>
              <a:srgbClr val="66FFFF"/>
            </a:solidFill>
            <a:ln w="38100">
              <a:solidFill>
                <a:srgbClr val="CC3300"/>
              </a:solidFill>
              <a:miter lim="800000"/>
              <a:headEnd/>
              <a:tailEnd/>
            </a:ln>
          </p:spPr>
          <p:txBody>
            <a:bodyPr wrap="none" anchor="ctr"/>
            <a:lstStyle/>
            <a:p>
              <a:pPr algn="ctr"/>
              <a:r>
                <a:rPr lang="en-US" altLang="zh-CN" sz="2400">
                  <a:latin typeface="Times New Roman" panose="02020603050405020304" pitchFamily="18" charset="0"/>
                </a:rPr>
                <a:t>32 bit </a:t>
              </a:r>
              <a:r>
                <a:rPr lang="zh-CN" altLang="en-US" sz="2400">
                  <a:latin typeface="Times New Roman" panose="02020603050405020304" pitchFamily="18" charset="0"/>
                </a:rPr>
                <a:t>寄存器</a:t>
              </a:r>
            </a:p>
          </p:txBody>
        </p:sp>
        <p:grpSp>
          <p:nvGrpSpPr>
            <p:cNvPr id="167941" name="Group 11">
              <a:extLst>
                <a:ext uri="{FF2B5EF4-FFF2-40B4-BE49-F238E27FC236}">
                  <a16:creationId xmlns:a16="http://schemas.microsoft.com/office/drawing/2014/main" id="{11DCD406-C56F-C248-B6D0-4C2466C6B0FF}"/>
                </a:ext>
              </a:extLst>
            </p:cNvPr>
            <p:cNvGrpSpPr>
              <a:grpSpLocks/>
            </p:cNvGrpSpPr>
            <p:nvPr/>
          </p:nvGrpSpPr>
          <p:grpSpPr bwMode="auto">
            <a:xfrm>
              <a:off x="1244" y="1824"/>
              <a:ext cx="192" cy="1152"/>
              <a:chOff x="1244" y="1824"/>
              <a:chExt cx="192" cy="1152"/>
            </a:xfrm>
          </p:grpSpPr>
          <p:sp>
            <p:nvSpPr>
              <p:cNvPr id="167942" name="Rectangle 12">
                <a:extLst>
                  <a:ext uri="{FF2B5EF4-FFF2-40B4-BE49-F238E27FC236}">
                    <a16:creationId xmlns:a16="http://schemas.microsoft.com/office/drawing/2014/main" id="{9E3374F8-8227-AD48-B71E-5ACA8712DF71}"/>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1</a:t>
                </a:r>
                <a:endParaRPr lang="en-US" altLang="zh-CN" sz="2400">
                  <a:latin typeface="Times New Roman" panose="02020603050405020304" pitchFamily="18" charset="0"/>
                </a:endParaRPr>
              </a:p>
            </p:txBody>
          </p:sp>
          <p:sp>
            <p:nvSpPr>
              <p:cNvPr id="167943" name="AutoShape 13">
                <a:extLst>
                  <a:ext uri="{FF2B5EF4-FFF2-40B4-BE49-F238E27FC236}">
                    <a16:creationId xmlns:a16="http://schemas.microsoft.com/office/drawing/2014/main" id="{AD108A28-D7BE-D540-AD66-D7CAF88060DB}"/>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44" name="AutoShape 14">
                <a:extLst>
                  <a:ext uri="{FF2B5EF4-FFF2-40B4-BE49-F238E27FC236}">
                    <a16:creationId xmlns:a16="http://schemas.microsoft.com/office/drawing/2014/main" id="{2970FA1E-0863-124B-A2E0-1AEEC6E98F52}"/>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grpSp>
          <p:nvGrpSpPr>
            <p:cNvPr id="167945" name="Group 15">
              <a:extLst>
                <a:ext uri="{FF2B5EF4-FFF2-40B4-BE49-F238E27FC236}">
                  <a16:creationId xmlns:a16="http://schemas.microsoft.com/office/drawing/2014/main" id="{2C3DA583-7222-5447-9605-6A1A3B216B3F}"/>
                </a:ext>
              </a:extLst>
            </p:cNvPr>
            <p:cNvGrpSpPr>
              <a:grpSpLocks/>
            </p:cNvGrpSpPr>
            <p:nvPr/>
          </p:nvGrpSpPr>
          <p:grpSpPr bwMode="auto">
            <a:xfrm>
              <a:off x="1654" y="1824"/>
              <a:ext cx="192" cy="1152"/>
              <a:chOff x="1244" y="1824"/>
              <a:chExt cx="192" cy="1152"/>
            </a:xfrm>
          </p:grpSpPr>
          <p:sp>
            <p:nvSpPr>
              <p:cNvPr id="167946" name="Rectangle 16">
                <a:extLst>
                  <a:ext uri="{FF2B5EF4-FFF2-40B4-BE49-F238E27FC236}">
                    <a16:creationId xmlns:a16="http://schemas.microsoft.com/office/drawing/2014/main" id="{883CB713-5D1F-AA40-B5EE-E2DB7A632911}"/>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2</a:t>
                </a:r>
                <a:endParaRPr lang="en-US" altLang="zh-CN" sz="2400">
                  <a:latin typeface="Times New Roman" panose="02020603050405020304" pitchFamily="18" charset="0"/>
                </a:endParaRPr>
              </a:p>
            </p:txBody>
          </p:sp>
          <p:sp>
            <p:nvSpPr>
              <p:cNvPr id="167947" name="AutoShape 17">
                <a:extLst>
                  <a:ext uri="{FF2B5EF4-FFF2-40B4-BE49-F238E27FC236}">
                    <a16:creationId xmlns:a16="http://schemas.microsoft.com/office/drawing/2014/main" id="{9E10D436-D04A-C04F-82BD-C9DECBCB07F0}"/>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48" name="AutoShape 18">
                <a:extLst>
                  <a:ext uri="{FF2B5EF4-FFF2-40B4-BE49-F238E27FC236}">
                    <a16:creationId xmlns:a16="http://schemas.microsoft.com/office/drawing/2014/main" id="{7A6326E6-6EE6-4443-A22C-70D49F96BFFC}"/>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grpSp>
          <p:nvGrpSpPr>
            <p:cNvPr id="167949" name="Group 19">
              <a:extLst>
                <a:ext uri="{FF2B5EF4-FFF2-40B4-BE49-F238E27FC236}">
                  <a16:creationId xmlns:a16="http://schemas.microsoft.com/office/drawing/2014/main" id="{316F3300-CCDE-E944-99E3-6F072638992A}"/>
                </a:ext>
              </a:extLst>
            </p:cNvPr>
            <p:cNvGrpSpPr>
              <a:grpSpLocks/>
            </p:cNvGrpSpPr>
            <p:nvPr/>
          </p:nvGrpSpPr>
          <p:grpSpPr bwMode="auto">
            <a:xfrm>
              <a:off x="2064" y="1824"/>
              <a:ext cx="192" cy="1152"/>
              <a:chOff x="1244" y="1824"/>
              <a:chExt cx="192" cy="1152"/>
            </a:xfrm>
          </p:grpSpPr>
          <p:sp>
            <p:nvSpPr>
              <p:cNvPr id="167950" name="Rectangle 20">
                <a:extLst>
                  <a:ext uri="{FF2B5EF4-FFF2-40B4-BE49-F238E27FC236}">
                    <a16:creationId xmlns:a16="http://schemas.microsoft.com/office/drawing/2014/main" id="{5E4CE69D-FB7B-5246-9CC6-4AE6B1FF133F}"/>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3</a:t>
                </a:r>
                <a:endParaRPr lang="en-US" altLang="zh-CN" sz="2400">
                  <a:latin typeface="Times New Roman" panose="02020603050405020304" pitchFamily="18" charset="0"/>
                </a:endParaRPr>
              </a:p>
            </p:txBody>
          </p:sp>
          <p:sp>
            <p:nvSpPr>
              <p:cNvPr id="167951" name="AutoShape 21">
                <a:extLst>
                  <a:ext uri="{FF2B5EF4-FFF2-40B4-BE49-F238E27FC236}">
                    <a16:creationId xmlns:a16="http://schemas.microsoft.com/office/drawing/2014/main" id="{E23EB532-9E8C-1241-A93B-A556AFC72673}"/>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52" name="AutoShape 22">
                <a:extLst>
                  <a:ext uri="{FF2B5EF4-FFF2-40B4-BE49-F238E27FC236}">
                    <a16:creationId xmlns:a16="http://schemas.microsoft.com/office/drawing/2014/main" id="{98E21CA5-1972-DA4F-A9AC-C29C8CC05DE5}"/>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grpSp>
          <p:nvGrpSpPr>
            <p:cNvPr id="167953" name="Group 23">
              <a:extLst>
                <a:ext uri="{FF2B5EF4-FFF2-40B4-BE49-F238E27FC236}">
                  <a16:creationId xmlns:a16="http://schemas.microsoft.com/office/drawing/2014/main" id="{FFFA232E-8D6D-EA42-9B9F-ECAEC3364878}"/>
                </a:ext>
              </a:extLst>
            </p:cNvPr>
            <p:cNvGrpSpPr>
              <a:grpSpLocks/>
            </p:cNvGrpSpPr>
            <p:nvPr/>
          </p:nvGrpSpPr>
          <p:grpSpPr bwMode="auto">
            <a:xfrm>
              <a:off x="2496" y="1824"/>
              <a:ext cx="192" cy="1152"/>
              <a:chOff x="1244" y="1824"/>
              <a:chExt cx="192" cy="1152"/>
            </a:xfrm>
          </p:grpSpPr>
          <p:sp>
            <p:nvSpPr>
              <p:cNvPr id="167954" name="Rectangle 24">
                <a:extLst>
                  <a:ext uri="{FF2B5EF4-FFF2-40B4-BE49-F238E27FC236}">
                    <a16:creationId xmlns:a16="http://schemas.microsoft.com/office/drawing/2014/main" id="{F627383A-CD73-8C4D-B322-D1A10F76991D}"/>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4</a:t>
                </a:r>
                <a:endParaRPr lang="en-US" altLang="zh-CN" sz="2400">
                  <a:latin typeface="Times New Roman" panose="02020603050405020304" pitchFamily="18" charset="0"/>
                </a:endParaRPr>
              </a:p>
            </p:txBody>
          </p:sp>
          <p:sp>
            <p:nvSpPr>
              <p:cNvPr id="167955" name="AutoShape 25">
                <a:extLst>
                  <a:ext uri="{FF2B5EF4-FFF2-40B4-BE49-F238E27FC236}">
                    <a16:creationId xmlns:a16="http://schemas.microsoft.com/office/drawing/2014/main" id="{BE0ADC98-F300-0745-843D-2BE08399ED3B}"/>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56" name="AutoShape 26">
                <a:extLst>
                  <a:ext uri="{FF2B5EF4-FFF2-40B4-BE49-F238E27FC236}">
                    <a16:creationId xmlns:a16="http://schemas.microsoft.com/office/drawing/2014/main" id="{6C772DCA-0494-A04A-AD31-224C7D76EE79}"/>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grpSp>
          <p:nvGrpSpPr>
            <p:cNvPr id="167957" name="Group 27">
              <a:extLst>
                <a:ext uri="{FF2B5EF4-FFF2-40B4-BE49-F238E27FC236}">
                  <a16:creationId xmlns:a16="http://schemas.microsoft.com/office/drawing/2014/main" id="{929DE83C-BDDB-6746-923B-ADF21B677DBB}"/>
                </a:ext>
              </a:extLst>
            </p:cNvPr>
            <p:cNvGrpSpPr>
              <a:grpSpLocks/>
            </p:cNvGrpSpPr>
            <p:nvPr/>
          </p:nvGrpSpPr>
          <p:grpSpPr bwMode="auto">
            <a:xfrm>
              <a:off x="2928" y="1824"/>
              <a:ext cx="192" cy="1152"/>
              <a:chOff x="1244" y="1824"/>
              <a:chExt cx="192" cy="1152"/>
            </a:xfrm>
          </p:grpSpPr>
          <p:sp>
            <p:nvSpPr>
              <p:cNvPr id="167958" name="Rectangle 28">
                <a:extLst>
                  <a:ext uri="{FF2B5EF4-FFF2-40B4-BE49-F238E27FC236}">
                    <a16:creationId xmlns:a16="http://schemas.microsoft.com/office/drawing/2014/main" id="{9C39CF03-AA50-C54C-89C3-21F62888973C}"/>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5</a:t>
                </a:r>
                <a:endParaRPr lang="en-US" altLang="zh-CN" sz="2400">
                  <a:latin typeface="Times New Roman" panose="02020603050405020304" pitchFamily="18" charset="0"/>
                </a:endParaRPr>
              </a:p>
            </p:txBody>
          </p:sp>
          <p:sp>
            <p:nvSpPr>
              <p:cNvPr id="167959" name="AutoShape 29">
                <a:extLst>
                  <a:ext uri="{FF2B5EF4-FFF2-40B4-BE49-F238E27FC236}">
                    <a16:creationId xmlns:a16="http://schemas.microsoft.com/office/drawing/2014/main" id="{9A33773B-B984-9344-B577-8CD126EA9D4B}"/>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60" name="AutoShape 30">
                <a:extLst>
                  <a:ext uri="{FF2B5EF4-FFF2-40B4-BE49-F238E27FC236}">
                    <a16:creationId xmlns:a16="http://schemas.microsoft.com/office/drawing/2014/main" id="{8A2FC8E5-D698-6540-A0AE-00BFCDFCA175}"/>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grpSp>
          <p:nvGrpSpPr>
            <p:cNvPr id="167961" name="Group 31">
              <a:extLst>
                <a:ext uri="{FF2B5EF4-FFF2-40B4-BE49-F238E27FC236}">
                  <a16:creationId xmlns:a16="http://schemas.microsoft.com/office/drawing/2014/main" id="{CF7C9221-5408-0145-ACF2-08397BF7884E}"/>
                </a:ext>
              </a:extLst>
            </p:cNvPr>
            <p:cNvGrpSpPr>
              <a:grpSpLocks/>
            </p:cNvGrpSpPr>
            <p:nvPr/>
          </p:nvGrpSpPr>
          <p:grpSpPr bwMode="auto">
            <a:xfrm>
              <a:off x="3360" y="1824"/>
              <a:ext cx="192" cy="1152"/>
              <a:chOff x="1244" y="1824"/>
              <a:chExt cx="192" cy="1152"/>
            </a:xfrm>
          </p:grpSpPr>
          <p:sp>
            <p:nvSpPr>
              <p:cNvPr id="167962" name="Rectangle 32">
                <a:extLst>
                  <a:ext uri="{FF2B5EF4-FFF2-40B4-BE49-F238E27FC236}">
                    <a16:creationId xmlns:a16="http://schemas.microsoft.com/office/drawing/2014/main" id="{EC5AD642-F593-3D43-BCE0-99884E6A5319}"/>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6</a:t>
                </a:r>
                <a:endParaRPr lang="en-US" altLang="zh-CN" sz="2400">
                  <a:latin typeface="Times New Roman" panose="02020603050405020304" pitchFamily="18" charset="0"/>
                </a:endParaRPr>
              </a:p>
            </p:txBody>
          </p:sp>
          <p:sp>
            <p:nvSpPr>
              <p:cNvPr id="167963" name="AutoShape 33">
                <a:extLst>
                  <a:ext uri="{FF2B5EF4-FFF2-40B4-BE49-F238E27FC236}">
                    <a16:creationId xmlns:a16="http://schemas.microsoft.com/office/drawing/2014/main" id="{CB64357E-0ADC-7F45-9010-07A11F3F8ECE}"/>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64" name="AutoShape 34">
                <a:extLst>
                  <a:ext uri="{FF2B5EF4-FFF2-40B4-BE49-F238E27FC236}">
                    <a16:creationId xmlns:a16="http://schemas.microsoft.com/office/drawing/2014/main" id="{0AC498FC-72DB-4441-96B4-AF433E8EAAEA}"/>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grpSp>
          <p:nvGrpSpPr>
            <p:cNvPr id="167965" name="Group 35">
              <a:extLst>
                <a:ext uri="{FF2B5EF4-FFF2-40B4-BE49-F238E27FC236}">
                  <a16:creationId xmlns:a16="http://schemas.microsoft.com/office/drawing/2014/main" id="{4E04304A-B5C2-F748-B8C6-F76FDC1EA88D}"/>
                </a:ext>
              </a:extLst>
            </p:cNvPr>
            <p:cNvGrpSpPr>
              <a:grpSpLocks/>
            </p:cNvGrpSpPr>
            <p:nvPr/>
          </p:nvGrpSpPr>
          <p:grpSpPr bwMode="auto">
            <a:xfrm>
              <a:off x="3792" y="1824"/>
              <a:ext cx="192" cy="1152"/>
              <a:chOff x="1244" y="1824"/>
              <a:chExt cx="192" cy="1152"/>
            </a:xfrm>
          </p:grpSpPr>
          <p:sp>
            <p:nvSpPr>
              <p:cNvPr id="167966" name="Rectangle 36">
                <a:extLst>
                  <a:ext uri="{FF2B5EF4-FFF2-40B4-BE49-F238E27FC236}">
                    <a16:creationId xmlns:a16="http://schemas.microsoft.com/office/drawing/2014/main" id="{224CD1E6-FE16-F649-94D1-9C4A405A0ACF}"/>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7</a:t>
                </a:r>
                <a:endParaRPr lang="en-US" altLang="zh-CN" sz="2400">
                  <a:latin typeface="Times New Roman" panose="02020603050405020304" pitchFamily="18" charset="0"/>
                </a:endParaRPr>
              </a:p>
            </p:txBody>
          </p:sp>
          <p:sp>
            <p:nvSpPr>
              <p:cNvPr id="167967" name="AutoShape 37">
                <a:extLst>
                  <a:ext uri="{FF2B5EF4-FFF2-40B4-BE49-F238E27FC236}">
                    <a16:creationId xmlns:a16="http://schemas.microsoft.com/office/drawing/2014/main" id="{3D3BBC1C-5CE8-B24A-8B70-32CAE2E4D039}"/>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68" name="AutoShape 38">
                <a:extLst>
                  <a:ext uri="{FF2B5EF4-FFF2-40B4-BE49-F238E27FC236}">
                    <a16:creationId xmlns:a16="http://schemas.microsoft.com/office/drawing/2014/main" id="{F6856E85-7635-F848-86BA-45BF3F863CBD}"/>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grpSp>
          <p:nvGrpSpPr>
            <p:cNvPr id="167969" name="Group 39">
              <a:extLst>
                <a:ext uri="{FF2B5EF4-FFF2-40B4-BE49-F238E27FC236}">
                  <a16:creationId xmlns:a16="http://schemas.microsoft.com/office/drawing/2014/main" id="{A07CC392-6B51-8B44-A819-3D0AAA1BBE12}"/>
                </a:ext>
              </a:extLst>
            </p:cNvPr>
            <p:cNvGrpSpPr>
              <a:grpSpLocks/>
            </p:cNvGrpSpPr>
            <p:nvPr/>
          </p:nvGrpSpPr>
          <p:grpSpPr bwMode="auto">
            <a:xfrm>
              <a:off x="4224" y="1824"/>
              <a:ext cx="192" cy="1152"/>
              <a:chOff x="1244" y="1824"/>
              <a:chExt cx="192" cy="1152"/>
            </a:xfrm>
          </p:grpSpPr>
          <p:sp>
            <p:nvSpPr>
              <p:cNvPr id="167970" name="Rectangle 40">
                <a:extLst>
                  <a:ext uri="{FF2B5EF4-FFF2-40B4-BE49-F238E27FC236}">
                    <a16:creationId xmlns:a16="http://schemas.microsoft.com/office/drawing/2014/main" id="{CFBB3024-5964-334F-BE94-5E1C62A2DEBF}"/>
                  </a:ext>
                </a:extLst>
              </p:cNvPr>
              <p:cNvSpPr>
                <a:spLocks noChangeArrowheads="1"/>
              </p:cNvSpPr>
              <p:nvPr/>
            </p:nvSpPr>
            <p:spPr bwMode="auto">
              <a:xfrm>
                <a:off x="1244" y="2149"/>
                <a:ext cx="192" cy="528"/>
              </a:xfrm>
              <a:prstGeom prst="rect">
                <a:avLst/>
              </a:prstGeom>
              <a:solidFill>
                <a:schemeClr val="accent2"/>
              </a:solidFill>
              <a:ln w="38100">
                <a:solidFill>
                  <a:srgbClr val="FF3300"/>
                </a:solidFill>
                <a:miter lim="800000"/>
                <a:headEnd/>
                <a:tailEnd/>
              </a:ln>
            </p:spPr>
            <p:txBody>
              <a:bodyPr wrap="none" anchor="ctr"/>
              <a:lstStyle/>
              <a:p>
                <a:pPr algn="ctr"/>
                <a:r>
                  <a:rPr lang="en-US" altLang="zh-CN" sz="2400">
                    <a:latin typeface="Times New Roman" panose="02020603050405020304" pitchFamily="18" charset="0"/>
                  </a:rPr>
                  <a:t>S</a:t>
                </a:r>
                <a:r>
                  <a:rPr lang="en-US" altLang="zh-CN" sz="2400" baseline="-25000">
                    <a:latin typeface="Times New Roman" panose="02020603050405020304" pitchFamily="18" charset="0"/>
                  </a:rPr>
                  <a:t>8</a:t>
                </a:r>
                <a:endParaRPr lang="en-US" altLang="zh-CN" sz="2400">
                  <a:latin typeface="Times New Roman" panose="02020603050405020304" pitchFamily="18" charset="0"/>
                </a:endParaRPr>
              </a:p>
            </p:txBody>
          </p:sp>
          <p:sp>
            <p:nvSpPr>
              <p:cNvPr id="167971" name="AutoShape 41">
                <a:extLst>
                  <a:ext uri="{FF2B5EF4-FFF2-40B4-BE49-F238E27FC236}">
                    <a16:creationId xmlns:a16="http://schemas.microsoft.com/office/drawing/2014/main" id="{507D8905-2A6A-F14D-9C5D-55FB9A7938BE}"/>
                  </a:ext>
                </a:extLst>
              </p:cNvPr>
              <p:cNvSpPr>
                <a:spLocks noChangeArrowheads="1"/>
              </p:cNvSpPr>
              <p:nvPr/>
            </p:nvSpPr>
            <p:spPr bwMode="auto">
              <a:xfrm>
                <a:off x="1307" y="1824"/>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72" name="AutoShape 42">
                <a:extLst>
                  <a:ext uri="{FF2B5EF4-FFF2-40B4-BE49-F238E27FC236}">
                    <a16:creationId xmlns:a16="http://schemas.microsoft.com/office/drawing/2014/main" id="{55E42A9A-B8F1-984E-8D0F-137A4A458A0D}"/>
                  </a:ext>
                </a:extLst>
              </p:cNvPr>
              <p:cNvSpPr>
                <a:spLocks noChangeArrowheads="1"/>
              </p:cNvSpPr>
              <p:nvPr/>
            </p:nvSpPr>
            <p:spPr bwMode="auto">
              <a:xfrm>
                <a:off x="1318" y="2688"/>
                <a:ext cx="48" cy="288"/>
              </a:xfrm>
              <a:prstGeom prst="downArrow">
                <a:avLst>
                  <a:gd name="adj1" fmla="val 50000"/>
                  <a:gd name="adj2" fmla="val 150000"/>
                </a:avLst>
              </a:prstGeom>
              <a:solidFill>
                <a:srgbClr val="CC3300"/>
              </a:solidFill>
              <a:ln w="38100">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sp>
          <p:nvSpPr>
            <p:cNvPr id="167973" name="AutoShape 43">
              <a:extLst>
                <a:ext uri="{FF2B5EF4-FFF2-40B4-BE49-F238E27FC236}">
                  <a16:creationId xmlns:a16="http://schemas.microsoft.com/office/drawing/2014/main" id="{A89B5EC8-DD2D-764A-A616-5134AEE0B4CD}"/>
                </a:ext>
              </a:extLst>
            </p:cNvPr>
            <p:cNvSpPr>
              <a:spLocks noChangeArrowheads="1"/>
            </p:cNvSpPr>
            <p:nvPr/>
          </p:nvSpPr>
          <p:spPr bwMode="auto">
            <a:xfrm>
              <a:off x="2640" y="1296"/>
              <a:ext cx="288" cy="288"/>
            </a:xfrm>
            <a:prstGeom prst="downArrow">
              <a:avLst>
                <a:gd name="adj1" fmla="val 50000"/>
                <a:gd name="adj2" fmla="val 2500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67974" name="AutoShape 44">
              <a:extLst>
                <a:ext uri="{FF2B5EF4-FFF2-40B4-BE49-F238E27FC236}">
                  <a16:creationId xmlns:a16="http://schemas.microsoft.com/office/drawing/2014/main" id="{D42142AE-75E6-AB49-AA3C-282B0F31AFDE}"/>
                </a:ext>
              </a:extLst>
            </p:cNvPr>
            <p:cNvSpPr>
              <a:spLocks noChangeArrowheads="1"/>
            </p:cNvSpPr>
            <p:nvPr/>
          </p:nvSpPr>
          <p:spPr bwMode="auto">
            <a:xfrm>
              <a:off x="2640" y="3264"/>
              <a:ext cx="288" cy="288"/>
            </a:xfrm>
            <a:prstGeom prst="downArrow">
              <a:avLst>
                <a:gd name="adj1" fmla="val 50000"/>
                <a:gd name="adj2" fmla="val 2500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5" name="Text Box 2">
            <a:extLst>
              <a:ext uri="{FF2B5EF4-FFF2-40B4-BE49-F238E27FC236}">
                <a16:creationId xmlns:a16="http://schemas.microsoft.com/office/drawing/2014/main" id="{6C7E8D7A-C131-1543-87BB-DCF0A7630184}"/>
              </a:ext>
            </a:extLst>
          </p:cNvPr>
          <p:cNvSpPr txBox="1">
            <a:spLocks noChangeArrowheads="1"/>
          </p:cNvSpPr>
          <p:nvPr/>
        </p:nvSpPr>
        <p:spPr bwMode="auto">
          <a:xfrm>
            <a:off x="3946525"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69986" name="Text Box 3">
            <a:extLst>
              <a:ext uri="{FF2B5EF4-FFF2-40B4-BE49-F238E27FC236}">
                <a16:creationId xmlns:a16="http://schemas.microsoft.com/office/drawing/2014/main" id="{18D9FAE2-7765-9F4B-83C2-9803B885F405}"/>
              </a:ext>
            </a:extLst>
          </p:cNvPr>
          <p:cNvSpPr txBox="1">
            <a:spLocks noChangeArrowheads="1"/>
          </p:cNvSpPr>
          <p:nvPr/>
        </p:nvSpPr>
        <p:spPr bwMode="auto">
          <a:xfrm>
            <a:off x="3489325"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69987" name="Text Box 4">
            <a:extLst>
              <a:ext uri="{FF2B5EF4-FFF2-40B4-BE49-F238E27FC236}">
                <a16:creationId xmlns:a16="http://schemas.microsoft.com/office/drawing/2014/main" id="{5B1FAE23-FE4D-CB46-B26F-6248BA5D8C2D}"/>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69988" name="Text Box 5">
            <a:extLst>
              <a:ext uri="{FF2B5EF4-FFF2-40B4-BE49-F238E27FC236}">
                <a16:creationId xmlns:a16="http://schemas.microsoft.com/office/drawing/2014/main" id="{1AC4C814-850C-5D4E-8FD6-DDA876DE7839}"/>
              </a:ext>
            </a:extLst>
          </p:cNvPr>
          <p:cNvSpPr txBox="1">
            <a:spLocks noChangeArrowheads="1"/>
          </p:cNvSpPr>
          <p:nvPr/>
        </p:nvSpPr>
        <p:spPr bwMode="auto">
          <a:xfrm>
            <a:off x="434340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69989" name="Text Box 6">
            <a:extLst>
              <a:ext uri="{FF2B5EF4-FFF2-40B4-BE49-F238E27FC236}">
                <a16:creationId xmlns:a16="http://schemas.microsoft.com/office/drawing/2014/main" id="{11094AC7-225A-C34B-987F-FAE333E9D580}"/>
              </a:ext>
            </a:extLst>
          </p:cNvPr>
          <p:cNvSpPr txBox="1">
            <a:spLocks noChangeArrowheads="1"/>
          </p:cNvSpPr>
          <p:nvPr/>
        </p:nvSpPr>
        <p:spPr bwMode="auto">
          <a:xfrm>
            <a:off x="3260725" y="5354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69990" name="Text Box 7">
            <a:extLst>
              <a:ext uri="{FF2B5EF4-FFF2-40B4-BE49-F238E27FC236}">
                <a16:creationId xmlns:a16="http://schemas.microsoft.com/office/drawing/2014/main" id="{D8A1E6A0-AA95-644C-A957-6A2F3B4880D9}"/>
              </a:ext>
            </a:extLst>
          </p:cNvPr>
          <p:cNvSpPr txBox="1">
            <a:spLocks noChangeArrowheads="1"/>
          </p:cNvSpPr>
          <p:nvPr/>
        </p:nvSpPr>
        <p:spPr bwMode="auto">
          <a:xfrm>
            <a:off x="3336925" y="436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69991" name="Text Box 8">
            <a:extLst>
              <a:ext uri="{FF2B5EF4-FFF2-40B4-BE49-F238E27FC236}">
                <a16:creationId xmlns:a16="http://schemas.microsoft.com/office/drawing/2014/main" id="{89DE6BD9-9D9B-B34A-A066-8E7ACDEE2F75}"/>
              </a:ext>
            </a:extLst>
          </p:cNvPr>
          <p:cNvSpPr txBox="1">
            <a:spLocks noChangeArrowheads="1"/>
          </p:cNvSpPr>
          <p:nvPr/>
        </p:nvSpPr>
        <p:spPr bwMode="auto">
          <a:xfrm>
            <a:off x="3108325" y="4821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4" name="标题 3">
            <a:extLst>
              <a:ext uri="{FF2B5EF4-FFF2-40B4-BE49-F238E27FC236}">
                <a16:creationId xmlns:a16="http://schemas.microsoft.com/office/drawing/2014/main" id="{156A1971-784D-874E-BA29-58FE27EC9A88}"/>
              </a:ext>
            </a:extLst>
          </p:cNvPr>
          <p:cNvSpPr>
            <a:spLocks noGrp="1"/>
          </p:cNvSpPr>
          <p:nvPr>
            <p:ph type="title"/>
          </p:nvPr>
        </p:nvSpPr>
        <p:spPr>
          <a:xfrm>
            <a:off x="1465263" y="365125"/>
            <a:ext cx="9037637" cy="668338"/>
          </a:xfrm>
        </p:spPr>
        <p:txBody>
          <a:bodyPr/>
          <a:lstStyle/>
          <a:p>
            <a:pPr>
              <a:defRPr/>
            </a:pPr>
            <a:r>
              <a:rPr lang="en-US" altLang="zh-CN" dirty="0"/>
              <a:t>DES</a:t>
            </a:r>
            <a:r>
              <a:rPr lang="zh-CN" altLang="en-US" dirty="0"/>
              <a:t>的</a:t>
            </a:r>
            <a:r>
              <a:rPr lang="en-US" altLang="zh-CN" dirty="0"/>
              <a:t>S</a:t>
            </a:r>
            <a:r>
              <a:rPr lang="zh-CN" altLang="en-US" dirty="0"/>
              <a:t>盒</a:t>
            </a:r>
          </a:p>
        </p:txBody>
      </p:sp>
      <p:graphicFrame>
        <p:nvGraphicFramePr>
          <p:cNvPr id="6" name="表格 5">
            <a:extLst>
              <a:ext uri="{FF2B5EF4-FFF2-40B4-BE49-F238E27FC236}">
                <a16:creationId xmlns:a16="http://schemas.microsoft.com/office/drawing/2014/main" id="{71FC95B8-C75E-6540-82DD-C2F31EE09D5D}"/>
              </a:ext>
            </a:extLst>
          </p:cNvPr>
          <p:cNvGraphicFramePr>
            <a:graphicFrameLocks noGrp="1"/>
          </p:cNvGraphicFramePr>
          <p:nvPr/>
        </p:nvGraphicFramePr>
        <p:xfrm>
          <a:off x="1465263" y="1219200"/>
          <a:ext cx="8974137" cy="4876799"/>
        </p:xfrm>
        <a:graphic>
          <a:graphicData uri="http://schemas.openxmlformats.org/drawingml/2006/table">
            <a:tbl>
              <a:tblPr firstRow="1" firstCol="1" lastRow="1" lastCol="1" bandRow="1" bandCol="1">
                <a:tableStyleId>{5C22544A-7EE6-4342-B048-85BDC9FD1C3A}</a:tableStyleId>
              </a:tblPr>
              <a:tblGrid>
                <a:gridCol w="492830">
                  <a:extLst>
                    <a:ext uri="{9D8B030D-6E8A-4147-A177-3AD203B41FA5}">
                      <a16:colId xmlns:a16="http://schemas.microsoft.com/office/drawing/2014/main" val="20000"/>
                    </a:ext>
                  </a:extLst>
                </a:gridCol>
                <a:gridCol w="7961097">
                  <a:extLst>
                    <a:ext uri="{9D8B030D-6E8A-4147-A177-3AD203B41FA5}">
                      <a16:colId xmlns:a16="http://schemas.microsoft.com/office/drawing/2014/main" val="20001"/>
                    </a:ext>
                  </a:extLst>
                </a:gridCol>
                <a:gridCol w="520210">
                  <a:extLst>
                    <a:ext uri="{9D8B030D-6E8A-4147-A177-3AD203B41FA5}">
                      <a16:colId xmlns:a16="http://schemas.microsoft.com/office/drawing/2014/main" val="20002"/>
                    </a:ext>
                  </a:extLst>
                </a:gridCol>
              </a:tblGrid>
              <a:tr h="380999">
                <a:tc>
                  <a:txBody>
                    <a:bodyPr/>
                    <a:lstStyle/>
                    <a:p>
                      <a:pPr algn="just">
                        <a:spcAft>
                          <a:spcPts val="0"/>
                        </a:spcAft>
                      </a:pPr>
                      <a:r>
                        <a:rPr lang="en-US" sz="2400" b="0" kern="100" dirty="0">
                          <a:solidFill>
                            <a:schemeClr val="tx1"/>
                          </a:solidFill>
                          <a:effectLst/>
                        </a:rPr>
                        <a:t> </a:t>
                      </a:r>
                      <a:endParaRPr lang="zh-CN" sz="24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dist">
                        <a:spcAft>
                          <a:spcPts val="0"/>
                        </a:spcAft>
                      </a:pPr>
                      <a:r>
                        <a:rPr lang="en-US" sz="2400" b="0" kern="100">
                          <a:solidFill>
                            <a:schemeClr val="tx1"/>
                          </a:solidFill>
                          <a:effectLst/>
                        </a:rPr>
                        <a:t> 0   1   2   3   4   5   6   7   8   9  10  11  12  13  14  15</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2400" b="0" kern="100">
                          <a:solidFill>
                            <a:schemeClr val="tx1"/>
                          </a:solidFill>
                          <a:effectLst/>
                        </a:rPr>
                        <a:t> </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463040">
                <a:tc>
                  <a:txBody>
                    <a:bodyPr/>
                    <a:lstStyle/>
                    <a:p>
                      <a:pPr algn="just">
                        <a:spcAft>
                          <a:spcPts val="0"/>
                        </a:spcAft>
                      </a:pPr>
                      <a:r>
                        <a:rPr lang="en-US" sz="2400" b="0" kern="100">
                          <a:solidFill>
                            <a:schemeClr val="tx1"/>
                          </a:solidFill>
                          <a:effectLst/>
                        </a:rPr>
                        <a:t>0</a:t>
                      </a:r>
                      <a:endParaRPr lang="zh-CN" sz="2400" b="0" kern="100">
                        <a:solidFill>
                          <a:schemeClr val="tx1"/>
                        </a:solidFill>
                        <a:effectLst/>
                      </a:endParaRPr>
                    </a:p>
                    <a:p>
                      <a:pPr algn="just">
                        <a:spcAft>
                          <a:spcPts val="0"/>
                        </a:spcAft>
                      </a:pPr>
                      <a:r>
                        <a:rPr lang="en-US" sz="2400" b="0" kern="100">
                          <a:solidFill>
                            <a:schemeClr val="tx1"/>
                          </a:solidFill>
                          <a:effectLst/>
                        </a:rPr>
                        <a:t>1</a:t>
                      </a:r>
                      <a:endParaRPr lang="zh-CN" sz="2400" b="0" kern="100">
                        <a:solidFill>
                          <a:schemeClr val="tx1"/>
                        </a:solidFill>
                        <a:effectLst/>
                      </a:endParaRPr>
                    </a:p>
                    <a:p>
                      <a:pPr algn="just">
                        <a:spcAft>
                          <a:spcPts val="0"/>
                        </a:spcAft>
                      </a:pPr>
                      <a:r>
                        <a:rPr lang="en-US" sz="2400" b="0" kern="100">
                          <a:solidFill>
                            <a:schemeClr val="tx1"/>
                          </a:solidFill>
                          <a:effectLst/>
                        </a:rPr>
                        <a:t>2</a:t>
                      </a:r>
                      <a:endParaRPr lang="zh-CN" sz="2400" b="0" kern="100">
                        <a:solidFill>
                          <a:schemeClr val="tx1"/>
                        </a:solidFill>
                        <a:effectLst/>
                      </a:endParaRPr>
                    </a:p>
                    <a:p>
                      <a:pPr algn="just">
                        <a:spcAft>
                          <a:spcPts val="0"/>
                        </a:spcAft>
                      </a:pPr>
                      <a:r>
                        <a:rPr lang="en-US" sz="2400" b="0" kern="100">
                          <a:solidFill>
                            <a:schemeClr val="tx1"/>
                          </a:solidFill>
                          <a:effectLst/>
                        </a:rPr>
                        <a:t>3</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dist">
                        <a:spcAft>
                          <a:spcPts val="0"/>
                        </a:spcAft>
                        <a:tabLst>
                          <a:tab pos="140970" algn="l"/>
                          <a:tab pos="369570" algn="l"/>
                          <a:tab pos="687070" algn="l"/>
                          <a:tab pos="2528570" algn="l"/>
                        </a:tabLst>
                      </a:pPr>
                      <a:r>
                        <a:rPr lang="en-US" sz="2400" b="0" kern="100" dirty="0">
                          <a:solidFill>
                            <a:schemeClr val="tx1"/>
                          </a:solidFill>
                          <a:effectLst/>
                        </a:rPr>
                        <a:t>14   4  13   1   2  15  11   8   3  10   6  12   5   9   0   7</a:t>
                      </a:r>
                      <a:endParaRPr lang="zh-CN" sz="2400" b="0" kern="100" dirty="0">
                        <a:solidFill>
                          <a:schemeClr val="tx1"/>
                        </a:solidFill>
                        <a:effectLst/>
                      </a:endParaRPr>
                    </a:p>
                    <a:p>
                      <a:pPr algn="dist">
                        <a:spcAft>
                          <a:spcPts val="0"/>
                        </a:spcAft>
                      </a:pPr>
                      <a:r>
                        <a:rPr lang="en-US" sz="2400" b="0" kern="100" dirty="0">
                          <a:solidFill>
                            <a:schemeClr val="tx1"/>
                          </a:solidFill>
                          <a:effectLst/>
                        </a:rPr>
                        <a:t> 0  15   7   4  14   2  13   1  10   6  12  11   9   5   3   8</a:t>
                      </a:r>
                      <a:endParaRPr lang="zh-CN" sz="2400" b="0" kern="100" dirty="0">
                        <a:solidFill>
                          <a:schemeClr val="tx1"/>
                        </a:solidFill>
                        <a:effectLst/>
                      </a:endParaRPr>
                    </a:p>
                    <a:p>
                      <a:pPr algn="dist">
                        <a:spcAft>
                          <a:spcPts val="0"/>
                        </a:spcAft>
                      </a:pPr>
                      <a:r>
                        <a:rPr lang="en-US" sz="2400" b="0" kern="100" dirty="0">
                          <a:solidFill>
                            <a:schemeClr val="tx1"/>
                          </a:solidFill>
                          <a:effectLst/>
                        </a:rPr>
                        <a:t> 4   1  14   8  13   6   2  11  15  12   9   7   3  10   5   0</a:t>
                      </a:r>
                      <a:endParaRPr lang="zh-CN" sz="2400" b="0" kern="100" dirty="0">
                        <a:solidFill>
                          <a:schemeClr val="tx1"/>
                        </a:solidFill>
                        <a:effectLst/>
                      </a:endParaRPr>
                    </a:p>
                    <a:p>
                      <a:pPr algn="dist">
                        <a:spcAft>
                          <a:spcPts val="0"/>
                        </a:spcAft>
                      </a:pPr>
                      <a:r>
                        <a:rPr lang="en-US" sz="2400" b="0" kern="100" dirty="0">
                          <a:solidFill>
                            <a:schemeClr val="tx1"/>
                          </a:solidFill>
                          <a:effectLst/>
                        </a:rPr>
                        <a:t>15  12   8   2   4   9   1   7   5  11   3  14  10   0   6  13</a:t>
                      </a:r>
                      <a:endParaRPr lang="zh-CN" sz="24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b="0" kern="100">
                          <a:solidFill>
                            <a:schemeClr val="tx1"/>
                          </a:solidFill>
                          <a:effectLst/>
                        </a:rPr>
                        <a:t>S</a:t>
                      </a:r>
                      <a:r>
                        <a:rPr lang="en-US" sz="2400" b="0" kern="100" baseline="-25000">
                          <a:solidFill>
                            <a:schemeClr val="tx1"/>
                          </a:solidFill>
                          <a:effectLst/>
                        </a:rPr>
                        <a:t>1</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508760">
                <a:tc>
                  <a:txBody>
                    <a:bodyPr/>
                    <a:lstStyle/>
                    <a:p>
                      <a:pPr algn="just">
                        <a:spcAft>
                          <a:spcPts val="0"/>
                        </a:spcAft>
                      </a:pPr>
                      <a:r>
                        <a:rPr lang="en-US" sz="2400" b="0" kern="100">
                          <a:solidFill>
                            <a:schemeClr val="tx1"/>
                          </a:solidFill>
                          <a:effectLst/>
                        </a:rPr>
                        <a:t>0</a:t>
                      </a:r>
                      <a:endParaRPr lang="zh-CN" sz="2400" b="0" kern="100">
                        <a:solidFill>
                          <a:schemeClr val="tx1"/>
                        </a:solidFill>
                        <a:effectLst/>
                      </a:endParaRPr>
                    </a:p>
                    <a:p>
                      <a:pPr algn="just">
                        <a:spcAft>
                          <a:spcPts val="0"/>
                        </a:spcAft>
                      </a:pPr>
                      <a:r>
                        <a:rPr lang="en-US" sz="2400" b="0" kern="100">
                          <a:solidFill>
                            <a:schemeClr val="tx1"/>
                          </a:solidFill>
                          <a:effectLst/>
                        </a:rPr>
                        <a:t>1</a:t>
                      </a:r>
                      <a:endParaRPr lang="zh-CN" sz="2400" b="0" kern="100">
                        <a:solidFill>
                          <a:schemeClr val="tx1"/>
                        </a:solidFill>
                        <a:effectLst/>
                      </a:endParaRPr>
                    </a:p>
                    <a:p>
                      <a:pPr algn="just">
                        <a:spcAft>
                          <a:spcPts val="0"/>
                        </a:spcAft>
                      </a:pPr>
                      <a:r>
                        <a:rPr lang="en-US" sz="2400" b="0" kern="100">
                          <a:solidFill>
                            <a:schemeClr val="tx1"/>
                          </a:solidFill>
                          <a:effectLst/>
                        </a:rPr>
                        <a:t>2</a:t>
                      </a:r>
                      <a:endParaRPr lang="zh-CN" sz="2400" b="0" kern="100">
                        <a:solidFill>
                          <a:schemeClr val="tx1"/>
                        </a:solidFill>
                        <a:effectLst/>
                      </a:endParaRPr>
                    </a:p>
                    <a:p>
                      <a:pPr algn="just">
                        <a:spcAft>
                          <a:spcPts val="0"/>
                        </a:spcAft>
                      </a:pPr>
                      <a:r>
                        <a:rPr lang="en-US" sz="2400" b="0" kern="100">
                          <a:solidFill>
                            <a:schemeClr val="tx1"/>
                          </a:solidFill>
                          <a:effectLst/>
                        </a:rPr>
                        <a:t>3</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dist">
                        <a:spcAft>
                          <a:spcPts val="0"/>
                        </a:spcAft>
                      </a:pPr>
                      <a:r>
                        <a:rPr lang="en-US" sz="2400" b="0" kern="100">
                          <a:solidFill>
                            <a:schemeClr val="tx1"/>
                          </a:solidFill>
                          <a:effectLst/>
                        </a:rPr>
                        <a:t>15   1   8  14   6  11   3   4   9   7   2  13  12   0   5  10</a:t>
                      </a:r>
                      <a:endParaRPr lang="zh-CN" sz="2400" b="0" kern="100">
                        <a:solidFill>
                          <a:schemeClr val="tx1"/>
                        </a:solidFill>
                        <a:effectLst/>
                      </a:endParaRPr>
                    </a:p>
                    <a:p>
                      <a:pPr algn="dist">
                        <a:spcAft>
                          <a:spcPts val="0"/>
                        </a:spcAft>
                      </a:pPr>
                      <a:r>
                        <a:rPr lang="en-US" sz="2400" b="0" kern="100">
                          <a:solidFill>
                            <a:schemeClr val="tx1"/>
                          </a:solidFill>
                          <a:effectLst/>
                        </a:rPr>
                        <a:t> 3  13   4   7  15   2   8  14  12   0   1  10   6   9  11   5</a:t>
                      </a:r>
                      <a:endParaRPr lang="zh-CN" sz="2400" b="0" kern="100">
                        <a:solidFill>
                          <a:schemeClr val="tx1"/>
                        </a:solidFill>
                        <a:effectLst/>
                      </a:endParaRPr>
                    </a:p>
                    <a:p>
                      <a:pPr algn="dist">
                        <a:spcAft>
                          <a:spcPts val="0"/>
                        </a:spcAft>
                      </a:pPr>
                      <a:r>
                        <a:rPr lang="en-US" sz="2400" b="0" kern="100">
                          <a:solidFill>
                            <a:schemeClr val="tx1"/>
                          </a:solidFill>
                          <a:effectLst/>
                        </a:rPr>
                        <a:t> 0  14   7  11  10   4  13   1   5   8  12   6   9   3   2  15</a:t>
                      </a:r>
                      <a:endParaRPr lang="zh-CN" sz="2400" b="0" kern="100">
                        <a:solidFill>
                          <a:schemeClr val="tx1"/>
                        </a:solidFill>
                        <a:effectLst/>
                      </a:endParaRPr>
                    </a:p>
                    <a:p>
                      <a:pPr algn="dist">
                        <a:spcAft>
                          <a:spcPts val="0"/>
                        </a:spcAft>
                      </a:pPr>
                      <a:r>
                        <a:rPr lang="en-US" sz="2400" b="0" kern="100">
                          <a:solidFill>
                            <a:schemeClr val="tx1"/>
                          </a:solidFill>
                          <a:effectLst/>
                        </a:rPr>
                        <a:t>13   8  10   1   3  15   4   2  11   6   7  12   0   5  14   9</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b="0" kern="100">
                          <a:solidFill>
                            <a:schemeClr val="tx1"/>
                          </a:solidFill>
                          <a:effectLst/>
                        </a:rPr>
                        <a:t>S</a:t>
                      </a:r>
                      <a:r>
                        <a:rPr lang="en-US" sz="2400" b="0" kern="100" baseline="-25000">
                          <a:solidFill>
                            <a:schemeClr val="tx1"/>
                          </a:solidFill>
                          <a:effectLst/>
                        </a:rPr>
                        <a:t>2</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524000">
                <a:tc>
                  <a:txBody>
                    <a:bodyPr/>
                    <a:lstStyle/>
                    <a:p>
                      <a:pPr algn="just">
                        <a:spcAft>
                          <a:spcPts val="0"/>
                        </a:spcAft>
                      </a:pPr>
                      <a:r>
                        <a:rPr lang="en-US" sz="2400" b="0" kern="100">
                          <a:solidFill>
                            <a:schemeClr val="tx1"/>
                          </a:solidFill>
                          <a:effectLst/>
                        </a:rPr>
                        <a:t>0</a:t>
                      </a:r>
                      <a:endParaRPr lang="zh-CN" sz="2400" b="0" kern="100">
                        <a:solidFill>
                          <a:schemeClr val="tx1"/>
                        </a:solidFill>
                        <a:effectLst/>
                      </a:endParaRPr>
                    </a:p>
                    <a:p>
                      <a:pPr algn="just">
                        <a:spcAft>
                          <a:spcPts val="0"/>
                        </a:spcAft>
                      </a:pPr>
                      <a:r>
                        <a:rPr lang="en-US" sz="2400" b="0" kern="100">
                          <a:solidFill>
                            <a:schemeClr val="tx1"/>
                          </a:solidFill>
                          <a:effectLst/>
                        </a:rPr>
                        <a:t>1</a:t>
                      </a:r>
                      <a:endParaRPr lang="zh-CN" sz="2400" b="0" kern="100">
                        <a:solidFill>
                          <a:schemeClr val="tx1"/>
                        </a:solidFill>
                        <a:effectLst/>
                      </a:endParaRPr>
                    </a:p>
                    <a:p>
                      <a:pPr algn="just">
                        <a:spcAft>
                          <a:spcPts val="0"/>
                        </a:spcAft>
                      </a:pPr>
                      <a:r>
                        <a:rPr lang="en-US" sz="2400" b="0" kern="100">
                          <a:solidFill>
                            <a:schemeClr val="tx1"/>
                          </a:solidFill>
                          <a:effectLst/>
                        </a:rPr>
                        <a:t>2</a:t>
                      </a:r>
                      <a:endParaRPr lang="zh-CN" sz="2400" b="0" kern="100">
                        <a:solidFill>
                          <a:schemeClr val="tx1"/>
                        </a:solidFill>
                        <a:effectLst/>
                      </a:endParaRPr>
                    </a:p>
                    <a:p>
                      <a:pPr algn="just">
                        <a:spcAft>
                          <a:spcPts val="0"/>
                        </a:spcAft>
                      </a:pPr>
                      <a:r>
                        <a:rPr lang="en-US" sz="2400" b="0" kern="100">
                          <a:solidFill>
                            <a:schemeClr val="tx1"/>
                          </a:solidFill>
                          <a:effectLst/>
                        </a:rPr>
                        <a:t>3</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dist">
                        <a:spcAft>
                          <a:spcPts val="0"/>
                        </a:spcAft>
                      </a:pPr>
                      <a:r>
                        <a:rPr lang="en-US" sz="2400" b="0" kern="100">
                          <a:solidFill>
                            <a:schemeClr val="tx1"/>
                          </a:solidFill>
                          <a:effectLst/>
                        </a:rPr>
                        <a:t>10   0   9  14   6   3  15   5   1  13  12   7  11   4   2   8</a:t>
                      </a:r>
                      <a:endParaRPr lang="zh-CN" sz="2400" b="0" kern="100">
                        <a:solidFill>
                          <a:schemeClr val="tx1"/>
                        </a:solidFill>
                        <a:effectLst/>
                      </a:endParaRPr>
                    </a:p>
                    <a:p>
                      <a:pPr algn="dist">
                        <a:spcAft>
                          <a:spcPts val="0"/>
                        </a:spcAft>
                      </a:pPr>
                      <a:r>
                        <a:rPr lang="en-US" sz="2400" b="0" kern="100">
                          <a:solidFill>
                            <a:schemeClr val="tx1"/>
                          </a:solidFill>
                          <a:effectLst/>
                        </a:rPr>
                        <a:t>13   7   0   9   3   4   6  10   2   8   5  14  12  11  15   1</a:t>
                      </a:r>
                      <a:endParaRPr lang="zh-CN" sz="2400" b="0" kern="100">
                        <a:solidFill>
                          <a:schemeClr val="tx1"/>
                        </a:solidFill>
                        <a:effectLst/>
                      </a:endParaRPr>
                    </a:p>
                    <a:p>
                      <a:pPr algn="dist">
                        <a:spcAft>
                          <a:spcPts val="0"/>
                        </a:spcAft>
                      </a:pPr>
                      <a:r>
                        <a:rPr lang="en-US" sz="2400" b="0" kern="100">
                          <a:solidFill>
                            <a:schemeClr val="tx1"/>
                          </a:solidFill>
                          <a:effectLst/>
                        </a:rPr>
                        <a:t>13   6   4   9   8  15   3   0  11   1   2  12   5  10  14   7</a:t>
                      </a:r>
                      <a:endParaRPr lang="zh-CN" sz="2400" b="0" kern="100">
                        <a:solidFill>
                          <a:schemeClr val="tx1"/>
                        </a:solidFill>
                        <a:effectLst/>
                      </a:endParaRPr>
                    </a:p>
                    <a:p>
                      <a:pPr algn="dist">
                        <a:spcAft>
                          <a:spcPts val="0"/>
                        </a:spcAft>
                      </a:pPr>
                      <a:r>
                        <a:rPr lang="en-US" sz="2400" b="0" kern="100">
                          <a:solidFill>
                            <a:schemeClr val="tx1"/>
                          </a:solidFill>
                          <a:effectLst/>
                        </a:rPr>
                        <a:t> 1  10  13   0   6   9   8   7   4  15  14   3  11   5   2  12</a:t>
                      </a:r>
                      <a:endParaRPr lang="zh-CN" sz="2400" b="0" kern="100">
                        <a:solidFill>
                          <a:schemeClr val="tx1"/>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b="0" kern="100" dirty="0">
                          <a:solidFill>
                            <a:schemeClr val="tx1"/>
                          </a:solidFill>
                          <a:effectLst/>
                        </a:rPr>
                        <a:t>S</a:t>
                      </a:r>
                      <a:r>
                        <a:rPr lang="en-US" sz="2400" b="0" kern="100" baseline="-25000" dirty="0">
                          <a:solidFill>
                            <a:schemeClr val="tx1"/>
                          </a:solidFill>
                          <a:effectLst/>
                        </a:rPr>
                        <a:t>3</a:t>
                      </a:r>
                      <a:endParaRPr lang="zh-CN" sz="24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3" name="Rectangle 2">
            <a:extLst>
              <a:ext uri="{FF2B5EF4-FFF2-40B4-BE49-F238E27FC236}">
                <a16:creationId xmlns:a16="http://schemas.microsoft.com/office/drawing/2014/main" id="{0AE0FB7C-CE16-BA4B-87C5-8F723D67E015}"/>
              </a:ext>
            </a:extLst>
          </p:cNvPr>
          <p:cNvSpPr>
            <a:spLocks noGrp="1" noChangeArrowheads="1"/>
          </p:cNvSpPr>
          <p:nvPr>
            <p:ph type="title"/>
          </p:nvPr>
        </p:nvSpPr>
        <p:spPr>
          <a:xfrm>
            <a:off x="1465263" y="365125"/>
            <a:ext cx="9037637" cy="668338"/>
          </a:xfrm>
        </p:spPr>
        <p:txBody>
          <a:bodyPr/>
          <a:lstStyle/>
          <a:p>
            <a:pPr eaLnBrk="1" hangingPunct="1"/>
            <a:r>
              <a:rPr lang="en-US" altLang="zh-CN">
                <a:solidFill>
                  <a:schemeClr val="hlink"/>
                </a:solidFill>
                <a:latin typeface="Times New Roman" panose="02020603050405020304" pitchFamily="18" charset="0"/>
              </a:rPr>
              <a:t>DES</a:t>
            </a:r>
            <a:r>
              <a:rPr lang="zh-CN" altLang="en-US">
                <a:solidFill>
                  <a:schemeClr val="hlink"/>
                </a:solidFill>
                <a:latin typeface="Times New Roman" panose="02020603050405020304" pitchFamily="18" charset="0"/>
              </a:rPr>
              <a:t>的</a:t>
            </a:r>
            <a:r>
              <a:rPr lang="en-US" altLang="zh-CN">
                <a:solidFill>
                  <a:schemeClr val="hlink"/>
                </a:solidFill>
                <a:latin typeface="Times New Roman" panose="02020603050405020304" pitchFamily="18" charset="0"/>
              </a:rPr>
              <a:t>S-</a:t>
            </a:r>
            <a:r>
              <a:rPr lang="zh-CN" altLang="en-US">
                <a:solidFill>
                  <a:schemeClr val="hlink"/>
                </a:solidFill>
                <a:latin typeface="Times New Roman" panose="02020603050405020304" pitchFamily="18" charset="0"/>
              </a:rPr>
              <a:t>盒的输入和输出关系</a:t>
            </a:r>
          </a:p>
        </p:txBody>
      </p:sp>
      <p:sp>
        <p:nvSpPr>
          <p:cNvPr id="111619" name="Rectangle 3">
            <a:extLst>
              <a:ext uri="{FF2B5EF4-FFF2-40B4-BE49-F238E27FC236}">
                <a16:creationId xmlns:a16="http://schemas.microsoft.com/office/drawing/2014/main" id="{D74A03F6-C2FE-1C49-BB8A-1917CDD494DA}"/>
              </a:ext>
            </a:extLst>
          </p:cNvPr>
          <p:cNvSpPr>
            <a:spLocks noGrp="1" noChangeArrowheads="1"/>
          </p:cNvSpPr>
          <p:nvPr>
            <p:ph idx="1"/>
          </p:nvPr>
        </p:nvSpPr>
        <p:spPr>
          <a:xfrm>
            <a:off x="1524000" y="1465263"/>
            <a:ext cx="10515600" cy="4579937"/>
          </a:xfrm>
        </p:spPr>
        <p:txBody>
          <a:bodyPr/>
          <a:lstStyle/>
          <a:p>
            <a:pPr marL="0" indent="0" eaLnBrk="1" hangingPunct="1">
              <a:buFont typeface="Arial" panose="020B0604020202020204" pitchFamily="34" charset="0"/>
              <a:buNone/>
              <a:defRPr/>
            </a:pPr>
            <a:r>
              <a:rPr lang="en-US" altLang="zh-CN" i="1" dirty="0">
                <a:latin typeface="Times New Roman" panose="02020603050405020304" pitchFamily="18" charset="0"/>
              </a:rPr>
              <a:t>      x</a:t>
            </a:r>
            <a:r>
              <a:rPr lang="en-US" altLang="zh-CN" baseline="-25000" dirty="0">
                <a:latin typeface="Times New Roman" panose="02020603050405020304" pitchFamily="18" charset="0"/>
              </a:rPr>
              <a:t>5   </a:t>
            </a:r>
            <a:r>
              <a:rPr lang="en-US" altLang="zh-CN" i="1" dirty="0">
                <a:latin typeface="Times New Roman" panose="02020603050405020304" pitchFamily="18" charset="0"/>
              </a:rPr>
              <a:t>x</a:t>
            </a:r>
            <a:r>
              <a:rPr lang="en-US" altLang="zh-CN" baseline="-25000" dirty="0">
                <a:latin typeface="Times New Roman" panose="02020603050405020304" pitchFamily="18" charset="0"/>
              </a:rPr>
              <a:t>0                                  </a:t>
            </a:r>
            <a:r>
              <a:rPr lang="en-US" altLang="zh-CN" i="1" dirty="0">
                <a:latin typeface="Times New Roman" panose="02020603050405020304" pitchFamily="18" charset="0"/>
              </a:rPr>
              <a:t>x</a:t>
            </a:r>
            <a:r>
              <a:rPr lang="en-US" altLang="zh-CN" baseline="-25000" dirty="0">
                <a:latin typeface="Times New Roman" panose="02020603050405020304" pitchFamily="18" charset="0"/>
              </a:rPr>
              <a:t>5    </a:t>
            </a:r>
            <a:r>
              <a:rPr lang="en-US" altLang="zh-CN" i="1" dirty="0">
                <a:latin typeface="Times New Roman" panose="02020603050405020304" pitchFamily="18" charset="0"/>
              </a:rPr>
              <a:t>x</a:t>
            </a:r>
            <a:r>
              <a:rPr lang="en-US" altLang="zh-CN" baseline="-25000" dirty="0">
                <a:latin typeface="Times New Roman" panose="02020603050405020304" pitchFamily="18" charset="0"/>
              </a:rPr>
              <a:t>4     </a:t>
            </a:r>
            <a:r>
              <a:rPr lang="en-US" altLang="zh-CN" i="1" dirty="0">
                <a:latin typeface="Times New Roman" panose="02020603050405020304" pitchFamily="18" charset="0"/>
              </a:rPr>
              <a:t>x</a:t>
            </a:r>
            <a:r>
              <a:rPr lang="en-US" altLang="zh-CN" baseline="-25000" dirty="0">
                <a:latin typeface="Times New Roman" panose="02020603050405020304" pitchFamily="18" charset="0"/>
              </a:rPr>
              <a:t>3     </a:t>
            </a:r>
            <a:r>
              <a:rPr lang="en-US" altLang="zh-CN" i="1" dirty="0">
                <a:latin typeface="Times New Roman" panose="02020603050405020304" pitchFamily="18" charset="0"/>
              </a:rPr>
              <a:t>x</a:t>
            </a:r>
            <a:r>
              <a:rPr lang="en-US" altLang="zh-CN" baseline="-25000" dirty="0">
                <a:latin typeface="Times New Roman" panose="02020603050405020304" pitchFamily="18" charset="0"/>
              </a:rPr>
              <a:t>2      </a:t>
            </a:r>
            <a:r>
              <a:rPr lang="en-US" altLang="zh-CN" i="1" dirty="0">
                <a:latin typeface="Times New Roman" panose="02020603050405020304" pitchFamily="18" charset="0"/>
              </a:rPr>
              <a:t>x</a:t>
            </a:r>
            <a:r>
              <a:rPr lang="en-US" altLang="zh-CN" baseline="-25000" dirty="0">
                <a:latin typeface="Times New Roman" panose="02020603050405020304" pitchFamily="18" charset="0"/>
              </a:rPr>
              <a:t>1     </a:t>
            </a:r>
            <a:r>
              <a:rPr lang="en-US" altLang="zh-CN" i="1" dirty="0">
                <a:latin typeface="Times New Roman" panose="02020603050405020304" pitchFamily="18" charset="0"/>
              </a:rPr>
              <a:t>x</a:t>
            </a:r>
            <a:r>
              <a:rPr lang="en-US" altLang="zh-CN" baseline="-25000" dirty="0">
                <a:latin typeface="Times New Roman" panose="02020603050405020304" pitchFamily="18" charset="0"/>
              </a:rPr>
              <a:t>0</a:t>
            </a:r>
          </a:p>
          <a:p>
            <a:pPr eaLnBrk="1" hangingPunct="1">
              <a:buFont typeface="Wingdings" panose="05000000000000000000" pitchFamily="2" charset="2"/>
              <a:buNone/>
              <a:defRPr/>
            </a:pPr>
            <a:r>
              <a:rPr lang="en-US" altLang="zh-CN" dirty="0">
                <a:latin typeface="Times New Roman" panose="02020603050405020304" pitchFamily="18" charset="0"/>
              </a:rPr>
              <a:t>      1   0                       1    0     1    1     0     0</a:t>
            </a:r>
          </a:p>
          <a:p>
            <a:pPr eaLnBrk="1" hangingPunct="1">
              <a:defRPr/>
            </a:pPr>
            <a:endParaRPr lang="en-US" altLang="zh-CN" dirty="0">
              <a:latin typeface="Times New Roman" panose="02020603050405020304" pitchFamily="18" charset="0"/>
            </a:endParaRPr>
          </a:p>
          <a:p>
            <a:pPr eaLnBrk="1" hangingPunct="1">
              <a:spcAft>
                <a:spcPts val="600"/>
              </a:spcAft>
              <a:buFont typeface="Arial" panose="020B0604020202020204" pitchFamily="34" charset="0"/>
              <a:buNone/>
              <a:defRPr/>
            </a:pPr>
            <a:r>
              <a:rPr lang="en-US" altLang="zh-CN" dirty="0">
                <a:latin typeface="Times New Roman" panose="02020603050405020304" pitchFamily="18" charset="0"/>
              </a:rPr>
              <a:t>           </a:t>
            </a:r>
            <a:r>
              <a:rPr lang="zh-CN" altLang="en-US" dirty="0">
                <a:latin typeface="Times New Roman" panose="02020603050405020304" pitchFamily="18" charset="0"/>
              </a:rPr>
              <a:t>列号    </a:t>
            </a:r>
            <a:r>
              <a:rPr lang="en-US" altLang="zh-CN" dirty="0">
                <a:latin typeface="Times New Roman" panose="02020603050405020304" pitchFamily="18" charset="0"/>
              </a:rPr>
              <a:t>0   1   2   3   4   5   6   7   8   9  10  11  12  13  14  15</a:t>
            </a:r>
          </a:p>
          <a:p>
            <a:pPr eaLnBrk="1" hangingPunct="1">
              <a:spcAft>
                <a:spcPts val="600"/>
              </a:spcAft>
              <a:buFont typeface="Arial" panose="020B0604020202020204" pitchFamily="34" charset="0"/>
              <a:buNone/>
              <a:defRPr/>
            </a:pPr>
            <a:r>
              <a:rPr lang="en-US" altLang="zh-CN" dirty="0">
                <a:latin typeface="Times New Roman" panose="02020603050405020304" pitchFamily="18" charset="0"/>
              </a:rPr>
              <a:t>     </a:t>
            </a:r>
            <a:r>
              <a:rPr lang="zh-CN" altLang="en-US" dirty="0">
                <a:latin typeface="Times New Roman" panose="02020603050405020304" pitchFamily="18" charset="0"/>
              </a:rPr>
              <a:t>行号</a:t>
            </a:r>
          </a:p>
          <a:p>
            <a:pPr eaLnBrk="1" hangingPunct="1">
              <a:spcAft>
                <a:spcPts val="600"/>
              </a:spcAft>
              <a:buFont typeface="Arial" panose="020B0604020202020204" pitchFamily="34" charset="0"/>
              <a:buNone/>
              <a:defRPr/>
            </a:pPr>
            <a:r>
              <a:rPr lang="zh-CN" altLang="en-US" dirty="0">
                <a:latin typeface="Times New Roman" panose="02020603050405020304" pitchFamily="18" charset="0"/>
              </a:rPr>
              <a:t>        </a:t>
            </a:r>
            <a:r>
              <a:rPr lang="en-US" altLang="zh-CN" dirty="0">
                <a:latin typeface="Times New Roman" panose="02020603050405020304" pitchFamily="18" charset="0"/>
              </a:rPr>
              <a:t>0           14  4   13  1   2   15  11  8   3   10  6   12  5   9   0   7  </a:t>
            </a:r>
          </a:p>
          <a:p>
            <a:pPr eaLnBrk="1" hangingPunct="1">
              <a:spcAft>
                <a:spcPts val="600"/>
              </a:spcAft>
              <a:buFont typeface="Arial" panose="020B0604020202020204" pitchFamily="34" charset="0"/>
              <a:buNone/>
              <a:defRPr/>
            </a:pPr>
            <a:r>
              <a:rPr lang="en-US" altLang="zh-CN" dirty="0">
                <a:latin typeface="Times New Roman" panose="02020603050405020304" pitchFamily="18" charset="0"/>
              </a:rPr>
              <a:t>        1            0  15   7   4  14   2   13  1  10   6  12  11  9   5   3   8</a:t>
            </a:r>
          </a:p>
          <a:p>
            <a:pPr eaLnBrk="1" hangingPunct="1">
              <a:spcAft>
                <a:spcPts val="600"/>
              </a:spcAft>
              <a:buFont typeface="Arial" panose="020B0604020202020204" pitchFamily="34" charset="0"/>
              <a:buNone/>
              <a:defRPr/>
            </a:pPr>
            <a:r>
              <a:rPr lang="en-US" altLang="zh-CN" dirty="0">
                <a:latin typeface="Times New Roman" panose="02020603050405020304" pitchFamily="18" charset="0"/>
              </a:rPr>
              <a:t>        2            4   1   14  8  13   6    2  11  15  12   9   7   3  10  5   0</a:t>
            </a:r>
          </a:p>
          <a:p>
            <a:pPr eaLnBrk="1" hangingPunct="1">
              <a:spcAft>
                <a:spcPts val="600"/>
              </a:spcAft>
              <a:buFont typeface="Arial" panose="020B0604020202020204" pitchFamily="34" charset="0"/>
              <a:buNone/>
              <a:defRPr/>
            </a:pPr>
            <a:r>
              <a:rPr lang="en-US" altLang="zh-CN" dirty="0">
                <a:latin typeface="Times New Roman" panose="02020603050405020304" pitchFamily="18" charset="0"/>
              </a:rPr>
              <a:t>        3           15 12   8   2    4   9    1   7    5   11   2  14 10  0   6  13</a:t>
            </a:r>
          </a:p>
          <a:p>
            <a:pPr eaLnBrk="1" hangingPunct="1">
              <a:buFont typeface="Wingdings" panose="05000000000000000000" pitchFamily="2" charset="2"/>
              <a:buNone/>
              <a:defRPr/>
            </a:pPr>
            <a:r>
              <a:rPr lang="zh-CN" altLang="zh-CN" dirty="0">
                <a:latin typeface="Times New Roman" panose="02020603050405020304" pitchFamily="18" charset="0"/>
              </a:rPr>
              <a:t>                                                                </a:t>
            </a:r>
            <a:endParaRPr lang="en-US" altLang="zh-CN" dirty="0">
              <a:latin typeface="Times New Roman" panose="02020603050405020304" pitchFamily="18" charset="0"/>
            </a:endParaRPr>
          </a:p>
        </p:txBody>
      </p:sp>
      <p:sp>
        <p:nvSpPr>
          <p:cNvPr id="172035" name="Text Box 4">
            <a:extLst>
              <a:ext uri="{FF2B5EF4-FFF2-40B4-BE49-F238E27FC236}">
                <a16:creationId xmlns:a16="http://schemas.microsoft.com/office/drawing/2014/main" id="{09C69B1C-6569-A645-9B20-2CF1F49F619A}"/>
              </a:ext>
            </a:extLst>
          </p:cNvPr>
          <p:cNvSpPr txBox="1">
            <a:spLocks noChangeArrowheads="1"/>
          </p:cNvSpPr>
          <p:nvPr/>
        </p:nvSpPr>
        <p:spPr bwMode="auto">
          <a:xfrm>
            <a:off x="4646613" y="3602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72036" name="Text Box 5">
            <a:extLst>
              <a:ext uri="{FF2B5EF4-FFF2-40B4-BE49-F238E27FC236}">
                <a16:creationId xmlns:a16="http://schemas.microsoft.com/office/drawing/2014/main" id="{44E1FD9A-3319-254A-BBF4-E1AB3FD3EF5E}"/>
              </a:ext>
            </a:extLst>
          </p:cNvPr>
          <p:cNvSpPr txBox="1">
            <a:spLocks noChangeArrowheads="1"/>
          </p:cNvSpPr>
          <p:nvPr/>
        </p:nvSpPr>
        <p:spPr bwMode="auto">
          <a:xfrm>
            <a:off x="4189413" y="459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72037" name="Text Box 6">
            <a:extLst>
              <a:ext uri="{FF2B5EF4-FFF2-40B4-BE49-F238E27FC236}">
                <a16:creationId xmlns:a16="http://schemas.microsoft.com/office/drawing/2014/main" id="{4BE948EF-9FC8-274F-A599-3876FEB39613}"/>
              </a:ext>
            </a:extLst>
          </p:cNvPr>
          <p:cNvSpPr txBox="1">
            <a:spLocks noChangeArrowheads="1"/>
          </p:cNvSpPr>
          <p:nvPr/>
        </p:nvSpPr>
        <p:spPr bwMode="auto">
          <a:xfrm>
            <a:off x="5256213"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72038" name="Text Box 8">
            <a:extLst>
              <a:ext uri="{FF2B5EF4-FFF2-40B4-BE49-F238E27FC236}">
                <a16:creationId xmlns:a16="http://schemas.microsoft.com/office/drawing/2014/main" id="{09481E10-25BB-184F-ACBD-1D80853E1ED1}"/>
              </a:ext>
            </a:extLst>
          </p:cNvPr>
          <p:cNvSpPr txBox="1">
            <a:spLocks noChangeArrowheads="1"/>
          </p:cNvSpPr>
          <p:nvPr/>
        </p:nvSpPr>
        <p:spPr bwMode="auto">
          <a:xfrm>
            <a:off x="5027613" y="2763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72039" name="Text Box 9">
            <a:extLst>
              <a:ext uri="{FF2B5EF4-FFF2-40B4-BE49-F238E27FC236}">
                <a16:creationId xmlns:a16="http://schemas.microsoft.com/office/drawing/2014/main" id="{B414104C-781F-1142-AC6C-A4F4C210CC51}"/>
              </a:ext>
            </a:extLst>
          </p:cNvPr>
          <p:cNvSpPr txBox="1">
            <a:spLocks noChangeArrowheads="1"/>
          </p:cNvSpPr>
          <p:nvPr/>
        </p:nvSpPr>
        <p:spPr bwMode="auto">
          <a:xfrm>
            <a:off x="3808413" y="4287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grpSp>
        <p:nvGrpSpPr>
          <p:cNvPr id="172040" name="Group 10">
            <a:extLst>
              <a:ext uri="{FF2B5EF4-FFF2-40B4-BE49-F238E27FC236}">
                <a16:creationId xmlns:a16="http://schemas.microsoft.com/office/drawing/2014/main" id="{51DE0A54-DFBE-9D4A-9251-652C49FBE229}"/>
              </a:ext>
            </a:extLst>
          </p:cNvPr>
          <p:cNvGrpSpPr>
            <a:grpSpLocks/>
          </p:cNvGrpSpPr>
          <p:nvPr/>
        </p:nvGrpSpPr>
        <p:grpSpPr bwMode="auto">
          <a:xfrm>
            <a:off x="1892300" y="2713038"/>
            <a:ext cx="8029575" cy="3201987"/>
            <a:chOff x="528" y="1968"/>
            <a:chExt cx="4944" cy="1872"/>
          </a:xfrm>
        </p:grpSpPr>
        <p:sp>
          <p:nvSpPr>
            <p:cNvPr id="172041" name="Rectangle 11">
              <a:extLst>
                <a:ext uri="{FF2B5EF4-FFF2-40B4-BE49-F238E27FC236}">
                  <a16:creationId xmlns:a16="http://schemas.microsoft.com/office/drawing/2014/main" id="{837E4348-3593-AB45-8100-023C49567A20}"/>
                </a:ext>
              </a:extLst>
            </p:cNvPr>
            <p:cNvSpPr>
              <a:spLocks noChangeArrowheads="1"/>
            </p:cNvSpPr>
            <p:nvPr/>
          </p:nvSpPr>
          <p:spPr bwMode="auto">
            <a:xfrm>
              <a:off x="528" y="1968"/>
              <a:ext cx="4944" cy="1872"/>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172042" name="Line 12">
              <a:extLst>
                <a:ext uri="{FF2B5EF4-FFF2-40B4-BE49-F238E27FC236}">
                  <a16:creationId xmlns:a16="http://schemas.microsoft.com/office/drawing/2014/main" id="{356855F6-6B38-E644-8298-994CE4ED6DF9}"/>
                </a:ext>
              </a:extLst>
            </p:cNvPr>
            <p:cNvSpPr>
              <a:spLocks noChangeShapeType="1"/>
            </p:cNvSpPr>
            <p:nvPr/>
          </p:nvSpPr>
          <p:spPr bwMode="auto">
            <a:xfrm>
              <a:off x="528" y="2544"/>
              <a:ext cx="4944" cy="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72043" name="Line 13">
              <a:extLst>
                <a:ext uri="{FF2B5EF4-FFF2-40B4-BE49-F238E27FC236}">
                  <a16:creationId xmlns:a16="http://schemas.microsoft.com/office/drawing/2014/main" id="{2699DF78-78FE-7F4F-A6C9-13CA8A8C0477}"/>
                </a:ext>
              </a:extLst>
            </p:cNvPr>
            <p:cNvSpPr>
              <a:spLocks noChangeShapeType="1"/>
            </p:cNvSpPr>
            <p:nvPr/>
          </p:nvSpPr>
          <p:spPr bwMode="auto">
            <a:xfrm>
              <a:off x="1248" y="1968"/>
              <a:ext cx="0" cy="1872"/>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72044" name="Line 14">
              <a:extLst>
                <a:ext uri="{FF2B5EF4-FFF2-40B4-BE49-F238E27FC236}">
                  <a16:creationId xmlns:a16="http://schemas.microsoft.com/office/drawing/2014/main" id="{55B7E2E4-DB10-764A-8D53-95D65058F29C}"/>
                </a:ext>
              </a:extLst>
            </p:cNvPr>
            <p:cNvSpPr>
              <a:spLocks noChangeShapeType="1"/>
            </p:cNvSpPr>
            <p:nvPr/>
          </p:nvSpPr>
          <p:spPr bwMode="auto">
            <a:xfrm>
              <a:off x="528" y="1968"/>
              <a:ext cx="720" cy="576"/>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grpSp>
      <p:sp>
        <p:nvSpPr>
          <p:cNvPr id="172045" name="AutoShape 15">
            <a:extLst>
              <a:ext uri="{FF2B5EF4-FFF2-40B4-BE49-F238E27FC236}">
                <a16:creationId xmlns:a16="http://schemas.microsoft.com/office/drawing/2014/main" id="{2475204C-5B27-3840-BEB3-0C24DC9392F4}"/>
              </a:ext>
            </a:extLst>
          </p:cNvPr>
          <p:cNvSpPr>
            <a:spLocks/>
          </p:cNvSpPr>
          <p:nvPr/>
        </p:nvSpPr>
        <p:spPr bwMode="auto">
          <a:xfrm rot="-5400000">
            <a:off x="5610225" y="1443038"/>
            <a:ext cx="228600" cy="1905000"/>
          </a:xfrm>
          <a:prstGeom prst="leftBrace">
            <a:avLst>
              <a:gd name="adj1" fmla="val 69136"/>
              <a:gd name="adj2" fmla="val 50000"/>
            </a:avLst>
          </a:pr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172046" name="Line 16">
            <a:extLst>
              <a:ext uri="{FF2B5EF4-FFF2-40B4-BE49-F238E27FC236}">
                <a16:creationId xmlns:a16="http://schemas.microsoft.com/office/drawing/2014/main" id="{BFB3FD14-DE02-3A41-93B3-D7B64DCF3937}"/>
              </a:ext>
            </a:extLst>
          </p:cNvPr>
          <p:cNvSpPr>
            <a:spLocks noChangeShapeType="1"/>
          </p:cNvSpPr>
          <p:nvPr/>
        </p:nvSpPr>
        <p:spPr bwMode="auto">
          <a:xfrm rot="20859308" flipH="1">
            <a:off x="5683250" y="2516188"/>
            <a:ext cx="87313" cy="422275"/>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72047" name="AutoShape 17">
            <a:extLst>
              <a:ext uri="{FF2B5EF4-FFF2-40B4-BE49-F238E27FC236}">
                <a16:creationId xmlns:a16="http://schemas.microsoft.com/office/drawing/2014/main" id="{EEC1C1D6-2C58-DB4B-AB3A-22D9AA7C70C5}"/>
              </a:ext>
            </a:extLst>
          </p:cNvPr>
          <p:cNvSpPr>
            <a:spLocks/>
          </p:cNvSpPr>
          <p:nvPr/>
        </p:nvSpPr>
        <p:spPr bwMode="auto">
          <a:xfrm rot="-5400000">
            <a:off x="2262188" y="2006600"/>
            <a:ext cx="76200" cy="685800"/>
          </a:xfrm>
          <a:prstGeom prst="leftBrace">
            <a:avLst>
              <a:gd name="adj1" fmla="val 75000"/>
              <a:gd name="adj2" fmla="val 50000"/>
            </a:avLst>
          </a:pr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172048" name="Line 18">
            <a:extLst>
              <a:ext uri="{FF2B5EF4-FFF2-40B4-BE49-F238E27FC236}">
                <a16:creationId xmlns:a16="http://schemas.microsoft.com/office/drawing/2014/main" id="{B4E569C7-881C-0A44-8E1C-294FF5521DC2}"/>
              </a:ext>
            </a:extLst>
          </p:cNvPr>
          <p:cNvSpPr>
            <a:spLocks noChangeShapeType="1"/>
          </p:cNvSpPr>
          <p:nvPr/>
        </p:nvSpPr>
        <p:spPr bwMode="auto">
          <a:xfrm>
            <a:off x="2300288" y="2362200"/>
            <a:ext cx="0" cy="266700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72049" name="Oval 19">
            <a:extLst>
              <a:ext uri="{FF2B5EF4-FFF2-40B4-BE49-F238E27FC236}">
                <a16:creationId xmlns:a16="http://schemas.microsoft.com/office/drawing/2014/main" id="{4A1F9015-1775-114E-BB7E-5C4DBC468903}"/>
              </a:ext>
            </a:extLst>
          </p:cNvPr>
          <p:cNvSpPr>
            <a:spLocks noChangeArrowheads="1"/>
          </p:cNvSpPr>
          <p:nvPr/>
        </p:nvSpPr>
        <p:spPr bwMode="auto">
          <a:xfrm>
            <a:off x="5653088" y="4953000"/>
            <a:ext cx="381000" cy="457200"/>
          </a:xfrm>
          <a:prstGeom prst="ellipse">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172050" name="AutoShape 20">
            <a:extLst>
              <a:ext uri="{FF2B5EF4-FFF2-40B4-BE49-F238E27FC236}">
                <a16:creationId xmlns:a16="http://schemas.microsoft.com/office/drawing/2014/main" id="{38BE355A-6B25-C446-AC15-1271D11EAD2E}"/>
              </a:ext>
            </a:extLst>
          </p:cNvPr>
          <p:cNvSpPr>
            <a:spLocks/>
          </p:cNvSpPr>
          <p:nvPr/>
        </p:nvSpPr>
        <p:spPr bwMode="auto">
          <a:xfrm>
            <a:off x="7886700" y="1600200"/>
            <a:ext cx="1728788" cy="928688"/>
          </a:xfrm>
          <a:prstGeom prst="borderCallout1">
            <a:avLst>
              <a:gd name="adj1" fmla="val 48213"/>
              <a:gd name="adj2" fmla="val -1796"/>
              <a:gd name="adj3" fmla="val 360944"/>
              <a:gd name="adj4" fmla="val -111671"/>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p>
            <a:pPr algn="ctr"/>
            <a:r>
              <a:rPr lang="zh-CN" altLang="zh-CN" sz="2400" b="1">
                <a:latin typeface="Times New Roman" panose="02020603050405020304" pitchFamily="18" charset="0"/>
              </a:rPr>
              <a:t>(</a:t>
            </a:r>
            <a:r>
              <a:rPr lang="en-US" altLang="zh-CN" sz="2400" b="1" i="1">
                <a:latin typeface="Times New Roman" panose="02020603050405020304" pitchFamily="18" charset="0"/>
              </a:rPr>
              <a:t>y</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b="1" i="1">
                <a:latin typeface="Times New Roman" panose="02020603050405020304" pitchFamily="18" charset="0"/>
              </a:rPr>
              <a:t>,</a:t>
            </a:r>
            <a:r>
              <a:rPr lang="en-US" altLang="zh-CN" sz="2400" b="1">
                <a:latin typeface="Times New Roman" panose="02020603050405020304" pitchFamily="18" charset="0"/>
              </a:rPr>
              <a:t> </a:t>
            </a:r>
            <a:r>
              <a:rPr lang="en-US" altLang="zh-CN" sz="2400" b="1" i="1">
                <a:latin typeface="Times New Roman" panose="02020603050405020304" pitchFamily="18" charset="0"/>
              </a:rPr>
              <a:t>y</a:t>
            </a:r>
            <a:r>
              <a:rPr lang="en-US" altLang="zh-CN" sz="2400" b="1" baseline="-25000">
                <a:latin typeface="Times New Roman" panose="02020603050405020304" pitchFamily="18" charset="0"/>
              </a:rPr>
              <a:t>2</a:t>
            </a:r>
            <a:r>
              <a:rPr lang="en-US" altLang="zh-CN" sz="2400" b="1" i="1">
                <a:latin typeface="Times New Roman" panose="02020603050405020304" pitchFamily="18" charset="0"/>
              </a:rPr>
              <a:t>,</a:t>
            </a:r>
            <a:r>
              <a:rPr lang="en-US" altLang="zh-CN" sz="2400" b="1">
                <a:latin typeface="Times New Roman" panose="02020603050405020304" pitchFamily="18" charset="0"/>
              </a:rPr>
              <a:t> </a:t>
            </a:r>
            <a:r>
              <a:rPr lang="en-US" altLang="zh-CN" sz="2400" b="1" i="1">
                <a:latin typeface="Times New Roman" panose="02020603050405020304" pitchFamily="18" charset="0"/>
              </a:rPr>
              <a:t>y</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a:t>
            </a:r>
            <a:r>
              <a:rPr lang="en-US" altLang="zh-CN" sz="2400" b="1" i="1">
                <a:latin typeface="Times New Roman" panose="02020603050405020304" pitchFamily="18" charset="0"/>
              </a:rPr>
              <a:t>,</a:t>
            </a:r>
            <a:r>
              <a:rPr lang="en-US" altLang="zh-CN" sz="2400" b="1">
                <a:latin typeface="Times New Roman" panose="02020603050405020304" pitchFamily="18" charset="0"/>
              </a:rPr>
              <a:t> y</a:t>
            </a:r>
            <a:r>
              <a:rPr lang="en-US" altLang="zh-CN" sz="2400" b="1" baseline="-25000">
                <a:latin typeface="Times New Roman" panose="02020603050405020304" pitchFamily="18" charset="0"/>
              </a:rPr>
              <a:t>0</a:t>
            </a:r>
            <a:r>
              <a:rPr lang="en-US" altLang="zh-CN" sz="2400" b="1">
                <a:latin typeface="Times New Roman" panose="02020603050405020304" pitchFamily="18" charset="0"/>
              </a:rPr>
              <a:t>)=(0,0,1,0)</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标题 3">
            <a:extLst>
              <a:ext uri="{FF2B5EF4-FFF2-40B4-BE49-F238E27FC236}">
                <a16:creationId xmlns:a16="http://schemas.microsoft.com/office/drawing/2014/main" id="{941072F4-3165-8543-9E6D-82BDBFFC1372}"/>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P</a:t>
            </a:r>
            <a:r>
              <a:rPr lang="zh-CN" altLang="en-US">
                <a:solidFill>
                  <a:srgbClr val="1F4E79"/>
                </a:solidFill>
              </a:rPr>
              <a:t>盒置换</a:t>
            </a:r>
          </a:p>
        </p:txBody>
      </p:sp>
      <p:sp>
        <p:nvSpPr>
          <p:cNvPr id="174082" name="内容占位符 4">
            <a:extLst>
              <a:ext uri="{FF2B5EF4-FFF2-40B4-BE49-F238E27FC236}">
                <a16:creationId xmlns:a16="http://schemas.microsoft.com/office/drawing/2014/main" id="{C9B61747-2E08-0F46-B19E-90F4F917627E}"/>
              </a:ext>
            </a:extLst>
          </p:cNvPr>
          <p:cNvSpPr>
            <a:spLocks noGrp="1" noChangeArrowheads="1"/>
          </p:cNvSpPr>
          <p:nvPr>
            <p:ph idx="1"/>
          </p:nvPr>
        </p:nvSpPr>
        <p:spPr>
          <a:xfrm>
            <a:off x="823913" y="1465263"/>
            <a:ext cx="10515600" cy="4579937"/>
          </a:xfrm>
        </p:spPr>
        <p:txBody>
          <a:bodyPr/>
          <a:lstStyle/>
          <a:p>
            <a:pPr eaLnBrk="1" hangingPunct="1">
              <a:lnSpc>
                <a:spcPct val="120000"/>
              </a:lnSpc>
              <a:spcBef>
                <a:spcPct val="20000"/>
              </a:spcBef>
              <a:buClr>
                <a:srgbClr val="A50021"/>
              </a:buClr>
              <a:buSzPct val="75000"/>
              <a:buFont typeface="Wingdings" pitchFamily="2" charset="2"/>
              <a:buNone/>
            </a:pPr>
            <a:r>
              <a:rPr lang="zh-CN" altLang="en-US">
                <a:latin typeface="Times New Roman" panose="02020603050405020304" pitchFamily="18" charset="0"/>
              </a:rPr>
              <a:t>将</a:t>
            </a:r>
            <a:r>
              <a:rPr lang="en-US" altLang="zh-CN">
                <a:latin typeface="Times New Roman" panose="02020603050405020304" pitchFamily="18" charset="0"/>
              </a:rPr>
              <a:t>S-</a:t>
            </a:r>
            <a:r>
              <a:rPr lang="zh-CN" altLang="en-US">
                <a:latin typeface="Times New Roman" panose="02020603050405020304" pitchFamily="18" charset="0"/>
              </a:rPr>
              <a:t>盒变换后的</a:t>
            </a:r>
            <a:r>
              <a:rPr lang="zh-CN" altLang="zh-CN">
                <a:latin typeface="Times New Roman" panose="02020603050405020304" pitchFamily="18" charset="0"/>
              </a:rPr>
              <a:t>32</a:t>
            </a:r>
            <a:r>
              <a:rPr lang="zh-CN" altLang="en-US">
                <a:latin typeface="Times New Roman" panose="02020603050405020304" pitchFamily="18" charset="0"/>
              </a:rPr>
              <a:t>比特数据再进行</a:t>
            </a:r>
            <a:r>
              <a:rPr lang="en-US" altLang="zh-CN">
                <a:latin typeface="Times New Roman" panose="02020603050405020304" pitchFamily="18" charset="0"/>
              </a:rPr>
              <a:t>P</a:t>
            </a:r>
            <a:r>
              <a:rPr lang="zh-CN" altLang="en-US">
                <a:latin typeface="Times New Roman" panose="02020603050405020304" pitchFamily="18" charset="0"/>
              </a:rPr>
              <a:t>盒置换，置换后得到的</a:t>
            </a:r>
            <a:r>
              <a:rPr lang="zh-CN" altLang="zh-CN">
                <a:latin typeface="Times New Roman" panose="02020603050405020304" pitchFamily="18" charset="0"/>
              </a:rPr>
              <a:t>32</a:t>
            </a:r>
            <a:r>
              <a:rPr lang="zh-CN" altLang="en-US">
                <a:latin typeface="Times New Roman" panose="02020603050405020304" pitchFamily="18" charset="0"/>
              </a:rPr>
              <a:t>比特即为 </a:t>
            </a:r>
            <a:r>
              <a:rPr lang="en-US" altLang="zh-CN" i="1">
                <a:latin typeface="Times New Roman" panose="02020603050405020304" pitchFamily="18" charset="0"/>
              </a:rPr>
              <a:t>f </a:t>
            </a:r>
            <a:r>
              <a:rPr lang="zh-CN" altLang="en-US">
                <a:latin typeface="Times New Roman" panose="02020603050405020304" pitchFamily="18" charset="0"/>
              </a:rPr>
              <a:t>函数的输出。</a:t>
            </a:r>
            <a:endParaRPr lang="en-US" altLang="zh-CN">
              <a:latin typeface="Times New Roman" panose="02020603050405020304" pitchFamily="18" charset="0"/>
            </a:endParaRPr>
          </a:p>
          <a:p>
            <a:pPr eaLnBrk="1" hangingPunct="1">
              <a:lnSpc>
                <a:spcPct val="115000"/>
              </a:lnSpc>
            </a:pPr>
            <a:r>
              <a:rPr lang="zh-CN" altLang="zh-CN">
                <a:latin typeface="Times New Roman" panose="02020603050405020304" pitchFamily="18" charset="0"/>
              </a:rPr>
              <a:t>基本特点： </a:t>
            </a:r>
          </a:p>
          <a:p>
            <a:pPr eaLnBrk="1" hangingPunct="1">
              <a:lnSpc>
                <a:spcPct val="115000"/>
              </a:lnSpc>
            </a:pPr>
            <a:r>
              <a:rPr lang="zh-CN" altLang="zh-CN">
                <a:latin typeface="Times New Roman" panose="02020603050405020304" pitchFamily="18" charset="0"/>
              </a:rPr>
              <a:t>（1）P盒的</a:t>
            </a:r>
            <a:r>
              <a:rPr lang="zh-CN" altLang="zh-CN" u="sng">
                <a:latin typeface="Times New Roman" panose="02020603050405020304" pitchFamily="18" charset="0"/>
              </a:rPr>
              <a:t>各输出块的4个比特都来自不同的输入块</a:t>
            </a:r>
            <a:r>
              <a:rPr lang="zh-CN" altLang="zh-CN">
                <a:latin typeface="Times New Roman" panose="02020603050405020304" pitchFamily="18" charset="0"/>
              </a:rPr>
              <a:t>；</a:t>
            </a:r>
          </a:p>
          <a:p>
            <a:pPr eaLnBrk="1" hangingPunct="1">
              <a:lnSpc>
                <a:spcPct val="115000"/>
              </a:lnSpc>
            </a:pPr>
            <a:r>
              <a:rPr lang="zh-CN" altLang="zh-CN">
                <a:latin typeface="Times New Roman" panose="02020603050405020304" pitchFamily="18" charset="0"/>
              </a:rPr>
              <a:t>（2） P盒的</a:t>
            </a:r>
            <a:r>
              <a:rPr lang="zh-CN" altLang="zh-CN" u="sng">
                <a:latin typeface="Times New Roman" panose="02020603050405020304" pitchFamily="18" charset="0"/>
              </a:rPr>
              <a:t>各输入块的4个比特都分配到不同的输出块之中</a:t>
            </a:r>
            <a:r>
              <a:rPr lang="zh-CN" altLang="zh-CN">
                <a:latin typeface="Times New Roman" panose="02020603050405020304" pitchFamily="18" charset="0"/>
              </a:rPr>
              <a:t>；</a:t>
            </a:r>
          </a:p>
          <a:p>
            <a:pPr eaLnBrk="1" hangingPunct="1">
              <a:lnSpc>
                <a:spcPct val="115000"/>
              </a:lnSpc>
            </a:pPr>
            <a:r>
              <a:rPr lang="zh-CN" altLang="zh-CN">
                <a:latin typeface="Times New Roman" panose="02020603050405020304" pitchFamily="18" charset="0"/>
              </a:rPr>
              <a:t>（3） P盒的</a:t>
            </a:r>
            <a:r>
              <a:rPr lang="zh-CN" altLang="zh-CN" u="sng">
                <a:latin typeface="Times New Roman" panose="02020603050405020304" pitchFamily="18" charset="0"/>
              </a:rPr>
              <a:t>第t输出块的4个比特都不来自第t输入块</a:t>
            </a:r>
            <a:r>
              <a:rPr lang="zh-CN" altLang="zh-CN">
                <a:latin typeface="Times New Roman" panose="02020603050405020304" pitchFamily="18" charset="0"/>
              </a:rPr>
              <a:t>。</a:t>
            </a:r>
            <a:endParaRPr lang="zh-CN" altLang="en-US">
              <a:latin typeface="Times New Roman" panose="02020603050405020304" pitchFamily="18" charset="0"/>
            </a:endParaRPr>
          </a:p>
          <a:p>
            <a:pPr eaLnBrk="1" hangingPunct="1">
              <a:spcBef>
                <a:spcPct val="50000"/>
              </a:spcBef>
            </a:pPr>
            <a:endParaRPr lang="zh-CN" altLang="en-US" sz="2000">
              <a:latin typeface="Times New Roman" panose="02020603050405020304" pitchFamily="18" charset="0"/>
            </a:endParaRPr>
          </a:p>
          <a:p>
            <a:endParaRPr lang="zh-CN" altLang="en-US"/>
          </a:p>
        </p:txBody>
      </p:sp>
      <p:sp>
        <p:nvSpPr>
          <p:cNvPr id="174083" name="灯片编号占位符 3">
            <a:extLst>
              <a:ext uri="{FF2B5EF4-FFF2-40B4-BE49-F238E27FC236}">
                <a16:creationId xmlns:a16="http://schemas.microsoft.com/office/drawing/2014/main" id="{96CF6F25-554D-4242-B52B-8B425FD3D04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BA2EDAD-354F-A246-8B4F-56F795530B52}" type="slidenum">
              <a:rPr lang="zh-CN" altLang="en-US">
                <a:latin typeface="Calibri" panose="020F0502020204030204" pitchFamily="34" charset="0"/>
              </a:rPr>
              <a:pPr/>
              <a:t>57</a:t>
            </a:fld>
            <a:endParaRPr lang="zh-CN" altLang="en-US">
              <a:latin typeface="Calibri" panose="020F0502020204030204" pitchFamily="34" charset="0"/>
            </a:endParaRPr>
          </a:p>
        </p:txBody>
      </p:sp>
      <p:graphicFrame>
        <p:nvGraphicFramePr>
          <p:cNvPr id="174084" name="Object 3">
            <a:extLst>
              <a:ext uri="{FF2B5EF4-FFF2-40B4-BE49-F238E27FC236}">
                <a16:creationId xmlns:a16="http://schemas.microsoft.com/office/drawing/2014/main" id="{DCE52F6C-0B15-DD43-BBE8-5EEF7E73420E}"/>
              </a:ext>
            </a:extLst>
          </p:cNvPr>
          <p:cNvGraphicFramePr>
            <a:graphicFrameLocks noChangeAspect="1"/>
          </p:cNvGraphicFramePr>
          <p:nvPr/>
        </p:nvGraphicFramePr>
        <p:xfrm>
          <a:off x="7397750" y="1693863"/>
          <a:ext cx="7708900" cy="3009900"/>
        </p:xfrm>
        <a:graphic>
          <a:graphicData uri="http://schemas.openxmlformats.org/presentationml/2006/ole">
            <mc:AlternateContent xmlns:mc="http://schemas.openxmlformats.org/markup-compatibility/2006">
              <mc:Choice xmlns:v="urn:schemas-microsoft-com:vml" Requires="v">
                <p:oleObj spid="_x0000_s174152" r:id="rId4" imgW="5473700" imgH="1841500" progId="Word.Document.8">
                  <p:embed/>
                </p:oleObj>
              </mc:Choice>
              <mc:Fallback>
                <p:oleObj r:id="rId4" imgW="5473700" imgH="1841500"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750" y="1693863"/>
                        <a:ext cx="77089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1" name="Text Box 5">
            <a:extLst>
              <a:ext uri="{FF2B5EF4-FFF2-40B4-BE49-F238E27FC236}">
                <a16:creationId xmlns:a16="http://schemas.microsoft.com/office/drawing/2014/main" id="{2DD4B556-E95C-0142-9C48-EF0B8124EC5C}"/>
              </a:ext>
            </a:extLst>
          </p:cNvPr>
          <p:cNvSpPr txBox="1">
            <a:spLocks noChangeArrowheads="1"/>
          </p:cNvSpPr>
          <p:nvPr/>
        </p:nvSpPr>
        <p:spPr bwMode="auto">
          <a:xfrm>
            <a:off x="1851025" y="5457825"/>
            <a:ext cx="74453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369" tIns="39184" rIns="78369" bIns="39184">
            <a:spAutoFit/>
          </a:bodyPr>
          <a:lstStyle/>
          <a:p>
            <a:pPr>
              <a:lnSpc>
                <a:spcPct val="120000"/>
              </a:lnSpc>
              <a:spcBef>
                <a:spcPct val="20000"/>
              </a:spcBef>
              <a:buClr>
                <a:srgbClr val="A50021"/>
              </a:buClr>
              <a:buSzPct val="75000"/>
            </a:pPr>
            <a:r>
              <a:rPr lang="zh-CN" altLang="zh-CN" sz="2400" b="1">
                <a:latin typeface="Times New Roman" panose="02020603050405020304" pitchFamily="18" charset="0"/>
              </a:rPr>
              <a:t>含义:P盒输出的第1个元是输入的第16个元。</a:t>
            </a:r>
            <a:endParaRPr lang="zh-CN" altLang="zh-CN" sz="2400">
              <a:latin typeface="Times New Roman" panose="02020603050405020304" pitchFamily="18" charset="0"/>
            </a:endParaRPr>
          </a:p>
        </p:txBody>
      </p:sp>
      <p:sp>
        <p:nvSpPr>
          <p:cNvPr id="91142" name="Text Box 6">
            <a:extLst>
              <a:ext uri="{FF2B5EF4-FFF2-40B4-BE49-F238E27FC236}">
                <a16:creationId xmlns:a16="http://schemas.microsoft.com/office/drawing/2014/main" id="{7F4C2F6D-6EF0-3F4F-9D9E-87C162882886}"/>
              </a:ext>
            </a:extLst>
          </p:cNvPr>
          <p:cNvSpPr txBox="1">
            <a:spLocks noChangeArrowheads="1"/>
          </p:cNvSpPr>
          <p:nvPr/>
        </p:nvSpPr>
        <p:spPr bwMode="auto">
          <a:xfrm>
            <a:off x="5311775" y="2562225"/>
            <a:ext cx="5026025" cy="484188"/>
          </a:xfrm>
          <a:prstGeom prst="rect">
            <a:avLst/>
          </a:prstGeom>
          <a:noFill/>
          <a:ln>
            <a:noFill/>
          </a:ln>
          <a:effectLst/>
        </p:spPr>
        <p:txBody>
          <a:bodyPr lIns="78373" tIns="39187" rIns="78373" bIns="39187">
            <a:spAutoFit/>
          </a:bodyPr>
          <a:lstStyle/>
          <a:p>
            <a:pPr>
              <a:lnSpc>
                <a:spcPct val="115000"/>
              </a:lnSpc>
              <a:defRPr/>
            </a:pPr>
            <a:r>
              <a:rPr kumimoji="1" lang="zh-CN" altLang="zh-CN" sz="2485" b="1" dirty="0">
                <a:solidFill>
                  <a:srgbClr val="FF0066"/>
                </a:solidFill>
                <a:latin typeface="Times New Roman" panose="02020603050405020304" pitchFamily="18" charset="0"/>
              </a:rPr>
              <a:t>      </a:t>
            </a:r>
            <a:endParaRPr kumimoji="1" lang="zh-CN" altLang="zh-CN" sz="2485" b="1" dirty="0">
              <a:solidFill>
                <a:srgbClr val="3333FF"/>
              </a:solidFill>
              <a:latin typeface="Times New Roman" panose="02020603050405020304" pitchFamily="18" charset="0"/>
            </a:endParaRPr>
          </a:p>
        </p:txBody>
      </p:sp>
    </p:spTree>
  </p:cSld>
  <p:clrMapOvr>
    <a:masterClrMapping/>
  </p:clrMapOvr>
  <p:transition spd="slow">
    <p:cover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41"/>
                                        </p:tgtEl>
                                        <p:attrNameLst>
                                          <p:attrName>style.visibility</p:attrName>
                                        </p:attrNameLst>
                                      </p:cBhvr>
                                      <p:to>
                                        <p:strVal val="visible"/>
                                      </p:to>
                                    </p:set>
                                    <p:anim calcmode="lin" valueType="num">
                                      <p:cBhvr additive="base">
                                        <p:cTn id="7" dur="500" fill="hold"/>
                                        <p:tgtEl>
                                          <p:spTgt spid="91141"/>
                                        </p:tgtEl>
                                        <p:attrNameLst>
                                          <p:attrName>ppt_x</p:attrName>
                                        </p:attrNameLst>
                                      </p:cBhvr>
                                      <p:tavLst>
                                        <p:tav tm="0">
                                          <p:val>
                                            <p:strVal val="0-#ppt_w/2"/>
                                          </p:val>
                                        </p:tav>
                                        <p:tav tm="100000">
                                          <p:val>
                                            <p:strVal val="#ppt_x"/>
                                          </p:val>
                                        </p:tav>
                                      </p:tavLst>
                                    </p:anim>
                                    <p:anim calcmode="lin" valueType="num">
                                      <p:cBhvr additive="base">
                                        <p:cTn id="8" dur="500" fill="hold"/>
                                        <p:tgtEl>
                                          <p:spTgt spid="911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91142">
                                            <p:txEl>
                                              <p:pRg st="0" end="0"/>
                                            </p:txEl>
                                          </p:spTgt>
                                        </p:tgtEl>
                                        <p:attrNameLst>
                                          <p:attrName>style.visibility</p:attrName>
                                        </p:attrNameLst>
                                      </p:cBhvr>
                                      <p:to>
                                        <p:strVal val="visible"/>
                                      </p:to>
                                    </p:set>
                                    <p:animEffect transition="in" filter="dissolve">
                                      <p:cBhvr>
                                        <p:cTn id="13" dur="500"/>
                                        <p:tgtEl>
                                          <p:spTgt spid="911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p:bldP spid="91142"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6129" name="Rectangle 2">
            <a:extLst>
              <a:ext uri="{FF2B5EF4-FFF2-40B4-BE49-F238E27FC236}">
                <a16:creationId xmlns:a16="http://schemas.microsoft.com/office/drawing/2014/main" id="{672502C3-D0A4-B349-B2A4-18AE2BAC1CD5}"/>
              </a:ext>
            </a:extLst>
          </p:cNvPr>
          <p:cNvSpPr>
            <a:spLocks noGrp="1" noChangeArrowheads="1"/>
          </p:cNvSpPr>
          <p:nvPr>
            <p:ph type="title"/>
          </p:nvPr>
        </p:nvSpPr>
        <p:spPr>
          <a:xfrm>
            <a:off x="1465263" y="365125"/>
            <a:ext cx="9037637" cy="668338"/>
          </a:xfrm>
        </p:spPr>
        <p:txBody>
          <a:bodyPr/>
          <a:lstStyle/>
          <a:p>
            <a:pPr eaLnBrk="1" hangingPunct="1"/>
            <a:r>
              <a:rPr lang="en-US" altLang="zh-CN" dirty="0">
                <a:solidFill>
                  <a:srgbClr val="006600"/>
                </a:solidFill>
                <a:latin typeface="Times New Roman" panose="02020603050405020304" pitchFamily="18" charset="0"/>
              </a:rPr>
              <a:t>DES</a:t>
            </a:r>
            <a:r>
              <a:rPr lang="zh-CN" altLang="en-US" dirty="0">
                <a:solidFill>
                  <a:srgbClr val="006600"/>
                </a:solidFill>
                <a:latin typeface="Times New Roman" panose="02020603050405020304" pitchFamily="18" charset="0"/>
              </a:rPr>
              <a:t>密钥编排</a:t>
            </a:r>
            <a:endParaRPr lang="zh-CN" altLang="en-US" sz="3600" dirty="0">
              <a:solidFill>
                <a:schemeClr val="hlink"/>
              </a:solidFill>
              <a:latin typeface="Times New Roman" panose="02020603050405020304" pitchFamily="18" charset="0"/>
            </a:endParaRPr>
          </a:p>
        </p:txBody>
      </p:sp>
      <p:sp>
        <p:nvSpPr>
          <p:cNvPr id="176130" name="Text Box 5">
            <a:extLst>
              <a:ext uri="{FF2B5EF4-FFF2-40B4-BE49-F238E27FC236}">
                <a16:creationId xmlns:a16="http://schemas.microsoft.com/office/drawing/2014/main" id="{20485A5F-634A-4742-9AED-4C1D6E7D5C3A}"/>
              </a:ext>
            </a:extLst>
          </p:cNvPr>
          <p:cNvSpPr txBox="1">
            <a:spLocks noChangeArrowheads="1"/>
          </p:cNvSpPr>
          <p:nvPr/>
        </p:nvSpPr>
        <p:spPr bwMode="auto">
          <a:xfrm>
            <a:off x="4556125" y="477996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76131" name="Text Box 6">
            <a:extLst>
              <a:ext uri="{FF2B5EF4-FFF2-40B4-BE49-F238E27FC236}">
                <a16:creationId xmlns:a16="http://schemas.microsoft.com/office/drawing/2014/main" id="{9E7E157C-444A-1143-B7A9-71A58AB98864}"/>
              </a:ext>
            </a:extLst>
          </p:cNvPr>
          <p:cNvSpPr txBox="1">
            <a:spLocks noChangeArrowheads="1"/>
          </p:cNvSpPr>
          <p:nvPr/>
        </p:nvSpPr>
        <p:spPr bwMode="auto">
          <a:xfrm>
            <a:off x="4343400" y="23971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grpSp>
        <p:nvGrpSpPr>
          <p:cNvPr id="176132" name="Group 8">
            <a:extLst>
              <a:ext uri="{FF2B5EF4-FFF2-40B4-BE49-F238E27FC236}">
                <a16:creationId xmlns:a16="http://schemas.microsoft.com/office/drawing/2014/main" id="{70BB0E3E-C3E8-4D4C-BA08-564C8E3D74F4}"/>
              </a:ext>
            </a:extLst>
          </p:cNvPr>
          <p:cNvGrpSpPr>
            <a:grpSpLocks/>
          </p:cNvGrpSpPr>
          <p:nvPr/>
        </p:nvGrpSpPr>
        <p:grpSpPr bwMode="auto">
          <a:xfrm>
            <a:off x="3733800" y="1787525"/>
            <a:ext cx="4256088" cy="4167188"/>
            <a:chOff x="1392" y="1344"/>
            <a:chExt cx="2681" cy="2625"/>
          </a:xfrm>
        </p:grpSpPr>
        <p:sp>
          <p:nvSpPr>
            <p:cNvPr id="176133" name="AutoShape 9">
              <a:extLst>
                <a:ext uri="{FF2B5EF4-FFF2-40B4-BE49-F238E27FC236}">
                  <a16:creationId xmlns:a16="http://schemas.microsoft.com/office/drawing/2014/main" id="{B1EF0DE7-B2F8-C147-9D0D-607FB32CA925}"/>
                </a:ext>
              </a:extLst>
            </p:cNvPr>
            <p:cNvSpPr>
              <a:spLocks noChangeArrowheads="1"/>
            </p:cNvSpPr>
            <p:nvPr/>
          </p:nvSpPr>
          <p:spPr bwMode="auto">
            <a:xfrm>
              <a:off x="1392" y="1344"/>
              <a:ext cx="2640" cy="288"/>
            </a:xfrm>
            <a:prstGeom prst="flowChartProcess">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76134" name="AutoShape 10">
              <a:extLst>
                <a:ext uri="{FF2B5EF4-FFF2-40B4-BE49-F238E27FC236}">
                  <a16:creationId xmlns:a16="http://schemas.microsoft.com/office/drawing/2014/main" id="{3F1F91CA-75C7-694F-AE33-859FA3AFC881}"/>
                </a:ext>
              </a:extLst>
            </p:cNvPr>
            <p:cNvSpPr>
              <a:spLocks noChangeArrowheads="1"/>
            </p:cNvSpPr>
            <p:nvPr/>
          </p:nvSpPr>
          <p:spPr bwMode="auto">
            <a:xfrm>
              <a:off x="1392" y="1872"/>
              <a:ext cx="2640" cy="240"/>
            </a:xfrm>
            <a:prstGeom prst="flowChartAlternateProcess">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76135" name="AutoShape 11">
              <a:extLst>
                <a:ext uri="{FF2B5EF4-FFF2-40B4-BE49-F238E27FC236}">
                  <a16:creationId xmlns:a16="http://schemas.microsoft.com/office/drawing/2014/main" id="{8EDC871C-1B23-1C41-9153-146200F0966E}"/>
                </a:ext>
              </a:extLst>
            </p:cNvPr>
            <p:cNvSpPr>
              <a:spLocks noChangeArrowheads="1"/>
            </p:cNvSpPr>
            <p:nvPr/>
          </p:nvSpPr>
          <p:spPr bwMode="auto">
            <a:xfrm>
              <a:off x="1433" y="3478"/>
              <a:ext cx="2640" cy="240"/>
            </a:xfrm>
            <a:prstGeom prst="flowChartAlternateProcess">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76136" name="Rectangle 12">
              <a:extLst>
                <a:ext uri="{FF2B5EF4-FFF2-40B4-BE49-F238E27FC236}">
                  <a16:creationId xmlns:a16="http://schemas.microsoft.com/office/drawing/2014/main" id="{CDC6A5D0-54A7-8B41-9424-AA0A99A66C4C}"/>
                </a:ext>
              </a:extLst>
            </p:cNvPr>
            <p:cNvSpPr>
              <a:spLocks noChangeArrowheads="1"/>
            </p:cNvSpPr>
            <p:nvPr/>
          </p:nvSpPr>
          <p:spPr bwMode="auto">
            <a:xfrm>
              <a:off x="1418" y="2367"/>
              <a:ext cx="1152" cy="288"/>
            </a:xfrm>
            <a:prstGeom prst="rect">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76137" name="Rectangle 13">
              <a:extLst>
                <a:ext uri="{FF2B5EF4-FFF2-40B4-BE49-F238E27FC236}">
                  <a16:creationId xmlns:a16="http://schemas.microsoft.com/office/drawing/2014/main" id="{2609CC3C-EBDB-B549-BD09-5F8DCCF7736C}"/>
                </a:ext>
              </a:extLst>
            </p:cNvPr>
            <p:cNvSpPr>
              <a:spLocks noChangeArrowheads="1"/>
            </p:cNvSpPr>
            <p:nvPr/>
          </p:nvSpPr>
          <p:spPr bwMode="auto">
            <a:xfrm>
              <a:off x="2847" y="2367"/>
              <a:ext cx="1152" cy="288"/>
            </a:xfrm>
            <a:prstGeom prst="rect">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76138" name="AutoShape 14">
              <a:extLst>
                <a:ext uri="{FF2B5EF4-FFF2-40B4-BE49-F238E27FC236}">
                  <a16:creationId xmlns:a16="http://schemas.microsoft.com/office/drawing/2014/main" id="{1B92FF45-EDFD-794A-826F-F76627E6A8D6}"/>
                </a:ext>
              </a:extLst>
            </p:cNvPr>
            <p:cNvSpPr>
              <a:spLocks noChangeArrowheads="1"/>
            </p:cNvSpPr>
            <p:nvPr/>
          </p:nvSpPr>
          <p:spPr bwMode="auto">
            <a:xfrm>
              <a:off x="1407" y="2910"/>
              <a:ext cx="1152" cy="288"/>
            </a:xfrm>
            <a:prstGeom prst="flowChartAlternateProcess">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76139" name="AutoShape 15">
              <a:extLst>
                <a:ext uri="{FF2B5EF4-FFF2-40B4-BE49-F238E27FC236}">
                  <a16:creationId xmlns:a16="http://schemas.microsoft.com/office/drawing/2014/main" id="{F3B78D65-E971-8840-B257-B47286193E5D}"/>
                </a:ext>
              </a:extLst>
            </p:cNvPr>
            <p:cNvSpPr>
              <a:spLocks noChangeArrowheads="1"/>
            </p:cNvSpPr>
            <p:nvPr/>
          </p:nvSpPr>
          <p:spPr bwMode="auto">
            <a:xfrm>
              <a:off x="2847" y="2910"/>
              <a:ext cx="1152" cy="288"/>
            </a:xfrm>
            <a:prstGeom prst="flowChartAlternateProcess">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76140" name="AutoShape 16">
              <a:extLst>
                <a:ext uri="{FF2B5EF4-FFF2-40B4-BE49-F238E27FC236}">
                  <a16:creationId xmlns:a16="http://schemas.microsoft.com/office/drawing/2014/main" id="{66CF3961-EF71-D041-9759-A2FD40211E46}"/>
                </a:ext>
              </a:extLst>
            </p:cNvPr>
            <p:cNvSpPr>
              <a:spLocks noChangeArrowheads="1"/>
            </p:cNvSpPr>
            <p:nvPr/>
          </p:nvSpPr>
          <p:spPr bwMode="auto">
            <a:xfrm>
              <a:off x="2544" y="1621"/>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76141" name="AutoShape 17">
              <a:extLst>
                <a:ext uri="{FF2B5EF4-FFF2-40B4-BE49-F238E27FC236}">
                  <a16:creationId xmlns:a16="http://schemas.microsoft.com/office/drawing/2014/main" id="{1A9BF4FA-B56A-9A4B-8F36-E866ABFD2D60}"/>
                </a:ext>
              </a:extLst>
            </p:cNvPr>
            <p:cNvSpPr>
              <a:spLocks noChangeArrowheads="1"/>
            </p:cNvSpPr>
            <p:nvPr/>
          </p:nvSpPr>
          <p:spPr bwMode="auto">
            <a:xfrm>
              <a:off x="1883" y="3212"/>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76142" name="AutoShape 18">
              <a:extLst>
                <a:ext uri="{FF2B5EF4-FFF2-40B4-BE49-F238E27FC236}">
                  <a16:creationId xmlns:a16="http://schemas.microsoft.com/office/drawing/2014/main" id="{02B6322A-0F78-2E45-83C9-AF5F65FED325}"/>
                </a:ext>
              </a:extLst>
            </p:cNvPr>
            <p:cNvSpPr>
              <a:spLocks noChangeArrowheads="1"/>
            </p:cNvSpPr>
            <p:nvPr/>
          </p:nvSpPr>
          <p:spPr bwMode="auto">
            <a:xfrm>
              <a:off x="1883" y="2651"/>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76143" name="AutoShape 19">
              <a:extLst>
                <a:ext uri="{FF2B5EF4-FFF2-40B4-BE49-F238E27FC236}">
                  <a16:creationId xmlns:a16="http://schemas.microsoft.com/office/drawing/2014/main" id="{DEE9EB3E-C444-AC46-AED8-6A2D8462DB3B}"/>
                </a:ext>
              </a:extLst>
            </p:cNvPr>
            <p:cNvSpPr>
              <a:spLocks noChangeArrowheads="1"/>
            </p:cNvSpPr>
            <p:nvPr/>
          </p:nvSpPr>
          <p:spPr bwMode="auto">
            <a:xfrm>
              <a:off x="3323" y="2666"/>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76144" name="AutoShape 20">
              <a:extLst>
                <a:ext uri="{FF2B5EF4-FFF2-40B4-BE49-F238E27FC236}">
                  <a16:creationId xmlns:a16="http://schemas.microsoft.com/office/drawing/2014/main" id="{1C2829BE-38D1-FC4F-A3C4-4E708E50EEE7}"/>
                </a:ext>
              </a:extLst>
            </p:cNvPr>
            <p:cNvSpPr>
              <a:spLocks noChangeArrowheads="1"/>
            </p:cNvSpPr>
            <p:nvPr/>
          </p:nvSpPr>
          <p:spPr bwMode="auto">
            <a:xfrm>
              <a:off x="1894" y="2127"/>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76145" name="AutoShape 21">
              <a:extLst>
                <a:ext uri="{FF2B5EF4-FFF2-40B4-BE49-F238E27FC236}">
                  <a16:creationId xmlns:a16="http://schemas.microsoft.com/office/drawing/2014/main" id="{3E000EC7-6C4F-844F-B77C-EEF5A8406FB6}"/>
                </a:ext>
              </a:extLst>
            </p:cNvPr>
            <p:cNvSpPr>
              <a:spLocks noChangeArrowheads="1"/>
            </p:cNvSpPr>
            <p:nvPr/>
          </p:nvSpPr>
          <p:spPr bwMode="auto">
            <a:xfrm>
              <a:off x="2655" y="3729"/>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76146" name="AutoShape 22">
              <a:extLst>
                <a:ext uri="{FF2B5EF4-FFF2-40B4-BE49-F238E27FC236}">
                  <a16:creationId xmlns:a16="http://schemas.microsoft.com/office/drawing/2014/main" id="{E9C42B09-D73C-AA43-87C3-A7EEEA468E76}"/>
                </a:ext>
              </a:extLst>
            </p:cNvPr>
            <p:cNvSpPr>
              <a:spLocks noChangeArrowheads="1"/>
            </p:cNvSpPr>
            <p:nvPr/>
          </p:nvSpPr>
          <p:spPr bwMode="auto">
            <a:xfrm>
              <a:off x="3313" y="2123"/>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sp>
          <p:nvSpPr>
            <p:cNvPr id="176147" name="AutoShape 23">
              <a:extLst>
                <a:ext uri="{FF2B5EF4-FFF2-40B4-BE49-F238E27FC236}">
                  <a16:creationId xmlns:a16="http://schemas.microsoft.com/office/drawing/2014/main" id="{9AF34575-DC10-2A43-99C2-E7E4FA862B6A}"/>
                </a:ext>
              </a:extLst>
            </p:cNvPr>
            <p:cNvSpPr>
              <a:spLocks noChangeArrowheads="1"/>
            </p:cNvSpPr>
            <p:nvPr/>
          </p:nvSpPr>
          <p:spPr bwMode="auto">
            <a:xfrm>
              <a:off x="3338" y="3238"/>
              <a:ext cx="192" cy="240"/>
            </a:xfrm>
            <a:prstGeom prst="downArrow">
              <a:avLst>
                <a:gd name="adj1" fmla="val 50000"/>
                <a:gd name="adj2" fmla="val 31250"/>
              </a:avLst>
            </a:prstGeom>
            <a:solidFill>
              <a:srgbClr val="CC3300"/>
            </a:solidFill>
            <a:ln w="9525">
              <a:solidFill>
                <a:srgbClr val="CC3300"/>
              </a:solidFill>
              <a:miter lim="800000"/>
              <a:headEnd/>
              <a:tailEnd/>
            </a:ln>
          </p:spPr>
          <p:txBody>
            <a:bodyPr vert="eaVert" wrap="none" anchor="ctr"/>
            <a:lstStyle/>
            <a:p>
              <a:endParaRPr lang="zh-CN" altLang="en-US">
                <a:latin typeface="Tahoma" panose="020B0604030504040204" pitchFamily="34" charset="0"/>
              </a:endParaRPr>
            </a:p>
          </p:txBody>
        </p:sp>
      </p:grpSp>
      <p:sp>
        <p:nvSpPr>
          <p:cNvPr id="176148" name="Text Box 24">
            <a:extLst>
              <a:ext uri="{FF2B5EF4-FFF2-40B4-BE49-F238E27FC236}">
                <a16:creationId xmlns:a16="http://schemas.microsoft.com/office/drawing/2014/main" id="{0A1B7708-0B0B-B849-9F2E-15D504E070D3}"/>
              </a:ext>
            </a:extLst>
          </p:cNvPr>
          <p:cNvSpPr txBox="1">
            <a:spLocks noChangeArrowheads="1"/>
          </p:cNvSpPr>
          <p:nvPr/>
        </p:nvSpPr>
        <p:spPr bwMode="auto">
          <a:xfrm>
            <a:off x="4175125" y="1752600"/>
            <a:ext cx="279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Times New Roman" panose="02020603050405020304" pitchFamily="18" charset="0"/>
              </a:rPr>
              <a:t>        </a:t>
            </a:r>
            <a:r>
              <a:rPr lang="zh-CN" altLang="en-US" sz="2400">
                <a:latin typeface="Times New Roman" panose="02020603050405020304" pitchFamily="18" charset="0"/>
              </a:rPr>
              <a:t>密钥（</a:t>
            </a:r>
            <a:r>
              <a:rPr lang="en-US" altLang="zh-CN" sz="2400">
                <a:latin typeface="Times New Roman" panose="02020603050405020304" pitchFamily="18" charset="0"/>
              </a:rPr>
              <a:t>64 </a:t>
            </a:r>
            <a:r>
              <a:rPr lang="en-US" altLang="en-US" sz="2400">
                <a:latin typeface="Times New Roman" panose="02020603050405020304" pitchFamily="18" charset="0"/>
              </a:rPr>
              <a:t>bit</a:t>
            </a:r>
            <a:r>
              <a:rPr lang="en-US" altLang="zh-CN" sz="2400">
                <a:latin typeface="Times New Roman" panose="02020603050405020304" pitchFamily="18" charset="0"/>
              </a:rPr>
              <a:t> </a:t>
            </a:r>
            <a:r>
              <a:rPr lang="zh-CN" altLang="en-US" sz="2400">
                <a:latin typeface="Times New Roman" panose="02020603050405020304" pitchFamily="18" charset="0"/>
              </a:rPr>
              <a:t>）</a:t>
            </a:r>
          </a:p>
        </p:txBody>
      </p:sp>
      <p:sp>
        <p:nvSpPr>
          <p:cNvPr id="176149" name="Text Box 25">
            <a:extLst>
              <a:ext uri="{FF2B5EF4-FFF2-40B4-BE49-F238E27FC236}">
                <a16:creationId xmlns:a16="http://schemas.microsoft.com/office/drawing/2014/main" id="{89660FEC-7DE3-8A41-80C9-479B4A2306FD}"/>
              </a:ext>
            </a:extLst>
          </p:cNvPr>
          <p:cNvSpPr txBox="1">
            <a:spLocks noChangeArrowheads="1"/>
          </p:cNvSpPr>
          <p:nvPr/>
        </p:nvSpPr>
        <p:spPr bwMode="auto">
          <a:xfrm>
            <a:off x="4479925" y="2590800"/>
            <a:ext cx="2386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latin typeface="Times New Roman" panose="02020603050405020304" pitchFamily="18" charset="0"/>
              </a:rPr>
              <a:t>置换选择</a:t>
            </a:r>
            <a:r>
              <a:rPr lang="en-US" altLang="zh-CN" sz="24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PC1</a:t>
            </a:r>
          </a:p>
        </p:txBody>
      </p:sp>
      <p:sp>
        <p:nvSpPr>
          <p:cNvPr id="176150" name="Text Box 26">
            <a:extLst>
              <a:ext uri="{FF2B5EF4-FFF2-40B4-BE49-F238E27FC236}">
                <a16:creationId xmlns:a16="http://schemas.microsoft.com/office/drawing/2014/main" id="{36D036D2-6699-B84F-BEDD-044E70EC7091}"/>
              </a:ext>
            </a:extLst>
          </p:cNvPr>
          <p:cNvSpPr txBox="1">
            <a:spLocks noChangeArrowheads="1"/>
          </p:cNvSpPr>
          <p:nvPr/>
        </p:nvSpPr>
        <p:spPr bwMode="auto">
          <a:xfrm>
            <a:off x="4556125" y="5140325"/>
            <a:ext cx="2386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latin typeface="Times New Roman" panose="02020603050405020304" pitchFamily="18" charset="0"/>
              </a:rPr>
              <a:t>置换选择</a:t>
            </a:r>
            <a:r>
              <a:rPr lang="en-US" altLang="zh-CN" sz="2400">
                <a:latin typeface="Times New Roman" panose="02020603050405020304" pitchFamily="18" charset="0"/>
              </a:rPr>
              <a:t>2</a:t>
            </a:r>
            <a:r>
              <a:rPr lang="zh-CN" altLang="en-US" sz="2400">
                <a:latin typeface="Times New Roman" panose="02020603050405020304" pitchFamily="18" charset="0"/>
              </a:rPr>
              <a:t>，</a:t>
            </a:r>
            <a:r>
              <a:rPr lang="en-US" altLang="zh-CN" sz="2400">
                <a:latin typeface="Times New Roman" panose="02020603050405020304" pitchFamily="18" charset="0"/>
              </a:rPr>
              <a:t>PC2</a:t>
            </a:r>
          </a:p>
        </p:txBody>
      </p:sp>
      <p:sp>
        <p:nvSpPr>
          <p:cNvPr id="176151" name="Text Box 27">
            <a:extLst>
              <a:ext uri="{FF2B5EF4-FFF2-40B4-BE49-F238E27FC236}">
                <a16:creationId xmlns:a16="http://schemas.microsoft.com/office/drawing/2014/main" id="{6B8FCD46-D50B-5841-A22A-890357E9C844}"/>
              </a:ext>
            </a:extLst>
          </p:cNvPr>
          <p:cNvSpPr txBox="1">
            <a:spLocks noChangeArrowheads="1"/>
          </p:cNvSpPr>
          <p:nvPr/>
        </p:nvSpPr>
        <p:spPr bwMode="auto">
          <a:xfrm>
            <a:off x="3870325" y="3387725"/>
            <a:ext cx="1528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a:latin typeface="Times New Roman" panose="02020603050405020304" pitchFamily="18" charset="0"/>
              </a:rPr>
              <a:t>  </a:t>
            </a:r>
            <a:r>
              <a:rPr lang="en-US" altLang="zh-CN" sz="2400">
                <a:latin typeface="Times New Roman" panose="02020603050405020304" pitchFamily="18" charset="0"/>
              </a:rPr>
              <a:t>C</a:t>
            </a:r>
            <a:r>
              <a:rPr lang="en-US" altLang="zh-CN" sz="2400" baseline="-25000">
                <a:latin typeface="Times New Roman" panose="02020603050405020304" pitchFamily="18" charset="0"/>
              </a:rPr>
              <a:t>i</a:t>
            </a:r>
            <a:r>
              <a:rPr lang="en-US" altLang="zh-CN" sz="2400">
                <a:latin typeface="Times New Roman" panose="02020603050405020304" pitchFamily="18" charset="0"/>
              </a:rPr>
              <a:t>(28 bit)</a:t>
            </a:r>
          </a:p>
        </p:txBody>
      </p:sp>
      <p:sp>
        <p:nvSpPr>
          <p:cNvPr id="176152" name="Text Box 28">
            <a:extLst>
              <a:ext uri="{FF2B5EF4-FFF2-40B4-BE49-F238E27FC236}">
                <a16:creationId xmlns:a16="http://schemas.microsoft.com/office/drawing/2014/main" id="{CD53E204-9C08-6740-B4E7-4B4DBDEDE849}"/>
              </a:ext>
            </a:extLst>
          </p:cNvPr>
          <p:cNvSpPr txBox="1">
            <a:spLocks noChangeArrowheads="1"/>
          </p:cNvSpPr>
          <p:nvPr/>
        </p:nvSpPr>
        <p:spPr bwMode="auto">
          <a:xfrm>
            <a:off x="6156325" y="3387725"/>
            <a:ext cx="1463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a:latin typeface="Times New Roman" panose="02020603050405020304" pitchFamily="18" charset="0"/>
              </a:rPr>
              <a:t> </a:t>
            </a:r>
            <a:r>
              <a:rPr lang="en-US" altLang="zh-CN" sz="2400">
                <a:latin typeface="Times New Roman" panose="02020603050405020304" pitchFamily="18" charset="0"/>
              </a:rPr>
              <a:t>D</a:t>
            </a:r>
            <a:r>
              <a:rPr lang="en-US" altLang="zh-CN" sz="2400" baseline="-25000">
                <a:latin typeface="Times New Roman" panose="02020603050405020304" pitchFamily="18" charset="0"/>
              </a:rPr>
              <a:t>i</a:t>
            </a:r>
            <a:r>
              <a:rPr lang="en-US" altLang="zh-CN" sz="2400">
                <a:latin typeface="Times New Roman" panose="02020603050405020304" pitchFamily="18" charset="0"/>
              </a:rPr>
              <a:t>(28 bit)</a:t>
            </a:r>
          </a:p>
        </p:txBody>
      </p:sp>
      <p:sp>
        <p:nvSpPr>
          <p:cNvPr id="176153" name="Text Box 29">
            <a:extLst>
              <a:ext uri="{FF2B5EF4-FFF2-40B4-BE49-F238E27FC236}">
                <a16:creationId xmlns:a16="http://schemas.microsoft.com/office/drawing/2014/main" id="{9368AD45-0F21-9949-8814-D57CD944CBB0}"/>
              </a:ext>
            </a:extLst>
          </p:cNvPr>
          <p:cNvSpPr txBox="1">
            <a:spLocks noChangeArrowheads="1"/>
          </p:cNvSpPr>
          <p:nvPr/>
        </p:nvSpPr>
        <p:spPr bwMode="auto">
          <a:xfrm>
            <a:off x="3657600" y="4332288"/>
            <a:ext cx="2217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latin typeface="Times New Roman" panose="02020603050405020304" pitchFamily="18" charset="0"/>
              </a:rPr>
              <a:t>  </a:t>
            </a:r>
            <a:r>
              <a:rPr lang="zh-CN" altLang="en-US" sz="2000">
                <a:latin typeface="Times New Roman" panose="02020603050405020304" pitchFamily="18" charset="0"/>
              </a:rPr>
              <a:t>循环左移</a:t>
            </a:r>
            <a:r>
              <a:rPr lang="en-US" altLang="en-US" sz="2000">
                <a:latin typeface="Times New Roman" panose="02020603050405020304" pitchFamily="18" charset="0"/>
              </a:rPr>
              <a:t>t</a:t>
            </a:r>
            <a:r>
              <a:rPr lang="en-US" altLang="en-US" sz="2000" baseline="-25000">
                <a:latin typeface="Times New Roman" panose="02020603050405020304" pitchFamily="18" charset="0"/>
              </a:rPr>
              <a:t>i+1</a:t>
            </a:r>
            <a:r>
              <a:rPr lang="en-US" altLang="en-US" sz="2000">
                <a:latin typeface="Times New Roman" panose="02020603050405020304" pitchFamily="18" charset="0"/>
              </a:rPr>
              <a:t>bit</a:t>
            </a:r>
            <a:endParaRPr lang="en-US" altLang="zh-CN" sz="2400">
              <a:latin typeface="Times New Roman" panose="02020603050405020304" pitchFamily="18" charset="0"/>
            </a:endParaRPr>
          </a:p>
        </p:txBody>
      </p:sp>
      <p:sp>
        <p:nvSpPr>
          <p:cNvPr id="176154" name="Text Box 30">
            <a:extLst>
              <a:ext uri="{FF2B5EF4-FFF2-40B4-BE49-F238E27FC236}">
                <a16:creationId xmlns:a16="http://schemas.microsoft.com/office/drawing/2014/main" id="{96A39141-3389-B846-9038-0BF126711E7E}"/>
              </a:ext>
            </a:extLst>
          </p:cNvPr>
          <p:cNvSpPr txBox="1">
            <a:spLocks noChangeArrowheads="1"/>
          </p:cNvSpPr>
          <p:nvPr/>
        </p:nvSpPr>
        <p:spPr bwMode="auto">
          <a:xfrm>
            <a:off x="6003925" y="4329113"/>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latin typeface="Times New Roman" panose="02020603050405020304" pitchFamily="18" charset="0"/>
              </a:rPr>
              <a:t> </a:t>
            </a:r>
            <a:r>
              <a:rPr lang="zh-CN" altLang="en-US" sz="2000">
                <a:latin typeface="Times New Roman" panose="02020603050405020304" pitchFamily="18" charset="0"/>
              </a:rPr>
              <a:t>循环左移</a:t>
            </a:r>
            <a:r>
              <a:rPr lang="en-US" altLang="en-US" sz="2000">
                <a:latin typeface="Times New Roman" panose="02020603050405020304" pitchFamily="18" charset="0"/>
              </a:rPr>
              <a:t>t</a:t>
            </a:r>
            <a:r>
              <a:rPr lang="en-US" altLang="en-US" sz="2000" baseline="-25000">
                <a:latin typeface="Times New Roman" panose="02020603050405020304" pitchFamily="18" charset="0"/>
              </a:rPr>
              <a:t>i+1</a:t>
            </a:r>
            <a:r>
              <a:rPr lang="en-US" altLang="en-US" sz="2000">
                <a:latin typeface="Times New Roman" panose="02020603050405020304" pitchFamily="18" charset="0"/>
              </a:rPr>
              <a:t>bit</a:t>
            </a:r>
            <a:endParaRPr lang="en-US" altLang="zh-CN" sz="2000">
              <a:latin typeface="Times New Roman" panose="02020603050405020304" pitchFamily="18" charset="0"/>
            </a:endParaRPr>
          </a:p>
        </p:txBody>
      </p:sp>
      <p:sp>
        <p:nvSpPr>
          <p:cNvPr id="176155" name="Text Box 31">
            <a:extLst>
              <a:ext uri="{FF2B5EF4-FFF2-40B4-BE49-F238E27FC236}">
                <a16:creationId xmlns:a16="http://schemas.microsoft.com/office/drawing/2014/main" id="{1F6A8FCD-2CA8-2A43-B705-6C5695DC3AE9}"/>
              </a:ext>
            </a:extLst>
          </p:cNvPr>
          <p:cNvSpPr txBox="1">
            <a:spLocks noChangeArrowheads="1"/>
          </p:cNvSpPr>
          <p:nvPr/>
        </p:nvSpPr>
        <p:spPr bwMode="auto">
          <a:xfrm>
            <a:off x="5851525" y="2259013"/>
            <a:ext cx="3654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latin typeface="Times New Roman" panose="02020603050405020304" pitchFamily="18" charset="0"/>
              </a:rPr>
              <a:t>除去第</a:t>
            </a:r>
            <a:r>
              <a:rPr lang="en-US" altLang="zh-CN" sz="2000">
                <a:latin typeface="Times New Roman" panose="02020603050405020304" pitchFamily="18" charset="0"/>
              </a:rPr>
              <a:t>8,16, </a:t>
            </a:r>
            <a:r>
              <a:rPr lang="en-US" altLang="zh-CN" sz="2000">
                <a:latin typeface="Times New Roman" panose="02020603050405020304" pitchFamily="18" charset="0"/>
                <a:sym typeface="MT Extra" pitchFamily="2" charset="77"/>
              </a:rPr>
              <a:t></a:t>
            </a:r>
            <a:r>
              <a:rPr lang="en-US" altLang="zh-CN" sz="2000">
                <a:latin typeface="Times New Roman" panose="02020603050405020304" pitchFamily="18" charset="0"/>
              </a:rPr>
              <a:t>,64</a:t>
            </a:r>
            <a:r>
              <a:rPr lang="zh-CN" altLang="en-US" sz="2000">
                <a:latin typeface="Times New Roman" panose="02020603050405020304" pitchFamily="18" charset="0"/>
              </a:rPr>
              <a:t>位</a:t>
            </a:r>
            <a:r>
              <a:rPr lang="en-US" altLang="zh-CN" sz="2000">
                <a:latin typeface="Times New Roman" panose="02020603050405020304" pitchFamily="18" charset="0"/>
              </a:rPr>
              <a:t>(8</a:t>
            </a:r>
            <a:r>
              <a:rPr lang="zh-CN" altLang="en-US" sz="2000">
                <a:latin typeface="Times New Roman" panose="02020603050405020304" pitchFamily="18" charset="0"/>
              </a:rPr>
              <a:t>个校验位</a:t>
            </a:r>
            <a:r>
              <a:rPr lang="en-US" altLang="zh-CN" sz="2000">
                <a:latin typeface="Times New Roman" panose="02020603050405020304" pitchFamily="18" charset="0"/>
              </a:rPr>
              <a:t>)</a:t>
            </a:r>
            <a:endParaRPr lang="en-US" altLang="zh-CN" sz="2400">
              <a:latin typeface="Times New Roman" panose="02020603050405020304" pitchFamily="18" charset="0"/>
            </a:endParaRPr>
          </a:p>
        </p:txBody>
      </p:sp>
      <p:sp>
        <p:nvSpPr>
          <p:cNvPr id="176156" name="Text Box 32">
            <a:extLst>
              <a:ext uri="{FF2B5EF4-FFF2-40B4-BE49-F238E27FC236}">
                <a16:creationId xmlns:a16="http://schemas.microsoft.com/office/drawing/2014/main" id="{E36558ED-7687-664A-8995-DC938A57D93B}"/>
              </a:ext>
            </a:extLst>
          </p:cNvPr>
          <p:cNvSpPr txBox="1">
            <a:spLocks noChangeArrowheads="1"/>
          </p:cNvSpPr>
          <p:nvPr/>
        </p:nvSpPr>
        <p:spPr bwMode="auto">
          <a:xfrm>
            <a:off x="6003925" y="5638800"/>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2400" b="1" i="1">
                <a:latin typeface="Times New Roman" panose="02020603050405020304" pitchFamily="18" charset="0"/>
              </a:rPr>
              <a:t>k</a:t>
            </a:r>
            <a:r>
              <a:rPr lang="en-US" altLang="en-US" sz="2400" baseline="-25000">
                <a:latin typeface="Times New Roman" panose="02020603050405020304" pitchFamily="18" charset="0"/>
              </a:rPr>
              <a:t>i</a:t>
            </a:r>
            <a:endParaRPr lang="en-US" altLang="zh-CN" sz="2400">
              <a:latin typeface="Times New Roman" panose="02020603050405020304" pitchFamily="18" charset="0"/>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标题 3">
            <a:extLst>
              <a:ext uri="{FF2B5EF4-FFF2-40B4-BE49-F238E27FC236}">
                <a16:creationId xmlns:a16="http://schemas.microsoft.com/office/drawing/2014/main" id="{E6284822-B3C1-E84D-9EE9-0D8488E83EF4}"/>
              </a:ext>
            </a:extLst>
          </p:cNvPr>
          <p:cNvSpPr>
            <a:spLocks noGrp="1" noChangeArrowheads="1"/>
          </p:cNvSpPr>
          <p:nvPr>
            <p:ph type="title"/>
          </p:nvPr>
        </p:nvSpPr>
        <p:spPr>
          <a:xfrm>
            <a:off x="1465263" y="365125"/>
            <a:ext cx="9037637" cy="668338"/>
          </a:xfrm>
        </p:spPr>
        <p:txBody>
          <a:bodyPr/>
          <a:lstStyle/>
          <a:p>
            <a:r>
              <a:rPr lang="en-US" altLang="zh-CN">
                <a:solidFill>
                  <a:schemeClr val="tx2"/>
                </a:solidFill>
                <a:latin typeface="Times New Roman" panose="02020603050405020304" pitchFamily="18" charset="0"/>
              </a:rPr>
              <a:t>DES</a:t>
            </a:r>
            <a:r>
              <a:rPr lang="zh-CN" altLang="en-US">
                <a:solidFill>
                  <a:schemeClr val="tx2"/>
                </a:solidFill>
                <a:latin typeface="华文行楷" panose="02010800040101010101" pitchFamily="2" charset="-122"/>
              </a:rPr>
              <a:t>中的子密钥的生成</a:t>
            </a:r>
            <a:endParaRPr lang="zh-CN" altLang="en-US">
              <a:solidFill>
                <a:srgbClr val="1F4E79"/>
              </a:solidFill>
            </a:endParaRPr>
          </a:p>
        </p:txBody>
      </p:sp>
      <p:graphicFrame>
        <p:nvGraphicFramePr>
          <p:cNvPr id="178178" name="Object 2">
            <a:extLst>
              <a:ext uri="{FF2B5EF4-FFF2-40B4-BE49-F238E27FC236}">
                <a16:creationId xmlns:a16="http://schemas.microsoft.com/office/drawing/2014/main" id="{D650445A-E4A1-C74E-A2B2-8B4B62835106}"/>
              </a:ext>
            </a:extLst>
          </p:cNvPr>
          <p:cNvGraphicFramePr>
            <a:graphicFrameLocks noChangeAspect="1"/>
          </p:cNvGraphicFramePr>
          <p:nvPr/>
        </p:nvGraphicFramePr>
        <p:xfrm>
          <a:off x="3071813" y="1390650"/>
          <a:ext cx="5711825" cy="4630738"/>
        </p:xfrm>
        <a:graphic>
          <a:graphicData uri="http://schemas.openxmlformats.org/presentationml/2006/ole">
            <mc:AlternateContent xmlns:mc="http://schemas.openxmlformats.org/markup-compatibility/2006">
              <mc:Choice xmlns:v="urn:schemas-microsoft-com:vml" Requires="v">
                <p:oleObj spid="_x0000_s178387" r:id="rId4" imgW="13347700" imgH="13347700" progId="Word.Picture.8">
                  <p:embed/>
                </p:oleObj>
              </mc:Choice>
              <mc:Fallback>
                <p:oleObj r:id="rId4" imgW="13347700" imgH="13347700" progId="Word.Pictur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3" y="1390650"/>
                        <a:ext cx="5711825" cy="463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9748" name="Rectangle 4">
            <a:extLst>
              <a:ext uri="{FF2B5EF4-FFF2-40B4-BE49-F238E27FC236}">
                <a16:creationId xmlns:a16="http://schemas.microsoft.com/office/drawing/2014/main" id="{22DBFD3A-8B9A-DF43-A06F-9E0F798751AC}"/>
              </a:ext>
            </a:extLst>
          </p:cNvPr>
          <p:cNvSpPr>
            <a:spLocks noChangeArrowheads="1"/>
          </p:cNvSpPr>
          <p:nvPr/>
        </p:nvSpPr>
        <p:spPr bwMode="auto">
          <a:xfrm>
            <a:off x="7048500" y="2195513"/>
            <a:ext cx="125413" cy="16319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latin typeface="Tahoma" panose="020B0604030504040204" pitchFamily="34" charset="0"/>
            </a:endParaRPr>
          </a:p>
        </p:txBody>
      </p:sp>
      <p:sp>
        <p:nvSpPr>
          <p:cNvPr id="159749" name="Rectangle 5">
            <a:extLst>
              <a:ext uri="{FF2B5EF4-FFF2-40B4-BE49-F238E27FC236}">
                <a16:creationId xmlns:a16="http://schemas.microsoft.com/office/drawing/2014/main" id="{1C0BDCF1-CDA1-6947-831E-03DFD486C14E}"/>
              </a:ext>
            </a:extLst>
          </p:cNvPr>
          <p:cNvSpPr>
            <a:spLocks noChangeArrowheads="1"/>
          </p:cNvSpPr>
          <p:nvPr/>
        </p:nvSpPr>
        <p:spPr bwMode="auto">
          <a:xfrm>
            <a:off x="7802563" y="2195513"/>
            <a:ext cx="125412" cy="16319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latin typeface="Tahoma" panose="020B0604030504040204" pitchFamily="34" charset="0"/>
            </a:endParaRPr>
          </a:p>
        </p:txBody>
      </p:sp>
      <p:grpSp>
        <p:nvGrpSpPr>
          <p:cNvPr id="159750" name="Group 6">
            <a:extLst>
              <a:ext uri="{FF2B5EF4-FFF2-40B4-BE49-F238E27FC236}">
                <a16:creationId xmlns:a16="http://schemas.microsoft.com/office/drawing/2014/main" id="{EF434A71-6A40-484D-A49A-C26D93AC8CE9}"/>
              </a:ext>
            </a:extLst>
          </p:cNvPr>
          <p:cNvGrpSpPr>
            <a:grpSpLocks/>
          </p:cNvGrpSpPr>
          <p:nvPr/>
        </p:nvGrpSpPr>
        <p:grpSpPr bwMode="auto">
          <a:xfrm>
            <a:off x="1711325" y="1149350"/>
            <a:ext cx="1695450" cy="1436688"/>
            <a:chOff x="0" y="0"/>
            <a:chExt cx="1296" cy="1056"/>
          </a:xfrm>
        </p:grpSpPr>
        <p:graphicFrame>
          <p:nvGraphicFramePr>
            <p:cNvPr id="178182" name="Object 7">
              <a:extLst>
                <a:ext uri="{FF2B5EF4-FFF2-40B4-BE49-F238E27FC236}">
                  <a16:creationId xmlns:a16="http://schemas.microsoft.com/office/drawing/2014/main" id="{994F3E4A-1AC2-0E40-A7C3-34BAD88017B7}"/>
                </a:ext>
              </a:extLst>
            </p:cNvPr>
            <p:cNvGraphicFramePr>
              <a:graphicFrameLocks noChangeAspect="1"/>
            </p:cNvGraphicFramePr>
            <p:nvPr/>
          </p:nvGraphicFramePr>
          <p:xfrm>
            <a:off x="0" y="0"/>
            <a:ext cx="1296" cy="1056"/>
          </p:xfrm>
          <a:graphic>
            <a:graphicData uri="http://schemas.openxmlformats.org/presentationml/2006/ole">
              <mc:AlternateContent xmlns:mc="http://schemas.openxmlformats.org/markup-compatibility/2006">
                <mc:Choice xmlns:v="urn:schemas-microsoft-com:vml" Requires="v">
                  <p:oleObj spid="_x0000_s178388" r:id="rId6" imgW="2387600" imgH="2209800" progId="Paint.Picture">
                    <p:embed/>
                  </p:oleObj>
                </mc:Choice>
                <mc:Fallback>
                  <p:oleObj r:id="rId6" imgW="2387600" imgH="2209800" progId="Paint.Picture">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96"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8183" name="Line 8">
              <a:extLst>
                <a:ext uri="{FF2B5EF4-FFF2-40B4-BE49-F238E27FC236}">
                  <a16:creationId xmlns:a16="http://schemas.microsoft.com/office/drawing/2014/main" id="{9469723E-2727-6D4F-894A-DA67521A082C}"/>
                </a:ext>
              </a:extLst>
            </p:cNvPr>
            <p:cNvSpPr>
              <a:spLocks noChangeShapeType="1"/>
            </p:cNvSpPr>
            <p:nvPr/>
          </p:nvSpPr>
          <p:spPr bwMode="auto">
            <a:xfrm>
              <a:off x="1296" y="24"/>
              <a:ext cx="0" cy="1008"/>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en-CN"/>
            </a:p>
          </p:txBody>
        </p:sp>
      </p:grpSp>
      <p:sp>
        <p:nvSpPr>
          <p:cNvPr id="159753" name="Line 9">
            <a:extLst>
              <a:ext uri="{FF2B5EF4-FFF2-40B4-BE49-F238E27FC236}">
                <a16:creationId xmlns:a16="http://schemas.microsoft.com/office/drawing/2014/main" id="{300AC1B9-F2BC-2345-B272-4A8C0EC46491}"/>
              </a:ext>
            </a:extLst>
          </p:cNvPr>
          <p:cNvSpPr>
            <a:spLocks noChangeShapeType="1"/>
          </p:cNvSpPr>
          <p:nvPr/>
        </p:nvSpPr>
        <p:spPr bwMode="auto">
          <a:xfrm>
            <a:off x="3406775" y="2260600"/>
            <a:ext cx="690563" cy="0"/>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grpSp>
        <p:nvGrpSpPr>
          <p:cNvPr id="159754" name="Group 10">
            <a:extLst>
              <a:ext uri="{FF2B5EF4-FFF2-40B4-BE49-F238E27FC236}">
                <a16:creationId xmlns:a16="http://schemas.microsoft.com/office/drawing/2014/main" id="{B222E23A-B811-864F-AC76-0527B7B92362}"/>
              </a:ext>
            </a:extLst>
          </p:cNvPr>
          <p:cNvGrpSpPr>
            <a:grpSpLocks/>
          </p:cNvGrpSpPr>
          <p:nvPr/>
        </p:nvGrpSpPr>
        <p:grpSpPr bwMode="auto">
          <a:xfrm>
            <a:off x="8242300" y="4284663"/>
            <a:ext cx="1568450" cy="1501775"/>
            <a:chOff x="4944" y="2304"/>
            <a:chExt cx="1200" cy="1104"/>
          </a:xfrm>
        </p:grpSpPr>
        <p:graphicFrame>
          <p:nvGraphicFramePr>
            <p:cNvPr id="178186" name="Object 11">
              <a:extLst>
                <a:ext uri="{FF2B5EF4-FFF2-40B4-BE49-F238E27FC236}">
                  <a16:creationId xmlns:a16="http://schemas.microsoft.com/office/drawing/2014/main" id="{FB3580C3-984C-AB43-BA3E-2FF9F69C3A7B}"/>
                </a:ext>
              </a:extLst>
            </p:cNvPr>
            <p:cNvGraphicFramePr>
              <a:graphicFrameLocks noChangeAspect="1"/>
            </p:cNvGraphicFramePr>
            <p:nvPr/>
          </p:nvGraphicFramePr>
          <p:xfrm>
            <a:off x="4944" y="2304"/>
            <a:ext cx="1200" cy="1104"/>
          </p:xfrm>
          <a:graphic>
            <a:graphicData uri="http://schemas.openxmlformats.org/presentationml/2006/ole">
              <mc:AlternateContent xmlns:mc="http://schemas.openxmlformats.org/markup-compatibility/2006">
                <mc:Choice xmlns:v="urn:schemas-microsoft-com:vml" Requires="v">
                  <p:oleObj spid="_x0000_s178389" r:id="rId8" imgW="2127250" imgH="2165350" progId="Paint.Picture">
                    <p:embed/>
                  </p:oleObj>
                </mc:Choice>
                <mc:Fallback>
                  <p:oleObj r:id="rId8" imgW="2127250" imgH="2165350" progId="Paint.Picture">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44" y="2304"/>
                          <a:ext cx="1200"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8187" name="Line 12">
              <a:extLst>
                <a:ext uri="{FF2B5EF4-FFF2-40B4-BE49-F238E27FC236}">
                  <a16:creationId xmlns:a16="http://schemas.microsoft.com/office/drawing/2014/main" id="{28FABF33-D94C-DE4A-A881-DC110A82BAF5}"/>
                </a:ext>
              </a:extLst>
            </p:cNvPr>
            <p:cNvSpPr>
              <a:spLocks noChangeShapeType="1"/>
            </p:cNvSpPr>
            <p:nvPr/>
          </p:nvSpPr>
          <p:spPr bwMode="auto">
            <a:xfrm>
              <a:off x="4944" y="2328"/>
              <a:ext cx="0" cy="105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en-CN"/>
            </a:p>
          </p:txBody>
        </p:sp>
        <p:sp>
          <p:nvSpPr>
            <p:cNvPr id="178188" name="Line 13">
              <a:extLst>
                <a:ext uri="{FF2B5EF4-FFF2-40B4-BE49-F238E27FC236}">
                  <a16:creationId xmlns:a16="http://schemas.microsoft.com/office/drawing/2014/main" id="{F4433E89-03A2-FD43-9DC0-7676B355353C}"/>
                </a:ext>
              </a:extLst>
            </p:cNvPr>
            <p:cNvSpPr>
              <a:spLocks noChangeShapeType="1"/>
            </p:cNvSpPr>
            <p:nvPr/>
          </p:nvSpPr>
          <p:spPr bwMode="auto">
            <a:xfrm>
              <a:off x="6144" y="2310"/>
              <a:ext cx="0" cy="105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en-CN"/>
            </a:p>
          </p:txBody>
        </p:sp>
      </p:grpSp>
      <p:sp>
        <p:nvSpPr>
          <p:cNvPr id="159758" name="Line 14">
            <a:extLst>
              <a:ext uri="{FF2B5EF4-FFF2-40B4-BE49-F238E27FC236}">
                <a16:creationId xmlns:a16="http://schemas.microsoft.com/office/drawing/2014/main" id="{207420BA-1726-B44A-B9BA-04CD69B000E9}"/>
              </a:ext>
            </a:extLst>
          </p:cNvPr>
          <p:cNvSpPr>
            <a:spLocks noChangeShapeType="1"/>
          </p:cNvSpPr>
          <p:nvPr/>
        </p:nvSpPr>
        <p:spPr bwMode="auto">
          <a:xfrm>
            <a:off x="7440613" y="4479925"/>
            <a:ext cx="754062" cy="325438"/>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9759" name="Line 15">
            <a:extLst>
              <a:ext uri="{FF2B5EF4-FFF2-40B4-BE49-F238E27FC236}">
                <a16:creationId xmlns:a16="http://schemas.microsoft.com/office/drawing/2014/main" id="{72CD3C60-6FC6-D94E-B3CB-19DB71A7D359}"/>
              </a:ext>
            </a:extLst>
          </p:cNvPr>
          <p:cNvSpPr>
            <a:spLocks noChangeShapeType="1"/>
          </p:cNvSpPr>
          <p:nvPr/>
        </p:nvSpPr>
        <p:spPr bwMode="auto">
          <a:xfrm flipV="1">
            <a:off x="7440613" y="5132388"/>
            <a:ext cx="754062" cy="457200"/>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9760" name="Line 16">
            <a:extLst>
              <a:ext uri="{FF2B5EF4-FFF2-40B4-BE49-F238E27FC236}">
                <a16:creationId xmlns:a16="http://schemas.microsoft.com/office/drawing/2014/main" id="{229FE0BE-8FA5-B248-BEF9-9923E4F24290}"/>
              </a:ext>
            </a:extLst>
          </p:cNvPr>
          <p:cNvSpPr>
            <a:spLocks noChangeShapeType="1"/>
          </p:cNvSpPr>
          <p:nvPr/>
        </p:nvSpPr>
        <p:spPr bwMode="auto">
          <a:xfrm flipV="1">
            <a:off x="5918200" y="2325688"/>
            <a:ext cx="690563" cy="1044575"/>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9753"/>
                                        </p:tgtEl>
                                        <p:attrNameLst>
                                          <p:attrName>style.visibility</p:attrName>
                                        </p:attrNameLst>
                                      </p:cBhvr>
                                      <p:to>
                                        <p:strVal val="visible"/>
                                      </p:to>
                                    </p:set>
                                    <p:animEffect transition="in" filter="blinds(horizontal)">
                                      <p:cBhvr>
                                        <p:cTn id="7" dur="500"/>
                                        <p:tgtEl>
                                          <p:spTgt spid="159753"/>
                                        </p:tgtEl>
                                      </p:cBhvr>
                                    </p:animEffect>
                                  </p:childTnLst>
                                </p:cTn>
                              </p:par>
                              <p:par>
                                <p:cTn id="8" presetID="3" presetClass="entr" presetSubtype="10" fill="hold" nodeType="withEffect">
                                  <p:stCondLst>
                                    <p:cond delay="0"/>
                                  </p:stCondLst>
                                  <p:childTnLst>
                                    <p:set>
                                      <p:cBhvr>
                                        <p:cTn id="9" dur="1" fill="hold">
                                          <p:stCondLst>
                                            <p:cond delay="0"/>
                                          </p:stCondLst>
                                        </p:cTn>
                                        <p:tgtEl>
                                          <p:spTgt spid="159750"/>
                                        </p:tgtEl>
                                        <p:attrNameLst>
                                          <p:attrName>style.visibility</p:attrName>
                                        </p:attrNameLst>
                                      </p:cBhvr>
                                      <p:to>
                                        <p:strVal val="visible"/>
                                      </p:to>
                                    </p:set>
                                    <p:animEffect transition="in" filter="blinds(horizontal)">
                                      <p:cBhvr>
                                        <p:cTn id="10" dur="500"/>
                                        <p:tgtEl>
                                          <p:spTgt spid="159750"/>
                                        </p:tgtEl>
                                      </p:cBhvr>
                                    </p:animEffect>
                                  </p:childTnLst>
                                </p:cTn>
                              </p:par>
                              <p:par>
                                <p:cTn id="11" presetID="3" presetClass="entr" presetSubtype="10" fill="hold" nodeType="withEffect">
                                  <p:stCondLst>
                                    <p:cond delay="0"/>
                                  </p:stCondLst>
                                  <p:childTnLst>
                                    <p:set>
                                      <p:cBhvr>
                                        <p:cTn id="12" dur="1" fill="hold">
                                          <p:stCondLst>
                                            <p:cond delay="0"/>
                                          </p:stCondLst>
                                        </p:cTn>
                                        <p:tgtEl>
                                          <p:spTgt spid="159760"/>
                                        </p:tgtEl>
                                        <p:attrNameLst>
                                          <p:attrName>style.visibility</p:attrName>
                                        </p:attrNameLst>
                                      </p:cBhvr>
                                      <p:to>
                                        <p:strVal val="visible"/>
                                      </p:to>
                                    </p:set>
                                    <p:animEffect transition="in" filter="blinds(horizontal)">
                                      <p:cBhvr>
                                        <p:cTn id="13" dur="500"/>
                                        <p:tgtEl>
                                          <p:spTgt spid="159760"/>
                                        </p:tgtEl>
                                      </p:cBhvr>
                                    </p:animEffect>
                                  </p:childTnLst>
                                </p:cTn>
                              </p:par>
                              <p:par>
                                <p:cTn id="14" presetID="3" presetClass="entr" presetSubtype="10" fill="hold" nodeType="withEffect">
                                  <p:stCondLst>
                                    <p:cond delay="0"/>
                                  </p:stCondLst>
                                  <p:childTnLst>
                                    <p:set>
                                      <p:cBhvr>
                                        <p:cTn id="15" dur="1" fill="hold">
                                          <p:stCondLst>
                                            <p:cond delay="0"/>
                                          </p:stCondLst>
                                        </p:cTn>
                                        <p:tgtEl>
                                          <p:spTgt spid="159758"/>
                                        </p:tgtEl>
                                        <p:attrNameLst>
                                          <p:attrName>style.visibility</p:attrName>
                                        </p:attrNameLst>
                                      </p:cBhvr>
                                      <p:to>
                                        <p:strVal val="visible"/>
                                      </p:to>
                                    </p:set>
                                    <p:animEffect transition="in" filter="blinds(horizontal)">
                                      <p:cBhvr>
                                        <p:cTn id="16" dur="500"/>
                                        <p:tgtEl>
                                          <p:spTgt spid="159758"/>
                                        </p:tgtEl>
                                      </p:cBhvr>
                                    </p:animEffect>
                                  </p:childTnLst>
                                </p:cTn>
                              </p:par>
                              <p:par>
                                <p:cTn id="17" presetID="3" presetClass="entr" presetSubtype="10" fill="hold" nodeType="withEffect">
                                  <p:stCondLst>
                                    <p:cond delay="0"/>
                                  </p:stCondLst>
                                  <p:childTnLst>
                                    <p:set>
                                      <p:cBhvr>
                                        <p:cTn id="18" dur="1" fill="hold">
                                          <p:stCondLst>
                                            <p:cond delay="0"/>
                                          </p:stCondLst>
                                        </p:cTn>
                                        <p:tgtEl>
                                          <p:spTgt spid="159759"/>
                                        </p:tgtEl>
                                        <p:attrNameLst>
                                          <p:attrName>style.visibility</p:attrName>
                                        </p:attrNameLst>
                                      </p:cBhvr>
                                      <p:to>
                                        <p:strVal val="visible"/>
                                      </p:to>
                                    </p:set>
                                    <p:animEffect transition="in" filter="blinds(horizontal)">
                                      <p:cBhvr>
                                        <p:cTn id="19" dur="500"/>
                                        <p:tgtEl>
                                          <p:spTgt spid="159759"/>
                                        </p:tgtEl>
                                      </p:cBhvr>
                                    </p:animEffect>
                                  </p:childTnLst>
                                </p:cTn>
                              </p:par>
                              <p:par>
                                <p:cTn id="20" presetID="3" presetClass="entr" presetSubtype="10" fill="hold" nodeType="withEffect">
                                  <p:stCondLst>
                                    <p:cond delay="0"/>
                                  </p:stCondLst>
                                  <p:childTnLst>
                                    <p:set>
                                      <p:cBhvr>
                                        <p:cTn id="21" dur="1" fill="hold">
                                          <p:stCondLst>
                                            <p:cond delay="0"/>
                                          </p:stCondLst>
                                        </p:cTn>
                                        <p:tgtEl>
                                          <p:spTgt spid="159754"/>
                                        </p:tgtEl>
                                        <p:attrNameLst>
                                          <p:attrName>style.visibility</p:attrName>
                                        </p:attrNameLst>
                                      </p:cBhvr>
                                      <p:to>
                                        <p:strVal val="visible"/>
                                      </p:to>
                                    </p:set>
                                    <p:animEffect transition="in" filter="blinds(horizontal)">
                                      <p:cBhvr>
                                        <p:cTn id="22" dur="500"/>
                                        <p:tgtEl>
                                          <p:spTgt spid="15975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59749"/>
                                        </p:tgtEl>
                                        <p:attrNameLst>
                                          <p:attrName>style.visibility</p:attrName>
                                        </p:attrNameLst>
                                      </p:cBhvr>
                                      <p:to>
                                        <p:strVal val="visible"/>
                                      </p:to>
                                    </p:set>
                                    <p:animEffect transition="in" filter="blinds(horizontal)">
                                      <p:cBhvr>
                                        <p:cTn id="25" dur="500"/>
                                        <p:tgtEl>
                                          <p:spTgt spid="15974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59748"/>
                                        </p:tgtEl>
                                        <p:attrNameLst>
                                          <p:attrName>style.visibility</p:attrName>
                                        </p:attrNameLst>
                                      </p:cBhvr>
                                      <p:to>
                                        <p:strVal val="visible"/>
                                      </p:to>
                                    </p:set>
                                    <p:animEffect transition="in" filter="blinds(horizontal)">
                                      <p:cBhvr>
                                        <p:cTn id="28" dur="500"/>
                                        <p:tgtEl>
                                          <p:spTgt spid="159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nimBg="1"/>
      <p:bldP spid="159749"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5" name="Text Box 2">
            <a:extLst>
              <a:ext uri="{FF2B5EF4-FFF2-40B4-BE49-F238E27FC236}">
                <a16:creationId xmlns:a16="http://schemas.microsoft.com/office/drawing/2014/main" id="{DD006A3D-C57D-CB44-BCAA-75CCC0EB54F7}"/>
              </a:ext>
            </a:extLst>
          </p:cNvPr>
          <p:cNvSpPr txBox="1">
            <a:spLocks noChangeArrowheads="1"/>
          </p:cNvSpPr>
          <p:nvPr/>
        </p:nvSpPr>
        <p:spPr bwMode="auto">
          <a:xfrm>
            <a:off x="3990975" y="11509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80226" name="Text Box 3">
            <a:extLst>
              <a:ext uri="{FF2B5EF4-FFF2-40B4-BE49-F238E27FC236}">
                <a16:creationId xmlns:a16="http://schemas.microsoft.com/office/drawing/2014/main" id="{79B0EAF2-CA1B-9D42-937A-7705884A6557}"/>
              </a:ext>
            </a:extLst>
          </p:cNvPr>
          <p:cNvSpPr txBox="1">
            <a:spLocks noChangeArrowheads="1"/>
          </p:cNvSpPr>
          <p:nvPr/>
        </p:nvSpPr>
        <p:spPr bwMode="auto">
          <a:xfrm>
            <a:off x="4556125" y="5126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80227" name="Text Box 4">
            <a:extLst>
              <a:ext uri="{FF2B5EF4-FFF2-40B4-BE49-F238E27FC236}">
                <a16:creationId xmlns:a16="http://schemas.microsoft.com/office/drawing/2014/main" id="{F19FDF87-95A5-494A-A858-FC64FC434655}"/>
              </a:ext>
            </a:extLst>
          </p:cNvPr>
          <p:cNvSpPr txBox="1">
            <a:spLocks noChangeArrowheads="1"/>
          </p:cNvSpPr>
          <p:nvPr/>
        </p:nvSpPr>
        <p:spPr bwMode="auto">
          <a:xfrm>
            <a:off x="4845050" y="11509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80228" name="Text Box 5">
            <a:extLst>
              <a:ext uri="{FF2B5EF4-FFF2-40B4-BE49-F238E27FC236}">
                <a16:creationId xmlns:a16="http://schemas.microsoft.com/office/drawing/2014/main" id="{357120B3-86DD-3C48-AAAA-384C105BF804}"/>
              </a:ext>
            </a:extLst>
          </p:cNvPr>
          <p:cNvSpPr txBox="1">
            <a:spLocks noChangeArrowheads="1"/>
          </p:cNvSpPr>
          <p:nvPr/>
        </p:nvSpPr>
        <p:spPr bwMode="auto">
          <a:xfrm>
            <a:off x="3838575" y="11509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80229" name="标题 3">
            <a:extLst>
              <a:ext uri="{FF2B5EF4-FFF2-40B4-BE49-F238E27FC236}">
                <a16:creationId xmlns:a16="http://schemas.microsoft.com/office/drawing/2014/main" id="{FE5490BD-4DD2-3543-A644-65874277808D}"/>
              </a:ext>
            </a:extLst>
          </p:cNvPr>
          <p:cNvSpPr>
            <a:spLocks noGrp="1" noChangeArrowheads="1"/>
          </p:cNvSpPr>
          <p:nvPr>
            <p:ph type="title"/>
          </p:nvPr>
        </p:nvSpPr>
        <p:spPr>
          <a:xfrm>
            <a:off x="1465263" y="365125"/>
            <a:ext cx="9037637" cy="668338"/>
          </a:xfrm>
        </p:spPr>
        <p:txBody>
          <a:bodyPr/>
          <a:lstStyle/>
          <a:p>
            <a:r>
              <a:rPr lang="en-US" altLang="zh-CN">
                <a:solidFill>
                  <a:schemeClr val="hlink"/>
                </a:solidFill>
              </a:rPr>
              <a:t>DES</a:t>
            </a:r>
            <a:r>
              <a:rPr lang="zh-CN" altLang="en-US">
                <a:solidFill>
                  <a:schemeClr val="hlink"/>
                </a:solidFill>
              </a:rPr>
              <a:t>算法密钥编排中使用的表</a:t>
            </a:r>
            <a:endParaRPr lang="zh-CN" altLang="en-US">
              <a:solidFill>
                <a:srgbClr val="1F4E79"/>
              </a:solidFill>
            </a:endParaRPr>
          </a:p>
        </p:txBody>
      </p:sp>
      <p:graphicFrame>
        <p:nvGraphicFramePr>
          <p:cNvPr id="6" name="表格 5">
            <a:extLst>
              <a:ext uri="{FF2B5EF4-FFF2-40B4-BE49-F238E27FC236}">
                <a16:creationId xmlns:a16="http://schemas.microsoft.com/office/drawing/2014/main" id="{7FE9B536-4ABD-2A44-87E0-DB72BAD1F096}"/>
              </a:ext>
            </a:extLst>
          </p:cNvPr>
          <p:cNvGraphicFramePr>
            <a:graphicFrameLocks noGrp="1"/>
          </p:cNvGraphicFramePr>
          <p:nvPr/>
        </p:nvGraphicFramePr>
        <p:xfrm>
          <a:off x="1819275" y="1150938"/>
          <a:ext cx="3238500" cy="3292475"/>
        </p:xfrm>
        <a:graphic>
          <a:graphicData uri="http://schemas.openxmlformats.org/drawingml/2006/table">
            <a:tbl>
              <a:tblPr firstRow="1" firstCol="1" lastRow="1" lastCol="1" bandRow="1" bandCol="1">
                <a:tableStyleId>{5C22544A-7EE6-4342-B048-85BDC9FD1C3A}</a:tableStyleId>
              </a:tblPr>
              <a:tblGrid>
                <a:gridCol w="3238500">
                  <a:extLst>
                    <a:ext uri="{9D8B030D-6E8A-4147-A177-3AD203B41FA5}">
                      <a16:colId xmlns:a16="http://schemas.microsoft.com/office/drawing/2014/main" val="20000"/>
                    </a:ext>
                  </a:extLst>
                </a:gridCol>
              </a:tblGrid>
              <a:tr h="365831">
                <a:tc>
                  <a:txBody>
                    <a:bodyPr/>
                    <a:lstStyle/>
                    <a:p>
                      <a:pPr algn="ctr">
                        <a:spcAft>
                          <a:spcPts val="0"/>
                        </a:spcAft>
                        <a:tabLst>
                          <a:tab pos="1600200" algn="l"/>
                        </a:tabLst>
                      </a:pPr>
                      <a:r>
                        <a:rPr lang="en-US" sz="2400" kern="100" dirty="0">
                          <a:solidFill>
                            <a:schemeClr val="tx1"/>
                          </a:solidFill>
                          <a:effectLst/>
                        </a:rPr>
                        <a:t>PC-1</a:t>
                      </a:r>
                      <a:endParaRPr lang="zh-CN" sz="2400" kern="100" dirty="0">
                        <a:solidFill>
                          <a:schemeClr val="tx1"/>
                        </a:solidFill>
                        <a:effectLst/>
                        <a:latin typeface="Times New Roman" panose="02020603050405020304" pitchFamily="18" charset="0"/>
                        <a:ea typeface="宋体" panose="02010600030101010101" pitchFamily="2" charset="-122"/>
                      </a:endParaRPr>
                    </a:p>
                  </a:txBody>
                  <a:tcPr marL="68593" marR="6859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926644">
                <a:tc>
                  <a:txBody>
                    <a:bodyPr/>
                    <a:lstStyle/>
                    <a:p>
                      <a:pPr algn="just">
                        <a:spcAft>
                          <a:spcPts val="0"/>
                        </a:spcAft>
                        <a:tabLst>
                          <a:tab pos="1600200" algn="l"/>
                        </a:tabLst>
                      </a:pPr>
                      <a:r>
                        <a:rPr lang="en-US" sz="2400" kern="100" dirty="0">
                          <a:solidFill>
                            <a:schemeClr val="tx1"/>
                          </a:solidFill>
                          <a:effectLst/>
                        </a:rPr>
                        <a:t>57  49  41  33  25  17   9</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 1  58  50  42  34  26  18</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10   2  59  51  43  35  27</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19  11   3  60  52  44  36</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63  55  47  39  31  23  15</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 7  62  54  46  38  30  22</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14   6  61  53  45  37  29</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21  13   5  28  20  12   4</a:t>
                      </a:r>
                      <a:endParaRPr lang="zh-CN" sz="2400" kern="100" dirty="0">
                        <a:solidFill>
                          <a:schemeClr val="tx1"/>
                        </a:solidFill>
                        <a:effectLst/>
                        <a:latin typeface="Times New Roman" panose="02020603050405020304" pitchFamily="18" charset="0"/>
                        <a:ea typeface="宋体" panose="02010600030101010101" pitchFamily="2" charset="-122"/>
                      </a:endParaRPr>
                    </a:p>
                  </a:txBody>
                  <a:tcPr marL="68593" marR="6859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7" name="表格 6">
            <a:extLst>
              <a:ext uri="{FF2B5EF4-FFF2-40B4-BE49-F238E27FC236}">
                <a16:creationId xmlns:a16="http://schemas.microsoft.com/office/drawing/2014/main" id="{DB972476-937D-474F-8070-02710C08C875}"/>
              </a:ext>
            </a:extLst>
          </p:cNvPr>
          <p:cNvGraphicFramePr>
            <a:graphicFrameLocks noGrp="1"/>
          </p:cNvGraphicFramePr>
          <p:nvPr/>
        </p:nvGraphicFramePr>
        <p:xfrm>
          <a:off x="7359650" y="1150938"/>
          <a:ext cx="2851150" cy="3292475"/>
        </p:xfrm>
        <a:graphic>
          <a:graphicData uri="http://schemas.openxmlformats.org/drawingml/2006/table">
            <a:tbl>
              <a:tblPr firstRow="1" firstCol="1" lastRow="1" lastCol="1" bandRow="1" bandCol="1">
                <a:tableStyleId>{5C22544A-7EE6-4342-B048-85BDC9FD1C3A}</a:tableStyleId>
              </a:tblPr>
              <a:tblGrid>
                <a:gridCol w="2851150">
                  <a:extLst>
                    <a:ext uri="{9D8B030D-6E8A-4147-A177-3AD203B41FA5}">
                      <a16:colId xmlns:a16="http://schemas.microsoft.com/office/drawing/2014/main" val="20000"/>
                    </a:ext>
                  </a:extLst>
                </a:gridCol>
              </a:tblGrid>
              <a:tr h="365831">
                <a:tc>
                  <a:txBody>
                    <a:bodyPr/>
                    <a:lstStyle/>
                    <a:p>
                      <a:pPr algn="ctr">
                        <a:spcAft>
                          <a:spcPts val="0"/>
                        </a:spcAft>
                        <a:tabLst>
                          <a:tab pos="1600200" algn="l"/>
                        </a:tabLst>
                      </a:pPr>
                      <a:r>
                        <a:rPr lang="en-US" sz="2400" kern="100">
                          <a:solidFill>
                            <a:schemeClr val="tx1"/>
                          </a:solidFill>
                          <a:effectLst/>
                        </a:rPr>
                        <a:t>PC-2</a:t>
                      </a:r>
                      <a:endParaRPr lang="zh-CN" sz="2400" kern="100">
                        <a:solidFill>
                          <a:schemeClr val="tx1"/>
                        </a:solidFill>
                        <a:effectLst/>
                        <a:latin typeface="Times New Roman" panose="02020603050405020304" pitchFamily="18" charset="0"/>
                        <a:ea typeface="宋体" panose="02010600030101010101" pitchFamily="2" charset="-122"/>
                      </a:endParaRPr>
                    </a:p>
                  </a:txBody>
                  <a:tcPr marL="68576" marR="685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926644">
                <a:tc>
                  <a:txBody>
                    <a:bodyPr/>
                    <a:lstStyle/>
                    <a:p>
                      <a:pPr algn="just">
                        <a:spcAft>
                          <a:spcPts val="0"/>
                        </a:spcAft>
                        <a:tabLst>
                          <a:tab pos="1600200" algn="l"/>
                        </a:tabLst>
                      </a:pPr>
                      <a:r>
                        <a:rPr lang="en-US" sz="2400" kern="100" dirty="0">
                          <a:solidFill>
                            <a:schemeClr val="tx1"/>
                          </a:solidFill>
                          <a:effectLst/>
                        </a:rPr>
                        <a:t>14  17  11  24   1   5</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 3  28  15   6  21  10</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23  19  12   4  26   8</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16   7  27  20  13   2</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41  52  31  37  47  55</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30  40  51  45  33  48</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44  49  39  56  34  53</a:t>
                      </a:r>
                      <a:endParaRPr lang="zh-CN" sz="2400" kern="100" dirty="0">
                        <a:solidFill>
                          <a:schemeClr val="tx1"/>
                        </a:solidFill>
                        <a:effectLst/>
                      </a:endParaRPr>
                    </a:p>
                    <a:p>
                      <a:pPr algn="just">
                        <a:spcAft>
                          <a:spcPts val="0"/>
                        </a:spcAft>
                        <a:tabLst>
                          <a:tab pos="1600200" algn="l"/>
                        </a:tabLst>
                      </a:pPr>
                      <a:r>
                        <a:rPr lang="en-US" sz="2400" kern="100" dirty="0">
                          <a:solidFill>
                            <a:schemeClr val="tx1"/>
                          </a:solidFill>
                          <a:effectLst/>
                        </a:rPr>
                        <a:t>46  42  50  36  29  32</a:t>
                      </a:r>
                      <a:endParaRPr lang="zh-CN" sz="2400" kern="100" dirty="0">
                        <a:solidFill>
                          <a:schemeClr val="tx1"/>
                        </a:solidFill>
                        <a:effectLst/>
                        <a:latin typeface="Times New Roman" panose="02020603050405020304" pitchFamily="18" charset="0"/>
                        <a:ea typeface="宋体" panose="02010600030101010101" pitchFamily="2" charset="-122"/>
                      </a:endParaRPr>
                    </a:p>
                  </a:txBody>
                  <a:tcPr marL="68576" marR="685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80246" name="矩形 7">
            <a:extLst>
              <a:ext uri="{FF2B5EF4-FFF2-40B4-BE49-F238E27FC236}">
                <a16:creationId xmlns:a16="http://schemas.microsoft.com/office/drawing/2014/main" id="{BC62D463-6B86-264A-B99B-F959439AB942}"/>
              </a:ext>
            </a:extLst>
          </p:cNvPr>
          <p:cNvSpPr>
            <a:spLocks noChangeArrowheads="1"/>
          </p:cNvSpPr>
          <p:nvPr/>
        </p:nvSpPr>
        <p:spPr bwMode="auto">
          <a:xfrm>
            <a:off x="2590800" y="4767263"/>
            <a:ext cx="6934200" cy="10779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just">
              <a:spcAft>
                <a:spcPts val="600"/>
              </a:spcAft>
            </a:pPr>
            <a:r>
              <a:rPr lang="en-US" altLang="zh-CN" b="1">
                <a:latin typeface="Times New Roman" panose="02020603050405020304" pitchFamily="18" charset="0"/>
              </a:rPr>
              <a:t>                                                   </a:t>
            </a:r>
            <a:r>
              <a:rPr lang="zh-CN" altLang="en-US" b="1">
                <a:latin typeface="Times New Roman" panose="02020603050405020304" pitchFamily="18" charset="0"/>
              </a:rPr>
              <a:t>移位次数表</a:t>
            </a:r>
          </a:p>
          <a:p>
            <a:pPr algn="just">
              <a:spcAft>
                <a:spcPts val="600"/>
              </a:spcAft>
            </a:pPr>
            <a:r>
              <a:rPr lang="zh-CN" altLang="en-US" b="1">
                <a:latin typeface="Times New Roman" panose="02020603050405020304" pitchFamily="18" charset="0"/>
              </a:rPr>
              <a:t>        第</a:t>
            </a:r>
            <a:r>
              <a:rPr lang="en-US" altLang="zh-CN" b="1" i="1">
                <a:latin typeface="Times New Roman" panose="02020603050405020304" pitchFamily="18" charset="0"/>
              </a:rPr>
              <a:t>i</a:t>
            </a:r>
            <a:r>
              <a:rPr lang="zh-CN" altLang="en-US" b="1">
                <a:latin typeface="Times New Roman" panose="02020603050405020304" pitchFamily="18" charset="0"/>
              </a:rPr>
              <a:t>次迭代           </a:t>
            </a:r>
            <a:r>
              <a:rPr lang="en-US" altLang="zh-CN" b="1">
                <a:latin typeface="Times New Roman" panose="02020603050405020304" pitchFamily="18" charset="0"/>
              </a:rPr>
              <a:t>1  2  3  4  5  6  7  8  9  10  11  12  13  14  15  16</a:t>
            </a:r>
          </a:p>
          <a:p>
            <a:pPr algn="just">
              <a:spcAft>
                <a:spcPts val="600"/>
              </a:spcAft>
            </a:pPr>
            <a:r>
              <a:rPr lang="en-US" altLang="zh-CN" b="1">
                <a:latin typeface="Times New Roman" panose="02020603050405020304" pitchFamily="18" charset="0"/>
              </a:rPr>
              <a:t>       </a:t>
            </a:r>
            <a:r>
              <a:rPr lang="zh-CN" altLang="en-US" b="1">
                <a:latin typeface="Times New Roman" panose="02020603050405020304" pitchFamily="18" charset="0"/>
              </a:rPr>
              <a:t>循环左移次数     </a:t>
            </a:r>
            <a:r>
              <a:rPr lang="en-US" altLang="zh-CN" b="1">
                <a:latin typeface="Times New Roman" panose="02020603050405020304" pitchFamily="18" charset="0"/>
              </a:rPr>
              <a:t>1  1  2  2  2  2  2  2  1    2    2    2    2    2    2   1</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3" name="Rectangle 2">
            <a:extLst>
              <a:ext uri="{FF2B5EF4-FFF2-40B4-BE49-F238E27FC236}">
                <a16:creationId xmlns:a16="http://schemas.microsoft.com/office/drawing/2014/main" id="{79040224-B0F9-6F41-9BBF-26D1BD7EDA39}"/>
              </a:ext>
            </a:extLst>
          </p:cNvPr>
          <p:cNvSpPr>
            <a:spLocks noGrp="1" noChangeArrowheads="1"/>
          </p:cNvSpPr>
          <p:nvPr>
            <p:ph type="title"/>
          </p:nvPr>
        </p:nvSpPr>
        <p:spPr>
          <a:xfrm>
            <a:off x="1479550" y="33338"/>
            <a:ext cx="8686800" cy="1143000"/>
          </a:xfrm>
        </p:spPr>
        <p:txBody>
          <a:bodyPr/>
          <a:lstStyle/>
          <a:p>
            <a:pPr algn="ctr" eaLnBrk="1" hangingPunct="1"/>
            <a:r>
              <a:rPr lang="zh-CN" altLang="en-US">
                <a:solidFill>
                  <a:schemeClr val="tx1"/>
                </a:solidFill>
                <a:latin typeface="Times New Roman" panose="02020603050405020304" pitchFamily="18" charset="0"/>
              </a:rPr>
              <a:t>填充</a:t>
            </a:r>
            <a:r>
              <a:rPr lang="zh-CN" altLang="zh-CN">
                <a:solidFill>
                  <a:schemeClr val="tx1"/>
                </a:solidFill>
                <a:latin typeface="Times New Roman" panose="02020603050405020304" pitchFamily="18" charset="0"/>
              </a:rPr>
              <a:t>(</a:t>
            </a:r>
            <a:r>
              <a:rPr lang="en-US" altLang="zh-CN">
                <a:solidFill>
                  <a:schemeClr val="tx1"/>
                </a:solidFill>
                <a:latin typeface="Times New Roman" panose="02020603050405020304" pitchFamily="18" charset="0"/>
              </a:rPr>
              <a:t>Padding)</a:t>
            </a:r>
          </a:p>
        </p:txBody>
      </p:sp>
      <p:sp>
        <p:nvSpPr>
          <p:cNvPr id="182274" name="Rectangle 3">
            <a:extLst>
              <a:ext uri="{FF2B5EF4-FFF2-40B4-BE49-F238E27FC236}">
                <a16:creationId xmlns:a16="http://schemas.microsoft.com/office/drawing/2014/main" id="{85B4AEEE-320D-EA41-B985-0F4F463D56B3}"/>
              </a:ext>
            </a:extLst>
          </p:cNvPr>
          <p:cNvSpPr>
            <a:spLocks noGrp="1" noChangeArrowheads="1"/>
          </p:cNvSpPr>
          <p:nvPr>
            <p:ph idx="1"/>
          </p:nvPr>
        </p:nvSpPr>
        <p:spPr>
          <a:xfrm>
            <a:off x="723900" y="1285875"/>
            <a:ext cx="10744200" cy="1990725"/>
          </a:xfrm>
        </p:spPr>
        <p:txBody>
          <a:bodyPr/>
          <a:lstStyle/>
          <a:p>
            <a:pPr algn="just" eaLnBrk="1" hangingPunct="1">
              <a:spcBef>
                <a:spcPts val="600"/>
              </a:spcBef>
              <a:buFont typeface="Arial" panose="020B0604020202020204" pitchFamily="34" charset="0"/>
              <a:buNone/>
            </a:pPr>
            <a:r>
              <a:rPr lang="en-US" altLang="zh-CN" sz="3600">
                <a:latin typeface="Times New Roman" panose="02020603050405020304" pitchFamily="18" charset="0"/>
              </a:rPr>
              <a:t>    </a:t>
            </a:r>
            <a:r>
              <a:rPr lang="zh-CN" altLang="en-US" sz="2800">
                <a:latin typeface="Times New Roman" panose="02020603050405020304" pitchFamily="18" charset="0"/>
              </a:rPr>
              <a:t>给定加密消息的长度是随机的，按</a:t>
            </a:r>
            <a:r>
              <a:rPr lang="en-US" altLang="zh-CN" sz="2800">
                <a:latin typeface="Times New Roman" panose="02020603050405020304" pitchFamily="18" charset="0"/>
              </a:rPr>
              <a:t>64 bit</a:t>
            </a:r>
            <a:r>
              <a:rPr lang="zh-CN" altLang="en-US" sz="2800">
                <a:latin typeface="Times New Roman" panose="02020603050405020304" pitchFamily="18" charset="0"/>
              </a:rPr>
              <a:t>分组时，最后一组消息长度可能不足</a:t>
            </a:r>
            <a:r>
              <a:rPr lang="en-US" altLang="zh-CN" sz="2800">
                <a:latin typeface="Times New Roman" panose="02020603050405020304" pitchFamily="18" charset="0"/>
              </a:rPr>
              <a:t>64 bit</a:t>
            </a:r>
            <a:r>
              <a:rPr lang="zh-CN" altLang="en-US" sz="2800">
                <a:latin typeface="Times New Roman" panose="02020603050405020304" pitchFamily="18" charset="0"/>
              </a:rPr>
              <a:t>。可以填充一些数字，通常用最后</a:t>
            </a:r>
            <a:r>
              <a:rPr lang="en-US" altLang="zh-CN" sz="2800">
                <a:latin typeface="Times New Roman" panose="02020603050405020304" pitchFamily="18" charset="0"/>
              </a:rPr>
              <a:t>1</a:t>
            </a:r>
            <a:r>
              <a:rPr lang="zh-CN" altLang="en-US" sz="2800">
                <a:latin typeface="Times New Roman" panose="02020603050405020304" pitchFamily="18" charset="0"/>
              </a:rPr>
              <a:t>字节作为填充指示符（</a:t>
            </a:r>
            <a:r>
              <a:rPr lang="en-US" altLang="zh-CN" sz="2800" i="1">
                <a:latin typeface="Times New Roman" panose="02020603050405020304" pitchFamily="18" charset="0"/>
              </a:rPr>
              <a:t>PI</a:t>
            </a:r>
            <a:r>
              <a:rPr lang="zh-CN" altLang="en-US" sz="2800" i="1">
                <a:latin typeface="Times New Roman" panose="02020603050405020304" pitchFamily="18" charset="0"/>
              </a:rPr>
              <a:t>）</a:t>
            </a:r>
            <a:r>
              <a:rPr lang="zh-CN" altLang="en-US" sz="2800">
                <a:latin typeface="Times New Roman" panose="02020603050405020304" pitchFamily="18" charset="0"/>
              </a:rPr>
              <a:t>。它所表示的十进制数字就是填充占有的字节数。数据尾部、填充字符和填充指示符一起作为一组进行加密。</a:t>
            </a:r>
          </a:p>
          <a:p>
            <a:pPr algn="just" eaLnBrk="1" hangingPunct="1">
              <a:spcAft>
                <a:spcPts val="600"/>
              </a:spcAft>
              <a:buFont typeface="Arial" panose="020B0604020202020204" pitchFamily="34" charset="0"/>
              <a:buNone/>
            </a:pPr>
            <a:endParaRPr lang="zh-CN" altLang="en-US" sz="3600">
              <a:latin typeface="Times New Roman" panose="02020603050405020304" pitchFamily="18" charset="0"/>
            </a:endParaRPr>
          </a:p>
          <a:p>
            <a:pPr algn="just" eaLnBrk="1" hangingPunct="1">
              <a:lnSpc>
                <a:spcPct val="50000"/>
              </a:lnSpc>
              <a:spcAft>
                <a:spcPts val="600"/>
              </a:spcAft>
              <a:buFont typeface="Arial" panose="020B0604020202020204" pitchFamily="34" charset="0"/>
              <a:buNone/>
            </a:pPr>
            <a:r>
              <a:rPr lang="zh-CN" altLang="en-US">
                <a:latin typeface="Times New Roman" panose="02020603050405020304" pitchFamily="18" charset="0"/>
              </a:rPr>
              <a:t>       </a:t>
            </a:r>
            <a:endParaRPr lang="zh-CN" altLang="en-US" sz="3600">
              <a:latin typeface="Times New Roman" panose="02020603050405020304" pitchFamily="18" charset="0"/>
            </a:endParaRPr>
          </a:p>
        </p:txBody>
      </p:sp>
      <p:sp>
        <p:nvSpPr>
          <p:cNvPr id="182275" name="Text Box 5">
            <a:extLst>
              <a:ext uri="{FF2B5EF4-FFF2-40B4-BE49-F238E27FC236}">
                <a16:creationId xmlns:a16="http://schemas.microsoft.com/office/drawing/2014/main" id="{2C2998F4-7C2B-D24A-A8B0-2992FA9FA568}"/>
              </a:ext>
            </a:extLst>
          </p:cNvPr>
          <p:cNvSpPr txBox="1">
            <a:spLocks noChangeArrowheads="1"/>
          </p:cNvSpPr>
          <p:nvPr/>
        </p:nvSpPr>
        <p:spPr bwMode="auto">
          <a:xfrm>
            <a:off x="3870325" y="3906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182276" name="Line 6">
            <a:extLst>
              <a:ext uri="{FF2B5EF4-FFF2-40B4-BE49-F238E27FC236}">
                <a16:creationId xmlns:a16="http://schemas.microsoft.com/office/drawing/2014/main" id="{279C133D-ADFF-DA44-BDBD-DAF0FFE04B5A}"/>
              </a:ext>
            </a:extLst>
          </p:cNvPr>
          <p:cNvSpPr>
            <a:spLocks noChangeShapeType="1"/>
          </p:cNvSpPr>
          <p:nvPr/>
        </p:nvSpPr>
        <p:spPr bwMode="auto">
          <a:xfrm>
            <a:off x="6934200" y="3919538"/>
            <a:ext cx="0" cy="3810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grpSp>
        <p:nvGrpSpPr>
          <p:cNvPr id="182277" name="Group 7">
            <a:extLst>
              <a:ext uri="{FF2B5EF4-FFF2-40B4-BE49-F238E27FC236}">
                <a16:creationId xmlns:a16="http://schemas.microsoft.com/office/drawing/2014/main" id="{F644C124-454A-1C46-9EAB-ABBD2472FC48}"/>
              </a:ext>
            </a:extLst>
          </p:cNvPr>
          <p:cNvGrpSpPr>
            <a:grpSpLocks/>
          </p:cNvGrpSpPr>
          <p:nvPr/>
        </p:nvGrpSpPr>
        <p:grpSpPr bwMode="auto">
          <a:xfrm>
            <a:off x="2590800" y="3919538"/>
            <a:ext cx="6781800" cy="890587"/>
            <a:chOff x="864" y="3593"/>
            <a:chExt cx="4272" cy="561"/>
          </a:xfrm>
        </p:grpSpPr>
        <p:grpSp>
          <p:nvGrpSpPr>
            <p:cNvPr id="182278" name="Group 8">
              <a:extLst>
                <a:ext uri="{FF2B5EF4-FFF2-40B4-BE49-F238E27FC236}">
                  <a16:creationId xmlns:a16="http://schemas.microsoft.com/office/drawing/2014/main" id="{242DCC44-A83D-CE46-9839-52A30AA4E089}"/>
                </a:ext>
              </a:extLst>
            </p:cNvPr>
            <p:cNvGrpSpPr>
              <a:grpSpLocks/>
            </p:cNvGrpSpPr>
            <p:nvPr/>
          </p:nvGrpSpPr>
          <p:grpSpPr bwMode="auto">
            <a:xfrm>
              <a:off x="864" y="3593"/>
              <a:ext cx="4272" cy="251"/>
              <a:chOff x="864" y="3593"/>
              <a:chExt cx="4272" cy="251"/>
            </a:xfrm>
          </p:grpSpPr>
          <p:grpSp>
            <p:nvGrpSpPr>
              <p:cNvPr id="182279" name="Group 9">
                <a:extLst>
                  <a:ext uri="{FF2B5EF4-FFF2-40B4-BE49-F238E27FC236}">
                    <a16:creationId xmlns:a16="http://schemas.microsoft.com/office/drawing/2014/main" id="{29697230-0557-1748-B514-6710653BCA2F}"/>
                  </a:ext>
                </a:extLst>
              </p:cNvPr>
              <p:cNvGrpSpPr>
                <a:grpSpLocks/>
              </p:cNvGrpSpPr>
              <p:nvPr/>
            </p:nvGrpSpPr>
            <p:grpSpPr bwMode="auto">
              <a:xfrm>
                <a:off x="864" y="3593"/>
                <a:ext cx="4272" cy="251"/>
                <a:chOff x="864" y="3593"/>
                <a:chExt cx="4272" cy="251"/>
              </a:xfrm>
            </p:grpSpPr>
            <p:sp>
              <p:nvSpPr>
                <p:cNvPr id="182280" name="Rectangle 10">
                  <a:extLst>
                    <a:ext uri="{FF2B5EF4-FFF2-40B4-BE49-F238E27FC236}">
                      <a16:creationId xmlns:a16="http://schemas.microsoft.com/office/drawing/2014/main" id="{F5724B31-BF6C-F64F-9684-F1163E4D448D}"/>
                    </a:ext>
                  </a:extLst>
                </p:cNvPr>
                <p:cNvSpPr>
                  <a:spLocks noChangeArrowheads="1"/>
                </p:cNvSpPr>
                <p:nvPr/>
              </p:nvSpPr>
              <p:spPr bwMode="auto">
                <a:xfrm>
                  <a:off x="2064" y="3600"/>
                  <a:ext cx="3072" cy="240"/>
                </a:xfrm>
                <a:prstGeom prst="rect">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sp>
              <p:nvSpPr>
                <p:cNvPr id="182281" name="Line 11">
                  <a:extLst>
                    <a:ext uri="{FF2B5EF4-FFF2-40B4-BE49-F238E27FC236}">
                      <a16:creationId xmlns:a16="http://schemas.microsoft.com/office/drawing/2014/main" id="{42F23780-58F1-8A4A-B3DD-B3D304BAE783}"/>
                    </a:ext>
                  </a:extLst>
                </p:cNvPr>
                <p:cNvSpPr>
                  <a:spLocks noChangeShapeType="1"/>
                </p:cNvSpPr>
                <p:nvPr/>
              </p:nvSpPr>
              <p:spPr bwMode="auto">
                <a:xfrm>
                  <a:off x="3973" y="3600"/>
                  <a:ext cx="0" cy="24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82" name="Line 12">
                  <a:extLst>
                    <a:ext uri="{FF2B5EF4-FFF2-40B4-BE49-F238E27FC236}">
                      <a16:creationId xmlns:a16="http://schemas.microsoft.com/office/drawing/2014/main" id="{E47B14A9-2092-FC44-B0F7-0AA5DC8C5E3D}"/>
                    </a:ext>
                  </a:extLst>
                </p:cNvPr>
                <p:cNvSpPr>
                  <a:spLocks noChangeShapeType="1"/>
                </p:cNvSpPr>
                <p:nvPr/>
              </p:nvSpPr>
              <p:spPr bwMode="auto">
                <a:xfrm>
                  <a:off x="4726" y="3593"/>
                  <a:ext cx="0" cy="24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83" name="Line 13">
                  <a:extLst>
                    <a:ext uri="{FF2B5EF4-FFF2-40B4-BE49-F238E27FC236}">
                      <a16:creationId xmlns:a16="http://schemas.microsoft.com/office/drawing/2014/main" id="{70EE10EF-8528-574A-B35B-1C0A4D6B889C}"/>
                    </a:ext>
                  </a:extLst>
                </p:cNvPr>
                <p:cNvSpPr>
                  <a:spLocks noChangeShapeType="1"/>
                </p:cNvSpPr>
                <p:nvPr/>
              </p:nvSpPr>
              <p:spPr bwMode="auto">
                <a:xfrm>
                  <a:off x="3249" y="3604"/>
                  <a:ext cx="0" cy="24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84" name="Line 14">
                  <a:extLst>
                    <a:ext uri="{FF2B5EF4-FFF2-40B4-BE49-F238E27FC236}">
                      <a16:creationId xmlns:a16="http://schemas.microsoft.com/office/drawing/2014/main" id="{22D6ABBA-99FC-024D-89D3-3B448E2EFD29}"/>
                    </a:ext>
                  </a:extLst>
                </p:cNvPr>
                <p:cNvSpPr>
                  <a:spLocks noChangeShapeType="1"/>
                </p:cNvSpPr>
                <p:nvPr/>
              </p:nvSpPr>
              <p:spPr bwMode="auto">
                <a:xfrm>
                  <a:off x="2485" y="3600"/>
                  <a:ext cx="0" cy="24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85" name="Line 15">
                  <a:extLst>
                    <a:ext uri="{FF2B5EF4-FFF2-40B4-BE49-F238E27FC236}">
                      <a16:creationId xmlns:a16="http://schemas.microsoft.com/office/drawing/2014/main" id="{D380CD6E-A40E-6540-8D0F-42DB3D4EA110}"/>
                    </a:ext>
                  </a:extLst>
                </p:cNvPr>
                <p:cNvSpPr>
                  <a:spLocks noChangeShapeType="1"/>
                </p:cNvSpPr>
                <p:nvPr/>
              </p:nvSpPr>
              <p:spPr bwMode="auto">
                <a:xfrm>
                  <a:off x="2880" y="3600"/>
                  <a:ext cx="0" cy="24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86" name="Line 16">
                  <a:extLst>
                    <a:ext uri="{FF2B5EF4-FFF2-40B4-BE49-F238E27FC236}">
                      <a16:creationId xmlns:a16="http://schemas.microsoft.com/office/drawing/2014/main" id="{FADBD9AC-5CCE-EC46-B06A-75F2C5315BE2}"/>
                    </a:ext>
                  </a:extLst>
                </p:cNvPr>
                <p:cNvSpPr>
                  <a:spLocks noChangeShapeType="1"/>
                </p:cNvSpPr>
                <p:nvPr/>
              </p:nvSpPr>
              <p:spPr bwMode="auto">
                <a:xfrm>
                  <a:off x="4320" y="3600"/>
                  <a:ext cx="0" cy="24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87" name="AutoShape 17">
                  <a:extLst>
                    <a:ext uri="{FF2B5EF4-FFF2-40B4-BE49-F238E27FC236}">
                      <a16:creationId xmlns:a16="http://schemas.microsoft.com/office/drawing/2014/main" id="{F0E132E3-4A9F-BE4F-9843-FFDF9CA9CC10}"/>
                    </a:ext>
                  </a:extLst>
                </p:cNvPr>
                <p:cNvSpPr>
                  <a:spLocks noChangeArrowheads="1"/>
                </p:cNvSpPr>
                <p:nvPr/>
              </p:nvSpPr>
              <p:spPr bwMode="auto">
                <a:xfrm rot="16200000" flipV="1">
                  <a:off x="1320" y="3144"/>
                  <a:ext cx="240" cy="1152"/>
                </a:xfrm>
                <a:prstGeom prst="flowChartDocument">
                  <a:avLst/>
                </a:prstGeom>
                <a:solidFill>
                  <a:schemeClr val="accent1"/>
                </a:solidFill>
                <a:ln w="38100">
                  <a:solidFill>
                    <a:srgbClr val="CC3300"/>
                  </a:solidFill>
                  <a:miter lim="800000"/>
                  <a:headEnd/>
                  <a:tailEnd/>
                </a:ln>
              </p:spPr>
              <p:txBody>
                <a:bodyPr wrap="none" anchor="ctr"/>
                <a:lstStyle/>
                <a:p>
                  <a:endParaRPr lang="zh-CN" altLang="en-US">
                    <a:latin typeface="Tahoma" panose="020B0604030504040204" pitchFamily="34" charset="0"/>
                  </a:endParaRPr>
                </a:p>
              </p:txBody>
            </p:sp>
          </p:grpSp>
          <p:sp>
            <p:nvSpPr>
              <p:cNvPr id="182288" name="Line 18">
                <a:extLst>
                  <a:ext uri="{FF2B5EF4-FFF2-40B4-BE49-F238E27FC236}">
                    <a16:creationId xmlns:a16="http://schemas.microsoft.com/office/drawing/2014/main" id="{B219FA9C-F449-C244-BEB5-5E45532AF089}"/>
                  </a:ext>
                </a:extLst>
              </p:cNvPr>
              <p:cNvSpPr>
                <a:spLocks noChangeShapeType="1"/>
              </p:cNvSpPr>
              <p:nvPr/>
            </p:nvSpPr>
            <p:spPr bwMode="auto">
              <a:xfrm>
                <a:off x="3600" y="3600"/>
                <a:ext cx="0" cy="24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grpSp>
        <p:grpSp>
          <p:nvGrpSpPr>
            <p:cNvPr id="182289" name="Group 19">
              <a:extLst>
                <a:ext uri="{FF2B5EF4-FFF2-40B4-BE49-F238E27FC236}">
                  <a16:creationId xmlns:a16="http://schemas.microsoft.com/office/drawing/2014/main" id="{53FCB7D1-6068-2742-9A9E-9A09A8446755}"/>
                </a:ext>
              </a:extLst>
            </p:cNvPr>
            <p:cNvGrpSpPr>
              <a:grpSpLocks/>
            </p:cNvGrpSpPr>
            <p:nvPr/>
          </p:nvGrpSpPr>
          <p:grpSpPr bwMode="auto">
            <a:xfrm>
              <a:off x="2064" y="3877"/>
              <a:ext cx="3061" cy="251"/>
              <a:chOff x="2064" y="3877"/>
              <a:chExt cx="3061" cy="251"/>
            </a:xfrm>
          </p:grpSpPr>
          <p:sp>
            <p:nvSpPr>
              <p:cNvPr id="182290" name="Line 20">
                <a:extLst>
                  <a:ext uri="{FF2B5EF4-FFF2-40B4-BE49-F238E27FC236}">
                    <a16:creationId xmlns:a16="http://schemas.microsoft.com/office/drawing/2014/main" id="{C697BF71-19D2-7A4C-8FAF-1A682E996E25}"/>
                  </a:ext>
                </a:extLst>
              </p:cNvPr>
              <p:cNvSpPr>
                <a:spLocks noChangeShapeType="1"/>
              </p:cNvSpPr>
              <p:nvPr/>
            </p:nvSpPr>
            <p:spPr bwMode="auto">
              <a:xfrm>
                <a:off x="2064" y="3888"/>
                <a:ext cx="0" cy="24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91" name="Line 21">
                <a:extLst>
                  <a:ext uri="{FF2B5EF4-FFF2-40B4-BE49-F238E27FC236}">
                    <a16:creationId xmlns:a16="http://schemas.microsoft.com/office/drawing/2014/main" id="{67ABF1E8-B52C-C94D-88CE-7F44374AE678}"/>
                  </a:ext>
                </a:extLst>
              </p:cNvPr>
              <p:cNvSpPr>
                <a:spLocks noChangeShapeType="1"/>
              </p:cNvSpPr>
              <p:nvPr/>
            </p:nvSpPr>
            <p:spPr bwMode="auto">
              <a:xfrm>
                <a:off x="2880" y="3877"/>
                <a:ext cx="0" cy="24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92" name="Line 22">
                <a:extLst>
                  <a:ext uri="{FF2B5EF4-FFF2-40B4-BE49-F238E27FC236}">
                    <a16:creationId xmlns:a16="http://schemas.microsoft.com/office/drawing/2014/main" id="{8C3052C8-D591-7149-822D-C148374BCF67}"/>
                  </a:ext>
                </a:extLst>
              </p:cNvPr>
              <p:cNvSpPr>
                <a:spLocks noChangeShapeType="1"/>
              </p:cNvSpPr>
              <p:nvPr/>
            </p:nvSpPr>
            <p:spPr bwMode="auto">
              <a:xfrm>
                <a:off x="4726" y="3888"/>
                <a:ext cx="0" cy="24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93" name="Line 23">
                <a:extLst>
                  <a:ext uri="{FF2B5EF4-FFF2-40B4-BE49-F238E27FC236}">
                    <a16:creationId xmlns:a16="http://schemas.microsoft.com/office/drawing/2014/main" id="{6DF70960-28AE-2446-BB0F-C55A6318DF2A}"/>
                  </a:ext>
                </a:extLst>
              </p:cNvPr>
              <p:cNvSpPr>
                <a:spLocks noChangeShapeType="1"/>
              </p:cNvSpPr>
              <p:nvPr/>
            </p:nvSpPr>
            <p:spPr bwMode="auto">
              <a:xfrm>
                <a:off x="5125" y="3877"/>
                <a:ext cx="0" cy="24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82294" name="Line 24">
                <a:extLst>
                  <a:ext uri="{FF2B5EF4-FFF2-40B4-BE49-F238E27FC236}">
                    <a16:creationId xmlns:a16="http://schemas.microsoft.com/office/drawing/2014/main" id="{8A781723-D40A-364E-BD83-977E4C65C4AF}"/>
                  </a:ext>
                </a:extLst>
              </p:cNvPr>
              <p:cNvSpPr>
                <a:spLocks noChangeShapeType="1"/>
              </p:cNvSpPr>
              <p:nvPr/>
            </p:nvSpPr>
            <p:spPr bwMode="auto">
              <a:xfrm>
                <a:off x="2736" y="3984"/>
                <a:ext cx="144" cy="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82295" name="Line 25">
                <a:extLst>
                  <a:ext uri="{FF2B5EF4-FFF2-40B4-BE49-F238E27FC236}">
                    <a16:creationId xmlns:a16="http://schemas.microsoft.com/office/drawing/2014/main" id="{2D7542F9-0115-914C-AF63-8C2D8630032B}"/>
                  </a:ext>
                </a:extLst>
              </p:cNvPr>
              <p:cNvSpPr>
                <a:spLocks noChangeShapeType="1"/>
              </p:cNvSpPr>
              <p:nvPr/>
            </p:nvSpPr>
            <p:spPr bwMode="auto">
              <a:xfrm flipH="1">
                <a:off x="2064" y="3995"/>
                <a:ext cx="144" cy="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82296" name="Line 26">
                <a:extLst>
                  <a:ext uri="{FF2B5EF4-FFF2-40B4-BE49-F238E27FC236}">
                    <a16:creationId xmlns:a16="http://schemas.microsoft.com/office/drawing/2014/main" id="{D4E5A07D-6440-6447-B858-863D4F259B06}"/>
                  </a:ext>
                </a:extLst>
              </p:cNvPr>
              <p:cNvSpPr>
                <a:spLocks noChangeShapeType="1"/>
              </p:cNvSpPr>
              <p:nvPr/>
            </p:nvSpPr>
            <p:spPr bwMode="auto">
              <a:xfrm flipH="1">
                <a:off x="4726" y="3984"/>
                <a:ext cx="144" cy="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82297" name="Line 27">
                <a:extLst>
                  <a:ext uri="{FF2B5EF4-FFF2-40B4-BE49-F238E27FC236}">
                    <a16:creationId xmlns:a16="http://schemas.microsoft.com/office/drawing/2014/main" id="{3A884509-8ED4-754C-B5EE-768175A1F541}"/>
                  </a:ext>
                </a:extLst>
              </p:cNvPr>
              <p:cNvSpPr>
                <a:spLocks noChangeShapeType="1"/>
              </p:cNvSpPr>
              <p:nvPr/>
            </p:nvSpPr>
            <p:spPr bwMode="auto">
              <a:xfrm>
                <a:off x="4981" y="3984"/>
                <a:ext cx="144" cy="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82298" name="Line 28">
                <a:extLst>
                  <a:ext uri="{FF2B5EF4-FFF2-40B4-BE49-F238E27FC236}">
                    <a16:creationId xmlns:a16="http://schemas.microsoft.com/office/drawing/2014/main" id="{12C546FC-CADC-7946-BB04-7F911B677484}"/>
                  </a:ext>
                </a:extLst>
              </p:cNvPr>
              <p:cNvSpPr>
                <a:spLocks noChangeShapeType="1"/>
              </p:cNvSpPr>
              <p:nvPr/>
            </p:nvSpPr>
            <p:spPr bwMode="auto">
              <a:xfrm>
                <a:off x="4272" y="3999"/>
                <a:ext cx="480" cy="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82299" name="Line 29">
                <a:extLst>
                  <a:ext uri="{FF2B5EF4-FFF2-40B4-BE49-F238E27FC236}">
                    <a16:creationId xmlns:a16="http://schemas.microsoft.com/office/drawing/2014/main" id="{6DEE85AF-1DA3-E343-8AE7-4951BCC2F61A}"/>
                  </a:ext>
                </a:extLst>
              </p:cNvPr>
              <p:cNvSpPr>
                <a:spLocks noChangeShapeType="1"/>
              </p:cNvSpPr>
              <p:nvPr/>
            </p:nvSpPr>
            <p:spPr bwMode="auto">
              <a:xfrm flipH="1">
                <a:off x="2880" y="3999"/>
                <a:ext cx="480" cy="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182300" name="Text Box 30">
              <a:extLst>
                <a:ext uri="{FF2B5EF4-FFF2-40B4-BE49-F238E27FC236}">
                  <a16:creationId xmlns:a16="http://schemas.microsoft.com/office/drawing/2014/main" id="{A35BA246-0CB6-F241-B791-02F976C20D60}"/>
                </a:ext>
              </a:extLst>
            </p:cNvPr>
            <p:cNvSpPr txBox="1">
              <a:spLocks noChangeArrowheads="1"/>
            </p:cNvSpPr>
            <p:nvPr/>
          </p:nvSpPr>
          <p:spPr bwMode="auto">
            <a:xfrm>
              <a:off x="2208" y="3840"/>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latin typeface="Times New Roman" panose="02020603050405020304" pitchFamily="18" charset="0"/>
                </a:rPr>
                <a:t>数据</a:t>
              </a:r>
            </a:p>
          </p:txBody>
        </p:sp>
        <p:sp>
          <p:nvSpPr>
            <p:cNvPr id="182301" name="Text Box 31">
              <a:extLst>
                <a:ext uri="{FF2B5EF4-FFF2-40B4-BE49-F238E27FC236}">
                  <a16:creationId xmlns:a16="http://schemas.microsoft.com/office/drawing/2014/main" id="{0FD2343A-E073-B04B-9C0C-6537F91BDC43}"/>
                </a:ext>
              </a:extLst>
            </p:cNvPr>
            <p:cNvSpPr txBox="1">
              <a:spLocks noChangeArrowheads="1"/>
            </p:cNvSpPr>
            <p:nvPr/>
          </p:nvSpPr>
          <p:spPr bwMode="auto">
            <a:xfrm>
              <a:off x="3350" y="3866"/>
              <a:ext cx="7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latin typeface="Times New Roman" panose="02020603050405020304" pitchFamily="18" charset="0"/>
                </a:rPr>
                <a:t>填      充</a:t>
              </a:r>
            </a:p>
          </p:txBody>
        </p:sp>
        <p:sp>
          <p:nvSpPr>
            <p:cNvPr id="182302" name="Text Box 32">
              <a:extLst>
                <a:ext uri="{FF2B5EF4-FFF2-40B4-BE49-F238E27FC236}">
                  <a16:creationId xmlns:a16="http://schemas.microsoft.com/office/drawing/2014/main" id="{71B97B57-A8FD-C946-B666-944BC06CF3AB}"/>
                </a:ext>
              </a:extLst>
            </p:cNvPr>
            <p:cNvSpPr txBox="1">
              <a:spLocks noChangeArrowheads="1"/>
            </p:cNvSpPr>
            <p:nvPr/>
          </p:nvSpPr>
          <p:spPr bwMode="auto">
            <a:xfrm>
              <a:off x="4790" y="381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1">
                  <a:latin typeface="Times New Roman" panose="02020603050405020304" pitchFamily="18" charset="0"/>
                </a:rPr>
                <a:t>PI</a:t>
              </a:r>
              <a:endParaRPr lang="en-US" altLang="zh-CN" sz="2400">
                <a:latin typeface="Times New Roman" panose="02020603050405020304" pitchFamily="18" charset="0"/>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a:extLst>
              <a:ext uri="{FF2B5EF4-FFF2-40B4-BE49-F238E27FC236}">
                <a16:creationId xmlns:a16="http://schemas.microsoft.com/office/drawing/2014/main" id="{DB4BDB38-F186-F040-B9FE-841D0DE8CF16}"/>
              </a:ext>
            </a:extLst>
          </p:cNvPr>
          <p:cNvSpPr>
            <a:spLocks noGrp="1" noChangeArrowheads="1"/>
          </p:cNvSpPr>
          <p:nvPr>
            <p:ph type="title"/>
          </p:nvPr>
        </p:nvSpPr>
        <p:spPr>
          <a:xfrm>
            <a:off x="1465263" y="365125"/>
            <a:ext cx="9037637" cy="668338"/>
          </a:xfrm>
        </p:spPr>
        <p:txBody>
          <a:bodyPr anchor="b"/>
          <a:lstStyle/>
          <a:p>
            <a:pPr eaLnBrk="1" hangingPunct="1"/>
            <a:r>
              <a:rPr lang="zh-CN" altLang="en-US">
                <a:solidFill>
                  <a:srgbClr val="1F4E79"/>
                </a:solidFill>
              </a:rPr>
              <a:t>选择题</a:t>
            </a:r>
          </a:p>
        </p:txBody>
      </p:sp>
      <p:sp>
        <p:nvSpPr>
          <p:cNvPr id="183298" name="Text Box 9">
            <a:extLst>
              <a:ext uri="{FF2B5EF4-FFF2-40B4-BE49-F238E27FC236}">
                <a16:creationId xmlns:a16="http://schemas.microsoft.com/office/drawing/2014/main" id="{441333DE-71D6-C540-B5A9-AEEA1B581691}"/>
              </a:ext>
            </a:extLst>
          </p:cNvPr>
          <p:cNvSpPr txBox="1">
            <a:spLocks noChangeArrowheads="1"/>
          </p:cNvSpPr>
          <p:nvPr/>
        </p:nvSpPr>
        <p:spPr bwMode="auto">
          <a:xfrm>
            <a:off x="1169988" y="1868488"/>
            <a:ext cx="82296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GB" altLang="zh-CN" sz="2400" b="1" dirty="0">
                <a:solidFill>
                  <a:srgbClr val="333399"/>
                </a:solidFill>
                <a:latin typeface="Times New Roman" panose="02020603050405020304" pitchFamily="18" charset="0"/>
                <a:ea typeface="仿宋" pitchFamily="49" charset="-122"/>
              </a:rPr>
              <a:t>DES</a:t>
            </a:r>
            <a:r>
              <a:rPr lang="zh-CN" altLang="en-GB" sz="2400" b="1" dirty="0">
                <a:solidFill>
                  <a:srgbClr val="333399"/>
                </a:solidFill>
                <a:latin typeface="Times New Roman" panose="02020603050405020304" pitchFamily="18" charset="0"/>
                <a:ea typeface="仿宋" pitchFamily="49" charset="-122"/>
              </a:rPr>
              <a:t>的加密算法</a:t>
            </a:r>
            <a:r>
              <a:rPr lang="zh-CN" altLang="zh-CN" sz="2400" b="1" dirty="0">
                <a:solidFill>
                  <a:srgbClr val="333399"/>
                </a:solidFill>
                <a:latin typeface="Times New Roman" panose="02020603050405020304" pitchFamily="18" charset="0"/>
                <a:ea typeface="仿宋" pitchFamily="49" charset="-122"/>
              </a:rPr>
              <a:t>是概率性算法还是</a:t>
            </a:r>
            <a:r>
              <a:rPr lang="zh-CN" altLang="en-US" sz="2400" b="1" dirty="0">
                <a:solidFill>
                  <a:srgbClr val="333399"/>
                </a:solidFill>
                <a:latin typeface="Times New Roman" panose="02020603050405020304" pitchFamily="18" charset="0"/>
                <a:ea typeface="仿宋" pitchFamily="49" charset="-122"/>
              </a:rPr>
              <a:t>确</a:t>
            </a:r>
            <a:r>
              <a:rPr lang="zh-CN" altLang="zh-CN" sz="2400" b="1" dirty="0">
                <a:solidFill>
                  <a:srgbClr val="333399"/>
                </a:solidFill>
                <a:latin typeface="Times New Roman" panose="02020603050405020304" pitchFamily="18" charset="0"/>
                <a:ea typeface="仿宋" pitchFamily="49" charset="-122"/>
              </a:rPr>
              <a:t>定性算法</a:t>
            </a:r>
          </a:p>
          <a:p>
            <a:pPr>
              <a:spcBef>
                <a:spcPct val="50000"/>
              </a:spcBef>
            </a:pPr>
            <a:endParaRPr lang="zh-CN" altLang="en-US" sz="2400" b="1" dirty="0">
              <a:solidFill>
                <a:srgbClr val="333399"/>
              </a:solidFill>
              <a:latin typeface="Times New Roman" panose="02020603050405020304" pitchFamily="18" charset="0"/>
              <a:ea typeface="仿宋" pitchFamily="49" charset="-122"/>
            </a:endParaRPr>
          </a:p>
          <a:p>
            <a:pPr>
              <a:spcBef>
                <a:spcPct val="50000"/>
              </a:spcBef>
            </a:pPr>
            <a:r>
              <a:rPr lang="en-US" altLang="zh-CN" sz="2400" b="1" dirty="0">
                <a:solidFill>
                  <a:srgbClr val="333399"/>
                </a:solidFill>
                <a:latin typeface="Times New Roman" panose="02020603050405020304" pitchFamily="18" charset="0"/>
                <a:ea typeface="仿宋" pitchFamily="49" charset="-122"/>
              </a:rPr>
              <a:t>A. </a:t>
            </a:r>
            <a:r>
              <a:rPr lang="zh-CN" altLang="en-US" sz="2400" b="1" dirty="0">
                <a:solidFill>
                  <a:srgbClr val="333399"/>
                </a:solidFill>
                <a:latin typeface="Times New Roman" panose="02020603050405020304" pitchFamily="18" charset="0"/>
                <a:ea typeface="仿宋" pitchFamily="49" charset="-122"/>
              </a:rPr>
              <a:t>概率性算法</a:t>
            </a:r>
          </a:p>
          <a:p>
            <a:pPr>
              <a:spcBef>
                <a:spcPct val="50000"/>
              </a:spcBef>
            </a:pPr>
            <a:endParaRPr lang="zh-CN" altLang="en-US" sz="2400" b="1" dirty="0">
              <a:solidFill>
                <a:srgbClr val="333399"/>
              </a:solidFill>
              <a:latin typeface="Times New Roman" panose="02020603050405020304" pitchFamily="18" charset="0"/>
              <a:ea typeface="仿宋" pitchFamily="49" charset="-122"/>
            </a:endParaRPr>
          </a:p>
          <a:p>
            <a:pPr>
              <a:spcBef>
                <a:spcPct val="50000"/>
              </a:spcBef>
            </a:pPr>
            <a:r>
              <a:rPr lang="en-US" altLang="zh-CN" sz="2400" b="1" dirty="0">
                <a:solidFill>
                  <a:srgbClr val="333399"/>
                </a:solidFill>
                <a:latin typeface="Times New Roman" panose="02020603050405020304" pitchFamily="18" charset="0"/>
                <a:ea typeface="仿宋" pitchFamily="49" charset="-122"/>
              </a:rPr>
              <a:t>B. </a:t>
            </a:r>
            <a:r>
              <a:rPr lang="zh-CN" altLang="en-US" sz="2400" b="1" dirty="0">
                <a:solidFill>
                  <a:srgbClr val="333399"/>
                </a:solidFill>
                <a:latin typeface="Times New Roman" panose="02020603050405020304" pitchFamily="18" charset="0"/>
                <a:ea typeface="仿宋" pitchFamily="49" charset="-122"/>
              </a:rPr>
              <a:t>确定性算法</a:t>
            </a:r>
            <a:endParaRPr lang="en-US" altLang="zh-CN" sz="2400" b="1" dirty="0">
              <a:solidFill>
                <a:srgbClr val="333399"/>
              </a:solidFill>
              <a:latin typeface="Times New Roman" panose="02020603050405020304" pitchFamily="18" charset="0"/>
              <a:ea typeface="仿宋"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标题 1">
            <a:extLst>
              <a:ext uri="{FF2B5EF4-FFF2-40B4-BE49-F238E27FC236}">
                <a16:creationId xmlns:a16="http://schemas.microsoft.com/office/drawing/2014/main" id="{292022FE-4121-5C4D-9DAC-5F0ADA723F60}"/>
              </a:ext>
            </a:extLst>
          </p:cNvPr>
          <p:cNvSpPr>
            <a:spLocks noGrp="1" noChangeArrowheads="1"/>
          </p:cNvSpPr>
          <p:nvPr>
            <p:ph type="title"/>
          </p:nvPr>
        </p:nvSpPr>
        <p:spPr>
          <a:xfrm>
            <a:off x="1347788" y="393700"/>
            <a:ext cx="8005762" cy="501650"/>
          </a:xfrm>
        </p:spPr>
        <p:txBody>
          <a:bodyPr anchor="b"/>
          <a:lstStyle/>
          <a:p>
            <a:r>
              <a:rPr lang="zh-CN" altLang="en-US" sz="2300" dirty="0">
                <a:solidFill>
                  <a:schemeClr val="tx1"/>
                </a:solidFill>
              </a:rPr>
              <a:t>针对</a:t>
            </a:r>
            <a:r>
              <a:rPr lang="zh-CN" altLang="en-US" sz="2300" dirty="0">
                <a:solidFill>
                  <a:srgbClr val="FF0000"/>
                </a:solidFill>
              </a:rPr>
              <a:t>私钥加密</a:t>
            </a:r>
            <a:r>
              <a:rPr lang="zh-CN" altLang="en-US" sz="2300" dirty="0">
                <a:solidFill>
                  <a:schemeClr val="tx1"/>
                </a:solidFill>
              </a:rPr>
              <a:t>的选择明文攻击下的不可区分性（</a:t>
            </a:r>
            <a:r>
              <a:rPr lang="en-US" altLang="zh-CN" sz="2300" dirty="0">
                <a:solidFill>
                  <a:schemeClr val="tx1"/>
                </a:solidFill>
              </a:rPr>
              <a:t>IND-CPA</a:t>
            </a:r>
            <a:r>
              <a:rPr lang="zh-CN" altLang="en-US" sz="2300" dirty="0">
                <a:solidFill>
                  <a:schemeClr val="tx1"/>
                </a:solidFill>
              </a:rPr>
              <a:t>）</a:t>
            </a:r>
            <a:endParaRPr lang="en-US" altLang="zh-CN" sz="2300" dirty="0">
              <a:solidFill>
                <a:schemeClr val="tx1"/>
              </a:solidFill>
            </a:endParaRPr>
          </a:p>
        </p:txBody>
      </p:sp>
      <p:sp>
        <p:nvSpPr>
          <p:cNvPr id="3" name="Rectangle 2">
            <a:extLst>
              <a:ext uri="{FF2B5EF4-FFF2-40B4-BE49-F238E27FC236}">
                <a16:creationId xmlns:a16="http://schemas.microsoft.com/office/drawing/2014/main" id="{6911847D-18FA-2947-9C77-EA665598EA4D}"/>
              </a:ext>
            </a:extLst>
          </p:cNvPr>
          <p:cNvSpPr/>
          <p:nvPr/>
        </p:nvSpPr>
        <p:spPr>
          <a:xfrm>
            <a:off x="1600200" y="1905000"/>
            <a:ext cx="1981200" cy="2971800"/>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eaLnBrk="0" hangingPunct="0"/>
            <a:r>
              <a:rPr lang="zh-CN" altLang="en-US" dirty="0">
                <a:solidFill>
                  <a:srgbClr val="000000"/>
                </a:solidFill>
                <a:latin typeface="Verdana" panose="020B0604030504040204" pitchFamily="34" charset="0"/>
                <a:ea typeface="宋体" panose="02010600030101010101" pitchFamily="2" charset="-122"/>
              </a:rPr>
              <a:t>挑战者</a:t>
            </a:r>
            <a:endParaRPr lang="en-US" altLang="zh-CN" dirty="0">
              <a:solidFill>
                <a:srgbClr val="000000"/>
              </a:solidFill>
              <a:latin typeface="Verdana" panose="020B0604030504040204" pitchFamily="34" charset="0"/>
              <a:ea typeface="宋体" panose="02010600030101010101" pitchFamily="2" charset="-122"/>
            </a:endParaRPr>
          </a:p>
          <a:p>
            <a:pPr algn="ctr" eaLnBrk="0" hangingPunct="0"/>
            <a:r>
              <a:rPr lang="en-US" altLang="zh-CN" b="1" dirty="0">
                <a:solidFill>
                  <a:schemeClr val="tx1"/>
                </a:solidFill>
                <a:latin typeface="Verdana" panose="020B0604030504040204" pitchFamily="34" charset="0"/>
                <a:ea typeface="宋体" panose="02010600030101010101" pitchFamily="2" charset="-122"/>
                <a:sym typeface="宋体" panose="02010600030101010101" pitchFamily="2" charset="-122"/>
              </a:rPr>
              <a:t>k</a:t>
            </a:r>
            <a:r>
              <a:rPr lang="zh-CN" altLang="en-US" b="1" dirty="0">
                <a:solidFill>
                  <a:schemeClr val="tx1"/>
                </a:solidFill>
                <a:latin typeface="Verdana" panose="020B0604030504040204" pitchFamily="34" charset="0"/>
                <a:ea typeface="宋体" panose="02010600030101010101" pitchFamily="2" charset="-122"/>
                <a:sym typeface="宋体" panose="02010600030101010101" pitchFamily="2" charset="-122"/>
              </a:rPr>
              <a:t>←</a:t>
            </a:r>
            <a:r>
              <a:rPr lang="en-US" altLang="zh-CN" b="1" dirty="0">
                <a:solidFill>
                  <a:schemeClr val="tx1"/>
                </a:solidFill>
                <a:latin typeface="Verdana" panose="020B0604030504040204" pitchFamily="34" charset="0"/>
                <a:ea typeface="宋体" panose="02010600030101010101" pitchFamily="2" charset="-122"/>
                <a:sym typeface="宋体" panose="02010600030101010101" pitchFamily="2" charset="-122"/>
              </a:rPr>
              <a:t>Gen(1</a:t>
            </a:r>
            <a:r>
              <a:rPr lang="en-US" altLang="zh-CN" b="1" baseline="30000" dirty="0">
                <a:solidFill>
                  <a:schemeClr val="tx1"/>
                </a:solidFill>
                <a:latin typeface="Verdana" panose="020B0604030504040204" pitchFamily="34" charset="0"/>
                <a:ea typeface="宋体" panose="02010600030101010101" pitchFamily="2" charset="-122"/>
                <a:sym typeface="宋体" panose="02010600030101010101" pitchFamily="2" charset="-122"/>
              </a:rPr>
              <a:t>λ</a:t>
            </a:r>
            <a:r>
              <a:rPr lang="en-US" altLang="zh-CN" b="1" dirty="0">
                <a:solidFill>
                  <a:schemeClr val="tx1"/>
                </a:solidFill>
                <a:latin typeface="Verdana" panose="020B0604030504040204" pitchFamily="34" charset="0"/>
                <a:ea typeface="宋体" panose="02010600030101010101" pitchFamily="2" charset="-122"/>
                <a:sym typeface="宋体" panose="02010600030101010101" pitchFamily="2" charset="-122"/>
              </a:rPr>
              <a:t>)</a:t>
            </a:r>
          </a:p>
          <a:p>
            <a:pPr algn="ctr" eaLnBrk="0" hangingPunct="0"/>
            <a:endParaRPr lang="en-US" altLang="zh-CN" dirty="0">
              <a:solidFill>
                <a:srgbClr val="000000"/>
              </a:solidFill>
              <a:latin typeface="Verdana" panose="020B0604030504040204" pitchFamily="34" charset="0"/>
              <a:ea typeface="宋体" panose="02010600030101010101" pitchFamily="2" charset="-122"/>
            </a:endParaRPr>
          </a:p>
          <a:p>
            <a:pPr algn="ctr" eaLnBrk="0" hangingPunct="0"/>
            <a:r>
              <a:rPr lang="en-US" altLang="zh-CN" dirty="0">
                <a:solidFill>
                  <a:srgbClr val="000000"/>
                </a:solidFill>
                <a:latin typeface="Verdana" panose="020B0604030504040204" pitchFamily="34" charset="0"/>
                <a:ea typeface="宋体" panose="02010600030101010101" pitchFamily="2" charset="-122"/>
              </a:rPr>
              <a:t>b←{0,1}</a:t>
            </a:r>
          </a:p>
          <a:p>
            <a:pPr algn="ctr" eaLnBrk="0" hangingPunct="0"/>
            <a:r>
              <a:rPr lang="en-US" altLang="zh-CN" dirty="0" err="1">
                <a:solidFill>
                  <a:srgbClr val="000000"/>
                </a:solidFill>
                <a:latin typeface="Verdana" panose="020B0604030504040204" pitchFamily="34" charset="0"/>
                <a:ea typeface="宋体" panose="02010600030101010101" pitchFamily="2" charset="-122"/>
              </a:rPr>
              <a:t>ct←</a:t>
            </a:r>
            <a:r>
              <a:rPr lang="en-US" altLang="zh-CN" b="1" dirty="0" err="1">
                <a:solidFill>
                  <a:srgbClr val="000000"/>
                </a:solidFill>
                <a:latin typeface="Verdana" panose="020B0604030504040204" pitchFamily="34" charset="0"/>
                <a:ea typeface="宋体" panose="02010600030101010101" pitchFamily="2" charset="-122"/>
              </a:rPr>
              <a:t>Enc</a:t>
            </a:r>
            <a:r>
              <a:rPr lang="en-US" altLang="zh-CN" b="1" dirty="0">
                <a:solidFill>
                  <a:srgbClr val="000000"/>
                </a:solidFill>
                <a:latin typeface="Verdana" panose="020B0604030504040204" pitchFamily="34" charset="0"/>
                <a:ea typeface="宋体" panose="02010600030101010101" pitchFamily="2" charset="-122"/>
              </a:rPr>
              <a:t>(</a:t>
            </a:r>
            <a:r>
              <a:rPr lang="en-US" altLang="zh-CN" b="1" dirty="0" err="1">
                <a:solidFill>
                  <a:srgbClr val="000000"/>
                </a:solidFill>
                <a:latin typeface="Verdana" panose="020B0604030504040204" pitchFamily="34" charset="0"/>
                <a:ea typeface="宋体" panose="02010600030101010101" pitchFamily="2" charset="-122"/>
              </a:rPr>
              <a:t>k,m</a:t>
            </a:r>
            <a:r>
              <a:rPr lang="en-US" altLang="zh-CN" b="1" baseline="-25000" dirty="0" err="1">
                <a:solidFill>
                  <a:srgbClr val="000000"/>
                </a:solidFill>
                <a:latin typeface="Verdana" panose="020B0604030504040204" pitchFamily="34" charset="0"/>
                <a:ea typeface="宋体" panose="02010600030101010101" pitchFamily="2" charset="-122"/>
              </a:rPr>
              <a:t>b</a:t>
            </a:r>
            <a:r>
              <a:rPr lang="en-US" altLang="zh-CN" b="1" dirty="0">
                <a:solidFill>
                  <a:srgbClr val="000000"/>
                </a:solidFill>
                <a:latin typeface="Verdana" panose="020B0604030504040204" pitchFamily="34" charset="0"/>
                <a:ea typeface="宋体" panose="02010600030101010101" pitchFamily="2" charset="-122"/>
              </a:rPr>
              <a:t>)</a:t>
            </a:r>
          </a:p>
        </p:txBody>
      </p:sp>
      <p:sp>
        <p:nvSpPr>
          <p:cNvPr id="6" name="Rectangle 5">
            <a:extLst>
              <a:ext uri="{FF2B5EF4-FFF2-40B4-BE49-F238E27FC236}">
                <a16:creationId xmlns:a16="http://schemas.microsoft.com/office/drawing/2014/main" id="{C18B6B4D-AC36-2545-B039-935642709B3F}"/>
              </a:ext>
            </a:extLst>
          </p:cNvPr>
          <p:cNvSpPr/>
          <p:nvPr/>
        </p:nvSpPr>
        <p:spPr>
          <a:xfrm>
            <a:off x="7924800" y="1905000"/>
            <a:ext cx="1981200" cy="2971800"/>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eaLnBrk="0" hangingPunct="0"/>
            <a:r>
              <a:rPr lang="zh-CN" altLang="en-US">
                <a:solidFill>
                  <a:srgbClr val="000000"/>
                </a:solidFill>
                <a:latin typeface="Verdana" panose="020B0604030504040204" pitchFamily="34" charset="0"/>
                <a:ea typeface="宋体" panose="02010600030101010101" pitchFamily="2" charset="-122"/>
              </a:rPr>
              <a:t>攻击者</a:t>
            </a:r>
            <a:endParaRPr lang="en-US" altLang="zh-CN">
              <a:solidFill>
                <a:srgbClr val="000000"/>
              </a:solidFill>
              <a:latin typeface="Verdana" panose="020B0604030504040204" pitchFamily="34" charset="0"/>
              <a:ea typeface="宋体" panose="02010600030101010101" pitchFamily="2" charset="-122"/>
            </a:endParaRPr>
          </a:p>
        </p:txBody>
      </p:sp>
      <p:cxnSp>
        <p:nvCxnSpPr>
          <p:cNvPr id="10" name="Straight Arrow Connector 9">
            <a:extLst>
              <a:ext uri="{FF2B5EF4-FFF2-40B4-BE49-F238E27FC236}">
                <a16:creationId xmlns:a16="http://schemas.microsoft.com/office/drawing/2014/main" id="{D9E30E86-11E9-3448-A495-DEFC7D202340}"/>
              </a:ext>
            </a:extLst>
          </p:cNvPr>
          <p:cNvCxnSpPr/>
          <p:nvPr/>
        </p:nvCxnSpPr>
        <p:spPr>
          <a:xfrm>
            <a:off x="3581400" y="4114800"/>
            <a:ext cx="434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325" name="TextBox 7">
            <a:extLst>
              <a:ext uri="{FF2B5EF4-FFF2-40B4-BE49-F238E27FC236}">
                <a16:creationId xmlns:a16="http://schemas.microsoft.com/office/drawing/2014/main" id="{ECFE8380-4A94-2E44-9549-6AF0A0204435}"/>
              </a:ext>
            </a:extLst>
          </p:cNvPr>
          <p:cNvSpPr txBox="1">
            <a:spLocks noChangeArrowheads="1"/>
          </p:cNvSpPr>
          <p:nvPr/>
        </p:nvSpPr>
        <p:spPr bwMode="auto">
          <a:xfrm>
            <a:off x="5111750" y="3765550"/>
            <a:ext cx="396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latin typeface="Times New Roman" panose="02020603050405020304" pitchFamily="18" charset="0"/>
                <a:ea typeface="仿宋" pitchFamily="49" charset="-122"/>
              </a:rPr>
              <a:t>ct</a:t>
            </a:r>
          </a:p>
        </p:txBody>
      </p:sp>
      <p:cxnSp>
        <p:nvCxnSpPr>
          <p:cNvPr id="12" name="Straight Arrow Connector 11">
            <a:extLst>
              <a:ext uri="{FF2B5EF4-FFF2-40B4-BE49-F238E27FC236}">
                <a16:creationId xmlns:a16="http://schemas.microsoft.com/office/drawing/2014/main" id="{EEC5C250-1D18-4A43-B26C-61C51B7036C3}"/>
              </a:ext>
            </a:extLst>
          </p:cNvPr>
          <p:cNvCxnSpPr>
            <a:stCxn id="6" idx="1"/>
            <a:endCxn id="3" idx="3"/>
          </p:cNvCxnSpPr>
          <p:nvPr/>
        </p:nvCxnSpPr>
        <p:spPr>
          <a:xfrm flipH="1">
            <a:off x="3581400" y="3390900"/>
            <a:ext cx="434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327" name="TextBox 13">
            <a:extLst>
              <a:ext uri="{FF2B5EF4-FFF2-40B4-BE49-F238E27FC236}">
                <a16:creationId xmlns:a16="http://schemas.microsoft.com/office/drawing/2014/main" id="{BB0414F8-A364-9D4C-9DFA-B0FE38BAE8A1}"/>
              </a:ext>
            </a:extLst>
          </p:cNvPr>
          <p:cNvSpPr txBox="1">
            <a:spLocks noChangeArrowheads="1"/>
          </p:cNvSpPr>
          <p:nvPr/>
        </p:nvSpPr>
        <p:spPr bwMode="auto">
          <a:xfrm>
            <a:off x="4835525" y="3021013"/>
            <a:ext cx="145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latin typeface="Times New Roman" panose="02020603050405020304" pitchFamily="18" charset="0"/>
                <a:ea typeface="仿宋" pitchFamily="49" charset="-122"/>
              </a:rPr>
              <a:t>m</a:t>
            </a:r>
            <a:r>
              <a:rPr lang="en-US" altLang="zh-CN" baseline="-25000">
                <a:latin typeface="Times New Roman" panose="02020603050405020304" pitchFamily="18" charset="0"/>
                <a:ea typeface="仿宋" pitchFamily="49" charset="-122"/>
              </a:rPr>
              <a:t>0</a:t>
            </a:r>
            <a:r>
              <a:rPr lang="en-US" altLang="zh-CN">
                <a:latin typeface="Times New Roman" panose="02020603050405020304" pitchFamily="18" charset="0"/>
                <a:ea typeface="仿宋" pitchFamily="49" charset="-122"/>
              </a:rPr>
              <a:t>,m</a:t>
            </a:r>
            <a:r>
              <a:rPr lang="en-US" altLang="zh-CN" baseline="-25000">
                <a:latin typeface="Times New Roman" panose="02020603050405020304" pitchFamily="18" charset="0"/>
                <a:ea typeface="仿宋" pitchFamily="49" charset="-122"/>
              </a:rPr>
              <a:t>1</a:t>
            </a:r>
          </a:p>
        </p:txBody>
      </p:sp>
      <p:cxnSp>
        <p:nvCxnSpPr>
          <p:cNvPr id="18" name="Straight Arrow Connector 17">
            <a:extLst>
              <a:ext uri="{FF2B5EF4-FFF2-40B4-BE49-F238E27FC236}">
                <a16:creationId xmlns:a16="http://schemas.microsoft.com/office/drawing/2014/main" id="{603669A2-D2AC-E34E-8FC8-96CDCAE60413}"/>
              </a:ext>
            </a:extLst>
          </p:cNvPr>
          <p:cNvCxnSpPr>
            <a:stCxn id="6" idx="1"/>
            <a:endCxn id="3" idx="3"/>
          </p:cNvCxnSpPr>
          <p:nvPr/>
        </p:nvCxnSpPr>
        <p:spPr>
          <a:xfrm flipH="1">
            <a:off x="3581400" y="4724400"/>
            <a:ext cx="434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329" name="TextBox 15">
            <a:extLst>
              <a:ext uri="{FF2B5EF4-FFF2-40B4-BE49-F238E27FC236}">
                <a16:creationId xmlns:a16="http://schemas.microsoft.com/office/drawing/2014/main" id="{BE561BC5-F751-304A-B2B1-6AF6BFC3301D}"/>
              </a:ext>
            </a:extLst>
          </p:cNvPr>
          <p:cNvSpPr txBox="1">
            <a:spLocks noChangeArrowheads="1"/>
          </p:cNvSpPr>
          <p:nvPr/>
        </p:nvSpPr>
        <p:spPr bwMode="auto">
          <a:xfrm>
            <a:off x="5154613" y="4419600"/>
            <a:ext cx="390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latin typeface="Times New Roman" panose="02020603050405020304" pitchFamily="18" charset="0"/>
                <a:ea typeface="仿宋" pitchFamily="49" charset="-122"/>
              </a:rPr>
              <a:t>b’</a:t>
            </a:r>
          </a:p>
        </p:txBody>
      </p:sp>
      <p:cxnSp>
        <p:nvCxnSpPr>
          <p:cNvPr id="19" name="Straight Arrow Connector 18">
            <a:extLst>
              <a:ext uri="{FF2B5EF4-FFF2-40B4-BE49-F238E27FC236}">
                <a16:creationId xmlns:a16="http://schemas.microsoft.com/office/drawing/2014/main" id="{6D91F4F7-AB98-B741-936E-747A80B68820}"/>
              </a:ext>
            </a:extLst>
          </p:cNvPr>
          <p:cNvCxnSpPr>
            <a:stCxn id="3" idx="2"/>
            <a:endCxn id="3" idx="3"/>
          </p:cNvCxnSpPr>
          <p:nvPr/>
        </p:nvCxnSpPr>
        <p:spPr>
          <a:xfrm>
            <a:off x="2590800" y="4876800"/>
            <a:ext cx="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331" name="TextBox 19">
            <a:extLst>
              <a:ext uri="{FF2B5EF4-FFF2-40B4-BE49-F238E27FC236}">
                <a16:creationId xmlns:a16="http://schemas.microsoft.com/office/drawing/2014/main" id="{F5CBD1A5-BE0D-7346-9A86-1F3D32B487A5}"/>
              </a:ext>
            </a:extLst>
          </p:cNvPr>
          <p:cNvSpPr txBox="1">
            <a:spLocks noChangeArrowheads="1"/>
          </p:cNvSpPr>
          <p:nvPr/>
        </p:nvSpPr>
        <p:spPr bwMode="auto">
          <a:xfrm>
            <a:off x="1573213" y="5259388"/>
            <a:ext cx="2717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a:latin typeface="Times New Roman" panose="02020603050405020304" pitchFamily="18" charset="0"/>
                <a:ea typeface="仿宋" pitchFamily="49" charset="-122"/>
              </a:rPr>
              <a:t>如果</a:t>
            </a:r>
            <a:r>
              <a:rPr lang="en-US" altLang="zh-CN">
                <a:latin typeface="Times New Roman" panose="02020603050405020304" pitchFamily="18" charset="0"/>
                <a:ea typeface="仿宋" pitchFamily="49" charset="-122"/>
              </a:rPr>
              <a:t>b=b’</a:t>
            </a:r>
            <a:r>
              <a:rPr lang="zh-CN" altLang="en-US">
                <a:latin typeface="Times New Roman" panose="02020603050405020304" pitchFamily="18" charset="0"/>
                <a:ea typeface="仿宋" pitchFamily="49" charset="-122"/>
              </a:rPr>
              <a:t>，挑战者输出</a:t>
            </a:r>
            <a:r>
              <a:rPr lang="en-US" altLang="zh-CN">
                <a:latin typeface="Times New Roman" panose="02020603050405020304" pitchFamily="18" charset="0"/>
                <a:ea typeface="仿宋" pitchFamily="49" charset="-122"/>
              </a:rPr>
              <a:t>1</a:t>
            </a:r>
          </a:p>
          <a:p>
            <a:pPr eaLnBrk="0" hangingPunct="0"/>
            <a:r>
              <a:rPr lang="zh-CN" altLang="en-US">
                <a:latin typeface="Times New Roman" panose="02020603050405020304" pitchFamily="18" charset="0"/>
                <a:ea typeface="仿宋" pitchFamily="49" charset="-122"/>
              </a:rPr>
              <a:t>否则，挑战者输出</a:t>
            </a:r>
            <a:r>
              <a:rPr lang="en-US" altLang="zh-CN">
                <a:latin typeface="Times New Roman" panose="02020603050405020304" pitchFamily="18" charset="0"/>
                <a:ea typeface="仿宋" pitchFamily="49" charset="-122"/>
              </a:rPr>
              <a:t>0</a:t>
            </a:r>
          </a:p>
        </p:txBody>
      </p:sp>
      <p:cxnSp>
        <p:nvCxnSpPr>
          <p:cNvPr id="15" name="Straight Arrow Connector 14">
            <a:extLst>
              <a:ext uri="{FF2B5EF4-FFF2-40B4-BE49-F238E27FC236}">
                <a16:creationId xmlns:a16="http://schemas.microsoft.com/office/drawing/2014/main" id="{BA6B560E-0C63-0E42-857F-D30DB4802B45}"/>
              </a:ext>
            </a:extLst>
          </p:cNvPr>
          <p:cNvCxnSpPr>
            <a:stCxn id="3" idx="2"/>
            <a:endCxn id="3" idx="3"/>
          </p:cNvCxnSpPr>
          <p:nvPr/>
        </p:nvCxnSpPr>
        <p:spPr>
          <a:xfrm flipH="1">
            <a:off x="3581400" y="2195513"/>
            <a:ext cx="434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333" name="TextBox 1">
            <a:extLst>
              <a:ext uri="{FF2B5EF4-FFF2-40B4-BE49-F238E27FC236}">
                <a16:creationId xmlns:a16="http://schemas.microsoft.com/office/drawing/2014/main" id="{07426D52-E716-354E-8BE9-833A3A63D5B9}"/>
              </a:ext>
            </a:extLst>
          </p:cNvPr>
          <p:cNvSpPr txBox="1">
            <a:spLocks noChangeArrowheads="1"/>
          </p:cNvSpPr>
          <p:nvPr/>
        </p:nvSpPr>
        <p:spPr bwMode="auto">
          <a:xfrm>
            <a:off x="5130800" y="2324100"/>
            <a:ext cx="438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FF0000"/>
                </a:solidFill>
                <a:latin typeface="Times New Roman" panose="02020603050405020304" pitchFamily="18" charset="0"/>
                <a:ea typeface="仿宋" pitchFamily="49" charset="-122"/>
              </a:rPr>
              <a:t>ct</a:t>
            </a:r>
            <a:r>
              <a:rPr lang="en-US" altLang="zh-CN" baseline="-25000">
                <a:solidFill>
                  <a:srgbClr val="FF0000"/>
                </a:solidFill>
                <a:latin typeface="Times New Roman" panose="02020603050405020304" pitchFamily="18" charset="0"/>
                <a:ea typeface="仿宋" pitchFamily="49" charset="-122"/>
              </a:rPr>
              <a:t>i</a:t>
            </a:r>
          </a:p>
        </p:txBody>
      </p:sp>
      <p:cxnSp>
        <p:nvCxnSpPr>
          <p:cNvPr id="17" name="Straight Arrow Connector 16">
            <a:extLst>
              <a:ext uri="{FF2B5EF4-FFF2-40B4-BE49-F238E27FC236}">
                <a16:creationId xmlns:a16="http://schemas.microsoft.com/office/drawing/2014/main" id="{62F50B0D-40AC-BC47-A62F-D158E0CD08B2}"/>
              </a:ext>
            </a:extLst>
          </p:cNvPr>
          <p:cNvCxnSpPr>
            <a:stCxn id="3" idx="2"/>
            <a:endCxn id="3" idx="3"/>
          </p:cNvCxnSpPr>
          <p:nvPr/>
        </p:nvCxnSpPr>
        <p:spPr>
          <a:xfrm>
            <a:off x="3581400" y="2693988"/>
            <a:ext cx="434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335" name="TextBox 3">
            <a:extLst>
              <a:ext uri="{FF2B5EF4-FFF2-40B4-BE49-F238E27FC236}">
                <a16:creationId xmlns:a16="http://schemas.microsoft.com/office/drawing/2014/main" id="{2702C939-FCDF-9443-A645-AC511ACF23F7}"/>
              </a:ext>
            </a:extLst>
          </p:cNvPr>
          <p:cNvSpPr txBox="1">
            <a:spLocks noChangeArrowheads="1"/>
          </p:cNvSpPr>
          <p:nvPr/>
        </p:nvSpPr>
        <p:spPr bwMode="auto">
          <a:xfrm>
            <a:off x="5057775" y="1827213"/>
            <a:ext cx="450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FF0000"/>
                </a:solidFill>
                <a:latin typeface="Times New Roman" panose="02020603050405020304" pitchFamily="18" charset="0"/>
                <a:ea typeface="仿宋" pitchFamily="49" charset="-122"/>
              </a:rPr>
              <a:t>m</a:t>
            </a:r>
            <a:r>
              <a:rPr lang="en-US" altLang="zh-CN" baseline="-25000">
                <a:solidFill>
                  <a:srgbClr val="FF0000"/>
                </a:solidFill>
                <a:latin typeface="Times New Roman" panose="02020603050405020304" pitchFamily="18" charset="0"/>
                <a:ea typeface="仿宋" pitchFamily="49" charset="-122"/>
              </a:rPr>
              <a:t>i</a:t>
            </a:r>
          </a:p>
        </p:txBody>
      </p:sp>
      <p:sp>
        <p:nvSpPr>
          <p:cNvPr id="9" name="Curved Left Arrow 8">
            <a:extLst>
              <a:ext uri="{FF2B5EF4-FFF2-40B4-BE49-F238E27FC236}">
                <a16:creationId xmlns:a16="http://schemas.microsoft.com/office/drawing/2014/main" id="{810058DA-F576-5845-99E4-E3C0D4E4F3DB}"/>
              </a:ext>
            </a:extLst>
          </p:cNvPr>
          <p:cNvSpPr/>
          <p:nvPr/>
        </p:nvSpPr>
        <p:spPr>
          <a:xfrm>
            <a:off x="6462713" y="1978025"/>
            <a:ext cx="344487" cy="85566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chemeClr val="tx1"/>
              </a:solidFill>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副标题 2">
            <a:extLst>
              <a:ext uri="{FF2B5EF4-FFF2-40B4-BE49-F238E27FC236}">
                <a16:creationId xmlns:a16="http://schemas.microsoft.com/office/drawing/2014/main" id="{C4D36214-1719-EE4E-BD2D-BCF2A9B55F7F}"/>
              </a:ext>
            </a:extLst>
          </p:cNvPr>
          <p:cNvSpPr>
            <a:spLocks noGrp="1" noChangeArrowheads="1"/>
          </p:cNvSpPr>
          <p:nvPr>
            <p:ph type="subTitle" idx="1"/>
          </p:nvPr>
        </p:nvSpPr>
        <p:spPr>
          <a:xfrm>
            <a:off x="0" y="3048000"/>
            <a:ext cx="12192000" cy="790575"/>
          </a:xfrm>
        </p:spPr>
        <p:txBody>
          <a:bodyPr/>
          <a:lstStyle/>
          <a:p>
            <a:r>
              <a:rPr lang="en-US" altLang="zh-CN" sz="3600" b="1"/>
              <a:t>DES</a:t>
            </a:r>
            <a:r>
              <a:rPr lang="zh-CN" altLang="en-US" sz="3600" b="1"/>
              <a:t>的安全性</a:t>
            </a:r>
            <a:endParaRPr lang="en-US" altLang="zh-CN" sz="3600" b="1"/>
          </a:p>
        </p:txBody>
      </p:sp>
    </p:spTree>
  </p:cSld>
  <p:clrMapOvr>
    <a:masterClrMapping/>
  </p:clrMapOvr>
  <p:transition spd="slow">
    <p:random/>
  </p:transition>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7587" name="Rectangle 3">
                <a:extLst>
                  <a:ext uri="{FF2B5EF4-FFF2-40B4-BE49-F238E27FC236}">
                    <a16:creationId xmlns:a16="http://schemas.microsoft.com/office/drawing/2014/main" id="{93603818-66B0-D143-AB66-28672BB6D1B3}"/>
                  </a:ext>
                </a:extLst>
              </p:cNvPr>
              <p:cNvSpPr>
                <a:spLocks noGrp="1" noChangeArrowheads="1"/>
              </p:cNvSpPr>
              <p:nvPr>
                <p:ph type="body" sz="half" idx="4294967295"/>
              </p:nvPr>
            </p:nvSpPr>
            <p:spPr>
              <a:xfrm>
                <a:off x="1071563" y="1295400"/>
                <a:ext cx="9825037" cy="4495800"/>
              </a:xfrm>
            </p:spPr>
            <p:txBody>
              <a:bodyPr/>
              <a:lstStyle/>
              <a:p>
                <a:pPr eaLnBrk="1" hangingPunct="1">
                  <a:lnSpc>
                    <a:spcPct val="120000"/>
                  </a:lnSpc>
                  <a:spcAft>
                    <a:spcPts val="600"/>
                  </a:spcAft>
                </a:pPr>
                <a:r>
                  <a:rPr lang="zh-CN" altLang="en-US" sz="2400" dirty="0">
                    <a:ea typeface="楷体_GB2312" pitchFamily="49" charset="-122"/>
                  </a:rPr>
                  <a:t>互补性</a:t>
                </a:r>
                <a:r>
                  <a:rPr lang="zh-CN" altLang="en-US" sz="2400" dirty="0"/>
                  <a:t>。</a:t>
                </a:r>
                <a:r>
                  <a:rPr lang="en-US" altLang="zh-CN" sz="2400" dirty="0"/>
                  <a:t>DES</a:t>
                </a:r>
                <a:r>
                  <a:rPr lang="zh-CN" altLang="en-US" sz="2400" dirty="0"/>
                  <a:t>算法具有下述性质。若明文组</a:t>
                </a:r>
                <a:r>
                  <a:rPr lang="en-US" altLang="zh-CN" sz="2400" i="1" dirty="0"/>
                  <a:t>x</a:t>
                </a:r>
                <a:r>
                  <a:rPr lang="zh-CN" altLang="en-US" sz="2400" dirty="0"/>
                  <a:t>逐位取补，密钥</a:t>
                </a:r>
                <a:r>
                  <a:rPr lang="en-US" altLang="zh-CN" sz="2400" i="1" dirty="0"/>
                  <a:t>k</a:t>
                </a:r>
                <a:r>
                  <a:rPr lang="zh-CN" altLang="en-US" sz="2400" dirty="0"/>
                  <a:t>逐位取补，即</a:t>
                </a:r>
                <a:r>
                  <a:rPr lang="en-US" altLang="zh-CN" sz="2400" i="1" dirty="0"/>
                  <a:t>y</a:t>
                </a:r>
                <a:r>
                  <a:rPr lang="en-US" altLang="zh-CN" sz="2400" dirty="0"/>
                  <a:t>=</a:t>
                </a:r>
                <a:r>
                  <a:rPr lang="en-US" altLang="zh-CN" sz="2400" dirty="0" err="1"/>
                  <a:t>DES</a:t>
                </a:r>
                <a:r>
                  <a:rPr lang="en-US" altLang="zh-CN" sz="2400" baseline="-25000" dirty="0" err="1"/>
                  <a:t>k</a:t>
                </a:r>
                <a:r>
                  <a:rPr lang="en-US" altLang="zh-CN" sz="2400" dirty="0"/>
                  <a:t>(</a:t>
                </a:r>
                <a:r>
                  <a:rPr lang="en-US" altLang="zh-CN" sz="2400" i="1" dirty="0"/>
                  <a:t>x</a:t>
                </a:r>
                <a:r>
                  <a:rPr lang="en-US" altLang="zh-CN" sz="2400" dirty="0"/>
                  <a:t>), </a:t>
                </a:r>
                <a:r>
                  <a:rPr lang="zh-CN" altLang="en-US" sz="2400" dirty="0"/>
                  <a:t>则有</a:t>
                </a:r>
                <a14:m>
                  <m:oMath xmlns:m="http://schemas.openxmlformats.org/officeDocument/2006/math">
                    <m:acc>
                      <m:accPr>
                        <m:chr m:val="̄"/>
                        <m:ctrlPr>
                          <a:rPr lang="zh-CN" altLang="en-US" sz="2400"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𝒚</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𝑫𝑬</m:t>
                    </m:r>
                    <m:sSub>
                      <m:sSubPr>
                        <m:ctrlPr>
                          <a:rPr lang="zh-CN" altLang="en-US" sz="2400"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𝑺</m:t>
                        </m:r>
                      </m:e>
                      <m:sub>
                        <m:acc>
                          <m:accPr>
                            <m:chr m:val="̄"/>
                            <m:ctrlPr>
                              <a:rPr lang="zh-CN" altLang="en-US" sz="2400"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𝑲</m:t>
                            </m:r>
                          </m:e>
                        </m:acc>
                      </m:sub>
                    </m:sSub>
                    <m:r>
                      <a:rPr lang="zh-CN" altLang="en-US" sz="2400" b="1"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𝒙</m:t>
                        </m:r>
                      </m:e>
                    </m:acc>
                    <m:r>
                      <a:rPr lang="zh-CN" altLang="en-US" sz="2400" b="1" i="1">
                        <a:solidFill>
                          <a:srgbClr val="000000"/>
                        </a:solidFill>
                        <a:latin typeface="Cambria Math" panose="02040503050406030204" pitchFamily="18" charset="0"/>
                      </a:rPr>
                      <m:t>)</m:t>
                    </m:r>
                  </m:oMath>
                </a14:m>
                <a:endParaRPr lang="zh-CN" altLang="en-US" sz="2400" dirty="0"/>
              </a:p>
              <a:p>
                <a:pPr algn="just" eaLnBrk="1" hangingPunct="1">
                  <a:lnSpc>
                    <a:spcPct val="120000"/>
                  </a:lnSpc>
                  <a:buFont typeface="Wingdings" pitchFamily="2" charset="2"/>
                  <a:buNone/>
                </a:pPr>
                <a:r>
                  <a:rPr lang="zh-CN" altLang="en-US" sz="2400" dirty="0"/>
                  <a:t>        这种互补性会使</a:t>
                </a:r>
                <a:r>
                  <a:rPr lang="en-US" altLang="zh-CN" sz="2400" dirty="0"/>
                  <a:t>DES</a:t>
                </a:r>
                <a:r>
                  <a:rPr lang="zh-CN" altLang="en-US" sz="2400" dirty="0"/>
                  <a:t>在选择明文破译下所需的工作量减半。</a:t>
                </a:r>
              </a:p>
              <a:p>
                <a:pPr marL="792163" lvl="1" indent="-334963" eaLnBrk="1" hangingPunct="1"/>
                <a:endParaRPr lang="en-US" altLang="zh-CN" dirty="0">
                  <a:sym typeface="ZapfDingbats" pitchFamily="82" charset="2"/>
                </a:endParaRPr>
              </a:p>
              <a:p>
                <a:pPr marL="792163" lvl="1" indent="-334963" eaLnBrk="1" hangingPunct="1"/>
                <a:endParaRPr lang="zh-CN" altLang="en-US" dirty="0">
                  <a:sym typeface="ZapfDingbats" pitchFamily="82" charset="2"/>
                </a:endParaRPr>
              </a:p>
              <a:p>
                <a:pPr eaLnBrk="1" hangingPunct="1">
                  <a:buFontTx/>
                  <a:buNone/>
                </a:pPr>
                <a:r>
                  <a:rPr lang="zh-CN" altLang="en-US" sz="2400" dirty="0">
                    <a:sym typeface="ZapfDingbats" pitchFamily="82" charset="2"/>
                  </a:rPr>
                  <a:t>   </a:t>
                </a:r>
                <a:endParaRPr lang="en-US" altLang="zh-CN" sz="2400" dirty="0">
                  <a:sym typeface="ZapfDingbats" pitchFamily="82" charset="2"/>
                </a:endParaRPr>
              </a:p>
              <a:p>
                <a:pPr marL="792163" lvl="1" indent="-334963" algn="just" eaLnBrk="1" hangingPunct="1">
                  <a:lnSpc>
                    <a:spcPct val="120000"/>
                  </a:lnSpc>
                  <a:spcAft>
                    <a:spcPts val="600"/>
                  </a:spcAft>
                </a:pPr>
                <a:endParaRPr lang="zh-CN" altLang="en-US" dirty="0"/>
              </a:p>
            </p:txBody>
          </p:sp>
        </mc:Choice>
        <mc:Fallback xmlns="">
          <p:sp>
            <p:nvSpPr>
              <p:cNvPr id="67587" name="Rectangle 3">
                <a:extLst>
                  <a:ext uri="{FF2B5EF4-FFF2-40B4-BE49-F238E27FC236}">
                    <a16:creationId xmlns:a16="http://schemas.microsoft.com/office/drawing/2014/main" id="{93603818-66B0-D143-AB66-28672BB6D1B3}"/>
                  </a:ext>
                </a:extLst>
              </p:cNvPr>
              <p:cNvSpPr>
                <a:spLocks noGrp="1" noRot="1" noChangeAspect="1" noMove="1" noResize="1" noEditPoints="1" noAdjustHandles="1" noChangeArrowheads="1" noChangeShapeType="1" noTextEdit="1"/>
              </p:cNvSpPr>
              <p:nvPr>
                <p:ph type="body" sz="half" idx="4294967295"/>
              </p:nvPr>
            </p:nvSpPr>
            <p:spPr>
              <a:xfrm>
                <a:off x="1071563" y="1295400"/>
                <a:ext cx="9825037" cy="4495800"/>
              </a:xfrm>
              <a:blipFill>
                <a:blip r:embed="rId3"/>
                <a:stretch>
                  <a:fillRect l="-868" t="-814"/>
                </a:stretch>
              </a:blipFill>
            </p:spPr>
            <p:txBody>
              <a:bodyPr/>
              <a:lstStyle/>
              <a:p>
                <a:r>
                  <a:rPr lang="zh-CN" altLang="en-US">
                    <a:noFill/>
                  </a:rPr>
                  <a:t> </a:t>
                </a:r>
              </a:p>
            </p:txBody>
          </p:sp>
        </mc:Fallback>
      </mc:AlternateContent>
      <p:sp>
        <p:nvSpPr>
          <p:cNvPr id="190465" name="Rectangle 2">
            <a:extLst>
              <a:ext uri="{FF2B5EF4-FFF2-40B4-BE49-F238E27FC236}">
                <a16:creationId xmlns:a16="http://schemas.microsoft.com/office/drawing/2014/main" id="{0E8EC10F-8757-F344-9439-C45A31D8C72E}"/>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关于</a:t>
            </a:r>
            <a:r>
              <a:rPr lang="en-US" altLang="zh-CN">
                <a:solidFill>
                  <a:srgbClr val="1F4E79"/>
                </a:solidFill>
              </a:rPr>
              <a:t>DES</a:t>
            </a:r>
            <a:r>
              <a:rPr lang="zh-CN" altLang="en-US">
                <a:solidFill>
                  <a:srgbClr val="1F4E79"/>
                </a:solidFill>
              </a:rPr>
              <a:t>密钥</a:t>
            </a:r>
          </a:p>
        </p:txBody>
      </p:sp>
      <p:sp>
        <p:nvSpPr>
          <p:cNvPr id="190468" name="Text Box 4">
            <a:extLst>
              <a:ext uri="{FF2B5EF4-FFF2-40B4-BE49-F238E27FC236}">
                <a16:creationId xmlns:a16="http://schemas.microsoft.com/office/drawing/2014/main" id="{A62F0106-D408-B444-A077-EBEC2E6E1E3B}"/>
              </a:ext>
            </a:extLst>
          </p:cNvPr>
          <p:cNvSpPr txBox="1">
            <a:spLocks noChangeArrowheads="1"/>
          </p:cNvSpPr>
          <p:nvPr/>
        </p:nvSpPr>
        <p:spPr bwMode="auto">
          <a:xfrm>
            <a:off x="3184525" y="383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extLst>
      <p:ext uri="{BB962C8B-B14F-4D97-AF65-F5344CB8AC3E}">
        <p14:creationId xmlns:p14="http://schemas.microsoft.com/office/powerpoint/2010/main" val="109212049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5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3" name="标题 2">
            <a:extLst>
              <a:ext uri="{FF2B5EF4-FFF2-40B4-BE49-F238E27FC236}">
                <a16:creationId xmlns:a16="http://schemas.microsoft.com/office/drawing/2014/main" id="{E7E28713-7155-6648-ADB5-0A0A731AFF8E}"/>
              </a:ext>
            </a:extLst>
          </p:cNvPr>
          <p:cNvSpPr>
            <a:spLocks noGrp="1" noChangeArrowheads="1"/>
          </p:cNvSpPr>
          <p:nvPr>
            <p:ph type="title"/>
          </p:nvPr>
        </p:nvSpPr>
        <p:spPr>
          <a:xfrm>
            <a:off x="1465263" y="365125"/>
            <a:ext cx="9037637" cy="668338"/>
          </a:xfrm>
        </p:spPr>
        <p:txBody>
          <a:bodyPr/>
          <a:lstStyle/>
          <a:p>
            <a:r>
              <a:rPr lang="en-US" altLang="zh-CN">
                <a:solidFill>
                  <a:schemeClr val="hlink"/>
                </a:solidFill>
              </a:rPr>
              <a:t>DES</a:t>
            </a:r>
            <a:r>
              <a:rPr lang="zh-CN" altLang="en-US">
                <a:solidFill>
                  <a:schemeClr val="hlink"/>
                </a:solidFill>
              </a:rPr>
              <a:t>算法轮结构</a:t>
            </a:r>
            <a:endParaRPr lang="zh-CN" altLang="en-US">
              <a:solidFill>
                <a:srgbClr val="1F4E79"/>
              </a:solidFill>
            </a:endParaRPr>
          </a:p>
        </p:txBody>
      </p:sp>
      <p:pic>
        <p:nvPicPr>
          <p:cNvPr id="161794" name="Picture 4" descr="xd28">
            <a:extLst>
              <a:ext uri="{FF2B5EF4-FFF2-40B4-BE49-F238E27FC236}">
                <a16:creationId xmlns:a16="http://schemas.microsoft.com/office/drawing/2014/main" id="{F32CFDA5-B5E0-AE4E-9F9D-58D98CB0C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475" y="1155700"/>
            <a:ext cx="8645525" cy="567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748234"/>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7587" name="Rectangle 3">
                <a:extLst>
                  <a:ext uri="{FF2B5EF4-FFF2-40B4-BE49-F238E27FC236}">
                    <a16:creationId xmlns:a16="http://schemas.microsoft.com/office/drawing/2014/main" id="{93603818-66B0-D143-AB66-28672BB6D1B3}"/>
                  </a:ext>
                </a:extLst>
              </p:cNvPr>
              <p:cNvSpPr>
                <a:spLocks noGrp="1" noChangeArrowheads="1"/>
              </p:cNvSpPr>
              <p:nvPr>
                <p:ph type="body" sz="half" idx="4294967295"/>
              </p:nvPr>
            </p:nvSpPr>
            <p:spPr>
              <a:xfrm>
                <a:off x="1071563" y="1295400"/>
                <a:ext cx="9825037" cy="4495800"/>
              </a:xfrm>
            </p:spPr>
            <p:txBody>
              <a:bodyPr/>
              <a:lstStyle/>
              <a:p>
                <a:pPr eaLnBrk="1" hangingPunct="1">
                  <a:lnSpc>
                    <a:spcPct val="120000"/>
                  </a:lnSpc>
                  <a:spcAft>
                    <a:spcPts val="600"/>
                  </a:spcAft>
                </a:pPr>
                <a:r>
                  <a:rPr lang="zh-CN" altLang="en-US" sz="2400" dirty="0">
                    <a:ea typeface="楷体_GB2312" pitchFamily="49" charset="-122"/>
                  </a:rPr>
                  <a:t>互补性</a:t>
                </a:r>
                <a:r>
                  <a:rPr lang="zh-CN" altLang="en-US" sz="2400" dirty="0"/>
                  <a:t>。</a:t>
                </a:r>
                <a:r>
                  <a:rPr lang="en-US" altLang="zh-CN" sz="2400" dirty="0"/>
                  <a:t>DES</a:t>
                </a:r>
                <a:r>
                  <a:rPr lang="zh-CN" altLang="en-US" sz="2400" dirty="0"/>
                  <a:t>算法具有下述性质。若明文组</a:t>
                </a:r>
                <a:r>
                  <a:rPr lang="en-US" altLang="zh-CN" sz="2400" i="1" dirty="0"/>
                  <a:t>x</a:t>
                </a:r>
                <a:r>
                  <a:rPr lang="zh-CN" altLang="en-US" sz="2400" dirty="0"/>
                  <a:t>逐位取补，密钥</a:t>
                </a:r>
                <a:r>
                  <a:rPr lang="en-US" altLang="zh-CN" sz="2400" i="1" dirty="0"/>
                  <a:t>k</a:t>
                </a:r>
                <a:r>
                  <a:rPr lang="zh-CN" altLang="en-US" sz="2400" dirty="0"/>
                  <a:t>逐位取补，即</a:t>
                </a:r>
                <a:r>
                  <a:rPr lang="en-US" altLang="zh-CN" sz="2400" i="1" dirty="0"/>
                  <a:t>y</a:t>
                </a:r>
                <a:r>
                  <a:rPr lang="en-US" altLang="zh-CN" sz="2400" dirty="0"/>
                  <a:t>=</a:t>
                </a:r>
                <a:r>
                  <a:rPr lang="en-US" altLang="zh-CN" sz="2400" dirty="0" err="1"/>
                  <a:t>DES</a:t>
                </a:r>
                <a:r>
                  <a:rPr lang="en-US" altLang="zh-CN" sz="2400" baseline="-25000" dirty="0" err="1"/>
                  <a:t>k</a:t>
                </a:r>
                <a:r>
                  <a:rPr lang="en-US" altLang="zh-CN" sz="2400" dirty="0"/>
                  <a:t>(</a:t>
                </a:r>
                <a:r>
                  <a:rPr lang="en-US" altLang="zh-CN" sz="2400" i="1" dirty="0"/>
                  <a:t>x</a:t>
                </a:r>
                <a:r>
                  <a:rPr lang="en-US" altLang="zh-CN" sz="2400" dirty="0"/>
                  <a:t>), </a:t>
                </a:r>
                <a:r>
                  <a:rPr lang="zh-CN" altLang="en-US" sz="2400" dirty="0"/>
                  <a:t>则有</a:t>
                </a:r>
                <a14:m>
                  <m:oMath xmlns:m="http://schemas.openxmlformats.org/officeDocument/2006/math">
                    <m:acc>
                      <m:accPr>
                        <m:chr m:val="̄"/>
                        <m:ctrlPr>
                          <a:rPr lang="zh-CN" altLang="en-US" sz="2400"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𝒚</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𝑫𝑬</m:t>
                    </m:r>
                    <m:sSub>
                      <m:sSubPr>
                        <m:ctrlPr>
                          <a:rPr lang="zh-CN" altLang="en-US" sz="2400"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𝑺</m:t>
                        </m:r>
                      </m:e>
                      <m:sub>
                        <m:acc>
                          <m:accPr>
                            <m:chr m:val="̄"/>
                            <m:ctrlPr>
                              <a:rPr lang="zh-CN" altLang="en-US" sz="2400"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𝑲</m:t>
                            </m:r>
                          </m:e>
                        </m:acc>
                      </m:sub>
                    </m:sSub>
                    <m:r>
                      <a:rPr lang="zh-CN" altLang="en-US" sz="2400" b="1"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𝒙</m:t>
                        </m:r>
                      </m:e>
                    </m:acc>
                    <m:r>
                      <a:rPr lang="zh-CN" altLang="en-US" sz="2400" b="1" i="1">
                        <a:solidFill>
                          <a:srgbClr val="000000"/>
                        </a:solidFill>
                        <a:latin typeface="Cambria Math" panose="02040503050406030204" pitchFamily="18" charset="0"/>
                      </a:rPr>
                      <m:t>)</m:t>
                    </m:r>
                  </m:oMath>
                </a14:m>
                <a:endParaRPr lang="zh-CN" altLang="en-US" sz="2400" dirty="0"/>
              </a:p>
              <a:p>
                <a:pPr algn="just" eaLnBrk="1" hangingPunct="1">
                  <a:lnSpc>
                    <a:spcPct val="120000"/>
                  </a:lnSpc>
                  <a:buFont typeface="Wingdings" pitchFamily="2" charset="2"/>
                  <a:buNone/>
                </a:pPr>
                <a:r>
                  <a:rPr lang="zh-CN" altLang="en-US" sz="2400" dirty="0"/>
                  <a:t>        这种互补性会使</a:t>
                </a:r>
                <a:r>
                  <a:rPr lang="en-US" altLang="zh-CN" sz="2400" dirty="0"/>
                  <a:t>DES</a:t>
                </a:r>
                <a:r>
                  <a:rPr lang="zh-CN" altLang="en-US" sz="2400" dirty="0"/>
                  <a:t>在选择明文破译下所需的工作量减半。</a:t>
                </a:r>
              </a:p>
              <a:p>
                <a:pPr algn="just" eaLnBrk="1" hangingPunct="1">
                  <a:lnSpc>
                    <a:spcPct val="120000"/>
                  </a:lnSpc>
                  <a:spcAft>
                    <a:spcPts val="600"/>
                  </a:spcAft>
                </a:pPr>
                <a:r>
                  <a:rPr lang="zh-CN" altLang="en-US" sz="2400" dirty="0">
                    <a:ea typeface="楷体_GB2312" pitchFamily="49" charset="-122"/>
                  </a:rPr>
                  <a:t>弱密钥和半弱密钥</a:t>
                </a:r>
                <a:r>
                  <a:rPr lang="zh-CN" altLang="en-US" sz="2400" dirty="0"/>
                  <a:t>。</a:t>
                </a:r>
                <a:endParaRPr lang="en-US" altLang="zh-CN" sz="2400" dirty="0"/>
              </a:p>
              <a:p>
                <a:pPr marL="792163" lvl="1" indent="-334963" eaLnBrk="1" hangingPunct="1"/>
                <a:r>
                  <a:rPr lang="zh-CN" altLang="en-US" dirty="0">
                    <a:sym typeface="ZapfDingbats" pitchFamily="82" charset="2"/>
                  </a:rPr>
                  <a:t>弱密钥</a:t>
                </a:r>
                <a:r>
                  <a:rPr lang="en-US" altLang="zh-CN" dirty="0">
                    <a:sym typeface="ZapfDingbats" pitchFamily="82" charset="2"/>
                  </a:rPr>
                  <a:t>:   </a:t>
                </a:r>
                <a:r>
                  <a:rPr lang="en-US" altLang="zh-CN" dirty="0">
                    <a:solidFill>
                      <a:srgbClr val="000066"/>
                    </a:solidFill>
                    <a:sym typeface="ZapfDingbats" pitchFamily="82" charset="2"/>
                  </a:rPr>
                  <a:t>E</a:t>
                </a:r>
                <a:r>
                  <a:rPr lang="en-US" altLang="zh-CN" baseline="-25000" dirty="0">
                    <a:solidFill>
                      <a:srgbClr val="000066"/>
                    </a:solidFill>
                    <a:sym typeface="ZapfDingbats" pitchFamily="82" charset="2"/>
                  </a:rPr>
                  <a:t>K</a:t>
                </a:r>
                <a:r>
                  <a:rPr lang="en-US" altLang="zh-CN" dirty="0">
                    <a:solidFill>
                      <a:srgbClr val="000066"/>
                    </a:solidFill>
                    <a:sym typeface="Symbol" pitchFamily="2" charset="2"/>
                  </a:rPr>
                  <a:t></a:t>
                </a:r>
                <a:r>
                  <a:rPr lang="en-US" altLang="zh-CN" dirty="0">
                    <a:solidFill>
                      <a:srgbClr val="000066"/>
                    </a:solidFill>
                    <a:sym typeface="ZapfDingbats" pitchFamily="82" charset="2"/>
                  </a:rPr>
                  <a:t>E</a:t>
                </a:r>
                <a:r>
                  <a:rPr lang="en-US" altLang="zh-CN" baseline="-25000" dirty="0">
                    <a:solidFill>
                      <a:srgbClr val="000066"/>
                    </a:solidFill>
                    <a:sym typeface="ZapfDingbats" pitchFamily="82" charset="2"/>
                  </a:rPr>
                  <a:t>K </a:t>
                </a:r>
                <a:r>
                  <a:rPr lang="en-US" altLang="zh-CN" dirty="0">
                    <a:solidFill>
                      <a:srgbClr val="000066"/>
                    </a:solidFill>
                    <a:sym typeface="ZapfDingbats" pitchFamily="82" charset="2"/>
                  </a:rPr>
                  <a:t>= I</a:t>
                </a:r>
                <a:r>
                  <a:rPr lang="en-US" altLang="zh-CN" dirty="0">
                    <a:sym typeface="ZapfDingbats" pitchFamily="82" charset="2"/>
                  </a:rPr>
                  <a:t> </a:t>
                </a:r>
                <a:r>
                  <a:rPr lang="zh-CN" altLang="en-US" dirty="0">
                    <a:sym typeface="ZapfDingbats" pitchFamily="82" charset="2"/>
                  </a:rPr>
                  <a:t>，</a:t>
                </a:r>
                <a:r>
                  <a:rPr lang="en-US" altLang="zh-CN" dirty="0">
                    <a:sym typeface="ZapfDingbats" pitchFamily="82" charset="2"/>
                  </a:rPr>
                  <a:t>DES</a:t>
                </a:r>
                <a:r>
                  <a:rPr lang="zh-CN" altLang="en-US" dirty="0">
                    <a:sym typeface="ZapfDingbats" pitchFamily="82" charset="2"/>
                  </a:rPr>
                  <a:t>存在</a:t>
                </a:r>
                <a:r>
                  <a:rPr lang="en-US" altLang="zh-CN" dirty="0">
                    <a:sym typeface="ZapfDingbats" pitchFamily="82" charset="2"/>
                  </a:rPr>
                  <a:t>4</a:t>
                </a:r>
                <a:r>
                  <a:rPr lang="zh-CN" altLang="en-US" dirty="0">
                    <a:sym typeface="ZapfDingbats" pitchFamily="82" charset="2"/>
                  </a:rPr>
                  <a:t>个弱密钥</a:t>
                </a:r>
              </a:p>
              <a:p>
                <a:pPr eaLnBrk="1" hangingPunct="1">
                  <a:buFontTx/>
                  <a:buNone/>
                </a:pPr>
                <a:r>
                  <a:rPr lang="zh-CN" altLang="en-US" sz="2400" dirty="0">
                    <a:sym typeface="ZapfDingbats" pitchFamily="82" charset="2"/>
                  </a:rPr>
                  <a:t>   </a:t>
                </a:r>
                <a:r>
                  <a:rPr lang="en-US" altLang="zh-CN" sz="2400" dirty="0">
                    <a:sym typeface="ZapfDingbats" pitchFamily="82" charset="2"/>
                  </a:rPr>
                  <a:t>	</a:t>
                </a:r>
                <a:r>
                  <a:rPr lang="zh-CN" altLang="en-US" sz="2400" dirty="0">
                    <a:sym typeface="ZapfDingbats" pitchFamily="82" charset="2"/>
                  </a:rPr>
                  <a:t>                            </a:t>
                </a:r>
                <a:r>
                  <a:rPr lang="zh-CN" altLang="en-US" sz="2400" dirty="0"/>
                  <a:t> </a:t>
                </a:r>
                <a:r>
                  <a:rPr lang="en-US" altLang="zh-CN" sz="2400" dirty="0" err="1"/>
                  <a:t>DES</a:t>
                </a:r>
                <a:r>
                  <a:rPr lang="en-US" altLang="zh-CN" sz="2400" baseline="-25000" dirty="0" err="1"/>
                  <a:t>k</a:t>
                </a:r>
                <a:r>
                  <a:rPr lang="en-US" altLang="zh-CN" sz="2400" dirty="0"/>
                  <a:t>(</a:t>
                </a:r>
                <a:r>
                  <a:rPr lang="en-US" altLang="zh-CN" sz="2400" dirty="0" err="1"/>
                  <a:t>DES</a:t>
                </a:r>
                <a:r>
                  <a:rPr lang="en-US" altLang="zh-CN" sz="2400" baseline="-25000" dirty="0" err="1"/>
                  <a:t>k</a:t>
                </a:r>
                <a:r>
                  <a:rPr lang="en-US" altLang="zh-CN" sz="2400" dirty="0"/>
                  <a:t>(</a:t>
                </a:r>
                <a:r>
                  <a:rPr lang="en-US" altLang="zh-CN" sz="2400" i="1" dirty="0"/>
                  <a:t>x</a:t>
                </a:r>
                <a:r>
                  <a:rPr lang="en-US" altLang="zh-CN" sz="2400" dirty="0"/>
                  <a:t>))=</a:t>
                </a:r>
                <a:r>
                  <a:rPr lang="en-US" altLang="zh-CN" sz="2400" i="1" dirty="0"/>
                  <a:t>x</a:t>
                </a:r>
                <a:endParaRPr lang="zh-CN" altLang="en-US" sz="2400" dirty="0">
                  <a:sym typeface="ZapfDingbats" pitchFamily="82" charset="2"/>
                </a:endParaRPr>
              </a:p>
              <a:p>
                <a:pPr marL="792163" lvl="1" indent="-334963" eaLnBrk="1" hangingPunct="1"/>
                <a:r>
                  <a:rPr lang="zh-CN" altLang="en-US" dirty="0">
                    <a:sym typeface="ZapfDingbats" pitchFamily="82" charset="2"/>
                  </a:rPr>
                  <a:t>半弱密钥</a:t>
                </a:r>
                <a:r>
                  <a:rPr lang="en-US" altLang="zh-CN" dirty="0">
                    <a:sym typeface="ZapfDingbats" pitchFamily="82" charset="2"/>
                  </a:rPr>
                  <a:t>: </a:t>
                </a:r>
                <a:r>
                  <a:rPr lang="en-US" altLang="zh-CN" dirty="0">
                    <a:solidFill>
                      <a:srgbClr val="000066"/>
                    </a:solidFill>
                    <a:sym typeface="ZapfDingbats" pitchFamily="82" charset="2"/>
                  </a:rPr>
                  <a:t>E</a:t>
                </a:r>
                <a:r>
                  <a:rPr lang="en-US" altLang="zh-CN" baseline="-25000" dirty="0">
                    <a:solidFill>
                      <a:srgbClr val="000066"/>
                    </a:solidFill>
                    <a:sym typeface="ZapfDingbats" pitchFamily="82" charset="2"/>
                  </a:rPr>
                  <a:t>K1</a:t>
                </a:r>
                <a:r>
                  <a:rPr lang="en-US" altLang="zh-CN" dirty="0">
                    <a:solidFill>
                      <a:srgbClr val="000066"/>
                    </a:solidFill>
                    <a:sym typeface="ZapfDingbats" pitchFamily="82" charset="2"/>
                  </a:rPr>
                  <a:t> = E</a:t>
                </a:r>
                <a:r>
                  <a:rPr lang="en-US" altLang="zh-CN" baseline="-25000" dirty="0">
                    <a:solidFill>
                      <a:srgbClr val="000066"/>
                    </a:solidFill>
                    <a:sym typeface="ZapfDingbats" pitchFamily="82" charset="2"/>
                  </a:rPr>
                  <a:t>K2</a:t>
                </a:r>
                <a:r>
                  <a:rPr lang="en-US" altLang="zh-CN" dirty="0">
                    <a:sym typeface="ZapfDingbats" pitchFamily="82" charset="2"/>
                  </a:rPr>
                  <a:t> </a:t>
                </a:r>
                <a:r>
                  <a:rPr lang="zh-CN" altLang="en-US" dirty="0">
                    <a:sym typeface="ZapfDingbats" pitchFamily="82" charset="2"/>
                  </a:rPr>
                  <a:t>，至少有</a:t>
                </a:r>
                <a:r>
                  <a:rPr lang="en-US" altLang="zh-CN" dirty="0">
                    <a:sym typeface="ZapfDingbats" pitchFamily="82" charset="2"/>
                  </a:rPr>
                  <a:t>12</a:t>
                </a:r>
                <a:r>
                  <a:rPr lang="zh-CN" altLang="en-US" dirty="0">
                    <a:sym typeface="ZapfDingbats" pitchFamily="82" charset="2"/>
                  </a:rPr>
                  <a:t>个半弱密钥</a:t>
                </a:r>
                <a:endParaRPr lang="en-US" altLang="zh-CN" dirty="0">
                  <a:sym typeface="ZapfDingbats" pitchFamily="82" charset="2"/>
                </a:endParaRPr>
              </a:p>
              <a:p>
                <a:pPr marL="457200" lvl="1" indent="0" eaLnBrk="1" hangingPunct="1">
                  <a:buNone/>
                </a:pPr>
                <a14:m>
                  <m:oMathPara xmlns:m="http://schemas.openxmlformats.org/officeDocument/2006/math">
                    <m:oMathParaPr>
                      <m:jc m:val="centerGroup"/>
                    </m:oMathParaPr>
                    <m:oMath xmlns:m="http://schemas.openxmlformats.org/officeDocument/2006/math">
                      <m:r>
                        <a:rPr lang="zh-CN" altLang="en-US" b="1" i="1">
                          <a:solidFill>
                            <a:srgbClr val="000000"/>
                          </a:solidFill>
                          <a:latin typeface="Cambria Math" panose="02040503050406030204" pitchFamily="18" charset="0"/>
                        </a:rPr>
                        <m:t>𝒚</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𝑬</m:t>
                              </m:r>
                            </m:e>
                            <m:sub>
                              <m:r>
                                <a:rPr lang="zh-CN" altLang="en-US" b="1" i="1">
                                  <a:solidFill>
                                    <a:srgbClr val="000000"/>
                                  </a:solidFill>
                                  <a:latin typeface="Cambria Math" panose="02040503050406030204" pitchFamily="18" charset="0"/>
                                </a:rPr>
                                <m:t>𝒌</m:t>
                              </m:r>
                            </m:sub>
                          </m:sSub>
                        </m:e>
                        <m:sub>
                          <m:r>
                            <a:rPr lang="zh-CN" altLang="en-US" b="1" i="1">
                              <a:solidFill>
                                <a:srgbClr val="000000"/>
                              </a:solidFill>
                              <a:latin typeface="Cambria Math" panose="02040503050406030204" pitchFamily="18" charset="0"/>
                            </a:rPr>
                            <m:t>𝟏</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𝒙</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𝑬</m:t>
                              </m:r>
                            </m:e>
                            <m:sub>
                              <m:r>
                                <a:rPr lang="zh-CN" altLang="en-US" b="1" i="1">
                                  <a:solidFill>
                                    <a:srgbClr val="000000"/>
                                  </a:solidFill>
                                  <a:latin typeface="Cambria Math" panose="02040503050406030204" pitchFamily="18" charset="0"/>
                                </a:rPr>
                                <m:t>𝒌</m:t>
                              </m:r>
                            </m:sub>
                          </m:sSub>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𝒙</m:t>
                      </m:r>
                      <m:r>
                        <a:rPr lang="zh-CN" altLang="en-US" b="1" i="1">
                          <a:solidFill>
                            <a:srgbClr val="000000"/>
                          </a:solidFill>
                          <a:latin typeface="Cambria Math" panose="02040503050406030204" pitchFamily="18" charset="0"/>
                        </a:rPr>
                        <m:t>)</m:t>
                      </m:r>
                    </m:oMath>
                  </m:oMathPara>
                </a14:m>
                <a:endParaRPr lang="zh-CN" altLang="en-US" dirty="0"/>
              </a:p>
              <a:p>
                <a:pPr marL="792163" lvl="1" indent="-334963" eaLnBrk="1" hangingPunct="1"/>
                <a:endParaRPr lang="en-US" altLang="zh-CN" dirty="0">
                  <a:sym typeface="ZapfDingbats" pitchFamily="82" charset="2"/>
                </a:endParaRPr>
              </a:p>
              <a:p>
                <a:pPr marL="792163" lvl="1" indent="-334963" eaLnBrk="1" hangingPunct="1"/>
                <a:endParaRPr lang="zh-CN" altLang="en-US" dirty="0">
                  <a:sym typeface="ZapfDingbats" pitchFamily="82" charset="2"/>
                </a:endParaRPr>
              </a:p>
              <a:p>
                <a:pPr eaLnBrk="1" hangingPunct="1">
                  <a:buFontTx/>
                  <a:buNone/>
                </a:pPr>
                <a:r>
                  <a:rPr lang="zh-CN" altLang="en-US" sz="2400" dirty="0">
                    <a:sym typeface="ZapfDingbats" pitchFamily="82" charset="2"/>
                  </a:rPr>
                  <a:t>   </a:t>
                </a:r>
                <a:endParaRPr lang="en-US" altLang="zh-CN" sz="2400" dirty="0">
                  <a:sym typeface="ZapfDingbats" pitchFamily="82" charset="2"/>
                </a:endParaRPr>
              </a:p>
              <a:p>
                <a:pPr marL="792163" lvl="1" indent="-334963" algn="just" eaLnBrk="1" hangingPunct="1">
                  <a:lnSpc>
                    <a:spcPct val="120000"/>
                  </a:lnSpc>
                  <a:spcAft>
                    <a:spcPts val="600"/>
                  </a:spcAft>
                </a:pPr>
                <a:endParaRPr lang="zh-CN" altLang="en-US" dirty="0"/>
              </a:p>
            </p:txBody>
          </p:sp>
        </mc:Choice>
        <mc:Fallback xmlns="">
          <p:sp>
            <p:nvSpPr>
              <p:cNvPr id="67587" name="Rectangle 3">
                <a:extLst>
                  <a:ext uri="{FF2B5EF4-FFF2-40B4-BE49-F238E27FC236}">
                    <a16:creationId xmlns:a16="http://schemas.microsoft.com/office/drawing/2014/main" id="{93603818-66B0-D143-AB66-28672BB6D1B3}"/>
                  </a:ext>
                </a:extLst>
              </p:cNvPr>
              <p:cNvSpPr>
                <a:spLocks noGrp="1" noRot="1" noChangeAspect="1" noMove="1" noResize="1" noEditPoints="1" noAdjustHandles="1" noChangeArrowheads="1" noChangeShapeType="1" noTextEdit="1"/>
              </p:cNvSpPr>
              <p:nvPr>
                <p:ph type="body" sz="half" idx="4294967295"/>
              </p:nvPr>
            </p:nvSpPr>
            <p:spPr>
              <a:xfrm>
                <a:off x="1071563" y="1295400"/>
                <a:ext cx="9825037" cy="4495800"/>
              </a:xfrm>
              <a:blipFill>
                <a:blip r:embed="rId3"/>
                <a:stretch>
                  <a:fillRect l="-903" t="-282"/>
                </a:stretch>
              </a:blipFill>
            </p:spPr>
            <p:txBody>
              <a:bodyPr/>
              <a:lstStyle/>
              <a:p>
                <a:r>
                  <a:rPr lang="en-CN">
                    <a:noFill/>
                  </a:rPr>
                  <a:t> </a:t>
                </a:r>
              </a:p>
            </p:txBody>
          </p:sp>
        </mc:Fallback>
      </mc:AlternateContent>
      <p:sp>
        <p:nvSpPr>
          <p:cNvPr id="190465" name="Rectangle 2">
            <a:extLst>
              <a:ext uri="{FF2B5EF4-FFF2-40B4-BE49-F238E27FC236}">
                <a16:creationId xmlns:a16="http://schemas.microsoft.com/office/drawing/2014/main" id="{0E8EC10F-8757-F344-9439-C45A31D8C72E}"/>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关于</a:t>
            </a:r>
            <a:r>
              <a:rPr lang="en-US" altLang="zh-CN">
                <a:solidFill>
                  <a:srgbClr val="1F4E79"/>
                </a:solidFill>
              </a:rPr>
              <a:t>DES</a:t>
            </a:r>
            <a:r>
              <a:rPr lang="zh-CN" altLang="en-US">
                <a:solidFill>
                  <a:srgbClr val="1F4E79"/>
                </a:solidFill>
              </a:rPr>
              <a:t>密钥</a:t>
            </a:r>
          </a:p>
        </p:txBody>
      </p:sp>
      <p:sp>
        <p:nvSpPr>
          <p:cNvPr id="190468" name="Text Box 4">
            <a:extLst>
              <a:ext uri="{FF2B5EF4-FFF2-40B4-BE49-F238E27FC236}">
                <a16:creationId xmlns:a16="http://schemas.microsoft.com/office/drawing/2014/main" id="{A62F0106-D408-B444-A077-EBEC2E6E1E3B}"/>
              </a:ext>
            </a:extLst>
          </p:cNvPr>
          <p:cNvSpPr txBox="1">
            <a:spLocks noChangeArrowheads="1"/>
          </p:cNvSpPr>
          <p:nvPr/>
        </p:nvSpPr>
        <p:spPr bwMode="auto">
          <a:xfrm>
            <a:off x="3184525" y="383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58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587">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758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758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587">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75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DC40A761-3738-5344-BAC0-BF66565739A2}"/>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DES</a:t>
            </a:r>
            <a:r>
              <a:rPr lang="zh-CN" altLang="en-US">
                <a:solidFill>
                  <a:srgbClr val="1F4E79"/>
                </a:solidFill>
              </a:rPr>
              <a:t>的弱密钥</a:t>
            </a:r>
          </a:p>
        </p:txBody>
      </p:sp>
      <p:sp>
        <p:nvSpPr>
          <p:cNvPr id="193538" name="Rectangle 3">
            <a:extLst>
              <a:ext uri="{FF2B5EF4-FFF2-40B4-BE49-F238E27FC236}">
                <a16:creationId xmlns:a16="http://schemas.microsoft.com/office/drawing/2014/main" id="{10DFC90A-DC44-2B4C-A95B-63FD6E032035}"/>
              </a:ext>
            </a:extLst>
          </p:cNvPr>
          <p:cNvSpPr>
            <a:spLocks noGrp="1" noChangeArrowheads="1"/>
          </p:cNvSpPr>
          <p:nvPr>
            <p:ph idx="1"/>
          </p:nvPr>
        </p:nvSpPr>
        <p:spPr>
          <a:xfrm>
            <a:off x="823913" y="1465263"/>
            <a:ext cx="10515600" cy="1201737"/>
          </a:xfrm>
        </p:spPr>
        <p:txBody>
          <a:bodyPr/>
          <a:lstStyle/>
          <a:p>
            <a:pPr algn="just" eaLnBrk="1" hangingPunct="1">
              <a:spcAft>
                <a:spcPts val="600"/>
              </a:spcAft>
            </a:pPr>
            <a:r>
              <a:rPr lang="en-US" altLang="zh-CN">
                <a:latin typeface="Times New Roman" panose="02020603050405020304" pitchFamily="18" charset="0"/>
              </a:rPr>
              <a:t>DES</a:t>
            </a:r>
            <a:r>
              <a:rPr lang="zh-CN" altLang="en-US">
                <a:latin typeface="Times New Roman" panose="02020603050405020304" pitchFamily="18" charset="0"/>
              </a:rPr>
              <a:t>算法在每次迭代时都有一个子密钥供加密用。如果给定初始密钥</a:t>
            </a:r>
            <a:r>
              <a:rPr lang="en-US" altLang="zh-CN" i="1">
                <a:latin typeface="Times New Roman" panose="02020603050405020304" pitchFamily="18" charset="0"/>
              </a:rPr>
              <a:t>k</a:t>
            </a:r>
            <a:r>
              <a:rPr lang="zh-CN" altLang="en-US">
                <a:latin typeface="Times New Roman" panose="02020603050405020304" pitchFamily="18" charset="0"/>
              </a:rPr>
              <a:t>，各轮的子密钥都相同，即有</a:t>
            </a:r>
            <a:r>
              <a:rPr lang="en-US" altLang="zh-CN" i="1">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i="1">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a:latin typeface="Times New Roman" panose="02020603050405020304" pitchFamily="18" charset="0"/>
              </a:rPr>
              <a:t>k</a:t>
            </a:r>
            <a:r>
              <a:rPr lang="en-US" altLang="zh-CN" baseline="-25000">
                <a:latin typeface="Times New Roman" panose="02020603050405020304" pitchFamily="18" charset="0"/>
              </a:rPr>
              <a:t>16</a:t>
            </a:r>
            <a:r>
              <a:rPr lang="zh-CN" altLang="en-US">
                <a:latin typeface="Times New Roman" panose="02020603050405020304" pitchFamily="18" charset="0"/>
              </a:rPr>
              <a:t>，就称给定密钥</a:t>
            </a:r>
            <a:r>
              <a:rPr lang="en-US" altLang="zh-CN" i="1">
                <a:latin typeface="Times New Roman" panose="02020603050405020304" pitchFamily="18" charset="0"/>
              </a:rPr>
              <a:t>k</a:t>
            </a:r>
            <a:r>
              <a:rPr lang="zh-CN" altLang="en-US">
                <a:latin typeface="Times New Roman" panose="02020603050405020304" pitchFamily="18" charset="0"/>
              </a:rPr>
              <a:t>为弱密钥</a:t>
            </a:r>
            <a:r>
              <a:rPr lang="en-US" altLang="zh-CN">
                <a:latin typeface="Times New Roman" panose="02020603050405020304" pitchFamily="18" charset="0"/>
              </a:rPr>
              <a:t>(Weak key)</a:t>
            </a:r>
            <a:r>
              <a:rPr lang="zh-CN" altLang="en-US">
                <a:latin typeface="Times New Roman" panose="02020603050405020304" pitchFamily="18" charset="0"/>
              </a:rPr>
              <a:t>。</a:t>
            </a:r>
            <a:endParaRPr lang="en-US" altLang="zh-CN">
              <a:latin typeface="Times New Roman" panose="02020603050405020304" pitchFamily="18" charset="0"/>
            </a:endParaRPr>
          </a:p>
          <a:p>
            <a:pPr algn="just" eaLnBrk="1" hangingPunct="1">
              <a:spcAft>
                <a:spcPts val="600"/>
              </a:spcAft>
            </a:pPr>
            <a:r>
              <a:rPr lang="zh-CN" altLang="en-US">
                <a:latin typeface="Times New Roman" panose="02020603050405020304" pitchFamily="18" charset="0"/>
              </a:rPr>
              <a:t>原始密钥                                                        置换选择</a:t>
            </a:r>
            <a:r>
              <a:rPr lang="en-US" altLang="zh-CN">
                <a:latin typeface="Times New Roman" panose="02020603050405020304" pitchFamily="18" charset="0"/>
              </a:rPr>
              <a:t>1</a:t>
            </a:r>
            <a:r>
              <a:rPr lang="zh-CN" altLang="en-US">
                <a:latin typeface="Times New Roman" panose="02020603050405020304" pitchFamily="18" charset="0"/>
              </a:rPr>
              <a:t>后的密钥</a:t>
            </a:r>
          </a:p>
          <a:p>
            <a:pPr algn="just" eaLnBrk="1" hangingPunct="1">
              <a:spcAft>
                <a:spcPts val="600"/>
              </a:spcAft>
              <a:buFont typeface="Arial" panose="020B0604020202020204" pitchFamily="34" charset="0"/>
              <a:buNone/>
            </a:pPr>
            <a:endParaRPr lang="zh-CN"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93539" name="Object 5">
                <a:extLst>
                  <a:ext uri="{FF2B5EF4-FFF2-40B4-BE49-F238E27FC236}">
                    <a16:creationId xmlns:a16="http://schemas.microsoft.com/office/drawing/2014/main" id="{3E8C3D39-E4A7-2347-B143-ABAB5C1F6EEE}"/>
                  </a:ext>
                </a:extLst>
              </p:cNvPr>
              <p:cNvSpPr txBox="1"/>
              <p:nvPr/>
            </p:nvSpPr>
            <p:spPr bwMode="auto">
              <a:xfrm>
                <a:off x="6705600" y="3222625"/>
                <a:ext cx="4114800" cy="22955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𝐷</m:t>
                      </m:r>
                    </m:oMath>
                    <m:oMath xmlns:m="http://schemas.openxmlformats.org/officeDocument/2006/math">
                      <m:r>
                        <a:rPr lang="zh-CN" altLang="en-US" i="1">
                          <a:solidFill>
                            <a:srgbClr val="000000"/>
                          </a:solidFill>
                          <a:latin typeface="Cambria Math" panose="02040503050406030204" pitchFamily="18" charset="0"/>
                        </a:rPr>
                        <m:t>(0,  0)⇌00   00  00  00  00  00  00</m:t>
                      </m:r>
                    </m:oMath>
                    <m:oMath xmlns:m="http://schemas.openxmlformats.org/officeDocument/2006/math">
                      <m:r>
                        <a:rPr lang="zh-CN" altLang="en-US" i="1">
                          <a:solidFill>
                            <a:srgbClr val="000000"/>
                          </a:solidFill>
                          <a:latin typeface="Cambria Math" panose="02040503050406030204" pitchFamily="18" charset="0"/>
                        </a:rPr>
                        <m:t>(0,15)⇌00   00  00  0</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oMath>
                    <m:oMath xmlns:m="http://schemas.openxmlformats.org/officeDocument/2006/math">
                      <m:r>
                        <a:rPr lang="zh-CN" altLang="en-US" i="1">
                          <a:solidFill>
                            <a:srgbClr val="000000"/>
                          </a:solidFill>
                          <a:latin typeface="Cambria Math" panose="02040503050406030204" pitchFamily="18" charset="0"/>
                        </a:rPr>
                        <m:t>(0,15)⇌</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0  00  00  00 </m:t>
                      </m:r>
                    </m:oMath>
                    <m:oMath xmlns:m="http://schemas.openxmlformats.org/officeDocument/2006/math">
                      <m:r>
                        <a:rPr lang="zh-CN" altLang="en-US" i="1">
                          <a:solidFill>
                            <a:srgbClr val="000000"/>
                          </a:solidFill>
                          <a:latin typeface="Cambria Math" panose="02040503050406030204" pitchFamily="18" charset="0"/>
                        </a:rPr>
                        <m:t>(0,15)⇌</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𝐹𝐹</m:t>
                      </m:r>
                    </m:oMath>
                  </m:oMathPara>
                </a14:m>
                <a:endParaRPr lang="zh-CN" altLang="en-US"/>
              </a:p>
            </p:txBody>
          </p:sp>
        </mc:Choice>
        <mc:Fallback xmlns="">
          <p:sp>
            <p:nvSpPr>
              <p:cNvPr id="193539" name="Object 5">
                <a:extLst>
                  <a:ext uri="{FF2B5EF4-FFF2-40B4-BE49-F238E27FC236}">
                    <a16:creationId xmlns:a16="http://schemas.microsoft.com/office/drawing/2014/main" id="{3E8C3D39-E4A7-2347-B143-ABAB5C1F6EEE}"/>
                  </a:ext>
                </a:extLst>
              </p:cNvPr>
              <p:cNvSpPr txBox="1">
                <a:spLocks noRot="1" noChangeAspect="1" noMove="1" noResize="1" noEditPoints="1" noAdjustHandles="1" noChangeArrowheads="1" noChangeShapeType="1" noTextEdit="1"/>
              </p:cNvSpPr>
              <p:nvPr/>
            </p:nvSpPr>
            <p:spPr bwMode="auto">
              <a:xfrm>
                <a:off x="6705600" y="3222625"/>
                <a:ext cx="4114800" cy="2295525"/>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3540" name="Object 5">
                <a:extLst>
                  <a:ext uri="{FF2B5EF4-FFF2-40B4-BE49-F238E27FC236}">
                    <a16:creationId xmlns:a16="http://schemas.microsoft.com/office/drawing/2014/main" id="{D6052BA1-617B-6441-A87F-04FDFF9A2E92}"/>
                  </a:ext>
                </a:extLst>
              </p:cNvPr>
              <p:cNvSpPr txBox="1"/>
              <p:nvPr/>
            </p:nvSpPr>
            <p:spPr bwMode="auto">
              <a:xfrm>
                <a:off x="1136650" y="3209925"/>
                <a:ext cx="4537075" cy="2343150"/>
              </a:xfrm>
              <a:prstGeom prst="rect">
                <a:avLst/>
              </a:prstGeom>
              <a:noFill/>
              <a:ln>
                <a:noFill/>
              </a:ln>
            </p:spPr>
            <p:txBody>
              <a:bodyPr>
                <a:normAutofit/>
              </a:bodyPr>
              <a:lstStyle/>
              <a:p>
                <a:pPr/>
                <a:br>
                  <a:rPr lang="zh-CN" altLang="en-US" i="1">
                    <a:solidFill>
                      <a:srgbClr val="000000"/>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(0,  0)⇌01 01 01  01  01  01  01  01</m:t>
                      </m:r>
                    </m:oMath>
                    <m:oMath xmlns:m="http://schemas.openxmlformats.org/officeDocument/2006/math">
                      <m:r>
                        <a:rPr lang="zh-CN" altLang="en-US" i="1">
                          <a:solidFill>
                            <a:srgbClr val="000000"/>
                          </a:solidFill>
                          <a:latin typeface="Cambria Math" panose="02040503050406030204" pitchFamily="18" charset="0"/>
                        </a:rPr>
                        <m:t>(0,15)⇌1</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  1</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  1</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  1</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 0</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 0</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 0</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𝐸</m:t>
                      </m:r>
                    </m:oMath>
                    <m:oMath xmlns:m="http://schemas.openxmlformats.org/officeDocument/2006/math">
                      <m:r>
                        <a:rPr lang="zh-CN" altLang="en-US" i="1">
                          <a:solidFill>
                            <a:srgbClr val="000000"/>
                          </a:solidFill>
                          <a:latin typeface="Cambria Math" panose="02040503050406030204" pitchFamily="18" charset="0"/>
                        </a:rPr>
                        <m:t>(0,15)⇌</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0 </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0 </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0 </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0 </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1  </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1  </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1 </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1</m:t>
                      </m:r>
                    </m:oMath>
                    <m:oMath xmlns:m="http://schemas.openxmlformats.org/officeDocument/2006/math">
                      <m:r>
                        <a:rPr lang="zh-CN" altLang="en-US" i="1">
                          <a:solidFill>
                            <a:srgbClr val="000000"/>
                          </a:solidFill>
                          <a:latin typeface="Cambria Math" panose="02040503050406030204" pitchFamily="18" charset="0"/>
                        </a:rPr>
                        <m:t>(0,15)⇌</m:t>
                      </m:r>
                      <m:r>
                        <a:rPr lang="zh-CN" altLang="en-US" i="1">
                          <a:solidFill>
                            <a:srgbClr val="000000"/>
                          </a:solidFill>
                          <a:latin typeface="Cambria Math" panose="02040503050406030204" pitchFamily="18" charset="0"/>
                        </a:rPr>
                        <m:t>𝐹𝐸</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𝐹𝐸</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𝐹𝐸</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𝐹𝐸</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𝐹𝐸</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𝐹𝐸</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𝐹𝐸</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𝐹𝐸</m:t>
                      </m:r>
                    </m:oMath>
                  </m:oMathPara>
                </a14:m>
                <a:endParaRPr lang="zh-CN" altLang="en-US"/>
              </a:p>
            </p:txBody>
          </p:sp>
        </mc:Choice>
        <mc:Fallback xmlns="">
          <p:sp>
            <p:nvSpPr>
              <p:cNvPr id="193540" name="Object 5">
                <a:extLst>
                  <a:ext uri="{FF2B5EF4-FFF2-40B4-BE49-F238E27FC236}">
                    <a16:creationId xmlns:a16="http://schemas.microsoft.com/office/drawing/2014/main" id="{D6052BA1-617B-6441-A87F-04FDFF9A2E92}"/>
                  </a:ext>
                </a:extLst>
              </p:cNvPr>
              <p:cNvSpPr txBox="1">
                <a:spLocks noRot="1" noChangeAspect="1" noMove="1" noResize="1" noEditPoints="1" noAdjustHandles="1" noChangeArrowheads="1" noChangeShapeType="1" noTextEdit="1"/>
              </p:cNvSpPr>
              <p:nvPr/>
            </p:nvSpPr>
            <p:spPr bwMode="auto">
              <a:xfrm>
                <a:off x="1136650" y="3209925"/>
                <a:ext cx="4537075" cy="2343150"/>
              </a:xfrm>
              <a:prstGeom prst="rect">
                <a:avLst/>
              </a:prstGeom>
              <a:blipFill>
                <a:blip r:embed="rId4"/>
                <a:stretch>
                  <a:fillRect/>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标题 3">
            <a:extLst>
              <a:ext uri="{FF2B5EF4-FFF2-40B4-BE49-F238E27FC236}">
                <a16:creationId xmlns:a16="http://schemas.microsoft.com/office/drawing/2014/main" id="{8ED12FD7-D362-AD40-8EF2-B678224DF8F4}"/>
              </a:ext>
            </a:extLst>
          </p:cNvPr>
          <p:cNvSpPr>
            <a:spLocks noGrp="1" noChangeArrowheads="1"/>
          </p:cNvSpPr>
          <p:nvPr>
            <p:ph type="title"/>
          </p:nvPr>
        </p:nvSpPr>
        <p:spPr>
          <a:xfrm>
            <a:off x="1465263" y="365125"/>
            <a:ext cx="9037637" cy="668338"/>
          </a:xfrm>
        </p:spPr>
        <p:txBody>
          <a:bodyPr/>
          <a:lstStyle/>
          <a:p>
            <a:r>
              <a:rPr lang="en-US" altLang="zh-CN">
                <a:solidFill>
                  <a:schemeClr val="tx2"/>
                </a:solidFill>
                <a:latin typeface="Times New Roman" panose="02020603050405020304" pitchFamily="18" charset="0"/>
              </a:rPr>
              <a:t>DES</a:t>
            </a:r>
            <a:r>
              <a:rPr lang="zh-CN" altLang="en-US">
                <a:solidFill>
                  <a:schemeClr val="tx2"/>
                </a:solidFill>
                <a:latin typeface="华文行楷" panose="02010800040101010101" pitchFamily="2" charset="-122"/>
              </a:rPr>
              <a:t>中的子密钥的生成</a:t>
            </a:r>
            <a:endParaRPr lang="zh-CN" altLang="en-US">
              <a:solidFill>
                <a:srgbClr val="1F4E79"/>
              </a:solidFill>
            </a:endParaRPr>
          </a:p>
        </p:txBody>
      </p:sp>
      <p:graphicFrame>
        <p:nvGraphicFramePr>
          <p:cNvPr id="195586" name="Object 2">
            <a:extLst>
              <a:ext uri="{FF2B5EF4-FFF2-40B4-BE49-F238E27FC236}">
                <a16:creationId xmlns:a16="http://schemas.microsoft.com/office/drawing/2014/main" id="{F95128CE-119D-C54C-A37A-33B1B3B830BC}"/>
              </a:ext>
            </a:extLst>
          </p:cNvPr>
          <p:cNvGraphicFramePr>
            <a:graphicFrameLocks noChangeAspect="1"/>
          </p:cNvGraphicFramePr>
          <p:nvPr/>
        </p:nvGraphicFramePr>
        <p:xfrm>
          <a:off x="3071813" y="1390650"/>
          <a:ext cx="5711825" cy="4630738"/>
        </p:xfrm>
        <a:graphic>
          <a:graphicData uri="http://schemas.openxmlformats.org/presentationml/2006/ole">
            <mc:AlternateContent xmlns:mc="http://schemas.openxmlformats.org/markup-compatibility/2006">
              <mc:Choice xmlns:v="urn:schemas-microsoft-com:vml" Requires="v">
                <p:oleObj spid="_x0000_s195795" r:id="rId4" imgW="13347700" imgH="13347700" progId="Word.Picture.8">
                  <p:embed/>
                </p:oleObj>
              </mc:Choice>
              <mc:Fallback>
                <p:oleObj r:id="rId4" imgW="13347700" imgH="13347700" progId="Word.Pictur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3" y="1390650"/>
                        <a:ext cx="5711825" cy="463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9748" name="Rectangle 4">
            <a:extLst>
              <a:ext uri="{FF2B5EF4-FFF2-40B4-BE49-F238E27FC236}">
                <a16:creationId xmlns:a16="http://schemas.microsoft.com/office/drawing/2014/main" id="{93C8BA26-7E14-3C47-ADAD-042917EBB6F5}"/>
              </a:ext>
            </a:extLst>
          </p:cNvPr>
          <p:cNvSpPr>
            <a:spLocks noChangeArrowheads="1"/>
          </p:cNvSpPr>
          <p:nvPr/>
        </p:nvSpPr>
        <p:spPr bwMode="auto">
          <a:xfrm>
            <a:off x="7048500" y="2195513"/>
            <a:ext cx="125413" cy="16319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latin typeface="Tahoma" panose="020B0604030504040204" pitchFamily="34" charset="0"/>
            </a:endParaRPr>
          </a:p>
        </p:txBody>
      </p:sp>
      <p:sp>
        <p:nvSpPr>
          <p:cNvPr id="159749" name="Rectangle 5">
            <a:extLst>
              <a:ext uri="{FF2B5EF4-FFF2-40B4-BE49-F238E27FC236}">
                <a16:creationId xmlns:a16="http://schemas.microsoft.com/office/drawing/2014/main" id="{F2F6E954-E0D7-884F-9074-39C6628FEA29}"/>
              </a:ext>
            </a:extLst>
          </p:cNvPr>
          <p:cNvSpPr>
            <a:spLocks noChangeArrowheads="1"/>
          </p:cNvSpPr>
          <p:nvPr/>
        </p:nvSpPr>
        <p:spPr bwMode="auto">
          <a:xfrm>
            <a:off x="7802563" y="2195513"/>
            <a:ext cx="125412" cy="16319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latin typeface="Tahoma" panose="020B0604030504040204" pitchFamily="34" charset="0"/>
            </a:endParaRPr>
          </a:p>
        </p:txBody>
      </p:sp>
      <p:grpSp>
        <p:nvGrpSpPr>
          <p:cNvPr id="159750" name="Group 6">
            <a:extLst>
              <a:ext uri="{FF2B5EF4-FFF2-40B4-BE49-F238E27FC236}">
                <a16:creationId xmlns:a16="http://schemas.microsoft.com/office/drawing/2014/main" id="{8D6967E8-6FB0-FB41-BAB0-3006D275C284}"/>
              </a:ext>
            </a:extLst>
          </p:cNvPr>
          <p:cNvGrpSpPr>
            <a:grpSpLocks/>
          </p:cNvGrpSpPr>
          <p:nvPr/>
        </p:nvGrpSpPr>
        <p:grpSpPr bwMode="auto">
          <a:xfrm>
            <a:off x="1711325" y="1149350"/>
            <a:ext cx="1695450" cy="1436688"/>
            <a:chOff x="0" y="0"/>
            <a:chExt cx="1296" cy="1056"/>
          </a:xfrm>
        </p:grpSpPr>
        <p:graphicFrame>
          <p:nvGraphicFramePr>
            <p:cNvPr id="195590" name="Object 7">
              <a:extLst>
                <a:ext uri="{FF2B5EF4-FFF2-40B4-BE49-F238E27FC236}">
                  <a16:creationId xmlns:a16="http://schemas.microsoft.com/office/drawing/2014/main" id="{92CFF23B-5770-9B48-902B-E420C23D9D0D}"/>
                </a:ext>
              </a:extLst>
            </p:cNvPr>
            <p:cNvGraphicFramePr>
              <a:graphicFrameLocks noChangeAspect="1"/>
            </p:cNvGraphicFramePr>
            <p:nvPr/>
          </p:nvGraphicFramePr>
          <p:xfrm>
            <a:off x="0" y="0"/>
            <a:ext cx="1296" cy="1056"/>
          </p:xfrm>
          <a:graphic>
            <a:graphicData uri="http://schemas.openxmlformats.org/presentationml/2006/ole">
              <mc:AlternateContent xmlns:mc="http://schemas.openxmlformats.org/markup-compatibility/2006">
                <mc:Choice xmlns:v="urn:schemas-microsoft-com:vml" Requires="v">
                  <p:oleObj spid="_x0000_s195796" r:id="rId6" imgW="2387600" imgH="2209800" progId="Paint.Picture">
                    <p:embed/>
                  </p:oleObj>
                </mc:Choice>
                <mc:Fallback>
                  <p:oleObj r:id="rId6" imgW="2387600" imgH="2209800" progId="Paint.Picture">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96"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5591" name="Line 8">
              <a:extLst>
                <a:ext uri="{FF2B5EF4-FFF2-40B4-BE49-F238E27FC236}">
                  <a16:creationId xmlns:a16="http://schemas.microsoft.com/office/drawing/2014/main" id="{F5C7E851-E049-B54A-A620-04ABDDD22BAE}"/>
                </a:ext>
              </a:extLst>
            </p:cNvPr>
            <p:cNvSpPr>
              <a:spLocks noChangeShapeType="1"/>
            </p:cNvSpPr>
            <p:nvPr/>
          </p:nvSpPr>
          <p:spPr bwMode="auto">
            <a:xfrm>
              <a:off x="1296" y="24"/>
              <a:ext cx="0" cy="1008"/>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en-CN"/>
            </a:p>
          </p:txBody>
        </p:sp>
      </p:grpSp>
      <p:sp>
        <p:nvSpPr>
          <p:cNvPr id="159753" name="Line 9">
            <a:extLst>
              <a:ext uri="{FF2B5EF4-FFF2-40B4-BE49-F238E27FC236}">
                <a16:creationId xmlns:a16="http://schemas.microsoft.com/office/drawing/2014/main" id="{7CB565D6-7FA7-2B4C-844F-845CEA97DC6F}"/>
              </a:ext>
            </a:extLst>
          </p:cNvPr>
          <p:cNvSpPr>
            <a:spLocks noChangeShapeType="1"/>
          </p:cNvSpPr>
          <p:nvPr/>
        </p:nvSpPr>
        <p:spPr bwMode="auto">
          <a:xfrm>
            <a:off x="3406775" y="2260600"/>
            <a:ext cx="690563" cy="0"/>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grpSp>
        <p:nvGrpSpPr>
          <p:cNvPr id="159754" name="Group 10">
            <a:extLst>
              <a:ext uri="{FF2B5EF4-FFF2-40B4-BE49-F238E27FC236}">
                <a16:creationId xmlns:a16="http://schemas.microsoft.com/office/drawing/2014/main" id="{927DDDF0-79DE-764B-A99F-76BDE359BEDC}"/>
              </a:ext>
            </a:extLst>
          </p:cNvPr>
          <p:cNvGrpSpPr>
            <a:grpSpLocks/>
          </p:cNvGrpSpPr>
          <p:nvPr/>
        </p:nvGrpSpPr>
        <p:grpSpPr bwMode="auto">
          <a:xfrm>
            <a:off x="8242300" y="4284663"/>
            <a:ext cx="1568450" cy="1501775"/>
            <a:chOff x="4944" y="2304"/>
            <a:chExt cx="1200" cy="1104"/>
          </a:xfrm>
        </p:grpSpPr>
        <p:graphicFrame>
          <p:nvGraphicFramePr>
            <p:cNvPr id="195594" name="Object 11">
              <a:extLst>
                <a:ext uri="{FF2B5EF4-FFF2-40B4-BE49-F238E27FC236}">
                  <a16:creationId xmlns:a16="http://schemas.microsoft.com/office/drawing/2014/main" id="{B53AE965-D36F-FE46-9D15-134BCA51506A}"/>
                </a:ext>
              </a:extLst>
            </p:cNvPr>
            <p:cNvGraphicFramePr>
              <a:graphicFrameLocks noChangeAspect="1"/>
            </p:cNvGraphicFramePr>
            <p:nvPr/>
          </p:nvGraphicFramePr>
          <p:xfrm>
            <a:off x="4944" y="2304"/>
            <a:ext cx="1200" cy="1104"/>
          </p:xfrm>
          <a:graphic>
            <a:graphicData uri="http://schemas.openxmlformats.org/presentationml/2006/ole">
              <mc:AlternateContent xmlns:mc="http://schemas.openxmlformats.org/markup-compatibility/2006">
                <mc:Choice xmlns:v="urn:schemas-microsoft-com:vml" Requires="v">
                  <p:oleObj spid="_x0000_s195797" r:id="rId8" imgW="2127250" imgH="2165350" progId="Paint.Picture">
                    <p:embed/>
                  </p:oleObj>
                </mc:Choice>
                <mc:Fallback>
                  <p:oleObj r:id="rId8" imgW="2127250" imgH="2165350" progId="Paint.Picture">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44" y="2304"/>
                          <a:ext cx="1200"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5595" name="Line 12">
              <a:extLst>
                <a:ext uri="{FF2B5EF4-FFF2-40B4-BE49-F238E27FC236}">
                  <a16:creationId xmlns:a16="http://schemas.microsoft.com/office/drawing/2014/main" id="{1A20539C-F843-DD4D-819F-D5D3158F22C4}"/>
                </a:ext>
              </a:extLst>
            </p:cNvPr>
            <p:cNvSpPr>
              <a:spLocks noChangeShapeType="1"/>
            </p:cNvSpPr>
            <p:nvPr/>
          </p:nvSpPr>
          <p:spPr bwMode="auto">
            <a:xfrm>
              <a:off x="4944" y="2328"/>
              <a:ext cx="0" cy="105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en-CN"/>
            </a:p>
          </p:txBody>
        </p:sp>
        <p:sp>
          <p:nvSpPr>
            <p:cNvPr id="195596" name="Line 13">
              <a:extLst>
                <a:ext uri="{FF2B5EF4-FFF2-40B4-BE49-F238E27FC236}">
                  <a16:creationId xmlns:a16="http://schemas.microsoft.com/office/drawing/2014/main" id="{6E74859A-C0BB-3840-BDFB-9258527ECD22}"/>
                </a:ext>
              </a:extLst>
            </p:cNvPr>
            <p:cNvSpPr>
              <a:spLocks noChangeShapeType="1"/>
            </p:cNvSpPr>
            <p:nvPr/>
          </p:nvSpPr>
          <p:spPr bwMode="auto">
            <a:xfrm>
              <a:off x="6144" y="2310"/>
              <a:ext cx="0" cy="105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en-CN"/>
            </a:p>
          </p:txBody>
        </p:sp>
      </p:grpSp>
      <p:sp>
        <p:nvSpPr>
          <p:cNvPr id="159758" name="Line 14">
            <a:extLst>
              <a:ext uri="{FF2B5EF4-FFF2-40B4-BE49-F238E27FC236}">
                <a16:creationId xmlns:a16="http://schemas.microsoft.com/office/drawing/2014/main" id="{7D42C04A-D340-9844-9213-42EB40393485}"/>
              </a:ext>
            </a:extLst>
          </p:cNvPr>
          <p:cNvSpPr>
            <a:spLocks noChangeShapeType="1"/>
          </p:cNvSpPr>
          <p:nvPr/>
        </p:nvSpPr>
        <p:spPr bwMode="auto">
          <a:xfrm>
            <a:off x="7440613" y="4479925"/>
            <a:ext cx="754062" cy="325438"/>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9759" name="Line 15">
            <a:extLst>
              <a:ext uri="{FF2B5EF4-FFF2-40B4-BE49-F238E27FC236}">
                <a16:creationId xmlns:a16="http://schemas.microsoft.com/office/drawing/2014/main" id="{A6E6A93D-1097-AE45-9915-D67C4D55A578}"/>
              </a:ext>
            </a:extLst>
          </p:cNvPr>
          <p:cNvSpPr>
            <a:spLocks noChangeShapeType="1"/>
          </p:cNvSpPr>
          <p:nvPr/>
        </p:nvSpPr>
        <p:spPr bwMode="auto">
          <a:xfrm flipV="1">
            <a:off x="7440613" y="5132388"/>
            <a:ext cx="754062" cy="457200"/>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59760" name="Line 16">
            <a:extLst>
              <a:ext uri="{FF2B5EF4-FFF2-40B4-BE49-F238E27FC236}">
                <a16:creationId xmlns:a16="http://schemas.microsoft.com/office/drawing/2014/main" id="{10AE3645-FB55-1845-9DA4-1D676DFA333C}"/>
              </a:ext>
            </a:extLst>
          </p:cNvPr>
          <p:cNvSpPr>
            <a:spLocks noChangeShapeType="1"/>
          </p:cNvSpPr>
          <p:nvPr/>
        </p:nvSpPr>
        <p:spPr bwMode="auto">
          <a:xfrm flipV="1">
            <a:off x="5918200" y="2325688"/>
            <a:ext cx="690563" cy="1044575"/>
          </a:xfrm>
          <a:prstGeom prst="line">
            <a:avLst/>
          </a:prstGeom>
          <a:noFill/>
          <a:ln w="38100">
            <a:solidFill>
              <a:srgbClr val="FF00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en-CN"/>
          </a:p>
        </p:txBody>
      </p:sp>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9753"/>
                                        </p:tgtEl>
                                        <p:attrNameLst>
                                          <p:attrName>style.visibility</p:attrName>
                                        </p:attrNameLst>
                                      </p:cBhvr>
                                      <p:to>
                                        <p:strVal val="visible"/>
                                      </p:to>
                                    </p:set>
                                    <p:animEffect transition="in" filter="blinds(horizontal)">
                                      <p:cBhvr>
                                        <p:cTn id="7" dur="500"/>
                                        <p:tgtEl>
                                          <p:spTgt spid="159753"/>
                                        </p:tgtEl>
                                      </p:cBhvr>
                                    </p:animEffect>
                                  </p:childTnLst>
                                </p:cTn>
                              </p:par>
                              <p:par>
                                <p:cTn id="8" presetID="3" presetClass="entr" presetSubtype="10" fill="hold" nodeType="withEffect">
                                  <p:stCondLst>
                                    <p:cond delay="0"/>
                                  </p:stCondLst>
                                  <p:childTnLst>
                                    <p:set>
                                      <p:cBhvr>
                                        <p:cTn id="9" dur="1" fill="hold">
                                          <p:stCondLst>
                                            <p:cond delay="0"/>
                                          </p:stCondLst>
                                        </p:cTn>
                                        <p:tgtEl>
                                          <p:spTgt spid="159750"/>
                                        </p:tgtEl>
                                        <p:attrNameLst>
                                          <p:attrName>style.visibility</p:attrName>
                                        </p:attrNameLst>
                                      </p:cBhvr>
                                      <p:to>
                                        <p:strVal val="visible"/>
                                      </p:to>
                                    </p:set>
                                    <p:animEffect transition="in" filter="blinds(horizontal)">
                                      <p:cBhvr>
                                        <p:cTn id="10" dur="500"/>
                                        <p:tgtEl>
                                          <p:spTgt spid="159750"/>
                                        </p:tgtEl>
                                      </p:cBhvr>
                                    </p:animEffect>
                                  </p:childTnLst>
                                </p:cTn>
                              </p:par>
                              <p:par>
                                <p:cTn id="11" presetID="3" presetClass="entr" presetSubtype="10" fill="hold" nodeType="withEffect">
                                  <p:stCondLst>
                                    <p:cond delay="0"/>
                                  </p:stCondLst>
                                  <p:childTnLst>
                                    <p:set>
                                      <p:cBhvr>
                                        <p:cTn id="12" dur="1" fill="hold">
                                          <p:stCondLst>
                                            <p:cond delay="0"/>
                                          </p:stCondLst>
                                        </p:cTn>
                                        <p:tgtEl>
                                          <p:spTgt spid="159760"/>
                                        </p:tgtEl>
                                        <p:attrNameLst>
                                          <p:attrName>style.visibility</p:attrName>
                                        </p:attrNameLst>
                                      </p:cBhvr>
                                      <p:to>
                                        <p:strVal val="visible"/>
                                      </p:to>
                                    </p:set>
                                    <p:animEffect transition="in" filter="blinds(horizontal)">
                                      <p:cBhvr>
                                        <p:cTn id="13" dur="500"/>
                                        <p:tgtEl>
                                          <p:spTgt spid="159760"/>
                                        </p:tgtEl>
                                      </p:cBhvr>
                                    </p:animEffect>
                                  </p:childTnLst>
                                </p:cTn>
                              </p:par>
                              <p:par>
                                <p:cTn id="14" presetID="3" presetClass="entr" presetSubtype="10" fill="hold" nodeType="withEffect">
                                  <p:stCondLst>
                                    <p:cond delay="0"/>
                                  </p:stCondLst>
                                  <p:childTnLst>
                                    <p:set>
                                      <p:cBhvr>
                                        <p:cTn id="15" dur="1" fill="hold">
                                          <p:stCondLst>
                                            <p:cond delay="0"/>
                                          </p:stCondLst>
                                        </p:cTn>
                                        <p:tgtEl>
                                          <p:spTgt spid="159758"/>
                                        </p:tgtEl>
                                        <p:attrNameLst>
                                          <p:attrName>style.visibility</p:attrName>
                                        </p:attrNameLst>
                                      </p:cBhvr>
                                      <p:to>
                                        <p:strVal val="visible"/>
                                      </p:to>
                                    </p:set>
                                    <p:animEffect transition="in" filter="blinds(horizontal)">
                                      <p:cBhvr>
                                        <p:cTn id="16" dur="500"/>
                                        <p:tgtEl>
                                          <p:spTgt spid="159758"/>
                                        </p:tgtEl>
                                      </p:cBhvr>
                                    </p:animEffect>
                                  </p:childTnLst>
                                </p:cTn>
                              </p:par>
                              <p:par>
                                <p:cTn id="17" presetID="3" presetClass="entr" presetSubtype="10" fill="hold" nodeType="withEffect">
                                  <p:stCondLst>
                                    <p:cond delay="0"/>
                                  </p:stCondLst>
                                  <p:childTnLst>
                                    <p:set>
                                      <p:cBhvr>
                                        <p:cTn id="18" dur="1" fill="hold">
                                          <p:stCondLst>
                                            <p:cond delay="0"/>
                                          </p:stCondLst>
                                        </p:cTn>
                                        <p:tgtEl>
                                          <p:spTgt spid="159759"/>
                                        </p:tgtEl>
                                        <p:attrNameLst>
                                          <p:attrName>style.visibility</p:attrName>
                                        </p:attrNameLst>
                                      </p:cBhvr>
                                      <p:to>
                                        <p:strVal val="visible"/>
                                      </p:to>
                                    </p:set>
                                    <p:animEffect transition="in" filter="blinds(horizontal)">
                                      <p:cBhvr>
                                        <p:cTn id="19" dur="500"/>
                                        <p:tgtEl>
                                          <p:spTgt spid="159759"/>
                                        </p:tgtEl>
                                      </p:cBhvr>
                                    </p:animEffect>
                                  </p:childTnLst>
                                </p:cTn>
                              </p:par>
                              <p:par>
                                <p:cTn id="20" presetID="3" presetClass="entr" presetSubtype="10" fill="hold" nodeType="withEffect">
                                  <p:stCondLst>
                                    <p:cond delay="0"/>
                                  </p:stCondLst>
                                  <p:childTnLst>
                                    <p:set>
                                      <p:cBhvr>
                                        <p:cTn id="21" dur="1" fill="hold">
                                          <p:stCondLst>
                                            <p:cond delay="0"/>
                                          </p:stCondLst>
                                        </p:cTn>
                                        <p:tgtEl>
                                          <p:spTgt spid="159754"/>
                                        </p:tgtEl>
                                        <p:attrNameLst>
                                          <p:attrName>style.visibility</p:attrName>
                                        </p:attrNameLst>
                                      </p:cBhvr>
                                      <p:to>
                                        <p:strVal val="visible"/>
                                      </p:to>
                                    </p:set>
                                    <p:animEffect transition="in" filter="blinds(horizontal)">
                                      <p:cBhvr>
                                        <p:cTn id="22" dur="500"/>
                                        <p:tgtEl>
                                          <p:spTgt spid="15975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59749"/>
                                        </p:tgtEl>
                                        <p:attrNameLst>
                                          <p:attrName>style.visibility</p:attrName>
                                        </p:attrNameLst>
                                      </p:cBhvr>
                                      <p:to>
                                        <p:strVal val="visible"/>
                                      </p:to>
                                    </p:set>
                                    <p:animEffect transition="in" filter="blinds(horizontal)">
                                      <p:cBhvr>
                                        <p:cTn id="25" dur="500"/>
                                        <p:tgtEl>
                                          <p:spTgt spid="15974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59748"/>
                                        </p:tgtEl>
                                        <p:attrNameLst>
                                          <p:attrName>style.visibility</p:attrName>
                                        </p:attrNameLst>
                                      </p:cBhvr>
                                      <p:to>
                                        <p:strVal val="visible"/>
                                      </p:to>
                                    </p:set>
                                    <p:animEffect transition="in" filter="blinds(horizontal)">
                                      <p:cBhvr>
                                        <p:cTn id="28" dur="500"/>
                                        <p:tgtEl>
                                          <p:spTgt spid="159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nimBg="1"/>
      <p:bldP spid="15974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2">
            <a:extLst>
              <a:ext uri="{FF2B5EF4-FFF2-40B4-BE49-F238E27FC236}">
                <a16:creationId xmlns:a16="http://schemas.microsoft.com/office/drawing/2014/main" id="{3BB7F3C8-76A5-8B46-B3C0-AEB9CBB51309}"/>
              </a:ext>
            </a:extLst>
          </p:cNvPr>
          <p:cNvSpPr>
            <a:spLocks noGrp="1" noChangeArrowheads="1"/>
          </p:cNvSpPr>
          <p:nvPr>
            <p:ph type="title"/>
          </p:nvPr>
        </p:nvSpPr>
        <p:spPr>
          <a:xfrm>
            <a:off x="1465263" y="365125"/>
            <a:ext cx="9037637" cy="668338"/>
          </a:xfrm>
        </p:spPr>
        <p:txBody>
          <a:bodyPr/>
          <a:lstStyle/>
          <a:p>
            <a:pPr marL="334963" indent="-334963" defTabSz="893763" eaLnBrk="1" hangingPunct="1"/>
            <a:r>
              <a:rPr lang="zh-CN" altLang="en-US">
                <a:solidFill>
                  <a:srgbClr val="1F4E79"/>
                </a:solidFill>
                <a:sym typeface="ZapfDingbats" pitchFamily="82" charset="2"/>
              </a:rPr>
              <a:t>密钥长度的争论</a:t>
            </a:r>
          </a:p>
        </p:txBody>
      </p:sp>
      <p:sp>
        <p:nvSpPr>
          <p:cNvPr id="197634" name="Rectangle 3">
            <a:extLst>
              <a:ext uri="{FF2B5EF4-FFF2-40B4-BE49-F238E27FC236}">
                <a16:creationId xmlns:a16="http://schemas.microsoft.com/office/drawing/2014/main" id="{AC91D46F-A0F3-E042-AC36-E2A87920627D}"/>
              </a:ext>
            </a:extLst>
          </p:cNvPr>
          <p:cNvSpPr>
            <a:spLocks noGrp="1" noChangeArrowheads="1"/>
          </p:cNvSpPr>
          <p:nvPr>
            <p:ph idx="1"/>
          </p:nvPr>
        </p:nvSpPr>
        <p:spPr>
          <a:xfrm>
            <a:off x="823913" y="1465263"/>
            <a:ext cx="10515600" cy="4579937"/>
          </a:xfrm>
        </p:spPr>
        <p:txBody>
          <a:bodyPr/>
          <a:lstStyle/>
          <a:p>
            <a:pPr algn="just" eaLnBrk="1" hangingPunct="1">
              <a:lnSpc>
                <a:spcPct val="120000"/>
              </a:lnSpc>
            </a:pPr>
            <a:r>
              <a:rPr lang="en-US" altLang="zh-CN"/>
              <a:t>DES</a:t>
            </a:r>
            <a:r>
              <a:rPr lang="zh-CN" altLang="en-US"/>
              <a:t>算法正式公开发表以后，引起了一场激烈的争论</a:t>
            </a:r>
            <a:endParaRPr lang="en-US" altLang="zh-CN"/>
          </a:p>
          <a:p>
            <a:pPr algn="just" eaLnBrk="1" hangingPunct="1">
              <a:lnSpc>
                <a:spcPct val="120000"/>
              </a:lnSpc>
            </a:pPr>
            <a:r>
              <a:rPr lang="zh-CN" altLang="en-US"/>
              <a:t>对</a:t>
            </a:r>
            <a:r>
              <a:rPr lang="en-US" altLang="zh-CN"/>
              <a:t>DES</a:t>
            </a:r>
            <a:r>
              <a:rPr lang="zh-CN" altLang="en-US"/>
              <a:t>安全性批评意见中，较为一致的看法是</a:t>
            </a:r>
            <a:r>
              <a:rPr lang="en-US" altLang="zh-CN"/>
              <a:t>DES</a:t>
            </a:r>
            <a:r>
              <a:rPr lang="zh-CN" altLang="en-US"/>
              <a:t>的密钥短了些。</a:t>
            </a:r>
            <a:r>
              <a:rPr lang="en-US" altLang="zh-CN"/>
              <a:t>IBM</a:t>
            </a:r>
            <a:r>
              <a:rPr lang="zh-CN" altLang="en-US"/>
              <a:t>最初向</a:t>
            </a:r>
            <a:r>
              <a:rPr lang="en-US" altLang="zh-CN"/>
              <a:t>NBS</a:t>
            </a:r>
            <a:r>
              <a:rPr lang="zh-CN" altLang="en-US"/>
              <a:t>提交的建议方案采用</a:t>
            </a:r>
            <a:r>
              <a:rPr lang="en-US" altLang="zh-CN" u="sng"/>
              <a:t>112 bits</a:t>
            </a:r>
            <a:r>
              <a:rPr lang="zh-CN" altLang="en-US"/>
              <a:t>密钥，但公布的</a:t>
            </a:r>
            <a:r>
              <a:rPr lang="en-US" altLang="zh-CN"/>
              <a:t>DES</a:t>
            </a:r>
            <a:r>
              <a:rPr lang="zh-CN" altLang="en-US"/>
              <a:t>标准采用</a:t>
            </a:r>
            <a:r>
              <a:rPr lang="en-US" altLang="zh-CN" u="sng"/>
              <a:t>64 bits</a:t>
            </a:r>
            <a:r>
              <a:rPr lang="zh-CN" altLang="en-US"/>
              <a:t>密钥。有人认为</a:t>
            </a:r>
            <a:r>
              <a:rPr lang="en-US" altLang="zh-CN"/>
              <a:t>NSA</a:t>
            </a:r>
            <a:r>
              <a:rPr lang="zh-CN" altLang="en-US"/>
              <a:t>故意限制</a:t>
            </a:r>
            <a:r>
              <a:rPr lang="en-US" altLang="zh-CN"/>
              <a:t>DES</a:t>
            </a:r>
            <a:r>
              <a:rPr lang="zh-CN" altLang="en-US"/>
              <a:t>的密钥长度。</a:t>
            </a:r>
            <a:endParaRPr lang="en-US" altLang="zh-CN"/>
          </a:p>
          <a:p>
            <a:pPr algn="just" eaLnBrk="1" hangingPunct="1">
              <a:lnSpc>
                <a:spcPct val="120000"/>
              </a:lnSpc>
            </a:pPr>
            <a:r>
              <a:rPr lang="zh-CN" altLang="en-US"/>
              <a:t>采用</a:t>
            </a:r>
            <a:r>
              <a:rPr lang="zh-CN" altLang="en-US" u="sng"/>
              <a:t>穷搜索已经对</a:t>
            </a:r>
            <a:r>
              <a:rPr lang="en-US" altLang="zh-CN" u="sng"/>
              <a:t>DES</a:t>
            </a:r>
            <a:r>
              <a:rPr lang="zh-CN" altLang="en-US" u="sng"/>
              <a:t>构成了威胁</a:t>
            </a:r>
            <a:r>
              <a:rPr lang="zh-CN" altLang="en-US"/>
              <a:t>。</a:t>
            </a:r>
            <a:endParaRPr lang="en-US" altLang="zh-CN"/>
          </a:p>
          <a:p>
            <a:pPr algn="just" eaLnBrk="1" hangingPunct="1">
              <a:lnSpc>
                <a:spcPct val="120000"/>
              </a:lnSpc>
            </a:pPr>
            <a:r>
              <a:rPr lang="en-US" altLang="zh-CN"/>
              <a:t>1977</a:t>
            </a:r>
            <a:r>
              <a:rPr lang="zh-CN" altLang="en-US"/>
              <a:t>年</a:t>
            </a:r>
            <a:r>
              <a:rPr lang="en-US" altLang="zh-CN"/>
              <a:t>Diffie</a:t>
            </a:r>
            <a:r>
              <a:rPr lang="zh-CN" altLang="en-US"/>
              <a:t>和</a:t>
            </a:r>
            <a:r>
              <a:rPr lang="en-US" altLang="zh-CN"/>
              <a:t>Hellman</a:t>
            </a:r>
            <a:r>
              <a:rPr lang="zh-CN" altLang="en-US"/>
              <a:t>提出了制造一个</a:t>
            </a:r>
            <a:r>
              <a:rPr lang="zh-CN" altLang="en-US" u="sng"/>
              <a:t>每秒能测试</a:t>
            </a:r>
            <a:r>
              <a:rPr lang="en-US" altLang="zh-CN" u="sng"/>
              <a:t>106</a:t>
            </a:r>
            <a:r>
              <a:rPr lang="zh-CN" altLang="en-US" u="sng"/>
              <a:t>个密钥</a:t>
            </a:r>
            <a:r>
              <a:rPr lang="zh-CN" altLang="en-US"/>
              <a:t>的大规模芯片，这种芯片的机器大约一天就可以搜索</a:t>
            </a:r>
            <a:r>
              <a:rPr lang="en-US" altLang="zh-CN"/>
              <a:t>DES</a:t>
            </a:r>
            <a:r>
              <a:rPr lang="zh-CN" altLang="en-US"/>
              <a:t>算法的整个密钥空间，制造这样的机器需要</a:t>
            </a:r>
            <a:r>
              <a:rPr lang="zh-CN" altLang="en-US" u="sng"/>
              <a:t>两千万美元</a:t>
            </a:r>
            <a:r>
              <a:rPr lang="zh-CN" altLang="en-US"/>
              <a:t>。</a:t>
            </a:r>
          </a:p>
          <a:p>
            <a:pPr algn="just" eaLnBrk="1" hangingPunct="1"/>
            <a:endParaRPr lang="zh-CN" altLang="en-US"/>
          </a:p>
          <a:p>
            <a:pPr algn="just" eaLnBrk="1" hangingPunct="1">
              <a:buFont typeface="Wingdings" pitchFamily="2" charset="2"/>
              <a:buNone/>
            </a:pPr>
            <a:endParaRPr lang="en-US" altLang="zh-CN"/>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标题 1">
            <a:extLst>
              <a:ext uri="{FF2B5EF4-FFF2-40B4-BE49-F238E27FC236}">
                <a16:creationId xmlns:a16="http://schemas.microsoft.com/office/drawing/2014/main" id="{F4C04146-4CE8-1649-BF20-3B3821422C2B}"/>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密钥搜索</a:t>
            </a:r>
          </a:p>
        </p:txBody>
      </p:sp>
      <p:sp>
        <p:nvSpPr>
          <p:cNvPr id="199682" name="Rectangle 3">
            <a:extLst>
              <a:ext uri="{FF2B5EF4-FFF2-40B4-BE49-F238E27FC236}">
                <a16:creationId xmlns:a16="http://schemas.microsoft.com/office/drawing/2014/main" id="{8CBD9868-35F3-5B44-B487-851A5C207A1E}"/>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en-US" altLang="zh-CN" sz="2800" dirty="0"/>
              <a:t>1993</a:t>
            </a:r>
            <a:r>
              <a:rPr lang="zh-CN" altLang="en-US" sz="2800" dirty="0"/>
              <a:t>年，</a:t>
            </a:r>
            <a:r>
              <a:rPr lang="en-US" altLang="zh-CN" sz="2800" u="sng" dirty="0" err="1"/>
              <a:t>R.Session</a:t>
            </a:r>
            <a:r>
              <a:rPr lang="zh-CN" altLang="en-US" sz="2800" u="sng" dirty="0"/>
              <a:t>和</a:t>
            </a:r>
            <a:r>
              <a:rPr lang="en-US" altLang="zh-CN" sz="2800" u="sng" dirty="0" err="1"/>
              <a:t>M.Wiener</a:t>
            </a:r>
            <a:r>
              <a:rPr lang="zh-CN" altLang="en-US" sz="2800" dirty="0"/>
              <a:t>给出了一个非常</a:t>
            </a:r>
            <a:r>
              <a:rPr lang="zh-CN" altLang="en-US" sz="2800" u="sng" dirty="0"/>
              <a:t>详细的密钥搜索机器</a:t>
            </a:r>
            <a:r>
              <a:rPr lang="zh-CN" altLang="en-US" sz="2800" dirty="0"/>
              <a:t>的设计方案</a:t>
            </a:r>
            <a:endParaRPr lang="en-US" altLang="zh-CN" sz="2800" dirty="0"/>
          </a:p>
          <a:p>
            <a:pPr eaLnBrk="1" hangingPunct="1">
              <a:lnSpc>
                <a:spcPct val="120000"/>
              </a:lnSpc>
            </a:pPr>
            <a:r>
              <a:rPr lang="zh-CN" altLang="en-US" sz="2800" dirty="0"/>
              <a:t>基于并行的密钥搜索芯片，此芯片每秒测试</a:t>
            </a:r>
            <a:r>
              <a:rPr lang="en-US" altLang="zh-CN" sz="2800" u="sng" dirty="0"/>
              <a:t>5×107</a:t>
            </a:r>
            <a:r>
              <a:rPr lang="zh-CN" altLang="en-US" sz="2800" dirty="0"/>
              <a:t>个密钥</a:t>
            </a:r>
            <a:endParaRPr lang="en-US" altLang="zh-CN" sz="2800" dirty="0"/>
          </a:p>
          <a:p>
            <a:pPr eaLnBrk="1" hangingPunct="1">
              <a:lnSpc>
                <a:spcPct val="120000"/>
              </a:lnSpc>
            </a:pPr>
            <a:r>
              <a:rPr lang="zh-CN" altLang="en-US" sz="2800" dirty="0"/>
              <a:t>当时这种芯片的造价是</a:t>
            </a:r>
            <a:r>
              <a:rPr lang="en-US" altLang="zh-CN" sz="2800" dirty="0"/>
              <a:t>10.5</a:t>
            </a:r>
            <a:r>
              <a:rPr lang="zh-CN" altLang="en-US" sz="2800" dirty="0"/>
              <a:t>美元，</a:t>
            </a:r>
            <a:r>
              <a:rPr lang="en-US" altLang="zh-CN" sz="2800" dirty="0"/>
              <a:t>5760</a:t>
            </a:r>
            <a:r>
              <a:rPr lang="zh-CN" altLang="en-US" sz="2800" dirty="0"/>
              <a:t>个这样的芯片组成的系统需要</a:t>
            </a:r>
            <a:r>
              <a:rPr lang="en-US" altLang="zh-CN" sz="2800" u="sng" dirty="0"/>
              <a:t>10</a:t>
            </a:r>
            <a:r>
              <a:rPr lang="zh-CN" altLang="en-US" sz="2800" u="sng" dirty="0"/>
              <a:t>万美元</a:t>
            </a:r>
            <a:r>
              <a:rPr lang="zh-CN" altLang="en-US" sz="2800" dirty="0"/>
              <a:t>，这一系统平均</a:t>
            </a:r>
            <a:r>
              <a:rPr lang="en-US" altLang="zh-CN" sz="2800" u="sng" dirty="0"/>
              <a:t>1.5</a:t>
            </a:r>
            <a:r>
              <a:rPr lang="zh-CN" altLang="en-US" sz="2800" u="sng" dirty="0"/>
              <a:t>天即可找到密钥</a:t>
            </a:r>
            <a:endParaRPr lang="en-US" altLang="zh-CN" sz="2800" u="sng" dirty="0"/>
          </a:p>
          <a:p>
            <a:pPr eaLnBrk="1" hangingPunct="1">
              <a:lnSpc>
                <a:spcPct val="120000"/>
              </a:lnSpc>
            </a:pPr>
            <a:r>
              <a:rPr lang="zh-CN" altLang="en-US" sz="2800" dirty="0"/>
              <a:t>如果利用</a:t>
            </a:r>
            <a:r>
              <a:rPr lang="en-US" altLang="zh-CN" sz="2800" dirty="0"/>
              <a:t>10</a:t>
            </a:r>
            <a:r>
              <a:rPr lang="zh-CN" altLang="en-US" sz="2800" dirty="0"/>
              <a:t>个这样的系统，费用是</a:t>
            </a:r>
            <a:r>
              <a:rPr lang="en-US" altLang="zh-CN" sz="2800" dirty="0"/>
              <a:t>100</a:t>
            </a:r>
            <a:r>
              <a:rPr lang="zh-CN" altLang="en-US" sz="2800" dirty="0"/>
              <a:t>万美元，但搜索时间可以降到</a:t>
            </a:r>
            <a:r>
              <a:rPr lang="en-US" altLang="zh-CN" sz="2800" u="sng" dirty="0"/>
              <a:t>2.5</a:t>
            </a:r>
            <a:r>
              <a:rPr lang="zh-CN" altLang="en-US" sz="2800" u="sng" dirty="0"/>
              <a:t>小时</a:t>
            </a:r>
            <a:r>
              <a:rPr lang="zh-CN" altLang="en-US" sz="2800" dirty="0"/>
              <a:t>。</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标题 1">
            <a:extLst>
              <a:ext uri="{FF2B5EF4-FFF2-40B4-BE49-F238E27FC236}">
                <a16:creationId xmlns:a16="http://schemas.microsoft.com/office/drawing/2014/main" id="{BBE925B9-443C-F445-8200-25FBB8149E55}"/>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密钥搜索与超级计算</a:t>
            </a:r>
          </a:p>
        </p:txBody>
      </p:sp>
      <p:sp>
        <p:nvSpPr>
          <p:cNvPr id="201730" name="Rectangle 3">
            <a:extLst>
              <a:ext uri="{FF2B5EF4-FFF2-40B4-BE49-F238E27FC236}">
                <a16:creationId xmlns:a16="http://schemas.microsoft.com/office/drawing/2014/main" id="{59E6047F-28C8-9341-8AED-C587CD02F862}"/>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en-US" altLang="zh-CN" sz="2800"/>
              <a:t>DES</a:t>
            </a:r>
            <a:r>
              <a:rPr lang="zh-CN" altLang="en-US" sz="2800"/>
              <a:t>的</a:t>
            </a:r>
            <a:r>
              <a:rPr lang="en-US" altLang="zh-CN" sz="2800"/>
              <a:t>56</a:t>
            </a:r>
            <a:r>
              <a:rPr lang="zh-CN" altLang="en-US" sz="2800"/>
              <a:t>位短密钥面临的另外一个严峻而现实的问题是：国际互联网</a:t>
            </a:r>
            <a:r>
              <a:rPr lang="en-US" altLang="zh-CN" sz="2800"/>
              <a:t>Internet</a:t>
            </a:r>
            <a:r>
              <a:rPr lang="zh-CN" altLang="en-US" sz="2800"/>
              <a:t>的</a:t>
            </a:r>
            <a:r>
              <a:rPr lang="zh-CN" altLang="en-US" sz="2800" u="sng"/>
              <a:t>超级计算能力</a:t>
            </a:r>
            <a:r>
              <a:rPr lang="zh-CN" altLang="en-US" sz="2800"/>
              <a:t>。</a:t>
            </a:r>
            <a:endParaRPr lang="en-US" altLang="zh-CN" sz="2800"/>
          </a:p>
          <a:p>
            <a:pPr eaLnBrk="1" hangingPunct="1">
              <a:lnSpc>
                <a:spcPct val="120000"/>
              </a:lnSpc>
            </a:pPr>
            <a:r>
              <a:rPr lang="en-US" altLang="zh-CN" sz="2800"/>
              <a:t>1997</a:t>
            </a:r>
            <a:r>
              <a:rPr lang="zh-CN" altLang="en-US" sz="2800"/>
              <a:t>年</a:t>
            </a:r>
            <a:r>
              <a:rPr lang="en-US" altLang="zh-CN" sz="2800"/>
              <a:t>1</a:t>
            </a:r>
            <a:r>
              <a:rPr lang="zh-CN" altLang="en-US" sz="2800"/>
              <a:t>月</a:t>
            </a:r>
            <a:r>
              <a:rPr lang="en-US" altLang="zh-CN" sz="2800"/>
              <a:t>28</a:t>
            </a:r>
            <a:r>
              <a:rPr lang="zh-CN" altLang="en-US" sz="2800"/>
              <a:t>日，美国的</a:t>
            </a:r>
            <a:r>
              <a:rPr lang="en-US" altLang="zh-CN" sz="2800" u="sng"/>
              <a:t>RSA</a:t>
            </a:r>
            <a:r>
              <a:rPr lang="zh-CN" altLang="en-US" sz="2800" u="sng"/>
              <a:t>数据安全公司</a:t>
            </a:r>
            <a:r>
              <a:rPr lang="zh-CN" altLang="en-US" sz="2800"/>
              <a:t>在互联网上开展了一项名为</a:t>
            </a:r>
            <a:r>
              <a:rPr lang="zh-CN" altLang="en-US" sz="2800">
                <a:latin typeface="Arial" panose="020B0604020202020204" pitchFamily="34" charset="0"/>
              </a:rPr>
              <a:t>“</a:t>
            </a:r>
            <a:r>
              <a:rPr lang="zh-CN" altLang="en-US" sz="2800" u="sng"/>
              <a:t>密钥挑战</a:t>
            </a:r>
            <a:r>
              <a:rPr lang="zh-CN" altLang="en-US" sz="2800">
                <a:latin typeface="Arial" panose="020B0604020202020204" pitchFamily="34" charset="0"/>
              </a:rPr>
              <a:t>”</a:t>
            </a:r>
            <a:r>
              <a:rPr lang="zh-CN" altLang="en-US" sz="2800"/>
              <a:t>的竞赛，悬赏</a:t>
            </a:r>
            <a:r>
              <a:rPr lang="zh-CN" altLang="en-US" sz="2800" u="sng"/>
              <a:t>一万美元</a:t>
            </a:r>
            <a:r>
              <a:rPr lang="zh-CN" altLang="en-US" sz="2800"/>
              <a:t>，破解一段用</a:t>
            </a:r>
            <a:r>
              <a:rPr lang="en-US" altLang="zh-CN" sz="2800"/>
              <a:t>56</a:t>
            </a:r>
            <a:r>
              <a:rPr lang="zh-CN" altLang="en-US" sz="2800"/>
              <a:t>位密钥加密的</a:t>
            </a:r>
            <a:r>
              <a:rPr lang="en-US" altLang="zh-CN" sz="2800"/>
              <a:t>DES</a:t>
            </a:r>
            <a:r>
              <a:rPr lang="zh-CN" altLang="en-US" sz="2800"/>
              <a:t>密文。</a:t>
            </a:r>
          </a:p>
          <a:p>
            <a:pPr eaLnBrk="1" hangingPunct="1">
              <a:lnSpc>
                <a:spcPct val="120000"/>
              </a:lnSpc>
              <a:buFont typeface="Wingdings" pitchFamily="2" charset="2"/>
              <a:buNone/>
            </a:pPr>
            <a:endParaRPr lang="en-US" altLang="zh-CN" sz="2800"/>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标题 1">
            <a:extLst>
              <a:ext uri="{FF2B5EF4-FFF2-40B4-BE49-F238E27FC236}">
                <a16:creationId xmlns:a16="http://schemas.microsoft.com/office/drawing/2014/main" id="{6E0BAD0B-A988-3549-B10F-A648F893A114}"/>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密钥挑战</a:t>
            </a:r>
          </a:p>
        </p:txBody>
      </p:sp>
      <p:sp>
        <p:nvSpPr>
          <p:cNvPr id="203778" name="Rectangle 3">
            <a:extLst>
              <a:ext uri="{FF2B5EF4-FFF2-40B4-BE49-F238E27FC236}">
                <a16:creationId xmlns:a16="http://schemas.microsoft.com/office/drawing/2014/main" id="{A7636153-B5DD-EF4B-B1A9-88D4C777FC01}"/>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sz="2800"/>
              <a:t>一位名叫</a:t>
            </a:r>
            <a:r>
              <a:rPr lang="en-US" altLang="zh-CN" sz="2800" u="sng"/>
              <a:t>Rocke Verser</a:t>
            </a:r>
            <a:r>
              <a:rPr lang="zh-CN" altLang="en-US" sz="2800"/>
              <a:t>的程序员设计了一个可以通过互联网分段运行的密钥穷举搜索程序，组织实施了一个</a:t>
            </a:r>
            <a:r>
              <a:rPr lang="zh-CN" altLang="en-US" sz="2800" u="sng"/>
              <a:t>称为</a:t>
            </a:r>
            <a:r>
              <a:rPr lang="en-US" altLang="zh-CN" sz="2800" u="sng"/>
              <a:t>DESHALL</a:t>
            </a:r>
            <a:r>
              <a:rPr lang="zh-CN" altLang="en-US" sz="2800" u="sng"/>
              <a:t>的搜索行动</a:t>
            </a:r>
            <a:r>
              <a:rPr lang="zh-CN" altLang="en-US" sz="2800"/>
              <a:t>，成千上万的志愿者加入到计划中</a:t>
            </a:r>
            <a:endParaRPr lang="en-US" altLang="zh-CN" sz="2800"/>
          </a:p>
          <a:p>
            <a:pPr eaLnBrk="1" hangingPunct="1">
              <a:lnSpc>
                <a:spcPct val="120000"/>
              </a:lnSpc>
            </a:pPr>
            <a:r>
              <a:rPr lang="zh-CN" altLang="en-US" sz="2800"/>
              <a:t>计划实施的第</a:t>
            </a:r>
            <a:r>
              <a:rPr lang="en-US" altLang="zh-CN" sz="2800"/>
              <a:t>96</a:t>
            </a:r>
            <a:r>
              <a:rPr lang="zh-CN" altLang="en-US" sz="2800"/>
              <a:t>天，即挑战赛计划公布的第</a:t>
            </a:r>
            <a:r>
              <a:rPr lang="en-US" altLang="zh-CN" sz="2800"/>
              <a:t>140</a:t>
            </a:r>
            <a:r>
              <a:rPr lang="zh-CN" altLang="en-US" sz="2800"/>
              <a:t>天，</a:t>
            </a:r>
            <a:r>
              <a:rPr lang="en-US" altLang="zh-CN" sz="2800"/>
              <a:t>1997</a:t>
            </a:r>
            <a:r>
              <a:rPr lang="zh-CN" altLang="en-US" sz="2800"/>
              <a:t>年</a:t>
            </a:r>
            <a:r>
              <a:rPr lang="en-US" altLang="zh-CN" sz="2800"/>
              <a:t>6</a:t>
            </a:r>
            <a:r>
              <a:rPr lang="zh-CN" altLang="en-US" sz="2800"/>
              <a:t>月</a:t>
            </a:r>
            <a:r>
              <a:rPr lang="en-US" altLang="zh-CN" sz="2800"/>
              <a:t>17</a:t>
            </a:r>
            <a:r>
              <a:rPr lang="zh-CN" altLang="en-US" sz="2800"/>
              <a:t>日晚上</a:t>
            </a:r>
            <a:r>
              <a:rPr lang="en-US" altLang="zh-CN" sz="2800"/>
              <a:t>10</a:t>
            </a:r>
            <a:r>
              <a:rPr lang="zh-CN" altLang="en-US" sz="2800"/>
              <a:t>点</a:t>
            </a:r>
            <a:r>
              <a:rPr lang="en-US" altLang="zh-CN" sz="2800"/>
              <a:t>39</a:t>
            </a:r>
            <a:r>
              <a:rPr lang="zh-CN" altLang="en-US" sz="2800"/>
              <a:t>分，美国盐湖城</a:t>
            </a:r>
            <a:r>
              <a:rPr lang="en-US" altLang="zh-CN" sz="2800"/>
              <a:t>Inetz</a:t>
            </a:r>
            <a:r>
              <a:rPr lang="zh-CN" altLang="en-US" sz="2800"/>
              <a:t>公司的职员</a:t>
            </a:r>
            <a:r>
              <a:rPr lang="en-US" altLang="zh-CN" sz="2800" u="sng"/>
              <a:t>Michael Sanders</a:t>
            </a:r>
            <a:r>
              <a:rPr lang="zh-CN" altLang="en-US" sz="2800" u="sng"/>
              <a:t>成功地找到了密钥</a:t>
            </a:r>
            <a:endParaRPr lang="en-US" altLang="zh-CN" sz="2800" u="sng"/>
          </a:p>
          <a:p>
            <a:pPr eaLnBrk="1" hangingPunct="1">
              <a:lnSpc>
                <a:spcPct val="120000"/>
              </a:lnSpc>
            </a:pPr>
            <a:r>
              <a:rPr lang="zh-CN" altLang="en-US" sz="2800"/>
              <a:t>在计算机上显示了明文：</a:t>
            </a:r>
            <a:r>
              <a:rPr lang="zh-CN" altLang="en-US" sz="2800">
                <a:latin typeface="Arial" panose="020B0604020202020204" pitchFamily="34" charset="0"/>
              </a:rPr>
              <a:t>“</a:t>
            </a:r>
            <a:r>
              <a:rPr lang="en-US" altLang="zh-CN" sz="2800"/>
              <a:t>The unknown message is: Strong cryptography makes the world a safer place</a:t>
            </a:r>
            <a:r>
              <a:rPr lang="en-US" altLang="zh-CN" sz="2800">
                <a:latin typeface="Arial" panose="020B0604020202020204" pitchFamily="34" charset="0"/>
              </a:rPr>
              <a:t>”</a:t>
            </a:r>
            <a:endParaRPr lang="zh-CN" altLang="en-US" sz="2800"/>
          </a:p>
          <a:p>
            <a:pPr eaLnBrk="1" hangingPunct="1">
              <a:lnSpc>
                <a:spcPct val="120000"/>
              </a:lnSpc>
            </a:pPr>
            <a:endParaRPr lang="en-US" altLang="zh-CN" sz="2800"/>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A10A98-3C17-634E-8FD5-F1751A15AE85}"/>
              </a:ext>
            </a:extLst>
          </p:cNvPr>
          <p:cNvSpPr>
            <a:spLocks noGrp="1"/>
          </p:cNvSpPr>
          <p:nvPr>
            <p:ph type="title"/>
          </p:nvPr>
        </p:nvSpPr>
        <p:spPr>
          <a:xfrm>
            <a:off x="1465263" y="365125"/>
            <a:ext cx="9037637" cy="668338"/>
          </a:xfrm>
        </p:spPr>
        <p:txBody>
          <a:bodyPr/>
          <a:lstStyle/>
          <a:p>
            <a:pPr>
              <a:defRPr/>
            </a:pPr>
            <a:r>
              <a:rPr lang="en-US" altLang="zh-CN" dirty="0"/>
              <a:t>DES</a:t>
            </a:r>
            <a:r>
              <a:rPr lang="zh-CN" altLang="en-US" dirty="0"/>
              <a:t>的破解</a:t>
            </a:r>
          </a:p>
        </p:txBody>
      </p:sp>
      <p:sp>
        <p:nvSpPr>
          <p:cNvPr id="205826" name="Rectangle 3">
            <a:extLst>
              <a:ext uri="{FF2B5EF4-FFF2-40B4-BE49-F238E27FC236}">
                <a16:creationId xmlns:a16="http://schemas.microsoft.com/office/drawing/2014/main" id="{92B14036-54DF-2F4C-B004-E3324C34CE63}"/>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en-US" altLang="zh-CN" sz="2800"/>
              <a:t>1998</a:t>
            </a:r>
            <a:r>
              <a:rPr lang="zh-CN" altLang="en-US" sz="2800"/>
              <a:t>年</a:t>
            </a:r>
            <a:r>
              <a:rPr lang="en-US" altLang="zh-CN" sz="2800"/>
              <a:t>7</a:t>
            </a:r>
            <a:r>
              <a:rPr lang="zh-CN" altLang="en-US" sz="2800"/>
              <a:t>月电子前沿基金会（</a:t>
            </a:r>
            <a:r>
              <a:rPr lang="en-US" altLang="zh-CN" sz="2800"/>
              <a:t>EFF</a:t>
            </a:r>
            <a:r>
              <a:rPr lang="zh-CN" altLang="en-US" sz="2800"/>
              <a:t>）使用一台</a:t>
            </a:r>
            <a:r>
              <a:rPr lang="en-US" altLang="zh-CN" sz="2800" u="sng"/>
              <a:t>25</a:t>
            </a:r>
            <a:r>
              <a:rPr lang="zh-CN" altLang="en-US" sz="2800" u="sng"/>
              <a:t>万美元</a:t>
            </a:r>
            <a:r>
              <a:rPr lang="zh-CN" altLang="en-US" sz="2800"/>
              <a:t>的电脑在</a:t>
            </a:r>
            <a:r>
              <a:rPr lang="en-US" altLang="zh-CN" sz="2800"/>
              <a:t>56</a:t>
            </a:r>
            <a:r>
              <a:rPr lang="zh-CN" altLang="en-US" sz="2800"/>
              <a:t>小时内破译了</a:t>
            </a:r>
            <a:r>
              <a:rPr lang="en-US" altLang="zh-CN" sz="2800"/>
              <a:t>56</a:t>
            </a:r>
            <a:r>
              <a:rPr lang="zh-CN" altLang="en-US" sz="2800"/>
              <a:t>比特密钥的</a:t>
            </a:r>
            <a:r>
              <a:rPr lang="en-US" altLang="zh-CN" sz="2800"/>
              <a:t>DES</a:t>
            </a:r>
            <a:r>
              <a:rPr lang="zh-CN" altLang="en-US" sz="2800"/>
              <a:t>。</a:t>
            </a:r>
          </a:p>
          <a:p>
            <a:pPr eaLnBrk="1" hangingPunct="1">
              <a:lnSpc>
                <a:spcPct val="120000"/>
              </a:lnSpc>
            </a:pPr>
            <a:r>
              <a:rPr lang="en-US" altLang="zh-CN" sz="2800"/>
              <a:t>1999</a:t>
            </a:r>
            <a:r>
              <a:rPr lang="zh-CN" altLang="en-US" sz="2800"/>
              <a:t>年</a:t>
            </a:r>
            <a:r>
              <a:rPr lang="en-US" altLang="zh-CN" sz="2800"/>
              <a:t>1</a:t>
            </a:r>
            <a:r>
              <a:rPr lang="zh-CN" altLang="en-US" sz="2800"/>
              <a:t>月</a:t>
            </a:r>
            <a:r>
              <a:rPr lang="en-US" altLang="zh-CN" sz="2800"/>
              <a:t>RSA</a:t>
            </a:r>
            <a:r>
              <a:rPr lang="zh-CN" altLang="en-US" sz="2800"/>
              <a:t>数据安全会议期间，</a:t>
            </a:r>
            <a:r>
              <a:rPr lang="zh-CN" altLang="en-US" sz="2800" u="sng"/>
              <a:t>电子前沿基金会</a:t>
            </a:r>
            <a:r>
              <a:rPr lang="zh-CN" altLang="en-US" sz="2800"/>
              <a:t>用</a:t>
            </a:r>
            <a:r>
              <a:rPr lang="en-US" altLang="zh-CN" sz="2800" u="sng"/>
              <a:t>22</a:t>
            </a:r>
            <a:r>
              <a:rPr lang="zh-CN" altLang="en-US" sz="2800" u="sng"/>
              <a:t>小时</a:t>
            </a:r>
            <a:r>
              <a:rPr lang="en-US" altLang="zh-CN" sz="2800" u="sng"/>
              <a:t>15</a:t>
            </a:r>
            <a:r>
              <a:rPr lang="zh-CN" altLang="en-US" sz="2800" u="sng"/>
              <a:t>分钟</a:t>
            </a:r>
            <a:r>
              <a:rPr lang="zh-CN" altLang="en-US" sz="2800"/>
              <a:t>就宣告破解了一个</a:t>
            </a:r>
            <a:r>
              <a:rPr lang="en-US" altLang="zh-CN" sz="2800"/>
              <a:t>DES</a:t>
            </a:r>
            <a:r>
              <a:rPr lang="zh-CN" altLang="en-US" sz="2800"/>
              <a:t>的密钥。</a:t>
            </a:r>
          </a:p>
          <a:p>
            <a:pPr eaLnBrk="1" hangingPunct="1">
              <a:lnSpc>
                <a:spcPct val="120000"/>
              </a:lnSpc>
            </a:pPr>
            <a:endParaRPr lang="en-US" altLang="zh-CN" sz="2800"/>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8DB61F9-6FF0-4842-AE9D-B8666AB0179F}"/>
              </a:ext>
            </a:extLst>
          </p:cNvPr>
          <p:cNvSpPr>
            <a:spLocks noGrp="1" noChangeArrowheads="1"/>
          </p:cNvSpPr>
          <p:nvPr>
            <p:ph type="title"/>
          </p:nvPr>
        </p:nvSpPr>
        <p:spPr>
          <a:xfrm>
            <a:off x="1465263" y="365125"/>
            <a:ext cx="9037637" cy="668338"/>
          </a:xfrm>
        </p:spPr>
        <p:txBody>
          <a:bodyPr/>
          <a:lstStyle/>
          <a:p>
            <a:pPr eaLnBrk="1" hangingPunct="1">
              <a:defRPr/>
            </a:pPr>
            <a:r>
              <a:rPr lang="en-US" altLang="zh-CN" dirty="0"/>
              <a:t>DES</a:t>
            </a:r>
            <a:r>
              <a:rPr lang="zh-CN" altLang="en-US" dirty="0"/>
              <a:t>的安全性的其他方面</a:t>
            </a:r>
          </a:p>
        </p:txBody>
      </p:sp>
      <p:sp>
        <p:nvSpPr>
          <p:cNvPr id="207874" name="Rectangle 3">
            <a:extLst>
              <a:ext uri="{FF2B5EF4-FFF2-40B4-BE49-F238E27FC236}">
                <a16:creationId xmlns:a16="http://schemas.microsoft.com/office/drawing/2014/main" id="{BBE6BE1A-CE6C-F242-A08F-197A9BE35B8F}"/>
              </a:ext>
            </a:extLst>
          </p:cNvPr>
          <p:cNvSpPr>
            <a:spLocks noGrp="1" noChangeArrowheads="1"/>
          </p:cNvSpPr>
          <p:nvPr>
            <p:ph idx="1"/>
          </p:nvPr>
        </p:nvSpPr>
        <p:spPr>
          <a:xfrm>
            <a:off x="838200" y="1219200"/>
            <a:ext cx="10820400" cy="5029200"/>
          </a:xfrm>
        </p:spPr>
        <p:txBody>
          <a:bodyPr/>
          <a:lstStyle/>
          <a:p>
            <a:pPr algn="just" eaLnBrk="1" hangingPunct="1">
              <a:lnSpc>
                <a:spcPct val="120000"/>
              </a:lnSpc>
              <a:buFont typeface="Arial" panose="020B0604020202020204" pitchFamily="34" charset="0"/>
              <a:buNone/>
            </a:pPr>
            <a:r>
              <a:rPr lang="zh-CN" altLang="en-US">
                <a:solidFill>
                  <a:srgbClr val="FF0000"/>
                </a:solidFill>
                <a:latin typeface="Times New Roman" panose="02020603050405020304" pitchFamily="18" charset="0"/>
                <a:ea typeface="楷体_GB2312" pitchFamily="49" charset="-122"/>
              </a:rPr>
              <a:t>密文与明文、密文与密钥的相关性</a:t>
            </a:r>
            <a:endParaRPr lang="en-US" altLang="zh-CN">
              <a:solidFill>
                <a:srgbClr val="FF0000"/>
              </a:solidFill>
              <a:latin typeface="Times New Roman" panose="02020603050405020304" pitchFamily="18" charset="0"/>
            </a:endParaRPr>
          </a:p>
          <a:p>
            <a:pPr algn="just" eaLnBrk="1" hangingPunct="1">
              <a:lnSpc>
                <a:spcPct val="120000"/>
              </a:lnSpc>
              <a:buFont typeface="Arial" panose="020B0604020202020204" pitchFamily="34" charset="0"/>
              <a:buNone/>
            </a:pPr>
            <a:r>
              <a:rPr lang="zh-CN" altLang="en-US">
                <a:latin typeface="Times New Roman" panose="02020603050405020304" pitchFamily="18" charset="0"/>
              </a:rPr>
              <a:t>    </a:t>
            </a:r>
            <a:r>
              <a:rPr lang="en-US" altLang="zh-CN">
                <a:latin typeface="Times New Roman" panose="02020603050405020304" pitchFamily="18" charset="0"/>
              </a:rPr>
              <a:t>Meyer[1978]</a:t>
            </a:r>
            <a:r>
              <a:rPr lang="zh-CN" altLang="en-US">
                <a:latin typeface="Times New Roman" panose="02020603050405020304" pitchFamily="18" charset="0"/>
              </a:rPr>
              <a:t>详细研究了</a:t>
            </a:r>
            <a:r>
              <a:rPr lang="en-US" altLang="zh-CN">
                <a:latin typeface="Times New Roman" panose="02020603050405020304" pitchFamily="18" charset="0"/>
              </a:rPr>
              <a:t>DES</a:t>
            </a:r>
            <a:r>
              <a:rPr lang="zh-CN" altLang="en-US">
                <a:latin typeface="Times New Roman" panose="02020603050405020304" pitchFamily="18" charset="0"/>
              </a:rPr>
              <a:t>的输入明文与密文及密钥与密文之间的相关性。表明每个密文比特都是所有明文比特和所有密钥比特的复合函数，并且指出达到这一要求所需的迭代次数至少为</a:t>
            </a:r>
            <a:r>
              <a:rPr lang="en-US" altLang="zh-CN">
                <a:latin typeface="Times New Roman" panose="02020603050405020304" pitchFamily="18" charset="0"/>
              </a:rPr>
              <a:t>5</a:t>
            </a:r>
            <a:r>
              <a:rPr lang="zh-CN" altLang="en-US">
                <a:latin typeface="Times New Roman" panose="02020603050405020304" pitchFamily="18" charset="0"/>
              </a:rPr>
              <a:t>。</a:t>
            </a:r>
            <a:r>
              <a:rPr lang="en-US" altLang="zh-CN">
                <a:latin typeface="Times New Roman" panose="02020603050405020304" pitchFamily="18" charset="0"/>
              </a:rPr>
              <a:t>Konheim[1981]</a:t>
            </a:r>
            <a:r>
              <a:rPr lang="zh-CN" altLang="en-US">
                <a:latin typeface="Times New Roman" panose="02020603050405020304" pitchFamily="18" charset="0"/>
              </a:rPr>
              <a:t>用</a:t>
            </a:r>
            <a:r>
              <a:rPr lang="zh-CN" altLang="en-US">
                <a:latin typeface="Times New Roman" panose="02020603050405020304" pitchFamily="18" charset="0"/>
                <a:sym typeface="Symbol" pitchFamily="2" charset="2"/>
              </a:rPr>
              <a:t></a:t>
            </a:r>
            <a:r>
              <a:rPr lang="en-US" altLang="zh-CN" baseline="30000">
                <a:latin typeface="Times New Roman" panose="02020603050405020304" pitchFamily="18" charset="0"/>
              </a:rPr>
              <a:t>2</a:t>
            </a:r>
            <a:r>
              <a:rPr lang="zh-CN" altLang="en-US">
                <a:latin typeface="Times New Roman" panose="02020603050405020304" pitchFamily="18" charset="0"/>
              </a:rPr>
              <a:t>检验证明，迭代</a:t>
            </a:r>
            <a:r>
              <a:rPr lang="en-US" altLang="zh-CN">
                <a:latin typeface="Times New Roman" panose="02020603050405020304" pitchFamily="18" charset="0"/>
              </a:rPr>
              <a:t>8</a:t>
            </a:r>
            <a:r>
              <a:rPr lang="zh-CN" altLang="en-US">
                <a:latin typeface="Times New Roman" panose="02020603050405020304" pitchFamily="18" charset="0"/>
              </a:rPr>
              <a:t>次后输出和输入就可认为是不相关的了。</a:t>
            </a:r>
            <a:endParaRPr lang="en-US" altLang="zh-CN">
              <a:latin typeface="Times New Roman" panose="02020603050405020304" pitchFamily="18" charset="0"/>
            </a:endParaRPr>
          </a:p>
          <a:p>
            <a:pPr algn="just" eaLnBrk="1" hangingPunct="1">
              <a:lnSpc>
                <a:spcPct val="120000"/>
              </a:lnSpc>
              <a:buFont typeface="Arial" panose="020B0604020202020204" pitchFamily="34" charset="0"/>
              <a:buNone/>
            </a:pPr>
            <a:r>
              <a:rPr lang="en-US" altLang="zh-CN">
                <a:solidFill>
                  <a:srgbClr val="FF0000"/>
                </a:solidFill>
                <a:latin typeface="Times New Roman" panose="02020603050405020304" pitchFamily="18" charset="0"/>
              </a:rPr>
              <a:t>DES</a:t>
            </a:r>
            <a:r>
              <a:rPr lang="zh-CN" altLang="en-US">
                <a:solidFill>
                  <a:srgbClr val="FF0000"/>
                </a:solidFill>
                <a:latin typeface="Times New Roman" panose="02020603050405020304" pitchFamily="18" charset="0"/>
              </a:rPr>
              <a:t>的其他攻击方法</a:t>
            </a:r>
            <a:endParaRPr lang="en-US" altLang="zh-CN">
              <a:solidFill>
                <a:srgbClr val="FF0000"/>
              </a:solidFill>
              <a:latin typeface="Times New Roman" panose="02020603050405020304" pitchFamily="18" charset="0"/>
            </a:endParaRPr>
          </a:p>
          <a:p>
            <a:pPr algn="just" eaLnBrk="1" hangingPunct="1">
              <a:lnSpc>
                <a:spcPct val="120000"/>
              </a:lnSpc>
              <a:buFont typeface="Arial" panose="020B0604020202020204" pitchFamily="34" charset="0"/>
              <a:buNone/>
            </a:pPr>
            <a:r>
              <a:rPr lang="zh-CN" altLang="en-US">
                <a:latin typeface="Times New Roman" panose="02020603050405020304" pitchFamily="18" charset="0"/>
              </a:rPr>
              <a:t>   目前攻击</a:t>
            </a:r>
            <a:r>
              <a:rPr lang="en-US" altLang="zh-CN">
                <a:latin typeface="Times New Roman" panose="02020603050405020304" pitchFamily="18" charset="0"/>
              </a:rPr>
              <a:t>DES</a:t>
            </a:r>
            <a:r>
              <a:rPr lang="zh-CN" altLang="en-US">
                <a:latin typeface="Times New Roman" panose="02020603050405020304" pitchFamily="18" charset="0"/>
              </a:rPr>
              <a:t>的主要方法有时间</a:t>
            </a:r>
            <a:r>
              <a:rPr lang="en-US" altLang="zh-CN">
                <a:latin typeface="Times New Roman" panose="02020603050405020304" pitchFamily="18" charset="0"/>
              </a:rPr>
              <a:t>-</a:t>
            </a:r>
            <a:r>
              <a:rPr lang="zh-CN" altLang="en-US">
                <a:latin typeface="Times New Roman" panose="02020603050405020304" pitchFamily="18" charset="0"/>
              </a:rPr>
              <a:t>空间权衡攻击、差分攻击、线性攻击和相关密钥攻击等方法，在这些攻击方法中，线性攻击方法是最有效的一种方法。</a:t>
            </a:r>
          </a:p>
          <a:p>
            <a:pPr algn="just" eaLnBrk="1" hangingPunct="1">
              <a:lnSpc>
                <a:spcPct val="120000"/>
              </a:lnSpc>
              <a:buFont typeface="Arial" panose="020B0604020202020204" pitchFamily="34" charset="0"/>
              <a:buNone/>
            </a:pPr>
            <a:endParaRPr lang="en-US" altLang="zh-CN">
              <a:latin typeface="Times New Roman" panose="02020603050405020304" pitchFamily="18" charset="0"/>
            </a:endParaRPr>
          </a:p>
          <a:p>
            <a:pPr algn="just" eaLnBrk="1" hangingPunct="1">
              <a:lnSpc>
                <a:spcPct val="120000"/>
              </a:lnSpc>
              <a:buFont typeface="Arial" panose="020B0604020202020204" pitchFamily="34" charset="0"/>
              <a:buNone/>
            </a:pPr>
            <a:endParaRPr lang="zh-CN" altLang="en-US">
              <a:latin typeface="Times New Roman" panose="02020603050405020304" pitchFamily="18" charset="0"/>
            </a:endParaRPr>
          </a:p>
          <a:p>
            <a:pPr algn="just" eaLnBrk="1" hangingPunct="1">
              <a:lnSpc>
                <a:spcPct val="120000"/>
              </a:lnSpc>
              <a:buFont typeface="Arial" panose="020B0604020202020204" pitchFamily="34" charset="0"/>
              <a:buNone/>
            </a:pPr>
            <a:endParaRPr lang="en-US" altLang="zh-CN">
              <a:latin typeface="Times New Roman" panose="02020603050405020304" pitchFamily="18" charset="0"/>
            </a:endParaRPr>
          </a:p>
        </p:txBody>
      </p:sp>
      <p:sp>
        <p:nvSpPr>
          <p:cNvPr id="207875" name="Text Box 4">
            <a:extLst>
              <a:ext uri="{FF2B5EF4-FFF2-40B4-BE49-F238E27FC236}">
                <a16:creationId xmlns:a16="http://schemas.microsoft.com/office/drawing/2014/main" id="{AEEA80FF-E58C-0D46-B1BB-47012827FC53}"/>
              </a:ext>
            </a:extLst>
          </p:cNvPr>
          <p:cNvSpPr txBox="1">
            <a:spLocks noChangeArrowheads="1"/>
          </p:cNvSpPr>
          <p:nvPr/>
        </p:nvSpPr>
        <p:spPr bwMode="auto">
          <a:xfrm>
            <a:off x="3184525" y="383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副标题 2">
            <a:extLst>
              <a:ext uri="{FF2B5EF4-FFF2-40B4-BE49-F238E27FC236}">
                <a16:creationId xmlns:a16="http://schemas.microsoft.com/office/drawing/2014/main" id="{7DD4D473-56AA-D641-A398-60F0446D13C7}"/>
              </a:ext>
            </a:extLst>
          </p:cNvPr>
          <p:cNvSpPr>
            <a:spLocks noGrp="1" noChangeArrowheads="1"/>
          </p:cNvSpPr>
          <p:nvPr>
            <p:ph type="subTitle" idx="1"/>
          </p:nvPr>
        </p:nvSpPr>
        <p:spPr>
          <a:xfrm>
            <a:off x="0" y="3048000"/>
            <a:ext cx="12192000" cy="790575"/>
          </a:xfrm>
        </p:spPr>
        <p:txBody>
          <a:bodyPr/>
          <a:lstStyle/>
          <a:p>
            <a:r>
              <a:rPr lang="en-US" altLang="zh-CN" sz="3600" b="1"/>
              <a:t>3DES</a:t>
            </a:r>
          </a:p>
        </p:txBody>
      </p:sp>
    </p:spTree>
  </p:cSld>
  <p:clrMapOvr>
    <a:masterClrMapping/>
  </p:clrMapOvr>
  <p:transition spd="slow">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DCF581C-5688-C440-978E-F7785C249160}"/>
              </a:ext>
            </a:extLst>
          </p:cNvPr>
          <p:cNvSpPr>
            <a:spLocks noGrp="1"/>
          </p:cNvSpPr>
          <p:nvPr>
            <p:ph type="title"/>
          </p:nvPr>
        </p:nvSpPr>
        <p:spPr>
          <a:xfrm>
            <a:off x="1465263" y="365125"/>
            <a:ext cx="9037637" cy="668338"/>
          </a:xfrm>
        </p:spPr>
        <p:txBody>
          <a:bodyPr/>
          <a:lstStyle/>
          <a:p>
            <a:pPr>
              <a:defRPr/>
            </a:pPr>
            <a:r>
              <a:rPr lang="zh-CN" altLang="en-US" dirty="0"/>
              <a:t>多重</a:t>
            </a:r>
            <a:r>
              <a:rPr lang="en-US" altLang="zh-CN" dirty="0"/>
              <a:t>DES</a:t>
            </a:r>
            <a:endParaRPr lang="zh-CN" altLang="en-US" dirty="0"/>
          </a:p>
        </p:txBody>
      </p:sp>
      <p:sp>
        <p:nvSpPr>
          <p:cNvPr id="211970" name="内容占位符 4">
            <a:extLst>
              <a:ext uri="{FF2B5EF4-FFF2-40B4-BE49-F238E27FC236}">
                <a16:creationId xmlns:a16="http://schemas.microsoft.com/office/drawing/2014/main" id="{1D2C8827-C103-604F-8C63-A423D5102B3E}"/>
              </a:ext>
            </a:extLst>
          </p:cNvPr>
          <p:cNvSpPr>
            <a:spLocks noGrp="1" noChangeArrowheads="1"/>
          </p:cNvSpPr>
          <p:nvPr>
            <p:ph idx="1"/>
          </p:nvPr>
        </p:nvSpPr>
        <p:spPr>
          <a:xfrm>
            <a:off x="823913" y="1465263"/>
            <a:ext cx="10515600" cy="4579937"/>
          </a:xfrm>
        </p:spPr>
        <p:txBody>
          <a:bodyPr/>
          <a:lstStyle/>
          <a:p>
            <a:pPr>
              <a:lnSpc>
                <a:spcPct val="120000"/>
              </a:lnSpc>
            </a:pPr>
            <a:r>
              <a:rPr lang="zh-CN" altLang="zh-CN"/>
              <a:t>如果一个分组密码易受到穷举密钥搜索攻击，那么对同一消息加密多次就有可能增强安全性</a:t>
            </a:r>
            <a:endParaRPr lang="en-US" altLang="zh-CN"/>
          </a:p>
          <a:p>
            <a:pPr>
              <a:lnSpc>
                <a:spcPct val="120000"/>
              </a:lnSpc>
            </a:pPr>
            <a:r>
              <a:rPr lang="zh-CN" altLang="zh-CN"/>
              <a:t>多重</a:t>
            </a:r>
            <a:r>
              <a:rPr lang="en-US" altLang="zh-CN"/>
              <a:t>DES</a:t>
            </a:r>
            <a:r>
              <a:rPr lang="zh-CN" altLang="zh-CN"/>
              <a:t>就是使用多个密钥利用</a:t>
            </a:r>
            <a:r>
              <a:rPr lang="en-US" altLang="zh-CN"/>
              <a:t>DES</a:t>
            </a:r>
            <a:r>
              <a:rPr lang="zh-CN" altLang="zh-CN"/>
              <a:t>对明文进行多次加密。使用多重</a:t>
            </a:r>
            <a:r>
              <a:rPr lang="en-US" altLang="zh-CN"/>
              <a:t>DES</a:t>
            </a:r>
            <a:r>
              <a:rPr lang="zh-CN" altLang="zh-CN"/>
              <a:t>可以增加密钥量，从而大大提高抵抗穷举密钥搜索攻击的能力</a:t>
            </a:r>
          </a:p>
          <a:p>
            <a:pPr>
              <a:lnSpc>
                <a:spcPct val="120000"/>
              </a:lnSpc>
            </a:pPr>
            <a:r>
              <a:rPr lang="zh-CN" altLang="zh-CN"/>
              <a:t>多重加密类似于一个有着多个相同密码的级联，但各级密码无需独立，且每级密码既可以是一个分组密码加密函数，也可是相应的解密函数</a:t>
            </a:r>
            <a:endParaRPr lang="zh-CN" altLang="en-US"/>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4AC2F4-1134-7446-B2BF-0180842AF842}"/>
              </a:ext>
            </a:extLst>
          </p:cNvPr>
          <p:cNvSpPr>
            <a:spLocks noGrp="1"/>
          </p:cNvSpPr>
          <p:nvPr>
            <p:ph type="title"/>
          </p:nvPr>
        </p:nvSpPr>
        <p:spPr>
          <a:xfrm>
            <a:off x="1465263" y="365125"/>
            <a:ext cx="9037637" cy="668338"/>
          </a:xfrm>
        </p:spPr>
        <p:txBody>
          <a:bodyPr/>
          <a:lstStyle/>
          <a:p>
            <a:pPr>
              <a:defRPr/>
            </a:pPr>
            <a:r>
              <a:rPr lang="zh-CN" altLang="en-US" dirty="0"/>
              <a:t>双重</a:t>
            </a:r>
            <a:r>
              <a:rPr lang="en-US" altLang="zh-CN" dirty="0"/>
              <a:t>DES</a:t>
            </a:r>
            <a:endParaRPr lang="zh-CN" altLang="en-US" dirty="0"/>
          </a:p>
        </p:txBody>
      </p:sp>
      <p:sp>
        <p:nvSpPr>
          <p:cNvPr id="214018" name="内容占位符 2">
            <a:extLst>
              <a:ext uri="{FF2B5EF4-FFF2-40B4-BE49-F238E27FC236}">
                <a16:creationId xmlns:a16="http://schemas.microsoft.com/office/drawing/2014/main" id="{363D0BD0-CA2F-E348-B865-81520E4FF62F}"/>
              </a:ext>
            </a:extLst>
          </p:cNvPr>
          <p:cNvSpPr>
            <a:spLocks noGrp="1" noChangeArrowheads="1"/>
          </p:cNvSpPr>
          <p:nvPr>
            <p:ph idx="1"/>
          </p:nvPr>
        </p:nvSpPr>
        <p:spPr>
          <a:xfrm>
            <a:off x="823913" y="1465263"/>
            <a:ext cx="10515600" cy="4579937"/>
          </a:xfrm>
        </p:spPr>
        <p:txBody>
          <a:bodyPr/>
          <a:lstStyle/>
          <a:p>
            <a:r>
              <a:rPr lang="zh-CN" altLang="en-US"/>
              <a:t>简单的对消息</a:t>
            </a:r>
            <a:r>
              <a:rPr lang="en-US" altLang="zh-CN" i="1">
                <a:latin typeface="Times New Roman" panose="02020603050405020304" pitchFamily="18" charset="0"/>
              </a:rPr>
              <a:t>x</a:t>
            </a:r>
            <a:r>
              <a:rPr lang="en-US" altLang="zh-CN" baseline="-25000">
                <a:latin typeface="Times New Roman" panose="02020603050405020304" pitchFamily="18" charset="0"/>
              </a:rPr>
              <a:t>i</a:t>
            </a:r>
            <a:r>
              <a:rPr lang="zh-CN" altLang="en-US">
                <a:latin typeface="Times New Roman" panose="02020603050405020304" pitchFamily="18" charset="0"/>
              </a:rPr>
              <a:t>利用两个不同的密钥进行两次加密</a:t>
            </a:r>
            <a:endParaRPr lang="en-US" altLang="zh-CN" sz="1800">
              <a:latin typeface="Times New Roman" panose="02020603050405020304" pitchFamily="18" charset="0"/>
            </a:endParaRPr>
          </a:p>
          <a:p>
            <a:r>
              <a:rPr lang="zh-CN" altLang="en-US"/>
              <a:t>目的是为了抵抗穷搜索攻击，期望密钥长度扩展为</a:t>
            </a:r>
            <a:r>
              <a:rPr lang="en-US" altLang="zh-CN"/>
              <a:t>112</a:t>
            </a:r>
            <a:r>
              <a:rPr lang="zh-CN" altLang="en-US"/>
              <a:t>比特</a:t>
            </a:r>
            <a:endParaRPr lang="en-US" altLang="zh-CN"/>
          </a:p>
        </p:txBody>
      </p:sp>
      <p:grpSp>
        <p:nvGrpSpPr>
          <p:cNvPr id="214019" name="Group 46">
            <a:extLst>
              <a:ext uri="{FF2B5EF4-FFF2-40B4-BE49-F238E27FC236}">
                <a16:creationId xmlns:a16="http://schemas.microsoft.com/office/drawing/2014/main" id="{B6CE91E4-D120-2441-8C4B-FFD900E5A90A}"/>
              </a:ext>
            </a:extLst>
          </p:cNvPr>
          <p:cNvGrpSpPr>
            <a:grpSpLocks noChangeAspect="1"/>
          </p:cNvGrpSpPr>
          <p:nvPr/>
        </p:nvGrpSpPr>
        <p:grpSpPr bwMode="auto">
          <a:xfrm>
            <a:off x="2849563" y="3124200"/>
            <a:ext cx="6292850" cy="2022475"/>
            <a:chOff x="3408" y="5414"/>
            <a:chExt cx="4752" cy="1528"/>
          </a:xfrm>
        </p:grpSpPr>
        <p:sp>
          <p:nvSpPr>
            <p:cNvPr id="214020" name="AutoShape 58">
              <a:extLst>
                <a:ext uri="{FF2B5EF4-FFF2-40B4-BE49-F238E27FC236}">
                  <a16:creationId xmlns:a16="http://schemas.microsoft.com/office/drawing/2014/main" id="{BA68959B-C613-A646-AAAB-81E3BEFBF6E2}"/>
                </a:ext>
              </a:extLst>
            </p:cNvPr>
            <p:cNvSpPr>
              <a:spLocks noChangeAspect="1" noChangeArrowheads="1" noTextEdit="1"/>
            </p:cNvSpPr>
            <p:nvPr/>
          </p:nvSpPr>
          <p:spPr bwMode="auto">
            <a:xfrm>
              <a:off x="3408" y="5414"/>
              <a:ext cx="4752" cy="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214021" name="Text Box 57">
              <a:extLst>
                <a:ext uri="{FF2B5EF4-FFF2-40B4-BE49-F238E27FC236}">
                  <a16:creationId xmlns:a16="http://schemas.microsoft.com/office/drawing/2014/main" id="{FACF82FB-7EB6-5942-8562-68619B7863DF}"/>
                </a:ext>
              </a:extLst>
            </p:cNvPr>
            <p:cNvSpPr txBox="1">
              <a:spLocks noChangeArrowheads="1"/>
            </p:cNvSpPr>
            <p:nvPr/>
          </p:nvSpPr>
          <p:spPr bwMode="auto">
            <a:xfrm>
              <a:off x="3756" y="6150"/>
              <a:ext cx="90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zh-CN" altLang="zh-CN" sz="2400" b="1">
                  <a:latin typeface="Times New Roman" panose="02020603050405020304" pitchFamily="18" charset="0"/>
                </a:rPr>
                <a:t>明文</a:t>
              </a:r>
              <a:endParaRPr lang="zh-CN" altLang="zh-CN" sz="2400" b="1"/>
            </a:p>
          </p:txBody>
        </p:sp>
        <p:sp>
          <p:nvSpPr>
            <p:cNvPr id="214022" name="Text Box 56">
              <a:extLst>
                <a:ext uri="{FF2B5EF4-FFF2-40B4-BE49-F238E27FC236}">
                  <a16:creationId xmlns:a16="http://schemas.microsoft.com/office/drawing/2014/main" id="{E5F5F8BD-441B-ED4E-B621-771689558F02}"/>
                </a:ext>
              </a:extLst>
            </p:cNvPr>
            <p:cNvSpPr txBox="1">
              <a:spLocks noChangeArrowheads="1"/>
            </p:cNvSpPr>
            <p:nvPr/>
          </p:nvSpPr>
          <p:spPr bwMode="auto">
            <a:xfrm>
              <a:off x="7104" y="6222"/>
              <a:ext cx="898" cy="4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zh-CN" altLang="zh-CN" sz="2400" b="1">
                  <a:latin typeface="Times New Roman" panose="02020603050405020304" pitchFamily="18" charset="0"/>
                </a:rPr>
                <a:t>密文</a:t>
              </a:r>
              <a:endParaRPr lang="zh-CN" altLang="zh-CN" sz="2400" b="1"/>
            </a:p>
          </p:txBody>
        </p:sp>
        <p:sp>
          <p:nvSpPr>
            <p:cNvPr id="214023" name="Rectangle 55">
              <a:extLst>
                <a:ext uri="{FF2B5EF4-FFF2-40B4-BE49-F238E27FC236}">
                  <a16:creationId xmlns:a16="http://schemas.microsoft.com/office/drawing/2014/main" id="{D842CEEA-3CAF-2842-A4D3-335258825D35}"/>
                </a:ext>
              </a:extLst>
            </p:cNvPr>
            <p:cNvSpPr>
              <a:spLocks noChangeArrowheads="1"/>
            </p:cNvSpPr>
            <p:nvPr/>
          </p:nvSpPr>
          <p:spPr bwMode="auto">
            <a:xfrm>
              <a:off x="4572" y="6354"/>
              <a:ext cx="900" cy="397"/>
            </a:xfrm>
            <a:prstGeom prst="rect">
              <a:avLst/>
            </a:prstGeom>
            <a:solidFill>
              <a:srgbClr val="FFFFFF"/>
            </a:solidFill>
            <a:ln w="9525">
              <a:solidFill>
                <a:srgbClr val="000000"/>
              </a:solidFill>
              <a:miter lim="800000"/>
              <a:headEnd/>
              <a:tailEnd/>
            </a:ln>
          </p:spPr>
          <p:txBody>
            <a:bodyPr/>
            <a:lstStyle/>
            <a:p>
              <a:pPr algn="ctr" eaLnBrk="0" hangingPunct="0"/>
              <a:r>
                <a:rPr lang="en-US" altLang="zh-CN" sz="2400" b="1">
                  <a:latin typeface="Times New Roman" panose="02020603050405020304" pitchFamily="18" charset="0"/>
                </a:rPr>
                <a:t>DES</a:t>
              </a:r>
              <a:r>
                <a:rPr lang="en-US" altLang="zh-CN" sz="2400" b="1" baseline="30000">
                  <a:latin typeface="Times New Roman" panose="02020603050405020304" pitchFamily="18" charset="0"/>
                </a:rPr>
                <a:t>(1)</a:t>
              </a:r>
              <a:endParaRPr lang="en-US" altLang="zh-CN" sz="2400" b="1"/>
            </a:p>
          </p:txBody>
        </p:sp>
        <p:sp>
          <p:nvSpPr>
            <p:cNvPr id="214024" name="Line 54">
              <a:extLst>
                <a:ext uri="{FF2B5EF4-FFF2-40B4-BE49-F238E27FC236}">
                  <a16:creationId xmlns:a16="http://schemas.microsoft.com/office/drawing/2014/main" id="{EDFDAEED-583D-1F43-8911-36C0F56F968B}"/>
                </a:ext>
              </a:extLst>
            </p:cNvPr>
            <p:cNvSpPr>
              <a:spLocks noChangeShapeType="1"/>
            </p:cNvSpPr>
            <p:nvPr/>
          </p:nvSpPr>
          <p:spPr bwMode="auto">
            <a:xfrm>
              <a:off x="4860" y="5886"/>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4025" name="Text Box 53">
              <a:extLst>
                <a:ext uri="{FF2B5EF4-FFF2-40B4-BE49-F238E27FC236}">
                  <a16:creationId xmlns:a16="http://schemas.microsoft.com/office/drawing/2014/main" id="{1133C11C-F55E-314E-A374-1693AD85DBCF}"/>
                </a:ext>
              </a:extLst>
            </p:cNvPr>
            <p:cNvSpPr txBox="1">
              <a:spLocks noChangeArrowheads="1"/>
            </p:cNvSpPr>
            <p:nvPr/>
          </p:nvSpPr>
          <p:spPr bwMode="auto">
            <a:xfrm>
              <a:off x="4620" y="5489"/>
              <a:ext cx="540" cy="469"/>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zh-CN" sz="2400" b="1" i="1">
                  <a:latin typeface="Times New Roman" panose="02020603050405020304" pitchFamily="18" charset="0"/>
                </a:rPr>
                <a:t>k</a:t>
              </a:r>
              <a:r>
                <a:rPr lang="en-US" altLang="zh-CN" sz="2400" b="1" baseline="-30000">
                  <a:latin typeface="Times New Roman" panose="02020603050405020304" pitchFamily="18" charset="0"/>
                </a:rPr>
                <a:t>1</a:t>
              </a:r>
              <a:endParaRPr lang="en-US" altLang="zh-CN" sz="2400" b="1"/>
            </a:p>
            <a:p>
              <a:pPr eaLnBrk="0" hangingPunct="0"/>
              <a:endParaRPr lang="en-US" altLang="zh-CN" sz="2400" b="1"/>
            </a:p>
          </p:txBody>
        </p:sp>
        <p:sp>
          <p:nvSpPr>
            <p:cNvPr id="214026" name="Line 52">
              <a:extLst>
                <a:ext uri="{FF2B5EF4-FFF2-40B4-BE49-F238E27FC236}">
                  <a16:creationId xmlns:a16="http://schemas.microsoft.com/office/drawing/2014/main" id="{D931A5A7-3C69-DA45-A875-97EC3B423D7F}"/>
                </a:ext>
              </a:extLst>
            </p:cNvPr>
            <p:cNvSpPr>
              <a:spLocks noChangeShapeType="1"/>
            </p:cNvSpPr>
            <p:nvPr/>
          </p:nvSpPr>
          <p:spPr bwMode="auto">
            <a:xfrm>
              <a:off x="3840" y="6570"/>
              <a:ext cx="720"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4027" name="Line 51">
              <a:extLst>
                <a:ext uri="{FF2B5EF4-FFF2-40B4-BE49-F238E27FC236}">
                  <a16:creationId xmlns:a16="http://schemas.microsoft.com/office/drawing/2014/main" id="{BF1542A3-D1BA-334A-AB7F-2225297CA06E}"/>
                </a:ext>
              </a:extLst>
            </p:cNvPr>
            <p:cNvSpPr>
              <a:spLocks noChangeShapeType="1"/>
            </p:cNvSpPr>
            <p:nvPr/>
          </p:nvSpPr>
          <p:spPr bwMode="auto">
            <a:xfrm>
              <a:off x="5496" y="6570"/>
              <a:ext cx="7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4028" name="Rectangle 50">
              <a:extLst>
                <a:ext uri="{FF2B5EF4-FFF2-40B4-BE49-F238E27FC236}">
                  <a16:creationId xmlns:a16="http://schemas.microsoft.com/office/drawing/2014/main" id="{2CCA2F53-6E9D-E647-B522-CF313714ED72}"/>
                </a:ext>
              </a:extLst>
            </p:cNvPr>
            <p:cNvSpPr>
              <a:spLocks noChangeArrowheads="1"/>
            </p:cNvSpPr>
            <p:nvPr/>
          </p:nvSpPr>
          <p:spPr bwMode="auto">
            <a:xfrm>
              <a:off x="6216" y="6354"/>
              <a:ext cx="900" cy="412"/>
            </a:xfrm>
            <a:prstGeom prst="rect">
              <a:avLst/>
            </a:prstGeom>
            <a:solidFill>
              <a:srgbClr val="FFFFFF"/>
            </a:solidFill>
            <a:ln w="9525">
              <a:solidFill>
                <a:srgbClr val="000000"/>
              </a:solidFill>
              <a:miter lim="800000"/>
              <a:headEnd/>
              <a:tailEnd/>
            </a:ln>
          </p:spPr>
          <p:txBody>
            <a:bodyPr/>
            <a:lstStyle/>
            <a:p>
              <a:pPr algn="ctr" eaLnBrk="0" hangingPunct="0"/>
              <a:r>
                <a:rPr lang="en-US" altLang="zh-CN" sz="2400" b="1">
                  <a:latin typeface="Times New Roman" panose="02020603050405020304" pitchFamily="18" charset="0"/>
                </a:rPr>
                <a:t>DES</a:t>
              </a:r>
              <a:r>
                <a:rPr lang="en-US" altLang="zh-CN" sz="2400" b="1" baseline="30000">
                  <a:latin typeface="Times New Roman" panose="02020603050405020304" pitchFamily="18" charset="0"/>
                </a:rPr>
                <a:t>(2)</a:t>
              </a:r>
              <a:endParaRPr lang="en-US" altLang="zh-CN" sz="2400" b="1"/>
            </a:p>
          </p:txBody>
        </p:sp>
        <p:sp>
          <p:nvSpPr>
            <p:cNvPr id="214029" name="Text Box 49">
              <a:extLst>
                <a:ext uri="{FF2B5EF4-FFF2-40B4-BE49-F238E27FC236}">
                  <a16:creationId xmlns:a16="http://schemas.microsoft.com/office/drawing/2014/main" id="{8D3524C8-EC85-274E-964F-F8E696CB8585}"/>
                </a:ext>
              </a:extLst>
            </p:cNvPr>
            <p:cNvSpPr txBox="1">
              <a:spLocks noChangeArrowheads="1"/>
            </p:cNvSpPr>
            <p:nvPr/>
          </p:nvSpPr>
          <p:spPr bwMode="auto">
            <a:xfrm>
              <a:off x="6384" y="5489"/>
              <a:ext cx="540" cy="469"/>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zh-CN" sz="2400" b="1" i="1">
                  <a:latin typeface="Times New Roman" panose="02020603050405020304" pitchFamily="18" charset="0"/>
                </a:rPr>
                <a:t>k</a:t>
              </a:r>
              <a:r>
                <a:rPr lang="en-US" altLang="zh-CN" sz="2400" b="1" baseline="-30000">
                  <a:latin typeface="Times New Roman" panose="02020603050405020304" pitchFamily="18" charset="0"/>
                </a:rPr>
                <a:t>2</a:t>
              </a:r>
              <a:endParaRPr lang="en-US" altLang="zh-CN" sz="2400" b="1"/>
            </a:p>
          </p:txBody>
        </p:sp>
        <p:sp>
          <p:nvSpPr>
            <p:cNvPr id="214030" name="Line 48">
              <a:extLst>
                <a:ext uri="{FF2B5EF4-FFF2-40B4-BE49-F238E27FC236}">
                  <a16:creationId xmlns:a16="http://schemas.microsoft.com/office/drawing/2014/main" id="{0C2783C4-E9B1-FB45-9F92-361370942548}"/>
                </a:ext>
              </a:extLst>
            </p:cNvPr>
            <p:cNvSpPr>
              <a:spLocks noChangeShapeType="1"/>
            </p:cNvSpPr>
            <p:nvPr/>
          </p:nvSpPr>
          <p:spPr bwMode="auto">
            <a:xfrm>
              <a:off x="6660" y="5886"/>
              <a:ext cx="1"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4031" name="Line 47">
              <a:extLst>
                <a:ext uri="{FF2B5EF4-FFF2-40B4-BE49-F238E27FC236}">
                  <a16:creationId xmlns:a16="http://schemas.microsoft.com/office/drawing/2014/main" id="{8F745AE4-6B9C-C345-A421-59D537965CFE}"/>
                </a:ext>
              </a:extLst>
            </p:cNvPr>
            <p:cNvSpPr>
              <a:spLocks noChangeShapeType="1"/>
            </p:cNvSpPr>
            <p:nvPr/>
          </p:nvSpPr>
          <p:spPr bwMode="auto">
            <a:xfrm>
              <a:off x="7140" y="6582"/>
              <a:ext cx="7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标题 1">
            <a:extLst>
              <a:ext uri="{FF2B5EF4-FFF2-40B4-BE49-F238E27FC236}">
                <a16:creationId xmlns:a16="http://schemas.microsoft.com/office/drawing/2014/main" id="{1508A171-EB3C-6743-A185-406EC64EFB43}"/>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中间相遇攻击</a:t>
            </a:r>
          </a:p>
        </p:txBody>
      </p:sp>
      <p:sp>
        <p:nvSpPr>
          <p:cNvPr id="216066" name="内容占位符 2">
            <a:extLst>
              <a:ext uri="{FF2B5EF4-FFF2-40B4-BE49-F238E27FC236}">
                <a16:creationId xmlns:a16="http://schemas.microsoft.com/office/drawing/2014/main" id="{1A105248-733C-E448-8E20-88793864B533}"/>
              </a:ext>
            </a:extLst>
          </p:cNvPr>
          <p:cNvSpPr>
            <a:spLocks noGrp="1" noChangeArrowheads="1"/>
          </p:cNvSpPr>
          <p:nvPr>
            <p:ph idx="1"/>
          </p:nvPr>
        </p:nvSpPr>
        <p:spPr>
          <a:xfrm>
            <a:off x="823913" y="1465263"/>
            <a:ext cx="10515600" cy="4579937"/>
          </a:xfrm>
        </p:spPr>
        <p:txBody>
          <a:bodyPr/>
          <a:lstStyle/>
          <a:p>
            <a:pPr eaLnBrk="1" hangingPunct="1">
              <a:spcAft>
                <a:spcPts val="600"/>
              </a:spcAft>
              <a:buFont typeface="Wingdings" pitchFamily="2" charset="2"/>
              <a:buNone/>
            </a:pPr>
            <a:r>
              <a:rPr lang="zh-CN" altLang="en-US">
                <a:latin typeface="Times New Roman" panose="02020603050405020304" pitchFamily="18" charset="0"/>
              </a:rPr>
              <a:t>由</a:t>
            </a:r>
            <a:r>
              <a:rPr lang="en-US" altLang="zh-CN">
                <a:latin typeface="Times New Roman" panose="02020603050405020304" pitchFamily="18" charset="0"/>
              </a:rPr>
              <a:t>Diffie</a:t>
            </a:r>
            <a:r>
              <a:rPr lang="zh-CN" altLang="en-US">
                <a:latin typeface="Times New Roman" panose="02020603050405020304" pitchFamily="18" charset="0"/>
              </a:rPr>
              <a:t>和</a:t>
            </a:r>
            <a:r>
              <a:rPr lang="en-US" altLang="zh-CN">
                <a:latin typeface="Times New Roman" panose="02020603050405020304" pitchFamily="18" charset="0"/>
              </a:rPr>
              <a:t>Hellman[1977]</a:t>
            </a:r>
            <a:r>
              <a:rPr lang="zh-CN" altLang="en-US">
                <a:latin typeface="Times New Roman" panose="02020603050405020304" pitchFamily="18" charset="0"/>
              </a:rPr>
              <a:t>最早提出，可以降低搜索量，基本想法如下。</a:t>
            </a:r>
            <a:endParaRPr lang="en-US" altLang="zh-CN">
              <a:latin typeface="Times New Roman" panose="02020603050405020304" pitchFamily="18" charset="0"/>
            </a:endParaRPr>
          </a:p>
          <a:p>
            <a:pPr eaLnBrk="1" hangingPunct="1">
              <a:spcAft>
                <a:spcPts val="600"/>
              </a:spcAft>
              <a:buFont typeface="Wingdings" pitchFamily="2" charset="2"/>
              <a:buNone/>
            </a:pPr>
            <a:r>
              <a:rPr lang="zh-CN" altLang="en-US">
                <a:latin typeface="Times New Roman" panose="02020603050405020304" pitchFamily="18" charset="0"/>
              </a:rPr>
              <a:t>若有明文</a:t>
            </a:r>
            <a:r>
              <a:rPr lang="en-US" altLang="zh-CN">
                <a:latin typeface="Times New Roman" panose="02020603050405020304" pitchFamily="18" charset="0"/>
              </a:rPr>
              <a:t>/</a:t>
            </a:r>
            <a:r>
              <a:rPr lang="zh-CN" altLang="en-US">
                <a:latin typeface="Times New Roman" panose="02020603050405020304" pitchFamily="18" charset="0"/>
              </a:rPr>
              <a:t>密文对</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baseline="-25000">
                <a:latin typeface="Times New Roman" panose="02020603050405020304" pitchFamily="18" charset="0"/>
              </a:rPr>
              <a:t>i</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i</a:t>
            </a:r>
            <a:r>
              <a:rPr lang="en-US" altLang="zh-CN">
                <a:latin typeface="Times New Roman" panose="02020603050405020304" pitchFamily="18" charset="0"/>
              </a:rPr>
              <a:t>)</a:t>
            </a:r>
            <a:r>
              <a:rPr lang="zh-CN" altLang="en-US">
                <a:latin typeface="Times New Roman" panose="02020603050405020304" pitchFamily="18" charset="0"/>
              </a:rPr>
              <a:t>满足  </a:t>
            </a:r>
          </a:p>
          <a:p>
            <a:pPr eaLnBrk="1" hangingPunct="1">
              <a:spcAft>
                <a:spcPts val="600"/>
              </a:spcAft>
              <a:buFont typeface="Wingdings" pitchFamily="2" charset="2"/>
              <a:buNone/>
            </a:pPr>
            <a:r>
              <a:rPr lang="zh-CN" altLang="en-US">
                <a:latin typeface="Times New Roman" panose="02020603050405020304" pitchFamily="18" charset="0"/>
              </a:rPr>
              <a:t>                                  </a:t>
            </a:r>
            <a:r>
              <a:rPr lang="en-US" altLang="zh-CN" i="1">
                <a:latin typeface="Times New Roman" panose="02020603050405020304" pitchFamily="18" charset="0"/>
              </a:rPr>
              <a:t>y</a:t>
            </a:r>
            <a:r>
              <a:rPr lang="en-US" altLang="zh-CN" baseline="-25000">
                <a:latin typeface="Times New Roman" panose="02020603050405020304" pitchFamily="18" charset="0"/>
              </a:rPr>
              <a:t>i</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baseline="-25000">
                <a:latin typeface="Times New Roman" panose="02020603050405020304" pitchFamily="18" charset="0"/>
              </a:rPr>
              <a:t>k2</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baseline="-25000">
                <a:latin typeface="Times New Roman" panose="02020603050405020304" pitchFamily="18" charset="0"/>
              </a:rPr>
              <a:t>k1</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baseline="-25000">
                <a:latin typeface="Times New Roman" panose="02020603050405020304" pitchFamily="18" charset="0"/>
              </a:rPr>
              <a:t>i</a:t>
            </a:r>
            <a:r>
              <a:rPr lang="en-US" altLang="zh-CN">
                <a:latin typeface="Times New Roman" panose="02020603050405020304" pitchFamily="18" charset="0"/>
              </a:rPr>
              <a:t>]]                          </a:t>
            </a:r>
          </a:p>
          <a:p>
            <a:pPr algn="just" eaLnBrk="1" hangingPunct="1">
              <a:buFont typeface="Wingdings" pitchFamily="2" charset="2"/>
              <a:buNone/>
            </a:pPr>
            <a:r>
              <a:rPr lang="en-US" altLang="zh-CN">
                <a:latin typeface="Times New Roman" panose="02020603050405020304" pitchFamily="18" charset="0"/>
              </a:rPr>
              <a:t>   </a:t>
            </a:r>
            <a:r>
              <a:rPr lang="zh-CN" altLang="en-US">
                <a:latin typeface="Times New Roman" panose="02020603050405020304" pitchFamily="18" charset="0"/>
              </a:rPr>
              <a:t>则可得                   </a:t>
            </a:r>
            <a:r>
              <a:rPr lang="en-US" altLang="zh-CN" i="1">
                <a:latin typeface="Times New Roman" panose="02020603050405020304" pitchFamily="18" charset="0"/>
              </a:rPr>
              <a:t>z</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baseline="-25000">
                <a:latin typeface="Times New Roman" panose="02020603050405020304" pitchFamily="18" charset="0"/>
              </a:rPr>
              <a:t>k1</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baseline="-25000">
                <a:latin typeface="Times New Roman" panose="02020603050405020304" pitchFamily="18" charset="0"/>
              </a:rPr>
              <a:t>i</a:t>
            </a:r>
            <a:r>
              <a:rPr lang="en-US" altLang="zh-CN">
                <a:latin typeface="Times New Roman" panose="02020603050405020304" pitchFamily="18" charset="0"/>
              </a:rPr>
              <a:t>]=</a:t>
            </a:r>
            <a:r>
              <a:rPr lang="en-US" altLang="zh-CN" i="1">
                <a:latin typeface="Times New Roman" panose="02020603050405020304" pitchFamily="18" charset="0"/>
              </a:rPr>
              <a:t>D</a:t>
            </a:r>
            <a:r>
              <a:rPr lang="en-US" altLang="zh-CN" baseline="-25000">
                <a:latin typeface="Times New Roman" panose="02020603050405020304" pitchFamily="18" charset="0"/>
              </a:rPr>
              <a:t>k2</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i</a:t>
            </a:r>
            <a:r>
              <a:rPr lang="en-US" altLang="zh-CN">
                <a:latin typeface="Times New Roman" panose="02020603050405020304" pitchFamily="18" charset="0"/>
              </a:rPr>
              <a:t>]</a:t>
            </a:r>
            <a:endParaRPr lang="zh-CN" altLang="en-US">
              <a:latin typeface="Times New Roman" panose="02020603050405020304" pitchFamily="18" charset="0"/>
            </a:endParaRPr>
          </a:p>
        </p:txBody>
      </p:sp>
      <p:grpSp>
        <p:nvGrpSpPr>
          <p:cNvPr id="216067" name="Group 7">
            <a:extLst>
              <a:ext uri="{FF2B5EF4-FFF2-40B4-BE49-F238E27FC236}">
                <a16:creationId xmlns:a16="http://schemas.microsoft.com/office/drawing/2014/main" id="{F5EFA645-3160-9245-B6A3-61376B5405D5}"/>
              </a:ext>
            </a:extLst>
          </p:cNvPr>
          <p:cNvGrpSpPr>
            <a:grpSpLocks/>
          </p:cNvGrpSpPr>
          <p:nvPr/>
        </p:nvGrpSpPr>
        <p:grpSpPr bwMode="auto">
          <a:xfrm>
            <a:off x="2286000" y="4038600"/>
            <a:ext cx="7191375" cy="1447800"/>
            <a:chOff x="662" y="1392"/>
            <a:chExt cx="4530" cy="912"/>
          </a:xfrm>
        </p:grpSpPr>
        <p:sp>
          <p:nvSpPr>
            <p:cNvPr id="216068" name="Text Box 8">
              <a:extLst>
                <a:ext uri="{FF2B5EF4-FFF2-40B4-BE49-F238E27FC236}">
                  <a16:creationId xmlns:a16="http://schemas.microsoft.com/office/drawing/2014/main" id="{A7FB9FEE-F53C-5F43-9981-050FD2BEC1B7}"/>
                </a:ext>
              </a:extLst>
            </p:cNvPr>
            <p:cNvSpPr txBox="1">
              <a:spLocks noChangeArrowheads="1"/>
            </p:cNvSpPr>
            <p:nvPr/>
          </p:nvSpPr>
          <p:spPr bwMode="auto">
            <a:xfrm>
              <a:off x="3792" y="1824"/>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z</a:t>
              </a:r>
              <a:endParaRPr lang="en-US" altLang="zh-CN" sz="2400" baseline="-25000">
                <a:latin typeface="Times New Roman" panose="02020603050405020304" pitchFamily="18" charset="0"/>
              </a:endParaRPr>
            </a:p>
          </p:txBody>
        </p:sp>
        <p:grpSp>
          <p:nvGrpSpPr>
            <p:cNvPr id="216069" name="Group 9">
              <a:extLst>
                <a:ext uri="{FF2B5EF4-FFF2-40B4-BE49-F238E27FC236}">
                  <a16:creationId xmlns:a16="http://schemas.microsoft.com/office/drawing/2014/main" id="{708A4A9E-6F94-0D4B-B24E-ADC27E432449}"/>
                </a:ext>
              </a:extLst>
            </p:cNvPr>
            <p:cNvGrpSpPr>
              <a:grpSpLocks/>
            </p:cNvGrpSpPr>
            <p:nvPr/>
          </p:nvGrpSpPr>
          <p:grpSpPr bwMode="auto">
            <a:xfrm>
              <a:off x="662" y="1392"/>
              <a:ext cx="4530" cy="912"/>
              <a:chOff x="662" y="1392"/>
              <a:chExt cx="4530" cy="912"/>
            </a:xfrm>
          </p:grpSpPr>
          <p:grpSp>
            <p:nvGrpSpPr>
              <p:cNvPr id="216070" name="Group 10">
                <a:extLst>
                  <a:ext uri="{FF2B5EF4-FFF2-40B4-BE49-F238E27FC236}">
                    <a16:creationId xmlns:a16="http://schemas.microsoft.com/office/drawing/2014/main" id="{12602DFB-710F-604C-988C-228483F7E219}"/>
                  </a:ext>
                </a:extLst>
              </p:cNvPr>
              <p:cNvGrpSpPr>
                <a:grpSpLocks/>
              </p:cNvGrpSpPr>
              <p:nvPr/>
            </p:nvGrpSpPr>
            <p:grpSpPr bwMode="auto">
              <a:xfrm>
                <a:off x="662" y="1680"/>
                <a:ext cx="4530" cy="624"/>
                <a:chOff x="662" y="1488"/>
                <a:chExt cx="4530" cy="624"/>
              </a:xfrm>
            </p:grpSpPr>
            <p:grpSp>
              <p:nvGrpSpPr>
                <p:cNvPr id="216071" name="Group 11">
                  <a:extLst>
                    <a:ext uri="{FF2B5EF4-FFF2-40B4-BE49-F238E27FC236}">
                      <a16:creationId xmlns:a16="http://schemas.microsoft.com/office/drawing/2014/main" id="{ADDEEE1D-56A4-564D-A448-83E40D3FAB14}"/>
                    </a:ext>
                  </a:extLst>
                </p:cNvPr>
                <p:cNvGrpSpPr>
                  <a:grpSpLocks/>
                </p:cNvGrpSpPr>
                <p:nvPr/>
              </p:nvGrpSpPr>
              <p:grpSpPr bwMode="auto">
                <a:xfrm>
                  <a:off x="864" y="1488"/>
                  <a:ext cx="720" cy="624"/>
                  <a:chOff x="864" y="1488"/>
                  <a:chExt cx="720" cy="624"/>
                </a:xfrm>
              </p:grpSpPr>
              <p:grpSp>
                <p:nvGrpSpPr>
                  <p:cNvPr id="216072" name="Group 12">
                    <a:extLst>
                      <a:ext uri="{FF2B5EF4-FFF2-40B4-BE49-F238E27FC236}">
                        <a16:creationId xmlns:a16="http://schemas.microsoft.com/office/drawing/2014/main" id="{B58EE2FA-EF89-1146-81EF-00096A0FC99D}"/>
                      </a:ext>
                    </a:extLst>
                  </p:cNvPr>
                  <p:cNvGrpSpPr>
                    <a:grpSpLocks/>
                  </p:cNvGrpSpPr>
                  <p:nvPr/>
                </p:nvGrpSpPr>
                <p:grpSpPr bwMode="auto">
                  <a:xfrm>
                    <a:off x="864" y="1488"/>
                    <a:ext cx="720" cy="624"/>
                    <a:chOff x="864" y="1488"/>
                    <a:chExt cx="720" cy="624"/>
                  </a:xfrm>
                </p:grpSpPr>
                <p:sp>
                  <p:nvSpPr>
                    <p:cNvPr id="216073" name="Rectangle 13">
                      <a:extLst>
                        <a:ext uri="{FF2B5EF4-FFF2-40B4-BE49-F238E27FC236}">
                          <a16:creationId xmlns:a16="http://schemas.microsoft.com/office/drawing/2014/main" id="{D2C5CE63-6768-6541-AB63-E789AE25175A}"/>
                        </a:ext>
                      </a:extLst>
                    </p:cNvPr>
                    <p:cNvSpPr>
                      <a:spLocks noChangeArrowheads="1"/>
                    </p:cNvSpPr>
                    <p:nvPr/>
                  </p:nvSpPr>
                  <p:spPr bwMode="auto">
                    <a:xfrm>
                      <a:off x="1296" y="1776"/>
                      <a:ext cx="288" cy="336"/>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216074" name="Line 14">
                      <a:extLst>
                        <a:ext uri="{FF2B5EF4-FFF2-40B4-BE49-F238E27FC236}">
                          <a16:creationId xmlns:a16="http://schemas.microsoft.com/office/drawing/2014/main" id="{B5F9AD99-1F23-4146-A1AF-E33597612986}"/>
                        </a:ext>
                      </a:extLst>
                    </p:cNvPr>
                    <p:cNvSpPr>
                      <a:spLocks noChangeShapeType="1"/>
                    </p:cNvSpPr>
                    <p:nvPr/>
                  </p:nvSpPr>
                  <p:spPr bwMode="auto">
                    <a:xfrm>
                      <a:off x="1440" y="1488"/>
                      <a:ext cx="0" cy="288"/>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6075" name="Line 15">
                      <a:extLst>
                        <a:ext uri="{FF2B5EF4-FFF2-40B4-BE49-F238E27FC236}">
                          <a16:creationId xmlns:a16="http://schemas.microsoft.com/office/drawing/2014/main" id="{AFF4D22B-A71D-794B-88A1-9B91725D9048}"/>
                        </a:ext>
                      </a:extLst>
                    </p:cNvPr>
                    <p:cNvSpPr>
                      <a:spLocks noChangeShapeType="1"/>
                    </p:cNvSpPr>
                    <p:nvPr/>
                  </p:nvSpPr>
                  <p:spPr bwMode="auto">
                    <a:xfrm>
                      <a:off x="864" y="1946"/>
                      <a:ext cx="432"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16076" name="Text Box 16">
                    <a:extLst>
                      <a:ext uri="{FF2B5EF4-FFF2-40B4-BE49-F238E27FC236}">
                        <a16:creationId xmlns:a16="http://schemas.microsoft.com/office/drawing/2014/main" id="{B9E711DF-C611-2E4D-B368-8DDAAA789A9B}"/>
                      </a:ext>
                    </a:extLst>
                  </p:cNvPr>
                  <p:cNvSpPr txBox="1">
                    <a:spLocks noChangeArrowheads="1"/>
                  </p:cNvSpPr>
                  <p:nvPr/>
                </p:nvSpPr>
                <p:spPr bwMode="auto">
                  <a:xfrm>
                    <a:off x="1296" y="177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E</a:t>
                    </a:r>
                    <a:endParaRPr lang="en-US" altLang="zh-CN" sz="2400">
                      <a:latin typeface="Times New Roman" panose="02020603050405020304" pitchFamily="18" charset="0"/>
                    </a:endParaRPr>
                  </a:p>
                </p:txBody>
              </p:sp>
            </p:grpSp>
            <p:grpSp>
              <p:nvGrpSpPr>
                <p:cNvPr id="216077" name="Group 17">
                  <a:extLst>
                    <a:ext uri="{FF2B5EF4-FFF2-40B4-BE49-F238E27FC236}">
                      <a16:creationId xmlns:a16="http://schemas.microsoft.com/office/drawing/2014/main" id="{98B954FD-B5A0-534A-BA1C-2696151B69E1}"/>
                    </a:ext>
                  </a:extLst>
                </p:cNvPr>
                <p:cNvGrpSpPr>
                  <a:grpSpLocks/>
                </p:cNvGrpSpPr>
                <p:nvPr/>
              </p:nvGrpSpPr>
              <p:grpSpPr bwMode="auto">
                <a:xfrm>
                  <a:off x="1584" y="1488"/>
                  <a:ext cx="720" cy="624"/>
                  <a:chOff x="864" y="1488"/>
                  <a:chExt cx="720" cy="624"/>
                </a:xfrm>
              </p:grpSpPr>
              <p:grpSp>
                <p:nvGrpSpPr>
                  <p:cNvPr id="216078" name="Group 18">
                    <a:extLst>
                      <a:ext uri="{FF2B5EF4-FFF2-40B4-BE49-F238E27FC236}">
                        <a16:creationId xmlns:a16="http://schemas.microsoft.com/office/drawing/2014/main" id="{3A5BC3F8-FE00-E542-9AEC-0215A9A79C83}"/>
                      </a:ext>
                    </a:extLst>
                  </p:cNvPr>
                  <p:cNvGrpSpPr>
                    <a:grpSpLocks/>
                  </p:cNvGrpSpPr>
                  <p:nvPr/>
                </p:nvGrpSpPr>
                <p:grpSpPr bwMode="auto">
                  <a:xfrm>
                    <a:off x="864" y="1488"/>
                    <a:ext cx="720" cy="624"/>
                    <a:chOff x="864" y="1488"/>
                    <a:chExt cx="720" cy="624"/>
                  </a:xfrm>
                </p:grpSpPr>
                <p:sp>
                  <p:nvSpPr>
                    <p:cNvPr id="216079" name="Rectangle 19">
                      <a:extLst>
                        <a:ext uri="{FF2B5EF4-FFF2-40B4-BE49-F238E27FC236}">
                          <a16:creationId xmlns:a16="http://schemas.microsoft.com/office/drawing/2014/main" id="{8EF87EE1-7208-D041-A36C-4F62F2D4C74D}"/>
                        </a:ext>
                      </a:extLst>
                    </p:cNvPr>
                    <p:cNvSpPr>
                      <a:spLocks noChangeArrowheads="1"/>
                    </p:cNvSpPr>
                    <p:nvPr/>
                  </p:nvSpPr>
                  <p:spPr bwMode="auto">
                    <a:xfrm>
                      <a:off x="1296" y="1776"/>
                      <a:ext cx="288" cy="336"/>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216080" name="Line 20">
                      <a:extLst>
                        <a:ext uri="{FF2B5EF4-FFF2-40B4-BE49-F238E27FC236}">
                          <a16:creationId xmlns:a16="http://schemas.microsoft.com/office/drawing/2014/main" id="{46B99ACF-898A-7E49-8367-C54FDF5A7702}"/>
                        </a:ext>
                      </a:extLst>
                    </p:cNvPr>
                    <p:cNvSpPr>
                      <a:spLocks noChangeShapeType="1"/>
                    </p:cNvSpPr>
                    <p:nvPr/>
                  </p:nvSpPr>
                  <p:spPr bwMode="auto">
                    <a:xfrm>
                      <a:off x="1440" y="1488"/>
                      <a:ext cx="0" cy="288"/>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6081" name="Line 21">
                      <a:extLst>
                        <a:ext uri="{FF2B5EF4-FFF2-40B4-BE49-F238E27FC236}">
                          <a16:creationId xmlns:a16="http://schemas.microsoft.com/office/drawing/2014/main" id="{0E675F85-53CE-4A41-BF9E-A78257184141}"/>
                        </a:ext>
                      </a:extLst>
                    </p:cNvPr>
                    <p:cNvSpPr>
                      <a:spLocks noChangeShapeType="1"/>
                    </p:cNvSpPr>
                    <p:nvPr/>
                  </p:nvSpPr>
                  <p:spPr bwMode="auto">
                    <a:xfrm>
                      <a:off x="864" y="1946"/>
                      <a:ext cx="432"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16082" name="Text Box 22">
                    <a:extLst>
                      <a:ext uri="{FF2B5EF4-FFF2-40B4-BE49-F238E27FC236}">
                        <a16:creationId xmlns:a16="http://schemas.microsoft.com/office/drawing/2014/main" id="{C73327D7-012A-0949-A426-E396A7115778}"/>
                      </a:ext>
                    </a:extLst>
                  </p:cNvPr>
                  <p:cNvSpPr txBox="1">
                    <a:spLocks noChangeArrowheads="1"/>
                  </p:cNvSpPr>
                  <p:nvPr/>
                </p:nvSpPr>
                <p:spPr bwMode="auto">
                  <a:xfrm>
                    <a:off x="1296" y="177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E</a:t>
                    </a:r>
                    <a:endParaRPr lang="en-US" altLang="zh-CN" sz="2400">
                      <a:latin typeface="Times New Roman" panose="02020603050405020304" pitchFamily="18" charset="0"/>
                    </a:endParaRPr>
                  </a:p>
                </p:txBody>
              </p:sp>
            </p:grpSp>
            <p:grpSp>
              <p:nvGrpSpPr>
                <p:cNvPr id="216083" name="Group 23">
                  <a:extLst>
                    <a:ext uri="{FF2B5EF4-FFF2-40B4-BE49-F238E27FC236}">
                      <a16:creationId xmlns:a16="http://schemas.microsoft.com/office/drawing/2014/main" id="{4546586E-E911-FE47-B8FE-E6644F08F729}"/>
                    </a:ext>
                  </a:extLst>
                </p:cNvPr>
                <p:cNvGrpSpPr>
                  <a:grpSpLocks/>
                </p:cNvGrpSpPr>
                <p:nvPr/>
              </p:nvGrpSpPr>
              <p:grpSpPr bwMode="auto">
                <a:xfrm>
                  <a:off x="2976" y="1488"/>
                  <a:ext cx="720" cy="624"/>
                  <a:chOff x="864" y="1488"/>
                  <a:chExt cx="720" cy="624"/>
                </a:xfrm>
              </p:grpSpPr>
              <p:grpSp>
                <p:nvGrpSpPr>
                  <p:cNvPr id="216084" name="Group 24">
                    <a:extLst>
                      <a:ext uri="{FF2B5EF4-FFF2-40B4-BE49-F238E27FC236}">
                        <a16:creationId xmlns:a16="http://schemas.microsoft.com/office/drawing/2014/main" id="{BE285175-57F9-EB44-93A7-3530BD5DBE3A}"/>
                      </a:ext>
                    </a:extLst>
                  </p:cNvPr>
                  <p:cNvGrpSpPr>
                    <a:grpSpLocks/>
                  </p:cNvGrpSpPr>
                  <p:nvPr/>
                </p:nvGrpSpPr>
                <p:grpSpPr bwMode="auto">
                  <a:xfrm>
                    <a:off x="864" y="1488"/>
                    <a:ext cx="720" cy="624"/>
                    <a:chOff x="864" y="1488"/>
                    <a:chExt cx="720" cy="624"/>
                  </a:xfrm>
                </p:grpSpPr>
                <p:sp>
                  <p:nvSpPr>
                    <p:cNvPr id="216085" name="Rectangle 25">
                      <a:extLst>
                        <a:ext uri="{FF2B5EF4-FFF2-40B4-BE49-F238E27FC236}">
                          <a16:creationId xmlns:a16="http://schemas.microsoft.com/office/drawing/2014/main" id="{A485BD62-CBA6-324A-9B26-596192667F9E}"/>
                        </a:ext>
                      </a:extLst>
                    </p:cNvPr>
                    <p:cNvSpPr>
                      <a:spLocks noChangeArrowheads="1"/>
                    </p:cNvSpPr>
                    <p:nvPr/>
                  </p:nvSpPr>
                  <p:spPr bwMode="auto">
                    <a:xfrm>
                      <a:off x="1296" y="1776"/>
                      <a:ext cx="288" cy="336"/>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216086" name="Line 26">
                      <a:extLst>
                        <a:ext uri="{FF2B5EF4-FFF2-40B4-BE49-F238E27FC236}">
                          <a16:creationId xmlns:a16="http://schemas.microsoft.com/office/drawing/2014/main" id="{1C12F086-F1E2-B64B-A6B7-3D2D29AFC0AC}"/>
                        </a:ext>
                      </a:extLst>
                    </p:cNvPr>
                    <p:cNvSpPr>
                      <a:spLocks noChangeShapeType="1"/>
                    </p:cNvSpPr>
                    <p:nvPr/>
                  </p:nvSpPr>
                  <p:spPr bwMode="auto">
                    <a:xfrm>
                      <a:off x="1440" y="1488"/>
                      <a:ext cx="0" cy="288"/>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6087" name="Line 27">
                      <a:extLst>
                        <a:ext uri="{FF2B5EF4-FFF2-40B4-BE49-F238E27FC236}">
                          <a16:creationId xmlns:a16="http://schemas.microsoft.com/office/drawing/2014/main" id="{B04C5C3E-EC03-3C4B-8755-AD26DE272D40}"/>
                        </a:ext>
                      </a:extLst>
                    </p:cNvPr>
                    <p:cNvSpPr>
                      <a:spLocks noChangeShapeType="1"/>
                    </p:cNvSpPr>
                    <p:nvPr/>
                  </p:nvSpPr>
                  <p:spPr bwMode="auto">
                    <a:xfrm>
                      <a:off x="864" y="1946"/>
                      <a:ext cx="432"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16088" name="Text Box 28">
                    <a:extLst>
                      <a:ext uri="{FF2B5EF4-FFF2-40B4-BE49-F238E27FC236}">
                        <a16:creationId xmlns:a16="http://schemas.microsoft.com/office/drawing/2014/main" id="{316717E3-9E4E-B54C-8655-A7BA7205DB5B}"/>
                      </a:ext>
                    </a:extLst>
                  </p:cNvPr>
                  <p:cNvSpPr txBox="1">
                    <a:spLocks noChangeArrowheads="1"/>
                  </p:cNvSpPr>
                  <p:nvPr/>
                </p:nvSpPr>
                <p:spPr bwMode="auto">
                  <a:xfrm>
                    <a:off x="1296" y="177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D</a:t>
                    </a:r>
                    <a:endParaRPr lang="en-US" altLang="zh-CN" sz="2400">
                      <a:latin typeface="Times New Roman" panose="02020603050405020304" pitchFamily="18" charset="0"/>
                    </a:endParaRPr>
                  </a:p>
                </p:txBody>
              </p:sp>
            </p:grpSp>
            <p:grpSp>
              <p:nvGrpSpPr>
                <p:cNvPr id="216089" name="Group 29">
                  <a:extLst>
                    <a:ext uri="{FF2B5EF4-FFF2-40B4-BE49-F238E27FC236}">
                      <a16:creationId xmlns:a16="http://schemas.microsoft.com/office/drawing/2014/main" id="{991733F7-700F-9748-82F5-C714ED21CE89}"/>
                    </a:ext>
                  </a:extLst>
                </p:cNvPr>
                <p:cNvGrpSpPr>
                  <a:grpSpLocks/>
                </p:cNvGrpSpPr>
                <p:nvPr/>
              </p:nvGrpSpPr>
              <p:grpSpPr bwMode="auto">
                <a:xfrm>
                  <a:off x="3696" y="1488"/>
                  <a:ext cx="720" cy="624"/>
                  <a:chOff x="864" y="1488"/>
                  <a:chExt cx="720" cy="624"/>
                </a:xfrm>
              </p:grpSpPr>
              <p:grpSp>
                <p:nvGrpSpPr>
                  <p:cNvPr id="216090" name="Group 30">
                    <a:extLst>
                      <a:ext uri="{FF2B5EF4-FFF2-40B4-BE49-F238E27FC236}">
                        <a16:creationId xmlns:a16="http://schemas.microsoft.com/office/drawing/2014/main" id="{80C1B42E-BB21-684D-8381-0399ED693CB9}"/>
                      </a:ext>
                    </a:extLst>
                  </p:cNvPr>
                  <p:cNvGrpSpPr>
                    <a:grpSpLocks/>
                  </p:cNvGrpSpPr>
                  <p:nvPr/>
                </p:nvGrpSpPr>
                <p:grpSpPr bwMode="auto">
                  <a:xfrm>
                    <a:off x="864" y="1488"/>
                    <a:ext cx="720" cy="624"/>
                    <a:chOff x="864" y="1488"/>
                    <a:chExt cx="720" cy="624"/>
                  </a:xfrm>
                </p:grpSpPr>
                <p:sp>
                  <p:nvSpPr>
                    <p:cNvPr id="216091" name="Rectangle 31">
                      <a:extLst>
                        <a:ext uri="{FF2B5EF4-FFF2-40B4-BE49-F238E27FC236}">
                          <a16:creationId xmlns:a16="http://schemas.microsoft.com/office/drawing/2014/main" id="{0CE639C1-F16C-474A-82AF-3275AD5C4C55}"/>
                        </a:ext>
                      </a:extLst>
                    </p:cNvPr>
                    <p:cNvSpPr>
                      <a:spLocks noChangeArrowheads="1"/>
                    </p:cNvSpPr>
                    <p:nvPr/>
                  </p:nvSpPr>
                  <p:spPr bwMode="auto">
                    <a:xfrm>
                      <a:off x="1296" y="1776"/>
                      <a:ext cx="288" cy="336"/>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ahoma" panose="020B0604030504040204" pitchFamily="34" charset="0"/>
                      </a:endParaRPr>
                    </a:p>
                  </p:txBody>
                </p:sp>
                <p:sp>
                  <p:nvSpPr>
                    <p:cNvPr id="216092" name="Line 32">
                      <a:extLst>
                        <a:ext uri="{FF2B5EF4-FFF2-40B4-BE49-F238E27FC236}">
                          <a16:creationId xmlns:a16="http://schemas.microsoft.com/office/drawing/2014/main" id="{0708EB79-C768-304A-9407-EE56AD7D86FD}"/>
                        </a:ext>
                      </a:extLst>
                    </p:cNvPr>
                    <p:cNvSpPr>
                      <a:spLocks noChangeShapeType="1"/>
                    </p:cNvSpPr>
                    <p:nvPr/>
                  </p:nvSpPr>
                  <p:spPr bwMode="auto">
                    <a:xfrm>
                      <a:off x="1440" y="1488"/>
                      <a:ext cx="0" cy="288"/>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6093" name="Line 33">
                      <a:extLst>
                        <a:ext uri="{FF2B5EF4-FFF2-40B4-BE49-F238E27FC236}">
                          <a16:creationId xmlns:a16="http://schemas.microsoft.com/office/drawing/2014/main" id="{388997D4-3C52-AF4D-8855-33B8AF68B4FF}"/>
                        </a:ext>
                      </a:extLst>
                    </p:cNvPr>
                    <p:cNvSpPr>
                      <a:spLocks noChangeShapeType="1"/>
                    </p:cNvSpPr>
                    <p:nvPr/>
                  </p:nvSpPr>
                  <p:spPr bwMode="auto">
                    <a:xfrm>
                      <a:off x="864" y="1946"/>
                      <a:ext cx="432"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16094" name="Text Box 34">
                    <a:extLst>
                      <a:ext uri="{FF2B5EF4-FFF2-40B4-BE49-F238E27FC236}">
                        <a16:creationId xmlns:a16="http://schemas.microsoft.com/office/drawing/2014/main" id="{D115F510-892F-A946-8009-03725643C9A6}"/>
                      </a:ext>
                    </a:extLst>
                  </p:cNvPr>
                  <p:cNvSpPr txBox="1">
                    <a:spLocks noChangeArrowheads="1"/>
                  </p:cNvSpPr>
                  <p:nvPr/>
                </p:nvSpPr>
                <p:spPr bwMode="auto">
                  <a:xfrm>
                    <a:off x="1296" y="177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D</a:t>
                    </a:r>
                    <a:endParaRPr lang="en-US" altLang="zh-CN" sz="2400">
                      <a:latin typeface="Times New Roman" panose="02020603050405020304" pitchFamily="18" charset="0"/>
                    </a:endParaRPr>
                  </a:p>
                </p:txBody>
              </p:sp>
            </p:grpSp>
            <p:sp>
              <p:nvSpPr>
                <p:cNvPr id="216095" name="Text Box 35">
                  <a:extLst>
                    <a:ext uri="{FF2B5EF4-FFF2-40B4-BE49-F238E27FC236}">
                      <a16:creationId xmlns:a16="http://schemas.microsoft.com/office/drawing/2014/main" id="{C9A8E89C-A61C-D94A-B951-D14797F0177C}"/>
                    </a:ext>
                  </a:extLst>
                </p:cNvPr>
                <p:cNvSpPr txBox="1">
                  <a:spLocks noChangeArrowheads="1"/>
                </p:cNvSpPr>
                <p:nvPr/>
              </p:nvSpPr>
              <p:spPr bwMode="auto">
                <a:xfrm>
                  <a:off x="662" y="1754"/>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x</a:t>
                  </a:r>
                  <a:r>
                    <a:rPr lang="en-US" altLang="zh-CN" sz="2400" baseline="-25000">
                      <a:latin typeface="Times New Roman" panose="02020603050405020304" pitchFamily="18" charset="0"/>
                    </a:rPr>
                    <a:t>i</a:t>
                  </a:r>
                  <a:endParaRPr lang="en-US" altLang="zh-CN" baseline="-25000">
                    <a:latin typeface="Times New Roman" panose="02020603050405020304" pitchFamily="18" charset="0"/>
                  </a:endParaRPr>
                </a:p>
              </p:txBody>
            </p:sp>
            <p:sp>
              <p:nvSpPr>
                <p:cNvPr id="216096" name="Text Box 36">
                  <a:extLst>
                    <a:ext uri="{FF2B5EF4-FFF2-40B4-BE49-F238E27FC236}">
                      <a16:creationId xmlns:a16="http://schemas.microsoft.com/office/drawing/2014/main" id="{AE69EBFD-B365-F847-BF26-FF8CC7618304}"/>
                    </a:ext>
                  </a:extLst>
                </p:cNvPr>
                <p:cNvSpPr txBox="1">
                  <a:spLocks noChangeArrowheads="1"/>
                </p:cNvSpPr>
                <p:nvPr/>
              </p:nvSpPr>
              <p:spPr bwMode="auto">
                <a:xfrm>
                  <a:off x="2448" y="1634"/>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y</a:t>
                  </a:r>
                  <a:r>
                    <a:rPr lang="en-US" altLang="zh-CN" sz="2400" baseline="-25000">
                      <a:latin typeface="Times New Roman" panose="02020603050405020304" pitchFamily="18" charset="0"/>
                    </a:rPr>
                    <a:t>i</a:t>
                  </a:r>
                </a:p>
              </p:txBody>
            </p:sp>
            <p:sp>
              <p:nvSpPr>
                <p:cNvPr id="216097" name="Text Box 37">
                  <a:extLst>
                    <a:ext uri="{FF2B5EF4-FFF2-40B4-BE49-F238E27FC236}">
                      <a16:creationId xmlns:a16="http://schemas.microsoft.com/office/drawing/2014/main" id="{45E647A2-F5DE-D340-819A-00E706228E05}"/>
                    </a:ext>
                  </a:extLst>
                </p:cNvPr>
                <p:cNvSpPr txBox="1">
                  <a:spLocks noChangeArrowheads="1"/>
                </p:cNvSpPr>
                <p:nvPr/>
              </p:nvSpPr>
              <p:spPr bwMode="auto">
                <a:xfrm>
                  <a:off x="4944" y="1776"/>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x</a:t>
                  </a:r>
                  <a:r>
                    <a:rPr lang="en-US" altLang="zh-CN" sz="2400" baseline="-25000">
                      <a:latin typeface="Times New Roman" panose="02020603050405020304" pitchFamily="18" charset="0"/>
                    </a:rPr>
                    <a:t>i</a:t>
                  </a:r>
                </a:p>
              </p:txBody>
            </p:sp>
            <p:sp>
              <p:nvSpPr>
                <p:cNvPr id="216098" name="Text Box 38">
                  <a:extLst>
                    <a:ext uri="{FF2B5EF4-FFF2-40B4-BE49-F238E27FC236}">
                      <a16:creationId xmlns:a16="http://schemas.microsoft.com/office/drawing/2014/main" id="{304C7E00-18D9-0A4D-A3E0-BD597D7D6256}"/>
                    </a:ext>
                  </a:extLst>
                </p:cNvPr>
                <p:cNvSpPr txBox="1">
                  <a:spLocks noChangeArrowheads="1"/>
                </p:cNvSpPr>
                <p:nvPr/>
              </p:nvSpPr>
              <p:spPr bwMode="auto">
                <a:xfrm>
                  <a:off x="1680" y="1634"/>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z</a:t>
                  </a:r>
                  <a:endParaRPr lang="en-US" altLang="zh-CN" baseline="-25000">
                    <a:latin typeface="Times New Roman" panose="02020603050405020304" pitchFamily="18" charset="0"/>
                  </a:endParaRPr>
                </a:p>
              </p:txBody>
            </p:sp>
            <p:sp>
              <p:nvSpPr>
                <p:cNvPr id="216099" name="Text Box 39">
                  <a:extLst>
                    <a:ext uri="{FF2B5EF4-FFF2-40B4-BE49-F238E27FC236}">
                      <a16:creationId xmlns:a16="http://schemas.microsoft.com/office/drawing/2014/main" id="{D1A114DF-A83E-FB43-85B7-9F76D67A0B6B}"/>
                    </a:ext>
                  </a:extLst>
                </p:cNvPr>
                <p:cNvSpPr txBox="1">
                  <a:spLocks noChangeArrowheads="1"/>
                </p:cNvSpPr>
                <p:nvPr/>
              </p:nvSpPr>
              <p:spPr bwMode="auto">
                <a:xfrm>
                  <a:off x="3024" y="1632"/>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y</a:t>
                  </a:r>
                  <a:r>
                    <a:rPr lang="en-US" altLang="zh-CN" sz="2400" baseline="-25000">
                      <a:latin typeface="Times New Roman" panose="02020603050405020304" pitchFamily="18" charset="0"/>
                    </a:rPr>
                    <a:t>i</a:t>
                  </a:r>
                </a:p>
              </p:txBody>
            </p:sp>
            <p:sp>
              <p:nvSpPr>
                <p:cNvPr id="216100" name="Line 40">
                  <a:extLst>
                    <a:ext uri="{FF2B5EF4-FFF2-40B4-BE49-F238E27FC236}">
                      <a16:creationId xmlns:a16="http://schemas.microsoft.com/office/drawing/2014/main" id="{85FA34D0-F8DB-3E4C-A34B-6ED41B1C7F58}"/>
                    </a:ext>
                  </a:extLst>
                </p:cNvPr>
                <p:cNvSpPr>
                  <a:spLocks noChangeShapeType="1"/>
                </p:cNvSpPr>
                <p:nvPr/>
              </p:nvSpPr>
              <p:spPr bwMode="auto">
                <a:xfrm>
                  <a:off x="2304" y="1931"/>
                  <a:ext cx="384"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16101" name="Line 41">
                  <a:extLst>
                    <a:ext uri="{FF2B5EF4-FFF2-40B4-BE49-F238E27FC236}">
                      <a16:creationId xmlns:a16="http://schemas.microsoft.com/office/drawing/2014/main" id="{A728956F-54BA-C348-9B57-D3A3814982A2}"/>
                    </a:ext>
                  </a:extLst>
                </p:cNvPr>
                <p:cNvSpPr>
                  <a:spLocks noChangeShapeType="1"/>
                </p:cNvSpPr>
                <p:nvPr/>
              </p:nvSpPr>
              <p:spPr bwMode="auto">
                <a:xfrm>
                  <a:off x="4416" y="1931"/>
                  <a:ext cx="384"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16102" name="Text Box 42">
                <a:extLst>
                  <a:ext uri="{FF2B5EF4-FFF2-40B4-BE49-F238E27FC236}">
                    <a16:creationId xmlns:a16="http://schemas.microsoft.com/office/drawing/2014/main" id="{45C71206-5287-6A40-96A1-B0E5A7A4F43F}"/>
                  </a:ext>
                </a:extLst>
              </p:cNvPr>
              <p:cNvSpPr txBox="1">
                <a:spLocks noChangeArrowheads="1"/>
              </p:cNvSpPr>
              <p:nvPr/>
            </p:nvSpPr>
            <p:spPr bwMode="auto">
              <a:xfrm>
                <a:off x="1334" y="1418"/>
                <a:ext cx="3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latin typeface="Times New Roman" panose="02020603050405020304" pitchFamily="18" charset="0"/>
                  </a:rPr>
                  <a:t> </a:t>
                </a:r>
                <a:r>
                  <a:rPr lang="en-US" altLang="zh-CN" sz="2400" b="1" i="1">
                    <a:latin typeface="Times New Roman" panose="02020603050405020304" pitchFamily="18" charset="0"/>
                  </a:rPr>
                  <a:t>k</a:t>
                </a:r>
                <a:r>
                  <a:rPr lang="en-US" altLang="zh-CN" sz="2400" baseline="-25000">
                    <a:latin typeface="Times New Roman" panose="02020603050405020304" pitchFamily="18" charset="0"/>
                  </a:rPr>
                  <a:t>1</a:t>
                </a:r>
              </a:p>
            </p:txBody>
          </p:sp>
          <p:sp>
            <p:nvSpPr>
              <p:cNvPr id="216103" name="Text Box 43">
                <a:extLst>
                  <a:ext uri="{FF2B5EF4-FFF2-40B4-BE49-F238E27FC236}">
                    <a16:creationId xmlns:a16="http://schemas.microsoft.com/office/drawing/2014/main" id="{359056D0-3291-EE45-8A43-729A8CEEE955}"/>
                  </a:ext>
                </a:extLst>
              </p:cNvPr>
              <p:cNvSpPr txBox="1">
                <a:spLocks noChangeArrowheads="1"/>
              </p:cNvSpPr>
              <p:nvPr/>
            </p:nvSpPr>
            <p:spPr bwMode="auto">
              <a:xfrm>
                <a:off x="4080" y="1392"/>
                <a:ext cx="3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latin typeface="Times New Roman" panose="02020603050405020304" pitchFamily="18" charset="0"/>
                  </a:rPr>
                  <a:t> </a:t>
                </a:r>
                <a:r>
                  <a:rPr lang="en-US" altLang="zh-CN" sz="2400" b="1" i="1">
                    <a:latin typeface="Times New Roman" panose="02020603050405020304" pitchFamily="18" charset="0"/>
                  </a:rPr>
                  <a:t>k</a:t>
                </a:r>
                <a:r>
                  <a:rPr lang="en-US" altLang="zh-CN" sz="2400" baseline="-25000">
                    <a:latin typeface="Times New Roman" panose="02020603050405020304" pitchFamily="18" charset="0"/>
                  </a:rPr>
                  <a:t>1</a:t>
                </a:r>
              </a:p>
            </p:txBody>
          </p:sp>
          <p:sp>
            <p:nvSpPr>
              <p:cNvPr id="216104" name="Text Box 44">
                <a:extLst>
                  <a:ext uri="{FF2B5EF4-FFF2-40B4-BE49-F238E27FC236}">
                    <a16:creationId xmlns:a16="http://schemas.microsoft.com/office/drawing/2014/main" id="{03C8C178-3248-4A4B-8E39-036ACE372A5A}"/>
                  </a:ext>
                </a:extLst>
              </p:cNvPr>
              <p:cNvSpPr txBox="1">
                <a:spLocks noChangeArrowheads="1"/>
              </p:cNvSpPr>
              <p:nvPr/>
            </p:nvSpPr>
            <p:spPr bwMode="auto">
              <a:xfrm>
                <a:off x="3408" y="1392"/>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k</a:t>
                </a:r>
                <a:r>
                  <a:rPr lang="en-US" altLang="zh-CN" sz="2400" baseline="-25000">
                    <a:latin typeface="Times New Roman" panose="02020603050405020304" pitchFamily="18" charset="0"/>
                  </a:rPr>
                  <a:t>2</a:t>
                </a:r>
              </a:p>
            </p:txBody>
          </p:sp>
          <p:sp>
            <p:nvSpPr>
              <p:cNvPr id="216105" name="Text Box 45">
                <a:extLst>
                  <a:ext uri="{FF2B5EF4-FFF2-40B4-BE49-F238E27FC236}">
                    <a16:creationId xmlns:a16="http://schemas.microsoft.com/office/drawing/2014/main" id="{CFA80EDF-A518-8B43-9B7B-76401054614F}"/>
                  </a:ext>
                </a:extLst>
              </p:cNvPr>
              <p:cNvSpPr txBox="1">
                <a:spLocks noChangeArrowheads="1"/>
              </p:cNvSpPr>
              <p:nvPr/>
            </p:nvSpPr>
            <p:spPr bwMode="auto">
              <a:xfrm>
                <a:off x="2016" y="1392"/>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k</a:t>
                </a:r>
                <a:r>
                  <a:rPr lang="en-US" altLang="zh-CN" sz="2400" baseline="-25000">
                    <a:latin typeface="Times New Roman" panose="02020603050405020304" pitchFamily="18" charset="0"/>
                  </a:rPr>
                  <a:t>2</a:t>
                </a:r>
              </a:p>
            </p:txBody>
          </p:sp>
        </p:grpSp>
      </p:gr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标题 1">
            <a:extLst>
              <a:ext uri="{FF2B5EF4-FFF2-40B4-BE49-F238E27FC236}">
                <a16:creationId xmlns:a16="http://schemas.microsoft.com/office/drawing/2014/main" id="{27B8641B-49EE-7048-8087-E98B5CEC837E}"/>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中间相遇攻击的步骤</a:t>
            </a:r>
          </a:p>
        </p:txBody>
      </p:sp>
      <p:sp>
        <p:nvSpPr>
          <p:cNvPr id="218114" name="内容占位符 2">
            <a:extLst>
              <a:ext uri="{FF2B5EF4-FFF2-40B4-BE49-F238E27FC236}">
                <a16:creationId xmlns:a16="http://schemas.microsoft.com/office/drawing/2014/main" id="{91BE83C2-BB5F-2740-8459-80E6A1F43A7F}"/>
              </a:ext>
            </a:extLst>
          </p:cNvPr>
          <p:cNvSpPr>
            <a:spLocks noGrp="1" noChangeArrowheads="1"/>
          </p:cNvSpPr>
          <p:nvPr>
            <p:ph idx="1"/>
          </p:nvPr>
        </p:nvSpPr>
        <p:spPr>
          <a:xfrm>
            <a:off x="823913" y="1465263"/>
            <a:ext cx="10515600" cy="4579937"/>
          </a:xfrm>
        </p:spPr>
        <p:txBody>
          <a:bodyPr/>
          <a:lstStyle/>
          <a:p>
            <a:pPr algn="just" eaLnBrk="1" hangingPunct="1">
              <a:lnSpc>
                <a:spcPct val="120000"/>
              </a:lnSpc>
              <a:spcAft>
                <a:spcPts val="600"/>
              </a:spcAft>
              <a:buFont typeface="Wingdings" pitchFamily="2" charset="2"/>
              <a:buNone/>
            </a:pPr>
            <a:r>
              <a:rPr lang="zh-CN" altLang="en-US">
                <a:latin typeface="Times New Roman" panose="02020603050405020304" pitchFamily="18" charset="0"/>
              </a:rPr>
              <a:t>给定一已知明密文对</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1</a:t>
            </a:r>
            <a:r>
              <a:rPr lang="en-US" altLang="zh-CN">
                <a:latin typeface="Times New Roman" panose="02020603050405020304" pitchFamily="18" charset="0"/>
              </a:rPr>
              <a:t>)</a:t>
            </a:r>
            <a:r>
              <a:rPr lang="zh-CN" altLang="en-US">
                <a:latin typeface="Times New Roman" panose="02020603050405020304" pitchFamily="18" charset="0"/>
              </a:rPr>
              <a:t>，可按下述方法攻击。</a:t>
            </a:r>
          </a:p>
          <a:p>
            <a:pPr algn="just" eaLnBrk="1" hangingPunct="1">
              <a:lnSpc>
                <a:spcPct val="120000"/>
              </a:lnSpc>
              <a:spcAft>
                <a:spcPts val="600"/>
              </a:spcAft>
            </a:pPr>
            <a:r>
              <a:rPr lang="zh-CN" altLang="en-US" u="sng">
                <a:latin typeface="Times New Roman" panose="02020603050405020304" pitchFamily="18" charset="0"/>
              </a:rPr>
              <a:t>以密钥</a:t>
            </a:r>
            <a:r>
              <a:rPr lang="en-US" altLang="zh-CN" i="1" u="sng">
                <a:latin typeface="Times New Roman" panose="02020603050405020304" pitchFamily="18" charset="0"/>
              </a:rPr>
              <a:t>k</a:t>
            </a:r>
            <a:r>
              <a:rPr lang="en-US" altLang="zh-CN" u="sng" baseline="-25000">
                <a:latin typeface="Times New Roman" panose="02020603050405020304" pitchFamily="18" charset="0"/>
              </a:rPr>
              <a:t>1</a:t>
            </a:r>
            <a:r>
              <a:rPr lang="zh-CN" altLang="en-US" u="sng">
                <a:latin typeface="Times New Roman" panose="02020603050405020304" pitchFamily="18" charset="0"/>
              </a:rPr>
              <a:t>的所有</a:t>
            </a:r>
            <a:r>
              <a:rPr lang="en-US" altLang="zh-CN" u="sng">
                <a:latin typeface="Times New Roman" panose="02020603050405020304" pitchFamily="18" charset="0"/>
              </a:rPr>
              <a:t>2</a:t>
            </a:r>
            <a:r>
              <a:rPr lang="en-US" altLang="zh-CN" u="sng" baseline="30000">
                <a:latin typeface="Times New Roman" panose="02020603050405020304" pitchFamily="18" charset="0"/>
              </a:rPr>
              <a:t>56</a:t>
            </a:r>
            <a:r>
              <a:rPr lang="zh-CN" altLang="en-US" u="sng">
                <a:latin typeface="Times New Roman" panose="02020603050405020304" pitchFamily="18" charset="0"/>
              </a:rPr>
              <a:t>个可能的取值对此明文</a:t>
            </a:r>
            <a:r>
              <a:rPr lang="en-US" altLang="zh-CN" i="1" u="sng">
                <a:latin typeface="Times New Roman" panose="02020603050405020304" pitchFamily="18" charset="0"/>
              </a:rPr>
              <a:t>x</a:t>
            </a:r>
            <a:r>
              <a:rPr lang="en-US" altLang="zh-CN" u="sng" baseline="-25000">
                <a:latin typeface="Times New Roman" panose="02020603050405020304" pitchFamily="18" charset="0"/>
              </a:rPr>
              <a:t>1</a:t>
            </a:r>
            <a:r>
              <a:rPr lang="zh-CN" altLang="en-US" u="sng">
                <a:latin typeface="Times New Roman" panose="02020603050405020304" pitchFamily="18" charset="0"/>
              </a:rPr>
              <a:t>加密</a:t>
            </a:r>
            <a:r>
              <a:rPr lang="zh-CN" altLang="en-US">
                <a:latin typeface="Times New Roman" panose="02020603050405020304" pitchFamily="18" charset="0"/>
              </a:rPr>
              <a:t>，并将密文</a:t>
            </a:r>
            <a:r>
              <a:rPr lang="en-US" altLang="zh-CN" i="1">
                <a:latin typeface="Times New Roman" panose="02020603050405020304" pitchFamily="18" charset="0"/>
              </a:rPr>
              <a:t>z</a:t>
            </a:r>
            <a:r>
              <a:rPr lang="zh-CN" altLang="en-US">
                <a:latin typeface="Times New Roman" panose="02020603050405020304" pitchFamily="18" charset="0"/>
              </a:rPr>
              <a:t>存储在一个表中；</a:t>
            </a:r>
          </a:p>
          <a:p>
            <a:pPr algn="just" eaLnBrk="1" hangingPunct="1">
              <a:lnSpc>
                <a:spcPct val="120000"/>
              </a:lnSpc>
              <a:spcAft>
                <a:spcPts val="600"/>
              </a:spcAft>
            </a:pPr>
            <a:r>
              <a:rPr lang="zh-CN" altLang="en-US" u="sng">
                <a:latin typeface="Times New Roman" panose="02020603050405020304" pitchFamily="18" charset="0"/>
              </a:rPr>
              <a:t>从所有可能的</a:t>
            </a:r>
            <a:r>
              <a:rPr lang="en-US" altLang="zh-CN" u="sng">
                <a:latin typeface="Times New Roman" panose="02020603050405020304" pitchFamily="18" charset="0"/>
              </a:rPr>
              <a:t>2</a:t>
            </a:r>
            <a:r>
              <a:rPr lang="en-US" altLang="zh-CN" u="sng" baseline="30000">
                <a:latin typeface="Times New Roman" panose="02020603050405020304" pitchFamily="18" charset="0"/>
              </a:rPr>
              <a:t>56</a:t>
            </a:r>
            <a:r>
              <a:rPr lang="zh-CN" altLang="en-US" u="sng">
                <a:latin typeface="Times New Roman" panose="02020603050405020304" pitchFamily="18" charset="0"/>
              </a:rPr>
              <a:t>个密钥</a:t>
            </a:r>
            <a:r>
              <a:rPr lang="en-US" altLang="zh-CN" i="1" u="sng">
                <a:latin typeface="Times New Roman" panose="02020603050405020304" pitchFamily="18" charset="0"/>
              </a:rPr>
              <a:t>k</a:t>
            </a:r>
            <a:r>
              <a:rPr lang="en-US" altLang="zh-CN" u="sng" baseline="-25000">
                <a:latin typeface="Times New Roman" panose="02020603050405020304" pitchFamily="18" charset="0"/>
              </a:rPr>
              <a:t>2</a:t>
            </a:r>
            <a:r>
              <a:rPr lang="zh-CN" altLang="en-US" u="sng">
                <a:latin typeface="Times New Roman" panose="02020603050405020304" pitchFamily="18" charset="0"/>
              </a:rPr>
              <a:t>中依任意次序选出一个对给定的密文</a:t>
            </a:r>
            <a:r>
              <a:rPr lang="en-US" altLang="zh-CN" i="1" u="sng">
                <a:latin typeface="Times New Roman" panose="02020603050405020304" pitchFamily="18" charset="0"/>
              </a:rPr>
              <a:t>y</a:t>
            </a:r>
            <a:r>
              <a:rPr lang="en-US" altLang="zh-CN" u="sng" baseline="-25000">
                <a:latin typeface="Times New Roman" panose="02020603050405020304" pitchFamily="18" charset="0"/>
              </a:rPr>
              <a:t>1</a:t>
            </a:r>
            <a:r>
              <a:rPr lang="zh-CN" altLang="en-US" u="sng">
                <a:latin typeface="Times New Roman" panose="02020603050405020304" pitchFamily="18" charset="0"/>
              </a:rPr>
              <a:t>解密</a:t>
            </a:r>
            <a:r>
              <a:rPr lang="zh-CN" altLang="en-US">
                <a:latin typeface="Times New Roman" panose="02020603050405020304" pitchFamily="18" charset="0"/>
              </a:rPr>
              <a:t>，并将每次解密结果</a:t>
            </a:r>
            <a:r>
              <a:rPr lang="en-US" altLang="zh-CN" i="1">
                <a:latin typeface="Times New Roman" panose="02020603050405020304" pitchFamily="18" charset="0"/>
              </a:rPr>
              <a:t>z</a:t>
            </a:r>
            <a:r>
              <a:rPr lang="zh-CN" altLang="en-US">
                <a:latin typeface="Times New Roman" panose="02020603050405020304" pitchFamily="18" charset="0"/>
              </a:rPr>
              <a:t>在上述表中查找相匹配的值。一旦找到，则可确定出两个密钥</a:t>
            </a:r>
            <a:r>
              <a:rPr lang="en-US" altLang="zh-CN" i="1">
                <a:latin typeface="Times New Roman" panose="02020603050405020304" pitchFamily="18" charset="0"/>
              </a:rPr>
              <a:t>k</a:t>
            </a:r>
            <a:r>
              <a:rPr lang="en-US" altLang="zh-CN" baseline="-25000">
                <a:latin typeface="Times New Roman" panose="02020603050405020304" pitchFamily="18" charset="0"/>
              </a:rPr>
              <a:t>1</a:t>
            </a:r>
            <a:r>
              <a:rPr lang="zh-CN" altLang="en-US">
                <a:latin typeface="Times New Roman" panose="02020603050405020304" pitchFamily="18" charset="0"/>
              </a:rPr>
              <a:t>和</a:t>
            </a:r>
            <a:r>
              <a:rPr lang="en-US" altLang="zh-CN" i="1">
                <a:latin typeface="Times New Roman" panose="02020603050405020304" pitchFamily="18" charset="0"/>
              </a:rPr>
              <a:t>k</a:t>
            </a:r>
            <a:r>
              <a:rPr lang="en-US" altLang="zh-CN" baseline="-25000">
                <a:latin typeface="Times New Roman" panose="02020603050405020304" pitchFamily="18" charset="0"/>
              </a:rPr>
              <a:t>2</a:t>
            </a:r>
            <a:r>
              <a:rPr lang="zh-CN" altLang="en-US">
                <a:latin typeface="Times New Roman" panose="02020603050405020304" pitchFamily="18" charset="0"/>
              </a:rPr>
              <a:t>；</a:t>
            </a:r>
          </a:p>
          <a:p>
            <a:pPr algn="just" eaLnBrk="1" hangingPunct="1">
              <a:lnSpc>
                <a:spcPct val="120000"/>
              </a:lnSpc>
              <a:spcAft>
                <a:spcPts val="600"/>
              </a:spcAft>
            </a:pPr>
            <a:r>
              <a:rPr lang="zh-CN" altLang="en-US" u="sng">
                <a:latin typeface="Times New Roman" panose="02020603050405020304" pitchFamily="18" charset="0"/>
              </a:rPr>
              <a:t>以此对密钥</a:t>
            </a:r>
            <a:r>
              <a:rPr lang="en-US" altLang="zh-CN" i="1" u="sng">
                <a:latin typeface="Times New Roman" panose="02020603050405020304" pitchFamily="18" charset="0"/>
              </a:rPr>
              <a:t>k</a:t>
            </a:r>
            <a:r>
              <a:rPr lang="en-US" altLang="zh-CN" u="sng" baseline="-25000">
                <a:latin typeface="Times New Roman" panose="02020603050405020304" pitchFamily="18" charset="0"/>
              </a:rPr>
              <a:t>1</a:t>
            </a:r>
            <a:r>
              <a:rPr lang="zh-CN" altLang="en-US" u="sng">
                <a:latin typeface="Times New Roman" panose="02020603050405020304" pitchFamily="18" charset="0"/>
              </a:rPr>
              <a:t>和</a:t>
            </a:r>
            <a:r>
              <a:rPr lang="en-US" altLang="zh-CN" i="1" u="sng">
                <a:latin typeface="Times New Roman" panose="02020603050405020304" pitchFamily="18" charset="0"/>
              </a:rPr>
              <a:t>k</a:t>
            </a:r>
            <a:r>
              <a:rPr lang="en-US" altLang="zh-CN" u="sng" baseline="-25000">
                <a:latin typeface="Times New Roman" panose="02020603050405020304" pitchFamily="18" charset="0"/>
              </a:rPr>
              <a:t>2</a:t>
            </a:r>
            <a:r>
              <a:rPr lang="zh-CN" altLang="en-US" u="sng">
                <a:latin typeface="Times New Roman" panose="02020603050405020304" pitchFamily="18" charset="0"/>
              </a:rPr>
              <a:t>对另一已知明文密文对</a:t>
            </a:r>
            <a:r>
              <a:rPr lang="en-US" altLang="zh-CN" u="sng">
                <a:latin typeface="Times New Roman" panose="02020603050405020304" pitchFamily="18" charset="0"/>
              </a:rPr>
              <a:t>(</a:t>
            </a:r>
            <a:r>
              <a:rPr lang="en-US" altLang="zh-CN" i="1" u="sng">
                <a:latin typeface="Times New Roman" panose="02020603050405020304" pitchFamily="18" charset="0"/>
              </a:rPr>
              <a:t>x</a:t>
            </a:r>
            <a:r>
              <a:rPr lang="en-US" altLang="zh-CN" u="sng" baseline="-25000">
                <a:latin typeface="Times New Roman" panose="02020603050405020304" pitchFamily="18" charset="0"/>
              </a:rPr>
              <a:t>2</a:t>
            </a:r>
            <a:r>
              <a:rPr lang="en-US" altLang="zh-CN" u="sng">
                <a:latin typeface="Times New Roman" panose="02020603050405020304" pitchFamily="18" charset="0"/>
              </a:rPr>
              <a:t>, </a:t>
            </a:r>
            <a:r>
              <a:rPr lang="en-US" altLang="zh-CN" i="1" u="sng">
                <a:latin typeface="Times New Roman" panose="02020603050405020304" pitchFamily="18" charset="0"/>
              </a:rPr>
              <a:t>y</a:t>
            </a:r>
            <a:r>
              <a:rPr lang="en-US" altLang="zh-CN" u="sng" baseline="-25000">
                <a:latin typeface="Times New Roman" panose="02020603050405020304" pitchFamily="18" charset="0"/>
              </a:rPr>
              <a:t>2</a:t>
            </a:r>
            <a:r>
              <a:rPr lang="en-US" altLang="zh-CN" u="sng">
                <a:latin typeface="Times New Roman" panose="02020603050405020304" pitchFamily="18" charset="0"/>
              </a:rPr>
              <a:t>)</a:t>
            </a:r>
            <a:r>
              <a:rPr lang="zh-CN" altLang="en-US" u="sng">
                <a:latin typeface="Times New Roman" panose="02020603050405020304" pitchFamily="18" charset="0"/>
              </a:rPr>
              <a:t>中的明文</a:t>
            </a:r>
            <a:r>
              <a:rPr lang="en-US" altLang="zh-CN" i="1" u="sng">
                <a:latin typeface="Times New Roman" panose="02020603050405020304" pitchFamily="18" charset="0"/>
              </a:rPr>
              <a:t>x</a:t>
            </a:r>
            <a:r>
              <a:rPr lang="en-US" altLang="zh-CN" u="sng" baseline="-25000">
                <a:latin typeface="Times New Roman" panose="02020603050405020304" pitchFamily="18" charset="0"/>
              </a:rPr>
              <a:t>2</a:t>
            </a:r>
            <a:r>
              <a:rPr lang="zh-CN" altLang="en-US" u="sng">
                <a:latin typeface="Times New Roman" panose="02020603050405020304" pitchFamily="18" charset="0"/>
              </a:rPr>
              <a:t>进行加密</a:t>
            </a:r>
            <a:r>
              <a:rPr lang="zh-CN" altLang="en-US">
                <a:latin typeface="Times New Roman" panose="02020603050405020304" pitchFamily="18" charset="0"/>
              </a:rPr>
              <a:t>，如果能得出相应的密文</a:t>
            </a:r>
            <a:r>
              <a:rPr lang="en-US" altLang="zh-CN" i="1">
                <a:latin typeface="Times New Roman" panose="02020603050405020304" pitchFamily="18" charset="0"/>
              </a:rPr>
              <a:t>y</a:t>
            </a:r>
            <a:r>
              <a:rPr lang="en-US" altLang="zh-CN" baseline="-25000">
                <a:latin typeface="Times New Roman" panose="02020603050405020304" pitchFamily="18" charset="0"/>
              </a:rPr>
              <a:t>2</a:t>
            </a:r>
            <a:r>
              <a:rPr lang="zh-CN" altLang="en-US">
                <a:latin typeface="Times New Roman" panose="02020603050405020304" pitchFamily="18" charset="0"/>
              </a:rPr>
              <a:t>就可确定</a:t>
            </a:r>
            <a:r>
              <a:rPr lang="en-US" altLang="zh-CN" i="1">
                <a:latin typeface="Times New Roman" panose="02020603050405020304" pitchFamily="18" charset="0"/>
              </a:rPr>
              <a:t>k</a:t>
            </a:r>
            <a:r>
              <a:rPr lang="en-US" altLang="zh-CN" baseline="-25000">
                <a:latin typeface="Times New Roman" panose="02020603050405020304" pitchFamily="18" charset="0"/>
              </a:rPr>
              <a:t>1</a:t>
            </a:r>
            <a:r>
              <a:rPr lang="zh-CN" altLang="en-US">
                <a:latin typeface="Times New Roman" panose="02020603050405020304" pitchFamily="18" charset="0"/>
              </a:rPr>
              <a:t>和</a:t>
            </a:r>
            <a:r>
              <a:rPr lang="en-US" altLang="zh-CN" i="1">
                <a:latin typeface="Times New Roman" panose="02020603050405020304" pitchFamily="18" charset="0"/>
              </a:rPr>
              <a:t>k</a:t>
            </a:r>
            <a:r>
              <a:rPr lang="en-US" altLang="zh-CN" baseline="-25000">
                <a:latin typeface="Times New Roman" panose="02020603050405020304" pitchFamily="18" charset="0"/>
              </a:rPr>
              <a:t>2</a:t>
            </a:r>
            <a:r>
              <a:rPr lang="zh-CN" altLang="en-US">
                <a:latin typeface="Times New Roman" panose="02020603050405020304" pitchFamily="18" charset="0"/>
              </a:rPr>
              <a:t>是所要找的密钥。</a:t>
            </a:r>
          </a:p>
          <a:p>
            <a:pPr>
              <a:lnSpc>
                <a:spcPct val="120000"/>
              </a:lnSpc>
            </a:pPr>
            <a:endParaRPr lang="zh-CN" altLang="en-US"/>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标题 1">
            <a:extLst>
              <a:ext uri="{FF2B5EF4-FFF2-40B4-BE49-F238E27FC236}">
                <a16:creationId xmlns:a16="http://schemas.microsoft.com/office/drawing/2014/main" id="{1D48351C-493D-5A44-8E95-DFCC3935FDE1}"/>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中间相遇攻击的复杂度</a:t>
            </a:r>
          </a:p>
        </p:txBody>
      </p:sp>
      <p:sp>
        <p:nvSpPr>
          <p:cNvPr id="220162" name="内容占位符 2">
            <a:extLst>
              <a:ext uri="{FF2B5EF4-FFF2-40B4-BE49-F238E27FC236}">
                <a16:creationId xmlns:a16="http://schemas.microsoft.com/office/drawing/2014/main" id="{A3C69AB6-D3FE-9343-994F-03F171CDA6D2}"/>
              </a:ext>
            </a:extLst>
          </p:cNvPr>
          <p:cNvSpPr>
            <a:spLocks noGrp="1" noChangeArrowheads="1"/>
          </p:cNvSpPr>
          <p:nvPr>
            <p:ph idx="1"/>
          </p:nvPr>
        </p:nvSpPr>
        <p:spPr>
          <a:xfrm>
            <a:off x="823913" y="1465263"/>
            <a:ext cx="10515600" cy="4579937"/>
          </a:xfrm>
        </p:spPr>
        <p:txBody>
          <a:bodyPr/>
          <a:lstStyle/>
          <a:p>
            <a:pPr algn="just" eaLnBrk="1" hangingPunct="1">
              <a:lnSpc>
                <a:spcPct val="120000"/>
              </a:lnSpc>
            </a:pPr>
            <a:r>
              <a:rPr lang="zh-CN" altLang="en-US">
                <a:latin typeface="Times New Roman" panose="02020603050405020304" pitchFamily="18" charset="0"/>
              </a:rPr>
              <a:t>对于给定明文</a:t>
            </a:r>
            <a:r>
              <a:rPr lang="en-US" altLang="zh-CN" i="1">
                <a:latin typeface="Times New Roman" panose="02020603050405020304" pitchFamily="18" charset="0"/>
              </a:rPr>
              <a:t>x</a:t>
            </a:r>
            <a:r>
              <a:rPr lang="zh-CN" altLang="en-US">
                <a:latin typeface="Times New Roman" panose="02020603050405020304" pitchFamily="18" charset="0"/>
              </a:rPr>
              <a:t>，以两重</a:t>
            </a:r>
            <a:r>
              <a:rPr lang="en-US" altLang="zh-CN">
                <a:latin typeface="Times New Roman" panose="02020603050405020304" pitchFamily="18" charset="0"/>
              </a:rPr>
              <a:t>DES</a:t>
            </a:r>
            <a:r>
              <a:rPr lang="zh-CN" altLang="en-US">
                <a:latin typeface="Times New Roman" panose="02020603050405020304" pitchFamily="18" charset="0"/>
              </a:rPr>
              <a:t>加密将有</a:t>
            </a:r>
            <a:r>
              <a:rPr lang="en-US" altLang="zh-CN">
                <a:latin typeface="Times New Roman" panose="02020603050405020304" pitchFamily="18" charset="0"/>
              </a:rPr>
              <a:t>2</a:t>
            </a:r>
            <a:r>
              <a:rPr lang="en-US" altLang="zh-CN" baseline="30000">
                <a:latin typeface="Times New Roman" panose="02020603050405020304" pitchFamily="18" charset="0"/>
              </a:rPr>
              <a:t>64</a:t>
            </a:r>
            <a:r>
              <a:rPr lang="zh-CN" altLang="en-US">
                <a:latin typeface="Times New Roman" panose="02020603050405020304" pitchFamily="18" charset="0"/>
              </a:rPr>
              <a:t>个可能的密文。</a:t>
            </a:r>
          </a:p>
          <a:p>
            <a:pPr algn="just" eaLnBrk="1" hangingPunct="1">
              <a:lnSpc>
                <a:spcPct val="120000"/>
              </a:lnSpc>
            </a:pPr>
            <a:r>
              <a:rPr lang="zh-CN" altLang="en-US">
                <a:latin typeface="Times New Roman" panose="02020603050405020304" pitchFamily="18" charset="0"/>
              </a:rPr>
              <a:t>可能的密钥数为</a:t>
            </a:r>
            <a:r>
              <a:rPr lang="en-US" altLang="zh-CN">
                <a:latin typeface="Times New Roman" panose="02020603050405020304" pitchFamily="18" charset="0"/>
              </a:rPr>
              <a:t>2</a:t>
            </a:r>
            <a:r>
              <a:rPr lang="en-US" altLang="zh-CN" baseline="30000">
                <a:latin typeface="Times New Roman" panose="02020603050405020304" pitchFamily="18" charset="0"/>
              </a:rPr>
              <a:t>112</a:t>
            </a:r>
            <a:r>
              <a:rPr lang="zh-CN" altLang="en-US">
                <a:latin typeface="Times New Roman" panose="02020603050405020304" pitchFamily="18" charset="0"/>
              </a:rPr>
              <a:t>个。所以，在给定明文下，将</a:t>
            </a:r>
            <a:r>
              <a:rPr lang="zh-CN" altLang="en-US" u="sng">
                <a:latin typeface="Times New Roman" panose="02020603050405020304" pitchFamily="18" charset="0"/>
              </a:rPr>
              <a:t>有</a:t>
            </a:r>
            <a:r>
              <a:rPr lang="en-US" altLang="zh-CN" u="sng">
                <a:latin typeface="Times New Roman" panose="02020603050405020304" pitchFamily="18" charset="0"/>
              </a:rPr>
              <a:t>2</a:t>
            </a:r>
            <a:r>
              <a:rPr lang="en-US" altLang="zh-CN" u="sng" baseline="30000">
                <a:latin typeface="Times New Roman" panose="02020603050405020304" pitchFamily="18" charset="0"/>
              </a:rPr>
              <a:t>112</a:t>
            </a:r>
            <a:r>
              <a:rPr lang="en-US" altLang="zh-CN" u="sng">
                <a:latin typeface="Times New Roman" panose="02020603050405020304" pitchFamily="18" charset="0"/>
              </a:rPr>
              <a:t>/2</a:t>
            </a:r>
            <a:r>
              <a:rPr lang="en-US" altLang="zh-CN" u="sng" baseline="30000">
                <a:latin typeface="Times New Roman" panose="02020603050405020304" pitchFamily="18" charset="0"/>
              </a:rPr>
              <a:t>64 </a:t>
            </a:r>
            <a:r>
              <a:rPr lang="en-US" altLang="zh-CN" u="sng">
                <a:latin typeface="Times New Roman" panose="02020603050405020304" pitchFamily="18" charset="0"/>
              </a:rPr>
              <a:t>=2</a:t>
            </a:r>
            <a:r>
              <a:rPr lang="en-US" altLang="zh-CN" u="sng" baseline="30000">
                <a:latin typeface="Times New Roman" panose="02020603050405020304" pitchFamily="18" charset="0"/>
              </a:rPr>
              <a:t>48</a:t>
            </a:r>
            <a:r>
              <a:rPr lang="zh-CN" altLang="en-US" u="sng">
                <a:latin typeface="Times New Roman" panose="02020603050405020304" pitchFamily="18" charset="0"/>
              </a:rPr>
              <a:t>个密钥能产生给定的密文</a:t>
            </a:r>
            <a:r>
              <a:rPr lang="zh-CN" altLang="en-US">
                <a:latin typeface="Times New Roman" panose="02020603050405020304" pitchFamily="18" charset="0"/>
              </a:rPr>
              <a:t>。</a:t>
            </a:r>
          </a:p>
          <a:p>
            <a:pPr algn="just" eaLnBrk="1" hangingPunct="1">
              <a:lnSpc>
                <a:spcPct val="120000"/>
              </a:lnSpc>
            </a:pPr>
            <a:r>
              <a:rPr lang="zh-CN" altLang="en-US">
                <a:latin typeface="Times New Roman" panose="02020603050405020304" pitchFamily="18" charset="0"/>
              </a:rPr>
              <a:t>用另一对</a:t>
            </a:r>
            <a:r>
              <a:rPr lang="en-US" altLang="zh-CN">
                <a:latin typeface="Times New Roman" panose="02020603050405020304" pitchFamily="18" charset="0"/>
              </a:rPr>
              <a:t>64</a:t>
            </a:r>
            <a:r>
              <a:rPr lang="zh-CN" altLang="en-US">
                <a:latin typeface="Times New Roman" panose="02020603050405020304" pitchFamily="18" charset="0"/>
              </a:rPr>
              <a:t>比特明文</a:t>
            </a:r>
            <a:r>
              <a:rPr lang="en-US" altLang="zh-CN">
                <a:latin typeface="Times New Roman" panose="02020603050405020304" pitchFamily="18" charset="0"/>
              </a:rPr>
              <a:t>/</a:t>
            </a:r>
            <a:r>
              <a:rPr lang="zh-CN" altLang="en-US">
                <a:latin typeface="Times New Roman" panose="02020603050405020304" pitchFamily="18" charset="0"/>
              </a:rPr>
              <a:t>密文对进行检验，就使虚报率降为</a:t>
            </a:r>
            <a:r>
              <a:rPr lang="en-US" altLang="zh-CN">
                <a:latin typeface="Times New Roman" panose="02020603050405020304" pitchFamily="18" charset="0"/>
              </a:rPr>
              <a:t>2</a:t>
            </a:r>
            <a:r>
              <a:rPr lang="en-US" altLang="zh-CN" baseline="30000">
                <a:latin typeface="Times New Roman" panose="02020603050405020304" pitchFamily="18" charset="0"/>
              </a:rPr>
              <a:t>48-64</a:t>
            </a:r>
            <a:r>
              <a:rPr lang="en-US" altLang="zh-CN">
                <a:latin typeface="Times New Roman" panose="02020603050405020304" pitchFamily="18" charset="0"/>
              </a:rPr>
              <a:t>=2</a:t>
            </a:r>
            <a:r>
              <a:rPr lang="en-US" altLang="zh-CN" baseline="30000">
                <a:latin typeface="Times New Roman" panose="02020603050405020304" pitchFamily="18" charset="0"/>
              </a:rPr>
              <a:t>-16</a:t>
            </a:r>
            <a:r>
              <a:rPr lang="zh-CN" altLang="en-US">
                <a:latin typeface="Times New Roman" panose="02020603050405020304" pitchFamily="18" charset="0"/>
              </a:rPr>
              <a:t>。</a:t>
            </a:r>
          </a:p>
          <a:p>
            <a:pPr algn="just" eaLnBrk="1" hangingPunct="1">
              <a:lnSpc>
                <a:spcPct val="120000"/>
              </a:lnSpc>
            </a:pPr>
            <a:r>
              <a:rPr lang="zh-CN" altLang="en-US">
                <a:latin typeface="Times New Roman" panose="02020603050405020304" pitchFamily="18" charset="0"/>
              </a:rPr>
              <a:t>这一攻击法所需的存储量为</a:t>
            </a:r>
            <a:r>
              <a:rPr lang="en-US" altLang="zh-CN">
                <a:latin typeface="Times New Roman" panose="02020603050405020304" pitchFamily="18" charset="0"/>
              </a:rPr>
              <a:t>2</a:t>
            </a:r>
            <a:r>
              <a:rPr lang="en-US" altLang="zh-CN" baseline="30000">
                <a:latin typeface="Times New Roman" panose="02020603050405020304" pitchFamily="18" charset="0"/>
              </a:rPr>
              <a:t>56</a:t>
            </a:r>
            <a:r>
              <a:rPr lang="en-US" altLang="zh-CN">
                <a:latin typeface="Times New Roman" panose="02020603050405020304" pitchFamily="18" charset="0"/>
              </a:rPr>
              <a:t>×8 Byte</a:t>
            </a:r>
            <a:r>
              <a:rPr lang="zh-CN" altLang="en-US">
                <a:latin typeface="Times New Roman" panose="02020603050405020304" pitchFamily="18" charset="0"/>
              </a:rPr>
              <a:t>，最大试验的加密次数</a:t>
            </a:r>
            <a:r>
              <a:rPr lang="en-US" altLang="zh-CN">
                <a:latin typeface="Times New Roman" panose="02020603050405020304" pitchFamily="18" charset="0"/>
              </a:rPr>
              <a:t>2×2</a:t>
            </a:r>
            <a:r>
              <a:rPr lang="en-US" altLang="zh-CN" baseline="30000">
                <a:latin typeface="Times New Roman" panose="02020603050405020304" pitchFamily="18" charset="0"/>
              </a:rPr>
              <a:t>56 </a:t>
            </a:r>
            <a:r>
              <a:rPr lang="en-US" altLang="zh-CN">
                <a:latin typeface="Times New Roman" panose="02020603050405020304" pitchFamily="18" charset="0"/>
              </a:rPr>
              <a:t>=2</a:t>
            </a:r>
            <a:r>
              <a:rPr lang="en-US" altLang="zh-CN" baseline="30000">
                <a:latin typeface="Times New Roman" panose="02020603050405020304" pitchFamily="18" charset="0"/>
              </a:rPr>
              <a:t>57</a:t>
            </a:r>
            <a:r>
              <a:rPr lang="zh-CN" altLang="en-US">
                <a:latin typeface="Times New Roman" panose="02020603050405020304" pitchFamily="18" charset="0"/>
              </a:rPr>
              <a:t>。这说明破译双重</a:t>
            </a:r>
            <a:r>
              <a:rPr lang="en-US" altLang="zh-CN">
                <a:latin typeface="Times New Roman" panose="02020603050405020304" pitchFamily="18" charset="0"/>
              </a:rPr>
              <a:t>DES</a:t>
            </a:r>
            <a:r>
              <a:rPr lang="zh-CN" altLang="en-US">
                <a:latin typeface="Times New Roman" panose="02020603050405020304" pitchFamily="18" charset="0"/>
              </a:rPr>
              <a:t>的难度为</a:t>
            </a:r>
            <a:r>
              <a:rPr lang="en-US" altLang="zh-CN">
                <a:latin typeface="Times New Roman" panose="02020603050405020304" pitchFamily="18" charset="0"/>
              </a:rPr>
              <a:t>2</a:t>
            </a:r>
            <a:r>
              <a:rPr lang="en-US" altLang="zh-CN" baseline="30000">
                <a:latin typeface="Times New Roman" panose="02020603050405020304" pitchFamily="18" charset="0"/>
              </a:rPr>
              <a:t>57</a:t>
            </a:r>
            <a:r>
              <a:rPr lang="zh-CN" altLang="en-US">
                <a:latin typeface="Times New Roman" panose="02020603050405020304" pitchFamily="18" charset="0"/>
              </a:rPr>
              <a:t>量级。</a:t>
            </a:r>
          </a:p>
          <a:p>
            <a:pPr>
              <a:lnSpc>
                <a:spcPct val="120000"/>
              </a:lnSpc>
            </a:pPr>
            <a:endParaRPr lang="zh-CN" altLang="en-US"/>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21662-1370-D14D-801A-379349C147FE}"/>
              </a:ext>
            </a:extLst>
          </p:cNvPr>
          <p:cNvSpPr>
            <a:spLocks noGrp="1"/>
          </p:cNvSpPr>
          <p:nvPr>
            <p:ph type="title"/>
          </p:nvPr>
        </p:nvSpPr>
        <p:spPr>
          <a:xfrm>
            <a:off x="1465263" y="365125"/>
            <a:ext cx="9037637" cy="668338"/>
          </a:xfrm>
        </p:spPr>
        <p:txBody>
          <a:bodyPr/>
          <a:lstStyle/>
          <a:p>
            <a:pPr>
              <a:defRPr/>
            </a:pPr>
            <a:r>
              <a:rPr lang="zh-CN" altLang="en-US" dirty="0"/>
              <a:t>三重</a:t>
            </a:r>
            <a:r>
              <a:rPr lang="en-US" altLang="zh-CN" dirty="0"/>
              <a:t>DES</a:t>
            </a:r>
            <a:r>
              <a:rPr lang="zh-CN" altLang="en-US" dirty="0"/>
              <a:t>算法</a:t>
            </a:r>
          </a:p>
        </p:txBody>
      </p:sp>
      <p:sp>
        <p:nvSpPr>
          <p:cNvPr id="222210" name="内容占位符 2">
            <a:extLst>
              <a:ext uri="{FF2B5EF4-FFF2-40B4-BE49-F238E27FC236}">
                <a16:creationId xmlns:a16="http://schemas.microsoft.com/office/drawing/2014/main" id="{7214C59B-A412-A944-AA8F-732C04377CD0}"/>
              </a:ext>
            </a:extLst>
          </p:cNvPr>
          <p:cNvSpPr>
            <a:spLocks noGrp="1" noChangeArrowheads="1"/>
          </p:cNvSpPr>
          <p:nvPr>
            <p:ph idx="1"/>
          </p:nvPr>
        </p:nvSpPr>
        <p:spPr>
          <a:xfrm>
            <a:off x="823913" y="1465263"/>
            <a:ext cx="10515600" cy="4579937"/>
          </a:xfrm>
        </p:spPr>
        <p:txBody>
          <a:bodyPr/>
          <a:lstStyle/>
          <a:p>
            <a:pPr algn="just" eaLnBrk="1" hangingPunct="1">
              <a:lnSpc>
                <a:spcPct val="120000"/>
              </a:lnSpc>
            </a:pPr>
            <a:r>
              <a:rPr lang="zh-CN" altLang="en-US" sz="2800">
                <a:latin typeface="Times New Roman" panose="02020603050405020304" pitchFamily="18" charset="0"/>
              </a:rPr>
              <a:t>三重</a:t>
            </a:r>
            <a:r>
              <a:rPr lang="en-US" altLang="zh-CN" sz="2800">
                <a:latin typeface="Times New Roman" panose="02020603050405020304" pitchFamily="18" charset="0"/>
              </a:rPr>
              <a:t>DES</a:t>
            </a:r>
            <a:r>
              <a:rPr lang="zh-CN" altLang="en-US" sz="2800">
                <a:latin typeface="Times New Roman" panose="02020603050405020304" pitchFamily="18" charset="0"/>
              </a:rPr>
              <a:t>中三个密码组件既可以是一个加密函数，也可以是一个解密函数。</a:t>
            </a:r>
            <a:endParaRPr lang="en-US" altLang="zh-CN" sz="2800">
              <a:latin typeface="Times New Roman" panose="02020603050405020304" pitchFamily="18" charset="0"/>
            </a:endParaRPr>
          </a:p>
          <a:p>
            <a:pPr algn="just" eaLnBrk="1" hangingPunct="1">
              <a:lnSpc>
                <a:spcPct val="120000"/>
              </a:lnSpc>
            </a:pPr>
            <a:r>
              <a:rPr lang="zh-CN" altLang="en-US" sz="2800">
                <a:latin typeface="Times New Roman" panose="02020603050405020304" pitchFamily="18" charset="0"/>
              </a:rPr>
              <a:t>当</a:t>
            </a:r>
            <a:r>
              <a:rPr lang="en-US" altLang="zh-CN" sz="2800">
                <a:latin typeface="Times New Roman" panose="02020603050405020304" pitchFamily="18" charset="0"/>
              </a:rPr>
              <a:t>k</a:t>
            </a:r>
            <a:r>
              <a:rPr lang="en-US" altLang="zh-CN" sz="2800" baseline="-25000">
                <a:latin typeface="Times New Roman" panose="02020603050405020304" pitchFamily="18" charset="0"/>
              </a:rPr>
              <a:t>1</a:t>
            </a:r>
            <a:r>
              <a:rPr lang="en-US" altLang="zh-CN" sz="2800">
                <a:latin typeface="Times New Roman" panose="02020603050405020304" pitchFamily="18" charset="0"/>
              </a:rPr>
              <a:t>=k</a:t>
            </a:r>
            <a:r>
              <a:rPr lang="en-US" altLang="zh-CN" sz="2800" baseline="-25000">
                <a:latin typeface="Times New Roman" panose="02020603050405020304" pitchFamily="18" charset="0"/>
              </a:rPr>
              <a:t>3</a:t>
            </a:r>
            <a:r>
              <a:rPr lang="zh-CN" altLang="en-US" sz="2800">
                <a:latin typeface="Times New Roman" panose="02020603050405020304" pitchFamily="18" charset="0"/>
              </a:rPr>
              <a:t>时，则称为双密钥三重</a:t>
            </a:r>
            <a:r>
              <a:rPr lang="en-US" altLang="zh-CN" sz="2800">
                <a:latin typeface="Times New Roman" panose="02020603050405020304" pitchFamily="18" charset="0"/>
              </a:rPr>
              <a:t>DES</a:t>
            </a:r>
            <a:endParaRPr lang="zh-CN" altLang="en-US" sz="2800"/>
          </a:p>
        </p:txBody>
      </p:sp>
      <p:grpSp>
        <p:nvGrpSpPr>
          <p:cNvPr id="222211" name="Group 1">
            <a:extLst>
              <a:ext uri="{FF2B5EF4-FFF2-40B4-BE49-F238E27FC236}">
                <a16:creationId xmlns:a16="http://schemas.microsoft.com/office/drawing/2014/main" id="{45BE5A73-3BA1-EC44-BEF7-5A0D20DA7C47}"/>
              </a:ext>
            </a:extLst>
          </p:cNvPr>
          <p:cNvGrpSpPr>
            <a:grpSpLocks noChangeAspect="1"/>
          </p:cNvGrpSpPr>
          <p:nvPr/>
        </p:nvGrpSpPr>
        <p:grpSpPr bwMode="auto">
          <a:xfrm>
            <a:off x="2133600" y="3124200"/>
            <a:ext cx="8170863" cy="2209800"/>
            <a:chOff x="2688" y="7195"/>
            <a:chExt cx="6120" cy="1655"/>
          </a:xfrm>
        </p:grpSpPr>
        <p:sp>
          <p:nvSpPr>
            <p:cNvPr id="222212" name="AutoShape 17">
              <a:extLst>
                <a:ext uri="{FF2B5EF4-FFF2-40B4-BE49-F238E27FC236}">
                  <a16:creationId xmlns:a16="http://schemas.microsoft.com/office/drawing/2014/main" id="{9D12CACD-B6FC-B14F-931E-7ABC80167A43}"/>
                </a:ext>
              </a:extLst>
            </p:cNvPr>
            <p:cNvSpPr>
              <a:spLocks noChangeAspect="1" noChangeArrowheads="1" noTextEdit="1"/>
            </p:cNvSpPr>
            <p:nvPr/>
          </p:nvSpPr>
          <p:spPr bwMode="auto">
            <a:xfrm>
              <a:off x="2688" y="7195"/>
              <a:ext cx="6120" cy="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222213" name="Text Box 16">
              <a:extLst>
                <a:ext uri="{FF2B5EF4-FFF2-40B4-BE49-F238E27FC236}">
                  <a16:creationId xmlns:a16="http://schemas.microsoft.com/office/drawing/2014/main" id="{B2BE23D6-D363-7F45-84AF-73A57719D8F3}"/>
                </a:ext>
              </a:extLst>
            </p:cNvPr>
            <p:cNvSpPr txBox="1">
              <a:spLocks noChangeArrowheads="1"/>
            </p:cNvSpPr>
            <p:nvPr/>
          </p:nvSpPr>
          <p:spPr bwMode="auto">
            <a:xfrm>
              <a:off x="3960" y="7338"/>
              <a:ext cx="452"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pPr eaLnBrk="0" hangingPunct="0"/>
              <a:r>
                <a:rPr lang="en-US" altLang="zh-CN" sz="2400" b="1" i="1">
                  <a:latin typeface="Times New Roman" panose="02020603050405020304" pitchFamily="18" charset="0"/>
                </a:rPr>
                <a:t>k</a:t>
              </a:r>
              <a:r>
                <a:rPr lang="en-US" altLang="zh-CN" sz="2400" b="1" baseline="-30000">
                  <a:latin typeface="Times New Roman" panose="02020603050405020304" pitchFamily="18" charset="0"/>
                </a:rPr>
                <a:t>1</a:t>
              </a:r>
              <a:endParaRPr lang="en-US" altLang="zh-CN" sz="2400" b="1"/>
            </a:p>
          </p:txBody>
        </p:sp>
        <p:sp>
          <p:nvSpPr>
            <p:cNvPr id="222214" name="Text Box 15">
              <a:extLst>
                <a:ext uri="{FF2B5EF4-FFF2-40B4-BE49-F238E27FC236}">
                  <a16:creationId xmlns:a16="http://schemas.microsoft.com/office/drawing/2014/main" id="{64DC807C-8BFA-964B-8538-51363ED0589A}"/>
                </a:ext>
              </a:extLst>
            </p:cNvPr>
            <p:cNvSpPr txBox="1">
              <a:spLocks noChangeArrowheads="1"/>
            </p:cNvSpPr>
            <p:nvPr/>
          </p:nvSpPr>
          <p:spPr bwMode="auto">
            <a:xfrm>
              <a:off x="7704" y="8069"/>
              <a:ext cx="901" cy="4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zh-CN" altLang="zh-CN" sz="2400" b="1">
                  <a:latin typeface="Times New Roman" panose="02020603050405020304" pitchFamily="18" charset="0"/>
                </a:rPr>
                <a:t>密文</a:t>
              </a:r>
              <a:endParaRPr lang="zh-CN" altLang="zh-CN" sz="2400" b="1"/>
            </a:p>
          </p:txBody>
        </p:sp>
        <p:sp>
          <p:nvSpPr>
            <p:cNvPr id="222215" name="Text Box 14">
              <a:extLst>
                <a:ext uri="{FF2B5EF4-FFF2-40B4-BE49-F238E27FC236}">
                  <a16:creationId xmlns:a16="http://schemas.microsoft.com/office/drawing/2014/main" id="{869C01E7-0AAB-9249-A6A4-1C78A0DBA25A}"/>
                </a:ext>
              </a:extLst>
            </p:cNvPr>
            <p:cNvSpPr txBox="1">
              <a:spLocks noChangeArrowheads="1"/>
            </p:cNvSpPr>
            <p:nvPr/>
          </p:nvSpPr>
          <p:spPr bwMode="auto">
            <a:xfrm>
              <a:off x="2988" y="8034"/>
              <a:ext cx="900" cy="4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zh-CN" altLang="zh-CN" sz="2400" b="1">
                  <a:latin typeface="Times New Roman" panose="02020603050405020304" pitchFamily="18" charset="0"/>
                </a:rPr>
                <a:t>明文</a:t>
              </a:r>
              <a:endParaRPr lang="zh-CN" altLang="zh-CN" sz="2400" b="1"/>
            </a:p>
          </p:txBody>
        </p:sp>
        <p:sp>
          <p:nvSpPr>
            <p:cNvPr id="222216" name="Rectangle 13">
              <a:extLst>
                <a:ext uri="{FF2B5EF4-FFF2-40B4-BE49-F238E27FC236}">
                  <a16:creationId xmlns:a16="http://schemas.microsoft.com/office/drawing/2014/main" id="{0D24A1E8-16BD-6742-A606-C102B639379A}"/>
                </a:ext>
              </a:extLst>
            </p:cNvPr>
            <p:cNvSpPr>
              <a:spLocks noChangeArrowheads="1"/>
            </p:cNvSpPr>
            <p:nvPr/>
          </p:nvSpPr>
          <p:spPr bwMode="auto">
            <a:xfrm>
              <a:off x="3780" y="8227"/>
              <a:ext cx="900" cy="407"/>
            </a:xfrm>
            <a:prstGeom prst="rect">
              <a:avLst/>
            </a:prstGeom>
            <a:solidFill>
              <a:srgbClr val="FFFFFF"/>
            </a:solidFill>
            <a:ln w="9525">
              <a:solidFill>
                <a:srgbClr val="000000"/>
              </a:solidFill>
              <a:miter lim="800000"/>
              <a:headEnd/>
              <a:tailEnd/>
            </a:ln>
          </p:spPr>
          <p:txBody>
            <a:bodyPr/>
            <a:lstStyle/>
            <a:p>
              <a:pPr algn="ctr" eaLnBrk="0" hangingPunct="0"/>
              <a:r>
                <a:rPr lang="en-US" altLang="zh-CN" sz="2400" b="1">
                  <a:latin typeface="Times New Roman" panose="02020603050405020304" pitchFamily="18" charset="0"/>
                </a:rPr>
                <a:t>DES</a:t>
              </a:r>
              <a:r>
                <a:rPr lang="en-US" altLang="zh-CN" sz="2400" b="1" baseline="30000">
                  <a:latin typeface="Times New Roman" panose="02020603050405020304" pitchFamily="18" charset="0"/>
                </a:rPr>
                <a:t>(1)</a:t>
              </a:r>
              <a:endParaRPr lang="en-US" altLang="zh-CN" sz="2400" b="1"/>
            </a:p>
          </p:txBody>
        </p:sp>
        <p:sp>
          <p:nvSpPr>
            <p:cNvPr id="222217" name="Line 12">
              <a:extLst>
                <a:ext uri="{FF2B5EF4-FFF2-40B4-BE49-F238E27FC236}">
                  <a16:creationId xmlns:a16="http://schemas.microsoft.com/office/drawing/2014/main" id="{C4D1277E-B4CA-994A-84F5-934C8F037FC2}"/>
                </a:ext>
              </a:extLst>
            </p:cNvPr>
            <p:cNvSpPr>
              <a:spLocks noChangeShapeType="1"/>
            </p:cNvSpPr>
            <p:nvPr/>
          </p:nvSpPr>
          <p:spPr bwMode="auto">
            <a:xfrm>
              <a:off x="3060" y="8443"/>
              <a:ext cx="7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22218" name="Line 11">
              <a:extLst>
                <a:ext uri="{FF2B5EF4-FFF2-40B4-BE49-F238E27FC236}">
                  <a16:creationId xmlns:a16="http://schemas.microsoft.com/office/drawing/2014/main" id="{9236B34F-9EC0-F74A-899C-79214303B40B}"/>
                </a:ext>
              </a:extLst>
            </p:cNvPr>
            <p:cNvSpPr>
              <a:spLocks noChangeShapeType="1"/>
            </p:cNvSpPr>
            <p:nvPr/>
          </p:nvSpPr>
          <p:spPr bwMode="auto">
            <a:xfrm>
              <a:off x="4680" y="8430"/>
              <a:ext cx="7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22219" name="Rectangle 10">
              <a:extLst>
                <a:ext uri="{FF2B5EF4-FFF2-40B4-BE49-F238E27FC236}">
                  <a16:creationId xmlns:a16="http://schemas.microsoft.com/office/drawing/2014/main" id="{0466EF44-A0E0-FD4C-A149-496881F791F8}"/>
                </a:ext>
              </a:extLst>
            </p:cNvPr>
            <p:cNvSpPr>
              <a:spLocks noChangeArrowheads="1"/>
            </p:cNvSpPr>
            <p:nvPr/>
          </p:nvSpPr>
          <p:spPr bwMode="auto">
            <a:xfrm>
              <a:off x="5400" y="8225"/>
              <a:ext cx="900" cy="409"/>
            </a:xfrm>
            <a:prstGeom prst="rect">
              <a:avLst/>
            </a:prstGeom>
            <a:solidFill>
              <a:srgbClr val="FFFFFF"/>
            </a:solidFill>
            <a:ln w="9525">
              <a:solidFill>
                <a:srgbClr val="000000"/>
              </a:solidFill>
              <a:miter lim="800000"/>
              <a:headEnd/>
              <a:tailEnd/>
            </a:ln>
          </p:spPr>
          <p:txBody>
            <a:bodyPr/>
            <a:lstStyle/>
            <a:p>
              <a:pPr algn="ctr" eaLnBrk="0" hangingPunct="0"/>
              <a:r>
                <a:rPr lang="en-US" altLang="zh-CN" sz="2400" b="1">
                  <a:latin typeface="Times New Roman" panose="02020603050405020304" pitchFamily="18" charset="0"/>
                </a:rPr>
                <a:t>DES</a:t>
              </a:r>
              <a:r>
                <a:rPr lang="en-US" altLang="zh-CN" sz="2400" b="1" baseline="30000">
                  <a:latin typeface="Times New Roman" panose="02020603050405020304" pitchFamily="18" charset="0"/>
                </a:rPr>
                <a:t>(2)</a:t>
              </a:r>
              <a:endParaRPr lang="en-US" altLang="zh-CN" sz="2400" b="1"/>
            </a:p>
          </p:txBody>
        </p:sp>
        <p:sp>
          <p:nvSpPr>
            <p:cNvPr id="222220" name="Line 9">
              <a:extLst>
                <a:ext uri="{FF2B5EF4-FFF2-40B4-BE49-F238E27FC236}">
                  <a16:creationId xmlns:a16="http://schemas.microsoft.com/office/drawing/2014/main" id="{6A71569C-0970-3240-9263-020662388DF8}"/>
                </a:ext>
              </a:extLst>
            </p:cNvPr>
            <p:cNvSpPr>
              <a:spLocks noChangeShapeType="1"/>
            </p:cNvSpPr>
            <p:nvPr/>
          </p:nvSpPr>
          <p:spPr bwMode="auto">
            <a:xfrm>
              <a:off x="6300" y="8442"/>
              <a:ext cx="54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22221" name="Rectangle 8">
              <a:extLst>
                <a:ext uri="{FF2B5EF4-FFF2-40B4-BE49-F238E27FC236}">
                  <a16:creationId xmlns:a16="http://schemas.microsoft.com/office/drawing/2014/main" id="{59D21812-D4EC-B54F-932E-A3F2507E906B}"/>
                </a:ext>
              </a:extLst>
            </p:cNvPr>
            <p:cNvSpPr>
              <a:spLocks noChangeArrowheads="1"/>
            </p:cNvSpPr>
            <p:nvPr/>
          </p:nvSpPr>
          <p:spPr bwMode="auto">
            <a:xfrm>
              <a:off x="6841" y="8225"/>
              <a:ext cx="899" cy="409"/>
            </a:xfrm>
            <a:prstGeom prst="rect">
              <a:avLst/>
            </a:prstGeom>
            <a:solidFill>
              <a:srgbClr val="FFFFFF"/>
            </a:solidFill>
            <a:ln w="9525">
              <a:solidFill>
                <a:srgbClr val="000000"/>
              </a:solidFill>
              <a:miter lim="800000"/>
              <a:headEnd/>
              <a:tailEnd/>
            </a:ln>
          </p:spPr>
          <p:txBody>
            <a:bodyPr/>
            <a:lstStyle/>
            <a:p>
              <a:pPr algn="ctr" eaLnBrk="0" hangingPunct="0"/>
              <a:r>
                <a:rPr lang="en-US" altLang="zh-CN" sz="2400" b="1">
                  <a:latin typeface="Times New Roman" panose="02020603050405020304" pitchFamily="18" charset="0"/>
                </a:rPr>
                <a:t>DES</a:t>
              </a:r>
              <a:r>
                <a:rPr lang="en-US" altLang="zh-CN" sz="2400" b="1" baseline="30000">
                  <a:latin typeface="Times New Roman" panose="02020603050405020304" pitchFamily="18" charset="0"/>
                </a:rPr>
                <a:t>(3)</a:t>
              </a:r>
              <a:endParaRPr lang="en-US" altLang="zh-CN" sz="2400" b="1"/>
            </a:p>
          </p:txBody>
        </p:sp>
        <p:sp>
          <p:nvSpPr>
            <p:cNvPr id="222222" name="Line 7">
              <a:extLst>
                <a:ext uri="{FF2B5EF4-FFF2-40B4-BE49-F238E27FC236}">
                  <a16:creationId xmlns:a16="http://schemas.microsoft.com/office/drawing/2014/main" id="{BABE5495-734B-294A-BBEC-131AE34ECE3C}"/>
                </a:ext>
              </a:extLst>
            </p:cNvPr>
            <p:cNvSpPr>
              <a:spLocks noChangeShapeType="1"/>
            </p:cNvSpPr>
            <p:nvPr/>
          </p:nvSpPr>
          <p:spPr bwMode="auto">
            <a:xfrm>
              <a:off x="7740" y="8460"/>
              <a:ext cx="7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22223" name="Text Box 6">
              <a:extLst>
                <a:ext uri="{FF2B5EF4-FFF2-40B4-BE49-F238E27FC236}">
                  <a16:creationId xmlns:a16="http://schemas.microsoft.com/office/drawing/2014/main" id="{22EB7777-CAB5-8E49-8AEF-85080DA9A6C1}"/>
                </a:ext>
              </a:extLst>
            </p:cNvPr>
            <p:cNvSpPr txBox="1">
              <a:spLocks noChangeArrowheads="1"/>
            </p:cNvSpPr>
            <p:nvPr/>
          </p:nvSpPr>
          <p:spPr bwMode="auto">
            <a:xfrm>
              <a:off x="5580" y="7332"/>
              <a:ext cx="452"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pPr eaLnBrk="0" hangingPunct="0"/>
              <a:r>
                <a:rPr lang="en-US" altLang="zh-CN" sz="2400" b="1" i="1">
                  <a:latin typeface="Times New Roman" panose="02020603050405020304" pitchFamily="18" charset="0"/>
                </a:rPr>
                <a:t>k</a:t>
              </a:r>
              <a:r>
                <a:rPr lang="en-US" altLang="zh-CN" sz="2400" b="1" baseline="-30000">
                  <a:latin typeface="Times New Roman" panose="02020603050405020304" pitchFamily="18" charset="0"/>
                </a:rPr>
                <a:t>2</a:t>
              </a:r>
              <a:endParaRPr lang="en-US" altLang="zh-CN" sz="2400" b="1"/>
            </a:p>
          </p:txBody>
        </p:sp>
        <p:sp>
          <p:nvSpPr>
            <p:cNvPr id="222224" name="Text Box 5">
              <a:extLst>
                <a:ext uri="{FF2B5EF4-FFF2-40B4-BE49-F238E27FC236}">
                  <a16:creationId xmlns:a16="http://schemas.microsoft.com/office/drawing/2014/main" id="{BA30602B-4708-A74C-93D4-96292EC7FFE9}"/>
                </a:ext>
              </a:extLst>
            </p:cNvPr>
            <p:cNvSpPr txBox="1">
              <a:spLocks noChangeArrowheads="1"/>
            </p:cNvSpPr>
            <p:nvPr/>
          </p:nvSpPr>
          <p:spPr bwMode="auto">
            <a:xfrm>
              <a:off x="7020" y="7320"/>
              <a:ext cx="452"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pPr eaLnBrk="0" hangingPunct="0"/>
              <a:r>
                <a:rPr lang="en-US" altLang="zh-CN" sz="2400" b="1" i="1">
                  <a:latin typeface="Times New Roman" panose="02020603050405020304" pitchFamily="18" charset="0"/>
                </a:rPr>
                <a:t>k</a:t>
              </a:r>
              <a:r>
                <a:rPr lang="en-US" altLang="zh-CN" sz="2400" b="1" baseline="-30000">
                  <a:latin typeface="Times New Roman" panose="02020603050405020304" pitchFamily="18" charset="0"/>
                </a:rPr>
                <a:t>3</a:t>
              </a:r>
              <a:endParaRPr lang="en-US" altLang="zh-CN" sz="2400" b="1"/>
            </a:p>
          </p:txBody>
        </p:sp>
        <p:sp>
          <p:nvSpPr>
            <p:cNvPr id="222225" name="Line 4">
              <a:extLst>
                <a:ext uri="{FF2B5EF4-FFF2-40B4-BE49-F238E27FC236}">
                  <a16:creationId xmlns:a16="http://schemas.microsoft.com/office/drawing/2014/main" id="{A0102745-DBF2-444D-B98C-02B98617470C}"/>
                </a:ext>
              </a:extLst>
            </p:cNvPr>
            <p:cNvSpPr>
              <a:spLocks noChangeShapeType="1"/>
            </p:cNvSpPr>
            <p:nvPr/>
          </p:nvSpPr>
          <p:spPr bwMode="auto">
            <a:xfrm>
              <a:off x="4224" y="7752"/>
              <a:ext cx="1"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22226" name="Line 3">
              <a:extLst>
                <a:ext uri="{FF2B5EF4-FFF2-40B4-BE49-F238E27FC236}">
                  <a16:creationId xmlns:a16="http://schemas.microsoft.com/office/drawing/2014/main" id="{671391EE-761B-5E4E-A3DC-2333F5CA3EB0}"/>
                </a:ext>
              </a:extLst>
            </p:cNvPr>
            <p:cNvSpPr>
              <a:spLocks noChangeShapeType="1"/>
            </p:cNvSpPr>
            <p:nvPr/>
          </p:nvSpPr>
          <p:spPr bwMode="auto">
            <a:xfrm>
              <a:off x="5820" y="7740"/>
              <a:ext cx="1"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222227" name="Line 2">
              <a:extLst>
                <a:ext uri="{FF2B5EF4-FFF2-40B4-BE49-F238E27FC236}">
                  <a16:creationId xmlns:a16="http://schemas.microsoft.com/office/drawing/2014/main" id="{7E8D1E94-392B-2242-A97D-2FDFF9656180}"/>
                </a:ext>
              </a:extLst>
            </p:cNvPr>
            <p:cNvSpPr>
              <a:spLocks noChangeShapeType="1"/>
            </p:cNvSpPr>
            <p:nvPr/>
          </p:nvSpPr>
          <p:spPr bwMode="auto">
            <a:xfrm>
              <a:off x="7284" y="7728"/>
              <a:ext cx="1"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标题 1">
            <a:extLst>
              <a:ext uri="{FF2B5EF4-FFF2-40B4-BE49-F238E27FC236}">
                <a16:creationId xmlns:a16="http://schemas.microsoft.com/office/drawing/2014/main" id="{CAEE13EF-C6E4-3D47-9721-1639AE49CC29}"/>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双密钥三重</a:t>
            </a:r>
            <a:r>
              <a:rPr lang="en-US" altLang="zh-CN">
                <a:solidFill>
                  <a:srgbClr val="1F4E79"/>
                </a:solidFill>
              </a:rPr>
              <a:t>DES</a:t>
            </a:r>
            <a:r>
              <a:rPr lang="zh-CN" altLang="en-US">
                <a:solidFill>
                  <a:srgbClr val="1F4E79"/>
                </a:solidFill>
              </a:rPr>
              <a:t>算法</a:t>
            </a:r>
          </a:p>
        </p:txBody>
      </p:sp>
      <p:sp>
        <p:nvSpPr>
          <p:cNvPr id="224258" name="内容占位符 2">
            <a:extLst>
              <a:ext uri="{FF2B5EF4-FFF2-40B4-BE49-F238E27FC236}">
                <a16:creationId xmlns:a16="http://schemas.microsoft.com/office/drawing/2014/main" id="{8AAB71C6-B922-1942-9D3C-FCED7C385E21}"/>
              </a:ext>
            </a:extLst>
          </p:cNvPr>
          <p:cNvSpPr>
            <a:spLocks noGrp="1" noChangeArrowheads="1"/>
          </p:cNvSpPr>
          <p:nvPr>
            <p:ph idx="1"/>
          </p:nvPr>
        </p:nvSpPr>
        <p:spPr>
          <a:xfrm>
            <a:off x="838200" y="1143000"/>
            <a:ext cx="10515600" cy="4579938"/>
          </a:xfrm>
        </p:spPr>
        <p:txBody>
          <a:bodyPr/>
          <a:lstStyle/>
          <a:p>
            <a:pPr algn="just" eaLnBrk="1" hangingPunct="1">
              <a:lnSpc>
                <a:spcPct val="120000"/>
              </a:lnSpc>
              <a:buFont typeface="Wingdings" pitchFamily="2" charset="2"/>
              <a:buNone/>
            </a:pPr>
            <a:r>
              <a:rPr lang="zh-CN" altLang="en-US">
                <a:latin typeface="Times New Roman" panose="02020603050405020304" pitchFamily="18" charset="0"/>
              </a:rPr>
              <a:t>加密：</a:t>
            </a:r>
            <a:r>
              <a:rPr lang="en-US" altLang="zh-CN" i="1">
                <a:latin typeface="Times New Roman" panose="02020603050405020304" pitchFamily="18" charset="0"/>
              </a:rPr>
              <a:t>y</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baseline="-25000">
                <a:latin typeface="Times New Roman" panose="02020603050405020304" pitchFamily="18" charset="0"/>
              </a:rPr>
              <a:t>k1</a:t>
            </a:r>
            <a:r>
              <a:rPr lang="en-US" altLang="zh-CN">
                <a:latin typeface="Times New Roman" panose="02020603050405020304" pitchFamily="18" charset="0"/>
              </a:rPr>
              <a:t>[</a:t>
            </a:r>
            <a:r>
              <a:rPr lang="en-US" altLang="zh-CN" i="1">
                <a:latin typeface="Times New Roman" panose="02020603050405020304" pitchFamily="18" charset="0"/>
              </a:rPr>
              <a:t>D</a:t>
            </a:r>
            <a:r>
              <a:rPr lang="en-US" altLang="zh-CN" baseline="-25000">
                <a:latin typeface="Times New Roman" panose="02020603050405020304" pitchFamily="18" charset="0"/>
              </a:rPr>
              <a:t>k2</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baseline="-25000">
                <a:latin typeface="Times New Roman" panose="02020603050405020304" pitchFamily="18" charset="0"/>
              </a:rPr>
              <a:t>k1 </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a:latin typeface="Times New Roman" panose="02020603050405020304" pitchFamily="18" charset="0"/>
              </a:rPr>
              <a:t>]]]</a:t>
            </a:r>
          </a:p>
          <a:p>
            <a:pPr algn="just" eaLnBrk="1" hangingPunct="1">
              <a:lnSpc>
                <a:spcPct val="120000"/>
              </a:lnSpc>
              <a:buFont typeface="Wingdings" pitchFamily="2" charset="2"/>
              <a:buNone/>
            </a:pPr>
            <a:r>
              <a:rPr lang="zh-CN" altLang="en-US">
                <a:latin typeface="Times New Roman" panose="02020603050405020304" pitchFamily="18" charset="0"/>
              </a:rPr>
              <a:t>解密：</a:t>
            </a:r>
            <a:r>
              <a:rPr lang="en-US" altLang="zh-CN" i="1">
                <a:latin typeface="Times New Roman" panose="02020603050405020304" pitchFamily="18" charset="0"/>
              </a:rPr>
              <a:t>x</a:t>
            </a:r>
            <a:r>
              <a:rPr lang="en-US" altLang="zh-CN">
                <a:latin typeface="Times New Roman" panose="02020603050405020304" pitchFamily="18" charset="0"/>
              </a:rPr>
              <a:t>=</a:t>
            </a:r>
            <a:r>
              <a:rPr lang="en-US" altLang="zh-CN" i="1">
                <a:latin typeface="Times New Roman" panose="02020603050405020304" pitchFamily="18" charset="0"/>
              </a:rPr>
              <a:t>D</a:t>
            </a:r>
            <a:r>
              <a:rPr lang="en-US" altLang="zh-CN" baseline="-25000">
                <a:latin typeface="Times New Roman" panose="02020603050405020304" pitchFamily="18" charset="0"/>
              </a:rPr>
              <a:t>k1</a:t>
            </a:r>
            <a:r>
              <a:rPr lang="en-US" altLang="zh-CN">
                <a:latin typeface="Times New Roman" panose="02020603050405020304" pitchFamily="18" charset="0"/>
              </a:rPr>
              <a:t>[</a:t>
            </a:r>
            <a:r>
              <a:rPr lang="en-US" altLang="zh-CN" i="1">
                <a:latin typeface="Times New Roman" panose="02020603050405020304" pitchFamily="18" charset="0"/>
              </a:rPr>
              <a:t>E</a:t>
            </a:r>
            <a:r>
              <a:rPr lang="en-US" altLang="zh-CN" baseline="-25000">
                <a:latin typeface="Times New Roman" panose="02020603050405020304" pitchFamily="18" charset="0"/>
              </a:rPr>
              <a:t>k2</a:t>
            </a:r>
            <a:r>
              <a:rPr lang="en-US" altLang="zh-CN">
                <a:latin typeface="Times New Roman" panose="02020603050405020304" pitchFamily="18" charset="0"/>
              </a:rPr>
              <a:t>[</a:t>
            </a:r>
            <a:r>
              <a:rPr lang="en-US" altLang="zh-CN" i="1">
                <a:latin typeface="Times New Roman" panose="02020603050405020304" pitchFamily="18" charset="0"/>
              </a:rPr>
              <a:t>D</a:t>
            </a:r>
            <a:r>
              <a:rPr lang="en-US" altLang="zh-CN" baseline="-25000">
                <a:latin typeface="Times New Roman" panose="02020603050405020304" pitchFamily="18" charset="0"/>
              </a:rPr>
              <a:t>k1</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a:latin typeface="Times New Roman" panose="02020603050405020304" pitchFamily="18" charset="0"/>
              </a:rPr>
              <a:t>]]]</a:t>
            </a:r>
          </a:p>
          <a:p>
            <a:pPr algn="just" eaLnBrk="1" hangingPunct="1">
              <a:lnSpc>
                <a:spcPct val="120000"/>
              </a:lnSpc>
              <a:spcAft>
                <a:spcPts val="600"/>
              </a:spcAft>
            </a:pPr>
            <a:r>
              <a:rPr lang="zh-CN" altLang="en-US">
                <a:latin typeface="Times New Roman" panose="02020603050405020304" pitchFamily="18" charset="0"/>
              </a:rPr>
              <a:t>称其为加密</a:t>
            </a:r>
            <a:r>
              <a:rPr lang="en-US" altLang="zh-CN">
                <a:latin typeface="Times New Roman" panose="02020603050405020304" pitchFamily="18" charset="0"/>
              </a:rPr>
              <a:t>-</a:t>
            </a:r>
            <a:r>
              <a:rPr lang="zh-CN" altLang="en-US">
                <a:latin typeface="Times New Roman" panose="02020603050405020304" pitchFamily="18" charset="0"/>
              </a:rPr>
              <a:t>解密</a:t>
            </a:r>
            <a:r>
              <a:rPr lang="en-US" altLang="zh-CN">
                <a:latin typeface="Times New Roman" panose="02020603050405020304" pitchFamily="18" charset="0"/>
              </a:rPr>
              <a:t>-</a:t>
            </a:r>
            <a:r>
              <a:rPr lang="zh-CN" altLang="en-US">
                <a:latin typeface="Times New Roman" panose="02020603050405020304" pitchFamily="18" charset="0"/>
              </a:rPr>
              <a:t>加密方案，简记为</a:t>
            </a:r>
            <a:r>
              <a:rPr lang="en-US" altLang="zh-CN">
                <a:latin typeface="Times New Roman" panose="02020603050405020304" pitchFamily="18" charset="0"/>
              </a:rPr>
              <a:t>EDE(encrypt-decrypt-encrypt)</a:t>
            </a:r>
            <a:r>
              <a:rPr lang="zh-CN" altLang="en-US">
                <a:latin typeface="Times New Roman" panose="02020603050405020304" pitchFamily="18" charset="0"/>
              </a:rPr>
              <a:t>。</a:t>
            </a:r>
          </a:p>
          <a:p>
            <a:pPr algn="just" eaLnBrk="1" hangingPunct="1">
              <a:lnSpc>
                <a:spcPct val="120000"/>
              </a:lnSpc>
              <a:spcAft>
                <a:spcPts val="600"/>
              </a:spcAft>
            </a:pPr>
            <a:r>
              <a:rPr lang="zh-CN" altLang="en-US">
                <a:latin typeface="Times New Roman" panose="02020603050405020304" pitchFamily="18" charset="0"/>
              </a:rPr>
              <a:t>此方案已在</a:t>
            </a:r>
            <a:r>
              <a:rPr lang="en-US" altLang="zh-CN">
                <a:latin typeface="Times New Roman" panose="02020603050405020304" pitchFamily="18" charset="0"/>
              </a:rPr>
              <a:t>ANSI X9.17</a:t>
            </a:r>
            <a:r>
              <a:rPr lang="zh-CN" altLang="en-US">
                <a:latin typeface="Times New Roman" panose="02020603050405020304" pitchFamily="18" charset="0"/>
              </a:rPr>
              <a:t>和</a:t>
            </a:r>
            <a:r>
              <a:rPr lang="en-US" altLang="zh-CN">
                <a:latin typeface="Times New Roman" panose="02020603050405020304" pitchFamily="18" charset="0"/>
              </a:rPr>
              <a:t>ISO 8732</a:t>
            </a:r>
            <a:r>
              <a:rPr lang="zh-CN" altLang="en-US">
                <a:latin typeface="Times New Roman" panose="02020603050405020304" pitchFamily="18" charset="0"/>
              </a:rPr>
              <a:t>标准中采用，并在保密增强邮件</a:t>
            </a:r>
            <a:r>
              <a:rPr lang="en-US" altLang="zh-CN">
                <a:latin typeface="Times New Roman" panose="02020603050405020304" pitchFamily="18" charset="0"/>
              </a:rPr>
              <a:t>(PEM)</a:t>
            </a:r>
            <a:r>
              <a:rPr lang="zh-CN" altLang="en-US">
                <a:latin typeface="Times New Roman" panose="02020603050405020304" pitchFamily="18" charset="0"/>
              </a:rPr>
              <a:t>系统中得到利用。</a:t>
            </a:r>
          </a:p>
          <a:p>
            <a:pPr>
              <a:lnSpc>
                <a:spcPct val="120000"/>
              </a:lnSpc>
            </a:pPr>
            <a:endParaRPr lang="zh-CN" altLang="en-US"/>
          </a:p>
        </p:txBody>
      </p:sp>
      <p:pic>
        <p:nvPicPr>
          <p:cNvPr id="224259" name="Picture 3" descr="xd31">
            <a:extLst>
              <a:ext uri="{FF2B5EF4-FFF2-40B4-BE49-F238E27FC236}">
                <a16:creationId xmlns:a16="http://schemas.microsoft.com/office/drawing/2014/main" id="{7A4C97E8-5279-4F45-8C1C-381450B8DA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3476625"/>
            <a:ext cx="6880225"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标题 1">
            <a:extLst>
              <a:ext uri="{FF2B5EF4-FFF2-40B4-BE49-F238E27FC236}">
                <a16:creationId xmlns:a16="http://schemas.microsoft.com/office/drawing/2014/main" id="{83A94A3D-C45B-7546-9698-855D1F26637C}"/>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双密钥三重</a:t>
            </a:r>
            <a:r>
              <a:rPr lang="en-US" altLang="zh-CN">
                <a:solidFill>
                  <a:srgbClr val="1F4E79"/>
                </a:solidFill>
              </a:rPr>
              <a:t>DES</a:t>
            </a:r>
            <a:r>
              <a:rPr lang="zh-CN" altLang="en-US">
                <a:solidFill>
                  <a:srgbClr val="1F4E79"/>
                </a:solidFill>
              </a:rPr>
              <a:t>算法的安全性</a:t>
            </a:r>
          </a:p>
        </p:txBody>
      </p:sp>
      <p:sp>
        <p:nvSpPr>
          <p:cNvPr id="226306" name="内容占位符 2">
            <a:extLst>
              <a:ext uri="{FF2B5EF4-FFF2-40B4-BE49-F238E27FC236}">
                <a16:creationId xmlns:a16="http://schemas.microsoft.com/office/drawing/2014/main" id="{5C9322C0-F601-184E-AAAF-4E6B408C9D19}"/>
              </a:ext>
            </a:extLst>
          </p:cNvPr>
          <p:cNvSpPr>
            <a:spLocks noGrp="1" noChangeArrowheads="1"/>
          </p:cNvSpPr>
          <p:nvPr>
            <p:ph idx="1"/>
          </p:nvPr>
        </p:nvSpPr>
        <p:spPr>
          <a:xfrm>
            <a:off x="823913" y="1465263"/>
            <a:ext cx="10515600" cy="4579937"/>
          </a:xfrm>
        </p:spPr>
        <p:txBody>
          <a:bodyPr/>
          <a:lstStyle/>
          <a:p>
            <a:pPr>
              <a:lnSpc>
                <a:spcPct val="120000"/>
              </a:lnSpc>
            </a:pPr>
            <a:r>
              <a:rPr lang="zh-CN" altLang="en-US" sz="2800">
                <a:latin typeface="Times New Roman" panose="02020603050405020304" pitchFamily="18" charset="0"/>
              </a:rPr>
              <a:t>破译它的穷举密钥搜索量为</a:t>
            </a:r>
            <a:r>
              <a:rPr lang="en-US" altLang="zh-CN" sz="2800">
                <a:latin typeface="Times New Roman" panose="02020603050405020304" pitchFamily="18" charset="0"/>
              </a:rPr>
              <a:t>2</a:t>
            </a:r>
            <a:r>
              <a:rPr lang="en-US" altLang="zh-CN" sz="2800" baseline="30000">
                <a:latin typeface="Times New Roman" panose="02020603050405020304" pitchFamily="18" charset="0"/>
              </a:rPr>
              <a:t>112</a:t>
            </a:r>
            <a:r>
              <a:rPr lang="en-US" altLang="zh-CN" sz="2800">
                <a:latin typeface="Times New Roman" panose="02020603050405020304" pitchFamily="18" charset="0"/>
                <a:sym typeface="Symbol" pitchFamily="2" charset="2"/>
              </a:rPr>
              <a:t></a:t>
            </a:r>
            <a:r>
              <a:rPr lang="en-US" altLang="zh-CN" sz="2800">
                <a:latin typeface="Times New Roman" panose="02020603050405020304" pitchFamily="18" charset="0"/>
              </a:rPr>
              <a:t>5×10</a:t>
            </a:r>
            <a:r>
              <a:rPr lang="en-US" altLang="zh-CN" sz="2800" baseline="30000">
                <a:latin typeface="Times New Roman" panose="02020603050405020304" pitchFamily="18" charset="0"/>
              </a:rPr>
              <a:t>35</a:t>
            </a:r>
            <a:r>
              <a:rPr lang="zh-CN" altLang="en-US" sz="2800">
                <a:latin typeface="Times New Roman" panose="02020603050405020304" pitchFamily="18" charset="0"/>
              </a:rPr>
              <a:t>量级</a:t>
            </a:r>
            <a:endParaRPr lang="en-US" altLang="zh-CN" sz="2800">
              <a:latin typeface="Times New Roman" panose="02020603050405020304" pitchFamily="18" charset="0"/>
            </a:endParaRPr>
          </a:p>
          <a:p>
            <a:pPr>
              <a:lnSpc>
                <a:spcPct val="120000"/>
              </a:lnSpc>
            </a:pPr>
            <a:r>
              <a:rPr lang="zh-CN" altLang="en-US" sz="2800">
                <a:latin typeface="Times New Roman" panose="02020603050405020304" pitchFamily="18" charset="0"/>
              </a:rPr>
              <a:t>差分分析破译也要超过</a:t>
            </a:r>
            <a:r>
              <a:rPr lang="en-US" altLang="zh-CN" sz="2800">
                <a:latin typeface="Times New Roman" panose="02020603050405020304" pitchFamily="18" charset="0"/>
              </a:rPr>
              <a:t>10</a:t>
            </a:r>
            <a:r>
              <a:rPr lang="en-US" altLang="zh-CN" sz="2800" baseline="30000">
                <a:latin typeface="Times New Roman" panose="02020603050405020304" pitchFamily="18" charset="0"/>
              </a:rPr>
              <a:t>52</a:t>
            </a:r>
            <a:r>
              <a:rPr lang="zh-CN" altLang="en-US" sz="2800">
                <a:latin typeface="Times New Roman" panose="02020603050405020304" pitchFamily="18" charset="0"/>
              </a:rPr>
              <a:t>量级</a:t>
            </a:r>
            <a:endParaRPr lang="en-US" altLang="zh-CN" sz="2800">
              <a:latin typeface="Times New Roman" panose="02020603050405020304" pitchFamily="18" charset="0"/>
            </a:endParaRPr>
          </a:p>
          <a:p>
            <a:pPr>
              <a:lnSpc>
                <a:spcPct val="120000"/>
              </a:lnSpc>
            </a:pPr>
            <a:r>
              <a:rPr lang="zh-CN" altLang="en-US" sz="2800">
                <a:latin typeface="Times New Roman" panose="02020603050405020304" pitchFamily="18" charset="0"/>
              </a:rPr>
              <a:t>此方案仍有足够的安全性</a:t>
            </a:r>
            <a:endParaRPr lang="zh-CN" altLang="en-US" sz="2800"/>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副标题 2">
            <a:extLst>
              <a:ext uri="{FF2B5EF4-FFF2-40B4-BE49-F238E27FC236}">
                <a16:creationId xmlns:a16="http://schemas.microsoft.com/office/drawing/2014/main" id="{E258CBBE-F6A4-8741-A273-D64E73C6BACE}"/>
              </a:ext>
            </a:extLst>
          </p:cNvPr>
          <p:cNvSpPr>
            <a:spLocks noGrp="1" noChangeArrowheads="1"/>
          </p:cNvSpPr>
          <p:nvPr>
            <p:ph type="subTitle" idx="1"/>
          </p:nvPr>
        </p:nvSpPr>
        <p:spPr>
          <a:xfrm>
            <a:off x="0" y="3048000"/>
            <a:ext cx="12192000" cy="790575"/>
          </a:xfrm>
        </p:spPr>
        <p:txBody>
          <a:bodyPr/>
          <a:lstStyle/>
          <a:p>
            <a:r>
              <a:rPr lang="zh-CN" altLang="en-US" sz="3600" b="1"/>
              <a:t>分组密码的工作模式</a:t>
            </a:r>
            <a:endParaRPr lang="en-US" altLang="zh-CN" sz="3600" b="1"/>
          </a:p>
        </p:txBody>
      </p:sp>
    </p:spTree>
  </p:cSld>
  <p:clrMapOvr>
    <a:masterClrMapping/>
  </p:clrMapOvr>
  <p:transition spd="slow">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标题 3">
            <a:extLst>
              <a:ext uri="{FF2B5EF4-FFF2-40B4-BE49-F238E27FC236}">
                <a16:creationId xmlns:a16="http://schemas.microsoft.com/office/drawing/2014/main" id="{D65A703F-8ADE-A648-8C6E-DC1DD434FB5E}"/>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为什么需要工作模式？</a:t>
            </a:r>
          </a:p>
        </p:txBody>
      </p:sp>
      <p:sp>
        <p:nvSpPr>
          <p:cNvPr id="230402" name="内容占位符 4">
            <a:extLst>
              <a:ext uri="{FF2B5EF4-FFF2-40B4-BE49-F238E27FC236}">
                <a16:creationId xmlns:a16="http://schemas.microsoft.com/office/drawing/2014/main" id="{6CEF446F-892B-5F49-B24B-82A257E97341}"/>
              </a:ext>
            </a:extLst>
          </p:cNvPr>
          <p:cNvSpPr>
            <a:spLocks noGrp="1" noChangeArrowheads="1"/>
          </p:cNvSpPr>
          <p:nvPr>
            <p:ph idx="1"/>
          </p:nvPr>
        </p:nvSpPr>
        <p:spPr>
          <a:xfrm>
            <a:off x="823913" y="1465263"/>
            <a:ext cx="10515600" cy="4579937"/>
          </a:xfrm>
        </p:spPr>
        <p:txBody>
          <a:bodyPr/>
          <a:lstStyle/>
          <a:p>
            <a:pPr>
              <a:lnSpc>
                <a:spcPct val="120000"/>
              </a:lnSpc>
            </a:pPr>
            <a:r>
              <a:rPr lang="zh-CN" altLang="en-US" sz="2800"/>
              <a:t>分组密码的工作模式是：根据不同的数据格式和安全性要求</a:t>
            </a:r>
            <a:r>
              <a:rPr lang="en-US" altLang="zh-CN" sz="2800"/>
              <a:t>, </a:t>
            </a:r>
            <a:r>
              <a:rPr lang="zh-CN" altLang="en-US" sz="2800" u="sng"/>
              <a:t>以一个具体的分组密码算法为基础构造一个分组密码系统</a:t>
            </a:r>
            <a:r>
              <a:rPr lang="zh-CN" altLang="en-US" sz="2800"/>
              <a:t>的方法</a:t>
            </a:r>
            <a:endParaRPr lang="en-US" altLang="zh-CN" sz="2800"/>
          </a:p>
          <a:p>
            <a:pPr>
              <a:lnSpc>
                <a:spcPct val="120000"/>
              </a:lnSpc>
            </a:pPr>
            <a:r>
              <a:rPr lang="zh-CN" altLang="en-US" sz="2800"/>
              <a:t>分组密码的工作模式应当力求</a:t>
            </a:r>
            <a:r>
              <a:rPr lang="zh-CN" altLang="en-US" sz="2800" u="sng"/>
              <a:t>简单</a:t>
            </a:r>
            <a:r>
              <a:rPr lang="en-US" altLang="zh-CN" sz="2800" u="sng"/>
              <a:t>, </a:t>
            </a:r>
            <a:r>
              <a:rPr lang="zh-CN" altLang="en-US" sz="2800" u="sng"/>
              <a:t>有效和易于实现</a:t>
            </a:r>
            <a:endParaRPr lang="en-US" altLang="zh-CN" sz="2800" u="sng"/>
          </a:p>
          <a:p>
            <a:pPr>
              <a:lnSpc>
                <a:spcPct val="120000"/>
              </a:lnSpc>
            </a:pPr>
            <a:r>
              <a:rPr lang="zh-CN" altLang="en-US" sz="2800"/>
              <a:t>需要采用适当的工作模式来</a:t>
            </a:r>
            <a:r>
              <a:rPr lang="zh-CN" altLang="en-US" sz="2800" u="sng"/>
              <a:t>隐蔽明文的统计特性、数据的格式</a:t>
            </a:r>
            <a:r>
              <a:rPr lang="zh-CN" altLang="en-US" sz="2800"/>
              <a:t>等</a:t>
            </a:r>
            <a:endParaRPr lang="en-US" altLang="zh-CN" sz="2800"/>
          </a:p>
          <a:p>
            <a:pPr>
              <a:lnSpc>
                <a:spcPct val="120000"/>
              </a:lnSpc>
            </a:pPr>
            <a:r>
              <a:rPr lang="zh-CN" altLang="en-US" sz="2800"/>
              <a:t>降低</a:t>
            </a:r>
            <a:r>
              <a:rPr lang="zh-CN" altLang="en-US" sz="2800" u="sng"/>
              <a:t>删除、重放、插入和伪造</a:t>
            </a:r>
            <a:r>
              <a:rPr lang="zh-CN" altLang="en-US" sz="2800"/>
              <a:t>成功的机会</a:t>
            </a: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标题 1">
            <a:extLst>
              <a:ext uri="{FF2B5EF4-FFF2-40B4-BE49-F238E27FC236}">
                <a16:creationId xmlns:a16="http://schemas.microsoft.com/office/drawing/2014/main" id="{7F4ABDF8-9840-674B-83B1-DED4EC1165C6}"/>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分组密码的主要工作模式</a:t>
            </a:r>
          </a:p>
        </p:txBody>
      </p:sp>
      <p:sp>
        <p:nvSpPr>
          <p:cNvPr id="232450" name="内容占位符 2">
            <a:extLst>
              <a:ext uri="{FF2B5EF4-FFF2-40B4-BE49-F238E27FC236}">
                <a16:creationId xmlns:a16="http://schemas.microsoft.com/office/drawing/2014/main" id="{29DFC2B4-0F6F-3D4C-A510-BAA6E69367FF}"/>
              </a:ext>
            </a:extLst>
          </p:cNvPr>
          <p:cNvSpPr>
            <a:spLocks noGrp="1" noChangeArrowheads="1"/>
          </p:cNvSpPr>
          <p:nvPr>
            <p:ph idx="1"/>
          </p:nvPr>
        </p:nvSpPr>
        <p:spPr>
          <a:xfrm>
            <a:off x="823913" y="1465263"/>
            <a:ext cx="10515600" cy="4579937"/>
          </a:xfrm>
        </p:spPr>
        <p:txBody>
          <a:bodyPr/>
          <a:lstStyle/>
          <a:p>
            <a:pPr marL="0" indent="0">
              <a:lnSpc>
                <a:spcPct val="120000"/>
              </a:lnSpc>
              <a:buFont typeface="Arial" panose="020B0604020202020204" pitchFamily="34" charset="0"/>
              <a:buNone/>
            </a:pPr>
            <a:r>
              <a:rPr lang="en-US" altLang="zh-CN"/>
              <a:t>   </a:t>
            </a:r>
            <a:r>
              <a:rPr lang="en-US" altLang="zh-CN" sz="2800"/>
              <a:t>1</a:t>
            </a:r>
            <a:r>
              <a:rPr lang="zh-CN" altLang="en-US" sz="2800"/>
              <a:t>．电码本</a:t>
            </a:r>
            <a:r>
              <a:rPr lang="en-US" altLang="zh-CN" sz="2800"/>
              <a:t>(ECB)</a:t>
            </a:r>
            <a:r>
              <a:rPr lang="zh-CN" altLang="en-US" sz="2800"/>
              <a:t>模式</a:t>
            </a:r>
          </a:p>
          <a:p>
            <a:pPr marL="0" indent="0">
              <a:lnSpc>
                <a:spcPct val="120000"/>
              </a:lnSpc>
              <a:buFont typeface="Arial" panose="020B0604020202020204" pitchFamily="34" charset="0"/>
              <a:buNone/>
            </a:pPr>
            <a:r>
              <a:rPr lang="zh-CN" altLang="en-US" sz="2800"/>
              <a:t>   </a:t>
            </a:r>
            <a:r>
              <a:rPr lang="en-US" altLang="zh-CN" sz="2800"/>
              <a:t>2</a:t>
            </a:r>
            <a:r>
              <a:rPr lang="zh-CN" altLang="en-US" sz="2800"/>
              <a:t>．密码分组链接</a:t>
            </a:r>
            <a:r>
              <a:rPr lang="en-US" altLang="zh-CN" sz="2800"/>
              <a:t>(CBC)</a:t>
            </a:r>
            <a:r>
              <a:rPr lang="zh-CN" altLang="en-US" sz="2800"/>
              <a:t>模式</a:t>
            </a:r>
          </a:p>
          <a:p>
            <a:pPr marL="0" indent="0">
              <a:lnSpc>
                <a:spcPct val="120000"/>
              </a:lnSpc>
              <a:buFont typeface="Arial" panose="020B0604020202020204" pitchFamily="34" charset="0"/>
              <a:buNone/>
            </a:pPr>
            <a:r>
              <a:rPr lang="zh-CN" altLang="en-US" sz="2800"/>
              <a:t>   </a:t>
            </a:r>
            <a:r>
              <a:rPr lang="en-US" altLang="zh-CN" sz="2800"/>
              <a:t>3</a:t>
            </a:r>
            <a:r>
              <a:rPr lang="zh-CN" altLang="en-US" sz="2800"/>
              <a:t>．密码反馈</a:t>
            </a:r>
            <a:r>
              <a:rPr lang="en-US" altLang="zh-CN" sz="2800"/>
              <a:t>(CFB)</a:t>
            </a:r>
            <a:r>
              <a:rPr lang="zh-CN" altLang="en-US" sz="2800"/>
              <a:t>模式</a:t>
            </a:r>
          </a:p>
          <a:p>
            <a:pPr marL="0" indent="0">
              <a:lnSpc>
                <a:spcPct val="120000"/>
              </a:lnSpc>
              <a:buFont typeface="Arial" panose="020B0604020202020204" pitchFamily="34" charset="0"/>
              <a:buNone/>
            </a:pPr>
            <a:r>
              <a:rPr lang="zh-CN" altLang="en-US" sz="2800"/>
              <a:t>   </a:t>
            </a:r>
            <a:r>
              <a:rPr lang="en-US" altLang="zh-CN" sz="2800"/>
              <a:t>4</a:t>
            </a:r>
            <a:r>
              <a:rPr lang="zh-CN" altLang="en-US" sz="2800"/>
              <a:t>．输出反馈</a:t>
            </a:r>
            <a:r>
              <a:rPr lang="en-US" altLang="zh-CN" sz="2800"/>
              <a:t>(OFB)</a:t>
            </a:r>
            <a:r>
              <a:rPr lang="zh-CN" altLang="en-US" sz="2800"/>
              <a:t>模式</a:t>
            </a:r>
          </a:p>
          <a:p>
            <a:pPr marL="0" indent="0">
              <a:lnSpc>
                <a:spcPct val="120000"/>
              </a:lnSpc>
              <a:buFont typeface="Arial" panose="020B0604020202020204" pitchFamily="34" charset="0"/>
              <a:buNone/>
            </a:pPr>
            <a:r>
              <a:rPr lang="zh-CN" altLang="en-US" sz="2800"/>
              <a:t>   </a:t>
            </a:r>
            <a:r>
              <a:rPr lang="en-US" altLang="zh-CN" sz="2800"/>
              <a:t>5. </a:t>
            </a:r>
            <a:r>
              <a:rPr lang="zh-CN" altLang="en-US" sz="2800"/>
              <a:t>计数器模式</a:t>
            </a:r>
          </a:p>
          <a:p>
            <a:pPr marL="0" indent="0"/>
            <a:endParaRPr lang="zh-CN" altLang="en-US"/>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7" name="Rectangle 2">
            <a:extLst>
              <a:ext uri="{FF2B5EF4-FFF2-40B4-BE49-F238E27FC236}">
                <a16:creationId xmlns:a16="http://schemas.microsoft.com/office/drawing/2014/main" id="{E6C3D65F-84BC-994F-A464-A783175B55BA}"/>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电码本</a:t>
            </a:r>
            <a:r>
              <a:rPr lang="en-US" altLang="zh-CN">
                <a:solidFill>
                  <a:srgbClr val="1F4E79"/>
                </a:solidFill>
              </a:rPr>
              <a:t>ECB</a:t>
            </a:r>
            <a:r>
              <a:rPr lang="zh-CN" altLang="en-US">
                <a:solidFill>
                  <a:srgbClr val="1F4E79"/>
                </a:solidFill>
              </a:rPr>
              <a:t>（</a:t>
            </a:r>
            <a:r>
              <a:rPr lang="en-US" altLang="zh-CN">
                <a:solidFill>
                  <a:srgbClr val="1F4E79"/>
                </a:solidFill>
              </a:rPr>
              <a:t>Electronic Code Book</a:t>
            </a:r>
            <a:r>
              <a:rPr lang="zh-CN" altLang="en-US">
                <a:solidFill>
                  <a:srgbClr val="1F4E79"/>
                </a:solidFill>
              </a:rPr>
              <a:t>）模式</a:t>
            </a:r>
          </a:p>
        </p:txBody>
      </p:sp>
      <p:sp>
        <p:nvSpPr>
          <p:cNvPr id="234498" name="Text Box 3">
            <a:extLst>
              <a:ext uri="{FF2B5EF4-FFF2-40B4-BE49-F238E27FC236}">
                <a16:creationId xmlns:a16="http://schemas.microsoft.com/office/drawing/2014/main" id="{CD42D291-C35F-6546-9001-32EE6FADA7CE}"/>
              </a:ext>
            </a:extLst>
          </p:cNvPr>
          <p:cNvSpPr txBox="1">
            <a:spLocks noChangeArrowheads="1"/>
          </p:cNvSpPr>
          <p:nvPr/>
        </p:nvSpPr>
        <p:spPr bwMode="auto">
          <a:xfrm>
            <a:off x="3184525" y="383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234499" name="Text Box 4">
            <a:extLst>
              <a:ext uri="{FF2B5EF4-FFF2-40B4-BE49-F238E27FC236}">
                <a16:creationId xmlns:a16="http://schemas.microsoft.com/office/drawing/2014/main" id="{E5E48C3B-B8C4-964B-A9EF-91B91D8C3DE4}"/>
              </a:ext>
            </a:extLst>
          </p:cNvPr>
          <p:cNvSpPr txBox="1">
            <a:spLocks noChangeArrowheads="1"/>
          </p:cNvSpPr>
          <p:nvPr/>
        </p:nvSpPr>
        <p:spPr bwMode="auto">
          <a:xfrm>
            <a:off x="3870325" y="3906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234500" name="Text Box 5">
            <a:extLst>
              <a:ext uri="{FF2B5EF4-FFF2-40B4-BE49-F238E27FC236}">
                <a16:creationId xmlns:a16="http://schemas.microsoft.com/office/drawing/2014/main" id="{C45D38D0-6656-2E46-80E1-1EC0C255470F}"/>
              </a:ext>
            </a:extLst>
          </p:cNvPr>
          <p:cNvSpPr txBox="1">
            <a:spLocks noChangeArrowheads="1"/>
          </p:cNvSpPr>
          <p:nvPr/>
        </p:nvSpPr>
        <p:spPr bwMode="auto">
          <a:xfrm>
            <a:off x="3870325" y="5964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pic>
        <p:nvPicPr>
          <p:cNvPr id="234501" name="Picture 6" descr="xd32">
            <a:extLst>
              <a:ext uri="{FF2B5EF4-FFF2-40B4-BE49-F238E27FC236}">
                <a16:creationId xmlns:a16="http://schemas.microsoft.com/office/drawing/2014/main" id="{784DA9BA-9FD2-D043-A5CD-DE67889AE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530350"/>
            <a:ext cx="7239000"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标题 1">
            <a:extLst>
              <a:ext uri="{FF2B5EF4-FFF2-40B4-BE49-F238E27FC236}">
                <a16:creationId xmlns:a16="http://schemas.microsoft.com/office/drawing/2014/main" id="{B3FBABFD-FDBB-2748-901A-2F6B0FEB63D6}"/>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ECB</a:t>
            </a:r>
            <a:r>
              <a:rPr lang="zh-CN" altLang="en-US">
                <a:solidFill>
                  <a:srgbClr val="1F4E79"/>
                </a:solidFill>
              </a:rPr>
              <a:t>模式的优、缺点</a:t>
            </a:r>
          </a:p>
        </p:txBody>
      </p:sp>
      <p:sp>
        <p:nvSpPr>
          <p:cNvPr id="236546" name="内容占位符 2">
            <a:extLst>
              <a:ext uri="{FF2B5EF4-FFF2-40B4-BE49-F238E27FC236}">
                <a16:creationId xmlns:a16="http://schemas.microsoft.com/office/drawing/2014/main" id="{E1E98761-1362-B44B-B17F-67BCE41B8A5D}"/>
              </a:ext>
            </a:extLst>
          </p:cNvPr>
          <p:cNvSpPr>
            <a:spLocks noGrp="1" noChangeArrowheads="1"/>
          </p:cNvSpPr>
          <p:nvPr>
            <p:ph idx="1"/>
          </p:nvPr>
        </p:nvSpPr>
        <p:spPr>
          <a:xfrm>
            <a:off x="823913" y="1465263"/>
            <a:ext cx="10515600" cy="4579937"/>
          </a:xfrm>
        </p:spPr>
        <p:txBody>
          <a:bodyPr/>
          <a:lstStyle/>
          <a:p>
            <a:pPr eaLnBrk="1" hangingPunct="1">
              <a:lnSpc>
                <a:spcPct val="120000"/>
              </a:lnSpc>
              <a:spcBef>
                <a:spcPct val="5000"/>
              </a:spcBef>
            </a:pPr>
            <a:r>
              <a:rPr lang="zh-CN" altLang="en-US">
                <a:solidFill>
                  <a:srgbClr val="1C1C1C"/>
                </a:solidFill>
                <a:latin typeface="Times New Roman" panose="02020603050405020304" pitchFamily="18" charset="0"/>
              </a:rPr>
              <a:t>优点：</a:t>
            </a:r>
            <a:endParaRPr lang="en-US" altLang="zh-CN">
              <a:solidFill>
                <a:srgbClr val="1C1C1C"/>
              </a:solidFill>
              <a:latin typeface="Times New Roman" panose="02020603050405020304" pitchFamily="18" charset="0"/>
            </a:endParaRPr>
          </a:p>
          <a:p>
            <a:pPr eaLnBrk="1" hangingPunct="1">
              <a:lnSpc>
                <a:spcPct val="120000"/>
              </a:lnSpc>
              <a:spcBef>
                <a:spcPct val="5000"/>
              </a:spcBef>
              <a:buFont typeface="Arial" panose="020B0604020202020204" pitchFamily="34" charset="0"/>
              <a:buNone/>
            </a:pPr>
            <a:r>
              <a:rPr lang="en-US" altLang="zh-CN">
                <a:solidFill>
                  <a:srgbClr val="1C1C1C"/>
                </a:solidFill>
                <a:latin typeface="Times New Roman" panose="02020603050405020304" pitchFamily="18" charset="0"/>
              </a:rPr>
              <a:t>         </a:t>
            </a:r>
            <a:r>
              <a:rPr lang="zh-CN" altLang="en-US">
                <a:solidFill>
                  <a:srgbClr val="1C1C1C"/>
                </a:solidFill>
                <a:latin typeface="Times New Roman" panose="02020603050405020304" pitchFamily="18" charset="0"/>
              </a:rPr>
              <a:t>（</a:t>
            </a:r>
            <a:r>
              <a:rPr lang="en-US" altLang="zh-CN">
                <a:solidFill>
                  <a:srgbClr val="1C1C1C"/>
                </a:solidFill>
                <a:latin typeface="Times New Roman" panose="02020603050405020304" pitchFamily="18" charset="0"/>
              </a:rPr>
              <a:t>1</a:t>
            </a:r>
            <a:r>
              <a:rPr lang="zh-CN" altLang="en-US">
                <a:solidFill>
                  <a:srgbClr val="1C1C1C"/>
                </a:solidFill>
                <a:latin typeface="Times New Roman" panose="02020603050405020304" pitchFamily="18" charset="0"/>
              </a:rPr>
              <a:t>）实现简单;</a:t>
            </a:r>
          </a:p>
          <a:p>
            <a:pPr eaLnBrk="1" hangingPunct="1">
              <a:lnSpc>
                <a:spcPct val="120000"/>
              </a:lnSpc>
              <a:spcBef>
                <a:spcPct val="5000"/>
              </a:spcBef>
              <a:buFont typeface="Arial" panose="020B0604020202020204" pitchFamily="34" charset="0"/>
              <a:buNone/>
            </a:pPr>
            <a:r>
              <a:rPr lang="zh-CN" altLang="en-US">
                <a:solidFill>
                  <a:srgbClr val="1C1C1C"/>
                </a:solidFill>
                <a:latin typeface="Times New Roman" panose="02020603050405020304" pitchFamily="18" charset="0"/>
              </a:rPr>
              <a:t>         （</a:t>
            </a:r>
            <a:r>
              <a:rPr lang="en-US" altLang="zh-CN">
                <a:solidFill>
                  <a:srgbClr val="1C1C1C"/>
                </a:solidFill>
                <a:latin typeface="Times New Roman" panose="02020603050405020304" pitchFamily="18" charset="0"/>
              </a:rPr>
              <a:t>2</a:t>
            </a:r>
            <a:r>
              <a:rPr lang="zh-CN" altLang="en-US">
                <a:solidFill>
                  <a:srgbClr val="1C1C1C"/>
                </a:solidFill>
                <a:latin typeface="Times New Roman" panose="02020603050405020304" pitchFamily="18" charset="0"/>
              </a:rPr>
              <a:t>）不同明文分组的加密可</a:t>
            </a:r>
            <a:r>
              <a:rPr lang="zh-CN" altLang="en-US" u="sng">
                <a:solidFill>
                  <a:srgbClr val="1C1C1C"/>
                </a:solidFill>
                <a:latin typeface="Times New Roman" panose="02020603050405020304" pitchFamily="18" charset="0"/>
              </a:rPr>
              <a:t>并行实施</a:t>
            </a:r>
            <a:r>
              <a:rPr lang="zh-CN" altLang="en-US">
                <a:solidFill>
                  <a:srgbClr val="1C1C1C"/>
                </a:solidFill>
                <a:latin typeface="Times New Roman" panose="02020603050405020304" pitchFamily="18" charset="0"/>
              </a:rPr>
              <a:t>，尤其是硬件实现时速度很快</a:t>
            </a:r>
          </a:p>
          <a:p>
            <a:pPr eaLnBrk="1" hangingPunct="1">
              <a:lnSpc>
                <a:spcPct val="120000"/>
              </a:lnSpc>
              <a:spcBef>
                <a:spcPct val="5000"/>
              </a:spcBef>
            </a:pPr>
            <a:r>
              <a:rPr lang="zh-CN" altLang="en-US">
                <a:solidFill>
                  <a:srgbClr val="1C1C1C"/>
                </a:solidFill>
                <a:latin typeface="Times New Roman" panose="02020603050405020304" pitchFamily="18" charset="0"/>
              </a:rPr>
              <a:t>缺点：</a:t>
            </a:r>
            <a:endParaRPr lang="en-US" altLang="zh-CN">
              <a:solidFill>
                <a:srgbClr val="1C1C1C"/>
              </a:solidFill>
              <a:latin typeface="Times New Roman" panose="02020603050405020304" pitchFamily="18" charset="0"/>
            </a:endParaRPr>
          </a:p>
          <a:p>
            <a:pPr eaLnBrk="1" hangingPunct="1">
              <a:lnSpc>
                <a:spcPct val="120000"/>
              </a:lnSpc>
              <a:spcBef>
                <a:spcPct val="5000"/>
              </a:spcBef>
              <a:buFont typeface="Arial" panose="020B0604020202020204" pitchFamily="34" charset="0"/>
              <a:buNone/>
            </a:pPr>
            <a:r>
              <a:rPr lang="zh-CN" altLang="en-US">
                <a:solidFill>
                  <a:srgbClr val="1C1C1C"/>
                </a:solidFill>
                <a:latin typeface="Times New Roman" panose="02020603050405020304" pitchFamily="18" charset="0"/>
              </a:rPr>
              <a:t>         （</a:t>
            </a:r>
            <a:r>
              <a:rPr lang="en-US" altLang="zh-CN">
                <a:solidFill>
                  <a:srgbClr val="1C1C1C"/>
                </a:solidFill>
                <a:latin typeface="Times New Roman" panose="02020603050405020304" pitchFamily="18" charset="0"/>
              </a:rPr>
              <a:t>1</a:t>
            </a:r>
            <a:r>
              <a:rPr lang="zh-CN" altLang="en-US">
                <a:solidFill>
                  <a:srgbClr val="1C1C1C"/>
                </a:solidFill>
                <a:latin typeface="Times New Roman" panose="02020603050405020304" pitchFamily="18" charset="0"/>
              </a:rPr>
              <a:t>）</a:t>
            </a:r>
            <a:r>
              <a:rPr lang="zh-CN" altLang="en-US">
                <a:solidFill>
                  <a:srgbClr val="FF0000"/>
                </a:solidFill>
                <a:latin typeface="Times New Roman" panose="02020603050405020304" pitchFamily="18" charset="0"/>
              </a:rPr>
              <a:t>相同明文分组对应相同密文分组：</a:t>
            </a:r>
            <a:r>
              <a:rPr lang="zh-CN" altLang="en-US">
                <a:solidFill>
                  <a:srgbClr val="1C1C1C"/>
                </a:solidFill>
                <a:latin typeface="Times New Roman" panose="02020603050405020304" pitchFamily="18" charset="0"/>
              </a:rPr>
              <a:t>不能隐蔽明文分组的统计规律和结构规律,不能抵抗替换攻击</a:t>
            </a:r>
            <a:endParaRPr lang="en-US" altLang="zh-CN">
              <a:solidFill>
                <a:srgbClr val="1C1C1C"/>
              </a:solidFill>
              <a:latin typeface="Times New Roman" panose="02020603050405020304" pitchFamily="18" charset="0"/>
            </a:endParaRPr>
          </a:p>
          <a:p>
            <a:pPr eaLnBrk="1" hangingPunct="1">
              <a:lnSpc>
                <a:spcPct val="120000"/>
              </a:lnSpc>
              <a:spcBef>
                <a:spcPct val="5000"/>
              </a:spcBef>
            </a:pPr>
            <a:r>
              <a:rPr lang="zh-CN" altLang="en-US">
                <a:solidFill>
                  <a:srgbClr val="1C1C1C"/>
                </a:solidFill>
                <a:latin typeface="Times New Roman" panose="02020603050405020304" pitchFamily="18" charset="0"/>
              </a:rPr>
              <a:t>应用：</a:t>
            </a:r>
            <a:endParaRPr lang="zh-CN" altLang="zh-CN">
              <a:solidFill>
                <a:srgbClr val="1C1C1C"/>
              </a:solidFill>
              <a:latin typeface="Times New Roman" panose="02020603050405020304" pitchFamily="18" charset="0"/>
            </a:endParaRPr>
          </a:p>
          <a:p>
            <a:pPr eaLnBrk="1" hangingPunct="1">
              <a:spcBef>
                <a:spcPct val="50000"/>
              </a:spcBef>
              <a:buFontTx/>
              <a:buNone/>
            </a:pPr>
            <a:r>
              <a:rPr lang="zh-CN" altLang="en-US">
                <a:latin typeface="Times New Roman" panose="02020603050405020304" pitchFamily="18" charset="0"/>
              </a:rPr>
              <a:t>         （1）用于随机数的加密保护</a:t>
            </a:r>
          </a:p>
          <a:p>
            <a:pPr eaLnBrk="1" hangingPunct="1">
              <a:spcBef>
                <a:spcPct val="50000"/>
              </a:spcBef>
              <a:buFontTx/>
              <a:buNone/>
            </a:pPr>
            <a:r>
              <a:rPr lang="zh-CN" altLang="en-US">
                <a:latin typeface="Times New Roman" panose="02020603050405020304" pitchFamily="18" charset="0"/>
              </a:rPr>
              <a:t>         （2）用于会话密钥的加密</a:t>
            </a:r>
          </a:p>
        </p:txBody>
      </p:sp>
    </p:spTree>
  </p:cSld>
  <p:clrMapOvr>
    <a:masterClrMapping/>
  </p:clrMapOvr>
  <p:transition spd="slow">
    <p:pull dir="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标题 1">
            <a:extLst>
              <a:ext uri="{FF2B5EF4-FFF2-40B4-BE49-F238E27FC236}">
                <a16:creationId xmlns:a16="http://schemas.microsoft.com/office/drawing/2014/main" id="{01F8CADB-5948-3546-B284-C426748FC8C8}"/>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电码本模式缺陷的例子</a:t>
            </a:r>
          </a:p>
        </p:txBody>
      </p:sp>
      <p:sp>
        <p:nvSpPr>
          <p:cNvPr id="238594" name="内容占位符 2">
            <a:extLst>
              <a:ext uri="{FF2B5EF4-FFF2-40B4-BE49-F238E27FC236}">
                <a16:creationId xmlns:a16="http://schemas.microsoft.com/office/drawing/2014/main" id="{BFFD6684-7B2B-F449-89D4-426E913FF4F1}"/>
              </a:ext>
            </a:extLst>
          </p:cNvPr>
          <p:cNvSpPr>
            <a:spLocks noGrp="1" noChangeArrowheads="1"/>
          </p:cNvSpPr>
          <p:nvPr>
            <p:ph idx="1"/>
          </p:nvPr>
        </p:nvSpPr>
        <p:spPr>
          <a:xfrm>
            <a:off x="823913" y="1160463"/>
            <a:ext cx="10515600" cy="5011737"/>
          </a:xfrm>
        </p:spPr>
        <p:txBody>
          <a:bodyPr/>
          <a:lstStyle/>
          <a:p>
            <a:r>
              <a:rPr lang="zh-CN" altLang="en-US">
                <a:solidFill>
                  <a:srgbClr val="FF0066"/>
                </a:solidFill>
                <a:latin typeface="Times New Roman" panose="02020603050405020304" pitchFamily="18" charset="0"/>
              </a:rPr>
              <a:t>　</a:t>
            </a:r>
            <a:r>
              <a:rPr lang="zh-CN" altLang="en-US">
                <a:latin typeface="Times New Roman" panose="02020603050405020304" pitchFamily="18" charset="0"/>
              </a:rPr>
              <a:t>例: 假设银行</a:t>
            </a:r>
            <a:r>
              <a:rPr lang="en-US" altLang="zh-CN">
                <a:latin typeface="Times New Roman" panose="02020603050405020304" pitchFamily="18" charset="0"/>
              </a:rPr>
              <a:t>A</a:t>
            </a:r>
            <a:r>
              <a:rPr lang="zh-CN" altLang="en-US">
                <a:latin typeface="Times New Roman" panose="02020603050405020304" pitchFamily="18" charset="0"/>
              </a:rPr>
              <a:t>和银行</a:t>
            </a:r>
            <a:r>
              <a:rPr lang="en-US" altLang="zh-CN">
                <a:latin typeface="Times New Roman" panose="02020603050405020304" pitchFamily="18" charset="0"/>
              </a:rPr>
              <a:t>B</a:t>
            </a:r>
            <a:r>
              <a:rPr lang="zh-CN" altLang="en-US">
                <a:latin typeface="Times New Roman" panose="02020603050405020304" pitchFamily="18" charset="0"/>
              </a:rPr>
              <a:t>之间的资金转帐系统所使用报文模式如下：</a:t>
            </a:r>
            <a:endParaRPr lang="zh-CN" altLang="en-US" sz="2800">
              <a:latin typeface="Times New Roman" panose="02020603050405020304" pitchFamily="18" charset="0"/>
            </a:endParaRPr>
          </a:p>
          <a:p>
            <a:endParaRPr lang="en-US" altLang="zh-CN">
              <a:latin typeface="Times New Roman" panose="02020603050405020304" pitchFamily="18" charset="0"/>
            </a:endParaRPr>
          </a:p>
          <a:p>
            <a:endParaRPr lang="en-US" altLang="zh-CN">
              <a:latin typeface="Times New Roman" panose="02020603050405020304" pitchFamily="18" charset="0"/>
            </a:endParaRPr>
          </a:p>
          <a:p>
            <a:endParaRPr lang="en-US" altLang="zh-CN">
              <a:latin typeface="Times New Roman" panose="02020603050405020304" pitchFamily="18" charset="0"/>
            </a:endParaRPr>
          </a:p>
          <a:p>
            <a:endParaRPr lang="en-US" altLang="zh-CN">
              <a:latin typeface="Times New Roman" panose="02020603050405020304" pitchFamily="18" charset="0"/>
            </a:endParaRPr>
          </a:p>
          <a:p>
            <a:endParaRPr lang="en-US" altLang="zh-CN">
              <a:latin typeface="Times New Roman" panose="02020603050405020304" pitchFamily="18" charset="0"/>
            </a:endParaRPr>
          </a:p>
          <a:p>
            <a:endParaRPr lang="en-US" altLang="zh-CN">
              <a:latin typeface="Times New Roman" panose="02020603050405020304" pitchFamily="18" charset="0"/>
            </a:endParaRPr>
          </a:p>
          <a:p>
            <a:endParaRPr lang="en-US" altLang="zh-CN">
              <a:latin typeface="Times New Roman" panose="02020603050405020304" pitchFamily="18" charset="0"/>
            </a:endParaRPr>
          </a:p>
          <a:p>
            <a:endParaRPr lang="en-US" altLang="zh-CN">
              <a:latin typeface="Times New Roman" panose="02020603050405020304" pitchFamily="18" charset="0"/>
            </a:endParaRPr>
          </a:p>
          <a:p>
            <a:r>
              <a:rPr lang="zh-CN" altLang="en-US">
                <a:latin typeface="Times New Roman" panose="02020603050405020304" pitchFamily="18" charset="0"/>
              </a:rPr>
              <a:t>敌手</a:t>
            </a:r>
            <a:r>
              <a:rPr lang="en-US" altLang="zh-CN">
                <a:latin typeface="Times New Roman" panose="02020603050405020304" pitchFamily="18" charset="0"/>
              </a:rPr>
              <a:t>C</a:t>
            </a:r>
            <a:r>
              <a:rPr lang="zh-CN" altLang="en-US">
                <a:latin typeface="Times New Roman" panose="02020603050405020304" pitchFamily="18" charset="0"/>
              </a:rPr>
              <a:t>通过截收从</a:t>
            </a:r>
            <a:r>
              <a:rPr lang="en-US" altLang="zh-CN">
                <a:latin typeface="Times New Roman" panose="02020603050405020304" pitchFamily="18" charset="0"/>
              </a:rPr>
              <a:t>A</a:t>
            </a:r>
            <a:r>
              <a:rPr lang="zh-CN" altLang="en-US">
                <a:latin typeface="Times New Roman" panose="02020603050405020304" pitchFamily="18" charset="0"/>
              </a:rPr>
              <a:t>到</a:t>
            </a:r>
            <a:r>
              <a:rPr lang="en-US" altLang="zh-CN">
                <a:latin typeface="Times New Roman" panose="02020603050405020304" pitchFamily="18" charset="0"/>
              </a:rPr>
              <a:t>B</a:t>
            </a:r>
            <a:r>
              <a:rPr lang="zh-CN" altLang="en-US">
                <a:latin typeface="Times New Roman" panose="02020603050405020304" pitchFamily="18" charset="0"/>
              </a:rPr>
              <a:t>的加密消息，只要将第</a:t>
            </a:r>
            <a:r>
              <a:rPr lang="zh-CN" altLang="zh-CN">
                <a:latin typeface="Times New Roman" panose="02020603050405020304" pitchFamily="18" charset="0"/>
              </a:rPr>
              <a:t>5</a:t>
            </a:r>
            <a:r>
              <a:rPr lang="zh-CN" altLang="en-US">
                <a:latin typeface="Times New Roman" panose="02020603050405020304" pitchFamily="18" charset="0"/>
              </a:rPr>
              <a:t>至第</a:t>
            </a:r>
            <a:r>
              <a:rPr lang="zh-CN" altLang="zh-CN">
                <a:latin typeface="Times New Roman" panose="02020603050405020304" pitchFamily="18" charset="0"/>
              </a:rPr>
              <a:t>12</a:t>
            </a:r>
            <a:r>
              <a:rPr lang="zh-CN" altLang="en-US">
                <a:latin typeface="Times New Roman" panose="02020603050405020304" pitchFamily="18" charset="0"/>
              </a:rPr>
              <a:t>分组替换为自己的姓名和帐号相对应的密文，即可将别人的存款存入自己的帐号。</a:t>
            </a:r>
          </a:p>
          <a:p>
            <a:endParaRPr lang="zh-CN" altLang="en-US"/>
          </a:p>
        </p:txBody>
      </p:sp>
      <p:graphicFrame>
        <p:nvGraphicFramePr>
          <p:cNvPr id="238595" name="Object 5">
            <a:extLst>
              <a:ext uri="{FF2B5EF4-FFF2-40B4-BE49-F238E27FC236}">
                <a16:creationId xmlns:a16="http://schemas.microsoft.com/office/drawing/2014/main" id="{AB13118D-4A17-4740-9CAB-86F6BE714D99}"/>
              </a:ext>
            </a:extLst>
          </p:cNvPr>
          <p:cNvGraphicFramePr>
            <a:graphicFrameLocks noChangeAspect="1"/>
          </p:cNvGraphicFramePr>
          <p:nvPr/>
        </p:nvGraphicFramePr>
        <p:xfrm>
          <a:off x="2174875" y="1600200"/>
          <a:ext cx="8194675" cy="1989138"/>
        </p:xfrm>
        <a:graphic>
          <a:graphicData uri="http://schemas.openxmlformats.org/presentationml/2006/ole">
            <mc:AlternateContent xmlns:mc="http://schemas.openxmlformats.org/markup-compatibility/2006">
              <mc:Choice xmlns:v="urn:schemas-microsoft-com:vml" Requires="v">
                <p:oleObj spid="_x0000_s238727" r:id="rId4" imgW="7073900" imgH="1676400" progId="Word.Document.8">
                  <p:embed/>
                </p:oleObj>
              </mc:Choice>
              <mc:Fallback>
                <p:oleObj r:id="rId4" imgW="7073900" imgH="1676400" progId="Word.Documen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4875" y="1600200"/>
                        <a:ext cx="8194675" cy="1989138"/>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8596" name="Object 6">
            <a:extLst>
              <a:ext uri="{FF2B5EF4-FFF2-40B4-BE49-F238E27FC236}">
                <a16:creationId xmlns:a16="http://schemas.microsoft.com/office/drawing/2014/main" id="{0C7B497D-4C0F-8944-905F-ECDD4D1C9AB2}"/>
              </a:ext>
            </a:extLst>
          </p:cNvPr>
          <p:cNvGraphicFramePr>
            <a:graphicFrameLocks noChangeAspect="1"/>
          </p:cNvGraphicFramePr>
          <p:nvPr/>
        </p:nvGraphicFramePr>
        <p:xfrm>
          <a:off x="2173288" y="3289300"/>
          <a:ext cx="8196262" cy="1968500"/>
        </p:xfrm>
        <a:graphic>
          <a:graphicData uri="http://schemas.openxmlformats.org/presentationml/2006/ole">
            <mc:AlternateContent xmlns:mc="http://schemas.openxmlformats.org/markup-compatibility/2006">
              <mc:Choice xmlns:v="urn:schemas-microsoft-com:vml" Requires="v">
                <p:oleObj spid="_x0000_s238728" r:id="rId6" imgW="7086600" imgH="1651000" progId="Word.Document.8">
                  <p:embed/>
                </p:oleObj>
              </mc:Choice>
              <mc:Fallback>
                <p:oleObj r:id="rId6" imgW="7086600" imgH="1651000" progId="Word.Document.8">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3288" y="3289300"/>
                        <a:ext cx="8196262" cy="19685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pull dir="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标题 1">
            <a:extLst>
              <a:ext uri="{FF2B5EF4-FFF2-40B4-BE49-F238E27FC236}">
                <a16:creationId xmlns:a16="http://schemas.microsoft.com/office/drawing/2014/main" id="{2C61711E-9F76-8C49-99FE-54D104320FE1}"/>
              </a:ext>
            </a:extLst>
          </p:cNvPr>
          <p:cNvSpPr>
            <a:spLocks noGrp="1" noChangeArrowheads="1"/>
          </p:cNvSpPr>
          <p:nvPr>
            <p:ph type="title"/>
          </p:nvPr>
        </p:nvSpPr>
        <p:spPr>
          <a:xfrm>
            <a:off x="1465263" y="365125"/>
            <a:ext cx="9037637" cy="668338"/>
          </a:xfrm>
        </p:spPr>
        <p:txBody>
          <a:bodyPr/>
          <a:lstStyle/>
          <a:p>
            <a:r>
              <a:rPr lang="zh-CN" altLang="en-US" sz="2900">
                <a:solidFill>
                  <a:srgbClr val="1F4E79"/>
                </a:solidFill>
              </a:rPr>
              <a:t>密码分组链接</a:t>
            </a:r>
            <a:r>
              <a:rPr lang="en-US" altLang="zh-CN" sz="2900">
                <a:solidFill>
                  <a:srgbClr val="1F4E79"/>
                </a:solidFill>
              </a:rPr>
              <a:t>CBC</a:t>
            </a:r>
            <a:r>
              <a:rPr lang="zh-CN" altLang="en-US" sz="2900">
                <a:solidFill>
                  <a:srgbClr val="1F4E79"/>
                </a:solidFill>
              </a:rPr>
              <a:t>（</a:t>
            </a:r>
            <a:r>
              <a:rPr lang="en-US" altLang="zh-CN" sz="2900">
                <a:solidFill>
                  <a:srgbClr val="1F4E79"/>
                </a:solidFill>
              </a:rPr>
              <a:t>Cipher Block Chaining</a:t>
            </a:r>
            <a:r>
              <a:rPr lang="zh-CN" altLang="en-US" sz="2900">
                <a:solidFill>
                  <a:srgbClr val="1F4E79"/>
                </a:solidFill>
              </a:rPr>
              <a:t>）模式</a:t>
            </a:r>
          </a:p>
        </p:txBody>
      </p:sp>
      <p:sp>
        <p:nvSpPr>
          <p:cNvPr id="240642" name="内容占位符 2">
            <a:extLst>
              <a:ext uri="{FF2B5EF4-FFF2-40B4-BE49-F238E27FC236}">
                <a16:creationId xmlns:a16="http://schemas.microsoft.com/office/drawing/2014/main" id="{F2512A13-EF5B-9542-B936-B816FB004ACB}"/>
              </a:ext>
            </a:extLst>
          </p:cNvPr>
          <p:cNvSpPr>
            <a:spLocks noGrp="1" noChangeArrowheads="1"/>
          </p:cNvSpPr>
          <p:nvPr>
            <p:ph idx="1"/>
          </p:nvPr>
        </p:nvSpPr>
        <p:spPr>
          <a:xfrm>
            <a:off x="823913" y="1465263"/>
            <a:ext cx="10515600" cy="4579937"/>
          </a:xfrm>
        </p:spPr>
        <p:txBody>
          <a:bodyPr/>
          <a:lstStyle/>
          <a:p>
            <a:pPr>
              <a:lnSpc>
                <a:spcPct val="120000"/>
              </a:lnSpc>
            </a:pPr>
            <a:r>
              <a:rPr lang="zh-CN" altLang="en-US" dirty="0"/>
              <a:t>这种模式先将明文分组与上一次的密文块进行按比特异或，然后再进行加密处理。这种模式必须选择一个初始向量</a:t>
            </a:r>
            <a:r>
              <a:rPr lang="en-US" altLang="zh-CN" dirty="0"/>
              <a:t>c</a:t>
            </a:r>
            <a:r>
              <a:rPr lang="en-US" altLang="zh-CN" baseline="-25000" dirty="0"/>
              <a:t>0</a:t>
            </a:r>
            <a:r>
              <a:rPr lang="en-US" altLang="zh-CN" dirty="0"/>
              <a:t>=IV</a:t>
            </a:r>
            <a:r>
              <a:rPr lang="zh-CN" altLang="en-US" dirty="0"/>
              <a:t>，用于加密第一块明文。</a:t>
            </a:r>
            <a:endParaRPr lang="en-US" altLang="zh-CN" dirty="0"/>
          </a:p>
          <a:p>
            <a:pPr>
              <a:lnSpc>
                <a:spcPct val="120000"/>
              </a:lnSpc>
            </a:pPr>
            <a:r>
              <a:rPr lang="zh-CN" altLang="en-US" dirty="0"/>
              <a:t>加密过程为</a:t>
            </a:r>
          </a:p>
          <a:p>
            <a:pPr>
              <a:lnSpc>
                <a:spcPct val="120000"/>
              </a:lnSpc>
              <a:buFont typeface="Arial" panose="020B0604020202020204" pitchFamily="34" charset="0"/>
              <a:buNone/>
            </a:pPr>
            <a:r>
              <a:rPr lang="zh-CN" altLang="en-US" dirty="0"/>
              <a:t> </a:t>
            </a:r>
          </a:p>
          <a:p>
            <a:pPr>
              <a:lnSpc>
                <a:spcPct val="120000"/>
              </a:lnSpc>
            </a:pPr>
            <a:r>
              <a:rPr lang="zh-CN" altLang="en-US" dirty="0"/>
              <a:t>解密过程为</a:t>
            </a:r>
          </a:p>
          <a:p>
            <a:pPr>
              <a:lnSpc>
                <a:spcPct val="120000"/>
              </a:lnSpc>
              <a:buFont typeface="Arial" panose="020B0604020202020204" pitchFamily="34" charset="0"/>
              <a:buNone/>
            </a:pPr>
            <a:r>
              <a:rPr lang="zh-CN" altLang="en-US" dirty="0"/>
              <a:t> </a:t>
            </a:r>
          </a:p>
          <a:p>
            <a:pPr>
              <a:lnSpc>
                <a:spcPct val="120000"/>
              </a:lnSpc>
            </a:pPr>
            <a:endParaRPr lang="zh-CN" altLang="en-US" dirty="0"/>
          </a:p>
        </p:txBody>
      </p:sp>
      <mc:AlternateContent xmlns:mc="http://schemas.openxmlformats.org/markup-compatibility/2006" xmlns:a14="http://schemas.microsoft.com/office/drawing/2010/main">
        <mc:Choice Requires="a14">
          <p:sp>
            <p:nvSpPr>
              <p:cNvPr id="240643" name="对象 8">
                <a:extLst>
                  <a:ext uri="{FF2B5EF4-FFF2-40B4-BE49-F238E27FC236}">
                    <a16:creationId xmlns:a16="http://schemas.microsoft.com/office/drawing/2014/main" id="{63EF5391-2263-5249-9C22-31EB122BCDFE}"/>
                  </a:ext>
                </a:extLst>
              </p:cNvPr>
              <p:cNvSpPr txBox="1"/>
              <p:nvPr/>
            </p:nvSpPr>
            <p:spPr bwMode="auto">
              <a:xfrm>
                <a:off x="4191000" y="2971800"/>
                <a:ext cx="2895600" cy="5699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𝑐</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𝐸</m:t>
                          </m:r>
                        </m:e>
                        <m:sub>
                          <m:r>
                            <a:rPr lang="zh-CN" altLang="en-US" sz="2400" i="1">
                              <a:solidFill>
                                <a:srgbClr val="000000"/>
                              </a:solidFill>
                              <a:latin typeface="Cambria Math" panose="02040503050406030204" pitchFamily="18" charset="0"/>
                            </a:rPr>
                            <m:t>𝑘</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𝑐</m:t>
                          </m:r>
                        </m:e>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240643" name="对象 8">
                <a:extLst>
                  <a:ext uri="{FF2B5EF4-FFF2-40B4-BE49-F238E27FC236}">
                    <a16:creationId xmlns:a16="http://schemas.microsoft.com/office/drawing/2014/main" id="{63EF5391-2263-5249-9C22-31EB122BCDFE}"/>
                  </a:ext>
                </a:extLst>
              </p:cNvPr>
              <p:cNvSpPr txBox="1">
                <a:spLocks noRot="1" noChangeAspect="1" noMove="1" noResize="1" noEditPoints="1" noAdjustHandles="1" noChangeArrowheads="1" noChangeShapeType="1" noTextEdit="1"/>
              </p:cNvSpPr>
              <p:nvPr/>
            </p:nvSpPr>
            <p:spPr bwMode="auto">
              <a:xfrm>
                <a:off x="4191000" y="2971800"/>
                <a:ext cx="2895600" cy="569913"/>
              </a:xfrm>
              <a:prstGeom prst="rect">
                <a:avLst/>
              </a:prstGeom>
              <a:blipFill>
                <a:blip r:embed="rId3"/>
                <a:stretch>
                  <a:fillRect/>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40644" name="对象 10">
                <a:extLst>
                  <a:ext uri="{FF2B5EF4-FFF2-40B4-BE49-F238E27FC236}">
                    <a16:creationId xmlns:a16="http://schemas.microsoft.com/office/drawing/2014/main" id="{9388DAC4-F5BD-524B-B097-945411E6DFEE}"/>
                  </a:ext>
                </a:extLst>
              </p:cNvPr>
              <p:cNvSpPr txBox="1"/>
              <p:nvPr/>
            </p:nvSpPr>
            <p:spPr bwMode="auto">
              <a:xfrm>
                <a:off x="4191000" y="4191000"/>
                <a:ext cx="2900363" cy="5699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𝐷</m:t>
                          </m:r>
                        </m:e>
                        <m:sub>
                          <m:r>
                            <a:rPr lang="zh-CN" altLang="en-US" sz="2400" i="1">
                              <a:solidFill>
                                <a:srgbClr val="000000"/>
                              </a:solidFill>
                              <a:latin typeface="Cambria Math" panose="02040503050406030204" pitchFamily="18" charset="0"/>
                            </a:rPr>
                            <m:t>𝑘</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𝑐</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𝑐</m:t>
                          </m:r>
                        </m:e>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Sub>
                    </m:oMath>
                  </m:oMathPara>
                </a14:m>
                <a:endParaRPr lang="zh-CN" altLang="en-US" sz="2400" dirty="0"/>
              </a:p>
            </p:txBody>
          </p:sp>
        </mc:Choice>
        <mc:Fallback xmlns="">
          <p:sp>
            <p:nvSpPr>
              <p:cNvPr id="240644" name="对象 10">
                <a:extLst>
                  <a:ext uri="{FF2B5EF4-FFF2-40B4-BE49-F238E27FC236}">
                    <a16:creationId xmlns:a16="http://schemas.microsoft.com/office/drawing/2014/main" id="{9388DAC4-F5BD-524B-B097-945411E6DFEE}"/>
                  </a:ext>
                </a:extLst>
              </p:cNvPr>
              <p:cNvSpPr txBox="1">
                <a:spLocks noRot="1" noChangeAspect="1" noMove="1" noResize="1" noEditPoints="1" noAdjustHandles="1" noChangeArrowheads="1" noChangeShapeType="1" noTextEdit="1"/>
              </p:cNvSpPr>
              <p:nvPr/>
            </p:nvSpPr>
            <p:spPr bwMode="auto">
              <a:xfrm>
                <a:off x="4191000" y="4191000"/>
                <a:ext cx="2900363" cy="569913"/>
              </a:xfrm>
              <a:prstGeom prst="rect">
                <a:avLst/>
              </a:prstGeom>
              <a:blipFill>
                <a:blip r:embed="rId4"/>
                <a:stretch>
                  <a:fillRect/>
                </a:stretch>
              </a:blipFill>
              <a:ln>
                <a:noFill/>
              </a:ln>
            </p:spPr>
            <p:txBody>
              <a:bodyPr/>
              <a:lstStyle/>
              <a:p>
                <a:r>
                  <a:rPr lang="en-CN">
                    <a:noFill/>
                  </a:rPr>
                  <a:t> </a:t>
                </a:r>
              </a:p>
            </p:txBody>
          </p:sp>
        </mc:Fallback>
      </mc:AlternateContent>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42689" name="Picture 2" descr="xd33">
            <a:extLst>
              <a:ext uri="{FF2B5EF4-FFF2-40B4-BE49-F238E27FC236}">
                <a16:creationId xmlns:a16="http://schemas.microsoft.com/office/drawing/2014/main" id="{7D61306C-44B9-9B4D-B37C-6C32140C8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988" y="1143000"/>
            <a:ext cx="7086600"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690" name="标题 1">
            <a:extLst>
              <a:ext uri="{FF2B5EF4-FFF2-40B4-BE49-F238E27FC236}">
                <a16:creationId xmlns:a16="http://schemas.microsoft.com/office/drawing/2014/main" id="{D727B4CE-89C4-5D40-9D8F-65BBF66A6933}"/>
              </a:ext>
            </a:extLst>
          </p:cNvPr>
          <p:cNvSpPr>
            <a:spLocks noGrp="1" noChangeArrowheads="1"/>
          </p:cNvSpPr>
          <p:nvPr>
            <p:ph type="title"/>
          </p:nvPr>
        </p:nvSpPr>
        <p:spPr>
          <a:xfrm>
            <a:off x="1465263" y="365125"/>
            <a:ext cx="9037637" cy="668338"/>
          </a:xfrm>
        </p:spPr>
        <p:txBody>
          <a:bodyPr/>
          <a:lstStyle/>
          <a:p>
            <a:r>
              <a:rPr lang="zh-CN" altLang="en-US" sz="2900">
                <a:solidFill>
                  <a:srgbClr val="1F4E79"/>
                </a:solidFill>
              </a:rPr>
              <a:t>密码分组链接</a:t>
            </a:r>
            <a:r>
              <a:rPr lang="en-US" altLang="zh-CN" sz="2900">
                <a:solidFill>
                  <a:srgbClr val="1F4E79"/>
                </a:solidFill>
              </a:rPr>
              <a:t>CBC</a:t>
            </a:r>
            <a:r>
              <a:rPr lang="zh-CN" altLang="en-US" sz="2900">
                <a:solidFill>
                  <a:srgbClr val="1F4E79"/>
                </a:solidFill>
              </a:rPr>
              <a:t>（</a:t>
            </a:r>
            <a:r>
              <a:rPr lang="en-US" altLang="zh-CN" sz="2900">
                <a:solidFill>
                  <a:srgbClr val="1F4E79"/>
                </a:solidFill>
              </a:rPr>
              <a:t>Cipher Block Chaining</a:t>
            </a:r>
            <a:r>
              <a:rPr lang="zh-CN" altLang="en-US" sz="2900">
                <a:solidFill>
                  <a:srgbClr val="1F4E79"/>
                </a:solidFill>
              </a:rPr>
              <a:t>）模式</a:t>
            </a: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BA751-AB86-074C-831A-B8D863ECE5F7}"/>
              </a:ext>
            </a:extLst>
          </p:cNvPr>
          <p:cNvSpPr>
            <a:spLocks noGrp="1"/>
          </p:cNvSpPr>
          <p:nvPr>
            <p:ph type="title"/>
          </p:nvPr>
        </p:nvSpPr>
        <p:spPr>
          <a:xfrm>
            <a:off x="1465263" y="365125"/>
            <a:ext cx="9037637" cy="668338"/>
          </a:xfrm>
        </p:spPr>
        <p:txBody>
          <a:bodyPr/>
          <a:lstStyle/>
          <a:p>
            <a:pPr>
              <a:defRPr/>
            </a:pPr>
            <a:r>
              <a:rPr lang="en-US" altLang="zh-CN" dirty="0">
                <a:latin typeface="+mn-lt"/>
              </a:rPr>
              <a:t>CBC</a:t>
            </a:r>
            <a:r>
              <a:rPr lang="zh-CN" altLang="en-US" dirty="0">
                <a:latin typeface="+mn-lt"/>
              </a:rPr>
              <a:t>模式的特点</a:t>
            </a:r>
          </a:p>
        </p:txBody>
      </p:sp>
      <p:sp>
        <p:nvSpPr>
          <p:cNvPr id="244738" name="内容占位符 2">
            <a:extLst>
              <a:ext uri="{FF2B5EF4-FFF2-40B4-BE49-F238E27FC236}">
                <a16:creationId xmlns:a16="http://schemas.microsoft.com/office/drawing/2014/main" id="{15EF011B-4B2B-D94E-9911-674FF91A1534}"/>
              </a:ext>
            </a:extLst>
          </p:cNvPr>
          <p:cNvSpPr>
            <a:spLocks noGrp="1" noChangeArrowheads="1"/>
          </p:cNvSpPr>
          <p:nvPr>
            <p:ph idx="1"/>
          </p:nvPr>
        </p:nvSpPr>
        <p:spPr>
          <a:xfrm>
            <a:off x="823913" y="1465263"/>
            <a:ext cx="10515600" cy="4579937"/>
          </a:xfrm>
        </p:spPr>
        <p:txBody>
          <a:bodyPr/>
          <a:lstStyle/>
          <a:p>
            <a:pPr marL="0" indent="0">
              <a:lnSpc>
                <a:spcPct val="120000"/>
              </a:lnSpc>
              <a:spcBef>
                <a:spcPts val="600"/>
              </a:spcBef>
              <a:buFont typeface="Arial" panose="020B0604020202020204" pitchFamily="34" charset="0"/>
              <a:buNone/>
            </a:pPr>
            <a:r>
              <a:rPr lang="zh-CN" altLang="zh-CN" sz="2800"/>
              <a:t>1. </a:t>
            </a:r>
            <a:r>
              <a:rPr lang="zh-CN" altLang="en-US" sz="2800"/>
              <a:t>明文块的统计特性得到了隐蔽</a:t>
            </a:r>
            <a:endParaRPr lang="en-US" altLang="zh-CN" sz="2800"/>
          </a:p>
          <a:p>
            <a:pPr lvl="1">
              <a:lnSpc>
                <a:spcPct val="120000"/>
              </a:lnSpc>
              <a:spcBef>
                <a:spcPts val="600"/>
              </a:spcBef>
            </a:pPr>
            <a:r>
              <a:rPr lang="zh-CN" altLang="en-US" sz="2400"/>
              <a:t>由于在</a:t>
            </a:r>
            <a:r>
              <a:rPr lang="en-US" altLang="zh-CN" sz="2400"/>
              <a:t>CBC</a:t>
            </a:r>
            <a:r>
              <a:rPr lang="zh-CN" altLang="en-US" sz="2400"/>
              <a:t>模式中，</a:t>
            </a:r>
            <a:r>
              <a:rPr lang="zh-CN" altLang="en-US" sz="2400" u="sng"/>
              <a:t>各密文块不仅与当前明文块有关，而且还与以前的明文块及初始化向量有关</a:t>
            </a:r>
            <a:r>
              <a:rPr lang="zh-CN" altLang="en-US" sz="2400"/>
              <a:t>，从而</a:t>
            </a:r>
            <a:r>
              <a:rPr lang="zh-CN" altLang="zh-CN" sz="2400"/>
              <a:t>使</a:t>
            </a:r>
            <a:r>
              <a:rPr lang="zh-CN" altLang="en-US" sz="2400"/>
              <a:t>明文的统计规律在密文中得到了较好的隐藏</a:t>
            </a:r>
            <a:endParaRPr lang="en-US" altLang="zh-CN" sz="2400"/>
          </a:p>
          <a:p>
            <a:pPr marL="0" indent="0" eaLnBrk="1" hangingPunct="1">
              <a:lnSpc>
                <a:spcPct val="120000"/>
              </a:lnSpc>
              <a:spcBef>
                <a:spcPts val="600"/>
              </a:spcBef>
              <a:buFontTx/>
              <a:buNone/>
            </a:pPr>
            <a:r>
              <a:rPr lang="zh-CN" altLang="zh-CN" sz="2800"/>
              <a:t>2. </a:t>
            </a:r>
            <a:r>
              <a:rPr lang="zh-CN" altLang="en-US" sz="2800"/>
              <a:t>具有有限的(两步)错误传播特性</a:t>
            </a:r>
          </a:p>
          <a:p>
            <a:pPr lvl="1" eaLnBrk="1" hangingPunct="1">
              <a:lnSpc>
                <a:spcPct val="120000"/>
              </a:lnSpc>
              <a:spcBef>
                <a:spcPts val="600"/>
              </a:spcBef>
            </a:pPr>
            <a:r>
              <a:rPr lang="zh-CN" altLang="en-US" sz="2400" u="sng"/>
              <a:t>一个密文块的错误将导致两个密文块不能正确解密</a:t>
            </a:r>
          </a:p>
          <a:p>
            <a:pPr marL="0" indent="0" eaLnBrk="1" hangingPunct="1">
              <a:lnSpc>
                <a:spcPct val="120000"/>
              </a:lnSpc>
              <a:spcBef>
                <a:spcPts val="600"/>
              </a:spcBef>
              <a:buFontTx/>
              <a:buNone/>
            </a:pPr>
            <a:r>
              <a:rPr lang="zh-CN" altLang="zh-CN" sz="2800"/>
              <a:t>3. </a:t>
            </a:r>
            <a:r>
              <a:rPr lang="zh-CN" altLang="en-US" sz="2800"/>
              <a:t>具有自同步功能</a:t>
            </a:r>
          </a:p>
          <a:p>
            <a:pPr lvl="1" eaLnBrk="1" hangingPunct="1">
              <a:lnSpc>
                <a:spcPct val="120000"/>
              </a:lnSpc>
              <a:spcBef>
                <a:spcPts val="600"/>
              </a:spcBef>
            </a:pPr>
            <a:r>
              <a:rPr lang="zh-CN" altLang="en-US" sz="2400"/>
              <a:t>密文出现丢块和错块不影响后续密文块的解密.</a:t>
            </a:r>
            <a:r>
              <a:rPr lang="zh-CN" altLang="en-US" sz="2400" u="sng"/>
              <a:t>若从第</a:t>
            </a:r>
            <a:r>
              <a:rPr lang="zh-CN" altLang="zh-CN" sz="2400" u="sng"/>
              <a:t>t块起</a:t>
            </a:r>
            <a:r>
              <a:rPr lang="zh-CN" altLang="en-US" sz="2400" u="sng"/>
              <a:t>密文块正确,则第</a:t>
            </a:r>
            <a:r>
              <a:rPr lang="zh-CN" altLang="zh-CN" sz="2400" u="sng"/>
              <a:t>t+1个明文块就能正确求出</a:t>
            </a:r>
            <a:r>
              <a:rPr lang="en-US" altLang="zh-CN" sz="2400"/>
              <a:t>	</a:t>
            </a:r>
            <a:endParaRPr lang="zh-CN" altLang="zh-CN" sz="2400"/>
          </a:p>
          <a:p>
            <a:pPr marL="0" indent="0">
              <a:lnSpc>
                <a:spcPct val="120000"/>
              </a:lnSpc>
              <a:spcBef>
                <a:spcPts val="600"/>
              </a:spcBef>
            </a:pPr>
            <a:endParaRPr lang="zh-CN" altLang="en-US"/>
          </a:p>
          <a:p>
            <a:pPr marL="0" indent="0">
              <a:lnSpc>
                <a:spcPct val="120000"/>
              </a:lnSpc>
              <a:spcBef>
                <a:spcPts val="600"/>
              </a:spcBef>
            </a:pPr>
            <a:endParaRPr lang="zh-CN" altLang="en-US"/>
          </a:p>
        </p:txBody>
      </p:sp>
    </p:spTree>
  </p:cSld>
  <p:clrMapOvr>
    <a:masterClrMapping/>
  </p:clrMapOvr>
  <p:transition spd="slow">
    <p:pull dir="ru"/>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标题 1">
            <a:extLst>
              <a:ext uri="{FF2B5EF4-FFF2-40B4-BE49-F238E27FC236}">
                <a16:creationId xmlns:a16="http://schemas.microsoft.com/office/drawing/2014/main" id="{C13D26EA-D9DF-C347-8048-CB892357EE85}"/>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利用</a:t>
            </a:r>
            <a:r>
              <a:rPr lang="en-US" altLang="zh-CN">
                <a:solidFill>
                  <a:srgbClr val="1F4E79"/>
                </a:solidFill>
              </a:rPr>
              <a:t>CBC</a:t>
            </a:r>
            <a:r>
              <a:rPr lang="zh-CN" altLang="en-US">
                <a:solidFill>
                  <a:srgbClr val="1F4E79"/>
                </a:solidFill>
              </a:rPr>
              <a:t>模式实现报文的完整性认证</a:t>
            </a:r>
          </a:p>
        </p:txBody>
      </p:sp>
      <p:sp>
        <p:nvSpPr>
          <p:cNvPr id="246786" name="内容占位符 2">
            <a:extLst>
              <a:ext uri="{FF2B5EF4-FFF2-40B4-BE49-F238E27FC236}">
                <a16:creationId xmlns:a16="http://schemas.microsoft.com/office/drawing/2014/main" id="{DB5BCD7E-1D4F-154F-B146-116B6B4E7491}"/>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a:latin typeface="Times New Roman" panose="02020603050405020304" pitchFamily="18" charset="0"/>
              </a:rPr>
              <a:t>目的:检查文件在(直接或加密)传输和存储中是否遭到有意或无意的篡改.</a:t>
            </a:r>
          </a:p>
          <a:p>
            <a:pPr eaLnBrk="1" hangingPunct="1">
              <a:lnSpc>
                <a:spcPct val="120000"/>
              </a:lnSpc>
            </a:pPr>
            <a:r>
              <a:rPr lang="zh-CN" altLang="en-US">
                <a:latin typeface="Times New Roman" panose="02020603050405020304" pitchFamily="18" charset="0"/>
              </a:rPr>
              <a:t>关键技术:</a:t>
            </a:r>
          </a:p>
          <a:p>
            <a:pPr eaLnBrk="1" hangingPunct="1">
              <a:lnSpc>
                <a:spcPct val="120000"/>
              </a:lnSpc>
              <a:buFont typeface="Arial" panose="020B0604020202020204" pitchFamily="34" charset="0"/>
              <a:buNone/>
            </a:pPr>
            <a:r>
              <a:rPr lang="zh-CN" altLang="en-US">
                <a:latin typeface="Times New Roman" panose="02020603050405020304" pitchFamily="18" charset="0"/>
              </a:rPr>
              <a:t>       (1) 文件的制造者和检验者共享一个密钥</a:t>
            </a:r>
          </a:p>
          <a:p>
            <a:pPr eaLnBrk="1" hangingPunct="1">
              <a:lnSpc>
                <a:spcPct val="120000"/>
              </a:lnSpc>
              <a:buFont typeface="Arial" panose="020B0604020202020204" pitchFamily="34" charset="0"/>
              <a:buNone/>
            </a:pPr>
            <a:r>
              <a:rPr lang="zh-CN" altLang="en-US">
                <a:latin typeface="Times New Roman" panose="02020603050405020304" pitchFamily="18" charset="0"/>
              </a:rPr>
              <a:t>       (2) 文件的明文必须具有检验者预先知道的冗余度</a:t>
            </a:r>
          </a:p>
          <a:p>
            <a:pPr eaLnBrk="1" hangingPunct="1">
              <a:lnSpc>
                <a:spcPct val="120000"/>
              </a:lnSpc>
              <a:buFont typeface="Arial" panose="020B0604020202020204" pitchFamily="34" charset="0"/>
              <a:buNone/>
            </a:pPr>
            <a:r>
              <a:rPr lang="zh-CN" altLang="en-US">
                <a:latin typeface="Times New Roman" panose="02020603050405020304" pitchFamily="18" charset="0"/>
              </a:rPr>
              <a:t>       (3) 文件的制造者用共享密钥对具有约定冗余度的明文用</a:t>
            </a:r>
            <a:r>
              <a:rPr lang="en-US" altLang="zh-CN">
                <a:latin typeface="Times New Roman" panose="02020603050405020304" pitchFamily="18" charset="0"/>
              </a:rPr>
              <a:t>CBC</a:t>
            </a:r>
            <a:r>
              <a:rPr lang="zh-CN" altLang="en-US">
                <a:latin typeface="Times New Roman" panose="02020603050405020304" pitchFamily="18" charset="0"/>
              </a:rPr>
              <a:t>模式加密</a:t>
            </a:r>
          </a:p>
          <a:p>
            <a:pPr eaLnBrk="1" hangingPunct="1">
              <a:lnSpc>
                <a:spcPct val="120000"/>
              </a:lnSpc>
              <a:buFont typeface="Arial" panose="020B0604020202020204" pitchFamily="34" charset="0"/>
              <a:buNone/>
            </a:pPr>
            <a:r>
              <a:rPr lang="zh-CN" altLang="en-US">
                <a:latin typeface="Times New Roman" panose="02020603050405020304" pitchFamily="18" charset="0"/>
              </a:rPr>
              <a:t>       (4) 文件的检验者用共享密钥对密文解密，并检验约定冗余度是否正确   </a:t>
            </a:r>
          </a:p>
          <a:p>
            <a:pPr>
              <a:buFont typeface="Arial" panose="020B0604020202020204" pitchFamily="34" charset="0"/>
              <a:buNone/>
            </a:pPr>
            <a:endParaRPr lang="zh-CN" altLang="en-US"/>
          </a:p>
        </p:txBody>
      </p:sp>
    </p:spTree>
  </p:cSld>
  <p:clrMapOvr>
    <a:masterClrMapping/>
  </p:clrMapOvr>
  <p:transition spd="slow">
    <p:pull dir="ru"/>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标题 1">
            <a:extLst>
              <a:ext uri="{FF2B5EF4-FFF2-40B4-BE49-F238E27FC236}">
                <a16:creationId xmlns:a16="http://schemas.microsoft.com/office/drawing/2014/main" id="{7E97308D-E7EB-904C-ACD8-C58A1BF70B35}"/>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报文完整性认证的具体实现技术</a:t>
            </a:r>
          </a:p>
        </p:txBody>
      </p:sp>
      <p:sp>
        <p:nvSpPr>
          <p:cNvPr id="248834" name="内容占位符 2">
            <a:extLst>
              <a:ext uri="{FF2B5EF4-FFF2-40B4-BE49-F238E27FC236}">
                <a16:creationId xmlns:a16="http://schemas.microsoft.com/office/drawing/2014/main" id="{FF9A83FD-0709-9947-8E56-B16D263951E4}"/>
              </a:ext>
            </a:extLst>
          </p:cNvPr>
          <p:cNvSpPr>
            <a:spLocks noGrp="1" noChangeArrowheads="1"/>
          </p:cNvSpPr>
          <p:nvPr>
            <p:ph idx="1"/>
          </p:nvPr>
        </p:nvSpPr>
        <p:spPr>
          <a:xfrm>
            <a:off x="823913" y="1465263"/>
            <a:ext cx="10515600" cy="4579937"/>
          </a:xfrm>
        </p:spPr>
        <p:txBody>
          <a:bodyPr/>
          <a:lstStyle/>
          <a:p>
            <a:pPr eaLnBrk="1" hangingPunct="1">
              <a:lnSpc>
                <a:spcPct val="130000"/>
              </a:lnSpc>
            </a:pPr>
            <a:r>
              <a:rPr lang="zh-CN" altLang="en-US">
                <a:latin typeface="Times New Roman" panose="02020603050405020304" pitchFamily="18" charset="0"/>
              </a:rPr>
              <a:t>      (1) 文件的制造者和检验者共享一个密钥；</a:t>
            </a:r>
          </a:p>
          <a:p>
            <a:pPr eaLnBrk="1" hangingPunct="1">
              <a:lnSpc>
                <a:spcPct val="130000"/>
              </a:lnSpc>
            </a:pPr>
            <a:r>
              <a:rPr lang="zh-CN" altLang="en-US">
                <a:latin typeface="Times New Roman" panose="02020603050405020304" pitchFamily="18" charset="0"/>
              </a:rPr>
              <a:t>      (2) 利用文件的明文</a:t>
            </a:r>
            <a:r>
              <a:rPr lang="en-US" altLang="zh-CN">
                <a:latin typeface="Times New Roman" panose="02020603050405020304" pitchFamily="18" charset="0"/>
              </a:rPr>
              <a:t>m</a:t>
            </a:r>
            <a:r>
              <a:rPr lang="zh-CN" altLang="en-US">
                <a:latin typeface="Times New Roman" panose="02020603050405020304" pitchFamily="18" charset="0"/>
              </a:rPr>
              <a:t>产生一个奇偶校验码</a:t>
            </a:r>
            <a:r>
              <a:rPr lang="en-US" altLang="zh-CN">
                <a:latin typeface="Times New Roman" panose="02020603050405020304" pitchFamily="18" charset="0"/>
              </a:rPr>
              <a:t>r</a:t>
            </a:r>
            <a:r>
              <a:rPr lang="zh-CN" altLang="en-US">
                <a:latin typeface="Times New Roman" panose="02020603050405020304" pitchFamily="18" charset="0"/>
              </a:rPr>
              <a:t>的分组；</a:t>
            </a:r>
          </a:p>
          <a:p>
            <a:pPr eaLnBrk="1" hangingPunct="1">
              <a:lnSpc>
                <a:spcPct val="130000"/>
              </a:lnSpc>
            </a:pPr>
            <a:r>
              <a:rPr lang="zh-CN" altLang="en-US">
                <a:latin typeface="Times New Roman" panose="02020603050405020304" pitchFamily="18" charset="0"/>
              </a:rPr>
              <a:t>      (3)  采用分组密码的</a:t>
            </a:r>
            <a:r>
              <a:rPr lang="en-US" altLang="zh-CN">
                <a:latin typeface="Times New Roman" panose="02020603050405020304" pitchFamily="18" charset="0"/>
              </a:rPr>
              <a:t>CBC</a:t>
            </a:r>
            <a:r>
              <a:rPr lang="zh-CN" altLang="en-US">
                <a:latin typeface="Times New Roman" panose="02020603050405020304" pitchFamily="18" charset="0"/>
              </a:rPr>
              <a:t>模式，对附带校验码的已扩充的明文(</a:t>
            </a:r>
            <a:r>
              <a:rPr lang="en-US" altLang="zh-CN">
                <a:latin typeface="Times New Roman" panose="02020603050405020304" pitchFamily="18" charset="0"/>
              </a:rPr>
              <a:t>m, r)</a:t>
            </a:r>
            <a:r>
              <a:rPr lang="zh-CN" altLang="zh-CN">
                <a:latin typeface="Times New Roman" panose="02020603050405020304" pitchFamily="18" charset="0"/>
              </a:rPr>
              <a:t>进行加密，得到的最后一个密文分组就是认证码</a:t>
            </a:r>
            <a:endParaRPr lang="zh-CN" altLang="en-US"/>
          </a:p>
        </p:txBody>
      </p:sp>
      <p:sp>
        <p:nvSpPr>
          <p:cNvPr id="248835" name="灯片编号占位符 3">
            <a:extLst>
              <a:ext uri="{FF2B5EF4-FFF2-40B4-BE49-F238E27FC236}">
                <a16:creationId xmlns:a16="http://schemas.microsoft.com/office/drawing/2014/main" id="{4DB1233D-0020-2849-A08A-3BE0219753F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F649984-3971-7C48-A79C-A5FB5770ADC1}" type="slidenum">
              <a:rPr lang="zh-CN" altLang="en-US">
                <a:latin typeface="Calibri" panose="020F0502020204030204" pitchFamily="34" charset="0"/>
              </a:rPr>
              <a:pPr/>
              <a:t>95</a:t>
            </a:fld>
            <a:endParaRPr lang="zh-CN" altLang="en-US">
              <a:latin typeface="Calibri" panose="020F0502020204030204" pitchFamily="34" charset="0"/>
            </a:endParaRPr>
          </a:p>
        </p:txBody>
      </p:sp>
    </p:spTree>
  </p:cSld>
  <p:clrMapOvr>
    <a:masterClrMapping/>
  </p:clrMapOvr>
  <p:transition spd="slow">
    <p:pull dir="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标题 1">
            <a:extLst>
              <a:ext uri="{FF2B5EF4-FFF2-40B4-BE49-F238E27FC236}">
                <a16:creationId xmlns:a16="http://schemas.microsoft.com/office/drawing/2014/main" id="{519817C4-5A8E-6448-BDCB-0DD4E58E8676}"/>
              </a:ext>
            </a:extLst>
          </p:cNvPr>
          <p:cNvSpPr>
            <a:spLocks noGrp="1" noChangeArrowheads="1"/>
          </p:cNvSpPr>
          <p:nvPr>
            <p:ph type="title"/>
          </p:nvPr>
        </p:nvSpPr>
        <p:spPr>
          <a:xfrm>
            <a:off x="1465263" y="365125"/>
            <a:ext cx="9037637" cy="668338"/>
          </a:xfrm>
        </p:spPr>
        <p:txBody>
          <a:bodyPr/>
          <a:lstStyle/>
          <a:p>
            <a:r>
              <a:rPr lang="zh-CN" altLang="en-US">
                <a:solidFill>
                  <a:srgbClr val="1C1C1C"/>
                </a:solidFill>
                <a:latin typeface="Times New Roman" panose="02020603050405020304" pitchFamily="18" charset="0"/>
              </a:rPr>
              <a:t>认证码生成</a:t>
            </a:r>
          </a:p>
        </p:txBody>
      </p:sp>
      <p:sp>
        <p:nvSpPr>
          <p:cNvPr id="21507" name="Text Box 37">
            <a:extLst>
              <a:ext uri="{FF2B5EF4-FFF2-40B4-BE49-F238E27FC236}">
                <a16:creationId xmlns:a16="http://schemas.microsoft.com/office/drawing/2014/main" id="{98F3A299-FD6A-574F-A894-6E0D9133649F}"/>
              </a:ext>
            </a:extLst>
          </p:cNvPr>
          <p:cNvSpPr txBox="1">
            <a:spLocks noChangeArrowheads="1"/>
          </p:cNvSpPr>
          <p:nvPr/>
        </p:nvSpPr>
        <p:spPr bwMode="auto">
          <a:xfrm>
            <a:off x="7202488" y="2292350"/>
            <a:ext cx="439737" cy="415925"/>
          </a:xfrm>
          <a:prstGeom prst="rect">
            <a:avLst/>
          </a:prstGeom>
          <a:solidFill>
            <a:schemeClr val="bg1"/>
          </a:solidFill>
          <a:ln>
            <a:noFill/>
          </a:ln>
          <a:effectLst/>
        </p:spPr>
        <p:txBody>
          <a:bodyPr lIns="82292" tIns="41146" rIns="82292" bIns="41146">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1" lang="en-US" altLang="zh-CN" sz="2160" b="1">
                <a:solidFill>
                  <a:srgbClr val="1C1C1C"/>
                </a:solidFill>
                <a:latin typeface="+mn-lt"/>
                <a:ea typeface="+mn-ea"/>
              </a:rPr>
              <a:t>…</a:t>
            </a:r>
          </a:p>
        </p:txBody>
      </p:sp>
      <p:sp>
        <p:nvSpPr>
          <p:cNvPr id="250883" name="Text Box 71">
            <a:extLst>
              <a:ext uri="{FF2B5EF4-FFF2-40B4-BE49-F238E27FC236}">
                <a16:creationId xmlns:a16="http://schemas.microsoft.com/office/drawing/2014/main" id="{67707F37-BB2F-5B43-9807-E6D334223181}"/>
              </a:ext>
            </a:extLst>
          </p:cNvPr>
          <p:cNvSpPr txBox="1">
            <a:spLocks noChangeArrowheads="1"/>
          </p:cNvSpPr>
          <p:nvPr/>
        </p:nvSpPr>
        <p:spPr bwMode="auto">
          <a:xfrm>
            <a:off x="2463800" y="1049338"/>
            <a:ext cx="52292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2" tIns="41146" rIns="82292" bIns="41146">
            <a:spAutoFit/>
          </a:bodyPr>
          <a:lstStyle/>
          <a:p>
            <a:r>
              <a:rPr lang="en-US" altLang="zh-CN" sz="2100" b="1" i="1">
                <a:solidFill>
                  <a:srgbClr val="1C1C1C"/>
                </a:solidFill>
                <a:latin typeface="Times New Roman" panose="02020603050405020304" pitchFamily="18" charset="0"/>
                <a:ea typeface="仿宋" pitchFamily="49" charset="-122"/>
              </a:rPr>
              <a:t>n</a:t>
            </a:r>
            <a:r>
              <a:rPr lang="zh-CN" altLang="en-US" sz="2100" b="1">
                <a:solidFill>
                  <a:srgbClr val="1C1C1C"/>
                </a:solidFill>
                <a:latin typeface="Times New Roman" panose="02020603050405020304" pitchFamily="18" charset="0"/>
                <a:ea typeface="仿宋" pitchFamily="49" charset="-122"/>
              </a:rPr>
              <a:t>个</a:t>
            </a:r>
            <a:r>
              <a:rPr lang="zh-CN" altLang="zh-CN" sz="2100" b="1">
                <a:solidFill>
                  <a:srgbClr val="1C1C1C"/>
                </a:solidFill>
                <a:latin typeface="Times New Roman" panose="02020603050405020304" pitchFamily="18" charset="0"/>
                <a:ea typeface="仿宋" pitchFamily="49" charset="-122"/>
              </a:rPr>
              <a:t>分组</a:t>
            </a:r>
            <a:r>
              <a:rPr lang="zh-CN" altLang="en-US" sz="2100" b="1">
                <a:solidFill>
                  <a:srgbClr val="1C1C1C"/>
                </a:solidFill>
                <a:latin typeface="Times New Roman" panose="02020603050405020304" pitchFamily="18" charset="0"/>
                <a:ea typeface="仿宋" pitchFamily="49" charset="-122"/>
              </a:rPr>
              <a:t>明文                                 </a:t>
            </a:r>
            <a:r>
              <a:rPr lang="en-US" altLang="zh-CN" sz="2100" b="1">
                <a:solidFill>
                  <a:srgbClr val="1C1C1C"/>
                </a:solidFill>
                <a:latin typeface="Times New Roman" panose="02020603050405020304" pitchFamily="18" charset="0"/>
                <a:ea typeface="仿宋" pitchFamily="49" charset="-122"/>
              </a:rPr>
              <a:t>, </a:t>
            </a:r>
            <a:r>
              <a:rPr lang="zh-CN" altLang="en-US" sz="2100" b="1">
                <a:solidFill>
                  <a:srgbClr val="1C1C1C"/>
                </a:solidFill>
                <a:latin typeface="Times New Roman" panose="02020603050405020304" pitchFamily="18" charset="0"/>
                <a:ea typeface="仿宋" pitchFamily="49" charset="-122"/>
              </a:rPr>
              <a:t>校验码为</a:t>
            </a:r>
          </a:p>
        </p:txBody>
      </p:sp>
      <p:sp>
        <p:nvSpPr>
          <p:cNvPr id="250884" name="Text Box 74">
            <a:extLst>
              <a:ext uri="{FF2B5EF4-FFF2-40B4-BE49-F238E27FC236}">
                <a16:creationId xmlns:a16="http://schemas.microsoft.com/office/drawing/2014/main" id="{EB609D4C-BDE8-EA4A-B55F-FBE7ABD6ABF8}"/>
              </a:ext>
            </a:extLst>
          </p:cNvPr>
          <p:cNvSpPr txBox="1">
            <a:spLocks noChangeArrowheads="1"/>
          </p:cNvSpPr>
          <p:nvPr/>
        </p:nvSpPr>
        <p:spPr bwMode="auto">
          <a:xfrm>
            <a:off x="1836738" y="1903413"/>
            <a:ext cx="20478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2" tIns="41146" rIns="82292" bIns="41146">
            <a:spAutoFit/>
          </a:bodyPr>
          <a:lstStyle/>
          <a:p>
            <a:pPr>
              <a:spcAft>
                <a:spcPct val="10000"/>
              </a:spcAft>
            </a:pPr>
            <a:r>
              <a:rPr lang="en-US" altLang="zh-CN" sz="2100" b="1" i="1">
                <a:solidFill>
                  <a:srgbClr val="1C1C1C"/>
                </a:solidFill>
                <a:latin typeface="Times New Roman" panose="02020603050405020304" pitchFamily="18" charset="0"/>
                <a:ea typeface="仿宋" pitchFamily="49" charset="-122"/>
              </a:rPr>
              <a:t>C</a:t>
            </a:r>
            <a:r>
              <a:rPr lang="en-US" altLang="zh-CN" sz="2100" b="1" i="1" baseline="-25000">
                <a:solidFill>
                  <a:srgbClr val="1C1C1C"/>
                </a:solidFill>
                <a:latin typeface="Times New Roman" panose="02020603050405020304" pitchFamily="18" charset="0"/>
                <a:ea typeface="仿宋" pitchFamily="49" charset="-122"/>
              </a:rPr>
              <a:t>n+1</a:t>
            </a:r>
            <a:r>
              <a:rPr lang="zh-CN" altLang="zh-CN" sz="2100" b="1">
                <a:solidFill>
                  <a:srgbClr val="1C1C1C"/>
                </a:solidFill>
                <a:latin typeface="Times New Roman" panose="02020603050405020304" pitchFamily="18" charset="0"/>
                <a:ea typeface="仿宋" pitchFamily="49" charset="-122"/>
              </a:rPr>
              <a:t>为认证码。</a:t>
            </a:r>
            <a:endParaRPr lang="zh-CN" altLang="en-US" sz="2100" b="1">
              <a:solidFill>
                <a:srgbClr val="1C1C1C"/>
              </a:solidFill>
              <a:latin typeface="Times New Roman" panose="02020603050405020304" pitchFamily="18" charset="0"/>
              <a:ea typeface="仿宋" pitchFamily="49" charset="-122"/>
            </a:endParaRPr>
          </a:p>
        </p:txBody>
      </p:sp>
      <p:sp>
        <p:nvSpPr>
          <p:cNvPr id="250885" name="Text Box 75">
            <a:extLst>
              <a:ext uri="{FF2B5EF4-FFF2-40B4-BE49-F238E27FC236}">
                <a16:creationId xmlns:a16="http://schemas.microsoft.com/office/drawing/2014/main" id="{96689953-77AD-5447-BDDC-DF3CAE7828D4}"/>
              </a:ext>
            </a:extLst>
          </p:cNvPr>
          <p:cNvSpPr txBox="1">
            <a:spLocks noChangeArrowheads="1"/>
          </p:cNvSpPr>
          <p:nvPr/>
        </p:nvSpPr>
        <p:spPr bwMode="auto">
          <a:xfrm>
            <a:off x="1143000" y="5026025"/>
            <a:ext cx="9677400"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2" tIns="41146" rIns="82292" bIns="41146">
            <a:spAutoFit/>
          </a:bodyPr>
          <a:lstStyle/>
          <a:p>
            <a:pPr>
              <a:lnSpc>
                <a:spcPct val="120000"/>
              </a:lnSpc>
              <a:spcAft>
                <a:spcPct val="10000"/>
              </a:spcAft>
            </a:pPr>
            <a:r>
              <a:rPr lang="en-US" altLang="zh-CN" sz="2100" b="1">
                <a:solidFill>
                  <a:srgbClr val="1C1C1C"/>
                </a:solidFill>
                <a:latin typeface="Times New Roman" panose="02020603050405020304" pitchFamily="18" charset="0"/>
                <a:ea typeface="仿宋" pitchFamily="49" charset="-122"/>
              </a:rPr>
              <a:t>(1) </a:t>
            </a:r>
            <a:r>
              <a:rPr lang="zh-CN" altLang="en-US" sz="2100" b="1">
                <a:solidFill>
                  <a:srgbClr val="1C1C1C"/>
                </a:solidFill>
                <a:latin typeface="Times New Roman" panose="02020603050405020304" pitchFamily="18" charset="0"/>
                <a:ea typeface="仿宋" pitchFamily="49" charset="-122"/>
              </a:rPr>
              <a:t>仅需对明文认证</a:t>
            </a:r>
            <a:r>
              <a:rPr lang="en-US" altLang="zh-CN" sz="2100" b="1">
                <a:solidFill>
                  <a:srgbClr val="1C1C1C"/>
                </a:solidFill>
                <a:latin typeface="Times New Roman" panose="02020603050405020304" pitchFamily="18" charset="0"/>
                <a:ea typeface="仿宋" pitchFamily="49" charset="-122"/>
              </a:rPr>
              <a:t>,</a:t>
            </a:r>
            <a:r>
              <a:rPr lang="zh-CN" altLang="en-US" sz="2100" b="1">
                <a:solidFill>
                  <a:srgbClr val="1C1C1C"/>
                </a:solidFill>
                <a:latin typeface="Times New Roman" panose="02020603050405020304" pitchFamily="18" charset="0"/>
                <a:ea typeface="仿宋" pitchFamily="49" charset="-122"/>
              </a:rPr>
              <a:t>而不需加密时</a:t>
            </a:r>
            <a:r>
              <a:rPr lang="en-US" altLang="zh-CN" sz="2100" b="1">
                <a:solidFill>
                  <a:srgbClr val="1C1C1C"/>
                </a:solidFill>
                <a:latin typeface="Times New Roman" panose="02020603050405020304" pitchFamily="18" charset="0"/>
                <a:ea typeface="仿宋" pitchFamily="49" charset="-122"/>
              </a:rPr>
              <a:t>,</a:t>
            </a:r>
            <a:r>
              <a:rPr lang="zh-CN" altLang="en-US" sz="2100" b="1">
                <a:solidFill>
                  <a:srgbClr val="1C1C1C"/>
                </a:solidFill>
                <a:latin typeface="Times New Roman" panose="02020603050405020304" pitchFamily="18" charset="0"/>
                <a:ea typeface="仿宋" pitchFamily="49" charset="-122"/>
              </a:rPr>
              <a:t>传送明文</a:t>
            </a:r>
            <a:r>
              <a:rPr lang="en-US" altLang="zh-CN" sz="2100" b="1">
                <a:solidFill>
                  <a:srgbClr val="1C1C1C"/>
                </a:solidFill>
                <a:latin typeface="Times New Roman" panose="02020603050405020304" pitchFamily="18" charset="0"/>
                <a:ea typeface="仿宋" pitchFamily="49" charset="-122"/>
              </a:rPr>
              <a:t>m</a:t>
            </a:r>
            <a:r>
              <a:rPr lang="zh-CN" altLang="en-US" sz="2100" b="1">
                <a:solidFill>
                  <a:srgbClr val="1C1C1C"/>
                </a:solidFill>
                <a:latin typeface="Times New Roman" panose="02020603050405020304" pitchFamily="18" charset="0"/>
                <a:ea typeface="仿宋" pitchFamily="49" charset="-122"/>
              </a:rPr>
              <a:t>和</a:t>
            </a:r>
            <a:r>
              <a:rPr lang="zh-CN" altLang="zh-CN" sz="2100" b="1">
                <a:solidFill>
                  <a:srgbClr val="1C1C1C"/>
                </a:solidFill>
                <a:latin typeface="Times New Roman" panose="02020603050405020304" pitchFamily="18" charset="0"/>
                <a:ea typeface="仿宋" pitchFamily="49" charset="-122"/>
              </a:rPr>
              <a:t>认证码</a:t>
            </a:r>
            <a:r>
              <a:rPr lang="en-US" altLang="zh-CN" sz="2100" b="1" i="1">
                <a:solidFill>
                  <a:srgbClr val="1C1C1C"/>
                </a:solidFill>
                <a:latin typeface="Times New Roman" panose="02020603050405020304" pitchFamily="18" charset="0"/>
                <a:ea typeface="仿宋" pitchFamily="49" charset="-122"/>
              </a:rPr>
              <a:t>C</a:t>
            </a:r>
            <a:r>
              <a:rPr lang="en-US" altLang="zh-CN" sz="2100" b="1" i="1" baseline="-25000">
                <a:solidFill>
                  <a:srgbClr val="1C1C1C"/>
                </a:solidFill>
                <a:latin typeface="Times New Roman" panose="02020603050405020304" pitchFamily="18" charset="0"/>
                <a:ea typeface="仿宋" pitchFamily="49" charset="-122"/>
              </a:rPr>
              <a:t>n+1</a:t>
            </a:r>
            <a:r>
              <a:rPr lang="zh-CN" altLang="en-US" sz="2100" b="1" i="1" baseline="-25000">
                <a:solidFill>
                  <a:srgbClr val="1C1C1C"/>
                </a:solidFill>
                <a:latin typeface="Times New Roman" panose="02020603050405020304" pitchFamily="18" charset="0"/>
                <a:ea typeface="仿宋" pitchFamily="49" charset="-122"/>
              </a:rPr>
              <a:t>，</a:t>
            </a:r>
            <a:r>
              <a:rPr lang="zh-CN" altLang="en-US" sz="2100" b="1">
                <a:solidFill>
                  <a:srgbClr val="1C1C1C"/>
                </a:solidFill>
                <a:latin typeface="Times New Roman" panose="02020603050405020304" pitchFamily="18" charset="0"/>
                <a:ea typeface="仿宋" pitchFamily="49" charset="-122"/>
              </a:rPr>
              <a:t>此时也可仅保留</a:t>
            </a:r>
            <a:r>
              <a:rPr lang="en-US" altLang="zh-CN" sz="2100" b="1" i="1">
                <a:solidFill>
                  <a:srgbClr val="1C1C1C"/>
                </a:solidFill>
                <a:latin typeface="Times New Roman" panose="02020603050405020304" pitchFamily="18" charset="0"/>
                <a:ea typeface="仿宋" pitchFamily="49" charset="-122"/>
              </a:rPr>
              <a:t>C</a:t>
            </a:r>
            <a:r>
              <a:rPr lang="en-US" altLang="zh-CN" sz="2100" b="1" i="1" baseline="-25000">
                <a:solidFill>
                  <a:srgbClr val="1C1C1C"/>
                </a:solidFill>
                <a:latin typeface="Times New Roman" panose="02020603050405020304" pitchFamily="18" charset="0"/>
                <a:ea typeface="仿宋" pitchFamily="49" charset="-122"/>
              </a:rPr>
              <a:t>n+1</a:t>
            </a:r>
            <a:r>
              <a:rPr lang="zh-CN" altLang="en-US" sz="2100" b="1">
                <a:solidFill>
                  <a:srgbClr val="1C1C1C"/>
                </a:solidFill>
                <a:latin typeface="Times New Roman" panose="02020603050405020304" pitchFamily="18" charset="0"/>
                <a:ea typeface="仿宋" pitchFamily="49" charset="-122"/>
              </a:rPr>
              <a:t>的 </a:t>
            </a:r>
            <a:r>
              <a:rPr lang="en-US" altLang="zh-CN" sz="2100" b="1">
                <a:solidFill>
                  <a:srgbClr val="1C1C1C"/>
                </a:solidFill>
                <a:latin typeface="Times New Roman" panose="02020603050405020304" pitchFamily="18" charset="0"/>
                <a:ea typeface="仿宋" pitchFamily="49" charset="-122"/>
              </a:rPr>
              <a:t>t </a:t>
            </a:r>
            <a:r>
              <a:rPr lang="zh-CN" altLang="en-US" sz="2100" b="1">
                <a:solidFill>
                  <a:srgbClr val="1C1C1C"/>
                </a:solidFill>
                <a:latin typeface="Times New Roman" panose="02020603050405020304" pitchFamily="18" charset="0"/>
                <a:ea typeface="仿宋" pitchFamily="49" charset="-122"/>
              </a:rPr>
              <a:t>个比特作为认证码；</a:t>
            </a:r>
            <a:endParaRPr lang="zh-CN" altLang="en-US" sz="2100" b="1" i="1" baseline="-25000">
              <a:solidFill>
                <a:srgbClr val="1C1C1C"/>
              </a:solidFill>
              <a:latin typeface="Times New Roman" panose="02020603050405020304" pitchFamily="18" charset="0"/>
              <a:ea typeface="仿宋" pitchFamily="49" charset="-122"/>
            </a:endParaRPr>
          </a:p>
          <a:p>
            <a:pPr>
              <a:lnSpc>
                <a:spcPct val="120000"/>
              </a:lnSpc>
              <a:spcAft>
                <a:spcPct val="10000"/>
              </a:spcAft>
            </a:pPr>
            <a:r>
              <a:rPr lang="en-US" altLang="zh-CN" sz="2100" b="1">
                <a:solidFill>
                  <a:srgbClr val="1C1C1C"/>
                </a:solidFill>
                <a:latin typeface="Times New Roman" panose="02020603050405020304" pitchFamily="18" charset="0"/>
                <a:ea typeface="仿宋" pitchFamily="49" charset="-122"/>
              </a:rPr>
              <a:t>(2) </a:t>
            </a:r>
            <a:r>
              <a:rPr lang="zh-CN" altLang="en-US" sz="2100" b="1">
                <a:solidFill>
                  <a:srgbClr val="1C1C1C"/>
                </a:solidFill>
                <a:latin typeface="Times New Roman" panose="02020603050405020304" pitchFamily="18" charset="0"/>
                <a:ea typeface="仿宋" pitchFamily="49" charset="-122"/>
              </a:rPr>
              <a:t>既需对明文认证</a:t>
            </a:r>
            <a:r>
              <a:rPr lang="en-US" altLang="zh-CN" sz="2100" b="1">
                <a:solidFill>
                  <a:srgbClr val="1C1C1C"/>
                </a:solidFill>
                <a:latin typeface="Times New Roman" panose="02020603050405020304" pitchFamily="18" charset="0"/>
                <a:ea typeface="仿宋" pitchFamily="49" charset="-122"/>
              </a:rPr>
              <a:t>,</a:t>
            </a:r>
            <a:r>
              <a:rPr lang="zh-CN" altLang="en-US" sz="2100" b="1">
                <a:solidFill>
                  <a:srgbClr val="1C1C1C"/>
                </a:solidFill>
                <a:latin typeface="Times New Roman" panose="02020603050405020304" pitchFamily="18" charset="0"/>
                <a:ea typeface="仿宋" pitchFamily="49" charset="-122"/>
              </a:rPr>
              <a:t>又需要加密时</a:t>
            </a:r>
            <a:r>
              <a:rPr lang="en-US" altLang="zh-CN" sz="2100" b="1">
                <a:solidFill>
                  <a:srgbClr val="1C1C1C"/>
                </a:solidFill>
                <a:latin typeface="Times New Roman" panose="02020603050405020304" pitchFamily="18" charset="0"/>
                <a:ea typeface="仿宋" pitchFamily="49" charset="-122"/>
              </a:rPr>
              <a:t>,</a:t>
            </a:r>
            <a:r>
              <a:rPr lang="zh-CN" altLang="en-US" sz="2100" b="1">
                <a:solidFill>
                  <a:srgbClr val="1C1C1C"/>
                </a:solidFill>
                <a:latin typeface="Times New Roman" panose="02020603050405020304" pitchFamily="18" charset="0"/>
                <a:ea typeface="仿宋" pitchFamily="49" charset="-122"/>
              </a:rPr>
              <a:t>传送密文</a:t>
            </a:r>
            <a:r>
              <a:rPr lang="en-US" altLang="zh-CN" sz="2100" b="1">
                <a:solidFill>
                  <a:srgbClr val="1C1C1C"/>
                </a:solidFill>
                <a:latin typeface="Times New Roman" panose="02020603050405020304" pitchFamily="18" charset="0"/>
                <a:ea typeface="仿宋" pitchFamily="49" charset="-122"/>
              </a:rPr>
              <a:t>C</a:t>
            </a:r>
            <a:r>
              <a:rPr lang="zh-CN" altLang="en-US" sz="2100" b="1">
                <a:solidFill>
                  <a:srgbClr val="1C1C1C"/>
                </a:solidFill>
                <a:latin typeface="Times New Roman" panose="02020603050405020304" pitchFamily="18" charset="0"/>
                <a:ea typeface="仿宋" pitchFamily="49" charset="-122"/>
              </a:rPr>
              <a:t>和</a:t>
            </a:r>
            <a:r>
              <a:rPr lang="zh-CN" altLang="zh-CN" sz="2100" b="1">
                <a:solidFill>
                  <a:srgbClr val="1C1C1C"/>
                </a:solidFill>
                <a:latin typeface="Times New Roman" panose="02020603050405020304" pitchFamily="18" charset="0"/>
                <a:ea typeface="仿宋" pitchFamily="49" charset="-122"/>
              </a:rPr>
              <a:t>认证码</a:t>
            </a:r>
            <a:r>
              <a:rPr lang="en-US" altLang="zh-CN" sz="2100" b="1" i="1">
                <a:solidFill>
                  <a:srgbClr val="1C1C1C"/>
                </a:solidFill>
                <a:latin typeface="Times New Roman" panose="02020603050405020304" pitchFamily="18" charset="0"/>
                <a:ea typeface="仿宋" pitchFamily="49" charset="-122"/>
              </a:rPr>
              <a:t>C</a:t>
            </a:r>
            <a:r>
              <a:rPr lang="en-US" altLang="zh-CN" sz="2100" b="1" i="1" baseline="-25000">
                <a:solidFill>
                  <a:srgbClr val="1C1C1C"/>
                </a:solidFill>
                <a:latin typeface="Times New Roman" panose="02020603050405020304" pitchFamily="18" charset="0"/>
                <a:ea typeface="仿宋" pitchFamily="49" charset="-122"/>
              </a:rPr>
              <a:t>n+1</a:t>
            </a:r>
          </a:p>
        </p:txBody>
      </p:sp>
      <p:sp>
        <p:nvSpPr>
          <p:cNvPr id="97287" name="Rectangle 5">
            <a:extLst>
              <a:ext uri="{FF2B5EF4-FFF2-40B4-BE49-F238E27FC236}">
                <a16:creationId xmlns:a16="http://schemas.microsoft.com/office/drawing/2014/main" id="{1B2EB073-9A4B-7A4C-988D-83046AD6FFB2}"/>
              </a:ext>
            </a:extLst>
          </p:cNvPr>
          <p:cNvSpPr>
            <a:spLocks noChangeArrowheads="1"/>
          </p:cNvSpPr>
          <p:nvPr/>
        </p:nvSpPr>
        <p:spPr bwMode="auto">
          <a:xfrm>
            <a:off x="5862638" y="3321050"/>
            <a:ext cx="823912"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0887" name="Object 6">
                <a:extLst>
                  <a:ext uri="{FF2B5EF4-FFF2-40B4-BE49-F238E27FC236}">
                    <a16:creationId xmlns:a16="http://schemas.microsoft.com/office/drawing/2014/main" id="{E84A644A-8190-0047-8AB1-AA9B3DC931E9}"/>
                  </a:ext>
                </a:extLst>
              </p:cNvPr>
              <p:cNvSpPr txBox="1"/>
              <p:nvPr/>
            </p:nvSpPr>
            <p:spPr bwMode="auto">
              <a:xfrm>
                <a:off x="5875338" y="3389313"/>
                <a:ext cx="788987" cy="461962"/>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0887" name="Object 6">
                <a:extLst>
                  <a:ext uri="{FF2B5EF4-FFF2-40B4-BE49-F238E27FC236}">
                    <a16:creationId xmlns:a16="http://schemas.microsoft.com/office/drawing/2014/main" id="{E84A644A-8190-0047-8AB1-AA9B3DC931E9}"/>
                  </a:ext>
                </a:extLst>
              </p:cNvPr>
              <p:cNvSpPr txBox="1">
                <a:spLocks noRot="1" noChangeAspect="1" noMove="1" noResize="1" noEditPoints="1" noAdjustHandles="1" noChangeArrowheads="1" noChangeShapeType="1" noTextEdit="1"/>
              </p:cNvSpPr>
              <p:nvPr/>
            </p:nvSpPr>
            <p:spPr bwMode="auto">
              <a:xfrm>
                <a:off x="5875338" y="3389313"/>
                <a:ext cx="788987" cy="461962"/>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97289" name="Line 7">
            <a:extLst>
              <a:ext uri="{FF2B5EF4-FFF2-40B4-BE49-F238E27FC236}">
                <a16:creationId xmlns:a16="http://schemas.microsoft.com/office/drawing/2014/main" id="{D988C4B8-CA4F-5641-9C8E-AFF1DA2F617B}"/>
              </a:ext>
            </a:extLst>
          </p:cNvPr>
          <p:cNvSpPr>
            <a:spLocks noChangeShapeType="1"/>
          </p:cNvSpPr>
          <p:nvPr/>
        </p:nvSpPr>
        <p:spPr bwMode="auto">
          <a:xfrm>
            <a:off x="6275388" y="2773363"/>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290" name="Line 8">
            <a:extLst>
              <a:ext uri="{FF2B5EF4-FFF2-40B4-BE49-F238E27FC236}">
                <a16:creationId xmlns:a16="http://schemas.microsoft.com/office/drawing/2014/main" id="{33C8F0CE-C415-9446-AEB3-9BA2DA1B4CD6}"/>
              </a:ext>
            </a:extLst>
          </p:cNvPr>
          <p:cNvSpPr>
            <a:spLocks noChangeShapeType="1"/>
          </p:cNvSpPr>
          <p:nvPr/>
        </p:nvSpPr>
        <p:spPr bwMode="auto">
          <a:xfrm>
            <a:off x="6275388" y="3938588"/>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291" name="Rectangle 13">
            <a:extLst>
              <a:ext uri="{FF2B5EF4-FFF2-40B4-BE49-F238E27FC236}">
                <a16:creationId xmlns:a16="http://schemas.microsoft.com/office/drawing/2014/main" id="{6E6AD0C9-800E-5D44-816B-DE8E03C01A94}"/>
              </a:ext>
            </a:extLst>
          </p:cNvPr>
          <p:cNvSpPr>
            <a:spLocks noChangeArrowheads="1"/>
          </p:cNvSpPr>
          <p:nvPr/>
        </p:nvSpPr>
        <p:spPr bwMode="auto">
          <a:xfrm>
            <a:off x="1889125" y="3321050"/>
            <a:ext cx="855663"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0891" name="Object 14">
                <a:extLst>
                  <a:ext uri="{FF2B5EF4-FFF2-40B4-BE49-F238E27FC236}">
                    <a16:creationId xmlns:a16="http://schemas.microsoft.com/office/drawing/2014/main" id="{E6B705AA-6DFF-324E-BEB4-7391D7F15A54}"/>
                  </a:ext>
                </a:extLst>
              </p:cNvPr>
              <p:cNvSpPr txBox="1"/>
              <p:nvPr/>
            </p:nvSpPr>
            <p:spPr bwMode="auto">
              <a:xfrm>
                <a:off x="1920875" y="3389313"/>
                <a:ext cx="790575" cy="461962"/>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0891" name="Object 14">
                <a:extLst>
                  <a:ext uri="{FF2B5EF4-FFF2-40B4-BE49-F238E27FC236}">
                    <a16:creationId xmlns:a16="http://schemas.microsoft.com/office/drawing/2014/main" id="{E6B705AA-6DFF-324E-BEB4-7391D7F15A54}"/>
                  </a:ext>
                </a:extLst>
              </p:cNvPr>
              <p:cNvSpPr txBox="1">
                <a:spLocks noRot="1" noChangeAspect="1" noMove="1" noResize="1" noEditPoints="1" noAdjustHandles="1" noChangeArrowheads="1" noChangeShapeType="1" noTextEdit="1"/>
              </p:cNvSpPr>
              <p:nvPr/>
            </p:nvSpPr>
            <p:spPr bwMode="auto">
              <a:xfrm>
                <a:off x="1920875" y="3389313"/>
                <a:ext cx="790575" cy="461962"/>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97293" name="Line 15">
            <a:extLst>
              <a:ext uri="{FF2B5EF4-FFF2-40B4-BE49-F238E27FC236}">
                <a16:creationId xmlns:a16="http://schemas.microsoft.com/office/drawing/2014/main" id="{70606C83-7699-7844-B279-6694F5B7404A}"/>
              </a:ext>
            </a:extLst>
          </p:cNvPr>
          <p:cNvSpPr>
            <a:spLocks noChangeShapeType="1"/>
          </p:cNvSpPr>
          <p:nvPr/>
        </p:nvSpPr>
        <p:spPr bwMode="auto">
          <a:xfrm>
            <a:off x="2333625" y="2773363"/>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294" name="Line 16">
            <a:extLst>
              <a:ext uri="{FF2B5EF4-FFF2-40B4-BE49-F238E27FC236}">
                <a16:creationId xmlns:a16="http://schemas.microsoft.com/office/drawing/2014/main" id="{5AF41AC6-4623-DA4C-890A-CB71B42D79AB}"/>
              </a:ext>
            </a:extLst>
          </p:cNvPr>
          <p:cNvSpPr>
            <a:spLocks noChangeShapeType="1"/>
          </p:cNvSpPr>
          <p:nvPr/>
        </p:nvSpPr>
        <p:spPr bwMode="auto">
          <a:xfrm>
            <a:off x="2333625" y="3938588"/>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295" name="Rectangle 21">
            <a:extLst>
              <a:ext uri="{FF2B5EF4-FFF2-40B4-BE49-F238E27FC236}">
                <a16:creationId xmlns:a16="http://schemas.microsoft.com/office/drawing/2014/main" id="{9EF86059-6430-1747-8AE3-47CC00A3BE75}"/>
              </a:ext>
            </a:extLst>
          </p:cNvPr>
          <p:cNvSpPr>
            <a:spLocks noChangeArrowheads="1"/>
          </p:cNvSpPr>
          <p:nvPr/>
        </p:nvSpPr>
        <p:spPr bwMode="auto">
          <a:xfrm>
            <a:off x="4527550" y="3321050"/>
            <a:ext cx="822325"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0895" name="Object 22">
                <a:extLst>
                  <a:ext uri="{FF2B5EF4-FFF2-40B4-BE49-F238E27FC236}">
                    <a16:creationId xmlns:a16="http://schemas.microsoft.com/office/drawing/2014/main" id="{1C69764E-4256-F145-9E56-87ACCFE33AB2}"/>
                  </a:ext>
                </a:extLst>
              </p:cNvPr>
              <p:cNvSpPr txBox="1"/>
              <p:nvPr/>
            </p:nvSpPr>
            <p:spPr bwMode="auto">
              <a:xfrm>
                <a:off x="4578350" y="3389313"/>
                <a:ext cx="647700" cy="461962"/>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0895" name="Object 22">
                <a:extLst>
                  <a:ext uri="{FF2B5EF4-FFF2-40B4-BE49-F238E27FC236}">
                    <a16:creationId xmlns:a16="http://schemas.microsoft.com/office/drawing/2014/main" id="{1C69764E-4256-F145-9E56-87ACCFE33AB2}"/>
                  </a:ext>
                </a:extLst>
              </p:cNvPr>
              <p:cNvSpPr txBox="1">
                <a:spLocks noRot="1" noChangeAspect="1" noMove="1" noResize="1" noEditPoints="1" noAdjustHandles="1" noChangeArrowheads="1" noChangeShapeType="1" noTextEdit="1"/>
              </p:cNvSpPr>
              <p:nvPr/>
            </p:nvSpPr>
            <p:spPr bwMode="auto">
              <a:xfrm>
                <a:off x="4578350" y="3389313"/>
                <a:ext cx="647700" cy="461962"/>
              </a:xfrm>
              <a:prstGeom prst="rect">
                <a:avLst/>
              </a:prstGeom>
              <a:blipFill>
                <a:blip r:embed="rId5"/>
                <a:stretch>
                  <a:fillRect r="-18868"/>
                </a:stretch>
              </a:blipFill>
              <a:ln>
                <a:noFill/>
              </a:ln>
              <a:extLst/>
            </p:spPr>
            <p:txBody>
              <a:bodyPr/>
              <a:lstStyle/>
              <a:p>
                <a:r>
                  <a:rPr lang="zh-CN" altLang="en-US">
                    <a:noFill/>
                  </a:rPr>
                  <a:t> </a:t>
                </a:r>
              </a:p>
            </p:txBody>
          </p:sp>
        </mc:Fallback>
      </mc:AlternateContent>
      <p:sp>
        <p:nvSpPr>
          <p:cNvPr id="97297" name="Line 23">
            <a:extLst>
              <a:ext uri="{FF2B5EF4-FFF2-40B4-BE49-F238E27FC236}">
                <a16:creationId xmlns:a16="http://schemas.microsoft.com/office/drawing/2014/main" id="{0438B33A-4C3C-404B-A929-FC86CF1DD48C}"/>
              </a:ext>
            </a:extLst>
          </p:cNvPr>
          <p:cNvSpPr>
            <a:spLocks noChangeShapeType="1"/>
          </p:cNvSpPr>
          <p:nvPr/>
        </p:nvSpPr>
        <p:spPr bwMode="auto">
          <a:xfrm>
            <a:off x="4938713" y="2773363"/>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298" name="Line 24">
            <a:extLst>
              <a:ext uri="{FF2B5EF4-FFF2-40B4-BE49-F238E27FC236}">
                <a16:creationId xmlns:a16="http://schemas.microsoft.com/office/drawing/2014/main" id="{37E379C4-1353-5A44-B134-B897F3B8F59C}"/>
              </a:ext>
            </a:extLst>
          </p:cNvPr>
          <p:cNvSpPr>
            <a:spLocks noChangeShapeType="1"/>
          </p:cNvSpPr>
          <p:nvPr/>
        </p:nvSpPr>
        <p:spPr bwMode="auto">
          <a:xfrm>
            <a:off x="4938713" y="3938588"/>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299" name="Rectangle 29">
            <a:extLst>
              <a:ext uri="{FF2B5EF4-FFF2-40B4-BE49-F238E27FC236}">
                <a16:creationId xmlns:a16="http://schemas.microsoft.com/office/drawing/2014/main" id="{9946FF27-20DE-3348-BEB4-AB47A7ADAD8E}"/>
              </a:ext>
            </a:extLst>
          </p:cNvPr>
          <p:cNvSpPr>
            <a:spLocks noChangeArrowheads="1"/>
          </p:cNvSpPr>
          <p:nvPr/>
        </p:nvSpPr>
        <p:spPr bwMode="auto">
          <a:xfrm>
            <a:off x="3224213" y="3321050"/>
            <a:ext cx="823912"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0899" name="Object 30">
                <a:extLst>
                  <a:ext uri="{FF2B5EF4-FFF2-40B4-BE49-F238E27FC236}">
                    <a16:creationId xmlns:a16="http://schemas.microsoft.com/office/drawing/2014/main" id="{8F1075E8-C296-0B47-8B58-811A2F3319C4}"/>
                  </a:ext>
                </a:extLst>
              </p:cNvPr>
              <p:cNvSpPr txBox="1"/>
              <p:nvPr/>
            </p:nvSpPr>
            <p:spPr bwMode="auto">
              <a:xfrm>
                <a:off x="3270250" y="3389313"/>
                <a:ext cx="660400" cy="461962"/>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0899" name="Object 30">
                <a:extLst>
                  <a:ext uri="{FF2B5EF4-FFF2-40B4-BE49-F238E27FC236}">
                    <a16:creationId xmlns:a16="http://schemas.microsoft.com/office/drawing/2014/main" id="{8F1075E8-C296-0B47-8B58-811A2F3319C4}"/>
                  </a:ext>
                </a:extLst>
              </p:cNvPr>
              <p:cNvSpPr txBox="1">
                <a:spLocks noRot="1" noChangeAspect="1" noMove="1" noResize="1" noEditPoints="1" noAdjustHandles="1" noChangeArrowheads="1" noChangeShapeType="1" noTextEdit="1"/>
              </p:cNvSpPr>
              <p:nvPr/>
            </p:nvSpPr>
            <p:spPr bwMode="auto">
              <a:xfrm>
                <a:off x="3270250" y="3389313"/>
                <a:ext cx="660400" cy="461962"/>
              </a:xfrm>
              <a:prstGeom prst="rect">
                <a:avLst/>
              </a:prstGeom>
              <a:blipFill>
                <a:blip r:embed="rId6"/>
                <a:stretch>
                  <a:fillRect r="-15596"/>
                </a:stretch>
              </a:blipFill>
              <a:ln>
                <a:noFill/>
              </a:ln>
              <a:extLst/>
            </p:spPr>
            <p:txBody>
              <a:bodyPr/>
              <a:lstStyle/>
              <a:p>
                <a:r>
                  <a:rPr lang="zh-CN" altLang="en-US">
                    <a:noFill/>
                  </a:rPr>
                  <a:t> </a:t>
                </a:r>
              </a:p>
            </p:txBody>
          </p:sp>
        </mc:Fallback>
      </mc:AlternateContent>
      <p:sp>
        <p:nvSpPr>
          <p:cNvPr id="97301" name="Line 31">
            <a:extLst>
              <a:ext uri="{FF2B5EF4-FFF2-40B4-BE49-F238E27FC236}">
                <a16:creationId xmlns:a16="http://schemas.microsoft.com/office/drawing/2014/main" id="{AB9108C4-A6D4-C042-86AB-6A3CA5528AA5}"/>
              </a:ext>
            </a:extLst>
          </p:cNvPr>
          <p:cNvSpPr>
            <a:spLocks noChangeShapeType="1"/>
          </p:cNvSpPr>
          <p:nvPr/>
        </p:nvSpPr>
        <p:spPr bwMode="auto">
          <a:xfrm>
            <a:off x="3635375" y="2773363"/>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302" name="Line 32">
            <a:extLst>
              <a:ext uri="{FF2B5EF4-FFF2-40B4-BE49-F238E27FC236}">
                <a16:creationId xmlns:a16="http://schemas.microsoft.com/office/drawing/2014/main" id="{EEADC001-57EF-8940-8E26-6056BD860AC7}"/>
              </a:ext>
            </a:extLst>
          </p:cNvPr>
          <p:cNvSpPr>
            <a:spLocks noChangeShapeType="1"/>
          </p:cNvSpPr>
          <p:nvPr/>
        </p:nvSpPr>
        <p:spPr bwMode="auto">
          <a:xfrm>
            <a:off x="3635375" y="3938588"/>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grpSp>
        <p:nvGrpSpPr>
          <p:cNvPr id="21529" name="Group 39">
            <a:extLst>
              <a:ext uri="{FF2B5EF4-FFF2-40B4-BE49-F238E27FC236}">
                <a16:creationId xmlns:a16="http://schemas.microsoft.com/office/drawing/2014/main" id="{55ACD407-B645-5E48-8801-C548A43D186E}"/>
              </a:ext>
            </a:extLst>
          </p:cNvPr>
          <p:cNvGrpSpPr/>
          <p:nvPr/>
        </p:nvGrpSpPr>
        <p:grpSpPr bwMode="auto">
          <a:xfrm>
            <a:off x="2332831" y="2871311"/>
            <a:ext cx="1454468" cy="1248728"/>
            <a:chOff x="1488" y="1718"/>
            <a:chExt cx="1018" cy="874"/>
          </a:xfrm>
          <a:solidFill>
            <a:schemeClr val="bg1"/>
          </a:solidFill>
        </p:grpSpPr>
        <p:sp>
          <p:nvSpPr>
            <p:cNvPr id="21583" name="Line 40">
              <a:extLst>
                <a:ext uri="{FF2B5EF4-FFF2-40B4-BE49-F238E27FC236}">
                  <a16:creationId xmlns:a16="http://schemas.microsoft.com/office/drawing/2014/main" id="{B66825EC-378E-AB4E-92E9-57A6AE32FECE}"/>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84" name="Line 41">
              <a:extLst>
                <a:ext uri="{FF2B5EF4-FFF2-40B4-BE49-F238E27FC236}">
                  <a16:creationId xmlns:a16="http://schemas.microsoft.com/office/drawing/2014/main" id="{1F83B59D-E05E-5A4A-928C-CB36C0892D2D}"/>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85" name="Line 42">
              <a:extLst>
                <a:ext uri="{FF2B5EF4-FFF2-40B4-BE49-F238E27FC236}">
                  <a16:creationId xmlns:a16="http://schemas.microsoft.com/office/drawing/2014/main" id="{83799E03-0FF4-C843-A298-F2856945C505}"/>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21586" name="AutoShape 43">
              <a:extLst>
                <a:ext uri="{FF2B5EF4-FFF2-40B4-BE49-F238E27FC236}">
                  <a16:creationId xmlns:a16="http://schemas.microsoft.com/office/drawing/2014/main" id="{9F814DF5-5C9D-DA48-A6FE-E05852332A5B}"/>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grpSp>
        <p:nvGrpSpPr>
          <p:cNvPr id="21530" name="Group 44">
            <a:extLst>
              <a:ext uri="{FF2B5EF4-FFF2-40B4-BE49-F238E27FC236}">
                <a16:creationId xmlns:a16="http://schemas.microsoft.com/office/drawing/2014/main" id="{ED1E9ABF-9F7C-1747-B0E2-807275F613FA}"/>
              </a:ext>
            </a:extLst>
          </p:cNvPr>
          <p:cNvGrpSpPr/>
          <p:nvPr/>
        </p:nvGrpSpPr>
        <p:grpSpPr bwMode="auto">
          <a:xfrm>
            <a:off x="3621564" y="2885599"/>
            <a:ext cx="1454468" cy="1248728"/>
            <a:chOff x="1488" y="1718"/>
            <a:chExt cx="1018" cy="874"/>
          </a:xfrm>
          <a:solidFill>
            <a:schemeClr val="bg1"/>
          </a:solidFill>
        </p:grpSpPr>
        <p:sp>
          <p:nvSpPr>
            <p:cNvPr id="21579" name="Line 45">
              <a:extLst>
                <a:ext uri="{FF2B5EF4-FFF2-40B4-BE49-F238E27FC236}">
                  <a16:creationId xmlns:a16="http://schemas.microsoft.com/office/drawing/2014/main" id="{7096ACA3-B259-6A42-A88F-1DE2FC8DDD5E}"/>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80" name="Line 46">
              <a:extLst>
                <a:ext uri="{FF2B5EF4-FFF2-40B4-BE49-F238E27FC236}">
                  <a16:creationId xmlns:a16="http://schemas.microsoft.com/office/drawing/2014/main" id="{93CC655C-118C-EF42-9ACB-6E2058DEF809}"/>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81" name="Line 47">
              <a:extLst>
                <a:ext uri="{FF2B5EF4-FFF2-40B4-BE49-F238E27FC236}">
                  <a16:creationId xmlns:a16="http://schemas.microsoft.com/office/drawing/2014/main" id="{15AF290D-2554-F946-A740-1CA7807317D4}"/>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21582" name="AutoShape 48">
              <a:extLst>
                <a:ext uri="{FF2B5EF4-FFF2-40B4-BE49-F238E27FC236}">
                  <a16:creationId xmlns:a16="http://schemas.microsoft.com/office/drawing/2014/main" id="{9C201C02-4E69-4E43-B60A-66C4AE663132}"/>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grpSp>
        <p:nvGrpSpPr>
          <p:cNvPr id="21531" name="Group 49">
            <a:extLst>
              <a:ext uri="{FF2B5EF4-FFF2-40B4-BE49-F238E27FC236}">
                <a16:creationId xmlns:a16="http://schemas.microsoft.com/office/drawing/2014/main" id="{F0EEAF5A-12D5-044F-AFBF-34D7028C57A6}"/>
              </a:ext>
            </a:extLst>
          </p:cNvPr>
          <p:cNvGrpSpPr/>
          <p:nvPr/>
        </p:nvGrpSpPr>
        <p:grpSpPr bwMode="auto">
          <a:xfrm>
            <a:off x="4954582" y="2885599"/>
            <a:ext cx="1454473" cy="1248728"/>
            <a:chOff x="1488" y="1718"/>
            <a:chExt cx="1018" cy="874"/>
          </a:xfrm>
          <a:solidFill>
            <a:schemeClr val="bg1"/>
          </a:solidFill>
        </p:grpSpPr>
        <p:sp>
          <p:nvSpPr>
            <p:cNvPr id="21575" name="Line 50">
              <a:extLst>
                <a:ext uri="{FF2B5EF4-FFF2-40B4-BE49-F238E27FC236}">
                  <a16:creationId xmlns:a16="http://schemas.microsoft.com/office/drawing/2014/main" id="{0C4D82E9-F575-8E4C-AE02-7DE91F7CC89A}"/>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76" name="Line 51">
              <a:extLst>
                <a:ext uri="{FF2B5EF4-FFF2-40B4-BE49-F238E27FC236}">
                  <a16:creationId xmlns:a16="http://schemas.microsoft.com/office/drawing/2014/main" id="{7BE229A8-CD2B-9142-9B82-55F20954F5F1}"/>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77" name="Line 52">
              <a:extLst>
                <a:ext uri="{FF2B5EF4-FFF2-40B4-BE49-F238E27FC236}">
                  <a16:creationId xmlns:a16="http://schemas.microsoft.com/office/drawing/2014/main" id="{45913B86-416F-7C4C-B14F-6E3E86343E21}"/>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21578" name="AutoShape 53">
              <a:extLst>
                <a:ext uri="{FF2B5EF4-FFF2-40B4-BE49-F238E27FC236}">
                  <a16:creationId xmlns:a16="http://schemas.microsoft.com/office/drawing/2014/main" id="{04DE405C-11F0-0F44-8D0F-8058B5FE33F0}"/>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grpSp>
        <p:nvGrpSpPr>
          <p:cNvPr id="21532" name="Group 54">
            <a:extLst>
              <a:ext uri="{FF2B5EF4-FFF2-40B4-BE49-F238E27FC236}">
                <a16:creationId xmlns:a16="http://schemas.microsoft.com/office/drawing/2014/main" id="{4053A2A6-005D-5C42-A074-7D0516B69CE4}"/>
              </a:ext>
            </a:extLst>
          </p:cNvPr>
          <p:cNvGrpSpPr/>
          <p:nvPr/>
        </p:nvGrpSpPr>
        <p:grpSpPr bwMode="auto">
          <a:xfrm>
            <a:off x="6227599" y="3022759"/>
            <a:ext cx="1165860" cy="1097280"/>
            <a:chOff x="4166" y="1824"/>
            <a:chExt cx="816" cy="768"/>
          </a:xfrm>
          <a:solidFill>
            <a:schemeClr val="bg1"/>
          </a:solidFill>
        </p:grpSpPr>
        <p:sp>
          <p:nvSpPr>
            <p:cNvPr id="21572" name="Line 55">
              <a:extLst>
                <a:ext uri="{FF2B5EF4-FFF2-40B4-BE49-F238E27FC236}">
                  <a16:creationId xmlns:a16="http://schemas.microsoft.com/office/drawing/2014/main" id="{CB012E9D-9D57-D74B-825D-A6C0015D3D38}"/>
                </a:ext>
              </a:extLst>
            </p:cNvPr>
            <p:cNvSpPr>
              <a:spLocks noChangeShapeType="1"/>
            </p:cNvSpPr>
            <p:nvPr/>
          </p:nvSpPr>
          <p:spPr bwMode="auto">
            <a:xfrm>
              <a:off x="4166"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73" name="Line 56">
              <a:extLst>
                <a:ext uri="{FF2B5EF4-FFF2-40B4-BE49-F238E27FC236}">
                  <a16:creationId xmlns:a16="http://schemas.microsoft.com/office/drawing/2014/main" id="{5D02127A-6EC6-BA4C-B773-80470FD9393D}"/>
                </a:ext>
              </a:extLst>
            </p:cNvPr>
            <p:cNvSpPr>
              <a:spLocks noChangeShapeType="1"/>
            </p:cNvSpPr>
            <p:nvPr/>
          </p:nvSpPr>
          <p:spPr bwMode="auto">
            <a:xfrm>
              <a:off x="4598"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74" name="Line 57">
              <a:extLst>
                <a:ext uri="{FF2B5EF4-FFF2-40B4-BE49-F238E27FC236}">
                  <a16:creationId xmlns:a16="http://schemas.microsoft.com/office/drawing/2014/main" id="{9F5A8362-B062-4849-B6CF-A46FDB6B4CE5}"/>
                </a:ext>
              </a:extLst>
            </p:cNvPr>
            <p:cNvSpPr>
              <a:spLocks noChangeShapeType="1"/>
            </p:cNvSpPr>
            <p:nvPr/>
          </p:nvSpPr>
          <p:spPr bwMode="auto">
            <a:xfrm>
              <a:off x="4598"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grpSp>
      <p:sp>
        <p:nvSpPr>
          <p:cNvPr id="97307" name="Rectangle 59">
            <a:extLst>
              <a:ext uri="{FF2B5EF4-FFF2-40B4-BE49-F238E27FC236}">
                <a16:creationId xmlns:a16="http://schemas.microsoft.com/office/drawing/2014/main" id="{0BB136C5-5E9A-E044-BF58-05DD2292FCB7}"/>
              </a:ext>
            </a:extLst>
          </p:cNvPr>
          <p:cNvSpPr>
            <a:spLocks noChangeArrowheads="1"/>
          </p:cNvSpPr>
          <p:nvPr/>
        </p:nvSpPr>
        <p:spPr bwMode="auto">
          <a:xfrm>
            <a:off x="9166225" y="3322638"/>
            <a:ext cx="908050" cy="617537"/>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p:sp>
        <p:nvSpPr>
          <p:cNvPr id="97308" name="Line 61">
            <a:extLst>
              <a:ext uri="{FF2B5EF4-FFF2-40B4-BE49-F238E27FC236}">
                <a16:creationId xmlns:a16="http://schemas.microsoft.com/office/drawing/2014/main" id="{C62754C9-477A-7C4A-B737-AAC10C39C9EB}"/>
              </a:ext>
            </a:extLst>
          </p:cNvPr>
          <p:cNvSpPr>
            <a:spLocks noChangeShapeType="1"/>
          </p:cNvSpPr>
          <p:nvPr/>
        </p:nvSpPr>
        <p:spPr bwMode="auto">
          <a:xfrm>
            <a:off x="9577388" y="2774950"/>
            <a:ext cx="0" cy="547688"/>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309" name="Line 62">
            <a:extLst>
              <a:ext uri="{FF2B5EF4-FFF2-40B4-BE49-F238E27FC236}">
                <a16:creationId xmlns:a16="http://schemas.microsoft.com/office/drawing/2014/main" id="{E43D6566-F3BC-0E40-8BD4-ED27A5329AA0}"/>
              </a:ext>
            </a:extLst>
          </p:cNvPr>
          <p:cNvSpPr>
            <a:spLocks noChangeShapeType="1"/>
          </p:cNvSpPr>
          <p:nvPr/>
        </p:nvSpPr>
        <p:spPr bwMode="auto">
          <a:xfrm>
            <a:off x="9577388" y="3940175"/>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grpSp>
        <p:nvGrpSpPr>
          <p:cNvPr id="21536" name="Group 65">
            <a:extLst>
              <a:ext uri="{FF2B5EF4-FFF2-40B4-BE49-F238E27FC236}">
                <a16:creationId xmlns:a16="http://schemas.microsoft.com/office/drawing/2014/main" id="{67F3EFAF-DA4E-1D43-9713-C5361D71416D}"/>
              </a:ext>
            </a:extLst>
          </p:cNvPr>
          <p:cNvGrpSpPr/>
          <p:nvPr/>
        </p:nvGrpSpPr>
        <p:grpSpPr bwMode="auto">
          <a:xfrm>
            <a:off x="8272144" y="2885599"/>
            <a:ext cx="1454469" cy="1248728"/>
            <a:chOff x="1488" y="1718"/>
            <a:chExt cx="1018" cy="874"/>
          </a:xfrm>
          <a:solidFill>
            <a:schemeClr val="bg1"/>
          </a:solidFill>
        </p:grpSpPr>
        <p:sp>
          <p:nvSpPr>
            <p:cNvPr id="21568" name="Line 66">
              <a:extLst>
                <a:ext uri="{FF2B5EF4-FFF2-40B4-BE49-F238E27FC236}">
                  <a16:creationId xmlns:a16="http://schemas.microsoft.com/office/drawing/2014/main" id="{20E84EBA-8AEC-A342-A471-4601BABC3BC4}"/>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69" name="Line 67">
              <a:extLst>
                <a:ext uri="{FF2B5EF4-FFF2-40B4-BE49-F238E27FC236}">
                  <a16:creationId xmlns:a16="http://schemas.microsoft.com/office/drawing/2014/main" id="{F04D1157-31A5-A54D-985B-18B32E6BB3E9}"/>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21570" name="Line 68">
              <a:extLst>
                <a:ext uri="{FF2B5EF4-FFF2-40B4-BE49-F238E27FC236}">
                  <a16:creationId xmlns:a16="http://schemas.microsoft.com/office/drawing/2014/main" id="{98DEC1CD-DA3C-E246-8742-4A404FCF9DBF}"/>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21571" name="AutoShape 69">
              <a:extLst>
                <a:ext uri="{FF2B5EF4-FFF2-40B4-BE49-F238E27FC236}">
                  <a16:creationId xmlns:a16="http://schemas.microsoft.com/office/drawing/2014/main" id="{5D7ECD55-95AC-7D48-978E-ED01A86DB8AB}"/>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sp>
        <p:nvSpPr>
          <p:cNvPr id="21537" name="Text Box 76">
            <a:extLst>
              <a:ext uri="{FF2B5EF4-FFF2-40B4-BE49-F238E27FC236}">
                <a16:creationId xmlns:a16="http://schemas.microsoft.com/office/drawing/2014/main" id="{85B4DAD1-BD37-A149-8B0C-737AEB45A25C}"/>
              </a:ext>
            </a:extLst>
          </p:cNvPr>
          <p:cNvSpPr txBox="1">
            <a:spLocks noChangeArrowheads="1"/>
          </p:cNvSpPr>
          <p:nvPr/>
        </p:nvSpPr>
        <p:spPr bwMode="auto">
          <a:xfrm>
            <a:off x="7234238" y="3443288"/>
            <a:ext cx="441325" cy="414337"/>
          </a:xfrm>
          <a:prstGeom prst="rect">
            <a:avLst/>
          </a:prstGeom>
          <a:solidFill>
            <a:schemeClr val="bg1"/>
          </a:solidFill>
          <a:ln>
            <a:noFill/>
          </a:ln>
          <a:effectLst/>
        </p:spPr>
        <p:txBody>
          <a:bodyPr lIns="82292" tIns="41146" rIns="82292" bIns="41146">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1" lang="en-US" altLang="zh-CN" sz="2160" b="1">
                <a:solidFill>
                  <a:srgbClr val="1C1C1C"/>
                </a:solidFill>
                <a:latin typeface="+mn-lt"/>
                <a:ea typeface="+mn-ea"/>
              </a:rPr>
              <a:t>…</a:t>
            </a:r>
          </a:p>
        </p:txBody>
      </p:sp>
      <p:sp>
        <p:nvSpPr>
          <p:cNvPr id="21538" name="Text Box 77">
            <a:extLst>
              <a:ext uri="{FF2B5EF4-FFF2-40B4-BE49-F238E27FC236}">
                <a16:creationId xmlns:a16="http://schemas.microsoft.com/office/drawing/2014/main" id="{457C3EA0-0650-334C-8E10-BED4562EB96D}"/>
              </a:ext>
            </a:extLst>
          </p:cNvPr>
          <p:cNvSpPr txBox="1">
            <a:spLocks noChangeArrowheads="1"/>
          </p:cNvSpPr>
          <p:nvPr/>
        </p:nvSpPr>
        <p:spPr bwMode="auto">
          <a:xfrm>
            <a:off x="7234238" y="4521200"/>
            <a:ext cx="441325" cy="415925"/>
          </a:xfrm>
          <a:prstGeom prst="rect">
            <a:avLst/>
          </a:prstGeom>
          <a:solidFill>
            <a:schemeClr val="bg1"/>
          </a:solidFill>
          <a:ln>
            <a:noFill/>
          </a:ln>
          <a:effectLst/>
        </p:spPr>
        <p:txBody>
          <a:bodyPr lIns="82292" tIns="41146" rIns="82292" bIns="41146">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1" lang="en-US" altLang="zh-CN" sz="2160" b="1">
                <a:solidFill>
                  <a:srgbClr val="1C1C1C"/>
                </a:solidFill>
                <a:latin typeface="+mn-lt"/>
                <a:ea typeface="+mn-ea"/>
              </a:rPr>
              <a:t>…</a:t>
            </a:r>
          </a:p>
        </p:txBody>
      </p:sp>
      <p:grpSp>
        <p:nvGrpSpPr>
          <p:cNvPr id="21539" name="Group 79">
            <a:extLst>
              <a:ext uri="{FF2B5EF4-FFF2-40B4-BE49-F238E27FC236}">
                <a16:creationId xmlns:a16="http://schemas.microsoft.com/office/drawing/2014/main" id="{83318555-E56A-8549-B8FF-DC843D7EBD73}"/>
              </a:ext>
            </a:extLst>
          </p:cNvPr>
          <p:cNvGrpSpPr>
            <a:grpSpLocks noChangeAspect="1"/>
          </p:cNvGrpSpPr>
          <p:nvPr/>
        </p:nvGrpSpPr>
        <p:grpSpPr bwMode="auto">
          <a:xfrm>
            <a:off x="9207977" y="3391376"/>
            <a:ext cx="790098" cy="461486"/>
            <a:chOff x="4913" y="2137"/>
            <a:chExt cx="553" cy="323"/>
          </a:xfrm>
          <a:solidFill>
            <a:schemeClr val="bg1"/>
          </a:solidFill>
        </p:grpSpPr>
        <p:sp>
          <p:nvSpPr>
            <p:cNvPr id="21562" name="AutoShape 78">
              <a:extLst>
                <a:ext uri="{FF2B5EF4-FFF2-40B4-BE49-F238E27FC236}">
                  <a16:creationId xmlns:a16="http://schemas.microsoft.com/office/drawing/2014/main" id="{36C32AE1-B5E8-A241-B166-F7AAFBE369EA}"/>
                </a:ext>
              </a:extLst>
            </p:cNvPr>
            <p:cNvSpPr>
              <a:spLocks noChangeAspect="1" noChangeArrowheads="1" noTextEdit="1"/>
            </p:cNvSpPr>
            <p:nvPr/>
          </p:nvSpPr>
          <p:spPr bwMode="auto">
            <a:xfrm>
              <a:off x="4913" y="2137"/>
              <a:ext cx="553" cy="323"/>
            </a:xfrm>
            <a:prstGeom prst="rect">
              <a:avLst/>
            </a:prstGeom>
            <a:grpFill/>
            <a:ln>
              <a:noFill/>
            </a:ln>
          </p:spPr>
          <p:txBody>
            <a:bodyPr/>
            <a:lstStyle/>
            <a:p>
              <a:pPr eaLnBrk="0" hangingPunct="0">
                <a:defRPr/>
              </a:pPr>
              <a:endParaRPr lang="zh-CN" altLang="en-US" b="1">
                <a:solidFill>
                  <a:srgbClr val="1C1C1C"/>
                </a:solidFill>
                <a:latin typeface="+mn-lt"/>
                <a:ea typeface="+mn-ea"/>
              </a:endParaRPr>
            </a:p>
          </p:txBody>
        </p:sp>
        <p:sp>
          <p:nvSpPr>
            <p:cNvPr id="21563" name="Rectangle 80">
              <a:extLst>
                <a:ext uri="{FF2B5EF4-FFF2-40B4-BE49-F238E27FC236}">
                  <a16:creationId xmlns:a16="http://schemas.microsoft.com/office/drawing/2014/main" id="{1ACEDA97-2B15-624A-95CD-9250EBB50D69}"/>
                </a:ext>
              </a:extLst>
            </p:cNvPr>
            <p:cNvSpPr>
              <a:spLocks noChangeArrowheads="1"/>
            </p:cNvSpPr>
            <p:nvPr/>
          </p:nvSpPr>
          <p:spPr bwMode="auto">
            <a:xfrm>
              <a:off x="5363"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a:solidFill>
                    <a:srgbClr val="1C1C1C"/>
                  </a:solidFill>
                  <a:latin typeface="+mn-lt"/>
                  <a:ea typeface="+mn-ea"/>
                </a:rPr>
                <a:t>)</a:t>
              </a:r>
              <a:endParaRPr lang="en-US" altLang="zh-CN" b="1">
                <a:solidFill>
                  <a:srgbClr val="1C1C1C"/>
                </a:solidFill>
                <a:latin typeface="+mn-lt"/>
                <a:ea typeface="+mn-ea"/>
              </a:endParaRPr>
            </a:p>
          </p:txBody>
        </p:sp>
        <p:sp>
          <p:nvSpPr>
            <p:cNvPr id="21564" name="Rectangle 81">
              <a:extLst>
                <a:ext uri="{FF2B5EF4-FFF2-40B4-BE49-F238E27FC236}">
                  <a16:creationId xmlns:a16="http://schemas.microsoft.com/office/drawing/2014/main" id="{5D49CDEA-85CF-E34A-A292-EBDF2A24F76C}"/>
                </a:ext>
              </a:extLst>
            </p:cNvPr>
            <p:cNvSpPr>
              <a:spLocks noChangeArrowheads="1"/>
            </p:cNvSpPr>
            <p:nvPr/>
          </p:nvSpPr>
          <p:spPr bwMode="auto">
            <a:xfrm>
              <a:off x="5176"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a:solidFill>
                    <a:srgbClr val="1C1C1C"/>
                  </a:solidFill>
                  <a:latin typeface="+mn-lt"/>
                  <a:ea typeface="+mn-ea"/>
                </a:rPr>
                <a:t>(</a:t>
              </a:r>
              <a:endParaRPr lang="en-US" altLang="zh-CN" b="1">
                <a:solidFill>
                  <a:srgbClr val="1C1C1C"/>
                </a:solidFill>
                <a:latin typeface="+mn-lt"/>
                <a:ea typeface="+mn-ea"/>
              </a:endParaRPr>
            </a:p>
          </p:txBody>
        </p:sp>
        <p:sp>
          <p:nvSpPr>
            <p:cNvPr id="21565" name="Rectangle 82">
              <a:extLst>
                <a:ext uri="{FF2B5EF4-FFF2-40B4-BE49-F238E27FC236}">
                  <a16:creationId xmlns:a16="http://schemas.microsoft.com/office/drawing/2014/main" id="{53089372-F807-A846-9DC9-55A2E9178C0F}"/>
                </a:ext>
              </a:extLst>
            </p:cNvPr>
            <p:cNvSpPr>
              <a:spLocks noChangeArrowheads="1"/>
            </p:cNvSpPr>
            <p:nvPr/>
          </p:nvSpPr>
          <p:spPr bwMode="auto">
            <a:xfrm>
              <a:off x="5263" y="2160"/>
              <a:ext cx="109"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a:solidFill>
                    <a:srgbClr val="1C1C1C"/>
                  </a:solidFill>
                  <a:latin typeface="+mn-lt"/>
                  <a:ea typeface="+mn-ea"/>
                </a:rPr>
                <a:t>x</a:t>
              </a:r>
              <a:endParaRPr lang="en-US" altLang="zh-CN" b="1">
                <a:solidFill>
                  <a:srgbClr val="1C1C1C"/>
                </a:solidFill>
                <a:latin typeface="+mn-lt"/>
                <a:ea typeface="+mn-ea"/>
              </a:endParaRPr>
            </a:p>
          </p:txBody>
        </p:sp>
        <p:sp>
          <p:nvSpPr>
            <p:cNvPr id="21566" name="Rectangle 83">
              <a:extLst>
                <a:ext uri="{FF2B5EF4-FFF2-40B4-BE49-F238E27FC236}">
                  <a16:creationId xmlns:a16="http://schemas.microsoft.com/office/drawing/2014/main" id="{70705FE1-E080-F344-B3FB-45D65AF8F8BF}"/>
                </a:ext>
              </a:extLst>
            </p:cNvPr>
            <p:cNvSpPr>
              <a:spLocks noChangeArrowheads="1"/>
            </p:cNvSpPr>
            <p:nvPr/>
          </p:nvSpPr>
          <p:spPr bwMode="auto">
            <a:xfrm>
              <a:off x="4952" y="2160"/>
              <a:ext cx="146"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a:solidFill>
                    <a:srgbClr val="1C1C1C"/>
                  </a:solidFill>
                  <a:latin typeface="+mn-lt"/>
                  <a:ea typeface="+mn-ea"/>
                </a:rPr>
                <a:t>E</a:t>
              </a:r>
              <a:endParaRPr lang="en-US" altLang="zh-CN" b="1">
                <a:solidFill>
                  <a:srgbClr val="1C1C1C"/>
                </a:solidFill>
                <a:latin typeface="+mn-lt"/>
                <a:ea typeface="+mn-ea"/>
              </a:endParaRPr>
            </a:p>
          </p:txBody>
        </p:sp>
        <p:sp>
          <p:nvSpPr>
            <p:cNvPr id="21567" name="Rectangle 84">
              <a:extLst>
                <a:ext uri="{FF2B5EF4-FFF2-40B4-BE49-F238E27FC236}">
                  <a16:creationId xmlns:a16="http://schemas.microsoft.com/office/drawing/2014/main" id="{FF6A58CC-168D-464B-95E4-8FDF94875D41}"/>
                </a:ext>
              </a:extLst>
            </p:cNvPr>
            <p:cNvSpPr>
              <a:spLocks noChangeArrowheads="1"/>
            </p:cNvSpPr>
            <p:nvPr/>
          </p:nvSpPr>
          <p:spPr bwMode="auto">
            <a:xfrm>
              <a:off x="5086" y="2294"/>
              <a:ext cx="65" cy="155"/>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440" b="1" i="1">
                  <a:solidFill>
                    <a:srgbClr val="1C1C1C"/>
                  </a:solidFill>
                  <a:latin typeface="+mn-lt"/>
                  <a:ea typeface="+mn-ea"/>
                </a:rPr>
                <a:t>k</a:t>
              </a:r>
              <a:endParaRPr lang="en-US" altLang="zh-CN" b="1">
                <a:solidFill>
                  <a:srgbClr val="1C1C1C"/>
                </a:solidFill>
                <a:latin typeface="+mn-lt"/>
                <a:ea typeface="+mn-ea"/>
              </a:endParaRPr>
            </a:p>
          </p:txBody>
        </p:sp>
      </p:grpSp>
      <p:sp>
        <p:nvSpPr>
          <p:cNvPr id="97314" name="Rectangle 97">
            <a:extLst>
              <a:ext uri="{FF2B5EF4-FFF2-40B4-BE49-F238E27FC236}">
                <a16:creationId xmlns:a16="http://schemas.microsoft.com/office/drawing/2014/main" id="{A0219FE7-49B3-F74D-A235-DFC48C0FE6D0}"/>
              </a:ext>
            </a:extLst>
          </p:cNvPr>
          <p:cNvSpPr>
            <a:spLocks noChangeArrowheads="1"/>
          </p:cNvSpPr>
          <p:nvPr/>
        </p:nvSpPr>
        <p:spPr bwMode="auto">
          <a:xfrm>
            <a:off x="7883525" y="3322638"/>
            <a:ext cx="911225" cy="617537"/>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p:sp>
        <p:nvSpPr>
          <p:cNvPr id="97315" name="Line 98">
            <a:extLst>
              <a:ext uri="{FF2B5EF4-FFF2-40B4-BE49-F238E27FC236}">
                <a16:creationId xmlns:a16="http://schemas.microsoft.com/office/drawing/2014/main" id="{E1D4264F-4BDA-FB4A-A857-E7E427FF483A}"/>
              </a:ext>
            </a:extLst>
          </p:cNvPr>
          <p:cNvSpPr>
            <a:spLocks noChangeShapeType="1"/>
          </p:cNvSpPr>
          <p:nvPr/>
        </p:nvSpPr>
        <p:spPr bwMode="auto">
          <a:xfrm>
            <a:off x="8294688" y="2774950"/>
            <a:ext cx="0" cy="547688"/>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7316" name="Line 99">
            <a:extLst>
              <a:ext uri="{FF2B5EF4-FFF2-40B4-BE49-F238E27FC236}">
                <a16:creationId xmlns:a16="http://schemas.microsoft.com/office/drawing/2014/main" id="{703BE05C-FD14-A949-A88E-8ED3B2733AF5}"/>
              </a:ext>
            </a:extLst>
          </p:cNvPr>
          <p:cNvSpPr>
            <a:spLocks noChangeShapeType="1"/>
          </p:cNvSpPr>
          <p:nvPr/>
        </p:nvSpPr>
        <p:spPr bwMode="auto">
          <a:xfrm>
            <a:off x="8294688" y="3940175"/>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grpSp>
        <p:nvGrpSpPr>
          <p:cNvPr id="21553" name="Group 100">
            <a:extLst>
              <a:ext uri="{FF2B5EF4-FFF2-40B4-BE49-F238E27FC236}">
                <a16:creationId xmlns:a16="http://schemas.microsoft.com/office/drawing/2014/main" id="{5FF1F1E2-FE62-EE4C-B25B-74D7F8FB92EA}"/>
              </a:ext>
            </a:extLst>
          </p:cNvPr>
          <p:cNvGrpSpPr>
            <a:grpSpLocks noChangeAspect="1"/>
          </p:cNvGrpSpPr>
          <p:nvPr/>
        </p:nvGrpSpPr>
        <p:grpSpPr bwMode="auto">
          <a:xfrm>
            <a:off x="7924959" y="3391376"/>
            <a:ext cx="790098" cy="461486"/>
            <a:chOff x="4913" y="2137"/>
            <a:chExt cx="553" cy="323"/>
          </a:xfrm>
          <a:solidFill>
            <a:schemeClr val="bg1"/>
          </a:solidFill>
        </p:grpSpPr>
        <p:sp>
          <p:nvSpPr>
            <p:cNvPr id="21556" name="AutoShape 101">
              <a:extLst>
                <a:ext uri="{FF2B5EF4-FFF2-40B4-BE49-F238E27FC236}">
                  <a16:creationId xmlns:a16="http://schemas.microsoft.com/office/drawing/2014/main" id="{14F96A7E-EF26-7544-A2DF-CE878174A4EA}"/>
                </a:ext>
              </a:extLst>
            </p:cNvPr>
            <p:cNvSpPr>
              <a:spLocks noChangeAspect="1" noChangeArrowheads="1" noTextEdit="1"/>
            </p:cNvSpPr>
            <p:nvPr/>
          </p:nvSpPr>
          <p:spPr bwMode="auto">
            <a:xfrm>
              <a:off x="4913" y="2137"/>
              <a:ext cx="553" cy="323"/>
            </a:xfrm>
            <a:prstGeom prst="rect">
              <a:avLst/>
            </a:prstGeom>
            <a:grpFill/>
            <a:ln>
              <a:noFill/>
            </a:ln>
          </p:spPr>
          <p:txBody>
            <a:bodyPr/>
            <a:lstStyle/>
            <a:p>
              <a:pPr eaLnBrk="0" hangingPunct="0">
                <a:defRPr/>
              </a:pPr>
              <a:endParaRPr lang="zh-CN" altLang="en-US" b="1">
                <a:solidFill>
                  <a:srgbClr val="1C1C1C"/>
                </a:solidFill>
                <a:latin typeface="+mn-lt"/>
                <a:ea typeface="+mn-ea"/>
              </a:endParaRPr>
            </a:p>
          </p:txBody>
        </p:sp>
        <p:sp>
          <p:nvSpPr>
            <p:cNvPr id="21557" name="Rectangle 102">
              <a:extLst>
                <a:ext uri="{FF2B5EF4-FFF2-40B4-BE49-F238E27FC236}">
                  <a16:creationId xmlns:a16="http://schemas.microsoft.com/office/drawing/2014/main" id="{49F8F492-5F59-6040-8FE7-173909E3D656}"/>
                </a:ext>
              </a:extLst>
            </p:cNvPr>
            <p:cNvSpPr>
              <a:spLocks noChangeArrowheads="1"/>
            </p:cNvSpPr>
            <p:nvPr/>
          </p:nvSpPr>
          <p:spPr bwMode="auto">
            <a:xfrm>
              <a:off x="5363"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dirty="0">
                  <a:solidFill>
                    <a:srgbClr val="1C1C1C"/>
                  </a:solidFill>
                  <a:latin typeface="+mn-lt"/>
                  <a:ea typeface="+mn-ea"/>
                </a:rPr>
                <a:t>)</a:t>
              </a:r>
              <a:endParaRPr lang="en-US" altLang="zh-CN" b="1" dirty="0">
                <a:solidFill>
                  <a:srgbClr val="1C1C1C"/>
                </a:solidFill>
                <a:latin typeface="+mn-lt"/>
                <a:ea typeface="+mn-ea"/>
              </a:endParaRPr>
            </a:p>
          </p:txBody>
        </p:sp>
        <p:sp>
          <p:nvSpPr>
            <p:cNvPr id="21558" name="Rectangle 103">
              <a:extLst>
                <a:ext uri="{FF2B5EF4-FFF2-40B4-BE49-F238E27FC236}">
                  <a16:creationId xmlns:a16="http://schemas.microsoft.com/office/drawing/2014/main" id="{F043C45D-6C77-624F-A589-A7207C772366}"/>
                </a:ext>
              </a:extLst>
            </p:cNvPr>
            <p:cNvSpPr>
              <a:spLocks noChangeArrowheads="1"/>
            </p:cNvSpPr>
            <p:nvPr/>
          </p:nvSpPr>
          <p:spPr bwMode="auto">
            <a:xfrm>
              <a:off x="5176"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dirty="0">
                  <a:solidFill>
                    <a:srgbClr val="1C1C1C"/>
                  </a:solidFill>
                  <a:latin typeface="+mn-lt"/>
                  <a:ea typeface="+mn-ea"/>
                </a:rPr>
                <a:t>(</a:t>
              </a:r>
              <a:endParaRPr lang="en-US" altLang="zh-CN" b="1" dirty="0">
                <a:solidFill>
                  <a:srgbClr val="1C1C1C"/>
                </a:solidFill>
                <a:latin typeface="+mn-lt"/>
                <a:ea typeface="+mn-ea"/>
              </a:endParaRPr>
            </a:p>
          </p:txBody>
        </p:sp>
        <p:sp>
          <p:nvSpPr>
            <p:cNvPr id="21559" name="Rectangle 104">
              <a:extLst>
                <a:ext uri="{FF2B5EF4-FFF2-40B4-BE49-F238E27FC236}">
                  <a16:creationId xmlns:a16="http://schemas.microsoft.com/office/drawing/2014/main" id="{669FCCE2-4EE8-3E40-A099-3AB9B3A948EB}"/>
                </a:ext>
              </a:extLst>
            </p:cNvPr>
            <p:cNvSpPr>
              <a:spLocks noChangeArrowheads="1"/>
            </p:cNvSpPr>
            <p:nvPr/>
          </p:nvSpPr>
          <p:spPr bwMode="auto">
            <a:xfrm>
              <a:off x="5263" y="2160"/>
              <a:ext cx="109"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a:solidFill>
                    <a:srgbClr val="1C1C1C"/>
                  </a:solidFill>
                  <a:latin typeface="+mn-lt"/>
                  <a:ea typeface="+mn-ea"/>
                </a:rPr>
                <a:t>x</a:t>
              </a:r>
              <a:endParaRPr lang="en-US" altLang="zh-CN" b="1">
                <a:solidFill>
                  <a:srgbClr val="1C1C1C"/>
                </a:solidFill>
                <a:latin typeface="+mn-lt"/>
                <a:ea typeface="+mn-ea"/>
              </a:endParaRPr>
            </a:p>
          </p:txBody>
        </p:sp>
        <p:sp>
          <p:nvSpPr>
            <p:cNvPr id="21560" name="Rectangle 105">
              <a:extLst>
                <a:ext uri="{FF2B5EF4-FFF2-40B4-BE49-F238E27FC236}">
                  <a16:creationId xmlns:a16="http://schemas.microsoft.com/office/drawing/2014/main" id="{71B34A6D-437A-C747-9FC5-911EEFBF7E5E}"/>
                </a:ext>
              </a:extLst>
            </p:cNvPr>
            <p:cNvSpPr>
              <a:spLocks noChangeArrowheads="1"/>
            </p:cNvSpPr>
            <p:nvPr/>
          </p:nvSpPr>
          <p:spPr bwMode="auto">
            <a:xfrm>
              <a:off x="4952" y="2160"/>
              <a:ext cx="146"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dirty="0">
                  <a:solidFill>
                    <a:srgbClr val="1C1C1C"/>
                  </a:solidFill>
                  <a:latin typeface="+mn-lt"/>
                  <a:ea typeface="+mn-ea"/>
                </a:rPr>
                <a:t>E</a:t>
              </a:r>
              <a:endParaRPr lang="en-US" altLang="zh-CN" b="1" dirty="0">
                <a:solidFill>
                  <a:srgbClr val="1C1C1C"/>
                </a:solidFill>
                <a:latin typeface="+mn-lt"/>
                <a:ea typeface="+mn-ea"/>
              </a:endParaRPr>
            </a:p>
          </p:txBody>
        </p:sp>
        <p:sp>
          <p:nvSpPr>
            <p:cNvPr id="21561" name="Rectangle 106">
              <a:extLst>
                <a:ext uri="{FF2B5EF4-FFF2-40B4-BE49-F238E27FC236}">
                  <a16:creationId xmlns:a16="http://schemas.microsoft.com/office/drawing/2014/main" id="{18F2C383-A465-2E48-9F61-DEBFFEE74F86}"/>
                </a:ext>
              </a:extLst>
            </p:cNvPr>
            <p:cNvSpPr>
              <a:spLocks noChangeArrowheads="1"/>
            </p:cNvSpPr>
            <p:nvPr/>
          </p:nvSpPr>
          <p:spPr bwMode="auto">
            <a:xfrm>
              <a:off x="5086" y="2294"/>
              <a:ext cx="65" cy="155"/>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440" b="1" i="1" dirty="0">
                  <a:solidFill>
                    <a:srgbClr val="1C1C1C"/>
                  </a:solidFill>
                  <a:latin typeface="+mn-lt"/>
                  <a:ea typeface="+mn-ea"/>
                </a:rPr>
                <a:t>k</a:t>
              </a:r>
              <a:endParaRPr lang="en-US" altLang="zh-CN" b="1" dirty="0">
                <a:solidFill>
                  <a:srgbClr val="1C1C1C"/>
                </a:solidFill>
                <a:latin typeface="+mn-lt"/>
                <a:ea typeface="+mn-ea"/>
              </a:endParaRPr>
            </a:p>
          </p:txBody>
        </p:sp>
      </p:grpSp>
      <mc:AlternateContent xmlns:mc="http://schemas.openxmlformats.org/markup-compatibility/2006" xmlns:a14="http://schemas.microsoft.com/office/drawing/2010/main">
        <mc:Choice Requires="a14">
          <p:sp>
            <p:nvSpPr>
              <p:cNvPr id="250917" name="对象 4">
                <a:extLst>
                  <a:ext uri="{FF2B5EF4-FFF2-40B4-BE49-F238E27FC236}">
                    <a16:creationId xmlns:a16="http://schemas.microsoft.com/office/drawing/2014/main" id="{45010A31-9E6D-5C43-A95E-5638C4D3FF67}"/>
                  </a:ext>
                </a:extLst>
              </p:cNvPr>
              <p:cNvSpPr txBox="1"/>
              <p:nvPr/>
            </p:nvSpPr>
            <p:spPr bwMode="auto">
              <a:xfrm>
                <a:off x="3659188" y="1428750"/>
                <a:ext cx="3233737"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250917" name="对象 4">
                <a:extLst>
                  <a:ext uri="{FF2B5EF4-FFF2-40B4-BE49-F238E27FC236}">
                    <a16:creationId xmlns:a16="http://schemas.microsoft.com/office/drawing/2014/main" id="{45010A31-9E6D-5C43-A95E-5638C4D3FF67}"/>
                  </a:ext>
                </a:extLst>
              </p:cNvPr>
              <p:cNvSpPr txBox="1">
                <a:spLocks noRot="1" noChangeAspect="1" noMove="1" noResize="1" noEditPoints="1" noAdjustHandles="1" noChangeArrowheads="1" noChangeShapeType="1" noTextEdit="1"/>
              </p:cNvSpPr>
              <p:nvPr/>
            </p:nvSpPr>
            <p:spPr bwMode="auto">
              <a:xfrm>
                <a:off x="3659188" y="1428750"/>
                <a:ext cx="3233737" cy="479425"/>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18" name="对象 87">
                <a:extLst>
                  <a:ext uri="{FF2B5EF4-FFF2-40B4-BE49-F238E27FC236}">
                    <a16:creationId xmlns:a16="http://schemas.microsoft.com/office/drawing/2014/main" id="{83374D96-C539-AE4D-88D5-FE03625C20D6}"/>
                  </a:ext>
                </a:extLst>
              </p:cNvPr>
              <p:cNvSpPr txBox="1"/>
              <p:nvPr/>
            </p:nvSpPr>
            <p:spPr bwMode="auto">
              <a:xfrm>
                <a:off x="4071938" y="1028700"/>
                <a:ext cx="2209800"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0918" name="对象 87">
                <a:extLst>
                  <a:ext uri="{FF2B5EF4-FFF2-40B4-BE49-F238E27FC236}">
                    <a16:creationId xmlns:a16="http://schemas.microsoft.com/office/drawing/2014/main" id="{83374D96-C539-AE4D-88D5-FE03625C20D6}"/>
                  </a:ext>
                </a:extLst>
              </p:cNvPr>
              <p:cNvSpPr txBox="1">
                <a:spLocks noRot="1" noChangeAspect="1" noMove="1" noResize="1" noEditPoints="1" noAdjustHandles="1" noChangeArrowheads="1" noChangeShapeType="1" noTextEdit="1"/>
              </p:cNvSpPr>
              <p:nvPr/>
            </p:nvSpPr>
            <p:spPr bwMode="auto">
              <a:xfrm>
                <a:off x="4071938" y="1028700"/>
                <a:ext cx="2209800" cy="479425"/>
              </a:xfrm>
              <a:prstGeom prst="rect">
                <a:avLst/>
              </a:prstGeom>
              <a:blipFill>
                <a:blip r:embed="rId8"/>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19" name="对象 88">
                <a:extLst>
                  <a:ext uri="{FF2B5EF4-FFF2-40B4-BE49-F238E27FC236}">
                    <a16:creationId xmlns:a16="http://schemas.microsoft.com/office/drawing/2014/main" id="{AF2894D8-ED50-4247-B9D2-795D1CD1095A}"/>
                  </a:ext>
                </a:extLst>
              </p:cNvPr>
              <p:cNvSpPr txBox="1"/>
              <p:nvPr/>
            </p:nvSpPr>
            <p:spPr bwMode="auto">
              <a:xfrm>
                <a:off x="2376488" y="2449513"/>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250919" name="对象 88">
                <a:extLst>
                  <a:ext uri="{FF2B5EF4-FFF2-40B4-BE49-F238E27FC236}">
                    <a16:creationId xmlns:a16="http://schemas.microsoft.com/office/drawing/2014/main" id="{AF2894D8-ED50-4247-B9D2-795D1CD1095A}"/>
                  </a:ext>
                </a:extLst>
              </p:cNvPr>
              <p:cNvSpPr txBox="1">
                <a:spLocks noRot="1" noChangeAspect="1" noMove="1" noResize="1" noEditPoints="1" noAdjustHandles="1" noChangeArrowheads="1" noChangeShapeType="1" noTextEdit="1"/>
              </p:cNvSpPr>
              <p:nvPr/>
            </p:nvSpPr>
            <p:spPr bwMode="auto">
              <a:xfrm>
                <a:off x="2376488" y="2449513"/>
                <a:ext cx="447675" cy="479425"/>
              </a:xfrm>
              <a:prstGeom prst="rect">
                <a:avLst/>
              </a:prstGeom>
              <a:blipFill>
                <a:blip r:embed="rId9"/>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0" name="对象 91">
                <a:extLst>
                  <a:ext uri="{FF2B5EF4-FFF2-40B4-BE49-F238E27FC236}">
                    <a16:creationId xmlns:a16="http://schemas.microsoft.com/office/drawing/2014/main" id="{DAF2BBAF-7914-EA49-8241-6CFB18EAC7A0}"/>
                  </a:ext>
                </a:extLst>
              </p:cNvPr>
              <p:cNvSpPr txBox="1"/>
              <p:nvPr/>
            </p:nvSpPr>
            <p:spPr bwMode="auto">
              <a:xfrm>
                <a:off x="4946650" y="2449513"/>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oMath>
                  </m:oMathPara>
                </a14:m>
                <a:endParaRPr lang="zh-CN" altLang="en-US"/>
              </a:p>
            </p:txBody>
          </p:sp>
        </mc:Choice>
        <mc:Fallback xmlns="">
          <p:sp>
            <p:nvSpPr>
              <p:cNvPr id="250920" name="对象 91">
                <a:extLst>
                  <a:ext uri="{FF2B5EF4-FFF2-40B4-BE49-F238E27FC236}">
                    <a16:creationId xmlns:a16="http://schemas.microsoft.com/office/drawing/2014/main" id="{DAF2BBAF-7914-EA49-8241-6CFB18EAC7A0}"/>
                  </a:ext>
                </a:extLst>
              </p:cNvPr>
              <p:cNvSpPr txBox="1">
                <a:spLocks noRot="1" noChangeAspect="1" noMove="1" noResize="1" noEditPoints="1" noAdjustHandles="1" noChangeArrowheads="1" noChangeShapeType="1" noTextEdit="1"/>
              </p:cNvSpPr>
              <p:nvPr/>
            </p:nvSpPr>
            <p:spPr bwMode="auto">
              <a:xfrm>
                <a:off x="4946650" y="2449513"/>
                <a:ext cx="447675" cy="479425"/>
              </a:xfrm>
              <a:prstGeom prst="rect">
                <a:avLst/>
              </a:prstGeom>
              <a:blipFill>
                <a:blip r:embed="rId10"/>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1" name="对象 92">
                <a:extLst>
                  <a:ext uri="{FF2B5EF4-FFF2-40B4-BE49-F238E27FC236}">
                    <a16:creationId xmlns:a16="http://schemas.microsoft.com/office/drawing/2014/main" id="{E3C5D35D-48DE-D944-989B-749FA31AF260}"/>
                  </a:ext>
                </a:extLst>
              </p:cNvPr>
              <p:cNvSpPr txBox="1"/>
              <p:nvPr/>
            </p:nvSpPr>
            <p:spPr bwMode="auto">
              <a:xfrm>
                <a:off x="3648075" y="2449513"/>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250921" name="对象 92">
                <a:extLst>
                  <a:ext uri="{FF2B5EF4-FFF2-40B4-BE49-F238E27FC236}">
                    <a16:creationId xmlns:a16="http://schemas.microsoft.com/office/drawing/2014/main" id="{E3C5D35D-48DE-D944-989B-749FA31AF260}"/>
                  </a:ext>
                </a:extLst>
              </p:cNvPr>
              <p:cNvSpPr txBox="1">
                <a:spLocks noRot="1" noChangeAspect="1" noMove="1" noResize="1" noEditPoints="1" noAdjustHandles="1" noChangeArrowheads="1" noChangeShapeType="1" noTextEdit="1"/>
              </p:cNvSpPr>
              <p:nvPr/>
            </p:nvSpPr>
            <p:spPr bwMode="auto">
              <a:xfrm>
                <a:off x="3648075" y="2449513"/>
                <a:ext cx="447675" cy="479425"/>
              </a:xfrm>
              <a:prstGeom prst="rect">
                <a:avLst/>
              </a:prstGeom>
              <a:blipFill>
                <a:blip r:embed="rId11"/>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2" name="对象 93">
                <a:extLst>
                  <a:ext uri="{FF2B5EF4-FFF2-40B4-BE49-F238E27FC236}">
                    <a16:creationId xmlns:a16="http://schemas.microsoft.com/office/drawing/2014/main" id="{A03C944D-9446-EF42-9912-66553927F231}"/>
                  </a:ext>
                </a:extLst>
              </p:cNvPr>
              <p:cNvSpPr txBox="1"/>
              <p:nvPr/>
            </p:nvSpPr>
            <p:spPr bwMode="auto">
              <a:xfrm>
                <a:off x="6324600" y="2449513"/>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4</m:t>
                          </m:r>
                        </m:sub>
                      </m:sSub>
                    </m:oMath>
                  </m:oMathPara>
                </a14:m>
                <a:endParaRPr lang="zh-CN" altLang="en-US"/>
              </a:p>
            </p:txBody>
          </p:sp>
        </mc:Choice>
        <mc:Fallback xmlns="">
          <p:sp>
            <p:nvSpPr>
              <p:cNvPr id="250922" name="对象 93">
                <a:extLst>
                  <a:ext uri="{FF2B5EF4-FFF2-40B4-BE49-F238E27FC236}">
                    <a16:creationId xmlns:a16="http://schemas.microsoft.com/office/drawing/2014/main" id="{A03C944D-9446-EF42-9912-66553927F231}"/>
                  </a:ext>
                </a:extLst>
              </p:cNvPr>
              <p:cNvSpPr txBox="1">
                <a:spLocks noRot="1" noChangeAspect="1" noMove="1" noResize="1" noEditPoints="1" noAdjustHandles="1" noChangeArrowheads="1" noChangeShapeType="1" noTextEdit="1"/>
              </p:cNvSpPr>
              <p:nvPr/>
            </p:nvSpPr>
            <p:spPr bwMode="auto">
              <a:xfrm>
                <a:off x="6324600" y="2449513"/>
                <a:ext cx="447675" cy="479425"/>
              </a:xfrm>
              <a:prstGeom prst="rect">
                <a:avLst/>
              </a:prstGeom>
              <a:blipFill>
                <a:blip r:embed="rId1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3" name="对象 94">
                <a:extLst>
                  <a:ext uri="{FF2B5EF4-FFF2-40B4-BE49-F238E27FC236}">
                    <a16:creationId xmlns:a16="http://schemas.microsoft.com/office/drawing/2014/main" id="{A2EA9F8B-8084-BD4E-9C70-40B36A664CFC}"/>
                  </a:ext>
                </a:extLst>
              </p:cNvPr>
              <p:cNvSpPr txBox="1"/>
              <p:nvPr/>
            </p:nvSpPr>
            <p:spPr bwMode="auto">
              <a:xfrm>
                <a:off x="9636125" y="2449513"/>
                <a:ext cx="11842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oMath>
                  </m:oMathPara>
                </a14:m>
                <a:endParaRPr lang="zh-CN" altLang="en-US"/>
              </a:p>
            </p:txBody>
          </p:sp>
        </mc:Choice>
        <mc:Fallback xmlns="">
          <p:sp>
            <p:nvSpPr>
              <p:cNvPr id="250923" name="对象 94">
                <a:extLst>
                  <a:ext uri="{FF2B5EF4-FFF2-40B4-BE49-F238E27FC236}">
                    <a16:creationId xmlns:a16="http://schemas.microsoft.com/office/drawing/2014/main" id="{A2EA9F8B-8084-BD4E-9C70-40B36A664CFC}"/>
                  </a:ext>
                </a:extLst>
              </p:cNvPr>
              <p:cNvSpPr txBox="1">
                <a:spLocks noRot="1" noChangeAspect="1" noMove="1" noResize="1" noEditPoints="1" noAdjustHandles="1" noChangeArrowheads="1" noChangeShapeType="1" noTextEdit="1"/>
              </p:cNvSpPr>
              <p:nvPr/>
            </p:nvSpPr>
            <p:spPr bwMode="auto">
              <a:xfrm>
                <a:off x="9636125" y="2449513"/>
                <a:ext cx="1184275" cy="479425"/>
              </a:xfrm>
              <a:prstGeom prst="rect">
                <a:avLst/>
              </a:prstGeom>
              <a:blipFill>
                <a:blip r:embed="rId1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4" name="对象 95">
                <a:extLst>
                  <a:ext uri="{FF2B5EF4-FFF2-40B4-BE49-F238E27FC236}">
                    <a16:creationId xmlns:a16="http://schemas.microsoft.com/office/drawing/2014/main" id="{D433C05F-118B-7741-8861-8764EE04872D}"/>
                  </a:ext>
                </a:extLst>
              </p:cNvPr>
              <p:cNvSpPr txBox="1"/>
              <p:nvPr/>
            </p:nvSpPr>
            <p:spPr bwMode="auto">
              <a:xfrm>
                <a:off x="8348663" y="2449513"/>
                <a:ext cx="47942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250924" name="对象 95">
                <a:extLst>
                  <a:ext uri="{FF2B5EF4-FFF2-40B4-BE49-F238E27FC236}">
                    <a16:creationId xmlns:a16="http://schemas.microsoft.com/office/drawing/2014/main" id="{D433C05F-118B-7741-8861-8764EE04872D}"/>
                  </a:ext>
                </a:extLst>
              </p:cNvPr>
              <p:cNvSpPr txBox="1">
                <a:spLocks noRot="1" noChangeAspect="1" noMove="1" noResize="1" noEditPoints="1" noAdjustHandles="1" noChangeArrowheads="1" noChangeShapeType="1" noTextEdit="1"/>
              </p:cNvSpPr>
              <p:nvPr/>
            </p:nvSpPr>
            <p:spPr bwMode="auto">
              <a:xfrm>
                <a:off x="8348663" y="2449513"/>
                <a:ext cx="479425" cy="479425"/>
              </a:xfrm>
              <a:prstGeom prst="rect">
                <a:avLst/>
              </a:prstGeom>
              <a:blipFill>
                <a:blip r:embed="rId1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5" name="对象 96">
                <a:extLst>
                  <a:ext uri="{FF2B5EF4-FFF2-40B4-BE49-F238E27FC236}">
                    <a16:creationId xmlns:a16="http://schemas.microsoft.com/office/drawing/2014/main" id="{A99C1C32-CF77-5A4C-972E-29F9F7B2FBBB}"/>
                  </a:ext>
                </a:extLst>
              </p:cNvPr>
              <p:cNvSpPr txBox="1"/>
              <p:nvPr/>
            </p:nvSpPr>
            <p:spPr bwMode="auto">
              <a:xfrm>
                <a:off x="2379663" y="4354513"/>
                <a:ext cx="35242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250925" name="对象 96">
                <a:extLst>
                  <a:ext uri="{FF2B5EF4-FFF2-40B4-BE49-F238E27FC236}">
                    <a16:creationId xmlns:a16="http://schemas.microsoft.com/office/drawing/2014/main" id="{A99C1C32-CF77-5A4C-972E-29F9F7B2FBBB}"/>
                  </a:ext>
                </a:extLst>
              </p:cNvPr>
              <p:cNvSpPr txBox="1">
                <a:spLocks noRot="1" noChangeAspect="1" noMove="1" noResize="1" noEditPoints="1" noAdjustHandles="1" noChangeArrowheads="1" noChangeShapeType="1" noTextEdit="1"/>
              </p:cNvSpPr>
              <p:nvPr/>
            </p:nvSpPr>
            <p:spPr bwMode="auto">
              <a:xfrm>
                <a:off x="2379663" y="4354513"/>
                <a:ext cx="352425" cy="479425"/>
              </a:xfrm>
              <a:prstGeom prst="rect">
                <a:avLst/>
              </a:prstGeom>
              <a:blipFill>
                <a:blip r:embed="rId1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6" name="对象 97">
                <a:extLst>
                  <a:ext uri="{FF2B5EF4-FFF2-40B4-BE49-F238E27FC236}">
                    <a16:creationId xmlns:a16="http://schemas.microsoft.com/office/drawing/2014/main" id="{65E85FF4-5DA9-AD44-AE5F-E2C0DF89050B}"/>
                  </a:ext>
                </a:extLst>
              </p:cNvPr>
              <p:cNvSpPr txBox="1"/>
              <p:nvPr/>
            </p:nvSpPr>
            <p:spPr bwMode="auto">
              <a:xfrm>
                <a:off x="4976813" y="4354513"/>
                <a:ext cx="35242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3</m:t>
                          </m:r>
                        </m:sub>
                      </m:sSub>
                    </m:oMath>
                  </m:oMathPara>
                </a14:m>
                <a:endParaRPr lang="zh-CN" altLang="en-US"/>
              </a:p>
            </p:txBody>
          </p:sp>
        </mc:Choice>
        <mc:Fallback xmlns="">
          <p:sp>
            <p:nvSpPr>
              <p:cNvPr id="250926" name="对象 97">
                <a:extLst>
                  <a:ext uri="{FF2B5EF4-FFF2-40B4-BE49-F238E27FC236}">
                    <a16:creationId xmlns:a16="http://schemas.microsoft.com/office/drawing/2014/main" id="{65E85FF4-5DA9-AD44-AE5F-E2C0DF89050B}"/>
                  </a:ext>
                </a:extLst>
              </p:cNvPr>
              <p:cNvSpPr txBox="1">
                <a:spLocks noRot="1" noChangeAspect="1" noMove="1" noResize="1" noEditPoints="1" noAdjustHandles="1" noChangeArrowheads="1" noChangeShapeType="1" noTextEdit="1"/>
              </p:cNvSpPr>
              <p:nvPr/>
            </p:nvSpPr>
            <p:spPr bwMode="auto">
              <a:xfrm>
                <a:off x="4976813" y="4354513"/>
                <a:ext cx="352425" cy="479425"/>
              </a:xfrm>
              <a:prstGeom prst="rect">
                <a:avLst/>
              </a:prstGeom>
              <a:blipFill>
                <a:blip r:embed="rId1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7" name="对象 98">
                <a:extLst>
                  <a:ext uri="{FF2B5EF4-FFF2-40B4-BE49-F238E27FC236}">
                    <a16:creationId xmlns:a16="http://schemas.microsoft.com/office/drawing/2014/main" id="{DBC9E31C-B9AD-1547-931D-3329BD2BF4DB}"/>
                  </a:ext>
                </a:extLst>
              </p:cNvPr>
              <p:cNvSpPr txBox="1"/>
              <p:nvPr/>
            </p:nvSpPr>
            <p:spPr bwMode="auto">
              <a:xfrm>
                <a:off x="3630613" y="4354513"/>
                <a:ext cx="3841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250927" name="对象 98">
                <a:extLst>
                  <a:ext uri="{FF2B5EF4-FFF2-40B4-BE49-F238E27FC236}">
                    <a16:creationId xmlns:a16="http://schemas.microsoft.com/office/drawing/2014/main" id="{DBC9E31C-B9AD-1547-931D-3329BD2BF4DB}"/>
                  </a:ext>
                </a:extLst>
              </p:cNvPr>
              <p:cNvSpPr txBox="1">
                <a:spLocks noRot="1" noChangeAspect="1" noMove="1" noResize="1" noEditPoints="1" noAdjustHandles="1" noChangeArrowheads="1" noChangeShapeType="1" noTextEdit="1"/>
              </p:cNvSpPr>
              <p:nvPr/>
            </p:nvSpPr>
            <p:spPr bwMode="auto">
              <a:xfrm>
                <a:off x="3630613" y="4354513"/>
                <a:ext cx="384175" cy="479425"/>
              </a:xfrm>
              <a:prstGeom prst="rect">
                <a:avLst/>
              </a:prstGeom>
              <a:blipFill>
                <a:blip r:embed="rId1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8" name="对象 99">
                <a:extLst>
                  <a:ext uri="{FF2B5EF4-FFF2-40B4-BE49-F238E27FC236}">
                    <a16:creationId xmlns:a16="http://schemas.microsoft.com/office/drawing/2014/main" id="{12DD05B4-910E-F441-A8EC-5726BDDDB899}"/>
                  </a:ext>
                </a:extLst>
              </p:cNvPr>
              <p:cNvSpPr txBox="1"/>
              <p:nvPr/>
            </p:nvSpPr>
            <p:spPr bwMode="auto">
              <a:xfrm>
                <a:off x="6297613" y="4354513"/>
                <a:ext cx="3841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4</m:t>
                          </m:r>
                        </m:sub>
                      </m:sSub>
                    </m:oMath>
                  </m:oMathPara>
                </a14:m>
                <a:endParaRPr lang="zh-CN" altLang="en-US"/>
              </a:p>
            </p:txBody>
          </p:sp>
        </mc:Choice>
        <mc:Fallback xmlns="">
          <p:sp>
            <p:nvSpPr>
              <p:cNvPr id="250928" name="对象 99">
                <a:extLst>
                  <a:ext uri="{FF2B5EF4-FFF2-40B4-BE49-F238E27FC236}">
                    <a16:creationId xmlns:a16="http://schemas.microsoft.com/office/drawing/2014/main" id="{12DD05B4-910E-F441-A8EC-5726BDDDB899}"/>
                  </a:ext>
                </a:extLst>
              </p:cNvPr>
              <p:cNvSpPr txBox="1">
                <a:spLocks noRot="1" noChangeAspect="1" noMove="1" noResize="1" noEditPoints="1" noAdjustHandles="1" noChangeArrowheads="1" noChangeShapeType="1" noTextEdit="1"/>
              </p:cNvSpPr>
              <p:nvPr/>
            </p:nvSpPr>
            <p:spPr bwMode="auto">
              <a:xfrm>
                <a:off x="6297613" y="4354513"/>
                <a:ext cx="384175" cy="479425"/>
              </a:xfrm>
              <a:prstGeom prst="rect">
                <a:avLst/>
              </a:prstGeom>
              <a:blipFill>
                <a:blip r:embed="rId18"/>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29" name="对象 100">
                <a:extLst>
                  <a:ext uri="{FF2B5EF4-FFF2-40B4-BE49-F238E27FC236}">
                    <a16:creationId xmlns:a16="http://schemas.microsoft.com/office/drawing/2014/main" id="{5819F65F-DE29-B648-8DEE-8B56B4172FF3}"/>
                  </a:ext>
                </a:extLst>
              </p:cNvPr>
              <p:cNvSpPr txBox="1"/>
              <p:nvPr/>
            </p:nvSpPr>
            <p:spPr bwMode="auto">
              <a:xfrm>
                <a:off x="9607550" y="4354513"/>
                <a:ext cx="576263"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250929" name="对象 100">
                <a:extLst>
                  <a:ext uri="{FF2B5EF4-FFF2-40B4-BE49-F238E27FC236}">
                    <a16:creationId xmlns:a16="http://schemas.microsoft.com/office/drawing/2014/main" id="{5819F65F-DE29-B648-8DEE-8B56B4172FF3}"/>
                  </a:ext>
                </a:extLst>
              </p:cNvPr>
              <p:cNvSpPr txBox="1">
                <a:spLocks noRot="1" noChangeAspect="1" noMove="1" noResize="1" noEditPoints="1" noAdjustHandles="1" noChangeArrowheads="1" noChangeShapeType="1" noTextEdit="1"/>
              </p:cNvSpPr>
              <p:nvPr/>
            </p:nvSpPr>
            <p:spPr bwMode="auto">
              <a:xfrm>
                <a:off x="9607550" y="4354513"/>
                <a:ext cx="576263" cy="479425"/>
              </a:xfrm>
              <a:prstGeom prst="rect">
                <a:avLst/>
              </a:prstGeom>
              <a:blipFill>
                <a:blip r:embed="rId19"/>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930" name="对象 101">
                <a:extLst>
                  <a:ext uri="{FF2B5EF4-FFF2-40B4-BE49-F238E27FC236}">
                    <a16:creationId xmlns:a16="http://schemas.microsoft.com/office/drawing/2014/main" id="{D69981B6-165E-D249-8ABE-39EDFCD190A0}"/>
                  </a:ext>
                </a:extLst>
              </p:cNvPr>
              <p:cNvSpPr txBox="1"/>
              <p:nvPr/>
            </p:nvSpPr>
            <p:spPr bwMode="auto">
              <a:xfrm>
                <a:off x="8326438" y="4354513"/>
                <a:ext cx="385762"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250930" name="对象 101">
                <a:extLst>
                  <a:ext uri="{FF2B5EF4-FFF2-40B4-BE49-F238E27FC236}">
                    <a16:creationId xmlns:a16="http://schemas.microsoft.com/office/drawing/2014/main" id="{D69981B6-165E-D249-8ABE-39EDFCD190A0}"/>
                  </a:ext>
                </a:extLst>
              </p:cNvPr>
              <p:cNvSpPr txBox="1">
                <a:spLocks noRot="1" noChangeAspect="1" noMove="1" noResize="1" noEditPoints="1" noAdjustHandles="1" noChangeArrowheads="1" noChangeShapeType="1" noTextEdit="1"/>
              </p:cNvSpPr>
              <p:nvPr/>
            </p:nvSpPr>
            <p:spPr bwMode="auto">
              <a:xfrm>
                <a:off x="8326438" y="4354513"/>
                <a:ext cx="385762" cy="479425"/>
              </a:xfrm>
              <a:prstGeom prst="rect">
                <a:avLst/>
              </a:prstGeom>
              <a:blipFill>
                <a:blip r:embed="rId20"/>
                <a:stretch>
                  <a:fillRect/>
                </a:stretch>
              </a:blipFill>
              <a:ln>
                <a:noFill/>
              </a:ln>
              <a:extLst/>
            </p:spPr>
            <p:txBody>
              <a:bodyPr/>
              <a:lstStyle/>
              <a:p>
                <a:r>
                  <a:rPr lang="zh-CN" altLang="en-US">
                    <a:noFill/>
                  </a:rPr>
                  <a:t> </a:t>
                </a:r>
              </a:p>
            </p:txBody>
          </p:sp>
        </mc:Fallback>
      </mc:AlternateContent>
    </p:spTree>
  </p:cSld>
  <p:clrMapOvr>
    <a:masterClrMapping/>
  </p:clrMapOvr>
  <p:transition spd="slow">
    <p:pull dir="ru"/>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D64C50-F5CE-3E4F-8CC8-4817E85351BA}"/>
              </a:ext>
            </a:extLst>
          </p:cNvPr>
          <p:cNvSpPr>
            <a:spLocks noGrp="1"/>
          </p:cNvSpPr>
          <p:nvPr>
            <p:ph type="title"/>
          </p:nvPr>
        </p:nvSpPr>
        <p:spPr>
          <a:xfrm>
            <a:off x="1465263" y="365125"/>
            <a:ext cx="9037637" cy="668338"/>
          </a:xfrm>
        </p:spPr>
        <p:txBody>
          <a:bodyPr/>
          <a:lstStyle/>
          <a:p>
            <a:pPr>
              <a:defRPr/>
            </a:pPr>
            <a:r>
              <a:rPr lang="zh-CN" altLang="en-US" dirty="0"/>
              <a:t>认证码检验</a:t>
            </a:r>
          </a:p>
        </p:txBody>
      </p:sp>
      <p:sp>
        <p:nvSpPr>
          <p:cNvPr id="252930" name="内容占位符 2">
            <a:extLst>
              <a:ext uri="{FF2B5EF4-FFF2-40B4-BE49-F238E27FC236}">
                <a16:creationId xmlns:a16="http://schemas.microsoft.com/office/drawing/2014/main" id="{8FF438A1-6B80-A54B-B3AC-5F09F9562FCF}"/>
              </a:ext>
            </a:extLst>
          </p:cNvPr>
          <p:cNvSpPr>
            <a:spLocks noGrp="1" noChangeArrowheads="1"/>
          </p:cNvSpPr>
          <p:nvPr>
            <p:ph idx="1"/>
          </p:nvPr>
        </p:nvSpPr>
        <p:spPr>
          <a:xfrm>
            <a:off x="736600" y="1109663"/>
            <a:ext cx="10769600" cy="4579937"/>
          </a:xfrm>
        </p:spPr>
        <p:txBody>
          <a:bodyPr/>
          <a:lstStyle/>
          <a:p>
            <a:pPr>
              <a:lnSpc>
                <a:spcPct val="120000"/>
              </a:lnSpc>
            </a:pPr>
            <a:r>
              <a:rPr lang="zh-CN" altLang="en-US">
                <a:latin typeface="Times New Roman" panose="02020603050405020304" pitchFamily="18" charset="0"/>
              </a:rPr>
              <a:t>（</a:t>
            </a:r>
            <a:r>
              <a:rPr lang="en-US" altLang="zh-CN">
                <a:latin typeface="Times New Roman" panose="02020603050405020304" pitchFamily="18" charset="0"/>
              </a:rPr>
              <a:t>1</a:t>
            </a:r>
            <a:r>
              <a:rPr lang="zh-CN" altLang="en-US">
                <a:latin typeface="Times New Roman" panose="02020603050405020304" pitchFamily="18" charset="0"/>
              </a:rPr>
              <a:t>）仅需对明文认证而不需加密时</a:t>
            </a:r>
            <a:r>
              <a:rPr lang="en-US" altLang="zh-CN">
                <a:latin typeface="Times New Roman" panose="02020603050405020304" pitchFamily="18" charset="0"/>
              </a:rPr>
              <a:t>,</a:t>
            </a:r>
            <a:r>
              <a:rPr lang="zh-CN" altLang="en-US">
                <a:latin typeface="Times New Roman" panose="02020603050405020304" pitchFamily="18" charset="0"/>
              </a:rPr>
              <a:t>此时验证者仅收到明文</a:t>
            </a:r>
            <a:r>
              <a:rPr lang="en-US" altLang="zh-CN">
                <a:latin typeface="Times New Roman" panose="02020603050405020304" pitchFamily="18" charset="0"/>
              </a:rPr>
              <a:t>m</a:t>
            </a:r>
            <a:r>
              <a:rPr lang="zh-CN" altLang="en-US">
                <a:latin typeface="Times New Roman" panose="02020603050405020304" pitchFamily="18" charset="0"/>
              </a:rPr>
              <a:t>和</a:t>
            </a:r>
            <a:r>
              <a:rPr lang="zh-CN" altLang="zh-CN">
                <a:latin typeface="Times New Roman" panose="02020603050405020304" pitchFamily="18" charset="0"/>
              </a:rPr>
              <a:t>认证码</a:t>
            </a:r>
            <a:r>
              <a:rPr lang="en-US" altLang="zh-CN" i="1">
                <a:latin typeface="Times New Roman" panose="02020603050405020304" pitchFamily="18" charset="0"/>
              </a:rPr>
              <a:t>C</a:t>
            </a:r>
            <a:r>
              <a:rPr lang="en-US" altLang="zh-CN" i="1" baseline="-25000">
                <a:latin typeface="Times New Roman" panose="02020603050405020304" pitchFamily="18" charset="0"/>
              </a:rPr>
              <a:t>n+1</a:t>
            </a:r>
            <a:r>
              <a:rPr lang="zh-CN" altLang="en-US">
                <a:latin typeface="Times New Roman" panose="02020603050405020304" pitchFamily="18" charset="0"/>
              </a:rPr>
              <a:t>，他需要：</a:t>
            </a:r>
            <a:endParaRPr lang="zh-CN" altLang="en-US" i="1" baseline="-25000">
              <a:latin typeface="Times New Roman" panose="02020603050405020304" pitchFamily="18" charset="0"/>
            </a:endParaRPr>
          </a:p>
          <a:p>
            <a:pPr>
              <a:lnSpc>
                <a:spcPct val="120000"/>
              </a:lnSpc>
            </a:pPr>
            <a:r>
              <a:rPr lang="en-US" altLang="zh-CN">
                <a:latin typeface="Times New Roman" panose="02020603050405020304" pitchFamily="18" charset="0"/>
              </a:rPr>
              <a:t>Step1 </a:t>
            </a:r>
            <a:r>
              <a:rPr lang="zh-CN" altLang="en-US">
                <a:latin typeface="Times New Roman" panose="02020603050405020304" pitchFamily="18" charset="0"/>
              </a:rPr>
              <a:t>产生明文</a:t>
            </a:r>
            <a:r>
              <a:rPr lang="en-US" altLang="zh-CN">
                <a:latin typeface="Times New Roman" panose="02020603050405020304" pitchFamily="18" charset="0"/>
              </a:rPr>
              <a:t>m</a:t>
            </a:r>
            <a:r>
              <a:rPr lang="zh-CN" altLang="en-US">
                <a:latin typeface="Times New Roman" panose="02020603050405020304" pitchFamily="18" charset="0"/>
              </a:rPr>
              <a:t>的校验码</a:t>
            </a:r>
            <a:endParaRPr lang="zh-CN" altLang="en-US" i="1" baseline="-25000">
              <a:latin typeface="Times New Roman" panose="02020603050405020304" pitchFamily="18" charset="0"/>
            </a:endParaRPr>
          </a:p>
          <a:p>
            <a:pPr>
              <a:lnSpc>
                <a:spcPct val="120000"/>
              </a:lnSpc>
            </a:pPr>
            <a:r>
              <a:rPr lang="en-US" altLang="zh-CN">
                <a:latin typeface="Times New Roman" panose="02020603050405020304" pitchFamily="18" charset="0"/>
              </a:rPr>
              <a:t>Step2 </a:t>
            </a:r>
            <a:r>
              <a:rPr lang="zh-CN" altLang="en-US">
                <a:latin typeface="Times New Roman" panose="02020603050405020304" pitchFamily="18" charset="0"/>
              </a:rPr>
              <a:t>利用共享密钥使用</a:t>
            </a:r>
            <a:r>
              <a:rPr lang="en-US" altLang="zh-CN">
                <a:latin typeface="Times New Roman" panose="02020603050405020304" pitchFamily="18" charset="0"/>
              </a:rPr>
              <a:t>CBC</a:t>
            </a:r>
            <a:r>
              <a:rPr lang="zh-CN" altLang="en-US">
                <a:latin typeface="Times New Roman" panose="02020603050405020304" pitchFamily="18" charset="0"/>
              </a:rPr>
              <a:t>模式对</a:t>
            </a:r>
            <a:r>
              <a:rPr lang="en-US" altLang="zh-CN">
                <a:latin typeface="Times New Roman" panose="02020603050405020304" pitchFamily="18" charset="0"/>
              </a:rPr>
              <a:t>(m,r)</a:t>
            </a:r>
            <a:r>
              <a:rPr lang="zh-CN" altLang="zh-CN">
                <a:latin typeface="Times New Roman" panose="02020603050405020304" pitchFamily="18" charset="0"/>
              </a:rPr>
              <a:t>加密，将得到的最后一个密文分组与接</a:t>
            </a:r>
            <a:r>
              <a:rPr lang="zh-CN" altLang="en-US">
                <a:latin typeface="Times New Roman" panose="02020603050405020304" pitchFamily="18" charset="0"/>
              </a:rPr>
              <a:t>收</a:t>
            </a:r>
            <a:r>
              <a:rPr lang="zh-CN" altLang="zh-CN">
                <a:latin typeface="Times New Roman" panose="02020603050405020304" pitchFamily="18" charset="0"/>
              </a:rPr>
              <a:t>到的认证码</a:t>
            </a:r>
            <a:r>
              <a:rPr lang="en-US" altLang="zh-CN" i="1">
                <a:latin typeface="Times New Roman" panose="02020603050405020304" pitchFamily="18" charset="0"/>
              </a:rPr>
              <a:t>C</a:t>
            </a:r>
            <a:r>
              <a:rPr lang="en-US" altLang="zh-CN" i="1" baseline="-25000">
                <a:latin typeface="Times New Roman" panose="02020603050405020304" pitchFamily="18" charset="0"/>
              </a:rPr>
              <a:t>n+1</a:t>
            </a:r>
            <a:r>
              <a:rPr lang="zh-CN" altLang="en-US">
                <a:latin typeface="Times New Roman" panose="02020603050405020304" pitchFamily="18" charset="0"/>
              </a:rPr>
              <a:t>比较，二者一致时判定接收的明文无错；二者不一致时判定明文出错。</a:t>
            </a:r>
            <a:endParaRPr lang="zh-CN" altLang="en-US" i="1" baseline="-25000">
              <a:latin typeface="Times New Roman" panose="02020603050405020304" pitchFamily="18" charset="0"/>
            </a:endParaRPr>
          </a:p>
          <a:p>
            <a:pPr>
              <a:lnSpc>
                <a:spcPct val="120000"/>
              </a:lnSpc>
            </a:pPr>
            <a:endParaRPr lang="zh-CN" altLang="en-US"/>
          </a:p>
        </p:txBody>
      </p:sp>
      <mc:AlternateContent xmlns:mc="http://schemas.openxmlformats.org/markup-compatibility/2006" xmlns:a14="http://schemas.microsoft.com/office/drawing/2010/main">
        <mc:Choice Requires="a14">
          <p:sp>
            <p:nvSpPr>
              <p:cNvPr id="252931" name="对象 4">
                <a:extLst>
                  <a:ext uri="{FF2B5EF4-FFF2-40B4-BE49-F238E27FC236}">
                    <a16:creationId xmlns:a16="http://schemas.microsoft.com/office/drawing/2014/main" id="{138C9EE4-8426-704E-8EE4-E1BA0F603416}"/>
                  </a:ext>
                </a:extLst>
              </p:cNvPr>
              <p:cNvSpPr txBox="1"/>
              <p:nvPr/>
            </p:nvSpPr>
            <p:spPr bwMode="auto">
              <a:xfrm>
                <a:off x="4692650" y="2122488"/>
                <a:ext cx="3233738"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252931" name="对象 4">
                <a:extLst>
                  <a:ext uri="{FF2B5EF4-FFF2-40B4-BE49-F238E27FC236}">
                    <a16:creationId xmlns:a16="http://schemas.microsoft.com/office/drawing/2014/main" id="{138C9EE4-8426-704E-8EE4-E1BA0F603416}"/>
                  </a:ext>
                </a:extLst>
              </p:cNvPr>
              <p:cNvSpPr txBox="1">
                <a:spLocks noRot="1" noChangeAspect="1" noMove="1" noResize="1" noEditPoints="1" noAdjustHandles="1" noChangeArrowheads="1" noChangeShapeType="1" noTextEdit="1"/>
              </p:cNvSpPr>
              <p:nvPr/>
            </p:nvSpPr>
            <p:spPr bwMode="auto">
              <a:xfrm>
                <a:off x="4692650" y="2122488"/>
                <a:ext cx="3233738" cy="479425"/>
              </a:xfrm>
              <a:prstGeom prst="rect">
                <a:avLst/>
              </a:prstGeom>
              <a:blipFill>
                <a:blip r:embed="rId3"/>
                <a:stretch>
                  <a:fillRect/>
                </a:stretch>
              </a:blipFill>
              <a:ln>
                <a:noFill/>
              </a:ln>
              <a:extLst/>
            </p:spPr>
            <p:txBody>
              <a:bodyPr/>
              <a:lstStyle/>
              <a:p>
                <a:r>
                  <a:rPr lang="zh-CN" altLang="en-US">
                    <a:noFill/>
                  </a:rPr>
                  <a:t> </a:t>
                </a:r>
              </a:p>
            </p:txBody>
          </p:sp>
        </mc:Fallback>
      </mc:AlternateContent>
      <p:grpSp>
        <p:nvGrpSpPr>
          <p:cNvPr id="252932" name="组合 2">
            <a:extLst>
              <a:ext uri="{FF2B5EF4-FFF2-40B4-BE49-F238E27FC236}">
                <a16:creationId xmlns:a16="http://schemas.microsoft.com/office/drawing/2014/main" id="{1B191E29-8245-704A-9928-BCD0B931A4AA}"/>
              </a:ext>
            </a:extLst>
          </p:cNvPr>
          <p:cNvGrpSpPr>
            <a:grpSpLocks/>
          </p:cNvGrpSpPr>
          <p:nvPr/>
        </p:nvGrpSpPr>
        <p:grpSpPr bwMode="auto">
          <a:xfrm>
            <a:off x="1571625" y="3890963"/>
            <a:ext cx="8931275" cy="2384425"/>
            <a:chOff x="1889125" y="2449512"/>
            <a:chExt cx="8931275" cy="2384425"/>
          </a:xfrm>
        </p:grpSpPr>
        <p:sp>
          <p:nvSpPr>
            <p:cNvPr id="79" name="Text Box 37">
              <a:extLst>
                <a:ext uri="{FF2B5EF4-FFF2-40B4-BE49-F238E27FC236}">
                  <a16:creationId xmlns:a16="http://schemas.microsoft.com/office/drawing/2014/main" id="{9A92A68F-0EBE-DF42-B293-082D54654FF0}"/>
                </a:ext>
              </a:extLst>
            </p:cNvPr>
            <p:cNvSpPr txBox="1">
              <a:spLocks noChangeArrowheads="1"/>
            </p:cNvSpPr>
            <p:nvPr/>
          </p:nvSpPr>
          <p:spPr bwMode="auto">
            <a:xfrm>
              <a:off x="7405688" y="2744787"/>
              <a:ext cx="439737" cy="415925"/>
            </a:xfrm>
            <a:prstGeom prst="rect">
              <a:avLst/>
            </a:prstGeom>
            <a:solidFill>
              <a:schemeClr val="bg1"/>
            </a:solidFill>
            <a:ln>
              <a:noFill/>
            </a:ln>
            <a:effectLst/>
          </p:spPr>
          <p:txBody>
            <a:bodyPr lIns="82292" tIns="41146" rIns="82292" bIns="41146">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1" lang="en-US" altLang="zh-CN" sz="2160" b="1" dirty="0">
                  <a:solidFill>
                    <a:srgbClr val="1C1C1C"/>
                  </a:solidFill>
                  <a:latin typeface="+mn-lt"/>
                  <a:ea typeface="+mn-ea"/>
                </a:rPr>
                <a:t>…</a:t>
              </a:r>
            </a:p>
          </p:txBody>
        </p:sp>
        <p:sp>
          <p:nvSpPr>
            <p:cNvPr id="80" name="Rectangle 5">
              <a:extLst>
                <a:ext uri="{FF2B5EF4-FFF2-40B4-BE49-F238E27FC236}">
                  <a16:creationId xmlns:a16="http://schemas.microsoft.com/office/drawing/2014/main" id="{C2FB1850-915F-914E-B751-FBB552C03EF9}"/>
                </a:ext>
              </a:extLst>
            </p:cNvPr>
            <p:cNvSpPr>
              <a:spLocks noChangeArrowheads="1"/>
            </p:cNvSpPr>
            <p:nvPr/>
          </p:nvSpPr>
          <p:spPr bwMode="auto">
            <a:xfrm>
              <a:off x="5862638" y="3321049"/>
              <a:ext cx="823912"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2935" name="Object 6">
                  <a:extLst>
                    <a:ext uri="{FF2B5EF4-FFF2-40B4-BE49-F238E27FC236}">
                      <a16:creationId xmlns:a16="http://schemas.microsoft.com/office/drawing/2014/main" id="{D6C3ECC6-26E2-004D-8C05-91B761363B81}"/>
                    </a:ext>
                  </a:extLst>
                </p:cNvPr>
                <p:cNvSpPr txBox="1"/>
                <p:nvPr/>
              </p:nvSpPr>
              <p:spPr bwMode="auto">
                <a:xfrm>
                  <a:off x="5875337" y="3389312"/>
                  <a:ext cx="788988" cy="461963"/>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2935" name="Object 6">
                  <a:extLst>
                    <a:ext uri="{FF2B5EF4-FFF2-40B4-BE49-F238E27FC236}">
                      <a16:creationId xmlns:a16="http://schemas.microsoft.com/office/drawing/2014/main" id="{D6C3ECC6-26E2-004D-8C05-91B761363B81}"/>
                    </a:ext>
                  </a:extLst>
                </p:cNvPr>
                <p:cNvSpPr txBox="1">
                  <a:spLocks noRot="1" noChangeAspect="1" noMove="1" noResize="1" noEditPoints="1" noAdjustHandles="1" noChangeArrowheads="1" noChangeShapeType="1" noTextEdit="1"/>
                </p:cNvSpPr>
                <p:nvPr/>
              </p:nvSpPr>
              <p:spPr bwMode="auto">
                <a:xfrm>
                  <a:off x="5875337" y="3389312"/>
                  <a:ext cx="788988" cy="461963"/>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82" name="Line 7">
              <a:extLst>
                <a:ext uri="{FF2B5EF4-FFF2-40B4-BE49-F238E27FC236}">
                  <a16:creationId xmlns:a16="http://schemas.microsoft.com/office/drawing/2014/main" id="{83367762-38D0-854A-BBF3-1A17B614F087}"/>
                </a:ext>
              </a:extLst>
            </p:cNvPr>
            <p:cNvSpPr>
              <a:spLocks noChangeShapeType="1"/>
            </p:cNvSpPr>
            <p:nvPr/>
          </p:nvSpPr>
          <p:spPr bwMode="auto">
            <a:xfrm>
              <a:off x="6275388" y="2773362"/>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83" name="Line 8">
              <a:extLst>
                <a:ext uri="{FF2B5EF4-FFF2-40B4-BE49-F238E27FC236}">
                  <a16:creationId xmlns:a16="http://schemas.microsoft.com/office/drawing/2014/main" id="{15B2BB89-D791-BD4F-B5CD-C65C1E95EA24}"/>
                </a:ext>
              </a:extLst>
            </p:cNvPr>
            <p:cNvSpPr>
              <a:spLocks noChangeShapeType="1"/>
            </p:cNvSpPr>
            <p:nvPr/>
          </p:nvSpPr>
          <p:spPr bwMode="auto">
            <a:xfrm>
              <a:off x="6275388" y="3938587"/>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84" name="Rectangle 13">
              <a:extLst>
                <a:ext uri="{FF2B5EF4-FFF2-40B4-BE49-F238E27FC236}">
                  <a16:creationId xmlns:a16="http://schemas.microsoft.com/office/drawing/2014/main" id="{AC4E2B1E-C253-7441-8F66-B07237220743}"/>
                </a:ext>
              </a:extLst>
            </p:cNvPr>
            <p:cNvSpPr>
              <a:spLocks noChangeArrowheads="1"/>
            </p:cNvSpPr>
            <p:nvPr/>
          </p:nvSpPr>
          <p:spPr bwMode="auto">
            <a:xfrm>
              <a:off x="1889125" y="3321049"/>
              <a:ext cx="855663"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2939" name="Object 14">
                  <a:extLst>
                    <a:ext uri="{FF2B5EF4-FFF2-40B4-BE49-F238E27FC236}">
                      <a16:creationId xmlns:a16="http://schemas.microsoft.com/office/drawing/2014/main" id="{100FA59A-9453-5440-B304-D54E4649B9E1}"/>
                    </a:ext>
                  </a:extLst>
                </p:cNvPr>
                <p:cNvSpPr txBox="1"/>
                <p:nvPr/>
              </p:nvSpPr>
              <p:spPr bwMode="auto">
                <a:xfrm>
                  <a:off x="1920875" y="3389312"/>
                  <a:ext cx="790575" cy="461963"/>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2939" name="Object 14">
                  <a:extLst>
                    <a:ext uri="{FF2B5EF4-FFF2-40B4-BE49-F238E27FC236}">
                      <a16:creationId xmlns:a16="http://schemas.microsoft.com/office/drawing/2014/main" id="{100FA59A-9453-5440-B304-D54E4649B9E1}"/>
                    </a:ext>
                  </a:extLst>
                </p:cNvPr>
                <p:cNvSpPr txBox="1">
                  <a:spLocks noRot="1" noChangeAspect="1" noMove="1" noResize="1" noEditPoints="1" noAdjustHandles="1" noChangeArrowheads="1" noChangeShapeType="1" noTextEdit="1"/>
                </p:cNvSpPr>
                <p:nvPr/>
              </p:nvSpPr>
              <p:spPr bwMode="auto">
                <a:xfrm>
                  <a:off x="1920875" y="3389312"/>
                  <a:ext cx="790575" cy="461963"/>
                </a:xfrm>
                <a:prstGeom prst="rect">
                  <a:avLst/>
                </a:prstGeom>
                <a:blipFill>
                  <a:blip r:embed="rId5"/>
                  <a:stretch>
                    <a:fillRect/>
                  </a:stretch>
                </a:blipFill>
                <a:ln>
                  <a:noFill/>
                </a:ln>
                <a:extLst/>
              </p:spPr>
              <p:txBody>
                <a:bodyPr/>
                <a:lstStyle/>
                <a:p>
                  <a:r>
                    <a:rPr lang="zh-CN" altLang="en-US">
                      <a:noFill/>
                    </a:rPr>
                    <a:t> </a:t>
                  </a:r>
                </a:p>
              </p:txBody>
            </p:sp>
          </mc:Fallback>
        </mc:AlternateContent>
        <p:sp>
          <p:nvSpPr>
            <p:cNvPr id="86" name="Line 15">
              <a:extLst>
                <a:ext uri="{FF2B5EF4-FFF2-40B4-BE49-F238E27FC236}">
                  <a16:creationId xmlns:a16="http://schemas.microsoft.com/office/drawing/2014/main" id="{C3286C6A-8A2F-D44F-BB7E-82F2A375A261}"/>
                </a:ext>
              </a:extLst>
            </p:cNvPr>
            <p:cNvSpPr>
              <a:spLocks noChangeShapeType="1"/>
            </p:cNvSpPr>
            <p:nvPr/>
          </p:nvSpPr>
          <p:spPr bwMode="auto">
            <a:xfrm>
              <a:off x="2333625" y="2773362"/>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87" name="Line 16">
              <a:extLst>
                <a:ext uri="{FF2B5EF4-FFF2-40B4-BE49-F238E27FC236}">
                  <a16:creationId xmlns:a16="http://schemas.microsoft.com/office/drawing/2014/main" id="{7EB1A452-F211-7748-ACA0-5252058E164E}"/>
                </a:ext>
              </a:extLst>
            </p:cNvPr>
            <p:cNvSpPr>
              <a:spLocks noChangeShapeType="1"/>
            </p:cNvSpPr>
            <p:nvPr/>
          </p:nvSpPr>
          <p:spPr bwMode="auto">
            <a:xfrm>
              <a:off x="2333625" y="3938587"/>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88" name="Rectangle 21">
              <a:extLst>
                <a:ext uri="{FF2B5EF4-FFF2-40B4-BE49-F238E27FC236}">
                  <a16:creationId xmlns:a16="http://schemas.microsoft.com/office/drawing/2014/main" id="{EAD3D7CA-B101-7248-8227-CB32B49C15B7}"/>
                </a:ext>
              </a:extLst>
            </p:cNvPr>
            <p:cNvSpPr>
              <a:spLocks noChangeArrowheads="1"/>
            </p:cNvSpPr>
            <p:nvPr/>
          </p:nvSpPr>
          <p:spPr bwMode="auto">
            <a:xfrm>
              <a:off x="4527550" y="3321049"/>
              <a:ext cx="822325"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2943" name="Object 22">
                  <a:extLst>
                    <a:ext uri="{FF2B5EF4-FFF2-40B4-BE49-F238E27FC236}">
                      <a16:creationId xmlns:a16="http://schemas.microsoft.com/office/drawing/2014/main" id="{FD895EFD-614B-5A47-8E3A-9F885540DC2B}"/>
                    </a:ext>
                  </a:extLst>
                </p:cNvPr>
                <p:cNvSpPr txBox="1"/>
                <p:nvPr/>
              </p:nvSpPr>
              <p:spPr bwMode="auto">
                <a:xfrm>
                  <a:off x="4578350" y="3389312"/>
                  <a:ext cx="647700" cy="461963"/>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2943" name="Object 22">
                  <a:extLst>
                    <a:ext uri="{FF2B5EF4-FFF2-40B4-BE49-F238E27FC236}">
                      <a16:creationId xmlns:a16="http://schemas.microsoft.com/office/drawing/2014/main" id="{FD895EFD-614B-5A47-8E3A-9F885540DC2B}"/>
                    </a:ext>
                  </a:extLst>
                </p:cNvPr>
                <p:cNvSpPr txBox="1">
                  <a:spLocks noRot="1" noChangeAspect="1" noMove="1" noResize="1" noEditPoints="1" noAdjustHandles="1" noChangeArrowheads="1" noChangeShapeType="1" noTextEdit="1"/>
                </p:cNvSpPr>
                <p:nvPr/>
              </p:nvSpPr>
              <p:spPr bwMode="auto">
                <a:xfrm>
                  <a:off x="4578350" y="3389312"/>
                  <a:ext cx="647700" cy="461963"/>
                </a:xfrm>
                <a:prstGeom prst="rect">
                  <a:avLst/>
                </a:prstGeom>
                <a:blipFill>
                  <a:blip r:embed="rId6"/>
                  <a:stretch>
                    <a:fillRect r="-18868"/>
                  </a:stretch>
                </a:blipFill>
                <a:ln>
                  <a:noFill/>
                </a:ln>
                <a:extLst/>
              </p:spPr>
              <p:txBody>
                <a:bodyPr/>
                <a:lstStyle/>
                <a:p>
                  <a:r>
                    <a:rPr lang="zh-CN" altLang="en-US">
                      <a:noFill/>
                    </a:rPr>
                    <a:t> </a:t>
                  </a:r>
                </a:p>
              </p:txBody>
            </p:sp>
          </mc:Fallback>
        </mc:AlternateContent>
        <p:sp>
          <p:nvSpPr>
            <p:cNvPr id="90" name="Line 23">
              <a:extLst>
                <a:ext uri="{FF2B5EF4-FFF2-40B4-BE49-F238E27FC236}">
                  <a16:creationId xmlns:a16="http://schemas.microsoft.com/office/drawing/2014/main" id="{BDCB20B6-D0D3-C04E-AB55-5DA743D4C35D}"/>
                </a:ext>
              </a:extLst>
            </p:cNvPr>
            <p:cNvSpPr>
              <a:spLocks noChangeShapeType="1"/>
            </p:cNvSpPr>
            <p:nvPr/>
          </p:nvSpPr>
          <p:spPr bwMode="auto">
            <a:xfrm>
              <a:off x="4938713" y="2773362"/>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1" name="Line 24">
              <a:extLst>
                <a:ext uri="{FF2B5EF4-FFF2-40B4-BE49-F238E27FC236}">
                  <a16:creationId xmlns:a16="http://schemas.microsoft.com/office/drawing/2014/main" id="{C10BD9B1-CC17-C344-8C2E-3ABC58DA0027}"/>
                </a:ext>
              </a:extLst>
            </p:cNvPr>
            <p:cNvSpPr>
              <a:spLocks noChangeShapeType="1"/>
            </p:cNvSpPr>
            <p:nvPr/>
          </p:nvSpPr>
          <p:spPr bwMode="auto">
            <a:xfrm>
              <a:off x="4938713" y="3938587"/>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2" name="Rectangle 29">
              <a:extLst>
                <a:ext uri="{FF2B5EF4-FFF2-40B4-BE49-F238E27FC236}">
                  <a16:creationId xmlns:a16="http://schemas.microsoft.com/office/drawing/2014/main" id="{DD746F4B-5ECF-C74F-8295-180E04451EEE}"/>
                </a:ext>
              </a:extLst>
            </p:cNvPr>
            <p:cNvSpPr>
              <a:spLocks noChangeArrowheads="1"/>
            </p:cNvSpPr>
            <p:nvPr/>
          </p:nvSpPr>
          <p:spPr bwMode="auto">
            <a:xfrm>
              <a:off x="3224213" y="3321049"/>
              <a:ext cx="823912" cy="617538"/>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mc:AlternateContent xmlns:mc="http://schemas.openxmlformats.org/markup-compatibility/2006" xmlns:a14="http://schemas.microsoft.com/office/drawing/2010/main">
          <mc:Choice Requires="a14">
            <p:sp>
              <p:nvSpPr>
                <p:cNvPr id="252947" name="Object 30">
                  <a:extLst>
                    <a:ext uri="{FF2B5EF4-FFF2-40B4-BE49-F238E27FC236}">
                      <a16:creationId xmlns:a16="http://schemas.microsoft.com/office/drawing/2014/main" id="{65C6DD5B-9FD9-904D-B687-BC443667A15A}"/>
                    </a:ext>
                  </a:extLst>
                </p:cNvPr>
                <p:cNvSpPr txBox="1"/>
                <p:nvPr/>
              </p:nvSpPr>
              <p:spPr bwMode="auto">
                <a:xfrm>
                  <a:off x="3270250" y="3389312"/>
                  <a:ext cx="660400" cy="461963"/>
                </a:xfrm>
                <a:prstGeom prst="rect">
                  <a:avLst/>
                </a:prstGeom>
                <a:solidFill>
                  <a:schemeClr val="bg1"/>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2947" name="Object 30">
                  <a:extLst>
                    <a:ext uri="{FF2B5EF4-FFF2-40B4-BE49-F238E27FC236}">
                      <a16:creationId xmlns:a16="http://schemas.microsoft.com/office/drawing/2014/main" id="{65C6DD5B-9FD9-904D-B687-BC443667A15A}"/>
                    </a:ext>
                  </a:extLst>
                </p:cNvPr>
                <p:cNvSpPr txBox="1">
                  <a:spLocks noRot="1" noChangeAspect="1" noMove="1" noResize="1" noEditPoints="1" noAdjustHandles="1" noChangeArrowheads="1" noChangeShapeType="1" noTextEdit="1"/>
                </p:cNvSpPr>
                <p:nvPr/>
              </p:nvSpPr>
              <p:spPr bwMode="auto">
                <a:xfrm>
                  <a:off x="3270250" y="3389312"/>
                  <a:ext cx="660400" cy="461963"/>
                </a:xfrm>
                <a:prstGeom prst="rect">
                  <a:avLst/>
                </a:prstGeom>
                <a:blipFill>
                  <a:blip r:embed="rId7"/>
                  <a:stretch>
                    <a:fillRect r="-15596"/>
                  </a:stretch>
                </a:blipFill>
                <a:ln>
                  <a:noFill/>
                </a:ln>
                <a:extLst/>
              </p:spPr>
              <p:txBody>
                <a:bodyPr/>
                <a:lstStyle/>
                <a:p>
                  <a:r>
                    <a:rPr lang="zh-CN" altLang="en-US">
                      <a:noFill/>
                    </a:rPr>
                    <a:t> </a:t>
                  </a:r>
                </a:p>
              </p:txBody>
            </p:sp>
          </mc:Fallback>
        </mc:AlternateContent>
        <p:sp>
          <p:nvSpPr>
            <p:cNvPr id="94" name="Line 31">
              <a:extLst>
                <a:ext uri="{FF2B5EF4-FFF2-40B4-BE49-F238E27FC236}">
                  <a16:creationId xmlns:a16="http://schemas.microsoft.com/office/drawing/2014/main" id="{09A63A0E-72F5-2E4A-92A3-6AA06EC7DE7C}"/>
                </a:ext>
              </a:extLst>
            </p:cNvPr>
            <p:cNvSpPr>
              <a:spLocks noChangeShapeType="1"/>
            </p:cNvSpPr>
            <p:nvPr/>
          </p:nvSpPr>
          <p:spPr bwMode="auto">
            <a:xfrm>
              <a:off x="3635375" y="2773362"/>
              <a:ext cx="0" cy="547687"/>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95" name="Line 32">
              <a:extLst>
                <a:ext uri="{FF2B5EF4-FFF2-40B4-BE49-F238E27FC236}">
                  <a16:creationId xmlns:a16="http://schemas.microsoft.com/office/drawing/2014/main" id="{F5AEA6E9-01B7-6C46-B6C7-22D22312626B}"/>
                </a:ext>
              </a:extLst>
            </p:cNvPr>
            <p:cNvSpPr>
              <a:spLocks noChangeShapeType="1"/>
            </p:cNvSpPr>
            <p:nvPr/>
          </p:nvSpPr>
          <p:spPr bwMode="auto">
            <a:xfrm>
              <a:off x="3635375" y="3938587"/>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grpSp>
          <p:nvGrpSpPr>
            <p:cNvPr id="96" name="Group 39">
              <a:extLst>
                <a:ext uri="{FF2B5EF4-FFF2-40B4-BE49-F238E27FC236}">
                  <a16:creationId xmlns:a16="http://schemas.microsoft.com/office/drawing/2014/main" id="{279A85F7-5BB3-2D4E-A98D-1C6518ACFB6D}"/>
                </a:ext>
              </a:extLst>
            </p:cNvPr>
            <p:cNvGrpSpPr/>
            <p:nvPr/>
          </p:nvGrpSpPr>
          <p:grpSpPr bwMode="auto">
            <a:xfrm>
              <a:off x="2332831" y="2871311"/>
              <a:ext cx="1454468" cy="1248728"/>
              <a:chOff x="1488" y="1718"/>
              <a:chExt cx="1018" cy="874"/>
            </a:xfrm>
            <a:solidFill>
              <a:schemeClr val="bg1"/>
            </a:solidFill>
          </p:grpSpPr>
          <p:sp>
            <p:nvSpPr>
              <p:cNvPr id="97" name="Line 40">
                <a:extLst>
                  <a:ext uri="{FF2B5EF4-FFF2-40B4-BE49-F238E27FC236}">
                    <a16:creationId xmlns:a16="http://schemas.microsoft.com/office/drawing/2014/main" id="{685CCA60-E94B-0C41-BD51-698A961660BC}"/>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98" name="Line 41">
                <a:extLst>
                  <a:ext uri="{FF2B5EF4-FFF2-40B4-BE49-F238E27FC236}">
                    <a16:creationId xmlns:a16="http://schemas.microsoft.com/office/drawing/2014/main" id="{B0B9B577-57D7-054D-8F48-CAC005A94F7C}"/>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99" name="Line 42">
                <a:extLst>
                  <a:ext uri="{FF2B5EF4-FFF2-40B4-BE49-F238E27FC236}">
                    <a16:creationId xmlns:a16="http://schemas.microsoft.com/office/drawing/2014/main" id="{3B295F96-5210-984A-88B9-33FF4B67CD50}"/>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100" name="AutoShape 43">
                <a:extLst>
                  <a:ext uri="{FF2B5EF4-FFF2-40B4-BE49-F238E27FC236}">
                    <a16:creationId xmlns:a16="http://schemas.microsoft.com/office/drawing/2014/main" id="{1E2A5AFD-A852-BF48-AA24-562CB1025AC7}"/>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grpSp>
          <p:nvGrpSpPr>
            <p:cNvPr id="101" name="Group 44">
              <a:extLst>
                <a:ext uri="{FF2B5EF4-FFF2-40B4-BE49-F238E27FC236}">
                  <a16:creationId xmlns:a16="http://schemas.microsoft.com/office/drawing/2014/main" id="{E5339C3D-5347-5343-83F8-A70E32499B98}"/>
                </a:ext>
              </a:extLst>
            </p:cNvPr>
            <p:cNvGrpSpPr/>
            <p:nvPr/>
          </p:nvGrpSpPr>
          <p:grpSpPr bwMode="auto">
            <a:xfrm>
              <a:off x="3621564" y="2885599"/>
              <a:ext cx="1454468" cy="1248728"/>
              <a:chOff x="1488" y="1718"/>
              <a:chExt cx="1018" cy="874"/>
            </a:xfrm>
            <a:solidFill>
              <a:schemeClr val="bg1"/>
            </a:solidFill>
          </p:grpSpPr>
          <p:sp>
            <p:nvSpPr>
              <p:cNvPr id="102" name="Line 45">
                <a:extLst>
                  <a:ext uri="{FF2B5EF4-FFF2-40B4-BE49-F238E27FC236}">
                    <a16:creationId xmlns:a16="http://schemas.microsoft.com/office/drawing/2014/main" id="{97FEF93E-A489-6042-B397-DBAF84DC8DF9}"/>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03" name="Line 46">
                <a:extLst>
                  <a:ext uri="{FF2B5EF4-FFF2-40B4-BE49-F238E27FC236}">
                    <a16:creationId xmlns:a16="http://schemas.microsoft.com/office/drawing/2014/main" id="{9BC56BF8-25D8-3949-A3B4-F866B0BA59BA}"/>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04" name="Line 47">
                <a:extLst>
                  <a:ext uri="{FF2B5EF4-FFF2-40B4-BE49-F238E27FC236}">
                    <a16:creationId xmlns:a16="http://schemas.microsoft.com/office/drawing/2014/main" id="{E9FFE1AF-85A6-7A45-98F2-BBADC0018644}"/>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105" name="AutoShape 48">
                <a:extLst>
                  <a:ext uri="{FF2B5EF4-FFF2-40B4-BE49-F238E27FC236}">
                    <a16:creationId xmlns:a16="http://schemas.microsoft.com/office/drawing/2014/main" id="{821DEDF2-4D44-2F45-B03B-2961670132E4}"/>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grpSp>
          <p:nvGrpSpPr>
            <p:cNvPr id="106" name="Group 49">
              <a:extLst>
                <a:ext uri="{FF2B5EF4-FFF2-40B4-BE49-F238E27FC236}">
                  <a16:creationId xmlns:a16="http://schemas.microsoft.com/office/drawing/2014/main" id="{06033010-1236-FC43-8877-2531BD59CECD}"/>
                </a:ext>
              </a:extLst>
            </p:cNvPr>
            <p:cNvGrpSpPr/>
            <p:nvPr/>
          </p:nvGrpSpPr>
          <p:grpSpPr bwMode="auto">
            <a:xfrm>
              <a:off x="4954587" y="2885599"/>
              <a:ext cx="1454468" cy="1248728"/>
              <a:chOff x="1488" y="1718"/>
              <a:chExt cx="1018" cy="874"/>
            </a:xfrm>
            <a:solidFill>
              <a:schemeClr val="bg1"/>
            </a:solidFill>
          </p:grpSpPr>
          <p:sp>
            <p:nvSpPr>
              <p:cNvPr id="107" name="Line 50">
                <a:extLst>
                  <a:ext uri="{FF2B5EF4-FFF2-40B4-BE49-F238E27FC236}">
                    <a16:creationId xmlns:a16="http://schemas.microsoft.com/office/drawing/2014/main" id="{4EFFD1C5-CD4A-0849-8CB1-CAC34095D59A}"/>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08" name="Line 51">
                <a:extLst>
                  <a:ext uri="{FF2B5EF4-FFF2-40B4-BE49-F238E27FC236}">
                    <a16:creationId xmlns:a16="http://schemas.microsoft.com/office/drawing/2014/main" id="{C08CEC07-44B5-CF4C-9153-F31872EF53A5}"/>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09" name="Line 52">
                <a:extLst>
                  <a:ext uri="{FF2B5EF4-FFF2-40B4-BE49-F238E27FC236}">
                    <a16:creationId xmlns:a16="http://schemas.microsoft.com/office/drawing/2014/main" id="{6C1FB047-ED0A-7041-937A-B9D6650E232C}"/>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110" name="AutoShape 53">
                <a:extLst>
                  <a:ext uri="{FF2B5EF4-FFF2-40B4-BE49-F238E27FC236}">
                    <a16:creationId xmlns:a16="http://schemas.microsoft.com/office/drawing/2014/main" id="{396899A3-F199-7540-B4F2-012B0BF5EE0B}"/>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grpSp>
          <p:nvGrpSpPr>
            <p:cNvPr id="111" name="Group 54">
              <a:extLst>
                <a:ext uri="{FF2B5EF4-FFF2-40B4-BE49-F238E27FC236}">
                  <a16:creationId xmlns:a16="http://schemas.microsoft.com/office/drawing/2014/main" id="{446FA3D4-7497-6B41-97C9-6BB4C247D6AD}"/>
                </a:ext>
              </a:extLst>
            </p:cNvPr>
            <p:cNvGrpSpPr/>
            <p:nvPr/>
          </p:nvGrpSpPr>
          <p:grpSpPr bwMode="auto">
            <a:xfrm>
              <a:off x="6227604" y="3022759"/>
              <a:ext cx="1165860" cy="1097280"/>
              <a:chOff x="4166" y="1824"/>
              <a:chExt cx="816" cy="768"/>
            </a:xfrm>
            <a:solidFill>
              <a:schemeClr val="bg1"/>
            </a:solidFill>
          </p:grpSpPr>
          <p:sp>
            <p:nvSpPr>
              <p:cNvPr id="112" name="Line 55">
                <a:extLst>
                  <a:ext uri="{FF2B5EF4-FFF2-40B4-BE49-F238E27FC236}">
                    <a16:creationId xmlns:a16="http://schemas.microsoft.com/office/drawing/2014/main" id="{DE0F6975-AD0C-F742-81FC-7187B923BA85}"/>
                  </a:ext>
                </a:extLst>
              </p:cNvPr>
              <p:cNvSpPr>
                <a:spLocks noChangeShapeType="1"/>
              </p:cNvSpPr>
              <p:nvPr/>
            </p:nvSpPr>
            <p:spPr bwMode="auto">
              <a:xfrm>
                <a:off x="4166"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13" name="Line 56">
                <a:extLst>
                  <a:ext uri="{FF2B5EF4-FFF2-40B4-BE49-F238E27FC236}">
                    <a16:creationId xmlns:a16="http://schemas.microsoft.com/office/drawing/2014/main" id="{4C05F261-49A9-0143-8E7D-A4D33480D4EF}"/>
                  </a:ext>
                </a:extLst>
              </p:cNvPr>
              <p:cNvSpPr>
                <a:spLocks noChangeShapeType="1"/>
              </p:cNvSpPr>
              <p:nvPr/>
            </p:nvSpPr>
            <p:spPr bwMode="auto">
              <a:xfrm>
                <a:off x="4598"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14" name="Line 57">
                <a:extLst>
                  <a:ext uri="{FF2B5EF4-FFF2-40B4-BE49-F238E27FC236}">
                    <a16:creationId xmlns:a16="http://schemas.microsoft.com/office/drawing/2014/main" id="{F933575F-6F73-E946-98AA-A22FC49A5C58}"/>
                  </a:ext>
                </a:extLst>
              </p:cNvPr>
              <p:cNvSpPr>
                <a:spLocks noChangeShapeType="1"/>
              </p:cNvSpPr>
              <p:nvPr/>
            </p:nvSpPr>
            <p:spPr bwMode="auto">
              <a:xfrm>
                <a:off x="4598"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grpSp>
        <p:sp>
          <p:nvSpPr>
            <p:cNvPr id="115" name="Rectangle 59">
              <a:extLst>
                <a:ext uri="{FF2B5EF4-FFF2-40B4-BE49-F238E27FC236}">
                  <a16:creationId xmlns:a16="http://schemas.microsoft.com/office/drawing/2014/main" id="{5994AFEA-29EA-5146-8709-F66091674742}"/>
                </a:ext>
              </a:extLst>
            </p:cNvPr>
            <p:cNvSpPr>
              <a:spLocks noChangeArrowheads="1"/>
            </p:cNvSpPr>
            <p:nvPr/>
          </p:nvSpPr>
          <p:spPr bwMode="auto">
            <a:xfrm>
              <a:off x="9166225" y="3322637"/>
              <a:ext cx="908050" cy="617537"/>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p:sp>
          <p:nvSpPr>
            <p:cNvPr id="116" name="Line 61">
              <a:extLst>
                <a:ext uri="{FF2B5EF4-FFF2-40B4-BE49-F238E27FC236}">
                  <a16:creationId xmlns:a16="http://schemas.microsoft.com/office/drawing/2014/main" id="{EF548864-2B7C-9441-AA35-8EC3CD297F22}"/>
                </a:ext>
              </a:extLst>
            </p:cNvPr>
            <p:cNvSpPr>
              <a:spLocks noChangeShapeType="1"/>
            </p:cNvSpPr>
            <p:nvPr/>
          </p:nvSpPr>
          <p:spPr bwMode="auto">
            <a:xfrm>
              <a:off x="9577388" y="2774949"/>
              <a:ext cx="0" cy="547688"/>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117" name="Line 62">
              <a:extLst>
                <a:ext uri="{FF2B5EF4-FFF2-40B4-BE49-F238E27FC236}">
                  <a16:creationId xmlns:a16="http://schemas.microsoft.com/office/drawing/2014/main" id="{8A2FD779-B8BC-3F41-BFE5-822F116BFB51}"/>
                </a:ext>
              </a:extLst>
            </p:cNvPr>
            <p:cNvSpPr>
              <a:spLocks noChangeShapeType="1"/>
            </p:cNvSpPr>
            <p:nvPr/>
          </p:nvSpPr>
          <p:spPr bwMode="auto">
            <a:xfrm>
              <a:off x="9577388" y="3940174"/>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grpSp>
          <p:nvGrpSpPr>
            <p:cNvPr id="118" name="Group 65">
              <a:extLst>
                <a:ext uri="{FF2B5EF4-FFF2-40B4-BE49-F238E27FC236}">
                  <a16:creationId xmlns:a16="http://schemas.microsoft.com/office/drawing/2014/main" id="{1B12D1B8-B3BB-164F-85E5-919E1158FD5F}"/>
                </a:ext>
              </a:extLst>
            </p:cNvPr>
            <p:cNvGrpSpPr/>
            <p:nvPr/>
          </p:nvGrpSpPr>
          <p:grpSpPr bwMode="auto">
            <a:xfrm>
              <a:off x="8272145" y="2885599"/>
              <a:ext cx="1454468" cy="1248728"/>
              <a:chOff x="1488" y="1718"/>
              <a:chExt cx="1018" cy="874"/>
            </a:xfrm>
            <a:solidFill>
              <a:schemeClr val="bg1"/>
            </a:solidFill>
          </p:grpSpPr>
          <p:sp>
            <p:nvSpPr>
              <p:cNvPr id="119" name="Line 66">
                <a:extLst>
                  <a:ext uri="{FF2B5EF4-FFF2-40B4-BE49-F238E27FC236}">
                    <a16:creationId xmlns:a16="http://schemas.microsoft.com/office/drawing/2014/main" id="{B3F97F13-0F27-C844-996D-267C56027CFA}"/>
                  </a:ext>
                </a:extLst>
              </p:cNvPr>
              <p:cNvSpPr>
                <a:spLocks noChangeShapeType="1"/>
              </p:cNvSpPr>
              <p:nvPr/>
            </p:nvSpPr>
            <p:spPr bwMode="auto">
              <a:xfrm>
                <a:off x="1488" y="2592"/>
                <a:ext cx="432" cy="0"/>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20" name="Line 67">
                <a:extLst>
                  <a:ext uri="{FF2B5EF4-FFF2-40B4-BE49-F238E27FC236}">
                    <a16:creationId xmlns:a16="http://schemas.microsoft.com/office/drawing/2014/main" id="{1658BBB8-A53D-E547-BE01-87A02BB974FA}"/>
                  </a:ext>
                </a:extLst>
              </p:cNvPr>
              <p:cNvSpPr>
                <a:spLocks noChangeShapeType="1"/>
              </p:cNvSpPr>
              <p:nvPr/>
            </p:nvSpPr>
            <p:spPr bwMode="auto">
              <a:xfrm>
                <a:off x="1920" y="1824"/>
                <a:ext cx="0" cy="768"/>
              </a:xfrm>
              <a:prstGeom prst="line">
                <a:avLst/>
              </a:prstGeom>
              <a:grpFill/>
              <a:ln w="9525">
                <a:solidFill>
                  <a:srgbClr val="FF00FF"/>
                </a:solidFill>
                <a:round/>
              </a:ln>
              <a:effectLst/>
            </p:spPr>
            <p:txBody>
              <a:bodyPr wrap="none" anchor="ctr"/>
              <a:lstStyle/>
              <a:p>
                <a:pPr eaLnBrk="0" hangingPunct="0">
                  <a:defRPr/>
                </a:pPr>
                <a:endParaRPr lang="zh-CN" altLang="en-US" b="1">
                  <a:solidFill>
                    <a:srgbClr val="1C1C1C"/>
                  </a:solidFill>
                  <a:latin typeface="+mn-lt"/>
                  <a:ea typeface="+mn-ea"/>
                </a:endParaRPr>
              </a:p>
            </p:txBody>
          </p:sp>
          <p:sp>
            <p:nvSpPr>
              <p:cNvPr id="121" name="Line 68">
                <a:extLst>
                  <a:ext uri="{FF2B5EF4-FFF2-40B4-BE49-F238E27FC236}">
                    <a16:creationId xmlns:a16="http://schemas.microsoft.com/office/drawing/2014/main" id="{5A6B7655-5356-8545-9539-5B3966857E8E}"/>
                  </a:ext>
                </a:extLst>
              </p:cNvPr>
              <p:cNvSpPr>
                <a:spLocks noChangeShapeType="1"/>
              </p:cNvSpPr>
              <p:nvPr/>
            </p:nvSpPr>
            <p:spPr bwMode="auto">
              <a:xfrm>
                <a:off x="1920" y="1824"/>
                <a:ext cx="384" cy="0"/>
              </a:xfrm>
              <a:prstGeom prst="line">
                <a:avLst/>
              </a:prstGeom>
              <a:grpFill/>
              <a:ln w="9525">
                <a:solidFill>
                  <a:srgbClr val="FF00FF"/>
                </a:solidFill>
                <a:round/>
                <a:tailEnd type="triangle" w="med" len="med"/>
              </a:ln>
              <a:effectLst/>
            </p:spPr>
            <p:txBody>
              <a:bodyPr wrap="none" anchor="ctr"/>
              <a:lstStyle/>
              <a:p>
                <a:pPr eaLnBrk="0" hangingPunct="0">
                  <a:defRPr/>
                </a:pPr>
                <a:endParaRPr lang="zh-CN" altLang="en-US" b="1">
                  <a:solidFill>
                    <a:srgbClr val="1C1C1C"/>
                  </a:solidFill>
                  <a:latin typeface="+mn-lt"/>
                  <a:ea typeface="+mn-ea"/>
                </a:endParaRPr>
              </a:p>
            </p:txBody>
          </p:sp>
          <p:sp>
            <p:nvSpPr>
              <p:cNvPr id="122" name="AutoShape 69">
                <a:extLst>
                  <a:ext uri="{FF2B5EF4-FFF2-40B4-BE49-F238E27FC236}">
                    <a16:creationId xmlns:a16="http://schemas.microsoft.com/office/drawing/2014/main" id="{56CF5479-19C9-3541-A851-4761CF3E859A}"/>
                  </a:ext>
                </a:extLst>
              </p:cNvPr>
              <p:cNvSpPr>
                <a:spLocks noChangeAspect="1" noChangeArrowheads="1"/>
              </p:cNvSpPr>
              <p:nvPr/>
            </p:nvSpPr>
            <p:spPr bwMode="auto">
              <a:xfrm>
                <a:off x="2304" y="1718"/>
                <a:ext cx="202" cy="202"/>
              </a:xfrm>
              <a:prstGeom prst="flowChartOr">
                <a:avLst/>
              </a:prstGeom>
              <a:grpFill/>
              <a:ln w="9525">
                <a:solidFill>
                  <a:srgbClr val="FF00FF"/>
                </a:solidFill>
                <a:rou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b="1">
                  <a:solidFill>
                    <a:srgbClr val="1C1C1C"/>
                  </a:solidFill>
                  <a:latin typeface="+mn-lt"/>
                  <a:ea typeface="+mn-ea"/>
                </a:endParaRPr>
              </a:p>
            </p:txBody>
          </p:sp>
        </p:grpSp>
        <p:sp>
          <p:nvSpPr>
            <p:cNvPr id="123" name="Text Box 76">
              <a:extLst>
                <a:ext uri="{FF2B5EF4-FFF2-40B4-BE49-F238E27FC236}">
                  <a16:creationId xmlns:a16="http://schemas.microsoft.com/office/drawing/2014/main" id="{64C4DC7D-A0F6-FA47-AA52-D38686F769B2}"/>
                </a:ext>
              </a:extLst>
            </p:cNvPr>
            <p:cNvSpPr txBox="1">
              <a:spLocks noChangeArrowheads="1"/>
            </p:cNvSpPr>
            <p:nvPr/>
          </p:nvSpPr>
          <p:spPr bwMode="auto">
            <a:xfrm>
              <a:off x="7234238" y="3443287"/>
              <a:ext cx="441325" cy="414337"/>
            </a:xfrm>
            <a:prstGeom prst="rect">
              <a:avLst/>
            </a:prstGeom>
            <a:solidFill>
              <a:schemeClr val="bg1"/>
            </a:solidFill>
            <a:ln>
              <a:noFill/>
            </a:ln>
            <a:effectLst/>
          </p:spPr>
          <p:txBody>
            <a:bodyPr lIns="82292" tIns="41146" rIns="82292" bIns="41146">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1" lang="en-US" altLang="zh-CN" sz="2160" b="1">
                  <a:solidFill>
                    <a:srgbClr val="1C1C1C"/>
                  </a:solidFill>
                  <a:latin typeface="+mn-lt"/>
                  <a:ea typeface="+mn-ea"/>
                </a:rPr>
                <a:t>…</a:t>
              </a:r>
            </a:p>
          </p:txBody>
        </p:sp>
        <p:sp>
          <p:nvSpPr>
            <p:cNvPr id="124" name="Text Box 77">
              <a:extLst>
                <a:ext uri="{FF2B5EF4-FFF2-40B4-BE49-F238E27FC236}">
                  <a16:creationId xmlns:a16="http://schemas.microsoft.com/office/drawing/2014/main" id="{F9F5EC22-3D8F-B849-8F36-A9EBB166606A}"/>
                </a:ext>
              </a:extLst>
            </p:cNvPr>
            <p:cNvSpPr txBox="1">
              <a:spLocks noChangeArrowheads="1"/>
            </p:cNvSpPr>
            <p:nvPr/>
          </p:nvSpPr>
          <p:spPr bwMode="auto">
            <a:xfrm>
              <a:off x="7319963" y="4278312"/>
              <a:ext cx="441325" cy="415925"/>
            </a:xfrm>
            <a:prstGeom prst="rect">
              <a:avLst/>
            </a:prstGeom>
            <a:solidFill>
              <a:schemeClr val="bg1"/>
            </a:solidFill>
            <a:ln>
              <a:noFill/>
            </a:ln>
            <a:effectLst/>
          </p:spPr>
          <p:txBody>
            <a:bodyPr lIns="82292" tIns="41146" rIns="82292" bIns="41146">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1" lang="en-US" altLang="zh-CN" sz="2160" b="1" dirty="0">
                  <a:solidFill>
                    <a:srgbClr val="1C1C1C"/>
                  </a:solidFill>
                  <a:latin typeface="+mn-lt"/>
                  <a:ea typeface="+mn-ea"/>
                </a:rPr>
                <a:t>…</a:t>
              </a:r>
            </a:p>
          </p:txBody>
        </p:sp>
        <p:grpSp>
          <p:nvGrpSpPr>
            <p:cNvPr id="125" name="Group 79">
              <a:extLst>
                <a:ext uri="{FF2B5EF4-FFF2-40B4-BE49-F238E27FC236}">
                  <a16:creationId xmlns:a16="http://schemas.microsoft.com/office/drawing/2014/main" id="{55AB5EA5-42BA-574F-BB38-DECECF2A48EC}"/>
                </a:ext>
              </a:extLst>
            </p:cNvPr>
            <p:cNvGrpSpPr>
              <a:grpSpLocks noChangeAspect="1"/>
            </p:cNvGrpSpPr>
            <p:nvPr/>
          </p:nvGrpSpPr>
          <p:grpSpPr bwMode="auto">
            <a:xfrm>
              <a:off x="9207977" y="3391376"/>
              <a:ext cx="790098" cy="461486"/>
              <a:chOff x="4913" y="2137"/>
              <a:chExt cx="553" cy="323"/>
            </a:xfrm>
            <a:solidFill>
              <a:schemeClr val="bg1"/>
            </a:solidFill>
          </p:grpSpPr>
          <p:sp>
            <p:nvSpPr>
              <p:cNvPr id="126" name="AutoShape 78">
                <a:extLst>
                  <a:ext uri="{FF2B5EF4-FFF2-40B4-BE49-F238E27FC236}">
                    <a16:creationId xmlns:a16="http://schemas.microsoft.com/office/drawing/2014/main" id="{7A0BDFEB-FF25-EF44-9A4C-6CBC8E01AE0A}"/>
                  </a:ext>
                </a:extLst>
              </p:cNvPr>
              <p:cNvSpPr>
                <a:spLocks noChangeAspect="1" noChangeArrowheads="1" noTextEdit="1"/>
              </p:cNvSpPr>
              <p:nvPr/>
            </p:nvSpPr>
            <p:spPr bwMode="auto">
              <a:xfrm>
                <a:off x="4913" y="2137"/>
                <a:ext cx="553" cy="323"/>
              </a:xfrm>
              <a:prstGeom prst="rect">
                <a:avLst/>
              </a:prstGeom>
              <a:grpFill/>
              <a:ln>
                <a:noFill/>
              </a:ln>
            </p:spPr>
            <p:txBody>
              <a:bodyPr/>
              <a:lstStyle/>
              <a:p>
                <a:pPr eaLnBrk="0" hangingPunct="0">
                  <a:defRPr/>
                </a:pPr>
                <a:endParaRPr lang="zh-CN" altLang="en-US" b="1">
                  <a:solidFill>
                    <a:srgbClr val="1C1C1C"/>
                  </a:solidFill>
                  <a:latin typeface="+mn-lt"/>
                  <a:ea typeface="+mn-ea"/>
                </a:endParaRPr>
              </a:p>
            </p:txBody>
          </p:sp>
          <p:sp>
            <p:nvSpPr>
              <p:cNvPr id="127" name="Rectangle 80">
                <a:extLst>
                  <a:ext uri="{FF2B5EF4-FFF2-40B4-BE49-F238E27FC236}">
                    <a16:creationId xmlns:a16="http://schemas.microsoft.com/office/drawing/2014/main" id="{3C2240DA-9C9E-804A-9052-119776EA371F}"/>
                  </a:ext>
                </a:extLst>
              </p:cNvPr>
              <p:cNvSpPr>
                <a:spLocks noChangeArrowheads="1"/>
              </p:cNvSpPr>
              <p:nvPr/>
            </p:nvSpPr>
            <p:spPr bwMode="auto">
              <a:xfrm>
                <a:off x="5363"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a:solidFill>
                      <a:srgbClr val="1C1C1C"/>
                    </a:solidFill>
                    <a:latin typeface="+mn-lt"/>
                    <a:ea typeface="+mn-ea"/>
                  </a:rPr>
                  <a:t>)</a:t>
                </a:r>
                <a:endParaRPr lang="en-US" altLang="zh-CN" b="1">
                  <a:solidFill>
                    <a:srgbClr val="1C1C1C"/>
                  </a:solidFill>
                  <a:latin typeface="+mn-lt"/>
                  <a:ea typeface="+mn-ea"/>
                </a:endParaRPr>
              </a:p>
            </p:txBody>
          </p:sp>
          <p:sp>
            <p:nvSpPr>
              <p:cNvPr id="128" name="Rectangle 81">
                <a:extLst>
                  <a:ext uri="{FF2B5EF4-FFF2-40B4-BE49-F238E27FC236}">
                    <a16:creationId xmlns:a16="http://schemas.microsoft.com/office/drawing/2014/main" id="{03E11C2C-1876-D044-B917-AF66B59450AF}"/>
                  </a:ext>
                </a:extLst>
              </p:cNvPr>
              <p:cNvSpPr>
                <a:spLocks noChangeArrowheads="1"/>
              </p:cNvSpPr>
              <p:nvPr/>
            </p:nvSpPr>
            <p:spPr bwMode="auto">
              <a:xfrm>
                <a:off x="5176"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a:solidFill>
                      <a:srgbClr val="1C1C1C"/>
                    </a:solidFill>
                    <a:latin typeface="+mn-lt"/>
                    <a:ea typeface="+mn-ea"/>
                  </a:rPr>
                  <a:t>(</a:t>
                </a:r>
                <a:endParaRPr lang="en-US" altLang="zh-CN" b="1">
                  <a:solidFill>
                    <a:srgbClr val="1C1C1C"/>
                  </a:solidFill>
                  <a:latin typeface="+mn-lt"/>
                  <a:ea typeface="+mn-ea"/>
                </a:endParaRPr>
              </a:p>
            </p:txBody>
          </p:sp>
          <p:sp>
            <p:nvSpPr>
              <p:cNvPr id="129" name="Rectangle 82">
                <a:extLst>
                  <a:ext uri="{FF2B5EF4-FFF2-40B4-BE49-F238E27FC236}">
                    <a16:creationId xmlns:a16="http://schemas.microsoft.com/office/drawing/2014/main" id="{9B7BD9C1-E294-5846-A4DC-6568C4BBF598}"/>
                  </a:ext>
                </a:extLst>
              </p:cNvPr>
              <p:cNvSpPr>
                <a:spLocks noChangeArrowheads="1"/>
              </p:cNvSpPr>
              <p:nvPr/>
            </p:nvSpPr>
            <p:spPr bwMode="auto">
              <a:xfrm>
                <a:off x="5263" y="2160"/>
                <a:ext cx="109"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dirty="0">
                    <a:solidFill>
                      <a:srgbClr val="1C1C1C"/>
                    </a:solidFill>
                    <a:latin typeface="+mn-lt"/>
                    <a:ea typeface="+mn-ea"/>
                  </a:rPr>
                  <a:t>x</a:t>
                </a:r>
                <a:endParaRPr lang="en-US" altLang="zh-CN" b="1" dirty="0">
                  <a:solidFill>
                    <a:srgbClr val="1C1C1C"/>
                  </a:solidFill>
                  <a:latin typeface="+mn-lt"/>
                  <a:ea typeface="+mn-ea"/>
                </a:endParaRPr>
              </a:p>
            </p:txBody>
          </p:sp>
          <p:sp>
            <p:nvSpPr>
              <p:cNvPr id="130" name="Rectangle 83">
                <a:extLst>
                  <a:ext uri="{FF2B5EF4-FFF2-40B4-BE49-F238E27FC236}">
                    <a16:creationId xmlns:a16="http://schemas.microsoft.com/office/drawing/2014/main" id="{C7537C99-C690-EC41-BDA5-BE027377A0C4}"/>
                  </a:ext>
                </a:extLst>
              </p:cNvPr>
              <p:cNvSpPr>
                <a:spLocks noChangeArrowheads="1"/>
              </p:cNvSpPr>
              <p:nvPr/>
            </p:nvSpPr>
            <p:spPr bwMode="auto">
              <a:xfrm>
                <a:off x="4952" y="2160"/>
                <a:ext cx="146"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a:solidFill>
                      <a:srgbClr val="1C1C1C"/>
                    </a:solidFill>
                    <a:latin typeface="+mn-lt"/>
                    <a:ea typeface="+mn-ea"/>
                  </a:rPr>
                  <a:t>E</a:t>
                </a:r>
                <a:endParaRPr lang="en-US" altLang="zh-CN" b="1">
                  <a:solidFill>
                    <a:srgbClr val="1C1C1C"/>
                  </a:solidFill>
                  <a:latin typeface="+mn-lt"/>
                  <a:ea typeface="+mn-ea"/>
                </a:endParaRPr>
              </a:p>
            </p:txBody>
          </p:sp>
          <p:sp>
            <p:nvSpPr>
              <p:cNvPr id="131" name="Rectangle 84">
                <a:extLst>
                  <a:ext uri="{FF2B5EF4-FFF2-40B4-BE49-F238E27FC236}">
                    <a16:creationId xmlns:a16="http://schemas.microsoft.com/office/drawing/2014/main" id="{AD4FDCF0-E60A-1748-8874-B6B4175E6C0B}"/>
                  </a:ext>
                </a:extLst>
              </p:cNvPr>
              <p:cNvSpPr>
                <a:spLocks noChangeArrowheads="1"/>
              </p:cNvSpPr>
              <p:nvPr/>
            </p:nvSpPr>
            <p:spPr bwMode="auto">
              <a:xfrm>
                <a:off x="5086" y="2294"/>
                <a:ext cx="65" cy="155"/>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440" b="1" i="1">
                    <a:solidFill>
                      <a:srgbClr val="1C1C1C"/>
                    </a:solidFill>
                    <a:latin typeface="+mn-lt"/>
                    <a:ea typeface="+mn-ea"/>
                  </a:rPr>
                  <a:t>k</a:t>
                </a:r>
                <a:endParaRPr lang="en-US" altLang="zh-CN" b="1">
                  <a:solidFill>
                    <a:srgbClr val="1C1C1C"/>
                  </a:solidFill>
                  <a:latin typeface="+mn-lt"/>
                  <a:ea typeface="+mn-ea"/>
                </a:endParaRPr>
              </a:p>
            </p:txBody>
          </p:sp>
        </p:grpSp>
        <p:sp>
          <p:nvSpPr>
            <p:cNvPr id="132" name="Rectangle 97">
              <a:extLst>
                <a:ext uri="{FF2B5EF4-FFF2-40B4-BE49-F238E27FC236}">
                  <a16:creationId xmlns:a16="http://schemas.microsoft.com/office/drawing/2014/main" id="{9A19A29C-22AB-974C-8DE0-C6170EC5C097}"/>
                </a:ext>
              </a:extLst>
            </p:cNvPr>
            <p:cNvSpPr>
              <a:spLocks noChangeArrowheads="1"/>
            </p:cNvSpPr>
            <p:nvPr/>
          </p:nvSpPr>
          <p:spPr bwMode="auto">
            <a:xfrm>
              <a:off x="7883525" y="3322637"/>
              <a:ext cx="911225" cy="617537"/>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defRPr/>
              </a:pPr>
              <a:endParaRPr lang="zh-CN" altLang="en-US" sz="1800">
                <a:solidFill>
                  <a:srgbClr val="1C1C1C"/>
                </a:solidFill>
                <a:latin typeface="+mn-lt"/>
                <a:ea typeface="+mn-ea"/>
              </a:endParaRPr>
            </a:p>
          </p:txBody>
        </p:sp>
        <p:sp>
          <p:nvSpPr>
            <p:cNvPr id="133" name="Line 98">
              <a:extLst>
                <a:ext uri="{FF2B5EF4-FFF2-40B4-BE49-F238E27FC236}">
                  <a16:creationId xmlns:a16="http://schemas.microsoft.com/office/drawing/2014/main" id="{31F04071-EFE8-0742-B515-1DAECF63877D}"/>
                </a:ext>
              </a:extLst>
            </p:cNvPr>
            <p:cNvSpPr>
              <a:spLocks noChangeShapeType="1"/>
            </p:cNvSpPr>
            <p:nvPr/>
          </p:nvSpPr>
          <p:spPr bwMode="auto">
            <a:xfrm>
              <a:off x="8294688" y="2774949"/>
              <a:ext cx="0" cy="547688"/>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sp>
          <p:nvSpPr>
            <p:cNvPr id="134" name="Line 99">
              <a:extLst>
                <a:ext uri="{FF2B5EF4-FFF2-40B4-BE49-F238E27FC236}">
                  <a16:creationId xmlns:a16="http://schemas.microsoft.com/office/drawing/2014/main" id="{5FB0A101-EBBD-B74B-AA65-5A2F3D3B7135}"/>
                </a:ext>
              </a:extLst>
            </p:cNvPr>
            <p:cNvSpPr>
              <a:spLocks noChangeShapeType="1"/>
            </p:cNvSpPr>
            <p:nvPr/>
          </p:nvSpPr>
          <p:spPr bwMode="auto">
            <a:xfrm>
              <a:off x="8294688" y="3940174"/>
              <a:ext cx="0" cy="549275"/>
            </a:xfrm>
            <a:prstGeom prst="line">
              <a:avLst/>
            </a:prstGeom>
            <a:noFill/>
            <a:ln w="9525">
              <a:solidFill>
                <a:schemeClr val="tx1"/>
              </a:solidFill>
              <a:round/>
              <a:tailEnd type="triangle" w="med" len="med"/>
            </a:ln>
            <a:effectLst/>
          </p:spPr>
          <p:txBody>
            <a:bodyPr wrap="none" anchor="ctr"/>
            <a:lstStyle/>
            <a:p>
              <a:pPr eaLnBrk="0" hangingPunct="0">
                <a:defRPr/>
              </a:pPr>
              <a:endParaRPr lang="zh-CN" altLang="en-US">
                <a:latin typeface="+mn-lt"/>
                <a:ea typeface="+mn-ea"/>
              </a:endParaRPr>
            </a:p>
          </p:txBody>
        </p:sp>
        <p:grpSp>
          <p:nvGrpSpPr>
            <p:cNvPr id="135" name="Group 100">
              <a:extLst>
                <a:ext uri="{FF2B5EF4-FFF2-40B4-BE49-F238E27FC236}">
                  <a16:creationId xmlns:a16="http://schemas.microsoft.com/office/drawing/2014/main" id="{CA895BB3-E652-B647-BC95-419B1C3C34C8}"/>
                </a:ext>
              </a:extLst>
            </p:cNvPr>
            <p:cNvGrpSpPr>
              <a:grpSpLocks noChangeAspect="1"/>
            </p:cNvGrpSpPr>
            <p:nvPr/>
          </p:nvGrpSpPr>
          <p:grpSpPr bwMode="auto">
            <a:xfrm>
              <a:off x="7924959" y="3391376"/>
              <a:ext cx="790098" cy="461486"/>
              <a:chOff x="4913" y="2137"/>
              <a:chExt cx="553" cy="323"/>
            </a:xfrm>
            <a:solidFill>
              <a:schemeClr val="bg1"/>
            </a:solidFill>
          </p:grpSpPr>
          <p:sp>
            <p:nvSpPr>
              <p:cNvPr id="136" name="AutoShape 101">
                <a:extLst>
                  <a:ext uri="{FF2B5EF4-FFF2-40B4-BE49-F238E27FC236}">
                    <a16:creationId xmlns:a16="http://schemas.microsoft.com/office/drawing/2014/main" id="{ED676D07-B01E-DF4F-AC22-960A5CEEA281}"/>
                  </a:ext>
                </a:extLst>
              </p:cNvPr>
              <p:cNvSpPr>
                <a:spLocks noChangeAspect="1" noChangeArrowheads="1" noTextEdit="1"/>
              </p:cNvSpPr>
              <p:nvPr/>
            </p:nvSpPr>
            <p:spPr bwMode="auto">
              <a:xfrm>
                <a:off x="4913" y="2137"/>
                <a:ext cx="553" cy="323"/>
              </a:xfrm>
              <a:prstGeom prst="rect">
                <a:avLst/>
              </a:prstGeom>
              <a:grpFill/>
              <a:ln>
                <a:noFill/>
              </a:ln>
            </p:spPr>
            <p:txBody>
              <a:bodyPr/>
              <a:lstStyle/>
              <a:p>
                <a:pPr eaLnBrk="0" hangingPunct="0">
                  <a:defRPr/>
                </a:pPr>
                <a:endParaRPr lang="zh-CN" altLang="en-US" b="1">
                  <a:solidFill>
                    <a:srgbClr val="1C1C1C"/>
                  </a:solidFill>
                  <a:latin typeface="+mn-lt"/>
                  <a:ea typeface="+mn-ea"/>
                </a:endParaRPr>
              </a:p>
            </p:txBody>
          </p:sp>
          <p:sp>
            <p:nvSpPr>
              <p:cNvPr id="137" name="Rectangle 102">
                <a:extLst>
                  <a:ext uri="{FF2B5EF4-FFF2-40B4-BE49-F238E27FC236}">
                    <a16:creationId xmlns:a16="http://schemas.microsoft.com/office/drawing/2014/main" id="{FE85981C-3901-1041-898A-729547A95E25}"/>
                  </a:ext>
                </a:extLst>
              </p:cNvPr>
              <p:cNvSpPr>
                <a:spLocks noChangeArrowheads="1"/>
              </p:cNvSpPr>
              <p:nvPr/>
            </p:nvSpPr>
            <p:spPr bwMode="auto">
              <a:xfrm>
                <a:off x="5363"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dirty="0">
                    <a:solidFill>
                      <a:srgbClr val="1C1C1C"/>
                    </a:solidFill>
                    <a:latin typeface="+mn-lt"/>
                    <a:ea typeface="+mn-ea"/>
                  </a:rPr>
                  <a:t>)</a:t>
                </a:r>
                <a:endParaRPr lang="en-US" altLang="zh-CN" b="1" dirty="0">
                  <a:solidFill>
                    <a:srgbClr val="1C1C1C"/>
                  </a:solidFill>
                  <a:latin typeface="+mn-lt"/>
                  <a:ea typeface="+mn-ea"/>
                </a:endParaRPr>
              </a:p>
            </p:txBody>
          </p:sp>
          <p:sp>
            <p:nvSpPr>
              <p:cNvPr id="138" name="Rectangle 103">
                <a:extLst>
                  <a:ext uri="{FF2B5EF4-FFF2-40B4-BE49-F238E27FC236}">
                    <a16:creationId xmlns:a16="http://schemas.microsoft.com/office/drawing/2014/main" id="{1AC230F0-9ED9-E44F-988B-4BB315D4D488}"/>
                  </a:ext>
                </a:extLst>
              </p:cNvPr>
              <p:cNvSpPr>
                <a:spLocks noChangeArrowheads="1"/>
              </p:cNvSpPr>
              <p:nvPr/>
            </p:nvSpPr>
            <p:spPr bwMode="auto">
              <a:xfrm>
                <a:off x="5176" y="2160"/>
                <a:ext cx="73"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dirty="0">
                    <a:solidFill>
                      <a:srgbClr val="1C1C1C"/>
                    </a:solidFill>
                    <a:latin typeface="+mn-lt"/>
                    <a:ea typeface="+mn-ea"/>
                  </a:rPr>
                  <a:t>(</a:t>
                </a:r>
                <a:endParaRPr lang="en-US" altLang="zh-CN" b="1" dirty="0">
                  <a:solidFill>
                    <a:srgbClr val="1C1C1C"/>
                  </a:solidFill>
                  <a:latin typeface="+mn-lt"/>
                  <a:ea typeface="+mn-ea"/>
                </a:endParaRPr>
              </a:p>
            </p:txBody>
          </p:sp>
          <p:sp>
            <p:nvSpPr>
              <p:cNvPr id="139" name="Rectangle 104">
                <a:extLst>
                  <a:ext uri="{FF2B5EF4-FFF2-40B4-BE49-F238E27FC236}">
                    <a16:creationId xmlns:a16="http://schemas.microsoft.com/office/drawing/2014/main" id="{C19A28AE-0B93-5847-B1CF-714CB27B96B2}"/>
                  </a:ext>
                </a:extLst>
              </p:cNvPr>
              <p:cNvSpPr>
                <a:spLocks noChangeArrowheads="1"/>
              </p:cNvSpPr>
              <p:nvPr/>
            </p:nvSpPr>
            <p:spPr bwMode="auto">
              <a:xfrm>
                <a:off x="5263" y="2160"/>
                <a:ext cx="109"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a:solidFill>
                      <a:srgbClr val="1C1C1C"/>
                    </a:solidFill>
                    <a:latin typeface="+mn-lt"/>
                    <a:ea typeface="+mn-ea"/>
                  </a:rPr>
                  <a:t>x</a:t>
                </a:r>
                <a:endParaRPr lang="en-US" altLang="zh-CN" b="1">
                  <a:solidFill>
                    <a:srgbClr val="1C1C1C"/>
                  </a:solidFill>
                  <a:latin typeface="+mn-lt"/>
                  <a:ea typeface="+mn-ea"/>
                </a:endParaRPr>
              </a:p>
            </p:txBody>
          </p:sp>
          <p:sp>
            <p:nvSpPr>
              <p:cNvPr id="140" name="Rectangle 105">
                <a:extLst>
                  <a:ext uri="{FF2B5EF4-FFF2-40B4-BE49-F238E27FC236}">
                    <a16:creationId xmlns:a16="http://schemas.microsoft.com/office/drawing/2014/main" id="{338C77A2-20C4-7D49-9243-F34B51C34BA3}"/>
                  </a:ext>
                </a:extLst>
              </p:cNvPr>
              <p:cNvSpPr>
                <a:spLocks noChangeArrowheads="1"/>
              </p:cNvSpPr>
              <p:nvPr/>
            </p:nvSpPr>
            <p:spPr bwMode="auto">
              <a:xfrm>
                <a:off x="4952" y="2160"/>
                <a:ext cx="146" cy="262"/>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30" b="1" i="1" dirty="0">
                    <a:solidFill>
                      <a:srgbClr val="1C1C1C"/>
                    </a:solidFill>
                    <a:latin typeface="+mn-lt"/>
                    <a:ea typeface="+mn-ea"/>
                  </a:rPr>
                  <a:t>E</a:t>
                </a:r>
                <a:endParaRPr lang="en-US" altLang="zh-CN" b="1" dirty="0">
                  <a:solidFill>
                    <a:srgbClr val="1C1C1C"/>
                  </a:solidFill>
                  <a:latin typeface="+mn-lt"/>
                  <a:ea typeface="+mn-ea"/>
                </a:endParaRPr>
              </a:p>
            </p:txBody>
          </p:sp>
          <p:sp>
            <p:nvSpPr>
              <p:cNvPr id="141" name="Rectangle 106">
                <a:extLst>
                  <a:ext uri="{FF2B5EF4-FFF2-40B4-BE49-F238E27FC236}">
                    <a16:creationId xmlns:a16="http://schemas.microsoft.com/office/drawing/2014/main" id="{CD64A8DA-EF54-5549-B1EB-BB8E29CFF785}"/>
                  </a:ext>
                </a:extLst>
              </p:cNvPr>
              <p:cNvSpPr>
                <a:spLocks noChangeArrowheads="1"/>
              </p:cNvSpPr>
              <p:nvPr/>
            </p:nvSpPr>
            <p:spPr bwMode="auto">
              <a:xfrm>
                <a:off x="5086" y="2294"/>
                <a:ext cx="65" cy="155"/>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440" b="1" i="1" dirty="0">
                    <a:solidFill>
                      <a:srgbClr val="1C1C1C"/>
                    </a:solidFill>
                    <a:latin typeface="+mn-lt"/>
                    <a:ea typeface="+mn-ea"/>
                  </a:rPr>
                  <a:t>k</a:t>
                </a:r>
                <a:endParaRPr lang="en-US" altLang="zh-CN" b="1" dirty="0">
                  <a:solidFill>
                    <a:srgbClr val="1C1C1C"/>
                  </a:solidFill>
                  <a:latin typeface="+mn-lt"/>
                  <a:ea typeface="+mn-ea"/>
                </a:endParaRPr>
              </a:p>
            </p:txBody>
          </p:sp>
        </p:grpSp>
        <mc:AlternateContent xmlns:mc="http://schemas.openxmlformats.org/markup-compatibility/2006" xmlns:a14="http://schemas.microsoft.com/office/drawing/2010/main">
          <mc:Choice Requires="a14">
            <p:sp>
              <p:nvSpPr>
                <p:cNvPr id="252965" name="对象 88">
                  <a:extLst>
                    <a:ext uri="{FF2B5EF4-FFF2-40B4-BE49-F238E27FC236}">
                      <a16:creationId xmlns:a16="http://schemas.microsoft.com/office/drawing/2014/main" id="{ED6A6CD4-A9C3-9C4C-BFB1-7033D76C29B2}"/>
                    </a:ext>
                  </a:extLst>
                </p:cNvPr>
                <p:cNvSpPr txBox="1"/>
                <p:nvPr/>
              </p:nvSpPr>
              <p:spPr bwMode="auto">
                <a:xfrm>
                  <a:off x="2376487" y="2449512"/>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252965" name="对象 88">
                  <a:extLst>
                    <a:ext uri="{FF2B5EF4-FFF2-40B4-BE49-F238E27FC236}">
                      <a16:creationId xmlns:a16="http://schemas.microsoft.com/office/drawing/2014/main" id="{ED6A6CD4-A9C3-9C4C-BFB1-7033D76C29B2}"/>
                    </a:ext>
                  </a:extLst>
                </p:cNvPr>
                <p:cNvSpPr txBox="1">
                  <a:spLocks noRot="1" noChangeAspect="1" noMove="1" noResize="1" noEditPoints="1" noAdjustHandles="1" noChangeArrowheads="1" noChangeShapeType="1" noTextEdit="1"/>
                </p:cNvSpPr>
                <p:nvPr/>
              </p:nvSpPr>
              <p:spPr bwMode="auto">
                <a:xfrm>
                  <a:off x="2376487" y="2449512"/>
                  <a:ext cx="447675" cy="479425"/>
                </a:xfrm>
                <a:prstGeom prst="rect">
                  <a:avLst/>
                </a:prstGeom>
                <a:blipFill>
                  <a:blip r:embed="rId8"/>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66" name="对象 91">
                  <a:extLst>
                    <a:ext uri="{FF2B5EF4-FFF2-40B4-BE49-F238E27FC236}">
                      <a16:creationId xmlns:a16="http://schemas.microsoft.com/office/drawing/2014/main" id="{7E367EC7-0CF9-0C4D-894A-05FCCC709E87}"/>
                    </a:ext>
                  </a:extLst>
                </p:cNvPr>
                <p:cNvSpPr txBox="1"/>
                <p:nvPr/>
              </p:nvSpPr>
              <p:spPr bwMode="auto">
                <a:xfrm>
                  <a:off x="4946650" y="2449512"/>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oMath>
                    </m:oMathPara>
                  </a14:m>
                  <a:endParaRPr lang="zh-CN" altLang="en-US"/>
                </a:p>
              </p:txBody>
            </p:sp>
          </mc:Choice>
          <mc:Fallback xmlns="">
            <p:sp>
              <p:nvSpPr>
                <p:cNvPr id="252966" name="对象 91">
                  <a:extLst>
                    <a:ext uri="{FF2B5EF4-FFF2-40B4-BE49-F238E27FC236}">
                      <a16:creationId xmlns:a16="http://schemas.microsoft.com/office/drawing/2014/main" id="{7E367EC7-0CF9-0C4D-894A-05FCCC709E87}"/>
                    </a:ext>
                  </a:extLst>
                </p:cNvPr>
                <p:cNvSpPr txBox="1">
                  <a:spLocks noRot="1" noChangeAspect="1" noMove="1" noResize="1" noEditPoints="1" noAdjustHandles="1" noChangeArrowheads="1" noChangeShapeType="1" noTextEdit="1"/>
                </p:cNvSpPr>
                <p:nvPr/>
              </p:nvSpPr>
              <p:spPr bwMode="auto">
                <a:xfrm>
                  <a:off x="4946650" y="2449512"/>
                  <a:ext cx="447675" cy="479425"/>
                </a:xfrm>
                <a:prstGeom prst="rect">
                  <a:avLst/>
                </a:prstGeom>
                <a:blipFill>
                  <a:blip r:embed="rId9"/>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67" name="对象 92">
                  <a:extLst>
                    <a:ext uri="{FF2B5EF4-FFF2-40B4-BE49-F238E27FC236}">
                      <a16:creationId xmlns:a16="http://schemas.microsoft.com/office/drawing/2014/main" id="{D28F2C0C-85C5-2F44-98C6-692260A99A88}"/>
                    </a:ext>
                  </a:extLst>
                </p:cNvPr>
                <p:cNvSpPr txBox="1"/>
                <p:nvPr/>
              </p:nvSpPr>
              <p:spPr bwMode="auto">
                <a:xfrm>
                  <a:off x="3648075" y="2449512"/>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252967" name="对象 92">
                  <a:extLst>
                    <a:ext uri="{FF2B5EF4-FFF2-40B4-BE49-F238E27FC236}">
                      <a16:creationId xmlns:a16="http://schemas.microsoft.com/office/drawing/2014/main" id="{D28F2C0C-85C5-2F44-98C6-692260A99A88}"/>
                    </a:ext>
                  </a:extLst>
                </p:cNvPr>
                <p:cNvSpPr txBox="1">
                  <a:spLocks noRot="1" noChangeAspect="1" noMove="1" noResize="1" noEditPoints="1" noAdjustHandles="1" noChangeArrowheads="1" noChangeShapeType="1" noTextEdit="1"/>
                </p:cNvSpPr>
                <p:nvPr/>
              </p:nvSpPr>
              <p:spPr bwMode="auto">
                <a:xfrm>
                  <a:off x="3648075" y="2449512"/>
                  <a:ext cx="447675" cy="479425"/>
                </a:xfrm>
                <a:prstGeom prst="rect">
                  <a:avLst/>
                </a:prstGeom>
                <a:blipFill>
                  <a:blip r:embed="rId10"/>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68" name="对象 93">
                  <a:extLst>
                    <a:ext uri="{FF2B5EF4-FFF2-40B4-BE49-F238E27FC236}">
                      <a16:creationId xmlns:a16="http://schemas.microsoft.com/office/drawing/2014/main" id="{4B1D69B7-327B-D64A-8A31-8A9117AED394}"/>
                    </a:ext>
                  </a:extLst>
                </p:cNvPr>
                <p:cNvSpPr txBox="1"/>
                <p:nvPr/>
              </p:nvSpPr>
              <p:spPr bwMode="auto">
                <a:xfrm>
                  <a:off x="6324600" y="2449512"/>
                  <a:ext cx="4476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4</m:t>
                            </m:r>
                          </m:sub>
                        </m:sSub>
                      </m:oMath>
                    </m:oMathPara>
                  </a14:m>
                  <a:endParaRPr lang="zh-CN" altLang="en-US"/>
                </a:p>
              </p:txBody>
            </p:sp>
          </mc:Choice>
          <mc:Fallback xmlns="">
            <p:sp>
              <p:nvSpPr>
                <p:cNvPr id="252968" name="对象 93">
                  <a:extLst>
                    <a:ext uri="{FF2B5EF4-FFF2-40B4-BE49-F238E27FC236}">
                      <a16:creationId xmlns:a16="http://schemas.microsoft.com/office/drawing/2014/main" id="{4B1D69B7-327B-D64A-8A31-8A9117AED394}"/>
                    </a:ext>
                  </a:extLst>
                </p:cNvPr>
                <p:cNvSpPr txBox="1">
                  <a:spLocks noRot="1" noChangeAspect="1" noMove="1" noResize="1" noEditPoints="1" noAdjustHandles="1" noChangeArrowheads="1" noChangeShapeType="1" noTextEdit="1"/>
                </p:cNvSpPr>
                <p:nvPr/>
              </p:nvSpPr>
              <p:spPr bwMode="auto">
                <a:xfrm>
                  <a:off x="6324600" y="2449512"/>
                  <a:ext cx="447675" cy="479425"/>
                </a:xfrm>
                <a:prstGeom prst="rect">
                  <a:avLst/>
                </a:prstGeom>
                <a:blipFill>
                  <a:blip r:embed="rId11"/>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69" name="对象 94">
                  <a:extLst>
                    <a:ext uri="{FF2B5EF4-FFF2-40B4-BE49-F238E27FC236}">
                      <a16:creationId xmlns:a16="http://schemas.microsoft.com/office/drawing/2014/main" id="{5E280F73-0704-6042-84AB-18A71BD0B8D4}"/>
                    </a:ext>
                  </a:extLst>
                </p:cNvPr>
                <p:cNvSpPr txBox="1"/>
                <p:nvPr/>
              </p:nvSpPr>
              <p:spPr bwMode="auto">
                <a:xfrm>
                  <a:off x="9636125" y="2449512"/>
                  <a:ext cx="11842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oMath>
                    </m:oMathPara>
                  </a14:m>
                  <a:endParaRPr lang="zh-CN" altLang="en-US"/>
                </a:p>
              </p:txBody>
            </p:sp>
          </mc:Choice>
          <mc:Fallback xmlns="">
            <p:sp>
              <p:nvSpPr>
                <p:cNvPr id="252969" name="对象 94">
                  <a:extLst>
                    <a:ext uri="{FF2B5EF4-FFF2-40B4-BE49-F238E27FC236}">
                      <a16:creationId xmlns:a16="http://schemas.microsoft.com/office/drawing/2014/main" id="{5E280F73-0704-6042-84AB-18A71BD0B8D4}"/>
                    </a:ext>
                  </a:extLst>
                </p:cNvPr>
                <p:cNvSpPr txBox="1">
                  <a:spLocks noRot="1" noChangeAspect="1" noMove="1" noResize="1" noEditPoints="1" noAdjustHandles="1" noChangeArrowheads="1" noChangeShapeType="1" noTextEdit="1"/>
                </p:cNvSpPr>
                <p:nvPr/>
              </p:nvSpPr>
              <p:spPr bwMode="auto">
                <a:xfrm>
                  <a:off x="9636125" y="2449512"/>
                  <a:ext cx="1184275" cy="479425"/>
                </a:xfrm>
                <a:prstGeom prst="rect">
                  <a:avLst/>
                </a:prstGeom>
                <a:blipFill>
                  <a:blip r:embed="rId1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70" name="对象 95">
                  <a:extLst>
                    <a:ext uri="{FF2B5EF4-FFF2-40B4-BE49-F238E27FC236}">
                      <a16:creationId xmlns:a16="http://schemas.microsoft.com/office/drawing/2014/main" id="{F8BCBE8A-EDD6-5E44-A90A-3399BA0CA28D}"/>
                    </a:ext>
                  </a:extLst>
                </p:cNvPr>
                <p:cNvSpPr txBox="1"/>
                <p:nvPr/>
              </p:nvSpPr>
              <p:spPr bwMode="auto">
                <a:xfrm>
                  <a:off x="8348662" y="2449512"/>
                  <a:ext cx="47942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252970" name="对象 95">
                  <a:extLst>
                    <a:ext uri="{FF2B5EF4-FFF2-40B4-BE49-F238E27FC236}">
                      <a16:creationId xmlns:a16="http://schemas.microsoft.com/office/drawing/2014/main" id="{F8BCBE8A-EDD6-5E44-A90A-3399BA0CA28D}"/>
                    </a:ext>
                  </a:extLst>
                </p:cNvPr>
                <p:cNvSpPr txBox="1">
                  <a:spLocks noRot="1" noChangeAspect="1" noMove="1" noResize="1" noEditPoints="1" noAdjustHandles="1" noChangeArrowheads="1" noChangeShapeType="1" noTextEdit="1"/>
                </p:cNvSpPr>
                <p:nvPr/>
              </p:nvSpPr>
              <p:spPr bwMode="auto">
                <a:xfrm>
                  <a:off x="8348662" y="2449512"/>
                  <a:ext cx="479425" cy="479425"/>
                </a:xfrm>
                <a:prstGeom prst="rect">
                  <a:avLst/>
                </a:prstGeom>
                <a:blipFill>
                  <a:blip r:embed="rId1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71" name="对象 96">
                  <a:extLst>
                    <a:ext uri="{FF2B5EF4-FFF2-40B4-BE49-F238E27FC236}">
                      <a16:creationId xmlns:a16="http://schemas.microsoft.com/office/drawing/2014/main" id="{8F156F98-58E4-D449-88F2-B99AE489DDFB}"/>
                    </a:ext>
                  </a:extLst>
                </p:cNvPr>
                <p:cNvSpPr txBox="1"/>
                <p:nvPr/>
              </p:nvSpPr>
              <p:spPr bwMode="auto">
                <a:xfrm>
                  <a:off x="2379662" y="4354512"/>
                  <a:ext cx="35242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252971" name="对象 96">
                  <a:extLst>
                    <a:ext uri="{FF2B5EF4-FFF2-40B4-BE49-F238E27FC236}">
                      <a16:creationId xmlns:a16="http://schemas.microsoft.com/office/drawing/2014/main" id="{8F156F98-58E4-D449-88F2-B99AE489DDFB}"/>
                    </a:ext>
                  </a:extLst>
                </p:cNvPr>
                <p:cNvSpPr txBox="1">
                  <a:spLocks noRot="1" noChangeAspect="1" noMove="1" noResize="1" noEditPoints="1" noAdjustHandles="1" noChangeArrowheads="1" noChangeShapeType="1" noTextEdit="1"/>
                </p:cNvSpPr>
                <p:nvPr/>
              </p:nvSpPr>
              <p:spPr bwMode="auto">
                <a:xfrm>
                  <a:off x="2379662" y="4354512"/>
                  <a:ext cx="352425" cy="479425"/>
                </a:xfrm>
                <a:prstGeom prst="rect">
                  <a:avLst/>
                </a:prstGeom>
                <a:blipFill>
                  <a:blip r:embed="rId1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72" name="对象 97">
                  <a:extLst>
                    <a:ext uri="{FF2B5EF4-FFF2-40B4-BE49-F238E27FC236}">
                      <a16:creationId xmlns:a16="http://schemas.microsoft.com/office/drawing/2014/main" id="{14A545F7-D0B4-CD4B-B492-F6DED7109DD4}"/>
                    </a:ext>
                  </a:extLst>
                </p:cNvPr>
                <p:cNvSpPr txBox="1"/>
                <p:nvPr/>
              </p:nvSpPr>
              <p:spPr bwMode="auto">
                <a:xfrm>
                  <a:off x="4976812" y="4354512"/>
                  <a:ext cx="35242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3</m:t>
                            </m:r>
                          </m:sub>
                        </m:sSub>
                      </m:oMath>
                    </m:oMathPara>
                  </a14:m>
                  <a:endParaRPr lang="zh-CN" altLang="en-US"/>
                </a:p>
              </p:txBody>
            </p:sp>
          </mc:Choice>
          <mc:Fallback xmlns="">
            <p:sp>
              <p:nvSpPr>
                <p:cNvPr id="252972" name="对象 97">
                  <a:extLst>
                    <a:ext uri="{FF2B5EF4-FFF2-40B4-BE49-F238E27FC236}">
                      <a16:creationId xmlns:a16="http://schemas.microsoft.com/office/drawing/2014/main" id="{14A545F7-D0B4-CD4B-B492-F6DED7109DD4}"/>
                    </a:ext>
                  </a:extLst>
                </p:cNvPr>
                <p:cNvSpPr txBox="1">
                  <a:spLocks noRot="1" noChangeAspect="1" noMove="1" noResize="1" noEditPoints="1" noAdjustHandles="1" noChangeArrowheads="1" noChangeShapeType="1" noTextEdit="1"/>
                </p:cNvSpPr>
                <p:nvPr/>
              </p:nvSpPr>
              <p:spPr bwMode="auto">
                <a:xfrm>
                  <a:off x="4976812" y="4354512"/>
                  <a:ext cx="352425" cy="479425"/>
                </a:xfrm>
                <a:prstGeom prst="rect">
                  <a:avLst/>
                </a:prstGeom>
                <a:blipFill>
                  <a:blip r:embed="rId1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73" name="对象 98">
                  <a:extLst>
                    <a:ext uri="{FF2B5EF4-FFF2-40B4-BE49-F238E27FC236}">
                      <a16:creationId xmlns:a16="http://schemas.microsoft.com/office/drawing/2014/main" id="{69A7CAE8-2A6F-AA45-9945-3883E0E814C3}"/>
                    </a:ext>
                  </a:extLst>
                </p:cNvPr>
                <p:cNvSpPr txBox="1"/>
                <p:nvPr/>
              </p:nvSpPr>
              <p:spPr bwMode="auto">
                <a:xfrm>
                  <a:off x="3630612" y="4354512"/>
                  <a:ext cx="3841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252973" name="对象 98">
                  <a:extLst>
                    <a:ext uri="{FF2B5EF4-FFF2-40B4-BE49-F238E27FC236}">
                      <a16:creationId xmlns:a16="http://schemas.microsoft.com/office/drawing/2014/main" id="{69A7CAE8-2A6F-AA45-9945-3883E0E814C3}"/>
                    </a:ext>
                  </a:extLst>
                </p:cNvPr>
                <p:cNvSpPr txBox="1">
                  <a:spLocks noRot="1" noChangeAspect="1" noMove="1" noResize="1" noEditPoints="1" noAdjustHandles="1" noChangeArrowheads="1" noChangeShapeType="1" noTextEdit="1"/>
                </p:cNvSpPr>
                <p:nvPr/>
              </p:nvSpPr>
              <p:spPr bwMode="auto">
                <a:xfrm>
                  <a:off x="3630612" y="4354512"/>
                  <a:ext cx="384175" cy="479425"/>
                </a:xfrm>
                <a:prstGeom prst="rect">
                  <a:avLst/>
                </a:prstGeom>
                <a:blipFill>
                  <a:blip r:embed="rId1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74" name="对象 99">
                  <a:extLst>
                    <a:ext uri="{FF2B5EF4-FFF2-40B4-BE49-F238E27FC236}">
                      <a16:creationId xmlns:a16="http://schemas.microsoft.com/office/drawing/2014/main" id="{D88B0B73-3F79-8F46-8627-EFC28041BBBC}"/>
                    </a:ext>
                  </a:extLst>
                </p:cNvPr>
                <p:cNvSpPr txBox="1"/>
                <p:nvPr/>
              </p:nvSpPr>
              <p:spPr bwMode="auto">
                <a:xfrm>
                  <a:off x="6297612" y="4354512"/>
                  <a:ext cx="384175"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4</m:t>
                            </m:r>
                          </m:sub>
                        </m:sSub>
                      </m:oMath>
                    </m:oMathPara>
                  </a14:m>
                  <a:endParaRPr lang="zh-CN" altLang="en-US"/>
                </a:p>
              </p:txBody>
            </p:sp>
          </mc:Choice>
          <mc:Fallback xmlns="">
            <p:sp>
              <p:nvSpPr>
                <p:cNvPr id="252974" name="对象 99">
                  <a:extLst>
                    <a:ext uri="{FF2B5EF4-FFF2-40B4-BE49-F238E27FC236}">
                      <a16:creationId xmlns:a16="http://schemas.microsoft.com/office/drawing/2014/main" id="{D88B0B73-3F79-8F46-8627-EFC28041BBBC}"/>
                    </a:ext>
                  </a:extLst>
                </p:cNvPr>
                <p:cNvSpPr txBox="1">
                  <a:spLocks noRot="1" noChangeAspect="1" noMove="1" noResize="1" noEditPoints="1" noAdjustHandles="1" noChangeArrowheads="1" noChangeShapeType="1" noTextEdit="1"/>
                </p:cNvSpPr>
                <p:nvPr/>
              </p:nvSpPr>
              <p:spPr bwMode="auto">
                <a:xfrm>
                  <a:off x="6297612" y="4354512"/>
                  <a:ext cx="384175" cy="479425"/>
                </a:xfrm>
                <a:prstGeom prst="rect">
                  <a:avLst/>
                </a:prstGeom>
                <a:blipFill>
                  <a:blip r:embed="rId1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75" name="对象 100">
                  <a:extLst>
                    <a:ext uri="{FF2B5EF4-FFF2-40B4-BE49-F238E27FC236}">
                      <a16:creationId xmlns:a16="http://schemas.microsoft.com/office/drawing/2014/main" id="{934FE3B4-0703-0447-AA91-00AF507A8DA9}"/>
                    </a:ext>
                  </a:extLst>
                </p:cNvPr>
                <p:cNvSpPr txBox="1"/>
                <p:nvPr/>
              </p:nvSpPr>
              <p:spPr bwMode="auto">
                <a:xfrm>
                  <a:off x="9607550" y="4354512"/>
                  <a:ext cx="576262"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252975" name="对象 100">
                  <a:extLst>
                    <a:ext uri="{FF2B5EF4-FFF2-40B4-BE49-F238E27FC236}">
                      <a16:creationId xmlns:a16="http://schemas.microsoft.com/office/drawing/2014/main" id="{934FE3B4-0703-0447-AA91-00AF507A8DA9}"/>
                    </a:ext>
                  </a:extLst>
                </p:cNvPr>
                <p:cNvSpPr txBox="1">
                  <a:spLocks noRot="1" noChangeAspect="1" noMove="1" noResize="1" noEditPoints="1" noAdjustHandles="1" noChangeArrowheads="1" noChangeShapeType="1" noTextEdit="1"/>
                </p:cNvSpPr>
                <p:nvPr/>
              </p:nvSpPr>
              <p:spPr bwMode="auto">
                <a:xfrm>
                  <a:off x="9607550" y="4354512"/>
                  <a:ext cx="576262" cy="479425"/>
                </a:xfrm>
                <a:prstGeom prst="rect">
                  <a:avLst/>
                </a:prstGeom>
                <a:blipFill>
                  <a:blip r:embed="rId18"/>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976" name="对象 101">
                  <a:extLst>
                    <a:ext uri="{FF2B5EF4-FFF2-40B4-BE49-F238E27FC236}">
                      <a16:creationId xmlns:a16="http://schemas.microsoft.com/office/drawing/2014/main" id="{E061569B-60BF-224F-99B2-D9C325004F98}"/>
                    </a:ext>
                  </a:extLst>
                </p:cNvPr>
                <p:cNvSpPr txBox="1"/>
                <p:nvPr/>
              </p:nvSpPr>
              <p:spPr bwMode="auto">
                <a:xfrm>
                  <a:off x="8326437" y="4354512"/>
                  <a:ext cx="385763" cy="4794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252976" name="对象 101">
                  <a:extLst>
                    <a:ext uri="{FF2B5EF4-FFF2-40B4-BE49-F238E27FC236}">
                      <a16:creationId xmlns:a16="http://schemas.microsoft.com/office/drawing/2014/main" id="{E061569B-60BF-224F-99B2-D9C325004F98}"/>
                    </a:ext>
                  </a:extLst>
                </p:cNvPr>
                <p:cNvSpPr txBox="1">
                  <a:spLocks noRot="1" noChangeAspect="1" noMove="1" noResize="1" noEditPoints="1" noAdjustHandles="1" noChangeArrowheads="1" noChangeShapeType="1" noTextEdit="1"/>
                </p:cNvSpPr>
                <p:nvPr/>
              </p:nvSpPr>
              <p:spPr bwMode="auto">
                <a:xfrm>
                  <a:off x="8326437" y="4354512"/>
                  <a:ext cx="385763" cy="479425"/>
                </a:xfrm>
                <a:prstGeom prst="rect">
                  <a:avLst/>
                </a:prstGeom>
                <a:blipFill>
                  <a:blip r:embed="rId19"/>
                  <a:stretch>
                    <a:fillRect/>
                  </a:stretch>
                </a:blipFill>
                <a:ln>
                  <a:noFill/>
                </a:ln>
                <a:extLst/>
              </p:spPr>
              <p:txBody>
                <a:bodyPr/>
                <a:lstStyle/>
                <a:p>
                  <a:r>
                    <a:rPr lang="zh-CN" altLang="en-US">
                      <a:noFill/>
                    </a:rPr>
                    <a:t> </a:t>
                  </a:r>
                </a:p>
              </p:txBody>
            </p:sp>
          </mc:Fallback>
        </mc:AlternateContent>
      </p:grpSp>
    </p:spTree>
  </p:cSld>
  <p:clrMapOvr>
    <a:masterClrMapping/>
  </p:clrMapOvr>
  <p:transition spd="slow">
    <p:pull dir="ru"/>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标题 1">
            <a:extLst>
              <a:ext uri="{FF2B5EF4-FFF2-40B4-BE49-F238E27FC236}">
                <a16:creationId xmlns:a16="http://schemas.microsoft.com/office/drawing/2014/main" id="{B73402D3-D8CD-D846-B177-9399FA4E7F20}"/>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密码反馈</a:t>
            </a:r>
            <a:r>
              <a:rPr lang="en-US" altLang="zh-CN">
                <a:solidFill>
                  <a:srgbClr val="1F4E79"/>
                </a:solidFill>
              </a:rPr>
              <a:t>CFB</a:t>
            </a:r>
            <a:r>
              <a:rPr lang="zh-CN" altLang="en-US">
                <a:solidFill>
                  <a:srgbClr val="1F4E79"/>
                </a:solidFill>
              </a:rPr>
              <a:t>（</a:t>
            </a:r>
            <a:r>
              <a:rPr lang="en-US" altLang="zh-CN">
                <a:solidFill>
                  <a:srgbClr val="1F4E79"/>
                </a:solidFill>
              </a:rPr>
              <a:t>Cipher Feedback</a:t>
            </a:r>
            <a:r>
              <a:rPr lang="zh-CN" altLang="en-US">
                <a:solidFill>
                  <a:srgbClr val="1F4E79"/>
                </a:solidFill>
              </a:rPr>
              <a:t>）模式</a:t>
            </a:r>
          </a:p>
        </p:txBody>
      </p:sp>
      <p:sp>
        <p:nvSpPr>
          <p:cNvPr id="254978" name="内容占位符 2">
            <a:extLst>
              <a:ext uri="{FF2B5EF4-FFF2-40B4-BE49-F238E27FC236}">
                <a16:creationId xmlns:a16="http://schemas.microsoft.com/office/drawing/2014/main" id="{27E38CA5-6977-8841-9730-275E7AAC96E0}"/>
              </a:ext>
            </a:extLst>
          </p:cNvPr>
          <p:cNvSpPr>
            <a:spLocks noGrp="1" noChangeArrowheads="1"/>
          </p:cNvSpPr>
          <p:nvPr>
            <p:ph idx="1"/>
          </p:nvPr>
        </p:nvSpPr>
        <p:spPr>
          <a:xfrm>
            <a:off x="823913" y="1465263"/>
            <a:ext cx="10515600" cy="4579937"/>
          </a:xfrm>
        </p:spPr>
        <p:txBody>
          <a:bodyPr/>
          <a:lstStyle/>
          <a:p>
            <a:pPr eaLnBrk="1" hangingPunct="1">
              <a:lnSpc>
                <a:spcPct val="125000"/>
              </a:lnSpc>
              <a:spcBef>
                <a:spcPct val="0"/>
              </a:spcBef>
            </a:pPr>
            <a:r>
              <a:rPr lang="zh-CN" altLang="en-US" sz="2800">
                <a:latin typeface="Times New Roman" panose="02020603050405020304" pitchFamily="18" charset="0"/>
              </a:rPr>
              <a:t>若待加密消息需</a:t>
            </a:r>
            <a:r>
              <a:rPr lang="zh-CN" altLang="en-US" sz="2800" u="sng">
                <a:latin typeface="Times New Roman" panose="02020603050405020304" pitchFamily="18" charset="0"/>
              </a:rPr>
              <a:t>按字符、字节或比特</a:t>
            </a:r>
            <a:r>
              <a:rPr lang="zh-CN" altLang="en-US" sz="2800">
                <a:latin typeface="Times New Roman" panose="02020603050405020304" pitchFamily="18" charset="0"/>
              </a:rPr>
              <a:t>处理时，可采用</a:t>
            </a:r>
            <a:r>
              <a:rPr lang="en-US" altLang="zh-CN" sz="2800">
                <a:latin typeface="Times New Roman" panose="02020603050405020304" pitchFamily="18" charset="0"/>
              </a:rPr>
              <a:t>CFB</a:t>
            </a:r>
            <a:r>
              <a:rPr lang="zh-CN" altLang="en-US" sz="2800">
                <a:latin typeface="Times New Roman" panose="02020603050405020304" pitchFamily="18" charset="0"/>
              </a:rPr>
              <a:t>模式。并称待加密消息按 </a:t>
            </a:r>
            <a:r>
              <a:rPr lang="en-US" altLang="zh-CN" sz="2800" i="1">
                <a:latin typeface="Times New Roman" panose="02020603050405020304" pitchFamily="18" charset="0"/>
              </a:rPr>
              <a:t>r</a:t>
            </a:r>
            <a:r>
              <a:rPr lang="en-US" altLang="zh-CN" sz="2800">
                <a:latin typeface="Times New Roman" panose="02020603050405020304" pitchFamily="18" charset="0"/>
              </a:rPr>
              <a:t> </a:t>
            </a:r>
            <a:r>
              <a:rPr lang="zh-CN" altLang="en-US" sz="2800">
                <a:latin typeface="Times New Roman" panose="02020603050405020304" pitchFamily="18" charset="0"/>
              </a:rPr>
              <a:t>比特处理的</a:t>
            </a:r>
            <a:r>
              <a:rPr lang="en-US" altLang="zh-CN" sz="2800">
                <a:latin typeface="Times New Roman" panose="02020603050405020304" pitchFamily="18" charset="0"/>
              </a:rPr>
              <a:t>CFB</a:t>
            </a:r>
            <a:r>
              <a:rPr lang="zh-CN" altLang="en-US" sz="2800">
                <a:latin typeface="Times New Roman" panose="02020603050405020304" pitchFamily="18" charset="0"/>
              </a:rPr>
              <a:t>模式为</a:t>
            </a:r>
            <a:r>
              <a:rPr lang="zh-CN" altLang="en-US" sz="2800" i="1">
                <a:latin typeface="Times New Roman" panose="02020603050405020304" pitchFamily="18" charset="0"/>
              </a:rPr>
              <a:t> </a:t>
            </a:r>
            <a:r>
              <a:rPr lang="en-US" altLang="zh-CN" sz="2800" i="1">
                <a:latin typeface="Times New Roman" panose="02020603050405020304" pitchFamily="18" charset="0"/>
              </a:rPr>
              <a:t>r </a:t>
            </a:r>
            <a:r>
              <a:rPr lang="zh-CN" altLang="en-US" sz="2800">
                <a:latin typeface="Times New Roman" panose="02020603050405020304" pitchFamily="18" charset="0"/>
              </a:rPr>
              <a:t>比特</a:t>
            </a:r>
            <a:r>
              <a:rPr lang="en-US" altLang="zh-CN" sz="2800">
                <a:latin typeface="Times New Roman" panose="02020603050405020304" pitchFamily="18" charset="0"/>
              </a:rPr>
              <a:t>CFB</a:t>
            </a:r>
            <a:r>
              <a:rPr lang="zh-CN" altLang="en-US" sz="2800">
                <a:latin typeface="Times New Roman" panose="02020603050405020304" pitchFamily="18" charset="0"/>
              </a:rPr>
              <a:t>模式。</a:t>
            </a:r>
          </a:p>
          <a:p>
            <a:pPr eaLnBrk="1" hangingPunct="1">
              <a:lnSpc>
                <a:spcPct val="125000"/>
              </a:lnSpc>
              <a:spcBef>
                <a:spcPct val="0"/>
              </a:spcBef>
            </a:pPr>
            <a:r>
              <a:rPr lang="zh-CN" altLang="en-US" sz="2800">
                <a:latin typeface="Times New Roman" panose="02020603050405020304" pitchFamily="18" charset="0"/>
              </a:rPr>
              <a:t>适用范围:</a:t>
            </a:r>
          </a:p>
          <a:p>
            <a:pPr lvl="1" eaLnBrk="1" hangingPunct="1">
              <a:lnSpc>
                <a:spcPct val="125000"/>
              </a:lnSpc>
              <a:spcBef>
                <a:spcPct val="0"/>
              </a:spcBef>
            </a:pPr>
            <a:r>
              <a:rPr lang="zh-CN" altLang="en-US" sz="2400">
                <a:latin typeface="Times New Roman" panose="02020603050405020304" pitchFamily="18" charset="0"/>
              </a:rPr>
              <a:t>适用于每次处理 </a:t>
            </a:r>
            <a:r>
              <a:rPr lang="en-US" altLang="zh-CN" sz="2400" i="1">
                <a:latin typeface="Times New Roman" panose="02020603050405020304" pitchFamily="18" charset="0"/>
              </a:rPr>
              <a:t>r</a:t>
            </a:r>
            <a:r>
              <a:rPr lang="zh-CN" altLang="zh-CN" sz="2400">
                <a:latin typeface="Times New Roman" panose="02020603050405020304" pitchFamily="18" charset="0"/>
              </a:rPr>
              <a:t>比特明文块的特定需求的加密情形,能灵活适应数据各格式的需要</a:t>
            </a:r>
          </a:p>
          <a:p>
            <a:pPr lvl="1" eaLnBrk="1" hangingPunct="1">
              <a:lnSpc>
                <a:spcPct val="125000"/>
              </a:lnSpc>
              <a:spcBef>
                <a:spcPct val="0"/>
              </a:spcBef>
            </a:pPr>
            <a:r>
              <a:rPr lang="zh-CN" altLang="zh-CN" sz="2400">
                <a:latin typeface="Times New Roman" panose="02020603050405020304" pitchFamily="18" charset="0"/>
              </a:rPr>
              <a:t>例如,数据库加密要求加密时不能改变明文的字节长度,这时就要以明文字节为单位进行加密</a:t>
            </a:r>
          </a:p>
          <a:p>
            <a:endParaRPr lang="zh-CN" altLang="en-US"/>
          </a:p>
        </p:txBody>
      </p:sp>
    </p:spTree>
  </p:cSld>
  <p:clrMapOvr>
    <a:masterClrMapping/>
  </p:clrMapOvr>
  <p:transition spd="slow">
    <p:pull dir="ru"/>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BDF69B-5593-6443-A45C-2FD188AF1BFE}"/>
              </a:ext>
            </a:extLst>
          </p:cNvPr>
          <p:cNvSpPr>
            <a:spLocks noGrp="1"/>
          </p:cNvSpPr>
          <p:nvPr>
            <p:ph type="title"/>
          </p:nvPr>
        </p:nvSpPr>
        <p:spPr>
          <a:xfrm>
            <a:off x="1465263" y="365125"/>
            <a:ext cx="9037637" cy="668338"/>
          </a:xfrm>
        </p:spPr>
        <p:txBody>
          <a:bodyPr/>
          <a:lstStyle/>
          <a:p>
            <a:pPr>
              <a:defRPr/>
            </a:pPr>
            <a:r>
              <a:rPr lang="en-US" altLang="zh-CN" dirty="0"/>
              <a:t>CFB</a:t>
            </a:r>
            <a:r>
              <a:rPr lang="zh-CN" altLang="en-US" dirty="0"/>
              <a:t>的加密解密</a:t>
            </a:r>
          </a:p>
        </p:txBody>
      </p:sp>
      <p:sp>
        <p:nvSpPr>
          <p:cNvPr id="257026" name="内容占位符 2">
            <a:extLst>
              <a:ext uri="{FF2B5EF4-FFF2-40B4-BE49-F238E27FC236}">
                <a16:creationId xmlns:a16="http://schemas.microsoft.com/office/drawing/2014/main" id="{DE8A9DB1-5602-D145-9875-2D68EF7009F5}"/>
              </a:ext>
            </a:extLst>
          </p:cNvPr>
          <p:cNvSpPr>
            <a:spLocks noGrp="1" noChangeArrowheads="1"/>
          </p:cNvSpPr>
          <p:nvPr>
            <p:ph idx="1"/>
          </p:nvPr>
        </p:nvSpPr>
        <p:spPr>
          <a:xfrm>
            <a:off x="838200" y="1169988"/>
            <a:ext cx="10515600" cy="4578350"/>
          </a:xfrm>
        </p:spPr>
        <p:txBody>
          <a:bodyPr/>
          <a:lstStyle/>
          <a:p>
            <a:r>
              <a:rPr lang="zh-CN" altLang="en-US">
                <a:latin typeface="Times New Roman" panose="02020603050405020304" pitchFamily="18" charset="0"/>
              </a:rPr>
              <a:t>若记</a:t>
            </a:r>
            <a:r>
              <a:rPr lang="en-US" altLang="zh-CN" i="1">
                <a:latin typeface="Times New Roman" panose="02020603050405020304" pitchFamily="18" charset="0"/>
              </a:rPr>
              <a:t>IV</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i="1" baseline="-25000">
                <a:latin typeface="Times New Roman" panose="02020603050405020304" pitchFamily="18" charset="0"/>
              </a:rPr>
              <a:t>-l</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baseline="-25000">
                <a:latin typeface="Times New Roman" panose="02020603050405020304" pitchFamily="18" charset="0"/>
              </a:rPr>
              <a:t>-1 </a:t>
            </a:r>
            <a:r>
              <a:rPr lang="en-US" altLang="zh-CN" i="1">
                <a:latin typeface="Times New Roman" panose="02020603050405020304" pitchFamily="18" charset="0"/>
              </a:rPr>
              <a:t>c</a:t>
            </a:r>
            <a:r>
              <a:rPr lang="en-US" altLang="zh-CN" baseline="-25000">
                <a:latin typeface="Times New Roman" panose="02020603050405020304" pitchFamily="18" charset="0"/>
              </a:rPr>
              <a:t>0</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i="1" baseline="-25000">
                <a:latin typeface="Times New Roman" panose="02020603050405020304" pitchFamily="18" charset="0"/>
              </a:rPr>
              <a:t>i</a:t>
            </a:r>
            <a:r>
              <a:rPr lang="en-US" altLang="zh-CN">
                <a:latin typeface="Times New Roman" panose="02020603050405020304" pitchFamily="18" charset="0"/>
              </a:rPr>
              <a:t>|=r</a:t>
            </a:r>
            <a:r>
              <a:rPr lang="zh-CN" altLang="en-US">
                <a:latin typeface="Times New Roman" panose="02020603050405020304" pitchFamily="18" charset="0"/>
              </a:rPr>
              <a:t>，则加密过程可表示为:</a:t>
            </a:r>
          </a:p>
          <a:p>
            <a:endParaRPr lang="zh-CN" altLang="en-US"/>
          </a:p>
        </p:txBody>
      </p:sp>
      <p:sp>
        <p:nvSpPr>
          <p:cNvPr id="257027" name="Rectangle 6">
            <a:extLst>
              <a:ext uri="{FF2B5EF4-FFF2-40B4-BE49-F238E27FC236}">
                <a16:creationId xmlns:a16="http://schemas.microsoft.com/office/drawing/2014/main" id="{819B3060-6313-EF4C-AECC-DFCAA6381613}"/>
              </a:ext>
            </a:extLst>
          </p:cNvPr>
          <p:cNvSpPr>
            <a:spLocks noChangeArrowheads="1"/>
          </p:cNvSpPr>
          <p:nvPr/>
        </p:nvSpPr>
        <p:spPr bwMode="auto">
          <a:xfrm>
            <a:off x="1295400" y="3178175"/>
            <a:ext cx="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nchor="ctr">
            <a:spAutoFit/>
          </a:bodyPr>
          <a:lstStyle/>
          <a:p>
            <a:endParaRPr lang="zh-CN" altLang="en-US">
              <a:latin typeface="Arial" panose="020B0604020202020204" pitchFamily="34" charset="0"/>
            </a:endParaRPr>
          </a:p>
        </p:txBody>
      </p:sp>
      <p:sp>
        <p:nvSpPr>
          <p:cNvPr id="257028" name="Rectangle 9">
            <a:extLst>
              <a:ext uri="{FF2B5EF4-FFF2-40B4-BE49-F238E27FC236}">
                <a16:creationId xmlns:a16="http://schemas.microsoft.com/office/drawing/2014/main" id="{16AF7190-02A8-0540-B57A-DFF494E8FD0C}"/>
              </a:ext>
            </a:extLst>
          </p:cNvPr>
          <p:cNvSpPr>
            <a:spLocks noChangeArrowheads="1"/>
          </p:cNvSpPr>
          <p:nvPr/>
        </p:nvSpPr>
        <p:spPr bwMode="auto">
          <a:xfrm>
            <a:off x="1295400" y="2306638"/>
            <a:ext cx="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nchor="ctr">
            <a:spAutoFit/>
          </a:bodyPr>
          <a:lstStyle/>
          <a:p>
            <a:endParaRPr lang="zh-CN" altLang="en-US">
              <a:latin typeface="Arial" panose="020B0604020202020204" pitchFamily="34" charset="0"/>
            </a:endParaRPr>
          </a:p>
        </p:txBody>
      </p:sp>
      <p:pic>
        <p:nvPicPr>
          <p:cNvPr id="257029" name="图片 3">
            <a:extLst>
              <a:ext uri="{FF2B5EF4-FFF2-40B4-BE49-F238E27FC236}">
                <a16:creationId xmlns:a16="http://schemas.microsoft.com/office/drawing/2014/main" id="{BDBC3B30-FA96-3D40-8387-E1D8C9B67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6225" y="1581150"/>
            <a:ext cx="7064375" cy="432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57030" name="对象 5">
                <a:extLst>
                  <a:ext uri="{FF2B5EF4-FFF2-40B4-BE49-F238E27FC236}">
                    <a16:creationId xmlns:a16="http://schemas.microsoft.com/office/drawing/2014/main" id="{19F9D73E-7017-AD4E-BE70-AA06452852A7}"/>
                  </a:ext>
                </a:extLst>
              </p:cNvPr>
              <p:cNvSpPr txBox="1"/>
              <p:nvPr/>
            </p:nvSpPr>
            <p:spPr bwMode="auto">
              <a:xfrm>
                <a:off x="8037513" y="1143000"/>
                <a:ext cx="3684587" cy="403225"/>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𝑙𝑒𝑓</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𝑟</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𝑙</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57030" name="对象 5">
                <a:extLst>
                  <a:ext uri="{FF2B5EF4-FFF2-40B4-BE49-F238E27FC236}">
                    <a16:creationId xmlns:a16="http://schemas.microsoft.com/office/drawing/2014/main" id="{19F9D73E-7017-AD4E-BE70-AA06452852A7}"/>
                  </a:ext>
                </a:extLst>
              </p:cNvPr>
              <p:cNvSpPr txBox="1">
                <a:spLocks noRot="1" noChangeAspect="1" noMove="1" noResize="1" noEditPoints="1" noAdjustHandles="1" noChangeArrowheads="1" noChangeShapeType="1" noTextEdit="1"/>
              </p:cNvSpPr>
              <p:nvPr/>
            </p:nvSpPr>
            <p:spPr bwMode="auto">
              <a:xfrm>
                <a:off x="8037513" y="1143000"/>
                <a:ext cx="3684587" cy="403225"/>
              </a:xfrm>
              <a:prstGeom prst="rect">
                <a:avLst/>
              </a:prstGeom>
              <a:blipFill>
                <a:blip r:embed="rId4"/>
                <a:stretch>
                  <a:fillRect b="-1515"/>
                </a:stretch>
              </a:blipFill>
              <a:ln>
                <a:noFill/>
              </a:ln>
              <a:extLst/>
            </p:spPr>
            <p:txBody>
              <a:bodyPr/>
              <a:lstStyle/>
              <a:p>
                <a:r>
                  <a:rPr lang="zh-CN" altLang="en-US">
                    <a:noFill/>
                  </a:rPr>
                  <a:t> </a:t>
                </a:r>
              </a:p>
            </p:txBody>
          </p:sp>
        </mc:Fallback>
      </mc:AlternateContent>
      <p:sp>
        <p:nvSpPr>
          <p:cNvPr id="257031" name="文本框 6">
            <a:extLst>
              <a:ext uri="{FF2B5EF4-FFF2-40B4-BE49-F238E27FC236}">
                <a16:creationId xmlns:a16="http://schemas.microsoft.com/office/drawing/2014/main" id="{AE5C926A-B328-2047-B475-B4C058C0B26A}"/>
              </a:ext>
            </a:extLst>
          </p:cNvPr>
          <p:cNvSpPr txBox="1">
            <a:spLocks noChangeArrowheads="1"/>
          </p:cNvSpPr>
          <p:nvPr/>
        </p:nvSpPr>
        <p:spPr bwMode="auto">
          <a:xfrm>
            <a:off x="3733800" y="5748338"/>
            <a:ext cx="129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latin typeface="仿宋" pitchFamily="49" charset="-122"/>
                <a:ea typeface="仿宋" pitchFamily="49" charset="-122"/>
              </a:rPr>
              <a:t>加密</a:t>
            </a:r>
          </a:p>
        </p:txBody>
      </p:sp>
      <p:sp>
        <p:nvSpPr>
          <p:cNvPr id="257032" name="文本框 16">
            <a:extLst>
              <a:ext uri="{FF2B5EF4-FFF2-40B4-BE49-F238E27FC236}">
                <a16:creationId xmlns:a16="http://schemas.microsoft.com/office/drawing/2014/main" id="{72BDD42E-BD40-8C45-B792-CC040DD87F3D}"/>
              </a:ext>
            </a:extLst>
          </p:cNvPr>
          <p:cNvSpPr txBox="1">
            <a:spLocks noChangeArrowheads="1"/>
          </p:cNvSpPr>
          <p:nvPr/>
        </p:nvSpPr>
        <p:spPr bwMode="auto">
          <a:xfrm>
            <a:off x="7364413" y="5784850"/>
            <a:ext cx="129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latin typeface="仿宋" pitchFamily="49" charset="-122"/>
                <a:ea typeface="仿宋" pitchFamily="49" charset="-122"/>
              </a:rPr>
              <a:t>解密</a:t>
            </a:r>
          </a:p>
        </p:txBody>
      </p:sp>
    </p:spTree>
  </p:cSld>
  <p:clrMapOvr>
    <a:masterClrMapping/>
  </p:clrMapOvr>
  <p:transition spd="slow">
    <p:pull dir="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728FF4-3B4B-2B49-8C69-A3E663BA22DA}"/>
              </a:ext>
            </a:extLst>
          </p:cNvPr>
          <p:cNvSpPr>
            <a:spLocks noGrp="1"/>
          </p:cNvSpPr>
          <p:nvPr>
            <p:ph type="title"/>
          </p:nvPr>
        </p:nvSpPr>
        <p:spPr>
          <a:xfrm>
            <a:off x="1465263" y="365125"/>
            <a:ext cx="9037637" cy="668338"/>
          </a:xfrm>
        </p:spPr>
        <p:txBody>
          <a:bodyPr/>
          <a:lstStyle/>
          <a:p>
            <a:pPr>
              <a:defRPr/>
            </a:pPr>
            <a:r>
              <a:rPr lang="en-US" altLang="zh-CN" dirty="0"/>
              <a:t>CFB</a:t>
            </a:r>
            <a:r>
              <a:rPr lang="zh-CN" altLang="en-US" dirty="0"/>
              <a:t>模式的特点</a:t>
            </a:r>
          </a:p>
        </p:txBody>
      </p:sp>
      <p:sp>
        <p:nvSpPr>
          <p:cNvPr id="259074" name="内容占位符 2">
            <a:extLst>
              <a:ext uri="{FF2B5EF4-FFF2-40B4-BE49-F238E27FC236}">
                <a16:creationId xmlns:a16="http://schemas.microsoft.com/office/drawing/2014/main" id="{F49EE61C-C852-6B4B-BF0A-9A509D8A70FA}"/>
              </a:ext>
            </a:extLst>
          </p:cNvPr>
          <p:cNvSpPr>
            <a:spLocks noGrp="1" noChangeArrowheads="1"/>
          </p:cNvSpPr>
          <p:nvPr>
            <p:ph idx="1"/>
          </p:nvPr>
        </p:nvSpPr>
        <p:spPr>
          <a:xfrm>
            <a:off x="1298575" y="1219200"/>
            <a:ext cx="9372600" cy="4579938"/>
          </a:xfrm>
        </p:spPr>
        <p:txBody>
          <a:bodyPr/>
          <a:lstStyle/>
          <a:p>
            <a:pPr algn="just">
              <a:lnSpc>
                <a:spcPct val="120000"/>
              </a:lnSpc>
            </a:pPr>
            <a:r>
              <a:rPr lang="zh-CN" altLang="zh-CN">
                <a:latin typeface="Times New Roman" panose="02020603050405020304" pitchFamily="18" charset="0"/>
              </a:rPr>
              <a:t>相同明文：和按</a:t>
            </a:r>
            <a:r>
              <a:rPr lang="es-ES_tradnl" altLang="zh-CN">
                <a:latin typeface="Times New Roman" panose="02020603050405020304" pitchFamily="18" charset="0"/>
              </a:rPr>
              <a:t>CBC</a:t>
            </a:r>
            <a:r>
              <a:rPr lang="zh-CN" altLang="zh-CN">
                <a:latin typeface="Times New Roman" panose="02020603050405020304" pitchFamily="18" charset="0"/>
              </a:rPr>
              <a:t>模式加密一样，</a:t>
            </a:r>
            <a:r>
              <a:rPr lang="zh-CN" altLang="zh-CN" u="sng">
                <a:latin typeface="Times New Roman" panose="02020603050405020304" pitchFamily="18" charset="0"/>
              </a:rPr>
              <a:t>改变</a:t>
            </a:r>
            <a:r>
              <a:rPr lang="es-ES_tradnl" altLang="zh-CN" i="1" u="sng">
                <a:latin typeface="Times New Roman" panose="02020603050405020304" pitchFamily="18" charset="0"/>
              </a:rPr>
              <a:t>IV</a:t>
            </a:r>
            <a:r>
              <a:rPr lang="zh-CN" altLang="zh-CN" u="sng">
                <a:latin typeface="Times New Roman" panose="02020603050405020304" pitchFamily="18" charset="0"/>
              </a:rPr>
              <a:t>同样会导致相同的明文输入得到不同的加密输出</a:t>
            </a:r>
            <a:r>
              <a:rPr lang="zh-CN" altLang="zh-CN">
                <a:latin typeface="Times New Roman" panose="02020603050405020304" pitchFamily="18" charset="0"/>
              </a:rPr>
              <a:t>。</a:t>
            </a:r>
            <a:r>
              <a:rPr lang="es-ES_tradnl" altLang="zh-CN" i="1">
                <a:latin typeface="Times New Roman" panose="02020603050405020304" pitchFamily="18" charset="0"/>
              </a:rPr>
              <a:t>IV</a:t>
            </a:r>
            <a:r>
              <a:rPr lang="zh-CN" altLang="zh-CN">
                <a:latin typeface="Times New Roman" panose="02020603050405020304" pitchFamily="18" charset="0"/>
              </a:rPr>
              <a:t>无需保密（虽在某些应用中</a:t>
            </a:r>
            <a:r>
              <a:rPr lang="es-ES_tradnl" altLang="zh-CN">
                <a:latin typeface="Times New Roman" panose="02020603050405020304" pitchFamily="18" charset="0"/>
              </a:rPr>
              <a:t>IV</a:t>
            </a:r>
            <a:r>
              <a:rPr lang="zh-CN" altLang="zh-CN">
                <a:latin typeface="Times New Roman" panose="02020603050405020304" pitchFamily="18" charset="0"/>
              </a:rPr>
              <a:t>须是不可预测的）。</a:t>
            </a:r>
            <a:endParaRPr lang="en-US" altLang="zh-CN">
              <a:latin typeface="Times New Roman" panose="02020603050405020304" pitchFamily="18" charset="0"/>
            </a:endParaRPr>
          </a:p>
          <a:p>
            <a:pPr algn="just">
              <a:lnSpc>
                <a:spcPct val="120000"/>
              </a:lnSpc>
            </a:pPr>
            <a:r>
              <a:rPr lang="zh-CN" altLang="en-US">
                <a:latin typeface="Times New Roman" panose="02020603050405020304" pitchFamily="18" charset="0"/>
              </a:rPr>
              <a:t>链接依赖性：类似</a:t>
            </a:r>
            <a:r>
              <a:rPr lang="en-US" altLang="zh-CN">
                <a:latin typeface="Times New Roman" panose="02020603050405020304" pitchFamily="18" charset="0"/>
              </a:rPr>
              <a:t>CBC</a:t>
            </a:r>
            <a:r>
              <a:rPr lang="zh-CN" altLang="en-US">
                <a:latin typeface="Times New Roman" panose="02020603050405020304" pitchFamily="18" charset="0"/>
              </a:rPr>
              <a:t>加密，链接机制致使密文组依赖于当前明文组和其前面的明文组；因此，</a:t>
            </a:r>
            <a:r>
              <a:rPr lang="zh-CN" altLang="en-US" u="sng">
                <a:latin typeface="Times New Roman" panose="02020603050405020304" pitchFamily="18" charset="0"/>
              </a:rPr>
              <a:t>重排密文组会影响解密</a:t>
            </a:r>
            <a:r>
              <a:rPr lang="zh-CN" altLang="en-US">
                <a:latin typeface="Times New Roman" panose="02020603050405020304" pitchFamily="18" charset="0"/>
              </a:rPr>
              <a:t>。</a:t>
            </a:r>
            <a:endParaRPr lang="en-US" altLang="zh-CN">
              <a:latin typeface="Times New Roman" panose="02020603050405020304" pitchFamily="18" charset="0"/>
            </a:endParaRPr>
          </a:p>
          <a:p>
            <a:pPr algn="just">
              <a:lnSpc>
                <a:spcPct val="120000"/>
              </a:lnSpc>
            </a:pPr>
            <a:r>
              <a:rPr lang="zh-CN" altLang="en-US">
                <a:latin typeface="Times New Roman" panose="02020603050405020304" pitchFamily="18" charset="0"/>
              </a:rPr>
              <a:t>错误的传播：一个或多个比特错误出现在任一个</a:t>
            </a:r>
            <a:r>
              <a:rPr lang="en-US" altLang="zh-CN">
                <a:latin typeface="Times New Roman" panose="02020603050405020304" pitchFamily="18" charset="0"/>
              </a:rPr>
              <a:t>r</a:t>
            </a:r>
            <a:r>
              <a:rPr lang="zh-CN" altLang="en-US">
                <a:latin typeface="Times New Roman" panose="02020603050405020304" pitchFamily="18" charset="0"/>
              </a:rPr>
              <a:t>比特的密文组中</a:t>
            </a:r>
            <a:r>
              <a:rPr lang="zh-CN" altLang="en-US" u="sng">
                <a:latin typeface="Times New Roman" panose="02020603050405020304" pitchFamily="18" charset="0"/>
              </a:rPr>
              <a:t>会影响这个组和后继          个密文组的解密</a:t>
            </a:r>
            <a:r>
              <a:rPr lang="zh-CN" altLang="en-US">
                <a:latin typeface="Times New Roman" panose="02020603050405020304" pitchFamily="18" charset="0"/>
              </a:rPr>
              <a:t>。</a:t>
            </a:r>
            <a:endParaRPr lang="en-US" altLang="zh-CN">
              <a:latin typeface="Times New Roman" panose="02020603050405020304" pitchFamily="18" charset="0"/>
            </a:endParaRPr>
          </a:p>
          <a:p>
            <a:pPr algn="just">
              <a:lnSpc>
                <a:spcPct val="120000"/>
              </a:lnSpc>
            </a:pPr>
            <a:r>
              <a:rPr lang="zh-CN" altLang="es-ES_tradnl">
                <a:latin typeface="Times New Roman" panose="02020603050405020304" pitchFamily="18" charset="0"/>
              </a:rPr>
              <a:t>错误恢复：</a:t>
            </a:r>
            <a:r>
              <a:rPr lang="es-ES_tradnl" altLang="zh-CN">
                <a:latin typeface="Times New Roman" panose="02020603050405020304" pitchFamily="18" charset="0"/>
              </a:rPr>
              <a:t>CFB</a:t>
            </a:r>
            <a:r>
              <a:rPr lang="zh-CN" altLang="es-ES_tradnl">
                <a:latin typeface="Times New Roman" panose="02020603050405020304" pitchFamily="18" charset="0"/>
              </a:rPr>
              <a:t>和</a:t>
            </a:r>
            <a:r>
              <a:rPr lang="es-ES_tradnl" altLang="zh-CN">
                <a:latin typeface="Times New Roman" panose="02020603050405020304" pitchFamily="18" charset="0"/>
              </a:rPr>
              <a:t>CBC</a:t>
            </a:r>
            <a:r>
              <a:rPr lang="zh-CN" altLang="es-ES_tradnl">
                <a:latin typeface="Times New Roman" panose="02020603050405020304" pitchFamily="18" charset="0"/>
              </a:rPr>
              <a:t>相似，也是自同步的，但它</a:t>
            </a:r>
            <a:r>
              <a:rPr lang="zh-CN" altLang="es-ES_tradnl" u="sng">
                <a:latin typeface="Times New Roman" panose="02020603050405020304" pitchFamily="18" charset="0"/>
              </a:rPr>
              <a:t>需有        个密文组才能还原</a:t>
            </a:r>
            <a:r>
              <a:rPr lang="zh-CN" altLang="en-US" u="sng">
                <a:latin typeface="Times New Roman" panose="02020603050405020304" pitchFamily="18" charset="0"/>
              </a:rPr>
              <a:t>。</a:t>
            </a:r>
            <a:endParaRPr lang="zh-CN" altLang="es-ES_tradnl" sz="4800" u="sng">
              <a:latin typeface="Times New Roman" panose="02020603050405020304" pitchFamily="18" charset="0"/>
            </a:endParaRPr>
          </a:p>
          <a:p>
            <a:pPr algn="just">
              <a:lnSpc>
                <a:spcPct val="120000"/>
              </a:lnSpc>
            </a:pPr>
            <a:endParaRPr lang="en-US" altLang="zh-CN">
              <a:latin typeface="Times New Roman" panose="02020603050405020304" pitchFamily="18" charset="0"/>
            </a:endParaRPr>
          </a:p>
          <a:p>
            <a:pPr algn="just">
              <a:lnSpc>
                <a:spcPct val="120000"/>
              </a:lnSpc>
            </a:pPr>
            <a:endParaRPr lang="zh-CN"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59075" name="对象 30">
                <a:extLst>
                  <a:ext uri="{FF2B5EF4-FFF2-40B4-BE49-F238E27FC236}">
                    <a16:creationId xmlns:a16="http://schemas.microsoft.com/office/drawing/2014/main" id="{4630496C-5E4B-D943-B67A-FBB16A599144}"/>
                  </a:ext>
                </a:extLst>
              </p:cNvPr>
              <p:cNvSpPr txBox="1"/>
              <p:nvPr/>
            </p:nvSpPr>
            <p:spPr bwMode="auto">
              <a:xfrm>
                <a:off x="8991600" y="4770438"/>
                <a:ext cx="685800" cy="411162"/>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e>
                      </m:d>
                    </m:oMath>
                  </m:oMathPara>
                </a14:m>
                <a:endParaRPr lang="zh-CN" altLang="en-US"/>
              </a:p>
            </p:txBody>
          </p:sp>
        </mc:Choice>
        <mc:Fallback xmlns="">
          <p:sp>
            <p:nvSpPr>
              <p:cNvPr id="259075" name="对象 30">
                <a:extLst>
                  <a:ext uri="{FF2B5EF4-FFF2-40B4-BE49-F238E27FC236}">
                    <a16:creationId xmlns:a16="http://schemas.microsoft.com/office/drawing/2014/main" id="{4630496C-5E4B-D943-B67A-FBB16A599144}"/>
                  </a:ext>
                </a:extLst>
              </p:cNvPr>
              <p:cNvSpPr txBox="1">
                <a:spLocks noRot="1" noChangeAspect="1" noMove="1" noResize="1" noEditPoints="1" noAdjustHandles="1" noChangeArrowheads="1" noChangeShapeType="1" noTextEdit="1"/>
              </p:cNvSpPr>
              <p:nvPr/>
            </p:nvSpPr>
            <p:spPr bwMode="auto">
              <a:xfrm>
                <a:off x="8991600" y="4770438"/>
                <a:ext cx="685800" cy="411162"/>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9076" name="对象 34">
                <a:extLst>
                  <a:ext uri="{FF2B5EF4-FFF2-40B4-BE49-F238E27FC236}">
                    <a16:creationId xmlns:a16="http://schemas.microsoft.com/office/drawing/2014/main" id="{5F411E60-1E43-5649-B0B8-C26573CBDFA8}"/>
                  </a:ext>
                </a:extLst>
              </p:cNvPr>
              <p:cNvSpPr txBox="1"/>
              <p:nvPr/>
            </p:nvSpPr>
            <p:spPr bwMode="auto">
              <a:xfrm>
                <a:off x="4419600" y="4191000"/>
                <a:ext cx="685800" cy="411163"/>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e>
                      </m:d>
                    </m:oMath>
                  </m:oMathPara>
                </a14:m>
                <a:endParaRPr lang="zh-CN" altLang="en-US"/>
              </a:p>
            </p:txBody>
          </p:sp>
        </mc:Choice>
        <mc:Fallback xmlns="">
          <p:sp>
            <p:nvSpPr>
              <p:cNvPr id="259076" name="对象 34">
                <a:extLst>
                  <a:ext uri="{FF2B5EF4-FFF2-40B4-BE49-F238E27FC236}">
                    <a16:creationId xmlns:a16="http://schemas.microsoft.com/office/drawing/2014/main" id="{5F411E60-1E43-5649-B0B8-C26573CBDFA8}"/>
                  </a:ext>
                </a:extLst>
              </p:cNvPr>
              <p:cNvSpPr txBox="1">
                <a:spLocks noRot="1" noChangeAspect="1" noMove="1" noResize="1" noEditPoints="1" noAdjustHandles="1" noChangeArrowheads="1" noChangeShapeType="1" noTextEdit="1"/>
              </p:cNvSpPr>
              <p:nvPr/>
            </p:nvSpPr>
            <p:spPr bwMode="auto">
              <a:xfrm>
                <a:off x="4419600" y="4191000"/>
                <a:ext cx="685800" cy="411163"/>
              </a:xfrm>
              <a:prstGeom prst="rect">
                <a:avLst/>
              </a:prstGeom>
              <a:blipFill>
                <a:blip r:embed="rId4"/>
                <a:stretch>
                  <a:fillRect/>
                </a:stretch>
              </a:blipFill>
              <a:ln>
                <a:noFill/>
              </a:ln>
              <a:extLst/>
            </p:spPr>
            <p:txBody>
              <a:bodyPr/>
              <a:lstStyle/>
              <a:p>
                <a:r>
                  <a:rPr lang="zh-CN" altLang="en-US">
                    <a:noFill/>
                  </a:rPr>
                  <a:t> </a:t>
                </a:r>
              </a:p>
            </p:txBody>
          </p:sp>
        </mc:Fallback>
      </mc:AlternateContent>
    </p:spTree>
  </p:cSld>
  <p:clrMapOvr>
    <a:masterClrMapping/>
  </p:clrMapOvr>
  <p:transition spd="slow">
    <p:pull dir="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标题 1">
            <a:extLst>
              <a:ext uri="{FF2B5EF4-FFF2-40B4-BE49-F238E27FC236}">
                <a16:creationId xmlns:a16="http://schemas.microsoft.com/office/drawing/2014/main" id="{5042E18B-18D3-F242-90CA-81C18320412D}"/>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输出反馈</a:t>
            </a:r>
            <a:r>
              <a:rPr lang="en-US" altLang="zh-CN">
                <a:solidFill>
                  <a:srgbClr val="1F4E79"/>
                </a:solidFill>
              </a:rPr>
              <a:t>OFB(Output Feedback)</a:t>
            </a:r>
            <a:r>
              <a:rPr lang="zh-CN" altLang="en-US">
                <a:solidFill>
                  <a:srgbClr val="1F4E79"/>
                </a:solidFill>
              </a:rPr>
              <a:t>模式</a:t>
            </a:r>
          </a:p>
        </p:txBody>
      </p:sp>
      <p:sp>
        <p:nvSpPr>
          <p:cNvPr id="261122" name="内容占位符 2">
            <a:extLst>
              <a:ext uri="{FF2B5EF4-FFF2-40B4-BE49-F238E27FC236}">
                <a16:creationId xmlns:a16="http://schemas.microsoft.com/office/drawing/2014/main" id="{1D54A418-8F0C-C54F-97FF-9CA880895F83}"/>
              </a:ext>
            </a:extLst>
          </p:cNvPr>
          <p:cNvSpPr>
            <a:spLocks noGrp="1" noChangeArrowheads="1"/>
          </p:cNvSpPr>
          <p:nvPr>
            <p:ph idx="1"/>
          </p:nvPr>
        </p:nvSpPr>
        <p:spPr>
          <a:xfrm>
            <a:off x="823913" y="1465263"/>
            <a:ext cx="10834687" cy="4579937"/>
          </a:xfrm>
        </p:spPr>
        <p:txBody>
          <a:bodyPr/>
          <a:lstStyle/>
          <a:p>
            <a:r>
              <a:rPr lang="en-US" altLang="zh-CN">
                <a:latin typeface="Times New Roman" panose="02020603050405020304" pitchFamily="18" charset="0"/>
              </a:rPr>
              <a:t>OFB</a:t>
            </a:r>
            <a:r>
              <a:rPr lang="zh-CN" altLang="en-US">
                <a:latin typeface="Times New Roman" panose="02020603050405020304" pitchFamily="18" charset="0"/>
              </a:rPr>
              <a:t>模式在结构上类似于</a:t>
            </a:r>
            <a:r>
              <a:rPr lang="en-US" altLang="zh-CN">
                <a:latin typeface="Times New Roman" panose="02020603050405020304" pitchFamily="18" charset="0"/>
              </a:rPr>
              <a:t>CFB</a:t>
            </a:r>
            <a:r>
              <a:rPr lang="zh-CN" altLang="en-US">
                <a:latin typeface="Times New Roman" panose="02020603050405020304" pitchFamily="18" charset="0"/>
              </a:rPr>
              <a:t>模式，但反馈的内容是</a:t>
            </a:r>
            <a:r>
              <a:rPr lang="en-US" altLang="zh-CN">
                <a:latin typeface="Times New Roman" panose="02020603050405020304" pitchFamily="18" charset="0"/>
              </a:rPr>
              <a:t>DES</a:t>
            </a:r>
            <a:r>
              <a:rPr lang="zh-CN" altLang="en-US">
                <a:latin typeface="Times New Roman" panose="02020603050405020304" pitchFamily="18" charset="0"/>
              </a:rPr>
              <a:t>的输出而不是密文！</a:t>
            </a:r>
            <a:endParaRPr lang="zh-CN" altLang="en-US"/>
          </a:p>
        </p:txBody>
      </p:sp>
      <p:sp>
        <p:nvSpPr>
          <p:cNvPr id="261123" name="Object 8">
            <a:extLst>
              <a:ext uri="{FF2B5EF4-FFF2-40B4-BE49-F238E27FC236}">
                <a16:creationId xmlns:a16="http://schemas.microsoft.com/office/drawing/2014/main" id="{EFE80737-3EE1-DE47-A353-D614D3BD8080}"/>
              </a:ext>
            </a:extLst>
          </p:cNvPr>
          <p:cNvSpPr txBox="1"/>
          <p:nvPr/>
        </p:nvSpPr>
        <p:spPr bwMode="auto">
          <a:xfrm>
            <a:off x="6045200" y="3349625"/>
            <a:ext cx="101600" cy="158750"/>
          </a:xfrm>
          <a:prstGeom prst="rect">
            <a:avLst/>
          </a:prstGeom>
          <a:noFill/>
          <a:ln>
            <a:noFill/>
          </a:ln>
        </p:spPr>
        <p:txBody>
          <a:bodyPr>
            <a:normAutofit fontScale="25000" lnSpcReduction="20000"/>
          </a:bodyPr>
          <a:lstStyle/>
          <a:p>
            <a:endParaRPr lang="zh-CN" altLang="en-US"/>
          </a:p>
        </p:txBody>
      </p:sp>
      <p:sp>
        <p:nvSpPr>
          <p:cNvPr id="261124" name="Rectangle 10">
            <a:extLst>
              <a:ext uri="{FF2B5EF4-FFF2-40B4-BE49-F238E27FC236}">
                <a16:creationId xmlns:a16="http://schemas.microsoft.com/office/drawing/2014/main" id="{6EC3F826-D0EE-2449-82EA-C435DCE91374}"/>
              </a:ext>
            </a:extLst>
          </p:cNvPr>
          <p:cNvSpPr>
            <a:spLocks noChangeArrowheads="1"/>
          </p:cNvSpPr>
          <p:nvPr/>
        </p:nvSpPr>
        <p:spPr bwMode="auto">
          <a:xfrm>
            <a:off x="1295400" y="2281238"/>
            <a:ext cx="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nchor="ctr">
            <a:spAutoFit/>
          </a:bodyPr>
          <a:lstStyle/>
          <a:p>
            <a:endParaRPr lang="zh-CN" altLang="en-US">
              <a:latin typeface="Arial" panose="020B0604020202020204" pitchFamily="34" charset="0"/>
            </a:endParaRPr>
          </a:p>
        </p:txBody>
      </p:sp>
      <p:sp>
        <p:nvSpPr>
          <p:cNvPr id="261125" name="Rectangle 13">
            <a:extLst>
              <a:ext uri="{FF2B5EF4-FFF2-40B4-BE49-F238E27FC236}">
                <a16:creationId xmlns:a16="http://schemas.microsoft.com/office/drawing/2014/main" id="{AC024564-CE9D-1144-8EA2-A1D56595167A}"/>
              </a:ext>
            </a:extLst>
          </p:cNvPr>
          <p:cNvSpPr>
            <a:spLocks noChangeArrowheads="1"/>
          </p:cNvSpPr>
          <p:nvPr/>
        </p:nvSpPr>
        <p:spPr bwMode="auto">
          <a:xfrm>
            <a:off x="1295400" y="2281238"/>
            <a:ext cx="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nchor="ctr">
            <a:spAutoFit/>
          </a:bodyPr>
          <a:lstStyle/>
          <a:p>
            <a:endParaRPr lang="zh-CN" altLang="en-US">
              <a:latin typeface="Arial" panose="020B0604020202020204" pitchFamily="34" charset="0"/>
            </a:endParaRPr>
          </a:p>
        </p:txBody>
      </p:sp>
      <p:sp>
        <p:nvSpPr>
          <p:cNvPr id="261126" name="Rectangle 15">
            <a:extLst>
              <a:ext uri="{FF2B5EF4-FFF2-40B4-BE49-F238E27FC236}">
                <a16:creationId xmlns:a16="http://schemas.microsoft.com/office/drawing/2014/main" id="{3A6360AD-8F28-F648-86E0-C07721D343BB}"/>
              </a:ext>
            </a:extLst>
          </p:cNvPr>
          <p:cNvSpPr>
            <a:spLocks noChangeArrowheads="1"/>
          </p:cNvSpPr>
          <p:nvPr/>
        </p:nvSpPr>
        <p:spPr bwMode="auto">
          <a:xfrm>
            <a:off x="1295400" y="2281238"/>
            <a:ext cx="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nchor="ctr">
            <a:spAutoFit/>
          </a:bodyPr>
          <a:lstStyle/>
          <a:p>
            <a:endParaRPr lang="zh-CN" altLang="en-US">
              <a:latin typeface="Arial" panose="020B0604020202020204" pitchFamily="34" charset="0"/>
            </a:endParaRPr>
          </a:p>
        </p:txBody>
      </p:sp>
      <p:pic>
        <p:nvPicPr>
          <p:cNvPr id="261127" name="图片 3">
            <a:extLst>
              <a:ext uri="{FF2B5EF4-FFF2-40B4-BE49-F238E27FC236}">
                <a16:creationId xmlns:a16="http://schemas.microsoft.com/office/drawing/2014/main" id="{F729DFA2-FFD3-0448-AFFC-7A99DF3E2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963" y="1905000"/>
            <a:ext cx="6696075"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28" name="文本框 13">
            <a:extLst>
              <a:ext uri="{FF2B5EF4-FFF2-40B4-BE49-F238E27FC236}">
                <a16:creationId xmlns:a16="http://schemas.microsoft.com/office/drawing/2014/main" id="{5CF4775E-3003-CF42-90D7-19BD9F93179B}"/>
              </a:ext>
            </a:extLst>
          </p:cNvPr>
          <p:cNvSpPr txBox="1">
            <a:spLocks noChangeArrowheads="1"/>
          </p:cNvSpPr>
          <p:nvPr/>
        </p:nvSpPr>
        <p:spPr bwMode="auto">
          <a:xfrm>
            <a:off x="3581400" y="5748338"/>
            <a:ext cx="129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latin typeface="仿宋" pitchFamily="49" charset="-122"/>
                <a:ea typeface="仿宋" pitchFamily="49" charset="-122"/>
              </a:rPr>
              <a:t>加密</a:t>
            </a:r>
          </a:p>
        </p:txBody>
      </p:sp>
      <p:sp>
        <p:nvSpPr>
          <p:cNvPr id="261129" name="文本框 14">
            <a:extLst>
              <a:ext uri="{FF2B5EF4-FFF2-40B4-BE49-F238E27FC236}">
                <a16:creationId xmlns:a16="http://schemas.microsoft.com/office/drawing/2014/main" id="{F975E808-CE7C-284B-9C44-221C3981D55D}"/>
              </a:ext>
            </a:extLst>
          </p:cNvPr>
          <p:cNvSpPr txBox="1">
            <a:spLocks noChangeArrowheads="1"/>
          </p:cNvSpPr>
          <p:nvPr/>
        </p:nvSpPr>
        <p:spPr bwMode="auto">
          <a:xfrm>
            <a:off x="7212013" y="5784850"/>
            <a:ext cx="129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latin typeface="仿宋" pitchFamily="49" charset="-122"/>
                <a:ea typeface="仿宋" pitchFamily="49" charset="-122"/>
              </a:rPr>
              <a:t>解密</a:t>
            </a:r>
          </a:p>
        </p:txBody>
      </p:sp>
    </p:spTree>
  </p:cSld>
  <p:clrMapOvr>
    <a:masterClrMapping/>
  </p:clrMapOvr>
  <p:transition spd="slow">
    <p:pull dir="ru"/>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A1C273-4673-AA44-BAC2-4F548370C74B}"/>
              </a:ext>
            </a:extLst>
          </p:cNvPr>
          <p:cNvSpPr>
            <a:spLocks noGrp="1"/>
          </p:cNvSpPr>
          <p:nvPr>
            <p:ph type="title"/>
          </p:nvPr>
        </p:nvSpPr>
        <p:spPr>
          <a:xfrm>
            <a:off x="1465263" y="365125"/>
            <a:ext cx="9037637" cy="668338"/>
          </a:xfrm>
        </p:spPr>
        <p:txBody>
          <a:bodyPr/>
          <a:lstStyle/>
          <a:p>
            <a:pPr>
              <a:defRPr/>
            </a:pPr>
            <a:r>
              <a:rPr lang="en-US" altLang="zh-CN" dirty="0"/>
              <a:t>OFB</a:t>
            </a:r>
            <a:r>
              <a:rPr lang="zh-CN" altLang="en-US" dirty="0"/>
              <a:t>工作模式的特点</a:t>
            </a:r>
          </a:p>
        </p:txBody>
      </p:sp>
      <p:sp>
        <p:nvSpPr>
          <p:cNvPr id="263170" name="内容占位符 2">
            <a:extLst>
              <a:ext uri="{FF2B5EF4-FFF2-40B4-BE49-F238E27FC236}">
                <a16:creationId xmlns:a16="http://schemas.microsoft.com/office/drawing/2014/main" id="{2FD48E85-8CEF-DA43-93A5-6CB830A4F7F2}"/>
              </a:ext>
            </a:extLst>
          </p:cNvPr>
          <p:cNvSpPr>
            <a:spLocks noGrp="1" noChangeArrowheads="1"/>
          </p:cNvSpPr>
          <p:nvPr>
            <p:ph idx="1"/>
          </p:nvPr>
        </p:nvSpPr>
        <p:spPr>
          <a:xfrm>
            <a:off x="1144588" y="1447800"/>
            <a:ext cx="9358312" cy="4579938"/>
          </a:xfrm>
        </p:spPr>
        <p:txBody>
          <a:bodyPr/>
          <a:lstStyle/>
          <a:p>
            <a:pPr algn="just">
              <a:lnSpc>
                <a:spcPct val="120000"/>
              </a:lnSpc>
            </a:pPr>
            <a:r>
              <a:rPr lang="zh-CN" altLang="en-US">
                <a:latin typeface="Times New Roman" panose="02020603050405020304" pitchFamily="18" charset="0"/>
              </a:rPr>
              <a:t>相同明文：和</a:t>
            </a:r>
            <a:r>
              <a:rPr lang="en-US" altLang="zh-CN">
                <a:latin typeface="Times New Roman" panose="02020603050405020304" pitchFamily="18" charset="0"/>
              </a:rPr>
              <a:t>CBC</a:t>
            </a:r>
            <a:r>
              <a:rPr lang="zh-CN" altLang="en-US">
                <a:latin typeface="Times New Roman" panose="02020603050405020304" pitchFamily="18" charset="0"/>
              </a:rPr>
              <a:t>及</a:t>
            </a:r>
            <a:r>
              <a:rPr lang="en-US" altLang="zh-CN">
                <a:latin typeface="Times New Roman" panose="02020603050405020304" pitchFamily="18" charset="0"/>
              </a:rPr>
              <a:t>CFB</a:t>
            </a:r>
            <a:r>
              <a:rPr lang="zh-CN" altLang="en-US">
                <a:latin typeface="Times New Roman" panose="02020603050405020304" pitchFamily="18" charset="0"/>
              </a:rPr>
              <a:t>一样，</a:t>
            </a:r>
            <a:r>
              <a:rPr lang="zh-CN" altLang="zh-CN" u="sng">
                <a:latin typeface="Times New Roman" panose="02020603050405020304" pitchFamily="18" charset="0"/>
              </a:rPr>
              <a:t>改变</a:t>
            </a:r>
            <a:r>
              <a:rPr lang="es-ES_tradnl" altLang="zh-CN" i="1" u="sng">
                <a:latin typeface="Times New Roman" panose="02020603050405020304" pitchFamily="18" charset="0"/>
              </a:rPr>
              <a:t>IV</a:t>
            </a:r>
            <a:r>
              <a:rPr lang="zh-CN" altLang="zh-CN" u="sng">
                <a:latin typeface="Times New Roman" panose="02020603050405020304" pitchFamily="18" charset="0"/>
              </a:rPr>
              <a:t>同样会导致相同的明文输入得到不同的加密输出</a:t>
            </a:r>
            <a:r>
              <a:rPr lang="zh-CN" altLang="en-US">
                <a:latin typeface="Times New Roman" panose="02020603050405020304" pitchFamily="18" charset="0"/>
              </a:rPr>
              <a:t>。</a:t>
            </a:r>
          </a:p>
          <a:p>
            <a:pPr algn="just">
              <a:lnSpc>
                <a:spcPct val="120000"/>
              </a:lnSpc>
            </a:pPr>
            <a:r>
              <a:rPr lang="zh-CN" altLang="en-US">
                <a:latin typeface="Times New Roman" panose="02020603050405020304" pitchFamily="18" charset="0"/>
              </a:rPr>
              <a:t>链接依赖性：</a:t>
            </a:r>
            <a:r>
              <a:rPr lang="zh-CN" altLang="en-US" u="sng">
                <a:latin typeface="Times New Roman" panose="02020603050405020304" pitchFamily="18" charset="0"/>
              </a:rPr>
              <a:t>密钥流是独立于明文的</a:t>
            </a:r>
            <a:r>
              <a:rPr lang="zh-CN" altLang="en-US">
                <a:latin typeface="Times New Roman" panose="02020603050405020304" pitchFamily="18" charset="0"/>
              </a:rPr>
              <a:t>。</a:t>
            </a:r>
          </a:p>
          <a:p>
            <a:pPr algn="just">
              <a:lnSpc>
                <a:spcPct val="120000"/>
              </a:lnSpc>
            </a:pPr>
            <a:r>
              <a:rPr lang="zh-CN" altLang="en-US">
                <a:latin typeface="Times New Roman" panose="02020603050405020304" pitchFamily="18" charset="0"/>
              </a:rPr>
              <a:t>错误传播：</a:t>
            </a:r>
            <a:r>
              <a:rPr lang="zh-CN" altLang="en-US" u="sng">
                <a:latin typeface="Times New Roman" panose="02020603050405020304" pitchFamily="18" charset="0"/>
              </a:rPr>
              <a:t>有一个或多个比特错误的任一密文字符仅会影响该字符的解密</a:t>
            </a:r>
            <a:r>
              <a:rPr lang="zh-CN" altLang="en-US">
                <a:latin typeface="Times New Roman" panose="02020603050405020304" pitchFamily="18" charset="0"/>
              </a:rPr>
              <a:t>， 密文字符的某比特位置出错将致使还原明文的相应位置也出错。</a:t>
            </a:r>
          </a:p>
          <a:p>
            <a:pPr algn="just">
              <a:lnSpc>
                <a:spcPct val="120000"/>
              </a:lnSpc>
            </a:pPr>
            <a:r>
              <a:rPr lang="zh-CN" altLang="en-US">
                <a:latin typeface="Times New Roman" panose="02020603050405020304" pitchFamily="18" charset="0"/>
              </a:rPr>
              <a:t>错误恢复：</a:t>
            </a:r>
            <a:r>
              <a:rPr lang="en-US" altLang="zh-CN">
                <a:latin typeface="Times New Roman" panose="02020603050405020304" pitchFamily="18" charset="0"/>
              </a:rPr>
              <a:t>OFB</a:t>
            </a:r>
            <a:r>
              <a:rPr lang="zh-CN" altLang="en-US">
                <a:latin typeface="Times New Roman" panose="02020603050405020304" pitchFamily="18" charset="0"/>
              </a:rPr>
              <a:t>模式能从密文比特错误中得以恢复，但在丢失密文比特后就无法实现自同步了，这是因为</a:t>
            </a:r>
            <a:r>
              <a:rPr lang="zh-CN" altLang="en-US" u="sng">
                <a:latin typeface="Times New Roman" panose="02020603050405020304" pitchFamily="18" charset="0"/>
              </a:rPr>
              <a:t>丢失密文比特会破坏密钥流的编排</a:t>
            </a:r>
            <a:r>
              <a:rPr lang="zh-CN" altLang="en-US">
                <a:latin typeface="Times New Roman" panose="02020603050405020304" pitchFamily="18" charset="0"/>
              </a:rPr>
              <a:t>。</a:t>
            </a:r>
            <a:r>
              <a:rPr lang="en-US" altLang="zh-CN">
                <a:latin typeface="Times New Roman" panose="02020603050405020304" pitchFamily="18" charset="0"/>
              </a:rPr>
              <a:t>(</a:t>
            </a:r>
            <a:r>
              <a:rPr lang="zh-CN" altLang="en-US">
                <a:latin typeface="Times New Roman" panose="02020603050405020304" pitchFamily="18" charset="0"/>
              </a:rPr>
              <a:t>可以出错，不能丢失</a:t>
            </a:r>
            <a:r>
              <a:rPr lang="en-US" altLang="zh-CN">
                <a:latin typeface="Times New Roman" panose="02020603050405020304" pitchFamily="18" charset="0"/>
              </a:rPr>
              <a:t>)</a:t>
            </a:r>
            <a:endParaRPr lang="zh-CN" altLang="en-US">
              <a:latin typeface="Times New Roman" panose="02020603050405020304" pitchFamily="18" charset="0"/>
            </a:endParaRPr>
          </a:p>
          <a:p>
            <a:pPr algn="just">
              <a:lnSpc>
                <a:spcPct val="120000"/>
              </a:lnSpc>
            </a:pPr>
            <a:endParaRPr lang="zh-CN" altLang="en-US">
              <a:latin typeface="Times New Roman" panose="02020603050405020304" pitchFamily="18" charset="0"/>
            </a:endParaRPr>
          </a:p>
        </p:txBody>
      </p:sp>
    </p:spTree>
  </p:cSld>
  <p:clrMapOvr>
    <a:masterClrMapping/>
  </p:clrMapOvr>
  <p:transition spd="slow">
    <p:pull dir="ru"/>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标题 1">
            <a:extLst>
              <a:ext uri="{FF2B5EF4-FFF2-40B4-BE49-F238E27FC236}">
                <a16:creationId xmlns:a16="http://schemas.microsoft.com/office/drawing/2014/main" id="{40C8563B-3F46-8E44-A322-01DBAE969B1D}"/>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计数器模式</a:t>
            </a:r>
          </a:p>
        </p:txBody>
      </p:sp>
      <p:sp>
        <p:nvSpPr>
          <p:cNvPr id="265218" name="内容占位符 3">
            <a:extLst>
              <a:ext uri="{FF2B5EF4-FFF2-40B4-BE49-F238E27FC236}">
                <a16:creationId xmlns:a16="http://schemas.microsoft.com/office/drawing/2014/main" id="{C9FFFB2F-37DD-7F44-9155-F683D9B01922}"/>
              </a:ext>
            </a:extLst>
          </p:cNvPr>
          <p:cNvSpPr>
            <a:spLocks noGrp="1" noChangeArrowheads="1"/>
          </p:cNvSpPr>
          <p:nvPr>
            <p:ph idx="1"/>
          </p:nvPr>
        </p:nvSpPr>
        <p:spPr>
          <a:xfrm>
            <a:off x="823913" y="1465263"/>
            <a:ext cx="10515600" cy="4579937"/>
          </a:xfrm>
        </p:spPr>
        <p:txBody>
          <a:bodyPr/>
          <a:lstStyle/>
          <a:p>
            <a:pPr algn="just" eaLnBrk="1" hangingPunct="1">
              <a:lnSpc>
                <a:spcPct val="125000"/>
              </a:lnSpc>
            </a:pPr>
            <a:r>
              <a:rPr lang="zh-CN" altLang="en-US">
                <a:latin typeface="Times New Roman" panose="02020603050405020304" pitchFamily="18" charset="0"/>
              </a:rPr>
              <a:t>利用固定密钥</a:t>
            </a:r>
            <a:r>
              <a:rPr lang="zh-CN" altLang="zh-CN">
                <a:latin typeface="Times New Roman" panose="02020603050405020304" pitchFamily="18" charset="0"/>
              </a:rPr>
              <a:t>k对自然数序列</a:t>
            </a:r>
            <a:r>
              <a:rPr lang="zh-CN" altLang="en-US">
                <a:latin typeface="Times New Roman" panose="02020603050405020304" pitchFamily="18" charset="0"/>
              </a:rPr>
              <a:t>1</a:t>
            </a:r>
            <a:r>
              <a:rPr lang="zh-CN" altLang="zh-CN">
                <a:latin typeface="Times New Roman" panose="02020603050405020304" pitchFamily="18" charset="0"/>
              </a:rPr>
              <a:t>,2,3,…,n, …加密</a:t>
            </a:r>
            <a:r>
              <a:rPr lang="zh-CN" altLang="en-US">
                <a:latin typeface="Times New Roman" panose="02020603050405020304" pitchFamily="18" charset="0"/>
              </a:rPr>
              <a:t>，</a:t>
            </a:r>
            <a:r>
              <a:rPr lang="zh-CN" altLang="zh-CN">
                <a:latin typeface="Times New Roman" panose="02020603050405020304" pitchFamily="18" charset="0"/>
              </a:rPr>
              <a:t>将得到的密文分组序列看作</a:t>
            </a:r>
            <a:r>
              <a:rPr lang="zh-CN" altLang="en-US">
                <a:latin typeface="Times New Roman" panose="02020603050405020304" pitchFamily="18" charset="0"/>
              </a:rPr>
              <a:t>密钥流</a:t>
            </a:r>
            <a:r>
              <a:rPr lang="zh-CN" altLang="zh-CN">
                <a:latin typeface="Times New Roman" panose="02020603050405020304" pitchFamily="18" charset="0"/>
              </a:rPr>
              <a:t>序列</a:t>
            </a:r>
            <a:r>
              <a:rPr lang="zh-CN" altLang="en-US">
                <a:latin typeface="Times New Roman" panose="02020603050405020304" pitchFamily="18" charset="0"/>
              </a:rPr>
              <a:t>，</a:t>
            </a:r>
            <a:r>
              <a:rPr lang="zh-CN" altLang="zh-CN">
                <a:latin typeface="Times New Roman" panose="02020603050405020304" pitchFamily="18" charset="0"/>
              </a:rPr>
              <a:t>按加</a:t>
            </a:r>
            <a:r>
              <a:rPr lang="zh-CN" altLang="en-US">
                <a:latin typeface="Times New Roman" panose="02020603050405020304" pitchFamily="18" charset="0"/>
              </a:rPr>
              <a:t>法</a:t>
            </a:r>
            <a:r>
              <a:rPr lang="zh-CN" altLang="zh-CN">
                <a:latin typeface="Times New Roman" panose="02020603050405020304" pitchFamily="18" charset="0"/>
              </a:rPr>
              <a:t>密码的方式与明文分组逐位</a:t>
            </a:r>
            <a:r>
              <a:rPr lang="zh-CN" altLang="en-US">
                <a:latin typeface="Times New Roman" panose="02020603050405020304" pitchFamily="18" charset="0"/>
              </a:rPr>
              <a:t>异或</a:t>
            </a:r>
            <a:r>
              <a:rPr lang="zh-CN" altLang="zh-CN">
                <a:latin typeface="Times New Roman" panose="02020603050405020304" pitchFamily="18" charset="0"/>
              </a:rPr>
              <a:t>的一种方式</a:t>
            </a:r>
          </a:p>
          <a:p>
            <a:pPr algn="just" eaLnBrk="1" hangingPunct="1">
              <a:lnSpc>
                <a:spcPct val="125000"/>
              </a:lnSpc>
            </a:pPr>
            <a:r>
              <a:rPr lang="zh-CN" altLang="zh-CN">
                <a:latin typeface="Times New Roman" panose="02020603050405020304" pitchFamily="18" charset="0"/>
              </a:rPr>
              <a:t>利用这种方式可以产生伪随机数序列,其伪随机特性远比计算机产生的随机数的性质好</a:t>
            </a:r>
            <a:endParaRPr lang="zh-CN" altLang="en-US">
              <a:latin typeface="Times New Roman" panose="02020603050405020304" pitchFamily="18" charset="0"/>
            </a:endParaRPr>
          </a:p>
        </p:txBody>
      </p:sp>
    </p:spTree>
  </p:cSld>
  <p:clrMapOvr>
    <a:masterClrMapping/>
  </p:clrMapOvr>
  <p:transition spd="slow">
    <p:pull dir="ru"/>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标题 1">
            <a:extLst>
              <a:ext uri="{FF2B5EF4-FFF2-40B4-BE49-F238E27FC236}">
                <a16:creationId xmlns:a16="http://schemas.microsoft.com/office/drawing/2014/main" id="{9D187EF5-6C38-4742-B2A1-7CAF01F98252}"/>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计数器模式的结构</a:t>
            </a:r>
          </a:p>
        </p:txBody>
      </p:sp>
      <p:pic>
        <p:nvPicPr>
          <p:cNvPr id="267266" name="Picture 3">
            <a:extLst>
              <a:ext uri="{FF2B5EF4-FFF2-40B4-BE49-F238E27FC236}">
                <a16:creationId xmlns:a16="http://schemas.microsoft.com/office/drawing/2014/main" id="{B2B9A7AB-2003-0C41-8848-4428281B037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90725" y="1033463"/>
            <a:ext cx="7986713" cy="5484812"/>
          </a:xfrm>
        </p:spPr>
      </p:pic>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a:extLst>
              <a:ext uri="{FF2B5EF4-FFF2-40B4-BE49-F238E27FC236}">
                <a16:creationId xmlns:a16="http://schemas.microsoft.com/office/drawing/2014/main" id="{48F23D18-9DD1-AD48-B705-8D6144E0248E}"/>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CTR</a:t>
            </a:r>
            <a:r>
              <a:rPr lang="zh-CN" altLang="en-US">
                <a:solidFill>
                  <a:srgbClr val="1F4E79"/>
                </a:solidFill>
              </a:rPr>
              <a:t>的优点</a:t>
            </a:r>
            <a:endParaRPr lang="en-AU" altLang="zh-CN">
              <a:solidFill>
                <a:srgbClr val="1F4E79"/>
              </a:solidFill>
            </a:endParaRPr>
          </a:p>
        </p:txBody>
      </p:sp>
      <p:sp>
        <p:nvSpPr>
          <p:cNvPr id="269314" name="Rectangle 3">
            <a:extLst>
              <a:ext uri="{FF2B5EF4-FFF2-40B4-BE49-F238E27FC236}">
                <a16:creationId xmlns:a16="http://schemas.microsoft.com/office/drawing/2014/main" id="{BEA53C75-BEB4-F64E-B472-EE5D073B1C83}"/>
              </a:ext>
            </a:extLst>
          </p:cNvPr>
          <p:cNvSpPr>
            <a:spLocks noGrp="1" noChangeArrowheads="1"/>
          </p:cNvSpPr>
          <p:nvPr>
            <p:ph idx="1"/>
          </p:nvPr>
        </p:nvSpPr>
        <p:spPr>
          <a:xfrm>
            <a:off x="1484313" y="1371600"/>
            <a:ext cx="8497887" cy="4579938"/>
          </a:xfrm>
        </p:spPr>
        <p:txBody>
          <a:bodyPr/>
          <a:lstStyle/>
          <a:p>
            <a:pPr>
              <a:lnSpc>
                <a:spcPct val="120000"/>
              </a:lnSpc>
            </a:pPr>
            <a:r>
              <a:rPr lang="zh-CN" altLang="en-US" sz="2800"/>
              <a:t>效率</a:t>
            </a:r>
          </a:p>
          <a:p>
            <a:pPr lvl="1">
              <a:lnSpc>
                <a:spcPct val="120000"/>
              </a:lnSpc>
            </a:pPr>
            <a:r>
              <a:rPr lang="zh-CN" altLang="en-US" sz="2400"/>
              <a:t>可并行加密</a:t>
            </a:r>
          </a:p>
          <a:p>
            <a:pPr lvl="1">
              <a:lnSpc>
                <a:spcPct val="120000"/>
              </a:lnSpc>
            </a:pPr>
            <a:r>
              <a:rPr lang="zh-CN" altLang="en-US" sz="2400"/>
              <a:t>预处理</a:t>
            </a:r>
          </a:p>
          <a:p>
            <a:pPr lvl="1">
              <a:lnSpc>
                <a:spcPct val="120000"/>
              </a:lnSpc>
            </a:pPr>
            <a:r>
              <a:rPr lang="zh-CN" altLang="en-US" sz="2400"/>
              <a:t>吞吐量仅受可使用并行数量的限制</a:t>
            </a:r>
          </a:p>
          <a:p>
            <a:pPr>
              <a:lnSpc>
                <a:spcPct val="120000"/>
              </a:lnSpc>
            </a:pPr>
            <a:r>
              <a:rPr lang="zh-CN" altLang="en-US" sz="2800"/>
              <a:t>加密数据块的随机访问</a:t>
            </a:r>
          </a:p>
          <a:p>
            <a:pPr>
              <a:lnSpc>
                <a:spcPct val="120000"/>
              </a:lnSpc>
            </a:pPr>
            <a:r>
              <a:rPr lang="zh-CN" altLang="en-US" sz="2800"/>
              <a:t>简单性（只要求实现加密算法）</a:t>
            </a:r>
            <a:endParaRPr lang="zh-CN" altLang="en-AU" sz="2800"/>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副标题 2">
            <a:extLst>
              <a:ext uri="{FF2B5EF4-FFF2-40B4-BE49-F238E27FC236}">
                <a16:creationId xmlns:a16="http://schemas.microsoft.com/office/drawing/2014/main" id="{B65511EA-977D-6541-A8A6-F62A4D8A9747}"/>
              </a:ext>
            </a:extLst>
          </p:cNvPr>
          <p:cNvSpPr>
            <a:spLocks noGrp="1" noChangeArrowheads="1"/>
          </p:cNvSpPr>
          <p:nvPr>
            <p:ph type="subTitle" idx="1"/>
          </p:nvPr>
        </p:nvSpPr>
        <p:spPr>
          <a:xfrm>
            <a:off x="0" y="3048000"/>
            <a:ext cx="12192000" cy="790575"/>
          </a:xfrm>
        </p:spPr>
        <p:txBody>
          <a:bodyPr/>
          <a:lstStyle/>
          <a:p>
            <a:r>
              <a:rPr lang="zh-CN" altLang="en-US" sz="3600" b="1"/>
              <a:t>有限域基础</a:t>
            </a:r>
            <a:endParaRPr lang="en-US" altLang="zh-CN" sz="3600" b="1"/>
          </a:p>
        </p:txBody>
      </p:sp>
    </p:spTree>
  </p:cSld>
  <p:clrMapOvr>
    <a:masterClrMapping/>
  </p:clrMapOvr>
  <p:transition spd="slow">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Rectangle 2">
            <a:extLst>
              <a:ext uri="{FF2B5EF4-FFF2-40B4-BE49-F238E27FC236}">
                <a16:creationId xmlns:a16="http://schemas.microsoft.com/office/drawing/2014/main" id="{ACEA04CB-A96B-AC4E-9C32-BFFF1E81D237}"/>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什么是域</a:t>
            </a:r>
          </a:p>
        </p:txBody>
      </p:sp>
      <p:sp>
        <p:nvSpPr>
          <p:cNvPr id="273410" name="Rectangle 3">
            <a:extLst>
              <a:ext uri="{FF2B5EF4-FFF2-40B4-BE49-F238E27FC236}">
                <a16:creationId xmlns:a16="http://schemas.microsoft.com/office/drawing/2014/main" id="{C32462E3-5138-DD4F-A47E-D6583D3F2FEE}"/>
              </a:ext>
            </a:extLst>
          </p:cNvPr>
          <p:cNvSpPr>
            <a:spLocks noGrp="1" noChangeArrowheads="1"/>
          </p:cNvSpPr>
          <p:nvPr>
            <p:ph idx="1"/>
          </p:nvPr>
        </p:nvSpPr>
        <p:spPr>
          <a:xfrm>
            <a:off x="914400" y="1066800"/>
            <a:ext cx="10515600" cy="5562600"/>
          </a:xfrm>
        </p:spPr>
        <p:txBody>
          <a:bodyPr/>
          <a:lstStyle/>
          <a:p>
            <a:pPr eaLnBrk="1" hangingPunct="1">
              <a:lnSpc>
                <a:spcPct val="100000"/>
              </a:lnSpc>
            </a:pPr>
            <a:r>
              <a:rPr lang="en-US" altLang="zh-CN">
                <a:latin typeface="Times New Roman" panose="02020603050405020304" pitchFamily="18" charset="0"/>
              </a:rPr>
              <a:t>F</a:t>
            </a:r>
            <a:r>
              <a:rPr lang="zh-CN" altLang="en-US">
                <a:latin typeface="Times New Roman" panose="02020603050405020304" pitchFamily="18" charset="0"/>
              </a:rPr>
              <a:t>是一个非空集合，定义了加法、乘法两个二元运算，对这两个运算封闭</a:t>
            </a:r>
          </a:p>
          <a:p>
            <a:pPr eaLnBrk="1" hangingPunct="1">
              <a:lnSpc>
                <a:spcPct val="100000"/>
              </a:lnSpc>
            </a:pPr>
            <a:r>
              <a:rPr lang="zh-CN" altLang="en-US">
                <a:latin typeface="Times New Roman" panose="02020603050405020304" pitchFamily="18" charset="0"/>
              </a:rPr>
              <a:t>加法满足：对于任意</a:t>
            </a:r>
            <a:r>
              <a:rPr lang="en-US" altLang="zh-CN">
                <a:latin typeface="Times New Roman" panose="02020603050405020304" pitchFamily="18" charset="0"/>
              </a:rPr>
              <a:t>a,b,c∈F</a:t>
            </a:r>
          </a:p>
          <a:p>
            <a:pPr lvl="1" eaLnBrk="1" hangingPunct="1">
              <a:lnSpc>
                <a:spcPct val="100000"/>
              </a:lnSpc>
            </a:pPr>
            <a:r>
              <a:rPr lang="en-US" altLang="zh-CN">
                <a:latin typeface="Times New Roman" panose="02020603050405020304" pitchFamily="18" charset="0"/>
              </a:rPr>
              <a:t>a+b=b+a</a:t>
            </a:r>
            <a:r>
              <a:rPr lang="zh-CN" altLang="en-US">
                <a:latin typeface="Times New Roman" panose="02020603050405020304" pitchFamily="18" charset="0"/>
              </a:rPr>
              <a:t>；交换律</a:t>
            </a:r>
          </a:p>
          <a:p>
            <a:pPr lvl="1" eaLnBrk="1" hangingPunct="1">
              <a:lnSpc>
                <a:spcPct val="100000"/>
              </a:lnSpc>
            </a:pPr>
            <a:r>
              <a:rPr lang="en-US" altLang="zh-CN">
                <a:latin typeface="Times New Roman" panose="02020603050405020304" pitchFamily="18" charset="0"/>
              </a:rPr>
              <a:t>(a+b)+c=a+(b+c)</a:t>
            </a:r>
            <a:r>
              <a:rPr lang="zh-CN" altLang="en-US">
                <a:latin typeface="Times New Roman" panose="02020603050405020304" pitchFamily="18" charset="0"/>
              </a:rPr>
              <a:t>；结合律</a:t>
            </a:r>
          </a:p>
          <a:p>
            <a:pPr lvl="1" eaLnBrk="1" hangingPunct="1">
              <a:lnSpc>
                <a:spcPct val="100000"/>
              </a:lnSpc>
            </a:pPr>
            <a:r>
              <a:rPr lang="zh-CN" altLang="en-US">
                <a:latin typeface="Times New Roman" panose="02020603050405020304" pitchFamily="18" charset="0"/>
              </a:rPr>
              <a:t>存在</a:t>
            </a:r>
            <a:r>
              <a:rPr lang="en-US" altLang="zh-CN">
                <a:latin typeface="Times New Roman" panose="02020603050405020304" pitchFamily="18" charset="0"/>
              </a:rPr>
              <a:t>0 ∈F</a:t>
            </a:r>
            <a:r>
              <a:rPr lang="zh-CN" altLang="en-US">
                <a:latin typeface="Times New Roman" panose="02020603050405020304" pitchFamily="18" charset="0"/>
              </a:rPr>
              <a:t>，使得</a:t>
            </a:r>
            <a:r>
              <a:rPr lang="en-US" altLang="zh-CN">
                <a:latin typeface="Times New Roman" panose="02020603050405020304" pitchFamily="18" charset="0"/>
              </a:rPr>
              <a:t>a+0=a</a:t>
            </a:r>
            <a:r>
              <a:rPr lang="zh-CN" altLang="en-US">
                <a:latin typeface="Times New Roman" panose="02020603050405020304" pitchFamily="18" charset="0"/>
              </a:rPr>
              <a:t>；有零元</a:t>
            </a:r>
          </a:p>
          <a:p>
            <a:pPr lvl="1" eaLnBrk="1" hangingPunct="1">
              <a:lnSpc>
                <a:spcPct val="100000"/>
              </a:lnSpc>
            </a:pPr>
            <a:r>
              <a:rPr lang="zh-CN" altLang="en-US">
                <a:latin typeface="Times New Roman" panose="02020603050405020304" pitchFamily="18" charset="0"/>
              </a:rPr>
              <a:t>存在</a:t>
            </a:r>
            <a:r>
              <a:rPr lang="en-US" altLang="zh-CN">
                <a:latin typeface="Times New Roman" panose="02020603050405020304" pitchFamily="18" charset="0"/>
              </a:rPr>
              <a:t>-a ∈F</a:t>
            </a:r>
            <a:r>
              <a:rPr lang="zh-CN" altLang="en-US">
                <a:latin typeface="Times New Roman" panose="02020603050405020304" pitchFamily="18" charset="0"/>
              </a:rPr>
              <a:t>，使得</a:t>
            </a:r>
            <a:r>
              <a:rPr lang="en-US" altLang="zh-CN">
                <a:latin typeface="Times New Roman" panose="02020603050405020304" pitchFamily="18" charset="0"/>
              </a:rPr>
              <a:t>a+(-a)=0</a:t>
            </a:r>
            <a:r>
              <a:rPr lang="zh-CN" altLang="en-US">
                <a:latin typeface="Times New Roman" panose="02020603050405020304" pitchFamily="18" charset="0"/>
              </a:rPr>
              <a:t>；有负元</a:t>
            </a:r>
            <a:endParaRPr lang="en-US" altLang="zh-CN">
              <a:latin typeface="Times New Roman" panose="02020603050405020304" pitchFamily="18" charset="0"/>
            </a:endParaRPr>
          </a:p>
          <a:p>
            <a:pPr eaLnBrk="1" hangingPunct="1">
              <a:lnSpc>
                <a:spcPct val="100000"/>
              </a:lnSpc>
            </a:pPr>
            <a:r>
              <a:rPr lang="zh-CN" altLang="en-US">
                <a:latin typeface="Times New Roman" panose="02020603050405020304" pitchFamily="18" charset="0"/>
              </a:rPr>
              <a:t>乘法满足：对于任意</a:t>
            </a:r>
            <a:r>
              <a:rPr lang="en-US" altLang="zh-CN">
                <a:latin typeface="Times New Roman" panose="02020603050405020304" pitchFamily="18" charset="0"/>
              </a:rPr>
              <a:t>a,b,c∈F</a:t>
            </a:r>
          </a:p>
          <a:p>
            <a:pPr lvl="1" eaLnBrk="1" hangingPunct="1">
              <a:lnSpc>
                <a:spcPct val="100000"/>
              </a:lnSpc>
            </a:pPr>
            <a:r>
              <a:rPr lang="en-US" altLang="zh-CN">
                <a:latin typeface="Times New Roman" panose="02020603050405020304" pitchFamily="18" charset="0"/>
              </a:rPr>
              <a:t>a·b=b·a</a:t>
            </a:r>
            <a:r>
              <a:rPr lang="zh-CN" altLang="en-US">
                <a:latin typeface="Times New Roman" panose="02020603050405020304" pitchFamily="18" charset="0"/>
              </a:rPr>
              <a:t>；交换律</a:t>
            </a:r>
          </a:p>
          <a:p>
            <a:pPr lvl="1" eaLnBrk="1" hangingPunct="1">
              <a:lnSpc>
                <a:spcPct val="100000"/>
              </a:lnSpc>
            </a:pPr>
            <a:r>
              <a:rPr lang="en-US" altLang="zh-CN">
                <a:latin typeface="Times New Roman" panose="02020603050405020304" pitchFamily="18" charset="0"/>
              </a:rPr>
              <a:t>(a·b) ·c=a·(b·c)</a:t>
            </a:r>
            <a:r>
              <a:rPr lang="zh-CN" altLang="en-US">
                <a:latin typeface="Times New Roman" panose="02020603050405020304" pitchFamily="18" charset="0"/>
              </a:rPr>
              <a:t>；结合律</a:t>
            </a:r>
          </a:p>
          <a:p>
            <a:pPr lvl="1" eaLnBrk="1" hangingPunct="1">
              <a:lnSpc>
                <a:spcPct val="100000"/>
              </a:lnSpc>
            </a:pPr>
            <a:r>
              <a:rPr lang="zh-CN" altLang="en-US">
                <a:latin typeface="Times New Roman" panose="02020603050405020304" pitchFamily="18" charset="0"/>
              </a:rPr>
              <a:t>存在</a:t>
            </a:r>
            <a:r>
              <a:rPr lang="en-US" altLang="zh-CN">
                <a:latin typeface="Times New Roman" panose="02020603050405020304" pitchFamily="18" charset="0"/>
              </a:rPr>
              <a:t>e ∈F</a:t>
            </a:r>
            <a:r>
              <a:rPr lang="zh-CN" altLang="en-US">
                <a:latin typeface="Times New Roman" panose="02020603050405020304" pitchFamily="18" charset="0"/>
              </a:rPr>
              <a:t>，使得</a:t>
            </a:r>
            <a:r>
              <a:rPr lang="en-US" altLang="zh-CN">
                <a:latin typeface="Times New Roman" panose="02020603050405020304" pitchFamily="18" charset="0"/>
              </a:rPr>
              <a:t>a·e=a</a:t>
            </a:r>
            <a:r>
              <a:rPr lang="zh-CN" altLang="en-US">
                <a:latin typeface="Times New Roman" panose="02020603050405020304" pitchFamily="18" charset="0"/>
              </a:rPr>
              <a:t>；有单位元</a:t>
            </a:r>
          </a:p>
          <a:p>
            <a:pPr lvl="1" eaLnBrk="1" hangingPunct="1">
              <a:lnSpc>
                <a:spcPct val="100000"/>
              </a:lnSpc>
            </a:pPr>
            <a:r>
              <a:rPr lang="zh-CN" altLang="en-US">
                <a:latin typeface="Times New Roman" panose="02020603050405020304" pitchFamily="18" charset="0"/>
              </a:rPr>
              <a:t>存在</a:t>
            </a:r>
            <a:r>
              <a:rPr lang="en-US" altLang="zh-CN">
                <a:latin typeface="Times New Roman" panose="02020603050405020304" pitchFamily="18" charset="0"/>
              </a:rPr>
              <a:t>a</a:t>
            </a:r>
            <a:r>
              <a:rPr lang="en-US" altLang="zh-CN" baseline="30000">
                <a:latin typeface="Times New Roman" panose="02020603050405020304" pitchFamily="18" charset="0"/>
              </a:rPr>
              <a:t>-1 </a:t>
            </a:r>
            <a:r>
              <a:rPr lang="en-US" altLang="zh-CN">
                <a:latin typeface="Times New Roman" panose="02020603050405020304" pitchFamily="18" charset="0"/>
              </a:rPr>
              <a:t>∈F</a:t>
            </a:r>
            <a:r>
              <a:rPr lang="zh-CN" altLang="en-US">
                <a:latin typeface="Times New Roman" panose="02020603050405020304" pitchFamily="18" charset="0"/>
              </a:rPr>
              <a:t>，使得</a:t>
            </a:r>
            <a:r>
              <a:rPr lang="en-US" altLang="zh-CN">
                <a:latin typeface="Times New Roman" panose="02020603050405020304" pitchFamily="18" charset="0"/>
              </a:rPr>
              <a:t>a·a</a:t>
            </a:r>
            <a:r>
              <a:rPr lang="en-US" altLang="zh-CN" baseline="30000">
                <a:latin typeface="Times New Roman" panose="02020603050405020304" pitchFamily="18" charset="0"/>
              </a:rPr>
              <a:t>-1</a:t>
            </a:r>
            <a:r>
              <a:rPr lang="en-US" altLang="zh-CN">
                <a:latin typeface="Times New Roman" panose="02020603050405020304" pitchFamily="18" charset="0"/>
              </a:rPr>
              <a:t> =e</a:t>
            </a:r>
            <a:r>
              <a:rPr lang="zh-CN" altLang="en-US">
                <a:latin typeface="Times New Roman" panose="02020603050405020304" pitchFamily="18" charset="0"/>
              </a:rPr>
              <a:t>；有逆元</a:t>
            </a:r>
          </a:p>
          <a:p>
            <a:pPr eaLnBrk="1" hangingPunct="1">
              <a:lnSpc>
                <a:spcPct val="100000"/>
              </a:lnSpc>
            </a:pPr>
            <a:r>
              <a:rPr lang="zh-CN" altLang="en-US">
                <a:latin typeface="Times New Roman" panose="02020603050405020304" pitchFamily="18" charset="0"/>
              </a:rPr>
              <a:t>乘法对加法满足分配率</a:t>
            </a:r>
          </a:p>
          <a:p>
            <a:pPr lvl="1" eaLnBrk="1" hangingPunct="1">
              <a:lnSpc>
                <a:spcPct val="100000"/>
              </a:lnSpc>
            </a:pPr>
            <a:r>
              <a:rPr lang="en-US" altLang="zh-CN">
                <a:latin typeface="Times New Roman" panose="02020603050405020304" pitchFamily="18" charset="0"/>
              </a:rPr>
              <a:t>a·(b+c)=a·b+a·c</a:t>
            </a:r>
            <a:endParaRPr lang="zh-CN" altLang="en-US">
              <a:latin typeface="Times New Roman" panose="02020603050405020304" pitchFamily="18" charset="0"/>
            </a:endParaRPr>
          </a:p>
          <a:p>
            <a:pPr lvl="1" eaLnBrk="1" hangingPunct="1">
              <a:lnSpc>
                <a:spcPct val="100000"/>
              </a:lnSpc>
            </a:pPr>
            <a:endParaRPr lang="en-US" altLang="zh-CN">
              <a:latin typeface="Times New Roman" panose="02020603050405020304" pitchFamily="18" charset="0"/>
            </a:endParaRP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Rectangle 2">
            <a:extLst>
              <a:ext uri="{FF2B5EF4-FFF2-40B4-BE49-F238E27FC236}">
                <a16:creationId xmlns:a16="http://schemas.microsoft.com/office/drawing/2014/main" id="{ACEA04CB-A96B-AC4E-9C32-BFFF1E81D237}"/>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什么是域</a:t>
            </a:r>
          </a:p>
        </p:txBody>
      </p:sp>
      <p:sp>
        <p:nvSpPr>
          <p:cNvPr id="273410" name="Rectangle 3">
            <a:extLst>
              <a:ext uri="{FF2B5EF4-FFF2-40B4-BE49-F238E27FC236}">
                <a16:creationId xmlns:a16="http://schemas.microsoft.com/office/drawing/2014/main" id="{C32462E3-5138-DD4F-A47E-D6583D3F2FEE}"/>
              </a:ext>
            </a:extLst>
          </p:cNvPr>
          <p:cNvSpPr>
            <a:spLocks noGrp="1" noChangeArrowheads="1"/>
          </p:cNvSpPr>
          <p:nvPr>
            <p:ph idx="1"/>
          </p:nvPr>
        </p:nvSpPr>
        <p:spPr>
          <a:xfrm>
            <a:off x="914400" y="1066800"/>
            <a:ext cx="10515600" cy="5562600"/>
          </a:xfrm>
        </p:spPr>
        <p:txBody>
          <a:bodyPr/>
          <a:lstStyle/>
          <a:p>
            <a:pPr eaLnBrk="1" hangingPunct="1">
              <a:lnSpc>
                <a:spcPct val="100000"/>
              </a:lnSpc>
            </a:pPr>
            <a:r>
              <a:rPr lang="en-US" altLang="zh-CN" sz="3600" dirty="0">
                <a:latin typeface="Times New Roman" panose="02020603050405020304" pitchFamily="18" charset="0"/>
              </a:rPr>
              <a:t>F</a:t>
            </a:r>
            <a:r>
              <a:rPr lang="zh-CN" altLang="en-US" sz="3600" dirty="0">
                <a:latin typeface="Times New Roman" panose="02020603050405020304" pitchFamily="18" charset="0"/>
              </a:rPr>
              <a:t>是一个非空集合，定义了加法、乘法两个二元运算</a:t>
            </a:r>
          </a:p>
          <a:p>
            <a:pPr eaLnBrk="1" hangingPunct="1">
              <a:lnSpc>
                <a:spcPct val="100000"/>
              </a:lnSpc>
            </a:pPr>
            <a:r>
              <a:rPr lang="zh-CN" altLang="en-US" sz="3600" dirty="0">
                <a:latin typeface="Times New Roman" panose="02020603050405020304" pitchFamily="18" charset="0"/>
              </a:rPr>
              <a:t>加法是交换群</a:t>
            </a:r>
            <a:endParaRPr lang="en-US" altLang="zh-CN" sz="3600" dirty="0">
              <a:latin typeface="Times New Roman" panose="02020603050405020304" pitchFamily="18" charset="0"/>
            </a:endParaRPr>
          </a:p>
          <a:p>
            <a:pPr eaLnBrk="1" hangingPunct="1">
              <a:lnSpc>
                <a:spcPct val="100000"/>
              </a:lnSpc>
            </a:pPr>
            <a:r>
              <a:rPr lang="zh-CN" altLang="en-US" sz="3600" dirty="0">
                <a:latin typeface="Times New Roman" panose="02020603050405020304" pitchFamily="18" charset="0"/>
              </a:rPr>
              <a:t>非零元关于乘法是交换群</a:t>
            </a:r>
          </a:p>
          <a:p>
            <a:pPr eaLnBrk="1" hangingPunct="1">
              <a:lnSpc>
                <a:spcPct val="100000"/>
              </a:lnSpc>
            </a:pPr>
            <a:r>
              <a:rPr lang="zh-CN" altLang="en-US" sz="3600" dirty="0">
                <a:latin typeface="Times New Roman" panose="02020603050405020304" pitchFamily="18" charset="0"/>
              </a:rPr>
              <a:t>乘法对加法满足分配率</a:t>
            </a:r>
          </a:p>
          <a:p>
            <a:pPr marL="457200" lvl="1" indent="0" eaLnBrk="1" hangingPunct="1">
              <a:lnSpc>
                <a:spcPct val="100000"/>
              </a:lnSpc>
              <a:buNone/>
            </a:pPr>
            <a:endParaRPr lang="zh-CN" altLang="en-US" sz="3600" dirty="0">
              <a:latin typeface="Times New Roman" panose="02020603050405020304" pitchFamily="18" charset="0"/>
            </a:endParaRPr>
          </a:p>
          <a:p>
            <a:pPr lvl="1" eaLnBrk="1" hangingPunct="1">
              <a:lnSpc>
                <a:spcPct val="100000"/>
              </a:lnSpc>
            </a:pPr>
            <a:endParaRPr lang="en-US" altLang="zh-CN" dirty="0">
              <a:latin typeface="Times New Roman" panose="02020603050405020304" pitchFamily="18" charset="0"/>
            </a:endParaRPr>
          </a:p>
        </p:txBody>
      </p:sp>
    </p:spTree>
    <p:extLst>
      <p:ext uri="{BB962C8B-B14F-4D97-AF65-F5344CB8AC3E}">
        <p14:creationId xmlns:p14="http://schemas.microsoft.com/office/powerpoint/2010/main" val="781644227"/>
      </p:ext>
    </p:extLst>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649AA5CB-3F0D-1E44-8403-830A14165B1C}"/>
              </a:ext>
            </a:extLst>
          </p:cNvPr>
          <p:cNvSpPr>
            <a:spLocks noGrp="1" noChangeArrowheads="1"/>
          </p:cNvSpPr>
          <p:nvPr>
            <p:ph type="title"/>
          </p:nvPr>
        </p:nvSpPr>
        <p:spPr>
          <a:xfrm>
            <a:off x="1465263" y="365125"/>
            <a:ext cx="9037637" cy="668338"/>
          </a:xfrm>
        </p:spPr>
        <p:txBody>
          <a:bodyPr/>
          <a:lstStyle/>
          <a:p>
            <a:pPr eaLnBrk="1" hangingPunct="1">
              <a:defRPr/>
            </a:pPr>
            <a:r>
              <a:rPr lang="zh-CN" altLang="en-US"/>
              <a:t>域的例子</a:t>
            </a:r>
          </a:p>
        </p:txBody>
      </p:sp>
      <p:sp>
        <p:nvSpPr>
          <p:cNvPr id="274434" name="Rectangle 3">
            <a:extLst>
              <a:ext uri="{FF2B5EF4-FFF2-40B4-BE49-F238E27FC236}">
                <a16:creationId xmlns:a16="http://schemas.microsoft.com/office/drawing/2014/main" id="{FA58B195-2972-AF41-906C-7C84156FF5AA}"/>
              </a:ext>
            </a:extLst>
          </p:cNvPr>
          <p:cNvSpPr>
            <a:spLocks noGrp="1" noChangeArrowheads="1"/>
          </p:cNvSpPr>
          <p:nvPr>
            <p:ph idx="1"/>
          </p:nvPr>
        </p:nvSpPr>
        <p:spPr>
          <a:xfrm>
            <a:off x="1219200" y="1371600"/>
            <a:ext cx="10515600" cy="4579938"/>
          </a:xfrm>
        </p:spPr>
        <p:txBody>
          <a:bodyPr/>
          <a:lstStyle/>
          <a:p>
            <a:pPr eaLnBrk="1" hangingPunct="1">
              <a:lnSpc>
                <a:spcPct val="120000"/>
              </a:lnSpc>
            </a:pPr>
            <a:r>
              <a:rPr lang="en-US" altLang="zh-CN">
                <a:solidFill>
                  <a:srgbClr val="C00000"/>
                </a:solidFill>
                <a:latin typeface="Times New Roman" panose="02020603050405020304" pitchFamily="18" charset="0"/>
              </a:rPr>
              <a:t>Z</a:t>
            </a:r>
            <a:r>
              <a:rPr lang="en-US" altLang="zh-CN" baseline="-25000">
                <a:solidFill>
                  <a:srgbClr val="C00000"/>
                </a:solidFill>
                <a:latin typeface="Times New Roman" panose="02020603050405020304" pitchFamily="18" charset="0"/>
              </a:rPr>
              <a:t>n</a:t>
            </a:r>
            <a:r>
              <a:rPr lang="en-US" altLang="zh-CN">
                <a:solidFill>
                  <a:srgbClr val="C00000"/>
                </a:solidFill>
                <a:latin typeface="Times New Roman" panose="02020603050405020304" pitchFamily="18" charset="0"/>
              </a:rPr>
              <a:t>={0,1,2,…</a:t>
            </a:r>
            <a:r>
              <a:rPr lang="zh-CN" altLang="en-US">
                <a:solidFill>
                  <a:srgbClr val="C00000"/>
                </a:solidFill>
                <a:latin typeface="Times New Roman" panose="02020603050405020304" pitchFamily="18" charset="0"/>
              </a:rPr>
              <a:t>，</a:t>
            </a:r>
            <a:r>
              <a:rPr lang="en-US" altLang="zh-CN">
                <a:solidFill>
                  <a:srgbClr val="C00000"/>
                </a:solidFill>
                <a:latin typeface="Times New Roman" panose="02020603050405020304" pitchFamily="18" charset="0"/>
              </a:rPr>
              <a:t>n-1}</a:t>
            </a:r>
            <a:r>
              <a:rPr lang="en-US" altLang="zh-CN" baseline="-25000">
                <a:solidFill>
                  <a:srgbClr val="C00000"/>
                </a:solidFill>
                <a:latin typeface="Times New Roman" panose="02020603050405020304" pitchFamily="18" charset="0"/>
              </a:rPr>
              <a:t>modn</a:t>
            </a:r>
            <a:r>
              <a:rPr lang="zh-CN" altLang="en-US">
                <a:latin typeface="Times New Roman" panose="02020603050405020304" pitchFamily="18" charset="0"/>
              </a:rPr>
              <a:t>，加法和乘法都是模</a:t>
            </a:r>
            <a:r>
              <a:rPr lang="en-US" altLang="zh-CN">
                <a:latin typeface="Times New Roman" panose="02020603050405020304" pitchFamily="18" charset="0"/>
              </a:rPr>
              <a:t>n</a:t>
            </a:r>
            <a:r>
              <a:rPr lang="zh-CN" altLang="en-US">
                <a:latin typeface="Times New Roman" panose="02020603050405020304" pitchFamily="18" charset="0"/>
              </a:rPr>
              <a:t>的运算，运算封闭</a:t>
            </a:r>
            <a:endParaRPr lang="en-US" altLang="zh-CN">
              <a:latin typeface="Times New Roman" panose="02020603050405020304" pitchFamily="18" charset="0"/>
            </a:endParaRPr>
          </a:p>
          <a:p>
            <a:pPr eaLnBrk="1" hangingPunct="1">
              <a:lnSpc>
                <a:spcPct val="120000"/>
              </a:lnSpc>
            </a:pPr>
            <a:r>
              <a:rPr lang="zh-CN" altLang="en-US">
                <a:latin typeface="Times New Roman" panose="02020603050405020304" pitchFamily="18" charset="0"/>
              </a:rPr>
              <a:t>加法满足结合律和交换律，有零元</a:t>
            </a:r>
            <a:r>
              <a:rPr lang="en-US" altLang="zh-CN">
                <a:latin typeface="Times New Roman" panose="02020603050405020304" pitchFamily="18" charset="0"/>
              </a:rPr>
              <a:t>0</a:t>
            </a:r>
            <a:r>
              <a:rPr lang="zh-CN" altLang="en-US">
                <a:latin typeface="Times New Roman" panose="02020603050405020304" pitchFamily="18" charset="0"/>
              </a:rPr>
              <a:t>，有负元</a:t>
            </a:r>
            <a:endParaRPr lang="en-US" altLang="zh-CN">
              <a:latin typeface="Times New Roman" panose="02020603050405020304" pitchFamily="18" charset="0"/>
            </a:endParaRPr>
          </a:p>
          <a:p>
            <a:pPr eaLnBrk="1" hangingPunct="1">
              <a:lnSpc>
                <a:spcPct val="120000"/>
              </a:lnSpc>
            </a:pPr>
            <a:r>
              <a:rPr lang="zh-CN" altLang="en-US">
                <a:latin typeface="Times New Roman" panose="02020603050405020304" pitchFamily="18" charset="0"/>
              </a:rPr>
              <a:t>乘法满足结合律和交换律，有单位元</a:t>
            </a:r>
            <a:r>
              <a:rPr lang="en-US" altLang="zh-CN">
                <a:latin typeface="Times New Roman" panose="02020603050405020304" pitchFamily="18" charset="0"/>
              </a:rPr>
              <a:t>1</a:t>
            </a:r>
            <a:r>
              <a:rPr lang="zh-CN" altLang="en-US">
                <a:latin typeface="Times New Roman" panose="02020603050405020304" pitchFamily="18" charset="0"/>
              </a:rPr>
              <a:t>，不一定有逆元</a:t>
            </a:r>
            <a:endParaRPr lang="en-US" altLang="zh-CN">
              <a:latin typeface="Times New Roman" panose="02020603050405020304" pitchFamily="18" charset="0"/>
            </a:endParaRPr>
          </a:p>
          <a:p>
            <a:pPr eaLnBrk="1" hangingPunct="1">
              <a:lnSpc>
                <a:spcPct val="120000"/>
              </a:lnSpc>
            </a:pPr>
            <a:r>
              <a:rPr lang="en-US" altLang="zh-CN">
                <a:solidFill>
                  <a:srgbClr val="C00000"/>
                </a:solidFill>
                <a:latin typeface="Times New Roman" panose="02020603050405020304" pitchFamily="18" charset="0"/>
              </a:rPr>
              <a:t>Z</a:t>
            </a:r>
            <a:r>
              <a:rPr lang="en-US" altLang="zh-CN" baseline="-25000">
                <a:solidFill>
                  <a:srgbClr val="C00000"/>
                </a:solidFill>
                <a:latin typeface="Times New Roman" panose="02020603050405020304" pitchFamily="18" charset="0"/>
              </a:rPr>
              <a:t>n</a:t>
            </a:r>
            <a:r>
              <a:rPr lang="zh-CN" altLang="en-US">
                <a:solidFill>
                  <a:srgbClr val="C00000"/>
                </a:solidFill>
                <a:latin typeface="Times New Roman" panose="02020603050405020304" pitchFamily="18" charset="0"/>
              </a:rPr>
              <a:t>中的数什么时候才有乘法逆元呢？</a:t>
            </a:r>
            <a:endParaRPr lang="en-US" altLang="zh-CN">
              <a:solidFill>
                <a:srgbClr val="C00000"/>
              </a:solidFill>
              <a:latin typeface="Times New Roman" panose="02020603050405020304" pitchFamily="18" charset="0"/>
            </a:endParaRPr>
          </a:p>
          <a:p>
            <a:pPr eaLnBrk="1" hangingPunct="1">
              <a:lnSpc>
                <a:spcPct val="120000"/>
              </a:lnSpc>
            </a:pPr>
            <a:r>
              <a:rPr lang="zh-CN" altLang="en-US">
                <a:latin typeface="Times New Roman" panose="02020603050405020304" pitchFamily="18" charset="0"/>
              </a:rPr>
              <a:t>引理：整数</a:t>
            </a:r>
            <a:r>
              <a:rPr lang="en-US" altLang="zh-CN">
                <a:latin typeface="Times New Roman" panose="02020603050405020304" pitchFamily="18" charset="0"/>
              </a:rPr>
              <a:t>a</a:t>
            </a:r>
            <a:r>
              <a:rPr lang="zh-CN" altLang="en-US">
                <a:latin typeface="Times New Roman" panose="02020603050405020304" pitchFamily="18" charset="0"/>
              </a:rPr>
              <a:t>在模</a:t>
            </a:r>
            <a:r>
              <a:rPr lang="en-US" altLang="zh-CN">
                <a:latin typeface="Times New Roman" panose="02020603050405020304" pitchFamily="18" charset="0"/>
              </a:rPr>
              <a:t>n</a:t>
            </a:r>
            <a:r>
              <a:rPr lang="zh-CN" altLang="en-US">
                <a:latin typeface="Times New Roman" panose="02020603050405020304" pitchFamily="18" charset="0"/>
              </a:rPr>
              <a:t>乘法下有逆元，当且仅当</a:t>
            </a:r>
            <a:r>
              <a:rPr lang="en-US" altLang="zh-CN">
                <a:latin typeface="Times New Roman" panose="02020603050405020304" pitchFamily="18" charset="0"/>
              </a:rPr>
              <a:t>a</a:t>
            </a:r>
            <a:r>
              <a:rPr lang="zh-CN" altLang="en-US">
                <a:latin typeface="Times New Roman" panose="02020603050405020304" pitchFamily="18" charset="0"/>
              </a:rPr>
              <a:t>与</a:t>
            </a:r>
            <a:r>
              <a:rPr lang="en-US" altLang="zh-CN">
                <a:latin typeface="Times New Roman" panose="02020603050405020304" pitchFamily="18" charset="0"/>
              </a:rPr>
              <a:t>n</a:t>
            </a:r>
            <a:r>
              <a:rPr lang="zh-CN" altLang="en-US">
                <a:latin typeface="Times New Roman" panose="02020603050405020304" pitchFamily="18" charset="0"/>
              </a:rPr>
              <a:t>互素。</a:t>
            </a:r>
          </a:p>
          <a:p>
            <a:pPr eaLnBrk="1" hangingPunct="1">
              <a:lnSpc>
                <a:spcPct val="120000"/>
              </a:lnSpc>
            </a:pPr>
            <a:r>
              <a:rPr lang="zh-CN" altLang="en-US">
                <a:latin typeface="Times New Roman" panose="02020603050405020304" pitchFamily="18" charset="0"/>
              </a:rPr>
              <a:t>所有与</a:t>
            </a:r>
            <a:r>
              <a:rPr lang="en-US" altLang="zh-CN">
                <a:latin typeface="Times New Roman" panose="02020603050405020304" pitchFamily="18" charset="0"/>
              </a:rPr>
              <a:t>n</a:t>
            </a:r>
            <a:r>
              <a:rPr lang="zh-CN" altLang="en-US">
                <a:latin typeface="Times New Roman" panose="02020603050405020304" pitchFamily="18" charset="0"/>
              </a:rPr>
              <a:t>互素的元素在模</a:t>
            </a:r>
            <a:r>
              <a:rPr lang="en-US" altLang="zh-CN">
                <a:latin typeface="Times New Roman" panose="02020603050405020304" pitchFamily="18" charset="0"/>
              </a:rPr>
              <a:t>n</a:t>
            </a:r>
            <a:r>
              <a:rPr lang="zh-CN" altLang="en-US">
                <a:latin typeface="Times New Roman" panose="02020603050405020304" pitchFamily="18" charset="0"/>
              </a:rPr>
              <a:t>乘法下构成乘法交换群</a:t>
            </a:r>
          </a:p>
          <a:p>
            <a:pPr eaLnBrk="1" hangingPunct="1">
              <a:lnSpc>
                <a:spcPct val="120000"/>
              </a:lnSpc>
            </a:pPr>
            <a:r>
              <a:rPr lang="en-US" altLang="zh-CN">
                <a:latin typeface="Times New Roman" panose="02020603050405020304" pitchFamily="18" charset="0"/>
              </a:rPr>
              <a:t>1…n-1</a:t>
            </a:r>
            <a:r>
              <a:rPr lang="zh-CN" altLang="en-US">
                <a:latin typeface="Times New Roman" panose="02020603050405020304" pitchFamily="18" charset="0"/>
              </a:rPr>
              <a:t>都与</a:t>
            </a:r>
            <a:r>
              <a:rPr lang="en-US" altLang="zh-CN">
                <a:latin typeface="Times New Roman" panose="02020603050405020304" pitchFamily="18" charset="0"/>
              </a:rPr>
              <a:t>n</a:t>
            </a:r>
            <a:r>
              <a:rPr lang="zh-CN" altLang="en-US">
                <a:latin typeface="Times New Roman" panose="02020603050405020304" pitchFamily="18" charset="0"/>
              </a:rPr>
              <a:t>互素，则</a:t>
            </a:r>
            <a:r>
              <a:rPr lang="en-US" altLang="zh-CN">
                <a:latin typeface="Times New Roman" panose="02020603050405020304" pitchFamily="18" charset="0"/>
              </a:rPr>
              <a:t>n</a:t>
            </a:r>
            <a:r>
              <a:rPr lang="zh-CN" altLang="en-US">
                <a:latin typeface="Times New Roman" panose="02020603050405020304" pitchFamily="18" charset="0"/>
              </a:rPr>
              <a:t>为素数</a:t>
            </a:r>
          </a:p>
          <a:p>
            <a:pPr eaLnBrk="1" hangingPunct="1">
              <a:lnSpc>
                <a:spcPct val="120000"/>
              </a:lnSpc>
            </a:pPr>
            <a:r>
              <a:rPr lang="zh-CN" altLang="en-US">
                <a:latin typeface="Times New Roman" panose="02020603050405020304" pitchFamily="18" charset="0"/>
              </a:rPr>
              <a:t>对于任一素数</a:t>
            </a:r>
            <a:r>
              <a:rPr lang="en-US" altLang="zh-CN">
                <a:latin typeface="Times New Roman" panose="02020603050405020304" pitchFamily="18" charset="0"/>
              </a:rPr>
              <a:t>p</a:t>
            </a:r>
            <a:r>
              <a:rPr lang="zh-CN" altLang="en-US">
                <a:latin typeface="Times New Roman" panose="02020603050405020304" pitchFamily="18" charset="0"/>
              </a:rPr>
              <a:t>，</a:t>
            </a:r>
            <a:r>
              <a:rPr lang="en-US" altLang="zh-CN">
                <a:latin typeface="Times New Roman" panose="02020603050405020304" pitchFamily="18" charset="0"/>
              </a:rPr>
              <a:t>Z</a:t>
            </a:r>
            <a:r>
              <a:rPr lang="en-US" altLang="zh-CN" baseline="-25000">
                <a:latin typeface="Times New Roman" panose="02020603050405020304" pitchFamily="18" charset="0"/>
              </a:rPr>
              <a:t>p</a:t>
            </a:r>
            <a:r>
              <a:rPr lang="zh-CN" altLang="en-US">
                <a:latin typeface="Times New Roman" panose="02020603050405020304" pitchFamily="18" charset="0"/>
              </a:rPr>
              <a:t>为域，其元素个数为</a:t>
            </a:r>
            <a:r>
              <a:rPr lang="en-US" altLang="zh-CN">
                <a:latin typeface="Times New Roman" panose="02020603050405020304" pitchFamily="18" charset="0"/>
              </a:rPr>
              <a:t>p</a:t>
            </a:r>
            <a:r>
              <a:rPr lang="zh-CN" altLang="en-US">
                <a:latin typeface="Times New Roman" panose="02020603050405020304" pitchFamily="18" charset="0"/>
              </a:rPr>
              <a:t>个</a:t>
            </a:r>
          </a:p>
          <a:p>
            <a:pPr eaLnBrk="1" hangingPunct="1">
              <a:lnSpc>
                <a:spcPct val="120000"/>
              </a:lnSpc>
            </a:pPr>
            <a:endParaRPr lang="en-US" altLang="zh-CN">
              <a:latin typeface="Times New Roman" panose="02020603050405020304" pitchFamily="18" charset="0"/>
            </a:endParaRP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标题 1">
            <a:extLst>
              <a:ext uri="{FF2B5EF4-FFF2-40B4-BE49-F238E27FC236}">
                <a16:creationId xmlns:a16="http://schemas.microsoft.com/office/drawing/2014/main" id="{6CE0BC9B-E1C2-674B-89BC-5EB2C6B3219C}"/>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域的例子（续）</a:t>
            </a:r>
          </a:p>
        </p:txBody>
      </p:sp>
      <p:sp>
        <p:nvSpPr>
          <p:cNvPr id="275458" name="内容占位符 2">
            <a:extLst>
              <a:ext uri="{FF2B5EF4-FFF2-40B4-BE49-F238E27FC236}">
                <a16:creationId xmlns:a16="http://schemas.microsoft.com/office/drawing/2014/main" id="{A7BF32E4-34CF-B740-A946-7CA1EA4695B1}"/>
              </a:ext>
            </a:extLst>
          </p:cNvPr>
          <p:cNvSpPr>
            <a:spLocks noGrp="1" noChangeArrowheads="1"/>
          </p:cNvSpPr>
          <p:nvPr>
            <p:ph idx="1"/>
          </p:nvPr>
        </p:nvSpPr>
        <p:spPr>
          <a:xfrm>
            <a:off x="838200" y="1143000"/>
            <a:ext cx="10515600" cy="5257800"/>
          </a:xfrm>
        </p:spPr>
        <p:txBody>
          <a:bodyPr/>
          <a:lstStyle/>
          <a:p>
            <a:pPr eaLnBrk="1" hangingPunct="1">
              <a:lnSpc>
                <a:spcPct val="120000"/>
              </a:lnSpc>
            </a:pPr>
            <a:r>
              <a:rPr lang="en-US" altLang="zh-CN">
                <a:latin typeface="Times New Roman" panose="02020603050405020304" pitchFamily="18" charset="0"/>
              </a:rPr>
              <a:t>F[</a:t>
            </a:r>
            <a:r>
              <a:rPr lang="en-US" altLang="zh-CN" i="1">
                <a:latin typeface="Times New Roman" panose="02020603050405020304" pitchFamily="18" charset="0"/>
              </a:rPr>
              <a:t>x</a:t>
            </a:r>
            <a:r>
              <a:rPr lang="en-US" altLang="zh-CN">
                <a:latin typeface="Times New Roman" panose="02020603050405020304" pitchFamily="18" charset="0"/>
              </a:rPr>
              <a:t>]/(</a:t>
            </a:r>
            <a:r>
              <a:rPr lang="en-US" altLang="zh-CN" i="1">
                <a:latin typeface="Times New Roman" panose="02020603050405020304" pitchFamily="18" charset="0"/>
              </a:rPr>
              <a:t>f</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a:latin typeface="Times New Roman" panose="02020603050405020304" pitchFamily="18" charset="0"/>
              </a:rPr>
              <a:t>))={</a:t>
            </a:r>
            <a:r>
              <a:rPr lang="en-US" altLang="zh-CN" i="1">
                <a:latin typeface="Times New Roman" panose="02020603050405020304" pitchFamily="18" charset="0"/>
              </a:rPr>
              <a:t>r</a:t>
            </a:r>
            <a:r>
              <a:rPr lang="en-US" altLang="zh-CN">
                <a:latin typeface="Times New Roman" panose="02020603050405020304" pitchFamily="18" charset="0"/>
              </a:rPr>
              <a:t>(x)=</a:t>
            </a:r>
            <a:r>
              <a:rPr lang="en-US" altLang="zh-CN" i="1">
                <a:latin typeface="Times New Roman" panose="02020603050405020304" pitchFamily="18" charset="0"/>
              </a:rPr>
              <a:t>r</a:t>
            </a:r>
            <a:r>
              <a:rPr lang="en-US" altLang="zh-CN" baseline="-25000">
                <a:latin typeface="Times New Roman" panose="02020603050405020304" pitchFamily="18" charset="0"/>
              </a:rPr>
              <a:t>n-1</a:t>
            </a:r>
            <a:r>
              <a:rPr lang="en-US" altLang="zh-CN" i="1">
                <a:latin typeface="Times New Roman" panose="02020603050405020304" pitchFamily="18" charset="0"/>
              </a:rPr>
              <a:t>x</a:t>
            </a:r>
            <a:r>
              <a:rPr lang="en-US" altLang="zh-CN" baseline="30000">
                <a:latin typeface="Times New Roman" panose="02020603050405020304" pitchFamily="18" charset="0"/>
              </a:rPr>
              <a:t>n-1</a:t>
            </a:r>
            <a:r>
              <a:rPr lang="en-US" altLang="zh-CN">
                <a:latin typeface="Times New Roman" panose="02020603050405020304" pitchFamily="18" charset="0"/>
              </a:rPr>
              <a:t>+</a:t>
            </a:r>
            <a:r>
              <a:rPr lang="en-US" altLang="zh-CN" i="1">
                <a:latin typeface="Times New Roman" panose="02020603050405020304" pitchFamily="18" charset="0"/>
              </a:rPr>
              <a:t>r</a:t>
            </a:r>
            <a:r>
              <a:rPr lang="en-US" altLang="zh-CN" baseline="-25000">
                <a:latin typeface="Times New Roman" panose="02020603050405020304" pitchFamily="18" charset="0"/>
              </a:rPr>
              <a:t>n-2</a:t>
            </a:r>
            <a:r>
              <a:rPr lang="en-US" altLang="zh-CN" i="1">
                <a:latin typeface="Times New Roman" panose="02020603050405020304" pitchFamily="18" charset="0"/>
              </a:rPr>
              <a:t>x</a:t>
            </a:r>
            <a:r>
              <a:rPr lang="en-US" altLang="zh-CN" baseline="30000">
                <a:latin typeface="Times New Roman" panose="02020603050405020304" pitchFamily="18" charset="0"/>
              </a:rPr>
              <a:t>n-2</a:t>
            </a:r>
            <a:r>
              <a:rPr lang="en-US" altLang="zh-CN">
                <a:latin typeface="Times New Roman" panose="02020603050405020304" pitchFamily="18" charset="0"/>
              </a:rPr>
              <a:t>+</a:t>
            </a:r>
            <a:r>
              <a:rPr lang="en-US" altLang="zh-CN"/>
              <a:t>…</a:t>
            </a:r>
            <a:r>
              <a:rPr lang="en-US" altLang="zh-CN">
                <a:latin typeface="Times New Roman" panose="02020603050405020304" pitchFamily="18" charset="0"/>
              </a:rPr>
              <a:t>+</a:t>
            </a:r>
            <a:r>
              <a:rPr lang="en-US" altLang="zh-CN" i="1">
                <a:latin typeface="Times New Roman" panose="02020603050405020304" pitchFamily="18" charset="0"/>
              </a:rPr>
              <a:t>r</a:t>
            </a:r>
            <a:r>
              <a:rPr lang="en-US" altLang="zh-CN" baseline="-25000">
                <a:latin typeface="Times New Roman" panose="02020603050405020304" pitchFamily="18" charset="0"/>
              </a:rPr>
              <a:t>1</a:t>
            </a:r>
            <a:r>
              <a:rPr lang="en-US" altLang="zh-CN" i="1">
                <a:latin typeface="Times New Roman" panose="02020603050405020304" pitchFamily="18" charset="0"/>
              </a:rPr>
              <a:t>x</a:t>
            </a:r>
            <a:r>
              <a:rPr lang="en-US" altLang="zh-CN">
                <a:latin typeface="Times New Roman" panose="02020603050405020304" pitchFamily="18" charset="0"/>
              </a:rPr>
              <a:t>+</a:t>
            </a:r>
            <a:r>
              <a:rPr lang="en-US" altLang="zh-CN" i="1">
                <a:latin typeface="Times New Roman" panose="02020603050405020304" pitchFamily="18" charset="0"/>
              </a:rPr>
              <a:t>r</a:t>
            </a:r>
            <a:r>
              <a:rPr lang="en-US" altLang="zh-CN" baseline="-25000">
                <a:latin typeface="Times New Roman" panose="02020603050405020304" pitchFamily="18" charset="0"/>
              </a:rPr>
              <a:t>0</a:t>
            </a:r>
            <a:r>
              <a:rPr lang="en-US" altLang="zh-CN">
                <a:latin typeface="Times New Roman" panose="02020603050405020304" pitchFamily="18" charset="0"/>
              </a:rPr>
              <a:t>|</a:t>
            </a:r>
            <a:r>
              <a:rPr lang="en-US" altLang="zh-CN" i="1">
                <a:latin typeface="Times New Roman" panose="02020603050405020304" pitchFamily="18" charset="0"/>
              </a:rPr>
              <a:t>r</a:t>
            </a:r>
            <a:r>
              <a:rPr lang="en-US" altLang="zh-CN" baseline="-25000">
                <a:latin typeface="Times New Roman" panose="02020603050405020304" pitchFamily="18" charset="0"/>
              </a:rPr>
              <a:t>i</a:t>
            </a:r>
            <a:r>
              <a:rPr lang="en-US" altLang="zh-CN">
                <a:latin typeface="Times New Roman" panose="02020603050405020304" pitchFamily="18" charset="0"/>
              </a:rPr>
              <a:t>∈F, 0≤i≤n-1}</a:t>
            </a:r>
            <a:r>
              <a:rPr lang="zh-CN" altLang="en-US">
                <a:latin typeface="Times New Roman" panose="02020603050405020304" pitchFamily="18" charset="0"/>
              </a:rPr>
              <a:t>，加法和乘法都是模</a:t>
            </a:r>
            <a:r>
              <a:rPr lang="en-US" altLang="zh-CN" i="1">
                <a:latin typeface="Times New Roman" panose="02020603050405020304" pitchFamily="18" charset="0"/>
              </a:rPr>
              <a:t>f</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a:latin typeface="Times New Roman" panose="02020603050405020304" pitchFamily="18" charset="0"/>
              </a:rPr>
              <a:t>)</a:t>
            </a:r>
            <a:r>
              <a:rPr lang="zh-CN" altLang="en-US">
                <a:latin typeface="Times New Roman" panose="02020603050405020304" pitchFamily="18" charset="0"/>
              </a:rPr>
              <a:t>的运算，运算封闭</a:t>
            </a:r>
            <a:endParaRPr lang="en-US" altLang="zh-CN">
              <a:latin typeface="Times New Roman" panose="02020603050405020304" pitchFamily="18" charset="0"/>
            </a:endParaRPr>
          </a:p>
          <a:p>
            <a:pPr eaLnBrk="1" hangingPunct="1">
              <a:lnSpc>
                <a:spcPct val="120000"/>
              </a:lnSpc>
            </a:pPr>
            <a:r>
              <a:rPr lang="zh-CN" altLang="en-US">
                <a:latin typeface="Times New Roman" panose="02020603050405020304" pitchFamily="18" charset="0"/>
              </a:rPr>
              <a:t>加法满足结合律和交换律，有零元</a:t>
            </a:r>
            <a:r>
              <a:rPr lang="en-US" altLang="zh-CN">
                <a:latin typeface="Times New Roman" panose="02020603050405020304" pitchFamily="18" charset="0"/>
              </a:rPr>
              <a:t>0</a:t>
            </a:r>
            <a:r>
              <a:rPr lang="zh-CN" altLang="en-US">
                <a:latin typeface="Times New Roman" panose="02020603050405020304" pitchFamily="18" charset="0"/>
              </a:rPr>
              <a:t>，有负元</a:t>
            </a:r>
            <a:endParaRPr lang="en-US" altLang="zh-CN">
              <a:latin typeface="Times New Roman" panose="02020603050405020304" pitchFamily="18" charset="0"/>
            </a:endParaRPr>
          </a:p>
          <a:p>
            <a:pPr eaLnBrk="1" hangingPunct="1">
              <a:lnSpc>
                <a:spcPct val="120000"/>
              </a:lnSpc>
            </a:pPr>
            <a:r>
              <a:rPr lang="zh-CN" altLang="en-US">
                <a:latin typeface="Times New Roman" panose="02020603050405020304" pitchFamily="18" charset="0"/>
              </a:rPr>
              <a:t>乘法满足结合律和交换律，有单位元</a:t>
            </a:r>
            <a:r>
              <a:rPr lang="en-US" altLang="zh-CN">
                <a:latin typeface="Times New Roman" panose="02020603050405020304" pitchFamily="18" charset="0"/>
              </a:rPr>
              <a:t>1</a:t>
            </a:r>
            <a:r>
              <a:rPr lang="zh-CN" altLang="en-US">
                <a:latin typeface="Times New Roman" panose="02020603050405020304" pitchFamily="18" charset="0"/>
              </a:rPr>
              <a:t>，不一定有逆元</a:t>
            </a:r>
            <a:endParaRPr lang="en-US" altLang="zh-CN">
              <a:latin typeface="Times New Roman" panose="02020603050405020304" pitchFamily="18" charset="0"/>
            </a:endParaRPr>
          </a:p>
          <a:p>
            <a:pPr eaLnBrk="1" hangingPunct="1">
              <a:lnSpc>
                <a:spcPct val="120000"/>
              </a:lnSpc>
            </a:pPr>
            <a:r>
              <a:rPr lang="en-US" altLang="zh-CN">
                <a:latin typeface="Times New Roman" panose="02020603050405020304" pitchFamily="18" charset="0"/>
              </a:rPr>
              <a:t>F[</a:t>
            </a:r>
            <a:r>
              <a:rPr lang="en-US" altLang="zh-CN" i="1">
                <a:latin typeface="Times New Roman" panose="02020603050405020304" pitchFamily="18" charset="0"/>
              </a:rPr>
              <a:t>x</a:t>
            </a:r>
            <a:r>
              <a:rPr lang="en-US" altLang="zh-CN">
                <a:latin typeface="Times New Roman" panose="02020603050405020304" pitchFamily="18" charset="0"/>
              </a:rPr>
              <a:t>]/(</a:t>
            </a:r>
            <a:r>
              <a:rPr lang="en-US" altLang="zh-CN" i="1">
                <a:latin typeface="Times New Roman" panose="02020603050405020304" pitchFamily="18" charset="0"/>
              </a:rPr>
              <a:t>f</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a:latin typeface="Times New Roman" panose="02020603050405020304" pitchFamily="18" charset="0"/>
              </a:rPr>
              <a:t>))</a:t>
            </a:r>
            <a:r>
              <a:rPr lang="zh-CN" altLang="en-US">
                <a:latin typeface="Times New Roman" panose="02020603050405020304" pitchFamily="18" charset="0"/>
              </a:rPr>
              <a:t>中的多项式什么时候才有乘法逆元呢？</a:t>
            </a:r>
            <a:endParaRPr lang="en-US" altLang="zh-CN">
              <a:latin typeface="Times New Roman" panose="02020603050405020304" pitchFamily="18" charset="0"/>
            </a:endParaRPr>
          </a:p>
          <a:p>
            <a:pPr eaLnBrk="1" hangingPunct="1">
              <a:lnSpc>
                <a:spcPct val="120000"/>
              </a:lnSpc>
              <a:buFont typeface="Arial" panose="020B0604020202020204" pitchFamily="34" charset="0"/>
              <a:buNone/>
            </a:pPr>
            <a:endParaRPr lang="en-US" altLang="zh-CN">
              <a:latin typeface="Times New Roman" panose="02020603050405020304" pitchFamily="18" charset="0"/>
            </a:endParaRPr>
          </a:p>
          <a:p>
            <a:endParaRPr lang="zh-CN" altLang="en-US">
              <a:latin typeface="Times New Roman" panose="02020603050405020304" pitchFamily="18" charset="0"/>
            </a:endParaRP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标题 1">
            <a:extLst>
              <a:ext uri="{FF2B5EF4-FFF2-40B4-BE49-F238E27FC236}">
                <a16:creationId xmlns:a16="http://schemas.microsoft.com/office/drawing/2014/main" id="{4E6860B3-869F-774F-955E-4BDD3C2C56B9}"/>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域的例子（续）</a:t>
            </a:r>
          </a:p>
        </p:txBody>
      </p:sp>
      <p:sp>
        <p:nvSpPr>
          <p:cNvPr id="276482" name="内容占位符 2">
            <a:extLst>
              <a:ext uri="{FF2B5EF4-FFF2-40B4-BE49-F238E27FC236}">
                <a16:creationId xmlns:a16="http://schemas.microsoft.com/office/drawing/2014/main" id="{397BB875-40C0-D547-9F7B-B9304913CDED}"/>
              </a:ext>
            </a:extLst>
          </p:cNvPr>
          <p:cNvSpPr>
            <a:spLocks noGrp="1" noChangeArrowheads="1"/>
          </p:cNvSpPr>
          <p:nvPr>
            <p:ph idx="1"/>
          </p:nvPr>
        </p:nvSpPr>
        <p:spPr>
          <a:xfrm>
            <a:off x="838200" y="1143000"/>
            <a:ext cx="10515600" cy="5257800"/>
          </a:xfrm>
        </p:spPr>
        <p:txBody>
          <a:bodyPr/>
          <a:lstStyle/>
          <a:p>
            <a:pPr eaLnBrk="1" hangingPunct="1">
              <a:lnSpc>
                <a:spcPct val="120000"/>
              </a:lnSpc>
            </a:pPr>
            <a:r>
              <a:rPr lang="zh-CN" altLang="en-US" dirty="0">
                <a:solidFill>
                  <a:srgbClr val="C00000"/>
                </a:solidFill>
                <a:latin typeface="Times New Roman" panose="02020603050405020304" pitchFamily="18" charset="0"/>
              </a:rPr>
              <a:t>引理：</a:t>
            </a:r>
            <a:r>
              <a:rPr lang="en-US" altLang="zh-CN" dirty="0">
                <a:solidFill>
                  <a:srgbClr val="C00000"/>
                </a:solidFill>
                <a:latin typeface="Times New Roman" panose="02020603050405020304" pitchFamily="18" charset="0"/>
              </a:rPr>
              <a:t>r(x)</a:t>
            </a:r>
            <a:r>
              <a:rPr lang="zh-CN" altLang="en-US" dirty="0">
                <a:solidFill>
                  <a:srgbClr val="C00000"/>
                </a:solidFill>
                <a:latin typeface="Times New Roman" panose="02020603050405020304" pitchFamily="18" charset="0"/>
              </a:rPr>
              <a:t>在模</a:t>
            </a:r>
            <a:r>
              <a:rPr lang="en-US" altLang="zh-CN" dirty="0">
                <a:solidFill>
                  <a:srgbClr val="C00000"/>
                </a:solidFill>
                <a:latin typeface="Times New Roman" panose="02020603050405020304" pitchFamily="18" charset="0"/>
              </a:rPr>
              <a:t>f(x)</a:t>
            </a:r>
            <a:r>
              <a:rPr lang="zh-CN" altLang="en-US" dirty="0">
                <a:solidFill>
                  <a:srgbClr val="C00000"/>
                </a:solidFill>
                <a:latin typeface="Times New Roman" panose="02020603050405020304" pitchFamily="18" charset="0"/>
              </a:rPr>
              <a:t>乘法下有逆元，当且仅当</a:t>
            </a:r>
            <a:r>
              <a:rPr lang="en-US" altLang="zh-CN" dirty="0">
                <a:solidFill>
                  <a:srgbClr val="C00000"/>
                </a:solidFill>
                <a:latin typeface="Times New Roman" panose="02020603050405020304" pitchFamily="18" charset="0"/>
              </a:rPr>
              <a:t>r(x)</a:t>
            </a:r>
            <a:r>
              <a:rPr lang="zh-CN" altLang="en-US" dirty="0">
                <a:solidFill>
                  <a:srgbClr val="C00000"/>
                </a:solidFill>
                <a:latin typeface="Times New Roman" panose="02020603050405020304" pitchFamily="18" charset="0"/>
              </a:rPr>
              <a:t>与</a:t>
            </a:r>
            <a:r>
              <a:rPr lang="en-US" altLang="zh-CN" dirty="0">
                <a:solidFill>
                  <a:srgbClr val="C00000"/>
                </a:solidFill>
                <a:latin typeface="Times New Roman" panose="02020603050405020304" pitchFamily="18" charset="0"/>
              </a:rPr>
              <a:t>f(x)</a:t>
            </a:r>
            <a:r>
              <a:rPr lang="zh-CN" altLang="en-US" dirty="0">
                <a:solidFill>
                  <a:srgbClr val="C00000"/>
                </a:solidFill>
                <a:latin typeface="Times New Roman" panose="02020603050405020304" pitchFamily="18" charset="0"/>
              </a:rPr>
              <a:t>互素。</a:t>
            </a:r>
          </a:p>
          <a:p>
            <a:pPr eaLnBrk="1" hangingPunct="1">
              <a:lnSpc>
                <a:spcPct val="120000"/>
              </a:lnSpc>
            </a:pPr>
            <a:r>
              <a:rPr lang="zh-CN" altLang="en-US" dirty="0">
                <a:latin typeface="Times New Roman" panose="02020603050405020304" pitchFamily="18" charset="0"/>
              </a:rPr>
              <a:t>所有与</a:t>
            </a:r>
            <a:r>
              <a:rPr lang="en-US" altLang="zh-CN" dirty="0">
                <a:latin typeface="Times New Roman" panose="02020603050405020304" pitchFamily="18" charset="0"/>
              </a:rPr>
              <a:t>f(x)</a:t>
            </a:r>
            <a:r>
              <a:rPr lang="zh-CN" altLang="en-US" dirty="0">
                <a:latin typeface="Times New Roman" panose="02020603050405020304" pitchFamily="18" charset="0"/>
              </a:rPr>
              <a:t>互素的元素在模</a:t>
            </a:r>
            <a:r>
              <a:rPr lang="en-US" altLang="zh-CN" dirty="0">
                <a:latin typeface="Times New Roman" panose="02020603050405020304" pitchFamily="18" charset="0"/>
              </a:rPr>
              <a:t>f(x)</a:t>
            </a:r>
            <a:r>
              <a:rPr lang="zh-CN" altLang="en-US" dirty="0">
                <a:latin typeface="Times New Roman" panose="02020603050405020304" pitchFamily="18" charset="0"/>
              </a:rPr>
              <a:t>乘法下构成乘法交换群</a:t>
            </a:r>
          </a:p>
          <a:p>
            <a:pPr eaLnBrk="1" hangingPunct="1">
              <a:lnSpc>
                <a:spcPct val="120000"/>
              </a:lnSpc>
            </a:pPr>
            <a:r>
              <a:rPr lang="zh-CN" altLang="en-US" dirty="0">
                <a:latin typeface="Times New Roman" panose="02020603050405020304" pitchFamily="18" charset="0"/>
              </a:rPr>
              <a:t>次数比</a:t>
            </a:r>
            <a:r>
              <a:rPr lang="en-US" altLang="zh-CN" dirty="0">
                <a:latin typeface="Times New Roman" panose="02020603050405020304" pitchFamily="18" charset="0"/>
              </a:rPr>
              <a:t>f(x)</a:t>
            </a:r>
            <a:r>
              <a:rPr lang="zh-CN" altLang="en-US" dirty="0">
                <a:latin typeface="Times New Roman" panose="02020603050405020304" pitchFamily="18" charset="0"/>
              </a:rPr>
              <a:t>的次数低的多项式都与</a:t>
            </a:r>
            <a:r>
              <a:rPr lang="en-US" altLang="zh-CN" dirty="0">
                <a:latin typeface="Times New Roman" panose="02020603050405020304" pitchFamily="18" charset="0"/>
              </a:rPr>
              <a:t>f(x)</a:t>
            </a:r>
            <a:r>
              <a:rPr lang="zh-CN" altLang="en-US" dirty="0">
                <a:latin typeface="Times New Roman" panose="02020603050405020304" pitchFamily="18" charset="0"/>
              </a:rPr>
              <a:t>互素，则</a:t>
            </a:r>
            <a:r>
              <a:rPr lang="en-US" altLang="zh-CN" dirty="0">
                <a:latin typeface="Times New Roman" panose="02020603050405020304" pitchFamily="18" charset="0"/>
              </a:rPr>
              <a:t>f(x)</a:t>
            </a:r>
            <a:r>
              <a:rPr lang="zh-CN" altLang="en-US" dirty="0">
                <a:latin typeface="Times New Roman" panose="02020603050405020304" pitchFamily="18" charset="0"/>
              </a:rPr>
              <a:t>为</a:t>
            </a:r>
            <a:r>
              <a:rPr lang="zh-CN" altLang="en-US" u="sng" dirty="0">
                <a:latin typeface="Times New Roman" panose="02020603050405020304" pitchFamily="18" charset="0"/>
              </a:rPr>
              <a:t>不可约多项式</a:t>
            </a:r>
          </a:p>
          <a:p>
            <a:pPr eaLnBrk="1" hangingPunct="1">
              <a:lnSpc>
                <a:spcPct val="120000"/>
              </a:lnSpc>
            </a:pPr>
            <a:r>
              <a:rPr lang="zh-CN" altLang="en-US" dirty="0">
                <a:latin typeface="Times New Roman" panose="02020603050405020304" pitchFamily="18" charset="0"/>
              </a:rPr>
              <a:t>对于任一不可约多项式，</a:t>
            </a:r>
            <a:r>
              <a:rPr lang="en-US" altLang="zh-CN" dirty="0">
                <a:latin typeface="Times New Roman" panose="02020603050405020304" pitchFamily="18" charset="0"/>
              </a:rPr>
              <a:t>F[x]/(f(x))</a:t>
            </a:r>
            <a:r>
              <a:rPr lang="zh-CN" altLang="en-US" dirty="0">
                <a:latin typeface="Times New Roman" panose="02020603050405020304" pitchFamily="18" charset="0"/>
              </a:rPr>
              <a:t>为域</a:t>
            </a:r>
            <a:endParaRPr lang="en-US" altLang="zh-CN" dirty="0">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若</a:t>
            </a:r>
            <a:r>
              <a:rPr lang="en-US" altLang="zh-CN" dirty="0">
                <a:latin typeface="Times New Roman" panose="02020603050405020304" pitchFamily="18" charset="0"/>
              </a:rPr>
              <a:t>F=</a:t>
            </a:r>
            <a:r>
              <a:rPr lang="en-US" altLang="zh-CN" dirty="0" err="1">
                <a:latin typeface="Times New Roman" panose="02020603050405020304" pitchFamily="18" charset="0"/>
              </a:rPr>
              <a:t>Z</a:t>
            </a:r>
            <a:r>
              <a:rPr lang="en-US" altLang="zh-CN" baseline="-25000" dirty="0" err="1">
                <a:latin typeface="Times New Roman" panose="02020603050405020304" pitchFamily="18" charset="0"/>
              </a:rPr>
              <a:t>p</a:t>
            </a:r>
            <a:r>
              <a:rPr lang="zh-CN" altLang="en-US" dirty="0">
                <a:latin typeface="Times New Roman" panose="02020603050405020304" pitchFamily="18" charset="0"/>
              </a:rPr>
              <a:t>，则</a:t>
            </a:r>
            <a:r>
              <a:rPr lang="en-US" altLang="zh-CN" dirty="0">
                <a:latin typeface="Times New Roman" panose="02020603050405020304" pitchFamily="18" charset="0"/>
              </a:rPr>
              <a:t>F[x]/(f(x))</a:t>
            </a:r>
            <a:r>
              <a:rPr lang="zh-CN" altLang="en-US" dirty="0">
                <a:latin typeface="Times New Roman" panose="02020603050405020304" pitchFamily="18" charset="0"/>
              </a:rPr>
              <a:t>中元素个数为</a:t>
            </a:r>
            <a:r>
              <a:rPr lang="en-US" altLang="zh-CN" dirty="0" err="1">
                <a:latin typeface="Times New Roman" panose="02020603050405020304" pitchFamily="18" charset="0"/>
              </a:rPr>
              <a:t>p</a:t>
            </a:r>
            <a:r>
              <a:rPr lang="en-US" altLang="zh-CN" baseline="30000" dirty="0" err="1">
                <a:latin typeface="Times New Roman" panose="02020603050405020304" pitchFamily="18" charset="0"/>
              </a:rPr>
              <a:t>n</a:t>
            </a:r>
            <a:r>
              <a:rPr lang="zh-CN" altLang="en-US" dirty="0"/>
              <a:t>个</a:t>
            </a:r>
            <a:endParaRPr lang="en-US" altLang="zh-CN" dirty="0"/>
          </a:p>
          <a:p>
            <a:pPr eaLnBrk="1" hangingPunct="1">
              <a:lnSpc>
                <a:spcPct val="120000"/>
              </a:lnSpc>
            </a:pPr>
            <a:r>
              <a:rPr lang="en-US" altLang="zh-CN" dirty="0" err="1">
                <a:latin typeface="Times New Roman" panose="02020603050405020304" pitchFamily="18" charset="0"/>
              </a:rPr>
              <a:t>p</a:t>
            </a:r>
            <a:r>
              <a:rPr lang="en-US" altLang="zh-CN" baseline="30000" dirty="0" err="1">
                <a:latin typeface="Times New Roman" panose="02020603050405020304" pitchFamily="18" charset="0"/>
              </a:rPr>
              <a:t>n</a:t>
            </a:r>
            <a:r>
              <a:rPr lang="zh-CN" altLang="en-US" dirty="0">
                <a:latin typeface="Times New Roman" panose="02020603050405020304" pitchFamily="18" charset="0"/>
              </a:rPr>
              <a:t>域的构造方法是首先选取</a:t>
            </a:r>
            <a:r>
              <a:rPr lang="en-US" altLang="zh-CN" dirty="0" err="1"/>
              <a:t>Z</a:t>
            </a:r>
            <a:r>
              <a:rPr lang="en-US" altLang="zh-CN" baseline="-25000" dirty="0" err="1"/>
              <a:t>p</a:t>
            </a:r>
            <a:r>
              <a:rPr lang="zh-CN" altLang="en-US" dirty="0"/>
              <a:t>中的一个</a:t>
            </a:r>
            <a:r>
              <a:rPr lang="en-US" altLang="zh-CN" dirty="0"/>
              <a:t>n</a:t>
            </a:r>
            <a:r>
              <a:rPr lang="zh-CN" altLang="en-US" dirty="0"/>
              <a:t>次不可约多项式</a:t>
            </a:r>
            <a:r>
              <a:rPr lang="en-US" altLang="zh-CN" dirty="0"/>
              <a:t>f(x)</a:t>
            </a:r>
            <a:r>
              <a:rPr lang="zh-CN" altLang="en-US" dirty="0"/>
              <a:t>，然后构造集合</a:t>
            </a:r>
            <a:r>
              <a:rPr lang="en-US" altLang="zh-CN" dirty="0">
                <a:latin typeface="Times New Roman" panose="02020603050405020304" pitchFamily="18" charset="0"/>
              </a:rPr>
              <a:t>F[</a:t>
            </a:r>
            <a:r>
              <a:rPr lang="en-US" altLang="zh-CN" i="1" dirty="0">
                <a:latin typeface="Times New Roman" panose="02020603050405020304" pitchFamily="18" charset="0"/>
              </a:rPr>
              <a:t>x</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dirty="0">
                <a:latin typeface="Times New Roman" panose="02020603050405020304" pitchFamily="18" charset="0"/>
              </a:rPr>
              <a:t>(x)=</a:t>
            </a:r>
            <a:r>
              <a:rPr lang="en-US" altLang="zh-CN" i="1" dirty="0">
                <a:latin typeface="Times New Roman" panose="02020603050405020304" pitchFamily="18" charset="0"/>
              </a:rPr>
              <a:t>r</a:t>
            </a:r>
            <a:r>
              <a:rPr lang="en-US" altLang="zh-CN" baseline="-25000" dirty="0">
                <a:latin typeface="Times New Roman" panose="02020603050405020304" pitchFamily="18" charset="0"/>
              </a:rPr>
              <a:t>n-1</a:t>
            </a:r>
            <a:r>
              <a:rPr lang="en-US" altLang="zh-CN" i="1" dirty="0">
                <a:latin typeface="Times New Roman" panose="02020603050405020304" pitchFamily="18" charset="0"/>
              </a:rPr>
              <a:t>x</a:t>
            </a:r>
            <a:r>
              <a:rPr lang="en-US" altLang="zh-CN" baseline="30000" dirty="0">
                <a:latin typeface="Times New Roman" panose="02020603050405020304" pitchFamily="18" charset="0"/>
              </a:rPr>
              <a:t>n-1</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baseline="-25000" dirty="0">
                <a:latin typeface="Times New Roman" panose="02020603050405020304" pitchFamily="18" charset="0"/>
              </a:rPr>
              <a:t>n-2</a:t>
            </a:r>
            <a:r>
              <a:rPr lang="en-US" altLang="zh-CN" i="1" dirty="0">
                <a:latin typeface="Times New Roman" panose="02020603050405020304" pitchFamily="18" charset="0"/>
              </a:rPr>
              <a:t>x</a:t>
            </a:r>
            <a:r>
              <a:rPr lang="en-US" altLang="zh-CN" baseline="30000" dirty="0">
                <a:latin typeface="Times New Roman" panose="02020603050405020304" pitchFamily="18" charset="0"/>
              </a:rPr>
              <a:t>n-2</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baseline="-25000" dirty="0">
                <a:latin typeface="Times New Roman" panose="02020603050405020304" pitchFamily="18" charset="0"/>
              </a:rPr>
              <a:t>1</a:t>
            </a:r>
            <a:r>
              <a:rPr lang="en-US" altLang="zh-CN" i="1" dirty="0">
                <a:latin typeface="Times New Roman" panose="02020603050405020304" pitchFamily="18" charset="0"/>
              </a:rPr>
              <a:t>x</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baseline="-25000" dirty="0">
                <a:latin typeface="Times New Roman" panose="02020603050405020304" pitchFamily="18" charset="0"/>
              </a:rPr>
              <a:t>0</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baseline="-25000" dirty="0">
                <a:latin typeface="Times New Roman" panose="02020603050405020304" pitchFamily="18" charset="0"/>
              </a:rPr>
              <a:t>i</a:t>
            </a:r>
            <a:r>
              <a:rPr lang="en-US" altLang="zh-CN" dirty="0">
                <a:latin typeface="Times New Roman" panose="02020603050405020304" pitchFamily="18" charset="0"/>
              </a:rPr>
              <a:t>∈F, 0≤i≤n-1}</a:t>
            </a:r>
          </a:p>
          <a:p>
            <a:pPr eaLnBrk="1" hangingPunct="1">
              <a:lnSpc>
                <a:spcPct val="120000"/>
              </a:lnSpc>
              <a:buFont typeface="Arial" panose="020B0604020202020204" pitchFamily="34" charset="0"/>
              <a:buNone/>
            </a:pPr>
            <a:r>
              <a:rPr lang="zh-CN" altLang="en-US" dirty="0">
                <a:latin typeface="Times New Roman" panose="02020603050405020304" pitchFamily="18" charset="0"/>
              </a:rPr>
              <a:t>集合中的加法和乘法运算为模多项式</a:t>
            </a:r>
            <a:r>
              <a:rPr lang="en-US" altLang="zh-CN" dirty="0">
                <a:latin typeface="Times New Roman" panose="02020603050405020304" pitchFamily="18" charset="0"/>
              </a:rPr>
              <a:t>f(x)</a:t>
            </a:r>
            <a:r>
              <a:rPr lang="zh-CN" altLang="en-US" dirty="0">
                <a:latin typeface="Times New Roman" panose="02020603050405020304" pitchFamily="18" charset="0"/>
              </a:rPr>
              <a:t>的运算</a:t>
            </a:r>
          </a:p>
          <a:p>
            <a:pPr eaLnBrk="1" hangingPunct="1">
              <a:lnSpc>
                <a:spcPct val="120000"/>
              </a:lnSpc>
            </a:pPr>
            <a:endParaRPr lang="en-US" altLang="zh-CN"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4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4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4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4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64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64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648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标题 3">
            <a:extLst>
              <a:ext uri="{FF2B5EF4-FFF2-40B4-BE49-F238E27FC236}">
                <a16:creationId xmlns:a16="http://schemas.microsoft.com/office/drawing/2014/main" id="{F51048E2-404C-5A48-85AA-5551C5419157}"/>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AES</a:t>
            </a:r>
            <a:r>
              <a:rPr lang="zh-CN" altLang="en-US">
                <a:solidFill>
                  <a:srgbClr val="1F4E79"/>
                </a:solidFill>
              </a:rPr>
              <a:t>中的处理单元</a:t>
            </a:r>
          </a:p>
        </p:txBody>
      </p:sp>
      <p:sp>
        <p:nvSpPr>
          <p:cNvPr id="278530" name="内容占位符 4">
            <a:extLst>
              <a:ext uri="{FF2B5EF4-FFF2-40B4-BE49-F238E27FC236}">
                <a16:creationId xmlns:a16="http://schemas.microsoft.com/office/drawing/2014/main" id="{91658100-9589-B745-96F1-F74486626A22}"/>
              </a:ext>
            </a:extLst>
          </p:cNvPr>
          <p:cNvSpPr>
            <a:spLocks noGrp="1" noChangeArrowheads="1"/>
          </p:cNvSpPr>
          <p:nvPr>
            <p:ph idx="1"/>
          </p:nvPr>
        </p:nvSpPr>
        <p:spPr>
          <a:xfrm>
            <a:off x="823913" y="1465263"/>
            <a:ext cx="10515600" cy="4579937"/>
          </a:xfrm>
        </p:spPr>
        <p:txBody>
          <a:bodyPr/>
          <a:lstStyle/>
          <a:p>
            <a:pPr>
              <a:lnSpc>
                <a:spcPct val="120000"/>
              </a:lnSpc>
            </a:pPr>
            <a:r>
              <a:rPr lang="en-US" altLang="zh-CN" dirty="0">
                <a:latin typeface="Times New Roman" panose="02020603050405020304" pitchFamily="18" charset="0"/>
              </a:rPr>
              <a:t>AES</a:t>
            </a:r>
            <a:r>
              <a:rPr lang="zh-CN" altLang="en-US" dirty="0">
                <a:latin typeface="Times New Roman" panose="02020603050405020304" pitchFamily="18" charset="0"/>
              </a:rPr>
              <a:t>加密标准算法中是以字节为处理单元</a:t>
            </a:r>
            <a:endParaRPr lang="en-US" altLang="zh-CN" dirty="0">
              <a:latin typeface="Times New Roman" panose="02020603050405020304" pitchFamily="18" charset="0"/>
            </a:endParaRPr>
          </a:p>
          <a:p>
            <a:pPr>
              <a:lnSpc>
                <a:spcPct val="120000"/>
              </a:lnSpc>
            </a:pPr>
            <a:r>
              <a:rPr lang="zh-CN" altLang="en-US" dirty="0">
                <a:latin typeface="Times New Roman" panose="02020603050405020304" pitchFamily="18" charset="0"/>
              </a:rPr>
              <a:t>可以</a:t>
            </a:r>
            <a:r>
              <a:rPr lang="zh-CN" altLang="zh-CN" dirty="0">
                <a:latin typeface="Times New Roman" panose="02020603050405020304" pitchFamily="18" charset="0"/>
              </a:rPr>
              <a:t>将每一字节看作是有限域</a:t>
            </a:r>
            <a:r>
              <a:rPr lang="en-US" altLang="zh-CN" i="1" dirty="0">
                <a:latin typeface="Times New Roman" panose="02020603050405020304" pitchFamily="18" charset="0"/>
              </a:rPr>
              <a:t>GF</a:t>
            </a:r>
            <a:r>
              <a:rPr lang="en-US" altLang="zh-CN" dirty="0">
                <a:latin typeface="Times New Roman" panose="02020603050405020304" pitchFamily="18" charset="0"/>
              </a:rPr>
              <a:t>(2</a:t>
            </a:r>
            <a:r>
              <a:rPr lang="en-US" altLang="zh-CN" baseline="30000" dirty="0">
                <a:latin typeface="Times New Roman" panose="02020603050405020304" pitchFamily="18" charset="0"/>
              </a:rPr>
              <a:t>8</a:t>
            </a:r>
            <a:r>
              <a:rPr lang="en-US" altLang="zh-CN" dirty="0">
                <a:latin typeface="Times New Roman" panose="02020603050405020304" pitchFamily="18" charset="0"/>
              </a:rPr>
              <a:t>)</a:t>
            </a:r>
            <a:r>
              <a:rPr lang="zh-CN" altLang="zh-CN" dirty="0">
                <a:latin typeface="Times New Roman" panose="02020603050405020304" pitchFamily="18" charset="0"/>
              </a:rPr>
              <a:t>上的一个元素，分别对应于一个次数不超过</a:t>
            </a:r>
            <a:r>
              <a:rPr lang="en-US" altLang="zh-CN" dirty="0">
                <a:latin typeface="Times New Roman" panose="02020603050405020304" pitchFamily="18" charset="0"/>
              </a:rPr>
              <a:t>7</a:t>
            </a:r>
            <a:r>
              <a:rPr lang="zh-CN" altLang="zh-CN" dirty="0">
                <a:latin typeface="Times New Roman" panose="02020603050405020304" pitchFamily="18" charset="0"/>
              </a:rPr>
              <a:t>的多项式。如</a:t>
            </a:r>
            <a:r>
              <a:rPr lang="en-US" altLang="zh-CN" i="1" dirty="0">
                <a:latin typeface="Times New Roman" panose="02020603050405020304" pitchFamily="18" charset="0"/>
              </a:rPr>
              <a:t>b</a:t>
            </a:r>
            <a:r>
              <a:rPr lang="en-US" altLang="zh-CN" baseline="-25000" dirty="0">
                <a:latin typeface="Times New Roman" panose="02020603050405020304" pitchFamily="18" charset="0"/>
              </a:rPr>
              <a:t>7</a:t>
            </a:r>
            <a:r>
              <a:rPr lang="en-US" altLang="zh-CN" i="1" dirty="0">
                <a:latin typeface="Times New Roman" panose="02020603050405020304" pitchFamily="18" charset="0"/>
              </a:rPr>
              <a:t>b</a:t>
            </a:r>
            <a:r>
              <a:rPr lang="en-US" altLang="zh-CN" baseline="-25000" dirty="0">
                <a:latin typeface="Times New Roman" panose="02020603050405020304" pitchFamily="18" charset="0"/>
              </a:rPr>
              <a:t>6</a:t>
            </a:r>
            <a:r>
              <a:rPr lang="en-US" altLang="zh-CN" i="1" dirty="0">
                <a:latin typeface="Times New Roman" panose="02020603050405020304" pitchFamily="18" charset="0"/>
              </a:rPr>
              <a:t>b</a:t>
            </a:r>
            <a:r>
              <a:rPr lang="en-US" altLang="zh-CN" baseline="-25000" dirty="0">
                <a:latin typeface="Times New Roman" panose="02020603050405020304" pitchFamily="18" charset="0"/>
              </a:rPr>
              <a:t>5</a:t>
            </a:r>
            <a:r>
              <a:rPr lang="en-US" altLang="zh-CN" i="1" dirty="0">
                <a:latin typeface="Times New Roman" panose="02020603050405020304" pitchFamily="18" charset="0"/>
              </a:rPr>
              <a:t>b</a:t>
            </a:r>
            <a:r>
              <a:rPr lang="en-US" altLang="zh-CN" baseline="-25000" dirty="0">
                <a:latin typeface="Times New Roman" panose="02020603050405020304" pitchFamily="18" charset="0"/>
              </a:rPr>
              <a:t>4</a:t>
            </a:r>
            <a:r>
              <a:rPr lang="en-US" altLang="zh-CN" i="1" dirty="0">
                <a:latin typeface="Times New Roman" panose="02020603050405020304" pitchFamily="18" charset="0"/>
              </a:rPr>
              <a:t>b</a:t>
            </a:r>
            <a:r>
              <a:rPr lang="en-US" altLang="zh-CN" baseline="-25000" dirty="0">
                <a:latin typeface="Times New Roman" panose="02020603050405020304" pitchFamily="18" charset="0"/>
              </a:rPr>
              <a:t>3</a:t>
            </a:r>
            <a:r>
              <a:rPr lang="en-US" altLang="zh-CN" i="1" dirty="0">
                <a:latin typeface="Times New Roman" panose="02020603050405020304" pitchFamily="18" charset="0"/>
              </a:rPr>
              <a:t>b</a:t>
            </a:r>
            <a:r>
              <a:rPr lang="en-US" altLang="zh-CN" baseline="-25000" dirty="0">
                <a:latin typeface="Times New Roman" panose="02020603050405020304" pitchFamily="18" charset="0"/>
              </a:rPr>
              <a:t>2</a:t>
            </a:r>
            <a:r>
              <a:rPr lang="en-US" altLang="zh-CN" i="1" dirty="0">
                <a:latin typeface="Times New Roman" panose="02020603050405020304" pitchFamily="18" charset="0"/>
              </a:rPr>
              <a:t>b</a:t>
            </a:r>
            <a:r>
              <a:rPr lang="en-US" altLang="zh-CN" baseline="-25000" dirty="0">
                <a:latin typeface="Times New Roman" panose="02020603050405020304" pitchFamily="18" charset="0"/>
              </a:rPr>
              <a:t>1</a:t>
            </a:r>
            <a:r>
              <a:rPr lang="en-US" altLang="zh-CN" i="1" dirty="0">
                <a:latin typeface="Times New Roman" panose="02020603050405020304" pitchFamily="18" charset="0"/>
              </a:rPr>
              <a:t>b</a:t>
            </a:r>
            <a:r>
              <a:rPr lang="en-US" altLang="zh-CN" baseline="-25000" dirty="0">
                <a:latin typeface="Times New Roman" panose="02020603050405020304" pitchFamily="18" charset="0"/>
              </a:rPr>
              <a:t>0</a:t>
            </a:r>
            <a:r>
              <a:rPr lang="zh-CN" altLang="zh-CN" dirty="0">
                <a:latin typeface="Times New Roman" panose="02020603050405020304" pitchFamily="18" charset="0"/>
              </a:rPr>
              <a:t>可表示为多项式</a:t>
            </a:r>
          </a:p>
          <a:p>
            <a:pPr algn="ctr">
              <a:lnSpc>
                <a:spcPct val="120000"/>
              </a:lnSpc>
              <a:buFont typeface="Arial" panose="020B0604020202020204" pitchFamily="34" charset="0"/>
              <a:buNone/>
            </a:pPr>
            <a:r>
              <a:rPr lang="en-US" altLang="zh-CN" i="1" dirty="0">
                <a:latin typeface="Times New Roman" panose="02020603050405020304" pitchFamily="18" charset="0"/>
              </a:rPr>
              <a:t>b</a:t>
            </a:r>
            <a:r>
              <a:rPr lang="en-US" altLang="zh-CN" baseline="-25000" dirty="0">
                <a:latin typeface="Times New Roman" panose="02020603050405020304" pitchFamily="18" charset="0"/>
              </a:rPr>
              <a:t>7</a:t>
            </a:r>
            <a:r>
              <a:rPr lang="en-US" altLang="zh-CN" i="1" dirty="0">
                <a:latin typeface="Times New Roman" panose="02020603050405020304" pitchFamily="18" charset="0"/>
              </a:rPr>
              <a:t>x</a:t>
            </a:r>
            <a:r>
              <a:rPr lang="en-US" altLang="zh-CN" baseline="30000" dirty="0">
                <a:latin typeface="Times New Roman" panose="02020603050405020304" pitchFamily="18" charset="0"/>
              </a:rPr>
              <a:t>7</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6</a:t>
            </a:r>
            <a:r>
              <a:rPr lang="en-US" altLang="zh-CN" i="1" dirty="0">
                <a:latin typeface="Times New Roman" panose="02020603050405020304" pitchFamily="18" charset="0"/>
              </a:rPr>
              <a:t>x</a:t>
            </a:r>
            <a:r>
              <a:rPr lang="en-US" altLang="zh-CN" baseline="30000" dirty="0">
                <a:latin typeface="Times New Roman" panose="02020603050405020304" pitchFamily="18" charset="0"/>
              </a:rPr>
              <a:t>6</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5</a:t>
            </a:r>
            <a:r>
              <a:rPr lang="en-US" altLang="zh-CN" i="1" dirty="0">
                <a:latin typeface="Times New Roman" panose="02020603050405020304" pitchFamily="18" charset="0"/>
              </a:rPr>
              <a:t>x</a:t>
            </a:r>
            <a:r>
              <a:rPr lang="en-US" altLang="zh-CN" baseline="30000" dirty="0">
                <a:latin typeface="Times New Roman" panose="02020603050405020304" pitchFamily="18" charset="0"/>
              </a:rPr>
              <a:t>5</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4</a:t>
            </a:r>
            <a:r>
              <a:rPr lang="en-US" altLang="zh-CN" i="1" dirty="0">
                <a:latin typeface="Times New Roman" panose="02020603050405020304" pitchFamily="18" charset="0"/>
              </a:rPr>
              <a:t>x</a:t>
            </a:r>
            <a:r>
              <a:rPr lang="en-US" altLang="zh-CN" baseline="30000" dirty="0">
                <a:latin typeface="Times New Roman" panose="02020603050405020304" pitchFamily="18" charset="0"/>
              </a:rPr>
              <a:t>4</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3</a:t>
            </a:r>
            <a:r>
              <a:rPr lang="en-US" altLang="zh-CN" i="1" dirty="0">
                <a:latin typeface="Times New Roman" panose="02020603050405020304" pitchFamily="18" charset="0"/>
              </a:rPr>
              <a:t>x</a:t>
            </a:r>
            <a:r>
              <a:rPr lang="en-US" altLang="zh-CN" baseline="30000" dirty="0">
                <a:latin typeface="Times New Roman" panose="02020603050405020304" pitchFamily="18" charset="0"/>
              </a:rPr>
              <a:t>3</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2</a:t>
            </a:r>
            <a:r>
              <a:rPr lang="en-US" altLang="zh-CN" i="1" dirty="0">
                <a:latin typeface="Times New Roman" panose="02020603050405020304" pitchFamily="18" charset="0"/>
              </a:rPr>
              <a:t>x</a:t>
            </a:r>
            <a:r>
              <a:rPr lang="en-US" altLang="zh-CN" baseline="30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1</a:t>
            </a:r>
            <a:r>
              <a:rPr lang="en-US" altLang="zh-CN" i="1" dirty="0">
                <a:latin typeface="Times New Roman" panose="02020603050405020304" pitchFamily="18" charset="0"/>
              </a:rPr>
              <a:t>x</a:t>
            </a:r>
            <a:r>
              <a:rPr lang="en-US" altLang="zh-CN" baseline="30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0</a:t>
            </a:r>
            <a:endParaRPr lang="zh-CN" altLang="zh-CN" dirty="0">
              <a:latin typeface="Times New Roman" panose="02020603050405020304" pitchFamily="18" charset="0"/>
            </a:endParaRPr>
          </a:p>
          <a:p>
            <a:pPr>
              <a:lnSpc>
                <a:spcPct val="120000"/>
              </a:lnSpc>
            </a:pPr>
            <a:r>
              <a:rPr lang="zh-CN" altLang="zh-CN" dirty="0">
                <a:latin typeface="Times New Roman" panose="02020603050405020304" pitchFamily="18" charset="0"/>
              </a:rPr>
              <a:t>还可以将每个字节表示为一个十六进制数，即每</a:t>
            </a:r>
            <a:r>
              <a:rPr lang="en-US" altLang="zh-CN" dirty="0">
                <a:latin typeface="Times New Roman" panose="02020603050405020304" pitchFamily="18" charset="0"/>
              </a:rPr>
              <a:t>4</a:t>
            </a:r>
            <a:r>
              <a:rPr lang="zh-CN" altLang="zh-CN" dirty="0">
                <a:latin typeface="Times New Roman" panose="02020603050405020304" pitchFamily="18" charset="0"/>
              </a:rPr>
              <a:t>比特表示为一个十六进制数，代表较高位的</a:t>
            </a:r>
            <a:r>
              <a:rPr lang="en-US" altLang="zh-CN" dirty="0">
                <a:latin typeface="Times New Roman" panose="02020603050405020304" pitchFamily="18" charset="0"/>
              </a:rPr>
              <a:t>4</a:t>
            </a:r>
            <a:r>
              <a:rPr lang="zh-CN" altLang="zh-CN" dirty="0">
                <a:latin typeface="Times New Roman" panose="02020603050405020304" pitchFamily="18" charset="0"/>
              </a:rPr>
              <a:t>比特的符号仍在左边。例如，</a:t>
            </a:r>
            <a:r>
              <a:rPr lang="en-US" altLang="zh-CN" dirty="0">
                <a:latin typeface="Times New Roman" panose="02020603050405020304" pitchFamily="18" charset="0"/>
              </a:rPr>
              <a:t>01101011</a:t>
            </a:r>
            <a:r>
              <a:rPr lang="zh-CN" altLang="zh-CN" dirty="0">
                <a:latin typeface="Times New Roman" panose="02020603050405020304" pitchFamily="18" charset="0"/>
              </a:rPr>
              <a:t>可表示为</a:t>
            </a:r>
            <a:r>
              <a:rPr lang="en-US" altLang="zh-CN" dirty="0">
                <a:latin typeface="Times New Roman" panose="02020603050405020304" pitchFamily="18" charset="0"/>
              </a:rPr>
              <a:t>6B</a:t>
            </a:r>
          </a:p>
          <a:p>
            <a:pPr>
              <a:lnSpc>
                <a:spcPct val="120000"/>
              </a:lnSpc>
            </a:pPr>
            <a:r>
              <a:rPr lang="zh-CN" altLang="zh-CN" dirty="0">
                <a:latin typeface="Times New Roman" panose="02020603050405020304" pitchFamily="18" charset="0"/>
              </a:rPr>
              <a:t>它们之间的运算为</a:t>
            </a:r>
            <a:r>
              <a:rPr lang="en-US" altLang="zh-CN" i="1" dirty="0">
                <a:latin typeface="Times New Roman" panose="02020603050405020304" pitchFamily="18" charset="0"/>
              </a:rPr>
              <a:t>GF</a:t>
            </a:r>
            <a:r>
              <a:rPr lang="en-US" altLang="zh-CN" dirty="0">
                <a:latin typeface="Times New Roman" panose="02020603050405020304" pitchFamily="18" charset="0"/>
              </a:rPr>
              <a:t>(2</a:t>
            </a:r>
            <a:r>
              <a:rPr lang="en-US" altLang="zh-CN" baseline="30000" dirty="0">
                <a:latin typeface="Times New Roman" panose="02020603050405020304" pitchFamily="18" charset="0"/>
              </a:rPr>
              <a:t>8</a:t>
            </a:r>
            <a:r>
              <a:rPr lang="en-US" altLang="zh-CN" dirty="0">
                <a:latin typeface="Times New Roman" panose="02020603050405020304" pitchFamily="18" charset="0"/>
              </a:rPr>
              <a:t>)</a:t>
            </a:r>
            <a:r>
              <a:rPr lang="zh-CN" altLang="zh-CN" dirty="0">
                <a:latin typeface="Times New Roman" panose="02020603050405020304" pitchFamily="18" charset="0"/>
              </a:rPr>
              <a:t>中的运算</a:t>
            </a:r>
            <a:endParaRPr lang="zh-CN" altLang="en-US" dirty="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85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85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85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85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85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标题 1">
            <a:extLst>
              <a:ext uri="{FF2B5EF4-FFF2-40B4-BE49-F238E27FC236}">
                <a16:creationId xmlns:a16="http://schemas.microsoft.com/office/drawing/2014/main" id="{560D58AF-B045-0142-8AF5-39B03507275D}"/>
              </a:ext>
            </a:extLst>
          </p:cNvPr>
          <p:cNvSpPr>
            <a:spLocks noGrp="1" noChangeArrowheads="1"/>
          </p:cNvSpPr>
          <p:nvPr>
            <p:ph type="title"/>
          </p:nvPr>
        </p:nvSpPr>
        <p:spPr>
          <a:xfrm>
            <a:off x="1465263" y="365125"/>
            <a:ext cx="9037637" cy="668338"/>
          </a:xfrm>
        </p:spPr>
        <p:txBody>
          <a:bodyPr/>
          <a:lstStyle/>
          <a:p>
            <a:r>
              <a:rPr lang="en-US" altLang="zh-CN" sz="4000">
                <a:solidFill>
                  <a:srgbClr val="1F4E79"/>
                </a:solidFill>
              </a:rPr>
              <a:t>GF(2</a:t>
            </a:r>
            <a:r>
              <a:rPr lang="en-US" altLang="zh-CN" sz="4000" baseline="30000">
                <a:solidFill>
                  <a:srgbClr val="1F4E79"/>
                </a:solidFill>
              </a:rPr>
              <a:t>8</a:t>
            </a:r>
            <a:r>
              <a:rPr lang="en-US" altLang="zh-CN" sz="4000">
                <a:solidFill>
                  <a:srgbClr val="1F4E79"/>
                </a:solidFill>
              </a:rPr>
              <a:t>)</a:t>
            </a:r>
            <a:r>
              <a:rPr lang="zh-CN" altLang="zh-CN" sz="4000">
                <a:solidFill>
                  <a:srgbClr val="1F4E79"/>
                </a:solidFill>
              </a:rPr>
              <a:t>中的运算</a:t>
            </a:r>
            <a:endParaRPr lang="zh-CN" altLang="en-US">
              <a:solidFill>
                <a:srgbClr val="1F4E79"/>
              </a:solidFill>
            </a:endParaRPr>
          </a:p>
        </p:txBody>
      </p:sp>
      <p:sp>
        <p:nvSpPr>
          <p:cNvPr id="280578" name="内容占位符 2">
            <a:extLst>
              <a:ext uri="{FF2B5EF4-FFF2-40B4-BE49-F238E27FC236}">
                <a16:creationId xmlns:a16="http://schemas.microsoft.com/office/drawing/2014/main" id="{94A4D4FB-F393-9542-9B05-AC183C6DB135}"/>
              </a:ext>
            </a:extLst>
          </p:cNvPr>
          <p:cNvSpPr>
            <a:spLocks noGrp="1" noChangeArrowheads="1"/>
          </p:cNvSpPr>
          <p:nvPr>
            <p:ph idx="1"/>
          </p:nvPr>
        </p:nvSpPr>
        <p:spPr>
          <a:xfrm>
            <a:off x="838200" y="1066800"/>
            <a:ext cx="10515600" cy="5105400"/>
          </a:xfrm>
        </p:spPr>
        <p:txBody>
          <a:bodyPr/>
          <a:lstStyle/>
          <a:p>
            <a:pPr eaLnBrk="1" hangingPunct="1">
              <a:lnSpc>
                <a:spcPct val="120000"/>
              </a:lnSpc>
              <a:spcBef>
                <a:spcPts val="600"/>
              </a:spcBef>
              <a:buFont typeface="Arial" panose="020B0604020202020204" pitchFamily="34" charset="0"/>
              <a:buNone/>
            </a:pPr>
            <a:r>
              <a:rPr lang="zh-CN" altLang="en-US">
                <a:solidFill>
                  <a:srgbClr val="FF0000"/>
                </a:solidFill>
                <a:latin typeface="Times New Roman" panose="02020603050405020304" pitchFamily="18" charset="0"/>
              </a:rPr>
              <a:t>定义：</a:t>
            </a:r>
            <a:r>
              <a:rPr lang="zh-CN" altLang="en-US">
                <a:latin typeface="Times New Roman" panose="02020603050405020304" pitchFamily="18" charset="0"/>
              </a:rPr>
              <a:t>在</a:t>
            </a:r>
            <a:r>
              <a:rPr lang="en-US" altLang="zh-CN" i="1">
                <a:latin typeface="Times New Roman" panose="02020603050405020304" pitchFamily="18" charset="0"/>
              </a:rPr>
              <a:t>GF</a:t>
            </a:r>
            <a:r>
              <a:rPr lang="en-US" altLang="zh-CN">
                <a:latin typeface="Times New Roman" panose="02020603050405020304" pitchFamily="18" charset="0"/>
              </a:rPr>
              <a:t>(2</a:t>
            </a:r>
            <a:r>
              <a:rPr lang="en-US" altLang="zh-CN" baseline="30000">
                <a:latin typeface="Times New Roman" panose="02020603050405020304" pitchFamily="18" charset="0"/>
              </a:rPr>
              <a:t>8</a:t>
            </a:r>
            <a:r>
              <a:rPr lang="en-US" altLang="zh-CN">
                <a:latin typeface="Times New Roman" panose="02020603050405020304" pitchFamily="18" charset="0"/>
              </a:rPr>
              <a:t>)</a:t>
            </a:r>
            <a:r>
              <a:rPr lang="zh-CN" altLang="zh-CN">
                <a:latin typeface="Times New Roman" panose="02020603050405020304" pitchFamily="18" charset="0"/>
              </a:rPr>
              <a:t> </a:t>
            </a:r>
            <a:r>
              <a:rPr lang="zh-CN" altLang="en-US">
                <a:latin typeface="Times New Roman" panose="02020603050405020304" pitchFamily="18" charset="0"/>
              </a:rPr>
              <a:t>上的加法定义为二进制多项式的加法，且其系数模</a:t>
            </a:r>
            <a:r>
              <a:rPr lang="en-US" altLang="zh-CN">
                <a:latin typeface="Times New Roman" panose="02020603050405020304" pitchFamily="18" charset="0"/>
              </a:rPr>
              <a:t>2</a:t>
            </a:r>
            <a:r>
              <a:rPr lang="zh-CN" altLang="en-US">
                <a:latin typeface="Times New Roman" panose="02020603050405020304" pitchFamily="18" charset="0"/>
              </a:rPr>
              <a:t>。</a:t>
            </a:r>
            <a:endParaRPr lang="en-US" altLang="zh-CN">
              <a:latin typeface="Times New Roman" panose="02020603050405020304" pitchFamily="18" charset="0"/>
            </a:endParaRPr>
          </a:p>
          <a:p>
            <a:pPr>
              <a:lnSpc>
                <a:spcPct val="120000"/>
              </a:lnSpc>
              <a:spcBef>
                <a:spcPts val="600"/>
              </a:spcBef>
              <a:buFontTx/>
              <a:buNone/>
            </a:pPr>
            <a:r>
              <a:rPr lang="zh-CN" altLang="en-US">
                <a:latin typeface="Times New Roman" panose="02020603050405020304" pitchFamily="18" charset="0"/>
              </a:rPr>
              <a:t>例如：‘57’+‘83’=‘</a:t>
            </a:r>
            <a:r>
              <a:rPr lang="en-US" altLang="zh-CN">
                <a:latin typeface="Times New Roman" panose="02020603050405020304" pitchFamily="18" charset="0"/>
              </a:rPr>
              <a:t>D4’，</a:t>
            </a:r>
            <a:r>
              <a:rPr lang="zh-CN" altLang="en-US">
                <a:latin typeface="Times New Roman" panose="02020603050405020304" pitchFamily="18" charset="0"/>
              </a:rPr>
              <a:t>用多项式表示为</a:t>
            </a:r>
          </a:p>
          <a:p>
            <a:pPr algn="ctr">
              <a:lnSpc>
                <a:spcPct val="120000"/>
              </a:lnSpc>
              <a:spcBef>
                <a:spcPts val="600"/>
              </a:spcBef>
              <a:buFontTx/>
              <a:buNone/>
            </a:pPr>
            <a:r>
              <a:rPr lang="zh-CN" altLang="en-US">
                <a:latin typeface="Times New Roman" panose="02020603050405020304" pitchFamily="18" charset="0"/>
              </a:rPr>
              <a:t>(</a:t>
            </a:r>
            <a:r>
              <a:rPr lang="en-US" altLang="zh-CN">
                <a:latin typeface="Times New Roman" panose="02020603050405020304" pitchFamily="18" charset="0"/>
              </a:rPr>
              <a:t>x</a:t>
            </a:r>
            <a:r>
              <a:rPr lang="en-US" altLang="zh-CN" baseline="30000">
                <a:latin typeface="Times New Roman" panose="02020603050405020304" pitchFamily="18" charset="0"/>
              </a:rPr>
              <a:t>6</a:t>
            </a:r>
            <a:r>
              <a:rPr lang="en-US" altLang="zh-CN">
                <a:latin typeface="Times New Roman" panose="02020603050405020304" pitchFamily="18" charset="0"/>
              </a:rPr>
              <a:t>+x</a:t>
            </a:r>
            <a:r>
              <a:rPr lang="en-US" altLang="zh-CN" baseline="30000">
                <a:latin typeface="Times New Roman" panose="02020603050405020304" pitchFamily="18" charset="0"/>
              </a:rPr>
              <a:t>4</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+x+1)+(x</a:t>
            </a:r>
            <a:r>
              <a:rPr lang="en-US" altLang="zh-CN" baseline="30000">
                <a:latin typeface="Times New Roman" panose="02020603050405020304" pitchFamily="18" charset="0"/>
              </a:rPr>
              <a:t>7</a:t>
            </a:r>
            <a:r>
              <a:rPr lang="en-US" altLang="zh-CN">
                <a:latin typeface="Times New Roman" panose="02020603050405020304" pitchFamily="18" charset="0"/>
              </a:rPr>
              <a:t>+x+1)=x</a:t>
            </a:r>
            <a:r>
              <a:rPr lang="en-US" altLang="zh-CN" baseline="30000">
                <a:latin typeface="Times New Roman" panose="02020603050405020304" pitchFamily="18" charset="0"/>
              </a:rPr>
              <a:t>7</a:t>
            </a:r>
            <a:r>
              <a:rPr lang="en-US" altLang="zh-CN">
                <a:latin typeface="Times New Roman" panose="02020603050405020304" pitchFamily="18" charset="0"/>
              </a:rPr>
              <a:t>+x</a:t>
            </a:r>
            <a:r>
              <a:rPr lang="en-US" altLang="zh-CN" baseline="30000">
                <a:latin typeface="Times New Roman" panose="02020603050405020304" pitchFamily="18" charset="0"/>
              </a:rPr>
              <a:t>6</a:t>
            </a:r>
            <a:r>
              <a:rPr lang="en-US" altLang="zh-CN">
                <a:latin typeface="Times New Roman" panose="02020603050405020304" pitchFamily="18" charset="0"/>
              </a:rPr>
              <a:t>+ x</a:t>
            </a:r>
            <a:r>
              <a:rPr lang="en-US" altLang="zh-CN" baseline="30000">
                <a:latin typeface="Times New Roman" panose="02020603050405020304" pitchFamily="18" charset="0"/>
              </a:rPr>
              <a:t>4</a:t>
            </a:r>
            <a:r>
              <a:rPr lang="en-US" altLang="zh-CN">
                <a:latin typeface="Times New Roman" panose="02020603050405020304" pitchFamily="18" charset="0"/>
              </a:rPr>
              <a:t>+ x</a:t>
            </a:r>
            <a:r>
              <a:rPr lang="en-US" altLang="zh-CN" baseline="30000">
                <a:latin typeface="Times New Roman" panose="02020603050405020304" pitchFamily="18" charset="0"/>
              </a:rPr>
              <a:t>2</a:t>
            </a:r>
            <a:r>
              <a:rPr lang="en-US" altLang="zh-CN">
                <a:latin typeface="Times New Roman" panose="02020603050405020304" pitchFamily="18" charset="0"/>
              </a:rPr>
              <a:t> (mod m(x))</a:t>
            </a:r>
          </a:p>
          <a:p>
            <a:pPr>
              <a:lnSpc>
                <a:spcPct val="120000"/>
              </a:lnSpc>
              <a:spcBef>
                <a:spcPts val="600"/>
              </a:spcBef>
              <a:buFontTx/>
              <a:buNone/>
            </a:pPr>
            <a:r>
              <a:rPr lang="zh-CN" altLang="en-US">
                <a:latin typeface="Times New Roman" panose="02020603050405020304" pitchFamily="18" charset="0"/>
              </a:rPr>
              <a:t>用二进制表示为</a:t>
            </a:r>
            <a:endParaRPr lang="en-US" altLang="zh-CN">
              <a:latin typeface="Times New Roman" panose="02020603050405020304" pitchFamily="18" charset="0"/>
            </a:endParaRPr>
          </a:p>
          <a:p>
            <a:pPr algn="ctr">
              <a:lnSpc>
                <a:spcPct val="120000"/>
              </a:lnSpc>
              <a:spcBef>
                <a:spcPts val="600"/>
              </a:spcBef>
              <a:buFontTx/>
              <a:buNone/>
            </a:pPr>
            <a:r>
              <a:rPr lang="zh-CN" altLang="en-US">
                <a:latin typeface="Times New Roman" panose="02020603050405020304" pitchFamily="18" charset="0"/>
              </a:rPr>
              <a:t>01010111+10000011=11010100</a:t>
            </a:r>
          </a:p>
          <a:p>
            <a:pPr eaLnBrk="1" hangingPunct="1">
              <a:lnSpc>
                <a:spcPct val="120000"/>
              </a:lnSpc>
              <a:spcBef>
                <a:spcPts val="600"/>
              </a:spcBef>
              <a:buFont typeface="Arial" panose="020B0604020202020204" pitchFamily="34" charset="0"/>
              <a:buNone/>
            </a:pPr>
            <a:r>
              <a:rPr lang="zh-CN" altLang="en-US">
                <a:solidFill>
                  <a:srgbClr val="FF0000"/>
                </a:solidFill>
                <a:latin typeface="Times New Roman" panose="02020603050405020304" pitchFamily="18" charset="0"/>
              </a:rPr>
              <a:t>定义：</a:t>
            </a:r>
            <a:r>
              <a:rPr lang="zh-CN" altLang="en-US">
                <a:latin typeface="Times New Roman" panose="02020603050405020304" pitchFamily="18" charset="0"/>
              </a:rPr>
              <a:t>在</a:t>
            </a:r>
            <a:r>
              <a:rPr lang="en-US" altLang="zh-CN" i="1">
                <a:latin typeface="Times New Roman" panose="02020603050405020304" pitchFamily="18" charset="0"/>
              </a:rPr>
              <a:t>GF</a:t>
            </a:r>
            <a:r>
              <a:rPr lang="en-US" altLang="zh-CN">
                <a:latin typeface="Times New Roman" panose="02020603050405020304" pitchFamily="18" charset="0"/>
              </a:rPr>
              <a:t>(2</a:t>
            </a:r>
            <a:r>
              <a:rPr lang="en-US" altLang="zh-CN" baseline="30000">
                <a:latin typeface="Times New Roman" panose="02020603050405020304" pitchFamily="18" charset="0"/>
              </a:rPr>
              <a:t>8</a:t>
            </a:r>
            <a:r>
              <a:rPr lang="en-US" altLang="zh-CN">
                <a:latin typeface="Times New Roman" panose="02020603050405020304" pitchFamily="18" charset="0"/>
              </a:rPr>
              <a:t>)</a:t>
            </a:r>
            <a:r>
              <a:rPr lang="zh-CN" altLang="en-US">
                <a:latin typeface="Times New Roman" panose="02020603050405020304" pitchFamily="18" charset="0"/>
              </a:rPr>
              <a:t>上的乘法（用符号</a:t>
            </a:r>
            <a:r>
              <a:rPr lang="en-US" altLang="zh-CN">
                <a:latin typeface="Times New Roman" panose="02020603050405020304" pitchFamily="18" charset="0"/>
              </a:rPr>
              <a:t>·</a:t>
            </a:r>
            <a:r>
              <a:rPr lang="zh-CN" altLang="en-US">
                <a:latin typeface="Times New Roman" panose="02020603050405020304" pitchFamily="18" charset="0"/>
              </a:rPr>
              <a:t>表示）定义为二进制多项式的乘积模一个次数为</a:t>
            </a:r>
            <a:r>
              <a:rPr lang="en-US" altLang="zh-CN">
                <a:latin typeface="Times New Roman" panose="02020603050405020304" pitchFamily="18" charset="0"/>
              </a:rPr>
              <a:t>8</a:t>
            </a:r>
            <a:r>
              <a:rPr lang="zh-CN" altLang="en-US">
                <a:latin typeface="Times New Roman" panose="02020603050405020304" pitchFamily="18" charset="0"/>
              </a:rPr>
              <a:t>的不可约二进制多项式</a:t>
            </a:r>
            <a:endParaRPr lang="en-US" altLang="zh-CN">
              <a:latin typeface="Times New Roman" panose="02020603050405020304" pitchFamily="18" charset="0"/>
            </a:endParaRPr>
          </a:p>
          <a:p>
            <a:pPr algn="ctr" eaLnBrk="1" hangingPunct="1">
              <a:lnSpc>
                <a:spcPct val="120000"/>
              </a:lnSpc>
              <a:spcBef>
                <a:spcPts val="600"/>
              </a:spcBef>
              <a:buFont typeface="Arial" panose="020B0604020202020204" pitchFamily="34" charset="0"/>
              <a:buNone/>
            </a:pPr>
            <a:r>
              <a:rPr lang="en-US" altLang="zh-CN">
                <a:latin typeface="Times New Roman" panose="02020603050405020304" pitchFamily="18" charset="0"/>
              </a:rPr>
              <a:t>m(x)= x</a:t>
            </a:r>
            <a:r>
              <a:rPr lang="en-US" altLang="zh-CN" baseline="30000">
                <a:latin typeface="Times New Roman" panose="02020603050405020304" pitchFamily="18" charset="0"/>
              </a:rPr>
              <a:t>8</a:t>
            </a:r>
            <a:r>
              <a:rPr lang="en-US" altLang="zh-CN">
                <a:latin typeface="Times New Roman" panose="02020603050405020304" pitchFamily="18" charset="0"/>
              </a:rPr>
              <a:t>+x</a:t>
            </a:r>
            <a:r>
              <a:rPr lang="en-US" altLang="zh-CN" baseline="30000">
                <a:latin typeface="Times New Roman" panose="02020603050405020304" pitchFamily="18" charset="0"/>
              </a:rPr>
              <a:t>4</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+x+1</a:t>
            </a:r>
          </a:p>
          <a:p>
            <a:pPr>
              <a:spcBef>
                <a:spcPts val="600"/>
              </a:spcBef>
              <a:buFontTx/>
              <a:buNone/>
            </a:pPr>
            <a:r>
              <a:rPr lang="zh-CN" altLang="en-US">
                <a:latin typeface="Times New Roman" panose="02020603050405020304" pitchFamily="18" charset="0"/>
              </a:rPr>
              <a:t>它的十六进制表示为‘11</a:t>
            </a:r>
            <a:r>
              <a:rPr lang="en-US" altLang="zh-CN">
                <a:latin typeface="Times New Roman" panose="02020603050405020304" pitchFamily="18" charset="0"/>
              </a:rPr>
              <a:t>B’</a:t>
            </a:r>
            <a:r>
              <a:rPr lang="zh-CN" altLang="en-US">
                <a:latin typeface="Times New Roman" panose="02020603050405020304" pitchFamily="18" charset="0"/>
              </a:rPr>
              <a:t>。</a:t>
            </a:r>
            <a:endParaRPr lang="en-US" altLang="zh-CN">
              <a:latin typeface="Times New Roman" panose="02020603050405020304" pitchFamily="18" charset="0"/>
            </a:endParaRPr>
          </a:p>
          <a:p>
            <a:pPr>
              <a:spcBef>
                <a:spcPts val="600"/>
              </a:spcBef>
              <a:buFontTx/>
              <a:buNone/>
            </a:pPr>
            <a:r>
              <a:rPr lang="zh-CN" altLang="en-US">
                <a:latin typeface="Times New Roman" panose="02020603050405020304" pitchFamily="18" charset="0"/>
              </a:rPr>
              <a:t>例如：‘57’·‘83’=‘</a:t>
            </a:r>
            <a:r>
              <a:rPr lang="en-US" altLang="zh-CN">
                <a:latin typeface="Times New Roman" panose="02020603050405020304" pitchFamily="18" charset="0"/>
              </a:rPr>
              <a:t>C1’</a:t>
            </a:r>
            <a:r>
              <a:rPr lang="zh-CN" altLang="en-US">
                <a:latin typeface="Times New Roman" panose="02020603050405020304" pitchFamily="18" charset="0"/>
              </a:rPr>
              <a:t>可表示为以下的多项式乘法：</a:t>
            </a:r>
          </a:p>
          <a:p>
            <a:pPr algn="ctr">
              <a:spcBef>
                <a:spcPts val="600"/>
              </a:spcBef>
              <a:buFontTx/>
              <a:buNone/>
            </a:pPr>
            <a:r>
              <a:rPr lang="zh-CN" altLang="en-US">
                <a:latin typeface="Times New Roman" panose="02020603050405020304" pitchFamily="18" charset="0"/>
              </a:rPr>
              <a:t> (</a:t>
            </a:r>
            <a:r>
              <a:rPr lang="en-US" altLang="zh-CN">
                <a:latin typeface="Times New Roman" panose="02020603050405020304" pitchFamily="18" charset="0"/>
              </a:rPr>
              <a:t>x</a:t>
            </a:r>
            <a:r>
              <a:rPr lang="en-US" altLang="zh-CN" baseline="30000">
                <a:latin typeface="Times New Roman" panose="02020603050405020304" pitchFamily="18" charset="0"/>
              </a:rPr>
              <a:t>6</a:t>
            </a:r>
            <a:r>
              <a:rPr lang="en-US" altLang="zh-CN">
                <a:latin typeface="Times New Roman" panose="02020603050405020304" pitchFamily="18" charset="0"/>
              </a:rPr>
              <a:t>+x</a:t>
            </a:r>
            <a:r>
              <a:rPr lang="en-US" altLang="zh-CN" baseline="30000">
                <a:latin typeface="Times New Roman" panose="02020603050405020304" pitchFamily="18" charset="0"/>
              </a:rPr>
              <a:t>4</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+x+1)·(x</a:t>
            </a:r>
            <a:r>
              <a:rPr lang="en-US" altLang="zh-CN" baseline="30000">
                <a:latin typeface="Times New Roman" panose="02020603050405020304" pitchFamily="18" charset="0"/>
              </a:rPr>
              <a:t>7</a:t>
            </a:r>
            <a:r>
              <a:rPr lang="en-US" altLang="zh-CN">
                <a:latin typeface="Times New Roman" panose="02020603050405020304" pitchFamily="18" charset="0"/>
              </a:rPr>
              <a:t>+x+1)=x</a:t>
            </a:r>
            <a:r>
              <a:rPr lang="en-US" altLang="zh-CN" baseline="30000">
                <a:latin typeface="Times New Roman" panose="02020603050405020304" pitchFamily="18" charset="0"/>
              </a:rPr>
              <a:t>7</a:t>
            </a:r>
            <a:r>
              <a:rPr lang="en-US" altLang="zh-CN">
                <a:latin typeface="Times New Roman" panose="02020603050405020304" pitchFamily="18" charset="0"/>
              </a:rPr>
              <a:t>+x</a:t>
            </a:r>
            <a:r>
              <a:rPr lang="en-US" altLang="zh-CN" baseline="30000">
                <a:latin typeface="Times New Roman" panose="02020603050405020304" pitchFamily="18" charset="0"/>
              </a:rPr>
              <a:t>6</a:t>
            </a:r>
            <a:r>
              <a:rPr lang="en-US" altLang="zh-CN">
                <a:latin typeface="Times New Roman" panose="02020603050405020304" pitchFamily="18" charset="0"/>
              </a:rPr>
              <a:t>+1(mod m(x))</a:t>
            </a: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1" name="Text Box 6">
            <a:extLst>
              <a:ext uri="{FF2B5EF4-FFF2-40B4-BE49-F238E27FC236}">
                <a16:creationId xmlns:a16="http://schemas.microsoft.com/office/drawing/2014/main" id="{1CB1A4AD-B5CF-4749-BA05-F598F66BD0B0}"/>
              </a:ext>
            </a:extLst>
          </p:cNvPr>
          <p:cNvSpPr txBox="1">
            <a:spLocks noChangeArrowheads="1"/>
          </p:cNvSpPr>
          <p:nvPr/>
        </p:nvSpPr>
        <p:spPr bwMode="auto">
          <a:xfrm>
            <a:off x="2667000" y="228600"/>
            <a:ext cx="800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endParaRPr lang="zh-CN" altLang="zh-CN">
              <a:latin typeface="Arial" panose="020B0604020202020204" pitchFamily="34" charset="0"/>
            </a:endParaRPr>
          </a:p>
        </p:txBody>
      </p:sp>
      <p:sp>
        <p:nvSpPr>
          <p:cNvPr id="2" name="标题 1">
            <a:extLst>
              <a:ext uri="{FF2B5EF4-FFF2-40B4-BE49-F238E27FC236}">
                <a16:creationId xmlns:a16="http://schemas.microsoft.com/office/drawing/2014/main" id="{49F7A08A-06B4-EE4E-A5ED-919E6CFE9B41}"/>
              </a:ext>
            </a:extLst>
          </p:cNvPr>
          <p:cNvSpPr>
            <a:spLocks noGrp="1"/>
          </p:cNvSpPr>
          <p:nvPr>
            <p:ph type="title"/>
          </p:nvPr>
        </p:nvSpPr>
        <p:spPr>
          <a:xfrm>
            <a:off x="1465263" y="365125"/>
            <a:ext cx="9037637" cy="668338"/>
          </a:xfrm>
        </p:spPr>
        <p:txBody>
          <a:bodyPr/>
          <a:lstStyle/>
          <a:p>
            <a:pPr>
              <a:defRPr/>
            </a:pPr>
            <a:r>
              <a:rPr lang="en-US" altLang="zh-CN" dirty="0"/>
              <a:t>GF(2</a:t>
            </a:r>
            <a:r>
              <a:rPr lang="en-US" altLang="zh-CN" baseline="30000" dirty="0"/>
              <a:t>8</a:t>
            </a:r>
            <a:r>
              <a:rPr lang="en-US" altLang="zh-CN" dirty="0"/>
              <a:t>)</a:t>
            </a:r>
            <a:r>
              <a:rPr lang="zh-CN" altLang="zh-CN" dirty="0"/>
              <a:t>中的</a:t>
            </a:r>
            <a:r>
              <a:rPr lang="zh-CN" altLang="en-US" dirty="0"/>
              <a:t>逆元和</a:t>
            </a:r>
            <a:r>
              <a:rPr lang="en-US" altLang="zh-CN" dirty="0"/>
              <a:t>x</a:t>
            </a:r>
            <a:r>
              <a:rPr lang="zh-CN" altLang="en-US" dirty="0"/>
              <a:t>乘法</a:t>
            </a:r>
          </a:p>
        </p:txBody>
      </p:sp>
      <p:sp>
        <p:nvSpPr>
          <p:cNvPr id="281603" name="内容占位符 2">
            <a:extLst>
              <a:ext uri="{FF2B5EF4-FFF2-40B4-BE49-F238E27FC236}">
                <a16:creationId xmlns:a16="http://schemas.microsoft.com/office/drawing/2014/main" id="{D52E4CAA-3CF1-4A42-86C8-C7A7EECD9562}"/>
              </a:ext>
            </a:extLst>
          </p:cNvPr>
          <p:cNvSpPr>
            <a:spLocks noGrp="1" noChangeArrowheads="1"/>
          </p:cNvSpPr>
          <p:nvPr>
            <p:ph idx="1"/>
          </p:nvPr>
        </p:nvSpPr>
        <p:spPr>
          <a:xfrm>
            <a:off x="725488" y="1371600"/>
            <a:ext cx="10515600" cy="4579938"/>
          </a:xfrm>
        </p:spPr>
        <p:txBody>
          <a:bodyPr/>
          <a:lstStyle/>
          <a:p>
            <a:pPr indent="-6350">
              <a:lnSpc>
                <a:spcPct val="120000"/>
              </a:lnSpc>
              <a:buFontTx/>
              <a:buNone/>
            </a:pPr>
            <a:r>
              <a:rPr lang="zh-CN" altLang="en-US">
                <a:solidFill>
                  <a:srgbClr val="FF0000"/>
                </a:solidFill>
                <a:latin typeface="Times New Roman" panose="02020603050405020304" pitchFamily="18" charset="0"/>
              </a:rPr>
              <a:t>定义：</a:t>
            </a:r>
            <a:r>
              <a:rPr lang="zh-CN" altLang="en-US">
                <a:latin typeface="Times New Roman" panose="02020603050405020304" pitchFamily="18" charset="0"/>
              </a:rPr>
              <a:t>对任何次数小于8的多项式</a:t>
            </a:r>
            <a:r>
              <a:rPr lang="en-US" altLang="zh-CN">
                <a:latin typeface="Times New Roman" panose="02020603050405020304" pitchFamily="18" charset="0"/>
              </a:rPr>
              <a:t>b(x)，</a:t>
            </a:r>
            <a:r>
              <a:rPr lang="zh-CN" altLang="en-US">
                <a:latin typeface="Times New Roman" panose="02020603050405020304" pitchFamily="18" charset="0"/>
              </a:rPr>
              <a:t>可用推广的欧几里得算法得</a:t>
            </a:r>
          </a:p>
          <a:p>
            <a:pPr indent="-6350" algn="ctr">
              <a:lnSpc>
                <a:spcPct val="120000"/>
              </a:lnSpc>
              <a:buFontTx/>
              <a:buNone/>
            </a:pPr>
            <a:r>
              <a:rPr lang="en-US" altLang="zh-CN">
                <a:latin typeface="Times New Roman" panose="02020603050405020304" pitchFamily="18" charset="0"/>
              </a:rPr>
              <a:t>b(x)a(x)+m(x)c(x)=1</a:t>
            </a:r>
          </a:p>
          <a:p>
            <a:pPr indent="-6350">
              <a:lnSpc>
                <a:spcPct val="120000"/>
              </a:lnSpc>
              <a:buFontTx/>
              <a:buNone/>
            </a:pPr>
            <a:r>
              <a:rPr lang="zh-CN" altLang="en-US">
                <a:latin typeface="Times New Roman" panose="02020603050405020304" pitchFamily="18" charset="0"/>
              </a:rPr>
              <a:t>即</a:t>
            </a:r>
            <a:r>
              <a:rPr lang="en-US" altLang="zh-CN">
                <a:latin typeface="Times New Roman" panose="02020603050405020304" pitchFamily="18" charset="0"/>
              </a:rPr>
              <a:t>a(x)·b(x)=1 mod m(x)</a:t>
            </a:r>
            <a:r>
              <a:rPr lang="zh-CN" altLang="en-US">
                <a:latin typeface="Times New Roman" panose="02020603050405020304" pitchFamily="18" charset="0"/>
              </a:rPr>
              <a:t>。因此</a:t>
            </a:r>
            <a:r>
              <a:rPr lang="en-US" altLang="zh-CN">
                <a:latin typeface="Times New Roman" panose="02020603050405020304" pitchFamily="18" charset="0"/>
              </a:rPr>
              <a:t>a(x)</a:t>
            </a:r>
            <a:r>
              <a:rPr lang="zh-CN" altLang="en-US">
                <a:latin typeface="Times New Roman" panose="02020603050405020304" pitchFamily="18" charset="0"/>
              </a:rPr>
              <a:t>是</a:t>
            </a:r>
            <a:r>
              <a:rPr lang="en-US" altLang="zh-CN">
                <a:latin typeface="Times New Roman" panose="02020603050405020304" pitchFamily="18" charset="0"/>
              </a:rPr>
              <a:t>b(x)</a:t>
            </a:r>
            <a:r>
              <a:rPr lang="zh-CN" altLang="en-US">
                <a:latin typeface="Times New Roman" panose="02020603050405020304" pitchFamily="18" charset="0"/>
              </a:rPr>
              <a:t>的乘法逆元。</a:t>
            </a:r>
            <a:endParaRPr lang="en-US" altLang="zh-CN">
              <a:latin typeface="Times New Roman" panose="02020603050405020304" pitchFamily="18" charset="0"/>
            </a:endParaRPr>
          </a:p>
          <a:p>
            <a:pPr indent="-6350">
              <a:lnSpc>
                <a:spcPct val="120000"/>
              </a:lnSpc>
              <a:buFont typeface="Arial" panose="020B0604020202020204" pitchFamily="34" charset="0"/>
              <a:buNone/>
            </a:pPr>
            <a:r>
              <a:rPr lang="zh-CN" altLang="en-US">
                <a:solidFill>
                  <a:srgbClr val="FF0000"/>
                </a:solidFill>
                <a:latin typeface="Times New Roman" panose="02020603050405020304" pitchFamily="18" charset="0"/>
              </a:rPr>
              <a:t>定义：</a:t>
            </a:r>
            <a:r>
              <a:rPr lang="zh-CN" altLang="en-US">
                <a:latin typeface="Times New Roman" panose="02020603050405020304" pitchFamily="18" charset="0"/>
              </a:rPr>
              <a:t>函数</a:t>
            </a:r>
            <a:r>
              <a:rPr lang="en-US" altLang="zh-CN">
                <a:latin typeface="Times New Roman" panose="02020603050405020304" pitchFamily="18" charset="0"/>
              </a:rPr>
              <a:t>xtime(x)</a:t>
            </a:r>
            <a:r>
              <a:rPr lang="zh-CN" altLang="en-US">
                <a:latin typeface="Times New Roman" panose="02020603050405020304" pitchFamily="18" charset="0"/>
              </a:rPr>
              <a:t>定义为</a:t>
            </a:r>
            <a:r>
              <a:rPr lang="en-US" altLang="zh-CN">
                <a:latin typeface="Times New Roman" panose="02020603050405020304" pitchFamily="18" charset="0"/>
              </a:rPr>
              <a:t>GF</a:t>
            </a:r>
            <a:r>
              <a:rPr lang="zh-CN" altLang="en-US">
                <a:latin typeface="Times New Roman" panose="02020603050405020304" pitchFamily="18" charset="0"/>
              </a:rPr>
              <a:t>（</a:t>
            </a:r>
            <a:r>
              <a:rPr lang="en-US" altLang="zh-CN">
                <a:latin typeface="Times New Roman" panose="02020603050405020304" pitchFamily="18" charset="0"/>
              </a:rPr>
              <a:t>2</a:t>
            </a:r>
            <a:r>
              <a:rPr lang="zh-CN" altLang="en-US">
                <a:latin typeface="Times New Roman" panose="02020603050405020304" pitchFamily="18" charset="0"/>
              </a:rPr>
              <a:t>）上的</a:t>
            </a:r>
            <a:r>
              <a:rPr lang="en-US" altLang="zh-CN">
                <a:latin typeface="Times New Roman" panose="02020603050405020304" pitchFamily="18" charset="0"/>
              </a:rPr>
              <a:t>x·b(x)=</a:t>
            </a:r>
            <a:r>
              <a:rPr lang="zh-CN" altLang="en-US">
                <a:latin typeface="Times New Roman" panose="02020603050405020304" pitchFamily="18" charset="0"/>
              </a:rPr>
              <a:t>b</a:t>
            </a:r>
            <a:r>
              <a:rPr lang="en-US" altLang="zh-CN" baseline="-25000">
                <a:latin typeface="Times New Roman" panose="02020603050405020304" pitchFamily="18" charset="0"/>
              </a:rPr>
              <a:t>7</a:t>
            </a:r>
            <a:r>
              <a:rPr lang="zh-CN" altLang="en-US">
                <a:latin typeface="Times New Roman" panose="02020603050405020304" pitchFamily="18" charset="0"/>
              </a:rPr>
              <a:t>x</a:t>
            </a:r>
            <a:r>
              <a:rPr lang="en-US" altLang="zh-CN" baseline="30000">
                <a:latin typeface="Times New Roman" panose="02020603050405020304" pitchFamily="18" charset="0"/>
              </a:rPr>
              <a:t>8</a:t>
            </a:r>
            <a:r>
              <a:rPr lang="en-US" altLang="zh-CN">
                <a:latin typeface="Times New Roman" panose="02020603050405020304" pitchFamily="18" charset="0"/>
              </a:rPr>
              <a:t>+</a:t>
            </a:r>
            <a:r>
              <a:rPr lang="zh-CN" altLang="en-US">
                <a:latin typeface="Times New Roman" panose="02020603050405020304" pitchFamily="18" charset="0"/>
              </a:rPr>
              <a:t>b</a:t>
            </a:r>
            <a:r>
              <a:rPr lang="en-US" altLang="zh-CN" baseline="-25000">
                <a:latin typeface="Times New Roman" panose="02020603050405020304" pitchFamily="18" charset="0"/>
              </a:rPr>
              <a:t>6</a:t>
            </a:r>
            <a:r>
              <a:rPr lang="zh-CN" altLang="en-US">
                <a:latin typeface="Times New Roman" panose="02020603050405020304" pitchFamily="18" charset="0"/>
              </a:rPr>
              <a:t>x</a:t>
            </a:r>
            <a:r>
              <a:rPr lang="en-US" altLang="zh-CN" baseline="30000">
                <a:latin typeface="Times New Roman" panose="02020603050405020304" pitchFamily="18" charset="0"/>
              </a:rPr>
              <a:t>7</a:t>
            </a:r>
            <a:r>
              <a:rPr lang="en-US" altLang="zh-CN">
                <a:latin typeface="Times New Roman" panose="02020603050405020304" pitchFamily="18" charset="0"/>
              </a:rPr>
              <a:t>+</a:t>
            </a:r>
            <a:r>
              <a:rPr lang="zh-CN" altLang="en-US">
                <a:latin typeface="Times New Roman" panose="02020603050405020304" pitchFamily="18" charset="0"/>
              </a:rPr>
              <a:t>b</a:t>
            </a:r>
            <a:r>
              <a:rPr lang="en-US" altLang="zh-CN" baseline="-25000">
                <a:latin typeface="Times New Roman" panose="02020603050405020304" pitchFamily="18" charset="0"/>
              </a:rPr>
              <a:t>5</a:t>
            </a:r>
            <a:r>
              <a:rPr lang="zh-CN" altLang="en-US">
                <a:latin typeface="Times New Roman" panose="02020603050405020304" pitchFamily="18" charset="0"/>
              </a:rPr>
              <a:t>x</a:t>
            </a:r>
            <a:r>
              <a:rPr lang="en-US" altLang="zh-CN" baseline="30000">
                <a:latin typeface="Times New Roman" panose="02020603050405020304" pitchFamily="18" charset="0"/>
              </a:rPr>
              <a:t>6</a:t>
            </a:r>
            <a:r>
              <a:rPr lang="en-US" altLang="zh-CN">
                <a:latin typeface="Times New Roman" panose="02020603050405020304" pitchFamily="18" charset="0"/>
              </a:rPr>
              <a:t>+</a:t>
            </a:r>
            <a:r>
              <a:rPr lang="zh-CN" altLang="en-US">
                <a:latin typeface="Times New Roman" panose="02020603050405020304" pitchFamily="18" charset="0"/>
              </a:rPr>
              <a:t>b</a:t>
            </a:r>
            <a:r>
              <a:rPr lang="en-US" altLang="zh-CN" baseline="-25000">
                <a:latin typeface="Times New Roman" panose="02020603050405020304" pitchFamily="18" charset="0"/>
              </a:rPr>
              <a:t>4</a:t>
            </a:r>
            <a:r>
              <a:rPr lang="zh-CN" altLang="en-US">
                <a:latin typeface="Times New Roman" panose="02020603050405020304" pitchFamily="18" charset="0"/>
              </a:rPr>
              <a:t>x</a:t>
            </a:r>
            <a:r>
              <a:rPr lang="en-US" altLang="zh-CN" baseline="30000">
                <a:latin typeface="Times New Roman" panose="02020603050405020304" pitchFamily="18" charset="0"/>
              </a:rPr>
              <a:t>5</a:t>
            </a:r>
            <a:r>
              <a:rPr lang="en-US" altLang="zh-CN">
                <a:latin typeface="Times New Roman" panose="02020603050405020304" pitchFamily="18" charset="0"/>
              </a:rPr>
              <a:t>+</a:t>
            </a:r>
            <a:r>
              <a:rPr lang="zh-CN" altLang="en-US">
                <a:latin typeface="Times New Roman" panose="02020603050405020304" pitchFamily="18" charset="0"/>
              </a:rPr>
              <a:t>b</a:t>
            </a:r>
            <a:r>
              <a:rPr lang="en-US" altLang="zh-CN" baseline="-25000">
                <a:latin typeface="Times New Roman" panose="02020603050405020304" pitchFamily="18" charset="0"/>
              </a:rPr>
              <a:t>3</a:t>
            </a:r>
            <a:r>
              <a:rPr lang="zh-CN" altLang="en-US">
                <a:latin typeface="Times New Roman" panose="02020603050405020304" pitchFamily="18" charset="0"/>
              </a:rPr>
              <a:t>x</a:t>
            </a:r>
            <a:r>
              <a:rPr lang="en-US" altLang="zh-CN" baseline="30000">
                <a:latin typeface="Times New Roman" panose="02020603050405020304" pitchFamily="18" charset="0"/>
              </a:rPr>
              <a:t>4</a:t>
            </a:r>
            <a:r>
              <a:rPr lang="en-US" altLang="zh-CN">
                <a:latin typeface="Times New Roman" panose="02020603050405020304" pitchFamily="18" charset="0"/>
              </a:rPr>
              <a:t>+</a:t>
            </a:r>
            <a:r>
              <a:rPr lang="zh-CN" altLang="en-US">
                <a:latin typeface="Times New Roman" panose="02020603050405020304" pitchFamily="18" charset="0"/>
              </a:rPr>
              <a:t>b</a:t>
            </a:r>
            <a:r>
              <a:rPr lang="en-US" altLang="zh-CN" baseline="-25000">
                <a:latin typeface="Times New Roman" panose="02020603050405020304" pitchFamily="18" charset="0"/>
              </a:rPr>
              <a:t>2</a:t>
            </a:r>
            <a:r>
              <a:rPr lang="zh-CN" altLang="en-US">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t>
            </a:r>
            <a:r>
              <a:rPr lang="zh-CN" altLang="en-US">
                <a:latin typeface="Times New Roman" panose="02020603050405020304" pitchFamily="18" charset="0"/>
              </a:rPr>
              <a:t>b</a:t>
            </a:r>
            <a:r>
              <a:rPr lang="en-US" altLang="zh-CN" baseline="-25000">
                <a:latin typeface="Times New Roman" panose="02020603050405020304" pitchFamily="18" charset="0"/>
              </a:rPr>
              <a:t>1</a:t>
            </a:r>
            <a:r>
              <a:rPr lang="zh-CN" altLang="en-US">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t>
            </a:r>
            <a:r>
              <a:rPr lang="zh-CN" altLang="en-US">
                <a:latin typeface="Times New Roman" panose="02020603050405020304" pitchFamily="18" charset="0"/>
              </a:rPr>
              <a:t>b</a:t>
            </a:r>
            <a:r>
              <a:rPr lang="en-US" altLang="zh-CN" baseline="-25000">
                <a:latin typeface="Times New Roman" panose="02020603050405020304" pitchFamily="18" charset="0"/>
              </a:rPr>
              <a:t>0</a:t>
            </a:r>
            <a:r>
              <a:rPr lang="en-US" altLang="zh-CN">
                <a:latin typeface="Times New Roman" panose="02020603050405020304" pitchFamily="18" charset="0"/>
              </a:rPr>
              <a:t>x mod m(x)</a:t>
            </a:r>
            <a:r>
              <a:rPr lang="zh-CN" altLang="en-US">
                <a:latin typeface="Times New Roman" panose="02020603050405020304" pitchFamily="18" charset="0"/>
              </a:rPr>
              <a:t>。</a:t>
            </a:r>
            <a:endParaRPr lang="en-US" altLang="zh-CN">
              <a:latin typeface="Times New Roman" panose="02020603050405020304" pitchFamily="18" charset="0"/>
            </a:endParaRPr>
          </a:p>
          <a:p>
            <a:pPr indent="-6350">
              <a:lnSpc>
                <a:spcPct val="120000"/>
              </a:lnSpc>
              <a:buFont typeface="Arial" panose="020B0604020202020204" pitchFamily="34" charset="0"/>
              <a:buNone/>
            </a:pPr>
            <a:r>
              <a:rPr lang="zh-CN" altLang="en-US" b="0">
                <a:latin typeface="Times New Roman" panose="02020603050405020304" pitchFamily="18" charset="0"/>
              </a:rPr>
              <a:t>注：</a:t>
            </a:r>
            <a:r>
              <a:rPr lang="en-US" altLang="zh-CN" b="0">
                <a:latin typeface="Times New Roman" panose="02020603050405020304" pitchFamily="18" charset="0"/>
              </a:rPr>
              <a:t>m(x)= </a:t>
            </a:r>
            <a:r>
              <a:rPr lang="zh-CN" altLang="en-US" b="0">
                <a:latin typeface="Times New Roman" panose="02020603050405020304" pitchFamily="18" charset="0"/>
              </a:rPr>
              <a:t>x</a:t>
            </a:r>
            <a:r>
              <a:rPr lang="en-US" altLang="zh-CN" b="0" baseline="30000">
                <a:latin typeface="Times New Roman" panose="02020603050405020304" pitchFamily="18" charset="0"/>
              </a:rPr>
              <a:t>8</a:t>
            </a:r>
            <a:r>
              <a:rPr lang="en-US" altLang="zh-CN" b="0">
                <a:latin typeface="Times New Roman" panose="02020603050405020304" pitchFamily="18" charset="0"/>
              </a:rPr>
              <a:t>+</a:t>
            </a:r>
            <a:r>
              <a:rPr lang="zh-CN" altLang="en-US" b="0">
                <a:latin typeface="Times New Roman" panose="02020603050405020304" pitchFamily="18" charset="0"/>
              </a:rPr>
              <a:t>x</a:t>
            </a:r>
            <a:r>
              <a:rPr lang="en-US" altLang="zh-CN" b="0" baseline="30000">
                <a:latin typeface="Times New Roman" panose="02020603050405020304" pitchFamily="18" charset="0"/>
              </a:rPr>
              <a:t>4</a:t>
            </a:r>
            <a:r>
              <a:rPr lang="en-US" altLang="zh-CN" b="0">
                <a:latin typeface="Times New Roman" panose="02020603050405020304" pitchFamily="18" charset="0"/>
              </a:rPr>
              <a:t>+</a:t>
            </a:r>
            <a:r>
              <a:rPr lang="zh-CN" altLang="en-US" b="0">
                <a:latin typeface="Times New Roman" panose="02020603050405020304" pitchFamily="18" charset="0"/>
              </a:rPr>
              <a:t>x</a:t>
            </a:r>
            <a:r>
              <a:rPr lang="en-US" altLang="zh-CN" b="0" baseline="30000">
                <a:latin typeface="Times New Roman" panose="02020603050405020304" pitchFamily="18" charset="0"/>
              </a:rPr>
              <a:t>3</a:t>
            </a:r>
            <a:r>
              <a:rPr lang="en-US" altLang="zh-CN" b="0">
                <a:latin typeface="Times New Roman" panose="02020603050405020304" pitchFamily="18" charset="0"/>
              </a:rPr>
              <a:t>+</a:t>
            </a:r>
            <a:r>
              <a:rPr lang="zh-CN" altLang="en-US" b="0">
                <a:latin typeface="Times New Roman" panose="02020603050405020304" pitchFamily="18" charset="0"/>
              </a:rPr>
              <a:t>x</a:t>
            </a:r>
            <a:r>
              <a:rPr lang="en-US" altLang="zh-CN" b="0">
                <a:latin typeface="Times New Roman" panose="02020603050405020304" pitchFamily="18" charset="0"/>
              </a:rPr>
              <a:t>+</a:t>
            </a:r>
            <a:r>
              <a:rPr lang="zh-CN" altLang="en-US" b="0">
                <a:latin typeface="Times New Roman" panose="02020603050405020304" pitchFamily="18" charset="0"/>
              </a:rPr>
              <a:t>1</a:t>
            </a:r>
            <a:endParaRPr lang="en-US" altLang="zh-CN" b="0">
              <a:latin typeface="Times New Roman" panose="02020603050405020304" pitchFamily="18" charset="0"/>
            </a:endParaRPr>
          </a:p>
          <a:p>
            <a:pPr indent="-6350">
              <a:lnSpc>
                <a:spcPct val="120000"/>
              </a:lnSpc>
              <a:buFont typeface="Arial" panose="020B0604020202020204" pitchFamily="34" charset="0"/>
              <a:buNone/>
            </a:pPr>
            <a:r>
              <a:rPr lang="zh-CN" altLang="en-US">
                <a:latin typeface="Times New Roman" panose="02020603050405020304" pitchFamily="18" charset="0"/>
              </a:rPr>
              <a:t>其运算如下：若</a:t>
            </a:r>
            <a:r>
              <a:rPr lang="en-US" altLang="zh-CN">
                <a:latin typeface="Times New Roman" panose="02020603050405020304" pitchFamily="18" charset="0"/>
              </a:rPr>
              <a:t>b</a:t>
            </a:r>
            <a:r>
              <a:rPr lang="en-US" altLang="zh-CN" baseline="-25000">
                <a:latin typeface="Times New Roman" panose="02020603050405020304" pitchFamily="18" charset="0"/>
              </a:rPr>
              <a:t>7</a:t>
            </a:r>
            <a:r>
              <a:rPr lang="en-US" altLang="zh-CN">
                <a:latin typeface="Times New Roman" panose="02020603050405020304" pitchFamily="18" charset="0"/>
              </a:rPr>
              <a:t> =0</a:t>
            </a:r>
            <a:r>
              <a:rPr lang="zh-CN" altLang="en-US">
                <a:latin typeface="Times New Roman" panose="02020603050405020304" pitchFamily="18" charset="0"/>
              </a:rPr>
              <a:t>，则</a:t>
            </a:r>
            <a:r>
              <a:rPr lang="en-US" altLang="zh-CN">
                <a:latin typeface="Times New Roman" panose="02020603050405020304" pitchFamily="18" charset="0"/>
              </a:rPr>
              <a:t>x·b(x)</a:t>
            </a:r>
            <a:r>
              <a:rPr lang="zh-CN" altLang="en-US">
                <a:latin typeface="Times New Roman" panose="02020603050405020304" pitchFamily="18" charset="0"/>
              </a:rPr>
              <a:t>的结果就是把字节</a:t>
            </a:r>
            <a:r>
              <a:rPr lang="en-US" altLang="zh-CN">
                <a:latin typeface="Times New Roman" panose="02020603050405020304" pitchFamily="18" charset="0"/>
              </a:rPr>
              <a:t>b</a:t>
            </a:r>
            <a:r>
              <a:rPr lang="zh-CN" altLang="en-US">
                <a:latin typeface="Times New Roman" panose="02020603050405020304" pitchFamily="18" charset="0"/>
              </a:rPr>
              <a:t>左移一位，且在最右边补上上</a:t>
            </a:r>
            <a:r>
              <a:rPr lang="en-US" altLang="zh-CN">
                <a:latin typeface="Times New Roman" panose="02020603050405020304" pitchFamily="18" charset="0"/>
              </a:rPr>
              <a:t>0</a:t>
            </a:r>
            <a:r>
              <a:rPr lang="zh-CN" altLang="en-US">
                <a:latin typeface="Times New Roman" panose="02020603050405020304" pitchFamily="18" charset="0"/>
              </a:rPr>
              <a:t>；若</a:t>
            </a:r>
            <a:r>
              <a:rPr lang="en-US" altLang="zh-CN">
                <a:latin typeface="Times New Roman" panose="02020603050405020304" pitchFamily="18" charset="0"/>
              </a:rPr>
              <a:t>b</a:t>
            </a:r>
            <a:r>
              <a:rPr lang="en-US" altLang="zh-CN" baseline="-25000">
                <a:latin typeface="Times New Roman" panose="02020603050405020304" pitchFamily="18" charset="0"/>
              </a:rPr>
              <a:t>7</a:t>
            </a:r>
            <a:r>
              <a:rPr lang="en-US" altLang="zh-CN">
                <a:latin typeface="Times New Roman" panose="02020603050405020304" pitchFamily="18" charset="0"/>
              </a:rPr>
              <a:t> =1</a:t>
            </a:r>
            <a:r>
              <a:rPr lang="zh-CN" altLang="en-US">
                <a:latin typeface="Times New Roman" panose="02020603050405020304" pitchFamily="18" charset="0"/>
              </a:rPr>
              <a:t>，则先对</a:t>
            </a:r>
            <a:r>
              <a:rPr lang="en-US" altLang="zh-CN">
                <a:latin typeface="Times New Roman" panose="02020603050405020304" pitchFamily="18" charset="0"/>
              </a:rPr>
              <a:t>b(x)</a:t>
            </a:r>
            <a:r>
              <a:rPr lang="zh-CN" altLang="en-US">
                <a:latin typeface="Times New Roman" panose="02020603050405020304" pitchFamily="18" charset="0"/>
              </a:rPr>
              <a:t>在字节内左移一位（最后一位补0），则再与‘1</a:t>
            </a:r>
            <a:r>
              <a:rPr lang="en-US" altLang="zh-CN">
                <a:latin typeface="Times New Roman" panose="02020603050405020304" pitchFamily="18" charset="0"/>
              </a:rPr>
              <a:t>B’（</a:t>
            </a:r>
            <a:r>
              <a:rPr lang="zh-CN" altLang="en-US">
                <a:latin typeface="Times New Roman" panose="02020603050405020304" pitchFamily="18" charset="0"/>
              </a:rPr>
              <a:t>00011011）做逐比特异或。</a:t>
            </a:r>
            <a:endParaRPr lang="en-US" altLang="zh-CN">
              <a:latin typeface="Times New Roman" panose="02020603050405020304" pitchFamily="18" charset="0"/>
            </a:endParaRP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7B526D-1A94-BA46-A3DB-6C42A34AF7FE}"/>
              </a:ext>
            </a:extLst>
          </p:cNvPr>
          <p:cNvSpPr>
            <a:spLocks noGrp="1"/>
          </p:cNvSpPr>
          <p:nvPr>
            <p:ph type="title"/>
          </p:nvPr>
        </p:nvSpPr>
        <p:spPr>
          <a:xfrm>
            <a:off x="1465263" y="365125"/>
            <a:ext cx="9037637" cy="668338"/>
          </a:xfrm>
        </p:spPr>
        <p:txBody>
          <a:bodyPr/>
          <a:lstStyle/>
          <a:p>
            <a:pPr>
              <a:defRPr/>
            </a:pPr>
            <a:r>
              <a:rPr lang="en-US" altLang="zh-CN" dirty="0" err="1">
                <a:latin typeface="+mn-lt"/>
              </a:rPr>
              <a:t>xtime</a:t>
            </a:r>
            <a:r>
              <a:rPr lang="en-US" altLang="zh-CN" dirty="0">
                <a:latin typeface="+mn-lt"/>
              </a:rPr>
              <a:t>(x)</a:t>
            </a:r>
            <a:r>
              <a:rPr lang="zh-CN" altLang="en-US" dirty="0">
                <a:latin typeface="+mn-lt"/>
              </a:rPr>
              <a:t>的例子</a:t>
            </a:r>
          </a:p>
        </p:txBody>
      </p:sp>
      <p:sp>
        <p:nvSpPr>
          <p:cNvPr id="283650" name="Rectangle 2">
            <a:extLst>
              <a:ext uri="{FF2B5EF4-FFF2-40B4-BE49-F238E27FC236}">
                <a16:creationId xmlns:a16="http://schemas.microsoft.com/office/drawing/2014/main" id="{912AAD57-2768-364F-A70E-1D4134F3CBE2}"/>
              </a:ext>
            </a:extLst>
          </p:cNvPr>
          <p:cNvSpPr>
            <a:spLocks noGrp="1" noChangeArrowheads="1"/>
          </p:cNvSpPr>
          <p:nvPr>
            <p:ph idx="1"/>
          </p:nvPr>
        </p:nvSpPr>
        <p:spPr>
          <a:xfrm>
            <a:off x="823913" y="1465263"/>
            <a:ext cx="10515600" cy="4579937"/>
          </a:xfrm>
        </p:spPr>
        <p:txBody>
          <a:bodyPr/>
          <a:lstStyle/>
          <a:p>
            <a:pPr indent="-6350"/>
            <a:r>
              <a:rPr lang="zh-CN" altLang="en-US">
                <a:latin typeface="Times New Roman" panose="02020603050405020304" pitchFamily="18" charset="0"/>
              </a:rPr>
              <a:t>例如，‘</a:t>
            </a:r>
            <a:r>
              <a:rPr lang="en-US" altLang="zh-CN">
                <a:latin typeface="Times New Roman" panose="02020603050405020304" pitchFamily="18" charset="0"/>
              </a:rPr>
              <a:t>57’·‘13’</a:t>
            </a:r>
            <a:r>
              <a:rPr lang="zh-CN" altLang="en-US">
                <a:latin typeface="Times New Roman" panose="02020603050405020304" pitchFamily="18" charset="0"/>
              </a:rPr>
              <a:t>可按如下方式实现：  </a:t>
            </a:r>
          </a:p>
          <a:p>
            <a:pPr indent="-6350"/>
            <a:r>
              <a:rPr lang="en-US" altLang="zh-CN">
                <a:latin typeface="Times New Roman" panose="02020603050405020304" pitchFamily="18" charset="0"/>
              </a:rPr>
              <a:t>‘57’·‘02’=xtime(57)=‘AE’；</a:t>
            </a:r>
          </a:p>
          <a:p>
            <a:pPr indent="-6350"/>
            <a:r>
              <a:rPr lang="en-US" altLang="zh-CN">
                <a:latin typeface="Times New Roman" panose="02020603050405020304" pitchFamily="18" charset="0"/>
              </a:rPr>
              <a:t>‘57’·‘04’=xtime(AE)=‘47’；</a:t>
            </a:r>
          </a:p>
          <a:p>
            <a:pPr indent="-6350"/>
            <a:r>
              <a:rPr lang="en-US" altLang="zh-CN">
                <a:latin typeface="Times New Roman" panose="02020603050405020304" pitchFamily="18" charset="0"/>
              </a:rPr>
              <a:t>‘57’·‘08’=xtime(47)=‘8E’；</a:t>
            </a:r>
          </a:p>
          <a:p>
            <a:pPr indent="-6350"/>
            <a:r>
              <a:rPr lang="en-US" altLang="zh-CN">
                <a:latin typeface="Times New Roman" panose="02020603050405020304" pitchFamily="18" charset="0"/>
              </a:rPr>
              <a:t>‘57’·‘10’=xtime(8E)=‘07’；</a:t>
            </a:r>
          </a:p>
          <a:p>
            <a:pPr indent="-6350"/>
            <a:r>
              <a:rPr lang="en-US" altLang="zh-CN">
                <a:latin typeface="Times New Roman" panose="02020603050405020304" pitchFamily="18" charset="0"/>
              </a:rPr>
              <a:t>‘57’·‘13’=‘57’·(‘01’     ‘02’     ‘10’)</a:t>
            </a:r>
          </a:p>
          <a:p>
            <a:pPr indent="-6350"/>
            <a:r>
              <a:rPr lang="en-US" altLang="zh-CN">
                <a:latin typeface="Times New Roman" panose="02020603050405020304" pitchFamily="18" charset="0"/>
              </a:rPr>
              <a:t>              =‘57’     ‘AE’      ‘07’=‘FE’</a:t>
            </a:r>
            <a:endParaRPr lang="zh-CN"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83651" name="Object 3">
                <a:extLst>
                  <a:ext uri="{FF2B5EF4-FFF2-40B4-BE49-F238E27FC236}">
                    <a16:creationId xmlns:a16="http://schemas.microsoft.com/office/drawing/2014/main" id="{126000AD-E200-DA4D-8496-3BD7195D3977}"/>
                  </a:ext>
                </a:extLst>
              </p:cNvPr>
              <p:cNvSpPr txBox="1"/>
              <p:nvPr/>
            </p:nvSpPr>
            <p:spPr bwMode="auto">
              <a:xfrm>
                <a:off x="4605338" y="3717925"/>
                <a:ext cx="423862" cy="4572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83651" name="Object 3">
                <a:extLst>
                  <a:ext uri="{FF2B5EF4-FFF2-40B4-BE49-F238E27FC236}">
                    <a16:creationId xmlns:a16="http://schemas.microsoft.com/office/drawing/2014/main" id="{126000AD-E200-DA4D-8496-3BD7195D3977}"/>
                  </a:ext>
                </a:extLst>
              </p:cNvPr>
              <p:cNvSpPr txBox="1">
                <a:spLocks noRot="1" noChangeAspect="1" noMove="1" noResize="1" noEditPoints="1" noAdjustHandles="1" noChangeArrowheads="1" noChangeShapeType="1" noTextEdit="1"/>
              </p:cNvSpPr>
              <p:nvPr/>
            </p:nvSpPr>
            <p:spPr bwMode="auto">
              <a:xfrm>
                <a:off x="4605338" y="3717925"/>
                <a:ext cx="423862" cy="457200"/>
              </a:xfrm>
              <a:prstGeom prst="rect">
                <a:avLst/>
              </a:prstGeom>
              <a:blipFill>
                <a:blip r:embed="rId3"/>
                <a:stretch>
                  <a:fillRect r="-1429"/>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652" name="Object 4">
                <a:extLst>
                  <a:ext uri="{FF2B5EF4-FFF2-40B4-BE49-F238E27FC236}">
                    <a16:creationId xmlns:a16="http://schemas.microsoft.com/office/drawing/2014/main" id="{5C943FAE-AA39-244A-BCC4-AB0B70BA532B}"/>
                  </a:ext>
                </a:extLst>
              </p:cNvPr>
              <p:cNvSpPr txBox="1"/>
              <p:nvPr/>
            </p:nvSpPr>
            <p:spPr bwMode="auto">
              <a:xfrm>
                <a:off x="3957638" y="4168775"/>
                <a:ext cx="423862" cy="4572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83652" name="Object 4">
                <a:extLst>
                  <a:ext uri="{FF2B5EF4-FFF2-40B4-BE49-F238E27FC236}">
                    <a16:creationId xmlns:a16="http://schemas.microsoft.com/office/drawing/2014/main" id="{5C943FAE-AA39-244A-BCC4-AB0B70BA532B}"/>
                  </a:ext>
                </a:extLst>
              </p:cNvPr>
              <p:cNvSpPr txBox="1">
                <a:spLocks noRot="1" noChangeAspect="1" noMove="1" noResize="1" noEditPoints="1" noAdjustHandles="1" noChangeArrowheads="1" noChangeShapeType="1" noTextEdit="1"/>
              </p:cNvSpPr>
              <p:nvPr/>
            </p:nvSpPr>
            <p:spPr bwMode="auto">
              <a:xfrm>
                <a:off x="3957638" y="4168775"/>
                <a:ext cx="423862" cy="457200"/>
              </a:xfrm>
              <a:prstGeom prst="rect">
                <a:avLst/>
              </a:prstGeom>
              <a:blipFill>
                <a:blip r:embed="rId4"/>
                <a:stretch>
                  <a:fillRect r="-1429"/>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653" name="Object 5">
                <a:extLst>
                  <a:ext uri="{FF2B5EF4-FFF2-40B4-BE49-F238E27FC236}">
                    <a16:creationId xmlns:a16="http://schemas.microsoft.com/office/drawing/2014/main" id="{678621BA-AACB-2A41-8A5E-002E8B799C07}"/>
                  </a:ext>
                </a:extLst>
              </p:cNvPr>
              <p:cNvSpPr txBox="1"/>
              <p:nvPr/>
            </p:nvSpPr>
            <p:spPr bwMode="auto">
              <a:xfrm>
                <a:off x="3733800" y="3735388"/>
                <a:ext cx="423863" cy="4572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83653" name="Object 5">
                <a:extLst>
                  <a:ext uri="{FF2B5EF4-FFF2-40B4-BE49-F238E27FC236}">
                    <a16:creationId xmlns:a16="http://schemas.microsoft.com/office/drawing/2014/main" id="{678621BA-AACB-2A41-8A5E-002E8B799C07}"/>
                  </a:ext>
                </a:extLst>
              </p:cNvPr>
              <p:cNvSpPr txBox="1">
                <a:spLocks noRot="1" noChangeAspect="1" noMove="1" noResize="1" noEditPoints="1" noAdjustHandles="1" noChangeArrowheads="1" noChangeShapeType="1" noTextEdit="1"/>
              </p:cNvSpPr>
              <p:nvPr/>
            </p:nvSpPr>
            <p:spPr bwMode="auto">
              <a:xfrm>
                <a:off x="3733800" y="3735388"/>
                <a:ext cx="423863" cy="457200"/>
              </a:xfrm>
              <a:prstGeom prst="rect">
                <a:avLst/>
              </a:prstGeom>
              <a:blipFill>
                <a:blip r:embed="rId5"/>
                <a:stretch>
                  <a:fillRect l="-1449" r="-1449"/>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654" name="Object 6">
                <a:extLst>
                  <a:ext uri="{FF2B5EF4-FFF2-40B4-BE49-F238E27FC236}">
                    <a16:creationId xmlns:a16="http://schemas.microsoft.com/office/drawing/2014/main" id="{3A16D155-8AC4-D54E-AD62-D46A8B5D7A75}"/>
                  </a:ext>
                </a:extLst>
              </p:cNvPr>
              <p:cNvSpPr txBox="1"/>
              <p:nvPr/>
            </p:nvSpPr>
            <p:spPr bwMode="auto">
              <a:xfrm>
                <a:off x="2971800" y="4200525"/>
                <a:ext cx="423863" cy="4572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83654" name="Object 6">
                <a:extLst>
                  <a:ext uri="{FF2B5EF4-FFF2-40B4-BE49-F238E27FC236}">
                    <a16:creationId xmlns:a16="http://schemas.microsoft.com/office/drawing/2014/main" id="{3A16D155-8AC4-D54E-AD62-D46A8B5D7A75}"/>
                  </a:ext>
                </a:extLst>
              </p:cNvPr>
              <p:cNvSpPr txBox="1">
                <a:spLocks noRot="1" noChangeAspect="1" noMove="1" noResize="1" noEditPoints="1" noAdjustHandles="1" noChangeArrowheads="1" noChangeShapeType="1" noTextEdit="1"/>
              </p:cNvSpPr>
              <p:nvPr/>
            </p:nvSpPr>
            <p:spPr bwMode="auto">
              <a:xfrm>
                <a:off x="2971800" y="4200525"/>
                <a:ext cx="423863" cy="457200"/>
              </a:xfrm>
              <a:prstGeom prst="rect">
                <a:avLst/>
              </a:prstGeom>
              <a:blipFill>
                <a:blip r:embed="rId6"/>
                <a:stretch>
                  <a:fillRect l="-1449" r="-1449"/>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标题 1">
            <a:extLst>
              <a:ext uri="{FF2B5EF4-FFF2-40B4-BE49-F238E27FC236}">
                <a16:creationId xmlns:a16="http://schemas.microsoft.com/office/drawing/2014/main" id="{6A44FDEF-9304-B649-A838-D5749E76E9AC}"/>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GF(2</a:t>
            </a:r>
            <a:r>
              <a:rPr lang="en-US" altLang="zh-CN" baseline="30000">
                <a:solidFill>
                  <a:srgbClr val="1F4E79"/>
                </a:solidFill>
              </a:rPr>
              <a:t>8</a:t>
            </a:r>
            <a:r>
              <a:rPr lang="en-US" altLang="zh-CN">
                <a:solidFill>
                  <a:srgbClr val="1F4E79"/>
                </a:solidFill>
              </a:rPr>
              <a:t>)</a:t>
            </a:r>
            <a:r>
              <a:rPr lang="zh-CN" altLang="en-US">
                <a:solidFill>
                  <a:srgbClr val="1F4E79"/>
                </a:solidFill>
              </a:rPr>
              <a:t>上</a:t>
            </a:r>
            <a:r>
              <a:rPr lang="zh-CN" altLang="zh-CN">
                <a:solidFill>
                  <a:srgbClr val="1F4E79"/>
                </a:solidFill>
              </a:rPr>
              <a:t>的</a:t>
            </a:r>
            <a:r>
              <a:rPr lang="zh-CN" altLang="en-US">
                <a:solidFill>
                  <a:srgbClr val="1F4E79"/>
                </a:solidFill>
              </a:rPr>
              <a:t>模多项式运算</a:t>
            </a:r>
          </a:p>
        </p:txBody>
      </p:sp>
      <p:sp>
        <p:nvSpPr>
          <p:cNvPr id="285698" name="内容占位符 2">
            <a:extLst>
              <a:ext uri="{FF2B5EF4-FFF2-40B4-BE49-F238E27FC236}">
                <a16:creationId xmlns:a16="http://schemas.microsoft.com/office/drawing/2014/main" id="{0B78C2AB-44AC-BE41-95DD-E73F76090A89}"/>
              </a:ext>
            </a:extLst>
          </p:cNvPr>
          <p:cNvSpPr>
            <a:spLocks noGrp="1" noChangeArrowheads="1"/>
          </p:cNvSpPr>
          <p:nvPr>
            <p:ph idx="1"/>
          </p:nvPr>
        </p:nvSpPr>
        <p:spPr>
          <a:xfrm>
            <a:off x="838200" y="1295400"/>
            <a:ext cx="10896600" cy="5105400"/>
          </a:xfrm>
        </p:spPr>
        <p:txBody>
          <a:bodyPr/>
          <a:lstStyle/>
          <a:p>
            <a:pPr>
              <a:lnSpc>
                <a:spcPct val="120000"/>
              </a:lnSpc>
              <a:spcBef>
                <a:spcPct val="0"/>
              </a:spcBef>
            </a:pPr>
            <a:r>
              <a:rPr lang="zh-CN" altLang="en-US" u="sng">
                <a:latin typeface="Times New Roman" panose="02020603050405020304" pitchFamily="18" charset="0"/>
              </a:rPr>
              <a:t>4个字节</a:t>
            </a:r>
            <a:r>
              <a:rPr lang="zh-CN" altLang="en-US">
                <a:latin typeface="Times New Roman" panose="02020603050405020304" pitchFamily="18" charset="0"/>
              </a:rPr>
              <a:t>构成的向量可以表示为系数在</a:t>
            </a:r>
            <a:r>
              <a:rPr lang="en-US" altLang="zh-CN">
                <a:latin typeface="Times New Roman" panose="02020603050405020304" pitchFamily="18" charset="0"/>
              </a:rPr>
              <a:t>GF(2</a:t>
            </a:r>
            <a:r>
              <a:rPr lang="en-US" altLang="zh-CN" baseline="30000">
                <a:latin typeface="Times New Roman" panose="02020603050405020304" pitchFamily="18" charset="0"/>
              </a:rPr>
              <a:t>8</a:t>
            </a:r>
            <a:r>
              <a:rPr lang="en-US" altLang="zh-CN">
                <a:latin typeface="Times New Roman" panose="02020603050405020304" pitchFamily="18" charset="0"/>
              </a:rPr>
              <a:t>)</a:t>
            </a:r>
            <a:r>
              <a:rPr lang="zh-CN" altLang="en-US">
                <a:latin typeface="Times New Roman" panose="02020603050405020304" pitchFamily="18" charset="0"/>
              </a:rPr>
              <a:t>上的</a:t>
            </a:r>
            <a:r>
              <a:rPr lang="zh-CN" altLang="en-US" u="sng">
                <a:latin typeface="Times New Roman" panose="02020603050405020304" pitchFamily="18" charset="0"/>
              </a:rPr>
              <a:t>次数小于4的多项式</a:t>
            </a:r>
            <a:endParaRPr lang="en-US" altLang="zh-CN" u="sng">
              <a:latin typeface="Times New Roman" panose="02020603050405020304" pitchFamily="18" charset="0"/>
            </a:endParaRPr>
          </a:p>
          <a:p>
            <a:pPr>
              <a:lnSpc>
                <a:spcPct val="120000"/>
              </a:lnSpc>
              <a:spcBef>
                <a:spcPct val="0"/>
              </a:spcBef>
            </a:pPr>
            <a:r>
              <a:rPr lang="zh-CN" altLang="en-US">
                <a:latin typeface="Times New Roman" panose="02020603050405020304" pitchFamily="18" charset="0"/>
              </a:rPr>
              <a:t>多项式的</a:t>
            </a:r>
            <a:r>
              <a:rPr lang="zh-CN" altLang="en-US" u="sng">
                <a:latin typeface="Times New Roman" panose="02020603050405020304" pitchFamily="18" charset="0"/>
              </a:rPr>
              <a:t>加法就是对应系数相加</a:t>
            </a:r>
            <a:r>
              <a:rPr lang="zh-CN" altLang="en-US">
                <a:latin typeface="Times New Roman" panose="02020603050405020304" pitchFamily="18" charset="0"/>
              </a:rPr>
              <a:t>；换句话说，多项式的加法就是4字节向量的逐比特异或。</a:t>
            </a:r>
            <a:endParaRPr lang="en-US" altLang="zh-CN">
              <a:latin typeface="Times New Roman" panose="02020603050405020304" pitchFamily="18" charset="0"/>
            </a:endParaRPr>
          </a:p>
          <a:p>
            <a:pPr>
              <a:lnSpc>
                <a:spcPct val="120000"/>
              </a:lnSpc>
              <a:spcBef>
                <a:spcPct val="0"/>
              </a:spcBef>
            </a:pPr>
            <a:r>
              <a:rPr lang="zh-CN" altLang="en-US">
                <a:latin typeface="Times New Roman" panose="02020603050405020304" pitchFamily="18" charset="0"/>
              </a:rPr>
              <a:t>规定多项式的乘法运算必须要</a:t>
            </a:r>
            <a:r>
              <a:rPr lang="zh-CN" altLang="en-US" u="sng">
                <a:latin typeface="Times New Roman" panose="02020603050405020304" pitchFamily="18" charset="0"/>
              </a:rPr>
              <a:t>取模</a:t>
            </a:r>
            <a:r>
              <a:rPr lang="en-US" altLang="zh-CN" u="sng">
                <a:latin typeface="Times New Roman" panose="02020603050405020304" pitchFamily="18" charset="0"/>
              </a:rPr>
              <a:t>M(x)=x</a:t>
            </a:r>
            <a:r>
              <a:rPr lang="en-US" altLang="zh-CN" u="sng" baseline="30000">
                <a:latin typeface="Times New Roman" panose="02020603050405020304" pitchFamily="18" charset="0"/>
              </a:rPr>
              <a:t>4</a:t>
            </a:r>
            <a:r>
              <a:rPr lang="en-US" altLang="zh-CN" u="sng">
                <a:latin typeface="Times New Roman" panose="02020603050405020304" pitchFamily="18" charset="0"/>
              </a:rPr>
              <a:t>+1</a:t>
            </a:r>
            <a:r>
              <a:rPr lang="en-US" altLang="zh-CN">
                <a:latin typeface="Times New Roman" panose="02020603050405020304" pitchFamily="18" charset="0"/>
              </a:rPr>
              <a:t>，</a:t>
            </a:r>
            <a:r>
              <a:rPr lang="zh-CN" altLang="en-US">
                <a:latin typeface="Times New Roman" panose="02020603050405020304" pitchFamily="18" charset="0"/>
              </a:rPr>
              <a:t>这样使得次数小于4的多项式的乘积仍然是一个次数小于4的多项式，将多项式的模乘运算记为</a:t>
            </a:r>
            <a:r>
              <a:rPr lang="zh-CN" altLang="en-US">
                <a:latin typeface="Arial Unicode MS" panose="020B0604020202020204" pitchFamily="34" charset="-128"/>
              </a:rPr>
              <a:t>    </a:t>
            </a:r>
            <a:r>
              <a:rPr lang="zh-CN" altLang="en-US">
                <a:latin typeface="Times New Roman" panose="02020603050405020304" pitchFamily="18" charset="0"/>
              </a:rPr>
              <a:t>，设</a:t>
            </a:r>
            <a:r>
              <a:rPr lang="en-US" altLang="zh-CN">
                <a:latin typeface="Times New Roman" panose="02020603050405020304" pitchFamily="18" charset="0"/>
              </a:rPr>
              <a:t>a(x)= a</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x+a</a:t>
            </a:r>
            <a:r>
              <a:rPr lang="en-US" altLang="zh-CN" baseline="-25000">
                <a:latin typeface="Times New Roman" panose="02020603050405020304" pitchFamily="18" charset="0"/>
              </a:rPr>
              <a:t>0</a:t>
            </a:r>
            <a:r>
              <a:rPr lang="en-US" altLang="zh-CN">
                <a:latin typeface="Times New Roman" panose="02020603050405020304" pitchFamily="18" charset="0"/>
              </a:rPr>
              <a:t>，b(x)= b</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+b</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+b</a:t>
            </a:r>
            <a:r>
              <a:rPr lang="en-US" altLang="zh-CN" baseline="-25000">
                <a:latin typeface="Times New Roman" panose="02020603050405020304" pitchFamily="18" charset="0"/>
              </a:rPr>
              <a:t>1</a:t>
            </a:r>
            <a:r>
              <a:rPr lang="en-US" altLang="zh-CN">
                <a:latin typeface="Times New Roman" panose="02020603050405020304" pitchFamily="18" charset="0"/>
              </a:rPr>
              <a:t>x+b</a:t>
            </a:r>
            <a:r>
              <a:rPr lang="en-US" altLang="zh-CN" baseline="-25000">
                <a:latin typeface="Times New Roman" panose="02020603050405020304" pitchFamily="18" charset="0"/>
              </a:rPr>
              <a:t>0</a:t>
            </a:r>
            <a:r>
              <a:rPr lang="en-US" altLang="zh-CN">
                <a:latin typeface="Times New Roman" panose="02020603050405020304" pitchFamily="18" charset="0"/>
              </a:rPr>
              <a:t>，c(x)= a(x)     b(x)=c</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+c</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+c</a:t>
            </a:r>
            <a:r>
              <a:rPr lang="en-US" altLang="zh-CN" baseline="-25000">
                <a:latin typeface="Times New Roman" panose="02020603050405020304" pitchFamily="18" charset="0"/>
              </a:rPr>
              <a:t>1</a:t>
            </a:r>
            <a:r>
              <a:rPr lang="en-US" altLang="zh-CN">
                <a:latin typeface="Times New Roman" panose="02020603050405020304" pitchFamily="18" charset="0"/>
              </a:rPr>
              <a:t>x+c</a:t>
            </a:r>
            <a:r>
              <a:rPr lang="en-US" altLang="zh-CN" baseline="-25000">
                <a:latin typeface="Times New Roman" panose="02020603050405020304" pitchFamily="18" charset="0"/>
              </a:rPr>
              <a:t>0</a:t>
            </a:r>
            <a:r>
              <a:rPr lang="en-US" altLang="zh-CN">
                <a:latin typeface="Times New Roman" panose="02020603050405020304" pitchFamily="18" charset="0"/>
              </a:rPr>
              <a:t>。</a:t>
            </a:r>
            <a:r>
              <a:rPr lang="zh-CN" altLang="en-US">
                <a:latin typeface="Times New Roman" panose="02020603050405020304" pitchFamily="18" charset="0"/>
              </a:rPr>
              <a:t>由于</a:t>
            </a:r>
            <a:r>
              <a:rPr lang="en-US" altLang="zh-CN" u="sng">
                <a:latin typeface="Times New Roman" panose="02020603050405020304" pitchFamily="18" charset="0"/>
              </a:rPr>
              <a:t>x</a:t>
            </a:r>
            <a:r>
              <a:rPr lang="en-US" altLang="zh-CN" u="sng" baseline="30000">
                <a:latin typeface="Times New Roman" panose="02020603050405020304" pitchFamily="18" charset="0"/>
              </a:rPr>
              <a:t>j</a:t>
            </a:r>
            <a:r>
              <a:rPr lang="en-US" altLang="zh-CN" u="sng">
                <a:latin typeface="Times New Roman" panose="02020603050405020304" pitchFamily="18" charset="0"/>
              </a:rPr>
              <a:t> mod (x</a:t>
            </a:r>
            <a:r>
              <a:rPr lang="en-US" altLang="zh-CN" u="sng" baseline="30000">
                <a:latin typeface="Times New Roman" panose="02020603050405020304" pitchFamily="18" charset="0"/>
              </a:rPr>
              <a:t>4</a:t>
            </a:r>
            <a:r>
              <a:rPr lang="en-US" altLang="zh-CN" u="sng">
                <a:latin typeface="Times New Roman" panose="02020603050405020304" pitchFamily="18" charset="0"/>
              </a:rPr>
              <a:t>+1)= x </a:t>
            </a:r>
            <a:r>
              <a:rPr lang="en-US" altLang="zh-CN" u="sng" baseline="30000">
                <a:latin typeface="Times New Roman" panose="02020603050405020304" pitchFamily="18" charset="0"/>
              </a:rPr>
              <a:t>j</a:t>
            </a:r>
            <a:r>
              <a:rPr lang="en-US" altLang="zh-CN" u="sng">
                <a:latin typeface="Times New Roman" panose="02020603050405020304" pitchFamily="18" charset="0"/>
              </a:rPr>
              <a:t> </a:t>
            </a:r>
            <a:r>
              <a:rPr lang="en-US" altLang="zh-CN" u="sng" baseline="30000">
                <a:latin typeface="Times New Roman" panose="02020603050405020304" pitchFamily="18" charset="0"/>
              </a:rPr>
              <a:t>mod 4</a:t>
            </a:r>
            <a:r>
              <a:rPr lang="en-US" altLang="zh-CN">
                <a:latin typeface="Times New Roman" panose="02020603050405020304" pitchFamily="18" charset="0"/>
              </a:rPr>
              <a:t>，</a:t>
            </a:r>
            <a:r>
              <a:rPr lang="zh-CN" altLang="en-US">
                <a:latin typeface="Times New Roman" panose="02020603050405020304" pitchFamily="18" charset="0"/>
              </a:rPr>
              <a:t>所以</a:t>
            </a:r>
          </a:p>
          <a:p>
            <a:pPr algn="ctr">
              <a:lnSpc>
                <a:spcPct val="120000"/>
              </a:lnSpc>
              <a:spcBef>
                <a:spcPct val="0"/>
              </a:spcBef>
              <a:buFontTx/>
              <a:buNone/>
            </a:pPr>
            <a:r>
              <a:rPr lang="en-US" altLang="zh-CN">
                <a:latin typeface="Times New Roman" panose="02020603050405020304" pitchFamily="18" charset="0"/>
              </a:rPr>
              <a:t>c</a:t>
            </a:r>
            <a:r>
              <a:rPr lang="en-US" altLang="zh-CN" baseline="-25000">
                <a:latin typeface="Times New Roman" panose="02020603050405020304" pitchFamily="18" charset="0"/>
              </a:rPr>
              <a:t>0</a:t>
            </a:r>
            <a:r>
              <a:rPr lang="en-US" altLang="zh-CN">
                <a:latin typeface="Times New Roman" panose="02020603050405020304" pitchFamily="18" charset="0"/>
              </a:rPr>
              <a:t>=a</a:t>
            </a:r>
            <a:r>
              <a:rPr lang="en-US" altLang="zh-CN" baseline="-25000">
                <a:latin typeface="Times New Roman" panose="02020603050405020304" pitchFamily="18" charset="0"/>
              </a:rPr>
              <a:t>0</a:t>
            </a:r>
            <a:r>
              <a:rPr lang="en-US" altLang="zh-CN">
                <a:latin typeface="Times New Roman" panose="02020603050405020304" pitchFamily="18" charset="0"/>
              </a:rPr>
              <a:t>b</a:t>
            </a:r>
            <a:r>
              <a:rPr lang="en-US" altLang="zh-CN" baseline="-25000">
                <a:latin typeface="Times New Roman" panose="02020603050405020304" pitchFamily="18" charset="0"/>
              </a:rPr>
              <a:t>0</a:t>
            </a:r>
            <a:r>
              <a:rPr lang="en-US" altLang="zh-CN">
                <a:latin typeface="Arial Unicode MS" panose="020B0604020202020204" pitchFamily="34" charset="-128"/>
              </a:rPr>
              <a:t>⊕</a:t>
            </a:r>
            <a:r>
              <a:rPr lang="en-US" altLang="zh-CN">
                <a:latin typeface="Times New Roman" panose="02020603050405020304" pitchFamily="18" charset="0"/>
              </a:rPr>
              <a:t>a</a:t>
            </a:r>
            <a:r>
              <a:rPr lang="en-US" altLang="zh-CN" baseline="-25000">
                <a:latin typeface="Times New Roman" panose="02020603050405020304" pitchFamily="18" charset="0"/>
              </a:rPr>
              <a:t>3</a:t>
            </a:r>
            <a:r>
              <a:rPr lang="en-US" altLang="zh-CN">
                <a:latin typeface="Times New Roman" panose="02020603050405020304" pitchFamily="18" charset="0"/>
              </a:rPr>
              <a:t>b</a:t>
            </a:r>
            <a:r>
              <a:rPr lang="en-US" altLang="zh-CN" baseline="-25000">
                <a:latin typeface="Times New Roman" panose="02020603050405020304" pitchFamily="18" charset="0"/>
              </a:rPr>
              <a:t>1</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b</a:t>
            </a:r>
            <a:r>
              <a:rPr lang="en-US" altLang="zh-CN" baseline="-25000">
                <a:latin typeface="Times New Roman" panose="02020603050405020304" pitchFamily="18" charset="0"/>
              </a:rPr>
              <a:t>2</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b</a:t>
            </a:r>
            <a:r>
              <a:rPr lang="en-US" altLang="zh-CN" baseline="-25000">
                <a:latin typeface="Times New Roman" panose="02020603050405020304" pitchFamily="18" charset="0"/>
              </a:rPr>
              <a:t>3</a:t>
            </a:r>
            <a:r>
              <a:rPr lang="en-US" altLang="zh-CN">
                <a:latin typeface="Times New Roman" panose="02020603050405020304" pitchFamily="18" charset="0"/>
              </a:rPr>
              <a:t>；</a:t>
            </a:r>
          </a:p>
          <a:p>
            <a:pPr algn="ctr">
              <a:lnSpc>
                <a:spcPct val="120000"/>
              </a:lnSpc>
              <a:spcBef>
                <a:spcPct val="0"/>
              </a:spcBef>
              <a:buFontTx/>
              <a:buNone/>
            </a:pPr>
            <a:r>
              <a:rPr lang="en-US" altLang="zh-CN">
                <a:latin typeface="Times New Roman" panose="02020603050405020304" pitchFamily="18" charset="0"/>
              </a:rPr>
              <a:t>c</a:t>
            </a:r>
            <a:r>
              <a:rPr lang="en-US" altLang="zh-CN" baseline="-25000">
                <a:latin typeface="Times New Roman" panose="02020603050405020304" pitchFamily="18" charset="0"/>
              </a:rPr>
              <a:t>1</a:t>
            </a:r>
            <a:r>
              <a:rPr lang="en-US" altLang="zh-CN">
                <a:latin typeface="Times New Roman" panose="02020603050405020304" pitchFamily="18" charset="0"/>
              </a:rPr>
              <a:t>= a</a:t>
            </a:r>
            <a:r>
              <a:rPr lang="en-US" altLang="zh-CN" baseline="-25000">
                <a:latin typeface="Times New Roman" panose="02020603050405020304" pitchFamily="18" charset="0"/>
              </a:rPr>
              <a:t>1</a:t>
            </a:r>
            <a:r>
              <a:rPr lang="en-US" altLang="zh-CN">
                <a:latin typeface="Times New Roman" panose="02020603050405020304" pitchFamily="18" charset="0"/>
              </a:rPr>
              <a:t>b</a:t>
            </a:r>
            <a:r>
              <a:rPr lang="en-US" altLang="zh-CN" baseline="-25000">
                <a:latin typeface="Times New Roman" panose="02020603050405020304" pitchFamily="18" charset="0"/>
              </a:rPr>
              <a:t>0</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0</a:t>
            </a:r>
            <a:r>
              <a:rPr lang="en-US" altLang="zh-CN">
                <a:latin typeface="Times New Roman" panose="02020603050405020304" pitchFamily="18" charset="0"/>
              </a:rPr>
              <a:t>b</a:t>
            </a:r>
            <a:r>
              <a:rPr lang="en-US" altLang="zh-CN" baseline="-25000">
                <a:latin typeface="Times New Roman" panose="02020603050405020304" pitchFamily="18" charset="0"/>
              </a:rPr>
              <a:t>1</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3</a:t>
            </a:r>
            <a:r>
              <a:rPr lang="en-US" altLang="zh-CN">
                <a:latin typeface="Times New Roman" panose="02020603050405020304" pitchFamily="18" charset="0"/>
              </a:rPr>
              <a:t>b</a:t>
            </a:r>
            <a:r>
              <a:rPr lang="en-US" altLang="zh-CN" baseline="-25000">
                <a:latin typeface="Times New Roman" panose="02020603050405020304" pitchFamily="18" charset="0"/>
              </a:rPr>
              <a:t>2</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b</a:t>
            </a:r>
            <a:r>
              <a:rPr lang="en-US" altLang="zh-CN" baseline="-25000">
                <a:latin typeface="Times New Roman" panose="02020603050405020304" pitchFamily="18" charset="0"/>
              </a:rPr>
              <a:t>3</a:t>
            </a:r>
            <a:r>
              <a:rPr lang="en-US" altLang="zh-CN">
                <a:latin typeface="Times New Roman" panose="02020603050405020304" pitchFamily="18" charset="0"/>
              </a:rPr>
              <a:t>；</a:t>
            </a:r>
          </a:p>
          <a:p>
            <a:pPr algn="ctr">
              <a:lnSpc>
                <a:spcPct val="120000"/>
              </a:lnSpc>
              <a:spcBef>
                <a:spcPct val="0"/>
              </a:spcBef>
              <a:buFontTx/>
              <a:buNone/>
            </a:pPr>
            <a:r>
              <a:rPr lang="en-US" altLang="zh-CN">
                <a:latin typeface="Times New Roman" panose="02020603050405020304" pitchFamily="18" charset="0"/>
              </a:rPr>
              <a:t>c</a:t>
            </a:r>
            <a:r>
              <a:rPr lang="en-US" altLang="zh-CN" baseline="-25000">
                <a:latin typeface="Times New Roman" panose="02020603050405020304" pitchFamily="18" charset="0"/>
              </a:rPr>
              <a:t>2</a:t>
            </a:r>
            <a:r>
              <a:rPr lang="en-US" altLang="zh-CN">
                <a:latin typeface="Times New Roman" panose="02020603050405020304" pitchFamily="18" charset="0"/>
              </a:rPr>
              <a:t>= a</a:t>
            </a:r>
            <a:r>
              <a:rPr lang="en-US" altLang="zh-CN" baseline="-25000">
                <a:latin typeface="Times New Roman" panose="02020603050405020304" pitchFamily="18" charset="0"/>
              </a:rPr>
              <a:t>2</a:t>
            </a:r>
            <a:r>
              <a:rPr lang="en-US" altLang="zh-CN">
                <a:latin typeface="Times New Roman" panose="02020603050405020304" pitchFamily="18" charset="0"/>
              </a:rPr>
              <a:t>b</a:t>
            </a:r>
            <a:r>
              <a:rPr lang="en-US" altLang="zh-CN" baseline="-25000">
                <a:latin typeface="Times New Roman" panose="02020603050405020304" pitchFamily="18" charset="0"/>
              </a:rPr>
              <a:t>0</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b</a:t>
            </a:r>
            <a:r>
              <a:rPr lang="en-US" altLang="zh-CN" baseline="-25000">
                <a:latin typeface="Times New Roman" panose="02020603050405020304" pitchFamily="18" charset="0"/>
              </a:rPr>
              <a:t>1</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0</a:t>
            </a:r>
            <a:r>
              <a:rPr lang="en-US" altLang="zh-CN">
                <a:latin typeface="Times New Roman" panose="02020603050405020304" pitchFamily="18" charset="0"/>
              </a:rPr>
              <a:t>b</a:t>
            </a:r>
            <a:r>
              <a:rPr lang="en-US" altLang="zh-CN" baseline="-25000">
                <a:latin typeface="Times New Roman" panose="02020603050405020304" pitchFamily="18" charset="0"/>
              </a:rPr>
              <a:t>2</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3</a:t>
            </a:r>
            <a:r>
              <a:rPr lang="en-US" altLang="zh-CN">
                <a:latin typeface="Times New Roman" panose="02020603050405020304" pitchFamily="18" charset="0"/>
              </a:rPr>
              <a:t>b</a:t>
            </a:r>
            <a:r>
              <a:rPr lang="en-US" altLang="zh-CN" baseline="-25000">
                <a:latin typeface="Times New Roman" panose="02020603050405020304" pitchFamily="18" charset="0"/>
              </a:rPr>
              <a:t>3</a:t>
            </a:r>
            <a:r>
              <a:rPr lang="en-US" altLang="zh-CN">
                <a:latin typeface="Times New Roman" panose="02020603050405020304" pitchFamily="18" charset="0"/>
              </a:rPr>
              <a:t>；</a:t>
            </a:r>
          </a:p>
          <a:p>
            <a:pPr algn="ctr">
              <a:lnSpc>
                <a:spcPct val="120000"/>
              </a:lnSpc>
              <a:spcBef>
                <a:spcPct val="0"/>
              </a:spcBef>
              <a:buFontTx/>
              <a:buNone/>
            </a:pPr>
            <a:r>
              <a:rPr lang="en-US" altLang="zh-CN">
                <a:latin typeface="Times New Roman" panose="02020603050405020304" pitchFamily="18" charset="0"/>
              </a:rPr>
              <a:t>c</a:t>
            </a:r>
            <a:r>
              <a:rPr lang="en-US" altLang="zh-CN" baseline="-25000">
                <a:latin typeface="Times New Roman" panose="02020603050405020304" pitchFamily="18" charset="0"/>
              </a:rPr>
              <a:t>3</a:t>
            </a:r>
            <a:r>
              <a:rPr lang="en-US" altLang="zh-CN">
                <a:latin typeface="Times New Roman" panose="02020603050405020304" pitchFamily="18" charset="0"/>
              </a:rPr>
              <a:t>= a</a:t>
            </a:r>
            <a:r>
              <a:rPr lang="en-US" altLang="zh-CN" baseline="-25000">
                <a:latin typeface="Times New Roman" panose="02020603050405020304" pitchFamily="18" charset="0"/>
              </a:rPr>
              <a:t>3</a:t>
            </a:r>
            <a:r>
              <a:rPr lang="en-US" altLang="zh-CN">
                <a:latin typeface="Times New Roman" panose="02020603050405020304" pitchFamily="18" charset="0"/>
              </a:rPr>
              <a:t>b</a:t>
            </a:r>
            <a:r>
              <a:rPr lang="en-US" altLang="zh-CN" baseline="-25000">
                <a:latin typeface="Times New Roman" panose="02020603050405020304" pitchFamily="18" charset="0"/>
              </a:rPr>
              <a:t>0</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b</a:t>
            </a:r>
            <a:r>
              <a:rPr lang="en-US" altLang="zh-CN" baseline="-25000">
                <a:latin typeface="Times New Roman" panose="02020603050405020304" pitchFamily="18" charset="0"/>
              </a:rPr>
              <a:t>1</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b</a:t>
            </a:r>
            <a:r>
              <a:rPr lang="en-US" altLang="zh-CN" baseline="-25000">
                <a:latin typeface="Times New Roman" panose="02020603050405020304" pitchFamily="18" charset="0"/>
              </a:rPr>
              <a:t>2</a:t>
            </a:r>
            <a:r>
              <a:rPr lang="en-US" altLang="zh-CN">
                <a:latin typeface="Arial Unicode MS" panose="020B0604020202020204" pitchFamily="34" charset="-128"/>
              </a:rPr>
              <a:t> ⊕ </a:t>
            </a:r>
            <a:r>
              <a:rPr lang="en-US" altLang="zh-CN">
                <a:latin typeface="Times New Roman" panose="02020603050405020304" pitchFamily="18" charset="0"/>
              </a:rPr>
              <a:t>a</a:t>
            </a:r>
            <a:r>
              <a:rPr lang="en-US" altLang="zh-CN" baseline="-25000">
                <a:latin typeface="Times New Roman" panose="02020603050405020304" pitchFamily="18" charset="0"/>
              </a:rPr>
              <a:t>0</a:t>
            </a:r>
            <a:r>
              <a:rPr lang="en-US" altLang="zh-CN">
                <a:latin typeface="Times New Roman" panose="02020603050405020304" pitchFamily="18" charset="0"/>
              </a:rPr>
              <a:t>b</a:t>
            </a:r>
            <a:r>
              <a:rPr lang="en-US" altLang="zh-CN" baseline="-25000">
                <a:latin typeface="Times New Roman" panose="02020603050405020304" pitchFamily="18" charset="0"/>
              </a:rPr>
              <a:t>3</a:t>
            </a:r>
            <a:r>
              <a:rPr lang="en-US" altLang="zh-CN">
                <a:latin typeface="Times New Roman" panose="02020603050405020304" pitchFamily="18" charset="0"/>
              </a:rPr>
              <a:t>。</a:t>
            </a:r>
            <a:endParaRPr lang="zh-CN" altLang="en-US">
              <a:latin typeface="Times New Roman" panose="02020603050405020304" pitchFamily="18" charset="0"/>
            </a:endParaRPr>
          </a:p>
          <a:p>
            <a:pPr>
              <a:lnSpc>
                <a:spcPct val="120000"/>
              </a:lnSpc>
              <a:spcBef>
                <a:spcPct val="0"/>
              </a:spcBef>
            </a:pPr>
            <a:endParaRPr lang="zh-CN" altLang="en-US">
              <a:latin typeface="Times New Roman" panose="02020603050405020304" pitchFamily="18" charset="0"/>
            </a:endParaRPr>
          </a:p>
          <a:p>
            <a:pPr>
              <a:lnSpc>
                <a:spcPct val="120000"/>
              </a:lnSpc>
              <a:spcBef>
                <a:spcPct val="0"/>
              </a:spcBef>
            </a:pPr>
            <a:endParaRPr lang="zh-CN"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85699" name="对象 7">
                <a:extLst>
                  <a:ext uri="{FF2B5EF4-FFF2-40B4-BE49-F238E27FC236}">
                    <a16:creationId xmlns:a16="http://schemas.microsoft.com/office/drawing/2014/main" id="{339DC91E-C66B-0F42-8DF8-A3B729419F9D}"/>
                  </a:ext>
                </a:extLst>
              </p:cNvPr>
              <p:cNvSpPr txBox="1"/>
              <p:nvPr/>
            </p:nvSpPr>
            <p:spPr bwMode="auto">
              <a:xfrm>
                <a:off x="9601200" y="3160713"/>
                <a:ext cx="381000" cy="42068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85699" name="对象 7">
                <a:extLst>
                  <a:ext uri="{FF2B5EF4-FFF2-40B4-BE49-F238E27FC236}">
                    <a16:creationId xmlns:a16="http://schemas.microsoft.com/office/drawing/2014/main" id="{339DC91E-C66B-0F42-8DF8-A3B729419F9D}"/>
                  </a:ext>
                </a:extLst>
              </p:cNvPr>
              <p:cNvSpPr txBox="1">
                <a:spLocks noRot="1" noChangeAspect="1" noMove="1" noResize="1" noEditPoints="1" noAdjustHandles="1" noChangeArrowheads="1" noChangeShapeType="1" noTextEdit="1"/>
              </p:cNvSpPr>
              <p:nvPr/>
            </p:nvSpPr>
            <p:spPr bwMode="auto">
              <a:xfrm>
                <a:off x="9601200" y="3160713"/>
                <a:ext cx="381000" cy="420687"/>
              </a:xfrm>
              <a:prstGeom prst="rect">
                <a:avLst/>
              </a:prstGeom>
              <a:blipFill>
                <a:blip r:embed="rId3"/>
                <a:stretch>
                  <a:fillRect l="-1587" r="-9524"/>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5700" name="对象 8">
                <a:extLst>
                  <a:ext uri="{FF2B5EF4-FFF2-40B4-BE49-F238E27FC236}">
                    <a16:creationId xmlns:a16="http://schemas.microsoft.com/office/drawing/2014/main" id="{F3CC18A1-6E57-F24D-B49E-D03D881CDFEE}"/>
                  </a:ext>
                </a:extLst>
              </p:cNvPr>
              <p:cNvSpPr txBox="1"/>
              <p:nvPr/>
            </p:nvSpPr>
            <p:spPr bwMode="auto">
              <a:xfrm>
                <a:off x="8229600" y="3541713"/>
                <a:ext cx="381000" cy="42068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85700" name="对象 8">
                <a:extLst>
                  <a:ext uri="{FF2B5EF4-FFF2-40B4-BE49-F238E27FC236}">
                    <a16:creationId xmlns:a16="http://schemas.microsoft.com/office/drawing/2014/main" id="{F3CC18A1-6E57-F24D-B49E-D03D881CDFEE}"/>
                  </a:ext>
                </a:extLst>
              </p:cNvPr>
              <p:cNvSpPr txBox="1">
                <a:spLocks noRot="1" noChangeAspect="1" noMove="1" noResize="1" noEditPoints="1" noAdjustHandles="1" noChangeArrowheads="1" noChangeShapeType="1" noTextEdit="1"/>
              </p:cNvSpPr>
              <p:nvPr/>
            </p:nvSpPr>
            <p:spPr bwMode="auto">
              <a:xfrm>
                <a:off x="8229600" y="3541713"/>
                <a:ext cx="381000" cy="420687"/>
              </a:xfrm>
              <a:prstGeom prst="rect">
                <a:avLst/>
              </a:prstGeom>
              <a:blipFill>
                <a:blip r:embed="rId4"/>
                <a:stretch>
                  <a:fillRect l="-1587" r="-9524"/>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标题 1">
            <a:extLst>
              <a:ext uri="{FF2B5EF4-FFF2-40B4-BE49-F238E27FC236}">
                <a16:creationId xmlns:a16="http://schemas.microsoft.com/office/drawing/2014/main" id="{BACC51F2-1D27-9F40-A5B1-7F9FDA0E8926}"/>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多项式乘法的矩阵表示</a:t>
            </a:r>
          </a:p>
        </p:txBody>
      </p:sp>
      <p:sp>
        <p:nvSpPr>
          <p:cNvPr id="287746" name="Rectangle 2">
            <a:extLst>
              <a:ext uri="{FF2B5EF4-FFF2-40B4-BE49-F238E27FC236}">
                <a16:creationId xmlns:a16="http://schemas.microsoft.com/office/drawing/2014/main" id="{9A0EB7BD-CE3B-784E-9F45-36FFCDA3AB3C}"/>
              </a:ext>
            </a:extLst>
          </p:cNvPr>
          <p:cNvSpPr>
            <a:spLocks noGrp="1" noChangeArrowheads="1"/>
          </p:cNvSpPr>
          <p:nvPr>
            <p:ph idx="1"/>
          </p:nvPr>
        </p:nvSpPr>
        <p:spPr>
          <a:xfrm>
            <a:off x="823913" y="1465263"/>
            <a:ext cx="10515600" cy="4579937"/>
          </a:xfrm>
        </p:spPr>
        <p:txBody>
          <a:bodyPr/>
          <a:lstStyle/>
          <a:p>
            <a:pPr marL="287338" indent="-6350" eaLnBrk="1" hangingPunct="1">
              <a:buFont typeface="Arial" panose="020B0604020202020204" pitchFamily="34" charset="0"/>
              <a:buNone/>
            </a:pPr>
            <a:r>
              <a:rPr lang="zh-CN" altLang="en-US">
                <a:latin typeface="Times New Roman" panose="02020603050405020304" pitchFamily="18" charset="0"/>
              </a:rPr>
              <a:t>可将上述计算表示为</a:t>
            </a:r>
            <a:endParaRPr lang="en-US" altLang="zh-CN">
              <a:latin typeface="Times New Roman" panose="02020603050405020304" pitchFamily="18" charset="0"/>
            </a:endParaRPr>
          </a:p>
          <a:p>
            <a:pPr marL="287338" indent="-6350" eaLnBrk="1" hangingPunct="1">
              <a:buFont typeface="Arial" panose="020B0604020202020204" pitchFamily="34" charset="0"/>
              <a:buNone/>
            </a:pPr>
            <a:endParaRPr lang="en-US" altLang="zh-CN">
              <a:latin typeface="Times New Roman" panose="02020603050405020304" pitchFamily="18" charset="0"/>
            </a:endParaRPr>
          </a:p>
          <a:p>
            <a:pPr marL="287338" indent="-6350" eaLnBrk="1" hangingPunct="1">
              <a:buFont typeface="Arial" panose="020B0604020202020204" pitchFamily="34" charset="0"/>
              <a:buNone/>
            </a:pPr>
            <a:endParaRPr lang="en-US" altLang="zh-CN">
              <a:latin typeface="Times New Roman" panose="02020603050405020304" pitchFamily="18" charset="0"/>
            </a:endParaRPr>
          </a:p>
          <a:p>
            <a:pPr marL="287338" indent="-6350" eaLnBrk="1" hangingPunct="1">
              <a:buFont typeface="Arial" panose="020B0604020202020204" pitchFamily="34" charset="0"/>
              <a:buNone/>
            </a:pPr>
            <a:endParaRPr lang="en-US" altLang="zh-CN">
              <a:latin typeface="Times New Roman" panose="02020603050405020304" pitchFamily="18" charset="0"/>
            </a:endParaRPr>
          </a:p>
          <a:p>
            <a:pPr marL="287338" indent="-6350" eaLnBrk="1" hangingPunct="1">
              <a:buFont typeface="Arial" panose="020B0604020202020204" pitchFamily="34" charset="0"/>
              <a:buNone/>
            </a:pPr>
            <a:endParaRPr lang="en-US" altLang="zh-CN">
              <a:latin typeface="Times New Roman" panose="02020603050405020304" pitchFamily="18" charset="0"/>
            </a:endParaRPr>
          </a:p>
          <a:p>
            <a:pPr marL="287338" indent="-6350" eaLnBrk="1" hangingPunct="1">
              <a:buFont typeface="Arial" panose="020B0604020202020204" pitchFamily="34" charset="0"/>
              <a:buNone/>
            </a:pPr>
            <a:endParaRPr lang="en-US" altLang="zh-CN">
              <a:latin typeface="Times New Roman" panose="02020603050405020304" pitchFamily="18" charset="0"/>
            </a:endParaRPr>
          </a:p>
          <a:p>
            <a:pPr marL="287338" indent="-6350" eaLnBrk="1" hangingPunct="1">
              <a:buFont typeface="Arial" panose="020B0604020202020204" pitchFamily="34" charset="0"/>
              <a:buNone/>
            </a:pPr>
            <a:endParaRPr lang="en-US" altLang="zh-CN">
              <a:latin typeface="Times New Roman" panose="02020603050405020304" pitchFamily="18" charset="0"/>
            </a:endParaRPr>
          </a:p>
          <a:p>
            <a:pPr marL="287338" indent="-6350" eaLnBrk="1" hangingPunct="1">
              <a:buFont typeface="Arial" panose="020B0604020202020204" pitchFamily="34" charset="0"/>
              <a:buNone/>
            </a:pPr>
            <a:r>
              <a:rPr lang="zh-CN" altLang="en-US">
                <a:latin typeface="Times New Roman" panose="02020603050405020304" pitchFamily="18" charset="0"/>
              </a:rPr>
              <a:t>其中元素的加法和乘法为</a:t>
            </a:r>
            <a:r>
              <a:rPr lang="en-US" altLang="zh-CN">
                <a:latin typeface="Times New Roman" panose="02020603050405020304" pitchFamily="18" charset="0"/>
              </a:rPr>
              <a:t>GF</a:t>
            </a:r>
            <a:r>
              <a:rPr lang="zh-CN" altLang="en-US">
                <a:latin typeface="Times New Roman" panose="02020603050405020304" pitchFamily="18" charset="0"/>
              </a:rPr>
              <a:t>（</a:t>
            </a:r>
            <a:r>
              <a:rPr lang="en-US" altLang="zh-CN">
                <a:latin typeface="Times New Roman" panose="02020603050405020304" pitchFamily="18" charset="0"/>
              </a:rPr>
              <a:t>2</a:t>
            </a:r>
            <a:r>
              <a:rPr lang="en-US" altLang="zh-CN" baseline="30000">
                <a:latin typeface="Times New Roman" panose="02020603050405020304" pitchFamily="18" charset="0"/>
              </a:rPr>
              <a:t>8</a:t>
            </a:r>
            <a:r>
              <a:rPr lang="zh-CN" altLang="en-US">
                <a:latin typeface="Times New Roman" panose="02020603050405020304" pitchFamily="18" charset="0"/>
              </a:rPr>
              <a:t>）域上的运算</a:t>
            </a:r>
          </a:p>
          <a:p>
            <a:pPr marL="287338" indent="-6350" algn="ctr" eaLnBrk="1" hangingPunct="1">
              <a:buFont typeface="Arial" panose="020B0604020202020204" pitchFamily="34" charset="0"/>
              <a:buNone/>
            </a:pPr>
            <a:endParaRPr lang="en-US" altLang="zh-CN">
              <a:latin typeface="Times New Roman" panose="02020603050405020304" pitchFamily="18" charset="0"/>
            </a:endParaRPr>
          </a:p>
        </p:txBody>
      </p:sp>
      <p:sp>
        <p:nvSpPr>
          <p:cNvPr id="287747" name="Rectangle 3">
            <a:extLst>
              <a:ext uri="{FF2B5EF4-FFF2-40B4-BE49-F238E27FC236}">
                <a16:creationId xmlns:a16="http://schemas.microsoft.com/office/drawing/2014/main" id="{FB4A517B-00BE-8747-A43F-BAE9133EB4E6}"/>
              </a:ext>
            </a:extLst>
          </p:cNvPr>
          <p:cNvSpPr>
            <a:spLocks noChangeArrowheads="1"/>
          </p:cNvSpPr>
          <p:nvPr/>
        </p:nvSpPr>
        <p:spPr bwMode="auto">
          <a:xfrm>
            <a:off x="5129213" y="2957513"/>
            <a:ext cx="9144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Tahoma" panose="020B0604030504040204" pitchFamily="34" charset="0"/>
            </a:endParaRPr>
          </a:p>
        </p:txBody>
      </p:sp>
      <p:graphicFrame>
        <p:nvGraphicFramePr>
          <p:cNvPr id="287748" name="Object 4">
            <a:extLst>
              <a:ext uri="{FF2B5EF4-FFF2-40B4-BE49-F238E27FC236}">
                <a16:creationId xmlns:a16="http://schemas.microsoft.com/office/drawing/2014/main" id="{4036815A-26DF-3246-B9CA-08127B4BE2B3}"/>
              </a:ext>
            </a:extLst>
          </p:cNvPr>
          <p:cNvGraphicFramePr>
            <a:graphicFrameLocks noChangeAspect="1"/>
          </p:cNvGraphicFramePr>
          <p:nvPr/>
        </p:nvGraphicFramePr>
        <p:xfrm>
          <a:off x="3276600" y="2174875"/>
          <a:ext cx="4724400" cy="2303463"/>
        </p:xfrm>
        <a:graphic>
          <a:graphicData uri="http://schemas.openxmlformats.org/presentationml/2006/ole">
            <mc:AlternateContent xmlns:mc="http://schemas.openxmlformats.org/markup-compatibility/2006">
              <mc:Choice xmlns:v="urn:schemas-microsoft-com:vml" Requires="v">
                <p:oleObj spid="_x0000_s287814" r:id="rId4" imgW="44475400" imgH="21653500" progId="Equation.DSMT4">
                  <p:embed/>
                </p:oleObj>
              </mc:Choice>
              <mc:Fallback>
                <p:oleObj r:id="rId4" imgW="44475400" imgH="216535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2174875"/>
                        <a:ext cx="4724400"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865CB7-6BA5-3A4D-9C15-093C5EEF7FEA}"/>
              </a:ext>
            </a:extLst>
          </p:cNvPr>
          <p:cNvSpPr>
            <a:spLocks noGrp="1"/>
          </p:cNvSpPr>
          <p:nvPr>
            <p:ph type="title"/>
          </p:nvPr>
        </p:nvSpPr>
        <p:spPr>
          <a:xfrm>
            <a:off x="1465263" y="365125"/>
            <a:ext cx="9037637" cy="668338"/>
          </a:xfrm>
        </p:spPr>
        <p:txBody>
          <a:bodyPr/>
          <a:lstStyle/>
          <a:p>
            <a:pPr>
              <a:defRPr/>
            </a:pPr>
            <a:r>
              <a:rPr lang="zh-CN" altLang="en-US" dirty="0"/>
              <a:t>模</a:t>
            </a:r>
            <a:r>
              <a:rPr lang="en-US" altLang="zh-CN" i="1" dirty="0"/>
              <a:t>x</a:t>
            </a:r>
            <a:r>
              <a:rPr lang="en-US" altLang="zh-CN" baseline="30000" dirty="0"/>
              <a:t>4</a:t>
            </a:r>
            <a:r>
              <a:rPr lang="en-US" altLang="zh-CN" dirty="0"/>
              <a:t>+1</a:t>
            </a:r>
            <a:r>
              <a:rPr lang="zh-CN" altLang="en-US" dirty="0"/>
              <a:t>逆元</a:t>
            </a:r>
          </a:p>
        </p:txBody>
      </p:sp>
      <p:sp>
        <p:nvSpPr>
          <p:cNvPr id="289794" name="Rectangle 2">
            <a:extLst>
              <a:ext uri="{FF2B5EF4-FFF2-40B4-BE49-F238E27FC236}">
                <a16:creationId xmlns:a16="http://schemas.microsoft.com/office/drawing/2014/main" id="{A6552045-BF8C-064E-ADD0-A415C0C30BE6}"/>
              </a:ext>
            </a:extLst>
          </p:cNvPr>
          <p:cNvSpPr>
            <a:spLocks noGrp="1" noChangeArrowheads="1"/>
          </p:cNvSpPr>
          <p:nvPr>
            <p:ph idx="1"/>
          </p:nvPr>
        </p:nvSpPr>
        <p:spPr>
          <a:xfrm>
            <a:off x="823913" y="1295400"/>
            <a:ext cx="10515600" cy="4953000"/>
          </a:xfrm>
        </p:spPr>
        <p:txBody>
          <a:bodyPr/>
          <a:lstStyle/>
          <a:p>
            <a:pPr marL="287338" indent="-6350" eaLnBrk="1" hangingPunct="1">
              <a:lnSpc>
                <a:spcPct val="120000"/>
              </a:lnSpc>
              <a:buFont typeface="Arial" panose="020B0604020202020204" pitchFamily="34" charset="0"/>
              <a:buNone/>
            </a:pPr>
            <a:r>
              <a:rPr lang="zh-CN" altLang="en-US">
                <a:solidFill>
                  <a:srgbClr val="FF0000"/>
                </a:solidFill>
                <a:latin typeface="Times New Roman" panose="02020603050405020304" pitchFamily="18" charset="0"/>
              </a:rPr>
              <a:t>定理：</a:t>
            </a:r>
            <a:r>
              <a:rPr lang="zh-CN" altLang="en-US">
                <a:latin typeface="Times New Roman" panose="02020603050405020304" pitchFamily="18" charset="0"/>
              </a:rPr>
              <a:t>系数在</a:t>
            </a:r>
            <a:r>
              <a:rPr lang="en-US" altLang="zh-CN">
                <a:latin typeface="Times New Roman" panose="02020603050405020304" pitchFamily="18" charset="0"/>
              </a:rPr>
              <a:t>GF(2</a:t>
            </a:r>
            <a:r>
              <a:rPr lang="en-US" altLang="zh-CN" baseline="30000">
                <a:latin typeface="Times New Roman" panose="02020603050405020304" pitchFamily="18" charset="0"/>
              </a:rPr>
              <a:t>8</a:t>
            </a:r>
            <a:r>
              <a:rPr lang="en-US" altLang="zh-CN">
                <a:latin typeface="Times New Roman" panose="02020603050405020304" pitchFamily="18" charset="0"/>
              </a:rPr>
              <a:t>)</a:t>
            </a:r>
            <a:r>
              <a:rPr lang="zh-CN" altLang="en-US">
                <a:latin typeface="Times New Roman" panose="02020603050405020304" pitchFamily="18" charset="0"/>
              </a:rPr>
              <a:t>上的多项式</a:t>
            </a:r>
            <a:r>
              <a:rPr lang="en-US" altLang="zh-CN" i="1">
                <a:latin typeface="Times New Roman" panose="02020603050405020304" pitchFamily="18" charset="0"/>
              </a:rPr>
              <a:t>a</a:t>
            </a:r>
            <a:r>
              <a:rPr lang="en-US" altLang="zh-CN" baseline="-25000">
                <a:latin typeface="Times New Roman" panose="02020603050405020304" pitchFamily="18" charset="0"/>
              </a:rPr>
              <a:t>3</a:t>
            </a:r>
            <a:r>
              <a:rPr lang="en-US" altLang="zh-CN" i="1">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a:latin typeface="Times New Roman" panose="02020603050405020304" pitchFamily="18" charset="0"/>
              </a:rPr>
              <a:t>x</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baseline="-25000">
                <a:latin typeface="Times New Roman" panose="02020603050405020304" pitchFamily="18" charset="0"/>
              </a:rPr>
              <a:t>0</a:t>
            </a:r>
            <a:r>
              <a:rPr lang="zh-CN" altLang="en-US">
                <a:latin typeface="Times New Roman" panose="02020603050405020304" pitchFamily="18" charset="0"/>
              </a:rPr>
              <a:t>是模</a:t>
            </a:r>
            <a:r>
              <a:rPr lang="en-US" altLang="zh-CN" i="1">
                <a:latin typeface="Times New Roman" panose="02020603050405020304" pitchFamily="18" charset="0"/>
              </a:rPr>
              <a:t>x</a:t>
            </a:r>
            <a:r>
              <a:rPr lang="en-US" altLang="zh-CN" baseline="30000">
                <a:latin typeface="Times New Roman" panose="02020603050405020304" pitchFamily="18" charset="0"/>
              </a:rPr>
              <a:t>4</a:t>
            </a:r>
            <a:r>
              <a:rPr lang="en-US" altLang="zh-CN">
                <a:latin typeface="Times New Roman" panose="02020603050405020304" pitchFamily="18" charset="0"/>
              </a:rPr>
              <a:t>+1</a:t>
            </a:r>
            <a:r>
              <a:rPr lang="zh-CN" altLang="en-US">
                <a:latin typeface="Times New Roman" panose="02020603050405020304" pitchFamily="18" charset="0"/>
              </a:rPr>
              <a:t>可逆的，当且仅当矩阵</a:t>
            </a:r>
          </a:p>
          <a:p>
            <a:pPr marL="287338" indent="-6350" algn="ctr" eaLnBrk="1" hangingPunct="1">
              <a:lnSpc>
                <a:spcPct val="120000"/>
              </a:lnSpc>
              <a:buFont typeface="Arial" panose="020B0604020202020204" pitchFamily="34" charset="0"/>
              <a:buNone/>
            </a:pPr>
            <a:endParaRPr lang="zh-CN" altLang="en-US">
              <a:latin typeface="Times New Roman" panose="02020603050405020304" pitchFamily="18" charset="0"/>
            </a:endParaRPr>
          </a:p>
          <a:p>
            <a:pPr marL="287338" indent="-6350" algn="ctr" eaLnBrk="1" hangingPunct="1">
              <a:lnSpc>
                <a:spcPct val="120000"/>
              </a:lnSpc>
              <a:buFont typeface="Arial" panose="020B0604020202020204" pitchFamily="34" charset="0"/>
              <a:buNone/>
            </a:pPr>
            <a:endParaRPr lang="zh-CN" altLang="en-US">
              <a:latin typeface="Times New Roman" panose="02020603050405020304" pitchFamily="18" charset="0"/>
            </a:endParaRPr>
          </a:p>
          <a:p>
            <a:pPr marL="287338" indent="-6350" algn="ctr" eaLnBrk="1" hangingPunct="1">
              <a:lnSpc>
                <a:spcPct val="120000"/>
              </a:lnSpc>
              <a:buFont typeface="Arial" panose="020B0604020202020204" pitchFamily="34" charset="0"/>
              <a:buNone/>
            </a:pPr>
            <a:endParaRPr lang="zh-CN" altLang="en-US">
              <a:latin typeface="Times New Roman" panose="02020603050405020304" pitchFamily="18" charset="0"/>
            </a:endParaRPr>
          </a:p>
          <a:p>
            <a:pPr marL="287338" indent="-6350" algn="ctr" eaLnBrk="1" hangingPunct="1">
              <a:lnSpc>
                <a:spcPct val="120000"/>
              </a:lnSpc>
              <a:buFont typeface="Arial" panose="020B0604020202020204" pitchFamily="34" charset="0"/>
              <a:buNone/>
            </a:pPr>
            <a:endParaRPr lang="zh-CN" altLang="en-US">
              <a:latin typeface="Times New Roman" panose="02020603050405020304" pitchFamily="18" charset="0"/>
            </a:endParaRPr>
          </a:p>
          <a:p>
            <a:pPr marL="287338" indent="-6350" algn="ctr" eaLnBrk="1" hangingPunct="1">
              <a:lnSpc>
                <a:spcPct val="120000"/>
              </a:lnSpc>
              <a:buFont typeface="Arial" panose="020B0604020202020204" pitchFamily="34" charset="0"/>
              <a:buNone/>
            </a:pPr>
            <a:endParaRPr lang="zh-CN" altLang="en-US">
              <a:latin typeface="Times New Roman" panose="02020603050405020304" pitchFamily="18" charset="0"/>
            </a:endParaRPr>
          </a:p>
          <a:p>
            <a:pPr marL="287338" indent="-6350" algn="ctr" eaLnBrk="1" hangingPunct="1">
              <a:lnSpc>
                <a:spcPct val="120000"/>
              </a:lnSpc>
              <a:buFont typeface="Arial" panose="020B0604020202020204" pitchFamily="34" charset="0"/>
              <a:buNone/>
            </a:pPr>
            <a:endParaRPr lang="zh-CN" altLang="en-US">
              <a:latin typeface="Times New Roman" panose="02020603050405020304" pitchFamily="18" charset="0"/>
            </a:endParaRPr>
          </a:p>
          <a:p>
            <a:pPr marL="287338" indent="-6350" eaLnBrk="1" hangingPunct="1">
              <a:lnSpc>
                <a:spcPct val="120000"/>
              </a:lnSpc>
              <a:buFont typeface="Arial" panose="020B0604020202020204" pitchFamily="34" charset="0"/>
              <a:buNone/>
            </a:pPr>
            <a:r>
              <a:rPr lang="zh-CN" altLang="en-US">
                <a:latin typeface="Times New Roman" panose="02020603050405020304" pitchFamily="18" charset="0"/>
              </a:rPr>
              <a:t>在</a:t>
            </a:r>
            <a:r>
              <a:rPr lang="en-US" altLang="zh-CN">
                <a:latin typeface="Times New Roman" panose="02020603050405020304" pitchFamily="18" charset="0"/>
              </a:rPr>
              <a:t>GF(2</a:t>
            </a:r>
            <a:r>
              <a:rPr lang="en-US" altLang="zh-CN" baseline="30000">
                <a:latin typeface="Times New Roman" panose="02020603050405020304" pitchFamily="18" charset="0"/>
              </a:rPr>
              <a:t>8</a:t>
            </a:r>
            <a:r>
              <a:rPr lang="en-US" altLang="zh-CN">
                <a:latin typeface="Times New Roman" panose="02020603050405020304" pitchFamily="18" charset="0"/>
              </a:rPr>
              <a:t>)</a:t>
            </a:r>
            <a:r>
              <a:rPr lang="zh-CN" altLang="en-US">
                <a:latin typeface="Times New Roman" panose="02020603050405020304" pitchFamily="18" charset="0"/>
              </a:rPr>
              <a:t>上可逆。</a:t>
            </a:r>
          </a:p>
        </p:txBody>
      </p:sp>
      <p:graphicFrame>
        <p:nvGraphicFramePr>
          <p:cNvPr id="289795" name="Object 3">
            <a:extLst>
              <a:ext uri="{FF2B5EF4-FFF2-40B4-BE49-F238E27FC236}">
                <a16:creationId xmlns:a16="http://schemas.microsoft.com/office/drawing/2014/main" id="{70DF8CB4-6CB3-3F41-8BDA-990217AD9E35}"/>
              </a:ext>
            </a:extLst>
          </p:cNvPr>
          <p:cNvGraphicFramePr>
            <a:graphicFrameLocks noChangeAspect="1"/>
          </p:cNvGraphicFramePr>
          <p:nvPr/>
        </p:nvGraphicFramePr>
        <p:xfrm>
          <a:off x="4532313" y="2590800"/>
          <a:ext cx="3098800" cy="2490788"/>
        </p:xfrm>
        <a:graphic>
          <a:graphicData uri="http://schemas.openxmlformats.org/presentationml/2006/ole">
            <mc:AlternateContent xmlns:mc="http://schemas.openxmlformats.org/markup-compatibility/2006">
              <mc:Choice xmlns:v="urn:schemas-microsoft-com:vml" Requires="v">
                <p:oleObj spid="_x0000_s289861" r:id="rId4" imgW="26911300" imgH="21653500" progId="Equation.DSMT4">
                  <p:embed/>
                </p:oleObj>
              </mc:Choice>
              <mc:Fallback>
                <p:oleObj r:id="rId4" imgW="26911300" imgH="216535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2313" y="2590800"/>
                        <a:ext cx="3098800" cy="24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标题 1">
            <a:extLst>
              <a:ext uri="{FF2B5EF4-FFF2-40B4-BE49-F238E27FC236}">
                <a16:creationId xmlns:a16="http://schemas.microsoft.com/office/drawing/2014/main" id="{AB7DFCF1-BCC1-9949-A1F1-566172CA3A71}"/>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证明</a:t>
            </a:r>
          </a:p>
        </p:txBody>
      </p:sp>
      <p:sp>
        <p:nvSpPr>
          <p:cNvPr id="291842" name="Rectangle 2">
            <a:extLst>
              <a:ext uri="{FF2B5EF4-FFF2-40B4-BE49-F238E27FC236}">
                <a16:creationId xmlns:a16="http://schemas.microsoft.com/office/drawing/2014/main" id="{41190ECE-AFB0-604B-B59E-5900DAE417F6}"/>
              </a:ext>
            </a:extLst>
          </p:cNvPr>
          <p:cNvSpPr>
            <a:spLocks noGrp="1" noChangeArrowheads="1"/>
          </p:cNvSpPr>
          <p:nvPr>
            <p:ph idx="1"/>
          </p:nvPr>
        </p:nvSpPr>
        <p:spPr>
          <a:xfrm>
            <a:off x="823913" y="1465263"/>
            <a:ext cx="11139487" cy="4579937"/>
          </a:xfrm>
        </p:spPr>
        <p:txBody>
          <a:bodyPr/>
          <a:lstStyle/>
          <a:p>
            <a:pPr marL="287338" indent="-6350" eaLnBrk="1" hangingPunct="1">
              <a:lnSpc>
                <a:spcPct val="120000"/>
              </a:lnSpc>
              <a:buFont typeface="Arial" panose="020B0604020202020204" pitchFamily="34" charset="0"/>
              <a:buNone/>
            </a:pPr>
            <a:r>
              <a:rPr lang="zh-CN" altLang="en-US">
                <a:solidFill>
                  <a:srgbClr val="FF0000"/>
                </a:solidFill>
                <a:latin typeface="Times New Roman" panose="02020603050405020304" pitchFamily="18" charset="0"/>
              </a:rPr>
              <a:t>证明：</a:t>
            </a:r>
            <a:r>
              <a:rPr lang="en-US" altLang="zh-CN">
                <a:latin typeface="Times New Roman" panose="02020603050405020304" pitchFamily="18" charset="0"/>
              </a:rPr>
              <a:t>a</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x+a</a:t>
            </a:r>
            <a:r>
              <a:rPr lang="en-US" altLang="zh-CN" baseline="-25000">
                <a:latin typeface="Times New Roman" panose="02020603050405020304" pitchFamily="18" charset="0"/>
              </a:rPr>
              <a:t>0</a:t>
            </a:r>
            <a:r>
              <a:rPr lang="zh-CN" altLang="en-US">
                <a:latin typeface="Times New Roman" panose="02020603050405020304" pitchFamily="18" charset="0"/>
              </a:rPr>
              <a:t>是模</a:t>
            </a:r>
            <a:r>
              <a:rPr lang="en-US" altLang="zh-CN">
                <a:latin typeface="Times New Roman" panose="02020603050405020304" pitchFamily="18" charset="0"/>
              </a:rPr>
              <a:t>x</a:t>
            </a:r>
            <a:r>
              <a:rPr lang="en-US" altLang="zh-CN" baseline="30000">
                <a:latin typeface="Times New Roman" panose="02020603050405020304" pitchFamily="18" charset="0"/>
              </a:rPr>
              <a:t>4</a:t>
            </a:r>
            <a:r>
              <a:rPr lang="en-US" altLang="zh-CN">
                <a:latin typeface="Times New Roman" panose="02020603050405020304" pitchFamily="18" charset="0"/>
              </a:rPr>
              <a:t>+1</a:t>
            </a:r>
            <a:r>
              <a:rPr lang="zh-CN" altLang="en-US">
                <a:latin typeface="Times New Roman" panose="02020603050405020304" pitchFamily="18" charset="0"/>
              </a:rPr>
              <a:t>可逆的，当且仅当存在多项式</a:t>
            </a:r>
            <a:r>
              <a:rPr lang="en-US" altLang="zh-CN">
                <a:latin typeface="Times New Roman" panose="02020603050405020304" pitchFamily="18" charset="0"/>
              </a:rPr>
              <a:t>h</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+h</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+h</a:t>
            </a:r>
            <a:r>
              <a:rPr lang="en-US" altLang="zh-CN" baseline="-25000">
                <a:latin typeface="Times New Roman" panose="02020603050405020304" pitchFamily="18" charset="0"/>
              </a:rPr>
              <a:t>1</a:t>
            </a:r>
            <a:r>
              <a:rPr lang="en-US" altLang="zh-CN">
                <a:latin typeface="Times New Roman" panose="02020603050405020304" pitchFamily="18" charset="0"/>
              </a:rPr>
              <a:t>x+h</a:t>
            </a:r>
            <a:r>
              <a:rPr lang="en-US" altLang="zh-CN" baseline="-25000">
                <a:latin typeface="Times New Roman" panose="02020603050405020304" pitchFamily="18" charset="0"/>
              </a:rPr>
              <a:t>0</a:t>
            </a:r>
            <a:endParaRPr lang="en-US" altLang="zh-CN">
              <a:latin typeface="Times New Roman" panose="02020603050405020304" pitchFamily="18" charset="0"/>
            </a:endParaRPr>
          </a:p>
          <a:p>
            <a:pPr marL="287338" indent="-6350" eaLnBrk="1" hangingPunct="1">
              <a:lnSpc>
                <a:spcPct val="120000"/>
              </a:lnSpc>
              <a:buFont typeface="Arial" panose="020B0604020202020204" pitchFamily="34" charset="0"/>
              <a:buNone/>
            </a:pPr>
            <a:r>
              <a:rPr lang="zh-CN" altLang="en-US">
                <a:latin typeface="Times New Roman" panose="02020603050405020304" pitchFamily="18" charset="0"/>
              </a:rPr>
              <a:t>满足</a:t>
            </a:r>
            <a:endParaRPr lang="en-US" altLang="zh-CN">
              <a:latin typeface="Times New Roman" panose="02020603050405020304" pitchFamily="18" charset="0"/>
            </a:endParaRPr>
          </a:p>
          <a:p>
            <a:pPr marL="287338" indent="-6350" eaLnBrk="1" hangingPunct="1">
              <a:lnSpc>
                <a:spcPct val="120000"/>
              </a:lnSpc>
              <a:buFont typeface="Arial" panose="020B0604020202020204" pitchFamily="34" charset="0"/>
              <a:buNone/>
            </a:pPr>
            <a:r>
              <a:rPr lang="en-US" altLang="zh-CN">
                <a:latin typeface="Times New Roman" panose="02020603050405020304" pitchFamily="18" charset="0"/>
              </a:rPr>
              <a:t>              (a</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x+a</a:t>
            </a:r>
            <a:r>
              <a:rPr lang="en-US" altLang="zh-CN" baseline="-25000">
                <a:latin typeface="Times New Roman" panose="02020603050405020304" pitchFamily="18" charset="0"/>
              </a:rPr>
              <a:t>0</a:t>
            </a:r>
            <a:r>
              <a:rPr lang="en-US" altLang="zh-CN">
                <a:latin typeface="Times New Roman" panose="02020603050405020304" pitchFamily="18" charset="0"/>
              </a:rPr>
              <a:t>)(h</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+h</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+h</a:t>
            </a:r>
            <a:r>
              <a:rPr lang="en-US" altLang="zh-CN" baseline="-25000">
                <a:latin typeface="Times New Roman" panose="02020603050405020304" pitchFamily="18" charset="0"/>
              </a:rPr>
              <a:t>1</a:t>
            </a:r>
            <a:r>
              <a:rPr lang="en-US" altLang="zh-CN">
                <a:latin typeface="Times New Roman" panose="02020603050405020304" pitchFamily="18" charset="0"/>
              </a:rPr>
              <a:t>x+h</a:t>
            </a:r>
            <a:r>
              <a:rPr lang="en-US" altLang="zh-CN" baseline="-25000">
                <a:latin typeface="Times New Roman" panose="02020603050405020304" pitchFamily="18" charset="0"/>
              </a:rPr>
              <a:t>0</a:t>
            </a:r>
            <a:r>
              <a:rPr lang="en-US" altLang="zh-CN">
                <a:latin typeface="Times New Roman" panose="02020603050405020304" pitchFamily="18" charset="0"/>
              </a:rPr>
              <a:t>)=1 mod(x</a:t>
            </a:r>
            <a:r>
              <a:rPr lang="en-US" altLang="zh-CN" baseline="30000">
                <a:latin typeface="Times New Roman" panose="02020603050405020304" pitchFamily="18" charset="0"/>
              </a:rPr>
              <a:t>4</a:t>
            </a:r>
            <a:r>
              <a:rPr lang="en-US" altLang="zh-CN">
                <a:latin typeface="Times New Roman" panose="02020603050405020304" pitchFamily="18" charset="0"/>
              </a:rPr>
              <a:t>+1)</a:t>
            </a:r>
          </a:p>
          <a:p>
            <a:pPr marL="287338" indent="-6350" eaLnBrk="1" hangingPunct="1">
              <a:lnSpc>
                <a:spcPct val="120000"/>
              </a:lnSpc>
              <a:buFont typeface="Arial" panose="020B0604020202020204" pitchFamily="34" charset="0"/>
              <a:buNone/>
            </a:pPr>
            <a:r>
              <a:rPr lang="en-US" altLang="zh-CN">
                <a:latin typeface="Times New Roman" panose="02020603050405020304" pitchFamily="18" charset="0"/>
              </a:rPr>
              <a:t>	</a:t>
            </a:r>
            <a:r>
              <a:rPr lang="zh-CN" altLang="en-US">
                <a:latin typeface="Times New Roman" panose="02020603050405020304" pitchFamily="18" charset="0"/>
              </a:rPr>
              <a:t>因此有</a:t>
            </a:r>
          </a:p>
          <a:p>
            <a:pPr marL="287338" indent="-6350" eaLnBrk="1" hangingPunct="1">
              <a:lnSpc>
                <a:spcPct val="120000"/>
              </a:lnSpc>
              <a:buFont typeface="Arial" panose="020B0604020202020204" pitchFamily="34" charset="0"/>
              <a:buNone/>
            </a:pPr>
            <a:r>
              <a:rPr lang="en-US" altLang="zh-CN">
                <a:latin typeface="Times New Roman" panose="02020603050405020304" pitchFamily="18" charset="0"/>
              </a:rPr>
              <a:t>              (a</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x+a</a:t>
            </a:r>
            <a:r>
              <a:rPr lang="en-US" altLang="zh-CN" baseline="-25000">
                <a:latin typeface="Times New Roman" panose="02020603050405020304" pitchFamily="18" charset="0"/>
              </a:rPr>
              <a:t>0</a:t>
            </a:r>
            <a:r>
              <a:rPr lang="en-US" altLang="zh-CN">
                <a:latin typeface="Times New Roman" panose="02020603050405020304" pitchFamily="18" charset="0"/>
              </a:rPr>
              <a:t>)(h</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+h</a:t>
            </a:r>
            <a:r>
              <a:rPr lang="en-US" altLang="zh-CN" baseline="-25000">
                <a:latin typeface="Times New Roman" panose="02020603050405020304" pitchFamily="18" charset="0"/>
              </a:rPr>
              <a:t>1</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+h</a:t>
            </a:r>
            <a:r>
              <a:rPr lang="en-US" altLang="zh-CN" baseline="-25000">
                <a:latin typeface="Times New Roman" panose="02020603050405020304" pitchFamily="18" charset="0"/>
              </a:rPr>
              <a:t>0</a:t>
            </a:r>
            <a:r>
              <a:rPr lang="en-US" altLang="zh-CN">
                <a:latin typeface="Times New Roman" panose="02020603050405020304" pitchFamily="18" charset="0"/>
              </a:rPr>
              <a:t>x+h</a:t>
            </a:r>
            <a:r>
              <a:rPr lang="en-US" altLang="zh-CN" baseline="-25000">
                <a:latin typeface="Times New Roman" panose="02020603050405020304" pitchFamily="18" charset="0"/>
              </a:rPr>
              <a:t>3</a:t>
            </a:r>
            <a:r>
              <a:rPr lang="en-US" altLang="zh-CN">
                <a:latin typeface="Times New Roman" panose="02020603050405020304" pitchFamily="18" charset="0"/>
              </a:rPr>
              <a:t>)=x mod (x</a:t>
            </a:r>
            <a:r>
              <a:rPr lang="en-US" altLang="zh-CN" baseline="30000">
                <a:latin typeface="Times New Roman" panose="02020603050405020304" pitchFamily="18" charset="0"/>
              </a:rPr>
              <a:t>4</a:t>
            </a:r>
            <a:r>
              <a:rPr lang="en-US" altLang="zh-CN">
                <a:latin typeface="Times New Roman" panose="02020603050405020304" pitchFamily="18" charset="0"/>
              </a:rPr>
              <a:t>+1)</a:t>
            </a:r>
          </a:p>
          <a:p>
            <a:pPr marL="287338" indent="-6350" eaLnBrk="1" hangingPunct="1">
              <a:lnSpc>
                <a:spcPct val="120000"/>
              </a:lnSpc>
              <a:buFont typeface="Arial" panose="020B0604020202020204" pitchFamily="34" charset="0"/>
              <a:buNone/>
            </a:pPr>
            <a:r>
              <a:rPr lang="en-US" altLang="zh-CN">
                <a:latin typeface="Times New Roman" panose="02020603050405020304" pitchFamily="18" charset="0"/>
              </a:rPr>
              <a:t>              (a</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x+a</a:t>
            </a:r>
            <a:r>
              <a:rPr lang="en-US" altLang="zh-CN" baseline="-25000">
                <a:latin typeface="Times New Roman" panose="02020603050405020304" pitchFamily="18" charset="0"/>
              </a:rPr>
              <a:t>0</a:t>
            </a:r>
            <a:r>
              <a:rPr lang="en-US" altLang="zh-CN">
                <a:latin typeface="Times New Roman" panose="02020603050405020304" pitchFamily="18" charset="0"/>
              </a:rPr>
              <a:t>)(h</a:t>
            </a:r>
            <a:r>
              <a:rPr lang="en-US" altLang="zh-CN" baseline="-25000">
                <a:latin typeface="Times New Roman" panose="02020603050405020304" pitchFamily="18" charset="0"/>
              </a:rPr>
              <a:t>1</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+h</a:t>
            </a:r>
            <a:r>
              <a:rPr lang="en-US" altLang="zh-CN" baseline="-25000">
                <a:latin typeface="Times New Roman" panose="02020603050405020304" pitchFamily="18" charset="0"/>
              </a:rPr>
              <a:t>0</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+h</a:t>
            </a:r>
            <a:r>
              <a:rPr lang="en-US" altLang="zh-CN" baseline="-25000">
                <a:latin typeface="Times New Roman" panose="02020603050405020304" pitchFamily="18" charset="0"/>
              </a:rPr>
              <a:t>3</a:t>
            </a:r>
            <a:r>
              <a:rPr lang="en-US" altLang="zh-CN">
                <a:latin typeface="Times New Roman" panose="02020603050405020304" pitchFamily="18" charset="0"/>
              </a:rPr>
              <a:t>x+h</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 mod (x</a:t>
            </a:r>
            <a:r>
              <a:rPr lang="en-US" altLang="zh-CN" baseline="30000">
                <a:latin typeface="Times New Roman" panose="02020603050405020304" pitchFamily="18" charset="0"/>
              </a:rPr>
              <a:t>4</a:t>
            </a:r>
            <a:r>
              <a:rPr lang="en-US" altLang="zh-CN">
                <a:latin typeface="Times New Roman" panose="02020603050405020304" pitchFamily="18" charset="0"/>
              </a:rPr>
              <a:t>+1)</a:t>
            </a:r>
          </a:p>
          <a:p>
            <a:pPr marL="287338" indent="-6350" eaLnBrk="1" hangingPunct="1">
              <a:lnSpc>
                <a:spcPct val="120000"/>
              </a:lnSpc>
              <a:buFont typeface="Arial" panose="020B0604020202020204" pitchFamily="34" charset="0"/>
              <a:buNone/>
            </a:pPr>
            <a:r>
              <a:rPr lang="en-US" altLang="zh-CN">
                <a:latin typeface="Times New Roman" panose="02020603050405020304" pitchFamily="18" charset="0"/>
              </a:rPr>
              <a:t>              (a</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a:t>
            </a:r>
            <a:r>
              <a:rPr lang="en-US" altLang="zh-CN" baseline="-25000">
                <a:latin typeface="Times New Roman" panose="02020603050405020304" pitchFamily="18" charset="0"/>
              </a:rPr>
              <a:t>2</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x+a</a:t>
            </a:r>
            <a:r>
              <a:rPr lang="en-US" altLang="zh-CN" baseline="-25000">
                <a:latin typeface="Times New Roman" panose="02020603050405020304" pitchFamily="18" charset="0"/>
              </a:rPr>
              <a:t>0</a:t>
            </a:r>
            <a:r>
              <a:rPr lang="en-US" altLang="zh-CN">
                <a:latin typeface="Times New Roman" panose="02020603050405020304" pitchFamily="18" charset="0"/>
              </a:rPr>
              <a:t>)(h</a:t>
            </a:r>
            <a:r>
              <a:rPr lang="en-US" altLang="zh-CN" baseline="-25000">
                <a:latin typeface="Times New Roman" panose="02020603050405020304" pitchFamily="18" charset="0"/>
              </a:rPr>
              <a:t>0</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+h</a:t>
            </a:r>
            <a:r>
              <a:rPr lang="en-US" altLang="zh-CN" baseline="-25000">
                <a:latin typeface="Times New Roman" panose="02020603050405020304" pitchFamily="18" charset="0"/>
              </a:rPr>
              <a:t>3</a:t>
            </a:r>
            <a:r>
              <a:rPr lang="en-US" altLang="zh-CN">
                <a:latin typeface="Times New Roman" panose="02020603050405020304" pitchFamily="18" charset="0"/>
              </a:rPr>
              <a:t>x</a:t>
            </a:r>
            <a:r>
              <a:rPr lang="en-US" altLang="zh-CN" baseline="30000">
                <a:latin typeface="Times New Roman" panose="02020603050405020304" pitchFamily="18" charset="0"/>
              </a:rPr>
              <a:t>2</a:t>
            </a:r>
            <a:r>
              <a:rPr lang="en-US" altLang="zh-CN">
                <a:latin typeface="Times New Roman" panose="02020603050405020304" pitchFamily="18" charset="0"/>
              </a:rPr>
              <a:t>+h</a:t>
            </a:r>
            <a:r>
              <a:rPr lang="en-US" altLang="zh-CN" baseline="-25000">
                <a:latin typeface="Times New Roman" panose="02020603050405020304" pitchFamily="18" charset="0"/>
              </a:rPr>
              <a:t>2</a:t>
            </a:r>
            <a:r>
              <a:rPr lang="en-US" altLang="zh-CN">
                <a:latin typeface="Times New Roman" panose="02020603050405020304" pitchFamily="18" charset="0"/>
              </a:rPr>
              <a:t>x+h</a:t>
            </a:r>
            <a:r>
              <a:rPr lang="en-US" altLang="zh-CN" baseline="-25000">
                <a:latin typeface="Times New Roman" panose="02020603050405020304" pitchFamily="18" charset="0"/>
              </a:rPr>
              <a:t>1</a:t>
            </a:r>
            <a:r>
              <a:rPr lang="en-US" altLang="zh-CN">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 mod(x</a:t>
            </a:r>
            <a:r>
              <a:rPr lang="en-US" altLang="zh-CN" baseline="30000">
                <a:latin typeface="Times New Roman" panose="02020603050405020304" pitchFamily="18" charset="0"/>
              </a:rPr>
              <a:t>4</a:t>
            </a:r>
            <a:r>
              <a:rPr lang="en-US" altLang="zh-CN">
                <a:latin typeface="Times New Roman" panose="02020603050405020304" pitchFamily="18" charset="0"/>
              </a:rPr>
              <a:t>+1)</a:t>
            </a:r>
          </a:p>
        </p:txBody>
      </p:sp>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标题 1">
            <a:extLst>
              <a:ext uri="{FF2B5EF4-FFF2-40B4-BE49-F238E27FC236}">
                <a16:creationId xmlns:a16="http://schemas.microsoft.com/office/drawing/2014/main" id="{C8BA6906-BAA0-1741-B3A7-4B4186DB73BB}"/>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证明（续）</a:t>
            </a:r>
          </a:p>
        </p:txBody>
      </p:sp>
      <p:sp>
        <p:nvSpPr>
          <p:cNvPr id="293890" name="Rectangle 2">
            <a:extLst>
              <a:ext uri="{FF2B5EF4-FFF2-40B4-BE49-F238E27FC236}">
                <a16:creationId xmlns:a16="http://schemas.microsoft.com/office/drawing/2014/main" id="{1D7DCC91-1790-1B47-9102-5FAFB81EB67A}"/>
              </a:ext>
            </a:extLst>
          </p:cNvPr>
          <p:cNvSpPr>
            <a:spLocks noGrp="1" noChangeArrowheads="1"/>
          </p:cNvSpPr>
          <p:nvPr>
            <p:ph idx="1"/>
          </p:nvPr>
        </p:nvSpPr>
        <p:spPr>
          <a:xfrm>
            <a:off x="823913" y="1465263"/>
            <a:ext cx="10515600" cy="4579937"/>
          </a:xfrm>
        </p:spPr>
        <p:txBody>
          <a:bodyPr/>
          <a:lstStyle/>
          <a:p>
            <a:pPr marL="287338" indent="-6350" eaLnBrk="1" hangingPunct="1">
              <a:buFont typeface="Arial" panose="020B0604020202020204" pitchFamily="34" charset="0"/>
              <a:buNone/>
            </a:pPr>
            <a:r>
              <a:rPr lang="zh-CN" altLang="en-US"/>
              <a:t>将以上关系写成矩阵形式即得</a:t>
            </a:r>
          </a:p>
          <a:p>
            <a:pPr marL="287338" indent="-6350" algn="ctr" eaLnBrk="1" hangingPunct="1">
              <a:buFont typeface="Arial" panose="020B0604020202020204" pitchFamily="34" charset="0"/>
              <a:buNone/>
            </a:pPr>
            <a:endParaRPr lang="zh-CN" altLang="en-US"/>
          </a:p>
          <a:p>
            <a:pPr marL="287338" indent="-6350" algn="ctr" eaLnBrk="1" hangingPunct="1">
              <a:buFont typeface="Arial" panose="020B0604020202020204" pitchFamily="34" charset="0"/>
              <a:buNone/>
            </a:pPr>
            <a:endParaRPr lang="zh-CN" altLang="en-US"/>
          </a:p>
          <a:p>
            <a:pPr marL="287338" indent="-6350" algn="ctr" eaLnBrk="1" hangingPunct="1">
              <a:buFont typeface="Arial" panose="020B0604020202020204" pitchFamily="34" charset="0"/>
              <a:buNone/>
            </a:pPr>
            <a:endParaRPr lang="zh-CN" altLang="en-US"/>
          </a:p>
          <a:p>
            <a:pPr marL="287338" indent="-6350" algn="ctr" eaLnBrk="1" hangingPunct="1">
              <a:buFont typeface="Arial" panose="020B0604020202020204" pitchFamily="34" charset="0"/>
              <a:buNone/>
            </a:pPr>
            <a:endParaRPr lang="zh-CN" altLang="en-US"/>
          </a:p>
          <a:p>
            <a:pPr marL="287338" indent="-6350" algn="r" eaLnBrk="1" hangingPunct="1">
              <a:buFont typeface="Arial" panose="020B0604020202020204" pitchFamily="34" charset="0"/>
              <a:buNone/>
            </a:pPr>
            <a:endParaRPr lang="zh-CN" altLang="en-US"/>
          </a:p>
          <a:p>
            <a:pPr marL="287338" indent="-6350" algn="r" eaLnBrk="1" hangingPunct="1">
              <a:buFont typeface="Arial" panose="020B0604020202020204" pitchFamily="34" charset="0"/>
              <a:buNone/>
            </a:pPr>
            <a:endParaRPr lang="zh-CN" altLang="en-US"/>
          </a:p>
          <a:p>
            <a:pPr marL="287338" indent="-6350" algn="r" eaLnBrk="1" hangingPunct="1">
              <a:buFont typeface="Arial" panose="020B0604020202020204" pitchFamily="34" charset="0"/>
              <a:buNone/>
            </a:pPr>
            <a:r>
              <a:rPr lang="zh-CN" altLang="en-US"/>
              <a:t>（证毕）</a:t>
            </a:r>
          </a:p>
        </p:txBody>
      </p:sp>
      <p:graphicFrame>
        <p:nvGraphicFramePr>
          <p:cNvPr id="293891" name="Object 3">
            <a:extLst>
              <a:ext uri="{FF2B5EF4-FFF2-40B4-BE49-F238E27FC236}">
                <a16:creationId xmlns:a16="http://schemas.microsoft.com/office/drawing/2014/main" id="{E2396903-ECE1-0C46-B9CF-896D586C32B2}"/>
              </a:ext>
            </a:extLst>
          </p:cNvPr>
          <p:cNvGraphicFramePr>
            <a:graphicFrameLocks noChangeAspect="1"/>
          </p:cNvGraphicFramePr>
          <p:nvPr/>
        </p:nvGraphicFramePr>
        <p:xfrm>
          <a:off x="1706563" y="2133600"/>
          <a:ext cx="8553450" cy="2370138"/>
        </p:xfrm>
        <a:graphic>
          <a:graphicData uri="http://schemas.openxmlformats.org/presentationml/2006/ole">
            <mc:AlternateContent xmlns:mc="http://schemas.openxmlformats.org/markup-compatibility/2006">
              <mc:Choice xmlns:v="urn:schemas-microsoft-com:vml" Requires="v">
                <p:oleObj spid="_x0000_s293957" r:id="rId4" imgW="78117700" imgH="21653500" progId="Equation.DSMT4">
                  <p:embed/>
                </p:oleObj>
              </mc:Choice>
              <mc:Fallback>
                <p:oleObj r:id="rId4" imgW="78117700" imgH="216535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6563" y="2133600"/>
                        <a:ext cx="8553450"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7" name="副标题 2">
            <a:extLst>
              <a:ext uri="{FF2B5EF4-FFF2-40B4-BE49-F238E27FC236}">
                <a16:creationId xmlns:a16="http://schemas.microsoft.com/office/drawing/2014/main" id="{71865CD0-9E3D-6C4E-974F-D7C5B3A7469B}"/>
              </a:ext>
            </a:extLst>
          </p:cNvPr>
          <p:cNvSpPr>
            <a:spLocks noGrp="1" noChangeArrowheads="1"/>
          </p:cNvSpPr>
          <p:nvPr>
            <p:ph type="subTitle" idx="1"/>
          </p:nvPr>
        </p:nvSpPr>
        <p:spPr>
          <a:xfrm>
            <a:off x="0" y="3048000"/>
            <a:ext cx="12192000" cy="790575"/>
          </a:xfrm>
        </p:spPr>
        <p:txBody>
          <a:bodyPr/>
          <a:lstStyle/>
          <a:p>
            <a:r>
              <a:rPr lang="en-US" altLang="zh-CN" sz="3600" b="1"/>
              <a:t>AES</a:t>
            </a:r>
            <a:r>
              <a:rPr lang="zh-CN" altLang="en-US" sz="3600" b="1"/>
              <a:t>算法简介</a:t>
            </a:r>
            <a:endParaRPr lang="en-US" altLang="zh-CN" sz="3600" b="1"/>
          </a:p>
        </p:txBody>
      </p:sp>
    </p:spTree>
  </p:cSld>
  <p:clrMapOvr>
    <a:masterClrMapping/>
  </p:clrMapOvr>
  <p:transition spd="slow">
    <p:random/>
  </p:transition>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985" name="Rectangle 2">
            <a:extLst>
              <a:ext uri="{FF2B5EF4-FFF2-40B4-BE49-F238E27FC236}">
                <a16:creationId xmlns:a16="http://schemas.microsoft.com/office/drawing/2014/main" id="{B32FE003-2981-7647-8388-79CE5F44FA74}"/>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latin typeface="Times New Roman" panose="02020603050405020304" pitchFamily="18" charset="0"/>
              </a:rPr>
              <a:t>AES</a:t>
            </a:r>
            <a:r>
              <a:rPr lang="zh-CN" altLang="en-US">
                <a:solidFill>
                  <a:srgbClr val="1F4E79"/>
                </a:solidFill>
                <a:latin typeface="Times New Roman" panose="02020603050405020304" pitchFamily="18" charset="0"/>
              </a:rPr>
              <a:t>标准算法征集</a:t>
            </a:r>
          </a:p>
        </p:txBody>
      </p:sp>
      <p:sp>
        <p:nvSpPr>
          <p:cNvPr id="297986" name="Rectangle 6">
            <a:extLst>
              <a:ext uri="{FF2B5EF4-FFF2-40B4-BE49-F238E27FC236}">
                <a16:creationId xmlns:a16="http://schemas.microsoft.com/office/drawing/2014/main" id="{9E36BC69-50C0-BD47-BE7F-10E8D97C55C7}"/>
              </a:ext>
            </a:extLst>
          </p:cNvPr>
          <p:cNvSpPr>
            <a:spLocks noGrp="1" noChangeArrowheads="1"/>
          </p:cNvSpPr>
          <p:nvPr>
            <p:ph idx="1"/>
          </p:nvPr>
        </p:nvSpPr>
        <p:spPr>
          <a:xfrm>
            <a:off x="823913" y="1465263"/>
            <a:ext cx="10515600" cy="4579937"/>
          </a:xfrm>
        </p:spPr>
        <p:txBody>
          <a:bodyPr/>
          <a:lstStyle/>
          <a:p>
            <a:pPr marL="533400" indent="-533400" algn="just" eaLnBrk="1" hangingPunct="1">
              <a:lnSpc>
                <a:spcPct val="120000"/>
              </a:lnSpc>
              <a:spcAft>
                <a:spcPts val="600"/>
              </a:spcAft>
            </a:pPr>
            <a:r>
              <a:rPr lang="en-US" altLang="zh-CN" sz="2800">
                <a:latin typeface="Times New Roman" panose="02020603050405020304" pitchFamily="18" charset="0"/>
              </a:rPr>
              <a:t>DES</a:t>
            </a:r>
            <a:r>
              <a:rPr lang="zh-CN" altLang="en-US" sz="2800">
                <a:latin typeface="Times New Roman" panose="02020603050405020304" pitchFamily="18" charset="0"/>
              </a:rPr>
              <a:t>算法由于其</a:t>
            </a:r>
            <a:r>
              <a:rPr lang="zh-CN" altLang="en-US" sz="2800" u="sng">
                <a:latin typeface="Times New Roman" panose="02020603050405020304" pitchFamily="18" charset="0"/>
              </a:rPr>
              <a:t>密钥较短</a:t>
            </a:r>
            <a:r>
              <a:rPr lang="zh-CN" altLang="en-US" sz="2800">
                <a:latin typeface="Times New Roman" panose="02020603050405020304" pitchFamily="18" charset="0"/>
              </a:rPr>
              <a:t>，</a:t>
            </a:r>
            <a:r>
              <a:rPr lang="zh-CN" altLang="en-US" sz="2800" u="sng">
                <a:latin typeface="Times New Roman" panose="02020603050405020304" pitchFamily="18" charset="0"/>
              </a:rPr>
              <a:t>难以抵抗现有的攻击</a:t>
            </a:r>
            <a:r>
              <a:rPr lang="zh-CN" altLang="en-US" sz="2800">
                <a:latin typeface="Times New Roman" panose="02020603050405020304" pitchFamily="18" charset="0"/>
              </a:rPr>
              <a:t>，因此不再作为加密标准</a:t>
            </a:r>
            <a:endParaRPr lang="en-US" altLang="zh-CN" sz="2800">
              <a:latin typeface="Times New Roman" panose="02020603050405020304" pitchFamily="18" charset="0"/>
            </a:endParaRPr>
          </a:p>
          <a:p>
            <a:pPr marL="533400" indent="-533400" algn="just" eaLnBrk="1" hangingPunct="1">
              <a:lnSpc>
                <a:spcPct val="120000"/>
              </a:lnSpc>
              <a:spcAft>
                <a:spcPts val="600"/>
              </a:spcAft>
            </a:pPr>
            <a:r>
              <a:rPr lang="en-US" altLang="zh-CN" sz="2800">
                <a:latin typeface="Times New Roman" panose="02020603050405020304" pitchFamily="18" charset="0"/>
              </a:rPr>
              <a:t>1997</a:t>
            </a:r>
            <a:r>
              <a:rPr lang="zh-CN" altLang="en-US" sz="2800">
                <a:latin typeface="Times New Roman" panose="02020603050405020304" pitchFamily="18" charset="0"/>
              </a:rPr>
              <a:t>年</a:t>
            </a:r>
            <a:r>
              <a:rPr lang="en-US" altLang="zh-CN" sz="2800">
                <a:latin typeface="Times New Roman" panose="02020603050405020304" pitchFamily="18" charset="0"/>
              </a:rPr>
              <a:t>1</a:t>
            </a:r>
            <a:r>
              <a:rPr lang="zh-CN" altLang="en-US" sz="2800">
                <a:latin typeface="Times New Roman" panose="02020603050405020304" pitchFamily="18" charset="0"/>
              </a:rPr>
              <a:t>月，美国</a:t>
            </a:r>
            <a:r>
              <a:rPr lang="en-US" altLang="zh-CN" sz="2800">
                <a:latin typeface="Times New Roman" panose="02020603050405020304" pitchFamily="18" charset="0"/>
              </a:rPr>
              <a:t>NIST</a:t>
            </a:r>
            <a:r>
              <a:rPr lang="zh-CN" altLang="en-US" sz="2800">
                <a:latin typeface="Times New Roman" panose="02020603050405020304" pitchFamily="18" charset="0"/>
              </a:rPr>
              <a:t>向全世界密码学界发出征集</a:t>
            </a:r>
            <a:r>
              <a:rPr lang="en-US" altLang="zh-CN" sz="2800">
                <a:latin typeface="Times New Roman" panose="02020603050405020304" pitchFamily="18" charset="0"/>
              </a:rPr>
              <a:t>21</a:t>
            </a:r>
            <a:r>
              <a:rPr lang="zh-CN" altLang="en-US" sz="2800">
                <a:latin typeface="Times New Roman" panose="02020603050405020304" pitchFamily="18" charset="0"/>
              </a:rPr>
              <a:t>世纪</a:t>
            </a:r>
            <a:r>
              <a:rPr lang="zh-CN" altLang="en-US" sz="2800" u="sng">
                <a:latin typeface="Times New Roman" panose="02020603050405020304" pitchFamily="18" charset="0"/>
              </a:rPr>
              <a:t>高级加密标准</a:t>
            </a:r>
            <a:r>
              <a:rPr lang="zh-CN" altLang="en-US" sz="2800">
                <a:latin typeface="Times New Roman" panose="02020603050405020304" pitchFamily="18" charset="0"/>
              </a:rPr>
              <a:t>（</a:t>
            </a:r>
            <a:r>
              <a:rPr lang="en-US" altLang="zh-CN" sz="2800">
                <a:latin typeface="Times New Roman" panose="02020603050405020304" pitchFamily="18" charset="0"/>
              </a:rPr>
              <a:t>AES——Advanced Encryption Standard</a:t>
            </a:r>
            <a:r>
              <a:rPr lang="zh-CN" altLang="en-US" sz="2800">
                <a:latin typeface="Times New Roman" panose="02020603050405020304" pitchFamily="18" charset="0"/>
              </a:rPr>
              <a:t>）算法的公告，并成立了</a:t>
            </a:r>
            <a:r>
              <a:rPr lang="en-US" altLang="zh-CN" sz="2800">
                <a:latin typeface="Times New Roman" panose="02020603050405020304" pitchFamily="18" charset="0"/>
              </a:rPr>
              <a:t>AES</a:t>
            </a:r>
            <a:r>
              <a:rPr lang="zh-CN" altLang="en-US" sz="2800">
                <a:latin typeface="Times New Roman" panose="02020603050405020304" pitchFamily="18" charset="0"/>
              </a:rPr>
              <a:t>标准工作研究室，</a:t>
            </a:r>
            <a:r>
              <a:rPr lang="en-US" altLang="zh-CN" sz="2800">
                <a:latin typeface="Times New Roman" panose="02020603050405020304" pitchFamily="18" charset="0"/>
              </a:rPr>
              <a:t>1997</a:t>
            </a:r>
            <a:r>
              <a:rPr lang="zh-CN" altLang="en-US" sz="2800">
                <a:latin typeface="Times New Roman" panose="02020603050405020304" pitchFamily="18" charset="0"/>
              </a:rPr>
              <a:t>年</a:t>
            </a:r>
            <a:r>
              <a:rPr lang="en-US" altLang="zh-CN" sz="2800">
                <a:latin typeface="Times New Roman" panose="02020603050405020304" pitchFamily="18" charset="0"/>
              </a:rPr>
              <a:t>4</a:t>
            </a:r>
            <a:r>
              <a:rPr lang="zh-CN" altLang="en-US" sz="2800">
                <a:latin typeface="Times New Roman" panose="02020603050405020304" pitchFamily="18" charset="0"/>
              </a:rPr>
              <a:t>月</a:t>
            </a:r>
            <a:r>
              <a:rPr lang="en-US" altLang="zh-CN" sz="2800">
                <a:latin typeface="Times New Roman" panose="02020603050405020304" pitchFamily="18" charset="0"/>
              </a:rPr>
              <a:t>15</a:t>
            </a:r>
            <a:r>
              <a:rPr lang="zh-CN" altLang="en-US" sz="2800">
                <a:latin typeface="Times New Roman" panose="02020603050405020304" pitchFamily="18" charset="0"/>
              </a:rPr>
              <a:t>日的例会制定了对</a:t>
            </a:r>
            <a:r>
              <a:rPr lang="en-US" altLang="zh-CN" sz="2800">
                <a:latin typeface="Times New Roman" panose="02020603050405020304" pitchFamily="18" charset="0"/>
              </a:rPr>
              <a:t>AES</a:t>
            </a:r>
            <a:r>
              <a:rPr lang="zh-CN" altLang="en-US" sz="2800">
                <a:latin typeface="Times New Roman" panose="02020603050405020304" pitchFamily="18" charset="0"/>
              </a:rPr>
              <a:t>的评估标准。</a:t>
            </a:r>
          </a:p>
          <a:p>
            <a:pPr marL="533400" indent="-533400" algn="just" eaLnBrk="1" hangingPunct="1">
              <a:spcAft>
                <a:spcPts val="600"/>
              </a:spcAft>
              <a:buFont typeface="Arial" panose="020B0604020202020204" pitchFamily="34" charset="0"/>
              <a:buNone/>
            </a:pPr>
            <a:endParaRPr lang="zh-CN" altLang="en-US">
              <a:latin typeface="Times New Roman" panose="02020603050405020304" pitchFamily="18" charset="0"/>
              <a:sym typeface="Monotype Sorts" pitchFamily="2" charset="2"/>
            </a:endParaRPr>
          </a:p>
        </p:txBody>
      </p:sp>
      <p:sp>
        <p:nvSpPr>
          <p:cNvPr id="297987" name="Text Box 3">
            <a:extLst>
              <a:ext uri="{FF2B5EF4-FFF2-40B4-BE49-F238E27FC236}">
                <a16:creationId xmlns:a16="http://schemas.microsoft.com/office/drawing/2014/main" id="{FE08BCAC-24D3-154A-967D-932F88331BB7}"/>
              </a:ext>
            </a:extLst>
          </p:cNvPr>
          <p:cNvSpPr txBox="1">
            <a:spLocks noChangeArrowheads="1"/>
          </p:cNvSpPr>
          <p:nvPr/>
        </p:nvSpPr>
        <p:spPr bwMode="auto">
          <a:xfrm>
            <a:off x="3184525" y="383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297988" name="Text Box 4">
            <a:extLst>
              <a:ext uri="{FF2B5EF4-FFF2-40B4-BE49-F238E27FC236}">
                <a16:creationId xmlns:a16="http://schemas.microsoft.com/office/drawing/2014/main" id="{403DED6F-F26E-E547-B0FA-1F1D06BEFA4E}"/>
              </a:ext>
            </a:extLst>
          </p:cNvPr>
          <p:cNvSpPr txBox="1">
            <a:spLocks noChangeArrowheads="1"/>
          </p:cNvSpPr>
          <p:nvPr/>
        </p:nvSpPr>
        <p:spPr bwMode="auto">
          <a:xfrm>
            <a:off x="3870325" y="3906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297989" name="Text Box 5">
            <a:extLst>
              <a:ext uri="{FF2B5EF4-FFF2-40B4-BE49-F238E27FC236}">
                <a16:creationId xmlns:a16="http://schemas.microsoft.com/office/drawing/2014/main" id="{48431C72-B78E-6B47-983B-7B5F9A4C262C}"/>
              </a:ext>
            </a:extLst>
          </p:cNvPr>
          <p:cNvSpPr txBox="1">
            <a:spLocks noChangeArrowheads="1"/>
          </p:cNvSpPr>
          <p:nvPr/>
        </p:nvSpPr>
        <p:spPr bwMode="auto">
          <a:xfrm>
            <a:off x="2803525" y="2001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0033" name="Rectangle 2">
            <a:extLst>
              <a:ext uri="{FF2B5EF4-FFF2-40B4-BE49-F238E27FC236}">
                <a16:creationId xmlns:a16="http://schemas.microsoft.com/office/drawing/2014/main" id="{D61272B0-2420-9945-AA8D-96422BAC86D8}"/>
              </a:ext>
            </a:extLst>
          </p:cNvPr>
          <p:cNvSpPr>
            <a:spLocks noGrp="1" noChangeArrowheads="1"/>
          </p:cNvSpPr>
          <p:nvPr>
            <p:ph type="title"/>
          </p:nvPr>
        </p:nvSpPr>
        <p:spPr>
          <a:xfrm>
            <a:off x="1465263" y="365125"/>
            <a:ext cx="9037637" cy="668338"/>
          </a:xfrm>
        </p:spPr>
        <p:txBody>
          <a:bodyPr/>
          <a:lstStyle/>
          <a:p>
            <a:pPr eaLnBrk="1" hangingPunct="1"/>
            <a:r>
              <a:rPr lang="en-US" altLang="zh-CN">
                <a:solidFill>
                  <a:schemeClr val="hlink"/>
                </a:solidFill>
              </a:rPr>
              <a:t>AES</a:t>
            </a:r>
            <a:r>
              <a:rPr lang="zh-CN" altLang="en-US">
                <a:solidFill>
                  <a:schemeClr val="hlink"/>
                </a:solidFill>
              </a:rPr>
              <a:t>算法征集的要求</a:t>
            </a:r>
          </a:p>
        </p:txBody>
      </p:sp>
      <p:sp>
        <p:nvSpPr>
          <p:cNvPr id="300034" name="Rectangle 3">
            <a:extLst>
              <a:ext uri="{FF2B5EF4-FFF2-40B4-BE49-F238E27FC236}">
                <a16:creationId xmlns:a16="http://schemas.microsoft.com/office/drawing/2014/main" id="{4396E15B-D709-E64A-A417-ACCC9EFDD7AA}"/>
              </a:ext>
            </a:extLst>
          </p:cNvPr>
          <p:cNvSpPr>
            <a:spLocks noGrp="1" noChangeArrowheads="1"/>
          </p:cNvSpPr>
          <p:nvPr>
            <p:ph idx="1"/>
          </p:nvPr>
        </p:nvSpPr>
        <p:spPr>
          <a:xfrm>
            <a:off x="823913" y="1465263"/>
            <a:ext cx="10515600" cy="4579937"/>
          </a:xfrm>
        </p:spPr>
        <p:txBody>
          <a:bodyPr/>
          <a:lstStyle/>
          <a:p>
            <a:pPr algn="just" eaLnBrk="1" hangingPunct="1">
              <a:spcAft>
                <a:spcPts val="600"/>
              </a:spcAft>
              <a:buFont typeface="Arial" panose="020B0604020202020204" pitchFamily="34" charset="0"/>
              <a:buNone/>
            </a:pPr>
            <a:r>
              <a:rPr lang="zh-CN" altLang="en-US" sz="2800">
                <a:latin typeface="Times New Roman" panose="02020603050405020304" pitchFamily="18" charset="0"/>
              </a:rPr>
              <a:t>（</a:t>
            </a:r>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AES</a:t>
            </a:r>
            <a:r>
              <a:rPr lang="zh-CN" altLang="en-US" sz="2800">
                <a:latin typeface="Times New Roman" panose="02020603050405020304" pitchFamily="18" charset="0"/>
              </a:rPr>
              <a:t>是公开的；</a:t>
            </a:r>
          </a:p>
          <a:p>
            <a:pPr algn="just" eaLnBrk="1" hangingPunct="1">
              <a:spcAft>
                <a:spcPts val="600"/>
              </a:spcAft>
              <a:buFont typeface="Arial" panose="020B0604020202020204" pitchFamily="34" charset="0"/>
              <a:buNone/>
            </a:pP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en-US" altLang="zh-CN" sz="2800">
                <a:latin typeface="Times New Roman" panose="02020603050405020304" pitchFamily="18" charset="0"/>
              </a:rPr>
              <a:t>AES</a:t>
            </a:r>
            <a:r>
              <a:rPr lang="zh-CN" altLang="en-US" sz="2800">
                <a:latin typeface="Times New Roman" panose="02020603050405020304" pitchFamily="18" charset="0"/>
              </a:rPr>
              <a:t>为对称密钥分组密码体制；</a:t>
            </a:r>
          </a:p>
          <a:p>
            <a:pPr algn="just" eaLnBrk="1" hangingPunct="1">
              <a:spcAft>
                <a:spcPts val="600"/>
              </a:spcAft>
              <a:buFont typeface="Arial" panose="020B0604020202020204" pitchFamily="34" charset="0"/>
              <a:buNone/>
            </a:pPr>
            <a:r>
              <a:rPr lang="zh-CN" altLang="en-US" sz="2800">
                <a:latin typeface="Times New Roman" panose="02020603050405020304" pitchFamily="18" charset="0"/>
              </a:rPr>
              <a:t>（</a:t>
            </a:r>
            <a:r>
              <a:rPr lang="en-US" altLang="zh-CN" sz="2800">
                <a:latin typeface="Times New Roman" panose="02020603050405020304" pitchFamily="18" charset="0"/>
              </a:rPr>
              <a:t>3</a:t>
            </a:r>
            <a:r>
              <a:rPr lang="zh-CN" altLang="en-US" sz="2800">
                <a:latin typeface="Times New Roman" panose="02020603050405020304" pitchFamily="18" charset="0"/>
              </a:rPr>
              <a:t>）</a:t>
            </a:r>
            <a:r>
              <a:rPr lang="en-US" altLang="zh-CN" sz="2800">
                <a:latin typeface="Times New Roman" panose="02020603050405020304" pitchFamily="18" charset="0"/>
              </a:rPr>
              <a:t>AES</a:t>
            </a:r>
            <a:r>
              <a:rPr lang="zh-CN" altLang="en-US" sz="2800">
                <a:latin typeface="Times New Roman" panose="02020603050405020304" pitchFamily="18" charset="0"/>
              </a:rPr>
              <a:t>的密钥长度可变，可按需要增大；</a:t>
            </a:r>
          </a:p>
          <a:p>
            <a:pPr algn="just" eaLnBrk="1" hangingPunct="1">
              <a:spcAft>
                <a:spcPts val="600"/>
              </a:spcAft>
              <a:buFont typeface="Arial" panose="020B0604020202020204" pitchFamily="34" charset="0"/>
              <a:buNone/>
            </a:pPr>
            <a:r>
              <a:rPr lang="zh-CN" altLang="en-US" sz="2800">
                <a:latin typeface="Times New Roman" panose="02020603050405020304" pitchFamily="18" charset="0"/>
              </a:rPr>
              <a:t>（</a:t>
            </a:r>
            <a:r>
              <a:rPr lang="en-US" altLang="zh-CN" sz="2800">
                <a:latin typeface="Times New Roman" panose="02020603050405020304" pitchFamily="18" charset="0"/>
              </a:rPr>
              <a:t>4</a:t>
            </a:r>
            <a:r>
              <a:rPr lang="zh-CN" altLang="en-US" sz="2800">
                <a:latin typeface="Times New Roman" panose="02020603050405020304" pitchFamily="18" charset="0"/>
              </a:rPr>
              <a:t>）</a:t>
            </a:r>
            <a:r>
              <a:rPr lang="en-US" altLang="zh-CN" sz="2800">
                <a:latin typeface="Times New Roman" panose="02020603050405020304" pitchFamily="18" charset="0"/>
              </a:rPr>
              <a:t>AES</a:t>
            </a:r>
            <a:r>
              <a:rPr lang="zh-CN" altLang="en-US" sz="2800">
                <a:latin typeface="Times New Roman" panose="02020603050405020304" pitchFamily="18" charset="0"/>
              </a:rPr>
              <a:t>适于用软件和硬件实现；</a:t>
            </a:r>
          </a:p>
          <a:p>
            <a:pPr algn="just" eaLnBrk="1" hangingPunct="1">
              <a:spcAft>
                <a:spcPts val="600"/>
              </a:spcAft>
              <a:buFont typeface="Arial" panose="020B0604020202020204" pitchFamily="34" charset="0"/>
              <a:buNone/>
            </a:pPr>
            <a:r>
              <a:rPr lang="zh-CN" altLang="en-US" sz="2800">
                <a:latin typeface="Times New Roman" panose="02020603050405020304" pitchFamily="18" charset="0"/>
              </a:rPr>
              <a:t>（</a:t>
            </a:r>
            <a:r>
              <a:rPr lang="en-US" altLang="zh-CN" sz="2800">
                <a:latin typeface="Times New Roman" panose="02020603050405020304" pitchFamily="18" charset="0"/>
              </a:rPr>
              <a:t>5</a:t>
            </a:r>
            <a:r>
              <a:rPr lang="zh-CN" altLang="en-US" sz="2800">
                <a:latin typeface="Times New Roman" panose="02020603050405020304" pitchFamily="18" charset="0"/>
              </a:rPr>
              <a:t>）</a:t>
            </a:r>
            <a:r>
              <a:rPr lang="en-US" altLang="zh-CN" sz="2800">
                <a:latin typeface="Times New Roman" panose="02020603050405020304" pitchFamily="18" charset="0"/>
              </a:rPr>
              <a:t>AES</a:t>
            </a:r>
            <a:r>
              <a:rPr lang="zh-CN" altLang="en-US" sz="2800">
                <a:latin typeface="Times New Roman" panose="02020603050405020304" pitchFamily="18" charset="0"/>
              </a:rPr>
              <a:t>可以自由地使用，或按符合美国国家标准（</a:t>
            </a:r>
            <a:r>
              <a:rPr lang="en-US" altLang="zh-CN" sz="2800">
                <a:latin typeface="Times New Roman" panose="02020603050405020304" pitchFamily="18" charset="0"/>
              </a:rPr>
              <a:t>ANST</a:t>
            </a:r>
            <a:r>
              <a:rPr lang="zh-CN" altLang="en-US" sz="2800">
                <a:latin typeface="Times New Roman" panose="02020603050405020304" pitchFamily="18" charset="0"/>
              </a:rPr>
              <a:t>）策略的条件使用。</a:t>
            </a:r>
          </a:p>
          <a:p>
            <a:pPr algn="just" eaLnBrk="1" hangingPunct="1">
              <a:spcAft>
                <a:spcPts val="600"/>
              </a:spcAft>
              <a:buFont typeface="Arial" panose="020B0604020202020204" pitchFamily="34" charset="0"/>
              <a:buNone/>
            </a:pPr>
            <a:endParaRPr lang="en-US" altLang="zh-CN" sz="2800">
              <a:latin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2081" name="Rectangle 2">
            <a:extLst>
              <a:ext uri="{FF2B5EF4-FFF2-40B4-BE49-F238E27FC236}">
                <a16:creationId xmlns:a16="http://schemas.microsoft.com/office/drawing/2014/main" id="{758D660A-2497-F34A-B508-DD0992A0B431}"/>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算法衡量条件</a:t>
            </a:r>
          </a:p>
        </p:txBody>
      </p:sp>
      <p:sp>
        <p:nvSpPr>
          <p:cNvPr id="302082" name="Rectangle 3">
            <a:extLst>
              <a:ext uri="{FF2B5EF4-FFF2-40B4-BE49-F238E27FC236}">
                <a16:creationId xmlns:a16="http://schemas.microsoft.com/office/drawing/2014/main" id="{B36AE627-B275-324C-B3E6-FC7FC12CB584}"/>
              </a:ext>
            </a:extLst>
          </p:cNvPr>
          <p:cNvSpPr>
            <a:spLocks noGrp="1" noChangeArrowheads="1"/>
          </p:cNvSpPr>
          <p:nvPr>
            <p:ph idx="1"/>
          </p:nvPr>
        </p:nvSpPr>
        <p:spPr>
          <a:xfrm>
            <a:off x="823913" y="1465263"/>
            <a:ext cx="10515600" cy="4579937"/>
          </a:xfrm>
        </p:spPr>
        <p:txBody>
          <a:bodyPr/>
          <a:lstStyle/>
          <a:p>
            <a:pPr eaLnBrk="1" hangingPunct="1"/>
            <a:r>
              <a:rPr lang="zh-CN" altLang="en-US" sz="2800">
                <a:latin typeface="Times New Roman" panose="02020603050405020304" pitchFamily="18" charset="0"/>
              </a:rPr>
              <a:t>满足以上要求的</a:t>
            </a:r>
            <a:r>
              <a:rPr lang="en-US" altLang="zh-CN" sz="2800">
                <a:latin typeface="Times New Roman" panose="02020603050405020304" pitchFamily="18" charset="0"/>
              </a:rPr>
              <a:t>AES</a:t>
            </a:r>
            <a:r>
              <a:rPr lang="zh-CN" altLang="en-US" sz="2800">
                <a:latin typeface="Times New Roman" panose="02020603050405020304" pitchFamily="18" charset="0"/>
              </a:rPr>
              <a:t>算法，需按下述条件判断优劣</a:t>
            </a:r>
          </a:p>
          <a:p>
            <a:pPr lvl="1" eaLnBrk="1" hangingPunct="1"/>
            <a:r>
              <a:rPr lang="zh-CN" altLang="en-US" sz="2800">
                <a:latin typeface="Times New Roman" panose="02020603050405020304" pitchFamily="18" charset="0"/>
              </a:rPr>
              <a:t>安全性</a:t>
            </a:r>
          </a:p>
          <a:p>
            <a:pPr lvl="1" eaLnBrk="1" hangingPunct="1"/>
            <a:r>
              <a:rPr lang="zh-CN" altLang="zh-CN" sz="2800">
                <a:latin typeface="Times New Roman" panose="02020603050405020304" pitchFamily="18" charset="0"/>
              </a:rPr>
              <a:t>计算</a:t>
            </a:r>
            <a:r>
              <a:rPr lang="zh-CN" altLang="en-US" sz="2800">
                <a:latin typeface="Times New Roman" panose="02020603050405020304" pitchFamily="18" charset="0"/>
              </a:rPr>
              <a:t>效率</a:t>
            </a:r>
          </a:p>
          <a:p>
            <a:pPr lvl="1" eaLnBrk="1" hangingPunct="1"/>
            <a:r>
              <a:rPr lang="zh-CN" altLang="zh-CN" sz="2800">
                <a:latin typeface="Times New Roman" panose="02020603050405020304" pitchFamily="18" charset="0"/>
              </a:rPr>
              <a:t>内</a:t>
            </a:r>
            <a:r>
              <a:rPr lang="zh-CN" altLang="en-US" sz="2800">
                <a:latin typeface="Times New Roman" panose="02020603050405020304" pitchFamily="18" charset="0"/>
              </a:rPr>
              <a:t>存要求</a:t>
            </a:r>
          </a:p>
          <a:p>
            <a:pPr lvl="1" eaLnBrk="1" hangingPunct="1"/>
            <a:r>
              <a:rPr lang="zh-CN" altLang="zh-CN" sz="2800">
                <a:latin typeface="Times New Roman" panose="02020603050405020304" pitchFamily="18" charset="0"/>
              </a:rPr>
              <a:t>使用</a:t>
            </a:r>
            <a:r>
              <a:rPr lang="zh-CN" altLang="en-US" sz="2800">
                <a:latin typeface="Times New Roman" panose="02020603050405020304" pitchFamily="18" charset="0"/>
              </a:rPr>
              <a:t>简便性</a:t>
            </a:r>
          </a:p>
          <a:p>
            <a:pPr lvl="1" eaLnBrk="1" hangingPunct="1"/>
            <a:r>
              <a:rPr lang="zh-CN" altLang="zh-CN" sz="2800">
                <a:latin typeface="Times New Roman" panose="02020603050405020304" pitchFamily="18" charset="0"/>
              </a:rPr>
              <a:t>灵活性</a:t>
            </a:r>
            <a:endParaRPr lang="zh-CN" altLang="en-US" sz="2800">
              <a:latin typeface="Times New Roman" panose="02020603050405020304"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4129" name="Rectangle 2">
            <a:extLst>
              <a:ext uri="{FF2B5EF4-FFF2-40B4-BE49-F238E27FC236}">
                <a16:creationId xmlns:a16="http://schemas.microsoft.com/office/drawing/2014/main" id="{7CDB7AF8-93FF-0640-876D-04FFF0CFCABA}"/>
              </a:ext>
            </a:extLst>
          </p:cNvPr>
          <p:cNvSpPr>
            <a:spLocks noGrp="1" noChangeArrowheads="1"/>
          </p:cNvSpPr>
          <p:nvPr>
            <p:ph type="title"/>
          </p:nvPr>
        </p:nvSpPr>
        <p:spPr>
          <a:xfrm>
            <a:off x="1465263" y="365125"/>
            <a:ext cx="9037637" cy="668338"/>
          </a:xfrm>
        </p:spPr>
        <p:txBody>
          <a:bodyPr/>
          <a:lstStyle/>
          <a:p>
            <a:pPr eaLnBrk="1" hangingPunct="1"/>
            <a:r>
              <a:rPr lang="en-US" altLang="zh-CN" sz="4000">
                <a:solidFill>
                  <a:schemeClr val="hlink"/>
                </a:solidFill>
                <a:latin typeface="Times New Roman" panose="02020603050405020304" pitchFamily="18" charset="0"/>
              </a:rPr>
              <a:t>AES</a:t>
            </a:r>
            <a:r>
              <a:rPr lang="zh-CN" altLang="en-US" sz="4000">
                <a:solidFill>
                  <a:schemeClr val="hlink"/>
                </a:solidFill>
                <a:latin typeface="Times New Roman" panose="02020603050405020304" pitchFamily="18" charset="0"/>
              </a:rPr>
              <a:t>的评审</a:t>
            </a:r>
          </a:p>
        </p:txBody>
      </p:sp>
      <p:sp>
        <p:nvSpPr>
          <p:cNvPr id="304130" name="Rectangle 6">
            <a:extLst>
              <a:ext uri="{FF2B5EF4-FFF2-40B4-BE49-F238E27FC236}">
                <a16:creationId xmlns:a16="http://schemas.microsoft.com/office/drawing/2014/main" id="{B2D6B93D-C0E5-E04A-84C6-1EF196FF5E37}"/>
              </a:ext>
            </a:extLst>
          </p:cNvPr>
          <p:cNvSpPr>
            <a:spLocks noGrp="1" noChangeArrowheads="1"/>
          </p:cNvSpPr>
          <p:nvPr>
            <p:ph idx="1"/>
          </p:nvPr>
        </p:nvSpPr>
        <p:spPr>
          <a:xfrm>
            <a:off x="838200" y="1219200"/>
            <a:ext cx="10515600" cy="4579938"/>
          </a:xfrm>
        </p:spPr>
        <p:txBody>
          <a:bodyPr/>
          <a:lstStyle/>
          <a:p>
            <a:pPr algn="just" eaLnBrk="1" hangingPunct="1">
              <a:lnSpc>
                <a:spcPct val="120000"/>
              </a:lnSpc>
              <a:spcAft>
                <a:spcPts val="600"/>
              </a:spcAft>
            </a:pPr>
            <a:r>
              <a:rPr lang="en-US" altLang="zh-CN">
                <a:latin typeface="Times New Roman" panose="02020603050405020304" pitchFamily="18" charset="0"/>
                <a:sym typeface="Monotype Sorts" pitchFamily="2" charset="2"/>
              </a:rPr>
              <a:t> 1998</a:t>
            </a:r>
            <a:r>
              <a:rPr lang="zh-CN" altLang="en-US">
                <a:latin typeface="Times New Roman" panose="02020603050405020304" pitchFamily="18" charset="0"/>
                <a:sym typeface="Monotype Sorts" pitchFamily="2" charset="2"/>
              </a:rPr>
              <a:t>年</a:t>
            </a:r>
            <a:r>
              <a:rPr lang="en-US" altLang="zh-CN">
                <a:latin typeface="Times New Roman" panose="02020603050405020304" pitchFamily="18" charset="0"/>
                <a:sym typeface="Monotype Sorts" pitchFamily="2" charset="2"/>
              </a:rPr>
              <a:t>4</a:t>
            </a:r>
            <a:r>
              <a:rPr lang="zh-CN" altLang="en-US">
                <a:latin typeface="Times New Roman" panose="02020603050405020304" pitchFamily="18" charset="0"/>
                <a:sym typeface="Monotype Sorts" pitchFamily="2" charset="2"/>
              </a:rPr>
              <a:t>月</a:t>
            </a:r>
            <a:r>
              <a:rPr lang="en-US" altLang="zh-CN">
                <a:latin typeface="Times New Roman" panose="02020603050405020304" pitchFamily="18" charset="0"/>
                <a:sym typeface="Monotype Sorts" pitchFamily="2" charset="2"/>
              </a:rPr>
              <a:t>15</a:t>
            </a:r>
            <a:r>
              <a:rPr lang="zh-CN" altLang="en-US">
                <a:latin typeface="Times New Roman" panose="02020603050405020304" pitchFamily="18" charset="0"/>
                <a:sym typeface="Monotype Sorts" pitchFamily="2" charset="2"/>
              </a:rPr>
              <a:t>日全面征集</a:t>
            </a:r>
            <a:r>
              <a:rPr lang="en-US" altLang="zh-CN">
                <a:latin typeface="Times New Roman" panose="02020603050405020304" pitchFamily="18" charset="0"/>
                <a:sym typeface="Monotype Sorts" pitchFamily="2" charset="2"/>
              </a:rPr>
              <a:t>AES</a:t>
            </a:r>
            <a:r>
              <a:rPr lang="zh-CN" altLang="en-US">
                <a:latin typeface="Times New Roman" panose="02020603050405020304" pitchFamily="18" charset="0"/>
                <a:sym typeface="Monotype Sorts" pitchFamily="2" charset="2"/>
              </a:rPr>
              <a:t>算法的工作结束。</a:t>
            </a:r>
            <a:r>
              <a:rPr lang="en-US" altLang="zh-CN">
                <a:latin typeface="Times New Roman" panose="02020603050405020304" pitchFamily="18" charset="0"/>
                <a:sym typeface="Monotype Sorts" pitchFamily="2" charset="2"/>
              </a:rPr>
              <a:t>1998</a:t>
            </a:r>
            <a:r>
              <a:rPr lang="zh-CN" altLang="en-US">
                <a:latin typeface="Times New Roman" panose="02020603050405020304" pitchFamily="18" charset="0"/>
                <a:sym typeface="Monotype Sorts" pitchFamily="2" charset="2"/>
              </a:rPr>
              <a:t>年</a:t>
            </a:r>
            <a:r>
              <a:rPr lang="en-US" altLang="zh-CN">
                <a:latin typeface="Times New Roman" panose="02020603050405020304" pitchFamily="18" charset="0"/>
                <a:sym typeface="Monotype Sorts" pitchFamily="2" charset="2"/>
              </a:rPr>
              <a:t>8</a:t>
            </a:r>
            <a:r>
              <a:rPr lang="zh-CN" altLang="en-US">
                <a:latin typeface="Times New Roman" panose="02020603050405020304" pitchFamily="18" charset="0"/>
                <a:sym typeface="Monotype Sorts" pitchFamily="2" charset="2"/>
              </a:rPr>
              <a:t>月</a:t>
            </a:r>
            <a:r>
              <a:rPr lang="en-US" altLang="zh-CN">
                <a:latin typeface="Times New Roman" panose="02020603050405020304" pitchFamily="18" charset="0"/>
                <a:sym typeface="Monotype Sorts" pitchFamily="2" charset="2"/>
              </a:rPr>
              <a:t>20</a:t>
            </a:r>
            <a:r>
              <a:rPr lang="zh-CN" altLang="en-US">
                <a:latin typeface="Times New Roman" panose="02020603050405020304" pitchFamily="18" charset="0"/>
                <a:sym typeface="Monotype Sorts" pitchFamily="2" charset="2"/>
              </a:rPr>
              <a:t>日举行了首届</a:t>
            </a:r>
            <a:r>
              <a:rPr lang="en-US" altLang="zh-CN">
                <a:latin typeface="Times New Roman" panose="02020603050405020304" pitchFamily="18" charset="0"/>
                <a:sym typeface="Monotype Sorts" pitchFamily="2" charset="2"/>
              </a:rPr>
              <a:t>AES</a:t>
            </a:r>
            <a:r>
              <a:rPr lang="zh-CN" altLang="en-US">
                <a:latin typeface="Times New Roman" panose="02020603050405020304" pitchFamily="18" charset="0"/>
                <a:sym typeface="Monotype Sorts" pitchFamily="2" charset="2"/>
              </a:rPr>
              <a:t>讨论会，对涉及</a:t>
            </a:r>
            <a:r>
              <a:rPr lang="en-US" altLang="zh-CN">
                <a:latin typeface="Times New Roman" panose="02020603050405020304" pitchFamily="18" charset="0"/>
                <a:sym typeface="Monotype Sorts" pitchFamily="2" charset="2"/>
              </a:rPr>
              <a:t>14</a:t>
            </a:r>
            <a:r>
              <a:rPr lang="zh-CN" altLang="en-US">
                <a:latin typeface="Times New Roman" panose="02020603050405020304" pitchFamily="18" charset="0"/>
                <a:sym typeface="Monotype Sorts" pitchFamily="2" charset="2"/>
              </a:rPr>
              <a:t>个国家的密码学家所提出的候选</a:t>
            </a:r>
            <a:r>
              <a:rPr lang="en-US" altLang="zh-CN">
                <a:latin typeface="Times New Roman" panose="02020603050405020304" pitchFamily="18" charset="0"/>
                <a:sym typeface="Monotype Sorts" pitchFamily="2" charset="2"/>
              </a:rPr>
              <a:t>AES</a:t>
            </a:r>
            <a:r>
              <a:rPr lang="zh-CN" altLang="en-US">
                <a:latin typeface="Times New Roman" panose="02020603050405020304" pitchFamily="18" charset="0"/>
                <a:sym typeface="Monotype Sorts" pitchFamily="2" charset="2"/>
              </a:rPr>
              <a:t>算法进行了评估和测试，初选并公布了</a:t>
            </a:r>
            <a:r>
              <a:rPr lang="en-US" altLang="zh-CN">
                <a:latin typeface="Times New Roman" panose="02020603050405020304" pitchFamily="18" charset="0"/>
                <a:sym typeface="Monotype Sorts" pitchFamily="2" charset="2"/>
              </a:rPr>
              <a:t>15</a:t>
            </a:r>
            <a:r>
              <a:rPr lang="zh-CN" altLang="en-US">
                <a:latin typeface="Times New Roman" panose="02020603050405020304" pitchFamily="18" charset="0"/>
                <a:sym typeface="Monotype Sorts" pitchFamily="2" charset="2"/>
              </a:rPr>
              <a:t>个被选方案，供大家公开讨论。</a:t>
            </a:r>
          </a:p>
          <a:p>
            <a:pPr algn="just" eaLnBrk="1" hangingPunct="1">
              <a:lnSpc>
                <a:spcPct val="120000"/>
              </a:lnSpc>
              <a:spcAft>
                <a:spcPts val="600"/>
              </a:spcAft>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CAST-256</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RC-6</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CRYPTON-128</a:t>
            </a:r>
            <a:r>
              <a:rPr lang="zh-CN" altLang="en-US">
                <a:latin typeface="Times New Roman" panose="02020603050405020304" pitchFamily="18" charset="0"/>
                <a:sym typeface="Monotype Sorts" pitchFamily="2" charset="2"/>
              </a:rPr>
              <a:t>，</a:t>
            </a:r>
            <a:r>
              <a:rPr lang="en-US" altLang="zh-CN">
                <a:latin typeface="Times New Roman" panose="02020603050405020304" pitchFamily="18" charset="0"/>
                <a:sym typeface="Monotype Sorts" pitchFamily="2" charset="2"/>
              </a:rPr>
              <a:t>DEAL-128</a:t>
            </a:r>
            <a:r>
              <a:rPr lang="zh-CN" altLang="en-US">
                <a:latin typeface="Times New Roman" panose="02020603050405020304" pitchFamily="18" charset="0"/>
                <a:sym typeface="Monotype Sorts" pitchFamily="2" charset="2"/>
              </a:rPr>
              <a:t>，</a:t>
            </a:r>
          </a:p>
          <a:p>
            <a:pPr algn="just" eaLnBrk="1" hangingPunct="1">
              <a:lnSpc>
                <a:spcPct val="120000"/>
              </a:lnSpc>
              <a:spcAft>
                <a:spcPts val="600"/>
              </a:spcAft>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FROG</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DFC</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LOKI-97</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MAGENTA</a:t>
            </a:r>
            <a:r>
              <a:rPr lang="zh-CN" altLang="en-US">
                <a:latin typeface="Times New Roman" panose="02020603050405020304" pitchFamily="18" charset="0"/>
                <a:sym typeface="Monotype Sorts" pitchFamily="2" charset="2"/>
              </a:rPr>
              <a:t>，</a:t>
            </a:r>
          </a:p>
          <a:p>
            <a:pPr algn="just" eaLnBrk="1" hangingPunct="1">
              <a:lnSpc>
                <a:spcPct val="120000"/>
              </a:lnSpc>
              <a:spcAft>
                <a:spcPts val="600"/>
              </a:spcAft>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MARS</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HPC,            RIJNDAEL</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SAFER+</a:t>
            </a:r>
            <a:r>
              <a:rPr lang="zh-CN" altLang="en-US">
                <a:latin typeface="Times New Roman" panose="02020603050405020304" pitchFamily="18" charset="0"/>
                <a:sym typeface="Monotype Sorts" pitchFamily="2" charset="2"/>
              </a:rPr>
              <a:t>，</a:t>
            </a:r>
          </a:p>
          <a:p>
            <a:pPr algn="just" eaLnBrk="1" hangingPunct="1">
              <a:lnSpc>
                <a:spcPct val="120000"/>
              </a:lnSpc>
              <a:spcAft>
                <a:spcPts val="600"/>
              </a:spcAft>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SERPENT</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E-2</a:t>
            </a: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TWOFISH</a:t>
            </a:r>
            <a:r>
              <a:rPr lang="zh-CN" altLang="en-US">
                <a:latin typeface="Times New Roman" panose="02020603050405020304" pitchFamily="18" charset="0"/>
                <a:sym typeface="Monotype Sorts" pitchFamily="2" charset="2"/>
              </a:rPr>
              <a:t>。</a:t>
            </a:r>
          </a:p>
          <a:p>
            <a:pPr algn="just" eaLnBrk="1" hangingPunct="1">
              <a:lnSpc>
                <a:spcPct val="120000"/>
              </a:lnSpc>
              <a:spcAft>
                <a:spcPts val="600"/>
              </a:spcAft>
            </a:pPr>
            <a:r>
              <a:rPr lang="zh-CN" altLang="en-US">
                <a:latin typeface="Times New Roman" panose="02020603050405020304" pitchFamily="18" charset="0"/>
                <a:sym typeface="Monotype Sorts" pitchFamily="2" charset="2"/>
              </a:rPr>
              <a:t>这些算法设计思想新颖，技术水平先进，算法的强度都超过</a:t>
            </a:r>
            <a:r>
              <a:rPr lang="en-US" altLang="zh-CN">
                <a:latin typeface="Times New Roman" panose="02020603050405020304" pitchFamily="18" charset="0"/>
                <a:sym typeface="Monotype Sorts" pitchFamily="2" charset="2"/>
              </a:rPr>
              <a:t>3-DES</a:t>
            </a:r>
            <a:r>
              <a:rPr lang="zh-CN" altLang="en-US">
                <a:latin typeface="Times New Roman" panose="02020603050405020304" pitchFamily="18" charset="0"/>
                <a:sym typeface="Monotype Sorts" pitchFamily="2" charset="2"/>
              </a:rPr>
              <a:t>，实现速度快于</a:t>
            </a:r>
            <a:r>
              <a:rPr lang="en-US" altLang="zh-CN">
                <a:latin typeface="Times New Roman" panose="02020603050405020304" pitchFamily="18" charset="0"/>
                <a:sym typeface="Monotype Sorts" pitchFamily="2" charset="2"/>
              </a:rPr>
              <a:t>3-DES</a:t>
            </a:r>
            <a:r>
              <a:rPr lang="zh-CN" altLang="en-US">
                <a:latin typeface="Times New Roman" panose="02020603050405020304" pitchFamily="18" charset="0"/>
                <a:sym typeface="Monotype Sorts" pitchFamily="2" charset="2"/>
              </a:rPr>
              <a:t>。</a:t>
            </a:r>
          </a:p>
          <a:p>
            <a:pPr algn="just" eaLnBrk="1" hangingPunct="1">
              <a:lnSpc>
                <a:spcPct val="120000"/>
              </a:lnSpc>
              <a:spcAft>
                <a:spcPts val="600"/>
              </a:spcAft>
              <a:buFont typeface="Arial" panose="020B0604020202020204" pitchFamily="34" charset="0"/>
              <a:buNone/>
            </a:pPr>
            <a:r>
              <a:rPr lang="zh-CN" altLang="en-US">
                <a:latin typeface="Times New Roman" panose="02020603050405020304" pitchFamily="18" charset="0"/>
                <a:sym typeface="Monotype Sorts" pitchFamily="2" charset="2"/>
              </a:rPr>
              <a:t>  </a:t>
            </a:r>
            <a:endParaRPr lang="zh-CN" altLang="zh-CN">
              <a:latin typeface="Times New Roman" panose="02020603050405020304" pitchFamily="18" charset="0"/>
              <a:sym typeface="Monotype Sorts" pitchFamily="2" charset="2"/>
            </a:endParaRPr>
          </a:p>
        </p:txBody>
      </p:sp>
      <p:sp>
        <p:nvSpPr>
          <p:cNvPr id="304131" name="Text Box 3">
            <a:extLst>
              <a:ext uri="{FF2B5EF4-FFF2-40B4-BE49-F238E27FC236}">
                <a16:creationId xmlns:a16="http://schemas.microsoft.com/office/drawing/2014/main" id="{FE4638CF-F8D5-454F-A735-D9AEF9061DBF}"/>
              </a:ext>
            </a:extLst>
          </p:cNvPr>
          <p:cNvSpPr txBox="1">
            <a:spLocks noChangeArrowheads="1"/>
          </p:cNvSpPr>
          <p:nvPr/>
        </p:nvSpPr>
        <p:spPr bwMode="auto">
          <a:xfrm>
            <a:off x="3184525" y="383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304132" name="Text Box 4">
            <a:extLst>
              <a:ext uri="{FF2B5EF4-FFF2-40B4-BE49-F238E27FC236}">
                <a16:creationId xmlns:a16="http://schemas.microsoft.com/office/drawing/2014/main" id="{78DB5DD3-AEEF-9347-B8D2-4D079558FA8B}"/>
              </a:ext>
            </a:extLst>
          </p:cNvPr>
          <p:cNvSpPr txBox="1">
            <a:spLocks noChangeArrowheads="1"/>
          </p:cNvSpPr>
          <p:nvPr/>
        </p:nvSpPr>
        <p:spPr bwMode="auto">
          <a:xfrm>
            <a:off x="3870325" y="3906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
        <p:nvSpPr>
          <p:cNvPr id="304133" name="Text Box 5">
            <a:extLst>
              <a:ext uri="{FF2B5EF4-FFF2-40B4-BE49-F238E27FC236}">
                <a16:creationId xmlns:a16="http://schemas.microsoft.com/office/drawing/2014/main" id="{E83A547E-5FAF-D442-A645-4A0AE31E748B}"/>
              </a:ext>
            </a:extLst>
          </p:cNvPr>
          <p:cNvSpPr txBox="1">
            <a:spLocks noChangeArrowheads="1"/>
          </p:cNvSpPr>
          <p:nvPr/>
        </p:nvSpPr>
        <p:spPr bwMode="auto">
          <a:xfrm>
            <a:off x="2803525" y="2001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2400">
              <a:latin typeface="Times New Roman" panose="02020603050405020304" pitchFamily="18"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6177" name="Rectangle 2">
            <a:extLst>
              <a:ext uri="{FF2B5EF4-FFF2-40B4-BE49-F238E27FC236}">
                <a16:creationId xmlns:a16="http://schemas.microsoft.com/office/drawing/2014/main" id="{0F618AE1-DABC-FD49-853B-F189E74AC63A}"/>
              </a:ext>
            </a:extLst>
          </p:cNvPr>
          <p:cNvSpPr>
            <a:spLocks noGrp="1" noChangeArrowheads="1"/>
          </p:cNvSpPr>
          <p:nvPr>
            <p:ph type="title"/>
          </p:nvPr>
        </p:nvSpPr>
        <p:spPr>
          <a:xfrm>
            <a:off x="1465263" y="365125"/>
            <a:ext cx="9037637" cy="668338"/>
          </a:xfrm>
        </p:spPr>
        <p:txBody>
          <a:bodyPr/>
          <a:lstStyle/>
          <a:p>
            <a:pPr eaLnBrk="1" hangingPunct="1"/>
            <a:r>
              <a:rPr lang="en-US" altLang="zh-CN">
                <a:solidFill>
                  <a:schemeClr val="hlink"/>
                </a:solidFill>
                <a:latin typeface="Times New Roman" panose="02020603050405020304" pitchFamily="18" charset="0"/>
              </a:rPr>
              <a:t>AES</a:t>
            </a:r>
            <a:r>
              <a:rPr lang="zh-CN" altLang="en-US">
                <a:solidFill>
                  <a:schemeClr val="hlink"/>
                </a:solidFill>
                <a:latin typeface="Times New Roman" panose="02020603050405020304" pitchFamily="18" charset="0"/>
              </a:rPr>
              <a:t>的评审（续）</a:t>
            </a:r>
          </a:p>
        </p:txBody>
      </p:sp>
      <p:sp>
        <p:nvSpPr>
          <p:cNvPr id="306178" name="Rectangle 3">
            <a:extLst>
              <a:ext uri="{FF2B5EF4-FFF2-40B4-BE49-F238E27FC236}">
                <a16:creationId xmlns:a16="http://schemas.microsoft.com/office/drawing/2014/main" id="{0E8D0217-03B5-1D40-B358-18E5288DB60B}"/>
              </a:ext>
            </a:extLst>
          </p:cNvPr>
          <p:cNvSpPr>
            <a:spLocks noGrp="1" noChangeArrowheads="1"/>
          </p:cNvSpPr>
          <p:nvPr>
            <p:ph idx="1"/>
          </p:nvPr>
        </p:nvSpPr>
        <p:spPr>
          <a:xfrm>
            <a:off x="823913" y="1465263"/>
            <a:ext cx="10515600" cy="4579937"/>
          </a:xfrm>
        </p:spPr>
        <p:txBody>
          <a:bodyPr/>
          <a:lstStyle/>
          <a:p>
            <a:pPr marL="609600" indent="-609600" eaLnBrk="1" hangingPunct="1">
              <a:lnSpc>
                <a:spcPct val="120000"/>
              </a:lnSpc>
            </a:pPr>
            <a:r>
              <a:rPr lang="en-US" altLang="zh-CN" sz="2800">
                <a:latin typeface="Times New Roman" panose="02020603050405020304" pitchFamily="18" charset="0"/>
                <a:sym typeface="Monotype Sorts" pitchFamily="2" charset="2"/>
              </a:rPr>
              <a:t>1999</a:t>
            </a:r>
            <a:r>
              <a:rPr lang="zh-CN" altLang="en-US" sz="2800">
                <a:latin typeface="Times New Roman" panose="02020603050405020304" pitchFamily="18" charset="0"/>
                <a:sym typeface="Monotype Sorts" pitchFamily="2" charset="2"/>
              </a:rPr>
              <a:t>年</a:t>
            </a:r>
            <a:r>
              <a:rPr lang="en-US" altLang="zh-CN" sz="2800">
                <a:latin typeface="Times New Roman" panose="02020603050405020304" pitchFamily="18" charset="0"/>
                <a:sym typeface="Monotype Sorts" pitchFamily="2" charset="2"/>
              </a:rPr>
              <a:t>8</a:t>
            </a:r>
            <a:r>
              <a:rPr lang="zh-CN" altLang="en-US" sz="2800">
                <a:latin typeface="Times New Roman" panose="02020603050405020304" pitchFamily="18" charset="0"/>
                <a:sym typeface="Monotype Sorts" pitchFamily="2" charset="2"/>
              </a:rPr>
              <a:t>月</a:t>
            </a:r>
            <a:r>
              <a:rPr lang="en-US" altLang="zh-CN" sz="2800">
                <a:latin typeface="Times New Roman" panose="02020603050405020304" pitchFamily="18" charset="0"/>
                <a:sym typeface="Monotype Sorts" pitchFamily="2" charset="2"/>
              </a:rPr>
              <a:t>9</a:t>
            </a:r>
            <a:r>
              <a:rPr lang="zh-CN" altLang="en-US" sz="2800">
                <a:latin typeface="Times New Roman" panose="02020603050405020304" pitchFamily="18" charset="0"/>
                <a:sym typeface="Monotype Sorts" pitchFamily="2" charset="2"/>
              </a:rPr>
              <a:t>日</a:t>
            </a:r>
            <a:r>
              <a:rPr lang="en-US" altLang="zh-CN" sz="2800">
                <a:latin typeface="Times New Roman" panose="02020603050405020304" pitchFamily="18" charset="0"/>
                <a:sym typeface="Monotype Sorts" pitchFamily="2" charset="2"/>
              </a:rPr>
              <a:t>NIST</a:t>
            </a:r>
            <a:r>
              <a:rPr lang="zh-CN" altLang="en-US" sz="2800">
                <a:latin typeface="Times New Roman" panose="02020603050405020304" pitchFamily="18" charset="0"/>
                <a:sym typeface="Monotype Sorts" pitchFamily="2" charset="2"/>
              </a:rPr>
              <a:t>宣布第二轮筛选出的</a:t>
            </a:r>
            <a:r>
              <a:rPr lang="en-US" altLang="zh-CN" sz="2800">
                <a:latin typeface="Times New Roman" panose="02020603050405020304" pitchFamily="18" charset="0"/>
                <a:sym typeface="Monotype Sorts" pitchFamily="2" charset="2"/>
              </a:rPr>
              <a:t>5</a:t>
            </a:r>
            <a:r>
              <a:rPr lang="zh-CN" altLang="en-US" sz="2800">
                <a:latin typeface="Times New Roman" panose="02020603050405020304" pitchFamily="18" charset="0"/>
                <a:sym typeface="Monotype Sorts" pitchFamily="2" charset="2"/>
              </a:rPr>
              <a:t>个候选算法为：</a:t>
            </a:r>
          </a:p>
          <a:p>
            <a:pPr marL="609600" indent="-609600" eaLnBrk="1" hangingPunct="1">
              <a:lnSpc>
                <a:spcPct val="120000"/>
              </a:lnSpc>
              <a:buFont typeface="Arial" panose="020B0604020202020204" pitchFamily="34" charset="0"/>
              <a:buNone/>
            </a:pPr>
            <a:r>
              <a:rPr lang="zh-CN" altLang="en-US" sz="2800">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MARS(C.Burwick</a:t>
            </a:r>
            <a:r>
              <a:rPr lang="zh-CN" altLang="zh-CN">
                <a:latin typeface="Times New Roman" panose="02020603050405020304" pitchFamily="18" charset="0"/>
                <a:sym typeface="Monotype Sorts" pitchFamily="2" charset="2"/>
              </a:rPr>
              <a:t>等,</a:t>
            </a:r>
            <a:r>
              <a:rPr lang="en-US" altLang="zh-CN">
                <a:latin typeface="Times New Roman" panose="02020603050405020304" pitchFamily="18" charset="0"/>
                <a:sym typeface="Monotype Sorts" pitchFamily="2" charset="2"/>
              </a:rPr>
              <a:t> </a:t>
            </a:r>
            <a:r>
              <a:rPr lang="zh-CN" altLang="zh-CN">
                <a:latin typeface="Times New Roman" panose="02020603050405020304" pitchFamily="18" charset="0"/>
                <a:sym typeface="Monotype Sorts" pitchFamily="2" charset="2"/>
              </a:rPr>
              <a:t>IBM）</a:t>
            </a:r>
            <a:r>
              <a:rPr lang="zh-CN" altLang="en-US">
                <a:latin typeface="Times New Roman" panose="02020603050405020304" pitchFamily="18" charset="0"/>
                <a:sym typeface="Monotype Sorts" pitchFamily="2" charset="2"/>
              </a:rPr>
              <a:t>，</a:t>
            </a:r>
          </a:p>
          <a:p>
            <a:pPr marL="609600" indent="-609600" eaLnBrk="1" hangingPunct="1">
              <a:lnSpc>
                <a:spcPct val="120000"/>
              </a:lnSpc>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RC6</a:t>
            </a:r>
            <a:r>
              <a:rPr lang="en-US" altLang="zh-CN" baseline="30000">
                <a:latin typeface="Times New Roman" panose="02020603050405020304" pitchFamily="18" charset="0"/>
                <a:sym typeface="Monotype Sorts" pitchFamily="2" charset="2"/>
              </a:rPr>
              <a:t>TM</a:t>
            </a:r>
            <a:r>
              <a:rPr lang="zh-CN" altLang="zh-CN">
                <a:latin typeface="Times New Roman" panose="02020603050405020304" pitchFamily="18" charset="0"/>
                <a:sym typeface="Monotype Sorts" pitchFamily="2" charset="2"/>
              </a:rPr>
              <a:t>（R. Rivest等,</a:t>
            </a:r>
            <a:r>
              <a:rPr lang="en-US" altLang="zh-CN">
                <a:latin typeface="Times New Roman" panose="02020603050405020304" pitchFamily="18" charset="0"/>
                <a:sym typeface="Monotype Sorts" pitchFamily="2" charset="2"/>
              </a:rPr>
              <a:t> </a:t>
            </a:r>
            <a:r>
              <a:rPr lang="zh-CN" altLang="zh-CN">
                <a:latin typeface="Times New Roman" panose="02020603050405020304" pitchFamily="18" charset="0"/>
                <a:sym typeface="Monotype Sorts" pitchFamily="2" charset="2"/>
              </a:rPr>
              <a:t>RSA Lab.)</a:t>
            </a:r>
            <a:r>
              <a:rPr lang="zh-CN" altLang="en-US">
                <a:latin typeface="Times New Roman" panose="02020603050405020304" pitchFamily="18" charset="0"/>
                <a:sym typeface="Monotype Sorts" pitchFamily="2" charset="2"/>
              </a:rPr>
              <a:t>，</a:t>
            </a:r>
          </a:p>
          <a:p>
            <a:pPr marL="609600" indent="-609600" eaLnBrk="1" hangingPunct="1">
              <a:lnSpc>
                <a:spcPct val="120000"/>
              </a:lnSpc>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RIJNDEAL(J. Daemen, </a:t>
            </a:r>
            <a:r>
              <a:rPr lang="en-US" altLang="zh-CN">
                <a:latin typeface="Times New Roman" panose="02020603050405020304" pitchFamily="18" charset="0"/>
              </a:rPr>
              <a:t>V. Rijmen</a:t>
            </a:r>
            <a:r>
              <a:rPr lang="en-US" altLang="zh-CN">
                <a:latin typeface="Times New Roman" panose="02020603050405020304" pitchFamily="18" charset="0"/>
                <a:sym typeface="Monotype Sorts" pitchFamily="2" charset="2"/>
              </a:rPr>
              <a:t>, </a:t>
            </a:r>
            <a:r>
              <a:rPr lang="zh-CN" altLang="en-US">
                <a:latin typeface="Times New Roman" panose="02020603050405020304" pitchFamily="18" charset="0"/>
                <a:sym typeface="Monotype Sorts" pitchFamily="2" charset="2"/>
              </a:rPr>
              <a:t>比利时</a:t>
            </a:r>
            <a:r>
              <a:rPr lang="en-US" altLang="zh-CN">
                <a:latin typeface="Times New Roman" panose="02020603050405020304" pitchFamily="18" charset="0"/>
                <a:sym typeface="Monotype Sorts" pitchFamily="2" charset="2"/>
              </a:rPr>
              <a:t>)</a:t>
            </a:r>
            <a:r>
              <a:rPr lang="zh-CN" altLang="en-US">
                <a:latin typeface="Times New Roman" panose="02020603050405020304" pitchFamily="18" charset="0"/>
                <a:sym typeface="Monotype Sorts" pitchFamily="2" charset="2"/>
              </a:rPr>
              <a:t>，</a:t>
            </a:r>
          </a:p>
          <a:p>
            <a:pPr marL="609600" indent="-609600" eaLnBrk="1" hangingPunct="1">
              <a:lnSpc>
                <a:spcPct val="120000"/>
              </a:lnSpc>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SERPENT(R. Anderson</a:t>
            </a:r>
            <a:r>
              <a:rPr lang="zh-CN" altLang="zh-CN">
                <a:latin typeface="Times New Roman" panose="02020603050405020304" pitchFamily="18" charset="0"/>
                <a:sym typeface="Monotype Sorts" pitchFamily="2" charset="2"/>
              </a:rPr>
              <a:t>等，</a:t>
            </a:r>
            <a:r>
              <a:rPr lang="zh-CN" altLang="en-US">
                <a:latin typeface="Times New Roman" panose="02020603050405020304" pitchFamily="18" charset="0"/>
                <a:sym typeface="Monotype Sorts" pitchFamily="2" charset="2"/>
              </a:rPr>
              <a:t>英国、以利时、挪威</a:t>
            </a:r>
            <a:r>
              <a:rPr lang="en-US" altLang="zh-CN">
                <a:latin typeface="Times New Roman" panose="02020603050405020304" pitchFamily="18" charset="0"/>
                <a:sym typeface="Monotype Sorts" pitchFamily="2" charset="2"/>
              </a:rPr>
              <a:t>)</a:t>
            </a:r>
            <a:r>
              <a:rPr lang="zh-CN" altLang="en-US">
                <a:latin typeface="Times New Roman" panose="02020603050405020304" pitchFamily="18" charset="0"/>
                <a:sym typeface="Monotype Sorts" pitchFamily="2" charset="2"/>
              </a:rPr>
              <a:t>，</a:t>
            </a:r>
          </a:p>
          <a:p>
            <a:pPr marL="609600" indent="-609600" eaLnBrk="1" hangingPunct="1">
              <a:lnSpc>
                <a:spcPct val="120000"/>
              </a:lnSpc>
              <a:buFont typeface="Arial" panose="020B0604020202020204" pitchFamily="34" charset="0"/>
              <a:buNone/>
            </a:pPr>
            <a:r>
              <a:rPr lang="zh-CN" altLang="en-US">
                <a:latin typeface="Times New Roman" panose="02020603050405020304" pitchFamily="18" charset="0"/>
                <a:sym typeface="Monotype Sorts" pitchFamily="2" charset="2"/>
              </a:rPr>
              <a:t>       </a:t>
            </a:r>
            <a:r>
              <a:rPr lang="en-US" altLang="zh-CN">
                <a:latin typeface="Times New Roman" panose="02020603050405020304" pitchFamily="18" charset="0"/>
                <a:sym typeface="Monotype Sorts" pitchFamily="2" charset="2"/>
              </a:rPr>
              <a:t>TWOFISH(B. Schneier</a:t>
            </a:r>
            <a:r>
              <a:rPr lang="zh-CN" altLang="en-US">
                <a:latin typeface="Times New Roman" panose="02020603050405020304" pitchFamily="18" charset="0"/>
                <a:sym typeface="Monotype Sorts" pitchFamily="2" charset="2"/>
              </a:rPr>
              <a:t>，美国</a:t>
            </a:r>
            <a:r>
              <a:rPr lang="en-US" altLang="zh-CN">
                <a:latin typeface="Times New Roman" panose="02020603050405020304" pitchFamily="18" charset="0"/>
                <a:sym typeface="Monotype Sorts" pitchFamily="2" charset="2"/>
              </a:rPr>
              <a:t>)</a:t>
            </a:r>
            <a:r>
              <a:rPr lang="zh-CN" altLang="en-US">
                <a:latin typeface="Times New Roman" panose="02020603050405020304" pitchFamily="18" charset="0"/>
                <a:sym typeface="Monotype Sorts" pitchFamily="2" charset="2"/>
              </a:rPr>
              <a:t>。</a:t>
            </a:r>
          </a:p>
          <a:p>
            <a:pPr marL="609600" indent="-609600" eaLnBrk="1" hangingPunct="1">
              <a:lnSpc>
                <a:spcPct val="120000"/>
              </a:lnSpc>
            </a:pPr>
            <a:r>
              <a:rPr lang="en-US" altLang="zh-CN" sz="2800">
                <a:latin typeface="Times New Roman" panose="02020603050405020304" pitchFamily="18" charset="0"/>
                <a:sym typeface="Monotype Sorts" pitchFamily="2" charset="2"/>
              </a:rPr>
              <a:t>2000</a:t>
            </a:r>
            <a:r>
              <a:rPr lang="zh-CN" altLang="en-US" sz="2800">
                <a:latin typeface="Times New Roman" panose="02020603050405020304" pitchFamily="18" charset="0"/>
                <a:sym typeface="Monotype Sorts" pitchFamily="2" charset="2"/>
              </a:rPr>
              <a:t>年</a:t>
            </a:r>
            <a:r>
              <a:rPr lang="en-US" altLang="zh-CN" sz="2800">
                <a:latin typeface="Times New Roman" panose="02020603050405020304" pitchFamily="18" charset="0"/>
                <a:sym typeface="Monotype Sorts" pitchFamily="2" charset="2"/>
              </a:rPr>
              <a:t>10</a:t>
            </a:r>
            <a:r>
              <a:rPr lang="zh-CN" altLang="en-US" sz="2800">
                <a:latin typeface="Times New Roman" panose="02020603050405020304" pitchFamily="18" charset="0"/>
                <a:sym typeface="Monotype Sorts" pitchFamily="2" charset="2"/>
              </a:rPr>
              <a:t>月</a:t>
            </a:r>
            <a:r>
              <a:rPr lang="en-US" altLang="zh-CN" sz="2800">
                <a:latin typeface="Times New Roman" panose="02020603050405020304" pitchFamily="18" charset="0"/>
                <a:sym typeface="Monotype Sorts" pitchFamily="2" charset="2"/>
              </a:rPr>
              <a:t>2</a:t>
            </a:r>
            <a:r>
              <a:rPr lang="zh-CN" altLang="en-US" sz="2800">
                <a:latin typeface="Times New Roman" panose="02020603050405020304" pitchFamily="18" charset="0"/>
                <a:sym typeface="Monotype Sorts" pitchFamily="2" charset="2"/>
              </a:rPr>
              <a:t>日，</a:t>
            </a:r>
            <a:r>
              <a:rPr lang="en-US" altLang="zh-CN" sz="2800">
                <a:latin typeface="Times New Roman" panose="02020603050405020304" pitchFamily="18" charset="0"/>
                <a:sym typeface="Monotype Sorts" pitchFamily="2" charset="2"/>
              </a:rPr>
              <a:t>NIST</a:t>
            </a:r>
            <a:r>
              <a:rPr lang="zh-CN" altLang="en-US" sz="2800">
                <a:latin typeface="Times New Roman" panose="02020603050405020304" pitchFamily="18" charset="0"/>
                <a:sym typeface="Monotype Sorts" pitchFamily="2" charset="2"/>
              </a:rPr>
              <a:t>宣布</a:t>
            </a:r>
            <a:r>
              <a:rPr lang="en-US" altLang="zh-CN" sz="2800" u="sng">
                <a:latin typeface="Times New Roman" panose="02020603050405020304" pitchFamily="18" charset="0"/>
                <a:sym typeface="Monotype Sorts" pitchFamily="2" charset="2"/>
              </a:rPr>
              <a:t>Rijndael</a:t>
            </a:r>
            <a:r>
              <a:rPr lang="zh-CN" altLang="en-US" sz="2800" u="sng">
                <a:latin typeface="Times New Roman" panose="02020603050405020304" pitchFamily="18" charset="0"/>
                <a:sym typeface="Monotype Sorts" pitchFamily="2" charset="2"/>
              </a:rPr>
              <a:t>作为新的</a:t>
            </a:r>
            <a:r>
              <a:rPr lang="en-US" altLang="zh-CN" sz="2800" u="sng">
                <a:latin typeface="Times New Roman" panose="02020603050405020304" pitchFamily="18" charset="0"/>
                <a:sym typeface="Monotype Sorts" pitchFamily="2" charset="2"/>
              </a:rPr>
              <a:t>AES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8225" name="Rectangle 2">
            <a:extLst>
              <a:ext uri="{FF2B5EF4-FFF2-40B4-BE49-F238E27FC236}">
                <a16:creationId xmlns:a16="http://schemas.microsoft.com/office/drawing/2014/main" id="{8CDE4A0E-9D75-FC49-A16F-1EEBE3D72D7D}"/>
              </a:ext>
            </a:extLst>
          </p:cNvPr>
          <p:cNvSpPr>
            <a:spLocks noGrp="1" noChangeArrowheads="1"/>
          </p:cNvSpPr>
          <p:nvPr>
            <p:ph type="title"/>
          </p:nvPr>
        </p:nvSpPr>
        <p:spPr>
          <a:xfrm>
            <a:off x="1465263" y="365125"/>
            <a:ext cx="9037637" cy="668338"/>
          </a:xfrm>
        </p:spPr>
        <p:txBody>
          <a:bodyPr/>
          <a:lstStyle/>
          <a:p>
            <a:pPr eaLnBrk="1" hangingPunct="1"/>
            <a:r>
              <a:rPr lang="en-US" altLang="zh-CN">
                <a:solidFill>
                  <a:schemeClr val="hlink"/>
                </a:solidFill>
              </a:rPr>
              <a:t>AES</a:t>
            </a:r>
            <a:r>
              <a:rPr lang="zh-CN" altLang="en-US">
                <a:solidFill>
                  <a:schemeClr val="hlink"/>
                </a:solidFill>
              </a:rPr>
              <a:t>算法设计思想</a:t>
            </a:r>
          </a:p>
        </p:txBody>
      </p:sp>
      <p:sp>
        <p:nvSpPr>
          <p:cNvPr id="308226" name="Rectangle 3">
            <a:extLst>
              <a:ext uri="{FF2B5EF4-FFF2-40B4-BE49-F238E27FC236}">
                <a16:creationId xmlns:a16="http://schemas.microsoft.com/office/drawing/2014/main" id="{6A50AF1F-4CAA-074D-87A1-40FFC6FE2C47}"/>
              </a:ext>
            </a:extLst>
          </p:cNvPr>
          <p:cNvSpPr>
            <a:spLocks noGrp="1" noChangeArrowheads="1"/>
          </p:cNvSpPr>
          <p:nvPr>
            <p:ph idx="1"/>
          </p:nvPr>
        </p:nvSpPr>
        <p:spPr>
          <a:xfrm>
            <a:off x="1465263" y="1371600"/>
            <a:ext cx="10515600" cy="4579938"/>
          </a:xfrm>
        </p:spPr>
        <p:txBody>
          <a:bodyPr/>
          <a:lstStyle/>
          <a:p>
            <a:pPr eaLnBrk="1" hangingPunct="1">
              <a:lnSpc>
                <a:spcPct val="120000"/>
              </a:lnSpc>
            </a:pPr>
            <a:r>
              <a:rPr lang="zh-CN" altLang="en-US" sz="2800" dirty="0"/>
              <a:t>设计简单</a:t>
            </a:r>
          </a:p>
          <a:p>
            <a:pPr eaLnBrk="1" hangingPunct="1">
              <a:lnSpc>
                <a:spcPct val="120000"/>
              </a:lnSpc>
            </a:pPr>
            <a:r>
              <a:rPr lang="zh-CN" altLang="en-US" sz="2800" dirty="0"/>
              <a:t>在多个平台上速度快，编码紧凑</a:t>
            </a:r>
          </a:p>
          <a:p>
            <a:pPr eaLnBrk="1" hangingPunct="1">
              <a:lnSpc>
                <a:spcPct val="120000"/>
              </a:lnSpc>
            </a:pPr>
            <a:r>
              <a:rPr lang="zh-CN" altLang="en-US" sz="2800" dirty="0"/>
              <a:t>抵抗所有已知的攻击</a:t>
            </a:r>
          </a:p>
          <a:p>
            <a:pPr eaLnBrk="1" hangingPunct="1">
              <a:lnSpc>
                <a:spcPct val="120000"/>
              </a:lnSpc>
            </a:pPr>
            <a:r>
              <a:rPr lang="en-US" altLang="zh-CN" sz="2800" dirty="0" err="1"/>
              <a:t>Rijndael</a:t>
            </a:r>
            <a:r>
              <a:rPr lang="zh-CN" altLang="en-US" sz="2800" u="sng" dirty="0"/>
              <a:t>没有采用</a:t>
            </a:r>
            <a:r>
              <a:rPr lang="en-US" altLang="zh-CN" sz="2800" u="sng" dirty="0"/>
              <a:t>Feistel</a:t>
            </a:r>
            <a:r>
              <a:rPr lang="zh-CN" altLang="en-US" sz="2800" u="sng" dirty="0"/>
              <a:t>结构</a:t>
            </a:r>
            <a:r>
              <a:rPr lang="zh-CN" altLang="en-US" sz="2800" dirty="0"/>
              <a:t>，</a:t>
            </a:r>
            <a:r>
              <a:rPr lang="zh-CN" altLang="en-US" sz="2800" u="sng" dirty="0"/>
              <a:t>轮函数由</a:t>
            </a:r>
            <a:r>
              <a:rPr lang="en-US" altLang="zh-CN" sz="2800" u="sng" dirty="0"/>
              <a:t>3</a:t>
            </a:r>
            <a:r>
              <a:rPr lang="zh-CN" altLang="en-US" sz="2800" u="sng" dirty="0"/>
              <a:t>个不同的可逆均匀变换构成的，称为</a:t>
            </a:r>
            <a:r>
              <a:rPr lang="en-US" altLang="zh-CN" sz="2800" u="sng" dirty="0"/>
              <a:t>3</a:t>
            </a:r>
            <a:r>
              <a:rPr lang="zh-CN" altLang="en-US" sz="2800" u="sng" dirty="0"/>
              <a:t>个层</a:t>
            </a:r>
          </a:p>
          <a:p>
            <a:pPr lvl="1" eaLnBrk="1" hangingPunct="1">
              <a:lnSpc>
                <a:spcPct val="120000"/>
              </a:lnSpc>
            </a:pPr>
            <a:r>
              <a:rPr lang="zh-CN" altLang="en-US" sz="2400" dirty="0"/>
              <a:t>均匀变换是指状态的每个</a:t>
            </a:r>
            <a:r>
              <a:rPr lang="en-US" altLang="zh-CN" sz="2400" dirty="0"/>
              <a:t>bit</a:t>
            </a:r>
            <a:r>
              <a:rPr lang="zh-CN" altLang="en-US" sz="2400" dirty="0"/>
              <a:t>都用类似的方法处理</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0273" name="Rectangle 2">
            <a:extLst>
              <a:ext uri="{FF2B5EF4-FFF2-40B4-BE49-F238E27FC236}">
                <a16:creationId xmlns:a16="http://schemas.microsoft.com/office/drawing/2014/main" id="{467016DA-93B9-8D42-8589-136C48F00C6C}"/>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轮函数的</a:t>
            </a:r>
            <a:r>
              <a:rPr lang="en-US" altLang="zh-CN">
                <a:solidFill>
                  <a:schemeClr val="hlink"/>
                </a:solidFill>
              </a:rPr>
              <a:t>3</a:t>
            </a:r>
            <a:r>
              <a:rPr lang="zh-CN" altLang="en-US">
                <a:solidFill>
                  <a:schemeClr val="hlink"/>
                </a:solidFill>
              </a:rPr>
              <a:t>层</a:t>
            </a:r>
          </a:p>
        </p:txBody>
      </p:sp>
      <p:sp>
        <p:nvSpPr>
          <p:cNvPr id="310274" name="Rectangle 3">
            <a:extLst>
              <a:ext uri="{FF2B5EF4-FFF2-40B4-BE49-F238E27FC236}">
                <a16:creationId xmlns:a16="http://schemas.microsoft.com/office/drawing/2014/main" id="{04E48081-0917-A24B-8768-D965A98682B1}"/>
              </a:ext>
            </a:extLst>
          </p:cNvPr>
          <p:cNvSpPr>
            <a:spLocks noGrp="1" noChangeArrowheads="1"/>
          </p:cNvSpPr>
          <p:nvPr>
            <p:ph idx="1"/>
          </p:nvPr>
        </p:nvSpPr>
        <p:spPr>
          <a:xfrm>
            <a:off x="1066800" y="1371600"/>
            <a:ext cx="10515600" cy="4579938"/>
          </a:xfrm>
        </p:spPr>
        <p:txBody>
          <a:bodyPr/>
          <a:lstStyle/>
          <a:p>
            <a:pPr eaLnBrk="1" hangingPunct="1">
              <a:lnSpc>
                <a:spcPct val="120000"/>
              </a:lnSpc>
            </a:pPr>
            <a:r>
              <a:rPr lang="zh-CN" altLang="en-US" sz="2800"/>
              <a:t>线性混合层</a:t>
            </a:r>
          </a:p>
          <a:p>
            <a:pPr lvl="1" eaLnBrk="1" hangingPunct="1">
              <a:lnSpc>
                <a:spcPct val="120000"/>
              </a:lnSpc>
            </a:pPr>
            <a:r>
              <a:rPr lang="zh-CN" altLang="en-US" sz="2400"/>
              <a:t>确保多轮之上的</a:t>
            </a:r>
            <a:r>
              <a:rPr lang="zh-CN" altLang="en-US" sz="2400" u="sng"/>
              <a:t>高度扩散</a:t>
            </a:r>
            <a:r>
              <a:rPr lang="zh-CN" altLang="en-US" sz="2400"/>
              <a:t>；</a:t>
            </a:r>
          </a:p>
          <a:p>
            <a:pPr eaLnBrk="1" hangingPunct="1">
              <a:lnSpc>
                <a:spcPct val="120000"/>
              </a:lnSpc>
            </a:pPr>
            <a:r>
              <a:rPr lang="zh-CN" altLang="en-US" sz="2800"/>
              <a:t>非线性层</a:t>
            </a:r>
          </a:p>
          <a:p>
            <a:pPr lvl="1" eaLnBrk="1" hangingPunct="1">
              <a:lnSpc>
                <a:spcPct val="120000"/>
              </a:lnSpc>
            </a:pPr>
            <a:r>
              <a:rPr lang="zh-CN" altLang="en-US" sz="2400"/>
              <a:t>将具有最优的</a:t>
            </a:r>
            <a:r>
              <a:rPr lang="zh-CN" altLang="en-US" sz="2400">
                <a:latin typeface="Arial" panose="020B0604020202020204" pitchFamily="34" charset="0"/>
              </a:rPr>
              <a:t>“</a:t>
            </a:r>
            <a:r>
              <a:rPr lang="zh-CN" altLang="en-US" sz="2400"/>
              <a:t>最坏情况非线性特性</a:t>
            </a:r>
            <a:r>
              <a:rPr lang="zh-CN" altLang="en-US" sz="2400">
                <a:latin typeface="Arial" panose="020B0604020202020204" pitchFamily="34" charset="0"/>
              </a:rPr>
              <a:t>”</a:t>
            </a:r>
            <a:r>
              <a:rPr lang="zh-CN" altLang="en-US" sz="2400"/>
              <a:t>的</a:t>
            </a:r>
            <a:r>
              <a:rPr lang="en-US" altLang="zh-CN" sz="2400"/>
              <a:t>S</a:t>
            </a:r>
            <a:r>
              <a:rPr lang="zh-CN" altLang="en-US" sz="2400"/>
              <a:t>盒并行使用，</a:t>
            </a:r>
            <a:r>
              <a:rPr lang="zh-CN" altLang="en-US" sz="2400" u="sng"/>
              <a:t>确保混淆特性</a:t>
            </a:r>
            <a:r>
              <a:rPr lang="zh-CN" altLang="en-US" sz="2400"/>
              <a:t>；</a:t>
            </a:r>
          </a:p>
          <a:p>
            <a:pPr eaLnBrk="1" hangingPunct="1">
              <a:lnSpc>
                <a:spcPct val="120000"/>
              </a:lnSpc>
            </a:pPr>
            <a:r>
              <a:rPr lang="zh-CN" altLang="en-US" sz="2800"/>
              <a:t>密钥加层</a:t>
            </a:r>
          </a:p>
          <a:p>
            <a:pPr lvl="1" eaLnBrk="1" hangingPunct="1">
              <a:lnSpc>
                <a:spcPct val="120000"/>
              </a:lnSpc>
            </a:pPr>
            <a:r>
              <a:rPr lang="zh-CN" altLang="en-US" sz="2400"/>
              <a:t>单轮子密钥简单的异或到中间状态上，</a:t>
            </a:r>
            <a:r>
              <a:rPr lang="zh-CN" altLang="en-US" sz="2400" u="sng"/>
              <a:t>实现一次性掩盖</a:t>
            </a:r>
            <a:r>
              <a:rPr lang="zh-CN" altLang="en-US" sz="2400"/>
              <a: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2321" name="Rectangle 2">
            <a:extLst>
              <a:ext uri="{FF2B5EF4-FFF2-40B4-BE49-F238E27FC236}">
                <a16:creationId xmlns:a16="http://schemas.microsoft.com/office/drawing/2014/main" id="{AD0F826A-F714-6749-861F-CAFDF56B3388}"/>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算法说明</a:t>
            </a:r>
          </a:p>
        </p:txBody>
      </p:sp>
      <p:sp>
        <p:nvSpPr>
          <p:cNvPr id="312322" name="Rectangle 3">
            <a:extLst>
              <a:ext uri="{FF2B5EF4-FFF2-40B4-BE49-F238E27FC236}">
                <a16:creationId xmlns:a16="http://schemas.microsoft.com/office/drawing/2014/main" id="{F0B00759-BA93-E74E-8B7C-D513E11DB043}"/>
              </a:ext>
            </a:extLst>
          </p:cNvPr>
          <p:cNvSpPr>
            <a:spLocks noGrp="1" noChangeArrowheads="1"/>
          </p:cNvSpPr>
          <p:nvPr>
            <p:ph idx="1"/>
          </p:nvPr>
        </p:nvSpPr>
        <p:spPr>
          <a:xfrm>
            <a:off x="947738" y="1371600"/>
            <a:ext cx="10072687" cy="4579938"/>
          </a:xfrm>
        </p:spPr>
        <p:txBody>
          <a:bodyPr/>
          <a:lstStyle/>
          <a:p>
            <a:pPr eaLnBrk="1" hangingPunct="1">
              <a:lnSpc>
                <a:spcPct val="120000"/>
              </a:lnSpc>
            </a:pPr>
            <a:r>
              <a:rPr lang="en-US" altLang="zh-CN" sz="2800" u="sng" dirty="0" err="1">
                <a:latin typeface="Times New Roman" panose="02020603050405020304" pitchFamily="18" charset="0"/>
              </a:rPr>
              <a:t>Rijndael</a:t>
            </a:r>
            <a:r>
              <a:rPr lang="zh-CN" altLang="en-US" sz="2800" u="sng" dirty="0">
                <a:latin typeface="Times New Roman" panose="02020603050405020304" pitchFamily="18" charset="0"/>
              </a:rPr>
              <a:t>明文分组可变</a:t>
            </a:r>
            <a:r>
              <a:rPr lang="zh-CN" altLang="en-US" sz="2800" dirty="0">
                <a:latin typeface="Times New Roman" panose="02020603050405020304" pitchFamily="18" charset="0"/>
              </a:rPr>
              <a:t>，</a:t>
            </a:r>
            <a:r>
              <a:rPr lang="en-US" altLang="zh-CN" sz="2800" dirty="0">
                <a:latin typeface="Times New Roman" panose="02020603050405020304" pitchFamily="18" charset="0"/>
              </a:rPr>
              <a:t>128</a:t>
            </a:r>
            <a:r>
              <a:rPr lang="zh-CN" altLang="en-US" sz="2800" dirty="0">
                <a:latin typeface="Times New Roman" panose="02020603050405020304" pitchFamily="18" charset="0"/>
              </a:rPr>
              <a:t>、</a:t>
            </a:r>
            <a:r>
              <a:rPr lang="en-US" altLang="zh-CN" sz="2800" dirty="0">
                <a:latin typeface="Times New Roman" panose="02020603050405020304" pitchFamily="18" charset="0"/>
              </a:rPr>
              <a:t>192</a:t>
            </a:r>
            <a:r>
              <a:rPr lang="zh-CN" altLang="en-US" sz="2800" dirty="0">
                <a:latin typeface="Times New Roman" panose="02020603050405020304" pitchFamily="18" charset="0"/>
              </a:rPr>
              <a:t>、</a:t>
            </a:r>
            <a:r>
              <a:rPr lang="en-US" altLang="zh-CN" sz="2800" dirty="0">
                <a:latin typeface="Times New Roman" panose="02020603050405020304" pitchFamily="18" charset="0"/>
              </a:rPr>
              <a:t>256</a:t>
            </a:r>
            <a:r>
              <a:rPr lang="zh-CN" altLang="en-US" sz="2800" dirty="0">
                <a:latin typeface="Times New Roman" panose="02020603050405020304" pitchFamily="18" charset="0"/>
              </a:rPr>
              <a:t>比特</a:t>
            </a:r>
            <a:endParaRPr lang="en-US" altLang="zh-CN" sz="2800" dirty="0">
              <a:latin typeface="Times New Roman" panose="02020603050405020304" pitchFamily="18" charset="0"/>
            </a:endParaRPr>
          </a:p>
          <a:p>
            <a:pPr eaLnBrk="1" hangingPunct="1">
              <a:lnSpc>
                <a:spcPct val="120000"/>
              </a:lnSpc>
            </a:pPr>
            <a:r>
              <a:rPr lang="en-US" altLang="zh-CN" sz="2800" u="sng" dirty="0">
                <a:latin typeface="Times New Roman" panose="02020603050405020304" pitchFamily="18" charset="0"/>
              </a:rPr>
              <a:t>AES</a:t>
            </a:r>
            <a:r>
              <a:rPr lang="zh-CN" altLang="en-US" sz="2800" u="sng" dirty="0">
                <a:latin typeface="Times New Roman" panose="02020603050405020304" pitchFamily="18" charset="0"/>
              </a:rPr>
              <a:t>明文分组固定为</a:t>
            </a:r>
            <a:r>
              <a:rPr lang="en-US" altLang="zh-CN" sz="2800" dirty="0">
                <a:latin typeface="Times New Roman" panose="02020603050405020304" pitchFamily="18" charset="0"/>
              </a:rPr>
              <a:t>128</a:t>
            </a:r>
            <a:r>
              <a:rPr lang="zh-CN" altLang="en-US" sz="2800" dirty="0">
                <a:latin typeface="Times New Roman" panose="02020603050405020304" pitchFamily="18" charset="0"/>
              </a:rPr>
              <a:t>比特</a:t>
            </a:r>
            <a:endParaRPr lang="en-US" altLang="zh-CN" sz="2800" dirty="0">
              <a:latin typeface="Times New Roman" panose="02020603050405020304" pitchFamily="18" charset="0"/>
            </a:endParaRPr>
          </a:p>
          <a:p>
            <a:pPr eaLnBrk="1" hangingPunct="1">
              <a:lnSpc>
                <a:spcPct val="120000"/>
              </a:lnSpc>
            </a:pPr>
            <a:r>
              <a:rPr lang="zh-CN" altLang="en-US" sz="2800" u="sng" dirty="0">
                <a:latin typeface="Times New Roman" panose="02020603050405020304" pitchFamily="18" charset="0"/>
              </a:rPr>
              <a:t>密钥长度可变</a:t>
            </a:r>
            <a:r>
              <a:rPr lang="zh-CN" altLang="en-US" sz="2800" dirty="0">
                <a:latin typeface="Times New Roman" panose="02020603050405020304" pitchFamily="18" charset="0"/>
              </a:rPr>
              <a:t>，各自可独立指定为</a:t>
            </a:r>
            <a:r>
              <a:rPr lang="en-US" altLang="zh-CN" sz="2800" dirty="0">
                <a:latin typeface="Times New Roman" panose="02020603050405020304" pitchFamily="18" charset="0"/>
              </a:rPr>
              <a:t>128</a:t>
            </a:r>
            <a:r>
              <a:rPr lang="zh-CN" altLang="en-US" sz="2800" dirty="0">
                <a:latin typeface="Times New Roman" panose="02020603050405020304" pitchFamily="18" charset="0"/>
              </a:rPr>
              <a:t>、</a:t>
            </a:r>
            <a:r>
              <a:rPr lang="en-US" altLang="zh-CN" sz="2800" dirty="0">
                <a:latin typeface="Times New Roman" panose="02020603050405020304" pitchFamily="18" charset="0"/>
              </a:rPr>
              <a:t>192</a:t>
            </a:r>
            <a:r>
              <a:rPr lang="zh-CN" altLang="en-US" sz="2800" dirty="0">
                <a:latin typeface="Times New Roman" panose="02020603050405020304" pitchFamily="18" charset="0"/>
              </a:rPr>
              <a:t>、</a:t>
            </a:r>
            <a:r>
              <a:rPr lang="en-US" altLang="zh-CN" sz="2800" dirty="0">
                <a:latin typeface="Times New Roman" panose="02020603050405020304" pitchFamily="18" charset="0"/>
              </a:rPr>
              <a:t>256</a:t>
            </a:r>
            <a:r>
              <a:rPr lang="zh-CN" altLang="en-US" sz="2800" dirty="0">
                <a:latin typeface="Times New Roman" panose="02020603050405020304" pitchFamily="18" charset="0"/>
              </a:rPr>
              <a:t>比特。</a:t>
            </a:r>
          </a:p>
          <a:p>
            <a:pPr eaLnBrk="1" hangingPunct="1">
              <a:lnSpc>
                <a:spcPct val="120000"/>
              </a:lnSpc>
            </a:pPr>
            <a:r>
              <a:rPr lang="zh-CN" altLang="en-US" sz="2800" dirty="0">
                <a:latin typeface="Times New Roman" panose="02020603050405020304" pitchFamily="18" charset="0"/>
              </a:rPr>
              <a:t>状态</a:t>
            </a:r>
          </a:p>
          <a:p>
            <a:pPr lvl="1" eaLnBrk="1" hangingPunct="1">
              <a:lnSpc>
                <a:spcPct val="120000"/>
              </a:lnSpc>
            </a:pPr>
            <a:r>
              <a:rPr lang="zh-CN" altLang="en-US" sz="2400" dirty="0">
                <a:latin typeface="Times New Roman" panose="02020603050405020304" pitchFamily="18" charset="0"/>
              </a:rPr>
              <a:t>算法</a:t>
            </a:r>
            <a:r>
              <a:rPr lang="zh-CN" altLang="en-US" sz="2400" u="sng" dirty="0">
                <a:latin typeface="Times New Roman" panose="02020603050405020304" pitchFamily="18" charset="0"/>
              </a:rPr>
              <a:t>中间的结果也需要分组</a:t>
            </a:r>
            <a:r>
              <a:rPr lang="zh-CN" altLang="en-US" sz="2400" dirty="0">
                <a:latin typeface="Times New Roman" panose="02020603050405020304" pitchFamily="18" charset="0"/>
              </a:rPr>
              <a:t>，称之为状态，状态可以用以字节为元素的矩阵阵列表示，该阵列有</a:t>
            </a:r>
            <a:r>
              <a:rPr lang="en-US" altLang="zh-CN" sz="2400" dirty="0">
                <a:latin typeface="Times New Roman" panose="02020603050405020304" pitchFamily="18" charset="0"/>
              </a:rPr>
              <a:t>4</a:t>
            </a:r>
            <a:r>
              <a:rPr lang="zh-CN" altLang="en-US" sz="2400" dirty="0">
                <a:latin typeface="Times New Roman" panose="02020603050405020304" pitchFamily="18" charset="0"/>
              </a:rPr>
              <a:t>行，列数</a:t>
            </a:r>
            <a:r>
              <a:rPr lang="en-US" altLang="zh-CN" sz="2400" dirty="0">
                <a:latin typeface="Times New Roman" panose="02020603050405020304" pitchFamily="18" charset="0"/>
              </a:rPr>
              <a:t>N</a:t>
            </a:r>
            <a:r>
              <a:rPr lang="en-US" altLang="zh-CN" sz="2400" baseline="-25000" dirty="0">
                <a:latin typeface="Times New Roman" panose="02020603050405020304" pitchFamily="18" charset="0"/>
              </a:rPr>
              <a:t>b</a:t>
            </a:r>
            <a:r>
              <a:rPr lang="zh-CN" altLang="en-US" sz="2400" dirty="0">
                <a:latin typeface="Times New Roman" panose="02020603050405020304" pitchFamily="18" charset="0"/>
              </a:rPr>
              <a:t>为分组长度除</a:t>
            </a:r>
            <a:r>
              <a:rPr lang="en-US" altLang="zh-CN" sz="2400" dirty="0">
                <a:latin typeface="Times New Roman" panose="02020603050405020304" pitchFamily="18" charset="0"/>
              </a:rPr>
              <a:t>32</a:t>
            </a:r>
          </a:p>
          <a:p>
            <a:pPr eaLnBrk="1" hangingPunct="1">
              <a:lnSpc>
                <a:spcPct val="120000"/>
              </a:lnSpc>
            </a:pPr>
            <a:r>
              <a:rPr lang="zh-CN" altLang="en-US" sz="2800" dirty="0">
                <a:latin typeface="Times New Roman" panose="02020603050405020304" pitchFamily="18" charset="0"/>
              </a:rPr>
              <a:t>种子密钥</a:t>
            </a:r>
          </a:p>
          <a:p>
            <a:pPr lvl="1" eaLnBrk="1" hangingPunct="1">
              <a:lnSpc>
                <a:spcPct val="120000"/>
              </a:lnSpc>
            </a:pPr>
            <a:r>
              <a:rPr lang="zh-CN" altLang="en-US" sz="2400" dirty="0">
                <a:latin typeface="Times New Roman" panose="02020603050405020304" pitchFamily="18" charset="0"/>
              </a:rPr>
              <a:t>以字节为元素的</a:t>
            </a:r>
            <a:r>
              <a:rPr lang="zh-CN" altLang="en-US" sz="2400" u="sng" dirty="0">
                <a:latin typeface="Times New Roman" panose="02020603050405020304" pitchFamily="18" charset="0"/>
              </a:rPr>
              <a:t>矩阵阵列</a:t>
            </a:r>
            <a:r>
              <a:rPr lang="zh-CN" altLang="en-US" sz="2400" dirty="0">
                <a:latin typeface="Times New Roman" panose="02020603050405020304" pitchFamily="18" charset="0"/>
              </a:rPr>
              <a:t>描述，阵列为</a:t>
            </a:r>
            <a:r>
              <a:rPr lang="en-US" altLang="zh-CN" sz="2400" dirty="0">
                <a:latin typeface="Times New Roman" panose="02020603050405020304" pitchFamily="18" charset="0"/>
              </a:rPr>
              <a:t>4</a:t>
            </a:r>
            <a:r>
              <a:rPr lang="zh-CN" altLang="en-US" sz="2400" dirty="0">
                <a:latin typeface="Times New Roman" panose="02020603050405020304" pitchFamily="18" charset="0"/>
              </a:rPr>
              <a:t>行，列数</a:t>
            </a:r>
            <a:r>
              <a:rPr lang="en-US" altLang="zh-CN" sz="2400" dirty="0" err="1">
                <a:latin typeface="Times New Roman" panose="02020603050405020304" pitchFamily="18" charset="0"/>
              </a:rPr>
              <a:t>N</a:t>
            </a:r>
            <a:r>
              <a:rPr lang="en-US" altLang="zh-CN" sz="2400" baseline="-25000" dirty="0" err="1">
                <a:latin typeface="Times New Roman" panose="02020603050405020304" pitchFamily="18" charset="0"/>
              </a:rPr>
              <a:t>k</a:t>
            </a:r>
            <a:r>
              <a:rPr lang="zh-CN" altLang="en-US" sz="2400" dirty="0">
                <a:latin typeface="Times New Roman" panose="02020603050405020304" pitchFamily="18" charset="0"/>
              </a:rPr>
              <a:t>为密钥长度除</a:t>
            </a:r>
            <a:r>
              <a:rPr lang="en-US" altLang="zh-CN" sz="2400" dirty="0">
                <a:latin typeface="Times New Roman" panose="02020603050405020304" pitchFamily="18" charset="0"/>
              </a:rPr>
              <a:t>32</a:t>
            </a:r>
          </a:p>
          <a:p>
            <a:pPr eaLnBrk="1" hangingPunct="1">
              <a:lnSpc>
                <a:spcPct val="120000"/>
              </a:lnSpc>
            </a:pPr>
            <a:endParaRPr lang="en-US" altLang="zh-CN" sz="2800" dirty="0">
              <a:latin typeface="Times New Roman" panose="02020603050405020304" pitchFamily="18"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4369" name="Rectangle 2">
            <a:extLst>
              <a:ext uri="{FF2B5EF4-FFF2-40B4-BE49-F238E27FC236}">
                <a16:creationId xmlns:a16="http://schemas.microsoft.com/office/drawing/2014/main" id="{C097F2D8-D823-9141-8215-C05DD449131D}"/>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算法说明</a:t>
            </a:r>
          </a:p>
        </p:txBody>
      </p:sp>
      <p:sp>
        <p:nvSpPr>
          <p:cNvPr id="314370" name="Rectangle 3">
            <a:extLst>
              <a:ext uri="{FF2B5EF4-FFF2-40B4-BE49-F238E27FC236}">
                <a16:creationId xmlns:a16="http://schemas.microsoft.com/office/drawing/2014/main" id="{6E3CFF1A-561A-5843-B404-8F9C05168EB0}"/>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sz="2800"/>
              <a:t>算法的输入、输出和种子密钥可看成字节组成的一维数组。</a:t>
            </a:r>
          </a:p>
          <a:p>
            <a:pPr eaLnBrk="1" hangingPunct="1">
              <a:lnSpc>
                <a:spcPct val="120000"/>
              </a:lnSpc>
            </a:pPr>
            <a:r>
              <a:rPr lang="zh-CN" altLang="en-US" sz="2800"/>
              <a:t>下标范围</a:t>
            </a:r>
          </a:p>
          <a:p>
            <a:pPr lvl="1" eaLnBrk="1" hangingPunct="1">
              <a:lnSpc>
                <a:spcPct val="120000"/>
              </a:lnSpc>
            </a:pPr>
            <a:r>
              <a:rPr lang="zh-CN" altLang="en-US" sz="2400">
                <a:latin typeface="Times New Roman" panose="02020603050405020304" pitchFamily="18" charset="0"/>
              </a:rPr>
              <a:t>输入输出：</a:t>
            </a:r>
            <a:r>
              <a:rPr lang="en-US" altLang="zh-CN" sz="2400">
                <a:latin typeface="Times New Roman" panose="02020603050405020304" pitchFamily="18" charset="0"/>
              </a:rPr>
              <a:t>0</a:t>
            </a:r>
            <a:r>
              <a:rPr lang="zh-CN" altLang="en-US" sz="2400">
                <a:latin typeface="Times New Roman" panose="02020603050405020304" pitchFamily="18" charset="0"/>
              </a:rPr>
              <a:t>－</a:t>
            </a:r>
            <a:r>
              <a:rPr lang="en-US" altLang="zh-CN" sz="2400">
                <a:latin typeface="Times New Roman" panose="02020603050405020304" pitchFamily="18" charset="0"/>
              </a:rPr>
              <a:t>4N</a:t>
            </a:r>
            <a:r>
              <a:rPr lang="en-US" altLang="zh-CN" sz="2400" baseline="-25000">
                <a:latin typeface="Times New Roman" panose="02020603050405020304" pitchFamily="18" charset="0"/>
              </a:rPr>
              <a:t>b</a:t>
            </a:r>
            <a:r>
              <a:rPr lang="en-US" altLang="zh-CN" sz="2400">
                <a:latin typeface="Times New Roman" panose="02020603050405020304" pitchFamily="18" charset="0"/>
              </a:rPr>
              <a:t>-1</a:t>
            </a:r>
            <a:endParaRPr lang="zh-CN" altLang="en-US" sz="2400">
              <a:latin typeface="Times New Roman" panose="02020603050405020304" pitchFamily="18" charset="0"/>
            </a:endParaRPr>
          </a:p>
          <a:p>
            <a:pPr lvl="1" eaLnBrk="1" hangingPunct="1">
              <a:lnSpc>
                <a:spcPct val="120000"/>
              </a:lnSpc>
            </a:pPr>
            <a:r>
              <a:rPr lang="zh-CN" altLang="en-US" sz="2400">
                <a:latin typeface="Times New Roman" panose="02020603050405020304" pitchFamily="18" charset="0"/>
              </a:rPr>
              <a:t>种子密钥：</a:t>
            </a:r>
            <a:r>
              <a:rPr lang="en-US" altLang="zh-CN" sz="2400">
                <a:latin typeface="Times New Roman" panose="02020603050405020304" pitchFamily="18" charset="0"/>
              </a:rPr>
              <a:t>0</a:t>
            </a:r>
            <a:r>
              <a:rPr lang="zh-CN" altLang="en-US" sz="2400">
                <a:latin typeface="Times New Roman" panose="02020603050405020304" pitchFamily="18" charset="0"/>
              </a:rPr>
              <a:t>－</a:t>
            </a:r>
            <a:r>
              <a:rPr lang="en-US" altLang="zh-CN" sz="2400">
                <a:latin typeface="Times New Roman" panose="02020603050405020304" pitchFamily="18" charset="0"/>
              </a:rPr>
              <a:t>4N</a:t>
            </a:r>
            <a:r>
              <a:rPr lang="en-US" altLang="zh-CN" sz="2400" baseline="-25000">
                <a:latin typeface="Times New Roman" panose="02020603050405020304" pitchFamily="18" charset="0"/>
              </a:rPr>
              <a:t>k</a:t>
            </a:r>
            <a:r>
              <a:rPr lang="en-US" altLang="zh-CN" sz="2400">
                <a:latin typeface="Times New Roman" panose="02020603050405020304" pitchFamily="18" charset="0"/>
              </a:rPr>
              <a:t>-1</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6417" name="Rectangle 2">
            <a:extLst>
              <a:ext uri="{FF2B5EF4-FFF2-40B4-BE49-F238E27FC236}">
                <a16:creationId xmlns:a16="http://schemas.microsoft.com/office/drawing/2014/main" id="{591CCC3A-3C59-6C48-93BA-18AB6277B486}"/>
              </a:ext>
            </a:extLst>
          </p:cNvPr>
          <p:cNvSpPr>
            <a:spLocks noGrp="1" noChangeArrowheads="1"/>
          </p:cNvSpPr>
          <p:nvPr>
            <p:ph type="title"/>
          </p:nvPr>
        </p:nvSpPr>
        <p:spPr>
          <a:xfrm>
            <a:off x="1465263" y="365125"/>
            <a:ext cx="9037637" cy="668338"/>
          </a:xfrm>
        </p:spPr>
        <p:txBody>
          <a:bodyPr/>
          <a:lstStyle/>
          <a:p>
            <a:pPr eaLnBrk="1" hangingPunct="1"/>
            <a:r>
              <a:rPr lang="en-US" altLang="zh-CN">
                <a:solidFill>
                  <a:schemeClr val="hlink"/>
                </a:solidFill>
              </a:rPr>
              <a:t>N</a:t>
            </a:r>
            <a:r>
              <a:rPr lang="en-US" altLang="zh-CN" baseline="-25000">
                <a:solidFill>
                  <a:schemeClr val="hlink"/>
                </a:solidFill>
              </a:rPr>
              <a:t>b</a:t>
            </a:r>
            <a:r>
              <a:rPr lang="en-US" altLang="zh-CN">
                <a:solidFill>
                  <a:schemeClr val="hlink"/>
                </a:solidFill>
              </a:rPr>
              <a:t>=6</a:t>
            </a:r>
            <a:r>
              <a:rPr lang="zh-CN" altLang="en-US">
                <a:solidFill>
                  <a:schemeClr val="hlink"/>
                </a:solidFill>
              </a:rPr>
              <a:t>和</a:t>
            </a:r>
            <a:r>
              <a:rPr lang="en-US" altLang="zh-CN">
                <a:solidFill>
                  <a:schemeClr val="hlink"/>
                </a:solidFill>
              </a:rPr>
              <a:t>N</a:t>
            </a:r>
            <a:r>
              <a:rPr lang="en-US" altLang="zh-CN" baseline="-25000">
                <a:solidFill>
                  <a:schemeClr val="hlink"/>
                </a:solidFill>
              </a:rPr>
              <a:t>k</a:t>
            </a:r>
            <a:r>
              <a:rPr lang="en-US" altLang="zh-CN">
                <a:solidFill>
                  <a:schemeClr val="hlink"/>
                </a:solidFill>
              </a:rPr>
              <a:t>=4</a:t>
            </a:r>
            <a:r>
              <a:rPr lang="zh-CN" altLang="en-US">
                <a:solidFill>
                  <a:schemeClr val="hlink"/>
                </a:solidFill>
              </a:rPr>
              <a:t>的状态密钥阵列</a:t>
            </a:r>
          </a:p>
        </p:txBody>
      </p:sp>
      <p:sp>
        <p:nvSpPr>
          <p:cNvPr id="164868" name="Line 4">
            <a:extLst>
              <a:ext uri="{FF2B5EF4-FFF2-40B4-BE49-F238E27FC236}">
                <a16:creationId xmlns:a16="http://schemas.microsoft.com/office/drawing/2014/main" id="{702CA1DA-D70A-C449-AFB0-9F0B31ED3198}"/>
              </a:ext>
            </a:extLst>
          </p:cNvPr>
          <p:cNvSpPr>
            <a:spLocks noChangeShapeType="1"/>
          </p:cNvSpPr>
          <p:nvPr/>
        </p:nvSpPr>
        <p:spPr bwMode="auto">
          <a:xfrm>
            <a:off x="1814513"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69" name="Line 5">
            <a:extLst>
              <a:ext uri="{FF2B5EF4-FFF2-40B4-BE49-F238E27FC236}">
                <a16:creationId xmlns:a16="http://schemas.microsoft.com/office/drawing/2014/main" id="{48EE444C-CE41-D24D-8B8B-50337C0E8D82}"/>
              </a:ext>
            </a:extLst>
          </p:cNvPr>
          <p:cNvSpPr>
            <a:spLocks noChangeShapeType="1"/>
          </p:cNvSpPr>
          <p:nvPr/>
        </p:nvSpPr>
        <p:spPr bwMode="auto">
          <a:xfrm flipV="1">
            <a:off x="1814513" y="1905000"/>
            <a:ext cx="792162"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64870" name="Line 6">
            <a:extLst>
              <a:ext uri="{FF2B5EF4-FFF2-40B4-BE49-F238E27FC236}">
                <a16:creationId xmlns:a16="http://schemas.microsoft.com/office/drawing/2014/main" id="{A004E62E-14D7-DE43-ACE4-7BB79D1A34F2}"/>
              </a:ext>
            </a:extLst>
          </p:cNvPr>
          <p:cNvSpPr>
            <a:spLocks noChangeShapeType="1"/>
          </p:cNvSpPr>
          <p:nvPr/>
        </p:nvSpPr>
        <p:spPr bwMode="auto">
          <a:xfrm>
            <a:off x="2606675"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71" name="Line 7">
            <a:extLst>
              <a:ext uri="{FF2B5EF4-FFF2-40B4-BE49-F238E27FC236}">
                <a16:creationId xmlns:a16="http://schemas.microsoft.com/office/drawing/2014/main" id="{FB5F48DF-A0B0-A54A-B707-F584B5162589}"/>
              </a:ext>
            </a:extLst>
          </p:cNvPr>
          <p:cNvSpPr>
            <a:spLocks noChangeShapeType="1"/>
          </p:cNvSpPr>
          <p:nvPr/>
        </p:nvSpPr>
        <p:spPr bwMode="auto">
          <a:xfrm flipV="1">
            <a:off x="2606675" y="1905000"/>
            <a:ext cx="792163"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64872" name="Line 8">
            <a:extLst>
              <a:ext uri="{FF2B5EF4-FFF2-40B4-BE49-F238E27FC236}">
                <a16:creationId xmlns:a16="http://schemas.microsoft.com/office/drawing/2014/main" id="{518D664A-6B91-BA42-8FA1-55A16B11832E}"/>
              </a:ext>
            </a:extLst>
          </p:cNvPr>
          <p:cNvSpPr>
            <a:spLocks noChangeShapeType="1"/>
          </p:cNvSpPr>
          <p:nvPr/>
        </p:nvSpPr>
        <p:spPr bwMode="auto">
          <a:xfrm>
            <a:off x="3398838"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73" name="Line 9">
            <a:extLst>
              <a:ext uri="{FF2B5EF4-FFF2-40B4-BE49-F238E27FC236}">
                <a16:creationId xmlns:a16="http://schemas.microsoft.com/office/drawing/2014/main" id="{31666A5C-83A6-EE4E-9EAD-06A70FBD12DC}"/>
              </a:ext>
            </a:extLst>
          </p:cNvPr>
          <p:cNvSpPr>
            <a:spLocks noChangeShapeType="1"/>
          </p:cNvSpPr>
          <p:nvPr/>
        </p:nvSpPr>
        <p:spPr bwMode="auto">
          <a:xfrm flipV="1">
            <a:off x="3398838" y="1905000"/>
            <a:ext cx="792162"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64874" name="Line 10">
            <a:extLst>
              <a:ext uri="{FF2B5EF4-FFF2-40B4-BE49-F238E27FC236}">
                <a16:creationId xmlns:a16="http://schemas.microsoft.com/office/drawing/2014/main" id="{AD85DA2F-E843-D44F-B162-261D0E6A56AF}"/>
              </a:ext>
            </a:extLst>
          </p:cNvPr>
          <p:cNvSpPr>
            <a:spLocks noChangeShapeType="1"/>
          </p:cNvSpPr>
          <p:nvPr/>
        </p:nvSpPr>
        <p:spPr bwMode="auto">
          <a:xfrm>
            <a:off x="4191000"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75" name="Line 11">
            <a:extLst>
              <a:ext uri="{FF2B5EF4-FFF2-40B4-BE49-F238E27FC236}">
                <a16:creationId xmlns:a16="http://schemas.microsoft.com/office/drawing/2014/main" id="{B900E88B-4C9B-EB43-9D2E-2E9558F44BEE}"/>
              </a:ext>
            </a:extLst>
          </p:cNvPr>
          <p:cNvSpPr>
            <a:spLocks noChangeShapeType="1"/>
          </p:cNvSpPr>
          <p:nvPr/>
        </p:nvSpPr>
        <p:spPr bwMode="auto">
          <a:xfrm flipV="1">
            <a:off x="4191000" y="1905000"/>
            <a:ext cx="792163"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64876" name="Line 12">
            <a:extLst>
              <a:ext uri="{FF2B5EF4-FFF2-40B4-BE49-F238E27FC236}">
                <a16:creationId xmlns:a16="http://schemas.microsoft.com/office/drawing/2014/main" id="{E5003865-ECB9-D044-9C9B-C968E9AFFCF9}"/>
              </a:ext>
            </a:extLst>
          </p:cNvPr>
          <p:cNvSpPr>
            <a:spLocks noChangeShapeType="1"/>
          </p:cNvSpPr>
          <p:nvPr/>
        </p:nvSpPr>
        <p:spPr bwMode="auto">
          <a:xfrm>
            <a:off x="5775325"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77" name="Line 13">
            <a:extLst>
              <a:ext uri="{FF2B5EF4-FFF2-40B4-BE49-F238E27FC236}">
                <a16:creationId xmlns:a16="http://schemas.microsoft.com/office/drawing/2014/main" id="{CADC3AB5-A9A6-E54C-8511-7F95C57465BB}"/>
              </a:ext>
            </a:extLst>
          </p:cNvPr>
          <p:cNvSpPr>
            <a:spLocks noChangeShapeType="1"/>
          </p:cNvSpPr>
          <p:nvPr/>
        </p:nvSpPr>
        <p:spPr bwMode="auto">
          <a:xfrm>
            <a:off x="4983163"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78" name="Line 14">
            <a:extLst>
              <a:ext uri="{FF2B5EF4-FFF2-40B4-BE49-F238E27FC236}">
                <a16:creationId xmlns:a16="http://schemas.microsoft.com/office/drawing/2014/main" id="{750AE8E8-5075-1F47-92C0-D794EC96AEE7}"/>
              </a:ext>
            </a:extLst>
          </p:cNvPr>
          <p:cNvSpPr>
            <a:spLocks noChangeShapeType="1"/>
          </p:cNvSpPr>
          <p:nvPr/>
        </p:nvSpPr>
        <p:spPr bwMode="auto">
          <a:xfrm flipV="1">
            <a:off x="4983163" y="1905000"/>
            <a:ext cx="792162"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316429" name="Text Box 15">
            <a:extLst>
              <a:ext uri="{FF2B5EF4-FFF2-40B4-BE49-F238E27FC236}">
                <a16:creationId xmlns:a16="http://schemas.microsoft.com/office/drawing/2014/main" id="{A156156A-E94C-9F48-AF00-EF0780F01A1E}"/>
              </a:ext>
            </a:extLst>
          </p:cNvPr>
          <p:cNvSpPr txBox="1">
            <a:spLocks noChangeArrowheads="1"/>
          </p:cNvSpPr>
          <p:nvPr/>
        </p:nvSpPr>
        <p:spPr bwMode="auto">
          <a:xfrm>
            <a:off x="2057400" y="410210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latin typeface="Tahoma" panose="020B0604030504040204" pitchFamily="34" charset="0"/>
              </a:rPr>
              <a:t>按此顺序放入和读出</a:t>
            </a:r>
          </a:p>
        </p:txBody>
      </p:sp>
      <p:sp>
        <p:nvSpPr>
          <p:cNvPr id="164880" name="Line 16">
            <a:extLst>
              <a:ext uri="{FF2B5EF4-FFF2-40B4-BE49-F238E27FC236}">
                <a16:creationId xmlns:a16="http://schemas.microsoft.com/office/drawing/2014/main" id="{596247E4-262A-E541-B3DE-FA74FC4A0191}"/>
              </a:ext>
            </a:extLst>
          </p:cNvPr>
          <p:cNvSpPr>
            <a:spLocks noChangeShapeType="1"/>
          </p:cNvSpPr>
          <p:nvPr/>
        </p:nvSpPr>
        <p:spPr bwMode="auto">
          <a:xfrm>
            <a:off x="8089900"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81" name="Line 17">
            <a:extLst>
              <a:ext uri="{FF2B5EF4-FFF2-40B4-BE49-F238E27FC236}">
                <a16:creationId xmlns:a16="http://schemas.microsoft.com/office/drawing/2014/main" id="{8F8AAA62-D08F-1340-9063-16FC3BC433E0}"/>
              </a:ext>
            </a:extLst>
          </p:cNvPr>
          <p:cNvSpPr>
            <a:spLocks noChangeShapeType="1"/>
          </p:cNvSpPr>
          <p:nvPr/>
        </p:nvSpPr>
        <p:spPr bwMode="auto">
          <a:xfrm flipV="1">
            <a:off x="8089900" y="1905000"/>
            <a:ext cx="792163"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64882" name="Line 18">
            <a:extLst>
              <a:ext uri="{FF2B5EF4-FFF2-40B4-BE49-F238E27FC236}">
                <a16:creationId xmlns:a16="http://schemas.microsoft.com/office/drawing/2014/main" id="{3B177D94-7902-5A4A-9438-E5CAC3F42419}"/>
              </a:ext>
            </a:extLst>
          </p:cNvPr>
          <p:cNvSpPr>
            <a:spLocks noChangeShapeType="1"/>
          </p:cNvSpPr>
          <p:nvPr/>
        </p:nvSpPr>
        <p:spPr bwMode="auto">
          <a:xfrm>
            <a:off x="8882063"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83" name="Line 19">
            <a:extLst>
              <a:ext uri="{FF2B5EF4-FFF2-40B4-BE49-F238E27FC236}">
                <a16:creationId xmlns:a16="http://schemas.microsoft.com/office/drawing/2014/main" id="{038C51A8-3D9A-FE48-8322-B5E571BB6D04}"/>
              </a:ext>
            </a:extLst>
          </p:cNvPr>
          <p:cNvSpPr>
            <a:spLocks noChangeShapeType="1"/>
          </p:cNvSpPr>
          <p:nvPr/>
        </p:nvSpPr>
        <p:spPr bwMode="auto">
          <a:xfrm flipV="1">
            <a:off x="8882063" y="1905000"/>
            <a:ext cx="792162"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64884" name="Line 20">
            <a:extLst>
              <a:ext uri="{FF2B5EF4-FFF2-40B4-BE49-F238E27FC236}">
                <a16:creationId xmlns:a16="http://schemas.microsoft.com/office/drawing/2014/main" id="{8299AF67-9720-724C-8818-B8BE78542076}"/>
              </a:ext>
            </a:extLst>
          </p:cNvPr>
          <p:cNvSpPr>
            <a:spLocks noChangeShapeType="1"/>
          </p:cNvSpPr>
          <p:nvPr/>
        </p:nvSpPr>
        <p:spPr bwMode="auto">
          <a:xfrm>
            <a:off x="9674225"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164885" name="Line 21">
            <a:extLst>
              <a:ext uri="{FF2B5EF4-FFF2-40B4-BE49-F238E27FC236}">
                <a16:creationId xmlns:a16="http://schemas.microsoft.com/office/drawing/2014/main" id="{AF3FAD6B-406D-684E-A69F-14446EDE99A4}"/>
              </a:ext>
            </a:extLst>
          </p:cNvPr>
          <p:cNvSpPr>
            <a:spLocks noChangeShapeType="1"/>
          </p:cNvSpPr>
          <p:nvPr/>
        </p:nvSpPr>
        <p:spPr bwMode="auto">
          <a:xfrm flipV="1">
            <a:off x="9674225" y="1905000"/>
            <a:ext cx="792163" cy="1944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64886" name="Line 22">
            <a:extLst>
              <a:ext uri="{FF2B5EF4-FFF2-40B4-BE49-F238E27FC236}">
                <a16:creationId xmlns:a16="http://schemas.microsoft.com/office/drawing/2014/main" id="{8764DB86-CB6D-934C-B1EC-67D3F2CB79CE}"/>
              </a:ext>
            </a:extLst>
          </p:cNvPr>
          <p:cNvSpPr>
            <a:spLocks noChangeShapeType="1"/>
          </p:cNvSpPr>
          <p:nvPr/>
        </p:nvSpPr>
        <p:spPr bwMode="auto">
          <a:xfrm>
            <a:off x="10466388" y="1905000"/>
            <a:ext cx="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16437" name="Text Box 23">
            <a:extLst>
              <a:ext uri="{FF2B5EF4-FFF2-40B4-BE49-F238E27FC236}">
                <a16:creationId xmlns:a16="http://schemas.microsoft.com/office/drawing/2014/main" id="{86E9D8AB-F89C-4A43-86C6-8B565351D60F}"/>
              </a:ext>
            </a:extLst>
          </p:cNvPr>
          <p:cNvSpPr txBox="1">
            <a:spLocks noChangeArrowheads="1"/>
          </p:cNvSpPr>
          <p:nvPr/>
        </p:nvSpPr>
        <p:spPr bwMode="auto">
          <a:xfrm>
            <a:off x="7729538" y="4027488"/>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zh-CN" altLang="en-US" sz="2400" b="1">
                <a:latin typeface="Tahoma" panose="020B0604030504040204" pitchFamily="34" charset="0"/>
              </a:rPr>
              <a:t>按此顺序放入</a:t>
            </a:r>
          </a:p>
        </p:txBody>
      </p:sp>
      <p:graphicFrame>
        <p:nvGraphicFramePr>
          <p:cNvPr id="3" name="表格 2">
            <a:extLst>
              <a:ext uri="{FF2B5EF4-FFF2-40B4-BE49-F238E27FC236}">
                <a16:creationId xmlns:a16="http://schemas.microsoft.com/office/drawing/2014/main" id="{603774E6-8FC3-DF4C-8698-90A786F15527}"/>
              </a:ext>
            </a:extLst>
          </p:cNvPr>
          <p:cNvGraphicFramePr>
            <a:graphicFrameLocks noGrp="1"/>
          </p:cNvGraphicFramePr>
          <p:nvPr/>
        </p:nvGraphicFramePr>
        <p:xfrm>
          <a:off x="1244600" y="2011363"/>
          <a:ext cx="5080002" cy="1828800"/>
        </p:xfrm>
        <a:graphic>
          <a:graphicData uri="http://schemas.openxmlformats.org/drawingml/2006/table">
            <a:tbl>
              <a:tblPr firstRow="1" bandRow="1">
                <a:tableStyleId>{5C22544A-7EE6-4342-B048-85BDC9FD1C3A}</a:tableStyleId>
              </a:tblPr>
              <a:tblGrid>
                <a:gridCol w="846667">
                  <a:extLst>
                    <a:ext uri="{9D8B030D-6E8A-4147-A177-3AD203B41FA5}">
                      <a16:colId xmlns:a16="http://schemas.microsoft.com/office/drawing/2014/main" val="20000"/>
                    </a:ext>
                  </a:extLst>
                </a:gridCol>
                <a:gridCol w="846667">
                  <a:extLst>
                    <a:ext uri="{9D8B030D-6E8A-4147-A177-3AD203B41FA5}">
                      <a16:colId xmlns:a16="http://schemas.microsoft.com/office/drawing/2014/main" val="20001"/>
                    </a:ext>
                  </a:extLst>
                </a:gridCol>
                <a:gridCol w="846667">
                  <a:extLst>
                    <a:ext uri="{9D8B030D-6E8A-4147-A177-3AD203B41FA5}">
                      <a16:colId xmlns:a16="http://schemas.microsoft.com/office/drawing/2014/main" val="20002"/>
                    </a:ext>
                  </a:extLst>
                </a:gridCol>
                <a:gridCol w="846667">
                  <a:extLst>
                    <a:ext uri="{9D8B030D-6E8A-4147-A177-3AD203B41FA5}">
                      <a16:colId xmlns:a16="http://schemas.microsoft.com/office/drawing/2014/main" val="20003"/>
                    </a:ext>
                  </a:extLst>
                </a:gridCol>
                <a:gridCol w="846667">
                  <a:extLst>
                    <a:ext uri="{9D8B030D-6E8A-4147-A177-3AD203B41FA5}">
                      <a16:colId xmlns:a16="http://schemas.microsoft.com/office/drawing/2014/main" val="20004"/>
                    </a:ext>
                  </a:extLst>
                </a:gridCol>
                <a:gridCol w="846667">
                  <a:extLst>
                    <a:ext uri="{9D8B030D-6E8A-4147-A177-3AD203B41FA5}">
                      <a16:colId xmlns:a16="http://schemas.microsoft.com/office/drawing/2014/main" val="20005"/>
                    </a:ext>
                  </a:extLst>
                </a:gridCol>
              </a:tblGrid>
              <a:tr h="401246">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00</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a</a:t>
                      </a:r>
                      <a:r>
                        <a:rPr lang="en-US" altLang="zh-CN" sz="2400" b="1" baseline="-25000" dirty="0">
                          <a:solidFill>
                            <a:schemeClr val="tx1"/>
                          </a:solidFill>
                          <a:latin typeface="+mn-lt"/>
                        </a:rPr>
                        <a:t>01</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a</a:t>
                      </a:r>
                      <a:r>
                        <a:rPr lang="en-US" altLang="zh-CN" sz="2400" b="1" baseline="-25000" dirty="0">
                          <a:solidFill>
                            <a:schemeClr val="tx1"/>
                          </a:solidFill>
                          <a:latin typeface="+mn-lt"/>
                        </a:rPr>
                        <a:t>02</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03</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04</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05</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a</a:t>
                      </a:r>
                      <a:r>
                        <a:rPr lang="en-US" altLang="zh-CN" sz="2400" b="1" i="0" baseline="-25000" dirty="0">
                          <a:solidFill>
                            <a:schemeClr val="tx1"/>
                          </a:solidFill>
                          <a:latin typeface="+mn-lt"/>
                        </a:rPr>
                        <a:t>10</a:t>
                      </a:r>
                      <a:endParaRPr lang="zh-CN" altLang="en-US" sz="2400" b="1" i="0"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11</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12</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13</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14</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15</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a</a:t>
                      </a:r>
                      <a:r>
                        <a:rPr lang="en-US" altLang="zh-CN" sz="2400" b="1" baseline="-25000" dirty="0">
                          <a:solidFill>
                            <a:schemeClr val="tx1"/>
                          </a:solidFill>
                          <a:latin typeface="+mn-lt"/>
                        </a:rPr>
                        <a:t>20</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21</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22</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23</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24</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25</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a</a:t>
                      </a:r>
                      <a:r>
                        <a:rPr lang="en-US" altLang="zh-CN" sz="2400" b="1" baseline="-25000" dirty="0">
                          <a:solidFill>
                            <a:schemeClr val="tx1"/>
                          </a:solidFill>
                          <a:latin typeface="+mn-lt"/>
                        </a:rPr>
                        <a:t>30</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31</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32</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33</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34</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a</a:t>
                      </a:r>
                      <a:r>
                        <a:rPr lang="en-US" altLang="zh-CN" sz="2400" b="1" baseline="-25000" dirty="0">
                          <a:solidFill>
                            <a:schemeClr val="tx1"/>
                          </a:solidFill>
                          <a:latin typeface="+mn-lt"/>
                        </a:rPr>
                        <a:t>35</a:t>
                      </a:r>
                      <a:endParaRPr lang="zh-CN" altLang="en-US" sz="2400" b="1" baseline="-25000" dirty="0">
                        <a:solidFill>
                          <a:schemeClr val="tx1"/>
                        </a:solidFill>
                        <a:latin typeface="+mn-lt"/>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4" name="表格 3">
            <a:extLst>
              <a:ext uri="{FF2B5EF4-FFF2-40B4-BE49-F238E27FC236}">
                <a16:creationId xmlns:a16="http://schemas.microsoft.com/office/drawing/2014/main" id="{C9001DB6-EFB7-5B49-9A0C-AB529765ABCC}"/>
              </a:ext>
            </a:extLst>
          </p:cNvPr>
          <p:cNvGraphicFramePr>
            <a:graphicFrameLocks noGrp="1"/>
          </p:cNvGraphicFramePr>
          <p:nvPr/>
        </p:nvGraphicFramePr>
        <p:xfrm>
          <a:off x="7543800" y="2011363"/>
          <a:ext cx="35052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10</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16502" name="Rectangle 1">
            <a:extLst>
              <a:ext uri="{FF2B5EF4-FFF2-40B4-BE49-F238E27FC236}">
                <a16:creationId xmlns:a16="http://schemas.microsoft.com/office/drawing/2014/main" id="{64B6233D-C90B-7644-B851-67BAB0E5FF88}"/>
              </a:ext>
            </a:extLst>
          </p:cNvPr>
          <p:cNvSpPr>
            <a:spLocks noChangeArrowheads="1"/>
          </p:cNvSpPr>
          <p:nvPr/>
        </p:nvSpPr>
        <p:spPr bwMode="auto">
          <a:xfrm>
            <a:off x="1244600" y="4714875"/>
            <a:ext cx="6096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b="1"/>
              <a:t>分组下标</a:t>
            </a:r>
            <a:r>
              <a:rPr lang="en-US" altLang="zh-CN" sz="2400" b="1"/>
              <a:t>n</a:t>
            </a:r>
          </a:p>
          <a:p>
            <a:r>
              <a:rPr lang="zh-CN" altLang="en-US" sz="2400" b="1"/>
              <a:t>阵列位置</a:t>
            </a:r>
            <a:r>
              <a:rPr lang="en-US" altLang="zh-CN" sz="2400" b="1"/>
              <a:t>(i,j)</a:t>
            </a:r>
          </a:p>
          <a:p>
            <a:pPr lvl="1"/>
            <a:r>
              <a:rPr lang="en-US" altLang="zh-CN" sz="2400" b="1"/>
              <a:t>i=n mod 4, j=[n/4]; n=i+4j</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4868"/>
                                        </p:tgtEl>
                                        <p:attrNameLst>
                                          <p:attrName>style.visibility</p:attrName>
                                        </p:attrNameLst>
                                      </p:cBhvr>
                                      <p:to>
                                        <p:strVal val="visible"/>
                                      </p:to>
                                    </p:set>
                                    <p:animEffect transition="in" filter="blinds(horizontal)">
                                      <p:cBhvr>
                                        <p:cTn id="7" dur="500"/>
                                        <p:tgtEl>
                                          <p:spTgt spid="164868"/>
                                        </p:tgtEl>
                                      </p:cBhvr>
                                    </p:animEffect>
                                  </p:childTnLst>
                                </p:cTn>
                              </p:par>
                              <p:par>
                                <p:cTn id="8" presetID="3" presetClass="entr" presetSubtype="10" fill="hold" nodeType="withEffect">
                                  <p:stCondLst>
                                    <p:cond delay="0"/>
                                  </p:stCondLst>
                                  <p:childTnLst>
                                    <p:set>
                                      <p:cBhvr>
                                        <p:cTn id="9" dur="1" fill="hold">
                                          <p:stCondLst>
                                            <p:cond delay="0"/>
                                          </p:stCondLst>
                                        </p:cTn>
                                        <p:tgtEl>
                                          <p:spTgt spid="164869"/>
                                        </p:tgtEl>
                                        <p:attrNameLst>
                                          <p:attrName>style.visibility</p:attrName>
                                        </p:attrNameLst>
                                      </p:cBhvr>
                                      <p:to>
                                        <p:strVal val="visible"/>
                                      </p:to>
                                    </p:set>
                                    <p:animEffect transition="in" filter="blinds(horizontal)">
                                      <p:cBhvr>
                                        <p:cTn id="10" dur="500"/>
                                        <p:tgtEl>
                                          <p:spTgt spid="164869"/>
                                        </p:tgtEl>
                                      </p:cBhvr>
                                    </p:animEffect>
                                  </p:childTnLst>
                                </p:cTn>
                              </p:par>
                              <p:par>
                                <p:cTn id="11" presetID="3" presetClass="entr" presetSubtype="10" fill="hold" nodeType="withEffect">
                                  <p:stCondLst>
                                    <p:cond delay="0"/>
                                  </p:stCondLst>
                                  <p:childTnLst>
                                    <p:set>
                                      <p:cBhvr>
                                        <p:cTn id="12" dur="1" fill="hold">
                                          <p:stCondLst>
                                            <p:cond delay="0"/>
                                          </p:stCondLst>
                                        </p:cTn>
                                        <p:tgtEl>
                                          <p:spTgt spid="164870"/>
                                        </p:tgtEl>
                                        <p:attrNameLst>
                                          <p:attrName>style.visibility</p:attrName>
                                        </p:attrNameLst>
                                      </p:cBhvr>
                                      <p:to>
                                        <p:strVal val="visible"/>
                                      </p:to>
                                    </p:set>
                                    <p:animEffect transition="in" filter="blinds(horizontal)">
                                      <p:cBhvr>
                                        <p:cTn id="13" dur="500"/>
                                        <p:tgtEl>
                                          <p:spTgt spid="164870"/>
                                        </p:tgtEl>
                                      </p:cBhvr>
                                    </p:animEffect>
                                  </p:childTnLst>
                                </p:cTn>
                              </p:par>
                              <p:par>
                                <p:cTn id="14" presetID="3" presetClass="entr" presetSubtype="10" fill="hold" nodeType="withEffect">
                                  <p:stCondLst>
                                    <p:cond delay="0"/>
                                  </p:stCondLst>
                                  <p:childTnLst>
                                    <p:set>
                                      <p:cBhvr>
                                        <p:cTn id="15" dur="1" fill="hold">
                                          <p:stCondLst>
                                            <p:cond delay="0"/>
                                          </p:stCondLst>
                                        </p:cTn>
                                        <p:tgtEl>
                                          <p:spTgt spid="164871"/>
                                        </p:tgtEl>
                                        <p:attrNameLst>
                                          <p:attrName>style.visibility</p:attrName>
                                        </p:attrNameLst>
                                      </p:cBhvr>
                                      <p:to>
                                        <p:strVal val="visible"/>
                                      </p:to>
                                    </p:set>
                                    <p:animEffect transition="in" filter="blinds(horizontal)">
                                      <p:cBhvr>
                                        <p:cTn id="16" dur="500"/>
                                        <p:tgtEl>
                                          <p:spTgt spid="164871"/>
                                        </p:tgtEl>
                                      </p:cBhvr>
                                    </p:animEffect>
                                  </p:childTnLst>
                                </p:cTn>
                              </p:par>
                              <p:par>
                                <p:cTn id="17" presetID="3" presetClass="entr" presetSubtype="10" fill="hold" nodeType="withEffect">
                                  <p:stCondLst>
                                    <p:cond delay="0"/>
                                  </p:stCondLst>
                                  <p:childTnLst>
                                    <p:set>
                                      <p:cBhvr>
                                        <p:cTn id="18" dur="1" fill="hold">
                                          <p:stCondLst>
                                            <p:cond delay="0"/>
                                          </p:stCondLst>
                                        </p:cTn>
                                        <p:tgtEl>
                                          <p:spTgt spid="164872"/>
                                        </p:tgtEl>
                                        <p:attrNameLst>
                                          <p:attrName>style.visibility</p:attrName>
                                        </p:attrNameLst>
                                      </p:cBhvr>
                                      <p:to>
                                        <p:strVal val="visible"/>
                                      </p:to>
                                    </p:set>
                                    <p:animEffect transition="in" filter="blinds(horizontal)">
                                      <p:cBhvr>
                                        <p:cTn id="19" dur="500"/>
                                        <p:tgtEl>
                                          <p:spTgt spid="164872"/>
                                        </p:tgtEl>
                                      </p:cBhvr>
                                    </p:animEffect>
                                  </p:childTnLst>
                                </p:cTn>
                              </p:par>
                              <p:par>
                                <p:cTn id="20" presetID="3" presetClass="entr" presetSubtype="10" fill="hold" nodeType="withEffect">
                                  <p:stCondLst>
                                    <p:cond delay="0"/>
                                  </p:stCondLst>
                                  <p:childTnLst>
                                    <p:set>
                                      <p:cBhvr>
                                        <p:cTn id="21" dur="1" fill="hold">
                                          <p:stCondLst>
                                            <p:cond delay="0"/>
                                          </p:stCondLst>
                                        </p:cTn>
                                        <p:tgtEl>
                                          <p:spTgt spid="164873"/>
                                        </p:tgtEl>
                                        <p:attrNameLst>
                                          <p:attrName>style.visibility</p:attrName>
                                        </p:attrNameLst>
                                      </p:cBhvr>
                                      <p:to>
                                        <p:strVal val="visible"/>
                                      </p:to>
                                    </p:set>
                                    <p:animEffect transition="in" filter="blinds(horizontal)">
                                      <p:cBhvr>
                                        <p:cTn id="22" dur="500"/>
                                        <p:tgtEl>
                                          <p:spTgt spid="164873"/>
                                        </p:tgtEl>
                                      </p:cBhvr>
                                    </p:animEffect>
                                  </p:childTnLst>
                                </p:cTn>
                              </p:par>
                              <p:par>
                                <p:cTn id="23" presetID="3" presetClass="entr" presetSubtype="10" fill="hold" nodeType="withEffect">
                                  <p:stCondLst>
                                    <p:cond delay="0"/>
                                  </p:stCondLst>
                                  <p:childTnLst>
                                    <p:set>
                                      <p:cBhvr>
                                        <p:cTn id="24" dur="1" fill="hold">
                                          <p:stCondLst>
                                            <p:cond delay="0"/>
                                          </p:stCondLst>
                                        </p:cTn>
                                        <p:tgtEl>
                                          <p:spTgt spid="164874"/>
                                        </p:tgtEl>
                                        <p:attrNameLst>
                                          <p:attrName>style.visibility</p:attrName>
                                        </p:attrNameLst>
                                      </p:cBhvr>
                                      <p:to>
                                        <p:strVal val="visible"/>
                                      </p:to>
                                    </p:set>
                                    <p:animEffect transition="in" filter="blinds(horizontal)">
                                      <p:cBhvr>
                                        <p:cTn id="25" dur="500"/>
                                        <p:tgtEl>
                                          <p:spTgt spid="164874"/>
                                        </p:tgtEl>
                                      </p:cBhvr>
                                    </p:animEffect>
                                  </p:childTnLst>
                                </p:cTn>
                              </p:par>
                              <p:par>
                                <p:cTn id="26" presetID="3" presetClass="entr" presetSubtype="10" fill="hold" nodeType="withEffect">
                                  <p:stCondLst>
                                    <p:cond delay="0"/>
                                  </p:stCondLst>
                                  <p:childTnLst>
                                    <p:set>
                                      <p:cBhvr>
                                        <p:cTn id="27" dur="1" fill="hold">
                                          <p:stCondLst>
                                            <p:cond delay="0"/>
                                          </p:stCondLst>
                                        </p:cTn>
                                        <p:tgtEl>
                                          <p:spTgt spid="164875"/>
                                        </p:tgtEl>
                                        <p:attrNameLst>
                                          <p:attrName>style.visibility</p:attrName>
                                        </p:attrNameLst>
                                      </p:cBhvr>
                                      <p:to>
                                        <p:strVal val="visible"/>
                                      </p:to>
                                    </p:set>
                                    <p:animEffect transition="in" filter="blinds(horizontal)">
                                      <p:cBhvr>
                                        <p:cTn id="28" dur="500"/>
                                        <p:tgtEl>
                                          <p:spTgt spid="164875"/>
                                        </p:tgtEl>
                                      </p:cBhvr>
                                    </p:animEffect>
                                  </p:childTnLst>
                                </p:cTn>
                              </p:par>
                              <p:par>
                                <p:cTn id="29" presetID="3" presetClass="entr" presetSubtype="10" fill="hold" nodeType="withEffect">
                                  <p:stCondLst>
                                    <p:cond delay="0"/>
                                  </p:stCondLst>
                                  <p:childTnLst>
                                    <p:set>
                                      <p:cBhvr>
                                        <p:cTn id="30" dur="1" fill="hold">
                                          <p:stCondLst>
                                            <p:cond delay="0"/>
                                          </p:stCondLst>
                                        </p:cTn>
                                        <p:tgtEl>
                                          <p:spTgt spid="164876"/>
                                        </p:tgtEl>
                                        <p:attrNameLst>
                                          <p:attrName>style.visibility</p:attrName>
                                        </p:attrNameLst>
                                      </p:cBhvr>
                                      <p:to>
                                        <p:strVal val="visible"/>
                                      </p:to>
                                    </p:set>
                                    <p:animEffect transition="in" filter="blinds(horizontal)">
                                      <p:cBhvr>
                                        <p:cTn id="31" dur="500"/>
                                        <p:tgtEl>
                                          <p:spTgt spid="164876"/>
                                        </p:tgtEl>
                                      </p:cBhvr>
                                    </p:animEffect>
                                  </p:childTnLst>
                                </p:cTn>
                              </p:par>
                              <p:par>
                                <p:cTn id="32" presetID="3" presetClass="entr" presetSubtype="10" fill="hold" nodeType="withEffect">
                                  <p:stCondLst>
                                    <p:cond delay="0"/>
                                  </p:stCondLst>
                                  <p:childTnLst>
                                    <p:set>
                                      <p:cBhvr>
                                        <p:cTn id="33" dur="1" fill="hold">
                                          <p:stCondLst>
                                            <p:cond delay="0"/>
                                          </p:stCondLst>
                                        </p:cTn>
                                        <p:tgtEl>
                                          <p:spTgt spid="164877"/>
                                        </p:tgtEl>
                                        <p:attrNameLst>
                                          <p:attrName>style.visibility</p:attrName>
                                        </p:attrNameLst>
                                      </p:cBhvr>
                                      <p:to>
                                        <p:strVal val="visible"/>
                                      </p:to>
                                    </p:set>
                                    <p:animEffect transition="in" filter="blinds(horizontal)">
                                      <p:cBhvr>
                                        <p:cTn id="34" dur="500"/>
                                        <p:tgtEl>
                                          <p:spTgt spid="164877"/>
                                        </p:tgtEl>
                                      </p:cBhvr>
                                    </p:animEffect>
                                  </p:childTnLst>
                                </p:cTn>
                              </p:par>
                              <p:par>
                                <p:cTn id="35" presetID="3" presetClass="entr" presetSubtype="10" fill="hold" nodeType="withEffect">
                                  <p:stCondLst>
                                    <p:cond delay="0"/>
                                  </p:stCondLst>
                                  <p:childTnLst>
                                    <p:set>
                                      <p:cBhvr>
                                        <p:cTn id="36" dur="1" fill="hold">
                                          <p:stCondLst>
                                            <p:cond delay="0"/>
                                          </p:stCondLst>
                                        </p:cTn>
                                        <p:tgtEl>
                                          <p:spTgt spid="164878"/>
                                        </p:tgtEl>
                                        <p:attrNameLst>
                                          <p:attrName>style.visibility</p:attrName>
                                        </p:attrNameLst>
                                      </p:cBhvr>
                                      <p:to>
                                        <p:strVal val="visible"/>
                                      </p:to>
                                    </p:set>
                                    <p:animEffect transition="in" filter="blinds(horizontal)">
                                      <p:cBhvr>
                                        <p:cTn id="37" dur="500"/>
                                        <p:tgtEl>
                                          <p:spTgt spid="16487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64880"/>
                                        </p:tgtEl>
                                        <p:attrNameLst>
                                          <p:attrName>style.visibility</p:attrName>
                                        </p:attrNameLst>
                                      </p:cBhvr>
                                      <p:to>
                                        <p:strVal val="visible"/>
                                      </p:to>
                                    </p:set>
                                    <p:animEffect transition="in" filter="blinds(horizontal)">
                                      <p:cBhvr>
                                        <p:cTn id="42" dur="500"/>
                                        <p:tgtEl>
                                          <p:spTgt spid="164880"/>
                                        </p:tgtEl>
                                      </p:cBhvr>
                                    </p:animEffect>
                                  </p:childTnLst>
                                </p:cTn>
                              </p:par>
                              <p:par>
                                <p:cTn id="43" presetID="3" presetClass="entr" presetSubtype="10" fill="hold" nodeType="withEffect">
                                  <p:stCondLst>
                                    <p:cond delay="0"/>
                                  </p:stCondLst>
                                  <p:childTnLst>
                                    <p:set>
                                      <p:cBhvr>
                                        <p:cTn id="44" dur="1" fill="hold">
                                          <p:stCondLst>
                                            <p:cond delay="0"/>
                                          </p:stCondLst>
                                        </p:cTn>
                                        <p:tgtEl>
                                          <p:spTgt spid="164881"/>
                                        </p:tgtEl>
                                        <p:attrNameLst>
                                          <p:attrName>style.visibility</p:attrName>
                                        </p:attrNameLst>
                                      </p:cBhvr>
                                      <p:to>
                                        <p:strVal val="visible"/>
                                      </p:to>
                                    </p:set>
                                    <p:animEffect transition="in" filter="blinds(horizontal)">
                                      <p:cBhvr>
                                        <p:cTn id="45" dur="500"/>
                                        <p:tgtEl>
                                          <p:spTgt spid="164881"/>
                                        </p:tgtEl>
                                      </p:cBhvr>
                                    </p:animEffect>
                                  </p:childTnLst>
                                </p:cTn>
                              </p:par>
                              <p:par>
                                <p:cTn id="46" presetID="3" presetClass="entr" presetSubtype="10" fill="hold" nodeType="withEffect">
                                  <p:stCondLst>
                                    <p:cond delay="0"/>
                                  </p:stCondLst>
                                  <p:childTnLst>
                                    <p:set>
                                      <p:cBhvr>
                                        <p:cTn id="47" dur="1" fill="hold">
                                          <p:stCondLst>
                                            <p:cond delay="0"/>
                                          </p:stCondLst>
                                        </p:cTn>
                                        <p:tgtEl>
                                          <p:spTgt spid="164882"/>
                                        </p:tgtEl>
                                        <p:attrNameLst>
                                          <p:attrName>style.visibility</p:attrName>
                                        </p:attrNameLst>
                                      </p:cBhvr>
                                      <p:to>
                                        <p:strVal val="visible"/>
                                      </p:to>
                                    </p:set>
                                    <p:animEffect transition="in" filter="blinds(horizontal)">
                                      <p:cBhvr>
                                        <p:cTn id="48" dur="500"/>
                                        <p:tgtEl>
                                          <p:spTgt spid="164882"/>
                                        </p:tgtEl>
                                      </p:cBhvr>
                                    </p:animEffect>
                                  </p:childTnLst>
                                </p:cTn>
                              </p:par>
                              <p:par>
                                <p:cTn id="49" presetID="3" presetClass="entr" presetSubtype="10" fill="hold" nodeType="withEffect">
                                  <p:stCondLst>
                                    <p:cond delay="0"/>
                                  </p:stCondLst>
                                  <p:childTnLst>
                                    <p:set>
                                      <p:cBhvr>
                                        <p:cTn id="50" dur="1" fill="hold">
                                          <p:stCondLst>
                                            <p:cond delay="0"/>
                                          </p:stCondLst>
                                        </p:cTn>
                                        <p:tgtEl>
                                          <p:spTgt spid="164883"/>
                                        </p:tgtEl>
                                        <p:attrNameLst>
                                          <p:attrName>style.visibility</p:attrName>
                                        </p:attrNameLst>
                                      </p:cBhvr>
                                      <p:to>
                                        <p:strVal val="visible"/>
                                      </p:to>
                                    </p:set>
                                    <p:animEffect transition="in" filter="blinds(horizontal)">
                                      <p:cBhvr>
                                        <p:cTn id="51" dur="500"/>
                                        <p:tgtEl>
                                          <p:spTgt spid="164883"/>
                                        </p:tgtEl>
                                      </p:cBhvr>
                                    </p:animEffect>
                                  </p:childTnLst>
                                </p:cTn>
                              </p:par>
                              <p:par>
                                <p:cTn id="52" presetID="3" presetClass="entr" presetSubtype="10" fill="hold" nodeType="withEffect">
                                  <p:stCondLst>
                                    <p:cond delay="0"/>
                                  </p:stCondLst>
                                  <p:childTnLst>
                                    <p:set>
                                      <p:cBhvr>
                                        <p:cTn id="53" dur="1" fill="hold">
                                          <p:stCondLst>
                                            <p:cond delay="0"/>
                                          </p:stCondLst>
                                        </p:cTn>
                                        <p:tgtEl>
                                          <p:spTgt spid="164884"/>
                                        </p:tgtEl>
                                        <p:attrNameLst>
                                          <p:attrName>style.visibility</p:attrName>
                                        </p:attrNameLst>
                                      </p:cBhvr>
                                      <p:to>
                                        <p:strVal val="visible"/>
                                      </p:to>
                                    </p:set>
                                    <p:animEffect transition="in" filter="blinds(horizontal)">
                                      <p:cBhvr>
                                        <p:cTn id="54" dur="500"/>
                                        <p:tgtEl>
                                          <p:spTgt spid="164884"/>
                                        </p:tgtEl>
                                      </p:cBhvr>
                                    </p:animEffect>
                                  </p:childTnLst>
                                </p:cTn>
                              </p:par>
                              <p:par>
                                <p:cTn id="55" presetID="3" presetClass="entr" presetSubtype="10" fill="hold" nodeType="withEffect">
                                  <p:stCondLst>
                                    <p:cond delay="0"/>
                                  </p:stCondLst>
                                  <p:childTnLst>
                                    <p:set>
                                      <p:cBhvr>
                                        <p:cTn id="56" dur="1" fill="hold">
                                          <p:stCondLst>
                                            <p:cond delay="0"/>
                                          </p:stCondLst>
                                        </p:cTn>
                                        <p:tgtEl>
                                          <p:spTgt spid="164885"/>
                                        </p:tgtEl>
                                        <p:attrNameLst>
                                          <p:attrName>style.visibility</p:attrName>
                                        </p:attrNameLst>
                                      </p:cBhvr>
                                      <p:to>
                                        <p:strVal val="visible"/>
                                      </p:to>
                                    </p:set>
                                    <p:animEffect transition="in" filter="blinds(horizontal)">
                                      <p:cBhvr>
                                        <p:cTn id="57" dur="500"/>
                                        <p:tgtEl>
                                          <p:spTgt spid="164885"/>
                                        </p:tgtEl>
                                      </p:cBhvr>
                                    </p:animEffect>
                                  </p:childTnLst>
                                </p:cTn>
                              </p:par>
                              <p:par>
                                <p:cTn id="58" presetID="3" presetClass="entr" presetSubtype="10" fill="hold" nodeType="withEffect">
                                  <p:stCondLst>
                                    <p:cond delay="0"/>
                                  </p:stCondLst>
                                  <p:childTnLst>
                                    <p:set>
                                      <p:cBhvr>
                                        <p:cTn id="59" dur="1" fill="hold">
                                          <p:stCondLst>
                                            <p:cond delay="0"/>
                                          </p:stCondLst>
                                        </p:cTn>
                                        <p:tgtEl>
                                          <p:spTgt spid="164886"/>
                                        </p:tgtEl>
                                        <p:attrNameLst>
                                          <p:attrName>style.visibility</p:attrName>
                                        </p:attrNameLst>
                                      </p:cBhvr>
                                      <p:to>
                                        <p:strVal val="visible"/>
                                      </p:to>
                                    </p:set>
                                    <p:animEffect transition="in" filter="blinds(horizontal)">
                                      <p:cBhvr>
                                        <p:cTn id="60" dur="500"/>
                                        <p:tgtEl>
                                          <p:spTgt spid="164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8465" name="Rectangle 2">
            <a:extLst>
              <a:ext uri="{FF2B5EF4-FFF2-40B4-BE49-F238E27FC236}">
                <a16:creationId xmlns:a16="http://schemas.microsoft.com/office/drawing/2014/main" id="{972D81AC-5C4C-B941-8C75-4BE89257D600}"/>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轮数对应关系</a:t>
            </a:r>
          </a:p>
        </p:txBody>
      </p:sp>
      <p:graphicFrame>
        <p:nvGraphicFramePr>
          <p:cNvPr id="88068" name="Group 4">
            <a:extLst>
              <a:ext uri="{FF2B5EF4-FFF2-40B4-BE49-F238E27FC236}">
                <a16:creationId xmlns:a16="http://schemas.microsoft.com/office/drawing/2014/main" id="{252F3993-F63A-DC4A-B303-CACED0934E7D}"/>
              </a:ext>
            </a:extLst>
          </p:cNvPr>
          <p:cNvGraphicFramePr>
            <a:graphicFrameLocks noGrp="1"/>
          </p:cNvGraphicFramePr>
          <p:nvPr>
            <p:ph idx="4294967295"/>
          </p:nvPr>
        </p:nvGraphicFramePr>
        <p:xfrm>
          <a:off x="725488" y="2724150"/>
          <a:ext cx="10517188" cy="2073276"/>
        </p:xfrm>
        <a:graphic>
          <a:graphicData uri="http://schemas.openxmlformats.org/drawingml/2006/table">
            <a:tbl>
              <a:tblPr/>
              <a:tblGrid>
                <a:gridCol w="2629921">
                  <a:extLst>
                    <a:ext uri="{9D8B030D-6E8A-4147-A177-3AD203B41FA5}">
                      <a16:colId xmlns:a16="http://schemas.microsoft.com/office/drawing/2014/main" val="20000"/>
                    </a:ext>
                  </a:extLst>
                </a:gridCol>
                <a:gridCol w="2629919">
                  <a:extLst>
                    <a:ext uri="{9D8B030D-6E8A-4147-A177-3AD203B41FA5}">
                      <a16:colId xmlns:a16="http://schemas.microsoft.com/office/drawing/2014/main" val="20001"/>
                    </a:ext>
                  </a:extLst>
                </a:gridCol>
                <a:gridCol w="2627427">
                  <a:extLst>
                    <a:ext uri="{9D8B030D-6E8A-4147-A177-3AD203B41FA5}">
                      <a16:colId xmlns:a16="http://schemas.microsoft.com/office/drawing/2014/main" val="20002"/>
                    </a:ext>
                  </a:extLst>
                </a:gridCol>
                <a:gridCol w="2629921">
                  <a:extLst>
                    <a:ext uri="{9D8B030D-6E8A-4147-A177-3AD203B41FA5}">
                      <a16:colId xmlns:a16="http://schemas.microsoft.com/office/drawing/2014/main" val="20003"/>
                    </a:ext>
                  </a:extLst>
                </a:gridCol>
              </a:tblGrid>
              <a:tr h="5183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800" b="1"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L="143586" marR="143586"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Tahoma" panose="020B0604030504040204" pitchFamily="34" charset="0"/>
                          <a:ea typeface="宋体" panose="02010600030101010101" pitchFamily="2" charset="-122"/>
                        </a:rPr>
                        <a:t>N</a:t>
                      </a:r>
                      <a:r>
                        <a:rPr kumimoji="0" lang="en-US" altLang="zh-CN" sz="2800" b="1" i="0" u="none" strike="noStrike" cap="none" normalizeH="0" baseline="-25000" dirty="0" err="1">
                          <a:ln>
                            <a:noFill/>
                          </a:ln>
                          <a:solidFill>
                            <a:schemeClr val="tx1"/>
                          </a:solidFill>
                          <a:effectLst/>
                          <a:latin typeface="Tahoma" panose="020B0604030504040204" pitchFamily="34" charset="0"/>
                          <a:ea typeface="宋体" panose="02010600030101010101" pitchFamily="2" charset="-122"/>
                        </a:rPr>
                        <a:t>b</a:t>
                      </a:r>
                      <a:r>
                        <a:rPr kumimoji="0" lang="en-US" altLang="zh-CN" sz="28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=4</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Tahoma" panose="020B0604030504040204" pitchFamily="34" charset="0"/>
                          <a:ea typeface="宋体" panose="02010600030101010101" pitchFamily="2" charset="-122"/>
                        </a:rPr>
                        <a:t>N</a:t>
                      </a:r>
                      <a:r>
                        <a:rPr kumimoji="0" lang="en-US" altLang="zh-CN" sz="2800" b="1" i="0" u="none" strike="noStrike" cap="none" normalizeH="0" baseline="-25000" dirty="0" err="1">
                          <a:ln>
                            <a:noFill/>
                          </a:ln>
                          <a:solidFill>
                            <a:schemeClr val="tx1"/>
                          </a:solidFill>
                          <a:effectLst/>
                          <a:latin typeface="Tahoma" panose="020B0604030504040204" pitchFamily="34" charset="0"/>
                          <a:ea typeface="宋体" panose="02010600030101010101" pitchFamily="2" charset="-122"/>
                        </a:rPr>
                        <a:t>b</a:t>
                      </a:r>
                      <a:r>
                        <a:rPr kumimoji="0" lang="en-US" altLang="zh-CN" sz="28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=6</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N</a:t>
                      </a:r>
                      <a:r>
                        <a:rPr kumimoji="0" lang="en-US" altLang="zh-CN" sz="2800" b="1" i="0" u="none" strike="noStrike" cap="none" normalizeH="0" baseline="-25000">
                          <a:ln>
                            <a:noFill/>
                          </a:ln>
                          <a:solidFill>
                            <a:schemeClr val="tx1"/>
                          </a:solidFill>
                          <a:effectLst/>
                          <a:latin typeface="Tahoma" panose="020B0604030504040204" pitchFamily="34" charset="0"/>
                          <a:ea typeface="宋体" panose="02010600030101010101" pitchFamily="2" charset="-122"/>
                        </a:rPr>
                        <a:t>b</a:t>
                      </a: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=8</a:t>
                      </a:r>
                    </a:p>
                  </a:txBody>
                  <a:tcPr marL="143586" marR="143586"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N</a:t>
                      </a:r>
                      <a:r>
                        <a:rPr kumimoji="0" lang="en-US" altLang="zh-CN" sz="2800" b="1" i="0" u="none" strike="noStrike" cap="none" normalizeH="0" baseline="-25000">
                          <a:ln>
                            <a:noFill/>
                          </a:ln>
                          <a:solidFill>
                            <a:schemeClr val="tx1"/>
                          </a:solidFill>
                          <a:effectLst/>
                          <a:latin typeface="Tahoma" panose="020B0604030504040204" pitchFamily="34" charset="0"/>
                          <a:ea typeface="宋体" panose="02010600030101010101" pitchFamily="2" charset="-122"/>
                        </a:rPr>
                        <a:t>k</a:t>
                      </a: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marL="143586" marR="143586"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14</a:t>
                      </a:r>
                    </a:p>
                  </a:txBody>
                  <a:tcPr marL="143586" marR="143586"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3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N</a:t>
                      </a:r>
                      <a:r>
                        <a:rPr kumimoji="0" lang="en-US" altLang="zh-CN" sz="2800" b="1" i="0" u="none" strike="noStrike" cap="none" normalizeH="0" baseline="-25000">
                          <a:ln>
                            <a:noFill/>
                          </a:ln>
                          <a:solidFill>
                            <a:schemeClr val="tx1"/>
                          </a:solidFill>
                          <a:effectLst/>
                          <a:latin typeface="Tahoma" panose="020B0604030504040204" pitchFamily="34" charset="0"/>
                          <a:ea typeface="宋体" panose="02010600030101010101" pitchFamily="2" charset="-122"/>
                        </a:rPr>
                        <a:t>k</a:t>
                      </a: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=6</a:t>
                      </a:r>
                    </a:p>
                  </a:txBody>
                  <a:tcPr marL="143586" marR="143586"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14</a:t>
                      </a:r>
                    </a:p>
                  </a:txBody>
                  <a:tcPr marL="143586" marR="143586"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3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Tahoma" panose="020B0604030504040204" pitchFamily="34" charset="0"/>
                          <a:ea typeface="宋体" panose="02010600030101010101" pitchFamily="2" charset="-122"/>
                        </a:rPr>
                        <a:t>N</a:t>
                      </a:r>
                      <a:r>
                        <a:rPr kumimoji="0" lang="en-US" altLang="zh-CN" sz="2800" b="1" i="0" u="none" strike="noStrike" cap="none" normalizeH="0" baseline="-25000" dirty="0" err="1">
                          <a:ln>
                            <a:noFill/>
                          </a:ln>
                          <a:solidFill>
                            <a:schemeClr val="tx1"/>
                          </a:solidFill>
                          <a:effectLst/>
                          <a:latin typeface="Tahoma" panose="020B0604030504040204" pitchFamily="34" charset="0"/>
                          <a:ea typeface="宋体" panose="02010600030101010101" pitchFamily="2" charset="-122"/>
                        </a:rPr>
                        <a:t>k</a:t>
                      </a:r>
                      <a:r>
                        <a:rPr kumimoji="0" lang="en-US" altLang="zh-CN" sz="28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=8</a:t>
                      </a:r>
                    </a:p>
                  </a:txBody>
                  <a:tcPr marL="143586" marR="143586"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14</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14</a:t>
                      </a:r>
                    </a:p>
                  </a:txBody>
                  <a:tcPr marL="143586" marR="143586"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14</a:t>
                      </a:r>
                    </a:p>
                  </a:txBody>
                  <a:tcPr marL="143586" marR="143586"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18493" name="Rectangle 3">
            <a:extLst>
              <a:ext uri="{FF2B5EF4-FFF2-40B4-BE49-F238E27FC236}">
                <a16:creationId xmlns:a16="http://schemas.microsoft.com/office/drawing/2014/main" id="{463356C5-BEAD-8A48-AB60-CD4BF8A8E356}"/>
              </a:ext>
            </a:extLst>
          </p:cNvPr>
          <p:cNvSpPr>
            <a:spLocks noGrp="1" noChangeArrowheads="1"/>
          </p:cNvSpPr>
          <p:nvPr>
            <p:ph type="body" sz="half" idx="4294967295"/>
          </p:nvPr>
        </p:nvSpPr>
        <p:spPr>
          <a:xfrm>
            <a:off x="1371600" y="1905000"/>
            <a:ext cx="5773738" cy="668338"/>
          </a:xfrm>
        </p:spPr>
        <p:txBody>
          <a:bodyPr/>
          <a:lstStyle/>
          <a:p>
            <a:pPr eaLnBrk="1" hangingPunct="1"/>
            <a:r>
              <a:rPr lang="zh-CN" altLang="en-US">
                <a:solidFill>
                  <a:srgbClr val="C00000"/>
                </a:solidFill>
              </a:rPr>
              <a:t>轮数</a:t>
            </a:r>
            <a:r>
              <a:rPr lang="en-US" altLang="zh-CN">
                <a:solidFill>
                  <a:srgbClr val="C00000"/>
                </a:solidFill>
              </a:rPr>
              <a:t>N</a:t>
            </a:r>
            <a:r>
              <a:rPr lang="en-US" altLang="zh-CN" baseline="-25000">
                <a:solidFill>
                  <a:srgbClr val="C00000"/>
                </a:solidFill>
              </a:rPr>
              <a:t>r</a:t>
            </a:r>
            <a:r>
              <a:rPr lang="zh-CN" altLang="en-US"/>
              <a:t>与</a:t>
            </a:r>
            <a:r>
              <a:rPr lang="en-US" altLang="zh-CN"/>
              <a:t>N</a:t>
            </a:r>
            <a:r>
              <a:rPr lang="en-US" altLang="zh-CN" baseline="-25000"/>
              <a:t>b</a:t>
            </a:r>
            <a:r>
              <a:rPr lang="zh-CN" altLang="en-US"/>
              <a:t>和</a:t>
            </a:r>
            <a:r>
              <a:rPr lang="en-US" altLang="zh-CN"/>
              <a:t>N</a:t>
            </a:r>
            <a:r>
              <a:rPr lang="en-US" altLang="zh-CN" baseline="-25000"/>
              <a:t>k</a:t>
            </a:r>
            <a:r>
              <a:rPr lang="zh-CN" altLang="en-US"/>
              <a:t>对应关系</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513" name="Group 146">
            <a:extLst>
              <a:ext uri="{FF2B5EF4-FFF2-40B4-BE49-F238E27FC236}">
                <a16:creationId xmlns:a16="http://schemas.microsoft.com/office/drawing/2014/main" id="{7A876C59-3DC8-3648-B046-C51DD06A0CB5}"/>
              </a:ext>
            </a:extLst>
          </p:cNvPr>
          <p:cNvGrpSpPr>
            <a:grpSpLocks noChangeAspect="1"/>
          </p:cNvGrpSpPr>
          <p:nvPr/>
        </p:nvGrpSpPr>
        <p:grpSpPr bwMode="auto">
          <a:xfrm>
            <a:off x="2209800" y="76200"/>
            <a:ext cx="7162800" cy="6662382"/>
            <a:chOff x="2360" y="11793"/>
            <a:chExt cx="6887" cy="11277"/>
          </a:xfrm>
          <a:solidFill>
            <a:schemeClr val="bg1"/>
          </a:solidFill>
        </p:grpSpPr>
        <p:sp>
          <p:nvSpPr>
            <p:cNvPr id="105514" name="AutoShape 245">
              <a:extLst>
                <a:ext uri="{FF2B5EF4-FFF2-40B4-BE49-F238E27FC236}">
                  <a16:creationId xmlns:a16="http://schemas.microsoft.com/office/drawing/2014/main" id="{50BF5DA6-90B9-E447-8CD7-DAAFEF6368C9}"/>
                </a:ext>
              </a:extLst>
            </p:cNvPr>
            <p:cNvSpPr>
              <a:spLocks noChangeAspect="1" noChangeArrowheads="1" noTextEdit="1"/>
            </p:cNvSpPr>
            <p:nvPr/>
          </p:nvSpPr>
          <p:spPr bwMode="auto">
            <a:xfrm>
              <a:off x="2360" y="11793"/>
              <a:ext cx="6887" cy="11277"/>
            </a:xfrm>
            <a:prstGeom prst="rect">
              <a:avLst/>
            </a:prstGeom>
            <a:grpFill/>
          </p:spPr>
          <p:txBody>
            <a:bodyPr/>
            <a:lstStyle/>
            <a:p>
              <a:pPr eaLnBrk="0" hangingPunct="0">
                <a:defRPr/>
              </a:pPr>
              <a:endParaRPr lang="zh-CN" altLang="en-US" sz="1200" b="1"/>
            </a:p>
          </p:txBody>
        </p:sp>
        <p:sp>
          <p:nvSpPr>
            <p:cNvPr id="105515" name="Text Box 244">
              <a:extLst>
                <a:ext uri="{FF2B5EF4-FFF2-40B4-BE49-F238E27FC236}">
                  <a16:creationId xmlns:a16="http://schemas.microsoft.com/office/drawing/2014/main" id="{C2C5C805-8AAB-8240-81CC-B60F765504E7}"/>
                </a:ext>
              </a:extLst>
            </p:cNvPr>
            <p:cNvSpPr txBox="1">
              <a:spLocks noChangeArrowheads="1"/>
            </p:cNvSpPr>
            <p:nvPr/>
          </p:nvSpPr>
          <p:spPr bwMode="auto">
            <a:xfrm>
              <a:off x="3456" y="12608"/>
              <a:ext cx="939" cy="408"/>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16" name="Text Box 243">
              <a:extLst>
                <a:ext uri="{FF2B5EF4-FFF2-40B4-BE49-F238E27FC236}">
                  <a16:creationId xmlns:a16="http://schemas.microsoft.com/office/drawing/2014/main" id="{3BE6257E-4295-E94E-B0EA-5C6A8D4F7732}"/>
                </a:ext>
              </a:extLst>
            </p:cNvPr>
            <p:cNvSpPr txBox="1">
              <a:spLocks noChangeArrowheads="1"/>
            </p:cNvSpPr>
            <p:nvPr/>
          </p:nvSpPr>
          <p:spPr bwMode="auto">
            <a:xfrm>
              <a:off x="3456" y="13288"/>
              <a:ext cx="940" cy="406"/>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字节替换</a:t>
              </a:r>
              <a:endParaRPr lang="zh-CN" altLang="zh-CN" sz="1200" b="1"/>
            </a:p>
          </p:txBody>
        </p:sp>
        <p:sp>
          <p:nvSpPr>
            <p:cNvPr id="105517" name="Text Box 242">
              <a:extLst>
                <a:ext uri="{FF2B5EF4-FFF2-40B4-BE49-F238E27FC236}">
                  <a16:creationId xmlns:a16="http://schemas.microsoft.com/office/drawing/2014/main" id="{9DF26929-4A6C-2043-86D3-97142DD06A47}"/>
                </a:ext>
              </a:extLst>
            </p:cNvPr>
            <p:cNvSpPr txBox="1">
              <a:spLocks noChangeArrowheads="1"/>
            </p:cNvSpPr>
            <p:nvPr/>
          </p:nvSpPr>
          <p:spPr bwMode="auto">
            <a:xfrm>
              <a:off x="3456" y="13967"/>
              <a:ext cx="939"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行移位</a:t>
              </a:r>
              <a:endParaRPr lang="zh-CN" altLang="zh-CN" sz="1200" b="1"/>
            </a:p>
          </p:txBody>
        </p:sp>
        <p:sp>
          <p:nvSpPr>
            <p:cNvPr id="105518" name="Text Box 241">
              <a:extLst>
                <a:ext uri="{FF2B5EF4-FFF2-40B4-BE49-F238E27FC236}">
                  <a16:creationId xmlns:a16="http://schemas.microsoft.com/office/drawing/2014/main" id="{2DC1920D-D057-0943-A94C-8635B0DAED37}"/>
                </a:ext>
              </a:extLst>
            </p:cNvPr>
            <p:cNvSpPr txBox="1">
              <a:spLocks noChangeArrowheads="1"/>
            </p:cNvSpPr>
            <p:nvPr/>
          </p:nvSpPr>
          <p:spPr bwMode="auto">
            <a:xfrm>
              <a:off x="3456" y="14646"/>
              <a:ext cx="939" cy="408"/>
            </a:xfrm>
            <a:prstGeom prst="rect">
              <a:avLst/>
            </a:prstGeom>
            <a:grpFill/>
            <a:ln w="9525">
              <a:solidFill>
                <a:srgbClr val="000000"/>
              </a:solidFill>
              <a:miter lim="800000"/>
            </a:ln>
          </p:spPr>
          <p:txBody>
            <a:bodyPr/>
            <a:lstStyle/>
            <a:p>
              <a:pPr algn="ctr" eaLnBrk="0" hangingPunct="0">
                <a:defRPr/>
              </a:pPr>
              <a:r>
                <a:rPr lang="zh-CN" altLang="zh-CN" sz="1200" b="1" dirty="0">
                  <a:latin typeface="Times New Roman" panose="02020603050405020304" pitchFamily="18" charset="0"/>
                  <a:cs typeface="Times New Roman" panose="02020603050405020304" pitchFamily="18" charset="0"/>
                </a:rPr>
                <a:t>列混</a:t>
              </a:r>
              <a:r>
                <a:rPr lang="zh-CN" altLang="en-US" sz="1200" b="1" dirty="0">
                  <a:latin typeface="Times New Roman" panose="02020603050405020304" pitchFamily="18" charset="0"/>
                  <a:cs typeface="Times New Roman" panose="02020603050405020304" pitchFamily="18" charset="0"/>
                </a:rPr>
                <a:t>淆</a:t>
              </a:r>
              <a:endParaRPr lang="zh-CN" altLang="zh-CN" sz="1200" b="1" dirty="0"/>
            </a:p>
          </p:txBody>
        </p:sp>
        <p:sp>
          <p:nvSpPr>
            <p:cNvPr id="105519" name="Text Box 240">
              <a:extLst>
                <a:ext uri="{FF2B5EF4-FFF2-40B4-BE49-F238E27FC236}">
                  <a16:creationId xmlns:a16="http://schemas.microsoft.com/office/drawing/2014/main" id="{BE09B090-1742-AB48-B8AC-6C2E40007059}"/>
                </a:ext>
              </a:extLst>
            </p:cNvPr>
            <p:cNvSpPr txBox="1">
              <a:spLocks noChangeArrowheads="1"/>
            </p:cNvSpPr>
            <p:nvPr/>
          </p:nvSpPr>
          <p:spPr bwMode="auto">
            <a:xfrm>
              <a:off x="3456" y="15326"/>
              <a:ext cx="939"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20" name="Text Box 239">
              <a:extLst>
                <a:ext uri="{FF2B5EF4-FFF2-40B4-BE49-F238E27FC236}">
                  <a16:creationId xmlns:a16="http://schemas.microsoft.com/office/drawing/2014/main" id="{86BF7901-7EFF-2E4D-A4E3-1068D6F6A82E}"/>
                </a:ext>
              </a:extLst>
            </p:cNvPr>
            <p:cNvSpPr txBox="1">
              <a:spLocks noChangeArrowheads="1"/>
            </p:cNvSpPr>
            <p:nvPr/>
          </p:nvSpPr>
          <p:spPr bwMode="auto">
            <a:xfrm>
              <a:off x="3456" y="11929"/>
              <a:ext cx="939" cy="407"/>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明文</a:t>
              </a:r>
              <a:endParaRPr lang="zh-CN" altLang="zh-CN" sz="1200" b="1"/>
            </a:p>
          </p:txBody>
        </p:sp>
        <p:sp>
          <p:nvSpPr>
            <p:cNvPr id="105521" name="Line 238">
              <a:extLst>
                <a:ext uri="{FF2B5EF4-FFF2-40B4-BE49-F238E27FC236}">
                  <a16:creationId xmlns:a16="http://schemas.microsoft.com/office/drawing/2014/main" id="{1D40E401-22BB-6945-B712-0333CB17AC99}"/>
                </a:ext>
              </a:extLst>
            </p:cNvPr>
            <p:cNvSpPr>
              <a:spLocks noChangeShapeType="1"/>
            </p:cNvSpPr>
            <p:nvPr/>
          </p:nvSpPr>
          <p:spPr bwMode="auto">
            <a:xfrm>
              <a:off x="3925" y="12201"/>
              <a:ext cx="0" cy="407"/>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22" name="Line 237">
              <a:extLst>
                <a:ext uri="{FF2B5EF4-FFF2-40B4-BE49-F238E27FC236}">
                  <a16:creationId xmlns:a16="http://schemas.microsoft.com/office/drawing/2014/main" id="{1EB8C88A-730D-D942-AF82-C5E5A117824F}"/>
                </a:ext>
              </a:extLst>
            </p:cNvPr>
            <p:cNvSpPr>
              <a:spLocks noChangeShapeType="1"/>
            </p:cNvSpPr>
            <p:nvPr/>
          </p:nvSpPr>
          <p:spPr bwMode="auto">
            <a:xfrm>
              <a:off x="3925" y="13016"/>
              <a:ext cx="0"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23" name="Line 236">
              <a:extLst>
                <a:ext uri="{FF2B5EF4-FFF2-40B4-BE49-F238E27FC236}">
                  <a16:creationId xmlns:a16="http://schemas.microsoft.com/office/drawing/2014/main" id="{B17B3B03-CADF-8F49-B99D-658C28BCFBD7}"/>
                </a:ext>
              </a:extLst>
            </p:cNvPr>
            <p:cNvSpPr>
              <a:spLocks noChangeShapeType="1"/>
            </p:cNvSpPr>
            <p:nvPr/>
          </p:nvSpPr>
          <p:spPr bwMode="auto">
            <a:xfrm>
              <a:off x="3925" y="13695"/>
              <a:ext cx="0"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24" name="Line 235">
              <a:extLst>
                <a:ext uri="{FF2B5EF4-FFF2-40B4-BE49-F238E27FC236}">
                  <a16:creationId xmlns:a16="http://schemas.microsoft.com/office/drawing/2014/main" id="{5F752D83-83FC-6546-9BF8-0D6AB8196DAF}"/>
                </a:ext>
              </a:extLst>
            </p:cNvPr>
            <p:cNvSpPr>
              <a:spLocks noChangeShapeType="1"/>
            </p:cNvSpPr>
            <p:nvPr/>
          </p:nvSpPr>
          <p:spPr bwMode="auto">
            <a:xfrm>
              <a:off x="3925" y="14374"/>
              <a:ext cx="0"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25" name="Line 234">
              <a:extLst>
                <a:ext uri="{FF2B5EF4-FFF2-40B4-BE49-F238E27FC236}">
                  <a16:creationId xmlns:a16="http://schemas.microsoft.com/office/drawing/2014/main" id="{F37234E1-29F3-054E-BF8E-430AE3B07696}"/>
                </a:ext>
              </a:extLst>
            </p:cNvPr>
            <p:cNvSpPr>
              <a:spLocks noChangeShapeType="1"/>
            </p:cNvSpPr>
            <p:nvPr/>
          </p:nvSpPr>
          <p:spPr bwMode="auto">
            <a:xfrm>
              <a:off x="3925" y="15054"/>
              <a:ext cx="0"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26" name="Text Box 233">
              <a:extLst>
                <a:ext uri="{FF2B5EF4-FFF2-40B4-BE49-F238E27FC236}">
                  <a16:creationId xmlns:a16="http://schemas.microsoft.com/office/drawing/2014/main" id="{F874C5A5-E38D-D341-885A-FC8312841799}"/>
                </a:ext>
              </a:extLst>
            </p:cNvPr>
            <p:cNvSpPr txBox="1">
              <a:spLocks noChangeArrowheads="1"/>
            </p:cNvSpPr>
            <p:nvPr/>
          </p:nvSpPr>
          <p:spPr bwMode="auto">
            <a:xfrm>
              <a:off x="2360" y="14239"/>
              <a:ext cx="783" cy="406"/>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第</a:t>
              </a:r>
              <a:r>
                <a:rPr lang="en-US" altLang="zh-CN" sz="1200" b="1">
                  <a:latin typeface="Times New Roman" panose="02020603050405020304" pitchFamily="18" charset="0"/>
                  <a:cs typeface="Times New Roman" panose="02020603050405020304" pitchFamily="18" charset="0"/>
                </a:rPr>
                <a:t>1</a:t>
              </a:r>
              <a:r>
                <a:rPr lang="zh-CN" altLang="en-US" sz="1200" b="1">
                  <a:latin typeface="Times New Roman" panose="02020603050405020304" pitchFamily="18" charset="0"/>
                  <a:cs typeface="Times New Roman" panose="02020603050405020304" pitchFamily="18" charset="0"/>
                </a:rPr>
                <a:t>轮</a:t>
              </a:r>
              <a:endParaRPr lang="zh-CN" altLang="en-US" sz="1200" b="1"/>
            </a:p>
          </p:txBody>
        </p:sp>
        <p:sp>
          <p:nvSpPr>
            <p:cNvPr id="105527" name="Line 232">
              <a:extLst>
                <a:ext uri="{FF2B5EF4-FFF2-40B4-BE49-F238E27FC236}">
                  <a16:creationId xmlns:a16="http://schemas.microsoft.com/office/drawing/2014/main" id="{504A2E17-2F59-7640-A92A-472513A59A35}"/>
                </a:ext>
              </a:extLst>
            </p:cNvPr>
            <p:cNvSpPr>
              <a:spLocks noChangeShapeType="1"/>
            </p:cNvSpPr>
            <p:nvPr/>
          </p:nvSpPr>
          <p:spPr bwMode="auto">
            <a:xfrm>
              <a:off x="3925" y="15733"/>
              <a:ext cx="0"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28" name="Line 231">
              <a:extLst>
                <a:ext uri="{FF2B5EF4-FFF2-40B4-BE49-F238E27FC236}">
                  <a16:creationId xmlns:a16="http://schemas.microsoft.com/office/drawing/2014/main" id="{85857077-9112-B24C-B668-B61B7763758B}"/>
                </a:ext>
              </a:extLst>
            </p:cNvPr>
            <p:cNvSpPr>
              <a:spLocks noChangeShapeType="1"/>
            </p:cNvSpPr>
            <p:nvPr/>
          </p:nvSpPr>
          <p:spPr bwMode="auto">
            <a:xfrm>
              <a:off x="3925" y="16141"/>
              <a:ext cx="0" cy="951"/>
            </a:xfrm>
            <a:prstGeom prst="line">
              <a:avLst/>
            </a:prstGeom>
            <a:grpFill/>
            <a:ln w="19050">
              <a:solidFill>
                <a:srgbClr val="000000"/>
              </a:solidFill>
              <a:prstDash val="dash"/>
              <a:round/>
            </a:ln>
          </p:spPr>
          <p:txBody>
            <a:bodyPr/>
            <a:lstStyle/>
            <a:p>
              <a:pPr eaLnBrk="0" hangingPunct="0">
                <a:defRPr/>
              </a:pPr>
              <a:endParaRPr lang="zh-CN" altLang="en-US" sz="1200" b="1"/>
            </a:p>
          </p:txBody>
        </p:sp>
        <p:sp>
          <p:nvSpPr>
            <p:cNvPr id="105529" name="Line 230">
              <a:extLst>
                <a:ext uri="{FF2B5EF4-FFF2-40B4-BE49-F238E27FC236}">
                  <a16:creationId xmlns:a16="http://schemas.microsoft.com/office/drawing/2014/main" id="{C0D1F5E8-A028-9742-860F-B29752F2CEC9}"/>
                </a:ext>
              </a:extLst>
            </p:cNvPr>
            <p:cNvSpPr>
              <a:spLocks noChangeShapeType="1"/>
            </p:cNvSpPr>
            <p:nvPr/>
          </p:nvSpPr>
          <p:spPr bwMode="auto">
            <a:xfrm>
              <a:off x="3925" y="17228"/>
              <a:ext cx="1" cy="27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30" name="Text Box 229">
              <a:extLst>
                <a:ext uri="{FF2B5EF4-FFF2-40B4-BE49-F238E27FC236}">
                  <a16:creationId xmlns:a16="http://schemas.microsoft.com/office/drawing/2014/main" id="{66EFBF27-1B0B-954E-A949-E7A2CDCF5178}"/>
                </a:ext>
              </a:extLst>
            </p:cNvPr>
            <p:cNvSpPr txBox="1">
              <a:spLocks noChangeArrowheads="1"/>
            </p:cNvSpPr>
            <p:nvPr/>
          </p:nvSpPr>
          <p:spPr bwMode="auto">
            <a:xfrm>
              <a:off x="3456" y="17499"/>
              <a:ext cx="940" cy="407"/>
            </a:xfrm>
            <a:prstGeom prst="rect">
              <a:avLst/>
            </a:prstGeom>
            <a:grpFill/>
            <a:ln w="9525">
              <a:solidFill>
                <a:srgbClr val="000000"/>
              </a:solidFill>
              <a:miter lim="800000"/>
            </a:ln>
          </p:spPr>
          <p:txBody>
            <a:bodyPr/>
            <a:lstStyle/>
            <a:p>
              <a:pPr algn="ctr" eaLnBrk="0" hangingPunct="0">
                <a:defRPr/>
              </a:pPr>
              <a:r>
                <a:rPr lang="zh-CN" altLang="zh-CN" sz="1200" b="1" dirty="0">
                  <a:latin typeface="Times New Roman" panose="02020603050405020304" pitchFamily="18" charset="0"/>
                  <a:cs typeface="Times New Roman" panose="02020603050405020304" pitchFamily="18" charset="0"/>
                </a:rPr>
                <a:t>字节替换</a:t>
              </a:r>
              <a:endParaRPr lang="zh-CN" altLang="zh-CN" sz="1200" b="1" dirty="0"/>
            </a:p>
          </p:txBody>
        </p:sp>
        <p:sp>
          <p:nvSpPr>
            <p:cNvPr id="105531" name="Text Box 228">
              <a:extLst>
                <a:ext uri="{FF2B5EF4-FFF2-40B4-BE49-F238E27FC236}">
                  <a16:creationId xmlns:a16="http://schemas.microsoft.com/office/drawing/2014/main" id="{C7DFE8A9-536B-5346-BBC1-CE1B1129A44B}"/>
                </a:ext>
              </a:extLst>
            </p:cNvPr>
            <p:cNvSpPr txBox="1">
              <a:spLocks noChangeArrowheads="1"/>
            </p:cNvSpPr>
            <p:nvPr/>
          </p:nvSpPr>
          <p:spPr bwMode="auto">
            <a:xfrm>
              <a:off x="3456" y="18179"/>
              <a:ext cx="937"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行移位</a:t>
              </a:r>
              <a:endParaRPr lang="zh-CN" altLang="zh-CN" sz="1200" b="1"/>
            </a:p>
          </p:txBody>
        </p:sp>
        <p:sp>
          <p:nvSpPr>
            <p:cNvPr id="105532" name="Text Box 227">
              <a:extLst>
                <a:ext uri="{FF2B5EF4-FFF2-40B4-BE49-F238E27FC236}">
                  <a16:creationId xmlns:a16="http://schemas.microsoft.com/office/drawing/2014/main" id="{DC80DE42-0454-5A49-AF49-DE95885D0356}"/>
                </a:ext>
              </a:extLst>
            </p:cNvPr>
            <p:cNvSpPr txBox="1">
              <a:spLocks noChangeArrowheads="1"/>
            </p:cNvSpPr>
            <p:nvPr/>
          </p:nvSpPr>
          <p:spPr bwMode="auto">
            <a:xfrm>
              <a:off x="3456" y="18858"/>
              <a:ext cx="937" cy="408"/>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列混淆</a:t>
              </a:r>
              <a:endParaRPr lang="zh-CN" altLang="zh-CN" sz="1200" b="1"/>
            </a:p>
          </p:txBody>
        </p:sp>
        <p:sp>
          <p:nvSpPr>
            <p:cNvPr id="105533" name="Text Box 226">
              <a:extLst>
                <a:ext uri="{FF2B5EF4-FFF2-40B4-BE49-F238E27FC236}">
                  <a16:creationId xmlns:a16="http://schemas.microsoft.com/office/drawing/2014/main" id="{68DA95D7-0CBC-7541-A16A-44104F73B8D1}"/>
                </a:ext>
              </a:extLst>
            </p:cNvPr>
            <p:cNvSpPr txBox="1">
              <a:spLocks noChangeArrowheads="1"/>
            </p:cNvSpPr>
            <p:nvPr/>
          </p:nvSpPr>
          <p:spPr bwMode="auto">
            <a:xfrm>
              <a:off x="3456" y="19537"/>
              <a:ext cx="937" cy="408"/>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34" name="Rectangle 225">
              <a:extLst>
                <a:ext uri="{FF2B5EF4-FFF2-40B4-BE49-F238E27FC236}">
                  <a16:creationId xmlns:a16="http://schemas.microsoft.com/office/drawing/2014/main" id="{EE33A328-CF3A-F34B-BE88-FF87B660C29A}"/>
                </a:ext>
              </a:extLst>
            </p:cNvPr>
            <p:cNvSpPr>
              <a:spLocks noChangeArrowheads="1"/>
            </p:cNvSpPr>
            <p:nvPr/>
          </p:nvSpPr>
          <p:spPr bwMode="auto">
            <a:xfrm>
              <a:off x="2673" y="17364"/>
              <a:ext cx="1877" cy="2037"/>
            </a:xfrm>
            <a:prstGeom prst="rect">
              <a:avLst/>
            </a:prstGeom>
            <a:noFill/>
            <a:ln>
              <a:noFill/>
            </a:ln>
          </p:spPr>
          <p:txBody>
            <a:bodyPr/>
            <a:lstStyle/>
            <a:p>
              <a:pPr eaLnBrk="0" hangingPunct="0">
                <a:defRPr/>
              </a:pPr>
              <a:endParaRPr lang="zh-CN" altLang="en-US" sz="1200" b="1"/>
            </a:p>
          </p:txBody>
        </p:sp>
        <p:sp>
          <p:nvSpPr>
            <p:cNvPr id="105535" name="Line 224">
              <a:extLst>
                <a:ext uri="{FF2B5EF4-FFF2-40B4-BE49-F238E27FC236}">
                  <a16:creationId xmlns:a16="http://schemas.microsoft.com/office/drawing/2014/main" id="{18F44611-F4D3-394A-95BE-236BEEB37EB5}"/>
                </a:ext>
              </a:extLst>
            </p:cNvPr>
            <p:cNvSpPr>
              <a:spLocks noChangeShapeType="1"/>
            </p:cNvSpPr>
            <p:nvPr/>
          </p:nvSpPr>
          <p:spPr bwMode="auto">
            <a:xfrm>
              <a:off x="3925" y="17907"/>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36" name="Line 223">
              <a:extLst>
                <a:ext uri="{FF2B5EF4-FFF2-40B4-BE49-F238E27FC236}">
                  <a16:creationId xmlns:a16="http://schemas.microsoft.com/office/drawing/2014/main" id="{850DBF16-4BCF-A148-B231-AA800EE3BCA2}"/>
                </a:ext>
              </a:extLst>
            </p:cNvPr>
            <p:cNvSpPr>
              <a:spLocks noChangeShapeType="1"/>
            </p:cNvSpPr>
            <p:nvPr/>
          </p:nvSpPr>
          <p:spPr bwMode="auto">
            <a:xfrm>
              <a:off x="3925" y="18586"/>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37" name="Line 222">
              <a:extLst>
                <a:ext uri="{FF2B5EF4-FFF2-40B4-BE49-F238E27FC236}">
                  <a16:creationId xmlns:a16="http://schemas.microsoft.com/office/drawing/2014/main" id="{802E1080-0212-2A4B-A0DB-63EB53FBE7CF}"/>
                </a:ext>
              </a:extLst>
            </p:cNvPr>
            <p:cNvSpPr>
              <a:spLocks noChangeShapeType="1"/>
            </p:cNvSpPr>
            <p:nvPr/>
          </p:nvSpPr>
          <p:spPr bwMode="auto">
            <a:xfrm>
              <a:off x="3925" y="19266"/>
              <a:ext cx="1" cy="27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38" name="Text Box 221">
              <a:extLst>
                <a:ext uri="{FF2B5EF4-FFF2-40B4-BE49-F238E27FC236}">
                  <a16:creationId xmlns:a16="http://schemas.microsoft.com/office/drawing/2014/main" id="{021A33B6-4F66-334D-93C0-48DC338135A8}"/>
                </a:ext>
              </a:extLst>
            </p:cNvPr>
            <p:cNvSpPr txBox="1">
              <a:spLocks noChangeArrowheads="1"/>
            </p:cNvSpPr>
            <p:nvPr/>
          </p:nvSpPr>
          <p:spPr bwMode="auto">
            <a:xfrm>
              <a:off x="2360" y="18451"/>
              <a:ext cx="783" cy="407"/>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第</a:t>
              </a:r>
              <a:r>
                <a:rPr lang="en-US" altLang="zh-CN" sz="1200" b="1">
                  <a:latin typeface="Times New Roman" panose="02020603050405020304" pitchFamily="18" charset="0"/>
                  <a:cs typeface="Times New Roman" panose="02020603050405020304" pitchFamily="18" charset="0"/>
                </a:rPr>
                <a:t>9</a:t>
              </a:r>
              <a:r>
                <a:rPr lang="zh-CN" altLang="en-US" sz="1200" b="1">
                  <a:latin typeface="Times New Roman" panose="02020603050405020304" pitchFamily="18" charset="0"/>
                  <a:cs typeface="Times New Roman" panose="02020603050405020304" pitchFamily="18" charset="0"/>
                </a:rPr>
                <a:t>轮</a:t>
              </a:r>
              <a:endParaRPr lang="zh-CN" altLang="en-US" sz="1200" b="1"/>
            </a:p>
          </p:txBody>
        </p:sp>
        <p:sp>
          <p:nvSpPr>
            <p:cNvPr id="105539" name="Line 220">
              <a:extLst>
                <a:ext uri="{FF2B5EF4-FFF2-40B4-BE49-F238E27FC236}">
                  <a16:creationId xmlns:a16="http://schemas.microsoft.com/office/drawing/2014/main" id="{C78AA653-D7FD-394A-8655-C6A7DD0A1A1B}"/>
                </a:ext>
              </a:extLst>
            </p:cNvPr>
            <p:cNvSpPr>
              <a:spLocks noChangeShapeType="1"/>
            </p:cNvSpPr>
            <p:nvPr/>
          </p:nvSpPr>
          <p:spPr bwMode="auto">
            <a:xfrm>
              <a:off x="3925" y="19945"/>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40" name="Text Box 219">
              <a:extLst>
                <a:ext uri="{FF2B5EF4-FFF2-40B4-BE49-F238E27FC236}">
                  <a16:creationId xmlns:a16="http://schemas.microsoft.com/office/drawing/2014/main" id="{F7E72BEF-40CF-F24B-AB6A-65B4524B05EE}"/>
                </a:ext>
              </a:extLst>
            </p:cNvPr>
            <p:cNvSpPr txBox="1">
              <a:spLocks noChangeArrowheads="1"/>
            </p:cNvSpPr>
            <p:nvPr/>
          </p:nvSpPr>
          <p:spPr bwMode="auto">
            <a:xfrm>
              <a:off x="3456" y="20217"/>
              <a:ext cx="940"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字节替换</a:t>
              </a:r>
              <a:endParaRPr lang="zh-CN" altLang="zh-CN" sz="1200" b="1"/>
            </a:p>
          </p:txBody>
        </p:sp>
        <p:sp>
          <p:nvSpPr>
            <p:cNvPr id="105541" name="Text Box 218">
              <a:extLst>
                <a:ext uri="{FF2B5EF4-FFF2-40B4-BE49-F238E27FC236}">
                  <a16:creationId xmlns:a16="http://schemas.microsoft.com/office/drawing/2014/main" id="{B1C44546-A140-F34E-93E8-BE8C1536D1AB}"/>
                </a:ext>
              </a:extLst>
            </p:cNvPr>
            <p:cNvSpPr txBox="1">
              <a:spLocks noChangeArrowheads="1"/>
            </p:cNvSpPr>
            <p:nvPr/>
          </p:nvSpPr>
          <p:spPr bwMode="auto">
            <a:xfrm>
              <a:off x="3456" y="20896"/>
              <a:ext cx="938"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行移位</a:t>
              </a:r>
              <a:endParaRPr lang="zh-CN" altLang="zh-CN" sz="1200" b="1"/>
            </a:p>
          </p:txBody>
        </p:sp>
        <p:sp>
          <p:nvSpPr>
            <p:cNvPr id="105542" name="Text Box 217">
              <a:extLst>
                <a:ext uri="{FF2B5EF4-FFF2-40B4-BE49-F238E27FC236}">
                  <a16:creationId xmlns:a16="http://schemas.microsoft.com/office/drawing/2014/main" id="{47EBF50E-C7B8-0F44-8BFE-79D6206C0929}"/>
                </a:ext>
              </a:extLst>
            </p:cNvPr>
            <p:cNvSpPr txBox="1">
              <a:spLocks noChangeArrowheads="1"/>
            </p:cNvSpPr>
            <p:nvPr/>
          </p:nvSpPr>
          <p:spPr bwMode="auto">
            <a:xfrm>
              <a:off x="3456" y="21576"/>
              <a:ext cx="938" cy="406"/>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43" name="Rectangle 216">
              <a:extLst>
                <a:ext uri="{FF2B5EF4-FFF2-40B4-BE49-F238E27FC236}">
                  <a16:creationId xmlns:a16="http://schemas.microsoft.com/office/drawing/2014/main" id="{D5993E28-EA72-AA46-A77D-041A30C4720F}"/>
                </a:ext>
              </a:extLst>
            </p:cNvPr>
            <p:cNvSpPr>
              <a:spLocks noChangeArrowheads="1"/>
            </p:cNvSpPr>
            <p:nvPr/>
          </p:nvSpPr>
          <p:spPr bwMode="auto">
            <a:xfrm>
              <a:off x="2672" y="20081"/>
              <a:ext cx="1878" cy="2038"/>
            </a:xfrm>
            <a:prstGeom prst="rect">
              <a:avLst/>
            </a:prstGeom>
            <a:noFill/>
            <a:ln>
              <a:noFill/>
            </a:ln>
          </p:spPr>
          <p:txBody>
            <a:bodyPr/>
            <a:lstStyle/>
            <a:p>
              <a:pPr eaLnBrk="0" hangingPunct="0">
                <a:defRPr/>
              </a:pPr>
              <a:endParaRPr lang="zh-CN" altLang="en-US" sz="1200" b="1"/>
            </a:p>
          </p:txBody>
        </p:sp>
        <p:sp>
          <p:nvSpPr>
            <p:cNvPr id="105544" name="Line 215">
              <a:extLst>
                <a:ext uri="{FF2B5EF4-FFF2-40B4-BE49-F238E27FC236}">
                  <a16:creationId xmlns:a16="http://schemas.microsoft.com/office/drawing/2014/main" id="{70846DC1-5B6D-7F49-83BC-168D21575DA2}"/>
                </a:ext>
              </a:extLst>
            </p:cNvPr>
            <p:cNvSpPr>
              <a:spLocks noChangeShapeType="1"/>
            </p:cNvSpPr>
            <p:nvPr/>
          </p:nvSpPr>
          <p:spPr bwMode="auto">
            <a:xfrm>
              <a:off x="3925" y="20624"/>
              <a:ext cx="2"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45" name="Line 214">
              <a:extLst>
                <a:ext uri="{FF2B5EF4-FFF2-40B4-BE49-F238E27FC236}">
                  <a16:creationId xmlns:a16="http://schemas.microsoft.com/office/drawing/2014/main" id="{7E13728A-F187-BE4F-A60B-1D7D9C97C6BF}"/>
                </a:ext>
              </a:extLst>
            </p:cNvPr>
            <p:cNvSpPr>
              <a:spLocks noChangeShapeType="1"/>
            </p:cNvSpPr>
            <p:nvPr/>
          </p:nvSpPr>
          <p:spPr bwMode="auto">
            <a:xfrm>
              <a:off x="3925" y="21303"/>
              <a:ext cx="2"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46" name="Text Box 213">
              <a:extLst>
                <a:ext uri="{FF2B5EF4-FFF2-40B4-BE49-F238E27FC236}">
                  <a16:creationId xmlns:a16="http://schemas.microsoft.com/office/drawing/2014/main" id="{5BB402ED-8DEC-6349-8DE2-62B1C6A958A1}"/>
                </a:ext>
              </a:extLst>
            </p:cNvPr>
            <p:cNvSpPr txBox="1">
              <a:spLocks noChangeArrowheads="1"/>
            </p:cNvSpPr>
            <p:nvPr/>
          </p:nvSpPr>
          <p:spPr bwMode="auto">
            <a:xfrm>
              <a:off x="2360" y="20896"/>
              <a:ext cx="783" cy="543"/>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第</a:t>
              </a:r>
              <a:r>
                <a:rPr lang="en-US" altLang="zh-CN" sz="1200" b="1">
                  <a:latin typeface="Times New Roman" panose="02020603050405020304" pitchFamily="18" charset="0"/>
                  <a:cs typeface="Times New Roman" panose="02020603050405020304" pitchFamily="18" charset="0"/>
                </a:rPr>
                <a:t>10</a:t>
              </a:r>
              <a:r>
                <a:rPr lang="zh-CN" altLang="en-US" sz="1200" b="1">
                  <a:latin typeface="Times New Roman" panose="02020603050405020304" pitchFamily="18" charset="0"/>
                  <a:cs typeface="Times New Roman" panose="02020603050405020304" pitchFamily="18" charset="0"/>
                </a:rPr>
                <a:t>轮</a:t>
              </a:r>
              <a:endParaRPr lang="zh-CN" altLang="en-US" sz="1200" b="1"/>
            </a:p>
          </p:txBody>
        </p:sp>
        <p:sp>
          <p:nvSpPr>
            <p:cNvPr id="105547" name="Line 212">
              <a:extLst>
                <a:ext uri="{FF2B5EF4-FFF2-40B4-BE49-F238E27FC236}">
                  <a16:creationId xmlns:a16="http://schemas.microsoft.com/office/drawing/2014/main" id="{01BD2FF3-79D5-1547-926B-844F456224FC}"/>
                </a:ext>
              </a:extLst>
            </p:cNvPr>
            <p:cNvSpPr>
              <a:spLocks noChangeShapeType="1"/>
            </p:cNvSpPr>
            <p:nvPr/>
          </p:nvSpPr>
          <p:spPr bwMode="auto">
            <a:xfrm>
              <a:off x="3925" y="21983"/>
              <a:ext cx="0"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48" name="Text Box 211">
              <a:extLst>
                <a:ext uri="{FF2B5EF4-FFF2-40B4-BE49-F238E27FC236}">
                  <a16:creationId xmlns:a16="http://schemas.microsoft.com/office/drawing/2014/main" id="{9C5D44D0-1F1C-8F4C-A0B5-9A888B6A7F5A}"/>
                </a:ext>
              </a:extLst>
            </p:cNvPr>
            <p:cNvSpPr txBox="1">
              <a:spLocks noChangeArrowheads="1"/>
            </p:cNvSpPr>
            <p:nvPr/>
          </p:nvSpPr>
          <p:spPr bwMode="auto">
            <a:xfrm>
              <a:off x="3456" y="22255"/>
              <a:ext cx="939" cy="409"/>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密文</a:t>
              </a:r>
              <a:endParaRPr lang="zh-CN" altLang="zh-CN" sz="1200" b="1"/>
            </a:p>
          </p:txBody>
        </p:sp>
        <p:sp>
          <p:nvSpPr>
            <p:cNvPr id="105549" name="Text Box 210">
              <a:extLst>
                <a:ext uri="{FF2B5EF4-FFF2-40B4-BE49-F238E27FC236}">
                  <a16:creationId xmlns:a16="http://schemas.microsoft.com/office/drawing/2014/main" id="{5A98529E-1360-094B-9892-22B8893328A3}"/>
                </a:ext>
              </a:extLst>
            </p:cNvPr>
            <p:cNvSpPr txBox="1">
              <a:spLocks noChangeArrowheads="1"/>
            </p:cNvSpPr>
            <p:nvPr/>
          </p:nvSpPr>
          <p:spPr bwMode="auto">
            <a:xfrm>
              <a:off x="3143" y="22663"/>
              <a:ext cx="1408" cy="407"/>
            </a:xfrm>
            <a:prstGeom prst="rect">
              <a:avLst/>
            </a:prstGeom>
            <a:grpFill/>
            <a:ln>
              <a:noFill/>
            </a:ln>
          </p:spPr>
          <p:txBody>
            <a:bodyPr/>
            <a:lstStyle/>
            <a:p>
              <a:pPr eaLnBrk="0" hangingPunct="0">
                <a:defRPr/>
              </a:pPr>
              <a:r>
                <a:rPr lang="zh-CN" altLang="zh-CN" sz="1200" b="1">
                  <a:latin typeface="Times New Roman" panose="02020603050405020304" pitchFamily="18" charset="0"/>
                  <a:cs typeface="Times New Roman" panose="02020603050405020304" pitchFamily="18" charset="0"/>
                </a:rPr>
                <a:t>（</a:t>
              </a:r>
              <a:r>
                <a:rPr lang="en-US" altLang="zh-CN" sz="1200" b="1">
                  <a:latin typeface="Times New Roman" panose="02020603050405020304" pitchFamily="18" charset="0"/>
                  <a:cs typeface="Times New Roman" panose="02020603050405020304" pitchFamily="18" charset="0"/>
                </a:rPr>
                <a:t>i</a:t>
              </a:r>
              <a:r>
                <a:rPr lang="zh-CN" altLang="en-US" sz="1200" b="1">
                  <a:latin typeface="Times New Roman" panose="02020603050405020304" pitchFamily="18" charset="0"/>
                  <a:cs typeface="Times New Roman" panose="02020603050405020304" pitchFamily="18" charset="0"/>
                </a:rPr>
                <a:t>）加密</a:t>
              </a:r>
              <a:endParaRPr lang="zh-CN" altLang="en-US" sz="1200" b="1"/>
            </a:p>
          </p:txBody>
        </p:sp>
        <p:sp>
          <p:nvSpPr>
            <p:cNvPr id="105550" name="Text Box 209">
              <a:extLst>
                <a:ext uri="{FF2B5EF4-FFF2-40B4-BE49-F238E27FC236}">
                  <a16:creationId xmlns:a16="http://schemas.microsoft.com/office/drawing/2014/main" id="{DC61ACB9-150E-974C-81AB-3C5430D4058C}"/>
                </a:ext>
              </a:extLst>
            </p:cNvPr>
            <p:cNvSpPr txBox="1">
              <a:spLocks noChangeArrowheads="1"/>
            </p:cNvSpPr>
            <p:nvPr/>
          </p:nvSpPr>
          <p:spPr bwMode="auto">
            <a:xfrm>
              <a:off x="7056" y="12608"/>
              <a:ext cx="938" cy="408"/>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51" name="Text Box 208">
              <a:extLst>
                <a:ext uri="{FF2B5EF4-FFF2-40B4-BE49-F238E27FC236}">
                  <a16:creationId xmlns:a16="http://schemas.microsoft.com/office/drawing/2014/main" id="{87BB78BA-DF74-814E-AE32-3C247A49901D}"/>
                </a:ext>
              </a:extLst>
            </p:cNvPr>
            <p:cNvSpPr txBox="1">
              <a:spLocks noChangeArrowheads="1"/>
            </p:cNvSpPr>
            <p:nvPr/>
          </p:nvSpPr>
          <p:spPr bwMode="auto">
            <a:xfrm>
              <a:off x="7056" y="13287"/>
              <a:ext cx="940"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逆字节替换</a:t>
              </a:r>
              <a:endParaRPr lang="zh-CN" altLang="zh-CN" sz="1200" b="1"/>
            </a:p>
          </p:txBody>
        </p:sp>
        <p:sp>
          <p:nvSpPr>
            <p:cNvPr id="105552" name="Text Box 207">
              <a:extLst>
                <a:ext uri="{FF2B5EF4-FFF2-40B4-BE49-F238E27FC236}">
                  <a16:creationId xmlns:a16="http://schemas.microsoft.com/office/drawing/2014/main" id="{654B2D69-E7D1-ED4D-BB2D-FBFBE3B7375E}"/>
                </a:ext>
              </a:extLst>
            </p:cNvPr>
            <p:cNvSpPr txBox="1">
              <a:spLocks noChangeArrowheads="1"/>
            </p:cNvSpPr>
            <p:nvPr/>
          </p:nvSpPr>
          <p:spPr bwMode="auto">
            <a:xfrm>
              <a:off x="7056" y="13967"/>
              <a:ext cx="938" cy="408"/>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逆行移位</a:t>
              </a:r>
              <a:endParaRPr lang="zh-CN" altLang="zh-CN" sz="1200" b="1"/>
            </a:p>
          </p:txBody>
        </p:sp>
        <p:sp>
          <p:nvSpPr>
            <p:cNvPr id="105553" name="Text Box 206">
              <a:extLst>
                <a:ext uri="{FF2B5EF4-FFF2-40B4-BE49-F238E27FC236}">
                  <a16:creationId xmlns:a16="http://schemas.microsoft.com/office/drawing/2014/main" id="{AAE96E0C-86F3-4F4E-91BB-260CE08FE25B}"/>
                </a:ext>
              </a:extLst>
            </p:cNvPr>
            <p:cNvSpPr txBox="1">
              <a:spLocks noChangeArrowheads="1"/>
            </p:cNvSpPr>
            <p:nvPr/>
          </p:nvSpPr>
          <p:spPr bwMode="auto">
            <a:xfrm>
              <a:off x="7056" y="14646"/>
              <a:ext cx="938" cy="408"/>
            </a:xfrm>
            <a:prstGeom prst="rect">
              <a:avLst/>
            </a:prstGeom>
            <a:grpFill/>
            <a:ln w="9525">
              <a:solidFill>
                <a:srgbClr val="000000"/>
              </a:solidFill>
              <a:miter lim="800000"/>
            </a:ln>
          </p:spPr>
          <p:txBody>
            <a:bodyPr/>
            <a:lstStyle/>
            <a:p>
              <a:pPr algn="ctr" eaLnBrk="0" hangingPunct="0">
                <a:defRPr/>
              </a:pPr>
              <a:r>
                <a:rPr lang="zh-CN" altLang="zh-CN" sz="1200" b="1" dirty="0">
                  <a:latin typeface="Times New Roman" panose="02020603050405020304" pitchFamily="18" charset="0"/>
                  <a:cs typeface="Times New Roman" panose="02020603050405020304" pitchFamily="18" charset="0"/>
                </a:rPr>
                <a:t>逆列混</a:t>
              </a:r>
              <a:r>
                <a:rPr lang="zh-CN" altLang="en-US" sz="1200" b="1" dirty="0">
                  <a:latin typeface="Times New Roman" panose="02020603050405020304" pitchFamily="18" charset="0"/>
                  <a:cs typeface="Times New Roman" panose="02020603050405020304" pitchFamily="18" charset="0"/>
                </a:rPr>
                <a:t>淆</a:t>
              </a:r>
              <a:endParaRPr lang="zh-CN" altLang="zh-CN" sz="1200" b="1" dirty="0"/>
            </a:p>
          </p:txBody>
        </p:sp>
        <p:sp>
          <p:nvSpPr>
            <p:cNvPr id="105554" name="Text Box 205">
              <a:extLst>
                <a:ext uri="{FF2B5EF4-FFF2-40B4-BE49-F238E27FC236}">
                  <a16:creationId xmlns:a16="http://schemas.microsoft.com/office/drawing/2014/main" id="{8D356CE0-7C7D-864C-9008-3A8D2E254D19}"/>
                </a:ext>
              </a:extLst>
            </p:cNvPr>
            <p:cNvSpPr txBox="1">
              <a:spLocks noChangeArrowheads="1"/>
            </p:cNvSpPr>
            <p:nvPr/>
          </p:nvSpPr>
          <p:spPr bwMode="auto">
            <a:xfrm>
              <a:off x="7056" y="15327"/>
              <a:ext cx="938" cy="406"/>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55" name="Text Box 204">
              <a:extLst>
                <a:ext uri="{FF2B5EF4-FFF2-40B4-BE49-F238E27FC236}">
                  <a16:creationId xmlns:a16="http://schemas.microsoft.com/office/drawing/2014/main" id="{3B68DAF8-7E8C-5443-A223-BD37BE13FF8B}"/>
                </a:ext>
              </a:extLst>
            </p:cNvPr>
            <p:cNvSpPr txBox="1">
              <a:spLocks noChangeArrowheads="1"/>
            </p:cNvSpPr>
            <p:nvPr/>
          </p:nvSpPr>
          <p:spPr bwMode="auto">
            <a:xfrm>
              <a:off x="7056" y="11929"/>
              <a:ext cx="938" cy="406"/>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明文</a:t>
              </a:r>
              <a:endParaRPr lang="zh-CN" altLang="zh-CN" sz="1200" b="1"/>
            </a:p>
          </p:txBody>
        </p:sp>
        <p:sp>
          <p:nvSpPr>
            <p:cNvPr id="105556" name="Line 203">
              <a:extLst>
                <a:ext uri="{FF2B5EF4-FFF2-40B4-BE49-F238E27FC236}">
                  <a16:creationId xmlns:a16="http://schemas.microsoft.com/office/drawing/2014/main" id="{01FCD788-47F6-7A41-9BCA-91EB0FAF70EE}"/>
                </a:ext>
              </a:extLst>
            </p:cNvPr>
            <p:cNvSpPr>
              <a:spLocks noChangeShapeType="1"/>
            </p:cNvSpPr>
            <p:nvPr/>
          </p:nvSpPr>
          <p:spPr bwMode="auto">
            <a:xfrm rot="10800000">
              <a:off x="7525" y="12200"/>
              <a:ext cx="1" cy="408"/>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57" name="Line 202">
              <a:extLst>
                <a:ext uri="{FF2B5EF4-FFF2-40B4-BE49-F238E27FC236}">
                  <a16:creationId xmlns:a16="http://schemas.microsoft.com/office/drawing/2014/main" id="{27D473D6-A1A6-A145-82D7-C7C455932D9E}"/>
                </a:ext>
              </a:extLst>
            </p:cNvPr>
            <p:cNvSpPr>
              <a:spLocks noChangeShapeType="1"/>
            </p:cNvSpPr>
            <p:nvPr/>
          </p:nvSpPr>
          <p:spPr bwMode="auto">
            <a:xfrm rot="10800000">
              <a:off x="7525" y="13016"/>
              <a:ext cx="1" cy="27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58" name="Line 201">
              <a:extLst>
                <a:ext uri="{FF2B5EF4-FFF2-40B4-BE49-F238E27FC236}">
                  <a16:creationId xmlns:a16="http://schemas.microsoft.com/office/drawing/2014/main" id="{ACCA0FDF-BC1D-C643-BB31-AB992360765D}"/>
                </a:ext>
              </a:extLst>
            </p:cNvPr>
            <p:cNvSpPr>
              <a:spLocks noChangeShapeType="1"/>
            </p:cNvSpPr>
            <p:nvPr/>
          </p:nvSpPr>
          <p:spPr bwMode="auto">
            <a:xfrm rot="10800000">
              <a:off x="7525" y="13695"/>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59" name="Line 200">
              <a:extLst>
                <a:ext uri="{FF2B5EF4-FFF2-40B4-BE49-F238E27FC236}">
                  <a16:creationId xmlns:a16="http://schemas.microsoft.com/office/drawing/2014/main" id="{BB888855-6816-6A47-98F1-7A636CA38062}"/>
                </a:ext>
              </a:extLst>
            </p:cNvPr>
            <p:cNvSpPr>
              <a:spLocks noChangeShapeType="1"/>
            </p:cNvSpPr>
            <p:nvPr/>
          </p:nvSpPr>
          <p:spPr bwMode="auto">
            <a:xfrm rot="10800000">
              <a:off x="7525" y="14375"/>
              <a:ext cx="1" cy="27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60" name="Line 199">
              <a:extLst>
                <a:ext uri="{FF2B5EF4-FFF2-40B4-BE49-F238E27FC236}">
                  <a16:creationId xmlns:a16="http://schemas.microsoft.com/office/drawing/2014/main" id="{FA877BBC-0665-7143-A886-DFD1A8629C0E}"/>
                </a:ext>
              </a:extLst>
            </p:cNvPr>
            <p:cNvSpPr>
              <a:spLocks noChangeShapeType="1"/>
            </p:cNvSpPr>
            <p:nvPr/>
          </p:nvSpPr>
          <p:spPr bwMode="auto">
            <a:xfrm rot="10800000">
              <a:off x="7525" y="15054"/>
              <a:ext cx="1" cy="273"/>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61" name="Line 198">
              <a:extLst>
                <a:ext uri="{FF2B5EF4-FFF2-40B4-BE49-F238E27FC236}">
                  <a16:creationId xmlns:a16="http://schemas.microsoft.com/office/drawing/2014/main" id="{12B5E189-79B2-A541-B665-E5DCB1106BC7}"/>
                </a:ext>
              </a:extLst>
            </p:cNvPr>
            <p:cNvSpPr>
              <a:spLocks noChangeShapeType="1"/>
            </p:cNvSpPr>
            <p:nvPr/>
          </p:nvSpPr>
          <p:spPr bwMode="auto">
            <a:xfrm rot="10800000">
              <a:off x="7525" y="15733"/>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62" name="Line 197">
              <a:extLst>
                <a:ext uri="{FF2B5EF4-FFF2-40B4-BE49-F238E27FC236}">
                  <a16:creationId xmlns:a16="http://schemas.microsoft.com/office/drawing/2014/main" id="{05B956C7-9168-4642-B6A9-D231BD380538}"/>
                </a:ext>
              </a:extLst>
            </p:cNvPr>
            <p:cNvSpPr>
              <a:spLocks noChangeShapeType="1"/>
            </p:cNvSpPr>
            <p:nvPr/>
          </p:nvSpPr>
          <p:spPr bwMode="auto">
            <a:xfrm>
              <a:off x="7525" y="17500"/>
              <a:ext cx="1" cy="951"/>
            </a:xfrm>
            <a:prstGeom prst="line">
              <a:avLst/>
            </a:prstGeom>
            <a:grpFill/>
            <a:ln w="19050">
              <a:solidFill>
                <a:srgbClr val="000000"/>
              </a:solidFill>
              <a:prstDash val="dash"/>
              <a:round/>
            </a:ln>
          </p:spPr>
          <p:txBody>
            <a:bodyPr/>
            <a:lstStyle/>
            <a:p>
              <a:pPr eaLnBrk="0" hangingPunct="0">
                <a:defRPr/>
              </a:pPr>
              <a:endParaRPr lang="zh-CN" altLang="en-US" sz="1200" b="1"/>
            </a:p>
          </p:txBody>
        </p:sp>
        <p:sp>
          <p:nvSpPr>
            <p:cNvPr id="105563" name="Line 196">
              <a:extLst>
                <a:ext uri="{FF2B5EF4-FFF2-40B4-BE49-F238E27FC236}">
                  <a16:creationId xmlns:a16="http://schemas.microsoft.com/office/drawing/2014/main" id="{FBC691AB-BC12-1D4F-9AC1-BD1BB69CA690}"/>
                </a:ext>
              </a:extLst>
            </p:cNvPr>
            <p:cNvSpPr>
              <a:spLocks noChangeShapeType="1"/>
            </p:cNvSpPr>
            <p:nvPr/>
          </p:nvSpPr>
          <p:spPr bwMode="auto">
            <a:xfrm rot="10800000">
              <a:off x="7525" y="17092"/>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64" name="Text Box 195">
              <a:extLst>
                <a:ext uri="{FF2B5EF4-FFF2-40B4-BE49-F238E27FC236}">
                  <a16:creationId xmlns:a16="http://schemas.microsoft.com/office/drawing/2014/main" id="{11B11A54-B72B-5844-87F1-70DF55B376E2}"/>
                </a:ext>
              </a:extLst>
            </p:cNvPr>
            <p:cNvSpPr txBox="1">
              <a:spLocks noChangeArrowheads="1"/>
            </p:cNvSpPr>
            <p:nvPr/>
          </p:nvSpPr>
          <p:spPr bwMode="auto">
            <a:xfrm>
              <a:off x="7056" y="16005"/>
              <a:ext cx="940"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逆字节替换</a:t>
              </a:r>
              <a:endParaRPr lang="zh-CN" altLang="zh-CN" sz="1200" b="1"/>
            </a:p>
          </p:txBody>
        </p:sp>
        <p:sp>
          <p:nvSpPr>
            <p:cNvPr id="105565" name="Text Box 194">
              <a:extLst>
                <a:ext uri="{FF2B5EF4-FFF2-40B4-BE49-F238E27FC236}">
                  <a16:creationId xmlns:a16="http://schemas.microsoft.com/office/drawing/2014/main" id="{6D7BF8E1-8070-9442-BEE7-05F8A2F2E9E4}"/>
                </a:ext>
              </a:extLst>
            </p:cNvPr>
            <p:cNvSpPr txBox="1">
              <a:spLocks noChangeArrowheads="1"/>
            </p:cNvSpPr>
            <p:nvPr/>
          </p:nvSpPr>
          <p:spPr bwMode="auto">
            <a:xfrm>
              <a:off x="7056" y="16684"/>
              <a:ext cx="937" cy="409"/>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逆行移位</a:t>
              </a:r>
              <a:endParaRPr lang="zh-CN" altLang="zh-CN" sz="1200" b="1"/>
            </a:p>
          </p:txBody>
        </p:sp>
        <p:sp>
          <p:nvSpPr>
            <p:cNvPr id="105566" name="Text Box 193">
              <a:extLst>
                <a:ext uri="{FF2B5EF4-FFF2-40B4-BE49-F238E27FC236}">
                  <a16:creationId xmlns:a16="http://schemas.microsoft.com/office/drawing/2014/main" id="{7BAA0E3A-E58D-4343-A6CB-1D842686D0D4}"/>
                </a:ext>
              </a:extLst>
            </p:cNvPr>
            <p:cNvSpPr txBox="1">
              <a:spLocks noChangeArrowheads="1"/>
            </p:cNvSpPr>
            <p:nvPr/>
          </p:nvSpPr>
          <p:spPr bwMode="auto">
            <a:xfrm>
              <a:off x="7056" y="18858"/>
              <a:ext cx="937" cy="408"/>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逆列混淆</a:t>
              </a:r>
              <a:endParaRPr lang="zh-CN" altLang="zh-CN" sz="1200" b="1"/>
            </a:p>
          </p:txBody>
        </p:sp>
        <p:sp>
          <p:nvSpPr>
            <p:cNvPr id="105567" name="Text Box 192">
              <a:extLst>
                <a:ext uri="{FF2B5EF4-FFF2-40B4-BE49-F238E27FC236}">
                  <a16:creationId xmlns:a16="http://schemas.microsoft.com/office/drawing/2014/main" id="{F6A61781-5F17-FD45-859E-925EFF715FD5}"/>
                </a:ext>
              </a:extLst>
            </p:cNvPr>
            <p:cNvSpPr txBox="1">
              <a:spLocks noChangeArrowheads="1"/>
            </p:cNvSpPr>
            <p:nvPr/>
          </p:nvSpPr>
          <p:spPr bwMode="auto">
            <a:xfrm>
              <a:off x="7056" y="19537"/>
              <a:ext cx="937" cy="408"/>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68" name="Line 191">
              <a:extLst>
                <a:ext uri="{FF2B5EF4-FFF2-40B4-BE49-F238E27FC236}">
                  <a16:creationId xmlns:a16="http://schemas.microsoft.com/office/drawing/2014/main" id="{4C94F4B9-58C2-BE4C-9B46-DC2B2D3354A6}"/>
                </a:ext>
              </a:extLst>
            </p:cNvPr>
            <p:cNvSpPr>
              <a:spLocks noChangeShapeType="1"/>
            </p:cNvSpPr>
            <p:nvPr/>
          </p:nvSpPr>
          <p:spPr bwMode="auto">
            <a:xfrm rot="10800000">
              <a:off x="7525" y="16413"/>
              <a:ext cx="1" cy="27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69" name="Line 190">
              <a:extLst>
                <a:ext uri="{FF2B5EF4-FFF2-40B4-BE49-F238E27FC236}">
                  <a16:creationId xmlns:a16="http://schemas.microsoft.com/office/drawing/2014/main" id="{14EC76EB-5371-2E4B-9967-15C9D4E4BDB8}"/>
                </a:ext>
              </a:extLst>
            </p:cNvPr>
            <p:cNvSpPr>
              <a:spLocks noChangeShapeType="1"/>
            </p:cNvSpPr>
            <p:nvPr/>
          </p:nvSpPr>
          <p:spPr bwMode="auto">
            <a:xfrm rot="10800000">
              <a:off x="7525" y="18587"/>
              <a:ext cx="1" cy="27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70" name="Line 189">
              <a:extLst>
                <a:ext uri="{FF2B5EF4-FFF2-40B4-BE49-F238E27FC236}">
                  <a16:creationId xmlns:a16="http://schemas.microsoft.com/office/drawing/2014/main" id="{B2CD0002-9ACA-1041-B6EE-6F0F8E1FCC80}"/>
                </a:ext>
              </a:extLst>
            </p:cNvPr>
            <p:cNvSpPr>
              <a:spLocks noChangeShapeType="1"/>
            </p:cNvSpPr>
            <p:nvPr/>
          </p:nvSpPr>
          <p:spPr bwMode="auto">
            <a:xfrm rot="10800000">
              <a:off x="7525" y="19266"/>
              <a:ext cx="1" cy="27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71" name="Line 188">
              <a:extLst>
                <a:ext uri="{FF2B5EF4-FFF2-40B4-BE49-F238E27FC236}">
                  <a16:creationId xmlns:a16="http://schemas.microsoft.com/office/drawing/2014/main" id="{59F119F7-6971-4A43-841A-C5015D615751}"/>
                </a:ext>
              </a:extLst>
            </p:cNvPr>
            <p:cNvSpPr>
              <a:spLocks noChangeShapeType="1"/>
            </p:cNvSpPr>
            <p:nvPr/>
          </p:nvSpPr>
          <p:spPr bwMode="auto">
            <a:xfrm rot="10800000">
              <a:off x="7525" y="19945"/>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72" name="Text Box 187">
              <a:extLst>
                <a:ext uri="{FF2B5EF4-FFF2-40B4-BE49-F238E27FC236}">
                  <a16:creationId xmlns:a16="http://schemas.microsoft.com/office/drawing/2014/main" id="{5D2B8F34-2D37-CD44-BA02-6C88450E7231}"/>
                </a:ext>
              </a:extLst>
            </p:cNvPr>
            <p:cNvSpPr txBox="1">
              <a:spLocks noChangeArrowheads="1"/>
            </p:cNvSpPr>
            <p:nvPr/>
          </p:nvSpPr>
          <p:spPr bwMode="auto">
            <a:xfrm>
              <a:off x="7056" y="20217"/>
              <a:ext cx="940"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逆字节替换</a:t>
              </a:r>
              <a:endParaRPr lang="zh-CN" altLang="zh-CN" sz="1200" b="1"/>
            </a:p>
          </p:txBody>
        </p:sp>
        <p:sp>
          <p:nvSpPr>
            <p:cNvPr id="105573" name="Text Box 186">
              <a:extLst>
                <a:ext uri="{FF2B5EF4-FFF2-40B4-BE49-F238E27FC236}">
                  <a16:creationId xmlns:a16="http://schemas.microsoft.com/office/drawing/2014/main" id="{8B85BDDE-074E-4943-BE70-AEDA8707571D}"/>
                </a:ext>
              </a:extLst>
            </p:cNvPr>
            <p:cNvSpPr txBox="1">
              <a:spLocks noChangeArrowheads="1"/>
            </p:cNvSpPr>
            <p:nvPr/>
          </p:nvSpPr>
          <p:spPr bwMode="auto">
            <a:xfrm>
              <a:off x="7056" y="20896"/>
              <a:ext cx="938"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逆行移位</a:t>
              </a:r>
              <a:endParaRPr lang="zh-CN" altLang="zh-CN" sz="1200" b="1"/>
            </a:p>
          </p:txBody>
        </p:sp>
        <p:sp>
          <p:nvSpPr>
            <p:cNvPr id="105574" name="Text Box 185">
              <a:extLst>
                <a:ext uri="{FF2B5EF4-FFF2-40B4-BE49-F238E27FC236}">
                  <a16:creationId xmlns:a16="http://schemas.microsoft.com/office/drawing/2014/main" id="{A36429D5-64A1-5D4C-B5C2-04A35D083498}"/>
                </a:ext>
              </a:extLst>
            </p:cNvPr>
            <p:cNvSpPr txBox="1">
              <a:spLocks noChangeArrowheads="1"/>
            </p:cNvSpPr>
            <p:nvPr/>
          </p:nvSpPr>
          <p:spPr bwMode="auto">
            <a:xfrm>
              <a:off x="7056" y="21577"/>
              <a:ext cx="938" cy="405"/>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轮密钥加</a:t>
              </a:r>
              <a:endParaRPr lang="zh-CN" altLang="zh-CN" sz="1200" b="1"/>
            </a:p>
          </p:txBody>
        </p:sp>
        <p:sp>
          <p:nvSpPr>
            <p:cNvPr id="105575" name="Line 184">
              <a:extLst>
                <a:ext uri="{FF2B5EF4-FFF2-40B4-BE49-F238E27FC236}">
                  <a16:creationId xmlns:a16="http://schemas.microsoft.com/office/drawing/2014/main" id="{FEB8820B-8B53-124D-9676-D54E8689306D}"/>
                </a:ext>
              </a:extLst>
            </p:cNvPr>
            <p:cNvSpPr>
              <a:spLocks noChangeShapeType="1"/>
            </p:cNvSpPr>
            <p:nvPr/>
          </p:nvSpPr>
          <p:spPr bwMode="auto">
            <a:xfrm rot="10800000">
              <a:off x="7525" y="20624"/>
              <a:ext cx="2"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76" name="Line 183">
              <a:extLst>
                <a:ext uri="{FF2B5EF4-FFF2-40B4-BE49-F238E27FC236}">
                  <a16:creationId xmlns:a16="http://schemas.microsoft.com/office/drawing/2014/main" id="{8C30FF7F-B17B-A540-A854-9F15E3247348}"/>
                </a:ext>
              </a:extLst>
            </p:cNvPr>
            <p:cNvSpPr>
              <a:spLocks noChangeShapeType="1"/>
            </p:cNvSpPr>
            <p:nvPr/>
          </p:nvSpPr>
          <p:spPr bwMode="auto">
            <a:xfrm rot="10800000">
              <a:off x="7525" y="21303"/>
              <a:ext cx="2"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77" name="Line 182">
              <a:extLst>
                <a:ext uri="{FF2B5EF4-FFF2-40B4-BE49-F238E27FC236}">
                  <a16:creationId xmlns:a16="http://schemas.microsoft.com/office/drawing/2014/main" id="{6711AD63-520E-1243-8A0C-8204CCEC6709}"/>
                </a:ext>
              </a:extLst>
            </p:cNvPr>
            <p:cNvSpPr>
              <a:spLocks noChangeShapeType="1"/>
            </p:cNvSpPr>
            <p:nvPr/>
          </p:nvSpPr>
          <p:spPr bwMode="auto">
            <a:xfrm rot="10800000">
              <a:off x="7525" y="21983"/>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78" name="Text Box 181">
              <a:extLst>
                <a:ext uri="{FF2B5EF4-FFF2-40B4-BE49-F238E27FC236}">
                  <a16:creationId xmlns:a16="http://schemas.microsoft.com/office/drawing/2014/main" id="{CAD46B48-CC21-CC4C-BA1F-384CA22089E0}"/>
                </a:ext>
              </a:extLst>
            </p:cNvPr>
            <p:cNvSpPr txBox="1">
              <a:spLocks noChangeArrowheads="1"/>
            </p:cNvSpPr>
            <p:nvPr/>
          </p:nvSpPr>
          <p:spPr bwMode="auto">
            <a:xfrm>
              <a:off x="7056" y="22255"/>
              <a:ext cx="938" cy="409"/>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密文</a:t>
              </a:r>
              <a:endParaRPr lang="zh-CN" altLang="zh-CN" sz="1200" b="1"/>
            </a:p>
          </p:txBody>
        </p:sp>
        <p:sp>
          <p:nvSpPr>
            <p:cNvPr id="105579" name="Text Box 180">
              <a:extLst>
                <a:ext uri="{FF2B5EF4-FFF2-40B4-BE49-F238E27FC236}">
                  <a16:creationId xmlns:a16="http://schemas.microsoft.com/office/drawing/2014/main" id="{D50D24E5-91E7-E546-AD69-E7BC97E392ED}"/>
                </a:ext>
              </a:extLst>
            </p:cNvPr>
            <p:cNvSpPr txBox="1">
              <a:spLocks noChangeArrowheads="1"/>
            </p:cNvSpPr>
            <p:nvPr/>
          </p:nvSpPr>
          <p:spPr bwMode="auto">
            <a:xfrm>
              <a:off x="6899" y="22663"/>
              <a:ext cx="1409" cy="407"/>
            </a:xfrm>
            <a:prstGeom prst="rect">
              <a:avLst/>
            </a:prstGeom>
            <a:grpFill/>
            <a:ln>
              <a:noFill/>
            </a:ln>
          </p:spPr>
          <p:txBody>
            <a:bodyPr/>
            <a:lstStyle/>
            <a:p>
              <a:pPr eaLnBrk="0" hangingPunct="0">
                <a:defRPr/>
              </a:pPr>
              <a:r>
                <a:rPr lang="zh-CN" altLang="zh-CN" sz="1200" b="1">
                  <a:latin typeface="Times New Roman" panose="02020603050405020304" pitchFamily="18" charset="0"/>
                  <a:cs typeface="Times New Roman" panose="02020603050405020304" pitchFamily="18" charset="0"/>
                </a:rPr>
                <a:t>（</a:t>
              </a:r>
              <a:r>
                <a:rPr lang="en-US" altLang="zh-CN" sz="1200" b="1">
                  <a:latin typeface="Times New Roman" panose="02020603050405020304" pitchFamily="18" charset="0"/>
                  <a:cs typeface="Times New Roman" panose="02020603050405020304" pitchFamily="18" charset="0"/>
                </a:rPr>
                <a:t>ii</a:t>
              </a:r>
              <a:r>
                <a:rPr lang="zh-CN" altLang="en-US" sz="1200" b="1">
                  <a:latin typeface="Times New Roman" panose="02020603050405020304" pitchFamily="18" charset="0"/>
                  <a:cs typeface="Times New Roman" panose="02020603050405020304" pitchFamily="18" charset="0"/>
                </a:rPr>
                <a:t>）解密</a:t>
              </a:r>
              <a:endParaRPr lang="zh-CN" altLang="en-US" sz="1200" b="1"/>
            </a:p>
          </p:txBody>
        </p:sp>
        <p:sp>
          <p:nvSpPr>
            <p:cNvPr id="105580" name="Text Box 179">
              <a:extLst>
                <a:ext uri="{FF2B5EF4-FFF2-40B4-BE49-F238E27FC236}">
                  <a16:creationId xmlns:a16="http://schemas.microsoft.com/office/drawing/2014/main" id="{AAE11621-39CB-CD45-B19A-661FD7CD75BE}"/>
                </a:ext>
              </a:extLst>
            </p:cNvPr>
            <p:cNvSpPr txBox="1">
              <a:spLocks noChangeArrowheads="1"/>
            </p:cNvSpPr>
            <p:nvPr/>
          </p:nvSpPr>
          <p:spPr bwMode="auto">
            <a:xfrm>
              <a:off x="5334" y="11929"/>
              <a:ext cx="939" cy="407"/>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密钥</a:t>
              </a:r>
              <a:endParaRPr lang="zh-CN" altLang="zh-CN" sz="1200" b="1"/>
            </a:p>
          </p:txBody>
        </p:sp>
        <p:sp>
          <p:nvSpPr>
            <p:cNvPr id="105581" name="Text Box 178">
              <a:extLst>
                <a:ext uri="{FF2B5EF4-FFF2-40B4-BE49-F238E27FC236}">
                  <a16:creationId xmlns:a16="http://schemas.microsoft.com/office/drawing/2014/main" id="{4A4B8AC7-4319-7E44-B2E4-ADF79BA2C3D9}"/>
                </a:ext>
              </a:extLst>
            </p:cNvPr>
            <p:cNvSpPr txBox="1">
              <a:spLocks noChangeArrowheads="1"/>
            </p:cNvSpPr>
            <p:nvPr/>
          </p:nvSpPr>
          <p:spPr bwMode="auto">
            <a:xfrm>
              <a:off x="5334" y="12608"/>
              <a:ext cx="939" cy="408"/>
            </a:xfrm>
            <a:prstGeom prst="rect">
              <a:avLst/>
            </a:prstGeom>
            <a:grpFill/>
            <a:ln>
              <a:noFill/>
            </a:ln>
          </p:spPr>
          <p:txBody>
            <a:bodyPr/>
            <a:lstStyle/>
            <a:p>
              <a:pPr algn="ctr" eaLnBrk="0" hangingPunct="0">
                <a:defRPr/>
              </a:pP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[0, 3]</a:t>
              </a:r>
              <a:endParaRPr lang="en-US" altLang="zh-CN" sz="1200" b="1" dirty="0"/>
            </a:p>
          </p:txBody>
        </p:sp>
        <p:sp>
          <p:nvSpPr>
            <p:cNvPr id="105582" name="Line 177">
              <a:extLst>
                <a:ext uri="{FF2B5EF4-FFF2-40B4-BE49-F238E27FC236}">
                  <a16:creationId xmlns:a16="http://schemas.microsoft.com/office/drawing/2014/main" id="{2894F9D1-1D6E-604E-9729-1070AA14221B}"/>
                </a:ext>
              </a:extLst>
            </p:cNvPr>
            <p:cNvSpPr>
              <a:spLocks noChangeShapeType="1"/>
            </p:cNvSpPr>
            <p:nvPr/>
          </p:nvSpPr>
          <p:spPr bwMode="auto">
            <a:xfrm>
              <a:off x="5804" y="12336"/>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83" name="Line 176">
              <a:extLst>
                <a:ext uri="{FF2B5EF4-FFF2-40B4-BE49-F238E27FC236}">
                  <a16:creationId xmlns:a16="http://schemas.microsoft.com/office/drawing/2014/main" id="{D546B6C3-04B1-C64F-9C8A-BC9389E75EC6}"/>
                </a:ext>
              </a:extLst>
            </p:cNvPr>
            <p:cNvSpPr>
              <a:spLocks noChangeShapeType="1"/>
            </p:cNvSpPr>
            <p:nvPr/>
          </p:nvSpPr>
          <p:spPr bwMode="auto">
            <a:xfrm flipH="1">
              <a:off x="4395" y="12744"/>
              <a:ext cx="1095" cy="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84" name="Line 175">
              <a:extLst>
                <a:ext uri="{FF2B5EF4-FFF2-40B4-BE49-F238E27FC236}">
                  <a16:creationId xmlns:a16="http://schemas.microsoft.com/office/drawing/2014/main" id="{79AD5CC8-600E-A944-9584-2D16FB7908FB}"/>
                </a:ext>
              </a:extLst>
            </p:cNvPr>
            <p:cNvSpPr>
              <a:spLocks noChangeShapeType="1"/>
            </p:cNvSpPr>
            <p:nvPr/>
          </p:nvSpPr>
          <p:spPr bwMode="auto">
            <a:xfrm>
              <a:off x="6117" y="12744"/>
              <a:ext cx="939" cy="0"/>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85" name="Line 174">
              <a:extLst>
                <a:ext uri="{FF2B5EF4-FFF2-40B4-BE49-F238E27FC236}">
                  <a16:creationId xmlns:a16="http://schemas.microsoft.com/office/drawing/2014/main" id="{16F50979-7338-2B49-BDE6-97553C687B07}"/>
                </a:ext>
              </a:extLst>
            </p:cNvPr>
            <p:cNvSpPr>
              <a:spLocks noChangeShapeType="1"/>
            </p:cNvSpPr>
            <p:nvPr/>
          </p:nvSpPr>
          <p:spPr bwMode="auto">
            <a:xfrm flipH="1">
              <a:off x="5177" y="12472"/>
              <a:ext cx="627" cy="0"/>
            </a:xfrm>
            <a:prstGeom prst="line">
              <a:avLst/>
            </a:prstGeom>
            <a:grpFill/>
            <a:ln w="9525">
              <a:solidFill>
                <a:srgbClr val="000000"/>
              </a:solidFill>
              <a:round/>
            </a:ln>
          </p:spPr>
          <p:txBody>
            <a:bodyPr/>
            <a:lstStyle/>
            <a:p>
              <a:pPr eaLnBrk="0" hangingPunct="0">
                <a:defRPr/>
              </a:pPr>
              <a:endParaRPr lang="zh-CN" altLang="en-US" sz="1200" b="1"/>
            </a:p>
          </p:txBody>
        </p:sp>
        <p:sp>
          <p:nvSpPr>
            <p:cNvPr id="105586" name="Line 173">
              <a:extLst>
                <a:ext uri="{FF2B5EF4-FFF2-40B4-BE49-F238E27FC236}">
                  <a16:creationId xmlns:a16="http://schemas.microsoft.com/office/drawing/2014/main" id="{E9358307-9F83-174C-BD40-991C8999A3FA}"/>
                </a:ext>
              </a:extLst>
            </p:cNvPr>
            <p:cNvSpPr>
              <a:spLocks noChangeShapeType="1"/>
            </p:cNvSpPr>
            <p:nvPr/>
          </p:nvSpPr>
          <p:spPr bwMode="auto">
            <a:xfrm>
              <a:off x="5177" y="12472"/>
              <a:ext cx="1" cy="816"/>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87" name="Text Box 172">
              <a:extLst>
                <a:ext uri="{FF2B5EF4-FFF2-40B4-BE49-F238E27FC236}">
                  <a16:creationId xmlns:a16="http://schemas.microsoft.com/office/drawing/2014/main" id="{18B0A180-4BF1-9C45-B0BF-F0EEC65838C1}"/>
                </a:ext>
              </a:extLst>
            </p:cNvPr>
            <p:cNvSpPr txBox="1">
              <a:spLocks noChangeArrowheads="1"/>
            </p:cNvSpPr>
            <p:nvPr/>
          </p:nvSpPr>
          <p:spPr bwMode="auto">
            <a:xfrm>
              <a:off x="5021" y="13288"/>
              <a:ext cx="1409" cy="407"/>
            </a:xfrm>
            <a:prstGeom prst="rect">
              <a:avLst/>
            </a:prstGeom>
            <a:grpFill/>
            <a:ln w="9525">
              <a:solidFill>
                <a:srgbClr val="000000"/>
              </a:solidFill>
              <a:miter lim="800000"/>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扩展密钥</a:t>
              </a:r>
              <a:endParaRPr lang="zh-CN" altLang="zh-CN" sz="1200" b="1"/>
            </a:p>
          </p:txBody>
        </p:sp>
        <p:sp>
          <p:nvSpPr>
            <p:cNvPr id="105588" name="Text Box 171">
              <a:extLst>
                <a:ext uri="{FF2B5EF4-FFF2-40B4-BE49-F238E27FC236}">
                  <a16:creationId xmlns:a16="http://schemas.microsoft.com/office/drawing/2014/main" id="{C9E74DD4-36C6-7C4D-89EE-8600893321E4}"/>
                </a:ext>
              </a:extLst>
            </p:cNvPr>
            <p:cNvSpPr txBox="1">
              <a:spLocks noChangeArrowheads="1"/>
            </p:cNvSpPr>
            <p:nvPr/>
          </p:nvSpPr>
          <p:spPr bwMode="auto">
            <a:xfrm>
              <a:off x="5334" y="15326"/>
              <a:ext cx="940" cy="407"/>
            </a:xfrm>
            <a:prstGeom prst="rect">
              <a:avLst/>
            </a:prstGeom>
            <a:grpFill/>
            <a:ln>
              <a:noFill/>
            </a:ln>
          </p:spPr>
          <p:txBody>
            <a:bodyPr/>
            <a:lstStyle/>
            <a:p>
              <a:pPr algn="ctr" eaLnBrk="0" hangingPunct="0">
                <a:defRPr/>
              </a:pPr>
              <a:r>
                <a:rPr lang="en-US" altLang="zh-CN" sz="1200" b="1" i="1">
                  <a:latin typeface="Times New Roman" panose="02020603050405020304" pitchFamily="18" charset="0"/>
                  <a:cs typeface="Times New Roman" panose="02020603050405020304" pitchFamily="18" charset="0"/>
                </a:rPr>
                <a:t>w</a:t>
              </a:r>
              <a:r>
                <a:rPr lang="en-US" altLang="zh-CN" sz="1200" b="1">
                  <a:latin typeface="Times New Roman" panose="02020603050405020304" pitchFamily="18" charset="0"/>
                  <a:cs typeface="Times New Roman" panose="02020603050405020304" pitchFamily="18" charset="0"/>
                </a:rPr>
                <a:t>[4, 7]</a:t>
              </a:r>
              <a:endParaRPr lang="en-US" altLang="zh-CN" sz="1200" b="1"/>
            </a:p>
          </p:txBody>
        </p:sp>
        <p:sp>
          <p:nvSpPr>
            <p:cNvPr id="105589" name="Line 170">
              <a:extLst>
                <a:ext uri="{FF2B5EF4-FFF2-40B4-BE49-F238E27FC236}">
                  <a16:creationId xmlns:a16="http://schemas.microsoft.com/office/drawing/2014/main" id="{46BDD34B-71EE-C64B-BDB8-4D2DF13CCB57}"/>
                </a:ext>
              </a:extLst>
            </p:cNvPr>
            <p:cNvSpPr>
              <a:spLocks noChangeShapeType="1"/>
            </p:cNvSpPr>
            <p:nvPr/>
          </p:nvSpPr>
          <p:spPr bwMode="auto">
            <a:xfrm flipH="1">
              <a:off x="4395" y="15462"/>
              <a:ext cx="1095" cy="0"/>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90" name="Line 169">
              <a:extLst>
                <a:ext uri="{FF2B5EF4-FFF2-40B4-BE49-F238E27FC236}">
                  <a16:creationId xmlns:a16="http://schemas.microsoft.com/office/drawing/2014/main" id="{66E5F2DA-121B-D04E-A974-7362ECD2BDC2}"/>
                </a:ext>
              </a:extLst>
            </p:cNvPr>
            <p:cNvSpPr>
              <a:spLocks noChangeShapeType="1"/>
            </p:cNvSpPr>
            <p:nvPr/>
          </p:nvSpPr>
          <p:spPr bwMode="auto">
            <a:xfrm>
              <a:off x="6117" y="15462"/>
              <a:ext cx="939" cy="0"/>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91" name="Line 168">
              <a:extLst>
                <a:ext uri="{FF2B5EF4-FFF2-40B4-BE49-F238E27FC236}">
                  <a16:creationId xmlns:a16="http://schemas.microsoft.com/office/drawing/2014/main" id="{79CF968C-9724-274A-AD33-FA86F7FED7B8}"/>
                </a:ext>
              </a:extLst>
            </p:cNvPr>
            <p:cNvSpPr>
              <a:spLocks noChangeShapeType="1"/>
            </p:cNvSpPr>
            <p:nvPr/>
          </p:nvSpPr>
          <p:spPr bwMode="auto">
            <a:xfrm>
              <a:off x="5177" y="13695"/>
              <a:ext cx="1" cy="7609"/>
            </a:xfrm>
            <a:prstGeom prst="line">
              <a:avLst/>
            </a:prstGeom>
            <a:grpFill/>
            <a:ln w="9525">
              <a:solidFill>
                <a:srgbClr val="000000"/>
              </a:solidFill>
              <a:round/>
            </a:ln>
          </p:spPr>
          <p:txBody>
            <a:bodyPr/>
            <a:lstStyle/>
            <a:p>
              <a:pPr eaLnBrk="0" hangingPunct="0">
                <a:defRPr/>
              </a:pPr>
              <a:endParaRPr lang="zh-CN" altLang="en-US" sz="1200" b="1"/>
            </a:p>
          </p:txBody>
        </p:sp>
        <p:sp>
          <p:nvSpPr>
            <p:cNvPr id="105592" name="Line 167">
              <a:extLst>
                <a:ext uri="{FF2B5EF4-FFF2-40B4-BE49-F238E27FC236}">
                  <a16:creationId xmlns:a16="http://schemas.microsoft.com/office/drawing/2014/main" id="{2F7188D6-C88B-C440-91C6-6D3D41A69D17}"/>
                </a:ext>
              </a:extLst>
            </p:cNvPr>
            <p:cNvSpPr>
              <a:spLocks noChangeShapeType="1"/>
            </p:cNvSpPr>
            <p:nvPr/>
          </p:nvSpPr>
          <p:spPr bwMode="auto">
            <a:xfrm>
              <a:off x="5177" y="15054"/>
              <a:ext cx="627" cy="1"/>
            </a:xfrm>
            <a:prstGeom prst="line">
              <a:avLst/>
            </a:prstGeom>
            <a:grpFill/>
            <a:ln w="9525">
              <a:solidFill>
                <a:srgbClr val="000000"/>
              </a:solidFill>
              <a:round/>
            </a:ln>
          </p:spPr>
          <p:txBody>
            <a:bodyPr/>
            <a:lstStyle/>
            <a:p>
              <a:pPr eaLnBrk="0" hangingPunct="0">
                <a:defRPr/>
              </a:pPr>
              <a:endParaRPr lang="zh-CN" altLang="en-US" sz="1200" b="1"/>
            </a:p>
          </p:txBody>
        </p:sp>
        <p:sp>
          <p:nvSpPr>
            <p:cNvPr id="105593" name="Line 166">
              <a:extLst>
                <a:ext uri="{FF2B5EF4-FFF2-40B4-BE49-F238E27FC236}">
                  <a16:creationId xmlns:a16="http://schemas.microsoft.com/office/drawing/2014/main" id="{4D5D68A5-C5ED-0946-AEFD-E97CA83C4CB6}"/>
                </a:ext>
              </a:extLst>
            </p:cNvPr>
            <p:cNvSpPr>
              <a:spLocks noChangeShapeType="1"/>
            </p:cNvSpPr>
            <p:nvPr/>
          </p:nvSpPr>
          <p:spPr bwMode="auto">
            <a:xfrm>
              <a:off x="5804" y="15054"/>
              <a:ext cx="0"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94" name="Text Box 165">
              <a:extLst>
                <a:ext uri="{FF2B5EF4-FFF2-40B4-BE49-F238E27FC236}">
                  <a16:creationId xmlns:a16="http://schemas.microsoft.com/office/drawing/2014/main" id="{3A3B0E26-BBA2-DC4E-90A0-B45F2F3C2748}"/>
                </a:ext>
              </a:extLst>
            </p:cNvPr>
            <p:cNvSpPr txBox="1">
              <a:spLocks noChangeArrowheads="1"/>
            </p:cNvSpPr>
            <p:nvPr/>
          </p:nvSpPr>
          <p:spPr bwMode="auto">
            <a:xfrm>
              <a:off x="5334" y="19538"/>
              <a:ext cx="940" cy="407"/>
            </a:xfrm>
            <a:prstGeom prst="rect">
              <a:avLst/>
            </a:prstGeom>
            <a:grpFill/>
            <a:ln>
              <a:noFill/>
            </a:ln>
          </p:spPr>
          <p:txBody>
            <a:bodyPr/>
            <a:lstStyle/>
            <a:p>
              <a:pPr algn="ctr" eaLnBrk="0" hangingPunct="0">
                <a:defRPr/>
              </a:pPr>
              <a:r>
                <a:rPr lang="en-US" altLang="zh-CN" sz="1200" b="1" i="1">
                  <a:latin typeface="Times New Roman" panose="02020603050405020304" pitchFamily="18" charset="0"/>
                  <a:cs typeface="Times New Roman" panose="02020603050405020304" pitchFamily="18" charset="0"/>
                </a:rPr>
                <a:t>w</a:t>
              </a:r>
              <a:r>
                <a:rPr lang="en-US" altLang="zh-CN" sz="1200" b="1">
                  <a:latin typeface="Times New Roman" panose="02020603050405020304" pitchFamily="18" charset="0"/>
                  <a:cs typeface="Times New Roman" panose="02020603050405020304" pitchFamily="18" charset="0"/>
                </a:rPr>
                <a:t>[36, 39]</a:t>
              </a:r>
              <a:endParaRPr lang="en-US" altLang="zh-CN" sz="1200" b="1"/>
            </a:p>
          </p:txBody>
        </p:sp>
        <p:sp>
          <p:nvSpPr>
            <p:cNvPr id="105595" name="Line 164">
              <a:extLst>
                <a:ext uri="{FF2B5EF4-FFF2-40B4-BE49-F238E27FC236}">
                  <a16:creationId xmlns:a16="http://schemas.microsoft.com/office/drawing/2014/main" id="{A30A3AEE-0845-3440-8AC6-CC5CDDEC17A2}"/>
                </a:ext>
              </a:extLst>
            </p:cNvPr>
            <p:cNvSpPr>
              <a:spLocks noChangeShapeType="1"/>
            </p:cNvSpPr>
            <p:nvPr/>
          </p:nvSpPr>
          <p:spPr bwMode="auto">
            <a:xfrm flipH="1">
              <a:off x="4394" y="19674"/>
              <a:ext cx="1096" cy="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96" name="Line 163">
              <a:extLst>
                <a:ext uri="{FF2B5EF4-FFF2-40B4-BE49-F238E27FC236}">
                  <a16:creationId xmlns:a16="http://schemas.microsoft.com/office/drawing/2014/main" id="{2C309F1C-DD61-5D43-99D0-DFE5BBD5C6A7}"/>
                </a:ext>
              </a:extLst>
            </p:cNvPr>
            <p:cNvSpPr>
              <a:spLocks noChangeShapeType="1"/>
            </p:cNvSpPr>
            <p:nvPr/>
          </p:nvSpPr>
          <p:spPr bwMode="auto">
            <a:xfrm>
              <a:off x="6117" y="19674"/>
              <a:ext cx="939" cy="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97" name="Line 162">
              <a:extLst>
                <a:ext uri="{FF2B5EF4-FFF2-40B4-BE49-F238E27FC236}">
                  <a16:creationId xmlns:a16="http://schemas.microsoft.com/office/drawing/2014/main" id="{EF9B7AAA-C4A4-3C43-B3B6-AF2D3021DA29}"/>
                </a:ext>
              </a:extLst>
            </p:cNvPr>
            <p:cNvSpPr>
              <a:spLocks noChangeShapeType="1"/>
            </p:cNvSpPr>
            <p:nvPr/>
          </p:nvSpPr>
          <p:spPr bwMode="auto">
            <a:xfrm>
              <a:off x="5177" y="19266"/>
              <a:ext cx="627" cy="1"/>
            </a:xfrm>
            <a:prstGeom prst="line">
              <a:avLst/>
            </a:prstGeom>
            <a:grpFill/>
            <a:ln w="9525">
              <a:solidFill>
                <a:srgbClr val="000000"/>
              </a:solidFill>
              <a:round/>
            </a:ln>
          </p:spPr>
          <p:txBody>
            <a:bodyPr/>
            <a:lstStyle/>
            <a:p>
              <a:pPr eaLnBrk="0" hangingPunct="0">
                <a:defRPr/>
              </a:pPr>
              <a:endParaRPr lang="zh-CN" altLang="en-US" sz="1200" b="1"/>
            </a:p>
          </p:txBody>
        </p:sp>
        <p:sp>
          <p:nvSpPr>
            <p:cNvPr id="105598" name="Line 161">
              <a:extLst>
                <a:ext uri="{FF2B5EF4-FFF2-40B4-BE49-F238E27FC236}">
                  <a16:creationId xmlns:a16="http://schemas.microsoft.com/office/drawing/2014/main" id="{8F58A6F5-CF27-A94F-A7D6-7C5A64990285}"/>
                </a:ext>
              </a:extLst>
            </p:cNvPr>
            <p:cNvSpPr>
              <a:spLocks noChangeShapeType="1"/>
            </p:cNvSpPr>
            <p:nvPr/>
          </p:nvSpPr>
          <p:spPr bwMode="auto">
            <a:xfrm>
              <a:off x="5804" y="19266"/>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599" name="Text Box 160">
              <a:extLst>
                <a:ext uri="{FF2B5EF4-FFF2-40B4-BE49-F238E27FC236}">
                  <a16:creationId xmlns:a16="http://schemas.microsoft.com/office/drawing/2014/main" id="{9CB38BAB-11DA-5046-8512-0A7690C8C660}"/>
                </a:ext>
              </a:extLst>
            </p:cNvPr>
            <p:cNvSpPr txBox="1">
              <a:spLocks noChangeArrowheads="1"/>
            </p:cNvSpPr>
            <p:nvPr/>
          </p:nvSpPr>
          <p:spPr bwMode="auto">
            <a:xfrm>
              <a:off x="5334" y="21576"/>
              <a:ext cx="940" cy="407"/>
            </a:xfrm>
            <a:prstGeom prst="rect">
              <a:avLst/>
            </a:prstGeom>
            <a:grpFill/>
            <a:ln>
              <a:noFill/>
            </a:ln>
          </p:spPr>
          <p:txBody>
            <a:bodyPr/>
            <a:lstStyle/>
            <a:p>
              <a:pPr algn="ctr" eaLnBrk="0" hangingPunct="0">
                <a:defRPr/>
              </a:pPr>
              <a:r>
                <a:rPr lang="en-US" altLang="zh-CN" sz="1200" b="1" i="1">
                  <a:latin typeface="Times New Roman" panose="02020603050405020304" pitchFamily="18" charset="0"/>
                  <a:cs typeface="Times New Roman" panose="02020603050405020304" pitchFamily="18" charset="0"/>
                </a:rPr>
                <a:t>w</a:t>
              </a:r>
              <a:r>
                <a:rPr lang="en-US" altLang="zh-CN" sz="1200" b="1">
                  <a:latin typeface="Times New Roman" panose="02020603050405020304" pitchFamily="18" charset="0"/>
                  <a:cs typeface="Times New Roman" panose="02020603050405020304" pitchFamily="18" charset="0"/>
                </a:rPr>
                <a:t>[40, 43]</a:t>
              </a:r>
              <a:endParaRPr lang="en-US" altLang="zh-CN" sz="1200" b="1"/>
            </a:p>
          </p:txBody>
        </p:sp>
        <p:sp>
          <p:nvSpPr>
            <p:cNvPr id="105600" name="Line 159">
              <a:extLst>
                <a:ext uri="{FF2B5EF4-FFF2-40B4-BE49-F238E27FC236}">
                  <a16:creationId xmlns:a16="http://schemas.microsoft.com/office/drawing/2014/main" id="{BC951720-162C-6047-B6A2-9C07D3390E47}"/>
                </a:ext>
              </a:extLst>
            </p:cNvPr>
            <p:cNvSpPr>
              <a:spLocks noChangeShapeType="1"/>
            </p:cNvSpPr>
            <p:nvPr/>
          </p:nvSpPr>
          <p:spPr bwMode="auto">
            <a:xfrm flipH="1">
              <a:off x="4394" y="21712"/>
              <a:ext cx="1096" cy="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601" name="Line 158">
              <a:extLst>
                <a:ext uri="{FF2B5EF4-FFF2-40B4-BE49-F238E27FC236}">
                  <a16:creationId xmlns:a16="http://schemas.microsoft.com/office/drawing/2014/main" id="{11E5DC1B-ECB4-1C44-98D0-A89EC695B904}"/>
                </a:ext>
              </a:extLst>
            </p:cNvPr>
            <p:cNvSpPr>
              <a:spLocks noChangeShapeType="1"/>
            </p:cNvSpPr>
            <p:nvPr/>
          </p:nvSpPr>
          <p:spPr bwMode="auto">
            <a:xfrm>
              <a:off x="6117" y="21712"/>
              <a:ext cx="939" cy="1"/>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602" name="Line 157">
              <a:extLst>
                <a:ext uri="{FF2B5EF4-FFF2-40B4-BE49-F238E27FC236}">
                  <a16:creationId xmlns:a16="http://schemas.microsoft.com/office/drawing/2014/main" id="{DFFFE6C9-922A-5C4E-AC72-421550D2A26D}"/>
                </a:ext>
              </a:extLst>
            </p:cNvPr>
            <p:cNvSpPr>
              <a:spLocks noChangeShapeType="1"/>
            </p:cNvSpPr>
            <p:nvPr/>
          </p:nvSpPr>
          <p:spPr bwMode="auto">
            <a:xfrm>
              <a:off x="5177" y="21304"/>
              <a:ext cx="627" cy="1"/>
            </a:xfrm>
            <a:prstGeom prst="line">
              <a:avLst/>
            </a:prstGeom>
            <a:grpFill/>
            <a:ln w="9525">
              <a:solidFill>
                <a:srgbClr val="000000"/>
              </a:solidFill>
              <a:round/>
            </a:ln>
          </p:spPr>
          <p:txBody>
            <a:bodyPr/>
            <a:lstStyle/>
            <a:p>
              <a:pPr eaLnBrk="0" hangingPunct="0">
                <a:defRPr/>
              </a:pPr>
              <a:endParaRPr lang="zh-CN" altLang="en-US" sz="1200" b="1"/>
            </a:p>
          </p:txBody>
        </p:sp>
        <p:sp>
          <p:nvSpPr>
            <p:cNvPr id="105603" name="Line 156">
              <a:extLst>
                <a:ext uri="{FF2B5EF4-FFF2-40B4-BE49-F238E27FC236}">
                  <a16:creationId xmlns:a16="http://schemas.microsoft.com/office/drawing/2014/main" id="{0DA04701-DE13-1D48-916A-52BAA96C5022}"/>
                </a:ext>
              </a:extLst>
            </p:cNvPr>
            <p:cNvSpPr>
              <a:spLocks noChangeShapeType="1"/>
            </p:cNvSpPr>
            <p:nvPr/>
          </p:nvSpPr>
          <p:spPr bwMode="auto">
            <a:xfrm>
              <a:off x="5804" y="21304"/>
              <a:ext cx="1" cy="272"/>
            </a:xfrm>
            <a:prstGeom prst="line">
              <a:avLst/>
            </a:prstGeom>
            <a:grpFill/>
            <a:ln w="9525">
              <a:solidFill>
                <a:srgbClr val="000000"/>
              </a:solidFill>
              <a:round/>
              <a:tailEnd type="triangle" w="med" len="med"/>
            </a:ln>
          </p:spPr>
          <p:txBody>
            <a:bodyPr/>
            <a:lstStyle/>
            <a:p>
              <a:pPr eaLnBrk="0" hangingPunct="0">
                <a:defRPr/>
              </a:pPr>
              <a:endParaRPr lang="zh-CN" altLang="en-US" sz="1200" b="1"/>
            </a:p>
          </p:txBody>
        </p:sp>
        <p:sp>
          <p:nvSpPr>
            <p:cNvPr id="105604" name="Text Box 155">
              <a:extLst>
                <a:ext uri="{FF2B5EF4-FFF2-40B4-BE49-F238E27FC236}">
                  <a16:creationId xmlns:a16="http://schemas.microsoft.com/office/drawing/2014/main" id="{3512E87C-603C-A54B-9CD6-86B65AB45BB4}"/>
                </a:ext>
              </a:extLst>
            </p:cNvPr>
            <p:cNvSpPr txBox="1">
              <a:spLocks noChangeArrowheads="1"/>
            </p:cNvSpPr>
            <p:nvPr/>
          </p:nvSpPr>
          <p:spPr bwMode="auto">
            <a:xfrm>
              <a:off x="8308" y="13288"/>
              <a:ext cx="782" cy="407"/>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第</a:t>
              </a:r>
              <a:r>
                <a:rPr lang="en-US" altLang="zh-CN" sz="1200" b="1">
                  <a:latin typeface="Times New Roman" panose="02020603050405020304" pitchFamily="18" charset="0"/>
                  <a:cs typeface="Times New Roman" panose="02020603050405020304" pitchFamily="18" charset="0"/>
                </a:rPr>
                <a:t>10</a:t>
              </a:r>
              <a:r>
                <a:rPr lang="zh-CN" altLang="en-US" sz="1200" b="1">
                  <a:latin typeface="Times New Roman" panose="02020603050405020304" pitchFamily="18" charset="0"/>
                  <a:cs typeface="Times New Roman" panose="02020603050405020304" pitchFamily="18" charset="0"/>
                </a:rPr>
                <a:t>轮</a:t>
              </a:r>
              <a:endParaRPr lang="zh-CN" altLang="en-US" sz="1200" b="1"/>
            </a:p>
          </p:txBody>
        </p:sp>
        <p:sp>
          <p:nvSpPr>
            <p:cNvPr id="105605" name="Text Box 154">
              <a:extLst>
                <a:ext uri="{FF2B5EF4-FFF2-40B4-BE49-F238E27FC236}">
                  <a16:creationId xmlns:a16="http://schemas.microsoft.com/office/drawing/2014/main" id="{FF498A41-F3D4-5E48-A7DD-1A0F2FC1D2AC}"/>
                </a:ext>
              </a:extLst>
            </p:cNvPr>
            <p:cNvSpPr txBox="1">
              <a:spLocks noChangeArrowheads="1"/>
            </p:cNvSpPr>
            <p:nvPr/>
          </p:nvSpPr>
          <p:spPr bwMode="auto">
            <a:xfrm>
              <a:off x="8308" y="15597"/>
              <a:ext cx="782" cy="407"/>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第</a:t>
              </a:r>
              <a:r>
                <a:rPr lang="en-US" altLang="zh-CN" sz="1200" b="1">
                  <a:latin typeface="Times New Roman" panose="02020603050405020304" pitchFamily="18" charset="0"/>
                  <a:cs typeface="Times New Roman" panose="02020603050405020304" pitchFamily="18" charset="0"/>
                </a:rPr>
                <a:t>9</a:t>
              </a:r>
              <a:r>
                <a:rPr lang="zh-CN" altLang="en-US" sz="1200" b="1">
                  <a:latin typeface="Times New Roman" panose="02020603050405020304" pitchFamily="18" charset="0"/>
                  <a:cs typeface="Times New Roman" panose="02020603050405020304" pitchFamily="18" charset="0"/>
                </a:rPr>
                <a:t>轮</a:t>
              </a:r>
              <a:endParaRPr lang="zh-CN" altLang="en-US" sz="1200" b="1"/>
            </a:p>
          </p:txBody>
        </p:sp>
        <p:sp>
          <p:nvSpPr>
            <p:cNvPr id="105606" name="Text Box 153">
              <a:extLst>
                <a:ext uri="{FF2B5EF4-FFF2-40B4-BE49-F238E27FC236}">
                  <a16:creationId xmlns:a16="http://schemas.microsoft.com/office/drawing/2014/main" id="{5A855C5B-9C15-A948-8C3A-DAF845A9C257}"/>
                </a:ext>
              </a:extLst>
            </p:cNvPr>
            <p:cNvSpPr txBox="1">
              <a:spLocks noChangeArrowheads="1"/>
            </p:cNvSpPr>
            <p:nvPr/>
          </p:nvSpPr>
          <p:spPr bwMode="auto">
            <a:xfrm>
              <a:off x="8308" y="19945"/>
              <a:ext cx="782" cy="408"/>
            </a:xfrm>
            <a:prstGeom prst="rect">
              <a:avLst/>
            </a:prstGeom>
            <a:grpFill/>
            <a:ln>
              <a:noFill/>
            </a:ln>
          </p:spPr>
          <p:txBody>
            <a:bodyPr/>
            <a:lstStyle/>
            <a:p>
              <a:pPr algn="ctr" eaLnBrk="0" hangingPunct="0">
                <a:defRPr/>
              </a:pPr>
              <a:r>
                <a:rPr lang="zh-CN" altLang="zh-CN" sz="1200" b="1">
                  <a:latin typeface="Times New Roman" panose="02020603050405020304" pitchFamily="18" charset="0"/>
                  <a:cs typeface="Times New Roman" panose="02020603050405020304" pitchFamily="18" charset="0"/>
                </a:rPr>
                <a:t>第</a:t>
              </a:r>
              <a:r>
                <a:rPr lang="en-US" altLang="zh-CN" sz="1200" b="1">
                  <a:latin typeface="Times New Roman" panose="02020603050405020304" pitchFamily="18" charset="0"/>
                  <a:cs typeface="Times New Roman" panose="02020603050405020304" pitchFamily="18" charset="0"/>
                </a:rPr>
                <a:t>1</a:t>
              </a:r>
              <a:r>
                <a:rPr lang="zh-CN" altLang="en-US" sz="1200" b="1">
                  <a:latin typeface="Times New Roman" panose="02020603050405020304" pitchFamily="18" charset="0"/>
                  <a:cs typeface="Times New Roman" panose="02020603050405020304" pitchFamily="18" charset="0"/>
                </a:rPr>
                <a:t>轮</a:t>
              </a:r>
              <a:endParaRPr lang="zh-CN" altLang="en-US" sz="1200" b="1"/>
            </a:p>
          </p:txBody>
        </p:sp>
        <p:sp>
          <p:nvSpPr>
            <p:cNvPr id="105607" name="AutoShape 152">
              <a:extLst>
                <a:ext uri="{FF2B5EF4-FFF2-40B4-BE49-F238E27FC236}">
                  <a16:creationId xmlns:a16="http://schemas.microsoft.com/office/drawing/2014/main" id="{CBADD053-6945-4940-90F5-7EB742395765}"/>
                </a:ext>
              </a:extLst>
            </p:cNvPr>
            <p:cNvSpPr/>
            <p:nvPr/>
          </p:nvSpPr>
          <p:spPr bwMode="auto">
            <a:xfrm>
              <a:off x="3143" y="13288"/>
              <a:ext cx="156" cy="2445"/>
            </a:xfrm>
            <a:prstGeom prst="leftBrace">
              <a:avLst>
                <a:gd name="adj1" fmla="val 130609"/>
                <a:gd name="adj2" fmla="val 50000"/>
              </a:avLst>
            </a:prstGeom>
            <a:grpFill/>
            <a:ln w="9525">
              <a:solidFill>
                <a:srgbClr val="000000"/>
              </a:solidFill>
              <a:round/>
            </a:ln>
          </p:spPr>
          <p:txBody>
            <a:bodyPr/>
            <a:lstStyle/>
            <a:p>
              <a:pPr eaLnBrk="0" hangingPunct="0">
                <a:defRPr/>
              </a:pPr>
              <a:endParaRPr lang="zh-CN" altLang="en-US" sz="1200" b="1"/>
            </a:p>
          </p:txBody>
        </p:sp>
        <p:sp>
          <p:nvSpPr>
            <p:cNvPr id="105608" name="AutoShape 151">
              <a:extLst>
                <a:ext uri="{FF2B5EF4-FFF2-40B4-BE49-F238E27FC236}">
                  <a16:creationId xmlns:a16="http://schemas.microsoft.com/office/drawing/2014/main" id="{76C61440-D657-8148-82AC-235466BC1689}"/>
                </a:ext>
              </a:extLst>
            </p:cNvPr>
            <p:cNvSpPr/>
            <p:nvPr/>
          </p:nvSpPr>
          <p:spPr bwMode="auto">
            <a:xfrm>
              <a:off x="3143" y="17500"/>
              <a:ext cx="156" cy="2445"/>
            </a:xfrm>
            <a:prstGeom prst="leftBrace">
              <a:avLst>
                <a:gd name="adj1" fmla="val 130609"/>
                <a:gd name="adj2" fmla="val 50000"/>
              </a:avLst>
            </a:prstGeom>
            <a:grpFill/>
            <a:ln w="9525">
              <a:solidFill>
                <a:srgbClr val="000000"/>
              </a:solidFill>
              <a:round/>
            </a:ln>
          </p:spPr>
          <p:txBody>
            <a:bodyPr/>
            <a:lstStyle/>
            <a:p>
              <a:pPr eaLnBrk="0" hangingPunct="0">
                <a:defRPr/>
              </a:pPr>
              <a:endParaRPr lang="zh-CN" altLang="en-US" sz="1200" b="1"/>
            </a:p>
          </p:txBody>
        </p:sp>
        <p:sp>
          <p:nvSpPr>
            <p:cNvPr id="105609" name="AutoShape 150">
              <a:extLst>
                <a:ext uri="{FF2B5EF4-FFF2-40B4-BE49-F238E27FC236}">
                  <a16:creationId xmlns:a16="http://schemas.microsoft.com/office/drawing/2014/main" id="{FAA750E1-2961-4149-8006-82E63937DDB3}"/>
                </a:ext>
              </a:extLst>
            </p:cNvPr>
            <p:cNvSpPr/>
            <p:nvPr/>
          </p:nvSpPr>
          <p:spPr bwMode="auto">
            <a:xfrm>
              <a:off x="3143" y="20217"/>
              <a:ext cx="156" cy="1766"/>
            </a:xfrm>
            <a:prstGeom prst="leftBrace">
              <a:avLst>
                <a:gd name="adj1" fmla="val 94338"/>
                <a:gd name="adj2" fmla="val 50000"/>
              </a:avLst>
            </a:prstGeom>
            <a:grpFill/>
            <a:ln w="9525">
              <a:solidFill>
                <a:srgbClr val="000000"/>
              </a:solidFill>
              <a:round/>
            </a:ln>
          </p:spPr>
          <p:txBody>
            <a:bodyPr/>
            <a:lstStyle/>
            <a:p>
              <a:pPr eaLnBrk="0" hangingPunct="0">
                <a:defRPr/>
              </a:pPr>
              <a:endParaRPr lang="zh-CN" altLang="en-US" sz="1200" b="1"/>
            </a:p>
          </p:txBody>
        </p:sp>
        <p:sp>
          <p:nvSpPr>
            <p:cNvPr id="105610" name="AutoShape 149">
              <a:extLst>
                <a:ext uri="{FF2B5EF4-FFF2-40B4-BE49-F238E27FC236}">
                  <a16:creationId xmlns:a16="http://schemas.microsoft.com/office/drawing/2014/main" id="{FDD3EE45-B960-2043-8D23-8F4C8BBA6A65}"/>
                </a:ext>
              </a:extLst>
            </p:cNvPr>
            <p:cNvSpPr/>
            <p:nvPr/>
          </p:nvSpPr>
          <p:spPr bwMode="auto">
            <a:xfrm>
              <a:off x="8151" y="18858"/>
              <a:ext cx="157" cy="2446"/>
            </a:xfrm>
            <a:prstGeom prst="rightBrace">
              <a:avLst>
                <a:gd name="adj1" fmla="val 129830"/>
                <a:gd name="adj2" fmla="val 50000"/>
              </a:avLst>
            </a:prstGeom>
            <a:grpFill/>
            <a:ln w="9525">
              <a:solidFill>
                <a:srgbClr val="000000"/>
              </a:solidFill>
              <a:round/>
            </a:ln>
          </p:spPr>
          <p:txBody>
            <a:bodyPr/>
            <a:lstStyle/>
            <a:p>
              <a:pPr eaLnBrk="0" hangingPunct="0">
                <a:defRPr/>
              </a:pPr>
              <a:endParaRPr lang="zh-CN" altLang="en-US" sz="1200" b="1"/>
            </a:p>
          </p:txBody>
        </p:sp>
        <p:sp>
          <p:nvSpPr>
            <p:cNvPr id="105611" name="AutoShape 148">
              <a:extLst>
                <a:ext uri="{FF2B5EF4-FFF2-40B4-BE49-F238E27FC236}">
                  <a16:creationId xmlns:a16="http://schemas.microsoft.com/office/drawing/2014/main" id="{1B439B38-96FB-0142-8D91-4ACF8D9CEE03}"/>
                </a:ext>
              </a:extLst>
            </p:cNvPr>
            <p:cNvSpPr/>
            <p:nvPr/>
          </p:nvSpPr>
          <p:spPr bwMode="auto">
            <a:xfrm>
              <a:off x="8151" y="14646"/>
              <a:ext cx="158" cy="2446"/>
            </a:xfrm>
            <a:prstGeom prst="rightBrace">
              <a:avLst>
                <a:gd name="adj1" fmla="val 129008"/>
                <a:gd name="adj2" fmla="val 50000"/>
              </a:avLst>
            </a:prstGeom>
            <a:grpFill/>
            <a:ln w="9525">
              <a:solidFill>
                <a:srgbClr val="000000"/>
              </a:solidFill>
              <a:round/>
            </a:ln>
          </p:spPr>
          <p:txBody>
            <a:bodyPr/>
            <a:lstStyle/>
            <a:p>
              <a:pPr eaLnBrk="0" hangingPunct="0">
                <a:defRPr/>
              </a:pPr>
              <a:endParaRPr lang="zh-CN" altLang="en-US" sz="1200" b="1"/>
            </a:p>
          </p:txBody>
        </p:sp>
        <p:sp>
          <p:nvSpPr>
            <p:cNvPr id="105612" name="AutoShape 147">
              <a:extLst>
                <a:ext uri="{FF2B5EF4-FFF2-40B4-BE49-F238E27FC236}">
                  <a16:creationId xmlns:a16="http://schemas.microsoft.com/office/drawing/2014/main" id="{F1B7E991-6B12-934E-9660-C83C7CE90BC6}"/>
                </a:ext>
              </a:extLst>
            </p:cNvPr>
            <p:cNvSpPr/>
            <p:nvPr/>
          </p:nvSpPr>
          <p:spPr bwMode="auto">
            <a:xfrm>
              <a:off x="8151" y="12608"/>
              <a:ext cx="157" cy="1767"/>
            </a:xfrm>
            <a:prstGeom prst="rightBrace">
              <a:avLst>
                <a:gd name="adj1" fmla="val 93790"/>
                <a:gd name="adj2" fmla="val 50000"/>
              </a:avLst>
            </a:prstGeom>
            <a:grpFill/>
            <a:ln w="9525">
              <a:solidFill>
                <a:srgbClr val="000000"/>
              </a:solidFill>
              <a:round/>
            </a:ln>
          </p:spPr>
          <p:txBody>
            <a:bodyPr/>
            <a:lstStyle/>
            <a:p>
              <a:pPr eaLnBrk="0" hangingPunct="0">
                <a:defRPr/>
              </a:pPr>
              <a:endParaRPr lang="zh-CN" altLang="en-US" sz="1200" b="1"/>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1" name="副标题 2">
            <a:extLst>
              <a:ext uri="{FF2B5EF4-FFF2-40B4-BE49-F238E27FC236}">
                <a16:creationId xmlns:a16="http://schemas.microsoft.com/office/drawing/2014/main" id="{1C247631-7028-8240-9B26-A7CCC99BE6A1}"/>
              </a:ext>
            </a:extLst>
          </p:cNvPr>
          <p:cNvSpPr>
            <a:spLocks noGrp="1" noChangeArrowheads="1"/>
          </p:cNvSpPr>
          <p:nvPr>
            <p:ph type="subTitle" idx="1"/>
          </p:nvPr>
        </p:nvSpPr>
        <p:spPr>
          <a:xfrm>
            <a:off x="0" y="3048000"/>
            <a:ext cx="12192000" cy="790575"/>
          </a:xfrm>
        </p:spPr>
        <p:txBody>
          <a:bodyPr/>
          <a:lstStyle/>
          <a:p>
            <a:r>
              <a:rPr lang="en-US" altLang="zh-CN" sz="3600" b="1">
                <a:latin typeface="Times New Roman" panose="02020603050405020304" pitchFamily="18" charset="0"/>
              </a:rPr>
              <a:t>AES</a:t>
            </a:r>
            <a:r>
              <a:rPr lang="zh-CN" altLang="en-US" sz="3600" b="1">
                <a:latin typeface="Times New Roman" panose="02020603050405020304" pitchFamily="18" charset="0"/>
              </a:rPr>
              <a:t>的轮函数</a:t>
            </a:r>
            <a:endParaRPr lang="en-US" altLang="zh-CN" sz="3600" b="1">
              <a:latin typeface="Times New Roman" panose="02020603050405020304" pitchFamily="18" charset="0"/>
            </a:endParaRPr>
          </a:p>
        </p:txBody>
      </p:sp>
    </p:spTree>
  </p:cSld>
  <p:clrMapOvr>
    <a:masterClrMapping/>
  </p:clrMapOvr>
  <p:transition spd="slow">
    <p:random/>
  </p:transition>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4609" name="Rectangle 2">
            <a:extLst>
              <a:ext uri="{FF2B5EF4-FFF2-40B4-BE49-F238E27FC236}">
                <a16:creationId xmlns:a16="http://schemas.microsoft.com/office/drawing/2014/main" id="{246DD941-94DC-C94A-9D8B-9E382417EB31}"/>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字节代换</a:t>
            </a:r>
          </a:p>
        </p:txBody>
      </p:sp>
      <mc:AlternateContent xmlns:mc="http://schemas.openxmlformats.org/markup-compatibility/2006" xmlns:a14="http://schemas.microsoft.com/office/drawing/2010/main">
        <mc:Choice Requires="a14">
          <p:sp>
            <p:nvSpPr>
              <p:cNvPr id="324610" name="Rectangle 3">
                <a:extLst>
                  <a:ext uri="{FF2B5EF4-FFF2-40B4-BE49-F238E27FC236}">
                    <a16:creationId xmlns:a16="http://schemas.microsoft.com/office/drawing/2014/main" id="{62420774-13A2-3040-B0B4-74830DF1088B}"/>
                  </a:ext>
                </a:extLst>
              </p:cNvPr>
              <p:cNvSpPr>
                <a:spLocks noGrp="1" noChangeArrowheads="1"/>
              </p:cNvSpPr>
              <p:nvPr>
                <p:ph idx="1"/>
              </p:nvPr>
            </p:nvSpPr>
            <p:spPr>
              <a:xfrm>
                <a:off x="823913" y="1465263"/>
                <a:ext cx="10515600" cy="4579937"/>
              </a:xfrm>
            </p:spPr>
            <p:txBody>
              <a:bodyPr/>
              <a:lstStyle/>
              <a:p>
                <a:pPr marL="609600" indent="-609600" eaLnBrk="1" hangingPunct="1">
                  <a:lnSpc>
                    <a:spcPct val="120000"/>
                  </a:lnSpc>
                </a:pPr>
                <a:r>
                  <a:rPr lang="zh-CN" altLang="en-US" sz="2800" dirty="0">
                    <a:latin typeface="Times New Roman" panose="02020603050405020304" pitchFamily="18" charset="0"/>
                  </a:rPr>
                  <a:t>非线性代换，独立地对状态的每个字节进行，并且代换表</a:t>
                </a:r>
                <a:r>
                  <a:rPr lang="en-US" altLang="zh-CN" sz="2800" dirty="0">
                    <a:latin typeface="Times New Roman" panose="02020603050405020304" pitchFamily="18" charset="0"/>
                  </a:rPr>
                  <a:t>(S</a:t>
                </a:r>
                <a:r>
                  <a:rPr lang="zh-CN" altLang="en-US" sz="2800" dirty="0">
                    <a:latin typeface="Times New Roman" panose="02020603050405020304" pitchFamily="18" charset="0"/>
                  </a:rPr>
                  <a:t>盒</a:t>
                </a:r>
                <a:r>
                  <a:rPr lang="en-US" altLang="zh-CN" sz="2800" dirty="0">
                    <a:latin typeface="Times New Roman" panose="02020603050405020304" pitchFamily="18" charset="0"/>
                  </a:rPr>
                  <a:t>)</a:t>
                </a:r>
                <a:r>
                  <a:rPr lang="zh-CN" altLang="en-US" sz="2800" dirty="0">
                    <a:latin typeface="Times New Roman" panose="02020603050405020304" pitchFamily="18" charset="0"/>
                  </a:rPr>
                  <a:t>可逆，记为</a:t>
                </a:r>
                <a:r>
                  <a:rPr lang="en-US" altLang="zh-CN" sz="2800" dirty="0" err="1">
                    <a:latin typeface="Times New Roman" panose="02020603050405020304" pitchFamily="18" charset="0"/>
                  </a:rPr>
                  <a:t>ByteSub</a:t>
                </a:r>
                <a:r>
                  <a:rPr lang="en-US" altLang="zh-CN" sz="2800" dirty="0">
                    <a:latin typeface="Times New Roman" panose="02020603050405020304" pitchFamily="18" charset="0"/>
                  </a:rPr>
                  <a:t>(State),</a:t>
                </a:r>
                <a:r>
                  <a:rPr lang="zh-CN" altLang="en-US" sz="2800" dirty="0">
                    <a:latin typeface="Times New Roman" panose="02020603050405020304" pitchFamily="18" charset="0"/>
                  </a:rPr>
                  <a:t>分两步</a:t>
                </a:r>
              </a:p>
              <a:p>
                <a:pPr marL="1066800" lvl="1" indent="-609600" eaLnBrk="1" hangingPunct="1">
                  <a:lnSpc>
                    <a:spcPct val="120000"/>
                  </a:lnSpc>
                  <a:buFont typeface="Wingdings" pitchFamily="2" charset="2"/>
                  <a:buAutoNum type="arabicParenBoth"/>
                </a:pPr>
                <a:r>
                  <a:rPr lang="zh-CN" altLang="en-US" sz="2400" dirty="0">
                    <a:latin typeface="Times New Roman" panose="02020603050405020304" pitchFamily="18" charset="0"/>
                  </a:rPr>
                  <a:t>将字节作为</a:t>
                </a:r>
                <a:r>
                  <a:rPr lang="en-US" altLang="zh-CN" sz="2400" dirty="0">
                    <a:latin typeface="Times New Roman" panose="02020603050405020304" pitchFamily="18" charset="0"/>
                  </a:rPr>
                  <a:t>GF(2</a:t>
                </a:r>
                <a:r>
                  <a:rPr lang="en-US" altLang="zh-CN" sz="2400" baseline="30000" dirty="0">
                    <a:latin typeface="Times New Roman" panose="02020603050405020304" pitchFamily="18" charset="0"/>
                  </a:rPr>
                  <a:t>8</a:t>
                </a:r>
                <a:r>
                  <a:rPr lang="en-US" altLang="zh-CN" sz="2400" dirty="0">
                    <a:latin typeface="Times New Roman" panose="02020603050405020304" pitchFamily="18" charset="0"/>
                  </a:rPr>
                  <a:t>)</a:t>
                </a:r>
                <a:r>
                  <a:rPr lang="zh-CN" altLang="en-US" sz="2400" dirty="0">
                    <a:latin typeface="Times New Roman" panose="02020603050405020304" pitchFamily="18" charset="0"/>
                  </a:rPr>
                  <a:t>上的元素映射到自己的逆元</a:t>
                </a:r>
              </a:p>
              <a:p>
                <a:pPr marL="1066800" lvl="1" indent="-609600" eaLnBrk="1" hangingPunct="1">
                  <a:lnSpc>
                    <a:spcPct val="120000"/>
                  </a:lnSpc>
                  <a:buFont typeface="Wingdings" pitchFamily="2" charset="2"/>
                  <a:buAutoNum type="arabicParenBoth"/>
                </a:pPr>
                <a:r>
                  <a:rPr lang="zh-CN" altLang="en-US" sz="2400" dirty="0">
                    <a:latin typeface="Times New Roman" panose="02020603050405020304" pitchFamily="18" charset="0"/>
                  </a:rPr>
                  <a:t>将字节做</a:t>
                </a:r>
                <a:r>
                  <a:rPr lang="en-US" altLang="zh-CN" sz="2400" dirty="0">
                    <a:latin typeface="Times New Roman" panose="02020603050405020304" pitchFamily="18" charset="0"/>
                  </a:rPr>
                  <a:t>GF(2)</a:t>
                </a:r>
                <a:r>
                  <a:rPr lang="zh-CN" altLang="en-US" sz="2400" dirty="0">
                    <a:latin typeface="Times New Roman" panose="02020603050405020304" pitchFamily="18" charset="0"/>
                  </a:rPr>
                  <a:t>上的仿射变换</a:t>
                </a:r>
                <a:endParaRPr lang="en-US" altLang="zh-CN" sz="2400" dirty="0">
                  <a:latin typeface="Times New Roman" panose="02020603050405020304" pitchFamily="18" charset="0"/>
                </a:endParaRPr>
              </a:p>
              <a:p>
                <a:pPr marL="1066800" lvl="1" indent="-609600" eaLnBrk="1" hangingPunct="1">
                  <a:lnSpc>
                    <a:spcPct val="120000"/>
                  </a:lnSpc>
                  <a:buNone/>
                </a:pPr>
                <a:r>
                  <a:rPr lang="zh-CN" altLang="en-US" sz="2400" dirty="0">
                    <a:latin typeface="Times New Roman" panose="02020603050405020304" pitchFamily="18" charset="0"/>
                  </a:rPr>
                  <a:t>即</a:t>
                </a:r>
                <a14:m>
                  <m:oMath xmlns:m="http://schemas.openxmlformats.org/officeDocument/2006/math">
                    <m:r>
                      <a:rPr lang="zh-CN" altLang="en-US" sz="2400" b="1" i="1" smtClean="0">
                        <a:solidFill>
                          <a:srgbClr val="000000"/>
                        </a:solidFill>
                        <a:latin typeface="Cambria Math" panose="02040503050406030204" pitchFamily="18" charset="0"/>
                      </a:rPr>
                      <m:t>𝒚</m:t>
                    </m:r>
                    <m:r>
                      <a:rPr lang="zh-CN" altLang="en-US" sz="2400" b="1" i="1" smtClean="0">
                        <a:solidFill>
                          <a:srgbClr val="000000"/>
                        </a:solidFill>
                        <a:latin typeface="Cambria Math" panose="02040503050406030204" pitchFamily="18" charset="0"/>
                      </a:rPr>
                      <m:t>=</m:t>
                    </m:r>
                    <m:r>
                      <a:rPr lang="zh-CN" altLang="en-US" sz="2400" b="1" i="1" smtClean="0">
                        <a:solidFill>
                          <a:srgbClr val="000000"/>
                        </a:solidFill>
                        <a:latin typeface="Cambria Math" panose="02040503050406030204" pitchFamily="18" charset="0"/>
                      </a:rPr>
                      <m:t>𝑨</m:t>
                    </m:r>
                    <m:sSup>
                      <m:sSupPr>
                        <m:ctrlPr>
                          <a:rPr lang="zh-CN" altLang="en-US" sz="2400" i="1">
                            <a:solidFill>
                              <a:srgbClr val="000000"/>
                            </a:solidFill>
                            <a:latin typeface="Cambria Math" panose="02040503050406030204" pitchFamily="18" charset="0"/>
                          </a:rPr>
                        </m:ctrlPr>
                      </m:sSupPr>
                      <m:e>
                        <m:r>
                          <a:rPr lang="zh-CN" altLang="en-US" sz="2400" b="1" i="1" smtClean="0">
                            <a:solidFill>
                              <a:srgbClr val="000000"/>
                            </a:solidFill>
                            <a:latin typeface="Cambria Math" panose="02040503050406030204" pitchFamily="18" charset="0"/>
                          </a:rPr>
                          <m:t>𝒙</m:t>
                        </m:r>
                      </m:e>
                      <m:sup>
                        <m:r>
                          <a:rPr lang="zh-CN" altLang="en-US" sz="2400" b="1" i="1" smtClean="0">
                            <a:solidFill>
                              <a:srgbClr val="000000"/>
                            </a:solidFill>
                            <a:latin typeface="Cambria Math" panose="02040503050406030204" pitchFamily="18" charset="0"/>
                          </a:rPr>
                          <m:t>−</m:t>
                        </m:r>
                        <m:r>
                          <a:rPr lang="zh-CN" altLang="en-US" sz="2400" b="1" i="1" smtClean="0">
                            <a:solidFill>
                              <a:srgbClr val="000000"/>
                            </a:solidFill>
                            <a:latin typeface="Cambria Math" panose="02040503050406030204" pitchFamily="18" charset="0"/>
                          </a:rPr>
                          <m:t>𝟏</m:t>
                        </m:r>
                      </m:sup>
                    </m:sSup>
                    <m:r>
                      <a:rPr lang="zh-CN" altLang="en-US" sz="2400" b="1" i="1" smtClean="0">
                        <a:solidFill>
                          <a:srgbClr val="000000"/>
                        </a:solidFill>
                        <a:latin typeface="Cambria Math" panose="02040503050406030204" pitchFamily="18" charset="0"/>
                      </a:rPr>
                      <m:t>+</m:t>
                    </m:r>
                    <m:r>
                      <a:rPr lang="zh-CN" altLang="en-US" sz="2400" b="1" i="1" smtClean="0">
                        <a:solidFill>
                          <a:srgbClr val="000000"/>
                        </a:solidFill>
                        <a:latin typeface="Cambria Math" panose="02040503050406030204" pitchFamily="18" charset="0"/>
                      </a:rPr>
                      <m:t>𝑩</m:t>
                    </m:r>
                  </m:oMath>
                </a14:m>
                <a:endParaRPr lang="en-US" altLang="zh-CN" sz="2400" dirty="0">
                  <a:latin typeface="Times New Roman" panose="02020603050405020304" pitchFamily="18" charset="0"/>
                </a:endParaRPr>
              </a:p>
              <a:p>
                <a:pPr marL="1066800" lvl="1" indent="-609600" eaLnBrk="1" hangingPunct="1">
                  <a:lnSpc>
                    <a:spcPct val="120000"/>
                  </a:lnSpc>
                  <a:buFont typeface="Arial" panose="020B0604020202020204" pitchFamily="34" charset="0"/>
                  <a:buNone/>
                </a:pPr>
                <a:endParaRPr lang="en-US" altLang="zh-CN" sz="2400" dirty="0">
                  <a:latin typeface="Times New Roman" panose="02020603050405020304" pitchFamily="18" charset="0"/>
                </a:endParaRPr>
              </a:p>
              <a:p>
                <a:pPr marL="1066800" lvl="1" indent="-609600" eaLnBrk="1" hangingPunct="1">
                  <a:lnSpc>
                    <a:spcPct val="120000"/>
                  </a:lnSpc>
                  <a:buFont typeface="Arial" panose="020B0604020202020204" pitchFamily="34" charset="0"/>
                  <a:buNone/>
                </a:pPr>
                <a:r>
                  <a:rPr lang="zh-CN" altLang="en-US" sz="2400" dirty="0">
                    <a:latin typeface="Times New Roman" panose="02020603050405020304" pitchFamily="18" charset="0"/>
                  </a:rPr>
                  <a:t>其中</a:t>
                </a:r>
                <a:r>
                  <a:rPr lang="en-US" altLang="zh-CN" sz="2400" dirty="0">
                    <a:latin typeface="Times New Roman" panose="02020603050405020304" pitchFamily="18" charset="0"/>
                  </a:rPr>
                  <a:t>A</a:t>
                </a:r>
                <a:r>
                  <a:rPr lang="zh-CN" altLang="en-US" sz="2400" dirty="0">
                    <a:latin typeface="Times New Roman" panose="02020603050405020304" pitchFamily="18" charset="0"/>
                  </a:rPr>
                  <a:t>是一个</a:t>
                </a:r>
                <a:r>
                  <a:rPr lang="en-US" altLang="zh-CN" sz="2400" dirty="0">
                    <a:latin typeface="Times New Roman" panose="02020603050405020304" pitchFamily="18" charset="0"/>
                  </a:rPr>
                  <a:t>GF</a:t>
                </a: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）上</a:t>
                </a:r>
                <a:r>
                  <a:rPr lang="en-US" altLang="zh-CN" sz="2400" dirty="0">
                    <a:latin typeface="Times New Roman" panose="02020603050405020304" pitchFamily="18" charset="0"/>
                  </a:rPr>
                  <a:t>8☓8</a:t>
                </a:r>
                <a:r>
                  <a:rPr lang="zh-CN" altLang="en-US" sz="2400" dirty="0">
                    <a:latin typeface="Times New Roman" panose="02020603050405020304" pitchFamily="18" charset="0"/>
                  </a:rPr>
                  <a:t>的可逆矩阵，</a:t>
                </a:r>
                <a:r>
                  <a:rPr lang="en-US" altLang="zh-CN" sz="2400" dirty="0">
                    <a:latin typeface="Times New Roman" panose="02020603050405020304" pitchFamily="18" charset="0"/>
                  </a:rPr>
                  <a:t>B</a:t>
                </a:r>
                <a:r>
                  <a:rPr lang="zh-CN" altLang="en-US" sz="2400" dirty="0">
                    <a:latin typeface="Times New Roman" panose="02020603050405020304" pitchFamily="18" charset="0"/>
                  </a:rPr>
                  <a:t>是</a:t>
                </a:r>
                <a:r>
                  <a:rPr lang="en-US" altLang="zh-CN" sz="2400" dirty="0">
                    <a:latin typeface="Times New Roman" panose="02020603050405020304" pitchFamily="18" charset="0"/>
                  </a:rPr>
                  <a:t>GF</a:t>
                </a: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）上一个</a:t>
                </a:r>
                <a:r>
                  <a:rPr lang="en-US" altLang="zh-CN" sz="2400" dirty="0">
                    <a:latin typeface="Times New Roman" panose="02020603050405020304" pitchFamily="18" charset="0"/>
                  </a:rPr>
                  <a:t>8</a:t>
                </a:r>
                <a:r>
                  <a:rPr lang="zh-CN" altLang="en-US" sz="2400" dirty="0">
                    <a:latin typeface="Times New Roman" panose="02020603050405020304" pitchFamily="18" charset="0"/>
                  </a:rPr>
                  <a:t>位列向量</a:t>
                </a:r>
              </a:p>
              <a:p>
                <a:pPr marL="609600" indent="-609600" eaLnBrk="1" hangingPunct="1">
                  <a:lnSpc>
                    <a:spcPct val="120000"/>
                  </a:lnSpc>
                  <a:buFont typeface="Wingdings" pitchFamily="2" charset="2"/>
                  <a:buAutoNum type="arabicParenBoth"/>
                </a:pPr>
                <a:endParaRPr lang="zh-CN" altLang="en-US" dirty="0">
                  <a:latin typeface="Times New Roman" panose="02020603050405020304" pitchFamily="18" charset="0"/>
                </a:endParaRPr>
              </a:p>
              <a:p>
                <a:pPr marL="609600" indent="-609600" eaLnBrk="1" hangingPunct="1">
                  <a:lnSpc>
                    <a:spcPct val="120000"/>
                  </a:lnSpc>
                  <a:buFont typeface="Wingdings" pitchFamily="2" charset="2"/>
                  <a:buAutoNum type="arabicParenBoth"/>
                </a:pPr>
                <a:endParaRPr lang="zh-CN" altLang="en-US" dirty="0">
                  <a:latin typeface="Times New Roman" panose="02020603050405020304" pitchFamily="18" charset="0"/>
                </a:endParaRPr>
              </a:p>
              <a:p>
                <a:pPr marL="609600" indent="-609600" eaLnBrk="1" hangingPunct="1">
                  <a:lnSpc>
                    <a:spcPct val="120000"/>
                  </a:lnSpc>
                </a:pPr>
                <a:endParaRPr lang="en-US" altLang="zh-CN" dirty="0">
                  <a:latin typeface="Times New Roman" panose="02020603050405020304" pitchFamily="18" charset="0"/>
                </a:endParaRPr>
              </a:p>
            </p:txBody>
          </p:sp>
        </mc:Choice>
        <mc:Fallback xmlns="">
          <p:sp>
            <p:nvSpPr>
              <p:cNvPr id="324610" name="Rectangle 3">
                <a:extLst>
                  <a:ext uri="{FF2B5EF4-FFF2-40B4-BE49-F238E27FC236}">
                    <a16:creationId xmlns:a16="http://schemas.microsoft.com/office/drawing/2014/main" id="{62420774-13A2-3040-B0B4-74830DF1088B}"/>
                  </a:ext>
                </a:extLst>
              </p:cNvPr>
              <p:cNvSpPr>
                <a:spLocks noGrp="1" noRot="1" noChangeAspect="1" noMove="1" noResize="1" noEditPoints="1" noAdjustHandles="1" noChangeArrowheads="1" noChangeShapeType="1" noTextEdit="1"/>
              </p:cNvSpPr>
              <p:nvPr>
                <p:ph idx="1"/>
              </p:nvPr>
            </p:nvSpPr>
            <p:spPr>
              <a:xfrm>
                <a:off x="823913" y="1465263"/>
                <a:ext cx="10515600" cy="4579937"/>
              </a:xfrm>
              <a:blipFill>
                <a:blip r:embed="rId3"/>
                <a:stretch>
                  <a:fillRect l="-965" t="-552" r="-844"/>
                </a:stretch>
              </a:blipFill>
            </p:spPr>
            <p:txBody>
              <a:bodyPr/>
              <a:lstStyle/>
              <a:p>
                <a:r>
                  <a:rPr lang="en-CN">
                    <a:noFill/>
                  </a:rPr>
                  <a:t> </a:t>
                </a:r>
              </a:p>
            </p:txBody>
          </p:sp>
        </mc:Fallback>
      </mc:AlternateContent>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6657" name="Rectangle 2">
            <a:extLst>
              <a:ext uri="{FF2B5EF4-FFF2-40B4-BE49-F238E27FC236}">
                <a16:creationId xmlns:a16="http://schemas.microsoft.com/office/drawing/2014/main" id="{13D5EF44-F671-6B4F-8AC1-3D524ECE5111}"/>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字节代换</a:t>
            </a:r>
          </a:p>
        </p:txBody>
      </p:sp>
      <p:graphicFrame>
        <p:nvGraphicFramePr>
          <p:cNvPr id="326658" name="Object 3">
            <a:extLst>
              <a:ext uri="{FF2B5EF4-FFF2-40B4-BE49-F238E27FC236}">
                <a16:creationId xmlns:a16="http://schemas.microsoft.com/office/drawing/2014/main" id="{A1846EAB-498B-394E-A539-5914DCBC9FE5}"/>
              </a:ext>
            </a:extLst>
          </p:cNvPr>
          <p:cNvGraphicFramePr>
            <a:graphicFrameLocks noGrp="1" noChangeAspect="1"/>
          </p:cNvGraphicFramePr>
          <p:nvPr>
            <p:ph idx="1"/>
          </p:nvPr>
        </p:nvGraphicFramePr>
        <p:xfrm>
          <a:off x="2514600" y="1371600"/>
          <a:ext cx="6746875" cy="4457700"/>
        </p:xfrm>
        <a:graphic>
          <a:graphicData uri="http://schemas.openxmlformats.org/presentationml/2006/ole">
            <mc:AlternateContent xmlns:mc="http://schemas.openxmlformats.org/markup-compatibility/2006">
              <mc:Choice xmlns:v="urn:schemas-microsoft-com:vml" Requires="v">
                <p:oleObj spid="_x0000_s326724" r:id="rId4" imgW="64655700" imgH="42710100" progId="Equation.3">
                  <p:embed/>
                </p:oleObj>
              </mc:Choice>
              <mc:Fallback>
                <p:oleObj r:id="rId4" imgW="64655700" imgH="42710100" progId="Equation.3">
                  <p:embed/>
                  <p:pic>
                    <p:nvPicPr>
                      <p:cNvPr id="0" name="Object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1371600"/>
                        <a:ext cx="6746875" cy="44577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132">
            <a:extLst>
              <a:ext uri="{FF2B5EF4-FFF2-40B4-BE49-F238E27FC236}">
                <a16:creationId xmlns:a16="http://schemas.microsoft.com/office/drawing/2014/main" id="{BF4433FE-FE2F-3A43-8575-3564D7307AAE}"/>
              </a:ext>
            </a:extLst>
          </p:cNvPr>
          <p:cNvSpPr>
            <a:spLocks noGrp="1" noChangeArrowheads="1"/>
          </p:cNvSpPr>
          <p:nvPr>
            <p:ph type="title"/>
          </p:nvPr>
        </p:nvSpPr>
        <p:spPr>
          <a:xfrm>
            <a:off x="1465263" y="365125"/>
            <a:ext cx="9037637" cy="668338"/>
          </a:xfrm>
        </p:spPr>
        <p:txBody>
          <a:bodyPr/>
          <a:lstStyle/>
          <a:p>
            <a:pPr eaLnBrk="1" hangingPunct="1">
              <a:defRPr/>
            </a:pPr>
            <a:r>
              <a:rPr lang="en-US" altLang="zh-CN"/>
              <a:t>AES</a:t>
            </a:r>
            <a:r>
              <a:rPr lang="zh-CN" altLang="en-US"/>
              <a:t>的</a:t>
            </a:r>
            <a:r>
              <a:rPr lang="en-US" altLang="zh-CN"/>
              <a:t>S</a:t>
            </a:r>
            <a:r>
              <a:rPr lang="zh-CN" altLang="en-US"/>
              <a:t>盒</a:t>
            </a:r>
          </a:p>
        </p:txBody>
      </p:sp>
      <p:graphicFrame>
        <p:nvGraphicFramePr>
          <p:cNvPr id="174167" name="Group 2135">
            <a:extLst>
              <a:ext uri="{FF2B5EF4-FFF2-40B4-BE49-F238E27FC236}">
                <a16:creationId xmlns:a16="http://schemas.microsoft.com/office/drawing/2014/main" id="{88CDC5A1-45C2-6141-B63F-D44291AFB28A}"/>
              </a:ext>
            </a:extLst>
          </p:cNvPr>
          <p:cNvGraphicFramePr>
            <a:graphicFrameLocks noGrp="1"/>
          </p:cNvGraphicFramePr>
          <p:nvPr>
            <p:ph idx="4294967295"/>
          </p:nvPr>
        </p:nvGraphicFramePr>
        <p:xfrm>
          <a:off x="838200" y="1219200"/>
          <a:ext cx="10515600" cy="4937148"/>
        </p:xfrm>
        <a:graphic>
          <a:graphicData uri="http://schemas.openxmlformats.org/drawingml/2006/table">
            <a:tbl>
              <a:tblPr/>
              <a:tblGrid>
                <a:gridCol w="582053">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2052">
                  <a:extLst>
                    <a:ext uri="{9D8B030D-6E8A-4147-A177-3AD203B41FA5}">
                      <a16:colId xmlns:a16="http://schemas.microsoft.com/office/drawing/2014/main" val="20002"/>
                    </a:ext>
                  </a:extLst>
                </a:gridCol>
                <a:gridCol w="582053">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582052">
                  <a:extLst>
                    <a:ext uri="{9D8B030D-6E8A-4147-A177-3AD203B41FA5}">
                      <a16:colId xmlns:a16="http://schemas.microsoft.com/office/drawing/2014/main" val="20005"/>
                    </a:ext>
                  </a:extLst>
                </a:gridCol>
                <a:gridCol w="584200">
                  <a:extLst>
                    <a:ext uri="{9D8B030D-6E8A-4147-A177-3AD203B41FA5}">
                      <a16:colId xmlns:a16="http://schemas.microsoft.com/office/drawing/2014/main" val="20006"/>
                    </a:ext>
                  </a:extLst>
                </a:gridCol>
                <a:gridCol w="582053">
                  <a:extLst>
                    <a:ext uri="{9D8B030D-6E8A-4147-A177-3AD203B41FA5}">
                      <a16:colId xmlns:a16="http://schemas.microsoft.com/office/drawing/2014/main" val="20007"/>
                    </a:ext>
                  </a:extLst>
                </a:gridCol>
                <a:gridCol w="582052">
                  <a:extLst>
                    <a:ext uri="{9D8B030D-6E8A-4147-A177-3AD203B41FA5}">
                      <a16:colId xmlns:a16="http://schemas.microsoft.com/office/drawing/2014/main" val="20008"/>
                    </a:ext>
                  </a:extLst>
                </a:gridCol>
                <a:gridCol w="584200">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6348">
                  <a:extLst>
                    <a:ext uri="{9D8B030D-6E8A-4147-A177-3AD203B41FA5}">
                      <a16:colId xmlns:a16="http://schemas.microsoft.com/office/drawing/2014/main" val="20011"/>
                    </a:ext>
                  </a:extLst>
                </a:gridCol>
                <a:gridCol w="586347">
                  <a:extLst>
                    <a:ext uri="{9D8B030D-6E8A-4147-A177-3AD203B41FA5}">
                      <a16:colId xmlns:a16="http://schemas.microsoft.com/office/drawing/2014/main" val="20012"/>
                    </a:ext>
                  </a:extLst>
                </a:gridCol>
                <a:gridCol w="586348">
                  <a:extLst>
                    <a:ext uri="{9D8B030D-6E8A-4147-A177-3AD203B41FA5}">
                      <a16:colId xmlns:a16="http://schemas.microsoft.com/office/drawing/2014/main" val="20013"/>
                    </a:ext>
                  </a:extLst>
                </a:gridCol>
                <a:gridCol w="586347">
                  <a:extLst>
                    <a:ext uri="{9D8B030D-6E8A-4147-A177-3AD203B41FA5}">
                      <a16:colId xmlns:a16="http://schemas.microsoft.com/office/drawing/2014/main" val="20014"/>
                    </a:ext>
                  </a:extLst>
                </a:gridCol>
                <a:gridCol w="584200">
                  <a:extLst>
                    <a:ext uri="{9D8B030D-6E8A-4147-A177-3AD203B41FA5}">
                      <a16:colId xmlns:a16="http://schemas.microsoft.com/office/drawing/2014/main" val="20015"/>
                    </a:ext>
                  </a:extLst>
                </a:gridCol>
                <a:gridCol w="586348">
                  <a:extLst>
                    <a:ext uri="{9D8B030D-6E8A-4147-A177-3AD203B41FA5}">
                      <a16:colId xmlns:a16="http://schemas.microsoft.com/office/drawing/2014/main" val="20016"/>
                    </a:ext>
                  </a:extLst>
                </a:gridCol>
                <a:gridCol w="586347">
                  <a:extLst>
                    <a:ext uri="{9D8B030D-6E8A-4147-A177-3AD203B41FA5}">
                      <a16:colId xmlns:a16="http://schemas.microsoft.com/office/drawing/2014/main" val="20017"/>
                    </a:ext>
                  </a:extLst>
                </a:gridCol>
              </a:tblGrid>
              <a:tr h="274285">
                <a:tc rowSpan="2"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1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en-CN"/>
                    </a:p>
                  </a:txBody>
                  <a:tcPr/>
                </a:tc>
                <a:tc grid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extLst>
                  <a:ext uri="{0D108BD9-81ED-4DB2-BD59-A6C34878D82A}">
                    <a16:rowId xmlns:a16="http://schemas.microsoft.com/office/drawing/2014/main" val="10000"/>
                  </a:ext>
                </a:extLst>
              </a:tr>
              <a:tr h="274285">
                <a:tc gridSpan="2" vMerge="1">
                  <a:txBody>
                    <a:bodyPr/>
                    <a:lstStyle/>
                    <a:p>
                      <a:endParaRPr lang="en-CN"/>
                    </a:p>
                  </a:txBody>
                  <a:tcPr/>
                </a:tc>
                <a:tc hMerge="1"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85">
                <a:tc row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3" name="Rectangle 2132">
            <a:extLst>
              <a:ext uri="{FF2B5EF4-FFF2-40B4-BE49-F238E27FC236}">
                <a16:creationId xmlns:a16="http://schemas.microsoft.com/office/drawing/2014/main" id="{3DD84045-6E24-F24E-87C3-59A2D4A9219C}"/>
              </a:ext>
            </a:extLst>
          </p:cNvPr>
          <p:cNvSpPr>
            <a:spLocks noGrp="1" noChangeArrowheads="1"/>
          </p:cNvSpPr>
          <p:nvPr>
            <p:ph type="title"/>
          </p:nvPr>
        </p:nvSpPr>
        <p:spPr>
          <a:xfrm>
            <a:off x="1465263" y="365125"/>
            <a:ext cx="9037637" cy="668338"/>
          </a:xfrm>
        </p:spPr>
        <p:txBody>
          <a:bodyPr/>
          <a:lstStyle/>
          <a:p>
            <a:pPr eaLnBrk="1" hangingPunct="1"/>
            <a:r>
              <a:rPr lang="en-US" altLang="zh-CN" sz="2900">
                <a:solidFill>
                  <a:srgbClr val="1F4E79"/>
                </a:solidFill>
              </a:rPr>
              <a:t>AES</a:t>
            </a:r>
            <a:r>
              <a:rPr lang="zh-CN" altLang="en-US" sz="2900">
                <a:solidFill>
                  <a:srgbClr val="1F4E79"/>
                </a:solidFill>
              </a:rPr>
              <a:t>的</a:t>
            </a:r>
            <a:r>
              <a:rPr lang="en-US" altLang="zh-CN" sz="2900">
                <a:solidFill>
                  <a:srgbClr val="1F4E79"/>
                </a:solidFill>
              </a:rPr>
              <a:t>S</a:t>
            </a:r>
            <a:r>
              <a:rPr lang="zh-CN" altLang="en-US" sz="2900">
                <a:solidFill>
                  <a:srgbClr val="1F4E79"/>
                </a:solidFill>
              </a:rPr>
              <a:t>盒的使用：输入</a:t>
            </a:r>
            <a:r>
              <a:rPr lang="en-US" altLang="zh-CN" sz="2900">
                <a:solidFill>
                  <a:srgbClr val="1F4E79"/>
                </a:solidFill>
              </a:rPr>
              <a:t>8a</a:t>
            </a:r>
            <a:r>
              <a:rPr lang="zh-CN" altLang="en-US" sz="2900">
                <a:solidFill>
                  <a:srgbClr val="1F4E79"/>
                </a:solidFill>
              </a:rPr>
              <a:t>，输出</a:t>
            </a:r>
            <a:r>
              <a:rPr lang="en-US" altLang="zh-CN" sz="2900">
                <a:solidFill>
                  <a:srgbClr val="1F4E79"/>
                </a:solidFill>
              </a:rPr>
              <a:t>7e</a:t>
            </a:r>
            <a:r>
              <a:rPr lang="zh-CN" altLang="en-US" sz="2900">
                <a:solidFill>
                  <a:srgbClr val="1F4E79"/>
                </a:solidFill>
              </a:rPr>
              <a:t>，即</a:t>
            </a:r>
            <a:r>
              <a:rPr lang="en-US" altLang="zh-CN" sz="2900">
                <a:solidFill>
                  <a:srgbClr val="1F4E79"/>
                </a:solidFill>
              </a:rPr>
              <a:t>7e=S</a:t>
            </a:r>
            <a:r>
              <a:rPr lang="zh-CN" altLang="en-US" sz="2900">
                <a:solidFill>
                  <a:srgbClr val="1F4E79"/>
                </a:solidFill>
              </a:rPr>
              <a:t>（</a:t>
            </a:r>
            <a:r>
              <a:rPr lang="en-US" altLang="zh-CN" sz="2900">
                <a:solidFill>
                  <a:srgbClr val="1F4E79"/>
                </a:solidFill>
              </a:rPr>
              <a:t>8a</a:t>
            </a:r>
            <a:r>
              <a:rPr lang="zh-CN" altLang="en-US" sz="2900">
                <a:solidFill>
                  <a:srgbClr val="1F4E79"/>
                </a:solidFill>
              </a:rPr>
              <a:t>）</a:t>
            </a:r>
          </a:p>
        </p:txBody>
      </p:sp>
      <p:graphicFrame>
        <p:nvGraphicFramePr>
          <p:cNvPr id="174167" name="Group 2135">
            <a:extLst>
              <a:ext uri="{FF2B5EF4-FFF2-40B4-BE49-F238E27FC236}">
                <a16:creationId xmlns:a16="http://schemas.microsoft.com/office/drawing/2014/main" id="{6F69EF11-4233-4A44-A83F-26371986779F}"/>
              </a:ext>
            </a:extLst>
          </p:cNvPr>
          <p:cNvGraphicFramePr>
            <a:graphicFrameLocks noGrp="1"/>
          </p:cNvGraphicFramePr>
          <p:nvPr>
            <p:ph idx="4294967295"/>
          </p:nvPr>
        </p:nvGraphicFramePr>
        <p:xfrm>
          <a:off x="838200" y="1219200"/>
          <a:ext cx="10515600" cy="4937148"/>
        </p:xfrm>
        <a:graphic>
          <a:graphicData uri="http://schemas.openxmlformats.org/drawingml/2006/table">
            <a:tbl>
              <a:tblPr/>
              <a:tblGrid>
                <a:gridCol w="582053">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2052">
                  <a:extLst>
                    <a:ext uri="{9D8B030D-6E8A-4147-A177-3AD203B41FA5}">
                      <a16:colId xmlns:a16="http://schemas.microsoft.com/office/drawing/2014/main" val="20002"/>
                    </a:ext>
                  </a:extLst>
                </a:gridCol>
                <a:gridCol w="582053">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582052">
                  <a:extLst>
                    <a:ext uri="{9D8B030D-6E8A-4147-A177-3AD203B41FA5}">
                      <a16:colId xmlns:a16="http://schemas.microsoft.com/office/drawing/2014/main" val="20005"/>
                    </a:ext>
                  </a:extLst>
                </a:gridCol>
                <a:gridCol w="584200">
                  <a:extLst>
                    <a:ext uri="{9D8B030D-6E8A-4147-A177-3AD203B41FA5}">
                      <a16:colId xmlns:a16="http://schemas.microsoft.com/office/drawing/2014/main" val="20006"/>
                    </a:ext>
                  </a:extLst>
                </a:gridCol>
                <a:gridCol w="582053">
                  <a:extLst>
                    <a:ext uri="{9D8B030D-6E8A-4147-A177-3AD203B41FA5}">
                      <a16:colId xmlns:a16="http://schemas.microsoft.com/office/drawing/2014/main" val="20007"/>
                    </a:ext>
                  </a:extLst>
                </a:gridCol>
                <a:gridCol w="582052">
                  <a:extLst>
                    <a:ext uri="{9D8B030D-6E8A-4147-A177-3AD203B41FA5}">
                      <a16:colId xmlns:a16="http://schemas.microsoft.com/office/drawing/2014/main" val="20008"/>
                    </a:ext>
                  </a:extLst>
                </a:gridCol>
                <a:gridCol w="584200">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6348">
                  <a:extLst>
                    <a:ext uri="{9D8B030D-6E8A-4147-A177-3AD203B41FA5}">
                      <a16:colId xmlns:a16="http://schemas.microsoft.com/office/drawing/2014/main" val="20011"/>
                    </a:ext>
                  </a:extLst>
                </a:gridCol>
                <a:gridCol w="586347">
                  <a:extLst>
                    <a:ext uri="{9D8B030D-6E8A-4147-A177-3AD203B41FA5}">
                      <a16:colId xmlns:a16="http://schemas.microsoft.com/office/drawing/2014/main" val="20012"/>
                    </a:ext>
                  </a:extLst>
                </a:gridCol>
                <a:gridCol w="586348">
                  <a:extLst>
                    <a:ext uri="{9D8B030D-6E8A-4147-A177-3AD203B41FA5}">
                      <a16:colId xmlns:a16="http://schemas.microsoft.com/office/drawing/2014/main" val="20013"/>
                    </a:ext>
                  </a:extLst>
                </a:gridCol>
                <a:gridCol w="586347">
                  <a:extLst>
                    <a:ext uri="{9D8B030D-6E8A-4147-A177-3AD203B41FA5}">
                      <a16:colId xmlns:a16="http://schemas.microsoft.com/office/drawing/2014/main" val="20014"/>
                    </a:ext>
                  </a:extLst>
                </a:gridCol>
                <a:gridCol w="584200">
                  <a:extLst>
                    <a:ext uri="{9D8B030D-6E8A-4147-A177-3AD203B41FA5}">
                      <a16:colId xmlns:a16="http://schemas.microsoft.com/office/drawing/2014/main" val="20015"/>
                    </a:ext>
                  </a:extLst>
                </a:gridCol>
                <a:gridCol w="586348">
                  <a:extLst>
                    <a:ext uri="{9D8B030D-6E8A-4147-A177-3AD203B41FA5}">
                      <a16:colId xmlns:a16="http://schemas.microsoft.com/office/drawing/2014/main" val="20016"/>
                    </a:ext>
                  </a:extLst>
                </a:gridCol>
                <a:gridCol w="586347">
                  <a:extLst>
                    <a:ext uri="{9D8B030D-6E8A-4147-A177-3AD203B41FA5}">
                      <a16:colId xmlns:a16="http://schemas.microsoft.com/office/drawing/2014/main" val="20017"/>
                    </a:ext>
                  </a:extLst>
                </a:gridCol>
              </a:tblGrid>
              <a:tr h="274285">
                <a:tc rowSpan="2"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1200" b="1"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en-CN"/>
                    </a:p>
                  </a:txBody>
                  <a:tcPr/>
                </a:tc>
                <a:tc grid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extLst>
                  <a:ext uri="{0D108BD9-81ED-4DB2-BD59-A6C34878D82A}">
                    <a16:rowId xmlns:a16="http://schemas.microsoft.com/office/drawing/2014/main" val="10000"/>
                  </a:ext>
                </a:extLst>
              </a:tr>
              <a:tr h="274285">
                <a:tc gridSpan="2" vMerge="1">
                  <a:txBody>
                    <a:bodyPr/>
                    <a:lstStyle/>
                    <a:p>
                      <a:endParaRPr lang="en-CN"/>
                    </a:p>
                  </a:txBody>
                  <a:tcPr/>
                </a:tc>
                <a:tc hMerge="1"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85">
                <a:tc row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0"/>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74</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1" name="Rectangle 2">
            <a:extLst>
              <a:ext uri="{FF2B5EF4-FFF2-40B4-BE49-F238E27FC236}">
                <a16:creationId xmlns:a16="http://schemas.microsoft.com/office/drawing/2014/main" id="{D051D530-3E2F-5C4F-910F-F04AD9471EE4}"/>
              </a:ext>
            </a:extLst>
          </p:cNvPr>
          <p:cNvSpPr>
            <a:spLocks noGrp="1" noChangeArrowheads="1"/>
          </p:cNvSpPr>
          <p:nvPr>
            <p:ph type="title"/>
          </p:nvPr>
        </p:nvSpPr>
        <p:spPr>
          <a:xfrm>
            <a:off x="1465263" y="365125"/>
            <a:ext cx="9037637" cy="668338"/>
          </a:xfrm>
        </p:spPr>
        <p:txBody>
          <a:bodyPr/>
          <a:lstStyle/>
          <a:p>
            <a:pPr eaLnBrk="1" hangingPunct="1"/>
            <a:r>
              <a:rPr lang="zh-CN" altLang="en-US">
                <a:solidFill>
                  <a:srgbClr val="1F4E79"/>
                </a:solidFill>
              </a:rPr>
              <a:t>逆字节代换</a:t>
            </a:r>
            <a:r>
              <a:rPr lang="en-US" altLang="zh-CN">
                <a:solidFill>
                  <a:srgbClr val="1F4E79"/>
                </a:solidFill>
              </a:rPr>
              <a:t>InvSubBytes()</a:t>
            </a:r>
          </a:p>
        </p:txBody>
      </p:sp>
      <p:sp>
        <p:nvSpPr>
          <p:cNvPr id="332802" name="Rectangle 3">
            <a:extLst>
              <a:ext uri="{FF2B5EF4-FFF2-40B4-BE49-F238E27FC236}">
                <a16:creationId xmlns:a16="http://schemas.microsoft.com/office/drawing/2014/main" id="{75D8E84E-3A7C-D649-9588-E9BD30782571}"/>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sz="2800"/>
              <a:t>逆字节替代变换是字节替代变换的逆变换，在状态的每个字节上应用逆</a:t>
            </a:r>
            <a:r>
              <a:rPr lang="en-US" altLang="zh-CN" sz="2800"/>
              <a:t>S</a:t>
            </a:r>
            <a:r>
              <a:rPr lang="zh-CN" altLang="en-US" sz="2800"/>
              <a:t>盒</a:t>
            </a:r>
            <a:endParaRPr lang="en-US" altLang="zh-CN" sz="2800"/>
          </a:p>
          <a:p>
            <a:pPr lvl="1" eaLnBrk="1" hangingPunct="1">
              <a:lnSpc>
                <a:spcPct val="120000"/>
              </a:lnSpc>
            </a:pPr>
            <a:r>
              <a:rPr lang="zh-CN" altLang="en-US" sz="2400"/>
              <a:t>这是通过应用字节替代变换中的仿射变换的逆变换，再对所得结果应用有限域的乘法逆运算得到的</a:t>
            </a:r>
            <a:endParaRPr lang="en-US" altLang="zh-CN" sz="2400"/>
          </a:p>
          <a:p>
            <a:pPr lvl="1" eaLnBrk="1" hangingPunct="1">
              <a:lnSpc>
                <a:spcPct val="120000"/>
              </a:lnSpc>
              <a:buFont typeface="Arial" panose="020B0604020202020204" pitchFamily="34" charset="0"/>
              <a:buNone/>
            </a:pPr>
            <a:r>
              <a:rPr lang="zh-CN" altLang="en-US" sz="2400"/>
              <a:t>即 </a:t>
            </a:r>
          </a:p>
        </p:txBody>
      </p:sp>
      <mc:AlternateContent xmlns:mc="http://schemas.openxmlformats.org/markup-compatibility/2006" xmlns:a14="http://schemas.microsoft.com/office/drawing/2010/main">
        <mc:Choice Requires="a14">
          <p:sp>
            <p:nvSpPr>
              <p:cNvPr id="332803" name="Object 3">
                <a:extLst>
                  <a:ext uri="{FF2B5EF4-FFF2-40B4-BE49-F238E27FC236}">
                    <a16:creationId xmlns:a16="http://schemas.microsoft.com/office/drawing/2014/main" id="{DFBC197C-6090-244F-A782-4A8854FB0616}"/>
                  </a:ext>
                </a:extLst>
              </p:cNvPr>
              <p:cNvSpPr txBox="1"/>
              <p:nvPr/>
            </p:nvSpPr>
            <p:spPr bwMode="auto">
              <a:xfrm>
                <a:off x="2570163" y="3835400"/>
                <a:ext cx="3009900" cy="62388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−1</m:t>
                          </m:r>
                        </m:sup>
                      </m:sSup>
                    </m:oMath>
                  </m:oMathPara>
                </a14:m>
                <a:endParaRPr lang="zh-CN" altLang="en-US" dirty="0"/>
              </a:p>
            </p:txBody>
          </p:sp>
        </mc:Choice>
        <mc:Fallback xmlns="">
          <p:sp>
            <p:nvSpPr>
              <p:cNvPr id="332803" name="Object 3">
                <a:extLst>
                  <a:ext uri="{FF2B5EF4-FFF2-40B4-BE49-F238E27FC236}">
                    <a16:creationId xmlns:a16="http://schemas.microsoft.com/office/drawing/2014/main" id="{DFBC197C-6090-244F-A782-4A8854FB0616}"/>
                  </a:ext>
                </a:extLst>
              </p:cNvPr>
              <p:cNvSpPr txBox="1">
                <a:spLocks noRot="1" noChangeAspect="1" noMove="1" noResize="1" noEditPoints="1" noAdjustHandles="1" noChangeArrowheads="1" noChangeShapeType="1" noTextEdit="1"/>
              </p:cNvSpPr>
              <p:nvPr/>
            </p:nvSpPr>
            <p:spPr bwMode="auto">
              <a:xfrm>
                <a:off x="2570163" y="3835400"/>
                <a:ext cx="3009900" cy="623888"/>
              </a:xfrm>
              <a:prstGeom prst="rect">
                <a:avLst/>
              </a:prstGeom>
              <a:blipFill>
                <a:blip r:embed="rId3"/>
                <a:stretch>
                  <a:fillRect/>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132">
            <a:extLst>
              <a:ext uri="{FF2B5EF4-FFF2-40B4-BE49-F238E27FC236}">
                <a16:creationId xmlns:a16="http://schemas.microsoft.com/office/drawing/2014/main" id="{C210AA4B-A78F-1147-8247-A48AAB4E668D}"/>
              </a:ext>
            </a:extLst>
          </p:cNvPr>
          <p:cNvSpPr>
            <a:spLocks noGrp="1" noChangeArrowheads="1"/>
          </p:cNvSpPr>
          <p:nvPr>
            <p:ph type="title"/>
          </p:nvPr>
        </p:nvSpPr>
        <p:spPr>
          <a:xfrm>
            <a:off x="1465263" y="365125"/>
            <a:ext cx="9037637" cy="668338"/>
          </a:xfrm>
        </p:spPr>
        <p:txBody>
          <a:bodyPr/>
          <a:lstStyle/>
          <a:p>
            <a:pPr eaLnBrk="1" hangingPunct="1">
              <a:defRPr/>
            </a:pPr>
            <a:r>
              <a:rPr lang="en-US" altLang="zh-CN"/>
              <a:t>AES</a:t>
            </a:r>
            <a:r>
              <a:rPr lang="zh-CN" altLang="en-US"/>
              <a:t>的逆</a:t>
            </a:r>
            <a:r>
              <a:rPr lang="en-US" altLang="zh-CN"/>
              <a:t>S</a:t>
            </a:r>
            <a:r>
              <a:rPr lang="zh-CN" altLang="en-US"/>
              <a:t>盒</a:t>
            </a:r>
          </a:p>
        </p:txBody>
      </p:sp>
      <p:graphicFrame>
        <p:nvGraphicFramePr>
          <p:cNvPr id="179288" name="Group 2136">
            <a:extLst>
              <a:ext uri="{FF2B5EF4-FFF2-40B4-BE49-F238E27FC236}">
                <a16:creationId xmlns:a16="http://schemas.microsoft.com/office/drawing/2014/main" id="{C4F6B58C-B10A-964E-8D89-08D96A023E23}"/>
              </a:ext>
            </a:extLst>
          </p:cNvPr>
          <p:cNvGraphicFramePr>
            <a:graphicFrameLocks noGrp="1"/>
          </p:cNvGraphicFramePr>
          <p:nvPr>
            <p:ph idx="4294967295"/>
          </p:nvPr>
        </p:nvGraphicFramePr>
        <p:xfrm>
          <a:off x="838200" y="1219200"/>
          <a:ext cx="10515600" cy="4937148"/>
        </p:xfrm>
        <a:graphic>
          <a:graphicData uri="http://schemas.openxmlformats.org/drawingml/2006/table">
            <a:tbl>
              <a:tblPr/>
              <a:tblGrid>
                <a:gridCol w="582053">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2052">
                  <a:extLst>
                    <a:ext uri="{9D8B030D-6E8A-4147-A177-3AD203B41FA5}">
                      <a16:colId xmlns:a16="http://schemas.microsoft.com/office/drawing/2014/main" val="20002"/>
                    </a:ext>
                  </a:extLst>
                </a:gridCol>
                <a:gridCol w="582053">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gridCol w="582052">
                  <a:extLst>
                    <a:ext uri="{9D8B030D-6E8A-4147-A177-3AD203B41FA5}">
                      <a16:colId xmlns:a16="http://schemas.microsoft.com/office/drawing/2014/main" val="20005"/>
                    </a:ext>
                  </a:extLst>
                </a:gridCol>
                <a:gridCol w="584200">
                  <a:extLst>
                    <a:ext uri="{9D8B030D-6E8A-4147-A177-3AD203B41FA5}">
                      <a16:colId xmlns:a16="http://schemas.microsoft.com/office/drawing/2014/main" val="20006"/>
                    </a:ext>
                  </a:extLst>
                </a:gridCol>
                <a:gridCol w="582053">
                  <a:extLst>
                    <a:ext uri="{9D8B030D-6E8A-4147-A177-3AD203B41FA5}">
                      <a16:colId xmlns:a16="http://schemas.microsoft.com/office/drawing/2014/main" val="20007"/>
                    </a:ext>
                  </a:extLst>
                </a:gridCol>
                <a:gridCol w="582052">
                  <a:extLst>
                    <a:ext uri="{9D8B030D-6E8A-4147-A177-3AD203B41FA5}">
                      <a16:colId xmlns:a16="http://schemas.microsoft.com/office/drawing/2014/main" val="20008"/>
                    </a:ext>
                  </a:extLst>
                </a:gridCol>
                <a:gridCol w="584200">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6348">
                  <a:extLst>
                    <a:ext uri="{9D8B030D-6E8A-4147-A177-3AD203B41FA5}">
                      <a16:colId xmlns:a16="http://schemas.microsoft.com/office/drawing/2014/main" val="20011"/>
                    </a:ext>
                  </a:extLst>
                </a:gridCol>
                <a:gridCol w="586347">
                  <a:extLst>
                    <a:ext uri="{9D8B030D-6E8A-4147-A177-3AD203B41FA5}">
                      <a16:colId xmlns:a16="http://schemas.microsoft.com/office/drawing/2014/main" val="20012"/>
                    </a:ext>
                  </a:extLst>
                </a:gridCol>
                <a:gridCol w="586348">
                  <a:extLst>
                    <a:ext uri="{9D8B030D-6E8A-4147-A177-3AD203B41FA5}">
                      <a16:colId xmlns:a16="http://schemas.microsoft.com/office/drawing/2014/main" val="20013"/>
                    </a:ext>
                  </a:extLst>
                </a:gridCol>
                <a:gridCol w="586347">
                  <a:extLst>
                    <a:ext uri="{9D8B030D-6E8A-4147-A177-3AD203B41FA5}">
                      <a16:colId xmlns:a16="http://schemas.microsoft.com/office/drawing/2014/main" val="20014"/>
                    </a:ext>
                  </a:extLst>
                </a:gridCol>
                <a:gridCol w="584200">
                  <a:extLst>
                    <a:ext uri="{9D8B030D-6E8A-4147-A177-3AD203B41FA5}">
                      <a16:colId xmlns:a16="http://schemas.microsoft.com/office/drawing/2014/main" val="20015"/>
                    </a:ext>
                  </a:extLst>
                </a:gridCol>
                <a:gridCol w="586348">
                  <a:extLst>
                    <a:ext uri="{9D8B030D-6E8A-4147-A177-3AD203B41FA5}">
                      <a16:colId xmlns:a16="http://schemas.microsoft.com/office/drawing/2014/main" val="20016"/>
                    </a:ext>
                  </a:extLst>
                </a:gridCol>
                <a:gridCol w="586347">
                  <a:extLst>
                    <a:ext uri="{9D8B030D-6E8A-4147-A177-3AD203B41FA5}">
                      <a16:colId xmlns:a16="http://schemas.microsoft.com/office/drawing/2014/main" val="20017"/>
                    </a:ext>
                  </a:extLst>
                </a:gridCol>
              </a:tblGrid>
              <a:tr h="274285">
                <a:tc rowSpan="2"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1200" b="1"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en-CN"/>
                    </a:p>
                  </a:txBody>
                  <a:tcPr/>
                </a:tc>
                <a:tc grid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extLst>
                  <a:ext uri="{0D108BD9-81ED-4DB2-BD59-A6C34878D82A}">
                    <a16:rowId xmlns:a16="http://schemas.microsoft.com/office/drawing/2014/main" val="10000"/>
                  </a:ext>
                </a:extLst>
              </a:tr>
              <a:tr h="274285">
                <a:tc gridSpan="2" vMerge="1">
                  <a:txBody>
                    <a:bodyPr/>
                    <a:lstStyle/>
                    <a:p>
                      <a:endParaRPr lang="en-CN"/>
                    </a:p>
                  </a:txBody>
                  <a:tcPr/>
                </a:tc>
                <a:tc hMerge="1"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85">
                <a:tc row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e9</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B6</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45</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4f</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67</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0e</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4d</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b0</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c8</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7428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2b</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7e</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77</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69</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63</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55</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0c</a:t>
                      </a: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7d</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marT="45703" marB="457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7" name="标题 1">
            <a:extLst>
              <a:ext uri="{FF2B5EF4-FFF2-40B4-BE49-F238E27FC236}">
                <a16:creationId xmlns:a16="http://schemas.microsoft.com/office/drawing/2014/main" id="{1CC2F271-7D68-3F4B-A0EA-F0471F0C911D}"/>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字节代换示意图</a:t>
            </a:r>
          </a:p>
        </p:txBody>
      </p:sp>
      <p:sp>
        <p:nvSpPr>
          <p:cNvPr id="336898" name="Rectangle 2">
            <a:extLst>
              <a:ext uri="{FF2B5EF4-FFF2-40B4-BE49-F238E27FC236}">
                <a16:creationId xmlns:a16="http://schemas.microsoft.com/office/drawing/2014/main" id="{CE605C0B-53DD-7D4F-8321-13446CEA438E}"/>
              </a:ext>
            </a:extLst>
          </p:cNvPr>
          <p:cNvSpPr>
            <a:spLocks noGrp="1" noChangeArrowheads="1"/>
          </p:cNvSpPr>
          <p:nvPr>
            <p:ph idx="1"/>
          </p:nvPr>
        </p:nvSpPr>
        <p:spPr>
          <a:xfrm>
            <a:off x="823913" y="1465263"/>
            <a:ext cx="10515600" cy="4579937"/>
          </a:xfrm>
        </p:spPr>
        <p:txBody>
          <a:bodyPr/>
          <a:lstStyle/>
          <a:p>
            <a:pPr marL="287338" indent="-6350" eaLnBrk="1" hangingPunct="1">
              <a:lnSpc>
                <a:spcPct val="80000"/>
              </a:lnSpc>
            </a:pPr>
            <a:r>
              <a:rPr lang="zh-CN" altLang="en-US"/>
              <a:t>上述</a:t>
            </a:r>
            <a:r>
              <a:rPr lang="en-US" altLang="zh-CN"/>
              <a:t>S-</a:t>
            </a:r>
            <a:r>
              <a:rPr lang="zh-CN" altLang="en-US"/>
              <a:t>盒对状态的所有字节所做的变换记为</a:t>
            </a:r>
            <a:r>
              <a:rPr lang="en-US" altLang="zh-CN"/>
              <a:t>ByteSub (State)</a:t>
            </a:r>
          </a:p>
          <a:p>
            <a:pPr marL="287338" indent="-6350" eaLnBrk="1" hangingPunct="1">
              <a:lnSpc>
                <a:spcPct val="80000"/>
              </a:lnSpc>
            </a:pPr>
            <a:endParaRPr lang="en-US" altLang="zh-CN"/>
          </a:p>
          <a:p>
            <a:pPr marL="287338" indent="-6350" eaLnBrk="1" hangingPunct="1">
              <a:lnSpc>
                <a:spcPct val="80000"/>
              </a:lnSpc>
            </a:pPr>
            <a:endParaRPr lang="en-US" altLang="zh-CN"/>
          </a:p>
          <a:p>
            <a:pPr marL="287338" indent="-6350" eaLnBrk="1" hangingPunct="1">
              <a:lnSpc>
                <a:spcPct val="80000"/>
              </a:lnSpc>
            </a:pPr>
            <a:endParaRPr lang="en-US" altLang="zh-CN"/>
          </a:p>
          <a:p>
            <a:pPr marL="287338" indent="-6350" eaLnBrk="1" hangingPunct="1">
              <a:lnSpc>
                <a:spcPct val="80000"/>
              </a:lnSpc>
            </a:pPr>
            <a:endParaRPr lang="en-US" altLang="zh-CN"/>
          </a:p>
          <a:p>
            <a:pPr marL="287338" indent="-6350" eaLnBrk="1" hangingPunct="1">
              <a:lnSpc>
                <a:spcPct val="80000"/>
              </a:lnSpc>
            </a:pPr>
            <a:endParaRPr lang="en-US" altLang="zh-CN"/>
          </a:p>
          <a:p>
            <a:pPr marL="287338" indent="-6350" eaLnBrk="1" hangingPunct="1">
              <a:lnSpc>
                <a:spcPct val="80000"/>
              </a:lnSpc>
            </a:pPr>
            <a:endParaRPr lang="en-US" altLang="zh-CN"/>
          </a:p>
          <a:p>
            <a:pPr marL="287338" indent="-6350" eaLnBrk="1" hangingPunct="1">
              <a:lnSpc>
                <a:spcPct val="80000"/>
              </a:lnSpc>
            </a:pPr>
            <a:endParaRPr lang="en-US" altLang="zh-CN"/>
          </a:p>
          <a:p>
            <a:pPr marL="287338" indent="-6350" eaLnBrk="1" hangingPunct="1">
              <a:lnSpc>
                <a:spcPct val="80000"/>
              </a:lnSpc>
            </a:pPr>
            <a:endParaRPr lang="en-US" altLang="zh-CN"/>
          </a:p>
        </p:txBody>
      </p:sp>
      <p:pic>
        <p:nvPicPr>
          <p:cNvPr id="336899" name="Picture 3" descr="xd41">
            <a:extLst>
              <a:ext uri="{FF2B5EF4-FFF2-40B4-BE49-F238E27FC236}">
                <a16:creationId xmlns:a16="http://schemas.microsoft.com/office/drawing/2014/main" id="{C698DCB6-84D7-8C4D-917D-70B614FAE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2565400"/>
            <a:ext cx="8351837"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8945" name="Rectangle 2">
            <a:extLst>
              <a:ext uri="{FF2B5EF4-FFF2-40B4-BE49-F238E27FC236}">
                <a16:creationId xmlns:a16="http://schemas.microsoft.com/office/drawing/2014/main" id="{8E0A7312-81AB-BB48-85AA-47E836E71E8B}"/>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行移位</a:t>
            </a:r>
          </a:p>
        </p:txBody>
      </p:sp>
      <p:sp>
        <p:nvSpPr>
          <p:cNvPr id="338946" name="Rectangle 3">
            <a:extLst>
              <a:ext uri="{FF2B5EF4-FFF2-40B4-BE49-F238E27FC236}">
                <a16:creationId xmlns:a16="http://schemas.microsoft.com/office/drawing/2014/main" id="{F00A45B5-9C92-9941-A3F8-712EE4A23F30}"/>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a:t>将状态阵列的各行进行循环移位，不同行的移位量不同</a:t>
            </a:r>
          </a:p>
          <a:p>
            <a:pPr eaLnBrk="1" hangingPunct="1">
              <a:lnSpc>
                <a:spcPct val="120000"/>
              </a:lnSpc>
            </a:pPr>
            <a:r>
              <a:rPr lang="en-US" altLang="zh-CN"/>
              <a:t>0</a:t>
            </a:r>
            <a:r>
              <a:rPr lang="zh-CN" altLang="en-US"/>
              <a:t>行：不动</a:t>
            </a:r>
          </a:p>
          <a:p>
            <a:pPr eaLnBrk="1" hangingPunct="1">
              <a:lnSpc>
                <a:spcPct val="120000"/>
              </a:lnSpc>
            </a:pPr>
            <a:r>
              <a:rPr lang="en-US" altLang="zh-CN"/>
              <a:t>1</a:t>
            </a:r>
            <a:r>
              <a:rPr lang="zh-CN" altLang="en-US"/>
              <a:t>行：循环左移</a:t>
            </a:r>
            <a:r>
              <a:rPr lang="en-US" altLang="zh-CN"/>
              <a:t>C1</a:t>
            </a:r>
            <a:r>
              <a:rPr lang="zh-CN" altLang="en-US"/>
              <a:t>字节</a:t>
            </a:r>
          </a:p>
          <a:p>
            <a:pPr eaLnBrk="1" hangingPunct="1">
              <a:lnSpc>
                <a:spcPct val="120000"/>
              </a:lnSpc>
            </a:pPr>
            <a:r>
              <a:rPr lang="en-US" altLang="zh-CN"/>
              <a:t>2</a:t>
            </a:r>
            <a:r>
              <a:rPr lang="zh-CN" altLang="en-US"/>
              <a:t>行：循环左移</a:t>
            </a:r>
            <a:r>
              <a:rPr lang="en-US" altLang="zh-CN"/>
              <a:t>C2</a:t>
            </a:r>
            <a:r>
              <a:rPr lang="zh-CN" altLang="en-US"/>
              <a:t>字节</a:t>
            </a:r>
          </a:p>
          <a:p>
            <a:pPr eaLnBrk="1" hangingPunct="1">
              <a:lnSpc>
                <a:spcPct val="120000"/>
              </a:lnSpc>
            </a:pPr>
            <a:r>
              <a:rPr lang="en-US" altLang="zh-CN"/>
              <a:t>3</a:t>
            </a:r>
            <a:r>
              <a:rPr lang="zh-CN" altLang="en-US"/>
              <a:t>行：循环左移</a:t>
            </a:r>
            <a:r>
              <a:rPr lang="en-US" altLang="zh-CN"/>
              <a:t>C3</a:t>
            </a:r>
            <a:r>
              <a:rPr lang="zh-CN" altLang="en-US"/>
              <a:t>字节</a:t>
            </a:r>
          </a:p>
          <a:p>
            <a:pPr eaLnBrk="1" hangingPunct="1">
              <a:lnSpc>
                <a:spcPct val="120000"/>
              </a:lnSpc>
            </a:pPr>
            <a:r>
              <a:rPr lang="zh-CN" altLang="en-US"/>
              <a:t>记为：</a:t>
            </a:r>
            <a:r>
              <a:rPr lang="en-US" altLang="zh-CN"/>
              <a:t>ShiftRow(State)</a:t>
            </a:r>
          </a:p>
        </p:txBody>
      </p:sp>
      <p:graphicFrame>
        <p:nvGraphicFramePr>
          <p:cNvPr id="4" name="Group 4">
            <a:extLst>
              <a:ext uri="{FF2B5EF4-FFF2-40B4-BE49-F238E27FC236}">
                <a16:creationId xmlns:a16="http://schemas.microsoft.com/office/drawing/2014/main" id="{EEFEB08D-9516-3E45-9761-2939A3AF1DB8}"/>
              </a:ext>
            </a:extLst>
          </p:cNvPr>
          <p:cNvGraphicFramePr/>
          <p:nvPr/>
        </p:nvGraphicFramePr>
        <p:xfrm>
          <a:off x="4953000" y="2438400"/>
          <a:ext cx="6781801" cy="2105026"/>
        </p:xfrm>
        <a:graphic>
          <a:graphicData uri="http://schemas.openxmlformats.org/drawingml/2006/table">
            <a:tbl>
              <a:tblPr/>
              <a:tblGrid>
                <a:gridCol w="1695853">
                  <a:extLst>
                    <a:ext uri="{9D8B030D-6E8A-4147-A177-3AD203B41FA5}">
                      <a16:colId xmlns:a16="http://schemas.microsoft.com/office/drawing/2014/main" val="20000"/>
                    </a:ext>
                  </a:extLst>
                </a:gridCol>
                <a:gridCol w="1695851">
                  <a:extLst>
                    <a:ext uri="{9D8B030D-6E8A-4147-A177-3AD203B41FA5}">
                      <a16:colId xmlns:a16="http://schemas.microsoft.com/office/drawing/2014/main" val="20001"/>
                    </a:ext>
                  </a:extLst>
                </a:gridCol>
                <a:gridCol w="1694244">
                  <a:extLst>
                    <a:ext uri="{9D8B030D-6E8A-4147-A177-3AD203B41FA5}">
                      <a16:colId xmlns:a16="http://schemas.microsoft.com/office/drawing/2014/main" val="20002"/>
                    </a:ext>
                  </a:extLst>
                </a:gridCol>
                <a:gridCol w="1695853">
                  <a:extLst>
                    <a:ext uri="{9D8B030D-6E8A-4147-A177-3AD203B41FA5}">
                      <a16:colId xmlns:a16="http://schemas.microsoft.com/office/drawing/2014/main" val="20003"/>
                    </a:ext>
                  </a:extLst>
                </a:gridCol>
              </a:tblGrid>
              <a:tr h="51812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N</a:t>
                      </a:r>
                      <a:r>
                        <a:rPr kumimoji="0" lang="en-US" altLang="zh-CN" sz="2800" b="1" i="0" u="none" strike="noStrike" cap="none" normalizeH="0" baseline="-25000">
                          <a:ln>
                            <a:noFill/>
                          </a:ln>
                          <a:solidFill>
                            <a:schemeClr val="tx1"/>
                          </a:solidFill>
                          <a:effectLst/>
                          <a:latin typeface="Tahoma" panose="020B0604030504040204" pitchFamily="34" charset="0"/>
                          <a:ea typeface="宋体" panose="02010600030101010101" pitchFamily="2" charset="-122"/>
                        </a:rPr>
                        <a:t>b</a:t>
                      </a:r>
                    </a:p>
                  </a:txBody>
                  <a:tcPr marL="143564" marR="143564"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C1</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C2</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C3</a:t>
                      </a:r>
                    </a:p>
                  </a:txBody>
                  <a:tcPr marL="143564" marR="143564"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0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marL="143564" marR="143564"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marL="143564" marR="143564"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2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6</a:t>
                      </a:r>
                    </a:p>
                  </a:txBody>
                  <a:tcPr marL="143564" marR="143564"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marL="143564" marR="143564"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2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8</a:t>
                      </a:r>
                    </a:p>
                  </a:txBody>
                  <a:tcPr marL="143564" marR="143564"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marL="143564" marR="143564"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4</a:t>
                      </a:r>
                    </a:p>
                  </a:txBody>
                  <a:tcPr marL="143564" marR="143564"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3" name="标题 1">
            <a:extLst>
              <a:ext uri="{FF2B5EF4-FFF2-40B4-BE49-F238E27FC236}">
                <a16:creationId xmlns:a16="http://schemas.microsoft.com/office/drawing/2014/main" id="{1962DC8F-B81C-BA4F-81F6-B28A1E05E96B}"/>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行移位示意图</a:t>
            </a:r>
          </a:p>
        </p:txBody>
      </p:sp>
      <p:sp>
        <p:nvSpPr>
          <p:cNvPr id="340994" name="Rectangle 2">
            <a:extLst>
              <a:ext uri="{FF2B5EF4-FFF2-40B4-BE49-F238E27FC236}">
                <a16:creationId xmlns:a16="http://schemas.microsoft.com/office/drawing/2014/main" id="{E858584C-D380-5044-A676-1B542744DBF4}"/>
              </a:ext>
            </a:extLst>
          </p:cNvPr>
          <p:cNvSpPr>
            <a:spLocks noGrp="1" noChangeArrowheads="1"/>
          </p:cNvSpPr>
          <p:nvPr>
            <p:ph idx="1"/>
          </p:nvPr>
        </p:nvSpPr>
        <p:spPr>
          <a:xfrm>
            <a:off x="823913" y="1465263"/>
            <a:ext cx="10515600" cy="4579937"/>
          </a:xfrm>
        </p:spPr>
        <p:txBody>
          <a:bodyPr/>
          <a:lstStyle/>
          <a:p>
            <a:pPr marL="287338" indent="-6350" eaLnBrk="1" hangingPunct="1"/>
            <a:endParaRPr lang="en-US" altLang="zh-CN"/>
          </a:p>
          <a:p>
            <a:pPr marL="287338" indent="-6350" eaLnBrk="1" hangingPunct="1"/>
            <a:endParaRPr lang="en-US" altLang="zh-CN"/>
          </a:p>
          <a:p>
            <a:pPr marL="287338" indent="-6350" eaLnBrk="1" hangingPunct="1"/>
            <a:endParaRPr lang="en-US" altLang="zh-CN"/>
          </a:p>
          <a:p>
            <a:pPr marL="287338" indent="-6350" eaLnBrk="1" hangingPunct="1"/>
            <a:endParaRPr lang="en-US" altLang="zh-CN"/>
          </a:p>
          <a:p>
            <a:pPr marL="287338" indent="-6350" eaLnBrk="1" hangingPunct="1"/>
            <a:endParaRPr lang="en-US" altLang="zh-CN"/>
          </a:p>
          <a:p>
            <a:pPr marL="287338" indent="-6350" eaLnBrk="1" hangingPunct="1"/>
            <a:endParaRPr lang="en-US" altLang="zh-CN"/>
          </a:p>
          <a:p>
            <a:pPr marL="287338" indent="-6350" eaLnBrk="1" hangingPunct="1"/>
            <a:endParaRPr lang="en-US" altLang="zh-CN"/>
          </a:p>
          <a:p>
            <a:pPr marL="287338" indent="-6350" eaLnBrk="1" hangingPunct="1"/>
            <a:endParaRPr lang="en-US" altLang="zh-CN"/>
          </a:p>
          <a:p>
            <a:pPr marL="287338" indent="-6350" eaLnBrk="1" hangingPunct="1"/>
            <a:endParaRPr lang="en-US" altLang="zh-CN"/>
          </a:p>
        </p:txBody>
      </p:sp>
      <p:pic>
        <p:nvPicPr>
          <p:cNvPr id="340995" name="Picture 3" descr="xd42">
            <a:extLst>
              <a:ext uri="{FF2B5EF4-FFF2-40B4-BE49-F238E27FC236}">
                <a16:creationId xmlns:a16="http://schemas.microsoft.com/office/drawing/2014/main" id="{D45C79A2-00D7-C14A-A05E-DC92F0A091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0" y="1412875"/>
            <a:ext cx="856932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7C33060C-C064-014C-AC5C-91BB6C9A2D99}"/>
              </a:ext>
            </a:extLst>
          </p:cNvPr>
          <p:cNvSpPr>
            <a:spLocks noGrp="1" noChangeArrowheads="1"/>
          </p:cNvSpPr>
          <p:nvPr>
            <p:ph type="title"/>
          </p:nvPr>
        </p:nvSpPr>
        <p:spPr>
          <a:xfrm>
            <a:off x="1465263" y="365125"/>
            <a:ext cx="9037637" cy="668338"/>
          </a:xfrm>
        </p:spPr>
        <p:txBody>
          <a:bodyPr/>
          <a:lstStyle/>
          <a:p>
            <a:pPr eaLnBrk="1" hangingPunct="1">
              <a:defRPr/>
            </a:pPr>
            <a:r>
              <a:rPr lang="zh-CN" altLang="en-US"/>
              <a:t>逆行移位</a:t>
            </a:r>
            <a:r>
              <a:rPr lang="en-US" altLang="zh-CN"/>
              <a:t>InvShiftRows()</a:t>
            </a:r>
          </a:p>
        </p:txBody>
      </p:sp>
      <p:sp>
        <p:nvSpPr>
          <p:cNvPr id="343042" name="Rectangle 3">
            <a:extLst>
              <a:ext uri="{FF2B5EF4-FFF2-40B4-BE49-F238E27FC236}">
                <a16:creationId xmlns:a16="http://schemas.microsoft.com/office/drawing/2014/main" id="{9361157C-CE85-2147-982C-F153A4FCECD9}"/>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sz="2800">
                <a:latin typeface="Times New Roman" panose="02020603050405020304" pitchFamily="18" charset="0"/>
              </a:rPr>
              <a:t>逆行移位变换是行移位变换的逆变换</a:t>
            </a:r>
            <a:endParaRPr lang="en-US" altLang="zh-CN" sz="2800">
              <a:latin typeface="Times New Roman" panose="02020603050405020304" pitchFamily="18" charset="0"/>
            </a:endParaRPr>
          </a:p>
          <a:p>
            <a:pPr lvl="1" eaLnBrk="1" hangingPunct="1">
              <a:lnSpc>
                <a:spcPct val="120000"/>
              </a:lnSpc>
            </a:pPr>
            <a:r>
              <a:rPr lang="zh-CN" altLang="en-US" sz="2400">
                <a:latin typeface="Times New Roman" panose="02020603050405020304" pitchFamily="18" charset="0"/>
              </a:rPr>
              <a:t>它对状态的每一行进行循环右移，</a:t>
            </a:r>
            <a:endParaRPr lang="en-US" altLang="zh-CN" sz="2400">
              <a:latin typeface="Times New Roman" panose="02020603050405020304" pitchFamily="18" charset="0"/>
            </a:endParaRPr>
          </a:p>
          <a:p>
            <a:pPr lvl="1" eaLnBrk="1" hangingPunct="1">
              <a:lnSpc>
                <a:spcPct val="120000"/>
              </a:lnSpc>
            </a:pPr>
            <a:r>
              <a:rPr lang="zh-CN" altLang="en-US" sz="2400">
                <a:latin typeface="Times New Roman" panose="02020603050405020304" pitchFamily="18" charset="0"/>
              </a:rPr>
              <a:t>第</a:t>
            </a:r>
            <a:r>
              <a:rPr lang="en-US" altLang="zh-CN" sz="2400">
                <a:latin typeface="Times New Roman" panose="02020603050405020304" pitchFamily="18" charset="0"/>
              </a:rPr>
              <a:t>0</a:t>
            </a:r>
            <a:r>
              <a:rPr lang="zh-CN" altLang="en-US" sz="2400">
                <a:latin typeface="Times New Roman" panose="02020603050405020304" pitchFamily="18" charset="0"/>
              </a:rPr>
              <a:t>行保持不变</a:t>
            </a:r>
            <a:endParaRPr lang="en-US" altLang="zh-CN" sz="2400">
              <a:latin typeface="Times New Roman" panose="02020603050405020304" pitchFamily="18" charset="0"/>
            </a:endParaRPr>
          </a:p>
          <a:p>
            <a:pPr lvl="1" eaLnBrk="1" hangingPunct="1">
              <a:lnSpc>
                <a:spcPct val="120000"/>
              </a:lnSpc>
            </a:pPr>
            <a:r>
              <a:rPr lang="zh-CN" altLang="en-US" sz="2400">
                <a:latin typeface="Times New Roman" panose="02020603050405020304" pitchFamily="18" charset="0"/>
              </a:rPr>
              <a:t>第</a:t>
            </a:r>
            <a:r>
              <a:rPr lang="en-US" altLang="zh-CN" sz="2400">
                <a:latin typeface="Times New Roman" panose="02020603050405020304" pitchFamily="18" charset="0"/>
              </a:rPr>
              <a:t>1</a:t>
            </a:r>
            <a:r>
              <a:rPr lang="zh-CN" altLang="en-US" sz="2400">
                <a:latin typeface="Times New Roman" panose="02020603050405020304" pitchFamily="18" charset="0"/>
              </a:rPr>
              <a:t>行循环右移</a:t>
            </a:r>
            <a:r>
              <a:rPr lang="en-US" altLang="zh-CN" sz="2400">
                <a:latin typeface="Times New Roman" panose="02020603050405020304" pitchFamily="18" charset="0"/>
              </a:rPr>
              <a:t>C</a:t>
            </a:r>
            <a:r>
              <a:rPr lang="en-US" altLang="zh-CN" sz="2400" baseline="-25000">
                <a:latin typeface="Times New Roman" panose="02020603050405020304" pitchFamily="18" charset="0"/>
              </a:rPr>
              <a:t>1</a:t>
            </a:r>
            <a:r>
              <a:rPr lang="zh-CN" altLang="en-US" sz="2400">
                <a:latin typeface="Times New Roman" panose="02020603050405020304" pitchFamily="18" charset="0"/>
              </a:rPr>
              <a:t>个字节</a:t>
            </a:r>
            <a:endParaRPr lang="en-US" altLang="zh-CN" sz="2400">
              <a:latin typeface="Times New Roman" panose="02020603050405020304" pitchFamily="18" charset="0"/>
            </a:endParaRPr>
          </a:p>
          <a:p>
            <a:pPr lvl="1" eaLnBrk="1" hangingPunct="1">
              <a:lnSpc>
                <a:spcPct val="120000"/>
              </a:lnSpc>
            </a:pPr>
            <a:r>
              <a:rPr lang="zh-CN" altLang="en-US" sz="2400">
                <a:latin typeface="Times New Roman" panose="02020603050405020304" pitchFamily="18" charset="0"/>
              </a:rPr>
              <a:t>第</a:t>
            </a:r>
            <a:r>
              <a:rPr lang="en-US" altLang="zh-CN" sz="2400">
                <a:latin typeface="Times New Roman" panose="02020603050405020304" pitchFamily="18" charset="0"/>
              </a:rPr>
              <a:t>2</a:t>
            </a:r>
            <a:r>
              <a:rPr lang="zh-CN" altLang="en-US" sz="2400">
                <a:latin typeface="Times New Roman" panose="02020603050405020304" pitchFamily="18" charset="0"/>
              </a:rPr>
              <a:t>行循环右移</a:t>
            </a:r>
            <a:r>
              <a:rPr lang="en-US" altLang="zh-CN" sz="2400">
                <a:latin typeface="Times New Roman" panose="02020603050405020304" pitchFamily="18" charset="0"/>
              </a:rPr>
              <a:t>C</a:t>
            </a:r>
            <a:r>
              <a:rPr lang="en-US" altLang="zh-CN" sz="2400" baseline="-25000">
                <a:latin typeface="Times New Roman" panose="02020603050405020304" pitchFamily="18" charset="0"/>
              </a:rPr>
              <a:t>2</a:t>
            </a:r>
            <a:r>
              <a:rPr lang="zh-CN" altLang="en-US" sz="2400">
                <a:latin typeface="Times New Roman" panose="02020603050405020304" pitchFamily="18" charset="0"/>
              </a:rPr>
              <a:t>个字节</a:t>
            </a:r>
            <a:endParaRPr lang="en-US" altLang="zh-CN" sz="2400">
              <a:latin typeface="Times New Roman" panose="02020603050405020304" pitchFamily="18" charset="0"/>
            </a:endParaRPr>
          </a:p>
          <a:p>
            <a:pPr lvl="1" eaLnBrk="1" hangingPunct="1">
              <a:lnSpc>
                <a:spcPct val="120000"/>
              </a:lnSpc>
            </a:pPr>
            <a:r>
              <a:rPr lang="zh-CN" altLang="en-US" sz="2400">
                <a:latin typeface="Times New Roman" panose="02020603050405020304" pitchFamily="18" charset="0"/>
              </a:rPr>
              <a:t>第</a:t>
            </a:r>
            <a:r>
              <a:rPr lang="en-US" altLang="zh-CN" sz="2400">
                <a:latin typeface="Times New Roman" panose="02020603050405020304" pitchFamily="18" charset="0"/>
              </a:rPr>
              <a:t>3</a:t>
            </a:r>
            <a:r>
              <a:rPr lang="zh-CN" altLang="en-US" sz="2400">
                <a:latin typeface="Times New Roman" panose="02020603050405020304" pitchFamily="18" charset="0"/>
              </a:rPr>
              <a:t>行循环右移</a:t>
            </a:r>
            <a:r>
              <a:rPr lang="en-US" altLang="zh-CN" sz="2400">
                <a:latin typeface="Times New Roman" panose="02020603050405020304" pitchFamily="18" charset="0"/>
              </a:rPr>
              <a:t>C</a:t>
            </a:r>
            <a:r>
              <a:rPr lang="en-US" altLang="zh-CN" sz="2400" baseline="-25000">
                <a:latin typeface="Times New Roman" panose="02020603050405020304" pitchFamily="18" charset="0"/>
              </a:rPr>
              <a:t>3</a:t>
            </a:r>
            <a:r>
              <a:rPr lang="zh-CN" altLang="en-US" sz="2400">
                <a:latin typeface="Times New Roman" panose="02020603050405020304" pitchFamily="18" charset="0"/>
              </a:rPr>
              <a:t>个字节</a:t>
            </a:r>
          </a:p>
        </p:txBody>
      </p:sp>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5089" name="Rectangle 2">
            <a:extLst>
              <a:ext uri="{FF2B5EF4-FFF2-40B4-BE49-F238E27FC236}">
                <a16:creationId xmlns:a16="http://schemas.microsoft.com/office/drawing/2014/main" id="{18181084-3DB0-774C-A13F-72E6540B28A6}"/>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列混淆</a:t>
            </a:r>
          </a:p>
        </p:txBody>
      </p:sp>
      <mc:AlternateContent xmlns:mc="http://schemas.openxmlformats.org/markup-compatibility/2006" xmlns:a14="http://schemas.microsoft.com/office/drawing/2010/main">
        <mc:Choice Requires="a14">
          <p:sp>
            <p:nvSpPr>
              <p:cNvPr id="345090" name="Object 4">
                <a:extLst>
                  <a:ext uri="{FF2B5EF4-FFF2-40B4-BE49-F238E27FC236}">
                    <a16:creationId xmlns:a16="http://schemas.microsoft.com/office/drawing/2014/main" id="{0AF819CC-7F9D-664D-896E-98AE842EC211}"/>
                  </a:ext>
                </a:extLst>
              </p:cNvPr>
              <p:cNvSpPr txBox="1">
                <a:spLocks noGrp="1"/>
              </p:cNvSpPr>
              <p:nvPr>
                <p:ph idx="1"/>
              </p:nvPr>
            </p:nvSpPr>
            <p:spPr bwMode="auto">
              <a:xfrm>
                <a:off x="3200400" y="3663950"/>
                <a:ext cx="6324600" cy="749300"/>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)=′03′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3</m:t>
                          </m:r>
                        </m:sup>
                      </m:sSup>
                      <m:r>
                        <a:rPr lang="zh-CN" altLang="en-US" i="1">
                          <a:solidFill>
                            <a:srgbClr val="000000"/>
                          </a:solidFill>
                          <a:latin typeface="Cambria Math" panose="02040503050406030204" pitchFamily="18" charset="0"/>
                        </a:rPr>
                        <m:t>+′01′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+′01′</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+′02′</m:t>
                      </m:r>
                    </m:oMath>
                  </m:oMathPara>
                </a14:m>
                <a:endParaRPr lang="zh-CN" altLang="en-US"/>
              </a:p>
            </p:txBody>
          </p:sp>
        </mc:Choice>
        <mc:Fallback xmlns="">
          <p:sp>
            <p:nvSpPr>
              <p:cNvPr id="345090" name="Object 4">
                <a:extLst>
                  <a:ext uri="{FF2B5EF4-FFF2-40B4-BE49-F238E27FC236}">
                    <a16:creationId xmlns:a16="http://schemas.microsoft.com/office/drawing/2014/main" id="{0AF819CC-7F9D-664D-896E-98AE842EC211}"/>
                  </a:ext>
                </a:extLst>
              </p:cNvPr>
              <p:cNvSpPr txBox="1">
                <a:spLocks noRot="1" noChangeAspect="1" noMove="1" noResize="1" noEditPoints="1" noAdjustHandles="1" noChangeArrowheads="1" noChangeShapeType="1" noTextEdit="1"/>
              </p:cNvSpPr>
              <p:nvPr>
                <p:ph idx="1"/>
              </p:nvPr>
            </p:nvSpPr>
            <p:spPr bwMode="auto">
              <a:xfrm>
                <a:off x="3200400" y="3663950"/>
                <a:ext cx="6324600" cy="749300"/>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345091" name="Rectangle 3">
            <a:extLst>
              <a:ext uri="{FF2B5EF4-FFF2-40B4-BE49-F238E27FC236}">
                <a16:creationId xmlns:a16="http://schemas.microsoft.com/office/drawing/2014/main" id="{55727703-E336-064D-A849-F0465CAB9AE3}"/>
              </a:ext>
            </a:extLst>
          </p:cNvPr>
          <p:cNvSpPr>
            <a:spLocks noGrp="1" noChangeArrowheads="1"/>
          </p:cNvSpPr>
          <p:nvPr>
            <p:ph type="body" sz="half" idx="4294967295"/>
          </p:nvPr>
        </p:nvSpPr>
        <p:spPr>
          <a:xfrm>
            <a:off x="1465263" y="1219200"/>
            <a:ext cx="9037637" cy="2058988"/>
          </a:xfrm>
        </p:spPr>
        <p:txBody>
          <a:bodyPr/>
          <a:lstStyle/>
          <a:p>
            <a:pPr eaLnBrk="1" hangingPunct="1">
              <a:lnSpc>
                <a:spcPct val="120000"/>
              </a:lnSpc>
            </a:pPr>
            <a:r>
              <a:rPr lang="zh-CN" altLang="en-US"/>
              <a:t>将每列视为</a:t>
            </a:r>
            <a:r>
              <a:rPr lang="en-US" altLang="zh-CN"/>
              <a:t>GF(2</a:t>
            </a:r>
            <a:r>
              <a:rPr lang="en-US" altLang="zh-CN" baseline="30000"/>
              <a:t>8</a:t>
            </a:r>
            <a:r>
              <a:rPr lang="en-US" altLang="zh-CN"/>
              <a:t>)</a:t>
            </a:r>
            <a:r>
              <a:rPr lang="zh-CN" altLang="en-US"/>
              <a:t>上多项式，与</a:t>
            </a:r>
            <a:r>
              <a:rPr lang="zh-CN" altLang="en-US" u="sng"/>
              <a:t>固定的多项式</a:t>
            </a:r>
            <a:r>
              <a:rPr lang="en-US" altLang="zh-CN" u="sng"/>
              <a:t>c(x)</a:t>
            </a:r>
            <a:r>
              <a:rPr lang="zh-CN" altLang="en-US" u="sng"/>
              <a:t>进行模</a:t>
            </a:r>
            <a:r>
              <a:rPr lang="en-US" altLang="zh-CN" u="sng"/>
              <a:t>x</a:t>
            </a:r>
            <a:r>
              <a:rPr lang="en-US" altLang="zh-CN" u="sng" baseline="30000"/>
              <a:t>4</a:t>
            </a:r>
            <a:r>
              <a:rPr lang="en-US" altLang="zh-CN" u="sng"/>
              <a:t>+1</a:t>
            </a:r>
            <a:r>
              <a:rPr lang="zh-CN" altLang="en-US" u="sng"/>
              <a:t>乘法</a:t>
            </a:r>
            <a:r>
              <a:rPr lang="zh-CN" altLang="en-US"/>
              <a:t>，记为     </a:t>
            </a:r>
            <a:r>
              <a:rPr lang="en-US" altLang="zh-CN"/>
              <a:t>,</a:t>
            </a:r>
            <a:r>
              <a:rPr lang="zh-CN" altLang="en-US"/>
              <a:t>要求</a:t>
            </a:r>
            <a:r>
              <a:rPr lang="en-US" altLang="zh-CN"/>
              <a:t>c(x)</a:t>
            </a:r>
            <a:r>
              <a:rPr lang="zh-CN" altLang="en-US"/>
              <a:t>模</a:t>
            </a:r>
            <a:r>
              <a:rPr lang="en-US" altLang="zh-CN"/>
              <a:t>x</a:t>
            </a:r>
            <a:r>
              <a:rPr lang="en-US" altLang="zh-CN" baseline="30000"/>
              <a:t>4</a:t>
            </a:r>
            <a:r>
              <a:rPr lang="en-US" altLang="zh-CN"/>
              <a:t>+1</a:t>
            </a:r>
            <a:r>
              <a:rPr lang="zh-CN" altLang="en-US"/>
              <a:t>可逆。</a:t>
            </a:r>
          </a:p>
          <a:p>
            <a:pPr eaLnBrk="1" hangingPunct="1">
              <a:lnSpc>
                <a:spcPct val="120000"/>
              </a:lnSpc>
            </a:pPr>
            <a:r>
              <a:rPr lang="zh-CN" altLang="en-US"/>
              <a:t>表示为</a:t>
            </a:r>
            <a:r>
              <a:rPr lang="en-US" altLang="zh-CN"/>
              <a:t>MixColumn(State)</a:t>
            </a:r>
          </a:p>
          <a:p>
            <a:pPr eaLnBrk="1" hangingPunct="1">
              <a:lnSpc>
                <a:spcPct val="120000"/>
              </a:lnSpc>
            </a:pPr>
            <a:endParaRPr lang="en-US" altLang="zh-CN"/>
          </a:p>
        </p:txBody>
      </p:sp>
      <mc:AlternateContent xmlns:mc="http://schemas.openxmlformats.org/markup-compatibility/2006" xmlns:a14="http://schemas.microsoft.com/office/drawing/2010/main">
        <mc:Choice Requires="a14">
          <p:sp>
            <p:nvSpPr>
              <p:cNvPr id="345092" name="Object 4">
                <a:extLst>
                  <a:ext uri="{FF2B5EF4-FFF2-40B4-BE49-F238E27FC236}">
                    <a16:creationId xmlns:a16="http://schemas.microsoft.com/office/drawing/2014/main" id="{81919FA5-51D0-1B43-B5BA-9608257B57DD}"/>
                  </a:ext>
                </a:extLst>
              </p:cNvPr>
              <p:cNvSpPr txBox="1"/>
              <p:nvPr/>
            </p:nvSpPr>
            <p:spPr bwMode="auto">
              <a:xfrm>
                <a:off x="4572000" y="1755775"/>
                <a:ext cx="539750" cy="5826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45092" name="Object 4">
                <a:extLst>
                  <a:ext uri="{FF2B5EF4-FFF2-40B4-BE49-F238E27FC236}">
                    <a16:creationId xmlns:a16="http://schemas.microsoft.com/office/drawing/2014/main" id="{81919FA5-51D0-1B43-B5BA-9608257B57DD}"/>
                  </a:ext>
                </a:extLst>
              </p:cNvPr>
              <p:cNvSpPr txBox="1">
                <a:spLocks noRot="1" noChangeAspect="1" noMove="1" noResize="1" noEditPoints="1" noAdjustHandles="1" noChangeArrowheads="1" noChangeShapeType="1" noTextEdit="1"/>
              </p:cNvSpPr>
              <p:nvPr/>
            </p:nvSpPr>
            <p:spPr bwMode="auto">
              <a:xfrm>
                <a:off x="4572000" y="1755775"/>
                <a:ext cx="539750" cy="582613"/>
              </a:xfrm>
              <a:prstGeom prst="rect">
                <a:avLst/>
              </a:prstGeom>
              <a:blipFill>
                <a:blip r:embed="rId4"/>
                <a:stretch>
                  <a:fillRect/>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7" name="标题 1">
            <a:extLst>
              <a:ext uri="{FF2B5EF4-FFF2-40B4-BE49-F238E27FC236}">
                <a16:creationId xmlns:a16="http://schemas.microsoft.com/office/drawing/2014/main" id="{BFFAE607-C89D-4446-AD67-80EFA522C3ED}"/>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列混淆的矩阵表示</a:t>
            </a:r>
          </a:p>
        </p:txBody>
      </p:sp>
      <p:sp>
        <p:nvSpPr>
          <p:cNvPr id="347138" name="Rectangle 2">
            <a:extLst>
              <a:ext uri="{FF2B5EF4-FFF2-40B4-BE49-F238E27FC236}">
                <a16:creationId xmlns:a16="http://schemas.microsoft.com/office/drawing/2014/main" id="{65F0A0BC-607C-0047-9E45-884DA8C6A127}"/>
              </a:ext>
            </a:extLst>
          </p:cNvPr>
          <p:cNvSpPr>
            <a:spLocks noGrp="1" noChangeArrowheads="1"/>
          </p:cNvSpPr>
          <p:nvPr>
            <p:ph idx="1"/>
          </p:nvPr>
        </p:nvSpPr>
        <p:spPr>
          <a:xfrm>
            <a:off x="823913" y="1447800"/>
            <a:ext cx="10515600" cy="4579938"/>
          </a:xfrm>
        </p:spPr>
        <p:txBody>
          <a:bodyPr/>
          <a:lstStyle/>
          <a:p>
            <a:pPr marL="287338" indent="-6350" eaLnBrk="1" hangingPunct="1">
              <a:buFont typeface="Arial" panose="020B0604020202020204" pitchFamily="34" charset="0"/>
              <a:buNone/>
            </a:pPr>
            <a:r>
              <a:rPr lang="zh-CN" altLang="en-US" sz="2800"/>
              <a:t>列混淆运算也可写为矩阵乘法。设</a:t>
            </a:r>
          </a:p>
          <a:p>
            <a:pPr marL="287338" indent="-6350" eaLnBrk="1" hangingPunct="1">
              <a:buFont typeface="Arial" panose="020B0604020202020204" pitchFamily="34" charset="0"/>
              <a:buNone/>
            </a:pPr>
            <a:endParaRPr lang="zh-CN" altLang="en-US"/>
          </a:p>
        </p:txBody>
      </p:sp>
      <p:graphicFrame>
        <p:nvGraphicFramePr>
          <p:cNvPr id="347139" name="Object 5">
            <a:extLst>
              <a:ext uri="{FF2B5EF4-FFF2-40B4-BE49-F238E27FC236}">
                <a16:creationId xmlns:a16="http://schemas.microsoft.com/office/drawing/2014/main" id="{E2468285-F300-F04C-9487-320AC2F93949}"/>
              </a:ext>
            </a:extLst>
          </p:cNvPr>
          <p:cNvGraphicFramePr>
            <a:graphicFrameLocks noChangeAspect="1"/>
          </p:cNvGraphicFramePr>
          <p:nvPr/>
        </p:nvGraphicFramePr>
        <p:xfrm>
          <a:off x="2971800" y="2538413"/>
          <a:ext cx="5472113" cy="2643187"/>
        </p:xfrm>
        <a:graphic>
          <a:graphicData uri="http://schemas.openxmlformats.org/presentationml/2006/ole">
            <mc:AlternateContent xmlns:mc="http://schemas.openxmlformats.org/markup-compatibility/2006">
              <mc:Choice xmlns:v="urn:schemas-microsoft-com:vml" Requires="v">
                <p:oleObj spid="_x0000_s347213" r:id="rId4" imgW="45059600" imgH="21653500" progId="Equation.DSMT4">
                  <p:embed/>
                </p:oleObj>
              </mc:Choice>
              <mc:Fallback>
                <p:oleObj r:id="rId4" imgW="45059600" imgH="216535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538413"/>
                        <a:ext cx="5472113" cy="264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347140" name="Object 5">
                <a:extLst>
                  <a:ext uri="{FF2B5EF4-FFF2-40B4-BE49-F238E27FC236}">
                    <a16:creationId xmlns:a16="http://schemas.microsoft.com/office/drawing/2014/main" id="{C8F45BB6-5BBA-8A4C-A1C7-276F6A8E8F7A}"/>
                  </a:ext>
                </a:extLst>
              </p:cNvPr>
              <p:cNvSpPr txBox="1"/>
              <p:nvPr/>
            </p:nvSpPr>
            <p:spPr bwMode="auto">
              <a:xfrm>
                <a:off x="6553200" y="1430338"/>
                <a:ext cx="3268663" cy="5715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47140" name="Object 5">
                <a:extLst>
                  <a:ext uri="{FF2B5EF4-FFF2-40B4-BE49-F238E27FC236}">
                    <a16:creationId xmlns:a16="http://schemas.microsoft.com/office/drawing/2014/main" id="{C8F45BB6-5BBA-8A4C-A1C7-276F6A8E8F7A}"/>
                  </a:ext>
                </a:extLst>
              </p:cNvPr>
              <p:cNvSpPr txBox="1">
                <a:spLocks noRot="1" noChangeAspect="1" noMove="1" noResize="1" noEditPoints="1" noAdjustHandles="1" noChangeArrowheads="1" noChangeShapeType="1" noTextEdit="1"/>
              </p:cNvSpPr>
              <p:nvPr/>
            </p:nvSpPr>
            <p:spPr bwMode="auto">
              <a:xfrm>
                <a:off x="6553200" y="1430338"/>
                <a:ext cx="3268663" cy="571500"/>
              </a:xfrm>
              <a:prstGeom prst="rect">
                <a:avLst/>
              </a:prstGeom>
              <a:blipFill>
                <a:blip r:embed="rId6"/>
                <a:stretch>
                  <a:fillRect/>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5" name="标题 1">
            <a:extLst>
              <a:ext uri="{FF2B5EF4-FFF2-40B4-BE49-F238E27FC236}">
                <a16:creationId xmlns:a16="http://schemas.microsoft.com/office/drawing/2014/main" id="{03ADCE34-8A24-1749-A881-83302FB6533C}"/>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列混淆运算示意图</a:t>
            </a:r>
          </a:p>
        </p:txBody>
      </p:sp>
      <p:sp>
        <p:nvSpPr>
          <p:cNvPr id="349186" name="Rectangle 2">
            <a:extLst>
              <a:ext uri="{FF2B5EF4-FFF2-40B4-BE49-F238E27FC236}">
                <a16:creationId xmlns:a16="http://schemas.microsoft.com/office/drawing/2014/main" id="{867D5733-1E29-C441-92F9-634B2CB0AC1B}"/>
              </a:ext>
            </a:extLst>
          </p:cNvPr>
          <p:cNvSpPr>
            <a:spLocks noGrp="1" noChangeArrowheads="1"/>
          </p:cNvSpPr>
          <p:nvPr>
            <p:ph idx="1"/>
          </p:nvPr>
        </p:nvSpPr>
        <p:spPr>
          <a:xfrm>
            <a:off x="823913" y="1465263"/>
            <a:ext cx="10515600" cy="4579937"/>
          </a:xfrm>
        </p:spPr>
        <p:txBody>
          <a:bodyPr/>
          <a:lstStyle/>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a:p>
            <a:pPr marL="287338" indent="-6350" algn="ctr" eaLnBrk="1" hangingPunct="1">
              <a:buFont typeface="Arial" panose="020B0604020202020204" pitchFamily="34" charset="0"/>
              <a:buNone/>
            </a:pPr>
            <a:endParaRPr lang="en-US" altLang="zh-CN"/>
          </a:p>
        </p:txBody>
      </p:sp>
      <p:pic>
        <p:nvPicPr>
          <p:cNvPr id="349187" name="Picture 3" descr="xd43">
            <a:extLst>
              <a:ext uri="{FF2B5EF4-FFF2-40B4-BE49-F238E27FC236}">
                <a16:creationId xmlns:a16="http://schemas.microsoft.com/office/drawing/2014/main" id="{7B28F4D3-5860-9244-B9A8-891B5AE16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6113" y="1676400"/>
            <a:ext cx="813752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99D47601-8550-D046-B335-7C660B19822E}"/>
              </a:ext>
            </a:extLst>
          </p:cNvPr>
          <p:cNvSpPr>
            <a:spLocks noGrp="1" noChangeArrowheads="1"/>
          </p:cNvSpPr>
          <p:nvPr>
            <p:ph type="title"/>
          </p:nvPr>
        </p:nvSpPr>
        <p:spPr>
          <a:xfrm>
            <a:off x="1465263" y="365125"/>
            <a:ext cx="9037637" cy="668338"/>
          </a:xfrm>
        </p:spPr>
        <p:txBody>
          <a:bodyPr/>
          <a:lstStyle/>
          <a:p>
            <a:pPr eaLnBrk="1" hangingPunct="1">
              <a:defRPr/>
            </a:pPr>
            <a:r>
              <a:rPr lang="zh-CN" altLang="en-US" dirty="0"/>
              <a:t>逆列混淆</a:t>
            </a:r>
            <a:r>
              <a:rPr lang="en-US" altLang="zh-CN" dirty="0" err="1"/>
              <a:t>InvMixColumns</a:t>
            </a:r>
            <a:r>
              <a:rPr lang="en-US" altLang="zh-CN" dirty="0"/>
              <a:t>()</a:t>
            </a:r>
          </a:p>
        </p:txBody>
      </p:sp>
      <p:sp>
        <p:nvSpPr>
          <p:cNvPr id="351234" name="Rectangle 3">
            <a:extLst>
              <a:ext uri="{FF2B5EF4-FFF2-40B4-BE49-F238E27FC236}">
                <a16:creationId xmlns:a16="http://schemas.microsoft.com/office/drawing/2014/main" id="{82955CBF-6825-DC42-B0DD-B76F2728E253}"/>
              </a:ext>
            </a:extLst>
          </p:cNvPr>
          <p:cNvSpPr>
            <a:spLocks noGrp="1" noChangeArrowheads="1"/>
          </p:cNvSpPr>
          <p:nvPr>
            <p:ph type="body" sz="half" idx="4294967295"/>
          </p:nvPr>
        </p:nvSpPr>
        <p:spPr>
          <a:xfrm>
            <a:off x="1219200" y="1262063"/>
            <a:ext cx="10042525" cy="4114800"/>
          </a:xfrm>
        </p:spPr>
        <p:txBody>
          <a:bodyPr/>
          <a:lstStyle/>
          <a:p>
            <a:pPr eaLnBrk="1" hangingPunct="1">
              <a:lnSpc>
                <a:spcPct val="120000"/>
              </a:lnSpc>
            </a:pPr>
            <a:r>
              <a:rPr lang="zh-CN" altLang="en-US"/>
              <a:t>逆列混淆变换是列混淆变换的逆</a:t>
            </a:r>
            <a:endParaRPr lang="en-US" altLang="zh-CN"/>
          </a:p>
          <a:p>
            <a:pPr eaLnBrk="1" hangingPunct="1">
              <a:lnSpc>
                <a:spcPct val="120000"/>
              </a:lnSpc>
            </a:pPr>
            <a:r>
              <a:rPr lang="zh-CN" altLang="en-US"/>
              <a:t>它将状态矩阵中的每一列视为系数在           上的次数小于</a:t>
            </a:r>
            <a:r>
              <a:rPr lang="en-US" altLang="zh-CN"/>
              <a:t>4</a:t>
            </a:r>
            <a:r>
              <a:rPr lang="zh-CN" altLang="en-US"/>
              <a:t>的多项式与同一个固定的多项式 </a:t>
            </a:r>
            <a:r>
              <a:rPr lang="en-US" altLang="zh-CN" i="1"/>
              <a:t>d</a:t>
            </a:r>
            <a:r>
              <a:rPr lang="en-US" altLang="zh-CN"/>
              <a:t>(</a:t>
            </a:r>
            <a:r>
              <a:rPr lang="en-US" altLang="zh-CN" i="1"/>
              <a:t>x</a:t>
            </a:r>
            <a:r>
              <a:rPr lang="en-US" altLang="zh-CN"/>
              <a:t>)</a:t>
            </a:r>
            <a:r>
              <a:rPr lang="zh-CN" altLang="en-US"/>
              <a:t>相乘。 </a:t>
            </a:r>
            <a:r>
              <a:rPr lang="en-US" altLang="zh-CN" i="1"/>
              <a:t>d</a:t>
            </a:r>
            <a:r>
              <a:rPr lang="en-US" altLang="zh-CN"/>
              <a:t>(</a:t>
            </a:r>
            <a:r>
              <a:rPr lang="en-US" altLang="zh-CN" i="1"/>
              <a:t>x</a:t>
            </a:r>
            <a:r>
              <a:rPr lang="en-US" altLang="zh-CN"/>
              <a:t>)</a:t>
            </a:r>
            <a:r>
              <a:rPr lang="zh-CN" altLang="en-US"/>
              <a:t>满足</a:t>
            </a:r>
          </a:p>
          <a:p>
            <a:pPr algn="ctr" eaLnBrk="1" hangingPunct="1">
              <a:lnSpc>
                <a:spcPct val="120000"/>
              </a:lnSpc>
              <a:buFont typeface="Wingdings" pitchFamily="2" charset="2"/>
              <a:buNone/>
            </a:pPr>
            <a:r>
              <a:rPr lang="en-US" altLang="zh-CN"/>
              <a:t>(</a:t>
            </a:r>
            <a:r>
              <a:rPr lang="en-US" altLang="zh-CN">
                <a:latin typeface="Arial" panose="020B0604020202020204" pitchFamily="34" charset="0"/>
              </a:rPr>
              <a:t>‘</a:t>
            </a:r>
            <a:r>
              <a:rPr lang="en-US" altLang="zh-CN"/>
              <a:t>03</a:t>
            </a:r>
            <a:r>
              <a:rPr lang="en-US" altLang="zh-CN">
                <a:latin typeface="Arial" panose="020B0604020202020204" pitchFamily="34" charset="0"/>
              </a:rPr>
              <a:t>’</a:t>
            </a:r>
            <a:r>
              <a:rPr lang="en-US" altLang="zh-CN" i="1"/>
              <a:t>x</a:t>
            </a:r>
            <a:r>
              <a:rPr lang="en-US" altLang="zh-CN" baseline="30000"/>
              <a:t>3</a:t>
            </a:r>
            <a:r>
              <a:rPr lang="en-US" altLang="zh-CN"/>
              <a:t>+</a:t>
            </a:r>
            <a:r>
              <a:rPr lang="en-US" altLang="zh-CN">
                <a:latin typeface="Arial" panose="020B0604020202020204" pitchFamily="34" charset="0"/>
              </a:rPr>
              <a:t>‘</a:t>
            </a:r>
            <a:r>
              <a:rPr lang="en-US" altLang="zh-CN"/>
              <a:t>01</a:t>
            </a:r>
            <a:r>
              <a:rPr lang="en-US" altLang="zh-CN">
                <a:latin typeface="Arial" panose="020B0604020202020204" pitchFamily="34" charset="0"/>
              </a:rPr>
              <a:t>’</a:t>
            </a:r>
            <a:r>
              <a:rPr lang="en-US" altLang="zh-CN" i="1"/>
              <a:t>x</a:t>
            </a:r>
            <a:r>
              <a:rPr lang="en-US" altLang="zh-CN" baseline="30000"/>
              <a:t>2</a:t>
            </a:r>
            <a:r>
              <a:rPr lang="en-US" altLang="zh-CN"/>
              <a:t>+</a:t>
            </a:r>
            <a:r>
              <a:rPr lang="en-US" altLang="zh-CN">
                <a:latin typeface="Arial" panose="020B0604020202020204" pitchFamily="34" charset="0"/>
              </a:rPr>
              <a:t>‘</a:t>
            </a:r>
            <a:r>
              <a:rPr lang="en-US" altLang="zh-CN"/>
              <a:t>01</a:t>
            </a:r>
            <a:r>
              <a:rPr lang="en-US" altLang="zh-CN">
                <a:latin typeface="Arial" panose="020B0604020202020204" pitchFamily="34" charset="0"/>
              </a:rPr>
              <a:t>’</a:t>
            </a:r>
            <a:r>
              <a:rPr lang="en-US" altLang="zh-CN" i="1"/>
              <a:t>x</a:t>
            </a:r>
            <a:r>
              <a:rPr lang="en-US" altLang="zh-CN"/>
              <a:t>+</a:t>
            </a:r>
            <a:r>
              <a:rPr lang="en-US" altLang="zh-CN">
                <a:latin typeface="Arial" panose="020B0604020202020204" pitchFamily="34" charset="0"/>
              </a:rPr>
              <a:t>‘</a:t>
            </a:r>
            <a:r>
              <a:rPr lang="en-US" altLang="zh-CN"/>
              <a:t>02</a:t>
            </a:r>
            <a:r>
              <a:rPr lang="en-US" altLang="zh-CN">
                <a:latin typeface="Arial" panose="020B0604020202020204" pitchFamily="34" charset="0"/>
              </a:rPr>
              <a:t>’</a:t>
            </a:r>
            <a:r>
              <a:rPr lang="en-US" altLang="zh-CN"/>
              <a:t>)    </a:t>
            </a:r>
            <a:r>
              <a:rPr lang="en-US" altLang="zh-CN" i="1"/>
              <a:t>d</a:t>
            </a:r>
            <a:r>
              <a:rPr lang="en-US" altLang="zh-CN"/>
              <a:t>(</a:t>
            </a:r>
            <a:r>
              <a:rPr lang="en-US" altLang="zh-CN" i="1"/>
              <a:t>x</a:t>
            </a:r>
            <a:r>
              <a:rPr lang="en-US" altLang="zh-CN"/>
              <a:t>)=</a:t>
            </a:r>
            <a:r>
              <a:rPr lang="en-US" altLang="zh-CN">
                <a:latin typeface="Arial" panose="020B0604020202020204" pitchFamily="34" charset="0"/>
              </a:rPr>
              <a:t>‘</a:t>
            </a:r>
            <a:r>
              <a:rPr lang="en-US" altLang="zh-CN"/>
              <a:t>01</a:t>
            </a:r>
            <a:r>
              <a:rPr lang="en-US" altLang="zh-CN">
                <a:latin typeface="Arial" panose="020B0604020202020204" pitchFamily="34" charset="0"/>
              </a:rPr>
              <a:t>’</a:t>
            </a:r>
            <a:endParaRPr lang="en-US" altLang="zh-CN"/>
          </a:p>
          <a:p>
            <a:pPr eaLnBrk="1" hangingPunct="1">
              <a:lnSpc>
                <a:spcPct val="120000"/>
              </a:lnSpc>
              <a:buFont typeface="Wingdings" pitchFamily="2" charset="2"/>
              <a:buNone/>
            </a:pPr>
            <a:r>
              <a:rPr lang="zh-CN" altLang="en-US"/>
              <a:t>由此可得</a:t>
            </a:r>
          </a:p>
          <a:p>
            <a:pPr algn="ctr" eaLnBrk="1" hangingPunct="1">
              <a:lnSpc>
                <a:spcPct val="120000"/>
              </a:lnSpc>
              <a:buFont typeface="Wingdings" pitchFamily="2" charset="2"/>
              <a:buNone/>
            </a:pPr>
            <a:r>
              <a:rPr lang="en-US" altLang="zh-CN" i="1"/>
              <a:t>d</a:t>
            </a:r>
            <a:r>
              <a:rPr lang="en-US" altLang="zh-CN"/>
              <a:t>(</a:t>
            </a:r>
            <a:r>
              <a:rPr lang="en-US" altLang="zh-CN" i="1"/>
              <a:t>x</a:t>
            </a:r>
            <a:r>
              <a:rPr lang="en-US" altLang="zh-CN"/>
              <a:t>)=</a:t>
            </a:r>
            <a:r>
              <a:rPr lang="en-US" altLang="zh-CN">
                <a:latin typeface="Arial" panose="020B0604020202020204" pitchFamily="34" charset="0"/>
              </a:rPr>
              <a:t>‘</a:t>
            </a:r>
            <a:r>
              <a:rPr lang="en-US" altLang="zh-CN"/>
              <a:t>0B</a:t>
            </a:r>
            <a:r>
              <a:rPr lang="en-US" altLang="zh-CN">
                <a:latin typeface="Arial" panose="020B0604020202020204" pitchFamily="34" charset="0"/>
              </a:rPr>
              <a:t>’</a:t>
            </a:r>
            <a:r>
              <a:rPr lang="en-US" altLang="zh-CN" i="1"/>
              <a:t>x</a:t>
            </a:r>
            <a:r>
              <a:rPr lang="en-US" altLang="zh-CN" baseline="30000"/>
              <a:t>3</a:t>
            </a:r>
            <a:r>
              <a:rPr lang="en-US" altLang="zh-CN"/>
              <a:t>+</a:t>
            </a:r>
            <a:r>
              <a:rPr lang="en-US" altLang="zh-CN">
                <a:latin typeface="Arial" panose="020B0604020202020204" pitchFamily="34" charset="0"/>
              </a:rPr>
              <a:t>‘</a:t>
            </a:r>
            <a:r>
              <a:rPr lang="en-US" altLang="zh-CN"/>
              <a:t>0D</a:t>
            </a:r>
            <a:r>
              <a:rPr lang="en-US" altLang="zh-CN">
                <a:latin typeface="Arial" panose="020B0604020202020204" pitchFamily="34" charset="0"/>
              </a:rPr>
              <a:t>’</a:t>
            </a:r>
            <a:r>
              <a:rPr lang="en-US" altLang="zh-CN" i="1"/>
              <a:t>x</a:t>
            </a:r>
            <a:r>
              <a:rPr lang="en-US" altLang="zh-CN" baseline="30000"/>
              <a:t>2</a:t>
            </a:r>
            <a:r>
              <a:rPr lang="en-US" altLang="zh-CN"/>
              <a:t>+</a:t>
            </a:r>
            <a:r>
              <a:rPr lang="en-US" altLang="zh-CN">
                <a:latin typeface="Arial" panose="020B0604020202020204" pitchFamily="34" charset="0"/>
              </a:rPr>
              <a:t>‘</a:t>
            </a:r>
            <a:r>
              <a:rPr lang="en-US" altLang="zh-CN"/>
              <a:t>09</a:t>
            </a:r>
            <a:r>
              <a:rPr lang="en-US" altLang="zh-CN">
                <a:latin typeface="Arial" panose="020B0604020202020204" pitchFamily="34" charset="0"/>
              </a:rPr>
              <a:t>’</a:t>
            </a:r>
            <a:r>
              <a:rPr lang="en-US" altLang="zh-CN" i="1"/>
              <a:t>x</a:t>
            </a:r>
            <a:r>
              <a:rPr lang="en-US" altLang="zh-CN"/>
              <a:t>+</a:t>
            </a:r>
            <a:r>
              <a:rPr lang="en-US" altLang="zh-CN">
                <a:latin typeface="Arial" panose="020B0604020202020204" pitchFamily="34" charset="0"/>
              </a:rPr>
              <a:t>‘</a:t>
            </a:r>
            <a:r>
              <a:rPr lang="en-US" altLang="zh-CN"/>
              <a:t>0E</a:t>
            </a:r>
            <a:r>
              <a:rPr lang="en-US" altLang="zh-CN">
                <a:latin typeface="Arial" panose="020B0604020202020204" pitchFamily="34" charset="0"/>
              </a:rPr>
              <a:t>’</a:t>
            </a:r>
            <a:endParaRPr lang="en-US" altLang="zh-CN"/>
          </a:p>
          <a:p>
            <a:pPr algn="ctr" eaLnBrk="1" hangingPunct="1">
              <a:lnSpc>
                <a:spcPct val="120000"/>
              </a:lnSpc>
              <a:buFont typeface="Wingdings" pitchFamily="2" charset="2"/>
              <a:buNone/>
            </a:pPr>
            <a:endParaRPr lang="en-US" altLang="zh-CN"/>
          </a:p>
        </p:txBody>
      </p:sp>
      <p:sp>
        <p:nvSpPr>
          <p:cNvPr id="351235" name="Rectangle 5">
            <a:extLst>
              <a:ext uri="{FF2B5EF4-FFF2-40B4-BE49-F238E27FC236}">
                <a16:creationId xmlns:a16="http://schemas.microsoft.com/office/drawing/2014/main" id="{6179F6B6-9822-924E-B405-0D872E40A782}"/>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mc:AlternateContent xmlns:mc="http://schemas.openxmlformats.org/markup-compatibility/2006" xmlns:a14="http://schemas.microsoft.com/office/drawing/2010/main">
        <mc:Choice Requires="a14">
          <p:sp>
            <p:nvSpPr>
              <p:cNvPr id="351236" name="Object 4">
                <a:extLst>
                  <a:ext uri="{FF2B5EF4-FFF2-40B4-BE49-F238E27FC236}">
                    <a16:creationId xmlns:a16="http://schemas.microsoft.com/office/drawing/2014/main" id="{F981130F-4AC3-CD42-8D3A-9B4613A6DB46}"/>
                  </a:ext>
                </a:extLst>
              </p:cNvPr>
              <p:cNvSpPr txBox="1"/>
              <p:nvPr/>
            </p:nvSpPr>
            <p:spPr bwMode="auto">
              <a:xfrm>
                <a:off x="7239000" y="1905000"/>
                <a:ext cx="1087438" cy="5334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𝐺𝐹</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8</m:t>
                          </m:r>
                        </m:sup>
                      </m:sSup>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51236" name="Object 4">
                <a:extLst>
                  <a:ext uri="{FF2B5EF4-FFF2-40B4-BE49-F238E27FC236}">
                    <a16:creationId xmlns:a16="http://schemas.microsoft.com/office/drawing/2014/main" id="{F981130F-4AC3-CD42-8D3A-9B4613A6DB46}"/>
                  </a:ext>
                </a:extLst>
              </p:cNvPr>
              <p:cNvSpPr txBox="1">
                <a:spLocks noRot="1" noChangeAspect="1" noMove="1" noResize="1" noEditPoints="1" noAdjustHandles="1" noChangeArrowheads="1" noChangeShapeType="1" noTextEdit="1"/>
              </p:cNvSpPr>
              <p:nvPr/>
            </p:nvSpPr>
            <p:spPr bwMode="auto">
              <a:xfrm>
                <a:off x="7239000" y="1905000"/>
                <a:ext cx="1087438" cy="533400"/>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1237" name="Object 4">
                <a:extLst>
                  <a:ext uri="{FF2B5EF4-FFF2-40B4-BE49-F238E27FC236}">
                    <a16:creationId xmlns:a16="http://schemas.microsoft.com/office/drawing/2014/main" id="{D0B06EFD-0970-7840-8BED-DDFEA5C0B1D0}"/>
                  </a:ext>
                </a:extLst>
              </p:cNvPr>
              <p:cNvSpPr txBox="1"/>
              <p:nvPr/>
            </p:nvSpPr>
            <p:spPr bwMode="auto">
              <a:xfrm>
                <a:off x="7216775" y="3082925"/>
                <a:ext cx="539750" cy="5826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51237" name="Object 4">
                <a:extLst>
                  <a:ext uri="{FF2B5EF4-FFF2-40B4-BE49-F238E27FC236}">
                    <a16:creationId xmlns:a16="http://schemas.microsoft.com/office/drawing/2014/main" id="{D0B06EFD-0970-7840-8BED-DDFEA5C0B1D0}"/>
                  </a:ext>
                </a:extLst>
              </p:cNvPr>
              <p:cNvSpPr txBox="1">
                <a:spLocks noRot="1" noChangeAspect="1" noMove="1" noResize="1" noEditPoints="1" noAdjustHandles="1" noChangeArrowheads="1" noChangeShapeType="1" noTextEdit="1"/>
              </p:cNvSpPr>
              <p:nvPr/>
            </p:nvSpPr>
            <p:spPr bwMode="auto">
              <a:xfrm>
                <a:off x="7216775" y="3082925"/>
                <a:ext cx="539750" cy="582613"/>
              </a:xfrm>
              <a:prstGeom prst="rect">
                <a:avLst/>
              </a:prstGeom>
              <a:blipFill>
                <a:blip r:embed="rId4"/>
                <a:stretch>
                  <a:fillRect/>
                </a:stretch>
              </a:blipFill>
              <a:ln>
                <a:noFill/>
              </a:ln>
              <a:extLst/>
            </p:spPr>
            <p:txBody>
              <a:bodyPr/>
              <a:lstStyle/>
              <a:p>
                <a:r>
                  <a:rPr lang="zh-CN" altLang="en-US">
                    <a:noFill/>
                  </a:rPr>
                  <a:t> </a:t>
                </a:r>
              </a:p>
            </p:txBody>
          </p:sp>
        </mc:Fallback>
      </mc:AlternateContent>
    </p:spTree>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1" name="标题 1">
            <a:extLst>
              <a:ext uri="{FF2B5EF4-FFF2-40B4-BE49-F238E27FC236}">
                <a16:creationId xmlns:a16="http://schemas.microsoft.com/office/drawing/2014/main" id="{D016AE5D-5E98-4544-986D-3F7586426DAE}"/>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逆列混淆的矩阵形式</a:t>
            </a:r>
          </a:p>
        </p:txBody>
      </p:sp>
      <p:sp>
        <p:nvSpPr>
          <p:cNvPr id="353282" name="Rectangle 3">
            <a:extLst>
              <a:ext uri="{FF2B5EF4-FFF2-40B4-BE49-F238E27FC236}">
                <a16:creationId xmlns:a16="http://schemas.microsoft.com/office/drawing/2014/main" id="{B8345CC8-ABE4-8646-8D64-3C0EEFA34492}"/>
              </a:ext>
            </a:extLst>
          </p:cNvPr>
          <p:cNvSpPr>
            <a:spLocks noGrp="1" noChangeArrowheads="1"/>
          </p:cNvSpPr>
          <p:nvPr>
            <p:ph idx="1"/>
          </p:nvPr>
        </p:nvSpPr>
        <p:spPr>
          <a:xfrm>
            <a:off x="823913" y="1465263"/>
            <a:ext cx="10515600" cy="4579937"/>
          </a:xfrm>
        </p:spPr>
        <p:txBody>
          <a:bodyPr/>
          <a:lstStyle/>
          <a:p>
            <a:pPr eaLnBrk="1" hangingPunct="1"/>
            <a:r>
              <a:rPr lang="zh-CN" altLang="en-US"/>
              <a:t>同样，逆列混淆可以写成矩阵乘法形式 </a:t>
            </a:r>
          </a:p>
        </p:txBody>
      </p:sp>
      <p:sp>
        <p:nvSpPr>
          <p:cNvPr id="353283" name="Rectangle 5">
            <a:extLst>
              <a:ext uri="{FF2B5EF4-FFF2-40B4-BE49-F238E27FC236}">
                <a16:creationId xmlns:a16="http://schemas.microsoft.com/office/drawing/2014/main" id="{5295AF35-9CB3-054D-AF08-B501EAC2C299}"/>
              </a:ext>
            </a:extLst>
          </p:cNvPr>
          <p:cNvSpPr>
            <a:spLocks noChangeArrowheads="1"/>
          </p:cNvSpPr>
          <p:nvPr/>
        </p:nvSpPr>
        <p:spPr bwMode="auto">
          <a:xfrm>
            <a:off x="1524000" y="28448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graphicFrame>
        <p:nvGraphicFramePr>
          <p:cNvPr id="353284" name="Object 4">
            <a:extLst>
              <a:ext uri="{FF2B5EF4-FFF2-40B4-BE49-F238E27FC236}">
                <a16:creationId xmlns:a16="http://schemas.microsoft.com/office/drawing/2014/main" id="{6ED6ECDC-0A06-A041-9DD1-5872F92F75E3}"/>
              </a:ext>
            </a:extLst>
          </p:cNvPr>
          <p:cNvGraphicFramePr>
            <a:graphicFrameLocks noChangeAspect="1"/>
          </p:cNvGraphicFramePr>
          <p:nvPr/>
        </p:nvGraphicFramePr>
        <p:xfrm>
          <a:off x="3200400" y="2971800"/>
          <a:ext cx="5257800" cy="2439988"/>
        </p:xfrm>
        <a:graphic>
          <a:graphicData uri="http://schemas.openxmlformats.org/presentationml/2006/ole">
            <mc:AlternateContent xmlns:mc="http://schemas.openxmlformats.org/markup-compatibility/2006">
              <mc:Choice xmlns:v="urn:schemas-microsoft-com:vml" Requires="v">
                <p:oleObj spid="_x0000_s353350" r:id="rId4" imgW="39789100" imgH="18427700" progId="Equation.3">
                  <p:embed/>
                </p:oleObj>
              </mc:Choice>
              <mc:Fallback>
                <p:oleObj r:id="rId4" imgW="39789100" imgH="184277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971800"/>
                        <a:ext cx="52578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29" name="Rectangle 2">
            <a:extLst>
              <a:ext uri="{FF2B5EF4-FFF2-40B4-BE49-F238E27FC236}">
                <a16:creationId xmlns:a16="http://schemas.microsoft.com/office/drawing/2014/main" id="{DB5937A7-8E39-4140-A805-D019FE19A2C4}"/>
              </a:ext>
            </a:extLst>
          </p:cNvPr>
          <p:cNvSpPr>
            <a:spLocks noGrp="1" noChangeArrowheads="1"/>
          </p:cNvSpPr>
          <p:nvPr>
            <p:ph type="title"/>
          </p:nvPr>
        </p:nvSpPr>
        <p:spPr>
          <a:xfrm>
            <a:off x="1465263" y="365125"/>
            <a:ext cx="9037637" cy="668338"/>
          </a:xfrm>
        </p:spPr>
        <p:txBody>
          <a:bodyPr/>
          <a:lstStyle/>
          <a:p>
            <a:pPr eaLnBrk="1" hangingPunct="1"/>
            <a:r>
              <a:rPr lang="zh-CN" altLang="en-US">
                <a:solidFill>
                  <a:schemeClr val="hlink"/>
                </a:solidFill>
              </a:rPr>
              <a:t>轮密钥加</a:t>
            </a:r>
          </a:p>
        </p:txBody>
      </p:sp>
      <p:sp>
        <p:nvSpPr>
          <p:cNvPr id="355330" name="Rectangle 3">
            <a:extLst>
              <a:ext uri="{FF2B5EF4-FFF2-40B4-BE49-F238E27FC236}">
                <a16:creationId xmlns:a16="http://schemas.microsoft.com/office/drawing/2014/main" id="{6D180975-0EB0-7A4B-BA6C-948632B9EE81}"/>
              </a:ext>
            </a:extLst>
          </p:cNvPr>
          <p:cNvSpPr>
            <a:spLocks noGrp="1" noChangeArrowheads="1"/>
          </p:cNvSpPr>
          <p:nvPr>
            <p:ph idx="1"/>
          </p:nvPr>
        </p:nvSpPr>
        <p:spPr>
          <a:xfrm>
            <a:off x="1143000" y="1371600"/>
            <a:ext cx="10515600" cy="4579938"/>
          </a:xfrm>
        </p:spPr>
        <p:txBody>
          <a:bodyPr/>
          <a:lstStyle/>
          <a:p>
            <a:pPr eaLnBrk="1" hangingPunct="1">
              <a:lnSpc>
                <a:spcPct val="120000"/>
              </a:lnSpc>
            </a:pPr>
            <a:r>
              <a:rPr lang="zh-CN" altLang="en-US" sz="2800"/>
              <a:t>轮密钥与状态进行</a:t>
            </a:r>
            <a:r>
              <a:rPr lang="zh-CN" altLang="en-US" sz="2800" u="sng"/>
              <a:t>逐比特异或</a:t>
            </a:r>
            <a:r>
              <a:rPr lang="zh-CN" altLang="en-US" sz="2800"/>
              <a:t>。</a:t>
            </a:r>
          </a:p>
          <a:p>
            <a:pPr eaLnBrk="1" hangingPunct="1">
              <a:lnSpc>
                <a:spcPct val="120000"/>
              </a:lnSpc>
            </a:pPr>
            <a:r>
              <a:rPr lang="zh-CN" altLang="en-US" sz="2800"/>
              <a:t>轮密钥由</a:t>
            </a:r>
            <a:r>
              <a:rPr lang="zh-CN" altLang="en-US" sz="2800" u="sng"/>
              <a:t>种子密钥</a:t>
            </a:r>
            <a:r>
              <a:rPr lang="zh-CN" altLang="en-US" sz="2800"/>
              <a:t>通过</a:t>
            </a:r>
            <a:r>
              <a:rPr lang="zh-CN" altLang="en-US" sz="2800" u="sng"/>
              <a:t>密钥编排算法</a:t>
            </a:r>
            <a:r>
              <a:rPr lang="zh-CN" altLang="en-US" sz="2800"/>
              <a:t>得到</a:t>
            </a:r>
          </a:p>
          <a:p>
            <a:pPr eaLnBrk="1" hangingPunct="1">
              <a:lnSpc>
                <a:spcPct val="120000"/>
              </a:lnSpc>
            </a:pPr>
            <a:r>
              <a:rPr lang="zh-CN" altLang="en-US" sz="2800"/>
              <a:t>轮密钥</a:t>
            </a:r>
            <a:r>
              <a:rPr lang="zh-CN" altLang="en-US" sz="2800" u="sng"/>
              <a:t>长度与分组长度</a:t>
            </a:r>
            <a:r>
              <a:rPr lang="zh-CN" altLang="en-US" sz="2800"/>
              <a:t>相同</a:t>
            </a:r>
          </a:p>
          <a:p>
            <a:pPr eaLnBrk="1" hangingPunct="1">
              <a:lnSpc>
                <a:spcPct val="120000"/>
              </a:lnSpc>
            </a:pPr>
            <a:r>
              <a:rPr lang="zh-CN" altLang="en-US" sz="2800"/>
              <a:t>表示为</a:t>
            </a:r>
            <a:r>
              <a:rPr lang="en-US" altLang="zh-CN" sz="2800"/>
              <a:t>AddRoundKey(State,RoundKey)</a:t>
            </a:r>
          </a:p>
        </p:txBody>
      </p:sp>
    </p:spTree>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7" name="副标题 2">
            <a:extLst>
              <a:ext uri="{FF2B5EF4-FFF2-40B4-BE49-F238E27FC236}">
                <a16:creationId xmlns:a16="http://schemas.microsoft.com/office/drawing/2014/main" id="{A0FF0E00-862A-374A-A1C9-154C3EE18F6D}"/>
              </a:ext>
            </a:extLst>
          </p:cNvPr>
          <p:cNvSpPr>
            <a:spLocks noGrp="1" noChangeArrowheads="1"/>
          </p:cNvSpPr>
          <p:nvPr>
            <p:ph type="subTitle" idx="1"/>
          </p:nvPr>
        </p:nvSpPr>
        <p:spPr>
          <a:xfrm>
            <a:off x="0" y="3048000"/>
            <a:ext cx="12192000" cy="790575"/>
          </a:xfrm>
        </p:spPr>
        <p:txBody>
          <a:bodyPr/>
          <a:lstStyle/>
          <a:p>
            <a:r>
              <a:rPr lang="en-US" altLang="zh-CN" sz="3600" b="1"/>
              <a:t>AES</a:t>
            </a:r>
            <a:r>
              <a:rPr lang="zh-CN" altLang="en-US" sz="3600" b="1"/>
              <a:t>的密钥编排及伪代码</a:t>
            </a:r>
            <a:endParaRPr lang="en-US" altLang="zh-CN" sz="3600" b="1"/>
          </a:p>
        </p:txBody>
      </p:sp>
    </p:spTree>
  </p:cSld>
  <p:clrMapOvr>
    <a:masterClrMapping/>
  </p:clrMapOvr>
  <p:transition spd="slow">
    <p:random/>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5" name="标题 1">
            <a:extLst>
              <a:ext uri="{FF2B5EF4-FFF2-40B4-BE49-F238E27FC236}">
                <a16:creationId xmlns:a16="http://schemas.microsoft.com/office/drawing/2014/main" id="{05512569-EB67-7240-A00D-861D6F243AC2}"/>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密钥编排</a:t>
            </a:r>
          </a:p>
        </p:txBody>
      </p:sp>
      <p:sp>
        <p:nvSpPr>
          <p:cNvPr id="359426" name="Rectangle 2">
            <a:extLst>
              <a:ext uri="{FF2B5EF4-FFF2-40B4-BE49-F238E27FC236}">
                <a16:creationId xmlns:a16="http://schemas.microsoft.com/office/drawing/2014/main" id="{2342A66B-0E0D-CF4A-AA96-6877E164314A}"/>
              </a:ext>
            </a:extLst>
          </p:cNvPr>
          <p:cNvSpPr>
            <a:spLocks noGrp="1" noChangeArrowheads="1"/>
          </p:cNvSpPr>
          <p:nvPr>
            <p:ph idx="1"/>
          </p:nvPr>
        </p:nvSpPr>
        <p:spPr>
          <a:xfrm>
            <a:off x="823913" y="1465263"/>
            <a:ext cx="10515600" cy="4579937"/>
          </a:xfrm>
        </p:spPr>
        <p:txBody>
          <a:bodyPr/>
          <a:lstStyle/>
          <a:p>
            <a:pPr marL="287338" indent="-6350">
              <a:lnSpc>
                <a:spcPct val="120000"/>
              </a:lnSpc>
            </a:pPr>
            <a:r>
              <a:rPr lang="zh-CN" altLang="en-US" sz="2800">
                <a:latin typeface="Times New Roman" panose="02020603050405020304" pitchFamily="18" charset="0"/>
              </a:rPr>
              <a:t>密钥编排指从种子密钥得到轮密钥的过程，它由</a:t>
            </a:r>
            <a:r>
              <a:rPr lang="zh-CN" altLang="en-US" sz="2800" u="sng">
                <a:latin typeface="Times New Roman" panose="02020603050405020304" pitchFamily="18" charset="0"/>
              </a:rPr>
              <a:t>密钥扩展</a:t>
            </a:r>
            <a:r>
              <a:rPr lang="zh-CN" altLang="en-US" sz="2800">
                <a:latin typeface="Times New Roman" panose="02020603050405020304" pitchFamily="18" charset="0"/>
              </a:rPr>
              <a:t>和</a:t>
            </a:r>
            <a:r>
              <a:rPr lang="zh-CN" altLang="en-US" sz="2800" u="sng">
                <a:latin typeface="Times New Roman" panose="02020603050405020304" pitchFamily="18" charset="0"/>
              </a:rPr>
              <a:t>轮密钥选</a:t>
            </a:r>
            <a:r>
              <a:rPr lang="zh-CN" altLang="en-US" sz="2800">
                <a:latin typeface="Times New Roman" panose="02020603050405020304" pitchFamily="18" charset="0"/>
              </a:rPr>
              <a:t>取两部分组成。其基本原则如下：  </a:t>
            </a:r>
          </a:p>
          <a:p>
            <a:pPr marL="287338" indent="-6350">
              <a:lnSpc>
                <a:spcPct val="120000"/>
              </a:lnSpc>
            </a:pPr>
            <a:r>
              <a:rPr lang="zh-CN" altLang="en-US" sz="2800">
                <a:latin typeface="Times New Roman" panose="02020603050405020304" pitchFamily="18" charset="0"/>
              </a:rPr>
              <a:t> （</a:t>
            </a:r>
            <a:r>
              <a:rPr lang="en-US" altLang="zh-CN" sz="2800">
                <a:latin typeface="Times New Roman" panose="02020603050405020304" pitchFamily="18" charset="0"/>
              </a:rPr>
              <a:t>1</a:t>
            </a:r>
            <a:r>
              <a:rPr lang="zh-CN" altLang="en-US" sz="2800">
                <a:latin typeface="Times New Roman" panose="02020603050405020304" pitchFamily="18" charset="0"/>
              </a:rPr>
              <a:t>）轮密钥的总比特数等于</a:t>
            </a:r>
            <a:r>
              <a:rPr lang="zh-CN" altLang="en-US" sz="2800" u="sng">
                <a:latin typeface="Times New Roman" panose="02020603050405020304" pitchFamily="18" charset="0"/>
              </a:rPr>
              <a:t>分组长度乘以</a:t>
            </a:r>
            <a:r>
              <a:rPr lang="en-US" altLang="zh-CN" sz="2800" u="sng">
                <a:latin typeface="Times New Roman" panose="02020603050405020304" pitchFamily="18" charset="0"/>
              </a:rPr>
              <a:t>(</a:t>
            </a:r>
            <a:r>
              <a:rPr lang="zh-CN" altLang="en-US" sz="2800" u="sng">
                <a:latin typeface="Times New Roman" panose="02020603050405020304" pitchFamily="18" charset="0"/>
              </a:rPr>
              <a:t>轮数加</a:t>
            </a:r>
            <a:r>
              <a:rPr lang="en-US" altLang="zh-CN" sz="2800" u="sng">
                <a:latin typeface="Times New Roman" panose="02020603050405020304" pitchFamily="18" charset="0"/>
              </a:rPr>
              <a:t>1)</a:t>
            </a:r>
            <a:r>
              <a:rPr lang="zh-CN" altLang="en-US" sz="2800">
                <a:latin typeface="Times New Roman" panose="02020603050405020304" pitchFamily="18" charset="0"/>
              </a:rPr>
              <a:t>；例如要将</a:t>
            </a:r>
            <a:r>
              <a:rPr lang="en-US" altLang="zh-CN" sz="2800">
                <a:latin typeface="Times New Roman" panose="02020603050405020304" pitchFamily="18" charset="0"/>
              </a:rPr>
              <a:t>128</a:t>
            </a:r>
            <a:r>
              <a:rPr lang="zh-CN" altLang="en-US" sz="2800">
                <a:latin typeface="Times New Roman" panose="02020603050405020304" pitchFamily="18" charset="0"/>
              </a:rPr>
              <a:t>比特的明文经过</a:t>
            </a:r>
            <a:r>
              <a:rPr lang="en-US" altLang="zh-CN" sz="2800">
                <a:latin typeface="Times New Roman" panose="02020603050405020304" pitchFamily="18" charset="0"/>
              </a:rPr>
              <a:t>10</a:t>
            </a:r>
            <a:r>
              <a:rPr lang="zh-CN" altLang="en-US" sz="2800">
                <a:latin typeface="Times New Roman" panose="02020603050405020304" pitchFamily="18" charset="0"/>
              </a:rPr>
              <a:t>轮的加密，则总共需要（</a:t>
            </a:r>
            <a:r>
              <a:rPr lang="en-US" altLang="zh-CN" sz="2800">
                <a:latin typeface="Times New Roman" panose="02020603050405020304" pitchFamily="18" charset="0"/>
              </a:rPr>
              <a:t>10+1</a:t>
            </a:r>
            <a:r>
              <a:rPr lang="zh-CN" altLang="en-US" sz="2800">
                <a:latin typeface="Times New Roman" panose="02020603050405020304" pitchFamily="18" charset="0"/>
              </a:rPr>
              <a:t>）*</a:t>
            </a:r>
            <a:r>
              <a:rPr lang="en-US" altLang="zh-CN" sz="2800">
                <a:latin typeface="Times New Roman" panose="02020603050405020304" pitchFamily="18" charset="0"/>
              </a:rPr>
              <a:t>128=1408</a:t>
            </a:r>
            <a:r>
              <a:rPr lang="zh-CN" altLang="en-US" sz="2800">
                <a:latin typeface="Times New Roman" panose="02020603050405020304" pitchFamily="18" charset="0"/>
              </a:rPr>
              <a:t>比特的密钥。</a:t>
            </a:r>
          </a:p>
          <a:p>
            <a:pPr marL="287338" indent="-6350">
              <a:lnSpc>
                <a:spcPct val="120000"/>
              </a:lnSpc>
              <a:spcBef>
                <a:spcPct val="0"/>
              </a:spcBef>
            </a:pP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zh-CN" altLang="en-US" sz="2800">
                <a:solidFill>
                  <a:srgbClr val="C00000"/>
                </a:solidFill>
                <a:latin typeface="Times New Roman" panose="02020603050405020304" pitchFamily="18" charset="0"/>
              </a:rPr>
              <a:t>扩展：</a:t>
            </a:r>
            <a:r>
              <a:rPr lang="zh-CN" altLang="en-US" sz="2800">
                <a:latin typeface="Times New Roman" panose="02020603050405020304" pitchFamily="18" charset="0"/>
              </a:rPr>
              <a:t>种子密钥被扩展成为扩展密钥；</a:t>
            </a:r>
          </a:p>
          <a:p>
            <a:pPr marL="287338" indent="-6350">
              <a:lnSpc>
                <a:spcPct val="120000"/>
              </a:lnSpc>
            </a:pPr>
            <a:r>
              <a:rPr lang="zh-CN" altLang="en-US" sz="2800">
                <a:latin typeface="Times New Roman" panose="02020603050405020304" pitchFamily="18" charset="0"/>
              </a:rPr>
              <a:t>（</a:t>
            </a:r>
            <a:r>
              <a:rPr lang="en-US" altLang="zh-CN" sz="2800">
                <a:latin typeface="Times New Roman" panose="02020603050405020304" pitchFamily="18" charset="0"/>
              </a:rPr>
              <a:t>3</a:t>
            </a:r>
            <a:r>
              <a:rPr lang="zh-CN" altLang="en-US" sz="2800">
                <a:latin typeface="Times New Roman" panose="02020603050405020304" pitchFamily="18" charset="0"/>
              </a:rPr>
              <a:t>）</a:t>
            </a:r>
            <a:r>
              <a:rPr lang="zh-CN" altLang="en-US" sz="2800">
                <a:solidFill>
                  <a:srgbClr val="C00000"/>
                </a:solidFill>
                <a:latin typeface="Times New Roman" panose="02020603050405020304" pitchFamily="18" charset="0"/>
              </a:rPr>
              <a:t>选取：</a:t>
            </a:r>
            <a:r>
              <a:rPr lang="zh-CN" altLang="en-US" sz="2800">
                <a:latin typeface="Times New Roman" panose="02020603050405020304" pitchFamily="18" charset="0"/>
              </a:rPr>
              <a:t>轮密钥从扩展密钥中取，其中第</a:t>
            </a:r>
            <a:r>
              <a:rPr lang="en-US" altLang="zh-CN" sz="2800">
                <a:latin typeface="Times New Roman" panose="02020603050405020304" pitchFamily="18" charset="0"/>
              </a:rPr>
              <a:t>1</a:t>
            </a:r>
            <a:r>
              <a:rPr lang="zh-CN" altLang="en-US" sz="2800">
                <a:latin typeface="Times New Roman" panose="02020603050405020304" pitchFamily="18" charset="0"/>
              </a:rPr>
              <a:t>轮轮密钥取扩展密钥的前</a:t>
            </a:r>
            <a:r>
              <a:rPr lang="en-US" altLang="zh-CN" sz="2800">
                <a:latin typeface="Times New Roman" panose="02020603050405020304" pitchFamily="18" charset="0"/>
              </a:rPr>
              <a:t>N</a:t>
            </a:r>
            <a:r>
              <a:rPr lang="en-US" altLang="zh-CN" sz="2800" baseline="-25000">
                <a:latin typeface="Times New Roman" panose="02020603050405020304" pitchFamily="18" charset="0"/>
              </a:rPr>
              <a:t>b</a:t>
            </a:r>
            <a:r>
              <a:rPr lang="zh-CN" altLang="en-US" sz="2800">
                <a:latin typeface="Times New Roman" panose="02020603050405020304" pitchFamily="18" charset="0"/>
              </a:rPr>
              <a:t>个字，第</a:t>
            </a:r>
            <a:r>
              <a:rPr lang="en-US" altLang="zh-CN" sz="2800">
                <a:latin typeface="Times New Roman" panose="02020603050405020304" pitchFamily="18" charset="0"/>
              </a:rPr>
              <a:t>2</a:t>
            </a:r>
            <a:r>
              <a:rPr lang="zh-CN" altLang="en-US" sz="2800">
                <a:latin typeface="Times New Roman" panose="02020603050405020304" pitchFamily="18" charset="0"/>
              </a:rPr>
              <a:t>轮轮密钥取接下来的</a:t>
            </a:r>
            <a:r>
              <a:rPr lang="en-US" altLang="zh-CN" sz="2800">
                <a:latin typeface="Times New Roman" panose="02020603050405020304" pitchFamily="18" charset="0"/>
              </a:rPr>
              <a:t>N</a:t>
            </a:r>
            <a:r>
              <a:rPr lang="en-US" altLang="zh-CN" sz="2800" baseline="-25000">
                <a:latin typeface="Times New Roman" panose="02020603050405020304" pitchFamily="18" charset="0"/>
              </a:rPr>
              <a:t>b</a:t>
            </a:r>
            <a:r>
              <a:rPr lang="zh-CN" altLang="en-US" sz="2800">
                <a:latin typeface="Times New Roman" panose="02020603050405020304" pitchFamily="18" charset="0"/>
              </a:rPr>
              <a:t>个字，如此下去。</a:t>
            </a:r>
          </a:p>
        </p:txBody>
      </p:sp>
    </p:spTree>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3" name="标题 1">
            <a:extLst>
              <a:ext uri="{FF2B5EF4-FFF2-40B4-BE49-F238E27FC236}">
                <a16:creationId xmlns:a16="http://schemas.microsoft.com/office/drawing/2014/main" id="{1987D52D-F433-4740-804D-FA7524503550}"/>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密钥扩展</a:t>
            </a:r>
          </a:p>
        </p:txBody>
      </p:sp>
      <p:sp>
        <p:nvSpPr>
          <p:cNvPr id="361474" name="Rectangle 2">
            <a:extLst>
              <a:ext uri="{FF2B5EF4-FFF2-40B4-BE49-F238E27FC236}">
                <a16:creationId xmlns:a16="http://schemas.microsoft.com/office/drawing/2014/main" id="{231A23E1-0CA0-044D-BB2B-F03EB1A9CF3C}"/>
              </a:ext>
            </a:extLst>
          </p:cNvPr>
          <p:cNvSpPr>
            <a:spLocks noGrp="1" noChangeArrowheads="1"/>
          </p:cNvSpPr>
          <p:nvPr>
            <p:ph idx="1"/>
          </p:nvPr>
        </p:nvSpPr>
        <p:spPr>
          <a:xfrm>
            <a:off x="823913" y="1465263"/>
            <a:ext cx="10515600" cy="4579937"/>
          </a:xfrm>
        </p:spPr>
        <p:txBody>
          <a:bodyPr/>
          <a:lstStyle/>
          <a:p>
            <a:pPr marL="287338" indent="-6350">
              <a:lnSpc>
                <a:spcPct val="120000"/>
              </a:lnSpc>
            </a:pPr>
            <a:r>
              <a:rPr lang="zh-CN" altLang="en-US" sz="2800">
                <a:latin typeface="Times New Roman" panose="02020603050405020304" pitchFamily="18" charset="0"/>
              </a:rPr>
              <a:t>扩展密钥是以</a:t>
            </a:r>
            <a:r>
              <a:rPr lang="en-US" altLang="zh-CN" sz="2800">
                <a:latin typeface="Times New Roman" panose="02020603050405020304" pitchFamily="18" charset="0"/>
              </a:rPr>
              <a:t>4</a:t>
            </a:r>
            <a:r>
              <a:rPr lang="zh-CN" altLang="en-US" sz="2800">
                <a:latin typeface="Times New Roman" panose="02020603050405020304" pitchFamily="18" charset="0"/>
              </a:rPr>
              <a:t>字节字为元素的一维阵列，表示为</a:t>
            </a:r>
            <a:r>
              <a:rPr lang="en-US" altLang="zh-CN" sz="2800">
                <a:latin typeface="Times New Roman" panose="02020603050405020304" pitchFamily="18" charset="0"/>
              </a:rPr>
              <a:t>W[Nb* (N</a:t>
            </a:r>
            <a:r>
              <a:rPr lang="en-US" altLang="zh-CN" sz="2800" baseline="-25000">
                <a:latin typeface="Times New Roman" panose="02020603050405020304" pitchFamily="18" charset="0"/>
              </a:rPr>
              <a:t>r</a:t>
            </a:r>
            <a:r>
              <a:rPr lang="en-US" altLang="zh-CN" sz="2800">
                <a:latin typeface="Times New Roman" panose="02020603050405020304" pitchFamily="18" charset="0"/>
              </a:rPr>
              <a:t>+1)]</a:t>
            </a:r>
            <a:r>
              <a:rPr lang="zh-CN" altLang="en-US" sz="2800">
                <a:latin typeface="Times New Roman" panose="02020603050405020304" pitchFamily="18" charset="0"/>
              </a:rPr>
              <a:t>，其中前</a:t>
            </a:r>
            <a:r>
              <a:rPr lang="en-US" altLang="zh-CN" sz="2800">
                <a:latin typeface="Times New Roman" panose="02020603050405020304" pitchFamily="18" charset="0"/>
              </a:rPr>
              <a:t>N</a:t>
            </a:r>
            <a:r>
              <a:rPr lang="en-US" altLang="zh-CN" sz="2800" baseline="-25000">
                <a:latin typeface="Times New Roman" panose="02020603050405020304" pitchFamily="18" charset="0"/>
              </a:rPr>
              <a:t>k</a:t>
            </a:r>
            <a:r>
              <a:rPr lang="zh-CN" altLang="en-US" sz="2800">
                <a:latin typeface="Times New Roman" panose="02020603050405020304" pitchFamily="18" charset="0"/>
              </a:rPr>
              <a:t>个字取为种子密钥，以后每个字按递归方式定义。扩展算法根据</a:t>
            </a:r>
            <a:r>
              <a:rPr lang="en-US" altLang="zh-CN" sz="2800">
                <a:latin typeface="Times New Roman" panose="02020603050405020304" pitchFamily="18" charset="0"/>
              </a:rPr>
              <a:t>N</a:t>
            </a:r>
            <a:r>
              <a:rPr lang="en-US" altLang="zh-CN" sz="2800" baseline="-25000">
                <a:latin typeface="Times New Roman" panose="02020603050405020304" pitchFamily="18" charset="0"/>
              </a:rPr>
              <a:t>k</a:t>
            </a:r>
            <a:r>
              <a:rPr lang="en-US" altLang="zh-CN" sz="2800">
                <a:latin typeface="Times New Roman" panose="02020603050405020304" pitchFamily="18" charset="0"/>
              </a:rPr>
              <a:t>≤6</a:t>
            </a:r>
            <a:r>
              <a:rPr lang="zh-CN" altLang="en-US" sz="2800">
                <a:latin typeface="Times New Roman" panose="02020603050405020304" pitchFamily="18" charset="0"/>
              </a:rPr>
              <a:t>和</a:t>
            </a:r>
            <a:r>
              <a:rPr lang="en-US" altLang="zh-CN" sz="2800">
                <a:latin typeface="Times New Roman" panose="02020603050405020304" pitchFamily="18" charset="0"/>
              </a:rPr>
              <a:t>N</a:t>
            </a:r>
            <a:r>
              <a:rPr lang="en-US" altLang="zh-CN" sz="2800" baseline="-25000">
                <a:latin typeface="Times New Roman" panose="02020603050405020304" pitchFamily="18" charset="0"/>
              </a:rPr>
              <a:t>k</a:t>
            </a:r>
            <a:r>
              <a:rPr lang="en-US" altLang="zh-CN" sz="2800">
                <a:latin typeface="Times New Roman" panose="02020603050405020304" pitchFamily="18" charset="0"/>
              </a:rPr>
              <a:t>&gt;6</a:t>
            </a:r>
            <a:r>
              <a:rPr lang="zh-CN" altLang="en-US" sz="2800">
                <a:latin typeface="Times New Roman" panose="02020603050405020304" pitchFamily="18" charset="0"/>
              </a:rPr>
              <a:t>有所不同。</a:t>
            </a:r>
          </a:p>
        </p:txBody>
      </p:sp>
      <p:graphicFrame>
        <p:nvGraphicFramePr>
          <p:cNvPr id="4" name="表格 3">
            <a:extLst>
              <a:ext uri="{FF2B5EF4-FFF2-40B4-BE49-F238E27FC236}">
                <a16:creationId xmlns:a16="http://schemas.microsoft.com/office/drawing/2014/main" id="{9FD0DB67-2EDB-0943-AEC9-DE13C38B86BB}"/>
              </a:ext>
            </a:extLst>
          </p:cNvPr>
          <p:cNvGraphicFramePr>
            <a:graphicFrameLocks noGrp="1"/>
          </p:cNvGraphicFramePr>
          <p:nvPr/>
        </p:nvGraphicFramePr>
        <p:xfrm>
          <a:off x="2033588" y="4038600"/>
          <a:ext cx="35052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10</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5" name="表格 4">
            <a:extLst>
              <a:ext uri="{FF2B5EF4-FFF2-40B4-BE49-F238E27FC236}">
                <a16:creationId xmlns:a16="http://schemas.microsoft.com/office/drawing/2014/main" id="{70D5A233-A021-8441-AF5A-6E3CE552AA66}"/>
              </a:ext>
            </a:extLst>
          </p:cNvPr>
          <p:cNvGraphicFramePr>
            <a:graphicFrameLocks noGrp="1"/>
          </p:cNvGraphicFramePr>
          <p:nvPr/>
        </p:nvGraphicFramePr>
        <p:xfrm>
          <a:off x="5538788" y="4038600"/>
          <a:ext cx="35052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14</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61529" name="文本框 5">
            <a:extLst>
              <a:ext uri="{FF2B5EF4-FFF2-40B4-BE49-F238E27FC236}">
                <a16:creationId xmlns:a16="http://schemas.microsoft.com/office/drawing/2014/main" id="{228A08EA-A839-FF4F-A12C-9A419708110B}"/>
              </a:ext>
            </a:extLst>
          </p:cNvPr>
          <p:cNvSpPr txBox="1">
            <a:spLocks noChangeArrowheads="1"/>
          </p:cNvSpPr>
          <p:nvPr/>
        </p:nvSpPr>
        <p:spPr bwMode="auto">
          <a:xfrm>
            <a:off x="2185988" y="36464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0</a:t>
            </a:r>
            <a:endParaRPr lang="zh-CN" altLang="en-US" b="1" baseline="-25000">
              <a:latin typeface="Times New Roman" panose="02020603050405020304" pitchFamily="18" charset="0"/>
            </a:endParaRPr>
          </a:p>
        </p:txBody>
      </p:sp>
      <p:sp>
        <p:nvSpPr>
          <p:cNvPr id="361530" name="文本框 6">
            <a:extLst>
              <a:ext uri="{FF2B5EF4-FFF2-40B4-BE49-F238E27FC236}">
                <a16:creationId xmlns:a16="http://schemas.microsoft.com/office/drawing/2014/main" id="{9A9D2B5E-E3AE-B341-A84F-098478E35A10}"/>
              </a:ext>
            </a:extLst>
          </p:cNvPr>
          <p:cNvSpPr txBox="1">
            <a:spLocks noChangeArrowheads="1"/>
          </p:cNvSpPr>
          <p:nvPr/>
        </p:nvSpPr>
        <p:spPr bwMode="auto">
          <a:xfrm>
            <a:off x="3078163" y="36464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1</a:t>
            </a:r>
            <a:endParaRPr lang="zh-CN" altLang="en-US" b="1" baseline="-25000">
              <a:latin typeface="Times New Roman" panose="02020603050405020304" pitchFamily="18" charset="0"/>
            </a:endParaRPr>
          </a:p>
        </p:txBody>
      </p:sp>
      <p:sp>
        <p:nvSpPr>
          <p:cNvPr id="361531" name="文本框 7">
            <a:extLst>
              <a:ext uri="{FF2B5EF4-FFF2-40B4-BE49-F238E27FC236}">
                <a16:creationId xmlns:a16="http://schemas.microsoft.com/office/drawing/2014/main" id="{7ADC2110-F7FC-1440-ABB6-008A2159F964}"/>
              </a:ext>
            </a:extLst>
          </p:cNvPr>
          <p:cNvSpPr txBox="1">
            <a:spLocks noChangeArrowheads="1"/>
          </p:cNvSpPr>
          <p:nvPr/>
        </p:nvSpPr>
        <p:spPr bwMode="auto">
          <a:xfrm>
            <a:off x="3968750" y="36464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2</a:t>
            </a:r>
            <a:endParaRPr lang="zh-CN" altLang="en-US" b="1" baseline="-25000">
              <a:latin typeface="Times New Roman" panose="02020603050405020304" pitchFamily="18" charset="0"/>
            </a:endParaRPr>
          </a:p>
        </p:txBody>
      </p:sp>
      <p:sp>
        <p:nvSpPr>
          <p:cNvPr id="361532" name="文本框 8">
            <a:extLst>
              <a:ext uri="{FF2B5EF4-FFF2-40B4-BE49-F238E27FC236}">
                <a16:creationId xmlns:a16="http://schemas.microsoft.com/office/drawing/2014/main" id="{CB45F0AD-DA62-2C49-A5C1-DD73536F73F0}"/>
              </a:ext>
            </a:extLst>
          </p:cNvPr>
          <p:cNvSpPr txBox="1">
            <a:spLocks noChangeArrowheads="1"/>
          </p:cNvSpPr>
          <p:nvPr/>
        </p:nvSpPr>
        <p:spPr bwMode="auto">
          <a:xfrm>
            <a:off x="4860925" y="36464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3</a:t>
            </a:r>
            <a:endParaRPr lang="zh-CN" altLang="en-US" b="1" baseline="-25000">
              <a:latin typeface="Times New Roman" panose="02020603050405020304" pitchFamily="18" charset="0"/>
            </a:endParaRPr>
          </a:p>
        </p:txBody>
      </p:sp>
      <p:sp>
        <p:nvSpPr>
          <p:cNvPr id="361533" name="文本框 9">
            <a:extLst>
              <a:ext uri="{FF2B5EF4-FFF2-40B4-BE49-F238E27FC236}">
                <a16:creationId xmlns:a16="http://schemas.microsoft.com/office/drawing/2014/main" id="{111EDB0B-BB08-3D42-8849-2F4319717D77}"/>
              </a:ext>
            </a:extLst>
          </p:cNvPr>
          <p:cNvSpPr txBox="1">
            <a:spLocks noChangeArrowheads="1"/>
          </p:cNvSpPr>
          <p:nvPr/>
        </p:nvSpPr>
        <p:spPr bwMode="auto">
          <a:xfrm>
            <a:off x="5751513" y="36464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4</a:t>
            </a:r>
            <a:endParaRPr lang="zh-CN" altLang="en-US" b="1" baseline="-25000">
              <a:latin typeface="Times New Roman" panose="02020603050405020304" pitchFamily="18" charset="0"/>
            </a:endParaRPr>
          </a:p>
        </p:txBody>
      </p:sp>
      <p:sp>
        <p:nvSpPr>
          <p:cNvPr id="361534" name="文本框 10">
            <a:extLst>
              <a:ext uri="{FF2B5EF4-FFF2-40B4-BE49-F238E27FC236}">
                <a16:creationId xmlns:a16="http://schemas.microsoft.com/office/drawing/2014/main" id="{D9247B48-46DD-A44F-B97C-378CA08442B5}"/>
              </a:ext>
            </a:extLst>
          </p:cNvPr>
          <p:cNvSpPr txBox="1">
            <a:spLocks noChangeArrowheads="1"/>
          </p:cNvSpPr>
          <p:nvPr/>
        </p:nvSpPr>
        <p:spPr bwMode="auto">
          <a:xfrm>
            <a:off x="6643688" y="36464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5</a:t>
            </a:r>
            <a:endParaRPr lang="zh-CN" altLang="en-US" b="1" baseline="-25000">
              <a:latin typeface="Times New Roman" panose="02020603050405020304" pitchFamily="18" charset="0"/>
            </a:endParaRPr>
          </a:p>
        </p:txBody>
      </p:sp>
      <p:sp>
        <p:nvSpPr>
          <p:cNvPr id="361535" name="文本框 11">
            <a:extLst>
              <a:ext uri="{FF2B5EF4-FFF2-40B4-BE49-F238E27FC236}">
                <a16:creationId xmlns:a16="http://schemas.microsoft.com/office/drawing/2014/main" id="{C6D3F7D0-CC07-AF45-8601-24E316FE5B40}"/>
              </a:ext>
            </a:extLst>
          </p:cNvPr>
          <p:cNvSpPr txBox="1">
            <a:spLocks noChangeArrowheads="1"/>
          </p:cNvSpPr>
          <p:nvPr/>
        </p:nvSpPr>
        <p:spPr bwMode="auto">
          <a:xfrm>
            <a:off x="7405688" y="3686175"/>
            <a:ext cx="91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ea typeface="仿宋" pitchFamily="49" charset="-122"/>
              </a:rPr>
              <a:t>……</a:t>
            </a:r>
            <a:endParaRPr lang="zh-CN" altLang="en-US" b="1">
              <a:latin typeface="Times New Roman" panose="02020603050405020304" pitchFamily="18" charset="0"/>
              <a:ea typeface="仿宋" pitchFamily="49" charset="-122"/>
            </a:endParaRPr>
          </a:p>
        </p:txBody>
      </p:sp>
      <p:sp>
        <p:nvSpPr>
          <p:cNvPr id="361536" name="文本框 12">
            <a:extLst>
              <a:ext uri="{FF2B5EF4-FFF2-40B4-BE49-F238E27FC236}">
                <a16:creationId xmlns:a16="http://schemas.microsoft.com/office/drawing/2014/main" id="{5A36028E-8C2F-5247-8FC4-46D2EAA5AB0E}"/>
              </a:ext>
            </a:extLst>
          </p:cNvPr>
          <p:cNvSpPr txBox="1">
            <a:spLocks noChangeArrowheads="1"/>
          </p:cNvSpPr>
          <p:nvPr/>
        </p:nvSpPr>
        <p:spPr bwMode="auto">
          <a:xfrm>
            <a:off x="9261475" y="4749800"/>
            <a:ext cx="873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ea typeface="仿宋" pitchFamily="49" charset="-122"/>
              </a:rPr>
              <a:t>……</a:t>
            </a:r>
            <a:endParaRPr lang="zh-CN" altLang="en-US" b="1">
              <a:latin typeface="Times New Roman" panose="02020603050405020304" pitchFamily="18" charset="0"/>
              <a:ea typeface="仿宋" pitchFamily="49" charset="-122"/>
            </a:endParaRPr>
          </a:p>
        </p:txBody>
      </p:sp>
    </p:spTree>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标题 1">
            <a:extLst>
              <a:ext uri="{FF2B5EF4-FFF2-40B4-BE49-F238E27FC236}">
                <a16:creationId xmlns:a16="http://schemas.microsoft.com/office/drawing/2014/main" id="{408A8813-51E1-CB48-9AE9-338CA098ED19}"/>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扩展算法（</a:t>
            </a:r>
            <a:r>
              <a:rPr lang="en-US" altLang="zh-CN">
                <a:solidFill>
                  <a:schemeClr val="hlink"/>
                </a:solidFill>
              </a:rPr>
              <a:t>N</a:t>
            </a:r>
            <a:r>
              <a:rPr lang="en-US" altLang="zh-CN" baseline="-25000">
                <a:solidFill>
                  <a:schemeClr val="hlink"/>
                </a:solidFill>
              </a:rPr>
              <a:t>k</a:t>
            </a:r>
            <a:r>
              <a:rPr lang="en-US" altLang="zh-CN">
                <a:solidFill>
                  <a:schemeClr val="hlink"/>
                </a:solidFill>
              </a:rPr>
              <a:t>≤6</a:t>
            </a:r>
            <a:r>
              <a:rPr lang="zh-CN" altLang="en-US">
                <a:solidFill>
                  <a:srgbClr val="1F4E79"/>
                </a:solidFill>
              </a:rPr>
              <a:t>）</a:t>
            </a:r>
          </a:p>
        </p:txBody>
      </p:sp>
      <p:sp>
        <p:nvSpPr>
          <p:cNvPr id="363522" name="Rectangle 2">
            <a:extLst>
              <a:ext uri="{FF2B5EF4-FFF2-40B4-BE49-F238E27FC236}">
                <a16:creationId xmlns:a16="http://schemas.microsoft.com/office/drawing/2014/main" id="{95850943-004D-694E-BAB4-3E722EB56194}"/>
              </a:ext>
            </a:extLst>
          </p:cNvPr>
          <p:cNvSpPr>
            <a:spLocks noGrp="1" noChangeArrowheads="1"/>
          </p:cNvSpPr>
          <p:nvPr>
            <p:ph idx="1"/>
          </p:nvPr>
        </p:nvSpPr>
        <p:spPr>
          <a:xfrm>
            <a:off x="914400" y="1295400"/>
            <a:ext cx="10515600" cy="4579938"/>
          </a:xfrm>
        </p:spPr>
        <p:txBody>
          <a:bodyPr/>
          <a:lstStyle/>
          <a:p>
            <a:pPr marL="280988" indent="0">
              <a:buFont typeface="Arial" panose="020B0604020202020204" pitchFamily="34" charset="0"/>
              <a:buNone/>
            </a:pPr>
            <a:r>
              <a:rPr lang="en-US" altLang="zh-CN" sz="2000">
                <a:latin typeface="Times New Roman" panose="02020603050405020304" pitchFamily="18" charset="0"/>
              </a:rPr>
              <a:t>KeyExpansion (byteKey[4*Nk] , W[Nb*(Nr+1)])</a:t>
            </a:r>
          </a:p>
          <a:p>
            <a:pPr marL="280988" indent="0">
              <a:buFont typeface="Arial" panose="020B0604020202020204" pitchFamily="34" charset="0"/>
              <a:buNone/>
            </a:pPr>
            <a:r>
              <a:rPr lang="en-US" altLang="zh-CN" sz="2000">
                <a:latin typeface="Times New Roman" panose="02020603050405020304" pitchFamily="18" charset="0"/>
              </a:rPr>
              <a:t>{</a:t>
            </a:r>
          </a:p>
          <a:p>
            <a:pPr marL="280988" indent="0">
              <a:buFont typeface="Arial" panose="020B0604020202020204" pitchFamily="34" charset="0"/>
              <a:buNone/>
            </a:pPr>
            <a:r>
              <a:rPr lang="en-US" altLang="zh-CN" sz="2000">
                <a:latin typeface="Times New Roman" panose="02020603050405020304" pitchFamily="18" charset="0"/>
              </a:rPr>
              <a:t>    for (i =0; i &lt; Nk; i ++)</a:t>
            </a:r>
          </a:p>
          <a:p>
            <a:pPr marL="280988" indent="0">
              <a:buFont typeface="Arial" panose="020B0604020202020204" pitchFamily="34" charset="0"/>
              <a:buNone/>
            </a:pPr>
            <a:r>
              <a:rPr lang="en-US" altLang="zh-CN" sz="2000">
                <a:latin typeface="Times New Roman" panose="02020603050405020304" pitchFamily="18" charset="0"/>
              </a:rPr>
              <a:t>	W[i]=(Key[4* i],Key[4* i +1],Key[4* i +2],Key[4* i +3] );\\</a:t>
            </a:r>
            <a:r>
              <a:rPr lang="zh-CN" altLang="en-US" sz="2000">
                <a:latin typeface="Times New Roman" panose="02020603050405020304" pitchFamily="18" charset="0"/>
              </a:rPr>
              <a:t>前</a:t>
            </a:r>
            <a:r>
              <a:rPr lang="en-US" altLang="zh-CN" sz="2000">
                <a:latin typeface="Times New Roman" panose="02020603050405020304" pitchFamily="18" charset="0"/>
              </a:rPr>
              <a:t>4</a:t>
            </a:r>
            <a:r>
              <a:rPr lang="zh-CN" altLang="en-US" sz="2000">
                <a:latin typeface="Times New Roman" panose="02020603050405020304" pitchFamily="18" charset="0"/>
              </a:rPr>
              <a:t>*</a:t>
            </a:r>
            <a:r>
              <a:rPr lang="en-US" altLang="zh-CN" sz="2000">
                <a:latin typeface="Times New Roman" panose="02020603050405020304" pitchFamily="18" charset="0"/>
              </a:rPr>
              <a:t>Nk</a:t>
            </a:r>
            <a:r>
              <a:rPr lang="zh-CN" altLang="en-US" sz="2000">
                <a:latin typeface="Times New Roman" panose="02020603050405020304" pitchFamily="18" charset="0"/>
              </a:rPr>
              <a:t>个个字节为种子密钥</a:t>
            </a:r>
            <a:endParaRPr lang="en-US" altLang="zh-CN" sz="2000">
              <a:latin typeface="Times New Roman" panose="02020603050405020304" pitchFamily="18" charset="0"/>
            </a:endParaRPr>
          </a:p>
          <a:p>
            <a:pPr marL="280988" indent="0">
              <a:buFont typeface="Arial" panose="020B0604020202020204" pitchFamily="34" charset="0"/>
              <a:buNone/>
            </a:pPr>
            <a:r>
              <a:rPr lang="en-US" altLang="zh-CN" sz="2000">
                <a:latin typeface="Times New Roman" panose="02020603050405020304" pitchFamily="18" charset="0"/>
              </a:rPr>
              <a:t>    for (i =Nk; i &lt;Nb*(Nr+1); i ++)</a:t>
            </a:r>
          </a:p>
          <a:p>
            <a:pPr marL="280988" indent="0">
              <a:buFont typeface="Arial" panose="020B0604020202020204" pitchFamily="34" charset="0"/>
              <a:buNone/>
            </a:pPr>
            <a:r>
              <a:rPr lang="en-US" altLang="zh-CN" sz="2000">
                <a:latin typeface="Times New Roman" panose="02020603050405020304" pitchFamily="18" charset="0"/>
              </a:rPr>
              <a:t>    {</a:t>
            </a:r>
          </a:p>
          <a:p>
            <a:pPr marL="280988" indent="0">
              <a:buFont typeface="Arial" panose="020B0604020202020204" pitchFamily="34" charset="0"/>
              <a:buNone/>
            </a:pPr>
            <a:r>
              <a:rPr lang="en-US" altLang="zh-CN" sz="2000">
                <a:latin typeface="Times New Roman" panose="02020603050405020304" pitchFamily="18" charset="0"/>
              </a:rPr>
              <a:t>	temp=W[i-1];</a:t>
            </a:r>
          </a:p>
          <a:p>
            <a:pPr marL="280988" indent="0">
              <a:buFont typeface="Arial" panose="020B0604020202020204" pitchFamily="34" charset="0"/>
              <a:buNone/>
            </a:pPr>
            <a:r>
              <a:rPr lang="en-US" altLang="zh-CN" sz="2000">
                <a:latin typeface="Times New Roman" panose="02020603050405020304" pitchFamily="18" charset="0"/>
              </a:rPr>
              <a:t>	if (i % Nk= =0)</a:t>
            </a:r>
          </a:p>
          <a:p>
            <a:pPr marL="280988" indent="0">
              <a:buFont typeface="Arial" panose="020B0604020202020204" pitchFamily="34" charset="0"/>
              <a:buNone/>
            </a:pPr>
            <a:r>
              <a:rPr lang="en-US" altLang="zh-CN" sz="2000">
                <a:latin typeface="Times New Roman" panose="02020603050405020304" pitchFamily="18" charset="0"/>
              </a:rPr>
              <a:t>		</a:t>
            </a:r>
            <a:r>
              <a:rPr lang="en-US" altLang="zh-CN" sz="2000">
                <a:solidFill>
                  <a:srgbClr val="FF0000"/>
                </a:solidFill>
                <a:latin typeface="Times New Roman" panose="02020603050405020304" pitchFamily="18" charset="0"/>
              </a:rPr>
              <a:t>temp=SubByte (RotByte (temp)) </a:t>
            </a:r>
            <a:r>
              <a:rPr lang="en-GB" altLang="en-US" sz="2000">
                <a:solidFill>
                  <a:srgbClr val="FF0000"/>
                </a:solidFill>
                <a:latin typeface="Times New Roman" panose="02020603050405020304" pitchFamily="18" charset="0"/>
              </a:rPr>
              <a:t>^</a:t>
            </a:r>
            <a:r>
              <a:rPr lang="en-US" altLang="zh-CN" sz="2000">
                <a:solidFill>
                  <a:srgbClr val="FF0000"/>
                </a:solidFill>
                <a:latin typeface="Times New Roman" panose="02020603050405020304" pitchFamily="18" charset="0"/>
              </a:rPr>
              <a:t> Rcon[i /Nk];\\W[i-1]</a:t>
            </a:r>
            <a:r>
              <a:rPr lang="zh-CN" altLang="en-US" sz="2000">
                <a:solidFill>
                  <a:srgbClr val="FF0000"/>
                </a:solidFill>
                <a:latin typeface="Times New Roman" panose="02020603050405020304" pitchFamily="18" charset="0"/>
              </a:rPr>
              <a:t>与</a:t>
            </a:r>
            <a:r>
              <a:rPr lang="en-US" altLang="zh-CN" sz="2000">
                <a:solidFill>
                  <a:srgbClr val="FF0000"/>
                </a:solidFill>
                <a:latin typeface="Times New Roman" panose="02020603050405020304" pitchFamily="18" charset="0"/>
              </a:rPr>
              <a:t>W[i-Nk]</a:t>
            </a:r>
            <a:r>
              <a:rPr lang="zh-CN" altLang="en-US" sz="2000">
                <a:solidFill>
                  <a:srgbClr val="FF0000"/>
                </a:solidFill>
                <a:latin typeface="Times New Roman" panose="02020603050405020304" pitchFamily="18" charset="0"/>
              </a:rPr>
              <a:t>的异或</a:t>
            </a:r>
            <a:endParaRPr lang="en-US" altLang="zh-CN" sz="2000">
              <a:solidFill>
                <a:srgbClr val="FF0000"/>
              </a:solidFill>
              <a:latin typeface="Times New Roman" panose="02020603050405020304" pitchFamily="18" charset="0"/>
            </a:endParaRPr>
          </a:p>
          <a:p>
            <a:pPr marL="280988" indent="0">
              <a:buFont typeface="Arial" panose="020B0604020202020204" pitchFamily="34" charset="0"/>
              <a:buNone/>
            </a:pPr>
            <a:r>
              <a:rPr lang="en-US" altLang="zh-CN" sz="2000">
                <a:latin typeface="Times New Roman" panose="02020603050405020304" pitchFamily="18" charset="0"/>
              </a:rPr>
              <a:t>	W[i]=W[i-Nk] </a:t>
            </a:r>
            <a:r>
              <a:rPr lang="en-GB" altLang="en-US" sz="2000">
                <a:latin typeface="Times New Roman" panose="02020603050405020304" pitchFamily="18" charset="0"/>
              </a:rPr>
              <a:t>^</a:t>
            </a:r>
            <a:r>
              <a:rPr lang="en-US" altLang="zh-CN" sz="2000">
                <a:latin typeface="Times New Roman" panose="02020603050405020304" pitchFamily="18" charset="0"/>
              </a:rPr>
              <a:t> temp;</a:t>
            </a:r>
          </a:p>
          <a:p>
            <a:pPr marL="280988" indent="0">
              <a:buFont typeface="Arial" panose="020B0604020202020204" pitchFamily="34" charset="0"/>
              <a:buNone/>
            </a:pPr>
            <a:r>
              <a:rPr lang="en-US" altLang="zh-CN" sz="2000">
                <a:latin typeface="Times New Roman" panose="02020603050405020304" pitchFamily="18" charset="0"/>
              </a:rPr>
              <a:t>    }</a:t>
            </a:r>
          </a:p>
          <a:p>
            <a:pPr marL="280988" indent="0">
              <a:buFont typeface="Arial" panose="020B0604020202020204" pitchFamily="34" charset="0"/>
              <a:buNone/>
            </a:pPr>
            <a:r>
              <a:rPr lang="en-US" altLang="zh-CN" sz="2000">
                <a:latin typeface="Times New Roman" panose="02020603050405020304" pitchFamily="18" charset="0"/>
              </a:rPr>
              <a:t>}</a:t>
            </a:r>
          </a:p>
        </p:txBody>
      </p:sp>
    </p:spTree>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69" name="标题 1">
            <a:extLst>
              <a:ext uri="{FF2B5EF4-FFF2-40B4-BE49-F238E27FC236}">
                <a16:creationId xmlns:a16="http://schemas.microsoft.com/office/drawing/2014/main" id="{B8CF3F1D-2E24-6840-B3C4-90E85258740C}"/>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扩展算法（</a:t>
            </a:r>
            <a:r>
              <a:rPr lang="en-US" altLang="zh-CN">
                <a:solidFill>
                  <a:schemeClr val="hlink"/>
                </a:solidFill>
              </a:rPr>
              <a:t>N</a:t>
            </a:r>
            <a:r>
              <a:rPr lang="en-US" altLang="zh-CN" baseline="-25000">
                <a:solidFill>
                  <a:schemeClr val="hlink"/>
                </a:solidFill>
              </a:rPr>
              <a:t>k</a:t>
            </a:r>
            <a:r>
              <a:rPr lang="en-US" altLang="zh-CN">
                <a:solidFill>
                  <a:schemeClr val="hlink"/>
                </a:solidFill>
              </a:rPr>
              <a:t>≤6</a:t>
            </a:r>
            <a:r>
              <a:rPr lang="zh-CN" altLang="en-US">
                <a:solidFill>
                  <a:srgbClr val="1F4E79"/>
                </a:solidFill>
              </a:rPr>
              <a:t>）（续）</a:t>
            </a:r>
            <a:endParaRPr lang="zh-CN" altLang="en-US">
              <a:solidFill>
                <a:srgbClr val="1F4E79"/>
              </a:solidFill>
              <a:latin typeface="Times New Roman" panose="02020603050405020304" pitchFamily="18" charset="0"/>
            </a:endParaRPr>
          </a:p>
        </p:txBody>
      </p:sp>
      <p:graphicFrame>
        <p:nvGraphicFramePr>
          <p:cNvPr id="14" name="表格 13">
            <a:extLst>
              <a:ext uri="{FF2B5EF4-FFF2-40B4-BE49-F238E27FC236}">
                <a16:creationId xmlns:a16="http://schemas.microsoft.com/office/drawing/2014/main" id="{68921074-68F9-D149-AC29-33C7D55551B2}"/>
              </a:ext>
            </a:extLst>
          </p:cNvPr>
          <p:cNvGraphicFramePr>
            <a:graphicFrameLocks noGrp="1"/>
          </p:cNvGraphicFramePr>
          <p:nvPr/>
        </p:nvGraphicFramePr>
        <p:xfrm>
          <a:off x="1219200" y="1600200"/>
          <a:ext cx="35052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10</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3"/>
                  </a:ext>
                </a:extLst>
              </a:tr>
            </a:tbl>
          </a:graphicData>
        </a:graphic>
      </p:graphicFrame>
      <p:graphicFrame>
        <p:nvGraphicFramePr>
          <p:cNvPr id="16" name="表格 15">
            <a:extLst>
              <a:ext uri="{FF2B5EF4-FFF2-40B4-BE49-F238E27FC236}">
                <a16:creationId xmlns:a16="http://schemas.microsoft.com/office/drawing/2014/main" id="{E9F19B48-7604-BD49-BCF4-453DDBDA6C0C}"/>
              </a:ext>
            </a:extLst>
          </p:cNvPr>
          <p:cNvGraphicFramePr>
            <a:graphicFrameLocks noGrp="1"/>
          </p:cNvGraphicFramePr>
          <p:nvPr/>
        </p:nvGraphicFramePr>
        <p:xfrm>
          <a:off x="4724400" y="1600200"/>
          <a:ext cx="35052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14</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65624" name="文本框 16">
            <a:extLst>
              <a:ext uri="{FF2B5EF4-FFF2-40B4-BE49-F238E27FC236}">
                <a16:creationId xmlns:a16="http://schemas.microsoft.com/office/drawing/2014/main" id="{752EA44C-B0E7-114D-88DC-E4B8B37386CD}"/>
              </a:ext>
            </a:extLst>
          </p:cNvPr>
          <p:cNvSpPr txBox="1">
            <a:spLocks noChangeArrowheads="1"/>
          </p:cNvSpPr>
          <p:nvPr/>
        </p:nvSpPr>
        <p:spPr bwMode="auto">
          <a:xfrm>
            <a:off x="1371600" y="12080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0</a:t>
            </a:r>
            <a:endParaRPr lang="zh-CN" altLang="en-US" b="1" baseline="-25000">
              <a:latin typeface="Times New Roman" panose="02020603050405020304" pitchFamily="18" charset="0"/>
            </a:endParaRPr>
          </a:p>
        </p:txBody>
      </p:sp>
      <p:sp>
        <p:nvSpPr>
          <p:cNvPr id="365625" name="文本框 17">
            <a:extLst>
              <a:ext uri="{FF2B5EF4-FFF2-40B4-BE49-F238E27FC236}">
                <a16:creationId xmlns:a16="http://schemas.microsoft.com/office/drawing/2014/main" id="{C149669B-0D7D-0A42-B139-A4CF8E4C1A95}"/>
              </a:ext>
            </a:extLst>
          </p:cNvPr>
          <p:cNvSpPr txBox="1">
            <a:spLocks noChangeArrowheads="1"/>
          </p:cNvSpPr>
          <p:nvPr/>
        </p:nvSpPr>
        <p:spPr bwMode="auto">
          <a:xfrm>
            <a:off x="2262188" y="12080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1</a:t>
            </a:r>
            <a:endParaRPr lang="zh-CN" altLang="en-US" b="1" baseline="-25000">
              <a:latin typeface="Times New Roman" panose="02020603050405020304" pitchFamily="18" charset="0"/>
            </a:endParaRPr>
          </a:p>
        </p:txBody>
      </p:sp>
      <p:sp>
        <p:nvSpPr>
          <p:cNvPr id="365626" name="文本框 18">
            <a:extLst>
              <a:ext uri="{FF2B5EF4-FFF2-40B4-BE49-F238E27FC236}">
                <a16:creationId xmlns:a16="http://schemas.microsoft.com/office/drawing/2014/main" id="{32773EA7-54DA-254F-AB9F-D1FB9660D9B7}"/>
              </a:ext>
            </a:extLst>
          </p:cNvPr>
          <p:cNvSpPr txBox="1">
            <a:spLocks noChangeArrowheads="1"/>
          </p:cNvSpPr>
          <p:nvPr/>
        </p:nvSpPr>
        <p:spPr bwMode="auto">
          <a:xfrm>
            <a:off x="3154363" y="12080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2</a:t>
            </a:r>
            <a:endParaRPr lang="zh-CN" altLang="en-US" b="1" baseline="-25000">
              <a:latin typeface="Times New Roman" panose="02020603050405020304" pitchFamily="18" charset="0"/>
            </a:endParaRPr>
          </a:p>
        </p:txBody>
      </p:sp>
      <p:sp>
        <p:nvSpPr>
          <p:cNvPr id="365627" name="文本框 19">
            <a:extLst>
              <a:ext uri="{FF2B5EF4-FFF2-40B4-BE49-F238E27FC236}">
                <a16:creationId xmlns:a16="http://schemas.microsoft.com/office/drawing/2014/main" id="{BB114A75-92D3-F84F-AB0A-BB737BD80A83}"/>
              </a:ext>
            </a:extLst>
          </p:cNvPr>
          <p:cNvSpPr txBox="1">
            <a:spLocks noChangeArrowheads="1"/>
          </p:cNvSpPr>
          <p:nvPr/>
        </p:nvSpPr>
        <p:spPr bwMode="auto">
          <a:xfrm>
            <a:off x="4044950" y="12080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3</a:t>
            </a:r>
            <a:endParaRPr lang="zh-CN" altLang="en-US" b="1" baseline="-25000">
              <a:latin typeface="Times New Roman" panose="02020603050405020304" pitchFamily="18" charset="0"/>
            </a:endParaRPr>
          </a:p>
        </p:txBody>
      </p:sp>
      <p:sp>
        <p:nvSpPr>
          <p:cNvPr id="365628" name="文本框 20">
            <a:extLst>
              <a:ext uri="{FF2B5EF4-FFF2-40B4-BE49-F238E27FC236}">
                <a16:creationId xmlns:a16="http://schemas.microsoft.com/office/drawing/2014/main" id="{08E8C836-D431-D64D-8053-F4E9333DA2A4}"/>
              </a:ext>
            </a:extLst>
          </p:cNvPr>
          <p:cNvSpPr txBox="1">
            <a:spLocks noChangeArrowheads="1"/>
          </p:cNvSpPr>
          <p:nvPr/>
        </p:nvSpPr>
        <p:spPr bwMode="auto">
          <a:xfrm>
            <a:off x="4937125" y="12080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4</a:t>
            </a:r>
            <a:endParaRPr lang="zh-CN" altLang="en-US" b="1" baseline="-25000">
              <a:latin typeface="Times New Roman" panose="02020603050405020304" pitchFamily="18" charset="0"/>
            </a:endParaRPr>
          </a:p>
        </p:txBody>
      </p:sp>
      <p:graphicFrame>
        <p:nvGraphicFramePr>
          <p:cNvPr id="22" name="表格 21">
            <a:extLst>
              <a:ext uri="{FF2B5EF4-FFF2-40B4-BE49-F238E27FC236}">
                <a16:creationId xmlns:a16="http://schemas.microsoft.com/office/drawing/2014/main" id="{B177B849-3F9C-9145-9793-FB96702B82F4}"/>
              </a:ext>
            </a:extLst>
          </p:cNvPr>
          <p:cNvGraphicFramePr>
            <a:graphicFrameLocks noGrp="1"/>
          </p:cNvGraphicFramePr>
          <p:nvPr/>
        </p:nvGraphicFramePr>
        <p:xfrm>
          <a:off x="1057275" y="4183063"/>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23" name="表格 22">
            <a:extLst>
              <a:ext uri="{FF2B5EF4-FFF2-40B4-BE49-F238E27FC236}">
                <a16:creationId xmlns:a16="http://schemas.microsoft.com/office/drawing/2014/main" id="{2D46B8B5-12A4-C642-930E-19716A174938}"/>
              </a:ext>
            </a:extLst>
          </p:cNvPr>
          <p:cNvGraphicFramePr>
            <a:graphicFrameLocks noGrp="1"/>
          </p:cNvGraphicFramePr>
          <p:nvPr/>
        </p:nvGraphicFramePr>
        <p:xfrm>
          <a:off x="2895600" y="4183063"/>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k</a:t>
                      </a:r>
                      <a:r>
                        <a:rPr lang="en-US" altLang="zh-CN" sz="2400" b="1" i="0" baseline="-25000" dirty="0">
                          <a:solidFill>
                            <a:schemeClr val="tx1"/>
                          </a:solidFill>
                          <a:latin typeface="+mn-lt"/>
                        </a:rPr>
                        <a:t>1</a:t>
                      </a:r>
                      <a:r>
                        <a:rPr lang="en-US" altLang="zh-CN" sz="2400" b="1" baseline="-25000" dirty="0">
                          <a:solidFill>
                            <a:schemeClr val="tx1"/>
                          </a:solidFill>
                          <a:latin typeface="+mn-lt"/>
                        </a:rPr>
                        <a:t>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algn="ctr"/>
                      <a:r>
                        <a:rPr lang="en-US" altLang="zh-CN" sz="2400" b="1" i="1" dirty="0">
                          <a:solidFill>
                            <a:schemeClr val="tx1"/>
                          </a:solidFill>
                          <a:latin typeface="+mn-lt"/>
                        </a:rPr>
                        <a:t>k</a:t>
                      </a:r>
                      <a:r>
                        <a:rPr lang="en-US" altLang="zh-CN" sz="2400" b="1" i="0" baseline="-25000" dirty="0">
                          <a:solidFill>
                            <a:schemeClr val="tx1"/>
                          </a:solidFill>
                          <a:latin typeface="+mn-lt"/>
                        </a:rPr>
                        <a:t>2</a:t>
                      </a:r>
                      <a:r>
                        <a:rPr lang="en-US" altLang="zh-CN" sz="2400" b="1" baseline="-25000" dirty="0">
                          <a:solidFill>
                            <a:schemeClr val="tx1"/>
                          </a:solidFill>
                          <a:latin typeface="+mn-lt"/>
                        </a:rPr>
                        <a:t>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algn="ctr"/>
                      <a:r>
                        <a:rPr lang="en-US" altLang="zh-CN" sz="2400" b="1" i="1" dirty="0">
                          <a:solidFill>
                            <a:schemeClr val="tx1"/>
                          </a:solidFill>
                          <a:latin typeface="+mn-lt"/>
                        </a:rPr>
                        <a:t>k</a:t>
                      </a:r>
                      <a:r>
                        <a:rPr lang="en-US" altLang="zh-CN" sz="2400" b="1" i="0" baseline="-25000" dirty="0">
                          <a:solidFill>
                            <a:schemeClr val="tx1"/>
                          </a:solidFill>
                          <a:latin typeface="+mn-lt"/>
                        </a:rPr>
                        <a:t>3</a:t>
                      </a:r>
                      <a:r>
                        <a:rPr lang="en-US" altLang="zh-CN" sz="2400" b="1" baseline="-25000" dirty="0">
                          <a:solidFill>
                            <a:schemeClr val="tx1"/>
                          </a:solidFill>
                          <a:latin typeface="+mn-lt"/>
                        </a:rPr>
                        <a:t>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algn="ctr"/>
                      <a:r>
                        <a:rPr lang="en-US" altLang="zh-CN" sz="2400" b="1" i="1" dirty="0">
                          <a:solidFill>
                            <a:schemeClr val="tx1"/>
                          </a:solidFill>
                          <a:latin typeface="+mn-lt"/>
                        </a:rPr>
                        <a:t>k</a:t>
                      </a:r>
                      <a:r>
                        <a:rPr lang="en-US" altLang="zh-CN" sz="2400" b="1" i="0" baseline="-25000" dirty="0">
                          <a:solidFill>
                            <a:schemeClr val="tx1"/>
                          </a:solidFill>
                          <a:latin typeface="+mn-lt"/>
                        </a:rPr>
                        <a:t>0</a:t>
                      </a:r>
                      <a:r>
                        <a:rPr lang="en-US" altLang="zh-CN" sz="2400" b="1" baseline="-25000" dirty="0">
                          <a:solidFill>
                            <a:schemeClr val="tx1"/>
                          </a:solidFill>
                          <a:latin typeface="+mn-lt"/>
                        </a:rPr>
                        <a:t>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cxnSp>
        <p:nvCxnSpPr>
          <p:cNvPr id="25" name="直接箭头连接符 24">
            <a:extLst>
              <a:ext uri="{FF2B5EF4-FFF2-40B4-BE49-F238E27FC236}">
                <a16:creationId xmlns:a16="http://schemas.microsoft.com/office/drawing/2014/main" id="{A82429A4-B4AB-9C4E-B865-AACE10633BD2}"/>
              </a:ext>
            </a:extLst>
          </p:cNvPr>
          <p:cNvCxnSpPr>
            <a:endCxn id="23" idx="1"/>
          </p:cNvCxnSpPr>
          <p:nvPr/>
        </p:nvCxnSpPr>
        <p:spPr>
          <a:xfrm flipV="1">
            <a:off x="1905000" y="5097463"/>
            <a:ext cx="990600" cy="79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7358C0B2-1A16-AA4D-B35A-452DDDC6CA2B}"/>
              </a:ext>
            </a:extLst>
          </p:cNvPr>
          <p:cNvSpPr/>
          <p:nvPr/>
        </p:nvSpPr>
        <p:spPr>
          <a:xfrm>
            <a:off x="1905000" y="4549775"/>
            <a:ext cx="992188" cy="369888"/>
          </a:xfrm>
          <a:prstGeom prst="rect">
            <a:avLst/>
          </a:prstGeom>
        </p:spPr>
        <p:txBody>
          <a:bodyPr wrap="none">
            <a:spAutoFit/>
          </a:bodyPr>
          <a:lstStyle/>
          <a:p>
            <a:pPr eaLnBrk="0" hangingPunct="0">
              <a:defRPr/>
            </a:pPr>
            <a:r>
              <a:rPr lang="en-US" altLang="zh-CN" b="1" dirty="0" err="1">
                <a:latin typeface="+mn-lt"/>
              </a:rPr>
              <a:t>RotByte</a:t>
            </a:r>
            <a:endParaRPr lang="zh-CN" altLang="en-US" b="1" dirty="0">
              <a:latin typeface="+mn-lt"/>
            </a:endParaRPr>
          </a:p>
        </p:txBody>
      </p:sp>
      <p:graphicFrame>
        <p:nvGraphicFramePr>
          <p:cNvPr id="29" name="表格 28">
            <a:extLst>
              <a:ext uri="{FF2B5EF4-FFF2-40B4-BE49-F238E27FC236}">
                <a16:creationId xmlns:a16="http://schemas.microsoft.com/office/drawing/2014/main" id="{6B2D1B75-A2BB-944B-8DFA-B907032D3B43}"/>
              </a:ext>
            </a:extLst>
          </p:cNvPr>
          <p:cNvGraphicFramePr>
            <a:graphicFrameLocks noGrp="1"/>
          </p:cNvGraphicFramePr>
          <p:nvPr/>
        </p:nvGraphicFramePr>
        <p:xfrm>
          <a:off x="4724400" y="4183063"/>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1</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2</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3</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0</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cxnSp>
        <p:nvCxnSpPr>
          <p:cNvPr id="30" name="直接箭头连接符 29">
            <a:extLst>
              <a:ext uri="{FF2B5EF4-FFF2-40B4-BE49-F238E27FC236}">
                <a16:creationId xmlns:a16="http://schemas.microsoft.com/office/drawing/2014/main" id="{BA0E356E-B534-2443-B301-DDF7AF0612BD}"/>
              </a:ext>
            </a:extLst>
          </p:cNvPr>
          <p:cNvCxnSpPr>
            <a:endCxn id="23" idx="1"/>
          </p:cNvCxnSpPr>
          <p:nvPr/>
        </p:nvCxnSpPr>
        <p:spPr>
          <a:xfrm>
            <a:off x="3733800" y="5097463"/>
            <a:ext cx="9890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F9FA90C1-9B07-D14D-95F6-2E94ED7DC492}"/>
              </a:ext>
            </a:extLst>
          </p:cNvPr>
          <p:cNvSpPr/>
          <p:nvPr/>
        </p:nvSpPr>
        <p:spPr>
          <a:xfrm>
            <a:off x="3733800" y="4587875"/>
            <a:ext cx="1017588" cy="368300"/>
          </a:xfrm>
          <a:prstGeom prst="rect">
            <a:avLst/>
          </a:prstGeom>
        </p:spPr>
        <p:txBody>
          <a:bodyPr wrap="none">
            <a:spAutoFit/>
          </a:bodyPr>
          <a:lstStyle/>
          <a:p>
            <a:pPr eaLnBrk="0" hangingPunct="0">
              <a:defRPr/>
            </a:pPr>
            <a:r>
              <a:rPr lang="en-US" altLang="zh-CN" b="1" dirty="0" err="1">
                <a:latin typeface="+mn-lt"/>
              </a:rPr>
              <a:t>SubByte</a:t>
            </a:r>
            <a:endParaRPr lang="zh-CN" altLang="en-US" b="1" dirty="0">
              <a:latin typeface="+mn-lt"/>
            </a:endParaRPr>
          </a:p>
        </p:txBody>
      </p:sp>
      <p:sp>
        <p:nvSpPr>
          <p:cNvPr id="33" name="文本框 32">
            <a:extLst>
              <a:ext uri="{FF2B5EF4-FFF2-40B4-BE49-F238E27FC236}">
                <a16:creationId xmlns:a16="http://schemas.microsoft.com/office/drawing/2014/main" id="{3541C656-4949-2D4B-B0B2-72E10E021392}"/>
              </a:ext>
            </a:extLst>
          </p:cNvPr>
          <p:cNvSpPr txBox="1">
            <a:spLocks noChangeArrowheads="1"/>
          </p:cNvSpPr>
          <p:nvPr/>
        </p:nvSpPr>
        <p:spPr bwMode="auto">
          <a:xfrm>
            <a:off x="1198563" y="36576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3</a:t>
            </a:r>
            <a:endParaRPr lang="zh-CN" altLang="en-US" b="1" baseline="-25000">
              <a:latin typeface="Times New Roman" panose="02020603050405020304" pitchFamily="18" charset="0"/>
            </a:endParaRPr>
          </a:p>
        </p:txBody>
      </p:sp>
      <p:graphicFrame>
        <p:nvGraphicFramePr>
          <p:cNvPr id="34" name="表格 33">
            <a:extLst>
              <a:ext uri="{FF2B5EF4-FFF2-40B4-BE49-F238E27FC236}">
                <a16:creationId xmlns:a16="http://schemas.microsoft.com/office/drawing/2014/main" id="{C8E7698B-13C6-484A-986A-38648B3E3385}"/>
              </a:ext>
            </a:extLst>
          </p:cNvPr>
          <p:cNvGraphicFramePr>
            <a:graphicFrameLocks noGrp="1"/>
          </p:cNvGraphicFramePr>
          <p:nvPr/>
        </p:nvGraphicFramePr>
        <p:xfrm>
          <a:off x="6553200" y="4183063"/>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1</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2</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3</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algn="ctr"/>
                      <a:r>
                        <a:rPr lang="en-US" altLang="zh-CN" sz="2400" b="1" i="1" dirty="0">
                          <a:solidFill>
                            <a:schemeClr val="tx1"/>
                          </a:solidFill>
                          <a:latin typeface="+mn-lt"/>
                        </a:rPr>
                        <a:t>S</a:t>
                      </a:r>
                      <a:r>
                        <a:rPr lang="en-US" altLang="zh-CN" sz="2400" b="1" i="0" dirty="0">
                          <a:solidFill>
                            <a:schemeClr val="tx1"/>
                          </a:solidFill>
                          <a:latin typeface="+mn-lt"/>
                        </a:rPr>
                        <a:t>(</a:t>
                      </a:r>
                      <a:r>
                        <a:rPr lang="en-US" altLang="zh-CN" sz="2400" b="1" i="1" dirty="0">
                          <a:solidFill>
                            <a:schemeClr val="tx1"/>
                          </a:solidFill>
                          <a:latin typeface="+mn-lt"/>
                        </a:rPr>
                        <a:t>k</a:t>
                      </a:r>
                      <a:r>
                        <a:rPr lang="en-US" altLang="zh-CN" sz="2400" b="1" i="0" baseline="-25000" dirty="0">
                          <a:solidFill>
                            <a:schemeClr val="tx1"/>
                          </a:solidFill>
                          <a:latin typeface="+mn-lt"/>
                        </a:rPr>
                        <a:t>0</a:t>
                      </a:r>
                      <a:r>
                        <a:rPr lang="en-US" altLang="zh-CN" sz="2400" b="1" baseline="-25000" dirty="0">
                          <a:solidFill>
                            <a:schemeClr val="tx1"/>
                          </a:solidFill>
                          <a:latin typeface="+mn-lt"/>
                        </a:rPr>
                        <a:t>3</a:t>
                      </a:r>
                      <a:r>
                        <a:rPr lang="en-US" altLang="zh-CN" sz="2400" b="1" baseline="0" dirty="0">
                          <a:solidFill>
                            <a:schemeClr val="tx1"/>
                          </a:solidFill>
                          <a:latin typeface="+mn-lt"/>
                        </a:rPr>
                        <a:t>)</a:t>
                      </a:r>
                      <a:endParaRPr lang="zh-CN" altLang="en-US" sz="2400" b="1"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cxnSp>
        <p:nvCxnSpPr>
          <p:cNvPr id="35" name="直接箭头连接符 34">
            <a:extLst>
              <a:ext uri="{FF2B5EF4-FFF2-40B4-BE49-F238E27FC236}">
                <a16:creationId xmlns:a16="http://schemas.microsoft.com/office/drawing/2014/main" id="{F28693C2-0CEF-3546-9866-270456155EFE}"/>
              </a:ext>
            </a:extLst>
          </p:cNvPr>
          <p:cNvCxnSpPr>
            <a:endCxn id="23" idx="1"/>
          </p:cNvCxnSpPr>
          <p:nvPr/>
        </p:nvCxnSpPr>
        <p:spPr>
          <a:xfrm>
            <a:off x="5562600" y="5097463"/>
            <a:ext cx="9890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对象 37">
                <a:extLst>
                  <a:ext uri="{FF2B5EF4-FFF2-40B4-BE49-F238E27FC236}">
                    <a16:creationId xmlns:a16="http://schemas.microsoft.com/office/drawing/2014/main" id="{A4C85D24-D0EE-AE4D-B4D5-8537BA3133A4}"/>
                  </a:ext>
                </a:extLst>
              </p:cNvPr>
              <p:cNvSpPr txBox="1"/>
              <p:nvPr/>
            </p:nvSpPr>
            <p:spPr bwMode="auto">
              <a:xfrm>
                <a:off x="7408863" y="4810125"/>
                <a:ext cx="533400" cy="58896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8" name="对象 37">
                <a:extLst>
                  <a:ext uri="{FF2B5EF4-FFF2-40B4-BE49-F238E27FC236}">
                    <a16:creationId xmlns:a16="http://schemas.microsoft.com/office/drawing/2014/main" id="{A4C85D24-D0EE-AE4D-B4D5-8537BA3133A4}"/>
                  </a:ext>
                </a:extLst>
              </p:cNvPr>
              <p:cNvSpPr txBox="1">
                <a:spLocks noRot="1" noChangeAspect="1" noMove="1" noResize="1" noEditPoints="1" noAdjustHandles="1" noChangeArrowheads="1" noChangeShapeType="1" noTextEdit="1"/>
              </p:cNvSpPr>
              <p:nvPr/>
            </p:nvSpPr>
            <p:spPr bwMode="auto">
              <a:xfrm>
                <a:off x="7408863" y="4810125"/>
                <a:ext cx="533400" cy="588963"/>
              </a:xfrm>
              <a:prstGeom prst="rect">
                <a:avLst/>
              </a:prstGeom>
              <a:blipFill>
                <a:blip r:embed="rId3"/>
                <a:stretch>
                  <a:fillRect/>
                </a:stretch>
              </a:blipFill>
              <a:ln>
                <a:noFill/>
              </a:ln>
              <a:extLst/>
            </p:spPr>
            <p:txBody>
              <a:bodyPr/>
              <a:lstStyle/>
              <a:p>
                <a:r>
                  <a:rPr lang="zh-CN" altLang="en-US">
                    <a:noFill/>
                  </a:rPr>
                  <a:t> </a:t>
                </a:r>
              </a:p>
            </p:txBody>
          </p:sp>
        </mc:Fallback>
      </mc:AlternateContent>
      <p:graphicFrame>
        <p:nvGraphicFramePr>
          <p:cNvPr id="39" name="表格 38">
            <a:extLst>
              <a:ext uri="{FF2B5EF4-FFF2-40B4-BE49-F238E27FC236}">
                <a16:creationId xmlns:a16="http://schemas.microsoft.com/office/drawing/2014/main" id="{A439AFBE-51FE-1245-9B20-F6E52BDCF559}"/>
              </a:ext>
            </a:extLst>
          </p:cNvPr>
          <p:cNvGraphicFramePr>
            <a:graphicFrameLocks noGrp="1"/>
          </p:cNvGraphicFramePr>
          <p:nvPr/>
        </p:nvGraphicFramePr>
        <p:xfrm>
          <a:off x="9320213" y="4183063"/>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10</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40" name="文本框 39">
            <a:extLst>
              <a:ext uri="{FF2B5EF4-FFF2-40B4-BE49-F238E27FC236}">
                <a16:creationId xmlns:a16="http://schemas.microsoft.com/office/drawing/2014/main" id="{808AE4BC-BAB5-A749-872A-308E5A11671D}"/>
              </a:ext>
            </a:extLst>
          </p:cNvPr>
          <p:cNvSpPr txBox="1">
            <a:spLocks noChangeArrowheads="1"/>
          </p:cNvSpPr>
          <p:nvPr/>
        </p:nvSpPr>
        <p:spPr bwMode="auto">
          <a:xfrm>
            <a:off x="9421813" y="36576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0</a:t>
            </a:r>
            <a:endParaRPr lang="zh-CN" altLang="en-US" b="1" baseline="-2500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对象 40">
                <a:extLst>
                  <a:ext uri="{FF2B5EF4-FFF2-40B4-BE49-F238E27FC236}">
                    <a16:creationId xmlns:a16="http://schemas.microsoft.com/office/drawing/2014/main" id="{AD580733-9AA1-614E-9CC6-9AAEDD5E4045}"/>
                  </a:ext>
                </a:extLst>
              </p:cNvPr>
              <p:cNvSpPr txBox="1"/>
              <p:nvPr/>
            </p:nvSpPr>
            <p:spPr bwMode="auto">
              <a:xfrm>
                <a:off x="8786813" y="4802188"/>
                <a:ext cx="533400" cy="588962"/>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1" name="对象 40">
                <a:extLst>
                  <a:ext uri="{FF2B5EF4-FFF2-40B4-BE49-F238E27FC236}">
                    <a16:creationId xmlns:a16="http://schemas.microsoft.com/office/drawing/2014/main" id="{AD580733-9AA1-614E-9CC6-9AAEDD5E4045}"/>
                  </a:ext>
                </a:extLst>
              </p:cNvPr>
              <p:cNvSpPr txBox="1">
                <a:spLocks noRot="1" noChangeAspect="1" noMove="1" noResize="1" noEditPoints="1" noAdjustHandles="1" noChangeArrowheads="1" noChangeShapeType="1" noTextEdit="1"/>
              </p:cNvSpPr>
              <p:nvPr/>
            </p:nvSpPr>
            <p:spPr bwMode="auto">
              <a:xfrm>
                <a:off x="8786813" y="4802188"/>
                <a:ext cx="533400" cy="588962"/>
              </a:xfrm>
              <a:prstGeom prst="rect">
                <a:avLst/>
              </a:prstGeom>
              <a:blipFill>
                <a:blip r:embed="rId4"/>
                <a:stretch>
                  <a:fillRect/>
                </a:stretch>
              </a:blipFill>
              <a:ln>
                <a:noFill/>
              </a:ln>
              <a:extLst/>
            </p:spPr>
            <p:txBody>
              <a:bodyPr/>
              <a:lstStyle/>
              <a:p>
                <a:r>
                  <a:rPr lang="zh-CN" altLang="en-US">
                    <a:noFill/>
                  </a:rPr>
                  <a:t> </a:t>
                </a:r>
              </a:p>
            </p:txBody>
          </p:sp>
        </mc:Fallback>
      </mc:AlternateContent>
      <p:graphicFrame>
        <p:nvGraphicFramePr>
          <p:cNvPr id="42" name="表格 41">
            <a:extLst>
              <a:ext uri="{FF2B5EF4-FFF2-40B4-BE49-F238E27FC236}">
                <a16:creationId xmlns:a16="http://schemas.microsoft.com/office/drawing/2014/main" id="{3467E1D5-1058-F34D-B704-7D370FBF21CC}"/>
              </a:ext>
            </a:extLst>
          </p:cNvPr>
          <p:cNvGraphicFramePr>
            <a:graphicFrameLocks noGrp="1"/>
          </p:cNvGraphicFramePr>
          <p:nvPr/>
        </p:nvGraphicFramePr>
        <p:xfrm>
          <a:off x="7910513" y="4191000"/>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01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00</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00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00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65710" name="文本框 42">
            <a:extLst>
              <a:ext uri="{FF2B5EF4-FFF2-40B4-BE49-F238E27FC236}">
                <a16:creationId xmlns:a16="http://schemas.microsoft.com/office/drawing/2014/main" id="{59420064-19A6-0B4E-B46B-ABAF4BB78F32}"/>
              </a:ext>
            </a:extLst>
          </p:cNvPr>
          <p:cNvSpPr txBox="1">
            <a:spLocks noChangeArrowheads="1"/>
          </p:cNvSpPr>
          <p:nvPr/>
        </p:nvSpPr>
        <p:spPr bwMode="auto">
          <a:xfrm>
            <a:off x="5827713" y="12080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5</a:t>
            </a:r>
            <a:endParaRPr lang="zh-CN" altLang="en-US" b="1" baseline="-25000">
              <a:latin typeface="Times New Roman" panose="02020603050405020304" pitchFamily="18" charset="0"/>
            </a:endParaRPr>
          </a:p>
        </p:txBody>
      </p:sp>
      <p:sp>
        <p:nvSpPr>
          <p:cNvPr id="365711" name="文本框 43">
            <a:extLst>
              <a:ext uri="{FF2B5EF4-FFF2-40B4-BE49-F238E27FC236}">
                <a16:creationId xmlns:a16="http://schemas.microsoft.com/office/drawing/2014/main" id="{7E423891-A0CA-BF44-A5DD-561CDBF473F4}"/>
              </a:ext>
            </a:extLst>
          </p:cNvPr>
          <p:cNvSpPr txBox="1">
            <a:spLocks noChangeArrowheads="1"/>
          </p:cNvSpPr>
          <p:nvPr/>
        </p:nvSpPr>
        <p:spPr bwMode="auto">
          <a:xfrm>
            <a:off x="6591300" y="1247775"/>
            <a:ext cx="912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ea typeface="仿宋" pitchFamily="49" charset="-122"/>
              </a:rPr>
              <a:t>……</a:t>
            </a:r>
            <a:endParaRPr lang="zh-CN" altLang="en-US" b="1">
              <a:latin typeface="Times New Roman" panose="02020603050405020304" pitchFamily="18" charset="0"/>
              <a:ea typeface="仿宋" pitchFamily="49" charset="-122"/>
            </a:endParaRPr>
          </a:p>
        </p:txBody>
      </p:sp>
      <p:sp>
        <p:nvSpPr>
          <p:cNvPr id="365712" name="文本框 44">
            <a:extLst>
              <a:ext uri="{FF2B5EF4-FFF2-40B4-BE49-F238E27FC236}">
                <a16:creationId xmlns:a16="http://schemas.microsoft.com/office/drawing/2014/main" id="{AB21A1DE-C98D-104C-A4FC-72BD0DEE490B}"/>
              </a:ext>
            </a:extLst>
          </p:cNvPr>
          <p:cNvSpPr txBox="1">
            <a:spLocks noChangeArrowheads="1"/>
          </p:cNvSpPr>
          <p:nvPr/>
        </p:nvSpPr>
        <p:spPr bwMode="auto">
          <a:xfrm>
            <a:off x="8447088" y="2311400"/>
            <a:ext cx="873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ea typeface="仿宋" pitchFamily="49" charset="-122"/>
              </a:rPr>
              <a:t>……</a:t>
            </a:r>
            <a:endParaRPr lang="zh-CN" altLang="en-US" b="1">
              <a:latin typeface="Times New Roman" panose="02020603050405020304" pitchFamily="18" charset="0"/>
              <a:ea typeface="仿宋" pitchFamily="49" charset="-122"/>
            </a:endParaRPr>
          </a:p>
        </p:txBody>
      </p:sp>
      <p:sp>
        <p:nvSpPr>
          <p:cNvPr id="46" name="文本框 45">
            <a:extLst>
              <a:ext uri="{FF2B5EF4-FFF2-40B4-BE49-F238E27FC236}">
                <a16:creationId xmlns:a16="http://schemas.microsoft.com/office/drawing/2014/main" id="{7FCA32BF-9647-914D-AF5F-F9FB82CE811B}"/>
              </a:ext>
            </a:extLst>
          </p:cNvPr>
          <p:cNvSpPr txBox="1">
            <a:spLocks noChangeArrowheads="1"/>
          </p:cNvSpPr>
          <p:nvPr/>
        </p:nvSpPr>
        <p:spPr bwMode="auto">
          <a:xfrm>
            <a:off x="10164763" y="4913313"/>
            <a:ext cx="5715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b="1">
                <a:latin typeface="Times New Roman" panose="02020603050405020304" pitchFamily="18" charset="0"/>
                <a:ea typeface="仿宋" pitchFamily="49" charset="-122"/>
              </a:rPr>
              <a:t>=</a:t>
            </a:r>
            <a:endParaRPr lang="zh-CN" altLang="en-US" sz="2400" b="1">
              <a:latin typeface="Times New Roman" panose="02020603050405020304" pitchFamily="18" charset="0"/>
              <a:ea typeface="仿宋" pitchFamily="49" charset="-122"/>
            </a:endParaRPr>
          </a:p>
        </p:txBody>
      </p:sp>
      <p:sp>
        <p:nvSpPr>
          <p:cNvPr id="47" name="文本框 46">
            <a:extLst>
              <a:ext uri="{FF2B5EF4-FFF2-40B4-BE49-F238E27FC236}">
                <a16:creationId xmlns:a16="http://schemas.microsoft.com/office/drawing/2014/main" id="{A6BEBD41-419E-B442-B087-B63578CF9D62}"/>
              </a:ext>
            </a:extLst>
          </p:cNvPr>
          <p:cNvSpPr txBox="1">
            <a:spLocks noChangeArrowheads="1"/>
          </p:cNvSpPr>
          <p:nvPr/>
        </p:nvSpPr>
        <p:spPr bwMode="auto">
          <a:xfrm>
            <a:off x="7872413" y="3665538"/>
            <a:ext cx="9144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baseline="-25000">
                <a:latin typeface="Times New Roman" panose="02020603050405020304" pitchFamily="18" charset="0"/>
              </a:rPr>
              <a:t>Rcon</a:t>
            </a:r>
            <a:r>
              <a:rPr lang="zh-CN" altLang="en-US" b="1" baseline="-25000">
                <a:latin typeface="Times New Roman" panose="02020603050405020304" pitchFamily="18" charset="0"/>
              </a:rPr>
              <a:t>（</a:t>
            </a:r>
            <a:r>
              <a:rPr lang="en-US" altLang="zh-CN" b="1" baseline="-25000">
                <a:latin typeface="Times New Roman" panose="02020603050405020304" pitchFamily="18" charset="0"/>
              </a:rPr>
              <a:t>4</a:t>
            </a:r>
            <a:r>
              <a:rPr lang="zh-CN" altLang="en-US" b="1" baseline="-25000">
                <a:latin typeface="Times New Roman" panose="02020603050405020304" pitchFamily="18" charset="0"/>
              </a:rPr>
              <a:t>）</a:t>
            </a:r>
          </a:p>
        </p:txBody>
      </p:sp>
      <p:graphicFrame>
        <p:nvGraphicFramePr>
          <p:cNvPr id="48" name="表格 47">
            <a:extLst>
              <a:ext uri="{FF2B5EF4-FFF2-40B4-BE49-F238E27FC236}">
                <a16:creationId xmlns:a16="http://schemas.microsoft.com/office/drawing/2014/main" id="{C4D900D8-A008-8140-BA6A-4FC6236B17F4}"/>
              </a:ext>
            </a:extLst>
          </p:cNvPr>
          <p:cNvGraphicFramePr>
            <a:graphicFrameLocks noGrp="1"/>
          </p:cNvGraphicFramePr>
          <p:nvPr/>
        </p:nvGraphicFramePr>
        <p:xfrm>
          <a:off x="10591800" y="4183063"/>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14</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49" name="文本框 48">
            <a:extLst>
              <a:ext uri="{FF2B5EF4-FFF2-40B4-BE49-F238E27FC236}">
                <a16:creationId xmlns:a16="http://schemas.microsoft.com/office/drawing/2014/main" id="{5B839D75-AA7D-844F-A0BD-59BCA25052D0}"/>
              </a:ext>
            </a:extLst>
          </p:cNvPr>
          <p:cNvSpPr txBox="1">
            <a:spLocks noChangeArrowheads="1"/>
          </p:cNvSpPr>
          <p:nvPr/>
        </p:nvSpPr>
        <p:spPr bwMode="auto">
          <a:xfrm>
            <a:off x="10666413" y="3657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4</a:t>
            </a:r>
            <a:endParaRPr lang="zh-CN" altLang="en-US" b="1" baseline="-25000">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10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wipe(left)">
                                      <p:cBhvr>
                                        <p:cTn id="10" dur="1000"/>
                                        <p:tgtEl>
                                          <p:spTgt spid="3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1000"/>
                                        <p:tgtEl>
                                          <p:spTgt spid="23"/>
                                        </p:tgtEl>
                                      </p:cBhvr>
                                    </p:animEffect>
                                  </p:childTnLst>
                                </p:cTn>
                              </p:par>
                              <p:par>
                                <p:cTn id="16" presetID="22" presetClass="entr" presetSubtype="8"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100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1000"/>
                                        <p:tgtEl>
                                          <p:spTgt spid="2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1000"/>
                                        <p:tgtEl>
                                          <p:spTgt spid="29"/>
                                        </p:tgtEl>
                                      </p:cBhvr>
                                    </p:animEffect>
                                  </p:childTnLst>
                                </p:cTn>
                              </p:par>
                              <p:par>
                                <p:cTn id="27" presetID="22" presetClass="entr" presetSubtype="8"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left)">
                                      <p:cBhvr>
                                        <p:cTn id="29" dur="1000"/>
                                        <p:tgtEl>
                                          <p:spTgt spid="30"/>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1000"/>
                                        <p:tgtEl>
                                          <p:spTgt spid="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1000"/>
                                        <p:tgtEl>
                                          <p:spTgt spid="34"/>
                                        </p:tgtEl>
                                      </p:cBhvr>
                                    </p:animEffect>
                                  </p:childTnLst>
                                </p:cTn>
                              </p:par>
                              <p:par>
                                <p:cTn id="38" presetID="22" presetClass="entr" presetSubtype="8" fill="hold"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wipe(left)">
                                      <p:cBhvr>
                                        <p:cTn id="40" dur="1000"/>
                                        <p:tgtEl>
                                          <p:spTgt spid="35"/>
                                        </p:tgtEl>
                                      </p:cBhvr>
                                    </p:animEffect>
                                  </p:childTnLst>
                                </p:cTn>
                              </p:par>
                              <p:par>
                                <p:cTn id="41" presetID="22" presetClass="entr" presetSubtype="8"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1000"/>
                                        <p:tgtEl>
                                          <p:spTgt spid="39"/>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wipe(left)">
                                      <p:cBhvr>
                                        <p:cTn id="46" dur="1000"/>
                                        <p:tgtEl>
                                          <p:spTgt spid="40"/>
                                        </p:tgtEl>
                                      </p:cBhvr>
                                    </p:animEffect>
                                  </p:childTnLst>
                                </p:cTn>
                              </p:par>
                              <p:par>
                                <p:cTn id="47" presetID="22" presetClass="entr" presetSubtype="8"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wipe(left)">
                                      <p:cBhvr>
                                        <p:cTn id="49" dur="1000"/>
                                        <p:tgtEl>
                                          <p:spTgt spid="42"/>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left)">
                                      <p:cBhvr>
                                        <p:cTn id="52" dur="1000"/>
                                        <p:tgtEl>
                                          <p:spTgt spid="4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wipe(left)">
                                      <p:cBhvr>
                                        <p:cTn id="57" dur="1000"/>
                                        <p:tgtEl>
                                          <p:spTgt spid="46"/>
                                        </p:tgtEl>
                                      </p:cBhvr>
                                    </p:animEffect>
                                  </p:childTnLst>
                                </p:cTn>
                              </p:par>
                              <p:par>
                                <p:cTn id="58" presetID="22" presetClass="entr" presetSubtype="8" fill="hold"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wipe(left)">
                                      <p:cBhvr>
                                        <p:cTn id="60" dur="1000"/>
                                        <p:tgtEl>
                                          <p:spTgt spid="48"/>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wipe(left)">
                                      <p:cBhvr>
                                        <p:cTn id="63" dur="1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P spid="33" grpId="0"/>
      <p:bldP spid="40" grpId="0"/>
      <p:bldP spid="46" grpId="0"/>
      <p:bldP spid="47" grpId="0"/>
      <p:bldP spid="49"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7" name="标题 1">
            <a:extLst>
              <a:ext uri="{FF2B5EF4-FFF2-40B4-BE49-F238E27FC236}">
                <a16:creationId xmlns:a16="http://schemas.microsoft.com/office/drawing/2014/main" id="{9E49EA57-2C06-7B4E-ADB5-C0EACCF04219}"/>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扩展算法（</a:t>
            </a:r>
            <a:r>
              <a:rPr lang="en-US" altLang="zh-CN">
                <a:solidFill>
                  <a:schemeClr val="hlink"/>
                </a:solidFill>
              </a:rPr>
              <a:t>N</a:t>
            </a:r>
            <a:r>
              <a:rPr lang="en-US" altLang="zh-CN" baseline="-25000">
                <a:solidFill>
                  <a:schemeClr val="hlink"/>
                </a:solidFill>
              </a:rPr>
              <a:t>k</a:t>
            </a:r>
            <a:r>
              <a:rPr lang="en-US" altLang="zh-CN">
                <a:solidFill>
                  <a:schemeClr val="hlink"/>
                </a:solidFill>
              </a:rPr>
              <a:t>≤6</a:t>
            </a:r>
            <a:r>
              <a:rPr lang="zh-CN" altLang="en-US">
                <a:solidFill>
                  <a:srgbClr val="1F4E79"/>
                </a:solidFill>
              </a:rPr>
              <a:t>）（续）</a:t>
            </a:r>
            <a:endParaRPr lang="zh-CN" altLang="en-US">
              <a:solidFill>
                <a:srgbClr val="1F4E79"/>
              </a:solidFill>
              <a:latin typeface="Times New Roman" panose="02020603050405020304" pitchFamily="18" charset="0"/>
            </a:endParaRPr>
          </a:p>
        </p:txBody>
      </p:sp>
      <p:graphicFrame>
        <p:nvGraphicFramePr>
          <p:cNvPr id="14" name="表格 13">
            <a:extLst>
              <a:ext uri="{FF2B5EF4-FFF2-40B4-BE49-F238E27FC236}">
                <a16:creationId xmlns:a16="http://schemas.microsoft.com/office/drawing/2014/main" id="{634E1CEB-67A0-984A-8A02-E40FC242FD12}"/>
              </a:ext>
            </a:extLst>
          </p:cNvPr>
          <p:cNvGraphicFramePr>
            <a:graphicFrameLocks noGrp="1"/>
          </p:cNvGraphicFramePr>
          <p:nvPr/>
        </p:nvGraphicFramePr>
        <p:xfrm>
          <a:off x="1219200" y="1600200"/>
          <a:ext cx="35052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10</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30</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32</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33</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3"/>
                  </a:ext>
                </a:extLst>
              </a:tr>
            </a:tbl>
          </a:graphicData>
        </a:graphic>
      </p:graphicFrame>
      <p:graphicFrame>
        <p:nvGraphicFramePr>
          <p:cNvPr id="16" name="表格 15">
            <a:extLst>
              <a:ext uri="{FF2B5EF4-FFF2-40B4-BE49-F238E27FC236}">
                <a16:creationId xmlns:a16="http://schemas.microsoft.com/office/drawing/2014/main" id="{E29D8525-9B2A-C548-AAB0-DB5FF2FE9B06}"/>
              </a:ext>
            </a:extLst>
          </p:cNvPr>
          <p:cNvGraphicFramePr>
            <a:graphicFrameLocks noGrp="1"/>
          </p:cNvGraphicFramePr>
          <p:nvPr/>
        </p:nvGraphicFramePr>
        <p:xfrm>
          <a:off x="4724400" y="1600200"/>
          <a:ext cx="35052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14</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67672" name="文本框 16">
            <a:extLst>
              <a:ext uri="{FF2B5EF4-FFF2-40B4-BE49-F238E27FC236}">
                <a16:creationId xmlns:a16="http://schemas.microsoft.com/office/drawing/2014/main" id="{79840FB7-D06E-114E-AAF5-FC09E6102462}"/>
              </a:ext>
            </a:extLst>
          </p:cNvPr>
          <p:cNvSpPr txBox="1">
            <a:spLocks noChangeArrowheads="1"/>
          </p:cNvSpPr>
          <p:nvPr/>
        </p:nvSpPr>
        <p:spPr bwMode="auto">
          <a:xfrm>
            <a:off x="1371600" y="12080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0</a:t>
            </a:r>
            <a:endParaRPr lang="zh-CN" altLang="en-US" b="1" baseline="-25000">
              <a:latin typeface="Times New Roman" panose="02020603050405020304" pitchFamily="18" charset="0"/>
            </a:endParaRPr>
          </a:p>
        </p:txBody>
      </p:sp>
      <p:sp>
        <p:nvSpPr>
          <p:cNvPr id="367673" name="文本框 17">
            <a:extLst>
              <a:ext uri="{FF2B5EF4-FFF2-40B4-BE49-F238E27FC236}">
                <a16:creationId xmlns:a16="http://schemas.microsoft.com/office/drawing/2014/main" id="{FD111780-4136-1A48-B231-9EF834FAFB13}"/>
              </a:ext>
            </a:extLst>
          </p:cNvPr>
          <p:cNvSpPr txBox="1">
            <a:spLocks noChangeArrowheads="1"/>
          </p:cNvSpPr>
          <p:nvPr/>
        </p:nvSpPr>
        <p:spPr bwMode="auto">
          <a:xfrm>
            <a:off x="2262188" y="12080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1</a:t>
            </a:r>
            <a:endParaRPr lang="zh-CN" altLang="en-US" b="1" baseline="-25000">
              <a:latin typeface="Times New Roman" panose="02020603050405020304" pitchFamily="18" charset="0"/>
            </a:endParaRPr>
          </a:p>
        </p:txBody>
      </p:sp>
      <p:sp>
        <p:nvSpPr>
          <p:cNvPr id="367674" name="文本框 18">
            <a:extLst>
              <a:ext uri="{FF2B5EF4-FFF2-40B4-BE49-F238E27FC236}">
                <a16:creationId xmlns:a16="http://schemas.microsoft.com/office/drawing/2014/main" id="{A9314A91-3A3F-0442-BFEC-AA392E9B14C1}"/>
              </a:ext>
            </a:extLst>
          </p:cNvPr>
          <p:cNvSpPr txBox="1">
            <a:spLocks noChangeArrowheads="1"/>
          </p:cNvSpPr>
          <p:nvPr/>
        </p:nvSpPr>
        <p:spPr bwMode="auto">
          <a:xfrm>
            <a:off x="3154363" y="12080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2</a:t>
            </a:r>
            <a:endParaRPr lang="zh-CN" altLang="en-US" b="1" baseline="-25000">
              <a:latin typeface="Times New Roman" panose="02020603050405020304" pitchFamily="18" charset="0"/>
            </a:endParaRPr>
          </a:p>
        </p:txBody>
      </p:sp>
      <p:sp>
        <p:nvSpPr>
          <p:cNvPr id="367675" name="文本框 19">
            <a:extLst>
              <a:ext uri="{FF2B5EF4-FFF2-40B4-BE49-F238E27FC236}">
                <a16:creationId xmlns:a16="http://schemas.microsoft.com/office/drawing/2014/main" id="{CC0DED77-AC1C-0E44-91F8-B06BA9812EB8}"/>
              </a:ext>
            </a:extLst>
          </p:cNvPr>
          <p:cNvSpPr txBox="1">
            <a:spLocks noChangeArrowheads="1"/>
          </p:cNvSpPr>
          <p:nvPr/>
        </p:nvSpPr>
        <p:spPr bwMode="auto">
          <a:xfrm>
            <a:off x="4044950" y="120808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3</a:t>
            </a:r>
            <a:endParaRPr lang="zh-CN" altLang="en-US" b="1" baseline="-25000">
              <a:latin typeface="Times New Roman" panose="02020603050405020304" pitchFamily="18" charset="0"/>
            </a:endParaRPr>
          </a:p>
        </p:txBody>
      </p:sp>
      <p:sp>
        <p:nvSpPr>
          <p:cNvPr id="367676" name="文本框 20">
            <a:extLst>
              <a:ext uri="{FF2B5EF4-FFF2-40B4-BE49-F238E27FC236}">
                <a16:creationId xmlns:a16="http://schemas.microsoft.com/office/drawing/2014/main" id="{67F1319F-A0DF-4444-B581-BB365DA81FE6}"/>
              </a:ext>
            </a:extLst>
          </p:cNvPr>
          <p:cNvSpPr txBox="1">
            <a:spLocks noChangeArrowheads="1"/>
          </p:cNvSpPr>
          <p:nvPr/>
        </p:nvSpPr>
        <p:spPr bwMode="auto">
          <a:xfrm>
            <a:off x="4937125" y="12080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4</a:t>
            </a:r>
            <a:endParaRPr lang="zh-CN" altLang="en-US" b="1" baseline="-2500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67677" name="对象 37">
                <a:extLst>
                  <a:ext uri="{FF2B5EF4-FFF2-40B4-BE49-F238E27FC236}">
                    <a16:creationId xmlns:a16="http://schemas.microsoft.com/office/drawing/2014/main" id="{FF64CDF4-099C-5447-A14D-75F7CA0EE53C}"/>
                  </a:ext>
                </a:extLst>
              </p:cNvPr>
              <p:cNvSpPr txBox="1"/>
              <p:nvPr/>
            </p:nvSpPr>
            <p:spPr bwMode="auto">
              <a:xfrm>
                <a:off x="4057650" y="4743450"/>
                <a:ext cx="533400" cy="58896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67677" name="对象 37">
                <a:extLst>
                  <a:ext uri="{FF2B5EF4-FFF2-40B4-BE49-F238E27FC236}">
                    <a16:creationId xmlns:a16="http://schemas.microsoft.com/office/drawing/2014/main" id="{FF64CDF4-099C-5447-A14D-75F7CA0EE53C}"/>
                  </a:ext>
                </a:extLst>
              </p:cNvPr>
              <p:cNvSpPr txBox="1">
                <a:spLocks noRot="1" noChangeAspect="1" noMove="1" noResize="1" noEditPoints="1" noAdjustHandles="1" noChangeArrowheads="1" noChangeShapeType="1" noTextEdit="1"/>
              </p:cNvSpPr>
              <p:nvPr/>
            </p:nvSpPr>
            <p:spPr bwMode="auto">
              <a:xfrm>
                <a:off x="4057650" y="4743450"/>
                <a:ext cx="533400" cy="588963"/>
              </a:xfrm>
              <a:prstGeom prst="rect">
                <a:avLst/>
              </a:prstGeom>
              <a:blipFill>
                <a:blip r:embed="rId3"/>
                <a:stretch>
                  <a:fillRect/>
                </a:stretch>
              </a:blipFill>
              <a:ln>
                <a:noFill/>
              </a:ln>
              <a:extLst/>
            </p:spPr>
            <p:txBody>
              <a:bodyPr/>
              <a:lstStyle/>
              <a:p>
                <a:r>
                  <a:rPr lang="zh-CN" altLang="en-US">
                    <a:noFill/>
                  </a:rPr>
                  <a:t> </a:t>
                </a:r>
              </a:p>
            </p:txBody>
          </p:sp>
        </mc:Fallback>
      </mc:AlternateContent>
      <p:graphicFrame>
        <p:nvGraphicFramePr>
          <p:cNvPr id="39" name="表格 38">
            <a:extLst>
              <a:ext uri="{FF2B5EF4-FFF2-40B4-BE49-F238E27FC236}">
                <a16:creationId xmlns:a16="http://schemas.microsoft.com/office/drawing/2014/main" id="{79FF29C7-AE8F-E64C-A8BA-077D56334BDF}"/>
              </a:ext>
            </a:extLst>
          </p:cNvPr>
          <p:cNvGraphicFramePr>
            <a:graphicFrameLocks noGrp="1"/>
          </p:cNvGraphicFramePr>
          <p:nvPr/>
        </p:nvGraphicFramePr>
        <p:xfrm>
          <a:off x="4540250" y="4114800"/>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04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i="0" baseline="-25000" dirty="0">
                          <a:solidFill>
                            <a:schemeClr val="tx1"/>
                          </a:solidFill>
                          <a:latin typeface="+mn-lt"/>
                        </a:rPr>
                        <a:t>14</a:t>
                      </a:r>
                      <a:endParaRPr lang="zh-CN" altLang="en-US" sz="2400" b="1" i="0"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24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34</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67690" name="文本框 42">
            <a:extLst>
              <a:ext uri="{FF2B5EF4-FFF2-40B4-BE49-F238E27FC236}">
                <a16:creationId xmlns:a16="http://schemas.microsoft.com/office/drawing/2014/main" id="{F262B799-2CF4-C84C-8BD8-B3E6632B8C5D}"/>
              </a:ext>
            </a:extLst>
          </p:cNvPr>
          <p:cNvSpPr txBox="1">
            <a:spLocks noChangeArrowheads="1"/>
          </p:cNvSpPr>
          <p:nvPr/>
        </p:nvSpPr>
        <p:spPr bwMode="auto">
          <a:xfrm>
            <a:off x="5827713" y="1208088"/>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5</a:t>
            </a:r>
            <a:endParaRPr lang="zh-CN" altLang="en-US" b="1" baseline="-25000">
              <a:latin typeface="Times New Roman" panose="02020603050405020304" pitchFamily="18" charset="0"/>
            </a:endParaRPr>
          </a:p>
        </p:txBody>
      </p:sp>
      <p:sp>
        <p:nvSpPr>
          <p:cNvPr id="367691" name="文本框 43">
            <a:extLst>
              <a:ext uri="{FF2B5EF4-FFF2-40B4-BE49-F238E27FC236}">
                <a16:creationId xmlns:a16="http://schemas.microsoft.com/office/drawing/2014/main" id="{6DAC30AC-F807-C947-AEDA-F0ABC3FDE975}"/>
              </a:ext>
            </a:extLst>
          </p:cNvPr>
          <p:cNvSpPr txBox="1">
            <a:spLocks noChangeArrowheads="1"/>
          </p:cNvSpPr>
          <p:nvPr/>
        </p:nvSpPr>
        <p:spPr bwMode="auto">
          <a:xfrm>
            <a:off x="6591300" y="1247775"/>
            <a:ext cx="912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ea typeface="仿宋" pitchFamily="49" charset="-122"/>
              </a:rPr>
              <a:t>……</a:t>
            </a:r>
            <a:endParaRPr lang="zh-CN" altLang="en-US" b="1">
              <a:latin typeface="Times New Roman" panose="02020603050405020304" pitchFamily="18" charset="0"/>
              <a:ea typeface="仿宋" pitchFamily="49" charset="-122"/>
            </a:endParaRPr>
          </a:p>
        </p:txBody>
      </p:sp>
      <p:sp>
        <p:nvSpPr>
          <p:cNvPr id="367692" name="文本框 44">
            <a:extLst>
              <a:ext uri="{FF2B5EF4-FFF2-40B4-BE49-F238E27FC236}">
                <a16:creationId xmlns:a16="http://schemas.microsoft.com/office/drawing/2014/main" id="{252CBCC3-D86E-6843-AF95-AB6F8AAD2AA0}"/>
              </a:ext>
            </a:extLst>
          </p:cNvPr>
          <p:cNvSpPr txBox="1">
            <a:spLocks noChangeArrowheads="1"/>
          </p:cNvSpPr>
          <p:nvPr/>
        </p:nvSpPr>
        <p:spPr bwMode="auto">
          <a:xfrm>
            <a:off x="8447088" y="2311400"/>
            <a:ext cx="873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ea typeface="仿宋" pitchFamily="49" charset="-122"/>
              </a:rPr>
              <a:t>……</a:t>
            </a:r>
            <a:endParaRPr lang="zh-CN" altLang="en-US" b="1">
              <a:latin typeface="Times New Roman" panose="02020603050405020304" pitchFamily="18" charset="0"/>
              <a:ea typeface="仿宋" pitchFamily="49" charset="-122"/>
            </a:endParaRPr>
          </a:p>
        </p:txBody>
      </p:sp>
      <p:sp>
        <p:nvSpPr>
          <p:cNvPr id="367693" name="文本框 45">
            <a:extLst>
              <a:ext uri="{FF2B5EF4-FFF2-40B4-BE49-F238E27FC236}">
                <a16:creationId xmlns:a16="http://schemas.microsoft.com/office/drawing/2014/main" id="{B3553C04-0D28-F646-B75E-336C90B35A8D}"/>
              </a:ext>
            </a:extLst>
          </p:cNvPr>
          <p:cNvSpPr txBox="1">
            <a:spLocks noChangeArrowheads="1"/>
          </p:cNvSpPr>
          <p:nvPr/>
        </p:nvSpPr>
        <p:spPr bwMode="auto">
          <a:xfrm>
            <a:off x="5478463" y="4854575"/>
            <a:ext cx="5715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b="1">
                <a:latin typeface="Times New Roman" panose="02020603050405020304" pitchFamily="18" charset="0"/>
                <a:ea typeface="仿宋" pitchFamily="49" charset="-122"/>
              </a:rPr>
              <a:t>=</a:t>
            </a:r>
            <a:endParaRPr lang="zh-CN" altLang="en-US" sz="2400" b="1">
              <a:latin typeface="Times New Roman" panose="02020603050405020304" pitchFamily="18" charset="0"/>
              <a:ea typeface="仿宋" pitchFamily="49" charset="-122"/>
            </a:endParaRPr>
          </a:p>
        </p:txBody>
      </p:sp>
      <p:graphicFrame>
        <p:nvGraphicFramePr>
          <p:cNvPr id="48" name="表格 47">
            <a:extLst>
              <a:ext uri="{FF2B5EF4-FFF2-40B4-BE49-F238E27FC236}">
                <a16:creationId xmlns:a16="http://schemas.microsoft.com/office/drawing/2014/main" id="{F5313FDB-472F-2F4E-B914-D8D2231A226D}"/>
              </a:ext>
            </a:extLst>
          </p:cNvPr>
          <p:cNvGraphicFramePr>
            <a:graphicFrameLocks noGrp="1"/>
          </p:cNvGraphicFramePr>
          <p:nvPr/>
        </p:nvGraphicFramePr>
        <p:xfrm>
          <a:off x="5905500" y="4114800"/>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35</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67706" name="文本框 48">
            <a:extLst>
              <a:ext uri="{FF2B5EF4-FFF2-40B4-BE49-F238E27FC236}">
                <a16:creationId xmlns:a16="http://schemas.microsoft.com/office/drawing/2014/main" id="{91049651-E239-B247-85A9-EA6FF95EC45D}"/>
              </a:ext>
            </a:extLst>
          </p:cNvPr>
          <p:cNvSpPr txBox="1">
            <a:spLocks noChangeArrowheads="1"/>
          </p:cNvSpPr>
          <p:nvPr/>
        </p:nvSpPr>
        <p:spPr bwMode="auto">
          <a:xfrm>
            <a:off x="6070600" y="3641725"/>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5</a:t>
            </a:r>
            <a:endParaRPr lang="zh-CN" altLang="en-US" b="1" baseline="-25000">
              <a:latin typeface="Times New Roman" panose="02020603050405020304" pitchFamily="18" charset="0"/>
            </a:endParaRPr>
          </a:p>
        </p:txBody>
      </p:sp>
      <p:graphicFrame>
        <p:nvGraphicFramePr>
          <p:cNvPr id="3" name="表格 2">
            <a:extLst>
              <a:ext uri="{FF2B5EF4-FFF2-40B4-BE49-F238E27FC236}">
                <a16:creationId xmlns:a16="http://schemas.microsoft.com/office/drawing/2014/main" id="{3A6A9E9E-7C33-104A-B04C-F2F491616FA5}"/>
              </a:ext>
            </a:extLst>
          </p:cNvPr>
          <p:cNvGraphicFramePr>
            <a:graphicFrameLocks noGrp="1"/>
          </p:cNvGraphicFramePr>
          <p:nvPr/>
        </p:nvGraphicFramePr>
        <p:xfrm>
          <a:off x="3175000" y="4114800"/>
          <a:ext cx="876300" cy="182880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tblGrid>
              <a:tr h="40124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i="1" dirty="0">
                          <a:solidFill>
                            <a:schemeClr val="tx1"/>
                          </a:solidFill>
                          <a:latin typeface="+mn-lt"/>
                        </a:rPr>
                        <a:t>k</a:t>
                      </a:r>
                      <a:r>
                        <a:rPr lang="en-US" altLang="zh-CN" sz="2400" b="1" baseline="-25000" dirty="0">
                          <a:solidFill>
                            <a:schemeClr val="tx1"/>
                          </a:solidFill>
                          <a:latin typeface="+mn-lt"/>
                        </a:rPr>
                        <a:t>01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11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21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1246">
                <a:tc>
                  <a:txBody>
                    <a:bodyPr/>
                    <a:lstStyle/>
                    <a:p>
                      <a:pPr algn="ctr"/>
                      <a:r>
                        <a:rPr lang="en-US" altLang="zh-CN" sz="2400" b="1" i="1" dirty="0">
                          <a:solidFill>
                            <a:schemeClr val="tx1"/>
                          </a:solidFill>
                          <a:latin typeface="+mn-lt"/>
                        </a:rPr>
                        <a:t>k</a:t>
                      </a:r>
                      <a:r>
                        <a:rPr lang="en-US" altLang="zh-CN" sz="2400" b="1" baseline="-25000" dirty="0">
                          <a:solidFill>
                            <a:schemeClr val="tx1"/>
                          </a:solidFill>
                          <a:latin typeface="+mn-lt"/>
                        </a:rPr>
                        <a:t>31</a:t>
                      </a:r>
                      <a:endParaRPr lang="zh-CN" altLang="en-US" sz="2400" b="1" baseline="-25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67719" name="文本框 35">
            <a:extLst>
              <a:ext uri="{FF2B5EF4-FFF2-40B4-BE49-F238E27FC236}">
                <a16:creationId xmlns:a16="http://schemas.microsoft.com/office/drawing/2014/main" id="{CD361606-6CF6-9A4A-83B1-16F56177E8D5}"/>
              </a:ext>
            </a:extLst>
          </p:cNvPr>
          <p:cNvSpPr txBox="1">
            <a:spLocks noChangeArrowheads="1"/>
          </p:cNvSpPr>
          <p:nvPr/>
        </p:nvSpPr>
        <p:spPr bwMode="auto">
          <a:xfrm>
            <a:off x="3403600" y="3641725"/>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1</a:t>
            </a:r>
            <a:endParaRPr lang="zh-CN" altLang="en-US" b="1" baseline="-25000">
              <a:latin typeface="Times New Roman" panose="02020603050405020304" pitchFamily="18" charset="0"/>
            </a:endParaRPr>
          </a:p>
        </p:txBody>
      </p:sp>
      <p:sp>
        <p:nvSpPr>
          <p:cNvPr id="367720" name="文本框 36">
            <a:extLst>
              <a:ext uri="{FF2B5EF4-FFF2-40B4-BE49-F238E27FC236}">
                <a16:creationId xmlns:a16="http://schemas.microsoft.com/office/drawing/2014/main" id="{46E7F0F8-1A56-0848-AD24-EAF341B71D04}"/>
              </a:ext>
            </a:extLst>
          </p:cNvPr>
          <p:cNvSpPr txBox="1">
            <a:spLocks noChangeArrowheads="1"/>
          </p:cNvSpPr>
          <p:nvPr/>
        </p:nvSpPr>
        <p:spPr bwMode="auto">
          <a:xfrm>
            <a:off x="4737100" y="3641725"/>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latin typeface="Times New Roman" panose="02020603050405020304" pitchFamily="18" charset="0"/>
              </a:rPr>
              <a:t>w</a:t>
            </a:r>
            <a:r>
              <a:rPr lang="en-US" altLang="zh-CN" b="1" baseline="-25000">
                <a:latin typeface="Times New Roman" panose="02020603050405020304" pitchFamily="18" charset="0"/>
              </a:rPr>
              <a:t>4</a:t>
            </a:r>
            <a:endParaRPr lang="zh-CN" altLang="en-US" b="1" baseline="-25000">
              <a:latin typeface="Times New Roman" panose="02020603050405020304" pitchFamily="18" charset="0"/>
            </a:endParaRPr>
          </a:p>
        </p:txBody>
      </p:sp>
    </p:spTree>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5" name="标题 1">
            <a:extLst>
              <a:ext uri="{FF2B5EF4-FFF2-40B4-BE49-F238E27FC236}">
                <a16:creationId xmlns:a16="http://schemas.microsoft.com/office/drawing/2014/main" id="{7CD770F0-1EA6-8D43-8922-9A417F06A3EC}"/>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扩展算法（</a:t>
            </a:r>
            <a:r>
              <a:rPr lang="en-US" altLang="zh-CN">
                <a:solidFill>
                  <a:schemeClr val="hlink"/>
                </a:solidFill>
              </a:rPr>
              <a:t>N</a:t>
            </a:r>
            <a:r>
              <a:rPr lang="en-US" altLang="zh-CN" baseline="-25000">
                <a:solidFill>
                  <a:schemeClr val="hlink"/>
                </a:solidFill>
              </a:rPr>
              <a:t>k</a:t>
            </a:r>
            <a:r>
              <a:rPr lang="en-US" altLang="zh-CN">
                <a:solidFill>
                  <a:schemeClr val="hlink"/>
                </a:solidFill>
              </a:rPr>
              <a:t>&gt;6</a:t>
            </a:r>
            <a:r>
              <a:rPr lang="zh-CN" altLang="en-US">
                <a:solidFill>
                  <a:srgbClr val="1F4E79"/>
                </a:solidFill>
              </a:rPr>
              <a:t>）</a:t>
            </a:r>
          </a:p>
        </p:txBody>
      </p:sp>
      <p:sp>
        <p:nvSpPr>
          <p:cNvPr id="369666" name="Rectangle 2">
            <a:extLst>
              <a:ext uri="{FF2B5EF4-FFF2-40B4-BE49-F238E27FC236}">
                <a16:creationId xmlns:a16="http://schemas.microsoft.com/office/drawing/2014/main" id="{0D419C09-F8EE-BE4E-A56C-55698E56E6D9}"/>
              </a:ext>
            </a:extLst>
          </p:cNvPr>
          <p:cNvSpPr>
            <a:spLocks noGrp="1" noChangeArrowheads="1"/>
          </p:cNvSpPr>
          <p:nvPr>
            <p:ph idx="1"/>
          </p:nvPr>
        </p:nvSpPr>
        <p:spPr>
          <a:xfrm>
            <a:off x="838200" y="1219200"/>
            <a:ext cx="10515600" cy="4579938"/>
          </a:xfrm>
        </p:spPr>
        <p:txBody>
          <a:bodyPr/>
          <a:lstStyle/>
          <a:p>
            <a:pPr marL="280988" indent="0">
              <a:buFont typeface="Arial" panose="020B0604020202020204" pitchFamily="34" charset="0"/>
              <a:buNone/>
            </a:pPr>
            <a:r>
              <a:rPr lang="en-US" altLang="zh-CN" sz="1800">
                <a:latin typeface="Times New Roman" panose="02020603050405020304" pitchFamily="18" charset="0"/>
              </a:rPr>
              <a:t>KeyExpansion (byte  Key[4*Nk] , W[Nb*(Nr+1)])</a:t>
            </a:r>
          </a:p>
          <a:p>
            <a:pPr marL="280988" indent="0">
              <a:buFont typeface="Arial" panose="020B0604020202020204" pitchFamily="34" charset="0"/>
              <a:buNone/>
            </a:pPr>
            <a:r>
              <a:rPr lang="en-US" altLang="zh-CN" sz="1800">
                <a:latin typeface="Times New Roman" panose="02020603050405020304" pitchFamily="18" charset="0"/>
              </a:rPr>
              <a:t>{</a:t>
            </a:r>
          </a:p>
          <a:p>
            <a:pPr marL="280988" indent="0">
              <a:buFont typeface="Arial" panose="020B0604020202020204" pitchFamily="34" charset="0"/>
              <a:buNone/>
            </a:pPr>
            <a:r>
              <a:rPr lang="en-US" altLang="zh-CN" sz="1800">
                <a:latin typeface="Times New Roman" panose="02020603050405020304" pitchFamily="18" charset="0"/>
              </a:rPr>
              <a:t>	    for (i=0; i &lt; Nk; i ++)</a:t>
            </a:r>
          </a:p>
          <a:p>
            <a:pPr marL="280988" indent="0">
              <a:buFont typeface="Arial" panose="020B0604020202020204" pitchFamily="34" charset="0"/>
              <a:buNone/>
            </a:pPr>
            <a:r>
              <a:rPr lang="en-US" altLang="zh-CN" sz="1800">
                <a:latin typeface="Times New Roman" panose="02020603050405020304" pitchFamily="18" charset="0"/>
              </a:rPr>
              <a:t>		W[i]=(Key[4* i], Key[4* i +1], Key[4* i +2], Key[4* i +3] );</a:t>
            </a:r>
          </a:p>
          <a:p>
            <a:pPr marL="280988" indent="0">
              <a:buFont typeface="Arial" panose="020B0604020202020204" pitchFamily="34" charset="0"/>
              <a:buNone/>
            </a:pPr>
            <a:r>
              <a:rPr lang="en-US" altLang="zh-CN" sz="1800">
                <a:latin typeface="Times New Roman" panose="02020603050405020304" pitchFamily="18" charset="0"/>
              </a:rPr>
              <a:t>for (i =Nk; i &lt;Nb*(Nr+1); i ++)</a:t>
            </a:r>
          </a:p>
          <a:p>
            <a:pPr marL="280988" indent="0">
              <a:buFont typeface="Arial" panose="020B0604020202020204" pitchFamily="34" charset="0"/>
              <a:buNone/>
            </a:pPr>
            <a:r>
              <a:rPr lang="en-US" altLang="zh-CN" sz="1800">
                <a:latin typeface="Times New Roman" panose="02020603050405020304" pitchFamily="18" charset="0"/>
              </a:rPr>
              <a:t>    {</a:t>
            </a:r>
          </a:p>
          <a:p>
            <a:pPr marL="280988" indent="0">
              <a:buFont typeface="Arial" panose="020B0604020202020204" pitchFamily="34" charset="0"/>
              <a:buNone/>
            </a:pPr>
            <a:r>
              <a:rPr lang="en-US" altLang="zh-CN" sz="1800">
                <a:latin typeface="Times New Roman" panose="02020603050405020304" pitchFamily="18" charset="0"/>
              </a:rPr>
              <a:t>	temp=W[i -1];</a:t>
            </a:r>
          </a:p>
          <a:p>
            <a:pPr marL="280988" indent="0">
              <a:buFont typeface="Arial" panose="020B0604020202020204" pitchFamily="34" charset="0"/>
              <a:buNone/>
            </a:pPr>
            <a:r>
              <a:rPr lang="en-US" altLang="zh-CN" sz="1800">
                <a:latin typeface="Times New Roman" panose="02020603050405020304" pitchFamily="18" charset="0"/>
              </a:rPr>
              <a:t>	if (i % Nk= =0)</a:t>
            </a:r>
          </a:p>
          <a:p>
            <a:pPr marL="280988" indent="0">
              <a:buFont typeface="Arial" panose="020B0604020202020204" pitchFamily="34" charset="0"/>
              <a:buNone/>
            </a:pPr>
            <a:r>
              <a:rPr lang="en-US" altLang="zh-CN" sz="1800">
                <a:latin typeface="Times New Roman" panose="02020603050405020304" pitchFamily="18" charset="0"/>
              </a:rPr>
              <a:t>		temp=SubByte (RotByte (temp))^Rcon[i /Nk];</a:t>
            </a:r>
          </a:p>
          <a:p>
            <a:pPr marL="280988" indent="0">
              <a:buFont typeface="Arial" panose="020B0604020202020204" pitchFamily="34" charset="0"/>
              <a:buNone/>
            </a:pPr>
            <a:r>
              <a:rPr lang="en-US" altLang="zh-CN" sz="1800">
                <a:solidFill>
                  <a:srgbClr val="C00000"/>
                </a:solidFill>
                <a:latin typeface="Times New Roman" panose="02020603050405020304" pitchFamily="18" charset="0"/>
              </a:rPr>
              <a:t>       </a:t>
            </a:r>
            <a:r>
              <a:rPr lang="zh-CN" altLang="en-US" sz="1800">
                <a:solidFill>
                  <a:srgbClr val="C00000"/>
                </a:solidFill>
                <a:latin typeface="Times New Roman" panose="02020603050405020304" pitchFamily="18" charset="0"/>
              </a:rPr>
              <a:t>    </a:t>
            </a:r>
            <a:r>
              <a:rPr lang="en-US" altLang="zh-CN" sz="1800">
                <a:solidFill>
                  <a:srgbClr val="C00000"/>
                </a:solidFill>
                <a:latin typeface="Times New Roman" panose="02020603050405020304" pitchFamily="18" charset="0"/>
              </a:rPr>
              <a:t>else if (i % Nk==4)</a:t>
            </a:r>
          </a:p>
          <a:p>
            <a:pPr marL="280988" indent="0">
              <a:buFont typeface="Arial" panose="020B0604020202020204" pitchFamily="34" charset="0"/>
              <a:buNone/>
            </a:pPr>
            <a:r>
              <a:rPr lang="en-US" altLang="zh-CN" sz="1800">
                <a:solidFill>
                  <a:srgbClr val="C00000"/>
                </a:solidFill>
                <a:latin typeface="Times New Roman" panose="02020603050405020304" pitchFamily="18" charset="0"/>
              </a:rPr>
              <a:t>          		temp=SubByte (temp);</a:t>
            </a:r>
          </a:p>
          <a:p>
            <a:pPr marL="280988" indent="0">
              <a:buFont typeface="Arial" panose="020B0604020202020204" pitchFamily="34" charset="0"/>
              <a:buNone/>
            </a:pPr>
            <a:r>
              <a:rPr lang="en-US" altLang="zh-CN" sz="1800">
                <a:latin typeface="Times New Roman" panose="02020603050405020304" pitchFamily="18" charset="0"/>
              </a:rPr>
              <a:t>W[i]=W[i - Nk]^ temp;</a:t>
            </a:r>
          </a:p>
          <a:p>
            <a:pPr marL="280988" indent="0">
              <a:buFont typeface="Arial" panose="020B0604020202020204" pitchFamily="34" charset="0"/>
              <a:buNone/>
            </a:pPr>
            <a:r>
              <a:rPr lang="en-US" altLang="zh-CN" sz="1800">
                <a:latin typeface="Times New Roman" panose="02020603050405020304" pitchFamily="18" charset="0"/>
              </a:rPr>
              <a:t>    }</a:t>
            </a:r>
          </a:p>
          <a:p>
            <a:pPr marL="280988" indent="0">
              <a:buFont typeface="Arial" panose="020B0604020202020204" pitchFamily="34" charset="0"/>
              <a:buNone/>
            </a:pPr>
            <a:r>
              <a:rPr lang="en-US" altLang="zh-CN" sz="1800">
                <a:latin typeface="Times New Roman" panose="02020603050405020304" pitchFamily="18" charset="0"/>
              </a:rPr>
              <a:t>}</a:t>
            </a:r>
          </a:p>
        </p:txBody>
      </p:sp>
      <p:sp>
        <p:nvSpPr>
          <p:cNvPr id="369667" name="矩形 2">
            <a:extLst>
              <a:ext uri="{FF2B5EF4-FFF2-40B4-BE49-F238E27FC236}">
                <a16:creationId xmlns:a16="http://schemas.microsoft.com/office/drawing/2014/main" id="{19C3420B-4A71-464F-9332-E867C5B1090E}"/>
              </a:ext>
            </a:extLst>
          </p:cNvPr>
          <p:cNvSpPr>
            <a:spLocks noChangeArrowheads="1"/>
          </p:cNvSpPr>
          <p:nvPr/>
        </p:nvSpPr>
        <p:spPr bwMode="auto">
          <a:xfrm>
            <a:off x="7010400" y="4648200"/>
            <a:ext cx="4800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2400" b="1">
                <a:latin typeface="Times New Roman" panose="02020603050405020304" pitchFamily="18" charset="0"/>
                <a:ea typeface="仿宋" pitchFamily="49" charset="-122"/>
              </a:rPr>
              <a:t>N</a:t>
            </a:r>
            <a:r>
              <a:rPr lang="en-US" altLang="zh-CN" sz="2400" b="1" baseline="-25000">
                <a:latin typeface="Times New Roman" panose="02020603050405020304" pitchFamily="18" charset="0"/>
                <a:ea typeface="仿宋" pitchFamily="49" charset="-122"/>
              </a:rPr>
              <a:t>k</a:t>
            </a:r>
            <a:r>
              <a:rPr lang="en-US" altLang="zh-CN" sz="2400" b="1">
                <a:latin typeface="Times New Roman" panose="02020603050405020304" pitchFamily="18" charset="0"/>
                <a:ea typeface="仿宋" pitchFamily="49" charset="-122"/>
              </a:rPr>
              <a:t>&gt;6</a:t>
            </a:r>
            <a:r>
              <a:rPr lang="zh-CN" altLang="en-US" sz="2400" b="1">
                <a:latin typeface="Times New Roman" panose="02020603050405020304" pitchFamily="18" charset="0"/>
                <a:ea typeface="仿宋" pitchFamily="49" charset="-122"/>
              </a:rPr>
              <a:t>与</a:t>
            </a:r>
            <a:r>
              <a:rPr lang="en-US" altLang="zh-CN" sz="2400" b="1">
                <a:latin typeface="Times New Roman" panose="02020603050405020304" pitchFamily="18" charset="0"/>
                <a:ea typeface="仿宋" pitchFamily="49" charset="-122"/>
              </a:rPr>
              <a:t>N</a:t>
            </a:r>
            <a:r>
              <a:rPr lang="en-US" altLang="zh-CN" sz="2400" b="1" baseline="-25000"/>
              <a:t>k</a:t>
            </a:r>
            <a:r>
              <a:rPr lang="en-US" altLang="zh-CN" sz="2400" b="1">
                <a:latin typeface="Times New Roman" panose="02020603050405020304" pitchFamily="18" charset="0"/>
                <a:ea typeface="仿宋" pitchFamily="49" charset="-122"/>
              </a:rPr>
              <a:t>≤6</a:t>
            </a:r>
            <a:r>
              <a:rPr lang="zh-CN" altLang="en-US" sz="2400" b="1">
                <a:latin typeface="Times New Roman" panose="02020603050405020304" pitchFamily="18" charset="0"/>
                <a:ea typeface="仿宋" pitchFamily="49" charset="-122"/>
              </a:rPr>
              <a:t>的密钥扩展算法的区别在于：当</a:t>
            </a:r>
            <a:r>
              <a:rPr lang="en-US" altLang="zh-CN" sz="2400" b="1">
                <a:latin typeface="Times New Roman" panose="02020603050405020304" pitchFamily="18" charset="0"/>
                <a:ea typeface="仿宋" pitchFamily="49" charset="-122"/>
              </a:rPr>
              <a:t>i-4</a:t>
            </a:r>
            <a:r>
              <a:rPr lang="zh-CN" altLang="en-US" sz="2400" b="1">
                <a:latin typeface="Times New Roman" panose="02020603050405020304" pitchFamily="18" charset="0"/>
                <a:ea typeface="仿宋" pitchFamily="49" charset="-122"/>
              </a:rPr>
              <a:t>为</a:t>
            </a:r>
            <a:r>
              <a:rPr lang="en-US" altLang="zh-CN" sz="2400" b="1">
                <a:latin typeface="Times New Roman" panose="02020603050405020304" pitchFamily="18" charset="0"/>
                <a:ea typeface="仿宋" pitchFamily="49" charset="-122"/>
              </a:rPr>
              <a:t>N</a:t>
            </a:r>
            <a:r>
              <a:rPr lang="en-US" altLang="zh-CN" sz="2400" b="1" baseline="-25000"/>
              <a:t>k</a:t>
            </a:r>
            <a:r>
              <a:rPr lang="zh-CN" altLang="en-US" sz="2400" b="1">
                <a:latin typeface="Times New Roman" panose="02020603050405020304" pitchFamily="18" charset="0"/>
                <a:ea typeface="仿宋" pitchFamily="49" charset="-122"/>
              </a:rPr>
              <a:t>的整数倍时，须先将前一个字</a:t>
            </a:r>
            <a:r>
              <a:rPr lang="en-US" altLang="zh-CN" sz="2400" b="1">
                <a:latin typeface="Times New Roman" panose="02020603050405020304" pitchFamily="18" charset="0"/>
                <a:ea typeface="仿宋" pitchFamily="49" charset="-122"/>
              </a:rPr>
              <a:t>W[i-1]</a:t>
            </a:r>
            <a:r>
              <a:rPr lang="zh-CN" altLang="en-US" sz="2400" b="1">
                <a:latin typeface="Times New Roman" panose="02020603050405020304" pitchFamily="18" charset="0"/>
                <a:ea typeface="仿宋" pitchFamily="49" charset="-122"/>
              </a:rPr>
              <a:t>经过</a:t>
            </a:r>
            <a:r>
              <a:rPr lang="en-US" altLang="zh-CN" sz="2400" b="1">
                <a:latin typeface="Times New Roman" panose="02020603050405020304" pitchFamily="18" charset="0"/>
                <a:ea typeface="仿宋" pitchFamily="49" charset="-122"/>
              </a:rPr>
              <a:t>SubByte</a:t>
            </a:r>
            <a:r>
              <a:rPr lang="zh-CN" altLang="en-US" sz="2400" b="1">
                <a:latin typeface="Times New Roman" panose="02020603050405020304" pitchFamily="18" charset="0"/>
                <a:ea typeface="仿宋" pitchFamily="49" charset="-122"/>
              </a:rPr>
              <a:t>变换（</a:t>
            </a:r>
            <a:r>
              <a:rPr lang="en-US" altLang="zh-CN" sz="2400" b="1">
                <a:latin typeface="Times New Roman" panose="02020603050405020304" pitchFamily="18" charset="0"/>
                <a:ea typeface="仿宋" pitchFamily="49" charset="-122"/>
              </a:rPr>
              <a:t>S</a:t>
            </a:r>
            <a:r>
              <a:rPr lang="zh-CN" altLang="en-US" sz="2400" b="1">
                <a:latin typeface="Times New Roman" panose="02020603050405020304" pitchFamily="18" charset="0"/>
                <a:ea typeface="仿宋" pitchFamily="49" charset="-122"/>
              </a:rPr>
              <a:t>盒）</a:t>
            </a:r>
          </a:p>
        </p:txBody>
      </p:sp>
    </p:spTree>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3" name="标题 1">
            <a:extLst>
              <a:ext uri="{FF2B5EF4-FFF2-40B4-BE49-F238E27FC236}">
                <a16:creationId xmlns:a16="http://schemas.microsoft.com/office/drawing/2014/main" id="{CB6A39A7-E353-9F43-A361-DF82FF26F65C}"/>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轮常数</a:t>
            </a:r>
          </a:p>
        </p:txBody>
      </p:sp>
      <p:sp>
        <p:nvSpPr>
          <p:cNvPr id="371714" name="Rectangle 2">
            <a:extLst>
              <a:ext uri="{FF2B5EF4-FFF2-40B4-BE49-F238E27FC236}">
                <a16:creationId xmlns:a16="http://schemas.microsoft.com/office/drawing/2014/main" id="{1A34C232-801C-4147-9F78-C2E43C629FBE}"/>
              </a:ext>
            </a:extLst>
          </p:cNvPr>
          <p:cNvSpPr>
            <a:spLocks noGrp="1" noChangeArrowheads="1"/>
          </p:cNvSpPr>
          <p:nvPr>
            <p:ph idx="1"/>
          </p:nvPr>
        </p:nvSpPr>
        <p:spPr>
          <a:xfrm>
            <a:off x="823913" y="1465263"/>
            <a:ext cx="10515600" cy="4579937"/>
          </a:xfrm>
        </p:spPr>
        <p:txBody>
          <a:bodyPr/>
          <a:lstStyle/>
          <a:p>
            <a:pPr marL="287338" indent="-6350">
              <a:lnSpc>
                <a:spcPct val="120000"/>
              </a:lnSpc>
            </a:pPr>
            <a:r>
              <a:rPr lang="zh-CN" altLang="en-US" sz="2800">
                <a:latin typeface="Times New Roman" panose="02020603050405020304" pitchFamily="18" charset="0"/>
              </a:rPr>
              <a:t>以上两个算法中，</a:t>
            </a:r>
            <a:r>
              <a:rPr lang="en-US" altLang="zh-CN" sz="2800">
                <a:latin typeface="Times New Roman" panose="02020603050405020304" pitchFamily="18" charset="0"/>
              </a:rPr>
              <a:t>Rcon[i/Nk] </a:t>
            </a:r>
            <a:r>
              <a:rPr lang="zh-CN" altLang="en-US" sz="2800">
                <a:latin typeface="Times New Roman" panose="02020603050405020304" pitchFamily="18" charset="0"/>
              </a:rPr>
              <a:t>为轮常数，其值与</a:t>
            </a:r>
            <a:r>
              <a:rPr lang="en-US" altLang="zh-CN" sz="2800">
                <a:latin typeface="Times New Roman" panose="02020603050405020304" pitchFamily="18" charset="0"/>
              </a:rPr>
              <a:t>Nk</a:t>
            </a:r>
            <a:r>
              <a:rPr lang="zh-CN" altLang="en-US" sz="2800">
                <a:latin typeface="Times New Roman" panose="02020603050405020304" pitchFamily="18" charset="0"/>
              </a:rPr>
              <a:t>无关，定义为（字节用十六进制表示，同时理解为</a:t>
            </a:r>
            <a:r>
              <a:rPr lang="en-US" altLang="zh-CN" sz="2800">
                <a:latin typeface="Times New Roman" panose="02020603050405020304" pitchFamily="18" charset="0"/>
              </a:rPr>
              <a:t>GF(2</a:t>
            </a:r>
            <a:r>
              <a:rPr lang="en-US" altLang="zh-CN" sz="2800" baseline="30000">
                <a:latin typeface="Times New Roman" panose="02020603050405020304" pitchFamily="18" charset="0"/>
              </a:rPr>
              <a:t>8</a:t>
            </a:r>
            <a:r>
              <a:rPr lang="en-US" altLang="zh-CN" sz="2800">
                <a:latin typeface="Times New Roman" panose="02020603050405020304" pitchFamily="18" charset="0"/>
              </a:rPr>
              <a:t>)</a:t>
            </a:r>
            <a:r>
              <a:rPr lang="zh-CN" altLang="en-US" sz="2800">
                <a:latin typeface="Times New Roman" panose="02020603050405020304" pitchFamily="18" charset="0"/>
              </a:rPr>
              <a:t>上的元素）：</a:t>
            </a:r>
          </a:p>
          <a:p>
            <a:pPr marL="287338" indent="-6350">
              <a:lnSpc>
                <a:spcPct val="120000"/>
              </a:lnSpc>
            </a:pPr>
            <a:r>
              <a:rPr lang="zh-CN" altLang="en-US" sz="2800">
                <a:latin typeface="Times New Roman" panose="02020603050405020304" pitchFamily="18" charset="0"/>
              </a:rPr>
              <a:t>       </a:t>
            </a:r>
            <a:r>
              <a:rPr lang="en-US" altLang="zh-CN" sz="2800">
                <a:latin typeface="Times New Roman" panose="02020603050405020304" pitchFamily="18" charset="0"/>
              </a:rPr>
              <a:t>Rcon [i]=(RC[i], ‘00’, ‘00’, ‘00’)</a:t>
            </a:r>
          </a:p>
          <a:p>
            <a:pPr marL="287338" indent="-6350">
              <a:lnSpc>
                <a:spcPct val="120000"/>
              </a:lnSpc>
            </a:pPr>
            <a:r>
              <a:rPr lang="en-US" altLang="zh-CN" sz="2800">
                <a:latin typeface="Times New Roman" panose="02020603050405020304" pitchFamily="18" charset="0"/>
              </a:rPr>
              <a:t>      </a:t>
            </a:r>
            <a:r>
              <a:rPr lang="zh-CN" altLang="en-US" sz="2800">
                <a:latin typeface="Times New Roman" panose="02020603050405020304" pitchFamily="18" charset="0"/>
              </a:rPr>
              <a:t>其中</a:t>
            </a:r>
            <a:r>
              <a:rPr lang="en-US" altLang="zh-CN" sz="2800">
                <a:latin typeface="Times New Roman" panose="02020603050405020304" pitchFamily="18" charset="0"/>
              </a:rPr>
              <a:t>RC[i] </a:t>
            </a:r>
            <a:r>
              <a:rPr lang="zh-CN" altLang="en-US" sz="2800">
                <a:latin typeface="Times New Roman" panose="02020603050405020304" pitchFamily="18" charset="0"/>
              </a:rPr>
              <a:t>是</a:t>
            </a:r>
            <a:r>
              <a:rPr lang="en-US" altLang="zh-CN" sz="2800">
                <a:latin typeface="Times New Roman" panose="02020603050405020304" pitchFamily="18" charset="0"/>
              </a:rPr>
              <a:t>GF(2</a:t>
            </a:r>
            <a:r>
              <a:rPr lang="en-US" altLang="zh-CN" sz="2800" baseline="30000">
                <a:latin typeface="Times New Roman" panose="02020603050405020304" pitchFamily="18" charset="0"/>
              </a:rPr>
              <a:t>8</a:t>
            </a:r>
            <a:r>
              <a:rPr lang="en-US" altLang="zh-CN" sz="2800">
                <a:latin typeface="Times New Roman" panose="02020603050405020304" pitchFamily="18" charset="0"/>
              </a:rPr>
              <a:t>) </a:t>
            </a:r>
            <a:r>
              <a:rPr lang="zh-CN" altLang="en-US" sz="2800">
                <a:latin typeface="Times New Roman" panose="02020603050405020304" pitchFamily="18" charset="0"/>
              </a:rPr>
              <a:t>中值为</a:t>
            </a:r>
            <a:r>
              <a:rPr lang="en-US" altLang="zh-CN" sz="2800">
                <a:latin typeface="Times New Roman" panose="02020603050405020304" pitchFamily="18" charset="0"/>
              </a:rPr>
              <a:t>x</a:t>
            </a:r>
            <a:r>
              <a:rPr lang="en-US" altLang="zh-CN" sz="2800" baseline="30000">
                <a:latin typeface="Times New Roman" panose="02020603050405020304" pitchFamily="18" charset="0"/>
              </a:rPr>
              <a:t>i-1</a:t>
            </a:r>
            <a:r>
              <a:rPr lang="zh-CN" altLang="en-US" sz="2800">
                <a:latin typeface="Times New Roman" panose="02020603050405020304" pitchFamily="18" charset="0"/>
              </a:rPr>
              <a:t>的元素，因此</a:t>
            </a:r>
          </a:p>
          <a:p>
            <a:pPr marL="287338" indent="-6350">
              <a:lnSpc>
                <a:spcPct val="120000"/>
              </a:lnSpc>
            </a:pPr>
            <a:r>
              <a:rPr lang="zh-CN" altLang="en-US" sz="2800">
                <a:latin typeface="Times New Roman" panose="02020603050405020304" pitchFamily="18" charset="0"/>
              </a:rPr>
              <a:t>			</a:t>
            </a:r>
            <a:r>
              <a:rPr lang="en-US" altLang="zh-CN" sz="2800">
                <a:latin typeface="Times New Roman" panose="02020603050405020304" pitchFamily="18" charset="0"/>
              </a:rPr>
              <a:t>RC[1] =1(</a:t>
            </a:r>
            <a:r>
              <a:rPr lang="zh-CN" altLang="en-US" sz="2800">
                <a:latin typeface="Times New Roman" panose="02020603050405020304" pitchFamily="18" charset="0"/>
              </a:rPr>
              <a:t>即‘</a:t>
            </a:r>
            <a:r>
              <a:rPr lang="en-US" altLang="zh-CN" sz="2800">
                <a:latin typeface="Times New Roman" panose="02020603050405020304" pitchFamily="18" charset="0"/>
              </a:rPr>
              <a:t>01’)</a:t>
            </a:r>
          </a:p>
          <a:p>
            <a:pPr marL="287338" indent="-6350">
              <a:lnSpc>
                <a:spcPct val="120000"/>
              </a:lnSpc>
            </a:pPr>
            <a:r>
              <a:rPr lang="en-US" altLang="zh-CN" sz="2800">
                <a:latin typeface="Times New Roman" panose="02020603050405020304" pitchFamily="18" charset="0"/>
              </a:rPr>
              <a:t>			RC[i] = x(</a:t>
            </a:r>
            <a:r>
              <a:rPr lang="zh-CN" altLang="en-US" sz="2800">
                <a:latin typeface="Times New Roman" panose="02020603050405020304" pitchFamily="18" charset="0"/>
              </a:rPr>
              <a:t>即‘</a:t>
            </a:r>
            <a:r>
              <a:rPr lang="en-US" altLang="zh-CN" sz="2800">
                <a:latin typeface="Times New Roman" panose="02020603050405020304" pitchFamily="18" charset="0"/>
              </a:rPr>
              <a:t>02’)·RC[i-1]= x</a:t>
            </a:r>
            <a:r>
              <a:rPr lang="en-US" altLang="zh-CN" sz="2800" baseline="30000">
                <a:latin typeface="Times New Roman" panose="02020603050405020304" pitchFamily="18" charset="0"/>
              </a:rPr>
              <a:t>i-1</a:t>
            </a:r>
          </a:p>
          <a:p>
            <a:pPr marL="287338" indent="-6350">
              <a:lnSpc>
                <a:spcPct val="120000"/>
              </a:lnSpc>
            </a:pPr>
            <a:endParaRPr lang="en-US" altLang="zh-CN" sz="2800">
              <a:latin typeface="Times New Roman" panose="02020603050405020304" pitchFamily="18" charset="0"/>
            </a:endParaRPr>
          </a:p>
        </p:txBody>
      </p:sp>
    </p:spTree>
  </p:cSld>
  <p:clrMapOvr>
    <a:masterClrMapping/>
  </p:clrMapOvr>
  <p:transition spd="slow"/>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1" name="标题 2">
            <a:extLst>
              <a:ext uri="{FF2B5EF4-FFF2-40B4-BE49-F238E27FC236}">
                <a16:creationId xmlns:a16="http://schemas.microsoft.com/office/drawing/2014/main" id="{592C26A9-6F58-1A46-BB8E-6716C6857151}"/>
              </a:ext>
            </a:extLst>
          </p:cNvPr>
          <p:cNvSpPr>
            <a:spLocks noGrp="1" noChangeArrowheads="1"/>
          </p:cNvSpPr>
          <p:nvPr>
            <p:ph type="title"/>
          </p:nvPr>
        </p:nvSpPr>
        <p:spPr>
          <a:xfrm>
            <a:off x="1465263" y="365125"/>
            <a:ext cx="9037637" cy="668338"/>
          </a:xfrm>
        </p:spPr>
        <p:txBody>
          <a:bodyPr/>
          <a:lstStyle/>
          <a:p>
            <a:r>
              <a:rPr lang="zh-CN" altLang="en-US">
                <a:solidFill>
                  <a:srgbClr val="1F4E79"/>
                </a:solidFill>
              </a:rPr>
              <a:t>轮密钥选取</a:t>
            </a:r>
          </a:p>
        </p:txBody>
      </p:sp>
      <p:sp>
        <p:nvSpPr>
          <p:cNvPr id="373762" name="Rectangle 2">
            <a:extLst>
              <a:ext uri="{FF2B5EF4-FFF2-40B4-BE49-F238E27FC236}">
                <a16:creationId xmlns:a16="http://schemas.microsoft.com/office/drawing/2014/main" id="{4E6508DF-AF6B-E449-83BA-9029D3B2D77A}"/>
              </a:ext>
            </a:extLst>
          </p:cNvPr>
          <p:cNvSpPr>
            <a:spLocks noGrp="1" noChangeArrowheads="1"/>
          </p:cNvSpPr>
          <p:nvPr>
            <p:ph idx="1"/>
          </p:nvPr>
        </p:nvSpPr>
        <p:spPr>
          <a:xfrm>
            <a:off x="823913" y="1465263"/>
            <a:ext cx="10515600" cy="4579937"/>
          </a:xfrm>
        </p:spPr>
        <p:txBody>
          <a:bodyPr/>
          <a:lstStyle/>
          <a:p>
            <a:pPr marL="287338" indent="-6350">
              <a:lnSpc>
                <a:spcPct val="120000"/>
              </a:lnSpc>
            </a:pPr>
            <a:r>
              <a:rPr lang="zh-CN" altLang="en-US" sz="2800">
                <a:latin typeface="Times New Roman" panose="02020603050405020304" pitchFamily="18" charset="0"/>
              </a:rPr>
              <a:t>轮密钥</a:t>
            </a:r>
            <a:r>
              <a:rPr lang="en-US" altLang="zh-CN" sz="2800">
                <a:latin typeface="Times New Roman" panose="02020603050405020304" pitchFamily="18" charset="0"/>
              </a:rPr>
              <a:t>i</a:t>
            </a:r>
            <a:r>
              <a:rPr lang="zh-CN" altLang="en-US" sz="2800">
                <a:latin typeface="Times New Roman" panose="02020603050405020304" pitchFamily="18" charset="0"/>
              </a:rPr>
              <a:t>（即第</a:t>
            </a:r>
            <a:r>
              <a:rPr lang="en-US" altLang="zh-CN" sz="2800">
                <a:latin typeface="Times New Roman" panose="02020603050405020304" pitchFamily="18" charset="0"/>
              </a:rPr>
              <a:t>i </a:t>
            </a:r>
            <a:r>
              <a:rPr lang="zh-CN" altLang="en-US" sz="2800">
                <a:latin typeface="Times New Roman" panose="02020603050405020304" pitchFamily="18" charset="0"/>
              </a:rPr>
              <a:t>个轮密钥）由轮密钥缓冲字</a:t>
            </a:r>
            <a:r>
              <a:rPr lang="en-US" altLang="zh-CN" sz="2800">
                <a:latin typeface="Times New Roman" panose="02020603050405020304" pitchFamily="18" charset="0"/>
              </a:rPr>
              <a:t>W[Nb* i]</a:t>
            </a:r>
            <a:r>
              <a:rPr lang="zh-CN" altLang="en-US" sz="2800">
                <a:latin typeface="Times New Roman" panose="02020603050405020304" pitchFamily="18" charset="0"/>
              </a:rPr>
              <a:t>到</a:t>
            </a:r>
            <a:r>
              <a:rPr lang="en-US" altLang="zh-CN" sz="2800">
                <a:latin typeface="Times New Roman" panose="02020603050405020304" pitchFamily="18" charset="0"/>
              </a:rPr>
              <a:t>W[Nb*(i+1)]</a:t>
            </a:r>
            <a:r>
              <a:rPr lang="zh-CN" altLang="en-US" sz="2800">
                <a:latin typeface="Times New Roman" panose="02020603050405020304" pitchFamily="18" charset="0"/>
              </a:rPr>
              <a:t>给出，如图所示。</a:t>
            </a:r>
          </a:p>
          <a:p>
            <a:pPr marL="287338" indent="-6350">
              <a:lnSpc>
                <a:spcPct val="120000"/>
              </a:lnSpc>
            </a:pPr>
            <a:endParaRPr lang="en-US" altLang="zh-CN" sz="2800">
              <a:latin typeface="Times New Roman" panose="02020603050405020304" pitchFamily="18" charset="0"/>
            </a:endParaRPr>
          </a:p>
        </p:txBody>
      </p:sp>
      <p:pic>
        <p:nvPicPr>
          <p:cNvPr id="373763" name="Picture 3" descr="xd44">
            <a:extLst>
              <a:ext uri="{FF2B5EF4-FFF2-40B4-BE49-F238E27FC236}">
                <a16:creationId xmlns:a16="http://schemas.microsoft.com/office/drawing/2014/main" id="{A6290DAA-C580-0242-89B4-559D0BA16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505200"/>
            <a:ext cx="76962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3764" name="Rectangle 4">
            <a:extLst>
              <a:ext uri="{FF2B5EF4-FFF2-40B4-BE49-F238E27FC236}">
                <a16:creationId xmlns:a16="http://schemas.microsoft.com/office/drawing/2014/main" id="{158ED0B3-0EFD-824B-A52D-770B8DF4DCE6}"/>
              </a:ext>
            </a:extLst>
          </p:cNvPr>
          <p:cNvSpPr>
            <a:spLocks noChangeArrowheads="1"/>
          </p:cNvSpPr>
          <p:nvPr/>
        </p:nvSpPr>
        <p:spPr bwMode="auto">
          <a:xfrm>
            <a:off x="2971800" y="5562600"/>
            <a:ext cx="5653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20000"/>
              </a:spcBef>
              <a:buClr>
                <a:schemeClr val="folHlink"/>
              </a:buClr>
              <a:buSzPct val="60000"/>
            </a:pPr>
            <a:r>
              <a:rPr lang="en-US" altLang="zh-CN" sz="2400" b="1">
                <a:latin typeface="Times New Roman" panose="02020603050405020304" pitchFamily="18" charset="0"/>
                <a:ea typeface="仿宋" pitchFamily="49" charset="-122"/>
              </a:rPr>
              <a:t>N</a:t>
            </a:r>
            <a:r>
              <a:rPr lang="en-US" altLang="zh-CN" sz="2400" b="1" baseline="-25000">
                <a:latin typeface="Times New Roman" panose="02020603050405020304" pitchFamily="18" charset="0"/>
                <a:ea typeface="仿宋" pitchFamily="49" charset="-122"/>
              </a:rPr>
              <a:t>b</a:t>
            </a:r>
            <a:r>
              <a:rPr lang="en-US" altLang="zh-CN" sz="2400" b="1">
                <a:latin typeface="Times New Roman" panose="02020603050405020304" pitchFamily="18" charset="0"/>
                <a:ea typeface="仿宋" pitchFamily="49" charset="-122"/>
              </a:rPr>
              <a:t>=6</a:t>
            </a:r>
            <a:r>
              <a:rPr lang="zh-CN" altLang="en-US" sz="2400" b="1">
                <a:latin typeface="Times New Roman" panose="02020603050405020304" pitchFamily="18" charset="0"/>
                <a:ea typeface="仿宋" pitchFamily="49" charset="-122"/>
              </a:rPr>
              <a:t>且</a:t>
            </a:r>
            <a:r>
              <a:rPr lang="en-US" altLang="zh-CN" sz="2400" b="1">
                <a:latin typeface="Times New Roman" panose="02020603050405020304" pitchFamily="18" charset="0"/>
                <a:ea typeface="仿宋" pitchFamily="49" charset="-122"/>
              </a:rPr>
              <a:t>N</a:t>
            </a:r>
            <a:r>
              <a:rPr lang="en-US" altLang="zh-CN" sz="2400" b="1" baseline="-25000">
                <a:latin typeface="Times New Roman" panose="02020603050405020304" pitchFamily="18" charset="0"/>
                <a:ea typeface="仿宋" pitchFamily="49" charset="-122"/>
              </a:rPr>
              <a:t>k</a:t>
            </a:r>
            <a:r>
              <a:rPr lang="en-US" altLang="zh-CN" sz="2400" b="1">
                <a:latin typeface="Times New Roman" panose="02020603050405020304" pitchFamily="18" charset="0"/>
                <a:ea typeface="仿宋" pitchFamily="49" charset="-122"/>
              </a:rPr>
              <a:t>=4</a:t>
            </a:r>
            <a:r>
              <a:rPr lang="zh-CN" altLang="en-US" sz="2400" b="1">
                <a:latin typeface="Times New Roman" panose="02020603050405020304" pitchFamily="18" charset="0"/>
                <a:ea typeface="仿宋" pitchFamily="49" charset="-122"/>
              </a:rPr>
              <a:t>时的密钥扩展与轮密钥选取</a:t>
            </a:r>
          </a:p>
        </p:txBody>
      </p:sp>
    </p:spTree>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09" name="Rectangle 2">
            <a:extLst>
              <a:ext uri="{FF2B5EF4-FFF2-40B4-BE49-F238E27FC236}">
                <a16:creationId xmlns:a16="http://schemas.microsoft.com/office/drawing/2014/main" id="{F77B8292-D653-8A43-A2A1-10D8CC4BB0C8}"/>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AES</a:t>
            </a:r>
            <a:r>
              <a:rPr lang="zh-CN" altLang="en-US">
                <a:solidFill>
                  <a:srgbClr val="1F4E79"/>
                </a:solidFill>
              </a:rPr>
              <a:t>加密过程的伪代码</a:t>
            </a:r>
          </a:p>
        </p:txBody>
      </p:sp>
      <p:sp>
        <p:nvSpPr>
          <p:cNvPr id="375810" name="Rectangle 3">
            <a:extLst>
              <a:ext uri="{FF2B5EF4-FFF2-40B4-BE49-F238E27FC236}">
                <a16:creationId xmlns:a16="http://schemas.microsoft.com/office/drawing/2014/main" id="{6D2F96F1-280B-634F-914C-287673E4BD8C}"/>
              </a:ext>
            </a:extLst>
          </p:cNvPr>
          <p:cNvSpPr>
            <a:spLocks noGrp="1" noChangeArrowheads="1"/>
          </p:cNvSpPr>
          <p:nvPr>
            <p:ph idx="1"/>
          </p:nvPr>
        </p:nvSpPr>
        <p:spPr>
          <a:xfrm>
            <a:off x="1600200" y="1143000"/>
            <a:ext cx="10515600" cy="4579938"/>
          </a:xfrm>
        </p:spPr>
        <p:txBody>
          <a:bodyPr/>
          <a:lstStyle/>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Cipher(byte in[4*Nb], byte out[4*Nb], word w[Nb*Nr+1])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begin</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byte state[4,Nb]</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state = in</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AddRoundKey(state, w[0, Nb-1])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for round = 1 step 1 to Nr-1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SubBytes(state)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ShiftRows(state)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MixColumns(state)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AddRoundKey(state, w[round*Nb, (round+1)*Nb-1])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end for</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SubBytes(state)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ShiftRows(state)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AddRoundKey(state, w[Nr*Nb, (Nr+1)*Nb-1])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Out = 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end</a:t>
            </a:r>
          </a:p>
        </p:txBody>
      </p:sp>
    </p:spTree>
  </p:cSld>
  <p:clrMapOvr>
    <a:masterClrMapping/>
  </p:clrMapOvr>
  <p:transition spd="slow"/>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7" name="Rectangle 2">
            <a:extLst>
              <a:ext uri="{FF2B5EF4-FFF2-40B4-BE49-F238E27FC236}">
                <a16:creationId xmlns:a16="http://schemas.microsoft.com/office/drawing/2014/main" id="{0F9BA4E8-1CE4-8F48-9495-66CAF52F6F45}"/>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AES</a:t>
            </a:r>
            <a:r>
              <a:rPr lang="zh-CN" altLang="en-US">
                <a:solidFill>
                  <a:srgbClr val="1F4E79"/>
                </a:solidFill>
              </a:rPr>
              <a:t>解密过程的伪代码</a:t>
            </a:r>
          </a:p>
        </p:txBody>
      </p:sp>
      <p:sp>
        <p:nvSpPr>
          <p:cNvPr id="377858" name="Rectangle 3">
            <a:extLst>
              <a:ext uri="{FF2B5EF4-FFF2-40B4-BE49-F238E27FC236}">
                <a16:creationId xmlns:a16="http://schemas.microsoft.com/office/drawing/2014/main" id="{1D720F65-EE05-B94D-8074-D7706ACC7FB0}"/>
              </a:ext>
            </a:extLst>
          </p:cNvPr>
          <p:cNvSpPr>
            <a:spLocks noGrp="1" noChangeArrowheads="1"/>
          </p:cNvSpPr>
          <p:nvPr>
            <p:ph idx="1"/>
          </p:nvPr>
        </p:nvSpPr>
        <p:spPr>
          <a:xfrm>
            <a:off x="1676400" y="1143000"/>
            <a:ext cx="9525000" cy="5562600"/>
          </a:xfrm>
        </p:spPr>
        <p:txBody>
          <a:bodyPr/>
          <a:lstStyle/>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InvCipher(byte in[4*Nb], byte out[4*Nb], word w[Nb*Nr+1])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begin</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byte state[4,Nb]</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state = in</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AddRoundKey(state, w[Nr*Nb, (Nr+1)*Nb-1])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for round = Nr-1 step -1 downto 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InvShiftRows(state)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InvSubBytes(state)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AddRoundKey(state, w[round*Nb, (round+1)*Nb-1])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InvMixColumns(state)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end for</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SubBytes(state)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ShiftRows(state)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AddRoundKey(state, w[0, Nb-1])</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   Out = state</a:t>
            </a:r>
          </a:p>
          <a:p>
            <a:pPr marL="0" indent="0" eaLnBrk="1" hangingPunct="1">
              <a:lnSpc>
                <a:spcPct val="80000"/>
              </a:lnSpc>
              <a:buFont typeface="Arial" panose="020B0604020202020204" pitchFamily="34" charset="0"/>
              <a:buNone/>
            </a:pPr>
            <a:r>
              <a:rPr lang="en-US" altLang="zh-CN" sz="1800">
                <a:latin typeface="Times New Roman" panose="02020603050405020304" pitchFamily="18" charset="0"/>
              </a:rPr>
              <a:t>end</a:t>
            </a:r>
          </a:p>
        </p:txBody>
      </p:sp>
    </p:spTree>
  </p:cSld>
  <p:clrMapOvr>
    <a:masterClrMapping/>
  </p:clrMapOvr>
  <p:transition spd="slow"/>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5" name="标题 1">
            <a:extLst>
              <a:ext uri="{FF2B5EF4-FFF2-40B4-BE49-F238E27FC236}">
                <a16:creationId xmlns:a16="http://schemas.microsoft.com/office/drawing/2014/main" id="{892F42B4-D30E-0B43-829F-DD9C372F9725}"/>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AES</a:t>
            </a:r>
            <a:r>
              <a:rPr lang="zh-CN" altLang="en-US">
                <a:solidFill>
                  <a:srgbClr val="1F4E79"/>
                </a:solidFill>
              </a:rPr>
              <a:t>密钥编排算法的伪代码</a:t>
            </a:r>
          </a:p>
        </p:txBody>
      </p:sp>
      <p:sp>
        <p:nvSpPr>
          <p:cNvPr id="379906" name="内容占位符 2">
            <a:extLst>
              <a:ext uri="{FF2B5EF4-FFF2-40B4-BE49-F238E27FC236}">
                <a16:creationId xmlns:a16="http://schemas.microsoft.com/office/drawing/2014/main" id="{7ADA9903-CEFA-0A42-82B3-D75841915DAC}"/>
              </a:ext>
            </a:extLst>
          </p:cNvPr>
          <p:cNvSpPr>
            <a:spLocks noGrp="1" noChangeArrowheads="1"/>
          </p:cNvSpPr>
          <p:nvPr>
            <p:ph idx="1"/>
          </p:nvPr>
        </p:nvSpPr>
        <p:spPr>
          <a:xfrm>
            <a:off x="1371600" y="1190625"/>
            <a:ext cx="10515600" cy="5656263"/>
          </a:xfrm>
        </p:spPr>
        <p:txBody>
          <a:bodyPr/>
          <a:lstStyle/>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KeyExpansion (byte key[4*Nk] , word w[Nb*(Nr+1)], Nk)</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begin </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word temp</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i=0</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while (i&lt;Nk)</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w[i]=word(Key[4* i], Key[4* i +1], Key[4* i +2], Key[4* i +3] )</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i=i+1</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end while</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i=Nk</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while(i&lt;Nb*(Nr+1))</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temp=W[i-1]</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if (I mod Nk= =0)</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temp=SubByte (RotByte (temp)) xor Rcon[i /Nk]</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else if (Nk&gt;6 and i mod Nk = 4)</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temp=SubWord(temp)</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end if</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w[i]=w[i-Nk ] xor temp</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            end while</a:t>
            </a:r>
          </a:p>
          <a:p>
            <a:pPr marL="0" indent="0">
              <a:lnSpc>
                <a:spcPct val="80000"/>
              </a:lnSpc>
              <a:spcBef>
                <a:spcPts val="600"/>
              </a:spcBef>
              <a:buFont typeface="Arial" panose="020B0604020202020204" pitchFamily="34" charset="0"/>
              <a:buNone/>
            </a:pPr>
            <a:r>
              <a:rPr lang="en-US" altLang="zh-CN" sz="1800">
                <a:latin typeface="Times New Roman" panose="02020603050405020304" pitchFamily="18" charset="0"/>
              </a:rPr>
              <a:t>end</a:t>
            </a:r>
          </a:p>
          <a:p>
            <a:pPr marL="0" indent="0">
              <a:lnSpc>
                <a:spcPct val="80000"/>
              </a:lnSpc>
              <a:spcBef>
                <a:spcPts val="600"/>
              </a:spcBef>
              <a:buFont typeface="Arial" panose="020B0604020202020204" pitchFamily="34" charset="0"/>
              <a:buNone/>
            </a:pPr>
            <a:endParaRPr lang="zh-CN" altLang="en-US" sz="1800">
              <a:latin typeface="Times New Roman" panose="02020603050405020304" pitchFamily="18" charset="0"/>
            </a:endParaRPr>
          </a:p>
        </p:txBody>
      </p:sp>
    </p:spTree>
  </p:cSld>
  <p:clrMapOvr>
    <a:masterClrMapping/>
  </p:clrMapOvr>
  <p:transition spd="slow"/>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3" name="副标题 2">
            <a:extLst>
              <a:ext uri="{FF2B5EF4-FFF2-40B4-BE49-F238E27FC236}">
                <a16:creationId xmlns:a16="http://schemas.microsoft.com/office/drawing/2014/main" id="{B84299CD-CACF-AA44-BAD3-81B304C04447}"/>
              </a:ext>
            </a:extLst>
          </p:cNvPr>
          <p:cNvSpPr>
            <a:spLocks noGrp="1" noChangeArrowheads="1"/>
          </p:cNvSpPr>
          <p:nvPr>
            <p:ph type="subTitle" idx="1"/>
          </p:nvPr>
        </p:nvSpPr>
        <p:spPr>
          <a:xfrm>
            <a:off x="0" y="3048000"/>
            <a:ext cx="12192000" cy="790575"/>
          </a:xfrm>
        </p:spPr>
        <p:txBody>
          <a:bodyPr/>
          <a:lstStyle/>
          <a:p>
            <a:r>
              <a:rPr lang="en-US" altLang="zh-CN" sz="3600" b="1"/>
              <a:t>SM4</a:t>
            </a:r>
            <a:r>
              <a:rPr lang="zh-CN" altLang="en-US" sz="3600" b="1"/>
              <a:t>算法</a:t>
            </a:r>
            <a:endParaRPr lang="en-US" altLang="zh-CN" sz="3600" b="1"/>
          </a:p>
        </p:txBody>
      </p:sp>
    </p:spTree>
  </p:cSld>
  <p:clrMapOvr>
    <a:masterClrMapping/>
  </p:clrMapOvr>
  <p:transition spd="slow">
    <p:random/>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E346EAAD-FC74-1145-8D6C-C67ADAA0613E}"/>
              </a:ext>
            </a:extLst>
          </p:cNvPr>
          <p:cNvSpPr>
            <a:spLocks noGrp="1" noChangeArrowheads="1"/>
          </p:cNvSpPr>
          <p:nvPr>
            <p:ph type="title"/>
          </p:nvPr>
        </p:nvSpPr>
        <p:spPr>
          <a:xfrm>
            <a:off x="1465263" y="365125"/>
            <a:ext cx="9037637" cy="668338"/>
          </a:xfrm>
        </p:spPr>
        <p:txBody>
          <a:bodyPr/>
          <a:lstStyle/>
          <a:p>
            <a:pPr eaLnBrk="1" hangingPunct="1">
              <a:defRPr/>
            </a:pPr>
            <a:r>
              <a:rPr lang="en-US" altLang="zh-CN" dirty="0"/>
              <a:t>SM4</a:t>
            </a:r>
            <a:r>
              <a:rPr lang="zh-CN" altLang="en-US" dirty="0"/>
              <a:t>概况</a:t>
            </a:r>
          </a:p>
        </p:txBody>
      </p:sp>
      <p:sp>
        <p:nvSpPr>
          <p:cNvPr id="384002" name="Rectangle 3">
            <a:extLst>
              <a:ext uri="{FF2B5EF4-FFF2-40B4-BE49-F238E27FC236}">
                <a16:creationId xmlns:a16="http://schemas.microsoft.com/office/drawing/2014/main" id="{AE2DAE2C-9586-CC48-86CA-49C90F981999}"/>
              </a:ext>
            </a:extLst>
          </p:cNvPr>
          <p:cNvSpPr>
            <a:spLocks noGrp="1" noChangeArrowheads="1"/>
          </p:cNvSpPr>
          <p:nvPr>
            <p:ph idx="1"/>
          </p:nvPr>
        </p:nvSpPr>
        <p:spPr>
          <a:xfrm>
            <a:off x="823913" y="1143000"/>
            <a:ext cx="10515600" cy="4902200"/>
          </a:xfrm>
        </p:spPr>
        <p:txBody>
          <a:bodyPr/>
          <a:lstStyle/>
          <a:p>
            <a:pPr eaLnBrk="1" hangingPunct="1">
              <a:lnSpc>
                <a:spcPct val="120000"/>
              </a:lnSpc>
            </a:pPr>
            <a:r>
              <a:rPr lang="en-US" altLang="zh-CN">
                <a:latin typeface="Times New Roman" panose="02020603050405020304" pitchFamily="18" charset="0"/>
              </a:rPr>
              <a:t>SM4</a:t>
            </a:r>
            <a:r>
              <a:rPr lang="zh-CN" altLang="en-US">
                <a:latin typeface="Times New Roman" panose="02020603050405020304" pitchFamily="18" charset="0"/>
              </a:rPr>
              <a:t>分组密码算法是国家密码管理局于</a:t>
            </a:r>
            <a:r>
              <a:rPr lang="en-US" altLang="zh-CN">
                <a:latin typeface="Times New Roman" panose="02020603050405020304" pitchFamily="18" charset="0"/>
              </a:rPr>
              <a:t>2006</a:t>
            </a:r>
            <a:r>
              <a:rPr lang="zh-CN" altLang="en-US">
                <a:latin typeface="Times New Roman" panose="02020603050405020304" pitchFamily="18" charset="0"/>
              </a:rPr>
              <a:t>年</a:t>
            </a:r>
            <a:r>
              <a:rPr lang="en-US" altLang="zh-CN">
                <a:latin typeface="Times New Roman" panose="02020603050405020304" pitchFamily="18" charset="0"/>
              </a:rPr>
              <a:t>1</a:t>
            </a:r>
            <a:r>
              <a:rPr lang="zh-CN" altLang="en-US">
                <a:latin typeface="Times New Roman" panose="02020603050405020304" pitchFamily="18" charset="0"/>
              </a:rPr>
              <a:t>月</a:t>
            </a:r>
            <a:r>
              <a:rPr lang="en-US" altLang="zh-CN">
                <a:latin typeface="Times New Roman" panose="02020603050405020304" pitchFamily="18" charset="0"/>
              </a:rPr>
              <a:t>6</a:t>
            </a:r>
            <a:r>
              <a:rPr lang="zh-CN" altLang="en-US">
                <a:latin typeface="Times New Roman" panose="02020603050405020304" pitchFamily="18" charset="0"/>
              </a:rPr>
              <a:t>日公布的无线局域网产品使用的密码算法，是</a:t>
            </a:r>
            <a:r>
              <a:rPr lang="zh-CN" altLang="en-US" u="sng">
                <a:latin typeface="Times New Roman" panose="02020603050405020304" pitchFamily="18" charset="0"/>
              </a:rPr>
              <a:t>国内官方公布的第一个商用密码算法</a:t>
            </a:r>
            <a:r>
              <a:rPr lang="zh-CN" altLang="en-US">
                <a:latin typeface="Times New Roman" panose="02020603050405020304" pitchFamily="18" charset="0"/>
              </a:rPr>
              <a:t>。</a:t>
            </a:r>
          </a:p>
          <a:p>
            <a:pPr eaLnBrk="1" hangingPunct="1">
              <a:lnSpc>
                <a:spcPct val="120000"/>
              </a:lnSpc>
            </a:pPr>
            <a:r>
              <a:rPr lang="en-US" altLang="zh-CN">
                <a:latin typeface="Times New Roman" panose="02020603050405020304" pitchFamily="18" charset="0"/>
              </a:rPr>
              <a:t>SM4</a:t>
            </a:r>
            <a:r>
              <a:rPr lang="zh-CN" altLang="en-US">
                <a:latin typeface="Times New Roman" panose="02020603050405020304" pitchFamily="18" charset="0"/>
              </a:rPr>
              <a:t>是一个分组密码算法，</a:t>
            </a:r>
            <a:r>
              <a:rPr lang="zh-CN" altLang="en-US" u="sng">
                <a:latin typeface="Times New Roman" panose="02020603050405020304" pitchFamily="18" charset="0"/>
              </a:rPr>
              <a:t>分组长度和密钥长度均为</a:t>
            </a:r>
            <a:r>
              <a:rPr lang="en-US" altLang="zh-CN" u="sng">
                <a:latin typeface="Times New Roman" panose="02020603050405020304" pitchFamily="18" charset="0"/>
              </a:rPr>
              <a:t>128</a:t>
            </a:r>
            <a:r>
              <a:rPr lang="zh-CN" altLang="en-US" u="sng">
                <a:latin typeface="Times New Roman" panose="02020603050405020304" pitchFamily="18" charset="0"/>
              </a:rPr>
              <a:t>比特</a:t>
            </a:r>
            <a:r>
              <a:rPr lang="zh-CN" altLang="en-US">
                <a:latin typeface="Times New Roman" panose="02020603050405020304" pitchFamily="18" charset="0"/>
              </a:rPr>
              <a:t>。加密算法与密钥扩展算法都采用</a:t>
            </a:r>
            <a:r>
              <a:rPr lang="en-US" altLang="zh-CN" u="sng">
                <a:latin typeface="Times New Roman" panose="02020603050405020304" pitchFamily="18" charset="0"/>
              </a:rPr>
              <a:t>32</a:t>
            </a:r>
            <a:r>
              <a:rPr lang="zh-CN" altLang="en-US" u="sng">
                <a:latin typeface="Times New Roman" panose="02020603050405020304" pitchFamily="18" charset="0"/>
              </a:rPr>
              <a:t>轮非线性迭代结构</a:t>
            </a:r>
            <a:r>
              <a:rPr lang="zh-CN" altLang="en-US">
                <a:latin typeface="Times New Roman" panose="02020603050405020304" pitchFamily="18" charset="0"/>
              </a:rPr>
              <a:t>。</a:t>
            </a:r>
          </a:p>
          <a:p>
            <a:pPr eaLnBrk="1" hangingPunct="1">
              <a:lnSpc>
                <a:spcPct val="120000"/>
              </a:lnSpc>
            </a:pPr>
            <a:r>
              <a:rPr lang="zh-CN" altLang="en-US">
                <a:latin typeface="Times New Roman" panose="02020603050405020304" pitchFamily="18" charset="0"/>
              </a:rPr>
              <a:t>它的解密算法与加密算法的结构相同，只是轮密钥的使用顺序相反，解密轮密钥是加密轮密钥的逆序。 </a:t>
            </a:r>
          </a:p>
        </p:txBody>
      </p:sp>
    </p:spTree>
  </p:cSld>
  <p:clrMapOvr>
    <a:masterClrMapping/>
  </p:clrMapOvr>
  <p:transition spd="slow"/>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49" name="Rectangle 2">
            <a:extLst>
              <a:ext uri="{FF2B5EF4-FFF2-40B4-BE49-F238E27FC236}">
                <a16:creationId xmlns:a16="http://schemas.microsoft.com/office/drawing/2014/main" id="{F6C61EB7-2A1A-A142-8D41-B690BC925C94}"/>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SM4</a:t>
            </a:r>
            <a:r>
              <a:rPr lang="zh-CN" altLang="en-US">
                <a:solidFill>
                  <a:srgbClr val="1F4E79"/>
                </a:solidFill>
              </a:rPr>
              <a:t>算法的术语说明</a:t>
            </a:r>
          </a:p>
        </p:txBody>
      </p:sp>
      <p:sp>
        <p:nvSpPr>
          <p:cNvPr id="386050" name="Rectangle 3">
            <a:extLst>
              <a:ext uri="{FF2B5EF4-FFF2-40B4-BE49-F238E27FC236}">
                <a16:creationId xmlns:a16="http://schemas.microsoft.com/office/drawing/2014/main" id="{8FF3D98A-1BE3-FD45-8E26-EF2B1BCACFAC}"/>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表示</a:t>
            </a:r>
            <a:r>
              <a:rPr lang="en-US" altLang="zh-CN" sz="2800" dirty="0">
                <a:latin typeface="Times New Roman" panose="02020603050405020304" pitchFamily="18" charset="0"/>
              </a:rPr>
              <a:t>e-</a:t>
            </a:r>
            <a:r>
              <a:rPr lang="zh-CN" altLang="en-US" sz="2800" dirty="0">
                <a:latin typeface="Times New Roman" panose="02020603050405020304" pitchFamily="18" charset="0"/>
              </a:rPr>
              <a:t>比特的向量集，   中的元素称为字节，    中的元素称为字</a:t>
            </a:r>
            <a:endParaRPr lang="en-US" altLang="zh-CN" sz="2800" dirty="0">
              <a:latin typeface="Times New Roman" panose="02020603050405020304" pitchFamily="18" charset="0"/>
            </a:endParaRPr>
          </a:p>
          <a:p>
            <a:pPr eaLnBrk="1" hangingPunct="1">
              <a:lnSpc>
                <a:spcPct val="120000"/>
              </a:lnSpc>
            </a:pPr>
            <a:r>
              <a:rPr lang="en-US" altLang="zh-CN" sz="2800" dirty="0">
                <a:latin typeface="Times New Roman" panose="02020603050405020304" pitchFamily="18" charset="0"/>
              </a:rPr>
              <a:t>S</a:t>
            </a:r>
            <a:r>
              <a:rPr lang="zh-CN" altLang="en-US" sz="2800" dirty="0">
                <a:latin typeface="Times New Roman" panose="02020603050405020304" pitchFamily="18" charset="0"/>
              </a:rPr>
              <a:t>盒是一个固定的</a:t>
            </a:r>
            <a:r>
              <a:rPr lang="en-US" altLang="zh-CN" sz="2800" dirty="0">
                <a:latin typeface="Times New Roman" panose="02020603050405020304" pitchFamily="18" charset="0"/>
              </a:rPr>
              <a:t>8</a:t>
            </a:r>
            <a:r>
              <a:rPr lang="zh-CN" altLang="en-US" sz="2800" dirty="0">
                <a:latin typeface="Times New Roman" panose="02020603050405020304" pitchFamily="18" charset="0"/>
              </a:rPr>
              <a:t>比特输入</a:t>
            </a:r>
            <a:r>
              <a:rPr lang="en-US" altLang="zh-CN" sz="2800" dirty="0">
                <a:latin typeface="Times New Roman" panose="02020603050405020304" pitchFamily="18" charset="0"/>
              </a:rPr>
              <a:t>8</a:t>
            </a:r>
            <a:r>
              <a:rPr lang="zh-CN" altLang="en-US" sz="2800" dirty="0">
                <a:latin typeface="Times New Roman" panose="02020603050405020304" pitchFamily="18" charset="0"/>
              </a:rPr>
              <a:t>比特输出的置换，记为</a:t>
            </a:r>
          </a:p>
          <a:p>
            <a:pPr eaLnBrk="1" hangingPunct="1">
              <a:lnSpc>
                <a:spcPct val="120000"/>
              </a:lnSpc>
            </a:pPr>
            <a:r>
              <a:rPr lang="en-US" altLang="zh-CN" sz="2800" dirty="0">
                <a:latin typeface="Times New Roman" panose="02020603050405020304" pitchFamily="18" charset="0"/>
              </a:rPr>
              <a:t>SM4</a:t>
            </a:r>
            <a:r>
              <a:rPr lang="zh-CN" altLang="en-US" sz="2800" dirty="0">
                <a:latin typeface="Times New Roman" panose="02020603050405020304" pitchFamily="18" charset="0"/>
              </a:rPr>
              <a:t>中的采用了两个基本运算：  ，</a:t>
            </a:r>
            <a:r>
              <a:rPr lang="en-US" altLang="zh-CN" sz="2800" dirty="0">
                <a:latin typeface="Times New Roman" panose="02020603050405020304" pitchFamily="18" charset="0"/>
              </a:rPr>
              <a:t>32</a:t>
            </a:r>
            <a:r>
              <a:rPr lang="zh-CN" altLang="en-US" sz="2800" dirty="0">
                <a:latin typeface="Times New Roman" panose="02020603050405020304" pitchFamily="18" charset="0"/>
              </a:rPr>
              <a:t>比特异或；        ，</a:t>
            </a:r>
            <a:r>
              <a:rPr lang="en-US" altLang="zh-CN" sz="2800" dirty="0">
                <a:latin typeface="Times New Roman" panose="02020603050405020304" pitchFamily="18" charset="0"/>
              </a:rPr>
              <a:t>32</a:t>
            </a:r>
            <a:r>
              <a:rPr lang="zh-CN" altLang="en-US" sz="2800" dirty="0">
                <a:latin typeface="Times New Roman" panose="02020603050405020304" pitchFamily="18" charset="0"/>
              </a:rPr>
              <a:t>比特循环左移 </a:t>
            </a:r>
            <a:r>
              <a:rPr lang="en-US" altLang="zh-CN" sz="2800" i="1" dirty="0" err="1">
                <a:latin typeface="Times New Roman" panose="02020603050405020304" pitchFamily="18" charset="0"/>
              </a:rPr>
              <a:t>i</a:t>
            </a:r>
            <a:r>
              <a:rPr lang="en-US" altLang="zh-CN" sz="2800" i="1" dirty="0">
                <a:latin typeface="Times New Roman" panose="02020603050405020304" pitchFamily="18" charset="0"/>
              </a:rPr>
              <a:t> </a:t>
            </a:r>
            <a:r>
              <a:rPr lang="zh-CN" altLang="en-US" sz="2800" dirty="0">
                <a:latin typeface="Times New Roman" panose="02020603050405020304" pitchFamily="18" charset="0"/>
              </a:rPr>
              <a:t>位。</a:t>
            </a:r>
          </a:p>
          <a:p>
            <a:pPr eaLnBrk="1" hangingPunct="1">
              <a:lnSpc>
                <a:spcPct val="120000"/>
              </a:lnSpc>
              <a:buFont typeface="Wingdings" pitchFamily="2" charset="2"/>
              <a:buNone/>
            </a:pPr>
            <a:endParaRPr lang="en-US" altLang="zh-CN" sz="2800" dirty="0">
              <a:latin typeface="Times New Roman" panose="02020603050405020304" pitchFamily="18" charset="0"/>
            </a:endParaRPr>
          </a:p>
        </p:txBody>
      </p:sp>
      <p:sp>
        <p:nvSpPr>
          <p:cNvPr id="386051" name="Rectangle 5">
            <a:extLst>
              <a:ext uri="{FF2B5EF4-FFF2-40B4-BE49-F238E27FC236}">
                <a16:creationId xmlns:a16="http://schemas.microsoft.com/office/drawing/2014/main" id="{6D6F7D70-3B14-E042-ACAD-66DEAFAA009F}"/>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86052" name="Rectangle 7">
            <a:extLst>
              <a:ext uri="{FF2B5EF4-FFF2-40B4-BE49-F238E27FC236}">
                <a16:creationId xmlns:a16="http://schemas.microsoft.com/office/drawing/2014/main" id="{F18CB425-CA4F-734B-958D-02DF92721C43}"/>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mc:AlternateContent xmlns:mc="http://schemas.openxmlformats.org/markup-compatibility/2006" xmlns:a14="http://schemas.microsoft.com/office/drawing/2010/main">
        <mc:Choice Requires="a14">
          <p:sp>
            <p:nvSpPr>
              <p:cNvPr id="386053" name="Object 6">
                <a:extLst>
                  <a:ext uri="{FF2B5EF4-FFF2-40B4-BE49-F238E27FC236}">
                    <a16:creationId xmlns:a16="http://schemas.microsoft.com/office/drawing/2014/main" id="{139F1514-1F21-544F-B159-FA96F98FF481}"/>
                  </a:ext>
                </a:extLst>
              </p:cNvPr>
              <p:cNvSpPr txBox="1"/>
              <p:nvPr/>
            </p:nvSpPr>
            <p:spPr bwMode="auto">
              <a:xfrm>
                <a:off x="5137150" y="1466850"/>
                <a:ext cx="501650" cy="56515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𝑍</m:t>
                          </m:r>
                        </m:e>
                        <m:sub>
                          <m:r>
                            <a:rPr lang="zh-CN" altLang="en-US" sz="2400" i="1">
                              <a:solidFill>
                                <a:srgbClr val="000000"/>
                              </a:solidFill>
                              <a:latin typeface="Cambria Math" panose="02040503050406030204" pitchFamily="18" charset="0"/>
                            </a:rPr>
                            <m:t>2</m:t>
                          </m:r>
                        </m:sub>
                        <m:sup>
                          <m:r>
                            <a:rPr lang="zh-CN" altLang="en-US" sz="2400" i="1">
                              <a:solidFill>
                                <a:srgbClr val="000000"/>
                              </a:solidFill>
                              <a:latin typeface="Cambria Math" panose="02040503050406030204" pitchFamily="18" charset="0"/>
                            </a:rPr>
                            <m:t>8</m:t>
                          </m:r>
                        </m:sup>
                      </m:sSubSup>
                    </m:oMath>
                  </m:oMathPara>
                </a14:m>
                <a:endParaRPr lang="zh-CN" altLang="en-US" sz="2400" dirty="0"/>
              </a:p>
            </p:txBody>
          </p:sp>
        </mc:Choice>
        <mc:Fallback xmlns="">
          <p:sp>
            <p:nvSpPr>
              <p:cNvPr id="386053" name="Object 6">
                <a:extLst>
                  <a:ext uri="{FF2B5EF4-FFF2-40B4-BE49-F238E27FC236}">
                    <a16:creationId xmlns:a16="http://schemas.microsoft.com/office/drawing/2014/main" id="{139F1514-1F21-544F-B159-FA96F98FF481}"/>
                  </a:ext>
                </a:extLst>
              </p:cNvPr>
              <p:cNvSpPr txBox="1">
                <a:spLocks noRot="1" noChangeAspect="1" noMove="1" noResize="1" noEditPoints="1" noAdjustHandles="1" noChangeArrowheads="1" noChangeShapeType="1" noTextEdit="1"/>
              </p:cNvSpPr>
              <p:nvPr/>
            </p:nvSpPr>
            <p:spPr bwMode="auto">
              <a:xfrm>
                <a:off x="5137150" y="1466850"/>
                <a:ext cx="501650" cy="565150"/>
              </a:xfrm>
              <a:prstGeom prst="rect">
                <a:avLst/>
              </a:prstGeom>
              <a:blipFill>
                <a:blip r:embed="rId3"/>
                <a:stretch>
                  <a:fillRect l="-2439"/>
                </a:stretch>
              </a:blipFill>
              <a:ln>
                <a:noFill/>
              </a:ln>
            </p:spPr>
            <p:txBody>
              <a:bodyPr/>
              <a:lstStyle/>
              <a:p>
                <a:r>
                  <a:rPr lang="en-CN">
                    <a:noFill/>
                  </a:rPr>
                  <a:t> </a:t>
                </a:r>
              </a:p>
            </p:txBody>
          </p:sp>
        </mc:Fallback>
      </mc:AlternateContent>
      <p:sp>
        <p:nvSpPr>
          <p:cNvPr id="386054" name="Rectangle 9">
            <a:extLst>
              <a:ext uri="{FF2B5EF4-FFF2-40B4-BE49-F238E27FC236}">
                <a16:creationId xmlns:a16="http://schemas.microsoft.com/office/drawing/2014/main" id="{DF5BEC48-6AF6-894A-8C5E-1C97F46923AD}"/>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mc:AlternateContent xmlns:mc="http://schemas.openxmlformats.org/markup-compatibility/2006" xmlns:a14="http://schemas.microsoft.com/office/drawing/2010/main">
        <mc:Choice Requires="a14">
          <p:sp>
            <p:nvSpPr>
              <p:cNvPr id="386055" name="Object 8">
                <a:extLst>
                  <a:ext uri="{FF2B5EF4-FFF2-40B4-BE49-F238E27FC236}">
                    <a16:creationId xmlns:a16="http://schemas.microsoft.com/office/drawing/2014/main" id="{DF8637AE-D77D-9E44-BE11-92DFC7DC1FAC}"/>
                  </a:ext>
                </a:extLst>
              </p:cNvPr>
              <p:cNvSpPr txBox="1"/>
              <p:nvPr/>
            </p:nvSpPr>
            <p:spPr bwMode="auto">
              <a:xfrm>
                <a:off x="8686800" y="1490663"/>
                <a:ext cx="563563" cy="541337"/>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𝑍</m:t>
                          </m:r>
                        </m:e>
                        <m:sub>
                          <m:r>
                            <a:rPr lang="zh-CN" altLang="en-US" sz="2400" i="1">
                              <a:solidFill>
                                <a:srgbClr val="000000"/>
                              </a:solidFill>
                              <a:latin typeface="Cambria Math" panose="02040503050406030204" pitchFamily="18" charset="0"/>
                            </a:rPr>
                            <m:t>2</m:t>
                          </m:r>
                        </m:sub>
                        <m:sup>
                          <m:r>
                            <a:rPr lang="zh-CN" altLang="en-US" sz="2400" i="1">
                              <a:solidFill>
                                <a:srgbClr val="000000"/>
                              </a:solidFill>
                              <a:latin typeface="Cambria Math" panose="02040503050406030204" pitchFamily="18" charset="0"/>
                            </a:rPr>
                            <m:t>32</m:t>
                          </m:r>
                        </m:sup>
                      </m:sSubSup>
                    </m:oMath>
                  </m:oMathPara>
                </a14:m>
                <a:endParaRPr lang="zh-CN" altLang="en-US" sz="2400" dirty="0"/>
              </a:p>
            </p:txBody>
          </p:sp>
        </mc:Choice>
        <mc:Fallback xmlns="">
          <p:sp>
            <p:nvSpPr>
              <p:cNvPr id="386055" name="Object 8">
                <a:extLst>
                  <a:ext uri="{FF2B5EF4-FFF2-40B4-BE49-F238E27FC236}">
                    <a16:creationId xmlns:a16="http://schemas.microsoft.com/office/drawing/2014/main" id="{DF8637AE-D77D-9E44-BE11-92DFC7DC1FAC}"/>
                  </a:ext>
                </a:extLst>
              </p:cNvPr>
              <p:cNvSpPr txBox="1">
                <a:spLocks noRot="1" noChangeAspect="1" noMove="1" noResize="1" noEditPoints="1" noAdjustHandles="1" noChangeArrowheads="1" noChangeShapeType="1" noTextEdit="1"/>
              </p:cNvSpPr>
              <p:nvPr/>
            </p:nvSpPr>
            <p:spPr bwMode="auto">
              <a:xfrm>
                <a:off x="8686800" y="1490663"/>
                <a:ext cx="563563" cy="541337"/>
              </a:xfrm>
              <a:prstGeom prst="rect">
                <a:avLst/>
              </a:prstGeom>
              <a:blipFill>
                <a:blip r:embed="rId4"/>
                <a:stretch>
                  <a:fillRect l="-2222" r="-8889"/>
                </a:stretch>
              </a:blipFill>
              <a:ln>
                <a:noFill/>
              </a:ln>
            </p:spPr>
            <p:txBody>
              <a:bodyPr/>
              <a:lstStyle/>
              <a:p>
                <a:r>
                  <a:rPr lang="en-CN">
                    <a:noFill/>
                  </a:rPr>
                  <a:t> </a:t>
                </a:r>
              </a:p>
            </p:txBody>
          </p:sp>
        </mc:Fallback>
      </mc:AlternateContent>
      <p:sp>
        <p:nvSpPr>
          <p:cNvPr id="386056" name="Rectangle 11">
            <a:extLst>
              <a:ext uri="{FF2B5EF4-FFF2-40B4-BE49-F238E27FC236}">
                <a16:creationId xmlns:a16="http://schemas.microsoft.com/office/drawing/2014/main" id="{5D27B839-18B5-D446-8B61-FA0E11E318BA}"/>
              </a:ext>
            </a:extLst>
          </p:cNvPr>
          <p:cNvSpPr>
            <a:spLocks noChangeArrowheads="1"/>
          </p:cNvSpPr>
          <p:nvPr/>
        </p:nvSpPr>
        <p:spPr bwMode="auto">
          <a:xfrm>
            <a:off x="1524000" y="316388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mc:AlternateContent xmlns:mc="http://schemas.openxmlformats.org/markup-compatibility/2006" xmlns:a14="http://schemas.microsoft.com/office/drawing/2010/main">
        <mc:Choice Requires="a14">
          <p:sp>
            <p:nvSpPr>
              <p:cNvPr id="386057" name="Object 10">
                <a:extLst>
                  <a:ext uri="{FF2B5EF4-FFF2-40B4-BE49-F238E27FC236}">
                    <a16:creationId xmlns:a16="http://schemas.microsoft.com/office/drawing/2014/main" id="{81F29519-A27F-0242-A8BF-FE8E1BB07E47}"/>
                  </a:ext>
                </a:extLst>
              </p:cNvPr>
              <p:cNvSpPr txBox="1"/>
              <p:nvPr/>
            </p:nvSpPr>
            <p:spPr bwMode="auto">
              <a:xfrm>
                <a:off x="9134475" y="2681683"/>
                <a:ext cx="1089025" cy="438150"/>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𝑆𝑏𝑜𝑥</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386057" name="Object 10">
                <a:extLst>
                  <a:ext uri="{FF2B5EF4-FFF2-40B4-BE49-F238E27FC236}">
                    <a16:creationId xmlns:a16="http://schemas.microsoft.com/office/drawing/2014/main" id="{81F29519-A27F-0242-A8BF-FE8E1BB07E47}"/>
                  </a:ext>
                </a:extLst>
              </p:cNvPr>
              <p:cNvSpPr txBox="1">
                <a:spLocks noRot="1" noChangeAspect="1" noMove="1" noResize="1" noEditPoints="1" noAdjustHandles="1" noChangeArrowheads="1" noChangeShapeType="1" noTextEdit="1"/>
              </p:cNvSpPr>
              <p:nvPr/>
            </p:nvSpPr>
            <p:spPr bwMode="auto">
              <a:xfrm>
                <a:off x="9134475" y="2681683"/>
                <a:ext cx="1089025" cy="438150"/>
              </a:xfrm>
              <a:prstGeom prst="rect">
                <a:avLst/>
              </a:prstGeom>
              <a:blipFill>
                <a:blip r:embed="rId5"/>
                <a:stretch>
                  <a:fillRect l="-2326" r="-16279" b="-25714"/>
                </a:stretch>
              </a:blipFill>
              <a:ln>
                <a:noFill/>
              </a:ln>
            </p:spPr>
            <p:txBody>
              <a:bodyPr/>
              <a:lstStyle/>
              <a:p>
                <a:r>
                  <a:rPr lang="en-CN">
                    <a:noFill/>
                  </a:rPr>
                  <a:t> </a:t>
                </a:r>
              </a:p>
            </p:txBody>
          </p:sp>
        </mc:Fallback>
      </mc:AlternateContent>
      <p:sp>
        <p:nvSpPr>
          <p:cNvPr id="386058" name="Rectangle 13">
            <a:extLst>
              <a:ext uri="{FF2B5EF4-FFF2-40B4-BE49-F238E27FC236}">
                <a16:creationId xmlns:a16="http://schemas.microsoft.com/office/drawing/2014/main" id="{10985A16-0CE7-724B-B092-8DED03887D46}"/>
              </a:ext>
            </a:extLst>
          </p:cNvPr>
          <p:cNvSpPr>
            <a:spLocks noChangeArrowheads="1"/>
          </p:cNvSpPr>
          <p:nvPr/>
        </p:nvSpPr>
        <p:spPr bwMode="auto">
          <a:xfrm>
            <a:off x="1524000" y="31686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mc:AlternateContent xmlns:mc="http://schemas.openxmlformats.org/markup-compatibility/2006" xmlns:a14="http://schemas.microsoft.com/office/drawing/2010/main">
        <mc:Choice Requires="a14">
          <p:sp>
            <p:nvSpPr>
              <p:cNvPr id="386059" name="Object 12">
                <a:extLst>
                  <a:ext uri="{FF2B5EF4-FFF2-40B4-BE49-F238E27FC236}">
                    <a16:creationId xmlns:a16="http://schemas.microsoft.com/office/drawing/2014/main" id="{BB7B2AE6-92DB-9746-A861-50F5DEA71ECA}"/>
                  </a:ext>
                </a:extLst>
              </p:cNvPr>
              <p:cNvSpPr txBox="1"/>
              <p:nvPr/>
            </p:nvSpPr>
            <p:spPr bwMode="auto">
              <a:xfrm>
                <a:off x="5943600" y="3260725"/>
                <a:ext cx="506413" cy="5334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386059" name="Object 12">
                <a:extLst>
                  <a:ext uri="{FF2B5EF4-FFF2-40B4-BE49-F238E27FC236}">
                    <a16:creationId xmlns:a16="http://schemas.microsoft.com/office/drawing/2014/main" id="{BB7B2AE6-92DB-9746-A861-50F5DEA71ECA}"/>
                  </a:ext>
                </a:extLst>
              </p:cNvPr>
              <p:cNvSpPr txBox="1">
                <a:spLocks noRot="1" noChangeAspect="1" noMove="1" noResize="1" noEditPoints="1" noAdjustHandles="1" noChangeArrowheads="1" noChangeShapeType="1" noTextEdit="1"/>
              </p:cNvSpPr>
              <p:nvPr/>
            </p:nvSpPr>
            <p:spPr bwMode="auto">
              <a:xfrm>
                <a:off x="5943600" y="3260725"/>
                <a:ext cx="506413" cy="533400"/>
              </a:xfrm>
              <a:prstGeom prst="rect">
                <a:avLst/>
              </a:prstGeom>
              <a:blipFill>
                <a:blip r:embed="rId6"/>
                <a:stretch>
                  <a:fillRect l="-7500" r="-7500"/>
                </a:stretch>
              </a:blipFill>
              <a:ln>
                <a:noFill/>
              </a:ln>
            </p:spPr>
            <p:txBody>
              <a:bodyPr/>
              <a:lstStyle/>
              <a:p>
                <a:r>
                  <a:rPr lang="en-CN">
                    <a:noFill/>
                  </a:rPr>
                  <a:t> </a:t>
                </a:r>
              </a:p>
            </p:txBody>
          </p:sp>
        </mc:Fallback>
      </mc:AlternateContent>
      <p:sp>
        <p:nvSpPr>
          <p:cNvPr id="386060" name="Rectangle 15">
            <a:extLst>
              <a:ext uri="{FF2B5EF4-FFF2-40B4-BE49-F238E27FC236}">
                <a16:creationId xmlns:a16="http://schemas.microsoft.com/office/drawing/2014/main" id="{5D2152EE-3354-C143-AB86-8BD259A9DF0E}"/>
              </a:ext>
            </a:extLst>
          </p:cNvPr>
          <p:cNvSpPr>
            <a:spLocks noChangeArrowheads="1"/>
          </p:cNvSpPr>
          <p:nvPr/>
        </p:nvSpPr>
        <p:spPr bwMode="auto">
          <a:xfrm>
            <a:off x="1524000" y="31734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mc:AlternateContent xmlns:mc="http://schemas.openxmlformats.org/markup-compatibility/2006" xmlns:a14="http://schemas.microsoft.com/office/drawing/2010/main">
        <mc:Choice Requires="a14">
          <p:sp>
            <p:nvSpPr>
              <p:cNvPr id="386061" name="Object 14">
                <a:extLst>
                  <a:ext uri="{FF2B5EF4-FFF2-40B4-BE49-F238E27FC236}">
                    <a16:creationId xmlns:a16="http://schemas.microsoft.com/office/drawing/2014/main" id="{7B326BE2-96BE-B448-8C0F-82552126D1C2}"/>
                  </a:ext>
                </a:extLst>
              </p:cNvPr>
              <p:cNvSpPr txBox="1"/>
              <p:nvPr/>
            </p:nvSpPr>
            <p:spPr bwMode="auto">
              <a:xfrm>
                <a:off x="8686800" y="3386138"/>
                <a:ext cx="895350" cy="392112"/>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&lt;&lt;&lt;</m:t>
                      </m:r>
                      <m:r>
                        <a:rPr lang="zh-CN" altLang="en-US" i="1">
                          <a:solidFill>
                            <a:srgbClr val="000000"/>
                          </a:solidFill>
                          <a:latin typeface="Cambria Math" panose="02040503050406030204" pitchFamily="18" charset="0"/>
                        </a:rPr>
                        <m:t>𝑖</m:t>
                      </m:r>
                    </m:oMath>
                  </m:oMathPara>
                </a14:m>
                <a:endParaRPr lang="zh-CN" altLang="en-US"/>
              </a:p>
            </p:txBody>
          </p:sp>
        </mc:Choice>
        <mc:Fallback xmlns="">
          <p:sp>
            <p:nvSpPr>
              <p:cNvPr id="386061" name="Object 14">
                <a:extLst>
                  <a:ext uri="{FF2B5EF4-FFF2-40B4-BE49-F238E27FC236}">
                    <a16:creationId xmlns:a16="http://schemas.microsoft.com/office/drawing/2014/main" id="{7B326BE2-96BE-B448-8C0F-82552126D1C2}"/>
                  </a:ext>
                </a:extLst>
              </p:cNvPr>
              <p:cNvSpPr txBox="1">
                <a:spLocks noRot="1" noChangeAspect="1" noMove="1" noResize="1" noEditPoints="1" noAdjustHandles="1" noChangeArrowheads="1" noChangeShapeType="1" noTextEdit="1"/>
              </p:cNvSpPr>
              <p:nvPr/>
            </p:nvSpPr>
            <p:spPr bwMode="auto">
              <a:xfrm>
                <a:off x="8686800" y="3386138"/>
                <a:ext cx="895350" cy="392112"/>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6062" name="Object 8">
                <a:extLst>
                  <a:ext uri="{FF2B5EF4-FFF2-40B4-BE49-F238E27FC236}">
                    <a16:creationId xmlns:a16="http://schemas.microsoft.com/office/drawing/2014/main" id="{D108E952-8E87-2242-A1CE-55FA182261FF}"/>
                  </a:ext>
                </a:extLst>
              </p:cNvPr>
              <p:cNvSpPr txBox="1"/>
              <p:nvPr/>
            </p:nvSpPr>
            <p:spPr bwMode="auto">
              <a:xfrm>
                <a:off x="1379538" y="1465263"/>
                <a:ext cx="474662" cy="54133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𝑍</m:t>
                          </m:r>
                        </m:e>
                        <m:sub>
                          <m:r>
                            <a:rPr lang="zh-CN" altLang="en-US" sz="2400" i="1">
                              <a:solidFill>
                                <a:srgbClr val="000000"/>
                              </a:solidFill>
                              <a:latin typeface="Cambria Math" panose="02040503050406030204" pitchFamily="18" charset="0"/>
                            </a:rPr>
                            <m:t>2</m:t>
                          </m:r>
                        </m:sub>
                        <m:sup>
                          <m:r>
                            <a:rPr lang="zh-CN" altLang="en-US" sz="2400" i="1">
                              <a:solidFill>
                                <a:srgbClr val="000000"/>
                              </a:solidFill>
                              <a:latin typeface="Cambria Math" panose="02040503050406030204" pitchFamily="18" charset="0"/>
                            </a:rPr>
                            <m:t>𝑒</m:t>
                          </m:r>
                        </m:sup>
                      </m:sSubSup>
                    </m:oMath>
                  </m:oMathPara>
                </a14:m>
                <a:endParaRPr lang="zh-CN" altLang="en-US" sz="2400" dirty="0"/>
              </a:p>
            </p:txBody>
          </p:sp>
        </mc:Choice>
        <mc:Fallback xmlns="">
          <p:sp>
            <p:nvSpPr>
              <p:cNvPr id="386062" name="Object 8">
                <a:extLst>
                  <a:ext uri="{FF2B5EF4-FFF2-40B4-BE49-F238E27FC236}">
                    <a16:creationId xmlns:a16="http://schemas.microsoft.com/office/drawing/2014/main" id="{D108E952-8E87-2242-A1CE-55FA182261FF}"/>
                  </a:ext>
                </a:extLst>
              </p:cNvPr>
              <p:cNvSpPr txBox="1">
                <a:spLocks noRot="1" noChangeAspect="1" noMove="1" noResize="1" noEditPoints="1" noAdjustHandles="1" noChangeArrowheads="1" noChangeShapeType="1" noTextEdit="1"/>
              </p:cNvSpPr>
              <p:nvPr/>
            </p:nvSpPr>
            <p:spPr bwMode="auto">
              <a:xfrm>
                <a:off x="1379538" y="1465263"/>
                <a:ext cx="474662" cy="541337"/>
              </a:xfrm>
              <a:prstGeom prst="rect">
                <a:avLst/>
              </a:prstGeom>
              <a:blipFill>
                <a:blip r:embed="rId8"/>
                <a:stretch>
                  <a:fillRect l="-2632"/>
                </a:stretch>
              </a:blipFill>
              <a:ln>
                <a:noFill/>
              </a:ln>
            </p:spPr>
            <p:txBody>
              <a:bodyPr/>
              <a:lstStyle/>
              <a:p>
                <a:r>
                  <a:rPr lang="en-CN">
                    <a:noFill/>
                  </a:rPr>
                  <a:t> </a:t>
                </a:r>
              </a:p>
            </p:txBody>
          </p:sp>
        </mc:Fallback>
      </mc:AlternateContent>
    </p:spTree>
  </p:cSld>
  <p:clrMapOvr>
    <a:masterClrMapping/>
  </p:clrMapOvr>
  <p:transition spd="slow"/>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7" name="Rectangle 2">
            <a:extLst>
              <a:ext uri="{FF2B5EF4-FFF2-40B4-BE49-F238E27FC236}">
                <a16:creationId xmlns:a16="http://schemas.microsoft.com/office/drawing/2014/main" id="{03649D9E-55D6-2242-B380-5EE1AED94BDD}"/>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SM4</a:t>
            </a:r>
            <a:r>
              <a:rPr lang="zh-CN" altLang="en-US">
                <a:solidFill>
                  <a:srgbClr val="1F4E79"/>
                </a:solidFill>
              </a:rPr>
              <a:t>算法的术语说明（续）</a:t>
            </a:r>
          </a:p>
        </p:txBody>
      </p:sp>
      <mc:AlternateContent xmlns:mc="http://schemas.openxmlformats.org/markup-compatibility/2006" xmlns:a14="http://schemas.microsoft.com/office/drawing/2010/main">
        <mc:Choice Requires="a14">
          <p:sp>
            <p:nvSpPr>
              <p:cNvPr id="388098" name="Rectangle 3">
                <a:extLst>
                  <a:ext uri="{FF2B5EF4-FFF2-40B4-BE49-F238E27FC236}">
                    <a16:creationId xmlns:a16="http://schemas.microsoft.com/office/drawing/2014/main" id="{5EBA4A24-771C-1B4B-8B6B-16ECC45986FB}"/>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en-US" altLang="zh-CN" sz="2800" dirty="0"/>
                  <a:t>SM4</a:t>
                </a:r>
                <a:r>
                  <a:rPr lang="zh-CN" altLang="en-US" sz="2800" dirty="0"/>
                  <a:t>算法的</a:t>
                </a:r>
                <a:r>
                  <a:rPr lang="zh-CN" altLang="en-US" sz="2800" dirty="0">
                    <a:solidFill>
                      <a:srgbClr val="FF0000"/>
                    </a:solidFill>
                  </a:rPr>
                  <a:t>加密密钥</a:t>
                </a:r>
                <a:r>
                  <a:rPr lang="zh-CN" altLang="en-US" sz="2800" dirty="0"/>
                  <a:t>长度为</a:t>
                </a:r>
                <a:r>
                  <a:rPr lang="en-US" altLang="zh-CN" sz="2800" dirty="0"/>
                  <a:t>128</a:t>
                </a:r>
                <a:r>
                  <a:rPr lang="zh-CN" altLang="en-US" sz="2800" dirty="0"/>
                  <a:t>比特，表示为</a:t>
                </a:r>
                <a14:m>
                  <m:oMath xmlns:m="http://schemas.openxmlformats.org/officeDocument/2006/math">
                    <m:r>
                      <a:rPr lang="zh-CN" altLang="en-US" sz="2800" b="1" i="1">
                        <a:solidFill>
                          <a:srgbClr val="000000"/>
                        </a:solidFill>
                        <a:latin typeface="Cambria Math" panose="02040503050406030204" pitchFamily="18" charset="0"/>
                      </a:rPr>
                      <m:t>𝑴𝑲</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oMath>
                </a14:m>
                <a:r>
                  <a:rPr lang="zh-CN" altLang="en-US" sz="2800" dirty="0"/>
                  <a:t>，其中，</a:t>
                </a:r>
                <a14:m>
                  <m:oMath xmlns:m="http://schemas.openxmlformats.org/officeDocument/2006/math">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sub>
                    </m:sSub>
                  </m:oMath>
                </a14:m>
                <a:r>
                  <a:rPr lang="zh-CN" altLang="en-US" sz="2800" dirty="0"/>
                  <a:t>为字。</a:t>
                </a:r>
              </a:p>
              <a:p>
                <a:pPr eaLnBrk="1" hangingPunct="1">
                  <a:lnSpc>
                    <a:spcPct val="120000"/>
                  </a:lnSpc>
                </a:pPr>
                <a:r>
                  <a:rPr lang="zh-CN" altLang="en-US" sz="2800" dirty="0">
                    <a:solidFill>
                      <a:srgbClr val="FF0000"/>
                    </a:solidFill>
                  </a:rPr>
                  <a:t>轮密钥</a:t>
                </a:r>
                <a:r>
                  <a:rPr lang="zh-CN" altLang="en-US" sz="2800" dirty="0"/>
                  <a:t>为</a:t>
                </a:r>
                <a14:m>
                  <m:oMath xmlns:m="http://schemas.openxmlformats.org/officeDocument/2006/math">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𝟑</m:t>
                        </m:r>
                      </m:sub>
                    </m:sSub>
                    <m:r>
                      <a:rPr lang="zh-CN" altLang="en-US" sz="2800" b="1" i="1" smtClean="0">
                        <a:solidFill>
                          <a:srgbClr val="000000"/>
                        </a:solidFill>
                        <a:latin typeface="Cambria Math" panose="02040503050406030204" pitchFamily="18" charset="0"/>
                      </a:rPr>
                      <m:t>)</m:t>
                    </m:r>
                  </m:oMath>
                </a14:m>
                <a:r>
                  <a:rPr lang="zh-CN" altLang="en-US" sz="2800" dirty="0"/>
                  <a:t>，</a:t>
                </a:r>
                <a14:m>
                  <m:oMath xmlns:m="http://schemas.openxmlformats.org/officeDocument/2006/math">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oMath>
                </a14:m>
                <a:r>
                  <a:rPr lang="zh-CN" altLang="en-US" sz="2800" dirty="0"/>
                  <a:t>为字。轮密钥由加密密钥通过密钥扩展算法生成。</a:t>
                </a:r>
              </a:p>
              <a:p>
                <a:pPr eaLnBrk="1" hangingPunct="1">
                  <a:lnSpc>
                    <a:spcPct val="120000"/>
                  </a:lnSpc>
                </a:pPr>
                <a14:m>
                  <m:oMath xmlns:m="http://schemas.openxmlformats.org/officeDocument/2006/math">
                    <m:r>
                      <a:rPr lang="zh-CN" altLang="en-US" sz="2800" b="1" i="1">
                        <a:solidFill>
                          <a:srgbClr val="000000"/>
                        </a:solidFill>
                        <a:latin typeface="Cambria Math" panose="02040503050406030204" pitchFamily="18" charset="0"/>
                      </a:rPr>
                      <m:t>𝑭𝑲</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oMath>
                </a14:m>
                <a:r>
                  <a:rPr lang="zh-CN" altLang="en-US" sz="2800" dirty="0"/>
                  <a:t>为</a:t>
                </a:r>
                <a:r>
                  <a:rPr lang="zh-CN" altLang="en-US" sz="2800" dirty="0">
                    <a:solidFill>
                      <a:srgbClr val="FF0000"/>
                    </a:solidFill>
                  </a:rPr>
                  <a:t>系统参数</a:t>
                </a:r>
                <a:r>
                  <a:rPr lang="zh-CN" altLang="en-US" sz="2800" dirty="0"/>
                  <a:t>。</a:t>
                </a:r>
              </a:p>
              <a:p>
                <a:pPr eaLnBrk="1" hangingPunct="1">
                  <a:lnSpc>
                    <a:spcPct val="120000"/>
                  </a:lnSpc>
                </a:pPr>
                <a14:m>
                  <m:oMath xmlns:m="http://schemas.openxmlformats.org/officeDocument/2006/math">
                    <m:r>
                      <a:rPr lang="zh-CN" altLang="en-US" sz="2800" b="1" i="1">
                        <a:solidFill>
                          <a:srgbClr val="000000"/>
                        </a:solidFill>
                        <a:latin typeface="Cambria Math" panose="02040503050406030204" pitchFamily="18" charset="0"/>
                      </a:rPr>
                      <m:t>𝑪𝑲</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𝑪𝑲</m:t>
                    </m:r>
                    <m:sPre>
                      <m:sPrePr>
                        <m:ctrlPr>
                          <a:rPr lang="zh-CN" altLang="en-US" sz="2800" i="1">
                            <a:solidFill>
                              <a:srgbClr val="000000"/>
                            </a:solidFill>
                            <a:latin typeface="Cambria Math" panose="02040503050406030204" pitchFamily="18" charset="0"/>
                          </a:rPr>
                        </m:ctrlPr>
                      </m:sPrePr>
                      <m:sub>
                        <m:r>
                          <a:rPr lang="zh-CN" altLang="en-US" sz="2800" b="1" i="1">
                            <a:solidFill>
                              <a:srgbClr val="000000"/>
                            </a:solidFill>
                            <a:latin typeface="Cambria Math" panose="02040503050406030204" pitchFamily="18" charset="0"/>
                          </a:rPr>
                          <m:t>𝟎</m:t>
                        </m:r>
                      </m:sub>
                      <m:sup/>
                      <m:e>
                        <m:r>
                          <a:rPr lang="zh-CN" altLang="en-US" sz="2800" b="1" i="1">
                            <a:solidFill>
                              <a:srgbClr val="000000"/>
                            </a:solidFill>
                            <a:latin typeface="Cambria Math" panose="02040503050406030204" pitchFamily="18" charset="0"/>
                          </a:rPr>
                          <m:t>,</m:t>
                        </m:r>
                      </m:e>
                    </m:sPre>
                    <m:r>
                      <a:rPr lang="zh-CN" altLang="en-US" sz="2800" b="1" i="1">
                        <a:solidFill>
                          <a:srgbClr val="000000"/>
                        </a:solidFill>
                        <a:latin typeface="Cambria Math" panose="02040503050406030204" pitchFamily="18" charset="0"/>
                      </a:rPr>
                      <m:t>𝑪</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𝟒</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oMath>
                </a14:m>
                <a:r>
                  <a:rPr lang="zh-CN" altLang="en-US" sz="2800" dirty="0"/>
                  <a:t>为</a:t>
                </a:r>
                <a:r>
                  <a:rPr lang="zh-CN" altLang="en-US" sz="2800" dirty="0">
                    <a:solidFill>
                      <a:srgbClr val="FF0000"/>
                    </a:solidFill>
                  </a:rPr>
                  <a:t>固定参数</a:t>
                </a:r>
                <a:r>
                  <a:rPr lang="zh-CN" altLang="en-US" sz="2800" dirty="0"/>
                  <a:t>，用于密钥扩展算法。</a:t>
                </a:r>
              </a:p>
            </p:txBody>
          </p:sp>
        </mc:Choice>
        <mc:Fallback xmlns="">
          <p:sp>
            <p:nvSpPr>
              <p:cNvPr id="388098" name="Rectangle 3">
                <a:extLst>
                  <a:ext uri="{FF2B5EF4-FFF2-40B4-BE49-F238E27FC236}">
                    <a16:creationId xmlns:a16="http://schemas.microsoft.com/office/drawing/2014/main" id="{5EBA4A24-771C-1B4B-8B6B-16ECC45986FB}"/>
                  </a:ext>
                </a:extLst>
              </p:cNvPr>
              <p:cNvSpPr>
                <a:spLocks noGrp="1" noRot="1" noChangeAspect="1" noMove="1" noResize="1" noEditPoints="1" noAdjustHandles="1" noChangeArrowheads="1" noChangeShapeType="1" noTextEdit="1"/>
              </p:cNvSpPr>
              <p:nvPr>
                <p:ph idx="1"/>
              </p:nvPr>
            </p:nvSpPr>
            <p:spPr>
              <a:xfrm>
                <a:off x="823913" y="1465263"/>
                <a:ext cx="10515600" cy="4579937"/>
              </a:xfrm>
              <a:blipFill>
                <a:blip r:embed="rId3"/>
                <a:stretch>
                  <a:fillRect l="-965" t="-552" r="-965"/>
                </a:stretch>
              </a:blipFill>
            </p:spPr>
            <p:txBody>
              <a:bodyPr/>
              <a:lstStyle/>
              <a:p>
                <a:r>
                  <a:rPr lang="en-CN">
                    <a:noFill/>
                  </a:rPr>
                  <a:t> </a:t>
                </a:r>
              </a:p>
            </p:txBody>
          </p:sp>
        </mc:Fallback>
      </mc:AlternateContent>
      <p:sp>
        <p:nvSpPr>
          <p:cNvPr id="388099" name="Rectangle 5">
            <a:extLst>
              <a:ext uri="{FF2B5EF4-FFF2-40B4-BE49-F238E27FC236}">
                <a16:creationId xmlns:a16="http://schemas.microsoft.com/office/drawing/2014/main" id="{ABA6C0EE-82F1-5F43-A632-5F9E489BE88D}"/>
              </a:ext>
            </a:extLst>
          </p:cNvPr>
          <p:cNvSpPr>
            <a:spLocks noChangeArrowheads="1"/>
          </p:cNvSpPr>
          <p:nvPr/>
        </p:nvSpPr>
        <p:spPr bwMode="auto">
          <a:xfrm>
            <a:off x="152400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88101" name="Rectangle 7">
            <a:extLst>
              <a:ext uri="{FF2B5EF4-FFF2-40B4-BE49-F238E27FC236}">
                <a16:creationId xmlns:a16="http://schemas.microsoft.com/office/drawing/2014/main" id="{ECD14AEF-2133-7647-8719-3786F1751537}"/>
              </a:ext>
            </a:extLst>
          </p:cNvPr>
          <p:cNvSpPr>
            <a:spLocks noChangeArrowheads="1"/>
          </p:cNvSpPr>
          <p:nvPr/>
        </p:nvSpPr>
        <p:spPr bwMode="auto">
          <a:xfrm>
            <a:off x="1809750" y="3278188"/>
            <a:ext cx="185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88103" name="Rectangle 9">
            <a:extLst>
              <a:ext uri="{FF2B5EF4-FFF2-40B4-BE49-F238E27FC236}">
                <a16:creationId xmlns:a16="http://schemas.microsoft.com/office/drawing/2014/main" id="{41DAF8AD-64F6-024F-88BD-82B00906E9CA}"/>
              </a:ext>
            </a:extLst>
          </p:cNvPr>
          <p:cNvSpPr>
            <a:spLocks noChangeArrowheads="1"/>
          </p:cNvSpPr>
          <p:nvPr/>
        </p:nvSpPr>
        <p:spPr bwMode="auto">
          <a:xfrm>
            <a:off x="1809750" y="3287713"/>
            <a:ext cx="185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88104" name="Rectangle 11">
            <a:extLst>
              <a:ext uri="{FF2B5EF4-FFF2-40B4-BE49-F238E27FC236}">
                <a16:creationId xmlns:a16="http://schemas.microsoft.com/office/drawing/2014/main" id="{858E1BA8-06A3-444D-AB65-82C6754A148B}"/>
              </a:ext>
            </a:extLst>
          </p:cNvPr>
          <p:cNvSpPr>
            <a:spLocks noChangeArrowheads="1"/>
          </p:cNvSpPr>
          <p:nvPr/>
        </p:nvSpPr>
        <p:spPr bwMode="auto">
          <a:xfrm>
            <a:off x="1809750" y="3278188"/>
            <a:ext cx="185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88106" name="Rectangle 13">
            <a:extLst>
              <a:ext uri="{FF2B5EF4-FFF2-40B4-BE49-F238E27FC236}">
                <a16:creationId xmlns:a16="http://schemas.microsoft.com/office/drawing/2014/main" id="{F5918825-56CD-1F4D-BF76-3BA005924567}"/>
              </a:ext>
            </a:extLst>
          </p:cNvPr>
          <p:cNvSpPr>
            <a:spLocks noChangeArrowheads="1"/>
          </p:cNvSpPr>
          <p:nvPr/>
        </p:nvSpPr>
        <p:spPr bwMode="auto">
          <a:xfrm>
            <a:off x="1809750" y="3278188"/>
            <a:ext cx="185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88108" name="Rectangle 15">
            <a:extLst>
              <a:ext uri="{FF2B5EF4-FFF2-40B4-BE49-F238E27FC236}">
                <a16:creationId xmlns:a16="http://schemas.microsoft.com/office/drawing/2014/main" id="{7684FFA8-11DD-024D-B0EE-3B007F33BC19}"/>
              </a:ext>
            </a:extLst>
          </p:cNvPr>
          <p:cNvSpPr>
            <a:spLocks noChangeArrowheads="1"/>
          </p:cNvSpPr>
          <p:nvPr/>
        </p:nvSpPr>
        <p:spPr bwMode="auto">
          <a:xfrm>
            <a:off x="1809750" y="3278188"/>
            <a:ext cx="185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88110" name="Rectangle 17">
            <a:extLst>
              <a:ext uri="{FF2B5EF4-FFF2-40B4-BE49-F238E27FC236}">
                <a16:creationId xmlns:a16="http://schemas.microsoft.com/office/drawing/2014/main" id="{22137C9C-5013-714D-B480-FA64B74E36B0}"/>
              </a:ext>
            </a:extLst>
          </p:cNvPr>
          <p:cNvSpPr>
            <a:spLocks noChangeArrowheads="1"/>
          </p:cNvSpPr>
          <p:nvPr/>
        </p:nvSpPr>
        <p:spPr bwMode="auto">
          <a:xfrm>
            <a:off x="1809750" y="3278188"/>
            <a:ext cx="185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Tree>
  </p:cSld>
  <p:clrMapOvr>
    <a:masterClrMapping/>
  </p:clrMapOvr>
  <p:transition spd="slow"/>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5" name="Rectangle 2">
            <a:extLst>
              <a:ext uri="{FF2B5EF4-FFF2-40B4-BE49-F238E27FC236}">
                <a16:creationId xmlns:a16="http://schemas.microsoft.com/office/drawing/2014/main" id="{81B2617C-60AA-2347-80CB-525A17DF5863}"/>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SM4</a:t>
            </a:r>
            <a:r>
              <a:rPr lang="zh-CN" altLang="en-US">
                <a:solidFill>
                  <a:srgbClr val="1F4E79"/>
                </a:solidFill>
              </a:rPr>
              <a:t>加密算法整体结构</a:t>
            </a:r>
          </a:p>
        </p:txBody>
      </p:sp>
      <p:pic>
        <p:nvPicPr>
          <p:cNvPr id="390146" name="Picture 4">
            <a:extLst>
              <a:ext uri="{FF2B5EF4-FFF2-40B4-BE49-F238E27FC236}">
                <a16:creationId xmlns:a16="http://schemas.microsoft.com/office/drawing/2014/main" id="{5B4EF16A-E60A-2749-90A0-2C93F225B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046163"/>
            <a:ext cx="8001000" cy="577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3" name="Rectangle 2">
            <a:extLst>
              <a:ext uri="{FF2B5EF4-FFF2-40B4-BE49-F238E27FC236}">
                <a16:creationId xmlns:a16="http://schemas.microsoft.com/office/drawing/2014/main" id="{46BF833E-150E-E54E-B4A4-CD47BF9052D2}"/>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SM4 </a:t>
            </a:r>
            <a:r>
              <a:rPr lang="zh-CN" altLang="en-US">
                <a:solidFill>
                  <a:srgbClr val="1F4E79"/>
                </a:solidFill>
              </a:rPr>
              <a:t>的轮函数</a:t>
            </a:r>
          </a:p>
        </p:txBody>
      </p:sp>
      <mc:AlternateContent xmlns:mc="http://schemas.openxmlformats.org/markup-compatibility/2006" xmlns:a14="http://schemas.microsoft.com/office/drawing/2010/main">
        <mc:Choice Requires="a14">
          <p:sp>
            <p:nvSpPr>
              <p:cNvPr id="392194" name="Rectangle 3">
                <a:extLst>
                  <a:ext uri="{FF2B5EF4-FFF2-40B4-BE49-F238E27FC236}">
                    <a16:creationId xmlns:a16="http://schemas.microsoft.com/office/drawing/2014/main" id="{A2E11045-89E6-3F42-8990-28B8D83E56B4}"/>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sz="2800" dirty="0"/>
                  <a:t>设输入为</a:t>
                </a:r>
                <a14:m>
                  <m:oMath xmlns:m="http://schemas.openxmlformats.org/officeDocument/2006/math">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1" i="1">
                            <a:solidFill>
                              <a:srgbClr val="000000"/>
                            </a:solidFill>
                            <a:latin typeface="Cambria Math" panose="02040503050406030204" pitchFamily="18" charset="0"/>
                          </a:rPr>
                          <m:t>𝒁</m:t>
                        </m:r>
                      </m:e>
                      <m:sub>
                        <m:r>
                          <a:rPr lang="zh-CN" altLang="en-US" sz="2800" b="1" i="1">
                            <a:solidFill>
                              <a:srgbClr val="000000"/>
                            </a:solidFill>
                            <a:latin typeface="Cambria Math" panose="02040503050406030204" pitchFamily="18" charset="0"/>
                          </a:rPr>
                          <m:t>𝟐</m:t>
                        </m:r>
                      </m:sub>
                      <m:sup>
                        <m:r>
                          <a:rPr lang="zh-CN" altLang="en-US" sz="2800" b="1" i="1">
                            <a:solidFill>
                              <a:srgbClr val="000000"/>
                            </a:solidFill>
                            <a:latin typeface="Cambria Math" panose="02040503050406030204" pitchFamily="18" charset="0"/>
                          </a:rPr>
                          <m:t>𝟑𝟐</m:t>
                        </m:r>
                      </m:sup>
                    </m:sSubSup>
                    <m:sSup>
                      <m:sSupPr>
                        <m:ctrlPr>
                          <a:rPr lang="zh-CN" altLang="en-US" sz="2800" i="1">
                            <a:solidFill>
                              <a:srgbClr val="000000"/>
                            </a:solidFill>
                            <a:latin typeface="Cambria Math" panose="02040503050406030204" pitchFamily="18" charset="0"/>
                          </a:rPr>
                        </m:ctrlPr>
                      </m:sSupPr>
                      <m:e>
                        <m:r>
                          <a:rPr lang="zh-CN" altLang="en-US" sz="2800" b="1" i="1">
                            <a:solidFill>
                              <a:srgbClr val="000000"/>
                            </a:solidFill>
                            <a:latin typeface="Cambria Math" panose="02040503050406030204" pitchFamily="18" charset="0"/>
                          </a:rPr>
                          <m:t>)</m:t>
                        </m:r>
                      </m:e>
                      <m:sup>
                        <m:r>
                          <a:rPr lang="zh-CN" altLang="en-US" sz="2800" b="1" i="1">
                            <a:solidFill>
                              <a:srgbClr val="000000"/>
                            </a:solidFill>
                            <a:latin typeface="Cambria Math" panose="02040503050406030204" pitchFamily="18" charset="0"/>
                          </a:rPr>
                          <m:t>𝟒</m:t>
                        </m:r>
                      </m:sup>
                    </m:sSup>
                  </m:oMath>
                </a14:m>
                <a:r>
                  <a:rPr lang="zh-CN" altLang="en-US" sz="2800" dirty="0"/>
                  <a:t>，轮密钥为</a:t>
                </a:r>
                <a14:m>
                  <m:oMath xmlns:m="http://schemas.openxmlformats.org/officeDocument/2006/math">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1" i="1">
                            <a:solidFill>
                              <a:srgbClr val="000000"/>
                            </a:solidFill>
                            <a:latin typeface="Cambria Math" panose="02040503050406030204" pitchFamily="18" charset="0"/>
                          </a:rPr>
                          <m:t>𝒁</m:t>
                        </m:r>
                      </m:e>
                      <m:sub>
                        <m:r>
                          <a:rPr lang="zh-CN" altLang="en-US" sz="2800" b="1" i="1">
                            <a:solidFill>
                              <a:srgbClr val="000000"/>
                            </a:solidFill>
                            <a:latin typeface="Cambria Math" panose="02040503050406030204" pitchFamily="18" charset="0"/>
                          </a:rPr>
                          <m:t>𝟐</m:t>
                        </m:r>
                      </m:sub>
                      <m:sup>
                        <m:r>
                          <a:rPr lang="zh-CN" altLang="en-US" sz="2800" b="1" i="1">
                            <a:solidFill>
                              <a:srgbClr val="000000"/>
                            </a:solidFill>
                            <a:latin typeface="Cambria Math" panose="02040503050406030204" pitchFamily="18" charset="0"/>
                          </a:rPr>
                          <m:t>𝟑𝟐</m:t>
                        </m:r>
                      </m:sup>
                    </m:sSubSup>
                  </m:oMath>
                </a14:m>
                <a:r>
                  <a:rPr lang="zh-CN" altLang="en-US" sz="2800" dirty="0"/>
                  <a:t>，则轮函数为：</a:t>
                </a:r>
                <a:endParaRPr lang="en-US" altLang="zh-CN" sz="2800" dirty="0"/>
              </a:p>
              <a:p>
                <a:pPr marL="0" indent="0" eaLnBrk="1" hangingPunct="1">
                  <a:lnSpc>
                    <a:spcPct val="120000"/>
                  </a:lnSpc>
                  <a:buNone/>
                </a:pPr>
                <a14:m>
                  <m:oMathPara xmlns:m="http://schemas.openxmlformats.org/officeDocument/2006/math">
                    <m:oMathParaPr>
                      <m:jc m:val="centerGroup"/>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𝐢</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𝟒</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𝑻</m:t>
                      </m:r>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), </m:t>
                      </m:r>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𝟎</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𝟑𝟏</m:t>
                      </m:r>
                    </m:oMath>
                  </m:oMathPara>
                </a14:m>
                <a:endParaRPr lang="zh-CN" altLang="en-US" sz="2800" dirty="0"/>
              </a:p>
              <a:p>
                <a:pPr eaLnBrk="1" hangingPunct="1">
                  <a:lnSpc>
                    <a:spcPct val="120000"/>
                  </a:lnSpc>
                </a:pPr>
                <a:r>
                  <a:rPr lang="zh-CN" altLang="en-US" sz="2800" dirty="0"/>
                  <a:t>其中</a:t>
                </a:r>
                <a14:m>
                  <m:oMath xmlns:m="http://schemas.openxmlformats.org/officeDocument/2006/math">
                    <m:r>
                      <a:rPr lang="zh-CN" altLang="en-US" sz="2800" b="1" i="1">
                        <a:solidFill>
                          <a:srgbClr val="000000"/>
                        </a:solidFill>
                        <a:latin typeface="Cambria Math" panose="02040503050406030204" pitchFamily="18" charset="0"/>
                      </a:rPr>
                      <m:t>𝑻</m:t>
                    </m:r>
                    <m:func>
                      <m:funcPr>
                        <m:ctrlPr>
                          <a:rPr lang="zh-CN" altLang="en-US" sz="2800" i="1">
                            <a:solidFill>
                              <a:srgbClr val="000000"/>
                            </a:solidFill>
                            <a:latin typeface="Cambria Math" panose="02040503050406030204" pitchFamily="18" charset="0"/>
                          </a:rPr>
                        </m:ctrlPr>
                      </m:funcPr>
                      <m:fName>
                        <m:sSubSup>
                          <m:sSubSupPr>
                            <m:ctrlPr>
                              <a:rPr lang="zh-CN" altLang="en-US" sz="2800" i="1">
                                <a:solidFill>
                                  <a:srgbClr val="000000"/>
                                </a:solidFill>
                                <a:latin typeface="Cambria Math" panose="02040503050406030204" pitchFamily="18" charset="0"/>
                              </a:rPr>
                            </m:ctrlPr>
                          </m:sSubSupPr>
                          <m:e>
                            <m:r>
                              <a:rPr lang="zh-CN" altLang="en-US" sz="2800" b="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𝒁</m:t>
                            </m:r>
                          </m:e>
                          <m:sub>
                            <m:r>
                              <a:rPr lang="zh-CN" altLang="en-US" sz="2800" b="1" i="1">
                                <a:solidFill>
                                  <a:srgbClr val="000000"/>
                                </a:solidFill>
                                <a:latin typeface="Cambria Math" panose="02040503050406030204" pitchFamily="18" charset="0"/>
                              </a:rPr>
                              <m:t>𝟐</m:t>
                            </m:r>
                          </m:sub>
                          <m:sup>
                            <m:r>
                              <a:rPr lang="zh-CN" altLang="en-US" sz="2800" b="1" i="1">
                                <a:solidFill>
                                  <a:srgbClr val="000000"/>
                                </a:solidFill>
                                <a:latin typeface="Cambria Math" panose="02040503050406030204" pitchFamily="18" charset="0"/>
                              </a:rPr>
                              <m:t>𝟑𝟐</m:t>
                            </m:r>
                          </m:sup>
                        </m:sSubSup>
                      </m:fName>
                      <m:e>
                        <m:r>
                          <a:rPr lang="zh-CN" altLang="en-US" sz="2800" b="1" i="1">
                            <a:solidFill>
                              <a:srgbClr val="000000"/>
                            </a:solidFill>
                            <a:latin typeface="Cambria Math" panose="02040503050406030204" pitchFamily="18" charset="0"/>
                          </a:rPr>
                          <m:t>→</m:t>
                        </m:r>
                      </m:e>
                    </m:func>
                    <m:sSubSup>
                      <m:sSubSupPr>
                        <m:ctrlPr>
                          <a:rPr lang="zh-CN" altLang="en-US" sz="2800" i="1">
                            <a:solidFill>
                              <a:srgbClr val="000000"/>
                            </a:solidFill>
                            <a:latin typeface="Cambria Math" panose="02040503050406030204" pitchFamily="18" charset="0"/>
                          </a:rPr>
                        </m:ctrlPr>
                      </m:sSubSupPr>
                      <m:e>
                        <m:r>
                          <a:rPr lang="zh-CN" altLang="en-US" sz="2800" b="1" i="1">
                            <a:solidFill>
                              <a:srgbClr val="000000"/>
                            </a:solidFill>
                            <a:latin typeface="Cambria Math" panose="02040503050406030204" pitchFamily="18" charset="0"/>
                          </a:rPr>
                          <m:t>𝒁</m:t>
                        </m:r>
                      </m:e>
                      <m:sub>
                        <m:r>
                          <a:rPr lang="zh-CN" altLang="en-US" sz="2800" b="1" i="1">
                            <a:solidFill>
                              <a:srgbClr val="000000"/>
                            </a:solidFill>
                            <a:latin typeface="Cambria Math" panose="02040503050406030204" pitchFamily="18" charset="0"/>
                          </a:rPr>
                          <m:t>𝟐</m:t>
                        </m:r>
                      </m:sub>
                      <m:sup>
                        <m:r>
                          <a:rPr lang="zh-CN" altLang="en-US" sz="2800" b="1" i="1">
                            <a:solidFill>
                              <a:srgbClr val="000000"/>
                            </a:solidFill>
                            <a:latin typeface="Cambria Math" panose="02040503050406030204" pitchFamily="18" charset="0"/>
                          </a:rPr>
                          <m:t>𝟑𝟐</m:t>
                        </m:r>
                      </m:sup>
                    </m:sSubSup>
                  </m:oMath>
                </a14:m>
                <a:r>
                  <a:rPr lang="zh-CN" altLang="en-US" sz="2800" dirty="0"/>
                  <a:t>称为合成置换，是一个由非线性变换和一个线性变换复合而成的可逆变换，即</a:t>
                </a:r>
                <a14:m>
                  <m:oMath xmlns:m="http://schemas.openxmlformats.org/officeDocument/2006/math">
                    <m:r>
                      <a:rPr lang="zh-CN" altLang="en-US" sz="2800" b="1" i="1">
                        <a:solidFill>
                          <a:srgbClr val="000000"/>
                        </a:solidFill>
                        <a:latin typeface="Cambria Math" panose="02040503050406030204" pitchFamily="18" charset="0"/>
                      </a:rPr>
                      <m:t>𝑻</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𝑳</m:t>
                    </m:r>
                    <m:d>
                      <m:dPr>
                        <m:ctrlPr>
                          <a:rPr lang="zh-CN" altLang="en-US" sz="2800" i="1">
                            <a:solidFill>
                              <a:srgbClr val="000000"/>
                            </a:solidFill>
                            <a:latin typeface="Cambria Math" panose="02040503050406030204" pitchFamily="18" charset="0"/>
                          </a:rPr>
                        </m:ctrlPr>
                      </m:dPr>
                      <m:e>
                        <m:r>
                          <a:rPr lang="zh-CN" altLang="en-US" sz="2800" b="1" i="1">
                            <a:solidFill>
                              <a:srgbClr val="000000"/>
                            </a:solidFill>
                            <a:latin typeface="Cambria Math" panose="02040503050406030204" pitchFamily="18" charset="0"/>
                          </a:rPr>
                          <m:t>𝝉</m:t>
                        </m:r>
                        <m:d>
                          <m:dPr>
                            <m:ctrlPr>
                              <a:rPr lang="zh-CN" altLang="en-US" sz="2800" i="1">
                                <a:solidFill>
                                  <a:srgbClr val="000000"/>
                                </a:solidFill>
                                <a:latin typeface="Cambria Math" panose="02040503050406030204" pitchFamily="18" charset="0"/>
                              </a:rPr>
                            </m:ctrlPr>
                          </m:dPr>
                          <m:e>
                            <m:r>
                              <a:rPr lang="zh-CN" altLang="en-US" sz="2800" b="1" i="1">
                                <a:solidFill>
                                  <a:srgbClr val="000000"/>
                                </a:solidFill>
                                <a:latin typeface="Cambria Math" panose="02040503050406030204" pitchFamily="18" charset="0"/>
                              </a:rPr>
                              <m:t>.</m:t>
                            </m:r>
                          </m:e>
                        </m:d>
                      </m:e>
                    </m:d>
                    <m:r>
                      <a:rPr lang="zh-CN" altLang="en-US" sz="2800" b="1" i="0" smtClean="0">
                        <a:solidFill>
                          <a:srgbClr val="000000"/>
                        </a:solidFill>
                        <a:latin typeface="Cambria Math" panose="02040503050406030204" pitchFamily="18" charset="0"/>
                      </a:rPr>
                      <m:t>。</m:t>
                    </m:r>
                  </m:oMath>
                </a14:m>
                <a:endParaRPr lang="zh-CN" altLang="en-US" sz="2800" dirty="0"/>
              </a:p>
              <a:p>
                <a:pPr eaLnBrk="1" hangingPunct="1">
                  <a:lnSpc>
                    <a:spcPct val="120000"/>
                  </a:lnSpc>
                  <a:buFont typeface="Wingdings" pitchFamily="2" charset="2"/>
                  <a:buNone/>
                </a:pPr>
                <a:r>
                  <a:rPr lang="zh-CN" altLang="en-US" sz="2800" dirty="0"/>
                  <a:t> </a:t>
                </a:r>
              </a:p>
            </p:txBody>
          </p:sp>
        </mc:Choice>
        <mc:Fallback xmlns="">
          <p:sp>
            <p:nvSpPr>
              <p:cNvPr id="392194" name="Rectangle 3">
                <a:extLst>
                  <a:ext uri="{FF2B5EF4-FFF2-40B4-BE49-F238E27FC236}">
                    <a16:creationId xmlns:a16="http://schemas.microsoft.com/office/drawing/2014/main" id="{A2E11045-89E6-3F42-8990-28B8D83E56B4}"/>
                  </a:ext>
                </a:extLst>
              </p:cNvPr>
              <p:cNvSpPr>
                <a:spLocks noGrp="1" noRot="1" noChangeAspect="1" noMove="1" noResize="1" noEditPoints="1" noAdjustHandles="1" noChangeArrowheads="1" noChangeShapeType="1" noTextEdit="1"/>
              </p:cNvSpPr>
              <p:nvPr>
                <p:ph idx="1"/>
              </p:nvPr>
            </p:nvSpPr>
            <p:spPr>
              <a:xfrm>
                <a:off x="823913" y="1465263"/>
                <a:ext cx="10515600" cy="4579937"/>
              </a:xfrm>
              <a:blipFill>
                <a:blip r:embed="rId3"/>
                <a:stretch>
                  <a:fillRect l="-965" r="-241"/>
                </a:stretch>
              </a:blipFill>
            </p:spPr>
            <p:txBody>
              <a:bodyPr/>
              <a:lstStyle/>
              <a:p>
                <a:r>
                  <a:rPr lang="en-CN">
                    <a:noFill/>
                  </a:rPr>
                  <a:t> </a:t>
                </a:r>
              </a:p>
            </p:txBody>
          </p:sp>
        </mc:Fallback>
      </mc:AlternateContent>
      <p:sp>
        <p:nvSpPr>
          <p:cNvPr id="392195" name="Rectangle 5">
            <a:extLst>
              <a:ext uri="{FF2B5EF4-FFF2-40B4-BE49-F238E27FC236}">
                <a16:creationId xmlns:a16="http://schemas.microsoft.com/office/drawing/2014/main" id="{042CB6D3-2F28-0C42-BC37-909C89F11748}"/>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92197" name="Rectangle 7">
            <a:extLst>
              <a:ext uri="{FF2B5EF4-FFF2-40B4-BE49-F238E27FC236}">
                <a16:creationId xmlns:a16="http://schemas.microsoft.com/office/drawing/2014/main" id="{1C980E01-18EB-B743-83FB-B77773E82547}"/>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92199" name="Rectangle 9">
            <a:extLst>
              <a:ext uri="{FF2B5EF4-FFF2-40B4-BE49-F238E27FC236}">
                <a16:creationId xmlns:a16="http://schemas.microsoft.com/office/drawing/2014/main" id="{B1A66E3A-C70D-2848-A1E2-69107B80C773}"/>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92200" name="Rectangle 11">
            <a:extLst>
              <a:ext uri="{FF2B5EF4-FFF2-40B4-BE49-F238E27FC236}">
                <a16:creationId xmlns:a16="http://schemas.microsoft.com/office/drawing/2014/main" id="{21E3E79B-BF08-CD4A-84C4-29D02CD055D9}"/>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392202" name="Rectangle 13">
            <a:extLst>
              <a:ext uri="{FF2B5EF4-FFF2-40B4-BE49-F238E27FC236}">
                <a16:creationId xmlns:a16="http://schemas.microsoft.com/office/drawing/2014/main" id="{C1E39F75-81F9-104D-BCED-F903E071B94B}"/>
              </a:ext>
            </a:extLst>
          </p:cNvPr>
          <p:cNvSpPr>
            <a:spLocks noChangeArrowheads="1"/>
          </p:cNvSpPr>
          <p:nvPr/>
        </p:nvSpPr>
        <p:spPr bwMode="auto">
          <a:xfrm>
            <a:off x="1524000" y="316388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Tree>
  </p:cSld>
  <p:clrMapOvr>
    <a:masterClrMapping/>
  </p:clrMapOvr>
  <p:transition spd="slow"/>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4626" name="Group 5">
            <a:extLst>
              <a:ext uri="{FF2B5EF4-FFF2-40B4-BE49-F238E27FC236}">
                <a16:creationId xmlns:a16="http://schemas.microsoft.com/office/drawing/2014/main" id="{B10D52EC-1C70-C440-97DA-55E1743EE736}"/>
              </a:ext>
            </a:extLst>
          </p:cNvPr>
          <p:cNvGrpSpPr>
            <a:grpSpLocks noChangeAspect="1"/>
          </p:cNvGrpSpPr>
          <p:nvPr/>
        </p:nvGrpSpPr>
        <p:grpSpPr bwMode="auto">
          <a:xfrm>
            <a:off x="2364577" y="410598"/>
            <a:ext cx="7239000" cy="6137275"/>
            <a:chOff x="2360" y="6718"/>
            <a:chExt cx="7200" cy="6114"/>
          </a:xfrm>
          <a:solidFill>
            <a:schemeClr val="bg1"/>
          </a:solidFill>
        </p:grpSpPr>
        <p:sp>
          <p:nvSpPr>
            <p:cNvPr id="154627" name="AutoShape 6">
              <a:extLst>
                <a:ext uri="{FF2B5EF4-FFF2-40B4-BE49-F238E27FC236}">
                  <a16:creationId xmlns:a16="http://schemas.microsoft.com/office/drawing/2014/main" id="{5ECC023B-6D37-4748-A2E0-52BE4F3B35D8}"/>
                </a:ext>
              </a:extLst>
            </p:cNvPr>
            <p:cNvSpPr>
              <a:spLocks noChangeAspect="1" noChangeArrowheads="1"/>
            </p:cNvSpPr>
            <p:nvPr/>
          </p:nvSpPr>
          <p:spPr bwMode="auto">
            <a:xfrm>
              <a:off x="2360" y="6718"/>
              <a:ext cx="7200" cy="6114"/>
            </a:xfrm>
            <a:prstGeom prst="rect">
              <a:avLst/>
            </a:prstGeom>
            <a:grpFill/>
            <a:ln>
              <a:noFill/>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4628" name="Text Box 7">
              <a:extLst>
                <a:ext uri="{FF2B5EF4-FFF2-40B4-BE49-F238E27FC236}">
                  <a16:creationId xmlns:a16="http://schemas.microsoft.com/office/drawing/2014/main" id="{E67565D3-4331-FA4C-BEE4-6EFEA2E0B5E1}"/>
                </a:ext>
              </a:extLst>
            </p:cNvPr>
            <p:cNvSpPr txBox="1">
              <a:spLocks noChangeArrowheads="1"/>
            </p:cNvSpPr>
            <p:nvPr/>
          </p:nvSpPr>
          <p:spPr bwMode="auto">
            <a:xfrm>
              <a:off x="2830" y="6718"/>
              <a:ext cx="938"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X</a:t>
              </a:r>
              <a:r>
                <a:rPr lang="en-US" altLang="zh-CN" sz="1600" baseline="-25000">
                  <a:latin typeface="Times New Roman" panose="02020603050405020304" pitchFamily="18" charset="0"/>
                </a:rPr>
                <a:t>i</a:t>
              </a:r>
              <a:endParaRPr lang="en-US" altLang="zh-CN" sz="1600"/>
            </a:p>
          </p:txBody>
        </p:sp>
        <p:sp>
          <p:nvSpPr>
            <p:cNvPr id="154629" name="Text Box 8">
              <a:extLst>
                <a:ext uri="{FF2B5EF4-FFF2-40B4-BE49-F238E27FC236}">
                  <a16:creationId xmlns:a16="http://schemas.microsoft.com/office/drawing/2014/main" id="{6463F6E8-B214-3041-BBAA-55461394033A}"/>
                </a:ext>
              </a:extLst>
            </p:cNvPr>
            <p:cNvSpPr txBox="1">
              <a:spLocks noChangeArrowheads="1"/>
            </p:cNvSpPr>
            <p:nvPr/>
          </p:nvSpPr>
          <p:spPr bwMode="auto">
            <a:xfrm>
              <a:off x="4551" y="6718"/>
              <a:ext cx="939"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X</a:t>
              </a:r>
              <a:r>
                <a:rPr lang="en-US" altLang="zh-CN" sz="1600" baseline="-25000">
                  <a:latin typeface="Times New Roman" panose="02020603050405020304" pitchFamily="18" charset="0"/>
                </a:rPr>
                <a:t>i+1</a:t>
              </a:r>
              <a:endParaRPr lang="en-US" altLang="zh-CN" sz="1600"/>
            </a:p>
          </p:txBody>
        </p:sp>
        <p:sp>
          <p:nvSpPr>
            <p:cNvPr id="154630" name="Text Box 9">
              <a:extLst>
                <a:ext uri="{FF2B5EF4-FFF2-40B4-BE49-F238E27FC236}">
                  <a16:creationId xmlns:a16="http://schemas.microsoft.com/office/drawing/2014/main" id="{73DDB2E6-E6AB-0F40-8D46-918AC26D5388}"/>
                </a:ext>
              </a:extLst>
            </p:cNvPr>
            <p:cNvSpPr txBox="1">
              <a:spLocks noChangeArrowheads="1"/>
            </p:cNvSpPr>
            <p:nvPr/>
          </p:nvSpPr>
          <p:spPr bwMode="auto">
            <a:xfrm>
              <a:off x="6273" y="6718"/>
              <a:ext cx="938"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X</a:t>
              </a:r>
              <a:r>
                <a:rPr lang="en-US" altLang="zh-CN" sz="1600" baseline="-25000">
                  <a:latin typeface="Times New Roman" panose="02020603050405020304" pitchFamily="18" charset="0"/>
                </a:rPr>
                <a:t>i+2</a:t>
              </a:r>
              <a:endParaRPr lang="en-US" altLang="zh-CN" sz="1600"/>
            </a:p>
          </p:txBody>
        </p:sp>
        <p:sp>
          <p:nvSpPr>
            <p:cNvPr id="154631" name="Text Box 10">
              <a:extLst>
                <a:ext uri="{FF2B5EF4-FFF2-40B4-BE49-F238E27FC236}">
                  <a16:creationId xmlns:a16="http://schemas.microsoft.com/office/drawing/2014/main" id="{E858BD70-65A5-9F4F-B776-6EDA5AA5F846}"/>
                </a:ext>
              </a:extLst>
            </p:cNvPr>
            <p:cNvSpPr txBox="1">
              <a:spLocks noChangeArrowheads="1"/>
            </p:cNvSpPr>
            <p:nvPr/>
          </p:nvSpPr>
          <p:spPr bwMode="auto">
            <a:xfrm>
              <a:off x="7995" y="6718"/>
              <a:ext cx="937"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X</a:t>
              </a:r>
              <a:r>
                <a:rPr lang="en-US" altLang="zh-CN" sz="1600" baseline="-25000">
                  <a:latin typeface="Times New Roman" panose="02020603050405020304" pitchFamily="18" charset="0"/>
                </a:rPr>
                <a:t>i+3</a:t>
              </a:r>
              <a:endParaRPr lang="en-US" altLang="zh-CN" sz="1600"/>
            </a:p>
          </p:txBody>
        </p:sp>
        <p:sp>
          <p:nvSpPr>
            <p:cNvPr id="154632" name="Line 11">
              <a:extLst>
                <a:ext uri="{FF2B5EF4-FFF2-40B4-BE49-F238E27FC236}">
                  <a16:creationId xmlns:a16="http://schemas.microsoft.com/office/drawing/2014/main" id="{B65E4354-9BD9-7F4A-8D4A-2B1CBA27ECF6}"/>
                </a:ext>
              </a:extLst>
            </p:cNvPr>
            <p:cNvSpPr>
              <a:spLocks noChangeShapeType="1"/>
            </p:cNvSpPr>
            <p:nvPr/>
          </p:nvSpPr>
          <p:spPr bwMode="auto">
            <a:xfrm>
              <a:off x="5021" y="7126"/>
              <a:ext cx="1" cy="407"/>
            </a:xfrm>
            <a:prstGeom prst="line">
              <a:avLst/>
            </a:prstGeom>
            <a:grpFill/>
            <a:ln w="9525">
              <a:solidFill>
                <a:srgbClr val="000000"/>
              </a:solidFill>
              <a:round/>
            </a:ln>
            <a:effectLst/>
          </p:spPr>
          <p:txBody>
            <a:bodyPr/>
            <a:lstStyle/>
            <a:p>
              <a:pPr eaLnBrk="0" hangingPunct="0">
                <a:defRPr/>
              </a:pPr>
              <a:endParaRPr lang="zh-CN" altLang="en-US"/>
            </a:p>
          </p:txBody>
        </p:sp>
        <p:sp>
          <p:nvSpPr>
            <p:cNvPr id="154633" name="AutoShape 12">
              <a:extLst>
                <a:ext uri="{FF2B5EF4-FFF2-40B4-BE49-F238E27FC236}">
                  <a16:creationId xmlns:a16="http://schemas.microsoft.com/office/drawing/2014/main" id="{B92F6383-9BC9-F643-88C7-38344102C216}"/>
                </a:ext>
              </a:extLst>
            </p:cNvPr>
            <p:cNvSpPr>
              <a:spLocks noChangeArrowheads="1"/>
            </p:cNvSpPr>
            <p:nvPr/>
          </p:nvSpPr>
          <p:spPr bwMode="auto">
            <a:xfrm>
              <a:off x="6586" y="7397"/>
              <a:ext cx="313" cy="314"/>
            </a:xfrm>
            <a:prstGeom prst="flowChartOr">
              <a:avLst/>
            </a:prstGeom>
            <a:grpFill/>
            <a:ln w="9525">
              <a:solidFill>
                <a:srgbClr val="000000"/>
              </a:solidFill>
              <a:round/>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4634" name="Line 13">
              <a:extLst>
                <a:ext uri="{FF2B5EF4-FFF2-40B4-BE49-F238E27FC236}">
                  <a16:creationId xmlns:a16="http://schemas.microsoft.com/office/drawing/2014/main" id="{57547610-A30C-2A44-982E-A5C61E19B120}"/>
                </a:ext>
              </a:extLst>
            </p:cNvPr>
            <p:cNvSpPr>
              <a:spLocks noChangeShapeType="1"/>
            </p:cNvSpPr>
            <p:nvPr/>
          </p:nvSpPr>
          <p:spPr bwMode="auto">
            <a:xfrm>
              <a:off x="5021" y="7533"/>
              <a:ext cx="1565" cy="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35" name="Line 14">
              <a:extLst>
                <a:ext uri="{FF2B5EF4-FFF2-40B4-BE49-F238E27FC236}">
                  <a16:creationId xmlns:a16="http://schemas.microsoft.com/office/drawing/2014/main" id="{5DA902E7-52BF-0343-8159-93C3341A46F3}"/>
                </a:ext>
              </a:extLst>
            </p:cNvPr>
            <p:cNvSpPr>
              <a:spLocks noChangeShapeType="1"/>
            </p:cNvSpPr>
            <p:nvPr/>
          </p:nvSpPr>
          <p:spPr bwMode="auto">
            <a:xfrm>
              <a:off x="6743" y="7126"/>
              <a:ext cx="1" cy="27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36" name="Freeform 15">
              <a:extLst>
                <a:ext uri="{FF2B5EF4-FFF2-40B4-BE49-F238E27FC236}">
                  <a16:creationId xmlns:a16="http://schemas.microsoft.com/office/drawing/2014/main" id="{FF994B0E-FEBA-154C-B563-D8B4F8A76EEE}"/>
                </a:ext>
              </a:extLst>
            </p:cNvPr>
            <p:cNvSpPr/>
            <p:nvPr/>
          </p:nvSpPr>
          <p:spPr bwMode="auto">
            <a:xfrm rot="10800000">
              <a:off x="6864" y="7262"/>
              <a:ext cx="348" cy="188"/>
            </a:xfrm>
            <a:custGeom>
              <a:avLst/>
              <a:gdLst>
                <a:gd name="T0" fmla="*/ 0 w 250"/>
                <a:gd name="T1" fmla="*/ 188 h 150"/>
                <a:gd name="T2" fmla="*/ 348 w 250"/>
                <a:gd name="T3" fmla="*/ 0 h 150"/>
                <a:gd name="T4" fmla="*/ 0 60000 65536"/>
                <a:gd name="T5" fmla="*/ 0 60000 65536"/>
              </a:gdLst>
              <a:ahLst/>
              <a:cxnLst>
                <a:cxn ang="T4">
                  <a:pos x="T0" y="T1"/>
                </a:cxn>
                <a:cxn ang="T5">
                  <a:pos x="T2" y="T3"/>
                </a:cxn>
              </a:cxnLst>
              <a:rect l="0" t="0" r="r" b="b"/>
              <a:pathLst>
                <a:path w="250" h="150">
                  <a:moveTo>
                    <a:pt x="0" y="150"/>
                  </a:moveTo>
                  <a:lnTo>
                    <a:pt x="250" y="0"/>
                  </a:lnTo>
                </a:path>
              </a:pathLst>
            </a:custGeom>
            <a:grpFill/>
            <a:ln w="9525" cap="flat" cmpd="sng">
              <a:solidFill>
                <a:srgbClr val="000000"/>
              </a:solidFill>
              <a:prstDash val="solid"/>
              <a:round/>
              <a:headEnd type="none" w="med" len="med"/>
              <a:tailEnd type="triangle" w="med" len="med"/>
            </a:ln>
            <a:effectLst/>
          </p:spPr>
          <p:txBody>
            <a:bodyPr/>
            <a:lstStyle/>
            <a:p>
              <a:pPr eaLnBrk="0" hangingPunct="0">
                <a:defRPr/>
              </a:pPr>
              <a:endParaRPr lang="zh-CN" altLang="en-US"/>
            </a:p>
          </p:txBody>
        </p:sp>
        <p:sp>
          <p:nvSpPr>
            <p:cNvPr id="154637" name="Text Box 16">
              <a:extLst>
                <a:ext uri="{FF2B5EF4-FFF2-40B4-BE49-F238E27FC236}">
                  <a16:creationId xmlns:a16="http://schemas.microsoft.com/office/drawing/2014/main" id="{92AF15F3-279F-454F-8C24-27D2FD1C5F7B}"/>
                </a:ext>
              </a:extLst>
            </p:cNvPr>
            <p:cNvSpPr txBox="1">
              <a:spLocks noChangeArrowheads="1"/>
            </p:cNvSpPr>
            <p:nvPr/>
          </p:nvSpPr>
          <p:spPr bwMode="auto">
            <a:xfrm>
              <a:off x="7056" y="6989"/>
              <a:ext cx="469" cy="408"/>
            </a:xfrm>
            <a:prstGeom prst="rect">
              <a:avLst/>
            </a:prstGeom>
            <a:grpFill/>
            <a:ln>
              <a:noFill/>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rk</a:t>
              </a:r>
              <a:r>
                <a:rPr lang="en-US" altLang="zh-CN" sz="1600" baseline="-25000">
                  <a:latin typeface="Times New Roman" panose="02020603050405020304" pitchFamily="18" charset="0"/>
                </a:rPr>
                <a:t>i</a:t>
              </a:r>
              <a:endParaRPr lang="en-US" altLang="zh-CN" sz="1600"/>
            </a:p>
          </p:txBody>
        </p:sp>
        <p:sp>
          <p:nvSpPr>
            <p:cNvPr id="154638" name="Line 17">
              <a:extLst>
                <a:ext uri="{FF2B5EF4-FFF2-40B4-BE49-F238E27FC236}">
                  <a16:creationId xmlns:a16="http://schemas.microsoft.com/office/drawing/2014/main" id="{1A1901E0-A62E-4E45-B3F7-DE1F88E53C44}"/>
                </a:ext>
              </a:extLst>
            </p:cNvPr>
            <p:cNvSpPr>
              <a:spLocks noChangeShapeType="1"/>
            </p:cNvSpPr>
            <p:nvPr/>
          </p:nvSpPr>
          <p:spPr bwMode="auto">
            <a:xfrm>
              <a:off x="8464" y="7126"/>
              <a:ext cx="1" cy="407"/>
            </a:xfrm>
            <a:prstGeom prst="line">
              <a:avLst/>
            </a:prstGeom>
            <a:grpFill/>
            <a:ln w="9525">
              <a:solidFill>
                <a:srgbClr val="000000"/>
              </a:solidFill>
              <a:round/>
            </a:ln>
            <a:effectLst/>
          </p:spPr>
          <p:txBody>
            <a:bodyPr/>
            <a:lstStyle/>
            <a:p>
              <a:pPr eaLnBrk="0" hangingPunct="0">
                <a:defRPr/>
              </a:pPr>
              <a:endParaRPr lang="zh-CN" altLang="en-US"/>
            </a:p>
          </p:txBody>
        </p:sp>
        <p:sp>
          <p:nvSpPr>
            <p:cNvPr id="154639" name="Line 18">
              <a:extLst>
                <a:ext uri="{FF2B5EF4-FFF2-40B4-BE49-F238E27FC236}">
                  <a16:creationId xmlns:a16="http://schemas.microsoft.com/office/drawing/2014/main" id="{6BC393A7-3E60-5445-9ACE-38B376912301}"/>
                </a:ext>
              </a:extLst>
            </p:cNvPr>
            <p:cNvSpPr>
              <a:spLocks noChangeShapeType="1"/>
            </p:cNvSpPr>
            <p:nvPr/>
          </p:nvSpPr>
          <p:spPr bwMode="auto">
            <a:xfrm flipH="1">
              <a:off x="6899" y="7533"/>
              <a:ext cx="1565" cy="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40" name="Line 19">
              <a:extLst>
                <a:ext uri="{FF2B5EF4-FFF2-40B4-BE49-F238E27FC236}">
                  <a16:creationId xmlns:a16="http://schemas.microsoft.com/office/drawing/2014/main" id="{91A4AFB6-C785-2441-BBB6-709A50501729}"/>
                </a:ext>
              </a:extLst>
            </p:cNvPr>
            <p:cNvSpPr>
              <a:spLocks noChangeShapeType="1"/>
            </p:cNvSpPr>
            <p:nvPr/>
          </p:nvSpPr>
          <p:spPr bwMode="auto">
            <a:xfrm>
              <a:off x="6743" y="7669"/>
              <a:ext cx="1" cy="272"/>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41" name="Text Box 20">
              <a:extLst>
                <a:ext uri="{FF2B5EF4-FFF2-40B4-BE49-F238E27FC236}">
                  <a16:creationId xmlns:a16="http://schemas.microsoft.com/office/drawing/2014/main" id="{624E3FB2-000A-E74B-84BD-B55E7D9BBCCE}"/>
                </a:ext>
              </a:extLst>
            </p:cNvPr>
            <p:cNvSpPr txBox="1">
              <a:spLocks noChangeArrowheads="1"/>
            </p:cNvSpPr>
            <p:nvPr/>
          </p:nvSpPr>
          <p:spPr bwMode="auto">
            <a:xfrm>
              <a:off x="5803" y="7941"/>
              <a:ext cx="470"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a</a:t>
              </a:r>
              <a:r>
                <a:rPr lang="en-US" altLang="zh-CN" sz="1600" baseline="-25000">
                  <a:latin typeface="Times New Roman" panose="02020603050405020304" pitchFamily="18" charset="0"/>
                </a:rPr>
                <a:t>0</a:t>
              </a:r>
              <a:endParaRPr lang="en-US" altLang="zh-CN" sz="1600"/>
            </a:p>
          </p:txBody>
        </p:sp>
        <p:sp>
          <p:nvSpPr>
            <p:cNvPr id="154642" name="Text Box 21">
              <a:extLst>
                <a:ext uri="{FF2B5EF4-FFF2-40B4-BE49-F238E27FC236}">
                  <a16:creationId xmlns:a16="http://schemas.microsoft.com/office/drawing/2014/main" id="{759B24D6-DFB7-DC43-BCA5-629270C88591}"/>
                </a:ext>
              </a:extLst>
            </p:cNvPr>
            <p:cNvSpPr txBox="1">
              <a:spLocks noChangeArrowheads="1"/>
            </p:cNvSpPr>
            <p:nvPr/>
          </p:nvSpPr>
          <p:spPr bwMode="auto">
            <a:xfrm>
              <a:off x="6273" y="7941"/>
              <a:ext cx="470"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a</a:t>
              </a:r>
              <a:r>
                <a:rPr lang="en-US" altLang="zh-CN" sz="1600" baseline="-25000">
                  <a:latin typeface="Times New Roman" panose="02020603050405020304" pitchFamily="18" charset="0"/>
                </a:rPr>
                <a:t>1</a:t>
              </a:r>
              <a:endParaRPr lang="en-US" altLang="zh-CN" sz="1600"/>
            </a:p>
          </p:txBody>
        </p:sp>
        <p:sp>
          <p:nvSpPr>
            <p:cNvPr id="154643" name="Text Box 22">
              <a:extLst>
                <a:ext uri="{FF2B5EF4-FFF2-40B4-BE49-F238E27FC236}">
                  <a16:creationId xmlns:a16="http://schemas.microsoft.com/office/drawing/2014/main" id="{4D8426B5-372B-FA4B-AE39-178B0DAC13B4}"/>
                </a:ext>
              </a:extLst>
            </p:cNvPr>
            <p:cNvSpPr txBox="1">
              <a:spLocks noChangeArrowheads="1"/>
            </p:cNvSpPr>
            <p:nvPr/>
          </p:nvSpPr>
          <p:spPr bwMode="auto">
            <a:xfrm>
              <a:off x="6743" y="7941"/>
              <a:ext cx="469"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a</a:t>
              </a:r>
              <a:r>
                <a:rPr lang="en-US" altLang="zh-CN" sz="1600" baseline="-25000">
                  <a:latin typeface="Times New Roman" panose="02020603050405020304" pitchFamily="18" charset="0"/>
                </a:rPr>
                <a:t>2</a:t>
              </a:r>
              <a:endParaRPr lang="en-US" altLang="zh-CN" sz="1600"/>
            </a:p>
          </p:txBody>
        </p:sp>
        <p:sp>
          <p:nvSpPr>
            <p:cNvPr id="154644" name="Text Box 23">
              <a:extLst>
                <a:ext uri="{FF2B5EF4-FFF2-40B4-BE49-F238E27FC236}">
                  <a16:creationId xmlns:a16="http://schemas.microsoft.com/office/drawing/2014/main" id="{DBE828AF-22AE-304A-A7C0-9072A13EBF29}"/>
                </a:ext>
              </a:extLst>
            </p:cNvPr>
            <p:cNvSpPr txBox="1">
              <a:spLocks noChangeArrowheads="1"/>
            </p:cNvSpPr>
            <p:nvPr/>
          </p:nvSpPr>
          <p:spPr bwMode="auto">
            <a:xfrm>
              <a:off x="7212" y="7941"/>
              <a:ext cx="470"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a</a:t>
              </a:r>
              <a:r>
                <a:rPr lang="en-US" altLang="zh-CN" sz="1600" baseline="-25000">
                  <a:latin typeface="Times New Roman" panose="02020603050405020304" pitchFamily="18" charset="0"/>
                </a:rPr>
                <a:t>3</a:t>
              </a:r>
              <a:endParaRPr lang="en-US" altLang="zh-CN" sz="1600"/>
            </a:p>
          </p:txBody>
        </p:sp>
        <p:sp>
          <p:nvSpPr>
            <p:cNvPr id="154645" name="Text Box 24">
              <a:extLst>
                <a:ext uri="{FF2B5EF4-FFF2-40B4-BE49-F238E27FC236}">
                  <a16:creationId xmlns:a16="http://schemas.microsoft.com/office/drawing/2014/main" id="{D4A6AAC6-02F8-A443-8412-3F0953167AA5}"/>
                </a:ext>
              </a:extLst>
            </p:cNvPr>
            <p:cNvSpPr txBox="1">
              <a:spLocks noChangeArrowheads="1"/>
            </p:cNvSpPr>
            <p:nvPr/>
          </p:nvSpPr>
          <p:spPr bwMode="auto">
            <a:xfrm>
              <a:off x="5803" y="9436"/>
              <a:ext cx="470" cy="407"/>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a:t>
              </a:r>
              <a:r>
                <a:rPr lang="en-US" altLang="zh-CN" sz="1600" baseline="-25000">
                  <a:latin typeface="Times New Roman" panose="02020603050405020304" pitchFamily="18" charset="0"/>
                </a:rPr>
                <a:t>0</a:t>
              </a:r>
              <a:endParaRPr lang="en-US" altLang="zh-CN" sz="1600"/>
            </a:p>
          </p:txBody>
        </p:sp>
        <p:sp>
          <p:nvSpPr>
            <p:cNvPr id="154646" name="Text Box 25">
              <a:extLst>
                <a:ext uri="{FF2B5EF4-FFF2-40B4-BE49-F238E27FC236}">
                  <a16:creationId xmlns:a16="http://schemas.microsoft.com/office/drawing/2014/main" id="{7F801A22-2360-034B-B594-8D8D58F2ED9D}"/>
                </a:ext>
              </a:extLst>
            </p:cNvPr>
            <p:cNvSpPr txBox="1">
              <a:spLocks noChangeArrowheads="1"/>
            </p:cNvSpPr>
            <p:nvPr/>
          </p:nvSpPr>
          <p:spPr bwMode="auto">
            <a:xfrm>
              <a:off x="6273" y="9436"/>
              <a:ext cx="470" cy="407"/>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a:t>
              </a:r>
              <a:r>
                <a:rPr lang="en-US" altLang="zh-CN" sz="1600" baseline="-25000">
                  <a:latin typeface="Times New Roman" panose="02020603050405020304" pitchFamily="18" charset="0"/>
                </a:rPr>
                <a:t>1</a:t>
              </a:r>
              <a:endParaRPr lang="en-US" altLang="zh-CN" sz="1600"/>
            </a:p>
          </p:txBody>
        </p:sp>
        <p:sp>
          <p:nvSpPr>
            <p:cNvPr id="154647" name="Text Box 26">
              <a:extLst>
                <a:ext uri="{FF2B5EF4-FFF2-40B4-BE49-F238E27FC236}">
                  <a16:creationId xmlns:a16="http://schemas.microsoft.com/office/drawing/2014/main" id="{C212B8BB-1D26-E94C-937F-2D4932FA7A39}"/>
                </a:ext>
              </a:extLst>
            </p:cNvPr>
            <p:cNvSpPr txBox="1">
              <a:spLocks noChangeArrowheads="1"/>
            </p:cNvSpPr>
            <p:nvPr/>
          </p:nvSpPr>
          <p:spPr bwMode="auto">
            <a:xfrm>
              <a:off x="6743" y="9436"/>
              <a:ext cx="469" cy="407"/>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a:t>
              </a:r>
              <a:r>
                <a:rPr lang="en-US" altLang="zh-CN" sz="1600" baseline="-25000">
                  <a:latin typeface="Times New Roman" panose="02020603050405020304" pitchFamily="18" charset="0"/>
                </a:rPr>
                <a:t>2</a:t>
              </a:r>
              <a:endParaRPr lang="en-US" altLang="zh-CN" sz="1600"/>
            </a:p>
          </p:txBody>
        </p:sp>
        <p:sp>
          <p:nvSpPr>
            <p:cNvPr id="154648" name="Text Box 27">
              <a:extLst>
                <a:ext uri="{FF2B5EF4-FFF2-40B4-BE49-F238E27FC236}">
                  <a16:creationId xmlns:a16="http://schemas.microsoft.com/office/drawing/2014/main" id="{29289B30-E789-FE4A-A2ED-0C08599E0321}"/>
                </a:ext>
              </a:extLst>
            </p:cNvPr>
            <p:cNvSpPr txBox="1">
              <a:spLocks noChangeArrowheads="1"/>
            </p:cNvSpPr>
            <p:nvPr/>
          </p:nvSpPr>
          <p:spPr bwMode="auto">
            <a:xfrm>
              <a:off x="7212" y="9436"/>
              <a:ext cx="470" cy="407"/>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a:t>
              </a:r>
              <a:r>
                <a:rPr lang="en-US" altLang="zh-CN" sz="1600" baseline="-25000">
                  <a:latin typeface="Times New Roman" panose="02020603050405020304" pitchFamily="18" charset="0"/>
                </a:rPr>
                <a:t>3</a:t>
              </a:r>
              <a:endParaRPr lang="en-US" altLang="zh-CN" sz="1600"/>
            </a:p>
          </p:txBody>
        </p:sp>
        <p:sp>
          <p:nvSpPr>
            <p:cNvPr id="154649" name="Text Box 28">
              <a:extLst>
                <a:ext uri="{FF2B5EF4-FFF2-40B4-BE49-F238E27FC236}">
                  <a16:creationId xmlns:a16="http://schemas.microsoft.com/office/drawing/2014/main" id="{FFDDD56B-345E-B548-9088-D0224DCA991E}"/>
                </a:ext>
              </a:extLst>
            </p:cNvPr>
            <p:cNvSpPr txBox="1">
              <a:spLocks noChangeArrowheads="1"/>
            </p:cNvSpPr>
            <p:nvPr/>
          </p:nvSpPr>
          <p:spPr bwMode="auto">
            <a:xfrm>
              <a:off x="5803" y="8620"/>
              <a:ext cx="314"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s</a:t>
              </a:r>
              <a:endParaRPr lang="en-US" altLang="zh-CN" sz="1600"/>
            </a:p>
          </p:txBody>
        </p:sp>
        <p:sp>
          <p:nvSpPr>
            <p:cNvPr id="154650" name="Text Box 29">
              <a:extLst>
                <a:ext uri="{FF2B5EF4-FFF2-40B4-BE49-F238E27FC236}">
                  <a16:creationId xmlns:a16="http://schemas.microsoft.com/office/drawing/2014/main" id="{6C7683E2-777C-1141-8BB6-9F02DB84D509}"/>
                </a:ext>
              </a:extLst>
            </p:cNvPr>
            <p:cNvSpPr txBox="1">
              <a:spLocks noChangeArrowheads="1"/>
            </p:cNvSpPr>
            <p:nvPr/>
          </p:nvSpPr>
          <p:spPr bwMode="auto">
            <a:xfrm>
              <a:off x="6273" y="8620"/>
              <a:ext cx="313"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s</a:t>
              </a:r>
              <a:endParaRPr lang="en-US" altLang="zh-CN" sz="1600"/>
            </a:p>
          </p:txBody>
        </p:sp>
        <p:sp>
          <p:nvSpPr>
            <p:cNvPr id="154651" name="Text Box 30">
              <a:extLst>
                <a:ext uri="{FF2B5EF4-FFF2-40B4-BE49-F238E27FC236}">
                  <a16:creationId xmlns:a16="http://schemas.microsoft.com/office/drawing/2014/main" id="{19F3DCBF-4EBF-FA45-BAA5-8020E3ABD3F6}"/>
                </a:ext>
              </a:extLst>
            </p:cNvPr>
            <p:cNvSpPr txBox="1">
              <a:spLocks noChangeArrowheads="1"/>
            </p:cNvSpPr>
            <p:nvPr/>
          </p:nvSpPr>
          <p:spPr bwMode="auto">
            <a:xfrm>
              <a:off x="6743" y="8620"/>
              <a:ext cx="313"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s</a:t>
              </a:r>
              <a:endParaRPr lang="en-US" altLang="zh-CN" sz="1600"/>
            </a:p>
          </p:txBody>
        </p:sp>
        <p:sp>
          <p:nvSpPr>
            <p:cNvPr id="154652" name="Text Box 31">
              <a:extLst>
                <a:ext uri="{FF2B5EF4-FFF2-40B4-BE49-F238E27FC236}">
                  <a16:creationId xmlns:a16="http://schemas.microsoft.com/office/drawing/2014/main" id="{47EE0266-97FA-C647-8ACF-33A16D60B007}"/>
                </a:ext>
              </a:extLst>
            </p:cNvPr>
            <p:cNvSpPr txBox="1">
              <a:spLocks noChangeArrowheads="1"/>
            </p:cNvSpPr>
            <p:nvPr/>
          </p:nvSpPr>
          <p:spPr bwMode="auto">
            <a:xfrm>
              <a:off x="7212" y="8620"/>
              <a:ext cx="313"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s</a:t>
              </a:r>
              <a:endParaRPr lang="en-US" altLang="zh-CN" sz="1600"/>
            </a:p>
          </p:txBody>
        </p:sp>
        <p:sp>
          <p:nvSpPr>
            <p:cNvPr id="154653" name="Line 32">
              <a:extLst>
                <a:ext uri="{FF2B5EF4-FFF2-40B4-BE49-F238E27FC236}">
                  <a16:creationId xmlns:a16="http://schemas.microsoft.com/office/drawing/2014/main" id="{C6BBC511-6268-F54D-BEB4-0042F64CEE2B}"/>
                </a:ext>
              </a:extLst>
            </p:cNvPr>
            <p:cNvSpPr>
              <a:spLocks noChangeShapeType="1"/>
            </p:cNvSpPr>
            <p:nvPr/>
          </p:nvSpPr>
          <p:spPr bwMode="auto">
            <a:xfrm>
              <a:off x="5960" y="8349"/>
              <a:ext cx="1" cy="27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54" name="Line 33">
              <a:extLst>
                <a:ext uri="{FF2B5EF4-FFF2-40B4-BE49-F238E27FC236}">
                  <a16:creationId xmlns:a16="http://schemas.microsoft.com/office/drawing/2014/main" id="{BAD17357-973E-864C-8034-2FD398013306}"/>
                </a:ext>
              </a:extLst>
            </p:cNvPr>
            <p:cNvSpPr>
              <a:spLocks noChangeShapeType="1"/>
            </p:cNvSpPr>
            <p:nvPr/>
          </p:nvSpPr>
          <p:spPr bwMode="auto">
            <a:xfrm>
              <a:off x="6430" y="8349"/>
              <a:ext cx="1" cy="27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55" name="Line 34">
              <a:extLst>
                <a:ext uri="{FF2B5EF4-FFF2-40B4-BE49-F238E27FC236}">
                  <a16:creationId xmlns:a16="http://schemas.microsoft.com/office/drawing/2014/main" id="{57D12AC1-0142-1440-BA09-D65799DB26C8}"/>
                </a:ext>
              </a:extLst>
            </p:cNvPr>
            <p:cNvSpPr>
              <a:spLocks noChangeShapeType="1"/>
            </p:cNvSpPr>
            <p:nvPr/>
          </p:nvSpPr>
          <p:spPr bwMode="auto">
            <a:xfrm>
              <a:off x="6899" y="8349"/>
              <a:ext cx="1" cy="27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56" name="Line 35">
              <a:extLst>
                <a:ext uri="{FF2B5EF4-FFF2-40B4-BE49-F238E27FC236}">
                  <a16:creationId xmlns:a16="http://schemas.microsoft.com/office/drawing/2014/main" id="{B9D795C7-8FB2-4D40-9094-8286D0C22D21}"/>
                </a:ext>
              </a:extLst>
            </p:cNvPr>
            <p:cNvSpPr>
              <a:spLocks noChangeShapeType="1"/>
            </p:cNvSpPr>
            <p:nvPr/>
          </p:nvSpPr>
          <p:spPr bwMode="auto">
            <a:xfrm>
              <a:off x="7369" y="8349"/>
              <a:ext cx="1" cy="27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57" name="Line 36">
              <a:extLst>
                <a:ext uri="{FF2B5EF4-FFF2-40B4-BE49-F238E27FC236}">
                  <a16:creationId xmlns:a16="http://schemas.microsoft.com/office/drawing/2014/main" id="{818ED386-ACB1-D548-9FB5-CE74DF090764}"/>
                </a:ext>
              </a:extLst>
            </p:cNvPr>
            <p:cNvSpPr>
              <a:spLocks noChangeShapeType="1"/>
            </p:cNvSpPr>
            <p:nvPr/>
          </p:nvSpPr>
          <p:spPr bwMode="auto">
            <a:xfrm>
              <a:off x="5960" y="9028"/>
              <a:ext cx="1" cy="408"/>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58" name="Line 37">
              <a:extLst>
                <a:ext uri="{FF2B5EF4-FFF2-40B4-BE49-F238E27FC236}">
                  <a16:creationId xmlns:a16="http://schemas.microsoft.com/office/drawing/2014/main" id="{42BE5025-B35D-624F-82AE-C2ED8EF8FDA8}"/>
                </a:ext>
              </a:extLst>
            </p:cNvPr>
            <p:cNvSpPr>
              <a:spLocks noChangeShapeType="1"/>
            </p:cNvSpPr>
            <p:nvPr/>
          </p:nvSpPr>
          <p:spPr bwMode="auto">
            <a:xfrm>
              <a:off x="6430" y="9028"/>
              <a:ext cx="1" cy="408"/>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59" name="Line 38">
              <a:extLst>
                <a:ext uri="{FF2B5EF4-FFF2-40B4-BE49-F238E27FC236}">
                  <a16:creationId xmlns:a16="http://schemas.microsoft.com/office/drawing/2014/main" id="{9ABFFDD4-8753-0446-B91B-0017EEB53D06}"/>
                </a:ext>
              </a:extLst>
            </p:cNvPr>
            <p:cNvSpPr>
              <a:spLocks noChangeShapeType="1"/>
            </p:cNvSpPr>
            <p:nvPr/>
          </p:nvSpPr>
          <p:spPr bwMode="auto">
            <a:xfrm>
              <a:off x="6899" y="9028"/>
              <a:ext cx="1" cy="408"/>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60" name="Line 39">
              <a:extLst>
                <a:ext uri="{FF2B5EF4-FFF2-40B4-BE49-F238E27FC236}">
                  <a16:creationId xmlns:a16="http://schemas.microsoft.com/office/drawing/2014/main" id="{0CA72C18-D3E2-E24E-9DF3-95AF3C1AD3CB}"/>
                </a:ext>
              </a:extLst>
            </p:cNvPr>
            <p:cNvSpPr>
              <a:spLocks noChangeShapeType="1"/>
            </p:cNvSpPr>
            <p:nvPr/>
          </p:nvSpPr>
          <p:spPr bwMode="auto">
            <a:xfrm>
              <a:off x="7369" y="9028"/>
              <a:ext cx="1" cy="408"/>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61" name="Text Box 40">
              <a:extLst>
                <a:ext uri="{FF2B5EF4-FFF2-40B4-BE49-F238E27FC236}">
                  <a16:creationId xmlns:a16="http://schemas.microsoft.com/office/drawing/2014/main" id="{6EF5A136-0FC3-8845-9CAF-94FE39747D87}"/>
                </a:ext>
              </a:extLst>
            </p:cNvPr>
            <p:cNvSpPr txBox="1">
              <a:spLocks noChangeArrowheads="1"/>
            </p:cNvSpPr>
            <p:nvPr/>
          </p:nvSpPr>
          <p:spPr bwMode="auto">
            <a:xfrm>
              <a:off x="4395" y="10115"/>
              <a:ext cx="939"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B&lt;&lt;&lt;2</a:t>
              </a:r>
              <a:endParaRPr lang="en-US" altLang="zh-CN" sz="1600"/>
            </a:p>
          </p:txBody>
        </p:sp>
        <p:sp>
          <p:nvSpPr>
            <p:cNvPr id="154662" name="Text Box 41">
              <a:extLst>
                <a:ext uri="{FF2B5EF4-FFF2-40B4-BE49-F238E27FC236}">
                  <a16:creationId xmlns:a16="http://schemas.microsoft.com/office/drawing/2014/main" id="{591A6F2F-4F83-4D44-93DD-5CA8AC1E1C59}"/>
                </a:ext>
              </a:extLst>
            </p:cNvPr>
            <p:cNvSpPr txBox="1">
              <a:spLocks noChangeArrowheads="1"/>
            </p:cNvSpPr>
            <p:nvPr/>
          </p:nvSpPr>
          <p:spPr bwMode="auto">
            <a:xfrm>
              <a:off x="5647" y="10115"/>
              <a:ext cx="939"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B&lt;&lt;&lt;10</a:t>
              </a:r>
              <a:endParaRPr lang="en-US" altLang="zh-CN" sz="1600"/>
            </a:p>
          </p:txBody>
        </p:sp>
        <p:sp>
          <p:nvSpPr>
            <p:cNvPr id="154663" name="Text Box 42">
              <a:extLst>
                <a:ext uri="{FF2B5EF4-FFF2-40B4-BE49-F238E27FC236}">
                  <a16:creationId xmlns:a16="http://schemas.microsoft.com/office/drawing/2014/main" id="{FC5E808D-E486-E14E-A59D-6CAB8C58EE20}"/>
                </a:ext>
              </a:extLst>
            </p:cNvPr>
            <p:cNvSpPr txBox="1">
              <a:spLocks noChangeArrowheads="1"/>
            </p:cNvSpPr>
            <p:nvPr/>
          </p:nvSpPr>
          <p:spPr bwMode="auto">
            <a:xfrm>
              <a:off x="6899" y="10115"/>
              <a:ext cx="940"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B&lt;&lt;&lt;18</a:t>
              </a:r>
              <a:endParaRPr lang="en-US" altLang="zh-CN" sz="1600"/>
            </a:p>
          </p:txBody>
        </p:sp>
        <p:sp>
          <p:nvSpPr>
            <p:cNvPr id="154664" name="Text Box 43">
              <a:extLst>
                <a:ext uri="{FF2B5EF4-FFF2-40B4-BE49-F238E27FC236}">
                  <a16:creationId xmlns:a16="http://schemas.microsoft.com/office/drawing/2014/main" id="{C10F1AFB-D1A5-694C-A831-09CDE78E78EA}"/>
                </a:ext>
              </a:extLst>
            </p:cNvPr>
            <p:cNvSpPr txBox="1">
              <a:spLocks noChangeArrowheads="1"/>
            </p:cNvSpPr>
            <p:nvPr/>
          </p:nvSpPr>
          <p:spPr bwMode="auto">
            <a:xfrm>
              <a:off x="8151" y="10115"/>
              <a:ext cx="939" cy="408"/>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B&lt;&lt;&lt;24</a:t>
              </a:r>
              <a:endParaRPr lang="en-US" altLang="zh-CN" sz="1600"/>
            </a:p>
          </p:txBody>
        </p:sp>
        <p:sp>
          <p:nvSpPr>
            <p:cNvPr id="154665" name="Line 44">
              <a:extLst>
                <a:ext uri="{FF2B5EF4-FFF2-40B4-BE49-F238E27FC236}">
                  <a16:creationId xmlns:a16="http://schemas.microsoft.com/office/drawing/2014/main" id="{820E5976-8225-7943-965E-99940946A2C8}"/>
                </a:ext>
              </a:extLst>
            </p:cNvPr>
            <p:cNvSpPr>
              <a:spLocks noChangeShapeType="1"/>
            </p:cNvSpPr>
            <p:nvPr/>
          </p:nvSpPr>
          <p:spPr bwMode="auto">
            <a:xfrm>
              <a:off x="6743" y="9843"/>
              <a:ext cx="1" cy="95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66" name="Line 45">
              <a:extLst>
                <a:ext uri="{FF2B5EF4-FFF2-40B4-BE49-F238E27FC236}">
                  <a16:creationId xmlns:a16="http://schemas.microsoft.com/office/drawing/2014/main" id="{B0D2BE8F-ADA7-2B45-8CA0-4037CC5BC6CE}"/>
                </a:ext>
              </a:extLst>
            </p:cNvPr>
            <p:cNvSpPr>
              <a:spLocks noChangeShapeType="1"/>
            </p:cNvSpPr>
            <p:nvPr/>
          </p:nvSpPr>
          <p:spPr bwMode="auto">
            <a:xfrm flipH="1">
              <a:off x="4864" y="9979"/>
              <a:ext cx="3757" cy="1"/>
            </a:xfrm>
            <a:prstGeom prst="line">
              <a:avLst/>
            </a:prstGeom>
            <a:grpFill/>
            <a:ln w="9525">
              <a:solidFill>
                <a:srgbClr val="000000"/>
              </a:solidFill>
              <a:round/>
            </a:ln>
            <a:effectLst/>
          </p:spPr>
          <p:txBody>
            <a:bodyPr/>
            <a:lstStyle/>
            <a:p>
              <a:pPr eaLnBrk="0" hangingPunct="0">
                <a:defRPr/>
              </a:pPr>
              <a:endParaRPr lang="zh-CN" altLang="en-US"/>
            </a:p>
          </p:txBody>
        </p:sp>
        <p:sp>
          <p:nvSpPr>
            <p:cNvPr id="154667" name="Line 46">
              <a:extLst>
                <a:ext uri="{FF2B5EF4-FFF2-40B4-BE49-F238E27FC236}">
                  <a16:creationId xmlns:a16="http://schemas.microsoft.com/office/drawing/2014/main" id="{695EB104-1E4C-1744-B6C1-BD6B4D8E8D29}"/>
                </a:ext>
              </a:extLst>
            </p:cNvPr>
            <p:cNvSpPr>
              <a:spLocks noChangeShapeType="1"/>
            </p:cNvSpPr>
            <p:nvPr/>
          </p:nvSpPr>
          <p:spPr bwMode="auto">
            <a:xfrm>
              <a:off x="4864" y="9979"/>
              <a:ext cx="1" cy="136"/>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68" name="Line 47">
              <a:extLst>
                <a:ext uri="{FF2B5EF4-FFF2-40B4-BE49-F238E27FC236}">
                  <a16:creationId xmlns:a16="http://schemas.microsoft.com/office/drawing/2014/main" id="{4F7A147F-A29D-6D4F-802C-5F7C560F7720}"/>
                </a:ext>
              </a:extLst>
            </p:cNvPr>
            <p:cNvSpPr>
              <a:spLocks noChangeShapeType="1"/>
            </p:cNvSpPr>
            <p:nvPr/>
          </p:nvSpPr>
          <p:spPr bwMode="auto">
            <a:xfrm>
              <a:off x="6117" y="9979"/>
              <a:ext cx="1" cy="136"/>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69" name="Line 48">
              <a:extLst>
                <a:ext uri="{FF2B5EF4-FFF2-40B4-BE49-F238E27FC236}">
                  <a16:creationId xmlns:a16="http://schemas.microsoft.com/office/drawing/2014/main" id="{C12482DB-FCBA-9243-AF74-7796CE00CF6E}"/>
                </a:ext>
              </a:extLst>
            </p:cNvPr>
            <p:cNvSpPr>
              <a:spLocks noChangeShapeType="1"/>
            </p:cNvSpPr>
            <p:nvPr/>
          </p:nvSpPr>
          <p:spPr bwMode="auto">
            <a:xfrm>
              <a:off x="7369" y="9979"/>
              <a:ext cx="1" cy="136"/>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70" name="Line 49">
              <a:extLst>
                <a:ext uri="{FF2B5EF4-FFF2-40B4-BE49-F238E27FC236}">
                  <a16:creationId xmlns:a16="http://schemas.microsoft.com/office/drawing/2014/main" id="{4397A519-E53E-D14A-885C-70B92C1E0EE9}"/>
                </a:ext>
              </a:extLst>
            </p:cNvPr>
            <p:cNvSpPr>
              <a:spLocks noChangeShapeType="1"/>
            </p:cNvSpPr>
            <p:nvPr/>
          </p:nvSpPr>
          <p:spPr bwMode="auto">
            <a:xfrm>
              <a:off x="8621" y="9979"/>
              <a:ext cx="1" cy="136"/>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71" name="AutoShape 50">
              <a:extLst>
                <a:ext uri="{FF2B5EF4-FFF2-40B4-BE49-F238E27FC236}">
                  <a16:creationId xmlns:a16="http://schemas.microsoft.com/office/drawing/2014/main" id="{9EDE9C42-FC26-7B49-883D-08D6ED58CEC1}"/>
                </a:ext>
              </a:extLst>
            </p:cNvPr>
            <p:cNvSpPr>
              <a:spLocks noChangeArrowheads="1"/>
            </p:cNvSpPr>
            <p:nvPr/>
          </p:nvSpPr>
          <p:spPr bwMode="auto">
            <a:xfrm>
              <a:off x="6586" y="10794"/>
              <a:ext cx="313" cy="315"/>
            </a:xfrm>
            <a:prstGeom prst="flowChartOr">
              <a:avLst/>
            </a:prstGeom>
            <a:grpFill/>
            <a:ln w="9525">
              <a:solidFill>
                <a:srgbClr val="000000"/>
              </a:solidFill>
              <a:round/>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4672" name="Line 51">
              <a:extLst>
                <a:ext uri="{FF2B5EF4-FFF2-40B4-BE49-F238E27FC236}">
                  <a16:creationId xmlns:a16="http://schemas.microsoft.com/office/drawing/2014/main" id="{59D99193-8010-3B4F-8836-4564E6B297A6}"/>
                </a:ext>
              </a:extLst>
            </p:cNvPr>
            <p:cNvSpPr>
              <a:spLocks noChangeShapeType="1"/>
            </p:cNvSpPr>
            <p:nvPr/>
          </p:nvSpPr>
          <p:spPr bwMode="auto">
            <a:xfrm>
              <a:off x="4864" y="10523"/>
              <a:ext cx="1" cy="407"/>
            </a:xfrm>
            <a:prstGeom prst="line">
              <a:avLst/>
            </a:prstGeom>
            <a:grpFill/>
            <a:ln w="9525">
              <a:solidFill>
                <a:srgbClr val="000000"/>
              </a:solidFill>
              <a:round/>
            </a:ln>
            <a:effectLst/>
          </p:spPr>
          <p:txBody>
            <a:bodyPr/>
            <a:lstStyle/>
            <a:p>
              <a:pPr eaLnBrk="0" hangingPunct="0">
                <a:defRPr/>
              </a:pPr>
              <a:endParaRPr lang="zh-CN" altLang="en-US"/>
            </a:p>
          </p:txBody>
        </p:sp>
        <p:sp>
          <p:nvSpPr>
            <p:cNvPr id="154673" name="Line 52">
              <a:extLst>
                <a:ext uri="{FF2B5EF4-FFF2-40B4-BE49-F238E27FC236}">
                  <a16:creationId xmlns:a16="http://schemas.microsoft.com/office/drawing/2014/main" id="{DBD01BA5-0C7F-0942-80B5-10D3DF403FBD}"/>
                </a:ext>
              </a:extLst>
            </p:cNvPr>
            <p:cNvSpPr>
              <a:spLocks noChangeShapeType="1"/>
            </p:cNvSpPr>
            <p:nvPr/>
          </p:nvSpPr>
          <p:spPr bwMode="auto">
            <a:xfrm>
              <a:off x="4864" y="10930"/>
              <a:ext cx="1722" cy="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74" name="Line 53">
              <a:extLst>
                <a:ext uri="{FF2B5EF4-FFF2-40B4-BE49-F238E27FC236}">
                  <a16:creationId xmlns:a16="http://schemas.microsoft.com/office/drawing/2014/main" id="{41AB1F98-416E-6840-879A-1065B366E3AB}"/>
                </a:ext>
              </a:extLst>
            </p:cNvPr>
            <p:cNvSpPr>
              <a:spLocks noChangeShapeType="1"/>
            </p:cNvSpPr>
            <p:nvPr/>
          </p:nvSpPr>
          <p:spPr bwMode="auto">
            <a:xfrm>
              <a:off x="6117" y="10523"/>
              <a:ext cx="1" cy="135"/>
            </a:xfrm>
            <a:prstGeom prst="line">
              <a:avLst/>
            </a:prstGeom>
            <a:grpFill/>
            <a:ln w="9525">
              <a:solidFill>
                <a:srgbClr val="000000"/>
              </a:solidFill>
              <a:round/>
            </a:ln>
            <a:effectLst/>
          </p:spPr>
          <p:txBody>
            <a:bodyPr/>
            <a:lstStyle/>
            <a:p>
              <a:pPr eaLnBrk="0" hangingPunct="0">
                <a:defRPr/>
              </a:pPr>
              <a:endParaRPr lang="zh-CN" altLang="en-US"/>
            </a:p>
          </p:txBody>
        </p:sp>
        <p:sp>
          <p:nvSpPr>
            <p:cNvPr id="154675" name="Freeform 54">
              <a:extLst>
                <a:ext uri="{FF2B5EF4-FFF2-40B4-BE49-F238E27FC236}">
                  <a16:creationId xmlns:a16="http://schemas.microsoft.com/office/drawing/2014/main" id="{3A346C41-FEFA-604D-9186-6B6610BE6A0B}"/>
                </a:ext>
              </a:extLst>
            </p:cNvPr>
            <p:cNvSpPr/>
            <p:nvPr/>
          </p:nvSpPr>
          <p:spPr bwMode="auto">
            <a:xfrm>
              <a:off x="6117" y="10658"/>
              <a:ext cx="504" cy="175"/>
            </a:xfrm>
            <a:custGeom>
              <a:avLst/>
              <a:gdLst>
                <a:gd name="T0" fmla="*/ 0 w 579"/>
                <a:gd name="T1" fmla="*/ 0 h 199"/>
                <a:gd name="T2" fmla="*/ 504 w 579"/>
                <a:gd name="T3" fmla="*/ 175 h 199"/>
                <a:gd name="T4" fmla="*/ 495 w 579"/>
                <a:gd name="T5" fmla="*/ 166 h 199"/>
                <a:gd name="T6" fmla="*/ 0 60000 65536"/>
                <a:gd name="T7" fmla="*/ 0 60000 65536"/>
                <a:gd name="T8" fmla="*/ 0 60000 65536"/>
              </a:gdLst>
              <a:ahLst/>
              <a:cxnLst>
                <a:cxn ang="T6">
                  <a:pos x="T0" y="T1"/>
                </a:cxn>
                <a:cxn ang="T7">
                  <a:pos x="T2" y="T3"/>
                </a:cxn>
                <a:cxn ang="T8">
                  <a:pos x="T4" y="T5"/>
                </a:cxn>
              </a:cxnLst>
              <a:rect l="0" t="0" r="r" b="b"/>
              <a:pathLst>
                <a:path w="579" h="199">
                  <a:moveTo>
                    <a:pt x="0" y="0"/>
                  </a:moveTo>
                  <a:lnTo>
                    <a:pt x="579" y="199"/>
                  </a:lnTo>
                  <a:lnTo>
                    <a:pt x="569" y="189"/>
                  </a:lnTo>
                </a:path>
              </a:pathLst>
            </a:custGeom>
            <a:grpFill/>
            <a:ln w="9525" cap="flat" cmpd="sng">
              <a:solidFill>
                <a:srgbClr val="000000"/>
              </a:solidFill>
              <a:prstDash val="solid"/>
              <a:round/>
              <a:headEnd type="none" w="med" len="med"/>
              <a:tailEnd type="triangle" w="med" len="med"/>
            </a:ln>
            <a:effectLst/>
          </p:spPr>
          <p:txBody>
            <a:bodyPr/>
            <a:lstStyle/>
            <a:p>
              <a:pPr eaLnBrk="0" hangingPunct="0">
                <a:defRPr/>
              </a:pPr>
              <a:endParaRPr lang="zh-CN" altLang="en-US"/>
            </a:p>
          </p:txBody>
        </p:sp>
        <p:sp>
          <p:nvSpPr>
            <p:cNvPr id="154676" name="Line 55">
              <a:extLst>
                <a:ext uri="{FF2B5EF4-FFF2-40B4-BE49-F238E27FC236}">
                  <a16:creationId xmlns:a16="http://schemas.microsoft.com/office/drawing/2014/main" id="{2B9828FD-0599-8744-9E0E-547C558F6667}"/>
                </a:ext>
              </a:extLst>
            </p:cNvPr>
            <p:cNvSpPr>
              <a:spLocks noChangeShapeType="1"/>
            </p:cNvSpPr>
            <p:nvPr/>
          </p:nvSpPr>
          <p:spPr bwMode="auto">
            <a:xfrm>
              <a:off x="7369" y="10523"/>
              <a:ext cx="1" cy="135"/>
            </a:xfrm>
            <a:prstGeom prst="line">
              <a:avLst/>
            </a:prstGeom>
            <a:grpFill/>
            <a:ln w="9525">
              <a:solidFill>
                <a:srgbClr val="000000"/>
              </a:solidFill>
              <a:round/>
            </a:ln>
            <a:effectLst/>
          </p:spPr>
          <p:txBody>
            <a:bodyPr/>
            <a:lstStyle/>
            <a:p>
              <a:pPr eaLnBrk="0" hangingPunct="0">
                <a:defRPr/>
              </a:pPr>
              <a:endParaRPr lang="zh-CN" altLang="en-US"/>
            </a:p>
          </p:txBody>
        </p:sp>
        <p:sp>
          <p:nvSpPr>
            <p:cNvPr id="154677" name="Freeform 56">
              <a:extLst>
                <a:ext uri="{FF2B5EF4-FFF2-40B4-BE49-F238E27FC236}">
                  <a16:creationId xmlns:a16="http://schemas.microsoft.com/office/drawing/2014/main" id="{F734FDC2-3C9B-7749-A01F-BC031C24F698}"/>
                </a:ext>
              </a:extLst>
            </p:cNvPr>
            <p:cNvSpPr/>
            <p:nvPr/>
          </p:nvSpPr>
          <p:spPr bwMode="auto">
            <a:xfrm>
              <a:off x="6882" y="10658"/>
              <a:ext cx="487" cy="200"/>
            </a:xfrm>
            <a:custGeom>
              <a:avLst/>
              <a:gdLst>
                <a:gd name="T0" fmla="*/ 487 w 560"/>
                <a:gd name="T1" fmla="*/ 0 h 229"/>
                <a:gd name="T2" fmla="*/ 0 w 560"/>
                <a:gd name="T3" fmla="*/ 200 h 229"/>
                <a:gd name="T4" fmla="*/ 0 60000 65536"/>
                <a:gd name="T5" fmla="*/ 0 60000 65536"/>
              </a:gdLst>
              <a:ahLst/>
              <a:cxnLst>
                <a:cxn ang="T4">
                  <a:pos x="T0" y="T1"/>
                </a:cxn>
                <a:cxn ang="T5">
                  <a:pos x="T2" y="T3"/>
                </a:cxn>
              </a:cxnLst>
              <a:rect l="0" t="0" r="r" b="b"/>
              <a:pathLst>
                <a:path w="560" h="229">
                  <a:moveTo>
                    <a:pt x="560" y="0"/>
                  </a:moveTo>
                  <a:lnTo>
                    <a:pt x="0" y="229"/>
                  </a:lnTo>
                </a:path>
              </a:pathLst>
            </a:custGeom>
            <a:grpFill/>
            <a:ln w="9525" cap="flat" cmpd="sng">
              <a:solidFill>
                <a:srgbClr val="000000"/>
              </a:solidFill>
              <a:prstDash val="solid"/>
              <a:round/>
              <a:headEnd type="none" w="med" len="med"/>
              <a:tailEnd type="triangle" w="med" len="med"/>
            </a:ln>
            <a:effectLst/>
          </p:spPr>
          <p:txBody>
            <a:bodyPr/>
            <a:lstStyle/>
            <a:p>
              <a:pPr eaLnBrk="0" hangingPunct="0">
                <a:defRPr/>
              </a:pPr>
              <a:endParaRPr lang="zh-CN" altLang="en-US"/>
            </a:p>
          </p:txBody>
        </p:sp>
        <p:sp>
          <p:nvSpPr>
            <p:cNvPr id="154678" name="Line 57">
              <a:extLst>
                <a:ext uri="{FF2B5EF4-FFF2-40B4-BE49-F238E27FC236}">
                  <a16:creationId xmlns:a16="http://schemas.microsoft.com/office/drawing/2014/main" id="{AA5428CD-5A73-1C41-A199-D64621E602CE}"/>
                </a:ext>
              </a:extLst>
            </p:cNvPr>
            <p:cNvSpPr>
              <a:spLocks noChangeShapeType="1"/>
            </p:cNvSpPr>
            <p:nvPr/>
          </p:nvSpPr>
          <p:spPr bwMode="auto">
            <a:xfrm>
              <a:off x="8621" y="10523"/>
              <a:ext cx="1" cy="407"/>
            </a:xfrm>
            <a:prstGeom prst="line">
              <a:avLst/>
            </a:prstGeom>
            <a:grpFill/>
            <a:ln w="9525">
              <a:solidFill>
                <a:srgbClr val="000000"/>
              </a:solidFill>
              <a:round/>
            </a:ln>
            <a:effectLst/>
          </p:spPr>
          <p:txBody>
            <a:bodyPr/>
            <a:lstStyle/>
            <a:p>
              <a:pPr eaLnBrk="0" hangingPunct="0">
                <a:defRPr/>
              </a:pPr>
              <a:endParaRPr lang="zh-CN" altLang="en-US"/>
            </a:p>
          </p:txBody>
        </p:sp>
        <p:sp>
          <p:nvSpPr>
            <p:cNvPr id="154679" name="Line 58">
              <a:extLst>
                <a:ext uri="{FF2B5EF4-FFF2-40B4-BE49-F238E27FC236}">
                  <a16:creationId xmlns:a16="http://schemas.microsoft.com/office/drawing/2014/main" id="{2631FA66-9E90-8E4C-938C-C53219588321}"/>
                </a:ext>
              </a:extLst>
            </p:cNvPr>
            <p:cNvSpPr>
              <a:spLocks noChangeShapeType="1"/>
            </p:cNvSpPr>
            <p:nvPr/>
          </p:nvSpPr>
          <p:spPr bwMode="auto">
            <a:xfrm flipH="1">
              <a:off x="6899" y="10930"/>
              <a:ext cx="1722" cy="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80" name="Line 59">
              <a:extLst>
                <a:ext uri="{FF2B5EF4-FFF2-40B4-BE49-F238E27FC236}">
                  <a16:creationId xmlns:a16="http://schemas.microsoft.com/office/drawing/2014/main" id="{5EDDF86F-DBF2-3845-894D-5B76EA33BBE7}"/>
                </a:ext>
              </a:extLst>
            </p:cNvPr>
            <p:cNvSpPr>
              <a:spLocks noChangeShapeType="1"/>
            </p:cNvSpPr>
            <p:nvPr/>
          </p:nvSpPr>
          <p:spPr bwMode="auto">
            <a:xfrm>
              <a:off x="3299" y="7126"/>
              <a:ext cx="1" cy="4891"/>
            </a:xfrm>
            <a:prstGeom prst="line">
              <a:avLst/>
            </a:prstGeom>
            <a:grpFill/>
            <a:ln w="9525">
              <a:solidFill>
                <a:srgbClr val="000000"/>
              </a:solidFill>
              <a:round/>
            </a:ln>
            <a:effectLst/>
          </p:spPr>
          <p:txBody>
            <a:bodyPr/>
            <a:lstStyle/>
            <a:p>
              <a:pPr eaLnBrk="0" hangingPunct="0">
                <a:defRPr/>
              </a:pPr>
              <a:endParaRPr lang="zh-CN" altLang="en-US"/>
            </a:p>
          </p:txBody>
        </p:sp>
        <p:sp>
          <p:nvSpPr>
            <p:cNvPr id="154681" name="Line 60">
              <a:extLst>
                <a:ext uri="{FF2B5EF4-FFF2-40B4-BE49-F238E27FC236}">
                  <a16:creationId xmlns:a16="http://schemas.microsoft.com/office/drawing/2014/main" id="{EBBC3996-7801-B843-88F8-5D6C588D03CA}"/>
                </a:ext>
              </a:extLst>
            </p:cNvPr>
            <p:cNvSpPr>
              <a:spLocks noChangeShapeType="1"/>
            </p:cNvSpPr>
            <p:nvPr/>
          </p:nvSpPr>
          <p:spPr bwMode="auto">
            <a:xfrm>
              <a:off x="6743" y="11066"/>
              <a:ext cx="1" cy="273"/>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82" name="Text Box 61">
              <a:extLst>
                <a:ext uri="{FF2B5EF4-FFF2-40B4-BE49-F238E27FC236}">
                  <a16:creationId xmlns:a16="http://schemas.microsoft.com/office/drawing/2014/main" id="{92472755-9A7D-2D4C-B7FC-4ACAF78FBDC3}"/>
                </a:ext>
              </a:extLst>
            </p:cNvPr>
            <p:cNvSpPr txBox="1">
              <a:spLocks noChangeArrowheads="1"/>
            </p:cNvSpPr>
            <p:nvPr/>
          </p:nvSpPr>
          <p:spPr bwMode="auto">
            <a:xfrm>
              <a:off x="6117" y="11339"/>
              <a:ext cx="1252" cy="407"/>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C</a:t>
              </a:r>
              <a:endParaRPr lang="en-US" altLang="zh-CN" sz="1600"/>
            </a:p>
          </p:txBody>
        </p:sp>
        <p:sp>
          <p:nvSpPr>
            <p:cNvPr id="154683" name="Line 62">
              <a:extLst>
                <a:ext uri="{FF2B5EF4-FFF2-40B4-BE49-F238E27FC236}">
                  <a16:creationId xmlns:a16="http://schemas.microsoft.com/office/drawing/2014/main" id="{DCCD22E1-18D4-B144-8312-523AB8529FA6}"/>
                </a:ext>
              </a:extLst>
            </p:cNvPr>
            <p:cNvSpPr>
              <a:spLocks noChangeShapeType="1"/>
            </p:cNvSpPr>
            <p:nvPr/>
          </p:nvSpPr>
          <p:spPr bwMode="auto">
            <a:xfrm>
              <a:off x="6743" y="11746"/>
              <a:ext cx="1" cy="271"/>
            </a:xfrm>
            <a:prstGeom prst="line">
              <a:avLst/>
            </a:prstGeom>
            <a:grpFill/>
            <a:ln w="9525">
              <a:solidFill>
                <a:srgbClr val="000000"/>
              </a:solidFill>
              <a:round/>
            </a:ln>
            <a:effectLst/>
          </p:spPr>
          <p:txBody>
            <a:bodyPr/>
            <a:lstStyle/>
            <a:p>
              <a:pPr eaLnBrk="0" hangingPunct="0">
                <a:defRPr/>
              </a:pPr>
              <a:endParaRPr lang="zh-CN" altLang="en-US"/>
            </a:p>
          </p:txBody>
        </p:sp>
        <p:sp>
          <p:nvSpPr>
            <p:cNvPr id="154684" name="AutoShape 63">
              <a:extLst>
                <a:ext uri="{FF2B5EF4-FFF2-40B4-BE49-F238E27FC236}">
                  <a16:creationId xmlns:a16="http://schemas.microsoft.com/office/drawing/2014/main" id="{78B48F04-0DD9-0B40-9750-5786BEE4C962}"/>
                </a:ext>
              </a:extLst>
            </p:cNvPr>
            <p:cNvSpPr>
              <a:spLocks noChangeArrowheads="1"/>
            </p:cNvSpPr>
            <p:nvPr/>
          </p:nvSpPr>
          <p:spPr bwMode="auto">
            <a:xfrm>
              <a:off x="5490" y="11881"/>
              <a:ext cx="313" cy="315"/>
            </a:xfrm>
            <a:prstGeom prst="flowChartOr">
              <a:avLst/>
            </a:prstGeom>
            <a:grpFill/>
            <a:ln w="9525">
              <a:solidFill>
                <a:srgbClr val="000000"/>
              </a:solidFill>
              <a:round/>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4685" name="Line 64">
              <a:extLst>
                <a:ext uri="{FF2B5EF4-FFF2-40B4-BE49-F238E27FC236}">
                  <a16:creationId xmlns:a16="http://schemas.microsoft.com/office/drawing/2014/main" id="{EF242CB7-1DDF-DB4D-892A-45B73F0400FD}"/>
                </a:ext>
              </a:extLst>
            </p:cNvPr>
            <p:cNvSpPr>
              <a:spLocks noChangeShapeType="1"/>
            </p:cNvSpPr>
            <p:nvPr/>
          </p:nvSpPr>
          <p:spPr bwMode="auto">
            <a:xfrm flipH="1">
              <a:off x="5803" y="12017"/>
              <a:ext cx="940" cy="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86" name="Line 65">
              <a:extLst>
                <a:ext uri="{FF2B5EF4-FFF2-40B4-BE49-F238E27FC236}">
                  <a16:creationId xmlns:a16="http://schemas.microsoft.com/office/drawing/2014/main" id="{82E26D75-A335-5848-BF38-5F55A1AD890B}"/>
                </a:ext>
              </a:extLst>
            </p:cNvPr>
            <p:cNvSpPr>
              <a:spLocks noChangeShapeType="1"/>
            </p:cNvSpPr>
            <p:nvPr/>
          </p:nvSpPr>
          <p:spPr bwMode="auto">
            <a:xfrm>
              <a:off x="3299" y="12017"/>
              <a:ext cx="2191" cy="1"/>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87" name="Line 66">
              <a:extLst>
                <a:ext uri="{FF2B5EF4-FFF2-40B4-BE49-F238E27FC236}">
                  <a16:creationId xmlns:a16="http://schemas.microsoft.com/office/drawing/2014/main" id="{9AE2392A-A9CE-5746-928E-F0088ED12A1E}"/>
                </a:ext>
              </a:extLst>
            </p:cNvPr>
            <p:cNvSpPr>
              <a:spLocks noChangeShapeType="1"/>
            </p:cNvSpPr>
            <p:nvPr/>
          </p:nvSpPr>
          <p:spPr bwMode="auto">
            <a:xfrm>
              <a:off x="5647" y="12153"/>
              <a:ext cx="1" cy="273"/>
            </a:xfrm>
            <a:prstGeom prst="line">
              <a:avLst/>
            </a:prstGeom>
            <a:grpFill/>
            <a:ln w="9525">
              <a:solidFill>
                <a:srgbClr val="000000"/>
              </a:solidFill>
              <a:round/>
              <a:tailEnd type="triangle" w="med" len="med"/>
            </a:ln>
            <a:effectLst/>
          </p:spPr>
          <p:txBody>
            <a:bodyPr/>
            <a:lstStyle/>
            <a:p>
              <a:pPr eaLnBrk="0" hangingPunct="0">
                <a:defRPr/>
              </a:pPr>
              <a:endParaRPr lang="zh-CN" altLang="en-US"/>
            </a:p>
          </p:txBody>
        </p:sp>
        <p:sp>
          <p:nvSpPr>
            <p:cNvPr id="154688" name="Text Box 67">
              <a:extLst>
                <a:ext uri="{FF2B5EF4-FFF2-40B4-BE49-F238E27FC236}">
                  <a16:creationId xmlns:a16="http://schemas.microsoft.com/office/drawing/2014/main" id="{32E5E2DA-68AE-0C4C-8493-F0F226B4665B}"/>
                </a:ext>
              </a:extLst>
            </p:cNvPr>
            <p:cNvSpPr txBox="1">
              <a:spLocks noChangeArrowheads="1"/>
            </p:cNvSpPr>
            <p:nvPr/>
          </p:nvSpPr>
          <p:spPr bwMode="auto">
            <a:xfrm>
              <a:off x="5021" y="12426"/>
              <a:ext cx="1252" cy="406"/>
            </a:xfrm>
            <a:prstGeom prst="rect">
              <a:avLst/>
            </a:prstGeom>
            <a:grpFill/>
            <a:ln w="9525" algn="ctr">
              <a:solidFill>
                <a:srgbClr val="000000"/>
              </a:solidFill>
              <a:miter lim="800000"/>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X</a:t>
              </a:r>
              <a:r>
                <a:rPr lang="en-US" altLang="zh-CN" sz="1600" baseline="-25000">
                  <a:latin typeface="Times New Roman" panose="02020603050405020304" pitchFamily="18" charset="0"/>
                </a:rPr>
                <a:t>i+4</a:t>
              </a:r>
              <a:endParaRPr lang="en-US" altLang="zh-CN" sz="1600"/>
            </a:p>
          </p:txBody>
        </p:sp>
        <p:sp>
          <p:nvSpPr>
            <p:cNvPr id="154689" name="Text Box 68">
              <a:extLst>
                <a:ext uri="{FF2B5EF4-FFF2-40B4-BE49-F238E27FC236}">
                  <a16:creationId xmlns:a16="http://schemas.microsoft.com/office/drawing/2014/main" id="{8BFA979B-4F26-4249-9DBC-55B442442C2B}"/>
                </a:ext>
              </a:extLst>
            </p:cNvPr>
            <p:cNvSpPr txBox="1">
              <a:spLocks noChangeArrowheads="1"/>
            </p:cNvSpPr>
            <p:nvPr/>
          </p:nvSpPr>
          <p:spPr bwMode="auto">
            <a:xfrm>
              <a:off x="5334" y="7941"/>
              <a:ext cx="469" cy="407"/>
            </a:xfrm>
            <a:prstGeom prst="rect">
              <a:avLst/>
            </a:prstGeom>
            <a:grpFill/>
            <a:ln>
              <a:noFill/>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defRPr/>
              </a:pPr>
              <a:r>
                <a:rPr lang="en-US" altLang="zh-CN" sz="1600">
                  <a:latin typeface="Times New Roman" panose="02020603050405020304" pitchFamily="18" charset="0"/>
                </a:rPr>
                <a:t>A</a:t>
              </a:r>
              <a:endParaRPr lang="en-US" altLang="zh-CN" sz="1600"/>
            </a:p>
          </p:txBody>
        </p:sp>
        <p:sp>
          <p:nvSpPr>
            <p:cNvPr id="154690" name="Text Box 69">
              <a:extLst>
                <a:ext uri="{FF2B5EF4-FFF2-40B4-BE49-F238E27FC236}">
                  <a16:creationId xmlns:a16="http://schemas.microsoft.com/office/drawing/2014/main" id="{0ADBE5C9-BB7F-474A-B317-E2118127AEE0}"/>
                </a:ext>
              </a:extLst>
            </p:cNvPr>
            <p:cNvSpPr txBox="1">
              <a:spLocks noChangeArrowheads="1"/>
            </p:cNvSpPr>
            <p:nvPr/>
          </p:nvSpPr>
          <p:spPr bwMode="auto">
            <a:xfrm>
              <a:off x="5334" y="8620"/>
              <a:ext cx="469" cy="408"/>
            </a:xfrm>
            <a:prstGeom prst="rect">
              <a:avLst/>
            </a:prstGeom>
            <a:grpFill/>
            <a:ln>
              <a:noFill/>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dirty="0">
                  <a:latin typeface="Times New Roman" panose="02020603050405020304" pitchFamily="18" charset="0"/>
                </a:rPr>
                <a:t>τ</a:t>
              </a:r>
              <a:endParaRPr lang="en-US" altLang="zh-CN" sz="1600" dirty="0"/>
            </a:p>
          </p:txBody>
        </p:sp>
        <p:sp>
          <p:nvSpPr>
            <p:cNvPr id="154691" name="Text Box 70">
              <a:extLst>
                <a:ext uri="{FF2B5EF4-FFF2-40B4-BE49-F238E27FC236}">
                  <a16:creationId xmlns:a16="http://schemas.microsoft.com/office/drawing/2014/main" id="{FE880DC9-7FAE-6B44-8312-A4555D07178F}"/>
                </a:ext>
              </a:extLst>
            </p:cNvPr>
            <p:cNvSpPr txBox="1">
              <a:spLocks noChangeArrowheads="1"/>
            </p:cNvSpPr>
            <p:nvPr/>
          </p:nvSpPr>
          <p:spPr bwMode="auto">
            <a:xfrm>
              <a:off x="5334" y="9435"/>
              <a:ext cx="469" cy="408"/>
            </a:xfrm>
            <a:prstGeom prst="rect">
              <a:avLst/>
            </a:prstGeom>
            <a:grpFill/>
            <a:ln>
              <a:noFill/>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600">
                  <a:latin typeface="Times New Roman" panose="02020603050405020304" pitchFamily="18" charset="0"/>
                </a:rPr>
                <a:t>B</a:t>
              </a:r>
              <a:endParaRPr lang="en-US" altLang="zh-CN" sz="1600"/>
            </a:p>
          </p:txBody>
        </p:sp>
      </p:grpSp>
      <p:sp>
        <p:nvSpPr>
          <p:cNvPr id="2" name="矩形 1">
            <a:extLst>
              <a:ext uri="{FF2B5EF4-FFF2-40B4-BE49-F238E27FC236}">
                <a16:creationId xmlns:a16="http://schemas.microsoft.com/office/drawing/2014/main" id="{6696C9A0-9B27-6C4F-8165-A0D5D5470BF1}"/>
              </a:ext>
            </a:extLst>
          </p:cNvPr>
          <p:cNvSpPr/>
          <p:nvPr/>
        </p:nvSpPr>
        <p:spPr>
          <a:xfrm>
            <a:off x="3779838" y="1554163"/>
            <a:ext cx="5745162" cy="3322637"/>
          </a:xfrm>
          <a:prstGeom prst="rect">
            <a:avLst/>
          </a:prstGeom>
          <a:noFill/>
          <a:ln w="19050">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394243" name="文本框 2">
            <a:extLst>
              <a:ext uri="{FF2B5EF4-FFF2-40B4-BE49-F238E27FC236}">
                <a16:creationId xmlns:a16="http://schemas.microsoft.com/office/drawing/2014/main" id="{48699973-F232-784B-AF9C-D0EFF098D2B4}"/>
              </a:ext>
            </a:extLst>
          </p:cNvPr>
          <p:cNvSpPr txBox="1">
            <a:spLocks noChangeArrowheads="1"/>
          </p:cNvSpPr>
          <p:nvPr/>
        </p:nvSpPr>
        <p:spPr bwMode="auto">
          <a:xfrm>
            <a:off x="8501063" y="1543050"/>
            <a:ext cx="1008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latin typeface="Times New Roman" panose="02020603050405020304" pitchFamily="18" charset="0"/>
                <a:ea typeface="仿宋" pitchFamily="49" charset="-122"/>
              </a:rPr>
              <a:t>函数</a:t>
            </a:r>
            <a:r>
              <a:rPr lang="en-US" altLang="zh-CN" sz="2400" b="1">
                <a:latin typeface="Times New Roman" panose="02020603050405020304" pitchFamily="18" charset="0"/>
                <a:ea typeface="仿宋" pitchFamily="49" charset="-122"/>
              </a:rPr>
              <a:t>T</a:t>
            </a:r>
            <a:endParaRPr lang="zh-CN" altLang="en-US" sz="2400" b="1">
              <a:latin typeface="Times New Roman" panose="02020603050405020304" pitchFamily="18" charset="0"/>
              <a:ea typeface="仿宋" pitchFamily="49" charset="-122"/>
            </a:endParaRPr>
          </a:p>
        </p:txBody>
      </p:sp>
      <p:sp>
        <p:nvSpPr>
          <p:cNvPr id="394244" name="文本框 3">
            <a:extLst>
              <a:ext uri="{FF2B5EF4-FFF2-40B4-BE49-F238E27FC236}">
                <a16:creationId xmlns:a16="http://schemas.microsoft.com/office/drawing/2014/main" id="{8DE3D8DC-5931-9842-A19E-396F9E99F9E1}"/>
              </a:ext>
            </a:extLst>
          </p:cNvPr>
          <p:cNvSpPr txBox="1">
            <a:spLocks noChangeArrowheads="1"/>
          </p:cNvSpPr>
          <p:nvPr/>
        </p:nvSpPr>
        <p:spPr bwMode="auto">
          <a:xfrm>
            <a:off x="3870325" y="3821113"/>
            <a:ext cx="473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t>L</a:t>
            </a:r>
            <a:endParaRPr lang="zh-CN" altLang="en-US"/>
          </a:p>
        </p:txBody>
      </p:sp>
    </p:spTree>
  </p:cSld>
  <p:clrMapOvr>
    <a:masterClrMapping/>
  </p:clrMapOvr>
  <p:transition spd="slow"/>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132">
            <a:extLst>
              <a:ext uri="{FF2B5EF4-FFF2-40B4-BE49-F238E27FC236}">
                <a16:creationId xmlns:a16="http://schemas.microsoft.com/office/drawing/2014/main" id="{32A8D0FD-EDA7-7A4E-B5A9-CCF8E0AD47D6}"/>
              </a:ext>
            </a:extLst>
          </p:cNvPr>
          <p:cNvSpPr>
            <a:spLocks noGrp="1" noChangeArrowheads="1"/>
          </p:cNvSpPr>
          <p:nvPr>
            <p:ph type="title"/>
          </p:nvPr>
        </p:nvSpPr>
        <p:spPr>
          <a:xfrm>
            <a:off x="1465263" y="365125"/>
            <a:ext cx="9037637" cy="668338"/>
          </a:xfrm>
        </p:spPr>
        <p:txBody>
          <a:bodyPr/>
          <a:lstStyle/>
          <a:p>
            <a:pPr eaLnBrk="1" hangingPunct="1">
              <a:defRPr/>
            </a:pPr>
            <a:r>
              <a:rPr lang="en-US" altLang="zh-CN" dirty="0"/>
              <a:t>SM4</a:t>
            </a:r>
            <a:r>
              <a:rPr lang="zh-CN" altLang="en-US" dirty="0"/>
              <a:t>的</a:t>
            </a:r>
            <a:r>
              <a:rPr lang="en-US" altLang="zh-CN" dirty="0"/>
              <a:t>S</a:t>
            </a:r>
            <a:r>
              <a:rPr lang="zh-CN" altLang="en-US" dirty="0"/>
              <a:t>盒</a:t>
            </a:r>
          </a:p>
        </p:txBody>
      </p:sp>
      <p:graphicFrame>
        <p:nvGraphicFramePr>
          <p:cNvPr id="196694" name="Group 2134">
            <a:extLst>
              <a:ext uri="{FF2B5EF4-FFF2-40B4-BE49-F238E27FC236}">
                <a16:creationId xmlns:a16="http://schemas.microsoft.com/office/drawing/2014/main" id="{B60C9CA5-0CAD-A446-A4C6-DE0928897B63}"/>
              </a:ext>
            </a:extLst>
          </p:cNvPr>
          <p:cNvGraphicFramePr>
            <a:graphicFrameLocks noGrp="1"/>
          </p:cNvGraphicFramePr>
          <p:nvPr>
            <p:ph idx="4294967295"/>
          </p:nvPr>
        </p:nvGraphicFramePr>
        <p:xfrm>
          <a:off x="533400" y="1044575"/>
          <a:ext cx="11125200" cy="5486400"/>
        </p:xfrm>
        <a:graphic>
          <a:graphicData uri="http://schemas.openxmlformats.org/drawingml/2006/table">
            <a:tbl>
              <a:tblPr/>
              <a:tblGrid>
                <a:gridCol w="615794">
                  <a:extLst>
                    <a:ext uri="{9D8B030D-6E8A-4147-A177-3AD203B41FA5}">
                      <a16:colId xmlns:a16="http://schemas.microsoft.com/office/drawing/2014/main" val="20000"/>
                    </a:ext>
                  </a:extLst>
                </a:gridCol>
                <a:gridCol w="618067">
                  <a:extLst>
                    <a:ext uri="{9D8B030D-6E8A-4147-A177-3AD203B41FA5}">
                      <a16:colId xmlns:a16="http://schemas.microsoft.com/office/drawing/2014/main" val="20001"/>
                    </a:ext>
                  </a:extLst>
                </a:gridCol>
                <a:gridCol w="615795">
                  <a:extLst>
                    <a:ext uri="{9D8B030D-6E8A-4147-A177-3AD203B41FA5}">
                      <a16:colId xmlns:a16="http://schemas.microsoft.com/office/drawing/2014/main" val="20002"/>
                    </a:ext>
                  </a:extLst>
                </a:gridCol>
                <a:gridCol w="615794">
                  <a:extLst>
                    <a:ext uri="{9D8B030D-6E8A-4147-A177-3AD203B41FA5}">
                      <a16:colId xmlns:a16="http://schemas.microsoft.com/office/drawing/2014/main" val="20003"/>
                    </a:ext>
                  </a:extLst>
                </a:gridCol>
                <a:gridCol w="618067">
                  <a:extLst>
                    <a:ext uri="{9D8B030D-6E8A-4147-A177-3AD203B41FA5}">
                      <a16:colId xmlns:a16="http://schemas.microsoft.com/office/drawing/2014/main" val="20004"/>
                    </a:ext>
                  </a:extLst>
                </a:gridCol>
                <a:gridCol w="615795">
                  <a:extLst>
                    <a:ext uri="{9D8B030D-6E8A-4147-A177-3AD203B41FA5}">
                      <a16:colId xmlns:a16="http://schemas.microsoft.com/office/drawing/2014/main" val="20005"/>
                    </a:ext>
                  </a:extLst>
                </a:gridCol>
                <a:gridCol w="618067">
                  <a:extLst>
                    <a:ext uri="{9D8B030D-6E8A-4147-A177-3AD203B41FA5}">
                      <a16:colId xmlns:a16="http://schemas.microsoft.com/office/drawing/2014/main" val="20006"/>
                    </a:ext>
                  </a:extLst>
                </a:gridCol>
                <a:gridCol w="615794">
                  <a:extLst>
                    <a:ext uri="{9D8B030D-6E8A-4147-A177-3AD203B41FA5}">
                      <a16:colId xmlns:a16="http://schemas.microsoft.com/office/drawing/2014/main" val="20007"/>
                    </a:ext>
                  </a:extLst>
                </a:gridCol>
                <a:gridCol w="615795">
                  <a:extLst>
                    <a:ext uri="{9D8B030D-6E8A-4147-A177-3AD203B41FA5}">
                      <a16:colId xmlns:a16="http://schemas.microsoft.com/office/drawing/2014/main" val="20008"/>
                    </a:ext>
                  </a:extLst>
                </a:gridCol>
                <a:gridCol w="618067">
                  <a:extLst>
                    <a:ext uri="{9D8B030D-6E8A-4147-A177-3AD203B41FA5}">
                      <a16:colId xmlns:a16="http://schemas.microsoft.com/office/drawing/2014/main" val="20009"/>
                    </a:ext>
                  </a:extLst>
                </a:gridCol>
                <a:gridCol w="618067">
                  <a:extLst>
                    <a:ext uri="{9D8B030D-6E8A-4147-A177-3AD203B41FA5}">
                      <a16:colId xmlns:a16="http://schemas.microsoft.com/office/drawing/2014/main" val="20010"/>
                    </a:ext>
                  </a:extLst>
                </a:gridCol>
                <a:gridCol w="620338">
                  <a:extLst>
                    <a:ext uri="{9D8B030D-6E8A-4147-A177-3AD203B41FA5}">
                      <a16:colId xmlns:a16="http://schemas.microsoft.com/office/drawing/2014/main" val="20011"/>
                    </a:ext>
                  </a:extLst>
                </a:gridCol>
                <a:gridCol w="620339">
                  <a:extLst>
                    <a:ext uri="{9D8B030D-6E8A-4147-A177-3AD203B41FA5}">
                      <a16:colId xmlns:a16="http://schemas.microsoft.com/office/drawing/2014/main" val="20012"/>
                    </a:ext>
                  </a:extLst>
                </a:gridCol>
                <a:gridCol w="620338">
                  <a:extLst>
                    <a:ext uri="{9D8B030D-6E8A-4147-A177-3AD203B41FA5}">
                      <a16:colId xmlns:a16="http://schemas.microsoft.com/office/drawing/2014/main" val="20013"/>
                    </a:ext>
                  </a:extLst>
                </a:gridCol>
                <a:gridCol w="620339">
                  <a:extLst>
                    <a:ext uri="{9D8B030D-6E8A-4147-A177-3AD203B41FA5}">
                      <a16:colId xmlns:a16="http://schemas.microsoft.com/office/drawing/2014/main" val="20014"/>
                    </a:ext>
                  </a:extLst>
                </a:gridCol>
                <a:gridCol w="618067">
                  <a:extLst>
                    <a:ext uri="{9D8B030D-6E8A-4147-A177-3AD203B41FA5}">
                      <a16:colId xmlns:a16="http://schemas.microsoft.com/office/drawing/2014/main" val="20015"/>
                    </a:ext>
                  </a:extLst>
                </a:gridCol>
                <a:gridCol w="620338">
                  <a:extLst>
                    <a:ext uri="{9D8B030D-6E8A-4147-A177-3AD203B41FA5}">
                      <a16:colId xmlns:a16="http://schemas.microsoft.com/office/drawing/2014/main" val="20016"/>
                    </a:ext>
                  </a:extLst>
                </a:gridCol>
                <a:gridCol w="620339">
                  <a:extLst>
                    <a:ext uri="{9D8B030D-6E8A-4147-A177-3AD203B41FA5}">
                      <a16:colId xmlns:a16="http://schemas.microsoft.com/office/drawing/2014/main" val="20017"/>
                    </a:ext>
                  </a:extLst>
                </a:gridCol>
              </a:tblGrid>
              <a:tr h="147638">
                <a:tc rowSpan="2"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1400" b="1"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en-CN"/>
                    </a:p>
                  </a:txBody>
                  <a:tcPr/>
                </a:tc>
                <a:tc grid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tc hMerge="1">
                  <a:txBody>
                    <a:bodyPr/>
                    <a:lstStyle/>
                    <a:p>
                      <a:endParaRPr lang="en-CN"/>
                    </a:p>
                  </a:txBody>
                  <a:tcPr/>
                </a:tc>
                <a:extLst>
                  <a:ext uri="{0D108BD9-81ED-4DB2-BD59-A6C34878D82A}">
                    <a16:rowId xmlns:a16="http://schemas.microsoft.com/office/drawing/2014/main" val="10000"/>
                  </a:ext>
                </a:extLst>
              </a:tr>
              <a:tr h="163513">
                <a:tc gridSpan="2" vMerge="1">
                  <a:txBody>
                    <a:bodyPr/>
                    <a:lstStyle/>
                    <a:p>
                      <a:endParaRPr lang="en-CN"/>
                    </a:p>
                  </a:txBody>
                  <a:tcPr/>
                </a:tc>
                <a:tc hMerge="1"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8125">
                <a:tc rowSpan="1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6538">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6538">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36538">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36538">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c5</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c6</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84</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38125">
                <a:tc vMerge="1">
                  <a:txBody>
                    <a:bodyPr/>
                    <a:lstStyle/>
                    <a:p>
                      <a:endParaRPr lang="en-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dc</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4d</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5f</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3e</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cb</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39</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76225" algn="l"/>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48</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23713" marR="123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transition spd="slow"/>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7" name="标题 1">
            <a:extLst>
              <a:ext uri="{FF2B5EF4-FFF2-40B4-BE49-F238E27FC236}">
                <a16:creationId xmlns:a16="http://schemas.microsoft.com/office/drawing/2014/main" id="{7CA5F577-CFE8-2849-AD28-C94C80224FE5}"/>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SM4</a:t>
            </a:r>
            <a:r>
              <a:rPr lang="zh-CN" altLang="en-US">
                <a:solidFill>
                  <a:srgbClr val="1F4E79"/>
                </a:solidFill>
              </a:rPr>
              <a:t>的</a:t>
            </a:r>
            <a:r>
              <a:rPr lang="en-US" altLang="zh-CN">
                <a:solidFill>
                  <a:srgbClr val="1F4E79"/>
                </a:solidFill>
              </a:rPr>
              <a:t>S</a:t>
            </a:r>
            <a:r>
              <a:rPr lang="zh-CN" altLang="en-US">
                <a:solidFill>
                  <a:srgbClr val="1F4E79"/>
                </a:solidFill>
              </a:rPr>
              <a:t>盒说明</a:t>
            </a:r>
          </a:p>
        </p:txBody>
      </p:sp>
      <p:sp>
        <p:nvSpPr>
          <p:cNvPr id="398338" name="内容占位符 2">
            <a:extLst>
              <a:ext uri="{FF2B5EF4-FFF2-40B4-BE49-F238E27FC236}">
                <a16:creationId xmlns:a16="http://schemas.microsoft.com/office/drawing/2014/main" id="{3E7E6961-5197-3C46-8F89-C171AD9726DD}"/>
              </a:ext>
            </a:extLst>
          </p:cNvPr>
          <p:cNvSpPr>
            <a:spLocks noGrp="1" noChangeArrowheads="1"/>
          </p:cNvSpPr>
          <p:nvPr>
            <p:ph idx="1"/>
          </p:nvPr>
        </p:nvSpPr>
        <p:spPr>
          <a:xfrm>
            <a:off x="823913" y="1465263"/>
            <a:ext cx="10515600" cy="4579937"/>
          </a:xfrm>
        </p:spPr>
        <p:txBody>
          <a:bodyPr/>
          <a:lstStyle/>
          <a:p>
            <a:r>
              <a:rPr lang="zh-CN" altLang="en-US"/>
              <a:t>非线性变换</a:t>
            </a:r>
            <a:r>
              <a:rPr lang="en-US" altLang="zh-CN"/>
              <a:t>τ</a:t>
            </a:r>
            <a:r>
              <a:rPr lang="zh-CN" altLang="en-US"/>
              <a:t>中所使用的</a:t>
            </a:r>
            <a:r>
              <a:rPr lang="en-US" altLang="zh-CN"/>
              <a:t>S</a:t>
            </a:r>
            <a:r>
              <a:rPr lang="zh-CN" altLang="en-US"/>
              <a:t>盒是一个具有很好密码学特性的、由</a:t>
            </a:r>
            <a:r>
              <a:rPr lang="en-US" altLang="zh-CN"/>
              <a:t>8</a:t>
            </a:r>
            <a:r>
              <a:rPr lang="zh-CN" altLang="en-US"/>
              <a:t>比特输入产生</a:t>
            </a:r>
            <a:r>
              <a:rPr lang="en-US" altLang="zh-CN"/>
              <a:t>8</a:t>
            </a:r>
            <a:r>
              <a:rPr lang="zh-CN" altLang="en-US"/>
              <a:t>比特输出的置换</a:t>
            </a:r>
            <a:endParaRPr lang="en-US" altLang="zh-CN"/>
          </a:p>
          <a:p>
            <a:r>
              <a:rPr lang="zh-CN" altLang="en-US"/>
              <a:t>在设计原理上，</a:t>
            </a:r>
            <a:r>
              <a:rPr lang="en-US" altLang="zh-CN"/>
              <a:t>SMS4</a:t>
            </a:r>
            <a:r>
              <a:rPr lang="zh-CN" altLang="en-US"/>
              <a:t>比</a:t>
            </a:r>
            <a:r>
              <a:rPr lang="en-US" altLang="zh-CN"/>
              <a:t>AES</a:t>
            </a:r>
            <a:r>
              <a:rPr lang="zh-CN" altLang="en-US"/>
              <a:t>的</a:t>
            </a:r>
            <a:r>
              <a:rPr lang="en-US" altLang="zh-CN"/>
              <a:t>S</a:t>
            </a:r>
            <a:r>
              <a:rPr lang="zh-CN" altLang="en-US"/>
              <a:t>盒设计多了一个仿射变换</a:t>
            </a:r>
            <a:endParaRPr lang="en-US" altLang="zh-CN"/>
          </a:p>
          <a:p>
            <a:r>
              <a:rPr lang="zh-CN" altLang="en-US"/>
              <a:t>即</a:t>
            </a:r>
            <a:endParaRPr lang="en-US" altLang="zh-CN"/>
          </a:p>
          <a:p>
            <a:endParaRPr lang="en-US" altLang="zh-CN"/>
          </a:p>
          <a:p>
            <a:endParaRPr lang="zh-CN" altLang="en-US"/>
          </a:p>
          <a:p>
            <a:r>
              <a:rPr lang="en-US" altLang="zh-CN"/>
              <a:t>SMS4</a:t>
            </a:r>
            <a:r>
              <a:rPr lang="zh-CN" altLang="en-US"/>
              <a:t>有很高的灵活性，所采用的</a:t>
            </a:r>
            <a:r>
              <a:rPr lang="en-US" altLang="zh-CN"/>
              <a:t>S</a:t>
            </a:r>
            <a:r>
              <a:rPr lang="zh-CN" altLang="en-US"/>
              <a:t>盒可以灵活地被替换，以应对突发性的安全威胁。</a:t>
            </a:r>
          </a:p>
          <a:p>
            <a:endParaRPr lang="zh-CN" altLang="en-US"/>
          </a:p>
          <a:p>
            <a:r>
              <a:rPr lang="zh-CN" altLang="en-US" sz="1800"/>
              <a:t>Analysis of the SMS4 Block Cipher</a:t>
            </a:r>
            <a:r>
              <a:rPr lang="en-GB" altLang="zh-CN" sz="1800"/>
              <a:t>. Fen Liu, Wen Ji, Lei Hu, Jintai Ding. ACISP 2007.</a:t>
            </a:r>
          </a:p>
        </p:txBody>
      </p:sp>
      <mc:AlternateContent xmlns:mc="http://schemas.openxmlformats.org/markup-compatibility/2006" xmlns:a14="http://schemas.microsoft.com/office/drawing/2010/main">
        <mc:Choice Requires="a14">
          <p:sp>
            <p:nvSpPr>
              <p:cNvPr id="398339" name="Object 12">
                <a:extLst>
                  <a:ext uri="{FF2B5EF4-FFF2-40B4-BE49-F238E27FC236}">
                    <a16:creationId xmlns:a16="http://schemas.microsoft.com/office/drawing/2014/main" id="{5B5CA02A-2B50-BF4F-849C-92244A91BCFB}"/>
                  </a:ext>
                </a:extLst>
              </p:cNvPr>
              <p:cNvSpPr txBox="1"/>
              <p:nvPr/>
            </p:nvSpPr>
            <p:spPr bwMode="auto">
              <a:xfrm>
                <a:off x="3200400" y="2895600"/>
                <a:ext cx="4114800" cy="71913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b="1" i="1">
                          <a:solidFill>
                            <a:srgbClr val="000000"/>
                          </a:solidFill>
                          <a:latin typeface="Cambria Math" panose="02040503050406030204" pitchFamily="18" charset="0"/>
                        </a:rPr>
                        <m:t>𝒚</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𝑩</m:t>
                      </m:r>
                      <m:sSup>
                        <m:sSupPr>
                          <m:ctrlPr>
                            <a:rPr lang="zh-CN" altLang="en-US" sz="2400" b="1" i="1">
                              <a:solidFill>
                                <a:srgbClr val="000000"/>
                              </a:solidFill>
                              <a:latin typeface="Cambria Math" panose="02040503050406030204" pitchFamily="18" charset="0"/>
                            </a:rPr>
                          </m:ctrlPr>
                        </m:sSupPr>
                        <m:e>
                          <m:r>
                            <a:rPr lang="zh-CN" altLang="en-US" sz="2400" b="1" i="1">
                              <a:solidFill>
                                <a:srgbClr val="000000"/>
                              </a:solidFill>
                              <a:latin typeface="Cambria Math" panose="02040503050406030204" pitchFamily="18" charset="0"/>
                            </a:rPr>
                            <m:t>)</m:t>
                          </m:r>
                        </m:e>
                        <m:sup>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𝟏</m:t>
                          </m:r>
                        </m:sup>
                      </m:sSup>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𝑩</m:t>
                      </m:r>
                    </m:oMath>
                  </m:oMathPara>
                </a14:m>
                <a:endParaRPr lang="zh-CN" altLang="en-US" sz="2400" b="1" dirty="0"/>
              </a:p>
            </p:txBody>
          </p:sp>
        </mc:Choice>
        <mc:Fallback xmlns="">
          <p:sp>
            <p:nvSpPr>
              <p:cNvPr id="398339" name="Object 12">
                <a:extLst>
                  <a:ext uri="{FF2B5EF4-FFF2-40B4-BE49-F238E27FC236}">
                    <a16:creationId xmlns:a16="http://schemas.microsoft.com/office/drawing/2014/main" id="{5B5CA02A-2B50-BF4F-849C-92244A91BCFB}"/>
                  </a:ext>
                </a:extLst>
              </p:cNvPr>
              <p:cNvSpPr txBox="1">
                <a:spLocks noRot="1" noChangeAspect="1" noMove="1" noResize="1" noEditPoints="1" noAdjustHandles="1" noChangeArrowheads="1" noChangeShapeType="1" noTextEdit="1"/>
              </p:cNvSpPr>
              <p:nvPr/>
            </p:nvSpPr>
            <p:spPr bwMode="auto">
              <a:xfrm>
                <a:off x="3200400" y="2895600"/>
                <a:ext cx="4114800" cy="719138"/>
              </a:xfrm>
              <a:prstGeom prst="rect">
                <a:avLst/>
              </a:prstGeom>
              <a:blipFill>
                <a:blip r:embed="rId3"/>
                <a:stretch>
                  <a:fillRect/>
                </a:stretch>
              </a:blipFill>
              <a:ln>
                <a:noFill/>
              </a:ln>
            </p:spPr>
            <p:txBody>
              <a:bodyPr/>
              <a:lstStyle/>
              <a:p>
                <a:r>
                  <a:rPr lang="en-CN">
                    <a:noFill/>
                  </a:rPr>
                  <a:t> </a:t>
                </a:r>
              </a:p>
            </p:txBody>
          </p:sp>
        </mc:Fallback>
      </mc:AlternateContent>
    </p:spTree>
  </p:cSld>
  <p:clrMapOvr>
    <a:masterClrMapping/>
  </p:clrMapOvr>
  <p:transition spd="slow"/>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6AE9CB90-A82B-A243-B56D-EC9969180778}"/>
              </a:ext>
            </a:extLst>
          </p:cNvPr>
          <p:cNvSpPr>
            <a:spLocks noGrp="1" noChangeArrowheads="1"/>
          </p:cNvSpPr>
          <p:nvPr>
            <p:ph type="title"/>
          </p:nvPr>
        </p:nvSpPr>
        <p:spPr>
          <a:xfrm>
            <a:off x="1465263" y="365125"/>
            <a:ext cx="9037637" cy="668338"/>
          </a:xfrm>
        </p:spPr>
        <p:txBody>
          <a:bodyPr/>
          <a:lstStyle/>
          <a:p>
            <a:pPr eaLnBrk="1" hangingPunct="1">
              <a:defRPr/>
            </a:pPr>
            <a:r>
              <a:rPr lang="en-US" altLang="zh-CN" dirty="0"/>
              <a:t>SM4</a:t>
            </a:r>
            <a:r>
              <a:rPr lang="zh-CN" altLang="en-US" dirty="0"/>
              <a:t>的加密算法和解密算法 </a:t>
            </a:r>
          </a:p>
        </p:txBody>
      </p:sp>
      <mc:AlternateContent xmlns:mc="http://schemas.openxmlformats.org/markup-compatibility/2006" xmlns:a14="http://schemas.microsoft.com/office/drawing/2010/main">
        <mc:Choice Requires="a14">
          <p:sp>
            <p:nvSpPr>
              <p:cNvPr id="400386" name="Rectangle 3">
                <a:extLst>
                  <a:ext uri="{FF2B5EF4-FFF2-40B4-BE49-F238E27FC236}">
                    <a16:creationId xmlns:a16="http://schemas.microsoft.com/office/drawing/2014/main" id="{68155E53-9B52-DF43-A21D-617AEA69ACF9}"/>
                  </a:ext>
                </a:extLst>
              </p:cNvPr>
              <p:cNvSpPr>
                <a:spLocks noGrp="1" noChangeArrowheads="1"/>
              </p:cNvSpPr>
              <p:nvPr>
                <p:ph idx="1"/>
              </p:nvPr>
            </p:nvSpPr>
            <p:spPr>
              <a:xfrm>
                <a:off x="838200" y="1049338"/>
                <a:ext cx="10972800" cy="4578350"/>
              </a:xfrm>
            </p:spPr>
            <p:txBody>
              <a:bodyPr/>
              <a:lstStyle/>
              <a:p>
                <a:pPr eaLnBrk="1" hangingPunct="1">
                  <a:lnSpc>
                    <a:spcPct val="120000"/>
                  </a:lnSpc>
                </a:pPr>
                <a:r>
                  <a:rPr lang="zh-CN" altLang="en-US" sz="2800" dirty="0"/>
                  <a:t>设明文输入为 </a:t>
                </a:r>
                <a14:m>
                  <m:oMath xmlns:m="http://schemas.openxmlformats.org/officeDocument/2006/math">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1" i="1">
                            <a:solidFill>
                              <a:srgbClr val="000000"/>
                            </a:solidFill>
                            <a:latin typeface="Cambria Math" panose="02040503050406030204" pitchFamily="18" charset="0"/>
                          </a:rPr>
                          <m:t>𝒁</m:t>
                        </m:r>
                      </m:e>
                      <m:sub>
                        <m:r>
                          <a:rPr lang="zh-CN" altLang="en-US" sz="2800" b="1" i="1">
                            <a:solidFill>
                              <a:srgbClr val="000000"/>
                            </a:solidFill>
                            <a:latin typeface="Cambria Math" panose="02040503050406030204" pitchFamily="18" charset="0"/>
                          </a:rPr>
                          <m:t>𝟐</m:t>
                        </m:r>
                      </m:sub>
                      <m:sup>
                        <m:r>
                          <a:rPr lang="zh-CN" altLang="en-US" sz="2800" b="1" i="1">
                            <a:solidFill>
                              <a:srgbClr val="000000"/>
                            </a:solidFill>
                            <a:latin typeface="Cambria Math" panose="02040503050406030204" pitchFamily="18" charset="0"/>
                          </a:rPr>
                          <m:t>𝟑𝟐</m:t>
                        </m:r>
                      </m:sup>
                    </m:sSubSup>
                    <m:sSup>
                      <m:sSupPr>
                        <m:ctrlPr>
                          <a:rPr lang="zh-CN" altLang="en-US" sz="2800" i="1">
                            <a:solidFill>
                              <a:srgbClr val="000000"/>
                            </a:solidFill>
                            <a:latin typeface="Cambria Math" panose="02040503050406030204" pitchFamily="18" charset="0"/>
                          </a:rPr>
                        </m:ctrlPr>
                      </m:sSupPr>
                      <m:e>
                        <m:r>
                          <a:rPr lang="zh-CN" altLang="en-US" sz="2800" b="1" i="1">
                            <a:solidFill>
                              <a:srgbClr val="000000"/>
                            </a:solidFill>
                            <a:latin typeface="Cambria Math" panose="02040503050406030204" pitchFamily="18" charset="0"/>
                          </a:rPr>
                          <m:t>)</m:t>
                        </m:r>
                      </m:e>
                      <m:sup>
                        <m:r>
                          <a:rPr lang="zh-CN" altLang="en-US" sz="2800" b="1" i="1">
                            <a:solidFill>
                              <a:srgbClr val="000000"/>
                            </a:solidFill>
                            <a:latin typeface="Cambria Math" panose="02040503050406030204" pitchFamily="18" charset="0"/>
                          </a:rPr>
                          <m:t>𝟒</m:t>
                        </m:r>
                      </m:sup>
                    </m:sSup>
                  </m:oMath>
                </a14:m>
                <a:r>
                  <a:rPr lang="zh-CN" altLang="en-US" sz="2800" dirty="0"/>
                  <a:t>                    </a:t>
                </a:r>
                <a:endParaRPr lang="en-US" altLang="zh-CN" sz="2800" dirty="0"/>
              </a:p>
              <a:p>
                <a:pPr eaLnBrk="1" hangingPunct="1">
                  <a:lnSpc>
                    <a:spcPct val="120000"/>
                  </a:lnSpc>
                </a:pPr>
                <a:r>
                  <a:rPr lang="zh-CN" altLang="en-US" sz="2800" dirty="0"/>
                  <a:t>密文为</a:t>
                </a:r>
                <a14:m>
                  <m:oMath xmlns:m="http://schemas.openxmlformats.org/officeDocument/2006/math">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1" i="1">
                            <a:solidFill>
                              <a:srgbClr val="000000"/>
                            </a:solidFill>
                            <a:latin typeface="Cambria Math" panose="02040503050406030204" pitchFamily="18" charset="0"/>
                          </a:rPr>
                          <m:t>𝒁</m:t>
                        </m:r>
                      </m:e>
                      <m:sub>
                        <m:r>
                          <a:rPr lang="zh-CN" altLang="en-US" sz="2800" b="1" i="1">
                            <a:solidFill>
                              <a:srgbClr val="000000"/>
                            </a:solidFill>
                            <a:latin typeface="Cambria Math" panose="02040503050406030204" pitchFamily="18" charset="0"/>
                          </a:rPr>
                          <m:t>𝟐</m:t>
                        </m:r>
                      </m:sub>
                      <m:sup>
                        <m:r>
                          <a:rPr lang="zh-CN" altLang="en-US" sz="2800" b="1" i="1">
                            <a:solidFill>
                              <a:srgbClr val="000000"/>
                            </a:solidFill>
                            <a:latin typeface="Cambria Math" panose="02040503050406030204" pitchFamily="18" charset="0"/>
                          </a:rPr>
                          <m:t>𝟑𝟐</m:t>
                        </m:r>
                      </m:sup>
                    </m:sSubSup>
                  </m:oMath>
                </a14:m>
                <a:r>
                  <a:rPr lang="zh-CN" altLang="en-US" sz="2800" dirty="0"/>
                  <a:t>，轮密钥为</a:t>
                </a:r>
                <a14:m>
                  <m:oMath xmlns:m="http://schemas.openxmlformats.org/officeDocument/2006/math">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1" i="1">
                            <a:solidFill>
                              <a:srgbClr val="000000"/>
                            </a:solidFill>
                            <a:latin typeface="Cambria Math" panose="02040503050406030204" pitchFamily="18" charset="0"/>
                          </a:rPr>
                          <m:t>𝒁</m:t>
                        </m:r>
                      </m:e>
                      <m:sub>
                        <m:r>
                          <a:rPr lang="zh-CN" altLang="en-US" sz="2800" b="1" i="1">
                            <a:solidFill>
                              <a:srgbClr val="000000"/>
                            </a:solidFill>
                            <a:latin typeface="Cambria Math" panose="02040503050406030204" pitchFamily="18" charset="0"/>
                          </a:rPr>
                          <m:t>𝟐</m:t>
                        </m:r>
                      </m:sub>
                      <m:sup>
                        <m:r>
                          <a:rPr lang="zh-CN" altLang="en-US" sz="2800" b="1" i="1">
                            <a:solidFill>
                              <a:srgbClr val="000000"/>
                            </a:solidFill>
                            <a:latin typeface="Cambria Math" panose="02040503050406030204" pitchFamily="18" charset="0"/>
                          </a:rPr>
                          <m:t>𝟑𝟐</m:t>
                        </m:r>
                      </m:sup>
                    </m:sSubSup>
                    <m:sSup>
                      <m:sSupPr>
                        <m:ctrlPr>
                          <a:rPr lang="zh-CN" altLang="en-US" sz="2800" i="1">
                            <a:solidFill>
                              <a:srgbClr val="000000"/>
                            </a:solidFill>
                            <a:latin typeface="Cambria Math" panose="02040503050406030204" pitchFamily="18" charset="0"/>
                          </a:rPr>
                        </m:ctrlPr>
                      </m:sSupPr>
                      <m:e>
                        <m:r>
                          <a:rPr lang="zh-CN" altLang="en-US" sz="2800" b="1" i="1">
                            <a:solidFill>
                              <a:srgbClr val="000000"/>
                            </a:solidFill>
                            <a:latin typeface="Cambria Math" panose="02040503050406030204" pitchFamily="18" charset="0"/>
                          </a:rPr>
                          <m:t>)</m:t>
                        </m:r>
                      </m:e>
                      <m:sup>
                        <m:r>
                          <a:rPr lang="zh-CN" altLang="en-US" sz="2800" b="1" i="1">
                            <a:solidFill>
                              <a:srgbClr val="000000"/>
                            </a:solidFill>
                            <a:latin typeface="Cambria Math" panose="02040503050406030204" pitchFamily="18" charset="0"/>
                          </a:rPr>
                          <m:t>𝟒</m:t>
                        </m:r>
                      </m:sup>
                    </m:sSup>
                  </m:oMath>
                </a14:m>
                <a:r>
                  <a:rPr lang="zh-CN" altLang="en-US" sz="2800" dirty="0"/>
                  <a:t>。加密变换为：</a:t>
                </a:r>
                <a:endParaRPr lang="en-US" altLang="zh-CN" sz="2800" dirty="0"/>
              </a:p>
              <a:p>
                <a:pPr marL="0" indent="0" eaLnBrk="1" hangingPunct="1">
                  <a:lnSpc>
                    <a:spcPct val="120000"/>
                  </a:lnSpc>
                  <a:buNone/>
                </a:pPr>
                <a14:m>
                  <m:oMathPara xmlns:m="http://schemas.openxmlformats.org/officeDocument/2006/math">
                    <m:oMathParaPr>
                      <m:jc m:val="centerGroup"/>
                    </m:oMathParaPr>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𝐢</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𝟒</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d>
                        <m:dPr>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e>
                      </m:d>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𝑻</m:t>
                      </m:r>
                      <m:d>
                        <m:dPr>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e>
                      </m:d>
                      <m:r>
                        <a:rPr lang="zh-CN" altLang="en-US" sz="2800" b="1" i="1">
                          <a:solidFill>
                            <a:srgbClr val="000000"/>
                          </a:solidFill>
                          <a:latin typeface="Cambria Math" panose="02040503050406030204" pitchFamily="18" charset="0"/>
                        </a:rPr>
                        <m:t>, </m:t>
                      </m:r>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𝟎</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𝟑𝟏</m:t>
                      </m:r>
                    </m:oMath>
                  </m:oMathPara>
                </a14:m>
                <a:endParaRPr lang="en-US" altLang="zh-CN" sz="2800" dirty="0">
                  <a:solidFill>
                    <a:srgbClr val="000000"/>
                  </a:solidFill>
                </a:endParaRPr>
              </a:p>
              <a:p>
                <a:pPr marL="0" indent="0" eaLnBrk="1" hangingPunct="1">
                  <a:lnSpc>
                    <a:spcPct val="120000"/>
                  </a:lnSpc>
                  <a:buNone/>
                </a:pPr>
                <a14:m>
                  <m:oMathPara xmlns:m="http://schemas.openxmlformats.org/officeDocument/2006/math">
                    <m:oMathParaPr>
                      <m:jc m:val="centerGroup"/>
                    </m:oMathParaPr>
                    <m:oMath xmlns:m="http://schemas.openxmlformats.org/officeDocument/2006/math">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𝒀</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𝟑𝟓</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𝟑𝟒</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𝟑𝟑</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𝑿</m:t>
                          </m:r>
                        </m:e>
                        <m:sub>
                          <m:r>
                            <a:rPr lang="zh-CN" altLang="en-US" sz="2800" b="1" i="1">
                              <a:solidFill>
                                <a:srgbClr val="000000"/>
                              </a:solidFill>
                              <a:latin typeface="Cambria Math" panose="02040503050406030204" pitchFamily="18" charset="0"/>
                            </a:rPr>
                            <m:t>𝟑𝟐</m:t>
                          </m:r>
                        </m:sub>
                      </m:sSub>
                      <m:r>
                        <a:rPr lang="zh-CN" altLang="en-US" sz="2800" b="1" i="1">
                          <a:solidFill>
                            <a:srgbClr val="000000"/>
                          </a:solidFill>
                          <a:latin typeface="Cambria Math" panose="02040503050406030204" pitchFamily="18" charset="0"/>
                        </a:rPr>
                        <m:t>)</m:t>
                      </m:r>
                    </m:oMath>
                  </m:oMathPara>
                </a14:m>
                <a:endParaRPr lang="zh-CN" altLang="en-US" sz="2800" dirty="0"/>
              </a:p>
              <a:p>
                <a:pPr eaLnBrk="1" hangingPunct="1">
                  <a:lnSpc>
                    <a:spcPct val="120000"/>
                  </a:lnSpc>
                </a:pPr>
                <a:r>
                  <a:rPr lang="en-US" altLang="zh-CN" sz="2800" dirty="0"/>
                  <a:t>SM4</a:t>
                </a:r>
                <a:r>
                  <a:rPr lang="zh-CN" altLang="en-US" sz="2800" dirty="0"/>
                  <a:t>算法的解密变换和加密变换结构相同，不同的仅是轮密钥的使用顺序。</a:t>
                </a:r>
              </a:p>
              <a:p>
                <a:pPr lvl="1" eaLnBrk="1" hangingPunct="1">
                  <a:lnSpc>
                    <a:spcPct val="120000"/>
                  </a:lnSpc>
                </a:pPr>
                <a:r>
                  <a:rPr lang="zh-CN" altLang="en-US" sz="2800" dirty="0"/>
                  <a:t>加密时轮密钥的使用顺序为 </a:t>
                </a:r>
                <a14:m>
                  <m:oMath xmlns:m="http://schemas.openxmlformats.org/officeDocument/2006/math">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𝟑𝟏</m:t>
                        </m:r>
                      </m:sub>
                    </m:sSub>
                    <m:r>
                      <a:rPr lang="zh-CN" altLang="en-US" sz="2800" b="1" i="1">
                        <a:solidFill>
                          <a:srgbClr val="000000"/>
                        </a:solidFill>
                        <a:latin typeface="Cambria Math" panose="02040503050406030204" pitchFamily="18" charset="0"/>
                      </a:rPr>
                      <m:t>)</m:t>
                    </m:r>
                  </m:oMath>
                </a14:m>
                <a:endParaRPr lang="zh-CN" altLang="en-US" sz="2800" dirty="0"/>
              </a:p>
              <a:p>
                <a:pPr lvl="1" eaLnBrk="1" hangingPunct="1">
                  <a:lnSpc>
                    <a:spcPct val="120000"/>
                  </a:lnSpc>
                </a:pPr>
                <a:r>
                  <a:rPr lang="zh-CN" altLang="en-US" sz="2800" dirty="0"/>
                  <a:t>解密时轮密钥的使用顺序为   </a:t>
                </a:r>
                <a14:m>
                  <m:oMath xmlns:m="http://schemas.openxmlformats.org/officeDocument/2006/math">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𝟑𝟏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𝟑𝟎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oMath>
                </a14:m>
                <a:endParaRPr lang="zh-CN" altLang="en-US" sz="2800" dirty="0"/>
              </a:p>
            </p:txBody>
          </p:sp>
        </mc:Choice>
        <mc:Fallback xmlns="">
          <p:sp>
            <p:nvSpPr>
              <p:cNvPr id="400386" name="Rectangle 3">
                <a:extLst>
                  <a:ext uri="{FF2B5EF4-FFF2-40B4-BE49-F238E27FC236}">
                    <a16:creationId xmlns:a16="http://schemas.microsoft.com/office/drawing/2014/main" id="{68155E53-9B52-DF43-A21D-617AEA69ACF9}"/>
                  </a:ext>
                </a:extLst>
              </p:cNvPr>
              <p:cNvSpPr>
                <a:spLocks noGrp="1" noRot="1" noChangeAspect="1" noMove="1" noResize="1" noEditPoints="1" noAdjustHandles="1" noChangeArrowheads="1" noChangeShapeType="1" noTextEdit="1"/>
              </p:cNvSpPr>
              <p:nvPr>
                <p:ph idx="1"/>
              </p:nvPr>
            </p:nvSpPr>
            <p:spPr>
              <a:xfrm>
                <a:off x="838200" y="1049338"/>
                <a:ext cx="10972800" cy="4578350"/>
              </a:xfrm>
              <a:blipFill>
                <a:blip r:embed="rId3"/>
                <a:stretch>
                  <a:fillRect l="-1040" r="-809" b="-16298"/>
                </a:stretch>
              </a:blipFill>
            </p:spPr>
            <p:txBody>
              <a:bodyPr/>
              <a:lstStyle/>
              <a:p>
                <a:r>
                  <a:rPr lang="en-CN">
                    <a:noFill/>
                  </a:rPr>
                  <a:t> </a:t>
                </a:r>
              </a:p>
            </p:txBody>
          </p:sp>
        </mc:Fallback>
      </mc:AlternateContent>
      <p:sp>
        <p:nvSpPr>
          <p:cNvPr id="400387" name="Rectangle 5">
            <a:extLst>
              <a:ext uri="{FF2B5EF4-FFF2-40B4-BE49-F238E27FC236}">
                <a16:creationId xmlns:a16="http://schemas.microsoft.com/office/drawing/2014/main" id="{0B903700-28FA-E149-ABD1-BAAEB759C441}"/>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0389" name="Rectangle 7">
            <a:extLst>
              <a:ext uri="{FF2B5EF4-FFF2-40B4-BE49-F238E27FC236}">
                <a16:creationId xmlns:a16="http://schemas.microsoft.com/office/drawing/2014/main" id="{A1EF63BE-00EE-914C-85DD-545CFD1E22A0}"/>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0391" name="Rectangle 9">
            <a:extLst>
              <a:ext uri="{FF2B5EF4-FFF2-40B4-BE49-F238E27FC236}">
                <a16:creationId xmlns:a16="http://schemas.microsoft.com/office/drawing/2014/main" id="{876029B4-2D42-504F-BF01-544FBE657FB9}"/>
              </a:ext>
            </a:extLst>
          </p:cNvPr>
          <p:cNvSpPr>
            <a:spLocks noChangeArrowheads="1"/>
          </p:cNvSpPr>
          <p:nvPr/>
        </p:nvSpPr>
        <p:spPr bwMode="auto">
          <a:xfrm>
            <a:off x="1524000" y="3135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0393" name="Rectangle 11">
            <a:extLst>
              <a:ext uri="{FF2B5EF4-FFF2-40B4-BE49-F238E27FC236}">
                <a16:creationId xmlns:a16="http://schemas.microsoft.com/office/drawing/2014/main" id="{769D05FA-C540-2C43-9494-9984D09D4D17}"/>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0395" name="Rectangle 13">
            <a:extLst>
              <a:ext uri="{FF2B5EF4-FFF2-40B4-BE49-F238E27FC236}">
                <a16:creationId xmlns:a16="http://schemas.microsoft.com/office/drawing/2014/main" id="{E732AA9E-8EB1-9F42-813E-06397B6964E2}"/>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0397" name="Rectangle 15">
            <a:extLst>
              <a:ext uri="{FF2B5EF4-FFF2-40B4-BE49-F238E27FC236}">
                <a16:creationId xmlns:a16="http://schemas.microsoft.com/office/drawing/2014/main" id="{D72FFFE2-D57D-744E-9554-CDB47882CA18}"/>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0399" name="Rectangle 17">
            <a:extLst>
              <a:ext uri="{FF2B5EF4-FFF2-40B4-BE49-F238E27FC236}">
                <a16:creationId xmlns:a16="http://schemas.microsoft.com/office/drawing/2014/main" id="{FB4A00B1-3C4C-C543-8BFE-C94F0999CCBA}"/>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Tree>
  </p:cSld>
  <p:clrMapOvr>
    <a:masterClrMapping/>
  </p:clrMapOvr>
  <p:transition spd="slow"/>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1F7C2A9E-B28F-6E40-8DCE-399F284FF4E4}"/>
              </a:ext>
            </a:extLst>
          </p:cNvPr>
          <p:cNvSpPr>
            <a:spLocks noGrp="1" noChangeArrowheads="1"/>
          </p:cNvSpPr>
          <p:nvPr>
            <p:ph type="title"/>
          </p:nvPr>
        </p:nvSpPr>
        <p:spPr>
          <a:xfrm>
            <a:off x="1465263" y="365125"/>
            <a:ext cx="9037637" cy="668338"/>
          </a:xfrm>
        </p:spPr>
        <p:txBody>
          <a:bodyPr/>
          <a:lstStyle/>
          <a:p>
            <a:pPr eaLnBrk="1" hangingPunct="1">
              <a:defRPr/>
            </a:pPr>
            <a:r>
              <a:rPr lang="en-US" altLang="zh-CN" dirty="0"/>
              <a:t>SM4</a:t>
            </a:r>
            <a:r>
              <a:rPr lang="zh-CN" altLang="en-US" dirty="0"/>
              <a:t>解密的合理性</a:t>
            </a:r>
          </a:p>
        </p:txBody>
      </p:sp>
      <mc:AlternateContent xmlns:mc="http://schemas.openxmlformats.org/markup-compatibility/2006" xmlns:a14="http://schemas.microsoft.com/office/drawing/2010/main">
        <mc:Choice Requires="a14">
          <p:sp>
            <p:nvSpPr>
              <p:cNvPr id="402434" name="Object 4">
                <a:extLst>
                  <a:ext uri="{FF2B5EF4-FFF2-40B4-BE49-F238E27FC236}">
                    <a16:creationId xmlns:a16="http://schemas.microsoft.com/office/drawing/2014/main" id="{4E3CB570-4FEE-374B-911F-AA91A6BCAC72}"/>
                  </a:ext>
                </a:extLst>
              </p:cNvPr>
              <p:cNvSpPr txBox="1">
                <a:spLocks noGrp="1"/>
              </p:cNvSpPr>
              <p:nvPr>
                <p:ph idx="1"/>
              </p:nvPr>
            </p:nvSpPr>
            <p:spPr bwMode="auto">
              <a:xfrm>
                <a:off x="1295400" y="3352800"/>
                <a:ext cx="10183813" cy="2828925"/>
              </a:xfrm>
              <a:prstGeom prst="rect">
                <a:avLst/>
              </a:prstGeom>
              <a:ln>
                <a:noFill/>
              </a:ln>
            </p:spPr>
            <p:txBody>
              <a:bodyPr>
                <a:normAutofit/>
              </a:bodyPr>
              <a:lstStyle/>
              <a:p>
                <a:pPr>
                  <a:buNone/>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𝟒</m:t>
                          </m:r>
                        </m:sub>
                      </m:sSub>
                      <m:r>
                        <m:rPr>
                          <m:aln/>
                        </m:rP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𝑭</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𝟎</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𝟏</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𝟑</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𝒓</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𝒌</m:t>
                          </m:r>
                        </m:e>
                        <m:sub>
                          <m:r>
                            <a:rPr lang="zh-CN" altLang="en-US" b="1" i="1">
                              <a:solidFill>
                                <a:srgbClr val="000000"/>
                              </a:solidFill>
                              <a:latin typeface="Cambria Math" panose="02040503050406030204" pitchFamily="18" charset="0"/>
                            </a:rPr>
                            <m:t>𝟑𝟏</m:t>
                          </m:r>
                        </m:sub>
                      </m:sSub>
                      <m:r>
                        <a:rPr lang="zh-CN" altLang="en-US" b="1" i="1">
                          <a:solidFill>
                            <a:srgbClr val="000000"/>
                          </a:solidFill>
                          <a:latin typeface="Cambria Math" panose="02040503050406030204" pitchFamily="18" charset="0"/>
                        </a:rPr>
                        <m:t>)</m:t>
                      </m:r>
                    </m:oMath>
                    <m:oMath xmlns:m="http://schemas.openxmlformats.org/officeDocument/2006/math">
                      <m:r>
                        <m:rPr>
                          <m:aln/>
                        </m:rP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𝟎</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𝑻</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𝟏</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𝟑</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𝒓</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𝒌</m:t>
                          </m:r>
                        </m:e>
                        <m:sub>
                          <m:r>
                            <a:rPr lang="zh-CN" altLang="en-US" b="1" i="1">
                              <a:solidFill>
                                <a:srgbClr val="000000"/>
                              </a:solidFill>
                              <a:latin typeface="Cambria Math" panose="02040503050406030204" pitchFamily="18" charset="0"/>
                            </a:rPr>
                            <m:t>𝟑𝟏</m:t>
                          </m:r>
                        </m:sub>
                      </m:sSub>
                      <m:r>
                        <a:rPr lang="zh-CN" altLang="en-US" b="1" i="1">
                          <a:solidFill>
                            <a:srgbClr val="000000"/>
                          </a:solidFill>
                          <a:latin typeface="Cambria Math" panose="02040503050406030204" pitchFamily="18" charset="0"/>
                        </a:rPr>
                        <m:t>)</m:t>
                      </m:r>
                    </m:oMath>
                    <m:oMath xmlns:m="http://schemas.openxmlformats.org/officeDocument/2006/math">
                      <m:r>
                        <m:rPr>
                          <m:aln/>
                        </m:rP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𝟑𝟓</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𝑻</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𝟑𝟒</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𝟑𝟑</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𝟑𝟐</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𝒓</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𝒌</m:t>
                          </m:r>
                        </m:e>
                        <m:sub>
                          <m:r>
                            <a:rPr lang="zh-CN" altLang="en-US" b="1" i="1">
                              <a:solidFill>
                                <a:srgbClr val="000000"/>
                              </a:solidFill>
                              <a:latin typeface="Cambria Math" panose="02040503050406030204" pitchFamily="18" charset="0"/>
                            </a:rPr>
                            <m:t>𝟑𝟏</m:t>
                          </m:r>
                        </m:sub>
                      </m:sSub>
                      <m:r>
                        <a:rPr lang="zh-CN" altLang="en-US" b="1" i="1">
                          <a:solidFill>
                            <a:srgbClr val="000000"/>
                          </a:solidFill>
                          <a:latin typeface="Cambria Math" panose="02040503050406030204" pitchFamily="18" charset="0"/>
                        </a:rPr>
                        <m:t>)</m:t>
                      </m:r>
                    </m:oMath>
                    <m:oMath xmlns:m="http://schemas.openxmlformats.org/officeDocument/2006/math">
                      <m:r>
                        <m:rPr>
                          <m:aln/>
                        </m:rP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𝟑𝟏</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𝑻</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𝟑𝟒</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𝟑𝟑</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𝟑𝟐</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𝒓</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𝒌</m:t>
                          </m:r>
                        </m:e>
                        <m:sub>
                          <m:r>
                            <a:rPr lang="zh-CN" altLang="en-US" b="1" i="1">
                              <a:solidFill>
                                <a:srgbClr val="000000"/>
                              </a:solidFill>
                              <a:latin typeface="Cambria Math" panose="02040503050406030204" pitchFamily="18" charset="0"/>
                            </a:rPr>
                            <m:t>𝟑𝟏</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𝑻</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𝟑𝟒</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𝟑𝟑</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𝟑𝟐</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𝒓</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𝒌</m:t>
                          </m:r>
                        </m:e>
                        <m:sub>
                          <m:r>
                            <a:rPr lang="zh-CN" altLang="en-US" b="1" i="1">
                              <a:solidFill>
                                <a:srgbClr val="000000"/>
                              </a:solidFill>
                              <a:latin typeface="Cambria Math" panose="02040503050406030204" pitchFamily="18" charset="0"/>
                            </a:rPr>
                            <m:t>𝟑𝟏</m:t>
                          </m:r>
                        </m:sub>
                      </m:sSub>
                      <m:r>
                        <a:rPr lang="zh-CN" altLang="en-US" b="1" i="1">
                          <a:solidFill>
                            <a:srgbClr val="000000"/>
                          </a:solidFill>
                          <a:latin typeface="Cambria Math" panose="02040503050406030204" pitchFamily="18" charset="0"/>
                        </a:rPr>
                        <m:t>)</m:t>
                      </m:r>
                    </m:oMath>
                    <m:oMath xmlns:m="http://schemas.openxmlformats.org/officeDocument/2006/math">
                      <m:r>
                        <m:rPr>
                          <m:aln/>
                        </m:rP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𝟑𝟏</m:t>
                          </m:r>
                        </m:sub>
                      </m:sSub>
                    </m:oMath>
                  </m:oMathPara>
                </a14:m>
                <a:endParaRPr lang="zh-CN" altLang="en-US"/>
              </a:p>
            </p:txBody>
          </p:sp>
        </mc:Choice>
        <mc:Fallback xmlns="">
          <p:sp>
            <p:nvSpPr>
              <p:cNvPr id="402434" name="Object 4">
                <a:extLst>
                  <a:ext uri="{FF2B5EF4-FFF2-40B4-BE49-F238E27FC236}">
                    <a16:creationId xmlns:a16="http://schemas.microsoft.com/office/drawing/2014/main" id="{4E3CB570-4FEE-374B-911F-AA91A6BCAC72}"/>
                  </a:ext>
                </a:extLst>
              </p:cNvPr>
              <p:cNvSpPr txBox="1">
                <a:spLocks noGrp="1" noRot="1" noChangeAspect="1" noMove="1" noResize="1" noEditPoints="1" noAdjustHandles="1" noChangeArrowheads="1" noChangeShapeType="1" noTextEdit="1"/>
              </p:cNvSpPr>
              <p:nvPr>
                <p:ph idx="1"/>
              </p:nvPr>
            </p:nvSpPr>
            <p:spPr bwMode="auto">
              <a:xfrm>
                <a:off x="1295400" y="3352800"/>
                <a:ext cx="10183813" cy="2828925"/>
              </a:xfrm>
              <a:prstGeom prst="rect">
                <a:avLst/>
              </a:prstGeom>
              <a:blipFill>
                <a:blip r:embed="rId3"/>
                <a:stretch>
                  <a:fillRect/>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02435" name="Object 6">
                <a:extLst>
                  <a:ext uri="{FF2B5EF4-FFF2-40B4-BE49-F238E27FC236}">
                    <a16:creationId xmlns:a16="http://schemas.microsoft.com/office/drawing/2014/main" id="{06F260D7-25AD-C243-83A4-A9848BB688A7}"/>
                  </a:ext>
                </a:extLst>
              </p:cNvPr>
              <p:cNvSpPr txBox="1">
                <a:spLocks noGrp="1"/>
              </p:cNvSpPr>
              <p:nvPr>
                <p:ph idx="1"/>
              </p:nvPr>
            </p:nvSpPr>
            <p:spPr bwMode="auto">
              <a:xfrm>
                <a:off x="3213100" y="1974850"/>
                <a:ext cx="4903788" cy="525463"/>
              </a:xfrm>
              <a:prstGeom prst="rect">
                <a:avLst/>
              </a:prstGeom>
              <a:ln>
                <a:noFill/>
              </a:ln>
            </p:spPr>
            <p:txBody>
              <a:bodyPr>
                <a:normAutofit fontScale="92500"/>
              </a:bodyPr>
              <a:lstStyle/>
              <a:p>
                <a:pPr>
                  <a:buNone/>
                </a:pPr>
                <a14:m>
                  <m:oMathPara xmlns:m="http://schemas.openxmlformats.org/officeDocument/2006/math">
                    <m:oMathParaPr>
                      <m:jc m:val="centerGroup"/>
                    </m:oMathParaPr>
                    <m:oMath xmlns:m="http://schemas.openxmlformats.org/officeDocument/2006/math">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𝟎</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𝟏</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𝒀</m:t>
                          </m:r>
                        </m:e>
                        <m:sub>
                          <m:r>
                            <a:rPr lang="zh-CN" altLang="en-US" b="1" i="1">
                              <a:solidFill>
                                <a:srgbClr val="000000"/>
                              </a:solidFill>
                              <a:latin typeface="Cambria Math" panose="02040503050406030204" pitchFamily="18" charset="0"/>
                            </a:rPr>
                            <m:t>𝟑</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𝟑𝟓</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𝟑𝟒</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𝟑𝟑</m:t>
                          </m:r>
                        </m:sub>
                      </m:sSub>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𝑿</m:t>
                          </m:r>
                        </m:e>
                        <m:sub>
                          <m:r>
                            <a:rPr lang="zh-CN" altLang="en-US" b="1" i="1">
                              <a:solidFill>
                                <a:srgbClr val="000000"/>
                              </a:solidFill>
                              <a:latin typeface="Cambria Math" panose="02040503050406030204" pitchFamily="18" charset="0"/>
                            </a:rPr>
                            <m:t>𝟑𝟐</m:t>
                          </m:r>
                        </m:sub>
                      </m:sSub>
                      <m:r>
                        <a:rPr lang="zh-CN" altLang="en-US" b="1" i="1">
                          <a:solidFill>
                            <a:srgbClr val="000000"/>
                          </a:solidFill>
                          <a:latin typeface="Cambria Math" panose="02040503050406030204" pitchFamily="18" charset="0"/>
                        </a:rPr>
                        <m:t>)</m:t>
                      </m:r>
                    </m:oMath>
                  </m:oMathPara>
                </a14:m>
                <a:endParaRPr lang="zh-CN" altLang="en-US" dirty="0"/>
              </a:p>
            </p:txBody>
          </p:sp>
        </mc:Choice>
        <mc:Fallback xmlns="">
          <p:sp>
            <p:nvSpPr>
              <p:cNvPr id="402435" name="Object 6">
                <a:extLst>
                  <a:ext uri="{FF2B5EF4-FFF2-40B4-BE49-F238E27FC236}">
                    <a16:creationId xmlns:a16="http://schemas.microsoft.com/office/drawing/2014/main" id="{06F260D7-25AD-C243-83A4-A9848BB688A7}"/>
                  </a:ext>
                </a:extLst>
              </p:cNvPr>
              <p:cNvSpPr txBox="1">
                <a:spLocks noGrp="1" noRot="1" noChangeAspect="1" noMove="1" noResize="1" noEditPoints="1" noAdjustHandles="1" noChangeArrowheads="1" noChangeShapeType="1" noTextEdit="1"/>
              </p:cNvSpPr>
              <p:nvPr>
                <p:ph idx="1"/>
              </p:nvPr>
            </p:nvSpPr>
            <p:spPr bwMode="auto">
              <a:xfrm>
                <a:off x="3213100" y="1974850"/>
                <a:ext cx="4903788" cy="525463"/>
              </a:xfrm>
              <a:prstGeom prst="rect">
                <a:avLst/>
              </a:prstGeom>
              <a:blipFill>
                <a:blip r:embed="rId4"/>
                <a:stretch>
                  <a:fillRect/>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02436" name="Object 13">
                <a:extLst>
                  <a:ext uri="{FF2B5EF4-FFF2-40B4-BE49-F238E27FC236}">
                    <a16:creationId xmlns:a16="http://schemas.microsoft.com/office/drawing/2014/main" id="{A015B9C7-A3EF-F54D-B1AF-88C9F86EF821}"/>
                  </a:ext>
                </a:extLst>
              </p:cNvPr>
              <p:cNvSpPr txBox="1"/>
              <p:nvPr/>
            </p:nvSpPr>
            <p:spPr bwMode="auto">
              <a:xfrm>
                <a:off x="427038" y="1314450"/>
                <a:ext cx="11310937" cy="517525"/>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0">
                              <a:solidFill>
                                <a:srgbClr val="000000"/>
                              </a:solidFill>
                              <a:latin typeface="Cambria Math" panose="02040503050406030204" pitchFamily="18" charset="0"/>
                            </a:rPr>
                            <m:t>𝐢</m:t>
                          </m:r>
                          <m:r>
                            <a:rPr lang="zh-CN" altLang="en-US" sz="2400" b="1" i="1">
                              <a:solidFill>
                                <a:srgbClr val="000000"/>
                              </a:solidFill>
                              <a:latin typeface="Cambria Math" panose="02040503050406030204" pitchFamily="18" charset="0"/>
                            </a:rPr>
                            <m:t>+</m:t>
                          </m:r>
                          <m:r>
                            <a:rPr lang="zh-CN" altLang="en-US" sz="2400" b="1" i="0">
                              <a:solidFill>
                                <a:srgbClr val="000000"/>
                              </a:solidFill>
                              <a:latin typeface="Cambria Math" panose="02040503050406030204" pitchFamily="18" charset="0"/>
                            </a:rPr>
                            <m:t>𝟒</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𝑭</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𝟑</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𝒓</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𝒊</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𝑻</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𝟑</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𝒓</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𝒊</m:t>
                          </m:r>
                        </m:sub>
                      </m:sSub>
                      <m:r>
                        <a:rPr lang="zh-CN" altLang="en-US" sz="2400" b="1" i="1">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𝟎</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𝟏</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𝟑𝟏</m:t>
                      </m:r>
                    </m:oMath>
                  </m:oMathPara>
                </a14:m>
                <a:endParaRPr lang="zh-CN" altLang="en-US" sz="2400" b="1"/>
              </a:p>
            </p:txBody>
          </p:sp>
        </mc:Choice>
        <mc:Fallback xmlns="">
          <p:sp>
            <p:nvSpPr>
              <p:cNvPr id="402436" name="Object 13">
                <a:extLst>
                  <a:ext uri="{FF2B5EF4-FFF2-40B4-BE49-F238E27FC236}">
                    <a16:creationId xmlns:a16="http://schemas.microsoft.com/office/drawing/2014/main" id="{A015B9C7-A3EF-F54D-B1AF-88C9F86EF821}"/>
                  </a:ext>
                </a:extLst>
              </p:cNvPr>
              <p:cNvSpPr txBox="1">
                <a:spLocks noRot="1" noChangeAspect="1" noMove="1" noResize="1" noEditPoints="1" noAdjustHandles="1" noChangeArrowheads="1" noChangeShapeType="1" noTextEdit="1"/>
              </p:cNvSpPr>
              <p:nvPr/>
            </p:nvSpPr>
            <p:spPr bwMode="auto">
              <a:xfrm>
                <a:off x="427038" y="1314450"/>
                <a:ext cx="11310937" cy="517525"/>
              </a:xfrm>
              <a:prstGeom prst="rect">
                <a:avLst/>
              </a:prstGeom>
              <a:blipFill>
                <a:blip r:embed="rId5"/>
                <a:stretch>
                  <a:fillRect b="-14286"/>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02437" name="Object 4">
                <a:extLst>
                  <a:ext uri="{FF2B5EF4-FFF2-40B4-BE49-F238E27FC236}">
                    <a16:creationId xmlns:a16="http://schemas.microsoft.com/office/drawing/2014/main" id="{93F2CDB2-7D80-A348-BB31-FE3F44B5A69D}"/>
                  </a:ext>
                </a:extLst>
              </p:cNvPr>
              <p:cNvSpPr txBox="1"/>
              <p:nvPr/>
            </p:nvSpPr>
            <p:spPr bwMode="auto">
              <a:xfrm>
                <a:off x="3079750" y="2643188"/>
                <a:ext cx="6003925" cy="566737"/>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𝟑𝟓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𝟑𝟏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𝑻</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𝟑𝟒</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𝟑𝟑</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𝑿</m:t>
                          </m:r>
                        </m:e>
                        <m:sub>
                          <m:r>
                            <a:rPr lang="zh-CN" altLang="en-US" sz="2400" b="1" i="1">
                              <a:solidFill>
                                <a:srgbClr val="000000"/>
                              </a:solidFill>
                              <a:latin typeface="Cambria Math" panose="02040503050406030204" pitchFamily="18" charset="0"/>
                            </a:rPr>
                            <m:t>𝟑𝟐</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𝒓</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𝟑𝟏</m:t>
                          </m:r>
                        </m:sub>
                      </m:sSub>
                      <m:r>
                        <a:rPr lang="zh-CN" altLang="en-US" sz="2400" b="1" i="1">
                          <a:solidFill>
                            <a:srgbClr val="000000"/>
                          </a:solidFill>
                          <a:latin typeface="Cambria Math" panose="02040503050406030204" pitchFamily="18" charset="0"/>
                        </a:rPr>
                        <m:t>)</m:t>
                      </m:r>
                    </m:oMath>
                  </m:oMathPara>
                </a14:m>
                <a:endParaRPr lang="zh-CN" altLang="en-US" sz="2400" b="1" dirty="0"/>
              </a:p>
            </p:txBody>
          </p:sp>
        </mc:Choice>
        <mc:Fallback xmlns="">
          <p:sp>
            <p:nvSpPr>
              <p:cNvPr id="402437" name="Object 4">
                <a:extLst>
                  <a:ext uri="{FF2B5EF4-FFF2-40B4-BE49-F238E27FC236}">
                    <a16:creationId xmlns:a16="http://schemas.microsoft.com/office/drawing/2014/main" id="{93F2CDB2-7D80-A348-BB31-FE3F44B5A69D}"/>
                  </a:ext>
                </a:extLst>
              </p:cNvPr>
              <p:cNvSpPr txBox="1">
                <a:spLocks noRot="1" noChangeAspect="1" noMove="1" noResize="1" noEditPoints="1" noAdjustHandles="1" noChangeArrowheads="1" noChangeShapeType="1" noTextEdit="1"/>
              </p:cNvSpPr>
              <p:nvPr/>
            </p:nvSpPr>
            <p:spPr bwMode="auto">
              <a:xfrm>
                <a:off x="3079750" y="2643188"/>
                <a:ext cx="6003925" cy="566737"/>
              </a:xfrm>
              <a:prstGeom prst="rect">
                <a:avLst/>
              </a:prstGeom>
              <a:blipFill>
                <a:blip r:embed="rId6"/>
                <a:stretch>
                  <a:fillRect/>
                </a:stretch>
              </a:blipFill>
              <a:ln>
                <a:noFill/>
              </a:ln>
            </p:spPr>
            <p:txBody>
              <a:bodyPr/>
              <a:lstStyle/>
              <a:p>
                <a:r>
                  <a:rPr lang="en-CN">
                    <a:noFill/>
                  </a:rPr>
                  <a:t> </a:t>
                </a:r>
              </a:p>
            </p:txBody>
          </p:sp>
        </mc:Fallback>
      </mc:AlternateContent>
    </p:spTree>
  </p:cSld>
  <p:clrMapOvr>
    <a:masterClrMapping/>
  </p:clrMapOvr>
  <p:transition spd="slow"/>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1" name="Rectangle 2">
            <a:extLst>
              <a:ext uri="{FF2B5EF4-FFF2-40B4-BE49-F238E27FC236}">
                <a16:creationId xmlns:a16="http://schemas.microsoft.com/office/drawing/2014/main" id="{502872D5-DABD-5F4D-8F9B-62FD80F22FC4}"/>
              </a:ext>
            </a:extLst>
          </p:cNvPr>
          <p:cNvSpPr>
            <a:spLocks noGrp="1" noChangeArrowheads="1"/>
          </p:cNvSpPr>
          <p:nvPr>
            <p:ph type="title"/>
          </p:nvPr>
        </p:nvSpPr>
        <p:spPr>
          <a:xfrm>
            <a:off x="1465263" y="365125"/>
            <a:ext cx="9037637" cy="668338"/>
          </a:xfrm>
        </p:spPr>
        <p:txBody>
          <a:bodyPr/>
          <a:lstStyle/>
          <a:p>
            <a:pPr eaLnBrk="1" hangingPunct="1"/>
            <a:r>
              <a:rPr lang="en-US" altLang="zh-CN">
                <a:solidFill>
                  <a:srgbClr val="1F4E79"/>
                </a:solidFill>
              </a:rPr>
              <a:t>SM4</a:t>
            </a:r>
            <a:r>
              <a:rPr lang="zh-CN" altLang="en-US">
                <a:solidFill>
                  <a:srgbClr val="1F4E79"/>
                </a:solidFill>
              </a:rPr>
              <a:t>的密钥扩展算法 </a:t>
            </a:r>
          </a:p>
        </p:txBody>
      </p:sp>
      <mc:AlternateContent xmlns:mc="http://schemas.openxmlformats.org/markup-compatibility/2006" xmlns:a14="http://schemas.microsoft.com/office/drawing/2010/main">
        <mc:Choice Requires="a14">
          <p:sp>
            <p:nvSpPr>
              <p:cNvPr id="404482" name="Rectangle 3">
                <a:extLst>
                  <a:ext uri="{FF2B5EF4-FFF2-40B4-BE49-F238E27FC236}">
                    <a16:creationId xmlns:a16="http://schemas.microsoft.com/office/drawing/2014/main" id="{EF101C22-68CE-EE4B-BA47-8BBFD8F73B46}"/>
                  </a:ext>
                </a:extLst>
              </p:cNvPr>
              <p:cNvSpPr>
                <a:spLocks noGrp="1" noChangeArrowheads="1"/>
              </p:cNvSpPr>
              <p:nvPr>
                <p:ph idx="1"/>
              </p:nvPr>
            </p:nvSpPr>
            <p:spPr>
              <a:xfrm>
                <a:off x="823913" y="1465263"/>
                <a:ext cx="10515600" cy="4579937"/>
              </a:xfrm>
            </p:spPr>
            <p:txBody>
              <a:bodyPr/>
              <a:lstStyle/>
              <a:p>
                <a:pPr eaLnBrk="1" hangingPunct="1">
                  <a:lnSpc>
                    <a:spcPct val="120000"/>
                  </a:lnSpc>
                </a:pPr>
                <a:r>
                  <a:rPr lang="zh-CN" altLang="en-US" sz="2800" dirty="0"/>
                  <a:t>设加密密钥</a:t>
                </a:r>
                <a14:m>
                  <m:oMath xmlns:m="http://schemas.openxmlformats.org/officeDocument/2006/math">
                    <m:r>
                      <a:rPr lang="zh-CN" altLang="en-US" sz="2800" b="1" i="1">
                        <a:solidFill>
                          <a:srgbClr val="000000"/>
                        </a:solidFill>
                        <a:latin typeface="Cambria Math" panose="02040503050406030204" pitchFamily="18" charset="0"/>
                      </a:rPr>
                      <m:t>𝑴𝑲</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oMath>
                </a14:m>
                <a:r>
                  <a:rPr lang="zh-CN" altLang="en-US" sz="2800" dirty="0"/>
                  <a:t>，其中</a:t>
                </a:r>
                <a14:m>
                  <m:oMath xmlns:m="http://schemas.openxmlformats.org/officeDocument/2006/math">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sub>
                    </m:sSub>
                  </m:oMath>
                </a14:m>
                <a:r>
                  <a:rPr lang="zh-CN" altLang="en-US" sz="2800" dirty="0"/>
                  <a:t>为字。</a:t>
                </a:r>
                <a:endParaRPr lang="en-US" altLang="zh-CN" sz="2800" dirty="0"/>
              </a:p>
              <a:p>
                <a:pPr eaLnBrk="1" hangingPunct="1">
                  <a:lnSpc>
                    <a:spcPct val="120000"/>
                  </a:lnSpc>
                </a:pPr>
                <a:r>
                  <a:rPr lang="zh-CN" altLang="en-US" sz="2800" dirty="0"/>
                  <a:t>轮密钥为</a:t>
                </a:r>
                <a14:m>
                  <m:oMath xmlns:m="http://schemas.openxmlformats.org/officeDocument/2006/math">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𝟑𝟏</m:t>
                        </m:r>
                      </m:sub>
                    </m:sSub>
                    <m:r>
                      <a:rPr lang="zh-CN" altLang="en-US" sz="2800" b="1" i="1">
                        <a:solidFill>
                          <a:srgbClr val="000000"/>
                        </a:solidFill>
                        <a:latin typeface="Cambria Math" panose="02040503050406030204" pitchFamily="18" charset="0"/>
                      </a:rPr>
                      <m:t>)</m:t>
                    </m:r>
                  </m:oMath>
                </a14:m>
                <a:r>
                  <a:rPr lang="zh-CN" altLang="en-US" sz="2800" dirty="0"/>
                  <a:t>                  </a:t>
                </a:r>
                <a:endParaRPr lang="en-US" altLang="zh-CN" sz="2800" dirty="0"/>
              </a:p>
              <a:p>
                <a:pPr eaLnBrk="1" hangingPunct="1">
                  <a:lnSpc>
                    <a:spcPct val="120000"/>
                  </a:lnSpc>
                </a:pPr>
                <a:r>
                  <a:rPr lang="zh-CN" altLang="en-US" sz="2800" dirty="0"/>
                  <a:t>轮密钥的生成方法具体为：</a:t>
                </a:r>
                <a:endParaRPr lang="en-US" altLang="zh-CN" sz="2800" dirty="0"/>
              </a:p>
              <a:p>
                <a:pPr marL="0" indent="0" eaLnBrk="1" hangingPunct="1">
                  <a:lnSpc>
                    <a:spcPct val="120000"/>
                  </a:lnSpc>
                  <a:buNone/>
                </a:pPr>
                <a14:m>
                  <m:oMathPara xmlns:m="http://schemas.openxmlformats.org/officeDocument/2006/math">
                    <m:oMathParaPr>
                      <m:jc m:val="centerGroup"/>
                    </m:oMathParaPr>
                    <m:oMath xmlns:m="http://schemas.openxmlformats.org/officeDocument/2006/math">
                      <m:d>
                        <m:dPr>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𝟑</m:t>
                              </m:r>
                            </m:sub>
                          </m:sSub>
                        </m:e>
                      </m:d>
                      <m:r>
                        <a:rPr lang="zh-CN" altLang="en-US" sz="2800" b="1" i="1">
                          <a:solidFill>
                            <a:srgbClr val="000000"/>
                          </a:solidFill>
                          <a:latin typeface="Cambria Math" panose="02040503050406030204" pitchFamily="18" charset="0"/>
                        </a:rPr>
                        <m:t>=</m:t>
                      </m:r>
                      <m:d>
                        <m:dPr>
                          <m:ctrlPr>
                            <a:rPr lang="zh-CN" altLang="en-US" sz="2800" i="1">
                              <a:solidFill>
                                <a:srgbClr val="000000"/>
                              </a:solidFill>
                              <a:latin typeface="Cambria Math" panose="02040503050406030204" pitchFamily="18" charset="0"/>
                            </a:rPr>
                          </m:ctrlPr>
                        </m:dPr>
                        <m:e>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𝟑</m:t>
                              </m:r>
                            </m:sub>
                          </m:sSub>
                        </m:e>
                      </m:d>
                    </m:oMath>
                  </m:oMathPara>
                </a14:m>
                <a:endParaRPr lang="en-US" altLang="zh-CN" sz="2800" i="1" dirty="0">
                  <a:solidFill>
                    <a:srgbClr val="000000"/>
                  </a:solidFill>
                  <a:latin typeface="Cambria Math" panose="02040503050406030204" pitchFamily="18" charset="0"/>
                </a:endParaRPr>
              </a:p>
              <a:p>
                <a:pPr marL="0" indent="0" eaLnBrk="1" hangingPunct="1">
                  <a:lnSpc>
                    <a:spcPct val="120000"/>
                  </a:lnSpc>
                  <a:buNone/>
                </a:pPr>
                <a14:m>
                  <m:oMathPara xmlns:m="http://schemas.openxmlformats.org/officeDocument/2006/math">
                    <m:oMathParaPr>
                      <m:jc m:val="centerGroup"/>
                    </m:oMathParaPr>
                    <m:oMath xmlns:m="http://schemas.openxmlformats.org/officeDocument/2006/math">
                      <m:r>
                        <a:rPr lang="zh-CN" altLang="en-US" sz="2800" b="1" i="1">
                          <a:solidFill>
                            <a:srgbClr val="000000"/>
                          </a:solidFill>
                          <a:latin typeface="Cambria Math" panose="02040503050406030204" pitchFamily="18" charset="0"/>
                        </a:rPr>
                        <m:t>𝒓</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𝒌</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𝟒</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1" i="1">
                              <a:solidFill>
                                <a:srgbClr val="000000"/>
                              </a:solidFill>
                              <a:latin typeface="Cambria Math" panose="02040503050406030204" pitchFamily="18" charset="0"/>
                            </a:rPr>
                            <m:t>𝑻</m:t>
                          </m:r>
                        </m:e>
                        <m:sup>
                          <m:r>
                            <a:rPr lang="zh-CN" altLang="en-US" sz="2800" b="1" i="1">
                              <a:solidFill>
                                <a:srgbClr val="000000"/>
                              </a:solidFill>
                              <a:latin typeface="Cambria Math" panose="02040503050406030204" pitchFamily="18" charset="0"/>
                            </a:rPr>
                            <m:t>′</m:t>
                          </m:r>
                        </m:sup>
                      </m:sSup>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𝟑</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sSub>
                        <m:sSubPr>
                          <m:ctrlPr>
                            <a:rPr lang="zh-CN" altLang="en-US" sz="2800"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𝑲</m:t>
                          </m:r>
                        </m:e>
                        <m:sub>
                          <m:r>
                            <a:rPr lang="zh-CN" altLang="en-US" sz="2800" b="1" i="1">
                              <a:solidFill>
                                <a:srgbClr val="000000"/>
                              </a:solidFill>
                              <a:latin typeface="Cambria Math" panose="02040503050406030204" pitchFamily="18" charset="0"/>
                            </a:rPr>
                            <m:t>𝒊</m:t>
                          </m:r>
                        </m:sub>
                      </m:sSub>
                      <m:r>
                        <a:rPr lang="zh-CN" altLang="en-US" sz="2800" b="1" i="1">
                          <a:solidFill>
                            <a:srgbClr val="000000"/>
                          </a:solidFill>
                          <a:latin typeface="Cambria Math" panose="02040503050406030204" pitchFamily="18" charset="0"/>
                        </a:rPr>
                        <m:t>)</m:t>
                      </m:r>
                    </m:oMath>
                  </m:oMathPara>
                </a14:m>
                <a:endParaRPr lang="zh-CN" altLang="en-US" sz="2800" dirty="0"/>
              </a:p>
              <a:p>
                <a:pPr eaLnBrk="1" hangingPunct="1">
                  <a:lnSpc>
                    <a:spcPct val="120000"/>
                  </a:lnSpc>
                </a:pPr>
                <a:endParaRPr lang="zh-CN" altLang="en-US" sz="2800" dirty="0"/>
              </a:p>
              <a:p>
                <a:pPr eaLnBrk="1" hangingPunct="1">
                  <a:lnSpc>
                    <a:spcPct val="120000"/>
                  </a:lnSpc>
                </a:pPr>
                <a:endParaRPr lang="zh-CN" altLang="en-US" sz="2800" dirty="0"/>
              </a:p>
              <a:p>
                <a:pPr eaLnBrk="1" hangingPunct="1">
                  <a:lnSpc>
                    <a:spcPct val="120000"/>
                  </a:lnSpc>
                </a:pPr>
                <a:endParaRPr lang="en-US" altLang="zh-CN" sz="2800" dirty="0"/>
              </a:p>
            </p:txBody>
          </p:sp>
        </mc:Choice>
        <mc:Fallback xmlns="">
          <p:sp>
            <p:nvSpPr>
              <p:cNvPr id="404482" name="Rectangle 3">
                <a:extLst>
                  <a:ext uri="{FF2B5EF4-FFF2-40B4-BE49-F238E27FC236}">
                    <a16:creationId xmlns:a16="http://schemas.microsoft.com/office/drawing/2014/main" id="{EF101C22-68CE-EE4B-BA47-8BBFD8F73B46}"/>
                  </a:ext>
                </a:extLst>
              </p:cNvPr>
              <p:cNvSpPr>
                <a:spLocks noGrp="1" noRot="1" noChangeAspect="1" noMove="1" noResize="1" noEditPoints="1" noAdjustHandles="1" noChangeArrowheads="1" noChangeShapeType="1" noTextEdit="1"/>
              </p:cNvSpPr>
              <p:nvPr>
                <p:ph idx="1"/>
              </p:nvPr>
            </p:nvSpPr>
            <p:spPr>
              <a:xfrm>
                <a:off x="823913" y="1465263"/>
                <a:ext cx="10515600" cy="4579937"/>
              </a:xfrm>
              <a:blipFill>
                <a:blip r:embed="rId3"/>
                <a:stretch>
                  <a:fillRect l="-965" t="-552"/>
                </a:stretch>
              </a:blipFill>
            </p:spPr>
            <p:txBody>
              <a:bodyPr/>
              <a:lstStyle/>
              <a:p>
                <a:r>
                  <a:rPr lang="en-CN">
                    <a:noFill/>
                  </a:rPr>
                  <a:t> </a:t>
                </a:r>
              </a:p>
            </p:txBody>
          </p:sp>
        </mc:Fallback>
      </mc:AlternateContent>
      <p:sp>
        <p:nvSpPr>
          <p:cNvPr id="404483" name="Rectangle 5">
            <a:extLst>
              <a:ext uri="{FF2B5EF4-FFF2-40B4-BE49-F238E27FC236}">
                <a16:creationId xmlns:a16="http://schemas.microsoft.com/office/drawing/2014/main" id="{FF2C6726-F7A3-E549-B86D-1E2FAB8E901F}"/>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85" name="Rectangle 7">
            <a:extLst>
              <a:ext uri="{FF2B5EF4-FFF2-40B4-BE49-F238E27FC236}">
                <a16:creationId xmlns:a16="http://schemas.microsoft.com/office/drawing/2014/main" id="{020D4DDE-A318-074A-8EF2-F6E87CDD90F6}"/>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87" name="Rectangle 9">
            <a:extLst>
              <a:ext uri="{FF2B5EF4-FFF2-40B4-BE49-F238E27FC236}">
                <a16:creationId xmlns:a16="http://schemas.microsoft.com/office/drawing/2014/main" id="{3054B6B9-3572-BF41-9BF0-2079CE23304D}"/>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88" name="Object 8">
            <a:extLst>
              <a:ext uri="{FF2B5EF4-FFF2-40B4-BE49-F238E27FC236}">
                <a16:creationId xmlns:a16="http://schemas.microsoft.com/office/drawing/2014/main" id="{74BD1FCD-25EB-D043-8B40-ADFA495B16EC}"/>
              </a:ext>
            </a:extLst>
          </p:cNvPr>
          <p:cNvSpPr txBox="1"/>
          <p:nvPr/>
        </p:nvSpPr>
        <p:spPr bwMode="auto">
          <a:xfrm>
            <a:off x="2613025" y="2154238"/>
            <a:ext cx="2643188" cy="585787"/>
          </a:xfrm>
          <a:prstGeom prst="rect">
            <a:avLst/>
          </a:prstGeom>
          <a:noFill/>
          <a:ln>
            <a:noFill/>
          </a:ln>
        </p:spPr>
        <p:txBody>
          <a:bodyPr>
            <a:normAutofit/>
          </a:bodyPr>
          <a:lstStyle/>
          <a:p>
            <a:endParaRPr lang="zh-CN" altLang="en-US" dirty="0"/>
          </a:p>
        </p:txBody>
      </p:sp>
      <p:sp>
        <p:nvSpPr>
          <p:cNvPr id="404489" name="Rectangle 11">
            <a:extLst>
              <a:ext uri="{FF2B5EF4-FFF2-40B4-BE49-F238E27FC236}">
                <a16:creationId xmlns:a16="http://schemas.microsoft.com/office/drawing/2014/main" id="{3504F2E0-0535-2D46-9C7C-336C8DD87E71}"/>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91" name="Rectangle 13">
            <a:extLst>
              <a:ext uri="{FF2B5EF4-FFF2-40B4-BE49-F238E27FC236}">
                <a16:creationId xmlns:a16="http://schemas.microsoft.com/office/drawing/2014/main" id="{96EE6A32-8927-B242-BEC7-EF51C549436C}"/>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Tree>
  </p:cSld>
  <p:clrMapOvr>
    <a:masterClrMapping/>
  </p:clrMapOvr>
  <p:transition spd="slow"/>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29" name="标题 1">
            <a:extLst>
              <a:ext uri="{FF2B5EF4-FFF2-40B4-BE49-F238E27FC236}">
                <a16:creationId xmlns:a16="http://schemas.microsoft.com/office/drawing/2014/main" id="{B38C1B64-5AF8-BC4C-8CFC-1C7A308E0F4D}"/>
              </a:ext>
            </a:extLst>
          </p:cNvPr>
          <p:cNvSpPr>
            <a:spLocks noGrp="1" noChangeArrowheads="1"/>
          </p:cNvSpPr>
          <p:nvPr>
            <p:ph type="title"/>
          </p:nvPr>
        </p:nvSpPr>
        <p:spPr>
          <a:xfrm>
            <a:off x="1465263" y="365125"/>
            <a:ext cx="9037637" cy="668338"/>
          </a:xfrm>
        </p:spPr>
        <p:txBody>
          <a:bodyPr/>
          <a:lstStyle/>
          <a:p>
            <a:r>
              <a:rPr lang="en-US" altLang="zh-CN">
                <a:solidFill>
                  <a:srgbClr val="1F4E79"/>
                </a:solidFill>
              </a:rPr>
              <a:t>SM4</a:t>
            </a:r>
            <a:r>
              <a:rPr lang="zh-CN" altLang="en-US">
                <a:solidFill>
                  <a:srgbClr val="1F4E79"/>
                </a:solidFill>
              </a:rPr>
              <a:t>的密钥扩展算法（续）</a:t>
            </a:r>
          </a:p>
        </p:txBody>
      </p:sp>
      <mc:AlternateContent xmlns:mc="http://schemas.openxmlformats.org/markup-compatibility/2006" xmlns:a14="http://schemas.microsoft.com/office/drawing/2010/main">
        <mc:Choice Requires="a14">
          <p:sp>
            <p:nvSpPr>
              <p:cNvPr id="406530" name="Object 10">
                <a:extLst>
                  <a:ext uri="{FF2B5EF4-FFF2-40B4-BE49-F238E27FC236}">
                    <a16:creationId xmlns:a16="http://schemas.microsoft.com/office/drawing/2014/main" id="{28D4ACAF-4D33-564A-8EC8-42E215FF0F2A}"/>
                  </a:ext>
                </a:extLst>
              </p:cNvPr>
              <p:cNvSpPr txBox="1"/>
              <p:nvPr/>
            </p:nvSpPr>
            <p:spPr bwMode="auto">
              <a:xfrm>
                <a:off x="755650" y="1628775"/>
                <a:ext cx="10802938" cy="58578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𝟎</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𝟑</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𝟎</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𝑭</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𝟎</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𝑭</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𝑭</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𝟑</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𝑭</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𝑲</m:t>
                          </m:r>
                        </m:e>
                        <m:sub>
                          <m:r>
                            <a:rPr lang="zh-CN" altLang="en-US" sz="2400" b="1" i="1">
                              <a:solidFill>
                                <a:srgbClr val="000000"/>
                              </a:solidFill>
                              <a:latin typeface="Cambria Math" panose="02040503050406030204" pitchFamily="18" charset="0"/>
                            </a:rPr>
                            <m:t>𝟑</m:t>
                          </m:r>
                        </m:sub>
                      </m:sSub>
                      <m:r>
                        <a:rPr lang="zh-CN" altLang="en-US" sz="2400" b="1" i="1">
                          <a:solidFill>
                            <a:srgbClr val="000000"/>
                          </a:solidFill>
                          <a:latin typeface="Cambria Math" panose="02040503050406030204" pitchFamily="18" charset="0"/>
                        </a:rPr>
                        <m:t>)</m:t>
                      </m:r>
                    </m:oMath>
                  </m:oMathPara>
                </a14:m>
                <a:endParaRPr lang="zh-CN" altLang="en-US" sz="2400" b="1" dirty="0"/>
              </a:p>
            </p:txBody>
          </p:sp>
        </mc:Choice>
        <mc:Fallback xmlns="">
          <p:sp>
            <p:nvSpPr>
              <p:cNvPr id="406530" name="Object 10">
                <a:extLst>
                  <a:ext uri="{FF2B5EF4-FFF2-40B4-BE49-F238E27FC236}">
                    <a16:creationId xmlns:a16="http://schemas.microsoft.com/office/drawing/2014/main" id="{28D4ACAF-4D33-564A-8EC8-42E215FF0F2A}"/>
                  </a:ext>
                </a:extLst>
              </p:cNvPr>
              <p:cNvSpPr txBox="1">
                <a:spLocks noRot="1" noChangeAspect="1" noMove="1" noResize="1" noEditPoints="1" noAdjustHandles="1" noChangeArrowheads="1" noChangeShapeType="1" noTextEdit="1"/>
              </p:cNvSpPr>
              <p:nvPr/>
            </p:nvSpPr>
            <p:spPr bwMode="auto">
              <a:xfrm>
                <a:off x="755650" y="1628775"/>
                <a:ext cx="10802938" cy="585788"/>
              </a:xfrm>
              <a:prstGeom prst="rect">
                <a:avLst/>
              </a:prstGeom>
              <a:blipFill>
                <a:blip r:embed="rId2"/>
                <a:stretch>
                  <a:fillRect/>
                </a:stretch>
              </a:blipFill>
              <a:ln>
                <a:noFill/>
              </a:ln>
            </p:spPr>
            <p:txBody>
              <a:bodyPr/>
              <a:lstStyle/>
              <a:p>
                <a:r>
                  <a:rPr lang="en-CN">
                    <a:noFill/>
                  </a:rPr>
                  <a:t> </a:t>
                </a:r>
              </a:p>
            </p:txBody>
          </p:sp>
        </mc:Fallback>
      </mc:AlternateContent>
      <p:grpSp>
        <p:nvGrpSpPr>
          <p:cNvPr id="406531" name="组合 3">
            <a:extLst>
              <a:ext uri="{FF2B5EF4-FFF2-40B4-BE49-F238E27FC236}">
                <a16:creationId xmlns:a16="http://schemas.microsoft.com/office/drawing/2014/main" id="{E2503AC2-8603-A54E-AF90-254C558647A6}"/>
              </a:ext>
            </a:extLst>
          </p:cNvPr>
          <p:cNvGrpSpPr>
            <a:grpSpLocks/>
          </p:cNvGrpSpPr>
          <p:nvPr/>
        </p:nvGrpSpPr>
        <p:grpSpPr bwMode="auto">
          <a:xfrm>
            <a:off x="1955800" y="2971800"/>
            <a:ext cx="7529513" cy="2441575"/>
            <a:chOff x="1955417" y="2971800"/>
            <a:chExt cx="7529896" cy="2441575"/>
          </a:xfrm>
        </p:grpSpPr>
        <p:grpSp>
          <p:nvGrpSpPr>
            <p:cNvPr id="406532" name="Group 31">
              <a:extLst>
                <a:ext uri="{FF2B5EF4-FFF2-40B4-BE49-F238E27FC236}">
                  <a16:creationId xmlns:a16="http://schemas.microsoft.com/office/drawing/2014/main" id="{01BFB692-69ED-5244-8C77-A94AD7CA6C1F}"/>
                </a:ext>
              </a:extLst>
            </p:cNvPr>
            <p:cNvGrpSpPr>
              <a:grpSpLocks/>
            </p:cNvGrpSpPr>
            <p:nvPr/>
          </p:nvGrpSpPr>
          <p:grpSpPr bwMode="auto">
            <a:xfrm>
              <a:off x="2482851" y="2971800"/>
              <a:ext cx="7002462" cy="2441575"/>
              <a:chOff x="869" y="1294"/>
              <a:chExt cx="2881" cy="882"/>
            </a:xfrm>
          </p:grpSpPr>
          <p:sp>
            <p:nvSpPr>
              <p:cNvPr id="406533" name="Text Box 4">
                <a:extLst>
                  <a:ext uri="{FF2B5EF4-FFF2-40B4-BE49-F238E27FC236}">
                    <a16:creationId xmlns:a16="http://schemas.microsoft.com/office/drawing/2014/main" id="{D3A06E7E-FE5B-3341-936A-6CF12B13CFA0}"/>
                  </a:ext>
                </a:extLst>
              </p:cNvPr>
              <p:cNvSpPr txBox="1">
                <a:spLocks noChangeArrowheads="1"/>
              </p:cNvSpPr>
              <p:nvPr/>
            </p:nvSpPr>
            <p:spPr bwMode="auto">
              <a:xfrm>
                <a:off x="942" y="1294"/>
                <a:ext cx="431"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MK</a:t>
                </a:r>
                <a:r>
                  <a:rPr lang="en-US" altLang="zh-CN" sz="2000" baseline="-25000">
                    <a:latin typeface="Times New Roman" panose="02020603050405020304" pitchFamily="18" charset="0"/>
                  </a:rPr>
                  <a:t>0</a:t>
                </a:r>
                <a:endParaRPr lang="en-US" altLang="zh-CN" sz="2000">
                  <a:latin typeface="Tahoma" panose="020B0604030504040204" pitchFamily="34" charset="0"/>
                </a:endParaRPr>
              </a:p>
            </p:txBody>
          </p:sp>
          <p:sp>
            <p:nvSpPr>
              <p:cNvPr id="406534" name="Text Box 5">
                <a:extLst>
                  <a:ext uri="{FF2B5EF4-FFF2-40B4-BE49-F238E27FC236}">
                    <a16:creationId xmlns:a16="http://schemas.microsoft.com/office/drawing/2014/main" id="{05B345F5-8C30-D84D-95B7-FEB3A34C6897}"/>
                  </a:ext>
                </a:extLst>
              </p:cNvPr>
              <p:cNvSpPr txBox="1">
                <a:spLocks noChangeArrowheads="1"/>
              </p:cNvSpPr>
              <p:nvPr/>
            </p:nvSpPr>
            <p:spPr bwMode="auto">
              <a:xfrm>
                <a:off x="1733" y="1294"/>
                <a:ext cx="433"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MK</a:t>
                </a:r>
                <a:r>
                  <a:rPr lang="en-US" altLang="zh-CN" sz="2000" baseline="-25000">
                    <a:latin typeface="Times New Roman" panose="02020603050405020304" pitchFamily="18" charset="0"/>
                  </a:rPr>
                  <a:t>1</a:t>
                </a:r>
                <a:endParaRPr lang="en-US" altLang="zh-CN" sz="2000">
                  <a:latin typeface="Tahoma" panose="020B0604030504040204" pitchFamily="34" charset="0"/>
                </a:endParaRPr>
              </a:p>
            </p:txBody>
          </p:sp>
          <p:sp>
            <p:nvSpPr>
              <p:cNvPr id="406535" name="Text Box 6">
                <a:extLst>
                  <a:ext uri="{FF2B5EF4-FFF2-40B4-BE49-F238E27FC236}">
                    <a16:creationId xmlns:a16="http://schemas.microsoft.com/office/drawing/2014/main" id="{7846ABAF-3CD6-8A47-BC44-CE6A8AAB6102}"/>
                  </a:ext>
                </a:extLst>
              </p:cNvPr>
              <p:cNvSpPr txBox="1">
                <a:spLocks noChangeArrowheads="1"/>
              </p:cNvSpPr>
              <p:nvPr/>
            </p:nvSpPr>
            <p:spPr bwMode="auto">
              <a:xfrm>
                <a:off x="2525" y="1294"/>
                <a:ext cx="433"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MK</a:t>
                </a:r>
                <a:r>
                  <a:rPr lang="en-US" altLang="zh-CN" sz="2000" baseline="-25000">
                    <a:latin typeface="Times New Roman" panose="02020603050405020304" pitchFamily="18" charset="0"/>
                  </a:rPr>
                  <a:t>1</a:t>
                </a:r>
                <a:endParaRPr lang="en-US" altLang="zh-CN" sz="2000">
                  <a:latin typeface="Tahoma" panose="020B0604030504040204" pitchFamily="34" charset="0"/>
                </a:endParaRPr>
              </a:p>
            </p:txBody>
          </p:sp>
          <p:sp>
            <p:nvSpPr>
              <p:cNvPr id="406536" name="Text Box 7">
                <a:extLst>
                  <a:ext uri="{FF2B5EF4-FFF2-40B4-BE49-F238E27FC236}">
                    <a16:creationId xmlns:a16="http://schemas.microsoft.com/office/drawing/2014/main" id="{8B97B8FF-EC43-1948-9339-78633CEFB102}"/>
                  </a:ext>
                </a:extLst>
              </p:cNvPr>
              <p:cNvSpPr txBox="1">
                <a:spLocks noChangeArrowheads="1"/>
              </p:cNvSpPr>
              <p:nvPr/>
            </p:nvSpPr>
            <p:spPr bwMode="auto">
              <a:xfrm>
                <a:off x="3317" y="1294"/>
                <a:ext cx="433"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MK</a:t>
                </a:r>
                <a:r>
                  <a:rPr lang="en-US" altLang="zh-CN" sz="2000" baseline="-25000">
                    <a:latin typeface="Times New Roman" panose="02020603050405020304" pitchFamily="18" charset="0"/>
                  </a:rPr>
                  <a:t>1</a:t>
                </a:r>
                <a:endParaRPr lang="en-US" altLang="zh-CN" sz="2000">
                  <a:latin typeface="Tahoma" panose="020B0604030504040204" pitchFamily="34" charset="0"/>
                </a:endParaRPr>
              </a:p>
            </p:txBody>
          </p:sp>
          <p:sp>
            <p:nvSpPr>
              <p:cNvPr id="406537" name="Text Box 8">
                <a:extLst>
                  <a:ext uri="{FF2B5EF4-FFF2-40B4-BE49-F238E27FC236}">
                    <a16:creationId xmlns:a16="http://schemas.microsoft.com/office/drawing/2014/main" id="{59081326-61F7-214E-9260-1B716E5CA516}"/>
                  </a:ext>
                </a:extLst>
              </p:cNvPr>
              <p:cNvSpPr txBox="1">
                <a:spLocks noChangeArrowheads="1"/>
              </p:cNvSpPr>
              <p:nvPr/>
            </p:nvSpPr>
            <p:spPr bwMode="auto">
              <a:xfrm>
                <a:off x="942" y="1980"/>
                <a:ext cx="430"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K</a:t>
                </a:r>
                <a:r>
                  <a:rPr lang="en-US" altLang="zh-CN" sz="2000" baseline="-25000">
                    <a:latin typeface="Times New Roman" panose="02020603050405020304" pitchFamily="18" charset="0"/>
                  </a:rPr>
                  <a:t>0</a:t>
                </a:r>
                <a:endParaRPr lang="en-US" altLang="zh-CN" sz="2000">
                  <a:latin typeface="Tahoma" panose="020B0604030504040204" pitchFamily="34" charset="0"/>
                </a:endParaRPr>
              </a:p>
            </p:txBody>
          </p:sp>
          <p:sp>
            <p:nvSpPr>
              <p:cNvPr id="406538" name="Text Box 9">
                <a:extLst>
                  <a:ext uri="{FF2B5EF4-FFF2-40B4-BE49-F238E27FC236}">
                    <a16:creationId xmlns:a16="http://schemas.microsoft.com/office/drawing/2014/main" id="{AD35127A-F1D8-6245-865F-FDBC93786BB4}"/>
                  </a:ext>
                </a:extLst>
              </p:cNvPr>
              <p:cNvSpPr txBox="1">
                <a:spLocks noChangeArrowheads="1"/>
              </p:cNvSpPr>
              <p:nvPr/>
            </p:nvSpPr>
            <p:spPr bwMode="auto">
              <a:xfrm>
                <a:off x="1733" y="1980"/>
                <a:ext cx="433"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K</a:t>
                </a:r>
                <a:r>
                  <a:rPr lang="en-US" altLang="zh-CN" sz="2000" baseline="-25000">
                    <a:latin typeface="Times New Roman" panose="02020603050405020304" pitchFamily="18" charset="0"/>
                  </a:rPr>
                  <a:t>1</a:t>
                </a:r>
                <a:endParaRPr lang="en-US" altLang="zh-CN" sz="2000">
                  <a:latin typeface="Tahoma" panose="020B0604030504040204" pitchFamily="34" charset="0"/>
                </a:endParaRPr>
              </a:p>
            </p:txBody>
          </p:sp>
          <p:sp>
            <p:nvSpPr>
              <p:cNvPr id="406539" name="Text Box 10">
                <a:extLst>
                  <a:ext uri="{FF2B5EF4-FFF2-40B4-BE49-F238E27FC236}">
                    <a16:creationId xmlns:a16="http://schemas.microsoft.com/office/drawing/2014/main" id="{9954E2CD-2FDB-604C-BE4E-4063F8494825}"/>
                  </a:ext>
                </a:extLst>
              </p:cNvPr>
              <p:cNvSpPr txBox="1">
                <a:spLocks noChangeArrowheads="1"/>
              </p:cNvSpPr>
              <p:nvPr/>
            </p:nvSpPr>
            <p:spPr bwMode="auto">
              <a:xfrm>
                <a:off x="2526" y="1980"/>
                <a:ext cx="431"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K</a:t>
                </a:r>
                <a:r>
                  <a:rPr lang="en-US" altLang="zh-CN" sz="2000" baseline="-25000">
                    <a:latin typeface="Times New Roman" panose="02020603050405020304" pitchFamily="18" charset="0"/>
                  </a:rPr>
                  <a:t>2</a:t>
                </a:r>
                <a:endParaRPr lang="en-US" altLang="zh-CN" sz="2000">
                  <a:latin typeface="Tahoma" panose="020B0604030504040204" pitchFamily="34" charset="0"/>
                </a:endParaRPr>
              </a:p>
            </p:txBody>
          </p:sp>
          <p:sp>
            <p:nvSpPr>
              <p:cNvPr id="406540" name="Text Box 11">
                <a:extLst>
                  <a:ext uri="{FF2B5EF4-FFF2-40B4-BE49-F238E27FC236}">
                    <a16:creationId xmlns:a16="http://schemas.microsoft.com/office/drawing/2014/main" id="{38BE7E0F-3EC0-8345-AFCE-84728456A138}"/>
                  </a:ext>
                </a:extLst>
              </p:cNvPr>
              <p:cNvSpPr txBox="1">
                <a:spLocks noChangeArrowheads="1"/>
              </p:cNvSpPr>
              <p:nvPr/>
            </p:nvSpPr>
            <p:spPr bwMode="auto">
              <a:xfrm>
                <a:off x="3317" y="1980"/>
                <a:ext cx="431" cy="196"/>
              </a:xfrm>
              <a:prstGeom prst="rect">
                <a:avLst/>
              </a:prstGeom>
              <a:solidFill>
                <a:srgbClr val="FFFFFF"/>
              </a:solidFill>
              <a:ln w="9525">
                <a:solidFill>
                  <a:srgbClr val="000000"/>
                </a:solidFill>
                <a:miter lim="800000"/>
                <a:headEnd/>
                <a:tailEnd/>
              </a:ln>
            </p:spPr>
            <p:txBody>
              <a:bodyPr lIns="95723" tIns="47861" rIns="95723" bIns="47861"/>
              <a:lstStyle/>
              <a:p>
                <a:pPr algn="ctr"/>
                <a:r>
                  <a:rPr lang="en-US" altLang="zh-CN" sz="2000">
                    <a:latin typeface="Times New Roman" panose="02020603050405020304" pitchFamily="18" charset="0"/>
                  </a:rPr>
                  <a:t>K</a:t>
                </a:r>
                <a:r>
                  <a:rPr lang="en-US" altLang="zh-CN" sz="2000" baseline="-25000">
                    <a:latin typeface="Times New Roman" panose="02020603050405020304" pitchFamily="18" charset="0"/>
                  </a:rPr>
                  <a:t>3</a:t>
                </a:r>
                <a:endParaRPr lang="en-US" altLang="zh-CN" sz="2000">
                  <a:latin typeface="Tahoma" panose="020B0604030504040204" pitchFamily="34" charset="0"/>
                </a:endParaRPr>
              </a:p>
            </p:txBody>
          </p:sp>
          <p:sp>
            <p:nvSpPr>
              <p:cNvPr id="406541" name="AutoShape 12">
                <a:extLst>
                  <a:ext uri="{FF2B5EF4-FFF2-40B4-BE49-F238E27FC236}">
                    <a16:creationId xmlns:a16="http://schemas.microsoft.com/office/drawing/2014/main" id="{68B54E6E-D2D3-5D4C-A106-3E0A3490EF1F}"/>
                  </a:ext>
                </a:extLst>
              </p:cNvPr>
              <p:cNvSpPr>
                <a:spLocks noChangeArrowheads="1"/>
              </p:cNvSpPr>
              <p:nvPr/>
            </p:nvSpPr>
            <p:spPr bwMode="auto">
              <a:xfrm>
                <a:off x="1085" y="1668"/>
                <a:ext cx="144" cy="151"/>
              </a:xfrm>
              <a:prstGeom prst="flowChartOr">
                <a:avLst/>
              </a:prstGeom>
              <a:solidFill>
                <a:srgbClr val="FFFFFF"/>
              </a:solidFill>
              <a:ln w="9525">
                <a:solidFill>
                  <a:srgbClr val="000000"/>
                </a:solidFill>
                <a:round/>
                <a:headEnd/>
                <a:tailEnd/>
              </a:ln>
            </p:spPr>
            <p:txBody>
              <a:bodyPr/>
              <a:lstStyle/>
              <a:p>
                <a:endParaRPr lang="zh-CN" altLang="en-US">
                  <a:latin typeface="Tahoma" panose="020B0604030504040204" pitchFamily="34" charset="0"/>
                </a:endParaRPr>
              </a:p>
            </p:txBody>
          </p:sp>
          <p:sp>
            <p:nvSpPr>
              <p:cNvPr id="406542" name="AutoShape 13">
                <a:extLst>
                  <a:ext uri="{FF2B5EF4-FFF2-40B4-BE49-F238E27FC236}">
                    <a16:creationId xmlns:a16="http://schemas.microsoft.com/office/drawing/2014/main" id="{00A7ED65-24C3-9F4B-9F17-8F9F4F451D3E}"/>
                  </a:ext>
                </a:extLst>
              </p:cNvPr>
              <p:cNvSpPr>
                <a:spLocks noChangeArrowheads="1"/>
              </p:cNvSpPr>
              <p:nvPr/>
            </p:nvSpPr>
            <p:spPr bwMode="auto">
              <a:xfrm>
                <a:off x="1877" y="1668"/>
                <a:ext cx="143" cy="151"/>
              </a:xfrm>
              <a:prstGeom prst="flowChartOr">
                <a:avLst/>
              </a:prstGeom>
              <a:solidFill>
                <a:srgbClr val="FFFFFF"/>
              </a:solidFill>
              <a:ln w="9525">
                <a:solidFill>
                  <a:srgbClr val="000000"/>
                </a:solidFill>
                <a:round/>
                <a:headEnd/>
                <a:tailEnd/>
              </a:ln>
            </p:spPr>
            <p:txBody>
              <a:bodyPr/>
              <a:lstStyle/>
              <a:p>
                <a:endParaRPr lang="zh-CN" altLang="en-US">
                  <a:latin typeface="Tahoma" panose="020B0604030504040204" pitchFamily="34" charset="0"/>
                </a:endParaRPr>
              </a:p>
            </p:txBody>
          </p:sp>
          <p:sp>
            <p:nvSpPr>
              <p:cNvPr id="406543" name="AutoShape 14">
                <a:extLst>
                  <a:ext uri="{FF2B5EF4-FFF2-40B4-BE49-F238E27FC236}">
                    <a16:creationId xmlns:a16="http://schemas.microsoft.com/office/drawing/2014/main" id="{5909CC57-F3BD-834E-9FD3-0BA70D483EB8}"/>
                  </a:ext>
                </a:extLst>
              </p:cNvPr>
              <p:cNvSpPr>
                <a:spLocks noChangeArrowheads="1"/>
              </p:cNvSpPr>
              <p:nvPr/>
            </p:nvSpPr>
            <p:spPr bwMode="auto">
              <a:xfrm>
                <a:off x="2669" y="1668"/>
                <a:ext cx="143" cy="151"/>
              </a:xfrm>
              <a:prstGeom prst="flowChartOr">
                <a:avLst/>
              </a:prstGeom>
              <a:solidFill>
                <a:srgbClr val="FFFFFF"/>
              </a:solidFill>
              <a:ln w="9525">
                <a:solidFill>
                  <a:srgbClr val="000000"/>
                </a:solidFill>
                <a:round/>
                <a:headEnd/>
                <a:tailEnd/>
              </a:ln>
            </p:spPr>
            <p:txBody>
              <a:bodyPr/>
              <a:lstStyle/>
              <a:p>
                <a:endParaRPr lang="zh-CN" altLang="en-US">
                  <a:latin typeface="Tahoma" panose="020B0604030504040204" pitchFamily="34" charset="0"/>
                </a:endParaRPr>
              </a:p>
            </p:txBody>
          </p:sp>
          <p:sp>
            <p:nvSpPr>
              <p:cNvPr id="406544" name="AutoShape 15">
                <a:extLst>
                  <a:ext uri="{FF2B5EF4-FFF2-40B4-BE49-F238E27FC236}">
                    <a16:creationId xmlns:a16="http://schemas.microsoft.com/office/drawing/2014/main" id="{69850581-6D65-B34F-B4DD-C3E2A78DD654}"/>
                  </a:ext>
                </a:extLst>
              </p:cNvPr>
              <p:cNvSpPr>
                <a:spLocks noChangeArrowheads="1"/>
              </p:cNvSpPr>
              <p:nvPr/>
            </p:nvSpPr>
            <p:spPr bwMode="auto">
              <a:xfrm>
                <a:off x="3461" y="1668"/>
                <a:ext cx="143" cy="151"/>
              </a:xfrm>
              <a:prstGeom prst="flowChartOr">
                <a:avLst/>
              </a:prstGeom>
              <a:solidFill>
                <a:srgbClr val="FFFFFF"/>
              </a:solidFill>
              <a:ln w="9525">
                <a:solidFill>
                  <a:srgbClr val="000000"/>
                </a:solidFill>
                <a:round/>
                <a:headEnd/>
                <a:tailEnd/>
              </a:ln>
            </p:spPr>
            <p:txBody>
              <a:bodyPr/>
              <a:lstStyle/>
              <a:p>
                <a:endParaRPr lang="zh-CN" altLang="en-US">
                  <a:latin typeface="Tahoma" panose="020B0604030504040204" pitchFamily="34" charset="0"/>
                </a:endParaRPr>
              </a:p>
            </p:txBody>
          </p:sp>
          <p:sp>
            <p:nvSpPr>
              <p:cNvPr id="406545" name="Line 16">
                <a:extLst>
                  <a:ext uri="{FF2B5EF4-FFF2-40B4-BE49-F238E27FC236}">
                    <a16:creationId xmlns:a16="http://schemas.microsoft.com/office/drawing/2014/main" id="{FE51F830-13FA-8F42-821F-5DA85D2D819E}"/>
                  </a:ext>
                </a:extLst>
              </p:cNvPr>
              <p:cNvSpPr>
                <a:spLocks noChangeShapeType="1"/>
              </p:cNvSpPr>
              <p:nvPr/>
            </p:nvSpPr>
            <p:spPr bwMode="auto">
              <a:xfrm>
                <a:off x="1157" y="1481"/>
                <a:ext cx="1" cy="1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46" name="Line 17">
                <a:extLst>
                  <a:ext uri="{FF2B5EF4-FFF2-40B4-BE49-F238E27FC236}">
                    <a16:creationId xmlns:a16="http://schemas.microsoft.com/office/drawing/2014/main" id="{A0BDC3F4-694C-D24F-ADBC-58A09DFFBAAD}"/>
                  </a:ext>
                </a:extLst>
              </p:cNvPr>
              <p:cNvSpPr>
                <a:spLocks noChangeShapeType="1"/>
              </p:cNvSpPr>
              <p:nvPr/>
            </p:nvSpPr>
            <p:spPr bwMode="auto">
              <a:xfrm>
                <a:off x="1157" y="1793"/>
                <a:ext cx="1" cy="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47" name="Line 18">
                <a:extLst>
                  <a:ext uri="{FF2B5EF4-FFF2-40B4-BE49-F238E27FC236}">
                    <a16:creationId xmlns:a16="http://schemas.microsoft.com/office/drawing/2014/main" id="{CAEAF7F8-D37E-1D44-B499-565023B47656}"/>
                  </a:ext>
                </a:extLst>
              </p:cNvPr>
              <p:cNvSpPr>
                <a:spLocks noChangeShapeType="1"/>
              </p:cNvSpPr>
              <p:nvPr/>
            </p:nvSpPr>
            <p:spPr bwMode="auto">
              <a:xfrm>
                <a:off x="869" y="1731"/>
                <a:ext cx="21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48" name="Line 19">
                <a:extLst>
                  <a:ext uri="{FF2B5EF4-FFF2-40B4-BE49-F238E27FC236}">
                    <a16:creationId xmlns:a16="http://schemas.microsoft.com/office/drawing/2014/main" id="{F3DC7EE7-0F4C-1C40-ABDB-88D442EB05EC}"/>
                  </a:ext>
                </a:extLst>
              </p:cNvPr>
              <p:cNvSpPr>
                <a:spLocks noChangeShapeType="1"/>
              </p:cNvSpPr>
              <p:nvPr/>
            </p:nvSpPr>
            <p:spPr bwMode="auto">
              <a:xfrm>
                <a:off x="1949" y="1481"/>
                <a:ext cx="1" cy="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49" name="Line 20">
                <a:extLst>
                  <a:ext uri="{FF2B5EF4-FFF2-40B4-BE49-F238E27FC236}">
                    <a16:creationId xmlns:a16="http://schemas.microsoft.com/office/drawing/2014/main" id="{8226D1AD-C24F-004C-9390-EF9FD25F8D00}"/>
                  </a:ext>
                </a:extLst>
              </p:cNvPr>
              <p:cNvSpPr>
                <a:spLocks noChangeShapeType="1"/>
              </p:cNvSpPr>
              <p:nvPr/>
            </p:nvSpPr>
            <p:spPr bwMode="auto">
              <a:xfrm>
                <a:off x="1949" y="1793"/>
                <a:ext cx="1" cy="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50" name="Line 21">
                <a:extLst>
                  <a:ext uri="{FF2B5EF4-FFF2-40B4-BE49-F238E27FC236}">
                    <a16:creationId xmlns:a16="http://schemas.microsoft.com/office/drawing/2014/main" id="{715599EC-7758-1440-9AB7-F6621AFA9730}"/>
                  </a:ext>
                </a:extLst>
              </p:cNvPr>
              <p:cNvSpPr>
                <a:spLocks noChangeShapeType="1"/>
              </p:cNvSpPr>
              <p:nvPr/>
            </p:nvSpPr>
            <p:spPr bwMode="auto">
              <a:xfrm>
                <a:off x="1661" y="1731"/>
                <a:ext cx="21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51" name="Text Box 22">
                <a:extLst>
                  <a:ext uri="{FF2B5EF4-FFF2-40B4-BE49-F238E27FC236}">
                    <a16:creationId xmlns:a16="http://schemas.microsoft.com/office/drawing/2014/main" id="{48409872-48AD-BF4B-B4F2-FE944EBE0670}"/>
                  </a:ext>
                </a:extLst>
              </p:cNvPr>
              <p:cNvSpPr txBox="1">
                <a:spLocks noChangeArrowheads="1"/>
              </p:cNvSpPr>
              <p:nvPr/>
            </p:nvSpPr>
            <p:spPr bwMode="auto">
              <a:xfrm>
                <a:off x="1445" y="1606"/>
                <a:ext cx="28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000">
                    <a:latin typeface="Times New Roman" panose="02020603050405020304" pitchFamily="18" charset="0"/>
                  </a:rPr>
                  <a:t>FK</a:t>
                </a:r>
                <a:r>
                  <a:rPr lang="en-US" altLang="zh-CN" sz="2000" baseline="-25000">
                    <a:latin typeface="Times New Roman" panose="02020603050405020304" pitchFamily="18" charset="0"/>
                  </a:rPr>
                  <a:t>1</a:t>
                </a:r>
                <a:endParaRPr lang="en-US" altLang="zh-CN" sz="2000">
                  <a:latin typeface="Tahoma" panose="020B0604030504040204" pitchFamily="34" charset="0"/>
                </a:endParaRPr>
              </a:p>
            </p:txBody>
          </p:sp>
          <p:sp>
            <p:nvSpPr>
              <p:cNvPr id="406552" name="Text Box 23">
                <a:extLst>
                  <a:ext uri="{FF2B5EF4-FFF2-40B4-BE49-F238E27FC236}">
                    <a16:creationId xmlns:a16="http://schemas.microsoft.com/office/drawing/2014/main" id="{1F879D51-1AD2-F545-AB9C-2F6438B99408}"/>
                  </a:ext>
                </a:extLst>
              </p:cNvPr>
              <p:cNvSpPr txBox="1">
                <a:spLocks noChangeArrowheads="1"/>
              </p:cNvSpPr>
              <p:nvPr/>
            </p:nvSpPr>
            <p:spPr bwMode="auto">
              <a:xfrm>
                <a:off x="2237" y="1606"/>
                <a:ext cx="28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000">
                    <a:latin typeface="Times New Roman" panose="02020603050405020304" pitchFamily="18" charset="0"/>
                  </a:rPr>
                  <a:t>FK</a:t>
                </a:r>
                <a:r>
                  <a:rPr lang="en-US" altLang="zh-CN" sz="2000" baseline="-25000">
                    <a:latin typeface="Times New Roman" panose="02020603050405020304" pitchFamily="18" charset="0"/>
                  </a:rPr>
                  <a:t>2</a:t>
                </a:r>
                <a:endParaRPr lang="en-US" altLang="zh-CN" sz="2000">
                  <a:latin typeface="Tahoma" panose="020B0604030504040204" pitchFamily="34" charset="0"/>
                </a:endParaRPr>
              </a:p>
            </p:txBody>
          </p:sp>
          <p:sp>
            <p:nvSpPr>
              <p:cNvPr id="406553" name="Text Box 24">
                <a:extLst>
                  <a:ext uri="{FF2B5EF4-FFF2-40B4-BE49-F238E27FC236}">
                    <a16:creationId xmlns:a16="http://schemas.microsoft.com/office/drawing/2014/main" id="{3886799D-0651-B34E-A09C-7358BF6A432E}"/>
                  </a:ext>
                </a:extLst>
              </p:cNvPr>
              <p:cNvSpPr txBox="1">
                <a:spLocks noChangeArrowheads="1"/>
              </p:cNvSpPr>
              <p:nvPr/>
            </p:nvSpPr>
            <p:spPr bwMode="auto">
              <a:xfrm>
                <a:off x="3029" y="1606"/>
                <a:ext cx="28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000">
                    <a:latin typeface="Times New Roman" panose="02020603050405020304" pitchFamily="18" charset="0"/>
                  </a:rPr>
                  <a:t>FK</a:t>
                </a:r>
                <a:r>
                  <a:rPr lang="en-US" altLang="zh-CN" sz="2000" baseline="-25000">
                    <a:latin typeface="Times New Roman" panose="02020603050405020304" pitchFamily="18" charset="0"/>
                  </a:rPr>
                  <a:t>3</a:t>
                </a:r>
                <a:endParaRPr lang="en-US" altLang="zh-CN" sz="2000">
                  <a:latin typeface="Tahoma" panose="020B0604030504040204" pitchFamily="34" charset="0"/>
                </a:endParaRPr>
              </a:p>
            </p:txBody>
          </p:sp>
          <p:sp>
            <p:nvSpPr>
              <p:cNvPr id="406554" name="Line 25">
                <a:extLst>
                  <a:ext uri="{FF2B5EF4-FFF2-40B4-BE49-F238E27FC236}">
                    <a16:creationId xmlns:a16="http://schemas.microsoft.com/office/drawing/2014/main" id="{A2DE52F5-9D46-7845-9FCA-C7008858191B}"/>
                  </a:ext>
                </a:extLst>
              </p:cNvPr>
              <p:cNvSpPr>
                <a:spLocks noChangeShapeType="1"/>
              </p:cNvSpPr>
              <p:nvPr/>
            </p:nvSpPr>
            <p:spPr bwMode="auto">
              <a:xfrm>
                <a:off x="2741" y="1793"/>
                <a:ext cx="1" cy="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55" name="Line 26">
                <a:extLst>
                  <a:ext uri="{FF2B5EF4-FFF2-40B4-BE49-F238E27FC236}">
                    <a16:creationId xmlns:a16="http://schemas.microsoft.com/office/drawing/2014/main" id="{CF634BB8-0E35-F246-BF88-14466A096B30}"/>
                  </a:ext>
                </a:extLst>
              </p:cNvPr>
              <p:cNvSpPr>
                <a:spLocks noChangeShapeType="1"/>
              </p:cNvSpPr>
              <p:nvPr/>
            </p:nvSpPr>
            <p:spPr bwMode="auto">
              <a:xfrm>
                <a:off x="2741" y="1481"/>
                <a:ext cx="1" cy="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56" name="Line 27">
                <a:extLst>
                  <a:ext uri="{FF2B5EF4-FFF2-40B4-BE49-F238E27FC236}">
                    <a16:creationId xmlns:a16="http://schemas.microsoft.com/office/drawing/2014/main" id="{5D27FFCB-CABF-514D-A922-3AA57A753074}"/>
                  </a:ext>
                </a:extLst>
              </p:cNvPr>
              <p:cNvSpPr>
                <a:spLocks noChangeShapeType="1"/>
              </p:cNvSpPr>
              <p:nvPr/>
            </p:nvSpPr>
            <p:spPr bwMode="auto">
              <a:xfrm>
                <a:off x="2454" y="1731"/>
                <a:ext cx="21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57" name="Line 28">
                <a:extLst>
                  <a:ext uri="{FF2B5EF4-FFF2-40B4-BE49-F238E27FC236}">
                    <a16:creationId xmlns:a16="http://schemas.microsoft.com/office/drawing/2014/main" id="{75F2D5C6-0700-9E4C-A6B9-EC73FCAF1D3D}"/>
                  </a:ext>
                </a:extLst>
              </p:cNvPr>
              <p:cNvSpPr>
                <a:spLocks noChangeShapeType="1"/>
              </p:cNvSpPr>
              <p:nvPr/>
            </p:nvSpPr>
            <p:spPr bwMode="auto">
              <a:xfrm>
                <a:off x="3533" y="1481"/>
                <a:ext cx="1" cy="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58" name="Line 29">
                <a:extLst>
                  <a:ext uri="{FF2B5EF4-FFF2-40B4-BE49-F238E27FC236}">
                    <a16:creationId xmlns:a16="http://schemas.microsoft.com/office/drawing/2014/main" id="{3137902D-457A-8742-94B2-F6F6B5DD78FE}"/>
                  </a:ext>
                </a:extLst>
              </p:cNvPr>
              <p:cNvSpPr>
                <a:spLocks noChangeShapeType="1"/>
              </p:cNvSpPr>
              <p:nvPr/>
            </p:nvSpPr>
            <p:spPr bwMode="auto">
              <a:xfrm>
                <a:off x="3533" y="1793"/>
                <a:ext cx="1" cy="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406559" name="Line 30">
                <a:extLst>
                  <a:ext uri="{FF2B5EF4-FFF2-40B4-BE49-F238E27FC236}">
                    <a16:creationId xmlns:a16="http://schemas.microsoft.com/office/drawing/2014/main" id="{1BF93393-6461-D545-B837-FC58DEBC7EF0}"/>
                  </a:ext>
                </a:extLst>
              </p:cNvPr>
              <p:cNvSpPr>
                <a:spLocks noChangeShapeType="1"/>
              </p:cNvSpPr>
              <p:nvPr/>
            </p:nvSpPr>
            <p:spPr bwMode="auto">
              <a:xfrm>
                <a:off x="3245" y="1731"/>
                <a:ext cx="21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406560" name="Text Box 22">
              <a:extLst>
                <a:ext uri="{FF2B5EF4-FFF2-40B4-BE49-F238E27FC236}">
                  <a16:creationId xmlns:a16="http://schemas.microsoft.com/office/drawing/2014/main" id="{ED17FD2C-7251-FC4B-89FE-36E02CB38BF2}"/>
                </a:ext>
              </a:extLst>
            </p:cNvPr>
            <p:cNvSpPr txBox="1">
              <a:spLocks noChangeArrowheads="1"/>
            </p:cNvSpPr>
            <p:nvPr/>
          </p:nvSpPr>
          <p:spPr bwMode="auto">
            <a:xfrm>
              <a:off x="1955417" y="3835486"/>
              <a:ext cx="700003" cy="514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000">
                  <a:latin typeface="Times New Roman" panose="02020603050405020304" pitchFamily="18" charset="0"/>
                </a:rPr>
                <a:t>FK</a:t>
              </a:r>
              <a:r>
                <a:rPr lang="en-US" altLang="zh-CN" sz="2000" baseline="-25000">
                  <a:latin typeface="Times New Roman" panose="02020603050405020304" pitchFamily="18" charset="0"/>
                </a:rPr>
                <a:t>0</a:t>
              </a:r>
              <a:endParaRPr lang="en-US" altLang="zh-CN" sz="2000">
                <a:latin typeface="Tahoma" panose="020B0604030504040204" pitchFamily="34" charset="0"/>
              </a:endParaRPr>
            </a:p>
          </p:txBody>
        </p:sp>
      </p:grpSp>
    </p:spTree>
  </p:cSld>
  <p:clrMapOvr>
    <a:masterClrMapping/>
  </p:clrMapOvr>
  <p:transition spd="slow"/>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7553" name="组合 3">
            <a:extLst>
              <a:ext uri="{FF2B5EF4-FFF2-40B4-BE49-F238E27FC236}">
                <a16:creationId xmlns:a16="http://schemas.microsoft.com/office/drawing/2014/main" id="{8D450AE7-5C18-8E42-8C30-6B1B0B2A0F6F}"/>
              </a:ext>
            </a:extLst>
          </p:cNvPr>
          <p:cNvGrpSpPr>
            <a:grpSpLocks/>
          </p:cNvGrpSpPr>
          <p:nvPr/>
        </p:nvGrpSpPr>
        <p:grpSpPr bwMode="auto">
          <a:xfrm>
            <a:off x="2286000" y="223838"/>
            <a:ext cx="6553200" cy="6634162"/>
            <a:chOff x="1828800" y="228601"/>
            <a:chExt cx="6553200" cy="6634163"/>
          </a:xfrm>
        </p:grpSpPr>
        <p:sp>
          <p:nvSpPr>
            <p:cNvPr id="160771" name="Text Box 91">
              <a:extLst>
                <a:ext uri="{FF2B5EF4-FFF2-40B4-BE49-F238E27FC236}">
                  <a16:creationId xmlns:a16="http://schemas.microsoft.com/office/drawing/2014/main" id="{FAD77B8A-74CC-3049-90D5-35237C1A07C3}"/>
                </a:ext>
              </a:extLst>
            </p:cNvPr>
            <p:cNvSpPr txBox="1">
              <a:spLocks noChangeArrowheads="1"/>
            </p:cNvSpPr>
            <p:nvPr/>
          </p:nvSpPr>
          <p:spPr bwMode="auto">
            <a:xfrm>
              <a:off x="4181475" y="6424614"/>
              <a:ext cx="1344613" cy="438150"/>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K</a:t>
              </a:r>
              <a:r>
                <a:rPr lang="en-US" altLang="zh-CN" b="1" baseline="-25000">
                  <a:latin typeface="+mn-lt"/>
                </a:rPr>
                <a:t>i+4</a:t>
              </a:r>
              <a:endParaRPr lang="en-US" altLang="zh-CN" b="1">
                <a:latin typeface="+mn-lt"/>
              </a:endParaRPr>
            </a:p>
          </p:txBody>
        </p:sp>
        <p:sp>
          <p:nvSpPr>
            <p:cNvPr id="160772" name="Text Box 92">
              <a:extLst>
                <a:ext uri="{FF2B5EF4-FFF2-40B4-BE49-F238E27FC236}">
                  <a16:creationId xmlns:a16="http://schemas.microsoft.com/office/drawing/2014/main" id="{9B4EAAAE-D80A-0C41-89EB-C835C87741AA}"/>
                </a:ext>
              </a:extLst>
            </p:cNvPr>
            <p:cNvSpPr txBox="1">
              <a:spLocks noChangeArrowheads="1"/>
            </p:cNvSpPr>
            <p:nvPr/>
          </p:nvSpPr>
          <p:spPr bwMode="auto">
            <a:xfrm>
              <a:off x="1828800" y="228601"/>
              <a:ext cx="1003300" cy="442912"/>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K</a:t>
              </a:r>
              <a:r>
                <a:rPr lang="en-US" altLang="zh-CN" b="1" baseline="-25000">
                  <a:latin typeface="+mn-lt"/>
                </a:rPr>
                <a:t>i</a:t>
              </a:r>
              <a:endParaRPr lang="en-US" altLang="zh-CN" b="1">
                <a:latin typeface="+mn-lt"/>
              </a:endParaRPr>
            </a:p>
          </p:txBody>
        </p:sp>
        <p:sp>
          <p:nvSpPr>
            <p:cNvPr id="160773" name="Text Box 93">
              <a:extLst>
                <a:ext uri="{FF2B5EF4-FFF2-40B4-BE49-F238E27FC236}">
                  <a16:creationId xmlns:a16="http://schemas.microsoft.com/office/drawing/2014/main" id="{53A591D3-4754-CB47-91EF-63B662AA83DE}"/>
                </a:ext>
              </a:extLst>
            </p:cNvPr>
            <p:cNvSpPr txBox="1">
              <a:spLocks noChangeArrowheads="1"/>
            </p:cNvSpPr>
            <p:nvPr/>
          </p:nvSpPr>
          <p:spPr bwMode="auto">
            <a:xfrm>
              <a:off x="3678238" y="228601"/>
              <a:ext cx="1008062" cy="442912"/>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K</a:t>
              </a:r>
              <a:r>
                <a:rPr lang="en-US" altLang="zh-CN" b="1" baseline="-25000">
                  <a:latin typeface="+mn-lt"/>
                </a:rPr>
                <a:t>i+1</a:t>
              </a:r>
              <a:endParaRPr lang="en-US" altLang="zh-CN" b="1">
                <a:latin typeface="+mn-lt"/>
              </a:endParaRPr>
            </a:p>
          </p:txBody>
        </p:sp>
        <p:sp>
          <p:nvSpPr>
            <p:cNvPr id="160774" name="Text Box 94">
              <a:extLst>
                <a:ext uri="{FF2B5EF4-FFF2-40B4-BE49-F238E27FC236}">
                  <a16:creationId xmlns:a16="http://schemas.microsoft.com/office/drawing/2014/main" id="{86AF0F50-9AF9-134C-AB1C-BA8002254883}"/>
                </a:ext>
              </a:extLst>
            </p:cNvPr>
            <p:cNvSpPr txBox="1">
              <a:spLocks noChangeArrowheads="1"/>
            </p:cNvSpPr>
            <p:nvPr/>
          </p:nvSpPr>
          <p:spPr bwMode="auto">
            <a:xfrm>
              <a:off x="5526088" y="228601"/>
              <a:ext cx="1006475" cy="442912"/>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K</a:t>
              </a:r>
              <a:r>
                <a:rPr lang="en-US" altLang="zh-CN" b="1" baseline="-25000">
                  <a:latin typeface="+mn-lt"/>
                </a:rPr>
                <a:t>i+2</a:t>
              </a:r>
              <a:endParaRPr lang="en-US" altLang="zh-CN" b="1">
                <a:latin typeface="+mn-lt"/>
              </a:endParaRPr>
            </a:p>
          </p:txBody>
        </p:sp>
        <p:sp>
          <p:nvSpPr>
            <p:cNvPr id="160775" name="Text Box 95">
              <a:extLst>
                <a:ext uri="{FF2B5EF4-FFF2-40B4-BE49-F238E27FC236}">
                  <a16:creationId xmlns:a16="http://schemas.microsoft.com/office/drawing/2014/main" id="{929CC03D-DF90-4844-B4D0-585550BEC72C}"/>
                </a:ext>
              </a:extLst>
            </p:cNvPr>
            <p:cNvSpPr txBox="1">
              <a:spLocks noChangeArrowheads="1"/>
            </p:cNvSpPr>
            <p:nvPr/>
          </p:nvSpPr>
          <p:spPr bwMode="auto">
            <a:xfrm>
              <a:off x="7375525" y="228601"/>
              <a:ext cx="1006475" cy="442912"/>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K</a:t>
              </a:r>
              <a:r>
                <a:rPr lang="en-US" altLang="zh-CN" b="1" baseline="-25000">
                  <a:latin typeface="+mn-lt"/>
                </a:rPr>
                <a:t>i+3</a:t>
              </a:r>
              <a:endParaRPr lang="en-US" altLang="zh-CN" b="1">
                <a:latin typeface="+mn-lt"/>
              </a:endParaRPr>
            </a:p>
          </p:txBody>
        </p:sp>
        <p:sp>
          <p:nvSpPr>
            <p:cNvPr id="160776" name="Line 96">
              <a:extLst>
                <a:ext uri="{FF2B5EF4-FFF2-40B4-BE49-F238E27FC236}">
                  <a16:creationId xmlns:a16="http://schemas.microsoft.com/office/drawing/2014/main" id="{16CE36AE-5D01-8343-8C2E-313E2BF7990D}"/>
                </a:ext>
              </a:extLst>
            </p:cNvPr>
            <p:cNvSpPr>
              <a:spLocks noChangeShapeType="1"/>
            </p:cNvSpPr>
            <p:nvPr/>
          </p:nvSpPr>
          <p:spPr bwMode="auto">
            <a:xfrm>
              <a:off x="4181475" y="668338"/>
              <a:ext cx="0" cy="439738"/>
            </a:xfrm>
            <a:prstGeom prst="line">
              <a:avLst/>
            </a:prstGeom>
            <a:noFill/>
            <a:ln w="9525">
              <a:solidFill>
                <a:srgbClr val="000000"/>
              </a:solidFill>
              <a:round/>
            </a:ln>
            <a:effectLst/>
          </p:spPr>
          <p:txBody>
            <a:bodyPr/>
            <a:lstStyle/>
            <a:p>
              <a:pPr eaLnBrk="0" hangingPunct="0">
                <a:defRPr/>
              </a:pPr>
              <a:endParaRPr lang="zh-CN" altLang="en-US" b="1">
                <a:latin typeface="+mn-lt"/>
              </a:endParaRPr>
            </a:p>
          </p:txBody>
        </p:sp>
        <p:sp>
          <p:nvSpPr>
            <p:cNvPr id="160777" name="AutoShape 97">
              <a:extLst>
                <a:ext uri="{FF2B5EF4-FFF2-40B4-BE49-F238E27FC236}">
                  <a16:creationId xmlns:a16="http://schemas.microsoft.com/office/drawing/2014/main" id="{FB06CF4F-5B36-5C42-B9DA-53AFDD3388A4}"/>
                </a:ext>
              </a:extLst>
            </p:cNvPr>
            <p:cNvSpPr>
              <a:spLocks noChangeArrowheads="1"/>
            </p:cNvSpPr>
            <p:nvPr/>
          </p:nvSpPr>
          <p:spPr bwMode="auto">
            <a:xfrm>
              <a:off x="5862638" y="962026"/>
              <a:ext cx="336550" cy="341312"/>
            </a:xfrm>
            <a:prstGeom prst="flowChartOr">
              <a:avLst/>
            </a:prstGeom>
            <a:noFill/>
            <a:ln w="9525">
              <a:solidFill>
                <a:srgbClr val="000000"/>
              </a:solidFill>
              <a:round/>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b="1">
                <a:latin typeface="+mn-lt"/>
              </a:endParaRPr>
            </a:p>
          </p:txBody>
        </p:sp>
        <p:sp>
          <p:nvSpPr>
            <p:cNvPr id="160778" name="Line 98">
              <a:extLst>
                <a:ext uri="{FF2B5EF4-FFF2-40B4-BE49-F238E27FC236}">
                  <a16:creationId xmlns:a16="http://schemas.microsoft.com/office/drawing/2014/main" id="{C68A5A29-97E3-734D-B3B5-1339CE2BC690}"/>
                </a:ext>
              </a:extLst>
            </p:cNvPr>
            <p:cNvSpPr>
              <a:spLocks noChangeShapeType="1"/>
            </p:cNvSpPr>
            <p:nvPr/>
          </p:nvSpPr>
          <p:spPr bwMode="auto">
            <a:xfrm>
              <a:off x="4181475" y="1108076"/>
              <a:ext cx="1681163" cy="3175"/>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779" name="Line 99">
              <a:extLst>
                <a:ext uri="{FF2B5EF4-FFF2-40B4-BE49-F238E27FC236}">
                  <a16:creationId xmlns:a16="http://schemas.microsoft.com/office/drawing/2014/main" id="{B9285720-A2CB-4840-AC45-3A55CCB624C1}"/>
                </a:ext>
              </a:extLst>
            </p:cNvPr>
            <p:cNvSpPr>
              <a:spLocks noChangeShapeType="1"/>
            </p:cNvSpPr>
            <p:nvPr/>
          </p:nvSpPr>
          <p:spPr bwMode="auto">
            <a:xfrm>
              <a:off x="6030913" y="668338"/>
              <a:ext cx="0" cy="293688"/>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780" name="Freeform 100">
              <a:extLst>
                <a:ext uri="{FF2B5EF4-FFF2-40B4-BE49-F238E27FC236}">
                  <a16:creationId xmlns:a16="http://schemas.microsoft.com/office/drawing/2014/main" id="{1BB52BE2-44F3-1D42-92E4-159E2924EDBD}"/>
                </a:ext>
              </a:extLst>
            </p:cNvPr>
            <p:cNvSpPr/>
            <p:nvPr/>
          </p:nvSpPr>
          <p:spPr bwMode="auto">
            <a:xfrm rot="10800000">
              <a:off x="6159500" y="815976"/>
              <a:ext cx="376238" cy="204787"/>
            </a:xfrm>
            <a:custGeom>
              <a:avLst/>
              <a:gdLst>
                <a:gd name="T0" fmla="*/ 0 w 250"/>
                <a:gd name="T1" fmla="*/ 91 h 150"/>
                <a:gd name="T2" fmla="*/ 161 w 250"/>
                <a:gd name="T3" fmla="*/ 0 h 150"/>
                <a:gd name="T4" fmla="*/ 0 60000 65536"/>
                <a:gd name="T5" fmla="*/ 0 60000 65536"/>
              </a:gdLst>
              <a:ahLst/>
              <a:cxnLst>
                <a:cxn ang="T4">
                  <a:pos x="T0" y="T1"/>
                </a:cxn>
                <a:cxn ang="T5">
                  <a:pos x="T2" y="T3"/>
                </a:cxn>
              </a:cxnLst>
              <a:rect l="0" t="0" r="r" b="b"/>
              <a:pathLst>
                <a:path w="250" h="150">
                  <a:moveTo>
                    <a:pt x="0" y="150"/>
                  </a:moveTo>
                  <a:lnTo>
                    <a:pt x="250" y="0"/>
                  </a:lnTo>
                </a:path>
              </a:pathLst>
            </a:custGeom>
            <a:noFill/>
            <a:ln w="9525" cap="flat" cmpd="sng">
              <a:solidFill>
                <a:srgbClr val="000000"/>
              </a:solidFill>
              <a:prstDash val="solid"/>
              <a:round/>
              <a:headEnd type="none" w="med" len="med"/>
              <a:tailEnd type="triangle" w="med" len="med"/>
            </a:ln>
            <a:effectLst/>
          </p:spPr>
          <p:txBody>
            <a:bodyPr/>
            <a:lstStyle/>
            <a:p>
              <a:pPr eaLnBrk="0" hangingPunct="0">
                <a:defRPr/>
              </a:pPr>
              <a:endParaRPr lang="zh-CN" altLang="en-US" b="1">
                <a:latin typeface="+mn-lt"/>
              </a:endParaRPr>
            </a:p>
          </p:txBody>
        </p:sp>
        <p:sp>
          <p:nvSpPr>
            <p:cNvPr id="160781" name="Text Box 101">
              <a:extLst>
                <a:ext uri="{FF2B5EF4-FFF2-40B4-BE49-F238E27FC236}">
                  <a16:creationId xmlns:a16="http://schemas.microsoft.com/office/drawing/2014/main" id="{E7858F3A-4BE4-6244-9768-F0651180C81D}"/>
                </a:ext>
              </a:extLst>
            </p:cNvPr>
            <p:cNvSpPr txBox="1">
              <a:spLocks noChangeArrowheads="1"/>
            </p:cNvSpPr>
            <p:nvPr/>
          </p:nvSpPr>
          <p:spPr bwMode="auto">
            <a:xfrm>
              <a:off x="6367463" y="522288"/>
              <a:ext cx="504825" cy="439738"/>
            </a:xfrm>
            <a:prstGeom prst="rect">
              <a:avLst/>
            </a:prstGeom>
            <a:noFill/>
            <a:ln>
              <a:noFill/>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ck</a:t>
              </a:r>
              <a:r>
                <a:rPr lang="en-US" altLang="zh-CN" b="1" baseline="-25000">
                  <a:latin typeface="+mn-lt"/>
                </a:rPr>
                <a:t>i</a:t>
              </a:r>
              <a:endParaRPr lang="en-US" altLang="zh-CN" b="1">
                <a:latin typeface="+mn-lt"/>
              </a:endParaRPr>
            </a:p>
          </p:txBody>
        </p:sp>
        <p:sp>
          <p:nvSpPr>
            <p:cNvPr id="160782" name="Line 102">
              <a:extLst>
                <a:ext uri="{FF2B5EF4-FFF2-40B4-BE49-F238E27FC236}">
                  <a16:creationId xmlns:a16="http://schemas.microsoft.com/office/drawing/2014/main" id="{FD4D8373-CC86-7B44-9B4E-F9F6039288FF}"/>
                </a:ext>
              </a:extLst>
            </p:cNvPr>
            <p:cNvSpPr>
              <a:spLocks noChangeShapeType="1"/>
            </p:cNvSpPr>
            <p:nvPr/>
          </p:nvSpPr>
          <p:spPr bwMode="auto">
            <a:xfrm>
              <a:off x="7877175" y="668338"/>
              <a:ext cx="3175" cy="439738"/>
            </a:xfrm>
            <a:prstGeom prst="line">
              <a:avLst/>
            </a:prstGeom>
            <a:noFill/>
            <a:ln w="9525">
              <a:solidFill>
                <a:srgbClr val="000000"/>
              </a:solidFill>
              <a:round/>
            </a:ln>
            <a:effectLst/>
          </p:spPr>
          <p:txBody>
            <a:bodyPr/>
            <a:lstStyle/>
            <a:p>
              <a:pPr eaLnBrk="0" hangingPunct="0">
                <a:defRPr/>
              </a:pPr>
              <a:endParaRPr lang="zh-CN" altLang="en-US" b="1">
                <a:latin typeface="+mn-lt"/>
              </a:endParaRPr>
            </a:p>
          </p:txBody>
        </p:sp>
        <p:sp>
          <p:nvSpPr>
            <p:cNvPr id="160783" name="Line 103">
              <a:extLst>
                <a:ext uri="{FF2B5EF4-FFF2-40B4-BE49-F238E27FC236}">
                  <a16:creationId xmlns:a16="http://schemas.microsoft.com/office/drawing/2014/main" id="{C7EF9CB0-C118-FA4C-8C36-58209976E62C}"/>
                </a:ext>
              </a:extLst>
            </p:cNvPr>
            <p:cNvSpPr>
              <a:spLocks noChangeShapeType="1"/>
            </p:cNvSpPr>
            <p:nvPr/>
          </p:nvSpPr>
          <p:spPr bwMode="auto">
            <a:xfrm flipH="1">
              <a:off x="6199188" y="1108076"/>
              <a:ext cx="1677987" cy="3175"/>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784" name="Line 104">
              <a:extLst>
                <a:ext uri="{FF2B5EF4-FFF2-40B4-BE49-F238E27FC236}">
                  <a16:creationId xmlns:a16="http://schemas.microsoft.com/office/drawing/2014/main" id="{0EC5BC6E-DCF2-7948-8642-84363852D803}"/>
                </a:ext>
              </a:extLst>
            </p:cNvPr>
            <p:cNvSpPr>
              <a:spLocks noChangeShapeType="1"/>
            </p:cNvSpPr>
            <p:nvPr/>
          </p:nvSpPr>
          <p:spPr bwMode="auto">
            <a:xfrm>
              <a:off x="6030913" y="1257301"/>
              <a:ext cx="0" cy="293687"/>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785" name="Text Box 105">
              <a:extLst>
                <a:ext uri="{FF2B5EF4-FFF2-40B4-BE49-F238E27FC236}">
                  <a16:creationId xmlns:a16="http://schemas.microsoft.com/office/drawing/2014/main" id="{29CE31AB-6B0A-134A-9D8D-39C18F8521D6}"/>
                </a:ext>
              </a:extLst>
            </p:cNvPr>
            <p:cNvSpPr txBox="1">
              <a:spLocks noChangeArrowheads="1"/>
            </p:cNvSpPr>
            <p:nvPr/>
          </p:nvSpPr>
          <p:spPr bwMode="auto">
            <a:xfrm>
              <a:off x="5019675" y="1550988"/>
              <a:ext cx="506413"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a</a:t>
              </a:r>
              <a:r>
                <a:rPr lang="en-US" altLang="zh-CN" b="1" baseline="-25000">
                  <a:latin typeface="+mn-lt"/>
                </a:rPr>
                <a:t>0</a:t>
              </a:r>
              <a:endParaRPr lang="en-US" altLang="zh-CN" b="1">
                <a:latin typeface="+mn-lt"/>
              </a:endParaRPr>
            </a:p>
          </p:txBody>
        </p:sp>
        <p:sp>
          <p:nvSpPr>
            <p:cNvPr id="160786" name="Text Box 106">
              <a:extLst>
                <a:ext uri="{FF2B5EF4-FFF2-40B4-BE49-F238E27FC236}">
                  <a16:creationId xmlns:a16="http://schemas.microsoft.com/office/drawing/2014/main" id="{4AC9B514-C800-EB4F-B194-E7482DC01F63}"/>
                </a:ext>
              </a:extLst>
            </p:cNvPr>
            <p:cNvSpPr txBox="1">
              <a:spLocks noChangeArrowheads="1"/>
            </p:cNvSpPr>
            <p:nvPr/>
          </p:nvSpPr>
          <p:spPr bwMode="auto">
            <a:xfrm>
              <a:off x="5526088" y="1550988"/>
              <a:ext cx="504825"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a</a:t>
              </a:r>
              <a:r>
                <a:rPr lang="en-US" altLang="zh-CN" b="1" baseline="-25000">
                  <a:latin typeface="+mn-lt"/>
                </a:rPr>
                <a:t>1</a:t>
              </a:r>
              <a:endParaRPr lang="en-US" altLang="zh-CN" b="1">
                <a:latin typeface="+mn-lt"/>
              </a:endParaRPr>
            </a:p>
          </p:txBody>
        </p:sp>
        <p:sp>
          <p:nvSpPr>
            <p:cNvPr id="160787" name="Text Box 107">
              <a:extLst>
                <a:ext uri="{FF2B5EF4-FFF2-40B4-BE49-F238E27FC236}">
                  <a16:creationId xmlns:a16="http://schemas.microsoft.com/office/drawing/2014/main" id="{7212F01D-F29D-2442-9BD7-370FF3310E23}"/>
                </a:ext>
              </a:extLst>
            </p:cNvPr>
            <p:cNvSpPr txBox="1">
              <a:spLocks noChangeArrowheads="1"/>
            </p:cNvSpPr>
            <p:nvPr/>
          </p:nvSpPr>
          <p:spPr bwMode="auto">
            <a:xfrm>
              <a:off x="6030913" y="1550988"/>
              <a:ext cx="504825"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a</a:t>
              </a:r>
              <a:r>
                <a:rPr lang="en-US" altLang="zh-CN" b="1" baseline="-25000">
                  <a:latin typeface="+mn-lt"/>
                </a:rPr>
                <a:t>2</a:t>
              </a:r>
              <a:endParaRPr lang="en-US" altLang="zh-CN" b="1">
                <a:latin typeface="+mn-lt"/>
              </a:endParaRPr>
            </a:p>
          </p:txBody>
        </p:sp>
        <p:sp>
          <p:nvSpPr>
            <p:cNvPr id="160788" name="Text Box 108">
              <a:extLst>
                <a:ext uri="{FF2B5EF4-FFF2-40B4-BE49-F238E27FC236}">
                  <a16:creationId xmlns:a16="http://schemas.microsoft.com/office/drawing/2014/main" id="{C66B245E-55F0-C848-85A1-CE771F71EF1B}"/>
                </a:ext>
              </a:extLst>
            </p:cNvPr>
            <p:cNvSpPr txBox="1">
              <a:spLocks noChangeArrowheads="1"/>
            </p:cNvSpPr>
            <p:nvPr/>
          </p:nvSpPr>
          <p:spPr bwMode="auto">
            <a:xfrm>
              <a:off x="6535738" y="1550988"/>
              <a:ext cx="503237"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a</a:t>
              </a:r>
              <a:r>
                <a:rPr lang="en-US" altLang="zh-CN" b="1" baseline="-25000">
                  <a:latin typeface="+mn-lt"/>
                </a:rPr>
                <a:t>3</a:t>
              </a:r>
              <a:endParaRPr lang="en-US" altLang="zh-CN" b="1">
                <a:latin typeface="+mn-lt"/>
              </a:endParaRPr>
            </a:p>
          </p:txBody>
        </p:sp>
        <p:sp>
          <p:nvSpPr>
            <p:cNvPr id="160789" name="Text Box 109">
              <a:extLst>
                <a:ext uri="{FF2B5EF4-FFF2-40B4-BE49-F238E27FC236}">
                  <a16:creationId xmlns:a16="http://schemas.microsoft.com/office/drawing/2014/main" id="{20B8F1A2-8B6E-E444-9F84-4FF44D5E6AB3}"/>
                </a:ext>
              </a:extLst>
            </p:cNvPr>
            <p:cNvSpPr txBox="1">
              <a:spLocks noChangeArrowheads="1"/>
            </p:cNvSpPr>
            <p:nvPr/>
          </p:nvSpPr>
          <p:spPr bwMode="auto">
            <a:xfrm>
              <a:off x="5019675" y="3167063"/>
              <a:ext cx="506413" cy="441325"/>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b</a:t>
              </a:r>
              <a:r>
                <a:rPr lang="en-US" altLang="zh-CN" b="1" baseline="-25000">
                  <a:latin typeface="+mn-lt"/>
                </a:rPr>
                <a:t>0</a:t>
              </a:r>
              <a:endParaRPr lang="en-US" altLang="zh-CN" b="1">
                <a:latin typeface="+mn-lt"/>
              </a:endParaRPr>
            </a:p>
          </p:txBody>
        </p:sp>
        <p:sp>
          <p:nvSpPr>
            <p:cNvPr id="160790" name="Text Box 110">
              <a:extLst>
                <a:ext uri="{FF2B5EF4-FFF2-40B4-BE49-F238E27FC236}">
                  <a16:creationId xmlns:a16="http://schemas.microsoft.com/office/drawing/2014/main" id="{138980A2-ECF8-0F40-AD8E-F8708298D591}"/>
                </a:ext>
              </a:extLst>
            </p:cNvPr>
            <p:cNvSpPr txBox="1">
              <a:spLocks noChangeArrowheads="1"/>
            </p:cNvSpPr>
            <p:nvPr/>
          </p:nvSpPr>
          <p:spPr bwMode="auto">
            <a:xfrm>
              <a:off x="5526088" y="3167063"/>
              <a:ext cx="504825" cy="441325"/>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b</a:t>
              </a:r>
              <a:r>
                <a:rPr lang="en-US" altLang="zh-CN" b="1" baseline="-25000">
                  <a:latin typeface="+mn-lt"/>
                </a:rPr>
                <a:t>1</a:t>
              </a:r>
              <a:endParaRPr lang="en-US" altLang="zh-CN" b="1">
                <a:latin typeface="+mn-lt"/>
              </a:endParaRPr>
            </a:p>
          </p:txBody>
        </p:sp>
        <p:sp>
          <p:nvSpPr>
            <p:cNvPr id="160791" name="Text Box 111">
              <a:extLst>
                <a:ext uri="{FF2B5EF4-FFF2-40B4-BE49-F238E27FC236}">
                  <a16:creationId xmlns:a16="http://schemas.microsoft.com/office/drawing/2014/main" id="{242DB58B-CD52-BA44-9DA3-44E594C0AE64}"/>
                </a:ext>
              </a:extLst>
            </p:cNvPr>
            <p:cNvSpPr txBox="1">
              <a:spLocks noChangeArrowheads="1"/>
            </p:cNvSpPr>
            <p:nvPr/>
          </p:nvSpPr>
          <p:spPr bwMode="auto">
            <a:xfrm>
              <a:off x="6030913" y="3167063"/>
              <a:ext cx="504825" cy="441325"/>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b</a:t>
              </a:r>
              <a:r>
                <a:rPr lang="en-US" altLang="zh-CN" b="1" baseline="-25000">
                  <a:latin typeface="+mn-lt"/>
                </a:rPr>
                <a:t>2</a:t>
              </a:r>
              <a:endParaRPr lang="en-US" altLang="zh-CN" b="1">
                <a:latin typeface="+mn-lt"/>
              </a:endParaRPr>
            </a:p>
          </p:txBody>
        </p:sp>
        <p:sp>
          <p:nvSpPr>
            <p:cNvPr id="160792" name="Text Box 112">
              <a:extLst>
                <a:ext uri="{FF2B5EF4-FFF2-40B4-BE49-F238E27FC236}">
                  <a16:creationId xmlns:a16="http://schemas.microsoft.com/office/drawing/2014/main" id="{08C19D3E-02A3-9A4A-A353-95AF67C24603}"/>
                </a:ext>
              </a:extLst>
            </p:cNvPr>
            <p:cNvSpPr txBox="1">
              <a:spLocks noChangeArrowheads="1"/>
            </p:cNvSpPr>
            <p:nvPr/>
          </p:nvSpPr>
          <p:spPr bwMode="auto">
            <a:xfrm>
              <a:off x="6535738" y="3167063"/>
              <a:ext cx="503237" cy="441325"/>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b</a:t>
              </a:r>
              <a:r>
                <a:rPr lang="en-US" altLang="zh-CN" b="1" baseline="-25000">
                  <a:latin typeface="+mn-lt"/>
                </a:rPr>
                <a:t>3</a:t>
              </a:r>
              <a:endParaRPr lang="en-US" altLang="zh-CN" b="1">
                <a:latin typeface="+mn-lt"/>
              </a:endParaRPr>
            </a:p>
          </p:txBody>
        </p:sp>
        <p:sp>
          <p:nvSpPr>
            <p:cNvPr id="160793" name="Text Box 113">
              <a:extLst>
                <a:ext uri="{FF2B5EF4-FFF2-40B4-BE49-F238E27FC236}">
                  <a16:creationId xmlns:a16="http://schemas.microsoft.com/office/drawing/2014/main" id="{2B148EF5-2C9A-8B4D-B78A-6470B5523E6A}"/>
                </a:ext>
              </a:extLst>
            </p:cNvPr>
            <p:cNvSpPr txBox="1">
              <a:spLocks noChangeArrowheads="1"/>
            </p:cNvSpPr>
            <p:nvPr/>
          </p:nvSpPr>
          <p:spPr bwMode="auto">
            <a:xfrm>
              <a:off x="5019675" y="2284413"/>
              <a:ext cx="341313"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s</a:t>
              </a:r>
            </a:p>
          </p:txBody>
        </p:sp>
        <p:sp>
          <p:nvSpPr>
            <p:cNvPr id="160794" name="Text Box 114">
              <a:extLst>
                <a:ext uri="{FF2B5EF4-FFF2-40B4-BE49-F238E27FC236}">
                  <a16:creationId xmlns:a16="http://schemas.microsoft.com/office/drawing/2014/main" id="{31FAD188-37AF-1341-8618-9D6CB96C8738}"/>
                </a:ext>
              </a:extLst>
            </p:cNvPr>
            <p:cNvSpPr txBox="1">
              <a:spLocks noChangeArrowheads="1"/>
            </p:cNvSpPr>
            <p:nvPr/>
          </p:nvSpPr>
          <p:spPr bwMode="auto">
            <a:xfrm>
              <a:off x="5526088" y="2284413"/>
              <a:ext cx="336550"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s</a:t>
              </a:r>
            </a:p>
          </p:txBody>
        </p:sp>
        <p:sp>
          <p:nvSpPr>
            <p:cNvPr id="160795" name="Text Box 115">
              <a:extLst>
                <a:ext uri="{FF2B5EF4-FFF2-40B4-BE49-F238E27FC236}">
                  <a16:creationId xmlns:a16="http://schemas.microsoft.com/office/drawing/2014/main" id="{AD805CA0-DC78-2E4F-A9A7-4B7FEF8F7EDC}"/>
                </a:ext>
              </a:extLst>
            </p:cNvPr>
            <p:cNvSpPr txBox="1">
              <a:spLocks noChangeArrowheads="1"/>
            </p:cNvSpPr>
            <p:nvPr/>
          </p:nvSpPr>
          <p:spPr bwMode="auto">
            <a:xfrm>
              <a:off x="6030913" y="2284413"/>
              <a:ext cx="336550"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s</a:t>
              </a:r>
            </a:p>
          </p:txBody>
        </p:sp>
        <p:sp>
          <p:nvSpPr>
            <p:cNvPr id="160796" name="Text Box 116">
              <a:extLst>
                <a:ext uri="{FF2B5EF4-FFF2-40B4-BE49-F238E27FC236}">
                  <a16:creationId xmlns:a16="http://schemas.microsoft.com/office/drawing/2014/main" id="{C4C206C1-95D6-5345-8AD6-2946E2708F43}"/>
                </a:ext>
              </a:extLst>
            </p:cNvPr>
            <p:cNvSpPr txBox="1">
              <a:spLocks noChangeArrowheads="1"/>
            </p:cNvSpPr>
            <p:nvPr/>
          </p:nvSpPr>
          <p:spPr bwMode="auto">
            <a:xfrm>
              <a:off x="6535738" y="2284413"/>
              <a:ext cx="336550" cy="442913"/>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s</a:t>
              </a:r>
            </a:p>
          </p:txBody>
        </p:sp>
        <p:sp>
          <p:nvSpPr>
            <p:cNvPr id="160797" name="Line 117">
              <a:extLst>
                <a:ext uri="{FF2B5EF4-FFF2-40B4-BE49-F238E27FC236}">
                  <a16:creationId xmlns:a16="http://schemas.microsoft.com/office/drawing/2014/main" id="{48480265-D275-3E42-AA0A-268671CA184A}"/>
                </a:ext>
              </a:extLst>
            </p:cNvPr>
            <p:cNvSpPr>
              <a:spLocks noChangeShapeType="1"/>
            </p:cNvSpPr>
            <p:nvPr/>
          </p:nvSpPr>
          <p:spPr bwMode="auto">
            <a:xfrm>
              <a:off x="5187950" y="1993901"/>
              <a:ext cx="3175" cy="290512"/>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798" name="Line 118">
              <a:extLst>
                <a:ext uri="{FF2B5EF4-FFF2-40B4-BE49-F238E27FC236}">
                  <a16:creationId xmlns:a16="http://schemas.microsoft.com/office/drawing/2014/main" id="{EF25D6FB-D755-014C-83DA-94D87E448B91}"/>
                </a:ext>
              </a:extLst>
            </p:cNvPr>
            <p:cNvSpPr>
              <a:spLocks noChangeShapeType="1"/>
            </p:cNvSpPr>
            <p:nvPr/>
          </p:nvSpPr>
          <p:spPr bwMode="auto">
            <a:xfrm>
              <a:off x="5697538" y="1993901"/>
              <a:ext cx="0" cy="290512"/>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799" name="Line 119">
              <a:extLst>
                <a:ext uri="{FF2B5EF4-FFF2-40B4-BE49-F238E27FC236}">
                  <a16:creationId xmlns:a16="http://schemas.microsoft.com/office/drawing/2014/main" id="{4D3F128B-693A-CF45-A193-43AEAF239C2E}"/>
                </a:ext>
              </a:extLst>
            </p:cNvPr>
            <p:cNvSpPr>
              <a:spLocks noChangeShapeType="1"/>
            </p:cNvSpPr>
            <p:nvPr/>
          </p:nvSpPr>
          <p:spPr bwMode="auto">
            <a:xfrm>
              <a:off x="6199188" y="1993901"/>
              <a:ext cx="1587" cy="290512"/>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00" name="Line 120">
              <a:extLst>
                <a:ext uri="{FF2B5EF4-FFF2-40B4-BE49-F238E27FC236}">
                  <a16:creationId xmlns:a16="http://schemas.microsoft.com/office/drawing/2014/main" id="{CA07F5AF-CC2E-6547-BB90-F06A834E08F1}"/>
                </a:ext>
              </a:extLst>
            </p:cNvPr>
            <p:cNvSpPr>
              <a:spLocks noChangeShapeType="1"/>
            </p:cNvSpPr>
            <p:nvPr/>
          </p:nvSpPr>
          <p:spPr bwMode="auto">
            <a:xfrm>
              <a:off x="6704013" y="1993901"/>
              <a:ext cx="1587" cy="290512"/>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01" name="Line 121">
              <a:extLst>
                <a:ext uri="{FF2B5EF4-FFF2-40B4-BE49-F238E27FC236}">
                  <a16:creationId xmlns:a16="http://schemas.microsoft.com/office/drawing/2014/main" id="{98DCC9FD-E02F-EC45-94A2-08BF0F5772F6}"/>
                </a:ext>
              </a:extLst>
            </p:cNvPr>
            <p:cNvSpPr>
              <a:spLocks noChangeShapeType="1"/>
            </p:cNvSpPr>
            <p:nvPr/>
          </p:nvSpPr>
          <p:spPr bwMode="auto">
            <a:xfrm>
              <a:off x="5187950" y="2727326"/>
              <a:ext cx="3175" cy="439737"/>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02" name="Line 122">
              <a:extLst>
                <a:ext uri="{FF2B5EF4-FFF2-40B4-BE49-F238E27FC236}">
                  <a16:creationId xmlns:a16="http://schemas.microsoft.com/office/drawing/2014/main" id="{B3A99E9A-4A80-3E4E-A1AD-5B4B159B7D57}"/>
                </a:ext>
              </a:extLst>
            </p:cNvPr>
            <p:cNvSpPr>
              <a:spLocks noChangeShapeType="1"/>
            </p:cNvSpPr>
            <p:nvPr/>
          </p:nvSpPr>
          <p:spPr bwMode="auto">
            <a:xfrm>
              <a:off x="5697538" y="2727326"/>
              <a:ext cx="0" cy="439737"/>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03" name="Line 123">
              <a:extLst>
                <a:ext uri="{FF2B5EF4-FFF2-40B4-BE49-F238E27FC236}">
                  <a16:creationId xmlns:a16="http://schemas.microsoft.com/office/drawing/2014/main" id="{27661FD4-5A21-0843-B8DA-18784071B8AE}"/>
                </a:ext>
              </a:extLst>
            </p:cNvPr>
            <p:cNvSpPr>
              <a:spLocks noChangeShapeType="1"/>
            </p:cNvSpPr>
            <p:nvPr/>
          </p:nvSpPr>
          <p:spPr bwMode="auto">
            <a:xfrm>
              <a:off x="6199188" y="2727326"/>
              <a:ext cx="1587" cy="439737"/>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04" name="Line 124">
              <a:extLst>
                <a:ext uri="{FF2B5EF4-FFF2-40B4-BE49-F238E27FC236}">
                  <a16:creationId xmlns:a16="http://schemas.microsoft.com/office/drawing/2014/main" id="{3740D593-90FB-A140-89CE-480E0A3CDF96}"/>
                </a:ext>
              </a:extLst>
            </p:cNvPr>
            <p:cNvSpPr>
              <a:spLocks noChangeShapeType="1"/>
            </p:cNvSpPr>
            <p:nvPr/>
          </p:nvSpPr>
          <p:spPr bwMode="auto">
            <a:xfrm>
              <a:off x="6704013" y="2727326"/>
              <a:ext cx="1587" cy="439737"/>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05" name="Text Box 125">
              <a:extLst>
                <a:ext uri="{FF2B5EF4-FFF2-40B4-BE49-F238E27FC236}">
                  <a16:creationId xmlns:a16="http://schemas.microsoft.com/office/drawing/2014/main" id="{DBA15C32-F310-9448-BA86-93CB6CCEDA36}"/>
                </a:ext>
              </a:extLst>
            </p:cNvPr>
            <p:cNvSpPr txBox="1">
              <a:spLocks noChangeArrowheads="1"/>
            </p:cNvSpPr>
            <p:nvPr/>
          </p:nvSpPr>
          <p:spPr bwMode="auto">
            <a:xfrm>
              <a:off x="4686300" y="3902077"/>
              <a:ext cx="1176338" cy="442912"/>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B&lt;&lt;&lt;13</a:t>
              </a:r>
            </a:p>
          </p:txBody>
        </p:sp>
        <p:sp>
          <p:nvSpPr>
            <p:cNvPr id="160806" name="Text Box 126">
              <a:extLst>
                <a:ext uri="{FF2B5EF4-FFF2-40B4-BE49-F238E27FC236}">
                  <a16:creationId xmlns:a16="http://schemas.microsoft.com/office/drawing/2014/main" id="{A87B9BB1-1456-BF45-A0F4-EE1140948621}"/>
                </a:ext>
              </a:extLst>
            </p:cNvPr>
            <p:cNvSpPr txBox="1">
              <a:spLocks noChangeArrowheads="1"/>
            </p:cNvSpPr>
            <p:nvPr/>
          </p:nvSpPr>
          <p:spPr bwMode="auto">
            <a:xfrm>
              <a:off x="6199188" y="3902077"/>
              <a:ext cx="1176337" cy="442912"/>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B&lt;&lt;&lt;23</a:t>
              </a:r>
            </a:p>
          </p:txBody>
        </p:sp>
        <p:sp>
          <p:nvSpPr>
            <p:cNvPr id="160807" name="Line 127">
              <a:extLst>
                <a:ext uri="{FF2B5EF4-FFF2-40B4-BE49-F238E27FC236}">
                  <a16:creationId xmlns:a16="http://schemas.microsoft.com/office/drawing/2014/main" id="{83CED50A-A698-C248-98DB-4F162CFB38AC}"/>
                </a:ext>
              </a:extLst>
            </p:cNvPr>
            <p:cNvSpPr>
              <a:spLocks noChangeShapeType="1"/>
            </p:cNvSpPr>
            <p:nvPr/>
          </p:nvSpPr>
          <p:spPr bwMode="auto">
            <a:xfrm>
              <a:off x="6030913" y="3608389"/>
              <a:ext cx="0" cy="1028700"/>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08" name="Line 128">
              <a:extLst>
                <a:ext uri="{FF2B5EF4-FFF2-40B4-BE49-F238E27FC236}">
                  <a16:creationId xmlns:a16="http://schemas.microsoft.com/office/drawing/2014/main" id="{9C36563D-DC90-B64B-A37D-49BA0CBB6417}"/>
                </a:ext>
              </a:extLst>
            </p:cNvPr>
            <p:cNvSpPr>
              <a:spLocks noChangeShapeType="1"/>
            </p:cNvSpPr>
            <p:nvPr/>
          </p:nvSpPr>
          <p:spPr bwMode="auto">
            <a:xfrm flipH="1" flipV="1">
              <a:off x="5360988" y="3748089"/>
              <a:ext cx="1343025" cy="3175"/>
            </a:xfrm>
            <a:prstGeom prst="line">
              <a:avLst/>
            </a:prstGeom>
            <a:noFill/>
            <a:ln w="9525">
              <a:solidFill>
                <a:srgbClr val="000000"/>
              </a:solidFill>
              <a:round/>
            </a:ln>
            <a:effectLst/>
          </p:spPr>
          <p:txBody>
            <a:bodyPr/>
            <a:lstStyle/>
            <a:p>
              <a:pPr eaLnBrk="0" hangingPunct="0">
                <a:defRPr/>
              </a:pPr>
              <a:endParaRPr lang="zh-CN" altLang="en-US" b="1">
                <a:latin typeface="+mn-lt"/>
              </a:endParaRPr>
            </a:p>
          </p:txBody>
        </p:sp>
        <p:sp>
          <p:nvSpPr>
            <p:cNvPr id="160809" name="Line 129">
              <a:extLst>
                <a:ext uri="{FF2B5EF4-FFF2-40B4-BE49-F238E27FC236}">
                  <a16:creationId xmlns:a16="http://schemas.microsoft.com/office/drawing/2014/main" id="{D9DB790F-88E4-5649-B665-063B79094D2A}"/>
                </a:ext>
              </a:extLst>
            </p:cNvPr>
            <p:cNvSpPr>
              <a:spLocks noChangeShapeType="1"/>
            </p:cNvSpPr>
            <p:nvPr/>
          </p:nvSpPr>
          <p:spPr bwMode="auto">
            <a:xfrm>
              <a:off x="5360988" y="3756027"/>
              <a:ext cx="0" cy="146050"/>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10" name="Line 130">
              <a:extLst>
                <a:ext uri="{FF2B5EF4-FFF2-40B4-BE49-F238E27FC236}">
                  <a16:creationId xmlns:a16="http://schemas.microsoft.com/office/drawing/2014/main" id="{47E25863-9772-604B-B67E-0DF4E05DC2DB}"/>
                </a:ext>
              </a:extLst>
            </p:cNvPr>
            <p:cNvSpPr>
              <a:spLocks noChangeShapeType="1"/>
            </p:cNvSpPr>
            <p:nvPr/>
          </p:nvSpPr>
          <p:spPr bwMode="auto">
            <a:xfrm>
              <a:off x="6704013" y="3756027"/>
              <a:ext cx="1587" cy="146050"/>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11" name="AutoShape 131">
              <a:extLst>
                <a:ext uri="{FF2B5EF4-FFF2-40B4-BE49-F238E27FC236}">
                  <a16:creationId xmlns:a16="http://schemas.microsoft.com/office/drawing/2014/main" id="{460ED209-7D00-BF45-B673-DE334B575931}"/>
                </a:ext>
              </a:extLst>
            </p:cNvPr>
            <p:cNvSpPr>
              <a:spLocks noChangeArrowheads="1"/>
            </p:cNvSpPr>
            <p:nvPr/>
          </p:nvSpPr>
          <p:spPr bwMode="auto">
            <a:xfrm>
              <a:off x="5862638" y="4592639"/>
              <a:ext cx="336550" cy="338138"/>
            </a:xfrm>
            <a:prstGeom prst="flowChartOr">
              <a:avLst/>
            </a:prstGeom>
            <a:noFill/>
            <a:ln w="9525">
              <a:solidFill>
                <a:srgbClr val="000000"/>
              </a:solidFill>
              <a:round/>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b="1">
                <a:latin typeface="+mn-lt"/>
              </a:endParaRPr>
            </a:p>
          </p:txBody>
        </p:sp>
        <p:sp>
          <p:nvSpPr>
            <p:cNvPr id="160812" name="Line 132">
              <a:extLst>
                <a:ext uri="{FF2B5EF4-FFF2-40B4-BE49-F238E27FC236}">
                  <a16:creationId xmlns:a16="http://schemas.microsoft.com/office/drawing/2014/main" id="{45AC47CA-94EF-7541-9893-7CF0E9B80EBA}"/>
                </a:ext>
              </a:extLst>
            </p:cNvPr>
            <p:cNvSpPr>
              <a:spLocks noChangeShapeType="1"/>
            </p:cNvSpPr>
            <p:nvPr/>
          </p:nvSpPr>
          <p:spPr bwMode="auto">
            <a:xfrm flipH="1">
              <a:off x="5360988" y="4344989"/>
              <a:ext cx="0" cy="390525"/>
            </a:xfrm>
            <a:prstGeom prst="line">
              <a:avLst/>
            </a:prstGeom>
            <a:noFill/>
            <a:ln w="9525">
              <a:solidFill>
                <a:srgbClr val="000000"/>
              </a:solidFill>
              <a:round/>
            </a:ln>
            <a:effectLst/>
          </p:spPr>
          <p:txBody>
            <a:bodyPr/>
            <a:lstStyle/>
            <a:p>
              <a:pPr eaLnBrk="0" hangingPunct="0">
                <a:defRPr/>
              </a:pPr>
              <a:endParaRPr lang="zh-CN" altLang="en-US" b="1">
                <a:latin typeface="+mn-lt"/>
              </a:endParaRPr>
            </a:p>
          </p:txBody>
        </p:sp>
        <p:sp>
          <p:nvSpPr>
            <p:cNvPr id="160813" name="Line 133">
              <a:extLst>
                <a:ext uri="{FF2B5EF4-FFF2-40B4-BE49-F238E27FC236}">
                  <a16:creationId xmlns:a16="http://schemas.microsoft.com/office/drawing/2014/main" id="{299C5757-CAF3-9045-9AF2-78B2D497A4AF}"/>
                </a:ext>
              </a:extLst>
            </p:cNvPr>
            <p:cNvSpPr>
              <a:spLocks noChangeShapeType="1"/>
            </p:cNvSpPr>
            <p:nvPr/>
          </p:nvSpPr>
          <p:spPr bwMode="auto">
            <a:xfrm>
              <a:off x="6704013" y="4313239"/>
              <a:ext cx="1587" cy="422275"/>
            </a:xfrm>
            <a:prstGeom prst="line">
              <a:avLst/>
            </a:prstGeom>
            <a:noFill/>
            <a:ln w="9525">
              <a:solidFill>
                <a:srgbClr val="000000"/>
              </a:solidFill>
              <a:round/>
            </a:ln>
            <a:effectLst/>
          </p:spPr>
          <p:txBody>
            <a:bodyPr/>
            <a:lstStyle/>
            <a:p>
              <a:pPr eaLnBrk="0" hangingPunct="0">
                <a:defRPr/>
              </a:pPr>
              <a:endParaRPr lang="zh-CN" altLang="en-US" b="1">
                <a:latin typeface="+mn-lt"/>
              </a:endParaRPr>
            </a:p>
          </p:txBody>
        </p:sp>
        <p:sp>
          <p:nvSpPr>
            <p:cNvPr id="160814" name="Line 134">
              <a:extLst>
                <a:ext uri="{FF2B5EF4-FFF2-40B4-BE49-F238E27FC236}">
                  <a16:creationId xmlns:a16="http://schemas.microsoft.com/office/drawing/2014/main" id="{11317FCD-4417-7D48-B61E-6704681FC8AC}"/>
                </a:ext>
              </a:extLst>
            </p:cNvPr>
            <p:cNvSpPr>
              <a:spLocks noChangeShapeType="1"/>
            </p:cNvSpPr>
            <p:nvPr/>
          </p:nvSpPr>
          <p:spPr bwMode="auto">
            <a:xfrm>
              <a:off x="2333625" y="668338"/>
              <a:ext cx="1588" cy="5291139"/>
            </a:xfrm>
            <a:prstGeom prst="line">
              <a:avLst/>
            </a:prstGeom>
            <a:noFill/>
            <a:ln w="9525">
              <a:solidFill>
                <a:srgbClr val="000000"/>
              </a:solidFill>
              <a:round/>
            </a:ln>
            <a:effectLst/>
          </p:spPr>
          <p:txBody>
            <a:bodyPr/>
            <a:lstStyle/>
            <a:p>
              <a:pPr eaLnBrk="0" hangingPunct="0">
                <a:defRPr/>
              </a:pPr>
              <a:endParaRPr lang="zh-CN" altLang="en-US" b="1">
                <a:latin typeface="+mn-lt"/>
              </a:endParaRPr>
            </a:p>
          </p:txBody>
        </p:sp>
        <p:sp>
          <p:nvSpPr>
            <p:cNvPr id="160815" name="Line 135">
              <a:extLst>
                <a:ext uri="{FF2B5EF4-FFF2-40B4-BE49-F238E27FC236}">
                  <a16:creationId xmlns:a16="http://schemas.microsoft.com/office/drawing/2014/main" id="{B42729E1-225C-6B48-8018-153DEC2922E7}"/>
                </a:ext>
              </a:extLst>
            </p:cNvPr>
            <p:cNvSpPr>
              <a:spLocks noChangeShapeType="1"/>
            </p:cNvSpPr>
            <p:nvPr/>
          </p:nvSpPr>
          <p:spPr bwMode="auto">
            <a:xfrm>
              <a:off x="6030913" y="4929189"/>
              <a:ext cx="0" cy="296863"/>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16" name="Text Box 136">
              <a:extLst>
                <a:ext uri="{FF2B5EF4-FFF2-40B4-BE49-F238E27FC236}">
                  <a16:creationId xmlns:a16="http://schemas.microsoft.com/office/drawing/2014/main" id="{E77ABA60-3F59-5447-9273-C3C329620832}"/>
                </a:ext>
              </a:extLst>
            </p:cNvPr>
            <p:cNvSpPr txBox="1">
              <a:spLocks noChangeArrowheads="1"/>
            </p:cNvSpPr>
            <p:nvPr/>
          </p:nvSpPr>
          <p:spPr bwMode="auto">
            <a:xfrm>
              <a:off x="5360988" y="5226052"/>
              <a:ext cx="1343025" cy="441325"/>
            </a:xfrm>
            <a:prstGeom prst="rect">
              <a:avLst/>
            </a:prstGeom>
            <a:noFill/>
            <a:ln w="9525" algn="ctr">
              <a:solidFill>
                <a:srgbClr val="000000"/>
              </a:solidFill>
              <a:miter lim="800000"/>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C</a:t>
              </a:r>
            </a:p>
          </p:txBody>
        </p:sp>
        <p:sp>
          <p:nvSpPr>
            <p:cNvPr id="160817" name="Line 137">
              <a:extLst>
                <a:ext uri="{FF2B5EF4-FFF2-40B4-BE49-F238E27FC236}">
                  <a16:creationId xmlns:a16="http://schemas.microsoft.com/office/drawing/2014/main" id="{B3F9EF73-0418-424B-8CC3-10C09E2756CB}"/>
                </a:ext>
              </a:extLst>
            </p:cNvPr>
            <p:cNvSpPr>
              <a:spLocks noChangeShapeType="1"/>
            </p:cNvSpPr>
            <p:nvPr/>
          </p:nvSpPr>
          <p:spPr bwMode="auto">
            <a:xfrm>
              <a:off x="6030913" y="5667377"/>
              <a:ext cx="0" cy="292100"/>
            </a:xfrm>
            <a:prstGeom prst="line">
              <a:avLst/>
            </a:prstGeom>
            <a:noFill/>
            <a:ln w="9525">
              <a:solidFill>
                <a:srgbClr val="000000"/>
              </a:solidFill>
              <a:round/>
            </a:ln>
            <a:effectLst/>
          </p:spPr>
          <p:txBody>
            <a:bodyPr/>
            <a:lstStyle/>
            <a:p>
              <a:pPr eaLnBrk="0" hangingPunct="0">
                <a:defRPr/>
              </a:pPr>
              <a:endParaRPr lang="zh-CN" altLang="en-US" b="1">
                <a:latin typeface="+mn-lt"/>
              </a:endParaRPr>
            </a:p>
          </p:txBody>
        </p:sp>
        <p:sp>
          <p:nvSpPr>
            <p:cNvPr id="160818" name="AutoShape 138">
              <a:extLst>
                <a:ext uri="{FF2B5EF4-FFF2-40B4-BE49-F238E27FC236}">
                  <a16:creationId xmlns:a16="http://schemas.microsoft.com/office/drawing/2014/main" id="{79A67776-A83F-0445-BA9F-7768019C4C76}"/>
                </a:ext>
              </a:extLst>
            </p:cNvPr>
            <p:cNvSpPr>
              <a:spLocks noChangeArrowheads="1"/>
            </p:cNvSpPr>
            <p:nvPr/>
          </p:nvSpPr>
          <p:spPr bwMode="auto">
            <a:xfrm>
              <a:off x="4686300" y="5813427"/>
              <a:ext cx="333375" cy="338137"/>
            </a:xfrm>
            <a:prstGeom prst="flowChartOr">
              <a:avLst/>
            </a:prstGeom>
            <a:noFill/>
            <a:ln w="9525">
              <a:solidFill>
                <a:srgbClr val="000000"/>
              </a:solidFill>
              <a:round/>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b="1">
                <a:latin typeface="+mn-lt"/>
              </a:endParaRPr>
            </a:p>
          </p:txBody>
        </p:sp>
        <p:sp>
          <p:nvSpPr>
            <p:cNvPr id="160819" name="Line 139">
              <a:extLst>
                <a:ext uri="{FF2B5EF4-FFF2-40B4-BE49-F238E27FC236}">
                  <a16:creationId xmlns:a16="http://schemas.microsoft.com/office/drawing/2014/main" id="{3F1DD6D6-2B4F-9A42-B37D-8E5DB0497B8A}"/>
                </a:ext>
              </a:extLst>
            </p:cNvPr>
            <p:cNvSpPr>
              <a:spLocks noChangeShapeType="1"/>
            </p:cNvSpPr>
            <p:nvPr/>
          </p:nvSpPr>
          <p:spPr bwMode="auto">
            <a:xfrm flipH="1">
              <a:off x="5019675" y="5959477"/>
              <a:ext cx="1011238" cy="0"/>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20" name="Line 140">
              <a:extLst>
                <a:ext uri="{FF2B5EF4-FFF2-40B4-BE49-F238E27FC236}">
                  <a16:creationId xmlns:a16="http://schemas.microsoft.com/office/drawing/2014/main" id="{EE478ABE-8E48-F640-9CA3-9B1CBB452E06}"/>
                </a:ext>
              </a:extLst>
            </p:cNvPr>
            <p:cNvSpPr>
              <a:spLocks noChangeShapeType="1"/>
            </p:cNvSpPr>
            <p:nvPr/>
          </p:nvSpPr>
          <p:spPr bwMode="auto">
            <a:xfrm>
              <a:off x="2333625" y="5959477"/>
              <a:ext cx="2352675" cy="0"/>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21" name="Line 141">
              <a:extLst>
                <a:ext uri="{FF2B5EF4-FFF2-40B4-BE49-F238E27FC236}">
                  <a16:creationId xmlns:a16="http://schemas.microsoft.com/office/drawing/2014/main" id="{99B33552-1C80-344C-9734-6F005ADB2146}"/>
                </a:ext>
              </a:extLst>
            </p:cNvPr>
            <p:cNvSpPr>
              <a:spLocks noChangeShapeType="1"/>
            </p:cNvSpPr>
            <p:nvPr/>
          </p:nvSpPr>
          <p:spPr bwMode="auto">
            <a:xfrm>
              <a:off x="4854575" y="6107114"/>
              <a:ext cx="0" cy="295275"/>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22" name="Text Box 142">
              <a:extLst>
                <a:ext uri="{FF2B5EF4-FFF2-40B4-BE49-F238E27FC236}">
                  <a16:creationId xmlns:a16="http://schemas.microsoft.com/office/drawing/2014/main" id="{9E981D94-3F0F-E44C-8858-818C8520D2D9}"/>
                </a:ext>
              </a:extLst>
            </p:cNvPr>
            <p:cNvSpPr txBox="1">
              <a:spLocks noChangeArrowheads="1"/>
            </p:cNvSpPr>
            <p:nvPr/>
          </p:nvSpPr>
          <p:spPr bwMode="auto">
            <a:xfrm>
              <a:off x="4518025" y="1550988"/>
              <a:ext cx="501650" cy="439738"/>
            </a:xfrm>
            <a:prstGeom prst="rect">
              <a:avLst/>
            </a:prstGeom>
            <a:noFill/>
            <a:ln>
              <a:noFill/>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defRPr/>
              </a:pPr>
              <a:r>
                <a:rPr lang="en-US" altLang="zh-CN" b="1">
                  <a:latin typeface="+mn-lt"/>
                </a:rPr>
                <a:t>A</a:t>
              </a:r>
            </a:p>
          </p:txBody>
        </p:sp>
        <p:sp>
          <p:nvSpPr>
            <p:cNvPr id="160823" name="Text Box 143">
              <a:extLst>
                <a:ext uri="{FF2B5EF4-FFF2-40B4-BE49-F238E27FC236}">
                  <a16:creationId xmlns:a16="http://schemas.microsoft.com/office/drawing/2014/main" id="{4C14E79E-59C6-664D-94F8-E378EDF82391}"/>
                </a:ext>
              </a:extLst>
            </p:cNvPr>
            <p:cNvSpPr txBox="1">
              <a:spLocks noChangeArrowheads="1"/>
            </p:cNvSpPr>
            <p:nvPr/>
          </p:nvSpPr>
          <p:spPr bwMode="auto">
            <a:xfrm>
              <a:off x="4518025" y="2284413"/>
              <a:ext cx="501650" cy="442913"/>
            </a:xfrm>
            <a:prstGeom prst="rect">
              <a:avLst/>
            </a:prstGeom>
            <a:noFill/>
            <a:ln>
              <a:noFill/>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τ</a:t>
              </a:r>
            </a:p>
          </p:txBody>
        </p:sp>
        <p:sp>
          <p:nvSpPr>
            <p:cNvPr id="160824" name="Text Box 144">
              <a:extLst>
                <a:ext uri="{FF2B5EF4-FFF2-40B4-BE49-F238E27FC236}">
                  <a16:creationId xmlns:a16="http://schemas.microsoft.com/office/drawing/2014/main" id="{CF5E7C93-2C4E-7C4A-A849-5D431AB706A5}"/>
                </a:ext>
              </a:extLst>
            </p:cNvPr>
            <p:cNvSpPr txBox="1">
              <a:spLocks noChangeArrowheads="1"/>
            </p:cNvSpPr>
            <p:nvPr/>
          </p:nvSpPr>
          <p:spPr bwMode="auto">
            <a:xfrm>
              <a:off x="4518025" y="3167063"/>
              <a:ext cx="501650" cy="441325"/>
            </a:xfrm>
            <a:prstGeom prst="rect">
              <a:avLst/>
            </a:prstGeom>
            <a:noFill/>
            <a:ln>
              <a:noFill/>
            </a:ln>
            <a:effectLst/>
          </p:spPr>
          <p:txBody>
            <a:bodyPr lIns="95723" tIns="47861" rIns="95723" bIns="4786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B</a:t>
              </a:r>
            </a:p>
          </p:txBody>
        </p:sp>
        <p:sp>
          <p:nvSpPr>
            <p:cNvPr id="160825" name="Line 145">
              <a:extLst>
                <a:ext uri="{FF2B5EF4-FFF2-40B4-BE49-F238E27FC236}">
                  <a16:creationId xmlns:a16="http://schemas.microsoft.com/office/drawing/2014/main" id="{C255A799-5E09-A843-B1A3-08C720B4979A}"/>
                </a:ext>
              </a:extLst>
            </p:cNvPr>
            <p:cNvSpPr>
              <a:spLocks noChangeShapeType="1"/>
            </p:cNvSpPr>
            <p:nvPr/>
          </p:nvSpPr>
          <p:spPr bwMode="auto">
            <a:xfrm>
              <a:off x="5360988" y="4735514"/>
              <a:ext cx="501650" cy="1588"/>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26" name="Line 146">
              <a:extLst>
                <a:ext uri="{FF2B5EF4-FFF2-40B4-BE49-F238E27FC236}">
                  <a16:creationId xmlns:a16="http://schemas.microsoft.com/office/drawing/2014/main" id="{5EC27C37-148C-A141-9B32-EE3B1E5C5278}"/>
                </a:ext>
              </a:extLst>
            </p:cNvPr>
            <p:cNvSpPr>
              <a:spLocks noChangeShapeType="1"/>
            </p:cNvSpPr>
            <p:nvPr/>
          </p:nvSpPr>
          <p:spPr bwMode="auto">
            <a:xfrm flipH="1">
              <a:off x="6199188" y="4735514"/>
              <a:ext cx="504825" cy="0"/>
            </a:xfrm>
            <a:prstGeom prst="line">
              <a:avLst/>
            </a:prstGeom>
            <a:noFill/>
            <a:ln w="9525">
              <a:solidFill>
                <a:srgbClr val="000000"/>
              </a:solidFill>
              <a:round/>
              <a:tailEnd type="triangle" w="med" len="med"/>
            </a:ln>
            <a:effectLst/>
          </p:spPr>
          <p:txBody>
            <a:bodyPr/>
            <a:lstStyle/>
            <a:p>
              <a:pPr eaLnBrk="0" hangingPunct="0">
                <a:defRPr/>
              </a:pPr>
              <a:endParaRPr lang="zh-CN" altLang="en-US" b="1">
                <a:latin typeface="+mn-lt"/>
              </a:endParaRPr>
            </a:p>
          </p:txBody>
        </p:sp>
        <p:sp>
          <p:nvSpPr>
            <p:cNvPr id="160827" name="Text Box 147">
              <a:extLst>
                <a:ext uri="{FF2B5EF4-FFF2-40B4-BE49-F238E27FC236}">
                  <a16:creationId xmlns:a16="http://schemas.microsoft.com/office/drawing/2014/main" id="{D90DB568-AEEA-2148-8344-800E77DDB76A}"/>
                </a:ext>
              </a:extLst>
            </p:cNvPr>
            <p:cNvSpPr txBox="1">
              <a:spLocks noChangeArrowheads="1"/>
            </p:cNvSpPr>
            <p:nvPr/>
          </p:nvSpPr>
          <p:spPr bwMode="auto">
            <a:xfrm>
              <a:off x="3509963" y="6424614"/>
              <a:ext cx="671512" cy="422275"/>
            </a:xfrm>
            <a:prstGeom prst="rect">
              <a:avLst/>
            </a:prstGeom>
            <a:noFill/>
            <a:ln>
              <a:noFill/>
            </a:ln>
            <a:effec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b="1">
                  <a:latin typeface="+mn-lt"/>
                </a:rPr>
                <a:t>rk</a:t>
              </a:r>
              <a:r>
                <a:rPr lang="en-US" altLang="zh-CN" b="1" baseline="-25000">
                  <a:latin typeface="+mn-lt"/>
                </a:rPr>
                <a:t>i</a:t>
              </a:r>
              <a:endParaRPr lang="en-US" altLang="zh-CN" b="1">
                <a:latin typeface="+mn-lt"/>
              </a:endParaRPr>
            </a:p>
          </p:txBody>
        </p:sp>
      </p:grpSp>
      <mc:AlternateContent xmlns:mc="http://schemas.openxmlformats.org/markup-compatibility/2006" xmlns:a14="http://schemas.microsoft.com/office/drawing/2010/main">
        <mc:Choice Requires="a14">
          <p:sp>
            <p:nvSpPr>
              <p:cNvPr id="407611" name="Object 12">
                <a:extLst>
                  <a:ext uri="{FF2B5EF4-FFF2-40B4-BE49-F238E27FC236}">
                    <a16:creationId xmlns:a16="http://schemas.microsoft.com/office/drawing/2014/main" id="{A8C16ACF-0734-A944-9C43-857146A0F37B}"/>
                  </a:ext>
                </a:extLst>
              </p:cNvPr>
              <p:cNvSpPr txBox="1"/>
              <p:nvPr/>
            </p:nvSpPr>
            <p:spPr bwMode="auto">
              <a:xfrm>
                <a:off x="6259513" y="6345238"/>
                <a:ext cx="5803900" cy="474662"/>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𝑟</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𝐾</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+4</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𝐾</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𝑇</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𝐾</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𝐾</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𝐾</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𝐾</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07611" name="Object 12">
                <a:extLst>
                  <a:ext uri="{FF2B5EF4-FFF2-40B4-BE49-F238E27FC236}">
                    <a16:creationId xmlns:a16="http://schemas.microsoft.com/office/drawing/2014/main" id="{A8C16ACF-0734-A944-9C43-857146A0F37B}"/>
                  </a:ext>
                </a:extLst>
              </p:cNvPr>
              <p:cNvSpPr txBox="1">
                <a:spLocks noRot="1" noChangeAspect="1" noMove="1" noResize="1" noEditPoints="1" noAdjustHandles="1" noChangeArrowheads="1" noChangeShapeType="1" noTextEdit="1"/>
              </p:cNvSpPr>
              <p:nvPr/>
            </p:nvSpPr>
            <p:spPr bwMode="auto">
              <a:xfrm>
                <a:off x="6259513" y="6345238"/>
                <a:ext cx="5803900" cy="474662"/>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541C44A7-68E4-9A42-9256-194184B7335A}"/>
              </a:ext>
            </a:extLst>
          </p:cNvPr>
          <p:cNvSpPr/>
          <p:nvPr/>
        </p:nvSpPr>
        <p:spPr>
          <a:xfrm>
            <a:off x="3641725" y="1454150"/>
            <a:ext cx="5745163" cy="3579813"/>
          </a:xfrm>
          <a:prstGeom prst="rect">
            <a:avLst/>
          </a:prstGeom>
          <a:noFill/>
          <a:ln w="19050">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
        <p:nvSpPr>
          <p:cNvPr id="407613" name="文本框 61">
            <a:extLst>
              <a:ext uri="{FF2B5EF4-FFF2-40B4-BE49-F238E27FC236}">
                <a16:creationId xmlns:a16="http://schemas.microsoft.com/office/drawing/2014/main" id="{CF9F3556-0626-FF40-B9B3-CD411C31968D}"/>
              </a:ext>
            </a:extLst>
          </p:cNvPr>
          <p:cNvSpPr txBox="1">
            <a:spLocks noChangeArrowheads="1"/>
          </p:cNvSpPr>
          <p:nvPr/>
        </p:nvSpPr>
        <p:spPr bwMode="auto">
          <a:xfrm>
            <a:off x="8334375" y="1525588"/>
            <a:ext cx="1320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latin typeface="Times New Roman" panose="02020603050405020304" pitchFamily="18" charset="0"/>
                <a:ea typeface="仿宋" pitchFamily="49" charset="-122"/>
              </a:rPr>
              <a:t>函数</a:t>
            </a:r>
            <a:r>
              <a:rPr lang="en-US" altLang="zh-CN" sz="2400" b="1">
                <a:latin typeface="Times New Roman" panose="02020603050405020304" pitchFamily="18" charset="0"/>
                <a:ea typeface="仿宋" pitchFamily="49" charset="-122"/>
              </a:rPr>
              <a:t>T</a:t>
            </a:r>
            <a:r>
              <a:rPr lang="en-GB" altLang="en-US" sz="2400" b="1">
                <a:latin typeface="Times New Roman" panose="02020603050405020304" pitchFamily="18" charset="0"/>
                <a:ea typeface="仿宋" pitchFamily="49" charset="-122"/>
              </a:rPr>
              <a:t>'</a:t>
            </a:r>
          </a:p>
        </p:txBody>
      </p:sp>
    </p:spTree>
  </p:cSld>
  <p:clrMapOvr>
    <a:masterClrMapping/>
  </p:clrMapOvr>
  <p:transition spd="slow"/>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1" name="Rectangle 2">
            <a:extLst>
              <a:ext uri="{FF2B5EF4-FFF2-40B4-BE49-F238E27FC236}">
                <a16:creationId xmlns:a16="http://schemas.microsoft.com/office/drawing/2014/main" id="{502872D5-DABD-5F4D-8F9B-62FD80F22FC4}"/>
              </a:ext>
            </a:extLst>
          </p:cNvPr>
          <p:cNvSpPr>
            <a:spLocks noGrp="1" noChangeArrowheads="1"/>
          </p:cNvSpPr>
          <p:nvPr>
            <p:ph type="title"/>
          </p:nvPr>
        </p:nvSpPr>
        <p:spPr>
          <a:xfrm>
            <a:off x="1465263" y="365125"/>
            <a:ext cx="9037637" cy="668338"/>
          </a:xfrm>
        </p:spPr>
        <p:txBody>
          <a:bodyPr>
            <a:normAutofit fontScale="90000"/>
          </a:bodyPr>
          <a:lstStyle/>
          <a:p>
            <a:pPr eaLnBrk="1" hangingPunct="1"/>
            <a:r>
              <a:rPr lang="en-US" altLang="zh-CN" dirty="0">
                <a:solidFill>
                  <a:srgbClr val="1F4E79"/>
                </a:solidFill>
              </a:rPr>
              <a:t>SM4</a:t>
            </a:r>
            <a:br>
              <a:rPr lang="en-US" altLang="zh-CN" dirty="0">
                <a:solidFill>
                  <a:srgbClr val="1F4E79"/>
                </a:solidFill>
              </a:rPr>
            </a:br>
            <a:endParaRPr lang="zh-CN" altLang="en-US" dirty="0">
              <a:solidFill>
                <a:srgbClr val="1F4E79"/>
              </a:solidFill>
            </a:endParaRPr>
          </a:p>
        </p:txBody>
      </p:sp>
      <p:sp>
        <p:nvSpPr>
          <p:cNvPr id="404482" name="Rectangle 3">
            <a:extLst>
              <a:ext uri="{FF2B5EF4-FFF2-40B4-BE49-F238E27FC236}">
                <a16:creationId xmlns:a16="http://schemas.microsoft.com/office/drawing/2014/main" id="{EF101C22-68CE-EE4B-BA47-8BBFD8F73B46}"/>
              </a:ext>
            </a:extLst>
          </p:cNvPr>
          <p:cNvSpPr>
            <a:spLocks noGrp="1" noChangeArrowheads="1"/>
          </p:cNvSpPr>
          <p:nvPr>
            <p:ph idx="1"/>
          </p:nvPr>
        </p:nvSpPr>
        <p:spPr>
          <a:xfrm>
            <a:off x="627063" y="1190626"/>
            <a:ext cx="10515600" cy="4579937"/>
          </a:xfrm>
        </p:spPr>
        <p:txBody>
          <a:bodyPr/>
          <a:lstStyle/>
          <a:p>
            <a:pPr eaLnBrk="1" hangingPunct="1">
              <a:lnSpc>
                <a:spcPct val="120000"/>
              </a:lnSpc>
            </a:pPr>
            <a:r>
              <a:rPr lang="zh-CN" altLang="en-US" sz="2800" b="0" dirty="0">
                <a:latin typeface="Arial" panose="020B0604020202020204" pitchFamily="34" charset="0"/>
                <a:ea typeface="宋体" panose="02010600030101010101" pitchFamily="2" charset="-122"/>
              </a:rPr>
              <a:t>不可约多项式为</a:t>
            </a:r>
            <a:r>
              <a:rPr lang="en-US" altLang="zh-CN" sz="2800" b="0" dirty="0">
                <a:latin typeface="Arial" panose="020B0604020202020204" pitchFamily="34" charset="0"/>
                <a:ea typeface="宋体" panose="02010600030101010101" pitchFamily="2" charset="-122"/>
              </a:rPr>
              <a:t>x</a:t>
            </a:r>
            <a:r>
              <a:rPr lang="en-US" altLang="zh-CN" sz="1800" b="0" baseline="30000" dirty="0">
                <a:latin typeface="Arial" panose="020B0604020202020204" pitchFamily="34" charset="0"/>
                <a:ea typeface="宋体" panose="02010600030101010101" pitchFamily="2" charset="-122"/>
              </a:rPr>
              <a:t>8</a:t>
            </a:r>
            <a:r>
              <a:rPr lang="en-US" altLang="zh-CN" sz="2800" b="0" dirty="0">
                <a:latin typeface="Arial" panose="020B0604020202020204" pitchFamily="34" charset="0"/>
                <a:ea typeface="宋体" panose="02010600030101010101" pitchFamily="2" charset="-122"/>
              </a:rPr>
              <a:t>+x</a:t>
            </a:r>
            <a:r>
              <a:rPr lang="en-US" altLang="zh-CN" sz="1800" b="0" baseline="30000" dirty="0">
                <a:latin typeface="Arial" panose="020B0604020202020204" pitchFamily="34" charset="0"/>
                <a:ea typeface="宋体" panose="02010600030101010101" pitchFamily="2" charset="-122"/>
              </a:rPr>
              <a:t>7</a:t>
            </a:r>
            <a:r>
              <a:rPr lang="en-US" altLang="zh-CN" sz="2800" b="0" dirty="0">
                <a:latin typeface="Arial" panose="020B0604020202020204" pitchFamily="34" charset="0"/>
                <a:ea typeface="宋体" panose="02010600030101010101" pitchFamily="2" charset="-122"/>
              </a:rPr>
              <a:t>+x</a:t>
            </a:r>
            <a:r>
              <a:rPr lang="en-US" altLang="zh-CN" sz="1800" b="0" baseline="30000" dirty="0">
                <a:latin typeface="Arial" panose="020B0604020202020204" pitchFamily="34" charset="0"/>
                <a:ea typeface="宋体" panose="02010600030101010101" pitchFamily="2" charset="-122"/>
              </a:rPr>
              <a:t>6</a:t>
            </a:r>
            <a:r>
              <a:rPr lang="en-US" altLang="zh-CN" sz="2800" b="0" dirty="0">
                <a:latin typeface="Arial" panose="020B0604020202020204" pitchFamily="34" charset="0"/>
                <a:ea typeface="宋体" panose="02010600030101010101" pitchFamily="2" charset="-122"/>
              </a:rPr>
              <a:t>+x</a:t>
            </a:r>
            <a:r>
              <a:rPr lang="en-US" altLang="zh-CN" sz="1800" b="0" baseline="30000" dirty="0">
                <a:latin typeface="Arial" panose="020B0604020202020204" pitchFamily="34" charset="0"/>
                <a:ea typeface="宋体" panose="02010600030101010101" pitchFamily="2" charset="-122"/>
              </a:rPr>
              <a:t>5</a:t>
            </a:r>
            <a:r>
              <a:rPr lang="en-US" altLang="zh-CN" sz="2800" b="0" dirty="0">
                <a:latin typeface="Arial" panose="020B0604020202020204" pitchFamily="34" charset="0"/>
                <a:ea typeface="宋体" panose="02010600030101010101" pitchFamily="2" charset="-122"/>
              </a:rPr>
              <a:t>+x</a:t>
            </a:r>
            <a:r>
              <a:rPr lang="en-US" altLang="zh-CN" sz="1800" b="0" baseline="30000" dirty="0">
                <a:latin typeface="Arial" panose="020B0604020202020204" pitchFamily="34" charset="0"/>
                <a:ea typeface="宋体" panose="02010600030101010101" pitchFamily="2" charset="-122"/>
              </a:rPr>
              <a:t>4</a:t>
            </a:r>
            <a:r>
              <a:rPr lang="en-US" altLang="zh-CN" sz="2800" b="0" dirty="0">
                <a:latin typeface="Arial" panose="020B0604020202020204" pitchFamily="34" charset="0"/>
                <a:ea typeface="宋体" panose="02010600030101010101" pitchFamily="2" charset="-122"/>
              </a:rPr>
              <a:t>+x</a:t>
            </a:r>
            <a:r>
              <a:rPr lang="en-US" altLang="zh-CN" sz="1800" b="0" baseline="30000" dirty="0">
                <a:latin typeface="Arial" panose="020B0604020202020204" pitchFamily="34" charset="0"/>
                <a:ea typeface="宋体" panose="02010600030101010101" pitchFamily="2" charset="-122"/>
              </a:rPr>
              <a:t>2</a:t>
            </a:r>
            <a:r>
              <a:rPr lang="en-US" altLang="zh-CN" sz="2800" b="0" dirty="0">
                <a:latin typeface="Arial" panose="020B0604020202020204" pitchFamily="34" charset="0"/>
                <a:ea typeface="宋体" panose="02010600030101010101" pitchFamily="2" charset="-122"/>
              </a:rPr>
              <a:t>+1</a:t>
            </a:r>
          </a:p>
          <a:p>
            <a:pPr eaLnBrk="1" hangingPunct="1">
              <a:lnSpc>
                <a:spcPct val="120000"/>
              </a:lnSpc>
            </a:pPr>
            <a:endParaRPr lang="en-US" altLang="zh-CN" sz="2800" b="0" dirty="0">
              <a:latin typeface="Arial" panose="020B0604020202020204" pitchFamily="34" charset="0"/>
              <a:ea typeface="宋体" panose="02010600030101010101" pitchFamily="2" charset="-122"/>
            </a:endParaRPr>
          </a:p>
          <a:p>
            <a:pPr eaLnBrk="1" hangingPunct="1">
              <a:lnSpc>
                <a:spcPct val="120000"/>
              </a:lnSpc>
            </a:pPr>
            <a:endParaRPr lang="zh-CN" altLang="en-US" sz="2800" dirty="0"/>
          </a:p>
          <a:p>
            <a:pPr eaLnBrk="1" hangingPunct="1">
              <a:lnSpc>
                <a:spcPct val="120000"/>
              </a:lnSpc>
            </a:pPr>
            <a:endParaRPr lang="en-US" altLang="zh-CN" sz="2800" dirty="0"/>
          </a:p>
        </p:txBody>
      </p:sp>
      <p:sp>
        <p:nvSpPr>
          <p:cNvPr id="404483" name="Rectangle 5">
            <a:extLst>
              <a:ext uri="{FF2B5EF4-FFF2-40B4-BE49-F238E27FC236}">
                <a16:creationId xmlns:a16="http://schemas.microsoft.com/office/drawing/2014/main" id="{FF2C6726-F7A3-E549-B86D-1E2FAB8E901F}"/>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85" name="Rectangle 7">
            <a:extLst>
              <a:ext uri="{FF2B5EF4-FFF2-40B4-BE49-F238E27FC236}">
                <a16:creationId xmlns:a16="http://schemas.microsoft.com/office/drawing/2014/main" id="{020D4DDE-A318-074A-8EF2-F6E87CDD90F6}"/>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87" name="Rectangle 9">
            <a:extLst>
              <a:ext uri="{FF2B5EF4-FFF2-40B4-BE49-F238E27FC236}">
                <a16:creationId xmlns:a16="http://schemas.microsoft.com/office/drawing/2014/main" id="{3054B6B9-3572-BF41-9BF0-2079CE23304D}"/>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88" name="Object 8">
            <a:extLst>
              <a:ext uri="{FF2B5EF4-FFF2-40B4-BE49-F238E27FC236}">
                <a16:creationId xmlns:a16="http://schemas.microsoft.com/office/drawing/2014/main" id="{74BD1FCD-25EB-D043-8B40-ADFA495B16EC}"/>
              </a:ext>
            </a:extLst>
          </p:cNvPr>
          <p:cNvSpPr txBox="1"/>
          <p:nvPr/>
        </p:nvSpPr>
        <p:spPr bwMode="auto">
          <a:xfrm>
            <a:off x="2613025" y="2154238"/>
            <a:ext cx="2643188" cy="585787"/>
          </a:xfrm>
          <a:prstGeom prst="rect">
            <a:avLst/>
          </a:prstGeom>
          <a:noFill/>
          <a:ln>
            <a:noFill/>
          </a:ln>
        </p:spPr>
        <p:txBody>
          <a:bodyPr>
            <a:normAutofit/>
          </a:bodyPr>
          <a:lstStyle/>
          <a:p>
            <a:endParaRPr lang="zh-CN" altLang="en-US" dirty="0"/>
          </a:p>
        </p:txBody>
      </p:sp>
      <p:sp>
        <p:nvSpPr>
          <p:cNvPr id="404489" name="Rectangle 11">
            <a:extLst>
              <a:ext uri="{FF2B5EF4-FFF2-40B4-BE49-F238E27FC236}">
                <a16:creationId xmlns:a16="http://schemas.microsoft.com/office/drawing/2014/main" id="{3504F2E0-0535-2D46-9C7C-336C8DD87E71}"/>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sp>
        <p:nvSpPr>
          <p:cNvPr id="404491" name="Rectangle 13">
            <a:extLst>
              <a:ext uri="{FF2B5EF4-FFF2-40B4-BE49-F238E27FC236}">
                <a16:creationId xmlns:a16="http://schemas.microsoft.com/office/drawing/2014/main" id="{96EE6A32-8927-B242-BEC7-EF51C549436C}"/>
              </a:ext>
            </a:extLst>
          </p:cNvPr>
          <p:cNvSpPr>
            <a:spLocks noChangeArrowheads="1"/>
          </p:cNvSpPr>
          <p:nvPr/>
        </p:nvSpPr>
        <p:spPr bwMode="auto">
          <a:xfrm>
            <a:off x="1524000" y="31543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Tahoma" panose="020B0604030504040204" pitchFamily="34" charset="0"/>
            </a:endParaRPr>
          </a:p>
        </p:txBody>
      </p:sp>
      <p:pic>
        <p:nvPicPr>
          <p:cNvPr id="354306" name="Picture 2" descr="https://img-blog.csdnimg.cn/img_convert/0e6b136f3e24bd2137ae3fb4285b91d3.png">
            <a:extLst>
              <a:ext uri="{FF2B5EF4-FFF2-40B4-BE49-F238E27FC236}">
                <a16:creationId xmlns:a16="http://schemas.microsoft.com/office/drawing/2014/main" id="{BC1078B3-F902-4A0E-87ED-6D00F3982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58" y="1905040"/>
            <a:ext cx="8382000"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824317"/>
      </p:ext>
    </p:extLst>
  </p:cSld>
  <p:clrMapOvr>
    <a:masterClrMapping/>
  </p:clrMapOvr>
  <p:transition spd="slow"/>
</p:sld>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仿宋"/>
        <a:cs typeface=""/>
      </a:majorFont>
      <a:minorFont>
        <a:latin typeface="Times New Roman"/>
        <a:ea typeface="仿宋"/>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仿宋"/>
        <a:cs typeface=""/>
      </a:majorFont>
      <a:minorFont>
        <a:latin typeface="Times New Roman"/>
        <a:ea typeface="仿宋"/>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仿宋"/>
        <a:cs typeface=""/>
      </a:majorFont>
      <a:minorFont>
        <a:latin typeface="Times New Roman"/>
        <a:ea typeface="仿宋"/>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667</TotalTime>
  <Words>21479</Words>
  <Application>Microsoft Office PowerPoint</Application>
  <PresentationFormat>宽屏</PresentationFormat>
  <Paragraphs>2966</Paragraphs>
  <Slides>177</Slides>
  <Notes>143</Notes>
  <HiddenSlides>0</HiddenSlides>
  <MMClips>0</MMClips>
  <ScaleCrop>false</ScaleCrop>
  <HeadingPairs>
    <vt:vector size="8" baseType="variant">
      <vt:variant>
        <vt:lpstr>已用的字体</vt:lpstr>
      </vt:variant>
      <vt:variant>
        <vt:i4>19</vt:i4>
      </vt:variant>
      <vt:variant>
        <vt:lpstr>主题</vt:lpstr>
      </vt:variant>
      <vt:variant>
        <vt:i4>3</vt:i4>
      </vt:variant>
      <vt:variant>
        <vt:lpstr>嵌入 OLE 服务器</vt:lpstr>
      </vt:variant>
      <vt:variant>
        <vt:i4>5</vt:i4>
      </vt:variant>
      <vt:variant>
        <vt:lpstr>幻灯片标题</vt:lpstr>
      </vt:variant>
      <vt:variant>
        <vt:i4>177</vt:i4>
      </vt:variant>
    </vt:vector>
  </HeadingPairs>
  <TitlesOfParts>
    <vt:vector size="204" baseType="lpstr">
      <vt:lpstr>Arial Unicode MS</vt:lpstr>
      <vt:lpstr>Monotype Sorts</vt:lpstr>
      <vt:lpstr>ZapfDingbats</vt:lpstr>
      <vt:lpstr>仿宋</vt:lpstr>
      <vt:lpstr>黑体</vt:lpstr>
      <vt:lpstr>华文行楷</vt:lpstr>
      <vt:lpstr>楷体_GB2312</vt:lpstr>
      <vt:lpstr>宋体</vt:lpstr>
      <vt:lpstr>Arial</vt:lpstr>
      <vt:lpstr>Calibri</vt:lpstr>
      <vt:lpstr>Calibri Light</vt:lpstr>
      <vt:lpstr>Cambria Math</vt:lpstr>
      <vt:lpstr>Comic Sans MS</vt:lpstr>
      <vt:lpstr>MT Extra</vt:lpstr>
      <vt:lpstr>Symbol</vt:lpstr>
      <vt:lpstr>Tahoma</vt:lpstr>
      <vt:lpstr>Times New Roman</vt:lpstr>
      <vt:lpstr>Verdana</vt:lpstr>
      <vt:lpstr>Wingdings</vt:lpstr>
      <vt:lpstr>1_Office 主题</vt:lpstr>
      <vt:lpstr>2_Office 主题</vt:lpstr>
      <vt:lpstr>3_Office 主题</vt:lpstr>
      <vt:lpstr>Bitmap Image</vt:lpstr>
      <vt:lpstr>Microsoft Word 97 - 2003 Document</vt:lpstr>
      <vt:lpstr>Microsoft Word Picture</vt:lpstr>
      <vt:lpstr>Equation.DSMT4</vt:lpstr>
      <vt:lpstr>Equation.3</vt:lpstr>
      <vt:lpstr>PowerPoint 演示文稿</vt:lpstr>
      <vt:lpstr>Feistel密码结构 VS SP网络</vt:lpstr>
      <vt:lpstr>Feistel密码结构 VS SP网络 </vt:lpstr>
      <vt:lpstr>分组密码概述</vt:lpstr>
      <vt:lpstr>应用中对于分组码的要求</vt:lpstr>
      <vt:lpstr>分组密码概述</vt:lpstr>
      <vt:lpstr>分组密码概述</vt:lpstr>
      <vt:lpstr>分组密码设计问题</vt:lpstr>
      <vt:lpstr>安全性设计原则</vt:lpstr>
      <vt:lpstr>安全性设计原则</vt:lpstr>
      <vt:lpstr>分组密码算法应满足的要求</vt:lpstr>
      <vt:lpstr>分组密码算法应满足的要求</vt:lpstr>
      <vt:lpstr>分组密码的实现原则</vt:lpstr>
      <vt:lpstr>PowerPoint 演示文稿</vt:lpstr>
      <vt:lpstr>代换的定义</vt:lpstr>
      <vt:lpstr>代换结构</vt:lpstr>
      <vt:lpstr>代换表</vt:lpstr>
      <vt:lpstr>代换的弱点</vt:lpstr>
      <vt:lpstr>代换的弱点（续）</vt:lpstr>
      <vt:lpstr>SP网络</vt:lpstr>
      <vt:lpstr>代换网络</vt:lpstr>
      <vt:lpstr>代换网络</vt:lpstr>
      <vt:lpstr>代换盒(S盒)</vt:lpstr>
      <vt:lpstr>S盒的设计准则</vt:lpstr>
      <vt:lpstr>PowerPoint 演示文稿</vt:lpstr>
      <vt:lpstr>Feistel密码的思想</vt:lpstr>
      <vt:lpstr>Feistel密码实现的参数</vt:lpstr>
      <vt:lpstr>设计Feistel密码的两个要求</vt:lpstr>
      <vt:lpstr>Feistel加密结构</vt:lpstr>
      <vt:lpstr>Feistel解密结构</vt:lpstr>
      <vt:lpstr>PowerPoint 演示文稿</vt:lpstr>
      <vt:lpstr>Feistel密码解密的正确性</vt:lpstr>
      <vt:lpstr>Feistel密码解密的正确性（续）</vt:lpstr>
      <vt:lpstr>PowerPoint 演示文稿</vt:lpstr>
      <vt:lpstr>美国制定数据加密标准简况</vt:lpstr>
      <vt:lpstr>美国制定数据加密标准简况</vt:lpstr>
      <vt:lpstr>美国制定数据加密标准简况</vt:lpstr>
      <vt:lpstr>美国制定数据加密标准简况</vt:lpstr>
      <vt:lpstr>美国制定数据加密标准简况</vt:lpstr>
      <vt:lpstr>美国制定数据加密标准简况</vt:lpstr>
      <vt:lpstr>DES 算法</vt:lpstr>
      <vt:lpstr>DES算法框图</vt:lpstr>
      <vt:lpstr>PowerPoint 演示文稿</vt:lpstr>
      <vt:lpstr>初始置换IP与逆初始置换</vt:lpstr>
      <vt:lpstr>初值置换IP</vt:lpstr>
      <vt:lpstr>逆初值置换IP-1</vt:lpstr>
      <vt:lpstr>IP与IP-1</vt:lpstr>
      <vt:lpstr>PowerPoint 演示文稿</vt:lpstr>
      <vt:lpstr>DES的轮函数的结构</vt:lpstr>
      <vt:lpstr>注意</vt:lpstr>
      <vt:lpstr>DES算法轮结构</vt:lpstr>
      <vt:lpstr>函数f(R,K)的计算过程</vt:lpstr>
      <vt:lpstr>选择扩展运算E</vt:lpstr>
      <vt:lpstr>选择压缩运算S</vt:lpstr>
      <vt:lpstr>DES的S盒</vt:lpstr>
      <vt:lpstr>DES的S-盒的输入和输出关系</vt:lpstr>
      <vt:lpstr>P盒置换</vt:lpstr>
      <vt:lpstr>DES密钥编排</vt:lpstr>
      <vt:lpstr>DES中的子密钥的生成</vt:lpstr>
      <vt:lpstr>DES算法密钥编排中使用的表</vt:lpstr>
      <vt:lpstr>填充(Padding)</vt:lpstr>
      <vt:lpstr>选择题</vt:lpstr>
      <vt:lpstr>针对私钥加密的选择明文攻击下的不可区分性（IND-CPA）</vt:lpstr>
      <vt:lpstr>PowerPoint 演示文稿</vt:lpstr>
      <vt:lpstr>关于DES密钥</vt:lpstr>
      <vt:lpstr>DES算法轮结构</vt:lpstr>
      <vt:lpstr>关于DES密钥</vt:lpstr>
      <vt:lpstr>DES的弱密钥</vt:lpstr>
      <vt:lpstr>DES中的子密钥的生成</vt:lpstr>
      <vt:lpstr>密钥长度的争论</vt:lpstr>
      <vt:lpstr>密钥搜索</vt:lpstr>
      <vt:lpstr>密钥搜索与超级计算</vt:lpstr>
      <vt:lpstr>密钥挑战</vt:lpstr>
      <vt:lpstr>DES的破解</vt:lpstr>
      <vt:lpstr>DES的安全性的其他方面</vt:lpstr>
      <vt:lpstr>PowerPoint 演示文稿</vt:lpstr>
      <vt:lpstr>多重DES</vt:lpstr>
      <vt:lpstr>双重DES</vt:lpstr>
      <vt:lpstr>中间相遇攻击</vt:lpstr>
      <vt:lpstr>中间相遇攻击的步骤</vt:lpstr>
      <vt:lpstr>中间相遇攻击的复杂度</vt:lpstr>
      <vt:lpstr>三重DES算法</vt:lpstr>
      <vt:lpstr>双密钥三重DES算法</vt:lpstr>
      <vt:lpstr>双密钥三重DES算法的安全性</vt:lpstr>
      <vt:lpstr>PowerPoint 演示文稿</vt:lpstr>
      <vt:lpstr>为什么需要工作模式？</vt:lpstr>
      <vt:lpstr>分组密码的主要工作模式</vt:lpstr>
      <vt:lpstr>电码本ECB（Electronic Code Book）模式</vt:lpstr>
      <vt:lpstr>ECB模式的优、缺点</vt:lpstr>
      <vt:lpstr>电码本模式缺陷的例子</vt:lpstr>
      <vt:lpstr>密码分组链接CBC（Cipher Block Chaining）模式</vt:lpstr>
      <vt:lpstr>密码分组链接CBC（Cipher Block Chaining）模式</vt:lpstr>
      <vt:lpstr>CBC模式的特点</vt:lpstr>
      <vt:lpstr>利用CBC模式实现报文的完整性认证</vt:lpstr>
      <vt:lpstr>报文完整性认证的具体实现技术</vt:lpstr>
      <vt:lpstr>认证码生成</vt:lpstr>
      <vt:lpstr>认证码检验</vt:lpstr>
      <vt:lpstr>密码反馈CFB（Cipher Feedback）模式</vt:lpstr>
      <vt:lpstr>CFB的加密解密</vt:lpstr>
      <vt:lpstr>CFB模式的特点</vt:lpstr>
      <vt:lpstr>输出反馈OFB(Output Feedback)模式</vt:lpstr>
      <vt:lpstr>OFB工作模式的特点</vt:lpstr>
      <vt:lpstr>计数器模式</vt:lpstr>
      <vt:lpstr>计数器模式的结构</vt:lpstr>
      <vt:lpstr>CTR的优点</vt:lpstr>
      <vt:lpstr>PowerPoint 演示文稿</vt:lpstr>
      <vt:lpstr>什么是域</vt:lpstr>
      <vt:lpstr>什么是域</vt:lpstr>
      <vt:lpstr>域的例子</vt:lpstr>
      <vt:lpstr>域的例子（续）</vt:lpstr>
      <vt:lpstr>域的例子（续）</vt:lpstr>
      <vt:lpstr>AES中的处理单元</vt:lpstr>
      <vt:lpstr>GF(28)中的运算</vt:lpstr>
      <vt:lpstr>GF(28)中的逆元和x乘法</vt:lpstr>
      <vt:lpstr>xtime(x)的例子</vt:lpstr>
      <vt:lpstr>GF(28)上的模多项式运算</vt:lpstr>
      <vt:lpstr>多项式乘法的矩阵表示</vt:lpstr>
      <vt:lpstr>模x4+1逆元</vt:lpstr>
      <vt:lpstr>证明</vt:lpstr>
      <vt:lpstr>证明（续）</vt:lpstr>
      <vt:lpstr>PowerPoint 演示文稿</vt:lpstr>
      <vt:lpstr>AES标准算法征集</vt:lpstr>
      <vt:lpstr>AES算法征集的要求</vt:lpstr>
      <vt:lpstr>算法衡量条件</vt:lpstr>
      <vt:lpstr>AES的评审</vt:lpstr>
      <vt:lpstr>AES的评审（续）</vt:lpstr>
      <vt:lpstr>AES算法设计思想</vt:lpstr>
      <vt:lpstr>轮函数的3层</vt:lpstr>
      <vt:lpstr>算法说明</vt:lpstr>
      <vt:lpstr>算法说明</vt:lpstr>
      <vt:lpstr>Nb=6和Nk=4的状态密钥阵列</vt:lpstr>
      <vt:lpstr>轮数对应关系</vt:lpstr>
      <vt:lpstr>PowerPoint 演示文稿</vt:lpstr>
      <vt:lpstr>PowerPoint 演示文稿</vt:lpstr>
      <vt:lpstr>字节代换</vt:lpstr>
      <vt:lpstr>字节代换</vt:lpstr>
      <vt:lpstr>AES的S盒</vt:lpstr>
      <vt:lpstr>AES的S盒的使用：输入8a，输出7e，即7e=S（8a）</vt:lpstr>
      <vt:lpstr>逆字节代换InvSubBytes()</vt:lpstr>
      <vt:lpstr>AES的逆S盒</vt:lpstr>
      <vt:lpstr>字节代换示意图</vt:lpstr>
      <vt:lpstr>行移位</vt:lpstr>
      <vt:lpstr>行移位示意图</vt:lpstr>
      <vt:lpstr>逆行移位InvShiftRows()</vt:lpstr>
      <vt:lpstr>列混淆</vt:lpstr>
      <vt:lpstr>列混淆的矩阵表示</vt:lpstr>
      <vt:lpstr>列混淆运算示意图</vt:lpstr>
      <vt:lpstr>逆列混淆InvMixColumns()</vt:lpstr>
      <vt:lpstr>逆列混淆的矩阵形式</vt:lpstr>
      <vt:lpstr>轮密钥加</vt:lpstr>
      <vt:lpstr>PowerPoint 演示文稿</vt:lpstr>
      <vt:lpstr>密钥编排</vt:lpstr>
      <vt:lpstr>密钥扩展</vt:lpstr>
      <vt:lpstr>扩展算法（Nk≤6）</vt:lpstr>
      <vt:lpstr>扩展算法（Nk≤6）（续）</vt:lpstr>
      <vt:lpstr>扩展算法（Nk≤6）（续）</vt:lpstr>
      <vt:lpstr>扩展算法（Nk&gt;6）</vt:lpstr>
      <vt:lpstr>轮常数</vt:lpstr>
      <vt:lpstr>轮密钥选取</vt:lpstr>
      <vt:lpstr>AES加密过程的伪代码</vt:lpstr>
      <vt:lpstr>AES解密过程的伪代码</vt:lpstr>
      <vt:lpstr>AES密钥编排算法的伪代码</vt:lpstr>
      <vt:lpstr>PowerPoint 演示文稿</vt:lpstr>
      <vt:lpstr>SM4概况</vt:lpstr>
      <vt:lpstr>SM4算法的术语说明</vt:lpstr>
      <vt:lpstr>SM4算法的术语说明（续）</vt:lpstr>
      <vt:lpstr>SM4加密算法整体结构</vt:lpstr>
      <vt:lpstr>SM4 的轮函数</vt:lpstr>
      <vt:lpstr>PowerPoint 演示文稿</vt:lpstr>
      <vt:lpstr>SM4的S盒</vt:lpstr>
      <vt:lpstr>SM4的S盒说明</vt:lpstr>
      <vt:lpstr>SM4的加密算法和解密算法 </vt:lpstr>
      <vt:lpstr>SM4解密的合理性</vt:lpstr>
      <vt:lpstr>SM4的密钥扩展算法 </vt:lpstr>
      <vt:lpstr>SM4的密钥扩展算法（续）</vt:lpstr>
      <vt:lpstr>PowerPoint 演示文稿</vt:lpstr>
      <vt:lpstr>SM4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liaoyj</cp:lastModifiedBy>
  <cp:revision>447</cp:revision>
  <dcterms:created xsi:type="dcterms:W3CDTF">2020-02-15T07:36:26Z</dcterms:created>
  <dcterms:modified xsi:type="dcterms:W3CDTF">2024-03-15T02:03:37Z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2052-11.1.0.9564</vt:lpwstr>
  </property>
</Properties>
</file>