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76" r:id="rId1"/>
    <p:sldMasterId id="2147484701" r:id="rId2"/>
  </p:sldMasterIdLst>
  <p:notesMasterIdLst>
    <p:notesMasterId r:id="rId130"/>
  </p:notesMasterIdLst>
  <p:sldIdLst>
    <p:sldId id="552" r:id="rId3"/>
    <p:sldId id="533" r:id="rId4"/>
    <p:sldId id="525" r:id="rId5"/>
    <p:sldId id="540" r:id="rId6"/>
    <p:sldId id="541" r:id="rId7"/>
    <p:sldId id="542" r:id="rId8"/>
    <p:sldId id="543" r:id="rId9"/>
    <p:sldId id="544" r:id="rId10"/>
    <p:sldId id="545" r:id="rId11"/>
    <p:sldId id="546" r:id="rId12"/>
    <p:sldId id="547" r:id="rId13"/>
    <p:sldId id="548" r:id="rId14"/>
    <p:sldId id="719" r:id="rId15"/>
    <p:sldId id="549" r:id="rId16"/>
    <p:sldId id="718" r:id="rId17"/>
    <p:sldId id="715" r:id="rId18"/>
    <p:sldId id="550" r:id="rId19"/>
    <p:sldId id="551" r:id="rId20"/>
    <p:sldId id="720" r:id="rId21"/>
    <p:sldId id="553" r:id="rId22"/>
    <p:sldId id="554" r:id="rId23"/>
    <p:sldId id="555" r:id="rId24"/>
    <p:sldId id="721" r:id="rId25"/>
    <p:sldId id="639" r:id="rId26"/>
    <p:sldId id="722" r:id="rId27"/>
    <p:sldId id="556" r:id="rId28"/>
    <p:sldId id="640" r:id="rId29"/>
    <p:sldId id="557" r:id="rId30"/>
    <p:sldId id="558" r:id="rId31"/>
    <p:sldId id="559" r:id="rId32"/>
    <p:sldId id="560" r:id="rId33"/>
    <p:sldId id="561" r:id="rId34"/>
    <p:sldId id="723" r:id="rId35"/>
    <p:sldId id="724" r:id="rId36"/>
    <p:sldId id="562" r:id="rId37"/>
    <p:sldId id="563" r:id="rId38"/>
    <p:sldId id="564" r:id="rId39"/>
    <p:sldId id="565" r:id="rId40"/>
    <p:sldId id="566" r:id="rId41"/>
    <p:sldId id="567" r:id="rId42"/>
    <p:sldId id="568" r:id="rId43"/>
    <p:sldId id="569" r:id="rId44"/>
    <p:sldId id="570" r:id="rId45"/>
    <p:sldId id="571" r:id="rId46"/>
    <p:sldId id="572" r:id="rId47"/>
    <p:sldId id="573" r:id="rId48"/>
    <p:sldId id="574" r:id="rId49"/>
    <p:sldId id="642" r:id="rId50"/>
    <p:sldId id="483" r:id="rId51"/>
    <p:sldId id="575" r:id="rId52"/>
    <p:sldId id="576" r:id="rId53"/>
    <p:sldId id="578" r:id="rId54"/>
    <p:sldId id="579" r:id="rId55"/>
    <p:sldId id="580" r:id="rId56"/>
    <p:sldId id="725" r:id="rId57"/>
    <p:sldId id="637" r:id="rId58"/>
    <p:sldId id="582" r:id="rId59"/>
    <p:sldId id="730" r:id="rId60"/>
    <p:sldId id="731" r:id="rId61"/>
    <p:sldId id="732" r:id="rId62"/>
    <p:sldId id="663" r:id="rId63"/>
    <p:sldId id="584" r:id="rId64"/>
    <p:sldId id="726" r:id="rId65"/>
    <p:sldId id="728" r:id="rId66"/>
    <p:sldId id="727" r:id="rId67"/>
    <p:sldId id="739" r:id="rId68"/>
    <p:sldId id="638" r:id="rId69"/>
    <p:sldId id="733" r:id="rId70"/>
    <p:sldId id="734" r:id="rId71"/>
    <p:sldId id="735" r:id="rId72"/>
    <p:sldId id="586" r:id="rId73"/>
    <p:sldId id="736" r:id="rId74"/>
    <p:sldId id="737" r:id="rId75"/>
    <p:sldId id="738" r:id="rId76"/>
    <p:sldId id="668" r:id="rId77"/>
    <p:sldId id="743" r:id="rId78"/>
    <p:sldId id="669" r:id="rId79"/>
    <p:sldId id="588" r:id="rId80"/>
    <p:sldId id="589" r:id="rId81"/>
    <p:sldId id="590" r:id="rId82"/>
    <p:sldId id="591" r:id="rId83"/>
    <p:sldId id="740" r:id="rId84"/>
    <p:sldId id="741" r:id="rId85"/>
    <p:sldId id="592" r:id="rId86"/>
    <p:sldId id="593" r:id="rId87"/>
    <p:sldId id="596" r:id="rId88"/>
    <p:sldId id="597" r:id="rId89"/>
    <p:sldId id="598" r:id="rId90"/>
    <p:sldId id="599" r:id="rId91"/>
    <p:sldId id="600" r:id="rId92"/>
    <p:sldId id="681" r:id="rId93"/>
    <p:sldId id="602" r:id="rId94"/>
    <p:sldId id="603" r:id="rId95"/>
    <p:sldId id="604" r:id="rId96"/>
    <p:sldId id="605" r:id="rId97"/>
    <p:sldId id="606" r:id="rId98"/>
    <p:sldId id="607" r:id="rId99"/>
    <p:sldId id="608" r:id="rId100"/>
    <p:sldId id="609" r:id="rId101"/>
    <p:sldId id="610" r:id="rId102"/>
    <p:sldId id="611" r:id="rId103"/>
    <p:sldId id="612" r:id="rId104"/>
    <p:sldId id="613" r:id="rId105"/>
    <p:sldId id="614" r:id="rId106"/>
    <p:sldId id="615" r:id="rId107"/>
    <p:sldId id="616" r:id="rId108"/>
    <p:sldId id="617" r:id="rId109"/>
    <p:sldId id="618" r:id="rId110"/>
    <p:sldId id="619" r:id="rId111"/>
    <p:sldId id="620" r:id="rId112"/>
    <p:sldId id="621" r:id="rId113"/>
    <p:sldId id="622" r:id="rId114"/>
    <p:sldId id="623" r:id="rId115"/>
    <p:sldId id="624" r:id="rId116"/>
    <p:sldId id="625" r:id="rId117"/>
    <p:sldId id="626" r:id="rId118"/>
    <p:sldId id="627" r:id="rId119"/>
    <p:sldId id="628" r:id="rId120"/>
    <p:sldId id="629" r:id="rId121"/>
    <p:sldId id="630" r:id="rId122"/>
    <p:sldId id="631" r:id="rId123"/>
    <p:sldId id="632" r:id="rId124"/>
    <p:sldId id="633" r:id="rId125"/>
    <p:sldId id="634" r:id="rId126"/>
    <p:sldId id="635" r:id="rId127"/>
    <p:sldId id="636" r:id="rId128"/>
    <p:sldId id="492" r:id="rId129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1C1C1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 autoAdjust="0"/>
    <p:restoredTop sz="83500" autoAdjust="0"/>
  </p:normalViewPr>
  <p:slideViewPr>
    <p:cSldViewPr>
      <p:cViewPr varScale="1">
        <p:scale>
          <a:sx n="71" d="100"/>
          <a:sy n="71" d="100"/>
        </p:scale>
        <p:origin x="492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59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28" Type="http://schemas.openxmlformats.org/officeDocument/2006/relationships/slide" Target="slides/slide126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tableStyles" Target="tableStyles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presProps" Target="pres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viewProps" Target="viewProps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156F03-C9FF-47DE-996F-6C4CB9407332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</dgm:pt>
    <dgm:pt modelId="{550872CC-7FC0-4B1A-8A02-F293A4C0C440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b="0" i="0" u="none" strike="noStrike" cap="none" normalizeH="0" baseline="0">
              <a:ln>
                <a:noFill/>
              </a:ln>
              <a:solidFill>
                <a:srgbClr val="99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0</a:t>
          </a:r>
        </a:p>
      </dgm:t>
    </dgm:pt>
    <dgm:pt modelId="{A3AE67EB-B430-41FE-8055-8384612AB69E}" type="parTrans" cxnId="{5CE43E81-008A-4BEE-B9CE-39CE65F7F864}">
      <dgm:prSet/>
      <dgm:spPr/>
    </dgm:pt>
    <dgm:pt modelId="{856F4895-E11A-4901-AE71-DE8935E4AC6E}" type="sibTrans" cxnId="{5CE43E81-008A-4BEE-B9CE-39CE65F7F864}">
      <dgm:prSet/>
      <dgm:spPr/>
    </dgm:pt>
    <dgm:pt modelId="{400A7B60-7516-4C0F-AB18-8D1EBC202BAB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b="0" i="0" u="none" strike="noStrike" cap="none" normalizeH="0" baseline="0">
              <a:ln>
                <a:noFill/>
              </a:ln>
              <a:solidFill>
                <a:srgbClr val="99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0</a:t>
          </a:r>
        </a:p>
      </dgm:t>
    </dgm:pt>
    <dgm:pt modelId="{81EAAF05-D13E-4840-9A22-811156B2E446}" type="parTrans" cxnId="{10D970E9-5649-49FD-B244-45447F424398}">
      <dgm:prSet/>
      <dgm:spPr/>
    </dgm:pt>
    <dgm:pt modelId="{C76ACDEB-F4E3-4471-9C94-5B92D4B99CFD}" type="sibTrans" cxnId="{10D970E9-5649-49FD-B244-45447F424398}">
      <dgm:prSet/>
      <dgm:spPr/>
    </dgm:pt>
    <dgm:pt modelId="{62B53C66-132A-46E3-B6E0-F7996D05BD73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b="0" i="0" u="none" strike="noStrike" cap="none" normalizeH="0" baseline="0">
              <a:ln>
                <a:noFill/>
              </a:ln>
              <a:solidFill>
                <a:srgbClr val="99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0</a:t>
          </a:r>
        </a:p>
      </dgm:t>
    </dgm:pt>
    <dgm:pt modelId="{D680DB07-1FD5-477D-B8C0-D165FE33211D}" type="parTrans" cxnId="{5F601CA5-D538-4B7E-80BD-EDC9EDDDD2EF}">
      <dgm:prSet/>
      <dgm:spPr/>
    </dgm:pt>
    <dgm:pt modelId="{201F0E3F-DA30-4206-AF38-F95834B44290}" type="sibTrans" cxnId="{5F601CA5-D538-4B7E-80BD-EDC9EDDDD2EF}">
      <dgm:prSet/>
      <dgm:spPr/>
    </dgm:pt>
    <dgm:pt modelId="{A9113D0E-FC7D-445C-99E2-30503FC5F803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b="0" i="0" u="none" strike="noStrike" cap="none" normalizeH="0" baseline="0">
              <a:ln>
                <a:noFill/>
              </a:ln>
              <a:solidFill>
                <a:srgbClr val="99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1</a:t>
          </a:r>
        </a:p>
      </dgm:t>
    </dgm:pt>
    <dgm:pt modelId="{3318AE07-DEE7-4595-A7E5-02A0209AD206}" type="parTrans" cxnId="{AA2A590E-B87D-4F08-8A73-348373B0F5E3}">
      <dgm:prSet/>
      <dgm:spPr/>
    </dgm:pt>
    <dgm:pt modelId="{AF88A5E0-9F0E-4BD5-9AC6-E6760E76807A}" type="sibTrans" cxnId="{AA2A590E-B87D-4F08-8A73-348373B0F5E3}">
      <dgm:prSet/>
      <dgm:spPr/>
    </dgm:pt>
    <dgm:pt modelId="{728587CE-8ED5-4EB7-8EF1-EFEB879BA27C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0</a:t>
          </a:r>
        </a:p>
      </dgm:t>
    </dgm:pt>
    <dgm:pt modelId="{CD546106-CB16-4950-92AB-2245D6BA3FDB}" type="parTrans" cxnId="{0C839B23-B6F2-4014-925E-BC495FE4FA74}">
      <dgm:prSet/>
      <dgm:spPr/>
    </dgm:pt>
    <dgm:pt modelId="{4B49DC20-6913-41B3-850A-87002303BCB7}" type="sibTrans" cxnId="{0C839B23-B6F2-4014-925E-BC495FE4FA74}">
      <dgm:prSet/>
      <dgm:spPr/>
    </dgm:pt>
    <dgm:pt modelId="{28B66CA1-3AE7-49EA-870A-981F31421471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0</a:t>
          </a:r>
        </a:p>
      </dgm:t>
    </dgm:pt>
    <dgm:pt modelId="{395CA308-DFFD-4A54-8253-C82C2E293DCC}" type="parTrans" cxnId="{E16D454E-4B2F-464C-AE80-6C0511A5C18A}">
      <dgm:prSet/>
      <dgm:spPr/>
    </dgm:pt>
    <dgm:pt modelId="{340C13DA-947A-45C8-B9B2-15D67C7CCC60}" type="sibTrans" cxnId="{E16D454E-4B2F-464C-AE80-6C0511A5C18A}">
      <dgm:prSet/>
      <dgm:spPr/>
    </dgm:pt>
    <dgm:pt modelId="{AFEE0C97-E80A-4F35-9502-074A6CFA3E5B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1</a:t>
          </a:r>
        </a:p>
      </dgm:t>
    </dgm:pt>
    <dgm:pt modelId="{8D44B273-55D9-4DEE-8204-7DA572C95A4B}" type="parTrans" cxnId="{7AE90E88-7751-48CE-85E0-3A2C80370FC7}">
      <dgm:prSet/>
      <dgm:spPr/>
    </dgm:pt>
    <dgm:pt modelId="{E5B078C7-2133-4484-9141-3A0F28423329}" type="sibTrans" cxnId="{7AE90E88-7751-48CE-85E0-3A2C80370FC7}">
      <dgm:prSet/>
      <dgm:spPr/>
    </dgm:pt>
    <dgm:pt modelId="{4A759ADF-90F4-43D5-8434-90F779FE5F80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1</a:t>
          </a:r>
        </a:p>
      </dgm:t>
    </dgm:pt>
    <dgm:pt modelId="{FEAD4A4F-E516-47C6-ACC7-4697741B8493}" type="parTrans" cxnId="{BF7727DB-511C-4BAE-B151-0F88FC5DFE33}">
      <dgm:prSet/>
      <dgm:spPr/>
    </dgm:pt>
    <dgm:pt modelId="{AF7F5D28-0B3D-464B-9098-DE6681C5E764}" type="sibTrans" cxnId="{BF7727DB-511C-4BAE-B151-0F88FC5DFE33}">
      <dgm:prSet/>
      <dgm:spPr/>
    </dgm:pt>
    <dgm:pt modelId="{D3778476-32AD-4B61-A882-61E91FFC719D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0</a:t>
          </a:r>
        </a:p>
      </dgm:t>
    </dgm:pt>
    <dgm:pt modelId="{7B6A8A7C-5770-47A1-AB9B-8ECE140442B6}" type="parTrans" cxnId="{6828EA77-173E-4426-BBF1-CFDBC2E8D2DA}">
      <dgm:prSet/>
      <dgm:spPr/>
    </dgm:pt>
    <dgm:pt modelId="{B41CDC72-2B87-4F33-9A9B-D99EB2EB4DEA}" type="sibTrans" cxnId="{6828EA77-173E-4426-BBF1-CFDBC2E8D2DA}">
      <dgm:prSet/>
      <dgm:spPr/>
    </dgm:pt>
    <dgm:pt modelId="{AD659E0D-5F00-43E9-8D49-1528E8629A06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1</a:t>
          </a:r>
        </a:p>
      </dgm:t>
    </dgm:pt>
    <dgm:pt modelId="{D25BB81C-048D-4191-9605-89C1A7342293}" type="parTrans" cxnId="{79EEC615-1169-4B12-AB3A-D385ACF9DFAC}">
      <dgm:prSet/>
      <dgm:spPr/>
    </dgm:pt>
    <dgm:pt modelId="{6856750F-3331-4367-8294-3ADCC4FBE930}" type="sibTrans" cxnId="{79EEC615-1169-4B12-AB3A-D385ACF9DFAC}">
      <dgm:prSet/>
      <dgm:spPr/>
    </dgm:pt>
    <dgm:pt modelId="{30A3D753-062F-4696-A34C-F075B36A94E0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0</a:t>
          </a:r>
        </a:p>
      </dgm:t>
    </dgm:pt>
    <dgm:pt modelId="{084D1077-65A9-4DB5-89E1-993AE495134C}" type="parTrans" cxnId="{7DAC8768-B4EA-4BD9-9411-F1BD0EC3919A}">
      <dgm:prSet/>
      <dgm:spPr/>
    </dgm:pt>
    <dgm:pt modelId="{A94F790C-D7E4-495F-838B-6F634D118DFB}" type="sibTrans" cxnId="{7DAC8768-B4EA-4BD9-9411-F1BD0EC3919A}">
      <dgm:prSet/>
      <dgm:spPr/>
    </dgm:pt>
    <dgm:pt modelId="{CEC7E758-5F1B-49F4-8FE7-DD5EE556BB50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1</a:t>
          </a:r>
        </a:p>
      </dgm:t>
    </dgm:pt>
    <dgm:pt modelId="{AC8EDBE5-D9B0-40F7-BE72-2E3022FA448D}" type="parTrans" cxnId="{B82B7741-5BAB-410A-BC3E-0AE0B5A40017}">
      <dgm:prSet/>
      <dgm:spPr/>
    </dgm:pt>
    <dgm:pt modelId="{E30BA1CD-7BF6-46DA-A438-ABBB166FEB9D}" type="sibTrans" cxnId="{B82B7741-5BAB-410A-BC3E-0AE0B5A40017}">
      <dgm:prSet/>
      <dgm:spPr/>
    </dgm:pt>
    <dgm:pt modelId="{51B9E8C9-AA72-470C-81AC-E3BF1C948882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1</a:t>
          </a:r>
        </a:p>
      </dgm:t>
    </dgm:pt>
    <dgm:pt modelId="{9A982AEC-A692-4F04-8A4C-8B29F4FF20C6}" type="parTrans" cxnId="{844F420C-9A30-4A71-8965-E4E7CB43F823}">
      <dgm:prSet/>
      <dgm:spPr/>
    </dgm:pt>
    <dgm:pt modelId="{22778919-15D6-42DC-95BF-05E198F97E7E}" type="sibTrans" cxnId="{844F420C-9A30-4A71-8965-E4E7CB43F823}">
      <dgm:prSet/>
      <dgm:spPr/>
    </dgm:pt>
    <dgm:pt modelId="{499E0920-2A09-4BDA-A418-55BA7009A25B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1</a:t>
          </a:r>
        </a:p>
      </dgm:t>
    </dgm:pt>
    <dgm:pt modelId="{ED056147-36DE-4D84-BA71-B4C331C4BB3D}" type="parTrans" cxnId="{6D55288A-2515-4B4F-89E0-90E2142FE346}">
      <dgm:prSet/>
      <dgm:spPr/>
    </dgm:pt>
    <dgm:pt modelId="{E8C085F6-AEA9-4532-9CC1-861947DF5A33}" type="sibTrans" cxnId="{6D55288A-2515-4B4F-89E0-90E2142FE346}">
      <dgm:prSet/>
      <dgm:spPr/>
    </dgm:pt>
    <dgm:pt modelId="{8BB10FFC-3592-41DB-928D-12035305802A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1</a:t>
          </a:r>
        </a:p>
      </dgm:t>
    </dgm:pt>
    <dgm:pt modelId="{66C43806-BD44-442A-96CB-62E3CB79CDB7}" type="parTrans" cxnId="{196BD879-107F-44AD-8BAE-74EF36C6F8F8}">
      <dgm:prSet/>
      <dgm:spPr/>
    </dgm:pt>
    <dgm:pt modelId="{F5FBC746-DFEB-4585-A2D5-FCA84F9FB8A5}" type="sibTrans" cxnId="{196BD879-107F-44AD-8BAE-74EF36C6F8F8}">
      <dgm:prSet/>
      <dgm:spPr/>
    </dgm:pt>
    <dgm:pt modelId="{C3BC3813-87B1-468F-959B-5C1614154A52}" type="pres">
      <dgm:prSet presAssocID="{C7156F03-C9FF-47DE-996F-6C4CB9407332}" presName="cycle" presStyleCnt="0">
        <dgm:presLayoutVars>
          <dgm:dir/>
          <dgm:resizeHandles val="exact"/>
        </dgm:presLayoutVars>
      </dgm:prSet>
      <dgm:spPr/>
    </dgm:pt>
    <dgm:pt modelId="{69868BCE-274A-4995-832D-838B848408C8}" type="pres">
      <dgm:prSet presAssocID="{550872CC-7FC0-4B1A-8A02-F293A4C0C440}" presName="dummy" presStyleCnt="0"/>
      <dgm:spPr/>
    </dgm:pt>
    <dgm:pt modelId="{9C063D39-5887-42DD-B1CF-54F6B46935CB}" type="pres">
      <dgm:prSet presAssocID="{550872CC-7FC0-4B1A-8A02-F293A4C0C440}" presName="node" presStyleLbl="revTx" presStyleIdx="0" presStyleCnt="15">
        <dgm:presLayoutVars>
          <dgm:bulletEnabled val="1"/>
        </dgm:presLayoutVars>
      </dgm:prSet>
      <dgm:spPr/>
    </dgm:pt>
    <dgm:pt modelId="{C82ACCAE-871D-42B5-88AE-16541847DEA2}" type="pres">
      <dgm:prSet presAssocID="{856F4895-E11A-4901-AE71-DE8935E4AC6E}" presName="sibTrans" presStyleLbl="node1" presStyleIdx="0" presStyleCnt="15"/>
      <dgm:spPr/>
    </dgm:pt>
    <dgm:pt modelId="{465DD463-0497-4E89-BB62-85D96A6E1E26}" type="pres">
      <dgm:prSet presAssocID="{400A7B60-7516-4C0F-AB18-8D1EBC202BAB}" presName="dummy" presStyleCnt="0"/>
      <dgm:spPr/>
    </dgm:pt>
    <dgm:pt modelId="{A17D2EEF-7A4D-4B88-9A97-0121A03110C2}" type="pres">
      <dgm:prSet presAssocID="{400A7B60-7516-4C0F-AB18-8D1EBC202BAB}" presName="node" presStyleLbl="revTx" presStyleIdx="1" presStyleCnt="15">
        <dgm:presLayoutVars>
          <dgm:bulletEnabled val="1"/>
        </dgm:presLayoutVars>
      </dgm:prSet>
      <dgm:spPr/>
    </dgm:pt>
    <dgm:pt modelId="{95E1A359-0462-4886-B5C6-DACB7C5DCB26}" type="pres">
      <dgm:prSet presAssocID="{C76ACDEB-F4E3-4471-9C94-5B92D4B99CFD}" presName="sibTrans" presStyleLbl="node1" presStyleIdx="1" presStyleCnt="15"/>
      <dgm:spPr/>
    </dgm:pt>
    <dgm:pt modelId="{A4D5D52E-6D7B-4F1A-BFCA-56F13FB3C9C4}" type="pres">
      <dgm:prSet presAssocID="{62B53C66-132A-46E3-B6E0-F7996D05BD73}" presName="dummy" presStyleCnt="0"/>
      <dgm:spPr/>
    </dgm:pt>
    <dgm:pt modelId="{E5ABD3C9-FDAA-458F-8250-EB848E3C568A}" type="pres">
      <dgm:prSet presAssocID="{62B53C66-132A-46E3-B6E0-F7996D05BD73}" presName="node" presStyleLbl="revTx" presStyleIdx="2" presStyleCnt="15">
        <dgm:presLayoutVars>
          <dgm:bulletEnabled val="1"/>
        </dgm:presLayoutVars>
      </dgm:prSet>
      <dgm:spPr/>
    </dgm:pt>
    <dgm:pt modelId="{A94C7CA5-ECBF-4C22-93E8-510A25A1BCE7}" type="pres">
      <dgm:prSet presAssocID="{201F0E3F-DA30-4206-AF38-F95834B44290}" presName="sibTrans" presStyleLbl="node1" presStyleIdx="2" presStyleCnt="15"/>
      <dgm:spPr/>
    </dgm:pt>
    <dgm:pt modelId="{951561F3-591B-40D8-BDD5-CD7E6406C3C3}" type="pres">
      <dgm:prSet presAssocID="{A9113D0E-FC7D-445C-99E2-30503FC5F803}" presName="dummy" presStyleCnt="0"/>
      <dgm:spPr/>
    </dgm:pt>
    <dgm:pt modelId="{BEBB1447-85D2-442D-9B6E-BE7FA61F4CEE}" type="pres">
      <dgm:prSet presAssocID="{A9113D0E-FC7D-445C-99E2-30503FC5F803}" presName="node" presStyleLbl="revTx" presStyleIdx="3" presStyleCnt="15">
        <dgm:presLayoutVars>
          <dgm:bulletEnabled val="1"/>
        </dgm:presLayoutVars>
      </dgm:prSet>
      <dgm:spPr/>
    </dgm:pt>
    <dgm:pt modelId="{8E066DFC-BF2E-46BF-ABF9-D4629409BA88}" type="pres">
      <dgm:prSet presAssocID="{AF88A5E0-9F0E-4BD5-9AC6-E6760E76807A}" presName="sibTrans" presStyleLbl="node1" presStyleIdx="3" presStyleCnt="15"/>
      <dgm:spPr/>
    </dgm:pt>
    <dgm:pt modelId="{D38A0D72-AFF3-4756-8593-661910171D57}" type="pres">
      <dgm:prSet presAssocID="{728587CE-8ED5-4EB7-8EF1-EFEB879BA27C}" presName="dummy" presStyleCnt="0"/>
      <dgm:spPr/>
    </dgm:pt>
    <dgm:pt modelId="{768DDF01-FE5D-4110-9DC5-8FE64F345A7E}" type="pres">
      <dgm:prSet presAssocID="{728587CE-8ED5-4EB7-8EF1-EFEB879BA27C}" presName="node" presStyleLbl="revTx" presStyleIdx="4" presStyleCnt="15">
        <dgm:presLayoutVars>
          <dgm:bulletEnabled val="1"/>
        </dgm:presLayoutVars>
      </dgm:prSet>
      <dgm:spPr/>
    </dgm:pt>
    <dgm:pt modelId="{5A0521C7-1A1D-4C10-9F1A-79F9265049B4}" type="pres">
      <dgm:prSet presAssocID="{4B49DC20-6913-41B3-850A-87002303BCB7}" presName="sibTrans" presStyleLbl="node1" presStyleIdx="4" presStyleCnt="15"/>
      <dgm:spPr/>
    </dgm:pt>
    <dgm:pt modelId="{31D18B25-40BF-4373-AC82-865362F24284}" type="pres">
      <dgm:prSet presAssocID="{28B66CA1-3AE7-49EA-870A-981F31421471}" presName="dummy" presStyleCnt="0"/>
      <dgm:spPr/>
    </dgm:pt>
    <dgm:pt modelId="{BA373CD1-CFCB-4CA6-B4A7-7F10241377B1}" type="pres">
      <dgm:prSet presAssocID="{28B66CA1-3AE7-49EA-870A-981F31421471}" presName="node" presStyleLbl="revTx" presStyleIdx="5" presStyleCnt="15">
        <dgm:presLayoutVars>
          <dgm:bulletEnabled val="1"/>
        </dgm:presLayoutVars>
      </dgm:prSet>
      <dgm:spPr/>
    </dgm:pt>
    <dgm:pt modelId="{180ABFA9-CBAA-44D0-BED3-591AC0EB6AF5}" type="pres">
      <dgm:prSet presAssocID="{340C13DA-947A-45C8-B9B2-15D67C7CCC60}" presName="sibTrans" presStyleLbl="node1" presStyleIdx="5" presStyleCnt="15"/>
      <dgm:spPr/>
    </dgm:pt>
    <dgm:pt modelId="{2FA2B909-E803-4369-96BA-FF1A8192BB59}" type="pres">
      <dgm:prSet presAssocID="{AFEE0C97-E80A-4F35-9502-074A6CFA3E5B}" presName="dummy" presStyleCnt="0"/>
      <dgm:spPr/>
    </dgm:pt>
    <dgm:pt modelId="{3D1FEFE2-5B09-461F-AD2E-B148E96A1AC3}" type="pres">
      <dgm:prSet presAssocID="{AFEE0C97-E80A-4F35-9502-074A6CFA3E5B}" presName="node" presStyleLbl="revTx" presStyleIdx="6" presStyleCnt="15">
        <dgm:presLayoutVars>
          <dgm:bulletEnabled val="1"/>
        </dgm:presLayoutVars>
      </dgm:prSet>
      <dgm:spPr/>
    </dgm:pt>
    <dgm:pt modelId="{097F36B7-6DA5-4346-910F-6678F9A29065}" type="pres">
      <dgm:prSet presAssocID="{E5B078C7-2133-4484-9141-3A0F28423329}" presName="sibTrans" presStyleLbl="node1" presStyleIdx="6" presStyleCnt="15"/>
      <dgm:spPr/>
    </dgm:pt>
    <dgm:pt modelId="{9160005A-B9AD-4770-8C18-5DD23A106DE8}" type="pres">
      <dgm:prSet presAssocID="{4A759ADF-90F4-43D5-8434-90F779FE5F80}" presName="dummy" presStyleCnt="0"/>
      <dgm:spPr/>
    </dgm:pt>
    <dgm:pt modelId="{AB0F829E-22FB-40AB-9883-17CFC77C139D}" type="pres">
      <dgm:prSet presAssocID="{4A759ADF-90F4-43D5-8434-90F779FE5F80}" presName="node" presStyleLbl="revTx" presStyleIdx="7" presStyleCnt="15">
        <dgm:presLayoutVars>
          <dgm:bulletEnabled val="1"/>
        </dgm:presLayoutVars>
      </dgm:prSet>
      <dgm:spPr/>
    </dgm:pt>
    <dgm:pt modelId="{923EBA41-A37E-4767-90CC-F47060DB0B09}" type="pres">
      <dgm:prSet presAssocID="{AF7F5D28-0B3D-464B-9098-DE6681C5E764}" presName="sibTrans" presStyleLbl="node1" presStyleIdx="7" presStyleCnt="15"/>
      <dgm:spPr/>
    </dgm:pt>
    <dgm:pt modelId="{8EBF47F3-481D-485D-B67B-8320E1860838}" type="pres">
      <dgm:prSet presAssocID="{D3778476-32AD-4B61-A882-61E91FFC719D}" presName="dummy" presStyleCnt="0"/>
      <dgm:spPr/>
    </dgm:pt>
    <dgm:pt modelId="{4EC0C3C6-3106-49D8-B27A-8EB4378FC92B}" type="pres">
      <dgm:prSet presAssocID="{D3778476-32AD-4B61-A882-61E91FFC719D}" presName="node" presStyleLbl="revTx" presStyleIdx="8" presStyleCnt="15">
        <dgm:presLayoutVars>
          <dgm:bulletEnabled val="1"/>
        </dgm:presLayoutVars>
      </dgm:prSet>
      <dgm:spPr/>
    </dgm:pt>
    <dgm:pt modelId="{A9982C20-C4AE-4061-BCE1-5D1FBCC0DD1D}" type="pres">
      <dgm:prSet presAssocID="{B41CDC72-2B87-4F33-9A9B-D99EB2EB4DEA}" presName="sibTrans" presStyleLbl="node1" presStyleIdx="8" presStyleCnt="15"/>
      <dgm:spPr/>
    </dgm:pt>
    <dgm:pt modelId="{637E7F77-9606-4413-B87D-F313CEC55F62}" type="pres">
      <dgm:prSet presAssocID="{AD659E0D-5F00-43E9-8D49-1528E8629A06}" presName="dummy" presStyleCnt="0"/>
      <dgm:spPr/>
    </dgm:pt>
    <dgm:pt modelId="{893C87CE-7921-417E-B8D5-00A03298771C}" type="pres">
      <dgm:prSet presAssocID="{AD659E0D-5F00-43E9-8D49-1528E8629A06}" presName="node" presStyleLbl="revTx" presStyleIdx="9" presStyleCnt="15">
        <dgm:presLayoutVars>
          <dgm:bulletEnabled val="1"/>
        </dgm:presLayoutVars>
      </dgm:prSet>
      <dgm:spPr/>
    </dgm:pt>
    <dgm:pt modelId="{6DE20229-5EA5-419D-B3EC-A7F64B1D3FB2}" type="pres">
      <dgm:prSet presAssocID="{6856750F-3331-4367-8294-3ADCC4FBE930}" presName="sibTrans" presStyleLbl="node1" presStyleIdx="9" presStyleCnt="15"/>
      <dgm:spPr/>
    </dgm:pt>
    <dgm:pt modelId="{22D552AD-E3BC-4EF2-BCA5-A75DC66FD831}" type="pres">
      <dgm:prSet presAssocID="{30A3D753-062F-4696-A34C-F075B36A94E0}" presName="dummy" presStyleCnt="0"/>
      <dgm:spPr/>
    </dgm:pt>
    <dgm:pt modelId="{659EBD3B-796C-40D1-9E97-CF8262F54F81}" type="pres">
      <dgm:prSet presAssocID="{30A3D753-062F-4696-A34C-F075B36A94E0}" presName="node" presStyleLbl="revTx" presStyleIdx="10" presStyleCnt="15">
        <dgm:presLayoutVars>
          <dgm:bulletEnabled val="1"/>
        </dgm:presLayoutVars>
      </dgm:prSet>
      <dgm:spPr/>
    </dgm:pt>
    <dgm:pt modelId="{EAB42A1F-6686-4FD4-8AEE-43C4B1BD6469}" type="pres">
      <dgm:prSet presAssocID="{A94F790C-D7E4-495F-838B-6F634D118DFB}" presName="sibTrans" presStyleLbl="node1" presStyleIdx="10" presStyleCnt="15"/>
      <dgm:spPr/>
    </dgm:pt>
    <dgm:pt modelId="{DE0D3C5D-39EE-4DE9-9BA8-A8D38B83B76E}" type="pres">
      <dgm:prSet presAssocID="{CEC7E758-5F1B-49F4-8FE7-DD5EE556BB50}" presName="dummy" presStyleCnt="0"/>
      <dgm:spPr/>
    </dgm:pt>
    <dgm:pt modelId="{12E2F094-F951-4BDF-BA80-E608F954BF23}" type="pres">
      <dgm:prSet presAssocID="{CEC7E758-5F1B-49F4-8FE7-DD5EE556BB50}" presName="node" presStyleLbl="revTx" presStyleIdx="11" presStyleCnt="15">
        <dgm:presLayoutVars>
          <dgm:bulletEnabled val="1"/>
        </dgm:presLayoutVars>
      </dgm:prSet>
      <dgm:spPr/>
    </dgm:pt>
    <dgm:pt modelId="{AF323539-7B15-4FEC-AF29-3D9164A85779}" type="pres">
      <dgm:prSet presAssocID="{E30BA1CD-7BF6-46DA-A438-ABBB166FEB9D}" presName="sibTrans" presStyleLbl="node1" presStyleIdx="11" presStyleCnt="15"/>
      <dgm:spPr/>
    </dgm:pt>
    <dgm:pt modelId="{99070A43-1F67-46FF-8106-E5540B15FC6F}" type="pres">
      <dgm:prSet presAssocID="{51B9E8C9-AA72-470C-81AC-E3BF1C948882}" presName="dummy" presStyleCnt="0"/>
      <dgm:spPr/>
    </dgm:pt>
    <dgm:pt modelId="{9EAD21C1-AD39-4A21-9098-0260A757B7EE}" type="pres">
      <dgm:prSet presAssocID="{51B9E8C9-AA72-470C-81AC-E3BF1C948882}" presName="node" presStyleLbl="revTx" presStyleIdx="12" presStyleCnt="15">
        <dgm:presLayoutVars>
          <dgm:bulletEnabled val="1"/>
        </dgm:presLayoutVars>
      </dgm:prSet>
      <dgm:spPr/>
    </dgm:pt>
    <dgm:pt modelId="{C951820E-C349-4FC1-8B4C-5BB9C01E5B41}" type="pres">
      <dgm:prSet presAssocID="{22778919-15D6-42DC-95BF-05E198F97E7E}" presName="sibTrans" presStyleLbl="node1" presStyleIdx="12" presStyleCnt="15"/>
      <dgm:spPr/>
    </dgm:pt>
    <dgm:pt modelId="{C6C894E0-CD57-4137-B73C-38E5606CD02C}" type="pres">
      <dgm:prSet presAssocID="{499E0920-2A09-4BDA-A418-55BA7009A25B}" presName="dummy" presStyleCnt="0"/>
      <dgm:spPr/>
    </dgm:pt>
    <dgm:pt modelId="{F242BCF4-9D98-414C-89B6-807C0CFCC604}" type="pres">
      <dgm:prSet presAssocID="{499E0920-2A09-4BDA-A418-55BA7009A25B}" presName="node" presStyleLbl="revTx" presStyleIdx="13" presStyleCnt="15">
        <dgm:presLayoutVars>
          <dgm:bulletEnabled val="1"/>
        </dgm:presLayoutVars>
      </dgm:prSet>
      <dgm:spPr/>
    </dgm:pt>
    <dgm:pt modelId="{842A7A0B-915F-4F1E-84DF-7CD11B747B2D}" type="pres">
      <dgm:prSet presAssocID="{E8C085F6-AEA9-4532-9CC1-861947DF5A33}" presName="sibTrans" presStyleLbl="node1" presStyleIdx="13" presStyleCnt="15"/>
      <dgm:spPr/>
    </dgm:pt>
    <dgm:pt modelId="{52AA4693-9527-4597-9B7D-B4A6F806D23E}" type="pres">
      <dgm:prSet presAssocID="{8BB10FFC-3592-41DB-928D-12035305802A}" presName="dummy" presStyleCnt="0"/>
      <dgm:spPr/>
    </dgm:pt>
    <dgm:pt modelId="{D1A02D8C-3D09-443C-ADDD-20E348E1B6B5}" type="pres">
      <dgm:prSet presAssocID="{8BB10FFC-3592-41DB-928D-12035305802A}" presName="node" presStyleLbl="revTx" presStyleIdx="14" presStyleCnt="15">
        <dgm:presLayoutVars>
          <dgm:bulletEnabled val="1"/>
        </dgm:presLayoutVars>
      </dgm:prSet>
      <dgm:spPr/>
    </dgm:pt>
    <dgm:pt modelId="{7C9C12E2-F3BD-400F-A9AF-A8FC625F7E22}" type="pres">
      <dgm:prSet presAssocID="{F5FBC746-DFEB-4585-A2D5-FCA84F9FB8A5}" presName="sibTrans" presStyleLbl="node1" presStyleIdx="14" presStyleCnt="15"/>
      <dgm:spPr/>
    </dgm:pt>
  </dgm:ptLst>
  <dgm:cxnLst>
    <dgm:cxn modelId="{C7F13B03-1B7A-4D84-9D71-79844FC9CF14}" type="presOf" srcId="{C76ACDEB-F4E3-4471-9C94-5B92D4B99CFD}" destId="{95E1A359-0462-4886-B5C6-DACB7C5DCB26}" srcOrd="0" destOrd="0" presId="urn:microsoft.com/office/officeart/2005/8/layout/cycle1"/>
    <dgm:cxn modelId="{4FD7A505-5E73-4B95-B952-A83E537F51F2}" type="presOf" srcId="{F5FBC746-DFEB-4585-A2D5-FCA84F9FB8A5}" destId="{7C9C12E2-F3BD-400F-A9AF-A8FC625F7E22}" srcOrd="0" destOrd="0" presId="urn:microsoft.com/office/officeart/2005/8/layout/cycle1"/>
    <dgm:cxn modelId="{844F420C-9A30-4A71-8965-E4E7CB43F823}" srcId="{C7156F03-C9FF-47DE-996F-6C4CB9407332}" destId="{51B9E8C9-AA72-470C-81AC-E3BF1C948882}" srcOrd="12" destOrd="0" parTransId="{9A982AEC-A692-4F04-8A4C-8B29F4FF20C6}" sibTransId="{22778919-15D6-42DC-95BF-05E198F97E7E}"/>
    <dgm:cxn modelId="{AA2A590E-B87D-4F08-8A73-348373B0F5E3}" srcId="{C7156F03-C9FF-47DE-996F-6C4CB9407332}" destId="{A9113D0E-FC7D-445C-99E2-30503FC5F803}" srcOrd="3" destOrd="0" parTransId="{3318AE07-DEE7-4595-A7E5-02A0209AD206}" sibTransId="{AF88A5E0-9F0E-4BD5-9AC6-E6760E76807A}"/>
    <dgm:cxn modelId="{79EEC615-1169-4B12-AB3A-D385ACF9DFAC}" srcId="{C7156F03-C9FF-47DE-996F-6C4CB9407332}" destId="{AD659E0D-5F00-43E9-8D49-1528E8629A06}" srcOrd="9" destOrd="0" parTransId="{D25BB81C-048D-4191-9605-89C1A7342293}" sibTransId="{6856750F-3331-4367-8294-3ADCC4FBE930}"/>
    <dgm:cxn modelId="{291CAD1C-CA18-4D80-A582-F7F8326DC028}" type="presOf" srcId="{4A759ADF-90F4-43D5-8434-90F779FE5F80}" destId="{AB0F829E-22FB-40AB-9883-17CFC77C139D}" srcOrd="0" destOrd="0" presId="urn:microsoft.com/office/officeart/2005/8/layout/cycle1"/>
    <dgm:cxn modelId="{E4EC541E-D788-4A69-A4EE-3F0D26266DA3}" type="presOf" srcId="{550872CC-7FC0-4B1A-8A02-F293A4C0C440}" destId="{9C063D39-5887-42DD-B1CF-54F6B46935CB}" srcOrd="0" destOrd="0" presId="urn:microsoft.com/office/officeart/2005/8/layout/cycle1"/>
    <dgm:cxn modelId="{0C839B23-B6F2-4014-925E-BC495FE4FA74}" srcId="{C7156F03-C9FF-47DE-996F-6C4CB9407332}" destId="{728587CE-8ED5-4EB7-8EF1-EFEB879BA27C}" srcOrd="4" destOrd="0" parTransId="{CD546106-CB16-4950-92AB-2245D6BA3FDB}" sibTransId="{4B49DC20-6913-41B3-850A-87002303BCB7}"/>
    <dgm:cxn modelId="{D0D03E32-15EF-4E0B-B15F-785E959A597D}" type="presOf" srcId="{A94F790C-D7E4-495F-838B-6F634D118DFB}" destId="{EAB42A1F-6686-4FD4-8AEE-43C4B1BD6469}" srcOrd="0" destOrd="0" presId="urn:microsoft.com/office/officeart/2005/8/layout/cycle1"/>
    <dgm:cxn modelId="{CBFCBD40-F221-454F-BC04-7E0F98AB3366}" type="presOf" srcId="{28B66CA1-3AE7-49EA-870A-981F31421471}" destId="{BA373CD1-CFCB-4CA6-B4A7-7F10241377B1}" srcOrd="0" destOrd="0" presId="urn:microsoft.com/office/officeart/2005/8/layout/cycle1"/>
    <dgm:cxn modelId="{57F51C61-40F2-432A-B973-89A438FE5431}" type="presOf" srcId="{A9113D0E-FC7D-445C-99E2-30503FC5F803}" destId="{BEBB1447-85D2-442D-9B6E-BE7FA61F4CEE}" srcOrd="0" destOrd="0" presId="urn:microsoft.com/office/officeart/2005/8/layout/cycle1"/>
    <dgm:cxn modelId="{B82B7741-5BAB-410A-BC3E-0AE0B5A40017}" srcId="{C7156F03-C9FF-47DE-996F-6C4CB9407332}" destId="{CEC7E758-5F1B-49F4-8FE7-DD5EE556BB50}" srcOrd="11" destOrd="0" parTransId="{AC8EDBE5-D9B0-40F7-BE72-2E3022FA448D}" sibTransId="{E30BA1CD-7BF6-46DA-A438-ABBB166FEB9D}"/>
    <dgm:cxn modelId="{F24E9E61-DB3C-489C-BF35-9B64D70912FE}" type="presOf" srcId="{856F4895-E11A-4901-AE71-DE8935E4AC6E}" destId="{C82ACCAE-871D-42B5-88AE-16541847DEA2}" srcOrd="0" destOrd="0" presId="urn:microsoft.com/office/officeart/2005/8/layout/cycle1"/>
    <dgm:cxn modelId="{D0A32A66-F040-4583-8227-6C0EAE1081A4}" type="presOf" srcId="{B41CDC72-2B87-4F33-9A9B-D99EB2EB4DEA}" destId="{A9982C20-C4AE-4061-BCE1-5D1FBCC0DD1D}" srcOrd="0" destOrd="0" presId="urn:microsoft.com/office/officeart/2005/8/layout/cycle1"/>
    <dgm:cxn modelId="{3C740867-2A3B-488D-B9B8-1DEB777CFFE2}" type="presOf" srcId="{62B53C66-132A-46E3-B6E0-F7996D05BD73}" destId="{E5ABD3C9-FDAA-458F-8250-EB848E3C568A}" srcOrd="0" destOrd="0" presId="urn:microsoft.com/office/officeart/2005/8/layout/cycle1"/>
    <dgm:cxn modelId="{7DAC8768-B4EA-4BD9-9411-F1BD0EC3919A}" srcId="{C7156F03-C9FF-47DE-996F-6C4CB9407332}" destId="{30A3D753-062F-4696-A34C-F075B36A94E0}" srcOrd="10" destOrd="0" parTransId="{084D1077-65A9-4DB5-89E1-993AE495134C}" sibTransId="{A94F790C-D7E4-495F-838B-6F634D118DFB}"/>
    <dgm:cxn modelId="{D52B366E-B0F7-4860-A06B-F77A2D8677F0}" type="presOf" srcId="{E30BA1CD-7BF6-46DA-A438-ABBB166FEB9D}" destId="{AF323539-7B15-4FEC-AF29-3D9164A85779}" srcOrd="0" destOrd="0" presId="urn:microsoft.com/office/officeart/2005/8/layout/cycle1"/>
    <dgm:cxn modelId="{E16D454E-4B2F-464C-AE80-6C0511A5C18A}" srcId="{C7156F03-C9FF-47DE-996F-6C4CB9407332}" destId="{28B66CA1-3AE7-49EA-870A-981F31421471}" srcOrd="5" destOrd="0" parTransId="{395CA308-DFFD-4A54-8253-C82C2E293DCC}" sibTransId="{340C13DA-947A-45C8-B9B2-15D67C7CCC60}"/>
    <dgm:cxn modelId="{A62CC74E-AF7D-4BC4-B420-6D6A764E19C6}" type="presOf" srcId="{4B49DC20-6913-41B3-850A-87002303BCB7}" destId="{5A0521C7-1A1D-4C10-9F1A-79F9265049B4}" srcOrd="0" destOrd="0" presId="urn:microsoft.com/office/officeart/2005/8/layout/cycle1"/>
    <dgm:cxn modelId="{839DAE51-8F26-4F5E-9F90-7AC460C41E16}" type="presOf" srcId="{51B9E8C9-AA72-470C-81AC-E3BF1C948882}" destId="{9EAD21C1-AD39-4A21-9098-0260A757B7EE}" srcOrd="0" destOrd="0" presId="urn:microsoft.com/office/officeart/2005/8/layout/cycle1"/>
    <dgm:cxn modelId="{52B72654-B3A3-4149-8095-4A0C40C67D49}" type="presOf" srcId="{E5B078C7-2133-4484-9141-3A0F28423329}" destId="{097F36B7-6DA5-4346-910F-6678F9A29065}" srcOrd="0" destOrd="0" presId="urn:microsoft.com/office/officeart/2005/8/layout/cycle1"/>
    <dgm:cxn modelId="{89ADE057-ADA6-4BAE-B609-B98D8D3E357C}" type="presOf" srcId="{6856750F-3331-4367-8294-3ADCC4FBE930}" destId="{6DE20229-5EA5-419D-B3EC-A7F64B1D3FB2}" srcOrd="0" destOrd="0" presId="urn:microsoft.com/office/officeart/2005/8/layout/cycle1"/>
    <dgm:cxn modelId="{6828EA77-173E-4426-BBF1-CFDBC2E8D2DA}" srcId="{C7156F03-C9FF-47DE-996F-6C4CB9407332}" destId="{D3778476-32AD-4B61-A882-61E91FFC719D}" srcOrd="8" destOrd="0" parTransId="{7B6A8A7C-5770-47A1-AB9B-8ECE140442B6}" sibTransId="{B41CDC72-2B87-4F33-9A9B-D99EB2EB4DEA}"/>
    <dgm:cxn modelId="{196BD879-107F-44AD-8BAE-74EF36C6F8F8}" srcId="{C7156F03-C9FF-47DE-996F-6C4CB9407332}" destId="{8BB10FFC-3592-41DB-928D-12035305802A}" srcOrd="14" destOrd="0" parTransId="{66C43806-BD44-442A-96CB-62E3CB79CDB7}" sibTransId="{F5FBC746-DFEB-4585-A2D5-FCA84F9FB8A5}"/>
    <dgm:cxn modelId="{F112227C-A31B-4E7B-9E59-63219CF224F8}" type="presOf" srcId="{728587CE-8ED5-4EB7-8EF1-EFEB879BA27C}" destId="{768DDF01-FE5D-4110-9DC5-8FE64F345A7E}" srcOrd="0" destOrd="0" presId="urn:microsoft.com/office/officeart/2005/8/layout/cycle1"/>
    <dgm:cxn modelId="{5CE43E81-008A-4BEE-B9CE-39CE65F7F864}" srcId="{C7156F03-C9FF-47DE-996F-6C4CB9407332}" destId="{550872CC-7FC0-4B1A-8A02-F293A4C0C440}" srcOrd="0" destOrd="0" parTransId="{A3AE67EB-B430-41FE-8055-8384612AB69E}" sibTransId="{856F4895-E11A-4901-AE71-DE8935E4AC6E}"/>
    <dgm:cxn modelId="{7AE90E88-7751-48CE-85E0-3A2C80370FC7}" srcId="{C7156F03-C9FF-47DE-996F-6C4CB9407332}" destId="{AFEE0C97-E80A-4F35-9502-074A6CFA3E5B}" srcOrd="6" destOrd="0" parTransId="{8D44B273-55D9-4DEE-8204-7DA572C95A4B}" sibTransId="{E5B078C7-2133-4484-9141-3A0F28423329}"/>
    <dgm:cxn modelId="{6D55288A-2515-4B4F-89E0-90E2142FE346}" srcId="{C7156F03-C9FF-47DE-996F-6C4CB9407332}" destId="{499E0920-2A09-4BDA-A418-55BA7009A25B}" srcOrd="13" destOrd="0" parTransId="{ED056147-36DE-4D84-BA71-B4C331C4BB3D}" sibTransId="{E8C085F6-AEA9-4532-9CC1-861947DF5A33}"/>
    <dgm:cxn modelId="{7EC3DC92-6B80-4DA8-89CC-BA23A9967CF0}" type="presOf" srcId="{E8C085F6-AEA9-4532-9CC1-861947DF5A33}" destId="{842A7A0B-915F-4F1E-84DF-7CD11B747B2D}" srcOrd="0" destOrd="0" presId="urn:microsoft.com/office/officeart/2005/8/layout/cycle1"/>
    <dgm:cxn modelId="{A89EB794-5A93-4FFE-8C81-4EE6701A234D}" type="presOf" srcId="{400A7B60-7516-4C0F-AB18-8D1EBC202BAB}" destId="{A17D2EEF-7A4D-4B88-9A97-0121A03110C2}" srcOrd="0" destOrd="0" presId="urn:microsoft.com/office/officeart/2005/8/layout/cycle1"/>
    <dgm:cxn modelId="{4A5C2298-C943-43AD-93D9-C4A0CD6060D9}" type="presOf" srcId="{C7156F03-C9FF-47DE-996F-6C4CB9407332}" destId="{C3BC3813-87B1-468F-959B-5C1614154A52}" srcOrd="0" destOrd="0" presId="urn:microsoft.com/office/officeart/2005/8/layout/cycle1"/>
    <dgm:cxn modelId="{2E3C7AA3-C81C-464C-AC19-4CCB30B6C573}" type="presOf" srcId="{499E0920-2A09-4BDA-A418-55BA7009A25B}" destId="{F242BCF4-9D98-414C-89B6-807C0CFCC604}" srcOrd="0" destOrd="0" presId="urn:microsoft.com/office/officeart/2005/8/layout/cycle1"/>
    <dgm:cxn modelId="{5F601CA5-D538-4B7E-80BD-EDC9EDDDD2EF}" srcId="{C7156F03-C9FF-47DE-996F-6C4CB9407332}" destId="{62B53C66-132A-46E3-B6E0-F7996D05BD73}" srcOrd="2" destOrd="0" parTransId="{D680DB07-1FD5-477D-B8C0-D165FE33211D}" sibTransId="{201F0E3F-DA30-4206-AF38-F95834B44290}"/>
    <dgm:cxn modelId="{B6C7ACAE-47B8-4F5F-BB6E-9212D943BE73}" type="presOf" srcId="{AF88A5E0-9F0E-4BD5-9AC6-E6760E76807A}" destId="{8E066DFC-BF2E-46BF-ABF9-D4629409BA88}" srcOrd="0" destOrd="0" presId="urn:microsoft.com/office/officeart/2005/8/layout/cycle1"/>
    <dgm:cxn modelId="{08F6ACB6-208F-42B6-B5C6-2FDD0C5E7E7F}" type="presOf" srcId="{201F0E3F-DA30-4206-AF38-F95834B44290}" destId="{A94C7CA5-ECBF-4C22-93E8-510A25A1BCE7}" srcOrd="0" destOrd="0" presId="urn:microsoft.com/office/officeart/2005/8/layout/cycle1"/>
    <dgm:cxn modelId="{50F9ECC7-BEF8-46AC-B58E-1A94517C9B52}" type="presOf" srcId="{30A3D753-062F-4696-A34C-F075B36A94E0}" destId="{659EBD3B-796C-40D1-9E97-CF8262F54F81}" srcOrd="0" destOrd="0" presId="urn:microsoft.com/office/officeart/2005/8/layout/cycle1"/>
    <dgm:cxn modelId="{02D715D3-6A8E-45B4-A861-86016FEAD5A4}" type="presOf" srcId="{AF7F5D28-0B3D-464B-9098-DE6681C5E764}" destId="{923EBA41-A37E-4767-90CC-F47060DB0B09}" srcOrd="0" destOrd="0" presId="urn:microsoft.com/office/officeart/2005/8/layout/cycle1"/>
    <dgm:cxn modelId="{57F7ADD3-FF10-49F5-A67E-9EF90DF6D208}" type="presOf" srcId="{AFEE0C97-E80A-4F35-9502-074A6CFA3E5B}" destId="{3D1FEFE2-5B09-461F-AD2E-B148E96A1AC3}" srcOrd="0" destOrd="0" presId="urn:microsoft.com/office/officeart/2005/8/layout/cycle1"/>
    <dgm:cxn modelId="{534B7DD8-9F3E-4DFA-BAB3-A544A50D02BA}" type="presOf" srcId="{340C13DA-947A-45C8-B9B2-15D67C7CCC60}" destId="{180ABFA9-CBAA-44D0-BED3-591AC0EB6AF5}" srcOrd="0" destOrd="0" presId="urn:microsoft.com/office/officeart/2005/8/layout/cycle1"/>
    <dgm:cxn modelId="{D022E6D9-4A9A-41E4-8AC7-A01D12BF7904}" type="presOf" srcId="{D3778476-32AD-4B61-A882-61E91FFC719D}" destId="{4EC0C3C6-3106-49D8-B27A-8EB4378FC92B}" srcOrd="0" destOrd="0" presId="urn:microsoft.com/office/officeart/2005/8/layout/cycle1"/>
    <dgm:cxn modelId="{BF7727DB-511C-4BAE-B151-0F88FC5DFE33}" srcId="{C7156F03-C9FF-47DE-996F-6C4CB9407332}" destId="{4A759ADF-90F4-43D5-8434-90F779FE5F80}" srcOrd="7" destOrd="0" parTransId="{FEAD4A4F-E516-47C6-ACC7-4697741B8493}" sibTransId="{AF7F5D28-0B3D-464B-9098-DE6681C5E764}"/>
    <dgm:cxn modelId="{6FD752DB-DE36-46E3-BF3B-25707EBD860B}" type="presOf" srcId="{8BB10FFC-3592-41DB-928D-12035305802A}" destId="{D1A02D8C-3D09-443C-ADDD-20E348E1B6B5}" srcOrd="0" destOrd="0" presId="urn:microsoft.com/office/officeart/2005/8/layout/cycle1"/>
    <dgm:cxn modelId="{10D970E9-5649-49FD-B244-45447F424398}" srcId="{C7156F03-C9FF-47DE-996F-6C4CB9407332}" destId="{400A7B60-7516-4C0F-AB18-8D1EBC202BAB}" srcOrd="1" destOrd="0" parTransId="{81EAAF05-D13E-4840-9A22-811156B2E446}" sibTransId="{C76ACDEB-F4E3-4471-9C94-5B92D4B99CFD}"/>
    <dgm:cxn modelId="{3A4A3DEB-2FC1-48CC-97E7-63C284EB7A0E}" type="presOf" srcId="{AD659E0D-5F00-43E9-8D49-1528E8629A06}" destId="{893C87CE-7921-417E-B8D5-00A03298771C}" srcOrd="0" destOrd="0" presId="urn:microsoft.com/office/officeart/2005/8/layout/cycle1"/>
    <dgm:cxn modelId="{C15E08F8-26D6-4157-AA85-395DDA4EADD1}" type="presOf" srcId="{CEC7E758-5F1B-49F4-8FE7-DD5EE556BB50}" destId="{12E2F094-F951-4BDF-BA80-E608F954BF23}" srcOrd="0" destOrd="0" presId="urn:microsoft.com/office/officeart/2005/8/layout/cycle1"/>
    <dgm:cxn modelId="{57F01EFF-8AEB-41F8-9F03-D865B5CCBC7E}" type="presOf" srcId="{22778919-15D6-42DC-95BF-05E198F97E7E}" destId="{C951820E-C349-4FC1-8B4C-5BB9C01E5B41}" srcOrd="0" destOrd="0" presId="urn:microsoft.com/office/officeart/2005/8/layout/cycle1"/>
    <dgm:cxn modelId="{6B6740B0-7A22-4206-A3DD-841A6A61BB02}" type="presParOf" srcId="{C3BC3813-87B1-468F-959B-5C1614154A52}" destId="{69868BCE-274A-4995-832D-838B848408C8}" srcOrd="0" destOrd="0" presId="urn:microsoft.com/office/officeart/2005/8/layout/cycle1"/>
    <dgm:cxn modelId="{28CB82AB-F97C-4930-A01E-5D2C6D216C90}" type="presParOf" srcId="{C3BC3813-87B1-468F-959B-5C1614154A52}" destId="{9C063D39-5887-42DD-B1CF-54F6B46935CB}" srcOrd="1" destOrd="0" presId="urn:microsoft.com/office/officeart/2005/8/layout/cycle1"/>
    <dgm:cxn modelId="{E6F40091-5F52-4920-B9D0-A7D63338FD60}" type="presParOf" srcId="{C3BC3813-87B1-468F-959B-5C1614154A52}" destId="{C82ACCAE-871D-42B5-88AE-16541847DEA2}" srcOrd="2" destOrd="0" presId="urn:microsoft.com/office/officeart/2005/8/layout/cycle1"/>
    <dgm:cxn modelId="{DE779F3C-5329-47F5-BD46-D03E67F83834}" type="presParOf" srcId="{C3BC3813-87B1-468F-959B-5C1614154A52}" destId="{465DD463-0497-4E89-BB62-85D96A6E1E26}" srcOrd="3" destOrd="0" presId="urn:microsoft.com/office/officeart/2005/8/layout/cycle1"/>
    <dgm:cxn modelId="{BB6D4040-7E97-4859-B023-8C5A7E247374}" type="presParOf" srcId="{C3BC3813-87B1-468F-959B-5C1614154A52}" destId="{A17D2EEF-7A4D-4B88-9A97-0121A03110C2}" srcOrd="4" destOrd="0" presId="urn:microsoft.com/office/officeart/2005/8/layout/cycle1"/>
    <dgm:cxn modelId="{A5C57E19-BD27-427B-B61E-7DB7F4EE964E}" type="presParOf" srcId="{C3BC3813-87B1-468F-959B-5C1614154A52}" destId="{95E1A359-0462-4886-B5C6-DACB7C5DCB26}" srcOrd="5" destOrd="0" presId="urn:microsoft.com/office/officeart/2005/8/layout/cycle1"/>
    <dgm:cxn modelId="{B3CDC2EF-8881-48FD-B1A0-CC94C908E0DC}" type="presParOf" srcId="{C3BC3813-87B1-468F-959B-5C1614154A52}" destId="{A4D5D52E-6D7B-4F1A-BFCA-56F13FB3C9C4}" srcOrd="6" destOrd="0" presId="urn:microsoft.com/office/officeart/2005/8/layout/cycle1"/>
    <dgm:cxn modelId="{48EF3D50-2C91-4E2B-84CD-F9871499CC98}" type="presParOf" srcId="{C3BC3813-87B1-468F-959B-5C1614154A52}" destId="{E5ABD3C9-FDAA-458F-8250-EB848E3C568A}" srcOrd="7" destOrd="0" presId="urn:microsoft.com/office/officeart/2005/8/layout/cycle1"/>
    <dgm:cxn modelId="{E9CC6AB2-013B-4831-9C5A-B3CC33AB5CEF}" type="presParOf" srcId="{C3BC3813-87B1-468F-959B-5C1614154A52}" destId="{A94C7CA5-ECBF-4C22-93E8-510A25A1BCE7}" srcOrd="8" destOrd="0" presId="urn:microsoft.com/office/officeart/2005/8/layout/cycle1"/>
    <dgm:cxn modelId="{3C21F7A9-27A0-4DF4-AE7B-3FD96A998388}" type="presParOf" srcId="{C3BC3813-87B1-468F-959B-5C1614154A52}" destId="{951561F3-591B-40D8-BDD5-CD7E6406C3C3}" srcOrd="9" destOrd="0" presId="urn:microsoft.com/office/officeart/2005/8/layout/cycle1"/>
    <dgm:cxn modelId="{33B649C7-ADE6-47D5-9FD9-6F33DC39B64B}" type="presParOf" srcId="{C3BC3813-87B1-468F-959B-5C1614154A52}" destId="{BEBB1447-85D2-442D-9B6E-BE7FA61F4CEE}" srcOrd="10" destOrd="0" presId="urn:microsoft.com/office/officeart/2005/8/layout/cycle1"/>
    <dgm:cxn modelId="{34F40324-FED3-439A-B0C0-32914FF98288}" type="presParOf" srcId="{C3BC3813-87B1-468F-959B-5C1614154A52}" destId="{8E066DFC-BF2E-46BF-ABF9-D4629409BA88}" srcOrd="11" destOrd="0" presId="urn:microsoft.com/office/officeart/2005/8/layout/cycle1"/>
    <dgm:cxn modelId="{8369A6A2-BE21-47EE-910F-6626E51EA7A1}" type="presParOf" srcId="{C3BC3813-87B1-468F-959B-5C1614154A52}" destId="{D38A0D72-AFF3-4756-8593-661910171D57}" srcOrd="12" destOrd="0" presId="urn:microsoft.com/office/officeart/2005/8/layout/cycle1"/>
    <dgm:cxn modelId="{B468238F-33C5-4D43-A322-9C47C4262FFC}" type="presParOf" srcId="{C3BC3813-87B1-468F-959B-5C1614154A52}" destId="{768DDF01-FE5D-4110-9DC5-8FE64F345A7E}" srcOrd="13" destOrd="0" presId="urn:microsoft.com/office/officeart/2005/8/layout/cycle1"/>
    <dgm:cxn modelId="{899F5F01-F69C-4B61-951C-B650BAE5D64B}" type="presParOf" srcId="{C3BC3813-87B1-468F-959B-5C1614154A52}" destId="{5A0521C7-1A1D-4C10-9F1A-79F9265049B4}" srcOrd="14" destOrd="0" presId="urn:microsoft.com/office/officeart/2005/8/layout/cycle1"/>
    <dgm:cxn modelId="{6C5173B6-9FBC-4628-87A5-F01B2916AB38}" type="presParOf" srcId="{C3BC3813-87B1-468F-959B-5C1614154A52}" destId="{31D18B25-40BF-4373-AC82-865362F24284}" srcOrd="15" destOrd="0" presId="urn:microsoft.com/office/officeart/2005/8/layout/cycle1"/>
    <dgm:cxn modelId="{AE560BAD-99F9-4F98-9F87-34DC2A4C010D}" type="presParOf" srcId="{C3BC3813-87B1-468F-959B-5C1614154A52}" destId="{BA373CD1-CFCB-4CA6-B4A7-7F10241377B1}" srcOrd="16" destOrd="0" presId="urn:microsoft.com/office/officeart/2005/8/layout/cycle1"/>
    <dgm:cxn modelId="{26587453-4531-4FAD-A79D-27A525A7786C}" type="presParOf" srcId="{C3BC3813-87B1-468F-959B-5C1614154A52}" destId="{180ABFA9-CBAA-44D0-BED3-591AC0EB6AF5}" srcOrd="17" destOrd="0" presId="urn:microsoft.com/office/officeart/2005/8/layout/cycle1"/>
    <dgm:cxn modelId="{8EEDAE2D-B561-4FD5-8999-221CFF99FB7E}" type="presParOf" srcId="{C3BC3813-87B1-468F-959B-5C1614154A52}" destId="{2FA2B909-E803-4369-96BA-FF1A8192BB59}" srcOrd="18" destOrd="0" presId="urn:microsoft.com/office/officeart/2005/8/layout/cycle1"/>
    <dgm:cxn modelId="{CE3A1878-BD65-4C15-866C-648413619AF8}" type="presParOf" srcId="{C3BC3813-87B1-468F-959B-5C1614154A52}" destId="{3D1FEFE2-5B09-461F-AD2E-B148E96A1AC3}" srcOrd="19" destOrd="0" presId="urn:microsoft.com/office/officeart/2005/8/layout/cycle1"/>
    <dgm:cxn modelId="{BE3CE0EB-F433-4B80-BF9F-090E1AF90F38}" type="presParOf" srcId="{C3BC3813-87B1-468F-959B-5C1614154A52}" destId="{097F36B7-6DA5-4346-910F-6678F9A29065}" srcOrd="20" destOrd="0" presId="urn:microsoft.com/office/officeart/2005/8/layout/cycle1"/>
    <dgm:cxn modelId="{D7D6ACB8-F635-42A3-94E7-A8D6D2A7428D}" type="presParOf" srcId="{C3BC3813-87B1-468F-959B-5C1614154A52}" destId="{9160005A-B9AD-4770-8C18-5DD23A106DE8}" srcOrd="21" destOrd="0" presId="urn:microsoft.com/office/officeart/2005/8/layout/cycle1"/>
    <dgm:cxn modelId="{B621B778-352C-4E1E-9BC2-08247411BE04}" type="presParOf" srcId="{C3BC3813-87B1-468F-959B-5C1614154A52}" destId="{AB0F829E-22FB-40AB-9883-17CFC77C139D}" srcOrd="22" destOrd="0" presId="urn:microsoft.com/office/officeart/2005/8/layout/cycle1"/>
    <dgm:cxn modelId="{C8F26947-DC0C-49DF-A03D-7DC3A9C2124A}" type="presParOf" srcId="{C3BC3813-87B1-468F-959B-5C1614154A52}" destId="{923EBA41-A37E-4767-90CC-F47060DB0B09}" srcOrd="23" destOrd="0" presId="urn:microsoft.com/office/officeart/2005/8/layout/cycle1"/>
    <dgm:cxn modelId="{32FFF34C-2CC4-4206-AAD8-9B65EE45B092}" type="presParOf" srcId="{C3BC3813-87B1-468F-959B-5C1614154A52}" destId="{8EBF47F3-481D-485D-B67B-8320E1860838}" srcOrd="24" destOrd="0" presId="urn:microsoft.com/office/officeart/2005/8/layout/cycle1"/>
    <dgm:cxn modelId="{EC283DE3-0E1A-448C-9598-FDBA53B5F54E}" type="presParOf" srcId="{C3BC3813-87B1-468F-959B-5C1614154A52}" destId="{4EC0C3C6-3106-49D8-B27A-8EB4378FC92B}" srcOrd="25" destOrd="0" presId="urn:microsoft.com/office/officeart/2005/8/layout/cycle1"/>
    <dgm:cxn modelId="{9759C531-18C4-4E44-84D1-D9E6EFBA1F6C}" type="presParOf" srcId="{C3BC3813-87B1-468F-959B-5C1614154A52}" destId="{A9982C20-C4AE-4061-BCE1-5D1FBCC0DD1D}" srcOrd="26" destOrd="0" presId="urn:microsoft.com/office/officeart/2005/8/layout/cycle1"/>
    <dgm:cxn modelId="{F9220E83-D6B4-4920-AF33-17506F5DADAF}" type="presParOf" srcId="{C3BC3813-87B1-468F-959B-5C1614154A52}" destId="{637E7F77-9606-4413-B87D-F313CEC55F62}" srcOrd="27" destOrd="0" presId="urn:microsoft.com/office/officeart/2005/8/layout/cycle1"/>
    <dgm:cxn modelId="{150412BD-5829-43FD-A0FF-0A45EDA48548}" type="presParOf" srcId="{C3BC3813-87B1-468F-959B-5C1614154A52}" destId="{893C87CE-7921-417E-B8D5-00A03298771C}" srcOrd="28" destOrd="0" presId="urn:microsoft.com/office/officeart/2005/8/layout/cycle1"/>
    <dgm:cxn modelId="{2693A310-8343-4ABF-8AE2-5F243A30EA2D}" type="presParOf" srcId="{C3BC3813-87B1-468F-959B-5C1614154A52}" destId="{6DE20229-5EA5-419D-B3EC-A7F64B1D3FB2}" srcOrd="29" destOrd="0" presId="urn:microsoft.com/office/officeart/2005/8/layout/cycle1"/>
    <dgm:cxn modelId="{9467B86C-90D1-479F-BD20-E6F5D2224A87}" type="presParOf" srcId="{C3BC3813-87B1-468F-959B-5C1614154A52}" destId="{22D552AD-E3BC-4EF2-BCA5-A75DC66FD831}" srcOrd="30" destOrd="0" presId="urn:microsoft.com/office/officeart/2005/8/layout/cycle1"/>
    <dgm:cxn modelId="{2999D288-3D41-4FAA-BCBD-EBC772F27815}" type="presParOf" srcId="{C3BC3813-87B1-468F-959B-5C1614154A52}" destId="{659EBD3B-796C-40D1-9E97-CF8262F54F81}" srcOrd="31" destOrd="0" presId="urn:microsoft.com/office/officeart/2005/8/layout/cycle1"/>
    <dgm:cxn modelId="{0901DB5F-C462-4DD1-B53B-6F87A3A02B59}" type="presParOf" srcId="{C3BC3813-87B1-468F-959B-5C1614154A52}" destId="{EAB42A1F-6686-4FD4-8AEE-43C4B1BD6469}" srcOrd="32" destOrd="0" presId="urn:microsoft.com/office/officeart/2005/8/layout/cycle1"/>
    <dgm:cxn modelId="{2259D97E-1FE9-49F9-9019-745CE7B08676}" type="presParOf" srcId="{C3BC3813-87B1-468F-959B-5C1614154A52}" destId="{DE0D3C5D-39EE-4DE9-9BA8-A8D38B83B76E}" srcOrd="33" destOrd="0" presId="urn:microsoft.com/office/officeart/2005/8/layout/cycle1"/>
    <dgm:cxn modelId="{33D85D5B-1EB9-4BED-A87B-DB749F275872}" type="presParOf" srcId="{C3BC3813-87B1-468F-959B-5C1614154A52}" destId="{12E2F094-F951-4BDF-BA80-E608F954BF23}" srcOrd="34" destOrd="0" presId="urn:microsoft.com/office/officeart/2005/8/layout/cycle1"/>
    <dgm:cxn modelId="{3D4E5711-5B4D-4D6C-BCC5-4A9F67F45226}" type="presParOf" srcId="{C3BC3813-87B1-468F-959B-5C1614154A52}" destId="{AF323539-7B15-4FEC-AF29-3D9164A85779}" srcOrd="35" destOrd="0" presId="urn:microsoft.com/office/officeart/2005/8/layout/cycle1"/>
    <dgm:cxn modelId="{91D3F8AE-ACBB-42E4-BC76-346CA2C4FCCE}" type="presParOf" srcId="{C3BC3813-87B1-468F-959B-5C1614154A52}" destId="{99070A43-1F67-46FF-8106-E5540B15FC6F}" srcOrd="36" destOrd="0" presId="urn:microsoft.com/office/officeart/2005/8/layout/cycle1"/>
    <dgm:cxn modelId="{842C4026-AC17-4DAE-A24E-B98D0AE60BBB}" type="presParOf" srcId="{C3BC3813-87B1-468F-959B-5C1614154A52}" destId="{9EAD21C1-AD39-4A21-9098-0260A757B7EE}" srcOrd="37" destOrd="0" presId="urn:microsoft.com/office/officeart/2005/8/layout/cycle1"/>
    <dgm:cxn modelId="{DE35A6BF-4BBC-4158-8029-CAD9C1510B99}" type="presParOf" srcId="{C3BC3813-87B1-468F-959B-5C1614154A52}" destId="{C951820E-C349-4FC1-8B4C-5BB9C01E5B41}" srcOrd="38" destOrd="0" presId="urn:microsoft.com/office/officeart/2005/8/layout/cycle1"/>
    <dgm:cxn modelId="{141EB9C7-7D38-4C84-98A7-F11C36875A6A}" type="presParOf" srcId="{C3BC3813-87B1-468F-959B-5C1614154A52}" destId="{C6C894E0-CD57-4137-B73C-38E5606CD02C}" srcOrd="39" destOrd="0" presId="urn:microsoft.com/office/officeart/2005/8/layout/cycle1"/>
    <dgm:cxn modelId="{1BF1BE26-7DD4-4084-927C-1182D9D99947}" type="presParOf" srcId="{C3BC3813-87B1-468F-959B-5C1614154A52}" destId="{F242BCF4-9D98-414C-89B6-807C0CFCC604}" srcOrd="40" destOrd="0" presId="urn:microsoft.com/office/officeart/2005/8/layout/cycle1"/>
    <dgm:cxn modelId="{926D9C82-8B07-48BE-A38A-7C336C0AFC8D}" type="presParOf" srcId="{C3BC3813-87B1-468F-959B-5C1614154A52}" destId="{842A7A0B-915F-4F1E-84DF-7CD11B747B2D}" srcOrd="41" destOrd="0" presId="urn:microsoft.com/office/officeart/2005/8/layout/cycle1"/>
    <dgm:cxn modelId="{1224EC0A-ED08-46F7-A876-5110F8B7BE15}" type="presParOf" srcId="{C3BC3813-87B1-468F-959B-5C1614154A52}" destId="{52AA4693-9527-4597-9B7D-B4A6F806D23E}" srcOrd="42" destOrd="0" presId="urn:microsoft.com/office/officeart/2005/8/layout/cycle1"/>
    <dgm:cxn modelId="{02FCE17D-B744-4BD6-95EF-672557FA1F96}" type="presParOf" srcId="{C3BC3813-87B1-468F-959B-5C1614154A52}" destId="{D1A02D8C-3D09-443C-ADDD-20E348E1B6B5}" srcOrd="43" destOrd="0" presId="urn:microsoft.com/office/officeart/2005/8/layout/cycle1"/>
    <dgm:cxn modelId="{F639FFAA-9896-4C5F-A5A1-087479C6E15E}" type="presParOf" srcId="{C3BC3813-87B1-468F-959B-5C1614154A52}" destId="{7C9C12E2-F3BD-400F-A9AF-A8FC625F7E22}" srcOrd="4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063D39-5887-42DD-B1CF-54F6B46935CB}">
      <dsp:nvSpPr>
        <dsp:cNvPr id="0" name=""/>
        <dsp:cNvSpPr/>
      </dsp:nvSpPr>
      <dsp:spPr>
        <a:xfrm>
          <a:off x="2709480" y="3952"/>
          <a:ext cx="398625" cy="398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sz="2300" b="0" i="0" u="none" strike="noStrike" kern="1200" cap="none" normalizeH="0" baseline="0">
              <a:ln>
                <a:noFill/>
              </a:ln>
              <a:solidFill>
                <a:srgbClr val="99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0</a:t>
          </a:r>
        </a:p>
      </dsp:txBody>
      <dsp:txXfrm>
        <a:off x="2709480" y="3952"/>
        <a:ext cx="398625" cy="398625"/>
      </dsp:txXfrm>
    </dsp:sp>
    <dsp:sp modelId="{C82ACCAE-871D-42B5-88AE-16541847DEA2}">
      <dsp:nvSpPr>
        <dsp:cNvPr id="0" name=""/>
        <dsp:cNvSpPr/>
      </dsp:nvSpPr>
      <dsp:spPr>
        <a:xfrm>
          <a:off x="276184" y="72952"/>
          <a:ext cx="4387930" cy="4387930"/>
        </a:xfrm>
        <a:prstGeom prst="circularArrow">
          <a:avLst>
            <a:gd name="adj1" fmla="val 1771"/>
            <a:gd name="adj2" fmla="val 105555"/>
            <a:gd name="adj3" fmla="val 17867961"/>
            <a:gd name="adj4" fmla="val 17256049"/>
            <a:gd name="adj5" fmla="val 206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7D2EEF-7A4D-4B88-9A97-0121A03110C2}">
      <dsp:nvSpPr>
        <dsp:cNvPr id="0" name=""/>
        <dsp:cNvSpPr/>
      </dsp:nvSpPr>
      <dsp:spPr>
        <a:xfrm>
          <a:off x="3510920" y="360776"/>
          <a:ext cx="398625" cy="398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sz="2300" b="0" i="0" u="none" strike="noStrike" kern="1200" cap="none" normalizeH="0" baseline="0">
              <a:ln>
                <a:noFill/>
              </a:ln>
              <a:solidFill>
                <a:srgbClr val="99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0</a:t>
          </a:r>
        </a:p>
      </dsp:txBody>
      <dsp:txXfrm>
        <a:off x="3510920" y="360776"/>
        <a:ext cx="398625" cy="398625"/>
      </dsp:txXfrm>
    </dsp:sp>
    <dsp:sp modelId="{95E1A359-0462-4886-B5C6-DACB7C5DCB26}">
      <dsp:nvSpPr>
        <dsp:cNvPr id="0" name=""/>
        <dsp:cNvSpPr/>
      </dsp:nvSpPr>
      <dsp:spPr>
        <a:xfrm>
          <a:off x="276184" y="72952"/>
          <a:ext cx="4387930" cy="4387930"/>
        </a:xfrm>
        <a:prstGeom prst="circularArrow">
          <a:avLst>
            <a:gd name="adj1" fmla="val 1771"/>
            <a:gd name="adj2" fmla="val 105555"/>
            <a:gd name="adj3" fmla="val 19305946"/>
            <a:gd name="adj4" fmla="val 18781217"/>
            <a:gd name="adj5" fmla="val 206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ABD3C9-FDAA-458F-8250-EB848E3C568A}">
      <dsp:nvSpPr>
        <dsp:cNvPr id="0" name=""/>
        <dsp:cNvSpPr/>
      </dsp:nvSpPr>
      <dsp:spPr>
        <a:xfrm>
          <a:off x="4097939" y="1012727"/>
          <a:ext cx="398625" cy="398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sz="2300" b="0" i="0" u="none" strike="noStrike" kern="1200" cap="none" normalizeH="0" baseline="0">
              <a:ln>
                <a:noFill/>
              </a:ln>
              <a:solidFill>
                <a:srgbClr val="99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0</a:t>
          </a:r>
        </a:p>
      </dsp:txBody>
      <dsp:txXfrm>
        <a:off x="4097939" y="1012727"/>
        <a:ext cx="398625" cy="398625"/>
      </dsp:txXfrm>
    </dsp:sp>
    <dsp:sp modelId="{A94C7CA5-ECBF-4C22-93E8-510A25A1BCE7}">
      <dsp:nvSpPr>
        <dsp:cNvPr id="0" name=""/>
        <dsp:cNvSpPr/>
      </dsp:nvSpPr>
      <dsp:spPr>
        <a:xfrm>
          <a:off x="276184" y="72952"/>
          <a:ext cx="4387930" cy="4387930"/>
        </a:xfrm>
        <a:prstGeom prst="circularArrow">
          <a:avLst>
            <a:gd name="adj1" fmla="val 1771"/>
            <a:gd name="adj2" fmla="val 105555"/>
            <a:gd name="adj3" fmla="val 20805735"/>
            <a:gd name="adj4" fmla="val 20164547"/>
            <a:gd name="adj5" fmla="val 206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B1447-85D2-442D-9B6E-BE7FA61F4CEE}">
      <dsp:nvSpPr>
        <dsp:cNvPr id="0" name=""/>
        <dsp:cNvSpPr/>
      </dsp:nvSpPr>
      <dsp:spPr>
        <a:xfrm>
          <a:off x="4369035" y="1847075"/>
          <a:ext cx="398625" cy="398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sz="2300" b="0" i="0" u="none" strike="noStrike" kern="1200" cap="none" normalizeH="0" baseline="0">
              <a:ln>
                <a:noFill/>
              </a:ln>
              <a:solidFill>
                <a:srgbClr val="99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1</a:t>
          </a:r>
        </a:p>
      </dsp:txBody>
      <dsp:txXfrm>
        <a:off x="4369035" y="1847075"/>
        <a:ext cx="398625" cy="398625"/>
      </dsp:txXfrm>
    </dsp:sp>
    <dsp:sp modelId="{8E066DFC-BF2E-46BF-ABF9-D4629409BA88}">
      <dsp:nvSpPr>
        <dsp:cNvPr id="0" name=""/>
        <dsp:cNvSpPr/>
      </dsp:nvSpPr>
      <dsp:spPr>
        <a:xfrm>
          <a:off x="276184" y="72952"/>
          <a:ext cx="4387930" cy="4387930"/>
        </a:xfrm>
        <a:prstGeom prst="circularArrow">
          <a:avLst>
            <a:gd name="adj1" fmla="val 1771"/>
            <a:gd name="adj2" fmla="val 105555"/>
            <a:gd name="adj3" fmla="val 637776"/>
            <a:gd name="adj4" fmla="val 21565428"/>
            <a:gd name="adj5" fmla="val 206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8DDF01-FE5D-4110-9DC5-8FE64F345A7E}">
      <dsp:nvSpPr>
        <dsp:cNvPr id="0" name=""/>
        <dsp:cNvSpPr/>
      </dsp:nvSpPr>
      <dsp:spPr>
        <a:xfrm>
          <a:off x="4277334" y="2719555"/>
          <a:ext cx="398625" cy="398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sz="23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0</a:t>
          </a:r>
        </a:p>
      </dsp:txBody>
      <dsp:txXfrm>
        <a:off x="4277334" y="2719555"/>
        <a:ext cx="398625" cy="398625"/>
      </dsp:txXfrm>
    </dsp:sp>
    <dsp:sp modelId="{5A0521C7-1A1D-4C10-9F1A-79F9265049B4}">
      <dsp:nvSpPr>
        <dsp:cNvPr id="0" name=""/>
        <dsp:cNvSpPr/>
      </dsp:nvSpPr>
      <dsp:spPr>
        <a:xfrm>
          <a:off x="276184" y="72952"/>
          <a:ext cx="4387930" cy="4387930"/>
        </a:xfrm>
        <a:prstGeom prst="circularArrow">
          <a:avLst>
            <a:gd name="adj1" fmla="val 1771"/>
            <a:gd name="adj2" fmla="val 105555"/>
            <a:gd name="adj3" fmla="val 1998989"/>
            <a:gd name="adj4" fmla="val 1427788"/>
            <a:gd name="adj5" fmla="val 206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73CD1-CFCB-4CA6-B4A7-7F10241377B1}">
      <dsp:nvSpPr>
        <dsp:cNvPr id="0" name=""/>
        <dsp:cNvSpPr/>
      </dsp:nvSpPr>
      <dsp:spPr>
        <a:xfrm>
          <a:off x="3838691" y="3479306"/>
          <a:ext cx="398625" cy="398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sz="23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0</a:t>
          </a:r>
        </a:p>
      </dsp:txBody>
      <dsp:txXfrm>
        <a:off x="3838691" y="3479306"/>
        <a:ext cx="398625" cy="398625"/>
      </dsp:txXfrm>
    </dsp:sp>
    <dsp:sp modelId="{180ABFA9-CBAA-44D0-BED3-591AC0EB6AF5}">
      <dsp:nvSpPr>
        <dsp:cNvPr id="0" name=""/>
        <dsp:cNvSpPr/>
      </dsp:nvSpPr>
      <dsp:spPr>
        <a:xfrm>
          <a:off x="276184" y="72952"/>
          <a:ext cx="4387930" cy="4387930"/>
        </a:xfrm>
        <a:prstGeom prst="circularArrow">
          <a:avLst>
            <a:gd name="adj1" fmla="val 1771"/>
            <a:gd name="adj2" fmla="val 105555"/>
            <a:gd name="adj3" fmla="val 3489646"/>
            <a:gd name="adj4" fmla="val 2973503"/>
            <a:gd name="adj5" fmla="val 206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1FEFE2-5B09-461F-AD2E-B148E96A1AC3}">
      <dsp:nvSpPr>
        <dsp:cNvPr id="0" name=""/>
        <dsp:cNvSpPr/>
      </dsp:nvSpPr>
      <dsp:spPr>
        <a:xfrm>
          <a:off x="3128952" y="3994962"/>
          <a:ext cx="398625" cy="398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sz="23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1</a:t>
          </a:r>
        </a:p>
      </dsp:txBody>
      <dsp:txXfrm>
        <a:off x="3128952" y="3994962"/>
        <a:ext cx="398625" cy="398625"/>
      </dsp:txXfrm>
    </dsp:sp>
    <dsp:sp modelId="{097F36B7-6DA5-4346-910F-6678F9A29065}">
      <dsp:nvSpPr>
        <dsp:cNvPr id="0" name=""/>
        <dsp:cNvSpPr/>
      </dsp:nvSpPr>
      <dsp:spPr>
        <a:xfrm>
          <a:off x="276184" y="72952"/>
          <a:ext cx="4387930" cy="4387930"/>
        </a:xfrm>
        <a:prstGeom prst="circularArrow">
          <a:avLst>
            <a:gd name="adj1" fmla="val 1771"/>
            <a:gd name="adj2" fmla="val 105555"/>
            <a:gd name="adj3" fmla="val 4969190"/>
            <a:gd name="adj4" fmla="val 4308254"/>
            <a:gd name="adj5" fmla="val 206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0F829E-22FB-40AB-9883-17CFC77C139D}">
      <dsp:nvSpPr>
        <dsp:cNvPr id="0" name=""/>
        <dsp:cNvSpPr/>
      </dsp:nvSpPr>
      <dsp:spPr>
        <a:xfrm>
          <a:off x="2270837" y="4177360"/>
          <a:ext cx="398625" cy="398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sz="23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1</a:t>
          </a:r>
        </a:p>
      </dsp:txBody>
      <dsp:txXfrm>
        <a:off x="2270837" y="4177360"/>
        <a:ext cx="398625" cy="398625"/>
      </dsp:txXfrm>
    </dsp:sp>
    <dsp:sp modelId="{923EBA41-A37E-4767-90CC-F47060DB0B09}">
      <dsp:nvSpPr>
        <dsp:cNvPr id="0" name=""/>
        <dsp:cNvSpPr/>
      </dsp:nvSpPr>
      <dsp:spPr>
        <a:xfrm>
          <a:off x="276184" y="72952"/>
          <a:ext cx="4387930" cy="4387930"/>
        </a:xfrm>
        <a:prstGeom prst="circularArrow">
          <a:avLst>
            <a:gd name="adj1" fmla="val 1771"/>
            <a:gd name="adj2" fmla="val 105555"/>
            <a:gd name="adj3" fmla="val 6386191"/>
            <a:gd name="adj4" fmla="val 5725256"/>
            <a:gd name="adj5" fmla="val 206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C0C3C6-3106-49D8-B27A-8EB4378FC92B}">
      <dsp:nvSpPr>
        <dsp:cNvPr id="0" name=""/>
        <dsp:cNvSpPr/>
      </dsp:nvSpPr>
      <dsp:spPr>
        <a:xfrm>
          <a:off x="1412722" y="3994962"/>
          <a:ext cx="398625" cy="398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sz="23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0</a:t>
          </a:r>
        </a:p>
      </dsp:txBody>
      <dsp:txXfrm>
        <a:off x="1412722" y="3994962"/>
        <a:ext cx="398625" cy="398625"/>
      </dsp:txXfrm>
    </dsp:sp>
    <dsp:sp modelId="{A9982C20-C4AE-4061-BCE1-5D1FBCC0DD1D}">
      <dsp:nvSpPr>
        <dsp:cNvPr id="0" name=""/>
        <dsp:cNvSpPr/>
      </dsp:nvSpPr>
      <dsp:spPr>
        <a:xfrm>
          <a:off x="276184" y="72952"/>
          <a:ext cx="4387930" cy="4387930"/>
        </a:xfrm>
        <a:prstGeom prst="circularArrow">
          <a:avLst>
            <a:gd name="adj1" fmla="val 1771"/>
            <a:gd name="adj2" fmla="val 105555"/>
            <a:gd name="adj3" fmla="val 7720943"/>
            <a:gd name="adj4" fmla="val 7204799"/>
            <a:gd name="adj5" fmla="val 206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3C87CE-7921-417E-B8D5-00A03298771C}">
      <dsp:nvSpPr>
        <dsp:cNvPr id="0" name=""/>
        <dsp:cNvSpPr/>
      </dsp:nvSpPr>
      <dsp:spPr>
        <a:xfrm>
          <a:off x="702983" y="3479306"/>
          <a:ext cx="398625" cy="398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sz="23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1</a:t>
          </a:r>
        </a:p>
      </dsp:txBody>
      <dsp:txXfrm>
        <a:off x="702983" y="3479306"/>
        <a:ext cx="398625" cy="398625"/>
      </dsp:txXfrm>
    </dsp:sp>
    <dsp:sp modelId="{6DE20229-5EA5-419D-B3EC-A7F64B1D3FB2}">
      <dsp:nvSpPr>
        <dsp:cNvPr id="0" name=""/>
        <dsp:cNvSpPr/>
      </dsp:nvSpPr>
      <dsp:spPr>
        <a:xfrm>
          <a:off x="276184" y="72952"/>
          <a:ext cx="4387930" cy="4387930"/>
        </a:xfrm>
        <a:prstGeom prst="circularArrow">
          <a:avLst>
            <a:gd name="adj1" fmla="val 1771"/>
            <a:gd name="adj2" fmla="val 105555"/>
            <a:gd name="adj3" fmla="val 9266657"/>
            <a:gd name="adj4" fmla="val 8695456"/>
            <a:gd name="adj5" fmla="val 206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9EBD3B-796C-40D1-9E97-CF8262F54F81}">
      <dsp:nvSpPr>
        <dsp:cNvPr id="0" name=""/>
        <dsp:cNvSpPr/>
      </dsp:nvSpPr>
      <dsp:spPr>
        <a:xfrm>
          <a:off x="264340" y="2719555"/>
          <a:ext cx="398625" cy="398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sz="23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0</a:t>
          </a:r>
        </a:p>
      </dsp:txBody>
      <dsp:txXfrm>
        <a:off x="264340" y="2719555"/>
        <a:ext cx="398625" cy="398625"/>
      </dsp:txXfrm>
    </dsp:sp>
    <dsp:sp modelId="{EAB42A1F-6686-4FD4-8AEE-43C4B1BD6469}">
      <dsp:nvSpPr>
        <dsp:cNvPr id="0" name=""/>
        <dsp:cNvSpPr/>
      </dsp:nvSpPr>
      <dsp:spPr>
        <a:xfrm>
          <a:off x="276184" y="72952"/>
          <a:ext cx="4387930" cy="4387930"/>
        </a:xfrm>
        <a:prstGeom prst="circularArrow">
          <a:avLst>
            <a:gd name="adj1" fmla="val 1771"/>
            <a:gd name="adj2" fmla="val 105555"/>
            <a:gd name="adj3" fmla="val 10729018"/>
            <a:gd name="adj4" fmla="val 10056670"/>
            <a:gd name="adj5" fmla="val 206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E2F094-F951-4BDF-BA80-E608F954BF23}">
      <dsp:nvSpPr>
        <dsp:cNvPr id="0" name=""/>
        <dsp:cNvSpPr/>
      </dsp:nvSpPr>
      <dsp:spPr>
        <a:xfrm>
          <a:off x="172639" y="1847075"/>
          <a:ext cx="398625" cy="398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sz="23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1</a:t>
          </a:r>
        </a:p>
      </dsp:txBody>
      <dsp:txXfrm>
        <a:off x="172639" y="1847075"/>
        <a:ext cx="398625" cy="398625"/>
      </dsp:txXfrm>
    </dsp:sp>
    <dsp:sp modelId="{AF323539-7B15-4FEC-AF29-3D9164A85779}">
      <dsp:nvSpPr>
        <dsp:cNvPr id="0" name=""/>
        <dsp:cNvSpPr/>
      </dsp:nvSpPr>
      <dsp:spPr>
        <a:xfrm>
          <a:off x="276184" y="72952"/>
          <a:ext cx="4387930" cy="4387930"/>
        </a:xfrm>
        <a:prstGeom prst="circularArrow">
          <a:avLst>
            <a:gd name="adj1" fmla="val 1771"/>
            <a:gd name="adj2" fmla="val 105555"/>
            <a:gd name="adj3" fmla="val 12129899"/>
            <a:gd name="adj4" fmla="val 11488711"/>
            <a:gd name="adj5" fmla="val 206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AD21C1-AD39-4A21-9098-0260A757B7EE}">
      <dsp:nvSpPr>
        <dsp:cNvPr id="0" name=""/>
        <dsp:cNvSpPr/>
      </dsp:nvSpPr>
      <dsp:spPr>
        <a:xfrm>
          <a:off x="443735" y="1012727"/>
          <a:ext cx="398625" cy="398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sz="23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1</a:t>
          </a:r>
        </a:p>
      </dsp:txBody>
      <dsp:txXfrm>
        <a:off x="443735" y="1012727"/>
        <a:ext cx="398625" cy="398625"/>
      </dsp:txXfrm>
    </dsp:sp>
    <dsp:sp modelId="{C951820E-C349-4FC1-8B4C-5BB9C01E5B41}">
      <dsp:nvSpPr>
        <dsp:cNvPr id="0" name=""/>
        <dsp:cNvSpPr/>
      </dsp:nvSpPr>
      <dsp:spPr>
        <a:xfrm>
          <a:off x="276184" y="72952"/>
          <a:ext cx="4387930" cy="4387930"/>
        </a:xfrm>
        <a:prstGeom prst="circularArrow">
          <a:avLst>
            <a:gd name="adj1" fmla="val 1771"/>
            <a:gd name="adj2" fmla="val 105555"/>
            <a:gd name="adj3" fmla="val 13513229"/>
            <a:gd name="adj4" fmla="val 12988500"/>
            <a:gd name="adj5" fmla="val 206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42BCF4-9D98-414C-89B6-807C0CFCC604}">
      <dsp:nvSpPr>
        <dsp:cNvPr id="0" name=""/>
        <dsp:cNvSpPr/>
      </dsp:nvSpPr>
      <dsp:spPr>
        <a:xfrm>
          <a:off x="1030754" y="360776"/>
          <a:ext cx="398625" cy="398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sz="23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1</a:t>
          </a:r>
        </a:p>
      </dsp:txBody>
      <dsp:txXfrm>
        <a:off x="1030754" y="360776"/>
        <a:ext cx="398625" cy="398625"/>
      </dsp:txXfrm>
    </dsp:sp>
    <dsp:sp modelId="{842A7A0B-915F-4F1E-84DF-7CD11B747B2D}">
      <dsp:nvSpPr>
        <dsp:cNvPr id="0" name=""/>
        <dsp:cNvSpPr/>
      </dsp:nvSpPr>
      <dsp:spPr>
        <a:xfrm>
          <a:off x="276184" y="72952"/>
          <a:ext cx="4387930" cy="4387930"/>
        </a:xfrm>
        <a:prstGeom prst="circularArrow">
          <a:avLst>
            <a:gd name="adj1" fmla="val 1771"/>
            <a:gd name="adj2" fmla="val 105555"/>
            <a:gd name="adj3" fmla="val 15038396"/>
            <a:gd name="adj4" fmla="val 14426485"/>
            <a:gd name="adj5" fmla="val 206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A02D8C-3D09-443C-ADDD-20E348E1B6B5}">
      <dsp:nvSpPr>
        <dsp:cNvPr id="0" name=""/>
        <dsp:cNvSpPr/>
      </dsp:nvSpPr>
      <dsp:spPr>
        <a:xfrm>
          <a:off x="1832194" y="3952"/>
          <a:ext cx="398625" cy="398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en-US" altLang="zh-CN" sz="2300" b="0" i="0" u="none" strike="noStrike" kern="1200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rPr>
            <a:t>1</a:t>
          </a:r>
        </a:p>
      </dsp:txBody>
      <dsp:txXfrm>
        <a:off x="1832194" y="3952"/>
        <a:ext cx="398625" cy="398625"/>
      </dsp:txXfrm>
    </dsp:sp>
    <dsp:sp modelId="{7C9C12E2-F3BD-400F-A9AF-A8FC625F7E22}">
      <dsp:nvSpPr>
        <dsp:cNvPr id="0" name=""/>
        <dsp:cNvSpPr/>
      </dsp:nvSpPr>
      <dsp:spPr>
        <a:xfrm>
          <a:off x="276184" y="72952"/>
          <a:ext cx="4387930" cy="4387930"/>
        </a:xfrm>
        <a:prstGeom prst="circularArrow">
          <a:avLst>
            <a:gd name="adj1" fmla="val 1771"/>
            <a:gd name="adj2" fmla="val 105555"/>
            <a:gd name="adj3" fmla="val 16485264"/>
            <a:gd name="adj4" fmla="val 15809181"/>
            <a:gd name="adj5" fmla="val 2067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28.wmf"/><Relationship Id="rId1" Type="http://schemas.openxmlformats.org/officeDocument/2006/relationships/image" Target="../media/image30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4" Type="http://schemas.openxmlformats.org/officeDocument/2006/relationships/image" Target="../media/image44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2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image" Target="../media/image49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image" Target="../media/image52.e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image" Target="../media/image61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892ACBB-89FA-4F60-A878-B499CE8F833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52D09CF-5452-43C7-8723-DDE400A0A6B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62141861-8698-47A1-8E03-DEBC04B5851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1BFA077C-99A4-4F17-A34A-6E8833A1695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E3152E34-3010-4D95-8349-2C8E9558051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AE3D7D8B-5772-4B12-BB79-FAFCE19BF1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01B84EC-8F0A-4D10-9855-7E1BC0CB05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>
            <a:extLst>
              <a:ext uri="{FF2B5EF4-FFF2-40B4-BE49-F238E27FC236}">
                <a16:creationId xmlns:a16="http://schemas.microsoft.com/office/drawing/2014/main" id="{B08B4F35-DEF5-404A-A491-EEC8DF92E6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备注占位符 2">
            <a:extLst>
              <a:ext uri="{FF2B5EF4-FFF2-40B4-BE49-F238E27FC236}">
                <a16:creationId xmlns:a16="http://schemas.microsoft.com/office/drawing/2014/main" id="{1DBEFFB7-46C1-43E5-A839-8C6A2281E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幻灯片图像占位符 1">
            <a:extLst>
              <a:ext uri="{FF2B5EF4-FFF2-40B4-BE49-F238E27FC236}">
                <a16:creationId xmlns:a16="http://schemas.microsoft.com/office/drawing/2014/main" id="{C1F85F0A-50B4-486E-9042-C8C047CD6F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备注占位符 2">
            <a:extLst>
              <a:ext uri="{FF2B5EF4-FFF2-40B4-BE49-F238E27FC236}">
                <a16:creationId xmlns:a16="http://schemas.microsoft.com/office/drawing/2014/main" id="{B2FC6976-1A6D-4F4A-A2CB-6D00B0FEE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>
            <a:extLst>
              <a:ext uri="{FF2B5EF4-FFF2-40B4-BE49-F238E27FC236}">
                <a16:creationId xmlns:a16="http://schemas.microsoft.com/office/drawing/2014/main" id="{1876C534-2CF3-4D8C-BD23-6C8CC44A69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备注占位符 2">
            <a:extLst>
              <a:ext uri="{FF2B5EF4-FFF2-40B4-BE49-F238E27FC236}">
                <a16:creationId xmlns:a16="http://schemas.microsoft.com/office/drawing/2014/main" id="{57660EF6-B289-4E39-A755-E26D94C3C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772" name="灯片编号占位符 3">
            <a:extLst>
              <a:ext uri="{FF2B5EF4-FFF2-40B4-BE49-F238E27FC236}">
                <a16:creationId xmlns:a16="http://schemas.microsoft.com/office/drawing/2014/main" id="{F74987FB-79AA-4FF5-88EF-A7E251272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910824B-BFB4-457A-B6B2-5877BDDD6F01}" type="slidenum">
              <a:rPr lang="en-US" altLang="zh-CN" smtClean="0">
                <a:latin typeface="Arial" panose="020B0604020202020204" pitchFamily="34" charset="0"/>
              </a:rPr>
              <a:pPr/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>
            <a:extLst>
              <a:ext uri="{FF2B5EF4-FFF2-40B4-BE49-F238E27FC236}">
                <a16:creationId xmlns:a16="http://schemas.microsoft.com/office/drawing/2014/main" id="{156E0C25-64CB-4F31-BA36-E7A170E517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备注占位符 2">
            <a:extLst>
              <a:ext uri="{FF2B5EF4-FFF2-40B4-BE49-F238E27FC236}">
                <a16:creationId xmlns:a16="http://schemas.microsoft.com/office/drawing/2014/main" id="{C4BFF10C-5690-48E6-A391-9C018776E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7892" name="灯片编号占位符 3">
            <a:extLst>
              <a:ext uri="{FF2B5EF4-FFF2-40B4-BE49-F238E27FC236}">
                <a16:creationId xmlns:a16="http://schemas.microsoft.com/office/drawing/2014/main" id="{90733B41-90B4-4B20-90CD-2042D63D7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7D60C1C-B2CF-4E0B-8596-6D61D205E56F}" type="slidenum">
              <a:rPr lang="en-US" altLang="zh-CN" smtClean="0">
                <a:latin typeface="Arial" panose="020B0604020202020204" pitchFamily="34" charset="0"/>
              </a:rPr>
              <a:pPr/>
              <a:t>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>
            <a:extLst>
              <a:ext uri="{FF2B5EF4-FFF2-40B4-BE49-F238E27FC236}">
                <a16:creationId xmlns:a16="http://schemas.microsoft.com/office/drawing/2014/main" id="{DE8A4D5B-1667-4572-B9F0-9EFA253086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备注占位符 2">
            <a:extLst>
              <a:ext uri="{FF2B5EF4-FFF2-40B4-BE49-F238E27FC236}">
                <a16:creationId xmlns:a16="http://schemas.microsoft.com/office/drawing/2014/main" id="{9A599FEB-3539-4147-8389-125EFAE0B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3012" name="灯片编号占位符 3">
            <a:extLst>
              <a:ext uri="{FF2B5EF4-FFF2-40B4-BE49-F238E27FC236}">
                <a16:creationId xmlns:a16="http://schemas.microsoft.com/office/drawing/2014/main" id="{33918725-B0FA-4678-BFE2-3286D52CC5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73BF716-D5D0-4BAC-978F-A83EB375EFF1}" type="slidenum">
              <a:rPr lang="en-US" altLang="zh-CN" smtClean="0">
                <a:latin typeface="Arial" panose="020B0604020202020204" pitchFamily="34" charset="0"/>
              </a:rPr>
              <a:pPr/>
              <a:t>11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94B3323C-9982-499A-A4BE-F9C3ED78AA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151EC06-DA59-4D31-9F79-169E8746AC8F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12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A2BE024C-4DD9-42F0-9F2C-8E481B011D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E894ACC0-4F13-465A-BEB8-412758E70A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1A8EBACC-8E15-4063-B05B-5D18B919B4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3BB741C-B76E-4E61-9499-F7AF47603060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13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EA8FE554-6C82-4DAB-8C89-3A870F63F7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81B5B06E-6C41-429E-A00B-9F0850E354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E22DEF67-9FE8-4520-95A6-33BAB0F01D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41437EE-47EC-43D7-AFAB-35844CF9E59D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14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D02AA8A1-06E1-4FDE-9690-2BB93BA055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13C82237-3B2A-4B47-BF56-56D282609F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18D127E1-7785-4C0B-92B9-3240192B20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47E0FDE3-90D3-46E9-B850-0252E12D6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输出反馈模式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OFB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模式在结构上类似于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CFB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模式，但其反馈的内容是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DES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的输出而不是密文，其反馈的长度可以是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也可以小于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，出于输出值的随机性考虑，建议</a:t>
            </a:r>
            <a:r>
              <a:rPr lang="zh-CN" altLang="zh-CN">
                <a:latin typeface="Arial" panose="020B0604020202020204" pitchFamily="34" charset="0"/>
                <a:ea typeface="宋体" panose="02010600030101010101" pitchFamily="2" charset="-122"/>
              </a:rPr>
              <a:t>采用全</a:t>
            </a:r>
            <a:r>
              <a:rPr lang="es-ES_tradnl" altLang="zh-CN" i="1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zh-CN" altLang="zh-CN">
                <a:latin typeface="Arial" panose="020B0604020202020204" pitchFamily="34" charset="0"/>
                <a:ea typeface="宋体" panose="02010600030101010101" pitchFamily="2" charset="-122"/>
              </a:rPr>
              <a:t>比特反馈的</a:t>
            </a:r>
            <a:r>
              <a:rPr lang="es-ES_tradnl" altLang="zh-CN">
                <a:latin typeface="Arial" panose="020B0604020202020204" pitchFamily="34" charset="0"/>
                <a:ea typeface="宋体" panose="02010600030101010101" pitchFamily="2" charset="-122"/>
              </a:rPr>
              <a:t>OFB</a:t>
            </a:r>
            <a:r>
              <a:rPr lang="zh-CN" altLang="zh-CN">
                <a:latin typeface="Arial" panose="020B0604020202020204" pitchFamily="34" charset="0"/>
                <a:ea typeface="宋体" panose="02010600030101010101" pitchFamily="2" charset="-122"/>
              </a:rPr>
              <a:t>模式。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这样实际上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DES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加密器和明文的加密是相对独立的，他可以看作是一个密钥流生成器。当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r=1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是，它就是一个流密码体制</a:t>
            </a:r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FBFA4D80-5F60-4785-9E60-4D12B6875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FB4F6A8-D348-4CAD-85D5-87379932D313}" type="slidenum">
              <a:rPr lang="en-US" altLang="zh-CN" smtClean="0">
                <a:latin typeface="Arial" panose="020B0604020202020204" pitchFamily="34" charset="0"/>
              </a:rPr>
              <a:pPr/>
              <a:t>15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幻灯片图像占位符 1">
            <a:extLst>
              <a:ext uri="{FF2B5EF4-FFF2-40B4-BE49-F238E27FC236}">
                <a16:creationId xmlns:a16="http://schemas.microsoft.com/office/drawing/2014/main" id="{951AD206-80D5-451E-B518-8B595AE265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备注占位符 2">
            <a:extLst>
              <a:ext uri="{FF2B5EF4-FFF2-40B4-BE49-F238E27FC236}">
                <a16:creationId xmlns:a16="http://schemas.microsoft.com/office/drawing/2014/main" id="{1D4BC421-2827-4226-A208-3BEC87FAE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CFB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模式和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CBC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模式同样需要一个初始向量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IV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。加密过程是这样的，将初始向量放在一个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级移位寄存器当中，每次移位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位。这里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是加密算法的明文分组长度，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是特定格式需求的明文长度。首先对寄存器当前状态进行加密，选取输出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比特中的最左边的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比特作为加密密钥，将其与明文进行以后得到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比特密文。接着对移位寄存器移位，并将这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比特密文移入移位寄存器的右边。对第二组明文加密又重复上述步骤。而解密的时候步骤也是一样的，解密第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个密文之前需要将第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i-1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个密文先移入移位寄存器，在来生成解密密钥进行解密。</a:t>
            </a:r>
          </a:p>
        </p:txBody>
      </p:sp>
      <p:sp>
        <p:nvSpPr>
          <p:cNvPr id="53252" name="灯片编号占位符 3">
            <a:extLst>
              <a:ext uri="{FF2B5EF4-FFF2-40B4-BE49-F238E27FC236}">
                <a16:creationId xmlns:a16="http://schemas.microsoft.com/office/drawing/2014/main" id="{42384958-1F73-47DD-B29B-0DA4D4A36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4CD43FA-8ED2-4C54-8CF4-D3B4C5A79239}" type="slidenum">
              <a:rPr lang="en-US" altLang="zh-CN" smtClean="0">
                <a:latin typeface="Arial" panose="020B0604020202020204" pitchFamily="34" charset="0"/>
              </a:rPr>
              <a:pPr/>
              <a:t>16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F5B54D30-53FE-446C-B69C-4D557E02C7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5EE0B26-558D-4136-AED0-60085B7A3624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17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4F8E737C-0640-4474-A411-EE5EB65DF8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3CE2D177-3060-4A62-B01D-ED3278BC31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94E169F1-2758-4D62-B064-8FC8DC72C5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50BB07F-44CC-4F3F-B8E4-C52B3D6C78B2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18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9513B6FE-734C-499C-888B-D099769A77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9998A167-4AF1-45D3-9760-83663AC253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50237A2C-FB13-46EE-ADAA-1F60B4705E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315FEED-A3FB-4086-8FB5-EF872660A5D4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19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696F8E77-894A-48A0-B296-7AC209F46A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118297C1-8E5E-447D-8D03-2BC9618869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幻灯片图像占位符 1">
            <a:extLst>
              <a:ext uri="{FF2B5EF4-FFF2-40B4-BE49-F238E27FC236}">
                <a16:creationId xmlns:a16="http://schemas.microsoft.com/office/drawing/2014/main" id="{5DD1CDCD-AE5D-47C5-B652-13E3A0BFA1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备注占位符 2">
            <a:extLst>
              <a:ext uri="{FF2B5EF4-FFF2-40B4-BE49-F238E27FC236}">
                <a16:creationId xmlns:a16="http://schemas.microsoft.com/office/drawing/2014/main" id="{20FC9E54-F13B-4C8D-80BD-297708592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幻灯片图像占位符 1">
            <a:extLst>
              <a:ext uri="{FF2B5EF4-FFF2-40B4-BE49-F238E27FC236}">
                <a16:creationId xmlns:a16="http://schemas.microsoft.com/office/drawing/2014/main" id="{FB115519-157B-4ED0-9899-263ADB2203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备注占位符 2">
            <a:extLst>
              <a:ext uri="{FF2B5EF4-FFF2-40B4-BE49-F238E27FC236}">
                <a16:creationId xmlns:a16="http://schemas.microsoft.com/office/drawing/2014/main" id="{07B94C34-13AB-4CE4-9865-002E53A91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3492" name="灯片编号占位符 3">
            <a:extLst>
              <a:ext uri="{FF2B5EF4-FFF2-40B4-BE49-F238E27FC236}">
                <a16:creationId xmlns:a16="http://schemas.microsoft.com/office/drawing/2014/main" id="{06B3943C-13F4-4281-820B-B6F12F44F2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96B6E95-89D0-4D21-9A88-9FA7AC0309D1}" type="slidenum">
              <a:rPr lang="en-US" altLang="zh-CN" smtClean="0">
                <a:latin typeface="Arial" panose="020B0604020202020204" pitchFamily="34" charset="0"/>
              </a:rPr>
              <a:pPr/>
              <a:t>21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476E8326-701D-4350-8FE2-083FCA8888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E100659-E769-4D32-86EE-FB5343FAF117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30</a:t>
            </a:fld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289ECA98-B6DB-4343-B466-E66CA8C15B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10D3A944-A708-4591-B013-E9EB28EA5A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>
            <a:extLst>
              <a:ext uri="{FF2B5EF4-FFF2-40B4-BE49-F238E27FC236}">
                <a16:creationId xmlns:a16="http://schemas.microsoft.com/office/drawing/2014/main" id="{B7935D7D-66ED-4626-8D05-041F84BB3F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>
            <a:extLst>
              <a:ext uri="{FF2B5EF4-FFF2-40B4-BE49-F238E27FC236}">
                <a16:creationId xmlns:a16="http://schemas.microsoft.com/office/drawing/2014/main" id="{6854B52B-6AAB-4ACC-9E55-D9602385A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4756" name="灯片编号占位符 3">
            <a:extLst>
              <a:ext uri="{FF2B5EF4-FFF2-40B4-BE49-F238E27FC236}">
                <a16:creationId xmlns:a16="http://schemas.microsoft.com/office/drawing/2014/main" id="{BA8A912A-9F6C-4907-BDF1-338E2F91A9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D189DBE-3E3B-4B7F-B9B4-2CC74C6C700A}" type="slidenum">
              <a:rPr lang="en-US" altLang="zh-CN" smtClean="0">
                <a:latin typeface="Arial" panose="020B0604020202020204" pitchFamily="34" charset="0"/>
              </a:rPr>
              <a:pPr/>
              <a:t>31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52DC1162-F468-4AAC-B21A-CE87E6AF82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6A67803-9426-4C29-9685-4780E6C66666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32</a:t>
            </a:fld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70333684-08B8-4BE8-8B58-03FC550CBD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ECFC0328-AE7F-44E5-A3D9-8D0E193A83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249E3562-E08A-4BF3-816E-1E0EF454F7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8FC030F-81C7-48E2-B475-7EF81F0460F9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33</a:t>
            </a:fld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19CDBAC-3527-49C1-A78C-1524FEF364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2F460052-C1D9-41C1-B752-CD8D4A2535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12DAB11B-DAAF-49A4-AE8E-278403FEE4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5696492-FF80-431E-A364-700476D155BC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34</a:t>
            </a:fld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96033EEE-63EE-4306-BC97-0FECA7F222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6DABB900-2A2F-4F81-B233-20916DF8D6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>
            <a:extLst>
              <a:ext uri="{FF2B5EF4-FFF2-40B4-BE49-F238E27FC236}">
                <a16:creationId xmlns:a16="http://schemas.microsoft.com/office/drawing/2014/main" id="{174F7EF3-4762-440F-8143-B22B81AE8D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备注占位符 2">
            <a:extLst>
              <a:ext uri="{FF2B5EF4-FFF2-40B4-BE49-F238E27FC236}">
                <a16:creationId xmlns:a16="http://schemas.microsoft.com/office/drawing/2014/main" id="{FA6D9B10-E9A3-4037-AC92-E6F345CC2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>
            <a:extLst>
              <a:ext uri="{FF2B5EF4-FFF2-40B4-BE49-F238E27FC236}">
                <a16:creationId xmlns:a16="http://schemas.microsoft.com/office/drawing/2014/main" id="{221368FA-4543-4115-B723-840C46F62C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备注占位符 2">
            <a:extLst>
              <a:ext uri="{FF2B5EF4-FFF2-40B4-BE49-F238E27FC236}">
                <a16:creationId xmlns:a16="http://schemas.microsoft.com/office/drawing/2014/main" id="{FF8CF8DD-361A-46BB-AA43-2770D8AB5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7044" name="灯片编号占位符 3">
            <a:extLst>
              <a:ext uri="{FF2B5EF4-FFF2-40B4-BE49-F238E27FC236}">
                <a16:creationId xmlns:a16="http://schemas.microsoft.com/office/drawing/2014/main" id="{FDA10498-C5A7-4B4F-A579-EE93BA717B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BC2A833-92EE-4864-B9CF-2530A7157899}" type="slidenum">
              <a:rPr lang="en-US" altLang="zh-CN" smtClean="0">
                <a:latin typeface="Arial" panose="020B0604020202020204" pitchFamily="34" charset="0"/>
              </a:rPr>
              <a:pPr/>
              <a:t>38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98945247-8A5C-46BA-ADD9-7CEDD371BB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8325212-ADEF-4522-BC24-ABB0526B2B44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39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E311CFE2-3B24-42F8-8248-CFAECE834F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1C9502B5-19F0-474E-B0B4-19F1C34353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9EA1D0DF-A353-49FF-B744-381F1A6C36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AE4BC97-5E18-48FE-8C47-B850B07DFAAD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40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CD44ECD4-AA5A-45C3-8D6F-5DF2311AA0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6395FD3A-BAB0-43AE-B332-4F9B552B08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7A4AD791-C68A-42F4-99E3-0886F33B1E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E6C7B03-90A3-4F7A-A111-E4D2DF0D2E71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41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81F8892-4EBE-4F85-92C2-2ECCE2A9B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99BD4A4-1000-423F-A533-E752064F4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1A00ED2E-FA64-4A82-A077-5544A84137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97A77FF-849E-490C-B57E-895B47927BDB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42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E42E75F2-49A1-4F2A-B950-2B771D3B92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AB05B6F5-2011-44E4-B0B8-492CAB79E1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>
            <a:extLst>
              <a:ext uri="{FF2B5EF4-FFF2-40B4-BE49-F238E27FC236}">
                <a16:creationId xmlns:a16="http://schemas.microsoft.com/office/drawing/2014/main" id="{251885B1-87B1-42B7-8400-44F962E649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>
            <a:extLst>
              <a:ext uri="{FF2B5EF4-FFF2-40B4-BE49-F238E27FC236}">
                <a16:creationId xmlns:a16="http://schemas.microsoft.com/office/drawing/2014/main" id="{262B616D-2E33-4DDE-B600-6C7E4EBE7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7284" name="灯片编号占位符 3">
            <a:extLst>
              <a:ext uri="{FF2B5EF4-FFF2-40B4-BE49-F238E27FC236}">
                <a16:creationId xmlns:a16="http://schemas.microsoft.com/office/drawing/2014/main" id="{95DF1F28-AD63-4D14-AB7B-9B24B247A5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F9720EF-E733-492B-82F9-F338520ADC9A}" type="slidenum">
              <a:rPr lang="en-US" altLang="zh-CN" smtClean="0">
                <a:latin typeface="Arial" panose="020B0604020202020204" pitchFamily="34" charset="0"/>
              </a:rPr>
              <a:pPr/>
              <a:t>43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DDADF3CD-7A86-42BB-A8B6-A6194876BC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9A22370-7CE8-4E56-9ADC-F43AA6D62461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44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181D3474-BF7E-4C59-BEF9-4B1B4AFAC3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F7BD818B-968D-4E76-A9C5-6C5CA1774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BF8019B9-36EE-4E54-988F-0936BE8D5E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92BEE36-26E0-4CB5-BA25-7B6B01325915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CCC01213-A7EF-4BEA-ADA0-09C2034DB6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DC70B79D-4933-4AAE-A158-2A40273A42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DA6E684D-BE5C-4CF3-A7AC-89B2469C26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4A97E23-90F5-4CBE-A993-E643BF2A4C9F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46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ACB07621-25FF-4CA6-8A9C-88A14342E0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1CF61FA2-6A1C-4942-A7AB-9ACF70FBC7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83A6D386-FC30-4A97-95BA-8580B8879D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58AD4C9-52AF-4499-9A58-30929EEE046E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48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39E7F5C7-949B-449E-B38B-412D014A2B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B81DF40F-7D7B-4B03-8C14-D4909DA7C8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148E5A45-8B97-4AAE-B701-EAAB826CA5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89C6D0D-3B9E-4129-81B9-0049EA2EF4D1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50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708C8015-9A06-49F4-B99D-22942F4666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1A047748-449D-4840-8496-A56624A1B5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幻灯片图像占位符 1">
            <a:extLst>
              <a:ext uri="{FF2B5EF4-FFF2-40B4-BE49-F238E27FC236}">
                <a16:creationId xmlns:a16="http://schemas.microsoft.com/office/drawing/2014/main" id="{C226617E-783E-4DE6-BB96-9A41012A99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备注占位符 2">
            <a:extLst>
              <a:ext uri="{FF2B5EF4-FFF2-40B4-BE49-F238E27FC236}">
                <a16:creationId xmlns:a16="http://schemas.microsoft.com/office/drawing/2014/main" id="{BD3B8CEB-4795-49F2-9B5A-4A9A9E7C2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C150ADBA-1284-4C7C-BCC6-41D1091114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DD55ABE-6E90-44D3-87AA-CCD724A2E5F8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52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69038A8C-FABD-425B-A9A4-9121E10341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32F556D6-E636-48FA-A877-5CBBD46389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>
            <a:extLst>
              <a:ext uri="{FF2B5EF4-FFF2-40B4-BE49-F238E27FC236}">
                <a16:creationId xmlns:a16="http://schemas.microsoft.com/office/drawing/2014/main" id="{02E2F7E7-A5D3-4C7F-914E-FBCD68519B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69996B1-7BE7-45E9-B8F5-0F24F3016CDF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54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16739" name="Rectangle 2">
            <a:extLst>
              <a:ext uri="{FF2B5EF4-FFF2-40B4-BE49-F238E27FC236}">
                <a16:creationId xmlns:a16="http://schemas.microsoft.com/office/drawing/2014/main" id="{EA96AE08-7994-4826-904A-1241800050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16740" name="Rectangle 3">
            <a:extLst>
              <a:ext uri="{FF2B5EF4-FFF2-40B4-BE49-F238E27FC236}">
                <a16:creationId xmlns:a16="http://schemas.microsoft.com/office/drawing/2014/main" id="{1C4627AA-CEA3-44A9-A3E3-7F6E51393B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>
            <a:extLst>
              <a:ext uri="{FF2B5EF4-FFF2-40B4-BE49-F238E27FC236}">
                <a16:creationId xmlns:a16="http://schemas.microsoft.com/office/drawing/2014/main" id="{440FD445-D0B5-4805-93FA-6654E8E1D6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492CD25-40E6-4894-8120-3D3CAE5C9B81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18787" name="Rectangle 2">
            <a:extLst>
              <a:ext uri="{FF2B5EF4-FFF2-40B4-BE49-F238E27FC236}">
                <a16:creationId xmlns:a16="http://schemas.microsoft.com/office/drawing/2014/main" id="{24A24AC9-94AA-422E-8933-7A0BE67867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18788" name="Rectangle 3">
            <a:extLst>
              <a:ext uri="{FF2B5EF4-FFF2-40B4-BE49-F238E27FC236}">
                <a16:creationId xmlns:a16="http://schemas.microsoft.com/office/drawing/2014/main" id="{99B705B0-20B6-4958-A8A1-4B35A54B4F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B4006F8B-C0E4-4A3B-9B06-7C828F8D00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3482752-2975-43C1-9172-EC42E42B6D51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57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0670C262-F128-47FE-B05F-A55B33EE05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CE900E2D-141D-4543-8C48-7D0A8EDFB8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276F22B6-D3BC-40BA-8D36-8793A1406D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2C5761D-D68E-42B0-A335-6F56F7F1639E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58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D8A06B39-E1A5-43B4-A3A7-63FCF55BE9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85C263B3-612D-40F1-AAEE-556B737357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45F067DE-7B03-4EF1-8FDE-2B5ADF3CE0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3ACFADB-9ABD-4DA4-B61D-FF08383D31EE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59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F9EB2B8C-768B-47D8-8630-AC4B92C561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69F2F851-CC0B-4EB6-903E-FE7361EBEA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BA3D9DC0-98DB-4B7D-896F-22B1AFE903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F740B05-0E9A-4454-A219-2EE46DD7B746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60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2F7EA241-5775-4A34-ABC1-3A2D5FA295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E6F4A7F2-7ACB-4395-A38A-8A0CB71E7E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4C296D1F-B19A-424D-BD4D-E2ED447BC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2659A94-6B2A-430E-9C50-E6667B5EE020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62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363BEA13-8848-4190-8F55-A54E875B64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0A868A60-585F-4342-986E-8736E7E34B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345EA15E-7BA5-4E7A-A95C-52F8BDCB53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A9EE327-6BD0-4054-A6BA-846D11F4B06D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65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DA095148-8101-4D77-9442-92A5A1DA68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66AEE5D0-86D7-48D5-B845-107EBC4E05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39BD6350-16EF-49DD-B436-CAE16A0727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4BBF40E-8F4F-4B26-8982-76D1D0A94BE6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66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E4429A88-BAEB-4E4E-8EAC-C423B5C797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CA214A25-9EE9-457B-810D-EDF4E043E9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9E41135D-6D8F-45CB-83DE-8E637DF021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B9C9D84-2587-4666-A0F4-D20781B3FB5B}" type="slidenum">
              <a:rPr lang="en-US" altLang="zh-CN" smtClean="0">
                <a:latin typeface="Arial" panose="020B0604020202020204" pitchFamily="34" charset="0"/>
              </a:rPr>
              <a:pPr/>
              <a:t>67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16472CCA-F799-4DDB-8550-822599FB2C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2E4F23C4-8EEC-41D3-A5EE-B3C1630986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6D734234-4271-4AF3-AFE7-13442630C2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E7343CF-868B-438A-8D8D-AC1FE1590F86}" type="slidenum">
              <a:rPr lang="en-US" altLang="zh-CN" smtClean="0">
                <a:latin typeface="Arial" panose="020B0604020202020204" pitchFamily="34" charset="0"/>
              </a:rPr>
              <a:pPr/>
              <a:t>68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29FDE672-276F-4148-8A0B-5A58ADD4C4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8952926F-3FC7-44A1-9790-FF54C06BE3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AA9EF06B-99F9-46DF-BA2A-6EB7C0B5AA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FF926ED-8852-4DA8-8DB5-0D09CEF7EF9D}" type="slidenum">
              <a:rPr lang="en-US" altLang="zh-CN" smtClean="0">
                <a:latin typeface="Arial" panose="020B0604020202020204" pitchFamily="34" charset="0"/>
              </a:rPr>
              <a:pPr/>
              <a:t>69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19C0C619-A501-4249-943B-338C1792C1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5545AC30-C510-4DCD-A952-0E890B3F7B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03C85BFB-50A2-480C-AF7E-6051D02861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7DE2A78-DBFB-4635-8DA8-C52FF72CD0DB}" type="slidenum">
              <a:rPr lang="en-US" altLang="zh-CN" smtClean="0">
                <a:latin typeface="Arial" panose="020B0604020202020204" pitchFamily="34" charset="0"/>
              </a:rPr>
              <a:pPr/>
              <a:t>70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8DB93DB0-A4C0-4C89-B59A-15462904F2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0" y="2400300"/>
            <a:ext cx="0" cy="0"/>
          </a:xfrm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071A1CAE-FD59-499E-B89F-F9F5B5EB2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6262688"/>
            <a:ext cx="1403350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>
            <a:extLst>
              <a:ext uri="{FF2B5EF4-FFF2-40B4-BE49-F238E27FC236}">
                <a16:creationId xmlns:a16="http://schemas.microsoft.com/office/drawing/2014/main" id="{BED41C17-008D-4913-BF8A-13FE078179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0A4374D-5CEC-405A-A066-8B8D9F6678AC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71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46435" name="Rectangle 2">
            <a:extLst>
              <a:ext uri="{FF2B5EF4-FFF2-40B4-BE49-F238E27FC236}">
                <a16:creationId xmlns:a16="http://schemas.microsoft.com/office/drawing/2014/main" id="{D02FCAED-6105-44EF-8E8D-245ED106A8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46436" name="Rectangle 3">
            <a:extLst>
              <a:ext uri="{FF2B5EF4-FFF2-40B4-BE49-F238E27FC236}">
                <a16:creationId xmlns:a16="http://schemas.microsoft.com/office/drawing/2014/main" id="{63877B2A-402A-40FF-971E-186B6A5872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A91799CF-BDE4-4898-B476-AAB4C3379E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0A5363F-EB3B-4777-AB6D-1E791B7B4403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72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0842DF52-1194-44F5-815F-156AEAD56F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41723CF2-1630-434F-AF4E-A719E49838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35E543DA-8872-4B2A-A61D-BFE25BF826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2416D61-F1FB-4829-9E5C-E6BF14E5D01B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73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9FF71926-FF03-4187-88DF-2D89396F60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D8D78270-233F-456A-90CD-5281AF2049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C816D7AF-1846-4D59-BFE7-FE4CF131EE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951068D-EDB5-43B8-B459-60D0A3D8E765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74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178F06A6-B3E9-426E-A5C8-D540027925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B67886B8-CD01-4167-951E-6B560B9A37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4E0AB58B-5F46-4BEB-BAD1-E086A6D7FA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023298F-A118-4063-AF18-87A859C3C9EA}" type="slidenum">
              <a:rPr lang="zh-CN" altLang="en-US" sz="1800">
                <a:latin typeface="Times New Roman" panose="02020603050405020304" pitchFamily="18" charset="0"/>
              </a:rPr>
              <a:pPr/>
              <a:t>75</a:t>
            </a:fld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A0C8B701-8CA8-4607-B4CD-543E829F204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01A5FE6D-B5EF-462E-AFFF-BEFB06CEDB2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09728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>
            <a:extLst>
              <a:ext uri="{FF2B5EF4-FFF2-40B4-BE49-F238E27FC236}">
                <a16:creationId xmlns:a16="http://schemas.microsoft.com/office/drawing/2014/main" id="{7E18914B-C499-424F-9672-C88220C40D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FEFF65-818D-489D-94F6-678C1C5BB912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76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61795" name="Rectangle 2">
            <a:extLst>
              <a:ext uri="{FF2B5EF4-FFF2-40B4-BE49-F238E27FC236}">
                <a16:creationId xmlns:a16="http://schemas.microsoft.com/office/drawing/2014/main" id="{3DC1A125-649E-4FDE-A0D9-17A5072187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61796" name="Rectangle 3">
            <a:extLst>
              <a:ext uri="{FF2B5EF4-FFF2-40B4-BE49-F238E27FC236}">
                <a16:creationId xmlns:a16="http://schemas.microsoft.com/office/drawing/2014/main" id="{0C7DCDE9-A07C-4EC1-B16C-8AE20B6BA8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特征多项式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p(x)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的周期为2</a:t>
            </a:r>
            <a:r>
              <a:rPr lang="en-US" altLang="zh-CN" b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，则定理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3.3,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 序列的周期整除2</a:t>
            </a:r>
            <a:r>
              <a:rPr lang="en-US" altLang="zh-CN" b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291413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AC721FE9-B00C-46C1-8179-28739BEE74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111AEDB-9258-4BC2-A781-C86E9996C89B}" type="slidenum">
              <a:rPr lang="zh-CN" altLang="en-US" sz="1800">
                <a:latin typeface="Times New Roman" panose="02020603050405020304" pitchFamily="18" charset="0"/>
              </a:rPr>
              <a:pPr/>
              <a:t>77</a:t>
            </a:fld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0CA93782-8651-40B1-A3C3-8CD0532C9DC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281253E6-A356-4E92-BDD0-106DE91F5B5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>
            <a:extLst>
              <a:ext uri="{FF2B5EF4-FFF2-40B4-BE49-F238E27FC236}">
                <a16:creationId xmlns:a16="http://schemas.microsoft.com/office/drawing/2014/main" id="{76E2E8B0-D053-4397-88B3-A43503166A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ACC8B30-F93F-4FD7-B33E-491634828116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78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63843" name="Rectangle 2">
            <a:extLst>
              <a:ext uri="{FF2B5EF4-FFF2-40B4-BE49-F238E27FC236}">
                <a16:creationId xmlns:a16="http://schemas.microsoft.com/office/drawing/2014/main" id="{E8945D04-E7D7-4E75-9872-340DB98BB5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63844" name="Rectangle 3">
            <a:extLst>
              <a:ext uri="{FF2B5EF4-FFF2-40B4-BE49-F238E27FC236}">
                <a16:creationId xmlns:a16="http://schemas.microsoft.com/office/drawing/2014/main" id="{96DF5079-24F5-4F79-BB76-3C0038B62F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特征多项式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p(x)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的周期为2</a:t>
            </a:r>
            <a:r>
              <a:rPr lang="en-US" altLang="zh-CN" b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，则定理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3.3,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 序列的周期整除2</a:t>
            </a:r>
            <a:r>
              <a:rPr lang="en-US" altLang="zh-CN" b="1" baseline="3000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>
            <a:extLst>
              <a:ext uri="{FF2B5EF4-FFF2-40B4-BE49-F238E27FC236}">
                <a16:creationId xmlns:a16="http://schemas.microsoft.com/office/drawing/2014/main" id="{0EF31E60-204D-4819-AD73-373B20F663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21AF1E4-1360-47EF-9F0A-FF758DB3F682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79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65891" name="Rectangle 2">
            <a:extLst>
              <a:ext uri="{FF2B5EF4-FFF2-40B4-BE49-F238E27FC236}">
                <a16:creationId xmlns:a16="http://schemas.microsoft.com/office/drawing/2014/main" id="{0949A995-9E00-46D7-8346-7A35AE0EB8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65892" name="Rectangle 3">
            <a:extLst>
              <a:ext uri="{FF2B5EF4-FFF2-40B4-BE49-F238E27FC236}">
                <a16:creationId xmlns:a16="http://schemas.microsoft.com/office/drawing/2014/main" id="{1C9D27B8-127A-4ADC-BB4E-71DC55AAD7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>
            <a:extLst>
              <a:ext uri="{FF2B5EF4-FFF2-40B4-BE49-F238E27FC236}">
                <a16:creationId xmlns:a16="http://schemas.microsoft.com/office/drawing/2014/main" id="{DB91675B-430E-42E9-9531-027C7BAED5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4AC25EA-953A-45EA-9A91-83F505E842E1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80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67939" name="Rectangle 2">
            <a:extLst>
              <a:ext uri="{FF2B5EF4-FFF2-40B4-BE49-F238E27FC236}">
                <a16:creationId xmlns:a16="http://schemas.microsoft.com/office/drawing/2014/main" id="{F7B061A8-469C-4120-BC3C-EDC973D042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67940" name="Rectangle 3">
            <a:extLst>
              <a:ext uri="{FF2B5EF4-FFF2-40B4-BE49-F238E27FC236}">
                <a16:creationId xmlns:a16="http://schemas.microsoft.com/office/drawing/2014/main" id="{993E15CA-DC67-4AAC-B29C-C5F571598E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>
            <a:extLst>
              <a:ext uri="{FF2B5EF4-FFF2-40B4-BE49-F238E27FC236}">
                <a16:creationId xmlns:a16="http://schemas.microsoft.com/office/drawing/2014/main" id="{B1E815B8-2C32-464A-A1BB-E7AADD6D25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AF6B683-9961-473A-8D7B-88DA29D09566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81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69987" name="Rectangle 2">
            <a:extLst>
              <a:ext uri="{FF2B5EF4-FFF2-40B4-BE49-F238E27FC236}">
                <a16:creationId xmlns:a16="http://schemas.microsoft.com/office/drawing/2014/main" id="{ADF1BD24-54DE-4467-8C59-8BDEA9C870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69988" name="Rectangle 3">
            <a:extLst>
              <a:ext uri="{FF2B5EF4-FFF2-40B4-BE49-F238E27FC236}">
                <a16:creationId xmlns:a16="http://schemas.microsoft.com/office/drawing/2014/main" id="{847DA0B7-39C6-4226-ADC6-23DCB6A296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>
            <a:extLst>
              <a:ext uri="{FF2B5EF4-FFF2-40B4-BE49-F238E27FC236}">
                <a16:creationId xmlns:a16="http://schemas.microsoft.com/office/drawing/2014/main" id="{90397FD5-239F-4AF9-A445-F57B83F25E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F1FF919-00DD-44A9-A8F1-6BF533C88053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83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57699" name="Rectangle 2">
            <a:extLst>
              <a:ext uri="{FF2B5EF4-FFF2-40B4-BE49-F238E27FC236}">
                <a16:creationId xmlns:a16="http://schemas.microsoft.com/office/drawing/2014/main" id="{EF427C10-4460-44B2-A308-480E1B75D7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57700" name="Rectangle 3">
            <a:extLst>
              <a:ext uri="{FF2B5EF4-FFF2-40B4-BE49-F238E27FC236}">
                <a16:creationId xmlns:a16="http://schemas.microsoft.com/office/drawing/2014/main" id="{75C9FFB0-C3E0-4F6F-AE9E-5755A3152D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744801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>
            <a:extLst>
              <a:ext uri="{FF2B5EF4-FFF2-40B4-BE49-F238E27FC236}">
                <a16:creationId xmlns:a16="http://schemas.microsoft.com/office/drawing/2014/main" id="{2D826508-A0F4-479E-8264-13E08C70B1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5FBBDE0-4437-413F-A0F2-A90668BC6387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84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72035" name="Rectangle 2">
            <a:extLst>
              <a:ext uri="{FF2B5EF4-FFF2-40B4-BE49-F238E27FC236}">
                <a16:creationId xmlns:a16="http://schemas.microsoft.com/office/drawing/2014/main" id="{22576D55-6758-4689-9113-CC888F1EE6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72036" name="Rectangle 3">
            <a:extLst>
              <a:ext uri="{FF2B5EF4-FFF2-40B4-BE49-F238E27FC236}">
                <a16:creationId xmlns:a16="http://schemas.microsoft.com/office/drawing/2014/main" id="{7C307FE9-2DA8-4B47-B055-CA8E523019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我们曾经给大家介绍过游程的概念，游程指的是连续的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或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的比特串。自相关函数是考察一个序列和它的平移序列之间的关系。</a:t>
            </a:r>
          </a:p>
        </p:txBody>
      </p:sp>
    </p:spTree>
    <p:extLst>
      <p:ext uri="{BB962C8B-B14F-4D97-AF65-F5344CB8AC3E}">
        <p14:creationId xmlns:p14="http://schemas.microsoft.com/office/powerpoint/2010/main" val="246587052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>
            <a:extLst>
              <a:ext uri="{FF2B5EF4-FFF2-40B4-BE49-F238E27FC236}">
                <a16:creationId xmlns:a16="http://schemas.microsoft.com/office/drawing/2014/main" id="{7E9E0C46-77E1-4667-A82E-C4B471223E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CE00A67-2DB9-4211-A1A1-41727C7209F6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85</a:t>
            </a:fld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083" name="Rectangle 2">
            <a:extLst>
              <a:ext uri="{FF2B5EF4-FFF2-40B4-BE49-F238E27FC236}">
                <a16:creationId xmlns:a16="http://schemas.microsoft.com/office/drawing/2014/main" id="{09E49600-72AB-4A42-A132-A4FBFBF01F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74084" name="Rectangle 3">
            <a:extLst>
              <a:ext uri="{FF2B5EF4-FFF2-40B4-BE49-F238E27FC236}">
                <a16:creationId xmlns:a16="http://schemas.microsoft.com/office/drawing/2014/main" id="{52920E42-5432-48F2-BF67-93C8F7921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Golomb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提出了三个随机性公设，说的是在序列的一个周期内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的个数相差至多为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，也就是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出现的概率基本相同，在序列的一个周期内长为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的游程占游程总数的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的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次方分之一，而且等长的游程中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游程的个数和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游程的个数相等。也就是说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在序列中每一个位置上出现的概率相同，第三，异相自相关函数是一个常数，也就是说序列与其平移后的序列作比较，得不到额外的信息。</a:t>
            </a:r>
          </a:p>
        </p:txBody>
      </p:sp>
    </p:spTree>
    <p:extLst>
      <p:ext uri="{BB962C8B-B14F-4D97-AF65-F5344CB8AC3E}">
        <p14:creationId xmlns:p14="http://schemas.microsoft.com/office/powerpoint/2010/main" val="103332347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>
            <a:extLst>
              <a:ext uri="{FF2B5EF4-FFF2-40B4-BE49-F238E27FC236}">
                <a16:creationId xmlns:a16="http://schemas.microsoft.com/office/drawing/2014/main" id="{581DF6D4-3879-45C6-95D7-815826BCA7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5DF90B2-FFC6-4D7D-9211-AD9F88B6C9AB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86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78179" name="Rectangle 2">
            <a:extLst>
              <a:ext uri="{FF2B5EF4-FFF2-40B4-BE49-F238E27FC236}">
                <a16:creationId xmlns:a16="http://schemas.microsoft.com/office/drawing/2014/main" id="{E21F9390-FBE5-4A69-A797-42DAEC7B6B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78180" name="Rectangle 3">
            <a:extLst>
              <a:ext uri="{FF2B5EF4-FFF2-40B4-BE49-F238E27FC236}">
                <a16:creationId xmlns:a16="http://schemas.microsoft.com/office/drawing/2014/main" id="{3187C5C0-553F-463A-8B1E-9548B1DA71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我们说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序列满足</a:t>
            </a: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Golomb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的3个随机性公设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GF(2)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上的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长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序列{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具有如下性质：</a:t>
            </a:r>
            <a:r>
              <a:rPr lang="zh-CN" altLang="en-US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在一个周期内，0、1出现的次数分别为2</a:t>
            </a:r>
            <a:r>
              <a:rPr lang="en-US" altLang="zh-CN" baseline="3000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n-1</a:t>
            </a:r>
            <a:r>
              <a:rPr lang="en-US" altLang="zh-CN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zh-CN" altLang="en-US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和2</a:t>
            </a:r>
            <a:r>
              <a:rPr lang="en-US" altLang="zh-CN" baseline="3000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n-1</a:t>
            </a:r>
            <a:r>
              <a:rPr lang="zh-CN" altLang="en-US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，也就是说</a:t>
            </a:r>
            <a:r>
              <a:rPr lang="en-US" altLang="zh-CN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的个数相差为</a:t>
            </a:r>
            <a:r>
              <a:rPr lang="en-US" altLang="zh-CN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在一个周期内，总游程数为2</a:t>
            </a:r>
            <a:r>
              <a:rPr lang="en-US" altLang="zh-CN" baseline="3000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n-1</a:t>
            </a:r>
            <a:r>
              <a:rPr lang="en-US" altLang="zh-CN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lang="zh-CN" altLang="en-US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对1≤</a:t>
            </a:r>
            <a:r>
              <a:rPr lang="en-US" altLang="zh-CN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i≤n-2，</a:t>
            </a:r>
            <a:r>
              <a:rPr lang="zh-CN" altLang="en-US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长为</a:t>
            </a:r>
            <a:r>
              <a:rPr lang="en-US" altLang="zh-CN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zh-CN" altLang="en-US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的游程有2</a:t>
            </a:r>
            <a:r>
              <a:rPr lang="en-US" altLang="zh-CN" baseline="3000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n-i-1</a:t>
            </a:r>
            <a:r>
              <a:rPr lang="zh-CN" altLang="en-US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个，且0、1游程各半；长为</a:t>
            </a:r>
            <a:r>
              <a:rPr lang="en-US" altLang="zh-CN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n-1</a:t>
            </a:r>
            <a:r>
              <a:rPr lang="zh-CN" altLang="en-US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的0游程一个，长为</a:t>
            </a:r>
            <a:r>
              <a:rPr lang="en-US" altLang="zh-CN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的1游程一个。满足</a:t>
            </a:r>
            <a:r>
              <a:rPr lang="en-US" altLang="zh-CN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Golomb</a:t>
            </a:r>
            <a:r>
              <a:rPr lang="zh-CN" altLang="en-US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公设中的第二条。{</a:t>
            </a:r>
            <a:r>
              <a:rPr lang="en-US" altLang="zh-CN" i="1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baseline="-25000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</a:t>
            </a:r>
            <a:r>
              <a:rPr lang="en-US" altLang="zh-CN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r>
              <a:rPr lang="zh-CN" altLang="en-US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的异相自相关函数为</a:t>
            </a:r>
            <a:r>
              <a:rPr lang="en-US" altLang="zh-CN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zh-CN" altLang="en-US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，满足公设的第三条，而且符合伪随机序列的定义。下面我们来证明一下上述结论。</a:t>
            </a:r>
          </a:p>
          <a:p>
            <a:pPr eaLnBrk="1" hangingPunct="1"/>
            <a:endParaRPr lang="zh-CN" altLang="en-US">
              <a:solidFill>
                <a:srgbClr val="1C1C1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>
            <a:extLst>
              <a:ext uri="{FF2B5EF4-FFF2-40B4-BE49-F238E27FC236}">
                <a16:creationId xmlns:a16="http://schemas.microsoft.com/office/drawing/2014/main" id="{20CC4C54-221D-4C91-8C16-2EE1F2F34A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4C5DF6C-C332-4DB3-A132-D1296837B5BA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87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80227" name="Rectangle 2">
            <a:extLst>
              <a:ext uri="{FF2B5EF4-FFF2-40B4-BE49-F238E27FC236}">
                <a16:creationId xmlns:a16="http://schemas.microsoft.com/office/drawing/2014/main" id="{1C9F06EB-F2B0-4979-BA02-CB7781D32B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60581A0E-12F5-4914-BE3C-B695F5FAE1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indent="-6350" eaLnBrk="1" hangingPunct="1">
              <a:lnSpc>
                <a:spcPct val="125000"/>
              </a:lnSpc>
              <a:buFont typeface="Arial" panose="020B0604020202020204" pitchFamily="34" charset="0"/>
              <a:buNone/>
              <a:defRPr/>
            </a:pPr>
            <a:r>
              <a:rPr lang="zh-CN" altLang="en-US" dirty="0"/>
              <a:t>在</a:t>
            </a:r>
            <a:r>
              <a:rPr lang="en-US" altLang="zh-CN" dirty="0"/>
              <a:t>n</a:t>
            </a:r>
            <a:r>
              <a:rPr lang="zh-CN" altLang="en-US" dirty="0"/>
              <a:t>长</a:t>
            </a:r>
            <a:r>
              <a:rPr lang="en-US" altLang="zh-CN" dirty="0"/>
              <a:t>m</a:t>
            </a:r>
            <a:r>
              <a:rPr lang="zh-CN" altLang="en-US" dirty="0"/>
              <a:t>序列的一个周期内，除了全0状态外，</a:t>
            </a:r>
            <a:r>
              <a:rPr lang="zh-CN" altLang="en-US" dirty="0">
                <a:solidFill>
                  <a:srgbClr val="FF0000"/>
                </a:solidFill>
              </a:rPr>
              <a:t>每个</a:t>
            </a:r>
            <a:r>
              <a:rPr lang="en-US" altLang="zh-CN" dirty="0">
                <a:solidFill>
                  <a:srgbClr val="FF0000"/>
                </a:solidFill>
              </a:rPr>
              <a:t>n</a:t>
            </a:r>
            <a:r>
              <a:rPr lang="zh-CN" altLang="en-US" dirty="0">
                <a:solidFill>
                  <a:srgbClr val="FF0000"/>
                </a:solidFill>
              </a:rPr>
              <a:t>长状态（共2</a:t>
            </a:r>
            <a:r>
              <a:rPr lang="en-US" altLang="zh-CN" baseline="30000" dirty="0">
                <a:solidFill>
                  <a:srgbClr val="FF0000"/>
                </a:solidFill>
              </a:rPr>
              <a:t>n</a:t>
            </a:r>
            <a:r>
              <a:rPr lang="en-US" altLang="zh-CN" dirty="0">
                <a:solidFill>
                  <a:srgbClr val="FF0000"/>
                </a:solidFill>
              </a:rPr>
              <a:t>-1</a:t>
            </a:r>
            <a:r>
              <a:rPr lang="zh-CN" altLang="en-US" dirty="0">
                <a:solidFill>
                  <a:srgbClr val="FF0000"/>
                </a:solidFill>
              </a:rPr>
              <a:t>个）都恰好出现一次。</a:t>
            </a:r>
            <a:r>
              <a:rPr lang="en-US" altLang="zh-CN" dirty="0">
                <a:solidFill>
                  <a:srgbClr val="1C1C1C"/>
                </a:solidFill>
              </a:rPr>
              <a:t>LFSR</a:t>
            </a:r>
            <a:r>
              <a:rPr lang="zh-CN" altLang="en-US" dirty="0">
                <a:solidFill>
                  <a:srgbClr val="1C1C1C"/>
                </a:solidFill>
              </a:rPr>
              <a:t>的输出为每个状态的</a:t>
            </a:r>
            <a:r>
              <a:rPr lang="en-US" altLang="zh-CN" dirty="0">
                <a:solidFill>
                  <a:srgbClr val="1C1C1C"/>
                </a:solidFill>
              </a:rPr>
              <a:t>a</a:t>
            </a:r>
            <a:r>
              <a:rPr lang="en-US" altLang="zh-CN" baseline="-25000" dirty="0">
                <a:solidFill>
                  <a:srgbClr val="1C1C1C"/>
                </a:solidFill>
              </a:rPr>
              <a:t>1</a:t>
            </a:r>
            <a:r>
              <a:rPr lang="zh-CN" altLang="en-US" dirty="0">
                <a:solidFill>
                  <a:srgbClr val="1C1C1C"/>
                </a:solidFill>
              </a:rPr>
              <a:t> ，因此输出为</a:t>
            </a:r>
            <a:r>
              <a:rPr lang="en-US" altLang="zh-CN" dirty="0">
                <a:solidFill>
                  <a:srgbClr val="1C1C1C"/>
                </a:solidFill>
              </a:rPr>
              <a:t>1</a:t>
            </a:r>
            <a:r>
              <a:rPr lang="zh-CN" altLang="en-US" dirty="0">
                <a:solidFill>
                  <a:srgbClr val="1C1C1C"/>
                </a:solidFill>
              </a:rPr>
              <a:t>的状态必然是（**</a:t>
            </a:r>
            <a:r>
              <a:rPr lang="en-US" altLang="zh-CN" dirty="0">
                <a:solidFill>
                  <a:srgbClr val="1C1C1C"/>
                </a:solidFill>
              </a:rPr>
              <a:t>…</a:t>
            </a:r>
            <a:r>
              <a:rPr lang="zh-CN" altLang="en-US" dirty="0">
                <a:solidFill>
                  <a:srgbClr val="1C1C1C"/>
                </a:solidFill>
              </a:rPr>
              <a:t>*</a:t>
            </a:r>
            <a:r>
              <a:rPr lang="en-US" altLang="zh-CN" dirty="0">
                <a:solidFill>
                  <a:srgbClr val="1C1C1C"/>
                </a:solidFill>
              </a:rPr>
              <a:t>1</a:t>
            </a:r>
            <a:r>
              <a:rPr lang="zh-CN" altLang="en-US" dirty="0">
                <a:solidFill>
                  <a:srgbClr val="1C1C1C"/>
                </a:solidFill>
              </a:rPr>
              <a:t>）的形式，</a:t>
            </a:r>
            <a:r>
              <a:rPr lang="en-US" altLang="zh-CN" dirty="0">
                <a:solidFill>
                  <a:srgbClr val="1C1C1C"/>
                </a:solidFill>
              </a:rPr>
              <a:t> </a:t>
            </a:r>
            <a:r>
              <a:rPr lang="zh-CN" altLang="en-US" dirty="0">
                <a:solidFill>
                  <a:srgbClr val="1C1C1C"/>
                </a:solidFill>
              </a:rPr>
              <a:t>而</a:t>
            </a:r>
            <a:r>
              <a:rPr lang="en-US" altLang="zh-CN" dirty="0">
                <a:solidFill>
                  <a:srgbClr val="1C1C1C"/>
                </a:solidFill>
              </a:rPr>
              <a:t>m</a:t>
            </a:r>
            <a:r>
              <a:rPr lang="zh-CN" altLang="en-US" dirty="0">
                <a:solidFill>
                  <a:srgbClr val="1C1C1C"/>
                </a:solidFill>
              </a:rPr>
              <a:t>序列这类状态共有2</a:t>
            </a:r>
            <a:r>
              <a:rPr lang="en-US" altLang="zh-CN" baseline="30000" dirty="0">
                <a:solidFill>
                  <a:srgbClr val="1C1C1C"/>
                </a:solidFill>
              </a:rPr>
              <a:t>n-1</a:t>
            </a:r>
            <a:r>
              <a:rPr lang="zh-CN" altLang="en-US" dirty="0">
                <a:solidFill>
                  <a:srgbClr val="1C1C1C"/>
                </a:solidFill>
              </a:rPr>
              <a:t>个，所以输出中</a:t>
            </a:r>
            <a:r>
              <a:rPr lang="en-US" altLang="zh-CN" dirty="0">
                <a:solidFill>
                  <a:srgbClr val="1C1C1C"/>
                </a:solidFill>
              </a:rPr>
              <a:t>1</a:t>
            </a:r>
            <a:r>
              <a:rPr lang="zh-CN" altLang="en-US" dirty="0">
                <a:solidFill>
                  <a:srgbClr val="1C1C1C"/>
                </a:solidFill>
              </a:rPr>
              <a:t>的个数为</a:t>
            </a:r>
            <a:r>
              <a:rPr lang="zh-CN" altLang="en-US" dirty="0">
                <a:solidFill>
                  <a:srgbClr val="FF0000"/>
                </a:solidFill>
              </a:rPr>
              <a:t>2</a:t>
            </a:r>
            <a:r>
              <a:rPr lang="en-US" altLang="zh-CN" baseline="30000" dirty="0">
                <a:solidFill>
                  <a:srgbClr val="FF0000"/>
                </a:solidFill>
              </a:rPr>
              <a:t>n-1</a:t>
            </a:r>
            <a:r>
              <a:rPr lang="zh-CN" altLang="en-US" dirty="0">
                <a:solidFill>
                  <a:srgbClr val="000000"/>
                </a:solidFill>
              </a:rPr>
              <a:t>个</a:t>
            </a:r>
            <a:r>
              <a:rPr lang="zh-CN" altLang="en-US" dirty="0">
                <a:solidFill>
                  <a:srgbClr val="1C1C1C"/>
                </a:solidFill>
              </a:rPr>
              <a:t>输出为</a:t>
            </a:r>
            <a:r>
              <a:rPr lang="en-US" altLang="zh-CN" dirty="0">
                <a:solidFill>
                  <a:srgbClr val="1C1C1C"/>
                </a:solidFill>
              </a:rPr>
              <a:t>0</a:t>
            </a:r>
            <a:r>
              <a:rPr lang="zh-CN" altLang="en-US" dirty="0">
                <a:solidFill>
                  <a:srgbClr val="1C1C1C"/>
                </a:solidFill>
              </a:rPr>
              <a:t>的状态必然是（**</a:t>
            </a:r>
            <a:r>
              <a:rPr lang="en-US" altLang="zh-CN" dirty="0">
                <a:solidFill>
                  <a:srgbClr val="1C1C1C"/>
                </a:solidFill>
              </a:rPr>
              <a:t>…</a:t>
            </a:r>
            <a:r>
              <a:rPr lang="zh-CN" altLang="en-US" dirty="0">
                <a:solidFill>
                  <a:srgbClr val="1C1C1C"/>
                </a:solidFill>
              </a:rPr>
              <a:t>*</a:t>
            </a:r>
            <a:r>
              <a:rPr lang="en-US" altLang="zh-CN" dirty="0">
                <a:solidFill>
                  <a:srgbClr val="1C1C1C"/>
                </a:solidFill>
              </a:rPr>
              <a:t>0</a:t>
            </a:r>
            <a:r>
              <a:rPr lang="zh-CN" altLang="en-US" dirty="0">
                <a:solidFill>
                  <a:srgbClr val="1C1C1C"/>
                </a:solidFill>
              </a:rPr>
              <a:t>）的形式，而</a:t>
            </a:r>
            <a:r>
              <a:rPr lang="en-US" altLang="zh-CN" dirty="0">
                <a:solidFill>
                  <a:srgbClr val="1C1C1C"/>
                </a:solidFill>
              </a:rPr>
              <a:t>m</a:t>
            </a:r>
            <a:r>
              <a:rPr lang="zh-CN" altLang="en-US" dirty="0">
                <a:solidFill>
                  <a:srgbClr val="1C1C1C"/>
                </a:solidFill>
              </a:rPr>
              <a:t>序列这类状态共有2</a:t>
            </a:r>
            <a:r>
              <a:rPr lang="en-US" altLang="zh-CN" baseline="30000" dirty="0">
                <a:solidFill>
                  <a:srgbClr val="1C1C1C"/>
                </a:solidFill>
              </a:rPr>
              <a:t>n-1</a:t>
            </a:r>
            <a:r>
              <a:rPr lang="en-US" altLang="zh-CN" dirty="0">
                <a:solidFill>
                  <a:srgbClr val="1C1C1C"/>
                </a:solidFill>
              </a:rPr>
              <a:t>-1</a:t>
            </a:r>
            <a:r>
              <a:rPr lang="zh-CN" altLang="en-US" dirty="0">
                <a:solidFill>
                  <a:srgbClr val="1C1C1C"/>
                </a:solidFill>
              </a:rPr>
              <a:t>个（因为不能有全零状态），所以输出中</a:t>
            </a:r>
            <a:r>
              <a:rPr lang="en-US" altLang="zh-CN" dirty="0">
                <a:solidFill>
                  <a:srgbClr val="1C1C1C"/>
                </a:solidFill>
              </a:rPr>
              <a:t>0</a:t>
            </a:r>
            <a:r>
              <a:rPr lang="zh-CN" altLang="en-US" dirty="0">
                <a:solidFill>
                  <a:srgbClr val="1C1C1C"/>
                </a:solidFill>
              </a:rPr>
              <a:t>的个数为</a:t>
            </a:r>
            <a:r>
              <a:rPr lang="zh-CN" altLang="en-US" dirty="0">
                <a:solidFill>
                  <a:srgbClr val="FF0000"/>
                </a:solidFill>
              </a:rPr>
              <a:t>2</a:t>
            </a:r>
            <a:r>
              <a:rPr lang="en-US" altLang="zh-CN" baseline="30000" dirty="0">
                <a:solidFill>
                  <a:srgbClr val="FF0000"/>
                </a:solidFill>
              </a:rPr>
              <a:t>n-1</a:t>
            </a:r>
            <a:r>
              <a:rPr lang="en-US" altLang="zh-CN" dirty="0">
                <a:solidFill>
                  <a:srgbClr val="FF0000"/>
                </a:solidFill>
              </a:rPr>
              <a:t>-1</a:t>
            </a:r>
            <a:r>
              <a:rPr lang="zh-CN" altLang="en-US" dirty="0">
                <a:solidFill>
                  <a:srgbClr val="000000"/>
                </a:solidFill>
              </a:rPr>
              <a:t>个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</a:p>
          <a:p>
            <a:pPr eaLnBrk="1" hangingPunct="1">
              <a:defRPr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>
            <a:extLst>
              <a:ext uri="{FF2B5EF4-FFF2-40B4-BE49-F238E27FC236}">
                <a16:creationId xmlns:a16="http://schemas.microsoft.com/office/drawing/2014/main" id="{9BE52F05-44F4-4B64-9094-1B975171C3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D503B1F-BE6D-4F3E-A0F5-7CC818071750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88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82275" name="Rectangle 2">
            <a:extLst>
              <a:ext uri="{FF2B5EF4-FFF2-40B4-BE49-F238E27FC236}">
                <a16:creationId xmlns:a16="http://schemas.microsoft.com/office/drawing/2014/main" id="{5A75C36C-1F31-41C6-887D-865CDAA913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82276" name="Rectangle 3">
            <a:extLst>
              <a:ext uri="{FF2B5EF4-FFF2-40B4-BE49-F238E27FC236}">
                <a16:creationId xmlns:a16="http://schemas.microsoft.com/office/drawing/2014/main" id="{A3E83346-F2F3-4F69-9B63-CE14F36A4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indent="-6350" eaLnBrk="1" hangingPunct="1">
              <a:lnSpc>
                <a:spcPct val="125000"/>
              </a:lnSpc>
            </a:pP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② 对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n=1,2，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易证结论成立。对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n&gt;2，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当1≤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i≤n-2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时，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长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m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序列的一个周期内，长为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zh-CN" altLang="en-US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的0游程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数目等于序列中如下形式的状态数目： </a:t>
            </a:r>
            <a:r>
              <a:rPr lang="zh-CN" altLang="en-US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100…01*… … *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，其中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n-i-2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个*可任取0或1。这种状态共有2</a:t>
            </a:r>
            <a:r>
              <a:rPr lang="en-US" altLang="zh-CN" baseline="30000">
                <a:latin typeface="Arial" panose="020B0604020202020204" pitchFamily="34" charset="0"/>
                <a:ea typeface="宋体" panose="02010600030101010101" pitchFamily="2" charset="-122"/>
              </a:rPr>
              <a:t>n-i-2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个。同理可得长为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的1游程数目也等于 2</a:t>
            </a:r>
            <a:r>
              <a:rPr lang="en-US" altLang="zh-CN" baseline="30000">
                <a:latin typeface="Arial" panose="020B0604020202020204" pitchFamily="34" charset="0"/>
                <a:ea typeface="宋体" panose="02010600030101010101" pitchFamily="2" charset="-122"/>
              </a:rPr>
              <a:t>n-i-2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所以长为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的游程总数为2</a:t>
            </a:r>
            <a:r>
              <a:rPr lang="en-US" altLang="zh-CN" baseline="30000">
                <a:latin typeface="Arial" panose="020B0604020202020204" pitchFamily="34" charset="0"/>
                <a:ea typeface="宋体" panose="02010600030101010101" pitchFamily="2" charset="-122"/>
              </a:rPr>
              <a:t>n-i-1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。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>
            <a:extLst>
              <a:ext uri="{FF2B5EF4-FFF2-40B4-BE49-F238E27FC236}">
                <a16:creationId xmlns:a16="http://schemas.microsoft.com/office/drawing/2014/main" id="{3C72C0CC-FB88-44BB-A9C9-81246A807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5DDE6B8-120D-4713-A445-5605EBD7A414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89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84323" name="Rectangle 2">
            <a:extLst>
              <a:ext uri="{FF2B5EF4-FFF2-40B4-BE49-F238E27FC236}">
                <a16:creationId xmlns:a16="http://schemas.microsoft.com/office/drawing/2014/main" id="{6336AF95-DF2D-4B3F-9F85-AC9C70DFC5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84324" name="Rectangle 3">
            <a:extLst>
              <a:ext uri="{FF2B5EF4-FFF2-40B4-BE49-F238E27FC236}">
                <a16:creationId xmlns:a16="http://schemas.microsoft.com/office/drawing/2014/main" id="{F01B717C-F652-404F-BE5D-953C3D235B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>
            <a:extLst>
              <a:ext uri="{FF2B5EF4-FFF2-40B4-BE49-F238E27FC236}">
                <a16:creationId xmlns:a16="http://schemas.microsoft.com/office/drawing/2014/main" id="{E3936E9F-A26F-4416-B7C8-876243AD42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6A687E9-EDDF-4D90-A138-5C3496B973F2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90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86371" name="Rectangle 2">
            <a:extLst>
              <a:ext uri="{FF2B5EF4-FFF2-40B4-BE49-F238E27FC236}">
                <a16:creationId xmlns:a16="http://schemas.microsoft.com/office/drawing/2014/main" id="{0CF95C31-4EEC-4DB0-903C-E0286C9394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86372" name="Rectangle 3">
            <a:extLst>
              <a:ext uri="{FF2B5EF4-FFF2-40B4-BE49-F238E27FC236}">
                <a16:creationId xmlns:a16="http://schemas.microsoft.com/office/drawing/2014/main" id="{02A5602D-32CD-4DF3-AFB6-125C0A2261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PPT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>
            <a:extLst>
              <a:ext uri="{FF2B5EF4-FFF2-40B4-BE49-F238E27FC236}">
                <a16:creationId xmlns:a16="http://schemas.microsoft.com/office/drawing/2014/main" id="{A7DC6AB5-4CEB-402D-9219-5294DD3162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C78271A-51B0-4CC4-8A9D-302C688C9C3C}" type="slidenum">
              <a:rPr lang="zh-CN" altLang="en-US" sz="1800">
                <a:latin typeface="Times New Roman" panose="02020603050405020304" pitchFamily="18" charset="0"/>
              </a:rPr>
              <a:pPr/>
              <a:t>91</a:t>
            </a:fld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156675" name="Rectangle 2">
            <a:extLst>
              <a:ext uri="{FF2B5EF4-FFF2-40B4-BE49-F238E27FC236}">
                <a16:creationId xmlns:a16="http://schemas.microsoft.com/office/drawing/2014/main" id="{CC26B2C3-9254-404D-8045-BFAC25C623B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156676" name="Rectangle 3">
            <a:extLst>
              <a:ext uri="{FF2B5EF4-FFF2-40B4-BE49-F238E27FC236}">
                <a16:creationId xmlns:a16="http://schemas.microsoft.com/office/drawing/2014/main" id="{895667EA-E9BF-4F10-A9E0-47218F37498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幻灯片图像占位符 1">
            <a:extLst>
              <a:ext uri="{FF2B5EF4-FFF2-40B4-BE49-F238E27FC236}">
                <a16:creationId xmlns:a16="http://schemas.microsoft.com/office/drawing/2014/main" id="{280342FB-5D45-4782-8555-64A9B22782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7" name="备注占位符 2">
            <a:extLst>
              <a:ext uri="{FF2B5EF4-FFF2-40B4-BE49-F238E27FC236}">
                <a16:creationId xmlns:a16="http://schemas.microsoft.com/office/drawing/2014/main" id="{7198A6BC-C3FD-4968-924A-6705EE26C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同学们大家好，现在这一讲，我们来关注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m-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序列的安全性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幻灯片图像占位符 1">
            <a:extLst>
              <a:ext uri="{FF2B5EF4-FFF2-40B4-BE49-F238E27FC236}">
                <a16:creationId xmlns:a16="http://schemas.microsoft.com/office/drawing/2014/main" id="{BFA2832B-3CE8-47A8-9F1D-16A99F19C8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5" name="备注占位符 2">
            <a:extLst>
              <a:ext uri="{FF2B5EF4-FFF2-40B4-BE49-F238E27FC236}">
                <a16:creationId xmlns:a16="http://schemas.microsoft.com/office/drawing/2014/main" id="{9D2CD8E4-3430-4E44-95E3-BFCFDF99F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M-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序列的安全性方面，我们主要考虑其递推关系式的安全性，已知一段序列，如果知道其反馈多项式，则可以推导出后续序列的值，这对密码体制的安全性有一定的影响。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已知</a:t>
            </a:r>
            <a:r>
              <a:rPr lang="zh-CN" altLang="en-US" sz="24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序列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能否获得相应的</a:t>
            </a:r>
            <a:r>
              <a:rPr lang="zh-CN" altLang="en-US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反馈多项式</a:t>
            </a:r>
            <a:r>
              <a:rPr lang="en-US" altLang="zh-CN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或线性递推式</a:t>
            </a:r>
            <a:r>
              <a:rPr lang="en-US" altLang="zh-CN" sz="2400">
                <a:solidFill>
                  <a:schemeClr val="accent2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呢？目前有两种方法可以尝试，第一种是解方程方法，这种方法要求较为严格，要求知道生成序列的线性反馈移位寄存器的级数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，并且需要获得连续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2n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位的序列。第二种方法是线性反馈移位寄存器的综合解也就是</a:t>
            </a:r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</a:rPr>
              <a:t>Berlekamp-Massey</a:t>
            </a:r>
            <a:r>
              <a:rPr lang="zh-CN" altLang="en-US" sz="2400">
                <a:latin typeface="Arial" panose="020B0604020202020204" pitchFamily="34" charset="0"/>
                <a:ea typeface="宋体" panose="02010600030101010101" pitchFamily="2" charset="-122"/>
              </a:rPr>
              <a:t>算法，给定连续的序列，这种方法可以求出生成该序列的最短的线性反馈移位寄存器</a:t>
            </a:r>
            <a:endParaRPr lang="en-US" altLang="zh-CN" sz="24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2516" name="灯片编号占位符 3">
            <a:extLst>
              <a:ext uri="{FF2B5EF4-FFF2-40B4-BE49-F238E27FC236}">
                <a16:creationId xmlns:a16="http://schemas.microsoft.com/office/drawing/2014/main" id="{2876FF83-CCA6-412B-8479-CE8F9ED5F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C257062-CEFF-4455-B2DE-FC3C195E67A0}" type="slidenum">
              <a:rPr lang="en-US" altLang="zh-CN" smtClean="0">
                <a:latin typeface="Arial" panose="020B0604020202020204" pitchFamily="34" charset="0"/>
              </a:rPr>
              <a:pPr/>
              <a:t>93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幻灯片图像占位符 1">
            <a:extLst>
              <a:ext uri="{FF2B5EF4-FFF2-40B4-BE49-F238E27FC236}">
                <a16:creationId xmlns:a16="http://schemas.microsoft.com/office/drawing/2014/main" id="{CF3A363C-AC6C-4A37-A47C-BB7D75B342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3" name="备注占位符 2">
            <a:extLst>
              <a:ext uri="{FF2B5EF4-FFF2-40B4-BE49-F238E27FC236}">
                <a16:creationId xmlns:a16="http://schemas.microsoft.com/office/drawing/2014/main" id="{A31251A9-310A-48E9-9041-DB8276B2A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首先，来看一下解方程的方法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564" name="灯片编号占位符 3">
            <a:extLst>
              <a:ext uri="{FF2B5EF4-FFF2-40B4-BE49-F238E27FC236}">
                <a16:creationId xmlns:a16="http://schemas.microsoft.com/office/drawing/2014/main" id="{6FB494D0-BE9A-46CB-81F9-4097AC4078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C758121-CAC4-4DE1-9DFA-77C2BEC7DC09}" type="slidenum">
              <a:rPr lang="en-US" altLang="zh-CN" smtClean="0">
                <a:latin typeface="Arial" panose="020B0604020202020204" pitchFamily="34" charset="0"/>
              </a:rPr>
              <a:pPr/>
              <a:t>94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幻灯片图像占位符 1">
            <a:extLst>
              <a:ext uri="{FF2B5EF4-FFF2-40B4-BE49-F238E27FC236}">
                <a16:creationId xmlns:a16="http://schemas.microsoft.com/office/drawing/2014/main" id="{C2AD96FF-F043-4B2F-923B-0329076715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1" name="备注占位符 2">
            <a:extLst>
              <a:ext uri="{FF2B5EF4-FFF2-40B4-BE49-F238E27FC236}">
                <a16:creationId xmlns:a16="http://schemas.microsoft.com/office/drawing/2014/main" id="{A4852C77-472D-4094-85FF-4F0B5D67E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我们通过两个例子来了解其整个过程。</a:t>
            </a:r>
          </a:p>
        </p:txBody>
      </p:sp>
      <p:sp>
        <p:nvSpPr>
          <p:cNvPr id="196612" name="灯片编号占位符 3">
            <a:extLst>
              <a:ext uri="{FF2B5EF4-FFF2-40B4-BE49-F238E27FC236}">
                <a16:creationId xmlns:a16="http://schemas.microsoft.com/office/drawing/2014/main" id="{5202BEAE-2847-4459-953B-1D15F76C4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CD87E09-DDE0-4BA3-856E-A3E64AE1A767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95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>
            <a:extLst>
              <a:ext uri="{FF2B5EF4-FFF2-40B4-BE49-F238E27FC236}">
                <a16:creationId xmlns:a16="http://schemas.microsoft.com/office/drawing/2014/main" id="{20E171A8-7023-4117-B910-69FF755251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83EC61E-E526-442C-826F-AB5202174225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96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98659" name="Rectangle 2">
            <a:extLst>
              <a:ext uri="{FF2B5EF4-FFF2-40B4-BE49-F238E27FC236}">
                <a16:creationId xmlns:a16="http://schemas.microsoft.com/office/drawing/2014/main" id="{51F30CCE-637E-4CE5-990F-938E440941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20C3BA46-3E5B-457E-AE13-A3E88DEFA3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再来看一个例子。</a:t>
            </a:r>
            <a:r>
              <a:rPr lang="zh-CN" altLang="en-US" sz="800" dirty="0"/>
              <a:t>设敌手得到密文串</a:t>
            </a:r>
            <a:r>
              <a:rPr lang="en-US" altLang="zh-CN" sz="800" dirty="0"/>
              <a:t>: </a:t>
            </a:r>
            <a:r>
              <a:rPr lang="en-US" altLang="zh-CN" sz="800" dirty="0">
                <a:solidFill>
                  <a:srgbClr val="FF0000"/>
                </a:solidFill>
              </a:rPr>
              <a:t>101101011110010</a:t>
            </a:r>
            <a:r>
              <a:rPr lang="zh-CN" altLang="en-US" sz="800" dirty="0">
                <a:solidFill>
                  <a:srgbClr val="FF0000"/>
                </a:solidFill>
              </a:rPr>
              <a:t>和</a:t>
            </a:r>
            <a:r>
              <a:rPr lang="zh-CN" altLang="en-US" sz="800" dirty="0"/>
              <a:t>相应的明文串</a:t>
            </a:r>
            <a:r>
              <a:rPr lang="en-US" altLang="zh-CN" sz="800" dirty="0"/>
              <a:t>:</a:t>
            </a:r>
            <a:r>
              <a:rPr lang="en-US" altLang="zh-CN" sz="800" dirty="0">
                <a:solidFill>
                  <a:srgbClr val="FF0000"/>
                </a:solidFill>
              </a:rPr>
              <a:t> 011001111111001</a:t>
            </a:r>
            <a:r>
              <a:rPr lang="zh-CN" altLang="en-US" sz="800" dirty="0">
                <a:solidFill>
                  <a:srgbClr val="FF0000"/>
                </a:solidFill>
              </a:rPr>
              <a:t>，由于流密码算法加密是逐位异或，所以将明文串和密文串异或可得到相应的密钥流，假定密钥流由</a:t>
            </a:r>
            <a:r>
              <a:rPr lang="en-US" altLang="zh-CN" sz="800" dirty="0">
                <a:solidFill>
                  <a:srgbClr val="FF0000"/>
                </a:solidFill>
              </a:rPr>
              <a:t>5</a:t>
            </a:r>
            <a:r>
              <a:rPr lang="zh-CN" altLang="en-US" sz="800" dirty="0">
                <a:solidFill>
                  <a:srgbClr val="FF0000"/>
                </a:solidFill>
              </a:rPr>
              <a:t>级线性反馈移位寄存器来生成。我们根据密钥流前</a:t>
            </a:r>
            <a:r>
              <a:rPr lang="en-US" altLang="zh-CN" sz="800" dirty="0">
                <a:solidFill>
                  <a:srgbClr val="FF0000"/>
                </a:solidFill>
              </a:rPr>
              <a:t>10</a:t>
            </a:r>
            <a:r>
              <a:rPr lang="zh-CN" altLang="en-US" sz="800" dirty="0">
                <a:solidFill>
                  <a:srgbClr val="FF0000"/>
                </a:solidFill>
              </a:rPr>
              <a:t>个比特就可以简易方程，可将其写成矩阵的形式，也就是。。。</a:t>
            </a:r>
            <a:endParaRPr lang="zh-CN" altLang="en-US" sz="800" dirty="0"/>
          </a:p>
          <a:p>
            <a:pPr eaLnBrk="1" hangingPunct="1">
              <a:defRPr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7">
            <a:extLst>
              <a:ext uri="{FF2B5EF4-FFF2-40B4-BE49-F238E27FC236}">
                <a16:creationId xmlns:a16="http://schemas.microsoft.com/office/drawing/2014/main" id="{D5445B46-FFCC-4427-AA08-93592668B3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4F32D6E-2D5B-4AC5-BBE1-D7654850378E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97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0707" name="Rectangle 2">
            <a:extLst>
              <a:ext uri="{FF2B5EF4-FFF2-40B4-BE49-F238E27FC236}">
                <a16:creationId xmlns:a16="http://schemas.microsoft.com/office/drawing/2014/main" id="{6BB6F6E2-1195-44BA-968B-7E1E786456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200708" name="Rectangle 3">
            <a:extLst>
              <a:ext uri="{FF2B5EF4-FFF2-40B4-BE49-F238E27FC236}">
                <a16:creationId xmlns:a16="http://schemas.microsoft.com/office/drawing/2014/main" id="{DFDC2BE4-74D1-4816-9B1C-2AFFC2C9F0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将密钥流的值代入后，求右边这个矩阵的逆，这个矩阵一定是可逆的。我们这里就不去证明了。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7">
            <a:extLst>
              <a:ext uri="{FF2B5EF4-FFF2-40B4-BE49-F238E27FC236}">
                <a16:creationId xmlns:a16="http://schemas.microsoft.com/office/drawing/2014/main" id="{04900A31-F504-49E5-93E0-1060E68A70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4EF1099-1453-44BE-94BE-C16DDE4A27A8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98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02755" name="Rectangle 2">
            <a:extLst>
              <a:ext uri="{FF2B5EF4-FFF2-40B4-BE49-F238E27FC236}">
                <a16:creationId xmlns:a16="http://schemas.microsoft.com/office/drawing/2014/main" id="{3ADFF9B0-5653-4078-9AA5-8490BDBED5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202756" name="Rectangle 3">
            <a:extLst>
              <a:ext uri="{FF2B5EF4-FFF2-40B4-BE49-F238E27FC236}">
                <a16:creationId xmlns:a16="http://schemas.microsoft.com/office/drawing/2014/main" id="{C47A34CE-E042-41A2-AD6F-DB3BF788D1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求得逆矩阵之后，就可以得到反馈多项式的系数了，最后的反馈多项式是。。。。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幻灯片图像占位符 1">
            <a:extLst>
              <a:ext uri="{FF2B5EF4-FFF2-40B4-BE49-F238E27FC236}">
                <a16:creationId xmlns:a16="http://schemas.microsoft.com/office/drawing/2014/main" id="{A162CD82-1747-4777-B7EC-F8A1EEEFF2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3" name="备注占位符 2">
            <a:extLst>
              <a:ext uri="{FF2B5EF4-FFF2-40B4-BE49-F238E27FC236}">
                <a16:creationId xmlns:a16="http://schemas.microsoft.com/office/drawing/2014/main" id="{C5F6A408-DA5C-4FFC-896E-33A068A7E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如果我们不知道所得到的序列的线性反馈移位寄存器的级数，从而也不知道所得到的序列是否长为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2n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，那又该怎么办呢？这种情况下我们可以用线性反馈移位寄存器综合求解方法即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BM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算法来得到生成这段序列的最短的线性反馈移位寄存器</a:t>
            </a:r>
          </a:p>
        </p:txBody>
      </p:sp>
      <p:sp>
        <p:nvSpPr>
          <p:cNvPr id="204804" name="灯片编号占位符 3">
            <a:extLst>
              <a:ext uri="{FF2B5EF4-FFF2-40B4-BE49-F238E27FC236}">
                <a16:creationId xmlns:a16="http://schemas.microsoft.com/office/drawing/2014/main" id="{49FB2EC6-4491-47FD-983F-EA15A8CA5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3BA846E-DAF1-4997-B5DF-77A7785A6266}" type="slidenum">
              <a:rPr lang="en-US" altLang="zh-CN" smtClean="0">
                <a:latin typeface="Arial" panose="020B0604020202020204" pitchFamily="34" charset="0"/>
              </a:rPr>
              <a:pPr/>
              <a:t>99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幻灯片图像占位符 1">
            <a:extLst>
              <a:ext uri="{FF2B5EF4-FFF2-40B4-BE49-F238E27FC236}">
                <a16:creationId xmlns:a16="http://schemas.microsoft.com/office/drawing/2014/main" id="{960AB2A3-116D-4F68-BD2D-6D9343D59A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1" name="备注占位符 2">
            <a:extLst>
              <a:ext uri="{FF2B5EF4-FFF2-40B4-BE49-F238E27FC236}">
                <a16:creationId xmlns:a16="http://schemas.microsoft.com/office/drawing/2014/main" id="{C29BCFB0-0411-4B08-95E7-B6FCC9D65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zh-CN" altLang="en-US" sz="1000">
                <a:latin typeface="Arial" panose="020B0604020202020204" pitchFamily="34" charset="0"/>
                <a:ea typeface="宋体" panose="02010600030101010101" pitchFamily="2" charset="-122"/>
              </a:rPr>
              <a:t>根据密码学的需要，对线性反馈移位寄存器</a:t>
            </a:r>
            <a:r>
              <a:rPr lang="en-US" altLang="zh-CN" sz="1000">
                <a:latin typeface="Arial" panose="020B0604020202020204" pitchFamily="34" charset="0"/>
                <a:ea typeface="宋体" panose="02010600030101010101" pitchFamily="2" charset="-122"/>
              </a:rPr>
              <a:t>(LFSR)</a:t>
            </a:r>
            <a:r>
              <a:rPr lang="zh-CN" altLang="en-US" sz="1000">
                <a:latin typeface="Arial" panose="020B0604020202020204" pitchFamily="34" charset="0"/>
                <a:ea typeface="宋体" panose="02010600030101010101" pitchFamily="2" charset="-122"/>
              </a:rPr>
              <a:t>主要考虑下面两个问题：</a:t>
            </a:r>
            <a:r>
              <a:rPr lang="zh-CN" altLang="en-US" sz="800">
                <a:latin typeface="Arial" panose="020B060402020202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8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800">
                <a:latin typeface="Arial" panose="020B0604020202020204" pitchFamily="34" charset="0"/>
                <a:ea typeface="宋体" panose="02010600030101010101" pitchFamily="2" charset="-122"/>
              </a:rPr>
              <a:t>）如何利用级数尽可能短的</a:t>
            </a:r>
            <a:r>
              <a:rPr lang="en-US" altLang="zh-CN" sz="800">
                <a:latin typeface="Arial" panose="020B0604020202020204" pitchFamily="34" charset="0"/>
                <a:ea typeface="宋体" panose="02010600030101010101" pitchFamily="2" charset="-122"/>
              </a:rPr>
              <a:t>LFSR</a:t>
            </a:r>
            <a:r>
              <a:rPr lang="zh-CN" altLang="en-US" sz="800">
                <a:latin typeface="Arial" panose="020B0604020202020204" pitchFamily="34" charset="0"/>
                <a:ea typeface="宋体" panose="02010600030101010101" pitchFamily="2" charset="-122"/>
              </a:rPr>
              <a:t>产生周期大、随机性能良好的序列。</a:t>
            </a:r>
            <a:r>
              <a:rPr lang="zh-CN" altLang="en-US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这是从密钥生成角度考虑，用最小的代价产生尽可能好的</a:t>
            </a:r>
            <a:r>
              <a:rPr lang="zh-CN" altLang="en-US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、参与密码变换的序列。</a:t>
            </a:r>
            <a:r>
              <a:rPr lang="zh-CN" altLang="en-US" sz="8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8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8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）当已知一个长为</a:t>
            </a:r>
            <a:r>
              <a:rPr lang="en-US" altLang="zh-CN" sz="800" i="1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8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序列</a:t>
            </a:r>
            <a:r>
              <a:rPr lang="en-US" altLang="zh-CN" sz="800" i="1" u="sng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8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时，如何构造一个级数尽可能小的</a:t>
            </a:r>
            <a:r>
              <a:rPr lang="en-US" altLang="zh-CN" sz="8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LFSR</a:t>
            </a:r>
            <a:r>
              <a:rPr lang="zh-CN" altLang="en-US" sz="8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来产生它。</a:t>
            </a:r>
            <a:r>
              <a:rPr lang="zh-CN" altLang="en-US" sz="8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这是从密码分析角度来考虑，要想用线性方法重构密钥序列所必须付出的最小代价。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8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6852" name="灯片编号占位符 3">
            <a:extLst>
              <a:ext uri="{FF2B5EF4-FFF2-40B4-BE49-F238E27FC236}">
                <a16:creationId xmlns:a16="http://schemas.microsoft.com/office/drawing/2014/main" id="{FAC60E03-8AC4-46DC-A395-E16294762E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4142AEF-BE5B-4CFA-98BD-4400A8967F4E}" type="slidenum">
              <a:rPr lang="en-US" altLang="zh-CN" smtClean="0">
                <a:latin typeface="Arial" panose="020B0604020202020204" pitchFamily="34" charset="0"/>
              </a:rPr>
              <a:pPr/>
              <a:t>100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幻灯片图像占位符 1">
            <a:extLst>
              <a:ext uri="{FF2B5EF4-FFF2-40B4-BE49-F238E27FC236}">
                <a16:creationId xmlns:a16="http://schemas.microsoft.com/office/drawing/2014/main" id="{E693EEC4-B36C-480A-92E4-8D694BBED0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备注占位符 2">
            <a:extLst>
              <a:ext uri="{FF2B5EF4-FFF2-40B4-BE49-F238E27FC236}">
                <a16:creationId xmlns:a16="http://schemas.microsoft.com/office/drawing/2014/main" id="{39B566A5-E5C9-4A23-84E7-D31FB2DC2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线性综合解是给定序列后求其特征多项式进而可求出其反馈多项式。</a:t>
            </a:r>
          </a:p>
        </p:txBody>
      </p:sp>
      <p:sp>
        <p:nvSpPr>
          <p:cNvPr id="208900" name="灯片编号占位符 3">
            <a:extLst>
              <a:ext uri="{FF2B5EF4-FFF2-40B4-BE49-F238E27FC236}">
                <a16:creationId xmlns:a16="http://schemas.microsoft.com/office/drawing/2014/main" id="{112C407C-DF24-4F7C-BDDA-C6B516725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84EE0EA-927B-4CAE-80F2-7A7524A2D7FE}" type="slidenum">
              <a:rPr lang="en-US" altLang="zh-CN" smtClean="0">
                <a:latin typeface="Arial" panose="020B0604020202020204" pitchFamily="34" charset="0"/>
              </a:rPr>
              <a:pPr/>
              <a:t>101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幻灯片图像占位符 1">
            <a:extLst>
              <a:ext uri="{FF2B5EF4-FFF2-40B4-BE49-F238E27FC236}">
                <a16:creationId xmlns:a16="http://schemas.microsoft.com/office/drawing/2014/main" id="{202C93B7-16F9-4AE5-873B-B17DC3E307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1971" name="备注占位符 2">
            <a:extLst>
              <a:ext uri="{FF2B5EF4-FFF2-40B4-BE49-F238E27FC236}">
                <a16:creationId xmlns:a16="http://schemas.microsoft.com/office/drawing/2014/main" id="{3F9EB799-0386-4446-9BDE-1307FEF74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BM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算法使用归纳法来求出一系列的线性移位寄存器。这里面每一个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fn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ln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都是产生序列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的前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项的最短线性移位寄存器。在最后得到的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大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大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就是</a:t>
            </a:r>
            <a:r>
              <a:rPr lang="zh-CN" altLang="en-US" sz="10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产生给定</a:t>
            </a:r>
            <a:r>
              <a:rPr lang="en-US" altLang="zh-CN" sz="1000" i="1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10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长二元序列</a:t>
            </a:r>
            <a:r>
              <a:rPr lang="en-US" altLang="zh-CN" sz="1000" i="1" u="sng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000"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的最短的线性移位寄存器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1972" name="灯片编号占位符 3">
            <a:extLst>
              <a:ext uri="{FF2B5EF4-FFF2-40B4-BE49-F238E27FC236}">
                <a16:creationId xmlns:a16="http://schemas.microsoft.com/office/drawing/2014/main" id="{9EBA583E-79AD-45C1-A710-0E4412E085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085235C-2104-43B1-9B0F-A6D585973921}" type="slidenum">
              <a:rPr lang="en-US" altLang="zh-CN" smtClean="0">
                <a:latin typeface="Arial" panose="020B0604020202020204" pitchFamily="34" charset="0"/>
              </a:rPr>
              <a:pPr/>
              <a:t>103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7">
            <a:extLst>
              <a:ext uri="{FF2B5EF4-FFF2-40B4-BE49-F238E27FC236}">
                <a16:creationId xmlns:a16="http://schemas.microsoft.com/office/drawing/2014/main" id="{A304AA94-CCFA-4D6F-BCA3-84A25720B3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A3E615F-8CA7-4FBD-B368-F5F3A097D8BD}" type="slidenum">
              <a:rPr lang="en-US" altLang="zh-CN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106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6067" name="Rectangle 2">
            <a:extLst>
              <a:ext uri="{FF2B5EF4-FFF2-40B4-BE49-F238E27FC236}">
                <a16:creationId xmlns:a16="http://schemas.microsoft.com/office/drawing/2014/main" id="{3E130DF9-4873-48AE-BC50-9E441AA468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6068" name="Rectangle 3">
            <a:extLst>
              <a:ext uri="{FF2B5EF4-FFF2-40B4-BE49-F238E27FC236}">
                <a16:creationId xmlns:a16="http://schemas.microsoft.com/office/drawing/2014/main" id="{EA1FFA0E-EF0B-488A-851B-77478CE15D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3246438"/>
            <a:ext cx="7318375" cy="30749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幻灯片图像占位符 1">
            <a:extLst>
              <a:ext uri="{FF2B5EF4-FFF2-40B4-BE49-F238E27FC236}">
                <a16:creationId xmlns:a16="http://schemas.microsoft.com/office/drawing/2014/main" id="{617B58E6-F797-4098-B6A1-A5AD750EFB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备注占位符 2">
            <a:extLst>
              <a:ext uri="{FF2B5EF4-FFF2-40B4-BE49-F238E27FC236}">
                <a16:creationId xmlns:a16="http://schemas.microsoft.com/office/drawing/2014/main" id="{51E1B969-981E-4DBD-89E3-F53882CAE2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同学们大家好，这一讲我们来看看如何使用多个短的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LFSR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通过非线性组合来生成更长周期的序列</a:t>
            </a: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幻灯片图像占位符 1">
            <a:extLst>
              <a:ext uri="{FF2B5EF4-FFF2-40B4-BE49-F238E27FC236}">
                <a16:creationId xmlns:a16="http://schemas.microsoft.com/office/drawing/2014/main" id="{2C1CF56C-2EE4-431C-988D-A5D091790F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0163" name="备注占位符 2">
            <a:extLst>
              <a:ext uri="{FF2B5EF4-FFF2-40B4-BE49-F238E27FC236}">
                <a16:creationId xmlns:a16="http://schemas.microsoft.com/office/drawing/2014/main" id="{5AD8E64B-AA0B-40AA-B6D4-FFA2042F2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我们曾说过</a:t>
            </a:r>
            <a:r>
              <a:rPr lang="zh-CN" altLang="en-US" b="1">
                <a:latin typeface="Arial" panose="020B0604020202020204" pitchFamily="34" charset="0"/>
                <a:ea typeface="宋体" panose="02010600030101010101" pitchFamily="2" charset="-122"/>
              </a:rPr>
              <a:t>密钥流生成器可分解为驱动子系统和非线性组合子系统。</a:t>
            </a:r>
            <a:r>
              <a:rPr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驱动子系统常用一个或多个线性反馈移位寄存器来实现，而非线性组合子系统用非线性组合函数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F</a:t>
            </a:r>
            <a:r>
              <a:rPr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来实现，为了使密钥流生成器输出的二元序列尽可能复杂，应保证其</a:t>
            </a:r>
            <a:r>
              <a:rPr lang="zh-CN" altLang="en-US" sz="24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周期尽可能大</a:t>
            </a:r>
            <a:r>
              <a:rPr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zh-CN" altLang="en-US" sz="2400" b="1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线性复杂度和不可预测性尽可能高</a:t>
            </a:r>
            <a:endParaRPr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lvl="1"/>
            <a:endParaRPr lang="zh-CN" altLang="en-US" sz="24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0164" name="灯片编号占位符 3">
            <a:extLst>
              <a:ext uri="{FF2B5EF4-FFF2-40B4-BE49-F238E27FC236}">
                <a16:creationId xmlns:a16="http://schemas.microsoft.com/office/drawing/2014/main" id="{827E5B45-D4B5-4EBA-8165-4456A8D3DB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3373945-F703-41BB-A3C8-97474FB63DA8}" type="slidenum">
              <a:rPr lang="en-US" altLang="zh-CN" smtClean="0">
                <a:latin typeface="Arial" panose="020B0604020202020204" pitchFamily="34" charset="0"/>
              </a:rPr>
              <a:pPr/>
              <a:t>108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幻灯片图像占位符 1">
            <a:extLst>
              <a:ext uri="{FF2B5EF4-FFF2-40B4-BE49-F238E27FC236}">
                <a16:creationId xmlns:a16="http://schemas.microsoft.com/office/drawing/2014/main" id="{A3B2EFEC-0A80-49E0-8F7F-AC75C1B7CC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2211" name="备注占位符 2">
            <a:extLst>
              <a:ext uri="{FF2B5EF4-FFF2-40B4-BE49-F238E27FC236}">
                <a16:creationId xmlns:a16="http://schemas.microsoft.com/office/drawing/2014/main" id="{588DE1DE-4B9F-468F-9CED-FF7BE4DB8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常使用多个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LFSR</a:t>
            </a:r>
            <a:r>
              <a:rPr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来构造驱动部分，称每个</a:t>
            </a:r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</a:rPr>
              <a:t>LFSR</a:t>
            </a:r>
            <a:r>
              <a:rPr lang="zh-CN" altLang="en-US" sz="2400" b="1">
                <a:latin typeface="Arial" panose="020B0604020202020204" pitchFamily="34" charset="0"/>
                <a:ea typeface="宋体" panose="02010600030101010101" pitchFamily="2" charset="-122"/>
              </a:rPr>
              <a:t>的输出序列为驱动序列，</a:t>
            </a:r>
            <a:r>
              <a:rPr lang="zh-CN" altLang="en-US" sz="220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显然密钥流生成器输出序列的周期不大于各驱动序列周期的乘积</a:t>
            </a:r>
            <a:r>
              <a:rPr lang="zh-CN" altLang="en-US" sz="2200">
                <a:latin typeface="Arial" panose="020B0604020202020204" pitchFamily="34" charset="0"/>
                <a:ea typeface="宋体" panose="02010600030101010101" pitchFamily="2" charset="-122"/>
              </a:rPr>
              <a:t>，因此，</a:t>
            </a:r>
            <a:r>
              <a:rPr lang="zh-CN" altLang="en-US" sz="220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提高输出序列的线性复杂度应从极大化其周期开始。我们来看看现有的方法是怎么做的。</a:t>
            </a:r>
          </a:p>
          <a:p>
            <a:pPr>
              <a:spcBef>
                <a:spcPct val="0"/>
              </a:spcBef>
            </a:pP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2212" name="灯片编号占位符 3">
            <a:extLst>
              <a:ext uri="{FF2B5EF4-FFF2-40B4-BE49-F238E27FC236}">
                <a16:creationId xmlns:a16="http://schemas.microsoft.com/office/drawing/2014/main" id="{A42E8380-6978-4820-8BAD-A6531E969E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94AF273-3847-4D98-BA45-C8ADB21FF21D}" type="slidenum">
              <a:rPr lang="en-US" altLang="zh-CN" smtClean="0">
                <a:latin typeface="Arial" panose="020B0604020202020204" pitchFamily="34" charset="0"/>
              </a:rPr>
              <a:pPr/>
              <a:t>109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幻灯片图像占位符 1">
            <a:extLst>
              <a:ext uri="{FF2B5EF4-FFF2-40B4-BE49-F238E27FC236}">
                <a16:creationId xmlns:a16="http://schemas.microsoft.com/office/drawing/2014/main" id="{E58C2EC6-63CB-4AF5-94E8-47A7DF2D2E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备注占位符 2">
            <a:extLst>
              <a:ext uri="{FF2B5EF4-FFF2-40B4-BE49-F238E27FC236}">
                <a16:creationId xmlns:a16="http://schemas.microsoft.com/office/drawing/2014/main" id="{F29FA431-3111-47F2-B63A-67D4A8D49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>
              <a:lnSpc>
                <a:spcPct val="120000"/>
              </a:lnSpc>
            </a:pP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第一个是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Geffe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序列生成器，它由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由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个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LFSR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组成，其中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LFSR2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作为控制生成器使用，如图所示。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LFSR2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输出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时，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LFSR2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LFSR1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相连接，当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LFSR2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输出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时，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LFSR2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LFSR3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相连接。其实也就是，当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LFSR2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输出为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是，生成器输出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LFSR1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的输出，而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LFSR2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输出为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的时候，生成器输出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LFSR3</a:t>
            </a:r>
            <a:r>
              <a:rPr lang="zh-CN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的输出</a:t>
            </a:r>
          </a:p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4260" name="灯片编号占位符 3">
            <a:extLst>
              <a:ext uri="{FF2B5EF4-FFF2-40B4-BE49-F238E27FC236}">
                <a16:creationId xmlns:a16="http://schemas.microsoft.com/office/drawing/2014/main" id="{08EF154E-EA06-46C6-98B0-1DF187F4C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F7D00D6-BC1C-4FC3-BF37-AAABA2CDBC29}" type="slidenum">
              <a:rPr lang="en-US" altLang="zh-CN" smtClean="0">
                <a:latin typeface="Arial" panose="020B0604020202020204" pitchFamily="34" charset="0"/>
              </a:rPr>
              <a:pPr/>
              <a:t>110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7">
            <a:extLst>
              <a:ext uri="{FF2B5EF4-FFF2-40B4-BE49-F238E27FC236}">
                <a16:creationId xmlns:a16="http://schemas.microsoft.com/office/drawing/2014/main" id="{380CC29D-94E7-408F-A9D3-3210010ABC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72C070B-E3CE-4C07-B4C6-E22F3DE1CD8A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111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26307" name="Rectangle 2">
            <a:extLst>
              <a:ext uri="{FF2B5EF4-FFF2-40B4-BE49-F238E27FC236}">
                <a16:creationId xmlns:a16="http://schemas.microsoft.com/office/drawing/2014/main" id="{A861BC27-A4D3-4DBB-B7A7-41F7C74489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226308" name="Rectangle 3">
            <a:extLst>
              <a:ext uri="{FF2B5EF4-FFF2-40B4-BE49-F238E27FC236}">
                <a16:creationId xmlns:a16="http://schemas.microsoft.com/office/drawing/2014/main" id="{29D948B1-1DE4-4A40-88F2-8E669FA29F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用数学公式来表示就是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bk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等于。。。，设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LFSRi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的特征多项式分别为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en-US" altLang="zh-CN" i="1" baseline="-25000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次本原多项式，且</a:t>
            </a:r>
            <a:r>
              <a:rPr lang="en-US" altLang="zh-CN" i="1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en-US" altLang="zh-CN" i="1" baseline="-25000">
                <a:latin typeface="Arial" panose="020B0604020202020204" pitchFamily="34" charset="0"/>
                <a:ea typeface="宋体" panose="02010600030101010101" pitchFamily="2" charset="-122"/>
              </a:rPr>
              <a:t>i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两两互素，则其周期实现了极大化，即是这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zh-CN" altLang="en-US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个</a:t>
            </a:r>
            <a:r>
              <a:rPr lang="en-US" altLang="zh-CN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LFSR</a:t>
            </a:r>
            <a:r>
              <a:rPr lang="zh-CN" altLang="en-US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周期的乘积。</a:t>
            </a:r>
          </a:p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幻灯片图像占位符 1">
            <a:extLst>
              <a:ext uri="{FF2B5EF4-FFF2-40B4-BE49-F238E27FC236}">
                <a16:creationId xmlns:a16="http://schemas.microsoft.com/office/drawing/2014/main" id="{1A38BD02-0180-4F47-951A-3AD03ECE24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备注占位符 2">
            <a:extLst>
              <a:ext uri="{FF2B5EF4-FFF2-40B4-BE49-F238E27FC236}">
                <a16:creationId xmlns:a16="http://schemas.microsoft.com/office/drawing/2014/main" id="{6A0F472A-E920-4A17-A233-9710284D6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我们再来看看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JK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触发器</a:t>
            </a:r>
          </a:p>
        </p:txBody>
      </p:sp>
      <p:sp>
        <p:nvSpPr>
          <p:cNvPr id="228356" name="灯片编号占位符 3">
            <a:extLst>
              <a:ext uri="{FF2B5EF4-FFF2-40B4-BE49-F238E27FC236}">
                <a16:creationId xmlns:a16="http://schemas.microsoft.com/office/drawing/2014/main" id="{02D4A677-8038-4243-934B-99ECDA1212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1723B26-4121-4085-A45E-864B3FBA3546}" type="slidenum">
              <a:rPr lang="en-US" altLang="zh-CN" smtClean="0">
                <a:latin typeface="Arial" panose="020B0604020202020204" pitchFamily="34" charset="0"/>
              </a:rPr>
              <a:pPr/>
              <a:t>112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7">
            <a:extLst>
              <a:ext uri="{FF2B5EF4-FFF2-40B4-BE49-F238E27FC236}">
                <a16:creationId xmlns:a16="http://schemas.microsoft.com/office/drawing/2014/main" id="{15B9F079-27B8-414C-8175-328A1EBA51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98C823B-132A-4FE3-BEC2-37587EF9F6D3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113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30403" name="Rectangle 2">
            <a:extLst>
              <a:ext uri="{FF2B5EF4-FFF2-40B4-BE49-F238E27FC236}">
                <a16:creationId xmlns:a16="http://schemas.microsoft.com/office/drawing/2014/main" id="{0A3A07B8-B8CF-40DE-9AA1-49C6C981C5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230404" name="Rectangle 3">
            <a:extLst>
              <a:ext uri="{FF2B5EF4-FFF2-40B4-BE49-F238E27FC236}">
                <a16:creationId xmlns:a16="http://schemas.microsoft.com/office/drawing/2014/main" id="{D07B9355-DD55-4CAC-9B4A-83E6B13BB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J-K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触发器如图所示，它的两个输入端分别用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J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K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表示，其输出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>
                <a:latin typeface="Arial" panose="020B0604020202020204" pitchFamily="34" charset="0"/>
                <a:ea typeface="宋体" panose="02010600030101010101" pitchFamily="2" charset="-122"/>
              </a:rPr>
              <a:t>k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不仅依赖于输入，还依赖于前一个输出位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en-US" altLang="zh-CN" baseline="-25000">
                <a:latin typeface="Arial" panose="020B0604020202020204" pitchFamily="34" charset="0"/>
                <a:ea typeface="宋体" panose="02010600030101010101" pitchFamily="2" charset="-122"/>
              </a:rPr>
              <a:t>k-1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即有一个输出反馈。他的表达式可以写成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Ck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等于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x1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加上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x2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的补乘上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ck-1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再加上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x1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，其中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x</a:t>
            </a:r>
            <a:r>
              <a:rPr lang="en-US" altLang="zh-CN" baseline="-2500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分别是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J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K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端的输入。由此可得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J-K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触发器的真值表，如下表所示。。。所以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jk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触发器需要有一个初态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c0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7">
            <a:extLst>
              <a:ext uri="{FF2B5EF4-FFF2-40B4-BE49-F238E27FC236}">
                <a16:creationId xmlns:a16="http://schemas.microsoft.com/office/drawing/2014/main" id="{384783A5-3FCB-4685-B14B-DA35CB9622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2F2AE17-C726-4F11-81BC-3DB98AAE6D57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114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32451" name="Rectangle 2">
            <a:extLst>
              <a:ext uri="{FF2B5EF4-FFF2-40B4-BE49-F238E27FC236}">
                <a16:creationId xmlns:a16="http://schemas.microsoft.com/office/drawing/2014/main" id="{92DC51C5-2446-47DD-A491-FA6A80CF69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232452" name="Rectangle 3">
            <a:extLst>
              <a:ext uri="{FF2B5EF4-FFF2-40B4-BE49-F238E27FC236}">
                <a16:creationId xmlns:a16="http://schemas.microsoft.com/office/drawing/2014/main" id="{31101AC7-499C-4B0D-8EC4-4901EAF4E8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利用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JK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触发器构造非线性序列生成器是选用两个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LFSR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分别作为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jk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端的输入其中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LFSR1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m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级的输出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m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级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m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序列，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LFSR2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级的输出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级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m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序列，它的输出序列的周期同样达到了极大值，也就是两个线性反馈移位寄存器输出序列周期的乘积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7">
            <a:extLst>
              <a:ext uri="{FF2B5EF4-FFF2-40B4-BE49-F238E27FC236}">
                <a16:creationId xmlns:a16="http://schemas.microsoft.com/office/drawing/2014/main" id="{2A953610-7191-481F-AD8B-4F567605D2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8E68993-9376-4763-94C2-BF59017E88A3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115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34499" name="Rectangle 2">
            <a:extLst>
              <a:ext uri="{FF2B5EF4-FFF2-40B4-BE49-F238E27FC236}">
                <a16:creationId xmlns:a16="http://schemas.microsoft.com/office/drawing/2014/main" id="{F53B06ED-DE1C-4F08-BB40-2BBA432F6A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234500" name="Rectangle 3">
            <a:extLst>
              <a:ext uri="{FF2B5EF4-FFF2-40B4-BE49-F238E27FC236}">
                <a16:creationId xmlns:a16="http://schemas.microsoft.com/office/drawing/2014/main" id="{C5AB2442-F633-4B77-85F1-AE462E90DE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我们来看一个例子，见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PPT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7">
            <a:extLst>
              <a:ext uri="{FF2B5EF4-FFF2-40B4-BE49-F238E27FC236}">
                <a16:creationId xmlns:a16="http://schemas.microsoft.com/office/drawing/2014/main" id="{181D8980-8021-4594-9B49-BA13781945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ED5E2CA-B2A4-4FC4-B9FE-A414DB77A0E1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116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36547" name="Rectangle 2">
            <a:extLst>
              <a:ext uri="{FF2B5EF4-FFF2-40B4-BE49-F238E27FC236}">
                <a16:creationId xmlns:a16="http://schemas.microsoft.com/office/drawing/2014/main" id="{299653B0-FBB3-45C9-8735-BCE10A3E80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236548" name="Rectangle 3">
            <a:extLst>
              <a:ext uri="{FF2B5EF4-FFF2-40B4-BE49-F238E27FC236}">
                <a16:creationId xmlns:a16="http://schemas.microsoft.com/office/drawing/2014/main" id="{0E121629-89F4-4B0C-BA79-C267BF6552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PPT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幻灯片图像占位符 1">
            <a:extLst>
              <a:ext uri="{FF2B5EF4-FFF2-40B4-BE49-F238E27FC236}">
                <a16:creationId xmlns:a16="http://schemas.microsoft.com/office/drawing/2014/main" id="{C598EA9E-B4A1-4071-98CA-246F5ED222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备注占位符 2">
            <a:extLst>
              <a:ext uri="{FF2B5EF4-FFF2-40B4-BE49-F238E27FC236}">
                <a16:creationId xmlns:a16="http://schemas.microsoft.com/office/drawing/2014/main" id="{07D32E6B-B2CC-4820-A108-B465ED756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8596" name="灯片编号占位符 3">
            <a:extLst>
              <a:ext uri="{FF2B5EF4-FFF2-40B4-BE49-F238E27FC236}">
                <a16:creationId xmlns:a16="http://schemas.microsoft.com/office/drawing/2014/main" id="{D5E1B09D-8852-4243-AA0C-D6F3C9645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2B7174A-49FA-46CB-9B84-D71E2E41F9CD}" type="slidenum">
              <a:rPr lang="en-US" altLang="zh-CN" smtClean="0">
                <a:latin typeface="Arial" panose="020B0604020202020204" pitchFamily="34" charset="0"/>
              </a:rPr>
              <a:pPr/>
              <a:t>117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7">
            <a:extLst>
              <a:ext uri="{FF2B5EF4-FFF2-40B4-BE49-F238E27FC236}">
                <a16:creationId xmlns:a16="http://schemas.microsoft.com/office/drawing/2014/main" id="{73AC39AA-52E9-490B-8D2B-EBFA3B645F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FDA71A9-99D9-42F4-A85E-2CA706421421}" type="slidenum">
              <a:rPr lang="zh-CN" altLang="en-US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118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40643" name="Rectangle 2">
            <a:extLst>
              <a:ext uri="{FF2B5EF4-FFF2-40B4-BE49-F238E27FC236}">
                <a16:creationId xmlns:a16="http://schemas.microsoft.com/office/drawing/2014/main" id="{B4CC2980-DEF2-4717-9039-A9B6FF08E8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89513" y="1793875"/>
            <a:ext cx="0" cy="0"/>
          </a:xfrm>
          <a:solidFill>
            <a:srgbClr val="FFFFFF"/>
          </a:solidFill>
          <a:ln/>
        </p:spPr>
      </p:sp>
      <p:sp>
        <p:nvSpPr>
          <p:cNvPr id="240644" name="Rectangle 3">
            <a:extLst>
              <a:ext uri="{FF2B5EF4-FFF2-40B4-BE49-F238E27FC236}">
                <a16:creationId xmlns:a16="http://schemas.microsoft.com/office/drawing/2014/main" id="{B5A33466-F7F4-4BD5-A835-C1731FA75F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0325" y="4679950"/>
            <a:ext cx="2041525" cy="2063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Pless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生成器由8个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LFSR、4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个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J-K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触发器和1个循环计数器构成，由循环计数器进行选通控制，如图所示。它的输出是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a0b1c2d3a4b5c6d7.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。。</a:t>
            </a: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90" name="幻灯片图像占位符 1">
            <a:extLst>
              <a:ext uri="{FF2B5EF4-FFF2-40B4-BE49-F238E27FC236}">
                <a16:creationId xmlns:a16="http://schemas.microsoft.com/office/drawing/2014/main" id="{B16EC920-5479-4EE8-BB07-80C5DE257C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2691" name="备注占位符 2">
            <a:extLst>
              <a:ext uri="{FF2B5EF4-FFF2-40B4-BE49-F238E27FC236}">
                <a16:creationId xmlns:a16="http://schemas.microsoft.com/office/drawing/2014/main" id="{A67DA429-FFBA-4EBC-82EE-DAA0FE7C7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这一讲要介绍的是钟控序列生成器</a:t>
            </a:r>
          </a:p>
        </p:txBody>
      </p:sp>
      <p:sp>
        <p:nvSpPr>
          <p:cNvPr id="242692" name="灯片编号占位符 3">
            <a:extLst>
              <a:ext uri="{FF2B5EF4-FFF2-40B4-BE49-F238E27FC236}">
                <a16:creationId xmlns:a16="http://schemas.microsoft.com/office/drawing/2014/main" id="{B65A7C1F-17AE-4B2F-8CE6-B3FD812C05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F21C39A-E3E1-479A-9B5A-F65F3B5938CE}" type="slidenum">
              <a:rPr lang="en-US" altLang="zh-CN" smtClean="0">
                <a:latin typeface="Arial" panose="020B0604020202020204" pitchFamily="34" charset="0"/>
              </a:rPr>
              <a:pPr/>
              <a:t>119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幻灯片图像占位符 1">
            <a:extLst>
              <a:ext uri="{FF2B5EF4-FFF2-40B4-BE49-F238E27FC236}">
                <a16:creationId xmlns:a16="http://schemas.microsoft.com/office/drawing/2014/main" id="{263F0D29-A52B-488C-AFA7-9A8EF60FB5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4739" name="备注占位符 2">
            <a:extLst>
              <a:ext uri="{FF2B5EF4-FFF2-40B4-BE49-F238E27FC236}">
                <a16:creationId xmlns:a16="http://schemas.microsoft.com/office/drawing/2014/main" id="{FB915848-AE4B-4458-A997-851134BB9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钟控序列最基本的模型是用一个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LFSR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控制另外一个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LFSR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的移位时钟脉冲，如图所示，一个最简单钟控序列生成器。</a:t>
            </a:r>
          </a:p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假设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LFSR1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LFSR2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分别输出序列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{ak}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{bk}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，其周期分别为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p2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。当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LFSR1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输出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时，移位时钟脉冲通过与门使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LFSR2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进行一次移位，从而生成下一位。</a:t>
            </a:r>
          </a:p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当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LFSR1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输出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时，移位时钟脉冲无法通过与门影响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LFSR2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。因此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LFSR2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重复输出前一位。就相当于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LFSR1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输出为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是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LFSR2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就走一下，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LFSR1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输出为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时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LFSR2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就停一下，所以钟控生成器也成为停走生成器。</a:t>
            </a:r>
          </a:p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4740" name="灯片编号占位符 3">
            <a:extLst>
              <a:ext uri="{FF2B5EF4-FFF2-40B4-BE49-F238E27FC236}">
                <a16:creationId xmlns:a16="http://schemas.microsoft.com/office/drawing/2014/main" id="{3CDB0B14-01EE-438E-8AF0-F45AA18690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6C6345F-8E0C-49EF-94C0-FCEA3A4C251D}" type="slidenum">
              <a:rPr lang="en-US" altLang="zh-CN" smtClean="0">
                <a:latin typeface="Arial" panose="020B0604020202020204" pitchFamily="34" charset="0"/>
              </a:rPr>
              <a:pPr/>
              <a:t>120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幻灯片图像占位符 1">
            <a:extLst>
              <a:ext uri="{FF2B5EF4-FFF2-40B4-BE49-F238E27FC236}">
                <a16:creationId xmlns:a16="http://schemas.microsoft.com/office/drawing/2014/main" id="{209F2F46-4763-43FF-AE97-A3C29BE9EA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7" name="备注占位符 2">
            <a:extLst>
              <a:ext uri="{FF2B5EF4-FFF2-40B4-BE49-F238E27FC236}">
                <a16:creationId xmlns:a16="http://schemas.microsoft.com/office/drawing/2014/main" id="{C44CF699-B9F0-4690-848D-A890F82EA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我们来分析一下它的周期 </a:t>
            </a:r>
          </a:p>
        </p:txBody>
      </p:sp>
      <p:sp>
        <p:nvSpPr>
          <p:cNvPr id="246788" name="灯片编号占位符 3">
            <a:extLst>
              <a:ext uri="{FF2B5EF4-FFF2-40B4-BE49-F238E27FC236}">
                <a16:creationId xmlns:a16="http://schemas.microsoft.com/office/drawing/2014/main" id="{9BC5F0E3-753C-486C-872B-423B47716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C12DF9F-5710-43AA-9B14-2A0A7204A009}" type="slidenum">
              <a:rPr lang="en-US" altLang="zh-CN" smtClean="0">
                <a:latin typeface="Arial" panose="020B0604020202020204" pitchFamily="34" charset="0"/>
              </a:rPr>
              <a:pPr/>
              <a:t>121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幻灯片图像占位符 1">
            <a:extLst>
              <a:ext uri="{FF2B5EF4-FFF2-40B4-BE49-F238E27FC236}">
                <a16:creationId xmlns:a16="http://schemas.microsoft.com/office/drawing/2014/main" id="{1B18433C-4A66-48B2-B88F-42634EC9B7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3955" name="备注占位符 2">
            <a:extLst>
              <a:ext uri="{FF2B5EF4-FFF2-40B4-BE49-F238E27FC236}">
                <a16:creationId xmlns:a16="http://schemas.microsoft.com/office/drawing/2014/main" id="{3934441C-8DB5-4C6D-81BD-201E4C4FB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以上是流密码的基本概念，下一讲我们介绍有限状态自动机模型，它的思想可以间接用来构造流密码算法</a:t>
            </a:r>
          </a:p>
        </p:txBody>
      </p:sp>
      <p:sp>
        <p:nvSpPr>
          <p:cNvPr id="253956" name="灯片编号占位符 3">
            <a:extLst>
              <a:ext uri="{FF2B5EF4-FFF2-40B4-BE49-F238E27FC236}">
                <a16:creationId xmlns:a16="http://schemas.microsoft.com/office/drawing/2014/main" id="{ED575705-C284-4E3B-9030-5CFCD53653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4B844E6-7739-4014-863C-A9D085C116DC}" type="slidenum">
              <a:rPr lang="en-US" altLang="zh-CN" smtClean="0">
                <a:latin typeface="Arial" panose="020B0604020202020204" pitchFamily="34" charset="0"/>
              </a:rPr>
              <a:pPr/>
              <a:t>127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>
            <a:extLst>
              <a:ext uri="{FF2B5EF4-FFF2-40B4-BE49-F238E27FC236}">
                <a16:creationId xmlns:a16="http://schemas.microsoft.com/office/drawing/2014/main" id="{1E90152D-8966-4BEF-ABD7-B2651A0717A7}"/>
              </a:ext>
            </a:extLst>
          </p:cNvPr>
          <p:cNvSpPr/>
          <p:nvPr userDrawn="1"/>
        </p:nvSpPr>
        <p:spPr>
          <a:xfrm>
            <a:off x="588963" y="407988"/>
            <a:ext cx="10460037" cy="608012"/>
          </a:xfrm>
          <a:prstGeom prst="parallelogram">
            <a:avLst>
              <a:gd name="adj" fmla="val 0"/>
            </a:avLst>
          </a:prstGeom>
          <a:pattFill prst="dkHorz">
            <a:fgClr>
              <a:schemeClr val="accent1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1265EE9-C788-4589-A3BE-5129B37DA05B}"/>
              </a:ext>
            </a:extLst>
          </p:cNvPr>
          <p:cNvCxnSpPr/>
          <p:nvPr userDrawn="1"/>
        </p:nvCxnSpPr>
        <p:spPr>
          <a:xfrm>
            <a:off x="588963" y="5988050"/>
            <a:ext cx="10460037" cy="1905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7383" y="1390656"/>
            <a:ext cx="10363200" cy="1780381"/>
          </a:xfrm>
        </p:spPr>
        <p:txBody>
          <a:bodyPr>
            <a:normAutofit/>
          </a:bodyPr>
          <a:lstStyle>
            <a:lvl1pPr algn="ctr">
              <a:defRPr sz="4800" b="0">
                <a:solidFill>
                  <a:schemeClr val="accent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383" y="3190876"/>
            <a:ext cx="9810484" cy="79057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="0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127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2D65A40-884D-4B1D-8803-B9FA599AA6C3}"/>
              </a:ext>
            </a:extLst>
          </p:cNvPr>
          <p:cNvSpPr/>
          <p:nvPr userDrawn="1"/>
        </p:nvSpPr>
        <p:spPr>
          <a:xfrm>
            <a:off x="823913" y="407988"/>
            <a:ext cx="419100" cy="655637"/>
          </a:xfrm>
          <a:prstGeom prst="rect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b="1" dirty="0">
              <a:solidFill>
                <a:prstClr val="white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DB0C19D-A983-46FD-9E90-04FE25EC4CF8}"/>
              </a:ext>
            </a:extLst>
          </p:cNvPr>
          <p:cNvCxnSpPr/>
          <p:nvPr userDrawn="1"/>
        </p:nvCxnSpPr>
        <p:spPr>
          <a:xfrm>
            <a:off x="1465263" y="1033463"/>
            <a:ext cx="903763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8">
            <a:extLst>
              <a:ext uri="{FF2B5EF4-FFF2-40B4-BE49-F238E27FC236}">
                <a16:creationId xmlns:a16="http://schemas.microsoft.com/office/drawing/2014/main" id="{25B19328-CD3B-492A-9DEE-A08E9814F9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2838" y="0"/>
            <a:ext cx="9191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65264" y="365131"/>
            <a:ext cx="9037637" cy="66833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accent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23913" y="1466056"/>
            <a:ext cx="10515600" cy="4579144"/>
          </a:xfr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 b="1">
                <a:solidFill>
                  <a:schemeClr val="tx1"/>
                </a:solidFill>
              </a:defRPr>
            </a:lvl4pPr>
            <a:lvl5pPr>
              <a:defRPr sz="16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3988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BD84BDB-BDBF-4028-AA1A-93939D629AEA}"/>
              </a:ext>
            </a:extLst>
          </p:cNvPr>
          <p:cNvSpPr/>
          <p:nvPr userDrawn="1"/>
        </p:nvSpPr>
        <p:spPr>
          <a:xfrm>
            <a:off x="823913" y="407988"/>
            <a:ext cx="419100" cy="655637"/>
          </a:xfrm>
          <a:prstGeom prst="rect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9BF234A-27F1-43F1-AC12-77A0CCA8F9CE}"/>
              </a:ext>
            </a:extLst>
          </p:cNvPr>
          <p:cNvCxnSpPr/>
          <p:nvPr userDrawn="1"/>
        </p:nvCxnSpPr>
        <p:spPr>
          <a:xfrm>
            <a:off x="1465263" y="1033463"/>
            <a:ext cx="903763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06A2596-8B73-4345-9C78-E0D02E22E943}"/>
              </a:ext>
            </a:extLst>
          </p:cNvPr>
          <p:cNvCxnSpPr/>
          <p:nvPr userDrawn="1"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5264" y="365131"/>
            <a:ext cx="9037637" cy="66833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3913" y="1466056"/>
            <a:ext cx="10515600" cy="4579144"/>
          </a:xfrm>
        </p:spPr>
        <p:txBody>
          <a:bodyPr/>
          <a:lstStyle>
            <a:lvl1pPr>
              <a:defRPr sz="2400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350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8099BAD-BE34-4759-AE6F-7688089ACA18}"/>
              </a:ext>
            </a:extLst>
          </p:cNvPr>
          <p:cNvSpPr/>
          <p:nvPr userDrawn="1"/>
        </p:nvSpPr>
        <p:spPr>
          <a:xfrm>
            <a:off x="823913" y="407988"/>
            <a:ext cx="419100" cy="655637"/>
          </a:xfrm>
          <a:prstGeom prst="rect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FA0C0A5-2377-4B37-8A18-6014A866BA84}"/>
              </a:ext>
            </a:extLst>
          </p:cNvPr>
          <p:cNvCxnSpPr/>
          <p:nvPr userDrawn="1"/>
        </p:nvCxnSpPr>
        <p:spPr>
          <a:xfrm>
            <a:off x="1465263" y="1033463"/>
            <a:ext cx="903763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9865FF3-880A-4893-8561-DDDB79E0E955}"/>
              </a:ext>
            </a:extLst>
          </p:cNvPr>
          <p:cNvCxnSpPr/>
          <p:nvPr userDrawn="1"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8">
            <a:extLst>
              <a:ext uri="{FF2B5EF4-FFF2-40B4-BE49-F238E27FC236}">
                <a16:creationId xmlns:a16="http://schemas.microsoft.com/office/drawing/2014/main" id="{57862174-395B-45B2-B6C4-2563FA110D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2838" y="0"/>
            <a:ext cx="9191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65264" y="365131"/>
            <a:ext cx="9037637" cy="66833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23913" y="1466056"/>
            <a:ext cx="10515600" cy="4579144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394661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B13AF5E-776F-4796-B5F0-8E671C183370}"/>
              </a:ext>
            </a:extLst>
          </p:cNvPr>
          <p:cNvSpPr/>
          <p:nvPr userDrawn="1"/>
        </p:nvSpPr>
        <p:spPr>
          <a:xfrm>
            <a:off x="823913" y="407988"/>
            <a:ext cx="419100" cy="655637"/>
          </a:xfrm>
          <a:prstGeom prst="rect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296431B-4DBB-426F-9B2F-9CAC9E1F54C2}"/>
              </a:ext>
            </a:extLst>
          </p:cNvPr>
          <p:cNvCxnSpPr/>
          <p:nvPr userDrawn="1"/>
        </p:nvCxnSpPr>
        <p:spPr>
          <a:xfrm>
            <a:off x="1465263" y="1033463"/>
            <a:ext cx="903763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54BFF81-A527-402D-8B2D-2C8967A22728}"/>
              </a:ext>
            </a:extLst>
          </p:cNvPr>
          <p:cNvCxnSpPr/>
          <p:nvPr userDrawn="1"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8">
            <a:extLst>
              <a:ext uri="{FF2B5EF4-FFF2-40B4-BE49-F238E27FC236}">
                <a16:creationId xmlns:a16="http://schemas.microsoft.com/office/drawing/2014/main" id="{BE044C8D-FBB3-4CBD-9F50-C5281475A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2838" y="0"/>
            <a:ext cx="9191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65264" y="365131"/>
            <a:ext cx="9037637" cy="66833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23913" y="1466056"/>
            <a:ext cx="10515600" cy="4579144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28117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57B11D4-9B1C-44AB-95D2-5049456E1EA0}"/>
              </a:ext>
            </a:extLst>
          </p:cNvPr>
          <p:cNvSpPr/>
          <p:nvPr userDrawn="1"/>
        </p:nvSpPr>
        <p:spPr>
          <a:xfrm>
            <a:off x="823913" y="407988"/>
            <a:ext cx="419100" cy="655637"/>
          </a:xfrm>
          <a:prstGeom prst="rect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C4E72FA-B0E9-4DAD-854E-2BCC624D5901}"/>
              </a:ext>
            </a:extLst>
          </p:cNvPr>
          <p:cNvCxnSpPr/>
          <p:nvPr userDrawn="1"/>
        </p:nvCxnSpPr>
        <p:spPr>
          <a:xfrm>
            <a:off x="1465263" y="1033463"/>
            <a:ext cx="903763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CE34877-24E2-4842-86D8-7C40356C950A}"/>
              </a:ext>
            </a:extLst>
          </p:cNvPr>
          <p:cNvCxnSpPr/>
          <p:nvPr userDrawn="1"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8">
            <a:extLst>
              <a:ext uri="{FF2B5EF4-FFF2-40B4-BE49-F238E27FC236}">
                <a16:creationId xmlns:a16="http://schemas.microsoft.com/office/drawing/2014/main" id="{846067B4-F28F-4DBF-AD58-99F82CDCC4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2838" y="0"/>
            <a:ext cx="9191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65264" y="365131"/>
            <a:ext cx="9037637" cy="66833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23913" y="1466056"/>
            <a:ext cx="10515600" cy="4579144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382769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93DA4A0-7784-429A-9051-18951711EE4B}"/>
              </a:ext>
            </a:extLst>
          </p:cNvPr>
          <p:cNvSpPr/>
          <p:nvPr userDrawn="1"/>
        </p:nvSpPr>
        <p:spPr>
          <a:xfrm>
            <a:off x="823913" y="407988"/>
            <a:ext cx="419100" cy="655637"/>
          </a:xfrm>
          <a:prstGeom prst="rect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090F725-CA62-4A53-8CD7-65F62DE24A89}"/>
              </a:ext>
            </a:extLst>
          </p:cNvPr>
          <p:cNvCxnSpPr/>
          <p:nvPr userDrawn="1"/>
        </p:nvCxnSpPr>
        <p:spPr>
          <a:xfrm>
            <a:off x="1465263" y="1033463"/>
            <a:ext cx="903763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2EECBD3-B5A6-4386-A2A5-0A819F171BBB}"/>
              </a:ext>
            </a:extLst>
          </p:cNvPr>
          <p:cNvCxnSpPr/>
          <p:nvPr userDrawn="1"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8">
            <a:extLst>
              <a:ext uri="{FF2B5EF4-FFF2-40B4-BE49-F238E27FC236}">
                <a16:creationId xmlns:a16="http://schemas.microsoft.com/office/drawing/2014/main" id="{CEC2B372-D9A2-466D-9D5C-23264CB1D8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2838" y="0"/>
            <a:ext cx="9191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65264" y="365131"/>
            <a:ext cx="9037637" cy="66833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23913" y="1466056"/>
            <a:ext cx="10515600" cy="4579144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FD9EA62-7080-4B10-9CDB-3EDD1C0541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6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prstClr val="black">
                    <a:tint val="75000"/>
                  </a:prstClr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C642332B-74BB-49CB-B2D6-44F159DA2666}" type="datetime1">
              <a:rPr lang="zh-CN" altLang="en-US"/>
              <a:pPr>
                <a:defRPr/>
              </a:pPr>
              <a:t>2025/3/26</a:t>
            </a:fld>
            <a:endParaRPr lang="zh-CN" alt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C084999-275B-4860-8D44-F3397AF1DD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5090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0" hangingPunct="0">
              <a:defRPr>
                <a:solidFill>
                  <a:prstClr val="black">
                    <a:tint val="75000"/>
                  </a:prstClr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zh-CN" altLang="en-US"/>
              <a:t>共 </a:t>
            </a:r>
            <a:r>
              <a:rPr lang="en-US" altLang="zh-CN"/>
              <a:t>51 </a:t>
            </a:r>
            <a:r>
              <a:rPr lang="zh-CN" altLang="en-US"/>
              <a:t>页</a:t>
            </a:r>
            <a:r>
              <a:rPr lang="en-US" altLang="zh-CN"/>
              <a:t>/</a:t>
            </a:r>
            <a:r>
              <a:rPr lang="zh-CN" altLang="en-US"/>
              <a:t>第</a:t>
            </a:r>
            <a:fld id="{DB2AD3AE-624E-4F67-AF77-2D0AE5C883A0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页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AD8B05C-3E7E-4DA8-BB11-9719D04838A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898900" y="6356350"/>
            <a:ext cx="43307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prstClr val="black">
                    <a:tint val="75000"/>
                  </a:prstClr>
                </a:solidFill>
                <a:latin typeface="Calibri" panose="020F0502020204030204" pitchFamily="34" charset="0"/>
                <a:ea typeface="仿宋" panose="02010609060101010101" pitchFamily="49" charset="-122"/>
              </a:defRPr>
            </a:lvl1pPr>
          </a:lstStyle>
          <a:p>
            <a:pPr>
              <a:defRPr/>
            </a:pPr>
            <a:r>
              <a:rPr lang="zh-CN" altLang="en-US"/>
              <a:t>电子科技大学 信息与软件工程学院</a:t>
            </a:r>
            <a:r>
              <a:rPr lang="en-US" altLang="zh-CN">
                <a:latin typeface="+mn-lt"/>
              </a:rPr>
              <a:t>——</a:t>
            </a:r>
            <a:r>
              <a:rPr lang="zh-CN" altLang="en-US"/>
              <a:t>现代密码学  </a:t>
            </a:r>
          </a:p>
        </p:txBody>
      </p:sp>
    </p:spTree>
    <p:extLst>
      <p:ext uri="{BB962C8B-B14F-4D97-AF65-F5344CB8AC3E}">
        <p14:creationId xmlns:p14="http://schemas.microsoft.com/office/powerpoint/2010/main" val="560201928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5CA4332-71B5-4370-8458-520CFC7DCED3}"/>
              </a:ext>
            </a:extLst>
          </p:cNvPr>
          <p:cNvSpPr/>
          <p:nvPr userDrawn="1"/>
        </p:nvSpPr>
        <p:spPr>
          <a:xfrm>
            <a:off x="823913" y="407988"/>
            <a:ext cx="419100" cy="655637"/>
          </a:xfrm>
          <a:prstGeom prst="rect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209668F-E8F2-4596-A7AF-F994F1C28779}"/>
              </a:ext>
            </a:extLst>
          </p:cNvPr>
          <p:cNvCxnSpPr/>
          <p:nvPr userDrawn="1"/>
        </p:nvCxnSpPr>
        <p:spPr>
          <a:xfrm>
            <a:off x="1465263" y="1033463"/>
            <a:ext cx="903763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04D9DA64-FC3C-475A-8043-6EB606437A81}"/>
              </a:ext>
            </a:extLst>
          </p:cNvPr>
          <p:cNvCxnSpPr/>
          <p:nvPr userDrawn="1"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8">
            <a:extLst>
              <a:ext uri="{FF2B5EF4-FFF2-40B4-BE49-F238E27FC236}">
                <a16:creationId xmlns:a16="http://schemas.microsoft.com/office/drawing/2014/main" id="{491C36BD-97D0-468C-8BC4-50397D9423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2838" y="0"/>
            <a:ext cx="9191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65264" y="365131"/>
            <a:ext cx="9037637" cy="66833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23913" y="1466056"/>
            <a:ext cx="10515600" cy="4579144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977156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3">
            <a:extLst>
              <a:ext uri="{FF2B5EF4-FFF2-40B4-BE49-F238E27FC236}">
                <a16:creationId xmlns:a16="http://schemas.microsoft.com/office/drawing/2014/main" id="{2308744F-DFDA-4CE1-BA40-720940AD9E7C}"/>
              </a:ext>
            </a:extLst>
          </p:cNvPr>
          <p:cNvSpPr/>
          <p:nvPr userDrawn="1"/>
        </p:nvSpPr>
        <p:spPr>
          <a:xfrm>
            <a:off x="588963" y="407988"/>
            <a:ext cx="10460037" cy="608012"/>
          </a:xfrm>
          <a:prstGeom prst="parallelogram">
            <a:avLst>
              <a:gd name="adj" fmla="val 0"/>
            </a:avLst>
          </a:prstGeom>
          <a:pattFill prst="dkHorz">
            <a:fgClr>
              <a:schemeClr val="accent1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AFF247E1-FF18-4FBB-9551-975D4F7A5F78}"/>
              </a:ext>
            </a:extLst>
          </p:cNvPr>
          <p:cNvSpPr txBox="1">
            <a:spLocks/>
          </p:cNvSpPr>
          <p:nvPr userDrawn="1"/>
        </p:nvSpPr>
        <p:spPr bwMode="auto">
          <a:xfrm>
            <a:off x="0" y="1390650"/>
            <a:ext cx="12192000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/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zh-CN" altLang="en-US" sz="4400">
                <a:solidFill>
                  <a:srgbClr val="1F4E79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现代密码学</a:t>
            </a: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77A43B43-DC30-4DB4-B982-B260286FAB13}"/>
              </a:ext>
            </a:extLst>
          </p:cNvPr>
          <p:cNvSpPr txBox="1">
            <a:spLocks/>
          </p:cNvSpPr>
          <p:nvPr userDrawn="1"/>
        </p:nvSpPr>
        <p:spPr bwMode="auto">
          <a:xfrm>
            <a:off x="0" y="4572000"/>
            <a:ext cx="12192000" cy="107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6858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/>
            </a:pPr>
            <a:endParaRPr lang="en-US" altLang="zh-CN" sz="240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/>
            </a:pPr>
            <a:r>
              <a:rPr lang="zh-CN" altLang="en-US" sz="240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信息与软件工程学院</a:t>
            </a:r>
            <a:endParaRPr lang="en-US" altLang="zh-CN" sz="240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/>
            </a:pPr>
            <a:endParaRPr lang="zh-CN" altLang="en-US" sz="240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BAC2F6F-1E6F-47E3-ADD9-3E5F3ECD8C0B}"/>
              </a:ext>
            </a:extLst>
          </p:cNvPr>
          <p:cNvCxnSpPr/>
          <p:nvPr userDrawn="1"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7383" y="1390656"/>
            <a:ext cx="10363200" cy="1780381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accent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383" y="3190876"/>
            <a:ext cx="9810484" cy="79057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7807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89C120D-A442-4C53-A1B4-302D773B0110}"/>
              </a:ext>
            </a:extLst>
          </p:cNvPr>
          <p:cNvSpPr/>
          <p:nvPr userDrawn="1"/>
        </p:nvSpPr>
        <p:spPr>
          <a:xfrm>
            <a:off x="823913" y="407988"/>
            <a:ext cx="419100" cy="655637"/>
          </a:xfrm>
          <a:prstGeom prst="rect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cxnSp>
        <p:nvCxnSpPr>
          <p:cNvPr id="5" name="直接连接符 8">
            <a:extLst>
              <a:ext uri="{FF2B5EF4-FFF2-40B4-BE49-F238E27FC236}">
                <a16:creationId xmlns:a16="http://schemas.microsoft.com/office/drawing/2014/main" id="{832DD666-6F32-438D-9F41-26DC527152A7}"/>
              </a:ext>
            </a:extLst>
          </p:cNvPr>
          <p:cNvCxnSpPr/>
          <p:nvPr userDrawn="1"/>
        </p:nvCxnSpPr>
        <p:spPr>
          <a:xfrm>
            <a:off x="1465263" y="1033463"/>
            <a:ext cx="903763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8">
            <a:extLst>
              <a:ext uri="{FF2B5EF4-FFF2-40B4-BE49-F238E27FC236}">
                <a16:creationId xmlns:a16="http://schemas.microsoft.com/office/drawing/2014/main" id="{99A71850-B388-40CD-A8AF-08FD8A1089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7913" y="23813"/>
            <a:ext cx="9191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8CCBCD4-D4E6-4CBC-9B2F-40050CB78535}"/>
              </a:ext>
            </a:extLst>
          </p:cNvPr>
          <p:cNvCxnSpPr/>
          <p:nvPr userDrawn="1"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65264" y="365131"/>
            <a:ext cx="9037637" cy="66833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23913" y="1466056"/>
            <a:ext cx="10515600" cy="4579144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551337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2560F73-3063-48BE-B12F-BA3D8A971F0A}"/>
              </a:ext>
            </a:extLst>
          </p:cNvPr>
          <p:cNvSpPr/>
          <p:nvPr userDrawn="1"/>
        </p:nvSpPr>
        <p:spPr>
          <a:xfrm>
            <a:off x="823913" y="407988"/>
            <a:ext cx="419100" cy="655637"/>
          </a:xfrm>
          <a:prstGeom prst="rect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cxnSp>
        <p:nvCxnSpPr>
          <p:cNvPr id="5" name="直接连接符 8">
            <a:extLst>
              <a:ext uri="{FF2B5EF4-FFF2-40B4-BE49-F238E27FC236}">
                <a16:creationId xmlns:a16="http://schemas.microsoft.com/office/drawing/2014/main" id="{0FE25159-7396-434A-A47D-0E042B5C9826}"/>
              </a:ext>
            </a:extLst>
          </p:cNvPr>
          <p:cNvCxnSpPr/>
          <p:nvPr userDrawn="1"/>
        </p:nvCxnSpPr>
        <p:spPr>
          <a:xfrm>
            <a:off x="1465263" y="1033463"/>
            <a:ext cx="903763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5264" y="365131"/>
            <a:ext cx="9037637" cy="66833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3913" y="1466056"/>
            <a:ext cx="10515600" cy="4579144"/>
          </a:xfrm>
        </p:spPr>
        <p:txBody>
          <a:bodyPr/>
          <a:lstStyle>
            <a:lvl1pPr>
              <a:defRPr sz="2400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392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59C6C20-14B1-4D1D-901E-145AFE266C33}"/>
              </a:ext>
            </a:extLst>
          </p:cNvPr>
          <p:cNvSpPr/>
          <p:nvPr userDrawn="1"/>
        </p:nvSpPr>
        <p:spPr>
          <a:xfrm>
            <a:off x="823913" y="407988"/>
            <a:ext cx="419100" cy="655637"/>
          </a:xfrm>
          <a:prstGeom prst="rect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cxnSp>
        <p:nvCxnSpPr>
          <p:cNvPr id="5" name="直接连接符 8">
            <a:extLst>
              <a:ext uri="{FF2B5EF4-FFF2-40B4-BE49-F238E27FC236}">
                <a16:creationId xmlns:a16="http://schemas.microsoft.com/office/drawing/2014/main" id="{08750A5E-5BE8-411F-B83F-29FEFF3187D9}"/>
              </a:ext>
            </a:extLst>
          </p:cNvPr>
          <p:cNvCxnSpPr/>
          <p:nvPr userDrawn="1"/>
        </p:nvCxnSpPr>
        <p:spPr>
          <a:xfrm>
            <a:off x="1465263" y="1033463"/>
            <a:ext cx="903763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8">
            <a:extLst>
              <a:ext uri="{FF2B5EF4-FFF2-40B4-BE49-F238E27FC236}">
                <a16:creationId xmlns:a16="http://schemas.microsoft.com/office/drawing/2014/main" id="{9504EC8D-E640-4E56-9548-B3CC71B3BA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7913" y="23813"/>
            <a:ext cx="9191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2C7929B-FBE4-4654-AD3A-ED239821F63D}"/>
              </a:ext>
            </a:extLst>
          </p:cNvPr>
          <p:cNvCxnSpPr/>
          <p:nvPr userDrawn="1"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65264" y="365131"/>
            <a:ext cx="9037637" cy="66833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23913" y="1466056"/>
            <a:ext cx="10515600" cy="4579144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98456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9C8C5F4-10E2-4264-BEDF-2A0855BAA0B1}"/>
              </a:ext>
            </a:extLst>
          </p:cNvPr>
          <p:cNvSpPr/>
          <p:nvPr userDrawn="1"/>
        </p:nvSpPr>
        <p:spPr>
          <a:xfrm>
            <a:off x="823913" y="407988"/>
            <a:ext cx="419100" cy="655637"/>
          </a:xfrm>
          <a:prstGeom prst="rect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cxnSp>
        <p:nvCxnSpPr>
          <p:cNvPr id="5" name="直接连接符 8">
            <a:extLst>
              <a:ext uri="{FF2B5EF4-FFF2-40B4-BE49-F238E27FC236}">
                <a16:creationId xmlns:a16="http://schemas.microsoft.com/office/drawing/2014/main" id="{7743AE4C-AA1C-4260-AA16-B87AE495FAF0}"/>
              </a:ext>
            </a:extLst>
          </p:cNvPr>
          <p:cNvCxnSpPr/>
          <p:nvPr userDrawn="1"/>
        </p:nvCxnSpPr>
        <p:spPr>
          <a:xfrm>
            <a:off x="1465263" y="1033463"/>
            <a:ext cx="903763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8">
            <a:extLst>
              <a:ext uri="{FF2B5EF4-FFF2-40B4-BE49-F238E27FC236}">
                <a16:creationId xmlns:a16="http://schemas.microsoft.com/office/drawing/2014/main" id="{6432754F-9556-444D-BA1D-D740DACE2C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7913" y="23813"/>
            <a:ext cx="9191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A3B1E8D-0765-4C59-8933-729282BF02C4}"/>
              </a:ext>
            </a:extLst>
          </p:cNvPr>
          <p:cNvCxnSpPr/>
          <p:nvPr userDrawn="1"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65264" y="365131"/>
            <a:ext cx="9037637" cy="66833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23913" y="1466056"/>
            <a:ext cx="10515600" cy="4579144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898342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1BDF028-6F30-4C82-B011-BB2CC0D6B1E7}"/>
              </a:ext>
            </a:extLst>
          </p:cNvPr>
          <p:cNvSpPr/>
          <p:nvPr userDrawn="1"/>
        </p:nvSpPr>
        <p:spPr>
          <a:xfrm>
            <a:off x="823913" y="407988"/>
            <a:ext cx="419100" cy="655637"/>
          </a:xfrm>
          <a:prstGeom prst="rect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cxnSp>
        <p:nvCxnSpPr>
          <p:cNvPr id="5" name="直接连接符 8">
            <a:extLst>
              <a:ext uri="{FF2B5EF4-FFF2-40B4-BE49-F238E27FC236}">
                <a16:creationId xmlns:a16="http://schemas.microsoft.com/office/drawing/2014/main" id="{F69D639C-3332-4C74-8A21-9F1C8BE6EA3D}"/>
              </a:ext>
            </a:extLst>
          </p:cNvPr>
          <p:cNvCxnSpPr/>
          <p:nvPr userDrawn="1"/>
        </p:nvCxnSpPr>
        <p:spPr>
          <a:xfrm>
            <a:off x="1465263" y="1033463"/>
            <a:ext cx="903763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8">
            <a:extLst>
              <a:ext uri="{FF2B5EF4-FFF2-40B4-BE49-F238E27FC236}">
                <a16:creationId xmlns:a16="http://schemas.microsoft.com/office/drawing/2014/main" id="{8561054B-C0D4-43FF-BF0D-534B36D2C5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7913" y="23813"/>
            <a:ext cx="9191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264D882-D545-46A2-9F14-962A5918705A}"/>
              </a:ext>
            </a:extLst>
          </p:cNvPr>
          <p:cNvCxnSpPr/>
          <p:nvPr userDrawn="1"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65264" y="365131"/>
            <a:ext cx="9037637" cy="66833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23913" y="1466056"/>
            <a:ext cx="10515600" cy="4579144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698967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F01A307-2FA2-40A5-96CE-29DE1EA7B517}"/>
              </a:ext>
            </a:extLst>
          </p:cNvPr>
          <p:cNvSpPr/>
          <p:nvPr userDrawn="1"/>
        </p:nvSpPr>
        <p:spPr>
          <a:xfrm>
            <a:off x="823913" y="407988"/>
            <a:ext cx="419100" cy="655637"/>
          </a:xfrm>
          <a:prstGeom prst="rect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cxnSp>
        <p:nvCxnSpPr>
          <p:cNvPr id="5" name="直接连接符 8">
            <a:extLst>
              <a:ext uri="{FF2B5EF4-FFF2-40B4-BE49-F238E27FC236}">
                <a16:creationId xmlns:a16="http://schemas.microsoft.com/office/drawing/2014/main" id="{05742C59-F6B5-40EC-9AAF-8B676281CAD4}"/>
              </a:ext>
            </a:extLst>
          </p:cNvPr>
          <p:cNvCxnSpPr/>
          <p:nvPr userDrawn="1"/>
        </p:nvCxnSpPr>
        <p:spPr>
          <a:xfrm>
            <a:off x="1465263" y="1033463"/>
            <a:ext cx="903763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8">
            <a:extLst>
              <a:ext uri="{FF2B5EF4-FFF2-40B4-BE49-F238E27FC236}">
                <a16:creationId xmlns:a16="http://schemas.microsoft.com/office/drawing/2014/main" id="{E00E1ED7-E0AB-47BB-B54B-573E45465C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7913" y="23813"/>
            <a:ext cx="9191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DD5DFC0-5AE8-47BE-A71B-4E728D950FC0}"/>
              </a:ext>
            </a:extLst>
          </p:cNvPr>
          <p:cNvCxnSpPr/>
          <p:nvPr userDrawn="1"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65264" y="365131"/>
            <a:ext cx="9037637" cy="66833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23913" y="1466056"/>
            <a:ext cx="10515600" cy="4579144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23608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8797285-C6BA-46DD-9E3A-10E96F5DDB5E}"/>
              </a:ext>
            </a:extLst>
          </p:cNvPr>
          <p:cNvSpPr/>
          <p:nvPr userDrawn="1"/>
        </p:nvSpPr>
        <p:spPr>
          <a:xfrm>
            <a:off x="823913" y="407988"/>
            <a:ext cx="419100" cy="655637"/>
          </a:xfrm>
          <a:prstGeom prst="rect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cxnSp>
        <p:nvCxnSpPr>
          <p:cNvPr id="5" name="直接连接符 8">
            <a:extLst>
              <a:ext uri="{FF2B5EF4-FFF2-40B4-BE49-F238E27FC236}">
                <a16:creationId xmlns:a16="http://schemas.microsoft.com/office/drawing/2014/main" id="{EFD8CB85-54AE-44B2-90C8-1727C3C4EBC5}"/>
              </a:ext>
            </a:extLst>
          </p:cNvPr>
          <p:cNvCxnSpPr/>
          <p:nvPr userDrawn="1"/>
        </p:nvCxnSpPr>
        <p:spPr>
          <a:xfrm>
            <a:off x="1465263" y="1033463"/>
            <a:ext cx="903763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8">
            <a:extLst>
              <a:ext uri="{FF2B5EF4-FFF2-40B4-BE49-F238E27FC236}">
                <a16:creationId xmlns:a16="http://schemas.microsoft.com/office/drawing/2014/main" id="{178276E9-15D5-4C5D-82B5-BAEC1314BE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7913" y="23813"/>
            <a:ext cx="9191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957F61C-16A0-4A43-A5E1-3F80E2BEAE39}"/>
              </a:ext>
            </a:extLst>
          </p:cNvPr>
          <p:cNvCxnSpPr/>
          <p:nvPr userDrawn="1"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65264" y="365131"/>
            <a:ext cx="9037637" cy="66833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23913" y="1466056"/>
            <a:ext cx="10515600" cy="4579144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089058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915D20C-AA3C-43E4-9E7D-13614360B5A6}"/>
              </a:ext>
            </a:extLst>
          </p:cNvPr>
          <p:cNvSpPr/>
          <p:nvPr userDrawn="1"/>
        </p:nvSpPr>
        <p:spPr>
          <a:xfrm>
            <a:off x="823913" y="407988"/>
            <a:ext cx="419100" cy="655637"/>
          </a:xfrm>
          <a:prstGeom prst="rect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cxnSp>
        <p:nvCxnSpPr>
          <p:cNvPr id="5" name="直接连接符 8">
            <a:extLst>
              <a:ext uri="{FF2B5EF4-FFF2-40B4-BE49-F238E27FC236}">
                <a16:creationId xmlns:a16="http://schemas.microsoft.com/office/drawing/2014/main" id="{08F43AC9-7610-4B61-A4A5-BBBBF226139F}"/>
              </a:ext>
            </a:extLst>
          </p:cNvPr>
          <p:cNvCxnSpPr/>
          <p:nvPr userDrawn="1"/>
        </p:nvCxnSpPr>
        <p:spPr>
          <a:xfrm>
            <a:off x="1465263" y="1033463"/>
            <a:ext cx="903763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8">
            <a:extLst>
              <a:ext uri="{FF2B5EF4-FFF2-40B4-BE49-F238E27FC236}">
                <a16:creationId xmlns:a16="http://schemas.microsoft.com/office/drawing/2014/main" id="{8545BF13-4EDD-496C-A5E1-61149438F0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7913" y="23813"/>
            <a:ext cx="9191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E2B2913-3C13-4C4A-828B-9FBBE45C1ACF}"/>
              </a:ext>
            </a:extLst>
          </p:cNvPr>
          <p:cNvCxnSpPr/>
          <p:nvPr userDrawn="1"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65264" y="365131"/>
            <a:ext cx="9037637" cy="66833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23913" y="1466056"/>
            <a:ext cx="10515600" cy="4579144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11673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334CF84-79EE-4E0D-B69B-015C8F14E28F}"/>
              </a:ext>
            </a:extLst>
          </p:cNvPr>
          <p:cNvSpPr/>
          <p:nvPr userDrawn="1"/>
        </p:nvSpPr>
        <p:spPr>
          <a:xfrm>
            <a:off x="823913" y="407988"/>
            <a:ext cx="419100" cy="655637"/>
          </a:xfrm>
          <a:prstGeom prst="rect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cxnSp>
        <p:nvCxnSpPr>
          <p:cNvPr id="5" name="直接连接符 8">
            <a:extLst>
              <a:ext uri="{FF2B5EF4-FFF2-40B4-BE49-F238E27FC236}">
                <a16:creationId xmlns:a16="http://schemas.microsoft.com/office/drawing/2014/main" id="{C0020472-0A9C-427D-80E1-1917B641CB47}"/>
              </a:ext>
            </a:extLst>
          </p:cNvPr>
          <p:cNvCxnSpPr/>
          <p:nvPr userDrawn="1"/>
        </p:nvCxnSpPr>
        <p:spPr>
          <a:xfrm>
            <a:off x="1465263" y="1033463"/>
            <a:ext cx="903763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8">
            <a:extLst>
              <a:ext uri="{FF2B5EF4-FFF2-40B4-BE49-F238E27FC236}">
                <a16:creationId xmlns:a16="http://schemas.microsoft.com/office/drawing/2014/main" id="{0AE335B7-F609-499C-B412-2F01659727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7913" y="23813"/>
            <a:ext cx="9191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20305EA-8C14-4F25-8243-E47746C5EE21}"/>
              </a:ext>
            </a:extLst>
          </p:cNvPr>
          <p:cNvCxnSpPr/>
          <p:nvPr userDrawn="1"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65264" y="365131"/>
            <a:ext cx="9037637" cy="66833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23913" y="1466056"/>
            <a:ext cx="10515600" cy="4579144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375715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FCE7DB2-868E-414B-8BCF-E2EA7149ACA8}"/>
              </a:ext>
            </a:extLst>
          </p:cNvPr>
          <p:cNvSpPr/>
          <p:nvPr userDrawn="1"/>
        </p:nvSpPr>
        <p:spPr>
          <a:xfrm>
            <a:off x="823913" y="407988"/>
            <a:ext cx="419100" cy="655637"/>
          </a:xfrm>
          <a:prstGeom prst="rect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cxnSp>
        <p:nvCxnSpPr>
          <p:cNvPr id="5" name="直接连接符 8">
            <a:extLst>
              <a:ext uri="{FF2B5EF4-FFF2-40B4-BE49-F238E27FC236}">
                <a16:creationId xmlns:a16="http://schemas.microsoft.com/office/drawing/2014/main" id="{C92FAD55-2D14-4442-8862-1CEB3EFE74A3}"/>
              </a:ext>
            </a:extLst>
          </p:cNvPr>
          <p:cNvCxnSpPr/>
          <p:nvPr userDrawn="1"/>
        </p:nvCxnSpPr>
        <p:spPr>
          <a:xfrm>
            <a:off x="1465263" y="1033463"/>
            <a:ext cx="903763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8">
            <a:extLst>
              <a:ext uri="{FF2B5EF4-FFF2-40B4-BE49-F238E27FC236}">
                <a16:creationId xmlns:a16="http://schemas.microsoft.com/office/drawing/2014/main" id="{392C54A6-D2B4-4F12-A42A-389C436ED0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7913" y="23813"/>
            <a:ext cx="9191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58E752C-88AD-41C5-A44C-7B12DDD2E9DD}"/>
              </a:ext>
            </a:extLst>
          </p:cNvPr>
          <p:cNvCxnSpPr/>
          <p:nvPr userDrawn="1"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65264" y="365131"/>
            <a:ext cx="9037637" cy="66833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23913" y="1466056"/>
            <a:ext cx="10515600" cy="4579144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723652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4C0CC47-5D49-4AA5-99C1-00B57C51828A}"/>
              </a:ext>
            </a:extLst>
          </p:cNvPr>
          <p:cNvSpPr/>
          <p:nvPr userDrawn="1"/>
        </p:nvSpPr>
        <p:spPr>
          <a:xfrm>
            <a:off x="823913" y="407988"/>
            <a:ext cx="419100" cy="655637"/>
          </a:xfrm>
          <a:prstGeom prst="rect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cxnSp>
        <p:nvCxnSpPr>
          <p:cNvPr id="5" name="直接连接符 8">
            <a:extLst>
              <a:ext uri="{FF2B5EF4-FFF2-40B4-BE49-F238E27FC236}">
                <a16:creationId xmlns:a16="http://schemas.microsoft.com/office/drawing/2014/main" id="{F5AEA873-0736-4B05-B45E-BC26FA812735}"/>
              </a:ext>
            </a:extLst>
          </p:cNvPr>
          <p:cNvCxnSpPr/>
          <p:nvPr userDrawn="1"/>
        </p:nvCxnSpPr>
        <p:spPr>
          <a:xfrm>
            <a:off x="1465263" y="1033463"/>
            <a:ext cx="903763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8">
            <a:extLst>
              <a:ext uri="{FF2B5EF4-FFF2-40B4-BE49-F238E27FC236}">
                <a16:creationId xmlns:a16="http://schemas.microsoft.com/office/drawing/2014/main" id="{77E2946E-C894-4CFD-9CB7-09634FE94D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7913" y="23813"/>
            <a:ext cx="9191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9CF6F924-AD82-483F-8EA1-C29723827BD9}"/>
              </a:ext>
            </a:extLst>
          </p:cNvPr>
          <p:cNvCxnSpPr/>
          <p:nvPr userDrawn="1"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65264" y="365131"/>
            <a:ext cx="9037637" cy="66833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23913" y="1466056"/>
            <a:ext cx="10515600" cy="4579144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38741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29AF351-1D70-43AE-BC14-7AC5950F29C6}"/>
              </a:ext>
            </a:extLst>
          </p:cNvPr>
          <p:cNvSpPr/>
          <p:nvPr userDrawn="1"/>
        </p:nvSpPr>
        <p:spPr>
          <a:xfrm>
            <a:off x="823913" y="407988"/>
            <a:ext cx="419100" cy="655637"/>
          </a:xfrm>
          <a:prstGeom prst="rect">
            <a:avLst/>
          </a:prstGeom>
          <a:pattFill prst="dkHorz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prstClr val="white"/>
              </a:solidFill>
            </a:endParaRPr>
          </a:p>
        </p:txBody>
      </p:sp>
      <p:cxnSp>
        <p:nvCxnSpPr>
          <p:cNvPr id="5" name="直接连接符 8">
            <a:extLst>
              <a:ext uri="{FF2B5EF4-FFF2-40B4-BE49-F238E27FC236}">
                <a16:creationId xmlns:a16="http://schemas.microsoft.com/office/drawing/2014/main" id="{F07532CC-25B3-4DAC-BF6D-0B1EBE5F8FFC}"/>
              </a:ext>
            </a:extLst>
          </p:cNvPr>
          <p:cNvCxnSpPr/>
          <p:nvPr userDrawn="1"/>
        </p:nvCxnSpPr>
        <p:spPr>
          <a:xfrm>
            <a:off x="1465263" y="1033463"/>
            <a:ext cx="9037637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8">
            <a:extLst>
              <a:ext uri="{FF2B5EF4-FFF2-40B4-BE49-F238E27FC236}">
                <a16:creationId xmlns:a16="http://schemas.microsoft.com/office/drawing/2014/main" id="{E72D1DD3-5D6E-4B0A-8556-92C749557D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7913" y="23813"/>
            <a:ext cx="9191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645006A-5C2D-46F8-8995-2C2E58D5A0A1}"/>
              </a:ext>
            </a:extLst>
          </p:cNvPr>
          <p:cNvCxnSpPr/>
          <p:nvPr userDrawn="1"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65264" y="365131"/>
            <a:ext cx="9037637" cy="668337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23913" y="1466056"/>
            <a:ext cx="10515600" cy="4579144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283837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90AB1739-9A0A-4F79-AAD4-D7B7C59D71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215900" y="624363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3631B7-E47B-4E4D-B902-6420B3829FD6}" type="datetime1">
              <a:rPr lang="zh-CN" altLang="en-US"/>
              <a:pPr>
                <a:defRPr/>
              </a:pPr>
              <a:t>2025/3/26</a:t>
            </a:fld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2D54A63E-1B5F-4B8C-88E6-306093C1C5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275138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密码学</a:t>
            </a:r>
            <a:r>
              <a:rPr lang="en-US" altLang="zh-CN"/>
              <a:t>---</a:t>
            </a:r>
            <a:r>
              <a:rPr lang="zh-CN" altLang="en-US"/>
              <a:t>基础理论与应用</a:t>
            </a: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5EF90C09-413A-418B-A13E-C7128A6CA7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63EAE8-C1C4-4665-A74C-4CA5146AC8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0653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C7DE89CB-E7F6-4EFB-A55A-12B8E14B2E5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8134F0E7-3947-4824-8E74-467696F2C2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pic>
        <p:nvPicPr>
          <p:cNvPr id="2052" name="图片 8">
            <a:extLst>
              <a:ext uri="{FF2B5EF4-FFF2-40B4-BE49-F238E27FC236}">
                <a16:creationId xmlns:a16="http://schemas.microsoft.com/office/drawing/2014/main" id="{BC120A06-0C9F-42F9-A6EF-E2B0A0BCDD4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2838" y="0"/>
            <a:ext cx="9191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75" r:id="rId1"/>
    <p:sldLayoutId id="2147485676" r:id="rId2"/>
    <p:sldLayoutId id="2147485677" r:id="rId3"/>
    <p:sldLayoutId id="2147485678" r:id="rId4"/>
    <p:sldLayoutId id="2147485679" r:id="rId5"/>
    <p:sldLayoutId id="2147485680" r:id="rId6"/>
    <p:sldLayoutId id="2147485681" r:id="rId7"/>
    <p:sldLayoutId id="2147485682" r:id="rId8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 kern="1200">
          <a:solidFill>
            <a:schemeClr val="tx1"/>
          </a:solidFill>
          <a:latin typeface="+mj-lt"/>
          <a:ea typeface="仿宋" panose="02010609060101010101" pitchFamily="49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 Light" panose="020F0302020204030204" pitchFamily="34" charset="0"/>
          <a:ea typeface="仿宋" panose="02010609060101010101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 Light" panose="020F0302020204030204" pitchFamily="34" charset="0"/>
          <a:ea typeface="仿宋" panose="02010609060101010101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 Light" panose="020F0302020204030204" pitchFamily="34" charset="0"/>
          <a:ea typeface="仿宋" panose="02010609060101010101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Calibri Light" panose="020F0302020204030204" pitchFamily="34" charset="0"/>
          <a:ea typeface="仿宋" panose="02010609060101010101" pitchFamily="49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仿宋" panose="02010609060101010101" pitchFamily="49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lt"/>
          <a:ea typeface="仿宋" panose="02010609060101010101" pitchFamily="49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仿宋" panose="02010609060101010101" pitchFamily="49" charset="-122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b="1" kern="1200">
          <a:solidFill>
            <a:schemeClr val="tx1"/>
          </a:solidFill>
          <a:latin typeface="+mn-lt"/>
          <a:ea typeface="仿宋" panose="02010609060101010101" pitchFamily="49" charset="-122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b="1" kern="1200">
          <a:solidFill>
            <a:schemeClr val="tx1"/>
          </a:solidFill>
          <a:latin typeface="+mn-lt"/>
          <a:ea typeface="仿宋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>
            <a:extLst>
              <a:ext uri="{FF2B5EF4-FFF2-40B4-BE49-F238E27FC236}">
                <a16:creationId xmlns:a16="http://schemas.microsoft.com/office/drawing/2014/main" id="{634351DA-EA01-4C92-BC4B-61874746D53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3075" name="Text Placeholder 2">
            <a:extLst>
              <a:ext uri="{FF2B5EF4-FFF2-40B4-BE49-F238E27FC236}">
                <a16:creationId xmlns:a16="http://schemas.microsoft.com/office/drawing/2014/main" id="{A12DAB8E-2AC7-4943-83B0-D6F75EEBAC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pic>
        <p:nvPicPr>
          <p:cNvPr id="3076" name="图片 8">
            <a:extLst>
              <a:ext uri="{FF2B5EF4-FFF2-40B4-BE49-F238E27FC236}">
                <a16:creationId xmlns:a16="http://schemas.microsoft.com/office/drawing/2014/main" id="{507955EB-4753-4F97-88B4-9C6520026A4E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7913" y="23813"/>
            <a:ext cx="919162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3DF9FE4-400D-447B-840D-92C9C8EFB868}"/>
              </a:ext>
            </a:extLst>
          </p:cNvPr>
          <p:cNvCxnSpPr/>
          <p:nvPr userDrawn="1"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5683" r:id="rId1"/>
    <p:sldLayoutId id="2147485684" r:id="rId2"/>
    <p:sldLayoutId id="2147485685" r:id="rId3"/>
    <p:sldLayoutId id="2147485686" r:id="rId4"/>
    <p:sldLayoutId id="2147485687" r:id="rId5"/>
    <p:sldLayoutId id="2147485688" r:id="rId6"/>
    <p:sldLayoutId id="2147485689" r:id="rId7"/>
    <p:sldLayoutId id="2147485690" r:id="rId8"/>
    <p:sldLayoutId id="2147485691" r:id="rId9"/>
    <p:sldLayoutId id="2147485692" r:id="rId10"/>
    <p:sldLayoutId id="2147485693" r:id="rId11"/>
    <p:sldLayoutId id="2147485694" r:id="rId12"/>
    <p:sldLayoutId id="2147485695" r:id="rId13"/>
    <p:sldLayoutId id="2147485696" r:id="rId14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仿宋" panose="02010609060101010101" pitchFamily="49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仿宋" panose="02010609060101010101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仿宋" panose="02010609060101010101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仿宋" panose="02010609060101010101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仿宋" panose="02010609060101010101" pitchFamily="49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仿宋" panose="02010609060101010101" pitchFamily="49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仿宋" panose="02010609060101010101" pitchFamily="49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仿宋" panose="02010609060101010101" pitchFamily="49" charset="-122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仿宋" panose="02010609060101010101" pitchFamily="49" charset="-122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仿宋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7" Type="http://schemas.openxmlformats.org/officeDocument/2006/relationships/image" Target="../media/image21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emf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5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image" Target="../media/image43.png"/><Relationship Id="rId2" Type="http://schemas.openxmlformats.org/officeDocument/2006/relationships/slideLayout" Target="../slideLayouts/slideLayout2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25.wmf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0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8.bin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8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notesSlide" Target="../notesSlides/notesSlide40.xml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50.png"/><Relationship Id="rId11" Type="http://schemas.openxmlformats.org/officeDocument/2006/relationships/oleObject" Target="../embeddings/oleObject13.bin"/><Relationship Id="rId5" Type="http://schemas.openxmlformats.org/officeDocument/2006/relationships/image" Target="../media/image49.png"/><Relationship Id="rId10" Type="http://schemas.openxmlformats.org/officeDocument/2006/relationships/image" Target="../media/image28.wmf"/><Relationship Id="rId4" Type="http://schemas.openxmlformats.org/officeDocument/2006/relationships/image" Target="../media/image48.png"/><Relationship Id="rId9" Type="http://schemas.openxmlformats.org/officeDocument/2006/relationships/oleObject" Target="../embeddings/oleObject12.bin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8.wmf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9.wmf"/><Relationship Id="rId4" Type="http://schemas.openxmlformats.org/officeDocument/2006/relationships/oleObject" Target="../embeddings/oleObject14.bin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15.bin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38.wmf"/><Relationship Id="rId4" Type="http://schemas.openxmlformats.org/officeDocument/2006/relationships/oleObject" Target="../embeddings/oleObject16.bin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8.png"/><Relationship Id="rId4" Type="http://schemas.openxmlformats.org/officeDocument/2006/relationships/image" Target="../media/image58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0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8.wmf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0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19.bin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0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20.bin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0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0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notesSlide" Target="../notesSlides/notesSlide65.xml"/><Relationship Id="rId7" Type="http://schemas.openxmlformats.org/officeDocument/2006/relationships/image" Target="../media/image42.wmf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44.wmf"/><Relationship Id="rId5" Type="http://schemas.openxmlformats.org/officeDocument/2006/relationships/image" Target="../media/image41.wmf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21.bin"/><Relationship Id="rId9" Type="http://schemas.openxmlformats.org/officeDocument/2006/relationships/image" Target="../media/image43.wmf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notesSlide" Target="../notesSlides/notesSlide66.xml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45.wmf"/><Relationship Id="rId4" Type="http://schemas.openxmlformats.org/officeDocument/2006/relationships/image" Target="../media/image67.png"/><Relationship Id="rId9" Type="http://schemas.openxmlformats.org/officeDocument/2006/relationships/oleObject" Target="../embeddings/oleObject27.bin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7" Type="http://schemas.openxmlformats.org/officeDocument/2006/relationships/image" Target="../media/image47.wmf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46.wmf"/><Relationship Id="rId4" Type="http://schemas.openxmlformats.org/officeDocument/2006/relationships/oleObject" Target="../embeddings/oleObject28.bin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9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1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1.xml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1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Relationship Id="rId9" Type="http://schemas.openxmlformats.org/officeDocument/2006/relationships/image" Target="../media/image53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110.png"/><Relationship Id="rId4" Type="http://schemas.openxmlformats.org/officeDocument/2006/relationships/image" Target="../media/image48.emf"/></Relationships>
</file>

<file path=ppt/slides/_rels/slide10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26" Type="http://schemas.openxmlformats.org/officeDocument/2006/relationships/image" Target="../media/image130.png"/><Relationship Id="rId3" Type="http://schemas.openxmlformats.org/officeDocument/2006/relationships/notesSlide" Target="../notesSlides/notesSlide79.xml"/><Relationship Id="rId21" Type="http://schemas.openxmlformats.org/officeDocument/2006/relationships/image" Target="../media/image125.png"/><Relationship Id="rId34" Type="http://schemas.openxmlformats.org/officeDocument/2006/relationships/image" Target="../media/image136.png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5" Type="http://schemas.openxmlformats.org/officeDocument/2006/relationships/image" Target="../media/image129.png"/><Relationship Id="rId33" Type="http://schemas.openxmlformats.org/officeDocument/2006/relationships/image" Target="../media/image50.emf"/><Relationship Id="rId2" Type="http://schemas.openxmlformats.org/officeDocument/2006/relationships/slideLayout" Target="../slideLayouts/slideLayout10.xml"/><Relationship Id="rId16" Type="http://schemas.openxmlformats.org/officeDocument/2006/relationships/image" Target="../media/image120.png"/><Relationship Id="rId20" Type="http://schemas.openxmlformats.org/officeDocument/2006/relationships/image" Target="../media/image124.png"/><Relationship Id="rId29" Type="http://schemas.openxmlformats.org/officeDocument/2006/relationships/image" Target="../media/image133.png"/><Relationship Id="rId1" Type="http://schemas.openxmlformats.org/officeDocument/2006/relationships/vmlDrawing" Target="../drawings/vmlDrawing19.vml"/><Relationship Id="rId6" Type="http://schemas.openxmlformats.org/officeDocument/2006/relationships/image" Target="../media/image49.wmf"/><Relationship Id="rId11" Type="http://schemas.openxmlformats.org/officeDocument/2006/relationships/image" Target="../media/image115.png"/><Relationship Id="rId24" Type="http://schemas.openxmlformats.org/officeDocument/2006/relationships/image" Target="../media/image128.png"/><Relationship Id="rId32" Type="http://schemas.openxmlformats.org/officeDocument/2006/relationships/oleObject" Target="../embeddings/oleObject33.bin"/><Relationship Id="rId5" Type="http://schemas.openxmlformats.org/officeDocument/2006/relationships/oleObject" Target="../embeddings/oleObject31.bin"/><Relationship Id="rId15" Type="http://schemas.openxmlformats.org/officeDocument/2006/relationships/image" Target="../media/image119.png"/><Relationship Id="rId23" Type="http://schemas.openxmlformats.org/officeDocument/2006/relationships/image" Target="../media/image127.png"/><Relationship Id="rId28" Type="http://schemas.openxmlformats.org/officeDocument/2006/relationships/image" Target="../media/image132.png"/><Relationship Id="rId10" Type="http://schemas.openxmlformats.org/officeDocument/2006/relationships/image" Target="../media/image114.png"/><Relationship Id="rId19" Type="http://schemas.openxmlformats.org/officeDocument/2006/relationships/image" Target="../media/image123.png"/><Relationship Id="rId31" Type="http://schemas.openxmlformats.org/officeDocument/2006/relationships/image" Target="../media/image135.png"/><Relationship Id="rId4" Type="http://schemas.openxmlformats.org/officeDocument/2006/relationships/audio" Target="../media/audio1.wav"/><Relationship Id="rId9" Type="http://schemas.openxmlformats.org/officeDocument/2006/relationships/image" Target="../media/image113.png"/><Relationship Id="rId14" Type="http://schemas.openxmlformats.org/officeDocument/2006/relationships/image" Target="../media/image118.png"/><Relationship Id="rId22" Type="http://schemas.openxmlformats.org/officeDocument/2006/relationships/image" Target="../media/image126.png"/><Relationship Id="rId27" Type="http://schemas.openxmlformats.org/officeDocument/2006/relationships/image" Target="../media/image131.png"/><Relationship Id="rId30" Type="http://schemas.openxmlformats.org/officeDocument/2006/relationships/image" Target="../media/image134.png"/><Relationship Id="rId35" Type="http://schemas.openxmlformats.org/officeDocument/2006/relationships/image" Target="../media/image137.png"/><Relationship Id="rId8" Type="http://schemas.openxmlformats.org/officeDocument/2006/relationships/image" Target="../media/image49.wmf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9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51.emf"/><Relationship Id="rId4" Type="http://schemas.openxmlformats.org/officeDocument/2006/relationships/oleObject" Target="../embeddings/oleObject34.bin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7" Type="http://schemas.openxmlformats.org/officeDocument/2006/relationships/image" Target="../media/image53.emf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52.emf"/><Relationship Id="rId4" Type="http://schemas.openxmlformats.org/officeDocument/2006/relationships/oleObject" Target="../embeddings/oleObject35.bin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57.wmf"/><Relationship Id="rId3" Type="http://schemas.openxmlformats.org/officeDocument/2006/relationships/notesSlide" Target="../notesSlides/notesSlide84.xml"/><Relationship Id="rId7" Type="http://schemas.openxmlformats.org/officeDocument/2006/relationships/image" Target="../media/image54.w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59.wmf"/><Relationship Id="rId2" Type="http://schemas.openxmlformats.org/officeDocument/2006/relationships/slideLayout" Target="../slideLayouts/slideLayout10.xml"/><Relationship Id="rId16" Type="http://schemas.openxmlformats.org/officeDocument/2006/relationships/oleObject" Target="../embeddings/oleObject42.bin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56.wmf"/><Relationship Id="rId5" Type="http://schemas.openxmlformats.org/officeDocument/2006/relationships/image" Target="../media/image60.png"/><Relationship Id="rId15" Type="http://schemas.openxmlformats.org/officeDocument/2006/relationships/image" Target="../media/image58.wmf"/><Relationship Id="rId10" Type="http://schemas.openxmlformats.org/officeDocument/2006/relationships/oleObject" Target="../embeddings/oleObject39.bin"/><Relationship Id="rId4" Type="http://schemas.openxmlformats.org/officeDocument/2006/relationships/image" Target="../media/image147.png"/><Relationship Id="rId9" Type="http://schemas.openxmlformats.org/officeDocument/2006/relationships/image" Target="../media/image55.wmf"/><Relationship Id="rId14" Type="http://schemas.openxmlformats.org/officeDocument/2006/relationships/oleObject" Target="../embeddings/oleObject41.bin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3" Type="http://schemas.openxmlformats.org/officeDocument/2006/relationships/notesSlide" Target="../notesSlides/notesSlide86.xml"/><Relationship Id="rId7" Type="http://schemas.openxmlformats.org/officeDocument/2006/relationships/oleObject" Target="../embeddings/oleObject44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61.e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151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3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0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0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0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65.emf"/><Relationship Id="rId4" Type="http://schemas.openxmlformats.org/officeDocument/2006/relationships/oleObject" Target="../embeddings/oleObject45.bin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9.png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0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10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66.emf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副标题 2">
            <a:extLst>
              <a:ext uri="{FF2B5EF4-FFF2-40B4-BE49-F238E27FC236}">
                <a16:creationId xmlns:a16="http://schemas.microsoft.com/office/drawing/2014/main" id="{3038E8D3-7E4A-42BE-B683-E700828A3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048000"/>
            <a:ext cx="12192000" cy="790575"/>
          </a:xfrm>
        </p:spPr>
        <p:txBody>
          <a:bodyPr/>
          <a:lstStyle/>
          <a:p>
            <a:r>
              <a:rPr lang="zh-CN" altLang="en-US" sz="3600" b="1"/>
              <a:t>第三章 序列密码</a:t>
            </a:r>
            <a:endParaRPr lang="en-US" altLang="zh-CN" sz="3600" b="1"/>
          </a:p>
        </p:txBody>
      </p:sp>
    </p:spTree>
  </p:cSld>
  <p:clrMapOvr>
    <a:masterClrMapping/>
  </p:clrMapOvr>
  <p:transition spd="slow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副标题 2">
            <a:extLst>
              <a:ext uri="{FF2B5EF4-FFF2-40B4-BE49-F238E27FC236}">
                <a16:creationId xmlns:a16="http://schemas.microsoft.com/office/drawing/2014/main" id="{88559707-2BDF-4FD8-B35E-E3381AD800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048000"/>
            <a:ext cx="12192000" cy="790575"/>
          </a:xfrm>
        </p:spPr>
        <p:txBody>
          <a:bodyPr/>
          <a:lstStyle/>
          <a:p>
            <a:r>
              <a:rPr lang="zh-CN" altLang="en-US" sz="3600" b="1"/>
              <a:t>流密码的基本概念</a:t>
            </a:r>
            <a:endParaRPr lang="en-US" altLang="zh-CN" sz="3600" b="1"/>
          </a:p>
        </p:txBody>
      </p:sp>
    </p:spTree>
  </p:cSld>
  <p:clrMapOvr>
    <a:masterClrMapping/>
  </p:clrMapOvr>
  <p:transition spd="slow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EC6CB-CA4C-4962-BA45-277525625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2550" y="365125"/>
            <a:ext cx="6778625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流密码的基本概念</a:t>
            </a:r>
          </a:p>
        </p:txBody>
      </p:sp>
      <p:sp>
        <p:nvSpPr>
          <p:cNvPr id="5" name="空心弧 4">
            <a:extLst>
              <a:ext uri="{FF2B5EF4-FFF2-40B4-BE49-F238E27FC236}">
                <a16:creationId xmlns:a16="http://schemas.microsoft.com/office/drawing/2014/main" id="{4A8C38FF-3483-43DF-B373-1CF6BBBA60B8}"/>
              </a:ext>
            </a:extLst>
          </p:cNvPr>
          <p:cNvSpPr/>
          <p:nvPr/>
        </p:nvSpPr>
        <p:spPr bwMode="auto">
          <a:xfrm>
            <a:off x="-1627188" y="1231900"/>
            <a:ext cx="5472113" cy="5473700"/>
          </a:xfrm>
          <a:prstGeom prst="blockArc">
            <a:avLst>
              <a:gd name="adj1" fmla="val 18439391"/>
              <a:gd name="adj2" fmla="val 2240787"/>
              <a:gd name="adj3" fmla="val 0"/>
            </a:avLst>
          </a:prstGeom>
        </p:spPr>
        <p:style>
          <a:lnRef idx="1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E13590C2-17F3-463D-9C44-67DFD62BE081}"/>
              </a:ext>
            </a:extLst>
          </p:cNvPr>
          <p:cNvSpPr/>
          <p:nvPr/>
        </p:nvSpPr>
        <p:spPr bwMode="auto">
          <a:xfrm>
            <a:off x="3508375" y="2028825"/>
            <a:ext cx="5864225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/>
              <a:t>一次一密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17EB598-B80A-4BD4-A9B4-9B35CF24246B}"/>
              </a:ext>
            </a:extLst>
          </p:cNvPr>
          <p:cNvSpPr/>
          <p:nvPr/>
        </p:nvSpPr>
        <p:spPr bwMode="auto">
          <a:xfrm>
            <a:off x="3000375" y="1927225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任意多边形 7">
            <a:extLst>
              <a:ext uri="{FF2B5EF4-FFF2-40B4-BE49-F238E27FC236}">
                <a16:creationId xmlns:a16="http://schemas.microsoft.com/office/drawing/2014/main" id="{D4844E4B-87D2-4CFC-984A-DBD278B4EBC0}"/>
              </a:ext>
            </a:extLst>
          </p:cNvPr>
          <p:cNvSpPr/>
          <p:nvPr/>
        </p:nvSpPr>
        <p:spPr bwMode="auto">
          <a:xfrm>
            <a:off x="3830638" y="4287838"/>
            <a:ext cx="5541962" cy="812800"/>
          </a:xfrm>
          <a:custGeom>
            <a:avLst/>
            <a:gdLst>
              <a:gd name="connsiteX0" fmla="*/ 0 w 5493347"/>
              <a:gd name="connsiteY0" fmla="*/ 0 h 812800"/>
              <a:gd name="connsiteX1" fmla="*/ 5493347 w 5493347"/>
              <a:gd name="connsiteY1" fmla="*/ 0 h 812800"/>
              <a:gd name="connsiteX2" fmla="*/ 5493347 w 5493347"/>
              <a:gd name="connsiteY2" fmla="*/ 812800 h 812800"/>
              <a:gd name="connsiteX3" fmla="*/ 0 w 5493347"/>
              <a:gd name="connsiteY3" fmla="*/ 812800 h 812800"/>
              <a:gd name="connsiteX4" fmla="*/ 0 w 5493347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93347" h="812800">
                <a:moveTo>
                  <a:pt x="0" y="0"/>
                </a:moveTo>
                <a:lnTo>
                  <a:pt x="5493347" y="0"/>
                </a:lnTo>
                <a:lnTo>
                  <a:pt x="5493347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/>
              <a:t>同步流密码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413E350-541B-4C66-9C34-5BFD6DDF5815}"/>
              </a:ext>
            </a:extLst>
          </p:cNvPr>
          <p:cNvSpPr/>
          <p:nvPr/>
        </p:nvSpPr>
        <p:spPr bwMode="auto">
          <a:xfrm>
            <a:off x="3322638" y="4217988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任意多边形 14">
            <a:extLst>
              <a:ext uri="{FF2B5EF4-FFF2-40B4-BE49-F238E27FC236}">
                <a16:creationId xmlns:a16="http://schemas.microsoft.com/office/drawing/2014/main" id="{EB193FBF-E97D-4B4D-B58D-776E3A78C089}"/>
              </a:ext>
            </a:extLst>
          </p:cNvPr>
          <p:cNvSpPr/>
          <p:nvPr/>
        </p:nvSpPr>
        <p:spPr>
          <a:xfrm>
            <a:off x="3878263" y="3197225"/>
            <a:ext cx="5508625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/>
              <a:t>流密码的定义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509867C6-E4DA-495F-B6AF-8FAC78C7B345}"/>
              </a:ext>
            </a:extLst>
          </p:cNvPr>
          <p:cNvSpPr/>
          <p:nvPr/>
        </p:nvSpPr>
        <p:spPr>
          <a:xfrm>
            <a:off x="3370263" y="3095625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C1608E-0E58-448F-91E7-DFF15D643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kern="0" dirty="0">
                <a:solidFill>
                  <a:srgbClr val="800000"/>
                </a:solidFill>
                <a:latin typeface="Times New Roman"/>
                <a:ea typeface="宋体"/>
              </a:rPr>
              <a:t>一次一密密码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A22171-E606-4E5E-86E6-385CD3E14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075" y="1447800"/>
            <a:ext cx="10515600" cy="4579938"/>
          </a:xfrm>
        </p:spPr>
        <p:txBody>
          <a:bodyPr/>
          <a:lstStyle/>
          <a:p>
            <a:pPr marL="287338" indent="-287338" eaLnBrk="1" hangingPunct="1">
              <a:lnSpc>
                <a:spcPts val="38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kern="0" dirty="0">
                <a:solidFill>
                  <a:srgbClr val="000000"/>
                </a:solidFill>
                <a:latin typeface="+mn-lt"/>
                <a:ea typeface="+mn-ea"/>
              </a:rPr>
              <a:t>一种理想的加密方案，叫做一次一密密码（</a:t>
            </a:r>
            <a:r>
              <a:rPr lang="en-US" altLang="zh-CN" kern="0" dirty="0">
                <a:solidFill>
                  <a:srgbClr val="000000"/>
                </a:solidFill>
                <a:latin typeface="+mn-lt"/>
                <a:ea typeface="+mn-ea"/>
              </a:rPr>
              <a:t>one-time pad</a:t>
            </a:r>
            <a:r>
              <a:rPr lang="zh-CN" altLang="en-US" kern="0" dirty="0">
                <a:solidFill>
                  <a:srgbClr val="000000"/>
                </a:solidFill>
                <a:latin typeface="+mn-lt"/>
                <a:ea typeface="+mn-ea"/>
              </a:rPr>
              <a:t>），由</a:t>
            </a:r>
            <a:r>
              <a:rPr lang="en-US" altLang="zh-CN" kern="0" dirty="0">
                <a:solidFill>
                  <a:srgbClr val="000000"/>
                </a:solidFill>
                <a:latin typeface="+mn-lt"/>
                <a:ea typeface="+mn-ea"/>
              </a:rPr>
              <a:t>Major Joseph </a:t>
            </a:r>
            <a:r>
              <a:rPr lang="en-US" altLang="zh-CN" kern="0" dirty="0" err="1">
                <a:solidFill>
                  <a:srgbClr val="000000"/>
                </a:solidFill>
                <a:latin typeface="+mn-lt"/>
                <a:ea typeface="+mn-ea"/>
              </a:rPr>
              <a:t>Mauborgne</a:t>
            </a:r>
            <a:r>
              <a:rPr lang="zh-CN" altLang="en-US" kern="0" dirty="0">
                <a:solidFill>
                  <a:srgbClr val="000000"/>
                </a:solidFill>
                <a:latin typeface="+mn-lt"/>
                <a:ea typeface="+mn-ea"/>
              </a:rPr>
              <a:t>和</a:t>
            </a:r>
            <a:r>
              <a:rPr lang="en-US" altLang="zh-CN" kern="0" dirty="0">
                <a:solidFill>
                  <a:srgbClr val="000000"/>
                </a:solidFill>
                <a:latin typeface="+mn-lt"/>
                <a:ea typeface="+mn-ea"/>
              </a:rPr>
              <a:t>AT&amp;T</a:t>
            </a:r>
            <a:r>
              <a:rPr lang="zh-CN" altLang="en-US" kern="0" dirty="0">
                <a:solidFill>
                  <a:srgbClr val="000000"/>
                </a:solidFill>
                <a:latin typeface="+mn-lt"/>
                <a:ea typeface="+mn-ea"/>
              </a:rPr>
              <a:t>公司的</a:t>
            </a:r>
            <a:r>
              <a:rPr lang="en-US" altLang="zh-CN" kern="0" dirty="0">
                <a:solidFill>
                  <a:srgbClr val="000000"/>
                </a:solidFill>
                <a:latin typeface="+mn-lt"/>
                <a:ea typeface="+mn-ea"/>
              </a:rPr>
              <a:t>Gilbert Vernam1917</a:t>
            </a:r>
            <a:r>
              <a:rPr lang="zh-CN" altLang="en-US" kern="0" dirty="0">
                <a:solidFill>
                  <a:srgbClr val="000000"/>
                </a:solidFill>
                <a:latin typeface="+mn-lt"/>
                <a:ea typeface="+mn-ea"/>
              </a:rPr>
              <a:t>年发明的</a:t>
            </a:r>
          </a:p>
          <a:p>
            <a:pPr marL="287338" indent="-287338" eaLnBrk="1" hangingPunct="1">
              <a:lnSpc>
                <a:spcPts val="38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kern="0" dirty="0">
                <a:solidFill>
                  <a:srgbClr val="000000"/>
                </a:solidFill>
                <a:latin typeface="+mn-lt"/>
                <a:ea typeface="+mn-ea"/>
              </a:rPr>
              <a:t>明文：</a:t>
            </a:r>
            <a:r>
              <a:rPr lang="en-US" altLang="zh-CN" i="1" dirty="0">
                <a:latin typeface="+mn-lt"/>
                <a:ea typeface="+mn-ea"/>
              </a:rPr>
              <a:t>x=x</a:t>
            </a:r>
            <a:r>
              <a:rPr lang="en-US" altLang="zh-CN" baseline="-25000" dirty="0">
                <a:latin typeface="+mn-lt"/>
                <a:ea typeface="+mn-ea"/>
              </a:rPr>
              <a:t>0</a:t>
            </a:r>
            <a:r>
              <a:rPr lang="en-US" altLang="zh-CN" i="1" baseline="-25000" dirty="0">
                <a:latin typeface="+mn-lt"/>
                <a:ea typeface="+mn-ea"/>
              </a:rPr>
              <a:t> </a:t>
            </a:r>
            <a:r>
              <a:rPr lang="en-US" altLang="zh-CN" i="1" dirty="0">
                <a:latin typeface="+mn-lt"/>
                <a:ea typeface="+mn-ea"/>
              </a:rPr>
              <a:t>x</a:t>
            </a:r>
            <a:r>
              <a:rPr lang="en-US" altLang="zh-CN" baseline="-25000" dirty="0">
                <a:latin typeface="+mn-lt"/>
                <a:ea typeface="+mn-ea"/>
              </a:rPr>
              <a:t>1</a:t>
            </a:r>
            <a:r>
              <a:rPr lang="en-US" altLang="zh-CN" i="1" baseline="-25000" dirty="0">
                <a:latin typeface="+mn-lt"/>
                <a:ea typeface="+mn-ea"/>
              </a:rPr>
              <a:t> </a:t>
            </a:r>
            <a:r>
              <a:rPr lang="en-US" altLang="zh-CN" i="1" dirty="0">
                <a:latin typeface="+mn-lt"/>
                <a:ea typeface="+mn-ea"/>
              </a:rPr>
              <a:t>x</a:t>
            </a:r>
            <a:r>
              <a:rPr lang="en-US" altLang="zh-CN" baseline="-25000" dirty="0">
                <a:latin typeface="+mn-lt"/>
                <a:ea typeface="+mn-ea"/>
              </a:rPr>
              <a:t>2</a:t>
            </a:r>
            <a:r>
              <a:rPr lang="en-US" altLang="zh-CN" dirty="0">
                <a:latin typeface="+mn-lt"/>
                <a:ea typeface="+mn-ea"/>
              </a:rPr>
              <a:t>…</a:t>
            </a:r>
          </a:p>
          <a:p>
            <a:pPr marL="287338" indent="-287338" eaLnBrk="1" hangingPunct="1">
              <a:lnSpc>
                <a:spcPts val="38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dirty="0">
                <a:latin typeface="+mn-lt"/>
                <a:ea typeface="+mn-ea"/>
              </a:rPr>
              <a:t>密钥：</a:t>
            </a:r>
            <a:r>
              <a:rPr lang="en-US" altLang="zh-CN" i="1" dirty="0">
                <a:latin typeface="+mn-lt"/>
                <a:ea typeface="+mn-ea"/>
              </a:rPr>
              <a:t>k</a:t>
            </a:r>
            <a:r>
              <a:rPr lang="en-US" altLang="zh-CN" dirty="0">
                <a:latin typeface="+mn-lt"/>
                <a:ea typeface="+mn-ea"/>
              </a:rPr>
              <a:t>=</a:t>
            </a:r>
            <a:r>
              <a:rPr lang="en-US" altLang="zh-CN" i="1" dirty="0">
                <a:latin typeface="+mn-lt"/>
                <a:ea typeface="+mn-ea"/>
              </a:rPr>
              <a:t>k</a:t>
            </a:r>
            <a:r>
              <a:rPr lang="en-US" altLang="zh-CN" baseline="-25000" dirty="0">
                <a:latin typeface="+mn-lt"/>
                <a:ea typeface="+mn-ea"/>
              </a:rPr>
              <a:t>0</a:t>
            </a:r>
            <a:r>
              <a:rPr lang="en-US" altLang="zh-CN" i="1" dirty="0">
                <a:latin typeface="+mn-lt"/>
                <a:ea typeface="+mn-ea"/>
              </a:rPr>
              <a:t>k</a:t>
            </a:r>
            <a:r>
              <a:rPr lang="en-US" altLang="zh-CN" baseline="-25000" dirty="0">
                <a:latin typeface="+mn-lt"/>
                <a:ea typeface="+mn-ea"/>
              </a:rPr>
              <a:t>1</a:t>
            </a:r>
            <a:r>
              <a:rPr lang="en-US" altLang="zh-CN" i="1" dirty="0">
                <a:latin typeface="+mn-lt"/>
                <a:ea typeface="+mn-ea"/>
              </a:rPr>
              <a:t>k</a:t>
            </a:r>
            <a:r>
              <a:rPr lang="en-US" altLang="zh-CN" baseline="-25000" dirty="0">
                <a:latin typeface="+mn-lt"/>
                <a:ea typeface="+mn-ea"/>
              </a:rPr>
              <a:t>2</a:t>
            </a:r>
            <a:r>
              <a:rPr lang="en-US" altLang="zh-CN" dirty="0">
                <a:latin typeface="+mn-lt"/>
                <a:ea typeface="+mn-ea"/>
              </a:rPr>
              <a:t> …</a:t>
            </a:r>
          </a:p>
          <a:p>
            <a:pPr marL="287338" indent="-287338" eaLnBrk="1" hangingPunct="1">
              <a:lnSpc>
                <a:spcPts val="38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dirty="0">
                <a:latin typeface="+mn-lt"/>
                <a:ea typeface="+mn-ea"/>
              </a:rPr>
              <a:t>密文：</a:t>
            </a:r>
            <a:r>
              <a:rPr lang="en-US" altLang="zh-CN" dirty="0">
                <a:latin typeface="+mn-lt"/>
                <a:ea typeface="+mn-ea"/>
              </a:rPr>
              <a:t>y=</a:t>
            </a:r>
            <a:r>
              <a:rPr lang="en-US" altLang="zh-CN" i="1" dirty="0">
                <a:latin typeface="+mn-lt"/>
                <a:ea typeface="+mn-ea"/>
              </a:rPr>
              <a:t>y</a:t>
            </a:r>
            <a:r>
              <a:rPr lang="en-US" altLang="zh-CN" baseline="-25000" dirty="0">
                <a:latin typeface="+mn-lt"/>
                <a:ea typeface="+mn-ea"/>
              </a:rPr>
              <a:t>0</a:t>
            </a:r>
            <a:r>
              <a:rPr lang="en-US" altLang="zh-CN" i="1" dirty="0">
                <a:latin typeface="+mn-lt"/>
                <a:ea typeface="+mn-ea"/>
              </a:rPr>
              <a:t>y</a:t>
            </a:r>
            <a:r>
              <a:rPr lang="en-US" altLang="zh-CN" baseline="-25000" dirty="0">
                <a:latin typeface="+mn-lt"/>
                <a:ea typeface="+mn-ea"/>
              </a:rPr>
              <a:t>1</a:t>
            </a:r>
            <a:r>
              <a:rPr lang="en-US" altLang="zh-CN" i="1" dirty="0">
                <a:latin typeface="+mn-lt"/>
                <a:ea typeface="+mn-ea"/>
              </a:rPr>
              <a:t>y</a:t>
            </a:r>
            <a:r>
              <a:rPr lang="en-US" altLang="zh-CN" baseline="-25000" dirty="0">
                <a:latin typeface="+mn-lt"/>
                <a:ea typeface="+mn-ea"/>
              </a:rPr>
              <a:t>2</a:t>
            </a:r>
            <a:r>
              <a:rPr lang="en-US" altLang="zh-CN" dirty="0">
                <a:latin typeface="+mn-lt"/>
                <a:ea typeface="+mn-ea"/>
              </a:rPr>
              <a:t> …</a:t>
            </a:r>
          </a:p>
          <a:p>
            <a:pPr marL="287338" indent="-287338" eaLnBrk="1" hangingPunct="1">
              <a:lnSpc>
                <a:spcPts val="38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dirty="0">
                <a:latin typeface="+mn-lt"/>
                <a:ea typeface="+mn-ea"/>
              </a:rPr>
              <a:t>加密函数：</a:t>
            </a:r>
            <a:r>
              <a:rPr lang="en-US" altLang="zh-CN" i="1" dirty="0">
                <a:latin typeface="+mn-lt"/>
                <a:ea typeface="+mn-ea"/>
              </a:rPr>
              <a:t>y</a:t>
            </a:r>
            <a:r>
              <a:rPr lang="en-US" altLang="zh-CN" baseline="-25000" dirty="0">
                <a:latin typeface="+mn-lt"/>
                <a:ea typeface="+mn-ea"/>
              </a:rPr>
              <a:t>i</a:t>
            </a:r>
            <a:r>
              <a:rPr lang="en-US" altLang="zh-CN" dirty="0">
                <a:latin typeface="+mn-lt"/>
                <a:ea typeface="+mn-ea"/>
              </a:rPr>
              <a:t>=</a:t>
            </a:r>
            <a:r>
              <a:rPr lang="en-US" altLang="zh-CN" i="1" dirty="0">
                <a:latin typeface="+mn-lt"/>
                <a:ea typeface="+mn-ea"/>
              </a:rPr>
              <a:t>x</a:t>
            </a:r>
            <a:r>
              <a:rPr lang="en-US" altLang="zh-CN" baseline="-25000" dirty="0">
                <a:latin typeface="+mn-lt"/>
                <a:ea typeface="+mn-ea"/>
              </a:rPr>
              <a:t>i</a:t>
            </a:r>
            <a:r>
              <a:rPr lang="en-US" altLang="zh-CN" dirty="0">
                <a:latin typeface="+mn-lt"/>
                <a:ea typeface="+mn-ea"/>
              </a:rPr>
              <a:t>+</a:t>
            </a:r>
            <a:r>
              <a:rPr lang="en-US" altLang="zh-CN" i="1" dirty="0">
                <a:latin typeface="+mn-lt"/>
                <a:ea typeface="+mn-ea"/>
              </a:rPr>
              <a:t>k</a:t>
            </a:r>
            <a:r>
              <a:rPr lang="en-US" altLang="zh-CN" baseline="-25000" dirty="0">
                <a:latin typeface="+mn-lt"/>
                <a:ea typeface="+mn-ea"/>
              </a:rPr>
              <a:t>i</a:t>
            </a:r>
            <a:r>
              <a:rPr lang="en-US" altLang="zh-CN" dirty="0">
                <a:latin typeface="+mn-lt"/>
                <a:ea typeface="+mn-ea"/>
              </a:rPr>
              <a:t>(mod26)</a:t>
            </a:r>
          </a:p>
          <a:p>
            <a:pPr marL="287338" indent="-287338" eaLnBrk="1" hangingPunct="1">
              <a:lnSpc>
                <a:spcPts val="38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dirty="0">
                <a:latin typeface="+mn-lt"/>
                <a:ea typeface="+mn-ea"/>
              </a:rPr>
              <a:t>解密函数：</a:t>
            </a:r>
            <a:r>
              <a:rPr lang="en-US" altLang="zh-CN" i="1" dirty="0">
                <a:latin typeface="+mn-lt"/>
                <a:ea typeface="+mn-ea"/>
              </a:rPr>
              <a:t>x</a:t>
            </a:r>
            <a:r>
              <a:rPr lang="en-US" altLang="zh-CN" baseline="-25000" dirty="0">
                <a:latin typeface="+mn-lt"/>
              </a:rPr>
              <a:t>i</a:t>
            </a:r>
            <a:r>
              <a:rPr lang="en-US" altLang="zh-CN" dirty="0">
                <a:latin typeface="+mn-lt"/>
              </a:rPr>
              <a:t>=</a:t>
            </a:r>
            <a:r>
              <a:rPr lang="en-US" altLang="zh-CN" i="1" dirty="0">
                <a:latin typeface="+mn-lt"/>
              </a:rPr>
              <a:t>y</a:t>
            </a:r>
            <a:r>
              <a:rPr lang="en-US" altLang="zh-CN" baseline="-25000" dirty="0">
                <a:latin typeface="+mn-lt"/>
              </a:rPr>
              <a:t>i</a:t>
            </a:r>
            <a:r>
              <a:rPr lang="en-US" altLang="zh-CN" dirty="0">
                <a:latin typeface="+mn-lt"/>
              </a:rPr>
              <a:t>-</a:t>
            </a:r>
            <a:r>
              <a:rPr lang="en-US" altLang="zh-CN" i="1" dirty="0" err="1">
                <a:latin typeface="+mn-lt"/>
              </a:rPr>
              <a:t>k</a:t>
            </a:r>
            <a:r>
              <a:rPr lang="en-US" altLang="zh-CN" baseline="-25000" dirty="0" err="1">
                <a:latin typeface="+mn-lt"/>
              </a:rPr>
              <a:t>i</a:t>
            </a:r>
            <a:r>
              <a:rPr lang="en-US" altLang="zh-CN" dirty="0">
                <a:latin typeface="+mn-lt"/>
              </a:rPr>
              <a:t>(mod26)</a:t>
            </a:r>
            <a:endParaRPr lang="en-US" altLang="zh-CN" dirty="0">
              <a:latin typeface="+mn-lt"/>
              <a:ea typeface="+mn-ea"/>
            </a:endParaRPr>
          </a:p>
          <a:p>
            <a:pPr marL="287338" indent="-287338" eaLnBrk="1" hangingPunct="1">
              <a:lnSpc>
                <a:spcPts val="38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dirty="0">
                <a:latin typeface="+mn-lt"/>
                <a:ea typeface="+mn-ea"/>
              </a:rPr>
              <a:t>注：密钥为随机产生的，而且只使用一次</a:t>
            </a:r>
            <a:endParaRPr lang="en-US" altLang="zh-CN" dirty="0">
              <a:latin typeface="+mn-lt"/>
              <a:ea typeface="+mn-ea"/>
            </a:endParaRPr>
          </a:p>
          <a:p>
            <a:pPr marL="287338" indent="-287338" eaLnBrk="1" hangingPunct="1">
              <a:lnSpc>
                <a:spcPts val="3800"/>
              </a:lnSpc>
              <a:spcBef>
                <a:spcPct val="20000"/>
              </a:spcBef>
              <a:buFontTx/>
              <a:buChar char="•"/>
              <a:defRPr/>
            </a:pPr>
            <a:endParaRPr lang="en-US" altLang="zh-CN" dirty="0">
              <a:latin typeface="+mn-lt"/>
            </a:endParaRPr>
          </a:p>
          <a:p>
            <a:pPr marL="287338" indent="-287338" eaLnBrk="1" hangingPunct="1">
              <a:lnSpc>
                <a:spcPts val="3800"/>
              </a:lnSpc>
              <a:spcBef>
                <a:spcPct val="20000"/>
              </a:spcBef>
              <a:buFontTx/>
              <a:buChar char="•"/>
              <a:defRPr/>
            </a:pPr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Group 26">
            <a:extLst>
              <a:ext uri="{FF2B5EF4-FFF2-40B4-BE49-F238E27FC236}">
                <a16:creationId xmlns:a16="http://schemas.microsoft.com/office/drawing/2014/main" id="{6E74F9A9-0EB7-4EB6-94B6-2F166A619D01}"/>
              </a:ext>
            </a:extLst>
          </p:cNvPr>
          <p:cNvGrpSpPr>
            <a:grpSpLocks/>
          </p:cNvGrpSpPr>
          <p:nvPr/>
        </p:nvGrpSpPr>
        <p:grpSpPr bwMode="auto">
          <a:xfrm>
            <a:off x="1738313" y="1643063"/>
            <a:ext cx="8286750" cy="4230687"/>
            <a:chOff x="576" y="1824"/>
            <a:chExt cx="3935" cy="2169"/>
          </a:xfrm>
        </p:grpSpPr>
        <p:sp>
          <p:nvSpPr>
            <p:cNvPr id="34820" name="Rectangle 3">
              <a:extLst>
                <a:ext uri="{FF2B5EF4-FFF2-40B4-BE49-F238E27FC236}">
                  <a16:creationId xmlns:a16="http://schemas.microsoft.com/office/drawing/2014/main" id="{CD3F1C6B-2248-4E43-ADD7-7B2F767BD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" y="2016"/>
              <a:ext cx="1833" cy="432"/>
            </a:xfrm>
            <a:prstGeom prst="rect">
              <a:avLst/>
            </a:prstGeom>
            <a:solidFill>
              <a:srgbClr val="FFFF9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lIns="36000" rIns="3600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de-DE" sz="2400" b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de-DE" altLang="zh-CN" sz="2400" b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m</a:t>
              </a:r>
            </a:p>
          </p:txBody>
        </p:sp>
        <p:grpSp>
          <p:nvGrpSpPr>
            <p:cNvPr id="34821" name="Group 4">
              <a:extLst>
                <a:ext uri="{FF2B5EF4-FFF2-40B4-BE49-F238E27FC236}">
                  <a16:creationId xmlns:a16="http://schemas.microsoft.com/office/drawing/2014/main" id="{64102F92-9168-402C-AE1C-E9E838E861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2016"/>
              <a:ext cx="1967" cy="432"/>
              <a:chOff x="2544" y="2016"/>
              <a:chExt cx="1967" cy="432"/>
            </a:xfrm>
          </p:grpSpPr>
          <p:grpSp>
            <p:nvGrpSpPr>
              <p:cNvPr id="34836" name="Group 5">
                <a:extLst>
                  <a:ext uri="{FF2B5EF4-FFF2-40B4-BE49-F238E27FC236}">
                    <a16:creationId xmlns:a16="http://schemas.microsoft.com/office/drawing/2014/main" id="{20F361FD-AF66-4B2E-B77E-50979C4BC2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28" y="2090"/>
                <a:ext cx="192" cy="333"/>
                <a:chOff x="2544" y="2138"/>
                <a:chExt cx="192" cy="333"/>
              </a:xfrm>
            </p:grpSpPr>
            <p:sp>
              <p:nvSpPr>
                <p:cNvPr id="34840" name="Oval 6">
                  <a:extLst>
                    <a:ext uri="{FF2B5EF4-FFF2-40B4-BE49-F238E27FC236}">
                      <a16:creationId xmlns:a16="http://schemas.microsoft.com/office/drawing/2014/main" id="{5942C060-5AA2-4743-A18C-566BBE8039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4" y="2138"/>
                  <a:ext cx="192" cy="333"/>
                </a:xfrm>
                <a:prstGeom prst="ellipse">
                  <a:avLst/>
                </a:prstGeom>
                <a:solidFill>
                  <a:srgbClr val="FFFF99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zh-CN" altLang="en-US" sz="2400" b="0">
                    <a:solidFill>
                      <a:srgbClr val="000000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4841" name="Line 7">
                  <a:extLst>
                    <a:ext uri="{FF2B5EF4-FFF2-40B4-BE49-F238E27FC236}">
                      <a16:creationId xmlns:a16="http://schemas.microsoft.com/office/drawing/2014/main" id="{66EE1148-7C3C-43EC-9253-D6AA2024375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40" y="2208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842" name="Line 8">
                  <a:extLst>
                    <a:ext uri="{FF2B5EF4-FFF2-40B4-BE49-F238E27FC236}">
                      <a16:creationId xmlns:a16="http://schemas.microsoft.com/office/drawing/2014/main" id="{B4724494-10A2-402A-B439-15F6EAD5F9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4" y="2304"/>
                  <a:ext cx="19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34837" name="Line 9">
                <a:extLst>
                  <a:ext uri="{FF2B5EF4-FFF2-40B4-BE49-F238E27FC236}">
                    <a16:creationId xmlns:a16="http://schemas.microsoft.com/office/drawing/2014/main" id="{424A6712-C23A-4FCA-8422-961612EDFA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544" y="2256"/>
                <a:ext cx="3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38" name="Rectangle 10">
                <a:extLst>
                  <a:ext uri="{FF2B5EF4-FFF2-40B4-BE49-F238E27FC236}">
                    <a16:creationId xmlns:a16="http://schemas.microsoft.com/office/drawing/2014/main" id="{213E32CD-1F73-460E-99A7-FE5040EEC0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016"/>
                <a:ext cx="1103" cy="432"/>
              </a:xfrm>
              <a:prstGeom prst="rect">
                <a:avLst/>
              </a:prstGeom>
              <a:solidFill>
                <a:srgbClr val="FFFF9D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lIns="36000" rIns="36000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de-DE" sz="2400" b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密文  </a:t>
                </a:r>
                <a:r>
                  <a:rPr lang="de-DE" altLang="zh-CN" sz="2000" b="0">
                    <a:solidFill>
                      <a:srgbClr val="000000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rPr>
                  <a:t>C</a:t>
                </a:r>
                <a:endParaRPr lang="de-DE" altLang="zh-CN" sz="2000" b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39" name="Line 11">
                <a:extLst>
                  <a:ext uri="{FF2B5EF4-FFF2-40B4-BE49-F238E27FC236}">
                    <a16:creationId xmlns:a16="http://schemas.microsoft.com/office/drawing/2014/main" id="{D89611CE-7C40-4318-8D32-D23F57FF72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20" y="225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4822" name="Group 12">
              <a:extLst>
                <a:ext uri="{FF2B5EF4-FFF2-40B4-BE49-F238E27FC236}">
                  <a16:creationId xmlns:a16="http://schemas.microsoft.com/office/drawing/2014/main" id="{0D980366-8E6C-4B35-9D9E-3C47EF6DB6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2640"/>
              <a:ext cx="1968" cy="1201"/>
              <a:chOff x="576" y="2640"/>
              <a:chExt cx="1968" cy="1201"/>
            </a:xfrm>
          </p:grpSpPr>
          <p:sp>
            <p:nvSpPr>
              <p:cNvPr id="34831" name="Rectangle 13">
                <a:extLst>
                  <a:ext uri="{FF2B5EF4-FFF2-40B4-BE49-F238E27FC236}">
                    <a16:creationId xmlns:a16="http://schemas.microsoft.com/office/drawing/2014/main" id="{26C86B63-81B2-4EBB-B986-0F7F1ABE1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640"/>
                <a:ext cx="1968" cy="1201"/>
              </a:xfrm>
              <a:prstGeom prst="rect">
                <a:avLst/>
              </a:prstGeom>
              <a:solidFill>
                <a:srgbClr val="A3FBB8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107763" dir="2700000" algn="ctr" rotWithShape="0">
                  <a:schemeClr val="bg2"/>
                </a:outerShdw>
              </a:effectLst>
            </p:spPr>
            <p:txBody>
              <a:bodyPr wrap="none"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de-DE" altLang="zh-CN" sz="2400" b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One-Time Pad</a:t>
                </a: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de-DE" altLang="zh-CN" sz="2400" b="0">
                    <a:solidFill>
                      <a:srgbClr val="00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k bits of random key  </a:t>
                </a:r>
                <a:r>
                  <a:rPr lang="de-DE" altLang="zh-CN" sz="2000" b="0">
                    <a:solidFill>
                      <a:srgbClr val="000000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rPr>
                  <a:t>K</a:t>
                </a:r>
                <a:endParaRPr lang="de-DE" altLang="zh-CN" sz="2400" b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de-DE" altLang="zh-CN" sz="2400" b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de-DE" altLang="zh-CN" sz="2400" b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de-DE" altLang="zh-CN" sz="2400" b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de-DE" sz="2400" b="0">
                  <a:solidFill>
                    <a:srgbClr val="000000"/>
                  </a:solidFill>
                  <a:latin typeface="Courier New" panose="02070309020205020404" pitchFamily="49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32" name="Text Box 14">
                <a:extLst>
                  <a:ext uri="{FF2B5EF4-FFF2-40B4-BE49-F238E27FC236}">
                    <a16:creationId xmlns:a16="http://schemas.microsoft.com/office/drawing/2014/main" id="{D082788C-CC45-4350-97F2-B419DA8565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" y="3309"/>
                <a:ext cx="1776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de-DE" sz="2400" b="0">
                    <a:solidFill>
                      <a:srgbClr val="000000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rPr>
                  <a:t>1 0 0 1 1 0 1 0 1 0</a:t>
                </a:r>
              </a:p>
            </p:txBody>
          </p:sp>
          <p:sp>
            <p:nvSpPr>
              <p:cNvPr id="34833" name="Text Box 15">
                <a:extLst>
                  <a:ext uri="{FF2B5EF4-FFF2-40B4-BE49-F238E27FC236}">
                    <a16:creationId xmlns:a16="http://schemas.microsoft.com/office/drawing/2014/main" id="{90E69FAA-B923-4CD2-82AB-0107821FFF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" y="3069"/>
                <a:ext cx="1776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de-DE" sz="2400" b="0">
                    <a:solidFill>
                      <a:srgbClr val="000000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rPr>
                  <a:t>0 1 1 1 0 1 1 0 1 1</a:t>
                </a:r>
              </a:p>
            </p:txBody>
          </p:sp>
          <p:sp>
            <p:nvSpPr>
              <p:cNvPr id="34834" name="Line 16">
                <a:extLst>
                  <a:ext uri="{FF2B5EF4-FFF2-40B4-BE49-F238E27FC236}">
                    <a16:creationId xmlns:a16="http://schemas.microsoft.com/office/drawing/2014/main" id="{F1722524-BA5E-4BFC-93DA-277F965E04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3186"/>
                <a:ext cx="177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35" name="Text Box 17">
                <a:extLst>
                  <a:ext uri="{FF2B5EF4-FFF2-40B4-BE49-F238E27FC236}">
                    <a16:creationId xmlns:a16="http://schemas.microsoft.com/office/drawing/2014/main" id="{F216360D-C292-4020-BFC2-381AD4C328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" y="3549"/>
                <a:ext cx="1776" cy="2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de-DE" sz="2400" b="0">
                    <a:solidFill>
                      <a:srgbClr val="000000"/>
                    </a:solidFill>
                    <a:latin typeface="Courier New" panose="02070309020205020404" pitchFamily="49" charset="0"/>
                    <a:ea typeface="宋体" panose="02010600030101010101" pitchFamily="2" charset="-122"/>
                  </a:rPr>
                  <a:t>1 1 0 1 0 0 0 1 1 1</a:t>
                </a:r>
              </a:p>
            </p:txBody>
          </p:sp>
        </p:grpSp>
        <p:grpSp>
          <p:nvGrpSpPr>
            <p:cNvPr id="34823" name="Group 18">
              <a:extLst>
                <a:ext uri="{FF2B5EF4-FFF2-40B4-BE49-F238E27FC236}">
                  <a16:creationId xmlns:a16="http://schemas.microsoft.com/office/drawing/2014/main" id="{CF6E927B-D85A-42F3-8E1A-BA67879A1E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2" y="2352"/>
              <a:ext cx="3657" cy="1184"/>
              <a:chOff x="672" y="2352"/>
              <a:chExt cx="3657" cy="1184"/>
            </a:xfrm>
          </p:grpSpPr>
          <p:sp>
            <p:nvSpPr>
              <p:cNvPr id="34827" name="Rectangle 19">
                <a:extLst>
                  <a:ext uri="{FF2B5EF4-FFF2-40B4-BE49-F238E27FC236}">
                    <a16:creationId xmlns:a16="http://schemas.microsoft.com/office/drawing/2014/main" id="{AED29896-F7B8-45C8-B11A-1D3320E0D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3312"/>
                <a:ext cx="1776" cy="224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/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endParaRPr lang="zh-CN" altLang="zh-CN" sz="2400" b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4828" name="Line 20">
                <a:extLst>
                  <a:ext uri="{FF2B5EF4-FFF2-40B4-BE49-F238E27FC236}">
                    <a16:creationId xmlns:a16="http://schemas.microsoft.com/office/drawing/2014/main" id="{0CEB44C8-70E1-4A47-85D9-75D5DE3729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3408"/>
                <a:ext cx="576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29" name="Line 21">
                <a:extLst>
                  <a:ext uri="{FF2B5EF4-FFF2-40B4-BE49-F238E27FC236}">
                    <a16:creationId xmlns:a16="http://schemas.microsoft.com/office/drawing/2014/main" id="{C1D242B7-0309-47FE-98BF-DFF0532C09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24" y="2352"/>
                <a:ext cx="0" cy="105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30" name="Text Box 22">
                <a:extLst>
                  <a:ext uri="{FF2B5EF4-FFF2-40B4-BE49-F238E27FC236}">
                    <a16:creationId xmlns:a16="http://schemas.microsoft.com/office/drawing/2014/main" id="{50E4689C-94F7-419A-8656-4DAB07019C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2689"/>
                <a:ext cx="1257" cy="4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50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仿宋" panose="02010609060101010101" pitchFamily="49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de-DE" sz="2400" b="0">
                    <a:solidFill>
                      <a:srgbClr val="FF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使用随机数序列，</a:t>
                </a:r>
                <a:endParaRPr lang="en-US" altLang="zh-CN" sz="2400" b="0">
                  <a:solidFill>
                    <a:srgbClr val="FF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  <a:p>
                <a: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zh-CN" altLang="de-DE" sz="2400" b="0">
                    <a:solidFill>
                      <a:srgbClr val="FF0000"/>
                    </a:solidFill>
                    <a:latin typeface="Arial" panose="020B0604020202020204" pitchFamily="34" charset="0"/>
                    <a:ea typeface="宋体" panose="02010600030101010101" pitchFamily="2" charset="-122"/>
                  </a:rPr>
                  <a:t>并且只能使用一次</a:t>
                </a:r>
                <a:endParaRPr lang="zh-CN" altLang="de-DE" sz="2400" b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34824" name="Rectangle 23">
              <a:extLst>
                <a:ext uri="{FF2B5EF4-FFF2-40B4-BE49-F238E27FC236}">
                  <a16:creationId xmlns:a16="http://schemas.microsoft.com/office/drawing/2014/main" id="{FB440434-D3E7-4DDE-A23E-3FDE1C93F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688"/>
              <a:ext cx="180" cy="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0">
                  <a:solidFill>
                    <a:srgbClr val="FF3300"/>
                  </a:solidFill>
                  <a:latin typeface="Comic Sans MS" panose="030F0702030302020204" pitchFamily="66" charset="0"/>
                  <a:ea typeface="宋体" panose="02010600030101010101" pitchFamily="2" charset="-122"/>
                </a:rPr>
                <a:t>k</a:t>
              </a:r>
            </a:p>
          </p:txBody>
        </p:sp>
        <p:sp>
          <p:nvSpPr>
            <p:cNvPr id="34825" name="Rectangle 24">
              <a:extLst>
                <a:ext uri="{FF2B5EF4-FFF2-40B4-BE49-F238E27FC236}">
                  <a16:creationId xmlns:a16="http://schemas.microsoft.com/office/drawing/2014/main" id="{84587EA1-4007-4B9C-9B15-11AF33AEA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3" y="3188"/>
              <a:ext cx="756" cy="8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0⊕0 = 0</a:t>
              </a:r>
            </a:p>
            <a:p>
              <a:pPr algn="just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0⊕1 = 1</a:t>
              </a:r>
            </a:p>
            <a:p>
              <a:pPr algn="just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1⊕0 = 1</a:t>
              </a:r>
            </a:p>
            <a:p>
              <a:pPr algn="just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solidFill>
                    <a:srgbClr val="000000"/>
                  </a:solidFill>
                  <a:ea typeface="宋体" panose="02010600030101010101" pitchFamily="2" charset="-122"/>
                </a:rPr>
                <a:t>1⊕1 = 0</a:t>
              </a:r>
            </a:p>
          </p:txBody>
        </p:sp>
        <p:sp>
          <p:nvSpPr>
            <p:cNvPr id="34826" name="Rectangle 25">
              <a:extLst>
                <a:ext uri="{FF2B5EF4-FFF2-40B4-BE49-F238E27FC236}">
                  <a16:creationId xmlns:a16="http://schemas.microsoft.com/office/drawing/2014/main" id="{B0B0A5CE-BF47-4840-9D25-4AEDC3A23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824"/>
              <a:ext cx="38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kumimoji="1" lang="zh-CN" altLang="en-US" sz="2400" b="0">
                  <a:solidFill>
                    <a:srgbClr val="000000"/>
                  </a:solidFill>
                  <a:ea typeface="宋体" panose="02010600030101010101" pitchFamily="2" charset="-122"/>
                </a:rPr>
                <a:t>异或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C5A2EED5-D593-445B-83ED-F040F560B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kern="0" dirty="0">
                <a:solidFill>
                  <a:srgbClr val="800000"/>
                </a:solidFill>
                <a:latin typeface="Times New Roman"/>
                <a:ea typeface="宋体"/>
              </a:rPr>
              <a:t>一次一密密码 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0E504-C38F-4093-8738-A225129B2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一次一密密码的特点</a:t>
            </a:r>
          </a:p>
        </p:txBody>
      </p:sp>
      <p:sp>
        <p:nvSpPr>
          <p:cNvPr id="31747" name="内容占位符 2">
            <a:extLst>
              <a:ext uri="{FF2B5EF4-FFF2-40B4-BE49-F238E27FC236}">
                <a16:creationId xmlns:a16="http://schemas.microsoft.com/office/drawing/2014/main" id="{AB0CD7F8-36B4-4C79-9648-E82D00BC8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800"/>
              <a:t>优点：</a:t>
            </a:r>
            <a:endParaRPr lang="en-US" altLang="zh-CN" sz="2800"/>
          </a:p>
          <a:p>
            <a:pPr lvl="1">
              <a:lnSpc>
                <a:spcPct val="130000"/>
              </a:lnSpc>
            </a:pPr>
            <a:r>
              <a:rPr lang="zh-CN" altLang="en-US" sz="2400"/>
              <a:t>密钥随机产生，仅使用一次</a:t>
            </a:r>
          </a:p>
          <a:p>
            <a:pPr lvl="1">
              <a:lnSpc>
                <a:spcPct val="130000"/>
              </a:lnSpc>
            </a:pPr>
            <a:r>
              <a:rPr lang="zh-CN" altLang="en-US" sz="2400"/>
              <a:t>无条件安全</a:t>
            </a:r>
            <a:endParaRPr lang="en-US" altLang="zh-CN" sz="2400"/>
          </a:p>
          <a:p>
            <a:pPr lvl="1">
              <a:lnSpc>
                <a:spcPct val="130000"/>
              </a:lnSpc>
            </a:pPr>
            <a:r>
              <a:rPr lang="zh-CN" altLang="en-US" sz="2400"/>
              <a:t>加密和解密为加法运算，效率较高</a:t>
            </a:r>
            <a:endParaRPr lang="en-US" altLang="zh-CN" sz="2400"/>
          </a:p>
          <a:p>
            <a:pPr>
              <a:lnSpc>
                <a:spcPct val="130000"/>
              </a:lnSpc>
            </a:pPr>
            <a:r>
              <a:rPr lang="zh-CN" altLang="en-US" sz="2800"/>
              <a:t>缺点：</a:t>
            </a:r>
            <a:endParaRPr lang="en-US" altLang="zh-CN" sz="2800"/>
          </a:p>
          <a:p>
            <a:pPr lvl="1">
              <a:lnSpc>
                <a:spcPct val="130000"/>
              </a:lnSpc>
            </a:pPr>
            <a:r>
              <a:rPr lang="zh-CN" altLang="en-US" sz="2400"/>
              <a:t>密钥长度至少与明文长度一样长，密钥共享困难，不太实用</a:t>
            </a:r>
            <a:endParaRPr lang="en-US" altLang="zh-CN" sz="2400"/>
          </a:p>
          <a:p>
            <a:pPr lvl="1"/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8D406-5F2D-4CC4-B651-4D4A1008C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2550" y="365125"/>
            <a:ext cx="6778625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流密码的基本概念</a:t>
            </a:r>
          </a:p>
        </p:txBody>
      </p:sp>
      <p:sp>
        <p:nvSpPr>
          <p:cNvPr id="5" name="空心弧 4">
            <a:extLst>
              <a:ext uri="{FF2B5EF4-FFF2-40B4-BE49-F238E27FC236}">
                <a16:creationId xmlns:a16="http://schemas.microsoft.com/office/drawing/2014/main" id="{318148B7-7786-49E8-855D-FAD8A76C837D}"/>
              </a:ext>
            </a:extLst>
          </p:cNvPr>
          <p:cNvSpPr/>
          <p:nvPr/>
        </p:nvSpPr>
        <p:spPr bwMode="auto">
          <a:xfrm>
            <a:off x="-1627188" y="1231900"/>
            <a:ext cx="5472113" cy="5473700"/>
          </a:xfrm>
          <a:prstGeom prst="blockArc">
            <a:avLst>
              <a:gd name="adj1" fmla="val 18439391"/>
              <a:gd name="adj2" fmla="val 2240787"/>
              <a:gd name="adj3" fmla="val 0"/>
            </a:avLst>
          </a:prstGeom>
        </p:spPr>
        <p:style>
          <a:lnRef idx="1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2D476551-C2C5-4EC4-8CCF-8A5A9D6BF5C8}"/>
              </a:ext>
            </a:extLst>
          </p:cNvPr>
          <p:cNvSpPr/>
          <p:nvPr/>
        </p:nvSpPr>
        <p:spPr bwMode="auto">
          <a:xfrm>
            <a:off x="3508375" y="2028825"/>
            <a:ext cx="5864225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/>
              <a:t>一次一密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5E5B117-1D97-4797-A023-7E451EB6423B}"/>
              </a:ext>
            </a:extLst>
          </p:cNvPr>
          <p:cNvSpPr/>
          <p:nvPr/>
        </p:nvSpPr>
        <p:spPr bwMode="auto">
          <a:xfrm>
            <a:off x="3000375" y="1927225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任意多边形 7">
            <a:extLst>
              <a:ext uri="{FF2B5EF4-FFF2-40B4-BE49-F238E27FC236}">
                <a16:creationId xmlns:a16="http://schemas.microsoft.com/office/drawing/2014/main" id="{77D6A71D-F2C9-47B4-9D4E-7B99C3F03651}"/>
              </a:ext>
            </a:extLst>
          </p:cNvPr>
          <p:cNvSpPr/>
          <p:nvPr/>
        </p:nvSpPr>
        <p:spPr bwMode="auto">
          <a:xfrm>
            <a:off x="3830638" y="4287838"/>
            <a:ext cx="5541962" cy="812800"/>
          </a:xfrm>
          <a:custGeom>
            <a:avLst/>
            <a:gdLst>
              <a:gd name="connsiteX0" fmla="*/ 0 w 5493347"/>
              <a:gd name="connsiteY0" fmla="*/ 0 h 812800"/>
              <a:gd name="connsiteX1" fmla="*/ 5493347 w 5493347"/>
              <a:gd name="connsiteY1" fmla="*/ 0 h 812800"/>
              <a:gd name="connsiteX2" fmla="*/ 5493347 w 5493347"/>
              <a:gd name="connsiteY2" fmla="*/ 812800 h 812800"/>
              <a:gd name="connsiteX3" fmla="*/ 0 w 5493347"/>
              <a:gd name="connsiteY3" fmla="*/ 812800 h 812800"/>
              <a:gd name="connsiteX4" fmla="*/ 0 w 5493347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93347" h="812800">
                <a:moveTo>
                  <a:pt x="0" y="0"/>
                </a:moveTo>
                <a:lnTo>
                  <a:pt x="5493347" y="0"/>
                </a:lnTo>
                <a:lnTo>
                  <a:pt x="5493347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>
                <a:latin typeface="仿宋" charset="-122"/>
              </a:rPr>
              <a:t>同步流密码</a:t>
            </a:r>
            <a:endParaRPr lang="zh-CN" altLang="en-US" sz="2400" b="1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F8F17CB-4846-49A2-A442-76E74EE53304}"/>
              </a:ext>
            </a:extLst>
          </p:cNvPr>
          <p:cNvSpPr/>
          <p:nvPr/>
        </p:nvSpPr>
        <p:spPr bwMode="auto">
          <a:xfrm>
            <a:off x="3322638" y="4217988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任意多边形 14">
            <a:extLst>
              <a:ext uri="{FF2B5EF4-FFF2-40B4-BE49-F238E27FC236}">
                <a16:creationId xmlns:a16="http://schemas.microsoft.com/office/drawing/2014/main" id="{DB406C27-9BAE-43A1-ABD9-C0E212705A6E}"/>
              </a:ext>
            </a:extLst>
          </p:cNvPr>
          <p:cNvSpPr/>
          <p:nvPr/>
        </p:nvSpPr>
        <p:spPr>
          <a:xfrm>
            <a:off x="3878263" y="3197225"/>
            <a:ext cx="5508625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/>
              <a:t>流密码的定义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4E2E407-D520-48CC-B70F-3D1F83107A6F}"/>
              </a:ext>
            </a:extLst>
          </p:cNvPr>
          <p:cNvSpPr/>
          <p:nvPr/>
        </p:nvSpPr>
        <p:spPr>
          <a:xfrm>
            <a:off x="3370263" y="3095625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AFD8AD18-D57B-417D-8AFE-19355C1DEE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228600"/>
            <a:ext cx="6096000" cy="733425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流密码概况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5FD41CAD-ADD7-400F-8B10-9D8A41E01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1295400"/>
            <a:ext cx="8229600" cy="47244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800"/>
              <a:t>流密码</a:t>
            </a:r>
            <a:r>
              <a:rPr lang="en-US" altLang="zh-CN" sz="2800"/>
              <a:t>(stream cipher)</a:t>
            </a:r>
            <a:r>
              <a:rPr lang="zh-CN" altLang="en-US" sz="2800"/>
              <a:t>是一种重要的密码体制</a:t>
            </a:r>
          </a:p>
          <a:p>
            <a:pPr lvl="1">
              <a:lnSpc>
                <a:spcPct val="130000"/>
              </a:lnSpc>
            </a:pPr>
            <a:r>
              <a:rPr lang="zh-CN" altLang="en-US" sz="2400"/>
              <a:t>明文消息按字符或比特逐位加密</a:t>
            </a:r>
          </a:p>
          <a:p>
            <a:pPr lvl="1">
              <a:lnSpc>
                <a:spcPct val="130000"/>
              </a:lnSpc>
            </a:pPr>
            <a:r>
              <a:rPr lang="zh-CN" altLang="en-US" sz="2400"/>
              <a:t>流密码也称为序列密码</a:t>
            </a:r>
            <a:r>
              <a:rPr lang="en-US" altLang="zh-CN" sz="2400"/>
              <a:t>(Sequence Cipher)</a:t>
            </a:r>
          </a:p>
          <a:p>
            <a:pPr>
              <a:lnSpc>
                <a:spcPct val="130000"/>
              </a:lnSpc>
            </a:pPr>
            <a:r>
              <a:rPr lang="zh-CN" altLang="en-US" sz="2800"/>
              <a:t>流密码在</a:t>
            </a:r>
            <a:r>
              <a:rPr lang="en-US" altLang="zh-CN" sz="2800"/>
              <a:t>20</a:t>
            </a:r>
            <a:r>
              <a:rPr lang="zh-CN" altLang="en-US" sz="2800"/>
              <a:t>世纪</a:t>
            </a:r>
            <a:r>
              <a:rPr lang="en-US" altLang="zh-CN" sz="2800"/>
              <a:t>50</a:t>
            </a:r>
            <a:r>
              <a:rPr lang="zh-CN" altLang="en-US" sz="2800"/>
              <a:t>年代得到飞跃式发展</a:t>
            </a:r>
          </a:p>
          <a:p>
            <a:pPr lvl="1">
              <a:lnSpc>
                <a:spcPct val="130000"/>
              </a:lnSpc>
            </a:pPr>
            <a:r>
              <a:rPr lang="zh-CN" altLang="en-US" sz="2400"/>
              <a:t>密钥流可以用移位寄存器电路来产生，也促进了线性和非线性移位寄存器发展</a:t>
            </a:r>
          </a:p>
          <a:p>
            <a:pPr lvl="1">
              <a:lnSpc>
                <a:spcPct val="130000"/>
              </a:lnSpc>
            </a:pPr>
            <a:r>
              <a:rPr lang="zh-CN" altLang="en-US" sz="2400"/>
              <a:t>流密码主要是基于硬件实现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C21C0995-7E38-47F5-A362-0681F7D080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流密码的基本思想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11447FD4-A32C-434E-B697-33258C338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流密码的基本思想</a:t>
            </a:r>
          </a:p>
          <a:p>
            <a:pPr lvl="1">
              <a:lnSpc>
                <a:spcPct val="1200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利用密钥</a:t>
            </a:r>
            <a:r>
              <a:rPr lang="en-US" altLang="zh-CN" sz="2400" i="1">
                <a:solidFill>
                  <a:srgbClr val="0000FF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sz="2400">
                <a:latin typeface="Times New Roman" panose="02020603050405020304" pitchFamily="18" charset="0"/>
              </a:rPr>
              <a:t>产生一个密钥流</a:t>
            </a:r>
            <a:r>
              <a:rPr lang="en-US" altLang="zh-CN" sz="2400">
                <a:latin typeface="Times New Roman" panose="02020603050405020304" pitchFamily="18" charset="0"/>
              </a:rPr>
              <a:t>z=z</a:t>
            </a:r>
            <a:r>
              <a:rPr lang="en-US" altLang="zh-CN" sz="2400" baseline="-25000">
                <a:latin typeface="Times New Roman" panose="02020603050405020304" pitchFamily="18" charset="0"/>
              </a:rPr>
              <a:t>0</a:t>
            </a:r>
            <a:r>
              <a:rPr lang="en-US" altLang="zh-CN" sz="2400">
                <a:latin typeface="Times New Roman" panose="02020603050405020304" pitchFamily="18" charset="0"/>
              </a:rPr>
              <a:t>z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latin typeface="Times New Roman" panose="02020603050405020304" pitchFamily="18" charset="0"/>
              </a:rPr>
              <a:t>z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…</a:t>
            </a:r>
            <a:r>
              <a:rPr lang="zh-CN" altLang="en-US" sz="2400">
                <a:latin typeface="Times New Roman" panose="02020603050405020304" pitchFamily="18" charset="0"/>
              </a:rPr>
              <a:t>，并使用如下规则对明文串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>
                <a:latin typeface="Times New Roman" panose="02020603050405020304" pitchFamily="18" charset="0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</a:rPr>
              <a:t>0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latin typeface="Times New Roman" panose="02020603050405020304" pitchFamily="18" charset="0"/>
              </a:rPr>
              <a:t>…</a:t>
            </a:r>
            <a:r>
              <a:rPr lang="zh-CN" altLang="en-US" sz="2400">
                <a:latin typeface="Times New Roman" panose="02020603050405020304" pitchFamily="18" charset="0"/>
              </a:rPr>
              <a:t>加密：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i="1">
                <a:solidFill>
                  <a:srgbClr val="0000FF"/>
                </a:solidFill>
                <a:latin typeface="Times New Roman" panose="02020603050405020304" pitchFamily="18" charset="0"/>
              </a:rPr>
              <a:t>              </a:t>
            </a:r>
            <a:r>
              <a:rPr lang="en-US" altLang="zh-CN" sz="2400" i="1">
                <a:solidFill>
                  <a:srgbClr val="0000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400" i="1">
                <a:solidFill>
                  <a:srgbClr val="0000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400" i="1">
                <a:solidFill>
                  <a:srgbClr val="0000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i="1">
                <a:solidFill>
                  <a:srgbClr val="0000FF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…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400" i="1">
                <a:solidFill>
                  <a:srgbClr val="0000FF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solidFill>
                  <a:srgbClr val="0000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i="1">
                <a:solidFill>
                  <a:srgbClr val="0000FF"/>
                </a:solidFill>
                <a:latin typeface="Times New Roman" panose="02020603050405020304" pitchFamily="18" charset="0"/>
              </a:rPr>
              <a:t>E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solidFill>
                  <a:srgbClr val="0000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i="1">
                <a:solidFill>
                  <a:srgbClr val="0000FF"/>
                </a:solidFill>
                <a:latin typeface="Times New Roman" panose="02020603050405020304" pitchFamily="18" charset="0"/>
              </a:rPr>
              <a:t> E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400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solidFill>
                  <a:srgbClr val="0000FF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</a:rPr>
              <a:t>)…</a:t>
            </a:r>
            <a:r>
              <a:rPr lang="zh-CN" altLang="en-US" sz="2400">
                <a:solidFill>
                  <a:srgbClr val="0000FF"/>
                </a:solidFill>
                <a:latin typeface="Times New Roman" panose="02020603050405020304" pitchFamily="18" charset="0"/>
              </a:rPr>
              <a:t>，</a:t>
            </a:r>
          </a:p>
          <a:p>
            <a:pPr>
              <a:lnSpc>
                <a:spcPct val="120000"/>
              </a:lnSpc>
            </a:pPr>
            <a:r>
              <a:rPr lang="zh-CN" altLang="en-US" sz="2800">
                <a:latin typeface="Times New Roman" panose="02020603050405020304" pitchFamily="18" charset="0"/>
              </a:rPr>
              <a:t>密钥流</a:t>
            </a:r>
          </a:p>
          <a:p>
            <a:pPr lvl="1">
              <a:lnSpc>
                <a:spcPct val="1200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由密钥流发生器 </a:t>
            </a:r>
            <a:r>
              <a:rPr lang="en-US" altLang="zh-CN" sz="2400" i="1">
                <a:latin typeface="Times New Roman" panose="02020603050405020304" pitchFamily="18" charset="0"/>
              </a:rPr>
              <a:t>f </a:t>
            </a:r>
            <a:r>
              <a:rPr lang="zh-CN" altLang="en-US" sz="2400">
                <a:latin typeface="Times New Roman" panose="02020603050405020304" pitchFamily="18" charset="0"/>
              </a:rPr>
              <a:t>产生：</a:t>
            </a:r>
            <a:r>
              <a:rPr lang="en-US" altLang="zh-CN" sz="2400" i="1">
                <a:latin typeface="Times New Roman" panose="02020603050405020304" pitchFamily="18" charset="0"/>
              </a:rPr>
              <a:t>z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i</a:t>
            </a:r>
            <a:r>
              <a:rPr lang="zh-CN" altLang="en-US" sz="2400">
                <a:latin typeface="Times New Roman" panose="02020603050405020304" pitchFamily="18" charset="0"/>
              </a:rPr>
              <a:t>＝</a:t>
            </a:r>
            <a:r>
              <a:rPr lang="en-US" altLang="zh-CN" sz="2400" i="1">
                <a:latin typeface="Times New Roman" panose="02020603050405020304" pitchFamily="18" charset="0"/>
              </a:rPr>
              <a:t>f</a:t>
            </a:r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</a:rPr>
              <a:t>k</a:t>
            </a:r>
            <a:r>
              <a:rPr lang="en-US" altLang="zh-CN" sz="2400">
                <a:latin typeface="Times New Roman" panose="02020603050405020304" pitchFamily="18" charset="0"/>
              </a:rPr>
              <a:t>,</a:t>
            </a:r>
            <a:r>
              <a:rPr lang="en-US" altLang="zh-CN" sz="2400" i="1">
                <a:latin typeface="Times New Roman" panose="02020603050405020304" pitchFamily="18" charset="0"/>
              </a:rPr>
              <a:t>σ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i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</a:p>
          <a:p>
            <a:pPr lvl="1">
              <a:lnSpc>
                <a:spcPct val="120000"/>
              </a:lnSpc>
            </a:pPr>
            <a:r>
              <a:rPr lang="en-US" altLang="zh-CN" sz="2400" i="1">
                <a:latin typeface="Times New Roman" panose="02020603050405020304" pitchFamily="18" charset="0"/>
              </a:rPr>
              <a:t>σ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i</a:t>
            </a:r>
            <a:r>
              <a:rPr lang="zh-CN" altLang="en-US" sz="2400">
                <a:latin typeface="Times New Roman" panose="02020603050405020304" pitchFamily="18" charset="0"/>
              </a:rPr>
              <a:t>是加密器中的记忆元件在时刻 </a:t>
            </a:r>
            <a:r>
              <a:rPr lang="en-US" altLang="zh-CN" sz="2400" i="1">
                <a:solidFill>
                  <a:srgbClr val="0000FF"/>
                </a:solidFill>
                <a:latin typeface="Times New Roman" panose="02020603050405020304" pitchFamily="18" charset="0"/>
              </a:rPr>
              <a:t>i </a:t>
            </a:r>
            <a:r>
              <a:rPr lang="zh-CN" altLang="en-US" sz="2400">
                <a:latin typeface="Times New Roman" panose="02020603050405020304" pitchFamily="18" charset="0"/>
              </a:rPr>
              <a:t>的状态</a:t>
            </a:r>
          </a:p>
          <a:p>
            <a:pPr lvl="1">
              <a:lnSpc>
                <a:spcPct val="120000"/>
              </a:lnSpc>
            </a:pPr>
            <a:r>
              <a:rPr lang="zh-CN" altLang="en-US" sz="2400" i="1">
                <a:latin typeface="Times New Roman" panose="02020603050405020304" pitchFamily="18" charset="0"/>
              </a:rPr>
              <a:t>  </a:t>
            </a:r>
            <a:r>
              <a:rPr lang="en-US" altLang="zh-CN" sz="2400" i="1">
                <a:latin typeface="Times New Roman" panose="02020603050405020304" pitchFamily="18" charset="0"/>
              </a:rPr>
              <a:t>f  </a:t>
            </a:r>
            <a:r>
              <a:rPr lang="zh-CN" altLang="en-US" sz="2400">
                <a:latin typeface="Times New Roman" panose="02020603050405020304" pitchFamily="18" charset="0"/>
              </a:rPr>
              <a:t>是由</a:t>
            </a:r>
            <a:r>
              <a:rPr lang="en-US" altLang="zh-CN" sz="2400" i="1">
                <a:latin typeface="Times New Roman" panose="02020603050405020304" pitchFamily="18" charset="0"/>
              </a:rPr>
              <a:t>k</a:t>
            </a:r>
            <a:r>
              <a:rPr lang="en-US" altLang="zh-CN" sz="2400">
                <a:latin typeface="Times New Roman" panose="02020603050405020304" pitchFamily="18" charset="0"/>
              </a:rPr>
              <a:t>, </a:t>
            </a:r>
            <a:r>
              <a:rPr lang="en-US" altLang="zh-CN" sz="2400" i="1">
                <a:latin typeface="Times New Roman" panose="02020603050405020304" pitchFamily="18" charset="0"/>
              </a:rPr>
              <a:t>σ</a:t>
            </a:r>
            <a:r>
              <a:rPr lang="en-US" altLang="zh-CN" sz="2400" i="1" baseline="-25000">
                <a:latin typeface="Times New Roman" panose="02020603050405020304" pitchFamily="18" charset="0"/>
              </a:rPr>
              <a:t>i </a:t>
            </a:r>
            <a:r>
              <a:rPr lang="zh-CN" altLang="en-US" sz="2400">
                <a:latin typeface="Times New Roman" panose="02020603050405020304" pitchFamily="18" charset="0"/>
              </a:rPr>
              <a:t>产生的函数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5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5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5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5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>
            <a:extLst>
              <a:ext uri="{FF2B5EF4-FFF2-40B4-BE49-F238E27FC236}">
                <a16:creationId xmlns:a16="http://schemas.microsoft.com/office/drawing/2014/main" id="{A7C2662B-2503-4E7C-9EAF-F3B000E62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68475" y="3182938"/>
            <a:ext cx="8229600" cy="12763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/>
              <a:t>       流密码                     分组密码</a:t>
            </a:r>
          </a:p>
          <a:p>
            <a:r>
              <a:rPr lang="zh-CN" altLang="en-US"/>
              <a:t>内部记忆元件由一组移位寄存器构成</a:t>
            </a:r>
          </a:p>
        </p:txBody>
      </p:sp>
      <p:graphicFrame>
        <p:nvGraphicFramePr>
          <p:cNvPr id="40963" name="Object 5">
            <a:extLst>
              <a:ext uri="{FF2B5EF4-FFF2-40B4-BE49-F238E27FC236}">
                <a16:creationId xmlns:a16="http://schemas.microsoft.com/office/drawing/2014/main" id="{09702C04-E348-4855-AAF5-60F59A0718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3375" y="954088"/>
          <a:ext cx="3810000" cy="222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2" name="Visio" r:id="rId3" imgW="2766441" imgH="1614297" progId="Visio.Drawing.11">
                  <p:embed/>
                </p:oleObj>
              </mc:Choice>
              <mc:Fallback>
                <p:oleObj name="Visio" r:id="rId3" imgW="2766441" imgH="1614297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75" y="954088"/>
                        <a:ext cx="3810000" cy="222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4">
            <a:extLst>
              <a:ext uri="{FF2B5EF4-FFF2-40B4-BE49-F238E27FC236}">
                <a16:creationId xmlns:a16="http://schemas.microsoft.com/office/drawing/2014/main" id="{D1F6B660-B12F-494E-9C3F-B42AC700C6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57863" y="949325"/>
          <a:ext cx="3810000" cy="223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3" name="Visio" r:id="rId5" imgW="2766441" imgH="1614297" progId="Visio.Drawing.11">
                  <p:embed/>
                </p:oleObj>
              </mc:Choice>
              <mc:Fallback>
                <p:oleObj name="Visio" r:id="rId5" imgW="2766441" imgH="1614297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7863" y="949325"/>
                        <a:ext cx="3810000" cy="223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Rectangle 6">
            <a:extLst>
              <a:ext uri="{FF2B5EF4-FFF2-40B4-BE49-F238E27FC236}">
                <a16:creationId xmlns:a16="http://schemas.microsoft.com/office/drawing/2014/main" id="{0C88185B-D0C8-4E1B-800F-8A5A00816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72720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b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0966" name="Rectangle 7">
            <a:extLst>
              <a:ext uri="{FF2B5EF4-FFF2-40B4-BE49-F238E27FC236}">
                <a16:creationId xmlns:a16="http://schemas.microsoft.com/office/drawing/2014/main" id="{CF2716F6-508F-4131-90C9-432E2BD4D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92475"/>
            <a:ext cx="215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1000" b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 sz="1800" b="0">
              <a:latin typeface="Verdana" panose="020B060403050404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967" name="Rectangle 9">
            <a:extLst>
              <a:ext uri="{FF2B5EF4-FFF2-40B4-BE49-F238E27FC236}">
                <a16:creationId xmlns:a16="http://schemas.microsoft.com/office/drawing/2014/main" id="{31D88998-B4E9-466B-8D3A-A7EBE60E9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797175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b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0968" name="Object 8">
            <a:extLst>
              <a:ext uri="{FF2B5EF4-FFF2-40B4-BE49-F238E27FC236}">
                <a16:creationId xmlns:a16="http://schemas.microsoft.com/office/drawing/2014/main" id="{10DB9438-2CB2-46B1-A8A0-2CE8117884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4600575"/>
          <a:ext cx="6096000" cy="163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4" name="Visio" r:id="rId7" imgW="3342132" imgH="893826" progId="Visio.Drawing.11">
                  <p:embed/>
                </p:oleObj>
              </mc:Choice>
              <mc:Fallback>
                <p:oleObj name="Visio" r:id="rId7" imgW="3342132" imgH="893826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600575"/>
                        <a:ext cx="6096000" cy="163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F5A66-63EC-4B99-9826-B2B239261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2550" y="365125"/>
            <a:ext cx="6778625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流密码的基本概念</a:t>
            </a:r>
          </a:p>
        </p:txBody>
      </p:sp>
      <p:sp>
        <p:nvSpPr>
          <p:cNvPr id="5" name="空心弧 4">
            <a:extLst>
              <a:ext uri="{FF2B5EF4-FFF2-40B4-BE49-F238E27FC236}">
                <a16:creationId xmlns:a16="http://schemas.microsoft.com/office/drawing/2014/main" id="{50B8BDA7-D091-4685-804D-51234E81E46D}"/>
              </a:ext>
            </a:extLst>
          </p:cNvPr>
          <p:cNvSpPr/>
          <p:nvPr/>
        </p:nvSpPr>
        <p:spPr bwMode="auto">
          <a:xfrm>
            <a:off x="-1627188" y="1231900"/>
            <a:ext cx="5472113" cy="5473700"/>
          </a:xfrm>
          <a:prstGeom prst="blockArc">
            <a:avLst>
              <a:gd name="adj1" fmla="val 18439391"/>
              <a:gd name="adj2" fmla="val 2240787"/>
              <a:gd name="adj3" fmla="val 0"/>
            </a:avLst>
          </a:prstGeom>
        </p:spPr>
        <p:style>
          <a:lnRef idx="1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5A762787-067C-497A-A665-6F332CD7B7C5}"/>
              </a:ext>
            </a:extLst>
          </p:cNvPr>
          <p:cNvSpPr/>
          <p:nvPr/>
        </p:nvSpPr>
        <p:spPr bwMode="auto">
          <a:xfrm>
            <a:off x="3508375" y="2028825"/>
            <a:ext cx="5864225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/>
              <a:t>一次一密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0EFABA9-D10C-4EC7-8763-7CC0B56E8882}"/>
              </a:ext>
            </a:extLst>
          </p:cNvPr>
          <p:cNvSpPr/>
          <p:nvPr/>
        </p:nvSpPr>
        <p:spPr bwMode="auto">
          <a:xfrm>
            <a:off x="3000375" y="1927225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8" name="任意多边形 7">
            <a:extLst>
              <a:ext uri="{FF2B5EF4-FFF2-40B4-BE49-F238E27FC236}">
                <a16:creationId xmlns:a16="http://schemas.microsoft.com/office/drawing/2014/main" id="{FF85D3B1-2D34-4DFB-8186-9125676D9397}"/>
              </a:ext>
            </a:extLst>
          </p:cNvPr>
          <p:cNvSpPr/>
          <p:nvPr/>
        </p:nvSpPr>
        <p:spPr bwMode="auto">
          <a:xfrm>
            <a:off x="3830638" y="4287838"/>
            <a:ext cx="5541962" cy="812800"/>
          </a:xfrm>
          <a:custGeom>
            <a:avLst/>
            <a:gdLst>
              <a:gd name="connsiteX0" fmla="*/ 0 w 5493347"/>
              <a:gd name="connsiteY0" fmla="*/ 0 h 812800"/>
              <a:gd name="connsiteX1" fmla="*/ 5493347 w 5493347"/>
              <a:gd name="connsiteY1" fmla="*/ 0 h 812800"/>
              <a:gd name="connsiteX2" fmla="*/ 5493347 w 5493347"/>
              <a:gd name="connsiteY2" fmla="*/ 812800 h 812800"/>
              <a:gd name="connsiteX3" fmla="*/ 0 w 5493347"/>
              <a:gd name="connsiteY3" fmla="*/ 812800 h 812800"/>
              <a:gd name="connsiteX4" fmla="*/ 0 w 5493347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93347" h="812800">
                <a:moveTo>
                  <a:pt x="0" y="0"/>
                </a:moveTo>
                <a:lnTo>
                  <a:pt x="5493347" y="0"/>
                </a:lnTo>
                <a:lnTo>
                  <a:pt x="5493347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>
                <a:latin typeface="仿宋" charset="-122"/>
              </a:rPr>
              <a:t>同步流密码</a:t>
            </a:r>
            <a:endParaRPr lang="zh-CN" altLang="en-US" sz="2400" b="1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8CE1E1D-E09B-4066-A3AE-EE3D1CF02B9B}"/>
              </a:ext>
            </a:extLst>
          </p:cNvPr>
          <p:cNvSpPr/>
          <p:nvPr/>
        </p:nvSpPr>
        <p:spPr bwMode="auto">
          <a:xfrm>
            <a:off x="3322638" y="4217988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任意多边形 14">
            <a:extLst>
              <a:ext uri="{FF2B5EF4-FFF2-40B4-BE49-F238E27FC236}">
                <a16:creationId xmlns:a16="http://schemas.microsoft.com/office/drawing/2014/main" id="{B3274DE6-8FD8-4D4D-AECE-3EF8C8368A8A}"/>
              </a:ext>
            </a:extLst>
          </p:cNvPr>
          <p:cNvSpPr/>
          <p:nvPr/>
        </p:nvSpPr>
        <p:spPr>
          <a:xfrm>
            <a:off x="3878263" y="3197225"/>
            <a:ext cx="5508625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/>
              <a:t>流密码的定义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68980E1-51DF-4D15-893F-5BFC26F07A05}"/>
              </a:ext>
            </a:extLst>
          </p:cNvPr>
          <p:cNvSpPr/>
          <p:nvPr/>
        </p:nvSpPr>
        <p:spPr>
          <a:xfrm>
            <a:off x="3370263" y="3095625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>
            <a:extLst>
              <a:ext uri="{FF2B5EF4-FFF2-40B4-BE49-F238E27FC236}">
                <a16:creationId xmlns:a16="http://schemas.microsoft.com/office/drawing/2014/main" id="{019517C4-F06B-428A-9331-2891D4C7AE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3600" b="1" dirty="0"/>
              <a:t>同步流密码</a:t>
            </a: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D3A11889-AB4A-43E9-8304-109B9FE23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65263"/>
            <a:ext cx="11125200" cy="4579937"/>
          </a:xfrm>
        </p:spPr>
        <p:txBody>
          <a:bodyPr/>
          <a:lstStyle/>
          <a:p>
            <a:pPr marL="679450" indent="-4572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Times New Roman" panose="02020603050405020304" pitchFamily="18" charset="0"/>
              </a:rPr>
              <a:t>内部记忆元件的状态</a:t>
            </a:r>
            <a:r>
              <a:rPr lang="en-US" altLang="zh-CN" sz="2800" b="1">
                <a:latin typeface="Times New Roman" panose="02020603050405020304" pitchFamily="18" charset="0"/>
              </a:rPr>
              <a:t>σ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i</a:t>
            </a:r>
            <a:r>
              <a:rPr lang="zh-CN" altLang="en-US" sz="2800" b="1">
                <a:latin typeface="Times New Roman" panose="02020603050405020304" pitchFamily="18" charset="0"/>
              </a:rPr>
              <a:t>独立于明文字符的叫做同步流密码，否则叫做自同步流密码。</a:t>
            </a:r>
            <a:endParaRPr lang="en-US" altLang="zh-CN" sz="2800" b="1">
              <a:latin typeface="Times New Roman" panose="02020603050405020304" pitchFamily="18" charset="0"/>
            </a:endParaRPr>
          </a:p>
          <a:p>
            <a:pPr marL="679450" indent="-45720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zh-CN" altLang="en-US" sz="2800" b="1">
              <a:latin typeface="Times New Roman" panose="02020603050405020304" pitchFamily="18" charset="0"/>
            </a:endParaRPr>
          </a:p>
          <a:p>
            <a:pPr marL="679450" indent="-45720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zh-CN" altLang="en-US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>
            <a:extLst>
              <a:ext uri="{FF2B5EF4-FFF2-40B4-BE49-F238E27FC236}">
                <a16:creationId xmlns:a16="http://schemas.microsoft.com/office/drawing/2014/main" id="{019517C4-F06B-428A-9331-2891D4C7AE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3600" b="1" dirty="0"/>
              <a:t>同步流密码</a:t>
            </a: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B2AC584A-3813-49EB-A0A9-442697DDE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65263"/>
            <a:ext cx="11125200" cy="4579937"/>
          </a:xfrm>
        </p:spPr>
        <p:txBody>
          <a:bodyPr/>
          <a:lstStyle/>
          <a:p>
            <a:pPr marL="679450" indent="-4572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18" charset="0"/>
              </a:rPr>
              <a:t>内部记忆元件的状态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σ</a:t>
            </a:r>
            <a:r>
              <a:rPr lang="en-US" altLang="zh-CN" sz="2800" b="1" baseline="-25000" dirty="0" err="1">
                <a:latin typeface="Times New Roman" panose="02020603050405020304" pitchFamily="18" charset="0"/>
              </a:rPr>
              <a:t>i</a:t>
            </a:r>
            <a:r>
              <a:rPr lang="zh-CN" altLang="en-US" sz="2800" b="1" dirty="0">
                <a:latin typeface="Times New Roman" panose="02020603050405020304" pitchFamily="18" charset="0"/>
              </a:rPr>
              <a:t>独立于明文字符的叫做同步流密码，否则叫做自同步流密码。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marL="679450" indent="-45720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zh-CN" altLang="en-US" sz="2800" b="1" dirty="0">
              <a:latin typeface="Times New Roman" panose="02020603050405020304" pitchFamily="18" charset="0"/>
            </a:endParaRPr>
          </a:p>
          <a:p>
            <a:pPr marL="679450" indent="-4572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latin typeface="Times New Roman" panose="02020603050405020304" pitchFamily="18" charset="0"/>
              </a:rPr>
              <a:t>在同步流密码中，由于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z</a:t>
            </a:r>
            <a:r>
              <a:rPr lang="en-US" altLang="zh-CN" sz="2800" b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k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σ</a:t>
            </a:r>
            <a:r>
              <a:rPr lang="en-US" altLang="zh-CN" sz="2800" b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与明文字符无关，因而此时密文字符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sz="2800" b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sz="2800" b="1" baseline="-25000" dirty="0" err="1">
                <a:latin typeface="Times New Roman" panose="02020603050405020304" pitchFamily="18" charset="0"/>
              </a:rPr>
              <a:t>zi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也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不依赖于此前的明文字符</a:t>
            </a:r>
            <a:r>
              <a:rPr lang="zh-CN" altLang="en-US" sz="2800" b="1" dirty="0">
                <a:latin typeface="Times New Roman" panose="02020603050405020304" pitchFamily="18" charset="0"/>
              </a:rPr>
              <a:t>。因此，可将同步流密码的加密器分成密钥流产生器和加密变换器两个部分。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45DB42-1BED-4BCD-ABA0-2BAE1D8D6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latin typeface="宋体" panose="02010600030101010101" pitchFamily="2" charset="-122"/>
              </a:rPr>
              <a:t>同步流密码体制模型</a:t>
            </a:r>
            <a:endParaRPr lang="zh-CN" altLang="en-US" dirty="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3D42231F-772E-478F-A0D5-6110A4E44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219200"/>
            <a:ext cx="10515600" cy="4495800"/>
          </a:xfrm>
        </p:spPr>
        <p:txBody>
          <a:bodyPr/>
          <a:lstStyle/>
          <a:p>
            <a:pPr indent="-6350" algn="ctr">
              <a:buFont typeface="Arial" panose="020B0604020202020204" pitchFamily="34" charset="0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indent="-6350" algn="ctr">
              <a:buFont typeface="Arial" panose="020B0604020202020204" pitchFamily="34" charset="0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indent="-6350" algn="ctr">
              <a:buFont typeface="Arial" panose="020B0604020202020204" pitchFamily="34" charset="0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indent="-6350" algn="ctr">
              <a:buFont typeface="Arial" panose="020B0604020202020204" pitchFamily="34" charset="0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indent="-6350" algn="ctr">
              <a:buFont typeface="Arial" panose="020B0604020202020204" pitchFamily="34" charset="0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indent="-6350" algn="ctr">
              <a:buFont typeface="Arial" panose="020B0604020202020204" pitchFamily="34" charset="0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indent="-6350" algn="ctr">
              <a:buFont typeface="Arial" panose="020B0604020202020204" pitchFamily="34" charset="0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indent="-6350" algn="ctr">
              <a:buFont typeface="Arial" panose="020B0604020202020204" pitchFamily="34" charset="0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indent="-6350" algn="ctr">
              <a:buFont typeface="Arial" panose="020B0604020202020204" pitchFamily="34" charset="0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indent="-6350" algn="ctr">
              <a:buFont typeface="Arial" panose="020B0604020202020204" pitchFamily="34" charset="0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indent="-6350" algn="ctr">
              <a:buFont typeface="Arial" panose="020B0604020202020204" pitchFamily="34" charset="0"/>
              <a:buNone/>
            </a:pPr>
            <a:r>
              <a:rPr lang="zh-CN" altLang="en-US">
                <a:latin typeface="宋体" panose="02010600030101010101" pitchFamily="2" charset="-122"/>
              </a:rPr>
              <a:t>同步流密码体制模型</a:t>
            </a:r>
            <a:r>
              <a:rPr lang="zh-CN" altLang="en-US"/>
              <a:t> </a:t>
            </a:r>
          </a:p>
        </p:txBody>
      </p:sp>
      <p:graphicFrame>
        <p:nvGraphicFramePr>
          <p:cNvPr id="48132" name="Object 2">
            <a:extLst>
              <a:ext uri="{FF2B5EF4-FFF2-40B4-BE49-F238E27FC236}">
                <a16:creationId xmlns:a16="http://schemas.microsoft.com/office/drawing/2014/main" id="{4C1282FB-4FBE-4DD6-9671-554F1CED82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6725" y="1219200"/>
          <a:ext cx="8496300" cy="410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4" r:id="rId4" imgW="4447032" imgH="1539240" progId="Visio.Drawing.4">
                  <p:embed/>
                </p:oleObj>
              </mc:Choice>
              <mc:Fallback>
                <p:oleObj r:id="rId4" imgW="4447032" imgH="1539240" progId="Visio.Drawing.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725" y="1219200"/>
                        <a:ext cx="8496300" cy="410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B162F-3AC7-4398-B1B1-70285AF80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输出反馈</a:t>
            </a:r>
            <a:r>
              <a:rPr lang="en-US" altLang="zh-CN" dirty="0"/>
              <a:t>OFB(Output Feedback)</a:t>
            </a:r>
            <a:r>
              <a:rPr lang="zh-CN" altLang="en-US" dirty="0"/>
              <a:t>模式</a:t>
            </a:r>
          </a:p>
        </p:txBody>
      </p:sp>
      <p:sp>
        <p:nvSpPr>
          <p:cNvPr id="50179" name="内容占位符 2">
            <a:extLst>
              <a:ext uri="{FF2B5EF4-FFF2-40B4-BE49-F238E27FC236}">
                <a16:creationId xmlns:a16="http://schemas.microsoft.com/office/drawing/2014/main" id="{310E8A13-0983-4B44-B1C6-38E769963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834687" cy="4579937"/>
          </a:xfrm>
        </p:spPr>
        <p:txBody>
          <a:bodyPr/>
          <a:lstStyle/>
          <a:p>
            <a:r>
              <a:rPr kumimoji="1" lang="en-US" altLang="zh-CN">
                <a:latin typeface="Times New Roman" panose="02020603050405020304" pitchFamily="18" charset="0"/>
              </a:rPr>
              <a:t>OFB</a:t>
            </a:r>
            <a:r>
              <a:rPr kumimoji="1" lang="zh-CN" altLang="en-US">
                <a:latin typeface="Times New Roman" panose="02020603050405020304" pitchFamily="18" charset="0"/>
              </a:rPr>
              <a:t>模式在结构上类似于</a:t>
            </a:r>
            <a:r>
              <a:rPr kumimoji="1" lang="en-US" altLang="zh-CN">
                <a:latin typeface="Times New Roman" panose="02020603050405020304" pitchFamily="18" charset="0"/>
              </a:rPr>
              <a:t>CFB</a:t>
            </a:r>
            <a:r>
              <a:rPr kumimoji="1" lang="zh-CN" altLang="en-US">
                <a:latin typeface="Times New Roman" panose="02020603050405020304" pitchFamily="18" charset="0"/>
              </a:rPr>
              <a:t>模式，但反馈的内容是</a:t>
            </a:r>
            <a:r>
              <a:rPr kumimoji="1" lang="en-US" altLang="zh-CN">
                <a:latin typeface="Times New Roman" panose="02020603050405020304" pitchFamily="18" charset="0"/>
              </a:rPr>
              <a:t>DES</a:t>
            </a:r>
            <a:r>
              <a:rPr kumimoji="1" lang="zh-CN" altLang="en-US">
                <a:latin typeface="Times New Roman" panose="02020603050405020304" pitchFamily="18" charset="0"/>
              </a:rPr>
              <a:t>的输出而不是密文！</a:t>
            </a:r>
            <a:endParaRPr lang="zh-CN" altLang="en-US"/>
          </a:p>
        </p:txBody>
      </p:sp>
      <p:sp>
        <p:nvSpPr>
          <p:cNvPr id="50180" name="Object 8">
            <a:extLst>
              <a:ext uri="{FF2B5EF4-FFF2-40B4-BE49-F238E27FC236}">
                <a16:creationId xmlns:a16="http://schemas.microsoft.com/office/drawing/2014/main" id="{2A01D972-A423-43E3-A75D-A93C02489E85}"/>
              </a:ext>
            </a:extLst>
          </p:cNvPr>
          <p:cNvSpPr txBox="1"/>
          <p:nvPr/>
        </p:nvSpPr>
        <p:spPr bwMode="auto">
          <a:xfrm>
            <a:off x="6045200" y="3349625"/>
            <a:ext cx="101600" cy="1587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normAutofit fontScale="25000" lnSpcReduction="20000"/>
          </a:bodyPr>
          <a:lstStyle/>
          <a:p>
            <a:endParaRPr lang="zh-CN" altLang="en-US"/>
          </a:p>
        </p:txBody>
      </p:sp>
      <p:sp>
        <p:nvSpPr>
          <p:cNvPr id="50181" name="Rectangle 10">
            <a:extLst>
              <a:ext uri="{FF2B5EF4-FFF2-40B4-BE49-F238E27FC236}">
                <a16:creationId xmlns:a16="http://schemas.microsoft.com/office/drawing/2014/main" id="{07B615DB-D1E5-4E0B-A7B6-E2E5537A8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281238"/>
            <a:ext cx="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2" name="Rectangle 13">
            <a:extLst>
              <a:ext uri="{FF2B5EF4-FFF2-40B4-BE49-F238E27FC236}">
                <a16:creationId xmlns:a16="http://schemas.microsoft.com/office/drawing/2014/main" id="{03E216E4-A376-46AE-9AF4-49CF49FBC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281238"/>
            <a:ext cx="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0183" name="Rectangle 15">
            <a:extLst>
              <a:ext uri="{FF2B5EF4-FFF2-40B4-BE49-F238E27FC236}">
                <a16:creationId xmlns:a16="http://schemas.microsoft.com/office/drawing/2014/main" id="{46B2E6FF-1E03-4128-B82E-D11CBA546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281238"/>
            <a:ext cx="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0184" name="图片 3">
            <a:extLst>
              <a:ext uri="{FF2B5EF4-FFF2-40B4-BE49-F238E27FC236}">
                <a16:creationId xmlns:a16="http://schemas.microsoft.com/office/drawing/2014/main" id="{86663D96-3F2B-4786-A1E7-A9C6E7C190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7963" y="1905000"/>
            <a:ext cx="6696075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5" name="文本框 13">
            <a:extLst>
              <a:ext uri="{FF2B5EF4-FFF2-40B4-BE49-F238E27FC236}">
                <a16:creationId xmlns:a16="http://schemas.microsoft.com/office/drawing/2014/main" id="{F9C4A45D-2320-49E2-88E0-0F44356DC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5748338"/>
            <a:ext cx="1295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仿宋" panose="02010609060101010101" pitchFamily="49" charset="-122"/>
              </a:rPr>
              <a:t>加密</a:t>
            </a:r>
          </a:p>
        </p:txBody>
      </p:sp>
      <p:sp>
        <p:nvSpPr>
          <p:cNvPr id="50186" name="文本框 14">
            <a:extLst>
              <a:ext uri="{FF2B5EF4-FFF2-40B4-BE49-F238E27FC236}">
                <a16:creationId xmlns:a16="http://schemas.microsoft.com/office/drawing/2014/main" id="{D01BDF62-E828-4B72-8CF2-322407522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2013" y="5784850"/>
            <a:ext cx="1295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仿宋" panose="02010609060101010101" pitchFamily="49" charset="-122"/>
              </a:rPr>
              <a:t>解密</a:t>
            </a:r>
          </a:p>
        </p:txBody>
      </p:sp>
    </p:spTree>
  </p:cSld>
  <p:clrMapOvr>
    <a:masterClrMapping/>
  </p:clrMapOvr>
  <p:transition spd="slow">
    <p:pull dir="r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B4BBFB-2B0A-47A1-8EB1-AB9D9EB09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CFB</a:t>
            </a:r>
            <a:r>
              <a:rPr lang="zh-CN" altLang="en-US" dirty="0"/>
              <a:t>的加密解密</a:t>
            </a:r>
          </a:p>
        </p:txBody>
      </p:sp>
      <p:sp>
        <p:nvSpPr>
          <p:cNvPr id="52227" name="内容占位符 2">
            <a:extLst>
              <a:ext uri="{FF2B5EF4-FFF2-40B4-BE49-F238E27FC236}">
                <a16:creationId xmlns:a16="http://schemas.microsoft.com/office/drawing/2014/main" id="{E3DE1AAA-714D-4C06-837D-66FDECD19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9988"/>
            <a:ext cx="10515600" cy="4578350"/>
          </a:xfrm>
        </p:spPr>
        <p:txBody>
          <a:bodyPr/>
          <a:lstStyle/>
          <a:p>
            <a:r>
              <a:rPr kumimoji="1" lang="zh-CN" altLang="en-US">
                <a:latin typeface="Times New Roman" panose="02020603050405020304" pitchFamily="18" charset="0"/>
              </a:rPr>
              <a:t>若记</a:t>
            </a:r>
            <a:r>
              <a:rPr kumimoji="1" lang="en-US" altLang="zh-CN" i="1">
                <a:latin typeface="Times New Roman" panose="02020603050405020304" pitchFamily="18" charset="0"/>
              </a:rPr>
              <a:t>IV</a:t>
            </a:r>
            <a:r>
              <a:rPr kumimoji="1" lang="en-US" altLang="zh-CN">
                <a:latin typeface="Times New Roman" panose="02020603050405020304" pitchFamily="18" charset="0"/>
              </a:rPr>
              <a:t>=</a:t>
            </a:r>
            <a:r>
              <a:rPr kumimoji="1" lang="en-US" altLang="zh-CN" i="1">
                <a:latin typeface="Times New Roman" panose="02020603050405020304" pitchFamily="18" charset="0"/>
              </a:rPr>
              <a:t>c</a:t>
            </a:r>
            <a:r>
              <a:rPr kumimoji="1" lang="en-US" altLang="zh-CN" i="1" baseline="-25000">
                <a:latin typeface="Times New Roman" panose="02020603050405020304" pitchFamily="18" charset="0"/>
              </a:rPr>
              <a:t>-l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+1</a:t>
            </a:r>
            <a:r>
              <a:rPr kumimoji="1" lang="en-US" altLang="zh-CN">
                <a:latin typeface="Times New Roman" panose="02020603050405020304" pitchFamily="18" charset="0"/>
              </a:rPr>
              <a:t>…</a:t>
            </a:r>
            <a:r>
              <a:rPr kumimoji="1" lang="en-US" altLang="zh-CN" i="1">
                <a:latin typeface="Times New Roman" panose="02020603050405020304" pitchFamily="18" charset="0"/>
              </a:rPr>
              <a:t>c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-1 </a:t>
            </a:r>
            <a:r>
              <a:rPr kumimoji="1" lang="en-US" altLang="zh-CN" i="1">
                <a:latin typeface="Times New Roman" panose="02020603050405020304" pitchFamily="18" charset="0"/>
              </a:rPr>
              <a:t>c</a:t>
            </a:r>
            <a:r>
              <a:rPr kumimoji="1" lang="en-US" altLang="zh-CN" baseline="-25000">
                <a:latin typeface="Times New Roman" panose="02020603050405020304" pitchFamily="18" charset="0"/>
              </a:rPr>
              <a:t>0</a:t>
            </a:r>
            <a:r>
              <a:rPr kumimoji="1" lang="zh-CN" altLang="en-US">
                <a:latin typeface="Times New Roman" panose="02020603050405020304" pitchFamily="18" charset="0"/>
              </a:rPr>
              <a:t>， </a:t>
            </a:r>
            <a:r>
              <a:rPr kumimoji="1" lang="en-US" altLang="zh-CN">
                <a:latin typeface="Times New Roman" panose="02020603050405020304" pitchFamily="18" charset="0"/>
              </a:rPr>
              <a:t>|</a:t>
            </a:r>
            <a:r>
              <a:rPr kumimoji="1" lang="en-US" altLang="zh-CN" i="1">
                <a:latin typeface="Times New Roman" panose="02020603050405020304" pitchFamily="18" charset="0"/>
              </a:rPr>
              <a:t>c</a:t>
            </a:r>
            <a:r>
              <a:rPr kumimoji="1" lang="en-US" altLang="zh-CN" i="1" baseline="-25000">
                <a:latin typeface="Times New Roman" panose="02020603050405020304" pitchFamily="18" charset="0"/>
              </a:rPr>
              <a:t>i</a:t>
            </a:r>
            <a:r>
              <a:rPr kumimoji="1" lang="en-US" altLang="zh-CN">
                <a:latin typeface="Times New Roman" panose="02020603050405020304" pitchFamily="18" charset="0"/>
              </a:rPr>
              <a:t>|=r</a:t>
            </a:r>
            <a:r>
              <a:rPr kumimoji="1" lang="zh-CN" altLang="en-US">
                <a:latin typeface="Times New Roman" panose="02020603050405020304" pitchFamily="18" charset="0"/>
              </a:rPr>
              <a:t>，则加密过程可表示为:</a:t>
            </a:r>
          </a:p>
          <a:p>
            <a:endParaRPr lang="zh-CN" altLang="en-US"/>
          </a:p>
        </p:txBody>
      </p:sp>
      <p:sp>
        <p:nvSpPr>
          <p:cNvPr id="52228" name="Rectangle 6">
            <a:extLst>
              <a:ext uri="{FF2B5EF4-FFF2-40B4-BE49-F238E27FC236}">
                <a16:creationId xmlns:a16="http://schemas.microsoft.com/office/drawing/2014/main" id="{68B302A8-7224-4D76-83BD-A9E6DCA7A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178175"/>
            <a:ext cx="0" cy="32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2229" name="Rectangle 9">
            <a:extLst>
              <a:ext uri="{FF2B5EF4-FFF2-40B4-BE49-F238E27FC236}">
                <a16:creationId xmlns:a16="http://schemas.microsoft.com/office/drawing/2014/main" id="{3205BD15-C6B6-42CF-A2AA-00E2BCA2B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306638"/>
            <a:ext cx="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2230" name="图片 3">
            <a:extLst>
              <a:ext uri="{FF2B5EF4-FFF2-40B4-BE49-F238E27FC236}">
                <a16:creationId xmlns:a16="http://schemas.microsoft.com/office/drawing/2014/main" id="{C817697C-15C7-420C-BAAF-EC7DF92422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225" y="1581150"/>
            <a:ext cx="7064375" cy="432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2231" name="对象 5">
                <a:extLst>
                  <a:ext uri="{FF2B5EF4-FFF2-40B4-BE49-F238E27FC236}">
                    <a16:creationId xmlns:a16="http://schemas.microsoft.com/office/drawing/2014/main" id="{3CC9A9DF-70F7-4E25-BEA7-8FD88E0CC628}"/>
                  </a:ext>
                </a:extLst>
              </p:cNvPr>
              <p:cNvSpPr txBox="1"/>
              <p:nvPr/>
            </p:nvSpPr>
            <p:spPr bwMode="auto">
              <a:xfrm>
                <a:off x="8037513" y="1143000"/>
                <a:ext cx="3684587" cy="4032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𝑙𝑒𝑓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2231" name="对象 5">
                <a:extLst>
                  <a:ext uri="{FF2B5EF4-FFF2-40B4-BE49-F238E27FC236}">
                    <a16:creationId xmlns:a16="http://schemas.microsoft.com/office/drawing/2014/main" id="{3CC9A9DF-70F7-4E25-BEA7-8FD88E0CC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37513" y="1143000"/>
                <a:ext cx="3684587" cy="403225"/>
              </a:xfrm>
              <a:prstGeom prst="rect">
                <a:avLst/>
              </a:prstGeom>
              <a:blipFill>
                <a:blip r:embed="rId4"/>
                <a:stretch>
                  <a:fillRect b="-1515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232" name="文本框 6">
            <a:extLst>
              <a:ext uri="{FF2B5EF4-FFF2-40B4-BE49-F238E27FC236}">
                <a16:creationId xmlns:a16="http://schemas.microsoft.com/office/drawing/2014/main" id="{06774AE5-7B59-45B8-AC06-29F316231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5748338"/>
            <a:ext cx="1295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仿宋" panose="02010609060101010101" pitchFamily="49" charset="-122"/>
              </a:rPr>
              <a:t>加密</a:t>
            </a:r>
          </a:p>
        </p:txBody>
      </p:sp>
      <p:sp>
        <p:nvSpPr>
          <p:cNvPr id="52233" name="文本框 16">
            <a:extLst>
              <a:ext uri="{FF2B5EF4-FFF2-40B4-BE49-F238E27FC236}">
                <a16:creationId xmlns:a16="http://schemas.microsoft.com/office/drawing/2014/main" id="{B088988B-36D1-4B0B-95FB-474485E59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4413" y="5784850"/>
            <a:ext cx="1295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仿宋" panose="02010609060101010101" pitchFamily="49" charset="-122"/>
              </a:rPr>
              <a:t>解密</a:t>
            </a:r>
          </a:p>
        </p:txBody>
      </p:sp>
    </p:spTree>
  </p:cSld>
  <p:clrMapOvr>
    <a:masterClrMapping/>
  </p:clrMapOvr>
  <p:transition spd="slow">
    <p:pull dir="r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2C2D91-7B66-47A0-AECD-D620B06C0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latin typeface="宋体" panose="02010600030101010101" pitchFamily="2" charset="-122"/>
              </a:rPr>
              <a:t>加法流密码体制模型</a:t>
            </a:r>
            <a:endParaRPr lang="zh-CN" altLang="en-US" dirty="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FE97F02B-1F03-4BB1-9898-967A5849C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 indent="-6350" algn="ctr">
              <a:buFont typeface="Arial" panose="020B0604020202020204" pitchFamily="34" charset="0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indent="-6350" algn="ctr">
              <a:buFont typeface="Arial" panose="020B0604020202020204" pitchFamily="34" charset="0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indent="-6350" algn="ctr">
              <a:buFont typeface="Arial" panose="020B0604020202020204" pitchFamily="34" charset="0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indent="-6350" algn="ctr">
              <a:buFont typeface="Arial" panose="020B0604020202020204" pitchFamily="34" charset="0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indent="-6350" algn="ctr">
              <a:buFont typeface="Arial" panose="020B0604020202020204" pitchFamily="34" charset="0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indent="-6350" algn="ctr">
              <a:buFont typeface="Arial" panose="020B0604020202020204" pitchFamily="34" charset="0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indent="-6350" algn="ctr">
              <a:buFont typeface="Arial" panose="020B0604020202020204" pitchFamily="34" charset="0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indent="-6350" algn="ctr">
              <a:buFont typeface="Arial" panose="020B0604020202020204" pitchFamily="34" charset="0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indent="-6350" algn="ctr">
              <a:buFont typeface="Arial" panose="020B0604020202020204" pitchFamily="34" charset="0"/>
              <a:buNone/>
            </a:pPr>
            <a:endParaRPr lang="zh-CN" altLang="en-US">
              <a:latin typeface="宋体" panose="02010600030101010101" pitchFamily="2" charset="-122"/>
            </a:endParaRPr>
          </a:p>
          <a:p>
            <a:pPr indent="-6350" algn="ctr">
              <a:buFont typeface="Arial" panose="020B0604020202020204" pitchFamily="34" charset="0"/>
              <a:buNone/>
            </a:pPr>
            <a:r>
              <a:rPr lang="zh-CN" altLang="en-US">
                <a:latin typeface="宋体" panose="02010600030101010101" pitchFamily="2" charset="-122"/>
              </a:rPr>
              <a:t>加法流密码体制模型</a:t>
            </a:r>
            <a:endParaRPr lang="zh-CN" altLang="en-US"/>
          </a:p>
        </p:txBody>
      </p:sp>
      <p:pic>
        <p:nvPicPr>
          <p:cNvPr id="54276" name="Picture 3" descr="XD8">
            <a:extLst>
              <a:ext uri="{FF2B5EF4-FFF2-40B4-BE49-F238E27FC236}">
                <a16:creationId xmlns:a16="http://schemas.microsoft.com/office/drawing/2014/main" id="{2B9C4596-2763-43BA-A032-C71121F7E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913" y="2447925"/>
            <a:ext cx="8229600" cy="266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Rectangle 4">
            <a:extLst>
              <a:ext uri="{FF2B5EF4-FFF2-40B4-BE49-F238E27FC236}">
                <a16:creationId xmlns:a16="http://schemas.microsoft.com/office/drawing/2014/main" id="{4E8D1904-D3B0-49CA-A0B0-65E69C15C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1292225"/>
            <a:ext cx="8382000" cy="102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7338" indent="-63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r>
              <a:rPr lang="zh-CN" altLang="en-US" sz="2800" b="1" dirty="0">
                <a:latin typeface="+mn-ea"/>
                <a:ea typeface="+mn-ea"/>
              </a:rPr>
              <a:t>二元加法流密码是目前最为常用的流密码体制，其加密变换可表示为</a:t>
            </a:r>
            <a:r>
              <a:rPr lang="en-US" altLang="zh-CN" sz="2800" b="1" dirty="0">
                <a:latin typeface="+mn-lt"/>
                <a:ea typeface="+mn-ea"/>
              </a:rPr>
              <a:t>y</a:t>
            </a:r>
            <a:r>
              <a:rPr lang="en-US" altLang="zh-CN" sz="2800" b="1" baseline="-25000" dirty="0">
                <a:latin typeface="+mn-lt"/>
                <a:ea typeface="+mn-ea"/>
              </a:rPr>
              <a:t>i</a:t>
            </a:r>
            <a:r>
              <a:rPr lang="en-US" altLang="zh-CN" sz="2800" b="1" dirty="0">
                <a:latin typeface="+mn-lt"/>
                <a:ea typeface="+mn-ea"/>
              </a:rPr>
              <a:t>=</a:t>
            </a:r>
            <a:r>
              <a:rPr lang="en-US" altLang="zh-CN" sz="2800" b="1" dirty="0" err="1">
                <a:latin typeface="+mn-lt"/>
                <a:ea typeface="+mn-ea"/>
              </a:rPr>
              <a:t>z</a:t>
            </a:r>
            <a:r>
              <a:rPr lang="en-US" altLang="zh-CN" sz="2800" b="1" baseline="-25000" dirty="0" err="1">
                <a:latin typeface="+mn-lt"/>
                <a:ea typeface="+mn-ea"/>
              </a:rPr>
              <a:t>i</a:t>
            </a:r>
            <a:r>
              <a:rPr lang="en-US" altLang="zh-CN" sz="2800" b="1" baseline="-25000" dirty="0">
                <a:latin typeface="+mn-lt"/>
                <a:ea typeface="+mn-ea"/>
              </a:rPr>
              <a:t>     </a:t>
            </a:r>
            <a:r>
              <a:rPr lang="en-US" altLang="zh-CN" sz="2800" b="1" dirty="0">
                <a:latin typeface="+mn-lt"/>
                <a:ea typeface="+mn-ea"/>
              </a:rPr>
              <a:t>  x</a:t>
            </a:r>
            <a:r>
              <a:rPr lang="en-US" altLang="zh-CN" sz="2800" b="1" baseline="-25000" dirty="0">
                <a:latin typeface="+mn-lt"/>
                <a:ea typeface="+mn-ea"/>
              </a:rPr>
              <a:t>i</a:t>
            </a:r>
            <a:r>
              <a:rPr lang="en-US" altLang="zh-CN" sz="2800" b="1" dirty="0">
                <a:latin typeface="+mn-ea"/>
                <a:ea typeface="+mn-ea"/>
              </a:rPr>
              <a:t>。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278" name="Object 2">
                <a:extLst>
                  <a:ext uri="{FF2B5EF4-FFF2-40B4-BE49-F238E27FC236}">
                    <a16:creationId xmlns:a16="http://schemas.microsoft.com/office/drawing/2014/main" id="{894442F2-A865-4AA6-A8F5-6B58F2C0A6FF}"/>
                  </a:ext>
                </a:extLst>
              </p:cNvPr>
              <p:cNvSpPr txBox="1"/>
              <p:nvPr/>
            </p:nvSpPr>
            <p:spPr bwMode="auto">
              <a:xfrm>
                <a:off x="5700713" y="1804988"/>
                <a:ext cx="436562" cy="4699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54278" name="Object 2">
                <a:extLst>
                  <a:ext uri="{FF2B5EF4-FFF2-40B4-BE49-F238E27FC236}">
                    <a16:creationId xmlns:a16="http://schemas.microsoft.com/office/drawing/2014/main" id="{894442F2-A865-4AA6-A8F5-6B58F2C0A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00713" y="1804988"/>
                <a:ext cx="436562" cy="4699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E877FC-1D9C-4960-BEEF-DC3912F7A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流密码的需求</a:t>
            </a: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4704306E-C95F-4F0B-AD48-A439D37BE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075" y="1143000"/>
            <a:ext cx="10702925" cy="5105400"/>
          </a:xfrm>
        </p:spPr>
        <p:txBody>
          <a:bodyPr/>
          <a:lstStyle/>
          <a:p>
            <a:pPr marL="679450" indent="-4572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宋体" panose="02010600030101010101" pitchFamily="2" charset="-122"/>
              </a:rPr>
              <a:t>一次一密密码是加法流密码的原型</a:t>
            </a:r>
            <a:endParaRPr lang="en-US" altLang="zh-CN" sz="2800" b="1">
              <a:latin typeface="宋体" panose="02010600030101010101" pitchFamily="2" charset="-122"/>
            </a:endParaRPr>
          </a:p>
          <a:p>
            <a:pPr marL="1136650" lvl="1" indent="-4572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宋体" panose="02010600030101010101" pitchFamily="2" charset="-122"/>
              </a:rPr>
              <a:t>如果密钥用作滚动密钥流，则加法流密码就退化成一次一密密码。</a:t>
            </a:r>
          </a:p>
          <a:p>
            <a:pPr marL="1136650" lvl="1" indent="-457200"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zh-CN" altLang="en-US" sz="2400" b="1"/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E877FC-1D9C-4960-BEEF-DC3912F7A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流密码的需求</a:t>
            </a: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06B98774-BB1B-40AF-A408-AE14992EC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075" y="1143000"/>
            <a:ext cx="10702925" cy="5105400"/>
          </a:xfrm>
        </p:spPr>
        <p:txBody>
          <a:bodyPr/>
          <a:lstStyle/>
          <a:p>
            <a:pPr marL="679450" indent="-4572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宋体" panose="02010600030101010101" pitchFamily="2" charset="-122"/>
              </a:rPr>
              <a:t>一次一密密码是加法流密码的原型</a:t>
            </a:r>
            <a:endParaRPr lang="en-US" altLang="zh-CN" sz="2800" b="1">
              <a:latin typeface="宋体" panose="02010600030101010101" pitchFamily="2" charset="-122"/>
            </a:endParaRPr>
          </a:p>
          <a:p>
            <a:pPr marL="1136650" lvl="1" indent="-4572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latin typeface="宋体" panose="02010600030101010101" pitchFamily="2" charset="-122"/>
              </a:rPr>
              <a:t>如果密钥用作滚动密钥流，则加法流密码就退化成一次一密密码。</a:t>
            </a:r>
          </a:p>
          <a:p>
            <a:pPr marL="679450" indent="-4572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800" b="1">
                <a:latin typeface="宋体" panose="02010600030101010101" pitchFamily="2" charset="-122"/>
              </a:rPr>
              <a:t>密码设计者的最大愿望是设计出一个滚动密钥生成器，使得密钥经其扩展成的密钥流序列具有如下性质：</a:t>
            </a:r>
            <a:endParaRPr lang="en-US" altLang="zh-CN" sz="2800" b="1">
              <a:latin typeface="宋体" panose="02010600030101010101" pitchFamily="2" charset="-122"/>
            </a:endParaRPr>
          </a:p>
          <a:p>
            <a:pPr marL="1136650" lvl="1" indent="-4572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极大的周期</a:t>
            </a:r>
            <a:endParaRPr lang="en-US" altLang="zh-CN" sz="2400" b="1">
              <a:latin typeface="宋体" panose="02010600030101010101" pitchFamily="2" charset="-122"/>
            </a:endParaRPr>
          </a:p>
          <a:p>
            <a:pPr marL="1136650" lvl="1" indent="-4572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良好的统计特性</a:t>
            </a:r>
            <a:endParaRPr lang="en-US" altLang="zh-CN" sz="2400" b="1">
              <a:latin typeface="宋体" panose="02010600030101010101" pitchFamily="2" charset="-122"/>
            </a:endParaRPr>
          </a:p>
          <a:p>
            <a:pPr marL="1136650" lvl="1" indent="-45720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抗线性分析</a:t>
            </a:r>
            <a:endParaRPr lang="zh-CN" altLang="en-US" sz="2400" b="1"/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副标题 2">
            <a:extLst>
              <a:ext uri="{FF2B5EF4-FFF2-40B4-BE49-F238E27FC236}">
                <a16:creationId xmlns:a16="http://schemas.microsoft.com/office/drawing/2014/main" id="{D4376871-58C4-442E-8B6F-CC39F2BE01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048000"/>
            <a:ext cx="12192000" cy="790575"/>
          </a:xfrm>
        </p:spPr>
        <p:txBody>
          <a:bodyPr/>
          <a:lstStyle/>
          <a:p>
            <a:r>
              <a:rPr lang="zh-CN" altLang="en-US" sz="3600" b="1"/>
              <a:t>二元序列的伪随机性</a:t>
            </a:r>
            <a:endParaRPr lang="en-US" altLang="zh-CN" sz="3600" b="1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4919F90-974F-4518-B2B2-B101D97F4172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1EEAD-88EE-4BDF-A0A9-BB4F3B357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2550" y="365125"/>
            <a:ext cx="6778625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二元序列的伪随机性</a:t>
            </a:r>
          </a:p>
        </p:txBody>
      </p:sp>
      <p:sp>
        <p:nvSpPr>
          <p:cNvPr id="5" name="空心弧 4">
            <a:extLst>
              <a:ext uri="{FF2B5EF4-FFF2-40B4-BE49-F238E27FC236}">
                <a16:creationId xmlns:a16="http://schemas.microsoft.com/office/drawing/2014/main" id="{06D24B70-7E1D-4360-B7D2-257C5B86F924}"/>
              </a:ext>
            </a:extLst>
          </p:cNvPr>
          <p:cNvSpPr/>
          <p:nvPr/>
        </p:nvSpPr>
        <p:spPr bwMode="auto">
          <a:xfrm>
            <a:off x="-1627188" y="793750"/>
            <a:ext cx="5472113" cy="5473700"/>
          </a:xfrm>
          <a:prstGeom prst="blockArc">
            <a:avLst>
              <a:gd name="adj1" fmla="val 18776635"/>
              <a:gd name="adj2" fmla="val 2427521"/>
              <a:gd name="adj3" fmla="val 0"/>
            </a:avLst>
          </a:prstGeom>
        </p:spPr>
        <p:style>
          <a:lnRef idx="1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398370A5-F3A2-476E-9E97-EB89CDC38F19}"/>
              </a:ext>
            </a:extLst>
          </p:cNvPr>
          <p:cNvSpPr/>
          <p:nvPr/>
        </p:nvSpPr>
        <p:spPr bwMode="auto">
          <a:xfrm>
            <a:off x="3556000" y="2057400"/>
            <a:ext cx="5708650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/>
              <a:t>二元序列的相关概念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77B83C5-B191-4384-B02F-7AB916248E2C}"/>
              </a:ext>
            </a:extLst>
          </p:cNvPr>
          <p:cNvSpPr/>
          <p:nvPr/>
        </p:nvSpPr>
        <p:spPr bwMode="auto">
          <a:xfrm>
            <a:off x="3048000" y="1955800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任意多边形 14">
            <a:extLst>
              <a:ext uri="{FF2B5EF4-FFF2-40B4-BE49-F238E27FC236}">
                <a16:creationId xmlns:a16="http://schemas.microsoft.com/office/drawing/2014/main" id="{B89DA065-4F12-4993-854A-1A72EDFF5794}"/>
              </a:ext>
            </a:extLst>
          </p:cNvPr>
          <p:cNvSpPr/>
          <p:nvPr/>
        </p:nvSpPr>
        <p:spPr>
          <a:xfrm>
            <a:off x="3708400" y="3886200"/>
            <a:ext cx="5508625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/>
              <a:t>伪随机序列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7C0AEBC-EB16-468C-B23C-D6FC3CA7E2C9}"/>
              </a:ext>
            </a:extLst>
          </p:cNvPr>
          <p:cNvSpPr/>
          <p:nvPr/>
        </p:nvSpPr>
        <p:spPr>
          <a:xfrm>
            <a:off x="3200400" y="3784600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5C5DD52-A8D3-4A12-9142-2B9EB68B6A57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EAD2D20-541D-49F9-ADCB-86816C48007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二元序列的伪随机性</a:t>
            </a:r>
          </a:p>
        </p:txBody>
      </p:sp>
      <p:sp>
        <p:nvSpPr>
          <p:cNvPr id="35843" name="内容占位符 1">
            <a:extLst>
              <a:ext uri="{FF2B5EF4-FFF2-40B4-BE49-F238E27FC236}">
                <a16:creationId xmlns:a16="http://schemas.microsoft.com/office/drawing/2014/main" id="{F0308656-BF76-4024-9578-83CA96238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GF</a:t>
            </a: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）上的一个无限序列</a:t>
            </a:r>
            <a:endParaRPr lang="en-US" altLang="zh-CN" b="1" dirty="0"/>
          </a:p>
          <a:p>
            <a:pPr>
              <a:defRPr/>
            </a:pPr>
            <a:endParaRPr lang="en-US" altLang="zh-CN" b="1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  称为二元序列，若          。</a:t>
            </a:r>
            <a:endParaRPr lang="en-US" altLang="zh-CN" b="1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zh-C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516" name="对象 3">
                <a:extLst>
                  <a:ext uri="{FF2B5EF4-FFF2-40B4-BE49-F238E27FC236}">
                    <a16:creationId xmlns:a16="http://schemas.microsoft.com/office/drawing/2014/main" id="{6A3B0F8C-3540-4E3D-B878-7EA21C9E6D6F}"/>
                  </a:ext>
                </a:extLst>
              </p:cNvPr>
              <p:cNvSpPr txBox="1"/>
              <p:nvPr/>
            </p:nvSpPr>
            <p:spPr bwMode="auto">
              <a:xfrm>
                <a:off x="3505200" y="1828800"/>
                <a:ext cx="3352800" cy="56991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4516" name="对象 3">
                <a:extLst>
                  <a:ext uri="{FF2B5EF4-FFF2-40B4-BE49-F238E27FC236}">
                    <a16:creationId xmlns:a16="http://schemas.microsoft.com/office/drawing/2014/main" id="{6A3B0F8C-3540-4E3D-B878-7EA21C9E6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5200" y="1828800"/>
                <a:ext cx="3352800" cy="569913"/>
              </a:xfrm>
              <a:prstGeom prst="rect">
                <a:avLst/>
              </a:prstGeom>
              <a:blipFill>
                <a:blip r:embed="rId2"/>
                <a:stretch>
                  <a:fillRect t="-12903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165FD7C0-2A55-4C0D-8AC1-75A12B7C998B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45540" y="2357735"/>
            <a:ext cx="1864660" cy="461665"/>
          </a:xfrm>
          <a:prstGeom prst="rect">
            <a:avLst/>
          </a:prstGeom>
          <a:blipFill rotWithShape="0">
            <a:blip r:embed="rId3"/>
            <a:stretch>
              <a:fillRect t="-127632" r="-33007" b="-197368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B49674F-C8D4-444A-95E7-D9B674C4FC46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EAD2D20-541D-49F9-ADCB-86816C48007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二元序列的伪随机性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3" name="内容占位符 1">
                <a:extLst>
                  <a:ext uri="{FF2B5EF4-FFF2-40B4-BE49-F238E27FC236}">
                    <a16:creationId xmlns:a16="http://schemas.microsoft.com/office/drawing/2014/main" id="{F0308656-BF76-4024-9578-83CA962385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3913" y="1465263"/>
                <a:ext cx="10515600" cy="4579937"/>
              </a:xfrm>
            </p:spPr>
            <p:txBody>
              <a:bodyPr/>
              <a:lstStyle/>
              <a:p>
                <a:pPr>
                  <a:defRPr/>
                </a:pPr>
                <a:r>
                  <a:rPr lang="en-US" altLang="zh-CN" b="1" dirty="0"/>
                  <a:t>GF</a:t>
                </a:r>
                <a:r>
                  <a:rPr lang="zh-CN" altLang="en-US" b="1" dirty="0"/>
                  <a:t>（</a:t>
                </a:r>
                <a:r>
                  <a:rPr lang="en-US" altLang="zh-CN" b="1" dirty="0"/>
                  <a:t>2</a:t>
                </a:r>
                <a:r>
                  <a:rPr lang="zh-CN" altLang="en-US" b="1" dirty="0"/>
                  <a:t>）上的一个无限序列</a:t>
                </a:r>
                <a:endParaRPr lang="en-US" altLang="zh-CN" b="1" dirty="0"/>
              </a:p>
              <a:p>
                <a:pPr>
                  <a:defRPr/>
                </a:pPr>
                <a:endParaRPr lang="en-US" altLang="zh-CN" b="1" dirty="0"/>
              </a:p>
              <a:p>
                <a:pPr marL="0" indent="0">
                  <a:buFont typeface="Arial" panose="020B0604020202020204" pitchFamily="34" charset="0"/>
                  <a:buNone/>
                  <a:defRPr/>
                </a:pPr>
                <a:r>
                  <a:rPr lang="zh-CN" altLang="en-US" b="1" dirty="0"/>
                  <a:t>  称为二元序列，若          。</a:t>
                </a:r>
                <a:endParaRPr lang="en-US" altLang="zh-CN" b="1" dirty="0"/>
              </a:p>
              <a:p>
                <a:pPr>
                  <a:defRPr/>
                </a:pPr>
                <a:r>
                  <a:rPr lang="zh-CN" altLang="en-US" b="1" dirty="0"/>
                  <a:t>周期：对于二元序列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zh-CN" altLang="en-US" b="1" dirty="0"/>
                  <a:t> ，如果存在正整数</a:t>
                </a:r>
                <a:r>
                  <a:rPr lang="en-US" altLang="zh-CN" b="1" i="1" dirty="0">
                    <a:latin typeface="Times New Roman" panose="02020603050405020304" pitchFamily="18" charset="0"/>
                  </a:rPr>
                  <a:t>l</a:t>
                </a:r>
                <a:r>
                  <a:rPr lang="zh-CN" altLang="en-US" b="1" dirty="0"/>
                  <a:t>，使得对于一切正整数</a:t>
                </a:r>
                <a:r>
                  <a:rPr lang="en-US" altLang="zh-CN" b="1" i="1" dirty="0">
                    <a:latin typeface="Times New Roman" panose="02020603050405020304" pitchFamily="18" charset="0"/>
                  </a:rPr>
                  <a:t>k</a:t>
                </a:r>
                <a:r>
                  <a:rPr lang="zh-CN" altLang="en-US" b="1" dirty="0"/>
                  <a:t>都有</a:t>
                </a:r>
                <a:endParaRPr lang="en-US" altLang="zh-CN" b="1" dirty="0"/>
              </a:p>
              <a:p>
                <a:pPr>
                  <a:defRPr/>
                </a:pPr>
                <a:endParaRPr lang="en-US" altLang="zh-CN" b="1" dirty="0"/>
              </a:p>
              <a:p>
                <a:pPr marL="0" indent="0">
                  <a:buFont typeface="Arial" panose="020B0604020202020204" pitchFamily="34" charset="0"/>
                  <a:buNone/>
                  <a:defRPr/>
                </a:pPr>
                <a:r>
                  <a:rPr lang="zh-CN" altLang="en-US" b="1" dirty="0"/>
                  <a:t>  则称 </a:t>
                </a:r>
                <a:r>
                  <a:rPr lang="zh-CN" altLang="en-US" sz="2800" b="1" dirty="0"/>
                  <a:t> </a:t>
                </a:r>
                <a:r>
                  <a:rPr lang="zh-CN" altLang="en-US" b="1" dirty="0"/>
                  <a:t> 是周期的。</a:t>
                </a:r>
                <a:endParaRPr lang="en-US" altLang="zh-CN" b="1" dirty="0"/>
              </a:p>
              <a:p>
                <a:pPr marL="0" indent="0">
                  <a:buNone/>
                  <a:defRPr/>
                </a:pPr>
                <a:r>
                  <a:rPr lang="zh-CN" altLang="en-US" b="1" dirty="0"/>
                  <a:t>  满足上述条件的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最小正整数</a:t>
                </a:r>
                <a:r>
                  <a:rPr lang="zh-CN" altLang="en-US" b="1" dirty="0"/>
                  <a:t>称为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zh-CN" altLang="en-US" b="1" dirty="0"/>
                  <a:t>  的周期记为</a:t>
                </a:r>
                <a:endParaRPr lang="en-US" altLang="zh-CN" b="1" dirty="0"/>
              </a:p>
            </p:txBody>
          </p:sp>
        </mc:Choice>
        <mc:Fallback xmlns="">
          <p:sp>
            <p:nvSpPr>
              <p:cNvPr id="35843" name="内容占位符 1">
                <a:extLst>
                  <a:ext uri="{FF2B5EF4-FFF2-40B4-BE49-F238E27FC236}">
                    <a16:creationId xmlns:a16="http://schemas.microsoft.com/office/drawing/2014/main" id="{F0308656-BF76-4024-9578-83CA962385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3913" y="1465263"/>
                <a:ext cx="10515600" cy="4579937"/>
              </a:xfrm>
              <a:blipFill>
                <a:blip r:embed="rId2"/>
                <a:stretch>
                  <a:fillRect l="-754" t="-18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540" name="对象 3">
                <a:extLst>
                  <a:ext uri="{FF2B5EF4-FFF2-40B4-BE49-F238E27FC236}">
                    <a16:creationId xmlns:a16="http://schemas.microsoft.com/office/drawing/2014/main" id="{CA822EF3-C3B0-4E4F-8FC8-62BAABD64C47}"/>
                  </a:ext>
                </a:extLst>
              </p:cNvPr>
              <p:cNvSpPr txBox="1"/>
              <p:nvPr/>
            </p:nvSpPr>
            <p:spPr bwMode="auto">
              <a:xfrm>
                <a:off x="3505200" y="1828800"/>
                <a:ext cx="3352800" cy="56991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5540" name="对象 3">
                <a:extLst>
                  <a:ext uri="{FF2B5EF4-FFF2-40B4-BE49-F238E27FC236}">
                    <a16:creationId xmlns:a16="http://schemas.microsoft.com/office/drawing/2014/main" id="{CA822EF3-C3B0-4E4F-8FC8-62BAABD64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5200" y="1828800"/>
                <a:ext cx="3352800" cy="569913"/>
              </a:xfrm>
              <a:prstGeom prst="rect">
                <a:avLst/>
              </a:prstGeom>
              <a:blipFill>
                <a:blip r:embed="rId3"/>
                <a:stretch>
                  <a:fillRect t="-12903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165FD7C0-2A55-4C0D-8AC1-75A12B7C998B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45540" y="2357735"/>
            <a:ext cx="1864660" cy="461665"/>
          </a:xfrm>
          <a:prstGeom prst="rect">
            <a:avLst/>
          </a:prstGeom>
          <a:blipFill rotWithShape="0">
            <a:blip r:embed="rId4"/>
            <a:stretch>
              <a:fillRect t="-127632" r="-33007" b="-197368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543" name="对象 10">
                <a:extLst>
                  <a:ext uri="{FF2B5EF4-FFF2-40B4-BE49-F238E27FC236}">
                    <a16:creationId xmlns:a16="http://schemas.microsoft.com/office/drawing/2014/main" id="{0CCEE673-110A-465B-89BB-B62F645D9668}"/>
                  </a:ext>
                </a:extLst>
              </p:cNvPr>
              <p:cNvSpPr txBox="1"/>
              <p:nvPr/>
            </p:nvSpPr>
            <p:spPr bwMode="auto">
              <a:xfrm>
                <a:off x="4381500" y="3216275"/>
                <a:ext cx="1562100" cy="56991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5543" name="对象 10">
                <a:extLst>
                  <a:ext uri="{FF2B5EF4-FFF2-40B4-BE49-F238E27FC236}">
                    <a16:creationId xmlns:a16="http://schemas.microsoft.com/office/drawing/2014/main" id="{0CCEE673-110A-465B-89BB-B62F645D9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500" y="3216275"/>
                <a:ext cx="1562100" cy="5699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546" name="对象 14">
                <a:extLst>
                  <a:ext uri="{FF2B5EF4-FFF2-40B4-BE49-F238E27FC236}">
                    <a16:creationId xmlns:a16="http://schemas.microsoft.com/office/drawing/2014/main" id="{B0E9138D-7DB8-414E-930F-BEF3F18B171E}"/>
                  </a:ext>
                </a:extLst>
              </p:cNvPr>
              <p:cNvSpPr txBox="1"/>
              <p:nvPr/>
            </p:nvSpPr>
            <p:spPr bwMode="auto">
              <a:xfrm>
                <a:off x="7696200" y="4133528"/>
                <a:ext cx="914400" cy="56991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5546" name="对象 14">
                <a:extLst>
                  <a:ext uri="{FF2B5EF4-FFF2-40B4-BE49-F238E27FC236}">
                    <a16:creationId xmlns:a16="http://schemas.microsoft.com/office/drawing/2014/main" id="{B0E9138D-7DB8-414E-930F-BEF3F18B1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96200" y="4133528"/>
                <a:ext cx="914400" cy="569913"/>
              </a:xfrm>
              <a:prstGeom prst="rect">
                <a:avLst/>
              </a:prstGeom>
              <a:blipFill>
                <a:blip r:embed="rId6"/>
                <a:stretch>
                  <a:fillRect t="-13830" r="-22000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B49674F-C8D4-444A-95E7-D9B674C4FC46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0A688E1A-7A44-4312-97D4-06641EE7FB80}"/>
                  </a:ext>
                </a:extLst>
              </p:cNvPr>
              <p:cNvSpPr/>
              <p:nvPr/>
            </p:nvSpPr>
            <p:spPr>
              <a:xfrm>
                <a:off x="1752600" y="3755231"/>
                <a:ext cx="65735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0A688E1A-7A44-4312-97D4-06641EE7FB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755231"/>
                <a:ext cx="657351" cy="369332"/>
              </a:xfrm>
              <a:prstGeom prst="rect">
                <a:avLst/>
              </a:prstGeom>
              <a:blipFill>
                <a:blip r:embed="rId7"/>
                <a:stretch>
                  <a:fillRect t="-19672" r="-168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EAD2D20-541D-49F9-ADCB-86816C48007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二元序列的伪随机性</a:t>
            </a:r>
          </a:p>
        </p:txBody>
      </p:sp>
      <p:sp>
        <p:nvSpPr>
          <p:cNvPr id="35843" name="内容占位符 1">
            <a:extLst>
              <a:ext uri="{FF2B5EF4-FFF2-40B4-BE49-F238E27FC236}">
                <a16:creationId xmlns:a16="http://schemas.microsoft.com/office/drawing/2014/main" id="{F0308656-BF76-4024-9578-83CA96238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例：</a:t>
            </a:r>
            <a:r>
              <a:rPr lang="en-US" altLang="zh-CN" b="1" dirty="0"/>
              <a:t>GF</a:t>
            </a: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）上的一个无限序列</a:t>
            </a:r>
            <a:endParaRPr lang="en-US" altLang="zh-CN" b="1" dirty="0"/>
          </a:p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n-US" altLang="zh-CN" b="1" dirty="0"/>
              <a:t>100011101110001110111000111011……………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  </a:t>
            </a:r>
            <a:endParaRPr lang="en-US" altLang="zh-CN" b="1" dirty="0"/>
          </a:p>
          <a:p>
            <a:pPr>
              <a:defRPr/>
            </a:pPr>
            <a:endParaRPr lang="en-US" altLang="zh-CN" b="1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  </a:t>
            </a:r>
            <a:endParaRPr lang="en-US" altLang="zh-CN" b="1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B49674F-C8D4-444A-95E7-D9B674C4FC46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EAD2D20-541D-49F9-ADCB-86816C48007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二元序列的伪随机性</a:t>
            </a:r>
          </a:p>
        </p:txBody>
      </p:sp>
      <p:sp>
        <p:nvSpPr>
          <p:cNvPr id="35843" name="内容占位符 1">
            <a:extLst>
              <a:ext uri="{FF2B5EF4-FFF2-40B4-BE49-F238E27FC236}">
                <a16:creationId xmlns:a16="http://schemas.microsoft.com/office/drawing/2014/main" id="{F0308656-BF76-4024-9578-83CA96238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例：</a:t>
            </a:r>
            <a:r>
              <a:rPr lang="en-US" altLang="zh-CN" b="1" dirty="0"/>
              <a:t>GF</a:t>
            </a: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）上的一个无限序列</a:t>
            </a:r>
            <a:endParaRPr lang="en-US" altLang="zh-CN" b="1" dirty="0"/>
          </a:p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en-US" altLang="zh-CN" b="1" dirty="0"/>
              <a:t>100011101110001110111000111011……………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  </a:t>
            </a:r>
            <a:endParaRPr lang="en-US" altLang="zh-CN" b="1" dirty="0"/>
          </a:p>
          <a:p>
            <a:pPr>
              <a:defRPr/>
            </a:pPr>
            <a:r>
              <a:rPr lang="zh-CN" altLang="en-US" b="1" dirty="0"/>
              <a:t>周期：</a:t>
            </a:r>
            <a:r>
              <a:rPr lang="en-US" altLang="zh-CN" b="1" dirty="0"/>
              <a:t>10. </a:t>
            </a:r>
            <a:r>
              <a:rPr lang="zh-CN" altLang="en-US" b="1" dirty="0"/>
              <a:t>当</a:t>
            </a:r>
            <a:r>
              <a:rPr lang="en-US" altLang="zh-CN" b="1" i="1" dirty="0">
                <a:latin typeface="Times New Roman" panose="02020603050405020304" pitchFamily="18" charset="0"/>
              </a:rPr>
              <a:t>l</a:t>
            </a:r>
            <a:r>
              <a:rPr lang="en-US" altLang="zh-CN" b="1" dirty="0"/>
              <a:t>= 20</a:t>
            </a:r>
            <a:r>
              <a:rPr lang="zh-CN" altLang="en-US" b="1" dirty="0"/>
              <a:t>，</a:t>
            </a:r>
            <a:r>
              <a:rPr lang="en-US" altLang="zh-CN" b="1" dirty="0"/>
              <a:t>30</a:t>
            </a:r>
            <a:r>
              <a:rPr lang="zh-CN" altLang="en-US" b="1" dirty="0"/>
              <a:t>，</a:t>
            </a:r>
            <a:r>
              <a:rPr lang="en-US" altLang="zh-CN" b="1" dirty="0"/>
              <a:t>40</a:t>
            </a:r>
            <a:r>
              <a:rPr lang="zh-CN" altLang="en-US" b="1" dirty="0"/>
              <a:t>，</a:t>
            </a:r>
            <a:r>
              <a:rPr lang="en-US" altLang="zh-CN" b="1" dirty="0"/>
              <a:t>……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altLang="zh-CN" b="1" dirty="0"/>
              <a:t>                               </a:t>
            </a:r>
            <a:r>
              <a:rPr lang="zh-CN" altLang="en-US" b="1" dirty="0"/>
              <a:t>任然成立</a:t>
            </a:r>
            <a:endParaRPr lang="en-US" altLang="zh-CN" b="1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  </a:t>
            </a:r>
            <a:endParaRPr lang="en-US" altLang="zh-CN" b="1" dirty="0"/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  </a:t>
            </a:r>
            <a:endParaRPr lang="en-US" altLang="zh-C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588" name="对象 10">
                <a:extLst>
                  <a:ext uri="{FF2B5EF4-FFF2-40B4-BE49-F238E27FC236}">
                    <a16:creationId xmlns:a16="http://schemas.microsoft.com/office/drawing/2014/main" id="{A777DEAB-C557-4435-A5B2-F80EF5C18CAB}"/>
                  </a:ext>
                </a:extLst>
              </p:cNvPr>
              <p:cNvSpPr txBox="1"/>
              <p:nvPr/>
            </p:nvSpPr>
            <p:spPr bwMode="auto">
              <a:xfrm>
                <a:off x="3657600" y="3216275"/>
                <a:ext cx="2133600" cy="8223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7588" name="对象 10">
                <a:extLst>
                  <a:ext uri="{FF2B5EF4-FFF2-40B4-BE49-F238E27FC236}">
                    <a16:creationId xmlns:a16="http://schemas.microsoft.com/office/drawing/2014/main" id="{A777DEAB-C557-4435-A5B2-F80EF5C18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57600" y="3216275"/>
                <a:ext cx="2133600" cy="8223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8B49674F-C8D4-444A-95E7-D9B674C4FC46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2F3F37-6554-476D-ABC3-49011AD8A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周期的性质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66C25F-7DF2-4D7D-AD8B-57093DD59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设</a:t>
            </a:r>
            <a:r>
              <a:rPr lang="en-US" altLang="zh-CN" b="1" dirty="0"/>
              <a:t>GF</a:t>
            </a: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）上的一个无限序列                      是周期为</a:t>
            </a:r>
            <a:endParaRPr lang="en-US" altLang="zh-CN" b="1" dirty="0"/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的二元序列，并设正整数</a:t>
            </a:r>
            <a:r>
              <a:rPr lang="en-US" altLang="zh-CN" b="1" dirty="0"/>
              <a:t>l</a:t>
            </a:r>
            <a:r>
              <a:rPr lang="zh-CN" altLang="en-US" b="1" dirty="0"/>
              <a:t>对任何非负整数</a:t>
            </a:r>
            <a:r>
              <a:rPr lang="en-US" altLang="zh-CN" b="1" dirty="0"/>
              <a:t>k</a:t>
            </a:r>
            <a:r>
              <a:rPr lang="zh-CN" altLang="en-US" b="1" dirty="0"/>
              <a:t>都有           ，则一定有</a:t>
            </a:r>
            <a:endParaRPr lang="en-US" altLang="zh-CN" b="1" dirty="0"/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>
              <a:defRPr/>
            </a:pPr>
            <a:r>
              <a:rPr lang="zh-CN" altLang="en-US" b="1" dirty="0"/>
              <a:t>证明：</a:t>
            </a:r>
            <a:endParaRPr lang="en-US" altLang="zh-CN" b="1" dirty="0"/>
          </a:p>
          <a:p>
            <a:pPr>
              <a:defRPr/>
            </a:pP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612" name="对象 4">
                <a:extLst>
                  <a:ext uri="{FF2B5EF4-FFF2-40B4-BE49-F238E27FC236}">
                    <a16:creationId xmlns:a16="http://schemas.microsoft.com/office/drawing/2014/main" id="{E4D4DE61-C4CE-490F-97F1-14E42FAA0E59}"/>
                  </a:ext>
                </a:extLst>
              </p:cNvPr>
              <p:cNvSpPr txBox="1"/>
              <p:nvPr/>
            </p:nvSpPr>
            <p:spPr bwMode="auto">
              <a:xfrm>
                <a:off x="5024437" y="1469746"/>
                <a:ext cx="3352800" cy="56991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8612" name="对象 4">
                <a:extLst>
                  <a:ext uri="{FF2B5EF4-FFF2-40B4-BE49-F238E27FC236}">
                    <a16:creationId xmlns:a16="http://schemas.microsoft.com/office/drawing/2014/main" id="{E4D4DE61-C4CE-490F-97F1-14E42FAA0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24437" y="1469746"/>
                <a:ext cx="3352800" cy="569913"/>
              </a:xfrm>
              <a:prstGeom prst="rect">
                <a:avLst/>
              </a:prstGeom>
              <a:blipFill>
                <a:blip r:embed="rId2"/>
                <a:stretch>
                  <a:fillRect t="-12766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613" name="对象 5">
                <a:extLst>
                  <a:ext uri="{FF2B5EF4-FFF2-40B4-BE49-F238E27FC236}">
                    <a16:creationId xmlns:a16="http://schemas.microsoft.com/office/drawing/2014/main" id="{CE5D7E06-05B0-47AE-83ED-DBCF212A22DE}"/>
                  </a:ext>
                </a:extLst>
              </p:cNvPr>
              <p:cNvSpPr txBox="1"/>
              <p:nvPr/>
            </p:nvSpPr>
            <p:spPr bwMode="auto">
              <a:xfrm>
                <a:off x="9588500" y="1460781"/>
                <a:ext cx="914400" cy="56991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8613" name="对象 5">
                <a:extLst>
                  <a:ext uri="{FF2B5EF4-FFF2-40B4-BE49-F238E27FC236}">
                    <a16:creationId xmlns:a16="http://schemas.microsoft.com/office/drawing/2014/main" id="{CE5D7E06-05B0-47AE-83ED-DBCF212A2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88500" y="1460781"/>
                <a:ext cx="914400" cy="569913"/>
              </a:xfrm>
              <a:prstGeom prst="rect">
                <a:avLst/>
              </a:prstGeom>
              <a:blipFill>
                <a:blip r:embed="rId3"/>
                <a:stretch>
                  <a:fillRect t="-12903" r="-4667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614" name="对象 6">
                <a:extLst>
                  <a:ext uri="{FF2B5EF4-FFF2-40B4-BE49-F238E27FC236}">
                    <a16:creationId xmlns:a16="http://schemas.microsoft.com/office/drawing/2014/main" id="{29D51894-5B9A-44F5-A9B7-8F5920F1C1E1}"/>
                  </a:ext>
                </a:extLst>
              </p:cNvPr>
              <p:cNvSpPr txBox="1"/>
              <p:nvPr/>
            </p:nvSpPr>
            <p:spPr bwMode="auto">
              <a:xfrm>
                <a:off x="7304087" y="1951692"/>
                <a:ext cx="1447800" cy="56991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8614" name="对象 6">
                <a:extLst>
                  <a:ext uri="{FF2B5EF4-FFF2-40B4-BE49-F238E27FC236}">
                    <a16:creationId xmlns:a16="http://schemas.microsoft.com/office/drawing/2014/main" id="{29D51894-5B9A-44F5-A9B7-8F5920F1C1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04087" y="1951692"/>
                <a:ext cx="1447800" cy="5699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615" name="对象 7">
                <a:extLst>
                  <a:ext uri="{FF2B5EF4-FFF2-40B4-BE49-F238E27FC236}">
                    <a16:creationId xmlns:a16="http://schemas.microsoft.com/office/drawing/2014/main" id="{C87B0CEB-DADA-4AE5-86B7-FC1244FAC581}"/>
                  </a:ext>
                </a:extLst>
              </p:cNvPr>
              <p:cNvSpPr txBox="1"/>
              <p:nvPr/>
            </p:nvSpPr>
            <p:spPr bwMode="auto">
              <a:xfrm>
                <a:off x="5448300" y="2433638"/>
                <a:ext cx="1257300" cy="569912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)|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8615" name="对象 7">
                <a:extLst>
                  <a:ext uri="{FF2B5EF4-FFF2-40B4-BE49-F238E27FC236}">
                    <a16:creationId xmlns:a16="http://schemas.microsoft.com/office/drawing/2014/main" id="{C87B0CEB-DADA-4AE5-86B7-FC1244FAC5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48300" y="2433638"/>
                <a:ext cx="1257300" cy="569912"/>
              </a:xfrm>
              <a:prstGeom prst="rect">
                <a:avLst/>
              </a:prstGeom>
              <a:blipFill>
                <a:blip r:embed="rId5"/>
                <a:stretch>
                  <a:fillRect t="-13830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D0932DAC-07BA-42D7-BE1E-072317939777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2F3F37-6554-476D-ABC3-49011AD8A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周期的性质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66C25F-7DF2-4D7D-AD8B-57093DD59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设</a:t>
            </a:r>
            <a:r>
              <a:rPr lang="en-US" altLang="zh-CN" b="1" dirty="0"/>
              <a:t>GF</a:t>
            </a: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）上的一个无限序列                      是周期为</a:t>
            </a:r>
            <a:endParaRPr lang="en-US" altLang="zh-CN" b="1" dirty="0"/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的二元序列，并设正整数</a:t>
            </a:r>
            <a:r>
              <a:rPr lang="en-US" altLang="zh-CN" b="1" dirty="0"/>
              <a:t>l</a:t>
            </a:r>
            <a:r>
              <a:rPr lang="zh-CN" altLang="en-US" b="1" dirty="0"/>
              <a:t>对任何非负整数</a:t>
            </a:r>
            <a:r>
              <a:rPr lang="en-US" altLang="zh-CN" b="1" dirty="0"/>
              <a:t>k</a:t>
            </a:r>
            <a:r>
              <a:rPr lang="zh-CN" altLang="en-US" b="1" dirty="0"/>
              <a:t>都有           ，则一定有</a:t>
            </a:r>
            <a:endParaRPr lang="en-US" altLang="zh-CN" b="1" dirty="0"/>
          </a:p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>
              <a:defRPr/>
            </a:pPr>
            <a:r>
              <a:rPr lang="zh-CN" altLang="en-US" b="1" dirty="0"/>
              <a:t>证明：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36" name="对象 4">
                <a:extLst>
                  <a:ext uri="{FF2B5EF4-FFF2-40B4-BE49-F238E27FC236}">
                    <a16:creationId xmlns:a16="http://schemas.microsoft.com/office/drawing/2014/main" id="{3BE799FA-75B3-4AA4-AEB3-60988DA4887F}"/>
                  </a:ext>
                </a:extLst>
              </p:cNvPr>
              <p:cNvSpPr txBox="1"/>
              <p:nvPr/>
            </p:nvSpPr>
            <p:spPr bwMode="auto">
              <a:xfrm>
                <a:off x="5029200" y="1397000"/>
                <a:ext cx="3352800" cy="56991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9636" name="对象 4">
                <a:extLst>
                  <a:ext uri="{FF2B5EF4-FFF2-40B4-BE49-F238E27FC236}">
                    <a16:creationId xmlns:a16="http://schemas.microsoft.com/office/drawing/2014/main" id="{3BE799FA-75B3-4AA4-AEB3-60988DA48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29200" y="1397000"/>
                <a:ext cx="3352800" cy="569913"/>
              </a:xfrm>
              <a:prstGeom prst="rect">
                <a:avLst/>
              </a:prstGeom>
              <a:blipFill>
                <a:blip r:embed="rId2"/>
                <a:stretch>
                  <a:fillRect t="-12766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637" name="对象 5">
                <a:extLst>
                  <a:ext uri="{FF2B5EF4-FFF2-40B4-BE49-F238E27FC236}">
                    <a16:creationId xmlns:a16="http://schemas.microsoft.com/office/drawing/2014/main" id="{A29E7881-8B5F-4B54-A190-D4C4981E93C3}"/>
                  </a:ext>
                </a:extLst>
              </p:cNvPr>
              <p:cNvSpPr txBox="1"/>
              <p:nvPr/>
            </p:nvSpPr>
            <p:spPr bwMode="auto">
              <a:xfrm>
                <a:off x="9588500" y="1330325"/>
                <a:ext cx="914400" cy="56991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9637" name="对象 5">
                <a:extLst>
                  <a:ext uri="{FF2B5EF4-FFF2-40B4-BE49-F238E27FC236}">
                    <a16:creationId xmlns:a16="http://schemas.microsoft.com/office/drawing/2014/main" id="{A29E7881-8B5F-4B54-A190-D4C4981E93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88500" y="1330325"/>
                <a:ext cx="914400" cy="569913"/>
              </a:xfrm>
              <a:prstGeom prst="rect">
                <a:avLst/>
              </a:prstGeom>
              <a:blipFill>
                <a:blip r:embed="rId3"/>
                <a:stretch>
                  <a:fillRect t="-12766" r="-4667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638" name="对象 6">
                <a:extLst>
                  <a:ext uri="{FF2B5EF4-FFF2-40B4-BE49-F238E27FC236}">
                    <a16:creationId xmlns:a16="http://schemas.microsoft.com/office/drawing/2014/main" id="{75C2266E-A1EE-4CFC-B932-B623DE619C46}"/>
                  </a:ext>
                </a:extLst>
              </p:cNvPr>
              <p:cNvSpPr txBox="1"/>
              <p:nvPr/>
            </p:nvSpPr>
            <p:spPr bwMode="auto">
              <a:xfrm>
                <a:off x="7537450" y="1898650"/>
                <a:ext cx="1447800" cy="56991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9638" name="对象 6">
                <a:extLst>
                  <a:ext uri="{FF2B5EF4-FFF2-40B4-BE49-F238E27FC236}">
                    <a16:creationId xmlns:a16="http://schemas.microsoft.com/office/drawing/2014/main" id="{75C2266E-A1EE-4CFC-B932-B623DE619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37450" y="1898650"/>
                <a:ext cx="1447800" cy="5699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639" name="对象 7">
                <a:extLst>
                  <a:ext uri="{FF2B5EF4-FFF2-40B4-BE49-F238E27FC236}">
                    <a16:creationId xmlns:a16="http://schemas.microsoft.com/office/drawing/2014/main" id="{3A5E84AD-C875-4062-876B-2170E31B2451}"/>
                  </a:ext>
                </a:extLst>
              </p:cNvPr>
              <p:cNvSpPr txBox="1"/>
              <p:nvPr/>
            </p:nvSpPr>
            <p:spPr bwMode="auto">
              <a:xfrm>
                <a:off x="5448300" y="2433638"/>
                <a:ext cx="1257300" cy="569912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)|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9639" name="对象 7">
                <a:extLst>
                  <a:ext uri="{FF2B5EF4-FFF2-40B4-BE49-F238E27FC236}">
                    <a16:creationId xmlns:a16="http://schemas.microsoft.com/office/drawing/2014/main" id="{3A5E84AD-C875-4062-876B-2170E31B2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48300" y="2433638"/>
                <a:ext cx="1257300" cy="569912"/>
              </a:xfrm>
              <a:prstGeom prst="rect">
                <a:avLst/>
              </a:prstGeom>
              <a:blipFill>
                <a:blip r:embed="rId5"/>
                <a:stretch>
                  <a:fillRect t="-12766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6872" name="图片 43">
            <a:extLst>
              <a:ext uri="{FF2B5EF4-FFF2-40B4-BE49-F238E27FC236}">
                <a16:creationId xmlns:a16="http://schemas.microsoft.com/office/drawing/2014/main" id="{537EAFD0-70F1-4688-9D50-6C7B58E1C9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654"/>
          <a:stretch>
            <a:fillRect/>
          </a:stretch>
        </p:blipFill>
        <p:spPr bwMode="auto">
          <a:xfrm>
            <a:off x="1362075" y="3630613"/>
            <a:ext cx="9440863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D0932DAC-07BA-42D7-BE1E-072317939777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378" name="对象 6">
                <a:extLst>
                  <a:ext uri="{FF2B5EF4-FFF2-40B4-BE49-F238E27FC236}">
                    <a16:creationId xmlns:a16="http://schemas.microsoft.com/office/drawing/2014/main" id="{BD5A863C-F15F-4F82-B0FA-4CFA660FB584}"/>
                  </a:ext>
                </a:extLst>
              </p:cNvPr>
              <p:cNvSpPr txBox="1"/>
              <p:nvPr/>
            </p:nvSpPr>
            <p:spPr bwMode="auto">
              <a:xfrm>
                <a:off x="4114800" y="3957638"/>
                <a:ext cx="3422650" cy="18208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𝑞𝑝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8378" name="对象 6">
                <a:extLst>
                  <a:ext uri="{FF2B5EF4-FFF2-40B4-BE49-F238E27FC236}">
                    <a16:creationId xmlns:a16="http://schemas.microsoft.com/office/drawing/2014/main" id="{BD5A863C-F15F-4F82-B0FA-4CFA660FB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4800" y="3957638"/>
                <a:ext cx="3422650" cy="18208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1D4705D-0D12-42D8-A2C4-0DAA3BA030F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游程的定义</a:t>
            </a:r>
          </a:p>
        </p:txBody>
      </p:sp>
      <p:pic>
        <p:nvPicPr>
          <p:cNvPr id="70659" name="图片 20">
            <a:extLst>
              <a:ext uri="{FF2B5EF4-FFF2-40B4-BE49-F238E27FC236}">
                <a16:creationId xmlns:a16="http://schemas.microsoft.com/office/drawing/2014/main" id="{E4196EDF-C3C6-405B-BA65-097B33F14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11485563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8D52AB4-D3F5-4F3B-9327-211924CC2B89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Rectangle 13">
            <a:extLst>
              <a:ext uri="{FF2B5EF4-FFF2-40B4-BE49-F238E27FC236}">
                <a16:creationId xmlns:a16="http://schemas.microsoft.com/office/drawing/2014/main" id="{5B4AD47B-2E54-4B67-8959-3A76564033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sz="4000" b="1" dirty="0">
                <a:latin typeface="楷体_GB2312" pitchFamily="49" charset="-122"/>
                <a:ea typeface="楷体_GB2312" pitchFamily="49" charset="-122"/>
              </a:rPr>
              <a:t>游程</a:t>
            </a:r>
            <a:r>
              <a:rPr lang="zh-CN" altLang="en-US" sz="4000" dirty="0">
                <a:latin typeface="楷体_GB2312" pitchFamily="49" charset="-122"/>
                <a:ea typeface="楷体_GB2312" pitchFamily="49" charset="-122"/>
              </a:rPr>
              <a:t>的例子</a:t>
            </a:r>
          </a:p>
        </p:txBody>
      </p:sp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C3C51DC0-FD88-4C2A-B078-0AE296495E56}"/>
              </a:ext>
            </a:extLst>
          </p:cNvPr>
          <p:cNvGraphicFramePr/>
          <p:nvPr/>
        </p:nvGraphicFramePr>
        <p:xfrm>
          <a:off x="4953000" y="1270000"/>
          <a:ext cx="4940300" cy="4579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7FBB8A96-112C-4879-8398-64FB5C2C6ED4}"/>
              </a:ext>
            </a:extLst>
          </p:cNvPr>
          <p:cNvSpPr txBox="1"/>
          <p:nvPr/>
        </p:nvSpPr>
        <p:spPr>
          <a:xfrm>
            <a:off x="1465263" y="1270000"/>
            <a:ext cx="4495800" cy="22463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+mn-lt"/>
                <a:ea typeface="+mn-ea"/>
              </a:rPr>
              <a:t>周期为</a:t>
            </a:r>
            <a:r>
              <a:rPr lang="en-US" altLang="zh-CN" sz="2800" b="1" dirty="0">
                <a:latin typeface="+mn-lt"/>
                <a:ea typeface="+mn-ea"/>
              </a:rPr>
              <a:t>15</a:t>
            </a:r>
            <a:r>
              <a:rPr lang="zh-CN" altLang="en-US" sz="2800" b="1" dirty="0">
                <a:latin typeface="+mn-lt"/>
                <a:ea typeface="+mn-ea"/>
              </a:rPr>
              <a:t>的二元序列</a:t>
            </a:r>
            <a:endParaRPr lang="en-US" altLang="zh-CN" sz="2800" b="1" dirty="0">
              <a:latin typeface="+mn-lt"/>
              <a:ea typeface="+mn-ea"/>
            </a:endParaRPr>
          </a:p>
          <a:p>
            <a:pPr>
              <a:defRPr/>
            </a:pPr>
            <a:r>
              <a:rPr lang="en-US" altLang="zh-CN" sz="2800" b="1" dirty="0">
                <a:latin typeface="+mn-lt"/>
                <a:ea typeface="+mn-ea"/>
              </a:rPr>
              <a:t>100010011010111</a:t>
            </a:r>
          </a:p>
          <a:p>
            <a:pPr>
              <a:defRPr/>
            </a:pPr>
            <a:endParaRPr lang="en-US" altLang="zh-CN" sz="2800" b="1" dirty="0">
              <a:latin typeface="+mn-lt"/>
              <a:ea typeface="+mn-ea"/>
            </a:endParaRPr>
          </a:p>
          <a:p>
            <a:pPr>
              <a:defRPr/>
            </a:pPr>
            <a:r>
              <a:rPr lang="en-US" altLang="zh-CN" sz="2800" b="1" dirty="0">
                <a:latin typeface="+mn-lt"/>
                <a:ea typeface="+mn-ea"/>
              </a:rPr>
              <a:t>011110</a:t>
            </a:r>
            <a:r>
              <a:rPr lang="zh-CN" altLang="en-US" sz="2800" b="1" dirty="0">
                <a:latin typeface="+mn-lt"/>
                <a:ea typeface="+mn-ea"/>
              </a:rPr>
              <a:t>为</a:t>
            </a:r>
            <a:r>
              <a:rPr lang="en-US" altLang="zh-CN" sz="2800" b="1" dirty="0">
                <a:latin typeface="+mn-lt"/>
                <a:ea typeface="+mn-ea"/>
              </a:rPr>
              <a:t>1</a:t>
            </a:r>
            <a:r>
              <a:rPr lang="zh-CN" altLang="en-US" sz="2800" b="1" dirty="0">
                <a:latin typeface="+mn-lt"/>
                <a:ea typeface="+mn-ea"/>
              </a:rPr>
              <a:t>的</a:t>
            </a:r>
            <a:r>
              <a:rPr lang="en-US" altLang="zh-CN" sz="2800" b="1" dirty="0">
                <a:latin typeface="+mn-lt"/>
                <a:ea typeface="+mn-ea"/>
              </a:rPr>
              <a:t>4</a:t>
            </a:r>
            <a:r>
              <a:rPr lang="zh-CN" altLang="en-US" sz="2800" b="1" dirty="0">
                <a:latin typeface="+mn-lt"/>
                <a:ea typeface="+mn-ea"/>
              </a:rPr>
              <a:t>游程</a:t>
            </a:r>
            <a:endParaRPr lang="en-US" altLang="zh-CN" sz="2800" b="1" dirty="0">
              <a:latin typeface="+mn-lt"/>
              <a:ea typeface="+mn-ea"/>
            </a:endParaRPr>
          </a:p>
          <a:p>
            <a:pPr>
              <a:defRPr/>
            </a:pPr>
            <a:r>
              <a:rPr lang="en-US" altLang="zh-CN" sz="2800" b="1" dirty="0">
                <a:latin typeface="+mn-lt"/>
                <a:ea typeface="+mn-ea"/>
              </a:rPr>
              <a:t>10001</a:t>
            </a:r>
            <a:r>
              <a:rPr lang="zh-CN" altLang="en-US" sz="2800" b="1" dirty="0">
                <a:latin typeface="+mn-lt"/>
                <a:ea typeface="+mn-ea"/>
              </a:rPr>
              <a:t>为</a:t>
            </a:r>
            <a:r>
              <a:rPr lang="en-US" altLang="zh-CN" sz="2800" b="1" dirty="0">
                <a:latin typeface="+mn-lt"/>
                <a:ea typeface="+mn-ea"/>
              </a:rPr>
              <a:t>0</a:t>
            </a:r>
            <a:r>
              <a:rPr lang="zh-CN" altLang="en-US" sz="2800" b="1" dirty="0">
                <a:latin typeface="+mn-lt"/>
                <a:ea typeface="+mn-ea"/>
              </a:rPr>
              <a:t>的</a:t>
            </a:r>
            <a:r>
              <a:rPr lang="en-US" altLang="zh-CN" sz="2800" b="1" dirty="0">
                <a:latin typeface="+mn-lt"/>
                <a:ea typeface="+mn-ea"/>
              </a:rPr>
              <a:t>3</a:t>
            </a:r>
            <a:r>
              <a:rPr lang="zh-CN" altLang="en-US" sz="2800" b="1" dirty="0">
                <a:latin typeface="+mn-lt"/>
                <a:ea typeface="+mn-ea"/>
              </a:rPr>
              <a:t>游程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F3E2CDA-3B8D-4269-B650-12F716F64302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4E1BB5-B178-4B09-B98D-81D4372F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自相关函数</a:t>
            </a: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500623C8-1499-4263-ACEC-544AC7BC0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sz="2800" b="1">
                <a:latin typeface="Times New Roman" panose="02020603050405020304" pitchFamily="18" charset="0"/>
              </a:rPr>
              <a:t>GF(2)</a:t>
            </a:r>
            <a:r>
              <a:rPr lang="zh-CN" altLang="en-US" sz="2800" b="1">
                <a:latin typeface="Times New Roman" panose="02020603050405020304" pitchFamily="18" charset="0"/>
              </a:rPr>
              <a:t>上周期为</a:t>
            </a:r>
            <a:r>
              <a:rPr lang="en-US" altLang="zh-CN" sz="2800" b="1">
                <a:latin typeface="Times New Roman" panose="02020603050405020304" pitchFamily="18" charset="0"/>
              </a:rPr>
              <a:t>T</a:t>
            </a:r>
            <a:r>
              <a:rPr lang="zh-CN" altLang="en-US" sz="2800" b="1">
                <a:latin typeface="Times New Roman" panose="02020603050405020304" pitchFamily="18" charset="0"/>
              </a:rPr>
              <a:t>的序列{</a:t>
            </a:r>
            <a:r>
              <a:rPr lang="en-US" altLang="zh-CN" sz="2800" b="1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</a:rPr>
              <a:t>}</a:t>
            </a:r>
            <a:r>
              <a:rPr lang="zh-CN" altLang="en-US" sz="2800" b="1">
                <a:latin typeface="Times New Roman" panose="02020603050405020304" pitchFamily="18" charset="0"/>
              </a:rPr>
              <a:t>的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自相关函数</a:t>
            </a:r>
            <a:r>
              <a:rPr lang="zh-CN" altLang="en-US" sz="2800" b="1">
                <a:latin typeface="Times New Roman" panose="02020603050405020304" pitchFamily="18" charset="0"/>
              </a:rPr>
              <a:t>定义为</a:t>
            </a:r>
          </a:p>
        </p:txBody>
      </p:sp>
      <p:sp>
        <p:nvSpPr>
          <p:cNvPr id="487428" name="Text Box 4">
            <a:extLst>
              <a:ext uri="{FF2B5EF4-FFF2-40B4-BE49-F238E27FC236}">
                <a16:creationId xmlns:a16="http://schemas.microsoft.com/office/drawing/2014/main" id="{D3B184BF-A3C2-46E5-BD40-640DC611FE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600450"/>
            <a:ext cx="8991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solidFill>
                  <a:srgbClr val="000000"/>
                </a:solidFill>
                <a:latin typeface="+mn-lt"/>
                <a:ea typeface="+mn-ea"/>
              </a:rPr>
              <a:t>当</a:t>
            </a:r>
            <a:r>
              <a:rPr lang="en-US" altLang="zh-CN" sz="2800" b="1" dirty="0">
                <a:solidFill>
                  <a:srgbClr val="000000"/>
                </a:solidFill>
                <a:latin typeface="+mn-lt"/>
                <a:ea typeface="+mn-ea"/>
              </a:rPr>
              <a:t>τ=0</a:t>
            </a:r>
            <a:r>
              <a:rPr lang="zh-CN" altLang="en-US" sz="2800" b="1" dirty="0">
                <a:solidFill>
                  <a:srgbClr val="000000"/>
                </a:solidFill>
                <a:latin typeface="+mn-lt"/>
                <a:ea typeface="+mn-ea"/>
              </a:rPr>
              <a:t>时，</a:t>
            </a:r>
            <a:r>
              <a:rPr lang="en-US" altLang="zh-CN" sz="2800" b="1" dirty="0">
                <a:solidFill>
                  <a:srgbClr val="000000"/>
                </a:solidFill>
                <a:latin typeface="+mn-lt"/>
                <a:ea typeface="+mn-ea"/>
              </a:rPr>
              <a:t>R(</a:t>
            </a:r>
            <a:r>
              <a:rPr lang="el-GR" altLang="zh-CN" sz="2800" b="1" dirty="0">
                <a:solidFill>
                  <a:srgbClr val="000000"/>
                </a:solidFill>
                <a:latin typeface="+mn-lt"/>
                <a:ea typeface="+mn-ea"/>
              </a:rPr>
              <a:t>τ</a:t>
            </a:r>
            <a:r>
              <a:rPr lang="en-US" altLang="zh-CN" sz="2800" b="1" dirty="0">
                <a:solidFill>
                  <a:srgbClr val="000000"/>
                </a:solidFill>
                <a:latin typeface="+mn-lt"/>
                <a:ea typeface="+mn-ea"/>
              </a:rPr>
              <a:t>)=1；</a:t>
            </a:r>
            <a:r>
              <a:rPr lang="zh-CN" altLang="en-US" sz="2800" b="1" dirty="0">
                <a:solidFill>
                  <a:srgbClr val="000000"/>
                </a:solidFill>
                <a:latin typeface="+mn-lt"/>
                <a:ea typeface="+mn-ea"/>
              </a:rPr>
              <a:t>当</a:t>
            </a:r>
            <a:r>
              <a:rPr lang="el-GR" altLang="zh-CN" sz="2800" b="1" dirty="0">
                <a:solidFill>
                  <a:srgbClr val="000000"/>
                </a:solidFill>
                <a:latin typeface="+mn-lt"/>
                <a:ea typeface="+mn-ea"/>
              </a:rPr>
              <a:t>τ</a:t>
            </a:r>
            <a:r>
              <a:rPr lang="en-US" altLang="zh-CN" sz="2800" b="1" dirty="0">
                <a:solidFill>
                  <a:srgbClr val="000000"/>
                </a:solidFill>
                <a:latin typeface="+mn-lt"/>
                <a:ea typeface="+mn-ea"/>
              </a:rPr>
              <a:t>≠0</a:t>
            </a:r>
            <a:r>
              <a:rPr lang="zh-CN" altLang="en-US" sz="2800" b="1" dirty="0">
                <a:solidFill>
                  <a:srgbClr val="000000"/>
                </a:solidFill>
                <a:latin typeface="+mn-lt"/>
                <a:ea typeface="+mn-ea"/>
              </a:rPr>
              <a:t>时，称</a:t>
            </a:r>
            <a:r>
              <a:rPr lang="en-US" altLang="zh-CN" sz="2800" b="1" dirty="0">
                <a:solidFill>
                  <a:srgbClr val="000000"/>
                </a:solidFill>
                <a:latin typeface="+mn-lt"/>
                <a:ea typeface="+mn-ea"/>
              </a:rPr>
              <a:t>R(</a:t>
            </a:r>
            <a:r>
              <a:rPr lang="el-GR" altLang="zh-CN" sz="2800" b="1" dirty="0">
                <a:solidFill>
                  <a:srgbClr val="000000"/>
                </a:solidFill>
                <a:latin typeface="+mn-lt"/>
                <a:ea typeface="+mn-ea"/>
              </a:rPr>
              <a:t>τ</a:t>
            </a:r>
            <a:r>
              <a:rPr lang="en-US" altLang="zh-CN" sz="2800" b="1" dirty="0">
                <a:solidFill>
                  <a:srgbClr val="000000"/>
                </a:solidFill>
                <a:latin typeface="+mn-lt"/>
                <a:ea typeface="+mn-ea"/>
              </a:rPr>
              <a:t>)</a:t>
            </a:r>
            <a:r>
              <a:rPr lang="zh-CN" altLang="en-US" sz="2800" b="1" dirty="0">
                <a:solidFill>
                  <a:srgbClr val="000000"/>
                </a:solidFill>
                <a:latin typeface="+mn-lt"/>
                <a:ea typeface="+mn-ea"/>
              </a:rPr>
              <a:t>为</a:t>
            </a:r>
            <a:r>
              <a:rPr lang="zh-CN" altLang="en-US" sz="2800" b="1" dirty="0">
                <a:solidFill>
                  <a:srgbClr val="FF0000"/>
                </a:solidFill>
                <a:latin typeface="+mn-lt"/>
                <a:ea typeface="+mn-ea"/>
              </a:rPr>
              <a:t>异相自相关函数</a:t>
            </a:r>
            <a:r>
              <a:rPr lang="zh-CN" altLang="en-US" sz="2800" b="1" dirty="0">
                <a:solidFill>
                  <a:srgbClr val="000000"/>
                </a:solidFill>
                <a:latin typeface="+mn-lt"/>
                <a:ea typeface="+mn-ea"/>
              </a:rPr>
              <a:t>。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2C26FDF-B309-45F2-B89A-342C30839EEB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1686" name="对象 2">
            <a:extLst>
              <a:ext uri="{FF2B5EF4-FFF2-40B4-BE49-F238E27FC236}">
                <a16:creationId xmlns:a16="http://schemas.microsoft.com/office/drawing/2014/main" id="{9AAAAB6E-0C27-4987-8D6F-FA0A06EEDB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2378075"/>
          <a:ext cx="68580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0" name="Formula" r:id="rId4" imgW="2244090" imgH="207010" progId="Equation.Ribbit">
                  <p:embed/>
                </p:oleObj>
              </mc:Choice>
              <mc:Fallback>
                <p:oleObj name="Formula" r:id="rId4" imgW="2244090" imgH="207010" progId="Equation.Ribbit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378075"/>
                        <a:ext cx="685800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7" name="对象 3">
            <a:extLst>
              <a:ext uri="{FF2B5EF4-FFF2-40B4-BE49-F238E27FC236}">
                <a16:creationId xmlns:a16="http://schemas.microsoft.com/office/drawing/2014/main" id="{6217D4B3-4BDB-47A1-B3D2-61E9E158AB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16988" y="2463800"/>
          <a:ext cx="27400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1" name="Formula" r:id="rId6" imgW="924560" imgH="154940" progId="Equation.Ribbit">
                  <p:embed/>
                </p:oleObj>
              </mc:Choice>
              <mc:Fallback>
                <p:oleObj name="Formula" r:id="rId6" imgW="924560" imgH="154940" progId="Equation.Ribbit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16988" y="2463800"/>
                        <a:ext cx="274002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7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7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742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9267A-1DFF-4642-B331-25801B0A2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2550" y="365125"/>
            <a:ext cx="6778625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二元序列的随机性</a:t>
            </a:r>
          </a:p>
        </p:txBody>
      </p:sp>
      <p:sp>
        <p:nvSpPr>
          <p:cNvPr id="5" name="空心弧 4">
            <a:extLst>
              <a:ext uri="{FF2B5EF4-FFF2-40B4-BE49-F238E27FC236}">
                <a16:creationId xmlns:a16="http://schemas.microsoft.com/office/drawing/2014/main" id="{3B44C488-D2C4-40CC-8E5C-95AA53A24499}"/>
              </a:ext>
            </a:extLst>
          </p:cNvPr>
          <p:cNvSpPr/>
          <p:nvPr/>
        </p:nvSpPr>
        <p:spPr bwMode="auto">
          <a:xfrm>
            <a:off x="-1627188" y="793750"/>
            <a:ext cx="5472113" cy="5473700"/>
          </a:xfrm>
          <a:prstGeom prst="blockArc">
            <a:avLst>
              <a:gd name="adj1" fmla="val 18776635"/>
              <a:gd name="adj2" fmla="val 2427521"/>
              <a:gd name="adj3" fmla="val 0"/>
            </a:avLst>
          </a:prstGeom>
        </p:spPr>
        <p:style>
          <a:lnRef idx="1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B4B702CF-DBC9-4042-ACE8-2F15ABAB802A}"/>
              </a:ext>
            </a:extLst>
          </p:cNvPr>
          <p:cNvSpPr/>
          <p:nvPr/>
        </p:nvSpPr>
        <p:spPr bwMode="auto">
          <a:xfrm>
            <a:off x="3556000" y="2057400"/>
            <a:ext cx="5708650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/>
              <a:t>二元序列的相关概念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D66F2C0-F65B-4CDB-959F-A21A16561623}"/>
              </a:ext>
            </a:extLst>
          </p:cNvPr>
          <p:cNvSpPr/>
          <p:nvPr/>
        </p:nvSpPr>
        <p:spPr bwMode="auto">
          <a:xfrm>
            <a:off x="3048000" y="1955800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任意多边形 14">
            <a:extLst>
              <a:ext uri="{FF2B5EF4-FFF2-40B4-BE49-F238E27FC236}">
                <a16:creationId xmlns:a16="http://schemas.microsoft.com/office/drawing/2014/main" id="{4726EABB-FDA1-466F-A7E8-3B195D3C002F}"/>
              </a:ext>
            </a:extLst>
          </p:cNvPr>
          <p:cNvSpPr/>
          <p:nvPr/>
        </p:nvSpPr>
        <p:spPr>
          <a:xfrm>
            <a:off x="3708400" y="3886200"/>
            <a:ext cx="5508625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/>
              <a:t>伪随机序列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D18F89A4-67C1-4796-B764-1DA00E0EE1F3}"/>
              </a:ext>
            </a:extLst>
          </p:cNvPr>
          <p:cNvSpPr/>
          <p:nvPr/>
        </p:nvSpPr>
        <p:spPr>
          <a:xfrm>
            <a:off x="3200400" y="3784600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106C6E5-8340-4A00-AAEB-7EE1A329AEDC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4AF7C2-4526-4145-89B8-976AEBD10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en-US" altLang="zh-CN" b="1" dirty="0" err="1"/>
              <a:t>Golomb</a:t>
            </a:r>
            <a:r>
              <a:rPr lang="zh-CN" altLang="en-US" b="1" dirty="0"/>
              <a:t>伪随机公设</a:t>
            </a:r>
          </a:p>
        </p:txBody>
      </p:sp>
      <p:sp>
        <p:nvSpPr>
          <p:cNvPr id="489474" name="Rectangle 1026">
            <a:extLst>
              <a:ext uri="{FF2B5EF4-FFF2-40B4-BE49-F238E27FC236}">
                <a16:creationId xmlns:a16="http://schemas.microsoft.com/office/drawing/2014/main" id="{0CAD5ADA-274F-4570-8A62-80514BEA32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latin typeface="+mn-lt"/>
              </a:rPr>
              <a:t>3个随机性公设： </a:t>
            </a:r>
          </a:p>
          <a:p>
            <a:pPr marL="679450" indent="-457200" eaLnBrk="1" hangingPunct="1">
              <a:lnSpc>
                <a:spcPct val="120000"/>
              </a:lnSpc>
              <a:buFont typeface="+mj-ea"/>
              <a:buAutoNum type="circleNumDbPlain"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lt"/>
              </a:rPr>
              <a:t>在序列的一个周期内，0与1的个数相差至多为1。</a:t>
            </a:r>
            <a:endParaRPr lang="en-US" altLang="zh-CN" sz="2800" b="1" dirty="0">
              <a:solidFill>
                <a:srgbClr val="FF0000"/>
              </a:solidFill>
              <a:latin typeface="+mn-lt"/>
            </a:endParaRPr>
          </a:p>
          <a:p>
            <a:pPr marL="1136650" lvl="1" indent="-457200" eaLnBrk="1" hangingPunct="1">
              <a:lnSpc>
                <a:spcPct val="120000"/>
              </a:lnSpc>
              <a:defRPr/>
            </a:pPr>
            <a:r>
              <a:rPr lang="zh-CN" altLang="en-US" sz="2400" b="1" dirty="0">
                <a:latin typeface="+mn-lt"/>
              </a:rPr>
              <a:t>说明{</a:t>
            </a:r>
            <a:r>
              <a:rPr lang="en-US" altLang="zh-CN" sz="2400" b="1" i="1" dirty="0" err="1">
                <a:latin typeface="+mn-lt"/>
              </a:rPr>
              <a:t>a</a:t>
            </a:r>
            <a:r>
              <a:rPr lang="en-US" altLang="zh-CN" sz="2400" b="1" baseline="-25000" dirty="0" err="1">
                <a:latin typeface="+mn-lt"/>
              </a:rPr>
              <a:t>i</a:t>
            </a:r>
            <a:r>
              <a:rPr lang="en-US" altLang="zh-CN" sz="2400" b="1" dirty="0">
                <a:latin typeface="+mn-lt"/>
              </a:rPr>
              <a:t>}</a:t>
            </a:r>
            <a:r>
              <a:rPr lang="zh-CN" altLang="en-US" sz="2400" b="1" dirty="0">
                <a:latin typeface="+mn-lt"/>
              </a:rPr>
              <a:t>中0与1出现的概率基本上相同</a:t>
            </a:r>
            <a:endParaRPr lang="zh-CN" altLang="en-US" sz="2400" b="1" dirty="0">
              <a:solidFill>
                <a:srgbClr val="FF0000"/>
              </a:solidFill>
              <a:latin typeface="+mn-lt"/>
            </a:endParaRPr>
          </a:p>
          <a:p>
            <a:pPr indent="-6350" eaLnBrk="1" hangingPunct="1">
              <a:buFont typeface="Arial" panose="020B0604020202020204" pitchFamily="34" charset="0"/>
              <a:buNone/>
              <a:defRPr/>
            </a:pPr>
            <a:endParaRPr lang="zh-CN" altLang="en-US" b="1" dirty="0">
              <a:latin typeface="+mn-lt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20C1CBA-A513-4749-8EC0-B433C1B5C4CE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9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9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9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9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4AF7C2-4526-4145-89B8-976AEBD10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en-US" altLang="zh-CN" b="1" dirty="0" err="1"/>
              <a:t>Golomb</a:t>
            </a:r>
            <a:r>
              <a:rPr lang="zh-CN" altLang="en-US" b="1" dirty="0"/>
              <a:t>伪随机公设</a:t>
            </a:r>
          </a:p>
        </p:txBody>
      </p:sp>
      <p:sp>
        <p:nvSpPr>
          <p:cNvPr id="489474" name="Rectangle 1026">
            <a:extLst>
              <a:ext uri="{FF2B5EF4-FFF2-40B4-BE49-F238E27FC236}">
                <a16:creationId xmlns:a16="http://schemas.microsoft.com/office/drawing/2014/main" id="{0CAD5ADA-274F-4570-8A62-80514BEA32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latin typeface="+mn-lt"/>
              </a:rPr>
              <a:t>3个随机性公设： </a:t>
            </a:r>
          </a:p>
          <a:p>
            <a:pPr marL="679450" indent="-457200" eaLnBrk="1" hangingPunct="1">
              <a:lnSpc>
                <a:spcPct val="120000"/>
              </a:lnSpc>
              <a:buFont typeface="+mj-ea"/>
              <a:buAutoNum type="circleNumDbPlain"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lt"/>
              </a:rPr>
              <a:t>在序列的一个周期内，0与1的个数相差至多为1。</a:t>
            </a:r>
            <a:endParaRPr lang="en-US" altLang="zh-CN" sz="2800" b="1" dirty="0">
              <a:solidFill>
                <a:srgbClr val="FF0000"/>
              </a:solidFill>
              <a:latin typeface="+mn-lt"/>
            </a:endParaRPr>
          </a:p>
          <a:p>
            <a:pPr marL="1136650" lvl="1" indent="-457200" eaLnBrk="1" hangingPunct="1">
              <a:lnSpc>
                <a:spcPct val="120000"/>
              </a:lnSpc>
              <a:defRPr/>
            </a:pPr>
            <a:r>
              <a:rPr lang="zh-CN" altLang="en-US" sz="2400" b="1" dirty="0">
                <a:latin typeface="+mn-lt"/>
              </a:rPr>
              <a:t>说明{</a:t>
            </a:r>
            <a:r>
              <a:rPr lang="en-US" altLang="zh-CN" sz="2400" b="1" i="1" dirty="0" err="1">
                <a:latin typeface="+mn-lt"/>
              </a:rPr>
              <a:t>a</a:t>
            </a:r>
            <a:r>
              <a:rPr lang="en-US" altLang="zh-CN" sz="2400" b="1" baseline="-25000" dirty="0" err="1">
                <a:latin typeface="+mn-lt"/>
              </a:rPr>
              <a:t>i</a:t>
            </a:r>
            <a:r>
              <a:rPr lang="en-US" altLang="zh-CN" sz="2400" b="1" dirty="0">
                <a:latin typeface="+mn-lt"/>
              </a:rPr>
              <a:t>}</a:t>
            </a:r>
            <a:r>
              <a:rPr lang="zh-CN" altLang="en-US" sz="2400" b="1" dirty="0">
                <a:latin typeface="+mn-lt"/>
              </a:rPr>
              <a:t>中0与1出现的概率基本上相同</a:t>
            </a:r>
            <a:endParaRPr lang="zh-CN" altLang="en-US" sz="2400" b="1" dirty="0">
              <a:solidFill>
                <a:srgbClr val="FF0000"/>
              </a:solidFill>
              <a:latin typeface="+mn-lt"/>
            </a:endParaRPr>
          </a:p>
          <a:p>
            <a:pPr marL="679450" indent="-457200" eaLnBrk="1" hangingPunct="1">
              <a:lnSpc>
                <a:spcPct val="120000"/>
              </a:lnSpc>
              <a:buFont typeface="+mj-ea"/>
              <a:buAutoNum type="circleNumDbPlain"/>
              <a:defRPr/>
            </a:pPr>
            <a:r>
              <a:rPr lang="zh-CN" altLang="en-US" b="1" dirty="0">
                <a:solidFill>
                  <a:srgbClr val="FF0000"/>
                </a:solidFill>
                <a:latin typeface="+mn-lt"/>
              </a:rPr>
              <a:t>在序列的一个周期内，长为</a:t>
            </a:r>
            <a:r>
              <a:rPr lang="en-US" altLang="zh-CN" b="1" dirty="0" err="1">
                <a:solidFill>
                  <a:srgbClr val="FF0000"/>
                </a:solidFill>
                <a:latin typeface="+mn-lt"/>
              </a:rPr>
              <a:t>i</a:t>
            </a:r>
            <a:r>
              <a:rPr lang="zh-CN" altLang="en-US" b="1" dirty="0">
                <a:solidFill>
                  <a:srgbClr val="FF0000"/>
                </a:solidFill>
                <a:latin typeface="+mn-lt"/>
              </a:rPr>
              <a:t>的游程占游程总数的1/2</a:t>
            </a:r>
            <a:r>
              <a:rPr lang="en-US" altLang="zh-CN" b="1" baseline="30000" dirty="0" err="1">
                <a:solidFill>
                  <a:srgbClr val="FF0000"/>
                </a:solidFill>
                <a:latin typeface="+mn-lt"/>
              </a:rPr>
              <a:t>i</a:t>
            </a:r>
            <a:r>
              <a:rPr lang="en-US" altLang="zh-CN" b="1" baseline="300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+mn-lt"/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  <a:latin typeface="+mn-lt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+mn-lt"/>
              </a:rPr>
              <a:t>=1,2,…)，</a:t>
            </a:r>
            <a:r>
              <a:rPr lang="zh-CN" altLang="en-US" b="1" dirty="0">
                <a:solidFill>
                  <a:srgbClr val="FF0000"/>
                </a:solidFill>
                <a:latin typeface="+mn-lt"/>
              </a:rPr>
              <a:t>且在等长的游程中0的游程个数和1的游程个数相等。</a:t>
            </a:r>
          </a:p>
          <a:p>
            <a:pPr marL="1136650" lvl="1" indent="-457200" eaLnBrk="1" hangingPunct="1">
              <a:lnSpc>
                <a:spcPct val="120000"/>
              </a:lnSpc>
              <a:defRPr/>
            </a:pPr>
            <a:r>
              <a:rPr lang="zh-CN" altLang="en-US" sz="2400" b="1" dirty="0">
                <a:latin typeface="+mn-lt"/>
              </a:rPr>
              <a:t>说明0与1在序列中每一位置上出现的概率相同</a:t>
            </a:r>
            <a:r>
              <a:rPr lang="en-US" altLang="zh-CN" sz="2400" b="1" dirty="0">
                <a:latin typeface="+mn-lt"/>
              </a:rPr>
              <a:t>	</a:t>
            </a:r>
            <a:endParaRPr lang="en-US" altLang="zh-CN" sz="2400" b="1" dirty="0">
              <a:solidFill>
                <a:srgbClr val="FF0000"/>
              </a:solidFill>
              <a:latin typeface="+mn-lt"/>
            </a:endParaRPr>
          </a:p>
          <a:p>
            <a:pPr indent="-6350" eaLnBrk="1" hangingPunct="1">
              <a:buFont typeface="Arial" panose="020B0604020202020204" pitchFamily="34" charset="0"/>
              <a:buNone/>
              <a:defRPr/>
            </a:pPr>
            <a:endParaRPr lang="zh-CN" altLang="en-US" b="1" dirty="0">
              <a:latin typeface="+mn-lt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20C1CBA-A513-4749-8EC0-B433C1B5C4CE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4AF7C2-4526-4145-89B8-976AEBD10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en-US" altLang="zh-CN" b="1" dirty="0" err="1"/>
              <a:t>Golomb</a:t>
            </a:r>
            <a:r>
              <a:rPr lang="zh-CN" altLang="en-US" b="1" dirty="0"/>
              <a:t>伪随机公设</a:t>
            </a:r>
          </a:p>
        </p:txBody>
      </p:sp>
      <p:sp>
        <p:nvSpPr>
          <p:cNvPr id="489474" name="Rectangle 1026">
            <a:extLst>
              <a:ext uri="{FF2B5EF4-FFF2-40B4-BE49-F238E27FC236}">
                <a16:creationId xmlns:a16="http://schemas.microsoft.com/office/drawing/2014/main" id="{0CAD5ADA-274F-4570-8A62-80514BEA32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latin typeface="+mn-lt"/>
              </a:rPr>
              <a:t>3个随机性公设： </a:t>
            </a:r>
          </a:p>
          <a:p>
            <a:pPr marL="679450" indent="-457200" eaLnBrk="1" hangingPunct="1">
              <a:lnSpc>
                <a:spcPct val="120000"/>
              </a:lnSpc>
              <a:buFont typeface="+mj-ea"/>
              <a:buAutoNum type="circleNumDbPlain"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n-lt"/>
              </a:rPr>
              <a:t>在序列的一个周期内，0与1的个数相差至多为1。</a:t>
            </a:r>
            <a:endParaRPr lang="en-US" altLang="zh-CN" sz="2800" b="1" dirty="0">
              <a:solidFill>
                <a:srgbClr val="FF0000"/>
              </a:solidFill>
              <a:latin typeface="+mn-lt"/>
            </a:endParaRPr>
          </a:p>
          <a:p>
            <a:pPr marL="1136650" lvl="1" indent="-457200" eaLnBrk="1" hangingPunct="1">
              <a:lnSpc>
                <a:spcPct val="120000"/>
              </a:lnSpc>
              <a:defRPr/>
            </a:pPr>
            <a:r>
              <a:rPr lang="zh-CN" altLang="en-US" sz="2400" b="1" dirty="0">
                <a:latin typeface="+mn-lt"/>
              </a:rPr>
              <a:t>说明{</a:t>
            </a:r>
            <a:r>
              <a:rPr lang="en-US" altLang="zh-CN" sz="2400" b="1" i="1" dirty="0" err="1">
                <a:latin typeface="+mn-lt"/>
              </a:rPr>
              <a:t>a</a:t>
            </a:r>
            <a:r>
              <a:rPr lang="en-US" altLang="zh-CN" sz="2400" b="1" baseline="-25000" dirty="0" err="1">
                <a:latin typeface="+mn-lt"/>
              </a:rPr>
              <a:t>i</a:t>
            </a:r>
            <a:r>
              <a:rPr lang="en-US" altLang="zh-CN" sz="2400" b="1" dirty="0">
                <a:latin typeface="+mn-lt"/>
              </a:rPr>
              <a:t>}</a:t>
            </a:r>
            <a:r>
              <a:rPr lang="zh-CN" altLang="en-US" sz="2400" b="1" dirty="0">
                <a:latin typeface="+mn-lt"/>
              </a:rPr>
              <a:t>中0与1出现的概率基本上相同</a:t>
            </a:r>
            <a:endParaRPr lang="zh-CN" altLang="en-US" sz="2400" b="1" dirty="0">
              <a:solidFill>
                <a:srgbClr val="FF0000"/>
              </a:solidFill>
              <a:latin typeface="+mn-lt"/>
            </a:endParaRPr>
          </a:p>
          <a:p>
            <a:pPr marL="679450" indent="-457200" eaLnBrk="1" hangingPunct="1">
              <a:lnSpc>
                <a:spcPct val="120000"/>
              </a:lnSpc>
              <a:buFont typeface="+mj-ea"/>
              <a:buAutoNum type="circleNumDbPlain"/>
              <a:defRPr/>
            </a:pPr>
            <a:r>
              <a:rPr lang="zh-CN" altLang="en-US" b="1" dirty="0">
                <a:solidFill>
                  <a:srgbClr val="FF0000"/>
                </a:solidFill>
                <a:latin typeface="+mn-lt"/>
              </a:rPr>
              <a:t>在序列的一个周期内，长为</a:t>
            </a:r>
            <a:r>
              <a:rPr lang="en-US" altLang="zh-CN" b="1" dirty="0" err="1">
                <a:solidFill>
                  <a:srgbClr val="FF0000"/>
                </a:solidFill>
                <a:latin typeface="+mn-lt"/>
              </a:rPr>
              <a:t>i</a:t>
            </a:r>
            <a:r>
              <a:rPr lang="zh-CN" altLang="en-US" b="1" dirty="0">
                <a:solidFill>
                  <a:srgbClr val="FF0000"/>
                </a:solidFill>
                <a:latin typeface="+mn-lt"/>
              </a:rPr>
              <a:t>的游程占游程总数的1/2</a:t>
            </a:r>
            <a:r>
              <a:rPr lang="en-US" altLang="zh-CN" b="1" baseline="30000" dirty="0" err="1">
                <a:solidFill>
                  <a:srgbClr val="FF0000"/>
                </a:solidFill>
                <a:latin typeface="+mn-lt"/>
              </a:rPr>
              <a:t>i</a:t>
            </a:r>
            <a:r>
              <a:rPr lang="en-US" altLang="zh-CN" b="1" baseline="300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+mn-lt"/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  <a:latin typeface="+mn-lt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+mn-lt"/>
              </a:rPr>
              <a:t>=1,2,…)，</a:t>
            </a:r>
            <a:r>
              <a:rPr lang="zh-CN" altLang="en-US" b="1" dirty="0">
                <a:solidFill>
                  <a:srgbClr val="FF0000"/>
                </a:solidFill>
                <a:latin typeface="+mn-lt"/>
              </a:rPr>
              <a:t>且在等长的游程中0的游程个数和1的游程个数相等。</a:t>
            </a:r>
          </a:p>
          <a:p>
            <a:pPr marL="1136650" lvl="1" indent="-457200" eaLnBrk="1" hangingPunct="1">
              <a:lnSpc>
                <a:spcPct val="120000"/>
              </a:lnSpc>
              <a:defRPr/>
            </a:pPr>
            <a:r>
              <a:rPr lang="zh-CN" altLang="en-US" sz="2400" b="1" dirty="0">
                <a:latin typeface="+mn-lt"/>
              </a:rPr>
              <a:t>说明0与1在序列中每一位置上出现的概率相同</a:t>
            </a:r>
            <a:r>
              <a:rPr lang="en-US" altLang="zh-CN" sz="2400" b="1" dirty="0">
                <a:latin typeface="+mn-lt"/>
              </a:rPr>
              <a:t>	</a:t>
            </a:r>
            <a:endParaRPr lang="en-US" altLang="zh-CN" sz="2400" b="1" dirty="0">
              <a:solidFill>
                <a:srgbClr val="FF0000"/>
              </a:solidFill>
              <a:latin typeface="+mn-lt"/>
            </a:endParaRPr>
          </a:p>
          <a:p>
            <a:pPr marL="679450" indent="-457200" eaLnBrk="1" hangingPunct="1">
              <a:lnSpc>
                <a:spcPct val="120000"/>
              </a:lnSpc>
              <a:buFont typeface="+mj-ea"/>
              <a:buAutoNum type="circleNumDbPlain"/>
              <a:defRPr/>
            </a:pPr>
            <a:r>
              <a:rPr lang="zh-CN" altLang="en-US" b="1" dirty="0">
                <a:solidFill>
                  <a:srgbClr val="FF0000"/>
                </a:solidFill>
                <a:latin typeface="+mn-lt"/>
              </a:rPr>
              <a:t>异相自相关函数是一个常数。</a:t>
            </a:r>
            <a:endParaRPr lang="en-US" altLang="zh-CN" b="1" dirty="0">
              <a:solidFill>
                <a:srgbClr val="FF0000"/>
              </a:solidFill>
              <a:latin typeface="+mn-lt"/>
            </a:endParaRPr>
          </a:p>
          <a:p>
            <a:pPr marL="1136650" lvl="1" indent="-457200" eaLnBrk="1" hangingPunct="1">
              <a:lnSpc>
                <a:spcPct val="120000"/>
              </a:lnSpc>
              <a:defRPr/>
            </a:pPr>
            <a:r>
              <a:rPr lang="zh-CN" altLang="en-US" sz="2400" b="1" dirty="0">
                <a:latin typeface="+mn-lt"/>
              </a:rPr>
              <a:t>意味着通过对序列与其平移后的序列做比较，不能给出其他任何信息</a:t>
            </a:r>
          </a:p>
          <a:p>
            <a:pPr indent="-6350" eaLnBrk="1" hangingPunct="1">
              <a:buFont typeface="Arial" panose="020B0604020202020204" pitchFamily="34" charset="0"/>
              <a:buNone/>
              <a:defRPr/>
            </a:pPr>
            <a:endParaRPr lang="zh-CN" altLang="en-US" b="1" dirty="0">
              <a:latin typeface="+mn-lt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20C1CBA-A513-4749-8EC0-B433C1B5C4CE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EBF90B-8E5D-404F-926E-81A0D29AA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伪随机序列的定义</a:t>
            </a:r>
          </a:p>
        </p:txBody>
      </p:sp>
      <p:sp>
        <p:nvSpPr>
          <p:cNvPr id="81923" name="内容占位符 15">
            <a:extLst>
              <a:ext uri="{FF2B5EF4-FFF2-40B4-BE49-F238E27FC236}">
                <a16:creationId xmlns:a16="http://schemas.microsoft.com/office/drawing/2014/main" id="{EFFD52C9-0ED0-4561-9315-AA798F5A7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6213" y="4267200"/>
            <a:ext cx="8612187" cy="16002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 dirty="0"/>
              <a:t>可以证明上述定义满足</a:t>
            </a:r>
            <a:r>
              <a:rPr lang="en-US" altLang="zh-CN" b="1" dirty="0" err="1"/>
              <a:t>Golomb</a:t>
            </a:r>
            <a:r>
              <a:rPr lang="zh-CN" altLang="en-US" b="1" dirty="0"/>
              <a:t>三个伪随机公设，详情参考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zh-CN" altLang="en-US" b="1" dirty="0"/>
              <a:t>万哲先著。代数和编码（第三版）。高等教育出版社，</a:t>
            </a:r>
            <a:r>
              <a:rPr lang="en-US" altLang="zh-CN" b="1" dirty="0"/>
              <a:t>2007.</a:t>
            </a:r>
            <a:endParaRPr lang="zh-CN" altLang="en-US" dirty="0"/>
          </a:p>
        </p:txBody>
      </p:sp>
      <p:pic>
        <p:nvPicPr>
          <p:cNvPr id="81924" name="图片 14">
            <a:extLst>
              <a:ext uri="{FF2B5EF4-FFF2-40B4-BE49-F238E27FC236}">
                <a16:creationId xmlns:a16="http://schemas.microsoft.com/office/drawing/2014/main" id="{A9F8AFEB-1F33-4423-91C8-D72B4535FC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53"/>
          <a:stretch>
            <a:fillRect/>
          </a:stretch>
        </p:blipFill>
        <p:spPr bwMode="auto">
          <a:xfrm>
            <a:off x="1465263" y="1033463"/>
            <a:ext cx="8897937" cy="270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3AD1DDF-0599-4344-9A2D-49C26CDB3C4B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ACCEB5B9-35C5-4428-8121-FD7DC026B33E}"/>
                  </a:ext>
                </a:extLst>
              </p:cNvPr>
              <p:cNvSpPr txBox="1"/>
              <p:nvPr/>
            </p:nvSpPr>
            <p:spPr bwMode="auto">
              <a:xfrm>
                <a:off x="6934200" y="2070100"/>
                <a:ext cx="4267200" cy="93821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(−1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(−1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,0≤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ACCEB5B9-35C5-4428-8121-FD7DC026B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34200" y="2070100"/>
                <a:ext cx="4267200" cy="9382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>
            <a:extLst>
              <a:ext uri="{FF2B5EF4-FFF2-40B4-BE49-F238E27FC236}">
                <a16:creationId xmlns:a16="http://schemas.microsoft.com/office/drawing/2014/main" id="{1B9FFF4B-8B72-45E0-B64E-0C1DCF33AA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19200" y="1544638"/>
            <a:ext cx="9906000" cy="447675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rgbClr val="000000"/>
                </a:solidFill>
                <a:latin typeface="+mn-lt"/>
                <a:ea typeface="+mn-ea"/>
              </a:rPr>
              <a:t>C1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+mn-ea"/>
              </a:rPr>
              <a:t>．</a:t>
            </a:r>
            <a:r>
              <a:rPr lang="zh-CN" altLang="en-US" b="1" dirty="0">
                <a:solidFill>
                  <a:srgbClr val="000000"/>
                </a:solidFill>
                <a:latin typeface="+mn-lt"/>
                <a:ea typeface="+mn-ea"/>
              </a:rPr>
              <a:t>周期</a:t>
            </a:r>
            <a:r>
              <a:rPr lang="en-US" altLang="zh-CN" b="1" i="1" dirty="0">
                <a:solidFill>
                  <a:srgbClr val="000000"/>
                </a:solidFill>
                <a:latin typeface="+mn-lt"/>
                <a:ea typeface="+mn-ea"/>
              </a:rPr>
              <a:t>p</a:t>
            </a:r>
            <a:r>
              <a:rPr lang="zh-CN" altLang="en-US" b="1" dirty="0">
                <a:solidFill>
                  <a:srgbClr val="000000"/>
                </a:solidFill>
                <a:latin typeface="+mn-lt"/>
                <a:ea typeface="+mn-ea"/>
              </a:rPr>
              <a:t>要足够大，如大于</a:t>
            </a:r>
            <a:r>
              <a:rPr lang="en-US" altLang="zh-CN" b="1" dirty="0">
                <a:solidFill>
                  <a:srgbClr val="000000"/>
                </a:solidFill>
                <a:latin typeface="+mn-lt"/>
                <a:ea typeface="+mn-ea"/>
              </a:rPr>
              <a:t>10</a:t>
            </a:r>
            <a:r>
              <a:rPr lang="en-US" altLang="zh-CN" b="1" baseline="30000" dirty="0">
                <a:solidFill>
                  <a:srgbClr val="000000"/>
                </a:solidFill>
                <a:latin typeface="+mn-lt"/>
                <a:ea typeface="+mn-ea"/>
              </a:rPr>
              <a:t>50</a:t>
            </a:r>
            <a:r>
              <a:rPr lang="zh-CN" altLang="en-US" b="1" dirty="0">
                <a:solidFill>
                  <a:srgbClr val="000000"/>
                </a:solidFill>
                <a:latin typeface="+mn-lt"/>
                <a:ea typeface="+mn-ea"/>
              </a:rPr>
              <a:t>；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rgbClr val="000000"/>
                </a:solidFill>
                <a:latin typeface="+mn-lt"/>
                <a:ea typeface="+mn-ea"/>
              </a:rPr>
              <a:t>C2</a:t>
            </a:r>
            <a:r>
              <a:rPr lang="zh-CN" altLang="en-US" b="1" dirty="0">
                <a:solidFill>
                  <a:srgbClr val="000000"/>
                </a:solidFill>
                <a:latin typeface="+mn-lt"/>
                <a:ea typeface="+mn-ea"/>
              </a:rPr>
              <a:t>．序列</a:t>
            </a:r>
            <a:r>
              <a:rPr lang="en-US" altLang="zh-CN" b="1" dirty="0">
                <a:solidFill>
                  <a:srgbClr val="000000"/>
                </a:solidFill>
                <a:latin typeface="+mn-lt"/>
                <a:ea typeface="+mn-ea"/>
              </a:rPr>
              <a:t>{</a:t>
            </a:r>
            <a:r>
              <a:rPr lang="en-US" altLang="zh-CN" b="1" i="1" dirty="0" err="1">
                <a:solidFill>
                  <a:srgbClr val="000000"/>
                </a:solidFill>
                <a:latin typeface="+mn-lt"/>
                <a:ea typeface="+mn-ea"/>
              </a:rPr>
              <a:t>a</a:t>
            </a:r>
            <a:r>
              <a:rPr lang="en-US" altLang="zh-CN" b="1" baseline="-25000" dirty="0" err="1">
                <a:solidFill>
                  <a:srgbClr val="000000"/>
                </a:solidFill>
                <a:latin typeface="+mn-lt"/>
                <a:ea typeface="+mn-ea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+mn-lt"/>
                <a:ea typeface="+mn-ea"/>
              </a:rPr>
              <a:t>}</a:t>
            </a:r>
            <a:r>
              <a:rPr lang="en-US" altLang="zh-CN" b="1" baseline="-25000" dirty="0">
                <a:solidFill>
                  <a:srgbClr val="000000"/>
                </a:solidFill>
                <a:latin typeface="+mn-lt"/>
                <a:ea typeface="+mn-ea"/>
              </a:rPr>
              <a:t>i</a:t>
            </a:r>
            <a:r>
              <a:rPr lang="en-US" altLang="zh-CN" b="1" baseline="-25000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1</a:t>
            </a:r>
            <a:r>
              <a:rPr lang="zh-CN" altLang="en-US" b="1" dirty="0">
                <a:solidFill>
                  <a:srgbClr val="000000"/>
                </a:solidFill>
                <a:latin typeface="+mn-lt"/>
                <a:ea typeface="+mn-ea"/>
              </a:rPr>
              <a:t>产生易于高速生成；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rgbClr val="000000"/>
                </a:solidFill>
                <a:latin typeface="+mn-lt"/>
                <a:ea typeface="+mn-ea"/>
              </a:rPr>
              <a:t>C3</a:t>
            </a:r>
            <a:r>
              <a:rPr lang="zh-CN" altLang="en-US" b="1" dirty="0">
                <a:solidFill>
                  <a:srgbClr val="000000"/>
                </a:solidFill>
                <a:latin typeface="+mn-lt"/>
                <a:ea typeface="+mn-ea"/>
              </a:rPr>
              <a:t>．当序列</a:t>
            </a:r>
            <a:r>
              <a:rPr lang="en-US" altLang="zh-CN" b="1" dirty="0">
                <a:solidFill>
                  <a:srgbClr val="000000"/>
                </a:solidFill>
                <a:latin typeface="+mn-lt"/>
                <a:ea typeface="+mn-ea"/>
              </a:rPr>
              <a:t>{</a:t>
            </a:r>
            <a:r>
              <a:rPr lang="en-US" altLang="zh-CN" b="1" i="1" dirty="0" err="1">
                <a:solidFill>
                  <a:srgbClr val="000000"/>
                </a:solidFill>
                <a:latin typeface="+mn-lt"/>
                <a:ea typeface="+mn-ea"/>
              </a:rPr>
              <a:t>a</a:t>
            </a:r>
            <a:r>
              <a:rPr lang="en-US" altLang="zh-CN" b="1" baseline="-25000" dirty="0" err="1">
                <a:solidFill>
                  <a:srgbClr val="000000"/>
                </a:solidFill>
                <a:latin typeface="+mn-lt"/>
                <a:ea typeface="+mn-ea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+mn-lt"/>
                <a:ea typeface="+mn-ea"/>
              </a:rPr>
              <a:t>}</a:t>
            </a:r>
            <a:r>
              <a:rPr lang="en-US" altLang="zh-CN" b="1" baseline="-25000" dirty="0">
                <a:solidFill>
                  <a:srgbClr val="000000"/>
                </a:solidFill>
                <a:latin typeface="+mn-lt"/>
                <a:ea typeface="+mn-ea"/>
              </a:rPr>
              <a:t>i</a:t>
            </a:r>
            <a:r>
              <a:rPr lang="en-US" altLang="zh-CN" b="1" baseline="-25000" dirty="0">
                <a:solidFill>
                  <a:srgbClr val="000000"/>
                </a:solidFill>
                <a:latin typeface="+mn-lt"/>
                <a:ea typeface="+mn-ea"/>
                <a:sym typeface="Symbol" panose="05050102010706020507" pitchFamily="18" charset="2"/>
              </a:rPr>
              <a:t>1</a:t>
            </a:r>
            <a:r>
              <a:rPr lang="zh-CN" altLang="en-US" b="1" dirty="0">
                <a:solidFill>
                  <a:srgbClr val="000000"/>
                </a:solidFill>
                <a:latin typeface="+mn-lt"/>
                <a:ea typeface="+mn-ea"/>
              </a:rPr>
              <a:t>的任何部分暴露时，要分析整个序列，提取产生它的电路结构信息， 在计算上是不可行的，称此为不可预测性。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endParaRPr lang="zh-CN" altLang="en-US" b="1" dirty="0">
              <a:solidFill>
                <a:srgbClr val="000000"/>
              </a:solidFill>
              <a:latin typeface="+mn-lt"/>
              <a:ea typeface="+mn-ea"/>
            </a:endParaRP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  <a:latin typeface="+mn-lt"/>
                <a:ea typeface="+mn-ea"/>
              </a:rPr>
              <a:t>      </a:t>
            </a:r>
            <a:r>
              <a:rPr lang="en-US" altLang="zh-CN" b="1" dirty="0">
                <a:solidFill>
                  <a:srgbClr val="000000"/>
                </a:solidFill>
                <a:latin typeface="+mn-lt"/>
                <a:ea typeface="+mn-ea"/>
              </a:rPr>
              <a:t>C3</a:t>
            </a:r>
            <a:r>
              <a:rPr lang="zh-CN" altLang="en-US" b="1" dirty="0">
                <a:solidFill>
                  <a:srgbClr val="000000"/>
                </a:solidFill>
                <a:latin typeface="+mn-lt"/>
                <a:ea typeface="+mn-ea"/>
              </a:rPr>
              <a:t>决定了密码的强度，是流密码理论的核心。它包含了流密码要研究的许多主要问题，如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线性复杂度、相关免疫性、不可预测性</a:t>
            </a:r>
            <a:r>
              <a:rPr lang="zh-CN" altLang="en-US" b="1" dirty="0">
                <a:solidFill>
                  <a:srgbClr val="000000"/>
                </a:solidFill>
                <a:latin typeface="+mn-lt"/>
                <a:ea typeface="+mn-ea"/>
              </a:rPr>
              <a:t>等等。</a:t>
            </a:r>
          </a:p>
          <a:p>
            <a:pPr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None/>
              <a:defRPr/>
            </a:pPr>
            <a:endParaRPr lang="en-US" altLang="zh-CN" b="1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82947" name="Text Box 4">
            <a:extLst>
              <a:ext uri="{FF2B5EF4-FFF2-40B4-BE49-F238E27FC236}">
                <a16:creationId xmlns:a16="http://schemas.microsoft.com/office/drawing/2014/main" id="{FDD61B6D-DBBC-47F8-B65D-88B692550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3525" y="15446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zh-CN" sz="2400">
              <a:ea typeface="宋体" panose="02010600030101010101" pitchFamily="2" charset="-122"/>
            </a:endParaRPr>
          </a:p>
        </p:txBody>
      </p:sp>
      <p:sp>
        <p:nvSpPr>
          <p:cNvPr id="82948" name="Text Box 5">
            <a:extLst>
              <a:ext uri="{FF2B5EF4-FFF2-40B4-BE49-F238E27FC236}">
                <a16:creationId xmlns:a16="http://schemas.microsoft.com/office/drawing/2014/main" id="{4D24A35D-9748-4591-99A0-684A5D906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925" y="504983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zh-CN" altLang="zh-CN" sz="2400">
              <a:ea typeface="宋体" panose="02010600030101010101" pitchFamily="2" charset="-122"/>
            </a:endParaRPr>
          </a:p>
        </p:txBody>
      </p:sp>
      <p:sp>
        <p:nvSpPr>
          <p:cNvPr id="82949" name="标题 1">
            <a:extLst>
              <a:ext uri="{FF2B5EF4-FFF2-40B4-BE49-F238E27FC236}">
                <a16:creationId xmlns:a16="http://schemas.microsoft.com/office/drawing/2014/main" id="{ABE8DA64-2FAB-457C-A2A6-D11533052548}"/>
              </a:ext>
            </a:extLst>
          </p:cNvPr>
          <p:cNvSpPr txBox="1">
            <a:spLocks/>
          </p:cNvSpPr>
          <p:nvPr/>
        </p:nvSpPr>
        <p:spPr bwMode="auto">
          <a:xfrm>
            <a:off x="1447800" y="395288"/>
            <a:ext cx="9037638" cy="66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200">
                <a:solidFill>
                  <a:srgbClr val="1F4E79"/>
                </a:solidFill>
                <a:latin typeface="仿宋" panose="02010609060101010101" pitchFamily="49" charset="-122"/>
              </a:rPr>
              <a:t>伪随机序列还应满足的条件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副标题 2">
            <a:extLst>
              <a:ext uri="{FF2B5EF4-FFF2-40B4-BE49-F238E27FC236}">
                <a16:creationId xmlns:a16="http://schemas.microsoft.com/office/drawing/2014/main" id="{09E4DED3-9DEE-4AE7-9E12-253CA91FE3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048000"/>
            <a:ext cx="12192000" cy="790575"/>
          </a:xfrm>
        </p:spPr>
        <p:txBody>
          <a:bodyPr/>
          <a:lstStyle/>
          <a:p>
            <a:r>
              <a:rPr lang="zh-CN" altLang="en-US" sz="3600" b="1"/>
              <a:t>线性反馈移位寄存器</a:t>
            </a:r>
            <a:endParaRPr lang="en-US" altLang="zh-CN" sz="3600" b="1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01F4269-A65E-472B-B371-6F054CAADCB9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B699D-6D18-4D91-B481-389355C07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2550" y="365125"/>
            <a:ext cx="6778625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线性反馈移位寄存器</a:t>
            </a:r>
          </a:p>
        </p:txBody>
      </p:sp>
      <p:sp>
        <p:nvSpPr>
          <p:cNvPr id="5" name="空心弧 4">
            <a:extLst>
              <a:ext uri="{FF2B5EF4-FFF2-40B4-BE49-F238E27FC236}">
                <a16:creationId xmlns:a16="http://schemas.microsoft.com/office/drawing/2014/main" id="{30DEBD23-0BDC-4E53-8083-9CAD02B0250B}"/>
              </a:ext>
            </a:extLst>
          </p:cNvPr>
          <p:cNvSpPr/>
          <p:nvPr/>
        </p:nvSpPr>
        <p:spPr bwMode="auto">
          <a:xfrm>
            <a:off x="-1627188" y="793750"/>
            <a:ext cx="5472113" cy="5473700"/>
          </a:xfrm>
          <a:prstGeom prst="blockArc">
            <a:avLst>
              <a:gd name="adj1" fmla="val 18776635"/>
              <a:gd name="adj2" fmla="val 2427521"/>
              <a:gd name="adj3" fmla="val 0"/>
            </a:avLst>
          </a:prstGeom>
        </p:spPr>
        <p:style>
          <a:lnRef idx="1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B3D8FF98-C412-438C-B891-09B6DCEEEA1C}"/>
              </a:ext>
            </a:extLst>
          </p:cNvPr>
          <p:cNvSpPr/>
          <p:nvPr/>
        </p:nvSpPr>
        <p:spPr bwMode="auto">
          <a:xfrm>
            <a:off x="3556000" y="2057400"/>
            <a:ext cx="5708650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/>
              <a:t>反馈移位寄存器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04CEE80-DDE1-4E4F-89A6-8897785ACA77}"/>
              </a:ext>
            </a:extLst>
          </p:cNvPr>
          <p:cNvSpPr/>
          <p:nvPr/>
        </p:nvSpPr>
        <p:spPr bwMode="auto">
          <a:xfrm>
            <a:off x="3048000" y="1955800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任意多边形 14">
            <a:extLst>
              <a:ext uri="{FF2B5EF4-FFF2-40B4-BE49-F238E27FC236}">
                <a16:creationId xmlns:a16="http://schemas.microsoft.com/office/drawing/2014/main" id="{138BF0FB-4271-4484-A0A2-C45A9EC0EA3C}"/>
              </a:ext>
            </a:extLst>
          </p:cNvPr>
          <p:cNvSpPr/>
          <p:nvPr/>
        </p:nvSpPr>
        <p:spPr>
          <a:xfrm>
            <a:off x="3708400" y="3886200"/>
            <a:ext cx="5508625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/>
              <a:t>线性反馈移位寄存器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6E9F763B-2C4F-46C0-9BBA-D9ED59C7FC9D}"/>
              </a:ext>
            </a:extLst>
          </p:cNvPr>
          <p:cNvSpPr/>
          <p:nvPr/>
        </p:nvSpPr>
        <p:spPr>
          <a:xfrm>
            <a:off x="3200400" y="3784600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9669E24-396F-4489-91CB-4F1E86175107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>
            <a:extLst>
              <a:ext uri="{FF2B5EF4-FFF2-40B4-BE49-F238E27FC236}">
                <a16:creationId xmlns:a16="http://schemas.microsoft.com/office/drawing/2014/main" id="{B75ECADE-9929-41F0-80F3-E596F0BB64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>
            <a:normAutofit fontScale="90000"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3400" dirty="0"/>
              <a:t>反馈移位寄存器</a:t>
            </a:r>
            <a:endParaRPr lang="zh-CN" altLang="en-US" sz="3000" dirty="0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5B7DC9B2-D6A0-40D6-9438-DEB3B701B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738" y="1219200"/>
            <a:ext cx="10888662" cy="4579938"/>
          </a:xfrm>
        </p:spPr>
        <p:txBody>
          <a:bodyPr/>
          <a:lstStyle/>
          <a:p>
            <a:pPr indent="-6350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b="1"/>
              <a:t>移位寄存器是流密码产生密钥流的一个主要组成部分。</a:t>
            </a:r>
          </a:p>
          <a:p>
            <a:pPr indent="-6350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b="1"/>
              <a:t>GF(2)</a:t>
            </a:r>
            <a:r>
              <a:rPr lang="zh-CN" altLang="en-US" b="1"/>
              <a:t>上一个</a:t>
            </a:r>
            <a:r>
              <a:rPr lang="en-US" altLang="zh-CN" b="1"/>
              <a:t>n</a:t>
            </a:r>
            <a:r>
              <a:rPr lang="zh-CN" altLang="en-US" b="1"/>
              <a:t>级反馈移位寄存器由</a:t>
            </a:r>
            <a:r>
              <a:rPr lang="en-US" altLang="zh-CN" b="1">
                <a:solidFill>
                  <a:srgbClr val="FF0000"/>
                </a:solidFill>
              </a:rPr>
              <a:t>n</a:t>
            </a:r>
            <a:r>
              <a:rPr lang="zh-CN" altLang="en-US" b="1">
                <a:solidFill>
                  <a:srgbClr val="FF0000"/>
                </a:solidFill>
              </a:rPr>
              <a:t>个二元存储器</a:t>
            </a:r>
            <a:r>
              <a:rPr lang="zh-CN" altLang="en-US" b="1"/>
              <a:t>与一个</a:t>
            </a:r>
            <a:r>
              <a:rPr lang="zh-CN" altLang="en-US" b="1">
                <a:solidFill>
                  <a:srgbClr val="FF0000"/>
                </a:solidFill>
              </a:rPr>
              <a:t>反馈函数</a:t>
            </a:r>
            <a:r>
              <a:rPr lang="en-US" altLang="zh-CN" b="1">
                <a:solidFill>
                  <a:srgbClr val="FF0000"/>
                </a:solidFill>
              </a:rPr>
              <a:t>f(a</a:t>
            </a:r>
            <a:r>
              <a:rPr lang="en-US" altLang="zh-CN" b="1" baseline="-25000">
                <a:solidFill>
                  <a:srgbClr val="FF0000"/>
                </a:solidFill>
              </a:rPr>
              <a:t>1</a:t>
            </a:r>
            <a:r>
              <a:rPr lang="en-US" altLang="zh-CN" b="1">
                <a:solidFill>
                  <a:srgbClr val="FF0000"/>
                </a:solidFill>
              </a:rPr>
              <a:t>,a</a:t>
            </a:r>
            <a:r>
              <a:rPr lang="en-US" altLang="zh-CN" b="1" baseline="-25000">
                <a:solidFill>
                  <a:srgbClr val="FF0000"/>
                </a:solidFill>
              </a:rPr>
              <a:t>2</a:t>
            </a:r>
            <a:r>
              <a:rPr lang="en-US" altLang="zh-CN" b="1">
                <a:solidFill>
                  <a:srgbClr val="FF0000"/>
                </a:solidFill>
              </a:rPr>
              <a:t>,</a:t>
            </a:r>
            <a:r>
              <a:rPr lang="en-US" altLang="zh-CN" b="1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  <a:r>
              <a:rPr lang="en-US" altLang="zh-CN" b="1">
                <a:solidFill>
                  <a:srgbClr val="FF0000"/>
                </a:solidFill>
              </a:rPr>
              <a:t>,a</a:t>
            </a:r>
            <a:r>
              <a:rPr lang="en-US" altLang="zh-CN" b="1" baseline="-25000">
                <a:solidFill>
                  <a:srgbClr val="FF0000"/>
                </a:solidFill>
              </a:rPr>
              <a:t>n</a:t>
            </a:r>
            <a:r>
              <a:rPr lang="en-US" altLang="zh-CN" b="1">
                <a:solidFill>
                  <a:srgbClr val="FF0000"/>
                </a:solidFill>
              </a:rPr>
              <a:t>)</a:t>
            </a:r>
            <a:r>
              <a:rPr lang="zh-CN" altLang="en-US" b="1"/>
              <a:t>组成，如下图所示。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71FBB71-F877-4231-AA25-1CA5CCC25295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069" name="Picture 1027" descr="xd12">
            <a:extLst>
              <a:ext uri="{FF2B5EF4-FFF2-40B4-BE49-F238E27FC236}">
                <a16:creationId xmlns:a16="http://schemas.microsoft.com/office/drawing/2014/main" id="{22DB9B0E-1E9F-4158-8A60-BE67F5744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6600" y="3714750"/>
            <a:ext cx="8153400" cy="2506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70" name="Text Box 1028">
            <a:extLst>
              <a:ext uri="{FF2B5EF4-FFF2-40B4-BE49-F238E27FC236}">
                <a16:creationId xmlns:a16="http://schemas.microsoft.com/office/drawing/2014/main" id="{AE1AC962-74CC-45BD-B376-E30D86B6A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386138"/>
            <a:ext cx="914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  <a:ea typeface="宋体" panose="02010600030101010101" pitchFamily="2" charset="-122"/>
              </a:rPr>
              <a:t>存储器</a:t>
            </a:r>
          </a:p>
        </p:txBody>
      </p:sp>
      <p:sp>
        <p:nvSpPr>
          <p:cNvPr id="88071" name="Text Box 1029">
            <a:extLst>
              <a:ext uri="{FF2B5EF4-FFF2-40B4-BE49-F238E27FC236}">
                <a16:creationId xmlns:a16="http://schemas.microsoft.com/office/drawing/2014/main" id="{F5C7B376-DF1E-439E-96AD-A23CFACD7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2550" y="3386138"/>
            <a:ext cx="958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  <a:ea typeface="宋体" panose="02010600030101010101" pitchFamily="2" charset="-122"/>
              </a:rPr>
              <a:t>存储器</a:t>
            </a:r>
          </a:p>
        </p:txBody>
      </p:sp>
      <p:sp>
        <p:nvSpPr>
          <p:cNvPr id="88072" name="Text Box 1030">
            <a:extLst>
              <a:ext uri="{FF2B5EF4-FFF2-40B4-BE49-F238E27FC236}">
                <a16:creationId xmlns:a16="http://schemas.microsoft.com/office/drawing/2014/main" id="{246CA73F-2256-489A-BC8A-3BE8C6CB8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7013" y="3386138"/>
            <a:ext cx="958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  <a:ea typeface="宋体" panose="02010600030101010101" pitchFamily="2" charset="-122"/>
              </a:rPr>
              <a:t>存储器</a:t>
            </a:r>
          </a:p>
        </p:txBody>
      </p:sp>
      <p:sp>
        <p:nvSpPr>
          <p:cNvPr id="88073" name="Text Box 1033">
            <a:extLst>
              <a:ext uri="{FF2B5EF4-FFF2-40B4-BE49-F238E27FC236}">
                <a16:creationId xmlns:a16="http://schemas.microsoft.com/office/drawing/2014/main" id="{EDEDB350-9E2A-4355-ADD0-E3BF533C5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386138"/>
            <a:ext cx="914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 b="1">
                <a:solidFill>
                  <a:srgbClr val="FF0000"/>
                </a:solidFill>
                <a:ea typeface="宋体" panose="02010600030101010101" pitchFamily="2" charset="-122"/>
              </a:rPr>
              <a:t>存储器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FE3173-DE3E-4F16-9793-9FD7329E7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反馈移位寄存器的状态</a:t>
            </a: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2F8CFDEC-A364-4939-AA82-D81E8133C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00" y="1196975"/>
            <a:ext cx="10515600" cy="4578350"/>
          </a:xfrm>
        </p:spPr>
        <p:txBody>
          <a:bodyPr/>
          <a:lstStyle/>
          <a:p>
            <a:pPr indent="-6350" eaLnBrk="1" hangingPunct="1">
              <a:lnSpc>
                <a:spcPts val="3600"/>
              </a:lnSpc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在任一时刻，这些级的内容构成该反馈移位寄存器的状态，每一状态对应于</a:t>
            </a:r>
            <a:r>
              <a:rPr lang="en-US" altLang="zh-CN" b="1">
                <a:latin typeface="Times New Roman" panose="02020603050405020304" pitchFamily="18" charset="0"/>
              </a:rPr>
              <a:t>GF(2)</a:t>
            </a:r>
            <a:r>
              <a:rPr lang="zh-CN" altLang="en-US" b="1">
                <a:latin typeface="Times New Roman" panose="02020603050405020304" pitchFamily="18" charset="0"/>
              </a:rPr>
              <a:t>上的一个</a:t>
            </a:r>
            <a:r>
              <a:rPr lang="en-US" altLang="zh-CN" b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维向量，共有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种可能的状态。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每一时刻的状态可用</a:t>
            </a:r>
            <a:r>
              <a:rPr lang="en-US" altLang="zh-CN" b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维向量</a:t>
            </a:r>
          </a:p>
          <a:p>
            <a:pPr indent="-6350" algn="ctr" eaLnBrk="1" hangingPunct="1"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,…,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表示，其中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i</a:t>
            </a:r>
            <a:r>
              <a:rPr lang="zh-CN" altLang="en-US" b="1">
                <a:latin typeface="Times New Roman" panose="02020603050405020304" pitchFamily="18" charset="0"/>
              </a:rPr>
              <a:t>是第</a:t>
            </a:r>
            <a:r>
              <a:rPr lang="en-US" altLang="zh-CN" b="1">
                <a:latin typeface="Times New Roman" panose="02020603050405020304" pitchFamily="18" charset="0"/>
              </a:rPr>
              <a:t>i</a:t>
            </a:r>
            <a:r>
              <a:rPr lang="zh-CN" altLang="en-US" b="1">
                <a:latin typeface="Times New Roman" panose="02020603050405020304" pitchFamily="18" charset="0"/>
              </a:rPr>
              <a:t>级存储器的内容。</a:t>
            </a:r>
          </a:p>
        </p:txBody>
      </p:sp>
      <p:pic>
        <p:nvPicPr>
          <p:cNvPr id="90116" name="Picture 3" descr="xd12">
            <a:extLst>
              <a:ext uri="{FF2B5EF4-FFF2-40B4-BE49-F238E27FC236}">
                <a16:creationId xmlns:a16="http://schemas.microsoft.com/office/drawing/2014/main" id="{1A15AE2E-6CB2-4862-B447-DCC6B8627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450" y="3862388"/>
            <a:ext cx="81534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C60C23D-2535-4A2E-AD7C-D46D7BE5A835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29A55-2BA9-4FE5-AD7D-E1BF3A6B5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反馈函数</a:t>
            </a:r>
          </a:p>
        </p:txBody>
      </p:sp>
      <p:sp>
        <p:nvSpPr>
          <p:cNvPr id="92163" name="Rectangle 1026">
            <a:extLst>
              <a:ext uri="{FF2B5EF4-FFF2-40B4-BE49-F238E27FC236}">
                <a16:creationId xmlns:a16="http://schemas.microsoft.com/office/drawing/2014/main" id="{EFE3841C-0559-493B-821C-1EDD48412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00" y="1303338"/>
            <a:ext cx="10515600" cy="4578350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初始状态</a:t>
            </a:r>
            <a:r>
              <a:rPr lang="zh-CN" altLang="en-US" b="1" dirty="0">
                <a:latin typeface="Times New Roman" panose="02020603050405020304" pitchFamily="18" charset="0"/>
              </a:rPr>
              <a:t>由用户确定。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反馈函数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,…,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是</a:t>
            </a:r>
            <a:r>
              <a:rPr lang="en-US" altLang="zh-CN" b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元布尔函数，即函数的自变量和因变量只取0和1这两个可能的值。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函数中的运算有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逻辑与、逻辑或、逻辑补等</a:t>
            </a:r>
            <a:r>
              <a:rPr lang="zh-CN" altLang="en-US" b="1" dirty="0">
                <a:latin typeface="Times New Roman" panose="02020603050405020304" pitchFamily="18" charset="0"/>
              </a:rPr>
              <a:t>运算。</a:t>
            </a:r>
          </a:p>
        </p:txBody>
      </p:sp>
      <p:pic>
        <p:nvPicPr>
          <p:cNvPr id="92164" name="Picture 1027" descr="xd12">
            <a:extLst>
              <a:ext uri="{FF2B5EF4-FFF2-40B4-BE49-F238E27FC236}">
                <a16:creationId xmlns:a16="http://schemas.microsoft.com/office/drawing/2014/main" id="{F3110134-FB95-4E8A-A700-EB2F735A57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3756025"/>
            <a:ext cx="81534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874C48C-30FA-4786-B809-6E70F296BFB3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4B2F02C-DEE3-429B-860A-0705C6B86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反馈移位寄存器的例子</a:t>
            </a: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69FA8A69-D5BD-48B9-AFEB-200A4DEE2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5500" y="1263650"/>
            <a:ext cx="10515600" cy="4579938"/>
          </a:xfrm>
          <a:ln>
            <a:miter lim="800000"/>
            <a:headEnd/>
            <a:tailEnd/>
          </a:ln>
        </p:spPr>
        <p:txBody>
          <a:bodyPr/>
          <a:lstStyle/>
          <a:p>
            <a:pPr indent="-6350" eaLnBrk="1" hangingPunct="1"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latin typeface="+mn-lt"/>
              </a:rPr>
              <a:t>如图是一个3级反馈移位寄存器，其</a:t>
            </a: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初始状态为(</a:t>
            </a:r>
            <a:r>
              <a:rPr lang="en-US" altLang="zh-CN" b="1" i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a</a:t>
            </a:r>
            <a:r>
              <a:rPr lang="en-US" altLang="zh-CN" b="1" baseline="-25000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1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,</a:t>
            </a:r>
            <a:r>
              <a:rPr lang="en-US" altLang="zh-CN" b="1" i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a</a:t>
            </a:r>
            <a:r>
              <a:rPr lang="en-US" altLang="zh-CN" b="1" baseline="-25000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2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,</a:t>
            </a:r>
            <a:r>
              <a:rPr lang="en-US" altLang="zh-CN" b="1" i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a</a:t>
            </a:r>
            <a:r>
              <a:rPr lang="en-US" altLang="zh-CN" b="1" baseline="-25000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3</a:t>
            </a:r>
            <a:r>
              <a:rPr lang="en-US" altLang="zh-CN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)=(1,0,1)</a:t>
            </a:r>
            <a:r>
              <a:rPr lang="en-US" altLang="zh-CN" b="1" dirty="0">
                <a:latin typeface="+mn-lt"/>
              </a:rPr>
              <a:t>，</a:t>
            </a:r>
            <a:r>
              <a:rPr lang="zh-CN" altLang="en-US" b="1" dirty="0">
                <a:latin typeface="+mn-lt"/>
              </a:rPr>
              <a:t>输出可由右表给出。</a:t>
            </a:r>
          </a:p>
        </p:txBody>
      </p:sp>
      <p:pic>
        <p:nvPicPr>
          <p:cNvPr id="94212" name="Picture 3" descr="xd13">
            <a:extLst>
              <a:ext uri="{FF2B5EF4-FFF2-40B4-BE49-F238E27FC236}">
                <a16:creationId xmlns:a16="http://schemas.microsoft.com/office/drawing/2014/main" id="{4C89B654-B007-453B-8B66-C3E476C86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2301875"/>
            <a:ext cx="45720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3" name="Rectangle 4">
            <a:extLst>
              <a:ext uri="{FF2B5EF4-FFF2-40B4-BE49-F238E27FC236}">
                <a16:creationId xmlns:a16="http://schemas.microsoft.com/office/drawing/2014/main" id="{8C499B8F-1EC5-4892-8666-8E9042C85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2088" y="4770438"/>
            <a:ext cx="4572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7338" indent="-63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ea typeface="宋体" panose="02010600030101010101" pitchFamily="2" charset="-122"/>
              </a:rPr>
              <a:t>一个3级反馈移位寄存器</a:t>
            </a:r>
          </a:p>
        </p:txBody>
      </p:sp>
      <p:grpSp>
        <p:nvGrpSpPr>
          <p:cNvPr id="2" name="Group 21">
            <a:extLst>
              <a:ext uri="{FF2B5EF4-FFF2-40B4-BE49-F238E27FC236}">
                <a16:creationId xmlns:a16="http://schemas.microsoft.com/office/drawing/2014/main" id="{B9B88F22-5D18-4E48-8556-522F73EC58A8}"/>
              </a:ext>
            </a:extLst>
          </p:cNvPr>
          <p:cNvGrpSpPr>
            <a:grpSpLocks/>
          </p:cNvGrpSpPr>
          <p:nvPr/>
        </p:nvGrpSpPr>
        <p:grpSpPr bwMode="auto">
          <a:xfrm>
            <a:off x="6591300" y="1954213"/>
            <a:ext cx="4695825" cy="4191000"/>
            <a:chOff x="2958" y="1392"/>
            <a:chExt cx="2958" cy="2640"/>
          </a:xfrm>
        </p:grpSpPr>
        <p:grpSp>
          <p:nvGrpSpPr>
            <p:cNvPr id="94217" name="Group 6">
              <a:extLst>
                <a:ext uri="{FF2B5EF4-FFF2-40B4-BE49-F238E27FC236}">
                  <a16:creationId xmlns:a16="http://schemas.microsoft.com/office/drawing/2014/main" id="{D4A4F7AF-5B44-4070-87BB-7A3E4B3D58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9" y="1734"/>
              <a:ext cx="2295" cy="2292"/>
              <a:chOff x="0" y="0"/>
              <a:chExt cx="684" cy="1112"/>
            </a:xfrm>
          </p:grpSpPr>
          <p:grpSp>
            <p:nvGrpSpPr>
              <p:cNvPr id="94220" name="Group 7">
                <a:extLst>
                  <a:ext uri="{FF2B5EF4-FFF2-40B4-BE49-F238E27FC236}">
                    <a16:creationId xmlns:a16="http://schemas.microsoft.com/office/drawing/2014/main" id="{42799B7E-2BF2-4049-A572-6564B12E4F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370" cy="355"/>
                <a:chOff x="0" y="0"/>
                <a:chExt cx="370" cy="355"/>
              </a:xfrm>
            </p:grpSpPr>
            <p:sp>
              <p:nvSpPr>
                <p:cNvPr id="94230" name="Rectangle 8">
                  <a:extLst>
                    <a:ext uri="{FF2B5EF4-FFF2-40B4-BE49-F238E27FC236}">
                      <a16:creationId xmlns:a16="http://schemas.microsoft.com/office/drawing/2014/main" id="{7B637496-FD3F-4858-95A0-F474E2BE90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284" cy="3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b="1">
                      <a:ea typeface="宋体" panose="02010600030101010101" pitchFamily="2" charset="-122"/>
                    </a:rPr>
                    <a:t>状态（</a:t>
                  </a:r>
                  <a:r>
                    <a:rPr lang="en-US" altLang="zh-CN" sz="2400" b="1" i="1">
                      <a:ea typeface="宋体" panose="02010600030101010101" pitchFamily="2" charset="-122"/>
                    </a:rPr>
                    <a:t>a</a:t>
                  </a:r>
                  <a:r>
                    <a:rPr lang="en-US" altLang="zh-CN" b="1" baseline="-25000">
                      <a:ea typeface="宋体" panose="02010600030101010101" pitchFamily="2" charset="-122"/>
                    </a:rPr>
                    <a:t>3</a:t>
                  </a:r>
                  <a:r>
                    <a:rPr lang="en-US" altLang="zh-CN" sz="2400" b="1">
                      <a:ea typeface="宋体" panose="02010600030101010101" pitchFamily="2" charset="-122"/>
                    </a:rPr>
                    <a:t>,</a:t>
                  </a:r>
                  <a:r>
                    <a:rPr lang="en-US" altLang="zh-CN" sz="2400" b="1" i="1">
                      <a:ea typeface="宋体" panose="02010600030101010101" pitchFamily="2" charset="-122"/>
                    </a:rPr>
                    <a:t>a</a:t>
                  </a:r>
                  <a:r>
                    <a:rPr lang="en-US" altLang="zh-CN" b="1" baseline="-25000">
                      <a:ea typeface="宋体" panose="02010600030101010101" pitchFamily="2" charset="-122"/>
                    </a:rPr>
                    <a:t>2</a:t>
                  </a:r>
                  <a:r>
                    <a:rPr lang="en-US" altLang="zh-CN" sz="2400" b="1">
                      <a:ea typeface="宋体" panose="02010600030101010101" pitchFamily="2" charset="-122"/>
                    </a:rPr>
                    <a:t>,</a:t>
                  </a:r>
                  <a:r>
                    <a:rPr lang="en-US" altLang="zh-CN" sz="2400" b="1" i="1">
                      <a:ea typeface="宋体" panose="02010600030101010101" pitchFamily="2" charset="-122"/>
                    </a:rPr>
                    <a:t>a</a:t>
                  </a:r>
                  <a:r>
                    <a:rPr lang="en-US" altLang="zh-CN" b="1" baseline="-25000">
                      <a:ea typeface="宋体" panose="02010600030101010101" pitchFamily="2" charset="-122"/>
                    </a:rPr>
                    <a:t>1</a:t>
                  </a:r>
                  <a:r>
                    <a:rPr lang="en-US" altLang="zh-CN" sz="2400" b="1">
                      <a:ea typeface="宋体" panose="02010600030101010101" pitchFamily="2" charset="-122"/>
                    </a:rPr>
                    <a:t>)</a:t>
                  </a:r>
                  <a:endParaRPr lang="en-US" altLang="zh-CN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4231" name="Rectangle 9">
                  <a:extLst>
                    <a:ext uri="{FF2B5EF4-FFF2-40B4-BE49-F238E27FC236}">
                      <a16:creationId xmlns:a16="http://schemas.microsoft.com/office/drawing/2014/main" id="{4D40223F-BEF7-432B-9702-84A347E636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370" cy="355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4221" name="Group 10">
                <a:extLst>
                  <a:ext uri="{FF2B5EF4-FFF2-40B4-BE49-F238E27FC236}">
                    <a16:creationId xmlns:a16="http://schemas.microsoft.com/office/drawing/2014/main" id="{D01D2735-4277-4EB5-8B24-BD588A024C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0" y="0"/>
                <a:ext cx="314" cy="355"/>
                <a:chOff x="370" y="0"/>
                <a:chExt cx="314" cy="355"/>
              </a:xfrm>
            </p:grpSpPr>
            <p:sp>
              <p:nvSpPr>
                <p:cNvPr id="94228" name="Rectangle 11">
                  <a:extLst>
                    <a:ext uri="{FF2B5EF4-FFF2-40B4-BE49-F238E27FC236}">
                      <a16:creationId xmlns:a16="http://schemas.microsoft.com/office/drawing/2014/main" id="{20027352-F1AA-4F7E-9720-31A9330B74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3" y="0"/>
                  <a:ext cx="228" cy="35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b="1">
                      <a:ea typeface="宋体" panose="02010600030101010101" pitchFamily="2" charset="-122"/>
                    </a:rPr>
                    <a:t>输出</a:t>
                  </a: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94229" name="Rectangle 12">
                  <a:extLst>
                    <a:ext uri="{FF2B5EF4-FFF2-40B4-BE49-F238E27FC236}">
                      <a16:creationId xmlns:a16="http://schemas.microsoft.com/office/drawing/2014/main" id="{254C74F6-C015-44B6-A453-D801A60F0B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0" y="0"/>
                  <a:ext cx="314" cy="355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4222" name="Group 13">
                <a:extLst>
                  <a:ext uri="{FF2B5EF4-FFF2-40B4-BE49-F238E27FC236}">
                    <a16:creationId xmlns:a16="http://schemas.microsoft.com/office/drawing/2014/main" id="{DF5E0E47-5F0D-4D0C-88B4-4A6E516FDE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55"/>
                <a:ext cx="370" cy="757"/>
                <a:chOff x="0" y="355"/>
                <a:chExt cx="370" cy="757"/>
              </a:xfrm>
            </p:grpSpPr>
            <p:sp>
              <p:nvSpPr>
                <p:cNvPr id="94226" name="Rectangle 14">
                  <a:extLst>
                    <a:ext uri="{FF2B5EF4-FFF2-40B4-BE49-F238E27FC236}">
                      <a16:creationId xmlns:a16="http://schemas.microsoft.com/office/drawing/2014/main" id="{87B398E1-BA24-43DA-8914-00A699912D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55"/>
                  <a:ext cx="284" cy="7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b="1">
                      <a:ea typeface="宋体" panose="02010600030101010101" pitchFamily="2" charset="-122"/>
                    </a:rPr>
                    <a:t>1   0   1</a:t>
                  </a:r>
                </a:p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b="1">
                      <a:ea typeface="宋体" panose="02010600030101010101" pitchFamily="2" charset="-122"/>
                    </a:rPr>
                    <a:t>1   1   0</a:t>
                  </a:r>
                </a:p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b="1">
                      <a:ea typeface="宋体" panose="02010600030101010101" pitchFamily="2" charset="-122"/>
                    </a:rPr>
                    <a:t>1   1   1</a:t>
                  </a:r>
                </a:p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b="1">
                      <a:ea typeface="宋体" panose="02010600030101010101" pitchFamily="2" charset="-122"/>
                    </a:rPr>
                    <a:t>0   1   1</a:t>
                  </a:r>
                </a:p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b="1">
                      <a:ea typeface="宋体" panose="02010600030101010101" pitchFamily="2" charset="-122"/>
                    </a:rPr>
                    <a:t>1   0   1</a:t>
                  </a:r>
                </a:p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b="1">
                      <a:ea typeface="宋体" panose="02010600030101010101" pitchFamily="2" charset="-122"/>
                    </a:rPr>
                    <a:t>1   1   0</a:t>
                  </a:r>
                  <a:r>
                    <a:rPr lang="zh-CN" altLang="en-US" sz="2400">
                      <a:ea typeface="宋体" panose="02010600030101010101" pitchFamily="2" charset="-122"/>
                    </a:rPr>
                    <a:t>    </a:t>
                  </a:r>
                </a:p>
              </p:txBody>
            </p:sp>
            <p:sp>
              <p:nvSpPr>
                <p:cNvPr id="94227" name="Rectangle 15">
                  <a:extLst>
                    <a:ext uri="{FF2B5EF4-FFF2-40B4-BE49-F238E27FC236}">
                      <a16:creationId xmlns:a16="http://schemas.microsoft.com/office/drawing/2014/main" id="{408901AE-CD42-4D6D-8324-AA913D73D6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55"/>
                  <a:ext cx="370" cy="757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4223" name="Group 16">
                <a:extLst>
                  <a:ext uri="{FF2B5EF4-FFF2-40B4-BE49-F238E27FC236}">
                    <a16:creationId xmlns:a16="http://schemas.microsoft.com/office/drawing/2014/main" id="{E3205631-C4DF-4A8F-AB99-283D75D19D3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0" y="355"/>
                <a:ext cx="314" cy="757"/>
                <a:chOff x="370" y="355"/>
                <a:chExt cx="314" cy="757"/>
              </a:xfrm>
            </p:grpSpPr>
            <p:sp>
              <p:nvSpPr>
                <p:cNvPr id="94224" name="Rectangle 17">
                  <a:extLst>
                    <a:ext uri="{FF2B5EF4-FFF2-40B4-BE49-F238E27FC236}">
                      <a16:creationId xmlns:a16="http://schemas.microsoft.com/office/drawing/2014/main" id="{A515B62F-A43A-4B2B-94B1-8BF2C7B087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3" y="355"/>
                  <a:ext cx="228" cy="7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b="1">
                      <a:solidFill>
                        <a:srgbClr val="800000"/>
                      </a:solidFill>
                      <a:ea typeface="宋体" panose="02010600030101010101" pitchFamily="2" charset="-122"/>
                    </a:rPr>
                    <a:t>1</a:t>
                  </a:r>
                </a:p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b="1">
                      <a:solidFill>
                        <a:srgbClr val="800000"/>
                      </a:solidFill>
                      <a:ea typeface="宋体" panose="02010600030101010101" pitchFamily="2" charset="-122"/>
                    </a:rPr>
                    <a:t>0</a:t>
                  </a:r>
                </a:p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b="1">
                      <a:solidFill>
                        <a:srgbClr val="800000"/>
                      </a:solidFill>
                      <a:ea typeface="宋体" panose="02010600030101010101" pitchFamily="2" charset="-122"/>
                    </a:rPr>
                    <a:t>1</a:t>
                  </a:r>
                </a:p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b="1">
                      <a:solidFill>
                        <a:srgbClr val="800000"/>
                      </a:solidFill>
                      <a:ea typeface="宋体" panose="02010600030101010101" pitchFamily="2" charset="-122"/>
                    </a:rPr>
                    <a:t>1</a:t>
                  </a:r>
                </a:p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b="1">
                      <a:solidFill>
                        <a:srgbClr val="800000"/>
                      </a:solidFill>
                      <a:ea typeface="宋体" panose="02010600030101010101" pitchFamily="2" charset="-122"/>
                    </a:rPr>
                    <a:t>1</a:t>
                  </a:r>
                </a:p>
                <a:p>
                  <a:pPr algn="ctr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zh-CN" altLang="en-US" sz="2400" b="1">
                      <a:solidFill>
                        <a:srgbClr val="800000"/>
                      </a:solidFill>
                      <a:ea typeface="宋体" panose="02010600030101010101" pitchFamily="2" charset="-122"/>
                    </a:rPr>
                    <a:t>0</a:t>
                  </a:r>
                </a:p>
              </p:txBody>
            </p:sp>
            <p:sp>
              <p:nvSpPr>
                <p:cNvPr id="94225" name="Rectangle 18">
                  <a:extLst>
                    <a:ext uri="{FF2B5EF4-FFF2-40B4-BE49-F238E27FC236}">
                      <a16:creationId xmlns:a16="http://schemas.microsoft.com/office/drawing/2014/main" id="{DEBB4C17-D73D-4D23-B257-2AA99EAF43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0" y="355"/>
                  <a:ext cx="314" cy="757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5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仿宋" panose="02010609060101010101" pitchFamily="49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</a:pPr>
                  <a:endParaRPr lang="zh-CN" altLang="en-US" sz="2400"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94218" name="Rectangle 19">
              <a:extLst>
                <a:ext uri="{FF2B5EF4-FFF2-40B4-BE49-F238E27FC236}">
                  <a16:creationId xmlns:a16="http://schemas.microsoft.com/office/drawing/2014/main" id="{1F31B18F-12B0-4FE9-B1CC-A2623489E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728"/>
              <a:ext cx="2304" cy="2304"/>
            </a:xfrm>
            <a:prstGeom prst="rect">
              <a:avLst/>
            </a:prstGeom>
            <a:noFill/>
            <a:ln w="9525">
              <a:solidFill>
                <a:srgbClr val="A0A0A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2400">
                <a:ea typeface="宋体" panose="02010600030101010101" pitchFamily="2" charset="-122"/>
              </a:endParaRPr>
            </a:p>
          </p:txBody>
        </p:sp>
        <p:sp>
          <p:nvSpPr>
            <p:cNvPr id="94219" name="Rectangle 20">
              <a:extLst>
                <a:ext uri="{FF2B5EF4-FFF2-40B4-BE49-F238E27FC236}">
                  <a16:creationId xmlns:a16="http://schemas.microsoft.com/office/drawing/2014/main" id="{4C3E3B39-3AC3-4316-AE48-BE53CB5B2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8" y="1392"/>
              <a:ext cx="2958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287338" indent="-6350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20000"/>
                </a:spcBef>
                <a:buFontTx/>
                <a:buNone/>
              </a:pPr>
              <a:r>
                <a:rPr lang="zh-CN" altLang="en-US" sz="2000" b="1">
                  <a:solidFill>
                    <a:srgbClr val="800000"/>
                  </a:solidFill>
                  <a:ea typeface="宋体" panose="02010600030101010101" pitchFamily="2" charset="-122"/>
                </a:rPr>
                <a:t>一个3级反馈移位寄存器的状态和输出</a:t>
              </a:r>
            </a:p>
          </p:txBody>
        </p:sp>
      </p:grpSp>
      <p:sp>
        <p:nvSpPr>
          <p:cNvPr id="426006" name="Text Box 22">
            <a:extLst>
              <a:ext uri="{FF2B5EF4-FFF2-40B4-BE49-F238E27FC236}">
                <a16:creationId xmlns:a16="http://schemas.microsoft.com/office/drawing/2014/main" id="{D29C6EB6-6003-446A-9422-AADE57085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5900" y="5305425"/>
            <a:ext cx="47625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chemeClr val="accent2">
                    <a:lumMod val="75000"/>
                  </a:schemeClr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即输出序列为101110111011…，周期为4</a:t>
            </a:r>
            <a:r>
              <a:rPr lang="zh-CN" altLang="en-US" sz="2400" b="1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7764B3F-FECE-4A88-A817-CBF9C78A35DD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2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6006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EE5C-B40B-4BC1-98F7-B7A31B30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2550" y="365125"/>
            <a:ext cx="6778625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线性反馈移位寄存器</a:t>
            </a:r>
          </a:p>
        </p:txBody>
      </p:sp>
      <p:sp>
        <p:nvSpPr>
          <p:cNvPr id="5" name="空心弧 4">
            <a:extLst>
              <a:ext uri="{FF2B5EF4-FFF2-40B4-BE49-F238E27FC236}">
                <a16:creationId xmlns:a16="http://schemas.microsoft.com/office/drawing/2014/main" id="{E5A00F0A-704E-401A-A2C5-9F6E2B831AE1}"/>
              </a:ext>
            </a:extLst>
          </p:cNvPr>
          <p:cNvSpPr/>
          <p:nvPr/>
        </p:nvSpPr>
        <p:spPr bwMode="auto">
          <a:xfrm>
            <a:off x="-1627188" y="793750"/>
            <a:ext cx="5472113" cy="5473700"/>
          </a:xfrm>
          <a:prstGeom prst="blockArc">
            <a:avLst>
              <a:gd name="adj1" fmla="val 18776635"/>
              <a:gd name="adj2" fmla="val 2427521"/>
              <a:gd name="adj3" fmla="val 0"/>
            </a:avLst>
          </a:prstGeom>
        </p:spPr>
        <p:style>
          <a:lnRef idx="1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F2061B36-C640-4A71-AC3F-00B15FE53104}"/>
              </a:ext>
            </a:extLst>
          </p:cNvPr>
          <p:cNvSpPr/>
          <p:nvPr/>
        </p:nvSpPr>
        <p:spPr bwMode="auto">
          <a:xfrm>
            <a:off x="3556000" y="2057400"/>
            <a:ext cx="5708650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/>
              <a:t>反馈移位寄存器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FE40412-86EC-45F4-9546-A44FA480FBFE}"/>
              </a:ext>
            </a:extLst>
          </p:cNvPr>
          <p:cNvSpPr/>
          <p:nvPr/>
        </p:nvSpPr>
        <p:spPr bwMode="auto">
          <a:xfrm>
            <a:off x="3048000" y="1955800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任意多边形 14">
            <a:extLst>
              <a:ext uri="{FF2B5EF4-FFF2-40B4-BE49-F238E27FC236}">
                <a16:creationId xmlns:a16="http://schemas.microsoft.com/office/drawing/2014/main" id="{4890A730-53AB-42D2-B355-00416C098FA5}"/>
              </a:ext>
            </a:extLst>
          </p:cNvPr>
          <p:cNvSpPr/>
          <p:nvPr/>
        </p:nvSpPr>
        <p:spPr>
          <a:xfrm>
            <a:off x="3708400" y="3886200"/>
            <a:ext cx="5508625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/>
              <a:t>线性反馈移位寄存器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6B14CDC-EBA3-41AC-B22D-FE1F0D15BBFF}"/>
              </a:ext>
            </a:extLst>
          </p:cNvPr>
          <p:cNvSpPr/>
          <p:nvPr/>
        </p:nvSpPr>
        <p:spPr>
          <a:xfrm>
            <a:off x="3200400" y="3784600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4E8349B-18CF-4771-BDE3-EB5F84ED989A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BFB0B4-49C5-4C3A-A17F-706E49ED3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10253663" cy="66833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FF0000"/>
                </a:solidFill>
              </a:rPr>
              <a:t>线性反馈移位寄存器</a:t>
            </a:r>
            <a:r>
              <a:rPr lang="en-US" altLang="zh-CN" sz="2800" b="1" dirty="0" err="1">
                <a:solidFill>
                  <a:srgbClr val="FF0000"/>
                </a:solidFill>
              </a:rPr>
              <a:t>LFSR（linear</a:t>
            </a:r>
            <a:r>
              <a:rPr lang="en-US" altLang="zh-CN" sz="2800" b="1" dirty="0">
                <a:solidFill>
                  <a:srgbClr val="FF0000"/>
                </a:solidFill>
              </a:rPr>
              <a:t> feedback shift register）</a:t>
            </a:r>
            <a:endParaRPr lang="zh-CN" altLang="en-US" sz="2800" dirty="0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B4E71905-CDBC-49DA-ACA3-027E5154F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 indent="-6350" algn="ctr" eaLnBrk="1" hangingPunct="1">
              <a:buFont typeface="Arial" panose="020B0604020202020204" pitchFamily="34" charset="0"/>
              <a:buNone/>
            </a:pPr>
            <a:r>
              <a:rPr lang="en-US" altLang="zh-CN"/>
              <a:t>GF(2)</a:t>
            </a:r>
            <a:r>
              <a:rPr lang="zh-CN" altLang="en-US"/>
              <a:t>上的</a:t>
            </a:r>
            <a:r>
              <a:rPr lang="en-US" altLang="zh-CN"/>
              <a:t>n</a:t>
            </a:r>
            <a:r>
              <a:rPr lang="zh-CN" altLang="en-US"/>
              <a:t>级线性反馈移位寄存器</a:t>
            </a:r>
          </a:p>
        </p:txBody>
      </p:sp>
      <p:pic>
        <p:nvPicPr>
          <p:cNvPr id="98308" name="Picture 3" descr="xd14">
            <a:extLst>
              <a:ext uri="{FF2B5EF4-FFF2-40B4-BE49-F238E27FC236}">
                <a16:creationId xmlns:a16="http://schemas.microsoft.com/office/drawing/2014/main" id="{58C8CCB7-5AA3-44ED-BB06-C7B90E930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125" y="1984375"/>
            <a:ext cx="81534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8309" name="Object 4">
                <a:extLst>
                  <a:ext uri="{FF2B5EF4-FFF2-40B4-BE49-F238E27FC236}">
                    <a16:creationId xmlns:a16="http://schemas.microsoft.com/office/drawing/2014/main" id="{BD191EF4-5811-4B1A-8378-D299A890F5E2}"/>
                  </a:ext>
                </a:extLst>
              </p:cNvPr>
              <p:cNvSpPr txBox="1"/>
              <p:nvPr/>
            </p:nvSpPr>
            <p:spPr bwMode="auto">
              <a:xfrm>
                <a:off x="1905000" y="5051425"/>
                <a:ext cx="8915400" cy="70961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⊕⋯⊕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98309" name="Object 4">
                <a:extLst>
                  <a:ext uri="{FF2B5EF4-FFF2-40B4-BE49-F238E27FC236}">
                    <a16:creationId xmlns:a16="http://schemas.microsoft.com/office/drawing/2014/main" id="{BD191EF4-5811-4B1A-8378-D299A890F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0" y="5051425"/>
                <a:ext cx="8915400" cy="7096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F6ED9DB-3491-4A3C-83C8-E5B80A548C47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1EF61B-A1C8-4B58-8737-689B417AC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LFSR</a:t>
            </a:r>
            <a:r>
              <a:rPr lang="zh-CN" altLang="en-US" b="1" dirty="0"/>
              <a:t>的反馈函数</a:t>
            </a:r>
          </a:p>
        </p:txBody>
      </p:sp>
      <p:sp>
        <p:nvSpPr>
          <p:cNvPr id="436226" name="Rectangle 2">
            <a:extLst>
              <a:ext uri="{FF2B5EF4-FFF2-40B4-BE49-F238E27FC236}">
                <a16:creationId xmlns:a16="http://schemas.microsoft.com/office/drawing/2014/main" id="{DF46F686-F587-4708-A2FD-754821041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300" y="1108075"/>
            <a:ext cx="10515600" cy="4578350"/>
          </a:xfrm>
        </p:spPr>
        <p:txBody>
          <a:bodyPr/>
          <a:lstStyle/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dirty="0"/>
              <a:t>输出序列{</a:t>
            </a:r>
            <a:r>
              <a:rPr lang="en-US" altLang="zh-CN" dirty="0"/>
              <a:t>a</a:t>
            </a:r>
            <a:r>
              <a:rPr lang="en-US" altLang="zh-CN" baseline="-25000" dirty="0"/>
              <a:t>t</a:t>
            </a:r>
            <a:r>
              <a:rPr lang="en-US" altLang="zh-CN" dirty="0"/>
              <a:t>}</a:t>
            </a:r>
            <a:r>
              <a:rPr lang="zh-CN" altLang="en-US" dirty="0"/>
              <a:t>满足：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300" name="Object 7">
                <a:extLst>
                  <a:ext uri="{FF2B5EF4-FFF2-40B4-BE49-F238E27FC236}">
                    <a16:creationId xmlns:a16="http://schemas.microsoft.com/office/drawing/2014/main" id="{2FD4E433-6E7E-4087-A4D0-FB3F716197F3}"/>
                  </a:ext>
                </a:extLst>
              </p:cNvPr>
              <p:cNvSpPr txBox="1"/>
              <p:nvPr/>
            </p:nvSpPr>
            <p:spPr bwMode="auto">
              <a:xfrm>
                <a:off x="3125788" y="1463675"/>
                <a:ext cx="5715000" cy="59848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⊕⋯⊕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5300" name="Object 7">
                <a:extLst>
                  <a:ext uri="{FF2B5EF4-FFF2-40B4-BE49-F238E27FC236}">
                    <a16:creationId xmlns:a16="http://schemas.microsoft.com/office/drawing/2014/main" id="{2FD4E433-6E7E-4087-A4D0-FB3F71619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5788" y="1463675"/>
                <a:ext cx="5715000" cy="5984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6232" name="Object 8">
                <a:extLst>
                  <a:ext uri="{FF2B5EF4-FFF2-40B4-BE49-F238E27FC236}">
                    <a16:creationId xmlns:a16="http://schemas.microsoft.com/office/drawing/2014/main" id="{E3847F91-03F5-42B1-A078-07D1315675D3}"/>
                  </a:ext>
                </a:extLst>
              </p:cNvPr>
              <p:cNvSpPr txBox="1"/>
              <p:nvPr/>
            </p:nvSpPr>
            <p:spPr bwMode="auto">
              <a:xfrm>
                <a:off x="3581400" y="2163763"/>
                <a:ext cx="4059238" cy="145415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⊕⋯⊕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⊕⋯⊕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⋯⋯⋯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6232" name="Object 8">
                <a:extLst>
                  <a:ext uri="{FF2B5EF4-FFF2-40B4-BE49-F238E27FC236}">
                    <a16:creationId xmlns:a16="http://schemas.microsoft.com/office/drawing/2014/main" id="{E3847F91-03F5-42B1-A078-07D1315675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1400" y="2163763"/>
                <a:ext cx="4059238" cy="14541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6233" name="Text Box 9">
            <a:extLst>
              <a:ext uri="{FF2B5EF4-FFF2-40B4-BE49-F238E27FC236}">
                <a16:creationId xmlns:a16="http://schemas.microsoft.com/office/drawing/2014/main" id="{7E64494B-25C4-4098-9205-CA8467B21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200" y="4722813"/>
            <a:ext cx="9982200" cy="91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  <a:latin typeface="仿宋" panose="02010609060101010101" pitchFamily="49" charset="-122"/>
              </a:rPr>
              <a:t>线性反馈移位寄存器：</a:t>
            </a:r>
            <a:r>
              <a:rPr lang="zh-CN" altLang="en-US" sz="2400" b="1">
                <a:latin typeface="仿宋" panose="02010609060101010101" pitchFamily="49" charset="-122"/>
              </a:rPr>
              <a:t>实现简单、速度快、有较为成熟的理论，成为构造</a:t>
            </a:r>
            <a:r>
              <a:rPr lang="zh-CN" altLang="en-US" sz="2400" b="1">
                <a:solidFill>
                  <a:srgbClr val="FF0000"/>
                </a:solidFill>
                <a:latin typeface="仿宋" panose="02010609060101010101" pitchFamily="49" charset="-122"/>
              </a:rPr>
              <a:t>密钥流生成器的最重要的部件之一</a:t>
            </a:r>
            <a:r>
              <a:rPr lang="zh-CN" altLang="en-US" sz="2400" b="1">
                <a:latin typeface="仿宋" panose="02010609060101010101" pitchFamily="49" charset="-122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6234" name="Object 10">
                <a:extLst>
                  <a:ext uri="{FF2B5EF4-FFF2-40B4-BE49-F238E27FC236}">
                    <a16:creationId xmlns:a16="http://schemas.microsoft.com/office/drawing/2014/main" id="{C61B6D4E-0EBC-44C3-8E58-507CDCFDD212}"/>
                  </a:ext>
                </a:extLst>
              </p:cNvPr>
              <p:cNvSpPr txBox="1"/>
              <p:nvPr/>
            </p:nvSpPr>
            <p:spPr bwMode="auto">
              <a:xfrm>
                <a:off x="2713038" y="3792538"/>
                <a:ext cx="6540500" cy="649287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⊕⋯⊕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=1,2,⋯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436234" name="Object 10">
                <a:extLst>
                  <a:ext uri="{FF2B5EF4-FFF2-40B4-BE49-F238E27FC236}">
                    <a16:creationId xmlns:a16="http://schemas.microsoft.com/office/drawing/2014/main" id="{C61B6D4E-0EBC-44C3-8E58-507CDCFDD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3038" y="3792538"/>
                <a:ext cx="6540500" cy="6492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E77946C-A56B-44D5-A147-B887E9527A7A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6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6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33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10BF11-C0CA-4502-876D-3EDB03CB7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LFER</a:t>
            </a:r>
            <a:r>
              <a:rPr lang="zh-CN" altLang="en-US" dirty="0"/>
              <a:t>的实例</a:t>
            </a: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54927B35-96EB-4092-B419-69AAC5DDB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500" y="1219200"/>
            <a:ext cx="10515600" cy="4579938"/>
          </a:xfrm>
        </p:spPr>
        <p:txBody>
          <a:bodyPr/>
          <a:lstStyle/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800000"/>
                </a:solidFill>
              </a:rPr>
              <a:t>例</a:t>
            </a:r>
            <a:r>
              <a:rPr lang="zh-CN" altLang="en-US" b="1"/>
              <a:t> 下图是一个5级线性反馈移位寄存器，其初始状态为（</a:t>
            </a:r>
            <a:r>
              <a:rPr lang="en-US" altLang="zh-CN" b="1"/>
              <a:t>a</a:t>
            </a:r>
            <a:r>
              <a:rPr lang="en-US" altLang="zh-CN" b="1" baseline="-25000"/>
              <a:t>1</a:t>
            </a:r>
            <a:r>
              <a:rPr lang="en-US" altLang="zh-CN" b="1"/>
              <a:t>,a</a:t>
            </a:r>
            <a:r>
              <a:rPr lang="en-US" altLang="zh-CN" b="1" baseline="-25000"/>
              <a:t>2</a:t>
            </a:r>
            <a:r>
              <a:rPr lang="en-US" altLang="zh-CN" b="1"/>
              <a:t>,a</a:t>
            </a:r>
            <a:r>
              <a:rPr lang="en-US" altLang="zh-CN" b="1" baseline="-25000"/>
              <a:t>3</a:t>
            </a:r>
            <a:r>
              <a:rPr lang="en-US" altLang="zh-CN" b="1"/>
              <a:t>,a</a:t>
            </a:r>
            <a:r>
              <a:rPr lang="en-US" altLang="zh-CN" b="1" baseline="-25000"/>
              <a:t>4</a:t>
            </a:r>
            <a:r>
              <a:rPr lang="en-US" altLang="zh-CN" b="1"/>
              <a:t>,a</a:t>
            </a:r>
            <a:r>
              <a:rPr lang="en-US" altLang="zh-CN" b="1" baseline="-25000"/>
              <a:t>5</a:t>
            </a:r>
            <a:r>
              <a:rPr lang="en-US" altLang="zh-CN" b="1"/>
              <a:t>）=(1,0,0,1,1)</a:t>
            </a:r>
            <a:endParaRPr lang="zh-CN" altLang="en-US" b="1"/>
          </a:p>
        </p:txBody>
      </p:sp>
      <p:sp>
        <p:nvSpPr>
          <p:cNvPr id="438275" name="Text Box 3">
            <a:extLst>
              <a:ext uri="{FF2B5EF4-FFF2-40B4-BE49-F238E27FC236}">
                <a16:creationId xmlns:a16="http://schemas.microsoft.com/office/drawing/2014/main" id="{48863289-59AE-4784-988D-9CA85179C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705350"/>
            <a:ext cx="9359900" cy="154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b="1">
                <a:latin typeface="仿宋" panose="02010609060101010101" pitchFamily="49" charset="-122"/>
              </a:rPr>
              <a:t>可求出输出序列为</a:t>
            </a:r>
          </a:p>
          <a:p>
            <a:pPr algn="ct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b="1" u="sng">
                <a:solidFill>
                  <a:srgbClr val="FF0000"/>
                </a:solidFill>
                <a:latin typeface="仿宋" panose="02010609060101010101" pitchFamily="49" charset="-122"/>
              </a:rPr>
              <a:t>1001101001000010101110110001111</a:t>
            </a:r>
            <a:r>
              <a:rPr lang="zh-CN" altLang="en-US" b="1">
                <a:latin typeface="仿宋" panose="02010609060101010101" pitchFamily="49" charset="-122"/>
              </a:rPr>
              <a:t>100110…</a:t>
            </a:r>
          </a:p>
          <a:p>
            <a:pPr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b="1">
                <a:latin typeface="仿宋" panose="02010609060101010101" pitchFamily="49" charset="-122"/>
              </a:rPr>
              <a:t>周期为</a:t>
            </a:r>
            <a:r>
              <a:rPr lang="zh-CN" altLang="en-US" b="1">
                <a:solidFill>
                  <a:srgbClr val="FF0000"/>
                </a:solidFill>
                <a:latin typeface="仿宋" panose="02010609060101010101" pitchFamily="49" charset="-122"/>
              </a:rPr>
              <a:t>31</a:t>
            </a:r>
            <a:r>
              <a:rPr lang="zh-CN" altLang="en-US" b="1">
                <a:latin typeface="仿宋" panose="02010609060101010101" pitchFamily="49" charset="-122"/>
              </a:rPr>
              <a:t>。</a:t>
            </a:r>
          </a:p>
        </p:txBody>
      </p:sp>
      <p:pic>
        <p:nvPicPr>
          <p:cNvPr id="102405" name="Picture 4" descr="xd15">
            <a:extLst>
              <a:ext uri="{FF2B5EF4-FFF2-40B4-BE49-F238E27FC236}">
                <a16:creationId xmlns:a16="http://schemas.microsoft.com/office/drawing/2014/main" id="{E5B4C890-87FE-43CE-8110-474A02B49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8" y="1976438"/>
            <a:ext cx="8153400" cy="28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7F3CB6B-902A-410F-B77B-CAA22DAB1774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0">
                <a:extLst>
                  <a:ext uri="{FF2B5EF4-FFF2-40B4-BE49-F238E27FC236}">
                    <a16:creationId xmlns:a16="http://schemas.microsoft.com/office/drawing/2014/main" id="{7E3C9F21-403F-4B24-AC0D-197C894975AC}"/>
                  </a:ext>
                </a:extLst>
              </p:cNvPr>
              <p:cNvSpPr txBox="1"/>
              <p:nvPr/>
            </p:nvSpPr>
            <p:spPr bwMode="auto">
              <a:xfrm>
                <a:off x="8369300" y="3971925"/>
                <a:ext cx="3065463" cy="54768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=1,2,⋯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" name="Object 10">
                <a:extLst>
                  <a:ext uri="{FF2B5EF4-FFF2-40B4-BE49-F238E27FC236}">
                    <a16:creationId xmlns:a16="http://schemas.microsoft.com/office/drawing/2014/main" id="{7E3C9F21-403F-4B24-AC0D-197C89497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69300" y="3971925"/>
                <a:ext cx="3065463" cy="5476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28A3DD46-221F-4943-A10F-12D24E5D2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8900" y="3398838"/>
            <a:ext cx="2133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Verdana" panose="020B0604030504040204" pitchFamily="34" charset="0"/>
                <a:ea typeface="宋体" panose="02010600030101010101" pitchFamily="2" charset="-122"/>
              </a:rPr>
              <a:t>反馈函数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8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8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275" grpId="0" autoUpdateAnimBg="0"/>
      <p:bldP spid="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>
            <a:extLst>
              <a:ext uri="{FF2B5EF4-FFF2-40B4-BE49-F238E27FC236}">
                <a16:creationId xmlns:a16="http://schemas.microsoft.com/office/drawing/2014/main" id="{A1EAB47C-9FB3-4C7A-B758-C5A0D64A1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/>
              <a:t>密钥流的周期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EBE4667-410E-40AC-8CEB-B9BE2E00D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65263"/>
            <a:ext cx="10779125" cy="4579937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zh-CN" altLang="en-US" sz="2800" b="1" dirty="0"/>
              <a:t>给定密钥流                                 ，如果存在整数</a:t>
            </a:r>
            <a:r>
              <a:rPr lang="en-US" altLang="zh-CN" sz="2800" b="1" dirty="0"/>
              <a:t>r</a:t>
            </a:r>
            <a:r>
              <a:rPr lang="zh-CN" altLang="en-US" sz="2800" b="1" dirty="0"/>
              <a:t>，使得对于</a:t>
            </a:r>
            <a:endParaRPr lang="en-US" altLang="zh-CN" sz="2800" b="1" dirty="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zh-CN" sz="2800" b="1" dirty="0"/>
              <a:t>  </a:t>
            </a:r>
            <a:r>
              <a:rPr lang="zh-CN" altLang="en-US" sz="2800" b="1" dirty="0"/>
              <a:t>任意       ，都有             ，则称 </a:t>
            </a:r>
            <a:r>
              <a:rPr lang="en-US" altLang="zh-CN" sz="2800" b="1" dirty="0"/>
              <a:t>r</a:t>
            </a:r>
            <a:r>
              <a:rPr lang="zh-CN" altLang="en-US" sz="2800" b="1" dirty="0"/>
              <a:t>为该密钥流的一个周期，称满</a:t>
            </a:r>
            <a:endParaRPr lang="en-US" altLang="zh-CN" sz="2800" b="1" dirty="0"/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zh-CN" sz="2800" b="1" dirty="0"/>
              <a:t>  </a:t>
            </a:r>
            <a:r>
              <a:rPr lang="zh-CN" altLang="en-US" sz="2800" b="1" dirty="0"/>
              <a:t>足                的</a:t>
            </a:r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</a:rPr>
              <a:t>最小正整数</a:t>
            </a:r>
            <a:r>
              <a:rPr lang="zh-CN" altLang="en-US" sz="2800" b="1" dirty="0"/>
              <a:t>为该密钥流的最小周期或简称</a:t>
            </a:r>
            <a:r>
              <a:rPr lang="zh-CN" altLang="en-US" sz="2800" b="1" dirty="0">
                <a:solidFill>
                  <a:srgbClr val="FF0000"/>
                </a:solidFill>
              </a:rPr>
              <a:t>周期</a:t>
            </a:r>
            <a:r>
              <a:rPr lang="zh-CN" altLang="en-US" sz="2800" b="1" dirty="0"/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452" name="Object 2">
                <a:extLst>
                  <a:ext uri="{FF2B5EF4-FFF2-40B4-BE49-F238E27FC236}">
                    <a16:creationId xmlns:a16="http://schemas.microsoft.com/office/drawing/2014/main" id="{0BFE7695-3805-42B9-B1E1-90D9E0CC7B22}"/>
                  </a:ext>
                </a:extLst>
              </p:cNvPr>
              <p:cNvSpPr txBox="1"/>
              <p:nvPr/>
            </p:nvSpPr>
            <p:spPr bwMode="auto">
              <a:xfrm>
                <a:off x="2447366" y="1500586"/>
                <a:ext cx="4216398" cy="500062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zh-CN" alt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⋯,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4452" name="Object 2">
                <a:extLst>
                  <a:ext uri="{FF2B5EF4-FFF2-40B4-BE49-F238E27FC236}">
                    <a16:creationId xmlns:a16="http://schemas.microsoft.com/office/drawing/2014/main" id="{0BFE7695-3805-42B9-B1E1-90D9E0CC7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7366" y="1500586"/>
                <a:ext cx="4216398" cy="5000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453" name="Object 3">
                <a:extLst>
                  <a:ext uri="{FF2B5EF4-FFF2-40B4-BE49-F238E27FC236}">
                    <a16:creationId xmlns:a16="http://schemas.microsoft.com/office/drawing/2014/main" id="{F7A87A53-8A4F-414E-99AD-5CFE90A9C500}"/>
                  </a:ext>
                </a:extLst>
              </p:cNvPr>
              <p:cNvSpPr txBox="1"/>
              <p:nvPr/>
            </p:nvSpPr>
            <p:spPr bwMode="auto">
              <a:xfrm>
                <a:off x="1219200" y="2141935"/>
                <a:ext cx="1487861" cy="581025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4453" name="Object 3">
                <a:extLst>
                  <a:ext uri="{FF2B5EF4-FFF2-40B4-BE49-F238E27FC236}">
                    <a16:creationId xmlns:a16="http://schemas.microsoft.com/office/drawing/2014/main" id="{F7A87A53-8A4F-414E-99AD-5CFE90A9C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19200" y="2141935"/>
                <a:ext cx="1487861" cy="5810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454" name="Object 4">
                <a:extLst>
                  <a:ext uri="{FF2B5EF4-FFF2-40B4-BE49-F238E27FC236}">
                    <a16:creationId xmlns:a16="http://schemas.microsoft.com/office/drawing/2014/main" id="{FF095537-33C9-4514-AB57-17752A5F0592}"/>
                  </a:ext>
                </a:extLst>
              </p:cNvPr>
              <p:cNvSpPr txBox="1"/>
              <p:nvPr/>
            </p:nvSpPr>
            <p:spPr bwMode="auto">
              <a:xfrm>
                <a:off x="1437435" y="2805708"/>
                <a:ext cx="1610565" cy="623292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4454" name="Object 4">
                <a:extLst>
                  <a:ext uri="{FF2B5EF4-FFF2-40B4-BE49-F238E27FC236}">
                    <a16:creationId xmlns:a16="http://schemas.microsoft.com/office/drawing/2014/main" id="{FF095537-33C9-4514-AB57-17752A5F0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7435" y="2805708"/>
                <a:ext cx="1610565" cy="6232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455" name="Object 5">
                <a:extLst>
                  <a:ext uri="{FF2B5EF4-FFF2-40B4-BE49-F238E27FC236}">
                    <a16:creationId xmlns:a16="http://schemas.microsoft.com/office/drawing/2014/main" id="{BD51F693-4CF5-411A-90DC-5E81243370BD}"/>
                  </a:ext>
                </a:extLst>
              </p:cNvPr>
              <p:cNvSpPr txBox="1"/>
              <p:nvPr/>
            </p:nvSpPr>
            <p:spPr bwMode="auto">
              <a:xfrm>
                <a:off x="3581400" y="2141935"/>
                <a:ext cx="1273175" cy="540543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4455" name="Object 5">
                <a:extLst>
                  <a:ext uri="{FF2B5EF4-FFF2-40B4-BE49-F238E27FC236}">
                    <a16:creationId xmlns:a16="http://schemas.microsoft.com/office/drawing/2014/main" id="{BD51F693-4CF5-411A-90DC-5E8124337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1400" y="2141935"/>
                <a:ext cx="1273175" cy="5405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3ADEA35-942D-43DE-893C-C841CF099F10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CFE6B3-DCFE-4122-866B-8C2A4DDF0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LFSR</a:t>
            </a:r>
            <a:r>
              <a:rPr lang="zh-CN" altLang="en-US" dirty="0"/>
              <a:t>的性质</a:t>
            </a: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908988C5-492D-463C-A6C8-DB8847A131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总是假定</a:t>
            </a:r>
            <a:r>
              <a:rPr lang="en-US" altLang="zh-CN" b="1" dirty="0">
                <a:solidFill>
                  <a:srgbClr val="FF0000"/>
                </a:solidFill>
              </a:rPr>
              <a:t>c</a:t>
            </a:r>
            <a:r>
              <a:rPr lang="en-US" altLang="zh-CN" b="1" baseline="-25000" dirty="0">
                <a:solidFill>
                  <a:srgbClr val="FF0000"/>
                </a:solidFill>
              </a:rPr>
              <a:t>1</a:t>
            </a:r>
            <a:r>
              <a:rPr lang="en-US" altLang="zh-CN" b="1" dirty="0">
                <a:solidFill>
                  <a:srgbClr val="FF0000"/>
                </a:solidFill>
              </a:rPr>
              <a:t>,c</a:t>
            </a:r>
            <a:r>
              <a:rPr lang="en-US" altLang="zh-CN" b="1" baseline="-25000" dirty="0">
                <a:solidFill>
                  <a:srgbClr val="FF0000"/>
                </a:solidFill>
              </a:rPr>
              <a:t>2</a:t>
            </a:r>
            <a:r>
              <a:rPr lang="en-US" altLang="zh-CN" b="1" dirty="0">
                <a:solidFill>
                  <a:srgbClr val="FF0000"/>
                </a:solidFill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  <a:r>
              <a:rPr lang="en-US" altLang="zh-CN" b="1" dirty="0">
                <a:solidFill>
                  <a:srgbClr val="FF0000"/>
                </a:solidFill>
              </a:rPr>
              <a:t>,</a:t>
            </a:r>
            <a:r>
              <a:rPr lang="en-US" altLang="zh-CN" b="1" dirty="0" err="1">
                <a:solidFill>
                  <a:srgbClr val="FF0000"/>
                </a:solidFill>
              </a:rPr>
              <a:t>c</a:t>
            </a:r>
            <a:r>
              <a:rPr lang="en-US" altLang="zh-CN" b="1" baseline="-25000" dirty="0" err="1">
                <a:solidFill>
                  <a:srgbClr val="FF0000"/>
                </a:solidFill>
              </a:rPr>
              <a:t>n</a:t>
            </a:r>
            <a:r>
              <a:rPr lang="zh-CN" altLang="en-US" b="1" dirty="0">
                <a:solidFill>
                  <a:srgbClr val="FF0000"/>
                </a:solidFill>
              </a:rPr>
              <a:t>中至少有一个不为0</a:t>
            </a:r>
            <a:r>
              <a:rPr lang="zh-CN" altLang="en-US" b="1" dirty="0"/>
              <a:t>，否则</a:t>
            </a:r>
            <a:r>
              <a:rPr lang="en-US" altLang="zh-CN" b="1" dirty="0"/>
              <a:t>f(a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,a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,</a:t>
            </a:r>
            <a:r>
              <a:rPr lang="en-US" altLang="zh-CN" b="1" dirty="0">
                <a:latin typeface="Arial" panose="020B0604020202020204" pitchFamily="34" charset="0"/>
              </a:rPr>
              <a:t>…</a:t>
            </a:r>
            <a:r>
              <a:rPr lang="en-US" altLang="zh-CN" b="1" dirty="0"/>
              <a:t>,a</a:t>
            </a:r>
            <a:r>
              <a:rPr lang="en-US" altLang="zh-CN" b="1" baseline="-25000" dirty="0"/>
              <a:t>n</a:t>
            </a:r>
            <a:r>
              <a:rPr lang="en-US" altLang="zh-CN" b="1" dirty="0"/>
              <a:t>)≡0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总是假定</a:t>
            </a:r>
            <a:r>
              <a:rPr lang="en-US" altLang="zh-CN" b="1" dirty="0" err="1">
                <a:solidFill>
                  <a:srgbClr val="FF0000"/>
                </a:solidFill>
              </a:rPr>
              <a:t>c</a:t>
            </a:r>
            <a:r>
              <a:rPr lang="en-US" altLang="zh-CN" b="1" baseline="-25000" dirty="0" err="1">
                <a:solidFill>
                  <a:srgbClr val="FF0000"/>
                </a:solidFill>
              </a:rPr>
              <a:t>n</a:t>
            </a:r>
            <a:r>
              <a:rPr lang="en-US" altLang="zh-CN" b="1" dirty="0">
                <a:solidFill>
                  <a:srgbClr val="FF0000"/>
                </a:solidFill>
              </a:rPr>
              <a:t>=1</a:t>
            </a:r>
            <a:r>
              <a:rPr lang="en-US" altLang="zh-CN" b="1" dirty="0"/>
              <a:t>。</a:t>
            </a:r>
          </a:p>
          <a:p>
            <a:pPr marL="287338" indent="-6350"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LFSR</a:t>
            </a:r>
            <a:r>
              <a:rPr lang="zh-CN" altLang="en-US" b="1" dirty="0">
                <a:solidFill>
                  <a:srgbClr val="FF0000"/>
                </a:solidFill>
              </a:rPr>
              <a:t>输出序列的性质：</a:t>
            </a:r>
            <a:r>
              <a:rPr lang="zh-CN" altLang="en-US" b="1" dirty="0"/>
              <a:t>完全由其反馈函数决定。</a:t>
            </a:r>
          </a:p>
          <a:p>
            <a:pPr marL="287338" indent="-6350"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</a:rPr>
              <a:t>级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LFSR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</a:rPr>
              <a:t>状态数：最多有2</a:t>
            </a:r>
            <a:r>
              <a:rPr lang="en-US" altLang="zh-CN" b="1" baseline="30000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</a:rPr>
              <a:t>个</a:t>
            </a:r>
          </a:p>
          <a:p>
            <a:pPr marL="287338" indent="-6350"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</a:rPr>
              <a:t>级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LFSR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</a:rPr>
              <a:t>的状态周期： 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sym typeface="Symbol" pitchFamily="18" charset="2"/>
              </a:rPr>
              <a:t> 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altLang="zh-CN" b="1" baseline="30000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-1</a:t>
            </a:r>
          </a:p>
          <a:p>
            <a:pPr marL="287338" indent="-6350"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</a:rPr>
              <a:t>输出序列的周期=状态周期，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sym typeface="Symbol" pitchFamily="18" charset="2"/>
              </a:rPr>
              <a:t> 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</a:rPr>
              <a:t>2</a:t>
            </a:r>
            <a:r>
              <a:rPr lang="en-US" altLang="zh-CN" b="1" baseline="30000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-1</a:t>
            </a:r>
          </a:p>
          <a:p>
            <a:pPr marL="287338" indent="-6350" eaLnBrk="1" hangingPunct="1">
              <a:lnSpc>
                <a:spcPct val="120000"/>
              </a:lnSpc>
              <a:spcBef>
                <a:spcPct val="20000"/>
              </a:spcBef>
              <a:defRPr/>
            </a:pPr>
            <a:endParaRPr lang="en-US" altLang="zh-CN" b="1" dirty="0">
              <a:solidFill>
                <a:schemeClr val="bg1">
                  <a:lumMod val="85000"/>
                </a:schemeClr>
              </a:solidFill>
            </a:endParaRPr>
          </a:p>
          <a:p>
            <a:pPr marL="287338" indent="-6350"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</a:rPr>
              <a:t>选择合适的反馈函数可使序列的周期达到最大值2</a:t>
            </a:r>
            <a:r>
              <a:rPr lang="en-US" altLang="zh-CN" b="1" baseline="30000" dirty="0">
                <a:solidFill>
                  <a:schemeClr val="bg1">
                    <a:lumMod val="85000"/>
                  </a:schemeClr>
                </a:solidFill>
              </a:rPr>
              <a:t>n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-1 ，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</a:rPr>
              <a:t>周期达到最大值的序列称为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m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</a:rPr>
              <a:t>序列。</a:t>
            </a:r>
          </a:p>
          <a:p>
            <a:pPr indent="-6350" eaLnBrk="1" hangingPunct="1">
              <a:buFont typeface="Arial" panose="020B0604020202020204" pitchFamily="34" charset="0"/>
              <a:buNone/>
              <a:defRPr/>
            </a:pPr>
            <a:endParaRPr lang="zh-CN" altLang="en-US" b="1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83108A4-1496-4048-B0DC-0495D6992775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ext Box 5">
            <a:extLst>
              <a:ext uri="{FF2B5EF4-FFF2-40B4-BE49-F238E27FC236}">
                <a16:creationId xmlns:a16="http://schemas.microsoft.com/office/drawing/2014/main" id="{E3A6E7E4-593A-4BD8-98ED-D77E68380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3525" y="2555875"/>
            <a:ext cx="2098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仿宋" panose="02010609060101010101" pitchFamily="49" charset="-122"/>
              </a:rPr>
              <a:t>反馈函数为：</a:t>
            </a:r>
            <a:r>
              <a:rPr kumimoji="1" lang="zh-CN" altLang="en-US" sz="2400"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107523" name="Object 6">
            <a:extLst>
              <a:ext uri="{FF2B5EF4-FFF2-40B4-BE49-F238E27FC236}">
                <a16:creationId xmlns:a16="http://schemas.microsoft.com/office/drawing/2014/main" id="{B06B065A-99E3-4EAB-8714-A027CEAE84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2038" y="2565400"/>
          <a:ext cx="363696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36" name="Equation" r:id="rId3" imgW="1739900" imgH="228600" progId="Equation.3">
                  <p:embed/>
                </p:oleObj>
              </mc:Choice>
              <mc:Fallback>
                <p:oleObj name="Equation" r:id="rId3" imgW="17399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8" y="2565400"/>
                        <a:ext cx="3636962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4" name="Text Box 8">
            <a:extLst>
              <a:ext uri="{FF2B5EF4-FFF2-40B4-BE49-F238E27FC236}">
                <a16:creationId xmlns:a16="http://schemas.microsoft.com/office/drawing/2014/main" id="{F31F0505-F14F-4EE1-8B65-17C03E498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3" y="4005263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仿宋" panose="02010609060101010101" pitchFamily="49" charset="-122"/>
              </a:rPr>
              <a:t>初始状态:(1000)，输出序列:(1000110)</a:t>
            </a:r>
            <a:r>
              <a:rPr kumimoji="1" lang="zh-CN" altLang="en-US" sz="2400" b="1" baseline="30000" dirty="0">
                <a:latin typeface="仿宋" panose="02010609060101010101" pitchFamily="49" charset="-122"/>
                <a:sym typeface="Symbol" panose="05050102010706020507" pitchFamily="18" charset="2"/>
              </a:rPr>
              <a:t></a:t>
            </a:r>
            <a:r>
              <a:rPr kumimoji="1" lang="zh-CN" altLang="en-US" sz="2400" b="1" dirty="0">
                <a:latin typeface="仿宋" panose="02010609060101010101" pitchFamily="49" charset="-122"/>
              </a:rPr>
              <a:t>，周期为7</a:t>
            </a:r>
          </a:p>
        </p:txBody>
      </p:sp>
      <p:sp>
        <p:nvSpPr>
          <p:cNvPr id="107525" name="Text Box 9">
            <a:extLst>
              <a:ext uri="{FF2B5EF4-FFF2-40B4-BE49-F238E27FC236}">
                <a16:creationId xmlns:a16="http://schemas.microsoft.com/office/drawing/2014/main" id="{3B1A337C-6728-4DE3-B702-1BE6D3D53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629150"/>
            <a:ext cx="7237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latin typeface="仿宋" panose="02010609060101010101" pitchFamily="49" charset="-122"/>
              </a:rPr>
              <a:t>初始状态:(0010)，输出序列:(0010111)</a:t>
            </a:r>
            <a:r>
              <a:rPr kumimoji="1" lang="zh-CN" altLang="en-US" sz="2400" b="1" baseline="30000">
                <a:latin typeface="仿宋" panose="02010609060101010101" pitchFamily="49" charset="-122"/>
                <a:sym typeface="Symbol" panose="05050102010706020507" pitchFamily="18" charset="2"/>
              </a:rPr>
              <a:t></a:t>
            </a:r>
            <a:r>
              <a:rPr kumimoji="1" lang="zh-CN" altLang="en-US" sz="2400" b="1">
                <a:latin typeface="仿宋" panose="02010609060101010101" pitchFamily="49" charset="-122"/>
              </a:rPr>
              <a:t>，周期为7 </a:t>
            </a:r>
          </a:p>
        </p:txBody>
      </p:sp>
      <p:sp>
        <p:nvSpPr>
          <p:cNvPr id="107526" name="Text Box 10">
            <a:extLst>
              <a:ext uri="{FF2B5EF4-FFF2-40B4-BE49-F238E27FC236}">
                <a16:creationId xmlns:a16="http://schemas.microsoft.com/office/drawing/2014/main" id="{287E398D-9C65-49B6-8B0F-1BCCE77D2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3" y="5210175"/>
            <a:ext cx="734181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仿宋" panose="02010609060101010101" pitchFamily="49" charset="-122"/>
              </a:rPr>
              <a:t>初始状态:(0110)，输出序列:(0110100)</a:t>
            </a:r>
            <a:r>
              <a:rPr kumimoji="1" lang="zh-CN" altLang="en-US" sz="2400" b="1" baseline="30000" dirty="0">
                <a:latin typeface="仿宋" panose="02010609060101010101" pitchFamily="49" charset="-122"/>
                <a:sym typeface="Symbol" panose="05050102010706020507" pitchFamily="18" charset="2"/>
              </a:rPr>
              <a:t></a:t>
            </a:r>
            <a:r>
              <a:rPr kumimoji="1" lang="zh-CN" altLang="en-US" sz="2400" b="1" dirty="0">
                <a:latin typeface="仿宋" panose="02010609060101010101" pitchFamily="49" charset="-122"/>
              </a:rPr>
              <a:t>，周期为7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7527" name="Object 11">
                <a:extLst>
                  <a:ext uri="{FF2B5EF4-FFF2-40B4-BE49-F238E27FC236}">
                    <a16:creationId xmlns:a16="http://schemas.microsoft.com/office/drawing/2014/main" id="{27BF410A-75AD-4D3A-872A-1E9AB032BC39}"/>
                  </a:ext>
                </a:extLst>
              </p:cNvPr>
              <p:cNvSpPr txBox="1"/>
              <p:nvPr/>
            </p:nvSpPr>
            <p:spPr bwMode="auto">
              <a:xfrm>
                <a:off x="5087938" y="3141663"/>
                <a:ext cx="3397250" cy="5715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]=[1,1,0,1]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07527" name="Object 11">
                <a:extLst>
                  <a:ext uri="{FF2B5EF4-FFF2-40B4-BE49-F238E27FC236}">
                    <a16:creationId xmlns:a16="http://schemas.microsoft.com/office/drawing/2014/main" id="{27BF410A-75AD-4D3A-872A-1E9AB032B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87938" y="3141663"/>
                <a:ext cx="3397250" cy="5715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528" name="Text Box 13">
            <a:extLst>
              <a:ext uri="{FF2B5EF4-FFF2-40B4-BE49-F238E27FC236}">
                <a16:creationId xmlns:a16="http://schemas.microsoft.com/office/drawing/2014/main" id="{B820E372-5033-407A-B368-184250DA9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3" y="3141663"/>
            <a:ext cx="2447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/>
              <a:t>称为结构常数：</a:t>
            </a:r>
            <a:endParaRPr kumimoji="1" lang="en-US" altLang="zh-CN" sz="2400" b="1"/>
          </a:p>
        </p:txBody>
      </p:sp>
      <p:grpSp>
        <p:nvGrpSpPr>
          <p:cNvPr id="107529" name="Group 157">
            <a:extLst>
              <a:ext uri="{FF2B5EF4-FFF2-40B4-BE49-F238E27FC236}">
                <a16:creationId xmlns:a16="http://schemas.microsoft.com/office/drawing/2014/main" id="{170EF798-BC1E-41DD-A2D2-F25AABD4296A}"/>
              </a:ext>
            </a:extLst>
          </p:cNvPr>
          <p:cNvGrpSpPr>
            <a:grpSpLocks/>
          </p:cNvGrpSpPr>
          <p:nvPr/>
        </p:nvGrpSpPr>
        <p:grpSpPr bwMode="auto">
          <a:xfrm>
            <a:off x="3525838" y="600075"/>
            <a:ext cx="6173787" cy="1685925"/>
            <a:chOff x="1261" y="378"/>
            <a:chExt cx="3889" cy="1062"/>
          </a:xfrm>
        </p:grpSpPr>
        <p:sp>
          <p:nvSpPr>
            <p:cNvPr id="107532" name="Rectangle 158">
              <a:extLst>
                <a:ext uri="{FF2B5EF4-FFF2-40B4-BE49-F238E27FC236}">
                  <a16:creationId xmlns:a16="http://schemas.microsoft.com/office/drawing/2014/main" id="{65C98963-5232-45AC-8FBE-EB8A71E44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" y="378"/>
              <a:ext cx="502" cy="378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533" name="Rectangle 159">
              <a:extLst>
                <a:ext uri="{FF2B5EF4-FFF2-40B4-BE49-F238E27FC236}">
                  <a16:creationId xmlns:a16="http://schemas.microsoft.com/office/drawing/2014/main" id="{C7D99CFD-F94E-4789-AD01-F1C79A8EB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7" y="378"/>
              <a:ext cx="501" cy="378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534" name="Rectangle 160">
              <a:extLst>
                <a:ext uri="{FF2B5EF4-FFF2-40B4-BE49-F238E27FC236}">
                  <a16:creationId xmlns:a16="http://schemas.microsoft.com/office/drawing/2014/main" id="{C170F54A-F1C1-43AC-936B-8F78CD31A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8" y="378"/>
              <a:ext cx="502" cy="378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535" name="Rectangle 161">
              <a:extLst>
                <a:ext uri="{FF2B5EF4-FFF2-40B4-BE49-F238E27FC236}">
                  <a16:creationId xmlns:a16="http://schemas.microsoft.com/office/drawing/2014/main" id="{E682374F-1893-408D-9481-49547B617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0" y="378"/>
              <a:ext cx="502" cy="378"/>
            </a:xfrm>
            <a:prstGeom prst="rect">
              <a:avLst/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536" name="Line 162">
              <a:extLst>
                <a:ext uri="{FF2B5EF4-FFF2-40B4-BE49-F238E27FC236}">
                  <a16:creationId xmlns:a16="http://schemas.microsoft.com/office/drawing/2014/main" id="{B6FA25B4-1044-4821-9EB3-8A1BE4EC86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1" y="504"/>
              <a:ext cx="125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37" name="Freeform 163">
              <a:extLst>
                <a:ext uri="{FF2B5EF4-FFF2-40B4-BE49-F238E27FC236}">
                  <a16:creationId xmlns:a16="http://schemas.microsoft.com/office/drawing/2014/main" id="{D0C30B70-EDF0-4079-BFC5-B378F3159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6" y="462"/>
              <a:ext cx="136" cy="84"/>
            </a:xfrm>
            <a:custGeom>
              <a:avLst/>
              <a:gdLst>
                <a:gd name="T0" fmla="*/ 0 w 136"/>
                <a:gd name="T1" fmla="*/ 0 h 84"/>
                <a:gd name="T2" fmla="*/ 136 w 136"/>
                <a:gd name="T3" fmla="*/ 42 h 84"/>
                <a:gd name="T4" fmla="*/ 0 w 136"/>
                <a:gd name="T5" fmla="*/ 84 h 84"/>
                <a:gd name="T6" fmla="*/ 0 w 136"/>
                <a:gd name="T7" fmla="*/ 0 h 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6"/>
                <a:gd name="T13" fmla="*/ 0 h 84"/>
                <a:gd name="T14" fmla="*/ 136 w 136"/>
                <a:gd name="T15" fmla="*/ 84 h 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6" h="84">
                  <a:moveTo>
                    <a:pt x="0" y="0"/>
                  </a:moveTo>
                  <a:lnTo>
                    <a:pt x="136" y="42"/>
                  </a:lnTo>
                  <a:lnTo>
                    <a:pt x="0" y="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38" name="Line 164">
              <a:extLst>
                <a:ext uri="{FF2B5EF4-FFF2-40B4-BE49-F238E27FC236}">
                  <a16:creationId xmlns:a16="http://schemas.microsoft.com/office/drawing/2014/main" id="{712891D7-4795-408B-8BBB-6D685DFF56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3" y="756"/>
              <a:ext cx="1" cy="25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39" name="Freeform 165">
              <a:extLst>
                <a:ext uri="{FF2B5EF4-FFF2-40B4-BE49-F238E27FC236}">
                  <a16:creationId xmlns:a16="http://schemas.microsoft.com/office/drawing/2014/main" id="{0991DE98-DC8A-4BCF-9EE9-1D8E91748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0" y="998"/>
              <a:ext cx="95" cy="137"/>
            </a:xfrm>
            <a:custGeom>
              <a:avLst/>
              <a:gdLst>
                <a:gd name="T0" fmla="*/ 95 w 95"/>
                <a:gd name="T1" fmla="*/ 0 h 137"/>
                <a:gd name="T2" fmla="*/ 53 w 95"/>
                <a:gd name="T3" fmla="*/ 137 h 137"/>
                <a:gd name="T4" fmla="*/ 0 w 95"/>
                <a:gd name="T5" fmla="*/ 0 h 137"/>
                <a:gd name="T6" fmla="*/ 95 w 95"/>
                <a:gd name="T7" fmla="*/ 0 h 1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5"/>
                <a:gd name="T13" fmla="*/ 0 h 137"/>
                <a:gd name="T14" fmla="*/ 95 w 95"/>
                <a:gd name="T15" fmla="*/ 137 h 1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5" h="137">
                  <a:moveTo>
                    <a:pt x="95" y="0"/>
                  </a:moveTo>
                  <a:lnTo>
                    <a:pt x="53" y="137"/>
                  </a:lnTo>
                  <a:lnTo>
                    <a:pt x="0" y="0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0" name="Line 166">
              <a:extLst>
                <a:ext uri="{FF2B5EF4-FFF2-40B4-BE49-F238E27FC236}">
                  <a16:creationId xmlns:a16="http://schemas.microsoft.com/office/drawing/2014/main" id="{D9C067B7-5A4A-4E75-8322-D81D80A39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1" y="756"/>
              <a:ext cx="1" cy="25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1" name="Freeform 167">
              <a:extLst>
                <a:ext uri="{FF2B5EF4-FFF2-40B4-BE49-F238E27FC236}">
                  <a16:creationId xmlns:a16="http://schemas.microsoft.com/office/drawing/2014/main" id="{E89543F3-A5D8-4CAC-8D10-673C3A06D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9" y="998"/>
              <a:ext cx="84" cy="137"/>
            </a:xfrm>
            <a:custGeom>
              <a:avLst/>
              <a:gdLst>
                <a:gd name="T0" fmla="*/ 84 w 84"/>
                <a:gd name="T1" fmla="*/ 0 h 137"/>
                <a:gd name="T2" fmla="*/ 42 w 84"/>
                <a:gd name="T3" fmla="*/ 137 h 137"/>
                <a:gd name="T4" fmla="*/ 0 w 84"/>
                <a:gd name="T5" fmla="*/ 0 h 137"/>
                <a:gd name="T6" fmla="*/ 84 w 84"/>
                <a:gd name="T7" fmla="*/ 0 h 1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4"/>
                <a:gd name="T13" fmla="*/ 0 h 137"/>
                <a:gd name="T14" fmla="*/ 84 w 84"/>
                <a:gd name="T15" fmla="*/ 137 h 1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4" h="137">
                  <a:moveTo>
                    <a:pt x="84" y="0"/>
                  </a:moveTo>
                  <a:lnTo>
                    <a:pt x="42" y="137"/>
                  </a:lnTo>
                  <a:lnTo>
                    <a:pt x="0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2" name="Line 168">
              <a:extLst>
                <a:ext uri="{FF2B5EF4-FFF2-40B4-BE49-F238E27FC236}">
                  <a16:creationId xmlns:a16="http://schemas.microsoft.com/office/drawing/2014/main" id="{16FD9B4E-83ED-4751-98CB-A5E34D0F22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7" y="756"/>
              <a:ext cx="1" cy="37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3" name="Freeform 169">
              <a:extLst>
                <a:ext uri="{FF2B5EF4-FFF2-40B4-BE49-F238E27FC236}">
                  <a16:creationId xmlns:a16="http://schemas.microsoft.com/office/drawing/2014/main" id="{2D702217-FD7E-4242-8E56-D819344B7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6" y="1124"/>
              <a:ext cx="94" cy="137"/>
            </a:xfrm>
            <a:custGeom>
              <a:avLst/>
              <a:gdLst>
                <a:gd name="T0" fmla="*/ 94 w 94"/>
                <a:gd name="T1" fmla="*/ 0 h 137"/>
                <a:gd name="T2" fmla="*/ 41 w 94"/>
                <a:gd name="T3" fmla="*/ 137 h 137"/>
                <a:gd name="T4" fmla="*/ 0 w 94"/>
                <a:gd name="T5" fmla="*/ 0 h 137"/>
                <a:gd name="T6" fmla="*/ 94 w 94"/>
                <a:gd name="T7" fmla="*/ 0 h 1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137"/>
                <a:gd name="T14" fmla="*/ 94 w 94"/>
                <a:gd name="T15" fmla="*/ 137 h 1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137">
                  <a:moveTo>
                    <a:pt x="94" y="0"/>
                  </a:moveTo>
                  <a:lnTo>
                    <a:pt x="41" y="137"/>
                  </a:lnTo>
                  <a:lnTo>
                    <a:pt x="0" y="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4" name="Line 170">
              <a:extLst>
                <a:ext uri="{FF2B5EF4-FFF2-40B4-BE49-F238E27FC236}">
                  <a16:creationId xmlns:a16="http://schemas.microsoft.com/office/drawing/2014/main" id="{77191352-8EC5-4D24-A55C-23F44BC8F8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55" y="1261"/>
              <a:ext cx="144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5" name="Freeform 171">
              <a:extLst>
                <a:ext uri="{FF2B5EF4-FFF2-40B4-BE49-F238E27FC236}">
                  <a16:creationId xmlns:a16="http://schemas.microsoft.com/office/drawing/2014/main" id="{9202EB4D-AD58-4A7E-AD04-40F8BA1CB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9" y="1219"/>
              <a:ext cx="136" cy="84"/>
            </a:xfrm>
            <a:custGeom>
              <a:avLst/>
              <a:gdLst>
                <a:gd name="T0" fmla="*/ 136 w 136"/>
                <a:gd name="T1" fmla="*/ 84 h 84"/>
                <a:gd name="T2" fmla="*/ 0 w 136"/>
                <a:gd name="T3" fmla="*/ 42 h 84"/>
                <a:gd name="T4" fmla="*/ 136 w 136"/>
                <a:gd name="T5" fmla="*/ 0 h 84"/>
                <a:gd name="T6" fmla="*/ 136 w 136"/>
                <a:gd name="T7" fmla="*/ 84 h 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6"/>
                <a:gd name="T13" fmla="*/ 0 h 84"/>
                <a:gd name="T14" fmla="*/ 136 w 136"/>
                <a:gd name="T15" fmla="*/ 84 h 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6" h="84">
                  <a:moveTo>
                    <a:pt x="136" y="84"/>
                  </a:moveTo>
                  <a:lnTo>
                    <a:pt x="0" y="42"/>
                  </a:lnTo>
                  <a:lnTo>
                    <a:pt x="136" y="0"/>
                  </a:lnTo>
                  <a:lnTo>
                    <a:pt x="136" y="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6" name="Line 172">
              <a:extLst>
                <a:ext uri="{FF2B5EF4-FFF2-40B4-BE49-F238E27FC236}">
                  <a16:creationId xmlns:a16="http://schemas.microsoft.com/office/drawing/2014/main" id="{E5828A1B-33BE-4CF0-B978-2717D8601C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4" y="1261"/>
              <a:ext cx="50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7" name="Freeform 173">
              <a:extLst>
                <a:ext uri="{FF2B5EF4-FFF2-40B4-BE49-F238E27FC236}">
                  <a16:creationId xmlns:a16="http://schemas.microsoft.com/office/drawing/2014/main" id="{97E5712C-88FC-4187-A852-8774068EB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8" y="1219"/>
              <a:ext cx="136" cy="84"/>
            </a:xfrm>
            <a:custGeom>
              <a:avLst/>
              <a:gdLst>
                <a:gd name="T0" fmla="*/ 136 w 136"/>
                <a:gd name="T1" fmla="*/ 84 h 84"/>
                <a:gd name="T2" fmla="*/ 0 w 136"/>
                <a:gd name="T3" fmla="*/ 42 h 84"/>
                <a:gd name="T4" fmla="*/ 136 w 136"/>
                <a:gd name="T5" fmla="*/ 0 h 84"/>
                <a:gd name="T6" fmla="*/ 136 w 136"/>
                <a:gd name="T7" fmla="*/ 84 h 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6"/>
                <a:gd name="T13" fmla="*/ 0 h 84"/>
                <a:gd name="T14" fmla="*/ 136 w 136"/>
                <a:gd name="T15" fmla="*/ 84 h 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6" h="84">
                  <a:moveTo>
                    <a:pt x="136" y="84"/>
                  </a:moveTo>
                  <a:lnTo>
                    <a:pt x="0" y="42"/>
                  </a:lnTo>
                  <a:lnTo>
                    <a:pt x="136" y="0"/>
                  </a:lnTo>
                  <a:lnTo>
                    <a:pt x="136" y="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8" name="Line 174">
              <a:extLst>
                <a:ext uri="{FF2B5EF4-FFF2-40B4-BE49-F238E27FC236}">
                  <a16:creationId xmlns:a16="http://schemas.microsoft.com/office/drawing/2014/main" id="{125452F1-82A6-40F7-83C8-D8F35D8DC3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86" y="1261"/>
              <a:ext cx="25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49" name="Freeform 175">
              <a:extLst>
                <a:ext uri="{FF2B5EF4-FFF2-40B4-BE49-F238E27FC236}">
                  <a16:creationId xmlns:a16="http://schemas.microsoft.com/office/drawing/2014/main" id="{19A22306-A3F6-4495-BFE7-098B37D63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1" y="1219"/>
              <a:ext cx="136" cy="84"/>
            </a:xfrm>
            <a:custGeom>
              <a:avLst/>
              <a:gdLst>
                <a:gd name="T0" fmla="*/ 136 w 136"/>
                <a:gd name="T1" fmla="*/ 84 h 84"/>
                <a:gd name="T2" fmla="*/ 0 w 136"/>
                <a:gd name="T3" fmla="*/ 42 h 84"/>
                <a:gd name="T4" fmla="*/ 136 w 136"/>
                <a:gd name="T5" fmla="*/ 0 h 84"/>
                <a:gd name="T6" fmla="*/ 136 w 136"/>
                <a:gd name="T7" fmla="*/ 84 h 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6"/>
                <a:gd name="T13" fmla="*/ 0 h 84"/>
                <a:gd name="T14" fmla="*/ 136 w 136"/>
                <a:gd name="T15" fmla="*/ 84 h 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6" h="84">
                  <a:moveTo>
                    <a:pt x="136" y="84"/>
                  </a:moveTo>
                  <a:lnTo>
                    <a:pt x="0" y="42"/>
                  </a:lnTo>
                  <a:lnTo>
                    <a:pt x="136" y="0"/>
                  </a:lnTo>
                  <a:lnTo>
                    <a:pt x="136" y="8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0" name="Line 176">
              <a:extLst>
                <a:ext uri="{FF2B5EF4-FFF2-40B4-BE49-F238E27FC236}">
                  <a16:creationId xmlns:a16="http://schemas.microsoft.com/office/drawing/2014/main" id="{B6433FF0-F6D8-41D5-9A72-FBFE72A1A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4" y="504"/>
              <a:ext cx="25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1" name="Freeform 177">
              <a:extLst>
                <a:ext uri="{FF2B5EF4-FFF2-40B4-BE49-F238E27FC236}">
                  <a16:creationId xmlns:a16="http://schemas.microsoft.com/office/drawing/2014/main" id="{C91CCE92-0936-475A-AC1B-8D44A06FE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4" y="462"/>
              <a:ext cx="136" cy="84"/>
            </a:xfrm>
            <a:custGeom>
              <a:avLst/>
              <a:gdLst>
                <a:gd name="T0" fmla="*/ 0 w 136"/>
                <a:gd name="T1" fmla="*/ 0 h 84"/>
                <a:gd name="T2" fmla="*/ 136 w 136"/>
                <a:gd name="T3" fmla="*/ 42 h 84"/>
                <a:gd name="T4" fmla="*/ 0 w 136"/>
                <a:gd name="T5" fmla="*/ 84 h 84"/>
                <a:gd name="T6" fmla="*/ 0 w 136"/>
                <a:gd name="T7" fmla="*/ 0 h 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6"/>
                <a:gd name="T13" fmla="*/ 0 h 84"/>
                <a:gd name="T14" fmla="*/ 136 w 136"/>
                <a:gd name="T15" fmla="*/ 84 h 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6" h="84">
                  <a:moveTo>
                    <a:pt x="0" y="0"/>
                  </a:moveTo>
                  <a:lnTo>
                    <a:pt x="136" y="42"/>
                  </a:lnTo>
                  <a:lnTo>
                    <a:pt x="0" y="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2" name="Line 178">
              <a:extLst>
                <a:ext uri="{FF2B5EF4-FFF2-40B4-BE49-F238E27FC236}">
                  <a16:creationId xmlns:a16="http://schemas.microsoft.com/office/drawing/2014/main" id="{5ED90D9C-DAB3-44F0-AB35-9000C11A59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2" y="504"/>
              <a:ext cx="25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3" name="Freeform 179">
              <a:extLst>
                <a:ext uri="{FF2B5EF4-FFF2-40B4-BE49-F238E27FC236}">
                  <a16:creationId xmlns:a16="http://schemas.microsoft.com/office/drawing/2014/main" id="{8AF25616-E400-477D-AF2E-9924FBBD25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" y="462"/>
              <a:ext cx="136" cy="84"/>
            </a:xfrm>
            <a:custGeom>
              <a:avLst/>
              <a:gdLst>
                <a:gd name="T0" fmla="*/ 0 w 136"/>
                <a:gd name="T1" fmla="*/ 0 h 84"/>
                <a:gd name="T2" fmla="*/ 136 w 136"/>
                <a:gd name="T3" fmla="*/ 42 h 84"/>
                <a:gd name="T4" fmla="*/ 0 w 136"/>
                <a:gd name="T5" fmla="*/ 84 h 84"/>
                <a:gd name="T6" fmla="*/ 0 w 136"/>
                <a:gd name="T7" fmla="*/ 0 h 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6"/>
                <a:gd name="T13" fmla="*/ 0 h 84"/>
                <a:gd name="T14" fmla="*/ 136 w 136"/>
                <a:gd name="T15" fmla="*/ 84 h 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6" h="84">
                  <a:moveTo>
                    <a:pt x="0" y="0"/>
                  </a:moveTo>
                  <a:lnTo>
                    <a:pt x="136" y="42"/>
                  </a:lnTo>
                  <a:lnTo>
                    <a:pt x="0" y="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4" name="Line 180">
              <a:extLst>
                <a:ext uri="{FF2B5EF4-FFF2-40B4-BE49-F238E27FC236}">
                  <a16:creationId xmlns:a16="http://schemas.microsoft.com/office/drawing/2014/main" id="{3DC72E2E-10D6-4F0F-B203-05CE5AB4A2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0" y="504"/>
              <a:ext cx="251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5" name="Freeform 181">
              <a:extLst>
                <a:ext uri="{FF2B5EF4-FFF2-40B4-BE49-F238E27FC236}">
                  <a16:creationId xmlns:a16="http://schemas.microsoft.com/office/drawing/2014/main" id="{608984B7-0BC6-4989-B2F0-F9CCDB711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" y="462"/>
              <a:ext cx="136" cy="84"/>
            </a:xfrm>
            <a:custGeom>
              <a:avLst/>
              <a:gdLst>
                <a:gd name="T0" fmla="*/ 0 w 136"/>
                <a:gd name="T1" fmla="*/ 0 h 84"/>
                <a:gd name="T2" fmla="*/ 136 w 136"/>
                <a:gd name="T3" fmla="*/ 42 h 84"/>
                <a:gd name="T4" fmla="*/ 0 w 136"/>
                <a:gd name="T5" fmla="*/ 84 h 84"/>
                <a:gd name="T6" fmla="*/ 0 w 136"/>
                <a:gd name="T7" fmla="*/ 0 h 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6"/>
                <a:gd name="T13" fmla="*/ 0 h 84"/>
                <a:gd name="T14" fmla="*/ 136 w 136"/>
                <a:gd name="T15" fmla="*/ 84 h 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6" h="84">
                  <a:moveTo>
                    <a:pt x="0" y="0"/>
                  </a:moveTo>
                  <a:lnTo>
                    <a:pt x="136" y="42"/>
                  </a:lnTo>
                  <a:lnTo>
                    <a:pt x="0" y="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6" name="Line 182">
              <a:extLst>
                <a:ext uri="{FF2B5EF4-FFF2-40B4-BE49-F238E27FC236}">
                  <a16:creationId xmlns:a16="http://schemas.microsoft.com/office/drawing/2014/main" id="{3F3C7000-2790-4A64-BD24-0DF3B52D25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8" y="504"/>
              <a:ext cx="37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7" name="Freeform 183">
              <a:extLst>
                <a:ext uri="{FF2B5EF4-FFF2-40B4-BE49-F238E27FC236}">
                  <a16:creationId xmlns:a16="http://schemas.microsoft.com/office/drawing/2014/main" id="{8C715ED2-D61A-4E99-AF50-CE2D67821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4" y="462"/>
              <a:ext cx="136" cy="84"/>
            </a:xfrm>
            <a:custGeom>
              <a:avLst/>
              <a:gdLst>
                <a:gd name="T0" fmla="*/ 0 w 136"/>
                <a:gd name="T1" fmla="*/ 0 h 84"/>
                <a:gd name="T2" fmla="*/ 136 w 136"/>
                <a:gd name="T3" fmla="*/ 42 h 84"/>
                <a:gd name="T4" fmla="*/ 0 w 136"/>
                <a:gd name="T5" fmla="*/ 84 h 84"/>
                <a:gd name="T6" fmla="*/ 0 w 136"/>
                <a:gd name="T7" fmla="*/ 0 h 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6"/>
                <a:gd name="T13" fmla="*/ 0 h 84"/>
                <a:gd name="T14" fmla="*/ 136 w 136"/>
                <a:gd name="T15" fmla="*/ 84 h 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6" h="84">
                  <a:moveTo>
                    <a:pt x="0" y="0"/>
                  </a:moveTo>
                  <a:lnTo>
                    <a:pt x="136" y="42"/>
                  </a:lnTo>
                  <a:lnTo>
                    <a:pt x="0" y="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8" name="Line 184">
              <a:extLst>
                <a:ext uri="{FF2B5EF4-FFF2-40B4-BE49-F238E27FC236}">
                  <a16:creationId xmlns:a16="http://schemas.microsoft.com/office/drawing/2014/main" id="{FD1F4D72-73D1-4A92-9223-CB27668411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1" y="504"/>
              <a:ext cx="1" cy="757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559" name="Rectangle 185">
              <a:extLst>
                <a:ext uri="{FF2B5EF4-FFF2-40B4-BE49-F238E27FC236}">
                  <a16:creationId xmlns:a16="http://schemas.microsoft.com/office/drawing/2014/main" id="{5BFFA137-C4A5-425B-AC4A-615526603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3" y="567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560" name="Rectangle 186">
              <a:extLst>
                <a:ext uri="{FF2B5EF4-FFF2-40B4-BE49-F238E27FC236}">
                  <a16:creationId xmlns:a16="http://schemas.microsoft.com/office/drawing/2014/main" id="{B24A37CF-DB83-44C8-BED9-BA3B7077B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9" y="399"/>
              <a:ext cx="118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300" i="1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endParaRPr lang="en-US" altLang="zh-CN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561" name="Rectangle 187">
              <a:extLst>
                <a:ext uri="{FF2B5EF4-FFF2-40B4-BE49-F238E27FC236}">
                  <a16:creationId xmlns:a16="http://schemas.microsoft.com/office/drawing/2014/main" id="{05E6229A-6E74-495D-828B-926816FD7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9" y="54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562" name="Rectangle 188">
              <a:extLst>
                <a:ext uri="{FF2B5EF4-FFF2-40B4-BE49-F238E27FC236}">
                  <a16:creationId xmlns:a16="http://schemas.microsoft.com/office/drawing/2014/main" id="{EC10C8BF-EC39-4A5E-A2F8-C630CB2B88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4" y="399"/>
              <a:ext cx="11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200" i="1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endParaRPr lang="en-US" altLang="zh-CN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563" name="Rectangle 189">
              <a:extLst>
                <a:ext uri="{FF2B5EF4-FFF2-40B4-BE49-F238E27FC236}">
                  <a16:creationId xmlns:a16="http://schemas.microsoft.com/office/drawing/2014/main" id="{D759E1B9-1F1C-439E-9025-E8A901266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1" y="556"/>
              <a:ext cx="7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564" name="Rectangle 190">
              <a:extLst>
                <a:ext uri="{FF2B5EF4-FFF2-40B4-BE49-F238E27FC236}">
                  <a16:creationId xmlns:a16="http://schemas.microsoft.com/office/drawing/2014/main" id="{4024E097-120D-423C-B4E1-B7039CF98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6" y="388"/>
              <a:ext cx="118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300" i="1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endParaRPr lang="en-US" altLang="zh-CN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565" name="Rectangle 191">
              <a:extLst>
                <a:ext uri="{FF2B5EF4-FFF2-40B4-BE49-F238E27FC236}">
                  <a16:creationId xmlns:a16="http://schemas.microsoft.com/office/drawing/2014/main" id="{7724C064-99F2-44B2-A800-0F692D1C6C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2" y="536"/>
              <a:ext cx="69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7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566" name="Rectangle 192">
              <a:extLst>
                <a:ext uri="{FF2B5EF4-FFF2-40B4-BE49-F238E27FC236}">
                  <a16:creationId xmlns:a16="http://schemas.microsoft.com/office/drawing/2014/main" id="{3BB0582C-28E2-419E-988F-05E99CF53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68" y="399"/>
              <a:ext cx="10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000" i="1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endParaRPr lang="en-US" altLang="zh-CN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567" name="Rectangle 193">
              <a:extLst>
                <a:ext uri="{FF2B5EF4-FFF2-40B4-BE49-F238E27FC236}">
                  <a16:creationId xmlns:a16="http://schemas.microsoft.com/office/drawing/2014/main" id="{440BD640-C965-4424-B111-25C4F52C1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1" y="966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568" name="Rectangle 194">
              <a:extLst>
                <a:ext uri="{FF2B5EF4-FFF2-40B4-BE49-F238E27FC236}">
                  <a16:creationId xmlns:a16="http://schemas.microsoft.com/office/drawing/2014/main" id="{43B3FF53-BDB0-460B-891C-CAE29EBEFB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6" y="830"/>
              <a:ext cx="10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000" i="1">
                  <a:solidFill>
                    <a:srgbClr val="000000"/>
                  </a:solidFill>
                  <a:ea typeface="宋体" panose="02010600030101010101" pitchFamily="2" charset="-122"/>
                </a:rPr>
                <a:t>c</a:t>
              </a:r>
              <a:endParaRPr lang="en-US" altLang="zh-CN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569" name="Rectangle 195">
              <a:extLst>
                <a:ext uri="{FF2B5EF4-FFF2-40B4-BE49-F238E27FC236}">
                  <a16:creationId xmlns:a16="http://schemas.microsoft.com/office/drawing/2014/main" id="{1D03F12B-5B32-405E-BD1C-B3E491DE1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2" y="967"/>
              <a:ext cx="69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700">
                  <a:solidFill>
                    <a:srgbClr val="000000"/>
                  </a:solidFill>
                  <a:ea typeface="宋体" panose="02010600030101010101" pitchFamily="2" charset="-122"/>
                </a:rPr>
                <a:t>1</a:t>
              </a: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570" name="Rectangle 196">
              <a:extLst>
                <a:ext uri="{FF2B5EF4-FFF2-40B4-BE49-F238E27FC236}">
                  <a16:creationId xmlns:a16="http://schemas.microsoft.com/office/drawing/2014/main" id="{926A8388-09AC-4EA9-AF70-3C951C9F8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8" y="830"/>
              <a:ext cx="104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900" i="1">
                  <a:solidFill>
                    <a:srgbClr val="000000"/>
                  </a:solidFill>
                  <a:ea typeface="宋体" panose="02010600030101010101" pitchFamily="2" charset="-122"/>
                </a:rPr>
                <a:t>c</a:t>
              </a:r>
              <a:endParaRPr lang="en-US" altLang="zh-CN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571" name="Rectangle 197">
              <a:extLst>
                <a:ext uri="{FF2B5EF4-FFF2-40B4-BE49-F238E27FC236}">
                  <a16:creationId xmlns:a16="http://schemas.microsoft.com/office/drawing/2014/main" id="{E8844A6E-8D68-45BD-9E00-621A835230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9" y="883"/>
              <a:ext cx="101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500">
                  <a:solidFill>
                    <a:srgbClr val="000000"/>
                  </a:solidFill>
                  <a:ea typeface="宋体" panose="02010600030101010101" pitchFamily="2" charset="-122"/>
                </a:rPr>
                <a:t>0</a:t>
              </a: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572" name="Rectangle 198">
              <a:extLst>
                <a:ext uri="{FF2B5EF4-FFF2-40B4-BE49-F238E27FC236}">
                  <a16:creationId xmlns:a16="http://schemas.microsoft.com/office/drawing/2014/main" id="{10B880D3-A9BE-467F-A985-DE24C7989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6" y="987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50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573" name="Rectangle 199">
              <a:extLst>
                <a:ext uri="{FF2B5EF4-FFF2-40B4-BE49-F238E27FC236}">
                  <a16:creationId xmlns:a16="http://schemas.microsoft.com/office/drawing/2014/main" id="{4E61D445-3045-4CF4-9A0C-91C2558FA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2" y="851"/>
              <a:ext cx="111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500">
                  <a:solidFill>
                    <a:srgbClr val="000000"/>
                  </a:solidFill>
                  <a:latin typeface="Symbol" panose="05050102010706020507" pitchFamily="18" charset="2"/>
                  <a:ea typeface="宋体" panose="02010600030101010101" pitchFamily="2" charset="-122"/>
                </a:rPr>
                <a:t>=</a:t>
              </a: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574" name="Rectangle 200">
              <a:extLst>
                <a:ext uri="{FF2B5EF4-FFF2-40B4-BE49-F238E27FC236}">
                  <a16:creationId xmlns:a16="http://schemas.microsoft.com/office/drawing/2014/main" id="{B4D89741-46FB-42D7-B499-040667EC0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3" y="883"/>
              <a:ext cx="90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500" i="1">
                  <a:solidFill>
                    <a:srgbClr val="000000"/>
                  </a:solidFill>
                  <a:ea typeface="宋体" panose="02010600030101010101" pitchFamily="2" charset="-122"/>
                </a:rPr>
                <a:t>c</a:t>
              </a:r>
              <a:endParaRPr lang="en-US" altLang="zh-CN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575" name="Rectangle 201">
              <a:extLst>
                <a:ext uri="{FF2B5EF4-FFF2-40B4-BE49-F238E27FC236}">
                  <a16:creationId xmlns:a16="http://schemas.microsoft.com/office/drawing/2014/main" id="{AE1E21C3-6F87-4D41-899F-602D8B3A2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" y="966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endParaRPr lang="zh-CN" altLang="en-US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7576" name="Rectangle 202">
              <a:extLst>
                <a:ext uri="{FF2B5EF4-FFF2-40B4-BE49-F238E27FC236}">
                  <a16:creationId xmlns:a16="http://schemas.microsoft.com/office/drawing/2014/main" id="{210EA228-29EF-430F-9084-FECED6922E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3" y="830"/>
              <a:ext cx="10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3000" i="1">
                  <a:solidFill>
                    <a:srgbClr val="000000"/>
                  </a:solidFill>
                  <a:ea typeface="宋体" panose="02010600030101010101" pitchFamily="2" charset="-122"/>
                </a:rPr>
                <a:t>c</a:t>
              </a:r>
              <a:endParaRPr lang="en-US" altLang="zh-CN" sz="180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577" name="Object 203">
                  <a:extLst>
                    <a:ext uri="{FF2B5EF4-FFF2-40B4-BE49-F238E27FC236}">
                      <a16:creationId xmlns:a16="http://schemas.microsoft.com/office/drawing/2014/main" id="{AFB8DB9E-1F52-4DD1-9897-5909F107CA16}"/>
                    </a:ext>
                  </a:extLst>
                </p:cNvPr>
                <p:cNvSpPr txBox="1"/>
                <p:nvPr/>
              </p:nvSpPr>
              <p:spPr bwMode="auto">
                <a:xfrm>
                  <a:off x="1632" y="1104"/>
                  <a:ext cx="312" cy="3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07577" name="Object 203">
                  <a:extLst>
                    <a:ext uri="{FF2B5EF4-FFF2-40B4-BE49-F238E27FC236}">
                      <a16:creationId xmlns:a16="http://schemas.microsoft.com/office/drawing/2014/main" id="{AFB8DB9E-1F52-4DD1-9897-5909F107CA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32" y="1104"/>
                  <a:ext cx="312" cy="33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578" name="Object 204">
                  <a:extLst>
                    <a:ext uri="{FF2B5EF4-FFF2-40B4-BE49-F238E27FC236}">
                      <a16:creationId xmlns:a16="http://schemas.microsoft.com/office/drawing/2014/main" id="{BB74A9BE-CEB4-4ED6-9757-81B33DEB2EC7}"/>
                    </a:ext>
                  </a:extLst>
                </p:cNvPr>
                <p:cNvSpPr txBox="1"/>
                <p:nvPr/>
              </p:nvSpPr>
              <p:spPr bwMode="auto">
                <a:xfrm>
                  <a:off x="2520" y="1104"/>
                  <a:ext cx="312" cy="3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07578" name="Object 204">
                  <a:extLst>
                    <a:ext uri="{FF2B5EF4-FFF2-40B4-BE49-F238E27FC236}">
                      <a16:creationId xmlns:a16="http://schemas.microsoft.com/office/drawing/2014/main" id="{BB74A9BE-CEB4-4ED6-9757-81B33DEB2E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20" y="1104"/>
                  <a:ext cx="312" cy="33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7530" name="Text Box 10">
            <a:extLst>
              <a:ext uri="{FF2B5EF4-FFF2-40B4-BE49-F238E27FC236}">
                <a16:creationId xmlns:a16="http://schemas.microsoft.com/office/drawing/2014/main" id="{87074965-6A0E-4A3D-AE07-B37F3A141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4013" y="5694363"/>
            <a:ext cx="7239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latin typeface="仿宋" panose="02010609060101010101" pitchFamily="49" charset="-122"/>
              </a:rPr>
              <a:t>初始状态:(</a:t>
            </a:r>
            <a:r>
              <a:rPr kumimoji="1" lang="en-US" altLang="zh-CN" sz="2400" b="1" dirty="0">
                <a:latin typeface="仿宋" panose="02010609060101010101" pitchFamily="49" charset="-122"/>
              </a:rPr>
              <a:t>11</a:t>
            </a:r>
            <a:r>
              <a:rPr kumimoji="1" lang="zh-CN" altLang="en-US" sz="2400" b="1" dirty="0">
                <a:latin typeface="仿宋" panose="02010609060101010101" pitchFamily="49" charset="-122"/>
              </a:rPr>
              <a:t>11)，输出序列:(</a:t>
            </a:r>
            <a:r>
              <a:rPr kumimoji="1" lang="en-US" altLang="zh-CN" sz="2400" b="1" dirty="0">
                <a:latin typeface="仿宋" panose="02010609060101010101" pitchFamily="49" charset="-122"/>
              </a:rPr>
              <a:t>111111</a:t>
            </a:r>
            <a:r>
              <a:rPr kumimoji="1" lang="zh-CN" altLang="en-US" sz="2400" b="1" dirty="0">
                <a:latin typeface="仿宋" panose="02010609060101010101" pitchFamily="49" charset="-122"/>
              </a:rPr>
              <a:t>1)</a:t>
            </a:r>
            <a:r>
              <a:rPr kumimoji="1" lang="zh-CN" altLang="en-US" sz="2400" b="1" baseline="30000" dirty="0">
                <a:latin typeface="仿宋" panose="02010609060101010101" pitchFamily="49" charset="-122"/>
                <a:sym typeface="Symbol" panose="05050102010706020507" pitchFamily="18" charset="2"/>
              </a:rPr>
              <a:t></a:t>
            </a:r>
            <a:r>
              <a:rPr kumimoji="1" lang="zh-CN" altLang="en-US" sz="2400" b="1" dirty="0">
                <a:latin typeface="仿宋" panose="02010609060101010101" pitchFamily="49" charset="-122"/>
              </a:rPr>
              <a:t>，周期为</a:t>
            </a:r>
            <a:r>
              <a:rPr kumimoji="1" lang="en-US" altLang="zh-CN" sz="2400" b="1" dirty="0">
                <a:latin typeface="仿宋" panose="02010609060101010101" pitchFamily="49" charset="-122"/>
              </a:rPr>
              <a:t>1</a:t>
            </a:r>
            <a:r>
              <a:rPr kumimoji="1" lang="zh-CN" altLang="en-US" sz="2400" b="1" dirty="0">
                <a:latin typeface="仿宋" panose="02010609060101010101" pitchFamily="49" charset="-122"/>
              </a:rPr>
              <a:t> </a:t>
            </a:r>
          </a:p>
        </p:txBody>
      </p:sp>
      <p:sp>
        <p:nvSpPr>
          <p:cNvPr id="59" name="Text Box 9">
            <a:extLst>
              <a:ext uri="{FF2B5EF4-FFF2-40B4-BE49-F238E27FC236}">
                <a16:creationId xmlns:a16="http://schemas.microsoft.com/office/drawing/2014/main" id="{DF97F573-347E-4E05-A38B-2F553E6B6446}"/>
              </a:ext>
            </a:extLst>
          </p:cNvPr>
          <p:cNvSpPr txBox="1">
            <a:spLocks noChangeArrowheads="1"/>
          </p:cNvSpPr>
          <p:nvPr/>
        </p:nvSpPr>
        <p:spPr bwMode="auto">
          <a:xfrm rot="5215917">
            <a:off x="-132556" y="3196431"/>
            <a:ext cx="4981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1" lang="zh-CN" altLang="en-US" sz="2400" b="1">
                <a:solidFill>
                  <a:srgbClr val="FF0000"/>
                </a:solidFill>
                <a:latin typeface="仿宋" panose="02010609060101010101" pitchFamily="49" charset="-122"/>
              </a:rPr>
              <a:t>特征函数决定了周期只能是</a:t>
            </a:r>
            <a:r>
              <a:rPr kumimoji="1" lang="en-US" altLang="zh-CN" sz="2400" b="1">
                <a:solidFill>
                  <a:srgbClr val="FF0000"/>
                </a:solidFill>
                <a:latin typeface="仿宋" panose="02010609060101010101" pitchFamily="49" charset="-122"/>
              </a:rPr>
              <a:t>7</a:t>
            </a:r>
            <a:r>
              <a:rPr kumimoji="1" lang="zh-CN" altLang="en-US" sz="2400" b="1">
                <a:solidFill>
                  <a:srgbClr val="FF0000"/>
                </a:solidFill>
                <a:latin typeface="仿宋" panose="02010609060101010101" pitchFamily="49" charset="-122"/>
              </a:rPr>
              <a:t>的因子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CFE6B3-DCFE-4122-866B-8C2A4DDF0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LFSR</a:t>
            </a:r>
            <a:r>
              <a:rPr lang="zh-CN" altLang="en-US" dirty="0"/>
              <a:t>的性质</a:t>
            </a: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908988C5-492D-463C-A6C8-DB8847A131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总是假定</a:t>
            </a:r>
            <a:r>
              <a:rPr lang="en-US" altLang="zh-CN" b="1" dirty="0">
                <a:solidFill>
                  <a:srgbClr val="FF0000"/>
                </a:solidFill>
              </a:rPr>
              <a:t>c</a:t>
            </a:r>
            <a:r>
              <a:rPr lang="en-US" altLang="zh-CN" b="1" baseline="-25000" dirty="0">
                <a:solidFill>
                  <a:srgbClr val="FF0000"/>
                </a:solidFill>
              </a:rPr>
              <a:t>1</a:t>
            </a:r>
            <a:r>
              <a:rPr lang="en-US" altLang="zh-CN" b="1" dirty="0">
                <a:solidFill>
                  <a:srgbClr val="FF0000"/>
                </a:solidFill>
              </a:rPr>
              <a:t>,c</a:t>
            </a:r>
            <a:r>
              <a:rPr lang="en-US" altLang="zh-CN" b="1" baseline="-25000" dirty="0">
                <a:solidFill>
                  <a:srgbClr val="FF0000"/>
                </a:solidFill>
              </a:rPr>
              <a:t>2</a:t>
            </a:r>
            <a:r>
              <a:rPr lang="en-US" altLang="zh-CN" b="1" dirty="0">
                <a:solidFill>
                  <a:srgbClr val="FF0000"/>
                </a:solidFill>
              </a:rPr>
              <a:t>,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  <a:r>
              <a:rPr lang="en-US" altLang="zh-CN" b="1" dirty="0">
                <a:solidFill>
                  <a:srgbClr val="FF0000"/>
                </a:solidFill>
              </a:rPr>
              <a:t>,</a:t>
            </a:r>
            <a:r>
              <a:rPr lang="en-US" altLang="zh-CN" b="1" dirty="0" err="1">
                <a:solidFill>
                  <a:srgbClr val="FF0000"/>
                </a:solidFill>
              </a:rPr>
              <a:t>c</a:t>
            </a:r>
            <a:r>
              <a:rPr lang="en-US" altLang="zh-CN" b="1" baseline="-25000" dirty="0" err="1">
                <a:solidFill>
                  <a:srgbClr val="FF0000"/>
                </a:solidFill>
              </a:rPr>
              <a:t>n</a:t>
            </a:r>
            <a:r>
              <a:rPr lang="zh-CN" altLang="en-US" b="1" dirty="0">
                <a:solidFill>
                  <a:srgbClr val="FF0000"/>
                </a:solidFill>
              </a:rPr>
              <a:t>中至少有一个不为0</a:t>
            </a:r>
            <a:r>
              <a:rPr lang="zh-CN" altLang="en-US" b="1" dirty="0"/>
              <a:t>，否则</a:t>
            </a:r>
            <a:r>
              <a:rPr lang="en-US" altLang="zh-CN" b="1" dirty="0"/>
              <a:t>f(a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,a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,</a:t>
            </a:r>
            <a:r>
              <a:rPr lang="en-US" altLang="zh-CN" b="1" dirty="0">
                <a:latin typeface="Arial" panose="020B0604020202020204" pitchFamily="34" charset="0"/>
              </a:rPr>
              <a:t>…</a:t>
            </a:r>
            <a:r>
              <a:rPr lang="en-US" altLang="zh-CN" b="1" dirty="0"/>
              <a:t>,a</a:t>
            </a:r>
            <a:r>
              <a:rPr lang="en-US" altLang="zh-CN" b="1" baseline="-25000" dirty="0"/>
              <a:t>n</a:t>
            </a:r>
            <a:r>
              <a:rPr lang="en-US" altLang="zh-CN" b="1" dirty="0"/>
              <a:t>)≡0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总是假定</a:t>
            </a:r>
            <a:r>
              <a:rPr lang="en-US" altLang="zh-CN" b="1" dirty="0" err="1">
                <a:solidFill>
                  <a:srgbClr val="FF0000"/>
                </a:solidFill>
              </a:rPr>
              <a:t>c</a:t>
            </a:r>
            <a:r>
              <a:rPr lang="en-US" altLang="zh-CN" b="1" baseline="-25000" dirty="0" err="1">
                <a:solidFill>
                  <a:srgbClr val="FF0000"/>
                </a:solidFill>
              </a:rPr>
              <a:t>n</a:t>
            </a:r>
            <a:r>
              <a:rPr lang="en-US" altLang="zh-CN" b="1" dirty="0">
                <a:solidFill>
                  <a:srgbClr val="FF0000"/>
                </a:solidFill>
              </a:rPr>
              <a:t>=1</a:t>
            </a:r>
            <a:r>
              <a:rPr lang="en-US" altLang="zh-CN" b="1" dirty="0"/>
              <a:t>。</a:t>
            </a:r>
          </a:p>
          <a:p>
            <a:pPr marL="287338" indent="-6350"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LFSR</a:t>
            </a:r>
            <a:r>
              <a:rPr lang="zh-CN" altLang="en-US" b="1" dirty="0">
                <a:solidFill>
                  <a:srgbClr val="FF0000"/>
                </a:solidFill>
              </a:rPr>
              <a:t>输出序列的性质：</a:t>
            </a:r>
            <a:r>
              <a:rPr lang="zh-CN" altLang="en-US" b="1" dirty="0"/>
              <a:t>完全由其反馈函数决定。</a:t>
            </a:r>
          </a:p>
          <a:p>
            <a:pPr marL="287338" indent="-6350"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n</a:t>
            </a:r>
            <a:r>
              <a:rPr lang="zh-CN" altLang="en-US" b="1" dirty="0">
                <a:solidFill>
                  <a:srgbClr val="FF0000"/>
                </a:solidFill>
              </a:rPr>
              <a:t>级</a:t>
            </a:r>
            <a:r>
              <a:rPr lang="en-US" altLang="zh-CN" b="1" dirty="0">
                <a:solidFill>
                  <a:srgbClr val="FF0000"/>
                </a:solidFill>
              </a:rPr>
              <a:t>LFSR</a:t>
            </a:r>
            <a:r>
              <a:rPr lang="zh-CN" altLang="en-US" b="1" dirty="0">
                <a:solidFill>
                  <a:srgbClr val="FF0000"/>
                </a:solidFill>
              </a:rPr>
              <a:t>状态数：</a:t>
            </a:r>
            <a:r>
              <a:rPr lang="zh-CN" altLang="en-US" b="1" dirty="0"/>
              <a:t>最多有2</a:t>
            </a:r>
            <a:r>
              <a:rPr lang="en-US" altLang="zh-CN" b="1" baseline="30000" dirty="0"/>
              <a:t>n</a:t>
            </a:r>
            <a:r>
              <a:rPr lang="zh-CN" altLang="en-US" b="1" dirty="0"/>
              <a:t>个 （</a:t>
            </a:r>
            <a:r>
              <a:rPr lang="en-US" altLang="zh-CN" b="1" dirty="0"/>
              <a:t> </a:t>
            </a:r>
            <a:r>
              <a:rPr lang="zh-CN" altLang="en-US" b="1" dirty="0"/>
              <a:t>向量</a:t>
            </a:r>
            <a:r>
              <a:rPr lang="en-US" altLang="zh-CN" b="1" dirty="0"/>
              <a:t>(a</a:t>
            </a:r>
            <a:r>
              <a:rPr lang="en-US" altLang="zh-CN" b="1" baseline="-25000" dirty="0"/>
              <a:t>1</a:t>
            </a:r>
            <a:r>
              <a:rPr lang="en-US" altLang="zh-CN" b="1" dirty="0"/>
              <a:t>,a</a:t>
            </a:r>
            <a:r>
              <a:rPr lang="en-US" altLang="zh-CN" b="1" baseline="-25000" dirty="0"/>
              <a:t>2</a:t>
            </a:r>
            <a:r>
              <a:rPr lang="en-US" altLang="zh-CN" b="1" dirty="0"/>
              <a:t>,</a:t>
            </a:r>
            <a:r>
              <a:rPr lang="en-US" altLang="zh-CN" b="1" dirty="0">
                <a:latin typeface="Arial" panose="020B0604020202020204" pitchFamily="34" charset="0"/>
              </a:rPr>
              <a:t>…</a:t>
            </a:r>
            <a:r>
              <a:rPr lang="en-US" altLang="zh-CN" b="1" dirty="0"/>
              <a:t>,a</a:t>
            </a:r>
            <a:r>
              <a:rPr lang="en-US" altLang="zh-CN" b="1" baseline="-25000" dirty="0"/>
              <a:t>n</a:t>
            </a:r>
            <a:r>
              <a:rPr lang="en-US" altLang="zh-CN" b="1" dirty="0"/>
              <a:t>) </a:t>
            </a:r>
            <a:r>
              <a:rPr lang="zh-CN" altLang="en-US" b="1" dirty="0"/>
              <a:t>个数）</a:t>
            </a:r>
          </a:p>
          <a:p>
            <a:pPr marL="287338" indent="-6350"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n</a:t>
            </a:r>
            <a:r>
              <a:rPr lang="zh-CN" altLang="en-US" b="1" dirty="0">
                <a:solidFill>
                  <a:srgbClr val="FF0000"/>
                </a:solidFill>
              </a:rPr>
              <a:t>级</a:t>
            </a:r>
            <a:r>
              <a:rPr lang="en-US" altLang="zh-CN" b="1" dirty="0">
                <a:solidFill>
                  <a:srgbClr val="FF0000"/>
                </a:solidFill>
              </a:rPr>
              <a:t>LFSR</a:t>
            </a:r>
            <a:r>
              <a:rPr lang="zh-CN" altLang="en-US" b="1" dirty="0">
                <a:solidFill>
                  <a:srgbClr val="FF0000"/>
                </a:solidFill>
              </a:rPr>
              <a:t>的状态周期：</a:t>
            </a:r>
            <a:r>
              <a:rPr lang="zh-CN" altLang="en-US" b="1" dirty="0"/>
              <a:t> </a:t>
            </a:r>
            <a:r>
              <a:rPr lang="zh-CN" altLang="en-US" b="1" dirty="0">
                <a:sym typeface="Symbol" pitchFamily="18" charset="2"/>
              </a:rPr>
              <a:t> </a:t>
            </a:r>
            <a:r>
              <a:rPr lang="zh-CN" altLang="en-US" b="1" dirty="0"/>
              <a:t>2</a:t>
            </a:r>
            <a:r>
              <a:rPr lang="en-US" altLang="zh-CN" b="1" baseline="30000" dirty="0"/>
              <a:t>n</a:t>
            </a:r>
            <a:r>
              <a:rPr lang="en-US" altLang="zh-CN" b="1" dirty="0"/>
              <a:t>-1</a:t>
            </a:r>
          </a:p>
          <a:p>
            <a:pPr marL="287338" indent="-6350"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输出序列的周期=状态周期</a:t>
            </a:r>
            <a:r>
              <a:rPr lang="zh-CN" altLang="en-US" b="1" dirty="0"/>
              <a:t>，</a:t>
            </a:r>
            <a:r>
              <a:rPr lang="zh-CN" altLang="en-US" b="1" dirty="0">
                <a:sym typeface="Symbol" pitchFamily="18" charset="2"/>
              </a:rPr>
              <a:t> </a:t>
            </a:r>
            <a:r>
              <a:rPr lang="zh-CN" altLang="en-US" b="1" dirty="0"/>
              <a:t>2</a:t>
            </a:r>
            <a:r>
              <a:rPr lang="en-US" altLang="zh-CN" b="1" baseline="30000" dirty="0"/>
              <a:t>n</a:t>
            </a:r>
            <a:r>
              <a:rPr lang="en-US" altLang="zh-CN" b="1" dirty="0"/>
              <a:t>-1</a:t>
            </a:r>
          </a:p>
          <a:p>
            <a:pPr marL="287338" indent="-6350" eaLnBrk="1" hangingPunct="1">
              <a:lnSpc>
                <a:spcPct val="120000"/>
              </a:lnSpc>
              <a:spcBef>
                <a:spcPct val="20000"/>
              </a:spcBef>
              <a:defRPr/>
            </a:pPr>
            <a:endParaRPr lang="en-US" altLang="zh-CN" b="1" dirty="0"/>
          </a:p>
          <a:p>
            <a:pPr marL="287338" indent="-6350" eaLnBrk="1" hangingPunct="1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b="1" dirty="0"/>
              <a:t>选择合适的反馈函数可使序列的周期达到最大值</a:t>
            </a:r>
            <a:r>
              <a:rPr lang="zh-CN" altLang="en-US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n</a:t>
            </a:r>
            <a:r>
              <a:rPr lang="en-US" altLang="zh-CN" b="1" dirty="0">
                <a:solidFill>
                  <a:srgbClr val="FF0000"/>
                </a:solidFill>
              </a:rPr>
              <a:t>-1 </a:t>
            </a:r>
            <a:r>
              <a:rPr lang="en-US" altLang="zh-CN" b="1" dirty="0"/>
              <a:t>，</a:t>
            </a:r>
            <a:r>
              <a:rPr lang="zh-CN" altLang="en-US" b="1" dirty="0">
                <a:solidFill>
                  <a:srgbClr val="FF0000"/>
                </a:solidFill>
              </a:rPr>
              <a:t>周期达到最大值的序列称为</a:t>
            </a:r>
            <a:r>
              <a:rPr lang="en-US" altLang="zh-CN" b="1" dirty="0">
                <a:solidFill>
                  <a:srgbClr val="FF0000"/>
                </a:solidFill>
              </a:rPr>
              <a:t>m</a:t>
            </a:r>
            <a:r>
              <a:rPr lang="zh-CN" altLang="en-US" b="1" dirty="0">
                <a:solidFill>
                  <a:srgbClr val="FF0000"/>
                </a:solidFill>
              </a:rPr>
              <a:t>序列</a:t>
            </a:r>
            <a:r>
              <a:rPr lang="zh-CN" altLang="en-US" b="1" dirty="0"/>
              <a:t>。</a:t>
            </a:r>
          </a:p>
          <a:p>
            <a:pPr indent="-6350" eaLnBrk="1" hangingPunct="1">
              <a:buFont typeface="Arial" panose="020B0604020202020204" pitchFamily="34" charset="0"/>
              <a:buNone/>
              <a:defRPr/>
            </a:pPr>
            <a:endParaRPr lang="zh-CN" altLang="en-US" b="1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83108A4-1496-4048-B0DC-0495D6992775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6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06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06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副标题 2">
            <a:extLst>
              <a:ext uri="{FF2B5EF4-FFF2-40B4-BE49-F238E27FC236}">
                <a16:creationId xmlns:a16="http://schemas.microsoft.com/office/drawing/2014/main" id="{B5F9C025-4E25-46AD-A4E0-3AFC4476B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048000"/>
            <a:ext cx="12192000" cy="790575"/>
          </a:xfrm>
        </p:spPr>
        <p:txBody>
          <a:bodyPr/>
          <a:lstStyle/>
          <a:p>
            <a:r>
              <a:rPr lang="en-US" altLang="zh-CN" sz="3600" b="1"/>
              <a:t>m-</a:t>
            </a:r>
            <a:r>
              <a:rPr lang="zh-CN" altLang="en-US" sz="3600" b="1"/>
              <a:t>序列</a:t>
            </a:r>
            <a:endParaRPr lang="en-US" altLang="zh-CN" sz="3600" b="1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B65A51BD-55AD-4D47-9685-FBA56D1888A3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>
            <a:extLst>
              <a:ext uri="{FF2B5EF4-FFF2-40B4-BE49-F238E27FC236}">
                <a16:creationId xmlns:a16="http://schemas.microsoft.com/office/drawing/2014/main" id="{020BA19C-97D1-4E0C-AB3C-30E538F8D5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>
            <a:normAutofit fontScale="90000"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3400" dirty="0"/>
              <a:t>线性移位寄存器的一元多项式表示</a:t>
            </a:r>
            <a:endParaRPr lang="zh-CN" altLang="en-US" sz="3000" dirty="0"/>
          </a:p>
        </p:txBody>
      </p:sp>
      <p:sp>
        <p:nvSpPr>
          <p:cNvPr id="303106" name="Rectangle 2">
            <a:extLst>
              <a:ext uri="{FF2B5EF4-FFF2-40B4-BE49-F238E27FC236}">
                <a16:creationId xmlns:a16="http://schemas.microsoft.com/office/drawing/2014/main" id="{52D07A8F-319A-40D9-9EA3-DE4380E61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075" y="1219200"/>
            <a:ext cx="10515600" cy="5010150"/>
          </a:xfrm>
        </p:spPr>
        <p:txBody>
          <a:bodyPr/>
          <a:lstStyle/>
          <a:p>
            <a:pPr indent="-6350" algn="just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/>
              <a:t>定义</a:t>
            </a:r>
            <a:r>
              <a:rPr lang="en-US" altLang="zh-CN" b="1" dirty="0"/>
              <a:t>3.1 </a:t>
            </a:r>
            <a:r>
              <a:rPr lang="zh-CN" altLang="en-US" b="1" dirty="0"/>
              <a:t>设</a:t>
            </a:r>
            <a:r>
              <a:rPr lang="en-US" altLang="zh-CN" b="1" dirty="0"/>
              <a:t>n</a:t>
            </a:r>
            <a:r>
              <a:rPr lang="zh-CN" altLang="en-US" b="1" dirty="0"/>
              <a:t>级线性移位寄存器的输出序列满足递推关系</a:t>
            </a:r>
          </a:p>
          <a:p>
            <a:pPr indent="-6350" algn="ctr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            </a:t>
            </a:r>
            <a:r>
              <a:rPr lang="en-US" altLang="zh-CN" b="1" dirty="0" err="1">
                <a:solidFill>
                  <a:srgbClr val="FF0000"/>
                </a:solidFill>
              </a:rPr>
              <a:t>a</a:t>
            </a:r>
            <a:r>
              <a:rPr lang="en-US" altLang="zh-CN" b="1" baseline="-25000" dirty="0" err="1">
                <a:solidFill>
                  <a:srgbClr val="FF0000"/>
                </a:solidFill>
              </a:rPr>
              <a:t>n+k</a:t>
            </a:r>
            <a:r>
              <a:rPr lang="en-US" altLang="zh-CN" b="1" dirty="0">
                <a:solidFill>
                  <a:srgbClr val="FF0000"/>
                </a:solidFill>
              </a:rPr>
              <a:t>=c</a:t>
            </a:r>
            <a:r>
              <a:rPr lang="en-US" altLang="zh-CN" b="1" baseline="-25000" dirty="0">
                <a:solidFill>
                  <a:srgbClr val="FF0000"/>
                </a:solidFill>
              </a:rPr>
              <a:t>1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en-US" altLang="zh-CN" b="1" baseline="-25000" dirty="0">
                <a:solidFill>
                  <a:srgbClr val="FF0000"/>
                </a:solidFill>
              </a:rPr>
              <a:t>n+k-1</a:t>
            </a:r>
            <a:r>
              <a:rPr lang="en-US" altLang="zh-CN" b="1" dirty="0">
                <a:solidFill>
                  <a:srgbClr val="FF0000"/>
                </a:solidFill>
              </a:rPr>
              <a:t>⊕c</a:t>
            </a:r>
            <a:r>
              <a:rPr lang="en-US" altLang="zh-CN" b="1" baseline="-25000" dirty="0">
                <a:solidFill>
                  <a:srgbClr val="FF0000"/>
                </a:solidFill>
              </a:rPr>
              <a:t>2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en-US" altLang="zh-CN" b="1" baseline="-25000" dirty="0">
                <a:solidFill>
                  <a:srgbClr val="FF0000"/>
                </a:solidFill>
              </a:rPr>
              <a:t>n+k-2</a:t>
            </a:r>
            <a:r>
              <a:rPr lang="en-US" altLang="zh-CN" b="1" dirty="0">
                <a:solidFill>
                  <a:srgbClr val="FF0000"/>
                </a:solidFill>
              </a:rPr>
              <a:t> ⊕ 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  <a:r>
              <a:rPr lang="en-US" altLang="zh-CN" b="1" dirty="0">
                <a:solidFill>
                  <a:srgbClr val="FF0000"/>
                </a:solidFill>
              </a:rPr>
              <a:t> ⊕ </a:t>
            </a:r>
            <a:r>
              <a:rPr lang="en-US" altLang="zh-CN" b="1" dirty="0" err="1">
                <a:solidFill>
                  <a:srgbClr val="FF0000"/>
                </a:solidFill>
              </a:rPr>
              <a:t>c</a:t>
            </a:r>
            <a:r>
              <a:rPr lang="en-US" altLang="zh-CN" b="1" baseline="-25000" dirty="0" err="1">
                <a:solidFill>
                  <a:srgbClr val="FF0000"/>
                </a:solidFill>
              </a:rPr>
              <a:t>n</a:t>
            </a:r>
            <a:r>
              <a:rPr lang="en-US" altLang="zh-CN" b="1" dirty="0" err="1">
                <a:solidFill>
                  <a:srgbClr val="FF0000"/>
                </a:solidFill>
              </a:rPr>
              <a:t>a</a:t>
            </a:r>
            <a:r>
              <a:rPr lang="en-US" altLang="zh-CN" b="1" baseline="-25000" dirty="0" err="1">
                <a:solidFill>
                  <a:srgbClr val="FF0000"/>
                </a:solidFill>
              </a:rPr>
              <a:t>k</a:t>
            </a:r>
            <a:r>
              <a:rPr lang="en-US" altLang="zh-CN" b="1" dirty="0">
                <a:solidFill>
                  <a:srgbClr val="FF0000"/>
                </a:solidFill>
              </a:rPr>
              <a:t>               (*)</a:t>
            </a:r>
          </a:p>
          <a:p>
            <a:pPr indent="-6350" algn="just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/>
              <a:t>用延迟算子 </a:t>
            </a:r>
            <a:r>
              <a:rPr lang="en-US" altLang="zh-CN" b="1" dirty="0"/>
              <a:t>D(</a:t>
            </a:r>
            <a:r>
              <a:rPr lang="en-US" altLang="zh-CN" b="1" dirty="0" err="1"/>
              <a:t>Da</a:t>
            </a:r>
            <a:r>
              <a:rPr lang="en-US" altLang="zh-CN" b="1" baseline="-25000" dirty="0" err="1"/>
              <a:t>k</a:t>
            </a:r>
            <a:r>
              <a:rPr lang="en-US" altLang="zh-CN" b="1" dirty="0"/>
              <a:t>=a</a:t>
            </a:r>
            <a:r>
              <a:rPr lang="en-US" altLang="zh-CN" b="1" baseline="-25000" dirty="0"/>
              <a:t>k-1</a:t>
            </a:r>
            <a:r>
              <a:rPr lang="en-US" altLang="zh-CN" b="1" dirty="0"/>
              <a:t>) </a:t>
            </a:r>
            <a:r>
              <a:rPr lang="zh-CN" altLang="en-US" b="1" dirty="0"/>
              <a:t>作为未定元，给出的反馈多项式为：</a:t>
            </a:r>
            <a:endParaRPr lang="en-US" altLang="zh-CN" b="1" dirty="0"/>
          </a:p>
          <a:p>
            <a:pPr indent="-6350" algn="ctr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66"/>
                </a:solidFill>
              </a:rPr>
              <a:t>p(D)=1+c</a:t>
            </a:r>
            <a:r>
              <a:rPr lang="en-US" altLang="zh-CN" b="1" baseline="-25000" dirty="0">
                <a:solidFill>
                  <a:srgbClr val="000066"/>
                </a:solidFill>
              </a:rPr>
              <a:t>1</a:t>
            </a:r>
            <a:r>
              <a:rPr lang="en-US" altLang="zh-CN" b="1" dirty="0">
                <a:solidFill>
                  <a:srgbClr val="000066"/>
                </a:solidFill>
              </a:rPr>
              <a:t>D+</a:t>
            </a:r>
            <a:r>
              <a:rPr lang="en-US" altLang="zh-CN" b="1" dirty="0">
                <a:solidFill>
                  <a:srgbClr val="000066"/>
                </a:solidFill>
                <a:latin typeface="Arial" panose="020B0604020202020204" pitchFamily="34" charset="0"/>
              </a:rPr>
              <a:t>…</a:t>
            </a:r>
            <a:r>
              <a:rPr lang="en-US" altLang="zh-CN" b="1" dirty="0">
                <a:solidFill>
                  <a:srgbClr val="000066"/>
                </a:solidFill>
              </a:rPr>
              <a:t>＋c</a:t>
            </a:r>
            <a:r>
              <a:rPr lang="en-US" altLang="zh-CN" b="1" baseline="-25000" dirty="0">
                <a:solidFill>
                  <a:srgbClr val="000066"/>
                </a:solidFill>
              </a:rPr>
              <a:t>n-1</a:t>
            </a:r>
            <a:r>
              <a:rPr lang="en-US" altLang="zh-CN" b="1" dirty="0">
                <a:solidFill>
                  <a:srgbClr val="000066"/>
                </a:solidFill>
              </a:rPr>
              <a:t>D</a:t>
            </a:r>
            <a:r>
              <a:rPr lang="en-US" altLang="zh-CN" b="1" baseline="30000" dirty="0">
                <a:solidFill>
                  <a:srgbClr val="000066"/>
                </a:solidFill>
              </a:rPr>
              <a:t>n-1</a:t>
            </a:r>
            <a:r>
              <a:rPr lang="zh-CN" altLang="en-US" b="1" dirty="0">
                <a:solidFill>
                  <a:srgbClr val="000066"/>
                </a:solidFill>
              </a:rPr>
              <a:t>＋</a:t>
            </a:r>
            <a:r>
              <a:rPr lang="en-US" altLang="zh-CN" b="1" dirty="0" err="1">
                <a:solidFill>
                  <a:srgbClr val="000066"/>
                </a:solidFill>
              </a:rPr>
              <a:t>c</a:t>
            </a:r>
            <a:r>
              <a:rPr lang="en-US" altLang="zh-CN" b="1" baseline="-25000" dirty="0" err="1">
                <a:solidFill>
                  <a:srgbClr val="000066"/>
                </a:solidFill>
              </a:rPr>
              <a:t>n</a:t>
            </a:r>
            <a:r>
              <a:rPr lang="en-US" altLang="zh-CN" b="1" dirty="0" err="1">
                <a:solidFill>
                  <a:srgbClr val="000066"/>
                </a:solidFill>
              </a:rPr>
              <a:t>D</a:t>
            </a:r>
            <a:r>
              <a:rPr lang="en-US" altLang="zh-CN" b="1" baseline="30000" dirty="0" err="1">
                <a:solidFill>
                  <a:srgbClr val="000066"/>
                </a:solidFill>
              </a:rPr>
              <a:t>n</a:t>
            </a:r>
            <a:endParaRPr lang="en-US" altLang="zh-CN" b="1" baseline="30000" dirty="0">
              <a:solidFill>
                <a:srgbClr val="000066"/>
              </a:solidFill>
            </a:endParaRPr>
          </a:p>
          <a:p>
            <a:pPr indent="-6350" algn="ctr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000066"/>
                </a:solidFill>
              </a:rPr>
              <a:t>（即 </a:t>
            </a:r>
            <a:r>
              <a:rPr lang="en-US" altLang="zh-CN" b="1" dirty="0">
                <a:solidFill>
                  <a:srgbClr val="000066"/>
                </a:solidFill>
              </a:rPr>
              <a:t>p(D) (</a:t>
            </a:r>
            <a:r>
              <a:rPr lang="en-US" altLang="zh-CN" b="1" dirty="0" err="1">
                <a:solidFill>
                  <a:srgbClr val="000066"/>
                </a:solidFill>
              </a:rPr>
              <a:t>a</a:t>
            </a:r>
            <a:r>
              <a:rPr lang="en-US" altLang="zh-CN" b="1" baseline="-25000" dirty="0" err="1">
                <a:solidFill>
                  <a:srgbClr val="000066"/>
                </a:solidFill>
              </a:rPr>
              <a:t>n+k</a:t>
            </a:r>
            <a:r>
              <a:rPr lang="en-US" altLang="zh-CN" b="1" dirty="0">
                <a:solidFill>
                  <a:srgbClr val="000066"/>
                </a:solidFill>
              </a:rPr>
              <a:t>) = (1+c</a:t>
            </a:r>
            <a:r>
              <a:rPr lang="en-US" altLang="zh-CN" b="1" baseline="-25000" dirty="0">
                <a:solidFill>
                  <a:srgbClr val="000066"/>
                </a:solidFill>
              </a:rPr>
              <a:t>1</a:t>
            </a:r>
            <a:r>
              <a:rPr lang="en-US" altLang="zh-CN" b="1" dirty="0">
                <a:solidFill>
                  <a:srgbClr val="000066"/>
                </a:solidFill>
              </a:rPr>
              <a:t>D+</a:t>
            </a:r>
            <a:r>
              <a:rPr lang="en-US" altLang="zh-CN" b="1" dirty="0">
                <a:solidFill>
                  <a:srgbClr val="000066"/>
                </a:solidFill>
                <a:latin typeface="Arial" panose="020B0604020202020204" pitchFamily="34" charset="0"/>
              </a:rPr>
              <a:t>…</a:t>
            </a:r>
            <a:r>
              <a:rPr lang="en-US" altLang="zh-CN" b="1" dirty="0">
                <a:solidFill>
                  <a:srgbClr val="000066"/>
                </a:solidFill>
              </a:rPr>
              <a:t>＋c</a:t>
            </a:r>
            <a:r>
              <a:rPr lang="en-US" altLang="zh-CN" b="1" baseline="-25000" dirty="0">
                <a:solidFill>
                  <a:srgbClr val="000066"/>
                </a:solidFill>
              </a:rPr>
              <a:t>n-1</a:t>
            </a:r>
            <a:r>
              <a:rPr lang="en-US" altLang="zh-CN" b="1" dirty="0">
                <a:solidFill>
                  <a:srgbClr val="000066"/>
                </a:solidFill>
              </a:rPr>
              <a:t>D</a:t>
            </a:r>
            <a:r>
              <a:rPr lang="en-US" altLang="zh-CN" b="1" baseline="30000" dirty="0">
                <a:solidFill>
                  <a:srgbClr val="000066"/>
                </a:solidFill>
              </a:rPr>
              <a:t>n-1</a:t>
            </a:r>
            <a:r>
              <a:rPr lang="zh-CN" altLang="en-US" b="1" dirty="0">
                <a:solidFill>
                  <a:srgbClr val="000066"/>
                </a:solidFill>
              </a:rPr>
              <a:t>＋</a:t>
            </a:r>
            <a:r>
              <a:rPr lang="en-US" altLang="zh-CN" b="1" dirty="0" err="1">
                <a:solidFill>
                  <a:srgbClr val="000066"/>
                </a:solidFill>
              </a:rPr>
              <a:t>c</a:t>
            </a:r>
            <a:r>
              <a:rPr lang="en-US" altLang="zh-CN" b="1" baseline="-25000" dirty="0" err="1">
                <a:solidFill>
                  <a:srgbClr val="000066"/>
                </a:solidFill>
              </a:rPr>
              <a:t>n</a:t>
            </a:r>
            <a:r>
              <a:rPr lang="en-US" altLang="zh-CN" b="1" dirty="0" err="1">
                <a:solidFill>
                  <a:srgbClr val="000066"/>
                </a:solidFill>
              </a:rPr>
              <a:t>D</a:t>
            </a:r>
            <a:r>
              <a:rPr lang="en-US" altLang="zh-CN" b="1" baseline="30000" dirty="0" err="1">
                <a:solidFill>
                  <a:srgbClr val="000066"/>
                </a:solidFill>
              </a:rPr>
              <a:t>n</a:t>
            </a:r>
            <a:r>
              <a:rPr lang="en-US" altLang="zh-CN" b="1" dirty="0">
                <a:solidFill>
                  <a:srgbClr val="000066"/>
                </a:solidFill>
              </a:rPr>
              <a:t>)(</a:t>
            </a:r>
            <a:r>
              <a:rPr lang="en-US" altLang="zh-CN" b="1" dirty="0" err="1">
                <a:solidFill>
                  <a:srgbClr val="000066"/>
                </a:solidFill>
              </a:rPr>
              <a:t>a</a:t>
            </a:r>
            <a:r>
              <a:rPr lang="en-US" altLang="zh-CN" b="1" baseline="-25000" dirty="0" err="1">
                <a:solidFill>
                  <a:srgbClr val="000066"/>
                </a:solidFill>
              </a:rPr>
              <a:t>n+k</a:t>
            </a:r>
            <a:r>
              <a:rPr lang="en-US" altLang="zh-CN" b="1" dirty="0">
                <a:solidFill>
                  <a:srgbClr val="000066"/>
                </a:solidFill>
              </a:rPr>
              <a:t>) </a:t>
            </a:r>
            <a:r>
              <a:rPr lang="zh-CN" altLang="en-US" b="1" dirty="0">
                <a:solidFill>
                  <a:srgbClr val="000066"/>
                </a:solidFill>
              </a:rPr>
              <a:t>）</a:t>
            </a:r>
            <a:endParaRPr lang="zh-CN" altLang="en-US" b="1" dirty="0"/>
          </a:p>
          <a:p>
            <a:pPr indent="-6350" algn="just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/>
              <a:t>这种递推关系可用一个一元高次多项式</a:t>
            </a:r>
          </a:p>
          <a:p>
            <a:pPr indent="-6350" algn="ctr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66"/>
                </a:solidFill>
              </a:rPr>
              <a:t>p(x)=1+c</a:t>
            </a:r>
            <a:r>
              <a:rPr lang="en-US" altLang="zh-CN" b="1" baseline="-25000" dirty="0">
                <a:solidFill>
                  <a:srgbClr val="000066"/>
                </a:solidFill>
              </a:rPr>
              <a:t>1</a:t>
            </a:r>
            <a:r>
              <a:rPr lang="en-US" altLang="zh-CN" b="1" dirty="0">
                <a:solidFill>
                  <a:srgbClr val="000066"/>
                </a:solidFill>
              </a:rPr>
              <a:t>x+</a:t>
            </a:r>
            <a:r>
              <a:rPr lang="en-US" altLang="zh-CN" b="1" dirty="0">
                <a:solidFill>
                  <a:srgbClr val="000066"/>
                </a:solidFill>
                <a:latin typeface="Arial" panose="020B0604020202020204" pitchFamily="34" charset="0"/>
              </a:rPr>
              <a:t>…</a:t>
            </a:r>
            <a:r>
              <a:rPr lang="en-US" altLang="zh-CN" b="1" dirty="0">
                <a:solidFill>
                  <a:srgbClr val="000066"/>
                </a:solidFill>
              </a:rPr>
              <a:t>＋c</a:t>
            </a:r>
            <a:r>
              <a:rPr lang="en-US" altLang="zh-CN" b="1" baseline="-25000" dirty="0">
                <a:solidFill>
                  <a:srgbClr val="000066"/>
                </a:solidFill>
              </a:rPr>
              <a:t>n-1</a:t>
            </a:r>
            <a:r>
              <a:rPr lang="en-US" altLang="zh-CN" b="1" dirty="0">
                <a:solidFill>
                  <a:srgbClr val="000066"/>
                </a:solidFill>
              </a:rPr>
              <a:t>x</a:t>
            </a:r>
            <a:r>
              <a:rPr lang="en-US" altLang="zh-CN" b="1" baseline="30000" dirty="0">
                <a:solidFill>
                  <a:srgbClr val="000066"/>
                </a:solidFill>
              </a:rPr>
              <a:t>n-1</a:t>
            </a:r>
            <a:r>
              <a:rPr lang="zh-CN" altLang="en-US" b="1" dirty="0">
                <a:solidFill>
                  <a:srgbClr val="000066"/>
                </a:solidFill>
              </a:rPr>
              <a:t>＋</a:t>
            </a:r>
            <a:r>
              <a:rPr lang="en-US" altLang="zh-CN" b="1" dirty="0" err="1">
                <a:solidFill>
                  <a:srgbClr val="000066"/>
                </a:solidFill>
              </a:rPr>
              <a:t>c</a:t>
            </a:r>
            <a:r>
              <a:rPr lang="en-US" altLang="zh-CN" b="1" baseline="-25000" dirty="0" err="1">
                <a:solidFill>
                  <a:srgbClr val="000066"/>
                </a:solidFill>
              </a:rPr>
              <a:t>n</a:t>
            </a:r>
            <a:r>
              <a:rPr lang="en-US" altLang="zh-CN" b="1" dirty="0" err="1">
                <a:solidFill>
                  <a:srgbClr val="000066"/>
                </a:solidFill>
              </a:rPr>
              <a:t>x</a:t>
            </a:r>
            <a:r>
              <a:rPr lang="en-US" altLang="zh-CN" b="1" baseline="30000" dirty="0" err="1">
                <a:solidFill>
                  <a:srgbClr val="000066"/>
                </a:solidFill>
              </a:rPr>
              <a:t>n</a:t>
            </a:r>
            <a:endParaRPr lang="en-US" altLang="zh-CN" b="1" baseline="30000" dirty="0">
              <a:solidFill>
                <a:srgbClr val="000066"/>
              </a:solidFill>
            </a:endParaRPr>
          </a:p>
          <a:p>
            <a:pPr indent="-6350" algn="just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/>
              <a:t>表示，称这个多项式为</a:t>
            </a:r>
            <a:r>
              <a:rPr lang="en-US" altLang="zh-CN" b="1" dirty="0">
                <a:solidFill>
                  <a:srgbClr val="FF0000"/>
                </a:solidFill>
              </a:rPr>
              <a:t>LFSR</a:t>
            </a:r>
            <a:r>
              <a:rPr lang="zh-CN" altLang="en-US" b="1" dirty="0">
                <a:solidFill>
                  <a:srgbClr val="FF0000"/>
                </a:solidFill>
              </a:rPr>
              <a:t>的特征多项式。</a:t>
            </a:r>
          </a:p>
          <a:p>
            <a:pPr indent="-6350" algn="just" eaLnBrk="1" hangingPunct="1">
              <a:buFont typeface="Arial" panose="020B0604020202020204" pitchFamily="34" charset="0"/>
              <a:buNone/>
            </a:pP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3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3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3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3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3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31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3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31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3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31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3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31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03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310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3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310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90" name="图片 1">
            <a:extLst>
              <a:ext uri="{FF2B5EF4-FFF2-40B4-BE49-F238E27FC236}">
                <a16:creationId xmlns:a16="http://schemas.microsoft.com/office/drawing/2014/main" id="{E7BB8946-1C6C-47C8-9EA3-9A87742AB3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00200"/>
            <a:ext cx="9802813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930F0C95-48D1-4D45-B2B2-3CB1C488E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关于特征多项式的解释</a:t>
            </a:r>
          </a:p>
        </p:txBody>
      </p:sp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3E3F7B-694B-4900-9340-111996EA7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生成函数</a:t>
            </a:r>
          </a:p>
        </p:txBody>
      </p:sp>
      <p:sp>
        <p:nvSpPr>
          <p:cNvPr id="115715" name="Rectangle 1026">
            <a:extLst>
              <a:ext uri="{FF2B5EF4-FFF2-40B4-BE49-F238E27FC236}">
                <a16:creationId xmlns:a16="http://schemas.microsoft.com/office/drawing/2014/main" id="{24440389-29F3-4CFA-B2D5-67291B815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 indent="-6350" algn="just" eaLnBrk="1" hangingPunct="1">
              <a:buFont typeface="Arial" panose="020B0604020202020204" pitchFamily="34" charset="0"/>
              <a:buNone/>
            </a:pPr>
            <a:r>
              <a:rPr lang="zh-CN" altLang="en-US" b="1"/>
              <a:t>定义</a:t>
            </a:r>
            <a:r>
              <a:rPr lang="en-US" altLang="zh-CN" b="1"/>
              <a:t>3.2 </a:t>
            </a:r>
            <a:r>
              <a:rPr lang="zh-CN" altLang="en-US" b="1"/>
              <a:t>给定序列{</a:t>
            </a:r>
            <a:r>
              <a:rPr lang="en-US" altLang="zh-CN" b="1"/>
              <a:t>a</a:t>
            </a:r>
            <a:r>
              <a:rPr lang="en-US" altLang="zh-CN" b="1" baseline="-25000"/>
              <a:t>i</a:t>
            </a:r>
            <a:r>
              <a:rPr lang="en-US" altLang="zh-CN" b="1"/>
              <a:t>}，</a:t>
            </a:r>
            <a:r>
              <a:rPr lang="zh-CN" altLang="en-US" b="1"/>
              <a:t>幂级数</a:t>
            </a:r>
          </a:p>
          <a:p>
            <a:pPr indent="-6350" algn="just" eaLnBrk="1" hangingPunct="1">
              <a:buFont typeface="Arial" panose="020B0604020202020204" pitchFamily="34" charset="0"/>
              <a:buNone/>
            </a:pPr>
            <a:endParaRPr lang="zh-CN" altLang="en-US" b="1"/>
          </a:p>
          <a:p>
            <a:pPr indent="-6350" algn="just" eaLnBrk="1" hangingPunct="1">
              <a:buFont typeface="Arial" panose="020B0604020202020204" pitchFamily="34" charset="0"/>
              <a:buNone/>
            </a:pPr>
            <a:endParaRPr lang="zh-CN" altLang="en-US" b="1"/>
          </a:p>
          <a:p>
            <a:pPr indent="-6350" algn="ctr" eaLnBrk="1" hangingPunct="1">
              <a:buFont typeface="Arial" panose="020B0604020202020204" pitchFamily="34" charset="0"/>
              <a:buNone/>
            </a:pPr>
            <a:endParaRPr lang="en-US" altLang="zh-CN" b="1" baseline="30000"/>
          </a:p>
          <a:p>
            <a:pPr indent="-6350" algn="just" eaLnBrk="1" hangingPunct="1">
              <a:buFont typeface="Arial" panose="020B0604020202020204" pitchFamily="34" charset="0"/>
              <a:buNone/>
            </a:pPr>
            <a:r>
              <a:rPr lang="zh-CN" altLang="en-US" b="1"/>
              <a:t>称为该序列的</a:t>
            </a:r>
            <a:r>
              <a:rPr lang="zh-CN" altLang="en-US" b="1">
                <a:solidFill>
                  <a:srgbClr val="FF0000"/>
                </a:solidFill>
              </a:rPr>
              <a:t>生成函数</a:t>
            </a:r>
            <a:r>
              <a:rPr lang="zh-CN" altLang="en-US" b="1"/>
              <a:t>。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/>
              <a:t>	</a:t>
            </a:r>
            <a:endParaRPr lang="zh-CN" altLang="en-US" b="1">
              <a:latin typeface="宋体" panose="02010600030101010101" pitchFamily="2" charset="-122"/>
            </a:endParaRPr>
          </a:p>
        </p:txBody>
      </p:sp>
      <p:graphicFrame>
        <p:nvGraphicFramePr>
          <p:cNvPr id="115716" name="对象 2">
            <a:extLst>
              <a:ext uri="{FF2B5EF4-FFF2-40B4-BE49-F238E27FC236}">
                <a16:creationId xmlns:a16="http://schemas.microsoft.com/office/drawing/2014/main" id="{C69C49DF-B453-4679-A331-4D564DA1E8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00488" y="1985963"/>
          <a:ext cx="3189287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768" name="Formula" r:id="rId4" imgW="1090930" imgH="342900" progId="Equation.Ribbit">
                  <p:embed/>
                </p:oleObj>
              </mc:Choice>
              <mc:Fallback>
                <p:oleObj name="Formula" r:id="rId4" imgW="1090930" imgH="342900" progId="Equation.Ribbit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0488" y="1985963"/>
                        <a:ext cx="3189287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DFBE167-A6B5-4C2F-9C4A-A94CBD0FA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定义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G(p(x))</a:t>
            </a:r>
            <a:endParaRPr lang="zh-CN" altLang="en-US" dirty="0"/>
          </a:p>
        </p:txBody>
      </p:sp>
      <p:sp>
        <p:nvSpPr>
          <p:cNvPr id="117763" name="Rectangle 1026">
            <a:extLst>
              <a:ext uri="{FF2B5EF4-FFF2-40B4-BE49-F238E27FC236}">
                <a16:creationId xmlns:a16="http://schemas.microsoft.com/office/drawing/2014/main" id="{25F79EEB-655E-4EB0-A4D2-BDEBFB121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033463"/>
            <a:ext cx="10758487" cy="5011737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根据初始状态的不同，由递推关系(*)生成的非恒零的序列有2</a:t>
            </a:r>
            <a:r>
              <a:rPr lang="en-US" altLang="zh-CN" b="1" baseline="30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-1</a:t>
            </a:r>
            <a:r>
              <a:rPr lang="zh-CN" altLang="en-US" b="1">
                <a:latin typeface="Times New Roman" panose="02020603050405020304" pitchFamily="18" charset="0"/>
              </a:rPr>
              <a:t>个，记这2</a:t>
            </a:r>
            <a:r>
              <a:rPr lang="en-US" altLang="zh-CN" b="1" baseline="30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-1</a:t>
            </a:r>
            <a:r>
              <a:rPr lang="zh-CN" altLang="en-US" b="1">
                <a:latin typeface="Times New Roman" panose="02020603050405020304" pitchFamily="18" charset="0"/>
              </a:rPr>
              <a:t>个非零序列的全体为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G(p(x))</a:t>
            </a:r>
            <a:r>
              <a:rPr lang="en-US" altLang="zh-CN" b="1"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430029-E454-4800-9705-BC6B0744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19811" name="内容占位符 2">
            <a:extLst>
              <a:ext uri="{FF2B5EF4-FFF2-40B4-BE49-F238E27FC236}">
                <a16:creationId xmlns:a16="http://schemas.microsoft.com/office/drawing/2014/main" id="{17CB0E1D-15CF-4F03-B18E-3B597DEE6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latin typeface="Times New Roman" panose="02020603050405020304" pitchFamily="18" charset="0"/>
              </a:rPr>
              <a:t>3.1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)=1+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+…+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n-1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n-1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GF(2)</a:t>
            </a:r>
            <a:r>
              <a:rPr lang="zh-CN" altLang="en-US" dirty="0">
                <a:latin typeface="Times New Roman" panose="02020603050405020304" pitchFamily="18" charset="0"/>
              </a:rPr>
              <a:t>上的多项式，</a:t>
            </a:r>
            <a:r>
              <a:rPr lang="en-US" altLang="zh-CN" dirty="0">
                <a:latin typeface="Times New Roman" panose="02020603050405020304" pitchFamily="18" charset="0"/>
              </a:rPr>
              <a:t>G(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  <a:r>
              <a:rPr lang="zh-CN" altLang="en-US" dirty="0">
                <a:latin typeface="Times New Roman" panose="02020603050405020304" pitchFamily="18" charset="0"/>
              </a:rPr>
              <a:t>中任一序列{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的生成函数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满足：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其中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graphicFrame>
        <p:nvGraphicFramePr>
          <p:cNvPr id="119812" name="对象 3">
            <a:extLst>
              <a:ext uri="{FF2B5EF4-FFF2-40B4-BE49-F238E27FC236}">
                <a16:creationId xmlns:a16="http://schemas.microsoft.com/office/drawing/2014/main" id="{FEE14F16-1C93-4D06-82C1-03F9E1A628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2743200"/>
          <a:ext cx="2547938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6" name="Formula" r:id="rId3" imgW="749300" imgH="251460" progId="Equation.Ribbit">
                  <p:embed/>
                </p:oleObj>
              </mc:Choice>
              <mc:Fallback>
                <p:oleObj name="Formula" r:id="rId3" imgW="749300" imgH="251460" progId="Equation.Ribbit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743200"/>
                        <a:ext cx="2547938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3" name="对象 4">
            <a:extLst>
              <a:ext uri="{FF2B5EF4-FFF2-40B4-BE49-F238E27FC236}">
                <a16:creationId xmlns:a16="http://schemas.microsoft.com/office/drawing/2014/main" id="{43E0DE02-FB56-420A-91C6-4039665C85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62375" y="4054475"/>
          <a:ext cx="48482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917" name="Formula" r:id="rId5" imgW="1959610" imgH="389890" progId="Equation.Ribbit">
                  <p:embed/>
                </p:oleObj>
              </mc:Choice>
              <mc:Fallback>
                <p:oleObj name="Formula" r:id="rId5" imgW="1959610" imgH="389890" progId="Equation.Ribbit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375" y="4054475"/>
                        <a:ext cx="48482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B042FDF-CC11-461C-8C13-59195F1C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定理</a:t>
            </a:r>
            <a:r>
              <a:rPr lang="en-US" altLang="zh-CN" dirty="0"/>
              <a:t>3.1</a:t>
            </a:r>
            <a:r>
              <a:rPr lang="zh-CN" altLang="en-US" dirty="0"/>
              <a:t>的证明</a:t>
            </a: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9111AC21-8E61-49D7-A5C1-AD731ED76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8238"/>
            <a:ext cx="10515600" cy="4581525"/>
          </a:xfrm>
        </p:spPr>
        <p:txBody>
          <a:bodyPr/>
          <a:lstStyle/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证明： 在等式</a:t>
            </a:r>
            <a:endParaRPr lang="en-US" altLang="zh-CN" b="1">
              <a:latin typeface="Times New Roman" panose="02020603050405020304" pitchFamily="18" charset="0"/>
            </a:endParaRP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            a</a:t>
            </a:r>
            <a:r>
              <a:rPr lang="en-US" altLang="zh-CN" b="1" baseline="-25000">
                <a:latin typeface="Times New Roman" panose="02020603050405020304" pitchFamily="18" charset="0"/>
              </a:rPr>
              <a:t>n+1</a:t>
            </a:r>
            <a:r>
              <a:rPr lang="en-US" altLang="zh-CN" b="1">
                <a:latin typeface="Times New Roman" panose="02020603050405020304" pitchFamily="18" charset="0"/>
              </a:rPr>
              <a:t>=c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   c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n-1     </a:t>
            </a:r>
            <a:r>
              <a:rPr lang="en-US" altLang="zh-CN" b="1">
                <a:latin typeface="Times New Roman" panose="02020603050405020304" pitchFamily="18" charset="0"/>
              </a:rPr>
              <a:t>…    c</a:t>
            </a:r>
            <a:r>
              <a:rPr lang="en-US" altLang="zh-CN" b="1" baseline="-25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 baseline="-25000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</a:rPr>
              <a:t>           a</a:t>
            </a:r>
            <a:r>
              <a:rPr lang="en-US" altLang="zh-CN" b="1" baseline="-25000">
                <a:latin typeface="Times New Roman" panose="02020603050405020304" pitchFamily="18" charset="0"/>
              </a:rPr>
              <a:t>n+2</a:t>
            </a:r>
            <a:r>
              <a:rPr lang="en-US" altLang="zh-CN" b="1">
                <a:latin typeface="Times New Roman" panose="02020603050405020304" pitchFamily="18" charset="0"/>
              </a:rPr>
              <a:t>=c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n+1     </a:t>
            </a:r>
            <a:r>
              <a:rPr lang="en-US" altLang="zh-CN" b="1">
                <a:latin typeface="Times New Roman" panose="02020603050405020304" pitchFamily="18" charset="0"/>
              </a:rPr>
              <a:t>c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n       </a:t>
            </a:r>
            <a:r>
              <a:rPr lang="en-US" altLang="zh-CN" b="1">
                <a:latin typeface="Times New Roman" panose="02020603050405020304" pitchFamily="18" charset="0"/>
              </a:rPr>
              <a:t>…    c</a:t>
            </a:r>
            <a:r>
              <a:rPr lang="en-US" altLang="zh-CN" b="1" baseline="-25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		   …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endParaRPr lang="zh-CN" altLang="en-US" b="1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836" name="Object 3">
                <a:extLst>
                  <a:ext uri="{FF2B5EF4-FFF2-40B4-BE49-F238E27FC236}">
                    <a16:creationId xmlns:a16="http://schemas.microsoft.com/office/drawing/2014/main" id="{18FD3820-66DA-4487-BC13-ABC877A80333}"/>
                  </a:ext>
                </a:extLst>
              </p:cNvPr>
              <p:cNvSpPr txBox="1"/>
              <p:nvPr/>
            </p:nvSpPr>
            <p:spPr bwMode="auto">
              <a:xfrm>
                <a:off x="2286000" y="1600200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0836" name="Object 3">
                <a:extLst>
                  <a:ext uri="{FF2B5EF4-FFF2-40B4-BE49-F238E27FC236}">
                    <a16:creationId xmlns:a16="http://schemas.microsoft.com/office/drawing/2014/main" id="{18FD3820-66DA-4487-BC13-ABC877A80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1600200"/>
                <a:ext cx="42545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837" name="Object 4">
                <a:extLst>
                  <a:ext uri="{FF2B5EF4-FFF2-40B4-BE49-F238E27FC236}">
                    <a16:creationId xmlns:a16="http://schemas.microsoft.com/office/drawing/2014/main" id="{CC375DE7-CA10-41D4-AC99-601D03CBF1B0}"/>
                  </a:ext>
                </a:extLst>
              </p:cNvPr>
              <p:cNvSpPr txBox="1"/>
              <p:nvPr/>
            </p:nvSpPr>
            <p:spPr bwMode="auto">
              <a:xfrm>
                <a:off x="3200400" y="1600200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0837" name="Object 4">
                <a:extLst>
                  <a:ext uri="{FF2B5EF4-FFF2-40B4-BE49-F238E27FC236}">
                    <a16:creationId xmlns:a16="http://schemas.microsoft.com/office/drawing/2014/main" id="{CC375DE7-CA10-41D4-AC99-601D03CBF1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0400" y="1600200"/>
                <a:ext cx="42545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838" name="Object 5">
                <a:extLst>
                  <a:ext uri="{FF2B5EF4-FFF2-40B4-BE49-F238E27FC236}">
                    <a16:creationId xmlns:a16="http://schemas.microsoft.com/office/drawing/2014/main" id="{12A66927-C21C-4C81-952E-D587CA5D23F3}"/>
                  </a:ext>
                </a:extLst>
              </p:cNvPr>
              <p:cNvSpPr txBox="1"/>
              <p:nvPr/>
            </p:nvSpPr>
            <p:spPr bwMode="auto">
              <a:xfrm>
                <a:off x="3810000" y="1600200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0838" name="Object 5">
                <a:extLst>
                  <a:ext uri="{FF2B5EF4-FFF2-40B4-BE49-F238E27FC236}">
                    <a16:creationId xmlns:a16="http://schemas.microsoft.com/office/drawing/2014/main" id="{12A66927-C21C-4C81-952E-D587CA5D2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0" y="1600200"/>
                <a:ext cx="42545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839" name="Object 6">
                <a:extLst>
                  <a:ext uri="{FF2B5EF4-FFF2-40B4-BE49-F238E27FC236}">
                    <a16:creationId xmlns:a16="http://schemas.microsoft.com/office/drawing/2014/main" id="{729E4E66-482F-4F80-8BB2-BE7EB2376AB2}"/>
                  </a:ext>
                </a:extLst>
              </p:cNvPr>
              <p:cNvSpPr txBox="1"/>
              <p:nvPr/>
            </p:nvSpPr>
            <p:spPr bwMode="auto">
              <a:xfrm>
                <a:off x="2500313" y="2100263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0839" name="Object 6">
                <a:extLst>
                  <a:ext uri="{FF2B5EF4-FFF2-40B4-BE49-F238E27FC236}">
                    <a16:creationId xmlns:a16="http://schemas.microsoft.com/office/drawing/2014/main" id="{729E4E66-482F-4F80-8BB2-BE7EB2376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0313" y="2100263"/>
                <a:ext cx="425450" cy="457200"/>
              </a:xfrm>
              <a:prstGeom prst="rect">
                <a:avLst/>
              </a:prstGeom>
              <a:blipFill>
                <a:blip r:embed="rId4"/>
                <a:stretch>
                  <a:fillRect r="-1429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840" name="Object 7">
                <a:extLst>
                  <a:ext uri="{FF2B5EF4-FFF2-40B4-BE49-F238E27FC236}">
                    <a16:creationId xmlns:a16="http://schemas.microsoft.com/office/drawing/2014/main" id="{E262B623-4FB9-41B5-A891-B19967D0B3FC}"/>
                  </a:ext>
                </a:extLst>
              </p:cNvPr>
              <p:cNvSpPr txBox="1"/>
              <p:nvPr/>
            </p:nvSpPr>
            <p:spPr bwMode="auto">
              <a:xfrm>
                <a:off x="3352800" y="2100263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0840" name="Object 7">
                <a:extLst>
                  <a:ext uri="{FF2B5EF4-FFF2-40B4-BE49-F238E27FC236}">
                    <a16:creationId xmlns:a16="http://schemas.microsoft.com/office/drawing/2014/main" id="{E262B623-4FB9-41B5-A891-B19967D0B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800" y="2100263"/>
                <a:ext cx="425450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841" name="Object 8">
                <a:extLst>
                  <a:ext uri="{FF2B5EF4-FFF2-40B4-BE49-F238E27FC236}">
                    <a16:creationId xmlns:a16="http://schemas.microsoft.com/office/drawing/2014/main" id="{71C6B0FA-3717-4419-AE16-067AE9CFF0FD}"/>
                  </a:ext>
                </a:extLst>
              </p:cNvPr>
              <p:cNvSpPr txBox="1"/>
              <p:nvPr/>
            </p:nvSpPr>
            <p:spPr bwMode="auto">
              <a:xfrm>
                <a:off x="3962400" y="2057400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0841" name="Object 8">
                <a:extLst>
                  <a:ext uri="{FF2B5EF4-FFF2-40B4-BE49-F238E27FC236}">
                    <a16:creationId xmlns:a16="http://schemas.microsoft.com/office/drawing/2014/main" id="{71C6B0FA-3717-4419-AE16-067AE9CFF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2400" y="2057400"/>
                <a:ext cx="42545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49D2984-A1E2-4AC2-81CF-04D3A992C01C}"/>
              </a:ext>
            </a:extLst>
          </p:cNvPr>
          <p:cNvCxnSpPr/>
          <p:nvPr/>
        </p:nvCxnSpPr>
        <p:spPr>
          <a:xfrm>
            <a:off x="7086600" y="1138238"/>
            <a:ext cx="76200" cy="5041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B042FDF-CC11-461C-8C13-59195F1C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定理</a:t>
            </a:r>
            <a:r>
              <a:rPr lang="en-US" altLang="zh-CN" dirty="0"/>
              <a:t>3.1</a:t>
            </a:r>
            <a:r>
              <a:rPr lang="zh-CN" altLang="en-US" dirty="0"/>
              <a:t>的证明</a:t>
            </a: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80C18EB5-0989-43BE-91DC-7BAD3BB07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8238"/>
            <a:ext cx="10515600" cy="4581525"/>
          </a:xfrm>
        </p:spPr>
        <p:txBody>
          <a:bodyPr/>
          <a:lstStyle/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证明： 在等式</a:t>
            </a:r>
            <a:endParaRPr lang="en-US" altLang="zh-CN" b="1">
              <a:latin typeface="Times New Roman" panose="02020603050405020304" pitchFamily="18" charset="0"/>
            </a:endParaRP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            a</a:t>
            </a:r>
            <a:r>
              <a:rPr lang="en-US" altLang="zh-CN" b="1" baseline="-25000">
                <a:latin typeface="Times New Roman" panose="02020603050405020304" pitchFamily="18" charset="0"/>
              </a:rPr>
              <a:t>n+1</a:t>
            </a:r>
            <a:r>
              <a:rPr lang="en-US" altLang="zh-CN" b="1">
                <a:latin typeface="Times New Roman" panose="02020603050405020304" pitchFamily="18" charset="0"/>
              </a:rPr>
              <a:t>=c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   c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n-1     </a:t>
            </a:r>
            <a:r>
              <a:rPr lang="en-US" altLang="zh-CN" b="1">
                <a:latin typeface="Times New Roman" panose="02020603050405020304" pitchFamily="18" charset="0"/>
              </a:rPr>
              <a:t>…    c</a:t>
            </a:r>
            <a:r>
              <a:rPr lang="en-US" altLang="zh-CN" b="1" baseline="-25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 baseline="-25000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</a:rPr>
              <a:t>           a</a:t>
            </a:r>
            <a:r>
              <a:rPr lang="en-US" altLang="zh-CN" b="1" baseline="-25000">
                <a:latin typeface="Times New Roman" panose="02020603050405020304" pitchFamily="18" charset="0"/>
              </a:rPr>
              <a:t>n+2</a:t>
            </a:r>
            <a:r>
              <a:rPr lang="en-US" altLang="zh-CN" b="1">
                <a:latin typeface="Times New Roman" panose="02020603050405020304" pitchFamily="18" charset="0"/>
              </a:rPr>
              <a:t>=c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n+1     </a:t>
            </a:r>
            <a:r>
              <a:rPr lang="en-US" altLang="zh-CN" b="1">
                <a:latin typeface="Times New Roman" panose="02020603050405020304" pitchFamily="18" charset="0"/>
              </a:rPr>
              <a:t>c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n       </a:t>
            </a:r>
            <a:r>
              <a:rPr lang="en-US" altLang="zh-CN" b="1">
                <a:latin typeface="Times New Roman" panose="02020603050405020304" pitchFamily="18" charset="0"/>
              </a:rPr>
              <a:t>…    c</a:t>
            </a:r>
            <a:r>
              <a:rPr lang="en-US" altLang="zh-CN" b="1" baseline="-25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		   …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两边分别乘以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,x</a:t>
            </a:r>
            <a:r>
              <a:rPr lang="en-US" altLang="zh-CN" b="1" baseline="30000">
                <a:latin typeface="Times New Roman" panose="02020603050405020304" pitchFamily="18" charset="0"/>
              </a:rPr>
              <a:t>n+1</a:t>
            </a:r>
            <a:r>
              <a:rPr lang="en-US" altLang="zh-CN" b="1">
                <a:latin typeface="Times New Roman" panose="02020603050405020304" pitchFamily="18" charset="0"/>
              </a:rPr>
              <a:t>,…，</a:t>
            </a:r>
            <a:r>
              <a:rPr lang="zh-CN" altLang="en-US" b="1">
                <a:latin typeface="Times New Roman" panose="02020603050405020304" pitchFamily="18" charset="0"/>
              </a:rPr>
              <a:t>再求和，可得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	A(x)-(a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+a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x+…+a</a:t>
            </a:r>
            <a:r>
              <a:rPr lang="en-US" altLang="zh-CN" b="1" baseline="-25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n-1</a:t>
            </a:r>
            <a:r>
              <a:rPr lang="en-US" altLang="zh-CN" b="1">
                <a:latin typeface="Times New Roman" panose="02020603050405020304" pitchFamily="18" charset="0"/>
              </a:rPr>
              <a:t>)	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	=c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x[A(x)-(a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+a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x+…+a</a:t>
            </a:r>
            <a:r>
              <a:rPr lang="en-US" altLang="zh-CN" b="1" baseline="-25000">
                <a:latin typeface="Times New Roman" panose="02020603050405020304" pitchFamily="18" charset="0"/>
              </a:rPr>
              <a:t>n-1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n-2</a:t>
            </a:r>
            <a:r>
              <a:rPr lang="en-US" altLang="zh-CN" b="1">
                <a:latin typeface="Times New Roman" panose="02020603050405020304" pitchFamily="18" charset="0"/>
              </a:rPr>
              <a:t>)]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	+c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[A(x)-(a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+a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x+…+a</a:t>
            </a:r>
            <a:r>
              <a:rPr lang="en-US" altLang="zh-CN" b="1" baseline="-25000">
                <a:latin typeface="Times New Roman" panose="02020603050405020304" pitchFamily="18" charset="0"/>
              </a:rPr>
              <a:t>n-2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n-3</a:t>
            </a:r>
            <a:r>
              <a:rPr lang="en-US" altLang="zh-CN" b="1">
                <a:latin typeface="Times New Roman" panose="02020603050405020304" pitchFamily="18" charset="0"/>
              </a:rPr>
              <a:t>)]+…+c</a:t>
            </a:r>
            <a:r>
              <a:rPr lang="en-US" altLang="zh-CN" b="1" baseline="-25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A(x)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884" name="Object 3">
                <a:extLst>
                  <a:ext uri="{FF2B5EF4-FFF2-40B4-BE49-F238E27FC236}">
                    <a16:creationId xmlns:a16="http://schemas.microsoft.com/office/drawing/2014/main" id="{C63038F6-47DB-4A25-94E3-6CC6DF58DE0A}"/>
                  </a:ext>
                </a:extLst>
              </p:cNvPr>
              <p:cNvSpPr txBox="1"/>
              <p:nvPr/>
            </p:nvSpPr>
            <p:spPr bwMode="auto">
              <a:xfrm>
                <a:off x="2286000" y="1600200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2884" name="Object 3">
                <a:extLst>
                  <a:ext uri="{FF2B5EF4-FFF2-40B4-BE49-F238E27FC236}">
                    <a16:creationId xmlns:a16="http://schemas.microsoft.com/office/drawing/2014/main" id="{C63038F6-47DB-4A25-94E3-6CC6DF58D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1600200"/>
                <a:ext cx="42545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885" name="Object 4">
                <a:extLst>
                  <a:ext uri="{FF2B5EF4-FFF2-40B4-BE49-F238E27FC236}">
                    <a16:creationId xmlns:a16="http://schemas.microsoft.com/office/drawing/2014/main" id="{6D1DF3F4-5343-4FD3-B27F-6D739D55E885}"/>
                  </a:ext>
                </a:extLst>
              </p:cNvPr>
              <p:cNvSpPr txBox="1"/>
              <p:nvPr/>
            </p:nvSpPr>
            <p:spPr bwMode="auto">
              <a:xfrm>
                <a:off x="3200400" y="1600200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2885" name="Object 4">
                <a:extLst>
                  <a:ext uri="{FF2B5EF4-FFF2-40B4-BE49-F238E27FC236}">
                    <a16:creationId xmlns:a16="http://schemas.microsoft.com/office/drawing/2014/main" id="{6D1DF3F4-5343-4FD3-B27F-6D739D55E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0400" y="1600200"/>
                <a:ext cx="42545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886" name="Object 5">
                <a:extLst>
                  <a:ext uri="{FF2B5EF4-FFF2-40B4-BE49-F238E27FC236}">
                    <a16:creationId xmlns:a16="http://schemas.microsoft.com/office/drawing/2014/main" id="{C79728CF-73C3-46E8-AB2A-78EAC036B0C4}"/>
                  </a:ext>
                </a:extLst>
              </p:cNvPr>
              <p:cNvSpPr txBox="1"/>
              <p:nvPr/>
            </p:nvSpPr>
            <p:spPr bwMode="auto">
              <a:xfrm>
                <a:off x="3810000" y="1600200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2886" name="Object 5">
                <a:extLst>
                  <a:ext uri="{FF2B5EF4-FFF2-40B4-BE49-F238E27FC236}">
                    <a16:creationId xmlns:a16="http://schemas.microsoft.com/office/drawing/2014/main" id="{C79728CF-73C3-46E8-AB2A-78EAC036B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0" y="1600200"/>
                <a:ext cx="42545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887" name="Object 6">
                <a:extLst>
                  <a:ext uri="{FF2B5EF4-FFF2-40B4-BE49-F238E27FC236}">
                    <a16:creationId xmlns:a16="http://schemas.microsoft.com/office/drawing/2014/main" id="{7FBB8062-4965-4E20-90E7-4A7953A76B43}"/>
                  </a:ext>
                </a:extLst>
              </p:cNvPr>
              <p:cNvSpPr txBox="1"/>
              <p:nvPr/>
            </p:nvSpPr>
            <p:spPr bwMode="auto">
              <a:xfrm>
                <a:off x="2500313" y="2100263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2887" name="Object 6">
                <a:extLst>
                  <a:ext uri="{FF2B5EF4-FFF2-40B4-BE49-F238E27FC236}">
                    <a16:creationId xmlns:a16="http://schemas.microsoft.com/office/drawing/2014/main" id="{7FBB8062-4965-4E20-90E7-4A7953A76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0313" y="2100263"/>
                <a:ext cx="425450" cy="457200"/>
              </a:xfrm>
              <a:prstGeom prst="rect">
                <a:avLst/>
              </a:prstGeom>
              <a:blipFill>
                <a:blip r:embed="rId4"/>
                <a:stretch>
                  <a:fillRect r="-1429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888" name="Object 7">
                <a:extLst>
                  <a:ext uri="{FF2B5EF4-FFF2-40B4-BE49-F238E27FC236}">
                    <a16:creationId xmlns:a16="http://schemas.microsoft.com/office/drawing/2014/main" id="{47D92CC6-B92C-4BC2-8013-DB612F6DA7FD}"/>
                  </a:ext>
                </a:extLst>
              </p:cNvPr>
              <p:cNvSpPr txBox="1"/>
              <p:nvPr/>
            </p:nvSpPr>
            <p:spPr bwMode="auto">
              <a:xfrm>
                <a:off x="3352800" y="2100263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2888" name="Object 7">
                <a:extLst>
                  <a:ext uri="{FF2B5EF4-FFF2-40B4-BE49-F238E27FC236}">
                    <a16:creationId xmlns:a16="http://schemas.microsoft.com/office/drawing/2014/main" id="{47D92CC6-B92C-4BC2-8013-DB612F6DA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800" y="2100263"/>
                <a:ext cx="425450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889" name="Object 8">
                <a:extLst>
                  <a:ext uri="{FF2B5EF4-FFF2-40B4-BE49-F238E27FC236}">
                    <a16:creationId xmlns:a16="http://schemas.microsoft.com/office/drawing/2014/main" id="{ADA01675-CC0B-47E5-BF71-98E09CC8D461}"/>
                  </a:ext>
                </a:extLst>
              </p:cNvPr>
              <p:cNvSpPr txBox="1"/>
              <p:nvPr/>
            </p:nvSpPr>
            <p:spPr bwMode="auto">
              <a:xfrm>
                <a:off x="3962400" y="2057400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2889" name="Object 8">
                <a:extLst>
                  <a:ext uri="{FF2B5EF4-FFF2-40B4-BE49-F238E27FC236}">
                    <a16:creationId xmlns:a16="http://schemas.microsoft.com/office/drawing/2014/main" id="{ADA01675-CC0B-47E5-BF71-98E09CC8D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2400" y="2057400"/>
                <a:ext cx="42545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49D2984-A1E2-4AC2-81CF-04D3A992C01C}"/>
              </a:ext>
            </a:extLst>
          </p:cNvPr>
          <p:cNvCxnSpPr/>
          <p:nvPr/>
        </p:nvCxnSpPr>
        <p:spPr>
          <a:xfrm>
            <a:off x="7086600" y="1138238"/>
            <a:ext cx="76200" cy="5041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B042FDF-CC11-461C-8C13-59195F1C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定理</a:t>
            </a:r>
            <a:r>
              <a:rPr lang="en-US" altLang="zh-CN" dirty="0"/>
              <a:t>3.1</a:t>
            </a:r>
            <a:r>
              <a:rPr lang="zh-CN" altLang="en-US" dirty="0"/>
              <a:t>的证明</a:t>
            </a: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AEBE5A9E-36D3-44CB-975C-7E0553B6C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8238"/>
            <a:ext cx="10515600" cy="4581525"/>
          </a:xfrm>
        </p:spPr>
        <p:txBody>
          <a:bodyPr/>
          <a:lstStyle/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证明： 在等式</a:t>
            </a:r>
            <a:endParaRPr lang="en-US" altLang="zh-CN" b="1">
              <a:latin typeface="Times New Roman" panose="02020603050405020304" pitchFamily="18" charset="0"/>
            </a:endParaRP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            a</a:t>
            </a:r>
            <a:r>
              <a:rPr lang="en-US" altLang="zh-CN" b="1" baseline="-25000">
                <a:latin typeface="Times New Roman" panose="02020603050405020304" pitchFamily="18" charset="0"/>
              </a:rPr>
              <a:t>n+1</a:t>
            </a:r>
            <a:r>
              <a:rPr lang="en-US" altLang="zh-CN" b="1">
                <a:latin typeface="Times New Roman" panose="02020603050405020304" pitchFamily="18" charset="0"/>
              </a:rPr>
              <a:t>=c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   c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n-1     </a:t>
            </a:r>
            <a:r>
              <a:rPr lang="en-US" altLang="zh-CN" b="1">
                <a:latin typeface="Times New Roman" panose="02020603050405020304" pitchFamily="18" charset="0"/>
              </a:rPr>
              <a:t>…    c</a:t>
            </a:r>
            <a:r>
              <a:rPr lang="en-US" altLang="zh-CN" b="1" baseline="-25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 baseline="-25000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</a:rPr>
              <a:t>           a</a:t>
            </a:r>
            <a:r>
              <a:rPr lang="en-US" altLang="zh-CN" b="1" baseline="-25000">
                <a:latin typeface="Times New Roman" panose="02020603050405020304" pitchFamily="18" charset="0"/>
              </a:rPr>
              <a:t>n+2</a:t>
            </a:r>
            <a:r>
              <a:rPr lang="en-US" altLang="zh-CN" b="1">
                <a:latin typeface="Times New Roman" panose="02020603050405020304" pitchFamily="18" charset="0"/>
              </a:rPr>
              <a:t>=c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n+1     </a:t>
            </a:r>
            <a:r>
              <a:rPr lang="en-US" altLang="zh-CN" b="1">
                <a:latin typeface="Times New Roman" panose="02020603050405020304" pitchFamily="18" charset="0"/>
              </a:rPr>
              <a:t>c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n       </a:t>
            </a:r>
            <a:r>
              <a:rPr lang="en-US" altLang="zh-CN" b="1">
                <a:latin typeface="Times New Roman" panose="02020603050405020304" pitchFamily="18" charset="0"/>
              </a:rPr>
              <a:t>…    c</a:t>
            </a:r>
            <a:r>
              <a:rPr lang="en-US" altLang="zh-CN" b="1" baseline="-25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		   …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两边分别乘以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,x</a:t>
            </a:r>
            <a:r>
              <a:rPr lang="en-US" altLang="zh-CN" b="1" baseline="30000">
                <a:latin typeface="Times New Roman" panose="02020603050405020304" pitchFamily="18" charset="0"/>
              </a:rPr>
              <a:t>n+1</a:t>
            </a:r>
            <a:r>
              <a:rPr lang="en-US" altLang="zh-CN" b="1">
                <a:latin typeface="Times New Roman" panose="02020603050405020304" pitchFamily="18" charset="0"/>
              </a:rPr>
              <a:t>,…，</a:t>
            </a:r>
            <a:r>
              <a:rPr lang="zh-CN" altLang="en-US" b="1">
                <a:latin typeface="Times New Roman" panose="02020603050405020304" pitchFamily="18" charset="0"/>
              </a:rPr>
              <a:t>再求和，可得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	A(x)-(a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+a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x+…+a</a:t>
            </a:r>
            <a:r>
              <a:rPr lang="en-US" altLang="zh-CN" b="1" baseline="-25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n-1</a:t>
            </a:r>
            <a:r>
              <a:rPr lang="en-US" altLang="zh-CN" b="1">
                <a:latin typeface="Times New Roman" panose="02020603050405020304" pitchFamily="18" charset="0"/>
              </a:rPr>
              <a:t>)	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	=c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x[A(x)-(a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+a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x+…+a</a:t>
            </a:r>
            <a:r>
              <a:rPr lang="en-US" altLang="zh-CN" b="1" baseline="-25000">
                <a:latin typeface="Times New Roman" panose="02020603050405020304" pitchFamily="18" charset="0"/>
              </a:rPr>
              <a:t>n-1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n-2</a:t>
            </a:r>
            <a:r>
              <a:rPr lang="en-US" altLang="zh-CN" b="1">
                <a:latin typeface="Times New Roman" panose="02020603050405020304" pitchFamily="18" charset="0"/>
              </a:rPr>
              <a:t>)]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	+c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[A(x)-(a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+a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x+…+a</a:t>
            </a:r>
            <a:r>
              <a:rPr lang="en-US" altLang="zh-CN" b="1" baseline="-25000">
                <a:latin typeface="Times New Roman" panose="02020603050405020304" pitchFamily="18" charset="0"/>
              </a:rPr>
              <a:t>n-2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n-3</a:t>
            </a:r>
            <a:r>
              <a:rPr lang="en-US" altLang="zh-CN" b="1">
                <a:latin typeface="Times New Roman" panose="02020603050405020304" pitchFamily="18" charset="0"/>
              </a:rPr>
              <a:t>)]+…+c</a:t>
            </a:r>
            <a:r>
              <a:rPr lang="en-US" altLang="zh-CN" b="1" baseline="-25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A(x)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932" name="Object 3">
                <a:extLst>
                  <a:ext uri="{FF2B5EF4-FFF2-40B4-BE49-F238E27FC236}">
                    <a16:creationId xmlns:a16="http://schemas.microsoft.com/office/drawing/2014/main" id="{FE5A114A-7F23-4653-9620-AA6044E3FD6A}"/>
                  </a:ext>
                </a:extLst>
              </p:cNvPr>
              <p:cNvSpPr txBox="1"/>
              <p:nvPr/>
            </p:nvSpPr>
            <p:spPr bwMode="auto">
              <a:xfrm>
                <a:off x="2286000" y="1600200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4932" name="Object 3">
                <a:extLst>
                  <a:ext uri="{FF2B5EF4-FFF2-40B4-BE49-F238E27FC236}">
                    <a16:creationId xmlns:a16="http://schemas.microsoft.com/office/drawing/2014/main" id="{FE5A114A-7F23-4653-9620-AA6044E3F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1600200"/>
                <a:ext cx="42545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933" name="Object 4">
                <a:extLst>
                  <a:ext uri="{FF2B5EF4-FFF2-40B4-BE49-F238E27FC236}">
                    <a16:creationId xmlns:a16="http://schemas.microsoft.com/office/drawing/2014/main" id="{14664DC3-2E48-4EF8-BB26-66B1714BF955}"/>
                  </a:ext>
                </a:extLst>
              </p:cNvPr>
              <p:cNvSpPr txBox="1"/>
              <p:nvPr/>
            </p:nvSpPr>
            <p:spPr bwMode="auto">
              <a:xfrm>
                <a:off x="3200400" y="1600200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4933" name="Object 4">
                <a:extLst>
                  <a:ext uri="{FF2B5EF4-FFF2-40B4-BE49-F238E27FC236}">
                    <a16:creationId xmlns:a16="http://schemas.microsoft.com/office/drawing/2014/main" id="{14664DC3-2E48-4EF8-BB26-66B1714BF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0400" y="1600200"/>
                <a:ext cx="42545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934" name="Object 5">
                <a:extLst>
                  <a:ext uri="{FF2B5EF4-FFF2-40B4-BE49-F238E27FC236}">
                    <a16:creationId xmlns:a16="http://schemas.microsoft.com/office/drawing/2014/main" id="{727FBC1D-CD2C-4287-BE84-BFC81F291D56}"/>
                  </a:ext>
                </a:extLst>
              </p:cNvPr>
              <p:cNvSpPr txBox="1"/>
              <p:nvPr/>
            </p:nvSpPr>
            <p:spPr bwMode="auto">
              <a:xfrm>
                <a:off x="3810000" y="1600200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4934" name="Object 5">
                <a:extLst>
                  <a:ext uri="{FF2B5EF4-FFF2-40B4-BE49-F238E27FC236}">
                    <a16:creationId xmlns:a16="http://schemas.microsoft.com/office/drawing/2014/main" id="{727FBC1D-CD2C-4287-BE84-BFC81F291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0" y="1600200"/>
                <a:ext cx="42545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935" name="Object 6">
                <a:extLst>
                  <a:ext uri="{FF2B5EF4-FFF2-40B4-BE49-F238E27FC236}">
                    <a16:creationId xmlns:a16="http://schemas.microsoft.com/office/drawing/2014/main" id="{803CB8A4-0F93-4938-B2F4-12E83F7EBB81}"/>
                  </a:ext>
                </a:extLst>
              </p:cNvPr>
              <p:cNvSpPr txBox="1"/>
              <p:nvPr/>
            </p:nvSpPr>
            <p:spPr bwMode="auto">
              <a:xfrm>
                <a:off x="2500313" y="2100263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4935" name="Object 6">
                <a:extLst>
                  <a:ext uri="{FF2B5EF4-FFF2-40B4-BE49-F238E27FC236}">
                    <a16:creationId xmlns:a16="http://schemas.microsoft.com/office/drawing/2014/main" id="{803CB8A4-0F93-4938-B2F4-12E83F7EB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0313" y="2100263"/>
                <a:ext cx="425450" cy="457200"/>
              </a:xfrm>
              <a:prstGeom prst="rect">
                <a:avLst/>
              </a:prstGeom>
              <a:blipFill>
                <a:blip r:embed="rId4"/>
                <a:stretch>
                  <a:fillRect r="-1429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936" name="Object 7">
                <a:extLst>
                  <a:ext uri="{FF2B5EF4-FFF2-40B4-BE49-F238E27FC236}">
                    <a16:creationId xmlns:a16="http://schemas.microsoft.com/office/drawing/2014/main" id="{2679D1AD-9D88-48BC-BB15-13813E4968AD}"/>
                  </a:ext>
                </a:extLst>
              </p:cNvPr>
              <p:cNvSpPr txBox="1"/>
              <p:nvPr/>
            </p:nvSpPr>
            <p:spPr bwMode="auto">
              <a:xfrm>
                <a:off x="3352800" y="2100263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4936" name="Object 7">
                <a:extLst>
                  <a:ext uri="{FF2B5EF4-FFF2-40B4-BE49-F238E27FC236}">
                    <a16:creationId xmlns:a16="http://schemas.microsoft.com/office/drawing/2014/main" id="{2679D1AD-9D88-48BC-BB15-13813E496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800" y="2100263"/>
                <a:ext cx="425450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937" name="Object 8">
                <a:extLst>
                  <a:ext uri="{FF2B5EF4-FFF2-40B4-BE49-F238E27FC236}">
                    <a16:creationId xmlns:a16="http://schemas.microsoft.com/office/drawing/2014/main" id="{EE8AB9E6-4E73-45DC-A895-7A30320C08D5}"/>
                  </a:ext>
                </a:extLst>
              </p:cNvPr>
              <p:cNvSpPr txBox="1"/>
              <p:nvPr/>
            </p:nvSpPr>
            <p:spPr bwMode="auto">
              <a:xfrm>
                <a:off x="3962400" y="2057400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4937" name="Object 8">
                <a:extLst>
                  <a:ext uri="{FF2B5EF4-FFF2-40B4-BE49-F238E27FC236}">
                    <a16:creationId xmlns:a16="http://schemas.microsoft.com/office/drawing/2014/main" id="{EE8AB9E6-4E73-45DC-A895-7A30320C0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2400" y="2057400"/>
                <a:ext cx="42545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4938" name="Group 11">
            <a:extLst>
              <a:ext uri="{FF2B5EF4-FFF2-40B4-BE49-F238E27FC236}">
                <a16:creationId xmlns:a16="http://schemas.microsoft.com/office/drawing/2014/main" id="{D4ED3017-60BE-4F61-ABE3-F03895CE84D1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4832350"/>
            <a:ext cx="7543800" cy="1347788"/>
            <a:chOff x="96" y="3024"/>
            <a:chExt cx="4992" cy="849"/>
          </a:xfrm>
        </p:grpSpPr>
        <p:sp>
          <p:nvSpPr>
            <p:cNvPr id="79882" name="Text Box 9">
              <a:extLst>
                <a:ext uri="{FF2B5EF4-FFF2-40B4-BE49-F238E27FC236}">
                  <a16:creationId xmlns:a16="http://schemas.microsoft.com/office/drawing/2014/main" id="{0A31ECC2-2B2B-40DD-B666-EFDCBF07F8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024"/>
              <a:ext cx="4320" cy="8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defRPr/>
              </a:pPr>
              <a:r>
                <a:rPr lang="zh-CN" altLang="en-US" b="1" dirty="0">
                  <a:solidFill>
                    <a:srgbClr val="800000"/>
                  </a:solidFill>
                  <a:latin typeface="+mn-lt"/>
                  <a:ea typeface="+mn-ea"/>
                </a:rPr>
                <a:t>(1+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c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x+…+c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n-1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</a:t>
              </a:r>
              <a:r>
                <a:rPr lang="en-US" altLang="zh-CN" b="1" baseline="30000" dirty="0">
                  <a:solidFill>
                    <a:srgbClr val="800000"/>
                  </a:solidFill>
                  <a:latin typeface="+mn-lt"/>
                  <a:ea typeface="+mn-ea"/>
                </a:rPr>
                <a:t>n-1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+c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n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</a:t>
              </a:r>
              <a:r>
                <a:rPr lang="en-US" altLang="zh-CN" b="1" baseline="30000" dirty="0">
                  <a:solidFill>
                    <a:srgbClr val="800000"/>
                  </a:solidFill>
                  <a:latin typeface="+mn-lt"/>
                  <a:ea typeface="+mn-ea"/>
                </a:rPr>
                <a:t>n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)A(x)</a:t>
              </a:r>
            </a:p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=(a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+a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2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x+…+a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n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</a:t>
              </a:r>
              <a:r>
                <a:rPr lang="en-US" altLang="zh-CN" b="1" baseline="30000" dirty="0">
                  <a:solidFill>
                    <a:srgbClr val="800000"/>
                  </a:solidFill>
                  <a:latin typeface="+mn-lt"/>
                  <a:ea typeface="+mn-ea"/>
                </a:rPr>
                <a:t>n-1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)+c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x(a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+a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2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x+…+a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n-1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</a:t>
              </a:r>
              <a:r>
                <a:rPr lang="en-US" altLang="zh-CN" b="1" baseline="30000" dirty="0">
                  <a:solidFill>
                    <a:srgbClr val="800000"/>
                  </a:solidFill>
                  <a:latin typeface="+mn-lt"/>
                  <a:ea typeface="+mn-ea"/>
                </a:rPr>
                <a:t>n-2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)</a:t>
              </a:r>
            </a:p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+c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2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</a:t>
              </a:r>
              <a:r>
                <a:rPr lang="en-US" altLang="zh-CN" b="1" baseline="30000" dirty="0">
                  <a:solidFill>
                    <a:srgbClr val="800000"/>
                  </a:solidFill>
                  <a:latin typeface="+mn-lt"/>
                  <a:ea typeface="+mn-ea"/>
                </a:rPr>
                <a:t>2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(a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+a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2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x+…+a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n-2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</a:t>
              </a:r>
              <a:r>
                <a:rPr lang="en-US" altLang="zh-CN" b="1" baseline="30000" dirty="0">
                  <a:solidFill>
                    <a:srgbClr val="800000"/>
                  </a:solidFill>
                  <a:latin typeface="+mn-lt"/>
                  <a:ea typeface="+mn-ea"/>
                </a:rPr>
                <a:t>n-3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)+…+c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n-1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</a:t>
              </a:r>
              <a:r>
                <a:rPr lang="en-US" altLang="zh-CN" b="1" baseline="30000" dirty="0">
                  <a:solidFill>
                    <a:srgbClr val="800000"/>
                  </a:solidFill>
                  <a:latin typeface="+mn-lt"/>
                  <a:ea typeface="+mn-ea"/>
                </a:rPr>
                <a:t>n-1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a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1</a:t>
              </a:r>
              <a:endParaRPr lang="zh-CN" altLang="en-US" b="1" baseline="-25000" dirty="0">
                <a:solidFill>
                  <a:srgbClr val="800000"/>
                </a:solidFill>
                <a:latin typeface="+mn-lt"/>
                <a:ea typeface="+mn-ea"/>
              </a:endParaRPr>
            </a:p>
          </p:txBody>
        </p:sp>
        <p:sp>
          <p:nvSpPr>
            <p:cNvPr id="79883" name="Text Box 10">
              <a:extLst>
                <a:ext uri="{FF2B5EF4-FFF2-40B4-BE49-F238E27FC236}">
                  <a16:creationId xmlns:a16="http://schemas.microsoft.com/office/drawing/2014/main" id="{CB813EA6-FDDE-4E51-9F9E-BE642AB929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3072"/>
              <a:ext cx="624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b="1">
                  <a:solidFill>
                    <a:srgbClr val="800000"/>
                  </a:solidFill>
                  <a:latin typeface="+mn-lt"/>
                  <a:ea typeface="+mn-ea"/>
                </a:rPr>
                <a:t>移项整理</a:t>
              </a:r>
            </a:p>
          </p:txBody>
        </p:sp>
      </p:grp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49D2984-A1E2-4AC2-81CF-04D3A992C01C}"/>
              </a:ext>
            </a:extLst>
          </p:cNvPr>
          <p:cNvCxnSpPr/>
          <p:nvPr/>
        </p:nvCxnSpPr>
        <p:spPr>
          <a:xfrm>
            <a:off x="7086600" y="1138238"/>
            <a:ext cx="76200" cy="5041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B042FDF-CC11-461C-8C13-59195F1C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定理</a:t>
            </a:r>
            <a:r>
              <a:rPr lang="en-US" altLang="zh-CN" dirty="0"/>
              <a:t>3.1</a:t>
            </a:r>
            <a:r>
              <a:rPr lang="zh-CN" altLang="en-US" dirty="0"/>
              <a:t>的证明</a:t>
            </a: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1C1DEF4B-81A2-4D8A-9C8B-6975FC98B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38238"/>
            <a:ext cx="10515600" cy="4581525"/>
          </a:xfrm>
        </p:spPr>
        <p:txBody>
          <a:bodyPr/>
          <a:lstStyle/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证明： 在等式</a:t>
            </a:r>
            <a:endParaRPr lang="en-US" altLang="zh-CN" b="1">
              <a:latin typeface="Times New Roman" panose="02020603050405020304" pitchFamily="18" charset="0"/>
            </a:endParaRP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            a</a:t>
            </a:r>
            <a:r>
              <a:rPr lang="en-US" altLang="zh-CN" b="1" baseline="-25000">
                <a:latin typeface="Times New Roman" panose="02020603050405020304" pitchFamily="18" charset="0"/>
              </a:rPr>
              <a:t>n+1</a:t>
            </a:r>
            <a:r>
              <a:rPr lang="en-US" altLang="zh-CN" b="1">
                <a:latin typeface="Times New Roman" panose="02020603050405020304" pitchFamily="18" charset="0"/>
              </a:rPr>
              <a:t>=c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   c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n-1     </a:t>
            </a:r>
            <a:r>
              <a:rPr lang="en-US" altLang="zh-CN" b="1">
                <a:latin typeface="Times New Roman" panose="02020603050405020304" pitchFamily="18" charset="0"/>
              </a:rPr>
              <a:t>…    c</a:t>
            </a:r>
            <a:r>
              <a:rPr lang="en-US" altLang="zh-CN" b="1" baseline="-25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 baseline="-25000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</a:rPr>
              <a:t>           a</a:t>
            </a:r>
            <a:r>
              <a:rPr lang="en-US" altLang="zh-CN" b="1" baseline="-25000">
                <a:latin typeface="Times New Roman" panose="02020603050405020304" pitchFamily="18" charset="0"/>
              </a:rPr>
              <a:t>n+2</a:t>
            </a:r>
            <a:r>
              <a:rPr lang="en-US" altLang="zh-CN" b="1">
                <a:latin typeface="Times New Roman" panose="02020603050405020304" pitchFamily="18" charset="0"/>
              </a:rPr>
              <a:t>=c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n+1     </a:t>
            </a:r>
            <a:r>
              <a:rPr lang="en-US" altLang="zh-CN" b="1">
                <a:latin typeface="Times New Roman" panose="02020603050405020304" pitchFamily="18" charset="0"/>
              </a:rPr>
              <a:t>c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n       </a:t>
            </a:r>
            <a:r>
              <a:rPr lang="en-US" altLang="zh-CN" b="1">
                <a:latin typeface="Times New Roman" panose="02020603050405020304" pitchFamily="18" charset="0"/>
              </a:rPr>
              <a:t>…    c</a:t>
            </a:r>
            <a:r>
              <a:rPr lang="en-US" altLang="zh-CN" b="1" baseline="-25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		   …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两边分别乘以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,x</a:t>
            </a:r>
            <a:r>
              <a:rPr lang="en-US" altLang="zh-CN" b="1" baseline="30000">
                <a:latin typeface="Times New Roman" panose="02020603050405020304" pitchFamily="18" charset="0"/>
              </a:rPr>
              <a:t>n+1</a:t>
            </a:r>
            <a:r>
              <a:rPr lang="en-US" altLang="zh-CN" b="1">
                <a:latin typeface="Times New Roman" panose="02020603050405020304" pitchFamily="18" charset="0"/>
              </a:rPr>
              <a:t>,…，</a:t>
            </a:r>
            <a:r>
              <a:rPr lang="zh-CN" altLang="en-US" b="1">
                <a:latin typeface="Times New Roman" panose="02020603050405020304" pitchFamily="18" charset="0"/>
              </a:rPr>
              <a:t>再求和，可得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	A(x)-(a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+a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x+…+a</a:t>
            </a:r>
            <a:r>
              <a:rPr lang="en-US" altLang="zh-CN" b="1" baseline="-25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n-1</a:t>
            </a:r>
            <a:r>
              <a:rPr lang="en-US" altLang="zh-CN" b="1">
                <a:latin typeface="Times New Roman" panose="02020603050405020304" pitchFamily="18" charset="0"/>
              </a:rPr>
              <a:t>)	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	=c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x[A(x)-(a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+a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x+…+a</a:t>
            </a:r>
            <a:r>
              <a:rPr lang="en-US" altLang="zh-CN" b="1" baseline="-25000">
                <a:latin typeface="Times New Roman" panose="02020603050405020304" pitchFamily="18" charset="0"/>
              </a:rPr>
              <a:t>n-1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n-2</a:t>
            </a:r>
            <a:r>
              <a:rPr lang="en-US" altLang="zh-CN" b="1">
                <a:latin typeface="Times New Roman" panose="02020603050405020304" pitchFamily="18" charset="0"/>
              </a:rPr>
              <a:t>)]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	+c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[A(x)-(a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+a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x+…+a</a:t>
            </a:r>
            <a:r>
              <a:rPr lang="en-US" altLang="zh-CN" b="1" baseline="-25000">
                <a:latin typeface="Times New Roman" panose="02020603050405020304" pitchFamily="18" charset="0"/>
              </a:rPr>
              <a:t>n-2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n-3</a:t>
            </a:r>
            <a:r>
              <a:rPr lang="en-US" altLang="zh-CN" b="1">
                <a:latin typeface="Times New Roman" panose="02020603050405020304" pitchFamily="18" charset="0"/>
              </a:rPr>
              <a:t>)]+…+c</a:t>
            </a:r>
            <a:r>
              <a:rPr lang="en-US" altLang="zh-CN" b="1" baseline="-25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A(x)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980" name="Object 3">
                <a:extLst>
                  <a:ext uri="{FF2B5EF4-FFF2-40B4-BE49-F238E27FC236}">
                    <a16:creationId xmlns:a16="http://schemas.microsoft.com/office/drawing/2014/main" id="{BC75B5AA-B87F-4669-AEEA-42F06705BEC9}"/>
                  </a:ext>
                </a:extLst>
              </p:cNvPr>
              <p:cNvSpPr txBox="1"/>
              <p:nvPr/>
            </p:nvSpPr>
            <p:spPr bwMode="auto">
              <a:xfrm>
                <a:off x="2286000" y="1600200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6980" name="Object 3">
                <a:extLst>
                  <a:ext uri="{FF2B5EF4-FFF2-40B4-BE49-F238E27FC236}">
                    <a16:creationId xmlns:a16="http://schemas.microsoft.com/office/drawing/2014/main" id="{BC75B5AA-B87F-4669-AEEA-42F06705B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0" y="1600200"/>
                <a:ext cx="42545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981" name="Object 4">
                <a:extLst>
                  <a:ext uri="{FF2B5EF4-FFF2-40B4-BE49-F238E27FC236}">
                    <a16:creationId xmlns:a16="http://schemas.microsoft.com/office/drawing/2014/main" id="{B445EBE5-CB9A-4C32-A969-30F888A7F1DA}"/>
                  </a:ext>
                </a:extLst>
              </p:cNvPr>
              <p:cNvSpPr txBox="1"/>
              <p:nvPr/>
            </p:nvSpPr>
            <p:spPr bwMode="auto">
              <a:xfrm>
                <a:off x="3200400" y="1600200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6981" name="Object 4">
                <a:extLst>
                  <a:ext uri="{FF2B5EF4-FFF2-40B4-BE49-F238E27FC236}">
                    <a16:creationId xmlns:a16="http://schemas.microsoft.com/office/drawing/2014/main" id="{B445EBE5-CB9A-4C32-A969-30F888A7F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0400" y="1600200"/>
                <a:ext cx="42545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982" name="Object 5">
                <a:extLst>
                  <a:ext uri="{FF2B5EF4-FFF2-40B4-BE49-F238E27FC236}">
                    <a16:creationId xmlns:a16="http://schemas.microsoft.com/office/drawing/2014/main" id="{4F1479EB-75B1-47EE-8D7D-9B2379E647AB}"/>
                  </a:ext>
                </a:extLst>
              </p:cNvPr>
              <p:cNvSpPr txBox="1"/>
              <p:nvPr/>
            </p:nvSpPr>
            <p:spPr bwMode="auto">
              <a:xfrm>
                <a:off x="3810000" y="1600200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6982" name="Object 5">
                <a:extLst>
                  <a:ext uri="{FF2B5EF4-FFF2-40B4-BE49-F238E27FC236}">
                    <a16:creationId xmlns:a16="http://schemas.microsoft.com/office/drawing/2014/main" id="{4F1479EB-75B1-47EE-8D7D-9B2379E64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0" y="1600200"/>
                <a:ext cx="42545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983" name="Object 6">
                <a:extLst>
                  <a:ext uri="{FF2B5EF4-FFF2-40B4-BE49-F238E27FC236}">
                    <a16:creationId xmlns:a16="http://schemas.microsoft.com/office/drawing/2014/main" id="{C426664F-1420-4A0E-ADD8-A91DEBA86B7C}"/>
                  </a:ext>
                </a:extLst>
              </p:cNvPr>
              <p:cNvSpPr txBox="1"/>
              <p:nvPr/>
            </p:nvSpPr>
            <p:spPr bwMode="auto">
              <a:xfrm>
                <a:off x="2500313" y="2100263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6983" name="Object 6">
                <a:extLst>
                  <a:ext uri="{FF2B5EF4-FFF2-40B4-BE49-F238E27FC236}">
                    <a16:creationId xmlns:a16="http://schemas.microsoft.com/office/drawing/2014/main" id="{C426664F-1420-4A0E-ADD8-A91DEBA86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0313" y="2100263"/>
                <a:ext cx="425450" cy="457200"/>
              </a:xfrm>
              <a:prstGeom prst="rect">
                <a:avLst/>
              </a:prstGeom>
              <a:blipFill>
                <a:blip r:embed="rId5"/>
                <a:stretch>
                  <a:fillRect r="-1429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984" name="Object 7">
                <a:extLst>
                  <a:ext uri="{FF2B5EF4-FFF2-40B4-BE49-F238E27FC236}">
                    <a16:creationId xmlns:a16="http://schemas.microsoft.com/office/drawing/2014/main" id="{DB01E2FF-B0C8-4C56-84EF-AC387FBECE4A}"/>
                  </a:ext>
                </a:extLst>
              </p:cNvPr>
              <p:cNvSpPr txBox="1"/>
              <p:nvPr/>
            </p:nvSpPr>
            <p:spPr bwMode="auto">
              <a:xfrm>
                <a:off x="3352800" y="2100263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6984" name="Object 7">
                <a:extLst>
                  <a:ext uri="{FF2B5EF4-FFF2-40B4-BE49-F238E27FC236}">
                    <a16:creationId xmlns:a16="http://schemas.microsoft.com/office/drawing/2014/main" id="{DB01E2FF-B0C8-4C56-84EF-AC387FBEC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800" y="2100263"/>
                <a:ext cx="425450" cy="45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985" name="Object 8">
                <a:extLst>
                  <a:ext uri="{FF2B5EF4-FFF2-40B4-BE49-F238E27FC236}">
                    <a16:creationId xmlns:a16="http://schemas.microsoft.com/office/drawing/2014/main" id="{3CD69B66-CC9C-4D3D-9B42-EAA77A347C5F}"/>
                  </a:ext>
                </a:extLst>
              </p:cNvPr>
              <p:cNvSpPr txBox="1"/>
              <p:nvPr/>
            </p:nvSpPr>
            <p:spPr bwMode="auto">
              <a:xfrm>
                <a:off x="3962400" y="2057400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26985" name="Object 8">
                <a:extLst>
                  <a:ext uri="{FF2B5EF4-FFF2-40B4-BE49-F238E27FC236}">
                    <a16:creationId xmlns:a16="http://schemas.microsoft.com/office/drawing/2014/main" id="{3CD69B66-CC9C-4D3D-9B42-EAA77A347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2400" y="2057400"/>
                <a:ext cx="42545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6986" name="Group 11">
            <a:extLst>
              <a:ext uri="{FF2B5EF4-FFF2-40B4-BE49-F238E27FC236}">
                <a16:creationId xmlns:a16="http://schemas.microsoft.com/office/drawing/2014/main" id="{4619B894-3359-4251-A511-16B9CA2EC481}"/>
              </a:ext>
            </a:extLst>
          </p:cNvPr>
          <p:cNvGrpSpPr>
            <a:grpSpLocks/>
          </p:cNvGrpSpPr>
          <p:nvPr/>
        </p:nvGrpSpPr>
        <p:grpSpPr bwMode="auto">
          <a:xfrm>
            <a:off x="152400" y="4832350"/>
            <a:ext cx="7543800" cy="1347788"/>
            <a:chOff x="96" y="3024"/>
            <a:chExt cx="4992" cy="849"/>
          </a:xfrm>
        </p:grpSpPr>
        <p:sp>
          <p:nvSpPr>
            <p:cNvPr id="79882" name="Text Box 9">
              <a:extLst>
                <a:ext uri="{FF2B5EF4-FFF2-40B4-BE49-F238E27FC236}">
                  <a16:creationId xmlns:a16="http://schemas.microsoft.com/office/drawing/2014/main" id="{0A31ECC2-2B2B-40DD-B666-EFDCBF07F8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024"/>
              <a:ext cx="4320" cy="8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defRPr/>
              </a:pPr>
              <a:r>
                <a:rPr lang="zh-CN" altLang="en-US" b="1" dirty="0">
                  <a:solidFill>
                    <a:srgbClr val="800000"/>
                  </a:solidFill>
                  <a:latin typeface="+mn-lt"/>
                  <a:ea typeface="+mn-ea"/>
                </a:rPr>
                <a:t>(1+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c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x+…+c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n-1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</a:t>
              </a:r>
              <a:r>
                <a:rPr lang="en-US" altLang="zh-CN" b="1" baseline="30000" dirty="0">
                  <a:solidFill>
                    <a:srgbClr val="800000"/>
                  </a:solidFill>
                  <a:latin typeface="+mn-lt"/>
                  <a:ea typeface="+mn-ea"/>
                </a:rPr>
                <a:t>n-1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+c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n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</a:t>
              </a:r>
              <a:r>
                <a:rPr lang="en-US" altLang="zh-CN" b="1" baseline="30000" dirty="0">
                  <a:solidFill>
                    <a:srgbClr val="800000"/>
                  </a:solidFill>
                  <a:latin typeface="+mn-lt"/>
                  <a:ea typeface="+mn-ea"/>
                </a:rPr>
                <a:t>n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)A(x)</a:t>
              </a:r>
            </a:p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=(a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+a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2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x+…+a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n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</a:t>
              </a:r>
              <a:r>
                <a:rPr lang="en-US" altLang="zh-CN" b="1" baseline="30000" dirty="0">
                  <a:solidFill>
                    <a:srgbClr val="800000"/>
                  </a:solidFill>
                  <a:latin typeface="+mn-lt"/>
                  <a:ea typeface="+mn-ea"/>
                </a:rPr>
                <a:t>n-1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)+c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x(a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+a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2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x+…+a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n-1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</a:t>
              </a:r>
              <a:r>
                <a:rPr lang="en-US" altLang="zh-CN" b="1" baseline="30000" dirty="0">
                  <a:solidFill>
                    <a:srgbClr val="800000"/>
                  </a:solidFill>
                  <a:latin typeface="+mn-lt"/>
                  <a:ea typeface="+mn-ea"/>
                </a:rPr>
                <a:t>n-2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)</a:t>
              </a:r>
            </a:p>
            <a:p>
              <a:pPr eaLnBrk="1" hangingPunct="1">
                <a:spcBef>
                  <a:spcPct val="20000"/>
                </a:spcBef>
                <a:defRPr/>
              </a:pP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+c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2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</a:t>
              </a:r>
              <a:r>
                <a:rPr lang="en-US" altLang="zh-CN" b="1" baseline="30000" dirty="0">
                  <a:solidFill>
                    <a:srgbClr val="800000"/>
                  </a:solidFill>
                  <a:latin typeface="+mn-lt"/>
                  <a:ea typeface="+mn-ea"/>
                </a:rPr>
                <a:t>2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(a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+a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2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x+…+a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n-2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</a:t>
              </a:r>
              <a:r>
                <a:rPr lang="en-US" altLang="zh-CN" b="1" baseline="30000" dirty="0">
                  <a:solidFill>
                    <a:srgbClr val="800000"/>
                  </a:solidFill>
                  <a:latin typeface="+mn-lt"/>
                  <a:ea typeface="+mn-ea"/>
                </a:rPr>
                <a:t>n-3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)+…+c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n-1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x</a:t>
              </a:r>
              <a:r>
                <a:rPr lang="en-US" altLang="zh-CN" b="1" baseline="30000" dirty="0">
                  <a:solidFill>
                    <a:srgbClr val="800000"/>
                  </a:solidFill>
                  <a:latin typeface="+mn-lt"/>
                  <a:ea typeface="+mn-ea"/>
                </a:rPr>
                <a:t>n-1</a:t>
              </a:r>
              <a:r>
                <a:rPr lang="en-US" altLang="zh-CN" b="1" dirty="0">
                  <a:solidFill>
                    <a:srgbClr val="800000"/>
                  </a:solidFill>
                  <a:latin typeface="+mn-lt"/>
                  <a:ea typeface="+mn-ea"/>
                </a:rPr>
                <a:t>a</a:t>
              </a:r>
              <a:r>
                <a:rPr lang="en-US" altLang="zh-CN" b="1" baseline="-25000" dirty="0">
                  <a:solidFill>
                    <a:srgbClr val="800000"/>
                  </a:solidFill>
                  <a:latin typeface="+mn-lt"/>
                  <a:ea typeface="+mn-ea"/>
                </a:rPr>
                <a:t>1</a:t>
              </a:r>
              <a:endParaRPr lang="zh-CN" altLang="en-US" b="1" baseline="-25000" dirty="0">
                <a:solidFill>
                  <a:srgbClr val="800000"/>
                </a:solidFill>
                <a:latin typeface="+mn-lt"/>
                <a:ea typeface="+mn-ea"/>
              </a:endParaRPr>
            </a:p>
          </p:txBody>
        </p:sp>
        <p:sp>
          <p:nvSpPr>
            <p:cNvPr id="79883" name="Text Box 10">
              <a:extLst>
                <a:ext uri="{FF2B5EF4-FFF2-40B4-BE49-F238E27FC236}">
                  <a16:creationId xmlns:a16="http://schemas.microsoft.com/office/drawing/2014/main" id="{CB813EA6-FDDE-4E51-9F9E-BE642AB929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3072"/>
              <a:ext cx="624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b="1">
                  <a:solidFill>
                    <a:srgbClr val="800000"/>
                  </a:solidFill>
                  <a:latin typeface="+mn-lt"/>
                  <a:ea typeface="+mn-ea"/>
                </a:rPr>
                <a:t>移项整理</a:t>
              </a:r>
            </a:p>
          </p:txBody>
        </p:sp>
      </p:grp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49D2984-A1E2-4AC2-81CF-04D3A992C01C}"/>
              </a:ext>
            </a:extLst>
          </p:cNvPr>
          <p:cNvCxnSpPr/>
          <p:nvPr/>
        </p:nvCxnSpPr>
        <p:spPr>
          <a:xfrm>
            <a:off x="7086600" y="1138238"/>
            <a:ext cx="76200" cy="5041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2594B0FB-7C1D-4703-B07E-7AA0D1B0D965}"/>
              </a:ext>
            </a:extLst>
          </p:cNvPr>
          <p:cNvSpPr txBox="1"/>
          <p:nvPr/>
        </p:nvSpPr>
        <p:spPr>
          <a:xfrm>
            <a:off x="7620000" y="1304925"/>
            <a:ext cx="7620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+mn-ea"/>
                <a:ea typeface="+mn-ea"/>
              </a:rPr>
              <a:t>即</a:t>
            </a:r>
          </a:p>
        </p:txBody>
      </p:sp>
      <p:graphicFrame>
        <p:nvGraphicFramePr>
          <p:cNvPr id="126989" name="对象 7">
            <a:extLst>
              <a:ext uri="{FF2B5EF4-FFF2-40B4-BE49-F238E27FC236}">
                <a16:creationId xmlns:a16="http://schemas.microsoft.com/office/drawing/2014/main" id="{6434D851-A572-47B7-A8B8-4CACA23577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18350" y="1660525"/>
          <a:ext cx="5073650" cy="106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161" name="Formula" r:id="rId7" imgW="2510790" imgH="527050" progId="Equation.Ribbit">
                  <p:embed/>
                </p:oleObj>
              </mc:Choice>
              <mc:Fallback>
                <p:oleObj name="Formula" r:id="rId7" imgW="2510790" imgH="527050" progId="Equation.Ribbit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8350" y="1660525"/>
                        <a:ext cx="5073650" cy="106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990" name="对象 17">
            <a:extLst>
              <a:ext uri="{FF2B5EF4-FFF2-40B4-BE49-F238E27FC236}">
                <a16:creationId xmlns:a16="http://schemas.microsoft.com/office/drawing/2014/main" id="{F341C1BD-B6C9-4E1D-832F-9BAFF9F8C7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08975" y="2747963"/>
          <a:ext cx="2547938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162" name="Formula" r:id="rId9" imgW="749300" imgH="251460" progId="Equation.Ribbit">
                  <p:embed/>
                </p:oleObj>
              </mc:Choice>
              <mc:Fallback>
                <p:oleObj name="Formula" r:id="rId9" imgW="749300" imgH="251460" progId="Equation.Ribbit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8975" y="2747963"/>
                        <a:ext cx="2547938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C955FF52-48B3-4BF5-91DB-68E4CBA9817F}"/>
              </a:ext>
            </a:extLst>
          </p:cNvPr>
          <p:cNvSpPr txBox="1"/>
          <p:nvPr/>
        </p:nvSpPr>
        <p:spPr>
          <a:xfrm>
            <a:off x="7508875" y="3768725"/>
            <a:ext cx="341947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+mn-ea"/>
                <a:ea typeface="+mn-ea"/>
              </a:rPr>
              <a:t>由此也可以清楚地看出</a:t>
            </a:r>
          </a:p>
        </p:txBody>
      </p:sp>
      <p:graphicFrame>
        <p:nvGraphicFramePr>
          <p:cNvPr id="126992" name="对象 8">
            <a:extLst>
              <a:ext uri="{FF2B5EF4-FFF2-40B4-BE49-F238E27FC236}">
                <a16:creationId xmlns:a16="http://schemas.microsoft.com/office/drawing/2014/main" id="{85838D95-7BC5-4525-B18E-3DC2CBD4C1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29650" y="4440238"/>
          <a:ext cx="261143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163" name="Formula" r:id="rId11" imgW="982980" imgH="176530" progId="Equation.Ribbit">
                  <p:embed/>
                </p:oleObj>
              </mc:Choice>
              <mc:Fallback>
                <p:oleObj name="Formula" r:id="rId11" imgW="982980" imgH="176530" progId="Equation.Ribbit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9650" y="4440238"/>
                        <a:ext cx="2611438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文本框 20">
            <a:extLst>
              <a:ext uri="{FF2B5EF4-FFF2-40B4-BE49-F238E27FC236}">
                <a16:creationId xmlns:a16="http://schemas.microsoft.com/office/drawing/2014/main" id="{39325C43-0CE0-40B6-9901-0053E62BD248}"/>
              </a:ext>
            </a:extLst>
          </p:cNvPr>
          <p:cNvSpPr txBox="1"/>
          <p:nvPr/>
        </p:nvSpPr>
        <p:spPr>
          <a:xfrm>
            <a:off x="7502525" y="2890838"/>
            <a:ext cx="762000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+mn-ea"/>
                <a:ea typeface="+mn-ea"/>
              </a:rPr>
              <a:t>即</a:t>
            </a:r>
          </a:p>
        </p:txBody>
      </p:sp>
    </p:spTree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内容占位符 2">
            <a:extLst>
              <a:ext uri="{FF2B5EF4-FFF2-40B4-BE49-F238E27FC236}">
                <a16:creationId xmlns:a16="http://schemas.microsoft.com/office/drawing/2014/main" id="{57EDB175-BB8A-4E7A-8648-9A86720485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3912" y="1465263"/>
            <a:ext cx="10606087" cy="4579937"/>
          </a:xfrm>
        </p:spPr>
        <p:txBody>
          <a:bodyPr/>
          <a:lstStyle/>
          <a:p>
            <a:r>
              <a:rPr lang="zh-CN" altLang="en-US" sz="2800" b="1" dirty="0"/>
              <a:t>※</a:t>
            </a:r>
            <a:r>
              <a:rPr lang="ja-JP" altLang="en-US" sz="2800" b="1" dirty="0"/>
              <a:t>　</a:t>
            </a:r>
            <a:r>
              <a:rPr lang="el-GR" altLang="zh-CN" sz="2800" b="1" dirty="0">
                <a:latin typeface="Times New Roman" panose="02020603050405020304" pitchFamily="18" charset="0"/>
              </a:rPr>
              <a:t>φ</a:t>
            </a:r>
            <a:r>
              <a:rPr lang="zh-CN" altLang="en-US" sz="2800" b="1" dirty="0"/>
              <a:t>(x)的次数最大可能是n-1。</a:t>
            </a:r>
            <a:endParaRPr lang="en-US" altLang="zh-CN" sz="2800" b="1" dirty="0"/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因此</a:t>
            </a:r>
            <a:r>
              <a:rPr lang="el-GR" altLang="zh-CN" sz="2800" b="1" dirty="0">
                <a:latin typeface="Times New Roman" panose="02020603050405020304" pitchFamily="18" charset="0"/>
              </a:rPr>
              <a:t>φ</a:t>
            </a:r>
            <a:r>
              <a:rPr lang="zh-CN" altLang="en-US" sz="2800" b="1" dirty="0"/>
              <a:t>(x)表达式共有n个系数，从而有2</a:t>
            </a:r>
            <a:r>
              <a:rPr lang="zh-CN" altLang="en-US" sz="2800" b="1" baseline="30000" dirty="0"/>
              <a:t>n</a:t>
            </a:r>
            <a:r>
              <a:rPr lang="zh-CN" altLang="en-US" sz="2800" b="1" dirty="0"/>
              <a:t>－1个不同的非0表达式，并且由初始状态a</a:t>
            </a:r>
            <a:r>
              <a:rPr lang="zh-CN" altLang="en-US" sz="2800" b="1" baseline="-25000" dirty="0"/>
              <a:t>1</a:t>
            </a:r>
            <a:r>
              <a:rPr lang="zh-CN" altLang="en-US" sz="2800" b="1" dirty="0"/>
              <a:t>, a</a:t>
            </a:r>
            <a:r>
              <a:rPr lang="zh-CN" altLang="en-US" sz="2800" b="1" baseline="-25000" dirty="0"/>
              <a:t>2</a:t>
            </a:r>
            <a:r>
              <a:rPr lang="zh-CN" altLang="en-US" sz="2800" b="1" dirty="0"/>
              <a:t>,…,a</a:t>
            </a:r>
            <a:r>
              <a:rPr lang="zh-CN" altLang="en-US" sz="2800" b="1" baseline="-25000" dirty="0"/>
              <a:t>n</a:t>
            </a:r>
            <a:r>
              <a:rPr lang="zh-CN" altLang="en-US" sz="2800" b="1" dirty="0"/>
              <a:t>完全确定。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这样每一个初始状态对应一条不同的序列，而每一条序列的生成函数A(x)唯一确定一个</a:t>
            </a:r>
            <a:r>
              <a:rPr lang="el-GR" altLang="zh-CN" sz="2800" b="1" dirty="0">
                <a:latin typeface="Times New Roman" panose="02020603050405020304" pitchFamily="18" charset="0"/>
              </a:rPr>
              <a:t>φ</a:t>
            </a:r>
            <a:r>
              <a:rPr lang="zh-CN" altLang="en-US" sz="2800" b="1" dirty="0"/>
              <a:t>(x)，共有2</a:t>
            </a:r>
            <a:r>
              <a:rPr lang="zh-CN" altLang="en-US" sz="2800" b="1" baseline="30000" dirty="0"/>
              <a:t>n</a:t>
            </a:r>
            <a:r>
              <a:rPr lang="zh-CN" altLang="en-US" sz="2800" b="1" dirty="0"/>
              <a:t>－1个初始状态</a:t>
            </a:r>
          </a:p>
          <a:p>
            <a:pPr>
              <a:lnSpc>
                <a:spcPct val="150000"/>
              </a:lnSpc>
            </a:pPr>
            <a:r>
              <a:rPr lang="zh-CN" altLang="en-US" sz="2800" b="1" dirty="0"/>
              <a:t>所以初始状态、</a:t>
            </a:r>
            <a:r>
              <a:rPr lang="el-GR" altLang="zh-CN" sz="2800" b="1" dirty="0">
                <a:latin typeface="Times New Roman" panose="02020603050405020304" pitchFamily="18" charset="0"/>
              </a:rPr>
              <a:t>φ</a:t>
            </a:r>
            <a:r>
              <a:rPr lang="zh-CN" altLang="en-US" sz="2800" b="1" dirty="0"/>
              <a:t>(x)、G(p(x))中的序列{a</a:t>
            </a:r>
            <a:r>
              <a:rPr lang="zh-CN" altLang="en-US" sz="2800" b="1" baseline="-25000" dirty="0"/>
              <a:t>i</a:t>
            </a:r>
            <a:r>
              <a:rPr lang="zh-CN" altLang="en-US" sz="2800" b="1" dirty="0"/>
              <a:t>}三者之间一一对应</a:t>
            </a:r>
            <a:endParaRPr lang="en-US" altLang="zh-CN" sz="2800" b="1" dirty="0"/>
          </a:p>
          <a:p>
            <a:pPr>
              <a:lnSpc>
                <a:spcPct val="150000"/>
              </a:lnSpc>
            </a:pPr>
            <a:r>
              <a:rPr lang="en-US" altLang="zh-CN" sz="2800" b="1" dirty="0"/>
              <a:t>              </a:t>
            </a:r>
            <a:r>
              <a:rPr lang="zh-CN" altLang="en-US" sz="2800" b="1" dirty="0"/>
              <a:t>A(x)</a:t>
            </a:r>
          </a:p>
        </p:txBody>
      </p:sp>
      <p:graphicFrame>
        <p:nvGraphicFramePr>
          <p:cNvPr id="3" name="对象 3">
            <a:extLst>
              <a:ext uri="{FF2B5EF4-FFF2-40B4-BE49-F238E27FC236}">
                <a16:creationId xmlns:a16="http://schemas.microsoft.com/office/drawing/2014/main" id="{54049E53-7591-4350-9F04-6E71219330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563220"/>
              </p:ext>
            </p:extLst>
          </p:nvPr>
        </p:nvGraphicFramePr>
        <p:xfrm>
          <a:off x="1447800" y="152400"/>
          <a:ext cx="2547938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34" name="Formula" r:id="rId3" imgW="749300" imgH="251460" progId="Equation.Ribbit">
                  <p:embed/>
                </p:oleObj>
              </mc:Choice>
              <mc:Fallback>
                <p:oleObj name="Formula" r:id="rId3" imgW="749300" imgH="251460" progId="Equation.Ribbit">
                  <p:embed/>
                  <p:pic>
                    <p:nvPicPr>
                      <p:cNvPr id="119812" name="对象 3">
                        <a:extLst>
                          <a:ext uri="{FF2B5EF4-FFF2-40B4-BE49-F238E27FC236}">
                            <a16:creationId xmlns:a16="http://schemas.microsoft.com/office/drawing/2014/main" id="{FEE14F16-1C93-4D06-82C1-03F9E1A628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52400"/>
                        <a:ext cx="2547938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4">
            <a:extLst>
              <a:ext uri="{FF2B5EF4-FFF2-40B4-BE49-F238E27FC236}">
                <a16:creationId xmlns:a16="http://schemas.microsoft.com/office/drawing/2014/main" id="{3EA0349A-3D8F-430F-95D9-E3E887559B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248660"/>
              </p:ext>
            </p:extLst>
          </p:nvPr>
        </p:nvGraphicFramePr>
        <p:xfrm>
          <a:off x="5410200" y="63967"/>
          <a:ext cx="48482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35" name="Formula" r:id="rId5" imgW="1959610" imgH="389890" progId="Equation.Ribbit">
                  <p:embed/>
                </p:oleObj>
              </mc:Choice>
              <mc:Fallback>
                <p:oleObj name="Formula" r:id="rId5" imgW="1959610" imgH="389890" progId="Equation.Ribbit">
                  <p:embed/>
                  <p:pic>
                    <p:nvPicPr>
                      <p:cNvPr id="119813" name="对象 4">
                        <a:extLst>
                          <a:ext uri="{FF2B5EF4-FFF2-40B4-BE49-F238E27FC236}">
                            <a16:creationId xmlns:a16="http://schemas.microsoft.com/office/drawing/2014/main" id="{43E0DE02-FB56-420A-91C6-4039665C85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63967"/>
                        <a:ext cx="48482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DFBE167-A6B5-4C2F-9C4A-A94CBD0FA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一些定理和定义</a:t>
            </a:r>
          </a:p>
        </p:txBody>
      </p:sp>
      <p:sp>
        <p:nvSpPr>
          <p:cNvPr id="83970" name="Rectangle 1026">
            <a:extLst>
              <a:ext uri="{FF2B5EF4-FFF2-40B4-BE49-F238E27FC236}">
                <a16:creationId xmlns:a16="http://schemas.microsoft.com/office/drawing/2014/main" id="{0CAD7902-6333-44E2-A607-1FC296037C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3913" y="1033463"/>
            <a:ext cx="10758487" cy="5011737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latin typeface="+mn-lt"/>
              </a:rPr>
              <a:t>根据初始状态的不同，由递推关系(*)生成的非恒零的序列有2</a:t>
            </a:r>
            <a:r>
              <a:rPr lang="en-US" altLang="zh-CN" b="1" baseline="30000" dirty="0">
                <a:latin typeface="+mn-lt"/>
              </a:rPr>
              <a:t>n</a:t>
            </a:r>
            <a:r>
              <a:rPr lang="en-US" altLang="zh-CN" b="1" dirty="0">
                <a:latin typeface="+mn-lt"/>
              </a:rPr>
              <a:t>-1</a:t>
            </a:r>
            <a:r>
              <a:rPr lang="zh-CN" altLang="en-US" b="1" dirty="0">
                <a:latin typeface="+mn-lt"/>
              </a:rPr>
              <a:t>个，记这2</a:t>
            </a:r>
            <a:r>
              <a:rPr lang="en-US" altLang="zh-CN" b="1" baseline="30000" dirty="0">
                <a:latin typeface="+mn-lt"/>
              </a:rPr>
              <a:t>n</a:t>
            </a:r>
            <a:r>
              <a:rPr lang="en-US" altLang="zh-CN" b="1" dirty="0">
                <a:latin typeface="+mn-lt"/>
              </a:rPr>
              <a:t>-1</a:t>
            </a:r>
            <a:r>
              <a:rPr lang="zh-CN" altLang="en-US" b="1" dirty="0">
                <a:latin typeface="+mn-lt"/>
              </a:rPr>
              <a:t>个非零序列的全体为</a:t>
            </a:r>
            <a:r>
              <a:rPr lang="en-US" altLang="zh-CN" b="1" dirty="0">
                <a:solidFill>
                  <a:srgbClr val="FF0000"/>
                </a:solidFill>
                <a:latin typeface="+mn-lt"/>
              </a:rPr>
              <a:t>G(p(x))</a:t>
            </a:r>
            <a:r>
              <a:rPr lang="en-US" altLang="zh-CN" b="1" dirty="0">
                <a:latin typeface="+mn-lt"/>
              </a:rPr>
              <a:t>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800000"/>
                </a:solidFill>
                <a:latin typeface="+mn-lt"/>
                <a:ea typeface="+mn-ea"/>
              </a:rPr>
              <a:t>定理</a:t>
            </a:r>
            <a:r>
              <a:rPr lang="en-US" altLang="zh-CN" b="1" dirty="0">
                <a:solidFill>
                  <a:srgbClr val="800000"/>
                </a:solidFill>
                <a:latin typeface="+mn-lt"/>
                <a:ea typeface="+mn-ea"/>
              </a:rPr>
              <a:t>3</a:t>
            </a:r>
            <a:r>
              <a:rPr lang="zh-CN" altLang="en-US" b="1" dirty="0">
                <a:solidFill>
                  <a:srgbClr val="800000"/>
                </a:solidFill>
                <a:latin typeface="+mn-lt"/>
                <a:ea typeface="+mn-ea"/>
              </a:rPr>
              <a:t>.2 </a:t>
            </a:r>
            <a:r>
              <a:rPr lang="zh-CN" altLang="en-US" b="1" dirty="0">
                <a:latin typeface="+mn-lt"/>
                <a:ea typeface="+mn-ea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p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)|</a:t>
            </a:r>
            <a:r>
              <a:rPr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q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的充要条件是</a:t>
            </a:r>
            <a:r>
              <a:rPr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G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p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))</a:t>
            </a:r>
            <a:r>
              <a:rPr lang="en-US" altLang="zh-CN" b="1" kern="0" dirty="0">
                <a:solidFill>
                  <a:srgbClr val="000000"/>
                </a:solidFill>
                <a:latin typeface="Times New Roman" pitchFamily="18" charset="0"/>
                <a:ea typeface="黑体"/>
                <a:cs typeface="Times New Roman" pitchFamily="18" charset="0"/>
                <a:sym typeface="Symbol" pitchFamily="18" charset="2"/>
              </a:rPr>
              <a:t>  </a:t>
            </a:r>
            <a:r>
              <a:rPr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G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q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))。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——</a:t>
            </a:r>
            <a:r>
              <a:rPr lang="zh-CN" altLang="en-US" b="1" dirty="0">
                <a:latin typeface="+mn-lt"/>
                <a:ea typeface="+mn-ea"/>
              </a:rPr>
              <a:t>该定理说明：可用</a:t>
            </a:r>
            <a:r>
              <a:rPr lang="en-US" altLang="zh-CN" b="1" dirty="0">
                <a:latin typeface="+mn-lt"/>
                <a:ea typeface="+mn-ea"/>
              </a:rPr>
              <a:t>n</a:t>
            </a:r>
            <a:r>
              <a:rPr lang="zh-CN" altLang="en-US" b="1" dirty="0">
                <a:latin typeface="+mn-lt"/>
                <a:ea typeface="+mn-ea"/>
              </a:rPr>
              <a:t>级</a:t>
            </a:r>
            <a:r>
              <a:rPr lang="en-US" altLang="zh-CN" b="1" dirty="0">
                <a:latin typeface="+mn-lt"/>
                <a:ea typeface="+mn-ea"/>
              </a:rPr>
              <a:t>LFSR</a:t>
            </a:r>
            <a:r>
              <a:rPr lang="zh-CN" altLang="en-US" b="1" dirty="0">
                <a:latin typeface="+mn-lt"/>
                <a:ea typeface="+mn-ea"/>
              </a:rPr>
              <a:t>产生的序列，也可用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级数更多</a:t>
            </a:r>
            <a:r>
              <a:rPr lang="zh-CN" altLang="en-US" b="1" dirty="0">
                <a:latin typeface="+mn-lt"/>
                <a:ea typeface="+mn-ea"/>
              </a:rPr>
              <a:t>的</a:t>
            </a:r>
            <a:r>
              <a:rPr lang="en-US" altLang="zh-CN" b="1" dirty="0">
                <a:latin typeface="+mn-lt"/>
                <a:ea typeface="+mn-ea"/>
              </a:rPr>
              <a:t>LFSR</a:t>
            </a:r>
            <a:r>
              <a:rPr lang="zh-CN" altLang="en-US" b="1" dirty="0">
                <a:latin typeface="+mn-lt"/>
                <a:ea typeface="+mn-ea"/>
              </a:rPr>
              <a:t>来产生。</a:t>
            </a:r>
            <a:endParaRPr lang="en-US" altLang="zh-CN" b="1" dirty="0">
              <a:latin typeface="+mn-lt"/>
              <a:ea typeface="+mn-ea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定义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3.3 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设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p(x)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是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GF(2)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上的多项式，使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p(x)|(x</a:t>
            </a:r>
            <a:r>
              <a:rPr lang="en-US" altLang="zh-CN" b="1" baseline="300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p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-1)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成立的最小正整数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p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称为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p(x)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的周期或阶。</a:t>
            </a:r>
            <a:endParaRPr lang="en-US" altLang="zh-CN" b="1" dirty="0">
              <a:solidFill>
                <a:schemeClr val="bg1">
                  <a:lumMod val="85000"/>
                </a:schemeClr>
              </a:solidFill>
              <a:latin typeface="+mn-lt"/>
              <a:ea typeface="+mn-ea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定理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3.3 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若序列{</a:t>
            </a:r>
            <a:r>
              <a:rPr lang="en-US" altLang="zh-CN" b="1" i="1" dirty="0" err="1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a</a:t>
            </a:r>
            <a:r>
              <a:rPr lang="en-US" altLang="zh-CN" b="1" i="1" baseline="-25000" dirty="0" err="1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i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}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的特征多项式</a:t>
            </a:r>
            <a:r>
              <a:rPr lang="en-US" altLang="zh-CN" b="1" i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p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x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)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定义在</a:t>
            </a:r>
            <a:r>
              <a:rPr lang="en-US" altLang="zh-CN" b="1" i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GF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(2)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上，</a:t>
            </a:r>
            <a:r>
              <a:rPr lang="en-US" altLang="zh-CN" b="1" i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p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是</a:t>
            </a:r>
            <a:r>
              <a:rPr lang="en-US" altLang="zh-CN" b="1" i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p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x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)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的周期，则{</a:t>
            </a:r>
            <a:r>
              <a:rPr lang="en-US" altLang="zh-CN" b="1" i="1" dirty="0" err="1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a</a:t>
            </a:r>
            <a:r>
              <a:rPr lang="en-US" altLang="zh-CN" b="1" i="1" baseline="-25000" dirty="0" err="1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i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}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的周期</a:t>
            </a:r>
            <a:r>
              <a:rPr lang="en-US" altLang="zh-CN" b="1" i="1" dirty="0" err="1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r</a:t>
            </a:r>
            <a:r>
              <a:rPr lang="en-US" altLang="zh-CN" b="1" dirty="0" err="1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|</a:t>
            </a:r>
            <a:r>
              <a:rPr lang="en-US" altLang="zh-CN" b="1" i="1" dirty="0" err="1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p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—— 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该定理说明：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n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级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LFSR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输出序列的周期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r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，不依赖于初始条件，而依赖于特征多项式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p(x)。</a:t>
            </a:r>
          </a:p>
        </p:txBody>
      </p:sp>
    </p:spTree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BAB5C2-981A-41E6-9FB8-ABE426F0A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定理</a:t>
            </a:r>
            <a:r>
              <a:rPr lang="en-US" altLang="zh-CN" dirty="0"/>
              <a:t>3.2</a:t>
            </a:r>
            <a:r>
              <a:rPr lang="zh-CN" altLang="en-US" dirty="0"/>
              <a:t>证明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3C9F25-3143-470E-99C6-0FD50044801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838200" y="1764967"/>
            <a:ext cx="10515600" cy="4579144"/>
          </a:xfrm>
          <a:blipFill>
            <a:blip r:embed="rId2"/>
            <a:stretch>
              <a:fillRect l="-928" t="-2264"/>
            </a:stretch>
          </a:blipFill>
          <a:extLst/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F2E46A-17BC-4645-AE9F-B72AE5FACD18}"/>
              </a:ext>
            </a:extLst>
          </p:cNvPr>
          <p:cNvSpPr/>
          <p:nvPr/>
        </p:nvSpPr>
        <p:spPr>
          <a:xfrm>
            <a:off x="3962400" y="513888"/>
            <a:ext cx="5943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i="1" dirty="0">
                <a:solidFill>
                  <a:srgbClr val="FF0000"/>
                </a:solidFill>
              </a:rPr>
              <a:t>p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x</a:t>
            </a:r>
            <a:r>
              <a:rPr lang="en-US" altLang="zh-CN" b="1" dirty="0">
                <a:solidFill>
                  <a:srgbClr val="FF0000"/>
                </a:solidFill>
              </a:rPr>
              <a:t>)|</a:t>
            </a:r>
            <a:r>
              <a:rPr lang="en-US" altLang="zh-CN" b="1" i="1" dirty="0">
                <a:solidFill>
                  <a:srgbClr val="FF0000"/>
                </a:solidFill>
              </a:rPr>
              <a:t>q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x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b="1" dirty="0">
                <a:solidFill>
                  <a:srgbClr val="FF0000"/>
                </a:solidFill>
              </a:rPr>
              <a:t>的充要条件是</a:t>
            </a:r>
            <a:r>
              <a:rPr lang="en-US" altLang="zh-CN" b="1" i="1" dirty="0">
                <a:solidFill>
                  <a:srgbClr val="FF0000"/>
                </a:solidFill>
              </a:rPr>
              <a:t>G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p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x</a:t>
            </a:r>
            <a:r>
              <a:rPr lang="en-US" altLang="zh-CN" b="1" dirty="0">
                <a:solidFill>
                  <a:srgbClr val="FF0000"/>
                </a:solidFill>
              </a:rPr>
              <a:t>))</a:t>
            </a:r>
            <a:r>
              <a:rPr lang="en-US" altLang="zh-CN" b="1" kern="0" dirty="0">
                <a:solidFill>
                  <a:srgbClr val="000000"/>
                </a:solidFill>
                <a:latin typeface="Times New Roman" pitchFamily="18" charset="0"/>
                <a:ea typeface="黑体"/>
                <a:cs typeface="Times New Roman" pitchFamily="18" charset="0"/>
                <a:sym typeface="Symbol" pitchFamily="18" charset="2"/>
              </a:rPr>
              <a:t>  </a:t>
            </a:r>
            <a:r>
              <a:rPr lang="en-US" altLang="zh-CN" b="1" i="1" dirty="0">
                <a:solidFill>
                  <a:srgbClr val="FF0000"/>
                </a:solidFill>
              </a:rPr>
              <a:t>G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q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x</a:t>
            </a:r>
            <a:r>
              <a:rPr lang="en-US" altLang="zh-CN" b="1" dirty="0">
                <a:solidFill>
                  <a:srgbClr val="FF0000"/>
                </a:solidFill>
              </a:rPr>
              <a:t>))</a:t>
            </a:r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BAB5C2-981A-41E6-9FB8-ABE426F0A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定理</a:t>
            </a:r>
            <a:r>
              <a:rPr lang="en-US" altLang="zh-CN" dirty="0"/>
              <a:t>3.2</a:t>
            </a:r>
            <a:r>
              <a:rPr lang="zh-CN" altLang="en-US" dirty="0"/>
              <a:t>证明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3C9F25-3143-470E-99C6-0FD50044801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>
            <a:blip r:embed="rId3"/>
            <a:stretch>
              <a:fillRect l="-870" t="-2261" r="-696"/>
            </a:stretch>
          </a:blipFill>
          <a:extLst/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graphicFrame>
        <p:nvGraphicFramePr>
          <p:cNvPr id="4" name="对象 4">
            <a:extLst>
              <a:ext uri="{FF2B5EF4-FFF2-40B4-BE49-F238E27FC236}">
                <a16:creationId xmlns:a16="http://schemas.microsoft.com/office/drawing/2014/main" id="{53CBDD6D-2C2E-462A-BA85-C0D34BD036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101433"/>
              </p:ext>
            </p:extLst>
          </p:nvPr>
        </p:nvGraphicFramePr>
        <p:xfrm>
          <a:off x="5984081" y="365125"/>
          <a:ext cx="48482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12" name="Formula" r:id="rId4" imgW="1959610" imgH="389890" progId="Equation.Ribbit">
                  <p:embed/>
                </p:oleObj>
              </mc:Choice>
              <mc:Fallback>
                <p:oleObj name="Formula" r:id="rId4" imgW="1959610" imgH="389890" progId="Equation.Ribbit">
                  <p:embed/>
                  <p:pic>
                    <p:nvPicPr>
                      <p:cNvPr id="131076" name="对象 4">
                        <a:extLst>
                          <a:ext uri="{FF2B5EF4-FFF2-40B4-BE49-F238E27FC236}">
                            <a16:creationId xmlns:a16="http://schemas.microsoft.com/office/drawing/2014/main" id="{E66291DA-7736-4CB7-ADD7-949C05BB0B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4081" y="365125"/>
                        <a:ext cx="48482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DFBE167-A6B5-4C2F-9C4A-A94CBD0FA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一些定理和定义</a:t>
            </a:r>
          </a:p>
        </p:txBody>
      </p:sp>
      <p:sp>
        <p:nvSpPr>
          <p:cNvPr id="83970" name="Rectangle 1026">
            <a:extLst>
              <a:ext uri="{FF2B5EF4-FFF2-40B4-BE49-F238E27FC236}">
                <a16:creationId xmlns:a16="http://schemas.microsoft.com/office/drawing/2014/main" id="{0CAD7902-6333-44E2-A607-1FC296037C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3913" y="1033463"/>
            <a:ext cx="10758487" cy="5011737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根据初始状态的不同，由递推关系(*)生成的非恒零的序列有2</a:t>
            </a:r>
            <a:r>
              <a:rPr lang="en-US" altLang="zh-CN" b="1" baseline="300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n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-1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个，记这2</a:t>
            </a:r>
            <a:r>
              <a:rPr lang="en-US" altLang="zh-CN" b="1" baseline="300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n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-1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个非零序列的全体为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G(p(x))。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定理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3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.2  </a:t>
            </a:r>
            <a:r>
              <a:rPr lang="en-US" altLang="zh-CN" b="1" i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p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x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)|</a:t>
            </a:r>
            <a:r>
              <a:rPr lang="en-US" altLang="zh-CN" b="1" i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q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x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)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的充要条件是</a:t>
            </a:r>
            <a:r>
              <a:rPr lang="en-US" altLang="zh-CN" b="1" i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G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p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x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))</a:t>
            </a:r>
            <a:r>
              <a:rPr lang="en-US" altLang="zh-CN" b="1" kern="0" dirty="0">
                <a:solidFill>
                  <a:schemeClr val="bg1">
                    <a:lumMod val="95000"/>
                  </a:schemeClr>
                </a:solidFill>
                <a:latin typeface="Times New Roman" pitchFamily="18" charset="0"/>
                <a:ea typeface="黑体"/>
                <a:cs typeface="Times New Roman" pitchFamily="18" charset="0"/>
                <a:sym typeface="Symbol" pitchFamily="18" charset="2"/>
              </a:rPr>
              <a:t>  </a:t>
            </a:r>
            <a:r>
              <a:rPr lang="en-US" altLang="zh-CN" b="1" i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G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q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x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))。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——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该定理说明：可用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n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级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LFSR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产生的序列，也可用级数更多的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LFSR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来产生。</a:t>
            </a:r>
            <a:endParaRPr lang="en-US" altLang="zh-CN" b="1" dirty="0">
              <a:solidFill>
                <a:schemeClr val="bg1">
                  <a:lumMod val="95000"/>
                </a:schemeClr>
              </a:solidFill>
              <a:latin typeface="+mn-lt"/>
              <a:ea typeface="+mn-ea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latin typeface="+mn-lt"/>
                <a:ea typeface="+mn-ea"/>
              </a:rPr>
              <a:t>定义</a:t>
            </a:r>
            <a:r>
              <a:rPr lang="en-US" altLang="zh-CN" b="1" dirty="0">
                <a:latin typeface="+mn-lt"/>
                <a:ea typeface="+mn-ea"/>
              </a:rPr>
              <a:t>3.3 </a:t>
            </a:r>
            <a:r>
              <a:rPr lang="zh-CN" altLang="en-US" b="1" dirty="0">
                <a:latin typeface="+mn-lt"/>
                <a:ea typeface="+mn-ea"/>
              </a:rPr>
              <a:t>设</a:t>
            </a:r>
            <a:r>
              <a:rPr lang="en-US" altLang="zh-CN" b="1" dirty="0">
                <a:latin typeface="+mn-lt"/>
                <a:ea typeface="+mn-ea"/>
              </a:rPr>
              <a:t>p(x)</a:t>
            </a:r>
            <a:r>
              <a:rPr lang="zh-CN" altLang="en-US" b="1" dirty="0">
                <a:latin typeface="+mn-lt"/>
                <a:ea typeface="+mn-ea"/>
              </a:rPr>
              <a:t>是</a:t>
            </a:r>
            <a:r>
              <a:rPr lang="en-US" altLang="zh-CN" b="1" dirty="0">
                <a:latin typeface="+mn-lt"/>
                <a:ea typeface="+mn-ea"/>
              </a:rPr>
              <a:t>GF(2)</a:t>
            </a:r>
            <a:r>
              <a:rPr lang="zh-CN" altLang="en-US" b="1" dirty="0">
                <a:latin typeface="+mn-lt"/>
                <a:ea typeface="+mn-ea"/>
              </a:rPr>
              <a:t>上的多项式，使</a:t>
            </a:r>
            <a:r>
              <a:rPr lang="en-US" altLang="zh-CN" b="1" dirty="0">
                <a:latin typeface="+mn-lt"/>
                <a:ea typeface="+mn-ea"/>
              </a:rPr>
              <a:t>p(x)|(x</a:t>
            </a:r>
            <a:r>
              <a:rPr lang="en-US" altLang="zh-CN" b="1" baseline="30000" dirty="0">
                <a:latin typeface="+mn-lt"/>
                <a:ea typeface="+mn-ea"/>
              </a:rPr>
              <a:t>p</a:t>
            </a:r>
            <a:r>
              <a:rPr lang="en-US" altLang="zh-CN" b="1" dirty="0">
                <a:latin typeface="+mn-lt"/>
                <a:ea typeface="+mn-ea"/>
              </a:rPr>
              <a:t>-1)</a:t>
            </a:r>
            <a:r>
              <a:rPr lang="zh-CN" altLang="en-US" b="1" dirty="0">
                <a:latin typeface="+mn-lt"/>
                <a:ea typeface="+mn-ea"/>
              </a:rPr>
              <a:t>成立的最小正整数</a:t>
            </a:r>
            <a:r>
              <a:rPr lang="en-US" altLang="zh-CN" b="1" dirty="0">
                <a:latin typeface="+mn-lt"/>
                <a:ea typeface="+mn-ea"/>
              </a:rPr>
              <a:t>p</a:t>
            </a:r>
            <a:r>
              <a:rPr lang="zh-CN" altLang="en-US" b="1" dirty="0">
                <a:latin typeface="+mn-lt"/>
                <a:ea typeface="+mn-ea"/>
              </a:rPr>
              <a:t>称为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p(x)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的周期</a:t>
            </a:r>
            <a:r>
              <a:rPr lang="zh-CN" altLang="en-US" b="1" dirty="0">
                <a:latin typeface="+mn-lt"/>
                <a:ea typeface="+mn-ea"/>
              </a:rPr>
              <a:t>或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阶</a:t>
            </a:r>
            <a:r>
              <a:rPr lang="zh-CN" altLang="en-US" b="1" dirty="0">
                <a:latin typeface="+mn-lt"/>
                <a:ea typeface="+mn-ea"/>
              </a:rPr>
              <a:t>。</a:t>
            </a:r>
            <a:endParaRPr lang="en-US" altLang="zh-CN" b="1" dirty="0">
              <a:latin typeface="+mn-lt"/>
              <a:ea typeface="+mn-ea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定理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3.3 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若序列{</a:t>
            </a:r>
            <a:r>
              <a:rPr lang="en-US" altLang="zh-CN" b="1" i="1" dirty="0" err="1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a</a:t>
            </a:r>
            <a:r>
              <a:rPr lang="en-US" altLang="zh-CN" b="1" i="1" baseline="-25000" dirty="0" err="1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i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}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的特征多项式</a:t>
            </a:r>
            <a:r>
              <a:rPr lang="en-US" altLang="zh-CN" b="1" i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p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x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)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定义在</a:t>
            </a:r>
            <a:r>
              <a:rPr lang="en-US" altLang="zh-CN" b="1" i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GF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(2)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上，</a:t>
            </a:r>
            <a:r>
              <a:rPr lang="en-US" altLang="zh-CN" b="1" i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p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是</a:t>
            </a:r>
            <a:r>
              <a:rPr lang="en-US" altLang="zh-CN" b="1" i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p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x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)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的周期，则{</a:t>
            </a:r>
            <a:r>
              <a:rPr lang="en-US" altLang="zh-CN" b="1" i="1" dirty="0" err="1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a</a:t>
            </a:r>
            <a:r>
              <a:rPr lang="en-US" altLang="zh-CN" b="1" i="1" baseline="-25000" dirty="0" err="1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i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}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的周期</a:t>
            </a:r>
            <a:r>
              <a:rPr lang="en-US" altLang="zh-CN" b="1" i="1" dirty="0" err="1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r</a:t>
            </a:r>
            <a:r>
              <a:rPr lang="en-US" altLang="zh-CN" b="1" dirty="0" err="1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|</a:t>
            </a:r>
            <a:r>
              <a:rPr lang="en-US" altLang="zh-CN" b="1" i="1" dirty="0" err="1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p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—— 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该定理说明：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n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级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LFSR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输出序列的周期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r</a:t>
            </a:r>
            <a:r>
              <a:rPr lang="zh-CN" altLang="en-US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，不依赖于初始条件，而依赖于特征多项式</a:t>
            </a:r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</a:rPr>
              <a:t>p(x)。</a:t>
            </a:r>
          </a:p>
        </p:txBody>
      </p:sp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DFBE167-A6B5-4C2F-9C4A-A94CBD0FA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一些定理和定义</a:t>
            </a:r>
          </a:p>
        </p:txBody>
      </p:sp>
      <p:sp>
        <p:nvSpPr>
          <p:cNvPr id="83970" name="Rectangle 1026">
            <a:extLst>
              <a:ext uri="{FF2B5EF4-FFF2-40B4-BE49-F238E27FC236}">
                <a16:creationId xmlns:a16="http://schemas.microsoft.com/office/drawing/2014/main" id="{0CAD7902-6333-44E2-A607-1FC296037C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3913" y="1033463"/>
            <a:ext cx="10758487" cy="5011737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根据初始状态的不同，由递推关系(*)生成的非恒零的序列有2</a:t>
            </a:r>
            <a:r>
              <a:rPr lang="en-US" altLang="zh-CN" b="1" baseline="300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n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-1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个，记这2</a:t>
            </a:r>
            <a:r>
              <a:rPr lang="en-US" altLang="zh-CN" b="1" baseline="30000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n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-1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个非零序列的全体为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</a:rPr>
              <a:t>G(p(x))。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定理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3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.2  </a:t>
            </a:r>
            <a:r>
              <a:rPr lang="en-US" altLang="zh-CN" b="1" i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p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x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)|</a:t>
            </a:r>
            <a:r>
              <a:rPr lang="en-US" altLang="zh-CN" b="1" i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q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x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)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的充要条件是</a:t>
            </a:r>
            <a:r>
              <a:rPr lang="en-US" altLang="zh-CN" b="1" i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G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p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x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))</a:t>
            </a:r>
            <a:r>
              <a:rPr lang="en-US" altLang="zh-CN" b="1" kern="0" dirty="0">
                <a:solidFill>
                  <a:schemeClr val="bg1">
                    <a:lumMod val="95000"/>
                  </a:schemeClr>
                </a:solidFill>
                <a:latin typeface="Times New Roman" pitchFamily="18" charset="0"/>
                <a:ea typeface="黑体"/>
                <a:cs typeface="Times New Roman" pitchFamily="18" charset="0"/>
                <a:sym typeface="Symbol" pitchFamily="18" charset="2"/>
              </a:rPr>
              <a:t>  </a:t>
            </a:r>
            <a:r>
              <a:rPr lang="en-US" altLang="zh-CN" b="1" i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G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q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x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))。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——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该定理说明：可用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n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级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LFSR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产生的序列，也可用级数更多的</a:t>
            </a:r>
            <a:r>
              <a:rPr lang="en-US" altLang="zh-CN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LFSR</a:t>
            </a:r>
            <a:r>
              <a:rPr lang="zh-CN" altLang="en-US" b="1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来产生。</a:t>
            </a:r>
            <a:endParaRPr lang="en-US" altLang="zh-CN" b="1" dirty="0">
              <a:solidFill>
                <a:schemeClr val="bg1">
                  <a:lumMod val="95000"/>
                </a:schemeClr>
              </a:solidFill>
              <a:latin typeface="+mn-lt"/>
              <a:ea typeface="+mn-ea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latin typeface="+mn-lt"/>
                <a:ea typeface="+mn-ea"/>
              </a:rPr>
              <a:t>定义</a:t>
            </a:r>
            <a:r>
              <a:rPr lang="en-US" altLang="zh-CN" b="1" dirty="0">
                <a:latin typeface="+mn-lt"/>
                <a:ea typeface="+mn-ea"/>
              </a:rPr>
              <a:t>3.3 </a:t>
            </a:r>
            <a:r>
              <a:rPr lang="zh-CN" altLang="en-US" b="1" dirty="0">
                <a:latin typeface="+mn-lt"/>
                <a:ea typeface="+mn-ea"/>
              </a:rPr>
              <a:t>设</a:t>
            </a:r>
            <a:r>
              <a:rPr lang="en-US" altLang="zh-CN" b="1" dirty="0">
                <a:latin typeface="+mn-lt"/>
                <a:ea typeface="+mn-ea"/>
              </a:rPr>
              <a:t>p(x)</a:t>
            </a:r>
            <a:r>
              <a:rPr lang="zh-CN" altLang="en-US" b="1" dirty="0">
                <a:latin typeface="+mn-lt"/>
                <a:ea typeface="+mn-ea"/>
              </a:rPr>
              <a:t>是</a:t>
            </a:r>
            <a:r>
              <a:rPr lang="en-US" altLang="zh-CN" b="1" dirty="0">
                <a:latin typeface="+mn-lt"/>
                <a:ea typeface="+mn-ea"/>
              </a:rPr>
              <a:t>GF(2)</a:t>
            </a:r>
            <a:r>
              <a:rPr lang="zh-CN" altLang="en-US" b="1" dirty="0">
                <a:latin typeface="+mn-lt"/>
                <a:ea typeface="+mn-ea"/>
              </a:rPr>
              <a:t>上的多项式，使</a:t>
            </a:r>
            <a:r>
              <a:rPr lang="en-US" altLang="zh-CN" b="1" dirty="0">
                <a:latin typeface="+mn-lt"/>
                <a:ea typeface="+mn-ea"/>
              </a:rPr>
              <a:t>p(x)|(x</a:t>
            </a:r>
            <a:r>
              <a:rPr lang="en-US" altLang="zh-CN" b="1" baseline="30000" dirty="0">
                <a:latin typeface="+mn-lt"/>
                <a:ea typeface="+mn-ea"/>
              </a:rPr>
              <a:t>p</a:t>
            </a:r>
            <a:r>
              <a:rPr lang="en-US" altLang="zh-CN" b="1" dirty="0">
                <a:latin typeface="+mn-lt"/>
                <a:ea typeface="+mn-ea"/>
              </a:rPr>
              <a:t>-1)</a:t>
            </a:r>
            <a:r>
              <a:rPr lang="zh-CN" altLang="en-US" b="1" dirty="0">
                <a:latin typeface="+mn-lt"/>
                <a:ea typeface="+mn-ea"/>
              </a:rPr>
              <a:t>成立的最小正整数</a:t>
            </a:r>
            <a:r>
              <a:rPr lang="en-US" altLang="zh-CN" b="1" dirty="0">
                <a:latin typeface="+mn-lt"/>
                <a:ea typeface="+mn-ea"/>
              </a:rPr>
              <a:t>p</a:t>
            </a:r>
            <a:r>
              <a:rPr lang="zh-CN" altLang="en-US" b="1" dirty="0">
                <a:latin typeface="+mn-lt"/>
                <a:ea typeface="+mn-ea"/>
              </a:rPr>
              <a:t>称为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p(x)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的周期</a:t>
            </a:r>
            <a:r>
              <a:rPr lang="zh-CN" altLang="en-US" b="1" dirty="0">
                <a:latin typeface="+mn-lt"/>
                <a:ea typeface="+mn-ea"/>
              </a:rPr>
              <a:t>或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阶</a:t>
            </a:r>
            <a:r>
              <a:rPr lang="zh-CN" altLang="en-US" b="1" dirty="0">
                <a:latin typeface="+mn-lt"/>
                <a:ea typeface="+mn-ea"/>
              </a:rPr>
              <a:t>。</a:t>
            </a:r>
            <a:endParaRPr lang="en-US" altLang="zh-CN" b="1" dirty="0">
              <a:latin typeface="+mn-lt"/>
              <a:ea typeface="+mn-ea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latin typeface="+mn-lt"/>
                <a:ea typeface="+mn-ea"/>
              </a:rPr>
              <a:t>定理</a:t>
            </a:r>
            <a:r>
              <a:rPr lang="en-US" altLang="zh-CN" b="1" dirty="0">
                <a:latin typeface="+mn-lt"/>
                <a:ea typeface="+mn-ea"/>
              </a:rPr>
              <a:t>3.3 </a:t>
            </a:r>
            <a:r>
              <a:rPr lang="zh-CN" altLang="en-US" b="1" dirty="0">
                <a:latin typeface="+mn-lt"/>
                <a:ea typeface="+mn-ea"/>
              </a:rPr>
              <a:t>若序列{</a:t>
            </a:r>
            <a:r>
              <a:rPr lang="en-US" altLang="zh-CN" b="1" i="1" dirty="0" err="1">
                <a:latin typeface="+mn-lt"/>
                <a:ea typeface="+mn-ea"/>
              </a:rPr>
              <a:t>a</a:t>
            </a:r>
            <a:r>
              <a:rPr lang="en-US" altLang="zh-CN" b="1" i="1" baseline="-25000" dirty="0" err="1">
                <a:latin typeface="+mn-lt"/>
                <a:ea typeface="+mn-ea"/>
              </a:rPr>
              <a:t>i</a:t>
            </a:r>
            <a:r>
              <a:rPr lang="en-US" altLang="zh-CN" b="1" dirty="0">
                <a:latin typeface="+mn-lt"/>
                <a:ea typeface="+mn-ea"/>
              </a:rPr>
              <a:t>}</a:t>
            </a:r>
            <a:r>
              <a:rPr lang="zh-CN" altLang="en-US" b="1" dirty="0">
                <a:latin typeface="+mn-lt"/>
                <a:ea typeface="+mn-ea"/>
              </a:rPr>
              <a:t>的特征多项式</a:t>
            </a:r>
            <a:r>
              <a:rPr lang="en-US" altLang="zh-CN" b="1" i="1" dirty="0">
                <a:latin typeface="+mn-lt"/>
                <a:ea typeface="+mn-ea"/>
              </a:rPr>
              <a:t>p</a:t>
            </a:r>
            <a:r>
              <a:rPr lang="en-US" altLang="zh-CN" b="1" dirty="0">
                <a:latin typeface="+mn-lt"/>
                <a:ea typeface="+mn-ea"/>
              </a:rPr>
              <a:t>(</a:t>
            </a:r>
            <a:r>
              <a:rPr lang="en-US" altLang="zh-CN" b="1" i="1" dirty="0">
                <a:latin typeface="+mn-lt"/>
                <a:ea typeface="+mn-ea"/>
              </a:rPr>
              <a:t>x</a:t>
            </a:r>
            <a:r>
              <a:rPr lang="en-US" altLang="zh-CN" b="1" dirty="0">
                <a:latin typeface="+mn-lt"/>
                <a:ea typeface="+mn-ea"/>
              </a:rPr>
              <a:t>)</a:t>
            </a:r>
            <a:r>
              <a:rPr lang="zh-CN" altLang="en-US" b="1" dirty="0">
                <a:latin typeface="+mn-lt"/>
                <a:ea typeface="+mn-ea"/>
              </a:rPr>
              <a:t>定义在</a:t>
            </a:r>
            <a:r>
              <a:rPr lang="en-US" altLang="zh-CN" b="1" i="1" dirty="0">
                <a:latin typeface="+mn-lt"/>
                <a:ea typeface="+mn-ea"/>
              </a:rPr>
              <a:t>GF</a:t>
            </a:r>
            <a:r>
              <a:rPr lang="en-US" altLang="zh-CN" b="1" dirty="0">
                <a:latin typeface="+mn-lt"/>
                <a:ea typeface="+mn-ea"/>
              </a:rPr>
              <a:t>(2)</a:t>
            </a:r>
            <a:r>
              <a:rPr lang="zh-CN" altLang="en-US" b="1" dirty="0">
                <a:latin typeface="+mn-lt"/>
                <a:ea typeface="+mn-ea"/>
              </a:rPr>
              <a:t>上，</a:t>
            </a:r>
            <a:r>
              <a:rPr lang="en-US" altLang="zh-CN" b="1" i="1" dirty="0">
                <a:latin typeface="+mn-lt"/>
                <a:ea typeface="+mn-ea"/>
              </a:rPr>
              <a:t>p</a:t>
            </a:r>
            <a:r>
              <a:rPr lang="zh-CN" altLang="en-US" b="1" dirty="0">
                <a:latin typeface="+mn-lt"/>
                <a:ea typeface="+mn-ea"/>
              </a:rPr>
              <a:t>是</a:t>
            </a:r>
            <a:r>
              <a:rPr lang="en-US" altLang="zh-CN" b="1" i="1" dirty="0">
                <a:latin typeface="+mn-lt"/>
                <a:ea typeface="+mn-ea"/>
              </a:rPr>
              <a:t>p</a:t>
            </a:r>
            <a:r>
              <a:rPr lang="en-US" altLang="zh-CN" b="1" dirty="0">
                <a:latin typeface="+mn-lt"/>
                <a:ea typeface="+mn-ea"/>
              </a:rPr>
              <a:t>(</a:t>
            </a:r>
            <a:r>
              <a:rPr lang="en-US" altLang="zh-CN" b="1" i="1" dirty="0">
                <a:latin typeface="+mn-lt"/>
                <a:ea typeface="+mn-ea"/>
              </a:rPr>
              <a:t>x</a:t>
            </a:r>
            <a:r>
              <a:rPr lang="en-US" altLang="zh-CN" b="1" dirty="0">
                <a:latin typeface="+mn-lt"/>
                <a:ea typeface="+mn-ea"/>
              </a:rPr>
              <a:t>)</a:t>
            </a:r>
            <a:r>
              <a:rPr lang="zh-CN" altLang="en-US" b="1" dirty="0">
                <a:latin typeface="+mn-lt"/>
                <a:ea typeface="+mn-ea"/>
              </a:rPr>
              <a:t>的周期，则{</a:t>
            </a:r>
            <a:r>
              <a:rPr lang="en-US" altLang="zh-CN" b="1" i="1" dirty="0" err="1">
                <a:latin typeface="+mn-lt"/>
                <a:ea typeface="+mn-ea"/>
              </a:rPr>
              <a:t>a</a:t>
            </a:r>
            <a:r>
              <a:rPr lang="en-US" altLang="zh-CN" b="1" i="1" baseline="-25000" dirty="0" err="1">
                <a:latin typeface="+mn-lt"/>
                <a:ea typeface="+mn-ea"/>
              </a:rPr>
              <a:t>i</a:t>
            </a:r>
            <a:r>
              <a:rPr lang="en-US" altLang="zh-CN" b="1" dirty="0">
                <a:latin typeface="+mn-lt"/>
                <a:ea typeface="+mn-ea"/>
              </a:rPr>
              <a:t>}</a:t>
            </a:r>
            <a:r>
              <a:rPr lang="zh-CN" altLang="en-US" b="1" dirty="0">
                <a:latin typeface="+mn-lt"/>
                <a:ea typeface="+mn-ea"/>
              </a:rPr>
              <a:t>的周期</a:t>
            </a:r>
            <a:r>
              <a:rPr lang="en-US" altLang="zh-CN" b="1" i="1" dirty="0" err="1">
                <a:latin typeface="+mn-lt"/>
                <a:ea typeface="+mn-ea"/>
              </a:rPr>
              <a:t>r</a:t>
            </a:r>
            <a:r>
              <a:rPr lang="en-US" altLang="zh-CN" b="1" dirty="0" err="1">
                <a:latin typeface="+mn-lt"/>
                <a:ea typeface="+mn-ea"/>
              </a:rPr>
              <a:t>|</a:t>
            </a:r>
            <a:r>
              <a:rPr lang="en-US" altLang="zh-CN" b="1" i="1" dirty="0" err="1">
                <a:latin typeface="+mn-lt"/>
                <a:ea typeface="+mn-ea"/>
              </a:rPr>
              <a:t>p</a:t>
            </a:r>
            <a:r>
              <a:rPr lang="en-US" altLang="zh-CN" b="1" dirty="0">
                <a:latin typeface="+mn-lt"/>
                <a:ea typeface="+mn-ea"/>
              </a:rPr>
              <a:t>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—— </a:t>
            </a:r>
            <a:r>
              <a:rPr lang="zh-CN" altLang="en-US" b="1" dirty="0">
                <a:latin typeface="+mn-lt"/>
                <a:ea typeface="+mn-ea"/>
              </a:rPr>
              <a:t>该定理说明：</a:t>
            </a:r>
            <a:r>
              <a:rPr lang="en-US" altLang="zh-CN" b="1" dirty="0">
                <a:latin typeface="+mn-lt"/>
                <a:ea typeface="+mn-ea"/>
              </a:rPr>
              <a:t>n</a:t>
            </a:r>
            <a:r>
              <a:rPr lang="zh-CN" altLang="en-US" b="1" dirty="0">
                <a:latin typeface="+mn-lt"/>
                <a:ea typeface="+mn-ea"/>
              </a:rPr>
              <a:t>级</a:t>
            </a:r>
            <a:r>
              <a:rPr lang="en-US" altLang="zh-CN" b="1" dirty="0">
                <a:latin typeface="+mn-lt"/>
                <a:ea typeface="+mn-ea"/>
              </a:rPr>
              <a:t>LFSR</a:t>
            </a:r>
            <a:r>
              <a:rPr lang="zh-CN" altLang="en-US" b="1" dirty="0">
                <a:latin typeface="+mn-lt"/>
                <a:ea typeface="+mn-ea"/>
              </a:rPr>
              <a:t>输出序列的周期</a:t>
            </a:r>
            <a:r>
              <a:rPr lang="en-US" altLang="zh-CN" b="1" dirty="0">
                <a:latin typeface="+mn-lt"/>
                <a:ea typeface="+mn-ea"/>
              </a:rPr>
              <a:t>r</a:t>
            </a:r>
            <a:r>
              <a:rPr lang="zh-CN" altLang="en-US" b="1" dirty="0">
                <a:latin typeface="+mn-lt"/>
                <a:ea typeface="+mn-ea"/>
              </a:rPr>
              <a:t>，不依赖于初始条件，而依赖于特征多项式</a:t>
            </a:r>
            <a:r>
              <a:rPr lang="en-US" altLang="zh-CN" b="1" dirty="0">
                <a:latin typeface="+mn-lt"/>
                <a:ea typeface="+mn-ea"/>
              </a:rPr>
              <a:t>p(x)。</a:t>
            </a:r>
            <a:endParaRPr lang="en-US" altLang="zh-CN" b="1" dirty="0">
              <a:solidFill>
                <a:srgbClr val="FF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8BB4F9-EB9B-4B68-9841-63816F3ED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688" y="228600"/>
            <a:ext cx="9036050" cy="66833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zh-CN" altLang="en-US" sz="2800" b="1" dirty="0"/>
              <a:t>定理</a:t>
            </a:r>
            <a:r>
              <a:rPr lang="en-US" altLang="zh-CN" sz="2800" b="1" dirty="0"/>
              <a:t>3.3 </a:t>
            </a:r>
            <a:r>
              <a:rPr lang="zh-CN" altLang="en-US" sz="2800" b="1" dirty="0"/>
              <a:t>若序列{</a:t>
            </a:r>
            <a:r>
              <a:rPr lang="en-US" altLang="zh-CN" sz="2800" b="1" i="1" dirty="0" err="1"/>
              <a:t>a</a:t>
            </a:r>
            <a:r>
              <a:rPr lang="en-US" altLang="zh-CN" sz="2800" b="1" i="1" baseline="-25000" dirty="0" err="1"/>
              <a:t>i</a:t>
            </a:r>
            <a:r>
              <a:rPr lang="en-US" altLang="zh-CN" sz="2800" b="1" dirty="0"/>
              <a:t>}</a:t>
            </a:r>
            <a:r>
              <a:rPr lang="zh-CN" altLang="en-US" sz="2800" b="1" dirty="0"/>
              <a:t>的特征多项式</a:t>
            </a:r>
            <a:r>
              <a:rPr lang="en-US" altLang="zh-CN" sz="2800" b="1" i="1" dirty="0"/>
              <a:t>p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定义在</a:t>
            </a:r>
            <a:r>
              <a:rPr lang="en-US" altLang="zh-CN" sz="2800" b="1" i="1" dirty="0"/>
              <a:t>GF</a:t>
            </a:r>
            <a:r>
              <a:rPr lang="en-US" altLang="zh-CN" sz="2800" b="1" dirty="0"/>
              <a:t>(2)</a:t>
            </a:r>
            <a:r>
              <a:rPr lang="zh-CN" altLang="en-US" sz="2800" b="1" dirty="0"/>
              <a:t>上，</a:t>
            </a:r>
            <a:r>
              <a:rPr lang="en-US" altLang="zh-CN" sz="2800" b="1" i="1" dirty="0"/>
              <a:t>p</a:t>
            </a:r>
            <a:r>
              <a:rPr lang="zh-CN" altLang="en-US" sz="2800" b="1" dirty="0"/>
              <a:t>是</a:t>
            </a:r>
            <a:r>
              <a:rPr lang="en-US" altLang="zh-CN" sz="2800" b="1" i="1" dirty="0"/>
              <a:t>p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的周期，则{</a:t>
            </a:r>
            <a:r>
              <a:rPr lang="en-US" altLang="zh-CN" sz="2800" b="1" i="1" dirty="0" err="1"/>
              <a:t>a</a:t>
            </a:r>
            <a:r>
              <a:rPr lang="en-US" altLang="zh-CN" sz="2800" b="1" i="1" baseline="-25000" dirty="0" err="1"/>
              <a:t>i</a:t>
            </a:r>
            <a:r>
              <a:rPr lang="en-US" altLang="zh-CN" sz="2800" b="1" dirty="0"/>
              <a:t>}</a:t>
            </a:r>
            <a:r>
              <a:rPr lang="zh-CN" altLang="en-US" sz="2800" b="1" dirty="0"/>
              <a:t>的周期</a:t>
            </a:r>
            <a:r>
              <a:rPr lang="en-US" altLang="zh-CN" sz="2800" b="1" i="1" dirty="0" err="1"/>
              <a:t>r</a:t>
            </a:r>
            <a:r>
              <a:rPr lang="en-US" altLang="zh-CN" sz="2800" b="1" dirty="0" err="1"/>
              <a:t>|</a:t>
            </a:r>
            <a:r>
              <a:rPr lang="en-US" altLang="zh-CN" sz="2800" b="1" i="1" dirty="0" err="1"/>
              <a:t>p</a:t>
            </a:r>
            <a:r>
              <a:rPr lang="en-US" altLang="zh-CN" sz="2800" b="1" dirty="0"/>
              <a:t>。</a:t>
            </a:r>
            <a:endParaRPr lang="zh-CN" altLang="en-US" sz="2800" dirty="0"/>
          </a:p>
        </p:txBody>
      </p:sp>
      <p:sp>
        <p:nvSpPr>
          <p:cNvPr id="587778" name="Rectangle 2">
            <a:extLst>
              <a:ext uri="{FF2B5EF4-FFF2-40B4-BE49-F238E27FC236}">
                <a16:creationId xmlns:a16="http://schemas.microsoft.com/office/drawing/2014/main" id="{45966B3D-3074-4707-BDB9-2C9B617199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3913" y="1281113"/>
            <a:ext cx="10515600" cy="4578350"/>
          </a:xfrm>
        </p:spPr>
        <p:txBody>
          <a:bodyPr>
            <a:normAutofit/>
          </a:bodyPr>
          <a:lstStyle/>
          <a:p>
            <a:pPr marL="280988" indent="0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latin typeface="+mn-lt"/>
              </a:rPr>
              <a:t>证明：由</a:t>
            </a:r>
            <a:r>
              <a:rPr lang="en-US" altLang="zh-CN" sz="2800" b="1" dirty="0">
                <a:latin typeface="+mn-lt"/>
              </a:rPr>
              <a:t>p(x)</a:t>
            </a:r>
            <a:r>
              <a:rPr lang="zh-CN" altLang="en-US" sz="2800" b="1" dirty="0">
                <a:latin typeface="+mn-lt"/>
              </a:rPr>
              <a:t>周期的定义得</a:t>
            </a:r>
            <a:r>
              <a:rPr lang="en-US" altLang="zh-CN" sz="2800" b="1" dirty="0">
                <a:latin typeface="+mn-lt"/>
              </a:rPr>
              <a:t>p(x)|(x</a:t>
            </a:r>
            <a:r>
              <a:rPr lang="en-US" altLang="zh-CN" sz="2800" b="1" baseline="30000" dirty="0">
                <a:latin typeface="+mn-lt"/>
              </a:rPr>
              <a:t>p</a:t>
            </a:r>
            <a:r>
              <a:rPr lang="en-US" altLang="zh-CN" sz="2800" b="1" dirty="0">
                <a:latin typeface="+mn-lt"/>
              </a:rPr>
              <a:t>-1)</a:t>
            </a:r>
          </a:p>
          <a:p>
            <a:pPr marL="738188" indent="-457200">
              <a:lnSpc>
                <a:spcPct val="110000"/>
              </a:lnSpc>
              <a:buFont typeface="Symbol" panose="05050102010706020507" pitchFamily="18" charset="2"/>
              <a:buChar char="Þ"/>
              <a:defRPr/>
            </a:pPr>
            <a:r>
              <a:rPr lang="zh-CN" altLang="en-US" sz="2800" b="1" dirty="0">
                <a:latin typeface="+mn-lt"/>
              </a:rPr>
              <a:t>存在</a:t>
            </a:r>
            <a:r>
              <a:rPr lang="en-US" altLang="zh-CN" sz="2800" b="1" dirty="0">
                <a:latin typeface="+mn-lt"/>
              </a:rPr>
              <a:t>q(x)</a:t>
            </a:r>
            <a:r>
              <a:rPr lang="zh-CN" altLang="en-US" sz="2800" b="1" dirty="0">
                <a:latin typeface="+mn-lt"/>
              </a:rPr>
              <a:t>，使得</a:t>
            </a:r>
            <a:r>
              <a:rPr lang="en-US" altLang="zh-CN" sz="2800" b="1" dirty="0">
                <a:latin typeface="+mn-lt"/>
              </a:rPr>
              <a:t>x</a:t>
            </a:r>
            <a:r>
              <a:rPr lang="en-US" altLang="zh-CN" sz="2800" b="1" baseline="30000" dirty="0">
                <a:latin typeface="+mn-lt"/>
              </a:rPr>
              <a:t>p</a:t>
            </a:r>
            <a:r>
              <a:rPr lang="en-US" altLang="zh-CN" sz="2800" b="1" dirty="0">
                <a:latin typeface="+mn-lt"/>
              </a:rPr>
              <a:t>-1=p(x)q(x)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7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7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8BB4F9-EB9B-4B68-9841-63816F3ED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688" y="228600"/>
            <a:ext cx="9036050" cy="66833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zh-CN" altLang="en-US" sz="2800" b="1" dirty="0"/>
              <a:t>定理</a:t>
            </a:r>
            <a:r>
              <a:rPr lang="en-US" altLang="zh-CN" sz="2800" b="1" dirty="0"/>
              <a:t>3.3 </a:t>
            </a:r>
            <a:r>
              <a:rPr lang="zh-CN" altLang="en-US" sz="2800" b="1" dirty="0"/>
              <a:t>若序列{</a:t>
            </a:r>
            <a:r>
              <a:rPr lang="en-US" altLang="zh-CN" sz="2800" b="1" i="1" dirty="0" err="1"/>
              <a:t>a</a:t>
            </a:r>
            <a:r>
              <a:rPr lang="en-US" altLang="zh-CN" sz="2800" b="1" i="1" baseline="-25000" dirty="0" err="1"/>
              <a:t>i</a:t>
            </a:r>
            <a:r>
              <a:rPr lang="en-US" altLang="zh-CN" sz="2800" b="1" dirty="0"/>
              <a:t>}</a:t>
            </a:r>
            <a:r>
              <a:rPr lang="zh-CN" altLang="en-US" sz="2800" b="1" dirty="0"/>
              <a:t>的特征多项式</a:t>
            </a:r>
            <a:r>
              <a:rPr lang="en-US" altLang="zh-CN" sz="2800" b="1" i="1" dirty="0"/>
              <a:t>p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定义在</a:t>
            </a:r>
            <a:r>
              <a:rPr lang="en-US" altLang="zh-CN" sz="2800" b="1" i="1" dirty="0"/>
              <a:t>GF</a:t>
            </a:r>
            <a:r>
              <a:rPr lang="en-US" altLang="zh-CN" sz="2800" b="1" dirty="0"/>
              <a:t>(2)</a:t>
            </a:r>
            <a:r>
              <a:rPr lang="zh-CN" altLang="en-US" sz="2800" b="1" dirty="0"/>
              <a:t>上，</a:t>
            </a:r>
            <a:r>
              <a:rPr lang="en-US" altLang="zh-CN" sz="2800" b="1" i="1" dirty="0"/>
              <a:t>p</a:t>
            </a:r>
            <a:r>
              <a:rPr lang="zh-CN" altLang="en-US" sz="2800" b="1" dirty="0"/>
              <a:t>是</a:t>
            </a:r>
            <a:r>
              <a:rPr lang="en-US" altLang="zh-CN" sz="2800" b="1" i="1" dirty="0"/>
              <a:t>p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的周期，则{</a:t>
            </a:r>
            <a:r>
              <a:rPr lang="en-US" altLang="zh-CN" sz="2800" b="1" i="1" dirty="0" err="1"/>
              <a:t>a</a:t>
            </a:r>
            <a:r>
              <a:rPr lang="en-US" altLang="zh-CN" sz="2800" b="1" i="1" baseline="-25000" dirty="0" err="1"/>
              <a:t>i</a:t>
            </a:r>
            <a:r>
              <a:rPr lang="en-US" altLang="zh-CN" sz="2800" b="1" dirty="0"/>
              <a:t>}</a:t>
            </a:r>
            <a:r>
              <a:rPr lang="zh-CN" altLang="en-US" sz="2800" b="1" dirty="0"/>
              <a:t>的周期</a:t>
            </a:r>
            <a:r>
              <a:rPr lang="en-US" altLang="zh-CN" sz="2800" b="1" i="1" dirty="0" err="1"/>
              <a:t>r</a:t>
            </a:r>
            <a:r>
              <a:rPr lang="en-US" altLang="zh-CN" sz="2800" b="1" dirty="0" err="1"/>
              <a:t>|</a:t>
            </a:r>
            <a:r>
              <a:rPr lang="en-US" altLang="zh-CN" sz="2800" b="1" i="1" dirty="0" err="1"/>
              <a:t>p</a:t>
            </a:r>
            <a:r>
              <a:rPr lang="en-US" altLang="zh-CN" sz="2800" b="1" dirty="0"/>
              <a:t>。</a:t>
            </a:r>
            <a:endParaRPr lang="zh-CN" altLang="en-US" sz="2800" dirty="0"/>
          </a:p>
        </p:txBody>
      </p:sp>
      <p:sp>
        <p:nvSpPr>
          <p:cNvPr id="587778" name="Rectangle 2">
            <a:extLst>
              <a:ext uri="{FF2B5EF4-FFF2-40B4-BE49-F238E27FC236}">
                <a16:creationId xmlns:a16="http://schemas.microsoft.com/office/drawing/2014/main" id="{45966B3D-3074-4707-BDB9-2C9B617199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3913" y="1281113"/>
            <a:ext cx="10515600" cy="4578350"/>
          </a:xfrm>
        </p:spPr>
        <p:txBody>
          <a:bodyPr>
            <a:normAutofit/>
          </a:bodyPr>
          <a:lstStyle/>
          <a:p>
            <a:pPr marL="280988" indent="0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latin typeface="+mn-lt"/>
              </a:rPr>
              <a:t>证明：由</a:t>
            </a:r>
            <a:r>
              <a:rPr lang="en-US" altLang="zh-CN" sz="2800" b="1" dirty="0">
                <a:latin typeface="+mn-lt"/>
              </a:rPr>
              <a:t>p(x)</a:t>
            </a:r>
            <a:r>
              <a:rPr lang="zh-CN" altLang="en-US" sz="2800" b="1" dirty="0">
                <a:latin typeface="+mn-lt"/>
              </a:rPr>
              <a:t>周期的定义得</a:t>
            </a:r>
            <a:r>
              <a:rPr lang="en-US" altLang="zh-CN" sz="2800" b="1" dirty="0">
                <a:latin typeface="+mn-lt"/>
              </a:rPr>
              <a:t>p(x)|(x</a:t>
            </a:r>
            <a:r>
              <a:rPr lang="en-US" altLang="zh-CN" sz="2800" b="1" baseline="30000" dirty="0">
                <a:latin typeface="+mn-lt"/>
              </a:rPr>
              <a:t>p</a:t>
            </a:r>
            <a:r>
              <a:rPr lang="en-US" altLang="zh-CN" sz="2800" b="1" dirty="0">
                <a:latin typeface="+mn-lt"/>
              </a:rPr>
              <a:t>-1)</a:t>
            </a:r>
          </a:p>
          <a:p>
            <a:pPr marL="738188" indent="-457200">
              <a:lnSpc>
                <a:spcPct val="110000"/>
              </a:lnSpc>
              <a:buFont typeface="Symbol" panose="05050102010706020507" pitchFamily="18" charset="2"/>
              <a:buChar char="Þ"/>
              <a:defRPr/>
            </a:pPr>
            <a:r>
              <a:rPr lang="zh-CN" altLang="en-US" sz="2800" b="1" dirty="0">
                <a:latin typeface="+mn-lt"/>
              </a:rPr>
              <a:t>存在</a:t>
            </a:r>
            <a:r>
              <a:rPr lang="en-US" altLang="zh-CN" sz="2800" b="1" dirty="0">
                <a:latin typeface="+mn-lt"/>
              </a:rPr>
              <a:t>q(x)</a:t>
            </a:r>
            <a:r>
              <a:rPr lang="zh-CN" altLang="en-US" sz="2800" b="1" dirty="0">
                <a:latin typeface="+mn-lt"/>
              </a:rPr>
              <a:t>，使得</a:t>
            </a:r>
            <a:r>
              <a:rPr lang="en-US" altLang="zh-CN" sz="2800" b="1" dirty="0">
                <a:latin typeface="+mn-lt"/>
              </a:rPr>
              <a:t>x</a:t>
            </a:r>
            <a:r>
              <a:rPr lang="en-US" altLang="zh-CN" sz="2800" b="1" baseline="30000" dirty="0">
                <a:latin typeface="+mn-lt"/>
              </a:rPr>
              <a:t>p</a:t>
            </a:r>
            <a:r>
              <a:rPr lang="en-US" altLang="zh-CN" sz="2800" b="1" dirty="0">
                <a:latin typeface="+mn-lt"/>
              </a:rPr>
              <a:t>-1=p(x)q(x)</a:t>
            </a:r>
          </a:p>
          <a:p>
            <a:pPr marL="280988" indent="0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latin typeface="+mn-lt"/>
              </a:rPr>
              <a:t>又由</a:t>
            </a:r>
            <a:r>
              <a:rPr lang="en-US" altLang="zh-CN" sz="2800" b="1" dirty="0">
                <a:latin typeface="+mn-lt"/>
              </a:rPr>
              <a:t>p(x)A(x)=</a:t>
            </a:r>
            <a:r>
              <a:rPr lang="el-GR" altLang="zh-CN" sz="2800" b="1" dirty="0">
                <a:latin typeface="Times New Roman" panose="02020603050405020304" pitchFamily="18" charset="0"/>
              </a:rPr>
              <a:t> φ</a:t>
            </a:r>
            <a:r>
              <a:rPr lang="en-US" altLang="zh-CN" sz="2800" b="1" dirty="0">
                <a:latin typeface="+mn-lt"/>
              </a:rPr>
              <a:t>(x)</a:t>
            </a:r>
            <a:endParaRPr lang="zh-CN" altLang="en-US" sz="2800" b="1" dirty="0">
              <a:latin typeface="+mn-lt"/>
            </a:endParaRPr>
          </a:p>
          <a:p>
            <a:pPr marL="738188" indent="-457200">
              <a:lnSpc>
                <a:spcPct val="110000"/>
              </a:lnSpc>
              <a:buFont typeface="Symbol" panose="05050102010706020507" pitchFamily="18" charset="2"/>
              <a:buChar char="Þ"/>
              <a:defRPr/>
            </a:pPr>
            <a:r>
              <a:rPr lang="en-US" altLang="zh-CN" sz="2800" b="1" dirty="0">
                <a:latin typeface="+mn-lt"/>
              </a:rPr>
              <a:t>p(x)q(x)A(x)=</a:t>
            </a:r>
            <a:r>
              <a:rPr lang="el-GR" altLang="zh-CN" sz="2800" b="1" dirty="0">
                <a:latin typeface="+mn-lt"/>
              </a:rPr>
              <a:t> φ</a:t>
            </a:r>
            <a:r>
              <a:rPr lang="en-US" altLang="zh-CN" sz="2800" b="1" dirty="0">
                <a:latin typeface="+mn-lt"/>
              </a:rPr>
              <a:t>(x)q(x)</a:t>
            </a:r>
          </a:p>
          <a:p>
            <a:pPr marL="738188" indent="-457200">
              <a:lnSpc>
                <a:spcPct val="110000"/>
              </a:lnSpc>
              <a:buFont typeface="Symbol" panose="05050102010706020507" pitchFamily="18" charset="2"/>
              <a:buChar char="Þ"/>
              <a:defRPr/>
            </a:pPr>
            <a:r>
              <a:rPr lang="en-US" altLang="zh-CN" sz="2800" b="1" dirty="0">
                <a:latin typeface="+mn-lt"/>
              </a:rPr>
              <a:t>(x</a:t>
            </a:r>
            <a:r>
              <a:rPr lang="en-US" altLang="zh-CN" sz="2800" b="1" baseline="30000" dirty="0">
                <a:latin typeface="+mn-lt"/>
              </a:rPr>
              <a:t>p</a:t>
            </a:r>
            <a:r>
              <a:rPr lang="en-US" altLang="zh-CN" sz="2800" b="1" dirty="0">
                <a:latin typeface="+mn-lt"/>
              </a:rPr>
              <a:t>-1)A(x)=</a:t>
            </a:r>
            <a:r>
              <a:rPr lang="el-GR" altLang="zh-CN" sz="2800" b="1" dirty="0">
                <a:latin typeface="Times New Roman" panose="02020603050405020304" pitchFamily="18" charset="0"/>
              </a:rPr>
              <a:t> φ</a:t>
            </a:r>
            <a:r>
              <a:rPr lang="en-US" altLang="zh-CN" sz="2800" b="1" dirty="0">
                <a:latin typeface="+mn-lt"/>
              </a:rPr>
              <a:t>(x)q(x)</a:t>
            </a:r>
          </a:p>
        </p:txBody>
      </p:sp>
    </p:spTree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8BB4F9-EB9B-4B68-9841-63816F3ED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688" y="228600"/>
            <a:ext cx="9036050" cy="66833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zh-CN" altLang="en-US" sz="2800" b="1" dirty="0"/>
              <a:t>定理</a:t>
            </a:r>
            <a:r>
              <a:rPr lang="en-US" altLang="zh-CN" sz="2800" b="1" dirty="0"/>
              <a:t>3.3 </a:t>
            </a:r>
            <a:r>
              <a:rPr lang="zh-CN" altLang="en-US" sz="2800" b="1" dirty="0"/>
              <a:t>若序列{</a:t>
            </a:r>
            <a:r>
              <a:rPr lang="en-US" altLang="zh-CN" sz="2800" b="1" i="1" dirty="0" err="1"/>
              <a:t>a</a:t>
            </a:r>
            <a:r>
              <a:rPr lang="en-US" altLang="zh-CN" sz="2800" b="1" i="1" baseline="-25000" dirty="0" err="1"/>
              <a:t>i</a:t>
            </a:r>
            <a:r>
              <a:rPr lang="en-US" altLang="zh-CN" sz="2800" b="1" dirty="0"/>
              <a:t>}</a:t>
            </a:r>
            <a:r>
              <a:rPr lang="zh-CN" altLang="en-US" sz="2800" b="1" dirty="0"/>
              <a:t>的特征多项式</a:t>
            </a:r>
            <a:r>
              <a:rPr lang="en-US" altLang="zh-CN" sz="2800" b="1" i="1" dirty="0"/>
              <a:t>p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定义在</a:t>
            </a:r>
            <a:r>
              <a:rPr lang="en-US" altLang="zh-CN" sz="2800" b="1" i="1" dirty="0"/>
              <a:t>GF</a:t>
            </a:r>
            <a:r>
              <a:rPr lang="en-US" altLang="zh-CN" sz="2800" b="1" dirty="0"/>
              <a:t>(2)</a:t>
            </a:r>
            <a:r>
              <a:rPr lang="zh-CN" altLang="en-US" sz="2800" b="1" dirty="0"/>
              <a:t>上，</a:t>
            </a:r>
            <a:r>
              <a:rPr lang="en-US" altLang="zh-CN" sz="2800" b="1" i="1" dirty="0"/>
              <a:t>p</a:t>
            </a:r>
            <a:r>
              <a:rPr lang="zh-CN" altLang="en-US" sz="2800" b="1" dirty="0"/>
              <a:t>是</a:t>
            </a:r>
            <a:r>
              <a:rPr lang="en-US" altLang="zh-CN" sz="2800" b="1" i="1" dirty="0"/>
              <a:t>p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的周期，则{</a:t>
            </a:r>
            <a:r>
              <a:rPr lang="en-US" altLang="zh-CN" sz="2800" b="1" i="1" dirty="0" err="1"/>
              <a:t>a</a:t>
            </a:r>
            <a:r>
              <a:rPr lang="en-US" altLang="zh-CN" sz="2800" b="1" i="1" baseline="-25000" dirty="0" err="1"/>
              <a:t>i</a:t>
            </a:r>
            <a:r>
              <a:rPr lang="en-US" altLang="zh-CN" sz="2800" b="1" dirty="0"/>
              <a:t>}</a:t>
            </a:r>
            <a:r>
              <a:rPr lang="zh-CN" altLang="en-US" sz="2800" b="1" dirty="0"/>
              <a:t>的周期</a:t>
            </a:r>
            <a:r>
              <a:rPr lang="en-US" altLang="zh-CN" sz="2800" b="1" i="1" dirty="0" err="1"/>
              <a:t>r</a:t>
            </a:r>
            <a:r>
              <a:rPr lang="en-US" altLang="zh-CN" sz="2800" b="1" dirty="0" err="1"/>
              <a:t>|</a:t>
            </a:r>
            <a:r>
              <a:rPr lang="en-US" altLang="zh-CN" sz="2800" b="1" i="1" dirty="0" err="1"/>
              <a:t>p</a:t>
            </a:r>
            <a:r>
              <a:rPr lang="en-US" altLang="zh-CN" sz="2800" b="1" dirty="0"/>
              <a:t>。</a:t>
            </a:r>
            <a:endParaRPr lang="zh-CN" altLang="en-US" sz="2800" dirty="0"/>
          </a:p>
        </p:txBody>
      </p:sp>
      <p:sp>
        <p:nvSpPr>
          <p:cNvPr id="587778" name="Rectangle 2">
            <a:extLst>
              <a:ext uri="{FF2B5EF4-FFF2-40B4-BE49-F238E27FC236}">
                <a16:creationId xmlns:a16="http://schemas.microsoft.com/office/drawing/2014/main" id="{45966B3D-3074-4707-BDB9-2C9B617199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3913" y="1281113"/>
            <a:ext cx="10515600" cy="4578350"/>
          </a:xfrm>
        </p:spPr>
        <p:txBody>
          <a:bodyPr>
            <a:normAutofit lnSpcReduction="10000"/>
          </a:bodyPr>
          <a:lstStyle/>
          <a:p>
            <a:pPr marL="280988" indent="0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latin typeface="+mn-lt"/>
              </a:rPr>
              <a:t>证明：由</a:t>
            </a:r>
            <a:r>
              <a:rPr lang="en-US" altLang="zh-CN" sz="2800" b="1" dirty="0">
                <a:latin typeface="+mn-lt"/>
              </a:rPr>
              <a:t>p(x)</a:t>
            </a:r>
            <a:r>
              <a:rPr lang="zh-CN" altLang="en-US" sz="2800" b="1" dirty="0">
                <a:latin typeface="+mn-lt"/>
              </a:rPr>
              <a:t>周期的定义得</a:t>
            </a:r>
            <a:r>
              <a:rPr lang="en-US" altLang="zh-CN" sz="2800" b="1" dirty="0">
                <a:latin typeface="+mn-lt"/>
              </a:rPr>
              <a:t>p(x)|(x</a:t>
            </a:r>
            <a:r>
              <a:rPr lang="en-US" altLang="zh-CN" sz="2800" b="1" baseline="30000" dirty="0">
                <a:latin typeface="+mn-lt"/>
              </a:rPr>
              <a:t>p</a:t>
            </a:r>
            <a:r>
              <a:rPr lang="en-US" altLang="zh-CN" sz="2800" b="1" dirty="0">
                <a:latin typeface="+mn-lt"/>
              </a:rPr>
              <a:t>-1)</a:t>
            </a:r>
          </a:p>
          <a:p>
            <a:pPr marL="738188" indent="-457200">
              <a:lnSpc>
                <a:spcPct val="110000"/>
              </a:lnSpc>
              <a:buFont typeface="Symbol" panose="05050102010706020507" pitchFamily="18" charset="2"/>
              <a:buChar char="Þ"/>
              <a:defRPr/>
            </a:pPr>
            <a:r>
              <a:rPr lang="zh-CN" altLang="en-US" sz="2800" b="1" dirty="0">
                <a:latin typeface="+mn-lt"/>
              </a:rPr>
              <a:t>存在</a:t>
            </a:r>
            <a:r>
              <a:rPr lang="en-US" altLang="zh-CN" sz="2800" b="1" dirty="0">
                <a:latin typeface="+mn-lt"/>
              </a:rPr>
              <a:t>q(x)</a:t>
            </a:r>
            <a:r>
              <a:rPr lang="zh-CN" altLang="en-US" sz="2800" b="1" dirty="0">
                <a:latin typeface="+mn-lt"/>
              </a:rPr>
              <a:t>，使得</a:t>
            </a:r>
            <a:r>
              <a:rPr lang="en-US" altLang="zh-CN" sz="2800" b="1" dirty="0">
                <a:latin typeface="+mn-lt"/>
              </a:rPr>
              <a:t>x</a:t>
            </a:r>
            <a:r>
              <a:rPr lang="en-US" altLang="zh-CN" sz="2800" b="1" baseline="30000" dirty="0">
                <a:latin typeface="+mn-lt"/>
              </a:rPr>
              <a:t>p</a:t>
            </a:r>
            <a:r>
              <a:rPr lang="en-US" altLang="zh-CN" sz="2800" b="1" dirty="0">
                <a:latin typeface="+mn-lt"/>
              </a:rPr>
              <a:t>-1=p(x)q(x)</a:t>
            </a:r>
          </a:p>
          <a:p>
            <a:pPr marL="280988" indent="0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latin typeface="+mn-lt"/>
              </a:rPr>
              <a:t>又由</a:t>
            </a:r>
            <a:r>
              <a:rPr lang="en-US" altLang="zh-CN" sz="2800" b="1" dirty="0">
                <a:latin typeface="+mn-lt"/>
              </a:rPr>
              <a:t>p(x)A(x)=</a:t>
            </a:r>
            <a:r>
              <a:rPr lang="el-GR" altLang="zh-CN" sz="2800" b="1" dirty="0">
                <a:latin typeface="Times New Roman" panose="02020603050405020304" pitchFamily="18" charset="0"/>
              </a:rPr>
              <a:t> φ</a:t>
            </a:r>
            <a:r>
              <a:rPr lang="en-US" altLang="zh-CN" sz="2800" b="1" dirty="0">
                <a:latin typeface="+mn-lt"/>
              </a:rPr>
              <a:t>(x)</a:t>
            </a:r>
            <a:endParaRPr lang="zh-CN" altLang="en-US" sz="2800" b="1" dirty="0">
              <a:latin typeface="+mn-lt"/>
            </a:endParaRPr>
          </a:p>
          <a:p>
            <a:pPr marL="738188" indent="-457200">
              <a:lnSpc>
                <a:spcPct val="110000"/>
              </a:lnSpc>
              <a:buFont typeface="Symbol" panose="05050102010706020507" pitchFamily="18" charset="2"/>
              <a:buChar char="Þ"/>
              <a:defRPr/>
            </a:pPr>
            <a:r>
              <a:rPr lang="en-US" altLang="zh-CN" sz="2800" b="1" dirty="0">
                <a:latin typeface="+mn-lt"/>
              </a:rPr>
              <a:t>p(x)q(x)A(x)=</a:t>
            </a:r>
            <a:r>
              <a:rPr lang="el-GR" altLang="zh-CN" sz="2800" b="1" dirty="0">
                <a:latin typeface="+mn-lt"/>
              </a:rPr>
              <a:t> φ</a:t>
            </a:r>
            <a:r>
              <a:rPr lang="en-US" altLang="zh-CN" sz="2800" b="1" dirty="0">
                <a:latin typeface="+mn-lt"/>
              </a:rPr>
              <a:t>(x)q(x)</a:t>
            </a:r>
          </a:p>
          <a:p>
            <a:pPr marL="738188" indent="-457200">
              <a:lnSpc>
                <a:spcPct val="110000"/>
              </a:lnSpc>
              <a:buFont typeface="Symbol" panose="05050102010706020507" pitchFamily="18" charset="2"/>
              <a:buChar char="Þ"/>
              <a:defRPr/>
            </a:pPr>
            <a:r>
              <a:rPr lang="en-US" altLang="zh-CN" sz="2800" b="1" dirty="0">
                <a:latin typeface="+mn-lt"/>
              </a:rPr>
              <a:t>(x</a:t>
            </a:r>
            <a:r>
              <a:rPr lang="en-US" altLang="zh-CN" sz="2800" b="1" baseline="30000" dirty="0">
                <a:latin typeface="+mn-lt"/>
              </a:rPr>
              <a:t>p</a:t>
            </a:r>
            <a:r>
              <a:rPr lang="en-US" altLang="zh-CN" sz="2800" b="1" dirty="0">
                <a:latin typeface="+mn-lt"/>
              </a:rPr>
              <a:t>-1)A(x)=</a:t>
            </a:r>
            <a:r>
              <a:rPr lang="el-GR" altLang="zh-CN" sz="2800" b="1" dirty="0">
                <a:latin typeface="Times New Roman" panose="02020603050405020304" pitchFamily="18" charset="0"/>
              </a:rPr>
              <a:t> φ</a:t>
            </a:r>
            <a:r>
              <a:rPr lang="en-US" altLang="zh-CN" sz="2800" b="1" dirty="0">
                <a:latin typeface="+mn-lt"/>
              </a:rPr>
              <a:t>(x)q(x)</a:t>
            </a:r>
          </a:p>
          <a:p>
            <a:pPr marL="280988" indent="0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latin typeface="+mn-lt"/>
              </a:rPr>
              <a:t>由于</a:t>
            </a:r>
            <a:r>
              <a:rPr lang="en-US" altLang="zh-CN" sz="2800" b="1" dirty="0">
                <a:latin typeface="+mn-lt"/>
              </a:rPr>
              <a:t>q(x)</a:t>
            </a:r>
            <a:r>
              <a:rPr lang="zh-CN" altLang="en-US" sz="2800" b="1" dirty="0">
                <a:latin typeface="+mn-lt"/>
              </a:rPr>
              <a:t>的次数为</a:t>
            </a:r>
            <a:r>
              <a:rPr lang="en-US" altLang="zh-CN" sz="2800" b="1" dirty="0">
                <a:latin typeface="+mn-lt"/>
              </a:rPr>
              <a:t>p-n</a:t>
            </a:r>
            <a:r>
              <a:rPr lang="zh-CN" altLang="en-US" sz="2800" b="1" dirty="0">
                <a:latin typeface="+mn-lt"/>
              </a:rPr>
              <a:t>，</a:t>
            </a:r>
            <a:r>
              <a:rPr lang="el-GR" altLang="zh-CN" sz="2800" b="1" dirty="0">
                <a:latin typeface="Times New Roman" panose="02020603050405020304" pitchFamily="18" charset="0"/>
              </a:rPr>
              <a:t> φ</a:t>
            </a:r>
            <a:r>
              <a:rPr lang="en-US" altLang="zh-CN" sz="2800" b="1" dirty="0">
                <a:latin typeface="+mn-lt"/>
              </a:rPr>
              <a:t>(x)</a:t>
            </a:r>
            <a:r>
              <a:rPr lang="zh-CN" altLang="en-US" sz="2800" b="1" dirty="0">
                <a:latin typeface="+mn-lt"/>
              </a:rPr>
              <a:t>的次数不超过</a:t>
            </a:r>
            <a:r>
              <a:rPr lang="en-US" altLang="zh-CN" sz="2800" b="1" dirty="0">
                <a:latin typeface="+mn-lt"/>
              </a:rPr>
              <a:t>n-1</a:t>
            </a:r>
          </a:p>
          <a:p>
            <a:pPr marL="738188" indent="-457200">
              <a:lnSpc>
                <a:spcPct val="110000"/>
              </a:lnSpc>
              <a:buFont typeface="Symbol" panose="05050102010706020507" pitchFamily="18" charset="2"/>
              <a:buChar char="Þ"/>
              <a:defRPr/>
            </a:pPr>
            <a:r>
              <a:rPr lang="en-US" altLang="zh-CN" sz="2800" b="1" dirty="0">
                <a:latin typeface="+mn-lt"/>
              </a:rPr>
              <a:t>(x</a:t>
            </a:r>
            <a:r>
              <a:rPr lang="en-US" altLang="zh-CN" sz="2800" b="1" baseline="30000" dirty="0">
                <a:latin typeface="+mn-lt"/>
              </a:rPr>
              <a:t>p</a:t>
            </a:r>
            <a:r>
              <a:rPr lang="en-US" altLang="zh-CN" sz="2800" b="1" dirty="0">
                <a:latin typeface="+mn-lt"/>
              </a:rPr>
              <a:t>-1)A(x)</a:t>
            </a:r>
            <a:r>
              <a:rPr lang="zh-CN" altLang="en-US" sz="2800" b="1" dirty="0">
                <a:latin typeface="+mn-lt"/>
              </a:rPr>
              <a:t>的次数不超过</a:t>
            </a:r>
            <a:r>
              <a:rPr lang="en-US" altLang="zh-CN" sz="2800" b="1" dirty="0">
                <a:latin typeface="+mn-lt"/>
              </a:rPr>
              <a:t>(p-n)+(n-1)=p-1</a:t>
            </a:r>
          </a:p>
          <a:p>
            <a:pPr marL="738188" indent="-457200">
              <a:lnSpc>
                <a:spcPct val="110000"/>
              </a:lnSpc>
              <a:buFont typeface="Symbol" panose="05050102010706020507" pitchFamily="18" charset="2"/>
              <a:buChar char="Þ"/>
              <a:defRPr/>
            </a:pPr>
            <a:r>
              <a:rPr lang="zh-CN" altLang="en-US" sz="2800" b="1" dirty="0">
                <a:latin typeface="+mn-lt"/>
              </a:rPr>
              <a:t>对于任意正整数</a:t>
            </a:r>
            <a:r>
              <a:rPr lang="en-US" altLang="zh-CN" sz="2800" b="1" dirty="0" err="1">
                <a:latin typeface="+mn-lt"/>
              </a:rPr>
              <a:t>i</a:t>
            </a:r>
            <a:r>
              <a:rPr lang="zh-CN" altLang="en-US" sz="2800" b="1" dirty="0">
                <a:latin typeface="+mn-lt"/>
              </a:rPr>
              <a:t>都有</a:t>
            </a:r>
            <a:r>
              <a:rPr lang="en-US" altLang="zh-CN" sz="2800" b="1" dirty="0" err="1">
                <a:latin typeface="+mn-lt"/>
              </a:rPr>
              <a:t>a</a:t>
            </a:r>
            <a:r>
              <a:rPr lang="en-US" altLang="zh-CN" sz="2800" b="1" baseline="-25000" dirty="0" err="1">
                <a:latin typeface="+mn-lt"/>
              </a:rPr>
              <a:t>i+p</a:t>
            </a:r>
            <a:r>
              <a:rPr lang="en-US" altLang="zh-CN" sz="2800" b="1" dirty="0">
                <a:latin typeface="+mn-lt"/>
              </a:rPr>
              <a:t>=</a:t>
            </a:r>
            <a:r>
              <a:rPr lang="en-US" altLang="zh-CN" sz="2800" b="1" dirty="0" err="1">
                <a:latin typeface="+mn-lt"/>
              </a:rPr>
              <a:t>a</a:t>
            </a:r>
            <a:r>
              <a:rPr lang="en-US" altLang="zh-CN" sz="2800" b="1" baseline="-25000" dirty="0" err="1">
                <a:latin typeface="+mn-lt"/>
              </a:rPr>
              <a:t>i</a:t>
            </a:r>
            <a:endParaRPr lang="zh-CN" altLang="en-US" sz="2800" b="1" dirty="0">
              <a:latin typeface="+mn-lt"/>
            </a:endParaRPr>
          </a:p>
          <a:p>
            <a:pPr marL="280988" indent="0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endParaRPr lang="zh-CN" altLang="en-US" sz="2800" b="1" dirty="0">
              <a:latin typeface="+mn-lt"/>
            </a:endParaRPr>
          </a:p>
        </p:txBody>
      </p:sp>
    </p:spTree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8BB4F9-EB9B-4B68-9841-63816F3ED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3688" y="228600"/>
            <a:ext cx="9036050" cy="668338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zh-CN" altLang="en-US" sz="2800" b="1" dirty="0"/>
              <a:t>定理</a:t>
            </a:r>
            <a:r>
              <a:rPr lang="en-US" altLang="zh-CN" sz="2800" b="1" dirty="0"/>
              <a:t>3.3 </a:t>
            </a:r>
            <a:r>
              <a:rPr lang="zh-CN" altLang="en-US" sz="2800" b="1" dirty="0"/>
              <a:t>若序列{</a:t>
            </a:r>
            <a:r>
              <a:rPr lang="en-US" altLang="zh-CN" sz="2800" b="1" i="1" dirty="0" err="1"/>
              <a:t>a</a:t>
            </a:r>
            <a:r>
              <a:rPr lang="en-US" altLang="zh-CN" sz="2800" b="1" i="1" baseline="-25000" dirty="0" err="1"/>
              <a:t>i</a:t>
            </a:r>
            <a:r>
              <a:rPr lang="en-US" altLang="zh-CN" sz="2800" b="1" dirty="0"/>
              <a:t>}</a:t>
            </a:r>
            <a:r>
              <a:rPr lang="zh-CN" altLang="en-US" sz="2800" b="1" dirty="0"/>
              <a:t>的特征多项式</a:t>
            </a:r>
            <a:r>
              <a:rPr lang="en-US" altLang="zh-CN" sz="2800" b="1" i="1" dirty="0"/>
              <a:t>p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定义在</a:t>
            </a:r>
            <a:r>
              <a:rPr lang="en-US" altLang="zh-CN" sz="2800" b="1" i="1" dirty="0"/>
              <a:t>GF</a:t>
            </a:r>
            <a:r>
              <a:rPr lang="en-US" altLang="zh-CN" sz="2800" b="1" dirty="0"/>
              <a:t>(2)</a:t>
            </a:r>
            <a:r>
              <a:rPr lang="zh-CN" altLang="en-US" sz="2800" b="1" dirty="0"/>
              <a:t>上，</a:t>
            </a:r>
            <a:r>
              <a:rPr lang="en-US" altLang="zh-CN" sz="2800" b="1" i="1" dirty="0"/>
              <a:t>p</a:t>
            </a:r>
            <a:r>
              <a:rPr lang="zh-CN" altLang="en-US" sz="2800" b="1" dirty="0"/>
              <a:t>是</a:t>
            </a:r>
            <a:r>
              <a:rPr lang="en-US" altLang="zh-CN" sz="2800" b="1" i="1" dirty="0"/>
              <a:t>p</a:t>
            </a:r>
            <a:r>
              <a:rPr lang="en-US" altLang="zh-CN" sz="2800" b="1" dirty="0"/>
              <a:t>(</a:t>
            </a:r>
            <a:r>
              <a:rPr lang="en-US" altLang="zh-CN" sz="2800" b="1" i="1" dirty="0"/>
              <a:t>x</a:t>
            </a:r>
            <a:r>
              <a:rPr lang="en-US" altLang="zh-CN" sz="2800" b="1" dirty="0"/>
              <a:t>)</a:t>
            </a:r>
            <a:r>
              <a:rPr lang="zh-CN" altLang="en-US" sz="2800" b="1" dirty="0"/>
              <a:t>的周期，则{</a:t>
            </a:r>
            <a:r>
              <a:rPr lang="en-US" altLang="zh-CN" sz="2800" b="1" i="1" dirty="0" err="1"/>
              <a:t>a</a:t>
            </a:r>
            <a:r>
              <a:rPr lang="en-US" altLang="zh-CN" sz="2800" b="1" i="1" baseline="-25000" dirty="0" err="1"/>
              <a:t>i</a:t>
            </a:r>
            <a:r>
              <a:rPr lang="en-US" altLang="zh-CN" sz="2800" b="1" dirty="0"/>
              <a:t>}</a:t>
            </a:r>
            <a:r>
              <a:rPr lang="zh-CN" altLang="en-US" sz="2800" b="1" dirty="0"/>
              <a:t>的周期</a:t>
            </a:r>
            <a:r>
              <a:rPr lang="en-US" altLang="zh-CN" sz="2800" b="1" i="1" dirty="0" err="1"/>
              <a:t>r</a:t>
            </a:r>
            <a:r>
              <a:rPr lang="en-US" altLang="zh-CN" sz="2800" b="1" dirty="0" err="1"/>
              <a:t>|</a:t>
            </a:r>
            <a:r>
              <a:rPr lang="en-US" altLang="zh-CN" sz="2800" b="1" i="1" dirty="0" err="1"/>
              <a:t>p</a:t>
            </a:r>
            <a:r>
              <a:rPr lang="en-US" altLang="zh-CN" sz="2800" b="1" dirty="0"/>
              <a:t>。</a:t>
            </a:r>
            <a:endParaRPr lang="zh-CN" altLang="en-US" sz="2800" dirty="0"/>
          </a:p>
        </p:txBody>
      </p:sp>
      <p:sp>
        <p:nvSpPr>
          <p:cNvPr id="587778" name="Rectangle 2">
            <a:extLst>
              <a:ext uri="{FF2B5EF4-FFF2-40B4-BE49-F238E27FC236}">
                <a16:creationId xmlns:a16="http://schemas.microsoft.com/office/drawing/2014/main" id="{45966B3D-3074-4707-BDB9-2C9B617199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3913" y="1281113"/>
            <a:ext cx="10515600" cy="4578350"/>
          </a:xfrm>
        </p:spPr>
        <p:txBody>
          <a:bodyPr>
            <a:normAutofit fontScale="92500" lnSpcReduction="20000"/>
          </a:bodyPr>
          <a:lstStyle/>
          <a:p>
            <a:pPr marL="280988" indent="0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latin typeface="+mn-lt"/>
              </a:rPr>
              <a:t>证明：由</a:t>
            </a:r>
            <a:r>
              <a:rPr lang="en-US" altLang="zh-CN" sz="2800" b="1" dirty="0">
                <a:latin typeface="+mn-lt"/>
              </a:rPr>
              <a:t>p(x)</a:t>
            </a:r>
            <a:r>
              <a:rPr lang="zh-CN" altLang="en-US" sz="2800" b="1" dirty="0">
                <a:latin typeface="+mn-lt"/>
              </a:rPr>
              <a:t>周期的定义得</a:t>
            </a:r>
            <a:r>
              <a:rPr lang="en-US" altLang="zh-CN" sz="2800" b="1" dirty="0">
                <a:latin typeface="+mn-lt"/>
              </a:rPr>
              <a:t>p(x)|(x</a:t>
            </a:r>
            <a:r>
              <a:rPr lang="en-US" altLang="zh-CN" sz="2800" b="1" baseline="30000" dirty="0">
                <a:latin typeface="+mn-lt"/>
              </a:rPr>
              <a:t>p</a:t>
            </a:r>
            <a:r>
              <a:rPr lang="en-US" altLang="zh-CN" sz="2800" b="1" dirty="0">
                <a:latin typeface="+mn-lt"/>
              </a:rPr>
              <a:t>-1)</a:t>
            </a:r>
          </a:p>
          <a:p>
            <a:pPr marL="738188" indent="-457200">
              <a:lnSpc>
                <a:spcPct val="110000"/>
              </a:lnSpc>
              <a:buFont typeface="Symbol" panose="05050102010706020507" pitchFamily="18" charset="2"/>
              <a:buChar char="Þ"/>
              <a:defRPr/>
            </a:pPr>
            <a:r>
              <a:rPr lang="zh-CN" altLang="en-US" sz="2800" b="1" dirty="0">
                <a:latin typeface="+mn-lt"/>
              </a:rPr>
              <a:t>存在</a:t>
            </a:r>
            <a:r>
              <a:rPr lang="en-US" altLang="zh-CN" sz="2800" b="1" dirty="0">
                <a:latin typeface="+mn-lt"/>
              </a:rPr>
              <a:t>q(x)</a:t>
            </a:r>
            <a:r>
              <a:rPr lang="zh-CN" altLang="en-US" sz="2800" b="1" dirty="0">
                <a:latin typeface="+mn-lt"/>
              </a:rPr>
              <a:t>，使得</a:t>
            </a:r>
            <a:r>
              <a:rPr lang="en-US" altLang="zh-CN" sz="2800" b="1" dirty="0">
                <a:latin typeface="+mn-lt"/>
              </a:rPr>
              <a:t>x</a:t>
            </a:r>
            <a:r>
              <a:rPr lang="en-US" altLang="zh-CN" sz="2800" b="1" baseline="30000" dirty="0">
                <a:latin typeface="+mn-lt"/>
              </a:rPr>
              <a:t>p</a:t>
            </a:r>
            <a:r>
              <a:rPr lang="en-US" altLang="zh-CN" sz="2800" b="1" dirty="0">
                <a:latin typeface="+mn-lt"/>
              </a:rPr>
              <a:t>-1=p(x)q(x)</a:t>
            </a:r>
          </a:p>
          <a:p>
            <a:pPr marL="280988" indent="0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latin typeface="+mn-lt"/>
              </a:rPr>
              <a:t>又由</a:t>
            </a:r>
            <a:r>
              <a:rPr lang="en-US" altLang="zh-CN" sz="2800" b="1" dirty="0">
                <a:latin typeface="+mn-lt"/>
              </a:rPr>
              <a:t>p(x)A(x)=</a:t>
            </a:r>
            <a:r>
              <a:rPr lang="el-GR" altLang="zh-CN" sz="2800" b="1" dirty="0">
                <a:latin typeface="Times New Roman" panose="02020603050405020304" pitchFamily="18" charset="0"/>
              </a:rPr>
              <a:t> φ</a:t>
            </a:r>
            <a:r>
              <a:rPr lang="en-US" altLang="zh-CN" sz="2800" b="1" dirty="0">
                <a:latin typeface="+mn-lt"/>
              </a:rPr>
              <a:t>(x)</a:t>
            </a:r>
            <a:endParaRPr lang="zh-CN" altLang="en-US" sz="2800" b="1" dirty="0">
              <a:latin typeface="+mn-lt"/>
            </a:endParaRPr>
          </a:p>
          <a:p>
            <a:pPr marL="738188" indent="-457200">
              <a:lnSpc>
                <a:spcPct val="110000"/>
              </a:lnSpc>
              <a:buFont typeface="Symbol" panose="05050102010706020507" pitchFamily="18" charset="2"/>
              <a:buChar char="Þ"/>
              <a:defRPr/>
            </a:pPr>
            <a:r>
              <a:rPr lang="en-US" altLang="zh-CN" sz="2800" b="1" dirty="0">
                <a:latin typeface="+mn-lt"/>
              </a:rPr>
              <a:t>p(x)q(x)A(x)=</a:t>
            </a:r>
            <a:r>
              <a:rPr lang="el-GR" altLang="zh-CN" sz="2800" b="1" dirty="0">
                <a:latin typeface="+mn-lt"/>
              </a:rPr>
              <a:t> φ</a:t>
            </a:r>
            <a:r>
              <a:rPr lang="en-US" altLang="zh-CN" sz="2800" b="1" dirty="0">
                <a:latin typeface="+mn-lt"/>
              </a:rPr>
              <a:t>(x)q(x)</a:t>
            </a:r>
          </a:p>
          <a:p>
            <a:pPr marL="738188" indent="-457200">
              <a:lnSpc>
                <a:spcPct val="110000"/>
              </a:lnSpc>
              <a:buFont typeface="Symbol" panose="05050102010706020507" pitchFamily="18" charset="2"/>
              <a:buChar char="Þ"/>
              <a:defRPr/>
            </a:pPr>
            <a:r>
              <a:rPr lang="en-US" altLang="zh-CN" sz="2800" b="1" dirty="0">
                <a:latin typeface="+mn-lt"/>
              </a:rPr>
              <a:t>(x</a:t>
            </a:r>
            <a:r>
              <a:rPr lang="en-US" altLang="zh-CN" sz="2800" b="1" baseline="30000" dirty="0">
                <a:latin typeface="+mn-lt"/>
              </a:rPr>
              <a:t>p</a:t>
            </a:r>
            <a:r>
              <a:rPr lang="en-US" altLang="zh-CN" sz="2800" b="1" dirty="0">
                <a:latin typeface="+mn-lt"/>
              </a:rPr>
              <a:t>-1)A(x)=</a:t>
            </a:r>
            <a:r>
              <a:rPr lang="el-GR" altLang="zh-CN" sz="2800" b="1" dirty="0">
                <a:latin typeface="Times New Roman" panose="02020603050405020304" pitchFamily="18" charset="0"/>
              </a:rPr>
              <a:t> φ</a:t>
            </a:r>
            <a:r>
              <a:rPr lang="en-US" altLang="zh-CN" sz="2800" b="1" dirty="0">
                <a:latin typeface="+mn-lt"/>
              </a:rPr>
              <a:t>(x)q(x)</a:t>
            </a:r>
          </a:p>
          <a:p>
            <a:pPr marL="280988" indent="0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800" b="1" dirty="0">
                <a:latin typeface="+mn-lt"/>
              </a:rPr>
              <a:t>由于</a:t>
            </a:r>
            <a:r>
              <a:rPr lang="en-US" altLang="zh-CN" sz="2800" b="1" dirty="0">
                <a:latin typeface="+mn-lt"/>
              </a:rPr>
              <a:t>q(x)</a:t>
            </a:r>
            <a:r>
              <a:rPr lang="zh-CN" altLang="en-US" sz="2800" b="1" dirty="0">
                <a:latin typeface="+mn-lt"/>
              </a:rPr>
              <a:t>的次数为</a:t>
            </a:r>
            <a:r>
              <a:rPr lang="en-US" altLang="zh-CN" sz="2800" b="1" dirty="0">
                <a:latin typeface="+mn-lt"/>
              </a:rPr>
              <a:t>p-n</a:t>
            </a:r>
            <a:r>
              <a:rPr lang="zh-CN" altLang="en-US" sz="2800" b="1" dirty="0">
                <a:latin typeface="+mn-lt"/>
              </a:rPr>
              <a:t>，</a:t>
            </a:r>
            <a:r>
              <a:rPr lang="el-GR" altLang="zh-CN" sz="2800" b="1" dirty="0">
                <a:latin typeface="Times New Roman" panose="02020603050405020304" pitchFamily="18" charset="0"/>
              </a:rPr>
              <a:t> φ</a:t>
            </a:r>
            <a:r>
              <a:rPr lang="en-US" altLang="zh-CN" sz="2800" b="1" dirty="0">
                <a:latin typeface="+mn-lt"/>
              </a:rPr>
              <a:t>(x)</a:t>
            </a:r>
            <a:r>
              <a:rPr lang="zh-CN" altLang="en-US" sz="2800" b="1" dirty="0">
                <a:latin typeface="+mn-lt"/>
              </a:rPr>
              <a:t>的次数不超过</a:t>
            </a:r>
            <a:r>
              <a:rPr lang="en-US" altLang="zh-CN" sz="2800" b="1" dirty="0">
                <a:latin typeface="+mn-lt"/>
              </a:rPr>
              <a:t>n-1</a:t>
            </a:r>
          </a:p>
          <a:p>
            <a:pPr marL="738188" indent="-457200">
              <a:lnSpc>
                <a:spcPct val="110000"/>
              </a:lnSpc>
              <a:buFont typeface="Symbol" panose="05050102010706020507" pitchFamily="18" charset="2"/>
              <a:buChar char="Þ"/>
              <a:defRPr/>
            </a:pPr>
            <a:r>
              <a:rPr lang="en-US" altLang="zh-CN" sz="2800" b="1" dirty="0">
                <a:latin typeface="+mn-lt"/>
              </a:rPr>
              <a:t>(x</a:t>
            </a:r>
            <a:r>
              <a:rPr lang="en-US" altLang="zh-CN" sz="2800" b="1" baseline="30000" dirty="0">
                <a:latin typeface="+mn-lt"/>
              </a:rPr>
              <a:t>p</a:t>
            </a:r>
            <a:r>
              <a:rPr lang="en-US" altLang="zh-CN" sz="2800" b="1" dirty="0">
                <a:latin typeface="+mn-lt"/>
              </a:rPr>
              <a:t>-1)A(x)</a:t>
            </a:r>
            <a:r>
              <a:rPr lang="zh-CN" altLang="en-US" sz="2800" b="1" dirty="0">
                <a:latin typeface="+mn-lt"/>
              </a:rPr>
              <a:t>的次数不超过</a:t>
            </a:r>
            <a:r>
              <a:rPr lang="en-US" altLang="zh-CN" sz="2800" b="1" dirty="0">
                <a:latin typeface="+mn-lt"/>
              </a:rPr>
              <a:t>(p-n)+(n-1)=p-1</a:t>
            </a:r>
          </a:p>
          <a:p>
            <a:pPr marL="738188" indent="-457200">
              <a:lnSpc>
                <a:spcPct val="110000"/>
              </a:lnSpc>
              <a:buFont typeface="Symbol" panose="05050102010706020507" pitchFamily="18" charset="2"/>
              <a:buChar char="Þ"/>
              <a:defRPr/>
            </a:pPr>
            <a:r>
              <a:rPr lang="zh-CN" altLang="en-US" sz="2800" b="1" dirty="0">
                <a:latin typeface="+mn-lt"/>
              </a:rPr>
              <a:t>对于任意正整数</a:t>
            </a:r>
            <a:r>
              <a:rPr lang="en-US" altLang="zh-CN" sz="2800" b="1" dirty="0" err="1">
                <a:latin typeface="+mn-lt"/>
              </a:rPr>
              <a:t>i</a:t>
            </a:r>
            <a:r>
              <a:rPr lang="zh-CN" altLang="en-US" sz="2800" b="1" dirty="0">
                <a:latin typeface="+mn-lt"/>
              </a:rPr>
              <a:t>都有</a:t>
            </a:r>
            <a:r>
              <a:rPr lang="en-US" altLang="zh-CN" sz="2800" b="1" dirty="0" err="1">
                <a:latin typeface="+mn-lt"/>
              </a:rPr>
              <a:t>a</a:t>
            </a:r>
            <a:r>
              <a:rPr lang="en-US" altLang="zh-CN" sz="2800" b="1" baseline="-25000" dirty="0" err="1">
                <a:latin typeface="+mn-lt"/>
              </a:rPr>
              <a:t>i+p</a:t>
            </a:r>
            <a:r>
              <a:rPr lang="en-US" altLang="zh-CN" sz="2800" b="1" dirty="0">
                <a:latin typeface="+mn-lt"/>
              </a:rPr>
              <a:t>=</a:t>
            </a:r>
            <a:r>
              <a:rPr lang="en-US" altLang="zh-CN" sz="2800" b="1" dirty="0" err="1">
                <a:latin typeface="+mn-lt"/>
              </a:rPr>
              <a:t>a</a:t>
            </a:r>
            <a:r>
              <a:rPr lang="en-US" altLang="zh-CN" sz="2800" b="1" baseline="-25000" dirty="0" err="1">
                <a:latin typeface="+mn-lt"/>
              </a:rPr>
              <a:t>i</a:t>
            </a:r>
            <a:endParaRPr lang="zh-CN" altLang="en-US" sz="2800" b="1" dirty="0">
              <a:latin typeface="+mn-lt"/>
            </a:endParaRPr>
          </a:p>
          <a:p>
            <a:pPr marL="280988" indent="0">
              <a:lnSpc>
                <a:spcPct val="110000"/>
              </a:lnSpc>
              <a:buNone/>
              <a:defRPr/>
            </a:pPr>
            <a:r>
              <a:rPr lang="zh-CN" altLang="en-US" sz="2800" b="1" dirty="0">
                <a:latin typeface="+mn-lt"/>
              </a:rPr>
              <a:t>设</a:t>
            </a:r>
            <a:r>
              <a:rPr lang="en-US" altLang="zh-CN" sz="2800" b="1" dirty="0">
                <a:latin typeface="+mn-lt"/>
              </a:rPr>
              <a:t>p=kr+t,0≤t&lt;r</a:t>
            </a:r>
            <a:r>
              <a:rPr lang="zh-CN" altLang="en-US" sz="2800" b="1" dirty="0">
                <a:latin typeface="+mn-lt"/>
              </a:rPr>
              <a:t>，则</a:t>
            </a:r>
            <a:r>
              <a:rPr lang="en-US" altLang="zh-CN" sz="2800" b="1" dirty="0"/>
              <a:t>a</a:t>
            </a:r>
            <a:r>
              <a:rPr lang="en-US" altLang="zh-CN" sz="2800" b="1" baseline="-25000" dirty="0"/>
              <a:t>i </a:t>
            </a:r>
            <a:r>
              <a:rPr lang="en-US" altLang="zh-CN" sz="2800" b="1" dirty="0"/>
              <a:t>= </a:t>
            </a:r>
            <a:r>
              <a:rPr lang="en-US" altLang="zh-CN" sz="2800" b="1" dirty="0" err="1">
                <a:latin typeface="+mn-lt"/>
              </a:rPr>
              <a:t>a</a:t>
            </a:r>
            <a:r>
              <a:rPr lang="en-US" altLang="zh-CN" sz="2800" b="1" baseline="-25000" dirty="0" err="1">
                <a:latin typeface="+mn-lt"/>
              </a:rPr>
              <a:t>i+p</a:t>
            </a:r>
            <a:r>
              <a:rPr lang="en-US" altLang="zh-CN" sz="2800" b="1" dirty="0">
                <a:latin typeface="+mn-lt"/>
              </a:rPr>
              <a:t>=</a:t>
            </a:r>
            <a:r>
              <a:rPr lang="en-US" altLang="zh-CN" sz="2800" b="1" dirty="0" err="1">
                <a:latin typeface="+mn-lt"/>
              </a:rPr>
              <a:t>a</a:t>
            </a:r>
            <a:r>
              <a:rPr lang="en-US" altLang="zh-CN" sz="2800" b="1" baseline="-25000" dirty="0" err="1">
                <a:latin typeface="+mn-lt"/>
              </a:rPr>
              <a:t>i+kr+t</a:t>
            </a:r>
            <a:r>
              <a:rPr lang="en-US" altLang="zh-CN" sz="2800" b="1" dirty="0">
                <a:latin typeface="+mn-lt"/>
              </a:rPr>
              <a:t>=</a:t>
            </a:r>
            <a:r>
              <a:rPr lang="en-US" altLang="zh-CN" sz="2800" b="1" dirty="0" err="1">
                <a:latin typeface="+mn-lt"/>
              </a:rPr>
              <a:t>a</a:t>
            </a:r>
            <a:r>
              <a:rPr lang="en-US" altLang="zh-CN" sz="2800" b="1" baseline="-25000" dirty="0" err="1">
                <a:latin typeface="+mn-lt"/>
              </a:rPr>
              <a:t>i+t</a:t>
            </a:r>
            <a:r>
              <a:rPr lang="zh-CN" altLang="en-US" sz="2800" b="1" dirty="0">
                <a:latin typeface="+mn-lt"/>
              </a:rPr>
              <a:t>，所以</a:t>
            </a:r>
            <a:r>
              <a:rPr lang="en-US" altLang="zh-CN" sz="2800" b="1" dirty="0">
                <a:latin typeface="+mn-lt"/>
              </a:rPr>
              <a:t>t=0</a:t>
            </a:r>
            <a:r>
              <a:rPr lang="zh-CN" altLang="en-US" sz="2800" b="1" dirty="0">
                <a:latin typeface="+mn-lt"/>
              </a:rPr>
              <a:t>，即</a:t>
            </a:r>
            <a:r>
              <a:rPr lang="en-US" altLang="zh-CN" sz="2800" b="1" dirty="0" err="1">
                <a:latin typeface="+mn-lt"/>
              </a:rPr>
              <a:t>r|p</a:t>
            </a:r>
            <a:r>
              <a:rPr lang="zh-CN" altLang="en-US" sz="2800" b="1" dirty="0">
                <a:latin typeface="+mn-lt"/>
              </a:rPr>
              <a:t>。（证毕）</a:t>
            </a:r>
          </a:p>
        </p:txBody>
      </p:sp>
    </p:spTree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84C5A7-8725-442C-ACA5-426A3F56C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不可约多项式</a:t>
            </a: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226466B0-7932-4379-AF06-FE55FBA32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219200"/>
            <a:ext cx="10515600" cy="4935538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8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>
                <a:solidFill>
                  <a:srgbClr val="8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800000"/>
                </a:solidFill>
                <a:latin typeface="Times New Roman" panose="02020603050405020304" pitchFamily="18" charset="0"/>
              </a:rPr>
              <a:t>.4</a:t>
            </a:r>
            <a:r>
              <a:rPr lang="zh-CN" altLang="en-US" b="1">
                <a:latin typeface="Times New Roman" panose="02020603050405020304" pitchFamily="18" charset="0"/>
              </a:rPr>
              <a:t> 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p(x)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次</a:t>
            </a: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不可约多项式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，周期为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m，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序列{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}∈G(p(x))，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则{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的周期为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m。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证明：设{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>
                <a:latin typeface="Times New Roman" panose="02020603050405020304" pitchFamily="18" charset="0"/>
              </a:rPr>
              <a:t>i</a:t>
            </a:r>
            <a:r>
              <a:rPr lang="en-US" altLang="zh-CN" b="1">
                <a:latin typeface="Times New Roman" panose="02020603050405020304" pitchFamily="18" charset="0"/>
              </a:rPr>
              <a:t>}</a:t>
            </a:r>
            <a:r>
              <a:rPr lang="zh-CN" altLang="en-US" b="1">
                <a:latin typeface="Times New Roman" panose="02020603050405020304" pitchFamily="18" charset="0"/>
              </a:rPr>
              <a:t>的周期为</a:t>
            </a:r>
            <a:r>
              <a:rPr lang="en-US" altLang="zh-CN" b="1">
                <a:latin typeface="Times New Roman" panose="02020603050405020304" pitchFamily="18" charset="0"/>
              </a:rPr>
              <a:t>r，</a:t>
            </a:r>
            <a:r>
              <a:rPr lang="zh-CN" altLang="en-US" b="1">
                <a:latin typeface="Times New Roman" panose="02020603050405020304" pitchFamily="18" charset="0"/>
              </a:rPr>
              <a:t>由定理</a:t>
            </a:r>
            <a:r>
              <a:rPr lang="en-US" altLang="zh-CN" b="1">
                <a:latin typeface="Times New Roman" panose="02020603050405020304" pitchFamily="18" charset="0"/>
              </a:rPr>
              <a:t>3</a:t>
            </a:r>
            <a:r>
              <a:rPr lang="zh-CN" altLang="en-US" b="1">
                <a:latin typeface="Times New Roman" panose="02020603050405020304" pitchFamily="18" charset="0"/>
              </a:rPr>
              <a:t>.3有</a:t>
            </a:r>
            <a:r>
              <a:rPr lang="en-US" altLang="zh-CN" b="1">
                <a:latin typeface="Times New Roman" panose="02020603050405020304" pitchFamily="18" charset="0"/>
              </a:rPr>
              <a:t>r|m，</a:t>
            </a:r>
            <a:r>
              <a:rPr lang="zh-CN" altLang="en-US" b="1">
                <a:latin typeface="Times New Roman" panose="02020603050405020304" pitchFamily="18" charset="0"/>
              </a:rPr>
              <a:t>所以</a:t>
            </a:r>
            <a:r>
              <a:rPr lang="en-US" altLang="zh-CN" b="1">
                <a:latin typeface="Times New Roman" panose="02020603050405020304" pitchFamily="18" charset="0"/>
              </a:rPr>
              <a:t>r≤m。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endParaRPr lang="zh-CN" altLang="en-US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84C5A7-8725-442C-ACA5-426A3F56C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不可约多项式</a:t>
            </a:r>
          </a:p>
        </p:txBody>
      </p:sp>
      <p:sp>
        <p:nvSpPr>
          <p:cNvPr id="147459" name="Rectangle 2">
            <a:extLst>
              <a:ext uri="{FF2B5EF4-FFF2-40B4-BE49-F238E27FC236}">
                <a16:creationId xmlns:a16="http://schemas.microsoft.com/office/drawing/2014/main" id="{9D2AC15E-2835-4A2A-87FD-876980BC8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219200"/>
            <a:ext cx="10515600" cy="4935538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8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8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800000"/>
                </a:solidFill>
                <a:latin typeface="Times New Roman" panose="02020603050405020304" pitchFamily="18" charset="0"/>
              </a:rPr>
              <a:t>.4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p(x)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次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不可约多项式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，周期为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m，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序列{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}∈G(p(x))，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则{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的周期为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m。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证明：设{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latin typeface="Times New Roman" panose="02020603050405020304" pitchFamily="18" charset="0"/>
              </a:rPr>
              <a:t>的周期为</a:t>
            </a:r>
            <a:r>
              <a:rPr lang="en-US" altLang="zh-CN" b="1" dirty="0">
                <a:latin typeface="Times New Roman" panose="02020603050405020304" pitchFamily="18" charset="0"/>
              </a:rPr>
              <a:t>r，</a:t>
            </a:r>
            <a:r>
              <a:rPr lang="zh-CN" altLang="en-US" b="1" dirty="0">
                <a:latin typeface="Times New Roman" panose="02020603050405020304" pitchFamily="18" charset="0"/>
              </a:rPr>
              <a:t>由定理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.3有</a:t>
            </a:r>
            <a:r>
              <a:rPr lang="en-US" altLang="zh-CN" b="1" dirty="0" err="1">
                <a:latin typeface="Times New Roman" panose="02020603050405020304" pitchFamily="18" charset="0"/>
              </a:rPr>
              <a:t>r|m</a:t>
            </a:r>
            <a:r>
              <a:rPr lang="en-US" altLang="zh-CN" b="1" dirty="0">
                <a:latin typeface="Times New Roman" panose="02020603050405020304" pitchFamily="18" charset="0"/>
              </a:rPr>
              <a:t>，</a:t>
            </a:r>
            <a:r>
              <a:rPr lang="zh-CN" altLang="en-US" b="1" dirty="0">
                <a:latin typeface="Times New Roman" panose="02020603050405020304" pitchFamily="18" charset="0"/>
              </a:rPr>
              <a:t>所以</a:t>
            </a:r>
            <a:r>
              <a:rPr lang="en-US" altLang="zh-CN" b="1" dirty="0" err="1">
                <a:latin typeface="Times New Roman" panose="02020603050405020304" pitchFamily="18" charset="0"/>
              </a:rPr>
              <a:t>r≤m</a:t>
            </a:r>
            <a:r>
              <a:rPr lang="en-US" altLang="zh-CN" b="1" dirty="0">
                <a:latin typeface="Times New Roman" panose="02020603050405020304" pitchFamily="18" charset="0"/>
              </a:rPr>
              <a:t>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设</a:t>
            </a:r>
            <a:r>
              <a:rPr lang="en-US" altLang="zh-CN" b="1" dirty="0">
                <a:latin typeface="Times New Roman" panose="02020603050405020304" pitchFamily="18" charset="0"/>
              </a:rPr>
              <a:t>A(x)</a:t>
            </a:r>
            <a:r>
              <a:rPr lang="zh-CN" altLang="en-US" b="1" dirty="0">
                <a:latin typeface="Times New Roman" panose="02020603050405020304" pitchFamily="18" charset="0"/>
              </a:rPr>
              <a:t>为{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i="1" u="sng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latin typeface="Times New Roman" panose="02020603050405020304" pitchFamily="18" charset="0"/>
              </a:rPr>
              <a:t>的生成函数，</a:t>
            </a:r>
            <a:r>
              <a:rPr lang="en-US" altLang="zh-CN" b="1" dirty="0">
                <a:latin typeface="Times New Roman" panose="02020603050405020304" pitchFamily="18" charset="0"/>
              </a:rPr>
              <a:t>A(x)= </a:t>
            </a:r>
            <a:r>
              <a:rPr lang="el-GR" altLang="zh-CN" b="1" dirty="0">
                <a:latin typeface="Times New Roman" panose="02020603050405020304" pitchFamily="18" charset="0"/>
              </a:rPr>
              <a:t>φ</a:t>
            </a:r>
            <a:r>
              <a:rPr lang="en-US" altLang="zh-CN" b="1" dirty="0">
                <a:latin typeface="Times New Roman" panose="02020603050405020304" pitchFamily="18" charset="0"/>
              </a:rPr>
              <a:t>(x)/p(x)，</a:t>
            </a:r>
            <a:r>
              <a:rPr lang="zh-CN" altLang="en-US" b="1" dirty="0">
                <a:latin typeface="Times New Roman" panose="02020603050405020304" pitchFamily="18" charset="0"/>
              </a:rPr>
              <a:t>即</a:t>
            </a:r>
            <a:r>
              <a:rPr lang="en-US" altLang="zh-CN" b="1" dirty="0">
                <a:latin typeface="Times New Roman" panose="02020603050405020304" pitchFamily="18" charset="0"/>
              </a:rPr>
              <a:t>p(x)A(x)= </a:t>
            </a:r>
            <a:r>
              <a:rPr lang="el-GR" altLang="zh-CN" b="1" dirty="0">
                <a:latin typeface="Times New Roman" panose="02020603050405020304" pitchFamily="18" charset="0"/>
              </a:rPr>
              <a:t>φ</a:t>
            </a:r>
            <a:r>
              <a:rPr lang="en-US" altLang="zh-CN" b="1" dirty="0">
                <a:latin typeface="Times New Roman" panose="02020603050405020304" pitchFamily="18" charset="0"/>
              </a:rPr>
              <a:t>(x)≠0，</a:t>
            </a:r>
            <a:r>
              <a:rPr lang="el-GR" altLang="zh-CN" b="1" dirty="0">
                <a:latin typeface="Times New Roman" panose="02020603050405020304" pitchFamily="18" charset="0"/>
              </a:rPr>
              <a:t> φ</a:t>
            </a:r>
            <a:r>
              <a:rPr lang="en-US" altLang="zh-CN" b="1" dirty="0">
                <a:latin typeface="Times New Roman" panose="02020603050405020304" pitchFamily="18" charset="0"/>
              </a:rPr>
              <a:t> (x)</a:t>
            </a:r>
            <a:r>
              <a:rPr lang="zh-CN" altLang="en-US" b="1" dirty="0">
                <a:latin typeface="Times New Roman" panose="02020603050405020304" pitchFamily="18" charset="0"/>
              </a:rPr>
              <a:t>的次数不超过</a:t>
            </a:r>
            <a:r>
              <a:rPr lang="en-US" altLang="zh-CN" b="1" dirty="0">
                <a:latin typeface="Times New Roman" panose="02020603050405020304" pitchFamily="18" charset="0"/>
              </a:rPr>
              <a:t>n-1。</a:t>
            </a:r>
            <a:r>
              <a:rPr lang="zh-CN" altLang="en-US" b="1" dirty="0">
                <a:latin typeface="Times New Roman" panose="02020603050405020304" pitchFamily="18" charset="0"/>
              </a:rPr>
              <a:t>而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		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84C5A7-8725-442C-ACA5-426A3F56C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不可约多项式</a:t>
            </a:r>
          </a:p>
        </p:txBody>
      </p:sp>
      <p:sp>
        <p:nvSpPr>
          <p:cNvPr id="149507" name="Rectangle 2">
            <a:extLst>
              <a:ext uri="{FF2B5EF4-FFF2-40B4-BE49-F238E27FC236}">
                <a16:creationId xmlns:a16="http://schemas.microsoft.com/office/drawing/2014/main" id="{9A015D46-E736-4A51-9EFC-C22286D58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219200"/>
            <a:ext cx="10515600" cy="4935538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8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8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800000"/>
                </a:solidFill>
                <a:latin typeface="Times New Roman" panose="02020603050405020304" pitchFamily="18" charset="0"/>
              </a:rPr>
              <a:t>.4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p(x)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次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不可约多项式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，周期为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m，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序列{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}∈G(p(x))，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则{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的周期为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m。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证明：设{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latin typeface="Times New Roman" panose="02020603050405020304" pitchFamily="18" charset="0"/>
              </a:rPr>
              <a:t>的周期为</a:t>
            </a:r>
            <a:r>
              <a:rPr lang="en-US" altLang="zh-CN" b="1" dirty="0">
                <a:latin typeface="Times New Roman" panose="02020603050405020304" pitchFamily="18" charset="0"/>
              </a:rPr>
              <a:t>r，</a:t>
            </a:r>
            <a:r>
              <a:rPr lang="zh-CN" altLang="en-US" b="1" dirty="0">
                <a:latin typeface="Times New Roman" panose="02020603050405020304" pitchFamily="18" charset="0"/>
              </a:rPr>
              <a:t>由定理</a:t>
            </a: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.3有</a:t>
            </a:r>
            <a:r>
              <a:rPr lang="en-US" altLang="zh-CN" b="1" dirty="0" err="1">
                <a:latin typeface="Times New Roman" panose="02020603050405020304" pitchFamily="18" charset="0"/>
              </a:rPr>
              <a:t>r|m</a:t>
            </a:r>
            <a:r>
              <a:rPr lang="en-US" altLang="zh-CN" b="1" dirty="0">
                <a:latin typeface="Times New Roman" panose="02020603050405020304" pitchFamily="18" charset="0"/>
              </a:rPr>
              <a:t>，</a:t>
            </a:r>
            <a:r>
              <a:rPr lang="zh-CN" altLang="en-US" b="1" dirty="0">
                <a:latin typeface="Times New Roman" panose="02020603050405020304" pitchFamily="18" charset="0"/>
              </a:rPr>
              <a:t>所以</a:t>
            </a:r>
            <a:r>
              <a:rPr lang="en-US" altLang="zh-CN" b="1" dirty="0" err="1">
                <a:latin typeface="Times New Roman" panose="02020603050405020304" pitchFamily="18" charset="0"/>
              </a:rPr>
              <a:t>r≤m</a:t>
            </a:r>
            <a:r>
              <a:rPr lang="en-US" altLang="zh-CN" b="1" dirty="0">
                <a:latin typeface="Times New Roman" panose="02020603050405020304" pitchFamily="18" charset="0"/>
              </a:rPr>
              <a:t>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设</a:t>
            </a:r>
            <a:r>
              <a:rPr lang="en-US" altLang="zh-CN" b="1" dirty="0">
                <a:latin typeface="Times New Roman" panose="02020603050405020304" pitchFamily="18" charset="0"/>
              </a:rPr>
              <a:t>A(x)</a:t>
            </a:r>
            <a:r>
              <a:rPr lang="zh-CN" altLang="en-US" b="1" dirty="0">
                <a:latin typeface="Times New Roman" panose="02020603050405020304" pitchFamily="18" charset="0"/>
              </a:rPr>
              <a:t>为{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i="1" u="sng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latin typeface="Times New Roman" panose="02020603050405020304" pitchFamily="18" charset="0"/>
              </a:rPr>
              <a:t>的生成函数，</a:t>
            </a:r>
            <a:r>
              <a:rPr lang="en-US" altLang="zh-CN" b="1" dirty="0">
                <a:latin typeface="Times New Roman" panose="02020603050405020304" pitchFamily="18" charset="0"/>
              </a:rPr>
              <a:t>A(x)= </a:t>
            </a:r>
            <a:r>
              <a:rPr lang="el-GR" altLang="zh-CN" b="1" dirty="0">
                <a:latin typeface="Times New Roman" panose="02020603050405020304" pitchFamily="18" charset="0"/>
              </a:rPr>
              <a:t>φ</a:t>
            </a:r>
            <a:r>
              <a:rPr lang="en-US" altLang="zh-CN" b="1" dirty="0">
                <a:latin typeface="Times New Roman" panose="02020603050405020304" pitchFamily="18" charset="0"/>
              </a:rPr>
              <a:t>(x)/p(x)，</a:t>
            </a:r>
            <a:r>
              <a:rPr lang="zh-CN" altLang="en-US" b="1" dirty="0">
                <a:latin typeface="Times New Roman" panose="02020603050405020304" pitchFamily="18" charset="0"/>
              </a:rPr>
              <a:t>即</a:t>
            </a:r>
            <a:r>
              <a:rPr lang="en-US" altLang="zh-CN" b="1" dirty="0">
                <a:latin typeface="Times New Roman" panose="02020603050405020304" pitchFamily="18" charset="0"/>
              </a:rPr>
              <a:t>p(x)A(x)= </a:t>
            </a:r>
            <a:r>
              <a:rPr lang="el-GR" altLang="zh-CN" b="1" dirty="0">
                <a:latin typeface="Times New Roman" panose="02020603050405020304" pitchFamily="18" charset="0"/>
              </a:rPr>
              <a:t>φ</a:t>
            </a:r>
            <a:r>
              <a:rPr lang="en-US" altLang="zh-CN" b="1" dirty="0">
                <a:latin typeface="Times New Roman" panose="02020603050405020304" pitchFamily="18" charset="0"/>
              </a:rPr>
              <a:t>(x)≠0，</a:t>
            </a:r>
            <a:r>
              <a:rPr lang="el-GR" altLang="zh-CN" b="1" dirty="0">
                <a:latin typeface="Times New Roman" panose="02020603050405020304" pitchFamily="18" charset="0"/>
              </a:rPr>
              <a:t> φ</a:t>
            </a:r>
            <a:r>
              <a:rPr lang="en-US" altLang="zh-CN" b="1" dirty="0">
                <a:latin typeface="Times New Roman" panose="02020603050405020304" pitchFamily="18" charset="0"/>
              </a:rPr>
              <a:t> (x)</a:t>
            </a:r>
            <a:r>
              <a:rPr lang="zh-CN" altLang="en-US" b="1" dirty="0">
                <a:latin typeface="Times New Roman" panose="02020603050405020304" pitchFamily="18" charset="0"/>
              </a:rPr>
              <a:t>的次数不超过</a:t>
            </a:r>
            <a:r>
              <a:rPr lang="en-US" altLang="zh-CN" b="1" dirty="0">
                <a:latin typeface="Times New Roman" panose="02020603050405020304" pitchFamily="18" charset="0"/>
              </a:rPr>
              <a:t>n-1。</a:t>
            </a:r>
            <a:r>
              <a:rPr lang="zh-CN" altLang="en-US" b="1" dirty="0">
                <a:latin typeface="Times New Roman" panose="02020603050405020304" pitchFamily="18" charset="0"/>
              </a:rPr>
              <a:t>而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		   A(x)=∑a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</a:rPr>
              <a:t>x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i-1</a:t>
            </a:r>
            <a:r>
              <a:rPr lang="en-US" altLang="zh-CN" b="1" dirty="0">
                <a:latin typeface="Times New Roman" panose="02020603050405020304" pitchFamily="18" charset="0"/>
              </a:rPr>
              <a:t>=a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</a:rPr>
              <a:t>+a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x+…+a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x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r-1</a:t>
            </a:r>
            <a:r>
              <a:rPr lang="en-US" altLang="zh-CN" b="1" dirty="0">
                <a:latin typeface="Times New Roman" panose="02020603050405020304" pitchFamily="18" charset="0"/>
              </a:rPr>
              <a:t>+x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(a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</a:rPr>
              <a:t>+a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x+…+a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x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r-1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	         	   +(</a:t>
            </a:r>
            <a:r>
              <a:rPr lang="en-US" altLang="zh-CN" b="1" dirty="0" err="1">
                <a:latin typeface="Times New Roman" panose="02020603050405020304" pitchFamily="18" charset="0"/>
              </a:rPr>
              <a:t>x</a:t>
            </a:r>
            <a:r>
              <a:rPr lang="en-US" altLang="zh-CN" b="1" baseline="30000" dirty="0" err="1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(a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</a:rPr>
              <a:t>+a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x+…+a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</a:rPr>
              <a:t>x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r-1</a:t>
            </a:r>
            <a:r>
              <a:rPr lang="en-US" altLang="zh-CN" b="1" dirty="0">
                <a:latin typeface="Times New Roman" panose="02020603050405020304" pitchFamily="18" charset="0"/>
              </a:rPr>
              <a:t>)+…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			</a:t>
            </a:r>
            <a:endParaRPr lang="zh-CN" altLang="en-US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84C5A7-8725-442C-ACA5-426A3F56C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不可约多项式</a:t>
            </a:r>
          </a:p>
        </p:txBody>
      </p:sp>
      <p:sp>
        <p:nvSpPr>
          <p:cNvPr id="151555" name="Rectangle 2">
            <a:extLst>
              <a:ext uri="{FF2B5EF4-FFF2-40B4-BE49-F238E27FC236}">
                <a16:creationId xmlns:a16="http://schemas.microsoft.com/office/drawing/2014/main" id="{C7B51011-C7A3-48FF-AA8D-F54374B2F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219200"/>
            <a:ext cx="10515600" cy="4935538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8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>
                <a:solidFill>
                  <a:srgbClr val="8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800000"/>
                </a:solidFill>
                <a:latin typeface="Times New Roman" panose="02020603050405020304" pitchFamily="18" charset="0"/>
              </a:rPr>
              <a:t>.4</a:t>
            </a:r>
            <a:r>
              <a:rPr lang="zh-CN" altLang="en-US" b="1">
                <a:latin typeface="Times New Roman" panose="02020603050405020304" pitchFamily="18" charset="0"/>
              </a:rPr>
              <a:t> 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p(x)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次</a:t>
            </a: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不可约多项式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，周期为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m，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序列{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}∈G(p(x))，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则{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的周期为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m。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证明：设{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>
                <a:latin typeface="Times New Roman" panose="02020603050405020304" pitchFamily="18" charset="0"/>
              </a:rPr>
              <a:t>i</a:t>
            </a:r>
            <a:r>
              <a:rPr lang="en-US" altLang="zh-CN" b="1">
                <a:latin typeface="Times New Roman" panose="02020603050405020304" pitchFamily="18" charset="0"/>
              </a:rPr>
              <a:t>}</a:t>
            </a:r>
            <a:r>
              <a:rPr lang="zh-CN" altLang="en-US" b="1">
                <a:latin typeface="Times New Roman" panose="02020603050405020304" pitchFamily="18" charset="0"/>
              </a:rPr>
              <a:t>的周期为</a:t>
            </a:r>
            <a:r>
              <a:rPr lang="en-US" altLang="zh-CN" b="1">
                <a:latin typeface="Times New Roman" panose="02020603050405020304" pitchFamily="18" charset="0"/>
              </a:rPr>
              <a:t>r，</a:t>
            </a:r>
            <a:r>
              <a:rPr lang="zh-CN" altLang="en-US" b="1">
                <a:latin typeface="Times New Roman" panose="02020603050405020304" pitchFamily="18" charset="0"/>
              </a:rPr>
              <a:t>由定理</a:t>
            </a:r>
            <a:r>
              <a:rPr lang="en-US" altLang="zh-CN" b="1">
                <a:latin typeface="Times New Roman" panose="02020603050405020304" pitchFamily="18" charset="0"/>
              </a:rPr>
              <a:t>3</a:t>
            </a:r>
            <a:r>
              <a:rPr lang="zh-CN" altLang="en-US" b="1">
                <a:latin typeface="Times New Roman" panose="02020603050405020304" pitchFamily="18" charset="0"/>
              </a:rPr>
              <a:t>.3有</a:t>
            </a:r>
            <a:r>
              <a:rPr lang="en-US" altLang="zh-CN" b="1">
                <a:latin typeface="Times New Roman" panose="02020603050405020304" pitchFamily="18" charset="0"/>
              </a:rPr>
              <a:t>r|m，</a:t>
            </a:r>
            <a:r>
              <a:rPr lang="zh-CN" altLang="en-US" b="1">
                <a:latin typeface="Times New Roman" panose="02020603050405020304" pitchFamily="18" charset="0"/>
              </a:rPr>
              <a:t>所以</a:t>
            </a:r>
            <a:r>
              <a:rPr lang="en-US" altLang="zh-CN" b="1">
                <a:latin typeface="Times New Roman" panose="02020603050405020304" pitchFamily="18" charset="0"/>
              </a:rPr>
              <a:t>r≤m。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设</a:t>
            </a:r>
            <a:r>
              <a:rPr lang="en-US" altLang="zh-CN" b="1">
                <a:latin typeface="Times New Roman" panose="02020603050405020304" pitchFamily="18" charset="0"/>
              </a:rPr>
              <a:t>A(x)</a:t>
            </a:r>
            <a:r>
              <a:rPr lang="zh-CN" altLang="en-US" b="1">
                <a:latin typeface="Times New Roman" panose="02020603050405020304" pitchFamily="18" charset="0"/>
              </a:rPr>
              <a:t>为{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 i="1" u="sng" baseline="-25000">
                <a:latin typeface="Times New Roman" panose="02020603050405020304" pitchFamily="18" charset="0"/>
              </a:rPr>
              <a:t>i</a:t>
            </a:r>
            <a:r>
              <a:rPr lang="en-US" altLang="zh-CN" b="1">
                <a:latin typeface="Times New Roman" panose="02020603050405020304" pitchFamily="18" charset="0"/>
              </a:rPr>
              <a:t>}</a:t>
            </a:r>
            <a:r>
              <a:rPr lang="zh-CN" altLang="en-US" b="1">
                <a:latin typeface="Times New Roman" panose="02020603050405020304" pitchFamily="18" charset="0"/>
              </a:rPr>
              <a:t>的生成函数，</a:t>
            </a:r>
            <a:r>
              <a:rPr lang="en-US" altLang="zh-CN" b="1">
                <a:latin typeface="Times New Roman" panose="02020603050405020304" pitchFamily="18" charset="0"/>
              </a:rPr>
              <a:t>A(x)= </a:t>
            </a:r>
            <a:r>
              <a:rPr lang="el-GR" altLang="zh-CN" b="1">
                <a:latin typeface="Times New Roman" panose="02020603050405020304" pitchFamily="18" charset="0"/>
              </a:rPr>
              <a:t>φ</a:t>
            </a:r>
            <a:r>
              <a:rPr lang="en-US" altLang="zh-CN" b="1">
                <a:latin typeface="Times New Roman" panose="02020603050405020304" pitchFamily="18" charset="0"/>
              </a:rPr>
              <a:t>(x)/p(x)，</a:t>
            </a:r>
            <a:r>
              <a:rPr lang="zh-CN" altLang="en-US" b="1">
                <a:latin typeface="Times New Roman" panose="02020603050405020304" pitchFamily="18" charset="0"/>
              </a:rPr>
              <a:t>即</a:t>
            </a:r>
            <a:r>
              <a:rPr lang="en-US" altLang="zh-CN" b="1">
                <a:latin typeface="Times New Roman" panose="02020603050405020304" pitchFamily="18" charset="0"/>
              </a:rPr>
              <a:t>p(x)A(x)= </a:t>
            </a:r>
            <a:r>
              <a:rPr lang="el-GR" altLang="zh-CN" b="1">
                <a:latin typeface="Times New Roman" panose="02020603050405020304" pitchFamily="18" charset="0"/>
              </a:rPr>
              <a:t>φ</a:t>
            </a:r>
            <a:r>
              <a:rPr lang="en-US" altLang="zh-CN" b="1">
                <a:latin typeface="Times New Roman" panose="02020603050405020304" pitchFamily="18" charset="0"/>
              </a:rPr>
              <a:t>(x)≠0，</a:t>
            </a:r>
            <a:r>
              <a:rPr lang="el-GR" altLang="zh-CN" b="1">
                <a:latin typeface="Times New Roman" panose="02020603050405020304" pitchFamily="18" charset="0"/>
              </a:rPr>
              <a:t> φ</a:t>
            </a:r>
            <a:r>
              <a:rPr lang="en-US" altLang="zh-CN" b="1">
                <a:latin typeface="Times New Roman" panose="02020603050405020304" pitchFamily="18" charset="0"/>
              </a:rPr>
              <a:t> (x)</a:t>
            </a:r>
            <a:r>
              <a:rPr lang="zh-CN" altLang="en-US" b="1">
                <a:latin typeface="Times New Roman" panose="02020603050405020304" pitchFamily="18" charset="0"/>
              </a:rPr>
              <a:t>的次数不超过</a:t>
            </a:r>
            <a:r>
              <a:rPr lang="en-US" altLang="zh-CN" b="1">
                <a:latin typeface="Times New Roman" panose="02020603050405020304" pitchFamily="18" charset="0"/>
              </a:rPr>
              <a:t>n-1。</a:t>
            </a:r>
            <a:r>
              <a:rPr lang="zh-CN" altLang="en-US" b="1">
                <a:latin typeface="Times New Roman" panose="02020603050405020304" pitchFamily="18" charset="0"/>
              </a:rPr>
              <a:t>而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	   A(x)=∑a</a:t>
            </a:r>
            <a:r>
              <a:rPr lang="en-US" altLang="zh-CN" b="1" baseline="-25000">
                <a:latin typeface="Times New Roman" panose="02020603050405020304" pitchFamily="18" charset="0"/>
              </a:rPr>
              <a:t>i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i-1</a:t>
            </a:r>
            <a:r>
              <a:rPr lang="en-US" altLang="zh-CN" b="1">
                <a:latin typeface="Times New Roman" panose="02020603050405020304" pitchFamily="18" charset="0"/>
              </a:rPr>
              <a:t>=a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+a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x+…+a</a:t>
            </a:r>
            <a:r>
              <a:rPr lang="en-US" altLang="zh-CN" b="1" baseline="-25000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r-1</a:t>
            </a:r>
            <a:r>
              <a:rPr lang="en-US" altLang="zh-CN" b="1">
                <a:latin typeface="Times New Roman" panose="02020603050405020304" pitchFamily="18" charset="0"/>
              </a:rPr>
              <a:t>+x</a:t>
            </a:r>
            <a:r>
              <a:rPr lang="en-US" altLang="zh-CN" b="1" baseline="30000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</a:rPr>
              <a:t>(a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+a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x+…+a</a:t>
            </a:r>
            <a:r>
              <a:rPr lang="en-US" altLang="zh-CN" b="1" baseline="-25000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r-1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         	   +(x</a:t>
            </a:r>
            <a:r>
              <a:rPr lang="en-US" altLang="zh-CN" b="1" baseline="30000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  <a:r>
              <a:rPr lang="en-US" altLang="zh-CN" b="1" baseline="30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(a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+a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x+…+a</a:t>
            </a:r>
            <a:r>
              <a:rPr lang="en-US" altLang="zh-CN" b="1" baseline="-25000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r-1</a:t>
            </a:r>
            <a:r>
              <a:rPr lang="en-US" altLang="zh-CN" b="1">
                <a:latin typeface="Times New Roman" panose="02020603050405020304" pitchFamily="18" charset="0"/>
              </a:rPr>
              <a:t>)+…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		 =(a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+a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x+…+a</a:t>
            </a:r>
            <a:r>
              <a:rPr lang="en-US" altLang="zh-CN" b="1" baseline="-25000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r-1</a:t>
            </a:r>
            <a:r>
              <a:rPr lang="en-US" altLang="zh-CN" b="1">
                <a:latin typeface="Times New Roman" panose="02020603050405020304" pitchFamily="18" charset="0"/>
              </a:rPr>
              <a:t> ) /(1-x</a:t>
            </a:r>
            <a:r>
              <a:rPr lang="en-US" altLang="zh-CN" b="1" baseline="30000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			 =(a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+a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x+…+a</a:t>
            </a:r>
            <a:r>
              <a:rPr lang="en-US" altLang="zh-CN" b="1" baseline="-25000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r-1</a:t>
            </a:r>
            <a:r>
              <a:rPr lang="en-US" altLang="zh-CN" b="1">
                <a:latin typeface="Times New Roman" panose="02020603050405020304" pitchFamily="18" charset="0"/>
              </a:rPr>
              <a:t> ) /(x</a:t>
            </a:r>
            <a:r>
              <a:rPr lang="en-US" altLang="zh-CN" b="1" baseline="30000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</a:rPr>
              <a:t>-1)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endParaRPr lang="zh-CN" altLang="en-US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026" name="Object 6">
            <a:extLst>
              <a:ext uri="{FF2B5EF4-FFF2-40B4-BE49-F238E27FC236}">
                <a16:creationId xmlns:a16="http://schemas.microsoft.com/office/drawing/2014/main" id="{D9EAC9E5-6B57-4C9F-BF71-2B86EA489A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1600200"/>
          <a:ext cx="6132513" cy="374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39" r:id="rId4" imgW="43005375" imgH="28089225" progId="Equation.DSMT4">
                  <p:embed/>
                </p:oleObj>
              </mc:Choice>
              <mc:Fallback>
                <p:oleObj r:id="rId4" imgW="43005375" imgH="28089225" progId="Equation.DSMT4">
                  <p:embed/>
                  <p:pic>
                    <p:nvPicPr>
                      <p:cNvPr id="129026" name="Object 6">
                        <a:extLst>
                          <a:ext uri="{FF2B5EF4-FFF2-40B4-BE49-F238E27FC236}">
                            <a16:creationId xmlns:a16="http://schemas.microsoft.com/office/drawing/2014/main" id="{D9EAC9E5-6B57-4C9F-BF71-2B86EA489A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600200"/>
                        <a:ext cx="6132513" cy="3744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28946055"/>
      </p:ext>
    </p:extLst>
  </p:cSld>
  <p:clrMapOvr>
    <a:masterClrMapping/>
  </p:clrMapOvr>
  <p:transition spd="slow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1E1A8A-5123-412F-B4C7-E5EAC8174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m-</a:t>
            </a:r>
            <a:r>
              <a:rPr lang="zh-CN" altLang="en-US" b="1" dirty="0"/>
              <a:t>序列产生的必要条件</a:t>
            </a:r>
          </a:p>
        </p:txBody>
      </p:sp>
      <p:sp>
        <p:nvSpPr>
          <p:cNvPr id="473090" name="Rectangle 2">
            <a:extLst>
              <a:ext uri="{FF2B5EF4-FFF2-40B4-BE49-F238E27FC236}">
                <a16:creationId xmlns:a16="http://schemas.microsoft.com/office/drawing/2014/main" id="{CAC7A414-0FE9-4588-BFBA-8D0BB5795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8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8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800000"/>
                </a:solidFill>
                <a:latin typeface="Times New Roman" panose="02020603050405020304" pitchFamily="18" charset="0"/>
              </a:rPr>
              <a:t>.5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级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LFSR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产生的序列有最大周期2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-1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必要条件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是其特征多项式为不可约的。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结论：</a:t>
            </a:r>
            <a:r>
              <a:rPr lang="en-US" altLang="zh-CN" b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级</a:t>
            </a:r>
            <a:r>
              <a:rPr lang="en-US" altLang="zh-CN" b="1" dirty="0">
                <a:latin typeface="Times New Roman" panose="02020603050405020304" pitchFamily="18" charset="0"/>
              </a:rPr>
              <a:t>LFSR</a:t>
            </a:r>
            <a:r>
              <a:rPr lang="zh-CN" altLang="en-US" b="1" dirty="0">
                <a:latin typeface="Times New Roman" panose="02020603050405020304" pitchFamily="18" charset="0"/>
              </a:rPr>
              <a:t>产生的序列周期达到最大2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-1 </a:t>
            </a:r>
            <a:r>
              <a:rPr lang="zh-CN" altLang="en-US" b="1" dirty="0">
                <a:latin typeface="Times New Roman" panose="02020603050405020304" pitchFamily="18" charset="0"/>
              </a:rPr>
              <a:t>，其特征多项式为</a:t>
            </a:r>
            <a:r>
              <a:rPr lang="en-US" altLang="zh-CN" b="1" dirty="0">
                <a:latin typeface="Times New Roman" panose="02020603050405020304" pitchFamily="18" charset="0"/>
              </a:rPr>
              <a:t>p(x)，</a:t>
            </a:r>
            <a:r>
              <a:rPr lang="zh-CN" altLang="en-US" b="1" dirty="0">
                <a:latin typeface="Times New Roman" panose="02020603050405020304" pitchFamily="18" charset="0"/>
              </a:rPr>
              <a:t>则</a:t>
            </a:r>
            <a:r>
              <a:rPr lang="en-US" altLang="zh-CN" b="1" dirty="0">
                <a:latin typeface="Times New Roman" panose="02020603050405020304" pitchFamily="18" charset="0"/>
              </a:rPr>
              <a:t>G(p(x))</a:t>
            </a:r>
            <a:r>
              <a:rPr lang="zh-CN" altLang="en-US" b="1" dirty="0">
                <a:latin typeface="Times New Roman" panose="02020603050405020304" pitchFamily="18" charset="0"/>
              </a:rPr>
              <a:t>中所有的序列的周期都是2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-1</a:t>
            </a:r>
            <a:r>
              <a:rPr lang="zh-CN" altLang="en-US" b="1" dirty="0">
                <a:latin typeface="Times New Roman" panose="02020603050405020304" pitchFamily="18" charset="0"/>
              </a:rPr>
              <a:t>。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zh-CN" altLang="en-US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96629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3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3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标题 1">
            <a:extLst>
              <a:ext uri="{FF2B5EF4-FFF2-40B4-BE49-F238E27FC236}">
                <a16:creationId xmlns:a16="http://schemas.microsoft.com/office/drawing/2014/main" id="{8FEFB90F-3153-4563-92F6-AE3577B994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r>
              <a:rPr lang="en-US" altLang="zh-CN" b="1">
                <a:solidFill>
                  <a:srgbClr val="1F4E79"/>
                </a:solidFill>
              </a:rPr>
              <a:t>m-</a:t>
            </a:r>
            <a:r>
              <a:rPr lang="zh-CN" altLang="en-US" b="1">
                <a:solidFill>
                  <a:srgbClr val="1F4E79"/>
                </a:solidFill>
              </a:rPr>
              <a:t>序列产生的必要条件</a:t>
            </a:r>
          </a:p>
        </p:txBody>
      </p:sp>
      <p:sp>
        <p:nvSpPr>
          <p:cNvPr id="473090" name="Rectangle 2">
            <a:extLst>
              <a:ext uri="{FF2B5EF4-FFF2-40B4-BE49-F238E27FC236}">
                <a16:creationId xmlns:a16="http://schemas.microsoft.com/office/drawing/2014/main" id="{72376EB0-500D-48C6-A6EC-7C2C78D4E4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8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8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800000"/>
                </a:solidFill>
                <a:latin typeface="Times New Roman" panose="02020603050405020304" pitchFamily="18" charset="0"/>
              </a:rPr>
              <a:t>.5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级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LFSR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产生的序列有最大周期2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-1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必要条件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是其特征多项式为不可约的。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证明：设</a:t>
            </a:r>
            <a:r>
              <a:rPr lang="en-US" altLang="zh-CN" b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级</a:t>
            </a:r>
            <a:r>
              <a:rPr lang="en-US" altLang="zh-CN" b="1" dirty="0">
                <a:latin typeface="Times New Roman" panose="02020603050405020304" pitchFamily="18" charset="0"/>
              </a:rPr>
              <a:t>LFSR</a:t>
            </a:r>
            <a:r>
              <a:rPr lang="zh-CN" altLang="en-US" b="1" dirty="0">
                <a:latin typeface="Times New Roman" panose="02020603050405020304" pitchFamily="18" charset="0"/>
              </a:rPr>
              <a:t>产生的序列周期达到最大2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-1</a:t>
            </a:r>
            <a:r>
              <a:rPr lang="zh-CN" altLang="en-US" b="1" dirty="0">
                <a:latin typeface="Times New Roman" panose="02020603050405020304" pitchFamily="18" charset="0"/>
              </a:rPr>
              <a:t>。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反证法：</a:t>
            </a:r>
            <a:r>
              <a:rPr lang="zh-CN" altLang="en-US" b="1" dirty="0">
                <a:latin typeface="Times New Roman" panose="02020603050405020304" pitchFamily="18" charset="0"/>
              </a:rPr>
              <a:t>设特征多项式为</a:t>
            </a:r>
            <a:r>
              <a:rPr lang="en-US" altLang="zh-CN" b="1" dirty="0">
                <a:latin typeface="Times New Roman" panose="02020603050405020304" pitchFamily="18" charset="0"/>
              </a:rPr>
              <a:t>p(x)，</a:t>
            </a:r>
            <a:r>
              <a:rPr lang="zh-CN" altLang="en-US" b="1" dirty="0">
                <a:latin typeface="Times New Roman" panose="02020603050405020304" pitchFamily="18" charset="0"/>
              </a:rPr>
              <a:t>若</a:t>
            </a:r>
            <a:r>
              <a:rPr lang="en-US" altLang="zh-CN" b="1" dirty="0">
                <a:latin typeface="Times New Roman" panose="02020603050405020304" pitchFamily="18" charset="0"/>
              </a:rPr>
              <a:t>p(x)</a:t>
            </a:r>
            <a:r>
              <a:rPr lang="zh-CN" altLang="en-US" b="1" dirty="0">
                <a:latin typeface="Times New Roman" panose="02020603050405020304" pitchFamily="18" charset="0"/>
              </a:rPr>
              <a:t>可约，可设为</a:t>
            </a:r>
            <a:r>
              <a:rPr lang="en-US" altLang="zh-CN" b="1" dirty="0">
                <a:latin typeface="Times New Roman" panose="02020603050405020304" pitchFamily="18" charset="0"/>
              </a:rPr>
              <a:t>p(x)=g(x)h(x)，</a:t>
            </a:r>
            <a:r>
              <a:rPr lang="zh-CN" altLang="en-US" b="1" dirty="0">
                <a:latin typeface="Times New Roman" panose="02020603050405020304" pitchFamily="18" charset="0"/>
              </a:rPr>
              <a:t>其中</a:t>
            </a:r>
            <a:r>
              <a:rPr lang="en-US" altLang="zh-CN" b="1" dirty="0">
                <a:latin typeface="Times New Roman" panose="02020603050405020304" pitchFamily="18" charset="0"/>
              </a:rPr>
              <a:t>g(x)</a:t>
            </a:r>
            <a:r>
              <a:rPr lang="zh-CN" altLang="en-US" b="1" dirty="0">
                <a:latin typeface="Times New Roman" panose="02020603050405020304" pitchFamily="18" charset="0"/>
              </a:rPr>
              <a:t>不可约，且次数</a:t>
            </a:r>
            <a:r>
              <a:rPr lang="en-US" altLang="zh-CN" b="1" dirty="0">
                <a:latin typeface="Times New Roman" panose="02020603050405020304" pitchFamily="18" charset="0"/>
              </a:rPr>
              <a:t>k&lt;n。</a:t>
            </a:r>
            <a:r>
              <a:rPr lang="zh-CN" altLang="en-US" b="1" dirty="0">
                <a:latin typeface="Times New Roman" panose="02020603050405020304" pitchFamily="18" charset="0"/>
              </a:rPr>
              <a:t>由于</a:t>
            </a:r>
            <a:r>
              <a:rPr lang="en-US" altLang="zh-CN" b="1" dirty="0">
                <a:latin typeface="Times New Roman" panose="02020603050405020304" pitchFamily="18" charset="0"/>
              </a:rPr>
              <a:t>G(g(x))    G(p(x))，</a:t>
            </a:r>
            <a:r>
              <a:rPr lang="zh-CN" altLang="en-US" b="1" dirty="0">
                <a:latin typeface="Times New Roman" panose="02020603050405020304" pitchFamily="18" charset="0"/>
              </a:rPr>
              <a:t>而</a:t>
            </a:r>
            <a:r>
              <a:rPr lang="en-US" altLang="zh-CN" b="1" dirty="0">
                <a:latin typeface="Times New Roman" panose="02020603050405020304" pitchFamily="18" charset="0"/>
              </a:rPr>
              <a:t>G(g(x))</a:t>
            </a:r>
            <a:r>
              <a:rPr lang="zh-CN" altLang="en-US" b="1" dirty="0">
                <a:latin typeface="Times New Roman" panose="02020603050405020304" pitchFamily="18" charset="0"/>
              </a:rPr>
              <a:t>中序列的周期一方面不超过2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k</a:t>
            </a:r>
            <a:r>
              <a:rPr lang="en-US" altLang="zh-CN" b="1" dirty="0">
                <a:latin typeface="Times New Roman" panose="02020603050405020304" pitchFamily="18" charset="0"/>
              </a:rPr>
              <a:t>-1，</a:t>
            </a:r>
            <a:r>
              <a:rPr lang="zh-CN" altLang="en-US" b="1" dirty="0">
                <a:latin typeface="Times New Roman" panose="02020603050405020304" pitchFamily="18" charset="0"/>
              </a:rPr>
              <a:t>另一方面又等于2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-1，</a:t>
            </a:r>
            <a:r>
              <a:rPr lang="zh-CN" altLang="en-US" b="1" dirty="0">
                <a:latin typeface="Times New Roman" panose="02020603050405020304" pitchFamily="18" charset="0"/>
              </a:rPr>
              <a:t>这是矛盾的，所以</a:t>
            </a:r>
            <a:r>
              <a:rPr lang="en-US" altLang="zh-CN" b="1" dirty="0">
                <a:latin typeface="Times New Roman" panose="02020603050405020304" pitchFamily="18" charset="0"/>
              </a:rPr>
              <a:t>p(x)</a:t>
            </a:r>
            <a:r>
              <a:rPr lang="zh-CN" altLang="en-US" b="1" dirty="0">
                <a:latin typeface="Times New Roman" panose="02020603050405020304" pitchFamily="18" charset="0"/>
              </a:rPr>
              <a:t>不可约。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zh-CN" altLang="en-US" b="1" dirty="0">
              <a:latin typeface="Times New Roman" panose="02020603050405020304" pitchFamily="18" charset="0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该定理的逆不成立</a:t>
            </a:r>
            <a:r>
              <a:rPr lang="zh-CN" altLang="en-US" b="1" dirty="0">
                <a:latin typeface="Times New Roman" panose="02020603050405020304" pitchFamily="18" charset="0"/>
              </a:rPr>
              <a:t>，即</a:t>
            </a:r>
            <a:r>
              <a:rPr lang="en-US" altLang="zh-CN" b="1" dirty="0">
                <a:latin typeface="Times New Roman" panose="02020603050405020304" pitchFamily="18" charset="0"/>
              </a:rPr>
              <a:t>LFSR</a:t>
            </a:r>
            <a:r>
              <a:rPr lang="zh-CN" altLang="en-US" b="1" dirty="0">
                <a:latin typeface="Times New Roman" panose="02020603050405020304" pitchFamily="18" charset="0"/>
              </a:rPr>
              <a:t>的特征多项式为不可约多项式时，其输出序列不一定是</a:t>
            </a:r>
            <a:r>
              <a:rPr lang="en-US" altLang="zh-CN" b="1" dirty="0">
                <a:latin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</a:rPr>
              <a:t>序列。</a:t>
            </a:r>
          </a:p>
        </p:txBody>
      </p:sp>
      <p:graphicFrame>
        <p:nvGraphicFramePr>
          <p:cNvPr id="18434" name="Object 4">
            <a:extLst>
              <a:ext uri="{FF2B5EF4-FFF2-40B4-BE49-F238E27FC236}">
                <a16:creationId xmlns:a16="http://schemas.microsoft.com/office/drawing/2014/main" id="{631DD68A-0028-4D5E-A071-2FDF410F1B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7525" y="3663950"/>
          <a:ext cx="38735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63" r:id="rId4" imgW="2847975" imgH="2190750" progId="Equation.3">
                  <p:embed/>
                </p:oleObj>
              </mc:Choice>
              <mc:Fallback>
                <p:oleObj r:id="rId4" imgW="2847975" imgH="2190750" progId="Equation.3">
                  <p:embed/>
                  <p:pic>
                    <p:nvPicPr>
                      <p:cNvPr id="18434" name="Object 4">
                        <a:extLst>
                          <a:ext uri="{FF2B5EF4-FFF2-40B4-BE49-F238E27FC236}">
                            <a16:creationId xmlns:a16="http://schemas.microsoft.com/office/drawing/2014/main" id="{631DD68A-0028-4D5E-A071-2FDF410F1B3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7525" y="3663950"/>
                        <a:ext cx="387350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73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73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73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73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730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730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1E1A8A-5123-412F-B4C7-E5EAC8174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m-</a:t>
            </a:r>
            <a:r>
              <a:rPr lang="zh-CN" altLang="en-US" b="1" dirty="0"/>
              <a:t>序列产生的必要条件</a:t>
            </a:r>
          </a:p>
        </p:txBody>
      </p:sp>
      <p:sp>
        <p:nvSpPr>
          <p:cNvPr id="473090" name="Rectangle 2">
            <a:extLst>
              <a:ext uri="{FF2B5EF4-FFF2-40B4-BE49-F238E27FC236}">
                <a16:creationId xmlns:a16="http://schemas.microsoft.com/office/drawing/2014/main" id="{164B3F58-C69D-4303-8A6D-F692FEE5E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8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>
                <a:solidFill>
                  <a:srgbClr val="8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800000"/>
                </a:solidFill>
                <a:latin typeface="Times New Roman" panose="02020603050405020304" pitchFamily="18" charset="0"/>
              </a:rPr>
              <a:t>.5</a:t>
            </a:r>
            <a:r>
              <a:rPr lang="zh-CN" altLang="en-US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级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LFSR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产生的序列有最大周期2</a:t>
            </a:r>
            <a:r>
              <a:rPr lang="en-US" altLang="zh-CN" b="1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-1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必要条件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是其特征多项式为不可约的。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证明：设</a:t>
            </a:r>
            <a:r>
              <a:rPr lang="en-US" altLang="zh-CN" b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级</a:t>
            </a:r>
            <a:r>
              <a:rPr lang="en-US" altLang="zh-CN" b="1">
                <a:latin typeface="Times New Roman" panose="02020603050405020304" pitchFamily="18" charset="0"/>
              </a:rPr>
              <a:t>LFSR</a:t>
            </a:r>
            <a:r>
              <a:rPr lang="zh-CN" altLang="en-US" b="1">
                <a:latin typeface="Times New Roman" panose="02020603050405020304" pitchFamily="18" charset="0"/>
              </a:rPr>
              <a:t>产生的序列周期达到最大2</a:t>
            </a:r>
            <a:r>
              <a:rPr lang="en-US" altLang="zh-CN" b="1" baseline="30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-1</a:t>
            </a:r>
            <a:r>
              <a:rPr lang="zh-CN" altLang="en-US" b="1">
                <a:latin typeface="Times New Roman" panose="02020603050405020304" pitchFamily="18" charset="0"/>
              </a:rPr>
              <a:t>。</a:t>
            </a:r>
            <a:endParaRPr lang="en-US" altLang="zh-CN" b="1">
              <a:latin typeface="Times New Roman" panose="02020603050405020304" pitchFamily="18" charset="0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反证法：</a:t>
            </a:r>
            <a:r>
              <a:rPr lang="zh-CN" altLang="en-US" b="1">
                <a:latin typeface="Times New Roman" panose="02020603050405020304" pitchFamily="18" charset="0"/>
              </a:rPr>
              <a:t>设特征多项式为</a:t>
            </a:r>
            <a:r>
              <a:rPr lang="en-US" altLang="zh-CN" b="1">
                <a:latin typeface="Times New Roman" panose="02020603050405020304" pitchFamily="18" charset="0"/>
              </a:rPr>
              <a:t>p(x)，</a:t>
            </a:r>
            <a:r>
              <a:rPr lang="zh-CN" altLang="en-US" b="1">
                <a:latin typeface="Times New Roman" panose="02020603050405020304" pitchFamily="18" charset="0"/>
              </a:rPr>
              <a:t>若</a:t>
            </a:r>
            <a:r>
              <a:rPr lang="en-US" altLang="zh-CN" b="1">
                <a:latin typeface="Times New Roman" panose="02020603050405020304" pitchFamily="18" charset="0"/>
              </a:rPr>
              <a:t>p(x)</a:t>
            </a:r>
            <a:r>
              <a:rPr lang="zh-CN" altLang="en-US" b="1">
                <a:latin typeface="Times New Roman" panose="02020603050405020304" pitchFamily="18" charset="0"/>
              </a:rPr>
              <a:t>可约，可设为</a:t>
            </a:r>
            <a:r>
              <a:rPr lang="en-US" altLang="zh-CN" b="1">
                <a:latin typeface="Times New Roman" panose="02020603050405020304" pitchFamily="18" charset="0"/>
              </a:rPr>
              <a:t>p(x)=g(x)h(x)，</a:t>
            </a:r>
            <a:r>
              <a:rPr lang="zh-CN" altLang="en-US" b="1">
                <a:latin typeface="Times New Roman" panose="02020603050405020304" pitchFamily="18" charset="0"/>
              </a:rPr>
              <a:t>其中</a:t>
            </a:r>
            <a:r>
              <a:rPr lang="en-US" altLang="zh-CN" b="1">
                <a:latin typeface="Times New Roman" panose="02020603050405020304" pitchFamily="18" charset="0"/>
              </a:rPr>
              <a:t>g(x)</a:t>
            </a:r>
            <a:r>
              <a:rPr lang="zh-CN" altLang="en-US" b="1">
                <a:latin typeface="Times New Roman" panose="02020603050405020304" pitchFamily="18" charset="0"/>
              </a:rPr>
              <a:t>不可约，且次数</a:t>
            </a:r>
            <a:r>
              <a:rPr lang="en-US" altLang="zh-CN" b="1">
                <a:latin typeface="Times New Roman" panose="02020603050405020304" pitchFamily="18" charset="0"/>
              </a:rPr>
              <a:t>k&lt;n。</a:t>
            </a:r>
            <a:r>
              <a:rPr lang="zh-CN" altLang="en-US" b="1">
                <a:latin typeface="Times New Roman" panose="02020603050405020304" pitchFamily="18" charset="0"/>
              </a:rPr>
              <a:t>由于</a:t>
            </a:r>
            <a:r>
              <a:rPr lang="en-US" altLang="zh-CN" b="1">
                <a:latin typeface="Times New Roman" panose="02020603050405020304" pitchFamily="18" charset="0"/>
              </a:rPr>
              <a:t>G(g(x))    G(p(x))，</a:t>
            </a:r>
            <a:r>
              <a:rPr lang="zh-CN" altLang="en-US" b="1">
                <a:latin typeface="Times New Roman" panose="02020603050405020304" pitchFamily="18" charset="0"/>
              </a:rPr>
              <a:t>而</a:t>
            </a:r>
            <a:r>
              <a:rPr lang="en-US" altLang="zh-CN" b="1">
                <a:latin typeface="Times New Roman" panose="02020603050405020304" pitchFamily="18" charset="0"/>
              </a:rPr>
              <a:t>G(g(x))</a:t>
            </a:r>
            <a:r>
              <a:rPr lang="zh-CN" altLang="en-US" b="1">
                <a:latin typeface="Times New Roman" panose="02020603050405020304" pitchFamily="18" charset="0"/>
              </a:rPr>
              <a:t>中序列的周期一方面不超过2</a:t>
            </a:r>
            <a:r>
              <a:rPr lang="en-US" altLang="zh-CN" b="1" baseline="30000">
                <a:latin typeface="Times New Roman" panose="02020603050405020304" pitchFamily="18" charset="0"/>
              </a:rPr>
              <a:t>k</a:t>
            </a:r>
            <a:r>
              <a:rPr lang="en-US" altLang="zh-CN" b="1">
                <a:latin typeface="Times New Roman" panose="02020603050405020304" pitchFamily="18" charset="0"/>
              </a:rPr>
              <a:t>-1，</a:t>
            </a:r>
            <a:r>
              <a:rPr lang="zh-CN" altLang="en-US" b="1">
                <a:latin typeface="Times New Roman" panose="02020603050405020304" pitchFamily="18" charset="0"/>
              </a:rPr>
              <a:t>另一方面又等于2</a:t>
            </a:r>
            <a:r>
              <a:rPr lang="en-US" altLang="zh-CN" b="1" baseline="30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-1，</a:t>
            </a:r>
            <a:r>
              <a:rPr lang="zh-CN" altLang="en-US" b="1">
                <a:latin typeface="Times New Roman" panose="02020603050405020304" pitchFamily="18" charset="0"/>
              </a:rPr>
              <a:t>这是矛盾的，所以</a:t>
            </a:r>
            <a:r>
              <a:rPr lang="en-US" altLang="zh-CN" b="1">
                <a:latin typeface="Times New Roman" panose="02020603050405020304" pitchFamily="18" charset="0"/>
              </a:rPr>
              <a:t>p(x)</a:t>
            </a:r>
            <a:r>
              <a:rPr lang="zh-CN" altLang="en-US" b="1">
                <a:latin typeface="Times New Roman" panose="02020603050405020304" pitchFamily="18" charset="0"/>
              </a:rPr>
              <a:t>不可约。</a:t>
            </a:r>
            <a:endParaRPr lang="en-US" altLang="zh-CN" b="1">
              <a:latin typeface="Times New Roman" panose="02020603050405020304" pitchFamily="18" charset="0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zh-CN" altLang="en-US" b="1">
              <a:latin typeface="Times New Roman" panose="02020603050405020304" pitchFamily="18" charset="0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该定理的逆不成立</a:t>
            </a:r>
            <a:r>
              <a:rPr lang="zh-CN" altLang="en-US" b="1">
                <a:latin typeface="Times New Roman" panose="02020603050405020304" pitchFamily="18" charset="0"/>
              </a:rPr>
              <a:t>，即</a:t>
            </a:r>
            <a:r>
              <a:rPr lang="en-US" altLang="zh-CN" b="1">
                <a:latin typeface="Times New Roman" panose="02020603050405020304" pitchFamily="18" charset="0"/>
              </a:rPr>
              <a:t>LFSR</a:t>
            </a:r>
            <a:r>
              <a:rPr lang="zh-CN" altLang="en-US" b="1">
                <a:latin typeface="Times New Roman" panose="02020603050405020304" pitchFamily="18" charset="0"/>
              </a:rPr>
              <a:t>的特征多项式为不可约多项式时，其输出序列不一定是</a:t>
            </a:r>
            <a:r>
              <a:rPr lang="en-US" altLang="zh-CN" b="1">
                <a:latin typeface="Times New Roman" panose="02020603050405020304" pitchFamily="18" charset="0"/>
              </a:rPr>
              <a:t>m</a:t>
            </a:r>
            <a:r>
              <a:rPr lang="zh-CN" altLang="en-US" b="1">
                <a:latin typeface="Times New Roman" panose="02020603050405020304" pitchFamily="18" charset="0"/>
              </a:rPr>
              <a:t>序列。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4" name="Object 4">
                <a:extLst>
                  <a:ext uri="{FF2B5EF4-FFF2-40B4-BE49-F238E27FC236}">
                    <a16:creationId xmlns:a16="http://schemas.microsoft.com/office/drawing/2014/main" id="{0BE1FE36-1FD9-4DDD-A5D2-7112C8F190F5}"/>
                  </a:ext>
                </a:extLst>
              </p:cNvPr>
              <p:cNvSpPr txBox="1"/>
              <p:nvPr/>
            </p:nvSpPr>
            <p:spPr bwMode="auto">
              <a:xfrm>
                <a:off x="5597525" y="3663950"/>
                <a:ext cx="387350" cy="29845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⊂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8434" name="Object 4">
                <a:extLst>
                  <a:ext uri="{FF2B5EF4-FFF2-40B4-BE49-F238E27FC236}">
                    <a16:creationId xmlns:a16="http://schemas.microsoft.com/office/drawing/2014/main" id="{0BE1FE36-1FD9-4DDD-A5D2-7112C8F190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97525" y="3663950"/>
                <a:ext cx="387350" cy="2984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3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3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3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3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30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30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294B0D-B39D-4CD2-A018-27B54C739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定理</a:t>
            </a:r>
            <a:r>
              <a:rPr lang="en-US" altLang="zh-CN" b="1" dirty="0"/>
              <a:t>3.5 </a:t>
            </a:r>
            <a:r>
              <a:rPr lang="zh-CN" altLang="en-US" b="1" dirty="0"/>
              <a:t>的反例</a:t>
            </a:r>
          </a:p>
        </p:txBody>
      </p:sp>
      <p:sp>
        <p:nvSpPr>
          <p:cNvPr id="164867" name="Rectangle 2">
            <a:extLst>
              <a:ext uri="{FF2B5EF4-FFF2-40B4-BE49-F238E27FC236}">
                <a16:creationId xmlns:a16="http://schemas.microsoft.com/office/drawing/2014/main" id="{EBEBE419-CD63-4B34-9876-52719B05D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8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="1">
                <a:solidFill>
                  <a:srgbClr val="8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800000"/>
                </a:solidFill>
                <a:latin typeface="Times New Roman" panose="02020603050405020304" pitchFamily="18" charset="0"/>
              </a:rPr>
              <a:t>.4</a:t>
            </a:r>
            <a:r>
              <a:rPr lang="zh-CN" altLang="en-US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(x)=x</a:t>
            </a:r>
            <a:r>
              <a:rPr lang="en-US" altLang="zh-CN" b="1" baseline="30000">
                <a:latin typeface="Times New Roman" panose="02020603050405020304" pitchFamily="18" charset="0"/>
              </a:rPr>
              <a:t>4</a:t>
            </a:r>
            <a:r>
              <a:rPr lang="en-US" altLang="zh-CN" b="1">
                <a:latin typeface="Times New Roman" panose="02020603050405020304" pitchFamily="18" charset="0"/>
              </a:rPr>
              <a:t>+x</a:t>
            </a:r>
            <a:r>
              <a:rPr lang="en-US" altLang="zh-CN" b="1" baseline="30000">
                <a:latin typeface="Times New Roman" panose="02020603050405020304" pitchFamily="18" charset="0"/>
              </a:rPr>
              <a:t>3</a:t>
            </a:r>
            <a:r>
              <a:rPr lang="en-US" altLang="zh-CN" b="1">
                <a:latin typeface="Times New Roman" panose="02020603050405020304" pitchFamily="18" charset="0"/>
              </a:rPr>
              <a:t>+x</a:t>
            </a:r>
            <a:r>
              <a:rPr lang="en-US" altLang="zh-CN" b="1" baseline="30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+x+1</a:t>
            </a:r>
            <a:r>
              <a:rPr lang="zh-CN" altLang="en-US" b="1">
                <a:latin typeface="Times New Roman" panose="02020603050405020304" pitchFamily="18" charset="0"/>
              </a:rPr>
              <a:t>为</a:t>
            </a:r>
            <a:r>
              <a:rPr lang="en-US" altLang="zh-CN" b="1">
                <a:latin typeface="Times New Roman" panose="02020603050405020304" pitchFamily="18" charset="0"/>
              </a:rPr>
              <a:t>GF(2)</a:t>
            </a:r>
            <a:r>
              <a:rPr lang="zh-CN" altLang="en-US" b="1">
                <a:latin typeface="Times New Roman" panose="02020603050405020304" pitchFamily="18" charset="0"/>
              </a:rPr>
              <a:t>上的不可约多项式，这可由</a:t>
            </a:r>
            <a:r>
              <a:rPr lang="en-US" altLang="zh-CN" b="1">
                <a:latin typeface="Times New Roman" panose="02020603050405020304" pitchFamily="18" charset="0"/>
              </a:rPr>
              <a:t>x,x+1,x</a:t>
            </a:r>
            <a:r>
              <a:rPr lang="en-US" altLang="zh-CN" b="1" baseline="30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+x+1</a:t>
            </a:r>
            <a:r>
              <a:rPr lang="zh-CN" altLang="en-US" b="1">
                <a:latin typeface="Times New Roman" panose="02020603050405020304" pitchFamily="18" charset="0"/>
              </a:rPr>
              <a:t>都不能整除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(x)</a:t>
            </a:r>
            <a:r>
              <a:rPr lang="zh-CN" altLang="en-US" b="1">
                <a:latin typeface="Times New Roman" panose="02020603050405020304" pitchFamily="18" charset="0"/>
              </a:rPr>
              <a:t>得到。以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(x)</a:t>
            </a:r>
            <a:r>
              <a:rPr lang="zh-CN" altLang="en-US" b="1">
                <a:latin typeface="Times New Roman" panose="02020603050405020304" pitchFamily="18" charset="0"/>
              </a:rPr>
              <a:t>为特征多项式的</a:t>
            </a:r>
            <a:r>
              <a:rPr lang="en-US" altLang="zh-CN" b="1">
                <a:latin typeface="Times New Roman" panose="02020603050405020304" pitchFamily="18" charset="0"/>
              </a:rPr>
              <a:t>LFSR</a:t>
            </a:r>
            <a:r>
              <a:rPr lang="zh-CN" altLang="en-US" b="1">
                <a:latin typeface="Times New Roman" panose="02020603050405020304" pitchFamily="18" charset="0"/>
              </a:rPr>
              <a:t>的输出序列可由</a:t>
            </a:r>
          </a:p>
          <a:p>
            <a:pPr indent="-6350" algn="ctr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k</a:t>
            </a:r>
            <a:r>
              <a:rPr lang="en-US" altLang="zh-CN" b="1">
                <a:latin typeface="Times New Roman" panose="02020603050405020304" pitchFamily="18" charset="0"/>
              </a:rPr>
              <a:t>=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k-1    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k-2     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k-3       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k-4</a:t>
            </a:r>
            <a:r>
              <a:rPr lang="en-US" altLang="zh-CN" b="1">
                <a:latin typeface="Times New Roman" panose="02020603050405020304" pitchFamily="18" charset="0"/>
              </a:rPr>
              <a:t>(k≥4)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和给定的初始状态求出，设初始状态为0001，则输出序列为</a:t>
            </a:r>
            <a:r>
              <a:rPr lang="zh-CN" altLang="en-US" b="1">
                <a:solidFill>
                  <a:srgbClr val="FF3300"/>
                </a:solidFill>
                <a:latin typeface="Times New Roman" panose="02020603050405020304" pitchFamily="18" charset="0"/>
              </a:rPr>
              <a:t>00011</a:t>
            </a:r>
            <a:r>
              <a:rPr lang="zh-CN" altLang="en-US" b="1">
                <a:latin typeface="Times New Roman" panose="02020603050405020304" pitchFamily="18" charset="0"/>
              </a:rPr>
              <a:t>0001100011…，周期为5，不是</a:t>
            </a:r>
            <a:r>
              <a:rPr lang="en-US" altLang="zh-CN" b="1">
                <a:latin typeface="Times New Roman" panose="02020603050405020304" pitchFamily="18" charset="0"/>
              </a:rPr>
              <a:t>m</a:t>
            </a:r>
            <a:r>
              <a:rPr lang="zh-CN" altLang="en-US" b="1">
                <a:latin typeface="Times New Roman" panose="02020603050405020304" pitchFamily="18" charset="0"/>
              </a:rPr>
              <a:t>序列。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868" name="Object 3">
                <a:extLst>
                  <a:ext uri="{FF2B5EF4-FFF2-40B4-BE49-F238E27FC236}">
                    <a16:creationId xmlns:a16="http://schemas.microsoft.com/office/drawing/2014/main" id="{B72E1FF0-A0C5-4379-A8CA-A61C806D9D00}"/>
                  </a:ext>
                </a:extLst>
              </p:cNvPr>
              <p:cNvSpPr txBox="1"/>
              <p:nvPr/>
            </p:nvSpPr>
            <p:spPr bwMode="auto">
              <a:xfrm>
                <a:off x="5060950" y="2514600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4868" name="Object 3">
                <a:extLst>
                  <a:ext uri="{FF2B5EF4-FFF2-40B4-BE49-F238E27FC236}">
                    <a16:creationId xmlns:a16="http://schemas.microsoft.com/office/drawing/2014/main" id="{B72E1FF0-A0C5-4379-A8CA-A61C806D9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60950" y="2514600"/>
                <a:ext cx="425450" cy="457200"/>
              </a:xfrm>
              <a:prstGeom prst="rect">
                <a:avLst/>
              </a:prstGeom>
              <a:blipFill>
                <a:blip r:embed="rId3"/>
                <a:stretch>
                  <a:fillRect r="-1429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869" name="Object 4">
                <a:extLst>
                  <a:ext uri="{FF2B5EF4-FFF2-40B4-BE49-F238E27FC236}">
                    <a16:creationId xmlns:a16="http://schemas.microsoft.com/office/drawing/2014/main" id="{99ABECBD-D962-42DA-A8EA-617EAFD0EA43}"/>
                  </a:ext>
                </a:extLst>
              </p:cNvPr>
              <p:cNvSpPr txBox="1"/>
              <p:nvPr/>
            </p:nvSpPr>
            <p:spPr bwMode="auto">
              <a:xfrm>
                <a:off x="5746750" y="2514600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4869" name="Object 4">
                <a:extLst>
                  <a:ext uri="{FF2B5EF4-FFF2-40B4-BE49-F238E27FC236}">
                    <a16:creationId xmlns:a16="http://schemas.microsoft.com/office/drawing/2014/main" id="{99ABECBD-D962-42DA-A8EA-617EAFD0E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46750" y="2514600"/>
                <a:ext cx="425450" cy="457200"/>
              </a:xfrm>
              <a:prstGeom prst="rect">
                <a:avLst/>
              </a:prstGeom>
              <a:blipFill>
                <a:blip r:embed="rId4"/>
                <a:stretch>
                  <a:fillRect l="-1429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870" name="Object 5">
                <a:extLst>
                  <a:ext uri="{FF2B5EF4-FFF2-40B4-BE49-F238E27FC236}">
                    <a16:creationId xmlns:a16="http://schemas.microsoft.com/office/drawing/2014/main" id="{62A00A03-5EC4-4C8A-BF3C-440853C718AF}"/>
                  </a:ext>
                </a:extLst>
              </p:cNvPr>
              <p:cNvSpPr txBox="1"/>
              <p:nvPr/>
            </p:nvSpPr>
            <p:spPr bwMode="auto">
              <a:xfrm>
                <a:off x="6553200" y="2514600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4870" name="Object 5">
                <a:extLst>
                  <a:ext uri="{FF2B5EF4-FFF2-40B4-BE49-F238E27FC236}">
                    <a16:creationId xmlns:a16="http://schemas.microsoft.com/office/drawing/2014/main" id="{62A00A03-5EC4-4C8A-BF3C-440853C71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53200" y="2514600"/>
                <a:ext cx="425450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F68216-B7FA-42B3-BBC1-867BD352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m-</a:t>
            </a:r>
            <a:r>
              <a:rPr lang="zh-CN" altLang="en-US" b="1" dirty="0"/>
              <a:t>序列产生的充要条件</a:t>
            </a:r>
          </a:p>
        </p:txBody>
      </p:sp>
      <p:sp>
        <p:nvSpPr>
          <p:cNvPr id="157699" name="Rectangle 2">
            <a:extLst>
              <a:ext uri="{FF2B5EF4-FFF2-40B4-BE49-F238E27FC236}">
                <a16:creationId xmlns:a16="http://schemas.microsoft.com/office/drawing/2014/main" id="{C5186E50-8A29-43E7-8019-1657DC019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5257800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800000"/>
                </a:solidFill>
                <a:latin typeface="Times New Roman" panose="02020603050405020304" pitchFamily="18" charset="0"/>
              </a:rPr>
              <a:t>定义</a:t>
            </a:r>
            <a:r>
              <a:rPr lang="en-US" altLang="zh-CN" b="1">
                <a:solidFill>
                  <a:srgbClr val="8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800000"/>
                </a:solidFill>
                <a:latin typeface="Times New Roman" panose="02020603050405020304" pitchFamily="18" charset="0"/>
              </a:rPr>
              <a:t>.</a:t>
            </a:r>
            <a:r>
              <a:rPr lang="en-US" altLang="zh-CN" b="1">
                <a:solidFill>
                  <a:srgbClr val="80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b="1">
                <a:latin typeface="Times New Roman" panose="02020603050405020304" pitchFamily="18" charset="0"/>
              </a:rPr>
              <a:t> 若</a:t>
            </a:r>
            <a:r>
              <a:rPr lang="en-US" altLang="zh-CN" b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次</a:t>
            </a:r>
            <a:r>
              <a:rPr lang="zh-CN" altLang="en-US" b="1">
                <a:solidFill>
                  <a:srgbClr val="FF3300"/>
                </a:solidFill>
                <a:latin typeface="Times New Roman" panose="02020603050405020304" pitchFamily="18" charset="0"/>
              </a:rPr>
              <a:t>不可约多项式</a:t>
            </a:r>
            <a:r>
              <a:rPr lang="en-US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p(x)</a:t>
            </a:r>
            <a:r>
              <a:rPr lang="zh-CN" altLang="en-US" b="1">
                <a:latin typeface="Times New Roman" panose="02020603050405020304" pitchFamily="18" charset="0"/>
              </a:rPr>
              <a:t>的</a:t>
            </a:r>
            <a:r>
              <a:rPr lang="zh-CN" altLang="en-US" b="1">
                <a:solidFill>
                  <a:srgbClr val="000066"/>
                </a:solidFill>
                <a:latin typeface="Times New Roman" panose="02020603050405020304" pitchFamily="18" charset="0"/>
              </a:rPr>
              <a:t>阶为2</a:t>
            </a:r>
            <a:r>
              <a:rPr lang="en-US" altLang="zh-CN" b="1" baseline="30000">
                <a:solidFill>
                  <a:srgbClr val="000066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>
                <a:solidFill>
                  <a:srgbClr val="000066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b="1">
                <a:latin typeface="Times New Roman" panose="02020603050405020304" pitchFamily="18" charset="0"/>
              </a:rPr>
              <a:t>，</a:t>
            </a:r>
            <a:r>
              <a:rPr lang="zh-CN" altLang="en-US" b="1">
                <a:latin typeface="Times New Roman" panose="02020603050405020304" pitchFamily="18" charset="0"/>
              </a:rPr>
              <a:t>则称</a:t>
            </a:r>
            <a:r>
              <a:rPr lang="en-US" altLang="zh-CN" b="1">
                <a:latin typeface="Times New Roman" panose="02020603050405020304" pitchFamily="18" charset="0"/>
              </a:rPr>
              <a:t>p(x)</a:t>
            </a:r>
            <a:r>
              <a:rPr lang="zh-CN" altLang="en-US" b="1">
                <a:latin typeface="Times New Roman" panose="02020603050405020304" pitchFamily="18" charset="0"/>
              </a:rPr>
              <a:t>是</a:t>
            </a:r>
            <a:r>
              <a:rPr lang="en-US" altLang="zh-CN" b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次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本原多项式</a:t>
            </a:r>
            <a:r>
              <a:rPr lang="zh-CN" altLang="en-US" b="1">
                <a:latin typeface="Times New Roman" panose="02020603050405020304" pitchFamily="18" charset="0"/>
              </a:rPr>
              <a:t>。</a:t>
            </a:r>
            <a:endParaRPr lang="en-US" altLang="zh-CN" b="1">
              <a:latin typeface="Times New Roman" panose="02020603050405020304" pitchFamily="18" charset="0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8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>
                <a:solidFill>
                  <a:srgbClr val="8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800000"/>
                </a:solidFill>
                <a:latin typeface="Times New Roman" panose="02020603050405020304" pitchFamily="18" charset="0"/>
              </a:rPr>
              <a:t>.6</a:t>
            </a:r>
            <a:r>
              <a:rPr lang="zh-CN" altLang="en-US" b="1">
                <a:latin typeface="Times New Roman" panose="02020603050405020304" pitchFamily="18" charset="0"/>
              </a:rPr>
              <a:t> 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设</a:t>
            </a:r>
            <a:r>
              <a:rPr lang="zh-CN" altLang="en-US" b="1" i="1">
                <a:solidFill>
                  <a:srgbClr val="FF0000"/>
                </a:solidFill>
                <a:latin typeface="Times New Roman" panose="02020603050405020304" pitchFamily="18" charset="0"/>
              </a:rPr>
              <a:t>{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}∈G(p(x))，{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为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序列的充要条件是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</a:rPr>
              <a:t>p(x)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为</a:t>
            </a:r>
            <a:r>
              <a:rPr lang="zh-CN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本原多项式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证明：若</a:t>
            </a:r>
            <a:r>
              <a:rPr lang="en-US" altLang="zh-CN" b="1">
                <a:latin typeface="Times New Roman" panose="02020603050405020304" pitchFamily="18" charset="0"/>
              </a:rPr>
              <a:t>p(x)</a:t>
            </a:r>
            <a:r>
              <a:rPr lang="zh-CN" altLang="en-US" b="1">
                <a:latin typeface="Times New Roman" panose="02020603050405020304" pitchFamily="18" charset="0"/>
              </a:rPr>
              <a:t>是本原多项式，则其阶为2</a:t>
            </a:r>
            <a:r>
              <a:rPr lang="en-US" altLang="zh-CN" b="1" baseline="30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-1，</a:t>
            </a:r>
            <a:r>
              <a:rPr lang="zh-CN" altLang="en-US" b="1">
                <a:latin typeface="Times New Roman" panose="02020603050405020304" pitchFamily="18" charset="0"/>
              </a:rPr>
              <a:t>得{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i</a:t>
            </a:r>
            <a:r>
              <a:rPr lang="en-US" altLang="zh-CN" b="1">
                <a:latin typeface="Times New Roman" panose="02020603050405020304" pitchFamily="18" charset="0"/>
              </a:rPr>
              <a:t>}</a:t>
            </a:r>
            <a:r>
              <a:rPr lang="zh-CN" altLang="en-US" b="1">
                <a:latin typeface="Times New Roman" panose="02020603050405020304" pitchFamily="18" charset="0"/>
              </a:rPr>
              <a:t>的周期等于2</a:t>
            </a:r>
            <a:r>
              <a:rPr lang="en-US" altLang="zh-CN" b="1" baseline="30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-1，</a:t>
            </a:r>
            <a:r>
              <a:rPr lang="zh-CN" altLang="en-US" b="1">
                <a:latin typeface="Times New Roman" panose="02020603050405020304" pitchFamily="18" charset="0"/>
              </a:rPr>
              <a:t>即{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i</a:t>
            </a:r>
            <a:r>
              <a:rPr lang="en-US" altLang="zh-CN" b="1">
                <a:latin typeface="Times New Roman" panose="02020603050405020304" pitchFamily="18" charset="0"/>
              </a:rPr>
              <a:t>}</a:t>
            </a:r>
            <a:r>
              <a:rPr lang="zh-CN" altLang="en-US" b="1">
                <a:latin typeface="Times New Roman" panose="02020603050405020304" pitchFamily="18" charset="0"/>
              </a:rPr>
              <a:t>为</a:t>
            </a:r>
            <a:r>
              <a:rPr lang="en-US" altLang="zh-CN" b="1">
                <a:latin typeface="Times New Roman" panose="02020603050405020304" pitchFamily="18" charset="0"/>
              </a:rPr>
              <a:t>m</a:t>
            </a:r>
            <a:r>
              <a:rPr lang="zh-CN" altLang="en-US" b="1">
                <a:latin typeface="Times New Roman" panose="02020603050405020304" pitchFamily="18" charset="0"/>
              </a:rPr>
              <a:t>序列。</a:t>
            </a:r>
            <a:endParaRPr lang="en-US" altLang="zh-CN" b="1">
              <a:latin typeface="Times New Roman" panose="02020603050405020304" pitchFamily="18" charset="0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（定理</a:t>
            </a:r>
            <a:r>
              <a:rPr lang="en-US" altLang="zh-CN" b="1">
                <a:latin typeface="Times New Roman" panose="02020603050405020304" pitchFamily="18" charset="0"/>
              </a:rPr>
              <a:t>3.4 </a:t>
            </a:r>
            <a:r>
              <a:rPr lang="zh-CN" altLang="en-US" b="1">
                <a:latin typeface="Times New Roman" panose="02020603050405020304" pitchFamily="18" charset="0"/>
              </a:rPr>
              <a:t>不可约多项式的阶 </a:t>
            </a:r>
            <a:r>
              <a:rPr lang="en-US" altLang="zh-CN" b="1">
                <a:latin typeface="Times New Roman" panose="02020603050405020304" pitchFamily="18" charset="0"/>
                <a:sym typeface="Wingdings" panose="05000000000000000000" pitchFamily="2" charset="2"/>
              </a:rPr>
              <a:t></a:t>
            </a:r>
            <a:r>
              <a:rPr lang="zh-CN" altLang="en-US" b="1">
                <a:latin typeface="Times New Roman" panose="02020603050405020304" pitchFamily="18" charset="0"/>
                <a:sym typeface="Wingdings" panose="05000000000000000000" pitchFamily="2" charset="2"/>
              </a:rPr>
              <a:t>序列的阶</a:t>
            </a:r>
            <a:r>
              <a:rPr lang="zh-CN" altLang="en-US" b="1">
                <a:latin typeface="Times New Roman" panose="02020603050405020304" pitchFamily="18" charset="0"/>
              </a:rPr>
              <a:t>）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 反之，若{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i</a:t>
            </a:r>
            <a:r>
              <a:rPr lang="en-US" altLang="zh-CN" b="1">
                <a:latin typeface="Times New Roman" panose="02020603050405020304" pitchFamily="18" charset="0"/>
              </a:rPr>
              <a:t>}</a:t>
            </a:r>
            <a:r>
              <a:rPr lang="zh-CN" altLang="en-US" b="1">
                <a:latin typeface="Times New Roman" panose="02020603050405020304" pitchFamily="18" charset="0"/>
              </a:rPr>
              <a:t>为</a:t>
            </a:r>
            <a:r>
              <a:rPr lang="en-US" altLang="zh-CN" b="1">
                <a:latin typeface="Times New Roman" panose="02020603050405020304" pitchFamily="18" charset="0"/>
              </a:rPr>
              <a:t>m</a:t>
            </a:r>
            <a:r>
              <a:rPr lang="zh-CN" altLang="en-US" b="1">
                <a:latin typeface="Times New Roman" panose="02020603050405020304" pitchFamily="18" charset="0"/>
              </a:rPr>
              <a:t>序列，即其周期等于2</a:t>
            </a:r>
            <a:r>
              <a:rPr lang="en-US" altLang="zh-CN" b="1" baseline="30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-1，</a:t>
            </a:r>
            <a:r>
              <a:rPr lang="zh-CN" altLang="en-US" b="1">
                <a:latin typeface="Times New Roman" panose="02020603050405020304" pitchFamily="18" charset="0"/>
              </a:rPr>
              <a:t>由定理</a:t>
            </a:r>
            <a:r>
              <a:rPr lang="en-US" altLang="zh-CN" b="1">
                <a:latin typeface="Times New Roman" panose="02020603050405020304" pitchFamily="18" charset="0"/>
              </a:rPr>
              <a:t>3</a:t>
            </a:r>
            <a:r>
              <a:rPr lang="zh-CN" altLang="en-US" b="1">
                <a:latin typeface="Times New Roman" panose="02020603050405020304" pitchFamily="18" charset="0"/>
              </a:rPr>
              <a:t>.5知</a:t>
            </a:r>
            <a:r>
              <a:rPr lang="en-US" altLang="zh-CN" b="1">
                <a:latin typeface="Times New Roman" panose="02020603050405020304" pitchFamily="18" charset="0"/>
              </a:rPr>
              <a:t>p(x)</a:t>
            </a:r>
            <a:r>
              <a:rPr lang="zh-CN" altLang="en-US" b="1">
                <a:latin typeface="Times New Roman" panose="02020603050405020304" pitchFamily="18" charset="0"/>
              </a:rPr>
              <a:t>是</a:t>
            </a:r>
            <a:r>
              <a:rPr lang="zh-CN" altLang="en-US" b="1">
                <a:solidFill>
                  <a:srgbClr val="FF3300"/>
                </a:solidFill>
                <a:latin typeface="Times New Roman" panose="02020603050405020304" pitchFamily="18" charset="0"/>
              </a:rPr>
              <a:t>不可约的</a:t>
            </a:r>
            <a:r>
              <a:rPr lang="zh-CN" altLang="en-US" b="1">
                <a:latin typeface="Times New Roman" panose="02020603050405020304" pitchFamily="18" charset="0"/>
              </a:rPr>
              <a:t>。由定理</a:t>
            </a:r>
            <a:r>
              <a:rPr lang="en-US" altLang="zh-CN" b="1">
                <a:latin typeface="Times New Roman" panose="02020603050405020304" pitchFamily="18" charset="0"/>
              </a:rPr>
              <a:t>3</a:t>
            </a:r>
            <a:r>
              <a:rPr lang="zh-CN" altLang="en-US" b="1">
                <a:latin typeface="Times New Roman" panose="02020603050405020304" pitchFamily="18" charset="0"/>
              </a:rPr>
              <a:t>.3知{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i</a:t>
            </a:r>
            <a:r>
              <a:rPr lang="en-US" altLang="zh-CN" b="1">
                <a:latin typeface="Times New Roman" panose="02020603050405020304" pitchFamily="18" charset="0"/>
              </a:rPr>
              <a:t>}</a:t>
            </a:r>
            <a:r>
              <a:rPr lang="zh-CN" altLang="en-US" b="1">
                <a:latin typeface="Times New Roman" panose="02020603050405020304" pitchFamily="18" charset="0"/>
              </a:rPr>
              <a:t>的周期2</a:t>
            </a:r>
            <a:r>
              <a:rPr lang="en-US" altLang="zh-CN" b="1" baseline="30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-1</a:t>
            </a:r>
            <a:r>
              <a:rPr lang="zh-CN" altLang="en-US" b="1">
                <a:latin typeface="Times New Roman" panose="02020603050405020304" pitchFamily="18" charset="0"/>
              </a:rPr>
              <a:t>整除</a:t>
            </a:r>
            <a:r>
              <a:rPr lang="en-US" altLang="zh-CN" b="1">
                <a:latin typeface="Times New Roman" panose="02020603050405020304" pitchFamily="18" charset="0"/>
              </a:rPr>
              <a:t>p(x)</a:t>
            </a:r>
            <a:r>
              <a:rPr lang="zh-CN" altLang="en-US" b="1">
                <a:latin typeface="Times New Roman" panose="02020603050405020304" pitchFamily="18" charset="0"/>
              </a:rPr>
              <a:t>的阶，而</a:t>
            </a:r>
            <a:r>
              <a:rPr lang="en-US" altLang="zh-CN" b="1">
                <a:latin typeface="Times New Roman" panose="02020603050405020304" pitchFamily="18" charset="0"/>
              </a:rPr>
              <a:t>p(x)</a:t>
            </a:r>
            <a:r>
              <a:rPr lang="zh-CN" altLang="en-US" b="1">
                <a:latin typeface="Times New Roman" panose="02020603050405020304" pitchFamily="18" charset="0"/>
              </a:rPr>
              <a:t>的阶不超过2</a:t>
            </a:r>
            <a:r>
              <a:rPr lang="en-US" altLang="zh-CN" b="1" baseline="30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-1，</a:t>
            </a:r>
            <a:r>
              <a:rPr lang="zh-CN" altLang="en-US" b="1">
                <a:latin typeface="Times New Roman" panose="02020603050405020304" pitchFamily="18" charset="0"/>
              </a:rPr>
              <a:t>所以</a:t>
            </a:r>
            <a:r>
              <a:rPr lang="en-US" altLang="zh-CN" b="1">
                <a:latin typeface="Times New Roman" panose="02020603050405020304" pitchFamily="18" charset="0"/>
              </a:rPr>
              <a:t>p(x)</a:t>
            </a:r>
            <a:r>
              <a:rPr lang="zh-CN" altLang="en-US" b="1">
                <a:latin typeface="Times New Roman" panose="02020603050405020304" pitchFamily="18" charset="0"/>
              </a:rPr>
              <a:t>的</a:t>
            </a:r>
            <a:r>
              <a:rPr lang="zh-CN" altLang="en-US" b="1">
                <a:solidFill>
                  <a:srgbClr val="FF3300"/>
                </a:solidFill>
                <a:latin typeface="Times New Roman" panose="02020603050405020304" pitchFamily="18" charset="0"/>
              </a:rPr>
              <a:t>阶为2</a:t>
            </a:r>
            <a:r>
              <a:rPr lang="en-US" altLang="zh-CN" b="1" baseline="30000">
                <a:solidFill>
                  <a:srgbClr val="FF33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b="1">
                <a:latin typeface="Times New Roman" panose="02020603050405020304" pitchFamily="18" charset="0"/>
              </a:rPr>
              <a:t>，</a:t>
            </a:r>
            <a:r>
              <a:rPr lang="zh-CN" altLang="en-US" b="1">
                <a:latin typeface="Times New Roman" panose="02020603050405020304" pitchFamily="18" charset="0"/>
              </a:rPr>
              <a:t>即</a:t>
            </a:r>
            <a:r>
              <a:rPr lang="en-US" altLang="zh-CN" b="1">
                <a:latin typeface="Times New Roman" panose="02020603050405020304" pitchFamily="18" charset="0"/>
              </a:rPr>
              <a:t>p(x)</a:t>
            </a:r>
            <a:r>
              <a:rPr lang="zh-CN" altLang="en-US" b="1">
                <a:latin typeface="Times New Roman" panose="02020603050405020304" pitchFamily="18" charset="0"/>
              </a:rPr>
              <a:t>是本原多项式。</a:t>
            </a:r>
            <a:endParaRPr lang="en-US" altLang="zh-CN" b="1">
              <a:latin typeface="Times New Roman" panose="02020603050405020304" pitchFamily="18" charset="0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对于任意的正整数</a:t>
            </a:r>
            <a:r>
              <a:rPr lang="en-US" altLang="zh-CN" b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，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至少存在一个</a:t>
            </a:r>
            <a:r>
              <a:rPr lang="en-US" altLang="zh-CN" b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次本原多项式。所以对于任意的</a:t>
            </a:r>
            <a:r>
              <a:rPr lang="en-US" altLang="zh-CN" b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级</a:t>
            </a:r>
            <a:r>
              <a:rPr lang="en-US" altLang="zh-CN" b="1">
                <a:latin typeface="Times New Roman" panose="02020603050405020304" pitchFamily="18" charset="0"/>
              </a:rPr>
              <a:t>LFSR</a:t>
            </a:r>
            <a:r>
              <a:rPr lang="zh-CN" altLang="en-US" b="1">
                <a:latin typeface="Times New Roman" panose="02020603050405020304" pitchFamily="18" charset="0"/>
              </a:rPr>
              <a:t>，至少存在一种连接方式使其输出序列为</a:t>
            </a:r>
            <a:r>
              <a:rPr lang="en-US" altLang="zh-CN" b="1">
                <a:latin typeface="Times New Roman" panose="02020603050405020304" pitchFamily="18" charset="0"/>
              </a:rPr>
              <a:t>m</a:t>
            </a:r>
            <a:r>
              <a:rPr lang="zh-CN" altLang="en-US" b="1">
                <a:latin typeface="Times New Roman" panose="02020603050405020304" pitchFamily="18" charset="0"/>
              </a:rPr>
              <a:t>序列</a:t>
            </a:r>
            <a:endParaRPr lang="en-US" altLang="zh-CN" b="1">
              <a:latin typeface="Times New Roman" panose="02020603050405020304" pitchFamily="18" charset="0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zh-CN" altLang="en-US" b="1">
              <a:latin typeface="Times New Roman" panose="02020603050405020304" pitchFamily="18" charset="0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zh-CN" altLang="en-US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9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CBC5F-2401-441A-99EB-3BA5F98AE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m-</a:t>
            </a:r>
            <a:r>
              <a:rPr lang="zh-CN" altLang="en-US" b="1" dirty="0"/>
              <a:t>序列举例</a:t>
            </a:r>
          </a:p>
        </p:txBody>
      </p:sp>
      <p:sp>
        <p:nvSpPr>
          <p:cNvPr id="168963" name="Rectangle 2">
            <a:extLst>
              <a:ext uri="{FF2B5EF4-FFF2-40B4-BE49-F238E27FC236}">
                <a16:creationId xmlns:a16="http://schemas.microsoft.com/office/drawing/2014/main" id="{216FCBE0-0B87-4BC6-8E29-CCB0B0EA6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80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="1">
                <a:solidFill>
                  <a:srgbClr val="8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800000"/>
                </a:solidFill>
                <a:latin typeface="Times New Roman" panose="02020603050405020304" pitchFamily="18" charset="0"/>
              </a:rPr>
              <a:t>.5</a:t>
            </a:r>
            <a:r>
              <a:rPr lang="zh-CN" altLang="en-US" b="1">
                <a:latin typeface="Times New Roman" panose="02020603050405020304" pitchFamily="18" charset="0"/>
              </a:rPr>
              <a:t> 设</a:t>
            </a:r>
            <a:r>
              <a:rPr lang="en-US" altLang="zh-CN" b="1" i="1">
                <a:latin typeface="Times New Roman" panose="02020603050405020304" pitchFamily="18" charset="0"/>
              </a:rPr>
              <a:t>p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)=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30000">
                <a:latin typeface="Times New Roman" panose="02020603050405020304" pitchFamily="18" charset="0"/>
              </a:rPr>
              <a:t>4</a:t>
            </a:r>
            <a:r>
              <a:rPr lang="en-US" altLang="zh-CN" b="1">
                <a:latin typeface="Times New Roman" panose="02020603050405020304" pitchFamily="18" charset="0"/>
              </a:rPr>
              <a:t>+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+1，</a:t>
            </a:r>
            <a:r>
              <a:rPr lang="zh-CN" altLang="en-US" b="1">
                <a:latin typeface="Times New Roman" panose="02020603050405020304" pitchFamily="18" charset="0"/>
              </a:rPr>
              <a:t>若</a:t>
            </a:r>
            <a:r>
              <a:rPr lang="en-US" altLang="zh-CN" b="1">
                <a:latin typeface="Times New Roman" panose="02020603050405020304" pitchFamily="18" charset="0"/>
              </a:rPr>
              <a:t>LFSR</a:t>
            </a:r>
            <a:r>
              <a:rPr lang="zh-CN" altLang="en-US" b="1">
                <a:latin typeface="Times New Roman" panose="02020603050405020304" pitchFamily="18" charset="0"/>
              </a:rPr>
              <a:t>以</a:t>
            </a:r>
            <a:r>
              <a:rPr lang="en-US" altLang="zh-CN" b="1" i="1">
                <a:latin typeface="Times New Roman" panose="02020603050405020304" pitchFamily="18" charset="0"/>
              </a:rPr>
              <a:t>p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  <a:r>
              <a:rPr lang="zh-CN" altLang="en-US" b="1">
                <a:latin typeface="Times New Roman" panose="02020603050405020304" pitchFamily="18" charset="0"/>
              </a:rPr>
              <a:t>为特征多项式，则输出序列的递推关系为</a:t>
            </a:r>
          </a:p>
          <a:p>
            <a:pPr indent="-6350" algn="ctr" eaLnBrk="1" hangingPunct="1">
              <a:buFont typeface="Arial" panose="020B0604020202020204" pitchFamily="34" charset="0"/>
              <a:buNone/>
            </a:pP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k</a:t>
            </a:r>
            <a:r>
              <a:rPr lang="en-US" altLang="zh-CN" b="1">
                <a:latin typeface="Times New Roman" panose="02020603050405020304" pitchFamily="18" charset="0"/>
              </a:rPr>
              <a:t>=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k-1      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k-4</a:t>
            </a:r>
            <a:r>
              <a:rPr lang="en-US" altLang="zh-CN" b="1">
                <a:latin typeface="Times New Roman" panose="02020603050405020304" pitchFamily="18" charset="0"/>
              </a:rPr>
              <a:t>(k≥4)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若初始状态为1001，则输出为</a:t>
            </a:r>
          </a:p>
          <a:p>
            <a:pPr indent="-6350" algn="ctr" eaLnBrk="1" hangingPunct="1">
              <a:buFont typeface="Arial" panose="020B0604020202020204" pitchFamily="34" charset="0"/>
              <a:buNone/>
            </a:pPr>
            <a:r>
              <a:rPr lang="zh-CN" altLang="en-US" b="1" u="sng">
                <a:solidFill>
                  <a:srgbClr val="FF3300"/>
                </a:solidFill>
                <a:latin typeface="Times New Roman" panose="02020603050405020304" pitchFamily="18" charset="0"/>
              </a:rPr>
              <a:t>100100011110101</a:t>
            </a:r>
            <a:r>
              <a:rPr lang="zh-CN" altLang="en-US" b="1">
                <a:latin typeface="Times New Roman" panose="02020603050405020304" pitchFamily="18" charset="0"/>
              </a:rPr>
              <a:t>100100011110101…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周期为2</a:t>
            </a:r>
            <a:r>
              <a:rPr lang="zh-CN" altLang="en-US" b="1" baseline="30000">
                <a:latin typeface="Times New Roman" panose="02020603050405020304" pitchFamily="18" charset="0"/>
              </a:rPr>
              <a:t>4</a:t>
            </a:r>
            <a:r>
              <a:rPr lang="zh-CN" altLang="en-US" b="1">
                <a:latin typeface="Times New Roman" panose="02020603050405020304" pitchFamily="18" charset="0"/>
              </a:rPr>
              <a:t>-1=15。</a:t>
            </a:r>
            <a:endParaRPr lang="en-US" altLang="zh-CN" b="1">
              <a:latin typeface="Times New Roman" panose="02020603050405020304" pitchFamily="18" charset="0"/>
            </a:endParaRP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若初始状态为</a:t>
            </a:r>
            <a:r>
              <a:rPr lang="en-US" altLang="zh-CN" b="1">
                <a:latin typeface="Times New Roman" panose="02020603050405020304" pitchFamily="18" charset="0"/>
              </a:rPr>
              <a:t>1000</a:t>
            </a:r>
            <a:r>
              <a:rPr lang="zh-CN" altLang="en-US" b="1">
                <a:latin typeface="Times New Roman" panose="02020603050405020304" pitchFamily="18" charset="0"/>
              </a:rPr>
              <a:t>，则输出为</a:t>
            </a:r>
            <a:endParaRPr lang="en-US" altLang="zh-CN" b="1">
              <a:latin typeface="Times New Roman" panose="02020603050405020304" pitchFamily="18" charset="0"/>
            </a:endParaRP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FF3300"/>
                </a:solidFill>
                <a:latin typeface="Times New Roman" panose="02020603050405020304" pitchFamily="18" charset="0"/>
              </a:rPr>
              <a:t>	 </a:t>
            </a:r>
            <a:r>
              <a:rPr lang="zh-CN" altLang="en-US" b="1">
                <a:solidFill>
                  <a:srgbClr val="FF3300"/>
                </a:solidFill>
                <a:latin typeface="Times New Roman" panose="02020603050405020304" pitchFamily="18" charset="0"/>
              </a:rPr>
              <a:t>           </a:t>
            </a:r>
            <a:r>
              <a:rPr lang="zh-CN" altLang="en-US" b="1" u="sng">
                <a:solidFill>
                  <a:srgbClr val="FF3300"/>
                </a:solidFill>
                <a:latin typeface="Times New Roman" panose="02020603050405020304" pitchFamily="18" charset="0"/>
              </a:rPr>
              <a:t>100011110101</a:t>
            </a:r>
            <a:r>
              <a:rPr lang="zh-CN" altLang="en-US" b="1" u="sng">
                <a:solidFill>
                  <a:srgbClr val="FF0000"/>
                </a:solidFill>
                <a:latin typeface="Times New Roman" panose="02020603050405020304" pitchFamily="18" charset="0"/>
              </a:rPr>
              <a:t>100</a:t>
            </a:r>
            <a:r>
              <a:rPr lang="zh-CN" altLang="en-US" b="1">
                <a:latin typeface="Times New Roman" panose="02020603050405020304" pitchFamily="18" charset="0"/>
              </a:rPr>
              <a:t>100011110101…</a:t>
            </a:r>
            <a:endParaRPr lang="en-US" altLang="zh-CN" b="1">
              <a:latin typeface="Times New Roman" panose="02020603050405020304" pitchFamily="18" charset="0"/>
            </a:endParaRPr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FF3300"/>
                </a:solidFill>
                <a:latin typeface="Times New Roman" panose="02020603050405020304" pitchFamily="18" charset="0"/>
              </a:rPr>
              <a:t>      </a:t>
            </a:r>
            <a:r>
              <a:rPr lang="zh-CN" altLang="en-US" b="1" u="sng">
                <a:solidFill>
                  <a:srgbClr val="FF3300"/>
                </a:solidFill>
                <a:latin typeface="Times New Roman" panose="02020603050405020304" pitchFamily="18" charset="0"/>
              </a:rPr>
              <a:t>100100011110101</a:t>
            </a:r>
            <a:r>
              <a:rPr lang="zh-CN" altLang="en-US" b="1">
                <a:latin typeface="Times New Roman" panose="02020603050405020304" pitchFamily="18" charset="0"/>
              </a:rPr>
              <a:t>100100011110101…</a:t>
            </a:r>
            <a:endParaRPr lang="en-US" altLang="zh-CN" b="1">
              <a:latin typeface="Times New Roman" panose="02020603050405020304" pitchFamily="18" charset="0"/>
            </a:endParaRPr>
          </a:p>
          <a:p>
            <a:pPr indent="-6350" eaLnBrk="1" hangingPunct="1">
              <a:buFont typeface="Arial" panose="020B0604020202020204" pitchFamily="34" charset="0"/>
              <a:buNone/>
            </a:pPr>
            <a:endParaRPr lang="zh-CN" altLang="en-US" b="1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8964" name="Object 3">
                <a:extLst>
                  <a:ext uri="{FF2B5EF4-FFF2-40B4-BE49-F238E27FC236}">
                    <a16:creationId xmlns:a16="http://schemas.microsoft.com/office/drawing/2014/main" id="{CAD09EC6-9A22-445D-B90B-92FD1F3AB4E9}"/>
                  </a:ext>
                </a:extLst>
              </p:cNvPr>
              <p:cNvSpPr txBox="1"/>
              <p:nvPr/>
            </p:nvSpPr>
            <p:spPr bwMode="auto">
              <a:xfrm>
                <a:off x="5822950" y="2286000"/>
                <a:ext cx="42545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68964" name="Object 3">
                <a:extLst>
                  <a:ext uri="{FF2B5EF4-FFF2-40B4-BE49-F238E27FC236}">
                    <a16:creationId xmlns:a16="http://schemas.microsoft.com/office/drawing/2014/main" id="{CAD09EC6-9A22-445D-B90B-92FD1F3AB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22950" y="2286000"/>
                <a:ext cx="425450" cy="457200"/>
              </a:xfrm>
              <a:prstGeom prst="rect">
                <a:avLst/>
              </a:prstGeom>
              <a:blipFill>
                <a:blip r:embed="rId3"/>
                <a:stretch>
                  <a:fillRect r="-1429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430029-E454-4800-9705-BC6B0744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总结</a:t>
            </a:r>
            <a:r>
              <a:rPr lang="en-US" altLang="zh-CN" dirty="0"/>
              <a:t>-1</a:t>
            </a:r>
            <a:endParaRPr lang="zh-CN" altLang="en-US" dirty="0"/>
          </a:p>
        </p:txBody>
      </p:sp>
      <p:sp>
        <p:nvSpPr>
          <p:cNvPr id="155651" name="内容占位符 2">
            <a:extLst>
              <a:ext uri="{FF2B5EF4-FFF2-40B4-BE49-F238E27FC236}">
                <a16:creationId xmlns:a16="http://schemas.microsoft.com/office/drawing/2014/main" id="{69F2CBD0-9935-4CA3-A72E-D8EF99B40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2" y="1465263"/>
            <a:ext cx="10758487" cy="457993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latin typeface="Times New Roman" panose="02020603050405020304" pitchFamily="18" charset="0"/>
              </a:rPr>
              <a:t>3.1 </a:t>
            </a:r>
            <a:r>
              <a:rPr lang="zh-CN" altLang="en-US" dirty="0">
                <a:latin typeface="Times New Roman" panose="02020603050405020304" pitchFamily="18" charset="0"/>
              </a:rPr>
              <a:t>设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p(x)=1+c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x+…+c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n-1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n-1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+c</a:t>
            </a:r>
            <a:r>
              <a:rPr lang="en-US" altLang="zh-CN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是</a:t>
            </a:r>
            <a:r>
              <a:rPr lang="en-US" altLang="zh-CN" dirty="0">
                <a:latin typeface="Times New Roman" panose="02020603050405020304" pitchFamily="18" charset="0"/>
              </a:rPr>
              <a:t>GF(2)</a:t>
            </a:r>
            <a:r>
              <a:rPr lang="zh-CN" altLang="en-US" dirty="0">
                <a:latin typeface="Times New Roman" panose="02020603050405020304" pitchFamily="18" charset="0"/>
              </a:rPr>
              <a:t>上的多项式，</a:t>
            </a:r>
            <a:r>
              <a:rPr lang="en-US" altLang="zh-CN" dirty="0">
                <a:latin typeface="Times New Roman" panose="02020603050405020304" pitchFamily="18" charset="0"/>
              </a:rPr>
              <a:t>G(p(x))</a:t>
            </a:r>
            <a:r>
              <a:rPr lang="zh-CN" altLang="en-US" dirty="0">
                <a:latin typeface="Times New Roman" panose="02020603050405020304" pitchFamily="18" charset="0"/>
              </a:rPr>
              <a:t>中任一序列{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en-US" altLang="zh-CN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</a:rPr>
              <a:t>}</a:t>
            </a:r>
            <a:r>
              <a:rPr lang="zh-CN" altLang="en-US" dirty="0">
                <a:latin typeface="Times New Roman" panose="02020603050405020304" pitchFamily="18" charset="0"/>
              </a:rPr>
              <a:t>的生成函数</a:t>
            </a:r>
            <a:r>
              <a:rPr lang="en-US" altLang="zh-CN" dirty="0">
                <a:latin typeface="Times New Roman" panose="02020603050405020304" pitchFamily="18" charset="0"/>
              </a:rPr>
              <a:t>A(x)</a:t>
            </a:r>
            <a:r>
              <a:rPr lang="zh-CN" altLang="en-US" dirty="0">
                <a:latin typeface="Times New Roman" panose="02020603050405020304" pitchFamily="18" charset="0"/>
              </a:rPr>
              <a:t>满足：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其中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生成函数与特征多项式的关系（特征多项式由线性反馈移位寄存器唯一决定）</a:t>
            </a:r>
          </a:p>
        </p:txBody>
      </p:sp>
      <p:graphicFrame>
        <p:nvGraphicFramePr>
          <p:cNvPr id="155652" name="对象 3">
            <a:extLst>
              <a:ext uri="{FF2B5EF4-FFF2-40B4-BE49-F238E27FC236}">
                <a16:creationId xmlns:a16="http://schemas.microsoft.com/office/drawing/2014/main" id="{B077B148-AB9B-4E16-89FE-C9E527A984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2743200"/>
          <a:ext cx="2547938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126" name="Formula" r:id="rId3" imgW="749300" imgH="251460" progId="Equation.Ribbit">
                  <p:embed/>
                </p:oleObj>
              </mc:Choice>
              <mc:Fallback>
                <p:oleObj name="Formula" r:id="rId3" imgW="749300" imgH="251460" progId="Equation.Ribbit">
                  <p:embed/>
                  <p:pic>
                    <p:nvPicPr>
                      <p:cNvPr id="155652" name="对象 3">
                        <a:extLst>
                          <a:ext uri="{FF2B5EF4-FFF2-40B4-BE49-F238E27FC236}">
                            <a16:creationId xmlns:a16="http://schemas.microsoft.com/office/drawing/2014/main" id="{B077B148-AB9B-4E16-89FE-C9E527A984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743200"/>
                        <a:ext cx="2547938" cy="858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3" name="对象 4">
            <a:extLst>
              <a:ext uri="{FF2B5EF4-FFF2-40B4-BE49-F238E27FC236}">
                <a16:creationId xmlns:a16="http://schemas.microsoft.com/office/drawing/2014/main" id="{78E0BC16-36CB-4A0D-8054-E1BF978024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62375" y="4114800"/>
          <a:ext cx="484822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127" name="Formula" r:id="rId5" imgW="1959610" imgH="389890" progId="Equation.Ribbit">
                  <p:embed/>
                </p:oleObj>
              </mc:Choice>
              <mc:Fallback>
                <p:oleObj name="Formula" r:id="rId5" imgW="1959610" imgH="389890" progId="Equation.Ribbit">
                  <p:embed/>
                  <p:pic>
                    <p:nvPicPr>
                      <p:cNvPr id="155653" name="对象 4">
                        <a:extLst>
                          <a:ext uri="{FF2B5EF4-FFF2-40B4-BE49-F238E27FC236}">
                            <a16:creationId xmlns:a16="http://schemas.microsoft.com/office/drawing/2014/main" id="{78E0BC16-36CB-4A0D-8054-E1BF978024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375" y="4114800"/>
                        <a:ext cx="484822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2704616"/>
      </p:ext>
    </p:extLst>
  </p:cSld>
  <p:clrMapOvr>
    <a:masterClrMapping/>
  </p:clrMapOvr>
  <p:transition spd="slow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DFBE167-A6B5-4C2F-9C4A-A94CBD0FA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总结</a:t>
            </a:r>
            <a:r>
              <a:rPr lang="en-US" altLang="zh-CN" dirty="0"/>
              <a:t>-2</a:t>
            </a:r>
            <a:endParaRPr lang="zh-CN" altLang="en-US" dirty="0"/>
          </a:p>
        </p:txBody>
      </p:sp>
      <p:sp>
        <p:nvSpPr>
          <p:cNvPr id="83970" name="Rectangle 1026">
            <a:extLst>
              <a:ext uri="{FF2B5EF4-FFF2-40B4-BE49-F238E27FC236}">
                <a16:creationId xmlns:a16="http://schemas.microsoft.com/office/drawing/2014/main" id="{0CAD7902-6333-44E2-A607-1FC296037C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3913" y="1033463"/>
            <a:ext cx="10758487" cy="5011737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800000"/>
                </a:solidFill>
                <a:latin typeface="+mn-lt"/>
                <a:ea typeface="+mn-ea"/>
              </a:rPr>
              <a:t>定理</a:t>
            </a:r>
            <a:r>
              <a:rPr lang="en-US" altLang="zh-CN" b="1" dirty="0">
                <a:solidFill>
                  <a:srgbClr val="800000"/>
                </a:solidFill>
                <a:latin typeface="+mn-lt"/>
                <a:ea typeface="+mn-ea"/>
              </a:rPr>
              <a:t>3</a:t>
            </a:r>
            <a:r>
              <a:rPr lang="zh-CN" altLang="en-US" b="1" dirty="0">
                <a:solidFill>
                  <a:srgbClr val="800000"/>
                </a:solidFill>
                <a:latin typeface="+mn-lt"/>
                <a:ea typeface="+mn-ea"/>
              </a:rPr>
              <a:t>.2 </a:t>
            </a:r>
            <a:r>
              <a:rPr lang="zh-CN" altLang="en-US" b="1" dirty="0">
                <a:latin typeface="+mn-lt"/>
                <a:ea typeface="+mn-ea"/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p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)|</a:t>
            </a:r>
            <a:r>
              <a:rPr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q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)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的充要条件是</a:t>
            </a:r>
            <a:r>
              <a:rPr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G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p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))</a:t>
            </a:r>
            <a:r>
              <a:rPr lang="en-US" altLang="zh-CN" b="1" kern="0" dirty="0">
                <a:solidFill>
                  <a:srgbClr val="000000"/>
                </a:solidFill>
                <a:latin typeface="Times New Roman" pitchFamily="18" charset="0"/>
                <a:ea typeface="黑体"/>
                <a:cs typeface="Times New Roman" pitchFamily="18" charset="0"/>
                <a:sym typeface="Symbol" pitchFamily="18" charset="2"/>
              </a:rPr>
              <a:t>  </a:t>
            </a:r>
            <a:r>
              <a:rPr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G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q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))。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不同特征多项式的关系，与它们所确定的序列集的关系</a:t>
            </a:r>
            <a:endParaRPr lang="en-US" altLang="zh-CN" b="1" dirty="0">
              <a:solidFill>
                <a:srgbClr val="FF0000"/>
              </a:solidFill>
              <a:latin typeface="+mn-lt"/>
              <a:ea typeface="+mn-ea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定理</a:t>
            </a:r>
            <a:r>
              <a:rPr lang="en-US" altLang="zh-CN" b="1" dirty="0"/>
              <a:t>3.3 </a:t>
            </a:r>
            <a:r>
              <a:rPr lang="zh-CN" altLang="en-US" b="1" dirty="0"/>
              <a:t>若序列{</a:t>
            </a:r>
            <a:r>
              <a:rPr lang="en-US" altLang="zh-CN" b="1" i="1" dirty="0"/>
              <a:t>a</a:t>
            </a:r>
            <a:r>
              <a:rPr lang="en-US" altLang="zh-CN" b="1" i="1" baseline="-25000" dirty="0"/>
              <a:t>i</a:t>
            </a:r>
            <a:r>
              <a:rPr lang="en-US" altLang="zh-CN" b="1" dirty="0"/>
              <a:t>}</a:t>
            </a:r>
            <a:r>
              <a:rPr lang="zh-CN" altLang="en-US" b="1" dirty="0"/>
              <a:t>的特征多项式</a:t>
            </a:r>
            <a:r>
              <a:rPr lang="en-US" altLang="zh-CN" b="1" i="1" dirty="0"/>
              <a:t>p</a:t>
            </a:r>
            <a:r>
              <a:rPr lang="en-US" altLang="zh-CN" b="1" dirty="0"/>
              <a:t>(</a:t>
            </a:r>
            <a:r>
              <a:rPr lang="en-US" altLang="zh-CN" b="1" i="1" dirty="0"/>
              <a:t>x</a:t>
            </a:r>
            <a:r>
              <a:rPr lang="en-US" altLang="zh-CN" b="1" dirty="0"/>
              <a:t>)</a:t>
            </a:r>
            <a:r>
              <a:rPr lang="zh-CN" altLang="en-US" b="1" dirty="0"/>
              <a:t>定义在</a:t>
            </a:r>
            <a:r>
              <a:rPr lang="en-US" altLang="zh-CN" b="1" i="1" dirty="0"/>
              <a:t>GF</a:t>
            </a:r>
            <a:r>
              <a:rPr lang="en-US" altLang="zh-CN" b="1" dirty="0"/>
              <a:t>(2)</a:t>
            </a:r>
            <a:r>
              <a:rPr lang="zh-CN" altLang="en-US" b="1" dirty="0"/>
              <a:t>上，</a:t>
            </a:r>
            <a:r>
              <a:rPr lang="en-US" altLang="zh-CN" b="1" i="1" dirty="0"/>
              <a:t>p</a:t>
            </a:r>
            <a:r>
              <a:rPr lang="zh-CN" altLang="en-US" b="1" dirty="0"/>
              <a:t>是</a:t>
            </a:r>
            <a:r>
              <a:rPr lang="en-US" altLang="zh-CN" b="1" i="1" dirty="0"/>
              <a:t>p</a:t>
            </a:r>
            <a:r>
              <a:rPr lang="en-US" altLang="zh-CN" b="1" dirty="0"/>
              <a:t>(</a:t>
            </a:r>
            <a:r>
              <a:rPr lang="en-US" altLang="zh-CN" b="1" i="1" dirty="0"/>
              <a:t>x</a:t>
            </a:r>
            <a:r>
              <a:rPr lang="en-US" altLang="zh-CN" b="1" dirty="0"/>
              <a:t>)</a:t>
            </a:r>
            <a:r>
              <a:rPr lang="zh-CN" altLang="en-US" b="1" dirty="0"/>
              <a:t>的周期，则{</a:t>
            </a:r>
            <a:r>
              <a:rPr lang="en-US" altLang="zh-CN" b="1" i="1" dirty="0"/>
              <a:t>a</a:t>
            </a:r>
            <a:r>
              <a:rPr lang="en-US" altLang="zh-CN" b="1" i="1" baseline="-25000" dirty="0"/>
              <a:t>i</a:t>
            </a:r>
            <a:r>
              <a:rPr lang="en-US" altLang="zh-CN" b="1" dirty="0"/>
              <a:t>}</a:t>
            </a:r>
            <a:r>
              <a:rPr lang="zh-CN" altLang="en-US" b="1" dirty="0"/>
              <a:t>的周期</a:t>
            </a:r>
            <a:r>
              <a:rPr lang="en-US" altLang="zh-CN" b="1" i="1" dirty="0" err="1"/>
              <a:t>r</a:t>
            </a:r>
            <a:r>
              <a:rPr lang="en-US" altLang="zh-CN" b="1" dirty="0" err="1"/>
              <a:t>|</a:t>
            </a:r>
            <a:r>
              <a:rPr lang="en-US" altLang="zh-CN" b="1" i="1" dirty="0" err="1"/>
              <a:t>p</a:t>
            </a:r>
            <a:r>
              <a:rPr lang="en-US" altLang="zh-CN" b="1" dirty="0"/>
              <a:t>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特征多项式决定了它的阶（周期），序列的周期与特征多项式的阶的关系</a:t>
            </a:r>
            <a:endParaRPr lang="en-US" altLang="zh-CN" b="1" dirty="0">
              <a:solidFill>
                <a:srgbClr val="FF0000"/>
              </a:solidFill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8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8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800000"/>
                </a:solidFill>
                <a:latin typeface="Times New Roman" panose="02020603050405020304" pitchFamily="18" charset="0"/>
              </a:rPr>
              <a:t>.4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p(x)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是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次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不可约多项式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，周期为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m，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序列{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}∈G(p(x))，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则{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的周期为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m。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特殊的特征多项式（不可约），</a:t>
            </a:r>
            <a:r>
              <a:rPr lang="zh-CN" altLang="en-US" b="1" dirty="0">
                <a:solidFill>
                  <a:srgbClr val="FF0000"/>
                </a:solidFill>
              </a:rPr>
              <a:t>序列的周期与特征多项式的阶的关系</a:t>
            </a:r>
            <a:endParaRPr lang="en-US" altLang="zh-CN" b="1" dirty="0">
              <a:solidFill>
                <a:srgbClr val="FF0000"/>
              </a:solidFill>
            </a:endParaRPr>
          </a:p>
          <a:p>
            <a:pPr indent="-6350" eaLnBrk="1" hangingPunct="1">
              <a:lnSpc>
                <a:spcPct val="120000"/>
              </a:lnSpc>
              <a:buNone/>
              <a:defRPr/>
            </a:pPr>
            <a:r>
              <a:rPr lang="zh-CN" altLang="en-US" b="1" dirty="0">
                <a:solidFill>
                  <a:srgbClr val="8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8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800000"/>
                </a:solidFill>
                <a:latin typeface="Times New Roman" panose="02020603050405020304" pitchFamily="18" charset="0"/>
              </a:rPr>
              <a:t>.5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级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LFSR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产生的序列有最大周期2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-1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必要条件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是其特征多项式为不可约的。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endParaRPr lang="en-US" altLang="zh-CN" b="1" dirty="0">
              <a:solidFill>
                <a:srgbClr val="FF0000"/>
              </a:solidFill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endParaRPr lang="en-US" altLang="zh-CN" b="1" dirty="0">
              <a:solidFill>
                <a:srgbClr val="FF0000"/>
              </a:solidFill>
              <a:latin typeface="+mn-lt"/>
              <a:ea typeface="+mn-ea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endParaRPr lang="en-US" altLang="zh-CN" b="1" dirty="0">
              <a:solidFill>
                <a:srgbClr val="FF000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4907344"/>
      </p:ext>
    </p:extLst>
  </p:cSld>
  <p:clrMapOvr>
    <a:masterClrMapping/>
  </p:clrMapOvr>
  <p:transition spd="slow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7" name="Rectangle 3">
            <a:extLst>
              <a:ext uri="{FF2B5EF4-FFF2-40B4-BE49-F238E27FC236}">
                <a16:creationId xmlns:a16="http://schemas.microsoft.com/office/drawing/2014/main" id="{59BB6F03-7353-4C09-9E8A-245A3BB3FD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>
            <a:normAutofit fontScale="90000"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3600" b="1" dirty="0">
                <a:solidFill>
                  <a:srgbClr val="FF0000"/>
                </a:solidFill>
              </a:rPr>
              <a:t>随机序列的一般特性</a:t>
            </a:r>
            <a:endParaRPr lang="zh-CN" altLang="en-US" sz="3000" b="1" dirty="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A085A839-CE30-4196-A85C-EEBFFBE5D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 indent="-6350" algn="just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FF0000"/>
                </a:solidFill>
              </a:rPr>
              <a:t>游程: </a:t>
            </a:r>
            <a:r>
              <a:rPr lang="zh-CN" altLang="en-US" b="1"/>
              <a:t>设{</a:t>
            </a:r>
            <a:r>
              <a:rPr lang="en-US" altLang="zh-CN" b="1"/>
              <a:t>a</a:t>
            </a:r>
            <a:r>
              <a:rPr lang="en-US" altLang="zh-CN" b="1" baseline="-25000"/>
              <a:t>i</a:t>
            </a:r>
            <a:r>
              <a:rPr lang="en-US" altLang="zh-CN" b="1"/>
              <a:t>}=(a</a:t>
            </a:r>
            <a:r>
              <a:rPr lang="en-US" altLang="zh-CN" b="1" baseline="-25000"/>
              <a:t>1</a:t>
            </a:r>
            <a:r>
              <a:rPr lang="en-US" altLang="zh-CN" b="1"/>
              <a:t>a</a:t>
            </a:r>
            <a:r>
              <a:rPr lang="en-US" altLang="zh-CN" b="1" baseline="-25000"/>
              <a:t>2</a:t>
            </a:r>
            <a:r>
              <a:rPr lang="en-US" altLang="zh-CN" b="1"/>
              <a:t>a</a:t>
            </a:r>
            <a:r>
              <a:rPr lang="en-US" altLang="zh-CN" b="1" baseline="-25000"/>
              <a:t>3</a:t>
            </a:r>
            <a:r>
              <a:rPr lang="en-US" altLang="zh-CN" b="1"/>
              <a:t>…)</a:t>
            </a:r>
            <a:r>
              <a:rPr lang="zh-CN" altLang="en-US" b="1"/>
              <a:t>为二元序列，例如</a:t>
            </a:r>
            <a:r>
              <a:rPr lang="zh-CN" altLang="en-US" b="1">
                <a:solidFill>
                  <a:srgbClr val="FF0000"/>
                </a:solidFill>
              </a:rPr>
              <a:t>00110111</a:t>
            </a:r>
            <a:r>
              <a:rPr lang="zh-CN" altLang="en-US" b="1"/>
              <a:t>，其前两个数字是00，称为</a:t>
            </a:r>
            <a:r>
              <a:rPr lang="en-US" altLang="zh-CN" b="1"/>
              <a:t>2</a:t>
            </a:r>
            <a:r>
              <a:rPr lang="zh-CN" altLang="en-US" b="1"/>
              <a:t>长的</a:t>
            </a:r>
            <a:r>
              <a:rPr lang="en-US" altLang="zh-CN" b="1"/>
              <a:t>0</a:t>
            </a:r>
            <a:r>
              <a:rPr lang="zh-CN" altLang="en-US" b="1"/>
              <a:t>游程；接着是11，是</a:t>
            </a:r>
            <a:r>
              <a:rPr lang="en-US" altLang="zh-CN" b="1"/>
              <a:t>2</a:t>
            </a:r>
            <a:r>
              <a:rPr lang="zh-CN" altLang="en-US" b="1"/>
              <a:t>长的</a:t>
            </a:r>
            <a:r>
              <a:rPr lang="en-US" altLang="zh-CN" b="1"/>
              <a:t>1</a:t>
            </a:r>
            <a:r>
              <a:rPr lang="zh-CN" altLang="en-US" b="1"/>
              <a:t>游程；再下来是</a:t>
            </a:r>
            <a:r>
              <a:rPr lang="en-US" altLang="zh-CN" b="1"/>
              <a:t>1</a:t>
            </a:r>
            <a:r>
              <a:rPr lang="zh-CN" altLang="en-US" b="1"/>
              <a:t>长的</a:t>
            </a:r>
            <a:r>
              <a:rPr lang="en-US" altLang="zh-CN" b="1"/>
              <a:t>0</a:t>
            </a:r>
            <a:r>
              <a:rPr lang="zh-CN" altLang="en-US" b="1"/>
              <a:t>游程和</a:t>
            </a:r>
            <a:r>
              <a:rPr lang="en-US" altLang="zh-CN" b="1"/>
              <a:t>3</a:t>
            </a:r>
            <a:r>
              <a:rPr lang="zh-CN" altLang="en-US" b="1"/>
              <a:t>长的</a:t>
            </a:r>
            <a:r>
              <a:rPr lang="en-US" altLang="zh-CN" b="1"/>
              <a:t>1</a:t>
            </a:r>
            <a:r>
              <a:rPr lang="zh-CN" altLang="en-US" b="1"/>
              <a:t>游程。</a:t>
            </a:r>
            <a:endParaRPr lang="en-US" altLang="zh-CN" b="1"/>
          </a:p>
          <a:p>
            <a:pPr indent="-6350" algn="just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FF0000"/>
                </a:solidFill>
              </a:rPr>
              <a:t>自相关函数：</a:t>
            </a:r>
            <a:r>
              <a:rPr lang="en-US" altLang="zh-CN" b="1">
                <a:solidFill>
                  <a:srgbClr val="1C1C1C"/>
                </a:solidFill>
              </a:rPr>
              <a:t>GF(2)</a:t>
            </a:r>
            <a:r>
              <a:rPr lang="zh-CN" altLang="en-US" b="1">
                <a:solidFill>
                  <a:srgbClr val="1C1C1C"/>
                </a:solidFill>
              </a:rPr>
              <a:t>上周期为</a:t>
            </a:r>
            <a:r>
              <a:rPr lang="en-US" altLang="zh-CN" b="1">
                <a:solidFill>
                  <a:srgbClr val="1C1C1C"/>
                </a:solidFill>
              </a:rPr>
              <a:t>T</a:t>
            </a:r>
            <a:r>
              <a:rPr lang="zh-CN" altLang="en-US" b="1">
                <a:solidFill>
                  <a:srgbClr val="1C1C1C"/>
                </a:solidFill>
              </a:rPr>
              <a:t>的序列{</a:t>
            </a:r>
            <a:r>
              <a:rPr lang="en-US" altLang="zh-CN" b="1">
                <a:solidFill>
                  <a:srgbClr val="1C1C1C"/>
                </a:solidFill>
              </a:rPr>
              <a:t>a</a:t>
            </a:r>
            <a:r>
              <a:rPr lang="en-US" altLang="zh-CN" b="1" baseline="-25000">
                <a:solidFill>
                  <a:srgbClr val="1C1C1C"/>
                </a:solidFill>
              </a:rPr>
              <a:t>i</a:t>
            </a:r>
            <a:r>
              <a:rPr lang="en-US" altLang="zh-CN" b="1">
                <a:solidFill>
                  <a:srgbClr val="1C1C1C"/>
                </a:solidFill>
              </a:rPr>
              <a:t>}</a:t>
            </a:r>
            <a:r>
              <a:rPr lang="zh-CN" altLang="en-US" b="1">
                <a:solidFill>
                  <a:srgbClr val="1C1C1C"/>
                </a:solidFill>
              </a:rPr>
              <a:t>的自相关函数定义为</a:t>
            </a:r>
            <a:endParaRPr lang="en-US" altLang="zh-CN" b="1">
              <a:solidFill>
                <a:srgbClr val="1C1C1C"/>
              </a:solidFill>
            </a:endParaRPr>
          </a:p>
          <a:p>
            <a:pPr indent="-6350" algn="just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b="1">
              <a:solidFill>
                <a:srgbClr val="1C1C1C"/>
              </a:solidFill>
            </a:endParaRPr>
          </a:p>
          <a:p>
            <a:pPr indent="-6350" algn="just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b="1">
              <a:solidFill>
                <a:srgbClr val="1C1C1C"/>
              </a:solidFill>
            </a:endParaRPr>
          </a:p>
          <a:p>
            <a:pPr indent="-6350" algn="just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b="1">
              <a:solidFill>
                <a:srgbClr val="1C1C1C"/>
              </a:solidFill>
            </a:endParaRPr>
          </a:p>
          <a:p>
            <a:pPr indent="-6350" algn="just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000000"/>
                </a:solidFill>
              </a:rPr>
              <a:t>当</a:t>
            </a:r>
            <a:r>
              <a:rPr lang="el-GR" altLang="zh-CN" b="1">
                <a:solidFill>
                  <a:srgbClr val="000000"/>
                </a:solidFill>
              </a:rPr>
              <a:t>τ</a:t>
            </a:r>
            <a:r>
              <a:rPr lang="en-US" altLang="zh-CN" b="1">
                <a:solidFill>
                  <a:srgbClr val="000000"/>
                </a:solidFill>
              </a:rPr>
              <a:t>=0</a:t>
            </a:r>
            <a:r>
              <a:rPr lang="zh-CN" altLang="en-US" b="1">
                <a:solidFill>
                  <a:srgbClr val="000000"/>
                </a:solidFill>
              </a:rPr>
              <a:t>时，</a:t>
            </a:r>
            <a:r>
              <a:rPr lang="en-US" altLang="zh-CN" b="1">
                <a:solidFill>
                  <a:srgbClr val="000000"/>
                </a:solidFill>
              </a:rPr>
              <a:t>R(</a:t>
            </a:r>
            <a:r>
              <a:rPr lang="el-GR" altLang="zh-CN" b="1">
                <a:solidFill>
                  <a:srgbClr val="000000"/>
                </a:solidFill>
              </a:rPr>
              <a:t>τ</a:t>
            </a:r>
            <a:r>
              <a:rPr lang="en-US" altLang="zh-CN" b="1">
                <a:solidFill>
                  <a:srgbClr val="000000"/>
                </a:solidFill>
              </a:rPr>
              <a:t>)=1；</a:t>
            </a:r>
            <a:r>
              <a:rPr lang="zh-CN" altLang="en-US" b="1">
                <a:solidFill>
                  <a:srgbClr val="000000"/>
                </a:solidFill>
              </a:rPr>
              <a:t>当</a:t>
            </a:r>
            <a:r>
              <a:rPr lang="el-GR" altLang="zh-CN" b="1">
                <a:solidFill>
                  <a:srgbClr val="000000"/>
                </a:solidFill>
              </a:rPr>
              <a:t>τ</a:t>
            </a:r>
            <a:r>
              <a:rPr lang="en-US" altLang="zh-CN" b="1">
                <a:solidFill>
                  <a:srgbClr val="000000"/>
                </a:solidFill>
              </a:rPr>
              <a:t>≠0</a:t>
            </a:r>
            <a:r>
              <a:rPr lang="zh-CN" altLang="en-US" b="1">
                <a:solidFill>
                  <a:srgbClr val="000000"/>
                </a:solidFill>
              </a:rPr>
              <a:t>时，称</a:t>
            </a:r>
            <a:r>
              <a:rPr lang="en-US" altLang="zh-CN" b="1">
                <a:solidFill>
                  <a:srgbClr val="000000"/>
                </a:solidFill>
              </a:rPr>
              <a:t>R(</a:t>
            </a:r>
            <a:r>
              <a:rPr lang="el-GR" altLang="zh-CN" b="1">
                <a:solidFill>
                  <a:srgbClr val="000000"/>
                </a:solidFill>
              </a:rPr>
              <a:t>τ</a:t>
            </a:r>
            <a:r>
              <a:rPr lang="en-US" altLang="zh-CN" b="1">
                <a:solidFill>
                  <a:srgbClr val="000000"/>
                </a:solidFill>
              </a:rPr>
              <a:t>)</a:t>
            </a:r>
            <a:r>
              <a:rPr lang="zh-CN" altLang="en-US" b="1">
                <a:solidFill>
                  <a:srgbClr val="000000"/>
                </a:solidFill>
              </a:rPr>
              <a:t>为</a:t>
            </a:r>
            <a:r>
              <a:rPr lang="zh-CN" altLang="en-US" b="1">
                <a:solidFill>
                  <a:srgbClr val="FF0000"/>
                </a:solidFill>
              </a:rPr>
              <a:t>异相自相关函数</a:t>
            </a:r>
            <a:r>
              <a:rPr lang="zh-CN" altLang="en-US" b="1">
                <a:solidFill>
                  <a:srgbClr val="000000"/>
                </a:solidFill>
              </a:rPr>
              <a:t>。</a:t>
            </a:r>
          </a:p>
          <a:p>
            <a:pPr indent="-6350" algn="just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zh-CN" altLang="en-US" b="1">
              <a:solidFill>
                <a:srgbClr val="1C1C1C"/>
              </a:solidFill>
            </a:endParaRPr>
          </a:p>
          <a:p>
            <a:pPr indent="-6350" algn="just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b="1">
              <a:solidFill>
                <a:srgbClr val="FF0000"/>
              </a:solidFill>
            </a:endParaRPr>
          </a:p>
          <a:p>
            <a:pPr indent="-6350" algn="just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zh-CN" altLang="en-US" b="1"/>
          </a:p>
        </p:txBody>
      </p:sp>
      <p:graphicFrame>
        <p:nvGraphicFramePr>
          <p:cNvPr id="171012" name="对象 2">
            <a:extLst>
              <a:ext uri="{FF2B5EF4-FFF2-40B4-BE49-F238E27FC236}">
                <a16:creationId xmlns:a16="http://schemas.microsoft.com/office/drawing/2014/main" id="{95281CC1-9850-4DDC-BB50-CD89F79559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3657600"/>
          <a:ext cx="6348413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148" name="Formula" r:id="rId4" imgW="2077720" imgH="377190" progId="Equation.Ribbit">
                  <p:embed/>
                </p:oleObj>
              </mc:Choice>
              <mc:Fallback>
                <p:oleObj name="Formula" r:id="rId4" imgW="2077720" imgH="377190" progId="Equation.Ribbit">
                  <p:embed/>
                  <p:pic>
                    <p:nvPicPr>
                      <p:cNvPr id="171012" name="对象 2">
                        <a:extLst>
                          <a:ext uri="{FF2B5EF4-FFF2-40B4-BE49-F238E27FC236}">
                            <a16:creationId xmlns:a16="http://schemas.microsoft.com/office/drawing/2014/main" id="{95281CC1-9850-4DDC-BB50-CD89F79559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657600"/>
                        <a:ext cx="6348413" cy="114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410442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1EB6C3-7988-42D0-B955-29E900EF8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en-US" altLang="zh-CN" b="1" dirty="0" err="1"/>
              <a:t>Golomb</a:t>
            </a:r>
            <a:r>
              <a:rPr lang="zh-CN" altLang="en-US" b="1" dirty="0"/>
              <a:t>伪随机公设</a:t>
            </a:r>
          </a:p>
        </p:txBody>
      </p:sp>
      <p:sp>
        <p:nvSpPr>
          <p:cNvPr id="489474" name="Rectangle 1026">
            <a:extLst>
              <a:ext uri="{FF2B5EF4-FFF2-40B4-BE49-F238E27FC236}">
                <a16:creationId xmlns:a16="http://schemas.microsoft.com/office/drawing/2014/main" id="{486222D2-83CD-420A-86F7-5AD181A7FC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sz="2800" b="1" dirty="0"/>
              <a:t>3个随机性公设： </a:t>
            </a:r>
          </a:p>
          <a:p>
            <a:pPr marL="679450" indent="-457200" eaLnBrk="1" hangingPunct="1">
              <a:lnSpc>
                <a:spcPct val="120000"/>
              </a:lnSpc>
              <a:buFont typeface="+mj-ea"/>
              <a:buAutoNum type="circleNumDbPlain"/>
              <a:defRPr/>
            </a:pPr>
            <a:r>
              <a:rPr lang="zh-CN" altLang="en-US" sz="2800" b="1" dirty="0">
                <a:solidFill>
                  <a:srgbClr val="FF0000"/>
                </a:solidFill>
              </a:rPr>
              <a:t>在序列的一个周期内，0与1的个数相差至多为1。</a:t>
            </a:r>
            <a:endParaRPr lang="en-US" altLang="zh-CN" sz="2800" b="1" dirty="0">
              <a:solidFill>
                <a:srgbClr val="FF0000"/>
              </a:solidFill>
            </a:endParaRPr>
          </a:p>
          <a:p>
            <a:pPr marL="1136650" lvl="1" indent="-457200" eaLnBrk="1" hangingPunct="1">
              <a:lnSpc>
                <a:spcPct val="120000"/>
              </a:lnSpc>
              <a:defRPr/>
            </a:pPr>
            <a:r>
              <a:rPr lang="zh-CN" altLang="en-US" sz="2400" b="1" dirty="0"/>
              <a:t>说明{</a:t>
            </a:r>
            <a:r>
              <a:rPr lang="en-US" altLang="zh-CN" sz="2400" b="1" dirty="0" err="1"/>
              <a:t>a</a:t>
            </a:r>
            <a:r>
              <a:rPr lang="en-US" altLang="zh-CN" sz="2400" b="1" baseline="-25000" dirty="0" err="1"/>
              <a:t>i</a:t>
            </a:r>
            <a:r>
              <a:rPr lang="en-US" altLang="zh-CN" sz="2400" b="1" dirty="0"/>
              <a:t>}</a:t>
            </a:r>
            <a:r>
              <a:rPr lang="zh-CN" altLang="en-US" sz="2400" b="1" dirty="0"/>
              <a:t>中0与1出现的概率基本上相同</a:t>
            </a:r>
            <a:endParaRPr lang="zh-CN" altLang="en-US" sz="2400" b="1" dirty="0">
              <a:solidFill>
                <a:srgbClr val="FF0000"/>
              </a:solidFill>
            </a:endParaRPr>
          </a:p>
          <a:p>
            <a:pPr marL="679450" indent="-457200" eaLnBrk="1" hangingPunct="1">
              <a:lnSpc>
                <a:spcPct val="120000"/>
              </a:lnSpc>
              <a:buFont typeface="+mj-ea"/>
              <a:buAutoNum type="circleNumDbPlain"/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在序列的一个周期内，长为</a:t>
            </a:r>
            <a:r>
              <a:rPr lang="en-US" altLang="zh-CN" b="1" dirty="0" err="1">
                <a:solidFill>
                  <a:srgbClr val="FF0000"/>
                </a:solidFill>
              </a:rPr>
              <a:t>i</a:t>
            </a:r>
            <a:r>
              <a:rPr lang="zh-CN" altLang="en-US" b="1" dirty="0">
                <a:solidFill>
                  <a:srgbClr val="FF0000"/>
                </a:solidFill>
              </a:rPr>
              <a:t>的游程占游程总数的1/2</a:t>
            </a:r>
            <a:r>
              <a:rPr lang="en-US" altLang="zh-CN" b="1" baseline="30000" dirty="0" err="1">
                <a:solidFill>
                  <a:srgbClr val="FF0000"/>
                </a:solidFill>
              </a:rPr>
              <a:t>i</a:t>
            </a:r>
            <a:r>
              <a:rPr lang="en-US" altLang="zh-CN" b="1" baseline="30000" dirty="0">
                <a:solidFill>
                  <a:srgbClr val="FF000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</a:rPr>
              <a:t>i</a:t>
            </a:r>
            <a:r>
              <a:rPr lang="en-US" altLang="zh-CN" b="1" dirty="0">
                <a:solidFill>
                  <a:srgbClr val="FF0000"/>
                </a:solidFill>
              </a:rPr>
              <a:t>=1,2,…)，</a:t>
            </a:r>
            <a:r>
              <a:rPr lang="zh-CN" altLang="en-US" b="1" dirty="0">
                <a:solidFill>
                  <a:srgbClr val="FF0000"/>
                </a:solidFill>
              </a:rPr>
              <a:t>且在等长的游程中0的游程个数和1的游程个数相等。</a:t>
            </a:r>
          </a:p>
          <a:p>
            <a:pPr marL="1136650" lvl="1" indent="-457200" eaLnBrk="1" hangingPunct="1">
              <a:lnSpc>
                <a:spcPct val="120000"/>
              </a:lnSpc>
              <a:defRPr/>
            </a:pPr>
            <a:r>
              <a:rPr lang="zh-CN" altLang="en-US" sz="2400" b="1" dirty="0"/>
              <a:t>说明0与1在序列中每一位置上出现的概率相同</a:t>
            </a:r>
            <a:r>
              <a:rPr lang="en-US" altLang="zh-CN" sz="2400" b="1" dirty="0"/>
              <a:t>	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679450" indent="-457200" eaLnBrk="1" hangingPunct="1">
              <a:lnSpc>
                <a:spcPct val="120000"/>
              </a:lnSpc>
              <a:buFont typeface="+mj-ea"/>
              <a:buAutoNum type="circleNumDbPlain"/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异相自相关函数是一个常数。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1136650" lvl="1" indent="-457200" eaLnBrk="1" hangingPunct="1">
              <a:lnSpc>
                <a:spcPct val="120000"/>
              </a:lnSpc>
              <a:defRPr/>
            </a:pPr>
            <a:r>
              <a:rPr lang="zh-CN" altLang="en-US" sz="2400" b="1" dirty="0"/>
              <a:t>意味着通过对序列与其平移后的序列做比较，不能给出其他任何信息</a:t>
            </a:r>
          </a:p>
          <a:p>
            <a:pPr indent="-6350" eaLnBrk="1" hangingPunct="1">
              <a:buFont typeface="Arial" panose="020B0604020202020204" pitchFamily="34" charset="0"/>
              <a:buNone/>
              <a:defRPr/>
            </a:pPr>
            <a:endParaRPr lang="zh-CN" altLang="en-US" b="1" dirty="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3D7741A-6398-459F-9348-60A159D8DE9E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942755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9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9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9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9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9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9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94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94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94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94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4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894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894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7E7EB7-5553-4D02-885A-501E6778B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381000"/>
            <a:ext cx="9037638" cy="668338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m</a:t>
            </a:r>
            <a:r>
              <a:rPr lang="zh-CN" altLang="en-US" b="1" dirty="0"/>
              <a:t>序列的随机性</a:t>
            </a:r>
          </a:p>
        </p:txBody>
      </p:sp>
      <p:sp>
        <p:nvSpPr>
          <p:cNvPr id="177155" name="Rectangle 2">
            <a:extLst>
              <a:ext uri="{FF2B5EF4-FFF2-40B4-BE49-F238E27FC236}">
                <a16:creationId xmlns:a16="http://schemas.microsoft.com/office/drawing/2014/main" id="{1A792561-FA3D-4811-AE10-BB9EB9D9E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913"/>
            <a:ext cx="10515600" cy="4579937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序列满足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Golomb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的3个随机性公设</a:t>
            </a:r>
            <a:r>
              <a:rPr lang="zh-CN" altLang="en-US" b="1" dirty="0">
                <a:latin typeface="Times New Roman" panose="02020603050405020304" pitchFamily="18" charset="0"/>
              </a:rPr>
              <a:t>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80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8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800000"/>
                </a:solidFill>
                <a:latin typeface="Times New Roman" panose="02020603050405020304" pitchFamily="18" charset="0"/>
              </a:rPr>
              <a:t>.7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GF(2)</a:t>
            </a:r>
            <a:r>
              <a:rPr lang="zh-CN" altLang="en-US" b="1" dirty="0">
                <a:latin typeface="Times New Roman" panose="02020603050405020304" pitchFamily="18" charset="0"/>
              </a:rPr>
              <a:t>上的</a:t>
            </a:r>
            <a:r>
              <a:rPr lang="en-US" altLang="zh-CN" b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长</a:t>
            </a:r>
            <a:r>
              <a:rPr lang="en-US" altLang="zh-CN" b="1" dirty="0">
                <a:latin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</a:rPr>
              <a:t>序列{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latin typeface="Times New Roman" panose="02020603050405020304" pitchFamily="18" charset="0"/>
              </a:rPr>
              <a:t>具有如下性质： 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1C1C1C"/>
                </a:solidFill>
                <a:latin typeface="Times New Roman" panose="02020603050405020304" pitchFamily="18" charset="0"/>
              </a:rPr>
              <a:t>① 在一个周期内，0、1出现的次数分别为2</a:t>
            </a:r>
            <a:r>
              <a:rPr lang="en-US" altLang="zh-CN" b="1" baseline="30000" dirty="0">
                <a:solidFill>
                  <a:srgbClr val="1C1C1C"/>
                </a:solidFill>
                <a:latin typeface="Times New Roman" panose="02020603050405020304" pitchFamily="18" charset="0"/>
              </a:rPr>
              <a:t>n-1</a:t>
            </a:r>
            <a:r>
              <a:rPr lang="en-US" altLang="zh-CN" b="1" dirty="0">
                <a:solidFill>
                  <a:srgbClr val="1C1C1C"/>
                </a:solidFill>
                <a:latin typeface="Times New Roman" panose="02020603050405020304" pitchFamily="18" charset="0"/>
              </a:rPr>
              <a:t>-1</a:t>
            </a:r>
            <a:r>
              <a:rPr lang="zh-CN" altLang="en-US" b="1" dirty="0">
                <a:solidFill>
                  <a:srgbClr val="1C1C1C"/>
                </a:solidFill>
                <a:latin typeface="Times New Roman" panose="02020603050405020304" pitchFamily="18" charset="0"/>
              </a:rPr>
              <a:t>和2</a:t>
            </a:r>
            <a:r>
              <a:rPr lang="en-US" altLang="zh-CN" b="1" baseline="30000" dirty="0">
                <a:solidFill>
                  <a:srgbClr val="1C1C1C"/>
                </a:solidFill>
                <a:latin typeface="Times New Roman" panose="02020603050405020304" pitchFamily="18" charset="0"/>
              </a:rPr>
              <a:t>n-1</a:t>
            </a:r>
            <a:r>
              <a:rPr lang="en-US" altLang="zh-CN" b="1" dirty="0">
                <a:solidFill>
                  <a:srgbClr val="1C1C1C"/>
                </a:solidFill>
                <a:latin typeface="Times New Roman" panose="02020603050405020304" pitchFamily="18" charset="0"/>
              </a:rPr>
              <a:t>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1C1C1C"/>
                </a:solidFill>
                <a:latin typeface="Times New Roman" panose="02020603050405020304" pitchFamily="18" charset="0"/>
              </a:rPr>
              <a:t>② </a:t>
            </a:r>
            <a:r>
              <a:rPr lang="zh-CN" altLang="en-US" b="1" dirty="0">
                <a:solidFill>
                  <a:srgbClr val="1C1C1C"/>
                </a:solidFill>
                <a:latin typeface="Times New Roman" panose="02020603050405020304" pitchFamily="18" charset="0"/>
              </a:rPr>
              <a:t>在一个周期内，总游程数为2</a:t>
            </a:r>
            <a:r>
              <a:rPr lang="en-US" altLang="zh-CN" b="1" baseline="30000" dirty="0">
                <a:solidFill>
                  <a:srgbClr val="1C1C1C"/>
                </a:solidFill>
                <a:latin typeface="Times New Roman" panose="02020603050405020304" pitchFamily="18" charset="0"/>
              </a:rPr>
              <a:t>n-1</a:t>
            </a:r>
            <a:r>
              <a:rPr lang="en-US" altLang="zh-CN" b="1" dirty="0">
                <a:solidFill>
                  <a:srgbClr val="1C1C1C"/>
                </a:solidFill>
                <a:latin typeface="Times New Roman" panose="02020603050405020304" pitchFamily="18" charset="0"/>
              </a:rPr>
              <a:t>；</a:t>
            </a:r>
            <a:r>
              <a:rPr lang="zh-CN" altLang="en-US" b="1" dirty="0">
                <a:solidFill>
                  <a:srgbClr val="1C1C1C"/>
                </a:solidFill>
                <a:latin typeface="Times New Roman" panose="02020603050405020304" pitchFamily="18" charset="0"/>
              </a:rPr>
              <a:t>对1≤</a:t>
            </a:r>
            <a:r>
              <a:rPr lang="en-US" altLang="zh-CN" b="1" dirty="0">
                <a:solidFill>
                  <a:srgbClr val="1C1C1C"/>
                </a:solidFill>
                <a:latin typeface="Times New Roman" panose="02020603050405020304" pitchFamily="18" charset="0"/>
              </a:rPr>
              <a:t>i≤n-2，</a:t>
            </a:r>
            <a:r>
              <a:rPr lang="zh-CN" altLang="en-US" b="1" dirty="0">
                <a:solidFill>
                  <a:srgbClr val="1C1C1C"/>
                </a:solidFill>
                <a:latin typeface="Times New Roman" panose="02020603050405020304" pitchFamily="18" charset="0"/>
              </a:rPr>
              <a:t>长为</a:t>
            </a:r>
            <a:r>
              <a:rPr lang="en-US" altLang="zh-CN" b="1" dirty="0" err="1">
                <a:solidFill>
                  <a:srgbClr val="1C1C1C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b="1" dirty="0">
                <a:solidFill>
                  <a:srgbClr val="1C1C1C"/>
                </a:solidFill>
                <a:latin typeface="Times New Roman" panose="02020603050405020304" pitchFamily="18" charset="0"/>
              </a:rPr>
              <a:t>的游程有2</a:t>
            </a:r>
            <a:r>
              <a:rPr lang="en-US" altLang="zh-CN" b="1" baseline="30000" dirty="0">
                <a:solidFill>
                  <a:srgbClr val="1C1C1C"/>
                </a:solidFill>
                <a:latin typeface="Times New Roman" panose="02020603050405020304" pitchFamily="18" charset="0"/>
              </a:rPr>
              <a:t>n-i-1</a:t>
            </a:r>
            <a:r>
              <a:rPr lang="zh-CN" altLang="en-US" b="1" dirty="0">
                <a:solidFill>
                  <a:srgbClr val="1C1C1C"/>
                </a:solidFill>
                <a:latin typeface="Times New Roman" panose="02020603050405020304" pitchFamily="18" charset="0"/>
              </a:rPr>
              <a:t>个，且0、1游程各半；长为</a:t>
            </a:r>
            <a:r>
              <a:rPr lang="en-US" altLang="zh-CN" b="1" dirty="0">
                <a:solidFill>
                  <a:srgbClr val="1C1C1C"/>
                </a:solidFill>
                <a:latin typeface="Times New Roman" panose="02020603050405020304" pitchFamily="18" charset="0"/>
              </a:rPr>
              <a:t>n-1</a:t>
            </a:r>
            <a:r>
              <a:rPr lang="zh-CN" altLang="en-US" b="1" dirty="0">
                <a:solidFill>
                  <a:srgbClr val="1C1C1C"/>
                </a:solidFill>
                <a:latin typeface="Times New Roman" panose="02020603050405020304" pitchFamily="18" charset="0"/>
              </a:rPr>
              <a:t>的0游程一个，长为</a:t>
            </a:r>
            <a:r>
              <a:rPr lang="en-US" altLang="zh-CN" b="1" dirty="0">
                <a:solidFill>
                  <a:srgbClr val="1C1C1C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1C1C1C"/>
                </a:solidFill>
                <a:latin typeface="Times New Roman" panose="02020603050405020304" pitchFamily="18" charset="0"/>
              </a:rPr>
              <a:t>的1游程一个。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1C1C1C"/>
                </a:solidFill>
                <a:latin typeface="Times New Roman" panose="02020603050405020304" pitchFamily="18" charset="0"/>
              </a:rPr>
              <a:t>③ {</a:t>
            </a:r>
            <a:r>
              <a:rPr lang="en-US" altLang="zh-CN" b="1" i="1" dirty="0">
                <a:solidFill>
                  <a:srgbClr val="1C1C1C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baseline="-25000" dirty="0">
                <a:solidFill>
                  <a:srgbClr val="1C1C1C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1C1C1C"/>
                </a:solidFill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solidFill>
                  <a:srgbClr val="1C1C1C"/>
                </a:solidFill>
                <a:latin typeface="Times New Roman" panose="02020603050405020304" pitchFamily="18" charset="0"/>
              </a:rPr>
              <a:t>的自相关函数为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endParaRPr lang="zh-CN" altLang="en-US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77156" name="对象 2">
            <a:extLst>
              <a:ext uri="{FF2B5EF4-FFF2-40B4-BE49-F238E27FC236}">
                <a16:creationId xmlns:a16="http://schemas.microsoft.com/office/drawing/2014/main" id="{1BBDEEDE-1C1A-4083-85E1-CD854071C1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1188" y="4873625"/>
          <a:ext cx="5889625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208" name="Formula" r:id="rId4" imgW="2223770" imgH="392430" progId="Equation.Ribbit">
                  <p:embed/>
                </p:oleObj>
              </mc:Choice>
              <mc:Fallback>
                <p:oleObj name="Formula" r:id="rId4" imgW="2223770" imgH="392430" progId="Equation.Ribbit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1188" y="4873625"/>
                        <a:ext cx="5889625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77506-1F53-403E-8B86-391706AD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定理</a:t>
            </a:r>
            <a:r>
              <a:rPr lang="en-US" altLang="zh-CN" b="1" dirty="0"/>
              <a:t>3.7</a:t>
            </a:r>
            <a:r>
              <a:rPr lang="zh-CN" altLang="en-US" b="1" dirty="0"/>
              <a:t>的证明</a:t>
            </a:r>
          </a:p>
        </p:txBody>
      </p:sp>
      <p:sp>
        <p:nvSpPr>
          <p:cNvPr id="495618" name="Rectangle 2">
            <a:extLst>
              <a:ext uri="{FF2B5EF4-FFF2-40B4-BE49-F238E27FC236}">
                <a16:creationId xmlns:a16="http://schemas.microsoft.com/office/drawing/2014/main" id="{33F24080-4C61-4869-81B1-A9710D591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0" y="1111250"/>
            <a:ext cx="10682288" cy="4935538"/>
          </a:xfrm>
        </p:spPr>
        <p:txBody>
          <a:bodyPr/>
          <a:lstStyle/>
          <a:p>
            <a:pPr indent="-6350"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b="1"/>
              <a:t>证明： ① 在</a:t>
            </a:r>
            <a:r>
              <a:rPr lang="en-US" altLang="zh-CN" b="1"/>
              <a:t>n</a:t>
            </a:r>
            <a:r>
              <a:rPr lang="zh-CN" altLang="en-US" b="1"/>
              <a:t>长</a:t>
            </a:r>
            <a:r>
              <a:rPr lang="en-US" altLang="zh-CN" b="1"/>
              <a:t>m</a:t>
            </a:r>
            <a:r>
              <a:rPr lang="zh-CN" altLang="en-US" b="1"/>
              <a:t>序列的一个周期内，除了全0状态外，</a:t>
            </a:r>
            <a:r>
              <a:rPr lang="zh-CN" altLang="en-US" b="1">
                <a:solidFill>
                  <a:srgbClr val="FF0000"/>
                </a:solidFill>
              </a:rPr>
              <a:t>每个</a:t>
            </a:r>
            <a:r>
              <a:rPr lang="en-US" altLang="zh-CN" b="1">
                <a:solidFill>
                  <a:srgbClr val="FF0000"/>
                </a:solidFill>
              </a:rPr>
              <a:t>n</a:t>
            </a:r>
            <a:r>
              <a:rPr lang="zh-CN" altLang="en-US" b="1">
                <a:solidFill>
                  <a:srgbClr val="FF0000"/>
                </a:solidFill>
              </a:rPr>
              <a:t>长状态（共2</a:t>
            </a:r>
            <a:r>
              <a:rPr lang="en-US" altLang="zh-CN" b="1" baseline="30000">
                <a:solidFill>
                  <a:srgbClr val="FF0000"/>
                </a:solidFill>
              </a:rPr>
              <a:t>n</a:t>
            </a:r>
            <a:r>
              <a:rPr lang="en-US" altLang="zh-CN" b="1">
                <a:solidFill>
                  <a:srgbClr val="FF0000"/>
                </a:solidFill>
              </a:rPr>
              <a:t>-1</a:t>
            </a:r>
            <a:r>
              <a:rPr lang="zh-CN" altLang="en-US" b="1">
                <a:solidFill>
                  <a:srgbClr val="FF0000"/>
                </a:solidFill>
              </a:rPr>
              <a:t>个）都恰好出现一次。</a:t>
            </a:r>
            <a:endParaRPr lang="en-US" altLang="zh-CN" b="1">
              <a:solidFill>
                <a:srgbClr val="FF0000"/>
              </a:solidFill>
            </a:endParaRPr>
          </a:p>
          <a:p>
            <a:pPr indent="-6350"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1C1C1C"/>
                </a:solidFill>
              </a:rPr>
              <a:t>LFSR</a:t>
            </a:r>
            <a:r>
              <a:rPr lang="zh-CN" altLang="en-US" b="1">
                <a:solidFill>
                  <a:srgbClr val="1C1C1C"/>
                </a:solidFill>
              </a:rPr>
              <a:t>的输出为每个状态的</a:t>
            </a:r>
            <a:r>
              <a:rPr lang="en-US" altLang="zh-CN" b="1">
                <a:solidFill>
                  <a:srgbClr val="1C1C1C"/>
                </a:solidFill>
              </a:rPr>
              <a:t>a</a:t>
            </a:r>
            <a:r>
              <a:rPr lang="en-US" altLang="zh-CN" b="1" baseline="-25000">
                <a:solidFill>
                  <a:srgbClr val="1C1C1C"/>
                </a:solidFill>
              </a:rPr>
              <a:t>1</a:t>
            </a:r>
            <a:r>
              <a:rPr lang="zh-CN" altLang="en-US" b="1">
                <a:solidFill>
                  <a:srgbClr val="1C1C1C"/>
                </a:solidFill>
              </a:rPr>
              <a:t> ，因此输出为</a:t>
            </a:r>
            <a:r>
              <a:rPr lang="en-US" altLang="zh-CN" b="1">
                <a:solidFill>
                  <a:srgbClr val="1C1C1C"/>
                </a:solidFill>
              </a:rPr>
              <a:t>1</a:t>
            </a:r>
            <a:r>
              <a:rPr lang="zh-CN" altLang="en-US" b="1">
                <a:solidFill>
                  <a:srgbClr val="1C1C1C"/>
                </a:solidFill>
              </a:rPr>
              <a:t>的状态必然是（**</a:t>
            </a:r>
            <a:r>
              <a:rPr lang="en-US" altLang="zh-CN" b="1">
                <a:solidFill>
                  <a:srgbClr val="1C1C1C"/>
                </a:solidFill>
              </a:rPr>
              <a:t>…</a:t>
            </a:r>
            <a:r>
              <a:rPr lang="zh-CN" altLang="en-US" b="1">
                <a:solidFill>
                  <a:srgbClr val="1C1C1C"/>
                </a:solidFill>
              </a:rPr>
              <a:t>*</a:t>
            </a:r>
            <a:r>
              <a:rPr lang="en-US" altLang="zh-CN" b="1">
                <a:solidFill>
                  <a:srgbClr val="1C1C1C"/>
                </a:solidFill>
              </a:rPr>
              <a:t>1</a:t>
            </a:r>
            <a:r>
              <a:rPr lang="zh-CN" altLang="en-US" b="1">
                <a:solidFill>
                  <a:srgbClr val="1C1C1C"/>
                </a:solidFill>
              </a:rPr>
              <a:t>）的形式，</a:t>
            </a:r>
            <a:endParaRPr lang="en-US" altLang="zh-CN" b="1">
              <a:solidFill>
                <a:srgbClr val="1C1C1C"/>
              </a:solidFill>
            </a:endParaRPr>
          </a:p>
          <a:p>
            <a:pPr indent="-6350"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1C1C1C"/>
                </a:solidFill>
              </a:rPr>
              <a:t>                                </a:t>
            </a:r>
            <a:r>
              <a:rPr lang="zh-CN" altLang="en-US" b="1">
                <a:solidFill>
                  <a:srgbClr val="1C1C1C"/>
                </a:solidFill>
              </a:rPr>
              <a:t>而</a:t>
            </a:r>
            <a:r>
              <a:rPr lang="en-US" altLang="zh-CN" b="1">
                <a:solidFill>
                  <a:srgbClr val="1C1C1C"/>
                </a:solidFill>
              </a:rPr>
              <a:t>m</a:t>
            </a:r>
            <a:r>
              <a:rPr lang="zh-CN" altLang="en-US" b="1">
                <a:solidFill>
                  <a:srgbClr val="1C1C1C"/>
                </a:solidFill>
              </a:rPr>
              <a:t>序列这类状态共有2</a:t>
            </a:r>
            <a:r>
              <a:rPr lang="en-US" altLang="zh-CN" b="1" baseline="30000">
                <a:solidFill>
                  <a:srgbClr val="1C1C1C"/>
                </a:solidFill>
              </a:rPr>
              <a:t>n-1</a:t>
            </a:r>
            <a:r>
              <a:rPr lang="zh-CN" altLang="en-US" b="1">
                <a:solidFill>
                  <a:srgbClr val="1C1C1C"/>
                </a:solidFill>
              </a:rPr>
              <a:t>个，所以输出</a:t>
            </a:r>
            <a:endParaRPr lang="en-US" altLang="zh-CN" b="1">
              <a:solidFill>
                <a:srgbClr val="1C1C1C"/>
              </a:solidFill>
            </a:endParaRPr>
          </a:p>
          <a:p>
            <a:pPr indent="-6350"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1C1C1C"/>
                </a:solidFill>
              </a:rPr>
              <a:t>                                </a:t>
            </a:r>
            <a:r>
              <a:rPr lang="zh-CN" altLang="en-US" b="1">
                <a:solidFill>
                  <a:srgbClr val="1C1C1C"/>
                </a:solidFill>
              </a:rPr>
              <a:t>中</a:t>
            </a:r>
            <a:r>
              <a:rPr lang="en-US" altLang="zh-CN" b="1">
                <a:solidFill>
                  <a:srgbClr val="1C1C1C"/>
                </a:solidFill>
              </a:rPr>
              <a:t>1</a:t>
            </a:r>
            <a:r>
              <a:rPr lang="zh-CN" altLang="en-US" b="1">
                <a:solidFill>
                  <a:srgbClr val="1C1C1C"/>
                </a:solidFill>
              </a:rPr>
              <a:t>的个数为</a:t>
            </a:r>
            <a:r>
              <a:rPr lang="zh-CN" altLang="en-US" b="1">
                <a:solidFill>
                  <a:srgbClr val="FF0000"/>
                </a:solidFill>
              </a:rPr>
              <a:t>2</a:t>
            </a:r>
            <a:r>
              <a:rPr lang="en-US" altLang="zh-CN" b="1" baseline="30000">
                <a:solidFill>
                  <a:srgbClr val="FF0000"/>
                </a:solidFill>
              </a:rPr>
              <a:t>n-1</a:t>
            </a:r>
            <a:r>
              <a:rPr lang="zh-CN" altLang="en-US" b="1">
                <a:solidFill>
                  <a:srgbClr val="000000"/>
                </a:solidFill>
              </a:rPr>
              <a:t>个</a:t>
            </a:r>
            <a:r>
              <a:rPr lang="zh-CN" altLang="en-US" b="1">
                <a:solidFill>
                  <a:srgbClr val="FF0000"/>
                </a:solidFill>
              </a:rPr>
              <a:t>。</a:t>
            </a:r>
            <a:endParaRPr lang="en-US" altLang="zh-CN" b="1">
              <a:solidFill>
                <a:srgbClr val="FF0000"/>
              </a:solidFill>
            </a:endParaRPr>
          </a:p>
          <a:p>
            <a:pPr indent="-6350"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1C1C1C"/>
                </a:solidFill>
              </a:rPr>
              <a:t>                               输出为</a:t>
            </a:r>
            <a:r>
              <a:rPr lang="en-US" altLang="zh-CN" b="1">
                <a:solidFill>
                  <a:srgbClr val="1C1C1C"/>
                </a:solidFill>
              </a:rPr>
              <a:t>0</a:t>
            </a:r>
            <a:r>
              <a:rPr lang="zh-CN" altLang="en-US" b="1">
                <a:solidFill>
                  <a:srgbClr val="1C1C1C"/>
                </a:solidFill>
              </a:rPr>
              <a:t>的状态必然是（**</a:t>
            </a:r>
            <a:r>
              <a:rPr lang="en-US" altLang="zh-CN" b="1">
                <a:solidFill>
                  <a:srgbClr val="1C1C1C"/>
                </a:solidFill>
              </a:rPr>
              <a:t>…</a:t>
            </a:r>
            <a:r>
              <a:rPr lang="zh-CN" altLang="en-US" b="1">
                <a:solidFill>
                  <a:srgbClr val="1C1C1C"/>
                </a:solidFill>
              </a:rPr>
              <a:t>*</a:t>
            </a:r>
            <a:r>
              <a:rPr lang="en-US" altLang="zh-CN" b="1">
                <a:solidFill>
                  <a:srgbClr val="1C1C1C"/>
                </a:solidFill>
              </a:rPr>
              <a:t>0</a:t>
            </a:r>
            <a:r>
              <a:rPr lang="zh-CN" altLang="en-US" b="1">
                <a:solidFill>
                  <a:srgbClr val="1C1C1C"/>
                </a:solidFill>
              </a:rPr>
              <a:t>）的形式，</a:t>
            </a:r>
            <a:endParaRPr lang="en-US" altLang="zh-CN" b="1">
              <a:solidFill>
                <a:srgbClr val="1C1C1C"/>
              </a:solidFill>
            </a:endParaRPr>
          </a:p>
          <a:p>
            <a:pPr indent="-6350"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1C1C1C"/>
                </a:solidFill>
              </a:rPr>
              <a:t>                                </a:t>
            </a:r>
            <a:r>
              <a:rPr lang="zh-CN" altLang="en-US" b="1">
                <a:solidFill>
                  <a:srgbClr val="1C1C1C"/>
                </a:solidFill>
              </a:rPr>
              <a:t>而</a:t>
            </a:r>
            <a:r>
              <a:rPr lang="en-US" altLang="zh-CN" b="1">
                <a:solidFill>
                  <a:srgbClr val="1C1C1C"/>
                </a:solidFill>
              </a:rPr>
              <a:t>m</a:t>
            </a:r>
            <a:r>
              <a:rPr lang="zh-CN" altLang="en-US" b="1">
                <a:solidFill>
                  <a:srgbClr val="1C1C1C"/>
                </a:solidFill>
              </a:rPr>
              <a:t>序列这类状态共有2</a:t>
            </a:r>
            <a:r>
              <a:rPr lang="en-US" altLang="zh-CN" b="1" baseline="30000">
                <a:solidFill>
                  <a:srgbClr val="1C1C1C"/>
                </a:solidFill>
              </a:rPr>
              <a:t>n-1</a:t>
            </a:r>
            <a:r>
              <a:rPr lang="en-US" altLang="zh-CN" b="1">
                <a:solidFill>
                  <a:srgbClr val="1C1C1C"/>
                </a:solidFill>
              </a:rPr>
              <a:t>-1</a:t>
            </a:r>
            <a:r>
              <a:rPr lang="zh-CN" altLang="en-US" b="1">
                <a:solidFill>
                  <a:srgbClr val="1C1C1C"/>
                </a:solidFill>
              </a:rPr>
              <a:t>个（因为不</a:t>
            </a:r>
            <a:r>
              <a:rPr lang="en-US" altLang="zh-CN" b="1">
                <a:solidFill>
                  <a:srgbClr val="1C1C1C"/>
                </a:solidFill>
              </a:rPr>
              <a:t>					    </a:t>
            </a:r>
            <a:r>
              <a:rPr lang="zh-CN" altLang="en-US" b="1">
                <a:solidFill>
                  <a:srgbClr val="1C1C1C"/>
                </a:solidFill>
              </a:rPr>
              <a:t>能有全零状态），所以输出中</a:t>
            </a:r>
            <a:r>
              <a:rPr lang="en-US" altLang="zh-CN" b="1">
                <a:solidFill>
                  <a:srgbClr val="1C1C1C"/>
                </a:solidFill>
              </a:rPr>
              <a:t>0</a:t>
            </a:r>
            <a:r>
              <a:rPr lang="zh-CN" altLang="en-US" b="1">
                <a:solidFill>
                  <a:srgbClr val="1C1C1C"/>
                </a:solidFill>
              </a:rPr>
              <a:t>的个数</a:t>
            </a:r>
            <a:r>
              <a:rPr lang="en-US" altLang="zh-CN" b="1">
                <a:solidFill>
                  <a:srgbClr val="1C1C1C"/>
                </a:solidFill>
              </a:rPr>
              <a:t>					    </a:t>
            </a:r>
            <a:r>
              <a:rPr lang="zh-CN" altLang="en-US" b="1">
                <a:solidFill>
                  <a:srgbClr val="1C1C1C"/>
                </a:solidFill>
              </a:rPr>
              <a:t>为</a:t>
            </a:r>
            <a:r>
              <a:rPr lang="zh-CN" altLang="en-US" b="1">
                <a:solidFill>
                  <a:srgbClr val="FF0000"/>
                </a:solidFill>
              </a:rPr>
              <a:t>2</a:t>
            </a:r>
            <a:r>
              <a:rPr lang="en-US" altLang="zh-CN" b="1" baseline="30000">
                <a:solidFill>
                  <a:srgbClr val="FF0000"/>
                </a:solidFill>
              </a:rPr>
              <a:t>n-1</a:t>
            </a:r>
            <a:r>
              <a:rPr lang="en-US" altLang="zh-CN" b="1">
                <a:solidFill>
                  <a:srgbClr val="FF0000"/>
                </a:solidFill>
              </a:rPr>
              <a:t>-1</a:t>
            </a:r>
            <a:r>
              <a:rPr lang="zh-CN" altLang="en-US" b="1">
                <a:solidFill>
                  <a:srgbClr val="000000"/>
                </a:solidFill>
              </a:rPr>
              <a:t>个</a:t>
            </a:r>
            <a:r>
              <a:rPr lang="zh-CN" altLang="en-US" b="1">
                <a:solidFill>
                  <a:srgbClr val="FF0000"/>
                </a:solidFill>
              </a:rPr>
              <a:t>。</a:t>
            </a:r>
          </a:p>
          <a:p>
            <a:pPr indent="-6350"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endParaRPr lang="zh-CN" altLang="en-US" b="1">
              <a:solidFill>
                <a:srgbClr val="FF0000"/>
              </a:solidFill>
            </a:endParaRPr>
          </a:p>
        </p:txBody>
      </p:sp>
      <p:pic>
        <p:nvPicPr>
          <p:cNvPr id="179204" name="Picture 3" descr="xd14">
            <a:extLst>
              <a:ext uri="{FF2B5EF4-FFF2-40B4-BE49-F238E27FC236}">
                <a16:creationId xmlns:a16="http://schemas.microsoft.com/office/drawing/2014/main" id="{84035761-21CD-42F8-8D73-90099D46A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124200"/>
            <a:ext cx="521017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5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5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5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5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5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5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5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5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5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5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5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5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48DEC7-EAE6-4C58-976E-320DA1115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定理</a:t>
            </a:r>
            <a:r>
              <a:rPr lang="en-US" altLang="zh-CN" b="1" dirty="0"/>
              <a:t>3.7</a:t>
            </a:r>
            <a:r>
              <a:rPr lang="zh-CN" altLang="en-US" b="1" dirty="0"/>
              <a:t>的证明（续）</a:t>
            </a:r>
          </a:p>
        </p:txBody>
      </p:sp>
      <p:sp>
        <p:nvSpPr>
          <p:cNvPr id="495618" name="Rectangle 2">
            <a:extLst>
              <a:ext uri="{FF2B5EF4-FFF2-40B4-BE49-F238E27FC236}">
                <a16:creationId xmlns:a16="http://schemas.microsoft.com/office/drawing/2014/main" id="{40520A85-487C-4E5A-A452-29B2964E1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 indent="-6350"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b="1" dirty="0"/>
              <a:t>证明： </a:t>
            </a:r>
            <a:endParaRPr lang="en-US" altLang="zh-CN" b="1" dirty="0"/>
          </a:p>
          <a:p>
            <a:pPr indent="-6350"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b="1" dirty="0"/>
              <a:t>② 对</a:t>
            </a:r>
            <a:r>
              <a:rPr lang="en-US" altLang="zh-CN" b="1" dirty="0"/>
              <a:t>n=1,2，</a:t>
            </a:r>
            <a:r>
              <a:rPr lang="zh-CN" altLang="en-US" b="1" dirty="0"/>
              <a:t>易证结论成立。</a:t>
            </a:r>
          </a:p>
          <a:p>
            <a:pPr indent="-6350"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b="1" dirty="0"/>
              <a:t>对</a:t>
            </a:r>
            <a:r>
              <a:rPr lang="en-US" altLang="zh-CN" b="1" dirty="0"/>
              <a:t>n&gt;2，</a:t>
            </a:r>
            <a:r>
              <a:rPr lang="zh-CN" altLang="en-US" b="1" dirty="0"/>
              <a:t>当1≤</a:t>
            </a:r>
            <a:r>
              <a:rPr lang="en-US" altLang="zh-CN" b="1" dirty="0"/>
              <a:t>i≤n-2</a:t>
            </a:r>
            <a:r>
              <a:rPr lang="zh-CN" altLang="en-US" b="1" dirty="0"/>
              <a:t>时，</a:t>
            </a:r>
            <a:r>
              <a:rPr lang="en-US" altLang="zh-CN" b="1" dirty="0"/>
              <a:t>n</a:t>
            </a:r>
            <a:r>
              <a:rPr lang="zh-CN" altLang="en-US" b="1" dirty="0"/>
              <a:t>长</a:t>
            </a:r>
            <a:r>
              <a:rPr lang="en-US" altLang="zh-CN" b="1" dirty="0"/>
              <a:t>m</a:t>
            </a:r>
            <a:r>
              <a:rPr lang="zh-CN" altLang="en-US" b="1" dirty="0"/>
              <a:t>序列的一个周期内，长为</a:t>
            </a:r>
            <a:r>
              <a:rPr lang="en-US" altLang="zh-CN" b="1" dirty="0" err="1">
                <a:solidFill>
                  <a:srgbClr val="FF0000"/>
                </a:solidFill>
              </a:rPr>
              <a:t>i</a:t>
            </a:r>
            <a:r>
              <a:rPr lang="zh-CN" altLang="en-US" b="1" dirty="0">
                <a:solidFill>
                  <a:srgbClr val="FF0000"/>
                </a:solidFill>
              </a:rPr>
              <a:t>的0游程</a:t>
            </a:r>
            <a:r>
              <a:rPr lang="zh-CN" altLang="en-US" b="1" dirty="0"/>
              <a:t>数目等于序列中如下形式的状态数目：</a:t>
            </a:r>
            <a:endParaRPr lang="en-US" altLang="zh-CN" b="1" dirty="0"/>
          </a:p>
          <a:p>
            <a:pPr indent="-6350"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100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  <a:r>
              <a:rPr lang="zh-CN" altLang="en-US" b="1" dirty="0">
                <a:solidFill>
                  <a:srgbClr val="FF0000"/>
                </a:solidFill>
              </a:rPr>
              <a:t>01*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  <a:r>
              <a:rPr lang="zh-CN" altLang="en-US" b="1" dirty="0">
                <a:solidFill>
                  <a:srgbClr val="FF0000"/>
                </a:solidFill>
              </a:rPr>
              <a:t> *</a:t>
            </a:r>
            <a:r>
              <a:rPr lang="zh-CN" altLang="en-US" b="1" dirty="0"/>
              <a:t>，其中</a:t>
            </a:r>
            <a:r>
              <a:rPr lang="en-US" altLang="zh-CN" b="1" dirty="0"/>
              <a:t>n-i-2</a:t>
            </a:r>
            <a:r>
              <a:rPr lang="zh-CN" altLang="en-US" b="1" dirty="0"/>
              <a:t>个*可任取0或1。这种状态共有2</a:t>
            </a:r>
            <a:r>
              <a:rPr lang="en-US" altLang="zh-CN" b="1" baseline="30000" dirty="0"/>
              <a:t>n-i-2</a:t>
            </a:r>
            <a:r>
              <a:rPr lang="zh-CN" altLang="en-US" b="1" dirty="0"/>
              <a:t>个。</a:t>
            </a:r>
            <a:endParaRPr lang="en-US" altLang="zh-CN" b="1" dirty="0"/>
          </a:p>
          <a:p>
            <a:pPr indent="-6350" eaLnBrk="1" hangingPunct="1">
              <a:lnSpc>
                <a:spcPct val="125000"/>
              </a:lnSpc>
              <a:buFont typeface="Arial" panose="020B0604020202020204" pitchFamily="34" charset="0"/>
              <a:buNone/>
            </a:pPr>
            <a:r>
              <a:rPr lang="zh-CN" altLang="en-US" b="1" dirty="0"/>
              <a:t>同理可得长为</a:t>
            </a:r>
            <a:r>
              <a:rPr lang="en-US" altLang="zh-CN" b="1" dirty="0" err="1"/>
              <a:t>i</a:t>
            </a:r>
            <a:r>
              <a:rPr lang="zh-CN" altLang="en-US" b="1" dirty="0"/>
              <a:t>的1游程数目也等于 2</a:t>
            </a:r>
            <a:r>
              <a:rPr lang="en-US" altLang="zh-CN" b="1" baseline="30000" dirty="0"/>
              <a:t>n-i-2</a:t>
            </a:r>
            <a:r>
              <a:rPr lang="en-US" altLang="zh-CN" b="1" dirty="0"/>
              <a:t>，</a:t>
            </a:r>
            <a:r>
              <a:rPr lang="zh-CN" altLang="en-US" b="1" dirty="0"/>
              <a:t>所以长为</a:t>
            </a:r>
            <a:r>
              <a:rPr lang="en-US" altLang="zh-CN" b="1" dirty="0" err="1"/>
              <a:t>i</a:t>
            </a:r>
            <a:r>
              <a:rPr lang="zh-CN" altLang="en-US" b="1" dirty="0"/>
              <a:t>的游程总数为2</a:t>
            </a:r>
            <a:r>
              <a:rPr lang="en-US" altLang="zh-CN" b="1" baseline="30000" dirty="0"/>
              <a:t>n-i-1</a:t>
            </a:r>
            <a:r>
              <a:rPr lang="en-US" altLang="zh-CN" b="1" dirty="0"/>
              <a:t>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5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5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5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5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95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95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95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5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5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5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EF17A5-1CB3-4779-AB57-991CDAD46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定理</a:t>
            </a:r>
            <a:r>
              <a:rPr lang="en-US" altLang="zh-CN" b="1" dirty="0"/>
              <a:t>3.7</a:t>
            </a:r>
            <a:r>
              <a:rPr lang="zh-CN" altLang="en-US" b="1" dirty="0"/>
              <a:t>的证明（续）</a:t>
            </a:r>
          </a:p>
        </p:txBody>
      </p:sp>
      <p:sp>
        <p:nvSpPr>
          <p:cNvPr id="183299" name="Rectangle 2">
            <a:extLst>
              <a:ext uri="{FF2B5EF4-FFF2-40B4-BE49-F238E27FC236}">
                <a16:creationId xmlns:a16="http://schemas.microsoft.com/office/drawing/2014/main" id="{A834BDB5-049C-4B9C-89C9-8D643F0AA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/>
              <a:t>由于寄存器中不会出现全0状态，所以不会出现</a:t>
            </a:r>
            <a:r>
              <a:rPr lang="en-US" altLang="zh-CN" b="1" dirty="0"/>
              <a:t>n</a:t>
            </a:r>
            <a:r>
              <a:rPr lang="zh-CN" altLang="en-US" b="1" dirty="0"/>
              <a:t>长的</a:t>
            </a:r>
            <a:r>
              <a:rPr lang="en-US" altLang="zh-CN" b="1" dirty="0"/>
              <a:t>0</a:t>
            </a:r>
            <a:r>
              <a:rPr lang="zh-CN" altLang="en-US" b="1" dirty="0"/>
              <a:t>游程，但必有一个</a:t>
            </a:r>
            <a:r>
              <a:rPr lang="en-US" altLang="zh-CN" b="1" dirty="0"/>
              <a:t>n</a:t>
            </a:r>
            <a:r>
              <a:rPr lang="zh-CN" altLang="en-US" b="1" dirty="0"/>
              <a:t>长的</a:t>
            </a:r>
            <a:r>
              <a:rPr lang="en-US" altLang="zh-CN" b="1" dirty="0"/>
              <a:t>1</a:t>
            </a:r>
            <a:r>
              <a:rPr lang="zh-CN" altLang="en-US" b="1" dirty="0"/>
              <a:t>游程，而且1的游程不会更大，因为若出现</a:t>
            </a:r>
            <a:r>
              <a:rPr lang="en-US" altLang="zh-CN" b="1" dirty="0"/>
              <a:t>n+</a:t>
            </a:r>
            <a:r>
              <a:rPr lang="zh-CN" altLang="en-US" b="1" dirty="0"/>
              <a:t>1长的</a:t>
            </a:r>
            <a:r>
              <a:rPr lang="en-US" altLang="zh-CN" b="1" dirty="0"/>
              <a:t>1</a:t>
            </a:r>
            <a:r>
              <a:rPr lang="zh-CN" altLang="en-US" b="1" dirty="0"/>
              <a:t>游程，就必然有两个相邻的全1状态，但这是不可能的。这就证明了</a:t>
            </a:r>
            <a:r>
              <a:rPr lang="en-US" altLang="zh-CN" b="1" dirty="0"/>
              <a:t>n</a:t>
            </a:r>
            <a:r>
              <a:rPr lang="zh-CN" altLang="en-US" b="1" dirty="0"/>
              <a:t>长的</a:t>
            </a:r>
            <a:r>
              <a:rPr lang="en-US" altLang="zh-CN" b="1" dirty="0"/>
              <a:t>1</a:t>
            </a:r>
            <a:r>
              <a:rPr lang="zh-CN" altLang="en-US" b="1" dirty="0"/>
              <a:t>游程必然出现在如下的串中：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zh-CN" altLang="en-US" b="1" dirty="0"/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b="1" dirty="0"/>
              <a:t>                           n</a:t>
            </a:r>
            <a:r>
              <a:rPr lang="zh-CN" altLang="en-US" b="1" dirty="0"/>
              <a:t>个</a:t>
            </a:r>
            <a:r>
              <a:rPr lang="en-US" altLang="zh-CN" b="1" dirty="0"/>
              <a:t>1</a:t>
            </a:r>
            <a:endParaRPr lang="zh-CN" altLang="en-US" b="1" dirty="0"/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/>
              <a:t>当这</a:t>
            </a:r>
            <a:r>
              <a:rPr lang="en-US" altLang="zh-CN" b="1" dirty="0"/>
              <a:t>n+2</a:t>
            </a:r>
            <a:r>
              <a:rPr lang="zh-CN" altLang="en-US" b="1" dirty="0"/>
              <a:t>位通过移位寄存器时，便依次产生以下状态：</a:t>
            </a:r>
            <a:endParaRPr lang="en-US" altLang="zh-CN" b="1" dirty="0"/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b="1" i="1" dirty="0"/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b="1" dirty="0"/>
              <a:t>                n-1</a:t>
            </a:r>
            <a:r>
              <a:rPr lang="zh-CN" altLang="en-US" b="1" dirty="0"/>
              <a:t>个</a:t>
            </a:r>
            <a:r>
              <a:rPr lang="en-US" altLang="zh-CN" b="1" dirty="0"/>
              <a:t>1      n</a:t>
            </a:r>
            <a:r>
              <a:rPr lang="zh-CN" altLang="en-US" b="1" dirty="0"/>
              <a:t>个</a:t>
            </a:r>
            <a:r>
              <a:rPr lang="en-US" altLang="zh-CN" b="1" dirty="0"/>
              <a:t>1      n-1</a:t>
            </a:r>
            <a:r>
              <a:rPr lang="zh-CN" altLang="en-US" b="1" dirty="0"/>
              <a:t>个</a:t>
            </a:r>
            <a:r>
              <a:rPr lang="en-US" altLang="zh-CN" b="1" dirty="0"/>
              <a:t>1</a:t>
            </a:r>
            <a:endParaRPr lang="zh-CN" altLang="en-US" b="1" dirty="0"/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 dirty="0"/>
              <a:t> 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endParaRPr lang="zh-CN" altLang="en-US" b="1" dirty="0"/>
          </a:p>
        </p:txBody>
      </p:sp>
      <p:graphicFrame>
        <p:nvGraphicFramePr>
          <p:cNvPr id="183300" name="对象 2">
            <a:extLst>
              <a:ext uri="{FF2B5EF4-FFF2-40B4-BE49-F238E27FC236}">
                <a16:creationId xmlns:a16="http://schemas.microsoft.com/office/drawing/2014/main" id="{B734C916-7A06-4C70-A0EC-6854729249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6938" y="2916238"/>
          <a:ext cx="1820862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508" name="Formula" r:id="rId4" imgW="577850" imgH="210820" progId="Equation.Ribbit">
                  <p:embed/>
                </p:oleObj>
              </mc:Choice>
              <mc:Fallback>
                <p:oleObj name="Formula" r:id="rId4" imgW="577850" imgH="210820" progId="Equation.Ribbit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6938" y="2916238"/>
                        <a:ext cx="1820862" cy="665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1" name="对象 3">
            <a:extLst>
              <a:ext uri="{FF2B5EF4-FFF2-40B4-BE49-F238E27FC236}">
                <a16:creationId xmlns:a16="http://schemas.microsoft.com/office/drawing/2014/main" id="{3E2678AD-3B4A-4427-ADCF-BD9F2A5D6F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0100" y="4829175"/>
          <a:ext cx="130492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509" name="Formula" r:id="rId6" imgW="488950" imgH="210820" progId="Equation.Ribbit">
                  <p:embed/>
                </p:oleObj>
              </mc:Choice>
              <mc:Fallback>
                <p:oleObj name="Formula" r:id="rId6" imgW="488950" imgH="210820" progId="Equation.Ribbit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0100" y="4829175"/>
                        <a:ext cx="130492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2" name="对象 9">
            <a:extLst>
              <a:ext uri="{FF2B5EF4-FFF2-40B4-BE49-F238E27FC236}">
                <a16:creationId xmlns:a16="http://schemas.microsoft.com/office/drawing/2014/main" id="{FE4917B0-811E-42F0-AC1F-64500E7B44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0175" y="4808538"/>
          <a:ext cx="1062038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510" name="Formula" r:id="rId8" imgW="399335" imgH="209841" progId="Equation.Ribbit">
                  <p:embed/>
                </p:oleObj>
              </mc:Choice>
              <mc:Fallback>
                <p:oleObj name="Formula" r:id="rId8" imgW="399335" imgH="209841" progId="Equation.Ribbit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0175" y="4808538"/>
                        <a:ext cx="1062038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3303" name="对象 10">
            <a:extLst>
              <a:ext uri="{FF2B5EF4-FFF2-40B4-BE49-F238E27FC236}">
                <a16:creationId xmlns:a16="http://schemas.microsoft.com/office/drawing/2014/main" id="{E863A4FD-EEEA-4A1C-A95A-677BDB573C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6413" y="4829175"/>
          <a:ext cx="130016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3511" name="Formula" r:id="rId10" imgW="486410" imgH="210820" progId="Equation.Ribbit">
                  <p:embed/>
                </p:oleObj>
              </mc:Choice>
              <mc:Fallback>
                <p:oleObj name="Formula" r:id="rId10" imgW="486410" imgH="210820" progId="Equation.Ribbit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6413" y="4829175"/>
                        <a:ext cx="1300162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6CB44E-966A-4132-8B1A-4BCD17822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latin typeface="+mn-lt"/>
                <a:ea typeface="+mn-ea"/>
              </a:rPr>
              <a:t>定理</a:t>
            </a:r>
            <a:r>
              <a:rPr lang="en-US" altLang="zh-CN" dirty="0">
                <a:latin typeface="+mn-lt"/>
                <a:ea typeface="+mn-ea"/>
              </a:rPr>
              <a:t>3.7</a:t>
            </a:r>
            <a:r>
              <a:rPr lang="zh-CN" altLang="en-US" dirty="0">
                <a:latin typeface="+mn-lt"/>
                <a:ea typeface="+mn-ea"/>
              </a:rPr>
              <a:t>的证明（续）</a:t>
            </a: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786726A3-5B6D-453E-9D45-4267F4952A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3913" y="1592263"/>
            <a:ext cx="10515600" cy="4579937"/>
          </a:xfrm>
        </p:spPr>
        <p:txBody>
          <a:bodyPr/>
          <a:lstStyle/>
          <a:p>
            <a:pPr indent="-6350" eaLnBrk="1" hangingPunct="1">
              <a:lnSpc>
                <a:spcPct val="130000"/>
              </a:lnSpc>
              <a:buFont typeface="Arial" panose="020B0604020202020204" pitchFamily="34" charset="0"/>
              <a:buNone/>
              <a:defRPr/>
            </a:pPr>
            <a:r>
              <a:rPr lang="zh-CN" altLang="en-US" dirty="0">
                <a:latin typeface="+mn-lt"/>
                <a:ea typeface="+mn-ea"/>
              </a:rPr>
              <a:t>由于         </a:t>
            </a:r>
            <a:r>
              <a:rPr lang="en-US" altLang="zh-CN" b="1" dirty="0"/>
              <a:t>n-1</a:t>
            </a:r>
            <a:r>
              <a:rPr lang="zh-CN" altLang="en-US" b="1" dirty="0"/>
              <a:t>个</a:t>
            </a:r>
            <a:r>
              <a:rPr lang="en-US" altLang="zh-CN" b="1" dirty="0"/>
              <a:t>1</a:t>
            </a:r>
            <a:r>
              <a:rPr lang="zh-CN" altLang="en-US" dirty="0">
                <a:latin typeface="+mn-lt"/>
                <a:ea typeface="+mn-ea"/>
              </a:rPr>
              <a:t>     ，     </a:t>
            </a:r>
            <a:r>
              <a:rPr lang="en-US" altLang="zh-CN" b="1" dirty="0"/>
              <a:t>n-1</a:t>
            </a:r>
            <a:r>
              <a:rPr lang="zh-CN" altLang="en-US" b="1" dirty="0"/>
              <a:t>个</a:t>
            </a:r>
            <a:r>
              <a:rPr lang="en-US" altLang="zh-CN" b="1" dirty="0"/>
              <a:t>1</a:t>
            </a:r>
            <a:r>
              <a:rPr lang="zh-CN" altLang="en-US" dirty="0">
                <a:latin typeface="+mn-lt"/>
                <a:ea typeface="+mn-ea"/>
              </a:rPr>
              <a:t>     这两个状态只能各出现一次，所以不会再有1的</a:t>
            </a:r>
            <a:r>
              <a:rPr lang="en-US" altLang="zh-CN" dirty="0">
                <a:latin typeface="+mn-lt"/>
                <a:ea typeface="+mn-ea"/>
              </a:rPr>
              <a:t>n-1</a:t>
            </a:r>
            <a:r>
              <a:rPr lang="zh-CN" altLang="en-US" dirty="0">
                <a:latin typeface="+mn-lt"/>
                <a:ea typeface="+mn-ea"/>
              </a:rPr>
              <a:t>游程。</a:t>
            </a:r>
            <a:endParaRPr lang="en-US" altLang="zh-CN" dirty="0">
              <a:latin typeface="+mn-lt"/>
              <a:ea typeface="+mn-ea"/>
            </a:endParaRPr>
          </a:p>
          <a:p>
            <a:pPr indent="-6350" eaLnBrk="1" hangingPunct="1">
              <a:lnSpc>
                <a:spcPct val="130000"/>
              </a:lnSpc>
              <a:buFont typeface="Arial" panose="020B0604020202020204" pitchFamily="34" charset="0"/>
              <a:buNone/>
              <a:defRPr/>
            </a:pPr>
            <a:endParaRPr lang="en-US" altLang="zh-CN" dirty="0">
              <a:latin typeface="+mn-lt"/>
              <a:ea typeface="+mn-ea"/>
            </a:endParaRPr>
          </a:p>
          <a:p>
            <a:pPr indent="-6350" eaLnBrk="1" hangingPunct="1">
              <a:lnSpc>
                <a:spcPct val="130000"/>
              </a:lnSpc>
              <a:buFont typeface="Arial" panose="020B0604020202020204" pitchFamily="34" charset="0"/>
              <a:buNone/>
              <a:defRPr/>
            </a:pPr>
            <a:r>
              <a:rPr lang="en-US" altLang="zh-CN" dirty="0">
                <a:latin typeface="+mn-lt"/>
                <a:ea typeface="+mn-ea"/>
              </a:rPr>
              <a:t>                                                   </a:t>
            </a:r>
            <a:r>
              <a:rPr lang="en-US" altLang="zh-CN" b="1" dirty="0"/>
              <a:t>n-1</a:t>
            </a:r>
            <a:r>
              <a:rPr lang="zh-CN" altLang="en-US" b="1" dirty="0"/>
              <a:t>个</a:t>
            </a:r>
            <a:r>
              <a:rPr lang="en-US" altLang="zh-CN" b="1" dirty="0"/>
              <a:t>1</a:t>
            </a:r>
            <a:endParaRPr lang="zh-CN" altLang="en-US" dirty="0">
              <a:latin typeface="+mn-lt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5348" name="Object 5">
                <a:extLst>
                  <a:ext uri="{FF2B5EF4-FFF2-40B4-BE49-F238E27FC236}">
                    <a16:creationId xmlns:a16="http://schemas.microsoft.com/office/drawing/2014/main" id="{7A36A1DB-EB1A-4972-A5CA-691C9A0EE808}"/>
                  </a:ext>
                </a:extLst>
              </p:cNvPr>
              <p:cNvSpPr txBox="1"/>
              <p:nvPr/>
            </p:nvSpPr>
            <p:spPr bwMode="auto">
              <a:xfrm>
                <a:off x="4267200" y="4800600"/>
                <a:ext cx="2895600" cy="985838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1+1+</m:t>
                      </m:r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nary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85348" name="Object 5">
                <a:extLst>
                  <a:ext uri="{FF2B5EF4-FFF2-40B4-BE49-F238E27FC236}">
                    <a16:creationId xmlns:a16="http://schemas.microsoft.com/office/drawing/2014/main" id="{7A36A1DB-EB1A-4972-A5CA-691C9A0EE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7200" y="4800600"/>
                <a:ext cx="2895600" cy="9858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047" name="Text Box 6">
            <a:extLst>
              <a:ext uri="{FF2B5EF4-FFF2-40B4-BE49-F238E27FC236}">
                <a16:creationId xmlns:a16="http://schemas.microsoft.com/office/drawing/2014/main" id="{EBEACC96-C119-450B-8DF9-D584E8C8A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5850" y="4224338"/>
            <a:ext cx="6324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2400" dirty="0">
                <a:latin typeface="+mn-lt"/>
                <a:ea typeface="+mn-ea"/>
              </a:rPr>
              <a:t>于是在一个周期内，总游程数为</a:t>
            </a:r>
          </a:p>
        </p:txBody>
      </p:sp>
      <p:sp>
        <p:nvSpPr>
          <p:cNvPr id="87048" name="Text Box 7">
            <a:extLst>
              <a:ext uri="{FF2B5EF4-FFF2-40B4-BE49-F238E27FC236}">
                <a16:creationId xmlns:a16="http://schemas.microsoft.com/office/drawing/2014/main" id="{3CD6893F-5280-463F-B09E-D5ABDB4D0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362200"/>
            <a:ext cx="670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endParaRPr lang="zh-CN" altLang="en-US" sz="2400" b="0">
              <a:latin typeface="+mn-lt"/>
              <a:ea typeface="+mn-ea"/>
            </a:endParaRPr>
          </a:p>
        </p:txBody>
      </p:sp>
      <p:sp>
        <p:nvSpPr>
          <p:cNvPr id="87049" name="Text Box 8">
            <a:extLst>
              <a:ext uri="{FF2B5EF4-FFF2-40B4-BE49-F238E27FC236}">
                <a16:creationId xmlns:a16="http://schemas.microsoft.com/office/drawing/2014/main" id="{4D6BD70C-0585-4CA1-8D76-2E50FDDCA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0" y="2870200"/>
            <a:ext cx="3962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2400" dirty="0">
                <a:latin typeface="+mn-lt"/>
                <a:ea typeface="+mn-ea"/>
              </a:rPr>
              <a:t>0的</a:t>
            </a:r>
            <a:r>
              <a:rPr lang="en-US" altLang="zh-CN" sz="2400" dirty="0">
                <a:latin typeface="+mn-lt"/>
                <a:ea typeface="+mn-ea"/>
              </a:rPr>
              <a:t>n-1</a:t>
            </a:r>
            <a:r>
              <a:rPr lang="zh-CN" altLang="en-US" sz="2400" dirty="0">
                <a:latin typeface="+mn-lt"/>
                <a:ea typeface="+mn-ea"/>
              </a:rPr>
              <a:t>游程只有一个:</a:t>
            </a:r>
          </a:p>
        </p:txBody>
      </p:sp>
      <p:graphicFrame>
        <p:nvGraphicFramePr>
          <p:cNvPr id="185352" name="对象 10">
            <a:extLst>
              <a:ext uri="{FF2B5EF4-FFF2-40B4-BE49-F238E27FC236}">
                <a16:creationId xmlns:a16="http://schemas.microsoft.com/office/drawing/2014/main" id="{8D5AE7EE-36B6-4731-9787-2F4AFE5519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1131888"/>
          <a:ext cx="130492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10" name="Formula" r:id="rId5" imgW="488950" imgH="210820" progId="Equation.Ribbit">
                  <p:embed/>
                </p:oleObj>
              </mc:Choice>
              <mc:Fallback>
                <p:oleObj name="Formula" r:id="rId5" imgW="488950" imgH="210820" progId="Equation.Ribbit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131888"/>
                        <a:ext cx="130492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3" name="对象 11">
            <a:extLst>
              <a:ext uri="{FF2B5EF4-FFF2-40B4-BE49-F238E27FC236}">
                <a16:creationId xmlns:a16="http://schemas.microsoft.com/office/drawing/2014/main" id="{30F6536B-F819-4662-9195-58D76D92C0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48150" y="1171575"/>
          <a:ext cx="130016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11" name="Formula" r:id="rId7" imgW="486410" imgH="210820" progId="Equation.Ribbit">
                  <p:embed/>
                </p:oleObj>
              </mc:Choice>
              <mc:Fallback>
                <p:oleObj name="Formula" r:id="rId7" imgW="486410" imgH="210820" progId="Equation.Ribbit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8150" y="1171575"/>
                        <a:ext cx="130016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54" name="对象 12">
            <a:extLst>
              <a:ext uri="{FF2B5EF4-FFF2-40B4-BE49-F238E27FC236}">
                <a16:creationId xmlns:a16="http://schemas.microsoft.com/office/drawing/2014/main" id="{23E95BEA-FBDA-4C7C-BEAD-FEE3552863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79950" y="2895600"/>
          <a:ext cx="150336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12" name="Formula" r:id="rId9" imgW="563880" imgH="210820" progId="Equation.Ribbit">
                  <p:embed/>
                </p:oleObj>
              </mc:Choice>
              <mc:Fallback>
                <p:oleObj name="Formula" r:id="rId9" imgW="563880" imgH="210820" progId="Equation.Ribbit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9950" y="2895600"/>
                        <a:ext cx="150336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标题 1">
            <a:extLst>
              <a:ext uri="{FF2B5EF4-FFF2-40B4-BE49-F238E27FC236}">
                <a16:creationId xmlns:a16="http://schemas.microsoft.com/office/drawing/2014/main" id="{9D73988A-6D0D-4D60-90B4-4ABAAF5807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r>
              <a:rPr lang="zh-CN" altLang="en-US" b="1" dirty="0">
                <a:solidFill>
                  <a:srgbClr val="1F4E79"/>
                </a:solidFill>
              </a:rPr>
              <a:t>定理</a:t>
            </a:r>
            <a:r>
              <a:rPr lang="en-US" altLang="zh-CN" b="1" dirty="0">
                <a:solidFill>
                  <a:srgbClr val="1F4E79"/>
                </a:solidFill>
              </a:rPr>
              <a:t>3.7</a:t>
            </a:r>
            <a:r>
              <a:rPr lang="zh-CN" altLang="en-US" b="1" dirty="0">
                <a:solidFill>
                  <a:srgbClr val="1F4E79"/>
                </a:solidFill>
              </a:rPr>
              <a:t>的证明（续）</a:t>
            </a:r>
          </a:p>
        </p:txBody>
      </p:sp>
      <p:sp>
        <p:nvSpPr>
          <p:cNvPr id="501762" name="Rectangle 2">
            <a:extLst>
              <a:ext uri="{FF2B5EF4-FFF2-40B4-BE49-F238E27FC236}">
                <a16:creationId xmlns:a16="http://schemas.microsoft.com/office/drawing/2014/main" id="{337ECFE4-6F9B-40EB-B98C-BB6EC0BB77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25488" y="1116013"/>
            <a:ext cx="10515600" cy="4579937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latin typeface="Times New Roman" panose="02020603050405020304" pitchFamily="18" charset="0"/>
              </a:rPr>
              <a:t>③ 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latin typeface="Times New Roman" panose="02020603050405020304" pitchFamily="18" charset="0"/>
              </a:rPr>
              <a:t>是周期为2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-1</a:t>
            </a:r>
            <a:r>
              <a:rPr lang="zh-CN" altLang="en-US" b="1" dirty="0">
                <a:latin typeface="Times New Roman" panose="02020603050405020304" pitchFamily="18" charset="0"/>
              </a:rPr>
              <a:t>的</a:t>
            </a:r>
            <a:r>
              <a:rPr lang="en-US" altLang="zh-CN" b="1" i="1" dirty="0">
                <a:latin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</a:rPr>
              <a:t>序列，对于任一正整数</a:t>
            </a:r>
            <a:r>
              <a:rPr lang="en-US" altLang="zh-CN" b="1" dirty="0">
                <a:latin typeface="Times New Roman" panose="02020603050405020304" pitchFamily="18" charset="0"/>
              </a:rPr>
              <a:t>t(0&lt;t&lt;2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-1)，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{</a:t>
            </a:r>
            <a:r>
              <a:rPr lang="en-US" altLang="zh-CN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}+{</a:t>
            </a:r>
            <a:r>
              <a:rPr lang="en-US" altLang="zh-CN" b="1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i+t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latin typeface="Times New Roman" panose="02020603050405020304" pitchFamily="18" charset="0"/>
              </a:rPr>
              <a:t>在一个周期内为0的位数正好是序列{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latin typeface="Times New Roman" panose="02020603050405020304" pitchFamily="18" charset="0"/>
              </a:rPr>
              <a:t>和{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 err="1">
                <a:latin typeface="Times New Roman" panose="02020603050405020304" pitchFamily="18" charset="0"/>
              </a:rPr>
              <a:t>i+τ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latin typeface="Times New Roman" panose="02020603050405020304" pitchFamily="18" charset="0"/>
              </a:rPr>
              <a:t>对应位相同的位数。设序列{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latin typeface="Times New Roman" panose="02020603050405020304" pitchFamily="18" charset="0"/>
              </a:rPr>
              <a:t>满足递推关系：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indent="-6350" algn="ctr" eaLnBrk="1" hangingPunct="1">
              <a:buFont typeface="Arial" panose="020B0604020202020204" pitchFamily="34" charset="0"/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501777" name="Object 17">
            <a:extLst>
              <a:ext uri="{FF2B5EF4-FFF2-40B4-BE49-F238E27FC236}">
                <a16:creationId xmlns:a16="http://schemas.microsoft.com/office/drawing/2014/main" id="{32C58ED7-CE40-4A33-B831-D92DF91E35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9824803"/>
              </p:ext>
            </p:extLst>
          </p:nvPr>
        </p:nvGraphicFramePr>
        <p:xfrm>
          <a:off x="800100" y="2438400"/>
          <a:ext cx="10366375" cy="267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22" r:id="rId4" imgW="80533875" imgH="20621625" progId="Equation.3">
                  <p:embed/>
                </p:oleObj>
              </mc:Choice>
              <mc:Fallback>
                <p:oleObj r:id="rId4" imgW="80533875" imgH="20621625" progId="Equation.3">
                  <p:embed/>
                  <p:pic>
                    <p:nvPicPr>
                      <p:cNvPr id="501777" name="Object 17">
                        <a:extLst>
                          <a:ext uri="{FF2B5EF4-FFF2-40B4-BE49-F238E27FC236}">
                            <a16:creationId xmlns:a16="http://schemas.microsoft.com/office/drawing/2014/main" id="{32C58ED7-CE40-4A33-B831-D92DF91E35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" y="2438400"/>
                        <a:ext cx="10366375" cy="2670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3" name="对象 2">
            <a:extLst>
              <a:ext uri="{FF2B5EF4-FFF2-40B4-BE49-F238E27FC236}">
                <a16:creationId xmlns:a16="http://schemas.microsoft.com/office/drawing/2014/main" id="{174D73BA-DDB9-4199-95A9-B8DDA188CD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819418"/>
              </p:ext>
            </p:extLst>
          </p:nvPr>
        </p:nvGraphicFramePr>
        <p:xfrm>
          <a:off x="779463" y="5105400"/>
          <a:ext cx="101155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23" r:id="rId6" imgW="26041350" imgH="2038350" progId="Equation.Ribbit">
                  <p:embed/>
                </p:oleObj>
              </mc:Choice>
              <mc:Fallback>
                <p:oleObj r:id="rId6" imgW="26041350" imgH="2038350" progId="Equation.Ribbit">
                  <p:embed/>
                  <p:pic>
                    <p:nvPicPr>
                      <p:cNvPr id="155653" name="对象 2">
                        <a:extLst>
                          <a:ext uri="{FF2B5EF4-FFF2-40B4-BE49-F238E27FC236}">
                            <a16:creationId xmlns:a16="http://schemas.microsoft.com/office/drawing/2014/main" id="{174D73BA-DDB9-4199-95A9-B8DDA188CD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463" y="5105400"/>
                        <a:ext cx="1011555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01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017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1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1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副标题 2">
            <a:extLst>
              <a:ext uri="{FF2B5EF4-FFF2-40B4-BE49-F238E27FC236}">
                <a16:creationId xmlns:a16="http://schemas.microsoft.com/office/drawing/2014/main" id="{4CF0D4D4-AC52-4F14-9F01-B0EF53C9BD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048000"/>
            <a:ext cx="12192000" cy="790575"/>
          </a:xfrm>
        </p:spPr>
        <p:txBody>
          <a:bodyPr/>
          <a:lstStyle/>
          <a:p>
            <a:r>
              <a:rPr lang="en-US" altLang="zh-CN" sz="3600" b="1"/>
              <a:t>m-</a:t>
            </a:r>
            <a:r>
              <a:rPr lang="zh-CN" altLang="en-US" sz="3600" b="1"/>
              <a:t>序列的安全性</a:t>
            </a:r>
            <a:endParaRPr lang="en-US" altLang="zh-CN" sz="3600" b="1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DCA35B7-B007-4863-AFEA-A7DD848BB4A4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random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0FDA753-2A53-4C4C-9584-80E64360C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en-US" altLang="zh-CN" b="1" dirty="0"/>
              <a:t>m-</a:t>
            </a:r>
            <a:r>
              <a:rPr lang="zh-CN" altLang="en-US" b="1" dirty="0"/>
              <a:t>序列的安全性</a:t>
            </a:r>
          </a:p>
        </p:txBody>
      </p:sp>
      <p:sp>
        <p:nvSpPr>
          <p:cNvPr id="76803" name="内容占位符 3">
            <a:extLst>
              <a:ext uri="{FF2B5EF4-FFF2-40B4-BE49-F238E27FC236}">
                <a16:creationId xmlns:a16="http://schemas.microsoft.com/office/drawing/2014/main" id="{FEA3C7BD-8D4F-4FC2-AF99-EA033FDB3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579938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800" b="1" dirty="0"/>
              <a:t>寻找</a:t>
            </a:r>
            <a:r>
              <a:rPr lang="en-US" altLang="zh-CN" sz="2800" b="1" dirty="0"/>
              <a:t>m</a:t>
            </a:r>
            <a:r>
              <a:rPr lang="zh-CN" altLang="en-US" sz="2800" b="1" dirty="0"/>
              <a:t>序列的递推关系式。</a:t>
            </a:r>
            <a:endParaRPr lang="en-US" altLang="zh-CN" sz="2800" b="1" dirty="0"/>
          </a:p>
          <a:p>
            <a:pPr lvl="1">
              <a:lnSpc>
                <a:spcPct val="130000"/>
              </a:lnSpc>
            </a:pPr>
            <a:r>
              <a:rPr lang="zh-CN" altLang="en-US" sz="2400" b="1" dirty="0"/>
              <a:t>已知一段序列，如果知道其反馈多项式，就可以将</a:t>
            </a:r>
            <a:r>
              <a:rPr lang="zh-CN" altLang="en-US" sz="2400" b="1" dirty="0">
                <a:solidFill>
                  <a:srgbClr val="FF0000"/>
                </a:solidFill>
              </a:rPr>
              <a:t>其后的序列</a:t>
            </a:r>
            <a:r>
              <a:rPr lang="zh-CN" altLang="en-US" sz="2400" b="1" dirty="0"/>
              <a:t>依次求出</a:t>
            </a:r>
            <a:endParaRPr lang="en-US" altLang="zh-CN" sz="2400" b="1" dirty="0"/>
          </a:p>
          <a:p>
            <a:pPr lvl="1">
              <a:lnSpc>
                <a:spcPct val="130000"/>
              </a:lnSpc>
            </a:pPr>
            <a:r>
              <a:rPr lang="zh-CN" altLang="en-US" sz="2400" b="1" dirty="0"/>
              <a:t>已知</a:t>
            </a:r>
            <a:r>
              <a:rPr lang="zh-CN" altLang="en-US" sz="2400" b="1" dirty="0">
                <a:solidFill>
                  <a:srgbClr val="FF0000"/>
                </a:solidFill>
              </a:rPr>
              <a:t>序列</a:t>
            </a:r>
            <a:r>
              <a:rPr lang="zh-CN" altLang="en-US" sz="2400" b="1" dirty="0"/>
              <a:t>能否获得相应的</a:t>
            </a:r>
            <a:r>
              <a:rPr lang="zh-CN" altLang="en-US" sz="2400" b="1" dirty="0">
                <a:solidFill>
                  <a:schemeClr val="accent2"/>
                </a:solidFill>
              </a:rPr>
              <a:t>反馈多项式</a:t>
            </a:r>
            <a:r>
              <a:rPr lang="en-US" altLang="zh-CN" sz="2400" b="1" dirty="0">
                <a:solidFill>
                  <a:schemeClr val="accent2"/>
                </a:solidFill>
              </a:rPr>
              <a:t>(</a:t>
            </a:r>
            <a:r>
              <a:rPr lang="zh-CN" altLang="en-US" sz="2400" b="1" dirty="0">
                <a:solidFill>
                  <a:schemeClr val="accent2"/>
                </a:solidFill>
              </a:rPr>
              <a:t>或线性递推式</a:t>
            </a:r>
            <a:r>
              <a:rPr lang="en-US" altLang="zh-CN" sz="2400" b="1" dirty="0">
                <a:solidFill>
                  <a:schemeClr val="accent2"/>
                </a:solidFill>
              </a:rPr>
              <a:t>)</a:t>
            </a:r>
            <a:r>
              <a:rPr lang="zh-CN" altLang="en-US" sz="2400" b="1" dirty="0"/>
              <a:t>呢？</a:t>
            </a:r>
            <a:endParaRPr lang="en-US" altLang="zh-CN" sz="2400" b="1" dirty="0"/>
          </a:p>
          <a:p>
            <a:pPr lvl="2">
              <a:lnSpc>
                <a:spcPct val="130000"/>
              </a:lnSpc>
            </a:pPr>
            <a:r>
              <a:rPr lang="zh-CN" altLang="en-US" sz="2200" dirty="0"/>
              <a:t>解方程方法</a:t>
            </a:r>
            <a:r>
              <a:rPr lang="en-US" altLang="zh-CN" sz="2200" dirty="0"/>
              <a:t>——</a:t>
            </a:r>
            <a:r>
              <a:rPr lang="zh-CN" altLang="en-US" sz="2200" dirty="0"/>
              <a:t>已知序列</a:t>
            </a:r>
            <a:r>
              <a:rPr lang="en-US" altLang="zh-CN" sz="2200" dirty="0"/>
              <a:t>{</a:t>
            </a:r>
            <a:r>
              <a:rPr lang="en-US" altLang="zh-CN" sz="2200" i="1" dirty="0"/>
              <a:t>a</a:t>
            </a:r>
            <a:r>
              <a:rPr lang="en-US" altLang="zh-CN" sz="2200" baseline="-25000" dirty="0"/>
              <a:t>i</a:t>
            </a:r>
            <a:r>
              <a:rPr lang="en-US" altLang="zh-CN" sz="2200" dirty="0"/>
              <a:t>}</a:t>
            </a:r>
            <a:r>
              <a:rPr lang="zh-CN" altLang="en-US" sz="2200" dirty="0"/>
              <a:t>是由</a:t>
            </a:r>
            <a:r>
              <a:rPr lang="en-US" altLang="zh-CN" sz="2200" dirty="0">
                <a:solidFill>
                  <a:srgbClr val="FF0000"/>
                </a:solidFill>
              </a:rPr>
              <a:t>n </a:t>
            </a:r>
            <a:r>
              <a:rPr lang="zh-CN" altLang="en-US" sz="2200" dirty="0">
                <a:solidFill>
                  <a:srgbClr val="FF0000"/>
                </a:solidFill>
              </a:rPr>
              <a:t>级</a:t>
            </a:r>
            <a:r>
              <a:rPr lang="zh-CN" altLang="en-US" sz="2200" dirty="0"/>
              <a:t>线性移存器产生的，并且知道</a:t>
            </a:r>
            <a:r>
              <a:rPr lang="en-US" altLang="zh-CN" sz="2200" dirty="0"/>
              <a:t>{</a:t>
            </a:r>
            <a:r>
              <a:rPr lang="en-US" altLang="zh-CN" sz="2200" i="1" dirty="0"/>
              <a:t>a</a:t>
            </a:r>
            <a:r>
              <a:rPr lang="en-US" altLang="zh-CN" sz="2200" baseline="-25000" dirty="0"/>
              <a:t>i</a:t>
            </a:r>
            <a:r>
              <a:rPr lang="en-US" altLang="zh-CN" sz="2200" dirty="0"/>
              <a:t>}</a:t>
            </a:r>
            <a:r>
              <a:rPr lang="zh-CN" altLang="en-US" sz="2200" dirty="0"/>
              <a:t>的</a:t>
            </a:r>
            <a:r>
              <a:rPr lang="zh-CN" altLang="en-US" sz="2200" dirty="0">
                <a:solidFill>
                  <a:srgbClr val="FF0000"/>
                </a:solidFill>
              </a:rPr>
              <a:t>连续</a:t>
            </a:r>
            <a:r>
              <a:rPr lang="en-US" altLang="zh-CN" sz="2200" dirty="0">
                <a:solidFill>
                  <a:srgbClr val="FF0000"/>
                </a:solidFill>
              </a:rPr>
              <a:t>2n</a:t>
            </a:r>
            <a:r>
              <a:rPr lang="zh-CN" altLang="en-US" sz="2200" dirty="0"/>
              <a:t>位，可用解线性方程组的方法得到反馈多项式</a:t>
            </a:r>
            <a:endParaRPr lang="en-US" altLang="zh-CN" sz="2200" dirty="0"/>
          </a:p>
          <a:p>
            <a:pPr lvl="2">
              <a:lnSpc>
                <a:spcPct val="130000"/>
              </a:lnSpc>
            </a:pPr>
            <a:r>
              <a:rPr lang="zh-CN" altLang="en-US" sz="2200" dirty="0"/>
              <a:t>线性反馈移位寄存器综合解</a:t>
            </a:r>
            <a:r>
              <a:rPr lang="en-US" altLang="zh-CN" sz="2200" dirty="0"/>
              <a:t>——</a:t>
            </a:r>
            <a:r>
              <a:rPr lang="en-US" altLang="zh-CN" sz="2400" dirty="0" err="1"/>
              <a:t>Berlekamp</a:t>
            </a:r>
            <a:r>
              <a:rPr lang="en-US" altLang="zh-CN" sz="2400" dirty="0"/>
              <a:t>-Massey</a:t>
            </a:r>
            <a:r>
              <a:rPr lang="zh-CN" altLang="en-US" sz="2400" dirty="0"/>
              <a:t>算法</a:t>
            </a:r>
            <a:endParaRPr lang="zh-CN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87000-00B9-4E03-AEC7-91F488C03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2550" y="365125"/>
            <a:ext cx="6778625" cy="668338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m-</a:t>
            </a:r>
            <a:r>
              <a:rPr lang="zh-CN" altLang="en-US" dirty="0"/>
              <a:t>序列的安全性</a:t>
            </a:r>
          </a:p>
        </p:txBody>
      </p:sp>
      <p:sp>
        <p:nvSpPr>
          <p:cNvPr id="5" name="空心弧 4">
            <a:extLst>
              <a:ext uri="{FF2B5EF4-FFF2-40B4-BE49-F238E27FC236}">
                <a16:creationId xmlns:a16="http://schemas.microsoft.com/office/drawing/2014/main" id="{606E6CEE-56B9-4E04-B0FB-D40FF1A3500E}"/>
              </a:ext>
            </a:extLst>
          </p:cNvPr>
          <p:cNvSpPr/>
          <p:nvPr/>
        </p:nvSpPr>
        <p:spPr bwMode="auto">
          <a:xfrm>
            <a:off x="-1627188" y="793750"/>
            <a:ext cx="5472113" cy="5473700"/>
          </a:xfrm>
          <a:prstGeom prst="blockArc">
            <a:avLst>
              <a:gd name="adj1" fmla="val 18776635"/>
              <a:gd name="adj2" fmla="val 2427521"/>
              <a:gd name="adj3" fmla="val 0"/>
            </a:avLst>
          </a:prstGeom>
        </p:spPr>
        <p:style>
          <a:lnRef idx="1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1CF544D9-A275-41CD-A99C-C06A6E6EC737}"/>
              </a:ext>
            </a:extLst>
          </p:cNvPr>
          <p:cNvSpPr/>
          <p:nvPr/>
        </p:nvSpPr>
        <p:spPr bwMode="auto">
          <a:xfrm>
            <a:off x="3556000" y="2057400"/>
            <a:ext cx="5708650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/>
              <a:t>解方程方法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A32E1D7-E00C-41DA-85D0-234CBB853EC2}"/>
              </a:ext>
            </a:extLst>
          </p:cNvPr>
          <p:cNvSpPr/>
          <p:nvPr/>
        </p:nvSpPr>
        <p:spPr bwMode="auto">
          <a:xfrm>
            <a:off x="3048000" y="1955800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任意多边形 14">
            <a:extLst>
              <a:ext uri="{FF2B5EF4-FFF2-40B4-BE49-F238E27FC236}">
                <a16:creationId xmlns:a16="http://schemas.microsoft.com/office/drawing/2014/main" id="{2B02357E-B244-4221-BC38-AAFB169BD636}"/>
              </a:ext>
            </a:extLst>
          </p:cNvPr>
          <p:cNvSpPr/>
          <p:nvPr/>
        </p:nvSpPr>
        <p:spPr>
          <a:xfrm>
            <a:off x="3708400" y="3886200"/>
            <a:ext cx="5508625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/>
              <a:t>线性反馈移位寄存器综合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5EA07E0-52E6-4AFF-AC6A-3CD5915F1248}"/>
              </a:ext>
            </a:extLst>
          </p:cNvPr>
          <p:cNvSpPr/>
          <p:nvPr/>
        </p:nvSpPr>
        <p:spPr>
          <a:xfrm>
            <a:off x="3200400" y="3784600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6A3CCA4-4C65-4BA4-B5EE-BB2A6C7EE18A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>
            <a:extLst>
              <a:ext uri="{FF2B5EF4-FFF2-40B4-BE49-F238E27FC236}">
                <a16:creationId xmlns:a16="http://schemas.microsoft.com/office/drawing/2014/main" id="{F3F57688-1D10-42DF-BD3E-2C3D6F4B5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47638"/>
            <a:ext cx="8229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2500" dirty="0">
                <a:latin typeface="+mn-lt"/>
                <a:ea typeface="+mn-ea"/>
              </a:rPr>
              <a:t>例</a:t>
            </a:r>
            <a:r>
              <a:rPr lang="en-US" altLang="zh-CN" sz="2500" dirty="0">
                <a:latin typeface="+mn-lt"/>
                <a:ea typeface="+mn-ea"/>
              </a:rPr>
              <a:t>1</a:t>
            </a:r>
            <a:r>
              <a:rPr lang="zh-CN" altLang="en-US" sz="2500" dirty="0">
                <a:latin typeface="+mn-lt"/>
                <a:ea typeface="+mn-ea"/>
              </a:rPr>
              <a:t> 设序列</a:t>
            </a:r>
            <a:r>
              <a:rPr lang="en-US" altLang="zh-CN" sz="2500" i="1" u="sng" dirty="0">
                <a:latin typeface="+mn-lt"/>
                <a:ea typeface="+mn-ea"/>
              </a:rPr>
              <a:t>a</a:t>
            </a:r>
            <a:r>
              <a:rPr lang="en-US" altLang="zh-CN" sz="2500" dirty="0">
                <a:latin typeface="+mn-lt"/>
                <a:ea typeface="+mn-ea"/>
              </a:rPr>
              <a:t> = (01111000…)</a:t>
            </a:r>
            <a:r>
              <a:rPr lang="zh-CN" altLang="en-US" sz="2500" dirty="0">
                <a:latin typeface="+mn-lt"/>
                <a:ea typeface="+mn-ea"/>
              </a:rPr>
              <a:t>是由</a:t>
            </a:r>
            <a:r>
              <a:rPr lang="en-US" altLang="zh-CN" sz="2500" dirty="0">
                <a:latin typeface="+mn-lt"/>
                <a:ea typeface="+mn-ea"/>
              </a:rPr>
              <a:t>4</a:t>
            </a:r>
            <a:r>
              <a:rPr lang="zh-CN" altLang="en-US" sz="2500" dirty="0">
                <a:latin typeface="+mn-lt"/>
                <a:ea typeface="+mn-ea"/>
              </a:rPr>
              <a:t>级线性移存器所产生序列的连续</a:t>
            </a:r>
            <a:r>
              <a:rPr lang="en-US" altLang="zh-CN" sz="2500" dirty="0">
                <a:latin typeface="+mn-lt"/>
                <a:ea typeface="+mn-ea"/>
              </a:rPr>
              <a:t>8</a:t>
            </a:r>
            <a:r>
              <a:rPr lang="zh-CN" altLang="en-US" sz="2500" dirty="0">
                <a:latin typeface="+mn-lt"/>
                <a:ea typeface="+mn-ea"/>
              </a:rPr>
              <a:t>个信号，求该移存器的线性递推式。</a:t>
            </a:r>
          </a:p>
        </p:txBody>
      </p:sp>
      <p:grpSp>
        <p:nvGrpSpPr>
          <p:cNvPr id="2" name="Group 39">
            <a:extLst>
              <a:ext uri="{FF2B5EF4-FFF2-40B4-BE49-F238E27FC236}">
                <a16:creationId xmlns:a16="http://schemas.microsoft.com/office/drawing/2014/main" id="{C58D4018-A165-4C0D-BA3C-7356A0D266A7}"/>
              </a:ext>
            </a:extLst>
          </p:cNvPr>
          <p:cNvGrpSpPr>
            <a:grpSpLocks/>
          </p:cNvGrpSpPr>
          <p:nvPr/>
        </p:nvGrpSpPr>
        <p:grpSpPr bwMode="auto">
          <a:xfrm>
            <a:off x="2209800" y="1143000"/>
            <a:ext cx="8153400" cy="933450"/>
            <a:chOff x="432" y="720"/>
            <a:chExt cx="5136" cy="588"/>
          </a:xfrm>
        </p:grpSpPr>
        <p:sp>
          <p:nvSpPr>
            <p:cNvPr id="78874" name="Text Box 3">
              <a:extLst>
                <a:ext uri="{FF2B5EF4-FFF2-40B4-BE49-F238E27FC236}">
                  <a16:creationId xmlns:a16="http://schemas.microsoft.com/office/drawing/2014/main" id="{D7D741F5-3E31-4158-8E6C-D37106BA70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720"/>
              <a:ext cx="5136" cy="5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  <a:defRPr/>
              </a:pPr>
              <a:r>
                <a:rPr lang="zh-CN" altLang="en-US" sz="2400" dirty="0">
                  <a:latin typeface="+mn-ea"/>
                  <a:ea typeface="+mn-ea"/>
                </a:rPr>
                <a:t>解：设该</a:t>
              </a:r>
              <a:r>
                <a:rPr lang="en-US" altLang="zh-CN" sz="2400" dirty="0">
                  <a:latin typeface="+mn-ea"/>
                  <a:ea typeface="+mn-ea"/>
                </a:rPr>
                <a:t>4</a:t>
              </a:r>
              <a:r>
                <a:rPr lang="zh-CN" altLang="en-US" sz="2400" dirty="0">
                  <a:latin typeface="+mn-ea"/>
                  <a:ea typeface="+mn-ea"/>
                </a:rPr>
                <a:t>级移存器的线性递推式为：</a:t>
              </a: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en-US" altLang="zh-CN" sz="2400" dirty="0">
                <a:latin typeface="+mn-ea"/>
                <a:ea typeface="+mn-ea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609" name="Object 10">
                  <a:extLst>
                    <a:ext uri="{FF2B5EF4-FFF2-40B4-BE49-F238E27FC236}">
                      <a16:creationId xmlns:a16="http://schemas.microsoft.com/office/drawing/2014/main" id="{09B47E5B-DAB0-4206-80F7-ACF88E0DA957}"/>
                    </a:ext>
                  </a:extLst>
                </p:cNvPr>
                <p:cNvSpPr txBox="1"/>
                <p:nvPr/>
              </p:nvSpPr>
              <p:spPr bwMode="auto">
                <a:xfrm>
                  <a:off x="1056" y="1008"/>
                  <a:ext cx="3552" cy="3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 (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≥4)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95609" name="Object 10">
                  <a:extLst>
                    <a:ext uri="{FF2B5EF4-FFF2-40B4-BE49-F238E27FC236}">
                      <a16:creationId xmlns:a16="http://schemas.microsoft.com/office/drawing/2014/main" id="{09B47E5B-DAB0-4206-80F7-ACF88E0DA9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56" y="1008"/>
                  <a:ext cx="3552" cy="3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9">
            <a:extLst>
              <a:ext uri="{FF2B5EF4-FFF2-40B4-BE49-F238E27FC236}">
                <a16:creationId xmlns:a16="http://schemas.microsoft.com/office/drawing/2014/main" id="{80CC88A7-6445-401E-BA04-4382149EEB32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057400"/>
            <a:ext cx="9448800" cy="928688"/>
            <a:chOff x="480" y="1296"/>
            <a:chExt cx="4944" cy="585"/>
          </a:xfrm>
        </p:grpSpPr>
        <p:sp>
          <p:nvSpPr>
            <p:cNvPr id="78872" name="Text Box 7">
              <a:extLst>
                <a:ext uri="{FF2B5EF4-FFF2-40B4-BE49-F238E27FC236}">
                  <a16:creationId xmlns:a16="http://schemas.microsoft.com/office/drawing/2014/main" id="{E372222E-0B49-4770-BD85-C52368947F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296"/>
              <a:ext cx="494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  <a:defRPr/>
              </a:pPr>
              <a:r>
                <a:rPr lang="en-US" altLang="zh-CN" sz="2400" dirty="0">
                  <a:latin typeface="+mn-ea"/>
                  <a:ea typeface="+mn-ea"/>
                </a:rPr>
                <a:t>    </a:t>
              </a:r>
              <a:r>
                <a:rPr lang="zh-CN" altLang="en-US" sz="2400" dirty="0">
                  <a:latin typeface="+mn-ea"/>
                  <a:ea typeface="+mn-ea"/>
                </a:rPr>
                <a:t>由于知道周期序列的连续</a:t>
              </a:r>
              <a:r>
                <a:rPr lang="en-US" altLang="zh-CN" sz="2400" dirty="0">
                  <a:latin typeface="+mn-ea"/>
                  <a:ea typeface="+mn-ea"/>
                </a:rPr>
                <a:t>8</a:t>
              </a:r>
              <a:r>
                <a:rPr lang="zh-CN" altLang="en-US" sz="2400" dirty="0">
                  <a:latin typeface="+mn-ea"/>
                  <a:ea typeface="+mn-ea"/>
                </a:rPr>
                <a:t>个信号，不妨设为开头的</a:t>
              </a:r>
              <a:r>
                <a:rPr lang="en-US" altLang="zh-CN" sz="2400" dirty="0">
                  <a:latin typeface="+mn-ea"/>
                  <a:ea typeface="+mn-ea"/>
                </a:rPr>
                <a:t>8</a:t>
              </a:r>
              <a:r>
                <a:rPr lang="zh-CN" altLang="en-US" sz="2400" dirty="0">
                  <a:latin typeface="+mn-ea"/>
                  <a:ea typeface="+mn-ea"/>
                </a:rPr>
                <a:t>个信号，即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607" name="Object 9">
                  <a:extLst>
                    <a:ext uri="{FF2B5EF4-FFF2-40B4-BE49-F238E27FC236}">
                      <a16:creationId xmlns:a16="http://schemas.microsoft.com/office/drawing/2014/main" id="{B46ED966-FFAF-4151-9908-06EB3D97E2BE}"/>
                    </a:ext>
                  </a:extLst>
                </p:cNvPr>
                <p:cNvSpPr txBox="1"/>
                <p:nvPr/>
              </p:nvSpPr>
              <p:spPr bwMode="auto">
                <a:xfrm>
                  <a:off x="1834" y="1557"/>
                  <a:ext cx="2715" cy="324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=01111000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95607" name="Object 9">
                  <a:extLst>
                    <a:ext uri="{FF2B5EF4-FFF2-40B4-BE49-F238E27FC236}">
                      <a16:creationId xmlns:a16="http://schemas.microsoft.com/office/drawing/2014/main" id="{B46ED966-FFAF-4151-9908-06EB3D97E2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34" y="1557"/>
                  <a:ext cx="2715" cy="32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19EB236-3BB5-4D9A-8552-4026FEA96EDF}"/>
              </a:ext>
            </a:extLst>
          </p:cNvPr>
          <p:cNvGrpSpPr>
            <a:grpSpLocks/>
          </p:cNvGrpSpPr>
          <p:nvPr/>
        </p:nvGrpSpPr>
        <p:grpSpPr bwMode="auto">
          <a:xfrm>
            <a:off x="1287463" y="3035300"/>
            <a:ext cx="8024812" cy="546100"/>
            <a:chOff x="1287463" y="3035300"/>
            <a:chExt cx="8024812" cy="546100"/>
          </a:xfrm>
        </p:grpSpPr>
        <p:sp>
          <p:nvSpPr>
            <p:cNvPr id="78870" name="Text Box 11">
              <a:extLst>
                <a:ext uri="{FF2B5EF4-FFF2-40B4-BE49-F238E27FC236}">
                  <a16:creationId xmlns:a16="http://schemas.microsoft.com/office/drawing/2014/main" id="{B301DF08-1D21-42C6-8877-FB517B0297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7463" y="3036888"/>
              <a:ext cx="6705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  <a:defRPr/>
              </a:pPr>
              <a:r>
                <a:rPr lang="zh-CN" altLang="en-US" sz="2400" dirty="0">
                  <a:latin typeface="+mn-ea"/>
                  <a:ea typeface="+mn-ea"/>
                </a:rPr>
                <a:t>当</a:t>
              </a:r>
              <a:r>
                <a:rPr lang="en-US" altLang="zh-CN" sz="2400" i="1" dirty="0">
                  <a:latin typeface="+mn-ea"/>
                  <a:ea typeface="+mn-ea"/>
                </a:rPr>
                <a:t>n</a:t>
              </a:r>
              <a:r>
                <a:rPr lang="en-US" altLang="zh-CN" sz="2400" dirty="0">
                  <a:latin typeface="+mn-ea"/>
                  <a:ea typeface="+mn-ea"/>
                </a:rPr>
                <a:t>=4</a:t>
              </a:r>
              <a:r>
                <a:rPr lang="zh-CN" altLang="en-US" sz="2400" dirty="0">
                  <a:latin typeface="+mn-ea"/>
                  <a:ea typeface="+mn-ea"/>
                </a:rPr>
                <a:t>时，由递归式可得：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605" name="Object 8">
                  <a:extLst>
                    <a:ext uri="{FF2B5EF4-FFF2-40B4-BE49-F238E27FC236}">
                      <a16:creationId xmlns:a16="http://schemas.microsoft.com/office/drawing/2014/main" id="{E46C12BE-30E0-45F2-B12E-FF32263294C6}"/>
                    </a:ext>
                  </a:extLst>
                </p:cNvPr>
                <p:cNvSpPr txBox="1"/>
                <p:nvPr/>
              </p:nvSpPr>
              <p:spPr bwMode="auto">
                <a:xfrm>
                  <a:off x="5029200" y="3035300"/>
                  <a:ext cx="4283075" cy="546100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95605" name="Object 8">
                  <a:extLst>
                    <a:ext uri="{FF2B5EF4-FFF2-40B4-BE49-F238E27FC236}">
                      <a16:creationId xmlns:a16="http://schemas.microsoft.com/office/drawing/2014/main" id="{E46C12BE-30E0-45F2-B12E-FF32263294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29200" y="3035300"/>
                  <a:ext cx="4283075" cy="5461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23">
            <a:extLst>
              <a:ext uri="{FF2B5EF4-FFF2-40B4-BE49-F238E27FC236}">
                <a16:creationId xmlns:a16="http://schemas.microsoft.com/office/drawing/2014/main" id="{5EFF7997-826C-4BFD-85AD-3939897781DA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3581400"/>
            <a:ext cx="7162800" cy="571500"/>
            <a:chOff x="480" y="2352"/>
            <a:chExt cx="4512" cy="3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602" name="Object 7">
                  <a:extLst>
                    <a:ext uri="{FF2B5EF4-FFF2-40B4-BE49-F238E27FC236}">
                      <a16:creationId xmlns:a16="http://schemas.microsoft.com/office/drawing/2014/main" id="{B5C210C0-92A0-4C57-998F-654B86A27EB1}"/>
                    </a:ext>
                  </a:extLst>
                </p:cNvPr>
                <p:cNvSpPr txBox="1"/>
                <p:nvPr/>
              </p:nvSpPr>
              <p:spPr bwMode="auto">
                <a:xfrm>
                  <a:off x="1548" y="2393"/>
                  <a:ext cx="3094" cy="319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           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95602" name="Object 7">
                  <a:extLst>
                    <a:ext uri="{FF2B5EF4-FFF2-40B4-BE49-F238E27FC236}">
                      <a16:creationId xmlns:a16="http://schemas.microsoft.com/office/drawing/2014/main" id="{B5C210C0-92A0-4C57-998F-654B86A27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48" y="2393"/>
                  <a:ext cx="3094" cy="31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869" name="Text Box 16">
              <a:extLst>
                <a:ext uri="{FF2B5EF4-FFF2-40B4-BE49-F238E27FC236}">
                  <a16:creationId xmlns:a16="http://schemas.microsoft.com/office/drawing/2014/main" id="{48311F47-4B53-4824-A5DA-8F0CC5460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352"/>
              <a:ext cx="451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  <a:defRPr/>
              </a:pPr>
              <a:r>
                <a:rPr lang="zh-CN" altLang="en-US" sz="2400">
                  <a:latin typeface="+mn-ea"/>
                  <a:ea typeface="+mn-ea"/>
                </a:rPr>
                <a:t>即：                                                         </a:t>
              </a:r>
              <a:endParaRPr lang="en-US" altLang="zh-CN" sz="2400">
                <a:latin typeface="+mn-ea"/>
                <a:ea typeface="+mn-ea"/>
              </a:endParaRPr>
            </a:p>
          </p:txBody>
        </p:sp>
      </p:grpSp>
      <p:grpSp>
        <p:nvGrpSpPr>
          <p:cNvPr id="6" name="Group 24">
            <a:extLst>
              <a:ext uri="{FF2B5EF4-FFF2-40B4-BE49-F238E27FC236}">
                <a16:creationId xmlns:a16="http://schemas.microsoft.com/office/drawing/2014/main" id="{7E996ACF-8303-48FD-A4A0-83FD29145496}"/>
              </a:ext>
            </a:extLst>
          </p:cNvPr>
          <p:cNvGrpSpPr>
            <a:grpSpLocks/>
          </p:cNvGrpSpPr>
          <p:nvPr/>
        </p:nvGrpSpPr>
        <p:grpSpPr bwMode="auto">
          <a:xfrm>
            <a:off x="2265363" y="4049713"/>
            <a:ext cx="6400800" cy="504825"/>
            <a:chOff x="437" y="1982"/>
            <a:chExt cx="4032" cy="318"/>
          </a:xfrm>
        </p:grpSpPr>
        <p:sp>
          <p:nvSpPr>
            <p:cNvPr id="78866" name="Text Box 20">
              <a:extLst>
                <a:ext uri="{FF2B5EF4-FFF2-40B4-BE49-F238E27FC236}">
                  <a16:creationId xmlns:a16="http://schemas.microsoft.com/office/drawing/2014/main" id="{7F122E2C-51EE-4588-8580-F9333E50A6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" y="1985"/>
              <a:ext cx="380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  <a:defRPr/>
              </a:pPr>
              <a:r>
                <a:rPr lang="zh-CN" altLang="en-US" sz="2400">
                  <a:latin typeface="+mn-ea"/>
                  <a:ea typeface="+mn-ea"/>
                </a:rPr>
                <a:t>同理可得：                                                </a:t>
              </a:r>
              <a:r>
                <a:rPr lang="en-US" altLang="zh-CN" sz="2400">
                  <a:latin typeface="+mn-ea"/>
                  <a:ea typeface="+mn-ea"/>
                </a:rPr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601" name="Object 6">
                  <a:extLst>
                    <a:ext uri="{FF2B5EF4-FFF2-40B4-BE49-F238E27FC236}">
                      <a16:creationId xmlns:a16="http://schemas.microsoft.com/office/drawing/2014/main" id="{D37CA6AE-C889-4186-BA3C-8ACCAD63C329}"/>
                    </a:ext>
                  </a:extLst>
                </p:cNvPr>
                <p:cNvSpPr txBox="1"/>
                <p:nvPr/>
              </p:nvSpPr>
              <p:spPr bwMode="auto">
                <a:xfrm>
                  <a:off x="1601" y="1982"/>
                  <a:ext cx="2868" cy="318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  <m:r>
                          <m:rPr>
                            <m:nor/>
                          </m:rP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               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95601" name="Object 6">
                  <a:extLst>
                    <a:ext uri="{FF2B5EF4-FFF2-40B4-BE49-F238E27FC236}">
                      <a16:creationId xmlns:a16="http://schemas.microsoft.com/office/drawing/2014/main" id="{D37CA6AE-C889-4186-BA3C-8ACCAD63C3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01" y="1982"/>
                  <a:ext cx="2868" cy="31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513" name="Object 2">
                <a:extLst>
                  <a:ext uri="{FF2B5EF4-FFF2-40B4-BE49-F238E27FC236}">
                    <a16:creationId xmlns:a16="http://schemas.microsoft.com/office/drawing/2014/main" id="{970CCF01-6E2C-4ADF-8BE7-5C1676104593}"/>
                  </a:ext>
                </a:extLst>
              </p:cNvPr>
              <p:cNvSpPr txBox="1"/>
              <p:nvPr/>
            </p:nvSpPr>
            <p:spPr bwMode="auto">
              <a:xfrm>
                <a:off x="4191000" y="4495800"/>
                <a:ext cx="3884613" cy="50641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=0    (3)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63513" name="Object 2">
                <a:extLst>
                  <a:ext uri="{FF2B5EF4-FFF2-40B4-BE49-F238E27FC236}">
                    <a16:creationId xmlns:a16="http://schemas.microsoft.com/office/drawing/2014/main" id="{970CCF01-6E2C-4ADF-8BE7-5C1676104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4495800"/>
                <a:ext cx="3884613" cy="506413"/>
              </a:xfrm>
              <a:prstGeom prst="rect">
                <a:avLst/>
              </a:prstGeom>
              <a:blipFill>
                <a:blip r:embed="rId8"/>
                <a:stretch>
                  <a:fillRect t="-1205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515" name="Object 3">
                <a:extLst>
                  <a:ext uri="{FF2B5EF4-FFF2-40B4-BE49-F238E27FC236}">
                    <a16:creationId xmlns:a16="http://schemas.microsoft.com/office/drawing/2014/main" id="{F57C99FB-CDF1-4FC3-A8BE-168E2C4CABB0}"/>
                  </a:ext>
                </a:extLst>
              </p:cNvPr>
              <p:cNvSpPr txBox="1"/>
              <p:nvPr/>
            </p:nvSpPr>
            <p:spPr bwMode="auto">
              <a:xfrm>
                <a:off x="4443413" y="4953000"/>
                <a:ext cx="3633787" cy="5080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=0     (4)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3515" name="Object 3">
                <a:extLst>
                  <a:ext uri="{FF2B5EF4-FFF2-40B4-BE49-F238E27FC236}">
                    <a16:creationId xmlns:a16="http://schemas.microsoft.com/office/drawing/2014/main" id="{F57C99FB-CDF1-4FC3-A8BE-168E2C4CA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43413" y="4953000"/>
                <a:ext cx="3633787" cy="508000"/>
              </a:xfrm>
              <a:prstGeom prst="rect">
                <a:avLst/>
              </a:prstGeom>
              <a:blipFill>
                <a:blip r:embed="rId9"/>
                <a:stretch>
                  <a:fillRect t="-1205"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37">
            <a:extLst>
              <a:ext uri="{FF2B5EF4-FFF2-40B4-BE49-F238E27FC236}">
                <a16:creationId xmlns:a16="http://schemas.microsoft.com/office/drawing/2014/main" id="{46038C44-529C-45E5-AA3D-ED70D719CF4F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5503863"/>
            <a:ext cx="6181725" cy="471487"/>
            <a:chOff x="168" y="4406"/>
            <a:chExt cx="3894" cy="297"/>
          </a:xfrm>
        </p:grpSpPr>
        <p:sp>
          <p:nvSpPr>
            <p:cNvPr id="78864" name="Text Box 30">
              <a:extLst>
                <a:ext uri="{FF2B5EF4-FFF2-40B4-BE49-F238E27FC236}">
                  <a16:creationId xmlns:a16="http://schemas.microsoft.com/office/drawing/2014/main" id="{9B91411A-EDF5-4C48-8A40-E8C157C2F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" y="4412"/>
              <a:ext cx="389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  <a:defRPr/>
              </a:pPr>
              <a:r>
                <a:rPr lang="zh-CN" altLang="en-US" sz="2400">
                  <a:latin typeface="+mn-ea"/>
                  <a:ea typeface="+mn-ea"/>
                </a:rPr>
                <a:t>解方程组得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599" name="Object 5">
                  <a:extLst>
                    <a:ext uri="{FF2B5EF4-FFF2-40B4-BE49-F238E27FC236}">
                      <a16:creationId xmlns:a16="http://schemas.microsoft.com/office/drawing/2014/main" id="{FE430BE4-A0C1-4D61-90C3-848F7EF853DF}"/>
                    </a:ext>
                  </a:extLst>
                </p:cNvPr>
                <p:cNvSpPr txBox="1"/>
                <p:nvPr/>
              </p:nvSpPr>
              <p:spPr bwMode="auto">
                <a:xfrm>
                  <a:off x="1631" y="4406"/>
                  <a:ext cx="2128" cy="295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=0, 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=0, 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=1, 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zh-CN" altLang="en-US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95599" name="Object 5">
                  <a:extLst>
                    <a:ext uri="{FF2B5EF4-FFF2-40B4-BE49-F238E27FC236}">
                      <a16:creationId xmlns:a16="http://schemas.microsoft.com/office/drawing/2014/main" id="{FE430BE4-A0C1-4D61-90C3-848F7EF853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31" y="4406"/>
                  <a:ext cx="2128" cy="29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38">
            <a:extLst>
              <a:ext uri="{FF2B5EF4-FFF2-40B4-BE49-F238E27FC236}">
                <a16:creationId xmlns:a16="http://schemas.microsoft.com/office/drawing/2014/main" id="{5931BB4B-9A3E-4C00-8A32-EC3E71BE0B16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6229350"/>
            <a:ext cx="7620000" cy="506413"/>
            <a:chOff x="576" y="3792"/>
            <a:chExt cx="4800" cy="319"/>
          </a:xfrm>
        </p:grpSpPr>
        <p:sp>
          <p:nvSpPr>
            <p:cNvPr id="78862" name="Text Box 33">
              <a:extLst>
                <a:ext uri="{FF2B5EF4-FFF2-40B4-BE49-F238E27FC236}">
                  <a16:creationId xmlns:a16="http://schemas.microsoft.com/office/drawing/2014/main" id="{15184806-94D0-4D61-B524-FC5FB788BC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792"/>
              <a:ext cx="48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  <a:defRPr/>
              </a:pPr>
              <a:r>
                <a:rPr lang="zh-CN" altLang="en-US" sz="2400">
                  <a:latin typeface="+mn-ea"/>
                  <a:ea typeface="+mn-ea"/>
                </a:rPr>
                <a:t>故所求移存器递推式为：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5597" name="Object 4">
                  <a:extLst>
                    <a:ext uri="{FF2B5EF4-FFF2-40B4-BE49-F238E27FC236}">
                      <a16:creationId xmlns:a16="http://schemas.microsoft.com/office/drawing/2014/main" id="{6255E919-0FCD-4B86-AF78-490B3E275A6A}"/>
                    </a:ext>
                  </a:extLst>
                </p:cNvPr>
                <p:cNvSpPr txBox="1"/>
                <p:nvPr/>
              </p:nvSpPr>
              <p:spPr bwMode="auto">
                <a:xfrm>
                  <a:off x="3086" y="3792"/>
                  <a:ext cx="1968" cy="319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−3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 (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≥4)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95597" name="Object 4">
                  <a:extLst>
                    <a:ext uri="{FF2B5EF4-FFF2-40B4-BE49-F238E27FC236}">
                      <a16:creationId xmlns:a16="http://schemas.microsoft.com/office/drawing/2014/main" id="{6255E919-0FCD-4B86-AF78-490B3E275A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86" y="3792"/>
                  <a:ext cx="1968" cy="31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6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35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5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3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3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 build="p" autoUpdateAnimBg="0"/>
      <p:bldP spid="63513" grpId="0"/>
      <p:bldP spid="63515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240D9-A308-47EC-85BA-70D7D18FD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endParaRPr lang="zh-CN" altLang="en-US" b="1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DCB880D-B8CF-4A21-BE79-D2CA6223BF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143000"/>
            <a:ext cx="10910888" cy="4579938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例</a:t>
            </a:r>
            <a:r>
              <a:rPr lang="zh-CN" altLang="en-US" b="1" dirty="0">
                <a:latin typeface="+mn-lt"/>
                <a:ea typeface="+mn-ea"/>
              </a:rPr>
              <a:t>        设敌手得到密文串</a:t>
            </a:r>
            <a:r>
              <a:rPr lang="en-US" altLang="zh-CN" b="1" dirty="0">
                <a:latin typeface="+mn-lt"/>
                <a:ea typeface="+mn-ea"/>
              </a:rPr>
              <a:t>: 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101101011110010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latin typeface="+mn-lt"/>
                <a:ea typeface="+mn-ea"/>
              </a:rPr>
              <a:t>                和相应的明文串</a:t>
            </a:r>
            <a:r>
              <a:rPr lang="en-US" altLang="zh-CN" b="1" dirty="0">
                <a:latin typeface="+mn-lt"/>
                <a:ea typeface="+mn-ea"/>
              </a:rPr>
              <a:t>: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 011001111111001</a:t>
            </a:r>
            <a:endParaRPr lang="zh-CN" altLang="en-US" b="1" dirty="0">
              <a:latin typeface="+mn-lt"/>
              <a:ea typeface="+mn-ea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latin typeface="+mn-lt"/>
                <a:ea typeface="+mn-ea"/>
              </a:rPr>
              <a:t>因此，可得相应的密钥流</a:t>
            </a:r>
            <a:r>
              <a:rPr lang="en-US" altLang="zh-CN" b="1" dirty="0">
                <a:latin typeface="+mn-lt"/>
                <a:ea typeface="+mn-ea"/>
              </a:rPr>
              <a:t>: 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110100100001011</a:t>
            </a:r>
            <a:endParaRPr lang="en-US" altLang="zh-CN" b="1" dirty="0">
              <a:latin typeface="+mn-lt"/>
              <a:ea typeface="+mn-ea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latin typeface="+mn-lt"/>
                <a:ea typeface="+mn-ea"/>
              </a:rPr>
              <a:t>进一步假定敌手还知道密钥流是使用5级线性反馈移位寄存器产生的，那么敌手可分别用密钥流中的前10个比特建立如下方程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7636" name="Object 2">
                <a:extLst>
                  <a:ext uri="{FF2B5EF4-FFF2-40B4-BE49-F238E27FC236}">
                    <a16:creationId xmlns:a16="http://schemas.microsoft.com/office/drawing/2014/main" id="{947F3456-8666-45E4-B848-8D50EB6196EF}"/>
                  </a:ext>
                </a:extLst>
              </p:cNvPr>
              <p:cNvSpPr txBox="1"/>
              <p:nvPr/>
            </p:nvSpPr>
            <p:spPr bwMode="auto">
              <a:xfrm>
                <a:off x="2135188" y="3733800"/>
                <a:ext cx="7696200" cy="2466975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⥄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⇌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⇌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⇌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⇌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⇌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⇌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⇌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⇌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⇌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⇌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⇌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⇌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⇌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⇌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⇌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⇌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⇌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⇌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⇌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⇌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7636" name="Object 2">
                <a:extLst>
                  <a:ext uri="{FF2B5EF4-FFF2-40B4-BE49-F238E27FC236}">
                    <a16:creationId xmlns:a16="http://schemas.microsoft.com/office/drawing/2014/main" id="{947F3456-8666-45E4-B848-8D50EB619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5188" y="3733800"/>
                <a:ext cx="7696200" cy="2466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ED3B6-8BF3-4845-B1A2-6F4FE84AB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endParaRPr lang="zh-CN" altLang="en-US" b="1"/>
          </a:p>
        </p:txBody>
      </p:sp>
      <p:sp>
        <p:nvSpPr>
          <p:cNvPr id="199683" name="Rectangle 2">
            <a:extLst>
              <a:ext uri="{FF2B5EF4-FFF2-40B4-BE49-F238E27FC236}">
                <a16:creationId xmlns:a16="http://schemas.microsoft.com/office/drawing/2014/main" id="{235D69B6-F740-4A1B-9DF0-00BA3429B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/>
              <a:t>即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endParaRPr lang="zh-CN" altLang="en-US" b="1"/>
          </a:p>
          <a:p>
            <a:pPr indent="-6350" eaLnBrk="1" hangingPunct="1">
              <a:buFont typeface="Arial" panose="020B0604020202020204" pitchFamily="34" charset="0"/>
              <a:buNone/>
            </a:pPr>
            <a:endParaRPr lang="zh-CN" altLang="en-US" b="1"/>
          </a:p>
          <a:p>
            <a:pPr indent="-6350" eaLnBrk="1" hangingPunct="1">
              <a:buFont typeface="Arial" panose="020B0604020202020204" pitchFamily="34" charset="0"/>
              <a:buNone/>
            </a:pPr>
            <a:endParaRPr lang="zh-CN" altLang="en-US" b="1"/>
          </a:p>
          <a:p>
            <a:pPr indent="-6350" eaLnBrk="1" hangingPunct="1">
              <a:buFont typeface="Arial" panose="020B0604020202020204" pitchFamily="34" charset="0"/>
              <a:buNone/>
            </a:pPr>
            <a:endParaRPr lang="zh-CN" altLang="en-US" b="1"/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/>
              <a:t>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9684" name="Object 1024">
                <a:extLst>
                  <a:ext uri="{FF2B5EF4-FFF2-40B4-BE49-F238E27FC236}">
                    <a16:creationId xmlns:a16="http://schemas.microsoft.com/office/drawing/2014/main" id="{1A91BBC6-DFE0-45E4-B796-A4FA525606E7}"/>
                  </a:ext>
                </a:extLst>
              </p:cNvPr>
              <p:cNvSpPr txBox="1"/>
              <p:nvPr/>
            </p:nvSpPr>
            <p:spPr bwMode="auto">
              <a:xfrm>
                <a:off x="2743200" y="1033463"/>
                <a:ext cx="5867400" cy="2327275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0⇌1⇌0⇌0⇌0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⥄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1⤢1⤢0⤢1⤢0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1⤢0⤢1⤢0⤢0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0⤢1⤢0⤢0⤢1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1⤢0⤢0⤢1⤢0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0⤢0⤢1⤢0⤢0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9684" name="Object 1024">
                <a:extLst>
                  <a:ext uri="{FF2B5EF4-FFF2-40B4-BE49-F238E27FC236}">
                    <a16:creationId xmlns:a16="http://schemas.microsoft.com/office/drawing/2014/main" id="{1A91BBC6-DFE0-45E4-B796-A4FA52560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3200" y="1033463"/>
                <a:ext cx="5867400" cy="23272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685" name="Object 1025">
                <a:extLst>
                  <a:ext uri="{FF2B5EF4-FFF2-40B4-BE49-F238E27FC236}">
                    <a16:creationId xmlns:a16="http://schemas.microsoft.com/office/drawing/2014/main" id="{63102591-3944-427E-8EAA-7F05A5F0AE86}"/>
                  </a:ext>
                </a:extLst>
              </p:cNvPr>
              <p:cNvSpPr txBox="1"/>
              <p:nvPr/>
            </p:nvSpPr>
            <p:spPr bwMode="auto">
              <a:xfrm>
                <a:off x="3810000" y="3670300"/>
                <a:ext cx="3962400" cy="2357438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⥄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1⤢1⤢0⤢1⤢0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1⤢0⤢1⤢0⤢0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0⤢1⤢0⤢0⤢1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1⤢0⤢0⤢1⤢0</m:t>
                                  </m:r>
                                </m:e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0⤢0⤢1⤢0⤢0</m:t>
                                  </m:r>
                                </m:e>
                              </m:eqArr>
                            </m:e>
                          </m:d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0⤢1⤢0⤢0⤢1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1⤢0⤢0⤢1⤢0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0⤢0⤢0⤢0⤢1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0⤢1⤢0⤢1⤢1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1⤢0⤢1⤢1⤢0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199685" name="Object 1025">
                <a:extLst>
                  <a:ext uri="{FF2B5EF4-FFF2-40B4-BE49-F238E27FC236}">
                    <a16:creationId xmlns:a16="http://schemas.microsoft.com/office/drawing/2014/main" id="{63102591-3944-427E-8EAA-7F05A5F0AE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0" y="3670300"/>
                <a:ext cx="3962400" cy="23574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A0F9BA-9360-4C22-9378-3EE7111BD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endParaRPr lang="zh-CN" altLang="en-US" b="1"/>
          </a:p>
        </p:txBody>
      </p:sp>
      <p:sp>
        <p:nvSpPr>
          <p:cNvPr id="201731" name="Rectangle 1026">
            <a:extLst>
              <a:ext uri="{FF2B5EF4-FFF2-40B4-BE49-F238E27FC236}">
                <a16:creationId xmlns:a16="http://schemas.microsoft.com/office/drawing/2014/main" id="{F67C7D48-D2F1-4EC3-8F84-3622E38DE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/>
              <a:t>从而得到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endParaRPr lang="zh-CN" altLang="en-US" b="1"/>
          </a:p>
          <a:p>
            <a:pPr indent="-6350" eaLnBrk="1" hangingPunct="1">
              <a:buFont typeface="Arial" panose="020B0604020202020204" pitchFamily="34" charset="0"/>
              <a:buNone/>
            </a:pPr>
            <a:endParaRPr lang="zh-CN" altLang="en-US" b="1"/>
          </a:p>
          <a:p>
            <a:pPr indent="-6350" eaLnBrk="1" hangingPunct="1">
              <a:buFont typeface="Arial" panose="020B0604020202020204" pitchFamily="34" charset="0"/>
              <a:buNone/>
            </a:pPr>
            <a:endParaRPr lang="zh-CN" altLang="en-US" b="1"/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/>
              <a:t>所以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endParaRPr lang="zh-CN" altLang="en-US" b="1"/>
          </a:p>
          <a:p>
            <a:pPr indent="-6350" eaLnBrk="1" hangingPunct="1">
              <a:buFont typeface="Arial" panose="020B0604020202020204" pitchFamily="34" charset="0"/>
              <a:buNone/>
            </a:pPr>
            <a:endParaRPr lang="zh-CN" altLang="en-US" b="1"/>
          </a:p>
          <a:p>
            <a:pPr indent="-6350" eaLnBrk="1" hangingPunct="1">
              <a:buFont typeface="Arial" panose="020B0604020202020204" pitchFamily="34" charset="0"/>
              <a:buNone/>
            </a:pPr>
            <a:r>
              <a:rPr lang="zh-CN" altLang="en-US" b="1"/>
              <a:t>密钥流的递推关系为</a:t>
            </a:r>
          </a:p>
          <a:p>
            <a:pPr indent="-6350" eaLnBrk="1" hangingPunct="1">
              <a:buFont typeface="Arial" panose="020B0604020202020204" pitchFamily="34" charset="0"/>
              <a:buNone/>
            </a:pPr>
            <a:endParaRPr lang="zh-CN" alt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1732" name="Object 1024">
                <a:extLst>
                  <a:ext uri="{FF2B5EF4-FFF2-40B4-BE49-F238E27FC236}">
                    <a16:creationId xmlns:a16="http://schemas.microsoft.com/office/drawing/2014/main" id="{C0D8ECF1-40B2-40A1-A274-FB48275F99ED}"/>
                  </a:ext>
                </a:extLst>
              </p:cNvPr>
              <p:cNvSpPr txBox="1"/>
              <p:nvPr/>
            </p:nvSpPr>
            <p:spPr bwMode="auto">
              <a:xfrm>
                <a:off x="2514600" y="1089025"/>
                <a:ext cx="6019800" cy="2327275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⥄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0⥄1⥄0⥄0⥄0</m:t>
                          </m:r>
                        </m:e>
                      </m:d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0⤢1⤢0⤢0⤢1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1⤢0⤢0⤢1⤢0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0⤢0⤢0⤢0⤢1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0⤢1⤢0⤢1⤢1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1⤢0⤢1⤢1⤢0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1732" name="Object 1024">
                <a:extLst>
                  <a:ext uri="{FF2B5EF4-FFF2-40B4-BE49-F238E27FC236}">
                    <a16:creationId xmlns:a16="http://schemas.microsoft.com/office/drawing/2014/main" id="{C0D8ECF1-40B2-40A1-A274-FB48275F9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1089025"/>
                <a:ext cx="6019800" cy="23272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1733" name="Object 1025">
                <a:extLst>
                  <a:ext uri="{FF2B5EF4-FFF2-40B4-BE49-F238E27FC236}">
                    <a16:creationId xmlns:a16="http://schemas.microsoft.com/office/drawing/2014/main" id="{1477960A-DC83-46B3-8913-F58BD616AF47}"/>
                  </a:ext>
                </a:extLst>
              </p:cNvPr>
              <p:cNvSpPr txBox="1"/>
              <p:nvPr/>
            </p:nvSpPr>
            <p:spPr bwMode="auto">
              <a:xfrm>
                <a:off x="3086100" y="3814763"/>
                <a:ext cx="5181600" cy="62865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⇌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1⥄0⥄0⥄1⥄0</m:t>
                          </m: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1733" name="Object 1025">
                <a:extLst>
                  <a:ext uri="{FF2B5EF4-FFF2-40B4-BE49-F238E27FC236}">
                    <a16:creationId xmlns:a16="http://schemas.microsoft.com/office/drawing/2014/main" id="{1477960A-DC83-46B3-8913-F58BD616A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6100" y="3814763"/>
                <a:ext cx="5181600" cy="6286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1734" name="Object 1026">
                <a:extLst>
                  <a:ext uri="{FF2B5EF4-FFF2-40B4-BE49-F238E27FC236}">
                    <a16:creationId xmlns:a16="http://schemas.microsoft.com/office/drawing/2014/main" id="{61100D30-D633-49AA-B764-8F007A2E9C14}"/>
                  </a:ext>
                </a:extLst>
              </p:cNvPr>
              <p:cNvSpPr txBox="1"/>
              <p:nvPr/>
            </p:nvSpPr>
            <p:spPr bwMode="auto">
              <a:xfrm>
                <a:off x="3200400" y="5257800"/>
                <a:ext cx="5334000" cy="6858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+5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01734" name="Object 1026">
                <a:extLst>
                  <a:ext uri="{FF2B5EF4-FFF2-40B4-BE49-F238E27FC236}">
                    <a16:creationId xmlns:a16="http://schemas.microsoft.com/office/drawing/2014/main" id="{61100D30-D633-49AA-B764-8F007A2E9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00400" y="5257800"/>
                <a:ext cx="5334000" cy="6858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B4416-BE2E-4350-B0D1-DC700F544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2550" y="365125"/>
            <a:ext cx="6778625" cy="668338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m-</a:t>
            </a:r>
            <a:r>
              <a:rPr lang="zh-CN" altLang="en-US" dirty="0"/>
              <a:t>序列的安全性</a:t>
            </a:r>
          </a:p>
        </p:txBody>
      </p:sp>
      <p:sp>
        <p:nvSpPr>
          <p:cNvPr id="5" name="空心弧 4">
            <a:extLst>
              <a:ext uri="{FF2B5EF4-FFF2-40B4-BE49-F238E27FC236}">
                <a16:creationId xmlns:a16="http://schemas.microsoft.com/office/drawing/2014/main" id="{CFEF87CA-F0C9-4E3B-805C-F643321C3385}"/>
              </a:ext>
            </a:extLst>
          </p:cNvPr>
          <p:cNvSpPr/>
          <p:nvPr/>
        </p:nvSpPr>
        <p:spPr bwMode="auto">
          <a:xfrm>
            <a:off x="-1627188" y="793750"/>
            <a:ext cx="5472113" cy="5473700"/>
          </a:xfrm>
          <a:prstGeom prst="blockArc">
            <a:avLst>
              <a:gd name="adj1" fmla="val 18776635"/>
              <a:gd name="adj2" fmla="val 2427521"/>
              <a:gd name="adj3" fmla="val 0"/>
            </a:avLst>
          </a:prstGeom>
        </p:spPr>
        <p:style>
          <a:lnRef idx="1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C5941637-6546-484C-874A-A06AC36ABAFD}"/>
              </a:ext>
            </a:extLst>
          </p:cNvPr>
          <p:cNvSpPr/>
          <p:nvPr/>
        </p:nvSpPr>
        <p:spPr bwMode="auto">
          <a:xfrm>
            <a:off x="3556000" y="2057400"/>
            <a:ext cx="5708650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/>
              <a:t>解方程方法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AAE9C8D-23D2-40EC-84BA-1BCF349B30BD}"/>
              </a:ext>
            </a:extLst>
          </p:cNvPr>
          <p:cNvSpPr/>
          <p:nvPr/>
        </p:nvSpPr>
        <p:spPr bwMode="auto">
          <a:xfrm>
            <a:off x="3048000" y="1955800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任意多边形 14">
            <a:extLst>
              <a:ext uri="{FF2B5EF4-FFF2-40B4-BE49-F238E27FC236}">
                <a16:creationId xmlns:a16="http://schemas.microsoft.com/office/drawing/2014/main" id="{E0C311CD-54C5-41C3-A677-0A2CE809B09D}"/>
              </a:ext>
            </a:extLst>
          </p:cNvPr>
          <p:cNvSpPr/>
          <p:nvPr/>
        </p:nvSpPr>
        <p:spPr>
          <a:xfrm>
            <a:off x="3708400" y="3886200"/>
            <a:ext cx="5508625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/>
              <a:t>线性反馈移位寄存器综合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99D0911B-9C6E-4C98-9149-4670DE8980DB}"/>
              </a:ext>
            </a:extLst>
          </p:cNvPr>
          <p:cNvSpPr/>
          <p:nvPr/>
        </p:nvSpPr>
        <p:spPr>
          <a:xfrm>
            <a:off x="3200400" y="3784600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3FC7B9E-8294-4D93-A6BC-780479223236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Text Box 3">
            <a:extLst>
              <a:ext uri="{FF2B5EF4-FFF2-40B4-BE49-F238E27FC236}">
                <a16:creationId xmlns:a16="http://schemas.microsoft.com/office/drawing/2014/main" id="{AF090B5F-514B-47E8-A818-0F3D6D37E2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214438"/>
            <a:ext cx="8534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dirty="0">
                <a:latin typeface="+mn-lt"/>
                <a:ea typeface="+mn-ea"/>
              </a:rPr>
              <a:t>     </a:t>
            </a:r>
            <a:r>
              <a:rPr lang="zh-CN" altLang="en-US" dirty="0">
                <a:latin typeface="+mn-lt"/>
                <a:ea typeface="+mn-ea"/>
              </a:rPr>
              <a:t>根据密码学的需要，对线性反馈移位寄存器</a:t>
            </a:r>
            <a:r>
              <a:rPr lang="en-US" altLang="zh-CN" dirty="0">
                <a:latin typeface="+mn-lt"/>
                <a:ea typeface="+mn-ea"/>
              </a:rPr>
              <a:t>(LFSR)</a:t>
            </a:r>
            <a:r>
              <a:rPr lang="zh-CN" altLang="en-US" dirty="0">
                <a:latin typeface="+mn-lt"/>
                <a:ea typeface="+mn-ea"/>
              </a:rPr>
              <a:t>主要考虑下面两个问题：</a:t>
            </a:r>
          </a:p>
        </p:txBody>
      </p:sp>
      <p:sp>
        <p:nvSpPr>
          <p:cNvPr id="87044" name="Text Box 4">
            <a:extLst>
              <a:ext uri="{FF2B5EF4-FFF2-40B4-BE49-F238E27FC236}">
                <a16:creationId xmlns:a16="http://schemas.microsoft.com/office/drawing/2014/main" id="{B8D33F18-2AA5-420D-A434-C5BEED6AD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238375"/>
            <a:ext cx="95250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dirty="0">
                <a:latin typeface="+mn-lt"/>
                <a:ea typeface="+mn-ea"/>
              </a:rPr>
              <a:t>（</a:t>
            </a:r>
            <a:r>
              <a:rPr lang="en-US" altLang="zh-CN" dirty="0">
                <a:latin typeface="+mn-lt"/>
                <a:ea typeface="+mn-ea"/>
              </a:rPr>
              <a:t>1</a:t>
            </a:r>
            <a:r>
              <a:rPr lang="zh-CN" altLang="en-US" dirty="0">
                <a:latin typeface="+mn-lt"/>
                <a:ea typeface="+mn-ea"/>
              </a:rPr>
              <a:t>）如何利用级数尽可能短的</a:t>
            </a:r>
            <a:r>
              <a:rPr lang="en-US" altLang="zh-CN" dirty="0">
                <a:latin typeface="+mn-lt"/>
                <a:ea typeface="+mn-ea"/>
              </a:rPr>
              <a:t>LFSR</a:t>
            </a:r>
            <a:r>
              <a:rPr lang="zh-CN" altLang="en-US" dirty="0">
                <a:latin typeface="+mn-lt"/>
                <a:ea typeface="+mn-ea"/>
              </a:rPr>
              <a:t>产生周期大、随机性能良好的序列。</a:t>
            </a:r>
            <a:endParaRPr lang="en-US" altLang="zh-CN" dirty="0">
              <a:latin typeface="+mn-lt"/>
              <a:ea typeface="+mn-ea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        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这是从密钥生成角度考虑，用最小的代价产生尽可能好的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</a:rPr>
              <a:t>、参与密码变换的序列。</a:t>
            </a:r>
            <a:r>
              <a:rPr lang="zh-CN" altLang="en-US" dirty="0">
                <a:latin typeface="+mn-lt"/>
                <a:ea typeface="+mn-ea"/>
              </a:rPr>
              <a:t> </a:t>
            </a:r>
          </a:p>
        </p:txBody>
      </p:sp>
      <p:sp>
        <p:nvSpPr>
          <p:cNvPr id="87045" name="Text Box 5">
            <a:extLst>
              <a:ext uri="{FF2B5EF4-FFF2-40B4-BE49-F238E27FC236}">
                <a16:creationId xmlns:a16="http://schemas.microsoft.com/office/drawing/2014/main" id="{D8E2FC21-512C-44DE-92B8-26E455000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114800"/>
            <a:ext cx="9525000" cy="187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dirty="0">
                <a:latin typeface="+mn-lt"/>
                <a:ea typeface="+mn-ea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latin typeface="+mn-lt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+mn-lt"/>
                <a:ea typeface="+mn-ea"/>
                <a:cs typeface="Times New Roman" panose="02020603050405020304" pitchFamily="18" charset="0"/>
              </a:rPr>
              <a:t>）当已知一个长为</a:t>
            </a:r>
            <a:r>
              <a:rPr lang="en-US" altLang="zh-CN" i="1" dirty="0">
                <a:latin typeface="+mn-lt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+mn-lt"/>
                <a:ea typeface="+mn-ea"/>
                <a:cs typeface="Times New Roman" panose="02020603050405020304" pitchFamily="18" charset="0"/>
              </a:rPr>
              <a:t>序列</a:t>
            </a:r>
            <a:r>
              <a:rPr lang="en-US" altLang="zh-CN" i="1" u="sng" dirty="0">
                <a:latin typeface="+mn-lt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+mn-lt"/>
                <a:ea typeface="+mn-ea"/>
                <a:cs typeface="Times New Roman" panose="02020603050405020304" pitchFamily="18" charset="0"/>
              </a:rPr>
              <a:t>时，如何构造一个级数尽可能小的</a:t>
            </a:r>
            <a:r>
              <a:rPr lang="en-US" altLang="zh-CN" dirty="0">
                <a:latin typeface="+mn-lt"/>
                <a:ea typeface="+mn-ea"/>
                <a:cs typeface="Times New Roman" panose="02020603050405020304" pitchFamily="18" charset="0"/>
              </a:rPr>
              <a:t>LFSR</a:t>
            </a:r>
            <a:r>
              <a:rPr lang="zh-CN" altLang="en-US" dirty="0">
                <a:latin typeface="+mn-lt"/>
                <a:ea typeface="+mn-ea"/>
                <a:cs typeface="Times New Roman" panose="02020603050405020304" pitchFamily="18" charset="0"/>
              </a:rPr>
              <a:t>来产生它。</a:t>
            </a:r>
            <a:endParaRPr lang="en-US" altLang="zh-CN" dirty="0">
              <a:latin typeface="+mn-lt"/>
              <a:ea typeface="+mn-ea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        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这是从密码分析角度来考虑，要想用线性方法重构密钥序列所必须付出的最小代价。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E85BDB3-1D02-4165-895A-61CF2E67C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latin typeface="+mn-lt"/>
                <a:ea typeface="+mn-ea"/>
              </a:rPr>
              <a:t>线性反馈移位寄存器综合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874" name="组合 4">
            <a:extLst>
              <a:ext uri="{FF2B5EF4-FFF2-40B4-BE49-F238E27FC236}">
                <a16:creationId xmlns:a16="http://schemas.microsoft.com/office/drawing/2014/main" id="{0A3FEC0E-1632-4AB7-ABD5-254DE8F2BE93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1406525"/>
            <a:ext cx="8305800" cy="1041400"/>
            <a:chOff x="1952625" y="1406525"/>
            <a:chExt cx="8305800" cy="1041400"/>
          </a:xfrm>
        </p:grpSpPr>
        <p:sp>
          <p:nvSpPr>
            <p:cNvPr id="88067" name="Text Box 3">
              <a:extLst>
                <a:ext uri="{FF2B5EF4-FFF2-40B4-BE49-F238E27FC236}">
                  <a16:creationId xmlns:a16="http://schemas.microsoft.com/office/drawing/2014/main" id="{4135484C-DDC6-4EB6-BF5C-0AC5B0F69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2625" y="1406525"/>
              <a:ext cx="83058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  <a:defRPr/>
              </a:pPr>
              <a:r>
                <a:rPr lang="zh-CN" altLang="en-US" sz="2400" dirty="0">
                  <a:latin typeface="+mn-lt"/>
                  <a:ea typeface="+mn-ea"/>
                </a:rPr>
                <a:t>设                                   是    上的长度为</a:t>
              </a:r>
              <a:r>
                <a:rPr lang="en-US" altLang="zh-CN" sz="2400" i="1" dirty="0">
                  <a:latin typeface="+mn-lt"/>
                  <a:ea typeface="+mn-ea"/>
                  <a:cs typeface="Times New Roman" panose="02020603050405020304" pitchFamily="18" charset="0"/>
                </a:rPr>
                <a:t>N</a:t>
              </a:r>
              <a:r>
                <a:rPr lang="zh-CN" altLang="en-US" sz="2400" dirty="0">
                  <a:latin typeface="+mn-lt"/>
                  <a:ea typeface="+mn-ea"/>
                  <a:cs typeface="Times New Roman" panose="02020603050405020304" pitchFamily="18" charset="0"/>
                </a:rPr>
                <a:t>的</a:t>
              </a:r>
              <a:r>
                <a:rPr lang="zh-CN" altLang="en-US" sz="2400" dirty="0">
                  <a:latin typeface="+mn-lt"/>
                  <a:ea typeface="+mn-ea"/>
                </a:rPr>
                <a:t>序列，而              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885" name="Object 5">
                  <a:extLst>
                    <a:ext uri="{FF2B5EF4-FFF2-40B4-BE49-F238E27FC236}">
                      <a16:creationId xmlns:a16="http://schemas.microsoft.com/office/drawing/2014/main" id="{F77D4B4A-81AC-49BA-B21A-40496DBA9DD2}"/>
                    </a:ext>
                  </a:extLst>
                </p:cNvPr>
                <p:cNvSpPr txBox="1"/>
                <p:nvPr/>
              </p:nvSpPr>
              <p:spPr bwMode="auto">
                <a:xfrm>
                  <a:off x="2309813" y="1416050"/>
                  <a:ext cx="2705100" cy="501650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ba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07885" name="Object 5">
                  <a:extLst>
                    <a:ext uri="{FF2B5EF4-FFF2-40B4-BE49-F238E27FC236}">
                      <a16:creationId xmlns:a16="http://schemas.microsoft.com/office/drawing/2014/main" id="{F77D4B4A-81AC-49BA-B21A-40496DBA9D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09813" y="1416050"/>
                  <a:ext cx="2705100" cy="50165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886" name="Object 6">
                  <a:extLst>
                    <a:ext uri="{FF2B5EF4-FFF2-40B4-BE49-F238E27FC236}">
                      <a16:creationId xmlns:a16="http://schemas.microsoft.com/office/drawing/2014/main" id="{9D8399E1-BB18-4E72-B560-07DFDEC81107}"/>
                    </a:ext>
                  </a:extLst>
                </p:cNvPr>
                <p:cNvSpPr txBox="1"/>
                <p:nvPr/>
              </p:nvSpPr>
              <p:spPr bwMode="auto">
                <a:xfrm>
                  <a:off x="5318919" y="1416448"/>
                  <a:ext cx="374650" cy="455612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07886" name="Object 6">
                  <a:extLst>
                    <a:ext uri="{FF2B5EF4-FFF2-40B4-BE49-F238E27FC236}">
                      <a16:creationId xmlns:a16="http://schemas.microsoft.com/office/drawing/2014/main" id="{9D8399E1-BB18-4E72-B560-07DFDEC811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18919" y="1416448"/>
                  <a:ext cx="374650" cy="45561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8070" name="Text Box 12">
              <a:extLst>
                <a:ext uri="{FF2B5EF4-FFF2-40B4-BE49-F238E27FC236}">
                  <a16:creationId xmlns:a16="http://schemas.microsoft.com/office/drawing/2014/main" id="{C7417C51-0F9E-466E-8AE9-3DBA17BED0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2225" y="1985963"/>
              <a:ext cx="388620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  <a:defRPr/>
              </a:pPr>
              <a:r>
                <a:rPr lang="zh-CN" altLang="en-US" sz="2400" dirty="0">
                  <a:latin typeface="+mn-lt"/>
                  <a:ea typeface="+mn-ea"/>
                </a:rPr>
                <a:t>是      上的多项式，</a:t>
              </a:r>
              <a:r>
                <a:rPr lang="en-US" altLang="zh-CN" sz="2400" i="1" dirty="0">
                  <a:latin typeface="+mn-lt"/>
                  <a:ea typeface="+mn-ea"/>
                </a:rPr>
                <a:t>c</a:t>
              </a:r>
              <a:r>
                <a:rPr lang="en-US" altLang="zh-CN" sz="2400" baseline="-25000" dirty="0">
                  <a:latin typeface="+mn-lt"/>
                  <a:ea typeface="+mn-ea"/>
                </a:rPr>
                <a:t>0</a:t>
              </a:r>
              <a:r>
                <a:rPr lang="en-US" altLang="zh-CN" sz="2400" dirty="0">
                  <a:latin typeface="+mn-lt"/>
                  <a:ea typeface="+mn-ea"/>
                </a:rPr>
                <a:t>=1.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888" name="Object 7">
                  <a:extLst>
                    <a:ext uri="{FF2B5EF4-FFF2-40B4-BE49-F238E27FC236}">
                      <a16:creationId xmlns:a16="http://schemas.microsoft.com/office/drawing/2014/main" id="{E6BFC45B-A977-429B-B9F3-379022B3E627}"/>
                    </a:ext>
                  </a:extLst>
                </p:cNvPr>
                <p:cNvSpPr txBox="1"/>
                <p:nvPr/>
              </p:nvSpPr>
              <p:spPr bwMode="auto">
                <a:xfrm>
                  <a:off x="6829425" y="1992312"/>
                  <a:ext cx="374650" cy="455613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07888" name="Object 7">
                  <a:extLst>
                    <a:ext uri="{FF2B5EF4-FFF2-40B4-BE49-F238E27FC236}">
                      <a16:creationId xmlns:a16="http://schemas.microsoft.com/office/drawing/2014/main" id="{E6BFC45B-A977-429B-B9F3-379022B3E6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29425" y="1992312"/>
                  <a:ext cx="374650" cy="45561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889" name="Object 8">
                  <a:extLst>
                    <a:ext uri="{FF2B5EF4-FFF2-40B4-BE49-F238E27FC236}">
                      <a16:creationId xmlns:a16="http://schemas.microsoft.com/office/drawing/2014/main" id="{F1BC086F-442C-4935-9173-B31BA7C6BF71}"/>
                    </a:ext>
                  </a:extLst>
                </p:cNvPr>
                <p:cNvSpPr txBox="1"/>
                <p:nvPr/>
              </p:nvSpPr>
              <p:spPr bwMode="auto">
                <a:xfrm>
                  <a:off x="2105025" y="1939925"/>
                  <a:ext cx="4141788" cy="508000"/>
                </a:xfrm>
                <a:prstGeom prst="rect">
                  <a:avLst/>
                </a:prstGeom>
                <a:noFill/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+⋯+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07889" name="Object 8">
                  <a:extLst>
                    <a:ext uri="{FF2B5EF4-FFF2-40B4-BE49-F238E27FC236}">
                      <a16:creationId xmlns:a16="http://schemas.microsoft.com/office/drawing/2014/main" id="{F1BC086F-442C-4935-9173-B31BA7C6BF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05025" y="1939925"/>
                  <a:ext cx="4141788" cy="508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rgbClr val="FF0000"/>
                  </a:solidFill>
                  <a:miter lim="800000"/>
                  <a:headEnd/>
                  <a:tailEnd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7875" name="组合 3">
            <a:extLst>
              <a:ext uri="{FF2B5EF4-FFF2-40B4-BE49-F238E27FC236}">
                <a16:creationId xmlns:a16="http://schemas.microsoft.com/office/drawing/2014/main" id="{1B35BE02-B2DB-4CD0-A6CE-A62E178488F6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792413"/>
            <a:ext cx="9869488" cy="2308225"/>
            <a:chOff x="1179513" y="2381250"/>
            <a:chExt cx="9869487" cy="2308324"/>
          </a:xfrm>
        </p:grpSpPr>
        <p:sp>
          <p:nvSpPr>
            <p:cNvPr id="88079" name="Text Box 9">
              <a:extLst>
                <a:ext uri="{FF2B5EF4-FFF2-40B4-BE49-F238E27FC236}">
                  <a16:creationId xmlns:a16="http://schemas.microsoft.com/office/drawing/2014/main" id="{3535F631-C032-42D8-8CA0-329F43CEE8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9513" y="2381250"/>
              <a:ext cx="9869487" cy="2308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zh-CN" altLang="en-US" sz="2400" dirty="0">
                  <a:latin typeface="+mn-lt"/>
                  <a:ea typeface="+mn-ea"/>
                </a:rPr>
                <a:t>如果序列中的元素满足递推关系：                           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zh-CN" altLang="en-US" sz="2400" dirty="0">
                  <a:latin typeface="+mn-lt"/>
                  <a:ea typeface="+mn-ea"/>
                </a:rPr>
                <a:t>       </a:t>
              </a:r>
              <a:endParaRPr lang="en-US" altLang="zh-CN" sz="2400" dirty="0">
                <a:latin typeface="+mn-lt"/>
                <a:ea typeface="+mn-ea"/>
              </a:endParaRPr>
            </a:p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zh-CN" altLang="en-US" sz="2400" dirty="0">
                  <a:latin typeface="+mn-lt"/>
                  <a:ea typeface="+mn-ea"/>
                </a:rPr>
                <a:t>                                   </a:t>
              </a:r>
            </a:p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zh-CN" altLang="en-US" sz="2400" dirty="0">
                  <a:latin typeface="+mn-lt"/>
                  <a:ea typeface="+mn-ea"/>
                </a:rPr>
                <a:t>则称                 产生二元序列</a:t>
              </a:r>
              <a:r>
                <a:rPr lang="en-US" altLang="zh-CN" sz="2400" i="1" u="sng" dirty="0">
                  <a:latin typeface="+mn-lt"/>
                  <a:ea typeface="+mn-ea"/>
                  <a:cs typeface="Times New Roman" panose="02020603050405020304" pitchFamily="18" charset="0"/>
                </a:rPr>
                <a:t>a</a:t>
              </a:r>
              <a:r>
                <a:rPr lang="zh-CN" altLang="en-US" sz="2400" dirty="0">
                  <a:latin typeface="+mn-lt"/>
                  <a:ea typeface="+mn-ea"/>
                </a:rPr>
                <a:t>。其中               表示以</a:t>
              </a:r>
              <a:r>
                <a:rPr lang="en-US" altLang="zh-CN" sz="2400" i="1" dirty="0">
                  <a:latin typeface="+mn-lt"/>
                  <a:ea typeface="+mn-ea"/>
                </a:rPr>
                <a:t>f</a:t>
              </a:r>
              <a:r>
                <a:rPr lang="en-US" altLang="zh-CN" sz="2400" dirty="0">
                  <a:latin typeface="+mn-lt"/>
                  <a:ea typeface="+mn-ea"/>
                </a:rPr>
                <a:t>(</a:t>
              </a:r>
              <a:r>
                <a:rPr lang="en-US" altLang="zh-CN" sz="2400" i="1" dirty="0">
                  <a:latin typeface="+mn-lt"/>
                  <a:ea typeface="+mn-ea"/>
                </a:rPr>
                <a:t>x</a:t>
              </a:r>
              <a:r>
                <a:rPr lang="en-US" altLang="zh-CN" sz="2400" dirty="0">
                  <a:latin typeface="+mn-lt"/>
                  <a:ea typeface="+mn-ea"/>
                </a:rPr>
                <a:t>)</a:t>
              </a:r>
              <a:r>
                <a:rPr lang="zh-CN" altLang="en-US" sz="2400" dirty="0">
                  <a:latin typeface="+mn-lt"/>
                  <a:ea typeface="+mn-ea"/>
                </a:rPr>
                <a:t>为特征多项式的</a:t>
              </a:r>
              <a:r>
                <a:rPr lang="en-US" altLang="zh-CN" sz="2400" i="1" dirty="0">
                  <a:latin typeface="+mn-lt"/>
                  <a:ea typeface="+mn-ea"/>
                </a:rPr>
                <a:t>l</a:t>
              </a:r>
              <a:r>
                <a:rPr lang="zh-CN" altLang="en-US" sz="2400" dirty="0">
                  <a:latin typeface="+mn-lt"/>
                  <a:ea typeface="+mn-ea"/>
                </a:rPr>
                <a:t>级线性移位寄存器。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881" name="Object 3">
                  <a:extLst>
                    <a:ext uri="{FF2B5EF4-FFF2-40B4-BE49-F238E27FC236}">
                      <a16:creationId xmlns:a16="http://schemas.microsoft.com/office/drawing/2014/main" id="{C7C80167-C74A-4439-921B-8F75E94B7971}"/>
                    </a:ext>
                  </a:extLst>
                </p:cNvPr>
                <p:cNvSpPr txBox="1"/>
                <p:nvPr/>
              </p:nvSpPr>
              <p:spPr bwMode="auto">
                <a:xfrm>
                  <a:off x="1933576" y="2987701"/>
                  <a:ext cx="8245474" cy="479446"/>
                </a:xfrm>
                <a:prstGeom prst="rect">
                  <a:avLst/>
                </a:prstGeom>
                <a:noFill/>
                <a:ln w="19050">
                  <a:solidFill>
                    <a:schemeClr val="accent2"/>
                  </a:solidFill>
                  <a:miter lim="800000"/>
                  <a:headEnd/>
                  <a:tailEnd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⊕⋯⊕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, 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, 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+1, ⋯, 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−1   (2)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07881" name="Object 3">
                  <a:extLst>
                    <a:ext uri="{FF2B5EF4-FFF2-40B4-BE49-F238E27FC236}">
                      <a16:creationId xmlns:a16="http://schemas.microsoft.com/office/drawing/2014/main" id="{C7C80167-C74A-4439-921B-8F75E94B79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33576" y="2987701"/>
                  <a:ext cx="8245474" cy="479446"/>
                </a:xfrm>
                <a:prstGeom prst="rect">
                  <a:avLst/>
                </a:prstGeom>
                <a:blipFill>
                  <a:blip r:embed="rId7"/>
                  <a:stretch>
                    <a:fillRect b="-1235"/>
                  </a:stretch>
                </a:blipFill>
                <a:ln w="19050">
                  <a:solidFill>
                    <a:schemeClr val="accent2"/>
                  </a:solidFill>
                  <a:miter lim="800000"/>
                  <a:headEnd/>
                  <a:tailEnd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882" name="Object 4">
                  <a:extLst>
                    <a:ext uri="{FF2B5EF4-FFF2-40B4-BE49-F238E27FC236}">
                      <a16:creationId xmlns:a16="http://schemas.microsoft.com/office/drawing/2014/main" id="{2F93BBB4-53CC-4E5A-9A17-278FEF8066E3}"/>
                    </a:ext>
                  </a:extLst>
                </p:cNvPr>
                <p:cNvSpPr txBox="1"/>
                <p:nvPr/>
              </p:nvSpPr>
              <p:spPr bwMode="auto">
                <a:xfrm>
                  <a:off x="1865811" y="3711659"/>
                  <a:ext cx="1376474" cy="531813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),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07882" name="Object 4">
                  <a:extLst>
                    <a:ext uri="{FF2B5EF4-FFF2-40B4-BE49-F238E27FC236}">
                      <a16:creationId xmlns:a16="http://schemas.microsoft.com/office/drawing/2014/main" id="{2F93BBB4-53CC-4E5A-9A17-278FEF8066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65811" y="3711659"/>
                  <a:ext cx="1376474" cy="53181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883" name="Object 2">
                  <a:extLst>
                    <a:ext uri="{FF2B5EF4-FFF2-40B4-BE49-F238E27FC236}">
                      <a16:creationId xmlns:a16="http://schemas.microsoft.com/office/drawing/2014/main" id="{633A851C-E5C9-44C4-88A9-1E60DFEB0577}"/>
                    </a:ext>
                  </a:extLst>
                </p:cNvPr>
                <p:cNvSpPr txBox="1"/>
                <p:nvPr/>
              </p:nvSpPr>
              <p:spPr bwMode="auto">
                <a:xfrm>
                  <a:off x="6172199" y="3689820"/>
                  <a:ext cx="1147762" cy="531812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),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07883" name="Object 2">
                  <a:extLst>
                    <a:ext uri="{FF2B5EF4-FFF2-40B4-BE49-F238E27FC236}">
                      <a16:creationId xmlns:a16="http://schemas.microsoft.com/office/drawing/2014/main" id="{633A851C-E5C9-44C4-88A9-1E60DFEB05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72199" y="3689820"/>
                  <a:ext cx="1147762" cy="53181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7876" name="组合 2">
            <a:extLst>
              <a:ext uri="{FF2B5EF4-FFF2-40B4-BE49-F238E27FC236}">
                <a16:creationId xmlns:a16="http://schemas.microsoft.com/office/drawing/2014/main" id="{CAE73B57-D4B0-4777-B3B2-15CACAC54DB1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5202238"/>
            <a:ext cx="10134600" cy="1347787"/>
            <a:chOff x="609600" y="4827588"/>
            <a:chExt cx="10134600" cy="1348061"/>
          </a:xfrm>
        </p:grpSpPr>
        <p:sp>
          <p:nvSpPr>
            <p:cNvPr id="88073" name="Text Box 32">
              <a:extLst>
                <a:ext uri="{FF2B5EF4-FFF2-40B4-BE49-F238E27FC236}">
                  <a16:creationId xmlns:a16="http://schemas.microsoft.com/office/drawing/2014/main" id="{BCE6EAB8-33F3-43AD-8363-3E6A0F563F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4827588"/>
              <a:ext cx="10134600" cy="13480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  <a:defRPr/>
              </a:pPr>
              <a:r>
                <a:rPr lang="zh-CN" altLang="en-US" sz="2400" dirty="0">
                  <a:latin typeface="+mn-lt"/>
                  <a:ea typeface="+mn-ea"/>
                </a:rPr>
                <a:t>如果</a:t>
              </a:r>
              <a:r>
                <a:rPr lang="en-US" altLang="zh-CN" sz="2400" i="1" dirty="0">
                  <a:latin typeface="+mn-lt"/>
                  <a:ea typeface="+mn-ea"/>
                  <a:cs typeface="Times New Roman" panose="02020603050405020304" pitchFamily="18" charset="0"/>
                </a:rPr>
                <a:t>f</a:t>
              </a:r>
              <a:r>
                <a:rPr lang="en-US" altLang="zh-CN" sz="2400" dirty="0">
                  <a:latin typeface="+mn-lt"/>
                  <a:ea typeface="+mn-ea"/>
                  <a:cs typeface="Times New Roman" panose="02020603050405020304" pitchFamily="18" charset="0"/>
                </a:rPr>
                <a:t>(</a:t>
              </a:r>
              <a:r>
                <a:rPr lang="en-US" altLang="zh-CN" sz="2400" i="1" dirty="0">
                  <a:latin typeface="+mn-lt"/>
                  <a:ea typeface="+mn-ea"/>
                  <a:cs typeface="Times New Roman" panose="02020603050405020304" pitchFamily="18" charset="0"/>
                </a:rPr>
                <a:t>x</a:t>
              </a:r>
              <a:r>
                <a:rPr lang="en-US" altLang="zh-CN" sz="2400" dirty="0">
                  <a:latin typeface="+mn-lt"/>
                  <a:ea typeface="+mn-ea"/>
                  <a:cs typeface="Times New Roman" panose="02020603050405020304" pitchFamily="18" charset="0"/>
                </a:rPr>
                <a:t>)</a:t>
              </a:r>
              <a:r>
                <a:rPr lang="zh-CN" altLang="en-US" sz="2400" dirty="0">
                  <a:latin typeface="+mn-lt"/>
                  <a:ea typeface="+mn-ea"/>
                </a:rPr>
                <a:t>是一个能产生</a:t>
              </a:r>
              <a:r>
                <a:rPr lang="en-US" altLang="zh-CN" sz="2400" i="1" u="sng" dirty="0">
                  <a:latin typeface="+mn-lt"/>
                  <a:ea typeface="+mn-ea"/>
                </a:rPr>
                <a:t>a</a:t>
              </a:r>
              <a:r>
                <a:rPr lang="zh-CN" altLang="en-US" sz="2400" dirty="0">
                  <a:latin typeface="+mn-lt"/>
                  <a:ea typeface="+mn-ea"/>
                </a:rPr>
                <a:t>并且级数最小的线性移位寄存器的特征多项式，</a:t>
              </a:r>
              <a:r>
                <a:rPr lang="en-US" altLang="zh-CN" sz="2400" i="1" dirty="0">
                  <a:latin typeface="+mn-lt"/>
                  <a:ea typeface="+mn-ea"/>
                </a:rPr>
                <a:t>l</a:t>
              </a:r>
              <a:r>
                <a:rPr lang="zh-CN" altLang="en-US" sz="2400" dirty="0">
                  <a:latin typeface="+mn-lt"/>
                  <a:ea typeface="+mn-ea"/>
                </a:rPr>
                <a:t>是该移存器的级数，则称                 为</a:t>
              </a:r>
              <a:r>
                <a:rPr lang="zh-CN" altLang="en-US" sz="2400" dirty="0">
                  <a:solidFill>
                    <a:schemeClr val="accent2"/>
                  </a:solidFill>
                  <a:latin typeface="+mn-lt"/>
                  <a:ea typeface="+mn-ea"/>
                </a:rPr>
                <a:t>序列</a:t>
              </a:r>
              <a:r>
                <a:rPr lang="en-US" altLang="zh-CN" sz="2400" i="1" u="sng" dirty="0">
                  <a:solidFill>
                    <a:schemeClr val="accent2"/>
                  </a:solidFill>
                  <a:latin typeface="+mn-lt"/>
                  <a:ea typeface="+mn-ea"/>
                </a:rPr>
                <a:t>a</a:t>
              </a:r>
              <a:r>
                <a:rPr lang="zh-CN" altLang="en-US" sz="2400" dirty="0">
                  <a:solidFill>
                    <a:schemeClr val="accent2"/>
                  </a:solidFill>
                  <a:latin typeface="+mn-lt"/>
                  <a:ea typeface="+mn-ea"/>
                </a:rPr>
                <a:t>的线性综合解</a:t>
              </a:r>
              <a:r>
                <a:rPr lang="zh-CN" altLang="en-US" sz="2400" dirty="0">
                  <a:latin typeface="+mn-lt"/>
                  <a:ea typeface="+mn-ea"/>
                </a:rPr>
                <a:t>。</a:t>
              </a:r>
              <a:endParaRPr lang="en-US" altLang="zh-CN" sz="2400" dirty="0">
                <a:latin typeface="+mn-lt"/>
                <a:ea typeface="+mn-ea"/>
              </a:endParaRPr>
            </a:p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  <a:defRPr/>
              </a:pPr>
              <a:endParaRPr lang="zh-CN" altLang="en-US" sz="2400" dirty="0">
                <a:latin typeface="+mn-lt"/>
                <a:ea typeface="+mn-ea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879" name="Object 9">
                  <a:extLst>
                    <a:ext uri="{FF2B5EF4-FFF2-40B4-BE49-F238E27FC236}">
                      <a16:creationId xmlns:a16="http://schemas.microsoft.com/office/drawing/2014/main" id="{C8E52081-CBC5-4FF2-814B-2BA3981CE42B}"/>
                    </a:ext>
                  </a:extLst>
                </p:cNvPr>
                <p:cNvSpPr txBox="1"/>
                <p:nvPr/>
              </p:nvSpPr>
              <p:spPr bwMode="auto">
                <a:xfrm>
                  <a:off x="3810000" y="5307734"/>
                  <a:ext cx="1043420" cy="483466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),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07879" name="Object 9">
                  <a:extLst>
                    <a:ext uri="{FF2B5EF4-FFF2-40B4-BE49-F238E27FC236}">
                      <a16:creationId xmlns:a16="http://schemas.microsoft.com/office/drawing/2014/main" id="{C8E52081-CBC5-4FF2-814B-2BA3981CE4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10000" y="5307734"/>
                  <a:ext cx="1043420" cy="48346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74EAD35D-1DF6-4D6C-BA17-A4D0F8E89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线性综合解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9">
            <a:extLst>
              <a:ext uri="{FF2B5EF4-FFF2-40B4-BE49-F238E27FC236}">
                <a16:creationId xmlns:a16="http://schemas.microsoft.com/office/drawing/2014/main" id="{760FB4DF-073F-4013-A0CC-F9AF4F27D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139825"/>
            <a:ext cx="101806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 dirty="0">
                <a:latin typeface="+mn-lt"/>
                <a:ea typeface="+mn-ea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线性移位寄存器的综合问题</a:t>
            </a:r>
            <a:r>
              <a:rPr lang="zh-CN" altLang="en-US" sz="2400" dirty="0">
                <a:latin typeface="+mn-lt"/>
                <a:ea typeface="+mn-ea"/>
                <a:cs typeface="Times New Roman" panose="02020603050405020304" pitchFamily="18" charset="0"/>
              </a:rPr>
              <a:t>可表述为：给定一个</a:t>
            </a:r>
            <a:r>
              <a:rPr lang="en-US" altLang="zh-CN" sz="2400" i="1" dirty="0">
                <a:latin typeface="+mn-lt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+mn-lt"/>
                <a:ea typeface="+mn-ea"/>
                <a:cs typeface="Times New Roman" panose="02020603050405020304" pitchFamily="18" charset="0"/>
              </a:rPr>
              <a:t>长二元序列</a:t>
            </a:r>
            <a:r>
              <a:rPr lang="en-US" altLang="zh-CN" sz="2400" i="1" u="sng" dirty="0">
                <a:latin typeface="+mn-lt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+mn-lt"/>
                <a:ea typeface="+mn-ea"/>
                <a:cs typeface="Times New Roman" panose="02020603050405020304" pitchFamily="18" charset="0"/>
              </a:rPr>
              <a:t>，如何求出产生这一序列的最小级数的线性移位寄存器，即最短的线性移存器。</a:t>
            </a:r>
          </a:p>
        </p:txBody>
      </p:sp>
      <p:sp>
        <p:nvSpPr>
          <p:cNvPr id="25618" name="Text Box 18">
            <a:extLst>
              <a:ext uri="{FF2B5EF4-FFF2-40B4-BE49-F238E27FC236}">
                <a16:creationId xmlns:a16="http://schemas.microsoft.com/office/drawing/2014/main" id="{35061E3E-2847-49F9-9278-FC367CA6A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300" y="3530600"/>
            <a:ext cx="10026650" cy="188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2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规定：</a:t>
            </a:r>
            <a:r>
              <a:rPr lang="en-US" altLang="zh-CN" sz="2400" b="1">
                <a:solidFill>
                  <a:schemeClr val="accent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>
                <a:solidFill>
                  <a:schemeClr val="accent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级线性移位寄存器是以</a:t>
            </a:r>
            <a:r>
              <a:rPr lang="en-US" altLang="zh-CN" sz="2400" b="1" i="1">
                <a:solidFill>
                  <a:schemeClr val="accent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b="1">
                <a:solidFill>
                  <a:schemeClr val="accent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solidFill>
                  <a:schemeClr val="accent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solidFill>
                  <a:schemeClr val="accent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)=1</a:t>
            </a:r>
            <a:r>
              <a:rPr lang="zh-CN" altLang="en-US" sz="2400" b="1">
                <a:solidFill>
                  <a:schemeClr val="accent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为特征多项式的线性移位寄存器，且</a:t>
            </a:r>
            <a:r>
              <a:rPr lang="en-US" altLang="zh-CN" sz="2400" b="1" i="1">
                <a:solidFill>
                  <a:schemeClr val="accent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400" b="1">
                <a:solidFill>
                  <a:schemeClr val="accent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长</a:t>
            </a:r>
            <a:r>
              <a:rPr lang="en-US" altLang="zh-CN" sz="2400" b="1">
                <a:solidFill>
                  <a:schemeClr val="accent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solidFill>
                  <a:schemeClr val="accent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solidFill>
                  <a:schemeClr val="accent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=1, 2, …, </a:t>
            </a:r>
            <a:r>
              <a:rPr lang="en-US" altLang="zh-CN" sz="2400" b="1" i="1">
                <a:solidFill>
                  <a:schemeClr val="accent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solidFill>
                  <a:schemeClr val="accent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>
                <a:solidFill>
                  <a:schemeClr val="accent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全零序列，仅由</a:t>
            </a:r>
            <a:r>
              <a:rPr lang="en-US" altLang="zh-CN" sz="2400" b="1">
                <a:solidFill>
                  <a:schemeClr val="accent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400" b="1">
                <a:solidFill>
                  <a:schemeClr val="accent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级线性移位寄存器产生。</a:t>
            </a:r>
            <a:r>
              <a:rPr lang="zh-CN" altLang="en-US" sz="2400" b="1">
                <a:ea typeface="宋体" panose="02010600030101010101" pitchFamily="2" charset="-122"/>
                <a:cs typeface="Times New Roman" panose="02020603050405020304" pitchFamily="18" charset="0"/>
              </a:rPr>
              <a:t>事实上，以</a:t>
            </a:r>
            <a:r>
              <a:rPr lang="en-US" altLang="zh-CN" sz="2400" b="1" i="1"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400" b="1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400" b="1">
                <a:ea typeface="宋体" panose="02010600030101010101" pitchFamily="2" charset="-122"/>
                <a:cs typeface="Times New Roman" panose="02020603050405020304" pitchFamily="18" charset="0"/>
              </a:rPr>
              <a:t>)=1</a:t>
            </a:r>
            <a:r>
              <a:rPr lang="zh-CN" altLang="en-US" sz="2400" b="1">
                <a:ea typeface="宋体" panose="02010600030101010101" pitchFamily="2" charset="-122"/>
                <a:cs typeface="Times New Roman" panose="02020603050405020304" pitchFamily="18" charset="0"/>
              </a:rPr>
              <a:t>为反馈特征多项式的递归关系式是：</a:t>
            </a:r>
            <a:r>
              <a:rPr lang="en-US" altLang="zh-CN" sz="2400" b="1" i="1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-25000"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2400" b="1">
                <a:ea typeface="宋体" panose="02010600030101010101" pitchFamily="2" charset="-122"/>
                <a:cs typeface="Times New Roman" panose="02020603050405020304" pitchFamily="18" charset="0"/>
              </a:rPr>
              <a:t>=0</a:t>
            </a:r>
            <a:r>
              <a:rPr lang="zh-CN" altLang="en-US" sz="2400" b="1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i="1">
                <a:ea typeface="宋体" panose="02010600030101010101" pitchFamily="2" charset="-122"/>
                <a:cs typeface="Times New Roman" panose="02020603050405020304" pitchFamily="18" charset="0"/>
              </a:rPr>
              <a:t>k=</a:t>
            </a:r>
            <a:r>
              <a:rPr lang="en-US" altLang="zh-CN" sz="2400" b="1">
                <a:ea typeface="宋体" panose="02010600030101010101" pitchFamily="2" charset="-122"/>
                <a:cs typeface="Times New Roman" panose="02020603050405020304" pitchFamily="18" charset="0"/>
              </a:rPr>
              <a:t>0, 1, …, </a:t>
            </a:r>
            <a:r>
              <a:rPr lang="en-US" altLang="zh-CN" sz="2400" b="1" i="1">
                <a:ea typeface="宋体" panose="02010600030101010101" pitchFamily="2" charset="-122"/>
                <a:cs typeface="Times New Roman" panose="02020603050405020304" pitchFamily="18" charset="0"/>
              </a:rPr>
              <a:t>n-</a:t>
            </a:r>
            <a:r>
              <a:rPr lang="en-US" altLang="zh-CN" sz="2400" b="1">
                <a:ea typeface="宋体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b="1">
                <a:ea typeface="宋体" panose="02010600030101010101" pitchFamily="2" charset="-122"/>
                <a:cs typeface="Times New Roman" panose="02020603050405020304" pitchFamily="18" charset="0"/>
              </a:rPr>
              <a:t>因此，这一规定是合理的。</a:t>
            </a:r>
          </a:p>
        </p:txBody>
      </p:sp>
      <p:sp>
        <p:nvSpPr>
          <p:cNvPr id="25620" name="Text Box 20">
            <a:extLst>
              <a:ext uri="{FF2B5EF4-FFF2-40B4-BE49-F238E27FC236}">
                <a16:creationId xmlns:a16="http://schemas.microsoft.com/office/drawing/2014/main" id="{7B486839-90F1-4AFB-BA6E-ACBBE7DAF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063" y="2193925"/>
            <a:ext cx="100266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</a:rPr>
              <a:t>        1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</a:rPr>
              <a:t>、特征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多项式</a:t>
            </a:r>
            <a:r>
              <a:rPr lang="en-US" altLang="zh-CN" sz="2400" i="1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的次数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i="1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zh-CN" altLang="en-US" sz="2400" i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r>
              <a:rPr lang="zh-CN" altLang="en-US" sz="2400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因为产生</a:t>
            </a:r>
            <a:r>
              <a:rPr lang="en-US" altLang="zh-CN" sz="2400" i="1" u="sng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且级数最小的线性移位寄存器可能是退化的，在这种情况下 </a:t>
            </a:r>
            <a:r>
              <a:rPr lang="en-US" altLang="zh-CN" sz="2400" i="1" dirty="0">
                <a:latin typeface="+mn-lt"/>
                <a:ea typeface="+mn-ea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+mn-lt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+mn-lt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+mn-lt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+mn-lt"/>
                <a:ea typeface="+mn-ea"/>
                <a:cs typeface="Times New Roman" panose="02020603050405020304" pitchFamily="18" charset="0"/>
              </a:rPr>
              <a:t>的次数</a:t>
            </a:r>
            <a:r>
              <a:rPr lang="en-US" altLang="zh-CN" sz="2400" dirty="0">
                <a:latin typeface="+mn-lt"/>
                <a:ea typeface="+mn-ea"/>
                <a:cs typeface="Times New Roman" panose="02020603050405020304" pitchFamily="18" charset="0"/>
              </a:rPr>
              <a:t>&lt;</a:t>
            </a:r>
            <a:r>
              <a:rPr lang="en-US" altLang="zh-CN" sz="2400" i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zh-CN" altLang="en-US" sz="2400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；并且此时</a:t>
            </a:r>
            <a:r>
              <a:rPr lang="zh-CN" altLang="en-US" sz="2400" i="1" dirty="0">
                <a:latin typeface="+mn-lt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i="1" dirty="0">
                <a:latin typeface="+mn-lt"/>
                <a:ea typeface="+mn-ea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+mn-lt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+mn-lt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+mn-lt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中的</a:t>
            </a:r>
            <a:r>
              <a:rPr lang="en-US" altLang="zh-CN" sz="2400" i="1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c</a:t>
            </a:r>
            <a:r>
              <a:rPr lang="en-US" altLang="zh-CN" sz="2400" i="1" baseline="-250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l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=0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，因此在特征多项式</a:t>
            </a:r>
            <a:r>
              <a:rPr lang="en-US" altLang="zh-CN" sz="2400" i="1" dirty="0">
                <a:latin typeface="+mn-lt"/>
                <a:ea typeface="+mn-ea"/>
                <a:cs typeface="Times New Roman" panose="02020603050405020304" pitchFamily="18" charset="0"/>
              </a:rPr>
              <a:t>f</a:t>
            </a:r>
            <a:r>
              <a:rPr lang="en-US" altLang="zh-CN" sz="2400" dirty="0">
                <a:latin typeface="+mn-lt"/>
                <a:ea typeface="+mn-ea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+mn-lt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+mn-lt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中仅要求</a:t>
            </a:r>
            <a:r>
              <a:rPr lang="en-US" altLang="zh-CN" sz="2400" i="1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c</a:t>
            </a:r>
            <a:r>
              <a:rPr lang="en-US" altLang="zh-CN" sz="2400" baseline="-250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0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=1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，但不要求</a:t>
            </a:r>
            <a:r>
              <a:rPr lang="en-US" altLang="zh-CN" sz="2400" i="1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c</a:t>
            </a:r>
            <a:r>
              <a:rPr lang="en-US" altLang="zh-CN" sz="2400" i="1" baseline="-250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l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=1</a:t>
            </a:r>
            <a:r>
              <a:rPr lang="zh-CN" altLang="en-US" sz="2400" dirty="0">
                <a:latin typeface="+mn-lt"/>
                <a:ea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5621" name="Text Box 21">
            <a:extLst>
              <a:ext uri="{FF2B5EF4-FFF2-40B4-BE49-F238E27FC236}">
                <a16:creationId xmlns:a16="http://schemas.microsoft.com/office/drawing/2014/main" id="{AA8AFAF7-A858-4762-BFF4-6DED0C7A9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5410200"/>
            <a:ext cx="101790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         3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sz="2400" dirty="0">
                <a:latin typeface="+mn-lt"/>
                <a:ea typeface="+mn-ea"/>
                <a:cs typeface="Times New Roman" panose="02020603050405020304" pitchFamily="18" charset="0"/>
              </a:rPr>
              <a:t>给定一个</a:t>
            </a:r>
            <a:r>
              <a:rPr lang="en-US" altLang="zh-CN" sz="2400" i="1" dirty="0">
                <a:latin typeface="+mn-lt"/>
                <a:ea typeface="+mn-ea"/>
                <a:cs typeface="Times New Roman" panose="02020603050405020304" pitchFamily="18" charset="0"/>
              </a:rPr>
              <a:t>N</a:t>
            </a:r>
            <a:r>
              <a:rPr lang="zh-CN" altLang="en-US" sz="2400" dirty="0">
                <a:latin typeface="+mn-lt"/>
                <a:ea typeface="+mn-ea"/>
                <a:cs typeface="Times New Roman" panose="02020603050405020304" pitchFamily="18" charset="0"/>
              </a:rPr>
              <a:t>长二元序列</a:t>
            </a:r>
            <a:r>
              <a:rPr lang="en-US" altLang="zh-CN" sz="2400" i="1" u="sng" dirty="0">
                <a:latin typeface="+mn-lt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+mn-lt"/>
                <a:ea typeface="+mn-ea"/>
                <a:cs typeface="Times New Roman" panose="02020603050405020304" pitchFamily="18" charset="0"/>
              </a:rPr>
              <a:t>，求能产生</a:t>
            </a:r>
            <a:r>
              <a:rPr lang="en-US" altLang="zh-CN" sz="2400" i="1" u="sng" dirty="0">
                <a:latin typeface="+mn-lt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+mn-lt"/>
                <a:ea typeface="+mn-ea"/>
                <a:cs typeface="Times New Roman" panose="02020603050405020304" pitchFamily="18" charset="0"/>
              </a:rPr>
              <a:t>并且级数最小的线性移位寄存器，就是求</a:t>
            </a:r>
            <a:r>
              <a:rPr lang="en-US" altLang="zh-CN" sz="2400" i="1" u="sng" dirty="0">
                <a:solidFill>
                  <a:schemeClr val="accent2"/>
                </a:solidFill>
                <a:latin typeface="+mn-lt"/>
                <a:ea typeface="+mn-ea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chemeClr val="accent2"/>
                </a:solidFill>
                <a:latin typeface="+mn-lt"/>
                <a:ea typeface="+mn-ea"/>
                <a:cs typeface="Times New Roman" panose="02020603050405020304" pitchFamily="18" charset="0"/>
              </a:rPr>
              <a:t>的线性综合解</a:t>
            </a:r>
            <a:r>
              <a:rPr lang="zh-CN" altLang="en-US" sz="2400" dirty="0">
                <a:latin typeface="+mn-lt"/>
                <a:ea typeface="+mn-ea"/>
                <a:cs typeface="Times New Roman" panose="02020603050405020304" pitchFamily="18" charset="0"/>
              </a:rPr>
              <a:t>。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利用</a:t>
            </a: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B-M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Times New Roman" panose="02020603050405020304" pitchFamily="18" charset="0"/>
              </a:rPr>
              <a:t>算法可以有效的求出。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8DD7E9E-5C26-4FB4-88CD-CD21969E6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线性移位寄存器的综合问题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8" grpId="0"/>
      <p:bldP spid="25620" grpId="0"/>
      <p:bldP spid="25621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">
            <a:extLst>
              <a:ext uri="{FF2B5EF4-FFF2-40B4-BE49-F238E27FC236}">
                <a16:creationId xmlns:a16="http://schemas.microsoft.com/office/drawing/2014/main" id="{65AD658E-EB7E-47B9-9FE6-75B68DBA94C5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1295400"/>
            <a:ext cx="7162800" cy="1143000"/>
            <a:chOff x="576" y="816"/>
            <a:chExt cx="4512" cy="720"/>
          </a:xfrm>
        </p:grpSpPr>
        <p:sp>
          <p:nvSpPr>
            <p:cNvPr id="91149" name="Text Box 4">
              <a:extLst>
                <a:ext uri="{FF2B5EF4-FFF2-40B4-BE49-F238E27FC236}">
                  <a16:creationId xmlns:a16="http://schemas.microsoft.com/office/drawing/2014/main" id="{0CDB2252-7F64-4A23-8856-A03EBC3AA0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816"/>
              <a:ext cx="45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  <a:defRPr/>
              </a:pPr>
              <a:r>
                <a:rPr lang="zh-CN" altLang="en-US" dirty="0">
                  <a:latin typeface="+mn-lt"/>
                  <a:ea typeface="+mn-ea"/>
                </a:rPr>
                <a:t>用归纳法求出一系列线性移位寄存器：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956" name="Object 7">
                  <a:extLst>
                    <a:ext uri="{FF2B5EF4-FFF2-40B4-BE49-F238E27FC236}">
                      <a16:creationId xmlns:a16="http://schemas.microsoft.com/office/drawing/2014/main" id="{E54C886C-AC16-4813-ACF4-2DA9B76A31F4}"/>
                    </a:ext>
                  </a:extLst>
                </p:cNvPr>
                <p:cNvSpPr txBox="1"/>
                <p:nvPr/>
              </p:nvSpPr>
              <p:spPr bwMode="auto">
                <a:xfrm>
                  <a:off x="1056" y="1200"/>
                  <a:ext cx="843" cy="336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),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0956" name="Object 7">
                  <a:extLst>
                    <a:ext uri="{FF2B5EF4-FFF2-40B4-BE49-F238E27FC236}">
                      <a16:creationId xmlns:a16="http://schemas.microsoft.com/office/drawing/2014/main" id="{E54C886C-AC16-4813-ACF4-2DA9B76A31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56" y="1200"/>
                  <a:ext cx="843" cy="33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957" name="Object 8">
                  <a:extLst>
                    <a:ext uri="{FF2B5EF4-FFF2-40B4-BE49-F238E27FC236}">
                      <a16:creationId xmlns:a16="http://schemas.microsoft.com/office/drawing/2014/main" id="{F565BFB8-39F9-4381-9AA6-E196E48ECF6B}"/>
                    </a:ext>
                  </a:extLst>
                </p:cNvPr>
                <p:cNvSpPr txBox="1"/>
                <p:nvPr/>
              </p:nvSpPr>
              <p:spPr bwMode="auto">
                <a:xfrm>
                  <a:off x="1993" y="1216"/>
                  <a:ext cx="2290" cy="320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)≤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, 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=1,2,⋯,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0957" name="Object 8">
                  <a:extLst>
                    <a:ext uri="{FF2B5EF4-FFF2-40B4-BE49-F238E27FC236}">
                      <a16:creationId xmlns:a16="http://schemas.microsoft.com/office/drawing/2014/main" id="{F565BFB8-39F9-4381-9AA6-E196E48ECF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93" y="1216"/>
                  <a:ext cx="2290" cy="320"/>
                </a:xfrm>
                <a:prstGeom prst="rect">
                  <a:avLst/>
                </a:prstGeom>
                <a:blipFill>
                  <a:blip r:embed="rId4"/>
                  <a:stretch>
                    <a:fillRect t="-1205"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Group 22">
            <a:extLst>
              <a:ext uri="{FF2B5EF4-FFF2-40B4-BE49-F238E27FC236}">
                <a16:creationId xmlns:a16="http://schemas.microsoft.com/office/drawing/2014/main" id="{E9C63C4F-7F9A-4EF5-BCF9-579B1DC78828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895600"/>
            <a:ext cx="9906000" cy="2678113"/>
            <a:chOff x="144" y="1632"/>
            <a:chExt cx="5472" cy="1687"/>
          </a:xfrm>
        </p:grpSpPr>
        <p:sp>
          <p:nvSpPr>
            <p:cNvPr id="91143" name="Text Box 7">
              <a:extLst>
                <a:ext uri="{FF2B5EF4-FFF2-40B4-BE49-F238E27FC236}">
                  <a16:creationId xmlns:a16="http://schemas.microsoft.com/office/drawing/2014/main" id="{D1F0309E-59CB-4C3D-ADE3-F3E7869784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632"/>
              <a:ext cx="5472" cy="1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 b="1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algn="just" eaLnBrk="1" hangingPunct="1">
                <a:lnSpc>
                  <a:spcPct val="120000"/>
                </a:lnSpc>
                <a:spcBef>
                  <a:spcPct val="50000"/>
                </a:spcBef>
                <a:buFontTx/>
                <a:buNone/>
                <a:defRPr/>
              </a:pPr>
              <a:r>
                <a:rPr lang="zh-CN" altLang="en-US" dirty="0">
                  <a:latin typeface="+mn-lt"/>
                  <a:ea typeface="+mn-ea"/>
                  <a:cs typeface="Times New Roman" panose="02020603050405020304" pitchFamily="18" charset="0"/>
                </a:rPr>
                <a:t>每一个                  都是产生序列</a:t>
              </a:r>
              <a:r>
                <a:rPr lang="en-US" altLang="zh-CN" i="1" u="sng" dirty="0">
                  <a:latin typeface="+mn-lt"/>
                  <a:ea typeface="+mn-ea"/>
                  <a:cs typeface="Times New Roman" panose="02020603050405020304" pitchFamily="18" charset="0"/>
                </a:rPr>
                <a:t>a</a:t>
              </a:r>
              <a:r>
                <a:rPr lang="zh-CN" altLang="en-US" dirty="0">
                  <a:latin typeface="+mn-lt"/>
                  <a:ea typeface="+mn-ea"/>
                  <a:cs typeface="Times New Roman" panose="02020603050405020304" pitchFamily="18" charset="0"/>
                </a:rPr>
                <a:t>的前</a:t>
              </a:r>
              <a:r>
                <a:rPr lang="en-US" altLang="zh-CN" i="1" dirty="0">
                  <a:latin typeface="+mn-lt"/>
                  <a:ea typeface="+mn-ea"/>
                  <a:cs typeface="Times New Roman" panose="02020603050405020304" pitchFamily="18" charset="0"/>
                </a:rPr>
                <a:t>n</a:t>
              </a:r>
              <a:r>
                <a:rPr lang="zh-CN" altLang="en-US" dirty="0">
                  <a:latin typeface="+mn-lt"/>
                  <a:ea typeface="+mn-ea"/>
                  <a:cs typeface="Times New Roman" panose="02020603050405020304" pitchFamily="18" charset="0"/>
                </a:rPr>
                <a:t>项的最短线性移位寄存器，在                 的基础上构造相应的                      ，使得                   是                         产生给定序列前</a:t>
              </a:r>
              <a:r>
                <a:rPr lang="en-US" altLang="zh-CN" dirty="0">
                  <a:latin typeface="+mn-lt"/>
                  <a:ea typeface="+mn-ea"/>
                  <a:cs typeface="Times New Roman" panose="02020603050405020304" pitchFamily="18" charset="0"/>
                </a:rPr>
                <a:t>n+1</a:t>
              </a:r>
              <a:r>
                <a:rPr lang="zh-CN" altLang="en-US" dirty="0">
                  <a:latin typeface="+mn-lt"/>
                  <a:ea typeface="+mn-ea"/>
                  <a:cs typeface="Times New Roman" panose="02020603050405020304" pitchFamily="18" charset="0"/>
                </a:rPr>
                <a:t>项的最短移存器，则最后得到的                     就是产生给定</a:t>
              </a:r>
              <a:r>
                <a:rPr lang="en-US" altLang="zh-CN" i="1" dirty="0">
                  <a:latin typeface="+mn-lt"/>
                  <a:ea typeface="+mn-ea"/>
                  <a:cs typeface="Times New Roman" panose="02020603050405020304" pitchFamily="18" charset="0"/>
                </a:rPr>
                <a:t>N</a:t>
              </a:r>
              <a:r>
                <a:rPr lang="zh-CN" altLang="en-US" dirty="0">
                  <a:latin typeface="+mn-lt"/>
                  <a:ea typeface="+mn-ea"/>
                  <a:cs typeface="Times New Roman" panose="02020603050405020304" pitchFamily="18" charset="0"/>
                </a:rPr>
                <a:t>长二元序列</a:t>
              </a:r>
              <a:r>
                <a:rPr lang="en-US" altLang="zh-CN" i="1" u="sng" dirty="0">
                  <a:latin typeface="+mn-lt"/>
                  <a:ea typeface="+mn-ea"/>
                  <a:cs typeface="Times New Roman" panose="02020603050405020304" pitchFamily="18" charset="0"/>
                </a:rPr>
                <a:t>a</a:t>
              </a:r>
              <a:r>
                <a:rPr lang="zh-CN" altLang="en-US" dirty="0">
                  <a:latin typeface="+mn-lt"/>
                  <a:ea typeface="+mn-ea"/>
                  <a:cs typeface="Times New Roman" panose="02020603050405020304" pitchFamily="18" charset="0"/>
                </a:rPr>
                <a:t>的最短的线性移位寄存器。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950" name="Object 2">
                  <a:extLst>
                    <a:ext uri="{FF2B5EF4-FFF2-40B4-BE49-F238E27FC236}">
                      <a16:creationId xmlns:a16="http://schemas.microsoft.com/office/drawing/2014/main" id="{D0A9AA60-7DB7-4423-95F4-9B6317EBB2EE}"/>
                    </a:ext>
                  </a:extLst>
                </p:cNvPr>
                <p:cNvSpPr txBox="1"/>
                <p:nvPr/>
              </p:nvSpPr>
              <p:spPr bwMode="auto">
                <a:xfrm>
                  <a:off x="850" y="1680"/>
                  <a:ext cx="843" cy="336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),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0950" name="Object 2">
                  <a:extLst>
                    <a:ext uri="{FF2B5EF4-FFF2-40B4-BE49-F238E27FC236}">
                      <a16:creationId xmlns:a16="http://schemas.microsoft.com/office/drawing/2014/main" id="{D0A9AA60-7DB7-4423-95F4-9B6317EBB2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50" y="1680"/>
                  <a:ext cx="843" cy="33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951" name="Object 3">
                  <a:extLst>
                    <a:ext uri="{FF2B5EF4-FFF2-40B4-BE49-F238E27FC236}">
                      <a16:creationId xmlns:a16="http://schemas.microsoft.com/office/drawing/2014/main" id="{96AB2205-A23D-4C35-9A3B-D306B76D8ACA}"/>
                    </a:ext>
                  </a:extLst>
                </p:cNvPr>
                <p:cNvSpPr txBox="1"/>
                <p:nvPr/>
              </p:nvSpPr>
              <p:spPr bwMode="auto">
                <a:xfrm>
                  <a:off x="902" y="2688"/>
                  <a:ext cx="930" cy="336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),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0951" name="Object 3">
                  <a:extLst>
                    <a:ext uri="{FF2B5EF4-FFF2-40B4-BE49-F238E27FC236}">
                      <a16:creationId xmlns:a16="http://schemas.microsoft.com/office/drawing/2014/main" id="{96AB2205-A23D-4C35-9A3B-D306B76D8A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02" y="2688"/>
                  <a:ext cx="930" cy="33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952" name="Object 4">
                  <a:extLst>
                    <a:ext uri="{FF2B5EF4-FFF2-40B4-BE49-F238E27FC236}">
                      <a16:creationId xmlns:a16="http://schemas.microsoft.com/office/drawing/2014/main" id="{B8A8801F-C96C-4115-83EE-E7A8FAD71ED0}"/>
                    </a:ext>
                  </a:extLst>
                </p:cNvPr>
                <p:cNvSpPr txBox="1"/>
                <p:nvPr/>
              </p:nvSpPr>
              <p:spPr bwMode="auto">
                <a:xfrm>
                  <a:off x="3700" y="2015"/>
                  <a:ext cx="1090" cy="423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),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0952" name="Object 4">
                  <a:extLst>
                    <a:ext uri="{FF2B5EF4-FFF2-40B4-BE49-F238E27FC236}">
                      <a16:creationId xmlns:a16="http://schemas.microsoft.com/office/drawing/2014/main" id="{B8A8801F-C96C-4115-83EE-E7A8FAD71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00" y="2015"/>
                  <a:ext cx="1090" cy="42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953" name="Object 5">
                  <a:extLst>
                    <a:ext uri="{FF2B5EF4-FFF2-40B4-BE49-F238E27FC236}">
                      <a16:creationId xmlns:a16="http://schemas.microsoft.com/office/drawing/2014/main" id="{53144842-3AF2-4213-B4E8-22984C6E3FBB}"/>
                    </a:ext>
                  </a:extLst>
                </p:cNvPr>
                <p:cNvSpPr txBox="1"/>
                <p:nvPr/>
              </p:nvSpPr>
              <p:spPr bwMode="auto">
                <a:xfrm>
                  <a:off x="787" y="1992"/>
                  <a:ext cx="843" cy="336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),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0953" name="Object 5">
                  <a:extLst>
                    <a:ext uri="{FF2B5EF4-FFF2-40B4-BE49-F238E27FC236}">
                      <a16:creationId xmlns:a16="http://schemas.microsoft.com/office/drawing/2014/main" id="{53144842-3AF2-4213-B4E8-22984C6E3F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87" y="1992"/>
                  <a:ext cx="843" cy="33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0954" name="Object 6">
                  <a:extLst>
                    <a:ext uri="{FF2B5EF4-FFF2-40B4-BE49-F238E27FC236}">
                      <a16:creationId xmlns:a16="http://schemas.microsoft.com/office/drawing/2014/main" id="{6404D014-8566-423D-9A0F-5B2B8A895878}"/>
                    </a:ext>
                  </a:extLst>
                </p:cNvPr>
                <p:cNvSpPr txBox="1"/>
                <p:nvPr/>
              </p:nvSpPr>
              <p:spPr bwMode="auto">
                <a:xfrm>
                  <a:off x="481" y="2345"/>
                  <a:ext cx="1080" cy="336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),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0954" name="Object 6">
                  <a:extLst>
                    <a:ext uri="{FF2B5EF4-FFF2-40B4-BE49-F238E27FC236}">
                      <a16:creationId xmlns:a16="http://schemas.microsoft.com/office/drawing/2014/main" id="{6404D014-8566-423D-9A0F-5B2B8A8958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1" y="2345"/>
                  <a:ext cx="1080" cy="33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A27464EE-DFEB-4B0D-BE31-BD9255A91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en-US" altLang="zh-CN" dirty="0" err="1">
                <a:latin typeface="+mn-lt"/>
              </a:rPr>
              <a:t>Berlekamp</a:t>
            </a:r>
            <a:r>
              <a:rPr lang="en-US" altLang="zh-CN" dirty="0">
                <a:latin typeface="+mn-lt"/>
              </a:rPr>
              <a:t>-Massey</a:t>
            </a:r>
            <a:r>
              <a:rPr lang="zh-CN" altLang="en-US" dirty="0">
                <a:latin typeface="+mn-lt"/>
              </a:rPr>
              <a:t>算法（</a:t>
            </a:r>
            <a:r>
              <a:rPr lang="en-US" altLang="zh-CN" dirty="0">
                <a:latin typeface="+mn-lt"/>
              </a:rPr>
              <a:t>B-M</a:t>
            </a:r>
            <a:r>
              <a:rPr lang="zh-CN" altLang="en-US" dirty="0">
                <a:latin typeface="+mn-lt"/>
              </a:rPr>
              <a:t>算法）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0">
            <a:extLst>
              <a:ext uri="{FF2B5EF4-FFF2-40B4-BE49-F238E27FC236}">
                <a16:creationId xmlns:a16="http://schemas.microsoft.com/office/drawing/2014/main" id="{D41C84D9-CBD7-4EB2-8870-08CA49DF55F0}"/>
              </a:ext>
            </a:extLst>
          </p:cNvPr>
          <p:cNvGrpSpPr>
            <a:grpSpLocks/>
          </p:cNvGrpSpPr>
          <p:nvPr/>
        </p:nvGrpSpPr>
        <p:grpSpPr bwMode="auto">
          <a:xfrm>
            <a:off x="1454150" y="2435225"/>
            <a:ext cx="7162800" cy="533400"/>
            <a:chOff x="336" y="1200"/>
            <a:chExt cx="4512" cy="336"/>
          </a:xfrm>
        </p:grpSpPr>
        <p:sp>
          <p:nvSpPr>
            <p:cNvPr id="147476" name="Text Box 6">
              <a:extLst>
                <a:ext uri="{FF2B5EF4-FFF2-40B4-BE49-F238E27FC236}">
                  <a16:creationId xmlns:a16="http://schemas.microsoft.com/office/drawing/2014/main" id="{64F4D1EE-C08F-4D72-BF71-A9447F9873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200"/>
              <a:ext cx="45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800" b="1" dirty="0">
                  <a:solidFill>
                    <a:srgbClr val="FF0000"/>
                  </a:solidFill>
                  <a:latin typeface="+mn-ea"/>
                  <a:ea typeface="+mn-ea"/>
                </a:rPr>
                <a:t>1</a:t>
              </a:r>
              <a:r>
                <a:rPr lang="zh-CN" altLang="en-US" sz="2800" b="1" dirty="0">
                  <a:solidFill>
                    <a:srgbClr val="FF0000"/>
                  </a:solidFill>
                  <a:latin typeface="+mn-ea"/>
                  <a:ea typeface="+mn-ea"/>
                </a:rPr>
                <a:t>、</a:t>
              </a:r>
              <a:r>
                <a:rPr lang="zh-CN" altLang="en-US" sz="2800" b="1" dirty="0">
                  <a:latin typeface="+mn-ea"/>
                  <a:ea typeface="+mn-ea"/>
                </a:rPr>
                <a:t>取初始值：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012" name="Object 10">
                  <a:extLst>
                    <a:ext uri="{FF2B5EF4-FFF2-40B4-BE49-F238E27FC236}">
                      <a16:creationId xmlns:a16="http://schemas.microsoft.com/office/drawing/2014/main" id="{D80912CB-020E-433E-AF7E-9EB08F129FE0}"/>
                    </a:ext>
                  </a:extLst>
                </p:cNvPr>
                <p:cNvSpPr txBox="1"/>
                <p:nvPr/>
              </p:nvSpPr>
              <p:spPr bwMode="auto">
                <a:xfrm>
                  <a:off x="1824" y="1235"/>
                  <a:ext cx="1424" cy="301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)=1, 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3012" name="Object 10">
                  <a:extLst>
                    <a:ext uri="{FF2B5EF4-FFF2-40B4-BE49-F238E27FC236}">
                      <a16:creationId xmlns:a16="http://schemas.microsoft.com/office/drawing/2014/main" id="{D80912CB-020E-433E-AF7E-9EB08F129F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24" y="1235"/>
                  <a:ext cx="1424" cy="301"/>
                </a:xfrm>
                <a:prstGeom prst="rect">
                  <a:avLst/>
                </a:prstGeom>
                <a:blipFill>
                  <a:blip r:embed="rId2"/>
                  <a:stretch>
                    <a:fillRect t="-1282" b="-3846"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7472" name="Text Box 8">
            <a:extLst>
              <a:ext uri="{FF2B5EF4-FFF2-40B4-BE49-F238E27FC236}">
                <a16:creationId xmlns:a16="http://schemas.microsoft.com/office/drawing/2014/main" id="{030AFD79-482C-41CD-9286-E9520BD760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113088"/>
            <a:ext cx="9715500" cy="116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800" b="1" dirty="0">
                <a:latin typeface="+mn-ea"/>
                <a:ea typeface="+mn-ea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、</a:t>
            </a:r>
            <a:r>
              <a:rPr lang="zh-CN" altLang="en-US" sz="2800" b="1" dirty="0">
                <a:latin typeface="+mn-ea"/>
                <a:ea typeface="+mn-ea"/>
              </a:rPr>
              <a:t>设                                  均已求得，</a:t>
            </a:r>
            <a:endParaRPr lang="en-US" altLang="zh-CN" sz="2800" b="1" dirty="0">
              <a:latin typeface="+mn-ea"/>
              <a:ea typeface="+mn-ea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zh-CN" altLang="en-US" sz="2800" b="1" dirty="0">
                <a:latin typeface="+mn-ea"/>
                <a:ea typeface="+mn-ea"/>
              </a:rPr>
              <a:t>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2996" name="Object 7">
                <a:extLst>
                  <a:ext uri="{FF2B5EF4-FFF2-40B4-BE49-F238E27FC236}">
                    <a16:creationId xmlns:a16="http://schemas.microsoft.com/office/drawing/2014/main" id="{167AD786-20C2-4AEE-9E06-F5F358C1F568}"/>
                  </a:ext>
                </a:extLst>
              </p:cNvPr>
              <p:cNvSpPr txBox="1"/>
              <p:nvPr/>
            </p:nvSpPr>
            <p:spPr bwMode="auto">
              <a:xfrm>
                <a:off x="6934200" y="3265488"/>
                <a:ext cx="1563688" cy="4286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(0≤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2996" name="Object 7">
                <a:extLst>
                  <a:ext uri="{FF2B5EF4-FFF2-40B4-BE49-F238E27FC236}">
                    <a16:creationId xmlns:a16="http://schemas.microsoft.com/office/drawing/2014/main" id="{167AD786-20C2-4AEE-9E06-F5F358C1F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34200" y="3265488"/>
                <a:ext cx="1563688" cy="4286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997" name="Object 8">
                <a:extLst>
                  <a:ext uri="{FF2B5EF4-FFF2-40B4-BE49-F238E27FC236}">
                    <a16:creationId xmlns:a16="http://schemas.microsoft.com/office/drawing/2014/main" id="{EC20F245-C5E0-4BFC-9380-7EFAA1CE25CC}"/>
                  </a:ext>
                </a:extLst>
              </p:cNvPr>
              <p:cNvSpPr txBox="1"/>
              <p:nvPr/>
            </p:nvSpPr>
            <p:spPr bwMode="auto">
              <a:xfrm>
                <a:off x="2514600" y="3189288"/>
                <a:ext cx="4397375" cy="5334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⟨"/>
                          <m:endChr m:val="⟩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d>
                        <m:dPr>
                          <m:begChr m:val="⟨"/>
                          <m:endChr m:val="⟩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2997" name="Object 8">
                <a:extLst>
                  <a:ext uri="{FF2B5EF4-FFF2-40B4-BE49-F238E27FC236}">
                    <a16:creationId xmlns:a16="http://schemas.microsoft.com/office/drawing/2014/main" id="{EC20F245-C5E0-4BFC-9380-7EFAA1CE2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4600" y="3189288"/>
                <a:ext cx="4397375" cy="533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998" name="Object 9">
                <a:extLst>
                  <a:ext uri="{FF2B5EF4-FFF2-40B4-BE49-F238E27FC236}">
                    <a16:creationId xmlns:a16="http://schemas.microsoft.com/office/drawing/2014/main" id="{932D66A5-C974-444D-AE39-409CF7FF8001}"/>
                  </a:ext>
                </a:extLst>
              </p:cNvPr>
              <p:cNvSpPr txBox="1"/>
              <p:nvPr/>
            </p:nvSpPr>
            <p:spPr bwMode="auto">
              <a:xfrm>
                <a:off x="1846263" y="3838575"/>
                <a:ext cx="1892300" cy="4794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≤⋯≤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2998" name="Object 9">
                <a:extLst>
                  <a:ext uri="{FF2B5EF4-FFF2-40B4-BE49-F238E27FC236}">
                    <a16:creationId xmlns:a16="http://schemas.microsoft.com/office/drawing/2014/main" id="{932D66A5-C974-444D-AE39-409CF7FF8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46263" y="3838575"/>
                <a:ext cx="1892300" cy="4794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19">
            <a:extLst>
              <a:ext uri="{FF2B5EF4-FFF2-40B4-BE49-F238E27FC236}">
                <a16:creationId xmlns:a16="http://schemas.microsoft.com/office/drawing/2014/main" id="{BD54DF0C-D30A-4028-80A5-D3F04CF9E29E}"/>
              </a:ext>
            </a:extLst>
          </p:cNvPr>
          <p:cNvGrpSpPr>
            <a:grpSpLocks/>
          </p:cNvGrpSpPr>
          <p:nvPr/>
        </p:nvGrpSpPr>
        <p:grpSpPr bwMode="auto">
          <a:xfrm>
            <a:off x="1385888" y="1084263"/>
            <a:ext cx="9625012" cy="1160462"/>
            <a:chOff x="169" y="128"/>
            <a:chExt cx="5568" cy="731"/>
          </a:xfrm>
        </p:grpSpPr>
        <p:grpSp>
          <p:nvGrpSpPr>
            <p:cNvPr id="213005" name="Group 16">
              <a:extLst>
                <a:ext uri="{FF2B5EF4-FFF2-40B4-BE49-F238E27FC236}">
                  <a16:creationId xmlns:a16="http://schemas.microsoft.com/office/drawing/2014/main" id="{6E9F253B-D35B-4430-B572-8BA7DC14E1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" y="128"/>
              <a:ext cx="5568" cy="731"/>
              <a:chOff x="169" y="128"/>
              <a:chExt cx="5568" cy="73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3007" name="Object 5">
                    <a:extLst>
                      <a:ext uri="{FF2B5EF4-FFF2-40B4-BE49-F238E27FC236}">
                        <a16:creationId xmlns:a16="http://schemas.microsoft.com/office/drawing/2014/main" id="{B5E4162B-41EE-4DFB-8782-41DF1D8F537B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1318" y="523"/>
                    <a:ext cx="860" cy="336"/>
                  </a:xfrm>
                  <a:prstGeom prst="rect">
                    <a:avLst/>
                  </a:prstGeom>
                  <a:noFill/>
                  <a:ln>
                    <a:noFill/>
                  </a:ln>
                  <a:ex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⟨"/>
                              <m:endChr m:val="⟩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213007" name="Object 5">
                    <a:extLst>
                      <a:ext uri="{FF2B5EF4-FFF2-40B4-BE49-F238E27FC236}">
                        <a16:creationId xmlns:a16="http://schemas.microsoft.com/office/drawing/2014/main" id="{B5E4162B-41EE-4DFB-8782-41DF1D8F53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318" y="523"/>
                    <a:ext cx="860" cy="336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  <a:ex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13008" name="Group 14">
                <a:extLst>
                  <a:ext uri="{FF2B5EF4-FFF2-40B4-BE49-F238E27FC236}">
                    <a16:creationId xmlns:a16="http://schemas.microsoft.com/office/drawing/2014/main" id="{0CF75335-1E79-4475-99E4-553576DD49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9" y="128"/>
                <a:ext cx="5568" cy="717"/>
                <a:chOff x="169" y="128"/>
                <a:chExt cx="5568" cy="717"/>
              </a:xfrm>
            </p:grpSpPr>
            <p:sp>
              <p:nvSpPr>
                <p:cNvPr id="147470" name="Text Box 3">
                  <a:extLst>
                    <a:ext uri="{FF2B5EF4-FFF2-40B4-BE49-F238E27FC236}">
                      <a16:creationId xmlns:a16="http://schemas.microsoft.com/office/drawing/2014/main" id="{020A7F10-2932-4DA8-BBAE-EAFEDC700A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69" y="128"/>
                  <a:ext cx="5568" cy="33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zh-CN" altLang="en-US" sz="2800" b="1" dirty="0">
                      <a:latin typeface="+mn-lt"/>
                      <a:ea typeface="+mn-ea"/>
                      <a:cs typeface="Times New Roman" panose="02020603050405020304" pitchFamily="18" charset="0"/>
                    </a:rPr>
                    <a:t>任意给定一个</a:t>
                  </a:r>
                  <a:r>
                    <a:rPr lang="en-US" altLang="zh-CN" sz="2800" b="1" dirty="0">
                      <a:latin typeface="+mn-lt"/>
                      <a:ea typeface="+mn-ea"/>
                      <a:cs typeface="Times New Roman" panose="02020603050405020304" pitchFamily="18" charset="0"/>
                    </a:rPr>
                    <a:t>N</a:t>
                  </a:r>
                  <a:r>
                    <a:rPr lang="zh-CN" altLang="en-US" sz="2800" b="1" dirty="0">
                      <a:latin typeface="+mn-lt"/>
                      <a:ea typeface="+mn-ea"/>
                      <a:cs typeface="Times New Roman" panose="02020603050405020304" pitchFamily="18" charset="0"/>
                    </a:rPr>
                    <a:t>长序列                                   ，按</a:t>
                  </a:r>
                  <a:r>
                    <a:rPr lang="en-US" altLang="zh-CN" sz="2800" b="1" i="1" dirty="0">
                      <a:latin typeface="+mn-lt"/>
                      <a:ea typeface="+mn-ea"/>
                      <a:cs typeface="Times New Roman" panose="02020603050405020304" pitchFamily="18" charset="0"/>
                    </a:rPr>
                    <a:t>n</a:t>
                  </a:r>
                  <a:r>
                    <a:rPr lang="zh-CN" altLang="en-US" sz="2800" b="1" dirty="0">
                      <a:latin typeface="+mn-lt"/>
                      <a:ea typeface="+mn-ea"/>
                      <a:cs typeface="Times New Roman" panose="02020603050405020304" pitchFamily="18" charset="0"/>
                    </a:rPr>
                    <a:t>归纳定义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3010" name="Object 6">
                      <a:extLst>
                        <a:ext uri="{FF2B5EF4-FFF2-40B4-BE49-F238E27FC236}">
                          <a16:creationId xmlns:a16="http://schemas.microsoft.com/office/drawing/2014/main" id="{8570C36C-6C5D-47DB-8318-0EB5E5704226}"/>
                        </a:ext>
                      </a:extLst>
                    </p:cNvPr>
                    <p:cNvSpPr txBox="1"/>
                    <p:nvPr/>
                  </p:nvSpPr>
                  <p:spPr bwMode="auto">
                    <a:xfrm>
                      <a:off x="2307" y="575"/>
                      <a:ext cx="1936" cy="27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/>
                  </p:spPr>
                  <p:txBody>
                    <a:bodyPr>
                      <a:norm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 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=0,  1,  2, ⋯, 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 xmlns="">
                <p:sp>
                  <p:nvSpPr>
                    <p:cNvPr id="213010" name="Object 6">
                      <a:extLst>
                        <a:ext uri="{FF2B5EF4-FFF2-40B4-BE49-F238E27FC236}">
                          <a16:creationId xmlns:a16="http://schemas.microsoft.com/office/drawing/2014/main" id="{8570C36C-6C5D-47DB-8318-0EB5E570422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2307" y="575"/>
                      <a:ext cx="1936" cy="27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14085"/>
                      </a:stretch>
                    </a:blipFill>
                    <a:ln>
                      <a:noFill/>
                    </a:ln>
                    <a:extLst/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006" name="Object 4">
                  <a:extLst>
                    <a:ext uri="{FF2B5EF4-FFF2-40B4-BE49-F238E27FC236}">
                      <a16:creationId xmlns:a16="http://schemas.microsoft.com/office/drawing/2014/main" id="{4835F3DC-E0F2-472B-941D-543A28D58A6A}"/>
                    </a:ext>
                  </a:extLst>
                </p:cNvPr>
                <p:cNvSpPr txBox="1"/>
                <p:nvPr/>
              </p:nvSpPr>
              <p:spPr bwMode="auto">
                <a:xfrm>
                  <a:off x="2307" y="133"/>
                  <a:ext cx="1737" cy="322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ar>
                          <m:bar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ba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,⋯,</m:t>
                        </m:r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3006" name="Object 4">
                  <a:extLst>
                    <a:ext uri="{FF2B5EF4-FFF2-40B4-BE49-F238E27FC236}">
                      <a16:creationId xmlns:a16="http://schemas.microsoft.com/office/drawing/2014/main" id="{4835F3DC-E0F2-472B-941D-543A28D58A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07" y="133"/>
                  <a:ext cx="1737" cy="32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30">
            <a:extLst>
              <a:ext uri="{FF2B5EF4-FFF2-40B4-BE49-F238E27FC236}">
                <a16:creationId xmlns:a16="http://schemas.microsoft.com/office/drawing/2014/main" id="{25BE6718-11A2-4886-B760-79E0AFAB387F}"/>
              </a:ext>
            </a:extLst>
          </p:cNvPr>
          <p:cNvGrpSpPr>
            <a:grpSpLocks/>
          </p:cNvGrpSpPr>
          <p:nvPr/>
        </p:nvGrpSpPr>
        <p:grpSpPr bwMode="auto">
          <a:xfrm>
            <a:off x="1452563" y="4267200"/>
            <a:ext cx="8610600" cy="1917700"/>
            <a:chOff x="192" y="2256"/>
            <a:chExt cx="5424" cy="1208"/>
          </a:xfrm>
        </p:grpSpPr>
        <p:sp>
          <p:nvSpPr>
            <p:cNvPr id="147463" name="Text Box 22">
              <a:extLst>
                <a:ext uri="{FF2B5EF4-FFF2-40B4-BE49-F238E27FC236}">
                  <a16:creationId xmlns:a16="http://schemas.microsoft.com/office/drawing/2014/main" id="{B0DDD857-9DBD-4AAF-9B1F-132AFD94BA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256"/>
              <a:ext cx="5424" cy="1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60000"/>
                </a:lnSpc>
                <a:defRPr/>
              </a:pPr>
              <a:r>
                <a:rPr lang="zh-CN" altLang="en-US" sz="2600" b="1" dirty="0">
                  <a:latin typeface="+mn-ea"/>
                  <a:ea typeface="+mn-ea"/>
                </a:rPr>
                <a:t>记：                                   再计算：</a:t>
              </a:r>
            </a:p>
            <a:p>
              <a:pPr algn="just" eaLnBrk="1" hangingPunct="1">
                <a:defRPr/>
              </a:pPr>
              <a:endParaRPr lang="zh-CN" altLang="en-US" sz="2600" b="1" dirty="0">
                <a:latin typeface="+mn-ea"/>
                <a:ea typeface="+mn-ea"/>
              </a:endParaRPr>
            </a:p>
            <a:p>
              <a:pPr algn="just" eaLnBrk="1" hangingPunct="1">
                <a:defRPr/>
              </a:pPr>
              <a:endParaRPr lang="zh-CN" altLang="en-US" sz="2600" b="1" dirty="0">
                <a:latin typeface="+mn-ea"/>
                <a:ea typeface="+mn-ea"/>
              </a:endParaRPr>
            </a:p>
            <a:p>
              <a:pPr algn="just" eaLnBrk="1" hangingPunct="1">
                <a:defRPr/>
              </a:pPr>
              <a:r>
                <a:rPr lang="zh-CN" altLang="en-US" sz="2600" b="1" dirty="0">
                  <a:latin typeface="+mn-ea"/>
                  <a:ea typeface="+mn-ea"/>
                  <a:cs typeface="Times New Roman" panose="02020603050405020304" pitchFamily="18" charset="0"/>
                </a:rPr>
                <a:t>称</a:t>
              </a:r>
              <a:r>
                <a:rPr lang="en-US" altLang="zh-CN" sz="2600" b="1" i="1" dirty="0" err="1">
                  <a:latin typeface="+mn-ea"/>
                  <a:ea typeface="+mn-ea"/>
                  <a:cs typeface="Times New Roman" panose="02020603050405020304" pitchFamily="18" charset="0"/>
                </a:rPr>
                <a:t>d</a:t>
              </a:r>
              <a:r>
                <a:rPr lang="en-US" altLang="zh-CN" sz="2600" b="1" i="1" baseline="-25000" dirty="0" err="1">
                  <a:latin typeface="+mn-ea"/>
                  <a:ea typeface="+mn-ea"/>
                  <a:cs typeface="Times New Roman" panose="02020603050405020304" pitchFamily="18" charset="0"/>
                </a:rPr>
                <a:t>n</a:t>
              </a:r>
              <a:r>
                <a:rPr lang="zh-CN" altLang="en-US" sz="2600" b="1" dirty="0">
                  <a:latin typeface="+mn-ea"/>
                  <a:ea typeface="+mn-ea"/>
                  <a:cs typeface="Times New Roman" panose="02020603050405020304" pitchFamily="18" charset="0"/>
                </a:rPr>
                <a:t>为第</a:t>
              </a:r>
              <a:r>
                <a:rPr lang="en-US" altLang="zh-CN" sz="2600" b="1" dirty="0">
                  <a:latin typeface="+mn-ea"/>
                  <a:ea typeface="+mn-ea"/>
                  <a:cs typeface="Times New Roman" panose="02020603050405020304" pitchFamily="18" charset="0"/>
                </a:rPr>
                <a:t>n</a:t>
              </a:r>
              <a:r>
                <a:rPr lang="zh-CN" altLang="en-US" sz="2600" b="1" dirty="0">
                  <a:latin typeface="+mn-ea"/>
                  <a:ea typeface="+mn-ea"/>
                  <a:cs typeface="Times New Roman" panose="02020603050405020304" pitchFamily="18" charset="0"/>
                </a:rPr>
                <a:t>步差值。然后</a:t>
              </a:r>
              <a:r>
                <a:rPr lang="zh-CN" altLang="en-US" sz="2600" b="1" dirty="0">
                  <a:latin typeface="+mn-ea"/>
                  <a:ea typeface="+mn-ea"/>
                </a:rPr>
                <a:t>分</a:t>
              </a:r>
              <a:r>
                <a:rPr lang="zh-CN" altLang="en-US" sz="2600" b="1" dirty="0">
                  <a:latin typeface="+mn-ea"/>
                  <a:ea typeface="+mn-ea"/>
                  <a:cs typeface="Times New Roman" panose="02020603050405020304" pitchFamily="18" charset="0"/>
                </a:rPr>
                <a:t>两种情形</a:t>
              </a:r>
              <a:r>
                <a:rPr lang="zh-CN" altLang="en-US" sz="2600" b="1" dirty="0">
                  <a:latin typeface="+mn-ea"/>
                  <a:ea typeface="+mn-ea"/>
                </a:rPr>
                <a:t>讨论</a:t>
              </a:r>
              <a:r>
                <a:rPr lang="zh-CN" altLang="en-US" sz="2600" b="1" dirty="0">
                  <a:latin typeface="+mn-ea"/>
                  <a:ea typeface="+mn-ea"/>
                  <a:cs typeface="Times New Roman" panose="02020603050405020304" pitchFamily="18" charset="0"/>
                </a:rPr>
                <a:t>：</a:t>
              </a:r>
              <a:r>
                <a:rPr lang="zh-CN" altLang="en-US" sz="2600" b="1" dirty="0">
                  <a:latin typeface="+mn-ea"/>
                  <a:ea typeface="+mn-ea"/>
                </a:rPr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003" name="Object 2">
                  <a:extLst>
                    <a:ext uri="{FF2B5EF4-FFF2-40B4-BE49-F238E27FC236}">
                      <a16:creationId xmlns:a16="http://schemas.microsoft.com/office/drawing/2014/main" id="{61FCF031-7B89-47AE-A985-12093148A4B8}"/>
                    </a:ext>
                  </a:extLst>
                </p:cNvPr>
                <p:cNvSpPr txBox="1"/>
                <p:nvPr/>
              </p:nvSpPr>
              <p:spPr bwMode="auto">
                <a:xfrm>
                  <a:off x="507" y="2329"/>
                  <a:ext cx="3693" cy="393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+⋯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sub>
                            </m:sSub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=1,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3003" name="Object 2">
                  <a:extLst>
                    <a:ext uri="{FF2B5EF4-FFF2-40B4-BE49-F238E27FC236}">
                      <a16:creationId xmlns:a16="http://schemas.microsoft.com/office/drawing/2014/main" id="{61FCF031-7B89-47AE-A985-12093148A4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7" y="2329"/>
                  <a:ext cx="3693" cy="39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3004" name="Object 3">
                  <a:extLst>
                    <a:ext uri="{FF2B5EF4-FFF2-40B4-BE49-F238E27FC236}">
                      <a16:creationId xmlns:a16="http://schemas.microsoft.com/office/drawing/2014/main" id="{2E236404-9153-4898-9C90-2CD410289E27}"/>
                    </a:ext>
                  </a:extLst>
                </p:cNvPr>
                <p:cNvSpPr txBox="1"/>
                <p:nvPr/>
              </p:nvSpPr>
              <p:spPr bwMode="auto">
                <a:xfrm>
                  <a:off x="1275" y="2795"/>
                  <a:ext cx="2969" cy="352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+⋯+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sub>
                            </m:sSub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3004" name="Object 3">
                  <a:extLst>
                    <a:ext uri="{FF2B5EF4-FFF2-40B4-BE49-F238E27FC236}">
                      <a16:creationId xmlns:a16="http://schemas.microsoft.com/office/drawing/2014/main" id="{2E236404-9153-4898-9C90-2CD410289E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75" y="2795"/>
                  <a:ext cx="2969" cy="35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B93772E3-0A40-4C39-BFDB-872381394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888" y="357188"/>
            <a:ext cx="9037637" cy="668337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latin typeface="+mn-ea"/>
                <a:ea typeface="+mn-ea"/>
              </a:rPr>
              <a:t>B-M</a:t>
            </a:r>
            <a:r>
              <a:rPr lang="zh-CN" altLang="en-US" dirty="0">
                <a:latin typeface="+mn-ea"/>
                <a:ea typeface="+mn-ea"/>
              </a:rPr>
              <a:t>算法（续）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7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7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72" grpId="0"/>
      <p:bldP spid="212996" grpId="0"/>
      <p:bldP spid="212997" grpId="0"/>
      <p:bldP spid="212998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76" name="Object 2">
            <a:extLst>
              <a:ext uri="{FF2B5EF4-FFF2-40B4-BE49-F238E27FC236}">
                <a16:creationId xmlns:a16="http://schemas.microsoft.com/office/drawing/2014/main" id="{D302C853-D3F3-477C-B186-FC8156CAD7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4550" y="1136650"/>
          <a:ext cx="11472863" cy="415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76" name="Document" r:id="rId3" imgW="5473499" imgH="1989025" progId="Word.Document.8">
                  <p:embed/>
                </p:oleObj>
              </mc:Choice>
              <mc:Fallback>
                <p:oleObj name="Document" r:id="rId3" imgW="5473499" imgH="198902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0" y="1136650"/>
                        <a:ext cx="11472863" cy="415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>
            <a:extLst>
              <a:ext uri="{FF2B5EF4-FFF2-40B4-BE49-F238E27FC236}">
                <a16:creationId xmlns:a16="http://schemas.microsoft.com/office/drawing/2014/main" id="{3B80F482-39A2-48F5-B456-8BDD449FB7B9}"/>
              </a:ext>
            </a:extLst>
          </p:cNvPr>
          <p:cNvGrpSpPr>
            <a:grpSpLocks/>
          </p:cNvGrpSpPr>
          <p:nvPr/>
        </p:nvGrpSpPr>
        <p:grpSpPr bwMode="auto">
          <a:xfrm>
            <a:off x="1677988" y="5480050"/>
            <a:ext cx="8610600" cy="533400"/>
            <a:chOff x="336" y="2880"/>
            <a:chExt cx="4992" cy="336"/>
          </a:xfrm>
        </p:grpSpPr>
        <p:sp>
          <p:nvSpPr>
            <p:cNvPr id="148484" name="Text Box 3">
              <a:extLst>
                <a:ext uri="{FF2B5EF4-FFF2-40B4-BE49-F238E27FC236}">
                  <a16:creationId xmlns:a16="http://schemas.microsoft.com/office/drawing/2014/main" id="{9C2D2568-9544-4D2E-8E78-B27DE25FAF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880"/>
              <a:ext cx="499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b="1" dirty="0">
                  <a:latin typeface="+mn-lt"/>
                  <a:ea typeface="+mn-ea"/>
                </a:rPr>
                <a:t>最后得到的                      便是产生序列</a:t>
              </a:r>
              <a:r>
                <a:rPr lang="en-US" altLang="zh-CN" b="1" i="1" u="sng" dirty="0">
                  <a:latin typeface="+mn-lt"/>
                  <a:ea typeface="+mn-ea"/>
                  <a:cs typeface="Times New Roman" panose="02020603050405020304" pitchFamily="18" charset="0"/>
                </a:rPr>
                <a:t>a</a:t>
              </a:r>
              <a:r>
                <a:rPr lang="zh-CN" altLang="en-US" b="1" dirty="0">
                  <a:latin typeface="+mn-lt"/>
                  <a:ea typeface="+mn-ea"/>
                </a:rPr>
                <a:t>的最短线性移位寄存器。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4022" name="Object 3">
                  <a:extLst>
                    <a:ext uri="{FF2B5EF4-FFF2-40B4-BE49-F238E27FC236}">
                      <a16:creationId xmlns:a16="http://schemas.microsoft.com/office/drawing/2014/main" id="{ACBC1045-9D37-4EC3-8F8A-CA415BE4B624}"/>
                    </a:ext>
                  </a:extLst>
                </p:cNvPr>
                <p:cNvSpPr txBox="1"/>
                <p:nvPr/>
              </p:nvSpPr>
              <p:spPr bwMode="auto">
                <a:xfrm>
                  <a:off x="1308" y="2880"/>
                  <a:ext cx="929" cy="336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),</m:t>
                            </m:r>
                            <m:sSub>
                              <m:sSubPr>
                                <m:ctrlP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zh-CN" altLang="en-US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4022" name="Object 3">
                  <a:extLst>
                    <a:ext uri="{FF2B5EF4-FFF2-40B4-BE49-F238E27FC236}">
                      <a16:creationId xmlns:a16="http://schemas.microsoft.com/office/drawing/2014/main" id="{ACBC1045-9D37-4EC3-8F8A-CA415BE4B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08" y="2880"/>
                  <a:ext cx="929" cy="33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标题 2">
            <a:extLst>
              <a:ext uri="{FF2B5EF4-FFF2-40B4-BE49-F238E27FC236}">
                <a16:creationId xmlns:a16="http://schemas.microsoft.com/office/drawing/2014/main" id="{382EC845-1600-4322-96DD-5F0EF4D1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latin typeface="+mn-ea"/>
              </a:rPr>
              <a:t>B-M</a:t>
            </a:r>
            <a:r>
              <a:rPr lang="zh-CN" altLang="en-US" dirty="0">
                <a:latin typeface="+mn-ea"/>
              </a:rPr>
              <a:t>算法（续）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3DFF4-6F65-49C9-B812-D1B06F8C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kumimoji="1" lang="en-US" altLang="zh-CN" dirty="0">
                <a:solidFill>
                  <a:srgbClr val="002060"/>
                </a:solidFill>
                <a:latin typeface="+mn-lt"/>
                <a:ea typeface="+mn-ea"/>
              </a:rPr>
              <a:t>B-M</a:t>
            </a:r>
            <a:r>
              <a:rPr kumimoji="1" lang="zh-CN" altLang="en-US" dirty="0">
                <a:solidFill>
                  <a:srgbClr val="002060"/>
                </a:solidFill>
                <a:latin typeface="+mn-lt"/>
                <a:ea typeface="+mn-ea"/>
              </a:rPr>
              <a:t>算法举例</a:t>
            </a:r>
            <a:r>
              <a:rPr kumimoji="1" lang="zh-CN" altLang="en-US" sz="2400" dirty="0">
                <a:solidFill>
                  <a:srgbClr val="002060"/>
                </a:solidFill>
                <a:latin typeface="+mn-lt"/>
                <a:ea typeface="+mn-ea"/>
              </a:rPr>
              <a:t> 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150532" name="Text Box 3">
            <a:extLst>
              <a:ext uri="{FF2B5EF4-FFF2-40B4-BE49-F238E27FC236}">
                <a16:creationId xmlns:a16="http://schemas.microsoft.com/office/drawing/2014/main" id="{ECE76D3C-BECE-4F67-8DD8-FB406D23A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3638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kumimoji="1" lang="zh-CN" altLang="en-US" sz="2800" b="1" dirty="0">
                <a:latin typeface="+mn-lt"/>
                <a:ea typeface="仿宋" panose="02010609060101010101" pitchFamily="49" charset="-122"/>
              </a:rPr>
              <a:t>输入：</a:t>
            </a:r>
            <a:r>
              <a:rPr kumimoji="1" lang="en-US" altLang="zh-CN" sz="2800" b="1" dirty="0">
                <a:latin typeface="+mn-lt"/>
                <a:ea typeface="仿宋" panose="02010609060101010101" pitchFamily="49" charset="-122"/>
              </a:rPr>
              <a:t>S</a:t>
            </a:r>
            <a:r>
              <a:rPr kumimoji="1" lang="en-US" altLang="zh-CN" sz="2800" b="1" baseline="30000" dirty="0">
                <a:latin typeface="+mn-lt"/>
                <a:ea typeface="仿宋" panose="02010609060101010101" pitchFamily="49" charset="-122"/>
              </a:rPr>
              <a:t>8</a:t>
            </a:r>
            <a:r>
              <a:rPr kumimoji="1" lang="en-US" altLang="zh-CN" sz="2800" b="1" dirty="0">
                <a:latin typeface="+mn-lt"/>
                <a:ea typeface="仿宋" panose="02010609060101010101" pitchFamily="49" charset="-122"/>
              </a:rPr>
              <a:t>=10101111</a:t>
            </a:r>
            <a:endParaRPr kumimoji="1" lang="zh-CN" altLang="zh-CN" sz="2800" b="1" baseline="-25000" dirty="0">
              <a:latin typeface="+mn-lt"/>
              <a:ea typeface="仿宋" panose="02010609060101010101" pitchFamily="49" charset="-122"/>
              <a:sym typeface="MT Extra" panose="05050102010205020202" pitchFamily="18" charset="2"/>
            </a:endParaRPr>
          </a:p>
        </p:txBody>
      </p:sp>
      <p:sp>
        <p:nvSpPr>
          <p:cNvPr id="960516" name="Text Box 4">
            <a:extLst>
              <a:ext uri="{FF2B5EF4-FFF2-40B4-BE49-F238E27FC236}">
                <a16:creationId xmlns:a16="http://schemas.microsoft.com/office/drawing/2014/main" id="{85DC447F-6075-4DFF-AC85-10E15CB82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" y="5759450"/>
            <a:ext cx="76962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lnSpc>
                <a:spcPct val="85000"/>
              </a:lnSpc>
              <a:spcBef>
                <a:spcPct val="50000"/>
              </a:spcBef>
              <a:buFont typeface="Wingdings" panose="05000000000000000000" pitchFamily="2" charset="2"/>
              <a:buNone/>
              <a:defRPr/>
            </a:pPr>
            <a:r>
              <a:rPr kumimoji="1" lang="zh-CN" altLang="en-US" sz="2800" b="1" dirty="0">
                <a:latin typeface="+mn-ea"/>
                <a:ea typeface="+mn-ea"/>
              </a:rPr>
              <a:t>输出：</a:t>
            </a:r>
            <a:r>
              <a:rPr kumimoji="1" lang="zh-CN" altLang="zh-CN" sz="2800" b="1" dirty="0">
                <a:latin typeface="+mn-ea"/>
                <a:ea typeface="+mn-ea"/>
              </a:rPr>
              <a:t>&lt;1+</a:t>
            </a:r>
            <a:r>
              <a:rPr kumimoji="1" lang="en-US" altLang="zh-CN" sz="2800" b="1" dirty="0">
                <a:latin typeface="+mn-ea"/>
                <a:ea typeface="+mn-ea"/>
              </a:rPr>
              <a:t>x</a:t>
            </a:r>
            <a:r>
              <a:rPr kumimoji="1" lang="en-US" altLang="zh-CN" sz="2800" b="1" baseline="30000" dirty="0">
                <a:latin typeface="+mn-ea"/>
                <a:ea typeface="+mn-ea"/>
              </a:rPr>
              <a:t>3</a:t>
            </a:r>
            <a:r>
              <a:rPr kumimoji="1" lang="en-US" altLang="zh-CN" sz="2800" b="1" dirty="0">
                <a:latin typeface="+mn-ea"/>
                <a:ea typeface="+mn-ea"/>
              </a:rPr>
              <a:t>+x</a:t>
            </a:r>
            <a:r>
              <a:rPr kumimoji="1" lang="en-US" altLang="zh-CN" sz="2800" b="1" baseline="30000" dirty="0">
                <a:latin typeface="+mn-ea"/>
                <a:ea typeface="+mn-ea"/>
              </a:rPr>
              <a:t>4</a:t>
            </a:r>
            <a:r>
              <a:rPr kumimoji="1" lang="en-US" altLang="zh-CN" sz="2800" b="1" dirty="0">
                <a:latin typeface="+mn-ea"/>
                <a:ea typeface="+mn-ea"/>
              </a:rPr>
              <a:t>,4&gt;</a:t>
            </a:r>
            <a:endParaRPr kumimoji="1" lang="zh-CN" altLang="zh-CN" sz="2800" b="1" baseline="-25000" dirty="0">
              <a:latin typeface="+mn-ea"/>
              <a:ea typeface="+mn-ea"/>
              <a:sym typeface="MT Extra" panose="05050102010205020202" pitchFamily="18" charset="2"/>
            </a:endParaRPr>
          </a:p>
        </p:txBody>
      </p:sp>
      <p:grpSp>
        <p:nvGrpSpPr>
          <p:cNvPr id="215045" name="Group 5">
            <a:extLst>
              <a:ext uri="{FF2B5EF4-FFF2-40B4-BE49-F238E27FC236}">
                <a16:creationId xmlns:a16="http://schemas.microsoft.com/office/drawing/2014/main" id="{DAACB5C7-DE0F-4F23-B367-6C6AEEF51F5A}"/>
              </a:ext>
            </a:extLst>
          </p:cNvPr>
          <p:cNvGrpSpPr>
            <a:grpSpLocks/>
          </p:cNvGrpSpPr>
          <p:nvPr/>
        </p:nvGrpSpPr>
        <p:grpSpPr bwMode="auto">
          <a:xfrm>
            <a:off x="531813" y="1751015"/>
            <a:ext cx="6172200" cy="4114800"/>
            <a:chOff x="912" y="1396"/>
            <a:chExt cx="4448" cy="2592"/>
          </a:xfrm>
        </p:grpSpPr>
        <p:sp>
          <p:nvSpPr>
            <p:cNvPr id="215049" name="Object 2">
              <a:extLst>
                <a:ext uri="{FF2B5EF4-FFF2-40B4-BE49-F238E27FC236}">
                  <a16:creationId xmlns:a16="http://schemas.microsoft.com/office/drawing/2014/main" id="{EE2AC2A2-B686-440F-9B57-57E0BE81AC8B}"/>
                </a:ext>
              </a:extLst>
            </p:cNvPr>
            <p:cNvSpPr txBox="1"/>
            <p:nvPr/>
          </p:nvSpPr>
          <p:spPr bwMode="auto">
            <a:xfrm>
              <a:off x="4564" y="2988"/>
              <a:ext cx="183" cy="251"/>
            </a:xfrm>
            <a:prstGeom prst="rect">
              <a:avLst/>
            </a:prstGeom>
            <a:noFill/>
            <a:ln>
              <a:noFill/>
            </a:ln>
            <a:effectLst/>
            <a:extLst/>
          </p:spPr>
          <p:txBody>
            <a:bodyPr>
              <a:normAutofit/>
            </a:bodyPr>
            <a:lstStyle/>
            <a:p>
              <a:endParaRPr lang="zh-CN" altLang="en-US"/>
            </a:p>
          </p:txBody>
        </p:sp>
        <p:sp>
          <p:nvSpPr>
            <p:cNvPr id="215050" name="Text Box 7">
              <a:extLst>
                <a:ext uri="{FF2B5EF4-FFF2-40B4-BE49-F238E27FC236}">
                  <a16:creationId xmlns:a16="http://schemas.microsoft.com/office/drawing/2014/main" id="{921F9275-40C2-41AE-BD16-44DBBD9667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2" y="2633"/>
              <a:ext cx="430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仿宋" panose="02010609060101010101" pitchFamily="49" charset="-122"/>
                </a:defRPr>
              </a:lvl9pPr>
            </a:lstStyle>
            <a:p>
              <a:pPr algn="ctr" eaLnBrk="1" hangingPunct="1">
                <a:lnSpc>
                  <a:spcPct val="85000"/>
                </a:lnSpc>
                <a:spcBef>
                  <a:spcPct val="50000"/>
                </a:spcBef>
                <a:buFont typeface="Wingdings" panose="05000000000000000000" pitchFamily="2" charset="2"/>
                <a:buChar char="®"/>
              </a:pPr>
              <a:endParaRPr kumimoji="1" lang="zh-CN" altLang="zh-CN" sz="44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215051" name="Object 3">
                  <a:extLst>
                    <a:ext uri="{FF2B5EF4-FFF2-40B4-BE49-F238E27FC236}">
                      <a16:creationId xmlns:a16="http://schemas.microsoft.com/office/drawing/2014/main" id="{6AF97E69-E35D-4790-A399-175A81064C2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31372680"/>
                    </p:ext>
                  </p:extLst>
                </p:nvPr>
              </p:nvGraphicFramePr>
              <p:xfrm>
                <a:off x="912" y="1396"/>
                <a:ext cx="4448" cy="259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15256" name="Document" r:id="rId5" imgW="6164580" imgH="5135880" progId="Word.Document.8">
                        <p:embed/>
                      </p:oleObj>
                    </mc:Choice>
                    <mc:Fallback>
                      <p:oleObj name="Document" r:id="rId5" imgW="6164580" imgH="5135880" progId="Word.Document.8">
                        <p:embed/>
                        <p:pic>
                          <p:nvPicPr>
                            <p:cNvPr id="0" name="Object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12" y="1396"/>
                              <a:ext cx="4448" cy="25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w="12700" cap="sq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215051" name="Object 3">
                  <a:extLst>
                    <a:ext uri="{FF2B5EF4-FFF2-40B4-BE49-F238E27FC236}">
                      <a16:creationId xmlns:a16="http://schemas.microsoft.com/office/drawing/2014/main" id="{6AF97E69-E35D-4790-A399-175A81064C2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31372680"/>
                    </p:ext>
                  </p:extLst>
                </p:nvPr>
              </p:nvGraphicFramePr>
              <p:xfrm>
                <a:off x="912" y="1396"/>
                <a:ext cx="4448" cy="259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15208" name="Document" r:id="rId7" imgW="6164580" imgH="5135880" progId="Word.Document.8">
                        <p:embed/>
                      </p:oleObj>
                    </mc:Choice>
                    <mc:Fallback>
                      <p:oleObj name="Document" r:id="rId7" imgW="6164580" imgH="5135880" progId="Word.Document.8">
                        <p:embed/>
                        <p:pic>
                          <p:nvPicPr>
                            <p:cNvPr id="0" name="Object 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912" y="1396"/>
                              <a:ext cx="4448" cy="259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12700" cap="sq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52" name="Object 4">
                  <a:extLst>
                    <a:ext uri="{FF2B5EF4-FFF2-40B4-BE49-F238E27FC236}">
                      <a16:creationId xmlns:a16="http://schemas.microsoft.com/office/drawing/2014/main" id="{0AC786BA-F0DD-40B0-A9DC-D66862EC1903}"/>
                    </a:ext>
                  </a:extLst>
                </p:cNvPr>
                <p:cNvSpPr txBox="1"/>
                <p:nvPr/>
              </p:nvSpPr>
              <p:spPr bwMode="auto">
                <a:xfrm>
                  <a:off x="1600" y="1634"/>
                  <a:ext cx="240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52" name="Object 4">
                  <a:extLst>
                    <a:ext uri="{FF2B5EF4-FFF2-40B4-BE49-F238E27FC236}">
                      <a16:creationId xmlns:a16="http://schemas.microsoft.com/office/drawing/2014/main" id="{0AC786BA-F0DD-40B0-A9DC-D66862EC19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00" y="1634"/>
                  <a:ext cx="240" cy="19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53" name="Object 5">
                  <a:extLst>
                    <a:ext uri="{FF2B5EF4-FFF2-40B4-BE49-F238E27FC236}">
                      <a16:creationId xmlns:a16="http://schemas.microsoft.com/office/drawing/2014/main" id="{85CB1DDC-6C09-4211-982D-E51C1E4DCE11}"/>
                    </a:ext>
                  </a:extLst>
                </p:cNvPr>
                <p:cNvSpPr txBox="1"/>
                <p:nvPr/>
              </p:nvSpPr>
              <p:spPr bwMode="auto">
                <a:xfrm>
                  <a:off x="1600" y="1890"/>
                  <a:ext cx="240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53" name="Object 5">
                  <a:extLst>
                    <a:ext uri="{FF2B5EF4-FFF2-40B4-BE49-F238E27FC236}">
                      <a16:creationId xmlns:a16="http://schemas.microsoft.com/office/drawing/2014/main" id="{85CB1DDC-6C09-4211-982D-E51C1E4DCE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00" y="1890"/>
                  <a:ext cx="240" cy="19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54" name="Object 6">
                  <a:extLst>
                    <a:ext uri="{FF2B5EF4-FFF2-40B4-BE49-F238E27FC236}">
                      <a16:creationId xmlns:a16="http://schemas.microsoft.com/office/drawing/2014/main" id="{48D5A652-C20C-444A-9AE0-050325F38BD6}"/>
                    </a:ext>
                  </a:extLst>
                </p:cNvPr>
                <p:cNvSpPr txBox="1"/>
                <p:nvPr/>
              </p:nvSpPr>
              <p:spPr bwMode="auto">
                <a:xfrm>
                  <a:off x="1540" y="2339"/>
                  <a:ext cx="345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54" name="Object 6">
                  <a:extLst>
                    <a:ext uri="{FF2B5EF4-FFF2-40B4-BE49-F238E27FC236}">
                      <a16:creationId xmlns:a16="http://schemas.microsoft.com/office/drawing/2014/main" id="{48D5A652-C20C-444A-9AE0-050325F38B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40" y="2339"/>
                  <a:ext cx="345" cy="20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55" name="Object 7">
                  <a:extLst>
                    <a:ext uri="{FF2B5EF4-FFF2-40B4-BE49-F238E27FC236}">
                      <a16:creationId xmlns:a16="http://schemas.microsoft.com/office/drawing/2014/main" id="{6AA306E6-D9D9-4A88-AB29-5C1BDB165D32}"/>
                    </a:ext>
                  </a:extLst>
                </p:cNvPr>
                <p:cNvSpPr txBox="1"/>
                <p:nvPr/>
              </p:nvSpPr>
              <p:spPr bwMode="auto">
                <a:xfrm>
                  <a:off x="1540" y="2579"/>
                  <a:ext cx="345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55" name="Object 7">
                  <a:extLst>
                    <a:ext uri="{FF2B5EF4-FFF2-40B4-BE49-F238E27FC236}">
                      <a16:creationId xmlns:a16="http://schemas.microsoft.com/office/drawing/2014/main" id="{6AA306E6-D9D9-4A88-AB29-5C1BDB165D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40" y="2579"/>
                  <a:ext cx="345" cy="20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56" name="Object 8">
                  <a:extLst>
                    <a:ext uri="{FF2B5EF4-FFF2-40B4-BE49-F238E27FC236}">
                      <a16:creationId xmlns:a16="http://schemas.microsoft.com/office/drawing/2014/main" id="{C15F8FC9-EEFA-4B70-8EE2-C86CCF0CEE8C}"/>
                    </a:ext>
                  </a:extLst>
                </p:cNvPr>
                <p:cNvSpPr txBox="1"/>
                <p:nvPr/>
              </p:nvSpPr>
              <p:spPr bwMode="auto">
                <a:xfrm>
                  <a:off x="1584" y="2834"/>
                  <a:ext cx="240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56" name="Object 8">
                  <a:extLst>
                    <a:ext uri="{FF2B5EF4-FFF2-40B4-BE49-F238E27FC236}">
                      <a16:creationId xmlns:a16="http://schemas.microsoft.com/office/drawing/2014/main" id="{C15F8FC9-EEFA-4B70-8EE2-C86CCF0CEE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84" y="2834"/>
                  <a:ext cx="240" cy="19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57" name="Object 9">
                  <a:extLst>
                    <a:ext uri="{FF2B5EF4-FFF2-40B4-BE49-F238E27FC236}">
                      <a16:creationId xmlns:a16="http://schemas.microsoft.com/office/drawing/2014/main" id="{586471C3-4054-4448-9160-E49EFDF62FBE}"/>
                    </a:ext>
                  </a:extLst>
                </p:cNvPr>
                <p:cNvSpPr txBox="1"/>
                <p:nvPr/>
              </p:nvSpPr>
              <p:spPr bwMode="auto">
                <a:xfrm>
                  <a:off x="1532" y="3083"/>
                  <a:ext cx="345" cy="20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57" name="Object 9">
                  <a:extLst>
                    <a:ext uri="{FF2B5EF4-FFF2-40B4-BE49-F238E27FC236}">
                      <a16:creationId xmlns:a16="http://schemas.microsoft.com/office/drawing/2014/main" id="{586471C3-4054-4448-9160-E49EFDF62F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32" y="3083"/>
                  <a:ext cx="345" cy="206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58" name="Object 10">
                  <a:extLst>
                    <a:ext uri="{FF2B5EF4-FFF2-40B4-BE49-F238E27FC236}">
                      <a16:creationId xmlns:a16="http://schemas.microsoft.com/office/drawing/2014/main" id="{1A314F72-0014-4852-92D3-218819551F64}"/>
                    </a:ext>
                  </a:extLst>
                </p:cNvPr>
                <p:cNvSpPr txBox="1"/>
                <p:nvPr/>
              </p:nvSpPr>
              <p:spPr bwMode="auto">
                <a:xfrm>
                  <a:off x="1584" y="3338"/>
                  <a:ext cx="240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58" name="Object 10">
                  <a:extLst>
                    <a:ext uri="{FF2B5EF4-FFF2-40B4-BE49-F238E27FC236}">
                      <a16:creationId xmlns:a16="http://schemas.microsoft.com/office/drawing/2014/main" id="{1A314F72-0014-4852-92D3-218819551F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84" y="3338"/>
                  <a:ext cx="240" cy="19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59" name="Object 11">
                  <a:extLst>
                    <a:ext uri="{FF2B5EF4-FFF2-40B4-BE49-F238E27FC236}">
                      <a16:creationId xmlns:a16="http://schemas.microsoft.com/office/drawing/2014/main" id="{B1A2CD4D-86F3-4F1C-9359-A7A757B18B19}"/>
                    </a:ext>
                  </a:extLst>
                </p:cNvPr>
                <p:cNvSpPr txBox="1"/>
                <p:nvPr/>
              </p:nvSpPr>
              <p:spPr bwMode="auto">
                <a:xfrm>
                  <a:off x="1592" y="2130"/>
                  <a:ext cx="240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59" name="Object 11">
                  <a:extLst>
                    <a:ext uri="{FF2B5EF4-FFF2-40B4-BE49-F238E27FC236}">
                      <a16:creationId xmlns:a16="http://schemas.microsoft.com/office/drawing/2014/main" id="{B1A2CD4D-86F3-4F1C-9359-A7A757B18B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92" y="2130"/>
                  <a:ext cx="240" cy="19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60" name="Object 12">
                  <a:extLst>
                    <a:ext uri="{FF2B5EF4-FFF2-40B4-BE49-F238E27FC236}">
                      <a16:creationId xmlns:a16="http://schemas.microsoft.com/office/drawing/2014/main" id="{6A4116BA-4572-4D41-9795-1F3332345A7F}"/>
                    </a:ext>
                  </a:extLst>
                </p:cNvPr>
                <p:cNvSpPr txBox="1"/>
                <p:nvPr/>
              </p:nvSpPr>
              <p:spPr bwMode="auto">
                <a:xfrm>
                  <a:off x="2311" y="1874"/>
                  <a:ext cx="497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60" name="Object 12">
                  <a:extLst>
                    <a:ext uri="{FF2B5EF4-FFF2-40B4-BE49-F238E27FC236}">
                      <a16:creationId xmlns:a16="http://schemas.microsoft.com/office/drawing/2014/main" id="{6A4116BA-4572-4D41-9795-1F3332345A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11" y="1874"/>
                  <a:ext cx="497" cy="20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61" name="Object 13">
                  <a:extLst>
                    <a:ext uri="{FF2B5EF4-FFF2-40B4-BE49-F238E27FC236}">
                      <a16:creationId xmlns:a16="http://schemas.microsoft.com/office/drawing/2014/main" id="{253BD092-0F7A-4413-941F-F616177CA0C2}"/>
                    </a:ext>
                  </a:extLst>
                </p:cNvPr>
                <p:cNvSpPr txBox="1"/>
                <p:nvPr/>
              </p:nvSpPr>
              <p:spPr bwMode="auto">
                <a:xfrm>
                  <a:off x="2448" y="2114"/>
                  <a:ext cx="240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61" name="Object 13">
                  <a:extLst>
                    <a:ext uri="{FF2B5EF4-FFF2-40B4-BE49-F238E27FC236}">
                      <a16:creationId xmlns:a16="http://schemas.microsoft.com/office/drawing/2014/main" id="{253BD092-0F7A-4413-941F-F616177CA0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48" y="2114"/>
                  <a:ext cx="240" cy="19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62" name="Object 14">
                  <a:extLst>
                    <a:ext uri="{FF2B5EF4-FFF2-40B4-BE49-F238E27FC236}">
                      <a16:creationId xmlns:a16="http://schemas.microsoft.com/office/drawing/2014/main" id="{C0719F03-70D3-46C2-B026-145E7C6D94BC}"/>
                    </a:ext>
                  </a:extLst>
                </p:cNvPr>
                <p:cNvSpPr txBox="1"/>
                <p:nvPr/>
              </p:nvSpPr>
              <p:spPr bwMode="auto">
                <a:xfrm>
                  <a:off x="2264" y="2570"/>
                  <a:ext cx="721" cy="2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62" name="Object 14">
                  <a:extLst>
                    <a:ext uri="{FF2B5EF4-FFF2-40B4-BE49-F238E27FC236}">
                      <a16:creationId xmlns:a16="http://schemas.microsoft.com/office/drawing/2014/main" id="{C0719F03-70D3-46C2-B026-145E7C6D94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64" y="2570"/>
                  <a:ext cx="721" cy="23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63" name="Object 15">
                  <a:extLst>
                    <a:ext uri="{FF2B5EF4-FFF2-40B4-BE49-F238E27FC236}">
                      <a16:creationId xmlns:a16="http://schemas.microsoft.com/office/drawing/2014/main" id="{EEAD1E5F-6586-402E-8D30-35169F821368}"/>
                    </a:ext>
                  </a:extLst>
                </p:cNvPr>
                <p:cNvSpPr txBox="1"/>
                <p:nvPr/>
              </p:nvSpPr>
              <p:spPr bwMode="auto">
                <a:xfrm>
                  <a:off x="2256" y="2818"/>
                  <a:ext cx="721" cy="2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63" name="Object 15">
                  <a:extLst>
                    <a:ext uri="{FF2B5EF4-FFF2-40B4-BE49-F238E27FC236}">
                      <a16:creationId xmlns:a16="http://schemas.microsoft.com/office/drawing/2014/main" id="{EEAD1E5F-6586-402E-8D30-35169F821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56" y="2818"/>
                  <a:ext cx="721" cy="23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64" name="Object 16">
                  <a:extLst>
                    <a:ext uri="{FF2B5EF4-FFF2-40B4-BE49-F238E27FC236}">
                      <a16:creationId xmlns:a16="http://schemas.microsoft.com/office/drawing/2014/main" id="{95781C2A-BB25-4E54-ABE1-4A6AC4213E4B}"/>
                    </a:ext>
                  </a:extLst>
                </p:cNvPr>
                <p:cNvSpPr txBox="1"/>
                <p:nvPr/>
              </p:nvSpPr>
              <p:spPr bwMode="auto">
                <a:xfrm>
                  <a:off x="2064" y="3058"/>
                  <a:ext cx="931" cy="2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64" name="Object 16">
                  <a:extLst>
                    <a:ext uri="{FF2B5EF4-FFF2-40B4-BE49-F238E27FC236}">
                      <a16:creationId xmlns:a16="http://schemas.microsoft.com/office/drawing/2014/main" id="{95781C2A-BB25-4E54-ABE1-4A6AC4213E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64" y="3058"/>
                  <a:ext cx="931" cy="23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65" name="Object 17">
                  <a:extLst>
                    <a:ext uri="{FF2B5EF4-FFF2-40B4-BE49-F238E27FC236}">
                      <a16:creationId xmlns:a16="http://schemas.microsoft.com/office/drawing/2014/main" id="{5A949DD1-677C-4D06-BA6B-79BC11DEBBCA}"/>
                    </a:ext>
                  </a:extLst>
                </p:cNvPr>
                <p:cNvSpPr txBox="1"/>
                <p:nvPr/>
              </p:nvSpPr>
              <p:spPr bwMode="auto">
                <a:xfrm>
                  <a:off x="2064" y="3293"/>
                  <a:ext cx="931" cy="2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5065" name="Object 17">
                  <a:extLst>
                    <a:ext uri="{FF2B5EF4-FFF2-40B4-BE49-F238E27FC236}">
                      <a16:creationId xmlns:a16="http://schemas.microsoft.com/office/drawing/2014/main" id="{5A949DD1-677C-4D06-BA6B-79BC11DEBB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64" y="3293"/>
                  <a:ext cx="931" cy="23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66" name="Object 18">
                  <a:extLst>
                    <a:ext uri="{FF2B5EF4-FFF2-40B4-BE49-F238E27FC236}">
                      <a16:creationId xmlns:a16="http://schemas.microsoft.com/office/drawing/2014/main" id="{012D1774-7246-485E-B05F-D64D74E0E6E1}"/>
                    </a:ext>
                  </a:extLst>
                </p:cNvPr>
                <p:cNvSpPr txBox="1"/>
                <p:nvPr/>
              </p:nvSpPr>
              <p:spPr bwMode="auto">
                <a:xfrm>
                  <a:off x="2064" y="3533"/>
                  <a:ext cx="931" cy="2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66" name="Object 18">
                  <a:extLst>
                    <a:ext uri="{FF2B5EF4-FFF2-40B4-BE49-F238E27FC236}">
                      <a16:creationId xmlns:a16="http://schemas.microsoft.com/office/drawing/2014/main" id="{012D1774-7246-485E-B05F-D64D74E0E6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64" y="3533"/>
                  <a:ext cx="931" cy="23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67" name="Object 19">
                  <a:extLst>
                    <a:ext uri="{FF2B5EF4-FFF2-40B4-BE49-F238E27FC236}">
                      <a16:creationId xmlns:a16="http://schemas.microsoft.com/office/drawing/2014/main" id="{8A617A92-B3FC-427A-9F3A-ED4BFC7C7AC7}"/>
                    </a:ext>
                  </a:extLst>
                </p:cNvPr>
                <p:cNvSpPr txBox="1"/>
                <p:nvPr/>
              </p:nvSpPr>
              <p:spPr bwMode="auto">
                <a:xfrm>
                  <a:off x="3360" y="1866"/>
                  <a:ext cx="240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67" name="Object 19">
                  <a:extLst>
                    <a:ext uri="{FF2B5EF4-FFF2-40B4-BE49-F238E27FC236}">
                      <a16:creationId xmlns:a16="http://schemas.microsoft.com/office/drawing/2014/main" id="{8A617A92-B3FC-427A-9F3A-ED4BFC7C7A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60" y="1866"/>
                  <a:ext cx="240" cy="19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68" name="Object 20">
                  <a:extLst>
                    <a:ext uri="{FF2B5EF4-FFF2-40B4-BE49-F238E27FC236}">
                      <a16:creationId xmlns:a16="http://schemas.microsoft.com/office/drawing/2014/main" id="{62D17894-FD13-47E0-A838-E770ABEA6239}"/>
                    </a:ext>
                  </a:extLst>
                </p:cNvPr>
                <p:cNvSpPr txBox="1"/>
                <p:nvPr/>
              </p:nvSpPr>
              <p:spPr bwMode="auto">
                <a:xfrm>
                  <a:off x="3360" y="2122"/>
                  <a:ext cx="240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68" name="Object 20">
                  <a:extLst>
                    <a:ext uri="{FF2B5EF4-FFF2-40B4-BE49-F238E27FC236}">
                      <a16:creationId xmlns:a16="http://schemas.microsoft.com/office/drawing/2014/main" id="{62D17894-FD13-47E0-A838-E770ABEA62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60" y="2122"/>
                  <a:ext cx="240" cy="19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69" name="Object 21">
                  <a:extLst>
                    <a:ext uri="{FF2B5EF4-FFF2-40B4-BE49-F238E27FC236}">
                      <a16:creationId xmlns:a16="http://schemas.microsoft.com/office/drawing/2014/main" id="{20AB13E9-3640-4663-A1FD-C9A99D5275E7}"/>
                    </a:ext>
                  </a:extLst>
                </p:cNvPr>
                <p:cNvSpPr txBox="1"/>
                <p:nvPr/>
              </p:nvSpPr>
              <p:spPr bwMode="auto">
                <a:xfrm>
                  <a:off x="3303" y="2346"/>
                  <a:ext cx="345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69" name="Object 21">
                  <a:extLst>
                    <a:ext uri="{FF2B5EF4-FFF2-40B4-BE49-F238E27FC236}">
                      <a16:creationId xmlns:a16="http://schemas.microsoft.com/office/drawing/2014/main" id="{20AB13E9-3640-4663-A1FD-C9A99D5275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03" y="2346"/>
                  <a:ext cx="345" cy="19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70" name="Object 22">
                  <a:extLst>
                    <a:ext uri="{FF2B5EF4-FFF2-40B4-BE49-F238E27FC236}">
                      <a16:creationId xmlns:a16="http://schemas.microsoft.com/office/drawing/2014/main" id="{E8C3AD84-2C7A-455F-8B62-D1D3D41DFC44}"/>
                    </a:ext>
                  </a:extLst>
                </p:cNvPr>
                <p:cNvSpPr txBox="1"/>
                <p:nvPr/>
              </p:nvSpPr>
              <p:spPr bwMode="auto">
                <a:xfrm>
                  <a:off x="3303" y="2578"/>
                  <a:ext cx="345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70" name="Object 22">
                  <a:extLst>
                    <a:ext uri="{FF2B5EF4-FFF2-40B4-BE49-F238E27FC236}">
                      <a16:creationId xmlns:a16="http://schemas.microsoft.com/office/drawing/2014/main" id="{E8C3AD84-2C7A-455F-8B62-D1D3D41DFC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03" y="2578"/>
                  <a:ext cx="345" cy="19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71" name="Object 23">
                  <a:extLst>
                    <a:ext uri="{FF2B5EF4-FFF2-40B4-BE49-F238E27FC236}">
                      <a16:creationId xmlns:a16="http://schemas.microsoft.com/office/drawing/2014/main" id="{228AF480-20D4-448F-A6A3-8D8B7457BD4C}"/>
                    </a:ext>
                  </a:extLst>
                </p:cNvPr>
                <p:cNvSpPr txBox="1"/>
                <p:nvPr/>
              </p:nvSpPr>
              <p:spPr bwMode="auto">
                <a:xfrm>
                  <a:off x="3303" y="2818"/>
                  <a:ext cx="345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71" name="Object 23">
                  <a:extLst>
                    <a:ext uri="{FF2B5EF4-FFF2-40B4-BE49-F238E27FC236}">
                      <a16:creationId xmlns:a16="http://schemas.microsoft.com/office/drawing/2014/main" id="{228AF480-20D4-448F-A6A3-8D8B7457BD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03" y="2818"/>
                  <a:ext cx="345" cy="19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72" name="Object 24">
                  <a:extLst>
                    <a:ext uri="{FF2B5EF4-FFF2-40B4-BE49-F238E27FC236}">
                      <a16:creationId xmlns:a16="http://schemas.microsoft.com/office/drawing/2014/main" id="{587DAAED-88C5-4441-AB50-D784F37ECBDB}"/>
                    </a:ext>
                  </a:extLst>
                </p:cNvPr>
                <p:cNvSpPr txBox="1"/>
                <p:nvPr/>
              </p:nvSpPr>
              <p:spPr bwMode="auto">
                <a:xfrm>
                  <a:off x="3292" y="3058"/>
                  <a:ext cx="345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72" name="Object 24">
                  <a:extLst>
                    <a:ext uri="{FF2B5EF4-FFF2-40B4-BE49-F238E27FC236}">
                      <a16:creationId xmlns:a16="http://schemas.microsoft.com/office/drawing/2014/main" id="{587DAAED-88C5-4441-AB50-D784F37ECB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92" y="3058"/>
                  <a:ext cx="345" cy="19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73" name="Object 25">
                  <a:extLst>
                    <a:ext uri="{FF2B5EF4-FFF2-40B4-BE49-F238E27FC236}">
                      <a16:creationId xmlns:a16="http://schemas.microsoft.com/office/drawing/2014/main" id="{FB94500C-0534-45D5-9C25-000794C0A75C}"/>
                    </a:ext>
                  </a:extLst>
                </p:cNvPr>
                <p:cNvSpPr txBox="1"/>
                <p:nvPr/>
              </p:nvSpPr>
              <p:spPr bwMode="auto">
                <a:xfrm>
                  <a:off x="3292" y="3298"/>
                  <a:ext cx="345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73" name="Object 25">
                  <a:extLst>
                    <a:ext uri="{FF2B5EF4-FFF2-40B4-BE49-F238E27FC236}">
                      <a16:creationId xmlns:a16="http://schemas.microsoft.com/office/drawing/2014/main" id="{FB94500C-0534-45D5-9C25-000794C0A7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92" y="3298"/>
                  <a:ext cx="345" cy="19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74" name="Object 26">
                  <a:extLst>
                    <a:ext uri="{FF2B5EF4-FFF2-40B4-BE49-F238E27FC236}">
                      <a16:creationId xmlns:a16="http://schemas.microsoft.com/office/drawing/2014/main" id="{0C48DD39-BC5F-4596-AAD3-785F87658E01}"/>
                    </a:ext>
                  </a:extLst>
                </p:cNvPr>
                <p:cNvSpPr txBox="1"/>
                <p:nvPr/>
              </p:nvSpPr>
              <p:spPr bwMode="auto">
                <a:xfrm>
                  <a:off x="3284" y="3538"/>
                  <a:ext cx="345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74" name="Object 26">
                  <a:extLst>
                    <a:ext uri="{FF2B5EF4-FFF2-40B4-BE49-F238E27FC236}">
                      <a16:creationId xmlns:a16="http://schemas.microsoft.com/office/drawing/2014/main" id="{0C48DD39-BC5F-4596-AAD3-785F87658E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84" y="3538"/>
                  <a:ext cx="345" cy="19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75" name="Object 27">
                  <a:extLst>
                    <a:ext uri="{FF2B5EF4-FFF2-40B4-BE49-F238E27FC236}">
                      <a16:creationId xmlns:a16="http://schemas.microsoft.com/office/drawing/2014/main" id="{572108C2-8978-4554-A208-2C472A6CE9CB}"/>
                    </a:ext>
                  </a:extLst>
                </p:cNvPr>
                <p:cNvSpPr txBox="1"/>
                <p:nvPr/>
              </p:nvSpPr>
              <p:spPr bwMode="auto">
                <a:xfrm>
                  <a:off x="4503" y="3285"/>
                  <a:ext cx="721" cy="2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75" name="Object 27">
                  <a:extLst>
                    <a:ext uri="{FF2B5EF4-FFF2-40B4-BE49-F238E27FC236}">
                      <a16:creationId xmlns:a16="http://schemas.microsoft.com/office/drawing/2014/main" id="{572108C2-8978-4554-A208-2C472A6CE9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03" y="3285"/>
                  <a:ext cx="721" cy="23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76" name="Object 28">
                  <a:extLst>
                    <a:ext uri="{FF2B5EF4-FFF2-40B4-BE49-F238E27FC236}">
                      <a16:creationId xmlns:a16="http://schemas.microsoft.com/office/drawing/2014/main" id="{AC4E2CAD-601C-4CC8-8887-64D9A24B30EA}"/>
                    </a:ext>
                  </a:extLst>
                </p:cNvPr>
                <p:cNvSpPr txBox="1"/>
                <p:nvPr/>
              </p:nvSpPr>
              <p:spPr bwMode="auto">
                <a:xfrm>
                  <a:off x="3840" y="2842"/>
                  <a:ext cx="345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76" name="Object 28">
                  <a:extLst>
                    <a:ext uri="{FF2B5EF4-FFF2-40B4-BE49-F238E27FC236}">
                      <a16:creationId xmlns:a16="http://schemas.microsoft.com/office/drawing/2014/main" id="{AC4E2CAD-601C-4CC8-8887-64D9A24B30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40" y="2842"/>
                  <a:ext cx="345" cy="19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77" name="Object 29">
                  <a:extLst>
                    <a:ext uri="{FF2B5EF4-FFF2-40B4-BE49-F238E27FC236}">
                      <a16:creationId xmlns:a16="http://schemas.microsoft.com/office/drawing/2014/main" id="{30B383CB-7D1E-4A3C-AA07-78F4014D8489}"/>
                    </a:ext>
                  </a:extLst>
                </p:cNvPr>
                <p:cNvSpPr txBox="1"/>
                <p:nvPr/>
              </p:nvSpPr>
              <p:spPr bwMode="auto">
                <a:xfrm>
                  <a:off x="3848" y="3323"/>
                  <a:ext cx="311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77" name="Object 29">
                  <a:extLst>
                    <a:ext uri="{FF2B5EF4-FFF2-40B4-BE49-F238E27FC236}">
                      <a16:creationId xmlns:a16="http://schemas.microsoft.com/office/drawing/2014/main" id="{30B383CB-7D1E-4A3C-AA07-78F4014D84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48" y="3323"/>
                  <a:ext cx="311" cy="20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78" name="Object 30">
                  <a:extLst>
                    <a:ext uri="{FF2B5EF4-FFF2-40B4-BE49-F238E27FC236}">
                      <a16:creationId xmlns:a16="http://schemas.microsoft.com/office/drawing/2014/main" id="{90E187A2-12B5-42A9-8B6A-F06727E06561}"/>
                    </a:ext>
                  </a:extLst>
                </p:cNvPr>
                <p:cNvSpPr txBox="1"/>
                <p:nvPr/>
              </p:nvSpPr>
              <p:spPr bwMode="auto">
                <a:xfrm>
                  <a:off x="3871" y="1891"/>
                  <a:ext cx="345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78" name="Object 30">
                  <a:extLst>
                    <a:ext uri="{FF2B5EF4-FFF2-40B4-BE49-F238E27FC236}">
                      <a16:creationId xmlns:a16="http://schemas.microsoft.com/office/drawing/2014/main" id="{90E187A2-12B5-42A9-8B6A-F06727E065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71" y="1891"/>
                  <a:ext cx="345" cy="20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79" name="Object 31">
                  <a:extLst>
                    <a:ext uri="{FF2B5EF4-FFF2-40B4-BE49-F238E27FC236}">
                      <a16:creationId xmlns:a16="http://schemas.microsoft.com/office/drawing/2014/main" id="{A65D08BE-7F4B-41FC-A055-2C82FD3136F0}"/>
                    </a:ext>
                  </a:extLst>
                </p:cNvPr>
                <p:cNvSpPr txBox="1"/>
                <p:nvPr/>
              </p:nvSpPr>
              <p:spPr bwMode="auto">
                <a:xfrm>
                  <a:off x="3880" y="2131"/>
                  <a:ext cx="345" cy="20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79" name="Object 31">
                  <a:extLst>
                    <a:ext uri="{FF2B5EF4-FFF2-40B4-BE49-F238E27FC236}">
                      <a16:creationId xmlns:a16="http://schemas.microsoft.com/office/drawing/2014/main" id="{A65D08BE-7F4B-41FC-A055-2C82FD3136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80" y="2131"/>
                  <a:ext cx="345" cy="20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80" name="Object 32">
                  <a:extLst>
                    <a:ext uri="{FF2B5EF4-FFF2-40B4-BE49-F238E27FC236}">
                      <a16:creationId xmlns:a16="http://schemas.microsoft.com/office/drawing/2014/main" id="{8E4AA799-6CE5-4C7D-B0D0-27A14651EBB8}"/>
                    </a:ext>
                  </a:extLst>
                </p:cNvPr>
                <p:cNvSpPr txBox="1"/>
                <p:nvPr/>
              </p:nvSpPr>
              <p:spPr bwMode="auto">
                <a:xfrm>
                  <a:off x="4688" y="1890"/>
                  <a:ext cx="240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80" name="Object 32">
                  <a:extLst>
                    <a:ext uri="{FF2B5EF4-FFF2-40B4-BE49-F238E27FC236}">
                      <a16:creationId xmlns:a16="http://schemas.microsoft.com/office/drawing/2014/main" id="{8E4AA799-6CE5-4C7D-B0D0-27A14651E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88" y="1890"/>
                  <a:ext cx="240" cy="19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81" name="Object 33">
                  <a:extLst>
                    <a:ext uri="{FF2B5EF4-FFF2-40B4-BE49-F238E27FC236}">
                      <a16:creationId xmlns:a16="http://schemas.microsoft.com/office/drawing/2014/main" id="{5D150700-5FBB-4590-A50E-BC5834DE51C5}"/>
                    </a:ext>
                  </a:extLst>
                </p:cNvPr>
                <p:cNvSpPr txBox="1"/>
                <p:nvPr/>
              </p:nvSpPr>
              <p:spPr bwMode="auto">
                <a:xfrm>
                  <a:off x="4696" y="2114"/>
                  <a:ext cx="240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81" name="Object 33">
                  <a:extLst>
                    <a:ext uri="{FF2B5EF4-FFF2-40B4-BE49-F238E27FC236}">
                      <a16:creationId xmlns:a16="http://schemas.microsoft.com/office/drawing/2014/main" id="{5D150700-5FBB-4590-A50E-BC5834DE51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96" y="2114"/>
                  <a:ext cx="240" cy="19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82" name="Object 34">
                  <a:extLst>
                    <a:ext uri="{FF2B5EF4-FFF2-40B4-BE49-F238E27FC236}">
                      <a16:creationId xmlns:a16="http://schemas.microsoft.com/office/drawing/2014/main" id="{53A859DE-362B-4B07-AD20-BF97BFA90BEE}"/>
                    </a:ext>
                  </a:extLst>
                </p:cNvPr>
                <p:cNvSpPr txBox="1"/>
                <p:nvPr/>
              </p:nvSpPr>
              <p:spPr bwMode="auto">
                <a:xfrm>
                  <a:off x="4712" y="2850"/>
                  <a:ext cx="240" cy="19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 fontScale="77500" lnSpcReduction="2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82" name="Object 34">
                  <a:extLst>
                    <a:ext uri="{FF2B5EF4-FFF2-40B4-BE49-F238E27FC236}">
                      <a16:creationId xmlns:a16="http://schemas.microsoft.com/office/drawing/2014/main" id="{53A859DE-362B-4B07-AD20-BF97BFA90B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12" y="2850"/>
                  <a:ext cx="240" cy="19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5083" name="Object 35">
                  <a:extLst>
                    <a:ext uri="{FF2B5EF4-FFF2-40B4-BE49-F238E27FC236}">
                      <a16:creationId xmlns:a16="http://schemas.microsoft.com/office/drawing/2014/main" id="{EE555986-A658-4CAE-958F-C326124B1434}"/>
                    </a:ext>
                  </a:extLst>
                </p:cNvPr>
                <p:cNvSpPr txBox="1"/>
                <p:nvPr/>
              </p:nvSpPr>
              <p:spPr bwMode="auto">
                <a:xfrm>
                  <a:off x="2256" y="2338"/>
                  <a:ext cx="721" cy="2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15083" name="Object 35">
                  <a:extLst>
                    <a:ext uri="{FF2B5EF4-FFF2-40B4-BE49-F238E27FC236}">
                      <a16:creationId xmlns:a16="http://schemas.microsoft.com/office/drawing/2014/main" id="{EE555986-A658-4CAE-958F-C326124B14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56" y="2338"/>
                  <a:ext cx="721" cy="23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41" name="Object 2">
            <a:extLst>
              <a:ext uri="{FF2B5EF4-FFF2-40B4-BE49-F238E27FC236}">
                <a16:creationId xmlns:a16="http://schemas.microsoft.com/office/drawing/2014/main" id="{8ACC7701-A4BA-41B6-864C-C0C66C605A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0038" y="2154238"/>
          <a:ext cx="9347200" cy="413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7" name="Document" r:id="rId32" imgW="5473499" imgH="2434549" progId="Word.Document.8">
                  <p:embed/>
                </p:oleObj>
              </mc:Choice>
              <mc:Fallback>
                <p:oleObj name="Document" r:id="rId32" imgW="5473499" imgH="2434549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038" y="2154238"/>
                        <a:ext cx="9347200" cy="413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15047" name="Object 2">
                <a:extLst>
                  <a:ext uri="{FF2B5EF4-FFF2-40B4-BE49-F238E27FC236}">
                    <a16:creationId xmlns:a16="http://schemas.microsoft.com/office/drawing/2014/main" id="{629132CF-E4C2-430D-937E-F80FB2D33C37}"/>
                  </a:ext>
                </a:extLst>
              </p:cNvPr>
              <p:cNvSpPr txBox="1"/>
              <p:nvPr/>
            </p:nvSpPr>
            <p:spPr bwMode="auto">
              <a:xfrm>
                <a:off x="6858000" y="1033463"/>
                <a:ext cx="4981575" cy="5302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b>
                          </m:sSub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5047" name="Object 2">
                <a:extLst>
                  <a:ext uri="{FF2B5EF4-FFF2-40B4-BE49-F238E27FC236}">
                    <a16:creationId xmlns:a16="http://schemas.microsoft.com/office/drawing/2014/main" id="{629132CF-E4C2-430D-937E-F80FB2D33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0" y="1033463"/>
                <a:ext cx="4981575" cy="530225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048" name="Object 3">
                <a:extLst>
                  <a:ext uri="{FF2B5EF4-FFF2-40B4-BE49-F238E27FC236}">
                    <a16:creationId xmlns:a16="http://schemas.microsoft.com/office/drawing/2014/main" id="{515878F8-6728-4008-A8CE-A6C5311DF773}"/>
                  </a:ext>
                </a:extLst>
              </p:cNvPr>
              <p:cNvSpPr txBox="1"/>
              <p:nvPr/>
            </p:nvSpPr>
            <p:spPr bwMode="auto">
              <a:xfrm>
                <a:off x="7126288" y="1530350"/>
                <a:ext cx="4713287" cy="5588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b>
                          </m:sSub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15048" name="Object 3">
                <a:extLst>
                  <a:ext uri="{FF2B5EF4-FFF2-40B4-BE49-F238E27FC236}">
                    <a16:creationId xmlns:a16="http://schemas.microsoft.com/office/drawing/2014/main" id="{515878F8-6728-4008-A8CE-A6C5311DF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26288" y="1530350"/>
                <a:ext cx="4713287" cy="55880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605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RBRAK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0516" grpId="0" autoUpdateAnimBg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副标题 2">
            <a:extLst>
              <a:ext uri="{FF2B5EF4-FFF2-40B4-BE49-F238E27FC236}">
                <a16:creationId xmlns:a16="http://schemas.microsoft.com/office/drawing/2014/main" id="{366E9A96-72DD-4AFD-AB8E-9E3582297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048000"/>
            <a:ext cx="12192000" cy="790575"/>
          </a:xfrm>
        </p:spPr>
        <p:txBody>
          <a:bodyPr/>
          <a:lstStyle/>
          <a:p>
            <a:r>
              <a:rPr lang="zh-CN" altLang="en-US" sz="3600" b="1"/>
              <a:t>非线性序列</a:t>
            </a:r>
            <a:endParaRPr lang="en-US" altLang="zh-CN" sz="3600" b="1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3080D92-21C9-4066-ACB4-C7A2D568A3BB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random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>
            <a:extLst>
              <a:ext uri="{FF2B5EF4-FFF2-40B4-BE49-F238E27FC236}">
                <a16:creationId xmlns:a16="http://schemas.microsoft.com/office/drawing/2014/main" id="{05314A76-7258-4B9F-8F31-1B8F4D29C1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非线性序列</a:t>
            </a:r>
          </a:p>
        </p:txBody>
      </p:sp>
      <p:sp>
        <p:nvSpPr>
          <p:cNvPr id="219139" name="Rectangle 3">
            <a:extLst>
              <a:ext uri="{FF2B5EF4-FFF2-40B4-BE49-F238E27FC236}">
                <a16:creationId xmlns:a16="http://schemas.microsoft.com/office/drawing/2014/main" id="{5F86AEED-57E8-4F31-9E1A-D6621B127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4588" y="990600"/>
            <a:ext cx="9677400" cy="54864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2800" b="1"/>
              <a:t>密钥流生成器可分解为驱动子系统和非线性组合子系统，如图所示 </a:t>
            </a:r>
            <a:endParaRPr lang="en-US" altLang="zh-CN" sz="2800" b="1"/>
          </a:p>
          <a:p>
            <a:pPr>
              <a:lnSpc>
                <a:spcPct val="100000"/>
              </a:lnSpc>
            </a:pPr>
            <a:endParaRPr lang="en-US" altLang="zh-CN" sz="2800" b="1"/>
          </a:p>
          <a:p>
            <a:pPr>
              <a:lnSpc>
                <a:spcPct val="100000"/>
              </a:lnSpc>
            </a:pPr>
            <a:endParaRPr lang="zh-CN" altLang="en-US" sz="2800" b="1"/>
          </a:p>
          <a:p>
            <a:pPr>
              <a:lnSpc>
                <a:spcPct val="100000"/>
              </a:lnSpc>
            </a:pPr>
            <a:endParaRPr lang="zh-CN" altLang="en-US" sz="2800" b="1"/>
          </a:p>
          <a:p>
            <a:pPr>
              <a:lnSpc>
                <a:spcPct val="100000"/>
              </a:lnSpc>
            </a:pPr>
            <a:endParaRPr lang="zh-CN" altLang="en-US" sz="2800" b="1"/>
          </a:p>
          <a:p>
            <a:pPr lvl="1">
              <a:lnSpc>
                <a:spcPct val="100000"/>
              </a:lnSpc>
            </a:pPr>
            <a:endParaRPr lang="zh-CN" altLang="en-US" sz="2400" b="1"/>
          </a:p>
          <a:p>
            <a:pPr lvl="1">
              <a:lnSpc>
                <a:spcPct val="100000"/>
              </a:lnSpc>
            </a:pPr>
            <a:r>
              <a:rPr lang="zh-CN" altLang="en-US" sz="2400" b="1"/>
              <a:t>驱动子系统常用一个或多个线性反馈移位寄存器来实现</a:t>
            </a:r>
          </a:p>
          <a:p>
            <a:pPr lvl="1">
              <a:lnSpc>
                <a:spcPct val="100000"/>
              </a:lnSpc>
            </a:pPr>
            <a:r>
              <a:rPr lang="zh-CN" altLang="en-US" sz="2400" b="1"/>
              <a:t>非线性组合子系统用非线性组合函数</a:t>
            </a:r>
            <a:r>
              <a:rPr lang="en-US" altLang="zh-CN" sz="2400" b="1"/>
              <a:t>F</a:t>
            </a:r>
            <a:r>
              <a:rPr lang="zh-CN" altLang="en-US" sz="2400" b="1"/>
              <a:t>来实现</a:t>
            </a:r>
            <a:endParaRPr lang="en-US" altLang="zh-CN" sz="2400" b="1"/>
          </a:p>
          <a:p>
            <a:pPr lvl="1">
              <a:lnSpc>
                <a:spcPct val="100000"/>
              </a:lnSpc>
            </a:pPr>
            <a:r>
              <a:rPr lang="zh-CN" altLang="en-US" sz="2400" b="1"/>
              <a:t>为了使密钥流生成器输出的二元序列尽可能复杂，也应保证其</a:t>
            </a:r>
            <a:r>
              <a:rPr lang="zh-CN" altLang="en-US" sz="2400" b="1">
                <a:solidFill>
                  <a:srgbClr val="0000FF"/>
                </a:solidFill>
              </a:rPr>
              <a:t>周期尽可能大</a:t>
            </a:r>
            <a:r>
              <a:rPr lang="zh-CN" altLang="en-US" sz="2400" b="1"/>
              <a:t>、</a:t>
            </a:r>
            <a:r>
              <a:rPr lang="zh-CN" altLang="en-US" sz="2400" b="1">
                <a:solidFill>
                  <a:srgbClr val="0000FF"/>
                </a:solidFill>
              </a:rPr>
              <a:t>线性复杂度和不可预测性尽可能高</a:t>
            </a:r>
            <a:endParaRPr lang="zh-CN" altLang="en-US" sz="2400" b="1"/>
          </a:p>
          <a:p>
            <a:pPr lvl="1">
              <a:lnSpc>
                <a:spcPct val="100000"/>
              </a:lnSpc>
            </a:pPr>
            <a:endParaRPr lang="zh-CN" altLang="en-US" sz="2400" b="1"/>
          </a:p>
        </p:txBody>
      </p:sp>
      <p:sp>
        <p:nvSpPr>
          <p:cNvPr id="219140" name="Rectangle 5">
            <a:extLst>
              <a:ext uri="{FF2B5EF4-FFF2-40B4-BE49-F238E27FC236}">
                <a16:creationId xmlns:a16="http://schemas.microsoft.com/office/drawing/2014/main" id="{7CF20FE8-ED06-422E-A0AA-51315C474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378075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19141" name="Object 4">
            <a:extLst>
              <a:ext uri="{FF2B5EF4-FFF2-40B4-BE49-F238E27FC236}">
                <a16:creationId xmlns:a16="http://schemas.microsoft.com/office/drawing/2014/main" id="{C310EEB5-9011-41D6-8B48-8E569BFE8F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1600200"/>
          <a:ext cx="4114800" cy="275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93" name="Visio" r:id="rId4" imgW="2592019" imgH="1734312" progId="Visio.Drawing.11">
                  <p:embed/>
                </p:oleObj>
              </mc:Choice>
              <mc:Fallback>
                <p:oleObj name="Visio" r:id="rId4" imgW="2592019" imgH="1734312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600200"/>
                        <a:ext cx="4114800" cy="2752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4BEA8-381B-4270-94C0-08A171017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2550" y="365125"/>
            <a:ext cx="6778625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非线性序列</a:t>
            </a:r>
          </a:p>
        </p:txBody>
      </p:sp>
      <p:sp>
        <p:nvSpPr>
          <p:cNvPr id="5" name="空心弧 4">
            <a:extLst>
              <a:ext uri="{FF2B5EF4-FFF2-40B4-BE49-F238E27FC236}">
                <a16:creationId xmlns:a16="http://schemas.microsoft.com/office/drawing/2014/main" id="{E2D2F8E9-1FAB-4C6E-AD9B-3999A644DB9E}"/>
              </a:ext>
            </a:extLst>
          </p:cNvPr>
          <p:cNvSpPr/>
          <p:nvPr/>
        </p:nvSpPr>
        <p:spPr bwMode="auto">
          <a:xfrm>
            <a:off x="-1627188" y="793750"/>
            <a:ext cx="5472113" cy="5473700"/>
          </a:xfrm>
          <a:prstGeom prst="blockArc">
            <a:avLst>
              <a:gd name="adj1" fmla="val 18776635"/>
              <a:gd name="adj2" fmla="val 2427521"/>
              <a:gd name="adj3" fmla="val 0"/>
            </a:avLst>
          </a:prstGeom>
        </p:spPr>
        <p:style>
          <a:lnRef idx="1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15F28980-2C49-4FD0-84B9-8D85E8965A92}"/>
              </a:ext>
            </a:extLst>
          </p:cNvPr>
          <p:cNvSpPr/>
          <p:nvPr/>
        </p:nvSpPr>
        <p:spPr bwMode="auto">
          <a:xfrm>
            <a:off x="3479800" y="1854200"/>
            <a:ext cx="5708650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dirty="0" err="1"/>
              <a:t>Geffe</a:t>
            </a:r>
            <a:r>
              <a:rPr lang="zh-CN" altLang="en-US" sz="2400" dirty="0"/>
              <a:t>序列生成器</a:t>
            </a:r>
            <a:endParaRPr lang="zh-CN" altLang="en-US" sz="2400" b="1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B41846E-25A8-4123-BD6D-9BFA1BA49FCC}"/>
              </a:ext>
            </a:extLst>
          </p:cNvPr>
          <p:cNvSpPr/>
          <p:nvPr/>
        </p:nvSpPr>
        <p:spPr bwMode="auto">
          <a:xfrm>
            <a:off x="2971800" y="1752600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任意多边形 14">
            <a:extLst>
              <a:ext uri="{FF2B5EF4-FFF2-40B4-BE49-F238E27FC236}">
                <a16:creationId xmlns:a16="http://schemas.microsoft.com/office/drawing/2014/main" id="{86F9F956-F611-4DF9-B627-1B4A3B11B52E}"/>
              </a:ext>
            </a:extLst>
          </p:cNvPr>
          <p:cNvSpPr/>
          <p:nvPr/>
        </p:nvSpPr>
        <p:spPr>
          <a:xfrm>
            <a:off x="3559175" y="4267200"/>
            <a:ext cx="5629275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dirty="0" err="1"/>
              <a:t>Pless</a:t>
            </a:r>
            <a:r>
              <a:rPr lang="zh-CN" altLang="en-US" sz="2400" dirty="0"/>
              <a:t>生成器</a:t>
            </a:r>
            <a:endParaRPr lang="zh-CN" altLang="en-US" sz="2400" b="1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94C01052-FA86-49AC-B67F-20DE5CF7D514}"/>
              </a:ext>
            </a:extLst>
          </p:cNvPr>
          <p:cNvSpPr/>
          <p:nvPr/>
        </p:nvSpPr>
        <p:spPr>
          <a:xfrm>
            <a:off x="3051175" y="4165600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7E05366-87E5-4F55-97B0-80837E2E0D5B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8">
            <a:extLst>
              <a:ext uri="{FF2B5EF4-FFF2-40B4-BE49-F238E27FC236}">
                <a16:creationId xmlns:a16="http://schemas.microsoft.com/office/drawing/2014/main" id="{ABF7C00E-3E79-480A-A09A-FC7D0043083F}"/>
              </a:ext>
            </a:extLst>
          </p:cNvPr>
          <p:cNvSpPr/>
          <p:nvPr/>
        </p:nvSpPr>
        <p:spPr bwMode="auto">
          <a:xfrm>
            <a:off x="3784600" y="3014663"/>
            <a:ext cx="5403850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dirty="0"/>
              <a:t>J-K</a:t>
            </a:r>
            <a:r>
              <a:rPr lang="zh-CN" altLang="en-US" sz="2400" dirty="0"/>
              <a:t>触发器</a:t>
            </a:r>
            <a:endParaRPr lang="zh-CN" altLang="en-US" sz="2400" b="1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AAD35EC-43D1-48CF-A9A5-DA2DD9114FCC}"/>
              </a:ext>
            </a:extLst>
          </p:cNvPr>
          <p:cNvSpPr/>
          <p:nvPr/>
        </p:nvSpPr>
        <p:spPr bwMode="auto">
          <a:xfrm>
            <a:off x="3276600" y="2913063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3">
            <a:extLst>
              <a:ext uri="{FF2B5EF4-FFF2-40B4-BE49-F238E27FC236}">
                <a16:creationId xmlns:a16="http://schemas.microsoft.com/office/drawing/2014/main" id="{25F4027B-2BD4-489A-9DBA-3606522BF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504825"/>
            <a:ext cx="10439400" cy="55149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zh-CN" sz="2800">
                <a:latin typeface="Times New Roman" panose="02020603050405020304" pitchFamily="18" charset="0"/>
              </a:rPr>
              <a:t>Geffe</a:t>
            </a:r>
            <a:r>
              <a:rPr lang="zh-CN" altLang="en-US" sz="2800">
                <a:latin typeface="Times New Roman" panose="02020603050405020304" pitchFamily="18" charset="0"/>
              </a:rPr>
              <a:t>序列生成器</a:t>
            </a:r>
          </a:p>
          <a:p>
            <a:pPr lvl="1">
              <a:lnSpc>
                <a:spcPct val="120000"/>
              </a:lnSpc>
            </a:pPr>
            <a:r>
              <a:rPr lang="en-US" altLang="zh-CN" sz="2400">
                <a:latin typeface="Times New Roman" panose="02020603050405020304" pitchFamily="18" charset="0"/>
              </a:rPr>
              <a:t>Geffe</a:t>
            </a:r>
            <a:r>
              <a:rPr lang="zh-CN" altLang="en-US" sz="2400">
                <a:latin typeface="Times New Roman" panose="02020603050405020304" pitchFamily="18" charset="0"/>
              </a:rPr>
              <a:t>序列生成器由</a:t>
            </a:r>
            <a:r>
              <a:rPr lang="en-US" altLang="zh-CN" sz="2400">
                <a:latin typeface="Times New Roman" panose="02020603050405020304" pitchFamily="18" charset="0"/>
              </a:rPr>
              <a:t>3</a:t>
            </a:r>
            <a:r>
              <a:rPr lang="zh-CN" altLang="en-US" sz="2400">
                <a:latin typeface="Times New Roman" panose="02020603050405020304" pitchFamily="18" charset="0"/>
              </a:rPr>
              <a:t>个</a:t>
            </a:r>
            <a:r>
              <a:rPr lang="en-US" altLang="zh-CN" sz="2400">
                <a:latin typeface="Times New Roman" panose="02020603050405020304" pitchFamily="18" charset="0"/>
              </a:rPr>
              <a:t>LFSR</a:t>
            </a:r>
            <a:r>
              <a:rPr lang="zh-CN" altLang="en-US" sz="2400">
                <a:latin typeface="Times New Roman" panose="02020603050405020304" pitchFamily="18" charset="0"/>
              </a:rPr>
              <a:t>组成，其中</a:t>
            </a:r>
            <a:r>
              <a:rPr lang="en-US" altLang="zh-CN" sz="2400">
                <a:latin typeface="Times New Roman" panose="02020603050405020304" pitchFamily="18" charset="0"/>
              </a:rPr>
              <a:t>LFSR2</a:t>
            </a:r>
            <a:r>
              <a:rPr lang="zh-CN" altLang="en-US" sz="2400">
                <a:latin typeface="Times New Roman" panose="02020603050405020304" pitchFamily="18" charset="0"/>
              </a:rPr>
              <a:t>作为控制生成器使用，如图所示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endParaRPr lang="zh-CN" altLang="en-US" sz="240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2800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2800">
              <a:latin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endParaRPr lang="zh-CN" altLang="en-US" sz="2400">
              <a:latin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当</a:t>
            </a:r>
            <a:r>
              <a:rPr lang="en-US" altLang="zh-CN" sz="2400">
                <a:latin typeface="Times New Roman" panose="02020603050405020304" pitchFamily="18" charset="0"/>
              </a:rPr>
              <a:t>LFSR2</a:t>
            </a:r>
            <a:r>
              <a:rPr lang="zh-CN" altLang="en-US" sz="2400">
                <a:latin typeface="Times New Roman" panose="02020603050405020304" pitchFamily="18" charset="0"/>
              </a:rPr>
              <a:t>输出</a:t>
            </a:r>
            <a:r>
              <a:rPr lang="en-US" altLang="zh-CN" sz="24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时，</a:t>
            </a:r>
            <a:r>
              <a:rPr lang="en-US" altLang="zh-CN" sz="2400">
                <a:latin typeface="Times New Roman" panose="02020603050405020304" pitchFamily="18" charset="0"/>
              </a:rPr>
              <a:t>LFSR2</a:t>
            </a:r>
            <a:r>
              <a:rPr lang="zh-CN" altLang="en-US" sz="2400">
                <a:latin typeface="Times New Roman" panose="02020603050405020304" pitchFamily="18" charset="0"/>
              </a:rPr>
              <a:t>与</a:t>
            </a:r>
            <a:r>
              <a:rPr lang="en-US" altLang="zh-CN" sz="2400">
                <a:latin typeface="Times New Roman" panose="02020603050405020304" pitchFamily="18" charset="0"/>
              </a:rPr>
              <a:t>LFSR1</a:t>
            </a:r>
            <a:r>
              <a:rPr lang="zh-CN" altLang="en-US" sz="2400">
                <a:latin typeface="Times New Roman" panose="02020603050405020304" pitchFamily="18" charset="0"/>
              </a:rPr>
              <a:t>相连接</a:t>
            </a:r>
          </a:p>
          <a:p>
            <a:pPr lvl="1">
              <a:lnSpc>
                <a:spcPct val="1200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当</a:t>
            </a:r>
            <a:r>
              <a:rPr lang="en-US" altLang="zh-CN" sz="2400">
                <a:latin typeface="Times New Roman" panose="02020603050405020304" pitchFamily="18" charset="0"/>
              </a:rPr>
              <a:t>LFSR2</a:t>
            </a:r>
            <a:r>
              <a:rPr lang="zh-CN" altLang="en-US" sz="2400">
                <a:latin typeface="Times New Roman" panose="02020603050405020304" pitchFamily="18" charset="0"/>
              </a:rPr>
              <a:t>输出</a:t>
            </a:r>
            <a:r>
              <a:rPr lang="en-US" altLang="zh-CN" sz="2400">
                <a:latin typeface="Times New Roman" panose="02020603050405020304" pitchFamily="18" charset="0"/>
              </a:rPr>
              <a:t>0</a:t>
            </a:r>
            <a:r>
              <a:rPr lang="zh-CN" altLang="en-US" sz="2400">
                <a:latin typeface="Times New Roman" panose="02020603050405020304" pitchFamily="18" charset="0"/>
              </a:rPr>
              <a:t>时，</a:t>
            </a:r>
            <a:r>
              <a:rPr lang="en-US" altLang="zh-CN" sz="2400">
                <a:latin typeface="Times New Roman" panose="02020603050405020304" pitchFamily="18" charset="0"/>
              </a:rPr>
              <a:t>LFSR2</a:t>
            </a:r>
            <a:r>
              <a:rPr lang="zh-CN" altLang="en-US" sz="2400">
                <a:latin typeface="Times New Roman" panose="02020603050405020304" pitchFamily="18" charset="0"/>
              </a:rPr>
              <a:t>与</a:t>
            </a:r>
            <a:r>
              <a:rPr lang="en-US" altLang="zh-CN" sz="2400">
                <a:latin typeface="Times New Roman" panose="02020603050405020304" pitchFamily="18" charset="0"/>
              </a:rPr>
              <a:t>LFSR3</a:t>
            </a:r>
            <a:r>
              <a:rPr lang="zh-CN" altLang="en-US" sz="2400">
                <a:latin typeface="Times New Roman" panose="02020603050405020304" pitchFamily="18" charset="0"/>
              </a:rPr>
              <a:t>相连接</a:t>
            </a:r>
          </a:p>
        </p:txBody>
      </p:sp>
      <p:sp>
        <p:nvSpPr>
          <p:cNvPr id="223235" name="Rectangle 5">
            <a:extLst>
              <a:ext uri="{FF2B5EF4-FFF2-40B4-BE49-F238E27FC236}">
                <a16:creationId xmlns:a16="http://schemas.microsoft.com/office/drawing/2014/main" id="{5AA91F49-57F2-4077-AFAE-A40B4D368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5209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23236" name="Object 4">
            <a:extLst>
              <a:ext uri="{FF2B5EF4-FFF2-40B4-BE49-F238E27FC236}">
                <a16:creationId xmlns:a16="http://schemas.microsoft.com/office/drawing/2014/main" id="{BDC7EC43-115E-4069-9936-1B1C732595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22525" y="2228850"/>
          <a:ext cx="28956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42" name="Visio" r:id="rId4" imgW="2197913" imgH="1450543" progId="Visio.Drawing.11">
                  <p:embed/>
                </p:oleObj>
              </mc:Choice>
              <mc:Fallback>
                <p:oleObj name="Visio" r:id="rId4" imgW="2197913" imgH="145054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2525" y="2228850"/>
                        <a:ext cx="28956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37" name="Rectangle 7">
            <a:extLst>
              <a:ext uri="{FF2B5EF4-FFF2-40B4-BE49-F238E27FC236}">
                <a16:creationId xmlns:a16="http://schemas.microsoft.com/office/drawing/2014/main" id="{0DCBA427-52D0-4353-A82E-DB2F1B5A8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454275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23238" name="Object 6">
            <a:extLst>
              <a:ext uri="{FF2B5EF4-FFF2-40B4-BE49-F238E27FC236}">
                <a16:creationId xmlns:a16="http://schemas.microsoft.com/office/drawing/2014/main" id="{5D0BCCAA-A456-44B0-8212-D3B558FECD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19800" y="2089150"/>
          <a:ext cx="327660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343" name="Visio" r:id="rId6" imgW="2532583" imgH="1580998" progId="Visio.Drawing.11">
                  <p:embed/>
                </p:oleObj>
              </mc:Choice>
              <mc:Fallback>
                <p:oleObj name="Visio" r:id="rId6" imgW="2532583" imgH="1580998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089150"/>
                        <a:ext cx="3276600" cy="204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3239" name="Rectangle 9">
            <a:extLst>
              <a:ext uri="{FF2B5EF4-FFF2-40B4-BE49-F238E27FC236}">
                <a16:creationId xmlns:a16="http://schemas.microsoft.com/office/drawing/2014/main" id="{ECFFD31B-28F4-424F-9AC3-8A4C45DEA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11150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AFDDE75-E65D-4301-A266-0CEED2801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en-US" altLang="zh-CN" dirty="0" err="1">
                <a:latin typeface="Times New Roman" panose="02020603050405020304" pitchFamily="18" charset="0"/>
              </a:rPr>
              <a:t>Geffe</a:t>
            </a:r>
            <a:r>
              <a:rPr lang="zh-CN" altLang="en-US" dirty="0">
                <a:latin typeface="Times New Roman" panose="02020603050405020304" pitchFamily="18" charset="0"/>
              </a:rPr>
              <a:t>序列生成器（续）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8308" name="Object 1028">
                <a:extLst>
                  <a:ext uri="{FF2B5EF4-FFF2-40B4-BE49-F238E27FC236}">
                    <a16:creationId xmlns:a16="http://schemas.microsoft.com/office/drawing/2014/main" id="{EE92656C-95BC-44EA-9533-378B6F2BF1C6}"/>
                  </a:ext>
                </a:extLst>
              </p:cNvPr>
              <p:cNvSpPr txBox="1"/>
              <p:nvPr/>
            </p:nvSpPr>
            <p:spPr bwMode="auto">
              <a:xfrm>
                <a:off x="5943600" y="2400300"/>
                <a:ext cx="5468938" cy="623888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sSubSup>
                            <m:sSub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(2)</m:t>
                              </m:r>
                            </m:sup>
                          </m:sSubSup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(3)</m:t>
                          </m:r>
                        </m:sup>
                      </m:sSubSup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38308" name="Object 1028">
                <a:extLst>
                  <a:ext uri="{FF2B5EF4-FFF2-40B4-BE49-F238E27FC236}">
                    <a16:creationId xmlns:a16="http://schemas.microsoft.com/office/drawing/2014/main" id="{EE92656C-95BC-44EA-9533-378B6F2BF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3600" y="2400300"/>
                <a:ext cx="5468938" cy="6238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2490" name="Text Box 10">
            <a:extLst>
              <a:ext uri="{FF2B5EF4-FFF2-40B4-BE49-F238E27FC236}">
                <a16:creationId xmlns:a16="http://schemas.microsoft.com/office/drawing/2014/main" id="{7102D472-4C8B-4913-AA9D-FD585F29F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75" y="3330575"/>
            <a:ext cx="51054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ea typeface="宋体" panose="02010600030101010101" pitchFamily="2" charset="-122"/>
              </a:rPr>
              <a:t>设</a:t>
            </a:r>
            <a:r>
              <a:rPr lang="en-US" altLang="zh-CN" sz="2400" b="1">
                <a:ea typeface="宋体" panose="02010600030101010101" pitchFamily="2" charset="-122"/>
              </a:rPr>
              <a:t>LFSRi</a:t>
            </a:r>
            <a:r>
              <a:rPr lang="zh-CN" altLang="en-US" sz="2400" b="1">
                <a:ea typeface="宋体" panose="02010600030101010101" pitchFamily="2" charset="-122"/>
              </a:rPr>
              <a:t>的特征多项式分别为</a:t>
            </a:r>
            <a:r>
              <a:rPr lang="en-US" altLang="zh-CN" sz="2400" b="1" i="1">
                <a:ea typeface="宋体" panose="02010600030101010101" pitchFamily="2" charset="-122"/>
              </a:rPr>
              <a:t>n</a:t>
            </a:r>
            <a:r>
              <a:rPr lang="en-US" altLang="zh-CN" sz="2400" b="1" i="1" baseline="-25000">
                <a:ea typeface="宋体" panose="02010600030101010101" pitchFamily="2" charset="-122"/>
              </a:rPr>
              <a:t>i</a:t>
            </a:r>
            <a:r>
              <a:rPr lang="zh-CN" altLang="en-US" sz="2400" b="1">
                <a:ea typeface="宋体" panose="02010600030101010101" pitchFamily="2" charset="-122"/>
              </a:rPr>
              <a:t>次本原多项式，且</a:t>
            </a:r>
            <a:r>
              <a:rPr lang="en-US" altLang="zh-CN" sz="2400" b="1" i="1">
                <a:ea typeface="宋体" panose="02010600030101010101" pitchFamily="2" charset="-122"/>
              </a:rPr>
              <a:t>n</a:t>
            </a:r>
            <a:r>
              <a:rPr lang="en-US" altLang="zh-CN" sz="2400" b="1" i="1" baseline="-25000">
                <a:ea typeface="宋体" panose="02010600030101010101" pitchFamily="2" charset="-122"/>
              </a:rPr>
              <a:t>i</a:t>
            </a:r>
            <a:r>
              <a:rPr lang="zh-CN" altLang="en-US" sz="2400" b="1">
                <a:ea typeface="宋体" panose="02010600030101010101" pitchFamily="2" charset="-122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两两互素</a:t>
            </a:r>
          </a:p>
        </p:txBody>
      </p:sp>
      <p:sp>
        <p:nvSpPr>
          <p:cNvPr id="225285" name="Text Box 11">
            <a:extLst>
              <a:ext uri="{FF2B5EF4-FFF2-40B4-BE49-F238E27FC236}">
                <a16:creationId xmlns:a16="http://schemas.microsoft.com/office/drawing/2014/main" id="{7F6D48C3-BF30-4338-94E1-7DC25D7B5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75" y="4672013"/>
            <a:ext cx="3429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2400" b="1">
                <a:ea typeface="宋体" panose="02010600030101010101" pitchFamily="2" charset="-122"/>
              </a:rPr>
              <a:t>则</a:t>
            </a:r>
            <a:r>
              <a:rPr lang="en-US" altLang="zh-CN" sz="2400" b="1">
                <a:ea typeface="宋体" panose="02010600030101010101" pitchFamily="2" charset="-122"/>
              </a:rPr>
              <a:t>Geffe</a:t>
            </a:r>
            <a:r>
              <a:rPr lang="zh-CN" altLang="en-US" sz="2400" b="1">
                <a:ea typeface="宋体" panose="02010600030101010101" pitchFamily="2" charset="-122"/>
              </a:rPr>
              <a:t>序列的</a:t>
            </a: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周期</a:t>
            </a:r>
            <a:r>
              <a:rPr lang="zh-CN" altLang="en-US" sz="2400" b="1">
                <a:ea typeface="宋体" panose="02010600030101010101" pitchFamily="2" charset="-122"/>
              </a:rPr>
              <a:t>=</a:t>
            </a:r>
          </a:p>
        </p:txBody>
      </p:sp>
      <p:sp>
        <p:nvSpPr>
          <p:cNvPr id="225286" name="Text Box 13">
            <a:extLst>
              <a:ext uri="{FF2B5EF4-FFF2-40B4-BE49-F238E27FC236}">
                <a16:creationId xmlns:a16="http://schemas.microsoft.com/office/drawing/2014/main" id="{88D4F4B0-B17E-45FC-82FF-8EEAF9330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7275" y="5586413"/>
            <a:ext cx="2667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线性复杂度</a:t>
            </a:r>
            <a:r>
              <a:rPr lang="zh-CN" altLang="en-US" sz="2400" b="1">
                <a:ea typeface="宋体" panose="02010600030101010101" pitchFamily="2" charset="-122"/>
              </a:rPr>
              <a:t>=</a:t>
            </a:r>
            <a:endParaRPr lang="zh-CN" altLang="en-US" sz="2400">
              <a:ea typeface="宋体" panose="02010600030101010101" pitchFamily="2" charset="-122"/>
            </a:endParaRPr>
          </a:p>
        </p:txBody>
      </p:sp>
      <p:sp>
        <p:nvSpPr>
          <p:cNvPr id="103431" name="矩形 5">
            <a:extLst>
              <a:ext uri="{FF2B5EF4-FFF2-40B4-BE49-F238E27FC236}">
                <a16:creationId xmlns:a16="http://schemas.microsoft.com/office/drawing/2014/main" id="{8037100C-4E29-4991-A0DB-C8F431E0B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5010150"/>
            <a:ext cx="4932363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-63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4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Verdana" panose="020B0604030504040204" pitchFamily="34" charset="0"/>
                <a:ea typeface="宋体" panose="02010600030101010101" pitchFamily="2" charset="-122"/>
              </a:rPr>
              <a:t>Geffe</a:t>
            </a:r>
            <a:r>
              <a:rPr lang="zh-CN" altLang="en-US" sz="2400" b="1">
                <a:latin typeface="Verdana" panose="020B0604030504040204" pitchFamily="34" charset="0"/>
                <a:ea typeface="宋体" panose="02010600030101010101" pitchFamily="2" charset="-122"/>
              </a:rPr>
              <a:t>序列的周期实现了</a:t>
            </a:r>
            <a:r>
              <a:rPr lang="zh-CN" altLang="en-US" sz="2400" b="1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极大化</a:t>
            </a:r>
            <a:r>
              <a:rPr lang="zh-CN" altLang="en-US" sz="2400" b="1">
                <a:latin typeface="Verdana" panose="020B0604030504040204" pitchFamily="34" charset="0"/>
                <a:ea typeface="宋体" panose="02010600030101010101" pitchFamily="2" charset="-122"/>
              </a:rPr>
              <a:t>，且0与1之间的分布大体上是</a:t>
            </a:r>
            <a:r>
              <a:rPr lang="zh-CN" altLang="en-US" sz="2400" b="1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平衡</a:t>
            </a:r>
            <a:r>
              <a:rPr lang="zh-CN" altLang="en-US" sz="2400" b="1">
                <a:latin typeface="Verdana" panose="020B0604030504040204" pitchFamily="34" charset="0"/>
                <a:ea typeface="宋体" panose="02010600030101010101" pitchFamily="2" charset="-122"/>
              </a:rPr>
              <a:t>的。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33793C-0B48-45D7-B760-A976E3D52223}"/>
              </a:ext>
            </a:extLst>
          </p:cNvPr>
          <p:cNvSpPr/>
          <p:nvPr/>
        </p:nvSpPr>
        <p:spPr>
          <a:xfrm>
            <a:off x="5214938" y="1284288"/>
            <a:ext cx="6275387" cy="97790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>
              <a:lnSpc>
                <a:spcPct val="120000"/>
              </a:lnSpc>
              <a:defRPr/>
            </a:pPr>
            <a:r>
              <a:rPr lang="zh-CN" altLang="en-US" sz="2400" b="1" dirty="0">
                <a:latin typeface="+mn-lt"/>
                <a:ea typeface="+mn-ea"/>
              </a:rPr>
              <a:t>若设</a:t>
            </a:r>
            <a:r>
              <a:rPr lang="en-US" altLang="zh-CN" sz="2400" b="1" dirty="0" err="1">
                <a:latin typeface="+mn-lt"/>
                <a:ea typeface="+mn-ea"/>
              </a:rPr>
              <a:t>LFSRi</a:t>
            </a:r>
            <a:r>
              <a:rPr lang="zh-CN" altLang="en-US" sz="2400" b="1" dirty="0">
                <a:latin typeface="+mn-lt"/>
                <a:ea typeface="+mn-ea"/>
              </a:rPr>
              <a:t>的输出序列为</a:t>
            </a:r>
            <a:r>
              <a:rPr lang="en-US" altLang="zh-CN" sz="2400" b="1" dirty="0">
                <a:latin typeface="+mn-lt"/>
                <a:ea typeface="+mn-ea"/>
              </a:rPr>
              <a:t>{</a:t>
            </a:r>
            <a:r>
              <a:rPr lang="en-US" altLang="zh-CN" sz="2400" b="1" i="1" dirty="0" err="1">
                <a:latin typeface="+mn-lt"/>
                <a:ea typeface="+mn-ea"/>
              </a:rPr>
              <a:t>a</a:t>
            </a:r>
            <a:r>
              <a:rPr lang="en-US" altLang="zh-CN" sz="2400" b="1" i="1" baseline="-25000" dirty="0" err="1">
                <a:latin typeface="+mn-lt"/>
                <a:ea typeface="+mn-ea"/>
              </a:rPr>
              <a:t>k</a:t>
            </a:r>
            <a:r>
              <a:rPr lang="en-US" altLang="zh-CN" sz="2400" b="1" baseline="30000" dirty="0">
                <a:latin typeface="+mn-lt"/>
                <a:ea typeface="+mn-ea"/>
              </a:rPr>
              <a:t>(</a:t>
            </a:r>
            <a:r>
              <a:rPr lang="en-US" altLang="zh-CN" sz="2400" b="1" i="1" baseline="30000" dirty="0" err="1">
                <a:latin typeface="+mn-lt"/>
                <a:ea typeface="+mn-ea"/>
              </a:rPr>
              <a:t>i</a:t>
            </a:r>
            <a:r>
              <a:rPr lang="en-US" altLang="zh-CN" sz="2400" b="1" baseline="30000" dirty="0">
                <a:latin typeface="+mn-lt"/>
                <a:ea typeface="+mn-ea"/>
              </a:rPr>
              <a:t>)</a:t>
            </a:r>
            <a:r>
              <a:rPr lang="en-US" altLang="zh-CN" sz="2400" b="1" dirty="0">
                <a:latin typeface="+mn-lt"/>
                <a:ea typeface="+mn-ea"/>
              </a:rPr>
              <a:t>} (</a:t>
            </a:r>
            <a:r>
              <a:rPr lang="en-US" altLang="zh-CN" sz="2400" b="1" i="1" dirty="0" err="1">
                <a:latin typeface="+mn-lt"/>
                <a:ea typeface="+mn-ea"/>
              </a:rPr>
              <a:t>i</a:t>
            </a:r>
            <a:r>
              <a:rPr lang="en-US" altLang="zh-CN" sz="2400" b="1" dirty="0">
                <a:latin typeface="+mn-lt"/>
                <a:ea typeface="+mn-ea"/>
              </a:rPr>
              <a:t>=1,2,3)</a:t>
            </a:r>
            <a:r>
              <a:rPr lang="zh-CN" altLang="en-US" sz="2400" b="1" dirty="0">
                <a:latin typeface="+mn-lt"/>
                <a:ea typeface="+mn-ea"/>
              </a:rPr>
              <a:t>，则输出序列</a:t>
            </a:r>
            <a:r>
              <a:rPr lang="en-US" altLang="zh-CN" sz="2400" b="1" dirty="0">
                <a:latin typeface="+mn-lt"/>
                <a:ea typeface="+mn-ea"/>
              </a:rPr>
              <a:t>{</a:t>
            </a:r>
            <a:r>
              <a:rPr lang="en-US" altLang="zh-CN" sz="2400" b="1" i="1" dirty="0" err="1">
                <a:latin typeface="+mn-lt"/>
                <a:ea typeface="+mn-ea"/>
              </a:rPr>
              <a:t>b</a:t>
            </a:r>
            <a:r>
              <a:rPr lang="en-US" altLang="zh-CN" sz="2400" b="1" i="1" baseline="-25000" dirty="0" err="1">
                <a:latin typeface="+mn-lt"/>
                <a:ea typeface="+mn-ea"/>
              </a:rPr>
              <a:t>k</a:t>
            </a:r>
            <a:r>
              <a:rPr lang="en-US" altLang="zh-CN" sz="2400" b="1" dirty="0">
                <a:latin typeface="+mn-lt"/>
                <a:ea typeface="+mn-ea"/>
              </a:rPr>
              <a:t>}</a:t>
            </a:r>
            <a:r>
              <a:rPr lang="zh-CN" altLang="en-US" sz="2400" b="1" dirty="0">
                <a:latin typeface="+mn-lt"/>
                <a:ea typeface="+mn-ea"/>
              </a:rPr>
              <a:t>可以表示为</a:t>
            </a:r>
          </a:p>
        </p:txBody>
      </p:sp>
      <p:grpSp>
        <p:nvGrpSpPr>
          <p:cNvPr id="225289" name="组合 6">
            <a:extLst>
              <a:ext uri="{FF2B5EF4-FFF2-40B4-BE49-F238E27FC236}">
                <a16:creationId xmlns:a16="http://schemas.microsoft.com/office/drawing/2014/main" id="{EBA95B45-0B2F-448B-B53A-ABEFABFC90FE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1081088"/>
            <a:ext cx="4610100" cy="3343275"/>
            <a:chOff x="914400" y="1081627"/>
            <a:chExt cx="4610100" cy="3342419"/>
          </a:xfrm>
        </p:grpSpPr>
        <p:pic>
          <p:nvPicPr>
            <p:cNvPr id="225292" name="Picture 3" descr="xd16">
              <a:extLst>
                <a:ext uri="{FF2B5EF4-FFF2-40B4-BE49-F238E27FC236}">
                  <a16:creationId xmlns:a16="http://schemas.microsoft.com/office/drawing/2014/main" id="{A9AD33B3-2B3D-4DBE-901D-4938CBDA36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1253808"/>
              <a:ext cx="4610100" cy="3170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aphicFrame>
          <p:nvGraphicFramePr>
            <p:cNvPr id="225293" name="对象 5">
              <a:extLst>
                <a:ext uri="{FF2B5EF4-FFF2-40B4-BE49-F238E27FC236}">
                  <a16:creationId xmlns:a16="http://schemas.microsoft.com/office/drawing/2014/main" id="{4A893656-5711-4E9F-B676-4AE8AA677DF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23381" y="1081627"/>
            <a:ext cx="810419" cy="4897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605" name="Formula" r:id="rId6" imgW="364997" imgH="220016" progId="Equation.Ribbit">
                    <p:embed/>
                  </p:oleObj>
                </mc:Choice>
                <mc:Fallback>
                  <p:oleObj name="Formula" r:id="rId6" imgW="364997" imgH="220016" progId="Equation.Ribbit">
                    <p:embed/>
                    <p:pic>
                      <p:nvPicPr>
                        <p:cNvPr id="0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3381" y="1081627"/>
                          <a:ext cx="810419" cy="4897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294" name="对象 20">
              <a:extLst>
                <a:ext uri="{FF2B5EF4-FFF2-40B4-BE49-F238E27FC236}">
                  <a16:creationId xmlns:a16="http://schemas.microsoft.com/office/drawing/2014/main" id="{30A2D6A5-3B6F-4CA1-9435-6315A219794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23381" y="2214896"/>
            <a:ext cx="810419" cy="4897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606" name="Formula" r:id="rId8" imgW="364997" imgH="220016" progId="Equation.Ribbit">
                    <p:embed/>
                  </p:oleObj>
                </mc:Choice>
                <mc:Fallback>
                  <p:oleObj name="Formula" r:id="rId8" imgW="364997" imgH="220016" progId="Equation.Ribbit">
                    <p:embed/>
                    <p:pic>
                      <p:nvPicPr>
                        <p:cNvPr id="0" name="对象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3381" y="2214896"/>
                          <a:ext cx="810419" cy="4897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295" name="对象 21">
              <a:extLst>
                <a:ext uri="{FF2B5EF4-FFF2-40B4-BE49-F238E27FC236}">
                  <a16:creationId xmlns:a16="http://schemas.microsoft.com/office/drawing/2014/main" id="{A1E09D9B-5BBB-4E82-BB0D-0CAAEEF59A5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40400" y="3256724"/>
            <a:ext cx="810419" cy="4897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607" name="Formula" r:id="rId10" imgW="364997" imgH="220016" progId="Equation.Ribbit">
                    <p:embed/>
                  </p:oleObj>
                </mc:Choice>
                <mc:Fallback>
                  <p:oleObj name="Formula" r:id="rId10" imgW="364997" imgH="220016" progId="Equation.Ribbit">
                    <p:embed/>
                    <p:pic>
                      <p:nvPicPr>
                        <p:cNvPr id="0" name="对象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0400" y="3256724"/>
                          <a:ext cx="810419" cy="4897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296" name="对象 22">
              <a:extLst>
                <a:ext uri="{FF2B5EF4-FFF2-40B4-BE49-F238E27FC236}">
                  <a16:creationId xmlns:a16="http://schemas.microsoft.com/office/drawing/2014/main" id="{09B11426-56EC-4D81-BC84-20C63B4902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83125" y="2986088"/>
            <a:ext cx="601663" cy="395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608" name="Formula" r:id="rId12" imgW="271780" imgH="177800" progId="Equation.Ribbit">
                    <p:embed/>
                  </p:oleObj>
                </mc:Choice>
                <mc:Fallback>
                  <p:oleObj name="Formula" r:id="rId12" imgW="271780" imgH="177800" progId="Equation.Ribbit">
                    <p:embed/>
                    <p:pic>
                      <p:nvPicPr>
                        <p:cNvPr id="0" name="对象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3125" y="2986088"/>
                          <a:ext cx="601663" cy="395287"/>
                        </a:xfrm>
                        <a:prstGeom prst="rect">
                          <a:avLst/>
                        </a:prstGeom>
                        <a:solidFill>
                          <a:schemeClr val="accent1">
                            <a:alpha val="0"/>
                          </a:schemeClr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290" name="对象 7">
            <a:extLst>
              <a:ext uri="{FF2B5EF4-FFF2-40B4-BE49-F238E27FC236}">
                <a16:creationId xmlns:a16="http://schemas.microsoft.com/office/drawing/2014/main" id="{A651F76B-4A04-4744-A727-1B174E0A43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34463" y="4408488"/>
          <a:ext cx="1949450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09" name="Formula" r:id="rId14" imgW="731520" imgH="365760" progId="Equation.Ribbit">
                  <p:embed/>
                </p:oleObj>
              </mc:Choice>
              <mc:Fallback>
                <p:oleObj name="Formula" r:id="rId14" imgW="731520" imgH="365760" progId="Equation.Ribbit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4463" y="4408488"/>
                        <a:ext cx="1949450" cy="973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291" name="对象 8">
            <a:extLst>
              <a:ext uri="{FF2B5EF4-FFF2-40B4-BE49-F238E27FC236}">
                <a16:creationId xmlns:a16="http://schemas.microsoft.com/office/drawing/2014/main" id="{F4E3FD0D-41F0-477C-A58C-3B3FCC3C93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15313" y="5521325"/>
          <a:ext cx="358775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10" name="Formula" r:id="rId16" imgW="1065530" imgH="176530" progId="Equation.Ribbit">
                  <p:embed/>
                </p:oleObj>
              </mc:Choice>
              <mc:Fallback>
                <p:oleObj name="Formula" r:id="rId16" imgW="1065530" imgH="176530" progId="Equation.Ribbit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5313" y="5521325"/>
                        <a:ext cx="3587750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2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3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490" grpId="0" autoUpdateAnimBg="0"/>
      <p:bldP spid="103431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6B46A-23D1-4558-AD26-D2EE221DE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2550" y="365125"/>
            <a:ext cx="6778625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非线性序列</a:t>
            </a:r>
          </a:p>
        </p:txBody>
      </p:sp>
      <p:sp>
        <p:nvSpPr>
          <p:cNvPr id="5" name="空心弧 4">
            <a:extLst>
              <a:ext uri="{FF2B5EF4-FFF2-40B4-BE49-F238E27FC236}">
                <a16:creationId xmlns:a16="http://schemas.microsoft.com/office/drawing/2014/main" id="{8BD9EE90-4160-4B3B-AB8D-CBF5F245D82B}"/>
              </a:ext>
            </a:extLst>
          </p:cNvPr>
          <p:cNvSpPr/>
          <p:nvPr/>
        </p:nvSpPr>
        <p:spPr bwMode="auto">
          <a:xfrm>
            <a:off x="-1627188" y="793750"/>
            <a:ext cx="5472113" cy="5473700"/>
          </a:xfrm>
          <a:prstGeom prst="blockArc">
            <a:avLst>
              <a:gd name="adj1" fmla="val 18776635"/>
              <a:gd name="adj2" fmla="val 2427521"/>
              <a:gd name="adj3" fmla="val 0"/>
            </a:avLst>
          </a:prstGeom>
        </p:spPr>
        <p:style>
          <a:lnRef idx="1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07FB0448-7F1A-4C6C-8219-AEF278277320}"/>
              </a:ext>
            </a:extLst>
          </p:cNvPr>
          <p:cNvSpPr/>
          <p:nvPr/>
        </p:nvSpPr>
        <p:spPr bwMode="auto">
          <a:xfrm>
            <a:off x="3479800" y="1854200"/>
            <a:ext cx="5708650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dirty="0" err="1"/>
              <a:t>Geffe</a:t>
            </a:r>
            <a:r>
              <a:rPr lang="zh-CN" altLang="en-US" sz="2400" dirty="0"/>
              <a:t>序列生成器</a:t>
            </a:r>
            <a:endParaRPr lang="zh-CN" altLang="en-US" sz="2400" b="1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2F30E47-C780-480E-B137-FCB8EA363281}"/>
              </a:ext>
            </a:extLst>
          </p:cNvPr>
          <p:cNvSpPr/>
          <p:nvPr/>
        </p:nvSpPr>
        <p:spPr bwMode="auto">
          <a:xfrm>
            <a:off x="2971800" y="1752600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任意多边形 14">
            <a:extLst>
              <a:ext uri="{FF2B5EF4-FFF2-40B4-BE49-F238E27FC236}">
                <a16:creationId xmlns:a16="http://schemas.microsoft.com/office/drawing/2014/main" id="{4E07C7F9-E7BF-4ACD-8A0B-164697460AAA}"/>
              </a:ext>
            </a:extLst>
          </p:cNvPr>
          <p:cNvSpPr/>
          <p:nvPr/>
        </p:nvSpPr>
        <p:spPr>
          <a:xfrm>
            <a:off x="3559175" y="4267200"/>
            <a:ext cx="5629275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dirty="0" err="1"/>
              <a:t>Pless</a:t>
            </a:r>
            <a:r>
              <a:rPr lang="zh-CN" altLang="en-US" sz="2400" dirty="0"/>
              <a:t>生成器</a:t>
            </a:r>
            <a:endParaRPr lang="zh-CN" altLang="en-US" sz="2400" b="1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7BADD3B1-213B-41FE-A95E-62D45AB9F9E6}"/>
              </a:ext>
            </a:extLst>
          </p:cNvPr>
          <p:cNvSpPr/>
          <p:nvPr/>
        </p:nvSpPr>
        <p:spPr>
          <a:xfrm>
            <a:off x="3051175" y="4165600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610968F-3CFD-451F-95F5-7CAF163FF69A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8">
            <a:extLst>
              <a:ext uri="{FF2B5EF4-FFF2-40B4-BE49-F238E27FC236}">
                <a16:creationId xmlns:a16="http://schemas.microsoft.com/office/drawing/2014/main" id="{BD2CB285-B6A8-4A81-B6DB-654FC3FF6D15}"/>
              </a:ext>
            </a:extLst>
          </p:cNvPr>
          <p:cNvSpPr/>
          <p:nvPr/>
        </p:nvSpPr>
        <p:spPr bwMode="auto">
          <a:xfrm>
            <a:off x="3784600" y="3014663"/>
            <a:ext cx="5403850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dirty="0"/>
              <a:t>J-K</a:t>
            </a:r>
            <a:r>
              <a:rPr lang="zh-CN" altLang="en-US" sz="2400" dirty="0"/>
              <a:t>触发器</a:t>
            </a:r>
            <a:endParaRPr lang="zh-CN" altLang="en-US" sz="2400" b="1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580423C-0975-45A2-B6A5-30E8F2E41685}"/>
              </a:ext>
            </a:extLst>
          </p:cNvPr>
          <p:cNvSpPr/>
          <p:nvPr/>
        </p:nvSpPr>
        <p:spPr bwMode="auto">
          <a:xfrm>
            <a:off x="3276600" y="2913063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7" name="Rectangle 3">
            <a:extLst>
              <a:ext uri="{FF2B5EF4-FFF2-40B4-BE49-F238E27FC236}">
                <a16:creationId xmlns:a16="http://schemas.microsoft.com/office/drawing/2014/main" id="{C0EC5CE0-61DD-4880-8016-F0FCEC1452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>
            <a:normAutofit fontScale="90000"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zh-CN" sz="3000" dirty="0"/>
              <a:t>J-K</a:t>
            </a:r>
            <a:r>
              <a:rPr lang="zh-CN" altLang="en-US" sz="3000" dirty="0"/>
              <a:t>触发器</a:t>
            </a:r>
          </a:p>
        </p:txBody>
      </p:sp>
      <p:sp>
        <p:nvSpPr>
          <p:cNvPr id="229379" name="Rectangle 2">
            <a:extLst>
              <a:ext uri="{FF2B5EF4-FFF2-40B4-BE49-F238E27FC236}">
                <a16:creationId xmlns:a16="http://schemas.microsoft.com/office/drawing/2014/main" id="{EA23A44D-249D-406C-BFAB-8A5D3CE73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363" y="1323975"/>
            <a:ext cx="10606087" cy="4579938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/>
              <a:t>J-K</a:t>
            </a:r>
            <a:r>
              <a:rPr lang="zh-CN" altLang="en-US"/>
              <a:t>触发器如图所示，它的两个输入端分别用</a:t>
            </a:r>
            <a:r>
              <a:rPr lang="en-US" altLang="zh-CN"/>
              <a:t>J</a:t>
            </a:r>
            <a:r>
              <a:rPr lang="zh-CN" altLang="en-US"/>
              <a:t>和</a:t>
            </a:r>
            <a:r>
              <a:rPr lang="en-US" altLang="zh-CN"/>
              <a:t>K</a:t>
            </a:r>
            <a:r>
              <a:rPr lang="zh-CN" altLang="en-US"/>
              <a:t>表示，其输出</a:t>
            </a:r>
            <a:r>
              <a:rPr lang="en-US" altLang="zh-CN"/>
              <a:t>c</a:t>
            </a:r>
            <a:r>
              <a:rPr lang="en-US" altLang="zh-CN" baseline="-25000"/>
              <a:t>k</a:t>
            </a:r>
            <a:r>
              <a:rPr lang="zh-CN" altLang="en-US"/>
              <a:t>不仅依赖于输入，还依赖于前一个输出位</a:t>
            </a:r>
            <a:r>
              <a:rPr lang="en-US" altLang="zh-CN"/>
              <a:t>c</a:t>
            </a:r>
            <a:r>
              <a:rPr lang="en-US" altLang="zh-CN" baseline="-25000"/>
              <a:t>k-1</a:t>
            </a:r>
            <a:r>
              <a:rPr lang="en-US" altLang="zh-CN"/>
              <a:t>，</a:t>
            </a:r>
            <a:r>
              <a:rPr lang="zh-CN" altLang="en-US"/>
              <a:t>即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altLang="zh-CN"/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endParaRPr lang="zh-CN" altLang="en-US"/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/>
              <a:t>其中</a:t>
            </a:r>
            <a:r>
              <a:rPr lang="en-US" altLang="zh-CN"/>
              <a:t>x</a:t>
            </a:r>
            <a:r>
              <a:rPr lang="en-US" altLang="zh-CN" baseline="-25000"/>
              <a:t>1</a:t>
            </a:r>
            <a:r>
              <a:rPr lang="zh-CN" altLang="en-US"/>
              <a:t>和</a:t>
            </a:r>
            <a:r>
              <a:rPr lang="en-US" altLang="zh-CN"/>
              <a:t>x</a:t>
            </a:r>
            <a:r>
              <a:rPr lang="en-US" altLang="zh-CN" baseline="-25000"/>
              <a:t>2</a:t>
            </a:r>
            <a:r>
              <a:rPr lang="zh-CN" altLang="en-US"/>
              <a:t>分别是</a:t>
            </a:r>
            <a:r>
              <a:rPr lang="en-US" altLang="zh-CN"/>
              <a:t>J</a:t>
            </a:r>
            <a:r>
              <a:rPr lang="zh-CN" altLang="en-US"/>
              <a:t>和</a:t>
            </a:r>
            <a:r>
              <a:rPr lang="en-US" altLang="zh-CN"/>
              <a:t>K</a:t>
            </a:r>
            <a:r>
              <a:rPr lang="zh-CN" altLang="en-US"/>
              <a:t>端的输入。由此可得</a:t>
            </a:r>
            <a:r>
              <a:rPr lang="en-US" altLang="zh-CN"/>
              <a:t>J-K</a:t>
            </a:r>
            <a:r>
              <a:rPr lang="zh-CN" altLang="en-US"/>
              <a:t>触发器的真值表，如下表所示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9380" name="Object 1024">
                <a:extLst>
                  <a:ext uri="{FF2B5EF4-FFF2-40B4-BE49-F238E27FC236}">
                    <a16:creationId xmlns:a16="http://schemas.microsoft.com/office/drawing/2014/main" id="{AAF13F05-F1C0-47EE-8AF8-95619D8FD6CA}"/>
                  </a:ext>
                </a:extLst>
              </p:cNvPr>
              <p:cNvSpPr txBox="1"/>
              <p:nvPr/>
            </p:nvSpPr>
            <p:spPr bwMode="auto">
              <a:xfrm>
                <a:off x="4191000" y="2332038"/>
                <a:ext cx="3962400" cy="798512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29380" name="Object 1024">
                <a:extLst>
                  <a:ext uri="{FF2B5EF4-FFF2-40B4-BE49-F238E27FC236}">
                    <a16:creationId xmlns:a16="http://schemas.microsoft.com/office/drawing/2014/main" id="{AAF13F05-F1C0-47EE-8AF8-95619D8FD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1000" y="2332038"/>
                <a:ext cx="3962400" cy="7985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9381" name="Object 4">
            <a:extLst>
              <a:ext uri="{FF2B5EF4-FFF2-40B4-BE49-F238E27FC236}">
                <a16:creationId xmlns:a16="http://schemas.microsoft.com/office/drawing/2014/main" id="{CA066DEA-C432-4CF2-9D03-08AAA8928E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1463" y="3765550"/>
          <a:ext cx="3276600" cy="2398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88" name="Visio" r:id="rId5" imgW="1990954" imgH="1460906" progId="Visio.Drawing.11">
                  <p:embed/>
                </p:oleObj>
              </mc:Choice>
              <mc:Fallback>
                <p:oleObj name="Visio" r:id="rId5" imgW="1990954" imgH="1460906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1463" y="3765550"/>
                        <a:ext cx="3276600" cy="2398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9382" name="Object 6">
            <a:extLst>
              <a:ext uri="{FF2B5EF4-FFF2-40B4-BE49-F238E27FC236}">
                <a16:creationId xmlns:a16="http://schemas.microsoft.com/office/drawing/2014/main" id="{4D55B941-709D-4C3F-89FE-528F65D234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8550" y="3746500"/>
          <a:ext cx="3505200" cy="239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489" name="Visio" r:id="rId7" imgW="2399081" imgH="1640738" progId="Visio.Drawing.11">
                  <p:embed/>
                </p:oleObj>
              </mc:Choice>
              <mc:Fallback>
                <p:oleObj name="Visio" r:id="rId7" imgW="2399081" imgH="1640738" progId="Visio.Drawing.11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8550" y="3746500"/>
                        <a:ext cx="3505200" cy="2393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肘形连接符 2">
            <a:extLst>
              <a:ext uri="{FF2B5EF4-FFF2-40B4-BE49-F238E27FC236}">
                <a16:creationId xmlns:a16="http://schemas.microsoft.com/office/drawing/2014/main" id="{A58A9F99-51AE-4000-A7A1-90AEDD905C65}"/>
              </a:ext>
            </a:extLst>
          </p:cNvPr>
          <p:cNvCxnSpPr/>
          <p:nvPr/>
        </p:nvCxnSpPr>
        <p:spPr>
          <a:xfrm rot="5400000">
            <a:off x="4229100" y="4838700"/>
            <a:ext cx="685800" cy="304800"/>
          </a:xfrm>
          <a:prstGeom prst="bentConnector3">
            <a:avLst>
              <a:gd name="adj1" fmla="val 95714"/>
            </a:avLst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414674E-9621-4C78-8061-722E1BE91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利用</a:t>
            </a:r>
            <a:r>
              <a:rPr lang="en-US" altLang="zh-CN" dirty="0"/>
              <a:t>J-K</a:t>
            </a:r>
            <a:r>
              <a:rPr lang="zh-CN" altLang="en-US" dirty="0"/>
              <a:t>触发器的非线性序列生成器</a:t>
            </a:r>
          </a:p>
        </p:txBody>
      </p:sp>
      <p:pic>
        <p:nvPicPr>
          <p:cNvPr id="231427" name="Picture 3" descr="xd19">
            <a:extLst>
              <a:ext uri="{FF2B5EF4-FFF2-40B4-BE49-F238E27FC236}">
                <a16:creationId xmlns:a16="http://schemas.microsoft.com/office/drawing/2014/main" id="{62E5FCCD-B18D-42B4-9B58-728F85753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4813" y="1168400"/>
            <a:ext cx="6080125" cy="258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1428" name="Text Box 4">
            <a:extLst>
              <a:ext uri="{FF2B5EF4-FFF2-40B4-BE49-F238E27FC236}">
                <a16:creationId xmlns:a16="http://schemas.microsoft.com/office/drawing/2014/main" id="{B5AAFFA7-3FBC-4760-94CC-2FF857B49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081463"/>
            <a:ext cx="617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{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baseline="-25000">
                <a:solidFill>
                  <a:srgbClr val="FF0000"/>
                </a:solidFill>
                <a:ea typeface="宋体" panose="02010600030101010101" pitchFamily="2" charset="-122"/>
              </a:rPr>
              <a:t>k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}</a:t>
            </a: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 :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m</a:t>
            </a: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级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m</a:t>
            </a: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序列           {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baseline="-25000">
                <a:solidFill>
                  <a:srgbClr val="FF0000"/>
                </a:solidFill>
                <a:ea typeface="宋体" panose="02010600030101010101" pitchFamily="2" charset="-122"/>
              </a:rPr>
              <a:t>k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}:n</a:t>
            </a: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级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m</a:t>
            </a: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序列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1429" name="Object 1024">
                <a:extLst>
                  <a:ext uri="{FF2B5EF4-FFF2-40B4-BE49-F238E27FC236}">
                    <a16:creationId xmlns:a16="http://schemas.microsoft.com/office/drawing/2014/main" id="{3270A37A-0359-4351-A13E-56CD70E4C5E7}"/>
                  </a:ext>
                </a:extLst>
              </p:cNvPr>
              <p:cNvSpPr txBox="1"/>
              <p:nvPr/>
            </p:nvSpPr>
            <p:spPr bwMode="auto">
              <a:xfrm>
                <a:off x="2178050" y="4632325"/>
                <a:ext cx="7302500" cy="71120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31429" name="Object 1024">
                <a:extLst>
                  <a:ext uri="{FF2B5EF4-FFF2-40B4-BE49-F238E27FC236}">
                    <a16:creationId xmlns:a16="http://schemas.microsoft.com/office/drawing/2014/main" id="{3270A37A-0359-4351-A13E-56CD70E4C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8050" y="4632325"/>
                <a:ext cx="7302500" cy="711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BCFCCF0B-83C4-4EFF-AB10-BF4F0D39EA07}"/>
              </a:ext>
            </a:extLst>
          </p:cNvPr>
          <p:cNvSpPr/>
          <p:nvPr/>
        </p:nvSpPr>
        <p:spPr>
          <a:xfrm>
            <a:off x="2271713" y="5559425"/>
            <a:ext cx="762000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-6350" eaLnBrk="1" hangingPunct="1">
              <a:defRPr/>
            </a:pPr>
            <a:r>
              <a:rPr lang="zh-CN" altLang="en-US" sz="2400" b="1" dirty="0">
                <a:latin typeface="+mn-lt"/>
                <a:ea typeface="+mn-ea"/>
              </a:rPr>
              <a:t>当</a:t>
            </a:r>
            <a:r>
              <a:rPr lang="en-US" altLang="zh-CN" sz="2400" b="1" dirty="0">
                <a:latin typeface="+mn-lt"/>
                <a:ea typeface="+mn-ea"/>
              </a:rPr>
              <a:t>m</a:t>
            </a:r>
            <a:r>
              <a:rPr lang="zh-CN" altLang="en-US" sz="2400" b="1" dirty="0">
                <a:latin typeface="+mn-lt"/>
                <a:ea typeface="+mn-ea"/>
              </a:rPr>
              <a:t>与</a:t>
            </a:r>
            <a:r>
              <a:rPr lang="en-US" altLang="zh-CN" sz="2400" b="1" dirty="0">
                <a:latin typeface="+mn-lt"/>
                <a:ea typeface="+mn-ea"/>
              </a:rPr>
              <a:t>n</a:t>
            </a:r>
            <a:r>
              <a:rPr lang="zh-CN" altLang="en-US" sz="2400" b="1" dirty="0">
                <a:latin typeface="+mn-lt"/>
                <a:ea typeface="+mn-ea"/>
              </a:rPr>
              <a:t>互素且</a:t>
            </a:r>
            <a:r>
              <a:rPr lang="en-US" altLang="zh-CN" sz="2400" b="1" dirty="0">
                <a:latin typeface="+mn-lt"/>
                <a:ea typeface="+mn-ea"/>
              </a:rPr>
              <a:t>a</a:t>
            </a:r>
            <a:r>
              <a:rPr lang="en-US" altLang="zh-CN" sz="2400" b="1" baseline="-25000" dirty="0">
                <a:latin typeface="+mn-lt"/>
                <a:ea typeface="+mn-ea"/>
              </a:rPr>
              <a:t>0</a:t>
            </a:r>
            <a:r>
              <a:rPr lang="en-US" altLang="zh-CN" sz="2400" b="1" dirty="0">
                <a:latin typeface="+mn-lt"/>
                <a:ea typeface="+mn-ea"/>
              </a:rPr>
              <a:t>+b</a:t>
            </a:r>
            <a:r>
              <a:rPr lang="en-US" altLang="zh-CN" sz="2400" b="1" baseline="-25000" dirty="0">
                <a:latin typeface="+mn-lt"/>
                <a:ea typeface="+mn-ea"/>
              </a:rPr>
              <a:t>0</a:t>
            </a:r>
            <a:r>
              <a:rPr lang="en-US" altLang="zh-CN" sz="2400" b="1" dirty="0">
                <a:latin typeface="+mn-lt"/>
                <a:ea typeface="+mn-ea"/>
              </a:rPr>
              <a:t>=1</a:t>
            </a:r>
            <a:r>
              <a:rPr lang="zh-CN" altLang="en-US" sz="2400" b="1" dirty="0">
                <a:latin typeface="+mn-lt"/>
                <a:ea typeface="+mn-ea"/>
              </a:rPr>
              <a:t>时，序列{</a:t>
            </a:r>
            <a:r>
              <a:rPr lang="en-US" altLang="zh-CN" sz="2400" b="1" dirty="0" err="1">
                <a:latin typeface="+mn-lt"/>
                <a:ea typeface="+mn-ea"/>
              </a:rPr>
              <a:t>c</a:t>
            </a:r>
            <a:r>
              <a:rPr lang="en-US" altLang="zh-CN" sz="2400" b="1" baseline="-25000" dirty="0" err="1">
                <a:latin typeface="+mn-lt"/>
                <a:ea typeface="+mn-ea"/>
              </a:rPr>
              <a:t>k</a:t>
            </a:r>
            <a:r>
              <a:rPr lang="en-US" altLang="zh-CN" sz="2400" b="1" dirty="0">
                <a:latin typeface="+mn-lt"/>
                <a:ea typeface="+mn-ea"/>
              </a:rPr>
              <a:t>}</a:t>
            </a:r>
            <a:r>
              <a:rPr lang="zh-CN" altLang="en-US" sz="2400" b="1" dirty="0">
                <a:latin typeface="+mn-lt"/>
                <a:ea typeface="+mn-ea"/>
              </a:rPr>
              <a:t>的周期为(2</a:t>
            </a:r>
            <a:r>
              <a:rPr lang="en-US" altLang="zh-CN" sz="2400" b="1" baseline="30000" dirty="0">
                <a:latin typeface="+mn-lt"/>
                <a:ea typeface="+mn-ea"/>
              </a:rPr>
              <a:t>m</a:t>
            </a:r>
            <a:r>
              <a:rPr lang="en-US" altLang="zh-CN" sz="2400" b="1" dirty="0">
                <a:latin typeface="+mn-lt"/>
                <a:ea typeface="+mn-ea"/>
              </a:rPr>
              <a:t>-1)(2</a:t>
            </a:r>
            <a:r>
              <a:rPr lang="en-US" altLang="zh-CN" sz="2400" b="1" baseline="30000" dirty="0">
                <a:latin typeface="+mn-lt"/>
                <a:ea typeface="+mn-ea"/>
              </a:rPr>
              <a:t>n</a:t>
            </a:r>
            <a:r>
              <a:rPr lang="en-US" altLang="zh-CN" sz="2400" b="1" dirty="0">
                <a:latin typeface="+mn-lt"/>
                <a:ea typeface="+mn-ea"/>
              </a:rPr>
              <a:t>-1)。</a:t>
            </a:r>
            <a:endParaRPr lang="zh-CN" altLang="en-US" sz="2400" b="1" dirty="0">
              <a:latin typeface="+mn-lt"/>
              <a:ea typeface="+mn-ea"/>
            </a:endParaRPr>
          </a:p>
        </p:txBody>
      </p:sp>
    </p:spTree>
  </p:cSld>
  <p:clrMapOvr>
    <a:masterClrMapping/>
  </p:clrMapOvr>
  <p:transition spd="slow"/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5DF8693-F96C-449C-B2A5-F41B3A0C2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利用</a:t>
            </a:r>
            <a:r>
              <a:rPr lang="en-US" altLang="zh-CN" b="1" dirty="0"/>
              <a:t>J-K</a:t>
            </a:r>
            <a:r>
              <a:rPr lang="zh-CN" altLang="en-US" b="1" dirty="0"/>
              <a:t>触发器的非线性序列生成器的实例</a:t>
            </a:r>
          </a:p>
        </p:txBody>
      </p:sp>
      <p:sp>
        <p:nvSpPr>
          <p:cNvPr id="233475" name="Rectangle 2">
            <a:extLst>
              <a:ext uri="{FF2B5EF4-FFF2-40B4-BE49-F238E27FC236}">
                <a16:creationId xmlns:a16="http://schemas.microsoft.com/office/drawing/2014/main" id="{79CE61E1-B328-4B68-BC0C-B3458036B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2286000"/>
            <a:ext cx="10515600" cy="3759200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例2.7 令</a:t>
            </a:r>
            <a:r>
              <a:rPr lang="en-US" altLang="zh-CN" b="1">
                <a:latin typeface="Times New Roman" panose="02020603050405020304" pitchFamily="18" charset="0"/>
              </a:rPr>
              <a:t>m=2,n=3，</a:t>
            </a:r>
            <a:r>
              <a:rPr lang="zh-CN" altLang="en-US" b="1">
                <a:latin typeface="Times New Roman" panose="02020603050405020304" pitchFamily="18" charset="0"/>
              </a:rPr>
              <a:t>两个驱动</a:t>
            </a:r>
            <a:r>
              <a:rPr lang="en-US" altLang="zh-CN" b="1">
                <a:latin typeface="Times New Roman" panose="02020603050405020304" pitchFamily="18" charset="0"/>
              </a:rPr>
              <a:t>m</a:t>
            </a:r>
            <a:r>
              <a:rPr lang="zh-CN" altLang="en-US" b="1">
                <a:latin typeface="Times New Roman" panose="02020603050405020304" pitchFamily="18" charset="0"/>
              </a:rPr>
              <a:t>序列分别为</a:t>
            </a:r>
          </a:p>
          <a:p>
            <a:pPr indent="-6350" algn="ctr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{</a:t>
            </a:r>
            <a:r>
              <a:rPr lang="en-US" altLang="zh-CN" b="1">
                <a:latin typeface="Times New Roman" panose="02020603050405020304" pitchFamily="18" charset="0"/>
              </a:rPr>
              <a:t>a</a:t>
            </a:r>
            <a:r>
              <a:rPr lang="en-US" altLang="zh-CN" b="1" baseline="-25000">
                <a:latin typeface="Times New Roman" panose="02020603050405020304" pitchFamily="18" charset="0"/>
              </a:rPr>
              <a:t>k</a:t>
            </a:r>
            <a:r>
              <a:rPr lang="en-US" altLang="zh-CN" b="1">
                <a:latin typeface="Times New Roman" panose="02020603050405020304" pitchFamily="18" charset="0"/>
              </a:rPr>
              <a:t>}=0,1,1,…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和</a:t>
            </a:r>
          </a:p>
          <a:p>
            <a:pPr indent="-6350" algn="ctr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{</a:t>
            </a:r>
            <a:r>
              <a:rPr lang="en-US" altLang="zh-CN" b="1">
                <a:latin typeface="Times New Roman" panose="02020603050405020304" pitchFamily="18" charset="0"/>
              </a:rPr>
              <a:t>b</a:t>
            </a:r>
            <a:r>
              <a:rPr lang="en-US" altLang="zh-CN" b="1" baseline="-25000">
                <a:latin typeface="Times New Roman" panose="02020603050405020304" pitchFamily="18" charset="0"/>
              </a:rPr>
              <a:t>k</a:t>
            </a:r>
            <a:r>
              <a:rPr lang="en-US" altLang="zh-CN" b="1">
                <a:latin typeface="Times New Roman" panose="02020603050405020304" pitchFamily="18" charset="0"/>
              </a:rPr>
              <a:t>}=1,0,0,1,0,1,1,…</a:t>
            </a: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于是，输出序列{</a:t>
            </a:r>
            <a:r>
              <a:rPr lang="en-US" altLang="zh-CN" b="1">
                <a:latin typeface="Times New Roman" panose="02020603050405020304" pitchFamily="18" charset="0"/>
              </a:rPr>
              <a:t>c</a:t>
            </a:r>
            <a:r>
              <a:rPr lang="en-US" altLang="zh-CN" b="1" baseline="-25000">
                <a:latin typeface="Times New Roman" panose="02020603050405020304" pitchFamily="18" charset="0"/>
              </a:rPr>
              <a:t>k</a:t>
            </a:r>
            <a:r>
              <a:rPr lang="en-US" altLang="zh-CN" b="1">
                <a:latin typeface="Times New Roman" panose="02020603050405020304" pitchFamily="18" charset="0"/>
              </a:rPr>
              <a:t>}</a:t>
            </a:r>
            <a:r>
              <a:rPr lang="zh-CN" altLang="en-US" b="1">
                <a:latin typeface="Times New Roman" panose="02020603050405020304" pitchFamily="18" charset="0"/>
              </a:rPr>
              <a:t>是0,1,1,0,1,0,0,1,1,1,0,1,0,1,0,0,1,0,0,1,0,…,</a:t>
            </a:r>
            <a:endParaRPr lang="en-US" altLang="zh-CN" b="1">
              <a:latin typeface="Times New Roman" panose="02020603050405020304" pitchFamily="18" charset="0"/>
            </a:endParaRPr>
          </a:p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>
                <a:latin typeface="Times New Roman" panose="02020603050405020304" pitchFamily="18" charset="0"/>
              </a:rPr>
              <a:t>其周期为(2</a:t>
            </a:r>
            <a:r>
              <a:rPr lang="zh-CN" altLang="en-US" b="1" baseline="30000">
                <a:latin typeface="Times New Roman" panose="02020603050405020304" pitchFamily="18" charset="0"/>
              </a:rPr>
              <a:t>2</a:t>
            </a:r>
            <a:r>
              <a:rPr lang="zh-CN" altLang="en-US" b="1">
                <a:latin typeface="Times New Roman" panose="02020603050405020304" pitchFamily="18" charset="0"/>
              </a:rPr>
              <a:t>-1)(2</a:t>
            </a:r>
            <a:r>
              <a:rPr lang="zh-CN" altLang="en-US" b="1" baseline="30000">
                <a:latin typeface="Times New Roman" panose="02020603050405020304" pitchFamily="18" charset="0"/>
              </a:rPr>
              <a:t>3</a:t>
            </a:r>
            <a:r>
              <a:rPr lang="zh-CN" altLang="en-US" b="1">
                <a:latin typeface="Times New Roman" panose="02020603050405020304" pitchFamily="18" charset="0"/>
              </a:rPr>
              <a:t>-1)=21。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3476" name="Object 1024">
                <a:extLst>
                  <a:ext uri="{FF2B5EF4-FFF2-40B4-BE49-F238E27FC236}">
                    <a16:creationId xmlns:a16="http://schemas.microsoft.com/office/drawing/2014/main" id="{4CC4D41F-B770-4681-97A8-7337AA0E1A3A}"/>
                  </a:ext>
                </a:extLst>
              </p:cNvPr>
              <p:cNvSpPr txBox="1"/>
              <p:nvPr/>
            </p:nvSpPr>
            <p:spPr bwMode="auto">
              <a:xfrm>
                <a:off x="1905000" y="1219200"/>
                <a:ext cx="7227888" cy="703263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d>
                            <m:d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ba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⥄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33476" name="Object 1024">
                <a:extLst>
                  <a:ext uri="{FF2B5EF4-FFF2-40B4-BE49-F238E27FC236}">
                    <a16:creationId xmlns:a16="http://schemas.microsoft.com/office/drawing/2014/main" id="{4CC4D41F-B770-4681-97A8-7337AA0E1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5000" y="1219200"/>
                <a:ext cx="7227888" cy="7032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BA4DDAA-53E7-41BA-AA5C-25098E689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弱点</a:t>
            </a:r>
          </a:p>
        </p:txBody>
      </p:sp>
      <p:sp>
        <p:nvSpPr>
          <p:cNvPr id="552962" name="Rectangle 2">
            <a:extLst>
              <a:ext uri="{FF2B5EF4-FFF2-40B4-BE49-F238E27FC236}">
                <a16:creationId xmlns:a16="http://schemas.microsoft.com/office/drawing/2014/main" id="{73799CB3-15A0-4D8F-93CE-A7C87E27A8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27075" y="1371600"/>
            <a:ext cx="10515600" cy="4579938"/>
          </a:xfrm>
        </p:spPr>
        <p:txBody>
          <a:bodyPr/>
          <a:lstStyle/>
          <a:p>
            <a:pPr indent="-6350" eaLnBrk="1" hangingPunct="1"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latin typeface="+mn-lt"/>
              </a:rPr>
              <a:t>   由</a:t>
            </a:r>
            <a:r>
              <a:rPr lang="en-US" altLang="zh-CN" b="1" dirty="0" err="1">
                <a:latin typeface="+mn-lt"/>
              </a:rPr>
              <a:t>c</a:t>
            </a:r>
            <a:r>
              <a:rPr lang="en-US" altLang="zh-CN" b="1" baseline="-25000" dirty="0" err="1">
                <a:latin typeface="+mn-lt"/>
              </a:rPr>
              <a:t>k</a:t>
            </a:r>
            <a:r>
              <a:rPr lang="en-US" altLang="zh-CN" b="1" dirty="0">
                <a:latin typeface="+mn-lt"/>
              </a:rPr>
              <a:t>=(a</a:t>
            </a:r>
            <a:r>
              <a:rPr lang="en-US" altLang="zh-CN" b="1" baseline="-25000" dirty="0">
                <a:latin typeface="+mn-lt"/>
              </a:rPr>
              <a:t>k</a:t>
            </a:r>
            <a:r>
              <a:rPr lang="en-US" altLang="zh-CN" b="1" dirty="0">
                <a:latin typeface="+mn-lt"/>
              </a:rPr>
              <a:t>+b</a:t>
            </a:r>
            <a:r>
              <a:rPr lang="en-US" altLang="zh-CN" b="1" baseline="-25000" dirty="0">
                <a:latin typeface="+mn-lt"/>
              </a:rPr>
              <a:t>k</a:t>
            </a:r>
            <a:r>
              <a:rPr lang="en-US" altLang="zh-CN" b="1" dirty="0">
                <a:latin typeface="+mn-lt"/>
              </a:rPr>
              <a:t>+1)c</a:t>
            </a:r>
            <a:r>
              <a:rPr lang="en-US" altLang="zh-CN" b="1" baseline="-25000" dirty="0">
                <a:latin typeface="+mn-lt"/>
              </a:rPr>
              <a:t>k-1</a:t>
            </a:r>
            <a:r>
              <a:rPr lang="en-US" altLang="zh-CN" b="1" dirty="0">
                <a:latin typeface="+mn-lt"/>
              </a:rPr>
              <a:t>+a</a:t>
            </a:r>
            <a:r>
              <a:rPr lang="en-US" altLang="zh-CN" b="1" baseline="-25000" dirty="0">
                <a:latin typeface="+mn-lt"/>
              </a:rPr>
              <a:t>k</a:t>
            </a:r>
            <a:r>
              <a:rPr lang="zh-CN" altLang="en-US" b="1" dirty="0">
                <a:latin typeface="+mn-lt"/>
              </a:rPr>
              <a:t>可得</a:t>
            </a:r>
            <a:endParaRPr lang="en-US" altLang="zh-CN" b="1" dirty="0">
              <a:latin typeface="+mn-lt"/>
            </a:endParaRPr>
          </a:p>
          <a:p>
            <a:pPr indent="-6350" eaLnBrk="1" hangingPunct="1">
              <a:buFont typeface="Arial" panose="020B0604020202020204" pitchFamily="34" charset="0"/>
              <a:buNone/>
              <a:defRPr/>
            </a:pPr>
            <a:endParaRPr lang="zh-CN" altLang="en-US" b="1" dirty="0">
              <a:latin typeface="+mn-lt"/>
            </a:endParaRPr>
          </a:p>
          <a:p>
            <a:pPr indent="-6350" eaLnBrk="1" hangingPunct="1">
              <a:buFont typeface="Arial" panose="020B0604020202020204" pitchFamily="34" charset="0"/>
              <a:buNone/>
              <a:defRPr/>
            </a:pPr>
            <a:endParaRPr lang="en-US" altLang="zh-CN" b="1" dirty="0">
              <a:latin typeface="+mn-lt"/>
            </a:endParaRPr>
          </a:p>
          <a:p>
            <a:pPr indent="-6350" eaLnBrk="1" hangingPunct="1">
              <a:buFont typeface="Arial" panose="020B0604020202020204" pitchFamily="34" charset="0"/>
              <a:buNone/>
              <a:defRPr/>
            </a:pPr>
            <a:endParaRPr lang="en-US" altLang="zh-CN" b="1" dirty="0">
              <a:latin typeface="+mn-lt"/>
            </a:endParaRPr>
          </a:p>
          <a:p>
            <a:pPr indent="-6350" eaLnBrk="1" hangingPunct="1">
              <a:buFont typeface="Arial" panose="020B0604020202020204" pitchFamily="34" charset="0"/>
              <a:buNone/>
              <a:defRPr/>
            </a:pPr>
            <a:endParaRPr lang="en-US" altLang="zh-CN" b="1" dirty="0">
              <a:latin typeface="+mn-lt"/>
            </a:endParaRPr>
          </a:p>
          <a:p>
            <a:pPr marL="565150" indent="-34290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latin typeface="+mn-lt"/>
              </a:rPr>
              <a:t>如果知道{</a:t>
            </a:r>
            <a:r>
              <a:rPr lang="en-US" altLang="zh-CN" b="1" dirty="0" err="1">
                <a:latin typeface="+mn-lt"/>
              </a:rPr>
              <a:t>c</a:t>
            </a:r>
            <a:r>
              <a:rPr lang="en-US" altLang="zh-CN" b="1" baseline="-25000" dirty="0" err="1">
                <a:latin typeface="+mn-lt"/>
              </a:rPr>
              <a:t>k</a:t>
            </a:r>
            <a:r>
              <a:rPr lang="en-US" altLang="zh-CN" b="1" dirty="0">
                <a:latin typeface="+mn-lt"/>
              </a:rPr>
              <a:t>}</a:t>
            </a:r>
            <a:r>
              <a:rPr lang="zh-CN" altLang="en-US" b="1" dirty="0">
                <a:latin typeface="+mn-lt"/>
              </a:rPr>
              <a:t>中相邻位的值</a:t>
            </a:r>
            <a:r>
              <a:rPr lang="en-US" altLang="zh-CN" b="1" dirty="0">
                <a:latin typeface="+mn-lt"/>
              </a:rPr>
              <a:t>c</a:t>
            </a:r>
            <a:r>
              <a:rPr lang="en-US" altLang="zh-CN" b="1" baseline="-25000" dirty="0">
                <a:latin typeface="+mn-lt"/>
              </a:rPr>
              <a:t>k-1</a:t>
            </a:r>
            <a:r>
              <a:rPr lang="zh-CN" altLang="en-US" b="1" dirty="0">
                <a:latin typeface="+mn-lt"/>
              </a:rPr>
              <a:t>和</a:t>
            </a:r>
            <a:r>
              <a:rPr lang="en-US" altLang="zh-CN" b="1" dirty="0" err="1">
                <a:latin typeface="+mn-lt"/>
              </a:rPr>
              <a:t>c</a:t>
            </a:r>
            <a:r>
              <a:rPr lang="en-US" altLang="zh-CN" b="1" baseline="-25000" dirty="0" err="1">
                <a:latin typeface="+mn-lt"/>
              </a:rPr>
              <a:t>k</a:t>
            </a:r>
            <a:r>
              <a:rPr lang="en-US" altLang="zh-CN" b="1" dirty="0">
                <a:latin typeface="+mn-lt"/>
              </a:rPr>
              <a:t>，</a:t>
            </a:r>
            <a:r>
              <a:rPr lang="zh-CN" altLang="en-US" b="1" dirty="0">
                <a:latin typeface="+mn-lt"/>
              </a:rPr>
              <a:t>就可以推断出</a:t>
            </a:r>
            <a:r>
              <a:rPr lang="en-US" altLang="zh-CN" b="1" dirty="0" err="1">
                <a:latin typeface="+mn-lt"/>
              </a:rPr>
              <a:t>a</a:t>
            </a:r>
            <a:r>
              <a:rPr lang="en-US" altLang="zh-CN" b="1" baseline="-25000" dirty="0" err="1">
                <a:latin typeface="+mn-lt"/>
              </a:rPr>
              <a:t>k</a:t>
            </a:r>
            <a:r>
              <a:rPr lang="zh-CN" altLang="en-US" b="1" dirty="0">
                <a:latin typeface="+mn-lt"/>
              </a:rPr>
              <a:t>和</a:t>
            </a:r>
            <a:r>
              <a:rPr lang="en-US" altLang="zh-CN" b="1" dirty="0" err="1">
                <a:latin typeface="+mn-lt"/>
              </a:rPr>
              <a:t>b</a:t>
            </a:r>
            <a:r>
              <a:rPr lang="en-US" altLang="zh-CN" b="1" baseline="-25000" dirty="0" err="1">
                <a:latin typeface="+mn-lt"/>
              </a:rPr>
              <a:t>k</a:t>
            </a:r>
            <a:r>
              <a:rPr lang="zh-CN" altLang="en-US" b="1" dirty="0">
                <a:latin typeface="+mn-lt"/>
              </a:rPr>
              <a:t>中的一个。而一旦知道足够多的这类信息，就可通过密码分析的方法得到序列{</a:t>
            </a:r>
            <a:r>
              <a:rPr lang="en-US" altLang="zh-CN" b="1" dirty="0" err="1">
                <a:latin typeface="+mn-lt"/>
              </a:rPr>
              <a:t>a</a:t>
            </a:r>
            <a:r>
              <a:rPr lang="en-US" altLang="zh-CN" b="1" baseline="-25000" dirty="0" err="1">
                <a:latin typeface="+mn-lt"/>
              </a:rPr>
              <a:t>k</a:t>
            </a:r>
            <a:r>
              <a:rPr lang="en-US" altLang="zh-CN" b="1" dirty="0">
                <a:latin typeface="+mn-lt"/>
              </a:rPr>
              <a:t>}</a:t>
            </a:r>
            <a:r>
              <a:rPr lang="zh-CN" altLang="en-US" b="1" dirty="0">
                <a:latin typeface="+mn-lt"/>
              </a:rPr>
              <a:t>和{</a:t>
            </a:r>
            <a:r>
              <a:rPr lang="en-US" altLang="zh-CN" b="1" dirty="0" err="1">
                <a:latin typeface="+mn-lt"/>
              </a:rPr>
              <a:t>b</a:t>
            </a:r>
            <a:r>
              <a:rPr lang="en-US" altLang="zh-CN" b="1" baseline="-25000" dirty="0" err="1">
                <a:latin typeface="+mn-lt"/>
              </a:rPr>
              <a:t>k</a:t>
            </a:r>
            <a:r>
              <a:rPr lang="en-US" altLang="zh-CN" b="1" dirty="0">
                <a:latin typeface="+mn-lt"/>
              </a:rPr>
              <a:t>}。</a:t>
            </a:r>
          </a:p>
          <a:p>
            <a:pPr marL="565150" indent="-342900"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latin typeface="+mn-lt"/>
              </a:rPr>
              <a:t>为了克服上述缺点，</a:t>
            </a:r>
            <a:r>
              <a:rPr lang="en-US" altLang="zh-CN" b="1" dirty="0" err="1">
                <a:latin typeface="+mn-lt"/>
              </a:rPr>
              <a:t>Pless</a:t>
            </a:r>
            <a:r>
              <a:rPr lang="zh-CN" altLang="en-US" b="1" dirty="0">
                <a:latin typeface="+mn-lt"/>
              </a:rPr>
              <a:t>提出了由多个</a:t>
            </a:r>
            <a:r>
              <a:rPr lang="en-US" altLang="zh-CN" b="1" dirty="0">
                <a:latin typeface="+mn-lt"/>
              </a:rPr>
              <a:t>J-K</a:t>
            </a:r>
            <a:r>
              <a:rPr lang="zh-CN" altLang="en-US" b="1" dirty="0">
                <a:latin typeface="+mn-lt"/>
              </a:rPr>
              <a:t>触发器序列驱动的多路复合序列方案，称为</a:t>
            </a:r>
            <a:r>
              <a:rPr lang="en-US" altLang="zh-CN" b="1" dirty="0" err="1">
                <a:latin typeface="+mn-lt"/>
              </a:rPr>
              <a:t>Pless</a:t>
            </a:r>
            <a:r>
              <a:rPr lang="zh-CN" altLang="en-US" b="1" dirty="0">
                <a:latin typeface="+mn-lt"/>
              </a:rPr>
              <a:t>生成器。</a:t>
            </a:r>
          </a:p>
          <a:p>
            <a:pPr indent="-6350" eaLnBrk="1" hangingPunct="1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endParaRPr lang="zh-CN" altLang="en-US" b="1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2400" name="Object 1024">
                <a:extLst>
                  <a:ext uri="{FF2B5EF4-FFF2-40B4-BE49-F238E27FC236}">
                    <a16:creationId xmlns:a16="http://schemas.microsoft.com/office/drawing/2014/main" id="{2C82968B-E971-4112-8DBD-EF05A7719DDA}"/>
                  </a:ext>
                </a:extLst>
              </p:cNvPr>
              <p:cNvSpPr txBox="1"/>
              <p:nvPr/>
            </p:nvSpPr>
            <p:spPr bwMode="auto">
              <a:xfrm>
                <a:off x="3962400" y="1828800"/>
                <a:ext cx="3124200" cy="1403350"/>
              </a:xfrm>
              <a:prstGeom prst="rect">
                <a:avLst/>
              </a:prstGeom>
              <a:noFill/>
              <a:ln>
                <a:noFill/>
              </a:ln>
              <a:effectLst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,⤢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bar>
                                <m:barPr>
                                  <m:pos m:val="top"/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ba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,⤢⥄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eqArr>
                        </m:e>
                      </m:d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⤢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742400" name="Object 1024">
                <a:extLst>
                  <a:ext uri="{FF2B5EF4-FFF2-40B4-BE49-F238E27FC236}">
                    <a16:creationId xmlns:a16="http://schemas.microsoft.com/office/drawing/2014/main" id="{2C82968B-E971-4112-8DBD-EF05A7719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2400" y="1828800"/>
                <a:ext cx="3124200" cy="1403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29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29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AE7FB-6C66-4ABE-808A-410F6CF76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2550" y="365125"/>
            <a:ext cx="6778625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非线性序列</a:t>
            </a:r>
          </a:p>
        </p:txBody>
      </p:sp>
      <p:sp>
        <p:nvSpPr>
          <p:cNvPr id="5" name="空心弧 4">
            <a:extLst>
              <a:ext uri="{FF2B5EF4-FFF2-40B4-BE49-F238E27FC236}">
                <a16:creationId xmlns:a16="http://schemas.microsoft.com/office/drawing/2014/main" id="{1CDA7CBC-6D3D-47E8-85E9-D483AB3BE978}"/>
              </a:ext>
            </a:extLst>
          </p:cNvPr>
          <p:cNvSpPr/>
          <p:nvPr/>
        </p:nvSpPr>
        <p:spPr bwMode="auto">
          <a:xfrm>
            <a:off x="-1627188" y="793750"/>
            <a:ext cx="5472113" cy="5473700"/>
          </a:xfrm>
          <a:prstGeom prst="blockArc">
            <a:avLst>
              <a:gd name="adj1" fmla="val 18776635"/>
              <a:gd name="adj2" fmla="val 2427521"/>
              <a:gd name="adj3" fmla="val 0"/>
            </a:avLst>
          </a:prstGeom>
        </p:spPr>
        <p:style>
          <a:lnRef idx="1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2DCD70AB-4EB9-4FBF-80F7-FB531F751965}"/>
              </a:ext>
            </a:extLst>
          </p:cNvPr>
          <p:cNvSpPr/>
          <p:nvPr/>
        </p:nvSpPr>
        <p:spPr bwMode="auto">
          <a:xfrm>
            <a:off x="3479800" y="1854200"/>
            <a:ext cx="5708650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dirty="0" err="1"/>
              <a:t>Geffe</a:t>
            </a:r>
            <a:r>
              <a:rPr lang="zh-CN" altLang="en-US" sz="2400" dirty="0"/>
              <a:t>序列生成器</a:t>
            </a:r>
            <a:endParaRPr lang="zh-CN" altLang="en-US" sz="2400" b="1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A96403F-6BE6-472E-8E91-32C93975D150}"/>
              </a:ext>
            </a:extLst>
          </p:cNvPr>
          <p:cNvSpPr/>
          <p:nvPr/>
        </p:nvSpPr>
        <p:spPr bwMode="auto">
          <a:xfrm>
            <a:off x="2971800" y="1752600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任意多边形 14">
            <a:extLst>
              <a:ext uri="{FF2B5EF4-FFF2-40B4-BE49-F238E27FC236}">
                <a16:creationId xmlns:a16="http://schemas.microsoft.com/office/drawing/2014/main" id="{A28739A4-38BC-4422-84BA-C611E14612F5}"/>
              </a:ext>
            </a:extLst>
          </p:cNvPr>
          <p:cNvSpPr/>
          <p:nvPr/>
        </p:nvSpPr>
        <p:spPr>
          <a:xfrm>
            <a:off x="3559175" y="4267200"/>
            <a:ext cx="5629275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dirty="0" err="1"/>
              <a:t>Pless</a:t>
            </a:r>
            <a:r>
              <a:rPr lang="zh-CN" altLang="en-US" sz="2400" dirty="0"/>
              <a:t>生成器</a:t>
            </a:r>
            <a:endParaRPr lang="zh-CN" altLang="en-US" sz="2400" b="1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6EF6140-6262-47D5-8EDA-8582BCE58138}"/>
              </a:ext>
            </a:extLst>
          </p:cNvPr>
          <p:cNvSpPr/>
          <p:nvPr/>
        </p:nvSpPr>
        <p:spPr>
          <a:xfrm>
            <a:off x="3051175" y="4165600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76C79FA-BF37-46BB-ADB8-C18F9BBCDF9E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任意多边形 8">
            <a:extLst>
              <a:ext uri="{FF2B5EF4-FFF2-40B4-BE49-F238E27FC236}">
                <a16:creationId xmlns:a16="http://schemas.microsoft.com/office/drawing/2014/main" id="{42054DF9-636E-4D65-A22F-7076C81A5051}"/>
              </a:ext>
            </a:extLst>
          </p:cNvPr>
          <p:cNvSpPr/>
          <p:nvPr/>
        </p:nvSpPr>
        <p:spPr bwMode="auto">
          <a:xfrm>
            <a:off x="3784600" y="3014663"/>
            <a:ext cx="5403850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altLang="zh-CN" sz="2400" dirty="0"/>
              <a:t>J-K</a:t>
            </a:r>
            <a:r>
              <a:rPr lang="zh-CN" altLang="en-US" sz="2400" dirty="0"/>
              <a:t>触发器</a:t>
            </a:r>
            <a:endParaRPr lang="zh-CN" altLang="en-US" sz="2400" b="1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E550F5B9-E356-4796-9097-7655113E0B4D}"/>
              </a:ext>
            </a:extLst>
          </p:cNvPr>
          <p:cNvSpPr/>
          <p:nvPr/>
        </p:nvSpPr>
        <p:spPr bwMode="auto">
          <a:xfrm>
            <a:off x="3276600" y="2913063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3" name="Rectangle 3">
            <a:extLst>
              <a:ext uri="{FF2B5EF4-FFF2-40B4-BE49-F238E27FC236}">
                <a16:creationId xmlns:a16="http://schemas.microsoft.com/office/drawing/2014/main" id="{4A5B7C39-2CDB-40AE-A7FA-2785624CF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>
            <a:normAutofit fontScale="90000"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zh-CN" sz="3000" dirty="0" err="1"/>
              <a:t>Pless</a:t>
            </a:r>
            <a:r>
              <a:rPr lang="zh-CN" altLang="en-US" sz="3000" dirty="0"/>
              <a:t>生成器</a:t>
            </a:r>
          </a:p>
        </p:txBody>
      </p:sp>
      <p:sp>
        <p:nvSpPr>
          <p:cNvPr id="239619" name="Rectangle 2">
            <a:extLst>
              <a:ext uri="{FF2B5EF4-FFF2-40B4-BE49-F238E27FC236}">
                <a16:creationId xmlns:a16="http://schemas.microsoft.com/office/drawing/2014/main" id="{13F5C7EA-5464-4E3A-B70A-42AC2C84D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400"/>
            <a:ext cx="10515600" cy="4579938"/>
          </a:xfrm>
        </p:spPr>
        <p:txBody>
          <a:bodyPr/>
          <a:lstStyle/>
          <a:p>
            <a:pPr indent="-635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/>
              <a:t>Pless</a:t>
            </a:r>
            <a:r>
              <a:rPr lang="zh-CN" altLang="en-US"/>
              <a:t>生成器由8个</a:t>
            </a:r>
            <a:r>
              <a:rPr lang="en-US" altLang="zh-CN"/>
              <a:t>LFSR、4</a:t>
            </a:r>
            <a:r>
              <a:rPr lang="zh-CN" altLang="en-US"/>
              <a:t>个</a:t>
            </a:r>
            <a:r>
              <a:rPr lang="en-US" altLang="zh-CN"/>
              <a:t>J-K</a:t>
            </a:r>
            <a:r>
              <a:rPr lang="zh-CN" altLang="en-US"/>
              <a:t>触发器和1个循环计数器构成，由循环计数器进行选通控制，如图所示。</a:t>
            </a:r>
            <a:endParaRPr lang="zh-CN" altLang="en-US" baseline="-25000"/>
          </a:p>
        </p:txBody>
      </p:sp>
      <p:pic>
        <p:nvPicPr>
          <p:cNvPr id="239620" name="图片 1">
            <a:extLst>
              <a:ext uri="{FF2B5EF4-FFF2-40B4-BE49-F238E27FC236}">
                <a16:creationId xmlns:a16="http://schemas.microsoft.com/office/drawing/2014/main" id="{203BA761-A6AE-4CC2-8CB2-6988637347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9413" y="2409825"/>
            <a:ext cx="6353175" cy="371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29D12-ACA0-47DC-B289-185246C3E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2550" y="365125"/>
            <a:ext cx="6778625" cy="668338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非线性序列</a:t>
            </a:r>
          </a:p>
        </p:txBody>
      </p:sp>
      <p:sp>
        <p:nvSpPr>
          <p:cNvPr id="5" name="空心弧 4">
            <a:extLst>
              <a:ext uri="{FF2B5EF4-FFF2-40B4-BE49-F238E27FC236}">
                <a16:creationId xmlns:a16="http://schemas.microsoft.com/office/drawing/2014/main" id="{AF11EF7D-7D44-4A20-9F51-5C5428B985C1}"/>
              </a:ext>
            </a:extLst>
          </p:cNvPr>
          <p:cNvSpPr/>
          <p:nvPr/>
        </p:nvSpPr>
        <p:spPr bwMode="auto">
          <a:xfrm>
            <a:off x="-2438400" y="793750"/>
            <a:ext cx="5472113" cy="5473700"/>
          </a:xfrm>
          <a:prstGeom prst="blockArc">
            <a:avLst>
              <a:gd name="adj1" fmla="val 19662019"/>
              <a:gd name="adj2" fmla="val 1633629"/>
              <a:gd name="adj3" fmla="val 0"/>
            </a:avLst>
          </a:prstGeom>
        </p:spPr>
        <p:style>
          <a:lnRef idx="1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4BD0675B-44D5-4D43-9099-2060109C7ADF}"/>
              </a:ext>
            </a:extLst>
          </p:cNvPr>
          <p:cNvSpPr/>
          <p:nvPr/>
        </p:nvSpPr>
        <p:spPr bwMode="auto">
          <a:xfrm>
            <a:off x="3033713" y="3014663"/>
            <a:ext cx="5708650" cy="812800"/>
          </a:xfrm>
          <a:custGeom>
            <a:avLst/>
            <a:gdLst>
              <a:gd name="connsiteX0" fmla="*/ 0 w 5788800"/>
              <a:gd name="connsiteY0" fmla="*/ 0 h 812800"/>
              <a:gd name="connsiteX1" fmla="*/ 5788800 w 5788800"/>
              <a:gd name="connsiteY1" fmla="*/ 0 h 812800"/>
              <a:gd name="connsiteX2" fmla="*/ 5788800 w 5788800"/>
              <a:gd name="connsiteY2" fmla="*/ 812800 h 812800"/>
              <a:gd name="connsiteX3" fmla="*/ 0 w 5788800"/>
              <a:gd name="connsiteY3" fmla="*/ 812800 h 812800"/>
              <a:gd name="connsiteX4" fmla="*/ 0 w 5788800"/>
              <a:gd name="connsiteY4" fmla="*/ 0 h 81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8800" h="812800">
                <a:moveTo>
                  <a:pt x="0" y="0"/>
                </a:moveTo>
                <a:lnTo>
                  <a:pt x="5788800" y="0"/>
                </a:lnTo>
                <a:lnTo>
                  <a:pt x="5788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645160" tIns="60960" rIns="60960" bIns="60960" spcCol="1270" anchor="ctr"/>
          <a:lstStyle/>
          <a:p>
            <a:pPr defTabSz="1066800">
              <a:lnSpc>
                <a:spcPct val="90000"/>
              </a:lnSpc>
              <a:spcAft>
                <a:spcPct val="35000"/>
              </a:spcAft>
              <a:defRPr/>
            </a:pPr>
            <a:r>
              <a:rPr lang="zh-CN" altLang="en-US" sz="2400" b="1" dirty="0"/>
              <a:t>钟控序列生成器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ADCE089-1D63-4A9C-B7A6-AE5182D88F82}"/>
              </a:ext>
            </a:extLst>
          </p:cNvPr>
          <p:cNvSpPr/>
          <p:nvPr/>
        </p:nvSpPr>
        <p:spPr bwMode="auto">
          <a:xfrm>
            <a:off x="2525713" y="2913063"/>
            <a:ext cx="1016000" cy="1016000"/>
          </a:xfrm>
          <a:prstGeom prst="ellipse">
            <a:avLst/>
          </a:pr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40378F6-CA8F-4554-9AD1-26F72DA940CC}"/>
              </a:ext>
            </a:extLst>
          </p:cNvPr>
          <p:cNvCxnSpPr/>
          <p:nvPr/>
        </p:nvCxnSpPr>
        <p:spPr>
          <a:xfrm>
            <a:off x="693738" y="6249988"/>
            <a:ext cx="10779125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84C918-716F-48F3-A9BF-02393EA8E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钟控序列生成器模型</a:t>
            </a:r>
          </a:p>
        </p:txBody>
      </p:sp>
      <p:sp>
        <p:nvSpPr>
          <p:cNvPr id="243715" name="Rectangle 3">
            <a:extLst>
              <a:ext uri="{FF2B5EF4-FFF2-40B4-BE49-F238E27FC236}">
                <a16:creationId xmlns:a16="http://schemas.microsoft.com/office/drawing/2014/main" id="{FF4F47CF-F4F6-48BD-A7A0-20CC341F0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075" y="1152525"/>
            <a:ext cx="10682288" cy="483076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钟控序列最基本的模型是用一个</a:t>
            </a:r>
            <a:r>
              <a:rPr lang="en-US" altLang="zh-CN" b="1">
                <a:latin typeface="Times New Roman" panose="02020603050405020304" pitchFamily="18" charset="0"/>
              </a:rPr>
              <a:t>LFSR</a:t>
            </a:r>
            <a:r>
              <a:rPr lang="zh-CN" altLang="en-US" b="1">
                <a:latin typeface="Times New Roman" panose="02020603050405020304" pitchFamily="18" charset="0"/>
              </a:rPr>
              <a:t>控制另外一个</a:t>
            </a:r>
            <a:r>
              <a:rPr lang="en-US" altLang="zh-CN" b="1">
                <a:latin typeface="Times New Roman" panose="02020603050405020304" pitchFamily="18" charset="0"/>
              </a:rPr>
              <a:t>LFSR</a:t>
            </a:r>
            <a:r>
              <a:rPr lang="zh-CN" altLang="en-US" b="1">
                <a:latin typeface="Times New Roman" panose="02020603050405020304" pitchFamily="18" charset="0"/>
              </a:rPr>
              <a:t>的移位时钟脉冲，如图所示，一个最简单钟控序列生成器</a:t>
            </a:r>
          </a:p>
          <a:p>
            <a:pPr lvl="1">
              <a:lnSpc>
                <a:spcPct val="120000"/>
              </a:lnSpc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假设</a:t>
            </a:r>
            <a:r>
              <a:rPr lang="en-US" altLang="zh-CN" sz="2400" b="1">
                <a:latin typeface="Times New Roman" panose="02020603050405020304" pitchFamily="18" charset="0"/>
              </a:rPr>
              <a:t>LFSR1</a:t>
            </a:r>
            <a:r>
              <a:rPr lang="zh-CN" altLang="en-US" sz="2400" b="1">
                <a:latin typeface="Times New Roman" panose="02020603050405020304" pitchFamily="18" charset="0"/>
              </a:rPr>
              <a:t>和</a:t>
            </a:r>
            <a:r>
              <a:rPr lang="en-US" altLang="zh-CN" sz="2400" b="1">
                <a:latin typeface="Times New Roman" panose="02020603050405020304" pitchFamily="18" charset="0"/>
              </a:rPr>
              <a:t>LFSR2</a:t>
            </a:r>
            <a:r>
              <a:rPr lang="zh-CN" altLang="en-US" sz="2400" b="1">
                <a:latin typeface="Times New Roman" panose="02020603050405020304" pitchFamily="18" charset="0"/>
              </a:rPr>
              <a:t>分别输出序列</a:t>
            </a:r>
            <a:r>
              <a:rPr lang="en-US" altLang="zh-CN" sz="2400" b="1">
                <a:latin typeface="Times New Roman" panose="02020603050405020304" pitchFamily="18" charset="0"/>
              </a:rPr>
              <a:t>{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}</a:t>
            </a:r>
            <a:r>
              <a:rPr lang="zh-CN" altLang="en-US" sz="2400" b="1">
                <a:latin typeface="Times New Roman" panose="02020603050405020304" pitchFamily="18" charset="0"/>
              </a:rPr>
              <a:t>和</a:t>
            </a:r>
            <a:r>
              <a:rPr lang="en-US" altLang="zh-CN" sz="2400" b="1">
                <a:latin typeface="Times New Roman" panose="02020603050405020304" pitchFamily="18" charset="0"/>
              </a:rPr>
              <a:t>{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}</a:t>
            </a:r>
            <a:r>
              <a:rPr lang="zh-CN" altLang="en-US" sz="2400" b="1">
                <a:latin typeface="Times New Roman" panose="02020603050405020304" pitchFamily="18" charset="0"/>
              </a:rPr>
              <a:t>，其周期分别为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和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。</a:t>
            </a:r>
          </a:p>
          <a:p>
            <a:pPr lvl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当</a:t>
            </a:r>
            <a:r>
              <a:rPr lang="en-US" altLang="zh-CN" sz="2400" b="1">
                <a:latin typeface="Times New Roman" panose="02020603050405020304" pitchFamily="18" charset="0"/>
              </a:rPr>
              <a:t>LFSR1</a:t>
            </a:r>
            <a:r>
              <a:rPr lang="zh-CN" altLang="en-US" sz="2400" b="1">
                <a:latin typeface="Times New Roman" panose="02020603050405020304" pitchFamily="18" charset="0"/>
              </a:rPr>
              <a:t>输出</a:t>
            </a:r>
            <a:r>
              <a:rPr lang="en-US" altLang="zh-CN" sz="2400" b="1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时，移位时钟脉冲通过与门使</a:t>
            </a:r>
            <a:r>
              <a:rPr lang="en-US" altLang="zh-CN" sz="2400" b="1">
                <a:latin typeface="Times New Roman" panose="02020603050405020304" pitchFamily="18" charset="0"/>
              </a:rPr>
              <a:t>LFSR2</a:t>
            </a:r>
            <a:r>
              <a:rPr lang="zh-CN" altLang="en-US" sz="2400" b="1">
                <a:latin typeface="Times New Roman" panose="02020603050405020304" pitchFamily="18" charset="0"/>
              </a:rPr>
              <a:t>进行一次移位，从而生成下一位。</a:t>
            </a:r>
          </a:p>
          <a:p>
            <a:pPr lvl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当</a:t>
            </a:r>
            <a:r>
              <a:rPr lang="en-US" altLang="zh-CN" sz="2400" b="1">
                <a:latin typeface="Times New Roman" panose="02020603050405020304" pitchFamily="18" charset="0"/>
              </a:rPr>
              <a:t>LFSR1</a:t>
            </a:r>
            <a:r>
              <a:rPr lang="zh-CN" altLang="en-US" sz="2400" b="1">
                <a:latin typeface="Times New Roman" panose="02020603050405020304" pitchFamily="18" charset="0"/>
              </a:rPr>
              <a:t>输出</a:t>
            </a:r>
            <a:r>
              <a:rPr lang="en-US" altLang="zh-CN" sz="2400" b="1">
                <a:latin typeface="Times New Roman" panose="02020603050405020304" pitchFamily="18" charset="0"/>
              </a:rPr>
              <a:t>0</a:t>
            </a:r>
            <a:r>
              <a:rPr lang="zh-CN" altLang="en-US" sz="2400" b="1">
                <a:latin typeface="Times New Roman" panose="02020603050405020304" pitchFamily="18" charset="0"/>
              </a:rPr>
              <a:t>时，移位时钟脉冲无法通过与门影响</a:t>
            </a:r>
            <a:r>
              <a:rPr lang="en-US" altLang="zh-CN" sz="2400" b="1">
                <a:latin typeface="Times New Roman" panose="02020603050405020304" pitchFamily="18" charset="0"/>
              </a:rPr>
              <a:t>LFSR2</a:t>
            </a:r>
            <a:r>
              <a:rPr lang="zh-CN" altLang="en-US" sz="2400" b="1">
                <a:latin typeface="Times New Roman" panose="02020603050405020304" pitchFamily="18" charset="0"/>
              </a:rPr>
              <a:t>。因此</a:t>
            </a:r>
            <a:r>
              <a:rPr lang="en-US" altLang="zh-CN" sz="2400" b="1">
                <a:latin typeface="Times New Roman" panose="02020603050405020304" pitchFamily="18" charset="0"/>
              </a:rPr>
              <a:t>LFSR2</a:t>
            </a:r>
            <a:r>
              <a:rPr lang="zh-CN" altLang="en-US" sz="2400" b="1">
                <a:latin typeface="Times New Roman" panose="02020603050405020304" pitchFamily="18" charset="0"/>
              </a:rPr>
              <a:t>重复输出前一位。</a:t>
            </a:r>
          </a:p>
        </p:txBody>
      </p:sp>
      <p:sp>
        <p:nvSpPr>
          <p:cNvPr id="243716" name="Rectangle 5">
            <a:extLst>
              <a:ext uri="{FF2B5EF4-FFF2-40B4-BE49-F238E27FC236}">
                <a16:creationId xmlns:a16="http://schemas.microsoft.com/office/drawing/2014/main" id="{EFD1930A-F003-4812-8528-4D41546E9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9019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b="1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43717" name="Object 4">
            <a:extLst>
              <a:ext uri="{FF2B5EF4-FFF2-40B4-BE49-F238E27FC236}">
                <a16:creationId xmlns:a16="http://schemas.microsoft.com/office/drawing/2014/main" id="{868D3D13-4785-4457-944A-A9E2BC2F29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0800" y="2178050"/>
          <a:ext cx="6477000" cy="102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771" name="Visio" r:id="rId4" imgW="4319930" imgH="680923" progId="Visio.Drawing.11">
                  <p:embed/>
                </p:oleObj>
              </mc:Choice>
              <mc:Fallback>
                <p:oleObj name="Visio" r:id="rId4" imgW="4319930" imgH="680923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178050"/>
                        <a:ext cx="6477000" cy="102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3718" name="Rectangle 11">
            <a:extLst>
              <a:ext uri="{FF2B5EF4-FFF2-40B4-BE49-F238E27FC236}">
                <a16:creationId xmlns:a16="http://schemas.microsoft.com/office/drawing/2014/main" id="{0E51E446-BE30-4F95-BFD3-E8B17AF8C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-1841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b="1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43719" name="Rectangle 13">
            <a:extLst>
              <a:ext uri="{FF2B5EF4-FFF2-40B4-BE49-F238E27FC236}">
                <a16:creationId xmlns:a16="http://schemas.microsoft.com/office/drawing/2014/main" id="{476BEBB6-B85A-4459-BFFF-E7AC1F905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2101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b="1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F594DC-49CD-4E93-B142-2B3A7782E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钟控序列的周期</a:t>
            </a:r>
          </a:p>
        </p:txBody>
      </p:sp>
      <p:sp>
        <p:nvSpPr>
          <p:cNvPr id="245763" name="Rectangle 3">
            <a:extLst>
              <a:ext uri="{FF2B5EF4-FFF2-40B4-BE49-F238E27FC236}">
                <a16:creationId xmlns:a16="http://schemas.microsoft.com/office/drawing/2014/main" id="{08C90650-F086-4F3A-9B49-EE7EF3413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1888"/>
            <a:ext cx="11125200" cy="4933950"/>
          </a:xfrm>
        </p:spPr>
        <p:txBody>
          <a:bodyPr/>
          <a:lstStyle/>
          <a:p>
            <a:pPr lvl="1">
              <a:lnSpc>
                <a:spcPct val="13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假设</a:t>
            </a:r>
            <a:r>
              <a:rPr lang="en-US" altLang="zh-CN" sz="2400" b="1">
                <a:latin typeface="Times New Roman" panose="02020603050405020304" pitchFamily="18" charset="0"/>
              </a:rPr>
              <a:t>LFSR1</a:t>
            </a:r>
            <a:r>
              <a:rPr lang="zh-CN" altLang="en-US" sz="2400" b="1">
                <a:latin typeface="Times New Roman" panose="02020603050405020304" pitchFamily="18" charset="0"/>
              </a:rPr>
              <a:t>和</a:t>
            </a:r>
            <a:r>
              <a:rPr lang="en-US" altLang="zh-CN" sz="2400" b="1">
                <a:latin typeface="Times New Roman" panose="02020603050405020304" pitchFamily="18" charset="0"/>
              </a:rPr>
              <a:t>LFSR2</a:t>
            </a:r>
            <a:r>
              <a:rPr lang="zh-CN" altLang="en-US" sz="2400" b="1">
                <a:latin typeface="Times New Roman" panose="02020603050405020304" pitchFamily="18" charset="0"/>
              </a:rPr>
              <a:t>分别输出序列{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}</a:t>
            </a:r>
            <a:r>
              <a:rPr lang="zh-CN" altLang="en-US" sz="2400" b="1">
                <a:latin typeface="Times New Roman" panose="02020603050405020304" pitchFamily="18" charset="0"/>
              </a:rPr>
              <a:t>和{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}，</a:t>
            </a:r>
            <a:r>
              <a:rPr lang="zh-CN" altLang="en-US" sz="2400" b="1">
                <a:latin typeface="Times New Roman" panose="02020603050405020304" pitchFamily="18" charset="0"/>
              </a:rPr>
              <a:t>其周期分别为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和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。</a:t>
            </a:r>
            <a:r>
              <a:rPr lang="zh-CN" altLang="en-US" sz="2400" b="1">
                <a:latin typeface="Times New Roman" panose="02020603050405020304" pitchFamily="18" charset="0"/>
              </a:rPr>
              <a:t>假设钟控序列</a:t>
            </a:r>
            <a:r>
              <a:rPr lang="en-US" altLang="zh-CN" sz="2400" b="1">
                <a:latin typeface="Times New Roman" panose="02020603050405020304" pitchFamily="18" charset="0"/>
              </a:rPr>
              <a:t>{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}</a:t>
            </a:r>
            <a:r>
              <a:rPr lang="zh-CN" altLang="en-US" sz="2400" b="1">
                <a:latin typeface="Times New Roman" panose="02020603050405020304" pitchFamily="18" charset="0"/>
              </a:rPr>
              <a:t>的周期为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zh-CN" altLang="en-US" sz="2400" b="1">
                <a:latin typeface="Times New Roman" panose="02020603050405020304" pitchFamily="18" charset="0"/>
              </a:rPr>
              <a:t>，可得如下关系：</a:t>
            </a:r>
          </a:p>
          <a:p>
            <a:pPr lvl="1">
              <a:lnSpc>
                <a:spcPct val="150000"/>
              </a:lnSpc>
            </a:pPr>
            <a:r>
              <a:rPr lang="en-US" altLang="zh-CN" sz="2400" b="1" i="1">
                <a:latin typeface="Times New Roman" panose="02020603050405020304" pitchFamily="18" charset="0"/>
              </a:rPr>
              <a:t>                     p</a:t>
            </a:r>
            <a:r>
              <a:rPr lang="en-US" altLang="zh-CN" sz="2400" b="1">
                <a:latin typeface="Times New Roman" panose="02020603050405020304" pitchFamily="18" charset="0"/>
              </a:rPr>
              <a:t>=                       </a:t>
            </a:r>
            <a:r>
              <a:rPr lang="zh-CN" altLang="en-US" sz="2400" b="1">
                <a:latin typeface="Times New Roman" panose="02020603050405020304" pitchFamily="18" charset="0"/>
              </a:rPr>
              <a:t>，   其中</a:t>
            </a:r>
            <a:r>
              <a:rPr lang="en-US" altLang="zh-CN" sz="2400" b="1" i="1">
                <a:latin typeface="Times New Roman" panose="02020603050405020304" pitchFamily="18" charset="0"/>
              </a:rPr>
              <a:t>w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＝</a:t>
            </a:r>
          </a:p>
          <a:p>
            <a:pPr>
              <a:lnSpc>
                <a:spcPct val="130000"/>
              </a:lnSpc>
            </a:pP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 i="1" baseline="-25000">
                <a:latin typeface="Times New Roman" panose="02020603050405020304" pitchFamily="18" charset="0"/>
              </a:rPr>
              <a:t>k</a:t>
            </a:r>
            <a:r>
              <a:rPr lang="zh-CN" altLang="en-US" b="1">
                <a:latin typeface="Times New Roman" panose="02020603050405020304" pitchFamily="18" charset="0"/>
              </a:rPr>
              <a:t>的一个周期至少是</a:t>
            </a:r>
            <a:r>
              <a:rPr lang="en-US" altLang="zh-CN" b="1">
                <a:latin typeface="Times New Roman" panose="02020603050405020304" pitchFamily="18" charset="0"/>
              </a:rPr>
              <a:t>LFSR1</a:t>
            </a:r>
            <a:r>
              <a:rPr lang="zh-CN" altLang="en-US" b="1">
                <a:latin typeface="Times New Roman" panose="02020603050405020304" pitchFamily="18" charset="0"/>
              </a:rPr>
              <a:t>和</a:t>
            </a:r>
            <a:r>
              <a:rPr lang="en-US" altLang="zh-CN" b="1">
                <a:latin typeface="Times New Roman" panose="02020603050405020304" pitchFamily="18" charset="0"/>
              </a:rPr>
              <a:t>LFSR2</a:t>
            </a:r>
            <a:r>
              <a:rPr lang="zh-CN" altLang="en-US" b="1">
                <a:latin typeface="Times New Roman" panose="02020603050405020304" pitchFamily="18" charset="0"/>
              </a:rPr>
              <a:t>同时回到初始状态的时刻</a:t>
            </a:r>
          </a:p>
          <a:p>
            <a:pPr lvl="1">
              <a:lnSpc>
                <a:spcPct val="13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显然当运行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×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个节拍后两个</a:t>
            </a:r>
            <a:r>
              <a:rPr lang="en-US" altLang="zh-CN" sz="2400" b="1">
                <a:latin typeface="Times New Roman" panose="02020603050405020304" pitchFamily="18" charset="0"/>
              </a:rPr>
              <a:t>LFSR</a:t>
            </a:r>
            <a:r>
              <a:rPr lang="zh-CN" altLang="en-US" sz="2400" b="1">
                <a:latin typeface="Times New Roman" panose="02020603050405020304" pitchFamily="18" charset="0"/>
              </a:rPr>
              <a:t>必然回到初态，因此周期至多是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×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lvl="1">
              <a:lnSpc>
                <a:spcPct val="130000"/>
              </a:lnSpc>
            </a:pPr>
            <a:r>
              <a:rPr lang="en-US" altLang="zh-CN" sz="2400" b="1">
                <a:latin typeface="Times New Roman" panose="02020603050405020304" pitchFamily="18" charset="0"/>
              </a:rPr>
              <a:t>LFSR1</a:t>
            </a:r>
            <a:r>
              <a:rPr lang="zh-CN" altLang="en-US" sz="2400" b="1">
                <a:latin typeface="Times New Roman" panose="02020603050405020304" pitchFamily="18" charset="0"/>
              </a:rPr>
              <a:t>运行一个周期，</a:t>
            </a:r>
            <a:r>
              <a:rPr lang="en-US" altLang="zh-CN" sz="2400" b="1">
                <a:latin typeface="Times New Roman" panose="02020603050405020304" pitchFamily="18" charset="0"/>
              </a:rPr>
              <a:t>LFSR2</a:t>
            </a:r>
            <a:r>
              <a:rPr lang="zh-CN" altLang="en-US" sz="2400" b="1">
                <a:latin typeface="Times New Roman" panose="02020603050405020304" pitchFamily="18" charset="0"/>
              </a:rPr>
              <a:t>运行</a:t>
            </a:r>
            <a:r>
              <a:rPr lang="en-US" altLang="zh-CN" sz="2400" b="1" i="1">
                <a:latin typeface="Times New Roman" panose="02020603050405020304" pitchFamily="18" charset="0"/>
              </a:rPr>
              <a:t>w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＝</a:t>
            </a:r>
            <a:r>
              <a:rPr lang="en-US" altLang="zh-CN" sz="2400" b="1" i="1">
                <a:latin typeface="Times New Roman" panose="02020603050405020304" pitchFamily="18" charset="0"/>
              </a:rPr>
              <a:t>dt</a:t>
            </a:r>
            <a:r>
              <a:rPr lang="zh-CN" altLang="en-US" sz="2400" b="1">
                <a:latin typeface="Times New Roman" panose="02020603050405020304" pitchFamily="18" charset="0"/>
              </a:rPr>
              <a:t>拍，</a:t>
            </a:r>
            <a:r>
              <a:rPr lang="en-US" altLang="zh-CN" sz="2400" b="1" i="1">
                <a:latin typeface="Times New Roman" panose="02020603050405020304" pitchFamily="18" charset="0"/>
              </a:rPr>
              <a:t>d</a:t>
            </a:r>
            <a:r>
              <a:rPr lang="zh-CN" altLang="en-US" sz="2400" b="1">
                <a:latin typeface="Times New Roman" panose="02020603050405020304" pitchFamily="18" charset="0"/>
              </a:rPr>
              <a:t>＝</a:t>
            </a:r>
            <a:r>
              <a:rPr lang="en-US" altLang="zh-CN" sz="2400" b="1">
                <a:latin typeface="Times New Roman" panose="02020603050405020304" pitchFamily="18" charset="0"/>
              </a:rPr>
              <a:t>gcd(</a:t>
            </a:r>
            <a:r>
              <a:rPr lang="en-US" altLang="zh-CN" sz="2400" b="1" i="1">
                <a:latin typeface="Times New Roman" panose="02020603050405020304" pitchFamily="18" charset="0"/>
              </a:rPr>
              <a:t>w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</a:p>
          <a:p>
            <a:pPr lvl="1">
              <a:lnSpc>
                <a:spcPct val="13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则</a:t>
            </a:r>
            <a:r>
              <a:rPr lang="en-US" altLang="zh-CN" sz="2400" b="1">
                <a:latin typeface="Times New Roman" panose="02020603050405020304" pitchFamily="18" charset="0"/>
              </a:rPr>
              <a:t>LFSR1</a:t>
            </a:r>
            <a:r>
              <a:rPr lang="zh-CN" altLang="en-US" sz="2400" b="1">
                <a:latin typeface="Times New Roman" panose="02020603050405020304" pitchFamily="18" charset="0"/>
              </a:rPr>
              <a:t>运行（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/</a:t>
            </a:r>
            <a:r>
              <a:rPr lang="en-US" altLang="zh-CN" sz="2400" b="1" i="1">
                <a:latin typeface="Times New Roman" panose="02020603050405020304" pitchFamily="18" charset="0"/>
              </a:rPr>
              <a:t>d</a:t>
            </a:r>
            <a:r>
              <a:rPr lang="zh-CN" altLang="en-US" sz="2400" b="1">
                <a:latin typeface="Times New Roman" panose="02020603050405020304" pitchFamily="18" charset="0"/>
              </a:rPr>
              <a:t>）个周期后，</a:t>
            </a:r>
            <a:r>
              <a:rPr lang="en-US" altLang="zh-CN" sz="2400" b="1">
                <a:latin typeface="Times New Roman" panose="02020603050405020304" pitchFamily="18" charset="0"/>
              </a:rPr>
              <a:t>LFSR2</a:t>
            </a:r>
            <a:r>
              <a:rPr lang="zh-CN" altLang="en-US" sz="2400" b="1">
                <a:latin typeface="Times New Roman" panose="02020603050405020304" pitchFamily="18" charset="0"/>
              </a:rPr>
              <a:t>刚好运行</a:t>
            </a:r>
            <a:r>
              <a:rPr lang="en-US" altLang="zh-CN" sz="2400" b="1" i="1">
                <a:latin typeface="Times New Roman" panose="02020603050405020304" pitchFamily="18" charset="0"/>
              </a:rPr>
              <a:t>dt</a:t>
            </a:r>
            <a:r>
              <a:rPr lang="en-US" altLang="zh-CN" sz="2400" b="1">
                <a:latin typeface="Times New Roman" panose="02020603050405020304" pitchFamily="18" charset="0"/>
              </a:rPr>
              <a:t>×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/d</a:t>
            </a:r>
            <a:r>
              <a:rPr lang="zh-CN" altLang="en-US" sz="2400" b="1">
                <a:latin typeface="Times New Roman" panose="02020603050405020304" pitchFamily="18" charset="0"/>
              </a:rPr>
              <a:t>＝</a:t>
            </a:r>
            <a:r>
              <a:rPr lang="en-US" altLang="zh-CN" sz="2400" b="1" i="1">
                <a:latin typeface="Times New Roman" panose="02020603050405020304" pitchFamily="18" charset="0"/>
              </a:rPr>
              <a:t>tp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拍，即</a:t>
            </a:r>
            <a:r>
              <a:rPr lang="en-US" altLang="zh-CN" sz="2400" b="1" i="1">
                <a:latin typeface="Times New Roman" panose="02020603050405020304" pitchFamily="18" charset="0"/>
              </a:rPr>
              <a:t>t</a:t>
            </a:r>
            <a:r>
              <a:rPr lang="zh-CN" altLang="en-US" sz="2400" b="1">
                <a:latin typeface="Times New Roman" panose="02020603050405020304" pitchFamily="18" charset="0"/>
              </a:rPr>
              <a:t>个周期，于是两个</a:t>
            </a:r>
            <a:r>
              <a:rPr lang="en-US" altLang="zh-CN" sz="2400" b="1">
                <a:latin typeface="Times New Roman" panose="02020603050405020304" pitchFamily="18" charset="0"/>
              </a:rPr>
              <a:t>LFSR</a:t>
            </a:r>
            <a:r>
              <a:rPr lang="zh-CN" altLang="en-US" sz="2400" b="1">
                <a:latin typeface="Times New Roman" panose="02020603050405020304" pitchFamily="18" charset="0"/>
              </a:rPr>
              <a:t>都回到初态，这时运行了（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/</a:t>
            </a:r>
            <a:r>
              <a:rPr lang="en-US" altLang="zh-CN" sz="2400" b="1" i="1">
                <a:latin typeface="Times New Roman" panose="02020603050405020304" pitchFamily="18" charset="0"/>
              </a:rPr>
              <a:t>d</a:t>
            </a:r>
            <a:r>
              <a:rPr lang="zh-CN" altLang="en-US" sz="2400" b="1">
                <a:latin typeface="Times New Roman" panose="02020603050405020304" pitchFamily="18" charset="0"/>
              </a:rPr>
              <a:t>）</a:t>
            </a:r>
            <a:r>
              <a:rPr lang="en-US" altLang="zh-CN" sz="2400" b="1">
                <a:latin typeface="Times New Roman" panose="02020603050405020304" pitchFamily="18" charset="0"/>
              </a:rPr>
              <a:t>×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</a:rPr>
              <a:t>个节拍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5764" name="Object 10">
                <a:extLst>
                  <a:ext uri="{FF2B5EF4-FFF2-40B4-BE49-F238E27FC236}">
                    <a16:creationId xmlns:a16="http://schemas.microsoft.com/office/drawing/2014/main" id="{246BD31C-577B-49F4-8628-589181DEBDFE}"/>
                  </a:ext>
                </a:extLst>
              </p:cNvPr>
              <p:cNvSpPr txBox="1"/>
              <p:nvPr/>
            </p:nvSpPr>
            <p:spPr bwMode="auto">
              <a:xfrm>
                <a:off x="3822700" y="2133600"/>
                <a:ext cx="1371600" cy="796925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gcd</m:t>
                              </m:r>
                            </m:fNam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45764" name="Object 10">
                <a:extLst>
                  <a:ext uri="{FF2B5EF4-FFF2-40B4-BE49-F238E27FC236}">
                    <a16:creationId xmlns:a16="http://schemas.microsoft.com/office/drawing/2014/main" id="{246BD31C-577B-49F4-8628-589181DEB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22700" y="2133600"/>
                <a:ext cx="1371600" cy="7969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765" name="Object 12">
                <a:extLst>
                  <a:ext uri="{FF2B5EF4-FFF2-40B4-BE49-F238E27FC236}">
                    <a16:creationId xmlns:a16="http://schemas.microsoft.com/office/drawing/2014/main" id="{50452C26-1B20-4625-88C2-A61F1A6B2994}"/>
                  </a:ext>
                </a:extLst>
              </p:cNvPr>
              <p:cNvSpPr txBox="1"/>
              <p:nvPr/>
            </p:nvSpPr>
            <p:spPr bwMode="auto">
              <a:xfrm>
                <a:off x="7239000" y="2074863"/>
                <a:ext cx="758825" cy="914400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45765" name="Object 12">
                <a:extLst>
                  <a:ext uri="{FF2B5EF4-FFF2-40B4-BE49-F238E27FC236}">
                    <a16:creationId xmlns:a16="http://schemas.microsoft.com/office/drawing/2014/main" id="{50452C26-1B20-4625-88C2-A61F1A6B2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39000" y="2074863"/>
                <a:ext cx="758825" cy="914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EF41AF-139E-4C86-A022-DE9D4A7D8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钟控序列的周期（续）</a:t>
            </a:r>
          </a:p>
        </p:txBody>
      </p:sp>
      <p:sp>
        <p:nvSpPr>
          <p:cNvPr id="247811" name="Rectangle 3">
            <a:extLst>
              <a:ext uri="{FF2B5EF4-FFF2-40B4-BE49-F238E27FC236}">
                <a16:creationId xmlns:a16="http://schemas.microsoft.com/office/drawing/2014/main" id="{C44533CA-3C4F-42FF-9FEE-C38D6A802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若</a:t>
            </a:r>
            <a:r>
              <a:rPr lang="en-US" altLang="zh-CN" b="1">
                <a:latin typeface="Times New Roman" panose="02020603050405020304" pitchFamily="18" charset="0"/>
              </a:rPr>
              <a:t>{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b="1">
                <a:latin typeface="Times New Roman" panose="02020603050405020304" pitchFamily="18" charset="0"/>
              </a:rPr>
              <a:t>}</a:t>
            </a:r>
            <a:r>
              <a:rPr lang="zh-CN" altLang="en-US" b="1">
                <a:latin typeface="Times New Roman" panose="02020603050405020304" pitchFamily="18" charset="0"/>
              </a:rPr>
              <a:t>和</a:t>
            </a:r>
            <a:r>
              <a:rPr lang="en-US" altLang="zh-CN" b="1">
                <a:latin typeface="Times New Roman" panose="02020603050405020304" pitchFamily="18" charset="0"/>
              </a:rPr>
              <a:t>{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b="1">
                <a:latin typeface="Times New Roman" panose="02020603050405020304" pitchFamily="18" charset="0"/>
              </a:rPr>
              <a:t>}</a:t>
            </a:r>
            <a:r>
              <a:rPr lang="zh-CN" altLang="en-US" b="1">
                <a:latin typeface="Times New Roman" panose="02020603050405020304" pitchFamily="18" charset="0"/>
              </a:rPr>
              <a:t>的极小特征多项式分别为</a:t>
            </a:r>
            <a:r>
              <a:rPr lang="en-US" altLang="zh-CN" b="1">
                <a:latin typeface="Times New Roman" panose="02020603050405020304" pitchFamily="18" charset="0"/>
              </a:rPr>
              <a:t>GF(2)</a:t>
            </a:r>
            <a:r>
              <a:rPr lang="zh-CN" altLang="en-US" b="1">
                <a:latin typeface="Times New Roman" panose="02020603050405020304" pitchFamily="18" charset="0"/>
              </a:rPr>
              <a:t>上的</a:t>
            </a:r>
            <a:r>
              <a:rPr lang="en-US" altLang="zh-CN" b="1">
                <a:latin typeface="Times New Roman" panose="02020603050405020304" pitchFamily="18" charset="0"/>
              </a:rPr>
              <a:t>m</a:t>
            </a:r>
            <a:r>
              <a:rPr lang="zh-CN" altLang="en-US" b="1">
                <a:latin typeface="Times New Roman" panose="02020603050405020304" pitchFamily="18" charset="0"/>
              </a:rPr>
              <a:t>和</a:t>
            </a:r>
            <a:r>
              <a:rPr lang="en-US" altLang="zh-CN" b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次本原多项式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(x)</a:t>
            </a:r>
            <a:r>
              <a:rPr lang="zh-CN" altLang="en-US" b="1">
                <a:latin typeface="Times New Roman" panose="02020603050405020304" pitchFamily="18" charset="0"/>
              </a:rPr>
              <a:t>和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  <a:r>
              <a:rPr lang="zh-CN" altLang="en-US" b="1">
                <a:latin typeface="Times New Roman" panose="02020603050405020304" pitchFamily="18" charset="0"/>
              </a:rPr>
              <a:t>，且</a:t>
            </a:r>
            <a:r>
              <a:rPr lang="en-US" altLang="zh-CN" b="1" i="1">
                <a:latin typeface="Times New Roman" panose="02020603050405020304" pitchFamily="18" charset="0"/>
              </a:rPr>
              <a:t>m</a:t>
            </a:r>
            <a:r>
              <a:rPr lang="en-US" altLang="zh-CN" b="1">
                <a:latin typeface="Times New Roman" panose="02020603050405020304" pitchFamily="18" charset="0"/>
              </a:rPr>
              <a:t>|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。</a:t>
            </a:r>
            <a:endParaRPr lang="en-US" altLang="zh-CN" b="1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则</a:t>
            </a:r>
            <a:r>
              <a:rPr lang="en-US" altLang="zh-CN" b="1" i="1">
                <a:latin typeface="Times New Roman" panose="02020603050405020304" pitchFamily="18" charset="0"/>
              </a:rPr>
              <a:t>p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=2</a:t>
            </a:r>
            <a:r>
              <a:rPr lang="en-US" altLang="zh-CN" b="1" baseline="30000">
                <a:latin typeface="Times New Roman" panose="02020603050405020304" pitchFamily="18" charset="0"/>
              </a:rPr>
              <a:t>m</a:t>
            </a:r>
            <a:r>
              <a:rPr lang="en-US" altLang="zh-CN" b="1">
                <a:latin typeface="Times New Roman" panose="02020603050405020304" pitchFamily="18" charset="0"/>
              </a:rPr>
              <a:t>-1, </a:t>
            </a:r>
            <a:r>
              <a:rPr lang="en-US" altLang="zh-CN" b="1" i="1">
                <a:latin typeface="Times New Roman" panose="02020603050405020304" pitchFamily="18" charset="0"/>
              </a:rPr>
              <a:t>p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=2</a:t>
            </a:r>
            <a:r>
              <a:rPr lang="en-US" altLang="zh-CN" b="1" baseline="30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-1</a:t>
            </a:r>
            <a:r>
              <a:rPr lang="zh-CN" altLang="en-US" b="1">
                <a:latin typeface="Times New Roman" panose="02020603050405020304" pitchFamily="18" charset="0"/>
              </a:rPr>
              <a:t>。</a:t>
            </a:r>
            <a:endParaRPr lang="en-US" altLang="zh-CN" b="1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而</a:t>
            </a:r>
            <a:r>
              <a:rPr lang="en-US" altLang="zh-CN" b="1" i="1">
                <a:latin typeface="Times New Roman" panose="02020603050405020304" pitchFamily="18" charset="0"/>
              </a:rPr>
              <a:t>w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=</a:t>
            </a:r>
            <a:r>
              <a:rPr lang="zh-CN" altLang="en-US" b="1">
                <a:latin typeface="Times New Roman" panose="02020603050405020304" pitchFamily="18" charset="0"/>
              </a:rPr>
              <a:t>为</a:t>
            </a:r>
            <a:r>
              <a:rPr lang="en-US" altLang="zh-CN" b="1">
                <a:latin typeface="Times New Roman" panose="02020603050405020304" pitchFamily="18" charset="0"/>
              </a:rPr>
              <a:t>{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b="1">
                <a:latin typeface="Times New Roman" panose="02020603050405020304" pitchFamily="18" charset="0"/>
              </a:rPr>
              <a:t>} </a:t>
            </a:r>
            <a:r>
              <a:rPr lang="zh-CN" altLang="en-US" b="1">
                <a:latin typeface="Times New Roman" panose="02020603050405020304" pitchFamily="18" charset="0"/>
              </a:rPr>
              <a:t>一个周期内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zh-CN" altLang="en-US" b="1">
                <a:latin typeface="Times New Roman" panose="02020603050405020304" pitchFamily="18" charset="0"/>
              </a:rPr>
              <a:t>的个数，因此</a:t>
            </a:r>
            <a:r>
              <a:rPr lang="en-US" altLang="zh-CN" b="1" i="1">
                <a:latin typeface="Times New Roman" panose="02020603050405020304" pitchFamily="18" charset="0"/>
              </a:rPr>
              <a:t>w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=2</a:t>
            </a:r>
            <a:r>
              <a:rPr lang="en-US" altLang="zh-CN" b="1" baseline="30000">
                <a:latin typeface="Times New Roman" panose="02020603050405020304" pitchFamily="18" charset="0"/>
              </a:rPr>
              <a:t>m-1</a:t>
            </a:r>
            <a:endParaRPr lang="en-US" altLang="zh-CN" b="1"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故</a:t>
            </a:r>
            <a:r>
              <a:rPr lang="en-US" altLang="zh-CN" b="1">
                <a:latin typeface="Times New Roman" panose="02020603050405020304" pitchFamily="18" charset="0"/>
              </a:rPr>
              <a:t>gcd(</a:t>
            </a:r>
            <a:r>
              <a:rPr lang="en-US" altLang="zh-CN" b="1" i="1">
                <a:latin typeface="Times New Roman" panose="02020603050405020304" pitchFamily="18" charset="0"/>
              </a:rPr>
              <a:t>w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p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)=1</a:t>
            </a:r>
            <a:r>
              <a:rPr lang="zh-CN" altLang="en-US" b="1">
                <a:latin typeface="Times New Roman" panose="02020603050405020304" pitchFamily="18" charset="0"/>
              </a:rPr>
              <a:t>，所以</a:t>
            </a:r>
            <a:r>
              <a:rPr lang="en-US" altLang="zh-CN" b="1" i="1">
                <a:latin typeface="Times New Roman" panose="02020603050405020304" pitchFamily="18" charset="0"/>
              </a:rPr>
              <a:t>p</a:t>
            </a:r>
            <a:r>
              <a:rPr lang="en-US" altLang="zh-CN" b="1">
                <a:latin typeface="Times New Roman" panose="02020603050405020304" pitchFamily="18" charset="0"/>
              </a:rPr>
              <a:t>=</a:t>
            </a:r>
            <a:r>
              <a:rPr lang="en-US" altLang="zh-CN" b="1" i="1">
                <a:latin typeface="Times New Roman" panose="02020603050405020304" pitchFamily="18" charset="0"/>
              </a:rPr>
              <a:t>p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 i="1">
                <a:latin typeface="Times New Roman" panose="02020603050405020304" pitchFamily="18" charset="0"/>
              </a:rPr>
              <a:t>p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=(2</a:t>
            </a:r>
            <a:r>
              <a:rPr lang="en-US" altLang="zh-CN" b="1" baseline="30000">
                <a:latin typeface="Times New Roman" panose="02020603050405020304" pitchFamily="18" charset="0"/>
              </a:rPr>
              <a:t>m</a:t>
            </a:r>
            <a:r>
              <a:rPr lang="en-US" altLang="zh-CN" b="1">
                <a:latin typeface="Times New Roman" panose="02020603050405020304" pitchFamily="18" charset="0"/>
              </a:rPr>
              <a:t>-1)(2</a:t>
            </a:r>
            <a:r>
              <a:rPr lang="en-US" altLang="zh-CN" b="1" baseline="30000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-1)</a:t>
            </a:r>
            <a:r>
              <a:rPr lang="zh-CN" altLang="en-US" b="1">
                <a:latin typeface="Times New Roman" panose="02020603050405020304" pitchFamily="18" charset="0"/>
              </a:rPr>
              <a:t>。</a:t>
            </a:r>
          </a:p>
        </p:txBody>
      </p:sp>
      <p:sp>
        <p:nvSpPr>
          <p:cNvPr id="247812" name="Rectangle 5">
            <a:extLst>
              <a:ext uri="{FF2B5EF4-FFF2-40B4-BE49-F238E27FC236}">
                <a16:creationId xmlns:a16="http://schemas.microsoft.com/office/drawing/2014/main" id="{88BB7F67-CFF0-4229-A83B-7DC38229B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11626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b="1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4169D4-B47F-455A-998D-C7C9B62FB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钟控序列的线性复杂度</a:t>
            </a:r>
          </a:p>
        </p:txBody>
      </p:sp>
      <p:sp>
        <p:nvSpPr>
          <p:cNvPr id="248835" name="Rectangle 3">
            <a:extLst>
              <a:ext uri="{FF2B5EF4-FFF2-40B4-BE49-F238E27FC236}">
                <a16:creationId xmlns:a16="http://schemas.microsoft.com/office/drawing/2014/main" id="{F65E892B-531B-4716-BD83-57A12381D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</a:rPr>
              <a:t>可推导出</a:t>
            </a:r>
            <a:r>
              <a:rPr lang="en-US" altLang="zh-CN" sz="2800" b="1">
                <a:latin typeface="Times New Roman" panose="02020603050405020304" pitchFamily="18" charset="0"/>
              </a:rPr>
              <a:t>{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2800" b="1">
                <a:latin typeface="Times New Roman" panose="02020603050405020304" pitchFamily="18" charset="0"/>
              </a:rPr>
              <a:t>}</a:t>
            </a:r>
            <a:r>
              <a:rPr lang="zh-CN" altLang="en-US" sz="2800" b="1">
                <a:latin typeface="Times New Roman" panose="02020603050405020304" pitchFamily="18" charset="0"/>
              </a:rPr>
              <a:t>的线性复杂度为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(2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m</a:t>
            </a:r>
            <a:r>
              <a:rPr lang="en-US" altLang="zh-CN" sz="2800" b="1">
                <a:latin typeface="Times New Roman" panose="02020603050405020304" pitchFamily="18" charset="0"/>
              </a:rPr>
              <a:t>-1)</a:t>
            </a:r>
            <a:r>
              <a:rPr lang="zh-CN" altLang="en-US" sz="2800" b="1">
                <a:latin typeface="Times New Roman" panose="02020603050405020304" pitchFamily="18" charset="0"/>
              </a:rPr>
              <a:t>，极小特征多项式为</a:t>
            </a:r>
          </a:p>
          <a:p>
            <a:pPr lvl="1">
              <a:lnSpc>
                <a:spcPct val="120000"/>
              </a:lnSpc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其对应的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LFSR2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的抽头每隔周期</a:t>
            </a:r>
            <a:r>
              <a:rPr lang="en-US" altLang="zh-CN" sz="2400" b="1" i="1">
                <a:solidFill>
                  <a:srgbClr val="0000FF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400" b="1" baseline="-25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一个，这样，参与运算的每个抽头对应的状态的节奏相同，从而相当于对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LFSR2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序列进行每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m</a:t>
            </a:r>
            <a:r>
              <a:rPr lang="zh-CN" altLang="en-US" sz="2400" b="1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－</a:t>
            </a:r>
            <a:r>
              <a:rPr lang="en-US" altLang="zh-CN" sz="2400" b="1" baseline="3000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拍的抽样序列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不计由于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LFSR1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的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游程而产生的重复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，这个序列只是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LFSR2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的平移和按照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LFSR1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中的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游程进行迟延，而抽头应该与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LFSR2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的节奏一致，所以其极小多项式和线性复杂度如上</a:t>
            </a:r>
          </a:p>
        </p:txBody>
      </p:sp>
      <p:sp>
        <p:nvSpPr>
          <p:cNvPr id="248836" name="Rectangle 5">
            <a:extLst>
              <a:ext uri="{FF2B5EF4-FFF2-40B4-BE49-F238E27FC236}">
                <a16:creationId xmlns:a16="http://schemas.microsoft.com/office/drawing/2014/main" id="{119F0006-AC64-4488-8AD7-6CFF89743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116263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b="1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8837" name="Object 4">
                <a:extLst>
                  <a:ext uri="{FF2B5EF4-FFF2-40B4-BE49-F238E27FC236}">
                    <a16:creationId xmlns:a16="http://schemas.microsoft.com/office/drawing/2014/main" id="{D49FEA8D-39B4-41EB-881E-F4FF0C88F9CA}"/>
                  </a:ext>
                </a:extLst>
              </p:cNvPr>
              <p:cNvSpPr txBox="1"/>
              <p:nvPr/>
            </p:nvSpPr>
            <p:spPr bwMode="auto">
              <a:xfrm>
                <a:off x="9982200" y="1371600"/>
                <a:ext cx="1447800" cy="636588"/>
              </a:xfrm>
              <a:prstGeom prst="rect">
                <a:avLst/>
              </a:prstGeom>
              <a:noFill/>
              <a:ln>
                <a:noFill/>
              </a:ln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48837" name="Object 4">
                <a:extLst>
                  <a:ext uri="{FF2B5EF4-FFF2-40B4-BE49-F238E27FC236}">
                    <a16:creationId xmlns:a16="http://schemas.microsoft.com/office/drawing/2014/main" id="{D49FEA8D-39B4-41EB-881E-F4FF0C88F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82200" y="1371600"/>
                <a:ext cx="1447800" cy="6365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/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2473B-42DB-4328-95F5-FCE53AAC0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钟控序列的例子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A471362D-6DF4-4C55-B147-BABB91CC50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033463"/>
            <a:ext cx="10515600" cy="4579937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zh-CN" altLang="en-US" b="1" dirty="0">
                <a:latin typeface="+mn-lt"/>
                <a:ea typeface="+mn-ea"/>
              </a:rPr>
              <a:t>例： 设</a:t>
            </a:r>
            <a:r>
              <a:rPr lang="en-US" altLang="zh-CN" b="1" dirty="0">
                <a:latin typeface="+mn-lt"/>
                <a:ea typeface="+mn-ea"/>
              </a:rPr>
              <a:t>LFSR1</a:t>
            </a:r>
            <a:r>
              <a:rPr lang="zh-CN" altLang="en-US" b="1" dirty="0">
                <a:latin typeface="+mn-lt"/>
                <a:ea typeface="+mn-ea"/>
              </a:rPr>
              <a:t>为</a:t>
            </a:r>
            <a:r>
              <a:rPr lang="en-US" altLang="zh-CN" b="1" dirty="0">
                <a:latin typeface="+mn-lt"/>
                <a:ea typeface="+mn-ea"/>
              </a:rPr>
              <a:t>3</a:t>
            </a:r>
            <a:r>
              <a:rPr lang="zh-CN" altLang="en-US" b="1" dirty="0">
                <a:latin typeface="+mn-lt"/>
                <a:ea typeface="+mn-ea"/>
              </a:rPr>
              <a:t>级</a:t>
            </a:r>
            <a:r>
              <a:rPr lang="en-US" altLang="zh-CN" b="1" dirty="0">
                <a:latin typeface="+mn-lt"/>
                <a:ea typeface="+mn-ea"/>
              </a:rPr>
              <a:t>m</a:t>
            </a:r>
            <a:r>
              <a:rPr lang="zh-CN" altLang="en-US" b="1" dirty="0">
                <a:latin typeface="+mn-lt"/>
                <a:ea typeface="+mn-ea"/>
              </a:rPr>
              <a:t>序列生成器，其特征多项式为</a:t>
            </a:r>
            <a:r>
              <a:rPr lang="en-US" altLang="zh-CN" b="1" i="1" dirty="0">
                <a:latin typeface="+mn-lt"/>
                <a:ea typeface="+mn-ea"/>
              </a:rPr>
              <a:t>f</a:t>
            </a:r>
            <a:r>
              <a:rPr lang="en-US" altLang="zh-CN" b="1" baseline="-25000" dirty="0">
                <a:latin typeface="+mn-lt"/>
                <a:ea typeface="+mn-ea"/>
              </a:rPr>
              <a:t>1</a:t>
            </a:r>
            <a:r>
              <a:rPr lang="en-US" altLang="zh-CN" b="1" dirty="0">
                <a:latin typeface="+mn-lt"/>
                <a:ea typeface="+mn-ea"/>
              </a:rPr>
              <a:t>(</a:t>
            </a:r>
            <a:r>
              <a:rPr lang="en-US" altLang="zh-CN" b="1" i="1" dirty="0">
                <a:latin typeface="+mn-lt"/>
                <a:ea typeface="+mn-ea"/>
              </a:rPr>
              <a:t>x</a:t>
            </a:r>
            <a:r>
              <a:rPr lang="en-US" altLang="zh-CN" b="1" dirty="0">
                <a:latin typeface="+mn-lt"/>
                <a:ea typeface="+mn-ea"/>
              </a:rPr>
              <a:t>)=1+</a:t>
            </a:r>
            <a:r>
              <a:rPr lang="en-US" altLang="zh-CN" b="1" i="1" dirty="0">
                <a:latin typeface="+mn-lt"/>
                <a:ea typeface="+mn-ea"/>
              </a:rPr>
              <a:t>x</a:t>
            </a:r>
            <a:r>
              <a:rPr lang="en-US" altLang="zh-CN" b="1" dirty="0">
                <a:latin typeface="+mn-lt"/>
                <a:ea typeface="+mn-ea"/>
              </a:rPr>
              <a:t>+</a:t>
            </a:r>
            <a:r>
              <a:rPr lang="en-US" altLang="zh-CN" b="1" i="1" dirty="0">
                <a:latin typeface="+mn-lt"/>
                <a:ea typeface="+mn-ea"/>
              </a:rPr>
              <a:t>x</a:t>
            </a:r>
            <a:r>
              <a:rPr lang="en-US" altLang="zh-CN" b="1" baseline="30000" dirty="0">
                <a:latin typeface="+mn-lt"/>
                <a:ea typeface="+mn-ea"/>
              </a:rPr>
              <a:t>3</a:t>
            </a:r>
            <a:r>
              <a:rPr lang="zh-CN" altLang="en-US" b="1" dirty="0">
                <a:latin typeface="+mn-lt"/>
                <a:ea typeface="+mn-ea"/>
              </a:rPr>
              <a:t>。设初态为</a:t>
            </a:r>
            <a:r>
              <a:rPr lang="en-US" altLang="zh-CN" b="1" i="1" dirty="0">
                <a:latin typeface="+mn-lt"/>
                <a:ea typeface="+mn-ea"/>
              </a:rPr>
              <a:t>a</a:t>
            </a:r>
            <a:r>
              <a:rPr lang="en-US" altLang="zh-CN" b="1" baseline="-25000" dirty="0">
                <a:latin typeface="+mn-lt"/>
                <a:ea typeface="+mn-ea"/>
              </a:rPr>
              <a:t>0</a:t>
            </a:r>
            <a:r>
              <a:rPr lang="en-US" altLang="zh-CN" b="1" dirty="0">
                <a:latin typeface="+mn-lt"/>
                <a:ea typeface="+mn-ea"/>
              </a:rPr>
              <a:t>=</a:t>
            </a:r>
            <a:r>
              <a:rPr lang="en-US" altLang="zh-CN" b="1" i="1" dirty="0">
                <a:latin typeface="+mn-lt"/>
                <a:ea typeface="+mn-ea"/>
              </a:rPr>
              <a:t>a</a:t>
            </a:r>
            <a:r>
              <a:rPr lang="en-US" altLang="zh-CN" b="1" baseline="-25000" dirty="0">
                <a:latin typeface="+mn-lt"/>
                <a:ea typeface="+mn-ea"/>
              </a:rPr>
              <a:t>1</a:t>
            </a:r>
            <a:r>
              <a:rPr lang="en-US" altLang="zh-CN" b="1" dirty="0">
                <a:latin typeface="+mn-lt"/>
                <a:ea typeface="+mn-ea"/>
              </a:rPr>
              <a:t>=</a:t>
            </a:r>
            <a:r>
              <a:rPr lang="en-US" altLang="zh-CN" b="1" i="1" dirty="0">
                <a:latin typeface="+mn-lt"/>
                <a:ea typeface="+mn-ea"/>
              </a:rPr>
              <a:t>a</a:t>
            </a:r>
            <a:r>
              <a:rPr lang="en-US" altLang="zh-CN" b="1" baseline="-25000" dirty="0">
                <a:latin typeface="+mn-lt"/>
                <a:ea typeface="+mn-ea"/>
              </a:rPr>
              <a:t>2</a:t>
            </a:r>
            <a:r>
              <a:rPr lang="en-US" altLang="zh-CN" b="1" dirty="0">
                <a:latin typeface="+mn-lt"/>
                <a:ea typeface="+mn-ea"/>
              </a:rPr>
              <a:t>=1</a:t>
            </a:r>
            <a:r>
              <a:rPr lang="zh-CN" altLang="en-US" b="1" dirty="0">
                <a:latin typeface="+mn-lt"/>
                <a:ea typeface="+mn-ea"/>
              </a:rPr>
              <a:t>，于是输出序列为</a:t>
            </a:r>
            <a:r>
              <a:rPr lang="en-US" altLang="zh-CN" b="1" dirty="0">
                <a:latin typeface="+mn-lt"/>
                <a:ea typeface="+mn-ea"/>
              </a:rPr>
              <a:t>{</a:t>
            </a:r>
            <a:r>
              <a:rPr lang="en-US" altLang="zh-CN" b="1" i="1" dirty="0" err="1">
                <a:latin typeface="+mn-lt"/>
                <a:ea typeface="+mn-ea"/>
              </a:rPr>
              <a:t>a</a:t>
            </a:r>
            <a:r>
              <a:rPr lang="en-US" altLang="zh-CN" b="1" i="1" baseline="-25000" dirty="0" err="1">
                <a:latin typeface="+mn-lt"/>
                <a:ea typeface="+mn-ea"/>
              </a:rPr>
              <a:t>k</a:t>
            </a:r>
            <a:r>
              <a:rPr lang="en-US" altLang="zh-CN" b="1" dirty="0">
                <a:latin typeface="+mn-lt"/>
                <a:ea typeface="+mn-ea"/>
              </a:rPr>
              <a:t>}=1,1,1,0,1,0,0,…</a:t>
            </a:r>
          </a:p>
          <a:p>
            <a:pPr>
              <a:lnSpc>
                <a:spcPct val="120000"/>
              </a:lnSpc>
              <a:defRPr/>
            </a:pPr>
            <a:r>
              <a:rPr lang="zh-CN" altLang="en-US" b="1" dirty="0">
                <a:latin typeface="+mn-lt"/>
                <a:ea typeface="+mn-ea"/>
              </a:rPr>
              <a:t>又设</a:t>
            </a:r>
            <a:r>
              <a:rPr lang="en-US" altLang="zh-CN" b="1" dirty="0">
                <a:latin typeface="+mn-lt"/>
                <a:ea typeface="+mn-ea"/>
              </a:rPr>
              <a:t>LFSR2</a:t>
            </a:r>
            <a:r>
              <a:rPr lang="zh-CN" altLang="en-US" b="1" dirty="0">
                <a:latin typeface="+mn-lt"/>
                <a:ea typeface="+mn-ea"/>
              </a:rPr>
              <a:t>为</a:t>
            </a:r>
            <a:r>
              <a:rPr lang="en-US" altLang="zh-CN" b="1" dirty="0">
                <a:latin typeface="+mn-lt"/>
                <a:ea typeface="+mn-ea"/>
              </a:rPr>
              <a:t>3</a:t>
            </a:r>
            <a:r>
              <a:rPr lang="zh-CN" altLang="en-US" b="1" dirty="0">
                <a:latin typeface="+mn-lt"/>
                <a:ea typeface="+mn-ea"/>
              </a:rPr>
              <a:t>级</a:t>
            </a:r>
            <a:r>
              <a:rPr lang="en-US" altLang="zh-CN" b="1" dirty="0">
                <a:latin typeface="+mn-lt"/>
                <a:ea typeface="+mn-ea"/>
              </a:rPr>
              <a:t>m</a:t>
            </a:r>
            <a:r>
              <a:rPr lang="zh-CN" altLang="en-US" b="1" dirty="0">
                <a:latin typeface="+mn-lt"/>
                <a:ea typeface="+mn-ea"/>
              </a:rPr>
              <a:t>序列生成器，且记其状态向量为</a:t>
            </a:r>
            <a:r>
              <a:rPr lang="en-US" altLang="zh-CN" b="1" i="1" dirty="0" err="1">
                <a:latin typeface="+mn-lt"/>
                <a:ea typeface="+mn-ea"/>
              </a:rPr>
              <a:t>σ</a:t>
            </a:r>
            <a:r>
              <a:rPr lang="en-US" altLang="zh-CN" b="1" i="1" baseline="-25000" dirty="0" err="1">
                <a:latin typeface="+mn-lt"/>
                <a:ea typeface="+mn-ea"/>
              </a:rPr>
              <a:t>k</a:t>
            </a:r>
            <a:r>
              <a:rPr lang="zh-CN" altLang="en-US" b="1" dirty="0">
                <a:latin typeface="+mn-lt"/>
                <a:ea typeface="+mn-ea"/>
              </a:rPr>
              <a:t>，则在上图的构造下</a:t>
            </a:r>
            <a:r>
              <a:rPr lang="en-US" altLang="zh-CN" b="1" i="1" dirty="0" err="1">
                <a:latin typeface="+mn-lt"/>
                <a:ea typeface="+mn-ea"/>
              </a:rPr>
              <a:t>σ</a:t>
            </a:r>
            <a:r>
              <a:rPr lang="en-US" altLang="zh-CN" b="1" i="1" baseline="-25000" dirty="0" err="1">
                <a:latin typeface="+mn-lt"/>
                <a:ea typeface="+mn-ea"/>
              </a:rPr>
              <a:t>k</a:t>
            </a:r>
            <a:r>
              <a:rPr lang="zh-CN" altLang="en-US" b="1" dirty="0">
                <a:latin typeface="+mn-lt"/>
                <a:ea typeface="+mn-ea"/>
              </a:rPr>
              <a:t>的变化情况如下：</a:t>
            </a:r>
            <a:endParaRPr lang="zh-CN" altLang="en-US" b="1" i="1" dirty="0">
              <a:latin typeface="+mn-lt"/>
              <a:ea typeface="+mn-ea"/>
            </a:endParaRPr>
          </a:p>
          <a:p>
            <a:pPr lvl="1">
              <a:lnSpc>
                <a:spcPct val="100000"/>
              </a:lnSpc>
              <a:defRPr/>
            </a:pP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0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1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2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3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3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4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4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4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</a:p>
          <a:p>
            <a:pPr lvl="1">
              <a:lnSpc>
                <a:spcPct val="100000"/>
              </a:lnSpc>
              <a:defRPr/>
            </a:pPr>
            <a:r>
              <a:rPr lang="zh-CN" altLang="en-US" sz="2400" b="1" dirty="0">
                <a:latin typeface="+mn-lt"/>
                <a:ea typeface="+mn-ea"/>
              </a:rPr>
              <a:t>       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5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6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0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0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1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1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1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</a:p>
          <a:p>
            <a:pPr lvl="1">
              <a:lnSpc>
                <a:spcPct val="100000"/>
              </a:lnSpc>
              <a:defRPr/>
            </a:pPr>
            <a:r>
              <a:rPr lang="zh-CN" altLang="en-US" sz="2400" b="1" dirty="0">
                <a:latin typeface="+mn-lt"/>
                <a:ea typeface="+mn-ea"/>
              </a:rPr>
              <a:t>       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2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3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4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4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5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5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5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</a:p>
          <a:p>
            <a:pPr lvl="1">
              <a:lnSpc>
                <a:spcPct val="100000"/>
              </a:lnSpc>
              <a:defRPr/>
            </a:pPr>
            <a:r>
              <a:rPr lang="zh-CN" altLang="en-US" sz="2400" b="1" dirty="0">
                <a:latin typeface="+mn-lt"/>
                <a:ea typeface="+mn-ea"/>
              </a:rPr>
              <a:t>       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6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0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1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1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2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2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2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</a:p>
          <a:p>
            <a:pPr lvl="1">
              <a:lnSpc>
                <a:spcPct val="100000"/>
              </a:lnSpc>
              <a:defRPr/>
            </a:pPr>
            <a:r>
              <a:rPr lang="zh-CN" altLang="en-US" sz="2400" b="1" dirty="0">
                <a:latin typeface="+mn-lt"/>
                <a:ea typeface="+mn-ea"/>
              </a:rPr>
              <a:t>       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0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1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2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2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3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3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3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</a:p>
          <a:p>
            <a:pPr lvl="1">
              <a:lnSpc>
                <a:spcPct val="100000"/>
              </a:lnSpc>
              <a:defRPr/>
            </a:pPr>
            <a:r>
              <a:rPr lang="zh-CN" altLang="en-US" sz="2400" b="1" dirty="0">
                <a:latin typeface="+mn-lt"/>
                <a:ea typeface="+mn-ea"/>
              </a:rPr>
              <a:t>       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4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5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6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6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0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i="1" dirty="0">
                <a:latin typeface="+mn-lt"/>
                <a:ea typeface="+mn-ea"/>
              </a:rPr>
              <a:t>σ</a:t>
            </a:r>
            <a:r>
              <a:rPr lang="en-US" altLang="zh-CN" sz="2400" b="1" baseline="-25000" dirty="0">
                <a:latin typeface="+mn-lt"/>
                <a:ea typeface="+mn-ea"/>
              </a:rPr>
              <a:t>0</a:t>
            </a:r>
            <a:r>
              <a:rPr lang="zh-CN" altLang="en-US" sz="2400" b="1" dirty="0">
                <a:latin typeface="+mn-lt"/>
                <a:ea typeface="+mn-ea"/>
              </a:rPr>
              <a:t>，</a:t>
            </a:r>
            <a:r>
              <a:rPr lang="en-US" altLang="zh-CN" sz="2400" b="1" dirty="0">
                <a:latin typeface="+mn-lt"/>
                <a:ea typeface="+mn-ea"/>
              </a:rPr>
              <a:t>…</a:t>
            </a:r>
          </a:p>
          <a:p>
            <a:pPr>
              <a:lnSpc>
                <a:spcPct val="100000"/>
              </a:lnSpc>
              <a:defRPr/>
            </a:pPr>
            <a:r>
              <a:rPr lang="en-US" altLang="zh-CN" b="1" dirty="0">
                <a:latin typeface="+mn-lt"/>
                <a:ea typeface="+mn-ea"/>
              </a:rPr>
              <a:t>{</a:t>
            </a:r>
            <a:r>
              <a:rPr lang="en-US" altLang="zh-CN" b="1" i="1" dirty="0" err="1">
                <a:latin typeface="+mn-lt"/>
                <a:ea typeface="+mn-ea"/>
              </a:rPr>
              <a:t>c</a:t>
            </a:r>
            <a:r>
              <a:rPr lang="en-US" altLang="zh-CN" b="1" i="1" baseline="-25000" dirty="0" err="1">
                <a:latin typeface="+mn-lt"/>
                <a:ea typeface="+mn-ea"/>
              </a:rPr>
              <a:t>k</a:t>
            </a:r>
            <a:r>
              <a:rPr lang="en-US" altLang="zh-CN" b="1" dirty="0">
                <a:latin typeface="+mn-lt"/>
                <a:ea typeface="+mn-ea"/>
              </a:rPr>
              <a:t>}</a:t>
            </a:r>
            <a:r>
              <a:rPr lang="zh-CN" altLang="en-US" b="1" dirty="0">
                <a:latin typeface="+mn-lt"/>
                <a:ea typeface="+mn-ea"/>
              </a:rPr>
              <a:t>的周期为</a:t>
            </a:r>
            <a:r>
              <a:rPr lang="en-US" altLang="zh-CN" b="1" dirty="0">
                <a:latin typeface="+mn-lt"/>
                <a:ea typeface="+mn-ea"/>
              </a:rPr>
              <a:t>(2</a:t>
            </a:r>
            <a:r>
              <a:rPr lang="en-US" altLang="zh-CN" b="1" baseline="30000" dirty="0">
                <a:latin typeface="+mn-lt"/>
                <a:ea typeface="+mn-ea"/>
              </a:rPr>
              <a:t>3</a:t>
            </a:r>
            <a:r>
              <a:rPr lang="en-US" altLang="zh-CN" b="1" dirty="0">
                <a:latin typeface="+mn-lt"/>
                <a:ea typeface="+mn-ea"/>
              </a:rPr>
              <a:t>-1)</a:t>
            </a:r>
            <a:r>
              <a:rPr lang="en-US" altLang="zh-CN" b="1" baseline="30000" dirty="0">
                <a:latin typeface="+mn-lt"/>
                <a:ea typeface="+mn-ea"/>
              </a:rPr>
              <a:t>2</a:t>
            </a:r>
            <a:r>
              <a:rPr lang="en-US" altLang="zh-CN" b="1" dirty="0">
                <a:latin typeface="+mn-lt"/>
                <a:ea typeface="+mn-ea"/>
              </a:rPr>
              <a:t>=49</a:t>
            </a:r>
            <a:r>
              <a:rPr lang="zh-CN" altLang="en-US" b="1" dirty="0">
                <a:latin typeface="+mn-lt"/>
                <a:ea typeface="+mn-ea"/>
              </a:rPr>
              <a:t>，在它的一个周期内，每个</a:t>
            </a:r>
            <a:r>
              <a:rPr lang="en-US" altLang="zh-CN" b="1" i="1" dirty="0" err="1">
                <a:latin typeface="+mn-lt"/>
                <a:ea typeface="+mn-ea"/>
              </a:rPr>
              <a:t>σ</a:t>
            </a:r>
            <a:r>
              <a:rPr lang="en-US" altLang="zh-CN" b="1" i="1" baseline="-25000" dirty="0" err="1">
                <a:latin typeface="+mn-lt"/>
                <a:ea typeface="+mn-ea"/>
              </a:rPr>
              <a:t>k</a:t>
            </a:r>
            <a:r>
              <a:rPr lang="zh-CN" altLang="en-US" b="1" dirty="0">
                <a:latin typeface="+mn-lt"/>
                <a:ea typeface="+mn-ea"/>
              </a:rPr>
              <a:t>恰好出现</a:t>
            </a:r>
            <a:r>
              <a:rPr lang="en-US" altLang="zh-CN" b="1" dirty="0">
                <a:latin typeface="+mn-lt"/>
                <a:ea typeface="+mn-ea"/>
              </a:rPr>
              <a:t>7</a:t>
            </a:r>
            <a:r>
              <a:rPr lang="zh-CN" altLang="en-US" b="1" dirty="0">
                <a:latin typeface="+mn-lt"/>
                <a:ea typeface="+mn-ea"/>
              </a:rPr>
              <a:t>次</a:t>
            </a:r>
          </a:p>
        </p:txBody>
      </p:sp>
    </p:spTree>
  </p:cSld>
  <p:clrMapOvr>
    <a:masterClrMapping/>
  </p:clrMapOvr>
  <p:transition spd="slow"/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6214C4-1381-4A43-8C4B-7538BF673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r>
              <a:rPr lang="zh-CN" altLang="en-US" b="1" dirty="0"/>
              <a:t>例（续）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337308F7-5E4D-4A2D-9207-8210B47C48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90600" y="1066800"/>
            <a:ext cx="10515600" cy="4578350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zh-CN" altLang="en-US" b="1" dirty="0">
                <a:latin typeface="+mn-lt"/>
              </a:rPr>
              <a:t>设</a:t>
            </a:r>
            <a:r>
              <a:rPr lang="en-US" altLang="zh-CN" b="1" i="1" dirty="0">
                <a:latin typeface="+mn-lt"/>
              </a:rPr>
              <a:t>f</a:t>
            </a:r>
            <a:r>
              <a:rPr lang="en-US" altLang="zh-CN" b="1" baseline="-25000" dirty="0">
                <a:latin typeface="+mn-lt"/>
              </a:rPr>
              <a:t>2</a:t>
            </a:r>
            <a:r>
              <a:rPr lang="en-US" altLang="zh-CN" b="1" dirty="0">
                <a:latin typeface="+mn-lt"/>
              </a:rPr>
              <a:t>(</a:t>
            </a:r>
            <a:r>
              <a:rPr lang="en-US" altLang="zh-CN" b="1" i="1" dirty="0">
                <a:latin typeface="+mn-lt"/>
              </a:rPr>
              <a:t>x</a:t>
            </a:r>
            <a:r>
              <a:rPr lang="en-US" altLang="zh-CN" b="1" dirty="0">
                <a:latin typeface="+mn-lt"/>
              </a:rPr>
              <a:t>)=1+</a:t>
            </a:r>
            <a:r>
              <a:rPr lang="en-US" altLang="zh-CN" b="1" i="1" dirty="0">
                <a:latin typeface="+mn-lt"/>
              </a:rPr>
              <a:t>x</a:t>
            </a:r>
            <a:r>
              <a:rPr lang="en-US" altLang="zh-CN" b="1" baseline="30000" dirty="0">
                <a:latin typeface="+mn-lt"/>
              </a:rPr>
              <a:t>2</a:t>
            </a:r>
            <a:r>
              <a:rPr lang="en-US" altLang="zh-CN" b="1" dirty="0">
                <a:latin typeface="+mn-lt"/>
              </a:rPr>
              <a:t>+</a:t>
            </a:r>
            <a:r>
              <a:rPr lang="en-US" altLang="zh-CN" b="1" i="1" dirty="0">
                <a:latin typeface="+mn-lt"/>
              </a:rPr>
              <a:t>x</a:t>
            </a:r>
            <a:r>
              <a:rPr lang="en-US" altLang="zh-CN" b="1" baseline="30000" dirty="0">
                <a:latin typeface="+mn-lt"/>
              </a:rPr>
              <a:t>3</a:t>
            </a:r>
            <a:r>
              <a:rPr lang="zh-CN" altLang="en-US" b="1" dirty="0">
                <a:latin typeface="+mn-lt"/>
              </a:rPr>
              <a:t>为</a:t>
            </a:r>
            <a:r>
              <a:rPr lang="en-US" altLang="zh-CN" b="1" dirty="0">
                <a:latin typeface="+mn-lt"/>
              </a:rPr>
              <a:t>LFSR2</a:t>
            </a:r>
            <a:r>
              <a:rPr lang="zh-CN" altLang="en-US" b="1" dirty="0">
                <a:latin typeface="+mn-lt"/>
              </a:rPr>
              <a:t>的特征多项式，且初态为</a:t>
            </a:r>
            <a:r>
              <a:rPr lang="en-US" altLang="zh-CN" b="1" i="1" dirty="0">
                <a:latin typeface="+mn-lt"/>
              </a:rPr>
              <a:t>b</a:t>
            </a:r>
            <a:r>
              <a:rPr lang="en-US" altLang="zh-CN" b="1" baseline="-25000" dirty="0">
                <a:latin typeface="+mn-lt"/>
              </a:rPr>
              <a:t>0</a:t>
            </a:r>
            <a:r>
              <a:rPr lang="en-US" altLang="zh-CN" b="1" dirty="0">
                <a:latin typeface="+mn-lt"/>
              </a:rPr>
              <a:t>=</a:t>
            </a:r>
            <a:r>
              <a:rPr lang="en-US" altLang="zh-CN" b="1" i="1" dirty="0">
                <a:latin typeface="+mn-lt"/>
              </a:rPr>
              <a:t>b</a:t>
            </a:r>
            <a:r>
              <a:rPr lang="en-US" altLang="zh-CN" b="1" baseline="-25000" dirty="0">
                <a:latin typeface="+mn-lt"/>
              </a:rPr>
              <a:t>1</a:t>
            </a:r>
            <a:r>
              <a:rPr lang="en-US" altLang="zh-CN" b="1" dirty="0">
                <a:latin typeface="+mn-lt"/>
              </a:rPr>
              <a:t>=</a:t>
            </a:r>
            <a:r>
              <a:rPr lang="en-US" altLang="zh-CN" b="1" i="1" dirty="0">
                <a:latin typeface="+mn-lt"/>
              </a:rPr>
              <a:t>b</a:t>
            </a:r>
            <a:r>
              <a:rPr lang="en-US" altLang="zh-CN" b="1" baseline="-25000" dirty="0">
                <a:latin typeface="+mn-lt"/>
              </a:rPr>
              <a:t>2</a:t>
            </a:r>
            <a:r>
              <a:rPr lang="en-US" altLang="zh-CN" b="1" dirty="0">
                <a:latin typeface="+mn-lt"/>
              </a:rPr>
              <a:t>=1</a:t>
            </a:r>
            <a:r>
              <a:rPr lang="zh-CN" altLang="en-US" b="1" dirty="0">
                <a:latin typeface="+mn-lt"/>
              </a:rPr>
              <a:t>，则</a:t>
            </a:r>
            <a:r>
              <a:rPr lang="en-US" altLang="zh-CN" b="1" dirty="0">
                <a:latin typeface="+mn-lt"/>
              </a:rPr>
              <a:t>{</a:t>
            </a:r>
            <a:r>
              <a:rPr lang="en-US" altLang="zh-CN" b="1" i="1" dirty="0" err="1">
                <a:latin typeface="+mn-lt"/>
              </a:rPr>
              <a:t>b</a:t>
            </a:r>
            <a:r>
              <a:rPr lang="en-US" altLang="zh-CN" b="1" i="1" baseline="-25000" dirty="0" err="1">
                <a:latin typeface="+mn-lt"/>
              </a:rPr>
              <a:t>k</a:t>
            </a:r>
            <a:r>
              <a:rPr lang="en-US" altLang="zh-CN" b="1" dirty="0">
                <a:latin typeface="+mn-lt"/>
              </a:rPr>
              <a:t>}=1,1,1,0,0,1,0,1,1,1…</a:t>
            </a:r>
          </a:p>
          <a:p>
            <a:pPr lvl="1">
              <a:lnSpc>
                <a:spcPct val="120000"/>
              </a:lnSpc>
              <a:defRPr/>
            </a:pPr>
            <a:r>
              <a:rPr lang="zh-CN" altLang="en-US" sz="2400" b="1" dirty="0">
                <a:latin typeface="+mn-lt"/>
              </a:rPr>
              <a:t>由</a:t>
            </a:r>
            <a:r>
              <a:rPr lang="en-US" altLang="zh-CN" sz="2400" b="1" i="1" dirty="0" err="1">
                <a:latin typeface="+mn-lt"/>
              </a:rPr>
              <a:t>σ</a:t>
            </a:r>
            <a:r>
              <a:rPr lang="en-US" altLang="zh-CN" sz="2400" b="1" i="1" baseline="-25000" dirty="0" err="1">
                <a:latin typeface="+mn-lt"/>
              </a:rPr>
              <a:t>k</a:t>
            </a:r>
            <a:r>
              <a:rPr lang="zh-CN" altLang="en-US" sz="2400" b="1" dirty="0">
                <a:latin typeface="+mn-lt"/>
              </a:rPr>
              <a:t>的变化情况得 </a:t>
            </a:r>
            <a:r>
              <a:rPr lang="en-US" altLang="zh-CN" sz="2400" b="1" dirty="0">
                <a:latin typeface="+mn-lt"/>
              </a:rPr>
              <a:t>{</a:t>
            </a:r>
            <a:r>
              <a:rPr lang="en-US" altLang="zh-CN" sz="2400" b="1" i="1" dirty="0" err="1">
                <a:latin typeface="+mn-lt"/>
              </a:rPr>
              <a:t>c</a:t>
            </a:r>
            <a:r>
              <a:rPr lang="en-US" altLang="zh-CN" sz="2400" b="1" i="1" baseline="-25000" dirty="0" err="1">
                <a:latin typeface="+mn-lt"/>
              </a:rPr>
              <a:t>k</a:t>
            </a:r>
            <a:r>
              <a:rPr lang="en-US" altLang="zh-CN" sz="2400" b="1" dirty="0">
                <a:latin typeface="+mn-lt"/>
              </a:rPr>
              <a:t>}=1,1,1,0,0,0,0,0, 1,0,1,1,1,1,1, 1,0,0,0,1,1,1, 0,1,1,1,1,1,1, 0,0,1,1,0,0,0, 1,1,1,1,0,0,0, 0,1,0,0,1,1,…</a:t>
            </a:r>
          </a:p>
          <a:p>
            <a:pPr marL="457200" lvl="1" indent="0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0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1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2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3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3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4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4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4</a:t>
            </a:r>
            <a:r>
              <a:rPr lang="zh-CN" altLang="en-US" sz="2400" b="1" dirty="0">
                <a:latin typeface="+mn-lt"/>
              </a:rPr>
              <a:t>，</a:t>
            </a:r>
          </a:p>
          <a:p>
            <a:pPr lvl="1">
              <a:lnSpc>
                <a:spcPct val="100000"/>
              </a:lnSpc>
              <a:defRPr/>
            </a:pPr>
            <a:r>
              <a:rPr lang="zh-CN" altLang="en-US" sz="2400" b="1" dirty="0">
                <a:latin typeface="+mn-lt"/>
              </a:rPr>
              <a:t>    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5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6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0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0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1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1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1</a:t>
            </a:r>
            <a:r>
              <a:rPr lang="zh-CN" altLang="en-US" sz="2400" b="1" dirty="0">
                <a:latin typeface="+mn-lt"/>
              </a:rPr>
              <a:t>，</a:t>
            </a:r>
          </a:p>
          <a:p>
            <a:pPr lvl="1">
              <a:lnSpc>
                <a:spcPct val="100000"/>
              </a:lnSpc>
              <a:defRPr/>
            </a:pPr>
            <a:r>
              <a:rPr lang="zh-CN" altLang="en-US" sz="2400" b="1" dirty="0">
                <a:latin typeface="+mn-lt"/>
              </a:rPr>
              <a:t>    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2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3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4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4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5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5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5</a:t>
            </a:r>
            <a:r>
              <a:rPr lang="zh-CN" altLang="en-US" sz="2400" b="1" dirty="0">
                <a:latin typeface="+mn-lt"/>
              </a:rPr>
              <a:t>，</a:t>
            </a:r>
          </a:p>
          <a:p>
            <a:pPr lvl="1">
              <a:lnSpc>
                <a:spcPct val="100000"/>
              </a:lnSpc>
              <a:defRPr/>
            </a:pPr>
            <a:r>
              <a:rPr lang="zh-CN" altLang="en-US" sz="2400" b="1" dirty="0">
                <a:latin typeface="+mn-lt"/>
              </a:rPr>
              <a:t>    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6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0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1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1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2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2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2</a:t>
            </a:r>
            <a:r>
              <a:rPr lang="zh-CN" altLang="en-US" sz="2400" b="1" dirty="0">
                <a:latin typeface="+mn-lt"/>
              </a:rPr>
              <a:t>，</a:t>
            </a:r>
          </a:p>
          <a:p>
            <a:pPr lvl="1">
              <a:lnSpc>
                <a:spcPct val="100000"/>
              </a:lnSpc>
              <a:defRPr/>
            </a:pPr>
            <a:r>
              <a:rPr lang="zh-CN" altLang="en-US" sz="2400" b="1" dirty="0">
                <a:latin typeface="+mn-lt"/>
              </a:rPr>
              <a:t>    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0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1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2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2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3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3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3</a:t>
            </a:r>
            <a:r>
              <a:rPr lang="zh-CN" altLang="en-US" sz="2400" b="1" dirty="0">
                <a:latin typeface="+mn-lt"/>
              </a:rPr>
              <a:t>，</a:t>
            </a:r>
          </a:p>
          <a:p>
            <a:pPr lvl="1">
              <a:lnSpc>
                <a:spcPct val="100000"/>
              </a:lnSpc>
              <a:defRPr/>
            </a:pPr>
            <a:r>
              <a:rPr lang="zh-CN" altLang="en-US" sz="2400" b="1" dirty="0">
                <a:latin typeface="+mn-lt"/>
              </a:rPr>
              <a:t>    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4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5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6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6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0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i="1" dirty="0">
                <a:latin typeface="+mn-lt"/>
              </a:rPr>
              <a:t>σ</a:t>
            </a:r>
            <a:r>
              <a:rPr lang="en-US" altLang="zh-CN" sz="2400" b="1" baseline="-25000" dirty="0">
                <a:latin typeface="+mn-lt"/>
              </a:rPr>
              <a:t>0</a:t>
            </a:r>
            <a:r>
              <a:rPr lang="zh-CN" altLang="en-US" sz="2400" b="1" dirty="0">
                <a:latin typeface="+mn-lt"/>
              </a:rPr>
              <a:t>，</a:t>
            </a:r>
            <a:r>
              <a:rPr lang="en-US" altLang="zh-CN" sz="2400" b="1" dirty="0">
                <a:latin typeface="+mn-lt"/>
              </a:rPr>
              <a:t>…</a:t>
            </a:r>
          </a:p>
          <a:p>
            <a:pPr lvl="1">
              <a:lnSpc>
                <a:spcPct val="120000"/>
              </a:lnSpc>
              <a:defRPr/>
            </a:pPr>
            <a:endParaRPr lang="en-US" altLang="zh-CN" sz="2400" b="1" dirty="0">
              <a:latin typeface="+mn-lt"/>
            </a:endParaRPr>
          </a:p>
          <a:p>
            <a:pPr>
              <a:lnSpc>
                <a:spcPct val="120000"/>
              </a:lnSpc>
              <a:defRPr/>
            </a:pPr>
            <a:endParaRPr lang="en-US" altLang="zh-CN" b="1" dirty="0">
              <a:latin typeface="+mn-lt"/>
            </a:endParaRPr>
          </a:p>
        </p:txBody>
      </p:sp>
      <p:sp>
        <p:nvSpPr>
          <p:cNvPr id="250884" name="Rectangle 5">
            <a:extLst>
              <a:ext uri="{FF2B5EF4-FFF2-40B4-BE49-F238E27FC236}">
                <a16:creationId xmlns:a16="http://schemas.microsoft.com/office/drawing/2014/main" id="{78A12426-77EA-440C-9CF4-49980498B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-184150"/>
            <a:ext cx="1841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b="1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50885" name="Rectangle 8">
            <a:extLst>
              <a:ext uri="{FF2B5EF4-FFF2-40B4-BE49-F238E27FC236}">
                <a16:creationId xmlns:a16="http://schemas.microsoft.com/office/drawing/2014/main" id="{C1ED5E05-1161-4F93-9A14-6F3A2CD5F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8388" y="2514600"/>
            <a:ext cx="151130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宋体" panose="02010600030101010101" pitchFamily="2" charset="-122"/>
              </a:rPr>
              <a:t>状态（</a:t>
            </a:r>
            <a:r>
              <a:rPr lang="en-US" altLang="zh-CN" sz="2400" b="1">
                <a:ea typeface="宋体" panose="02010600030101010101" pitchFamily="2" charset="-122"/>
              </a:rPr>
              <a:t>b</a:t>
            </a:r>
            <a:r>
              <a:rPr lang="en-US" altLang="zh-CN" sz="2400" b="1" baseline="-25000">
                <a:ea typeface="宋体" panose="02010600030101010101" pitchFamily="2" charset="-122"/>
              </a:rPr>
              <a:t>3</a:t>
            </a:r>
            <a:r>
              <a:rPr lang="en-US" altLang="zh-CN" sz="2400" b="1">
                <a:ea typeface="宋体" panose="02010600030101010101" pitchFamily="2" charset="-122"/>
              </a:rPr>
              <a:t>,b</a:t>
            </a:r>
            <a:r>
              <a:rPr lang="en-US" altLang="zh-CN" sz="2400" b="1" baseline="-25000">
                <a:ea typeface="宋体" panose="02010600030101010101" pitchFamily="2" charset="-122"/>
              </a:rPr>
              <a:t>2</a:t>
            </a:r>
            <a:r>
              <a:rPr lang="en-US" altLang="zh-CN" sz="2400" b="1">
                <a:ea typeface="宋体" panose="02010600030101010101" pitchFamily="2" charset="-122"/>
              </a:rPr>
              <a:t>,b</a:t>
            </a:r>
            <a:r>
              <a:rPr lang="en-US" altLang="zh-CN" sz="2400" b="1" baseline="-25000">
                <a:ea typeface="宋体" panose="02010600030101010101" pitchFamily="2" charset="-122"/>
              </a:rPr>
              <a:t>1</a:t>
            </a:r>
            <a:r>
              <a:rPr lang="en-US" altLang="zh-CN" sz="2400" b="1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250886" name="Rectangle 9">
            <a:extLst>
              <a:ext uri="{FF2B5EF4-FFF2-40B4-BE49-F238E27FC236}">
                <a16:creationId xmlns:a16="http://schemas.microsoft.com/office/drawing/2014/main" id="{36A8D978-0F38-408F-BB18-4AD590476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2514600"/>
            <a:ext cx="1970088" cy="1162050"/>
          </a:xfrm>
          <a:prstGeom prst="rect">
            <a:avLst/>
          </a:prstGeom>
          <a:noFill/>
          <a:ln w="7">
            <a:solidFill>
              <a:srgbClr val="A0A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400" b="1">
              <a:ea typeface="宋体" panose="02010600030101010101" pitchFamily="2" charset="-122"/>
            </a:endParaRPr>
          </a:p>
        </p:txBody>
      </p:sp>
      <p:sp>
        <p:nvSpPr>
          <p:cNvPr id="250887" name="Rectangle 11">
            <a:extLst>
              <a:ext uri="{FF2B5EF4-FFF2-40B4-BE49-F238E27FC236}">
                <a16:creationId xmlns:a16="http://schemas.microsoft.com/office/drawing/2014/main" id="{36564306-0A1B-40F6-9F66-D96BD04F5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8475" y="2514600"/>
            <a:ext cx="1214438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ea typeface="宋体" panose="02010600030101010101" pitchFamily="2" charset="-122"/>
              </a:rPr>
              <a:t>输出</a:t>
            </a:r>
          </a:p>
        </p:txBody>
      </p:sp>
      <p:sp>
        <p:nvSpPr>
          <p:cNvPr id="250888" name="Rectangle 12">
            <a:extLst>
              <a:ext uri="{FF2B5EF4-FFF2-40B4-BE49-F238E27FC236}">
                <a16:creationId xmlns:a16="http://schemas.microsoft.com/office/drawing/2014/main" id="{D1CF3415-495B-4A19-A901-7F801C9A4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8288" y="2514600"/>
            <a:ext cx="1673225" cy="1162050"/>
          </a:xfrm>
          <a:prstGeom prst="rect">
            <a:avLst/>
          </a:prstGeom>
          <a:noFill/>
          <a:ln w="7">
            <a:solidFill>
              <a:srgbClr val="A0A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400" b="1">
              <a:ea typeface="宋体" panose="02010600030101010101" pitchFamily="2" charset="-122"/>
            </a:endParaRPr>
          </a:p>
        </p:txBody>
      </p:sp>
      <p:sp>
        <p:nvSpPr>
          <p:cNvPr id="250889" name="Rectangle 14">
            <a:extLst>
              <a:ext uri="{FF2B5EF4-FFF2-40B4-BE49-F238E27FC236}">
                <a16:creationId xmlns:a16="http://schemas.microsoft.com/office/drawing/2014/main" id="{E8C40EA4-26AB-4DAC-8F4F-A4243B7C4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3676650"/>
            <a:ext cx="1512888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σ</a:t>
            </a:r>
            <a:r>
              <a:rPr lang="en-US" altLang="zh-CN" sz="2400" b="1" baseline="-25000">
                <a:ea typeface="宋体" panose="02010600030101010101" pitchFamily="2" charset="-122"/>
              </a:rPr>
              <a:t>0  </a:t>
            </a:r>
            <a:r>
              <a:rPr lang="zh-CN" altLang="en-US" sz="2400" b="1">
                <a:ea typeface="宋体" panose="02010600030101010101" pitchFamily="2" charset="-122"/>
              </a:rPr>
              <a:t>1   </a:t>
            </a:r>
            <a:r>
              <a:rPr lang="en-US" altLang="zh-CN" sz="2400" b="1">
                <a:ea typeface="宋体" panose="02010600030101010101" pitchFamily="2" charset="-122"/>
              </a:rPr>
              <a:t>1</a:t>
            </a:r>
            <a:r>
              <a:rPr lang="zh-CN" altLang="en-US" sz="2400" b="1">
                <a:ea typeface="宋体" panose="02010600030101010101" pitchFamily="2" charset="-122"/>
              </a:rPr>
              <a:t>   1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σ</a:t>
            </a:r>
            <a:r>
              <a:rPr lang="en-US" altLang="zh-CN" sz="2400" b="1" baseline="-25000">
                <a:ea typeface="宋体" panose="02010600030101010101" pitchFamily="2" charset="-122"/>
              </a:rPr>
              <a:t>1  </a:t>
            </a:r>
            <a:r>
              <a:rPr lang="en-US" altLang="zh-CN" sz="2400" b="1">
                <a:ea typeface="宋体" panose="02010600030101010101" pitchFamily="2" charset="-122"/>
              </a:rPr>
              <a:t>0</a:t>
            </a:r>
            <a:r>
              <a:rPr lang="zh-CN" altLang="en-US" sz="2400" b="1">
                <a:ea typeface="宋体" panose="02010600030101010101" pitchFamily="2" charset="-122"/>
              </a:rPr>
              <a:t>   1   </a:t>
            </a:r>
            <a:r>
              <a:rPr lang="en-US" altLang="zh-CN" sz="2400" b="1">
                <a:ea typeface="宋体" panose="02010600030101010101" pitchFamily="2" charset="-122"/>
              </a:rPr>
              <a:t>1</a:t>
            </a:r>
            <a:endParaRPr lang="zh-CN" altLang="en-US" sz="2400" b="1"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σ</a:t>
            </a:r>
            <a:r>
              <a:rPr lang="en-US" altLang="zh-CN" sz="2400" b="1" baseline="-25000">
                <a:ea typeface="宋体" panose="02010600030101010101" pitchFamily="2" charset="-122"/>
              </a:rPr>
              <a:t>2  </a:t>
            </a:r>
            <a:r>
              <a:rPr lang="en-US" altLang="zh-CN" sz="2400" b="1">
                <a:ea typeface="宋体" panose="02010600030101010101" pitchFamily="2" charset="-122"/>
              </a:rPr>
              <a:t>0</a:t>
            </a:r>
            <a:r>
              <a:rPr lang="zh-CN" altLang="en-US" sz="2400" b="1">
                <a:ea typeface="宋体" panose="02010600030101010101" pitchFamily="2" charset="-122"/>
              </a:rPr>
              <a:t>   </a:t>
            </a:r>
            <a:r>
              <a:rPr lang="en-US" altLang="zh-CN" sz="2400" b="1">
                <a:ea typeface="宋体" panose="02010600030101010101" pitchFamily="2" charset="-122"/>
              </a:rPr>
              <a:t>0</a:t>
            </a:r>
            <a:r>
              <a:rPr lang="zh-CN" altLang="en-US" sz="2400" b="1">
                <a:ea typeface="宋体" panose="02010600030101010101" pitchFamily="2" charset="-122"/>
              </a:rPr>
              <a:t>   1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σ</a:t>
            </a:r>
            <a:r>
              <a:rPr lang="en-US" altLang="zh-CN" sz="2400" b="1" baseline="-25000">
                <a:ea typeface="宋体" panose="02010600030101010101" pitchFamily="2" charset="-122"/>
              </a:rPr>
              <a:t>3  </a:t>
            </a:r>
            <a:r>
              <a:rPr lang="en-US" altLang="zh-CN" sz="2400" b="1">
                <a:ea typeface="宋体" panose="02010600030101010101" pitchFamily="2" charset="-122"/>
              </a:rPr>
              <a:t>1</a:t>
            </a:r>
            <a:r>
              <a:rPr lang="zh-CN" altLang="en-US" sz="2400" b="1">
                <a:ea typeface="宋体" panose="02010600030101010101" pitchFamily="2" charset="-122"/>
              </a:rPr>
              <a:t>   </a:t>
            </a:r>
            <a:r>
              <a:rPr lang="en-US" altLang="zh-CN" sz="2400" b="1">
                <a:ea typeface="宋体" panose="02010600030101010101" pitchFamily="2" charset="-122"/>
              </a:rPr>
              <a:t>0</a:t>
            </a:r>
            <a:r>
              <a:rPr lang="zh-CN" altLang="en-US" sz="2400" b="1">
                <a:ea typeface="宋体" panose="02010600030101010101" pitchFamily="2" charset="-122"/>
              </a:rPr>
              <a:t>   </a:t>
            </a:r>
            <a:r>
              <a:rPr lang="en-US" altLang="zh-CN" sz="2400" b="1">
                <a:ea typeface="宋体" panose="02010600030101010101" pitchFamily="2" charset="-122"/>
              </a:rPr>
              <a:t>0</a:t>
            </a:r>
            <a:endParaRPr lang="zh-CN" altLang="en-US" sz="2400" b="1"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σ</a:t>
            </a:r>
            <a:r>
              <a:rPr lang="en-US" altLang="zh-CN" sz="2400" b="1" baseline="-25000">
                <a:ea typeface="宋体" panose="02010600030101010101" pitchFamily="2" charset="-122"/>
              </a:rPr>
              <a:t>4  </a:t>
            </a:r>
            <a:r>
              <a:rPr lang="en-US" altLang="zh-CN" sz="2400" b="1">
                <a:ea typeface="宋体" panose="02010600030101010101" pitchFamily="2" charset="-122"/>
              </a:rPr>
              <a:t>0</a:t>
            </a:r>
            <a:r>
              <a:rPr lang="zh-CN" altLang="en-US" sz="2400" b="1">
                <a:ea typeface="宋体" panose="02010600030101010101" pitchFamily="2" charset="-122"/>
              </a:rPr>
              <a:t>   </a:t>
            </a:r>
            <a:r>
              <a:rPr lang="en-US" altLang="zh-CN" sz="2400" b="1">
                <a:ea typeface="宋体" panose="02010600030101010101" pitchFamily="2" charset="-122"/>
              </a:rPr>
              <a:t>1</a:t>
            </a:r>
            <a:r>
              <a:rPr lang="zh-CN" altLang="en-US" sz="2400" b="1">
                <a:ea typeface="宋体" panose="02010600030101010101" pitchFamily="2" charset="-122"/>
              </a:rPr>
              <a:t>   </a:t>
            </a:r>
            <a:r>
              <a:rPr lang="en-US" altLang="zh-CN" sz="2400" b="1">
                <a:ea typeface="宋体" panose="02010600030101010101" pitchFamily="2" charset="-122"/>
              </a:rPr>
              <a:t>0</a:t>
            </a:r>
            <a:endParaRPr lang="zh-CN" altLang="en-US" sz="2400" b="1"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σ</a:t>
            </a:r>
            <a:r>
              <a:rPr lang="en-US" altLang="zh-CN" sz="2400" b="1" baseline="-25000">
                <a:ea typeface="宋体" panose="02010600030101010101" pitchFamily="2" charset="-122"/>
              </a:rPr>
              <a:t>5  </a:t>
            </a:r>
            <a:r>
              <a:rPr lang="en-US" altLang="zh-CN" sz="2400" b="1">
                <a:ea typeface="宋体" panose="02010600030101010101" pitchFamily="2" charset="-122"/>
              </a:rPr>
              <a:t>1   0</a:t>
            </a:r>
            <a:r>
              <a:rPr lang="zh-CN" altLang="en-US" sz="2400" b="1">
                <a:ea typeface="宋体" panose="02010600030101010101" pitchFamily="2" charset="-122"/>
              </a:rPr>
              <a:t>   </a:t>
            </a:r>
            <a:r>
              <a:rPr lang="en-US" altLang="zh-CN" sz="2400" b="1">
                <a:ea typeface="宋体" panose="02010600030101010101" pitchFamily="2" charset="-122"/>
              </a:rPr>
              <a:t>1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 i="1">
                <a:ea typeface="宋体" panose="02010600030101010101" pitchFamily="2" charset="-122"/>
              </a:rPr>
              <a:t>σ</a:t>
            </a:r>
            <a:r>
              <a:rPr lang="en-US" altLang="zh-CN" sz="2400" b="1" baseline="-25000">
                <a:ea typeface="宋体" panose="02010600030101010101" pitchFamily="2" charset="-122"/>
              </a:rPr>
              <a:t>6  </a:t>
            </a:r>
            <a:r>
              <a:rPr lang="en-US" altLang="zh-CN" sz="2400" b="1">
                <a:ea typeface="宋体" panose="02010600030101010101" pitchFamily="2" charset="-122"/>
              </a:rPr>
              <a:t>1   1   0</a:t>
            </a:r>
          </a:p>
        </p:txBody>
      </p:sp>
      <p:sp>
        <p:nvSpPr>
          <p:cNvPr id="250890" name="Rectangle 15">
            <a:extLst>
              <a:ext uri="{FF2B5EF4-FFF2-40B4-BE49-F238E27FC236}">
                <a16:creationId xmlns:a16="http://schemas.microsoft.com/office/drawing/2014/main" id="{4AE8937A-A90C-4943-BDB3-1A85644A1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3676650"/>
            <a:ext cx="1970088" cy="2476500"/>
          </a:xfrm>
          <a:prstGeom prst="rect">
            <a:avLst/>
          </a:prstGeom>
          <a:noFill/>
          <a:ln w="7">
            <a:solidFill>
              <a:srgbClr val="A0A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400" b="1">
              <a:ea typeface="宋体" panose="02010600030101010101" pitchFamily="2" charset="-122"/>
            </a:endParaRPr>
          </a:p>
        </p:txBody>
      </p:sp>
      <p:sp>
        <p:nvSpPr>
          <p:cNvPr id="250891" name="Rectangle 17">
            <a:extLst>
              <a:ext uri="{FF2B5EF4-FFF2-40B4-BE49-F238E27FC236}">
                <a16:creationId xmlns:a16="http://schemas.microsoft.com/office/drawing/2014/main" id="{A8F17DD0-D707-4609-B098-1DC269660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8475" y="3676650"/>
            <a:ext cx="1214438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800000"/>
                </a:solidFill>
                <a:ea typeface="宋体" panose="02010600030101010101" pitchFamily="2" charset="-122"/>
              </a:rPr>
              <a:t>1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800000"/>
                </a:solidFill>
                <a:ea typeface="宋体" panose="02010600030101010101" pitchFamily="2" charset="-122"/>
              </a:rPr>
              <a:t>1</a:t>
            </a:r>
            <a:endParaRPr lang="zh-CN" altLang="en-US" sz="2400" b="1">
              <a:solidFill>
                <a:srgbClr val="800000"/>
              </a:solidFill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800000"/>
                </a:solidFill>
                <a:ea typeface="宋体" panose="02010600030101010101" pitchFamily="2" charset="-122"/>
              </a:rPr>
              <a:t>1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800000"/>
                </a:solidFill>
                <a:ea typeface="宋体" panose="02010600030101010101" pitchFamily="2" charset="-122"/>
              </a:rPr>
              <a:t>0</a:t>
            </a:r>
            <a:endParaRPr lang="zh-CN" altLang="en-US" sz="2400" b="1">
              <a:solidFill>
                <a:srgbClr val="800000"/>
              </a:solidFill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800000"/>
                </a:solidFill>
                <a:ea typeface="宋体" panose="02010600030101010101" pitchFamily="2" charset="-122"/>
              </a:rPr>
              <a:t>0</a:t>
            </a:r>
            <a:endParaRPr lang="zh-CN" altLang="en-US" sz="2400" b="1">
              <a:solidFill>
                <a:srgbClr val="800000"/>
              </a:solidFill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800000"/>
                </a:solidFill>
                <a:ea typeface="宋体" panose="02010600030101010101" pitchFamily="2" charset="-122"/>
              </a:rPr>
              <a:t>1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800000"/>
                </a:solidFill>
                <a:ea typeface="宋体" panose="02010600030101010101" pitchFamily="2" charset="-122"/>
              </a:rPr>
              <a:t>0</a:t>
            </a:r>
            <a:endParaRPr lang="zh-CN" altLang="en-US" sz="2400" b="1">
              <a:solidFill>
                <a:srgbClr val="800000"/>
              </a:solidFill>
              <a:ea typeface="宋体" panose="02010600030101010101" pitchFamily="2" charset="-122"/>
            </a:endParaRPr>
          </a:p>
        </p:txBody>
      </p:sp>
      <p:sp>
        <p:nvSpPr>
          <p:cNvPr id="250892" name="Rectangle 18">
            <a:extLst>
              <a:ext uri="{FF2B5EF4-FFF2-40B4-BE49-F238E27FC236}">
                <a16:creationId xmlns:a16="http://schemas.microsoft.com/office/drawing/2014/main" id="{DFBFC89E-CC99-45D3-8A11-62C2DB89E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8288" y="3676650"/>
            <a:ext cx="1673225" cy="2476500"/>
          </a:xfrm>
          <a:prstGeom prst="rect">
            <a:avLst/>
          </a:prstGeom>
          <a:noFill/>
          <a:ln w="7">
            <a:solidFill>
              <a:srgbClr val="A0A0A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ea typeface="仿宋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2400" b="1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33466B-DFC8-42B8-A004-FBC32D3AA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263" y="365125"/>
            <a:ext cx="9037637" cy="668338"/>
          </a:xfrm>
        </p:spPr>
        <p:txBody>
          <a:bodyPr/>
          <a:lstStyle/>
          <a:p>
            <a:pPr>
              <a:defRPr/>
            </a:pPr>
            <a:endParaRPr lang="zh-CN" altLang="en-US" b="1"/>
          </a:p>
        </p:txBody>
      </p:sp>
      <p:sp>
        <p:nvSpPr>
          <p:cNvPr id="251907" name="内容占位符 2">
            <a:extLst>
              <a:ext uri="{FF2B5EF4-FFF2-40B4-BE49-F238E27FC236}">
                <a16:creationId xmlns:a16="http://schemas.microsoft.com/office/drawing/2014/main" id="{43C30362-43ED-4357-8236-86AB7259F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913" y="1465263"/>
            <a:ext cx="10515600" cy="4579937"/>
          </a:xfrm>
        </p:spPr>
        <p:txBody>
          <a:bodyPr/>
          <a:lstStyle/>
          <a:p>
            <a:pPr marL="228600" lvl="1">
              <a:lnSpc>
                <a:spcPct val="130000"/>
              </a:lnSpc>
              <a:spcBef>
                <a:spcPts val="1000"/>
              </a:spcBef>
            </a:pPr>
            <a:r>
              <a:rPr lang="en-US" altLang="zh-CN" sz="2400" b="1">
                <a:latin typeface="Times New Roman" panose="02020603050405020304" pitchFamily="18" charset="0"/>
              </a:rPr>
              <a:t>{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}</a:t>
            </a:r>
            <a:r>
              <a:rPr lang="zh-CN" altLang="en-US" sz="2400" b="1">
                <a:latin typeface="Times New Roman" panose="02020603050405020304" pitchFamily="18" charset="0"/>
              </a:rPr>
              <a:t>的极小特征多项式为</a:t>
            </a:r>
            <a:r>
              <a:rPr lang="en-US" altLang="zh-CN" sz="2400" b="1">
                <a:latin typeface="Times New Roman" panose="02020603050405020304" pitchFamily="18" charset="0"/>
              </a:rPr>
              <a:t>1+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14</a:t>
            </a:r>
            <a:r>
              <a:rPr lang="en-US" altLang="zh-CN" sz="2400" b="1">
                <a:latin typeface="Times New Roman" panose="02020603050405020304" pitchFamily="18" charset="0"/>
              </a:rPr>
              <a:t>+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21</a:t>
            </a:r>
            <a:r>
              <a:rPr lang="zh-CN" altLang="en-US" sz="2400" b="1">
                <a:latin typeface="Times New Roman" panose="02020603050405020304" pitchFamily="18" charset="0"/>
              </a:rPr>
              <a:t>，其线性复杂度为</a:t>
            </a:r>
            <a:r>
              <a:rPr lang="en-US" altLang="zh-CN" sz="2400" b="1">
                <a:latin typeface="Times New Roman" panose="02020603050405020304" pitchFamily="18" charset="0"/>
              </a:rPr>
              <a:t>3·(2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</a:rPr>
              <a:t>-1)=21</a:t>
            </a:r>
            <a:r>
              <a:rPr lang="zh-CN" altLang="en-US" sz="2400" b="1">
                <a:latin typeface="Times New Roman" panose="02020603050405020304" pitchFamily="18" charset="0"/>
              </a:rPr>
              <a:t>，下图是其线性等价生成器。</a:t>
            </a:r>
          </a:p>
          <a:p>
            <a:endParaRPr lang="zh-CN" altLang="en-US" b="1"/>
          </a:p>
        </p:txBody>
      </p:sp>
      <p:graphicFrame>
        <p:nvGraphicFramePr>
          <p:cNvPr id="251908" name="Object 4">
            <a:extLst>
              <a:ext uri="{FF2B5EF4-FFF2-40B4-BE49-F238E27FC236}">
                <a16:creationId xmlns:a16="http://schemas.microsoft.com/office/drawing/2014/main" id="{15893B5B-8996-4FEA-BE0C-AD0417E3F7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2362200"/>
          <a:ext cx="7558088" cy="216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1960" name="Visio" r:id="rId3" imgW="4180332" imgH="1202436" progId="Visio.Drawing.11">
                  <p:embed/>
                </p:oleObj>
              </mc:Choice>
              <mc:Fallback>
                <p:oleObj name="Visio" r:id="rId3" imgW="4180332" imgH="1202436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2362200"/>
                        <a:ext cx="7558088" cy="216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95DB22A1-EF71-4ED8-BE41-E064253E2EF9}"/>
              </a:ext>
            </a:extLst>
          </p:cNvPr>
          <p:cNvSpPr/>
          <p:nvPr/>
        </p:nvSpPr>
        <p:spPr>
          <a:xfrm>
            <a:off x="2783632" y="2492896"/>
            <a:ext cx="7049526" cy="175432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感 谢 聆 听！</a:t>
            </a:r>
            <a:endParaRPr lang="en-US" altLang="zh-CN" sz="54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>
              <a:defRPr/>
            </a:pPr>
            <a:endParaRPr lang="zh-CN" altLang="en-US" sz="54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Calibri Light"/>
        <a:ea typeface="仿宋"/>
        <a:cs typeface=""/>
      </a:majorFont>
      <a:minorFont>
        <a:latin typeface="Times New Roman"/>
        <a:ea typeface="仿宋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Calibri Light"/>
        <a:ea typeface="仿宋"/>
        <a:cs typeface=""/>
      </a:majorFont>
      <a:minorFont>
        <a:latin typeface="Times New Roman"/>
        <a:ea typeface="仿宋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12571</TotalTime>
  <Words>11577</Words>
  <Application>Microsoft Office PowerPoint</Application>
  <PresentationFormat>宽屏</PresentationFormat>
  <Paragraphs>1034</Paragraphs>
  <Slides>127</Slides>
  <Notes>95</Notes>
  <HiddenSlides>1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127</vt:i4>
      </vt:variant>
    </vt:vector>
  </HeadingPairs>
  <TitlesOfParts>
    <vt:vector size="154" baseType="lpstr">
      <vt:lpstr>仿宋</vt:lpstr>
      <vt:lpstr>黑体</vt:lpstr>
      <vt:lpstr>华文中宋</vt:lpstr>
      <vt:lpstr>楷体_GB2312</vt:lpstr>
      <vt:lpstr>宋体</vt:lpstr>
      <vt:lpstr>Arial</vt:lpstr>
      <vt:lpstr>Calibri</vt:lpstr>
      <vt:lpstr>Calibri Light</vt:lpstr>
      <vt:lpstr>Cambria Math</vt:lpstr>
      <vt:lpstr>Comic Sans MS</vt:lpstr>
      <vt:lpstr>Courier New</vt:lpstr>
      <vt:lpstr>MT Extra</vt:lpstr>
      <vt:lpstr>Symbol</vt:lpstr>
      <vt:lpstr>Tahoma</vt:lpstr>
      <vt:lpstr>Times New Roman</vt:lpstr>
      <vt:lpstr>Verdana</vt:lpstr>
      <vt:lpstr>Wingdings</vt:lpstr>
      <vt:lpstr>1_Office 主题</vt:lpstr>
      <vt:lpstr>2_Office 主题</vt:lpstr>
      <vt:lpstr>Formula</vt:lpstr>
      <vt:lpstr>Visio</vt:lpstr>
      <vt:lpstr>Visio.Drawing.4</vt:lpstr>
      <vt:lpstr>Equation</vt:lpstr>
      <vt:lpstr>Equation.DSMT4</vt:lpstr>
      <vt:lpstr>Equation.3</vt:lpstr>
      <vt:lpstr>Equation.Ribbit</vt:lpstr>
      <vt:lpstr>Document</vt:lpstr>
      <vt:lpstr>PowerPoint 演示文稿</vt:lpstr>
      <vt:lpstr>PowerPoint 演示文稿</vt:lpstr>
      <vt:lpstr>流密码的基本概念</vt:lpstr>
      <vt:lpstr>一次一密密码 </vt:lpstr>
      <vt:lpstr>一次一密密码 </vt:lpstr>
      <vt:lpstr>一次一密密码的特点</vt:lpstr>
      <vt:lpstr>流密码的基本概念</vt:lpstr>
      <vt:lpstr>流密码概况</vt:lpstr>
      <vt:lpstr>流密码的基本思想</vt:lpstr>
      <vt:lpstr>PowerPoint 演示文稿</vt:lpstr>
      <vt:lpstr>流密码的基本概念</vt:lpstr>
      <vt:lpstr>同步流密码</vt:lpstr>
      <vt:lpstr>同步流密码</vt:lpstr>
      <vt:lpstr>同步流密码体制模型</vt:lpstr>
      <vt:lpstr>输出反馈OFB(Output Feedback)模式</vt:lpstr>
      <vt:lpstr>CFB的加密解密</vt:lpstr>
      <vt:lpstr>加法流密码体制模型</vt:lpstr>
      <vt:lpstr>流密码的需求</vt:lpstr>
      <vt:lpstr>流密码的需求</vt:lpstr>
      <vt:lpstr>PowerPoint 演示文稿</vt:lpstr>
      <vt:lpstr>二元序列的伪随机性</vt:lpstr>
      <vt:lpstr>二元序列的伪随机性</vt:lpstr>
      <vt:lpstr>二元序列的伪随机性</vt:lpstr>
      <vt:lpstr>二元序列的伪随机性</vt:lpstr>
      <vt:lpstr>二元序列的伪随机性</vt:lpstr>
      <vt:lpstr>周期的性质</vt:lpstr>
      <vt:lpstr>周期的性质</vt:lpstr>
      <vt:lpstr>游程的定义</vt:lpstr>
      <vt:lpstr>游程的例子</vt:lpstr>
      <vt:lpstr>自相关函数</vt:lpstr>
      <vt:lpstr>二元序列的随机性</vt:lpstr>
      <vt:lpstr>Golomb伪随机公设</vt:lpstr>
      <vt:lpstr>Golomb伪随机公设</vt:lpstr>
      <vt:lpstr>Golomb伪随机公设</vt:lpstr>
      <vt:lpstr>伪随机序列的定义</vt:lpstr>
      <vt:lpstr>PowerPoint 演示文稿</vt:lpstr>
      <vt:lpstr>PowerPoint 演示文稿</vt:lpstr>
      <vt:lpstr>线性反馈移位寄存器</vt:lpstr>
      <vt:lpstr>反馈移位寄存器</vt:lpstr>
      <vt:lpstr>反馈移位寄存器的状态</vt:lpstr>
      <vt:lpstr>反馈函数</vt:lpstr>
      <vt:lpstr>反馈移位寄存器的例子</vt:lpstr>
      <vt:lpstr>线性反馈移位寄存器</vt:lpstr>
      <vt:lpstr>线性反馈移位寄存器LFSR（linear feedback shift register）</vt:lpstr>
      <vt:lpstr>LFSR的反馈函数</vt:lpstr>
      <vt:lpstr>LFER的实例</vt:lpstr>
      <vt:lpstr>密钥流的周期</vt:lpstr>
      <vt:lpstr>LFSR的性质</vt:lpstr>
      <vt:lpstr>PowerPoint 演示文稿</vt:lpstr>
      <vt:lpstr>LFSR的性质</vt:lpstr>
      <vt:lpstr>PowerPoint 演示文稿</vt:lpstr>
      <vt:lpstr>线性移位寄存器的一元多项式表示</vt:lpstr>
      <vt:lpstr>关于特征多项式的解释</vt:lpstr>
      <vt:lpstr>生成函数</vt:lpstr>
      <vt:lpstr>定义G(p(x))</vt:lpstr>
      <vt:lpstr>PowerPoint 演示文稿</vt:lpstr>
      <vt:lpstr>定理3.1的证明</vt:lpstr>
      <vt:lpstr>定理3.1的证明</vt:lpstr>
      <vt:lpstr>定理3.1的证明</vt:lpstr>
      <vt:lpstr>定理3.1的证明</vt:lpstr>
      <vt:lpstr>PowerPoint 演示文稿</vt:lpstr>
      <vt:lpstr>一些定理和定义</vt:lpstr>
      <vt:lpstr>定理3.2证明</vt:lpstr>
      <vt:lpstr>定理3.2证明</vt:lpstr>
      <vt:lpstr>一些定理和定义</vt:lpstr>
      <vt:lpstr>一些定理和定义</vt:lpstr>
      <vt:lpstr>定理3.3 若序列{ai}的特征多项式p(x)定义在GF(2)上，p是p(x)的周期，则{ai}的周期r|p。</vt:lpstr>
      <vt:lpstr>定理3.3 若序列{ai}的特征多项式p(x)定义在GF(2)上，p是p(x)的周期，则{ai}的周期r|p。</vt:lpstr>
      <vt:lpstr>定理3.3 若序列{ai}的特征多项式p(x)定义在GF(2)上，p是p(x)的周期，则{ai}的周期r|p。</vt:lpstr>
      <vt:lpstr>定理3.3 若序列{ai}的特征多项式p(x)定义在GF(2)上，p是p(x)的周期，则{ai}的周期r|p。</vt:lpstr>
      <vt:lpstr>不可约多项式</vt:lpstr>
      <vt:lpstr>不可约多项式</vt:lpstr>
      <vt:lpstr>不可约多项式</vt:lpstr>
      <vt:lpstr>不可约多项式</vt:lpstr>
      <vt:lpstr>PowerPoint 演示文稿</vt:lpstr>
      <vt:lpstr>m-序列产生的必要条件</vt:lpstr>
      <vt:lpstr>m-序列产生的必要条件</vt:lpstr>
      <vt:lpstr>m-序列产生的必要条件</vt:lpstr>
      <vt:lpstr>定理3.5 的反例</vt:lpstr>
      <vt:lpstr>m-序列产生的充要条件</vt:lpstr>
      <vt:lpstr>m-序列举例</vt:lpstr>
      <vt:lpstr>总结-1</vt:lpstr>
      <vt:lpstr>总结-2</vt:lpstr>
      <vt:lpstr>随机序列的一般特性</vt:lpstr>
      <vt:lpstr>Golomb伪随机公设</vt:lpstr>
      <vt:lpstr>m序列的随机性</vt:lpstr>
      <vt:lpstr>定理3.7的证明</vt:lpstr>
      <vt:lpstr>定理3.7的证明（续）</vt:lpstr>
      <vt:lpstr>定理3.7的证明（续）</vt:lpstr>
      <vt:lpstr>定理3.7的证明（续）</vt:lpstr>
      <vt:lpstr>定理3.7的证明（续）</vt:lpstr>
      <vt:lpstr>PowerPoint 演示文稿</vt:lpstr>
      <vt:lpstr>m-序列的安全性</vt:lpstr>
      <vt:lpstr>m-序列的安全性</vt:lpstr>
      <vt:lpstr>PowerPoint 演示文稿</vt:lpstr>
      <vt:lpstr>PowerPoint 演示文稿</vt:lpstr>
      <vt:lpstr>PowerPoint 演示文稿</vt:lpstr>
      <vt:lpstr>PowerPoint 演示文稿</vt:lpstr>
      <vt:lpstr>m-序列的安全性</vt:lpstr>
      <vt:lpstr>线性反馈移位寄存器综合</vt:lpstr>
      <vt:lpstr>线性综合解</vt:lpstr>
      <vt:lpstr>线性移位寄存器的综合问题</vt:lpstr>
      <vt:lpstr>Berlekamp-Massey算法（B-M算法）</vt:lpstr>
      <vt:lpstr>B-M算法（续）</vt:lpstr>
      <vt:lpstr>B-M算法（续）</vt:lpstr>
      <vt:lpstr>B-M算法举例 </vt:lpstr>
      <vt:lpstr>PowerPoint 演示文稿</vt:lpstr>
      <vt:lpstr>非线性序列</vt:lpstr>
      <vt:lpstr>非线性序列</vt:lpstr>
      <vt:lpstr>PowerPoint 演示文稿</vt:lpstr>
      <vt:lpstr>Geffe序列生成器（续）</vt:lpstr>
      <vt:lpstr>非线性序列</vt:lpstr>
      <vt:lpstr>J-K触发器</vt:lpstr>
      <vt:lpstr>利用J-K触发器的非线性序列生成器</vt:lpstr>
      <vt:lpstr>利用J-K触发器的非线性序列生成器的实例</vt:lpstr>
      <vt:lpstr>弱点</vt:lpstr>
      <vt:lpstr>非线性序列</vt:lpstr>
      <vt:lpstr>Pless生成器</vt:lpstr>
      <vt:lpstr>非线性序列</vt:lpstr>
      <vt:lpstr>钟控序列生成器模型</vt:lpstr>
      <vt:lpstr>钟控序列的周期</vt:lpstr>
      <vt:lpstr>钟控序列的周期（续）</vt:lpstr>
      <vt:lpstr>钟控序列的线性复杂度</vt:lpstr>
      <vt:lpstr>钟控序列的例子</vt:lpstr>
      <vt:lpstr>例（续）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liaoyj</cp:lastModifiedBy>
  <cp:revision>361</cp:revision>
  <cp:lastPrinted>1601-01-01T00:00:00Z</cp:lastPrinted>
  <dcterms:created xsi:type="dcterms:W3CDTF">1601-01-01T00:00:00Z</dcterms:created>
  <dcterms:modified xsi:type="dcterms:W3CDTF">2025-03-26T09:06:34Z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