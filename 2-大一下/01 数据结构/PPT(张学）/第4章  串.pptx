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0" r:id="rId1"/>
  </p:sldMasterIdLst>
  <p:notesMasterIdLst>
    <p:notesMasterId r:id="rId36"/>
  </p:notesMasterIdLst>
  <p:handoutMasterIdLst>
    <p:handoutMasterId r:id="rId37"/>
  </p:handoutMasterIdLst>
  <p:sldIdLst>
    <p:sldId id="263" r:id="rId2"/>
    <p:sldId id="266" r:id="rId3"/>
    <p:sldId id="267" r:id="rId4"/>
    <p:sldId id="271" r:id="rId5"/>
    <p:sldId id="270" r:id="rId6"/>
    <p:sldId id="268" r:id="rId7"/>
    <p:sldId id="272" r:id="rId8"/>
    <p:sldId id="276" r:id="rId9"/>
    <p:sldId id="277" r:id="rId10"/>
    <p:sldId id="278" r:id="rId11"/>
    <p:sldId id="275" r:id="rId12"/>
    <p:sldId id="279" r:id="rId13"/>
    <p:sldId id="280" r:id="rId14"/>
    <p:sldId id="281" r:id="rId15"/>
    <p:sldId id="282" r:id="rId16"/>
    <p:sldId id="283" r:id="rId17"/>
    <p:sldId id="284" r:id="rId18"/>
    <p:sldId id="286" r:id="rId19"/>
    <p:sldId id="285" r:id="rId20"/>
    <p:sldId id="287" r:id="rId21"/>
    <p:sldId id="299" r:id="rId22"/>
    <p:sldId id="288" r:id="rId23"/>
    <p:sldId id="289" r:id="rId24"/>
    <p:sldId id="290" r:id="rId25"/>
    <p:sldId id="291" r:id="rId26"/>
    <p:sldId id="301" r:id="rId27"/>
    <p:sldId id="302" r:id="rId28"/>
    <p:sldId id="292" r:id="rId29"/>
    <p:sldId id="293" r:id="rId30"/>
    <p:sldId id="295" r:id="rId31"/>
    <p:sldId id="296" r:id="rId32"/>
    <p:sldId id="297" r:id="rId33"/>
    <p:sldId id="298" r:id="rId34"/>
    <p:sldId id="300" r:id="rId35"/>
  </p:sldIdLst>
  <p:sldSz cx="12192000" cy="6858000"/>
  <p:notesSz cx="6797675" cy="992822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000066"/>
    <a:srgbClr val="FFFFCC"/>
    <a:srgbClr val="990033"/>
    <a:srgbClr val="660033"/>
    <a:srgbClr val="C6A02E"/>
    <a:srgbClr val="B82F25"/>
    <a:srgbClr val="6DBFAB"/>
    <a:srgbClr val="FF7706"/>
    <a:srgbClr val="FFAB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24" autoAdjust="0"/>
    <p:restoredTop sz="94660"/>
  </p:normalViewPr>
  <p:slideViewPr>
    <p:cSldViewPr>
      <p:cViewPr varScale="1">
        <p:scale>
          <a:sx n="85" d="100"/>
          <a:sy n="85" d="100"/>
        </p:scale>
        <p:origin x="542" y="5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46"/>
    </p:cViewPr>
  </p:sorterViewPr>
  <p:notesViewPr>
    <p:cSldViewPr>
      <p:cViewPr varScale="1">
        <p:scale>
          <a:sx n="39" d="100"/>
          <a:sy n="39" d="100"/>
        </p:scale>
        <p:origin x="2386" y="62"/>
      </p:cViewPr>
      <p:guideLst>
        <p:guide orient="horz" pos="3126"/>
        <p:guide pos="214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38F26BC-7BC4-4E81-856A-C803AC3A2F6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122" cy="49743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D66C85D-8214-4E69-93B1-C7927D703D5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011" y="0"/>
            <a:ext cx="2946122" cy="49743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16664E-1BF0-46AE-AAC0-8104A4986E05}" type="datetimeFigureOut">
              <a:rPr lang="zh-CN" altLang="en-US" smtClean="0"/>
              <a:t>2025/4/9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6825ABF-C6A2-43A4-994B-70B5FF6833C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30796"/>
            <a:ext cx="2946122" cy="49742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7813771-266C-4568-83F5-7D86B4D52A1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011" y="9430796"/>
            <a:ext cx="2946122" cy="49742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3C5DD2-4AED-427E-8312-F2C1EDAA2E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8127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122" cy="4957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013" tIns="46506" rIns="93013" bIns="46506" numCol="1" anchor="t" anchorCtr="0" compatLnSpc="1">
            <a:prstTxWarp prst="textNoShape">
              <a:avLst/>
            </a:prstTxWarp>
          </a:bodyPr>
          <a:lstStyle>
            <a:lvl1pPr defTabSz="930275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554" y="0"/>
            <a:ext cx="2946122" cy="4957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013" tIns="46506" rIns="93013" bIns="46506" numCol="1" anchor="t" anchorCtr="0" compatLnSpc="1">
            <a:prstTxWarp prst="textNoShape">
              <a:avLst/>
            </a:prstTxWarp>
          </a:bodyPr>
          <a:lstStyle>
            <a:lvl1pPr algn="r" defTabSz="930275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78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" y="744538"/>
            <a:ext cx="6616700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974" y="4714549"/>
            <a:ext cx="4983728" cy="446838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013" tIns="46506" rIns="93013" bIns="4650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0"/>
            <a:r>
              <a:rPr lang="en-US" noProof="0"/>
              <a:t>Second level</a:t>
            </a:r>
          </a:p>
          <a:p>
            <a:pPr lvl="0"/>
            <a:r>
              <a:rPr lang="en-US" noProof="0"/>
              <a:t>Third level</a:t>
            </a:r>
          </a:p>
          <a:p>
            <a:pPr lvl="0"/>
            <a:r>
              <a:rPr lang="en-US" noProof="0"/>
              <a:t>Fourth level</a:t>
            </a:r>
          </a:p>
          <a:p>
            <a:pPr lvl="0"/>
            <a:r>
              <a:rPr lang="en-US" noProof="0"/>
              <a:t>Fifth level</a:t>
            </a:r>
          </a:p>
        </p:txBody>
      </p:sp>
      <p:sp>
        <p:nvSpPr>
          <p:cNvPr id="122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2493"/>
            <a:ext cx="2946122" cy="4957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013" tIns="46506" rIns="93013" bIns="46506" numCol="1" anchor="b" anchorCtr="0" compatLnSpc="1">
            <a:prstTxWarp prst="textNoShape">
              <a:avLst/>
            </a:prstTxWarp>
          </a:bodyPr>
          <a:lstStyle>
            <a:lvl1pPr defTabSz="930275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22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554" y="9432493"/>
            <a:ext cx="2946122" cy="4957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013" tIns="46506" rIns="93013" bIns="46506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/>
            </a:lvl1pPr>
          </a:lstStyle>
          <a:p>
            <a:fld id="{B90D6BE3-42E0-4DA5-B156-66EF77FDC71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190567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7756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sz="6000" b="1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 sz="4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885330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38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 b="1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04800" y="1371600"/>
            <a:ext cx="11582400" cy="5181600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lnSpc>
                <a:spcPct val="125000"/>
              </a:lnSpc>
              <a:spcBef>
                <a:spcPts val="0"/>
              </a:spcBef>
              <a:buSzPct val="60000"/>
              <a:buFont typeface="Wingdings" panose="05000000000000000000" pitchFamily="2" charset="2"/>
              <a:buChar char="u"/>
              <a:defRPr sz="32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085850" indent="-228600">
              <a:lnSpc>
                <a:spcPct val="120000"/>
              </a:lnSpc>
              <a:spcBef>
                <a:spcPts val="0"/>
              </a:spcBef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Ø"/>
              <a:defRPr sz="32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50000"/>
              </a:lnSpc>
              <a:spcBef>
                <a:spcPts val="600"/>
              </a:spcBef>
              <a:defRPr b="1">
                <a:solidFill>
                  <a:schemeClr val="accent6">
                    <a:lumMod val="75000"/>
                  </a:schemeClr>
                </a:solidFill>
              </a:defRPr>
            </a:lvl4pPr>
            <a:lvl5pPr>
              <a:lnSpc>
                <a:spcPct val="150000"/>
              </a:lnSpc>
              <a:spcBef>
                <a:spcPts val="600"/>
              </a:spcBef>
              <a:defRPr b="1">
                <a:solidFill>
                  <a:schemeClr val="accent6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69332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>
        <p:tmplLst>
          <p:tmpl lvl="1">
            <p:tnLst>
              <p:par>
                <p:cTn presetID="2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 b="1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04800" y="1524000"/>
            <a:ext cx="5689600" cy="4800600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600"/>
              </a:spcBef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lnSpc>
                <a:spcPct val="125000"/>
              </a:lnSpc>
              <a:spcBef>
                <a:spcPts val="0"/>
              </a:spcBef>
              <a:buSzPct val="60000"/>
              <a:buFont typeface="Wingdings" panose="05000000000000000000" pitchFamily="2" charset="2"/>
              <a:buChar char="u"/>
              <a:defRPr sz="32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50000"/>
              </a:lnSpc>
              <a:spcBef>
                <a:spcPts val="600"/>
              </a:spcBef>
              <a:defRPr sz="2000" b="1">
                <a:solidFill>
                  <a:srgbClr val="000066"/>
                </a:solidFill>
              </a:defRPr>
            </a:lvl3pPr>
            <a:lvl4pPr>
              <a:lnSpc>
                <a:spcPct val="150000"/>
              </a:lnSpc>
              <a:spcBef>
                <a:spcPts val="600"/>
              </a:spcBef>
              <a:defRPr sz="1800" b="1">
                <a:solidFill>
                  <a:schemeClr val="accent6">
                    <a:lumMod val="75000"/>
                  </a:schemeClr>
                </a:solidFill>
              </a:defRPr>
            </a:lvl4pPr>
            <a:lvl5pPr>
              <a:lnSpc>
                <a:spcPct val="150000"/>
              </a:lnSpc>
              <a:spcBef>
                <a:spcPts val="600"/>
              </a:spcBef>
              <a:defRPr sz="1800" b="1">
                <a:solidFill>
                  <a:schemeClr val="accent6">
                    <a:lumMod val="75000"/>
                  </a:schemeClr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97600" y="1524000"/>
            <a:ext cx="5689600" cy="480060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342900" indent="-34290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n"/>
              <a:defRPr lang="en-US" sz="3200" b="1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lnSpc>
                <a:spcPct val="125000"/>
              </a:lnSpc>
              <a:spcBef>
                <a:spcPts val="0"/>
              </a:spcBef>
              <a:buSzPct val="60000"/>
              <a:buFont typeface="Wingdings" panose="05000000000000000000" pitchFamily="2" charset="2"/>
              <a:buChar char="u"/>
              <a:defRPr lang="en-US" sz="3200" b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lang="en-US" b="1" smtClean="0">
                <a:solidFill>
                  <a:srgbClr val="000066"/>
                </a:solidFill>
              </a:defRPr>
            </a:lvl3pPr>
            <a:lvl4pPr>
              <a:defRPr lang="en-US" sz="1800" b="1" smtClean="0">
                <a:solidFill>
                  <a:schemeClr val="accent6">
                    <a:lumMod val="75000"/>
                  </a:schemeClr>
                </a:solidFill>
              </a:defRPr>
            </a:lvl4pPr>
            <a:lvl5pPr>
              <a:defRPr lang="en-US" sz="1800" b="1">
                <a:solidFill>
                  <a:schemeClr val="accent6">
                    <a:lumMod val="75000"/>
                  </a:schemeClr>
                </a:solidFill>
              </a:defRPr>
            </a:lvl5pPr>
          </a:lstStyle>
          <a:p>
            <a:pPr lvl="0">
              <a:lnSpc>
                <a:spcPct val="150000"/>
              </a:lnSpc>
              <a:spcBef>
                <a:spcPts val="600"/>
              </a:spcBef>
            </a:pPr>
            <a:r>
              <a:rPr lang="en-US" dirty="0"/>
              <a:t>Click to edit Master text styles</a:t>
            </a: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en-US" dirty="0"/>
              <a:t>Second level</a:t>
            </a:r>
          </a:p>
          <a:p>
            <a:pPr lvl="2">
              <a:lnSpc>
                <a:spcPct val="150000"/>
              </a:lnSpc>
              <a:spcBef>
                <a:spcPts val="600"/>
              </a:spcBef>
            </a:pPr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724165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4" grpId="0" build="p" bldLvl="2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6259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6800" y="762000"/>
            <a:ext cx="2590800" cy="5562600"/>
          </a:xfrm>
        </p:spPr>
        <p:txBody>
          <a:bodyPr vert="eaVert"/>
          <a:lstStyle>
            <a:lvl1pPr>
              <a:defRPr>
                <a:solidFill>
                  <a:srgbClr val="99003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914400" y="762000"/>
            <a:ext cx="7569200" cy="5562600"/>
          </a:xfrm>
        </p:spPr>
        <p:txBody>
          <a:bodyPr vert="eaVert"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401390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>
        <p:tmplLst>
          <p:tmpl lvl="1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200238" cy="6865023"/>
          </a:xfrm>
          <a:prstGeom prst="rect">
            <a:avLst/>
          </a:prstGeom>
        </p:spPr>
      </p:pic>
      <p:sp>
        <p:nvSpPr>
          <p:cNvPr id="1028" name="Rectangle 2"/>
          <p:cNvSpPr>
            <a:spLocks noGrp="1" noChangeArrowheads="1"/>
          </p:cNvSpPr>
          <p:nvPr userDrawn="1">
            <p:ph type="title"/>
          </p:nvPr>
        </p:nvSpPr>
        <p:spPr bwMode="auto">
          <a:xfrm>
            <a:off x="914400" y="533400"/>
            <a:ext cx="103632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1029" name="Rectangle 3"/>
          <p:cNvSpPr>
            <a:spLocks noGrp="1" noChangeArrowheads="1"/>
          </p:cNvSpPr>
          <p:nvPr userDrawn="1">
            <p:ph type="body" idx="1"/>
          </p:nvPr>
        </p:nvSpPr>
        <p:spPr bwMode="auto">
          <a:xfrm>
            <a:off x="304800" y="1371600"/>
            <a:ext cx="11480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>
              <a:lnSpc>
                <a:spcPct val="150000"/>
              </a:lnSpc>
              <a:spcBef>
                <a:spcPts val="600"/>
              </a:spcBef>
            </a:pPr>
            <a:r>
              <a:rPr lang="en-US" altLang="zh-CN" dirty="0"/>
              <a:t> Click to edit Master text styles</a:t>
            </a: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en-US" altLang="zh-CN" dirty="0"/>
              <a:t>Second level</a:t>
            </a:r>
          </a:p>
          <a:p>
            <a:pPr lvl="2">
              <a:lnSpc>
                <a:spcPct val="150000"/>
              </a:lnSpc>
              <a:spcBef>
                <a:spcPts val="600"/>
              </a:spcBef>
            </a:pPr>
            <a:r>
              <a:rPr lang="en-US" altLang="zh-CN" dirty="0"/>
              <a:t>Third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47" r:id="rId1"/>
    <p:sldLayoutId id="2147484048" r:id="rId2"/>
    <p:sldLayoutId id="2147484050" r:id="rId3"/>
    <p:sldLayoutId id="2147484053" r:id="rId4"/>
    <p:sldLayoutId id="2147484057" r:id="rId5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990033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B82F25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B82F25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B82F25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B82F25"/>
          </a:solidFill>
          <a:latin typeface="Arial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7706"/>
          </a:solidFill>
          <a:latin typeface="Arial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7706"/>
          </a:solidFill>
          <a:latin typeface="Arial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7706"/>
          </a:solidFill>
          <a:latin typeface="Arial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7706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SzPct val="80000"/>
        <a:buFont typeface="Times New Roman" panose="02020603050405020304" pitchFamily="18" charset="0"/>
        <a:buChar char="☺"/>
        <a:defRPr lang="en-US" altLang="zh-CN" sz="2600" b="1" baseline="0" dirty="0" smtClean="0">
          <a:solidFill>
            <a:srgbClr val="000066"/>
          </a:solidFill>
          <a:latin typeface="+mn-ea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SzPct val="80000"/>
        <a:buFont typeface="Times New Roman" panose="02020603050405020304" pitchFamily="18" charset="0"/>
        <a:buChar char="♫"/>
        <a:defRPr lang="en-US" altLang="zh-CN" sz="2400" b="1" dirty="0" smtClean="0">
          <a:solidFill>
            <a:srgbClr val="000066"/>
          </a:solidFill>
          <a:latin typeface="+mn-ea"/>
          <a:ea typeface="+mn-ea"/>
        </a:defRPr>
      </a:lvl2pPr>
      <a:lvl3pPr marL="1085850" indent="-2286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SzPct val="80000"/>
        <a:buFont typeface="Wingdings" panose="05000000000000000000" pitchFamily="2" charset="2"/>
        <a:buChar char="Ø"/>
        <a:defRPr lang="en-US" altLang="zh-CN" sz="2200" b="1" dirty="0" smtClean="0">
          <a:solidFill>
            <a:srgbClr val="000066"/>
          </a:solidFill>
          <a:latin typeface="+mn-lt"/>
        </a:defRPr>
      </a:lvl3pPr>
      <a:lvl4pPr marL="1428750" indent="-228600" algn="l" rtl="0" eaLnBrk="0" fontAlgn="base" hangingPunct="0">
        <a:spcBef>
          <a:spcPct val="20000"/>
        </a:spcBef>
        <a:spcAft>
          <a:spcPct val="0"/>
        </a:spcAft>
        <a:buChar char="–"/>
        <a:defRPr lang="en-US" altLang="zh-CN" sz="2000" b="1" dirty="0" smtClean="0">
          <a:solidFill>
            <a:schemeClr val="accent6">
              <a:lumMod val="75000"/>
            </a:schemeClr>
          </a:solidFill>
          <a:latin typeface="+mn-lt"/>
        </a:defRPr>
      </a:lvl4pPr>
      <a:lvl5pPr marL="1771650" indent="-228600" algn="l" rtl="0" eaLnBrk="0" fontAlgn="base" hangingPunct="0">
        <a:spcBef>
          <a:spcPct val="20000"/>
        </a:spcBef>
        <a:spcAft>
          <a:spcPct val="0"/>
        </a:spcAft>
        <a:buChar char="•"/>
        <a:defRPr lang="en-US" altLang="zh-CN" sz="1600" b="1" dirty="0" smtClean="0">
          <a:solidFill>
            <a:schemeClr val="accent6">
              <a:lumMod val="75000"/>
            </a:schemeClr>
          </a:solidFill>
          <a:latin typeface="+mn-lt"/>
        </a:defRPr>
      </a:lvl5pPr>
      <a:lvl6pPr marL="222885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</a:defRPr>
      </a:lvl6pPr>
      <a:lvl7pPr marL="268605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</a:defRPr>
      </a:lvl7pPr>
      <a:lvl8pPr marL="314325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</a:defRPr>
      </a:lvl8pPr>
      <a:lvl9pPr marL="360045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71FFD2-C759-4331-B2C5-BD27D3F870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第四章  串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118536A-F4C9-408B-A1C2-8B253B477A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张  学</a:t>
            </a:r>
            <a:endParaRPr lang="en-US" altLang="zh-CN" dirty="0"/>
          </a:p>
          <a:p>
            <a:r>
              <a:rPr lang="en-US" altLang="zh-CN" dirty="0"/>
              <a:t>zhangxue@uestc.edu.cn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47816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9CADD8-6595-4A2D-8713-BBF58A882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串的概念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D7C868-3FD9-4EAB-918F-6256D5BFE4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串：就是一串字符</a:t>
            </a:r>
            <a:endParaRPr lang="en-US" altLang="zh-CN" dirty="0"/>
          </a:p>
          <a:p>
            <a:pPr lvl="1">
              <a:lnSpc>
                <a:spcPct val="125000"/>
              </a:lnSpc>
            </a:pPr>
            <a:r>
              <a:rPr lang="zh-CN" altLang="en-US" dirty="0"/>
              <a:t>“</a:t>
            </a:r>
            <a:r>
              <a:rPr lang="en-US" altLang="zh-CN" dirty="0"/>
              <a:t>How are you</a:t>
            </a:r>
            <a:r>
              <a:rPr lang="zh-CN" altLang="en-US" dirty="0"/>
              <a:t>”</a:t>
            </a:r>
            <a:endParaRPr lang="en-US" altLang="zh-CN" dirty="0"/>
          </a:p>
          <a:p>
            <a:r>
              <a:rPr lang="zh-CN" altLang="en-US" dirty="0"/>
              <a:t>相关术语</a:t>
            </a:r>
            <a:endParaRPr lang="en-US" altLang="zh-CN" dirty="0"/>
          </a:p>
          <a:p>
            <a:pPr lvl="1"/>
            <a:r>
              <a:rPr lang="zh-CN" altLang="en-US" dirty="0"/>
              <a:t>空串：</a:t>
            </a:r>
            <a:r>
              <a:rPr lang="en-US" altLang="zh-CN" dirty="0"/>
              <a:t>0</a:t>
            </a:r>
            <a:r>
              <a:rPr lang="zh-CN" altLang="en-US" dirty="0"/>
              <a:t>个字符的串</a:t>
            </a:r>
            <a:endParaRPr lang="en-US" altLang="zh-CN" dirty="0"/>
          </a:p>
          <a:p>
            <a:pPr lvl="1"/>
            <a:r>
              <a:rPr lang="zh-CN" altLang="en-US" dirty="0"/>
              <a:t>长度：串中的字符的个数。</a:t>
            </a:r>
            <a:endParaRPr lang="en-US" altLang="zh-CN" dirty="0"/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28824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E86370-70E5-4F79-9B95-7C63C15EC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串的数组表示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B91A15-2966-4186-AE44-4F79F961E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95400"/>
            <a:ext cx="11582400" cy="5181600"/>
          </a:xfrm>
        </p:spPr>
        <p:txBody>
          <a:bodyPr/>
          <a:lstStyle/>
          <a:p>
            <a:pPr>
              <a:lnSpc>
                <a:spcPct val="125000"/>
              </a:lnSpc>
            </a:pPr>
            <a:r>
              <a:rPr lang="zh-CN" altLang="en-US" dirty="0"/>
              <a:t>静态数组</a:t>
            </a:r>
            <a:endParaRPr lang="en-US" altLang="zh-CN" dirty="0"/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dirty="0"/>
              <a:t>typedef unsigned char </a:t>
            </a:r>
            <a:r>
              <a:rPr lang="en-US" altLang="zh-CN" dirty="0" err="1"/>
              <a:t>SeqString</a:t>
            </a:r>
            <a:r>
              <a:rPr lang="en-US" altLang="zh-CN" dirty="0"/>
              <a:t>[STRING_SIZE+1];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dirty="0"/>
              <a:t>// C</a:t>
            </a:r>
            <a:r>
              <a:rPr lang="zh-CN" altLang="en-US" dirty="0"/>
              <a:t>语言在串的后面加结束标记。</a:t>
            </a:r>
            <a:endParaRPr lang="en-US" altLang="zh-CN" dirty="0"/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dirty="0"/>
              <a:t>// PASCAL</a:t>
            </a:r>
            <a:r>
              <a:rPr lang="zh-CN" altLang="en-US" dirty="0"/>
              <a:t>语言在串的前面存储长度。</a:t>
            </a:r>
            <a:endParaRPr lang="en-US" altLang="zh-CN" dirty="0"/>
          </a:p>
          <a:p>
            <a:pPr>
              <a:lnSpc>
                <a:spcPct val="125000"/>
              </a:lnSpc>
            </a:pPr>
            <a:r>
              <a:rPr lang="zh-CN" altLang="en-US" dirty="0"/>
              <a:t>动态数组</a:t>
            </a:r>
            <a:endParaRPr lang="en-US" altLang="zh-CN" dirty="0"/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dirty="0"/>
              <a:t>typedef struct {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dirty="0"/>
              <a:t>    char*  </a:t>
            </a:r>
            <a:r>
              <a:rPr lang="en-US" altLang="zh-CN" dirty="0" err="1"/>
              <a:t>pCharArray</a:t>
            </a:r>
            <a:r>
              <a:rPr lang="en-US" altLang="zh-CN" dirty="0"/>
              <a:t>;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dirty="0"/>
              <a:t>    int length;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dirty="0"/>
              <a:t>    int size;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dirty="0"/>
              <a:t>} </a:t>
            </a:r>
            <a:r>
              <a:rPr lang="en-US" altLang="zh-CN" dirty="0" err="1"/>
              <a:t>SeqString</a:t>
            </a:r>
            <a:r>
              <a:rPr lang="en-US" altLang="zh-CN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981466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E86370-70E5-4F79-9B95-7C63C15EC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串的基本块链表示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B91A15-2966-4186-AE44-4F79F961E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95400"/>
            <a:ext cx="11582400" cy="5181600"/>
          </a:xfrm>
        </p:spPr>
        <p:txBody>
          <a:bodyPr/>
          <a:lstStyle/>
          <a:p>
            <a:pPr marL="457200" lvl="1" indent="0">
              <a:lnSpc>
                <a:spcPct val="100000"/>
              </a:lnSpc>
              <a:buNone/>
            </a:pPr>
            <a:r>
              <a:rPr lang="en-US" altLang="zh-CN" dirty="0"/>
              <a:t>typedef struct Chunk {    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dirty="0"/>
              <a:t>    char </a:t>
            </a:r>
            <a:r>
              <a:rPr lang="en-US" altLang="zh-CN" dirty="0" err="1"/>
              <a:t>charArray</a:t>
            </a:r>
            <a:r>
              <a:rPr lang="en-US" altLang="zh-CN" dirty="0"/>
              <a:t>[STRING_CHUNK_SIZE];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dirty="0"/>
              <a:t>    int length;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dirty="0"/>
              <a:t>    struct Chunk * </a:t>
            </a:r>
            <a:r>
              <a:rPr lang="en-US" altLang="zh-CN" dirty="0" err="1"/>
              <a:t>pNext</a:t>
            </a:r>
            <a:r>
              <a:rPr lang="en-US" altLang="zh-CN" dirty="0"/>
              <a:t>;</a:t>
            </a:r>
            <a:br>
              <a:rPr lang="en-US" altLang="zh-CN" dirty="0"/>
            </a:br>
            <a:r>
              <a:rPr lang="en-US" altLang="zh-CN" dirty="0"/>
              <a:t>} Chunk;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dirty="0"/>
              <a:t>typedef struct {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dirty="0"/>
              <a:t>    Chunk* </a:t>
            </a:r>
            <a:r>
              <a:rPr lang="en-US" altLang="zh-CN" dirty="0" err="1"/>
              <a:t>pHead</a:t>
            </a:r>
            <a:r>
              <a:rPr lang="en-US" altLang="zh-CN" dirty="0"/>
              <a:t>;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dirty="0"/>
              <a:t>    Chunk* </a:t>
            </a:r>
            <a:r>
              <a:rPr lang="en-US" altLang="zh-CN" dirty="0" err="1"/>
              <a:t>pTail</a:t>
            </a:r>
            <a:r>
              <a:rPr lang="en-US" altLang="zh-CN" dirty="0"/>
              <a:t>;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dirty="0"/>
              <a:t>    int </a:t>
            </a:r>
            <a:r>
              <a:rPr lang="en-US" altLang="zh-CN"/>
              <a:t>numOfChunks;</a:t>
            </a:r>
            <a:endParaRPr lang="en-US" altLang="zh-CN" dirty="0"/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dirty="0"/>
              <a:t>} </a:t>
            </a:r>
            <a:r>
              <a:rPr lang="en-US" altLang="zh-CN" dirty="0" err="1"/>
              <a:t>LinkedString</a:t>
            </a:r>
            <a:r>
              <a:rPr lang="en-US" altLang="zh-CN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162430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E86370-70E5-4F79-9B95-7C63C15EC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串的基本操作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B91A15-2966-4186-AE44-4F79F961E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95400"/>
            <a:ext cx="11582400" cy="5181600"/>
          </a:xfrm>
        </p:spPr>
        <p:txBody>
          <a:bodyPr/>
          <a:lstStyle/>
          <a:p>
            <a:r>
              <a:rPr lang="zh-CN" altLang="en-US" dirty="0"/>
              <a:t>以动态数组描述为例</a:t>
            </a:r>
            <a:endParaRPr lang="en-US" altLang="zh-CN" dirty="0"/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dirty="0"/>
              <a:t>typedef struct {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dirty="0"/>
              <a:t>    char</a:t>
            </a:r>
            <a:r>
              <a:rPr lang="zh-CN" altLang="en-US" dirty="0"/>
              <a:t>* </a:t>
            </a:r>
            <a:r>
              <a:rPr lang="en-US" altLang="zh-CN" dirty="0" err="1"/>
              <a:t>pCharArray</a:t>
            </a:r>
            <a:r>
              <a:rPr lang="en-US" altLang="zh-CN" dirty="0"/>
              <a:t>;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dirty="0"/>
              <a:t>    unsigned int length;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dirty="0"/>
              <a:t>    unsigned int size;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dirty="0"/>
              <a:t>} </a:t>
            </a:r>
            <a:r>
              <a:rPr lang="en-US" altLang="zh-CN" dirty="0" err="1"/>
              <a:t>SeqString</a:t>
            </a:r>
            <a:r>
              <a:rPr lang="en-US" altLang="zh-CN" dirty="0"/>
              <a:t>;</a:t>
            </a:r>
          </a:p>
          <a:p>
            <a:r>
              <a:rPr lang="zh-CN" altLang="en-US" dirty="0"/>
              <a:t>基本操作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/>
              <a:t>构造、释放、求长度、比较、连接、查找、插入、删除等</a:t>
            </a:r>
            <a:endParaRPr lang="en-US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02176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E86370-70E5-4F79-9B95-7C63C15EC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初始化串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B91A15-2966-4186-AE44-4F79F961E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95400"/>
            <a:ext cx="11582400" cy="5181600"/>
          </a:xfrm>
        </p:spPr>
        <p:txBody>
          <a:bodyPr/>
          <a:lstStyle/>
          <a:p>
            <a:pPr marL="0" lvl="1" indent="0">
              <a:lnSpc>
                <a:spcPct val="100000"/>
              </a:lnSpc>
              <a:buNone/>
            </a:pPr>
            <a:r>
              <a:rPr lang="en-US" altLang="zh-CN" dirty="0"/>
              <a:t>Status </a:t>
            </a:r>
            <a:r>
              <a:rPr lang="en-US" altLang="zh-CN" dirty="0" err="1"/>
              <a:t>InitSeqString</a:t>
            </a:r>
            <a:r>
              <a:rPr lang="en-US" altLang="zh-CN" dirty="0"/>
              <a:t>(</a:t>
            </a:r>
            <a:r>
              <a:rPr lang="en-US" altLang="zh-CN" dirty="0" err="1"/>
              <a:t>SeqString</a:t>
            </a:r>
            <a:r>
              <a:rPr lang="en-US" altLang="zh-CN" dirty="0"/>
              <a:t>* </a:t>
            </a:r>
            <a:r>
              <a:rPr lang="en-US" altLang="zh-CN" dirty="0" err="1"/>
              <a:t>pString</a:t>
            </a:r>
            <a:r>
              <a:rPr lang="en-US" altLang="zh-CN" dirty="0"/>
              <a:t>){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pString</a:t>
            </a:r>
            <a:r>
              <a:rPr lang="en-US" altLang="zh-CN" dirty="0"/>
              <a:t>-&gt;</a:t>
            </a:r>
            <a:r>
              <a:rPr lang="en-US" altLang="zh-CN" dirty="0" err="1"/>
              <a:t>pCharArray</a:t>
            </a:r>
            <a:r>
              <a:rPr lang="en-US" altLang="zh-CN" dirty="0"/>
              <a:t>=(char*)malloc(STRING_INIT_SIZE*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en-US" altLang="zh-CN" dirty="0"/>
              <a:t>                                         </a:t>
            </a:r>
            <a:r>
              <a:rPr lang="en-US" altLang="zh-CN" dirty="0" err="1"/>
              <a:t>sizeof</a:t>
            </a:r>
            <a:r>
              <a:rPr lang="en-US" altLang="zh-CN" dirty="0"/>
              <a:t>(char));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en-US" altLang="zh-CN" dirty="0"/>
              <a:t>    if(</a:t>
            </a:r>
            <a:r>
              <a:rPr lang="en-US" altLang="zh-CN" dirty="0" err="1"/>
              <a:t>pString</a:t>
            </a:r>
            <a:r>
              <a:rPr lang="en-US" altLang="zh-CN" dirty="0"/>
              <a:t>-&gt;</a:t>
            </a:r>
            <a:r>
              <a:rPr lang="en-US" altLang="zh-CN" dirty="0" err="1"/>
              <a:t>pCharArray</a:t>
            </a:r>
            <a:r>
              <a:rPr lang="en-US" altLang="zh-CN" dirty="0"/>
              <a:t>==</a:t>
            </a:r>
            <a:r>
              <a:rPr lang="en-US" altLang="zh-CN" dirty="0" err="1"/>
              <a:t>nullptr</a:t>
            </a:r>
            <a:r>
              <a:rPr lang="en-US" altLang="zh-CN" dirty="0"/>
              <a:t>){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en-US" altLang="zh-CN" dirty="0"/>
              <a:t>        return ERROR;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en-US" altLang="zh-CN" dirty="0"/>
              <a:t>    }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pString</a:t>
            </a:r>
            <a:r>
              <a:rPr lang="en-US" altLang="zh-CN" dirty="0"/>
              <a:t>-&gt;length=0;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pString</a:t>
            </a:r>
            <a:r>
              <a:rPr lang="en-US" altLang="zh-CN" dirty="0"/>
              <a:t>-&gt;size=STRING_INIT_SIZE;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en-US" altLang="zh-CN" dirty="0"/>
              <a:t>    return OK;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en-US" altLang="zh-C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348824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E86370-70E5-4F79-9B95-7C63C15EC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释放串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B91A15-2966-4186-AE44-4F79F961E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95400"/>
            <a:ext cx="11582400" cy="5181600"/>
          </a:xfrm>
        </p:spPr>
        <p:txBody>
          <a:bodyPr/>
          <a:lstStyle/>
          <a:p>
            <a:pPr marL="0" lvl="1" indent="0">
              <a:lnSpc>
                <a:spcPct val="100000"/>
              </a:lnSpc>
              <a:buNone/>
            </a:pPr>
            <a:r>
              <a:rPr lang="en-US" altLang="zh-CN" dirty="0"/>
              <a:t>Status </a:t>
            </a:r>
            <a:r>
              <a:rPr lang="en-US" altLang="zh-CN" dirty="0" err="1"/>
              <a:t>FreeSeqString</a:t>
            </a:r>
            <a:r>
              <a:rPr lang="en-US" altLang="zh-CN" dirty="0"/>
              <a:t>(</a:t>
            </a:r>
            <a:r>
              <a:rPr lang="en-US" altLang="zh-CN" dirty="0" err="1"/>
              <a:t>SeqString</a:t>
            </a:r>
            <a:r>
              <a:rPr lang="en-US" altLang="zh-CN" dirty="0"/>
              <a:t>* </a:t>
            </a:r>
            <a:r>
              <a:rPr lang="en-US" altLang="zh-CN" dirty="0" err="1"/>
              <a:t>pString</a:t>
            </a:r>
            <a:r>
              <a:rPr lang="en-US" altLang="zh-CN" dirty="0"/>
              <a:t>){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en-US" altLang="zh-CN" dirty="0"/>
              <a:t>    free(</a:t>
            </a:r>
            <a:r>
              <a:rPr lang="en-US" altLang="zh-CN" dirty="0" err="1"/>
              <a:t>pString</a:t>
            </a:r>
            <a:r>
              <a:rPr lang="en-US" altLang="zh-CN" dirty="0"/>
              <a:t>-&gt;</a:t>
            </a:r>
            <a:r>
              <a:rPr lang="en-US" altLang="zh-CN" dirty="0" err="1"/>
              <a:t>pCharArray</a:t>
            </a:r>
            <a:r>
              <a:rPr lang="en-US" altLang="zh-CN" dirty="0"/>
              <a:t>);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pString</a:t>
            </a:r>
            <a:r>
              <a:rPr lang="en-US" altLang="zh-CN" dirty="0"/>
              <a:t>-&gt;</a:t>
            </a:r>
            <a:r>
              <a:rPr lang="en-US" altLang="zh-CN" dirty="0" err="1"/>
              <a:t>pCharArray</a:t>
            </a:r>
            <a:r>
              <a:rPr lang="en-US" altLang="zh-CN" dirty="0"/>
              <a:t>=</a:t>
            </a:r>
            <a:r>
              <a:rPr lang="en-US" altLang="zh-CN" dirty="0" err="1"/>
              <a:t>nullptr</a:t>
            </a:r>
            <a:r>
              <a:rPr lang="en-US" altLang="zh-CN" dirty="0"/>
              <a:t>;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pString</a:t>
            </a:r>
            <a:r>
              <a:rPr lang="en-US" altLang="zh-CN" dirty="0"/>
              <a:t>-&gt;length=0;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pString</a:t>
            </a:r>
            <a:r>
              <a:rPr lang="en-US" altLang="zh-CN" dirty="0"/>
              <a:t>-&gt;size=0;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en-US" altLang="zh-CN" dirty="0"/>
              <a:t>    return OK;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en-US" altLang="zh-C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06727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E86370-70E5-4F79-9B95-7C63C15EC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求串的长度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B91A15-2966-4186-AE44-4F79F961E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19200"/>
            <a:ext cx="11582400" cy="5181600"/>
          </a:xfrm>
        </p:spPr>
        <p:txBody>
          <a:bodyPr/>
          <a:lstStyle/>
          <a:p>
            <a:pPr marL="0" lvl="1" indent="0">
              <a:lnSpc>
                <a:spcPct val="100000"/>
              </a:lnSpc>
              <a:buNone/>
            </a:pPr>
            <a:r>
              <a:rPr lang="en-US" altLang="zh-CN" dirty="0"/>
              <a:t>int </a:t>
            </a:r>
            <a:r>
              <a:rPr lang="en-US" altLang="zh-CN" dirty="0" err="1"/>
              <a:t>LengthOfSeqString</a:t>
            </a:r>
            <a:r>
              <a:rPr lang="en-US" altLang="zh-CN" dirty="0"/>
              <a:t>(</a:t>
            </a:r>
            <a:r>
              <a:rPr lang="en-US" altLang="zh-CN" dirty="0" err="1"/>
              <a:t>SeqString</a:t>
            </a:r>
            <a:r>
              <a:rPr lang="en-US" altLang="zh-CN" dirty="0"/>
              <a:t>* </a:t>
            </a:r>
            <a:r>
              <a:rPr lang="en-US" altLang="zh-CN" dirty="0" err="1"/>
              <a:t>pString</a:t>
            </a:r>
            <a:r>
              <a:rPr lang="en-US" altLang="zh-CN" dirty="0"/>
              <a:t>){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en-US" altLang="zh-CN" dirty="0"/>
              <a:t>    return </a:t>
            </a:r>
            <a:r>
              <a:rPr lang="en-US" altLang="zh-CN" dirty="0" err="1"/>
              <a:t>pString</a:t>
            </a:r>
            <a:r>
              <a:rPr lang="en-US" altLang="zh-CN" dirty="0"/>
              <a:t>-&gt;length;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en-US" altLang="zh-C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663230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E86370-70E5-4F79-9B95-7C63C15EC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给串赋值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B91A15-2966-4186-AE44-4F79F961E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19200"/>
            <a:ext cx="11582400" cy="5181600"/>
          </a:xfrm>
        </p:spPr>
        <p:txBody>
          <a:bodyPr/>
          <a:lstStyle/>
          <a:p>
            <a:pPr marL="0" lvl="1" indent="0">
              <a:lnSpc>
                <a:spcPct val="100000"/>
              </a:lnSpc>
              <a:buNone/>
            </a:pPr>
            <a:r>
              <a:rPr lang="en-US" altLang="zh-CN" dirty="0"/>
              <a:t>Status </a:t>
            </a:r>
            <a:r>
              <a:rPr lang="en-US" altLang="zh-CN" dirty="0" err="1"/>
              <a:t>AssignSeqString</a:t>
            </a:r>
            <a:r>
              <a:rPr lang="en-US" altLang="zh-CN" dirty="0"/>
              <a:t>(</a:t>
            </a:r>
            <a:r>
              <a:rPr lang="en-US" altLang="zh-CN" dirty="0" err="1"/>
              <a:t>SeqString</a:t>
            </a:r>
            <a:r>
              <a:rPr lang="en-US" altLang="zh-CN" dirty="0"/>
              <a:t>* </a:t>
            </a:r>
            <a:r>
              <a:rPr lang="en-US" altLang="zh-CN" dirty="0" err="1"/>
              <a:t>pString</a:t>
            </a:r>
            <a:r>
              <a:rPr lang="en-US" altLang="zh-CN" dirty="0"/>
              <a:t>, char* </a:t>
            </a:r>
            <a:r>
              <a:rPr lang="en-US" altLang="zh-CN" dirty="0" err="1"/>
              <a:t>pChars</a:t>
            </a:r>
            <a:r>
              <a:rPr lang="en-US" altLang="zh-CN" dirty="0"/>
              <a:t>){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en-US" altLang="zh-CN" dirty="0"/>
              <a:t>    int n=</a:t>
            </a:r>
            <a:r>
              <a:rPr lang="en-US" altLang="zh-CN" dirty="0" err="1"/>
              <a:t>strlen</a:t>
            </a:r>
            <a:r>
              <a:rPr lang="en-US" altLang="zh-CN" dirty="0"/>
              <a:t>(</a:t>
            </a:r>
            <a:r>
              <a:rPr lang="en-US" altLang="zh-CN" dirty="0" err="1"/>
              <a:t>pChars</a:t>
            </a:r>
            <a:r>
              <a:rPr lang="en-US" altLang="zh-CN" dirty="0"/>
              <a:t>);  // </a:t>
            </a:r>
            <a:r>
              <a:rPr lang="zh-CN" altLang="en-US" dirty="0"/>
              <a:t>求字符串长度</a:t>
            </a:r>
            <a:endParaRPr lang="en-US" altLang="zh-CN" dirty="0"/>
          </a:p>
          <a:p>
            <a:pPr marL="0" lvl="1" indent="0">
              <a:lnSpc>
                <a:spcPct val="100000"/>
              </a:lnSpc>
              <a:buNone/>
            </a:pPr>
            <a:r>
              <a:rPr lang="en-US" altLang="zh-CN" dirty="0"/>
              <a:t>    if (</a:t>
            </a:r>
            <a:r>
              <a:rPr lang="en-US" altLang="zh-CN" dirty="0" err="1"/>
              <a:t>pString</a:t>
            </a:r>
            <a:r>
              <a:rPr lang="en-US" altLang="zh-CN" dirty="0"/>
              <a:t>-&gt;size&lt;n) {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en-US" altLang="zh-CN" dirty="0"/>
              <a:t>        return ERROR;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en-US" altLang="zh-CN" dirty="0"/>
              <a:t>    } 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en-US" altLang="zh-CN" dirty="0"/>
              <a:t>    for(int </a:t>
            </a:r>
            <a:r>
              <a:rPr lang="en-US" altLang="zh-CN" dirty="0" err="1"/>
              <a:t>i</a:t>
            </a:r>
            <a:r>
              <a:rPr lang="en-US" altLang="zh-CN" dirty="0"/>
              <a:t>=0; </a:t>
            </a:r>
            <a:r>
              <a:rPr lang="en-US" altLang="zh-CN" dirty="0" err="1"/>
              <a:t>i</a:t>
            </a:r>
            <a:r>
              <a:rPr lang="en-US" altLang="zh-CN" dirty="0"/>
              <a:t>&lt;n; </a:t>
            </a:r>
            <a:r>
              <a:rPr lang="en-US" altLang="zh-CN" dirty="0" err="1"/>
              <a:t>i</a:t>
            </a:r>
            <a:r>
              <a:rPr lang="en-US" altLang="zh-CN" dirty="0"/>
              <a:t>++) {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pString</a:t>
            </a:r>
            <a:r>
              <a:rPr lang="en-US" altLang="zh-CN" dirty="0"/>
              <a:t>-&gt;</a:t>
            </a:r>
            <a:r>
              <a:rPr lang="en-US" altLang="zh-CN" dirty="0" err="1"/>
              <a:t>pCharArray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]=</a:t>
            </a:r>
            <a:r>
              <a:rPr lang="en-US" altLang="zh-CN" dirty="0" err="1"/>
              <a:t>pChars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];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en-US" altLang="zh-CN" dirty="0"/>
              <a:t>    }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pString</a:t>
            </a:r>
            <a:r>
              <a:rPr lang="en-US" altLang="zh-CN" dirty="0"/>
              <a:t>-&gt;length=n;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en-US" altLang="zh-CN" dirty="0"/>
              <a:t>    return OK;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en-US" altLang="zh-C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369378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E86370-70E5-4F79-9B95-7C63C15EC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比较串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B91A15-2966-4186-AE44-4F79F961E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19200"/>
            <a:ext cx="11582400" cy="5181600"/>
          </a:xfrm>
        </p:spPr>
        <p:txBody>
          <a:bodyPr/>
          <a:lstStyle/>
          <a:p>
            <a:pPr marL="0" lvl="1" indent="0">
              <a:lnSpc>
                <a:spcPct val="100000"/>
              </a:lnSpc>
              <a:buNone/>
            </a:pPr>
            <a:r>
              <a:rPr lang="en-US" altLang="zh-CN" dirty="0"/>
              <a:t>int </a:t>
            </a:r>
            <a:r>
              <a:rPr lang="en-US" altLang="zh-CN" dirty="0" err="1"/>
              <a:t>CompareSeqString</a:t>
            </a:r>
            <a:r>
              <a:rPr lang="en-US" altLang="zh-CN" dirty="0"/>
              <a:t>(</a:t>
            </a:r>
            <a:r>
              <a:rPr lang="en-US" altLang="zh-CN" dirty="0" err="1"/>
              <a:t>SeqString</a:t>
            </a:r>
            <a:r>
              <a:rPr lang="en-US" altLang="zh-CN" dirty="0"/>
              <a:t>* pS1, </a:t>
            </a:r>
            <a:r>
              <a:rPr lang="en-US" altLang="zh-CN" dirty="0" err="1"/>
              <a:t>SeqString</a:t>
            </a:r>
            <a:r>
              <a:rPr lang="en-US" altLang="zh-CN" dirty="0"/>
              <a:t>* pS2){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en-US" altLang="zh-CN" dirty="0"/>
              <a:t>    /* </a:t>
            </a:r>
            <a:r>
              <a:rPr lang="zh-CN" altLang="en-US" dirty="0"/>
              <a:t>如果</a:t>
            </a:r>
            <a:r>
              <a:rPr lang="en-US" altLang="zh-CN" dirty="0"/>
              <a:t>s1&gt;s2</a:t>
            </a:r>
            <a:r>
              <a:rPr lang="zh-CN" altLang="en-US" dirty="0"/>
              <a:t>，返回值</a:t>
            </a:r>
            <a:r>
              <a:rPr lang="en-US" altLang="zh-CN" dirty="0"/>
              <a:t>&gt;0</a:t>
            </a:r>
            <a:r>
              <a:rPr lang="zh-CN" altLang="en-US" dirty="0"/>
              <a:t>；如果</a:t>
            </a:r>
            <a:r>
              <a:rPr lang="en-US" altLang="zh-CN" dirty="0"/>
              <a:t>s1=s2</a:t>
            </a:r>
            <a:r>
              <a:rPr lang="zh-CN" altLang="en-US" dirty="0"/>
              <a:t>，返回</a:t>
            </a:r>
            <a:r>
              <a:rPr lang="en-US" altLang="zh-CN" dirty="0"/>
              <a:t>0</a:t>
            </a:r>
            <a:r>
              <a:rPr lang="zh-CN" altLang="en-US" dirty="0"/>
              <a:t>；如果</a:t>
            </a:r>
            <a:r>
              <a:rPr lang="en-US" altLang="zh-CN" dirty="0"/>
              <a:t>…  */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en-US" altLang="zh-CN" dirty="0"/>
              <a:t>    int </a:t>
            </a:r>
            <a:r>
              <a:rPr lang="en-US" altLang="zh-CN" dirty="0" err="1"/>
              <a:t>i</a:t>
            </a:r>
            <a:r>
              <a:rPr lang="en-US" altLang="zh-CN" dirty="0"/>
              <a:t>; 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en-US" altLang="zh-CN" dirty="0"/>
              <a:t>    for(</a:t>
            </a:r>
            <a:r>
              <a:rPr lang="en-US" altLang="zh-CN" dirty="0" err="1"/>
              <a:t>i</a:t>
            </a:r>
            <a:r>
              <a:rPr lang="en-US" altLang="zh-CN" dirty="0"/>
              <a:t>=0; </a:t>
            </a:r>
            <a:r>
              <a:rPr lang="en-US" altLang="zh-CN" dirty="0" err="1"/>
              <a:t>i</a:t>
            </a:r>
            <a:r>
              <a:rPr lang="en-US" altLang="zh-CN" dirty="0"/>
              <a:t>&lt;pS1-&gt;length &amp;&amp; </a:t>
            </a:r>
            <a:r>
              <a:rPr lang="en-US" altLang="zh-CN" dirty="0" err="1"/>
              <a:t>i</a:t>
            </a:r>
            <a:r>
              <a:rPr lang="en-US" altLang="zh-CN" dirty="0"/>
              <a:t>&lt;pS2-&gt;length; </a:t>
            </a:r>
            <a:r>
              <a:rPr lang="en-US" altLang="zh-CN" dirty="0" err="1"/>
              <a:t>i</a:t>
            </a:r>
            <a:r>
              <a:rPr lang="en-US" altLang="zh-CN" dirty="0"/>
              <a:t>++) {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en-US" altLang="zh-CN" dirty="0"/>
              <a:t>        if (pS1-&gt;</a:t>
            </a:r>
            <a:r>
              <a:rPr lang="en-US" altLang="zh-CN" dirty="0" err="1"/>
              <a:t>pCharArray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] != pS2-&gt;</a:t>
            </a:r>
            <a:r>
              <a:rPr lang="en-US" altLang="zh-CN" dirty="0" err="1"/>
              <a:t>pCharArray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]) {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en-US" altLang="zh-CN" dirty="0"/>
              <a:t>            return pS1-&gt;</a:t>
            </a:r>
            <a:r>
              <a:rPr lang="en-US" altLang="zh-CN" dirty="0" err="1"/>
              <a:t>pCharArray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] – pS2-&gt;</a:t>
            </a:r>
            <a:r>
              <a:rPr lang="en-US" altLang="zh-CN" dirty="0" err="1"/>
              <a:t>pCharArray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];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en-US" altLang="zh-CN" dirty="0"/>
              <a:t>        }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en-US" altLang="zh-CN" dirty="0"/>
              <a:t>    }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en-US" altLang="zh-CN" dirty="0"/>
              <a:t>    return pS1-&gt;length – pS2-&gt;length;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en-US" altLang="zh-C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525374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E86370-70E5-4F79-9B95-7C63C15EC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连接串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B91A15-2966-4186-AE44-4F79F961E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95400"/>
            <a:ext cx="11582400" cy="5181600"/>
          </a:xfrm>
        </p:spPr>
        <p:txBody>
          <a:bodyPr/>
          <a:lstStyle/>
          <a:p>
            <a:pPr marL="0" lvl="1" indent="0">
              <a:lnSpc>
                <a:spcPct val="100000"/>
              </a:lnSpc>
              <a:buNone/>
            </a:pPr>
            <a:r>
              <a:rPr lang="en-US" altLang="zh-CN" dirty="0"/>
              <a:t>Status </a:t>
            </a:r>
            <a:r>
              <a:rPr lang="en-US" altLang="zh-CN" dirty="0" err="1"/>
              <a:t>ConcatSeqString</a:t>
            </a:r>
            <a:r>
              <a:rPr lang="en-US" altLang="zh-CN" dirty="0"/>
              <a:t>(</a:t>
            </a:r>
            <a:r>
              <a:rPr lang="en-US" altLang="zh-CN" dirty="0" err="1"/>
              <a:t>SeqString</a:t>
            </a:r>
            <a:r>
              <a:rPr lang="en-US" altLang="zh-CN" dirty="0"/>
              <a:t>* pS1, </a:t>
            </a:r>
            <a:r>
              <a:rPr lang="en-US" altLang="zh-CN" dirty="0" err="1"/>
              <a:t>SeqString</a:t>
            </a:r>
            <a:r>
              <a:rPr lang="en-US" altLang="zh-CN" dirty="0"/>
              <a:t>* pS2){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en-US" altLang="zh-CN" dirty="0"/>
              <a:t>    if (pS1-&gt;length+pS2-&gt;length &gt; pS1-&gt;size) {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en-US" altLang="zh-CN" dirty="0"/>
              <a:t>        return ERROR;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en-US" altLang="zh-CN" dirty="0"/>
              <a:t>    }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en-US" altLang="zh-CN" dirty="0"/>
              <a:t>    for (int </a:t>
            </a:r>
            <a:r>
              <a:rPr lang="en-US" altLang="zh-CN" dirty="0" err="1"/>
              <a:t>i</a:t>
            </a:r>
            <a:r>
              <a:rPr lang="en-US" altLang="zh-CN" dirty="0"/>
              <a:t>=0; </a:t>
            </a:r>
            <a:r>
              <a:rPr lang="en-US" altLang="zh-CN" dirty="0" err="1"/>
              <a:t>i</a:t>
            </a:r>
            <a:r>
              <a:rPr lang="en-US" altLang="zh-CN" dirty="0"/>
              <a:t>&lt;pS2-&gt;length; </a:t>
            </a:r>
            <a:r>
              <a:rPr lang="en-US" altLang="zh-CN" dirty="0" err="1"/>
              <a:t>i</a:t>
            </a:r>
            <a:r>
              <a:rPr lang="en-US" altLang="zh-CN" dirty="0"/>
              <a:t>++) {  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en-US" altLang="zh-CN" dirty="0"/>
              <a:t>        pS1-&gt;</a:t>
            </a:r>
            <a:r>
              <a:rPr lang="en-US" altLang="zh-CN" dirty="0" err="1"/>
              <a:t>pCharArray</a:t>
            </a:r>
            <a:r>
              <a:rPr lang="en-US" altLang="zh-CN" dirty="0"/>
              <a:t>[pS1-&gt;</a:t>
            </a:r>
            <a:r>
              <a:rPr lang="en-US" altLang="zh-CN" dirty="0" err="1"/>
              <a:t>length+i</a:t>
            </a:r>
            <a:r>
              <a:rPr lang="en-US" altLang="zh-CN" dirty="0"/>
              <a:t>]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en-US" altLang="zh-CN" dirty="0"/>
              <a:t>               = pS2-&gt;</a:t>
            </a:r>
            <a:r>
              <a:rPr lang="en-US" altLang="zh-CN" dirty="0" err="1"/>
              <a:t>pCharArray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];    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en-US" altLang="zh-CN" dirty="0"/>
              <a:t>    }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en-US" altLang="zh-CN" dirty="0"/>
              <a:t>    pS1-&gt;length += pS2-&gt;length;                                     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en-US" altLang="zh-CN" dirty="0"/>
              <a:t>    return OK;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en-US" altLang="zh-C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909137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E86370-70E5-4F79-9B95-7C63C15EC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串的模式匹配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B91A15-2966-4186-AE44-4F79F961E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95400"/>
            <a:ext cx="11582400" cy="5181600"/>
          </a:xfrm>
        </p:spPr>
        <p:txBody>
          <a:bodyPr/>
          <a:lstStyle/>
          <a:p>
            <a:pPr marL="0" lvl="1" indent="0">
              <a:lnSpc>
                <a:spcPct val="100000"/>
              </a:lnSpc>
              <a:buNone/>
            </a:pPr>
            <a:r>
              <a:rPr lang="en-US" altLang="zh-CN" dirty="0"/>
              <a:t>int </a:t>
            </a:r>
            <a:r>
              <a:rPr lang="en-US" altLang="zh-CN" dirty="0" err="1"/>
              <a:t>LocateSeqString</a:t>
            </a:r>
            <a:r>
              <a:rPr lang="en-US" altLang="zh-CN" dirty="0"/>
              <a:t>(</a:t>
            </a:r>
            <a:r>
              <a:rPr lang="en-US" altLang="zh-CN" dirty="0" err="1"/>
              <a:t>SeqString</a:t>
            </a:r>
            <a:r>
              <a:rPr lang="en-US" altLang="zh-CN" dirty="0"/>
              <a:t>* s, </a:t>
            </a:r>
            <a:r>
              <a:rPr lang="en-US" altLang="zh-CN" dirty="0" err="1"/>
              <a:t>SeqString</a:t>
            </a:r>
            <a:r>
              <a:rPr lang="en-US" altLang="zh-CN" dirty="0"/>
              <a:t>* p){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en-US" altLang="zh-CN" dirty="0"/>
              <a:t>    int </a:t>
            </a:r>
            <a:r>
              <a:rPr lang="en-US" altLang="zh-CN" dirty="0" err="1"/>
              <a:t>i</a:t>
            </a:r>
            <a:r>
              <a:rPr lang="en-US" altLang="zh-CN" dirty="0"/>
              <a:t>=0, j=0;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en-US" altLang="zh-CN" dirty="0"/>
              <a:t>    while(</a:t>
            </a:r>
            <a:r>
              <a:rPr lang="en-US" altLang="zh-CN" dirty="0" err="1"/>
              <a:t>i</a:t>
            </a:r>
            <a:r>
              <a:rPr lang="en-US" altLang="zh-CN" dirty="0"/>
              <a:t>&lt;s-&gt;length &amp;&amp; j&lt;p-&gt;length){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en-US" altLang="zh-CN" dirty="0"/>
              <a:t>        if(s-&gt;</a:t>
            </a:r>
            <a:r>
              <a:rPr lang="en-US" altLang="zh-CN" dirty="0" err="1"/>
              <a:t>pCharArray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]==p-&gt;</a:t>
            </a:r>
            <a:r>
              <a:rPr lang="en-US" altLang="zh-CN" dirty="0" err="1"/>
              <a:t>pCharArray</a:t>
            </a:r>
            <a:r>
              <a:rPr lang="en-US" altLang="zh-CN" dirty="0"/>
              <a:t>[j]){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en-US" altLang="zh-CN" dirty="0"/>
              <a:t>            </a:t>
            </a:r>
            <a:r>
              <a:rPr lang="en-US" altLang="zh-CN" dirty="0" err="1"/>
              <a:t>i</a:t>
            </a:r>
            <a:r>
              <a:rPr lang="en-US" altLang="zh-CN" dirty="0"/>
              <a:t>++;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en-US" altLang="zh-CN" dirty="0"/>
              <a:t>            </a:t>
            </a:r>
            <a:r>
              <a:rPr lang="en-US" altLang="zh-CN" dirty="0" err="1"/>
              <a:t>j++</a:t>
            </a:r>
            <a:r>
              <a:rPr lang="en-US" altLang="zh-CN" dirty="0"/>
              <a:t>;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en-US" altLang="zh-CN" dirty="0"/>
              <a:t>        }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en-US" altLang="zh-CN" dirty="0"/>
              <a:t>        else {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en-US" altLang="zh-CN" dirty="0"/>
              <a:t>            </a:t>
            </a:r>
            <a:r>
              <a:rPr lang="en-US" altLang="zh-CN" dirty="0" err="1"/>
              <a:t>i</a:t>
            </a:r>
            <a:r>
              <a:rPr lang="en-US" altLang="zh-CN" dirty="0"/>
              <a:t>=i-j+1;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en-US" altLang="zh-CN" dirty="0"/>
              <a:t>            j=0;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en-US" altLang="zh-CN" dirty="0"/>
              <a:t>        }</a:t>
            </a:r>
          </a:p>
        </p:txBody>
      </p:sp>
    </p:spTree>
    <p:extLst>
      <p:ext uri="{BB962C8B-B14F-4D97-AF65-F5344CB8AC3E}">
        <p14:creationId xmlns:p14="http://schemas.microsoft.com/office/powerpoint/2010/main" val="38506263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E86370-70E5-4F79-9B95-7C63C15EC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串的模式匹配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B91A15-2966-4186-AE44-4F79F961E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95400"/>
            <a:ext cx="11582400" cy="5181600"/>
          </a:xfrm>
        </p:spPr>
        <p:txBody>
          <a:bodyPr/>
          <a:lstStyle/>
          <a:p>
            <a:pPr marL="0" lvl="1" indent="0">
              <a:lnSpc>
                <a:spcPct val="100000"/>
              </a:lnSpc>
              <a:buNone/>
            </a:pPr>
            <a:r>
              <a:rPr lang="en-US" altLang="zh-CN" dirty="0"/>
              <a:t>    } // End of while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en-US" altLang="zh-CN" dirty="0"/>
              <a:t>    if (j==p-&gt;length) { // </a:t>
            </a:r>
            <a:r>
              <a:rPr lang="zh-CN" altLang="en-US" dirty="0"/>
              <a:t>找到了</a:t>
            </a:r>
            <a:endParaRPr lang="en-US" altLang="zh-CN" dirty="0"/>
          </a:p>
          <a:p>
            <a:pPr marL="0" lvl="1" indent="0">
              <a:lnSpc>
                <a:spcPct val="100000"/>
              </a:lnSpc>
              <a:buNone/>
            </a:pPr>
            <a:r>
              <a:rPr lang="en-US" altLang="zh-CN" dirty="0"/>
              <a:t>        return </a:t>
            </a:r>
            <a:r>
              <a:rPr lang="en-US" altLang="zh-CN" dirty="0" err="1"/>
              <a:t>i</a:t>
            </a:r>
            <a:r>
              <a:rPr lang="en-US" altLang="zh-CN" dirty="0"/>
              <a:t>-j;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en-US" altLang="zh-CN" dirty="0"/>
              <a:t>    }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en-US" altLang="zh-CN" dirty="0"/>
              <a:t>    else {  // </a:t>
            </a:r>
            <a:r>
              <a:rPr lang="zh-CN" altLang="en-US" dirty="0"/>
              <a:t>没找到</a:t>
            </a:r>
            <a:endParaRPr lang="en-US" altLang="zh-CN" dirty="0"/>
          </a:p>
          <a:p>
            <a:pPr marL="0" lvl="1" indent="0">
              <a:lnSpc>
                <a:spcPct val="100000"/>
              </a:lnSpc>
              <a:buNone/>
            </a:pPr>
            <a:r>
              <a:rPr lang="en-US" altLang="zh-CN" dirty="0"/>
              <a:t>        return -1;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en-US" altLang="zh-CN" dirty="0"/>
              <a:t>    }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en-US" altLang="zh-C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544060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E86370-70E5-4F79-9B95-7C63C15EC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串的简单匹配过程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B91A15-2966-4186-AE44-4F79F961E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1" indent="0">
              <a:lnSpc>
                <a:spcPct val="100000"/>
              </a:lnSpc>
              <a:buNone/>
            </a:pPr>
            <a:r>
              <a:rPr lang="zh-CN" altLang="en-US" dirty="0"/>
              <a:t>第一趟匹配</a:t>
            </a:r>
            <a:endParaRPr lang="en-US" altLang="zh-CN" dirty="0"/>
          </a:p>
          <a:p>
            <a:pPr marL="0" lvl="1" indent="0">
              <a:lnSpc>
                <a:spcPct val="100000"/>
              </a:lnSpc>
              <a:buNone/>
            </a:pPr>
            <a:r>
              <a:rPr lang="zh-CN" altLang="en-US" dirty="0"/>
              <a:t>    主串：</a:t>
            </a:r>
            <a:r>
              <a:rPr lang="en-US" altLang="zh-CN" dirty="0"/>
              <a:t>a b </a:t>
            </a:r>
            <a:r>
              <a:rPr lang="en-US" altLang="zh-CN" sz="3600" b="1" dirty="0">
                <a:solidFill>
                  <a:srgbClr val="FF0000"/>
                </a:solidFill>
              </a:rPr>
              <a:t>a</a:t>
            </a:r>
            <a:r>
              <a:rPr lang="en-US" altLang="zh-CN" dirty="0"/>
              <a:t> b c a b c a c b a b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zh-CN" altLang="en-US" dirty="0"/>
              <a:t>    子串：</a:t>
            </a:r>
            <a:r>
              <a:rPr lang="en-US" altLang="zh-CN" dirty="0"/>
              <a:t>a b </a:t>
            </a:r>
            <a:r>
              <a:rPr lang="en-US" altLang="zh-CN" sz="3600" b="1" dirty="0">
                <a:solidFill>
                  <a:srgbClr val="FF0000"/>
                </a:solidFill>
              </a:rPr>
              <a:t>c</a:t>
            </a:r>
            <a:r>
              <a:rPr lang="en-US" altLang="zh-CN" dirty="0"/>
              <a:t> a c 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zh-CN" altLang="en-US" dirty="0"/>
              <a:t>第二趟匹配</a:t>
            </a:r>
            <a:endParaRPr lang="en-US" altLang="zh-CN" dirty="0"/>
          </a:p>
          <a:p>
            <a:pPr marL="0" lvl="1" indent="0">
              <a:lnSpc>
                <a:spcPct val="100000"/>
              </a:lnSpc>
              <a:buNone/>
            </a:pPr>
            <a:r>
              <a:rPr lang="zh-CN" altLang="en-US" dirty="0"/>
              <a:t>    主串：</a:t>
            </a:r>
            <a:r>
              <a:rPr lang="en-US" altLang="zh-CN" dirty="0"/>
              <a:t>a </a:t>
            </a:r>
            <a:r>
              <a:rPr lang="en-US" altLang="zh-CN" b="1" dirty="0">
                <a:solidFill>
                  <a:srgbClr val="FF0000"/>
                </a:solidFill>
              </a:rPr>
              <a:t>b</a:t>
            </a:r>
            <a:r>
              <a:rPr lang="en-US" altLang="zh-CN" dirty="0"/>
              <a:t> a b c a b c a c b a b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zh-CN" altLang="en-US" dirty="0"/>
              <a:t>    子串：   </a:t>
            </a:r>
            <a:r>
              <a:rPr lang="en-US" altLang="zh-CN" sz="3600" b="1" dirty="0">
                <a:solidFill>
                  <a:srgbClr val="FF0000"/>
                </a:solidFill>
              </a:rPr>
              <a:t>a</a:t>
            </a:r>
            <a:r>
              <a:rPr lang="en-US" altLang="zh-CN" dirty="0"/>
              <a:t> b c a c 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zh-CN" altLang="en-US" dirty="0"/>
              <a:t>第三趟匹配</a:t>
            </a:r>
            <a:endParaRPr lang="en-US" altLang="zh-CN" dirty="0"/>
          </a:p>
          <a:p>
            <a:pPr marL="0" lvl="1" indent="0">
              <a:lnSpc>
                <a:spcPct val="100000"/>
              </a:lnSpc>
              <a:buNone/>
            </a:pPr>
            <a:r>
              <a:rPr lang="zh-CN" altLang="en-US" dirty="0"/>
              <a:t>    主串：</a:t>
            </a:r>
            <a:r>
              <a:rPr lang="en-US" altLang="zh-CN" dirty="0"/>
              <a:t>a b a b c a </a:t>
            </a:r>
            <a:r>
              <a:rPr lang="en-US" altLang="zh-CN" b="1" dirty="0">
                <a:solidFill>
                  <a:srgbClr val="FF0000"/>
                </a:solidFill>
              </a:rPr>
              <a:t>b</a:t>
            </a:r>
            <a:r>
              <a:rPr lang="en-US" altLang="zh-CN" dirty="0"/>
              <a:t> c a c b a b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zh-CN" altLang="en-US" dirty="0"/>
              <a:t>    子串：      </a:t>
            </a:r>
            <a:r>
              <a:rPr lang="en-US" altLang="zh-CN" dirty="0"/>
              <a:t>a b c a </a:t>
            </a:r>
            <a:r>
              <a:rPr lang="en-US" altLang="zh-CN" sz="3600" b="1" dirty="0">
                <a:solidFill>
                  <a:srgbClr val="FF0000"/>
                </a:solidFill>
              </a:rPr>
              <a:t>c</a:t>
            </a:r>
            <a:r>
              <a:rPr lang="en-US" altLang="zh-CN" dirty="0"/>
              <a:t> </a:t>
            </a:r>
          </a:p>
          <a:p>
            <a:pPr marL="0" lvl="1" indent="0">
              <a:lnSpc>
                <a:spcPct val="100000"/>
              </a:lnSpc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935475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E86370-70E5-4F79-9B95-7C63C15EC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串的简单匹配过程（续）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B91A15-2966-4186-AE44-4F79F961ED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4800" y="1524000"/>
            <a:ext cx="6705600" cy="4800600"/>
          </a:xfrm>
        </p:spPr>
        <p:txBody>
          <a:bodyPr/>
          <a:lstStyle/>
          <a:p>
            <a:pPr marL="0" lvl="1" indent="0">
              <a:lnSpc>
                <a:spcPct val="100000"/>
              </a:lnSpc>
              <a:buNone/>
            </a:pPr>
            <a:r>
              <a:rPr lang="zh-CN" altLang="en-US" dirty="0"/>
              <a:t>第四趟匹配</a:t>
            </a:r>
            <a:endParaRPr lang="en-US" altLang="zh-CN" dirty="0"/>
          </a:p>
          <a:p>
            <a:pPr marL="0" lvl="1" indent="0">
              <a:lnSpc>
                <a:spcPct val="100000"/>
              </a:lnSpc>
              <a:buNone/>
            </a:pPr>
            <a:r>
              <a:rPr lang="zh-CN" altLang="en-US" dirty="0"/>
              <a:t>    主串：</a:t>
            </a:r>
            <a:r>
              <a:rPr lang="en-US" altLang="zh-CN" dirty="0"/>
              <a:t>a b a </a:t>
            </a:r>
            <a:r>
              <a:rPr lang="en-US" altLang="zh-CN" sz="3600" b="1" dirty="0">
                <a:solidFill>
                  <a:srgbClr val="FF0000"/>
                </a:solidFill>
              </a:rPr>
              <a:t>b</a:t>
            </a:r>
            <a:r>
              <a:rPr lang="en-US" altLang="zh-CN" dirty="0"/>
              <a:t> c a b c a c b a b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zh-CN" altLang="en-US" dirty="0"/>
              <a:t>    子串：         </a:t>
            </a:r>
            <a:r>
              <a:rPr lang="en-US" altLang="zh-CN" sz="3600" b="1" dirty="0">
                <a:solidFill>
                  <a:srgbClr val="FF0000"/>
                </a:solidFill>
              </a:rPr>
              <a:t>a</a:t>
            </a:r>
            <a:r>
              <a:rPr lang="en-US" altLang="zh-CN" dirty="0"/>
              <a:t> b c a c 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zh-CN" altLang="en-US" dirty="0"/>
              <a:t>第五趟匹配</a:t>
            </a:r>
            <a:endParaRPr lang="en-US" altLang="zh-CN" dirty="0"/>
          </a:p>
          <a:p>
            <a:pPr marL="0" lvl="1" indent="0">
              <a:lnSpc>
                <a:spcPct val="100000"/>
              </a:lnSpc>
              <a:buNone/>
            </a:pPr>
            <a:r>
              <a:rPr lang="zh-CN" altLang="en-US" dirty="0"/>
              <a:t>    主串：</a:t>
            </a:r>
            <a:r>
              <a:rPr lang="en-US" altLang="zh-CN" dirty="0"/>
              <a:t>a b a b </a:t>
            </a:r>
            <a:r>
              <a:rPr lang="en-US" altLang="zh-CN" sz="3600" b="1" dirty="0">
                <a:solidFill>
                  <a:srgbClr val="FF0000"/>
                </a:solidFill>
              </a:rPr>
              <a:t>c</a:t>
            </a:r>
            <a:r>
              <a:rPr lang="en-US" altLang="zh-CN" dirty="0"/>
              <a:t> a b c a c b a b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zh-CN" altLang="en-US" dirty="0"/>
              <a:t>    子串：            </a:t>
            </a:r>
            <a:r>
              <a:rPr lang="en-US" altLang="zh-CN" sz="3600" b="1" dirty="0">
                <a:solidFill>
                  <a:srgbClr val="FF0000"/>
                </a:solidFill>
              </a:rPr>
              <a:t>a</a:t>
            </a:r>
            <a:r>
              <a:rPr lang="en-US" altLang="zh-CN" dirty="0"/>
              <a:t> b c a c 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zh-CN" altLang="en-US" dirty="0"/>
              <a:t>第六趟匹配</a:t>
            </a:r>
            <a:endParaRPr lang="en-US" altLang="zh-CN" dirty="0"/>
          </a:p>
          <a:p>
            <a:pPr marL="0" lvl="1" indent="0">
              <a:lnSpc>
                <a:spcPct val="100000"/>
              </a:lnSpc>
              <a:buNone/>
            </a:pPr>
            <a:r>
              <a:rPr lang="zh-CN" altLang="en-US" dirty="0"/>
              <a:t>    主串：</a:t>
            </a:r>
            <a:r>
              <a:rPr lang="en-US" altLang="zh-CN" dirty="0"/>
              <a:t>a b a b c </a:t>
            </a:r>
            <a:r>
              <a:rPr lang="en-US" altLang="zh-CN" u="sng" dirty="0"/>
              <a:t>a b c a c </a:t>
            </a:r>
            <a:r>
              <a:rPr lang="en-US" altLang="zh-CN" dirty="0"/>
              <a:t>b a b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zh-CN" altLang="en-US" dirty="0"/>
              <a:t>    子串：               </a:t>
            </a:r>
            <a:r>
              <a:rPr lang="en-US" altLang="zh-CN" dirty="0"/>
              <a:t>a b c a c </a:t>
            </a:r>
          </a:p>
          <a:p>
            <a:pPr marL="0" lvl="1" indent="0">
              <a:lnSpc>
                <a:spcPct val="100000"/>
              </a:lnSpc>
              <a:buNone/>
            </a:pPr>
            <a:endParaRPr lang="en-US" altLang="zh-CN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2643378-A8D7-47EA-AB5D-B605540804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62800" y="1524000"/>
            <a:ext cx="4724400" cy="4800600"/>
          </a:xfrm>
        </p:spPr>
        <p:txBody>
          <a:bodyPr/>
          <a:lstStyle/>
          <a:p>
            <a:pPr marL="0" indent="0">
              <a:buNone/>
            </a:pPr>
            <a:r>
              <a:rPr lang="zh-CN" altLang="en-US" b="0" dirty="0"/>
              <a:t>设主串长为</a:t>
            </a:r>
            <a:r>
              <a:rPr lang="en-US" altLang="zh-CN" b="0" dirty="0"/>
              <a:t>n,</a:t>
            </a:r>
            <a:r>
              <a:rPr lang="zh-CN" altLang="en-US" b="0" dirty="0"/>
              <a:t> 模式串长为</a:t>
            </a:r>
            <a:r>
              <a:rPr lang="en-US" altLang="zh-CN" b="0" dirty="0"/>
              <a:t>m</a:t>
            </a:r>
            <a:r>
              <a:rPr lang="zh-CN" altLang="en-US" b="0" dirty="0"/>
              <a:t>，则简单匹配的时间复杂度为：</a:t>
            </a:r>
            <a:r>
              <a:rPr lang="en-US" altLang="zh-CN" b="0" dirty="0"/>
              <a:t>O(n*m)</a:t>
            </a:r>
            <a:r>
              <a:rPr lang="zh-CN" altLang="en-US" b="0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5024192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29A29F-ED7F-4238-A555-4FACFA6C6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KMP</a:t>
            </a:r>
            <a:r>
              <a:rPr lang="zh-CN" altLang="en-US" dirty="0"/>
              <a:t>算法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21B861D-B739-48C8-B4D9-D716BAC2FF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KMP</a:t>
            </a:r>
            <a:r>
              <a:rPr lang="zh-CN" altLang="en-US" dirty="0"/>
              <a:t>是一种改进的串匹配算法。</a:t>
            </a:r>
            <a:endParaRPr lang="en-US" altLang="zh-CN" dirty="0"/>
          </a:p>
          <a:p>
            <a:pPr lvl="1"/>
            <a:r>
              <a:rPr lang="en-US" altLang="zh-CN" dirty="0"/>
              <a:t>K</a:t>
            </a:r>
            <a:r>
              <a:rPr lang="zh-CN" altLang="en-US" dirty="0"/>
              <a:t>：</a:t>
            </a:r>
            <a:r>
              <a:rPr lang="en-US" altLang="zh-CN" dirty="0"/>
              <a:t>D. E. Knuth</a:t>
            </a:r>
          </a:p>
          <a:p>
            <a:pPr lvl="1"/>
            <a:r>
              <a:rPr lang="en-US" altLang="zh-CN" dirty="0"/>
              <a:t>M:</a:t>
            </a:r>
            <a:r>
              <a:rPr lang="zh-CN" altLang="en-US" dirty="0"/>
              <a:t> </a:t>
            </a:r>
            <a:r>
              <a:rPr lang="en-US" altLang="zh-CN" dirty="0"/>
              <a:t> J. H. Morris</a:t>
            </a:r>
          </a:p>
          <a:p>
            <a:pPr lvl="1"/>
            <a:r>
              <a:rPr lang="en-US" altLang="zh-CN" dirty="0"/>
              <a:t>P</a:t>
            </a:r>
            <a:r>
              <a:rPr lang="zh-CN" altLang="en-US" dirty="0"/>
              <a:t>：</a:t>
            </a:r>
            <a:r>
              <a:rPr lang="en-US" altLang="zh-CN" dirty="0"/>
              <a:t>V. R. Pratt</a:t>
            </a:r>
          </a:p>
          <a:p>
            <a:r>
              <a:rPr lang="en-US" altLang="zh-CN" dirty="0"/>
              <a:t>KMP</a:t>
            </a:r>
            <a:r>
              <a:rPr lang="zh-CN" altLang="en-US" dirty="0"/>
              <a:t>的时间复杂度：</a:t>
            </a:r>
            <a:r>
              <a:rPr lang="en-US" altLang="zh-CN" dirty="0"/>
              <a:t>O(</a:t>
            </a:r>
            <a:r>
              <a:rPr lang="en-US" altLang="zh-CN" dirty="0" err="1"/>
              <a:t>n+m</a:t>
            </a:r>
            <a:r>
              <a:rPr lang="en-US" altLang="zh-CN" dirty="0"/>
              <a:t>)</a:t>
            </a:r>
            <a:r>
              <a:rPr lang="zh-CN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8261412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E86370-70E5-4F79-9B95-7C63C15EC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KMP</a:t>
            </a:r>
            <a:r>
              <a:rPr lang="zh-CN" altLang="en-US" dirty="0"/>
              <a:t>算法的匹配过程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B91A15-2966-4186-AE44-4F79F961E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1" indent="0">
              <a:lnSpc>
                <a:spcPct val="100000"/>
              </a:lnSpc>
              <a:buNone/>
            </a:pPr>
            <a:r>
              <a:rPr lang="zh-CN" altLang="en-US" dirty="0"/>
              <a:t>第一趟匹配</a:t>
            </a:r>
            <a:endParaRPr lang="en-US" altLang="zh-CN" dirty="0"/>
          </a:p>
          <a:p>
            <a:pPr marL="0" lvl="1" indent="0">
              <a:lnSpc>
                <a:spcPct val="100000"/>
              </a:lnSpc>
              <a:buNone/>
            </a:pPr>
            <a:r>
              <a:rPr lang="zh-CN" altLang="en-US" dirty="0"/>
              <a:t>    主串：</a:t>
            </a:r>
            <a:r>
              <a:rPr lang="en-US" altLang="zh-CN" dirty="0"/>
              <a:t>a b </a:t>
            </a:r>
            <a:r>
              <a:rPr lang="en-US" altLang="zh-CN" b="1" dirty="0">
                <a:solidFill>
                  <a:srgbClr val="FF0000"/>
                </a:solidFill>
              </a:rPr>
              <a:t>a</a:t>
            </a:r>
            <a:r>
              <a:rPr lang="en-US" altLang="zh-CN" dirty="0"/>
              <a:t> b c a b c a c b a b  ( </a:t>
            </a:r>
            <a:r>
              <a:rPr lang="en-US" altLang="zh-CN" dirty="0" err="1"/>
              <a:t>i</a:t>
            </a:r>
            <a:r>
              <a:rPr lang="en-US" altLang="zh-CN" dirty="0"/>
              <a:t>=0…2 )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zh-CN" altLang="en-US" dirty="0"/>
              <a:t>    模串：</a:t>
            </a:r>
            <a:r>
              <a:rPr lang="en-US" altLang="zh-CN" dirty="0"/>
              <a:t>a b </a:t>
            </a:r>
            <a:r>
              <a:rPr lang="en-US" altLang="zh-CN" b="1" dirty="0">
                <a:solidFill>
                  <a:srgbClr val="FF0000"/>
                </a:solidFill>
              </a:rPr>
              <a:t>c</a:t>
            </a:r>
            <a:r>
              <a:rPr lang="en-US" altLang="zh-CN" dirty="0"/>
              <a:t> a c                          ( j=0…2 )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zh-CN" altLang="en-US" dirty="0"/>
              <a:t>第二趟匹配</a:t>
            </a:r>
            <a:endParaRPr lang="en-US" altLang="zh-CN" dirty="0"/>
          </a:p>
          <a:p>
            <a:pPr marL="0" lvl="1" indent="0">
              <a:lnSpc>
                <a:spcPct val="100000"/>
              </a:lnSpc>
              <a:buNone/>
            </a:pPr>
            <a:r>
              <a:rPr lang="zh-CN" altLang="en-US" dirty="0"/>
              <a:t>    主串：</a:t>
            </a:r>
            <a:r>
              <a:rPr lang="en-US" altLang="zh-CN" dirty="0"/>
              <a:t>a b </a:t>
            </a:r>
            <a:r>
              <a:rPr lang="en-US" altLang="zh-CN" b="1" dirty="0">
                <a:uFill>
                  <a:solidFill>
                    <a:srgbClr val="FF0000"/>
                  </a:solidFill>
                </a:uFill>
              </a:rPr>
              <a:t>a</a:t>
            </a:r>
            <a:r>
              <a:rPr lang="en-US" altLang="zh-CN" dirty="0"/>
              <a:t> b c a </a:t>
            </a:r>
            <a:r>
              <a:rPr lang="en-US" altLang="zh-CN" b="1" dirty="0">
                <a:solidFill>
                  <a:srgbClr val="FF0000"/>
                </a:solidFill>
              </a:rPr>
              <a:t>b</a:t>
            </a:r>
            <a:r>
              <a:rPr lang="en-US" altLang="zh-CN" dirty="0"/>
              <a:t> c a c b a b  ( </a:t>
            </a:r>
            <a:r>
              <a:rPr lang="en-US" altLang="zh-CN" dirty="0" err="1"/>
              <a:t>i</a:t>
            </a:r>
            <a:r>
              <a:rPr lang="en-US" altLang="zh-CN" dirty="0"/>
              <a:t>=2…6 )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zh-CN" altLang="en-US" dirty="0"/>
              <a:t>    模串：      </a:t>
            </a:r>
            <a:r>
              <a:rPr lang="en-US" altLang="zh-CN" b="1" dirty="0"/>
              <a:t>a</a:t>
            </a:r>
            <a:r>
              <a:rPr lang="en-US" altLang="zh-CN" dirty="0"/>
              <a:t> b c a </a:t>
            </a:r>
            <a:r>
              <a:rPr lang="en-US" altLang="zh-CN" b="1" dirty="0">
                <a:solidFill>
                  <a:srgbClr val="FF0000"/>
                </a:solidFill>
              </a:rPr>
              <a:t>c</a:t>
            </a:r>
            <a:r>
              <a:rPr lang="en-US" altLang="zh-CN" dirty="0"/>
              <a:t>                    ( j=0…4 )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zh-CN" altLang="en-US" dirty="0"/>
              <a:t>第三趟匹配</a:t>
            </a:r>
            <a:endParaRPr lang="en-US" altLang="zh-CN" dirty="0"/>
          </a:p>
          <a:p>
            <a:pPr marL="0" lvl="1" indent="0">
              <a:lnSpc>
                <a:spcPct val="100000"/>
              </a:lnSpc>
              <a:buNone/>
            </a:pPr>
            <a:r>
              <a:rPr lang="zh-CN" altLang="en-US" dirty="0"/>
              <a:t>    主串：</a:t>
            </a:r>
            <a:r>
              <a:rPr lang="en-US" altLang="zh-CN" dirty="0"/>
              <a:t>a b a b c </a:t>
            </a:r>
            <a:r>
              <a:rPr lang="en-US" altLang="zh-CN" u="wavyHeavy" dirty="0"/>
              <a:t>a </a:t>
            </a:r>
            <a:r>
              <a:rPr lang="en-US" altLang="zh-CN" b="1" u="wavyHeavy" dirty="0"/>
              <a:t>b</a:t>
            </a:r>
            <a:r>
              <a:rPr lang="en-US" altLang="zh-CN" u="wavyHeavy" dirty="0"/>
              <a:t> c a c</a:t>
            </a:r>
            <a:r>
              <a:rPr lang="en-US" altLang="zh-CN" dirty="0"/>
              <a:t> b a b  ( </a:t>
            </a:r>
            <a:r>
              <a:rPr lang="en-US" altLang="zh-CN" dirty="0" err="1"/>
              <a:t>i</a:t>
            </a:r>
            <a:r>
              <a:rPr lang="en-US" altLang="zh-CN" dirty="0"/>
              <a:t>=6…10 )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zh-CN" altLang="en-US" dirty="0"/>
              <a:t>    模串：              </a:t>
            </a:r>
            <a:r>
              <a:rPr lang="en-US" altLang="zh-CN" dirty="0"/>
              <a:t> a </a:t>
            </a:r>
            <a:r>
              <a:rPr lang="en-US" altLang="zh-CN" b="1" dirty="0"/>
              <a:t>b</a:t>
            </a:r>
            <a:r>
              <a:rPr lang="en-US" altLang="zh-CN" dirty="0"/>
              <a:t> c a c           ( j=1…5 )</a:t>
            </a:r>
          </a:p>
          <a:p>
            <a:pPr marL="0" lvl="1" indent="0">
              <a:lnSpc>
                <a:spcPct val="100000"/>
              </a:lnSpc>
              <a:buNone/>
            </a:pPr>
            <a:endParaRPr lang="en-US" altLang="zh-CN" dirty="0"/>
          </a:p>
        </p:txBody>
      </p:sp>
      <p:sp>
        <p:nvSpPr>
          <p:cNvPr id="6" name="等腰三角形 5">
            <a:extLst>
              <a:ext uri="{FF2B5EF4-FFF2-40B4-BE49-F238E27FC236}">
                <a16:creationId xmlns:a16="http://schemas.microsoft.com/office/drawing/2014/main" id="{33817D1D-592D-46A7-85AE-F0565C051080}"/>
              </a:ext>
            </a:extLst>
          </p:cNvPr>
          <p:cNvSpPr/>
          <p:nvPr/>
        </p:nvSpPr>
        <p:spPr bwMode="auto">
          <a:xfrm>
            <a:off x="2851356" y="2895600"/>
            <a:ext cx="152400" cy="228600"/>
          </a:xfrm>
          <a:prstGeom prst="triangle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" name="等腰三角形 6">
            <a:extLst>
              <a:ext uri="{FF2B5EF4-FFF2-40B4-BE49-F238E27FC236}">
                <a16:creationId xmlns:a16="http://schemas.microsoft.com/office/drawing/2014/main" id="{3BEA71D7-E1FD-4390-BA2A-50D9B3F5A1DC}"/>
              </a:ext>
            </a:extLst>
          </p:cNvPr>
          <p:cNvSpPr/>
          <p:nvPr/>
        </p:nvSpPr>
        <p:spPr bwMode="auto">
          <a:xfrm>
            <a:off x="4269660" y="4343400"/>
            <a:ext cx="152400" cy="228600"/>
          </a:xfrm>
          <a:prstGeom prst="triangle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8" name="流程图: 合并 7">
            <a:extLst>
              <a:ext uri="{FF2B5EF4-FFF2-40B4-BE49-F238E27FC236}">
                <a16:creationId xmlns:a16="http://schemas.microsoft.com/office/drawing/2014/main" id="{F619DD62-7753-4138-92F9-DA313866BA6A}"/>
              </a:ext>
            </a:extLst>
          </p:cNvPr>
          <p:cNvSpPr/>
          <p:nvPr/>
        </p:nvSpPr>
        <p:spPr bwMode="auto">
          <a:xfrm>
            <a:off x="2851356" y="1769808"/>
            <a:ext cx="167148" cy="228600"/>
          </a:xfrm>
          <a:prstGeom prst="flowChartMerge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9" name="流程图: 合并 8">
            <a:extLst>
              <a:ext uri="{FF2B5EF4-FFF2-40B4-BE49-F238E27FC236}">
                <a16:creationId xmlns:a16="http://schemas.microsoft.com/office/drawing/2014/main" id="{4B21BA1F-0FFC-47C8-8756-E4BF54520A13}"/>
              </a:ext>
            </a:extLst>
          </p:cNvPr>
          <p:cNvSpPr/>
          <p:nvPr/>
        </p:nvSpPr>
        <p:spPr bwMode="auto">
          <a:xfrm>
            <a:off x="5641260" y="4572000"/>
            <a:ext cx="152400" cy="266700"/>
          </a:xfrm>
          <a:prstGeom prst="flowChartMerge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0" name="流程图: 合并 9">
            <a:extLst>
              <a:ext uri="{FF2B5EF4-FFF2-40B4-BE49-F238E27FC236}">
                <a16:creationId xmlns:a16="http://schemas.microsoft.com/office/drawing/2014/main" id="{8488FDC6-716A-4288-9AC3-3BE2871744F1}"/>
              </a:ext>
            </a:extLst>
          </p:cNvPr>
          <p:cNvSpPr/>
          <p:nvPr/>
        </p:nvSpPr>
        <p:spPr bwMode="auto">
          <a:xfrm>
            <a:off x="4281948" y="3094704"/>
            <a:ext cx="152400" cy="266700"/>
          </a:xfrm>
          <a:prstGeom prst="flowChartMerge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1" name="等腰三角形 10">
            <a:extLst>
              <a:ext uri="{FF2B5EF4-FFF2-40B4-BE49-F238E27FC236}">
                <a16:creationId xmlns:a16="http://schemas.microsoft.com/office/drawing/2014/main" id="{B9DA624F-2DE5-4CC9-AB22-DED6ABFFEF73}"/>
              </a:ext>
            </a:extLst>
          </p:cNvPr>
          <p:cNvSpPr/>
          <p:nvPr/>
        </p:nvSpPr>
        <p:spPr bwMode="auto">
          <a:xfrm>
            <a:off x="5656008" y="5715000"/>
            <a:ext cx="152400" cy="228600"/>
          </a:xfrm>
          <a:prstGeom prst="triangle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69324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4074EB-EB4D-43CA-8C19-442B35BAE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KMP</a:t>
            </a:r>
            <a:r>
              <a:rPr lang="zh-CN" altLang="en-US" dirty="0"/>
              <a:t>算法的基本思想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575963-92D4-4692-9739-5733B19E4B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19200"/>
            <a:ext cx="11658600" cy="5486400"/>
          </a:xfrm>
        </p:spPr>
        <p:txBody>
          <a:bodyPr/>
          <a:lstStyle/>
          <a:p>
            <a:r>
              <a:rPr lang="zh-CN" altLang="en-US" dirty="0"/>
              <a:t>当 </a:t>
            </a:r>
            <a:r>
              <a:rPr lang="en-US" altLang="zh-CN" dirty="0"/>
              <a:t>s[</a:t>
            </a:r>
            <a:r>
              <a:rPr lang="en-US" altLang="zh-CN" dirty="0" err="1">
                <a:solidFill>
                  <a:srgbClr val="FF0000"/>
                </a:solidFill>
              </a:rPr>
              <a:t>i</a:t>
            </a:r>
            <a:r>
              <a:rPr lang="en-US" altLang="zh-CN" dirty="0"/>
              <a:t>]</a:t>
            </a:r>
            <a:r>
              <a:rPr lang="en-US" altLang="zh-CN" sz="4000" baseline="-25000" dirty="0"/>
              <a:t> </a:t>
            </a:r>
            <a:r>
              <a:rPr lang="zh-CN" altLang="en-US" dirty="0"/>
              <a:t>与 </a:t>
            </a:r>
            <a:r>
              <a:rPr lang="en-US" altLang="zh-CN" dirty="0"/>
              <a:t>p[</a:t>
            </a:r>
            <a:r>
              <a:rPr lang="en-US" altLang="zh-CN" dirty="0">
                <a:solidFill>
                  <a:srgbClr val="FF0000"/>
                </a:solidFill>
              </a:rPr>
              <a:t>j</a:t>
            </a:r>
            <a:r>
              <a:rPr lang="en-US" altLang="zh-CN" dirty="0"/>
              <a:t>]</a:t>
            </a:r>
            <a:r>
              <a:rPr lang="en-US" altLang="zh-CN" sz="4000" baseline="-25000" dirty="0"/>
              <a:t> </a:t>
            </a:r>
            <a:r>
              <a:rPr lang="zh-CN" altLang="en-US" dirty="0"/>
              <a:t>失配时</a:t>
            </a:r>
            <a:endParaRPr lang="en-US" altLang="zh-CN" dirty="0"/>
          </a:p>
          <a:p>
            <a:pPr lvl="1"/>
            <a:r>
              <a:rPr lang="zh-CN" altLang="en-US" dirty="0"/>
              <a:t>主串</a:t>
            </a:r>
            <a:r>
              <a:rPr lang="en-US" altLang="zh-CN" dirty="0"/>
              <a:t>s</a:t>
            </a:r>
            <a:r>
              <a:rPr lang="zh-CN" altLang="en-US" dirty="0"/>
              <a:t>下标：</a:t>
            </a:r>
            <a:r>
              <a:rPr lang="en-US" altLang="zh-CN" dirty="0"/>
              <a:t>0  1  2 … </a:t>
            </a:r>
            <a:r>
              <a:rPr lang="en-US" altLang="zh-CN" dirty="0">
                <a:solidFill>
                  <a:srgbClr val="006600"/>
                </a:solidFill>
              </a:rPr>
              <a:t>■ …………... </a:t>
            </a:r>
            <a:r>
              <a:rPr lang="en-US" altLang="zh-CN" b="1" u="dbl" dirty="0">
                <a:solidFill>
                  <a:srgbClr val="006600"/>
                </a:solidFill>
                <a:uFill>
                  <a:solidFill>
                    <a:srgbClr val="006600"/>
                  </a:solidFill>
                </a:uFill>
              </a:rPr>
              <a:t>■ … ■</a:t>
            </a:r>
            <a:r>
              <a:rPr lang="en-US" altLang="zh-CN" b="1" dirty="0">
                <a:solidFill>
                  <a:srgbClr val="006600"/>
                </a:solidFill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</a:rPr>
              <a:t>i</a:t>
            </a:r>
            <a:r>
              <a:rPr lang="en-US" altLang="zh-CN" dirty="0"/>
              <a:t> ……….…(n-1)</a:t>
            </a:r>
          </a:p>
          <a:p>
            <a:pPr lvl="1"/>
            <a:r>
              <a:rPr lang="zh-CN" altLang="en-US" dirty="0"/>
              <a:t>模串</a:t>
            </a:r>
            <a:r>
              <a:rPr lang="en-US" altLang="zh-CN" dirty="0"/>
              <a:t>p</a:t>
            </a:r>
            <a:r>
              <a:rPr lang="zh-CN" altLang="en-US" dirty="0"/>
              <a:t>下标：              </a:t>
            </a:r>
            <a:r>
              <a:rPr lang="en-US" altLang="zh-CN" b="1" u="dbl" dirty="0">
                <a:solidFill>
                  <a:srgbClr val="006600"/>
                </a:solidFill>
                <a:uFill>
                  <a:solidFill>
                    <a:schemeClr val="accent2"/>
                  </a:solidFill>
                </a:uFill>
              </a:rPr>
              <a:t>0 … □</a:t>
            </a:r>
            <a:r>
              <a:rPr lang="en-US" altLang="zh-CN" b="1" dirty="0">
                <a:solidFill>
                  <a:srgbClr val="006600"/>
                </a:solidFill>
                <a:uFill>
                  <a:solidFill>
                    <a:schemeClr val="accent2"/>
                  </a:solidFill>
                </a:uFill>
              </a:rPr>
              <a:t> </a:t>
            </a:r>
            <a:r>
              <a:rPr lang="en-US" altLang="zh-CN" b="1" dirty="0">
                <a:solidFill>
                  <a:schemeClr val="accent2"/>
                </a:solidFill>
              </a:rPr>
              <a:t>k</a:t>
            </a:r>
            <a:r>
              <a:rPr lang="zh-CN" altLang="en-US" dirty="0">
                <a:solidFill>
                  <a:srgbClr val="006600"/>
                </a:solidFill>
              </a:rPr>
              <a:t> </a:t>
            </a:r>
            <a:r>
              <a:rPr lang="en-US" altLang="zh-CN" dirty="0"/>
              <a:t>…</a:t>
            </a:r>
            <a:r>
              <a:rPr lang="en-US" altLang="zh-CN" dirty="0">
                <a:solidFill>
                  <a:srgbClr val="006600"/>
                </a:solidFill>
              </a:rPr>
              <a:t> </a:t>
            </a:r>
            <a:r>
              <a:rPr lang="en-US" altLang="zh-CN" b="1" u="dbl" dirty="0">
                <a:solidFill>
                  <a:srgbClr val="006600"/>
                </a:solidFill>
                <a:uFill>
                  <a:solidFill>
                    <a:schemeClr val="accent2"/>
                  </a:solidFill>
                </a:uFill>
              </a:rPr>
              <a:t>□ … □</a:t>
            </a:r>
            <a:r>
              <a:rPr lang="en-US" altLang="zh-CN" b="1" dirty="0">
                <a:solidFill>
                  <a:srgbClr val="006600"/>
                </a:solidFill>
                <a:uFill>
                  <a:solidFill>
                    <a:schemeClr val="accent2"/>
                  </a:solidFill>
                </a:u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j</a:t>
            </a:r>
            <a:r>
              <a:rPr lang="en-US" altLang="zh-CN" dirty="0"/>
              <a:t> …(m-1)</a:t>
            </a:r>
          </a:p>
          <a:p>
            <a:pPr lvl="1"/>
            <a:r>
              <a:rPr lang="zh-CN" altLang="en-US" dirty="0"/>
              <a:t>移动模串</a:t>
            </a:r>
            <a:r>
              <a:rPr lang="en-US" altLang="zh-CN" dirty="0"/>
              <a:t>p</a:t>
            </a:r>
            <a:r>
              <a:rPr lang="zh-CN" altLang="en-US" dirty="0"/>
              <a:t>：                               </a:t>
            </a:r>
            <a:r>
              <a:rPr lang="en-US" altLang="zh-CN" b="1" u="dbl" dirty="0">
                <a:solidFill>
                  <a:srgbClr val="006600"/>
                </a:solidFill>
                <a:uFill>
                  <a:solidFill>
                    <a:schemeClr val="accent2"/>
                  </a:solidFill>
                </a:uFill>
              </a:rPr>
              <a:t>0 … □</a:t>
            </a:r>
            <a:r>
              <a:rPr lang="en-US" altLang="zh-CN" b="1" dirty="0">
                <a:solidFill>
                  <a:srgbClr val="006600"/>
                </a:solidFill>
                <a:uFill>
                  <a:solidFill>
                    <a:schemeClr val="accent2"/>
                  </a:solidFill>
                </a:uFill>
              </a:rPr>
              <a:t> </a:t>
            </a:r>
            <a:r>
              <a:rPr lang="en-US" altLang="zh-CN" b="1" dirty="0">
                <a:solidFill>
                  <a:schemeClr val="accent2"/>
                </a:solidFill>
              </a:rPr>
              <a:t>k</a:t>
            </a:r>
            <a:r>
              <a:rPr lang="zh-CN" altLang="en-US" dirty="0">
                <a:solidFill>
                  <a:srgbClr val="006600"/>
                </a:solidFill>
              </a:rPr>
              <a:t> </a:t>
            </a:r>
            <a:r>
              <a:rPr lang="en-US" altLang="zh-CN" dirty="0"/>
              <a:t>…</a:t>
            </a:r>
            <a:r>
              <a:rPr lang="en-US" altLang="zh-CN" dirty="0">
                <a:solidFill>
                  <a:srgbClr val="006600"/>
                </a:solidFill>
              </a:rPr>
              <a:t> </a:t>
            </a:r>
            <a:r>
              <a:rPr lang="en-US" altLang="zh-CN" b="1" u="dbl" dirty="0">
                <a:solidFill>
                  <a:srgbClr val="006600"/>
                </a:solidFill>
                <a:uFill>
                  <a:solidFill>
                    <a:schemeClr val="accent2"/>
                  </a:solidFill>
                </a:uFill>
              </a:rPr>
              <a:t>□ … □</a:t>
            </a:r>
            <a:r>
              <a:rPr lang="en-US" altLang="zh-CN" b="1" dirty="0">
                <a:solidFill>
                  <a:srgbClr val="006600"/>
                </a:solidFill>
                <a:uFill>
                  <a:solidFill>
                    <a:schemeClr val="accent2"/>
                  </a:solidFill>
                </a:u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j</a:t>
            </a:r>
            <a:r>
              <a:rPr lang="en-US" altLang="zh-CN" dirty="0"/>
              <a:t> …</a:t>
            </a:r>
          </a:p>
          <a:p>
            <a:r>
              <a:rPr lang="zh-CN" altLang="en-US" dirty="0"/>
              <a:t>怎样移动模式串</a:t>
            </a:r>
            <a:r>
              <a:rPr lang="en-US" altLang="zh-CN" dirty="0"/>
              <a:t>?</a:t>
            </a:r>
          </a:p>
          <a:p>
            <a:pPr lvl="1"/>
            <a:r>
              <a:rPr lang="zh-CN" altLang="en-US" dirty="0"/>
              <a:t>在 </a:t>
            </a:r>
            <a:r>
              <a:rPr lang="en-US" altLang="zh-CN" dirty="0"/>
              <a:t>p[0]…p[</a:t>
            </a:r>
            <a:r>
              <a:rPr lang="en-US" altLang="zh-CN" b="1" dirty="0">
                <a:solidFill>
                  <a:srgbClr val="FF0000"/>
                </a:solidFill>
              </a:rPr>
              <a:t>j</a:t>
            </a:r>
            <a:r>
              <a:rPr lang="en-US" altLang="zh-CN" dirty="0"/>
              <a:t>-1]</a:t>
            </a:r>
            <a:r>
              <a:rPr lang="zh-CN" altLang="en-US" dirty="0"/>
              <a:t>中，找相同的前后缀，并取最大长度 </a:t>
            </a:r>
            <a:r>
              <a:rPr lang="en-US" altLang="zh-CN" b="1" dirty="0">
                <a:solidFill>
                  <a:schemeClr val="accent2"/>
                </a:solidFill>
              </a:rPr>
              <a:t>k 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zh-CN" altLang="en-US" dirty="0"/>
              <a:t>右移</a:t>
            </a:r>
            <a:r>
              <a:rPr lang="en-US" altLang="zh-CN" dirty="0"/>
              <a:t>p</a:t>
            </a:r>
            <a:r>
              <a:rPr lang="zh-CN" altLang="en-US" dirty="0"/>
              <a:t>，使得 </a:t>
            </a:r>
            <a:r>
              <a:rPr lang="en-US" altLang="zh-CN" dirty="0"/>
              <a:t>p[</a:t>
            </a:r>
            <a:r>
              <a:rPr lang="en-US" altLang="zh-CN" b="1" dirty="0">
                <a:solidFill>
                  <a:schemeClr val="accent2"/>
                </a:solidFill>
              </a:rPr>
              <a:t>k</a:t>
            </a:r>
            <a:r>
              <a:rPr lang="en-US" altLang="zh-CN" dirty="0"/>
              <a:t>] </a:t>
            </a:r>
            <a:r>
              <a:rPr lang="zh-CN" altLang="en-US" dirty="0"/>
              <a:t>与 </a:t>
            </a:r>
            <a:r>
              <a:rPr lang="en-US" altLang="zh-CN" dirty="0"/>
              <a:t>s[</a:t>
            </a:r>
            <a:r>
              <a:rPr lang="en-US" altLang="zh-CN" b="1" dirty="0" err="1">
                <a:solidFill>
                  <a:srgbClr val="FF0000"/>
                </a:solidFill>
              </a:rPr>
              <a:t>i</a:t>
            </a:r>
            <a:r>
              <a:rPr lang="en-US" altLang="zh-CN" dirty="0"/>
              <a:t>] </a:t>
            </a:r>
            <a:r>
              <a:rPr lang="zh-CN" altLang="en-US" dirty="0"/>
              <a:t>对齐。</a:t>
            </a:r>
            <a:endParaRPr lang="en-US" altLang="zh-CN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7C89903-7B93-4438-8B6D-1C12A19BCC4F}"/>
              </a:ext>
            </a:extLst>
          </p:cNvPr>
          <p:cNvSpPr txBox="1"/>
          <p:nvPr/>
        </p:nvSpPr>
        <p:spPr>
          <a:xfrm>
            <a:off x="4953000" y="1701225"/>
            <a:ext cx="685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-j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199ED4A-0B47-427E-88D9-BF3D759677B8}"/>
              </a:ext>
            </a:extLst>
          </p:cNvPr>
          <p:cNvSpPr txBox="1"/>
          <p:nvPr/>
        </p:nvSpPr>
        <p:spPr>
          <a:xfrm>
            <a:off x="7010400" y="1752600"/>
            <a:ext cx="914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-k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989914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E86370-70E5-4F79-9B95-7C63C15EC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定义</a:t>
            </a:r>
            <a:r>
              <a:rPr lang="en-US" altLang="zh-CN" dirty="0"/>
              <a:t>Next</a:t>
            </a:r>
            <a:r>
              <a:rPr lang="zh-CN" altLang="en-US" dirty="0"/>
              <a:t>数组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B91A15-2966-4186-AE44-4F79F961E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1" indent="0">
              <a:lnSpc>
                <a:spcPct val="150000"/>
              </a:lnSpc>
              <a:buNone/>
            </a:pPr>
            <a:r>
              <a:rPr lang="zh-CN" altLang="en-US" dirty="0"/>
              <a:t>如果 </a:t>
            </a:r>
            <a:r>
              <a:rPr lang="en-US" altLang="zh-CN" dirty="0"/>
              <a:t>next[</a:t>
            </a:r>
            <a:r>
              <a:rPr lang="en-US" altLang="zh-CN" b="1" dirty="0">
                <a:solidFill>
                  <a:srgbClr val="FF0000"/>
                </a:solidFill>
              </a:rPr>
              <a:t>j</a:t>
            </a:r>
            <a:r>
              <a:rPr lang="en-US" altLang="zh-CN" dirty="0">
                <a:solidFill>
                  <a:schemeClr val="tx2"/>
                </a:solidFill>
              </a:rPr>
              <a:t>]</a:t>
            </a:r>
            <a:r>
              <a:rPr lang="en-US" altLang="zh-CN" dirty="0"/>
              <a:t>=</a:t>
            </a:r>
            <a:r>
              <a:rPr lang="en-US" altLang="zh-CN" b="1" dirty="0">
                <a:solidFill>
                  <a:schemeClr val="accent2"/>
                </a:solidFill>
              </a:rPr>
              <a:t>k</a:t>
            </a:r>
            <a:r>
              <a:rPr lang="zh-CN" altLang="en-US" dirty="0"/>
              <a:t>，那么它表明：</a:t>
            </a:r>
            <a:endParaRPr lang="en-US" altLang="zh-CN" dirty="0"/>
          </a:p>
          <a:p>
            <a:pPr marL="0" lvl="1" indent="0">
              <a:lnSpc>
                <a:spcPct val="150000"/>
              </a:lnSpc>
              <a:buNone/>
            </a:pPr>
            <a:r>
              <a:rPr lang="en-US" altLang="zh-CN" dirty="0"/>
              <a:t>     </a:t>
            </a:r>
            <a:r>
              <a:rPr lang="zh-CN" altLang="en-US" dirty="0"/>
              <a:t>当 </a:t>
            </a:r>
            <a:r>
              <a:rPr lang="en-US" altLang="zh-CN" dirty="0"/>
              <a:t>p[</a:t>
            </a:r>
            <a:r>
              <a:rPr lang="en-US" altLang="zh-CN" b="1" dirty="0">
                <a:solidFill>
                  <a:srgbClr val="FF0000"/>
                </a:solidFill>
              </a:rPr>
              <a:t>j</a:t>
            </a:r>
            <a:r>
              <a:rPr lang="en-US" altLang="zh-CN" dirty="0"/>
              <a:t>] </a:t>
            </a:r>
            <a:r>
              <a:rPr lang="zh-CN" altLang="en-US" dirty="0"/>
              <a:t>与 </a:t>
            </a:r>
            <a:r>
              <a:rPr lang="en-US" altLang="zh-CN" dirty="0"/>
              <a:t>s[</a:t>
            </a:r>
            <a:r>
              <a:rPr lang="en-US" altLang="zh-CN" b="1" dirty="0" err="1">
                <a:solidFill>
                  <a:srgbClr val="FF0000"/>
                </a:solidFill>
              </a:rPr>
              <a:t>i</a:t>
            </a:r>
            <a:r>
              <a:rPr lang="en-US" altLang="zh-CN" dirty="0"/>
              <a:t>] </a:t>
            </a:r>
            <a:r>
              <a:rPr lang="zh-CN" altLang="en-US" dirty="0"/>
              <a:t>失配时，需要把</a:t>
            </a:r>
            <a:r>
              <a:rPr lang="en-US" altLang="zh-CN" dirty="0"/>
              <a:t>p</a:t>
            </a:r>
            <a:r>
              <a:rPr lang="zh-CN" altLang="en-US" dirty="0"/>
              <a:t>右移，使 </a:t>
            </a:r>
            <a:r>
              <a:rPr lang="en-US" altLang="zh-CN" dirty="0"/>
              <a:t>p[</a:t>
            </a:r>
            <a:r>
              <a:rPr lang="en-US" altLang="zh-CN" b="1" dirty="0">
                <a:solidFill>
                  <a:schemeClr val="accent2"/>
                </a:solidFill>
              </a:rPr>
              <a:t>k</a:t>
            </a:r>
            <a:r>
              <a:rPr lang="en-US" altLang="zh-CN" dirty="0"/>
              <a:t>] </a:t>
            </a:r>
            <a:r>
              <a:rPr lang="zh-CN" altLang="en-US" dirty="0"/>
              <a:t>与 </a:t>
            </a:r>
            <a:r>
              <a:rPr lang="en-US" altLang="zh-CN" dirty="0"/>
              <a:t>s[</a:t>
            </a:r>
            <a:r>
              <a:rPr lang="en-US" altLang="zh-CN" b="1" dirty="0" err="1">
                <a:solidFill>
                  <a:srgbClr val="FF0000"/>
                </a:solidFill>
              </a:rPr>
              <a:t>i</a:t>
            </a:r>
            <a:r>
              <a:rPr lang="en-US" altLang="zh-CN" dirty="0"/>
              <a:t>] </a:t>
            </a:r>
            <a:r>
              <a:rPr lang="zh-CN" altLang="en-US" dirty="0"/>
              <a:t>对齐。</a:t>
            </a:r>
            <a:endParaRPr lang="en-US" altLang="zh-CN" dirty="0"/>
          </a:p>
          <a:p>
            <a:pPr marL="0" lvl="1" indent="0">
              <a:lnSpc>
                <a:spcPct val="150000"/>
              </a:lnSpc>
              <a:buNone/>
            </a:pPr>
            <a:r>
              <a:rPr lang="zh-CN" altLang="en-US" dirty="0"/>
              <a:t>其中</a:t>
            </a:r>
            <a:r>
              <a:rPr lang="en-US" altLang="zh-CN" dirty="0"/>
              <a:t> p </a:t>
            </a:r>
            <a:r>
              <a:rPr lang="zh-CN" altLang="en-US" dirty="0"/>
              <a:t>是模式串，</a:t>
            </a:r>
            <a:r>
              <a:rPr lang="en-US" altLang="zh-CN" dirty="0"/>
              <a:t>s </a:t>
            </a:r>
            <a:r>
              <a:rPr lang="zh-CN" altLang="en-US" dirty="0"/>
              <a:t>是主串。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5669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E86370-70E5-4F79-9B95-7C63C15EC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KMP</a:t>
            </a:r>
            <a:r>
              <a:rPr lang="zh-CN" altLang="en-US" dirty="0"/>
              <a:t>算法和</a:t>
            </a:r>
            <a:r>
              <a:rPr lang="en-US" altLang="zh-CN" dirty="0"/>
              <a:t>next</a:t>
            </a:r>
            <a:r>
              <a:rPr lang="zh-CN" altLang="en-US" dirty="0"/>
              <a:t>数组的值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B91A15-2966-4186-AE44-4F79F961E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1" indent="0">
              <a:lnSpc>
                <a:spcPct val="100000"/>
              </a:lnSpc>
              <a:buNone/>
            </a:pPr>
            <a:r>
              <a:rPr lang="zh-CN" altLang="en-US" dirty="0"/>
              <a:t>第一趟匹配</a:t>
            </a:r>
            <a:endParaRPr lang="en-US" altLang="zh-CN" dirty="0"/>
          </a:p>
          <a:p>
            <a:pPr marL="0" lvl="1" indent="0">
              <a:lnSpc>
                <a:spcPct val="100000"/>
              </a:lnSpc>
              <a:buNone/>
            </a:pPr>
            <a:r>
              <a:rPr lang="zh-CN" altLang="en-US" dirty="0"/>
              <a:t>    主串：</a:t>
            </a:r>
            <a:r>
              <a:rPr lang="en-US" altLang="zh-CN" dirty="0"/>
              <a:t>a b </a:t>
            </a:r>
            <a:r>
              <a:rPr lang="en-US" altLang="zh-CN" b="1" dirty="0">
                <a:solidFill>
                  <a:srgbClr val="FF0000"/>
                </a:solidFill>
              </a:rPr>
              <a:t>a</a:t>
            </a:r>
            <a:r>
              <a:rPr lang="en-US" altLang="zh-CN" dirty="0"/>
              <a:t> b c a b c a c b a b  ( </a:t>
            </a:r>
            <a:r>
              <a:rPr lang="en-US" altLang="zh-CN" dirty="0" err="1"/>
              <a:t>i</a:t>
            </a:r>
            <a:r>
              <a:rPr lang="en-US" altLang="zh-CN" dirty="0"/>
              <a:t>=0…2 )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zh-CN" altLang="en-US" dirty="0"/>
              <a:t>    模串：</a:t>
            </a:r>
            <a:r>
              <a:rPr lang="en-US" altLang="zh-CN" dirty="0"/>
              <a:t>a b </a:t>
            </a:r>
            <a:r>
              <a:rPr lang="en-US" altLang="zh-CN" b="1" dirty="0">
                <a:solidFill>
                  <a:srgbClr val="FF0000"/>
                </a:solidFill>
              </a:rPr>
              <a:t>c</a:t>
            </a:r>
            <a:r>
              <a:rPr lang="en-US" altLang="zh-CN" dirty="0"/>
              <a:t> a c                          ( j=0…2 )   next[2]=0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zh-CN" altLang="en-US" dirty="0"/>
              <a:t>第二趟匹配</a:t>
            </a:r>
            <a:endParaRPr lang="en-US" altLang="zh-CN" dirty="0"/>
          </a:p>
          <a:p>
            <a:pPr marL="0" lvl="1" indent="0">
              <a:lnSpc>
                <a:spcPct val="100000"/>
              </a:lnSpc>
              <a:buNone/>
            </a:pPr>
            <a:r>
              <a:rPr lang="zh-CN" altLang="en-US" dirty="0"/>
              <a:t>    主串：</a:t>
            </a:r>
            <a:r>
              <a:rPr lang="en-US" altLang="zh-CN" dirty="0"/>
              <a:t>a b </a:t>
            </a:r>
            <a:r>
              <a:rPr lang="en-US" altLang="zh-CN" b="1" dirty="0">
                <a:uFill>
                  <a:solidFill>
                    <a:srgbClr val="FF0000"/>
                  </a:solidFill>
                </a:uFill>
              </a:rPr>
              <a:t>a</a:t>
            </a:r>
            <a:r>
              <a:rPr lang="en-US" altLang="zh-CN" dirty="0"/>
              <a:t> b c a </a:t>
            </a:r>
            <a:r>
              <a:rPr lang="en-US" altLang="zh-CN" b="1" dirty="0">
                <a:solidFill>
                  <a:srgbClr val="FF0000"/>
                </a:solidFill>
              </a:rPr>
              <a:t>b</a:t>
            </a:r>
            <a:r>
              <a:rPr lang="en-US" altLang="zh-CN" dirty="0"/>
              <a:t> c a c b a b  ( </a:t>
            </a:r>
            <a:r>
              <a:rPr lang="en-US" altLang="zh-CN" dirty="0" err="1"/>
              <a:t>i</a:t>
            </a:r>
            <a:r>
              <a:rPr lang="en-US" altLang="zh-CN" dirty="0"/>
              <a:t>=2…6 )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zh-CN" altLang="en-US" dirty="0"/>
              <a:t>    模串：      </a:t>
            </a:r>
            <a:r>
              <a:rPr lang="en-US" altLang="zh-CN" b="1" u="dbl" dirty="0">
                <a:solidFill>
                  <a:schemeClr val="accent2"/>
                </a:solidFill>
                <a:uFill>
                  <a:solidFill>
                    <a:schemeClr val="accent2"/>
                  </a:solidFill>
                </a:uFill>
              </a:rPr>
              <a:t>a</a:t>
            </a:r>
            <a:r>
              <a:rPr lang="en-US" altLang="zh-CN" dirty="0"/>
              <a:t> b c </a:t>
            </a:r>
            <a:r>
              <a:rPr lang="en-US" altLang="zh-CN" b="1" u="dbl" dirty="0">
                <a:solidFill>
                  <a:schemeClr val="accent2"/>
                </a:solidFill>
                <a:uFill>
                  <a:solidFill>
                    <a:schemeClr val="accent2"/>
                  </a:solidFill>
                </a:uFill>
              </a:rPr>
              <a:t>a</a:t>
            </a:r>
            <a:r>
              <a:rPr lang="en-US" altLang="zh-CN" dirty="0"/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c</a:t>
            </a:r>
            <a:r>
              <a:rPr lang="en-US" altLang="zh-CN" dirty="0"/>
              <a:t>                    ( j=0…4 )   next[4]=1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zh-CN" altLang="en-US" dirty="0"/>
              <a:t>第三趟匹配</a:t>
            </a:r>
            <a:endParaRPr lang="en-US" altLang="zh-CN" dirty="0"/>
          </a:p>
          <a:p>
            <a:pPr marL="0" lvl="1" indent="0">
              <a:lnSpc>
                <a:spcPct val="100000"/>
              </a:lnSpc>
              <a:buNone/>
            </a:pPr>
            <a:r>
              <a:rPr lang="zh-CN" altLang="en-US" dirty="0"/>
              <a:t>    主串：</a:t>
            </a:r>
            <a:r>
              <a:rPr lang="en-US" altLang="zh-CN" dirty="0"/>
              <a:t>a b a b c </a:t>
            </a:r>
            <a:r>
              <a:rPr lang="en-US" altLang="zh-CN" u="wavyHeavy" dirty="0"/>
              <a:t>a </a:t>
            </a:r>
            <a:r>
              <a:rPr lang="en-US" altLang="zh-CN" b="1" u="wavyHeavy" dirty="0"/>
              <a:t>b</a:t>
            </a:r>
            <a:r>
              <a:rPr lang="en-US" altLang="zh-CN" u="wavyHeavy" dirty="0"/>
              <a:t> c a c</a:t>
            </a:r>
            <a:r>
              <a:rPr lang="en-US" altLang="zh-CN" dirty="0"/>
              <a:t> b a b  ( </a:t>
            </a:r>
            <a:r>
              <a:rPr lang="en-US" altLang="zh-CN" dirty="0" err="1"/>
              <a:t>i</a:t>
            </a:r>
            <a:r>
              <a:rPr lang="en-US" altLang="zh-CN" dirty="0"/>
              <a:t>=6…10 )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zh-CN" altLang="en-US" dirty="0"/>
              <a:t>    模串：              </a:t>
            </a:r>
            <a:r>
              <a:rPr lang="en-US" altLang="zh-CN" dirty="0"/>
              <a:t> a </a:t>
            </a:r>
            <a:r>
              <a:rPr lang="en-US" altLang="zh-CN" b="1" dirty="0"/>
              <a:t>b</a:t>
            </a:r>
            <a:r>
              <a:rPr lang="en-US" altLang="zh-CN" dirty="0"/>
              <a:t> c a c           ( j=1…5 )</a:t>
            </a:r>
          </a:p>
          <a:p>
            <a:pPr marL="0" lvl="1" indent="0">
              <a:lnSpc>
                <a:spcPct val="100000"/>
              </a:lnSpc>
              <a:buNone/>
            </a:pPr>
            <a:endParaRPr lang="en-US" altLang="zh-CN" dirty="0"/>
          </a:p>
        </p:txBody>
      </p:sp>
      <p:sp>
        <p:nvSpPr>
          <p:cNvPr id="6" name="等腰三角形 5">
            <a:extLst>
              <a:ext uri="{FF2B5EF4-FFF2-40B4-BE49-F238E27FC236}">
                <a16:creationId xmlns:a16="http://schemas.microsoft.com/office/drawing/2014/main" id="{33817D1D-592D-46A7-85AE-F0565C051080}"/>
              </a:ext>
            </a:extLst>
          </p:cNvPr>
          <p:cNvSpPr/>
          <p:nvPr/>
        </p:nvSpPr>
        <p:spPr bwMode="auto">
          <a:xfrm>
            <a:off x="2851356" y="2895600"/>
            <a:ext cx="152400" cy="228600"/>
          </a:xfrm>
          <a:prstGeom prst="triangle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" name="等腰三角形 6">
            <a:extLst>
              <a:ext uri="{FF2B5EF4-FFF2-40B4-BE49-F238E27FC236}">
                <a16:creationId xmlns:a16="http://schemas.microsoft.com/office/drawing/2014/main" id="{3BEA71D7-E1FD-4390-BA2A-50D9B3F5A1DC}"/>
              </a:ext>
            </a:extLst>
          </p:cNvPr>
          <p:cNvSpPr/>
          <p:nvPr/>
        </p:nvSpPr>
        <p:spPr bwMode="auto">
          <a:xfrm>
            <a:off x="4269660" y="4343400"/>
            <a:ext cx="152400" cy="228600"/>
          </a:xfrm>
          <a:prstGeom prst="triangle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8" name="流程图: 合并 7">
            <a:extLst>
              <a:ext uri="{FF2B5EF4-FFF2-40B4-BE49-F238E27FC236}">
                <a16:creationId xmlns:a16="http://schemas.microsoft.com/office/drawing/2014/main" id="{F619DD62-7753-4138-92F9-DA313866BA6A}"/>
              </a:ext>
            </a:extLst>
          </p:cNvPr>
          <p:cNvSpPr/>
          <p:nvPr/>
        </p:nvSpPr>
        <p:spPr bwMode="auto">
          <a:xfrm>
            <a:off x="2851356" y="1769808"/>
            <a:ext cx="167148" cy="228600"/>
          </a:xfrm>
          <a:prstGeom prst="flowChartMerge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9" name="流程图: 合并 8">
            <a:extLst>
              <a:ext uri="{FF2B5EF4-FFF2-40B4-BE49-F238E27FC236}">
                <a16:creationId xmlns:a16="http://schemas.microsoft.com/office/drawing/2014/main" id="{4B21BA1F-0FFC-47C8-8756-E4BF54520A13}"/>
              </a:ext>
            </a:extLst>
          </p:cNvPr>
          <p:cNvSpPr/>
          <p:nvPr/>
        </p:nvSpPr>
        <p:spPr bwMode="auto">
          <a:xfrm>
            <a:off x="5641260" y="4572000"/>
            <a:ext cx="152400" cy="266700"/>
          </a:xfrm>
          <a:prstGeom prst="flowChartMerge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0" name="流程图: 合并 9">
            <a:extLst>
              <a:ext uri="{FF2B5EF4-FFF2-40B4-BE49-F238E27FC236}">
                <a16:creationId xmlns:a16="http://schemas.microsoft.com/office/drawing/2014/main" id="{8488FDC6-716A-4288-9AC3-3BE2871744F1}"/>
              </a:ext>
            </a:extLst>
          </p:cNvPr>
          <p:cNvSpPr/>
          <p:nvPr/>
        </p:nvSpPr>
        <p:spPr bwMode="auto">
          <a:xfrm>
            <a:off x="4281948" y="3094704"/>
            <a:ext cx="152400" cy="266700"/>
          </a:xfrm>
          <a:prstGeom prst="flowChartMerge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1" name="等腰三角形 10">
            <a:extLst>
              <a:ext uri="{FF2B5EF4-FFF2-40B4-BE49-F238E27FC236}">
                <a16:creationId xmlns:a16="http://schemas.microsoft.com/office/drawing/2014/main" id="{B9DA624F-2DE5-4CC9-AB22-DED6ABFFEF73}"/>
              </a:ext>
            </a:extLst>
          </p:cNvPr>
          <p:cNvSpPr/>
          <p:nvPr/>
        </p:nvSpPr>
        <p:spPr bwMode="auto">
          <a:xfrm>
            <a:off x="5656008" y="5715000"/>
            <a:ext cx="152400" cy="228600"/>
          </a:xfrm>
          <a:prstGeom prst="triangle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59149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4074EB-EB4D-43CA-8C19-442B35BAE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计算</a:t>
            </a:r>
            <a:r>
              <a:rPr lang="en-US" altLang="zh-CN" dirty="0"/>
              <a:t>next</a:t>
            </a:r>
            <a:r>
              <a:rPr lang="zh-CN" altLang="en-US" dirty="0"/>
              <a:t>数组的值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5575963-92D4-4692-9739-5733B19E4B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4800" y="1143000"/>
                <a:ext cx="11277600" cy="5486400"/>
              </a:xfrm>
            </p:spPr>
            <p:txBody>
              <a:bodyPr/>
              <a:lstStyle/>
              <a:p>
                <a:r>
                  <a:rPr lang="zh-CN" altLang="en-US" dirty="0"/>
                  <a:t>当 </a:t>
                </a:r>
                <a:r>
                  <a:rPr lang="en-US" altLang="zh-CN" dirty="0"/>
                  <a:t>s[</a:t>
                </a:r>
                <a:r>
                  <a:rPr lang="en-US" altLang="zh-CN" dirty="0" err="1">
                    <a:solidFill>
                      <a:srgbClr val="FF0000"/>
                    </a:solidFill>
                  </a:rPr>
                  <a:t>i</a:t>
                </a:r>
                <a:r>
                  <a:rPr lang="en-US" altLang="zh-CN" dirty="0"/>
                  <a:t>]</a:t>
                </a:r>
                <a:r>
                  <a:rPr lang="en-US" altLang="zh-CN" sz="4000" baseline="-25000" dirty="0"/>
                  <a:t> </a:t>
                </a:r>
                <a:r>
                  <a:rPr lang="zh-CN" altLang="en-US" dirty="0"/>
                  <a:t>与 </a:t>
                </a:r>
                <a:r>
                  <a:rPr lang="en-US" altLang="zh-CN" dirty="0"/>
                  <a:t>p[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j</a:t>
                </a:r>
                <a:r>
                  <a:rPr lang="en-US" altLang="zh-CN" dirty="0"/>
                  <a:t>]</a:t>
                </a:r>
                <a:r>
                  <a:rPr lang="en-US" altLang="zh-CN" sz="4000" baseline="-25000" dirty="0"/>
                  <a:t> </a:t>
                </a:r>
                <a:r>
                  <a:rPr lang="zh-CN" altLang="en-US" dirty="0"/>
                  <a:t>失配时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主串</a:t>
                </a:r>
                <a:r>
                  <a:rPr lang="en-US" altLang="zh-CN" dirty="0"/>
                  <a:t>s</a:t>
                </a:r>
                <a:r>
                  <a:rPr lang="zh-CN" altLang="en-US" dirty="0"/>
                  <a:t>下标：</a:t>
                </a:r>
                <a:r>
                  <a:rPr lang="en-US" altLang="zh-CN" dirty="0"/>
                  <a:t>0  1  2 … </a:t>
                </a:r>
                <a:r>
                  <a:rPr lang="en-US" altLang="zh-CN" dirty="0">
                    <a:solidFill>
                      <a:srgbClr val="006600"/>
                    </a:solidFill>
                  </a:rPr>
                  <a:t>■ …………... </a:t>
                </a:r>
                <a:r>
                  <a:rPr lang="en-US" altLang="zh-CN" b="1" u="dbl" dirty="0">
                    <a:solidFill>
                      <a:srgbClr val="006600"/>
                    </a:solidFill>
                    <a:uFill>
                      <a:solidFill>
                        <a:srgbClr val="006600"/>
                      </a:solidFill>
                    </a:uFill>
                  </a:rPr>
                  <a:t>■ … ■</a:t>
                </a:r>
                <a:r>
                  <a:rPr lang="en-US" altLang="zh-CN" b="1" dirty="0">
                    <a:solidFill>
                      <a:srgbClr val="006600"/>
                    </a:solidFill>
                  </a:rPr>
                  <a:t> </a:t>
                </a:r>
                <a:r>
                  <a:rPr lang="en-US" altLang="zh-CN" b="1" dirty="0" err="1">
                    <a:solidFill>
                      <a:srgbClr val="FF0000"/>
                    </a:solidFill>
                  </a:rPr>
                  <a:t>i</a:t>
                </a:r>
                <a:r>
                  <a:rPr lang="en-US" altLang="zh-CN" dirty="0"/>
                  <a:t> ……….…(n-1)</a:t>
                </a:r>
              </a:p>
              <a:p>
                <a:pPr lvl="1"/>
                <a:r>
                  <a:rPr lang="zh-CN" altLang="en-US" dirty="0"/>
                  <a:t>模串</a:t>
                </a:r>
                <a:r>
                  <a:rPr lang="en-US" altLang="zh-CN" dirty="0"/>
                  <a:t>p</a:t>
                </a:r>
                <a:r>
                  <a:rPr lang="zh-CN" altLang="en-US" dirty="0"/>
                  <a:t>下标：              </a:t>
                </a:r>
                <a:r>
                  <a:rPr lang="en-US" altLang="zh-CN" b="1" u="dbl" dirty="0">
                    <a:solidFill>
                      <a:srgbClr val="006600"/>
                    </a:solidFill>
                    <a:uFill>
                      <a:solidFill>
                        <a:schemeClr val="accent2"/>
                      </a:solidFill>
                    </a:uFill>
                  </a:rPr>
                  <a:t>0 … □</a:t>
                </a:r>
                <a:r>
                  <a:rPr lang="en-US" altLang="zh-CN" b="1" dirty="0">
                    <a:solidFill>
                      <a:srgbClr val="006600"/>
                    </a:solidFill>
                    <a:uFill>
                      <a:solidFill>
                        <a:schemeClr val="accent2"/>
                      </a:solidFill>
                    </a:uFill>
                  </a:rPr>
                  <a:t> </a:t>
                </a:r>
                <a:r>
                  <a:rPr lang="en-US" altLang="zh-CN" b="1" dirty="0">
                    <a:solidFill>
                      <a:schemeClr val="accent2"/>
                    </a:solidFill>
                  </a:rPr>
                  <a:t>k</a:t>
                </a:r>
                <a:r>
                  <a:rPr lang="zh-CN" altLang="en-US" dirty="0">
                    <a:solidFill>
                      <a:srgbClr val="006600"/>
                    </a:solidFill>
                  </a:rPr>
                  <a:t> </a:t>
                </a:r>
                <a:r>
                  <a:rPr lang="en-US" altLang="zh-CN" dirty="0"/>
                  <a:t>…</a:t>
                </a:r>
                <a:r>
                  <a:rPr lang="en-US" altLang="zh-CN" dirty="0">
                    <a:solidFill>
                      <a:srgbClr val="006600"/>
                    </a:solidFill>
                  </a:rPr>
                  <a:t> </a:t>
                </a:r>
                <a:r>
                  <a:rPr lang="en-US" altLang="zh-CN" b="1" u="dbl" dirty="0">
                    <a:solidFill>
                      <a:srgbClr val="006600"/>
                    </a:solidFill>
                    <a:uFill>
                      <a:solidFill>
                        <a:schemeClr val="accent2"/>
                      </a:solidFill>
                    </a:uFill>
                  </a:rPr>
                  <a:t>□ … □</a:t>
                </a:r>
                <a:r>
                  <a:rPr lang="en-US" altLang="zh-CN" b="1" dirty="0">
                    <a:solidFill>
                      <a:srgbClr val="006600"/>
                    </a:solidFill>
                    <a:uFill>
                      <a:solidFill>
                        <a:schemeClr val="accent2"/>
                      </a:solidFill>
                    </a:uFill>
                  </a:rPr>
                  <a:t> </a:t>
                </a:r>
                <a:r>
                  <a:rPr lang="en-US" altLang="zh-CN" b="1" dirty="0">
                    <a:solidFill>
                      <a:srgbClr val="FF0000"/>
                    </a:solidFill>
                  </a:rPr>
                  <a:t>j</a:t>
                </a:r>
                <a:r>
                  <a:rPr lang="en-US" altLang="zh-CN" dirty="0"/>
                  <a:t> …(m-1)</a:t>
                </a:r>
              </a:p>
              <a:p>
                <a:r>
                  <a:rPr lang="en-US" altLang="zh-CN" dirty="0"/>
                  <a:t>Next</a:t>
                </a:r>
                <a:r>
                  <a:rPr lang="zh-CN" altLang="en-US" dirty="0"/>
                  <a:t>数组的计算：找相同的前后缀，并取最大长度。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当 </a:t>
                </a:r>
                <a:r>
                  <a:rPr lang="en-US" altLang="zh-CN" dirty="0"/>
                  <a:t>j=0 </a:t>
                </a:r>
                <a:r>
                  <a:rPr lang="zh-CN" altLang="en-US" dirty="0"/>
                  <a:t>时，</a:t>
                </a:r>
                <a:r>
                  <a:rPr lang="en-US" altLang="zh-CN" dirty="0"/>
                  <a:t>next[j]=-1;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zh-CN" altLang="en-US" dirty="0"/>
                  <a:t>当 </a:t>
                </a:r>
                <a:r>
                  <a:rPr lang="en-US" altLang="zh-CN" dirty="0"/>
                  <a:t>j≠0 </a:t>
                </a:r>
                <a:r>
                  <a:rPr lang="zh-CN" altLang="en-US" dirty="0"/>
                  <a:t>时，求集合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|0&lt;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并且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 marL="457200" lvl="1" indent="0">
                  <a:lnSpc>
                    <a:spcPct val="100000"/>
                  </a:lnSpc>
                  <a:buNone/>
                </a:pPr>
                <a:r>
                  <a:rPr lang="en-US" altLang="zh-CN" dirty="0"/>
                  <a:t>             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。</m:t>
                    </m:r>
                  </m:oMath>
                </a14:m>
                <a:endParaRPr lang="en-US" altLang="zh-CN" dirty="0"/>
              </a:p>
              <a:p>
                <a:pPr lvl="2">
                  <a:lnSpc>
                    <a:spcPct val="120000"/>
                  </a:lnSpc>
                </a:pPr>
                <a:r>
                  <a:rPr lang="zh-CN" altLang="en-US" sz="3200" b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如果</a:t>
                </a: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zh-CN" altLang="en-US" sz="3200" b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非空，</a:t>
                </a:r>
                <a:r>
                  <a:rPr lang="en-US" altLang="zh-CN" sz="3200" b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next[j]=Max(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altLang="zh-CN" sz="3200" b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</a:t>
                </a:r>
                <a:r>
                  <a:rPr lang="zh-CN" altLang="en-US" sz="3200" b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endParaRPr lang="en-US" altLang="zh-CN" sz="3200" b="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2">
                  <a:lnSpc>
                    <a:spcPct val="120000"/>
                  </a:lnSpc>
                </a:pPr>
                <a:r>
                  <a:rPr lang="zh-CN" altLang="en-US" sz="3200" b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如果</a:t>
                </a:r>
                <a14:m>
                  <m:oMath xmlns:m="http://schemas.openxmlformats.org/officeDocument/2006/math">
                    <m:r>
                      <a:rPr lang="en-US" altLang="zh-CN" sz="3200" b="0" i="1" dirty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zh-CN" altLang="en-US" sz="3200" b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为空，</a:t>
                </a:r>
                <a:r>
                  <a:rPr lang="en-US" altLang="zh-CN" sz="3200" b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next[j]=0</a:t>
                </a:r>
                <a:r>
                  <a:rPr lang="zh-CN" altLang="en-US" sz="3200" b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5575963-92D4-4692-9739-5733B19E4B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143000"/>
                <a:ext cx="11277600" cy="5486400"/>
              </a:xfrm>
              <a:blipFill>
                <a:blip r:embed="rId2"/>
                <a:stretch>
                  <a:fillRect l="-811" b="-4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id="{E7C89903-7B93-4438-8B6D-1C12A19BCC4F}"/>
              </a:ext>
            </a:extLst>
          </p:cNvPr>
          <p:cNvSpPr txBox="1"/>
          <p:nvPr/>
        </p:nvSpPr>
        <p:spPr>
          <a:xfrm>
            <a:off x="4953000" y="1625025"/>
            <a:ext cx="685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-j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199ED4A-0B47-427E-88D9-BF3D759677B8}"/>
              </a:ext>
            </a:extLst>
          </p:cNvPr>
          <p:cNvSpPr txBox="1"/>
          <p:nvPr/>
        </p:nvSpPr>
        <p:spPr>
          <a:xfrm>
            <a:off x="7010400" y="1676400"/>
            <a:ext cx="914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-k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911472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4074EB-EB4D-43CA-8C19-442B35BAE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Next</a:t>
            </a:r>
            <a:r>
              <a:rPr lang="zh-CN" altLang="en-US" dirty="0"/>
              <a:t>数组计算实例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575963-92D4-4692-9739-5733B19E4B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19200"/>
            <a:ext cx="11582400" cy="5486400"/>
          </a:xfrm>
        </p:spPr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b="0" dirty="0"/>
              <a:t>给定模式串：</a:t>
            </a:r>
            <a:r>
              <a:rPr lang="en-US" altLang="zh-CN" dirty="0"/>
              <a:t>a b a </a:t>
            </a:r>
            <a:r>
              <a:rPr lang="en-US" altLang="zh-CN" dirty="0" err="1"/>
              <a:t>a</a:t>
            </a:r>
            <a:r>
              <a:rPr lang="en-US" altLang="zh-CN" dirty="0"/>
              <a:t> b c a c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zh-CN" altLang="en-US" dirty="0"/>
              <a:t>   下标 </a:t>
            </a:r>
            <a:r>
              <a:rPr lang="en-US" altLang="zh-CN" dirty="0"/>
              <a:t>j </a:t>
            </a:r>
            <a:r>
              <a:rPr lang="zh-CN" altLang="en-US" dirty="0"/>
              <a:t>：</a:t>
            </a:r>
            <a:r>
              <a:rPr lang="en-US" altLang="zh-CN" dirty="0"/>
              <a:t>0 1 2 3 4 5 6 7</a:t>
            </a:r>
          </a:p>
          <a:p>
            <a:pPr lvl="1">
              <a:lnSpc>
                <a:spcPct val="120000"/>
              </a:lnSpc>
            </a:pPr>
            <a:r>
              <a:rPr lang="zh-CN" altLang="en-US" dirty="0"/>
              <a:t>当 </a:t>
            </a:r>
            <a:r>
              <a:rPr lang="en-US" altLang="zh-CN" dirty="0"/>
              <a:t>j=0 </a:t>
            </a:r>
            <a:r>
              <a:rPr lang="zh-CN" altLang="en-US" dirty="0"/>
              <a:t>时，</a:t>
            </a:r>
            <a:r>
              <a:rPr lang="en-US" altLang="zh-CN" dirty="0"/>
              <a:t>next[0]=-1</a:t>
            </a:r>
          </a:p>
          <a:p>
            <a:pPr lvl="1">
              <a:lnSpc>
                <a:spcPct val="120000"/>
              </a:lnSpc>
            </a:pPr>
            <a:r>
              <a:rPr lang="zh-CN" altLang="en-US" dirty="0"/>
              <a:t>当 </a:t>
            </a:r>
            <a:r>
              <a:rPr lang="en-US" altLang="zh-CN" dirty="0"/>
              <a:t>j=1 </a:t>
            </a:r>
            <a:r>
              <a:rPr lang="zh-CN" altLang="en-US" dirty="0"/>
              <a:t>时，因为集合</a:t>
            </a:r>
            <a:r>
              <a:rPr lang="en-US" altLang="zh-CN" dirty="0"/>
              <a:t>K</a:t>
            </a:r>
            <a:r>
              <a:rPr lang="zh-CN" altLang="en-US" dirty="0"/>
              <a:t>为空，所以</a:t>
            </a:r>
            <a:r>
              <a:rPr lang="en-US" altLang="zh-CN" dirty="0"/>
              <a:t>next[1]=0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当 </a:t>
            </a:r>
            <a:r>
              <a:rPr lang="en-US" altLang="zh-CN" dirty="0"/>
              <a:t>j=2 </a:t>
            </a:r>
            <a:r>
              <a:rPr lang="zh-CN" altLang="en-US" dirty="0"/>
              <a:t>时，</a:t>
            </a:r>
            <a:r>
              <a:rPr lang="zh-CN" altLang="en-US" sz="3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计算集合</a:t>
            </a:r>
            <a:r>
              <a:rPr lang="en-US" altLang="zh-CN" sz="3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3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dirty="0"/>
              <a:t>可能值只有</a:t>
            </a:r>
            <a:r>
              <a:rPr lang="en-US" altLang="zh-CN" dirty="0"/>
              <a:t>k=1</a:t>
            </a:r>
            <a:r>
              <a:rPr lang="zh-CN" altLang="en-US" dirty="0"/>
              <a:t>，因为</a:t>
            </a:r>
            <a:r>
              <a:rPr lang="en-US" altLang="zh-CN" dirty="0"/>
              <a:t>p</a:t>
            </a:r>
            <a:r>
              <a:rPr lang="en-US" altLang="zh-CN" sz="4000" baseline="-25000" dirty="0"/>
              <a:t>k-1</a:t>
            </a:r>
            <a:r>
              <a:rPr lang="en-US" altLang="zh-CN" dirty="0"/>
              <a:t>≠p</a:t>
            </a:r>
            <a:r>
              <a:rPr lang="en-US" altLang="zh-CN" sz="4000" baseline="-25000" dirty="0"/>
              <a:t>j-1</a:t>
            </a:r>
            <a:r>
              <a:rPr lang="zh-CN" altLang="en-US" dirty="0"/>
              <a:t>，即</a:t>
            </a:r>
            <a:r>
              <a:rPr lang="en-US" altLang="zh-CN" dirty="0"/>
              <a:t>p</a:t>
            </a:r>
            <a:r>
              <a:rPr lang="en-US" altLang="zh-CN" sz="4000" baseline="-25000" dirty="0"/>
              <a:t>0</a:t>
            </a:r>
            <a:r>
              <a:rPr lang="en-US" altLang="zh-CN" dirty="0"/>
              <a:t>≠p</a:t>
            </a:r>
            <a:r>
              <a:rPr lang="en-US" altLang="zh-CN" sz="4000" baseline="-25000" dirty="0"/>
              <a:t>1</a:t>
            </a:r>
            <a:r>
              <a:rPr lang="zh-CN" altLang="en-US" sz="4000" baseline="-25000" dirty="0"/>
              <a:t>，</a:t>
            </a:r>
            <a:r>
              <a:rPr lang="zh-CN" altLang="en-US" dirty="0"/>
              <a:t>所以 </a:t>
            </a:r>
            <a:r>
              <a:rPr lang="en-US" altLang="zh-CN" dirty="0"/>
              <a:t>k=1</a:t>
            </a:r>
            <a:r>
              <a:rPr lang="zh-CN" altLang="en-US" dirty="0"/>
              <a:t>不属于</a:t>
            </a:r>
            <a:r>
              <a:rPr lang="en-US" altLang="zh-CN" dirty="0"/>
              <a:t>K</a:t>
            </a:r>
            <a:r>
              <a:rPr lang="zh-CN" altLang="en-US" dirty="0"/>
              <a:t>，</a:t>
            </a:r>
            <a:r>
              <a:rPr lang="en-US" altLang="zh-CN" dirty="0"/>
              <a:t>K</a:t>
            </a:r>
            <a:r>
              <a:rPr lang="zh-CN" altLang="en-US" dirty="0"/>
              <a:t>为空，</a:t>
            </a:r>
            <a:r>
              <a:rPr lang="en-US" altLang="zh-CN" dirty="0"/>
              <a:t>next[2]=0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当 </a:t>
            </a:r>
            <a:r>
              <a:rPr lang="en-US" altLang="zh-CN" dirty="0"/>
              <a:t>j=3 </a:t>
            </a:r>
            <a:r>
              <a:rPr lang="zh-CN" altLang="en-US" dirty="0"/>
              <a:t>时，集合</a:t>
            </a:r>
            <a:r>
              <a:rPr lang="en-US" altLang="zh-CN" dirty="0"/>
              <a:t>K</a:t>
            </a:r>
            <a:r>
              <a:rPr lang="zh-CN" altLang="en-US" dirty="0"/>
              <a:t>可能的值只有</a:t>
            </a:r>
            <a:r>
              <a:rPr lang="en-US" altLang="zh-CN" dirty="0"/>
              <a:t>1</a:t>
            </a:r>
            <a:r>
              <a:rPr lang="zh-CN" altLang="en-US" dirty="0"/>
              <a:t>和</a:t>
            </a:r>
            <a:r>
              <a:rPr lang="en-US" altLang="zh-CN" dirty="0"/>
              <a:t>2</a:t>
            </a:r>
            <a:r>
              <a:rPr lang="zh-CN" altLang="en-US" dirty="0"/>
              <a:t>，当</a:t>
            </a:r>
            <a:r>
              <a:rPr lang="en-US" altLang="zh-CN" dirty="0"/>
              <a:t>k=1</a:t>
            </a:r>
            <a:r>
              <a:rPr lang="zh-CN" altLang="en-US" dirty="0"/>
              <a:t>时，</a:t>
            </a:r>
            <a:r>
              <a:rPr lang="en-US" altLang="zh-CN" dirty="0"/>
              <a:t>p</a:t>
            </a:r>
            <a:r>
              <a:rPr lang="en-US" altLang="zh-CN" sz="4000" baseline="-25000" dirty="0"/>
              <a:t>0</a:t>
            </a:r>
            <a:r>
              <a:rPr lang="en-US" altLang="zh-CN" dirty="0"/>
              <a:t>=p</a:t>
            </a:r>
            <a:r>
              <a:rPr lang="en-US" altLang="zh-CN" sz="4000" baseline="-25000" dirty="0"/>
              <a:t>2</a:t>
            </a:r>
            <a:r>
              <a:rPr lang="en-US" altLang="zh-CN" dirty="0"/>
              <a:t>; </a:t>
            </a:r>
            <a:r>
              <a:rPr lang="zh-CN" altLang="en-US" dirty="0"/>
              <a:t>当</a:t>
            </a:r>
            <a:r>
              <a:rPr lang="en-US" altLang="zh-CN" dirty="0"/>
              <a:t>k=2</a:t>
            </a:r>
            <a:r>
              <a:rPr lang="zh-CN" altLang="en-US" dirty="0"/>
              <a:t>时，</a:t>
            </a:r>
            <a:r>
              <a:rPr lang="en-US" altLang="zh-CN" dirty="0"/>
              <a:t>p</a:t>
            </a:r>
            <a:r>
              <a:rPr lang="en-US" altLang="zh-CN" sz="4000" baseline="-25000" dirty="0"/>
              <a:t>0</a:t>
            </a:r>
            <a:r>
              <a:rPr lang="en-US" altLang="zh-CN" dirty="0"/>
              <a:t>p</a:t>
            </a:r>
            <a:r>
              <a:rPr lang="en-US" altLang="zh-CN" sz="4000" baseline="-25000" dirty="0"/>
              <a:t>1</a:t>
            </a:r>
            <a:r>
              <a:rPr lang="en-US" altLang="zh-CN" dirty="0"/>
              <a:t> ≠ p</a:t>
            </a:r>
            <a:r>
              <a:rPr lang="en-US" altLang="zh-CN" sz="4000" baseline="-25000" dirty="0"/>
              <a:t>1</a:t>
            </a:r>
            <a:r>
              <a:rPr lang="en-US" altLang="zh-CN" dirty="0"/>
              <a:t>p</a:t>
            </a:r>
            <a:r>
              <a:rPr lang="en-US" altLang="zh-CN" sz="4000" baseline="-25000" dirty="0"/>
              <a:t>2</a:t>
            </a:r>
            <a:r>
              <a:rPr lang="zh-CN" altLang="en-US" dirty="0"/>
              <a:t>。所以</a:t>
            </a:r>
            <a:r>
              <a:rPr lang="en-US" altLang="zh-CN" dirty="0"/>
              <a:t>K={1}</a:t>
            </a:r>
            <a:r>
              <a:rPr lang="zh-CN" altLang="en-US" dirty="0"/>
              <a:t>，</a:t>
            </a:r>
            <a:r>
              <a:rPr lang="en-US" altLang="zh-CN" dirty="0"/>
              <a:t>next[3]=1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当 </a:t>
            </a:r>
            <a:r>
              <a:rPr lang="en-US" altLang="zh-CN" dirty="0"/>
              <a:t>j=4 </a:t>
            </a:r>
            <a:r>
              <a:rPr lang="zh-CN" altLang="en-US" dirty="0"/>
              <a:t>时，</a:t>
            </a:r>
            <a:r>
              <a:rPr lang="en-US" altLang="zh-CN" dirty="0"/>
              <a:t>K={1}</a:t>
            </a:r>
            <a:r>
              <a:rPr lang="zh-CN" altLang="en-US" dirty="0"/>
              <a:t>，</a:t>
            </a:r>
            <a:r>
              <a:rPr lang="en-US" altLang="zh-CN" dirty="0"/>
              <a:t>next[4]=1</a:t>
            </a:r>
            <a:r>
              <a:rPr lang="zh-CN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1155796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4074EB-EB4D-43CA-8C19-442B35BAE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Next</a:t>
            </a:r>
            <a:r>
              <a:rPr lang="zh-CN" altLang="en-US" dirty="0"/>
              <a:t>数组计算实例</a:t>
            </a:r>
            <a:r>
              <a:rPr lang="en-US" altLang="zh-CN" dirty="0"/>
              <a:t>(</a:t>
            </a:r>
            <a:r>
              <a:rPr lang="zh-CN" altLang="en-US" dirty="0"/>
              <a:t>接上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575963-92D4-4692-9739-5733B19E4B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19200"/>
            <a:ext cx="11582400" cy="5486400"/>
          </a:xfrm>
        </p:spPr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b="0" dirty="0"/>
              <a:t>给定模式串：</a:t>
            </a:r>
            <a:r>
              <a:rPr lang="en-US" altLang="zh-CN" dirty="0"/>
              <a:t>a b a </a:t>
            </a:r>
            <a:r>
              <a:rPr lang="en-US" altLang="zh-CN" dirty="0" err="1"/>
              <a:t>a</a:t>
            </a:r>
            <a:r>
              <a:rPr lang="en-US" altLang="zh-CN" dirty="0"/>
              <a:t> b c a c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zh-CN" altLang="en-US" dirty="0"/>
              <a:t>   下标 </a:t>
            </a:r>
            <a:r>
              <a:rPr lang="en-US" altLang="zh-CN" dirty="0"/>
              <a:t>j </a:t>
            </a:r>
            <a:r>
              <a:rPr lang="zh-CN" altLang="en-US" dirty="0"/>
              <a:t>：</a:t>
            </a:r>
            <a:r>
              <a:rPr lang="en-US" altLang="zh-CN" dirty="0"/>
              <a:t>0 1 2 3 4 5 6 7</a:t>
            </a:r>
          </a:p>
          <a:p>
            <a:pPr lvl="1">
              <a:lnSpc>
                <a:spcPct val="120000"/>
              </a:lnSpc>
            </a:pPr>
            <a:r>
              <a:rPr lang="zh-CN" altLang="en-US" dirty="0"/>
              <a:t>当 </a:t>
            </a:r>
            <a:r>
              <a:rPr lang="en-US" altLang="zh-CN" dirty="0"/>
              <a:t>j=5 </a:t>
            </a:r>
            <a:r>
              <a:rPr lang="zh-CN" altLang="en-US" dirty="0"/>
              <a:t>时，</a:t>
            </a:r>
            <a:r>
              <a:rPr lang="en-US" altLang="zh-CN" dirty="0"/>
              <a:t>K={2}</a:t>
            </a:r>
            <a:r>
              <a:rPr lang="zh-CN" altLang="en-US" dirty="0"/>
              <a:t>，</a:t>
            </a:r>
            <a:r>
              <a:rPr lang="en-US" altLang="zh-CN" dirty="0"/>
              <a:t>next[5]=2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当 </a:t>
            </a:r>
            <a:r>
              <a:rPr lang="en-US" altLang="zh-CN" dirty="0"/>
              <a:t>j=6 </a:t>
            </a:r>
            <a:r>
              <a:rPr lang="zh-CN" altLang="en-US" dirty="0"/>
              <a:t>时，</a:t>
            </a:r>
            <a:r>
              <a:rPr lang="en-US" altLang="zh-CN" dirty="0"/>
              <a:t>K={  }</a:t>
            </a:r>
            <a:r>
              <a:rPr lang="zh-CN" altLang="en-US" dirty="0"/>
              <a:t>，</a:t>
            </a:r>
            <a:r>
              <a:rPr lang="en-US" altLang="zh-CN" dirty="0"/>
              <a:t>next[6]=0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当 </a:t>
            </a:r>
            <a:r>
              <a:rPr lang="en-US" altLang="zh-CN" dirty="0"/>
              <a:t>j=7 </a:t>
            </a:r>
            <a:r>
              <a:rPr lang="zh-CN" altLang="en-US" dirty="0"/>
              <a:t>时，</a:t>
            </a:r>
            <a:r>
              <a:rPr lang="en-US" altLang="zh-CN" dirty="0"/>
              <a:t>K={1}</a:t>
            </a:r>
            <a:r>
              <a:rPr lang="zh-CN" altLang="en-US" dirty="0"/>
              <a:t>，</a:t>
            </a:r>
            <a:r>
              <a:rPr lang="en-US" altLang="zh-CN" dirty="0"/>
              <a:t>next[7]=1</a:t>
            </a:r>
            <a:r>
              <a:rPr lang="zh-CN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6472680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4074EB-EB4D-43CA-8C19-442B35BAE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Next</a:t>
            </a:r>
            <a:r>
              <a:rPr lang="zh-CN" altLang="en-US" dirty="0"/>
              <a:t>数组的递推计算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5575963-92D4-4692-9739-5733B19E4B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4800" y="1219200"/>
                <a:ext cx="11582400" cy="5486400"/>
              </a:xfrm>
            </p:spPr>
            <p:txBody>
              <a:bodyPr/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b="0" dirty="0"/>
                  <a:t>已知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𝑛𝑒𝑥𝑡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]=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b="0" dirty="0"/>
                  <a:t>，求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𝑛𝑒𝑥𝑡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+1]</m:t>
                    </m:r>
                  </m:oMath>
                </a14:m>
                <a:r>
                  <a:rPr lang="zh-CN" altLang="en-US" b="0" dirty="0"/>
                  <a:t>。</a:t>
                </a:r>
                <a:endParaRPr lang="en-US" altLang="zh-CN" b="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b="0" dirty="0"/>
                  <a:t>解答：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𝑛𝑒𝑥𝑡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]=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CN" b="0" dirty="0"/>
                  <a:t> </a:t>
                </a:r>
                <a:r>
                  <a:rPr lang="zh-CN" altLang="en-US" b="0" dirty="0"/>
                  <a:t>表明：</a:t>
                </a:r>
                <a:endParaRPr lang="en-US" altLang="zh-CN" b="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altLang="zh-CN" b="0" dirty="0"/>
                  <a:t>   </a:t>
                </a:r>
                <a:r>
                  <a:rPr lang="zh-CN" altLang="en-US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zh-CN" altLang="en-US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b="0" dirty="0"/>
                  <a:t>并且不存在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′&gt;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b="0" dirty="0"/>
                  <a:t> 满足此式。</a:t>
                </a:r>
                <a:endParaRPr lang="en-US" altLang="zh-CN" b="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altLang="zh-CN" b="0" dirty="0"/>
                  <a:t>(1) </a:t>
                </a:r>
                <a:r>
                  <a:rPr lang="zh-CN" altLang="en-US" b="0" dirty="0"/>
                  <a:t>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zh-CN" altLang="en-US" b="0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b="0" dirty="0"/>
                  <a:t>则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b="0" dirty="0"/>
                  <a:t>，所以</a:t>
                </a:r>
                <a:endParaRPr lang="en-US" altLang="zh-CN" b="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altLang="zh-CN" b="0" dirty="0"/>
                  <a:t>    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𝑛𝑒𝑥𝑡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+1]=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+1=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𝑛𝑒𝑥𝑡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]+1</m:t>
                    </m:r>
                  </m:oMath>
                </a14:m>
                <a:r>
                  <a:rPr lang="zh-CN" altLang="en-US" b="0" dirty="0"/>
                  <a:t>。</a:t>
                </a:r>
                <a:endParaRPr lang="en-US" altLang="zh-CN" b="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altLang="zh-CN" b="0" dirty="0"/>
                  <a:t>(2) </a:t>
                </a:r>
                <a:r>
                  <a:rPr lang="zh-CN" altLang="en-US" b="0" dirty="0"/>
                  <a:t>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b="0" dirty="0"/>
                  <a:t>，则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b="0" dirty="0"/>
                  <a:t>，若把模式串看成主串，把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CN" b="0" dirty="0"/>
                  <a:t> </a:t>
                </a:r>
                <a:r>
                  <a:rPr lang="zh-CN" altLang="en-US" b="0" dirty="0"/>
                  <a:t>看成模式串，则又面临一个模式匹配问题。</a:t>
                </a:r>
                <a:endParaRPr lang="en-US" altLang="zh-CN" b="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b="0" dirty="0">
                    <a:solidFill>
                      <a:srgbClr val="FF0000"/>
                    </a:solidFill>
                  </a:rPr>
                  <a:t>当</a:t>
                </a:r>
                <a:r>
                  <a:rPr lang="en-US" altLang="zh-CN" b="0" dirty="0">
                    <a:solidFill>
                      <a:srgbClr val="FF0000"/>
                    </a:solidFill>
                  </a:rPr>
                  <a:t>p[k]</a:t>
                </a:r>
                <a:r>
                  <a:rPr lang="zh-CN" altLang="en-US" b="0" dirty="0">
                    <a:solidFill>
                      <a:srgbClr val="FF0000"/>
                    </a:solidFill>
                  </a:rPr>
                  <a:t>失配时，应把模式串移至</a:t>
                </a:r>
                <a:r>
                  <a:rPr lang="en-US" altLang="zh-CN" b="0" dirty="0">
                    <a:solidFill>
                      <a:srgbClr val="FF0000"/>
                    </a:solidFill>
                  </a:rPr>
                  <a:t>next[k]</a:t>
                </a:r>
                <a:r>
                  <a:rPr lang="zh-CN" altLang="en-US" b="0" dirty="0">
                    <a:solidFill>
                      <a:srgbClr val="FF0000"/>
                    </a:solidFill>
                  </a:rPr>
                  <a:t>再进行匹配，如果移到</a:t>
                </a:r>
                <a:r>
                  <a:rPr lang="en-US" altLang="zh-CN" b="0" dirty="0">
                    <a:solidFill>
                      <a:srgbClr val="FF0000"/>
                    </a:solidFill>
                  </a:rPr>
                  <a:t>next[k]</a:t>
                </a:r>
                <a:r>
                  <a:rPr lang="zh-CN" altLang="en-US" b="0" dirty="0">
                    <a:solidFill>
                      <a:srgbClr val="FF0000"/>
                    </a:solidFill>
                  </a:rPr>
                  <a:t>后仍然失配，那么就移到</a:t>
                </a:r>
                <a:r>
                  <a:rPr lang="en-US" altLang="zh-CN" b="0" dirty="0">
                    <a:solidFill>
                      <a:srgbClr val="FF0000"/>
                    </a:solidFill>
                  </a:rPr>
                  <a:t>next[next[k]]</a:t>
                </a:r>
                <a:r>
                  <a:rPr lang="zh-CN" altLang="en-US" b="0" dirty="0">
                    <a:solidFill>
                      <a:srgbClr val="FF0000"/>
                    </a:solidFill>
                  </a:rPr>
                  <a:t>，</a:t>
                </a:r>
                <a:r>
                  <a:rPr lang="en-US" altLang="zh-CN" b="0" dirty="0">
                    <a:solidFill>
                      <a:srgbClr val="FF0000"/>
                    </a:solidFill>
                  </a:rPr>
                  <a:t>……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altLang="zh-CN" b="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5575963-92D4-4692-9739-5733B19E4B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219200"/>
                <a:ext cx="11582400" cy="5486400"/>
              </a:xfrm>
              <a:blipFill>
                <a:blip r:embed="rId2"/>
                <a:stretch>
                  <a:fillRect l="-1316" t="-556" r="-1263" b="-3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33114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4074EB-EB4D-43CA-8C19-442B35BAE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Next</a:t>
            </a:r>
            <a:r>
              <a:rPr lang="zh-CN" altLang="en-US" dirty="0"/>
              <a:t>数组的递推计算（续）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5575963-92D4-4692-9739-5733B19E4B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4800" y="1219200"/>
                <a:ext cx="11582400" cy="5486400"/>
              </a:xfrm>
            </p:spPr>
            <p:txBody>
              <a:bodyPr/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b="0" dirty="0"/>
                  <a:t>设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𝑛𝑒𝑥𝑡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]=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 b="0" dirty="0"/>
                  <a:t>, </a:t>
                </a:r>
                <a:r>
                  <a:rPr lang="zh-CN" altLang="en-US" b="0" dirty="0"/>
                  <a:t>把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b="0" dirty="0"/>
                  <a:t> 右移，使得第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zh-CN" altLang="en-US" b="0" dirty="0"/>
                  <a:t> 个字符对应主串中的第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altLang="zh-CN" b="0" dirty="0"/>
                  <a:t> </a:t>
                </a:r>
                <a:r>
                  <a:rPr lang="zh-CN" altLang="en-US" b="0" dirty="0"/>
                  <a:t>个字符，此时有</a:t>
                </a:r>
                <a:endParaRPr lang="en-US" altLang="zh-CN" b="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altLang="zh-CN" b="0" dirty="0"/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altLang="zh-CN" b="0" dirty="0"/>
                  <a:t>      (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0&lt;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altLang="zh-CN" b="0" dirty="0"/>
                  <a:t>)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altLang="zh-CN" b="0" dirty="0"/>
                  <a:t>(2-1) </a:t>
                </a:r>
                <a:r>
                  <a:rPr lang="zh-CN" altLang="en-US" b="0" dirty="0"/>
                  <a:t>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zh-CN" altLang="en-US" b="0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b="0" dirty="0"/>
                  <a:t>则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b="0" dirty="0"/>
                  <a:t>，所以</a:t>
                </a:r>
                <a:endParaRPr lang="en-US" altLang="zh-CN" b="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altLang="zh-CN" b="0" dirty="0"/>
                  <a:t>    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𝑛𝑒𝑥𝑡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+1]=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+1=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𝑛𝑒𝑥𝑡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]+1</m:t>
                    </m:r>
                  </m:oMath>
                </a14:m>
                <a:r>
                  <a:rPr lang="zh-CN" altLang="en-US" b="0" dirty="0"/>
                  <a:t>。</a:t>
                </a:r>
                <a:endParaRPr lang="en-US" altLang="zh-CN" b="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altLang="zh-CN" b="0" dirty="0"/>
                  <a:t>(2-2) </a:t>
                </a:r>
                <a:r>
                  <a:rPr lang="zh-CN" altLang="en-US" b="0" dirty="0"/>
                  <a:t>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b="0" dirty="0"/>
                  <a:t>，则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b="0" dirty="0"/>
                  <a:t>，此时把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altLang="zh-CN" b="0" dirty="0"/>
                  <a:t> </a:t>
                </a:r>
                <a:r>
                  <a:rPr lang="zh-CN" altLang="en-US" b="0" dirty="0"/>
                  <a:t>看成模式串，按同样的办法递归。</a:t>
                </a:r>
                <a:endParaRPr lang="en-US" altLang="zh-CN" b="0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altLang="zh-CN" b="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5575963-92D4-4692-9739-5733B19E4B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219200"/>
                <a:ext cx="11582400" cy="5486400"/>
              </a:xfrm>
              <a:blipFill>
                <a:blip r:embed="rId2"/>
                <a:stretch>
                  <a:fillRect l="-1316" t="-556" r="-4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78956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4074EB-EB4D-43CA-8C19-442B35BAE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已知</a:t>
            </a:r>
            <a:r>
              <a:rPr lang="en-US" altLang="zh-CN" dirty="0"/>
              <a:t>next[j]=k, </a:t>
            </a:r>
            <a:r>
              <a:rPr lang="zh-CN" altLang="en-US" dirty="0"/>
              <a:t>求</a:t>
            </a:r>
            <a:r>
              <a:rPr lang="en-US" altLang="zh-CN" dirty="0"/>
              <a:t>next[j+1]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575963-92D4-4692-9739-5733B19E4B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143000"/>
            <a:ext cx="11582400" cy="5486400"/>
          </a:xfrm>
        </p:spPr>
        <p:txBody>
          <a:bodyPr/>
          <a:lstStyle/>
          <a:p>
            <a:r>
              <a:rPr lang="zh-CN" altLang="en-US" dirty="0"/>
              <a:t>已知，当 </a:t>
            </a:r>
            <a:r>
              <a:rPr lang="en-US" altLang="zh-CN" dirty="0"/>
              <a:t>s[</a:t>
            </a:r>
            <a:r>
              <a:rPr lang="en-US" altLang="zh-CN" dirty="0" err="1">
                <a:solidFill>
                  <a:srgbClr val="FF0000"/>
                </a:solidFill>
              </a:rPr>
              <a:t>i</a:t>
            </a:r>
            <a:r>
              <a:rPr lang="en-US" altLang="zh-CN" dirty="0"/>
              <a:t>] </a:t>
            </a:r>
            <a:r>
              <a:rPr lang="zh-CN" altLang="en-US" dirty="0"/>
              <a:t>与 </a:t>
            </a:r>
            <a:r>
              <a:rPr lang="en-US" altLang="zh-CN" dirty="0"/>
              <a:t>p[</a:t>
            </a:r>
            <a:r>
              <a:rPr lang="en-US" altLang="zh-CN" dirty="0">
                <a:solidFill>
                  <a:srgbClr val="FF0000"/>
                </a:solidFill>
              </a:rPr>
              <a:t>j</a:t>
            </a:r>
            <a:r>
              <a:rPr lang="en-US" altLang="zh-CN" dirty="0"/>
              <a:t>]</a:t>
            </a:r>
            <a:r>
              <a:rPr lang="en-US" altLang="zh-CN" sz="4000" baseline="-25000" dirty="0"/>
              <a:t> </a:t>
            </a:r>
            <a:r>
              <a:rPr lang="zh-CN" altLang="en-US" dirty="0"/>
              <a:t>失配时</a:t>
            </a:r>
            <a:endParaRPr lang="en-US" altLang="zh-CN" dirty="0"/>
          </a:p>
          <a:p>
            <a:pPr lvl="1"/>
            <a:r>
              <a:rPr lang="zh-CN" altLang="en-US" dirty="0"/>
              <a:t>主串</a:t>
            </a:r>
            <a:r>
              <a:rPr lang="en-US" altLang="zh-CN" dirty="0"/>
              <a:t>s</a:t>
            </a:r>
            <a:r>
              <a:rPr lang="zh-CN" altLang="en-US" dirty="0"/>
              <a:t>下标：</a:t>
            </a:r>
            <a:r>
              <a:rPr lang="en-US" altLang="zh-CN" dirty="0"/>
              <a:t>0  1  2 … </a:t>
            </a:r>
            <a:r>
              <a:rPr lang="en-US" altLang="zh-CN" dirty="0">
                <a:solidFill>
                  <a:srgbClr val="006600"/>
                </a:solidFill>
              </a:rPr>
              <a:t>■ …………... </a:t>
            </a:r>
            <a:r>
              <a:rPr lang="en-US" altLang="zh-CN" b="1" u="dbl" dirty="0">
                <a:solidFill>
                  <a:srgbClr val="006600"/>
                </a:solidFill>
                <a:uFill>
                  <a:solidFill>
                    <a:srgbClr val="006600"/>
                  </a:solidFill>
                </a:uFill>
              </a:rPr>
              <a:t>■ … ■</a:t>
            </a:r>
            <a:r>
              <a:rPr lang="en-US" altLang="zh-CN" b="1" dirty="0">
                <a:solidFill>
                  <a:srgbClr val="006600"/>
                </a:solidFill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</a:rPr>
              <a:t>i</a:t>
            </a:r>
            <a:r>
              <a:rPr lang="en-US" altLang="zh-CN" dirty="0"/>
              <a:t> (i+1)…(n-1)</a:t>
            </a:r>
          </a:p>
          <a:p>
            <a:pPr lvl="1"/>
            <a:r>
              <a:rPr lang="zh-CN" altLang="en-US" dirty="0"/>
              <a:t>模串</a:t>
            </a:r>
            <a:r>
              <a:rPr lang="en-US" altLang="zh-CN" dirty="0"/>
              <a:t>p</a:t>
            </a:r>
            <a:r>
              <a:rPr lang="zh-CN" altLang="en-US" dirty="0"/>
              <a:t>下标：              </a:t>
            </a:r>
            <a:r>
              <a:rPr lang="en-US" altLang="zh-CN" b="1" u="dbl" dirty="0">
                <a:solidFill>
                  <a:srgbClr val="006600"/>
                </a:solidFill>
                <a:uFill>
                  <a:solidFill>
                    <a:schemeClr val="accent2"/>
                  </a:solidFill>
                </a:uFill>
              </a:rPr>
              <a:t>0 … □</a:t>
            </a:r>
            <a:r>
              <a:rPr lang="en-US" altLang="zh-CN" b="1" dirty="0">
                <a:solidFill>
                  <a:srgbClr val="006600"/>
                </a:solidFill>
                <a:uFill>
                  <a:solidFill>
                    <a:schemeClr val="accent2"/>
                  </a:solidFill>
                </a:uFill>
              </a:rPr>
              <a:t> </a:t>
            </a:r>
            <a:r>
              <a:rPr lang="en-US" altLang="zh-CN" b="1" dirty="0">
                <a:solidFill>
                  <a:schemeClr val="accent2"/>
                </a:solidFill>
              </a:rPr>
              <a:t>k</a:t>
            </a:r>
            <a:r>
              <a:rPr lang="zh-CN" altLang="en-US" dirty="0">
                <a:solidFill>
                  <a:srgbClr val="006600"/>
                </a:solidFill>
              </a:rPr>
              <a:t> </a:t>
            </a:r>
            <a:r>
              <a:rPr lang="en-US" altLang="zh-CN" dirty="0"/>
              <a:t>…</a:t>
            </a:r>
            <a:r>
              <a:rPr lang="en-US" altLang="zh-CN" dirty="0">
                <a:solidFill>
                  <a:srgbClr val="006600"/>
                </a:solidFill>
              </a:rPr>
              <a:t> </a:t>
            </a:r>
            <a:r>
              <a:rPr lang="en-US" altLang="zh-CN" b="1" u="dbl" dirty="0">
                <a:solidFill>
                  <a:srgbClr val="006600"/>
                </a:solidFill>
                <a:uFill>
                  <a:solidFill>
                    <a:schemeClr val="accent2"/>
                  </a:solidFill>
                </a:uFill>
              </a:rPr>
              <a:t>□ … □</a:t>
            </a:r>
            <a:r>
              <a:rPr lang="en-US" altLang="zh-CN" b="1" dirty="0">
                <a:solidFill>
                  <a:srgbClr val="006600"/>
                </a:solidFill>
                <a:uFill>
                  <a:solidFill>
                    <a:schemeClr val="accent2"/>
                  </a:solidFill>
                </a:u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j</a:t>
            </a:r>
            <a:r>
              <a:rPr lang="en-US" altLang="zh-CN" dirty="0"/>
              <a:t> (j+1)…(m-1)</a:t>
            </a:r>
          </a:p>
          <a:p>
            <a:pPr lvl="1"/>
            <a:r>
              <a:rPr lang="zh-CN" altLang="en-US" dirty="0"/>
              <a:t>移动模式串：                              </a:t>
            </a:r>
            <a:r>
              <a:rPr lang="en-US" altLang="zh-CN" b="1" u="dbl" dirty="0">
                <a:solidFill>
                  <a:srgbClr val="006600"/>
                </a:solidFill>
                <a:uFill>
                  <a:solidFill>
                    <a:schemeClr val="accent2"/>
                  </a:solidFill>
                </a:uFill>
              </a:rPr>
              <a:t>0 … □</a:t>
            </a:r>
            <a:r>
              <a:rPr lang="en-US" altLang="zh-CN" b="1" dirty="0">
                <a:solidFill>
                  <a:srgbClr val="006600"/>
                </a:solidFill>
                <a:uFill>
                  <a:solidFill>
                    <a:schemeClr val="accent2"/>
                  </a:solidFill>
                </a:uFill>
              </a:rPr>
              <a:t> </a:t>
            </a:r>
            <a:r>
              <a:rPr lang="en-US" altLang="zh-CN" b="1" dirty="0">
                <a:solidFill>
                  <a:schemeClr val="accent2"/>
                </a:solidFill>
              </a:rPr>
              <a:t>k</a:t>
            </a:r>
            <a:r>
              <a:rPr lang="zh-CN" altLang="en-US" dirty="0">
                <a:solidFill>
                  <a:srgbClr val="006600"/>
                </a:solidFill>
              </a:rPr>
              <a:t> </a:t>
            </a:r>
            <a:r>
              <a:rPr lang="en-US" altLang="zh-CN" dirty="0"/>
              <a:t>……</a:t>
            </a:r>
            <a:r>
              <a:rPr lang="en-US" altLang="zh-CN" dirty="0">
                <a:solidFill>
                  <a:srgbClr val="006600"/>
                </a:solidFill>
              </a:rPr>
              <a:t> </a:t>
            </a:r>
            <a:r>
              <a:rPr lang="en-US" altLang="zh-CN" b="1" dirty="0"/>
              <a:t>j</a:t>
            </a:r>
            <a:r>
              <a:rPr lang="en-US" altLang="zh-CN" dirty="0"/>
              <a:t> …(m-1)</a:t>
            </a:r>
          </a:p>
          <a:p>
            <a:r>
              <a:rPr lang="zh-CN" altLang="en-US" dirty="0"/>
              <a:t>当 </a:t>
            </a:r>
            <a:r>
              <a:rPr lang="en-US" altLang="zh-CN" dirty="0"/>
              <a:t>p[</a:t>
            </a:r>
            <a:r>
              <a:rPr lang="en-US" altLang="zh-CN" dirty="0">
                <a:solidFill>
                  <a:srgbClr val="FF0000"/>
                </a:solidFill>
              </a:rPr>
              <a:t>j+1</a:t>
            </a:r>
            <a:r>
              <a:rPr lang="en-US" altLang="zh-CN" dirty="0"/>
              <a:t>]</a:t>
            </a:r>
            <a:r>
              <a:rPr lang="en-US" altLang="zh-CN" sz="4000" baseline="-25000" dirty="0"/>
              <a:t> </a:t>
            </a:r>
            <a:r>
              <a:rPr lang="zh-CN" altLang="en-US" dirty="0"/>
              <a:t>失配时，</a:t>
            </a:r>
            <a:r>
              <a:rPr lang="en-US" altLang="zh-CN" dirty="0"/>
              <a:t>next[</a:t>
            </a:r>
            <a:r>
              <a:rPr lang="en-US" altLang="zh-CN" dirty="0">
                <a:solidFill>
                  <a:srgbClr val="FF0000"/>
                </a:solidFill>
              </a:rPr>
              <a:t>j+1</a:t>
            </a:r>
            <a:r>
              <a:rPr lang="en-US" altLang="zh-CN" dirty="0"/>
              <a:t>]=?</a:t>
            </a:r>
          </a:p>
          <a:p>
            <a:pPr lvl="1"/>
            <a:r>
              <a:rPr lang="zh-CN" altLang="en-US" dirty="0"/>
              <a:t>主串下标：</a:t>
            </a:r>
            <a:r>
              <a:rPr lang="en-US" altLang="zh-CN" dirty="0"/>
              <a:t>…</a:t>
            </a:r>
            <a:r>
              <a:rPr lang="en-US" altLang="zh-CN" dirty="0">
                <a:solidFill>
                  <a:srgbClr val="006600"/>
                </a:solidFill>
              </a:rPr>
              <a:t> </a:t>
            </a:r>
            <a:r>
              <a:rPr lang="en-US" altLang="zh-CN" b="1" u="sng" dirty="0">
                <a:solidFill>
                  <a:srgbClr val="006600"/>
                </a:solidFill>
                <a:uFill>
                  <a:solidFill>
                    <a:srgbClr val="006600"/>
                  </a:solidFill>
                </a:uFill>
              </a:rPr>
              <a:t>■ ………….…..… ■ … ■</a:t>
            </a:r>
            <a:r>
              <a:rPr lang="en-US" altLang="zh-CN" b="1" u="sng" dirty="0">
                <a:solidFill>
                  <a:srgbClr val="006600"/>
                </a:solidFill>
              </a:rPr>
              <a:t> </a:t>
            </a:r>
            <a:r>
              <a:rPr lang="en-US" altLang="zh-CN" u="sng" dirty="0"/>
              <a:t>(i-1)</a:t>
            </a:r>
            <a:r>
              <a:rPr lang="en-US" altLang="zh-CN" b="1" dirty="0">
                <a:solidFill>
                  <a:srgbClr val="006600"/>
                </a:solidFill>
              </a:rPr>
              <a:t>  </a:t>
            </a:r>
            <a:r>
              <a:rPr lang="en-US" altLang="zh-CN" b="1" dirty="0" err="1">
                <a:solidFill>
                  <a:srgbClr val="FF0000"/>
                </a:solidFill>
              </a:rPr>
              <a:t>i</a:t>
            </a:r>
            <a:r>
              <a:rPr lang="en-US" altLang="zh-CN" b="1" dirty="0">
                <a:solidFill>
                  <a:srgbClr val="FF0000"/>
                </a:solidFill>
              </a:rPr>
              <a:t>    </a:t>
            </a:r>
            <a:r>
              <a:rPr lang="en-US" altLang="zh-CN" dirty="0"/>
              <a:t>…(n-1)</a:t>
            </a:r>
          </a:p>
          <a:p>
            <a:pPr lvl="1"/>
            <a:r>
              <a:rPr lang="zh-CN" altLang="en-US" dirty="0"/>
              <a:t>模串下标：    </a:t>
            </a:r>
            <a:r>
              <a:rPr lang="en-US" altLang="zh-CN" b="1" u="dbl" dirty="0">
                <a:solidFill>
                  <a:srgbClr val="006600"/>
                </a:solidFill>
                <a:uFill>
                  <a:solidFill>
                    <a:schemeClr val="accent2"/>
                  </a:solidFill>
                </a:uFill>
              </a:rPr>
              <a:t>0 … □</a:t>
            </a:r>
            <a:r>
              <a:rPr lang="en-US" altLang="zh-CN" b="1" dirty="0">
                <a:solidFill>
                  <a:srgbClr val="006600"/>
                </a:solidFill>
                <a:uFill>
                  <a:solidFill>
                    <a:schemeClr val="accent2"/>
                  </a:solidFill>
                </a:uFill>
              </a:rPr>
              <a:t> </a:t>
            </a:r>
            <a:r>
              <a:rPr lang="en-US" altLang="zh-CN" b="1" u="heavy" dirty="0">
                <a:solidFill>
                  <a:schemeClr val="accent2"/>
                </a:solidFill>
              </a:rPr>
              <a:t>k</a:t>
            </a:r>
            <a:r>
              <a:rPr lang="zh-CN" altLang="en-US" dirty="0">
                <a:solidFill>
                  <a:srgbClr val="006600"/>
                </a:solidFill>
              </a:rPr>
              <a:t> </a:t>
            </a:r>
            <a:r>
              <a:rPr lang="en-US" altLang="zh-CN" dirty="0"/>
              <a:t>(k+1)…</a:t>
            </a:r>
            <a:r>
              <a:rPr lang="en-US" altLang="zh-CN" dirty="0">
                <a:solidFill>
                  <a:srgbClr val="006600"/>
                </a:solidFill>
              </a:rPr>
              <a:t> </a:t>
            </a:r>
            <a:r>
              <a:rPr lang="en-US" altLang="zh-CN" b="1" u="dbl" dirty="0">
                <a:solidFill>
                  <a:srgbClr val="006600"/>
                </a:solidFill>
                <a:uFill>
                  <a:solidFill>
                    <a:schemeClr val="accent2"/>
                  </a:solidFill>
                </a:uFill>
              </a:rPr>
              <a:t>□ … □</a:t>
            </a:r>
            <a:r>
              <a:rPr lang="en-US" altLang="zh-CN" b="1" dirty="0">
                <a:solidFill>
                  <a:srgbClr val="006600"/>
                </a:solidFill>
                <a:uFill>
                  <a:solidFill>
                    <a:schemeClr val="accent2"/>
                  </a:solidFill>
                </a:uFill>
              </a:rPr>
              <a:t>   </a:t>
            </a:r>
            <a:r>
              <a:rPr lang="en-US" altLang="zh-CN" b="1" u="wavyDbl" dirty="0"/>
              <a:t>j</a:t>
            </a:r>
            <a:r>
              <a:rPr lang="en-US" altLang="zh-CN" dirty="0"/>
              <a:t>   (</a:t>
            </a:r>
            <a:r>
              <a:rPr lang="en-US" altLang="zh-CN" b="1" dirty="0">
                <a:solidFill>
                  <a:srgbClr val="FF0000"/>
                </a:solidFill>
              </a:rPr>
              <a:t>j+1</a:t>
            </a:r>
            <a:r>
              <a:rPr lang="en-US" altLang="zh-CN" dirty="0"/>
              <a:t>)…(m-1)</a:t>
            </a:r>
          </a:p>
          <a:p>
            <a:pPr lvl="1"/>
            <a:r>
              <a:rPr lang="zh-CN" altLang="en-US" dirty="0"/>
              <a:t>比较</a:t>
            </a:r>
            <a:r>
              <a:rPr lang="en-US" altLang="zh-CN" dirty="0"/>
              <a:t>p[</a:t>
            </a:r>
            <a:r>
              <a:rPr lang="en-US" altLang="zh-CN" b="1" dirty="0">
                <a:solidFill>
                  <a:schemeClr val="accent2"/>
                </a:solidFill>
              </a:rPr>
              <a:t>k</a:t>
            </a:r>
            <a:r>
              <a:rPr lang="en-US" altLang="zh-CN" dirty="0"/>
              <a:t>]</a:t>
            </a:r>
            <a:r>
              <a:rPr lang="zh-CN" altLang="en-US" dirty="0"/>
              <a:t>和</a:t>
            </a:r>
            <a:r>
              <a:rPr lang="en-US" altLang="zh-CN" dirty="0"/>
              <a:t>p[</a:t>
            </a:r>
            <a:r>
              <a:rPr lang="en-US" altLang="zh-CN" b="1" dirty="0"/>
              <a:t>j</a:t>
            </a:r>
            <a:r>
              <a:rPr lang="en-US" altLang="zh-CN" dirty="0"/>
              <a:t>]</a:t>
            </a:r>
            <a:r>
              <a:rPr lang="zh-CN" altLang="en-US" dirty="0"/>
              <a:t>：                     </a:t>
            </a:r>
            <a:r>
              <a:rPr lang="en-US" altLang="zh-CN" b="1" u="dbl" dirty="0">
                <a:solidFill>
                  <a:srgbClr val="006600"/>
                </a:solidFill>
                <a:uFill>
                  <a:solidFill>
                    <a:schemeClr val="accent2"/>
                  </a:solidFill>
                </a:uFill>
              </a:rPr>
              <a:t>0 … □</a:t>
            </a:r>
            <a:r>
              <a:rPr lang="en-US" altLang="zh-CN" b="1" dirty="0">
                <a:solidFill>
                  <a:srgbClr val="006600"/>
                </a:solidFill>
                <a:uFill>
                  <a:solidFill>
                    <a:schemeClr val="accent2"/>
                  </a:solidFill>
                </a:uFill>
              </a:rPr>
              <a:t>   </a:t>
            </a:r>
            <a:r>
              <a:rPr lang="en-US" altLang="zh-CN" b="1" u="heavy" dirty="0">
                <a:solidFill>
                  <a:schemeClr val="accent2"/>
                </a:solidFill>
              </a:rPr>
              <a:t>k</a:t>
            </a:r>
            <a:r>
              <a:rPr lang="en-US" altLang="zh-CN" b="1" dirty="0">
                <a:solidFill>
                  <a:schemeClr val="accent2"/>
                </a:solidFill>
              </a:rPr>
              <a:t>  </a:t>
            </a:r>
            <a:r>
              <a:rPr lang="en-US" altLang="zh-CN" dirty="0"/>
              <a:t>(</a:t>
            </a:r>
            <a:r>
              <a:rPr lang="en-US" altLang="zh-CN" b="1" dirty="0">
                <a:solidFill>
                  <a:srgbClr val="FF0000"/>
                </a:solidFill>
              </a:rPr>
              <a:t>k+1</a:t>
            </a:r>
            <a:r>
              <a:rPr lang="en-US" altLang="zh-CN" dirty="0"/>
              <a:t>)…….(m-1)</a:t>
            </a:r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7C89903-7B93-4438-8B6D-1C12A19BCC4F}"/>
              </a:ext>
            </a:extLst>
          </p:cNvPr>
          <p:cNvSpPr txBox="1"/>
          <p:nvPr/>
        </p:nvSpPr>
        <p:spPr>
          <a:xfrm>
            <a:off x="4982308" y="1701225"/>
            <a:ext cx="685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-j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199ED4A-0B47-427E-88D9-BF3D759677B8}"/>
              </a:ext>
            </a:extLst>
          </p:cNvPr>
          <p:cNvSpPr txBox="1"/>
          <p:nvPr/>
        </p:nvSpPr>
        <p:spPr>
          <a:xfrm>
            <a:off x="7010400" y="1676400"/>
            <a:ext cx="914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-k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594786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575963-92D4-4692-9739-5733B19E4B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609600"/>
            <a:ext cx="11582400" cy="5486400"/>
          </a:xfrm>
        </p:spPr>
        <p:txBody>
          <a:bodyPr/>
          <a:lstStyle/>
          <a:p>
            <a:r>
              <a:rPr lang="zh-CN" altLang="en-US" dirty="0"/>
              <a:t>如果</a:t>
            </a:r>
            <a:r>
              <a:rPr lang="en-US" altLang="zh-CN" dirty="0"/>
              <a:t>p[</a:t>
            </a:r>
            <a:r>
              <a:rPr lang="en-US" altLang="zh-CN" b="1" dirty="0">
                <a:solidFill>
                  <a:schemeClr val="accent2"/>
                </a:solidFill>
              </a:rPr>
              <a:t>k</a:t>
            </a:r>
            <a:r>
              <a:rPr lang="en-US" altLang="zh-CN" dirty="0"/>
              <a:t>]=p[</a:t>
            </a:r>
            <a:r>
              <a:rPr lang="en-US" altLang="zh-CN" b="1" dirty="0"/>
              <a:t>j</a:t>
            </a:r>
            <a:r>
              <a:rPr lang="en-US" altLang="zh-CN" dirty="0"/>
              <a:t>]</a:t>
            </a:r>
            <a:r>
              <a:rPr lang="zh-CN" altLang="en-US" dirty="0"/>
              <a:t>，那么</a:t>
            </a:r>
            <a:r>
              <a:rPr lang="en-US" altLang="zh-CN" dirty="0"/>
              <a:t>next[</a:t>
            </a:r>
            <a:r>
              <a:rPr lang="en-US" altLang="zh-CN" b="1" dirty="0"/>
              <a:t>j+1</a:t>
            </a:r>
            <a:r>
              <a:rPr lang="en-US" altLang="zh-CN" dirty="0"/>
              <a:t>]=</a:t>
            </a:r>
            <a:r>
              <a:rPr lang="en-US" altLang="zh-CN" b="1" dirty="0">
                <a:solidFill>
                  <a:schemeClr val="accent2"/>
                </a:solidFill>
              </a:rPr>
              <a:t>k</a:t>
            </a:r>
            <a:r>
              <a:rPr lang="en-US" altLang="zh-CN" dirty="0"/>
              <a:t>+1=next[</a:t>
            </a:r>
            <a:r>
              <a:rPr lang="en-US" altLang="zh-CN" b="1" dirty="0"/>
              <a:t>j</a:t>
            </a:r>
            <a:r>
              <a:rPr lang="en-US" altLang="zh-CN" dirty="0"/>
              <a:t>]+1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zh-CN" altLang="en-US" dirty="0"/>
              <a:t>模串下标：   </a:t>
            </a:r>
            <a:r>
              <a:rPr lang="en-US" altLang="zh-CN" b="1" u="dbl" dirty="0">
                <a:solidFill>
                  <a:srgbClr val="006600"/>
                </a:solidFill>
                <a:uFill>
                  <a:solidFill>
                    <a:schemeClr val="accent2"/>
                  </a:solidFill>
                </a:uFill>
              </a:rPr>
              <a:t>0 … □</a:t>
            </a:r>
            <a:r>
              <a:rPr lang="en-US" altLang="zh-CN" b="1" dirty="0">
                <a:solidFill>
                  <a:srgbClr val="006600"/>
                </a:solidFill>
                <a:uFill>
                  <a:solidFill>
                    <a:schemeClr val="accent2"/>
                  </a:solidFill>
                </a:uFill>
              </a:rPr>
              <a:t> </a:t>
            </a:r>
            <a:r>
              <a:rPr lang="en-US" altLang="zh-CN" b="1" u="heavy" dirty="0">
                <a:solidFill>
                  <a:schemeClr val="accent2"/>
                </a:solidFill>
              </a:rPr>
              <a:t>k</a:t>
            </a:r>
            <a:r>
              <a:rPr lang="zh-CN" altLang="en-US" dirty="0">
                <a:solidFill>
                  <a:srgbClr val="006600"/>
                </a:solidFill>
              </a:rPr>
              <a:t> </a:t>
            </a:r>
            <a:r>
              <a:rPr lang="en-US" altLang="zh-CN" dirty="0"/>
              <a:t>…</a:t>
            </a:r>
            <a:r>
              <a:rPr lang="en-US" altLang="zh-CN" dirty="0">
                <a:solidFill>
                  <a:srgbClr val="006600"/>
                </a:solidFill>
              </a:rPr>
              <a:t> </a:t>
            </a:r>
            <a:r>
              <a:rPr lang="en-US" altLang="zh-CN" b="1" u="dbl" dirty="0">
                <a:solidFill>
                  <a:srgbClr val="006600"/>
                </a:solidFill>
                <a:uFill>
                  <a:solidFill>
                    <a:schemeClr val="accent2"/>
                  </a:solidFill>
                </a:uFill>
              </a:rPr>
              <a:t>□ … □</a:t>
            </a:r>
            <a:r>
              <a:rPr lang="en-US" altLang="zh-CN" b="1" dirty="0">
                <a:solidFill>
                  <a:srgbClr val="006600"/>
                </a:solidFill>
                <a:uFill>
                  <a:solidFill>
                    <a:schemeClr val="accent2"/>
                  </a:solidFill>
                </a:uFill>
              </a:rPr>
              <a:t>  </a:t>
            </a:r>
            <a:r>
              <a:rPr lang="en-US" altLang="zh-CN" b="1" u="wavyDbl" dirty="0"/>
              <a:t>j </a:t>
            </a:r>
            <a:r>
              <a:rPr lang="en-US" altLang="zh-CN" dirty="0"/>
              <a:t> (</a:t>
            </a:r>
            <a:r>
              <a:rPr lang="en-US" altLang="zh-CN" b="1" dirty="0">
                <a:solidFill>
                  <a:srgbClr val="FF0000"/>
                </a:solidFill>
              </a:rPr>
              <a:t>j+1</a:t>
            </a:r>
            <a:r>
              <a:rPr lang="en-US" altLang="zh-CN" dirty="0"/>
              <a:t>)…(m-1)</a:t>
            </a:r>
          </a:p>
          <a:p>
            <a:pPr lvl="1"/>
            <a:r>
              <a:rPr lang="zh-CN" altLang="en-US" dirty="0"/>
              <a:t>比较</a:t>
            </a:r>
            <a:r>
              <a:rPr lang="en-US" altLang="zh-CN" dirty="0"/>
              <a:t>p[</a:t>
            </a:r>
            <a:r>
              <a:rPr lang="en-US" altLang="zh-CN" b="1" dirty="0">
                <a:solidFill>
                  <a:schemeClr val="accent2"/>
                </a:solidFill>
              </a:rPr>
              <a:t>k</a:t>
            </a:r>
            <a:r>
              <a:rPr lang="en-US" altLang="zh-CN" dirty="0"/>
              <a:t>]</a:t>
            </a:r>
            <a:r>
              <a:rPr lang="zh-CN" altLang="en-US" dirty="0"/>
              <a:t>和</a:t>
            </a:r>
            <a:r>
              <a:rPr lang="en-US" altLang="zh-CN" dirty="0"/>
              <a:t>p[</a:t>
            </a:r>
            <a:r>
              <a:rPr lang="en-US" altLang="zh-CN" b="1" dirty="0"/>
              <a:t>j</a:t>
            </a:r>
            <a:r>
              <a:rPr lang="en-US" altLang="zh-CN" dirty="0"/>
              <a:t>]</a:t>
            </a:r>
            <a:r>
              <a:rPr lang="zh-CN" altLang="en-US" dirty="0"/>
              <a:t>：            </a:t>
            </a:r>
            <a:r>
              <a:rPr lang="en-US" altLang="zh-CN" b="1" u="dbl" dirty="0">
                <a:solidFill>
                  <a:srgbClr val="006600"/>
                </a:solidFill>
                <a:uFill>
                  <a:solidFill>
                    <a:schemeClr val="accent2"/>
                  </a:solidFill>
                </a:uFill>
              </a:rPr>
              <a:t>0 … □</a:t>
            </a:r>
            <a:r>
              <a:rPr lang="en-US" altLang="zh-CN" b="1" dirty="0">
                <a:solidFill>
                  <a:srgbClr val="006600"/>
                </a:solidFill>
                <a:uFill>
                  <a:solidFill>
                    <a:schemeClr val="accent2"/>
                  </a:solidFill>
                </a:uFill>
              </a:rPr>
              <a:t>  </a:t>
            </a:r>
            <a:r>
              <a:rPr lang="en-US" altLang="zh-CN" b="1" u="heavy" dirty="0">
                <a:solidFill>
                  <a:schemeClr val="accent2"/>
                </a:solidFill>
              </a:rPr>
              <a:t>k</a:t>
            </a:r>
            <a:r>
              <a:rPr lang="en-US" altLang="zh-CN" b="1" dirty="0">
                <a:solidFill>
                  <a:schemeClr val="accent2"/>
                </a:solidFill>
              </a:rPr>
              <a:t> </a:t>
            </a:r>
            <a:r>
              <a:rPr lang="en-US" altLang="zh-CN" dirty="0"/>
              <a:t>(</a:t>
            </a:r>
            <a:r>
              <a:rPr lang="en-US" altLang="zh-CN" b="1" dirty="0">
                <a:solidFill>
                  <a:srgbClr val="FF0000"/>
                </a:solidFill>
              </a:rPr>
              <a:t>k+1</a:t>
            </a:r>
            <a:r>
              <a:rPr lang="en-US" altLang="zh-CN" dirty="0"/>
              <a:t>)……(m-1)</a:t>
            </a:r>
            <a:r>
              <a:rPr lang="en-US" altLang="zh-CN" dirty="0">
                <a:solidFill>
                  <a:srgbClr val="006600"/>
                </a:solidFill>
              </a:rPr>
              <a:t> </a:t>
            </a:r>
            <a:endParaRPr lang="en-US" altLang="zh-CN" dirty="0"/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p[</a:t>
            </a:r>
            <a:r>
              <a:rPr lang="en-US" altLang="zh-CN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]!=p[j]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，那么把前缀移到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next[</a:t>
            </a:r>
            <a:r>
              <a:rPr lang="en-US" altLang="zh-CN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。设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next[</a:t>
            </a:r>
            <a:r>
              <a:rPr lang="en-US" altLang="zh-CN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]=</a:t>
            </a:r>
            <a:r>
              <a:rPr lang="en-US" altLang="zh-CN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</a:p>
          <a:p>
            <a:pPr lvl="1"/>
            <a:r>
              <a:rPr lang="zh-CN" altLang="en-US" dirty="0"/>
              <a:t>把模串看成主串：</a:t>
            </a:r>
            <a:r>
              <a:rPr lang="en-US" altLang="zh-CN" b="1" u="dbl" dirty="0">
                <a:solidFill>
                  <a:srgbClr val="006600"/>
                </a:solidFill>
                <a:uFill>
                  <a:solidFill>
                    <a:schemeClr val="accent2"/>
                  </a:solidFill>
                </a:uFill>
              </a:rPr>
              <a:t>0 … □</a:t>
            </a:r>
            <a:r>
              <a:rPr lang="en-US" altLang="zh-CN" b="1" dirty="0">
                <a:solidFill>
                  <a:srgbClr val="006600"/>
                </a:solidFill>
                <a:uFill>
                  <a:solidFill>
                    <a:schemeClr val="accent2"/>
                  </a:solidFill>
                </a:uFill>
              </a:rPr>
              <a:t> </a:t>
            </a:r>
            <a:r>
              <a:rPr lang="en-US" altLang="zh-CN" b="1" u="heavy" dirty="0">
                <a:solidFill>
                  <a:srgbClr val="00B050"/>
                </a:solidFill>
              </a:rPr>
              <a:t>r</a:t>
            </a:r>
            <a:r>
              <a:rPr lang="zh-CN" altLang="en-US" dirty="0">
                <a:solidFill>
                  <a:srgbClr val="006600"/>
                </a:solidFill>
              </a:rPr>
              <a:t> </a:t>
            </a:r>
            <a:r>
              <a:rPr lang="en-US" altLang="zh-CN" dirty="0"/>
              <a:t>…</a:t>
            </a:r>
            <a:r>
              <a:rPr lang="en-US" altLang="zh-CN" dirty="0">
                <a:solidFill>
                  <a:srgbClr val="006600"/>
                </a:solidFill>
              </a:rPr>
              <a:t> </a:t>
            </a:r>
            <a:r>
              <a:rPr lang="en-US" altLang="zh-CN" b="1" u="dbl" dirty="0">
                <a:solidFill>
                  <a:srgbClr val="006600"/>
                </a:solidFill>
                <a:uFill>
                  <a:solidFill>
                    <a:schemeClr val="accent2"/>
                  </a:solidFill>
                </a:uFill>
              </a:rPr>
              <a:t>□ … □</a:t>
            </a:r>
            <a:r>
              <a:rPr lang="en-US" altLang="zh-CN" b="1" dirty="0">
                <a:solidFill>
                  <a:srgbClr val="006600"/>
                </a:solidFill>
                <a:uFill>
                  <a:solidFill>
                    <a:schemeClr val="accent2"/>
                  </a:solidFill>
                </a:uFill>
              </a:rPr>
              <a:t> </a:t>
            </a:r>
            <a:r>
              <a:rPr lang="en-US" altLang="zh-CN" b="1" u="wavyDbl" dirty="0"/>
              <a:t>j</a:t>
            </a:r>
            <a:r>
              <a:rPr lang="en-US" altLang="zh-CN" dirty="0"/>
              <a:t>  (</a:t>
            </a:r>
            <a:r>
              <a:rPr lang="en-US" altLang="zh-CN" b="1" dirty="0">
                <a:solidFill>
                  <a:srgbClr val="FF0000"/>
                </a:solidFill>
              </a:rPr>
              <a:t>j+1</a:t>
            </a:r>
            <a:r>
              <a:rPr lang="en-US" altLang="zh-CN" dirty="0"/>
              <a:t>)</a:t>
            </a:r>
            <a:r>
              <a:rPr lang="en-US" altLang="zh-CN" b="1" dirty="0">
                <a:solidFill>
                  <a:srgbClr val="006600"/>
                </a:solidFill>
                <a:uFill>
                  <a:solidFill>
                    <a:schemeClr val="accent2"/>
                  </a:solidFill>
                </a:uFill>
              </a:rPr>
              <a:t>……</a:t>
            </a:r>
            <a:r>
              <a:rPr lang="en-US" altLang="zh-CN" dirty="0"/>
              <a:t>(m-1)</a:t>
            </a:r>
          </a:p>
          <a:p>
            <a:pPr lvl="1"/>
            <a:r>
              <a:rPr lang="zh-CN" altLang="en-US" sz="3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把前缀看成模串：                 </a:t>
            </a:r>
            <a:r>
              <a:rPr lang="en-US" altLang="zh-CN" b="1" u="dbl" dirty="0">
                <a:solidFill>
                  <a:srgbClr val="006600"/>
                </a:solidFill>
                <a:uFill>
                  <a:solidFill>
                    <a:schemeClr val="accent2"/>
                  </a:solidFill>
                </a:uFill>
              </a:rPr>
              <a:t>0 … □</a:t>
            </a:r>
            <a:r>
              <a:rPr lang="en-US" altLang="zh-CN" b="1" dirty="0">
                <a:solidFill>
                  <a:srgbClr val="006600"/>
                </a:solidFill>
                <a:uFill>
                  <a:solidFill>
                    <a:schemeClr val="accent2"/>
                  </a:solidFill>
                </a:uFill>
              </a:rPr>
              <a:t> </a:t>
            </a:r>
            <a:r>
              <a:rPr lang="en-US" altLang="zh-CN" b="1" u="heavy" dirty="0">
                <a:solidFill>
                  <a:srgbClr val="00B050"/>
                </a:solidFill>
              </a:rPr>
              <a:t>r</a:t>
            </a:r>
            <a:r>
              <a:rPr lang="zh-CN" altLang="en-US" dirty="0">
                <a:solidFill>
                  <a:srgbClr val="006600"/>
                </a:solidFill>
              </a:rPr>
              <a:t> </a:t>
            </a:r>
            <a:r>
              <a:rPr lang="en-US" altLang="zh-CN" dirty="0"/>
              <a:t>(</a:t>
            </a:r>
            <a:r>
              <a:rPr lang="en-US" altLang="zh-CN" b="1" dirty="0">
                <a:solidFill>
                  <a:srgbClr val="FF0000"/>
                </a:solidFill>
              </a:rPr>
              <a:t>r+1</a:t>
            </a:r>
            <a:r>
              <a:rPr lang="en-US" altLang="zh-CN" dirty="0"/>
              <a:t>)</a:t>
            </a:r>
            <a:r>
              <a:rPr lang="en-US" altLang="zh-CN" b="1" dirty="0">
                <a:solidFill>
                  <a:srgbClr val="006600"/>
                </a:solidFill>
                <a:uFill>
                  <a:solidFill>
                    <a:schemeClr val="accent2"/>
                  </a:solidFill>
                </a:uFill>
              </a:rPr>
              <a:t>……</a:t>
            </a:r>
            <a:r>
              <a:rPr lang="en-US" altLang="zh-CN" b="1" dirty="0">
                <a:solidFill>
                  <a:schemeClr val="accent2"/>
                </a:solidFill>
              </a:rPr>
              <a:t>k</a:t>
            </a:r>
            <a:r>
              <a:rPr lang="en-US" altLang="zh-CN" b="1" dirty="0">
                <a:solidFill>
                  <a:srgbClr val="006600"/>
                </a:solidFill>
                <a:uFill>
                  <a:solidFill>
                    <a:schemeClr val="accent2"/>
                  </a:solidFill>
                </a:uFill>
              </a:rPr>
              <a:t> …</a:t>
            </a:r>
            <a:r>
              <a:rPr lang="en-US" altLang="zh-CN" dirty="0"/>
              <a:t>(m-1)</a:t>
            </a:r>
            <a:endParaRPr lang="en-US" altLang="zh-CN" b="1" dirty="0">
              <a:solidFill>
                <a:schemeClr val="accent2"/>
              </a:solidFill>
            </a:endParaRPr>
          </a:p>
          <a:p>
            <a:pPr lvl="1"/>
            <a:r>
              <a:rPr lang="zh-CN" altLang="en-US" dirty="0"/>
              <a:t>比较</a:t>
            </a:r>
            <a:r>
              <a:rPr lang="en-US" altLang="zh-CN" dirty="0"/>
              <a:t>p[</a:t>
            </a:r>
            <a:r>
              <a:rPr lang="en-US" altLang="zh-CN" b="1" dirty="0"/>
              <a:t>j</a:t>
            </a:r>
            <a:r>
              <a:rPr lang="en-US" altLang="zh-CN" dirty="0"/>
              <a:t>]</a:t>
            </a:r>
            <a:r>
              <a:rPr lang="zh-CN" altLang="en-US" dirty="0"/>
              <a:t>和</a:t>
            </a:r>
            <a:r>
              <a:rPr lang="en-US" altLang="zh-CN" dirty="0"/>
              <a:t>p[</a:t>
            </a:r>
            <a:r>
              <a:rPr lang="en-US" altLang="zh-CN" b="1" dirty="0">
                <a:solidFill>
                  <a:srgbClr val="006600"/>
                </a:solidFill>
              </a:rPr>
              <a:t>r</a:t>
            </a:r>
            <a:r>
              <a:rPr lang="en-US" altLang="zh-CN" dirty="0"/>
              <a:t>]</a:t>
            </a:r>
            <a:r>
              <a:rPr lang="zh-CN" altLang="en-US" dirty="0"/>
              <a:t>，如此递归下去</a:t>
            </a:r>
            <a:r>
              <a:rPr lang="en-US" altLang="zh-CN" dirty="0"/>
              <a:t>…</a:t>
            </a:r>
          </a:p>
          <a:p>
            <a:pPr lvl="1"/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p[j]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失配时，模串移到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next[j]=</a:t>
            </a:r>
            <a:r>
              <a:rPr lang="en-US" altLang="zh-CN" sz="32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。同理，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buNone/>
            </a:pPr>
            <a:r>
              <a:rPr lang="en-US" altLang="zh-CN" b="1" dirty="0"/>
              <a:t>  </a:t>
            </a:r>
            <a:r>
              <a:rPr lang="zh-CN" altLang="en-US" b="1" dirty="0"/>
              <a:t>当</a:t>
            </a:r>
            <a:r>
              <a:rPr lang="en-US" altLang="zh-CN" b="1" dirty="0"/>
              <a:t>p[</a:t>
            </a:r>
            <a:r>
              <a:rPr lang="en-US" altLang="zh-CN" b="1" dirty="0">
                <a:solidFill>
                  <a:schemeClr val="accent2"/>
                </a:solidFill>
              </a:rPr>
              <a:t>k</a:t>
            </a:r>
            <a:r>
              <a:rPr lang="en-US" altLang="zh-CN" b="1" dirty="0"/>
              <a:t>]</a:t>
            </a:r>
            <a:r>
              <a:rPr lang="zh-CN" altLang="en-US" b="1" dirty="0"/>
              <a:t>失配时，前缀移到</a:t>
            </a:r>
            <a:r>
              <a:rPr lang="en-US" altLang="zh-CN" b="1" dirty="0"/>
              <a:t>next[</a:t>
            </a:r>
            <a:r>
              <a:rPr lang="en-US" altLang="zh-CN" b="1" dirty="0">
                <a:solidFill>
                  <a:schemeClr val="accent2"/>
                </a:solidFill>
              </a:rPr>
              <a:t>k</a:t>
            </a:r>
            <a:r>
              <a:rPr lang="en-US" altLang="zh-CN" b="1" dirty="0"/>
              <a:t>]</a:t>
            </a:r>
            <a:r>
              <a:rPr lang="zh-CN" altLang="en-US" b="1" dirty="0"/>
              <a:t>，即</a:t>
            </a:r>
            <a:r>
              <a:rPr lang="en-US" altLang="zh-CN" b="1" dirty="0"/>
              <a:t>next[next[j]]</a:t>
            </a:r>
            <a:r>
              <a:rPr lang="zh-CN" altLang="en-US" b="1" dirty="0"/>
              <a:t>。</a:t>
            </a:r>
            <a:endParaRPr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152290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4074EB-EB4D-43CA-8C19-442B35BAE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Next</a:t>
            </a:r>
            <a:r>
              <a:rPr lang="zh-CN" altLang="en-US" dirty="0"/>
              <a:t>数组计算的实现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575963-92D4-4692-9739-5733B19E4B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19200"/>
            <a:ext cx="11582400" cy="548640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void </a:t>
            </a:r>
            <a:r>
              <a:rPr lang="en-US" altLang="zh-CN" b="0" dirty="0" err="1"/>
              <a:t>CalculateNext</a:t>
            </a:r>
            <a:r>
              <a:rPr lang="en-US" altLang="zh-CN" b="0" dirty="0"/>
              <a:t>(char* p, int next[ ])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int j=0, k=-1, m=</a:t>
            </a:r>
            <a:r>
              <a:rPr lang="en-US" altLang="zh-CN" b="0" dirty="0" err="1"/>
              <a:t>strlen</a:t>
            </a:r>
            <a:r>
              <a:rPr lang="en-US" altLang="zh-CN" b="0" dirty="0"/>
              <a:t>(p);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next[0]=k;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while(j&lt;m-1){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// next[j]=k</a:t>
            </a:r>
            <a:r>
              <a:rPr lang="zh-CN" altLang="en-US" b="0" dirty="0"/>
              <a:t>，为了计算</a:t>
            </a:r>
            <a:r>
              <a:rPr lang="en-US" altLang="zh-CN" b="0" dirty="0"/>
              <a:t>next[j+1]</a:t>
            </a:r>
            <a:r>
              <a:rPr lang="zh-CN" altLang="en-US" b="0" dirty="0"/>
              <a:t>，需要比较</a:t>
            </a:r>
            <a:r>
              <a:rPr lang="en-US" altLang="zh-CN" b="0" dirty="0"/>
              <a:t>p[k]</a:t>
            </a:r>
            <a:r>
              <a:rPr lang="zh-CN" altLang="en-US" b="0" dirty="0"/>
              <a:t>和</a:t>
            </a:r>
            <a:r>
              <a:rPr lang="en-US" altLang="zh-CN" b="0" dirty="0"/>
              <a:t>p[j]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// </a:t>
            </a:r>
            <a:r>
              <a:rPr lang="zh-CN" altLang="en-US" b="0" dirty="0"/>
              <a:t>当</a:t>
            </a:r>
            <a:r>
              <a:rPr lang="en-US" altLang="zh-CN" b="0" dirty="0"/>
              <a:t>j=0</a:t>
            </a:r>
            <a:r>
              <a:rPr lang="zh-CN" altLang="en-US" b="0" dirty="0"/>
              <a:t>时，</a:t>
            </a:r>
            <a:r>
              <a:rPr lang="en-US" altLang="zh-CN" b="0" dirty="0"/>
              <a:t>k=-1</a:t>
            </a:r>
            <a:r>
              <a:rPr lang="zh-CN" altLang="en-US" b="0" dirty="0"/>
              <a:t>，</a:t>
            </a:r>
            <a:r>
              <a:rPr lang="en-US" altLang="zh-CN" b="0" dirty="0"/>
              <a:t>next[1]=k+1=0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if (k&lt;0 || p[k]==p[j])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next[j+1]=k+1;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</a:t>
            </a:r>
            <a:r>
              <a:rPr lang="en-US" altLang="zh-CN" b="0" dirty="0" err="1"/>
              <a:t>j++</a:t>
            </a:r>
            <a:r>
              <a:rPr lang="en-US" altLang="zh-CN" b="0" dirty="0"/>
              <a:t>;               // </a:t>
            </a:r>
            <a:r>
              <a:rPr lang="zh-CN" altLang="en-US" b="0" dirty="0"/>
              <a:t>令 </a:t>
            </a:r>
            <a:r>
              <a:rPr lang="en-US" altLang="zh-CN" b="0" dirty="0"/>
              <a:t>q=2j-k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k++;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}</a:t>
            </a:r>
          </a:p>
        </p:txBody>
      </p:sp>
    </p:spTree>
    <p:extLst>
      <p:ext uri="{BB962C8B-B14F-4D97-AF65-F5344CB8AC3E}">
        <p14:creationId xmlns:p14="http://schemas.microsoft.com/office/powerpoint/2010/main" val="11282721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4074EB-EB4D-43CA-8C19-442B35BAE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Next</a:t>
            </a:r>
            <a:r>
              <a:rPr lang="zh-CN" altLang="en-US" dirty="0"/>
              <a:t>数组计算的实现（续）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575963-92D4-4692-9739-5733B19E4B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19200"/>
            <a:ext cx="11582400" cy="5486400"/>
          </a:xfrm>
        </p:spPr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b="0" dirty="0"/>
              <a:t>        else 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0" dirty="0"/>
              <a:t>            k=next[k];       // q=2j-k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0" dirty="0"/>
              <a:t>           /</a:t>
            </a:r>
            <a:r>
              <a:rPr lang="zh-CN" altLang="en-US" b="0" dirty="0"/>
              <a:t>* 模式串右移，使</a:t>
            </a:r>
            <a:r>
              <a:rPr lang="en-US" altLang="zh-CN" b="0" dirty="0"/>
              <a:t>j</a:t>
            </a:r>
            <a:r>
              <a:rPr lang="zh-CN" altLang="en-US" b="0" dirty="0"/>
              <a:t>和</a:t>
            </a:r>
            <a:r>
              <a:rPr lang="en-US" altLang="zh-CN" b="0" dirty="0"/>
              <a:t>next[k]</a:t>
            </a:r>
            <a:r>
              <a:rPr lang="zh-CN" altLang="en-US" b="0" dirty="0"/>
              <a:t>对齐，与自身匹配。</a:t>
            </a:r>
            <a:endParaRPr lang="en-US" altLang="zh-CN" b="0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0" dirty="0"/>
              <a:t>            </a:t>
            </a:r>
            <a:r>
              <a:rPr lang="zh-CN" altLang="en-US" b="0" dirty="0"/>
              <a:t>* 如果一直递归下去，当</a:t>
            </a:r>
            <a:r>
              <a:rPr lang="en-US" altLang="zh-CN" b="0" dirty="0"/>
              <a:t>k=-1</a:t>
            </a:r>
            <a:r>
              <a:rPr lang="zh-CN" altLang="en-US" b="0" dirty="0"/>
              <a:t>时，得</a:t>
            </a:r>
            <a:r>
              <a:rPr lang="en-US" altLang="zh-CN" b="0" dirty="0"/>
              <a:t>next[j+1]=0</a:t>
            </a:r>
            <a:r>
              <a:rPr lang="zh-CN" altLang="en-US" b="0" dirty="0"/>
              <a:t>，</a:t>
            </a:r>
            <a:endParaRPr lang="en-US" altLang="zh-CN" b="0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0" dirty="0"/>
              <a:t>            </a:t>
            </a:r>
            <a:r>
              <a:rPr lang="zh-CN" altLang="en-US" b="0" dirty="0"/>
              <a:t>* 这是在前面的</a:t>
            </a:r>
            <a:r>
              <a:rPr lang="en-US" altLang="zh-CN" b="0" dirty="0"/>
              <a:t>if</a:t>
            </a:r>
            <a:r>
              <a:rPr lang="zh-CN" altLang="en-US" b="0" dirty="0"/>
              <a:t>分支里处理的。*</a:t>
            </a:r>
            <a:r>
              <a:rPr lang="en-US" altLang="zh-CN" b="0" dirty="0"/>
              <a:t>/           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0" dirty="0"/>
              <a:t>        }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0" dirty="0"/>
              <a:t>    }  /* End of while: q&lt;2m */ 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0" dirty="0"/>
              <a:t>    return;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244679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E86370-70E5-4F79-9B95-7C63C15EC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KMP</a:t>
            </a:r>
            <a:r>
              <a:rPr lang="zh-CN" altLang="en-US" dirty="0"/>
              <a:t>算法的实现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B91A15-2966-4186-AE44-4F79F961E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95400"/>
            <a:ext cx="11582400" cy="5181600"/>
          </a:xfrm>
        </p:spPr>
        <p:txBody>
          <a:bodyPr/>
          <a:lstStyle/>
          <a:p>
            <a:pPr marL="0" lvl="1" indent="0">
              <a:lnSpc>
                <a:spcPct val="100000"/>
              </a:lnSpc>
              <a:buNone/>
            </a:pPr>
            <a:r>
              <a:rPr lang="en-US" altLang="zh-CN" dirty="0"/>
              <a:t>int </a:t>
            </a:r>
            <a:r>
              <a:rPr lang="en-US" altLang="zh-CN" dirty="0" err="1"/>
              <a:t>Kmp</a:t>
            </a:r>
            <a:r>
              <a:rPr lang="en-US" altLang="zh-CN" dirty="0"/>
              <a:t>(char* s, char* p){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en-US" altLang="zh-CN" dirty="0"/>
              <a:t>    int </a:t>
            </a:r>
            <a:r>
              <a:rPr lang="en-US" altLang="zh-CN" dirty="0" err="1"/>
              <a:t>i</a:t>
            </a:r>
            <a:r>
              <a:rPr lang="en-US" altLang="zh-CN" dirty="0"/>
              <a:t>=0, j=0,</a:t>
            </a:r>
            <a:r>
              <a:rPr lang="zh-CN" altLang="en-US" dirty="0"/>
              <a:t> </a:t>
            </a:r>
            <a:r>
              <a:rPr lang="en-US" altLang="zh-CN" dirty="0"/>
              <a:t>n,</a:t>
            </a:r>
            <a:r>
              <a:rPr lang="zh-CN" altLang="en-US" dirty="0"/>
              <a:t> </a:t>
            </a:r>
            <a:r>
              <a:rPr lang="en-US" altLang="zh-CN" dirty="0"/>
              <a:t>m;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en-US" altLang="zh-CN" dirty="0"/>
              <a:t>    n=</a:t>
            </a:r>
            <a:r>
              <a:rPr lang="en-US" altLang="zh-CN" dirty="0" err="1"/>
              <a:t>strlen</a:t>
            </a:r>
            <a:r>
              <a:rPr lang="en-US" altLang="zh-CN" dirty="0"/>
              <a:t>(s);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en-US" altLang="zh-CN" dirty="0"/>
              <a:t>    m=</a:t>
            </a:r>
            <a:r>
              <a:rPr lang="en-US" altLang="zh-CN" dirty="0" err="1"/>
              <a:t>strlen</a:t>
            </a:r>
            <a:r>
              <a:rPr lang="en-US" altLang="zh-CN" dirty="0"/>
              <a:t>(p);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en-US" altLang="zh-CN" dirty="0"/>
              <a:t>    int next[m];    // </a:t>
            </a:r>
            <a:r>
              <a:rPr lang="zh-CN" altLang="en-US" dirty="0"/>
              <a:t>定义</a:t>
            </a:r>
            <a:r>
              <a:rPr lang="en-US" altLang="zh-CN" dirty="0"/>
              <a:t>next</a:t>
            </a:r>
            <a:r>
              <a:rPr lang="zh-CN" altLang="en-US" dirty="0"/>
              <a:t>数组，长度</a:t>
            </a:r>
            <a:r>
              <a:rPr lang="en-US" altLang="zh-CN" dirty="0"/>
              <a:t>m</a:t>
            </a:r>
            <a:r>
              <a:rPr lang="zh-CN" altLang="en-US" dirty="0"/>
              <a:t>必须先赋值</a:t>
            </a:r>
            <a:endParaRPr lang="en-US" altLang="zh-CN" dirty="0"/>
          </a:p>
          <a:p>
            <a:pPr marL="0" lvl="1" indent="0">
              <a:lnSpc>
                <a:spcPct val="100000"/>
              </a:lnSpc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CalculateNext</a:t>
            </a:r>
            <a:r>
              <a:rPr lang="en-US" altLang="zh-CN" dirty="0"/>
              <a:t>(p, next);  // </a:t>
            </a:r>
            <a:r>
              <a:rPr lang="zh-CN" altLang="en-US" dirty="0"/>
              <a:t>最好把</a:t>
            </a:r>
            <a:r>
              <a:rPr lang="en-US" altLang="zh-CN" dirty="0"/>
              <a:t>next</a:t>
            </a:r>
            <a:r>
              <a:rPr lang="zh-CN" altLang="en-US" dirty="0"/>
              <a:t>作参数传进来</a:t>
            </a:r>
            <a:endParaRPr lang="en-US" altLang="zh-CN" dirty="0"/>
          </a:p>
          <a:p>
            <a:pPr marL="0" lvl="1" indent="0">
              <a:lnSpc>
                <a:spcPct val="100000"/>
              </a:lnSpc>
              <a:buNone/>
            </a:pPr>
            <a:r>
              <a:rPr lang="en-US" altLang="zh-CN" dirty="0"/>
              <a:t>    while(</a:t>
            </a:r>
            <a:r>
              <a:rPr lang="en-US" altLang="zh-CN" dirty="0" err="1"/>
              <a:t>i</a:t>
            </a:r>
            <a:r>
              <a:rPr lang="en-US" altLang="zh-CN" dirty="0"/>
              <a:t>&lt;n &amp;&amp; j&lt;m){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en-US" altLang="zh-CN" dirty="0"/>
              <a:t>        if(j==-1 || s[</a:t>
            </a:r>
            <a:r>
              <a:rPr lang="en-US" altLang="zh-CN" dirty="0" err="1"/>
              <a:t>i</a:t>
            </a:r>
            <a:r>
              <a:rPr lang="en-US" altLang="zh-CN" dirty="0"/>
              <a:t>]==p[j]){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en-US" altLang="zh-CN" dirty="0"/>
              <a:t>            </a:t>
            </a:r>
            <a:r>
              <a:rPr lang="en-US" altLang="zh-CN" dirty="0" err="1"/>
              <a:t>i</a:t>
            </a:r>
            <a:r>
              <a:rPr lang="en-US" altLang="zh-CN" dirty="0"/>
              <a:t>++;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en-US" altLang="zh-CN" dirty="0"/>
              <a:t>            </a:t>
            </a:r>
            <a:r>
              <a:rPr lang="en-US" altLang="zh-CN" dirty="0" err="1"/>
              <a:t>j++</a:t>
            </a:r>
            <a:r>
              <a:rPr lang="en-US" altLang="zh-CN" dirty="0"/>
              <a:t>;   // </a:t>
            </a:r>
            <a:r>
              <a:rPr lang="zh-CN" altLang="en-US" dirty="0"/>
              <a:t>时间复杂度分析：</a:t>
            </a:r>
            <a:r>
              <a:rPr lang="en-US" altLang="zh-CN" dirty="0"/>
              <a:t>q=2i-j</a:t>
            </a:r>
            <a:r>
              <a:rPr lang="zh-CN" altLang="en-US" dirty="0"/>
              <a:t>，</a:t>
            </a:r>
            <a:r>
              <a:rPr lang="en-US" altLang="zh-CN" dirty="0"/>
              <a:t>q</a:t>
            </a:r>
            <a:r>
              <a:rPr lang="zh-CN" altLang="en-US" dirty="0"/>
              <a:t>增加</a:t>
            </a:r>
            <a:r>
              <a:rPr lang="en-US" altLang="zh-CN" dirty="0"/>
              <a:t>1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en-US" altLang="zh-CN" dirty="0"/>
              <a:t>        }</a:t>
            </a:r>
          </a:p>
        </p:txBody>
      </p:sp>
    </p:spTree>
    <p:extLst>
      <p:ext uri="{BB962C8B-B14F-4D97-AF65-F5344CB8AC3E}">
        <p14:creationId xmlns:p14="http://schemas.microsoft.com/office/powerpoint/2010/main" val="14899064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E86370-70E5-4F79-9B95-7C63C15EC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KMP</a:t>
            </a:r>
            <a:r>
              <a:rPr lang="zh-CN" altLang="en-US" dirty="0"/>
              <a:t>算法的实现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B91A15-2966-4186-AE44-4F79F961E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19200"/>
            <a:ext cx="11582400" cy="5181600"/>
          </a:xfrm>
        </p:spPr>
        <p:txBody>
          <a:bodyPr/>
          <a:lstStyle/>
          <a:p>
            <a:pPr marL="0" lvl="1" indent="0">
              <a:lnSpc>
                <a:spcPct val="100000"/>
              </a:lnSpc>
              <a:buNone/>
            </a:pPr>
            <a:r>
              <a:rPr lang="en-US" altLang="zh-CN" dirty="0"/>
              <a:t>        else {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en-US" altLang="zh-CN" dirty="0"/>
              <a:t>            j=next[j];  // </a:t>
            </a:r>
            <a:r>
              <a:rPr lang="zh-CN" altLang="en-US" dirty="0"/>
              <a:t>时间复杂度分析：</a:t>
            </a:r>
            <a:r>
              <a:rPr lang="en-US" altLang="zh-CN" dirty="0"/>
              <a:t>q=2i-j</a:t>
            </a:r>
            <a:r>
              <a:rPr lang="zh-CN" altLang="en-US" dirty="0"/>
              <a:t>，</a:t>
            </a:r>
            <a:r>
              <a:rPr lang="en-US" altLang="zh-CN" dirty="0"/>
              <a:t>q</a:t>
            </a:r>
            <a:r>
              <a:rPr lang="zh-CN" altLang="en-US" dirty="0"/>
              <a:t>至少增加</a:t>
            </a:r>
            <a:r>
              <a:rPr lang="en-US" altLang="zh-CN" dirty="0"/>
              <a:t>1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en-US" altLang="zh-CN" dirty="0"/>
              <a:t>        }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en-US" altLang="zh-CN" dirty="0"/>
              <a:t>    }   // </a:t>
            </a:r>
            <a:r>
              <a:rPr lang="zh-CN" altLang="en-US" dirty="0"/>
              <a:t>时间复杂度分析：</a:t>
            </a:r>
            <a:r>
              <a:rPr lang="en-US" altLang="zh-CN" dirty="0"/>
              <a:t>q</a:t>
            </a:r>
            <a:r>
              <a:rPr lang="zh-CN" altLang="en-US" dirty="0"/>
              <a:t>初值为</a:t>
            </a:r>
            <a:r>
              <a:rPr lang="en-US" altLang="zh-CN" dirty="0"/>
              <a:t>0</a:t>
            </a:r>
            <a:r>
              <a:rPr lang="zh-CN" altLang="en-US" dirty="0"/>
              <a:t>；循环结束后，</a:t>
            </a:r>
            <a:r>
              <a:rPr lang="en-US" altLang="zh-CN" dirty="0"/>
              <a:t>q&lt;=2n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en-US" altLang="zh-CN" dirty="0"/>
              <a:t>    if (j==m) { // </a:t>
            </a:r>
            <a:r>
              <a:rPr lang="zh-CN" altLang="en-US" dirty="0"/>
              <a:t>找到了</a:t>
            </a:r>
            <a:endParaRPr lang="en-US" altLang="zh-CN" dirty="0"/>
          </a:p>
          <a:p>
            <a:pPr marL="0" lvl="1" indent="0">
              <a:lnSpc>
                <a:spcPct val="100000"/>
              </a:lnSpc>
              <a:buNone/>
            </a:pPr>
            <a:r>
              <a:rPr lang="en-US" altLang="zh-CN" dirty="0"/>
              <a:t>        return </a:t>
            </a:r>
            <a:r>
              <a:rPr lang="en-US" altLang="zh-CN" dirty="0" err="1"/>
              <a:t>i</a:t>
            </a:r>
            <a:r>
              <a:rPr lang="en-US" altLang="zh-CN" dirty="0"/>
              <a:t>-j;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en-US" altLang="zh-CN" dirty="0"/>
              <a:t>    }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en-US" altLang="zh-CN" dirty="0"/>
              <a:t>    else {  // </a:t>
            </a:r>
            <a:r>
              <a:rPr lang="zh-CN" altLang="en-US" dirty="0"/>
              <a:t>没找到</a:t>
            </a:r>
            <a:endParaRPr lang="en-US" altLang="zh-CN" dirty="0"/>
          </a:p>
          <a:p>
            <a:pPr marL="0" lvl="1" indent="0">
              <a:lnSpc>
                <a:spcPct val="100000"/>
              </a:lnSpc>
              <a:buNone/>
            </a:pPr>
            <a:r>
              <a:rPr lang="en-US" altLang="zh-CN" dirty="0"/>
              <a:t>        return -1;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en-US" altLang="zh-CN" dirty="0"/>
              <a:t>    }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en-US" altLang="zh-C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215077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22F214-D49F-4BA7-B642-EF31268A7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KMP</a:t>
            </a:r>
            <a:r>
              <a:rPr lang="zh-CN" altLang="en-US" dirty="0"/>
              <a:t>算法的时间复杂度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88C91B-4A1B-4654-A167-CC2F25E8AB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模式匹配的时间</a:t>
            </a:r>
            <a:endParaRPr lang="en-US" altLang="zh-CN" dirty="0"/>
          </a:p>
          <a:p>
            <a:pPr lvl="1"/>
            <a:r>
              <a:rPr lang="zh-CN" altLang="en-US" dirty="0"/>
              <a:t>令 </a:t>
            </a:r>
            <a:r>
              <a:rPr lang="en-US" altLang="zh-CN" dirty="0"/>
              <a:t>q=2i-j</a:t>
            </a:r>
            <a:r>
              <a:rPr lang="zh-CN" altLang="en-US" dirty="0"/>
              <a:t>，在</a:t>
            </a:r>
            <a:r>
              <a:rPr lang="en-US" altLang="zh-CN" dirty="0"/>
              <a:t>while</a:t>
            </a:r>
            <a:r>
              <a:rPr lang="zh-CN" altLang="en-US" dirty="0"/>
              <a:t>循环的每次迭代中，不管程序进入哪个分支，</a:t>
            </a:r>
            <a:r>
              <a:rPr lang="en-US" altLang="zh-CN" dirty="0"/>
              <a:t>q </a:t>
            </a:r>
            <a:r>
              <a:rPr lang="zh-CN" altLang="en-US" dirty="0"/>
              <a:t>的值总是增加。</a:t>
            </a:r>
            <a:endParaRPr lang="en-US" altLang="zh-CN" dirty="0"/>
          </a:p>
          <a:p>
            <a:pPr lvl="1"/>
            <a:r>
              <a:rPr lang="en-US" altLang="zh-CN" dirty="0"/>
              <a:t>q</a:t>
            </a:r>
            <a:r>
              <a:rPr lang="zh-CN" altLang="en-US" dirty="0"/>
              <a:t>的初值为</a:t>
            </a:r>
            <a:r>
              <a:rPr lang="en-US" altLang="zh-CN" dirty="0"/>
              <a:t>0</a:t>
            </a:r>
            <a:r>
              <a:rPr lang="zh-CN" altLang="en-US" dirty="0"/>
              <a:t>，终值小于等于</a:t>
            </a:r>
            <a:r>
              <a:rPr lang="en-US" altLang="zh-CN" dirty="0"/>
              <a:t>2n</a:t>
            </a:r>
            <a:r>
              <a:rPr lang="zh-CN" altLang="en-US" dirty="0"/>
              <a:t>，所以总的执行时间</a:t>
            </a:r>
            <a:r>
              <a:rPr lang="en-US" altLang="zh-CN" dirty="0"/>
              <a:t>T(n)&lt;=2n=O(n)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计算</a:t>
            </a:r>
            <a:r>
              <a:rPr lang="en-US" altLang="zh-CN" dirty="0"/>
              <a:t>next</a:t>
            </a:r>
            <a:r>
              <a:rPr lang="zh-CN" altLang="en-US" dirty="0"/>
              <a:t>的时间</a:t>
            </a:r>
            <a:endParaRPr lang="en-US" altLang="zh-CN" dirty="0"/>
          </a:p>
          <a:p>
            <a:pPr lvl="1"/>
            <a:r>
              <a:rPr lang="en-US" altLang="zh-CN" dirty="0"/>
              <a:t>T(m)&lt;=2m=O(m)</a:t>
            </a:r>
            <a:r>
              <a:rPr lang="zh-CN" altLang="en-US" dirty="0"/>
              <a:t>，分析方法相同。</a:t>
            </a:r>
          </a:p>
        </p:txBody>
      </p:sp>
    </p:spTree>
    <p:extLst>
      <p:ext uri="{BB962C8B-B14F-4D97-AF65-F5344CB8AC3E}">
        <p14:creationId xmlns:p14="http://schemas.microsoft.com/office/powerpoint/2010/main" val="14919594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22F214-D49F-4BA7-B642-EF31268A7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用有限状态机</a:t>
            </a:r>
            <a:r>
              <a:rPr lang="zh-CN" altLang="en-US" dirty="0"/>
              <a:t>实现</a:t>
            </a:r>
            <a:r>
              <a:rPr lang="en-US" altLang="zh-CN" dirty="0"/>
              <a:t>KMP</a:t>
            </a:r>
            <a:r>
              <a:rPr lang="zh-CN" altLang="en-US" dirty="0"/>
              <a:t>算法</a:t>
            </a:r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A383B0BF-5ED5-41EA-8D7C-402C28FAEE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92478022"/>
              </p:ext>
            </p:extLst>
          </p:nvPr>
        </p:nvGraphicFramePr>
        <p:xfrm>
          <a:off x="381000" y="1371600"/>
          <a:ext cx="11353801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7304">
                  <a:extLst>
                    <a:ext uri="{9D8B030D-6E8A-4147-A177-3AD203B41FA5}">
                      <a16:colId xmlns:a16="http://schemas.microsoft.com/office/drawing/2014/main" val="253692320"/>
                    </a:ext>
                  </a:extLst>
                </a:gridCol>
                <a:gridCol w="1293072">
                  <a:extLst>
                    <a:ext uri="{9D8B030D-6E8A-4147-A177-3AD203B41FA5}">
                      <a16:colId xmlns:a16="http://schemas.microsoft.com/office/drawing/2014/main" val="438475028"/>
                    </a:ext>
                  </a:extLst>
                </a:gridCol>
                <a:gridCol w="1080188">
                  <a:extLst>
                    <a:ext uri="{9D8B030D-6E8A-4147-A177-3AD203B41FA5}">
                      <a16:colId xmlns:a16="http://schemas.microsoft.com/office/drawing/2014/main" val="2396563440"/>
                    </a:ext>
                  </a:extLst>
                </a:gridCol>
                <a:gridCol w="1080188">
                  <a:extLst>
                    <a:ext uri="{9D8B030D-6E8A-4147-A177-3AD203B41FA5}">
                      <a16:colId xmlns:a16="http://schemas.microsoft.com/office/drawing/2014/main" val="1347106021"/>
                    </a:ext>
                  </a:extLst>
                </a:gridCol>
                <a:gridCol w="1080188">
                  <a:extLst>
                    <a:ext uri="{9D8B030D-6E8A-4147-A177-3AD203B41FA5}">
                      <a16:colId xmlns:a16="http://schemas.microsoft.com/office/drawing/2014/main" val="3350061368"/>
                    </a:ext>
                  </a:extLst>
                </a:gridCol>
                <a:gridCol w="1080188">
                  <a:extLst>
                    <a:ext uri="{9D8B030D-6E8A-4147-A177-3AD203B41FA5}">
                      <a16:colId xmlns:a16="http://schemas.microsoft.com/office/drawing/2014/main" val="3174510302"/>
                    </a:ext>
                  </a:extLst>
                </a:gridCol>
                <a:gridCol w="1080188">
                  <a:extLst>
                    <a:ext uri="{9D8B030D-6E8A-4147-A177-3AD203B41FA5}">
                      <a16:colId xmlns:a16="http://schemas.microsoft.com/office/drawing/2014/main" val="3554202404"/>
                    </a:ext>
                  </a:extLst>
                </a:gridCol>
                <a:gridCol w="1080188">
                  <a:extLst>
                    <a:ext uri="{9D8B030D-6E8A-4147-A177-3AD203B41FA5}">
                      <a16:colId xmlns:a16="http://schemas.microsoft.com/office/drawing/2014/main" val="2691404124"/>
                    </a:ext>
                  </a:extLst>
                </a:gridCol>
                <a:gridCol w="1080188">
                  <a:extLst>
                    <a:ext uri="{9D8B030D-6E8A-4147-A177-3AD203B41FA5}">
                      <a16:colId xmlns:a16="http://schemas.microsoft.com/office/drawing/2014/main" val="4014881251"/>
                    </a:ext>
                  </a:extLst>
                </a:gridCol>
                <a:gridCol w="1632109">
                  <a:extLst>
                    <a:ext uri="{9D8B030D-6E8A-4147-A177-3AD203B41FA5}">
                      <a16:colId xmlns:a16="http://schemas.microsoft.com/office/drawing/2014/main" val="2373540616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3600" b="0" dirty="0">
                          <a:solidFill>
                            <a:schemeClr val="tx1"/>
                          </a:solidFill>
                        </a:rPr>
                        <a:t>模式串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sz="3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CN" altLang="en-US" sz="3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sz="3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CN" altLang="en-US" sz="3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sz="3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sz="3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sz="3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600" b="0" dirty="0">
                          <a:solidFill>
                            <a:schemeClr val="tx1"/>
                          </a:solidFill>
                        </a:rPr>
                        <a:t>长度</a:t>
                      </a:r>
                      <a:r>
                        <a:rPr lang="en-US" altLang="zh-CN" sz="3600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CN" altLang="en-US" sz="3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9833489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next</a:t>
                      </a:r>
                      <a:r>
                        <a:rPr lang="zh-CN" altLang="en-US" sz="3600" dirty="0">
                          <a:solidFill>
                            <a:schemeClr val="tx1"/>
                          </a:solidFill>
                        </a:rPr>
                        <a:t>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3740381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3600" b="0" dirty="0">
                          <a:solidFill>
                            <a:schemeClr val="tx1"/>
                          </a:solidFill>
                        </a:rPr>
                        <a:t>状态值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3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3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3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sz="3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sz="3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CN" altLang="en-US" sz="3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CN" altLang="en-US" sz="3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solidFill>
                            <a:schemeClr val="tx1"/>
                          </a:solidFill>
                        </a:rPr>
                        <a:t>7</a:t>
                      </a:r>
                      <a:r>
                        <a:rPr lang="en-US" altLang="zh-CN" sz="32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zh-CN" altLang="en-US" sz="3200" b="0" dirty="0">
                          <a:solidFill>
                            <a:schemeClr val="tx1"/>
                          </a:solidFill>
                        </a:rPr>
                        <a:t>结束</a:t>
                      </a:r>
                      <a:r>
                        <a:rPr lang="en-US" altLang="zh-CN" sz="3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zh-CN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50809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zh-CN" altLang="en-US" sz="3600" b="0" dirty="0">
                          <a:solidFill>
                            <a:schemeClr val="tx1"/>
                          </a:solidFill>
                        </a:rPr>
                        <a:t>输</a:t>
                      </a:r>
                      <a:endParaRPr lang="en-US" altLang="zh-CN" sz="36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zh-CN" altLang="en-US" sz="3600" b="0" dirty="0">
                          <a:solidFill>
                            <a:schemeClr val="tx1"/>
                          </a:solidFill>
                        </a:rPr>
                        <a:t>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CN" altLang="en-US" sz="3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zh-CN" altLang="en-US" sz="3600" dirty="0">
                          <a:solidFill>
                            <a:schemeClr val="tx1"/>
                          </a:solidFill>
                        </a:rPr>
                        <a:t>状态</a:t>
                      </a:r>
                      <a:endParaRPr lang="en-US" altLang="zh-CN" sz="36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zh-CN" altLang="en-US" sz="3600" dirty="0">
                          <a:solidFill>
                            <a:schemeClr val="tx1"/>
                          </a:solidFill>
                        </a:rPr>
                        <a:t>转移</a:t>
                      </a:r>
                      <a:endParaRPr lang="en-US" altLang="zh-CN" sz="36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zh-CN" altLang="en-US" sz="3600" dirty="0">
                          <a:solidFill>
                            <a:schemeClr val="tx1"/>
                          </a:solidFill>
                        </a:rPr>
                        <a:t>矩阵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526123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zh-CN" altLang="en-US" sz="3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CN" altLang="en-US" sz="3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221515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zh-CN" altLang="en-US" sz="3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sz="3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9317861"/>
                  </a:ext>
                </a:extLst>
              </a:tr>
              <a:tr h="741680">
                <a:tc gridSpan="10">
                  <a:txBody>
                    <a:bodyPr/>
                    <a:lstStyle/>
                    <a:p>
                      <a:pPr algn="l"/>
                      <a:r>
                        <a:rPr lang="zh-CN" altLang="en-US" sz="3600" b="0" dirty="0">
                          <a:solidFill>
                            <a:schemeClr val="tx1"/>
                          </a:solidFill>
                        </a:rPr>
                        <a:t>状态设置：</a:t>
                      </a:r>
                      <a:r>
                        <a:rPr lang="zh-CN" altLang="en-US" sz="3600" b="1" dirty="0">
                          <a:solidFill>
                            <a:schemeClr val="tx1"/>
                          </a:solidFill>
                        </a:rPr>
                        <a:t>状态值表示已匹配的字符的个数。</a:t>
                      </a:r>
                      <a:endParaRPr lang="en-US" altLang="zh-CN" sz="3600" b="1" dirty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r>
                        <a:rPr lang="zh-CN" altLang="en-US" sz="3600" b="0" dirty="0">
                          <a:solidFill>
                            <a:schemeClr val="tx1"/>
                          </a:solidFill>
                        </a:rPr>
                        <a:t>状态转移：</a:t>
                      </a:r>
                      <a:r>
                        <a:rPr lang="zh-CN" altLang="en-US" sz="3600" b="1" dirty="0">
                          <a:solidFill>
                            <a:schemeClr val="tx1"/>
                          </a:solidFill>
                        </a:rPr>
                        <a:t>失配时退回</a:t>
                      </a:r>
                      <a:r>
                        <a:rPr lang="en-US" altLang="zh-CN" sz="3600" b="1" dirty="0">
                          <a:solidFill>
                            <a:schemeClr val="tx1"/>
                          </a:solidFill>
                        </a:rPr>
                        <a:t>next[]</a:t>
                      </a:r>
                      <a:r>
                        <a:rPr lang="zh-CN" altLang="en-US" sz="3600" b="1" dirty="0">
                          <a:solidFill>
                            <a:schemeClr val="tx1"/>
                          </a:solidFill>
                        </a:rPr>
                        <a:t>再匹配可得状态转移矩阵。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3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91147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01755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0F7E84E8-9AF5-4CAE-99AC-8FF0F9BD40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sz="9600" dirty="0"/>
              <a:t>Thanks</a:t>
            </a:r>
            <a:endParaRPr lang="zh-CN" altLang="en-US" sz="9600" dirty="0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13760184-C24A-4093-9783-5B730E6037D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sz="9600" dirty="0"/>
              <a:t>Questions</a:t>
            </a:r>
            <a:endParaRPr lang="zh-CN" altLang="en-US" sz="9600" dirty="0"/>
          </a:p>
        </p:txBody>
      </p:sp>
    </p:spTree>
    <p:extLst>
      <p:ext uri="{BB962C8B-B14F-4D97-AF65-F5344CB8AC3E}">
        <p14:creationId xmlns:p14="http://schemas.microsoft.com/office/powerpoint/2010/main" val="189750828"/>
      </p:ext>
    </p:extLst>
  </p:cSld>
  <p:clrMapOvr>
    <a:masterClrMapping/>
  </p:clrMapOvr>
</p:sld>
</file>

<file path=ppt/theme/theme1.xml><?xml version="1.0" encoding="utf-8"?>
<a:theme xmlns:a="http://schemas.openxmlformats.org/drawingml/2006/main" name="tm2">
  <a:themeElements>
    <a:clrScheme name="tm2 5">
      <a:dk1>
        <a:srgbClr val="000000"/>
      </a:dk1>
      <a:lt1>
        <a:srgbClr val="FFFFFF"/>
      </a:lt1>
      <a:dk2>
        <a:srgbClr val="000000"/>
      </a:dk2>
      <a:lt2>
        <a:srgbClr val="9F9F9F"/>
      </a:lt2>
      <a:accent1>
        <a:srgbClr val="FFCC66"/>
      </a:accent1>
      <a:accent2>
        <a:srgbClr val="0000FF"/>
      </a:accent2>
      <a:accent3>
        <a:srgbClr val="FFFFFF"/>
      </a:accent3>
      <a:accent4>
        <a:srgbClr val="000000"/>
      </a:accent4>
      <a:accent5>
        <a:srgbClr val="FFE2B8"/>
      </a:accent5>
      <a:accent6>
        <a:srgbClr val="0000E7"/>
      </a:accent6>
      <a:hlink>
        <a:srgbClr val="CC00CC"/>
      </a:hlink>
      <a:folHlink>
        <a:srgbClr val="C0C0C0"/>
      </a:folHlink>
    </a:clrScheme>
    <a:fontScheme name="tm2">
      <a:majorFont>
        <a:latin typeface="Arial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tm2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m2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m2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m2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m2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m2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m2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Slipstream</Template>
  <TotalTime>8380</TotalTime>
  <Words>3062</Words>
  <Application>Microsoft Office PowerPoint</Application>
  <PresentationFormat>宽屏</PresentationFormat>
  <Paragraphs>351</Paragraphs>
  <Slides>34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0" baseType="lpstr">
      <vt:lpstr>微软雅黑</vt:lpstr>
      <vt:lpstr>Arial</vt:lpstr>
      <vt:lpstr>Cambria Math</vt:lpstr>
      <vt:lpstr>Times New Roman</vt:lpstr>
      <vt:lpstr>Wingdings</vt:lpstr>
      <vt:lpstr>tm2</vt:lpstr>
      <vt:lpstr>第四章  串</vt:lpstr>
      <vt:lpstr>串的概念</vt:lpstr>
      <vt:lpstr>串的数组表示</vt:lpstr>
      <vt:lpstr>串的基本块链表示</vt:lpstr>
      <vt:lpstr>串的基本操作</vt:lpstr>
      <vt:lpstr>初始化串</vt:lpstr>
      <vt:lpstr>释放串</vt:lpstr>
      <vt:lpstr>求串的长度</vt:lpstr>
      <vt:lpstr>给串赋值</vt:lpstr>
      <vt:lpstr>比较串</vt:lpstr>
      <vt:lpstr>连接串</vt:lpstr>
      <vt:lpstr>串的模式匹配</vt:lpstr>
      <vt:lpstr>串的模式匹配</vt:lpstr>
      <vt:lpstr>串的简单匹配过程</vt:lpstr>
      <vt:lpstr>串的简单匹配过程（续）</vt:lpstr>
      <vt:lpstr>KMP算法</vt:lpstr>
      <vt:lpstr>KMP算法的匹配过程</vt:lpstr>
      <vt:lpstr>KMP算法的基本思想</vt:lpstr>
      <vt:lpstr>定义Next数组</vt:lpstr>
      <vt:lpstr>KMP算法和next数组的值</vt:lpstr>
      <vt:lpstr>计算next数组的值</vt:lpstr>
      <vt:lpstr>Next数组计算实例</vt:lpstr>
      <vt:lpstr>Next数组计算实例(接上)</vt:lpstr>
      <vt:lpstr>Next数组的递推计算</vt:lpstr>
      <vt:lpstr>Next数组的递推计算（续）</vt:lpstr>
      <vt:lpstr>已知next[j]=k, 求next[j+1]</vt:lpstr>
      <vt:lpstr>PowerPoint 演示文稿</vt:lpstr>
      <vt:lpstr>Next数组计算的实现</vt:lpstr>
      <vt:lpstr>Next数组计算的实现（续）</vt:lpstr>
      <vt:lpstr>KMP算法的实现</vt:lpstr>
      <vt:lpstr>KMP算法的实现</vt:lpstr>
      <vt:lpstr>KMP算法的时间复杂度</vt:lpstr>
      <vt:lpstr>用有限状态机实现KMP算法</vt:lpstr>
      <vt:lpstr>Thanks</vt:lpstr>
    </vt:vector>
  </TitlesOfParts>
  <Company>Publication Services, Inc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K. N. King</dc:creator>
  <cp:lastModifiedBy>xue zhang</cp:lastModifiedBy>
  <cp:revision>1258</cp:revision>
  <cp:lastPrinted>2024-02-25T09:14:47Z</cp:lastPrinted>
  <dcterms:created xsi:type="dcterms:W3CDTF">1999-08-24T18:39:05Z</dcterms:created>
  <dcterms:modified xsi:type="dcterms:W3CDTF">2025-04-09T02:55:20Z</dcterms:modified>
</cp:coreProperties>
</file>