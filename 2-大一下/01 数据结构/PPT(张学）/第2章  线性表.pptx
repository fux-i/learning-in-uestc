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>
  <p:sldMasterIdLst>
    <p:sldMasterId id="2147483650" r:id="rId1"/>
  </p:sldMasterIdLst>
  <p:notesMasterIdLst>
    <p:notesMasterId r:id="rId116"/>
  </p:notesMasterIdLst>
  <p:handoutMasterIdLst>
    <p:handoutMasterId r:id="rId117"/>
  </p:handoutMasterIdLst>
  <p:sldIdLst>
    <p:sldId id="263" r:id="rId2"/>
    <p:sldId id="277" r:id="rId3"/>
    <p:sldId id="275" r:id="rId4"/>
    <p:sldId id="276" r:id="rId5"/>
    <p:sldId id="278" r:id="rId6"/>
    <p:sldId id="279" r:id="rId7"/>
    <p:sldId id="280" r:id="rId8"/>
    <p:sldId id="281" r:id="rId9"/>
    <p:sldId id="282" r:id="rId10"/>
    <p:sldId id="283" r:id="rId11"/>
    <p:sldId id="284" r:id="rId12"/>
    <p:sldId id="289" r:id="rId13"/>
    <p:sldId id="285" r:id="rId14"/>
    <p:sldId id="286" r:id="rId15"/>
    <p:sldId id="287" r:id="rId16"/>
    <p:sldId id="288" r:id="rId17"/>
    <p:sldId id="290" r:id="rId18"/>
    <p:sldId id="291" r:id="rId19"/>
    <p:sldId id="292" r:id="rId20"/>
    <p:sldId id="293" r:id="rId21"/>
    <p:sldId id="294" r:id="rId22"/>
    <p:sldId id="295" r:id="rId23"/>
    <p:sldId id="296" r:id="rId24"/>
    <p:sldId id="297" r:id="rId25"/>
    <p:sldId id="298" r:id="rId26"/>
    <p:sldId id="299" r:id="rId27"/>
    <p:sldId id="337" r:id="rId28"/>
    <p:sldId id="338" r:id="rId29"/>
    <p:sldId id="339" r:id="rId30"/>
    <p:sldId id="340" r:id="rId31"/>
    <p:sldId id="341" r:id="rId32"/>
    <p:sldId id="342" r:id="rId33"/>
    <p:sldId id="343" r:id="rId34"/>
    <p:sldId id="344" r:id="rId35"/>
    <p:sldId id="345" r:id="rId36"/>
    <p:sldId id="346" r:id="rId37"/>
    <p:sldId id="347" r:id="rId38"/>
    <p:sldId id="356" r:id="rId39"/>
    <p:sldId id="357" r:id="rId40"/>
    <p:sldId id="348" r:id="rId41"/>
    <p:sldId id="349" r:id="rId42"/>
    <p:sldId id="353" r:id="rId43"/>
    <p:sldId id="354" r:id="rId44"/>
    <p:sldId id="355" r:id="rId45"/>
    <p:sldId id="358" r:id="rId46"/>
    <p:sldId id="359" r:id="rId47"/>
    <p:sldId id="360" r:id="rId48"/>
    <p:sldId id="361" r:id="rId49"/>
    <p:sldId id="362" r:id="rId50"/>
    <p:sldId id="350" r:id="rId51"/>
    <p:sldId id="351" r:id="rId52"/>
    <p:sldId id="352" r:id="rId53"/>
    <p:sldId id="363" r:id="rId54"/>
    <p:sldId id="329" r:id="rId55"/>
    <p:sldId id="300" r:id="rId56"/>
    <p:sldId id="302" r:id="rId57"/>
    <p:sldId id="332" r:id="rId58"/>
    <p:sldId id="333" r:id="rId59"/>
    <p:sldId id="331" r:id="rId60"/>
    <p:sldId id="303" r:id="rId61"/>
    <p:sldId id="305" r:id="rId62"/>
    <p:sldId id="307" r:id="rId63"/>
    <p:sldId id="309" r:id="rId64"/>
    <p:sldId id="316" r:id="rId65"/>
    <p:sldId id="317" r:id="rId66"/>
    <p:sldId id="306" r:id="rId67"/>
    <p:sldId id="308" r:id="rId68"/>
    <p:sldId id="310" r:id="rId69"/>
    <p:sldId id="321" r:id="rId70"/>
    <p:sldId id="311" r:id="rId71"/>
    <p:sldId id="318" r:id="rId72"/>
    <p:sldId id="313" r:id="rId73"/>
    <p:sldId id="314" r:id="rId74"/>
    <p:sldId id="315" r:id="rId75"/>
    <p:sldId id="364" r:id="rId76"/>
    <p:sldId id="365" r:id="rId77"/>
    <p:sldId id="366" r:id="rId78"/>
    <p:sldId id="367" r:id="rId79"/>
    <p:sldId id="368" r:id="rId80"/>
    <p:sldId id="369" r:id="rId81"/>
    <p:sldId id="370" r:id="rId82"/>
    <p:sldId id="371" r:id="rId83"/>
    <p:sldId id="372" r:id="rId84"/>
    <p:sldId id="373" r:id="rId85"/>
    <p:sldId id="374" r:id="rId86"/>
    <p:sldId id="375" r:id="rId87"/>
    <p:sldId id="376" r:id="rId88"/>
    <p:sldId id="377" r:id="rId89"/>
    <p:sldId id="378" r:id="rId90"/>
    <p:sldId id="379" r:id="rId91"/>
    <p:sldId id="380" r:id="rId92"/>
    <p:sldId id="381" r:id="rId93"/>
    <p:sldId id="382" r:id="rId94"/>
    <p:sldId id="383" r:id="rId95"/>
    <p:sldId id="384" r:id="rId96"/>
    <p:sldId id="385" r:id="rId97"/>
    <p:sldId id="386" r:id="rId98"/>
    <p:sldId id="387" r:id="rId99"/>
    <p:sldId id="388" r:id="rId100"/>
    <p:sldId id="389" r:id="rId101"/>
    <p:sldId id="390" r:id="rId102"/>
    <p:sldId id="391" r:id="rId103"/>
    <p:sldId id="392" r:id="rId104"/>
    <p:sldId id="319" r:id="rId105"/>
    <p:sldId id="320" r:id="rId106"/>
    <p:sldId id="322" r:id="rId107"/>
    <p:sldId id="323" r:id="rId108"/>
    <p:sldId id="324" r:id="rId109"/>
    <p:sldId id="325" r:id="rId110"/>
    <p:sldId id="326" r:id="rId111"/>
    <p:sldId id="327" r:id="rId112"/>
    <p:sldId id="334" r:id="rId113"/>
    <p:sldId id="335" r:id="rId114"/>
    <p:sldId id="336" r:id="rId115"/>
  </p:sldIdLst>
  <p:sldSz cx="12192000" cy="6858000"/>
  <p:notesSz cx="6797675" cy="9928225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126" userDrawn="1">
          <p15:clr>
            <a:srgbClr val="A4A3A4"/>
          </p15:clr>
        </p15:guide>
        <p15:guide id="2" pos="2141" userDrawn="1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showAnimation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66"/>
    <a:srgbClr val="990033"/>
    <a:srgbClr val="660033"/>
    <a:srgbClr val="006600"/>
    <a:srgbClr val="C6A02E"/>
    <a:srgbClr val="B82F25"/>
    <a:srgbClr val="6DBFAB"/>
    <a:srgbClr val="FF7706"/>
    <a:srgbClr val="FFAB0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024" autoAdjust="0"/>
    <p:restoredTop sz="94660"/>
  </p:normalViewPr>
  <p:slideViewPr>
    <p:cSldViewPr>
      <p:cViewPr varScale="1">
        <p:scale>
          <a:sx n="85" d="100"/>
          <a:sy n="85" d="100"/>
        </p:scale>
        <p:origin x="542" y="48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546"/>
    </p:cViewPr>
  </p:sorterViewPr>
  <p:notesViewPr>
    <p:cSldViewPr>
      <p:cViewPr varScale="1">
        <p:scale>
          <a:sx n="39" d="100"/>
          <a:sy n="39" d="100"/>
        </p:scale>
        <p:origin x="2386" y="62"/>
      </p:cViewPr>
      <p:guideLst>
        <p:guide orient="horz" pos="3126"/>
        <p:guide pos="2141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117" Type="http://schemas.openxmlformats.org/officeDocument/2006/relationships/handoutMaster" Target="handoutMasters/handoutMaster1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slide" Target="slides/slide88.xml"/><Relationship Id="rId112" Type="http://schemas.openxmlformats.org/officeDocument/2006/relationships/slide" Target="slides/slide111.xml"/><Relationship Id="rId16" Type="http://schemas.openxmlformats.org/officeDocument/2006/relationships/slide" Target="slides/slide15.xml"/><Relationship Id="rId107" Type="http://schemas.openxmlformats.org/officeDocument/2006/relationships/slide" Target="slides/slide106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102" Type="http://schemas.openxmlformats.org/officeDocument/2006/relationships/slide" Target="slides/slide101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90" Type="http://schemas.openxmlformats.org/officeDocument/2006/relationships/slide" Target="slides/slide89.xml"/><Relationship Id="rId95" Type="http://schemas.openxmlformats.org/officeDocument/2006/relationships/slide" Target="slides/slide94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slide" Target="slides/slide76.xml"/><Relationship Id="rId100" Type="http://schemas.openxmlformats.org/officeDocument/2006/relationships/slide" Target="slides/slide99.xml"/><Relationship Id="rId105" Type="http://schemas.openxmlformats.org/officeDocument/2006/relationships/slide" Target="slides/slide104.xml"/><Relationship Id="rId113" Type="http://schemas.openxmlformats.org/officeDocument/2006/relationships/slide" Target="slides/slide112.xml"/><Relationship Id="rId118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93" Type="http://schemas.openxmlformats.org/officeDocument/2006/relationships/slide" Target="slides/slide92.xml"/><Relationship Id="rId98" Type="http://schemas.openxmlformats.org/officeDocument/2006/relationships/slide" Target="slides/slide97.xml"/><Relationship Id="rId121" Type="http://schemas.openxmlformats.org/officeDocument/2006/relationships/tableStyles" Target="tableStyle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103" Type="http://schemas.openxmlformats.org/officeDocument/2006/relationships/slide" Target="slides/slide102.xml"/><Relationship Id="rId108" Type="http://schemas.openxmlformats.org/officeDocument/2006/relationships/slide" Target="slides/slide107.xml"/><Relationship Id="rId116" Type="http://schemas.openxmlformats.org/officeDocument/2006/relationships/notesMaster" Target="notesMasters/notesMaster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91" Type="http://schemas.openxmlformats.org/officeDocument/2006/relationships/slide" Target="slides/slide90.xml"/><Relationship Id="rId96" Type="http://schemas.openxmlformats.org/officeDocument/2006/relationships/slide" Target="slides/slide95.xml"/><Relationship Id="rId111" Type="http://schemas.openxmlformats.org/officeDocument/2006/relationships/slide" Target="slides/slide11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6" Type="http://schemas.openxmlformats.org/officeDocument/2006/relationships/slide" Target="slides/slide105.xml"/><Relationship Id="rId114" Type="http://schemas.openxmlformats.org/officeDocument/2006/relationships/slide" Target="slides/slide113.xml"/><Relationship Id="rId119" Type="http://schemas.openxmlformats.org/officeDocument/2006/relationships/viewProps" Target="viewProps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94" Type="http://schemas.openxmlformats.org/officeDocument/2006/relationships/slide" Target="slides/slide93.xml"/><Relationship Id="rId99" Type="http://schemas.openxmlformats.org/officeDocument/2006/relationships/slide" Target="slides/slide98.xml"/><Relationship Id="rId101" Type="http://schemas.openxmlformats.org/officeDocument/2006/relationships/slide" Target="slides/slide10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109" Type="http://schemas.openxmlformats.org/officeDocument/2006/relationships/slide" Target="slides/slide10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slide" Target="slides/slide96.xml"/><Relationship Id="rId104" Type="http://schemas.openxmlformats.org/officeDocument/2006/relationships/slide" Target="slides/slide103.xml"/><Relationship Id="rId120" Type="http://schemas.openxmlformats.org/officeDocument/2006/relationships/theme" Target="theme/theme1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110" Type="http://schemas.openxmlformats.org/officeDocument/2006/relationships/slide" Target="slides/slide109.xml"/><Relationship Id="rId115" Type="http://schemas.openxmlformats.org/officeDocument/2006/relationships/slide" Target="slides/slide114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>
            <a:extLst>
              <a:ext uri="{FF2B5EF4-FFF2-40B4-BE49-F238E27FC236}">
                <a16:creationId xmlns:a16="http://schemas.microsoft.com/office/drawing/2014/main" id="{238F26BC-7BC4-4E81-856A-C803AC3A2F6A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6122" cy="49743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5D66C85D-8214-4E69-93B1-C7927D703D59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50011" y="0"/>
            <a:ext cx="2946122" cy="49743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C16664E-1BF0-46AE-AAC0-8104A4986E05}" type="datetimeFigureOut">
              <a:rPr lang="zh-CN" altLang="en-US" smtClean="0"/>
              <a:t>2026/3/11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A6825ABF-C6A2-43A4-994B-70B5FF6833CC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9430796"/>
            <a:ext cx="2946122" cy="497429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77813771-266C-4568-83F5-7D86B4D52A17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50011" y="9430796"/>
            <a:ext cx="2946122" cy="497429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E3C5DD2-4AED-427E-8312-F2C1EDAA2E7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8812772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46122" cy="495732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 vert="horz" wrap="square" lIns="93013" tIns="46506" rIns="93013" bIns="46506" numCol="1" anchor="t" anchorCtr="0" compatLnSpc="1">
            <a:prstTxWarp prst="textNoShape">
              <a:avLst/>
            </a:prstTxWarp>
          </a:bodyPr>
          <a:lstStyle>
            <a:lvl1pPr defTabSz="930275">
              <a:defRPr sz="1200"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12291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51554" y="0"/>
            <a:ext cx="2946122" cy="495732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 vert="horz" wrap="square" lIns="93013" tIns="46506" rIns="93013" bIns="46506" numCol="1" anchor="t" anchorCtr="0" compatLnSpc="1">
            <a:prstTxWarp prst="textNoShape">
              <a:avLst/>
            </a:prstTxWarp>
          </a:bodyPr>
          <a:lstStyle>
            <a:lvl1pPr algn="r" defTabSz="930275">
              <a:defRPr sz="1200"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7892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2075" y="744538"/>
            <a:ext cx="6616700" cy="3722687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2293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06974" y="4714549"/>
            <a:ext cx="4983728" cy="4468380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 vert="horz" wrap="square" lIns="93013" tIns="46506" rIns="93013" bIns="46506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0"/>
            <a:r>
              <a:rPr lang="en-US" noProof="0"/>
              <a:t>Second level</a:t>
            </a:r>
          </a:p>
          <a:p>
            <a:pPr lvl="0"/>
            <a:r>
              <a:rPr lang="en-US" noProof="0"/>
              <a:t>Third level</a:t>
            </a:r>
          </a:p>
          <a:p>
            <a:pPr lvl="0"/>
            <a:r>
              <a:rPr lang="en-US" noProof="0"/>
              <a:t>Fourth level</a:t>
            </a:r>
          </a:p>
          <a:p>
            <a:pPr lvl="0"/>
            <a:r>
              <a:rPr lang="en-US" noProof="0"/>
              <a:t>Fifth level</a:t>
            </a:r>
          </a:p>
        </p:txBody>
      </p:sp>
      <p:sp>
        <p:nvSpPr>
          <p:cNvPr id="12294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432493"/>
            <a:ext cx="2946122" cy="495732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 vert="horz" wrap="square" lIns="93013" tIns="46506" rIns="93013" bIns="46506" numCol="1" anchor="b" anchorCtr="0" compatLnSpc="1">
            <a:prstTxWarp prst="textNoShape">
              <a:avLst/>
            </a:prstTxWarp>
          </a:bodyPr>
          <a:lstStyle>
            <a:lvl1pPr defTabSz="930275">
              <a:defRPr sz="1200"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12295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51554" y="9432493"/>
            <a:ext cx="2946122" cy="495732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 vert="horz" wrap="square" lIns="93013" tIns="46506" rIns="93013" bIns="46506" numCol="1" anchor="b" anchorCtr="0" compatLnSpc="1">
            <a:prstTxWarp prst="textNoShape">
              <a:avLst/>
            </a:prstTxWarp>
          </a:bodyPr>
          <a:lstStyle>
            <a:lvl1pPr algn="r" defTabSz="930275">
              <a:defRPr sz="1200"/>
            </a:lvl1pPr>
          </a:lstStyle>
          <a:p>
            <a:fld id="{B90D6BE3-42E0-4DA5-B156-66EF77FDC710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419056757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742950" indent="-28575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1143000" indent="-228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600200" indent="-228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2057400" indent="-228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7756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>
            <a:lvl1pPr>
              <a:defRPr sz="6000" b="1">
                <a:solidFill>
                  <a:srgbClr val="000066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 sz="4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 dirty="0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288533052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60388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400" b="1">
                <a:solidFill>
                  <a:srgbClr val="000066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304800" y="1371600"/>
            <a:ext cx="11582400" cy="5181600"/>
          </a:xfrm>
        </p:spPr>
        <p:txBody>
          <a:bodyPr/>
          <a:lstStyle>
            <a:lvl1pPr marL="342900" indent="-342900">
              <a:lnSpc>
                <a:spcPct val="150000"/>
              </a:lnSpc>
              <a:spcBef>
                <a:spcPts val="0"/>
              </a:spcBef>
              <a:buClr>
                <a:schemeClr val="accent2">
                  <a:lumMod val="75000"/>
                </a:schemeClr>
              </a:buClr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lnSpc>
                <a:spcPct val="125000"/>
              </a:lnSpc>
              <a:spcBef>
                <a:spcPts val="0"/>
              </a:spcBef>
              <a:buSzPct val="60000"/>
              <a:buFont typeface="Wingdings" panose="05000000000000000000" pitchFamily="2" charset="2"/>
              <a:buChar char="u"/>
              <a:defRPr sz="3200" b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085850" indent="-228600">
              <a:lnSpc>
                <a:spcPct val="150000"/>
              </a:lnSpc>
              <a:spcBef>
                <a:spcPts val="0"/>
              </a:spcBef>
              <a:buClr>
                <a:schemeClr val="accent2">
                  <a:lumMod val="75000"/>
                </a:schemeClr>
              </a:buClr>
              <a:buFont typeface="Arial" panose="020B0604020202020204" pitchFamily="34" charset="0"/>
              <a:buChar char="•"/>
              <a:defRPr sz="2800" b="1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>
              <a:lnSpc>
                <a:spcPct val="150000"/>
              </a:lnSpc>
              <a:spcBef>
                <a:spcPts val="600"/>
              </a:spcBef>
              <a:defRPr b="1">
                <a:solidFill>
                  <a:schemeClr val="accent6">
                    <a:lumMod val="75000"/>
                  </a:schemeClr>
                </a:solidFill>
              </a:defRPr>
            </a:lvl4pPr>
            <a:lvl5pPr>
              <a:lnSpc>
                <a:spcPct val="150000"/>
              </a:lnSpc>
              <a:spcBef>
                <a:spcPts val="600"/>
              </a:spcBef>
              <a:defRPr b="1">
                <a:solidFill>
                  <a:schemeClr val="accent6">
                    <a:lumMod val="75000"/>
                  </a:schemeClr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693321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 bldLvl="2">
        <p:tmplLst>
          <p:tmpl lvl="1">
            <p:tnLst>
              <p:par>
                <p:cTn presetID="22" presetClass="entr" presetSubtype="4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down)">
                      <p:cBhvr>
                        <p:cTn dur="500"/>
                        <p:tgtEl>
                          <p:spTgt spid="3"/>
                        </p:tgtEl>
                      </p:cBhvr>
                    </p:animEffect>
                  </p:childTnLst>
                </p:cTn>
              </p:par>
            </p:tnLst>
          </p:tmpl>
          <p:tmpl lvl="2">
            <p:tnLst>
              <p:par>
                <p:cTn presetID="22" presetClass="entr" presetSubtype="4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down)">
                      <p:cBhvr>
                        <p:cTn dur="500"/>
                        <p:tgtEl>
                          <p:spTgt spid="3"/>
                        </p:tgtEl>
                      </p:cBhvr>
                    </p:animEffect>
                  </p:childTnLst>
                </p:cTn>
              </p:par>
            </p:tnLst>
          </p:tmpl>
          <p:tmpl lvl="3">
            <p:tnLst>
              <p:par>
                <p:cTn presetID="22" presetClass="entr" presetSubtype="4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down)">
                      <p:cBhvr>
                        <p:cTn dur="500"/>
                        <p:tgtEl>
                          <p:spTgt spid="3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400" b="1">
                <a:solidFill>
                  <a:srgbClr val="000066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304800" y="1524000"/>
            <a:ext cx="5689600" cy="4800600"/>
          </a:xfrm>
        </p:spPr>
        <p:txBody>
          <a:bodyPr/>
          <a:lstStyle>
            <a:lvl1pPr marL="342900" indent="-342900">
              <a:lnSpc>
                <a:spcPct val="150000"/>
              </a:lnSpc>
              <a:spcBef>
                <a:spcPts val="600"/>
              </a:spcBef>
              <a:buClr>
                <a:schemeClr val="accent2">
                  <a:lumMod val="75000"/>
                </a:schemeClr>
              </a:buClr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lnSpc>
                <a:spcPct val="125000"/>
              </a:lnSpc>
              <a:spcBef>
                <a:spcPts val="0"/>
              </a:spcBef>
              <a:buSzPct val="60000"/>
              <a:buFont typeface="Wingdings" panose="05000000000000000000" pitchFamily="2" charset="2"/>
              <a:buChar char="u"/>
              <a:defRPr sz="3200" b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>
              <a:lnSpc>
                <a:spcPct val="150000"/>
              </a:lnSpc>
              <a:spcBef>
                <a:spcPts val="600"/>
              </a:spcBef>
              <a:defRPr sz="2000" b="1">
                <a:solidFill>
                  <a:srgbClr val="000066"/>
                </a:solidFill>
              </a:defRPr>
            </a:lvl3pPr>
            <a:lvl4pPr>
              <a:lnSpc>
                <a:spcPct val="150000"/>
              </a:lnSpc>
              <a:spcBef>
                <a:spcPts val="600"/>
              </a:spcBef>
              <a:defRPr sz="1800" b="1">
                <a:solidFill>
                  <a:schemeClr val="accent6">
                    <a:lumMod val="75000"/>
                  </a:schemeClr>
                </a:solidFill>
              </a:defRPr>
            </a:lvl4pPr>
            <a:lvl5pPr>
              <a:lnSpc>
                <a:spcPct val="150000"/>
              </a:lnSpc>
              <a:spcBef>
                <a:spcPts val="600"/>
              </a:spcBef>
              <a:defRPr sz="1800" b="1">
                <a:solidFill>
                  <a:schemeClr val="accent6">
                    <a:lumMod val="75000"/>
                  </a:schemeClr>
                </a:solidFill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6197600" y="1524000"/>
            <a:ext cx="5689600" cy="4800600"/>
          </a:xfr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2075" tIns="46038" rIns="92075" bIns="46038" numCol="1" anchor="t" anchorCtr="0" compatLnSpc="1">
            <a:prstTxWarp prst="textNoShape">
              <a:avLst/>
            </a:prstTxWarp>
          </a:bodyPr>
          <a:lstStyle>
            <a:lvl1pPr marL="342900" indent="-342900">
              <a:buClr>
                <a:schemeClr val="accent2">
                  <a:lumMod val="75000"/>
                </a:schemeClr>
              </a:buClr>
              <a:buFont typeface="Wingdings" panose="05000000000000000000" pitchFamily="2" charset="2"/>
              <a:buChar char="n"/>
              <a:defRPr lang="en-US" sz="3200" b="1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lnSpc>
                <a:spcPct val="125000"/>
              </a:lnSpc>
              <a:spcBef>
                <a:spcPts val="0"/>
              </a:spcBef>
              <a:buSzPct val="60000"/>
              <a:buFont typeface="Wingdings" panose="05000000000000000000" pitchFamily="2" charset="2"/>
              <a:buChar char="u"/>
              <a:defRPr lang="en-US" sz="3200" b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>
              <a:defRPr lang="en-US" b="1" smtClean="0">
                <a:solidFill>
                  <a:srgbClr val="000066"/>
                </a:solidFill>
              </a:defRPr>
            </a:lvl3pPr>
            <a:lvl4pPr>
              <a:defRPr lang="en-US" sz="1800" b="1" smtClean="0">
                <a:solidFill>
                  <a:schemeClr val="accent6">
                    <a:lumMod val="75000"/>
                  </a:schemeClr>
                </a:solidFill>
              </a:defRPr>
            </a:lvl4pPr>
            <a:lvl5pPr>
              <a:defRPr lang="en-US" sz="1800" b="1">
                <a:solidFill>
                  <a:schemeClr val="accent6">
                    <a:lumMod val="75000"/>
                  </a:schemeClr>
                </a:solidFill>
              </a:defRPr>
            </a:lvl5pPr>
          </a:lstStyle>
          <a:p>
            <a:pPr lvl="0">
              <a:lnSpc>
                <a:spcPct val="150000"/>
              </a:lnSpc>
              <a:spcBef>
                <a:spcPts val="600"/>
              </a:spcBef>
            </a:pPr>
            <a:r>
              <a:rPr lang="en-US" dirty="0"/>
              <a:t>Click to edit Master text styles</a:t>
            </a:r>
          </a:p>
          <a:p>
            <a:pPr lvl="1">
              <a:lnSpc>
                <a:spcPct val="150000"/>
              </a:lnSpc>
              <a:spcBef>
                <a:spcPts val="600"/>
              </a:spcBef>
            </a:pPr>
            <a:r>
              <a:rPr lang="en-US" dirty="0"/>
              <a:t>Second level</a:t>
            </a:r>
          </a:p>
          <a:p>
            <a:pPr lvl="2">
              <a:lnSpc>
                <a:spcPct val="150000"/>
              </a:lnSpc>
              <a:spcBef>
                <a:spcPts val="600"/>
              </a:spcBef>
            </a:pPr>
            <a:r>
              <a:rPr lang="en-US" dirty="0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7241652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 bldLvl="2">
        <p:tmplLst>
          <p:tmpl lvl="1">
            <p:tnLst>
              <p:par>
                <p:cTn presetID="1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</p:childTnLst>
                </p:cTn>
              </p:par>
            </p:tnLst>
          </p:tmpl>
          <p:tmpl lvl="2">
            <p:tnLst>
              <p:par>
                <p:cTn presetID="1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</p:childTnLst>
                </p:cTn>
              </p:par>
            </p:tnLst>
          </p:tmpl>
          <p:tmpl lvl="3">
            <p:tnLst>
              <p:par>
                <p:cTn presetID="1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</p:childTnLst>
                </p:cTn>
              </p:par>
            </p:tnLst>
          </p:tmpl>
        </p:tmplLst>
      </p:bldP>
      <p:bldP spid="4" grpId="0" build="p" bldLvl="2">
        <p:tmplLst>
          <p:tmpl lvl="1">
            <p:tnLst>
              <p:par>
                <p:cTn presetID="1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</p:childTnLst>
                </p:cTn>
              </p:par>
            </p:tnLst>
          </p:tmpl>
          <p:tmpl lvl="2">
            <p:tnLst>
              <p:par>
                <p:cTn presetID="1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</p:childTnLst>
                </p:cTn>
              </p:par>
            </p:tnLst>
          </p:tmpl>
          <p:tmpl lvl="3">
            <p:tnLst>
              <p:par>
                <p:cTn presetID="1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</p:childTnLst>
                </p:cTn>
              </p:par>
            </p:tnLst>
          </p:tmpl>
        </p:tmplLst>
      </p:bldP>
    </p:bld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7625999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86800" y="762000"/>
            <a:ext cx="2590800" cy="5562600"/>
          </a:xfrm>
        </p:spPr>
        <p:txBody>
          <a:bodyPr vert="eaVert"/>
          <a:lstStyle>
            <a:lvl1pPr>
              <a:defRPr>
                <a:solidFill>
                  <a:srgbClr val="990033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 hasCustomPrompt="1"/>
          </p:nvPr>
        </p:nvSpPr>
        <p:spPr>
          <a:xfrm>
            <a:off x="914400" y="762000"/>
            <a:ext cx="7569200" cy="5562600"/>
          </a:xfrm>
        </p:spPr>
        <p:txBody>
          <a:bodyPr vert="eaVert"/>
          <a:lstStyle>
            <a:lvl1pPr>
              <a:defRPr>
                <a:solidFill>
                  <a:srgbClr val="000066"/>
                </a:solidFill>
              </a:defRPr>
            </a:lvl1pPr>
            <a:lvl2pPr>
              <a:defRPr>
                <a:solidFill>
                  <a:srgbClr val="000066"/>
                </a:solidFill>
              </a:defRPr>
            </a:lvl2pPr>
            <a:lvl3pPr>
              <a:defRPr>
                <a:solidFill>
                  <a:srgbClr val="000066"/>
                </a:solidFill>
              </a:defRPr>
            </a:lvl3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24013906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 bldLvl="2">
        <p:tmplLst>
          <p:tmpl lvl="1">
            <p:tnLst>
              <p:par>
                <p:cTn presetID="2" presetClass="entr" presetSubtype="4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3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3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  <p:tmpl lvl="2">
            <p:tnLst>
              <p:par>
                <p:cTn presetID="2" presetClass="entr" presetSubtype="4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3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3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  <p:tmpl lvl="3">
            <p:tnLst>
              <p:par>
                <p:cTn presetID="2" presetClass="entr" presetSubtype="4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3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3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</p:bldLst>
  </p:timing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 userDrawn="1"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"/>
            <a:ext cx="12200238" cy="6865023"/>
          </a:xfrm>
          <a:prstGeom prst="rect">
            <a:avLst/>
          </a:prstGeom>
        </p:spPr>
      </p:pic>
      <p:sp>
        <p:nvSpPr>
          <p:cNvPr id="1028" name="Rectangle 2"/>
          <p:cNvSpPr>
            <a:spLocks noGrp="1" noChangeArrowheads="1"/>
          </p:cNvSpPr>
          <p:nvPr userDrawn="1">
            <p:ph type="title"/>
          </p:nvPr>
        </p:nvSpPr>
        <p:spPr bwMode="auto">
          <a:xfrm>
            <a:off x="914400" y="533400"/>
            <a:ext cx="10363200" cy="685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2075" tIns="46038" rIns="92075" bIns="46038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CN" dirty="0"/>
              <a:t>Click to edit Master title style</a:t>
            </a:r>
          </a:p>
        </p:txBody>
      </p:sp>
      <p:sp>
        <p:nvSpPr>
          <p:cNvPr id="1029" name="Rectangle 3"/>
          <p:cNvSpPr>
            <a:spLocks noGrp="1" noChangeArrowheads="1"/>
          </p:cNvSpPr>
          <p:nvPr userDrawn="1">
            <p:ph type="body" idx="1"/>
          </p:nvPr>
        </p:nvSpPr>
        <p:spPr bwMode="auto">
          <a:xfrm>
            <a:off x="304800" y="1371600"/>
            <a:ext cx="11480800" cy="5181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2075" tIns="46038" rIns="92075" bIns="46038" numCol="1" anchor="t" anchorCtr="0" compatLnSpc="1">
            <a:prstTxWarp prst="textNoShape">
              <a:avLst/>
            </a:prstTxWarp>
          </a:bodyPr>
          <a:lstStyle/>
          <a:p>
            <a:pPr lvl="0">
              <a:lnSpc>
                <a:spcPct val="150000"/>
              </a:lnSpc>
              <a:spcBef>
                <a:spcPts val="600"/>
              </a:spcBef>
            </a:pPr>
            <a:r>
              <a:rPr lang="en-US" altLang="zh-CN" dirty="0"/>
              <a:t> Click to edit Master text styles</a:t>
            </a:r>
          </a:p>
          <a:p>
            <a:pPr lvl="1">
              <a:lnSpc>
                <a:spcPct val="150000"/>
              </a:lnSpc>
              <a:spcBef>
                <a:spcPts val="600"/>
              </a:spcBef>
            </a:pPr>
            <a:r>
              <a:rPr lang="en-US" altLang="zh-CN" dirty="0"/>
              <a:t>Second level</a:t>
            </a:r>
          </a:p>
          <a:p>
            <a:pPr lvl="2">
              <a:lnSpc>
                <a:spcPct val="150000"/>
              </a:lnSpc>
              <a:spcBef>
                <a:spcPts val="600"/>
              </a:spcBef>
            </a:pPr>
            <a:r>
              <a:rPr lang="en-US" altLang="zh-CN" dirty="0"/>
              <a:t>Third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047" r:id="rId1"/>
    <p:sldLayoutId id="2147484048" r:id="rId2"/>
    <p:sldLayoutId id="2147484050" r:id="rId3"/>
    <p:sldLayoutId id="2147484053" r:id="rId4"/>
    <p:sldLayoutId id="2147484057" r:id="rId5"/>
  </p:sldLayoutIdLst>
  <p:hf hd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3600">
          <a:solidFill>
            <a:srgbClr val="990033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3200">
          <a:solidFill>
            <a:srgbClr val="B82F25"/>
          </a:solidFill>
          <a:latin typeface="Arial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3200">
          <a:solidFill>
            <a:srgbClr val="B82F25"/>
          </a:solidFill>
          <a:latin typeface="Arial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3200">
          <a:solidFill>
            <a:srgbClr val="B82F25"/>
          </a:solidFill>
          <a:latin typeface="Arial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3200">
          <a:solidFill>
            <a:srgbClr val="B82F25"/>
          </a:solidFill>
          <a:latin typeface="Arial" charset="0"/>
        </a:defRPr>
      </a:lvl5pPr>
      <a:lvl6pPr marL="457200" algn="ctr" rtl="0" eaLnBrk="0" fontAlgn="base" hangingPunct="0">
        <a:spcBef>
          <a:spcPct val="0"/>
        </a:spcBef>
        <a:spcAft>
          <a:spcPct val="0"/>
        </a:spcAft>
        <a:defRPr sz="3200">
          <a:solidFill>
            <a:srgbClr val="FF7706"/>
          </a:solidFill>
          <a:latin typeface="Arial" charset="0"/>
        </a:defRPr>
      </a:lvl6pPr>
      <a:lvl7pPr marL="914400" algn="ctr" rtl="0" eaLnBrk="0" fontAlgn="base" hangingPunct="0">
        <a:spcBef>
          <a:spcPct val="0"/>
        </a:spcBef>
        <a:spcAft>
          <a:spcPct val="0"/>
        </a:spcAft>
        <a:defRPr sz="3200">
          <a:solidFill>
            <a:srgbClr val="FF7706"/>
          </a:solidFill>
          <a:latin typeface="Arial" charset="0"/>
        </a:defRPr>
      </a:lvl7pPr>
      <a:lvl8pPr marL="1371600" algn="ctr" rtl="0" eaLnBrk="0" fontAlgn="base" hangingPunct="0">
        <a:spcBef>
          <a:spcPct val="0"/>
        </a:spcBef>
        <a:spcAft>
          <a:spcPct val="0"/>
        </a:spcAft>
        <a:defRPr sz="3200">
          <a:solidFill>
            <a:srgbClr val="FF7706"/>
          </a:solidFill>
          <a:latin typeface="Arial" charset="0"/>
        </a:defRPr>
      </a:lvl8pPr>
      <a:lvl9pPr marL="1828800" algn="ctr" rtl="0" eaLnBrk="0" fontAlgn="base" hangingPunct="0">
        <a:spcBef>
          <a:spcPct val="0"/>
        </a:spcBef>
        <a:spcAft>
          <a:spcPct val="0"/>
        </a:spcAft>
        <a:defRPr sz="3200">
          <a:solidFill>
            <a:srgbClr val="FF7706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rgbClr val="FF0000"/>
        </a:buClr>
        <a:buSzPct val="80000"/>
        <a:buFont typeface="Times New Roman" panose="02020603050405020304" pitchFamily="18" charset="0"/>
        <a:buChar char="☺"/>
        <a:defRPr lang="en-US" altLang="zh-CN" sz="2600" b="1" baseline="0" dirty="0" smtClean="0">
          <a:solidFill>
            <a:srgbClr val="000066"/>
          </a:solidFill>
          <a:latin typeface="+mn-ea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rgbClr val="FF0000"/>
        </a:buClr>
        <a:buSzPct val="80000"/>
        <a:buFont typeface="Times New Roman" panose="02020603050405020304" pitchFamily="18" charset="0"/>
        <a:buChar char="♫"/>
        <a:defRPr lang="en-US" altLang="zh-CN" sz="2400" b="1" dirty="0" smtClean="0">
          <a:solidFill>
            <a:srgbClr val="000066"/>
          </a:solidFill>
          <a:latin typeface="+mn-ea"/>
          <a:ea typeface="+mn-ea"/>
        </a:defRPr>
      </a:lvl2pPr>
      <a:lvl3pPr marL="1085850" indent="-228600" algn="l" rtl="0" eaLnBrk="0" fontAlgn="base" hangingPunct="0">
        <a:spcBef>
          <a:spcPct val="20000"/>
        </a:spcBef>
        <a:spcAft>
          <a:spcPct val="0"/>
        </a:spcAft>
        <a:buClr>
          <a:srgbClr val="FF0000"/>
        </a:buClr>
        <a:buSzPct val="80000"/>
        <a:buFont typeface="Wingdings" panose="05000000000000000000" pitchFamily="2" charset="2"/>
        <a:buChar char="Ø"/>
        <a:defRPr lang="en-US" altLang="zh-CN" sz="2200" b="1" dirty="0" smtClean="0">
          <a:solidFill>
            <a:srgbClr val="000066"/>
          </a:solidFill>
          <a:latin typeface="+mn-lt"/>
        </a:defRPr>
      </a:lvl3pPr>
      <a:lvl4pPr marL="1428750" indent="-228600" algn="l" rtl="0" eaLnBrk="0" fontAlgn="base" hangingPunct="0">
        <a:spcBef>
          <a:spcPct val="20000"/>
        </a:spcBef>
        <a:spcAft>
          <a:spcPct val="0"/>
        </a:spcAft>
        <a:buChar char="–"/>
        <a:defRPr lang="en-US" altLang="zh-CN" sz="2000" b="1" dirty="0" smtClean="0">
          <a:solidFill>
            <a:schemeClr val="accent6">
              <a:lumMod val="75000"/>
            </a:schemeClr>
          </a:solidFill>
          <a:latin typeface="+mn-lt"/>
        </a:defRPr>
      </a:lvl4pPr>
      <a:lvl5pPr marL="1771650" indent="-228600" algn="l" rtl="0" eaLnBrk="0" fontAlgn="base" hangingPunct="0">
        <a:spcBef>
          <a:spcPct val="20000"/>
        </a:spcBef>
        <a:spcAft>
          <a:spcPct val="0"/>
        </a:spcAft>
        <a:buChar char="•"/>
        <a:defRPr lang="en-US" altLang="zh-CN" sz="1600" b="1" dirty="0" smtClean="0">
          <a:solidFill>
            <a:schemeClr val="accent6">
              <a:lumMod val="75000"/>
            </a:schemeClr>
          </a:solidFill>
          <a:latin typeface="+mn-lt"/>
        </a:defRPr>
      </a:lvl5pPr>
      <a:lvl6pPr marL="2228850" indent="-228600" algn="l" rtl="0" eaLnBrk="0" fontAlgn="base" hangingPunct="0">
        <a:spcBef>
          <a:spcPct val="20000"/>
        </a:spcBef>
        <a:spcAft>
          <a:spcPct val="0"/>
        </a:spcAft>
        <a:buChar char="•"/>
        <a:defRPr sz="1600">
          <a:solidFill>
            <a:schemeClr val="tx1"/>
          </a:solidFill>
          <a:latin typeface="+mn-lt"/>
        </a:defRPr>
      </a:lvl6pPr>
      <a:lvl7pPr marL="2686050" indent="-228600" algn="l" rtl="0" eaLnBrk="0" fontAlgn="base" hangingPunct="0">
        <a:spcBef>
          <a:spcPct val="20000"/>
        </a:spcBef>
        <a:spcAft>
          <a:spcPct val="0"/>
        </a:spcAft>
        <a:buChar char="•"/>
        <a:defRPr sz="1600">
          <a:solidFill>
            <a:schemeClr val="tx1"/>
          </a:solidFill>
          <a:latin typeface="+mn-lt"/>
        </a:defRPr>
      </a:lvl7pPr>
      <a:lvl8pPr marL="3143250" indent="-228600" algn="l" rtl="0" eaLnBrk="0" fontAlgn="base" hangingPunct="0">
        <a:spcBef>
          <a:spcPct val="20000"/>
        </a:spcBef>
        <a:spcAft>
          <a:spcPct val="0"/>
        </a:spcAft>
        <a:buChar char="•"/>
        <a:defRPr sz="1600">
          <a:solidFill>
            <a:schemeClr val="tx1"/>
          </a:solidFill>
          <a:latin typeface="+mn-lt"/>
        </a:defRPr>
      </a:lvl8pPr>
      <a:lvl9pPr marL="3600450" indent="-228600" algn="l" rtl="0" eaLnBrk="0" fontAlgn="base" hangingPunct="0">
        <a:spcBef>
          <a:spcPct val="20000"/>
        </a:spcBef>
        <a:spcAft>
          <a:spcPct val="0"/>
        </a:spcAft>
        <a:buChar char="•"/>
        <a:defRPr sz="16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jpg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jpg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8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8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8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8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8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8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8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8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8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8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9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9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_rels/slide9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/Relationships>
</file>

<file path=ppt/slides/_rels/slide9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/Relationships>
</file>

<file path=ppt/slides/_rels/slide9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/Relationships>
</file>

<file path=ppt/slides/_rels/slide9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/Relationships>
</file>

<file path=ppt/slides/_rels/slide9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.xml"/></Relationships>
</file>

<file path=ppt/slides/_rels/slide9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2.xml"/></Relationships>
</file>

<file path=ppt/slides/_rels/slide9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2.xml"/></Relationships>
</file>

<file path=ppt/slides/_rels/slide9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2.xml"/></Relationships>
</file>

<file path=ppt/slides/_rels/slide10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2.xml"/></Relationships>
</file>

<file path=ppt/slides/_rels/slide10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2.xml"/></Relationships>
</file>

<file path=ppt/slides/_rels/slide10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2.xml"/></Relationships>
</file>

<file path=ppt/slides/_rels/slide10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2.xml"/></Relationships>
</file>

<file path=ppt/slides/_rels/slide10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0.png"/><Relationship Id="rId1" Type="http://schemas.openxmlformats.org/officeDocument/2006/relationships/slideLayout" Target="../slideLayouts/slideLayout2.xml"/></Relationships>
</file>

<file path=ppt/slides/_rels/slide10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jpg"/><Relationship Id="rId2" Type="http://schemas.openxmlformats.org/officeDocument/2006/relationships/image" Target="../media/image54.jpg"/><Relationship Id="rId1" Type="http://schemas.openxmlformats.org/officeDocument/2006/relationships/slideLayout" Target="../slideLayouts/slideLayout2.xml"/></Relationships>
</file>

<file path=ppt/slides/_rels/slide1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D71FFD2-C759-4331-B2C5-BD27D3F8708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CN" altLang="en-US" dirty="0"/>
              <a:t>第二章  线性表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F118536A-F4C9-408B-A1C2-8B253B477A1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zh-CN" altLang="en-US" dirty="0"/>
              <a:t>张  学</a:t>
            </a:r>
            <a:endParaRPr lang="en-US" altLang="zh-CN" dirty="0"/>
          </a:p>
          <a:p>
            <a:r>
              <a:rPr lang="en-US" altLang="zh-CN" dirty="0"/>
              <a:t>zhangxue@uestc.edu.cn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94781638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9F68ADE-0072-4C56-B0FC-AC7D22A8E8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线性表的定义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0040145-4171-4B4A-A5AA-C6D586FE7A3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线性表是由</a:t>
            </a:r>
            <a:r>
              <a:rPr lang="en-US" altLang="zh-CN" dirty="0">
                <a:latin typeface="宋体" panose="02010600030101010101" pitchFamily="2" charset="-122"/>
              </a:rPr>
              <a:t>n</a:t>
            </a:r>
            <a:r>
              <a:rPr lang="zh-CN" altLang="en-US" dirty="0">
                <a:latin typeface="宋体" panose="02010600030101010101" pitchFamily="2" charset="-122"/>
              </a:rPr>
              <a:t>个类型相同的数据元素</a:t>
            </a:r>
            <a:r>
              <a:rPr lang="en-US" altLang="zh-CN" dirty="0">
                <a:latin typeface="宋体" panose="02010600030101010101" pitchFamily="2" charset="-122"/>
              </a:rPr>
              <a:t>a</a:t>
            </a:r>
            <a:r>
              <a:rPr lang="en-US" altLang="zh-CN" baseline="-30000" dirty="0">
                <a:latin typeface="宋体" panose="02010600030101010101" pitchFamily="2" charset="-122"/>
              </a:rPr>
              <a:t>1</a:t>
            </a:r>
            <a:r>
              <a:rPr lang="en-US" altLang="zh-CN" dirty="0">
                <a:latin typeface="宋体" panose="02010600030101010101" pitchFamily="2" charset="-122"/>
              </a:rPr>
              <a:t>,a</a:t>
            </a:r>
            <a:r>
              <a:rPr lang="en-US" altLang="zh-CN" baseline="-30000" dirty="0">
                <a:latin typeface="宋体" panose="02010600030101010101" pitchFamily="2" charset="-122"/>
              </a:rPr>
              <a:t>2</a:t>
            </a:r>
            <a:r>
              <a:rPr lang="en-US" altLang="zh-CN" dirty="0">
                <a:latin typeface="宋体" panose="02010600030101010101" pitchFamily="2" charset="-122"/>
              </a:rPr>
              <a:t>,</a:t>
            </a:r>
            <a:r>
              <a:rPr lang="en-US" altLang="zh-CN" dirty="0">
                <a:latin typeface="Times New Roman" panose="02020603050405020304" pitchFamily="18" charset="0"/>
              </a:rPr>
              <a:t>…</a:t>
            </a:r>
            <a:r>
              <a:rPr lang="zh-CN" altLang="en-US" dirty="0">
                <a:latin typeface="宋体" panose="02010600030101010101" pitchFamily="2" charset="-122"/>
              </a:rPr>
              <a:t>，</a:t>
            </a:r>
            <a:r>
              <a:rPr lang="en-US" altLang="zh-CN" dirty="0">
                <a:latin typeface="宋体" panose="02010600030101010101" pitchFamily="2" charset="-122"/>
              </a:rPr>
              <a:t>a</a:t>
            </a:r>
            <a:r>
              <a:rPr lang="en-US" altLang="zh-CN" baseline="-30000" dirty="0">
                <a:latin typeface="宋体" panose="02010600030101010101" pitchFamily="2" charset="-122"/>
              </a:rPr>
              <a:t>n</a:t>
            </a:r>
            <a:r>
              <a:rPr lang="zh-CN" altLang="en-US" dirty="0">
                <a:latin typeface="宋体" panose="02010600030101010101" pitchFamily="2" charset="-122"/>
              </a:rPr>
              <a:t>组成的有限序列，记作（</a:t>
            </a:r>
            <a:r>
              <a:rPr lang="en-US" altLang="zh-CN" dirty="0">
                <a:latin typeface="宋体" panose="02010600030101010101" pitchFamily="2" charset="-122"/>
              </a:rPr>
              <a:t>a</a:t>
            </a:r>
            <a:r>
              <a:rPr lang="en-US" altLang="zh-CN" baseline="-30000" dirty="0">
                <a:latin typeface="宋体" panose="02010600030101010101" pitchFamily="2" charset="-122"/>
              </a:rPr>
              <a:t>1</a:t>
            </a:r>
            <a:r>
              <a:rPr lang="en-US" altLang="zh-CN" dirty="0">
                <a:latin typeface="宋体" panose="02010600030101010101" pitchFamily="2" charset="-122"/>
              </a:rPr>
              <a:t>,a</a:t>
            </a:r>
            <a:r>
              <a:rPr lang="en-US" altLang="zh-CN" baseline="-30000" dirty="0">
                <a:latin typeface="宋体" panose="02010600030101010101" pitchFamily="2" charset="-122"/>
              </a:rPr>
              <a:t>2</a:t>
            </a:r>
            <a:r>
              <a:rPr lang="en-US" altLang="zh-CN" dirty="0">
                <a:latin typeface="宋体" panose="02010600030101010101" pitchFamily="2" charset="-122"/>
              </a:rPr>
              <a:t>,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…</a:t>
            </a:r>
            <a:r>
              <a:rPr lang="zh-CN" altLang="en-US" dirty="0">
                <a:latin typeface="宋体" panose="02010600030101010101" pitchFamily="2" charset="-122"/>
                <a:cs typeface="Times New Roman" panose="02020603050405020304" pitchFamily="18" charset="0"/>
              </a:rPr>
              <a:t>，</a:t>
            </a:r>
            <a:r>
              <a:rPr lang="en-US" altLang="zh-CN" dirty="0">
                <a:latin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en-US" altLang="zh-CN" baseline="-30000" dirty="0">
                <a:latin typeface="宋体" panose="02010600030101010101" pitchFamily="2" charset="-122"/>
                <a:cs typeface="Times New Roman" panose="02020603050405020304" pitchFamily="18" charset="0"/>
              </a:rPr>
              <a:t>i-1</a:t>
            </a:r>
            <a:r>
              <a:rPr lang="zh-CN" altLang="en-US" dirty="0">
                <a:latin typeface="宋体" panose="02010600030101010101" pitchFamily="2" charset="-122"/>
                <a:cs typeface="Times New Roman" panose="02020603050405020304" pitchFamily="18" charset="0"/>
              </a:rPr>
              <a:t>，</a:t>
            </a:r>
            <a:r>
              <a:rPr lang="en-US" altLang="zh-CN" dirty="0">
                <a:latin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en-US" altLang="zh-CN" baseline="-30000" dirty="0">
                <a:latin typeface="宋体" panose="02010600030101010101" pitchFamily="2" charset="-122"/>
                <a:cs typeface="Times New Roman" panose="02020603050405020304" pitchFamily="18" charset="0"/>
              </a:rPr>
              <a:t>i</a:t>
            </a:r>
            <a:r>
              <a:rPr lang="zh-CN" altLang="en-US" dirty="0">
                <a:latin typeface="宋体" panose="02010600030101010101" pitchFamily="2" charset="-122"/>
                <a:cs typeface="Times New Roman" panose="02020603050405020304" pitchFamily="18" charset="0"/>
              </a:rPr>
              <a:t>，</a:t>
            </a:r>
            <a:r>
              <a:rPr lang="en-US" altLang="zh-CN" dirty="0">
                <a:latin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en-US" altLang="zh-CN" baseline="-30000" dirty="0">
                <a:latin typeface="宋体" panose="02010600030101010101" pitchFamily="2" charset="-122"/>
                <a:cs typeface="Times New Roman" panose="02020603050405020304" pitchFamily="18" charset="0"/>
              </a:rPr>
              <a:t>i+1</a:t>
            </a:r>
            <a:r>
              <a:rPr lang="zh-CN" altLang="en-US" dirty="0">
                <a:latin typeface="宋体" panose="02010600030101010101" pitchFamily="2" charset="-122"/>
                <a:cs typeface="Times New Roman" panose="02020603050405020304" pitchFamily="18" charset="0"/>
              </a:rPr>
              <a:t>， 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…</a:t>
            </a:r>
            <a:r>
              <a:rPr lang="zh-CN" altLang="en-US" dirty="0">
                <a:latin typeface="宋体" panose="02010600030101010101" pitchFamily="2" charset="-122"/>
                <a:cs typeface="Times New Roman" panose="02020603050405020304" pitchFamily="18" charset="0"/>
              </a:rPr>
              <a:t>，</a:t>
            </a:r>
            <a:r>
              <a:rPr lang="en-US" altLang="zh-CN" dirty="0">
                <a:latin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en-US" altLang="zh-CN" baseline="-30000" dirty="0">
                <a:latin typeface="宋体" panose="02010600030101010101" pitchFamily="2" charset="-122"/>
                <a:cs typeface="Times New Roman" panose="02020603050405020304" pitchFamily="18" charset="0"/>
              </a:rPr>
              <a:t>n</a:t>
            </a:r>
            <a:r>
              <a:rPr lang="zh-CN" altLang="en-US" dirty="0">
                <a:latin typeface="宋体" panose="02010600030101010101" pitchFamily="2" charset="-122"/>
              </a:rPr>
              <a:t>）。</a:t>
            </a:r>
            <a:endParaRPr lang="en-US" altLang="zh-CN" dirty="0">
              <a:latin typeface="宋体" panose="02010600030101010101" pitchFamily="2" charset="-122"/>
            </a:endParaRPr>
          </a:p>
          <a:p>
            <a:r>
              <a:rPr lang="zh-CN" altLang="en-US" dirty="0">
                <a:latin typeface="宋体" panose="02010600030101010101" pitchFamily="2" charset="-122"/>
              </a:rPr>
              <a:t>线性表的逻辑结构图</a:t>
            </a:r>
            <a:endParaRPr lang="en-US" altLang="zh-CN" dirty="0">
              <a:latin typeface="宋体" panose="02010600030101010101" pitchFamily="2" charset="-122"/>
            </a:endParaRPr>
          </a:p>
          <a:p>
            <a:endParaRPr lang="zh-CN" altLang="en-US" dirty="0">
              <a:latin typeface="宋体" panose="02010600030101010101" pitchFamily="2" charset="-122"/>
            </a:endParaRPr>
          </a:p>
        </p:txBody>
      </p:sp>
      <p:grpSp>
        <p:nvGrpSpPr>
          <p:cNvPr id="4" name="Group 34">
            <a:extLst>
              <a:ext uri="{FF2B5EF4-FFF2-40B4-BE49-F238E27FC236}">
                <a16:creationId xmlns:a16="http://schemas.microsoft.com/office/drawing/2014/main" id="{2FE24841-77A1-4DDB-8B27-05F2149C825E}"/>
              </a:ext>
            </a:extLst>
          </p:cNvPr>
          <p:cNvGrpSpPr>
            <a:grpSpLocks/>
          </p:cNvGrpSpPr>
          <p:nvPr/>
        </p:nvGrpSpPr>
        <p:grpSpPr bwMode="auto">
          <a:xfrm>
            <a:off x="2209800" y="4648200"/>
            <a:ext cx="7467600" cy="304800"/>
            <a:chOff x="2711" y="2287"/>
            <a:chExt cx="1744" cy="65"/>
          </a:xfrm>
        </p:grpSpPr>
        <p:sp>
          <p:nvSpPr>
            <p:cNvPr id="5" name="Line 23">
              <a:extLst>
                <a:ext uri="{FF2B5EF4-FFF2-40B4-BE49-F238E27FC236}">
                  <a16:creationId xmlns:a16="http://schemas.microsoft.com/office/drawing/2014/main" id="{172816FD-C43D-49B0-BCD4-180EDCB42A3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63" y="2320"/>
              <a:ext cx="309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" name="Line 24">
              <a:extLst>
                <a:ext uri="{FF2B5EF4-FFF2-40B4-BE49-F238E27FC236}">
                  <a16:creationId xmlns:a16="http://schemas.microsoft.com/office/drawing/2014/main" id="{E9CC6545-8E88-4C53-9F97-6E364775A68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129" y="2320"/>
              <a:ext cx="274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" name="Line 25">
              <a:extLst>
                <a:ext uri="{FF2B5EF4-FFF2-40B4-BE49-F238E27FC236}">
                  <a16:creationId xmlns:a16="http://schemas.microsoft.com/office/drawing/2014/main" id="{2CF33B25-027C-41DD-AEBE-C248BB2599E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425" y="2320"/>
              <a:ext cx="274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" name="Line 26">
              <a:extLst>
                <a:ext uri="{FF2B5EF4-FFF2-40B4-BE49-F238E27FC236}">
                  <a16:creationId xmlns:a16="http://schemas.microsoft.com/office/drawing/2014/main" id="{75AC5848-64B6-4C62-97EE-D12139155B7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769" y="2314"/>
              <a:ext cx="273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" name="Line 27">
              <a:extLst>
                <a:ext uri="{FF2B5EF4-FFF2-40B4-BE49-F238E27FC236}">
                  <a16:creationId xmlns:a16="http://schemas.microsoft.com/office/drawing/2014/main" id="{E3BB1E4A-E07C-432A-ACEA-07F34879289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111" y="2320"/>
              <a:ext cx="274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" name="Oval 28">
              <a:extLst>
                <a:ext uri="{FF2B5EF4-FFF2-40B4-BE49-F238E27FC236}">
                  <a16:creationId xmlns:a16="http://schemas.microsoft.com/office/drawing/2014/main" id="{BBA26C86-EA60-4884-98F7-7C3970FD691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11" y="2287"/>
              <a:ext cx="65" cy="65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" name="Oval 29">
              <a:extLst>
                <a:ext uri="{FF2B5EF4-FFF2-40B4-BE49-F238E27FC236}">
                  <a16:creationId xmlns:a16="http://schemas.microsoft.com/office/drawing/2014/main" id="{DFCA6F1B-D977-4242-84FD-A2697EC6E2F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48" y="2287"/>
              <a:ext cx="65" cy="65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" name="Oval 30">
              <a:extLst>
                <a:ext uri="{FF2B5EF4-FFF2-40B4-BE49-F238E27FC236}">
                  <a16:creationId xmlns:a16="http://schemas.microsoft.com/office/drawing/2014/main" id="{4F77E5A3-0E70-4BA4-96B3-26987E8EB22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68" y="2287"/>
              <a:ext cx="65" cy="65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" name="Oval 31">
              <a:extLst>
                <a:ext uri="{FF2B5EF4-FFF2-40B4-BE49-F238E27FC236}">
                  <a16:creationId xmlns:a16="http://schemas.microsoft.com/office/drawing/2014/main" id="{8CA90DB1-7C5F-4A94-9017-15583FCD812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11" y="2287"/>
              <a:ext cx="65" cy="65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" name="Oval 32">
              <a:extLst>
                <a:ext uri="{FF2B5EF4-FFF2-40B4-BE49-F238E27FC236}">
                  <a16:creationId xmlns:a16="http://schemas.microsoft.com/office/drawing/2014/main" id="{51549DF3-AB46-403C-9E61-D2257F9C638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59" y="2287"/>
              <a:ext cx="65" cy="65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" name="Oval 33">
              <a:extLst>
                <a:ext uri="{FF2B5EF4-FFF2-40B4-BE49-F238E27FC236}">
                  <a16:creationId xmlns:a16="http://schemas.microsoft.com/office/drawing/2014/main" id="{D578650F-B053-4665-9852-8576C5D5108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90" y="2287"/>
              <a:ext cx="65" cy="65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408746566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5E2B1F9-1F2C-442A-9AFF-A5E062F8EF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线性表抽象数据类型的定义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B94C5B90-CEE1-4FF4-B21E-0BC7FDA3E01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304800" y="1371600"/>
                <a:ext cx="11811000" cy="5181600"/>
              </a:xfrm>
            </p:spPr>
            <p:txBody>
              <a:bodyPr/>
              <a:lstStyle/>
              <a:p>
                <a:pPr marL="0" indent="0">
                  <a:lnSpc>
                    <a:spcPct val="125000"/>
                  </a:lnSpc>
                  <a:buNone/>
                </a:pPr>
                <a:r>
                  <a:rPr lang="en-US" altLang="zh-CN" b="0" dirty="0"/>
                  <a:t>ADT </a:t>
                </a:r>
                <a:r>
                  <a:rPr lang="en-US" altLang="zh-CN" b="0" dirty="0" err="1"/>
                  <a:t>LinearList</a:t>
                </a:r>
                <a:r>
                  <a:rPr lang="en-US" altLang="zh-CN" b="0" dirty="0"/>
                  <a:t> {</a:t>
                </a:r>
              </a:p>
              <a:p>
                <a:pPr marL="0" indent="0">
                  <a:lnSpc>
                    <a:spcPct val="125000"/>
                  </a:lnSpc>
                  <a:buNone/>
                </a:pPr>
                <a:r>
                  <a:rPr lang="zh-CN" altLang="en-US" b="0" dirty="0"/>
                  <a:t>    数据元素：</a:t>
                </a:r>
                <a:r>
                  <a:rPr lang="en-US" altLang="zh-CN" b="0" dirty="0" err="1"/>
                  <a:t>DataSet</a:t>
                </a:r>
                <a:r>
                  <a:rPr lang="en-US" altLang="zh-CN" b="0" dirty="0"/>
                  <a:t>=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{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| </m:t>
                    </m:r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altLang="zh-CN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𝐸𝑙𝑒𝑚𝑆𝑒𝑡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 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=1⋯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}</m:t>
                    </m:r>
                  </m:oMath>
                </a14:m>
                <a:endParaRPr lang="en-US" altLang="zh-CN" b="0" dirty="0"/>
              </a:p>
              <a:p>
                <a:pPr marL="0" indent="0">
                  <a:lnSpc>
                    <a:spcPct val="125000"/>
                  </a:lnSpc>
                  <a:buNone/>
                </a:pPr>
                <a:r>
                  <a:rPr lang="zh-CN" altLang="en-US" b="0" dirty="0"/>
                  <a:t>    逻辑关系：</a:t>
                </a:r>
                <a:r>
                  <a:rPr lang="en-US" altLang="zh-CN" b="0" dirty="0"/>
                  <a:t>Relation=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{&lt;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</m:sSub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&gt;|</m:t>
                    </m:r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sSub>
                      <m:sSubPr>
                        <m:ctrlPr>
                          <a:rPr lang="en-US" altLang="zh-CN" b="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zh-CN" b="0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zh-CN" b="0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</m:sSub>
                    <m:r>
                      <a:rPr lang="en-US" altLang="zh-CN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𝐷𝑎𝑡𝑎𝑆𝑒𝑡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 </m:t>
                    </m:r>
                  </m:oMath>
                </a14:m>
                <a:endParaRPr lang="en-US" altLang="zh-CN" b="0" i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0" indent="0">
                  <a:lnSpc>
                    <a:spcPct val="125000"/>
                  </a:lnSpc>
                  <a:buNone/>
                </a:pPr>
                <a:r>
                  <a:rPr lang="en-US" altLang="zh-CN" b="0" dirty="0">
                    <a:ea typeface="Cambria Math" panose="02040503050406030204" pitchFamily="18" charset="0"/>
                  </a:rPr>
                  <a:t>                                       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=1⋯(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−1)</m:t>
                    </m:r>
                  </m:oMath>
                </a14:m>
                <a:r>
                  <a:rPr lang="en-US" altLang="zh-CN" b="0" dirty="0"/>
                  <a:t>, </a:t>
                </a:r>
                <a14:m>
                  <m:oMath xmlns:m="http://schemas.openxmlformats.org/officeDocument/2006/math">
                    <m:r>
                      <a:rPr lang="en-US" altLang="zh-CN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en-US" altLang="zh-CN" b="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zh-CN" b="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zh-CN" altLang="en-US" b="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无前驱，</m:t>
                    </m:r>
                    <m:sSub>
                      <m:sSubPr>
                        <m:ctrlPr>
                          <a:rPr lang="en-US" altLang="zh-CN" b="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zh-CN" b="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zh-CN" altLang="en-US" b="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无后继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}</m:t>
                    </m:r>
                  </m:oMath>
                </a14:m>
                <a:endParaRPr lang="en-US" altLang="zh-CN" b="0" dirty="0"/>
              </a:p>
              <a:p>
                <a:pPr marL="0" indent="0">
                  <a:lnSpc>
                    <a:spcPct val="125000"/>
                  </a:lnSpc>
                  <a:buNone/>
                </a:pPr>
                <a:r>
                  <a:rPr lang="zh-CN" altLang="en-US" b="0" dirty="0"/>
                  <a:t>    基本操作：</a:t>
                </a:r>
                <a:endParaRPr lang="en-US" altLang="zh-CN" b="0" dirty="0"/>
              </a:p>
              <a:p>
                <a:pPr marL="0" indent="0">
                  <a:lnSpc>
                    <a:spcPct val="100000"/>
                  </a:lnSpc>
                  <a:buNone/>
                </a:pPr>
                <a:r>
                  <a:rPr lang="en-US" altLang="zh-CN" b="0" dirty="0"/>
                  <a:t>        </a:t>
                </a:r>
                <a:r>
                  <a:rPr lang="en-US" altLang="zh-CN" b="0" dirty="0" err="1"/>
                  <a:t>ListInit</a:t>
                </a:r>
                <a:r>
                  <a:rPr lang="en-US" altLang="zh-CN" b="0" dirty="0"/>
                  <a:t>(List);</a:t>
                </a:r>
              </a:p>
              <a:p>
                <a:pPr marL="0" indent="0">
                  <a:lnSpc>
                    <a:spcPct val="100000"/>
                  </a:lnSpc>
                  <a:buNone/>
                </a:pPr>
                <a:r>
                  <a:rPr lang="en-US" altLang="zh-CN" b="0" dirty="0"/>
                  <a:t>        </a:t>
                </a:r>
                <a:r>
                  <a:rPr lang="en-US" altLang="zh-CN" b="0" dirty="0" err="1"/>
                  <a:t>ListLength</a:t>
                </a:r>
                <a:r>
                  <a:rPr lang="en-US" altLang="zh-CN" b="0" dirty="0"/>
                  <a:t>(List);</a:t>
                </a:r>
              </a:p>
              <a:p>
                <a:pPr marL="0" indent="0">
                  <a:lnSpc>
                    <a:spcPct val="100000"/>
                  </a:lnSpc>
                  <a:buNone/>
                </a:pPr>
                <a:r>
                  <a:rPr lang="en-US" altLang="zh-CN" b="0" dirty="0"/>
                  <a:t>        ……</a:t>
                </a:r>
              </a:p>
              <a:p>
                <a:pPr marL="0" indent="0">
                  <a:lnSpc>
                    <a:spcPct val="125000"/>
                  </a:lnSpc>
                  <a:buNone/>
                </a:pPr>
                <a:r>
                  <a:rPr lang="en-US" altLang="zh-CN" b="0" dirty="0"/>
                  <a:t>}</a:t>
                </a:r>
                <a:endParaRPr lang="zh-CN" altLang="en-US" b="0" dirty="0"/>
              </a:p>
            </p:txBody>
          </p:sp>
        </mc:Choice>
        <mc:Fallback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B94C5B90-CEE1-4FF4-B21E-0BC7FDA3E01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04800" y="1371600"/>
                <a:ext cx="11811000" cy="5181600"/>
              </a:xfrm>
              <a:blipFill>
                <a:blip r:embed="rId2"/>
                <a:stretch>
                  <a:fillRect l="-1290" t="-235" b="-341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98197697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50E21E1-5B9C-440E-B933-216A44F4A1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线性表的顺序存储定义（</a:t>
            </a:r>
            <a:r>
              <a:rPr lang="en-US" altLang="zh-CN" dirty="0"/>
              <a:t>1</a:t>
            </a:r>
            <a:r>
              <a:rPr lang="zh-CN" altLang="en-US" dirty="0"/>
              <a:t>）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E8B355D-5656-4E60-BA67-C38D358C7F9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4800" y="1371600"/>
            <a:ext cx="10363200" cy="5181600"/>
          </a:xfrm>
        </p:spPr>
        <p:txBody>
          <a:bodyPr/>
          <a:lstStyle/>
          <a:p>
            <a:pPr marL="0" indent="0">
              <a:lnSpc>
                <a:spcPct val="125000"/>
              </a:lnSpc>
              <a:buNone/>
            </a:pPr>
            <a:r>
              <a:rPr lang="en-US" altLang="zh-CN" b="0" dirty="0"/>
              <a:t>/* </a:t>
            </a:r>
            <a:r>
              <a:rPr lang="zh-CN" altLang="en-US" b="0" dirty="0"/>
              <a:t>使用栈空间或静态空间、顺序存储 *</a:t>
            </a:r>
            <a:r>
              <a:rPr lang="en-US" altLang="zh-CN" b="0" dirty="0"/>
              <a:t>/</a:t>
            </a:r>
          </a:p>
          <a:p>
            <a:pPr marL="0" indent="0">
              <a:lnSpc>
                <a:spcPct val="125000"/>
              </a:lnSpc>
              <a:buNone/>
            </a:pPr>
            <a:r>
              <a:rPr lang="en-US" altLang="zh-CN" b="0" dirty="0"/>
              <a:t>#define  LIST_MAX_SIZE  100</a:t>
            </a:r>
          </a:p>
          <a:p>
            <a:pPr marL="0" indent="0">
              <a:lnSpc>
                <a:spcPct val="125000"/>
              </a:lnSpc>
              <a:buNone/>
            </a:pPr>
            <a:r>
              <a:rPr lang="en-US" altLang="zh-CN" b="0" dirty="0"/>
              <a:t>typedef  struct {</a:t>
            </a:r>
          </a:p>
          <a:p>
            <a:pPr marL="0" indent="0">
              <a:lnSpc>
                <a:spcPct val="125000"/>
              </a:lnSpc>
              <a:buNone/>
            </a:pPr>
            <a:r>
              <a:rPr lang="en-US" altLang="zh-CN" b="0" dirty="0"/>
              <a:t>    </a:t>
            </a:r>
            <a:r>
              <a:rPr lang="en-US" altLang="zh-CN" b="0" dirty="0" err="1"/>
              <a:t>ListElem</a:t>
            </a:r>
            <a:r>
              <a:rPr lang="en-US" altLang="zh-CN" b="0" dirty="0"/>
              <a:t>  </a:t>
            </a:r>
            <a:r>
              <a:rPr lang="en-US" altLang="zh-CN" b="0" dirty="0" err="1"/>
              <a:t>elemArray</a:t>
            </a:r>
            <a:r>
              <a:rPr lang="en-US" altLang="zh-CN" b="0" dirty="0"/>
              <a:t>[LIST_MAX_SIZE];</a:t>
            </a:r>
          </a:p>
          <a:p>
            <a:pPr marL="0" indent="0">
              <a:lnSpc>
                <a:spcPct val="125000"/>
              </a:lnSpc>
              <a:buNone/>
            </a:pPr>
            <a:r>
              <a:rPr lang="zh-CN" altLang="en-US" b="0" dirty="0"/>
              <a:t>    </a:t>
            </a:r>
            <a:r>
              <a:rPr lang="en-US" altLang="zh-CN" b="0" dirty="0"/>
              <a:t>int last;  // </a:t>
            </a:r>
            <a:r>
              <a:rPr lang="zh-CN" altLang="en-US" b="0" dirty="0"/>
              <a:t>最后一个节点的位置，表空时置</a:t>
            </a:r>
            <a:r>
              <a:rPr lang="en-US" altLang="zh-CN" b="0" dirty="0"/>
              <a:t>-1</a:t>
            </a:r>
          </a:p>
          <a:p>
            <a:pPr marL="0" indent="0">
              <a:lnSpc>
                <a:spcPct val="125000"/>
              </a:lnSpc>
              <a:buNone/>
            </a:pPr>
            <a:r>
              <a:rPr lang="en-US" altLang="zh-CN" b="0" dirty="0"/>
              <a:t>} </a:t>
            </a:r>
            <a:r>
              <a:rPr lang="en-US" altLang="zh-CN" b="0" dirty="0" err="1"/>
              <a:t>SeqList</a:t>
            </a:r>
            <a:r>
              <a:rPr lang="en-US" altLang="zh-CN" b="0" dirty="0"/>
              <a:t>;</a:t>
            </a:r>
          </a:p>
          <a:p>
            <a:pPr marL="0" indent="0">
              <a:lnSpc>
                <a:spcPct val="125000"/>
              </a:lnSpc>
              <a:buNone/>
            </a:pPr>
            <a:r>
              <a:rPr lang="en-US" altLang="zh-CN" b="0" dirty="0"/>
              <a:t>/</a:t>
            </a:r>
            <a:r>
              <a:rPr lang="zh-CN" altLang="en-US" b="0" dirty="0"/>
              <a:t>* 这是教材上对顺序存储的线性表的定义 *</a:t>
            </a:r>
            <a:r>
              <a:rPr lang="en-US" altLang="zh-CN" b="0" dirty="0"/>
              <a:t>/</a:t>
            </a:r>
            <a:endParaRPr lang="zh-CN" altLang="en-US" b="0" dirty="0"/>
          </a:p>
        </p:txBody>
      </p:sp>
    </p:spTree>
    <p:extLst>
      <p:ext uri="{BB962C8B-B14F-4D97-AF65-F5344CB8AC3E}">
        <p14:creationId xmlns:p14="http://schemas.microsoft.com/office/powerpoint/2010/main" val="305001401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50E21E1-5B9C-440E-B933-216A44F4A1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线性表的顺序存储定义（</a:t>
            </a:r>
            <a:r>
              <a:rPr lang="en-US" altLang="zh-CN" dirty="0"/>
              <a:t>2</a:t>
            </a:r>
            <a:r>
              <a:rPr lang="zh-CN" altLang="en-US" dirty="0"/>
              <a:t>）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E8B355D-5656-4E60-BA67-C38D358C7F9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4800" y="1371600"/>
            <a:ext cx="10363200" cy="5181600"/>
          </a:xfrm>
        </p:spPr>
        <p:txBody>
          <a:bodyPr/>
          <a:lstStyle/>
          <a:p>
            <a:pPr marL="0" indent="0">
              <a:lnSpc>
                <a:spcPct val="125000"/>
              </a:lnSpc>
              <a:buNone/>
            </a:pPr>
            <a:r>
              <a:rPr lang="en-US" altLang="zh-CN" b="0" dirty="0"/>
              <a:t>/* </a:t>
            </a:r>
            <a:r>
              <a:rPr lang="zh-CN" altLang="en-US" b="0" dirty="0"/>
              <a:t>使用栈空间或静态空间、顺序存储 *</a:t>
            </a:r>
            <a:r>
              <a:rPr lang="en-US" altLang="zh-CN" b="0" dirty="0"/>
              <a:t>/</a:t>
            </a:r>
          </a:p>
          <a:p>
            <a:pPr marL="0" indent="0">
              <a:lnSpc>
                <a:spcPct val="125000"/>
              </a:lnSpc>
              <a:buNone/>
            </a:pPr>
            <a:r>
              <a:rPr lang="en-US" altLang="zh-CN" b="0" dirty="0"/>
              <a:t>#define  LIST_MAX_SIZE  100</a:t>
            </a:r>
          </a:p>
          <a:p>
            <a:pPr marL="0" indent="0">
              <a:lnSpc>
                <a:spcPct val="125000"/>
              </a:lnSpc>
              <a:buNone/>
            </a:pPr>
            <a:r>
              <a:rPr lang="en-US" altLang="zh-CN" b="0" dirty="0"/>
              <a:t>typedef  struct {</a:t>
            </a:r>
          </a:p>
          <a:p>
            <a:pPr marL="0" indent="0">
              <a:lnSpc>
                <a:spcPct val="125000"/>
              </a:lnSpc>
              <a:buNone/>
            </a:pPr>
            <a:r>
              <a:rPr lang="en-US" altLang="zh-CN" b="0" dirty="0"/>
              <a:t>    </a:t>
            </a:r>
            <a:r>
              <a:rPr lang="en-US" altLang="zh-CN" b="0" dirty="0" err="1"/>
              <a:t>ListElem</a:t>
            </a:r>
            <a:r>
              <a:rPr lang="en-US" altLang="zh-CN" b="0" dirty="0"/>
              <a:t>  </a:t>
            </a:r>
            <a:r>
              <a:rPr lang="en-US" altLang="zh-CN" b="0" dirty="0" err="1"/>
              <a:t>elemArray</a:t>
            </a:r>
            <a:r>
              <a:rPr lang="en-US" altLang="zh-CN" b="0" dirty="0"/>
              <a:t>[LIST_MAX_SIZE];</a:t>
            </a:r>
          </a:p>
          <a:p>
            <a:pPr marL="0" indent="0">
              <a:lnSpc>
                <a:spcPct val="125000"/>
              </a:lnSpc>
              <a:buNone/>
            </a:pPr>
            <a:r>
              <a:rPr lang="zh-CN" altLang="en-US" b="0" dirty="0"/>
              <a:t>    </a:t>
            </a:r>
            <a:r>
              <a:rPr lang="en-US" altLang="zh-CN" b="0" dirty="0"/>
              <a:t>int length;  // </a:t>
            </a:r>
            <a:r>
              <a:rPr lang="zh-CN" altLang="en-US" b="0" dirty="0"/>
              <a:t>线性表的长度</a:t>
            </a:r>
            <a:endParaRPr lang="en-US" altLang="zh-CN" b="0" dirty="0"/>
          </a:p>
          <a:p>
            <a:pPr marL="0" indent="0">
              <a:lnSpc>
                <a:spcPct val="125000"/>
              </a:lnSpc>
              <a:buNone/>
            </a:pPr>
            <a:r>
              <a:rPr lang="en-US" altLang="zh-CN" b="0" dirty="0"/>
              <a:t>} </a:t>
            </a:r>
            <a:r>
              <a:rPr lang="en-US" altLang="zh-CN" b="0" dirty="0" err="1"/>
              <a:t>SeqList</a:t>
            </a:r>
            <a:r>
              <a:rPr lang="en-US" altLang="zh-CN" b="0" dirty="0"/>
              <a:t>;</a:t>
            </a:r>
            <a:endParaRPr lang="zh-CN" altLang="en-US" b="0" dirty="0"/>
          </a:p>
        </p:txBody>
      </p:sp>
    </p:spTree>
    <p:extLst>
      <p:ext uri="{BB962C8B-B14F-4D97-AF65-F5344CB8AC3E}">
        <p14:creationId xmlns:p14="http://schemas.microsoft.com/office/powerpoint/2010/main" val="109477833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50E21E1-5B9C-440E-B933-216A44F4A1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线性表的顺序存储定义（</a:t>
            </a:r>
            <a:r>
              <a:rPr lang="en-US" altLang="zh-CN" dirty="0"/>
              <a:t>3</a:t>
            </a:r>
            <a:r>
              <a:rPr lang="zh-CN" altLang="en-US" dirty="0"/>
              <a:t>）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E8B355D-5656-4E60-BA67-C38D358C7F9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4800" y="1371600"/>
            <a:ext cx="10363200" cy="5181600"/>
          </a:xfrm>
        </p:spPr>
        <p:txBody>
          <a:bodyPr/>
          <a:lstStyle/>
          <a:p>
            <a:pPr marL="0" indent="0">
              <a:lnSpc>
                <a:spcPct val="125000"/>
              </a:lnSpc>
              <a:buNone/>
            </a:pPr>
            <a:r>
              <a:rPr lang="en-US" altLang="zh-CN" b="0" dirty="0"/>
              <a:t>/* </a:t>
            </a:r>
            <a:r>
              <a:rPr lang="zh-CN" altLang="en-US" b="0" dirty="0"/>
              <a:t>使用堆空间</a:t>
            </a:r>
            <a:r>
              <a:rPr lang="en-US" altLang="zh-CN" b="0" dirty="0"/>
              <a:t>(</a:t>
            </a:r>
            <a:r>
              <a:rPr lang="zh-CN" altLang="en-US" b="0" dirty="0"/>
              <a:t>动态空间</a:t>
            </a:r>
            <a:r>
              <a:rPr lang="en-US" altLang="zh-CN" b="0" dirty="0"/>
              <a:t>)</a:t>
            </a:r>
            <a:r>
              <a:rPr lang="zh-CN" altLang="en-US" b="0" dirty="0"/>
              <a:t>、顺序存储 *</a:t>
            </a:r>
            <a:r>
              <a:rPr lang="en-US" altLang="zh-CN" b="0" dirty="0"/>
              <a:t>/</a:t>
            </a:r>
          </a:p>
          <a:p>
            <a:pPr marL="0" indent="0">
              <a:lnSpc>
                <a:spcPct val="125000"/>
              </a:lnSpc>
              <a:buNone/>
            </a:pPr>
            <a:r>
              <a:rPr lang="en-US" altLang="zh-CN" b="0" dirty="0"/>
              <a:t>#define  LIST_MAX_SIZE  100</a:t>
            </a:r>
          </a:p>
          <a:p>
            <a:pPr marL="0" indent="0">
              <a:lnSpc>
                <a:spcPct val="125000"/>
              </a:lnSpc>
              <a:buNone/>
            </a:pPr>
            <a:r>
              <a:rPr lang="en-US" altLang="zh-CN" b="0" dirty="0"/>
              <a:t>typedef  struct {</a:t>
            </a:r>
          </a:p>
          <a:p>
            <a:pPr marL="0" indent="0">
              <a:lnSpc>
                <a:spcPct val="125000"/>
              </a:lnSpc>
              <a:buNone/>
            </a:pPr>
            <a:r>
              <a:rPr lang="en-US" altLang="zh-CN" b="0" dirty="0"/>
              <a:t>    </a:t>
            </a:r>
            <a:r>
              <a:rPr lang="en-US" altLang="zh-CN" b="0" dirty="0" err="1"/>
              <a:t>ListElem</a:t>
            </a:r>
            <a:r>
              <a:rPr lang="en-US" altLang="zh-CN" b="0" dirty="0"/>
              <a:t>*  </a:t>
            </a:r>
            <a:r>
              <a:rPr lang="en-US" altLang="zh-CN" b="0" dirty="0" err="1"/>
              <a:t>elemArray</a:t>
            </a:r>
            <a:r>
              <a:rPr lang="en-US" altLang="zh-CN" b="0" dirty="0"/>
              <a:t>;</a:t>
            </a:r>
          </a:p>
          <a:p>
            <a:pPr marL="0" indent="0">
              <a:lnSpc>
                <a:spcPct val="125000"/>
              </a:lnSpc>
              <a:buNone/>
            </a:pPr>
            <a:r>
              <a:rPr lang="zh-CN" altLang="en-US" b="0" dirty="0"/>
              <a:t>    </a:t>
            </a:r>
            <a:r>
              <a:rPr lang="en-US" altLang="zh-CN" b="0" dirty="0"/>
              <a:t>int length;  // </a:t>
            </a:r>
            <a:r>
              <a:rPr lang="zh-CN" altLang="en-US" b="0" dirty="0"/>
              <a:t>线性表的长度</a:t>
            </a:r>
            <a:endParaRPr lang="en-US" altLang="zh-CN" b="0" dirty="0"/>
          </a:p>
          <a:p>
            <a:pPr marL="0" indent="0">
              <a:lnSpc>
                <a:spcPct val="125000"/>
              </a:lnSpc>
              <a:buNone/>
            </a:pPr>
            <a:r>
              <a:rPr lang="en-US" altLang="zh-CN" b="0" dirty="0"/>
              <a:t>} </a:t>
            </a:r>
            <a:r>
              <a:rPr lang="en-US" altLang="zh-CN" b="0" dirty="0" err="1"/>
              <a:t>SeqList</a:t>
            </a:r>
            <a:r>
              <a:rPr lang="en-US" altLang="zh-CN" b="0" dirty="0"/>
              <a:t>;</a:t>
            </a:r>
            <a:endParaRPr lang="zh-CN" altLang="en-US" b="0" dirty="0"/>
          </a:p>
        </p:txBody>
      </p:sp>
    </p:spTree>
    <p:extLst>
      <p:ext uri="{BB962C8B-B14F-4D97-AF65-F5344CB8AC3E}">
        <p14:creationId xmlns:p14="http://schemas.microsoft.com/office/powerpoint/2010/main" val="227941658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50E21E1-5B9C-440E-B933-216A44F4A1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线性表的顺序存储定义（</a:t>
            </a:r>
            <a:r>
              <a:rPr lang="en-US" altLang="zh-CN" dirty="0"/>
              <a:t>4</a:t>
            </a:r>
            <a:r>
              <a:rPr lang="zh-CN" altLang="en-US" dirty="0"/>
              <a:t>）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E8B355D-5656-4E60-BA67-C38D358C7F9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4800" y="1371600"/>
            <a:ext cx="10363200" cy="5181600"/>
          </a:xfrm>
        </p:spPr>
        <p:txBody>
          <a:bodyPr/>
          <a:lstStyle/>
          <a:p>
            <a:pPr marL="0" indent="0">
              <a:lnSpc>
                <a:spcPct val="125000"/>
              </a:lnSpc>
              <a:buNone/>
            </a:pPr>
            <a:r>
              <a:rPr lang="en-US" altLang="zh-CN" b="0" dirty="0"/>
              <a:t>/* </a:t>
            </a:r>
            <a:r>
              <a:rPr lang="zh-CN" altLang="en-US" b="0" dirty="0"/>
              <a:t>使用堆空间、顺序存储 *</a:t>
            </a:r>
            <a:r>
              <a:rPr lang="en-US" altLang="zh-CN" b="0" dirty="0"/>
              <a:t>/</a:t>
            </a:r>
          </a:p>
          <a:p>
            <a:pPr marL="0" indent="0">
              <a:lnSpc>
                <a:spcPct val="125000"/>
              </a:lnSpc>
              <a:buNone/>
            </a:pPr>
            <a:r>
              <a:rPr lang="en-US" altLang="zh-CN" b="0" dirty="0"/>
              <a:t>#define  LIST_INIT_SIZE  100</a:t>
            </a:r>
          </a:p>
          <a:p>
            <a:pPr marL="0" indent="0">
              <a:lnSpc>
                <a:spcPct val="125000"/>
              </a:lnSpc>
              <a:buNone/>
            </a:pPr>
            <a:r>
              <a:rPr lang="en-US" altLang="zh-CN" b="0" dirty="0"/>
              <a:t>#define  LIST_INCREMENT  10</a:t>
            </a:r>
          </a:p>
          <a:p>
            <a:pPr marL="0" indent="0">
              <a:lnSpc>
                <a:spcPct val="125000"/>
              </a:lnSpc>
              <a:buNone/>
            </a:pPr>
            <a:r>
              <a:rPr lang="en-US" altLang="zh-CN" b="0" dirty="0"/>
              <a:t>typedef  struct {</a:t>
            </a:r>
          </a:p>
          <a:p>
            <a:pPr marL="0" indent="0">
              <a:lnSpc>
                <a:spcPct val="125000"/>
              </a:lnSpc>
              <a:buNone/>
            </a:pPr>
            <a:r>
              <a:rPr lang="en-US" altLang="zh-CN" b="0" dirty="0"/>
              <a:t>    </a:t>
            </a:r>
            <a:r>
              <a:rPr lang="en-US" altLang="zh-CN" b="0" dirty="0" err="1"/>
              <a:t>ListElem</a:t>
            </a:r>
            <a:r>
              <a:rPr lang="en-US" altLang="zh-CN" b="0" dirty="0"/>
              <a:t>*  </a:t>
            </a:r>
            <a:r>
              <a:rPr lang="en-US" altLang="zh-CN" b="0" dirty="0" err="1"/>
              <a:t>elemArray</a:t>
            </a:r>
            <a:r>
              <a:rPr lang="en-US" altLang="zh-CN" b="0" dirty="0"/>
              <a:t>;</a:t>
            </a:r>
          </a:p>
          <a:p>
            <a:pPr marL="0" indent="0">
              <a:lnSpc>
                <a:spcPct val="125000"/>
              </a:lnSpc>
              <a:buNone/>
            </a:pPr>
            <a:r>
              <a:rPr lang="zh-CN" altLang="en-US" b="0" dirty="0"/>
              <a:t>    </a:t>
            </a:r>
            <a:r>
              <a:rPr lang="en-US" altLang="zh-CN" b="0" dirty="0"/>
              <a:t>int length;  // </a:t>
            </a:r>
            <a:r>
              <a:rPr lang="zh-CN" altLang="en-US" b="0" dirty="0"/>
              <a:t>线性表的长度</a:t>
            </a:r>
            <a:endParaRPr lang="en-US" altLang="zh-CN" b="0" dirty="0"/>
          </a:p>
          <a:p>
            <a:pPr marL="0" indent="0">
              <a:lnSpc>
                <a:spcPct val="125000"/>
              </a:lnSpc>
              <a:buNone/>
            </a:pPr>
            <a:r>
              <a:rPr lang="en-US" altLang="zh-CN" b="0" dirty="0"/>
              <a:t>    int size;  // </a:t>
            </a:r>
            <a:r>
              <a:rPr lang="zh-CN" altLang="en-US" b="0" dirty="0"/>
              <a:t>线性表的容量</a:t>
            </a:r>
            <a:endParaRPr lang="en-US" altLang="zh-CN" b="0" dirty="0"/>
          </a:p>
          <a:p>
            <a:pPr marL="0" indent="0">
              <a:lnSpc>
                <a:spcPct val="125000"/>
              </a:lnSpc>
              <a:buNone/>
            </a:pPr>
            <a:r>
              <a:rPr lang="en-US" altLang="zh-CN" b="0" dirty="0"/>
              <a:t>} </a:t>
            </a:r>
            <a:r>
              <a:rPr lang="en-US" altLang="zh-CN" b="0" dirty="0" err="1"/>
              <a:t>SeqList</a:t>
            </a:r>
            <a:r>
              <a:rPr lang="en-US" altLang="zh-CN" b="0" dirty="0"/>
              <a:t>;</a:t>
            </a:r>
            <a:endParaRPr lang="zh-CN" altLang="en-US" b="0" dirty="0"/>
          </a:p>
        </p:txBody>
      </p:sp>
    </p:spTree>
    <p:extLst>
      <p:ext uri="{BB962C8B-B14F-4D97-AF65-F5344CB8AC3E}">
        <p14:creationId xmlns:p14="http://schemas.microsoft.com/office/powerpoint/2010/main" val="260565284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50E21E1-5B9C-440E-B933-216A44F4A1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线性表的顺序存储定义（</a:t>
            </a:r>
            <a:r>
              <a:rPr lang="en-US" altLang="zh-CN" dirty="0"/>
              <a:t>5</a:t>
            </a:r>
            <a:r>
              <a:rPr lang="zh-CN" altLang="en-US" dirty="0"/>
              <a:t>）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E8B355D-5656-4E60-BA67-C38D358C7F9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4800" y="1295400"/>
            <a:ext cx="10363200" cy="5181600"/>
          </a:xfrm>
        </p:spPr>
        <p:txBody>
          <a:bodyPr/>
          <a:lstStyle/>
          <a:p>
            <a:pPr marL="0" indent="0">
              <a:lnSpc>
                <a:spcPct val="120000"/>
              </a:lnSpc>
              <a:buNone/>
            </a:pPr>
            <a:r>
              <a:rPr lang="en-US" altLang="zh-CN" b="0" dirty="0"/>
              <a:t>/* </a:t>
            </a:r>
            <a:r>
              <a:rPr lang="zh-CN" altLang="en-US" b="0" dirty="0"/>
              <a:t>使用堆空间、顺序</a:t>
            </a:r>
            <a:r>
              <a:rPr lang="zh-CN" altLang="en-US" b="0"/>
              <a:t>存储、泛型*</a:t>
            </a:r>
            <a:r>
              <a:rPr lang="en-US" altLang="zh-CN" b="0" dirty="0"/>
              <a:t>/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altLang="zh-CN" b="0" dirty="0"/>
              <a:t>#define  LIST_INIT_SIZE  100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altLang="zh-CN" b="0" dirty="0"/>
              <a:t>#define  LIST_INCREMENT  10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altLang="zh-CN" b="0" dirty="0"/>
              <a:t>typedef  struct {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altLang="zh-CN" b="0" dirty="0"/>
              <a:t>    void* </a:t>
            </a:r>
            <a:r>
              <a:rPr lang="en-US" altLang="zh-CN" b="0" dirty="0" err="1"/>
              <a:t>elemArray</a:t>
            </a:r>
            <a:r>
              <a:rPr lang="en-US" altLang="zh-CN" b="0" dirty="0"/>
              <a:t>;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altLang="zh-CN" b="0" dirty="0"/>
              <a:t>    int </a:t>
            </a:r>
            <a:r>
              <a:rPr lang="en-US" altLang="zh-CN" b="0" dirty="0" err="1"/>
              <a:t>elemSize</a:t>
            </a:r>
            <a:r>
              <a:rPr lang="en-US" altLang="zh-CN" b="0" dirty="0"/>
              <a:t>;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zh-CN" altLang="en-US" b="0" dirty="0"/>
              <a:t>    </a:t>
            </a:r>
            <a:r>
              <a:rPr lang="en-US" altLang="zh-CN" b="0" dirty="0"/>
              <a:t>int length;  // </a:t>
            </a:r>
            <a:r>
              <a:rPr lang="zh-CN" altLang="en-US" b="0" dirty="0"/>
              <a:t>线性表的长度</a:t>
            </a:r>
            <a:endParaRPr lang="en-US" altLang="zh-CN" b="0" dirty="0"/>
          </a:p>
          <a:p>
            <a:pPr marL="0" indent="0">
              <a:lnSpc>
                <a:spcPct val="120000"/>
              </a:lnSpc>
              <a:buNone/>
            </a:pPr>
            <a:r>
              <a:rPr lang="en-US" altLang="zh-CN" b="0" dirty="0"/>
              <a:t>    int size;  // </a:t>
            </a:r>
            <a:r>
              <a:rPr lang="zh-CN" altLang="en-US" b="0" dirty="0"/>
              <a:t>线性表的容量</a:t>
            </a:r>
            <a:endParaRPr lang="en-US" altLang="zh-CN" b="0" dirty="0"/>
          </a:p>
          <a:p>
            <a:pPr marL="0" indent="0">
              <a:lnSpc>
                <a:spcPct val="120000"/>
              </a:lnSpc>
              <a:buNone/>
            </a:pPr>
            <a:r>
              <a:rPr lang="en-US" altLang="zh-CN" b="0" dirty="0"/>
              <a:t>} </a:t>
            </a:r>
            <a:r>
              <a:rPr lang="en-US" altLang="zh-CN" b="0" dirty="0" err="1"/>
              <a:t>SeqList</a:t>
            </a:r>
            <a:r>
              <a:rPr lang="en-US" altLang="zh-CN" b="0" dirty="0"/>
              <a:t>;</a:t>
            </a:r>
            <a:endParaRPr lang="zh-CN" altLang="en-US" b="0" dirty="0"/>
          </a:p>
        </p:txBody>
      </p:sp>
    </p:spTree>
    <p:extLst>
      <p:ext uri="{BB962C8B-B14F-4D97-AF65-F5344CB8AC3E}">
        <p14:creationId xmlns:p14="http://schemas.microsoft.com/office/powerpoint/2010/main" val="222634675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50E21E1-5B9C-440E-B933-216A44F4A1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线性表的顺序存储的实现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E5ABCE23-F1EE-4D06-9CC1-E3251488365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采用下面的定义</a:t>
            </a:r>
            <a:endParaRPr lang="en-US" altLang="zh-CN" dirty="0"/>
          </a:p>
          <a:p>
            <a:pPr marL="457200" lvl="1" indent="0">
              <a:lnSpc>
                <a:spcPct val="120000"/>
              </a:lnSpc>
              <a:buNone/>
            </a:pPr>
            <a:r>
              <a:rPr lang="en-US" altLang="zh-CN" dirty="0"/>
              <a:t>#define LIST_MAX_SIZE  100</a:t>
            </a:r>
          </a:p>
          <a:p>
            <a:pPr marL="457200" lvl="1" indent="0">
              <a:lnSpc>
                <a:spcPct val="120000"/>
              </a:lnSpc>
              <a:buNone/>
            </a:pPr>
            <a:r>
              <a:rPr lang="en-US" altLang="zh-CN" dirty="0"/>
              <a:t>typedef struct {</a:t>
            </a:r>
          </a:p>
          <a:p>
            <a:pPr marL="457200" lvl="1" indent="0">
              <a:lnSpc>
                <a:spcPct val="120000"/>
              </a:lnSpc>
              <a:buNone/>
            </a:pPr>
            <a:r>
              <a:rPr lang="en-US" altLang="zh-CN" dirty="0"/>
              <a:t>    </a:t>
            </a:r>
            <a:r>
              <a:rPr lang="en-US" altLang="zh-CN" dirty="0" err="1"/>
              <a:t>ListElem</a:t>
            </a:r>
            <a:r>
              <a:rPr lang="en-US" altLang="zh-CN" dirty="0"/>
              <a:t>* </a:t>
            </a:r>
            <a:r>
              <a:rPr lang="en-US" altLang="zh-CN" dirty="0" err="1"/>
              <a:t>pElemArray</a:t>
            </a:r>
            <a:r>
              <a:rPr lang="en-US" altLang="zh-CN" dirty="0"/>
              <a:t>;</a:t>
            </a:r>
          </a:p>
          <a:p>
            <a:pPr marL="457200" lvl="1" indent="0">
              <a:lnSpc>
                <a:spcPct val="120000"/>
              </a:lnSpc>
              <a:buNone/>
            </a:pPr>
            <a:r>
              <a:rPr lang="en-US" altLang="zh-CN" dirty="0"/>
              <a:t>    int length;</a:t>
            </a:r>
          </a:p>
          <a:p>
            <a:pPr marL="457200" lvl="1" indent="0">
              <a:lnSpc>
                <a:spcPct val="120000"/>
              </a:lnSpc>
              <a:buNone/>
            </a:pPr>
            <a:r>
              <a:rPr lang="en-US" altLang="zh-CN" dirty="0"/>
              <a:t>    int size;</a:t>
            </a:r>
          </a:p>
          <a:p>
            <a:pPr marL="457200" lvl="1" indent="0">
              <a:lnSpc>
                <a:spcPct val="120000"/>
              </a:lnSpc>
              <a:buNone/>
            </a:pPr>
            <a:r>
              <a:rPr lang="en-US" altLang="zh-CN" dirty="0"/>
              <a:t>} </a:t>
            </a:r>
            <a:r>
              <a:rPr lang="en-US" altLang="zh-CN" dirty="0" err="1"/>
              <a:t>SeqList</a:t>
            </a:r>
            <a:r>
              <a:rPr lang="en-US" altLang="zh-CN" dirty="0"/>
              <a:t>;</a:t>
            </a:r>
          </a:p>
          <a:p>
            <a:r>
              <a:rPr lang="zh-CN" altLang="en-US" dirty="0"/>
              <a:t>实现一系列操作：</a:t>
            </a:r>
            <a:r>
              <a:rPr lang="zh-CN" altLang="en-US" b="0" dirty="0"/>
              <a:t>初始化、插入、删除、查找、合并等。</a:t>
            </a:r>
          </a:p>
        </p:txBody>
      </p:sp>
    </p:spTree>
    <p:extLst>
      <p:ext uri="{BB962C8B-B14F-4D97-AF65-F5344CB8AC3E}">
        <p14:creationId xmlns:p14="http://schemas.microsoft.com/office/powerpoint/2010/main" val="408212438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D553DE0-8A6B-4729-B343-F6E24387B7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顺序表的初始化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E346D31-D45D-4516-B608-17B7F38C5AC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lnSpc>
                <a:spcPct val="100000"/>
              </a:lnSpc>
              <a:buNone/>
            </a:pPr>
            <a:r>
              <a:rPr lang="en-US" altLang="zh-CN" b="0" dirty="0"/>
              <a:t>Status </a:t>
            </a:r>
            <a:r>
              <a:rPr lang="en-US" altLang="zh-CN" b="0" dirty="0" err="1"/>
              <a:t>InitSeqList</a:t>
            </a:r>
            <a:r>
              <a:rPr lang="en-US" altLang="zh-CN" b="0" dirty="0"/>
              <a:t>(</a:t>
            </a:r>
            <a:r>
              <a:rPr lang="en-US" altLang="zh-CN" b="0" dirty="0" err="1"/>
              <a:t>SeqList</a:t>
            </a:r>
            <a:r>
              <a:rPr lang="en-US" altLang="zh-CN" b="0" dirty="0"/>
              <a:t>* </a:t>
            </a:r>
            <a:r>
              <a:rPr lang="en-US" altLang="zh-CN" b="0" dirty="0" err="1"/>
              <a:t>pList</a:t>
            </a:r>
            <a:r>
              <a:rPr lang="en-US" altLang="zh-CN" b="0" dirty="0"/>
              <a:t>){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b="0" dirty="0"/>
              <a:t>    </a:t>
            </a:r>
            <a:r>
              <a:rPr lang="en-US" altLang="zh-CN" b="0" dirty="0" err="1"/>
              <a:t>pList</a:t>
            </a:r>
            <a:r>
              <a:rPr lang="en-US" altLang="zh-CN" b="0" dirty="0"/>
              <a:t>-&gt;</a:t>
            </a:r>
            <a:r>
              <a:rPr lang="en-US" altLang="zh-CN" b="0" dirty="0" err="1"/>
              <a:t>pElemArray</a:t>
            </a:r>
            <a:r>
              <a:rPr lang="en-US" altLang="zh-CN" b="0" dirty="0"/>
              <a:t>=(</a:t>
            </a:r>
            <a:r>
              <a:rPr lang="en-US" altLang="zh-CN" b="0" dirty="0" err="1"/>
              <a:t>ListElem</a:t>
            </a:r>
            <a:r>
              <a:rPr lang="en-US" altLang="zh-CN" b="0" dirty="0"/>
              <a:t>*)malloc(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b="0" dirty="0"/>
              <a:t>                                    LIST_MAX_SIZE*</a:t>
            </a:r>
            <a:r>
              <a:rPr lang="en-US" altLang="zh-CN" b="0" dirty="0" err="1"/>
              <a:t>sizeof</a:t>
            </a:r>
            <a:r>
              <a:rPr lang="en-US" altLang="zh-CN" b="0" dirty="0"/>
              <a:t>(</a:t>
            </a:r>
            <a:r>
              <a:rPr lang="en-US" altLang="zh-CN" b="0" dirty="0" err="1"/>
              <a:t>ListElem</a:t>
            </a:r>
            <a:r>
              <a:rPr lang="en-US" altLang="zh-CN" b="0" dirty="0"/>
              <a:t>));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b="0" dirty="0"/>
              <a:t>    if(</a:t>
            </a:r>
            <a:r>
              <a:rPr lang="en-US" altLang="zh-CN" b="0" dirty="0" err="1"/>
              <a:t>pList</a:t>
            </a:r>
            <a:r>
              <a:rPr lang="en-US" altLang="zh-CN" b="0" dirty="0"/>
              <a:t>-&gt;</a:t>
            </a:r>
            <a:r>
              <a:rPr lang="en-US" altLang="zh-CN" b="0" dirty="0" err="1"/>
              <a:t>pElemArray</a:t>
            </a:r>
            <a:r>
              <a:rPr lang="en-US" altLang="zh-CN" b="0" dirty="0"/>
              <a:t>==</a:t>
            </a:r>
            <a:r>
              <a:rPr lang="en-US" altLang="zh-CN" b="0" dirty="0" err="1"/>
              <a:t>nullptr</a:t>
            </a:r>
            <a:r>
              <a:rPr lang="en-US" altLang="zh-CN" b="0" dirty="0"/>
              <a:t>){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b="0" dirty="0"/>
              <a:t>        return ERROR;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b="0" dirty="0"/>
              <a:t>    } 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b="0" dirty="0"/>
              <a:t>    </a:t>
            </a:r>
            <a:r>
              <a:rPr lang="en-US" altLang="zh-CN" b="0" dirty="0" err="1"/>
              <a:t>pList</a:t>
            </a:r>
            <a:r>
              <a:rPr lang="en-US" altLang="zh-CN" b="0" dirty="0"/>
              <a:t>-&gt;length=0;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b="0" dirty="0"/>
              <a:t>    </a:t>
            </a:r>
            <a:r>
              <a:rPr lang="en-US" altLang="zh-CN" b="0" dirty="0" err="1"/>
              <a:t>pList</a:t>
            </a:r>
            <a:r>
              <a:rPr lang="en-US" altLang="zh-CN" b="0" dirty="0"/>
              <a:t>-&gt;size=LIST_MAX_SIZE;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b="0" dirty="0"/>
              <a:t>    return OK;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b="0" dirty="0"/>
              <a:t>}</a:t>
            </a:r>
            <a:endParaRPr lang="zh-CN" altLang="en-US" b="0" dirty="0"/>
          </a:p>
        </p:txBody>
      </p:sp>
    </p:spTree>
    <p:extLst>
      <p:ext uri="{BB962C8B-B14F-4D97-AF65-F5344CB8AC3E}">
        <p14:creationId xmlns:p14="http://schemas.microsoft.com/office/powerpoint/2010/main" val="127429404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D553DE0-8A6B-4729-B343-F6E24387B7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初始化函数的调用及其执行结果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E346D31-D45D-4516-B608-17B7F38C5AC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lnSpc>
                <a:spcPct val="120000"/>
              </a:lnSpc>
              <a:buNone/>
            </a:pPr>
            <a:r>
              <a:rPr lang="en-US" altLang="zh-CN" b="0" dirty="0" err="1"/>
              <a:t>SeqList</a:t>
            </a:r>
            <a:r>
              <a:rPr lang="en-US" altLang="zh-CN" b="0" dirty="0"/>
              <a:t> </a:t>
            </a:r>
            <a:r>
              <a:rPr lang="en-US" altLang="zh-CN" b="0" dirty="0" err="1"/>
              <a:t>seqList</a:t>
            </a:r>
            <a:r>
              <a:rPr lang="en-US" altLang="zh-CN" b="0" dirty="0"/>
              <a:t>;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altLang="zh-CN" b="0" dirty="0"/>
              <a:t>if(</a:t>
            </a:r>
            <a:r>
              <a:rPr lang="en-US" altLang="zh-CN" b="0" dirty="0" err="1"/>
              <a:t>InitSeqList</a:t>
            </a:r>
            <a:r>
              <a:rPr lang="en-US" altLang="zh-CN" b="0" dirty="0"/>
              <a:t>(&amp;</a:t>
            </a:r>
            <a:r>
              <a:rPr lang="en-US" altLang="zh-CN" b="0" dirty="0" err="1"/>
              <a:t>seqList</a:t>
            </a:r>
            <a:r>
              <a:rPr lang="en-US" altLang="zh-CN" b="0" dirty="0"/>
              <a:t>)==ERROR){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altLang="zh-CN" b="0" dirty="0"/>
              <a:t>    return ERROR;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altLang="zh-CN" b="0" dirty="0"/>
              <a:t>}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zh-CN" altLang="en-US" b="0" dirty="0"/>
              <a:t>如果成功，其结果为：</a:t>
            </a:r>
            <a:endParaRPr lang="en-US" altLang="zh-CN" b="0" dirty="0"/>
          </a:p>
          <a:p>
            <a:pPr marL="0" indent="0">
              <a:lnSpc>
                <a:spcPct val="120000"/>
              </a:lnSpc>
              <a:buNone/>
            </a:pPr>
            <a:r>
              <a:rPr lang="en-US" altLang="zh-CN" b="0" dirty="0" err="1"/>
              <a:t>seqList.pElemArray</a:t>
            </a:r>
            <a:r>
              <a:rPr lang="en-US" altLang="zh-CN" b="0" dirty="0"/>
              <a:t> → 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altLang="zh-CN" b="0" dirty="0" err="1"/>
              <a:t>seqList.length</a:t>
            </a:r>
            <a:r>
              <a:rPr lang="en-US" altLang="zh-CN" b="0" dirty="0"/>
              <a:t>=0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altLang="zh-CN" b="0" dirty="0" err="1"/>
              <a:t>seqList.size</a:t>
            </a:r>
            <a:r>
              <a:rPr lang="en-US" altLang="zh-CN" b="0" dirty="0"/>
              <a:t>=</a:t>
            </a:r>
            <a:r>
              <a:rPr lang="zh-CN" altLang="en-US" b="0" dirty="0"/>
              <a:t>动态内存的容量（以</a:t>
            </a:r>
            <a:r>
              <a:rPr lang="en-US" altLang="zh-CN" b="0" dirty="0" err="1"/>
              <a:t>sizeof</a:t>
            </a:r>
            <a:r>
              <a:rPr lang="en-US" altLang="zh-CN" b="0" dirty="0"/>
              <a:t>(</a:t>
            </a:r>
            <a:r>
              <a:rPr lang="en-US" altLang="zh-CN" b="0" dirty="0" err="1"/>
              <a:t>ElemType</a:t>
            </a:r>
            <a:r>
              <a:rPr lang="en-US" altLang="zh-CN" b="0" dirty="0"/>
              <a:t>)</a:t>
            </a:r>
            <a:r>
              <a:rPr lang="zh-CN" altLang="en-US" b="0" dirty="0"/>
              <a:t>为单位）</a:t>
            </a:r>
          </a:p>
        </p:txBody>
      </p:sp>
      <p:graphicFrame>
        <p:nvGraphicFramePr>
          <p:cNvPr id="4" name="表格 4">
            <a:extLst>
              <a:ext uri="{FF2B5EF4-FFF2-40B4-BE49-F238E27FC236}">
                <a16:creationId xmlns:a16="http://schemas.microsoft.com/office/drawing/2014/main" id="{9DBFDDB2-0632-45A5-B808-F4B21C44D1F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85869762"/>
              </p:ext>
            </p:extLst>
          </p:nvPr>
        </p:nvGraphicFramePr>
        <p:xfrm>
          <a:off x="4800600" y="4419600"/>
          <a:ext cx="661875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618750">
                  <a:extLst>
                    <a:ext uri="{9D8B030D-6E8A-4147-A177-3AD203B41FA5}">
                      <a16:colId xmlns:a16="http://schemas.microsoft.com/office/drawing/2014/main" val="311086689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37616956"/>
                  </a:ext>
                </a:extLst>
              </a:tr>
            </a:tbl>
          </a:graphicData>
        </a:graphic>
      </p:graphicFrame>
      <p:sp>
        <p:nvSpPr>
          <p:cNvPr id="7" name="文本框 6">
            <a:extLst>
              <a:ext uri="{FF2B5EF4-FFF2-40B4-BE49-F238E27FC236}">
                <a16:creationId xmlns:a16="http://schemas.microsoft.com/office/drawing/2014/main" id="{243ED116-E9C3-4E7C-97C8-24428A943681}"/>
              </a:ext>
            </a:extLst>
          </p:cNvPr>
          <p:cNvSpPr txBox="1"/>
          <p:nvPr/>
        </p:nvSpPr>
        <p:spPr>
          <a:xfrm>
            <a:off x="6781800" y="3810000"/>
            <a:ext cx="301751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动态内存空间</a:t>
            </a:r>
          </a:p>
        </p:txBody>
      </p:sp>
    </p:spTree>
    <p:extLst>
      <p:ext uri="{BB962C8B-B14F-4D97-AF65-F5344CB8AC3E}">
        <p14:creationId xmlns:p14="http://schemas.microsoft.com/office/powerpoint/2010/main" val="110819530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D553DE0-8A6B-4729-B343-F6E24387B7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顺序表的释放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E346D31-D45D-4516-B608-17B7F38C5AC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lnSpc>
                <a:spcPct val="100000"/>
              </a:lnSpc>
              <a:buNone/>
            </a:pPr>
            <a:r>
              <a:rPr lang="en-US" altLang="zh-CN" b="0" dirty="0"/>
              <a:t>Status </a:t>
            </a:r>
            <a:r>
              <a:rPr lang="en-US" altLang="zh-CN" b="0" dirty="0" err="1"/>
              <a:t>FreeSeqList</a:t>
            </a:r>
            <a:r>
              <a:rPr lang="en-US" altLang="zh-CN" b="0" dirty="0"/>
              <a:t>(</a:t>
            </a:r>
            <a:r>
              <a:rPr lang="en-US" altLang="zh-CN" b="0" dirty="0" err="1"/>
              <a:t>SeqList</a:t>
            </a:r>
            <a:r>
              <a:rPr lang="en-US" altLang="zh-CN" b="0" dirty="0"/>
              <a:t>* </a:t>
            </a:r>
            <a:r>
              <a:rPr lang="en-US" altLang="zh-CN" b="0" dirty="0" err="1"/>
              <a:t>pList</a:t>
            </a:r>
            <a:r>
              <a:rPr lang="en-US" altLang="zh-CN" b="0" dirty="0"/>
              <a:t>){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b="0" dirty="0"/>
              <a:t>    free(</a:t>
            </a:r>
            <a:r>
              <a:rPr lang="en-US" altLang="zh-CN" b="0" dirty="0" err="1"/>
              <a:t>pList</a:t>
            </a:r>
            <a:r>
              <a:rPr lang="en-US" altLang="zh-CN" b="0" dirty="0"/>
              <a:t>-&gt;</a:t>
            </a:r>
            <a:r>
              <a:rPr lang="en-US" altLang="zh-CN" b="0" dirty="0" err="1"/>
              <a:t>pElemArray</a:t>
            </a:r>
            <a:r>
              <a:rPr lang="en-US" altLang="zh-CN" b="0" dirty="0"/>
              <a:t>);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b="0" dirty="0"/>
              <a:t>    </a:t>
            </a:r>
            <a:r>
              <a:rPr lang="en-US" altLang="zh-CN" b="0" dirty="0" err="1"/>
              <a:t>pList</a:t>
            </a:r>
            <a:r>
              <a:rPr lang="en-US" altLang="zh-CN" b="0" dirty="0"/>
              <a:t>-&gt;</a:t>
            </a:r>
            <a:r>
              <a:rPr lang="en-US" altLang="zh-CN" b="0" dirty="0" err="1"/>
              <a:t>pElemArray</a:t>
            </a:r>
            <a:r>
              <a:rPr lang="en-US" altLang="zh-CN" b="0" dirty="0"/>
              <a:t>=</a:t>
            </a:r>
            <a:r>
              <a:rPr lang="en-US" altLang="zh-CN" b="0" dirty="0" err="1"/>
              <a:t>nullptr</a:t>
            </a:r>
            <a:r>
              <a:rPr lang="en-US" altLang="zh-CN" b="0" dirty="0"/>
              <a:t>;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b="0" dirty="0"/>
              <a:t>    </a:t>
            </a:r>
            <a:r>
              <a:rPr lang="en-US" altLang="zh-CN" b="0" dirty="0" err="1"/>
              <a:t>pList</a:t>
            </a:r>
            <a:r>
              <a:rPr lang="en-US" altLang="zh-CN" b="0" dirty="0"/>
              <a:t>-&gt;length=0;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b="0" dirty="0"/>
              <a:t>    </a:t>
            </a:r>
            <a:r>
              <a:rPr lang="en-US" altLang="zh-CN" b="0" dirty="0" err="1"/>
              <a:t>pList</a:t>
            </a:r>
            <a:r>
              <a:rPr lang="en-US" altLang="zh-CN" b="0" dirty="0"/>
              <a:t>-&gt;size=0;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b="0" dirty="0"/>
              <a:t>    return OK;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b="0" dirty="0"/>
              <a:t>}</a:t>
            </a:r>
            <a:endParaRPr lang="zh-CN" altLang="en-US" b="0" dirty="0"/>
          </a:p>
        </p:txBody>
      </p:sp>
    </p:spTree>
    <p:extLst>
      <p:ext uri="{BB962C8B-B14F-4D97-AF65-F5344CB8AC3E}">
        <p14:creationId xmlns:p14="http://schemas.microsoft.com/office/powerpoint/2010/main" val="209575965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D553DE0-8A6B-4729-B343-F6E24387B7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求顺序表的长度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E346D31-D45D-4516-B608-17B7F38C5AC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lnSpc>
                <a:spcPct val="120000"/>
              </a:lnSpc>
              <a:buNone/>
            </a:pPr>
            <a:r>
              <a:rPr lang="en-US" altLang="zh-CN" b="0" dirty="0"/>
              <a:t>int </a:t>
            </a:r>
            <a:r>
              <a:rPr lang="en-US" altLang="zh-CN" b="0" dirty="0" err="1"/>
              <a:t>LengthOfSeqList</a:t>
            </a:r>
            <a:r>
              <a:rPr lang="en-US" altLang="zh-CN" b="0" dirty="0"/>
              <a:t>(</a:t>
            </a:r>
            <a:r>
              <a:rPr lang="en-US" altLang="zh-CN" b="0" dirty="0" err="1"/>
              <a:t>SeqList</a:t>
            </a:r>
            <a:r>
              <a:rPr lang="en-US" altLang="zh-CN" b="0" dirty="0"/>
              <a:t>* </a:t>
            </a:r>
            <a:r>
              <a:rPr lang="en-US" altLang="zh-CN" b="0" dirty="0" err="1"/>
              <a:t>pList</a:t>
            </a:r>
            <a:r>
              <a:rPr lang="en-US" altLang="zh-CN" b="0" dirty="0"/>
              <a:t> ){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altLang="zh-CN" b="0" dirty="0"/>
              <a:t>    return </a:t>
            </a:r>
            <a:r>
              <a:rPr lang="en-US" altLang="zh-CN" b="0" dirty="0" err="1"/>
              <a:t>pList</a:t>
            </a:r>
            <a:r>
              <a:rPr lang="en-US" altLang="zh-CN" b="0" dirty="0"/>
              <a:t>-&gt;length;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altLang="zh-CN" b="0" dirty="0"/>
              <a:t>}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zh-CN" altLang="en-US" b="0" dirty="0"/>
              <a:t>思考：既然可以使用</a:t>
            </a:r>
            <a:r>
              <a:rPr lang="en-US" altLang="zh-CN" b="0" dirty="0"/>
              <a:t> </a:t>
            </a:r>
            <a:r>
              <a:rPr lang="en-US" altLang="zh-CN" b="0" dirty="0" err="1"/>
              <a:t>pList</a:t>
            </a:r>
            <a:r>
              <a:rPr lang="en-US" altLang="zh-CN" b="0" dirty="0"/>
              <a:t>-&gt;length </a:t>
            </a:r>
            <a:r>
              <a:rPr lang="zh-CN" altLang="en-US" b="0" dirty="0"/>
              <a:t>得到长度，是否有必要设计这个函数？</a:t>
            </a:r>
            <a:endParaRPr lang="en-US" altLang="zh-CN" b="0" dirty="0"/>
          </a:p>
        </p:txBody>
      </p:sp>
    </p:spTree>
    <p:extLst>
      <p:ext uri="{BB962C8B-B14F-4D97-AF65-F5344CB8AC3E}">
        <p14:creationId xmlns:p14="http://schemas.microsoft.com/office/powerpoint/2010/main" val="421554912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D553DE0-8A6B-4729-B343-F6E24387B7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取顺序表中的元素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E346D31-D45D-4516-B608-17B7F38C5AC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lnSpc>
                <a:spcPct val="100000"/>
              </a:lnSpc>
              <a:buNone/>
            </a:pPr>
            <a:r>
              <a:rPr lang="en-US" altLang="zh-CN" b="0" dirty="0"/>
              <a:t>Status </a:t>
            </a:r>
            <a:r>
              <a:rPr lang="en-US" altLang="zh-CN" b="0" dirty="0" err="1"/>
              <a:t>GetElemFromSeqList</a:t>
            </a:r>
            <a:r>
              <a:rPr lang="en-US" altLang="zh-CN" b="0" dirty="0"/>
              <a:t>(</a:t>
            </a:r>
            <a:r>
              <a:rPr lang="en-US" altLang="zh-CN" b="0" dirty="0" err="1"/>
              <a:t>SeqList</a:t>
            </a:r>
            <a:r>
              <a:rPr lang="en-US" altLang="zh-CN" b="0" dirty="0"/>
              <a:t>* </a:t>
            </a:r>
            <a:r>
              <a:rPr lang="en-US" altLang="zh-CN" b="0" dirty="0" err="1"/>
              <a:t>pList</a:t>
            </a:r>
            <a:r>
              <a:rPr lang="en-US" altLang="zh-CN" b="0" dirty="0"/>
              <a:t>,</a:t>
            </a:r>
            <a:r>
              <a:rPr lang="zh-CN" altLang="en-US" b="0" dirty="0"/>
              <a:t> </a:t>
            </a:r>
            <a:r>
              <a:rPr lang="en-US" altLang="zh-CN" b="0" dirty="0"/>
              <a:t>int </a:t>
            </a:r>
            <a:r>
              <a:rPr lang="en-US" altLang="zh-CN" b="0" dirty="0" err="1"/>
              <a:t>i</a:t>
            </a:r>
            <a:r>
              <a:rPr lang="en-US" altLang="zh-CN" b="0" dirty="0"/>
              <a:t>, 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b="0" dirty="0"/>
              <a:t>                                             </a:t>
            </a:r>
            <a:r>
              <a:rPr lang="en-US" altLang="zh-CN" b="0" dirty="0" err="1"/>
              <a:t>ListElem</a:t>
            </a:r>
            <a:r>
              <a:rPr lang="en-US" altLang="zh-CN" b="0" dirty="0"/>
              <a:t>* </a:t>
            </a:r>
            <a:r>
              <a:rPr lang="en-US" altLang="zh-CN" b="0" dirty="0" err="1"/>
              <a:t>pElem</a:t>
            </a:r>
            <a:r>
              <a:rPr lang="en-US" altLang="zh-CN" b="0" dirty="0"/>
              <a:t> ){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b="0" dirty="0"/>
              <a:t>    int length;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b="0" dirty="0"/>
              <a:t>    length=</a:t>
            </a:r>
            <a:r>
              <a:rPr lang="en-US" altLang="zh-CN" b="0" dirty="0" err="1"/>
              <a:t>pList</a:t>
            </a:r>
            <a:r>
              <a:rPr lang="en-US" altLang="zh-CN" b="0" dirty="0"/>
              <a:t>-&gt;length;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b="0" dirty="0"/>
              <a:t>    if(</a:t>
            </a:r>
            <a:r>
              <a:rPr lang="en-US" altLang="zh-CN" b="0" dirty="0" err="1"/>
              <a:t>i</a:t>
            </a:r>
            <a:r>
              <a:rPr lang="en-US" altLang="zh-CN" b="0" dirty="0"/>
              <a:t>&gt;=length){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b="0" dirty="0"/>
              <a:t>        return ERROR;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b="0" dirty="0"/>
              <a:t>    }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b="0" dirty="0"/>
              <a:t>    *</a:t>
            </a:r>
            <a:r>
              <a:rPr lang="en-US" altLang="zh-CN" b="0" dirty="0" err="1"/>
              <a:t>pElem</a:t>
            </a:r>
            <a:r>
              <a:rPr lang="en-US" altLang="zh-CN" b="0" dirty="0"/>
              <a:t>=</a:t>
            </a:r>
            <a:r>
              <a:rPr lang="en-US" altLang="zh-CN" b="0" dirty="0" err="1"/>
              <a:t>pList</a:t>
            </a:r>
            <a:r>
              <a:rPr lang="en-US" altLang="zh-CN" b="0" dirty="0"/>
              <a:t>-&gt;</a:t>
            </a:r>
            <a:r>
              <a:rPr lang="en-US" altLang="zh-CN" b="0" dirty="0" err="1"/>
              <a:t>pElemArray</a:t>
            </a:r>
            <a:r>
              <a:rPr lang="en-US" altLang="zh-CN" b="0" dirty="0"/>
              <a:t>[</a:t>
            </a:r>
            <a:r>
              <a:rPr lang="en-US" altLang="zh-CN" b="0" dirty="0" err="1"/>
              <a:t>i</a:t>
            </a:r>
            <a:r>
              <a:rPr lang="en-US" altLang="zh-CN" b="0" dirty="0"/>
              <a:t>];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b="0" dirty="0"/>
              <a:t>    return OK;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b="0" dirty="0"/>
              <a:t>}</a:t>
            </a:r>
            <a:endParaRPr lang="zh-CN" altLang="en-US" b="0" dirty="0"/>
          </a:p>
        </p:txBody>
      </p:sp>
    </p:spTree>
    <p:extLst>
      <p:ext uri="{BB962C8B-B14F-4D97-AF65-F5344CB8AC3E}">
        <p14:creationId xmlns:p14="http://schemas.microsoft.com/office/powerpoint/2010/main" val="150245477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D553DE0-8A6B-4729-B343-F6E24387B7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在顺序表中查找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E346D31-D45D-4516-B608-17B7F38C5AC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4800" y="1219200"/>
            <a:ext cx="11582400" cy="5181600"/>
          </a:xfrm>
        </p:spPr>
        <p:txBody>
          <a:bodyPr/>
          <a:lstStyle/>
          <a:p>
            <a:pPr marL="0" indent="0">
              <a:lnSpc>
                <a:spcPct val="100000"/>
              </a:lnSpc>
              <a:buNone/>
            </a:pPr>
            <a:r>
              <a:rPr lang="en-US" altLang="zh-CN" b="0" dirty="0"/>
              <a:t>int </a:t>
            </a:r>
            <a:r>
              <a:rPr lang="en-US" altLang="zh-CN" b="0" dirty="0" err="1"/>
              <a:t>SearchSeqList</a:t>
            </a:r>
            <a:r>
              <a:rPr lang="en-US" altLang="zh-CN" b="0" dirty="0"/>
              <a:t>(</a:t>
            </a:r>
            <a:r>
              <a:rPr lang="en-US" altLang="zh-CN" b="0" dirty="0" err="1"/>
              <a:t>SeqList</a:t>
            </a:r>
            <a:r>
              <a:rPr lang="en-US" altLang="zh-CN" b="0" dirty="0"/>
              <a:t>* </a:t>
            </a:r>
            <a:r>
              <a:rPr lang="en-US" altLang="zh-CN" b="0" dirty="0" err="1"/>
              <a:t>pList</a:t>
            </a:r>
            <a:r>
              <a:rPr lang="en-US" altLang="zh-CN" b="0" dirty="0"/>
              <a:t>,</a:t>
            </a:r>
            <a:r>
              <a:rPr lang="zh-CN" altLang="en-US" b="0" dirty="0"/>
              <a:t> </a:t>
            </a:r>
            <a:r>
              <a:rPr lang="en-US" altLang="zh-CN" b="0" dirty="0" err="1"/>
              <a:t>ListElem</a:t>
            </a:r>
            <a:r>
              <a:rPr lang="en-US" altLang="zh-CN" b="0" dirty="0"/>
              <a:t>* </a:t>
            </a:r>
            <a:r>
              <a:rPr lang="en-US" altLang="zh-CN" b="0" dirty="0" err="1"/>
              <a:t>pElem</a:t>
            </a:r>
            <a:r>
              <a:rPr lang="en-US" altLang="zh-CN" b="0" dirty="0"/>
              <a:t> ){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b="0" dirty="0"/>
              <a:t>    int </a:t>
            </a:r>
            <a:r>
              <a:rPr lang="en-US" altLang="zh-CN" b="0" dirty="0" err="1"/>
              <a:t>i</a:t>
            </a:r>
            <a:r>
              <a:rPr lang="en-US" altLang="zh-CN" b="0" dirty="0"/>
              <a:t>=0;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b="0" dirty="0"/>
              <a:t>    int length=</a:t>
            </a:r>
            <a:r>
              <a:rPr lang="en-US" altLang="zh-CN" b="0" dirty="0" err="1"/>
              <a:t>pList</a:t>
            </a:r>
            <a:r>
              <a:rPr lang="en-US" altLang="zh-CN" b="0" dirty="0"/>
              <a:t>-&gt;length;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b="0" dirty="0"/>
              <a:t>    while(</a:t>
            </a:r>
            <a:r>
              <a:rPr lang="en-US" altLang="zh-CN" b="0" dirty="0" err="1"/>
              <a:t>i</a:t>
            </a:r>
            <a:r>
              <a:rPr lang="en-US" altLang="zh-CN" b="0" dirty="0"/>
              <a:t>&lt;length){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b="0" dirty="0"/>
              <a:t>        if(</a:t>
            </a:r>
            <a:r>
              <a:rPr lang="en-US" altLang="zh-CN" b="0" dirty="0" err="1"/>
              <a:t>pList</a:t>
            </a:r>
            <a:r>
              <a:rPr lang="en-US" altLang="zh-CN" b="0" dirty="0"/>
              <a:t>-&gt;</a:t>
            </a:r>
            <a:r>
              <a:rPr lang="en-US" altLang="zh-CN" b="0" dirty="0" err="1"/>
              <a:t>pElemArray</a:t>
            </a:r>
            <a:r>
              <a:rPr lang="en-US" altLang="zh-CN" b="0" dirty="0"/>
              <a:t>[</a:t>
            </a:r>
            <a:r>
              <a:rPr lang="en-US" altLang="zh-CN" b="0" dirty="0" err="1"/>
              <a:t>i</a:t>
            </a:r>
            <a:r>
              <a:rPr lang="en-US" altLang="zh-CN" b="0" dirty="0"/>
              <a:t>]==*</a:t>
            </a:r>
            <a:r>
              <a:rPr lang="en-US" altLang="zh-CN" b="0" dirty="0" err="1"/>
              <a:t>pElem</a:t>
            </a:r>
            <a:r>
              <a:rPr lang="en-US" altLang="zh-CN" b="0" dirty="0"/>
              <a:t>){  // </a:t>
            </a:r>
            <a:r>
              <a:rPr lang="zh-CN" altLang="en-US" b="0" dirty="0"/>
              <a:t>只支持基本类型</a:t>
            </a:r>
            <a:endParaRPr lang="en-US" altLang="zh-CN" b="0" dirty="0"/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b="0" dirty="0"/>
              <a:t>             return </a:t>
            </a:r>
            <a:r>
              <a:rPr lang="en-US" altLang="zh-CN" b="0" dirty="0" err="1"/>
              <a:t>i</a:t>
            </a:r>
            <a:r>
              <a:rPr lang="en-US" altLang="zh-CN" b="0" dirty="0"/>
              <a:t>;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b="0" dirty="0"/>
              <a:t>        }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b="0" dirty="0"/>
              <a:t>        </a:t>
            </a:r>
            <a:r>
              <a:rPr lang="en-US" altLang="zh-CN" b="0" dirty="0" err="1"/>
              <a:t>i</a:t>
            </a:r>
            <a:r>
              <a:rPr lang="en-US" altLang="zh-CN" b="0" dirty="0"/>
              <a:t>++</a:t>
            </a:r>
            <a:r>
              <a:rPr lang="zh-CN" altLang="en-US" b="0" dirty="0"/>
              <a:t>；</a:t>
            </a:r>
            <a:endParaRPr lang="en-US" altLang="zh-CN" b="0" dirty="0"/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b="0" dirty="0"/>
              <a:t>    }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b="0" dirty="0"/>
              <a:t>    return -1;  // </a:t>
            </a:r>
            <a:r>
              <a:rPr lang="zh-CN" altLang="en-US" b="0" dirty="0"/>
              <a:t>没找到</a:t>
            </a:r>
            <a:endParaRPr lang="en-US" altLang="zh-CN" b="0" dirty="0"/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b="0" dirty="0"/>
              <a:t>}</a:t>
            </a:r>
            <a:endParaRPr lang="zh-CN" altLang="en-US" b="0" dirty="0"/>
          </a:p>
        </p:txBody>
      </p:sp>
    </p:spTree>
    <p:extLst>
      <p:ext uri="{BB962C8B-B14F-4D97-AF65-F5344CB8AC3E}">
        <p14:creationId xmlns:p14="http://schemas.microsoft.com/office/powerpoint/2010/main" val="137664171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D553DE0-8A6B-4729-B343-F6E24387B7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在顺序表中查找</a:t>
            </a:r>
            <a:r>
              <a:rPr lang="en-US" altLang="zh-CN" dirty="0"/>
              <a:t>(</a:t>
            </a:r>
            <a:r>
              <a:rPr lang="zh-CN" altLang="en-US" dirty="0"/>
              <a:t>修正</a:t>
            </a:r>
            <a:r>
              <a:rPr lang="en-US" altLang="zh-CN" dirty="0"/>
              <a:t>)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E346D31-D45D-4516-B608-17B7F38C5AC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4800" y="1219200"/>
            <a:ext cx="11582400" cy="5181600"/>
          </a:xfrm>
        </p:spPr>
        <p:txBody>
          <a:bodyPr/>
          <a:lstStyle/>
          <a:p>
            <a:pPr marL="0" indent="0">
              <a:lnSpc>
                <a:spcPct val="100000"/>
              </a:lnSpc>
              <a:buNone/>
            </a:pPr>
            <a:r>
              <a:rPr lang="en-US" altLang="zh-CN" b="0" dirty="0"/>
              <a:t>int </a:t>
            </a:r>
            <a:r>
              <a:rPr lang="en-US" altLang="zh-CN" b="0" dirty="0" err="1"/>
              <a:t>SearchSeqList</a:t>
            </a:r>
            <a:r>
              <a:rPr lang="en-US" altLang="zh-CN" b="0" dirty="0"/>
              <a:t>(</a:t>
            </a:r>
            <a:r>
              <a:rPr lang="en-US" altLang="zh-CN" b="0" dirty="0" err="1"/>
              <a:t>SeqList</a:t>
            </a:r>
            <a:r>
              <a:rPr lang="en-US" altLang="zh-CN" b="0" dirty="0"/>
              <a:t>* </a:t>
            </a:r>
            <a:r>
              <a:rPr lang="en-US" altLang="zh-CN" b="0" dirty="0" err="1"/>
              <a:t>pList</a:t>
            </a:r>
            <a:r>
              <a:rPr lang="en-US" altLang="zh-CN" b="0" dirty="0"/>
              <a:t>,</a:t>
            </a:r>
            <a:r>
              <a:rPr lang="zh-CN" altLang="en-US" b="0" dirty="0"/>
              <a:t> </a:t>
            </a:r>
            <a:r>
              <a:rPr lang="en-US" altLang="zh-CN" b="0" dirty="0" err="1"/>
              <a:t>ListElem</a:t>
            </a:r>
            <a:r>
              <a:rPr lang="en-US" altLang="zh-CN" b="0" dirty="0"/>
              <a:t>* </a:t>
            </a:r>
            <a:r>
              <a:rPr lang="en-US" altLang="zh-CN" b="0" dirty="0" err="1"/>
              <a:t>pElem</a:t>
            </a:r>
            <a:r>
              <a:rPr lang="en-US" altLang="zh-CN" b="0" dirty="0"/>
              <a:t>,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b="0" dirty="0"/>
              <a:t>                             bool (*</a:t>
            </a:r>
            <a:r>
              <a:rPr lang="en-US" altLang="zh-CN" b="0" dirty="0" err="1"/>
              <a:t>isEqual</a:t>
            </a:r>
            <a:r>
              <a:rPr lang="en-US" altLang="zh-CN" b="0" dirty="0"/>
              <a:t>)() ){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b="0" dirty="0"/>
              <a:t>    ……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b="0" dirty="0"/>
              <a:t>    while(</a:t>
            </a:r>
            <a:r>
              <a:rPr lang="en-US" altLang="zh-CN" b="0" dirty="0" err="1"/>
              <a:t>i</a:t>
            </a:r>
            <a:r>
              <a:rPr lang="en-US" altLang="zh-CN" b="0" dirty="0"/>
              <a:t>&lt;length){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b="0" dirty="0"/>
              <a:t>        </a:t>
            </a:r>
            <a:r>
              <a:rPr lang="en-US" altLang="zh-CN" dirty="0"/>
              <a:t>if(</a:t>
            </a:r>
            <a:r>
              <a:rPr lang="en-US" altLang="zh-CN" dirty="0" err="1"/>
              <a:t>isEqual</a:t>
            </a:r>
            <a:r>
              <a:rPr lang="en-US" altLang="zh-CN" dirty="0"/>
              <a:t>(&amp;(</a:t>
            </a:r>
            <a:r>
              <a:rPr lang="en-US" altLang="zh-CN" dirty="0" err="1"/>
              <a:t>pList</a:t>
            </a:r>
            <a:r>
              <a:rPr lang="en-US" altLang="zh-CN" dirty="0"/>
              <a:t>-&gt;</a:t>
            </a:r>
            <a:r>
              <a:rPr lang="en-US" altLang="zh-CN" dirty="0" err="1"/>
              <a:t>pElemArray</a:t>
            </a:r>
            <a:r>
              <a:rPr lang="en-US" altLang="zh-CN" dirty="0"/>
              <a:t>[</a:t>
            </a:r>
            <a:r>
              <a:rPr lang="en-US" altLang="zh-CN" dirty="0" err="1"/>
              <a:t>i</a:t>
            </a:r>
            <a:r>
              <a:rPr lang="en-US" altLang="zh-CN" dirty="0"/>
              <a:t>]), </a:t>
            </a:r>
            <a:r>
              <a:rPr lang="en-US" altLang="zh-CN" dirty="0" err="1"/>
              <a:t>pElem</a:t>
            </a:r>
            <a:r>
              <a:rPr lang="en-US" altLang="zh-CN" dirty="0"/>
              <a:t>)==true)</a:t>
            </a:r>
            <a:r>
              <a:rPr lang="en-US" altLang="zh-CN" b="0" dirty="0"/>
              <a:t>{ 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b="0" dirty="0"/>
              <a:t>             return </a:t>
            </a:r>
            <a:r>
              <a:rPr lang="en-US" altLang="zh-CN" b="0" dirty="0" err="1"/>
              <a:t>i</a:t>
            </a:r>
            <a:r>
              <a:rPr lang="en-US" altLang="zh-CN" b="0" dirty="0"/>
              <a:t>;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b="0" dirty="0"/>
              <a:t>        }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b="0" dirty="0"/>
              <a:t>        </a:t>
            </a:r>
            <a:r>
              <a:rPr lang="en-US" altLang="zh-CN" b="0" dirty="0" err="1"/>
              <a:t>i</a:t>
            </a:r>
            <a:r>
              <a:rPr lang="en-US" altLang="zh-CN" b="0" dirty="0"/>
              <a:t>++;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b="0" dirty="0"/>
              <a:t>    }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b="0" dirty="0"/>
              <a:t>    ……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b="0" dirty="0"/>
              <a:t>}</a:t>
            </a:r>
            <a:endParaRPr lang="zh-CN" altLang="en-US" b="0" dirty="0"/>
          </a:p>
        </p:txBody>
      </p:sp>
    </p:spTree>
    <p:extLst>
      <p:ext uri="{BB962C8B-B14F-4D97-AF65-F5344CB8AC3E}">
        <p14:creationId xmlns:p14="http://schemas.microsoft.com/office/powerpoint/2010/main" val="63791708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D553DE0-8A6B-4729-B343-F6E24387B7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向顺序表中追加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E346D31-D45D-4516-B608-17B7F38C5AC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4800" y="1219200"/>
            <a:ext cx="11582400" cy="5181600"/>
          </a:xfrm>
        </p:spPr>
        <p:txBody>
          <a:bodyPr/>
          <a:lstStyle/>
          <a:p>
            <a:pPr marL="0" indent="0">
              <a:lnSpc>
                <a:spcPct val="120000"/>
              </a:lnSpc>
              <a:buNone/>
            </a:pPr>
            <a:r>
              <a:rPr lang="en-US" altLang="zh-CN" b="0" dirty="0"/>
              <a:t>Status </a:t>
            </a:r>
            <a:r>
              <a:rPr lang="en-US" altLang="zh-CN" b="0" dirty="0" err="1"/>
              <a:t>AppendToSeqList</a:t>
            </a:r>
            <a:r>
              <a:rPr lang="en-US" altLang="zh-CN" b="0" dirty="0"/>
              <a:t>(</a:t>
            </a:r>
            <a:r>
              <a:rPr lang="en-US" altLang="zh-CN" b="0" dirty="0" err="1"/>
              <a:t>SeqList</a:t>
            </a:r>
            <a:r>
              <a:rPr lang="en-US" altLang="zh-CN" b="0" dirty="0"/>
              <a:t>* </a:t>
            </a:r>
            <a:r>
              <a:rPr lang="en-US" altLang="zh-CN" b="0" dirty="0" err="1"/>
              <a:t>pList</a:t>
            </a:r>
            <a:r>
              <a:rPr lang="en-US" altLang="zh-CN" b="0" dirty="0"/>
              <a:t>,</a:t>
            </a:r>
            <a:r>
              <a:rPr lang="zh-CN" altLang="en-US" b="0" dirty="0"/>
              <a:t> </a:t>
            </a:r>
            <a:endParaRPr lang="en-US" altLang="zh-CN" b="0" dirty="0"/>
          </a:p>
          <a:p>
            <a:pPr marL="0" indent="0">
              <a:lnSpc>
                <a:spcPct val="120000"/>
              </a:lnSpc>
              <a:buNone/>
            </a:pPr>
            <a:r>
              <a:rPr lang="en-US" altLang="zh-CN" b="0" dirty="0"/>
              <a:t>                                         </a:t>
            </a:r>
            <a:r>
              <a:rPr lang="en-US" altLang="zh-CN" b="0" dirty="0" err="1"/>
              <a:t>ListElem</a:t>
            </a:r>
            <a:r>
              <a:rPr lang="en-US" altLang="zh-CN" b="0" dirty="0"/>
              <a:t>* </a:t>
            </a:r>
            <a:r>
              <a:rPr lang="en-US" altLang="zh-CN" b="0" dirty="0" err="1"/>
              <a:t>pElem</a:t>
            </a:r>
            <a:r>
              <a:rPr lang="en-US" altLang="zh-CN" b="0" dirty="0"/>
              <a:t> ){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altLang="zh-CN" b="0" dirty="0"/>
              <a:t>    if(</a:t>
            </a:r>
            <a:r>
              <a:rPr lang="en-US" altLang="zh-CN" b="0" dirty="0" err="1"/>
              <a:t>pList</a:t>
            </a:r>
            <a:r>
              <a:rPr lang="en-US" altLang="zh-CN" b="0" dirty="0"/>
              <a:t>-&gt;length&gt;=</a:t>
            </a:r>
            <a:r>
              <a:rPr lang="en-US" altLang="zh-CN" b="0" dirty="0" err="1"/>
              <a:t>pList</a:t>
            </a:r>
            <a:r>
              <a:rPr lang="en-US" altLang="zh-CN" b="0" dirty="0"/>
              <a:t>-&gt;size){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altLang="zh-CN" b="0" dirty="0"/>
              <a:t>        return ERROR;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altLang="zh-CN" b="0" dirty="0"/>
              <a:t>    }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altLang="zh-CN" b="0" dirty="0"/>
              <a:t>    </a:t>
            </a:r>
            <a:r>
              <a:rPr lang="en-US" altLang="zh-CN" b="0" dirty="0" err="1"/>
              <a:t>pList</a:t>
            </a:r>
            <a:r>
              <a:rPr lang="en-US" altLang="zh-CN" b="0" dirty="0"/>
              <a:t>-&gt;</a:t>
            </a:r>
            <a:r>
              <a:rPr lang="en-US" altLang="zh-CN" b="0" dirty="0" err="1"/>
              <a:t>pElemArray</a:t>
            </a:r>
            <a:r>
              <a:rPr lang="en-US" altLang="zh-CN" b="0" dirty="0"/>
              <a:t>[</a:t>
            </a:r>
            <a:r>
              <a:rPr lang="en-US" altLang="zh-CN" b="0" dirty="0" err="1"/>
              <a:t>pList</a:t>
            </a:r>
            <a:r>
              <a:rPr lang="en-US" altLang="zh-CN" b="0" dirty="0"/>
              <a:t>-&gt;length]=*</a:t>
            </a:r>
            <a:r>
              <a:rPr lang="en-US" altLang="zh-CN" b="0" dirty="0" err="1"/>
              <a:t>pElem</a:t>
            </a:r>
            <a:r>
              <a:rPr lang="en-US" altLang="zh-CN" b="0" dirty="0"/>
              <a:t>;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altLang="zh-CN" b="0" dirty="0"/>
              <a:t>    </a:t>
            </a:r>
            <a:r>
              <a:rPr lang="en-US" altLang="zh-CN" b="0" dirty="0" err="1"/>
              <a:t>pList</a:t>
            </a:r>
            <a:r>
              <a:rPr lang="en-US" altLang="zh-CN" b="0" dirty="0"/>
              <a:t>-&gt;length++;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altLang="zh-CN" b="0" dirty="0"/>
              <a:t>    return OK;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altLang="zh-CN" b="0" dirty="0"/>
              <a:t>}</a:t>
            </a:r>
            <a:endParaRPr lang="zh-CN" altLang="en-US" b="0" dirty="0"/>
          </a:p>
        </p:txBody>
      </p:sp>
    </p:spTree>
    <p:extLst>
      <p:ext uri="{BB962C8B-B14F-4D97-AF65-F5344CB8AC3E}">
        <p14:creationId xmlns:p14="http://schemas.microsoft.com/office/powerpoint/2010/main" val="255130356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D553DE0-8A6B-4729-B343-F6E24387B7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向顺序表中插入到指定的位置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E346D31-D45D-4516-B608-17B7F38C5AC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4800" y="1219200"/>
            <a:ext cx="11582400" cy="5181600"/>
          </a:xfrm>
        </p:spPr>
        <p:txBody>
          <a:bodyPr/>
          <a:lstStyle/>
          <a:p>
            <a:pPr marL="0" indent="0">
              <a:lnSpc>
                <a:spcPct val="100000"/>
              </a:lnSpc>
              <a:buNone/>
            </a:pPr>
            <a:r>
              <a:rPr lang="en-US" altLang="zh-CN" b="0" dirty="0"/>
              <a:t>Status </a:t>
            </a:r>
            <a:r>
              <a:rPr lang="en-US" altLang="zh-CN" b="0" dirty="0" err="1"/>
              <a:t>InsertIntoSeqList</a:t>
            </a:r>
            <a:r>
              <a:rPr lang="en-US" altLang="zh-CN" b="0" dirty="0"/>
              <a:t>(</a:t>
            </a:r>
            <a:r>
              <a:rPr lang="en-US" altLang="zh-CN" b="0" dirty="0" err="1"/>
              <a:t>SeqList</a:t>
            </a:r>
            <a:r>
              <a:rPr lang="en-US" altLang="zh-CN" b="0" dirty="0"/>
              <a:t>* </a:t>
            </a:r>
            <a:r>
              <a:rPr lang="en-US" altLang="zh-CN" b="0" dirty="0" err="1"/>
              <a:t>pList</a:t>
            </a:r>
            <a:r>
              <a:rPr lang="en-US" altLang="zh-CN" b="0" dirty="0"/>
              <a:t>,</a:t>
            </a:r>
            <a:r>
              <a:rPr lang="zh-CN" altLang="en-US" b="0" dirty="0"/>
              <a:t> </a:t>
            </a:r>
            <a:r>
              <a:rPr lang="en-US" altLang="zh-CN" b="0" dirty="0"/>
              <a:t>int </a:t>
            </a:r>
            <a:r>
              <a:rPr lang="en-US" altLang="zh-CN" b="0" dirty="0" err="1"/>
              <a:t>i</a:t>
            </a:r>
            <a:r>
              <a:rPr lang="en-US" altLang="zh-CN" b="0" dirty="0"/>
              <a:t>, 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b="0" dirty="0"/>
              <a:t>                                       </a:t>
            </a:r>
            <a:r>
              <a:rPr lang="en-US" altLang="zh-CN" b="0" dirty="0" err="1"/>
              <a:t>ListElem</a:t>
            </a:r>
            <a:r>
              <a:rPr lang="en-US" altLang="zh-CN" b="0" dirty="0"/>
              <a:t>* </a:t>
            </a:r>
            <a:r>
              <a:rPr lang="en-US" altLang="zh-CN" b="0" dirty="0" err="1"/>
              <a:t>pElem</a:t>
            </a:r>
            <a:r>
              <a:rPr lang="en-US" altLang="zh-CN" b="0" dirty="0"/>
              <a:t> ){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b="0" dirty="0"/>
              <a:t>    if(</a:t>
            </a:r>
            <a:r>
              <a:rPr lang="en-US" altLang="zh-CN" b="0" dirty="0" err="1"/>
              <a:t>pList</a:t>
            </a:r>
            <a:r>
              <a:rPr lang="en-US" altLang="zh-CN" b="0" dirty="0"/>
              <a:t>-&gt;length&gt;=</a:t>
            </a:r>
            <a:r>
              <a:rPr lang="en-US" altLang="zh-CN" b="0" dirty="0" err="1"/>
              <a:t>pList</a:t>
            </a:r>
            <a:r>
              <a:rPr lang="en-US" altLang="zh-CN" b="0" dirty="0"/>
              <a:t>-&gt;size || </a:t>
            </a:r>
            <a:r>
              <a:rPr lang="en-US" altLang="zh-CN" b="0" dirty="0" err="1"/>
              <a:t>i</a:t>
            </a:r>
            <a:r>
              <a:rPr lang="en-US" altLang="zh-CN" b="0" dirty="0"/>
              <a:t>&gt;</a:t>
            </a:r>
            <a:r>
              <a:rPr lang="en-US" altLang="zh-CN" b="0" dirty="0" err="1"/>
              <a:t>pList</a:t>
            </a:r>
            <a:r>
              <a:rPr lang="en-US" altLang="zh-CN" b="0" dirty="0"/>
              <a:t>-&gt;length){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b="0" dirty="0"/>
              <a:t>        return ERROR;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b="0" dirty="0"/>
              <a:t>    }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b="0" dirty="0"/>
              <a:t>    int j=</a:t>
            </a:r>
            <a:r>
              <a:rPr lang="en-US" altLang="zh-CN" b="0" dirty="0" err="1"/>
              <a:t>pList</a:t>
            </a:r>
            <a:r>
              <a:rPr lang="en-US" altLang="zh-CN" b="0" dirty="0"/>
              <a:t>-&gt;length;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b="0" dirty="0"/>
              <a:t>    while (j&gt;</a:t>
            </a:r>
            <a:r>
              <a:rPr lang="en-US" altLang="zh-CN" b="0" dirty="0" err="1"/>
              <a:t>i</a:t>
            </a:r>
            <a:r>
              <a:rPr lang="en-US" altLang="zh-CN" b="0" dirty="0"/>
              <a:t>){  // </a:t>
            </a:r>
            <a:r>
              <a:rPr lang="zh-CN" altLang="en-US" b="0" dirty="0"/>
              <a:t>这个循环把位置</a:t>
            </a:r>
            <a:r>
              <a:rPr lang="en-US" altLang="zh-CN" b="0" dirty="0" err="1"/>
              <a:t>i</a:t>
            </a:r>
            <a:r>
              <a:rPr lang="zh-CN" altLang="en-US" b="0" dirty="0"/>
              <a:t>空出来</a:t>
            </a:r>
            <a:endParaRPr lang="en-US" altLang="zh-CN" b="0" dirty="0"/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b="0" dirty="0"/>
              <a:t>        </a:t>
            </a:r>
            <a:r>
              <a:rPr lang="en-US" altLang="zh-CN" b="0" dirty="0" err="1"/>
              <a:t>pList</a:t>
            </a:r>
            <a:r>
              <a:rPr lang="en-US" altLang="zh-CN" b="0" dirty="0"/>
              <a:t>-&gt;</a:t>
            </a:r>
            <a:r>
              <a:rPr lang="en-US" altLang="zh-CN" b="0" dirty="0" err="1"/>
              <a:t>pElemArray</a:t>
            </a:r>
            <a:r>
              <a:rPr lang="en-US" altLang="zh-CN" b="0" dirty="0"/>
              <a:t>[j]=</a:t>
            </a:r>
            <a:r>
              <a:rPr lang="en-US" altLang="zh-CN" b="0" dirty="0" err="1"/>
              <a:t>pList</a:t>
            </a:r>
            <a:r>
              <a:rPr lang="en-US" altLang="zh-CN" b="0" dirty="0"/>
              <a:t>-&gt;</a:t>
            </a:r>
            <a:r>
              <a:rPr lang="en-US" altLang="zh-CN" b="0" dirty="0" err="1"/>
              <a:t>pElemArray</a:t>
            </a:r>
            <a:r>
              <a:rPr lang="en-US" altLang="zh-CN" b="0" dirty="0"/>
              <a:t>[j-1];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b="0" dirty="0"/>
              <a:t>        j--;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b="0" dirty="0"/>
              <a:t>    }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b="0" dirty="0"/>
              <a:t>    </a:t>
            </a:r>
            <a:r>
              <a:rPr lang="en-US" altLang="zh-CN" b="0" dirty="0" err="1"/>
              <a:t>pList</a:t>
            </a:r>
            <a:r>
              <a:rPr lang="en-US" altLang="zh-CN" b="0" dirty="0"/>
              <a:t>-&gt;</a:t>
            </a:r>
            <a:r>
              <a:rPr lang="en-US" altLang="zh-CN" b="0" dirty="0" err="1"/>
              <a:t>pElemArray</a:t>
            </a:r>
            <a:r>
              <a:rPr lang="en-US" altLang="zh-CN" b="0" dirty="0"/>
              <a:t>[</a:t>
            </a:r>
            <a:r>
              <a:rPr lang="en-US" altLang="zh-CN" b="0" dirty="0" err="1"/>
              <a:t>i</a:t>
            </a:r>
            <a:r>
              <a:rPr lang="en-US" altLang="zh-CN" b="0" dirty="0"/>
              <a:t>]=*</a:t>
            </a:r>
            <a:r>
              <a:rPr lang="en-US" altLang="zh-CN" b="0" dirty="0" err="1"/>
              <a:t>pElem</a:t>
            </a:r>
            <a:r>
              <a:rPr lang="en-US" altLang="zh-CN" b="0" dirty="0"/>
              <a:t>;    </a:t>
            </a:r>
            <a:endParaRPr lang="zh-CN" altLang="en-US" b="0" dirty="0"/>
          </a:p>
        </p:txBody>
      </p:sp>
    </p:spTree>
    <p:extLst>
      <p:ext uri="{BB962C8B-B14F-4D97-AF65-F5344CB8AC3E}">
        <p14:creationId xmlns:p14="http://schemas.microsoft.com/office/powerpoint/2010/main" val="15893270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D553DE0-8A6B-4729-B343-F6E24387B7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向顺序表中插入到指定的位置（续）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E346D31-D45D-4516-B608-17B7F38C5AC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4800" y="1219200"/>
            <a:ext cx="11582400" cy="5181600"/>
          </a:xfrm>
        </p:spPr>
        <p:txBody>
          <a:bodyPr/>
          <a:lstStyle/>
          <a:p>
            <a:pPr marL="0" indent="0">
              <a:lnSpc>
                <a:spcPct val="100000"/>
              </a:lnSpc>
              <a:buNone/>
            </a:pPr>
            <a:r>
              <a:rPr lang="en-US" altLang="zh-CN" b="0" dirty="0"/>
              <a:t>    </a:t>
            </a:r>
            <a:r>
              <a:rPr lang="en-US" altLang="zh-CN" b="0" dirty="0" err="1"/>
              <a:t>pList</a:t>
            </a:r>
            <a:r>
              <a:rPr lang="en-US" altLang="zh-CN" b="0" dirty="0"/>
              <a:t>-&gt;length++;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b="0" dirty="0"/>
              <a:t>    return OK;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b="0" dirty="0"/>
              <a:t>}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zh-CN" altLang="en-US" b="0" dirty="0"/>
              <a:t>算法示例：把</a:t>
            </a:r>
            <a:r>
              <a:rPr lang="en-US" altLang="zh-CN" b="0" dirty="0"/>
              <a:t>D</a:t>
            </a:r>
            <a:r>
              <a:rPr lang="zh-CN" altLang="en-US" b="0" dirty="0"/>
              <a:t>插入到</a:t>
            </a:r>
            <a:r>
              <a:rPr lang="en-US" altLang="zh-CN" b="0" dirty="0"/>
              <a:t>2</a:t>
            </a:r>
            <a:r>
              <a:rPr lang="zh-CN" altLang="en-US" b="0" dirty="0"/>
              <a:t>的位置。</a:t>
            </a:r>
            <a:endParaRPr lang="en-US" altLang="zh-CN" b="0" dirty="0"/>
          </a:p>
          <a:p>
            <a:pPr marL="0" indent="0">
              <a:lnSpc>
                <a:spcPct val="100000"/>
              </a:lnSpc>
              <a:buNone/>
            </a:pPr>
            <a:endParaRPr lang="en-US" altLang="zh-CN" b="0" dirty="0"/>
          </a:p>
          <a:p>
            <a:pPr marL="0" indent="0">
              <a:lnSpc>
                <a:spcPct val="100000"/>
              </a:lnSpc>
              <a:spcBef>
                <a:spcPts val="1800"/>
              </a:spcBef>
              <a:spcAft>
                <a:spcPts val="1200"/>
              </a:spcAft>
              <a:buNone/>
            </a:pPr>
            <a:r>
              <a:rPr lang="zh-CN" altLang="en-US" b="0" dirty="0"/>
              <a:t>开始状态</a:t>
            </a:r>
            <a:endParaRPr lang="en-US" altLang="zh-CN" b="0" dirty="0"/>
          </a:p>
          <a:p>
            <a:pPr marL="0" indent="0">
              <a:lnSpc>
                <a:spcPct val="100000"/>
              </a:lnSpc>
              <a:buNone/>
            </a:pPr>
            <a:endParaRPr lang="en-US" altLang="zh-CN" b="0" dirty="0"/>
          </a:p>
          <a:p>
            <a:pPr marL="0" indent="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zh-CN" altLang="en-US" b="0" dirty="0"/>
              <a:t>移动数据</a:t>
            </a:r>
            <a:endParaRPr lang="en-US" altLang="zh-CN" b="0" dirty="0"/>
          </a:p>
          <a:p>
            <a:pPr marL="0" indent="0">
              <a:spcBef>
                <a:spcPts val="1200"/>
              </a:spcBef>
              <a:buNone/>
            </a:pPr>
            <a:r>
              <a:rPr lang="zh-CN" altLang="en-US" b="0" dirty="0"/>
              <a:t>插入数据</a:t>
            </a:r>
          </a:p>
        </p:txBody>
      </p:sp>
      <p:graphicFrame>
        <p:nvGraphicFramePr>
          <p:cNvPr id="166" name="表格 166">
            <a:extLst>
              <a:ext uri="{FF2B5EF4-FFF2-40B4-BE49-F238E27FC236}">
                <a16:creationId xmlns:a16="http://schemas.microsoft.com/office/drawing/2014/main" id="{FC3EE5A1-62E4-4E8F-8DED-6E0FC9EC012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08297655"/>
              </p:ext>
            </p:extLst>
          </p:nvPr>
        </p:nvGraphicFramePr>
        <p:xfrm>
          <a:off x="2460523" y="3352800"/>
          <a:ext cx="8576190" cy="5997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25170">
                  <a:extLst>
                    <a:ext uri="{9D8B030D-6E8A-4147-A177-3AD203B41FA5}">
                      <a16:colId xmlns:a16="http://schemas.microsoft.com/office/drawing/2014/main" val="584846473"/>
                    </a:ext>
                  </a:extLst>
                </a:gridCol>
                <a:gridCol w="1225170">
                  <a:extLst>
                    <a:ext uri="{9D8B030D-6E8A-4147-A177-3AD203B41FA5}">
                      <a16:colId xmlns:a16="http://schemas.microsoft.com/office/drawing/2014/main" val="1531378482"/>
                    </a:ext>
                  </a:extLst>
                </a:gridCol>
                <a:gridCol w="1225170">
                  <a:extLst>
                    <a:ext uri="{9D8B030D-6E8A-4147-A177-3AD203B41FA5}">
                      <a16:colId xmlns:a16="http://schemas.microsoft.com/office/drawing/2014/main" val="2262918596"/>
                    </a:ext>
                  </a:extLst>
                </a:gridCol>
                <a:gridCol w="1225170">
                  <a:extLst>
                    <a:ext uri="{9D8B030D-6E8A-4147-A177-3AD203B41FA5}">
                      <a16:colId xmlns:a16="http://schemas.microsoft.com/office/drawing/2014/main" val="3236001651"/>
                    </a:ext>
                  </a:extLst>
                </a:gridCol>
                <a:gridCol w="1225170">
                  <a:extLst>
                    <a:ext uri="{9D8B030D-6E8A-4147-A177-3AD203B41FA5}">
                      <a16:colId xmlns:a16="http://schemas.microsoft.com/office/drawing/2014/main" val="1636475056"/>
                    </a:ext>
                  </a:extLst>
                </a:gridCol>
                <a:gridCol w="1225170">
                  <a:extLst>
                    <a:ext uri="{9D8B030D-6E8A-4147-A177-3AD203B41FA5}">
                      <a16:colId xmlns:a16="http://schemas.microsoft.com/office/drawing/2014/main" val="1962837587"/>
                    </a:ext>
                  </a:extLst>
                </a:gridCol>
                <a:gridCol w="1225170">
                  <a:extLst>
                    <a:ext uri="{9D8B030D-6E8A-4147-A177-3AD203B41FA5}">
                      <a16:colId xmlns:a16="http://schemas.microsoft.com/office/drawing/2014/main" val="2391445944"/>
                    </a:ext>
                  </a:extLst>
                </a:gridCol>
              </a:tblGrid>
              <a:tr h="599768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20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CN" altLang="en-US" sz="32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20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CN" altLang="en-US" sz="32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200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zh-CN" altLang="en-US" sz="32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200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zh-CN" altLang="en-US" sz="32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200" dirty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zh-CN" altLang="en-US" sz="32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200" dirty="0">
                          <a:solidFill>
                            <a:schemeClr val="tx1"/>
                          </a:solidFill>
                        </a:rPr>
                        <a:t>5</a:t>
                      </a:r>
                      <a:endParaRPr lang="zh-CN" altLang="en-US" sz="32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200" dirty="0">
                          <a:solidFill>
                            <a:schemeClr val="tx1"/>
                          </a:solidFill>
                        </a:rPr>
                        <a:t>6</a:t>
                      </a:r>
                      <a:endParaRPr lang="zh-CN" altLang="en-US" sz="32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95376611"/>
                  </a:ext>
                </a:extLst>
              </a:tr>
            </a:tbl>
          </a:graphicData>
        </a:graphic>
      </p:graphicFrame>
      <p:graphicFrame>
        <p:nvGraphicFramePr>
          <p:cNvPr id="168" name="表格 167">
            <a:extLst>
              <a:ext uri="{FF2B5EF4-FFF2-40B4-BE49-F238E27FC236}">
                <a16:creationId xmlns:a16="http://schemas.microsoft.com/office/drawing/2014/main" id="{C39DDA56-A2A6-4361-934C-91820931C59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79921082"/>
              </p:ext>
            </p:extLst>
          </p:nvPr>
        </p:nvGraphicFramePr>
        <p:xfrm>
          <a:off x="2438400" y="3896032"/>
          <a:ext cx="8576190" cy="5997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25170">
                  <a:extLst>
                    <a:ext uri="{9D8B030D-6E8A-4147-A177-3AD203B41FA5}">
                      <a16:colId xmlns:a16="http://schemas.microsoft.com/office/drawing/2014/main" val="429391461"/>
                    </a:ext>
                  </a:extLst>
                </a:gridCol>
                <a:gridCol w="1225170">
                  <a:extLst>
                    <a:ext uri="{9D8B030D-6E8A-4147-A177-3AD203B41FA5}">
                      <a16:colId xmlns:a16="http://schemas.microsoft.com/office/drawing/2014/main" val="2670296914"/>
                    </a:ext>
                  </a:extLst>
                </a:gridCol>
                <a:gridCol w="1225170">
                  <a:extLst>
                    <a:ext uri="{9D8B030D-6E8A-4147-A177-3AD203B41FA5}">
                      <a16:colId xmlns:a16="http://schemas.microsoft.com/office/drawing/2014/main" val="137088869"/>
                    </a:ext>
                  </a:extLst>
                </a:gridCol>
                <a:gridCol w="1225170">
                  <a:extLst>
                    <a:ext uri="{9D8B030D-6E8A-4147-A177-3AD203B41FA5}">
                      <a16:colId xmlns:a16="http://schemas.microsoft.com/office/drawing/2014/main" val="1194460425"/>
                    </a:ext>
                  </a:extLst>
                </a:gridCol>
                <a:gridCol w="1225170">
                  <a:extLst>
                    <a:ext uri="{9D8B030D-6E8A-4147-A177-3AD203B41FA5}">
                      <a16:colId xmlns:a16="http://schemas.microsoft.com/office/drawing/2014/main" val="4183972423"/>
                    </a:ext>
                  </a:extLst>
                </a:gridCol>
                <a:gridCol w="1225170">
                  <a:extLst>
                    <a:ext uri="{9D8B030D-6E8A-4147-A177-3AD203B41FA5}">
                      <a16:colId xmlns:a16="http://schemas.microsoft.com/office/drawing/2014/main" val="1207250758"/>
                    </a:ext>
                  </a:extLst>
                </a:gridCol>
                <a:gridCol w="1225170">
                  <a:extLst>
                    <a:ext uri="{9D8B030D-6E8A-4147-A177-3AD203B41FA5}">
                      <a16:colId xmlns:a16="http://schemas.microsoft.com/office/drawing/2014/main" val="3531477198"/>
                    </a:ext>
                  </a:extLst>
                </a:gridCol>
              </a:tblGrid>
              <a:tr h="599768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200" dirty="0">
                          <a:solidFill>
                            <a:schemeClr val="tx1"/>
                          </a:solidFill>
                        </a:rPr>
                        <a:t>A</a:t>
                      </a:r>
                      <a:endParaRPr lang="zh-CN" altLang="en-US" sz="32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200" dirty="0">
                          <a:solidFill>
                            <a:schemeClr val="tx1"/>
                          </a:solidFill>
                        </a:rPr>
                        <a:t>C</a:t>
                      </a:r>
                      <a:endParaRPr lang="zh-CN" altLang="en-US" sz="32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200" dirty="0">
                          <a:solidFill>
                            <a:schemeClr val="tx1"/>
                          </a:solidFill>
                        </a:rPr>
                        <a:t>E</a:t>
                      </a:r>
                      <a:endParaRPr lang="zh-CN" altLang="en-US" sz="32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200" dirty="0">
                          <a:solidFill>
                            <a:schemeClr val="tx1"/>
                          </a:solidFill>
                        </a:rPr>
                        <a:t>F</a:t>
                      </a:r>
                      <a:endParaRPr lang="zh-CN" altLang="en-US" sz="32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200" dirty="0">
                          <a:solidFill>
                            <a:schemeClr val="tx1"/>
                          </a:solidFill>
                        </a:rPr>
                        <a:t>P</a:t>
                      </a:r>
                      <a:endParaRPr lang="zh-CN" altLang="en-US" sz="32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200" dirty="0">
                          <a:solidFill>
                            <a:schemeClr val="tx1"/>
                          </a:solidFill>
                        </a:rPr>
                        <a:t>Q</a:t>
                      </a:r>
                      <a:endParaRPr lang="zh-CN" altLang="en-US" sz="32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32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1898788"/>
                  </a:ext>
                </a:extLst>
              </a:tr>
            </a:tbl>
          </a:graphicData>
        </a:graphic>
      </p:graphicFrame>
      <p:graphicFrame>
        <p:nvGraphicFramePr>
          <p:cNvPr id="169" name="表格 168">
            <a:extLst>
              <a:ext uri="{FF2B5EF4-FFF2-40B4-BE49-F238E27FC236}">
                <a16:creationId xmlns:a16="http://schemas.microsoft.com/office/drawing/2014/main" id="{94070AE1-EA74-40BC-8267-4DE6CF8AFAF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2663006"/>
              </p:ext>
            </p:extLst>
          </p:nvPr>
        </p:nvGraphicFramePr>
        <p:xfrm>
          <a:off x="2438400" y="5039032"/>
          <a:ext cx="8576190" cy="5997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25170">
                  <a:extLst>
                    <a:ext uri="{9D8B030D-6E8A-4147-A177-3AD203B41FA5}">
                      <a16:colId xmlns:a16="http://schemas.microsoft.com/office/drawing/2014/main" val="429391461"/>
                    </a:ext>
                  </a:extLst>
                </a:gridCol>
                <a:gridCol w="1225170">
                  <a:extLst>
                    <a:ext uri="{9D8B030D-6E8A-4147-A177-3AD203B41FA5}">
                      <a16:colId xmlns:a16="http://schemas.microsoft.com/office/drawing/2014/main" val="2670296914"/>
                    </a:ext>
                  </a:extLst>
                </a:gridCol>
                <a:gridCol w="1225170">
                  <a:extLst>
                    <a:ext uri="{9D8B030D-6E8A-4147-A177-3AD203B41FA5}">
                      <a16:colId xmlns:a16="http://schemas.microsoft.com/office/drawing/2014/main" val="137088869"/>
                    </a:ext>
                  </a:extLst>
                </a:gridCol>
                <a:gridCol w="1225170">
                  <a:extLst>
                    <a:ext uri="{9D8B030D-6E8A-4147-A177-3AD203B41FA5}">
                      <a16:colId xmlns:a16="http://schemas.microsoft.com/office/drawing/2014/main" val="1194460425"/>
                    </a:ext>
                  </a:extLst>
                </a:gridCol>
                <a:gridCol w="1225170">
                  <a:extLst>
                    <a:ext uri="{9D8B030D-6E8A-4147-A177-3AD203B41FA5}">
                      <a16:colId xmlns:a16="http://schemas.microsoft.com/office/drawing/2014/main" val="4183972423"/>
                    </a:ext>
                  </a:extLst>
                </a:gridCol>
                <a:gridCol w="1225170">
                  <a:extLst>
                    <a:ext uri="{9D8B030D-6E8A-4147-A177-3AD203B41FA5}">
                      <a16:colId xmlns:a16="http://schemas.microsoft.com/office/drawing/2014/main" val="1207250758"/>
                    </a:ext>
                  </a:extLst>
                </a:gridCol>
                <a:gridCol w="1225170">
                  <a:extLst>
                    <a:ext uri="{9D8B030D-6E8A-4147-A177-3AD203B41FA5}">
                      <a16:colId xmlns:a16="http://schemas.microsoft.com/office/drawing/2014/main" val="3531477198"/>
                    </a:ext>
                  </a:extLst>
                </a:gridCol>
              </a:tblGrid>
              <a:tr h="599768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200" dirty="0">
                          <a:solidFill>
                            <a:schemeClr val="tx1"/>
                          </a:solidFill>
                        </a:rPr>
                        <a:t>A</a:t>
                      </a:r>
                      <a:endParaRPr lang="zh-CN" altLang="en-US" sz="32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200" dirty="0">
                          <a:solidFill>
                            <a:schemeClr val="tx1"/>
                          </a:solidFill>
                        </a:rPr>
                        <a:t>C</a:t>
                      </a:r>
                      <a:endParaRPr lang="zh-CN" altLang="en-US" sz="32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32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200" dirty="0">
                          <a:solidFill>
                            <a:schemeClr val="tx1"/>
                          </a:solidFill>
                        </a:rPr>
                        <a:t>E</a:t>
                      </a:r>
                      <a:endParaRPr lang="zh-CN" altLang="en-US" sz="32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200" dirty="0">
                          <a:solidFill>
                            <a:schemeClr val="tx1"/>
                          </a:solidFill>
                        </a:rPr>
                        <a:t>F</a:t>
                      </a:r>
                      <a:endParaRPr lang="zh-CN" altLang="en-US" sz="32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200" dirty="0">
                          <a:solidFill>
                            <a:schemeClr val="tx1"/>
                          </a:solidFill>
                        </a:rPr>
                        <a:t>P</a:t>
                      </a:r>
                      <a:endParaRPr lang="zh-CN" altLang="en-US" sz="32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200" dirty="0">
                          <a:solidFill>
                            <a:schemeClr val="tx1"/>
                          </a:solidFill>
                        </a:rPr>
                        <a:t>Q</a:t>
                      </a:r>
                      <a:endParaRPr lang="zh-CN" altLang="en-US" sz="32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1898788"/>
                  </a:ext>
                </a:extLst>
              </a:tr>
            </a:tbl>
          </a:graphicData>
        </a:graphic>
      </p:graphicFrame>
      <p:graphicFrame>
        <p:nvGraphicFramePr>
          <p:cNvPr id="170" name="表格 169">
            <a:extLst>
              <a:ext uri="{FF2B5EF4-FFF2-40B4-BE49-F238E27FC236}">
                <a16:creationId xmlns:a16="http://schemas.microsoft.com/office/drawing/2014/main" id="{7697AD40-501C-40CB-9E8B-65B37112290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30862232"/>
              </p:ext>
            </p:extLst>
          </p:nvPr>
        </p:nvGraphicFramePr>
        <p:xfrm>
          <a:off x="2438400" y="5953432"/>
          <a:ext cx="8576190" cy="5997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25170">
                  <a:extLst>
                    <a:ext uri="{9D8B030D-6E8A-4147-A177-3AD203B41FA5}">
                      <a16:colId xmlns:a16="http://schemas.microsoft.com/office/drawing/2014/main" val="429391461"/>
                    </a:ext>
                  </a:extLst>
                </a:gridCol>
                <a:gridCol w="1225170">
                  <a:extLst>
                    <a:ext uri="{9D8B030D-6E8A-4147-A177-3AD203B41FA5}">
                      <a16:colId xmlns:a16="http://schemas.microsoft.com/office/drawing/2014/main" val="2670296914"/>
                    </a:ext>
                  </a:extLst>
                </a:gridCol>
                <a:gridCol w="1225170">
                  <a:extLst>
                    <a:ext uri="{9D8B030D-6E8A-4147-A177-3AD203B41FA5}">
                      <a16:colId xmlns:a16="http://schemas.microsoft.com/office/drawing/2014/main" val="137088869"/>
                    </a:ext>
                  </a:extLst>
                </a:gridCol>
                <a:gridCol w="1225170">
                  <a:extLst>
                    <a:ext uri="{9D8B030D-6E8A-4147-A177-3AD203B41FA5}">
                      <a16:colId xmlns:a16="http://schemas.microsoft.com/office/drawing/2014/main" val="1194460425"/>
                    </a:ext>
                  </a:extLst>
                </a:gridCol>
                <a:gridCol w="1225170">
                  <a:extLst>
                    <a:ext uri="{9D8B030D-6E8A-4147-A177-3AD203B41FA5}">
                      <a16:colId xmlns:a16="http://schemas.microsoft.com/office/drawing/2014/main" val="4183972423"/>
                    </a:ext>
                  </a:extLst>
                </a:gridCol>
                <a:gridCol w="1225170">
                  <a:extLst>
                    <a:ext uri="{9D8B030D-6E8A-4147-A177-3AD203B41FA5}">
                      <a16:colId xmlns:a16="http://schemas.microsoft.com/office/drawing/2014/main" val="1207250758"/>
                    </a:ext>
                  </a:extLst>
                </a:gridCol>
                <a:gridCol w="1225170">
                  <a:extLst>
                    <a:ext uri="{9D8B030D-6E8A-4147-A177-3AD203B41FA5}">
                      <a16:colId xmlns:a16="http://schemas.microsoft.com/office/drawing/2014/main" val="3531477198"/>
                    </a:ext>
                  </a:extLst>
                </a:gridCol>
              </a:tblGrid>
              <a:tr h="599768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200" dirty="0">
                          <a:solidFill>
                            <a:schemeClr val="tx1"/>
                          </a:solidFill>
                        </a:rPr>
                        <a:t>A</a:t>
                      </a:r>
                      <a:endParaRPr lang="zh-CN" altLang="en-US" sz="32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200" dirty="0">
                          <a:solidFill>
                            <a:schemeClr val="tx1"/>
                          </a:solidFill>
                        </a:rPr>
                        <a:t>C</a:t>
                      </a:r>
                      <a:endParaRPr lang="zh-CN" altLang="en-US" sz="32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200" dirty="0">
                          <a:solidFill>
                            <a:srgbClr val="FF0000"/>
                          </a:solidFill>
                        </a:rPr>
                        <a:t>D</a:t>
                      </a:r>
                      <a:endParaRPr lang="zh-CN" altLang="en-US" sz="3200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200" dirty="0">
                          <a:solidFill>
                            <a:schemeClr val="tx1"/>
                          </a:solidFill>
                        </a:rPr>
                        <a:t>E</a:t>
                      </a:r>
                      <a:endParaRPr lang="zh-CN" altLang="en-US" sz="32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200" dirty="0">
                          <a:solidFill>
                            <a:schemeClr val="tx1"/>
                          </a:solidFill>
                        </a:rPr>
                        <a:t>F</a:t>
                      </a:r>
                      <a:endParaRPr lang="zh-CN" altLang="en-US" sz="32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200" dirty="0">
                          <a:solidFill>
                            <a:schemeClr val="tx1"/>
                          </a:solidFill>
                        </a:rPr>
                        <a:t>P</a:t>
                      </a:r>
                      <a:endParaRPr lang="zh-CN" altLang="en-US" sz="32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200" dirty="0">
                          <a:solidFill>
                            <a:schemeClr val="tx1"/>
                          </a:solidFill>
                        </a:rPr>
                        <a:t>Q</a:t>
                      </a:r>
                      <a:endParaRPr lang="zh-CN" altLang="en-US" sz="32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1898788"/>
                  </a:ext>
                </a:extLst>
              </a:tr>
            </a:tbl>
          </a:graphicData>
        </a:graphic>
      </p:graphicFrame>
      <p:cxnSp>
        <p:nvCxnSpPr>
          <p:cNvPr id="172" name="直接箭头连接符 171">
            <a:extLst>
              <a:ext uri="{FF2B5EF4-FFF2-40B4-BE49-F238E27FC236}">
                <a16:creationId xmlns:a16="http://schemas.microsoft.com/office/drawing/2014/main" id="{FFCE84A2-0FBF-4815-927F-ACDED792EDAF}"/>
              </a:ext>
            </a:extLst>
          </p:cNvPr>
          <p:cNvCxnSpPr/>
          <p:nvPr/>
        </p:nvCxnSpPr>
        <p:spPr bwMode="auto">
          <a:xfrm>
            <a:off x="9220200" y="4476136"/>
            <a:ext cx="1143000" cy="562896"/>
          </a:xfrm>
          <a:prstGeom prst="straightConnector1">
            <a:avLst/>
          </a:prstGeom>
          <a:solidFill>
            <a:schemeClr val="accent1"/>
          </a:solidFill>
          <a:ln w="25400" cap="rnd" cmpd="sng" algn="ctr">
            <a:solidFill>
              <a:schemeClr val="tx1"/>
            </a:solidFill>
            <a:prstDash val="solid"/>
            <a:round/>
            <a:headEnd type="none" w="sm" len="sm"/>
            <a:tailEnd type="arrow" w="med" len="lg"/>
          </a:ln>
          <a:effectLst/>
        </p:spPr>
      </p:cxnSp>
      <p:cxnSp>
        <p:nvCxnSpPr>
          <p:cNvPr id="178" name="直接箭头连接符 177">
            <a:extLst>
              <a:ext uri="{FF2B5EF4-FFF2-40B4-BE49-F238E27FC236}">
                <a16:creationId xmlns:a16="http://schemas.microsoft.com/office/drawing/2014/main" id="{74D63BC2-752E-4F97-8D7D-A808D1109913}"/>
              </a:ext>
            </a:extLst>
          </p:cNvPr>
          <p:cNvCxnSpPr/>
          <p:nvPr/>
        </p:nvCxnSpPr>
        <p:spPr bwMode="auto">
          <a:xfrm>
            <a:off x="8001000" y="4476136"/>
            <a:ext cx="1143000" cy="562896"/>
          </a:xfrm>
          <a:prstGeom prst="straightConnector1">
            <a:avLst/>
          </a:prstGeom>
          <a:solidFill>
            <a:schemeClr val="accent1"/>
          </a:solidFill>
          <a:ln w="25400" cap="rnd" cmpd="sng" algn="ctr">
            <a:solidFill>
              <a:schemeClr val="tx1"/>
            </a:solidFill>
            <a:prstDash val="solid"/>
            <a:round/>
            <a:headEnd type="none" w="sm" len="sm"/>
            <a:tailEnd type="arrow" w="med" len="lg"/>
          </a:ln>
          <a:effectLst/>
        </p:spPr>
      </p:cxnSp>
      <p:cxnSp>
        <p:nvCxnSpPr>
          <p:cNvPr id="179" name="直接箭头连接符 178">
            <a:extLst>
              <a:ext uri="{FF2B5EF4-FFF2-40B4-BE49-F238E27FC236}">
                <a16:creationId xmlns:a16="http://schemas.microsoft.com/office/drawing/2014/main" id="{E6034146-C5B8-4113-9249-58FB5E402288}"/>
              </a:ext>
            </a:extLst>
          </p:cNvPr>
          <p:cNvCxnSpPr/>
          <p:nvPr/>
        </p:nvCxnSpPr>
        <p:spPr bwMode="auto">
          <a:xfrm>
            <a:off x="6781800" y="4495800"/>
            <a:ext cx="1143000" cy="562896"/>
          </a:xfrm>
          <a:prstGeom prst="straightConnector1">
            <a:avLst/>
          </a:prstGeom>
          <a:solidFill>
            <a:schemeClr val="accent1"/>
          </a:solidFill>
          <a:ln w="25400" cap="rnd" cmpd="sng" algn="ctr">
            <a:solidFill>
              <a:schemeClr val="tx1"/>
            </a:solidFill>
            <a:prstDash val="solid"/>
            <a:round/>
            <a:headEnd type="none" w="sm" len="sm"/>
            <a:tailEnd type="arrow" w="med" len="lg"/>
          </a:ln>
          <a:effectLst/>
        </p:spPr>
      </p:cxnSp>
      <p:cxnSp>
        <p:nvCxnSpPr>
          <p:cNvPr id="180" name="直接箭头连接符 179">
            <a:extLst>
              <a:ext uri="{FF2B5EF4-FFF2-40B4-BE49-F238E27FC236}">
                <a16:creationId xmlns:a16="http://schemas.microsoft.com/office/drawing/2014/main" id="{6D36DD83-3A23-4233-BF23-C4D6E83835DA}"/>
              </a:ext>
            </a:extLst>
          </p:cNvPr>
          <p:cNvCxnSpPr/>
          <p:nvPr/>
        </p:nvCxnSpPr>
        <p:spPr bwMode="auto">
          <a:xfrm>
            <a:off x="5562600" y="4466304"/>
            <a:ext cx="1143000" cy="562896"/>
          </a:xfrm>
          <a:prstGeom prst="straightConnector1">
            <a:avLst/>
          </a:prstGeom>
          <a:solidFill>
            <a:schemeClr val="accent1"/>
          </a:solidFill>
          <a:ln w="25400" cap="rnd" cmpd="sng" algn="ctr">
            <a:solidFill>
              <a:schemeClr val="tx1"/>
            </a:solidFill>
            <a:prstDash val="solid"/>
            <a:round/>
            <a:headEnd type="none" w="sm" len="sm"/>
            <a:tailEnd type="arrow" w="med" len="lg"/>
          </a:ln>
          <a:effectLst/>
        </p:spPr>
      </p:cxnSp>
    </p:spTree>
    <p:extLst>
      <p:ext uri="{BB962C8B-B14F-4D97-AF65-F5344CB8AC3E}">
        <p14:creationId xmlns:p14="http://schemas.microsoft.com/office/powerpoint/2010/main" val="142968535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D553DE0-8A6B-4729-B343-F6E24387B7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从顺序表中删除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E346D31-D45D-4516-B608-17B7F38C5AC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4800" y="1219200"/>
            <a:ext cx="11582400" cy="5181600"/>
          </a:xfrm>
        </p:spPr>
        <p:txBody>
          <a:bodyPr/>
          <a:lstStyle/>
          <a:p>
            <a:pPr marL="0" indent="0">
              <a:lnSpc>
                <a:spcPct val="100000"/>
              </a:lnSpc>
              <a:buNone/>
            </a:pPr>
            <a:r>
              <a:rPr lang="en-US" altLang="zh-CN" b="0" dirty="0"/>
              <a:t>Status </a:t>
            </a:r>
            <a:r>
              <a:rPr lang="en-US" altLang="zh-CN" b="0" dirty="0" err="1"/>
              <a:t>DeleteFromSeqList</a:t>
            </a:r>
            <a:r>
              <a:rPr lang="en-US" altLang="zh-CN" b="0" dirty="0"/>
              <a:t>(</a:t>
            </a:r>
            <a:r>
              <a:rPr lang="en-US" altLang="zh-CN" b="0" dirty="0" err="1"/>
              <a:t>SeqList</a:t>
            </a:r>
            <a:r>
              <a:rPr lang="en-US" altLang="zh-CN" b="0" dirty="0"/>
              <a:t>* </a:t>
            </a:r>
            <a:r>
              <a:rPr lang="en-US" altLang="zh-CN" b="0" dirty="0" err="1"/>
              <a:t>pList</a:t>
            </a:r>
            <a:r>
              <a:rPr lang="en-US" altLang="zh-CN" b="0" dirty="0"/>
              <a:t>,</a:t>
            </a:r>
            <a:r>
              <a:rPr lang="zh-CN" altLang="en-US" b="0" dirty="0"/>
              <a:t> </a:t>
            </a:r>
            <a:r>
              <a:rPr lang="en-US" altLang="zh-CN" b="0" dirty="0"/>
              <a:t>int </a:t>
            </a:r>
            <a:r>
              <a:rPr lang="en-US" altLang="zh-CN" b="0" dirty="0" err="1"/>
              <a:t>i</a:t>
            </a:r>
            <a:r>
              <a:rPr lang="en-US" altLang="zh-CN" b="0" dirty="0"/>
              <a:t> ){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b="0" dirty="0"/>
              <a:t>    int j;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b="0" dirty="0"/>
              <a:t>    if(</a:t>
            </a:r>
            <a:r>
              <a:rPr lang="en-US" altLang="zh-CN" b="0" dirty="0" err="1"/>
              <a:t>i</a:t>
            </a:r>
            <a:r>
              <a:rPr lang="en-US" altLang="zh-CN" b="0" dirty="0"/>
              <a:t>&lt;0 || </a:t>
            </a:r>
            <a:r>
              <a:rPr lang="en-US" altLang="zh-CN" b="0" dirty="0" err="1"/>
              <a:t>i</a:t>
            </a:r>
            <a:r>
              <a:rPr lang="en-US" altLang="zh-CN" b="0" dirty="0"/>
              <a:t>&gt;=</a:t>
            </a:r>
            <a:r>
              <a:rPr lang="en-US" altLang="zh-CN" b="0" dirty="0" err="1"/>
              <a:t>pList</a:t>
            </a:r>
            <a:r>
              <a:rPr lang="en-US" altLang="zh-CN" b="0" dirty="0"/>
              <a:t>-&gt;length){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b="0" dirty="0"/>
              <a:t>        return ERROR;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b="0" dirty="0"/>
              <a:t>    }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b="0" dirty="0"/>
              <a:t>    for (j=</a:t>
            </a:r>
            <a:r>
              <a:rPr lang="en-US" altLang="zh-CN" b="0" dirty="0" err="1"/>
              <a:t>i</a:t>
            </a:r>
            <a:r>
              <a:rPr lang="en-US" altLang="zh-CN" b="0" dirty="0"/>
              <a:t>; j&lt;</a:t>
            </a:r>
            <a:r>
              <a:rPr lang="en-US" altLang="zh-CN" b="0" dirty="0" err="1"/>
              <a:t>pList</a:t>
            </a:r>
            <a:r>
              <a:rPr lang="en-US" altLang="zh-CN" b="0" dirty="0"/>
              <a:t>-&gt;length-1; </a:t>
            </a:r>
            <a:r>
              <a:rPr lang="en-US" altLang="zh-CN" b="0" dirty="0" err="1"/>
              <a:t>j++</a:t>
            </a:r>
            <a:r>
              <a:rPr lang="en-US" altLang="zh-CN" b="0" dirty="0"/>
              <a:t>) {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b="0" dirty="0"/>
              <a:t>        </a:t>
            </a:r>
            <a:r>
              <a:rPr lang="en-US" altLang="zh-CN" b="0" dirty="0" err="1"/>
              <a:t>pList</a:t>
            </a:r>
            <a:r>
              <a:rPr lang="en-US" altLang="zh-CN" b="0" dirty="0"/>
              <a:t>-&gt;</a:t>
            </a:r>
            <a:r>
              <a:rPr lang="en-US" altLang="zh-CN" b="0" dirty="0" err="1"/>
              <a:t>pElemArray</a:t>
            </a:r>
            <a:r>
              <a:rPr lang="en-US" altLang="zh-CN" b="0" dirty="0"/>
              <a:t>[j]=</a:t>
            </a:r>
            <a:r>
              <a:rPr lang="en-US" altLang="zh-CN" b="0" dirty="0" err="1"/>
              <a:t>pList</a:t>
            </a:r>
            <a:r>
              <a:rPr lang="en-US" altLang="zh-CN" b="0" dirty="0"/>
              <a:t>-&gt;</a:t>
            </a:r>
            <a:r>
              <a:rPr lang="en-US" altLang="zh-CN" b="0" dirty="0" err="1"/>
              <a:t>pElemArray</a:t>
            </a:r>
            <a:r>
              <a:rPr lang="en-US" altLang="zh-CN" b="0" dirty="0"/>
              <a:t>[j+1];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b="0" dirty="0"/>
              <a:t>    }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b="0" dirty="0"/>
              <a:t>    </a:t>
            </a:r>
            <a:r>
              <a:rPr lang="en-US" altLang="zh-CN" b="0" dirty="0" err="1"/>
              <a:t>pList</a:t>
            </a:r>
            <a:r>
              <a:rPr lang="en-US" altLang="zh-CN" b="0" dirty="0"/>
              <a:t>-&gt;length--;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b="0" dirty="0"/>
              <a:t>    return OK;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b="0" dirty="0"/>
              <a:t>}</a:t>
            </a:r>
            <a:endParaRPr lang="zh-CN" altLang="en-US" b="0" dirty="0"/>
          </a:p>
        </p:txBody>
      </p:sp>
    </p:spTree>
    <p:extLst>
      <p:ext uri="{BB962C8B-B14F-4D97-AF65-F5344CB8AC3E}">
        <p14:creationId xmlns:p14="http://schemas.microsoft.com/office/powerpoint/2010/main" val="103282080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D553DE0-8A6B-4729-B343-F6E24387B7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有序表合并算法</a:t>
            </a:r>
          </a:p>
        </p:txBody>
      </p:sp>
      <p:graphicFrame>
        <p:nvGraphicFramePr>
          <p:cNvPr id="8" name="表格 8">
            <a:extLst>
              <a:ext uri="{FF2B5EF4-FFF2-40B4-BE49-F238E27FC236}">
                <a16:creationId xmlns:a16="http://schemas.microsoft.com/office/drawing/2014/main" id="{8F588AA5-15BD-4B2B-8BAC-40179ED5C4B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012949103"/>
              </p:ext>
            </p:extLst>
          </p:nvPr>
        </p:nvGraphicFramePr>
        <p:xfrm>
          <a:off x="304800" y="1371600"/>
          <a:ext cx="11582400" cy="3840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60800">
                  <a:extLst>
                    <a:ext uri="{9D8B030D-6E8A-4147-A177-3AD203B41FA5}">
                      <a16:colId xmlns:a16="http://schemas.microsoft.com/office/drawing/2014/main" val="128184170"/>
                    </a:ext>
                  </a:extLst>
                </a:gridCol>
                <a:gridCol w="3860800">
                  <a:extLst>
                    <a:ext uri="{9D8B030D-6E8A-4147-A177-3AD203B41FA5}">
                      <a16:colId xmlns:a16="http://schemas.microsoft.com/office/drawing/2014/main" val="2280443040"/>
                    </a:ext>
                  </a:extLst>
                </a:gridCol>
                <a:gridCol w="3860800">
                  <a:extLst>
                    <a:ext uri="{9D8B030D-6E8A-4147-A177-3AD203B41FA5}">
                      <a16:colId xmlns:a16="http://schemas.microsoft.com/office/drawing/2014/main" val="247870198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en-US" altLang="zh-CN" sz="4000" b="0" baseline="0" dirty="0">
                          <a:solidFill>
                            <a:schemeClr val="tx1"/>
                          </a:solidFill>
                        </a:rPr>
                        <a:t>2</a:t>
                      </a:r>
                      <a:r>
                        <a:rPr lang="zh-CN" altLang="en-US" sz="4000" b="0" baseline="0" dirty="0">
                          <a:solidFill>
                            <a:schemeClr val="tx1"/>
                          </a:solidFill>
                        </a:rPr>
                        <a:t>、</a:t>
                      </a:r>
                      <a:r>
                        <a:rPr lang="en-US" altLang="zh-CN" sz="4000" b="0" baseline="0" dirty="0">
                          <a:solidFill>
                            <a:schemeClr val="tx1"/>
                          </a:solidFill>
                        </a:rPr>
                        <a:t>3</a:t>
                      </a:r>
                      <a:r>
                        <a:rPr lang="zh-CN" altLang="en-US" sz="4000" b="0" baseline="0" dirty="0">
                          <a:solidFill>
                            <a:schemeClr val="tx1"/>
                          </a:solidFill>
                        </a:rPr>
                        <a:t>、</a:t>
                      </a:r>
                      <a:r>
                        <a:rPr lang="en-US" altLang="zh-CN" sz="4000" b="0" baseline="0" dirty="0">
                          <a:solidFill>
                            <a:schemeClr val="tx1"/>
                          </a:solidFill>
                        </a:rPr>
                        <a:t>7</a:t>
                      </a:r>
                      <a:r>
                        <a:rPr lang="zh-CN" altLang="en-US" sz="4000" b="0" baseline="0" dirty="0">
                          <a:solidFill>
                            <a:schemeClr val="tx1"/>
                          </a:solidFill>
                        </a:rPr>
                        <a:t>、</a:t>
                      </a:r>
                      <a:r>
                        <a:rPr lang="en-US" altLang="zh-CN" sz="4000" b="0" baseline="0" dirty="0">
                          <a:solidFill>
                            <a:schemeClr val="tx1"/>
                          </a:solidFill>
                        </a:rPr>
                        <a:t>8</a:t>
                      </a:r>
                      <a:r>
                        <a:rPr lang="zh-CN" altLang="en-US" sz="4000" b="0" baseline="0" dirty="0">
                          <a:solidFill>
                            <a:schemeClr val="tx1"/>
                          </a:solidFill>
                        </a:rPr>
                        <a:t>、</a:t>
                      </a:r>
                      <a:r>
                        <a:rPr lang="en-US" altLang="zh-CN" sz="4000" b="0" baseline="0" dirty="0">
                          <a:solidFill>
                            <a:schemeClr val="tx1"/>
                          </a:solidFill>
                        </a:rPr>
                        <a:t>9</a:t>
                      </a:r>
                    </a:p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en-US" altLang="zh-CN" sz="4000" b="0" baseline="0" dirty="0">
                          <a:solidFill>
                            <a:schemeClr val="tx1"/>
                          </a:solidFill>
                        </a:rPr>
                        <a:t>1</a:t>
                      </a:r>
                      <a:r>
                        <a:rPr lang="zh-CN" altLang="en-US" sz="4000" b="0" baseline="0" dirty="0">
                          <a:solidFill>
                            <a:schemeClr val="tx1"/>
                          </a:solidFill>
                        </a:rPr>
                        <a:t>、</a:t>
                      </a:r>
                      <a:r>
                        <a:rPr lang="en-US" altLang="zh-CN" sz="4000" b="0" baseline="0" dirty="0">
                          <a:solidFill>
                            <a:schemeClr val="tx1"/>
                          </a:solidFill>
                        </a:rPr>
                        <a:t>4</a:t>
                      </a:r>
                      <a:r>
                        <a:rPr lang="zh-CN" altLang="en-US" sz="4000" b="0" baseline="0" dirty="0">
                          <a:solidFill>
                            <a:schemeClr val="tx1"/>
                          </a:solidFill>
                        </a:rPr>
                        <a:t>、</a:t>
                      </a:r>
                      <a:r>
                        <a:rPr lang="en-US" altLang="zh-CN" sz="4000" b="0" baseline="0" dirty="0"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zh-CN" altLang="en-US" sz="4000" b="0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合成一个表</a:t>
                      </a:r>
                      <a:endParaRPr lang="zh-CN" altLang="en-US" sz="4000" b="1" kern="1200" baseline="-250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en-US" altLang="zh-CN" sz="4000" b="1" u="heavy" baseline="0" dirty="0">
                          <a:solidFill>
                            <a:schemeClr val="tx1"/>
                          </a:solidFill>
                          <a:uFill>
                            <a:solidFill>
                              <a:srgbClr val="FF0000"/>
                            </a:solidFill>
                          </a:uFill>
                        </a:rPr>
                        <a:t>2</a:t>
                      </a:r>
                      <a:r>
                        <a:rPr lang="en-US" altLang="zh-CN" sz="4000" b="1" baseline="-25000" dirty="0">
                          <a:solidFill>
                            <a:schemeClr val="tx1"/>
                          </a:solidFill>
                        </a:rPr>
                        <a:t>i</a:t>
                      </a:r>
                      <a:r>
                        <a:rPr lang="zh-CN" altLang="en-US" sz="4000" b="0" baseline="0" dirty="0">
                          <a:solidFill>
                            <a:schemeClr val="tx1"/>
                          </a:solidFill>
                        </a:rPr>
                        <a:t>、</a:t>
                      </a:r>
                      <a:r>
                        <a:rPr lang="en-US" altLang="zh-CN" sz="4000" b="0" baseline="0" dirty="0">
                          <a:solidFill>
                            <a:schemeClr val="tx1"/>
                          </a:solidFill>
                        </a:rPr>
                        <a:t>3</a:t>
                      </a:r>
                      <a:r>
                        <a:rPr lang="zh-CN" altLang="en-US" sz="4000" b="0" baseline="0" dirty="0">
                          <a:solidFill>
                            <a:schemeClr val="tx1"/>
                          </a:solidFill>
                        </a:rPr>
                        <a:t>、</a:t>
                      </a:r>
                      <a:r>
                        <a:rPr lang="en-US" altLang="zh-CN" sz="4000" b="0" baseline="0" dirty="0">
                          <a:solidFill>
                            <a:schemeClr val="tx1"/>
                          </a:solidFill>
                        </a:rPr>
                        <a:t>7</a:t>
                      </a:r>
                      <a:r>
                        <a:rPr lang="zh-CN" altLang="en-US" sz="4000" b="0" baseline="0" dirty="0">
                          <a:solidFill>
                            <a:schemeClr val="tx1"/>
                          </a:solidFill>
                        </a:rPr>
                        <a:t>、</a:t>
                      </a:r>
                      <a:r>
                        <a:rPr lang="en-US" altLang="zh-CN" sz="4000" b="0" baseline="0" dirty="0">
                          <a:solidFill>
                            <a:schemeClr val="tx1"/>
                          </a:solidFill>
                        </a:rPr>
                        <a:t>8</a:t>
                      </a:r>
                      <a:r>
                        <a:rPr lang="zh-CN" altLang="en-US" sz="4000" b="0" baseline="0" dirty="0">
                          <a:solidFill>
                            <a:schemeClr val="tx1"/>
                          </a:solidFill>
                        </a:rPr>
                        <a:t>、</a:t>
                      </a:r>
                      <a:r>
                        <a:rPr lang="en-US" altLang="zh-CN" sz="4000" b="0" baseline="0" dirty="0">
                          <a:solidFill>
                            <a:schemeClr val="tx1"/>
                          </a:solidFill>
                        </a:rPr>
                        <a:t>9</a:t>
                      </a:r>
                    </a:p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en-US" altLang="zh-CN" sz="4000" b="1" u="heavy" kern="1200" baseline="0" dirty="0">
                          <a:solidFill>
                            <a:schemeClr val="tx1"/>
                          </a:solidFill>
                          <a:uFill>
                            <a:solidFill>
                              <a:srgbClr val="FF0000"/>
                            </a:solidFill>
                          </a:u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r>
                        <a:rPr lang="en-US" altLang="zh-CN" sz="4000" b="1" kern="1200" baseline="-250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j</a:t>
                      </a:r>
                      <a:r>
                        <a:rPr lang="zh-CN" altLang="en-US" sz="4000" b="0" baseline="0" dirty="0">
                          <a:solidFill>
                            <a:schemeClr val="tx1"/>
                          </a:solidFill>
                        </a:rPr>
                        <a:t>、</a:t>
                      </a:r>
                      <a:r>
                        <a:rPr lang="en-US" altLang="zh-CN" sz="4000" b="0" baseline="0" dirty="0">
                          <a:solidFill>
                            <a:schemeClr val="tx1"/>
                          </a:solidFill>
                        </a:rPr>
                        <a:t>4</a:t>
                      </a:r>
                      <a:r>
                        <a:rPr lang="zh-CN" altLang="en-US" sz="4000" b="0" baseline="0" dirty="0">
                          <a:solidFill>
                            <a:schemeClr val="tx1"/>
                          </a:solidFill>
                        </a:rPr>
                        <a:t>、</a:t>
                      </a:r>
                      <a:r>
                        <a:rPr lang="en-US" altLang="zh-CN" sz="4000" b="0" baseline="0" dirty="0"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en-US" altLang="zh-CN" sz="4000" b="1" u="heavy" kern="1200" baseline="0" dirty="0">
                          <a:solidFill>
                            <a:schemeClr val="tx1"/>
                          </a:solidFill>
                          <a:uFill>
                            <a:solidFill>
                              <a:srgbClr val="FF0000"/>
                            </a:solidFill>
                          </a:u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r>
                        <a:rPr lang="en-US" altLang="zh-CN" sz="4000" b="1" kern="1200" baseline="-250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k</a:t>
                      </a:r>
                      <a:endParaRPr lang="zh-CN" altLang="en-US" sz="4000" b="1" kern="1200" baseline="-250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en-US" altLang="zh-CN" sz="4000" b="1" u="heavy" baseline="0" dirty="0">
                          <a:solidFill>
                            <a:schemeClr val="tx1"/>
                          </a:solidFill>
                          <a:uFill>
                            <a:solidFill>
                              <a:srgbClr val="FF0000"/>
                            </a:solidFill>
                          </a:uFill>
                        </a:rPr>
                        <a:t>2</a:t>
                      </a:r>
                      <a:r>
                        <a:rPr lang="en-US" altLang="zh-CN" sz="4000" b="1" baseline="-25000" dirty="0">
                          <a:solidFill>
                            <a:schemeClr val="tx1"/>
                          </a:solidFill>
                        </a:rPr>
                        <a:t>i</a:t>
                      </a:r>
                      <a:r>
                        <a:rPr lang="zh-CN" altLang="en-US" sz="4000" b="0" baseline="0" dirty="0">
                          <a:solidFill>
                            <a:schemeClr val="tx1"/>
                          </a:solidFill>
                        </a:rPr>
                        <a:t>、</a:t>
                      </a:r>
                      <a:r>
                        <a:rPr lang="en-US" altLang="zh-CN" sz="4000" b="0" baseline="0" dirty="0">
                          <a:solidFill>
                            <a:schemeClr val="tx1"/>
                          </a:solidFill>
                        </a:rPr>
                        <a:t>3</a:t>
                      </a:r>
                      <a:r>
                        <a:rPr lang="zh-CN" altLang="en-US" sz="4000" b="0" baseline="0" dirty="0">
                          <a:solidFill>
                            <a:schemeClr val="tx1"/>
                          </a:solidFill>
                        </a:rPr>
                        <a:t>、</a:t>
                      </a:r>
                      <a:r>
                        <a:rPr lang="en-US" altLang="zh-CN" sz="4000" b="0" baseline="0" dirty="0">
                          <a:solidFill>
                            <a:schemeClr val="tx1"/>
                          </a:solidFill>
                        </a:rPr>
                        <a:t>7</a:t>
                      </a:r>
                      <a:r>
                        <a:rPr lang="zh-CN" altLang="en-US" sz="4000" b="0" baseline="0" dirty="0">
                          <a:solidFill>
                            <a:schemeClr val="tx1"/>
                          </a:solidFill>
                        </a:rPr>
                        <a:t>、</a:t>
                      </a:r>
                      <a:r>
                        <a:rPr lang="en-US" altLang="zh-CN" sz="4000" b="0" baseline="0" dirty="0">
                          <a:solidFill>
                            <a:schemeClr val="tx1"/>
                          </a:solidFill>
                        </a:rPr>
                        <a:t>8</a:t>
                      </a:r>
                      <a:r>
                        <a:rPr lang="zh-CN" altLang="en-US" sz="4000" b="0" baseline="0" dirty="0">
                          <a:solidFill>
                            <a:schemeClr val="tx1"/>
                          </a:solidFill>
                        </a:rPr>
                        <a:t>、</a:t>
                      </a:r>
                      <a:r>
                        <a:rPr lang="en-US" altLang="zh-CN" sz="4000" b="0" baseline="0" dirty="0">
                          <a:solidFill>
                            <a:schemeClr val="tx1"/>
                          </a:solidFill>
                        </a:rPr>
                        <a:t>9</a:t>
                      </a:r>
                    </a:p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en-US" altLang="zh-CN" sz="4000" b="0" baseline="0" dirty="0">
                          <a:solidFill>
                            <a:schemeClr val="tx1"/>
                          </a:solidFill>
                        </a:rPr>
                        <a:t>1</a:t>
                      </a:r>
                      <a:r>
                        <a:rPr lang="zh-CN" altLang="en-US" sz="4000" b="0" baseline="0" dirty="0">
                          <a:solidFill>
                            <a:schemeClr val="tx1"/>
                          </a:solidFill>
                        </a:rPr>
                        <a:t>、</a:t>
                      </a:r>
                      <a:r>
                        <a:rPr lang="en-US" altLang="zh-CN" sz="4000" b="1" u="heavy" kern="1200" baseline="0" dirty="0">
                          <a:solidFill>
                            <a:schemeClr val="tx1"/>
                          </a:solidFill>
                          <a:uFill>
                            <a:solidFill>
                              <a:srgbClr val="FF0000"/>
                            </a:solidFill>
                          </a:uFill>
                          <a:latin typeface="+mn-lt"/>
                          <a:ea typeface="+mn-ea"/>
                          <a:cs typeface="+mn-cs"/>
                        </a:rPr>
                        <a:t>4</a:t>
                      </a:r>
                      <a:r>
                        <a:rPr lang="en-US" altLang="zh-CN" sz="4000" b="1" kern="1200" baseline="-250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j</a:t>
                      </a:r>
                      <a:r>
                        <a:rPr lang="zh-CN" altLang="en-US" sz="4000" b="0" baseline="0" dirty="0">
                          <a:solidFill>
                            <a:schemeClr val="tx1"/>
                          </a:solidFill>
                        </a:rPr>
                        <a:t>、</a:t>
                      </a:r>
                      <a:r>
                        <a:rPr lang="en-US" altLang="zh-CN" sz="4000" b="0" baseline="0" dirty="0"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en-US" altLang="zh-CN" sz="4000" b="0" baseline="0" dirty="0">
                          <a:solidFill>
                            <a:schemeClr val="tx1"/>
                          </a:solidFill>
                        </a:rPr>
                        <a:t>1</a:t>
                      </a:r>
                      <a:r>
                        <a:rPr lang="zh-CN" altLang="en-US" sz="4000" b="0" baseline="0" dirty="0">
                          <a:solidFill>
                            <a:schemeClr val="tx1"/>
                          </a:solidFill>
                        </a:rPr>
                        <a:t>、</a:t>
                      </a:r>
                      <a:r>
                        <a:rPr lang="en-US" altLang="zh-CN" sz="4000" b="1" u="heavy" baseline="0" dirty="0">
                          <a:solidFill>
                            <a:schemeClr val="tx1"/>
                          </a:solidFill>
                          <a:uFill>
                            <a:solidFill>
                              <a:srgbClr val="FF0000"/>
                            </a:solidFill>
                          </a:uFill>
                        </a:rPr>
                        <a:t>2</a:t>
                      </a:r>
                      <a:r>
                        <a:rPr lang="en-US" altLang="zh-CN" sz="4000" b="1" baseline="-25000" dirty="0">
                          <a:solidFill>
                            <a:schemeClr val="tx1"/>
                          </a:solidFill>
                        </a:rPr>
                        <a:t>k</a:t>
                      </a:r>
                      <a:endParaRPr lang="zh-CN" altLang="en-US" sz="4000" b="0" baseline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836084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en-US" altLang="zh-CN" sz="4000" b="0" baseline="0" dirty="0">
                          <a:solidFill>
                            <a:schemeClr val="tx1"/>
                          </a:solidFill>
                        </a:rPr>
                        <a:t>2</a:t>
                      </a:r>
                      <a:r>
                        <a:rPr lang="zh-CN" altLang="en-US" sz="4000" b="0" baseline="0" dirty="0">
                          <a:solidFill>
                            <a:schemeClr val="tx1"/>
                          </a:solidFill>
                        </a:rPr>
                        <a:t>、</a:t>
                      </a:r>
                      <a:r>
                        <a:rPr lang="en-US" altLang="zh-CN" sz="4000" b="1" u="heavy" kern="1200" baseline="0" dirty="0">
                          <a:solidFill>
                            <a:schemeClr val="tx1"/>
                          </a:solidFill>
                          <a:uFill>
                            <a:solidFill>
                              <a:srgbClr val="FF0000"/>
                            </a:solidFill>
                          </a:uFill>
                          <a:latin typeface="+mn-lt"/>
                          <a:ea typeface="+mn-ea"/>
                          <a:cs typeface="+mn-cs"/>
                        </a:rPr>
                        <a:t>3</a:t>
                      </a:r>
                      <a:r>
                        <a:rPr lang="en-US" altLang="zh-CN" sz="4000" b="1" kern="1200" baseline="-250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i</a:t>
                      </a:r>
                      <a:r>
                        <a:rPr lang="zh-CN" altLang="en-US" sz="4000" b="0" baseline="0" dirty="0">
                          <a:solidFill>
                            <a:schemeClr val="tx1"/>
                          </a:solidFill>
                        </a:rPr>
                        <a:t>、</a:t>
                      </a:r>
                      <a:r>
                        <a:rPr lang="en-US" altLang="zh-CN" sz="4000" b="0" baseline="0" dirty="0">
                          <a:solidFill>
                            <a:schemeClr val="tx1"/>
                          </a:solidFill>
                        </a:rPr>
                        <a:t>7</a:t>
                      </a:r>
                      <a:r>
                        <a:rPr lang="zh-CN" altLang="en-US" sz="4000" b="0" baseline="0" dirty="0">
                          <a:solidFill>
                            <a:schemeClr val="tx1"/>
                          </a:solidFill>
                        </a:rPr>
                        <a:t>、</a:t>
                      </a:r>
                      <a:r>
                        <a:rPr lang="en-US" altLang="zh-CN" sz="4000" b="0" baseline="0" dirty="0">
                          <a:solidFill>
                            <a:schemeClr val="tx1"/>
                          </a:solidFill>
                        </a:rPr>
                        <a:t>8</a:t>
                      </a:r>
                      <a:r>
                        <a:rPr lang="zh-CN" altLang="en-US" sz="4000" b="0" baseline="0" dirty="0">
                          <a:solidFill>
                            <a:schemeClr val="tx1"/>
                          </a:solidFill>
                        </a:rPr>
                        <a:t>、</a:t>
                      </a:r>
                      <a:r>
                        <a:rPr lang="en-US" altLang="zh-CN" sz="4000" b="0" baseline="0" dirty="0">
                          <a:solidFill>
                            <a:schemeClr val="tx1"/>
                          </a:solidFill>
                        </a:rPr>
                        <a:t>9</a:t>
                      </a:r>
                    </a:p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en-US" altLang="zh-CN" sz="4000" b="0" baseline="0" dirty="0">
                          <a:solidFill>
                            <a:schemeClr val="tx1"/>
                          </a:solidFill>
                        </a:rPr>
                        <a:t>1</a:t>
                      </a:r>
                      <a:r>
                        <a:rPr lang="zh-CN" altLang="en-US" sz="4000" b="0" baseline="0" dirty="0">
                          <a:solidFill>
                            <a:schemeClr val="tx1"/>
                          </a:solidFill>
                        </a:rPr>
                        <a:t>、</a:t>
                      </a:r>
                      <a:r>
                        <a:rPr lang="en-US" altLang="zh-CN" sz="4000" b="1" u="heavy" kern="1200" baseline="0" dirty="0">
                          <a:solidFill>
                            <a:schemeClr val="tx1"/>
                          </a:solidFill>
                          <a:uFill>
                            <a:solidFill>
                              <a:srgbClr val="FF0000"/>
                            </a:solidFill>
                          </a:uFill>
                          <a:latin typeface="+mn-lt"/>
                          <a:ea typeface="+mn-ea"/>
                          <a:cs typeface="+mn-cs"/>
                        </a:rPr>
                        <a:t>4</a:t>
                      </a:r>
                      <a:r>
                        <a:rPr lang="en-US" altLang="zh-CN" sz="4000" b="1" kern="1200" baseline="-250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j</a:t>
                      </a:r>
                      <a:r>
                        <a:rPr lang="zh-CN" altLang="en-US" sz="4000" b="0" baseline="0" dirty="0">
                          <a:solidFill>
                            <a:schemeClr val="tx1"/>
                          </a:solidFill>
                        </a:rPr>
                        <a:t>、</a:t>
                      </a:r>
                      <a:r>
                        <a:rPr lang="en-US" altLang="zh-CN" sz="4000" b="0" baseline="0" dirty="0"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en-US" altLang="zh-CN" sz="4000" b="0" baseline="0" dirty="0">
                          <a:solidFill>
                            <a:schemeClr val="tx1"/>
                          </a:solidFill>
                        </a:rPr>
                        <a:t>1</a:t>
                      </a:r>
                      <a:r>
                        <a:rPr lang="zh-CN" altLang="en-US" sz="4000" b="0" baseline="0" dirty="0">
                          <a:solidFill>
                            <a:schemeClr val="tx1"/>
                          </a:solidFill>
                        </a:rPr>
                        <a:t>、</a:t>
                      </a:r>
                      <a:r>
                        <a:rPr lang="en-US" altLang="zh-CN" sz="4000" b="0" baseline="0" dirty="0">
                          <a:solidFill>
                            <a:schemeClr val="tx1"/>
                          </a:solidFill>
                        </a:rPr>
                        <a:t>2</a:t>
                      </a:r>
                      <a:r>
                        <a:rPr lang="zh-CN" altLang="en-US" sz="4000" b="0" baseline="0" dirty="0">
                          <a:solidFill>
                            <a:schemeClr val="tx1"/>
                          </a:solidFill>
                        </a:rPr>
                        <a:t>、</a:t>
                      </a:r>
                      <a:r>
                        <a:rPr lang="en-US" altLang="zh-CN" sz="4000" b="1" u="heavy" kern="1200" baseline="0" dirty="0">
                          <a:solidFill>
                            <a:schemeClr val="tx1"/>
                          </a:solidFill>
                          <a:uFill>
                            <a:solidFill>
                              <a:srgbClr val="FF0000"/>
                            </a:solidFill>
                          </a:uFill>
                          <a:latin typeface="+mn-lt"/>
                          <a:ea typeface="+mn-ea"/>
                          <a:cs typeface="+mn-cs"/>
                        </a:rPr>
                        <a:t>3</a:t>
                      </a:r>
                      <a:r>
                        <a:rPr lang="en-US" altLang="zh-CN" sz="4000" b="1" kern="1200" baseline="-250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k</a:t>
                      </a:r>
                      <a:endParaRPr lang="zh-CN" altLang="en-US" sz="4000" b="0" baseline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en-US" altLang="zh-CN" sz="4000" baseline="0" dirty="0">
                          <a:solidFill>
                            <a:schemeClr val="tx1"/>
                          </a:solidFill>
                        </a:rPr>
                        <a:t>2</a:t>
                      </a:r>
                      <a:r>
                        <a:rPr lang="zh-CN" altLang="en-US" sz="4000" baseline="0" dirty="0">
                          <a:solidFill>
                            <a:schemeClr val="tx1"/>
                          </a:solidFill>
                        </a:rPr>
                        <a:t>、</a:t>
                      </a:r>
                      <a:r>
                        <a:rPr lang="en-US" altLang="zh-CN" sz="4000" baseline="0" dirty="0">
                          <a:solidFill>
                            <a:schemeClr val="tx1"/>
                          </a:solidFill>
                        </a:rPr>
                        <a:t>3</a:t>
                      </a:r>
                      <a:r>
                        <a:rPr lang="zh-CN" altLang="en-US" sz="4000" baseline="0" dirty="0">
                          <a:solidFill>
                            <a:schemeClr val="tx1"/>
                          </a:solidFill>
                        </a:rPr>
                        <a:t>、</a:t>
                      </a:r>
                      <a:r>
                        <a:rPr lang="en-US" altLang="zh-CN" sz="4000" b="1" u="heavy" kern="1200" baseline="0" dirty="0">
                          <a:solidFill>
                            <a:schemeClr val="tx1"/>
                          </a:solidFill>
                          <a:uFill>
                            <a:solidFill>
                              <a:srgbClr val="FF0000"/>
                            </a:solidFill>
                          </a:uFill>
                          <a:latin typeface="+mn-lt"/>
                          <a:ea typeface="+mn-ea"/>
                          <a:cs typeface="+mn-cs"/>
                        </a:rPr>
                        <a:t>7</a:t>
                      </a:r>
                      <a:r>
                        <a:rPr lang="en-US" altLang="zh-CN" sz="4000" b="1" kern="1200" baseline="-250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i</a:t>
                      </a:r>
                      <a:r>
                        <a:rPr lang="zh-CN" altLang="en-US" sz="4000" baseline="0" dirty="0">
                          <a:solidFill>
                            <a:schemeClr val="tx1"/>
                          </a:solidFill>
                        </a:rPr>
                        <a:t>、</a:t>
                      </a:r>
                      <a:r>
                        <a:rPr lang="en-US" altLang="zh-CN" sz="4000" baseline="0" dirty="0">
                          <a:solidFill>
                            <a:schemeClr val="tx1"/>
                          </a:solidFill>
                        </a:rPr>
                        <a:t>8</a:t>
                      </a:r>
                      <a:r>
                        <a:rPr lang="zh-CN" altLang="en-US" sz="4000" baseline="0" dirty="0">
                          <a:solidFill>
                            <a:schemeClr val="tx1"/>
                          </a:solidFill>
                        </a:rPr>
                        <a:t>、</a:t>
                      </a:r>
                      <a:r>
                        <a:rPr lang="en-US" altLang="zh-CN" sz="4000" baseline="0" dirty="0">
                          <a:solidFill>
                            <a:schemeClr val="tx1"/>
                          </a:solidFill>
                        </a:rPr>
                        <a:t>9</a:t>
                      </a:r>
                    </a:p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en-US" altLang="zh-CN" sz="4000" baseline="0" dirty="0">
                          <a:solidFill>
                            <a:schemeClr val="tx1"/>
                          </a:solidFill>
                        </a:rPr>
                        <a:t>1</a:t>
                      </a:r>
                      <a:r>
                        <a:rPr lang="zh-CN" altLang="en-US" sz="4000" baseline="0" dirty="0">
                          <a:solidFill>
                            <a:schemeClr val="tx1"/>
                          </a:solidFill>
                        </a:rPr>
                        <a:t>、</a:t>
                      </a:r>
                      <a:r>
                        <a:rPr lang="en-US" altLang="zh-CN" sz="4000" b="1" u="heavy" kern="1200" baseline="0" dirty="0">
                          <a:solidFill>
                            <a:schemeClr val="tx1"/>
                          </a:solidFill>
                          <a:uFill>
                            <a:solidFill>
                              <a:srgbClr val="FF0000"/>
                            </a:solidFill>
                          </a:uFill>
                          <a:latin typeface="+mn-lt"/>
                          <a:ea typeface="+mn-ea"/>
                          <a:cs typeface="+mn-cs"/>
                        </a:rPr>
                        <a:t>4</a:t>
                      </a:r>
                      <a:r>
                        <a:rPr lang="en-US" altLang="zh-CN" sz="4000" b="1" kern="1200" baseline="-250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j</a:t>
                      </a:r>
                      <a:r>
                        <a:rPr lang="zh-CN" altLang="en-US" sz="4000" baseline="0" dirty="0">
                          <a:solidFill>
                            <a:schemeClr val="tx1"/>
                          </a:solidFill>
                        </a:rPr>
                        <a:t>、</a:t>
                      </a:r>
                      <a:r>
                        <a:rPr lang="en-US" altLang="zh-CN" sz="4000" baseline="0" dirty="0"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en-US" altLang="zh-CN" sz="4000" baseline="0" dirty="0">
                          <a:solidFill>
                            <a:schemeClr val="tx1"/>
                          </a:solidFill>
                        </a:rPr>
                        <a:t>1</a:t>
                      </a:r>
                      <a:r>
                        <a:rPr lang="zh-CN" altLang="en-US" sz="4000" baseline="0" dirty="0">
                          <a:solidFill>
                            <a:schemeClr val="tx1"/>
                          </a:solidFill>
                        </a:rPr>
                        <a:t>、</a:t>
                      </a:r>
                      <a:r>
                        <a:rPr lang="en-US" altLang="zh-CN" sz="4000" baseline="0" dirty="0">
                          <a:solidFill>
                            <a:schemeClr val="tx1"/>
                          </a:solidFill>
                        </a:rPr>
                        <a:t>2</a:t>
                      </a:r>
                      <a:r>
                        <a:rPr lang="zh-CN" altLang="en-US" sz="4000" baseline="0" dirty="0">
                          <a:solidFill>
                            <a:schemeClr val="tx1"/>
                          </a:solidFill>
                        </a:rPr>
                        <a:t>、</a:t>
                      </a:r>
                      <a:r>
                        <a:rPr lang="en-US" altLang="zh-CN" sz="4000" baseline="0" dirty="0">
                          <a:solidFill>
                            <a:schemeClr val="tx1"/>
                          </a:solidFill>
                        </a:rPr>
                        <a:t>3</a:t>
                      </a:r>
                      <a:r>
                        <a:rPr lang="zh-CN" altLang="en-US" sz="4000" baseline="0" dirty="0">
                          <a:solidFill>
                            <a:schemeClr val="tx1"/>
                          </a:solidFill>
                        </a:rPr>
                        <a:t>、</a:t>
                      </a:r>
                      <a:r>
                        <a:rPr lang="en-US" altLang="zh-CN" sz="4000" b="1" u="heavy" kern="1200" baseline="0" dirty="0">
                          <a:solidFill>
                            <a:schemeClr val="tx1"/>
                          </a:solidFill>
                          <a:uFill>
                            <a:solidFill>
                              <a:srgbClr val="FF0000"/>
                            </a:solidFill>
                          </a:uFill>
                          <a:latin typeface="+mn-lt"/>
                          <a:ea typeface="+mn-ea"/>
                          <a:cs typeface="+mn-cs"/>
                        </a:rPr>
                        <a:t>4</a:t>
                      </a:r>
                      <a:r>
                        <a:rPr lang="en-US" altLang="zh-CN" sz="4000" b="1" kern="1200" baseline="-250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k</a:t>
                      </a:r>
                      <a:endParaRPr lang="zh-CN" altLang="en-US" sz="4000" baseline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en-US" altLang="zh-CN" sz="4000" baseline="0" dirty="0">
                          <a:solidFill>
                            <a:schemeClr val="tx1"/>
                          </a:solidFill>
                        </a:rPr>
                        <a:t>2</a:t>
                      </a:r>
                      <a:r>
                        <a:rPr lang="zh-CN" altLang="en-US" sz="4000" baseline="0" dirty="0">
                          <a:solidFill>
                            <a:schemeClr val="tx1"/>
                          </a:solidFill>
                        </a:rPr>
                        <a:t>、</a:t>
                      </a:r>
                      <a:r>
                        <a:rPr lang="en-US" altLang="zh-CN" sz="4000" baseline="0" dirty="0">
                          <a:solidFill>
                            <a:schemeClr val="tx1"/>
                          </a:solidFill>
                        </a:rPr>
                        <a:t>3</a:t>
                      </a:r>
                      <a:r>
                        <a:rPr lang="zh-CN" altLang="en-US" sz="4000" baseline="0" dirty="0">
                          <a:solidFill>
                            <a:schemeClr val="tx1"/>
                          </a:solidFill>
                        </a:rPr>
                        <a:t>、</a:t>
                      </a:r>
                      <a:r>
                        <a:rPr lang="en-US" altLang="zh-CN" sz="4000" b="1" u="heavy" kern="1200" baseline="0" dirty="0">
                          <a:solidFill>
                            <a:schemeClr val="tx1"/>
                          </a:solidFill>
                          <a:uFill>
                            <a:solidFill>
                              <a:srgbClr val="FF0000"/>
                            </a:solidFill>
                          </a:uFill>
                          <a:latin typeface="+mn-lt"/>
                          <a:ea typeface="+mn-ea"/>
                          <a:cs typeface="+mn-cs"/>
                        </a:rPr>
                        <a:t>7</a:t>
                      </a:r>
                      <a:r>
                        <a:rPr lang="en-US" altLang="zh-CN" sz="4000" b="1" kern="1200" baseline="-250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i</a:t>
                      </a:r>
                      <a:r>
                        <a:rPr lang="zh-CN" altLang="en-US" sz="4000" baseline="0" dirty="0">
                          <a:solidFill>
                            <a:schemeClr val="tx1"/>
                          </a:solidFill>
                        </a:rPr>
                        <a:t>、</a:t>
                      </a:r>
                      <a:r>
                        <a:rPr lang="en-US" altLang="zh-CN" sz="4000" baseline="0" dirty="0">
                          <a:solidFill>
                            <a:schemeClr val="tx1"/>
                          </a:solidFill>
                        </a:rPr>
                        <a:t>8</a:t>
                      </a:r>
                      <a:r>
                        <a:rPr lang="zh-CN" altLang="en-US" sz="4000" baseline="0" dirty="0">
                          <a:solidFill>
                            <a:schemeClr val="tx1"/>
                          </a:solidFill>
                        </a:rPr>
                        <a:t>、</a:t>
                      </a:r>
                      <a:r>
                        <a:rPr lang="en-US" altLang="zh-CN" sz="4000" baseline="0" dirty="0">
                          <a:solidFill>
                            <a:schemeClr val="tx1"/>
                          </a:solidFill>
                        </a:rPr>
                        <a:t>9</a:t>
                      </a:r>
                    </a:p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en-US" altLang="zh-CN" sz="4000" baseline="0" dirty="0">
                          <a:solidFill>
                            <a:schemeClr val="tx1"/>
                          </a:solidFill>
                        </a:rPr>
                        <a:t>1</a:t>
                      </a:r>
                      <a:r>
                        <a:rPr lang="zh-CN" altLang="en-US" sz="4000" baseline="0" dirty="0">
                          <a:solidFill>
                            <a:schemeClr val="tx1"/>
                          </a:solidFill>
                        </a:rPr>
                        <a:t>、</a:t>
                      </a:r>
                      <a:r>
                        <a:rPr lang="en-US" altLang="zh-CN" sz="4000" baseline="0" dirty="0">
                          <a:solidFill>
                            <a:schemeClr val="tx1"/>
                          </a:solidFill>
                        </a:rPr>
                        <a:t>4</a:t>
                      </a:r>
                      <a:r>
                        <a:rPr lang="zh-CN" altLang="en-US" sz="4000" baseline="0" dirty="0">
                          <a:solidFill>
                            <a:schemeClr val="tx1"/>
                          </a:solidFill>
                        </a:rPr>
                        <a:t>、</a:t>
                      </a:r>
                      <a:r>
                        <a:rPr lang="en-US" altLang="zh-CN" sz="4000" b="1" u="heavy" kern="1200" baseline="0" dirty="0">
                          <a:solidFill>
                            <a:schemeClr val="tx1"/>
                          </a:solidFill>
                          <a:uFill>
                            <a:solidFill>
                              <a:srgbClr val="FF0000"/>
                            </a:solidFill>
                          </a:uFill>
                          <a:latin typeface="+mn-lt"/>
                          <a:ea typeface="+mn-ea"/>
                          <a:cs typeface="+mn-cs"/>
                        </a:rPr>
                        <a:t>5</a:t>
                      </a:r>
                      <a:r>
                        <a:rPr lang="en-US" altLang="zh-CN" sz="4000" b="1" kern="1200" baseline="-250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j</a:t>
                      </a:r>
                    </a:p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en-US" altLang="zh-CN" sz="4000" baseline="0" dirty="0">
                          <a:solidFill>
                            <a:schemeClr val="tx1"/>
                          </a:solidFill>
                        </a:rPr>
                        <a:t>1</a:t>
                      </a:r>
                      <a:r>
                        <a:rPr lang="zh-CN" altLang="en-US" sz="4000" baseline="0" dirty="0">
                          <a:solidFill>
                            <a:schemeClr val="tx1"/>
                          </a:solidFill>
                        </a:rPr>
                        <a:t>、</a:t>
                      </a:r>
                      <a:r>
                        <a:rPr lang="en-US" altLang="zh-CN" sz="4000" baseline="0" dirty="0">
                          <a:solidFill>
                            <a:schemeClr val="tx1"/>
                          </a:solidFill>
                        </a:rPr>
                        <a:t>2</a:t>
                      </a:r>
                      <a:r>
                        <a:rPr lang="zh-CN" altLang="en-US" sz="4000" baseline="0" dirty="0">
                          <a:solidFill>
                            <a:schemeClr val="tx1"/>
                          </a:solidFill>
                        </a:rPr>
                        <a:t>、</a:t>
                      </a:r>
                      <a:r>
                        <a:rPr lang="en-US" altLang="zh-CN" sz="4000" baseline="0" dirty="0">
                          <a:solidFill>
                            <a:schemeClr val="tx1"/>
                          </a:solidFill>
                        </a:rPr>
                        <a:t>3</a:t>
                      </a:r>
                      <a:r>
                        <a:rPr lang="zh-CN" altLang="en-US" sz="4000" baseline="0" dirty="0">
                          <a:solidFill>
                            <a:schemeClr val="tx1"/>
                          </a:solidFill>
                        </a:rPr>
                        <a:t>、</a:t>
                      </a:r>
                      <a:r>
                        <a:rPr lang="en-US" altLang="zh-CN" sz="4000" baseline="0" dirty="0">
                          <a:solidFill>
                            <a:schemeClr val="tx1"/>
                          </a:solidFill>
                        </a:rPr>
                        <a:t>4</a:t>
                      </a:r>
                      <a:r>
                        <a:rPr lang="zh-CN" altLang="en-US" sz="4000" baseline="0" dirty="0">
                          <a:solidFill>
                            <a:schemeClr val="tx1"/>
                          </a:solidFill>
                        </a:rPr>
                        <a:t>、</a:t>
                      </a:r>
                      <a:r>
                        <a:rPr lang="en-US" altLang="zh-CN" sz="4000" b="1" u="heavy" kern="1200" baseline="0" dirty="0">
                          <a:solidFill>
                            <a:schemeClr val="tx1"/>
                          </a:solidFill>
                          <a:uFill>
                            <a:solidFill>
                              <a:srgbClr val="FF0000"/>
                            </a:solidFill>
                          </a:uFill>
                          <a:latin typeface="+mn-lt"/>
                          <a:ea typeface="+mn-ea"/>
                          <a:cs typeface="+mn-cs"/>
                        </a:rPr>
                        <a:t>5</a:t>
                      </a:r>
                      <a:r>
                        <a:rPr lang="en-US" altLang="zh-CN" sz="4000" b="1" kern="1200" baseline="-250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k</a:t>
                      </a:r>
                      <a:endParaRPr lang="zh-CN" altLang="en-US" sz="4000" baseline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88749723"/>
                  </a:ext>
                </a:extLst>
              </a:tr>
            </a:tbl>
          </a:graphicData>
        </a:graphic>
      </p:graphicFrame>
      <p:sp>
        <p:nvSpPr>
          <p:cNvPr id="10" name="文本框 9">
            <a:extLst>
              <a:ext uri="{FF2B5EF4-FFF2-40B4-BE49-F238E27FC236}">
                <a16:creationId xmlns:a16="http://schemas.microsoft.com/office/drawing/2014/main" id="{19A4CF42-1D2F-498A-95F8-B650A4AAEEAC}"/>
              </a:ext>
            </a:extLst>
          </p:cNvPr>
          <p:cNvSpPr txBox="1"/>
          <p:nvPr/>
        </p:nvSpPr>
        <p:spPr>
          <a:xfrm>
            <a:off x="304800" y="5486400"/>
            <a:ext cx="7882286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表一中剩下</a:t>
            </a:r>
            <a:r>
              <a:rPr lang="en-US" altLang="zh-CN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7</a:t>
            </a:r>
            <a:r>
              <a:rPr lang="zh-CN" altLang="en-US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8</a:t>
            </a:r>
            <a:r>
              <a:rPr lang="zh-CN" altLang="en-US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和</a:t>
            </a:r>
            <a:r>
              <a:rPr lang="en-US" altLang="zh-CN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9</a:t>
            </a:r>
            <a:r>
              <a:rPr lang="zh-CN" altLang="en-US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，直接拷贝到表三，得</a:t>
            </a:r>
            <a:endParaRPr lang="en-US" altLang="zh-CN" sz="3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en-US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r>
              <a:rPr lang="zh-CN" altLang="en-US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4</a:t>
            </a:r>
            <a:r>
              <a:rPr lang="zh-CN" altLang="en-US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5</a:t>
            </a:r>
            <a:r>
              <a:rPr lang="zh-CN" altLang="en-US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7</a:t>
            </a:r>
            <a:r>
              <a:rPr lang="zh-CN" altLang="en-US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8</a:t>
            </a:r>
            <a:r>
              <a:rPr lang="zh-CN" altLang="en-US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9</a:t>
            </a:r>
            <a:endParaRPr lang="zh-CN" altLang="en-US" sz="3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78327796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D553DE0-8A6B-4729-B343-F6E24387B7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有序表合并的实现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E346D31-D45D-4516-B608-17B7F38C5AC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4800" y="1219200"/>
            <a:ext cx="11582400" cy="5181600"/>
          </a:xfrm>
        </p:spPr>
        <p:txBody>
          <a:bodyPr/>
          <a:lstStyle/>
          <a:p>
            <a:pPr marL="0" indent="0">
              <a:lnSpc>
                <a:spcPct val="100000"/>
              </a:lnSpc>
              <a:buNone/>
            </a:pPr>
            <a:r>
              <a:rPr lang="en-US" altLang="zh-CN" b="0" dirty="0"/>
              <a:t>Status </a:t>
            </a:r>
            <a:r>
              <a:rPr lang="en-US" altLang="zh-CN" b="0" dirty="0" err="1"/>
              <a:t>MergeSeqList</a:t>
            </a:r>
            <a:r>
              <a:rPr lang="en-US" altLang="zh-CN" b="0" dirty="0"/>
              <a:t>(</a:t>
            </a:r>
            <a:r>
              <a:rPr lang="en-US" altLang="zh-CN" b="0" dirty="0" err="1"/>
              <a:t>SeqList</a:t>
            </a:r>
            <a:r>
              <a:rPr lang="en-US" altLang="zh-CN" b="0" dirty="0"/>
              <a:t>* pL1,</a:t>
            </a:r>
            <a:r>
              <a:rPr lang="zh-CN" altLang="en-US" b="0" dirty="0"/>
              <a:t> </a:t>
            </a:r>
            <a:r>
              <a:rPr lang="en-US" altLang="zh-CN" b="0" dirty="0" err="1"/>
              <a:t>SeqList</a:t>
            </a:r>
            <a:r>
              <a:rPr lang="en-US" altLang="zh-CN" b="0" dirty="0"/>
              <a:t>* pL2, 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b="0" dirty="0"/>
              <a:t>                                  </a:t>
            </a:r>
            <a:r>
              <a:rPr lang="en-US" altLang="zh-CN" b="0" dirty="0" err="1"/>
              <a:t>SeqList</a:t>
            </a:r>
            <a:r>
              <a:rPr lang="en-US" altLang="zh-CN" b="0" dirty="0"/>
              <a:t>* pL3 ){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b="0" dirty="0"/>
              <a:t>    int </a:t>
            </a:r>
            <a:r>
              <a:rPr lang="en-US" altLang="zh-CN" b="0" dirty="0" err="1"/>
              <a:t>i</a:t>
            </a:r>
            <a:r>
              <a:rPr lang="en-US" altLang="zh-CN" b="0" dirty="0"/>
              <a:t>=0, j=0, k=0;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b="0" dirty="0"/>
              <a:t>    if(pL1-&gt;length+pL2-&gt;length&gt;pL3-&gt;size){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b="0" dirty="0"/>
              <a:t>        return ERROR;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b="0" dirty="0"/>
              <a:t>    }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b="0" dirty="0"/>
              <a:t>    while(</a:t>
            </a:r>
            <a:r>
              <a:rPr lang="en-US" altLang="zh-CN" b="0" dirty="0" err="1"/>
              <a:t>i</a:t>
            </a:r>
            <a:r>
              <a:rPr lang="en-US" altLang="zh-CN" b="0" dirty="0"/>
              <a:t>&lt;pL1-&gt;length &amp;&amp; j&lt;pL2-&gt;length){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b="0" dirty="0"/>
              <a:t>        if (pL1-&gt;</a:t>
            </a:r>
            <a:r>
              <a:rPr lang="en-US" altLang="zh-CN" b="0" dirty="0" err="1"/>
              <a:t>pElemArray</a:t>
            </a:r>
            <a:r>
              <a:rPr lang="en-US" altLang="zh-CN" b="0" dirty="0"/>
              <a:t>[</a:t>
            </a:r>
            <a:r>
              <a:rPr lang="en-US" altLang="zh-CN" b="0" dirty="0" err="1"/>
              <a:t>i</a:t>
            </a:r>
            <a:r>
              <a:rPr lang="en-US" altLang="zh-CN" b="0" dirty="0"/>
              <a:t>]&lt;=pL2-&gt;</a:t>
            </a:r>
            <a:r>
              <a:rPr lang="en-US" altLang="zh-CN" b="0" dirty="0" err="1"/>
              <a:t>pElemArray</a:t>
            </a:r>
            <a:r>
              <a:rPr lang="en-US" altLang="zh-CN" b="0" dirty="0"/>
              <a:t>[j]){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b="0" dirty="0"/>
              <a:t>            pL3-&gt;</a:t>
            </a:r>
            <a:r>
              <a:rPr lang="en-US" altLang="zh-CN" b="0" dirty="0" err="1"/>
              <a:t>pElemArray</a:t>
            </a:r>
            <a:r>
              <a:rPr lang="en-US" altLang="zh-CN" b="0" dirty="0"/>
              <a:t>[k]=pL1-&gt;</a:t>
            </a:r>
            <a:r>
              <a:rPr lang="en-US" altLang="zh-CN" b="0" dirty="0" err="1"/>
              <a:t>pElemArray</a:t>
            </a:r>
            <a:r>
              <a:rPr lang="en-US" altLang="zh-CN" b="0" dirty="0"/>
              <a:t>[</a:t>
            </a:r>
            <a:r>
              <a:rPr lang="en-US" altLang="zh-CN" b="0" dirty="0" err="1"/>
              <a:t>i</a:t>
            </a:r>
            <a:r>
              <a:rPr lang="en-US" altLang="zh-CN" b="0" dirty="0"/>
              <a:t>]);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b="0" dirty="0"/>
              <a:t>            </a:t>
            </a:r>
            <a:r>
              <a:rPr lang="en-US" altLang="zh-CN" b="0" dirty="0" err="1"/>
              <a:t>i</a:t>
            </a:r>
            <a:r>
              <a:rPr lang="en-US" altLang="zh-CN" b="0" dirty="0"/>
              <a:t>++;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b="0" dirty="0"/>
              <a:t>            k++;</a:t>
            </a:r>
            <a:endParaRPr lang="zh-CN" altLang="en-US" b="0" dirty="0"/>
          </a:p>
        </p:txBody>
      </p:sp>
    </p:spTree>
    <p:extLst>
      <p:ext uri="{BB962C8B-B14F-4D97-AF65-F5344CB8AC3E}">
        <p14:creationId xmlns:p14="http://schemas.microsoft.com/office/powerpoint/2010/main" val="36297071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D553DE0-8A6B-4729-B343-F6E24387B7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有序表合并的实现（续）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E346D31-D45D-4516-B608-17B7F38C5AC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4800" y="1219200"/>
            <a:ext cx="11582400" cy="5181600"/>
          </a:xfrm>
        </p:spPr>
        <p:txBody>
          <a:bodyPr/>
          <a:lstStyle/>
          <a:p>
            <a:pPr marL="0" indent="0">
              <a:lnSpc>
                <a:spcPct val="100000"/>
              </a:lnSpc>
              <a:buNone/>
            </a:pPr>
            <a:r>
              <a:rPr lang="en-US" altLang="zh-CN" b="0" dirty="0"/>
              <a:t>        }  /* End of if */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b="0" dirty="0"/>
              <a:t>        else {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b="0" dirty="0"/>
              <a:t>            pL3-&gt;</a:t>
            </a:r>
            <a:r>
              <a:rPr lang="en-US" altLang="zh-CN" b="0" dirty="0" err="1"/>
              <a:t>pElemArray</a:t>
            </a:r>
            <a:r>
              <a:rPr lang="en-US" altLang="zh-CN" b="0" dirty="0"/>
              <a:t>[k]=pL2-&gt;</a:t>
            </a:r>
            <a:r>
              <a:rPr lang="en-US" altLang="zh-CN" b="0" dirty="0" err="1"/>
              <a:t>pElemArray</a:t>
            </a:r>
            <a:r>
              <a:rPr lang="en-US" altLang="zh-CN" b="0" dirty="0"/>
              <a:t>[j];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b="0" dirty="0"/>
              <a:t>            </a:t>
            </a:r>
            <a:r>
              <a:rPr lang="en-US" altLang="zh-CN" b="0" dirty="0" err="1"/>
              <a:t>j++</a:t>
            </a:r>
            <a:r>
              <a:rPr lang="en-US" altLang="zh-CN" b="0" dirty="0"/>
              <a:t>;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b="0" dirty="0"/>
              <a:t>            k++;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b="0" dirty="0"/>
              <a:t>        }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b="0" dirty="0"/>
              <a:t>    }  /* End of while */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b="0" dirty="0"/>
              <a:t>    while (</a:t>
            </a:r>
            <a:r>
              <a:rPr lang="en-US" altLang="zh-CN" b="0" dirty="0" err="1"/>
              <a:t>i</a:t>
            </a:r>
            <a:r>
              <a:rPr lang="en-US" altLang="zh-CN" b="0" dirty="0"/>
              <a:t>&lt;pL1-&gt;length) {  /* </a:t>
            </a:r>
            <a:r>
              <a:rPr lang="zh-CN" altLang="en-US" b="0" dirty="0"/>
              <a:t>拷贝表</a:t>
            </a:r>
            <a:r>
              <a:rPr lang="en-US" altLang="zh-CN" b="0" dirty="0"/>
              <a:t>1</a:t>
            </a:r>
            <a:r>
              <a:rPr lang="zh-CN" altLang="en-US" b="0" dirty="0"/>
              <a:t>剩下的部分 *</a:t>
            </a:r>
            <a:r>
              <a:rPr lang="en-US" altLang="zh-CN" b="0" dirty="0"/>
              <a:t>/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b="0" dirty="0"/>
              <a:t>        pL3-&gt;</a:t>
            </a:r>
            <a:r>
              <a:rPr lang="en-US" altLang="zh-CN" b="0" dirty="0" err="1"/>
              <a:t>pElemArray</a:t>
            </a:r>
            <a:r>
              <a:rPr lang="en-US" altLang="zh-CN" b="0" dirty="0"/>
              <a:t>[k]=pL1-&gt;</a:t>
            </a:r>
            <a:r>
              <a:rPr lang="en-US" altLang="zh-CN" b="0" dirty="0" err="1"/>
              <a:t>pElemArray</a:t>
            </a:r>
            <a:r>
              <a:rPr lang="en-US" altLang="zh-CN" b="0" dirty="0"/>
              <a:t>[</a:t>
            </a:r>
            <a:r>
              <a:rPr lang="en-US" altLang="zh-CN" b="0" dirty="0" err="1"/>
              <a:t>i</a:t>
            </a:r>
            <a:r>
              <a:rPr lang="en-US" altLang="zh-CN" b="0" dirty="0"/>
              <a:t>];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b="0" dirty="0"/>
              <a:t>        </a:t>
            </a:r>
            <a:r>
              <a:rPr lang="en-US" altLang="zh-CN" b="0" dirty="0" err="1"/>
              <a:t>i</a:t>
            </a:r>
            <a:r>
              <a:rPr lang="en-US" altLang="zh-CN" b="0" dirty="0"/>
              <a:t>++;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b="0" dirty="0"/>
              <a:t>        k++;</a:t>
            </a:r>
            <a:endParaRPr lang="zh-CN" altLang="en-US" b="0" dirty="0"/>
          </a:p>
        </p:txBody>
      </p:sp>
    </p:spTree>
    <p:extLst>
      <p:ext uri="{BB962C8B-B14F-4D97-AF65-F5344CB8AC3E}">
        <p14:creationId xmlns:p14="http://schemas.microsoft.com/office/powerpoint/2010/main" val="124399483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D553DE0-8A6B-4729-B343-F6E24387B7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有序表合并的实现（再续）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E346D31-D45D-4516-B608-17B7F38C5AC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4800" y="1219200"/>
            <a:ext cx="11582400" cy="5181600"/>
          </a:xfrm>
        </p:spPr>
        <p:txBody>
          <a:bodyPr/>
          <a:lstStyle/>
          <a:p>
            <a:pPr marL="0" indent="0">
              <a:lnSpc>
                <a:spcPct val="100000"/>
              </a:lnSpc>
              <a:buNone/>
            </a:pPr>
            <a:r>
              <a:rPr lang="en-US" altLang="zh-CN" b="0" dirty="0"/>
              <a:t>    }  /* End of while */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b="0" dirty="0"/>
              <a:t>    while (j&lt;pL2-&gt;length) {  /* </a:t>
            </a:r>
            <a:r>
              <a:rPr lang="zh-CN" altLang="en-US" b="0" dirty="0"/>
              <a:t>拷贝表二剩下的部分 *</a:t>
            </a:r>
            <a:r>
              <a:rPr lang="en-US" altLang="zh-CN" b="0" dirty="0"/>
              <a:t>/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b="0" dirty="0"/>
              <a:t>        pL3-&gt;</a:t>
            </a:r>
            <a:r>
              <a:rPr lang="en-US" altLang="zh-CN" b="0" dirty="0" err="1"/>
              <a:t>pElemArray</a:t>
            </a:r>
            <a:r>
              <a:rPr lang="en-US" altLang="zh-CN" b="0" dirty="0"/>
              <a:t>[k]=pL2-&gt;</a:t>
            </a:r>
            <a:r>
              <a:rPr lang="en-US" altLang="zh-CN" b="0" dirty="0" err="1"/>
              <a:t>pElemArray</a:t>
            </a:r>
            <a:r>
              <a:rPr lang="en-US" altLang="zh-CN" b="0" dirty="0"/>
              <a:t>[j];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b="0" dirty="0"/>
              <a:t>        </a:t>
            </a:r>
            <a:r>
              <a:rPr lang="en-US" altLang="zh-CN" b="0" dirty="0" err="1"/>
              <a:t>j++</a:t>
            </a:r>
            <a:r>
              <a:rPr lang="en-US" altLang="zh-CN" b="0" dirty="0"/>
              <a:t>;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b="0" dirty="0"/>
              <a:t>        k++;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b="0" dirty="0"/>
              <a:t>    }  /* End of while */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b="0" dirty="0"/>
              <a:t>    pL3-&gt;length=pL1-&gt;length+pL2-&gt;length;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b="0" dirty="0"/>
              <a:t>    return OK;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b="0" dirty="0"/>
              <a:t>}</a:t>
            </a:r>
            <a:endParaRPr lang="zh-CN" altLang="en-US" b="0" dirty="0"/>
          </a:p>
        </p:txBody>
      </p:sp>
    </p:spTree>
    <p:extLst>
      <p:ext uri="{BB962C8B-B14F-4D97-AF65-F5344CB8AC3E}">
        <p14:creationId xmlns:p14="http://schemas.microsoft.com/office/powerpoint/2010/main" val="224831220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66566AD-C86D-42C0-992A-8E10F97BC9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顺序表操作的时间复杂度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1275629-87EE-4A74-930C-EF9D7EA2BDD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4800" y="1295400"/>
            <a:ext cx="11582400" cy="5181600"/>
          </a:xfrm>
        </p:spPr>
        <p:txBody>
          <a:bodyPr/>
          <a:lstStyle/>
          <a:p>
            <a:pPr lvl="1">
              <a:lnSpc>
                <a:spcPct val="120000"/>
              </a:lnSpc>
            </a:pPr>
            <a:r>
              <a:rPr lang="en-US" altLang="zh-CN" dirty="0" err="1"/>
              <a:t>ConstructSeqList</a:t>
            </a:r>
            <a:r>
              <a:rPr lang="zh-CN" altLang="en-US" dirty="0"/>
              <a:t>   </a:t>
            </a:r>
            <a:r>
              <a:rPr lang="en-US" altLang="zh-CN" dirty="0"/>
              <a:t>O(1)</a:t>
            </a:r>
          </a:p>
          <a:p>
            <a:pPr lvl="1">
              <a:lnSpc>
                <a:spcPct val="120000"/>
              </a:lnSpc>
            </a:pPr>
            <a:r>
              <a:rPr lang="en-US" altLang="zh-CN" dirty="0" err="1"/>
              <a:t>DestructSeqList</a:t>
            </a:r>
            <a:r>
              <a:rPr lang="en-US" altLang="zh-CN" dirty="0"/>
              <a:t>    O(1)</a:t>
            </a:r>
          </a:p>
          <a:p>
            <a:pPr lvl="1">
              <a:lnSpc>
                <a:spcPct val="120000"/>
              </a:lnSpc>
            </a:pPr>
            <a:r>
              <a:rPr lang="en-US" altLang="zh-CN" dirty="0" err="1"/>
              <a:t>LengthOfSeqList</a:t>
            </a:r>
            <a:r>
              <a:rPr lang="en-US" altLang="zh-CN" dirty="0"/>
              <a:t>    O(1)</a:t>
            </a:r>
          </a:p>
          <a:p>
            <a:pPr lvl="1">
              <a:lnSpc>
                <a:spcPct val="120000"/>
              </a:lnSpc>
            </a:pPr>
            <a:r>
              <a:rPr lang="en-US" altLang="zh-CN" dirty="0" err="1"/>
              <a:t>GetElemFromSeqList</a:t>
            </a:r>
            <a:r>
              <a:rPr lang="en-US" altLang="zh-CN" dirty="0"/>
              <a:t>    O(1)</a:t>
            </a:r>
          </a:p>
          <a:p>
            <a:pPr lvl="1">
              <a:lnSpc>
                <a:spcPct val="120000"/>
              </a:lnSpc>
            </a:pPr>
            <a:r>
              <a:rPr lang="en-US" altLang="zh-CN" dirty="0" err="1"/>
              <a:t>SearchSeqList</a:t>
            </a:r>
            <a:r>
              <a:rPr lang="en-US" altLang="zh-CN" dirty="0"/>
              <a:t>    O(n)</a:t>
            </a:r>
          </a:p>
          <a:p>
            <a:pPr lvl="1">
              <a:lnSpc>
                <a:spcPct val="120000"/>
              </a:lnSpc>
            </a:pPr>
            <a:r>
              <a:rPr lang="en-US" altLang="zh-CN" dirty="0" err="1"/>
              <a:t>AppendToSeqList</a:t>
            </a:r>
            <a:r>
              <a:rPr lang="en-US" altLang="zh-CN" dirty="0"/>
              <a:t>    O(1)</a:t>
            </a:r>
          </a:p>
          <a:p>
            <a:pPr lvl="1">
              <a:lnSpc>
                <a:spcPct val="120000"/>
              </a:lnSpc>
            </a:pPr>
            <a:r>
              <a:rPr lang="en-US" altLang="zh-CN" dirty="0" err="1"/>
              <a:t>InsertIntoSeqList</a:t>
            </a:r>
            <a:r>
              <a:rPr lang="en-US" altLang="zh-CN" dirty="0"/>
              <a:t>    O(n)</a:t>
            </a:r>
          </a:p>
          <a:p>
            <a:pPr lvl="1">
              <a:lnSpc>
                <a:spcPct val="120000"/>
              </a:lnSpc>
            </a:pPr>
            <a:r>
              <a:rPr lang="en-US" altLang="zh-CN" dirty="0" err="1"/>
              <a:t>DeleteFromSeqList</a:t>
            </a:r>
            <a:r>
              <a:rPr lang="en-US" altLang="zh-CN" dirty="0"/>
              <a:t>   O(n)</a:t>
            </a:r>
          </a:p>
          <a:p>
            <a:pPr lvl="1">
              <a:lnSpc>
                <a:spcPct val="120000"/>
              </a:lnSpc>
            </a:pPr>
            <a:r>
              <a:rPr lang="en-US" altLang="zh-CN" dirty="0" err="1"/>
              <a:t>MergeSeqList</a:t>
            </a:r>
            <a:r>
              <a:rPr lang="en-US" altLang="zh-CN" dirty="0"/>
              <a:t>    O(</a:t>
            </a:r>
            <a:r>
              <a:rPr lang="en-US" altLang="zh-CN" dirty="0" err="1"/>
              <a:t>m+n</a:t>
            </a:r>
            <a:r>
              <a:rPr lang="en-US" altLang="zh-CN" dirty="0"/>
              <a:t>)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71387815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864EBB5-B105-45A2-8167-16B3EBFE3D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顺序存储的优缺点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3523676-F82D-4A50-B267-DEEA765C52F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优点</a:t>
            </a:r>
            <a:endParaRPr lang="en-US" altLang="zh-CN" dirty="0"/>
          </a:p>
          <a:p>
            <a:pPr lvl="1"/>
            <a:r>
              <a:rPr lang="zh-CN" altLang="en-US" dirty="0"/>
              <a:t>可实现随机存取。</a:t>
            </a:r>
            <a:endParaRPr lang="en-US" altLang="zh-CN" dirty="0"/>
          </a:p>
          <a:p>
            <a:pPr lvl="1"/>
            <a:r>
              <a:rPr lang="zh-CN" altLang="en-US" dirty="0"/>
              <a:t>无需为表示节点间的逻辑关系而增加额外的空间。</a:t>
            </a:r>
            <a:endParaRPr lang="en-US" altLang="zh-CN" dirty="0"/>
          </a:p>
          <a:p>
            <a:r>
              <a:rPr lang="zh-CN" altLang="en-US" dirty="0"/>
              <a:t>缺点</a:t>
            </a:r>
            <a:endParaRPr lang="en-US" altLang="zh-CN" dirty="0"/>
          </a:p>
          <a:p>
            <a:pPr lvl="1"/>
            <a:r>
              <a:rPr lang="zh-CN" altLang="en-US" dirty="0"/>
              <a:t>插入和删除操作的效率低。</a:t>
            </a:r>
            <a:endParaRPr lang="en-US" altLang="zh-CN" dirty="0"/>
          </a:p>
          <a:p>
            <a:pPr lvl="1"/>
            <a:r>
              <a:rPr lang="zh-CN" altLang="en-US" dirty="0"/>
              <a:t>存储空间需要预先分配，难以给出大小合适的空间。</a:t>
            </a: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409911827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0D4AD2F-8BF2-A70A-8DE8-8C10F42E51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List</a:t>
            </a:r>
            <a:r>
              <a:rPr lang="zh-CN" altLang="en-US" dirty="0"/>
              <a:t>对象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2DFE988-700F-F422-52E9-71F055C896C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List</a:t>
            </a:r>
            <a:r>
              <a:rPr lang="zh-CN" altLang="en-US" dirty="0"/>
              <a:t>的存储结构（数据）</a:t>
            </a:r>
            <a:endParaRPr lang="en-US" altLang="zh-CN" dirty="0"/>
          </a:p>
          <a:p>
            <a:pPr lvl="1"/>
            <a:r>
              <a:rPr lang="en-US" altLang="zh-CN" dirty="0"/>
              <a:t>typedef struct {  Elem a[]; int n; } List; </a:t>
            </a:r>
          </a:p>
          <a:p>
            <a:pPr lvl="1"/>
            <a:r>
              <a:rPr lang="en-US" altLang="zh-CN" dirty="0"/>
              <a:t>……</a:t>
            </a:r>
          </a:p>
          <a:p>
            <a:r>
              <a:rPr lang="en-US" altLang="zh-CN" dirty="0"/>
              <a:t>List</a:t>
            </a:r>
            <a:r>
              <a:rPr lang="zh-CN" altLang="en-US" dirty="0"/>
              <a:t>的一组操作（函数）</a:t>
            </a:r>
            <a:endParaRPr lang="en-US" altLang="zh-CN" dirty="0"/>
          </a:p>
          <a:p>
            <a:pPr lvl="1"/>
            <a:r>
              <a:rPr lang="en-US" altLang="zh-CN" dirty="0"/>
              <a:t>Init, (Free,) Construct, Destruct</a:t>
            </a:r>
          </a:p>
          <a:p>
            <a:pPr lvl="1"/>
            <a:r>
              <a:rPr lang="en-US" altLang="zh-CN" dirty="0" err="1"/>
              <a:t>GetLength</a:t>
            </a:r>
            <a:r>
              <a:rPr lang="en-US" altLang="zh-CN" dirty="0"/>
              <a:t>, Insert, Append, Delete, Search, Sort, ……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9616230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E74E2D3-4952-42CF-20A6-54E8214B7A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面向对象的特性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6F483A1-5230-3F4C-6EA7-A9966643D9B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封装 </a:t>
            </a:r>
            <a:r>
              <a:rPr lang="en-US" altLang="zh-CN" dirty="0"/>
              <a:t>Encapsulation</a:t>
            </a:r>
          </a:p>
          <a:p>
            <a:r>
              <a:rPr lang="zh-CN" altLang="en-US" dirty="0"/>
              <a:t>继承 </a:t>
            </a:r>
            <a:r>
              <a:rPr lang="en-US" altLang="zh-CN" dirty="0"/>
              <a:t>Inheritance</a:t>
            </a:r>
          </a:p>
          <a:p>
            <a:r>
              <a:rPr lang="zh-CN" altLang="en-US" dirty="0"/>
              <a:t>重载 </a:t>
            </a:r>
            <a:r>
              <a:rPr lang="en-US" altLang="zh-CN" dirty="0"/>
              <a:t>Overloading</a:t>
            </a:r>
          </a:p>
          <a:p>
            <a:r>
              <a:rPr lang="zh-CN" altLang="en-US" dirty="0"/>
              <a:t>多态 </a:t>
            </a:r>
            <a:r>
              <a:rPr lang="en-US" altLang="zh-CN" dirty="0"/>
              <a:t>Polymorphism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09366106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48DFE42-A0FA-611E-78D9-66D35EC0C2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封装 </a:t>
            </a:r>
            <a:r>
              <a:rPr lang="en-US" altLang="zh-CN" dirty="0"/>
              <a:t>Encapsulation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FB903CC-53DC-AA98-9E79-B7D54B7174A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lvl="1" indent="0">
              <a:lnSpc>
                <a:spcPct val="100000"/>
              </a:lnSpc>
              <a:buNone/>
            </a:pPr>
            <a:r>
              <a:rPr lang="en-US" altLang="zh-CN" dirty="0"/>
              <a:t>List {</a:t>
            </a:r>
          </a:p>
          <a:p>
            <a:pPr marL="457200" lvl="1" indent="0">
              <a:lnSpc>
                <a:spcPct val="100000"/>
              </a:lnSpc>
              <a:buNone/>
            </a:pPr>
            <a:r>
              <a:rPr lang="en-US" altLang="zh-CN" dirty="0"/>
              <a:t>    /*</a:t>
            </a:r>
            <a:r>
              <a:rPr lang="zh-CN" altLang="en-US" dirty="0"/>
              <a:t> 对象的数据，也叫成员变量，属性（</a:t>
            </a:r>
            <a:r>
              <a:rPr lang="en-US" altLang="zh-CN" dirty="0"/>
              <a:t>attribute</a:t>
            </a:r>
            <a:r>
              <a:rPr lang="zh-CN" altLang="en-US" dirty="0"/>
              <a:t>）</a:t>
            </a:r>
            <a:r>
              <a:rPr lang="en-US" altLang="zh-CN" dirty="0"/>
              <a:t>*/</a:t>
            </a:r>
          </a:p>
          <a:p>
            <a:pPr marL="457200" lvl="1" indent="0">
              <a:lnSpc>
                <a:spcPct val="100000"/>
              </a:lnSpc>
              <a:buNone/>
            </a:pPr>
            <a:r>
              <a:rPr lang="en-US" altLang="zh-CN" dirty="0"/>
              <a:t>    Elem a[]; </a:t>
            </a:r>
          </a:p>
          <a:p>
            <a:pPr marL="457200" lvl="1" indent="0">
              <a:lnSpc>
                <a:spcPct val="100000"/>
              </a:lnSpc>
              <a:buNone/>
            </a:pPr>
            <a:r>
              <a:rPr lang="en-US" altLang="zh-CN" dirty="0"/>
              <a:t>    int n;</a:t>
            </a:r>
          </a:p>
          <a:p>
            <a:pPr marL="457200" lvl="1" indent="0">
              <a:lnSpc>
                <a:spcPct val="150000"/>
              </a:lnSpc>
              <a:buNone/>
            </a:pPr>
            <a:r>
              <a:rPr lang="en-US" altLang="zh-CN" dirty="0"/>
              <a:t>    /* </a:t>
            </a:r>
            <a:r>
              <a:rPr lang="zh-CN" altLang="en-US" dirty="0"/>
              <a:t>对象的操作，也叫成员函数，方法（</a:t>
            </a:r>
            <a:r>
              <a:rPr lang="en-US" altLang="zh-CN" dirty="0"/>
              <a:t>method</a:t>
            </a:r>
            <a:r>
              <a:rPr lang="zh-CN" altLang="en-US" dirty="0"/>
              <a:t>）</a:t>
            </a:r>
            <a:r>
              <a:rPr lang="en-US" altLang="zh-CN" dirty="0"/>
              <a:t>*/</a:t>
            </a:r>
          </a:p>
          <a:p>
            <a:pPr marL="457200" lvl="1" indent="0">
              <a:lnSpc>
                <a:spcPct val="100000"/>
              </a:lnSpc>
              <a:buNone/>
            </a:pPr>
            <a:r>
              <a:rPr lang="en-US" altLang="zh-CN" dirty="0"/>
              <a:t>    int </a:t>
            </a:r>
            <a:r>
              <a:rPr lang="en-US" altLang="zh-CN" dirty="0" err="1"/>
              <a:t>GetLength</a:t>
            </a:r>
            <a:r>
              <a:rPr lang="en-US" altLang="zh-CN" dirty="0"/>
              <a:t>(List* </a:t>
            </a:r>
            <a:r>
              <a:rPr lang="en-US" altLang="zh-CN" dirty="0" err="1"/>
              <a:t>pList</a:t>
            </a:r>
            <a:r>
              <a:rPr lang="en-US" altLang="zh-CN" dirty="0"/>
              <a:t>);</a:t>
            </a:r>
          </a:p>
          <a:p>
            <a:pPr marL="457200" lvl="1" indent="0">
              <a:lnSpc>
                <a:spcPct val="100000"/>
              </a:lnSpc>
              <a:buNone/>
            </a:pPr>
            <a:r>
              <a:rPr lang="en-US" altLang="zh-CN" dirty="0"/>
              <a:t>    Status Insert(List* </a:t>
            </a:r>
            <a:r>
              <a:rPr lang="en-US" altLang="zh-CN" dirty="0" err="1"/>
              <a:t>pList</a:t>
            </a:r>
            <a:r>
              <a:rPr lang="en-US" altLang="zh-CN" dirty="0"/>
              <a:t>, Elem* </a:t>
            </a:r>
            <a:r>
              <a:rPr lang="en-US" altLang="zh-CN" dirty="0" err="1"/>
              <a:t>pElem</a:t>
            </a:r>
            <a:r>
              <a:rPr lang="en-US" altLang="zh-CN" dirty="0"/>
              <a:t>);</a:t>
            </a:r>
          </a:p>
          <a:p>
            <a:pPr marL="457200" lvl="1" indent="0">
              <a:lnSpc>
                <a:spcPct val="100000"/>
              </a:lnSpc>
              <a:buNone/>
            </a:pPr>
            <a:r>
              <a:rPr lang="en-US" altLang="zh-CN" dirty="0"/>
              <a:t>    Status Append(List* </a:t>
            </a:r>
            <a:r>
              <a:rPr lang="en-US" altLang="zh-CN" dirty="0" err="1"/>
              <a:t>pList</a:t>
            </a:r>
            <a:r>
              <a:rPr lang="en-US" altLang="zh-CN" dirty="0"/>
              <a:t>, Elem* </a:t>
            </a:r>
            <a:r>
              <a:rPr lang="en-US" altLang="zh-CN" dirty="0" err="1"/>
              <a:t>pElem</a:t>
            </a:r>
            <a:r>
              <a:rPr lang="en-US" altLang="zh-CN" dirty="0"/>
              <a:t>); </a:t>
            </a:r>
          </a:p>
          <a:p>
            <a:pPr marL="457200" lvl="1" indent="0">
              <a:lnSpc>
                <a:spcPct val="100000"/>
              </a:lnSpc>
              <a:buNone/>
            </a:pPr>
            <a:r>
              <a:rPr lang="en-US" altLang="zh-CN" dirty="0"/>
              <a:t>    ……</a:t>
            </a:r>
          </a:p>
          <a:p>
            <a:pPr marL="457200" lvl="1" indent="0">
              <a:lnSpc>
                <a:spcPct val="100000"/>
              </a:lnSpc>
              <a:buNone/>
            </a:pPr>
            <a:r>
              <a:rPr lang="en-US" altLang="zh-CN" dirty="0"/>
              <a:t>} /* </a:t>
            </a:r>
            <a:r>
              <a:rPr lang="zh-CN" altLang="en-US" dirty="0"/>
              <a:t>提供对象封装功能的语言就是面向对象的语言 </a:t>
            </a:r>
            <a:r>
              <a:rPr lang="en-US" altLang="zh-CN" dirty="0"/>
              <a:t>*/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62482398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47A262D-E6B1-0CEF-4E31-CCF3C2D93D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继承 </a:t>
            </a:r>
            <a:r>
              <a:rPr lang="en-US" altLang="zh-CN" dirty="0"/>
              <a:t>Inheritance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BC1FB5F-A733-36E0-C497-87CFC984F3C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Base </a:t>
            </a:r>
            <a:r>
              <a:rPr lang="zh-CN" altLang="en-US" dirty="0"/>
              <a:t>对象（基对象）</a:t>
            </a:r>
            <a:endParaRPr lang="en-US" altLang="zh-CN" dirty="0"/>
          </a:p>
          <a:p>
            <a:pPr lvl="1"/>
            <a:r>
              <a:rPr lang="zh-CN" altLang="en-US" dirty="0"/>
              <a:t>属性：</a:t>
            </a:r>
            <a:r>
              <a:rPr lang="en-US" altLang="zh-CN" dirty="0"/>
              <a:t>int x;</a:t>
            </a:r>
          </a:p>
          <a:p>
            <a:pPr lvl="1"/>
            <a:r>
              <a:rPr lang="zh-CN" altLang="en-US" dirty="0"/>
              <a:t>方法：</a:t>
            </a:r>
            <a:r>
              <a:rPr lang="en-US" altLang="zh-CN" dirty="0"/>
              <a:t>int f1(…);</a:t>
            </a:r>
          </a:p>
          <a:p>
            <a:r>
              <a:rPr lang="en-US" altLang="zh-CN" dirty="0"/>
              <a:t>Derived </a:t>
            </a:r>
            <a:r>
              <a:rPr lang="zh-CN" altLang="en-US" dirty="0"/>
              <a:t>对象（派生对象）</a:t>
            </a:r>
            <a:endParaRPr lang="en-US" altLang="zh-CN" dirty="0"/>
          </a:p>
          <a:p>
            <a:pPr lvl="1"/>
            <a:r>
              <a:rPr lang="zh-CN" altLang="en-US" dirty="0"/>
              <a:t>派生自</a:t>
            </a:r>
            <a:r>
              <a:rPr lang="en-US" altLang="zh-CN" dirty="0"/>
              <a:t>Base</a:t>
            </a:r>
            <a:r>
              <a:rPr lang="zh-CN" altLang="en-US" dirty="0"/>
              <a:t>，继承了</a:t>
            </a:r>
            <a:r>
              <a:rPr lang="en-US" altLang="zh-CN" dirty="0"/>
              <a:t>Base</a:t>
            </a:r>
            <a:r>
              <a:rPr lang="zh-CN" altLang="en-US" dirty="0"/>
              <a:t>的属性和方法。</a:t>
            </a:r>
            <a:endParaRPr lang="en-US" altLang="zh-CN" dirty="0"/>
          </a:p>
          <a:p>
            <a:pPr lvl="1"/>
            <a:r>
              <a:rPr lang="zh-CN" altLang="en-US" dirty="0"/>
              <a:t>属性：</a:t>
            </a:r>
            <a:r>
              <a:rPr lang="en-US" altLang="zh-CN" dirty="0"/>
              <a:t>int y;        </a:t>
            </a:r>
            <a:r>
              <a:rPr lang="zh-CN" altLang="en-US" dirty="0"/>
              <a:t>此外还有 </a:t>
            </a:r>
            <a:r>
              <a:rPr lang="en-US" altLang="zh-CN" dirty="0"/>
              <a:t>int x;</a:t>
            </a:r>
          </a:p>
          <a:p>
            <a:pPr lvl="1"/>
            <a:r>
              <a:rPr lang="zh-CN" altLang="en-US" dirty="0"/>
              <a:t>方法：</a:t>
            </a:r>
            <a:r>
              <a:rPr lang="en-US" altLang="zh-CN" dirty="0"/>
              <a:t>int f2(…); </a:t>
            </a:r>
            <a:r>
              <a:rPr lang="zh-CN" altLang="en-US" dirty="0"/>
              <a:t>此外还有 </a:t>
            </a:r>
            <a:r>
              <a:rPr lang="en-US" altLang="zh-CN" dirty="0"/>
              <a:t>int f1(…);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99742198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51D60AF-5904-9DBF-A277-9094A761F5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重载 </a:t>
            </a:r>
            <a:r>
              <a:rPr lang="en-US" altLang="zh-CN" dirty="0"/>
              <a:t>Overloading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245F689-09C5-42C0-07EF-6C936536B6E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把参数不同但功能相同的函数设计为同名函数。</a:t>
            </a:r>
            <a:endParaRPr lang="en-US" altLang="zh-CN" dirty="0"/>
          </a:p>
          <a:p>
            <a:pPr lvl="1"/>
            <a:r>
              <a:rPr lang="en-US" altLang="zh-CN" dirty="0"/>
              <a:t>int Sum(int x1,int x2);</a:t>
            </a:r>
          </a:p>
          <a:p>
            <a:pPr lvl="1"/>
            <a:r>
              <a:rPr lang="en-US" altLang="zh-CN" dirty="0"/>
              <a:t>int Sum(int x1,int x2,int x3);</a:t>
            </a:r>
          </a:p>
          <a:p>
            <a:pPr lvl="1"/>
            <a:r>
              <a:rPr lang="en-US" altLang="zh-CN" dirty="0"/>
              <a:t>float Sum(float x1,float x2,float x3);</a:t>
            </a:r>
          </a:p>
          <a:p>
            <a:pPr lvl="1"/>
            <a:r>
              <a:rPr lang="en-US" altLang="zh-CN" dirty="0"/>
              <a:t>double Sum(int x1,float x2,double x3);</a:t>
            </a:r>
          </a:p>
          <a:p>
            <a:r>
              <a:rPr lang="zh-CN" altLang="en-US" dirty="0"/>
              <a:t>一般不支持这样的重载</a:t>
            </a:r>
            <a:endParaRPr lang="en-US" altLang="zh-CN" dirty="0"/>
          </a:p>
          <a:p>
            <a:pPr lvl="1"/>
            <a:r>
              <a:rPr lang="en-US" altLang="zh-CN" dirty="0"/>
              <a:t>int Sum(int x1,int x2);</a:t>
            </a:r>
          </a:p>
          <a:p>
            <a:pPr lvl="1"/>
            <a:r>
              <a:rPr lang="en-US" altLang="zh-CN" dirty="0"/>
              <a:t>float Sum(int x1,int x2);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476752920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33FD0C3-F327-AB77-B67C-BD0CE22FCD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多态 </a:t>
            </a:r>
            <a:r>
              <a:rPr lang="en-US" altLang="zh-CN" dirty="0"/>
              <a:t>Polymorphism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F63470F-21F6-F501-819E-7D0AF258566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Base</a:t>
            </a:r>
            <a:r>
              <a:rPr lang="zh-CN" altLang="en-US" dirty="0"/>
              <a:t>对象</a:t>
            </a:r>
            <a:endParaRPr lang="en-US" altLang="zh-CN" dirty="0"/>
          </a:p>
          <a:p>
            <a:pPr lvl="1"/>
            <a:r>
              <a:rPr lang="zh-CN" altLang="en-US" dirty="0"/>
              <a:t>方法：</a:t>
            </a:r>
            <a:r>
              <a:rPr lang="en-US" altLang="zh-CN" dirty="0"/>
              <a:t>int f() { </a:t>
            </a:r>
            <a:r>
              <a:rPr lang="en-US" altLang="zh-CN" dirty="0" err="1"/>
              <a:t>printf</a:t>
            </a:r>
            <a:r>
              <a:rPr lang="en-US" altLang="zh-CN" dirty="0"/>
              <a:t>(“This is Base”); } </a:t>
            </a:r>
          </a:p>
          <a:p>
            <a:r>
              <a:rPr lang="en-US" altLang="zh-CN" dirty="0"/>
              <a:t>Derived</a:t>
            </a:r>
            <a:r>
              <a:rPr lang="zh-CN" altLang="en-US" dirty="0"/>
              <a:t>对象，继承 </a:t>
            </a:r>
            <a:r>
              <a:rPr lang="en-US" altLang="zh-CN" dirty="0"/>
              <a:t>Base</a:t>
            </a:r>
            <a:r>
              <a:rPr lang="zh-CN" altLang="en-US" dirty="0"/>
              <a:t>，且</a:t>
            </a:r>
            <a:endParaRPr lang="en-US" altLang="zh-CN" dirty="0"/>
          </a:p>
          <a:p>
            <a:pPr lvl="1"/>
            <a:r>
              <a:rPr lang="zh-CN" altLang="en-US" dirty="0"/>
              <a:t>方法： </a:t>
            </a:r>
            <a:r>
              <a:rPr lang="en-US" altLang="zh-CN" dirty="0"/>
              <a:t>int f() { </a:t>
            </a:r>
            <a:r>
              <a:rPr lang="en-US" altLang="zh-CN" dirty="0" err="1"/>
              <a:t>printf</a:t>
            </a:r>
            <a:r>
              <a:rPr lang="en-US" altLang="zh-CN" dirty="0"/>
              <a:t>(“This is Derived”); }</a:t>
            </a:r>
          </a:p>
          <a:p>
            <a:r>
              <a:rPr lang="zh-CN" altLang="en-US" dirty="0"/>
              <a:t>多态一般指运行时多态，而重载是编译时多态</a:t>
            </a:r>
            <a:endParaRPr lang="en-US" altLang="zh-CN" dirty="0"/>
          </a:p>
          <a:p>
            <a:pPr lvl="1"/>
            <a:r>
              <a:rPr lang="en-US" altLang="zh-CN" dirty="0"/>
              <a:t>Base* </a:t>
            </a:r>
            <a:r>
              <a:rPr lang="en-US" altLang="zh-CN" dirty="0" err="1"/>
              <a:t>pBase</a:t>
            </a:r>
            <a:r>
              <a:rPr lang="en-US" altLang="zh-CN" dirty="0"/>
              <a:t>=(Base*)&amp;derived;</a:t>
            </a:r>
          </a:p>
          <a:p>
            <a:pPr lvl="1"/>
            <a:r>
              <a:rPr lang="en-US" altLang="zh-CN" dirty="0" err="1"/>
              <a:t>pBase</a:t>
            </a:r>
            <a:r>
              <a:rPr lang="en-US" altLang="zh-CN" dirty="0"/>
              <a:t>-&gt;f();   /* </a:t>
            </a:r>
            <a:r>
              <a:rPr lang="zh-CN" altLang="en-US" dirty="0"/>
              <a:t>运行时多态，输出 </a:t>
            </a:r>
            <a:r>
              <a:rPr lang="en-US" altLang="zh-CN" dirty="0"/>
              <a:t>This is Derived */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738228796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6FD401-E4B9-4C52-6D9D-B784472938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6C0EF8C-2DF5-1F9C-D674-2C848DEE47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this </a:t>
            </a:r>
            <a:r>
              <a:rPr lang="zh-CN" altLang="en-US" dirty="0"/>
              <a:t>指针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D170F27-8D52-579A-0C1E-FD6F44DF35D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lvl="1" indent="0">
              <a:lnSpc>
                <a:spcPct val="100000"/>
              </a:lnSpc>
              <a:buNone/>
            </a:pPr>
            <a:r>
              <a:rPr lang="en-US" altLang="zh-CN" dirty="0"/>
              <a:t>List {</a:t>
            </a:r>
          </a:p>
          <a:p>
            <a:pPr marL="457200" lvl="1" indent="0">
              <a:lnSpc>
                <a:spcPct val="100000"/>
              </a:lnSpc>
              <a:buNone/>
            </a:pPr>
            <a:r>
              <a:rPr lang="en-US" altLang="zh-CN" dirty="0"/>
              <a:t>    /* </a:t>
            </a:r>
            <a:r>
              <a:rPr lang="zh-CN" altLang="en-US" dirty="0"/>
              <a:t>对象的属性 </a:t>
            </a:r>
            <a:r>
              <a:rPr lang="en-US" altLang="zh-CN" dirty="0"/>
              <a:t>*/</a:t>
            </a:r>
          </a:p>
          <a:p>
            <a:pPr marL="457200" lvl="1" indent="0">
              <a:lnSpc>
                <a:spcPct val="100000"/>
              </a:lnSpc>
              <a:buNone/>
            </a:pPr>
            <a:r>
              <a:rPr lang="en-US" altLang="zh-CN" dirty="0"/>
              <a:t>    ……</a:t>
            </a:r>
          </a:p>
          <a:p>
            <a:pPr marL="457200" lvl="1" indent="0">
              <a:lnSpc>
                <a:spcPct val="150000"/>
              </a:lnSpc>
              <a:buNone/>
            </a:pPr>
            <a:r>
              <a:rPr lang="en-US" altLang="zh-CN" dirty="0"/>
              <a:t>    /* </a:t>
            </a:r>
            <a:r>
              <a:rPr lang="zh-CN" altLang="en-US" dirty="0"/>
              <a:t>对象的方法 </a:t>
            </a:r>
            <a:r>
              <a:rPr lang="en-US" altLang="zh-CN" dirty="0"/>
              <a:t>*/</a:t>
            </a:r>
          </a:p>
          <a:p>
            <a:pPr marL="457200" lvl="1" indent="0">
              <a:lnSpc>
                <a:spcPct val="100000"/>
              </a:lnSpc>
              <a:buNone/>
            </a:pPr>
            <a:r>
              <a:rPr lang="en-US" altLang="zh-CN" dirty="0"/>
              <a:t>    // int </a:t>
            </a:r>
            <a:r>
              <a:rPr lang="en-US" altLang="zh-CN" dirty="0" err="1"/>
              <a:t>GetLength</a:t>
            </a:r>
            <a:r>
              <a:rPr lang="en-US" altLang="zh-CN" dirty="0"/>
              <a:t>();</a:t>
            </a:r>
          </a:p>
          <a:p>
            <a:pPr marL="457200" lvl="1" indent="0">
              <a:lnSpc>
                <a:spcPct val="100000"/>
              </a:lnSpc>
              <a:buNone/>
            </a:pPr>
            <a:r>
              <a:rPr lang="en-US" altLang="zh-CN" dirty="0"/>
              <a:t>    </a:t>
            </a:r>
            <a:r>
              <a:rPr lang="en-US" altLang="zh-CN" b="1" dirty="0"/>
              <a:t>int </a:t>
            </a:r>
            <a:r>
              <a:rPr lang="en-US" altLang="zh-CN" b="1" dirty="0" err="1"/>
              <a:t>GetLength</a:t>
            </a:r>
            <a:r>
              <a:rPr lang="en-US" altLang="zh-CN" b="1" dirty="0"/>
              <a:t>(List* </a:t>
            </a:r>
            <a:r>
              <a:rPr lang="en-US" altLang="zh-CN" sz="6000" b="1" dirty="0"/>
              <a:t>this</a:t>
            </a:r>
            <a:r>
              <a:rPr lang="en-US" altLang="zh-CN" b="1" dirty="0"/>
              <a:t>);</a:t>
            </a:r>
          </a:p>
          <a:p>
            <a:pPr marL="457200" lvl="1" indent="0">
              <a:lnSpc>
                <a:spcPct val="100000"/>
              </a:lnSpc>
              <a:buNone/>
            </a:pPr>
            <a:r>
              <a:rPr lang="en-US" altLang="zh-CN" dirty="0"/>
              <a:t>    </a:t>
            </a:r>
            <a:r>
              <a:rPr lang="en-US" altLang="zh-CN" i="1" dirty="0"/>
              <a:t>// int </a:t>
            </a:r>
            <a:r>
              <a:rPr lang="en-US" altLang="zh-CN" i="1" dirty="0" err="1"/>
              <a:t>GetLength</a:t>
            </a:r>
            <a:r>
              <a:rPr lang="en-US" altLang="zh-CN" i="1" dirty="0"/>
              <a:t>(List* </a:t>
            </a:r>
            <a:r>
              <a:rPr lang="en-US" altLang="zh-CN" i="1" dirty="0" err="1"/>
              <a:t>pList</a:t>
            </a:r>
            <a:r>
              <a:rPr lang="en-US" altLang="zh-CN" i="1" dirty="0"/>
              <a:t>);</a:t>
            </a:r>
          </a:p>
          <a:p>
            <a:pPr marL="457200" lvl="1" indent="0">
              <a:lnSpc>
                <a:spcPct val="100000"/>
              </a:lnSpc>
              <a:buNone/>
            </a:pPr>
            <a:r>
              <a:rPr lang="en-US" altLang="zh-CN" i="1" dirty="0"/>
              <a:t>   </a:t>
            </a:r>
            <a:r>
              <a:rPr lang="en-US" altLang="zh-CN" dirty="0"/>
              <a:t> ……</a:t>
            </a:r>
          </a:p>
          <a:p>
            <a:pPr marL="457200" lvl="1" indent="0">
              <a:lnSpc>
                <a:spcPct val="100000"/>
              </a:lnSpc>
              <a:buNone/>
            </a:pPr>
            <a:r>
              <a:rPr lang="en-US" altLang="zh-CN" dirty="0"/>
              <a:t>}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237172753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CADAA39-0E46-42DA-68F0-33FE279BFD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用</a:t>
            </a:r>
            <a:r>
              <a:rPr lang="en-US" altLang="zh-CN" dirty="0"/>
              <a:t>C</a:t>
            </a:r>
            <a:r>
              <a:rPr lang="zh-CN" altLang="en-US" dirty="0"/>
              <a:t>语言实现面向对象的特性</a:t>
            </a:r>
          </a:p>
        </p:txBody>
      </p:sp>
      <p:pic>
        <p:nvPicPr>
          <p:cNvPr id="11" name="内容占位符 10">
            <a:extLst>
              <a:ext uri="{FF2B5EF4-FFF2-40B4-BE49-F238E27FC236}">
                <a16:creationId xmlns:a16="http://schemas.microsoft.com/office/drawing/2014/main" id="{010E06B0-130B-39EB-EC3F-9348E130440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399" y="1116106"/>
            <a:ext cx="12118269" cy="5437094"/>
          </a:xfrm>
        </p:spPr>
      </p:pic>
    </p:spTree>
    <p:extLst>
      <p:ext uri="{BB962C8B-B14F-4D97-AF65-F5344CB8AC3E}">
        <p14:creationId xmlns:p14="http://schemas.microsoft.com/office/powerpoint/2010/main" val="2893910899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内容占位符 7">
            <a:extLst>
              <a:ext uri="{FF2B5EF4-FFF2-40B4-BE49-F238E27FC236}">
                <a16:creationId xmlns:a16="http://schemas.microsoft.com/office/drawing/2014/main" id="{8DFA3803-0258-625C-6F8E-F4378A88981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200" y="533399"/>
            <a:ext cx="12115800" cy="5907895"/>
          </a:xfrm>
        </p:spPr>
      </p:pic>
    </p:spTree>
    <p:extLst>
      <p:ext uri="{BB962C8B-B14F-4D97-AF65-F5344CB8AC3E}">
        <p14:creationId xmlns:p14="http://schemas.microsoft.com/office/powerpoint/2010/main" val="2669966965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内容占位符 7">
            <a:extLst>
              <a:ext uri="{FF2B5EF4-FFF2-40B4-BE49-F238E27FC236}">
                <a16:creationId xmlns:a16="http://schemas.microsoft.com/office/drawing/2014/main" id="{442B23BF-8727-C224-DCAD-1AF72F50845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858" y="533400"/>
            <a:ext cx="12209097" cy="5943600"/>
          </a:xfrm>
        </p:spPr>
      </p:pic>
    </p:spTree>
    <p:extLst>
      <p:ext uri="{BB962C8B-B14F-4D97-AF65-F5344CB8AC3E}">
        <p14:creationId xmlns:p14="http://schemas.microsoft.com/office/powerpoint/2010/main" val="280356422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内容占位符 7">
            <a:extLst>
              <a:ext uri="{FF2B5EF4-FFF2-40B4-BE49-F238E27FC236}">
                <a16:creationId xmlns:a16="http://schemas.microsoft.com/office/drawing/2014/main" id="{15A691CC-8BCD-6655-8F01-CFDD1A00BE0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049"/>
          <a:stretch/>
        </p:blipFill>
        <p:spPr>
          <a:xfrm>
            <a:off x="-1" y="457200"/>
            <a:ext cx="12115801" cy="5945020"/>
          </a:xfrm>
        </p:spPr>
      </p:pic>
    </p:spTree>
    <p:extLst>
      <p:ext uri="{BB962C8B-B14F-4D97-AF65-F5344CB8AC3E}">
        <p14:creationId xmlns:p14="http://schemas.microsoft.com/office/powerpoint/2010/main" val="4167307621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内容占位符 4">
            <a:extLst>
              <a:ext uri="{FF2B5EF4-FFF2-40B4-BE49-F238E27FC236}">
                <a16:creationId xmlns:a16="http://schemas.microsoft.com/office/drawing/2014/main" id="{684978BD-5FBE-0CEB-DDE6-25DB29A46F7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33400"/>
            <a:ext cx="12085906" cy="6019800"/>
          </a:xfrm>
        </p:spPr>
      </p:pic>
    </p:spTree>
    <p:extLst>
      <p:ext uri="{BB962C8B-B14F-4D97-AF65-F5344CB8AC3E}">
        <p14:creationId xmlns:p14="http://schemas.microsoft.com/office/powerpoint/2010/main" val="1062194006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内容占位符 4">
            <a:extLst>
              <a:ext uri="{FF2B5EF4-FFF2-40B4-BE49-F238E27FC236}">
                <a16:creationId xmlns:a16="http://schemas.microsoft.com/office/drawing/2014/main" id="{7A554447-00F4-57FC-4AE5-1F6AA35DB5F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055"/>
          <a:stretch/>
        </p:blipFill>
        <p:spPr>
          <a:xfrm>
            <a:off x="0" y="609600"/>
            <a:ext cx="12115800" cy="5869766"/>
          </a:xfrm>
        </p:spPr>
      </p:pic>
    </p:spTree>
    <p:extLst>
      <p:ext uri="{BB962C8B-B14F-4D97-AF65-F5344CB8AC3E}">
        <p14:creationId xmlns:p14="http://schemas.microsoft.com/office/powerpoint/2010/main" val="155222153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内容占位符 7">
            <a:extLst>
              <a:ext uri="{FF2B5EF4-FFF2-40B4-BE49-F238E27FC236}">
                <a16:creationId xmlns:a16="http://schemas.microsoft.com/office/drawing/2014/main" id="{53396A1D-B3B3-D1B8-2A8C-C9500CFAE3F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375" y="533400"/>
            <a:ext cx="12094535" cy="5943600"/>
          </a:xfrm>
        </p:spPr>
      </p:pic>
    </p:spTree>
    <p:extLst>
      <p:ext uri="{BB962C8B-B14F-4D97-AF65-F5344CB8AC3E}">
        <p14:creationId xmlns:p14="http://schemas.microsoft.com/office/powerpoint/2010/main" val="3666365078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内容占位符 7">
            <a:extLst>
              <a:ext uri="{FF2B5EF4-FFF2-40B4-BE49-F238E27FC236}">
                <a16:creationId xmlns:a16="http://schemas.microsoft.com/office/drawing/2014/main" id="{BD71289A-3897-465F-E28B-A33E3350441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533400"/>
            <a:ext cx="12168953" cy="6096000"/>
          </a:xfrm>
        </p:spPr>
      </p:pic>
    </p:spTree>
    <p:extLst>
      <p:ext uri="{BB962C8B-B14F-4D97-AF65-F5344CB8AC3E}">
        <p14:creationId xmlns:p14="http://schemas.microsoft.com/office/powerpoint/2010/main" val="3878233548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内容占位符 7">
            <a:extLst>
              <a:ext uri="{FF2B5EF4-FFF2-40B4-BE49-F238E27FC236}">
                <a16:creationId xmlns:a16="http://schemas.microsoft.com/office/drawing/2014/main" id="{1E9A13A8-0419-2497-F52F-143CC44EE52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09600"/>
            <a:ext cx="12005603" cy="5867400"/>
          </a:xfrm>
        </p:spPr>
      </p:pic>
    </p:spTree>
    <p:extLst>
      <p:ext uri="{BB962C8B-B14F-4D97-AF65-F5344CB8AC3E}">
        <p14:creationId xmlns:p14="http://schemas.microsoft.com/office/powerpoint/2010/main" val="3993771711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内容占位符 7">
            <a:extLst>
              <a:ext uri="{FF2B5EF4-FFF2-40B4-BE49-F238E27FC236}">
                <a16:creationId xmlns:a16="http://schemas.microsoft.com/office/drawing/2014/main" id="{4FC78DB6-6119-AD13-2AC8-10974745242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09600"/>
            <a:ext cx="12236023" cy="6019800"/>
          </a:xfrm>
        </p:spPr>
      </p:pic>
    </p:spTree>
    <p:extLst>
      <p:ext uri="{BB962C8B-B14F-4D97-AF65-F5344CB8AC3E}">
        <p14:creationId xmlns:p14="http://schemas.microsoft.com/office/powerpoint/2010/main" val="535655565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内容占位符 7">
            <a:extLst>
              <a:ext uri="{FF2B5EF4-FFF2-40B4-BE49-F238E27FC236}">
                <a16:creationId xmlns:a16="http://schemas.microsoft.com/office/drawing/2014/main" id="{21404132-E148-35C5-16F1-B4F598E52A8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33400"/>
            <a:ext cx="12157876" cy="5943600"/>
          </a:xfrm>
        </p:spPr>
      </p:pic>
    </p:spTree>
    <p:extLst>
      <p:ext uri="{BB962C8B-B14F-4D97-AF65-F5344CB8AC3E}">
        <p14:creationId xmlns:p14="http://schemas.microsoft.com/office/powerpoint/2010/main" val="2447009131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内容占位符 4">
            <a:extLst>
              <a:ext uri="{FF2B5EF4-FFF2-40B4-BE49-F238E27FC236}">
                <a16:creationId xmlns:a16="http://schemas.microsoft.com/office/drawing/2014/main" id="{5B33FDCD-2C55-599E-3ABD-6DECC8F9461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" y="609600"/>
            <a:ext cx="12070080" cy="5867400"/>
          </a:xfrm>
        </p:spPr>
      </p:pic>
    </p:spTree>
    <p:extLst>
      <p:ext uri="{BB962C8B-B14F-4D97-AF65-F5344CB8AC3E}">
        <p14:creationId xmlns:p14="http://schemas.microsoft.com/office/powerpoint/2010/main" val="1690828568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内容占位符 4">
            <a:extLst>
              <a:ext uri="{FF2B5EF4-FFF2-40B4-BE49-F238E27FC236}">
                <a16:creationId xmlns:a16="http://schemas.microsoft.com/office/drawing/2014/main" id="{84776B78-C4B0-E26D-3E01-4A4B2D62E44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09600"/>
            <a:ext cx="12110917" cy="5791200"/>
          </a:xfrm>
        </p:spPr>
      </p:pic>
    </p:spTree>
    <p:extLst>
      <p:ext uri="{BB962C8B-B14F-4D97-AF65-F5344CB8AC3E}">
        <p14:creationId xmlns:p14="http://schemas.microsoft.com/office/powerpoint/2010/main" val="3944029541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内容占位符 4">
            <a:extLst>
              <a:ext uri="{FF2B5EF4-FFF2-40B4-BE49-F238E27FC236}">
                <a16:creationId xmlns:a16="http://schemas.microsoft.com/office/drawing/2014/main" id="{09F90649-02A9-C91E-D423-65606707C0F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233"/>
          <a:stretch/>
        </p:blipFill>
        <p:spPr>
          <a:xfrm>
            <a:off x="4482" y="609600"/>
            <a:ext cx="12134159" cy="5867400"/>
          </a:xfrm>
        </p:spPr>
      </p:pic>
    </p:spTree>
    <p:extLst>
      <p:ext uri="{BB962C8B-B14F-4D97-AF65-F5344CB8AC3E}">
        <p14:creationId xmlns:p14="http://schemas.microsoft.com/office/powerpoint/2010/main" val="3565270199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内容占位符 4">
            <a:extLst>
              <a:ext uri="{FF2B5EF4-FFF2-40B4-BE49-F238E27FC236}">
                <a16:creationId xmlns:a16="http://schemas.microsoft.com/office/drawing/2014/main" id="{7DA0E1E3-13BE-CACD-493B-59430B28AF5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200" y="533400"/>
            <a:ext cx="12059523" cy="5867400"/>
          </a:xfrm>
        </p:spPr>
      </p:pic>
    </p:spTree>
    <p:extLst>
      <p:ext uri="{BB962C8B-B14F-4D97-AF65-F5344CB8AC3E}">
        <p14:creationId xmlns:p14="http://schemas.microsoft.com/office/powerpoint/2010/main" val="2935336172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内容占位符 4">
            <a:extLst>
              <a:ext uri="{FF2B5EF4-FFF2-40B4-BE49-F238E27FC236}">
                <a16:creationId xmlns:a16="http://schemas.microsoft.com/office/drawing/2014/main" id="{3C743D3A-BD49-A10F-E8DF-135BC36D454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695"/>
          <a:stretch/>
        </p:blipFill>
        <p:spPr>
          <a:xfrm>
            <a:off x="4482" y="609600"/>
            <a:ext cx="12177328" cy="5943600"/>
          </a:xfrm>
        </p:spPr>
      </p:pic>
    </p:spTree>
    <p:extLst>
      <p:ext uri="{BB962C8B-B14F-4D97-AF65-F5344CB8AC3E}">
        <p14:creationId xmlns:p14="http://schemas.microsoft.com/office/powerpoint/2010/main" val="3930085343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内容占位符 7">
            <a:extLst>
              <a:ext uri="{FF2B5EF4-FFF2-40B4-BE49-F238E27FC236}">
                <a16:creationId xmlns:a16="http://schemas.microsoft.com/office/drawing/2014/main" id="{D2823E71-D897-8B9F-69B5-6DE4C3D169E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200" y="609600"/>
            <a:ext cx="12009298" cy="5715000"/>
          </a:xfrm>
        </p:spPr>
      </p:pic>
    </p:spTree>
    <p:extLst>
      <p:ext uri="{BB962C8B-B14F-4D97-AF65-F5344CB8AC3E}">
        <p14:creationId xmlns:p14="http://schemas.microsoft.com/office/powerpoint/2010/main" val="3269524446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内容占位符 7">
            <a:extLst>
              <a:ext uri="{FF2B5EF4-FFF2-40B4-BE49-F238E27FC236}">
                <a16:creationId xmlns:a16="http://schemas.microsoft.com/office/drawing/2014/main" id="{5EB8B70A-A68F-9A86-523D-0E4CAD83231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200" y="609600"/>
            <a:ext cx="12106440" cy="5867400"/>
          </a:xfrm>
        </p:spPr>
      </p:pic>
    </p:spTree>
    <p:extLst>
      <p:ext uri="{BB962C8B-B14F-4D97-AF65-F5344CB8AC3E}">
        <p14:creationId xmlns:p14="http://schemas.microsoft.com/office/powerpoint/2010/main" val="255120105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内容占位符 7">
            <a:extLst>
              <a:ext uri="{FF2B5EF4-FFF2-40B4-BE49-F238E27FC236}">
                <a16:creationId xmlns:a16="http://schemas.microsoft.com/office/drawing/2014/main" id="{1D87A0F2-7481-688F-2223-DDBE3AF68CE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200" y="533400"/>
            <a:ext cx="12027022" cy="5791200"/>
          </a:xfrm>
        </p:spPr>
      </p:pic>
    </p:spTree>
    <p:extLst>
      <p:ext uri="{BB962C8B-B14F-4D97-AF65-F5344CB8AC3E}">
        <p14:creationId xmlns:p14="http://schemas.microsoft.com/office/powerpoint/2010/main" val="2333833746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C6CFB79-501C-C890-EE4F-EA7FA0F4C2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990600"/>
            <a:ext cx="10363200" cy="1219200"/>
          </a:xfrm>
        </p:spPr>
        <p:txBody>
          <a:bodyPr/>
          <a:lstStyle/>
          <a:p>
            <a:pPr>
              <a:spcBef>
                <a:spcPts val="2400"/>
              </a:spcBef>
              <a:spcAft>
                <a:spcPts val="3600"/>
              </a:spcAft>
            </a:pPr>
            <a:r>
              <a:rPr lang="zh-CN" altLang="en-US" sz="12800" dirty="0"/>
              <a:t>太初有道</a:t>
            </a:r>
          </a:p>
        </p:txBody>
      </p:sp>
      <p:sp>
        <p:nvSpPr>
          <p:cNvPr id="4" name="标题 1">
            <a:extLst>
              <a:ext uri="{FF2B5EF4-FFF2-40B4-BE49-F238E27FC236}">
                <a16:creationId xmlns:a16="http://schemas.microsoft.com/office/drawing/2014/main" id="{D9E6ABA8-487A-8779-9C0A-D1BA85C07502}"/>
              </a:ext>
            </a:extLst>
          </p:cNvPr>
          <p:cNvSpPr txBox="1">
            <a:spLocks/>
          </p:cNvSpPr>
          <p:nvPr/>
        </p:nvSpPr>
        <p:spPr bwMode="auto">
          <a:xfrm>
            <a:off x="457200" y="2971800"/>
            <a:ext cx="11811000" cy="270061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2075" tIns="46038" rIns="92075" bIns="46038" numCol="1" anchor="ctr" anchorCtr="0" compatLnSpc="1">
            <a:prstTxWarp prst="textNoShape">
              <a:avLst/>
            </a:prstTxWarp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 b="1">
                <a:solidFill>
                  <a:srgbClr val="0000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B82F25"/>
                </a:solidFill>
                <a:latin typeface="Arial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B82F25"/>
                </a:solidFill>
                <a:latin typeface="Arial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B82F25"/>
                </a:solidFill>
                <a:latin typeface="Arial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B82F25"/>
                </a:solidFill>
                <a:latin typeface="Arial" charset="0"/>
              </a:defRPr>
            </a:lvl5pPr>
            <a:lvl6pPr marL="457200" algn="ctr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FF7706"/>
                </a:solidFill>
                <a:latin typeface="Arial" charset="0"/>
              </a:defRPr>
            </a:lvl6pPr>
            <a:lvl7pPr marL="914400" algn="ctr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FF7706"/>
                </a:solidFill>
                <a:latin typeface="Arial" charset="0"/>
              </a:defRPr>
            </a:lvl7pPr>
            <a:lvl8pPr marL="1371600" algn="ctr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FF7706"/>
                </a:solidFill>
                <a:latin typeface="Arial" charset="0"/>
              </a:defRPr>
            </a:lvl8pPr>
            <a:lvl9pPr marL="1828800" algn="ctr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FF7706"/>
                </a:solidFill>
                <a:latin typeface="Arial" charset="0"/>
              </a:defRPr>
            </a:lvl9pPr>
          </a:lstStyle>
          <a:p>
            <a:pPr>
              <a:spcBef>
                <a:spcPts val="0"/>
              </a:spcBef>
              <a:spcAft>
                <a:spcPts val="0"/>
              </a:spcAft>
            </a:pPr>
            <a:r>
              <a:rPr lang="zh-CN" altLang="en-US" sz="7200" kern="0" dirty="0"/>
              <a:t>道生</a:t>
            </a:r>
            <a:r>
              <a:rPr lang="en-US" altLang="zh-CN" sz="7200" kern="0" dirty="0"/>
              <a:t>0</a:t>
            </a:r>
            <a:r>
              <a:rPr lang="zh-CN" altLang="en-US" sz="7200" kern="0" dirty="0"/>
              <a:t>，</a:t>
            </a:r>
            <a:r>
              <a:rPr lang="en-US" altLang="zh-CN" sz="7200" kern="0" dirty="0"/>
              <a:t>0</a:t>
            </a:r>
            <a:r>
              <a:rPr lang="zh-CN" altLang="en-US" sz="7200" kern="0" dirty="0"/>
              <a:t>生</a:t>
            </a:r>
            <a:r>
              <a:rPr lang="en-US" altLang="zh-CN" sz="7200" kern="0" dirty="0"/>
              <a:t>1</a:t>
            </a:r>
            <a:r>
              <a:rPr lang="zh-CN" altLang="en-US" sz="7200" kern="0" dirty="0"/>
              <a:t>，</a:t>
            </a:r>
            <a:r>
              <a:rPr lang="en-US" altLang="zh-CN" sz="7200" kern="0" dirty="0"/>
              <a:t>1</a:t>
            </a:r>
            <a:r>
              <a:rPr lang="zh-CN" altLang="en-US" sz="7200" kern="0" dirty="0"/>
              <a:t>生汇编，</a:t>
            </a:r>
            <a:endParaRPr lang="en-US" altLang="zh-CN" sz="7200" kern="0" dirty="0"/>
          </a:p>
          <a:p>
            <a:pPr>
              <a:spcBef>
                <a:spcPts val="2400"/>
              </a:spcBef>
              <a:spcAft>
                <a:spcPts val="3600"/>
              </a:spcAft>
            </a:pPr>
            <a:r>
              <a:rPr lang="zh-CN" altLang="en-US" sz="7200" kern="0" dirty="0"/>
              <a:t>汇编生</a:t>
            </a:r>
            <a:r>
              <a:rPr lang="en-US" altLang="zh-CN" sz="7200" kern="0" dirty="0"/>
              <a:t>C</a:t>
            </a:r>
            <a:r>
              <a:rPr lang="zh-CN" altLang="en-US" sz="7200" kern="0" dirty="0"/>
              <a:t>，</a:t>
            </a:r>
            <a:r>
              <a:rPr lang="en-US" altLang="zh-CN" sz="7200" kern="0" dirty="0"/>
              <a:t>C</a:t>
            </a:r>
            <a:r>
              <a:rPr lang="zh-CN" altLang="en-US" sz="7200" kern="0" dirty="0"/>
              <a:t>生万物。</a:t>
            </a:r>
          </a:p>
        </p:txBody>
      </p:sp>
    </p:spTree>
    <p:extLst>
      <p:ext uri="{BB962C8B-B14F-4D97-AF65-F5344CB8AC3E}">
        <p14:creationId xmlns:p14="http://schemas.microsoft.com/office/powerpoint/2010/main" val="1750895037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B5EE536-A45E-4F7B-A9C5-D3A70FDDE3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链式存储的优缺点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D4B7945-FE70-4025-A6C7-482702FBE19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优点</a:t>
            </a:r>
            <a:endParaRPr lang="en-US" altLang="zh-CN" dirty="0"/>
          </a:p>
          <a:p>
            <a:pPr lvl="1"/>
            <a:r>
              <a:rPr lang="zh-CN" altLang="en-US" dirty="0"/>
              <a:t>插入和删除操作效率高。</a:t>
            </a:r>
            <a:endParaRPr lang="en-US" altLang="zh-CN" dirty="0"/>
          </a:p>
          <a:p>
            <a:pPr lvl="1"/>
            <a:r>
              <a:rPr lang="zh-CN" altLang="en-US" dirty="0"/>
              <a:t>可以按需分配内存。</a:t>
            </a:r>
            <a:endParaRPr lang="en-US" altLang="zh-CN" dirty="0"/>
          </a:p>
          <a:p>
            <a:r>
              <a:rPr lang="zh-CN" altLang="en-US" dirty="0"/>
              <a:t>缺点</a:t>
            </a:r>
            <a:endParaRPr lang="en-US" altLang="zh-CN" dirty="0"/>
          </a:p>
          <a:p>
            <a:pPr lvl="1"/>
            <a:r>
              <a:rPr lang="zh-CN" altLang="en-US" dirty="0"/>
              <a:t>不能随机存取。</a:t>
            </a:r>
            <a:endParaRPr lang="en-US" altLang="zh-CN" dirty="0"/>
          </a:p>
          <a:p>
            <a:pPr lvl="1"/>
            <a:r>
              <a:rPr lang="zh-CN" altLang="en-US" dirty="0"/>
              <a:t>需要额外的空间存放指针。</a:t>
            </a:r>
            <a:endParaRPr lang="en-US" altLang="zh-CN" dirty="0"/>
          </a:p>
          <a:p>
            <a:endParaRPr lang="en-US" altLang="zh-CN" dirty="0"/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386105489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B5EE536-A45E-4F7B-A9C5-D3A70FDDE3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线性表的链式存储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D4B7945-FE70-4025-A6C7-482702FBE19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US" altLang="zh-CN" dirty="0"/>
          </a:p>
          <a:p>
            <a:endParaRPr lang="zh-CN" altLang="en-US" dirty="0"/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0DD67CA8-BA2B-4A36-AC53-8118FFE75AA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5800" y="2286000"/>
            <a:ext cx="10748865" cy="2057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14151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9BB63B4-509D-4C73-988F-B7D149E2CA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单链表的定义（</a:t>
            </a:r>
            <a:r>
              <a:rPr lang="en-US" altLang="zh-CN" dirty="0"/>
              <a:t>1</a:t>
            </a:r>
            <a:r>
              <a:rPr lang="zh-CN" altLang="en-US" dirty="0"/>
              <a:t>）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6862325-78D7-44FD-B6CB-50EA28BCC1F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4800" y="1371600"/>
            <a:ext cx="11582400" cy="4648200"/>
          </a:xfrm>
        </p:spPr>
        <p:txBody>
          <a:bodyPr/>
          <a:lstStyle/>
          <a:p>
            <a:pPr marL="57150" indent="0">
              <a:lnSpc>
                <a:spcPct val="120000"/>
              </a:lnSpc>
              <a:buNone/>
            </a:pPr>
            <a:r>
              <a:rPr lang="en-US" altLang="zh-CN" b="0" dirty="0"/>
              <a:t>/* </a:t>
            </a:r>
            <a:r>
              <a:rPr lang="zh-CN" altLang="en-US" b="0" dirty="0"/>
              <a:t>教材上的定义 *</a:t>
            </a:r>
            <a:r>
              <a:rPr lang="en-US" altLang="zh-CN" b="0" dirty="0"/>
              <a:t>/</a:t>
            </a:r>
          </a:p>
          <a:p>
            <a:pPr marL="57150" indent="0">
              <a:lnSpc>
                <a:spcPct val="120000"/>
              </a:lnSpc>
              <a:buNone/>
            </a:pPr>
            <a:r>
              <a:rPr lang="en-US" altLang="zh-CN" b="0" dirty="0"/>
              <a:t>typedef struct Node {</a:t>
            </a:r>
          </a:p>
          <a:p>
            <a:pPr marL="57150" indent="0">
              <a:lnSpc>
                <a:spcPct val="120000"/>
              </a:lnSpc>
              <a:buNone/>
            </a:pPr>
            <a:r>
              <a:rPr lang="en-US" altLang="zh-CN" b="0" dirty="0"/>
              <a:t>    </a:t>
            </a:r>
            <a:r>
              <a:rPr lang="en-US" altLang="zh-CN" b="0" dirty="0" err="1"/>
              <a:t>ElemType</a:t>
            </a:r>
            <a:r>
              <a:rPr lang="en-US" altLang="zh-CN" b="0" dirty="0"/>
              <a:t> data;</a:t>
            </a:r>
          </a:p>
          <a:p>
            <a:pPr marL="57150" indent="0">
              <a:lnSpc>
                <a:spcPct val="120000"/>
              </a:lnSpc>
              <a:buNone/>
            </a:pPr>
            <a:r>
              <a:rPr lang="en-US" altLang="zh-CN" b="0" dirty="0"/>
              <a:t>    struct Node *next;</a:t>
            </a:r>
          </a:p>
          <a:p>
            <a:pPr marL="57150" indent="0">
              <a:lnSpc>
                <a:spcPct val="120000"/>
              </a:lnSpc>
              <a:buNone/>
            </a:pPr>
            <a:r>
              <a:rPr lang="en-US" altLang="zh-CN" b="0" dirty="0"/>
              <a:t>} Node, *</a:t>
            </a:r>
            <a:r>
              <a:rPr lang="en-US" altLang="zh-CN" b="0" dirty="0" err="1"/>
              <a:t>LinkList</a:t>
            </a:r>
            <a:r>
              <a:rPr lang="en-US" altLang="zh-CN" b="0" dirty="0"/>
              <a:t>;</a:t>
            </a:r>
            <a:endParaRPr lang="zh-CN" altLang="en-US" b="0" dirty="0"/>
          </a:p>
        </p:txBody>
      </p:sp>
    </p:spTree>
    <p:extLst>
      <p:ext uri="{BB962C8B-B14F-4D97-AF65-F5344CB8AC3E}">
        <p14:creationId xmlns:p14="http://schemas.microsoft.com/office/powerpoint/2010/main" val="4281318695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9BB63B4-509D-4C73-988F-B7D149E2CA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单链表的定义（</a:t>
            </a:r>
            <a:r>
              <a:rPr lang="en-US" altLang="zh-CN" dirty="0"/>
              <a:t>2</a:t>
            </a:r>
            <a:r>
              <a:rPr lang="zh-CN" altLang="en-US" dirty="0"/>
              <a:t>）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6862325-78D7-44FD-B6CB-50EA28BCC1F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4800" y="1371600"/>
            <a:ext cx="11582400" cy="4648200"/>
          </a:xfrm>
        </p:spPr>
        <p:txBody>
          <a:bodyPr/>
          <a:lstStyle/>
          <a:p>
            <a:pPr marL="57150" indent="0">
              <a:lnSpc>
                <a:spcPct val="120000"/>
              </a:lnSpc>
              <a:buNone/>
            </a:pPr>
            <a:r>
              <a:rPr lang="en-US" altLang="zh-CN" b="0" dirty="0"/>
              <a:t>/* </a:t>
            </a:r>
            <a:r>
              <a:rPr lang="zh-CN" altLang="en-US" b="0" dirty="0"/>
              <a:t>通用链表 *</a:t>
            </a:r>
            <a:r>
              <a:rPr lang="en-US" altLang="zh-CN" b="0" dirty="0"/>
              <a:t>/</a:t>
            </a:r>
          </a:p>
          <a:p>
            <a:pPr marL="57150" indent="0">
              <a:lnSpc>
                <a:spcPct val="120000"/>
              </a:lnSpc>
              <a:buNone/>
            </a:pPr>
            <a:r>
              <a:rPr lang="en-US" altLang="zh-CN" b="0" dirty="0"/>
              <a:t>typedef struct Node {</a:t>
            </a:r>
          </a:p>
          <a:p>
            <a:pPr marL="57150" indent="0">
              <a:lnSpc>
                <a:spcPct val="120000"/>
              </a:lnSpc>
              <a:buNone/>
            </a:pPr>
            <a:r>
              <a:rPr lang="en-US" altLang="zh-CN" b="0" dirty="0"/>
              <a:t>    void* </a:t>
            </a:r>
            <a:r>
              <a:rPr lang="en-US" altLang="zh-CN" b="0" dirty="0" err="1"/>
              <a:t>pData</a:t>
            </a:r>
            <a:r>
              <a:rPr lang="en-US" altLang="zh-CN" b="0" dirty="0"/>
              <a:t>;</a:t>
            </a:r>
          </a:p>
          <a:p>
            <a:pPr marL="57150" indent="0">
              <a:lnSpc>
                <a:spcPct val="120000"/>
              </a:lnSpc>
              <a:buNone/>
            </a:pPr>
            <a:r>
              <a:rPr lang="en-US" altLang="zh-CN" b="0" dirty="0"/>
              <a:t>    struct Node *</a:t>
            </a:r>
            <a:r>
              <a:rPr lang="en-US" altLang="zh-CN" b="0" dirty="0" err="1"/>
              <a:t>pNext</a:t>
            </a:r>
            <a:r>
              <a:rPr lang="en-US" altLang="zh-CN" b="0" dirty="0"/>
              <a:t>;</a:t>
            </a:r>
          </a:p>
          <a:p>
            <a:pPr marL="57150" indent="0">
              <a:lnSpc>
                <a:spcPct val="120000"/>
              </a:lnSpc>
              <a:buNone/>
            </a:pPr>
            <a:r>
              <a:rPr lang="en-US" altLang="zh-CN" b="0" dirty="0"/>
              <a:t>} Node, *LinkedList;</a:t>
            </a:r>
            <a:endParaRPr lang="zh-CN" altLang="en-US" b="0" dirty="0"/>
          </a:p>
        </p:txBody>
      </p:sp>
    </p:spTree>
    <p:extLst>
      <p:ext uri="{BB962C8B-B14F-4D97-AF65-F5344CB8AC3E}">
        <p14:creationId xmlns:p14="http://schemas.microsoft.com/office/powerpoint/2010/main" val="2587396915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9BB63B4-509D-4C73-988F-B7D149E2CA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单链表的定义（</a:t>
            </a:r>
            <a:r>
              <a:rPr lang="en-US" altLang="zh-CN" dirty="0"/>
              <a:t>3</a:t>
            </a:r>
            <a:r>
              <a:rPr lang="zh-CN" altLang="en-US" dirty="0"/>
              <a:t>）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6862325-78D7-44FD-B6CB-50EA28BCC1F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4800" y="1371600"/>
            <a:ext cx="11582400" cy="4648200"/>
          </a:xfrm>
        </p:spPr>
        <p:txBody>
          <a:bodyPr/>
          <a:lstStyle/>
          <a:p>
            <a:pPr marL="57150" indent="0">
              <a:lnSpc>
                <a:spcPct val="120000"/>
              </a:lnSpc>
              <a:buNone/>
            </a:pPr>
            <a:r>
              <a:rPr lang="en-US" altLang="zh-CN" b="0" dirty="0"/>
              <a:t>/* </a:t>
            </a:r>
            <a:r>
              <a:rPr lang="zh-CN" altLang="en-US" b="0" dirty="0"/>
              <a:t>与定义</a:t>
            </a:r>
            <a:r>
              <a:rPr lang="en-US" altLang="zh-CN" b="0" dirty="0"/>
              <a:t>(2)</a:t>
            </a:r>
            <a:r>
              <a:rPr lang="zh-CN" altLang="en-US" b="0" dirty="0"/>
              <a:t>相同，只是写法不同 *</a:t>
            </a:r>
            <a:r>
              <a:rPr lang="en-US" altLang="zh-CN" b="0" dirty="0"/>
              <a:t>/</a:t>
            </a:r>
          </a:p>
          <a:p>
            <a:pPr marL="57150" indent="0">
              <a:lnSpc>
                <a:spcPct val="120000"/>
              </a:lnSpc>
              <a:buNone/>
            </a:pPr>
            <a:r>
              <a:rPr lang="en-US" altLang="zh-CN" b="0" dirty="0"/>
              <a:t>typedef struct Node </a:t>
            </a:r>
            <a:r>
              <a:rPr lang="en-US" altLang="zh-CN" b="0" dirty="0" err="1"/>
              <a:t>Node</a:t>
            </a:r>
            <a:r>
              <a:rPr lang="en-US" altLang="zh-CN" b="0" dirty="0"/>
              <a:t>, *LinkedList;</a:t>
            </a:r>
          </a:p>
          <a:p>
            <a:pPr marL="57150" indent="0">
              <a:lnSpc>
                <a:spcPct val="120000"/>
              </a:lnSpc>
              <a:buNone/>
            </a:pPr>
            <a:r>
              <a:rPr lang="en-US" altLang="zh-CN" b="0" dirty="0"/>
              <a:t>struct Node {</a:t>
            </a:r>
          </a:p>
          <a:p>
            <a:pPr marL="57150" indent="0">
              <a:lnSpc>
                <a:spcPct val="120000"/>
              </a:lnSpc>
              <a:buNone/>
            </a:pPr>
            <a:r>
              <a:rPr lang="en-US" altLang="zh-CN" b="0" dirty="0"/>
              <a:t>    void* </a:t>
            </a:r>
            <a:r>
              <a:rPr lang="en-US" altLang="zh-CN" b="0" dirty="0" err="1"/>
              <a:t>pData</a:t>
            </a:r>
            <a:r>
              <a:rPr lang="en-US" altLang="zh-CN" b="0" dirty="0"/>
              <a:t>;</a:t>
            </a:r>
          </a:p>
          <a:p>
            <a:pPr marL="57150" indent="0">
              <a:lnSpc>
                <a:spcPct val="120000"/>
              </a:lnSpc>
              <a:buNone/>
            </a:pPr>
            <a:r>
              <a:rPr lang="en-US" altLang="zh-CN" b="0" dirty="0"/>
              <a:t>    LinkedList </a:t>
            </a:r>
            <a:r>
              <a:rPr lang="en-US" altLang="zh-CN" b="0" dirty="0" err="1"/>
              <a:t>pNext</a:t>
            </a:r>
            <a:r>
              <a:rPr lang="en-US" altLang="zh-CN" b="0" dirty="0"/>
              <a:t>;</a:t>
            </a:r>
          </a:p>
          <a:p>
            <a:pPr marL="57150" indent="0">
              <a:lnSpc>
                <a:spcPct val="120000"/>
              </a:lnSpc>
              <a:buNone/>
            </a:pPr>
            <a:r>
              <a:rPr lang="en-US" altLang="zh-CN" b="0" dirty="0"/>
              <a:t>};</a:t>
            </a:r>
          </a:p>
          <a:p>
            <a:pPr marL="57150" indent="0">
              <a:lnSpc>
                <a:spcPct val="120000"/>
              </a:lnSpc>
              <a:buNone/>
            </a:pPr>
            <a:r>
              <a:rPr lang="en-US" altLang="zh-CN" b="0" dirty="0"/>
              <a:t>/</a:t>
            </a:r>
            <a:r>
              <a:rPr lang="zh-CN" altLang="en-US" b="0" dirty="0"/>
              <a:t>* 具体实现时可以有带头节点和不带头节点两种办法 *</a:t>
            </a:r>
            <a:r>
              <a:rPr lang="en-US" altLang="zh-CN" b="0" dirty="0"/>
              <a:t>/</a:t>
            </a:r>
            <a:endParaRPr lang="zh-CN" altLang="en-US" b="0" dirty="0"/>
          </a:p>
        </p:txBody>
      </p:sp>
    </p:spTree>
    <p:extLst>
      <p:ext uri="{BB962C8B-B14F-4D97-AF65-F5344CB8AC3E}">
        <p14:creationId xmlns:p14="http://schemas.microsoft.com/office/powerpoint/2010/main" val="2350989510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9BB63B4-509D-4C73-988F-B7D149E2CA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我们采用下面的定义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6862325-78D7-44FD-B6CB-50EA28BCC1F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4800" y="1371600"/>
            <a:ext cx="11582400" cy="4648200"/>
          </a:xfrm>
        </p:spPr>
        <p:txBody>
          <a:bodyPr/>
          <a:lstStyle/>
          <a:p>
            <a:pPr marL="57150" indent="0">
              <a:lnSpc>
                <a:spcPct val="100000"/>
              </a:lnSpc>
              <a:buNone/>
            </a:pPr>
            <a:r>
              <a:rPr lang="en-US" altLang="zh-CN" b="0" dirty="0"/>
              <a:t>typedef struct </a:t>
            </a:r>
            <a:r>
              <a:rPr lang="en-US" altLang="zh-CN" b="0" dirty="0" err="1"/>
              <a:t>ListNode</a:t>
            </a:r>
            <a:r>
              <a:rPr lang="en-US" altLang="zh-CN" b="0" dirty="0"/>
              <a:t> </a:t>
            </a:r>
            <a:r>
              <a:rPr lang="en-US" altLang="zh-CN" b="0" dirty="0" err="1"/>
              <a:t>ListNode</a:t>
            </a:r>
            <a:r>
              <a:rPr lang="en-US" altLang="zh-CN" b="0" dirty="0"/>
              <a:t>;</a:t>
            </a:r>
          </a:p>
          <a:p>
            <a:pPr marL="57150" indent="0">
              <a:lnSpc>
                <a:spcPct val="100000"/>
              </a:lnSpc>
              <a:buNone/>
            </a:pPr>
            <a:r>
              <a:rPr lang="en-US" altLang="zh-CN" b="0" dirty="0"/>
              <a:t>struct </a:t>
            </a:r>
            <a:r>
              <a:rPr lang="en-US" altLang="zh-CN" b="0" dirty="0" err="1"/>
              <a:t>ListNode</a:t>
            </a:r>
            <a:r>
              <a:rPr lang="en-US" altLang="zh-CN" b="0" dirty="0"/>
              <a:t> {</a:t>
            </a:r>
          </a:p>
          <a:p>
            <a:pPr marL="57150" indent="0">
              <a:lnSpc>
                <a:spcPct val="100000"/>
              </a:lnSpc>
              <a:buNone/>
            </a:pPr>
            <a:r>
              <a:rPr lang="en-US" altLang="zh-CN" b="0" dirty="0"/>
              <a:t>    void*  </a:t>
            </a:r>
            <a:r>
              <a:rPr lang="en-US" altLang="zh-CN" b="0" dirty="0" err="1"/>
              <a:t>pData</a:t>
            </a:r>
            <a:r>
              <a:rPr lang="en-US" altLang="zh-CN" b="0" dirty="0"/>
              <a:t>;</a:t>
            </a:r>
          </a:p>
          <a:p>
            <a:pPr marL="57150" indent="0">
              <a:lnSpc>
                <a:spcPct val="100000"/>
              </a:lnSpc>
              <a:buNone/>
            </a:pPr>
            <a:r>
              <a:rPr lang="en-US" altLang="zh-CN" b="0" dirty="0"/>
              <a:t>    </a:t>
            </a:r>
            <a:r>
              <a:rPr lang="en-US" altLang="zh-CN" b="0" dirty="0" err="1"/>
              <a:t>ListNode</a:t>
            </a:r>
            <a:r>
              <a:rPr lang="zh-CN" altLang="en-US" b="0" dirty="0"/>
              <a:t>* </a:t>
            </a:r>
            <a:r>
              <a:rPr lang="en-US" altLang="zh-CN" b="0" dirty="0" err="1"/>
              <a:t>pNext</a:t>
            </a:r>
            <a:r>
              <a:rPr lang="en-US" altLang="zh-CN" b="0" dirty="0"/>
              <a:t>;</a:t>
            </a:r>
          </a:p>
          <a:p>
            <a:pPr marL="57150" indent="0">
              <a:lnSpc>
                <a:spcPct val="100000"/>
              </a:lnSpc>
              <a:buNone/>
            </a:pPr>
            <a:r>
              <a:rPr lang="en-US" altLang="zh-CN" b="0" dirty="0"/>
              <a:t>}; </a:t>
            </a:r>
          </a:p>
          <a:p>
            <a:pPr marL="57150" indent="0">
              <a:lnSpc>
                <a:spcPct val="100000"/>
              </a:lnSpc>
              <a:buNone/>
            </a:pPr>
            <a:r>
              <a:rPr lang="en-US" altLang="zh-CN" b="0" dirty="0"/>
              <a:t>typedef struct {</a:t>
            </a:r>
          </a:p>
          <a:p>
            <a:pPr marL="57150" indent="0">
              <a:lnSpc>
                <a:spcPct val="100000"/>
              </a:lnSpc>
              <a:buNone/>
            </a:pPr>
            <a:r>
              <a:rPr lang="en-US" altLang="zh-CN" b="0" dirty="0"/>
              <a:t>    </a:t>
            </a:r>
            <a:r>
              <a:rPr lang="en-US" altLang="zh-CN" b="0" dirty="0" err="1"/>
              <a:t>ListNode</a:t>
            </a:r>
            <a:r>
              <a:rPr lang="en-US" altLang="zh-CN" b="0" dirty="0"/>
              <a:t>  *</a:t>
            </a:r>
            <a:r>
              <a:rPr lang="en-US" altLang="zh-CN" b="0" dirty="0" err="1"/>
              <a:t>pFirst</a:t>
            </a:r>
            <a:r>
              <a:rPr lang="en-US" altLang="zh-CN" b="0" dirty="0"/>
              <a:t>;   /</a:t>
            </a:r>
            <a:r>
              <a:rPr lang="zh-CN" altLang="en-US" b="0" dirty="0"/>
              <a:t>*</a:t>
            </a:r>
            <a:r>
              <a:rPr lang="en-US" altLang="zh-CN" b="0" dirty="0"/>
              <a:t> </a:t>
            </a:r>
            <a:r>
              <a:rPr lang="zh-CN" altLang="en-US" b="0" dirty="0"/>
              <a:t>还可以加入 </a:t>
            </a:r>
            <a:r>
              <a:rPr lang="en-US" altLang="zh-CN" b="0" dirty="0" err="1"/>
              <a:t>pLast</a:t>
            </a:r>
            <a:r>
              <a:rPr lang="en-US" altLang="zh-CN" b="0" dirty="0"/>
              <a:t> </a:t>
            </a:r>
            <a:r>
              <a:rPr lang="zh-CN" altLang="en-US" b="0" dirty="0"/>
              <a:t>*</a:t>
            </a:r>
            <a:r>
              <a:rPr lang="en-US" altLang="zh-CN" b="0" dirty="0"/>
              <a:t>/</a:t>
            </a:r>
          </a:p>
          <a:p>
            <a:pPr marL="57150" indent="0">
              <a:lnSpc>
                <a:spcPct val="100000"/>
              </a:lnSpc>
              <a:buNone/>
            </a:pPr>
            <a:r>
              <a:rPr lang="en-US" altLang="zh-CN" b="0" dirty="0"/>
              <a:t>    int length;</a:t>
            </a:r>
          </a:p>
          <a:p>
            <a:pPr marL="57150" indent="0">
              <a:lnSpc>
                <a:spcPct val="100000"/>
              </a:lnSpc>
              <a:buNone/>
            </a:pPr>
            <a:r>
              <a:rPr lang="en-US" altLang="zh-CN" b="0" dirty="0"/>
              <a:t>} LinkedList;    </a:t>
            </a:r>
            <a:endParaRPr lang="zh-CN" altLang="en-US" b="0" dirty="0"/>
          </a:p>
        </p:txBody>
      </p:sp>
    </p:spTree>
    <p:extLst>
      <p:ext uri="{BB962C8B-B14F-4D97-AF65-F5344CB8AC3E}">
        <p14:creationId xmlns:p14="http://schemas.microsoft.com/office/powerpoint/2010/main" val="2938721301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A30B49D-8BB4-45C6-AA5A-555189957C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单链表图示</a:t>
            </a:r>
          </a:p>
        </p:txBody>
      </p:sp>
      <p:pic>
        <p:nvPicPr>
          <p:cNvPr id="5" name="内容占位符 4">
            <a:extLst>
              <a:ext uri="{FF2B5EF4-FFF2-40B4-BE49-F238E27FC236}">
                <a16:creationId xmlns:a16="http://schemas.microsoft.com/office/drawing/2014/main" id="{BFFE249C-8C1F-4028-9B81-02F0F608352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3850" y="1828800"/>
            <a:ext cx="11802020" cy="3048000"/>
          </a:xfrm>
        </p:spPr>
      </p:pic>
    </p:spTree>
    <p:extLst>
      <p:ext uri="{BB962C8B-B14F-4D97-AF65-F5344CB8AC3E}">
        <p14:creationId xmlns:p14="http://schemas.microsoft.com/office/powerpoint/2010/main" val="3833528155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D553DE0-8A6B-4729-B343-F6E24387B7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链表的初始化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E346D31-D45D-4516-B608-17B7F38C5AC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4800" y="1219200"/>
            <a:ext cx="11582400" cy="5181600"/>
          </a:xfrm>
        </p:spPr>
        <p:txBody>
          <a:bodyPr/>
          <a:lstStyle/>
          <a:p>
            <a:pPr marL="0" indent="0">
              <a:lnSpc>
                <a:spcPct val="120000"/>
              </a:lnSpc>
              <a:buNone/>
            </a:pPr>
            <a:r>
              <a:rPr lang="en-US" altLang="zh-CN" b="0" dirty="0"/>
              <a:t>Status </a:t>
            </a:r>
            <a:r>
              <a:rPr lang="en-US" altLang="zh-CN" b="0" dirty="0" err="1"/>
              <a:t>InitList</a:t>
            </a:r>
            <a:r>
              <a:rPr lang="en-US" altLang="zh-CN" b="0" dirty="0"/>
              <a:t>(LinkedList* </a:t>
            </a:r>
            <a:r>
              <a:rPr lang="en-US" altLang="zh-CN" b="0" dirty="0" err="1"/>
              <a:t>pList</a:t>
            </a:r>
            <a:r>
              <a:rPr lang="en-US" altLang="zh-CN" b="0" dirty="0"/>
              <a:t>){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altLang="zh-CN" b="0" dirty="0"/>
              <a:t>    </a:t>
            </a:r>
            <a:r>
              <a:rPr lang="en-US" altLang="zh-CN" b="0" dirty="0" err="1"/>
              <a:t>pList</a:t>
            </a:r>
            <a:r>
              <a:rPr lang="en-US" altLang="zh-CN" b="0" dirty="0"/>
              <a:t>-&gt;</a:t>
            </a:r>
            <a:r>
              <a:rPr lang="en-US" altLang="zh-CN" b="0" dirty="0" err="1"/>
              <a:t>pFirst</a:t>
            </a:r>
            <a:r>
              <a:rPr lang="en-US" altLang="zh-CN" b="0" dirty="0"/>
              <a:t>=</a:t>
            </a:r>
            <a:r>
              <a:rPr lang="en-US" altLang="zh-CN" b="0" dirty="0" err="1"/>
              <a:t>nullptr</a:t>
            </a:r>
            <a:r>
              <a:rPr lang="en-US" altLang="zh-CN" b="0" dirty="0"/>
              <a:t>;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altLang="zh-CN" b="0" dirty="0"/>
              <a:t>    </a:t>
            </a:r>
            <a:r>
              <a:rPr lang="en-US" altLang="zh-CN" b="0" dirty="0" err="1"/>
              <a:t>pList</a:t>
            </a:r>
            <a:r>
              <a:rPr lang="en-US" altLang="zh-CN" b="0" dirty="0"/>
              <a:t>-&gt;length=0;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altLang="zh-CN" b="0" dirty="0"/>
              <a:t>    return OK;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altLang="zh-CN" b="0" dirty="0"/>
              <a:t>}</a:t>
            </a:r>
            <a:endParaRPr lang="zh-CN" altLang="en-US" b="0" dirty="0"/>
          </a:p>
        </p:txBody>
      </p:sp>
    </p:spTree>
    <p:extLst>
      <p:ext uri="{BB962C8B-B14F-4D97-AF65-F5344CB8AC3E}">
        <p14:creationId xmlns:p14="http://schemas.microsoft.com/office/powerpoint/2010/main" val="1174214630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D553DE0-8A6B-4729-B343-F6E24387B7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求链表的长度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E346D31-D45D-4516-B608-17B7F38C5AC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4800" y="1219200"/>
            <a:ext cx="11582400" cy="5181600"/>
          </a:xfrm>
        </p:spPr>
        <p:txBody>
          <a:bodyPr/>
          <a:lstStyle/>
          <a:p>
            <a:pPr marL="0" indent="0">
              <a:lnSpc>
                <a:spcPct val="120000"/>
              </a:lnSpc>
              <a:buNone/>
            </a:pPr>
            <a:r>
              <a:rPr lang="en-US" altLang="zh-CN" b="0" dirty="0"/>
              <a:t>int </a:t>
            </a:r>
            <a:r>
              <a:rPr lang="en-US" altLang="zh-CN" b="0" dirty="0" err="1"/>
              <a:t>LengthOfList</a:t>
            </a:r>
            <a:r>
              <a:rPr lang="en-US" altLang="zh-CN" b="0" dirty="0"/>
              <a:t>(LinkedList* </a:t>
            </a:r>
            <a:r>
              <a:rPr lang="en-US" altLang="zh-CN" b="0" dirty="0" err="1"/>
              <a:t>pList</a:t>
            </a:r>
            <a:r>
              <a:rPr lang="en-US" altLang="zh-CN" b="0" dirty="0"/>
              <a:t>){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altLang="zh-CN" b="0" dirty="0"/>
              <a:t>    return </a:t>
            </a:r>
            <a:r>
              <a:rPr lang="en-US" altLang="zh-CN" b="0" dirty="0" err="1"/>
              <a:t>pList</a:t>
            </a:r>
            <a:r>
              <a:rPr lang="en-US" altLang="zh-CN" b="0" dirty="0"/>
              <a:t>-&gt;length;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altLang="zh-CN" b="0" dirty="0"/>
              <a:t>}</a:t>
            </a:r>
            <a:endParaRPr lang="zh-CN" altLang="en-US" b="0" dirty="0"/>
          </a:p>
        </p:txBody>
      </p:sp>
    </p:spTree>
    <p:extLst>
      <p:ext uri="{BB962C8B-B14F-4D97-AF65-F5344CB8AC3E}">
        <p14:creationId xmlns:p14="http://schemas.microsoft.com/office/powerpoint/2010/main" val="2433394682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D553DE0-8A6B-4729-B343-F6E24387B7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判断链表是否为空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E346D31-D45D-4516-B608-17B7F38C5AC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4800" y="1219200"/>
            <a:ext cx="11582400" cy="5181600"/>
          </a:xfrm>
        </p:spPr>
        <p:txBody>
          <a:bodyPr/>
          <a:lstStyle/>
          <a:p>
            <a:pPr marL="0" indent="0">
              <a:lnSpc>
                <a:spcPct val="120000"/>
              </a:lnSpc>
              <a:buNone/>
            </a:pPr>
            <a:r>
              <a:rPr lang="en-US" altLang="zh-CN" b="0" dirty="0"/>
              <a:t>bool </a:t>
            </a:r>
            <a:r>
              <a:rPr lang="en-US" altLang="zh-CN" b="0" dirty="0" err="1"/>
              <a:t>IsEmpty</a:t>
            </a:r>
            <a:r>
              <a:rPr lang="en-US" altLang="zh-CN" b="0" dirty="0"/>
              <a:t>(LinkedList* </a:t>
            </a:r>
            <a:r>
              <a:rPr lang="en-US" altLang="zh-CN" b="0" dirty="0" err="1"/>
              <a:t>pList</a:t>
            </a:r>
            <a:r>
              <a:rPr lang="en-US" altLang="zh-CN" b="0" dirty="0"/>
              <a:t>){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altLang="zh-CN" b="0" dirty="0"/>
              <a:t>    if(</a:t>
            </a:r>
            <a:r>
              <a:rPr lang="en-US" altLang="zh-CN" b="0" dirty="0" err="1"/>
              <a:t>pList</a:t>
            </a:r>
            <a:r>
              <a:rPr lang="en-US" altLang="zh-CN" b="0" dirty="0"/>
              <a:t>-&gt;length==0){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altLang="zh-CN" b="0" dirty="0"/>
              <a:t>        return true;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altLang="zh-CN" b="0" dirty="0"/>
              <a:t>    }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altLang="zh-CN" b="0" dirty="0"/>
              <a:t>    else {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altLang="zh-CN" b="0" dirty="0"/>
              <a:t>        return false;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altLang="zh-CN" b="0" dirty="0"/>
              <a:t>    }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altLang="zh-CN" b="0" dirty="0"/>
              <a:t>}</a:t>
            </a:r>
            <a:endParaRPr lang="zh-CN" altLang="en-US" b="0" dirty="0"/>
          </a:p>
        </p:txBody>
      </p:sp>
    </p:spTree>
    <p:extLst>
      <p:ext uri="{BB962C8B-B14F-4D97-AF65-F5344CB8AC3E}">
        <p14:creationId xmlns:p14="http://schemas.microsoft.com/office/powerpoint/2010/main" val="4011282593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D553DE0-8A6B-4729-B343-F6E24387B7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分配节点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E346D31-D45D-4516-B608-17B7F38C5AC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4800" y="1219200"/>
            <a:ext cx="11582400" cy="5181600"/>
          </a:xfrm>
        </p:spPr>
        <p:txBody>
          <a:bodyPr/>
          <a:lstStyle/>
          <a:p>
            <a:pPr marL="0" indent="0">
              <a:lnSpc>
                <a:spcPct val="100000"/>
              </a:lnSpc>
              <a:buNone/>
            </a:pPr>
            <a:r>
              <a:rPr lang="en-US" altLang="zh-CN" b="0" dirty="0" err="1"/>
              <a:t>ListNode</a:t>
            </a:r>
            <a:r>
              <a:rPr lang="en-US" altLang="zh-CN" b="0" dirty="0"/>
              <a:t>* </a:t>
            </a:r>
            <a:r>
              <a:rPr lang="en-US" altLang="zh-CN" b="0" dirty="0" err="1"/>
              <a:t>MallocNode</a:t>
            </a:r>
            <a:r>
              <a:rPr lang="en-US" altLang="zh-CN" b="0" dirty="0"/>
              <a:t>(void* </a:t>
            </a:r>
            <a:r>
              <a:rPr lang="en-US" altLang="zh-CN" b="0" dirty="0" err="1"/>
              <a:t>pData</a:t>
            </a:r>
            <a:r>
              <a:rPr lang="en-US" altLang="zh-CN" b="0" dirty="0"/>
              <a:t>) {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b="0" dirty="0"/>
              <a:t>    </a:t>
            </a:r>
            <a:r>
              <a:rPr lang="en-US" altLang="zh-CN" b="0" dirty="0" err="1"/>
              <a:t>ListNode</a:t>
            </a:r>
            <a:r>
              <a:rPr lang="en-US" altLang="zh-CN" b="0" dirty="0"/>
              <a:t>* </a:t>
            </a:r>
            <a:r>
              <a:rPr lang="en-US" altLang="zh-CN" b="0" dirty="0" err="1"/>
              <a:t>pNode</a:t>
            </a:r>
            <a:r>
              <a:rPr lang="en-US" altLang="zh-CN" b="0" dirty="0"/>
              <a:t>=(</a:t>
            </a:r>
            <a:r>
              <a:rPr lang="en-US" altLang="zh-CN" b="0" dirty="0" err="1"/>
              <a:t>ListNode</a:t>
            </a:r>
            <a:r>
              <a:rPr lang="en-US" altLang="zh-CN" b="0" dirty="0"/>
              <a:t>*)malloc(</a:t>
            </a:r>
            <a:r>
              <a:rPr lang="en-US" altLang="zh-CN" b="0" dirty="0" err="1"/>
              <a:t>sizeof</a:t>
            </a:r>
            <a:r>
              <a:rPr lang="en-US" altLang="zh-CN" b="0" dirty="0"/>
              <a:t>(</a:t>
            </a:r>
            <a:r>
              <a:rPr lang="en-US" altLang="zh-CN" b="0" dirty="0" err="1"/>
              <a:t>ListNode</a:t>
            </a:r>
            <a:r>
              <a:rPr lang="en-US" altLang="zh-CN" b="0" dirty="0"/>
              <a:t>));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b="0" dirty="0"/>
              <a:t>    if(</a:t>
            </a:r>
            <a:r>
              <a:rPr lang="en-US" altLang="zh-CN" b="0" dirty="0" err="1"/>
              <a:t>pNode</a:t>
            </a:r>
            <a:r>
              <a:rPr lang="en-US" altLang="zh-CN" b="0" dirty="0"/>
              <a:t>==</a:t>
            </a:r>
            <a:r>
              <a:rPr lang="en-US" altLang="zh-CN" b="0" dirty="0" err="1"/>
              <a:t>nullptr</a:t>
            </a:r>
            <a:r>
              <a:rPr lang="en-US" altLang="zh-CN" b="0" dirty="0"/>
              <a:t>){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b="0" dirty="0"/>
              <a:t>        return </a:t>
            </a:r>
            <a:r>
              <a:rPr lang="en-US" altLang="zh-CN" b="0" dirty="0" err="1"/>
              <a:t>nullptr</a:t>
            </a:r>
            <a:r>
              <a:rPr lang="en-US" altLang="zh-CN" b="0" dirty="0"/>
              <a:t>;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b="0" dirty="0"/>
              <a:t>    }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b="0" dirty="0"/>
              <a:t>    else {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b="0" dirty="0"/>
              <a:t>        </a:t>
            </a:r>
            <a:r>
              <a:rPr lang="en-US" altLang="zh-CN" b="0" dirty="0" err="1"/>
              <a:t>pNode</a:t>
            </a:r>
            <a:r>
              <a:rPr lang="en-US" altLang="zh-CN" b="0" dirty="0"/>
              <a:t>-&gt;</a:t>
            </a:r>
            <a:r>
              <a:rPr lang="en-US" altLang="zh-CN" b="0" dirty="0" err="1"/>
              <a:t>pData</a:t>
            </a:r>
            <a:r>
              <a:rPr lang="en-US" altLang="zh-CN" b="0" dirty="0"/>
              <a:t>=</a:t>
            </a:r>
            <a:r>
              <a:rPr lang="en-US" altLang="zh-CN" b="0" dirty="0" err="1"/>
              <a:t>pData</a:t>
            </a:r>
            <a:r>
              <a:rPr lang="en-US" altLang="zh-CN" b="0" dirty="0"/>
              <a:t>;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b="0" dirty="0"/>
              <a:t>        </a:t>
            </a:r>
            <a:r>
              <a:rPr lang="en-US" altLang="zh-CN" b="0" dirty="0" err="1"/>
              <a:t>pNode</a:t>
            </a:r>
            <a:r>
              <a:rPr lang="en-US" altLang="zh-CN" b="0" dirty="0"/>
              <a:t>-&gt;</a:t>
            </a:r>
            <a:r>
              <a:rPr lang="en-US" altLang="zh-CN" b="0" dirty="0" err="1"/>
              <a:t>pNext</a:t>
            </a:r>
            <a:r>
              <a:rPr lang="en-US" altLang="zh-CN" b="0" dirty="0"/>
              <a:t>=</a:t>
            </a:r>
            <a:r>
              <a:rPr lang="en-US" altLang="zh-CN" b="0" dirty="0" err="1"/>
              <a:t>nullptr</a:t>
            </a:r>
            <a:r>
              <a:rPr lang="en-US" altLang="zh-CN" b="0" dirty="0"/>
              <a:t>;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b="0" dirty="0"/>
              <a:t>        return </a:t>
            </a:r>
            <a:r>
              <a:rPr lang="en-US" altLang="zh-CN" b="0" dirty="0" err="1"/>
              <a:t>pNode</a:t>
            </a:r>
            <a:r>
              <a:rPr lang="en-US" altLang="zh-CN" b="0" dirty="0"/>
              <a:t>;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b="0" dirty="0"/>
              <a:t>    }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b="0" dirty="0"/>
              <a:t>}</a:t>
            </a:r>
            <a:endParaRPr lang="zh-CN" altLang="en-US" b="0" dirty="0"/>
          </a:p>
        </p:txBody>
      </p:sp>
    </p:spTree>
    <p:extLst>
      <p:ext uri="{BB962C8B-B14F-4D97-AF65-F5344CB8AC3E}">
        <p14:creationId xmlns:p14="http://schemas.microsoft.com/office/powerpoint/2010/main" val="383901830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D553DE0-8A6B-4729-B343-F6E24387B7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释放节点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E346D31-D45D-4516-B608-17B7F38C5AC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4800" y="1219200"/>
            <a:ext cx="11582400" cy="5181600"/>
          </a:xfrm>
        </p:spPr>
        <p:txBody>
          <a:bodyPr/>
          <a:lstStyle/>
          <a:p>
            <a:pPr marL="0" indent="0">
              <a:lnSpc>
                <a:spcPct val="100000"/>
              </a:lnSpc>
              <a:buNone/>
            </a:pPr>
            <a:r>
              <a:rPr lang="en-US" altLang="zh-CN" b="0" dirty="0"/>
              <a:t>void </a:t>
            </a:r>
            <a:r>
              <a:rPr lang="en-US" altLang="zh-CN" b="0" dirty="0" err="1"/>
              <a:t>FreeNode</a:t>
            </a:r>
            <a:r>
              <a:rPr lang="en-US" altLang="zh-CN" b="0" dirty="0"/>
              <a:t>(</a:t>
            </a:r>
            <a:r>
              <a:rPr lang="en-US" altLang="zh-CN" b="0" dirty="0" err="1"/>
              <a:t>ListNode</a:t>
            </a:r>
            <a:r>
              <a:rPr lang="en-US" altLang="zh-CN" b="0" dirty="0"/>
              <a:t>* </a:t>
            </a:r>
            <a:r>
              <a:rPr lang="en-US" altLang="zh-CN" b="0" dirty="0" err="1"/>
              <a:t>pNode</a:t>
            </a:r>
            <a:r>
              <a:rPr lang="en-US" altLang="zh-CN" b="0" dirty="0"/>
              <a:t>, void (*</a:t>
            </a:r>
            <a:r>
              <a:rPr lang="en-US" altLang="zh-CN" b="0" dirty="0" err="1"/>
              <a:t>freeData</a:t>
            </a:r>
            <a:r>
              <a:rPr lang="en-US" altLang="zh-CN" b="0" dirty="0"/>
              <a:t>)() ) {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b="0" dirty="0"/>
              <a:t>    if(</a:t>
            </a:r>
            <a:r>
              <a:rPr lang="en-US" altLang="zh-CN" b="0" dirty="0" err="1"/>
              <a:t>pNode</a:t>
            </a:r>
            <a:r>
              <a:rPr lang="en-US" altLang="zh-CN" b="0" dirty="0"/>
              <a:t>==</a:t>
            </a:r>
            <a:r>
              <a:rPr lang="en-US" altLang="zh-CN" b="0" dirty="0" err="1"/>
              <a:t>nullptr</a:t>
            </a:r>
            <a:r>
              <a:rPr lang="en-US" altLang="zh-CN" b="0" dirty="0"/>
              <a:t>){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b="0" dirty="0"/>
              <a:t>        return;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b="0" dirty="0"/>
              <a:t>    }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b="0" dirty="0"/>
              <a:t>    else {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b="0" dirty="0"/>
              <a:t>        </a:t>
            </a:r>
            <a:r>
              <a:rPr lang="en-US" altLang="zh-CN" b="0" dirty="0" err="1"/>
              <a:t>freeData</a:t>
            </a:r>
            <a:r>
              <a:rPr lang="en-US" altLang="zh-CN" b="0" dirty="0"/>
              <a:t>(</a:t>
            </a:r>
            <a:r>
              <a:rPr lang="en-US" altLang="zh-CN" b="0" dirty="0" err="1"/>
              <a:t>pNode</a:t>
            </a:r>
            <a:r>
              <a:rPr lang="en-US" altLang="zh-CN" b="0" dirty="0"/>
              <a:t>-&gt;</a:t>
            </a:r>
            <a:r>
              <a:rPr lang="en-US" altLang="zh-CN" b="0" dirty="0" err="1"/>
              <a:t>pData</a:t>
            </a:r>
            <a:r>
              <a:rPr lang="en-US" altLang="zh-CN" b="0" dirty="0"/>
              <a:t>);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b="0" dirty="0"/>
              <a:t>        free(</a:t>
            </a:r>
            <a:r>
              <a:rPr lang="en-US" altLang="zh-CN" b="0" dirty="0" err="1"/>
              <a:t>pNode</a:t>
            </a:r>
            <a:r>
              <a:rPr lang="en-US" altLang="zh-CN" b="0" dirty="0"/>
              <a:t>);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b="0" dirty="0"/>
              <a:t>        return;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b="0" dirty="0"/>
              <a:t>    }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b="0" dirty="0"/>
              <a:t>}</a:t>
            </a:r>
            <a:endParaRPr lang="zh-CN" altLang="en-US" b="0" dirty="0"/>
          </a:p>
        </p:txBody>
      </p:sp>
    </p:spTree>
    <p:extLst>
      <p:ext uri="{BB962C8B-B14F-4D97-AF65-F5344CB8AC3E}">
        <p14:creationId xmlns:p14="http://schemas.microsoft.com/office/powerpoint/2010/main" val="3735780979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D553DE0-8A6B-4729-B343-F6E24387B7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向链表插入数据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E346D31-D45D-4516-B608-17B7F38C5AC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4800" y="1219200"/>
            <a:ext cx="11582400" cy="5181600"/>
          </a:xfrm>
        </p:spPr>
        <p:txBody>
          <a:bodyPr/>
          <a:lstStyle/>
          <a:p>
            <a:pPr marL="0" indent="0">
              <a:lnSpc>
                <a:spcPct val="100000"/>
              </a:lnSpc>
              <a:buNone/>
            </a:pPr>
            <a:r>
              <a:rPr lang="en-US" altLang="zh-CN" b="0" dirty="0"/>
              <a:t>Status Insert (LinkedList* </a:t>
            </a:r>
            <a:r>
              <a:rPr lang="en-US" altLang="zh-CN" b="0" dirty="0" err="1"/>
              <a:t>pList</a:t>
            </a:r>
            <a:r>
              <a:rPr lang="en-US" altLang="zh-CN" b="0" dirty="0"/>
              <a:t>, void* </a:t>
            </a:r>
            <a:r>
              <a:rPr lang="en-US" altLang="zh-CN" b="0" dirty="0" err="1"/>
              <a:t>pData</a:t>
            </a:r>
            <a:r>
              <a:rPr lang="en-US" altLang="zh-CN" b="0" dirty="0"/>
              <a:t>){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b="0" dirty="0"/>
              <a:t>    </a:t>
            </a:r>
            <a:r>
              <a:rPr lang="en-US" altLang="zh-CN" b="0" dirty="0" err="1"/>
              <a:t>ListNode</a:t>
            </a:r>
            <a:r>
              <a:rPr lang="en-US" altLang="zh-CN" b="0" dirty="0"/>
              <a:t>* </a:t>
            </a:r>
            <a:r>
              <a:rPr lang="en-US" altLang="zh-CN" b="0" dirty="0" err="1"/>
              <a:t>pNode</a:t>
            </a:r>
            <a:r>
              <a:rPr lang="en-US" altLang="zh-CN" b="0" dirty="0"/>
              <a:t>=</a:t>
            </a:r>
            <a:r>
              <a:rPr lang="en-US" altLang="zh-CN" b="0" dirty="0" err="1"/>
              <a:t>MallocNode</a:t>
            </a:r>
            <a:r>
              <a:rPr lang="en-US" altLang="zh-CN" b="0" dirty="0"/>
              <a:t>(</a:t>
            </a:r>
            <a:r>
              <a:rPr lang="en-US" altLang="zh-CN" b="0" dirty="0" err="1"/>
              <a:t>pData</a:t>
            </a:r>
            <a:r>
              <a:rPr lang="en-US" altLang="zh-CN" b="0" dirty="0"/>
              <a:t>);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b="0" dirty="0"/>
              <a:t>    if (</a:t>
            </a:r>
            <a:r>
              <a:rPr lang="en-US" altLang="zh-CN" b="0" dirty="0" err="1"/>
              <a:t>pNode</a:t>
            </a:r>
            <a:r>
              <a:rPr lang="en-US" altLang="zh-CN" b="0" dirty="0"/>
              <a:t>==</a:t>
            </a:r>
            <a:r>
              <a:rPr lang="en-US" altLang="zh-CN" b="0" dirty="0" err="1"/>
              <a:t>nullptr</a:t>
            </a:r>
            <a:r>
              <a:rPr lang="en-US" altLang="zh-CN" b="0" dirty="0"/>
              <a:t>){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b="0" dirty="0"/>
              <a:t>        return ERROR;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b="0" dirty="0"/>
              <a:t>    }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b="0" dirty="0"/>
              <a:t>    </a:t>
            </a:r>
            <a:r>
              <a:rPr lang="en-US" altLang="zh-CN" b="0" dirty="0" err="1"/>
              <a:t>pNode</a:t>
            </a:r>
            <a:r>
              <a:rPr lang="en-US" altLang="zh-CN" b="0" dirty="0"/>
              <a:t>-&gt;</a:t>
            </a:r>
            <a:r>
              <a:rPr lang="en-US" altLang="zh-CN" b="0" dirty="0" err="1"/>
              <a:t>pNext</a:t>
            </a:r>
            <a:r>
              <a:rPr lang="en-US" altLang="zh-CN" b="0" dirty="0"/>
              <a:t>=</a:t>
            </a:r>
            <a:r>
              <a:rPr lang="en-US" altLang="zh-CN" b="0" dirty="0" err="1"/>
              <a:t>pList</a:t>
            </a:r>
            <a:r>
              <a:rPr lang="en-US" altLang="zh-CN" b="0" dirty="0"/>
              <a:t>-&gt;</a:t>
            </a:r>
            <a:r>
              <a:rPr lang="en-US" altLang="zh-CN" b="0" dirty="0" err="1"/>
              <a:t>pFirst</a:t>
            </a:r>
            <a:r>
              <a:rPr lang="en-US" altLang="zh-CN" b="0" dirty="0"/>
              <a:t>;   // </a:t>
            </a:r>
            <a:r>
              <a:rPr lang="zh-CN" altLang="en-US" b="0" dirty="0"/>
              <a:t>在头部插入</a:t>
            </a:r>
            <a:endParaRPr lang="en-US" altLang="zh-CN" b="0" dirty="0"/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b="0" dirty="0"/>
              <a:t>    </a:t>
            </a:r>
            <a:r>
              <a:rPr lang="en-US" altLang="zh-CN" b="0" dirty="0" err="1"/>
              <a:t>pList</a:t>
            </a:r>
            <a:r>
              <a:rPr lang="en-US" altLang="zh-CN" b="0" dirty="0"/>
              <a:t>-&gt;</a:t>
            </a:r>
            <a:r>
              <a:rPr lang="en-US" altLang="zh-CN" b="0" dirty="0" err="1"/>
              <a:t>pFirst</a:t>
            </a:r>
            <a:r>
              <a:rPr lang="en-US" altLang="zh-CN" b="0" dirty="0"/>
              <a:t>=</a:t>
            </a:r>
            <a:r>
              <a:rPr lang="en-US" altLang="zh-CN" b="0" dirty="0" err="1"/>
              <a:t>pNode</a:t>
            </a:r>
            <a:r>
              <a:rPr lang="en-US" altLang="zh-CN" b="0" dirty="0"/>
              <a:t>;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b="0" dirty="0"/>
              <a:t>    </a:t>
            </a:r>
            <a:r>
              <a:rPr lang="en-US" altLang="zh-CN" b="0" dirty="0" err="1"/>
              <a:t>pList</a:t>
            </a:r>
            <a:r>
              <a:rPr lang="en-US" altLang="zh-CN" b="0" dirty="0"/>
              <a:t>-&gt;length++;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b="0" dirty="0"/>
              <a:t>    return OK;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b="0" dirty="0"/>
              <a:t>}</a:t>
            </a:r>
            <a:endParaRPr lang="zh-CN" altLang="en-US" b="0" dirty="0"/>
          </a:p>
        </p:txBody>
      </p:sp>
    </p:spTree>
    <p:extLst>
      <p:ext uri="{BB962C8B-B14F-4D97-AF65-F5344CB8AC3E}">
        <p14:creationId xmlns:p14="http://schemas.microsoft.com/office/powerpoint/2010/main" val="637383651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D553DE0-8A6B-4729-B343-F6E24387B7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向链表追加数据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E346D31-D45D-4516-B608-17B7F38C5AC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4800" y="1219200"/>
            <a:ext cx="11582400" cy="5181600"/>
          </a:xfrm>
        </p:spPr>
        <p:txBody>
          <a:bodyPr/>
          <a:lstStyle/>
          <a:p>
            <a:pPr marL="0" indent="0">
              <a:lnSpc>
                <a:spcPct val="100000"/>
              </a:lnSpc>
              <a:buNone/>
            </a:pPr>
            <a:r>
              <a:rPr lang="en-US" altLang="zh-CN" b="0" dirty="0"/>
              <a:t>Status </a:t>
            </a:r>
            <a:r>
              <a:rPr lang="en-US" altLang="zh-CN" b="0" dirty="0" err="1"/>
              <a:t>AppendToList</a:t>
            </a:r>
            <a:r>
              <a:rPr lang="en-US" altLang="zh-CN" b="0" dirty="0"/>
              <a:t>(LinkedList *</a:t>
            </a:r>
            <a:r>
              <a:rPr lang="en-US" altLang="zh-CN" b="0" dirty="0" err="1"/>
              <a:t>pList</a:t>
            </a:r>
            <a:r>
              <a:rPr lang="en-US" altLang="zh-CN" b="0" dirty="0"/>
              <a:t>, 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b="0" dirty="0"/>
              <a:t>                                             void* </a:t>
            </a:r>
            <a:r>
              <a:rPr lang="en-US" altLang="zh-CN" b="0" dirty="0" err="1"/>
              <a:t>pData</a:t>
            </a:r>
            <a:r>
              <a:rPr lang="en-US" altLang="zh-CN" b="0" dirty="0"/>
              <a:t>){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b="0" dirty="0"/>
              <a:t>    </a:t>
            </a:r>
            <a:r>
              <a:rPr lang="en-US" altLang="zh-CN" b="0" dirty="0" err="1"/>
              <a:t>ListNode</a:t>
            </a:r>
            <a:r>
              <a:rPr lang="en-US" altLang="zh-CN" b="0" dirty="0"/>
              <a:t>* </a:t>
            </a:r>
            <a:r>
              <a:rPr lang="en-US" altLang="zh-CN" b="0" dirty="0" err="1"/>
              <a:t>pTail</a:t>
            </a:r>
            <a:r>
              <a:rPr lang="en-US" altLang="zh-CN" b="0" dirty="0"/>
              <a:t>;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b="0" dirty="0"/>
              <a:t>    </a:t>
            </a:r>
            <a:r>
              <a:rPr lang="en-US" altLang="zh-CN" b="0" dirty="0" err="1"/>
              <a:t>ListNode</a:t>
            </a:r>
            <a:r>
              <a:rPr lang="en-US" altLang="zh-CN" b="0" dirty="0"/>
              <a:t>* </a:t>
            </a:r>
            <a:r>
              <a:rPr lang="en-US" altLang="zh-CN" b="0" dirty="0" err="1"/>
              <a:t>pNode</a:t>
            </a:r>
            <a:r>
              <a:rPr lang="en-US" altLang="zh-CN" b="0" dirty="0"/>
              <a:t>=</a:t>
            </a:r>
            <a:r>
              <a:rPr lang="en-US" altLang="zh-CN" b="0" dirty="0" err="1"/>
              <a:t>MallocNode</a:t>
            </a:r>
            <a:r>
              <a:rPr lang="en-US" altLang="zh-CN" b="0" dirty="0"/>
              <a:t>(</a:t>
            </a:r>
            <a:r>
              <a:rPr lang="en-US" altLang="zh-CN" b="0" dirty="0" err="1"/>
              <a:t>pData</a:t>
            </a:r>
            <a:r>
              <a:rPr lang="en-US" altLang="zh-CN" b="0" dirty="0"/>
              <a:t>);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b="0" dirty="0"/>
              <a:t>    if (</a:t>
            </a:r>
            <a:r>
              <a:rPr lang="en-US" altLang="zh-CN" b="0" dirty="0" err="1"/>
              <a:t>pNode</a:t>
            </a:r>
            <a:r>
              <a:rPr lang="en-US" altLang="zh-CN" b="0" dirty="0"/>
              <a:t>==</a:t>
            </a:r>
            <a:r>
              <a:rPr lang="en-US" altLang="zh-CN" b="0" dirty="0" err="1"/>
              <a:t>nullptr</a:t>
            </a:r>
            <a:r>
              <a:rPr lang="en-US" altLang="zh-CN" b="0" dirty="0"/>
              <a:t>){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b="0" dirty="0"/>
              <a:t>        return ERROR;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b="0" dirty="0"/>
              <a:t>    }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b="0" dirty="0"/>
              <a:t>    if (</a:t>
            </a:r>
            <a:r>
              <a:rPr lang="en-US" altLang="zh-CN" b="0" dirty="0" err="1"/>
              <a:t>IsListEmpty</a:t>
            </a:r>
            <a:r>
              <a:rPr lang="en-US" altLang="zh-CN" b="0" dirty="0"/>
              <a:t>(</a:t>
            </a:r>
            <a:r>
              <a:rPr lang="en-US" altLang="zh-CN" b="0" dirty="0" err="1"/>
              <a:t>pList</a:t>
            </a:r>
            <a:r>
              <a:rPr lang="en-US" altLang="zh-CN" b="0" dirty="0"/>
              <a:t>)==true) { /</a:t>
            </a:r>
            <a:r>
              <a:rPr lang="zh-CN" altLang="en-US" b="0" dirty="0"/>
              <a:t>*</a:t>
            </a:r>
            <a:r>
              <a:rPr lang="en-US" altLang="zh-CN" b="0" dirty="0"/>
              <a:t> </a:t>
            </a:r>
            <a:r>
              <a:rPr lang="zh-CN" altLang="en-US" b="0" dirty="0"/>
              <a:t>链表为空 *</a:t>
            </a:r>
            <a:r>
              <a:rPr lang="en-US" altLang="zh-CN" b="0" dirty="0"/>
              <a:t>/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zh-CN" altLang="en-US" b="0" dirty="0"/>
              <a:t>        </a:t>
            </a:r>
            <a:r>
              <a:rPr lang="en-US" altLang="zh-CN" b="0" dirty="0" err="1"/>
              <a:t>pList</a:t>
            </a:r>
            <a:r>
              <a:rPr lang="en-US" altLang="zh-CN" b="0" dirty="0"/>
              <a:t>-&gt;</a:t>
            </a:r>
            <a:r>
              <a:rPr lang="en-US" altLang="zh-CN" b="0" dirty="0" err="1"/>
              <a:t>pFirst</a:t>
            </a:r>
            <a:r>
              <a:rPr lang="en-US" altLang="zh-CN" b="0" dirty="0"/>
              <a:t>=</a:t>
            </a:r>
            <a:r>
              <a:rPr lang="en-US" altLang="zh-CN" b="0" dirty="0" err="1"/>
              <a:t>pNode</a:t>
            </a:r>
            <a:r>
              <a:rPr lang="en-US" altLang="zh-CN" b="0" dirty="0"/>
              <a:t>;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b="0" dirty="0"/>
              <a:t>    }</a:t>
            </a:r>
            <a:endParaRPr lang="zh-CN" altLang="en-US" b="0" dirty="0"/>
          </a:p>
        </p:txBody>
      </p:sp>
    </p:spTree>
    <p:extLst>
      <p:ext uri="{BB962C8B-B14F-4D97-AF65-F5344CB8AC3E}">
        <p14:creationId xmlns:p14="http://schemas.microsoft.com/office/powerpoint/2010/main" val="1895503496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D553DE0-8A6B-4729-B343-F6E24387B7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向链表追加数据</a:t>
            </a:r>
            <a:r>
              <a:rPr lang="en-US" altLang="zh-CN" dirty="0"/>
              <a:t>(</a:t>
            </a:r>
            <a:r>
              <a:rPr lang="zh-CN" altLang="en-US" dirty="0"/>
              <a:t>续</a:t>
            </a:r>
            <a:r>
              <a:rPr lang="en-US" altLang="zh-CN" dirty="0"/>
              <a:t>)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E346D31-D45D-4516-B608-17B7F38C5AC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4800" y="1219200"/>
            <a:ext cx="11582400" cy="5181600"/>
          </a:xfrm>
        </p:spPr>
        <p:txBody>
          <a:bodyPr/>
          <a:lstStyle/>
          <a:p>
            <a:pPr marL="0" indent="0">
              <a:lnSpc>
                <a:spcPct val="100000"/>
              </a:lnSpc>
              <a:buNone/>
            </a:pPr>
            <a:r>
              <a:rPr lang="en-US" altLang="zh-CN" b="0" dirty="0"/>
              <a:t>    else {  /* </a:t>
            </a:r>
            <a:r>
              <a:rPr lang="zh-CN" altLang="en-US" b="0" dirty="0"/>
              <a:t>链表非空</a:t>
            </a:r>
            <a:r>
              <a:rPr lang="en-US" altLang="zh-CN" b="0" dirty="0"/>
              <a:t> */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b="0" dirty="0"/>
              <a:t>        </a:t>
            </a:r>
            <a:r>
              <a:rPr lang="en-US" altLang="zh-CN" b="0" dirty="0" err="1"/>
              <a:t>pTail</a:t>
            </a:r>
            <a:r>
              <a:rPr lang="en-US" altLang="zh-CN" b="0" dirty="0"/>
              <a:t>=</a:t>
            </a:r>
            <a:r>
              <a:rPr lang="en-US" altLang="zh-CN" b="0" dirty="0" err="1"/>
              <a:t>pList</a:t>
            </a:r>
            <a:r>
              <a:rPr lang="en-US" altLang="zh-CN" b="0" dirty="0"/>
              <a:t>-&gt;</a:t>
            </a:r>
            <a:r>
              <a:rPr lang="en-US" altLang="zh-CN" b="0" dirty="0" err="1"/>
              <a:t>pFirst</a:t>
            </a:r>
            <a:r>
              <a:rPr lang="en-US" altLang="zh-CN" b="0" dirty="0"/>
              <a:t>;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b="0" dirty="0"/>
              <a:t>        while(</a:t>
            </a:r>
            <a:r>
              <a:rPr lang="en-US" altLang="zh-CN" b="0" dirty="0" err="1"/>
              <a:t>pTail</a:t>
            </a:r>
            <a:r>
              <a:rPr lang="en-US" altLang="zh-CN" b="0" dirty="0"/>
              <a:t>-&gt;</a:t>
            </a:r>
            <a:r>
              <a:rPr lang="en-US" altLang="zh-CN" b="0" dirty="0" err="1"/>
              <a:t>pNext</a:t>
            </a:r>
            <a:r>
              <a:rPr lang="en-US" altLang="zh-CN" b="0" dirty="0"/>
              <a:t> != </a:t>
            </a:r>
            <a:r>
              <a:rPr lang="en-US" altLang="zh-CN" b="0" dirty="0" err="1"/>
              <a:t>nullptr</a:t>
            </a:r>
            <a:r>
              <a:rPr lang="en-US" altLang="zh-CN" b="0" dirty="0"/>
              <a:t>) {    /</a:t>
            </a:r>
            <a:r>
              <a:rPr lang="zh-CN" altLang="en-US" b="0" dirty="0"/>
              <a:t>*</a:t>
            </a:r>
            <a:r>
              <a:rPr lang="en-US" altLang="zh-CN" b="0" dirty="0"/>
              <a:t> </a:t>
            </a:r>
            <a:r>
              <a:rPr lang="zh-CN" altLang="en-US" b="0" dirty="0"/>
              <a:t>找到尾节点 *</a:t>
            </a:r>
            <a:r>
              <a:rPr lang="en-US" altLang="zh-CN" b="0" dirty="0"/>
              <a:t>/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b="0" dirty="0"/>
              <a:t>            </a:t>
            </a:r>
            <a:r>
              <a:rPr lang="en-US" altLang="zh-CN" b="0" dirty="0" err="1"/>
              <a:t>pTail</a:t>
            </a:r>
            <a:r>
              <a:rPr lang="en-US" altLang="zh-CN" b="0" dirty="0"/>
              <a:t>=</a:t>
            </a:r>
            <a:r>
              <a:rPr lang="en-US" altLang="zh-CN" b="0" dirty="0" err="1"/>
              <a:t>pTail</a:t>
            </a:r>
            <a:r>
              <a:rPr lang="en-US" altLang="zh-CN" b="0" dirty="0"/>
              <a:t>-&gt;</a:t>
            </a:r>
            <a:r>
              <a:rPr lang="en-US" altLang="zh-CN" b="0" dirty="0" err="1"/>
              <a:t>pNext</a:t>
            </a:r>
            <a:r>
              <a:rPr lang="en-US" altLang="zh-CN" b="0" dirty="0"/>
              <a:t>;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b="0" dirty="0"/>
              <a:t>        }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b="0" dirty="0"/>
              <a:t>        </a:t>
            </a:r>
            <a:r>
              <a:rPr lang="en-US" altLang="zh-CN" b="0" dirty="0" err="1"/>
              <a:t>pTail</a:t>
            </a:r>
            <a:r>
              <a:rPr lang="en-US" altLang="zh-CN" b="0" dirty="0"/>
              <a:t>-&gt;</a:t>
            </a:r>
            <a:r>
              <a:rPr lang="en-US" altLang="zh-CN" b="0" dirty="0" err="1"/>
              <a:t>pNext</a:t>
            </a:r>
            <a:r>
              <a:rPr lang="en-US" altLang="zh-CN" b="0" dirty="0"/>
              <a:t>=</a:t>
            </a:r>
            <a:r>
              <a:rPr lang="en-US" altLang="zh-CN" b="0" dirty="0" err="1"/>
              <a:t>pNode</a:t>
            </a:r>
            <a:r>
              <a:rPr lang="en-US" altLang="zh-CN" b="0" dirty="0"/>
              <a:t>;  /</a:t>
            </a:r>
            <a:r>
              <a:rPr lang="zh-CN" altLang="en-US" b="0" dirty="0"/>
              <a:t>* 添加到尾部 *</a:t>
            </a:r>
            <a:r>
              <a:rPr lang="en-US" altLang="zh-CN" b="0" dirty="0"/>
              <a:t>/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b="0" dirty="0"/>
              <a:t>    }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b="0" dirty="0"/>
              <a:t>    </a:t>
            </a:r>
            <a:r>
              <a:rPr lang="en-US" altLang="zh-CN" b="0" dirty="0" err="1"/>
              <a:t>pList</a:t>
            </a:r>
            <a:r>
              <a:rPr lang="en-US" altLang="zh-CN" b="0" dirty="0"/>
              <a:t>-&gt;length++;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b="0" dirty="0"/>
              <a:t>    return OK;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b="0" dirty="0"/>
              <a:t>}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b="0" dirty="0"/>
              <a:t>        </a:t>
            </a:r>
            <a:endParaRPr lang="zh-CN" altLang="en-US" b="0" dirty="0"/>
          </a:p>
        </p:txBody>
      </p:sp>
    </p:spTree>
    <p:extLst>
      <p:ext uri="{BB962C8B-B14F-4D97-AF65-F5344CB8AC3E}">
        <p14:creationId xmlns:p14="http://schemas.microsoft.com/office/powerpoint/2010/main" val="555745957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D553DE0-8A6B-4729-B343-F6E24387B7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在指定位置插入数据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043FA813-1374-46A7-81C3-F51C20C94EA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在某节点的前面插入数据</a:t>
            </a:r>
            <a:r>
              <a:rPr lang="en-US" altLang="zh-CN" dirty="0"/>
              <a:t>(</a:t>
            </a:r>
            <a:r>
              <a:rPr lang="zh-CN" altLang="en-US" dirty="0"/>
              <a:t>略</a:t>
            </a:r>
            <a:r>
              <a:rPr lang="en-US" altLang="zh-CN" dirty="0"/>
              <a:t>)</a:t>
            </a:r>
          </a:p>
          <a:p>
            <a:pPr marL="457200" lvl="1" indent="0">
              <a:buNone/>
            </a:pPr>
            <a:r>
              <a:rPr lang="en-US" altLang="zh-CN" dirty="0"/>
              <a:t>Status </a:t>
            </a:r>
            <a:r>
              <a:rPr lang="en-US" altLang="zh-CN" dirty="0" err="1"/>
              <a:t>InsertBefore</a:t>
            </a:r>
            <a:r>
              <a:rPr lang="en-US" altLang="zh-CN" dirty="0"/>
              <a:t> (LinkedList* </a:t>
            </a:r>
            <a:r>
              <a:rPr lang="en-US" altLang="zh-CN" dirty="0" err="1"/>
              <a:t>pList</a:t>
            </a:r>
            <a:r>
              <a:rPr lang="en-US" altLang="zh-CN" dirty="0"/>
              <a:t>,</a:t>
            </a:r>
          </a:p>
          <a:p>
            <a:pPr marL="457200" lvl="1" indent="0">
              <a:buNone/>
            </a:pPr>
            <a:r>
              <a:rPr lang="en-US" altLang="zh-CN" dirty="0"/>
              <a:t>                       </a:t>
            </a:r>
            <a:r>
              <a:rPr lang="en-US" altLang="zh-CN" dirty="0" err="1"/>
              <a:t>ListNode</a:t>
            </a:r>
            <a:r>
              <a:rPr lang="en-US" altLang="zh-CN" dirty="0"/>
              <a:t>* </a:t>
            </a:r>
            <a:r>
              <a:rPr lang="en-US" altLang="zh-CN" dirty="0" err="1"/>
              <a:t>pNode</a:t>
            </a:r>
            <a:r>
              <a:rPr lang="en-US" altLang="zh-CN" dirty="0"/>
              <a:t>, void* </a:t>
            </a:r>
            <a:r>
              <a:rPr lang="en-US" altLang="zh-CN" dirty="0" err="1"/>
              <a:t>pData</a:t>
            </a:r>
            <a:r>
              <a:rPr lang="en-US" altLang="zh-CN" dirty="0"/>
              <a:t>);</a:t>
            </a:r>
          </a:p>
          <a:p>
            <a:r>
              <a:rPr lang="zh-CN" altLang="en-US" dirty="0"/>
              <a:t>在某节点的后面插入数据</a:t>
            </a:r>
            <a:r>
              <a:rPr lang="en-US" altLang="zh-CN" dirty="0"/>
              <a:t>(</a:t>
            </a:r>
            <a:r>
              <a:rPr lang="zh-CN" altLang="en-US" dirty="0"/>
              <a:t>略</a:t>
            </a:r>
            <a:r>
              <a:rPr lang="en-US" altLang="zh-CN" dirty="0"/>
              <a:t>)</a:t>
            </a:r>
          </a:p>
          <a:p>
            <a:pPr marL="457200" lvl="1" indent="0">
              <a:buNone/>
            </a:pPr>
            <a:r>
              <a:rPr lang="en-US" altLang="zh-CN" dirty="0"/>
              <a:t>Status </a:t>
            </a:r>
            <a:r>
              <a:rPr lang="en-US" altLang="zh-CN" dirty="0" err="1"/>
              <a:t>InsertAfter</a:t>
            </a:r>
            <a:r>
              <a:rPr lang="en-US" altLang="zh-CN" dirty="0"/>
              <a:t> (LinkedList* </a:t>
            </a:r>
            <a:r>
              <a:rPr lang="en-US" altLang="zh-CN" dirty="0" err="1"/>
              <a:t>pList</a:t>
            </a:r>
            <a:r>
              <a:rPr lang="en-US" altLang="zh-CN" dirty="0"/>
              <a:t>,</a:t>
            </a:r>
          </a:p>
          <a:p>
            <a:pPr marL="457200" lvl="1" indent="0">
              <a:buNone/>
            </a:pPr>
            <a:r>
              <a:rPr lang="en-US" altLang="zh-CN" dirty="0"/>
              <a:t>                       </a:t>
            </a:r>
            <a:r>
              <a:rPr lang="en-US" altLang="zh-CN" dirty="0" err="1"/>
              <a:t>ListNode</a:t>
            </a:r>
            <a:r>
              <a:rPr lang="en-US" altLang="zh-CN" dirty="0"/>
              <a:t>* </a:t>
            </a:r>
            <a:r>
              <a:rPr lang="en-US" altLang="zh-CN" dirty="0" err="1"/>
              <a:t>pNode</a:t>
            </a:r>
            <a:r>
              <a:rPr lang="en-US" altLang="zh-CN" dirty="0"/>
              <a:t>, void* </a:t>
            </a:r>
            <a:r>
              <a:rPr lang="en-US" altLang="zh-CN" dirty="0" err="1"/>
              <a:t>pData</a:t>
            </a:r>
            <a:r>
              <a:rPr lang="en-US" altLang="zh-CN" dirty="0"/>
              <a:t>);</a:t>
            </a: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693772456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D553DE0-8A6B-4729-B343-F6E24387B7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从链表删除节点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E346D31-D45D-4516-B608-17B7F38C5AC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4800" y="1219200"/>
            <a:ext cx="11582400" cy="5181600"/>
          </a:xfrm>
        </p:spPr>
        <p:txBody>
          <a:bodyPr/>
          <a:lstStyle/>
          <a:p>
            <a:pPr marL="0" indent="0">
              <a:lnSpc>
                <a:spcPct val="100000"/>
              </a:lnSpc>
              <a:buNone/>
            </a:pPr>
            <a:r>
              <a:rPr lang="en-US" altLang="zh-CN" b="0" dirty="0"/>
              <a:t>Status Delete (LinkedList* </a:t>
            </a:r>
            <a:r>
              <a:rPr lang="en-US" altLang="zh-CN" b="0" dirty="0" err="1"/>
              <a:t>pList</a:t>
            </a:r>
            <a:r>
              <a:rPr lang="en-US" altLang="zh-CN" b="0" dirty="0"/>
              <a:t>, 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b="0" dirty="0"/>
              <a:t>                                               </a:t>
            </a:r>
            <a:r>
              <a:rPr lang="en-US" altLang="zh-CN" b="0" dirty="0" err="1"/>
              <a:t>ListNode</a:t>
            </a:r>
            <a:r>
              <a:rPr lang="en-US" altLang="zh-CN" b="0" dirty="0"/>
              <a:t>*  </a:t>
            </a:r>
            <a:r>
              <a:rPr lang="en-US" altLang="zh-CN" b="0" dirty="0" err="1"/>
              <a:t>pNode</a:t>
            </a:r>
            <a:r>
              <a:rPr lang="en-US" altLang="zh-CN" b="0" dirty="0"/>
              <a:t>,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b="0" dirty="0"/>
              <a:t>                                               void (*</a:t>
            </a:r>
            <a:r>
              <a:rPr lang="en-US" altLang="zh-CN" b="0" dirty="0" err="1"/>
              <a:t>freeData</a:t>
            </a:r>
            <a:r>
              <a:rPr lang="en-US" altLang="zh-CN" b="0" dirty="0"/>
              <a:t>)() ){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b="0" dirty="0"/>
              <a:t>    if (</a:t>
            </a:r>
            <a:r>
              <a:rPr lang="en-US" altLang="zh-CN" b="0" dirty="0" err="1"/>
              <a:t>IsEmpty</a:t>
            </a:r>
            <a:r>
              <a:rPr lang="en-US" altLang="zh-CN" b="0" dirty="0"/>
              <a:t>(</a:t>
            </a:r>
            <a:r>
              <a:rPr lang="en-US" altLang="zh-CN" b="0" dirty="0" err="1"/>
              <a:t>pList</a:t>
            </a:r>
            <a:r>
              <a:rPr lang="en-US" altLang="zh-CN" b="0" dirty="0"/>
              <a:t>)==true){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b="0" dirty="0"/>
              <a:t>        return ERROR;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b="0" dirty="0"/>
              <a:t>    }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b="0" dirty="0"/>
              <a:t>    if (</a:t>
            </a:r>
            <a:r>
              <a:rPr lang="en-US" altLang="zh-CN" b="0" dirty="0" err="1"/>
              <a:t>pList</a:t>
            </a:r>
            <a:r>
              <a:rPr lang="en-US" altLang="zh-CN" b="0" dirty="0"/>
              <a:t>-&gt;</a:t>
            </a:r>
            <a:r>
              <a:rPr lang="en-US" altLang="zh-CN" b="0" dirty="0" err="1"/>
              <a:t>pFirst</a:t>
            </a:r>
            <a:r>
              <a:rPr lang="en-US" altLang="zh-CN" b="0" dirty="0"/>
              <a:t>==</a:t>
            </a:r>
            <a:r>
              <a:rPr lang="en-US" altLang="zh-CN" b="0" dirty="0" err="1"/>
              <a:t>pNode</a:t>
            </a:r>
            <a:r>
              <a:rPr lang="en-US" altLang="zh-CN" b="0" dirty="0"/>
              <a:t>){ /* </a:t>
            </a:r>
            <a:r>
              <a:rPr lang="zh-CN" altLang="en-US" b="0" dirty="0"/>
              <a:t>如果是第一个节点 *</a:t>
            </a:r>
            <a:r>
              <a:rPr lang="en-US" altLang="zh-CN" b="0" dirty="0"/>
              <a:t>/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b="0" dirty="0"/>
              <a:t>        </a:t>
            </a:r>
            <a:r>
              <a:rPr lang="en-US" altLang="zh-CN" b="0" dirty="0" err="1"/>
              <a:t>pList</a:t>
            </a:r>
            <a:r>
              <a:rPr lang="en-US" altLang="zh-CN" b="0" dirty="0"/>
              <a:t>-&gt;</a:t>
            </a:r>
            <a:r>
              <a:rPr lang="en-US" altLang="zh-CN" b="0" dirty="0" err="1"/>
              <a:t>pFirst</a:t>
            </a:r>
            <a:r>
              <a:rPr lang="en-US" altLang="zh-CN" b="0" dirty="0"/>
              <a:t>=</a:t>
            </a:r>
            <a:r>
              <a:rPr lang="en-US" altLang="zh-CN" b="0" dirty="0" err="1"/>
              <a:t>pNode</a:t>
            </a:r>
            <a:r>
              <a:rPr lang="en-US" altLang="zh-CN" b="0" dirty="0"/>
              <a:t>-&gt;</a:t>
            </a:r>
            <a:r>
              <a:rPr lang="en-US" altLang="zh-CN" b="0" dirty="0" err="1"/>
              <a:t>pNext</a:t>
            </a:r>
            <a:r>
              <a:rPr lang="en-US" altLang="zh-CN" b="0" dirty="0"/>
              <a:t>;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b="0" dirty="0"/>
              <a:t>    }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b="0" dirty="0"/>
              <a:t>    else {  /* </a:t>
            </a:r>
            <a:r>
              <a:rPr lang="zh-CN" altLang="en-US" b="0" dirty="0"/>
              <a:t>需要查找被删节点的前一个节点</a:t>
            </a:r>
            <a:r>
              <a:rPr lang="en-US" altLang="zh-CN" b="0" dirty="0"/>
              <a:t> */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b="0" dirty="0"/>
              <a:t>        </a:t>
            </a:r>
            <a:r>
              <a:rPr lang="en-US" altLang="zh-CN" b="0" dirty="0" err="1"/>
              <a:t>ListNode</a:t>
            </a:r>
            <a:r>
              <a:rPr lang="en-US" altLang="zh-CN" b="0" dirty="0"/>
              <a:t>* p=</a:t>
            </a:r>
            <a:r>
              <a:rPr lang="en-US" altLang="zh-CN" b="0" dirty="0" err="1"/>
              <a:t>pList</a:t>
            </a:r>
            <a:r>
              <a:rPr lang="en-US" altLang="zh-CN" b="0" dirty="0"/>
              <a:t>-&gt;</a:t>
            </a:r>
            <a:r>
              <a:rPr lang="en-US" altLang="zh-CN" b="0" dirty="0" err="1"/>
              <a:t>pFirst</a:t>
            </a:r>
            <a:r>
              <a:rPr lang="en-US" altLang="zh-CN" b="0" dirty="0"/>
              <a:t>;   </a:t>
            </a:r>
            <a:endParaRPr lang="zh-CN" altLang="en-US" b="0" dirty="0"/>
          </a:p>
        </p:txBody>
      </p:sp>
    </p:spTree>
    <p:extLst>
      <p:ext uri="{BB962C8B-B14F-4D97-AF65-F5344CB8AC3E}">
        <p14:creationId xmlns:p14="http://schemas.microsoft.com/office/powerpoint/2010/main" val="4220209340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D553DE0-8A6B-4729-B343-F6E24387B7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从链表删除节点</a:t>
            </a:r>
            <a:r>
              <a:rPr lang="en-US" altLang="zh-CN" dirty="0"/>
              <a:t>(</a:t>
            </a:r>
            <a:r>
              <a:rPr lang="zh-CN" altLang="en-US" dirty="0"/>
              <a:t>续</a:t>
            </a:r>
            <a:r>
              <a:rPr lang="en-US" altLang="zh-CN" dirty="0"/>
              <a:t>)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E346D31-D45D-4516-B608-17B7F38C5AC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4800" y="1219200"/>
            <a:ext cx="11582400" cy="5181600"/>
          </a:xfrm>
        </p:spPr>
        <p:txBody>
          <a:bodyPr/>
          <a:lstStyle/>
          <a:p>
            <a:pPr marL="0" indent="0">
              <a:lnSpc>
                <a:spcPct val="90000"/>
              </a:lnSpc>
              <a:buNone/>
            </a:pPr>
            <a:r>
              <a:rPr lang="en-US" altLang="zh-CN" b="0" dirty="0"/>
              <a:t>        while(p!=</a:t>
            </a:r>
            <a:r>
              <a:rPr lang="en-US" altLang="zh-CN" b="0" dirty="0" err="1"/>
              <a:t>nullptr</a:t>
            </a:r>
            <a:r>
              <a:rPr lang="en-US" altLang="zh-CN" b="0" dirty="0"/>
              <a:t> &amp;&amp; p-&gt;</a:t>
            </a:r>
            <a:r>
              <a:rPr lang="en-US" altLang="zh-CN" b="0" dirty="0" err="1"/>
              <a:t>pNext</a:t>
            </a:r>
            <a:r>
              <a:rPr lang="en-US" altLang="zh-CN" b="0" dirty="0"/>
              <a:t> != </a:t>
            </a:r>
            <a:r>
              <a:rPr lang="en-US" altLang="zh-CN" b="0" dirty="0" err="1"/>
              <a:t>pNode</a:t>
            </a:r>
            <a:r>
              <a:rPr lang="en-US" altLang="zh-CN" b="0" dirty="0"/>
              <a:t>){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US" altLang="zh-CN" b="0" dirty="0"/>
              <a:t>            p=p-&gt;</a:t>
            </a:r>
            <a:r>
              <a:rPr lang="en-US" altLang="zh-CN" b="0" dirty="0" err="1"/>
              <a:t>pNext</a:t>
            </a:r>
            <a:r>
              <a:rPr lang="en-US" altLang="zh-CN" b="0" dirty="0"/>
              <a:t>;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US" altLang="zh-CN" b="0" dirty="0"/>
              <a:t>        }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US" altLang="zh-CN" b="0" dirty="0"/>
              <a:t>        if(p==</a:t>
            </a:r>
            <a:r>
              <a:rPr lang="en-US" altLang="zh-CN" b="0" dirty="0" err="1"/>
              <a:t>nullptr</a:t>
            </a:r>
            <a:r>
              <a:rPr lang="en-US" altLang="zh-CN" b="0" dirty="0"/>
              <a:t>){  /* </a:t>
            </a:r>
            <a:r>
              <a:rPr lang="zh-CN" altLang="en-US" b="0" dirty="0"/>
              <a:t>如果没找到 *</a:t>
            </a:r>
            <a:r>
              <a:rPr lang="en-US" altLang="zh-CN" b="0" dirty="0"/>
              <a:t>/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US" altLang="zh-CN" b="0" dirty="0"/>
              <a:t>            return ERROR;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US" altLang="zh-CN" b="0" dirty="0"/>
              <a:t>        }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US" altLang="zh-CN" b="0" dirty="0"/>
              <a:t>        p-&gt;</a:t>
            </a:r>
            <a:r>
              <a:rPr lang="en-US" altLang="zh-CN" b="0" dirty="0" err="1"/>
              <a:t>pNext</a:t>
            </a:r>
            <a:r>
              <a:rPr lang="en-US" altLang="zh-CN" b="0" dirty="0"/>
              <a:t>=</a:t>
            </a:r>
            <a:r>
              <a:rPr lang="en-US" altLang="zh-CN" b="0" dirty="0" err="1"/>
              <a:t>pNode</a:t>
            </a:r>
            <a:r>
              <a:rPr lang="en-US" altLang="zh-CN" b="0" dirty="0"/>
              <a:t>-&gt;</a:t>
            </a:r>
            <a:r>
              <a:rPr lang="en-US" altLang="zh-CN" b="0" dirty="0" err="1"/>
              <a:t>pNext</a:t>
            </a:r>
            <a:r>
              <a:rPr lang="en-US" altLang="zh-CN" b="0" dirty="0"/>
              <a:t>;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US" altLang="zh-CN" b="0" dirty="0"/>
              <a:t>    }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US" altLang="zh-CN" b="0" dirty="0"/>
              <a:t>    </a:t>
            </a:r>
            <a:r>
              <a:rPr lang="en-US" altLang="zh-CN" b="0" dirty="0" err="1"/>
              <a:t>FreeNode</a:t>
            </a:r>
            <a:r>
              <a:rPr lang="en-US" altLang="zh-CN" b="0" dirty="0"/>
              <a:t>(</a:t>
            </a:r>
            <a:r>
              <a:rPr lang="en-US" altLang="zh-CN" b="0" dirty="0" err="1"/>
              <a:t>pNode</a:t>
            </a:r>
            <a:r>
              <a:rPr lang="en-US" altLang="zh-CN" b="0" dirty="0"/>
              <a:t>, </a:t>
            </a:r>
            <a:r>
              <a:rPr lang="en-US" altLang="zh-CN" b="0" dirty="0" err="1"/>
              <a:t>freeData</a:t>
            </a:r>
            <a:r>
              <a:rPr lang="en-US" altLang="zh-CN" b="0" dirty="0"/>
              <a:t>);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US" altLang="zh-CN" b="0" dirty="0"/>
              <a:t>    </a:t>
            </a:r>
            <a:r>
              <a:rPr lang="en-US" altLang="zh-CN" b="0" dirty="0" err="1"/>
              <a:t>pList</a:t>
            </a:r>
            <a:r>
              <a:rPr lang="en-US" altLang="zh-CN" b="0" dirty="0"/>
              <a:t>-&gt;length--;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US" altLang="zh-CN" b="0" dirty="0"/>
              <a:t>    return OK;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US" altLang="zh-CN" b="0" dirty="0"/>
              <a:t>}</a:t>
            </a:r>
            <a:endParaRPr lang="zh-CN" altLang="en-US" b="0" dirty="0"/>
          </a:p>
        </p:txBody>
      </p:sp>
    </p:spTree>
    <p:extLst>
      <p:ext uri="{BB962C8B-B14F-4D97-AF65-F5344CB8AC3E}">
        <p14:creationId xmlns:p14="http://schemas.microsoft.com/office/powerpoint/2010/main" val="1140834586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D553DE0-8A6B-4729-B343-F6E24387B7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遍历链表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E346D31-D45D-4516-B608-17B7F38C5AC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4800" y="1219200"/>
            <a:ext cx="11582400" cy="5181600"/>
          </a:xfrm>
        </p:spPr>
        <p:txBody>
          <a:bodyPr/>
          <a:lstStyle/>
          <a:p>
            <a:pPr marL="0" indent="0">
              <a:lnSpc>
                <a:spcPct val="100000"/>
              </a:lnSpc>
              <a:buNone/>
            </a:pPr>
            <a:r>
              <a:rPr lang="en-US" altLang="zh-CN" b="0" dirty="0"/>
              <a:t>Status Traverse (LinkedList* </a:t>
            </a:r>
            <a:r>
              <a:rPr lang="en-US" altLang="zh-CN" b="0" dirty="0" err="1"/>
              <a:t>pList</a:t>
            </a:r>
            <a:r>
              <a:rPr lang="en-US" altLang="zh-CN" b="0" dirty="0"/>
              <a:t>, 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b="0" dirty="0"/>
              <a:t>                                          Status (*visit)() ){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b="0" dirty="0"/>
              <a:t>    </a:t>
            </a:r>
            <a:r>
              <a:rPr lang="en-US" altLang="zh-CN" b="0" dirty="0" err="1"/>
              <a:t>ListNode</a:t>
            </a:r>
            <a:r>
              <a:rPr lang="en-US" altLang="zh-CN" b="0" dirty="0"/>
              <a:t>* p=</a:t>
            </a:r>
            <a:r>
              <a:rPr lang="en-US" altLang="zh-CN" b="0" dirty="0" err="1"/>
              <a:t>pList</a:t>
            </a:r>
            <a:r>
              <a:rPr lang="en-US" altLang="zh-CN" b="0" dirty="0"/>
              <a:t>-&gt;</a:t>
            </a:r>
            <a:r>
              <a:rPr lang="en-US" altLang="zh-CN" b="0" dirty="0" err="1"/>
              <a:t>pFirst</a:t>
            </a:r>
            <a:r>
              <a:rPr lang="en-US" altLang="zh-CN" b="0" dirty="0"/>
              <a:t>;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b="0" dirty="0"/>
              <a:t>    while (p!=</a:t>
            </a:r>
            <a:r>
              <a:rPr lang="en-US" altLang="zh-CN" b="0" dirty="0" err="1"/>
              <a:t>nullptr</a:t>
            </a:r>
            <a:r>
              <a:rPr lang="en-US" altLang="zh-CN" b="0" dirty="0"/>
              <a:t>) {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b="0" dirty="0"/>
              <a:t>        if (visit(p-&gt;</a:t>
            </a:r>
            <a:r>
              <a:rPr lang="en-US" altLang="zh-CN" b="0" dirty="0" err="1"/>
              <a:t>pData</a:t>
            </a:r>
            <a:r>
              <a:rPr lang="en-US" altLang="zh-CN" b="0" dirty="0"/>
              <a:t>)==ERROR){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b="0" dirty="0"/>
              <a:t>            return ERROR;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b="0" dirty="0"/>
              <a:t>        }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b="0" dirty="0"/>
              <a:t>        p=p-&gt;</a:t>
            </a:r>
            <a:r>
              <a:rPr lang="en-US" altLang="zh-CN" b="0" dirty="0" err="1"/>
              <a:t>pNext</a:t>
            </a:r>
            <a:r>
              <a:rPr lang="en-US" altLang="zh-CN" b="0" dirty="0"/>
              <a:t>;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b="0" dirty="0"/>
              <a:t>    }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b="0" dirty="0"/>
              <a:t>    return OK;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b="0" dirty="0"/>
              <a:t>}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b="0" dirty="0"/>
              <a:t>      </a:t>
            </a:r>
            <a:endParaRPr lang="zh-CN" altLang="en-US" b="0" dirty="0"/>
          </a:p>
        </p:txBody>
      </p:sp>
    </p:spTree>
    <p:extLst>
      <p:ext uri="{BB962C8B-B14F-4D97-AF65-F5344CB8AC3E}">
        <p14:creationId xmlns:p14="http://schemas.microsoft.com/office/powerpoint/2010/main" val="183669452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D553DE0-8A6B-4729-B343-F6E24387B7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查找链表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E346D31-D45D-4516-B608-17B7F38C5AC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4800" y="1219200"/>
            <a:ext cx="11582400" cy="5181600"/>
          </a:xfrm>
        </p:spPr>
        <p:txBody>
          <a:bodyPr/>
          <a:lstStyle/>
          <a:p>
            <a:pPr marL="0" indent="0">
              <a:lnSpc>
                <a:spcPct val="90000"/>
              </a:lnSpc>
              <a:buNone/>
            </a:pPr>
            <a:r>
              <a:rPr lang="en-US" altLang="zh-CN" b="0" dirty="0" err="1"/>
              <a:t>ListNode</a:t>
            </a:r>
            <a:r>
              <a:rPr lang="en-US" altLang="zh-CN" b="0" dirty="0"/>
              <a:t>* Search (LinkedList* </a:t>
            </a:r>
            <a:r>
              <a:rPr lang="en-US" altLang="zh-CN" b="0" dirty="0" err="1"/>
              <a:t>pList</a:t>
            </a:r>
            <a:r>
              <a:rPr lang="en-US" altLang="zh-CN" b="0" dirty="0"/>
              <a:t>, 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US" altLang="zh-CN" b="0" dirty="0"/>
              <a:t>                                             void* </a:t>
            </a:r>
            <a:r>
              <a:rPr lang="en-US" altLang="zh-CN" b="0" dirty="0" err="1"/>
              <a:t>pKey</a:t>
            </a:r>
            <a:r>
              <a:rPr lang="en-US" altLang="zh-CN" b="0" dirty="0"/>
              <a:t>,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US" altLang="zh-CN" b="0" dirty="0"/>
              <a:t>                                             int (*compare)() ){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US" altLang="zh-CN" b="0" dirty="0"/>
              <a:t>    </a:t>
            </a:r>
            <a:r>
              <a:rPr lang="en-US" altLang="zh-CN" b="0" dirty="0" err="1"/>
              <a:t>ListNode</a:t>
            </a:r>
            <a:r>
              <a:rPr lang="en-US" altLang="zh-CN" b="0" dirty="0"/>
              <a:t>* p=</a:t>
            </a:r>
            <a:r>
              <a:rPr lang="en-US" altLang="zh-CN" b="0" dirty="0" err="1"/>
              <a:t>pList</a:t>
            </a:r>
            <a:r>
              <a:rPr lang="en-US" altLang="zh-CN" b="0" dirty="0"/>
              <a:t>-&gt;</a:t>
            </a:r>
            <a:r>
              <a:rPr lang="en-US" altLang="zh-CN" b="0" dirty="0" err="1"/>
              <a:t>pFirst</a:t>
            </a:r>
            <a:r>
              <a:rPr lang="en-US" altLang="zh-CN" b="0" dirty="0"/>
              <a:t>;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US" altLang="zh-CN" b="0" dirty="0"/>
              <a:t>    while (p!=</a:t>
            </a:r>
            <a:r>
              <a:rPr lang="en-US" altLang="zh-CN" b="0" dirty="0" err="1"/>
              <a:t>nullptr</a:t>
            </a:r>
            <a:r>
              <a:rPr lang="en-US" altLang="zh-CN" b="0" dirty="0"/>
              <a:t>) {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US" altLang="zh-CN" b="0" dirty="0"/>
              <a:t>        if (compare(</a:t>
            </a:r>
            <a:r>
              <a:rPr lang="en-US" altLang="zh-CN" b="0" dirty="0" err="1"/>
              <a:t>pKey</a:t>
            </a:r>
            <a:r>
              <a:rPr lang="en-US" altLang="zh-CN" b="0" dirty="0"/>
              <a:t>, p-&gt;</a:t>
            </a:r>
            <a:r>
              <a:rPr lang="en-US" altLang="zh-CN" b="0" dirty="0" err="1"/>
              <a:t>pData</a:t>
            </a:r>
            <a:r>
              <a:rPr lang="en-US" altLang="zh-CN" b="0" dirty="0"/>
              <a:t>)==0){  // </a:t>
            </a:r>
            <a:r>
              <a:rPr lang="zh-CN" altLang="en-US" b="0" dirty="0"/>
              <a:t>如果找到了</a:t>
            </a:r>
            <a:endParaRPr lang="en-US" altLang="zh-CN" b="0" dirty="0"/>
          </a:p>
          <a:p>
            <a:pPr marL="0" indent="0">
              <a:lnSpc>
                <a:spcPct val="90000"/>
              </a:lnSpc>
              <a:buNone/>
            </a:pPr>
            <a:r>
              <a:rPr lang="en-US" altLang="zh-CN" b="0" dirty="0"/>
              <a:t>            return p;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US" altLang="zh-CN" b="0" dirty="0"/>
              <a:t>        }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US" altLang="zh-CN" b="0" dirty="0"/>
              <a:t>        p=p-&gt;</a:t>
            </a:r>
            <a:r>
              <a:rPr lang="en-US" altLang="zh-CN" b="0" dirty="0" err="1"/>
              <a:t>pNext</a:t>
            </a:r>
            <a:r>
              <a:rPr lang="en-US" altLang="zh-CN" b="0" dirty="0"/>
              <a:t>;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US" altLang="zh-CN" b="0" dirty="0"/>
              <a:t>    }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US" altLang="zh-CN" b="0" dirty="0"/>
              <a:t>    return </a:t>
            </a:r>
            <a:r>
              <a:rPr lang="en-US" altLang="zh-CN" b="0" dirty="0" err="1"/>
              <a:t>nullptr</a:t>
            </a:r>
            <a:r>
              <a:rPr lang="en-US" altLang="zh-CN" b="0" dirty="0"/>
              <a:t>;  // </a:t>
            </a:r>
            <a:r>
              <a:rPr lang="zh-CN" altLang="en-US" b="0" dirty="0"/>
              <a:t>没找到</a:t>
            </a:r>
            <a:endParaRPr lang="en-US" altLang="zh-CN" b="0" dirty="0"/>
          </a:p>
          <a:p>
            <a:pPr marL="0" indent="0">
              <a:lnSpc>
                <a:spcPct val="90000"/>
              </a:lnSpc>
              <a:buNone/>
            </a:pPr>
            <a:r>
              <a:rPr lang="en-US" altLang="zh-CN" b="0" dirty="0"/>
              <a:t>}     </a:t>
            </a:r>
            <a:endParaRPr lang="zh-CN" altLang="en-US" b="0" dirty="0"/>
          </a:p>
        </p:txBody>
      </p:sp>
    </p:spTree>
    <p:extLst>
      <p:ext uri="{BB962C8B-B14F-4D97-AF65-F5344CB8AC3E}">
        <p14:creationId xmlns:p14="http://schemas.microsoft.com/office/powerpoint/2010/main" val="2876245618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D553DE0-8A6B-4729-B343-F6E24387B7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释放链表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E346D31-D45D-4516-B608-17B7F38C5AC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4800" y="1219200"/>
            <a:ext cx="11582400" cy="5181600"/>
          </a:xfrm>
        </p:spPr>
        <p:txBody>
          <a:bodyPr/>
          <a:lstStyle/>
          <a:p>
            <a:pPr marL="0" indent="0">
              <a:lnSpc>
                <a:spcPct val="90000"/>
              </a:lnSpc>
              <a:buNone/>
            </a:pPr>
            <a:r>
              <a:rPr lang="en-US" altLang="zh-CN" b="0" dirty="0"/>
              <a:t>void </a:t>
            </a:r>
            <a:r>
              <a:rPr lang="en-US" altLang="zh-CN" b="0" dirty="0" err="1"/>
              <a:t>FreeList</a:t>
            </a:r>
            <a:r>
              <a:rPr lang="en-US" altLang="zh-CN" b="0" dirty="0"/>
              <a:t>(LinkedList* </a:t>
            </a:r>
            <a:r>
              <a:rPr lang="en-US" altLang="zh-CN" b="0" dirty="0" err="1"/>
              <a:t>pList</a:t>
            </a:r>
            <a:r>
              <a:rPr lang="en-US" altLang="zh-CN" b="0" dirty="0"/>
              <a:t>, void (*</a:t>
            </a:r>
            <a:r>
              <a:rPr lang="en-US" altLang="zh-CN" b="0" dirty="0" err="1"/>
              <a:t>freeData</a:t>
            </a:r>
            <a:r>
              <a:rPr lang="en-US" altLang="zh-CN" b="0" dirty="0"/>
              <a:t>)() ){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US" altLang="zh-CN" b="0" dirty="0"/>
              <a:t>    </a:t>
            </a:r>
            <a:r>
              <a:rPr lang="en-US" altLang="zh-CN" b="0" dirty="0" err="1"/>
              <a:t>ListNode</a:t>
            </a:r>
            <a:r>
              <a:rPr lang="en-US" altLang="zh-CN" b="0" dirty="0"/>
              <a:t>* p=</a:t>
            </a:r>
            <a:r>
              <a:rPr lang="en-US" altLang="zh-CN" b="0" dirty="0" err="1"/>
              <a:t>pList</a:t>
            </a:r>
            <a:r>
              <a:rPr lang="en-US" altLang="zh-CN" b="0" dirty="0"/>
              <a:t>-&gt;</a:t>
            </a:r>
            <a:r>
              <a:rPr lang="en-US" altLang="zh-CN" b="0" dirty="0" err="1"/>
              <a:t>pFirst</a:t>
            </a:r>
            <a:r>
              <a:rPr lang="en-US" altLang="zh-CN" b="0" dirty="0"/>
              <a:t>;  /* </a:t>
            </a:r>
            <a:r>
              <a:rPr lang="zh-CN" altLang="en-US" b="0" dirty="0"/>
              <a:t>让</a:t>
            </a:r>
            <a:r>
              <a:rPr lang="en-US" altLang="zh-CN" b="0" dirty="0"/>
              <a:t>p</a:t>
            </a:r>
            <a:r>
              <a:rPr lang="zh-CN" altLang="en-US" b="0" dirty="0"/>
              <a:t>指向第一个节点 *</a:t>
            </a:r>
            <a:r>
              <a:rPr lang="en-US" altLang="zh-CN" b="0" dirty="0"/>
              <a:t>/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US" altLang="zh-CN" b="0" dirty="0"/>
              <a:t>    if (p == </a:t>
            </a:r>
            <a:r>
              <a:rPr lang="en-US" altLang="zh-CN" b="0" dirty="0" err="1"/>
              <a:t>nullptr</a:t>
            </a:r>
            <a:r>
              <a:rPr lang="en-US" altLang="zh-CN" b="0" dirty="0"/>
              <a:t>) {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US" altLang="zh-CN" b="0" dirty="0"/>
              <a:t>        return;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US" altLang="zh-CN" b="0" dirty="0"/>
              <a:t>    }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US" altLang="zh-CN" b="0" dirty="0"/>
              <a:t>    else {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US" altLang="zh-CN" b="0" dirty="0"/>
              <a:t>        </a:t>
            </a:r>
            <a:r>
              <a:rPr lang="en-US" altLang="zh-CN" b="0" dirty="0" err="1"/>
              <a:t>pList</a:t>
            </a:r>
            <a:r>
              <a:rPr lang="en-US" altLang="zh-CN" b="0" dirty="0"/>
              <a:t>-&gt;</a:t>
            </a:r>
            <a:r>
              <a:rPr lang="en-US" altLang="zh-CN" b="0" dirty="0" err="1"/>
              <a:t>pFirst</a:t>
            </a:r>
            <a:r>
              <a:rPr lang="en-US" altLang="zh-CN" b="0" dirty="0"/>
              <a:t>=p-&gt;</a:t>
            </a:r>
            <a:r>
              <a:rPr lang="en-US" altLang="zh-CN" b="0" dirty="0" err="1"/>
              <a:t>pNext</a:t>
            </a:r>
            <a:r>
              <a:rPr lang="en-US" altLang="zh-CN" b="0" dirty="0"/>
              <a:t>;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US" altLang="zh-CN" b="0" dirty="0"/>
              <a:t>        </a:t>
            </a:r>
            <a:r>
              <a:rPr lang="en-US" altLang="zh-CN" b="0" dirty="0" err="1"/>
              <a:t>freeNode</a:t>
            </a:r>
            <a:r>
              <a:rPr lang="en-US" altLang="zh-CN" b="0" dirty="0"/>
              <a:t>(p, </a:t>
            </a:r>
            <a:r>
              <a:rPr lang="en-US" altLang="zh-CN" b="0" dirty="0" err="1"/>
              <a:t>freeData</a:t>
            </a:r>
            <a:r>
              <a:rPr lang="en-US" altLang="zh-CN" b="0" dirty="0"/>
              <a:t>);  /* </a:t>
            </a:r>
            <a:r>
              <a:rPr lang="zh-CN" altLang="en-US" b="0" dirty="0"/>
              <a:t>释放第一个节点 *</a:t>
            </a:r>
            <a:r>
              <a:rPr lang="en-US" altLang="zh-CN" b="0" dirty="0"/>
              <a:t>/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US" altLang="zh-CN" b="0" dirty="0"/>
              <a:t>        </a:t>
            </a:r>
            <a:r>
              <a:rPr lang="en-US" altLang="zh-CN" b="0" dirty="0" err="1"/>
              <a:t>pList</a:t>
            </a:r>
            <a:r>
              <a:rPr lang="en-US" altLang="zh-CN" b="0" dirty="0"/>
              <a:t>-&gt;length--;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US" altLang="zh-CN" b="0" dirty="0"/>
              <a:t>        </a:t>
            </a:r>
            <a:r>
              <a:rPr lang="en-US" altLang="zh-CN" b="0" dirty="0" err="1"/>
              <a:t>FreeList</a:t>
            </a:r>
            <a:r>
              <a:rPr lang="en-US" altLang="zh-CN" b="0" dirty="0"/>
              <a:t>(</a:t>
            </a:r>
            <a:r>
              <a:rPr lang="en-US" altLang="zh-CN" b="0" dirty="0" err="1"/>
              <a:t>pList</a:t>
            </a:r>
            <a:r>
              <a:rPr lang="en-US" altLang="zh-CN" b="0" dirty="0"/>
              <a:t>, </a:t>
            </a:r>
            <a:r>
              <a:rPr lang="en-US" altLang="zh-CN" b="0" dirty="0" err="1"/>
              <a:t>freeData</a:t>
            </a:r>
            <a:r>
              <a:rPr lang="en-US" altLang="zh-CN" b="0" dirty="0"/>
              <a:t>);  /</a:t>
            </a:r>
            <a:r>
              <a:rPr lang="zh-CN" altLang="en-US" b="0" dirty="0"/>
              <a:t>* 递归 *</a:t>
            </a:r>
            <a:r>
              <a:rPr lang="en-US" altLang="zh-CN" b="0" dirty="0"/>
              <a:t>/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US" altLang="zh-CN" b="0" dirty="0"/>
              <a:t>    }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US" altLang="zh-CN" b="0" dirty="0"/>
              <a:t>}    </a:t>
            </a:r>
            <a:endParaRPr lang="zh-CN" altLang="en-US" b="0" dirty="0"/>
          </a:p>
        </p:txBody>
      </p:sp>
    </p:spTree>
    <p:extLst>
      <p:ext uri="{BB962C8B-B14F-4D97-AF65-F5344CB8AC3E}">
        <p14:creationId xmlns:p14="http://schemas.microsoft.com/office/powerpoint/2010/main" val="2372788479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11BBA7BA-6037-E08A-F725-C887A6ABE11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14169"/>
          <a:stretch/>
        </p:blipFill>
        <p:spPr>
          <a:xfrm>
            <a:off x="1" y="457200"/>
            <a:ext cx="13002768" cy="6172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4884880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B08E159-2659-BDCA-B7B2-2C6E2B9A62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5" name="内容占位符 4">
            <a:extLst>
              <a:ext uri="{FF2B5EF4-FFF2-40B4-BE49-F238E27FC236}">
                <a16:creationId xmlns:a16="http://schemas.microsoft.com/office/drawing/2014/main" id="{99C498B8-36DD-728A-169F-B7D44E3FD04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r="12857"/>
          <a:stretch/>
        </p:blipFill>
        <p:spPr>
          <a:xfrm>
            <a:off x="-1" y="521854"/>
            <a:ext cx="12725401" cy="6031345"/>
          </a:xfrm>
        </p:spPr>
      </p:pic>
    </p:spTree>
    <p:extLst>
      <p:ext uri="{BB962C8B-B14F-4D97-AF65-F5344CB8AC3E}">
        <p14:creationId xmlns:p14="http://schemas.microsoft.com/office/powerpoint/2010/main" val="2001351175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3B5FC8-3E2D-950E-8E0D-A47C35A67F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5" name="内容占位符 4">
            <a:extLst>
              <a:ext uri="{FF2B5EF4-FFF2-40B4-BE49-F238E27FC236}">
                <a16:creationId xmlns:a16="http://schemas.microsoft.com/office/drawing/2014/main" id="{9904125C-12F2-77EF-A29C-02464D76865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8472" y="457200"/>
            <a:ext cx="14796119" cy="6096000"/>
          </a:xfrm>
        </p:spPr>
      </p:pic>
    </p:spTree>
    <p:extLst>
      <p:ext uri="{BB962C8B-B14F-4D97-AF65-F5344CB8AC3E}">
        <p14:creationId xmlns:p14="http://schemas.microsoft.com/office/powerpoint/2010/main" val="949605324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094FC66-62C4-AD09-5692-391799AFDE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5" name="内容占位符 4">
            <a:extLst>
              <a:ext uri="{FF2B5EF4-FFF2-40B4-BE49-F238E27FC236}">
                <a16:creationId xmlns:a16="http://schemas.microsoft.com/office/drawing/2014/main" id="{219B2DA4-3D6B-F10E-5641-14F115CE498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r="23757"/>
          <a:stretch/>
        </p:blipFill>
        <p:spPr>
          <a:xfrm>
            <a:off x="0" y="457200"/>
            <a:ext cx="12192000" cy="6324600"/>
          </a:xfrm>
        </p:spPr>
      </p:pic>
    </p:spTree>
    <p:extLst>
      <p:ext uri="{BB962C8B-B14F-4D97-AF65-F5344CB8AC3E}">
        <p14:creationId xmlns:p14="http://schemas.microsoft.com/office/powerpoint/2010/main" val="2257598479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33837E0-4D7B-81D1-A154-9790EE1FD7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5" name="内容占位符 4">
            <a:extLst>
              <a:ext uri="{FF2B5EF4-FFF2-40B4-BE49-F238E27FC236}">
                <a16:creationId xmlns:a16="http://schemas.microsoft.com/office/drawing/2014/main" id="{823269C2-E526-3D80-81F2-F0B693D28F9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r="18564"/>
          <a:stretch/>
        </p:blipFill>
        <p:spPr>
          <a:xfrm>
            <a:off x="-1" y="381000"/>
            <a:ext cx="12039601" cy="6248400"/>
          </a:xfrm>
        </p:spPr>
      </p:pic>
    </p:spTree>
    <p:extLst>
      <p:ext uri="{BB962C8B-B14F-4D97-AF65-F5344CB8AC3E}">
        <p14:creationId xmlns:p14="http://schemas.microsoft.com/office/powerpoint/2010/main" val="2573175977"/>
      </p:ext>
    </p:ext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0A8CAA8-C3AC-85DB-6989-9D5E21BB4D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5" name="内容占位符 4">
            <a:extLst>
              <a:ext uri="{FF2B5EF4-FFF2-40B4-BE49-F238E27FC236}">
                <a16:creationId xmlns:a16="http://schemas.microsoft.com/office/drawing/2014/main" id="{C59714C8-B8BA-503D-4217-9718B30674D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r="10349"/>
          <a:stretch/>
        </p:blipFill>
        <p:spPr>
          <a:xfrm>
            <a:off x="1" y="381000"/>
            <a:ext cx="12192000" cy="6248400"/>
          </a:xfrm>
        </p:spPr>
      </p:pic>
    </p:spTree>
    <p:extLst>
      <p:ext uri="{BB962C8B-B14F-4D97-AF65-F5344CB8AC3E}">
        <p14:creationId xmlns:p14="http://schemas.microsoft.com/office/powerpoint/2010/main" val="2870057844"/>
      </p:ext>
    </p:extLst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27953C6-7C61-475B-C543-9AF7024739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5" name="内容占位符 4">
            <a:extLst>
              <a:ext uri="{FF2B5EF4-FFF2-40B4-BE49-F238E27FC236}">
                <a16:creationId xmlns:a16="http://schemas.microsoft.com/office/drawing/2014/main" id="{E1C80F0B-F8EB-ACF5-6D87-846EC9CBCE8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r="8189"/>
          <a:stretch/>
        </p:blipFill>
        <p:spPr>
          <a:xfrm>
            <a:off x="0" y="489526"/>
            <a:ext cx="12115800" cy="5377873"/>
          </a:xfrm>
        </p:spPr>
      </p:pic>
    </p:spTree>
    <p:extLst>
      <p:ext uri="{BB962C8B-B14F-4D97-AF65-F5344CB8AC3E}">
        <p14:creationId xmlns:p14="http://schemas.microsoft.com/office/powerpoint/2010/main" val="865032517"/>
      </p:ext>
    </p:extLst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BC39D75-C002-A7E9-9F18-AFB54D0C1E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5" name="内容占位符 4">
            <a:extLst>
              <a:ext uri="{FF2B5EF4-FFF2-40B4-BE49-F238E27FC236}">
                <a16:creationId xmlns:a16="http://schemas.microsoft.com/office/drawing/2014/main" id="{8902E11C-E9C9-7AB8-D164-AD1794A22AD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-36946" y="381000"/>
            <a:ext cx="15120641" cy="6248400"/>
          </a:xfrm>
        </p:spPr>
      </p:pic>
    </p:spTree>
    <p:extLst>
      <p:ext uri="{BB962C8B-B14F-4D97-AF65-F5344CB8AC3E}">
        <p14:creationId xmlns:p14="http://schemas.microsoft.com/office/powerpoint/2010/main" val="3773095040"/>
      </p:ext>
    </p:extLst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F7285ED-E2B4-96FD-CACC-2AF245C796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5" name="内容占位符 4">
            <a:extLst>
              <a:ext uri="{FF2B5EF4-FFF2-40B4-BE49-F238E27FC236}">
                <a16:creationId xmlns:a16="http://schemas.microsoft.com/office/drawing/2014/main" id="{B61BC067-4676-2F85-6355-0A27E12D0B1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7929" y="457200"/>
            <a:ext cx="13279246" cy="6248400"/>
          </a:xfrm>
        </p:spPr>
      </p:pic>
    </p:spTree>
    <p:extLst>
      <p:ext uri="{BB962C8B-B14F-4D97-AF65-F5344CB8AC3E}">
        <p14:creationId xmlns:p14="http://schemas.microsoft.com/office/powerpoint/2010/main" val="1806333211"/>
      </p:ext>
    </p:extLst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F7F4D92-11AA-D26B-CE49-D50736AFD3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5" name="内容占位符 4">
            <a:extLst>
              <a:ext uri="{FF2B5EF4-FFF2-40B4-BE49-F238E27FC236}">
                <a16:creationId xmlns:a16="http://schemas.microsoft.com/office/drawing/2014/main" id="{4DC135A8-B74E-29FD-1D34-07B6DF93F5C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457200"/>
            <a:ext cx="15228212" cy="6248400"/>
          </a:xfrm>
        </p:spPr>
      </p:pic>
    </p:spTree>
    <p:extLst>
      <p:ext uri="{BB962C8B-B14F-4D97-AF65-F5344CB8AC3E}">
        <p14:creationId xmlns:p14="http://schemas.microsoft.com/office/powerpoint/2010/main" val="2892805655"/>
      </p:ext>
    </p:extLst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5604E18-032A-CCAA-F528-A9C434B071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5" name="内容占位符 4">
            <a:extLst>
              <a:ext uri="{FF2B5EF4-FFF2-40B4-BE49-F238E27FC236}">
                <a16:creationId xmlns:a16="http://schemas.microsoft.com/office/drawing/2014/main" id="{CDAEF292-C8D8-7D1D-2FCA-3D96206960A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482" y="457200"/>
            <a:ext cx="14911176" cy="6172200"/>
          </a:xfrm>
        </p:spPr>
      </p:pic>
    </p:spTree>
    <p:extLst>
      <p:ext uri="{BB962C8B-B14F-4D97-AF65-F5344CB8AC3E}">
        <p14:creationId xmlns:p14="http://schemas.microsoft.com/office/powerpoint/2010/main" val="3309831440"/>
      </p:ext>
    </p:extLst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19EC55B-77CB-CEC3-713B-35BB666A8E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5" name="内容占位符 4">
            <a:extLst>
              <a:ext uri="{FF2B5EF4-FFF2-40B4-BE49-F238E27FC236}">
                <a16:creationId xmlns:a16="http://schemas.microsoft.com/office/drawing/2014/main" id="{4224D7F9-00AA-C637-74E3-B3052B6BFAA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-1" y="457200"/>
            <a:ext cx="14945983" cy="6248400"/>
          </a:xfrm>
        </p:spPr>
      </p:pic>
    </p:spTree>
    <p:extLst>
      <p:ext uri="{BB962C8B-B14F-4D97-AF65-F5344CB8AC3E}">
        <p14:creationId xmlns:p14="http://schemas.microsoft.com/office/powerpoint/2010/main" val="2109843907"/>
      </p:ext>
    </p:extLst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5238363-A899-8991-4B6F-7C11766F06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5" name="内容占位符 4">
            <a:extLst>
              <a:ext uri="{FF2B5EF4-FFF2-40B4-BE49-F238E27FC236}">
                <a16:creationId xmlns:a16="http://schemas.microsoft.com/office/drawing/2014/main" id="{C1BACCD7-3B50-593B-8A15-649328DD276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475129"/>
            <a:ext cx="14434778" cy="6154271"/>
          </a:xfrm>
        </p:spPr>
      </p:pic>
    </p:spTree>
    <p:extLst>
      <p:ext uri="{BB962C8B-B14F-4D97-AF65-F5344CB8AC3E}">
        <p14:creationId xmlns:p14="http://schemas.microsoft.com/office/powerpoint/2010/main" val="1185426874"/>
      </p:ext>
    </p:extLst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33046E8-6958-7619-2E93-D6A789867B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5" name="内容占位符 4">
            <a:extLst>
              <a:ext uri="{FF2B5EF4-FFF2-40B4-BE49-F238E27FC236}">
                <a16:creationId xmlns:a16="http://schemas.microsoft.com/office/drawing/2014/main" id="{526E8244-DE02-BF49-0B43-3C784770AD9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457200"/>
            <a:ext cx="14050344" cy="6172200"/>
          </a:xfrm>
        </p:spPr>
      </p:pic>
    </p:spTree>
    <p:extLst>
      <p:ext uri="{BB962C8B-B14F-4D97-AF65-F5344CB8AC3E}">
        <p14:creationId xmlns:p14="http://schemas.microsoft.com/office/powerpoint/2010/main" val="3909932099"/>
      </p:ext>
    </p:extLst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83C9EB8-70CC-9894-8D32-643AD5659C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5" name="内容占位符 4">
            <a:extLst>
              <a:ext uri="{FF2B5EF4-FFF2-40B4-BE49-F238E27FC236}">
                <a16:creationId xmlns:a16="http://schemas.microsoft.com/office/drawing/2014/main" id="{80F1AE8C-21F0-D6F0-4EA5-86A13CF8A4F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-1" y="457200"/>
            <a:ext cx="14302633" cy="6248400"/>
          </a:xfrm>
        </p:spPr>
      </p:pic>
    </p:spTree>
    <p:extLst>
      <p:ext uri="{BB962C8B-B14F-4D97-AF65-F5344CB8AC3E}">
        <p14:creationId xmlns:p14="http://schemas.microsoft.com/office/powerpoint/2010/main" val="2242008226"/>
      </p:ext>
    </p:extLst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393979C-4FFD-1CFE-9D4E-6062465817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5" name="内容占位符 4">
            <a:extLst>
              <a:ext uri="{FF2B5EF4-FFF2-40B4-BE49-F238E27FC236}">
                <a16:creationId xmlns:a16="http://schemas.microsoft.com/office/drawing/2014/main" id="{8F1D3E39-0703-C5E4-4F59-EB973CCF8CA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381000"/>
            <a:ext cx="14481772" cy="6324600"/>
          </a:xfrm>
        </p:spPr>
      </p:pic>
    </p:spTree>
    <p:extLst>
      <p:ext uri="{BB962C8B-B14F-4D97-AF65-F5344CB8AC3E}">
        <p14:creationId xmlns:p14="http://schemas.microsoft.com/office/powerpoint/2010/main" val="2494286681"/>
      </p:ext>
    </p:extLst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4B30E9F-F5C7-E793-6957-05342106C8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5" name="内容占位符 4">
            <a:extLst>
              <a:ext uri="{FF2B5EF4-FFF2-40B4-BE49-F238E27FC236}">
                <a16:creationId xmlns:a16="http://schemas.microsoft.com/office/drawing/2014/main" id="{44E09649-001F-8E43-B456-C0F26528E56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236" y="381000"/>
            <a:ext cx="15724532" cy="6248400"/>
          </a:xfrm>
        </p:spPr>
      </p:pic>
    </p:spTree>
    <p:extLst>
      <p:ext uri="{BB962C8B-B14F-4D97-AF65-F5344CB8AC3E}">
        <p14:creationId xmlns:p14="http://schemas.microsoft.com/office/powerpoint/2010/main" val="2394828203"/>
      </p:ext>
    </p:extLst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81AC065-32EB-CA6D-6E37-759053ECEF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5" name="内容占位符 4">
            <a:extLst>
              <a:ext uri="{FF2B5EF4-FFF2-40B4-BE49-F238E27FC236}">
                <a16:creationId xmlns:a16="http://schemas.microsoft.com/office/drawing/2014/main" id="{B15B5791-940F-1103-4E2E-A51B95E97A6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6200" y="381000"/>
            <a:ext cx="14810308" cy="6324600"/>
          </a:xfrm>
        </p:spPr>
      </p:pic>
    </p:spTree>
    <p:extLst>
      <p:ext uri="{BB962C8B-B14F-4D97-AF65-F5344CB8AC3E}">
        <p14:creationId xmlns:p14="http://schemas.microsoft.com/office/powerpoint/2010/main" val="2685489932"/>
      </p:ext>
    </p:extLst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3649EA9-A3E0-6964-9E73-17A0034D9A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5" name="内容占位符 4">
            <a:extLst>
              <a:ext uri="{FF2B5EF4-FFF2-40B4-BE49-F238E27FC236}">
                <a16:creationId xmlns:a16="http://schemas.microsoft.com/office/drawing/2014/main" id="{467F9530-7E47-33D5-BCB2-83FDBF6CAA4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-1" y="457200"/>
            <a:ext cx="15171363" cy="6172200"/>
          </a:xfrm>
        </p:spPr>
      </p:pic>
    </p:spTree>
    <p:extLst>
      <p:ext uri="{BB962C8B-B14F-4D97-AF65-F5344CB8AC3E}">
        <p14:creationId xmlns:p14="http://schemas.microsoft.com/office/powerpoint/2010/main" val="2095047398"/>
      </p:ext>
    </p:extLst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F641C87-8B2B-E773-86E4-0E33699E48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5" name="内容占位符 4">
            <a:extLst>
              <a:ext uri="{FF2B5EF4-FFF2-40B4-BE49-F238E27FC236}">
                <a16:creationId xmlns:a16="http://schemas.microsoft.com/office/drawing/2014/main" id="{A874E2F0-EC6B-586B-47C0-18B9FAA284E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381000"/>
            <a:ext cx="15057414" cy="6324600"/>
          </a:xfrm>
        </p:spPr>
      </p:pic>
    </p:spTree>
    <p:extLst>
      <p:ext uri="{BB962C8B-B14F-4D97-AF65-F5344CB8AC3E}">
        <p14:creationId xmlns:p14="http://schemas.microsoft.com/office/powerpoint/2010/main" val="3087990033"/>
      </p:ext>
    </p:extLst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CF54A4B-AB2A-DE2E-217A-243F6A3D15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5" name="内容占位符 4">
            <a:extLst>
              <a:ext uri="{FF2B5EF4-FFF2-40B4-BE49-F238E27FC236}">
                <a16:creationId xmlns:a16="http://schemas.microsoft.com/office/drawing/2014/main" id="{2F795956-DB0E-EAE8-2D1B-5E7D09B0E40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6894" y="457200"/>
            <a:ext cx="14766776" cy="6248400"/>
          </a:xfrm>
        </p:spPr>
      </p:pic>
    </p:spTree>
    <p:extLst>
      <p:ext uri="{BB962C8B-B14F-4D97-AF65-F5344CB8AC3E}">
        <p14:creationId xmlns:p14="http://schemas.microsoft.com/office/powerpoint/2010/main" val="104985502"/>
      </p:ext>
    </p:extLst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2863CE6-A690-C057-4599-5245A7D934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5" name="内容占位符 4">
            <a:extLst>
              <a:ext uri="{FF2B5EF4-FFF2-40B4-BE49-F238E27FC236}">
                <a16:creationId xmlns:a16="http://schemas.microsoft.com/office/drawing/2014/main" id="{51F495CB-BDDE-FE3F-7FB3-DC94199D80D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-1" y="510988"/>
            <a:ext cx="15201653" cy="6194612"/>
          </a:xfrm>
        </p:spPr>
      </p:pic>
    </p:spTree>
    <p:extLst>
      <p:ext uri="{BB962C8B-B14F-4D97-AF65-F5344CB8AC3E}">
        <p14:creationId xmlns:p14="http://schemas.microsoft.com/office/powerpoint/2010/main" val="2891572452"/>
      </p:ext>
    </p:extLst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02B6CAB-41B2-5772-95E0-B796C2D33E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5" name="内容占位符 4">
            <a:extLst>
              <a:ext uri="{FF2B5EF4-FFF2-40B4-BE49-F238E27FC236}">
                <a16:creationId xmlns:a16="http://schemas.microsoft.com/office/drawing/2014/main" id="{75670D17-7CCF-2748-BAA1-F89AD93882E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457200"/>
            <a:ext cx="14220878" cy="6248400"/>
          </a:xfrm>
        </p:spPr>
      </p:pic>
    </p:spTree>
    <p:extLst>
      <p:ext uri="{BB962C8B-B14F-4D97-AF65-F5344CB8AC3E}">
        <p14:creationId xmlns:p14="http://schemas.microsoft.com/office/powerpoint/2010/main" val="1252571195"/>
      </p:ext>
    </p:extLst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9886FFA-0672-FE46-0DAD-0159480682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5" name="内容占位符 4">
            <a:extLst>
              <a:ext uri="{FF2B5EF4-FFF2-40B4-BE49-F238E27FC236}">
                <a16:creationId xmlns:a16="http://schemas.microsoft.com/office/drawing/2014/main" id="{35111068-5647-1FC5-1ACB-582BA9D790C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-20782" y="521855"/>
            <a:ext cx="15005888" cy="6183745"/>
          </a:xfrm>
        </p:spPr>
      </p:pic>
    </p:spTree>
    <p:extLst>
      <p:ext uri="{BB962C8B-B14F-4D97-AF65-F5344CB8AC3E}">
        <p14:creationId xmlns:p14="http://schemas.microsoft.com/office/powerpoint/2010/main" val="502322772"/>
      </p:ext>
    </p:extLst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9701200-CF55-E531-4FB8-B19AFC5140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5" name="内容占位符 4">
            <a:extLst>
              <a:ext uri="{FF2B5EF4-FFF2-40B4-BE49-F238E27FC236}">
                <a16:creationId xmlns:a16="http://schemas.microsoft.com/office/drawing/2014/main" id="{979A8381-8516-7C09-D90B-2A132D54E48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381000"/>
            <a:ext cx="13641294" cy="6324600"/>
          </a:xfrm>
        </p:spPr>
      </p:pic>
    </p:spTree>
    <p:extLst>
      <p:ext uri="{BB962C8B-B14F-4D97-AF65-F5344CB8AC3E}">
        <p14:creationId xmlns:p14="http://schemas.microsoft.com/office/powerpoint/2010/main" val="3070889084"/>
      </p:ext>
    </p:extLst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7B09AA0-BABC-39E7-CBD4-0DF719A09D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5" name="内容占位符 4">
            <a:extLst>
              <a:ext uri="{FF2B5EF4-FFF2-40B4-BE49-F238E27FC236}">
                <a16:creationId xmlns:a16="http://schemas.microsoft.com/office/drawing/2014/main" id="{DF85EE90-315B-D73C-47D0-DDADE22609E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-76201" y="381000"/>
            <a:ext cx="15586923" cy="6324600"/>
          </a:xfrm>
        </p:spPr>
      </p:pic>
    </p:spTree>
    <p:extLst>
      <p:ext uri="{BB962C8B-B14F-4D97-AF65-F5344CB8AC3E}">
        <p14:creationId xmlns:p14="http://schemas.microsoft.com/office/powerpoint/2010/main" val="851780340"/>
      </p:ext>
    </p:extLst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A3F3E63-9115-2943-FC11-ECDB9EEECC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5" name="内容占位符 4">
            <a:extLst>
              <a:ext uri="{FF2B5EF4-FFF2-40B4-BE49-F238E27FC236}">
                <a16:creationId xmlns:a16="http://schemas.microsoft.com/office/drawing/2014/main" id="{9D57DC22-BE9A-C0A1-1560-B64DE4AE560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457200"/>
            <a:ext cx="14793980" cy="6400800"/>
          </a:xfrm>
        </p:spPr>
      </p:pic>
    </p:spTree>
    <p:extLst>
      <p:ext uri="{BB962C8B-B14F-4D97-AF65-F5344CB8AC3E}">
        <p14:creationId xmlns:p14="http://schemas.microsoft.com/office/powerpoint/2010/main" val="3750997239"/>
      </p:ext>
    </p:extLst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F56BEA4-D140-9C9A-FA7B-337E3D8BBE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5" name="内容占位符 4">
            <a:extLst>
              <a:ext uri="{FF2B5EF4-FFF2-40B4-BE49-F238E27FC236}">
                <a16:creationId xmlns:a16="http://schemas.microsoft.com/office/drawing/2014/main" id="{37E1404B-D145-2486-2DBE-1822050D3CB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09600" y="587188"/>
            <a:ext cx="15683072" cy="6270812"/>
          </a:xfrm>
        </p:spPr>
      </p:pic>
    </p:spTree>
    <p:extLst>
      <p:ext uri="{BB962C8B-B14F-4D97-AF65-F5344CB8AC3E}">
        <p14:creationId xmlns:p14="http://schemas.microsoft.com/office/powerpoint/2010/main" val="3205803236"/>
      </p:ext>
    </p:extLst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67F4AA5-B0CB-5AB6-1E9F-3F4C0B69F1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5" name="内容占位符 4">
            <a:extLst>
              <a:ext uri="{FF2B5EF4-FFF2-40B4-BE49-F238E27FC236}">
                <a16:creationId xmlns:a16="http://schemas.microsoft.com/office/drawing/2014/main" id="{B89A186E-4C72-AF77-3FA6-F21DF4B66EB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676400" y="526473"/>
            <a:ext cx="17713437" cy="6096000"/>
          </a:xfrm>
        </p:spPr>
      </p:pic>
    </p:spTree>
    <p:extLst>
      <p:ext uri="{BB962C8B-B14F-4D97-AF65-F5344CB8AC3E}">
        <p14:creationId xmlns:p14="http://schemas.microsoft.com/office/powerpoint/2010/main" val="3447763416"/>
      </p:ext>
    </p:extLst>
  </p:cSld>
  <p:clrMapOvr>
    <a:masterClrMapping/>
  </p:clrMapOvr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7B16AD1-5D4A-4C8B-8A6E-4B939E3D0E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线性表的应用：一元整系数多项式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B0E93808-EF86-4F9A-8292-1CE8FB6390B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zh-CN" altLang="en-US" dirty="0"/>
                  <a:t>一元整系数多项式</a:t>
                </a:r>
                <a:endParaRPr lang="en-US" altLang="zh-CN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1" i="1" smtClean="0">
                          <a:latin typeface="Cambria Math" panose="02040503050406030204" pitchFamily="18" charset="0"/>
                        </a:rPr>
                        <m:t>𝑷</m:t>
                      </m:r>
                      <m:d>
                        <m:dPr>
                          <m:ctrlPr>
                            <a:rPr lang="en-US" altLang="zh-CN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b="1" i="1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</m:d>
                      <m:r>
                        <a:rPr lang="en-US" altLang="zh-CN" b="1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altLang="zh-CN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1" i="1" smtClean="0">
                              <a:latin typeface="Cambria Math" panose="02040503050406030204" pitchFamily="18" charset="0"/>
                            </a:rPr>
                            <m:t>𝒂</m:t>
                          </m:r>
                        </m:e>
                        <m:sub>
                          <m:r>
                            <a:rPr lang="en-US" altLang="zh-CN" b="1" i="1" smtClean="0">
                              <a:latin typeface="Cambria Math" panose="02040503050406030204" pitchFamily="18" charset="0"/>
                            </a:rPr>
                            <m:t>𝟎</m:t>
                          </m:r>
                        </m:sub>
                      </m:sSub>
                      <m:r>
                        <a:rPr lang="en-US" altLang="zh-CN" b="1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altLang="zh-CN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1" i="1" smtClean="0">
                              <a:latin typeface="Cambria Math" panose="02040503050406030204" pitchFamily="18" charset="0"/>
                            </a:rPr>
                            <m:t>𝒂</m:t>
                          </m:r>
                        </m:e>
                        <m:sub>
                          <m:r>
                            <a:rPr lang="en-US" altLang="zh-CN" b="1" i="1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r>
                        <a:rPr lang="en-US" altLang="zh-CN" b="1" i="1" smtClean="0"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n-US" altLang="zh-CN" b="1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altLang="zh-CN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1" i="1" smtClean="0">
                              <a:latin typeface="Cambria Math" panose="02040503050406030204" pitchFamily="18" charset="0"/>
                            </a:rPr>
                            <m:t>𝒂</m:t>
                          </m:r>
                        </m:e>
                        <m:sub>
                          <m:r>
                            <a:rPr lang="en-US" altLang="zh-CN" b="1" i="1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sub>
                      </m:sSub>
                      <m:sSup>
                        <m:sSupPr>
                          <m:ctrlPr>
                            <a:rPr lang="en-US" altLang="zh-CN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b="1" i="1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p>
                          <m:r>
                            <a:rPr lang="en-US" altLang="zh-CN" b="1" i="1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  <m:r>
                        <a:rPr lang="en-US" altLang="zh-CN" b="1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altLang="zh-CN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1" i="1" smtClean="0">
                              <a:latin typeface="Cambria Math" panose="02040503050406030204" pitchFamily="18" charset="0"/>
                            </a:rPr>
                            <m:t>𝒂</m:t>
                          </m:r>
                        </m:e>
                        <m:sub>
                          <m:r>
                            <a:rPr lang="en-US" altLang="zh-CN" b="1" i="1" smtClean="0">
                              <a:latin typeface="Cambria Math" panose="02040503050406030204" pitchFamily="18" charset="0"/>
                            </a:rPr>
                            <m:t>𝟑</m:t>
                          </m:r>
                        </m:sub>
                      </m:sSub>
                      <m:sSup>
                        <m:sSupPr>
                          <m:ctrlPr>
                            <a:rPr lang="en-US" altLang="zh-CN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b="1" i="1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p>
                          <m:r>
                            <a:rPr lang="en-US" altLang="zh-CN" b="1" i="1" smtClean="0">
                              <a:latin typeface="Cambria Math" panose="02040503050406030204" pitchFamily="18" charset="0"/>
                            </a:rPr>
                            <m:t>𝟑</m:t>
                          </m:r>
                        </m:sup>
                      </m:sSup>
                      <m:r>
                        <a:rPr lang="en-US" altLang="zh-CN" b="1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zh-CN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⋯+</m:t>
                      </m:r>
                      <m:sSub>
                        <m:sSubPr>
                          <m:ctrlPr>
                            <a:rPr lang="en-US" altLang="zh-CN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𝒂</m:t>
                          </m:r>
                        </m:e>
                        <m:sub>
                          <m:r>
                            <a:rPr lang="en-US" altLang="zh-CN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𝒏</m:t>
                          </m:r>
                        </m:sub>
                      </m:sSub>
                      <m:sSup>
                        <m:sSupPr>
                          <m:ctrlPr>
                            <a:rPr lang="en-US" altLang="zh-CN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𝒙</m:t>
                          </m:r>
                        </m:e>
                        <m:sup>
                          <m:r>
                            <a:rPr lang="en-US" altLang="zh-CN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𝒏</m:t>
                          </m:r>
                        </m:sup>
                      </m:sSup>
                    </m:oMath>
                  </m:oMathPara>
                </a14:m>
                <a:endParaRPr lang="en-US" altLang="zh-CN" dirty="0"/>
              </a:p>
              <a:p>
                <a:r>
                  <a:rPr lang="zh-CN" altLang="en-US" dirty="0"/>
                  <a:t>用代码描述</a:t>
                </a:r>
                <a:endParaRPr lang="en-US" altLang="zh-CN" dirty="0"/>
              </a:p>
              <a:p>
                <a:pPr marL="400050" lvl="1" indent="0">
                  <a:lnSpc>
                    <a:spcPct val="100000"/>
                  </a:lnSpc>
                  <a:buNone/>
                </a:pPr>
                <a:r>
                  <a:rPr lang="en-US" altLang="zh-CN" dirty="0"/>
                  <a:t>typedef struct Term {</a:t>
                </a:r>
              </a:p>
              <a:p>
                <a:pPr marL="400050" lvl="1" indent="0">
                  <a:lnSpc>
                    <a:spcPct val="100000"/>
                  </a:lnSpc>
                  <a:buNone/>
                </a:pPr>
                <a:r>
                  <a:rPr lang="en-US" altLang="zh-CN" dirty="0"/>
                  <a:t>    int coefficient;</a:t>
                </a:r>
              </a:p>
              <a:p>
                <a:pPr marL="400050" lvl="1" indent="0">
                  <a:lnSpc>
                    <a:spcPct val="100000"/>
                  </a:lnSpc>
                  <a:buNone/>
                </a:pPr>
                <a:r>
                  <a:rPr lang="en-US" altLang="zh-CN" dirty="0"/>
                  <a:t>    int degree;</a:t>
                </a:r>
              </a:p>
              <a:p>
                <a:pPr marL="400050" lvl="1" indent="0">
                  <a:lnSpc>
                    <a:spcPct val="100000"/>
                  </a:lnSpc>
                  <a:buNone/>
                </a:pPr>
                <a:r>
                  <a:rPr lang="en-US" altLang="zh-CN" dirty="0"/>
                  <a:t>} Term;</a:t>
                </a:r>
              </a:p>
              <a:p>
                <a:pPr marL="400050" lvl="1" indent="0">
                  <a:lnSpc>
                    <a:spcPct val="100000"/>
                  </a:lnSpc>
                  <a:buNone/>
                </a:pPr>
                <a:r>
                  <a:rPr lang="en-US" altLang="zh-CN" dirty="0"/>
                  <a:t>typedef LinkedList Polynomial;</a:t>
                </a:r>
                <a:endParaRPr lang="zh-CN" altLang="en-US" dirty="0"/>
              </a:p>
            </p:txBody>
          </p:sp>
        </mc:Choice>
        <mc:Fallback xmlns="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B0E93808-EF86-4F9A-8292-1CE8FB6390B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78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648079702"/>
      </p:ext>
    </p:extLst>
  </p:cSld>
  <p:clrMapOvr>
    <a:masterClrMapping/>
  </p:clrMapOvr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D553DE0-8A6B-4729-B343-F6E24387B7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多项式相加</a:t>
            </a:r>
            <a:r>
              <a:rPr lang="en-US" altLang="zh-CN" dirty="0"/>
              <a:t>(1)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E346D31-D45D-4516-B608-17B7F38C5AC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4800" y="1219200"/>
            <a:ext cx="11582400" cy="5181600"/>
          </a:xfrm>
        </p:spPr>
        <p:txBody>
          <a:bodyPr/>
          <a:lstStyle/>
          <a:p>
            <a:pPr marL="0" indent="0">
              <a:lnSpc>
                <a:spcPct val="100000"/>
              </a:lnSpc>
              <a:buNone/>
            </a:pPr>
            <a:r>
              <a:rPr lang="en-US" altLang="zh-CN" b="0" dirty="0"/>
              <a:t>/* </a:t>
            </a:r>
            <a:r>
              <a:rPr lang="zh-CN" altLang="en-US" b="0" dirty="0"/>
              <a:t>本函数实现 </a:t>
            </a:r>
            <a:r>
              <a:rPr lang="en-US" altLang="zh-CN" b="0" dirty="0"/>
              <a:t>ploy3=poly1+ploy2.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b="0" dirty="0"/>
              <a:t>    </a:t>
            </a:r>
            <a:r>
              <a:rPr lang="zh-CN" altLang="en-US" b="0" dirty="0"/>
              <a:t>三个多项式都是有序的，低次项在前，高次项在后。</a:t>
            </a:r>
            <a:r>
              <a:rPr lang="en-US" altLang="zh-CN" b="0" dirty="0"/>
              <a:t>*/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b="0" dirty="0"/>
              <a:t>Status </a:t>
            </a:r>
            <a:r>
              <a:rPr lang="en-US" altLang="zh-CN" b="0" dirty="0" err="1"/>
              <a:t>AddPoly</a:t>
            </a:r>
            <a:r>
              <a:rPr lang="en-US" altLang="zh-CN" b="0" dirty="0"/>
              <a:t>(Polynomial* pPoly1, Polynomial* pPoly2,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b="0" dirty="0"/>
              <a:t>                          Polynomial* pPoly3) {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b="0" dirty="0"/>
              <a:t>    </a:t>
            </a:r>
            <a:r>
              <a:rPr lang="en-US" altLang="zh-CN" b="0" dirty="0" err="1"/>
              <a:t>ListNode</a:t>
            </a:r>
            <a:r>
              <a:rPr lang="en-US" altLang="zh-CN" b="0" dirty="0"/>
              <a:t> *p1,</a:t>
            </a:r>
            <a:r>
              <a:rPr lang="zh-CN" altLang="en-US" b="0" dirty="0"/>
              <a:t> *</a:t>
            </a:r>
            <a:r>
              <a:rPr lang="en-US" altLang="zh-CN" b="0" dirty="0"/>
              <a:t>p2;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b="0" dirty="0"/>
              <a:t>    Term  *pTerm1,*pTerm2, *pTerm3;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b="0" dirty="0"/>
              <a:t>    p1=pPoly1-&gt;</a:t>
            </a:r>
            <a:r>
              <a:rPr lang="en-US" altLang="zh-CN" b="0" dirty="0" err="1"/>
              <a:t>pFirst</a:t>
            </a:r>
            <a:r>
              <a:rPr lang="en-US" altLang="zh-CN" b="0" dirty="0"/>
              <a:t>;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b="0" dirty="0"/>
              <a:t>    p2=pPoly2-&gt;</a:t>
            </a:r>
            <a:r>
              <a:rPr lang="en-US" altLang="zh-CN" b="0" dirty="0" err="1"/>
              <a:t>pFirst</a:t>
            </a:r>
            <a:r>
              <a:rPr lang="en-US" altLang="zh-CN" b="0" dirty="0"/>
              <a:t>;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b="0" dirty="0"/>
              <a:t>    while (p1!=</a:t>
            </a:r>
            <a:r>
              <a:rPr lang="en-US" altLang="zh-CN" b="0" dirty="0" err="1"/>
              <a:t>nullptr</a:t>
            </a:r>
            <a:r>
              <a:rPr lang="en-US" altLang="zh-CN" b="0" dirty="0"/>
              <a:t> &amp;&amp; p2!=</a:t>
            </a:r>
            <a:r>
              <a:rPr lang="en-US" altLang="zh-CN" b="0" dirty="0" err="1"/>
              <a:t>nullptr</a:t>
            </a:r>
            <a:r>
              <a:rPr lang="en-US" altLang="zh-CN" b="0" dirty="0"/>
              <a:t>) {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b="0" dirty="0"/>
              <a:t>        pTerm3=(Term*)malloc(</a:t>
            </a:r>
            <a:r>
              <a:rPr lang="en-US" altLang="zh-CN" b="0" dirty="0" err="1"/>
              <a:t>sizeof</a:t>
            </a:r>
            <a:r>
              <a:rPr lang="en-US" altLang="zh-CN" b="0" dirty="0"/>
              <a:t>(Term));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b="0" dirty="0"/>
              <a:t>        if(pTerm3==</a:t>
            </a:r>
            <a:r>
              <a:rPr lang="en-US" altLang="zh-CN" b="0" dirty="0" err="1"/>
              <a:t>nullptr</a:t>
            </a:r>
            <a:r>
              <a:rPr lang="en-US" altLang="zh-CN" b="0" dirty="0"/>
              <a:t>)    return ERROR;</a:t>
            </a:r>
            <a:endParaRPr lang="zh-CN" altLang="en-US" b="0" dirty="0"/>
          </a:p>
        </p:txBody>
      </p:sp>
    </p:spTree>
    <p:extLst>
      <p:ext uri="{BB962C8B-B14F-4D97-AF65-F5344CB8AC3E}">
        <p14:creationId xmlns:p14="http://schemas.microsoft.com/office/powerpoint/2010/main" val="4213117414"/>
      </p:ext>
    </p:extLst>
  </p:cSld>
  <p:clrMapOvr>
    <a:masterClrMapping/>
  </p:clrMapOvr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D553DE0-8A6B-4729-B343-F6E24387B7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多项式相加</a:t>
            </a:r>
            <a:r>
              <a:rPr lang="en-US" altLang="zh-CN" dirty="0"/>
              <a:t>(2)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E346D31-D45D-4516-B608-17B7F38C5AC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4800" y="1219200"/>
            <a:ext cx="11582400" cy="5181600"/>
          </a:xfrm>
        </p:spPr>
        <p:txBody>
          <a:bodyPr/>
          <a:lstStyle/>
          <a:p>
            <a:pPr marL="0" indent="0">
              <a:lnSpc>
                <a:spcPct val="100000"/>
              </a:lnSpc>
              <a:buNone/>
            </a:pPr>
            <a:r>
              <a:rPr lang="en-US" altLang="zh-CN" b="0" dirty="0"/>
              <a:t>        pTerm1=(Term*)(p1-&gt;</a:t>
            </a:r>
            <a:r>
              <a:rPr lang="en-US" altLang="zh-CN" b="0" dirty="0" err="1"/>
              <a:t>pData</a:t>
            </a:r>
            <a:r>
              <a:rPr lang="en-US" altLang="zh-CN" b="0" dirty="0"/>
              <a:t>);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b="0" dirty="0"/>
              <a:t>        pTerm2=(Term*)(p2-&gt;</a:t>
            </a:r>
            <a:r>
              <a:rPr lang="en-US" altLang="zh-CN" b="0" dirty="0" err="1"/>
              <a:t>pData</a:t>
            </a:r>
            <a:r>
              <a:rPr lang="en-US" altLang="zh-CN" b="0" dirty="0"/>
              <a:t>);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b="0" dirty="0"/>
              <a:t>        if (pTerm1-&gt;degree&lt;pTerm2-&gt;degree) {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b="0" dirty="0"/>
              <a:t>            pTerm3-&gt;coefficient=pTerm1-&gt;coefficient;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b="0" dirty="0"/>
              <a:t>            pTerm3-&gt;degree=pTerm1-&gt;degree;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b="0" dirty="0"/>
              <a:t>            p1=p1-&gt;</a:t>
            </a:r>
            <a:r>
              <a:rPr lang="en-US" altLang="zh-CN" b="0" dirty="0" err="1"/>
              <a:t>pNext</a:t>
            </a:r>
            <a:r>
              <a:rPr lang="en-US" altLang="zh-CN" b="0" dirty="0"/>
              <a:t>;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b="0" dirty="0"/>
              <a:t>        }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b="0" dirty="0"/>
              <a:t>        else if (pTerm1-&gt;degree&gt;pTerm2-&gt;degree) {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b="0" dirty="0"/>
              <a:t>            pTerm3-&gt;coefficient=pTerm2-&gt;coefficient;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b="0" dirty="0"/>
              <a:t>            pTerm3-&gt;degree=pTerm2-&gt;degree;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b="0" dirty="0"/>
              <a:t>            p2=p2-&gt;</a:t>
            </a:r>
            <a:r>
              <a:rPr lang="en-US" altLang="zh-CN" b="0" dirty="0" err="1"/>
              <a:t>pNext</a:t>
            </a:r>
            <a:r>
              <a:rPr lang="en-US" altLang="zh-CN" b="0" dirty="0"/>
              <a:t>;</a:t>
            </a:r>
            <a:endParaRPr lang="zh-CN" altLang="en-US" b="0" dirty="0"/>
          </a:p>
        </p:txBody>
      </p:sp>
    </p:spTree>
    <p:extLst>
      <p:ext uri="{BB962C8B-B14F-4D97-AF65-F5344CB8AC3E}">
        <p14:creationId xmlns:p14="http://schemas.microsoft.com/office/powerpoint/2010/main" val="2284406769"/>
      </p:ext>
    </p:extLst>
  </p:cSld>
  <p:clrMapOvr>
    <a:masterClrMapping/>
  </p:clrMapOvr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D553DE0-8A6B-4729-B343-F6E24387B7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多项式相加</a:t>
            </a:r>
            <a:r>
              <a:rPr lang="en-US" altLang="zh-CN" dirty="0"/>
              <a:t>(3)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E346D31-D45D-4516-B608-17B7F38C5AC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4800" y="1219200"/>
            <a:ext cx="11582400" cy="5181600"/>
          </a:xfrm>
        </p:spPr>
        <p:txBody>
          <a:bodyPr/>
          <a:lstStyle/>
          <a:p>
            <a:pPr marL="0" indent="0">
              <a:lnSpc>
                <a:spcPct val="100000"/>
              </a:lnSpc>
              <a:buNone/>
            </a:pPr>
            <a:r>
              <a:rPr lang="en-US" altLang="zh-CN" b="0" dirty="0"/>
              <a:t>        }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b="0" dirty="0"/>
              <a:t>        else {  // </a:t>
            </a:r>
            <a:r>
              <a:rPr lang="zh-CN" altLang="en-US" b="0" dirty="0"/>
              <a:t>次数相同</a:t>
            </a:r>
            <a:endParaRPr lang="en-US" altLang="zh-CN" b="0" dirty="0"/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b="0" dirty="0"/>
              <a:t>            pTerm3-&gt;coefficient=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b="0" dirty="0"/>
              <a:t>                      pTerm1-&gt;coefficient+pTerm2-&gt;coefficient;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b="0" dirty="0"/>
              <a:t>            pTerm3-&gt;degree=pTerm1-&gt;degree;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b="0" dirty="0"/>
              <a:t>            if (pTerm3-&gt;coefficient==0) {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b="0" dirty="0"/>
              <a:t>                p1=p1-&gt;</a:t>
            </a:r>
            <a:r>
              <a:rPr lang="en-US" altLang="zh-CN" b="0" dirty="0" err="1"/>
              <a:t>pNext</a:t>
            </a:r>
            <a:r>
              <a:rPr lang="en-US" altLang="zh-CN" b="0" dirty="0"/>
              <a:t>;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b="0" dirty="0"/>
              <a:t>                p2=p2-&gt;</a:t>
            </a:r>
            <a:r>
              <a:rPr lang="en-US" altLang="zh-CN" b="0" dirty="0" err="1"/>
              <a:t>pNext</a:t>
            </a:r>
            <a:r>
              <a:rPr lang="en-US" altLang="zh-CN" b="0" dirty="0"/>
              <a:t>;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b="0" dirty="0"/>
              <a:t>                continue;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b="0" dirty="0"/>
              <a:t>            }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b="0" dirty="0"/>
              <a:t>            p1=p1-&gt;</a:t>
            </a:r>
            <a:r>
              <a:rPr lang="en-US" altLang="zh-CN" b="0" dirty="0" err="1"/>
              <a:t>pNext</a:t>
            </a:r>
            <a:r>
              <a:rPr lang="en-US" altLang="zh-CN" b="0" dirty="0"/>
              <a:t>;</a:t>
            </a:r>
            <a:endParaRPr lang="zh-CN" altLang="en-US" b="0" dirty="0"/>
          </a:p>
        </p:txBody>
      </p:sp>
    </p:spTree>
    <p:extLst>
      <p:ext uri="{BB962C8B-B14F-4D97-AF65-F5344CB8AC3E}">
        <p14:creationId xmlns:p14="http://schemas.microsoft.com/office/powerpoint/2010/main" val="1828338102"/>
      </p:ext>
    </p:extLst>
  </p:cSld>
  <p:clrMapOvr>
    <a:masterClrMapping/>
  </p:clrMapOvr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D553DE0-8A6B-4729-B343-F6E24387B7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多项式相加</a:t>
            </a:r>
            <a:r>
              <a:rPr lang="en-US" altLang="zh-CN" dirty="0"/>
              <a:t>(4)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E346D31-D45D-4516-B608-17B7F38C5AC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4800" y="1219200"/>
            <a:ext cx="11582400" cy="5181600"/>
          </a:xfrm>
        </p:spPr>
        <p:txBody>
          <a:bodyPr/>
          <a:lstStyle/>
          <a:p>
            <a:pPr marL="0" indent="0">
              <a:lnSpc>
                <a:spcPct val="100000"/>
              </a:lnSpc>
              <a:buNone/>
            </a:pPr>
            <a:r>
              <a:rPr lang="en-US" altLang="zh-CN" b="0" dirty="0"/>
              <a:t>            p2=p2-&gt;</a:t>
            </a:r>
            <a:r>
              <a:rPr lang="en-US" altLang="zh-CN" b="0" dirty="0" err="1"/>
              <a:t>pNext</a:t>
            </a:r>
            <a:r>
              <a:rPr lang="en-US" altLang="zh-CN" b="0" dirty="0"/>
              <a:t>;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b="0" dirty="0"/>
              <a:t>        }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b="0" dirty="0"/>
              <a:t>        if(</a:t>
            </a:r>
            <a:r>
              <a:rPr lang="en-US" altLang="zh-CN" b="0" dirty="0" err="1"/>
              <a:t>AppendToLinkedList</a:t>
            </a:r>
            <a:r>
              <a:rPr lang="en-US" altLang="zh-CN" b="0" dirty="0"/>
              <a:t>(pPoly3, 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b="0" dirty="0"/>
              <a:t>                                             pTerm3)==ERROR){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b="0" dirty="0"/>
              <a:t>            return ERROR;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b="0" dirty="0"/>
              <a:t>        }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b="0" dirty="0"/>
              <a:t>    }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b="0" dirty="0"/>
              <a:t>    while(p1!=</a:t>
            </a:r>
            <a:r>
              <a:rPr lang="en-US" altLang="zh-CN" b="0" dirty="0" err="1"/>
              <a:t>nullptr</a:t>
            </a:r>
            <a:r>
              <a:rPr lang="en-US" altLang="zh-CN" b="0" dirty="0"/>
              <a:t>){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b="0" dirty="0"/>
              <a:t>        pTerm1=(Term*)p1-&gt;</a:t>
            </a:r>
            <a:r>
              <a:rPr lang="en-US" altLang="zh-CN" b="0" dirty="0" err="1"/>
              <a:t>pData</a:t>
            </a:r>
            <a:r>
              <a:rPr lang="en-US" altLang="zh-CN" b="0" dirty="0"/>
              <a:t>;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b="0" dirty="0"/>
              <a:t>        p1=p1-&gt;</a:t>
            </a:r>
            <a:r>
              <a:rPr lang="en-US" altLang="zh-CN" b="0" dirty="0" err="1"/>
              <a:t>pNext</a:t>
            </a:r>
            <a:r>
              <a:rPr lang="en-US" altLang="zh-CN" b="0" dirty="0"/>
              <a:t>;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b="0" dirty="0"/>
              <a:t>        pTerm3=(Term*)malloc(</a:t>
            </a:r>
            <a:r>
              <a:rPr lang="en-US" altLang="zh-CN" b="0" dirty="0" err="1"/>
              <a:t>sizeof</a:t>
            </a:r>
            <a:r>
              <a:rPr lang="en-US" altLang="zh-CN" b="0" dirty="0"/>
              <a:t>(Term));</a:t>
            </a:r>
            <a:endParaRPr lang="zh-CN" altLang="en-US" b="0" dirty="0"/>
          </a:p>
        </p:txBody>
      </p:sp>
    </p:spTree>
    <p:extLst>
      <p:ext uri="{BB962C8B-B14F-4D97-AF65-F5344CB8AC3E}">
        <p14:creationId xmlns:p14="http://schemas.microsoft.com/office/powerpoint/2010/main" val="2949346386"/>
      </p:ext>
    </p:extLst>
  </p:cSld>
  <p:clrMapOvr>
    <a:masterClrMapping/>
  </p:clrMapOvr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D553DE0-8A6B-4729-B343-F6E24387B7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多项式相加</a:t>
            </a:r>
            <a:r>
              <a:rPr lang="en-US" altLang="zh-CN" dirty="0"/>
              <a:t>(5)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E346D31-D45D-4516-B608-17B7F38C5AC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4800" y="1219200"/>
            <a:ext cx="11582400" cy="5181600"/>
          </a:xfrm>
        </p:spPr>
        <p:txBody>
          <a:bodyPr/>
          <a:lstStyle/>
          <a:p>
            <a:pPr marL="0" indent="0">
              <a:lnSpc>
                <a:spcPct val="100000"/>
              </a:lnSpc>
              <a:buNone/>
            </a:pPr>
            <a:r>
              <a:rPr lang="en-US" altLang="zh-CN" b="0" dirty="0"/>
              <a:t>        if(pTerm3==</a:t>
            </a:r>
            <a:r>
              <a:rPr lang="en-US" altLang="zh-CN" b="0" dirty="0" err="1"/>
              <a:t>nullptr</a:t>
            </a:r>
            <a:r>
              <a:rPr lang="en-US" altLang="zh-CN" b="0" dirty="0"/>
              <a:t>)    return ERROR;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b="0" dirty="0"/>
              <a:t>        pTerm3-&gt;coefficient=pTerm1-&gt;coefficient;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b="0" dirty="0"/>
              <a:t>        pTerm3-&gt;degree=pTerm1-&gt;degree;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b="0" dirty="0"/>
              <a:t>        if(</a:t>
            </a:r>
            <a:r>
              <a:rPr lang="en-US" altLang="zh-CN" b="0" dirty="0" err="1"/>
              <a:t>AppendToLinkedList</a:t>
            </a:r>
            <a:r>
              <a:rPr lang="en-US" altLang="zh-CN" b="0" dirty="0"/>
              <a:t>(pPoly3, 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b="0" dirty="0"/>
              <a:t>                                             pTerm3)==ERROR){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b="0" dirty="0"/>
              <a:t>            return ERROR;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b="0" dirty="0"/>
              <a:t>        }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b="0" dirty="0"/>
              <a:t>    }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b="0" dirty="0"/>
              <a:t>    while(p2!=</a:t>
            </a:r>
            <a:r>
              <a:rPr lang="en-US" altLang="zh-CN" b="0" dirty="0" err="1"/>
              <a:t>nullptr</a:t>
            </a:r>
            <a:r>
              <a:rPr lang="en-US" altLang="zh-CN" b="0" dirty="0"/>
              <a:t>){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b="0" dirty="0"/>
              <a:t>        pTerm2=(Term*)p2-&gt;</a:t>
            </a:r>
            <a:r>
              <a:rPr lang="en-US" altLang="zh-CN" b="0" dirty="0" err="1"/>
              <a:t>pData</a:t>
            </a:r>
            <a:r>
              <a:rPr lang="en-US" altLang="zh-CN" b="0" dirty="0"/>
              <a:t>;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b="0" dirty="0"/>
              <a:t>        p2=p2-&gt;</a:t>
            </a:r>
            <a:r>
              <a:rPr lang="en-US" altLang="zh-CN" b="0" dirty="0" err="1"/>
              <a:t>pNext</a:t>
            </a:r>
            <a:r>
              <a:rPr lang="en-US" altLang="zh-CN" b="0" dirty="0"/>
              <a:t>;</a:t>
            </a:r>
            <a:endParaRPr lang="zh-CN" altLang="en-US" b="0" dirty="0"/>
          </a:p>
        </p:txBody>
      </p:sp>
    </p:spTree>
    <p:extLst>
      <p:ext uri="{BB962C8B-B14F-4D97-AF65-F5344CB8AC3E}">
        <p14:creationId xmlns:p14="http://schemas.microsoft.com/office/powerpoint/2010/main" val="3677400854"/>
      </p:ext>
    </p:extLst>
  </p:cSld>
  <p:clrMapOvr>
    <a:masterClrMapping/>
  </p:clrMapOvr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D553DE0-8A6B-4729-B343-F6E24387B7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多项式相加</a:t>
            </a:r>
            <a:r>
              <a:rPr lang="en-US" altLang="zh-CN" dirty="0"/>
              <a:t>(6)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E346D31-D45D-4516-B608-17B7F38C5AC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4800" y="1219200"/>
            <a:ext cx="11582400" cy="5181600"/>
          </a:xfrm>
        </p:spPr>
        <p:txBody>
          <a:bodyPr/>
          <a:lstStyle/>
          <a:p>
            <a:pPr marL="0" indent="0">
              <a:lnSpc>
                <a:spcPct val="100000"/>
              </a:lnSpc>
              <a:buNone/>
            </a:pPr>
            <a:r>
              <a:rPr lang="en-US" altLang="zh-CN" b="0" dirty="0"/>
              <a:t>        pTerm3=(Term*)malloc(</a:t>
            </a:r>
            <a:r>
              <a:rPr lang="en-US" altLang="zh-CN" b="0" dirty="0" err="1"/>
              <a:t>sizeof</a:t>
            </a:r>
            <a:r>
              <a:rPr lang="en-US" altLang="zh-CN" b="0" dirty="0"/>
              <a:t>(Term));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b="0" dirty="0"/>
              <a:t>        if (pTerm3==</a:t>
            </a:r>
            <a:r>
              <a:rPr lang="en-US" altLang="zh-CN" b="0" dirty="0" err="1"/>
              <a:t>nullptr</a:t>
            </a:r>
            <a:r>
              <a:rPr lang="en-US" altLang="zh-CN" b="0" dirty="0"/>
              <a:t>)    return ERROR;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b="0" dirty="0"/>
              <a:t>        pTerm3-&gt;coefficient=pTerm2-&gt;coefficient;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b="0" dirty="0"/>
              <a:t>        pTerm3-&gt;degree=pTerm2-&gt;degree;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b="0" dirty="0"/>
              <a:t>        if(</a:t>
            </a:r>
            <a:r>
              <a:rPr lang="en-US" altLang="zh-CN" b="0" dirty="0" err="1"/>
              <a:t>AppendToLinkedList</a:t>
            </a:r>
            <a:r>
              <a:rPr lang="en-US" altLang="zh-CN" b="0" dirty="0"/>
              <a:t>(pPoly3, 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b="0" dirty="0"/>
              <a:t>                                              pTerm3)==ERROR){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b="0" dirty="0"/>
              <a:t>            return ERROR;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b="0" dirty="0"/>
              <a:t>        }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b="0" dirty="0"/>
              <a:t>    }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b="0" dirty="0"/>
              <a:t>    return OK;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b="0" dirty="0"/>
              <a:t>}</a:t>
            </a:r>
          </a:p>
          <a:p>
            <a:pPr marL="0" indent="0">
              <a:lnSpc>
                <a:spcPct val="100000"/>
              </a:lnSpc>
              <a:buNone/>
            </a:pPr>
            <a:endParaRPr lang="zh-CN" altLang="en-US" b="0" dirty="0"/>
          </a:p>
        </p:txBody>
      </p:sp>
    </p:spTree>
    <p:extLst>
      <p:ext uri="{BB962C8B-B14F-4D97-AF65-F5344CB8AC3E}">
        <p14:creationId xmlns:p14="http://schemas.microsoft.com/office/powerpoint/2010/main" val="2261476472"/>
      </p:ext>
    </p:extLst>
  </p:cSld>
  <p:clrMapOvr>
    <a:masterClrMapping/>
  </p:clrMapOvr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6F63C3A-1F05-46FA-9370-C8BCD16721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循环链表和双向链表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62983E5-5288-4B50-A1A2-D7D2757998C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循环链表</a:t>
            </a:r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双向链表</a:t>
            </a:r>
          </a:p>
        </p:txBody>
      </p:sp>
      <p:pic>
        <p:nvPicPr>
          <p:cNvPr id="43" name="图片 42">
            <a:extLst>
              <a:ext uri="{FF2B5EF4-FFF2-40B4-BE49-F238E27FC236}">
                <a16:creationId xmlns:a16="http://schemas.microsoft.com/office/drawing/2014/main" id="{48068657-4F05-4D03-8CE8-20BF8B1B30B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85564" y="1799539"/>
            <a:ext cx="8792036" cy="1556651"/>
          </a:xfrm>
          <a:prstGeom prst="rect">
            <a:avLst/>
          </a:prstGeom>
        </p:spPr>
      </p:pic>
      <p:pic>
        <p:nvPicPr>
          <p:cNvPr id="45" name="图片 44">
            <a:extLst>
              <a:ext uri="{FF2B5EF4-FFF2-40B4-BE49-F238E27FC236}">
                <a16:creationId xmlns:a16="http://schemas.microsoft.com/office/drawing/2014/main" id="{544EE6E7-B852-4F8E-9547-DFF01F12DC9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85564" y="4419600"/>
            <a:ext cx="8963025" cy="17240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2991632"/>
      </p:ext>
    </p:extLst>
  </p:cSld>
  <p:clrMapOvr>
    <a:masterClrMapping/>
  </p:clrMapOvr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B95E8D3-61D7-4A08-8A9B-5ED6EE8B0A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静态链表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88109E8-A58E-4483-85CD-2DFFA95075F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基本思想：</a:t>
            </a:r>
            <a:r>
              <a:rPr lang="zh-CN" altLang="en-US" b="0" dirty="0"/>
              <a:t>用数组模拟链表，把数组下标当作指针。</a:t>
            </a:r>
            <a:endParaRPr lang="en-US" altLang="zh-CN" b="0" dirty="0"/>
          </a:p>
          <a:p>
            <a:r>
              <a:rPr lang="zh-CN" altLang="en-US" dirty="0"/>
              <a:t>代码描述</a:t>
            </a:r>
            <a:endParaRPr lang="en-US" altLang="zh-CN" dirty="0"/>
          </a:p>
          <a:p>
            <a:pPr marL="0" indent="0">
              <a:lnSpc>
                <a:spcPct val="120000"/>
              </a:lnSpc>
              <a:buNone/>
            </a:pPr>
            <a:r>
              <a:rPr lang="en-US" altLang="zh-CN" dirty="0"/>
              <a:t>   </a:t>
            </a:r>
            <a:r>
              <a:rPr lang="en-US" altLang="zh-CN" b="0" dirty="0"/>
              <a:t>typedef struct {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altLang="zh-CN" b="0" dirty="0"/>
              <a:t>       </a:t>
            </a:r>
            <a:r>
              <a:rPr lang="en-US" altLang="zh-CN" b="0" dirty="0" err="1"/>
              <a:t>ElemType</a:t>
            </a:r>
            <a:r>
              <a:rPr lang="en-US" altLang="zh-CN" b="0" dirty="0"/>
              <a:t> data;  /* </a:t>
            </a:r>
            <a:r>
              <a:rPr lang="zh-CN" altLang="en-US" b="0" dirty="0"/>
              <a:t>数据 *</a:t>
            </a:r>
            <a:r>
              <a:rPr lang="en-US" altLang="zh-CN" b="0" dirty="0"/>
              <a:t>/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altLang="zh-CN" b="0" dirty="0"/>
              <a:t>       int next;  /</a:t>
            </a:r>
            <a:r>
              <a:rPr lang="zh-CN" altLang="en-US" b="0" dirty="0"/>
              <a:t>* 指针 *</a:t>
            </a:r>
            <a:r>
              <a:rPr lang="en-US" altLang="zh-CN" b="0" dirty="0"/>
              <a:t>/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altLang="zh-CN" b="0" dirty="0"/>
              <a:t>   } </a:t>
            </a:r>
            <a:r>
              <a:rPr lang="en-US" altLang="zh-CN" b="0" dirty="0" err="1"/>
              <a:t>StaticNode</a:t>
            </a:r>
            <a:r>
              <a:rPr lang="en-US" altLang="zh-CN" b="0" dirty="0"/>
              <a:t>;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altLang="zh-CN" b="0" dirty="0"/>
              <a:t>   typedef </a:t>
            </a:r>
            <a:r>
              <a:rPr lang="en-US" altLang="zh-CN" b="0" dirty="0" err="1"/>
              <a:t>StaticNode</a:t>
            </a:r>
            <a:r>
              <a:rPr lang="en-US" altLang="zh-CN" b="0" dirty="0"/>
              <a:t> </a:t>
            </a:r>
            <a:r>
              <a:rPr lang="en-US" altLang="zh-CN" b="0" dirty="0" err="1"/>
              <a:t>StaticList</a:t>
            </a:r>
            <a:r>
              <a:rPr lang="en-US" altLang="zh-CN" b="0" dirty="0"/>
              <a:t>[STATIC_LIST_SIZE];</a:t>
            </a:r>
            <a:endParaRPr lang="zh-CN" altLang="en-US" b="0" dirty="0"/>
          </a:p>
        </p:txBody>
      </p:sp>
    </p:spTree>
    <p:extLst>
      <p:ext uri="{BB962C8B-B14F-4D97-AF65-F5344CB8AC3E}">
        <p14:creationId xmlns:p14="http://schemas.microsoft.com/office/powerpoint/2010/main" val="2421857185"/>
      </p:ext>
    </p:extLst>
  </p:cSld>
  <p:clrMapOvr>
    <a:masterClrMapping/>
  </p:clrMapOvr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8747482-2524-45E0-9081-1910F0185F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4800" y="533400"/>
            <a:ext cx="11506200" cy="685800"/>
          </a:xfrm>
        </p:spPr>
        <p:txBody>
          <a:bodyPr/>
          <a:lstStyle/>
          <a:p>
            <a:r>
              <a:rPr lang="zh-CN" altLang="en-US" dirty="0"/>
              <a:t>    静态链表            插入</a:t>
            </a:r>
            <a:r>
              <a:rPr lang="en-US" altLang="zh-CN" dirty="0"/>
              <a:t>c                </a:t>
            </a:r>
            <a:r>
              <a:rPr lang="zh-CN" altLang="en-US" dirty="0"/>
              <a:t>删除</a:t>
            </a:r>
            <a:r>
              <a:rPr lang="en-US" altLang="zh-CN" dirty="0"/>
              <a:t>e</a:t>
            </a:r>
            <a:endParaRPr lang="zh-CN" altLang="en-US" dirty="0"/>
          </a:p>
        </p:txBody>
      </p:sp>
      <p:graphicFrame>
        <p:nvGraphicFramePr>
          <p:cNvPr id="8" name="表格 8">
            <a:extLst>
              <a:ext uri="{FF2B5EF4-FFF2-40B4-BE49-F238E27FC236}">
                <a16:creationId xmlns:a16="http://schemas.microsoft.com/office/drawing/2014/main" id="{536227C6-F2B3-4F7D-A7ED-BE285421931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640625332"/>
              </p:ext>
            </p:extLst>
          </p:nvPr>
        </p:nvGraphicFramePr>
        <p:xfrm>
          <a:off x="76200" y="1371600"/>
          <a:ext cx="3733800" cy="5120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44600">
                  <a:extLst>
                    <a:ext uri="{9D8B030D-6E8A-4147-A177-3AD203B41FA5}">
                      <a16:colId xmlns:a16="http://schemas.microsoft.com/office/drawing/2014/main" val="1323514495"/>
                    </a:ext>
                  </a:extLst>
                </a:gridCol>
                <a:gridCol w="1244600">
                  <a:extLst>
                    <a:ext uri="{9D8B030D-6E8A-4147-A177-3AD203B41FA5}">
                      <a16:colId xmlns:a16="http://schemas.microsoft.com/office/drawing/2014/main" val="3453164990"/>
                    </a:ext>
                  </a:extLst>
                </a:gridCol>
                <a:gridCol w="1244600">
                  <a:extLst>
                    <a:ext uri="{9D8B030D-6E8A-4147-A177-3AD203B41FA5}">
                      <a16:colId xmlns:a16="http://schemas.microsoft.com/office/drawing/2014/main" val="235899735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3600" dirty="0">
                          <a:solidFill>
                            <a:schemeClr val="tx1"/>
                          </a:solidFill>
                        </a:rPr>
                        <a:t>下标</a:t>
                      </a: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3600" dirty="0">
                          <a:solidFill>
                            <a:schemeClr val="tx1"/>
                          </a:solidFill>
                        </a:rPr>
                        <a:t>数据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3600" dirty="0">
                          <a:solidFill>
                            <a:schemeClr val="tx1"/>
                          </a:solidFill>
                        </a:rPr>
                        <a:t>指针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844628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600" b="1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CN" altLang="en-US" sz="36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36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600" b="1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CN" altLang="en-US" sz="36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6910928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60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CN" altLang="en-US" sz="3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600" dirty="0">
                          <a:solidFill>
                            <a:schemeClr val="tx1"/>
                          </a:solidFill>
                        </a:rPr>
                        <a:t>a</a:t>
                      </a:r>
                      <a:endParaRPr lang="zh-CN" altLang="en-US" sz="3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600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zh-CN" altLang="en-US" sz="3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5702226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600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zh-CN" altLang="en-US" sz="3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600" dirty="0">
                          <a:solidFill>
                            <a:schemeClr val="tx1"/>
                          </a:solidFill>
                        </a:rPr>
                        <a:t>b</a:t>
                      </a:r>
                      <a:endParaRPr lang="zh-CN" altLang="en-US" sz="3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600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zh-CN" altLang="en-US" sz="3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373756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600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zh-CN" altLang="en-US" sz="3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600" dirty="0">
                          <a:solidFill>
                            <a:schemeClr val="tx1"/>
                          </a:solidFill>
                        </a:rPr>
                        <a:t>d</a:t>
                      </a:r>
                      <a:endParaRPr lang="zh-CN" altLang="en-US" sz="3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600" dirty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zh-CN" altLang="en-US" sz="3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0190010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600" dirty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zh-CN" altLang="en-US" sz="3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600" dirty="0">
                          <a:solidFill>
                            <a:schemeClr val="tx1"/>
                          </a:solidFill>
                        </a:rPr>
                        <a:t>e</a:t>
                      </a:r>
                      <a:endParaRPr lang="zh-CN" altLang="en-US" sz="3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600" dirty="0">
                          <a:solidFill>
                            <a:schemeClr val="tx1"/>
                          </a:solidFill>
                        </a:rPr>
                        <a:t>5</a:t>
                      </a:r>
                      <a:endParaRPr lang="zh-CN" altLang="en-US" sz="3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855908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600" dirty="0">
                          <a:solidFill>
                            <a:schemeClr val="tx1"/>
                          </a:solidFill>
                        </a:rPr>
                        <a:t>5</a:t>
                      </a:r>
                      <a:endParaRPr lang="zh-CN" altLang="en-US" sz="3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600" dirty="0">
                          <a:solidFill>
                            <a:schemeClr val="tx1"/>
                          </a:solidFill>
                        </a:rPr>
                        <a:t>f</a:t>
                      </a:r>
                      <a:endParaRPr lang="zh-CN" altLang="en-US" sz="3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600" dirty="0">
                          <a:solidFill>
                            <a:schemeClr val="tx1"/>
                          </a:solidFill>
                        </a:rPr>
                        <a:t>-1</a:t>
                      </a:r>
                      <a:endParaRPr lang="zh-CN" altLang="en-US" sz="3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5593917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600" dirty="0">
                          <a:solidFill>
                            <a:schemeClr val="tx1"/>
                          </a:solidFill>
                        </a:rPr>
                        <a:t>6</a:t>
                      </a:r>
                      <a:endParaRPr lang="zh-CN" altLang="en-US" sz="3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360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3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66017331"/>
                  </a:ext>
                </a:extLst>
              </a:tr>
            </a:tbl>
          </a:graphicData>
        </a:graphic>
      </p:graphicFrame>
      <p:graphicFrame>
        <p:nvGraphicFramePr>
          <p:cNvPr id="10" name="表格 8">
            <a:extLst>
              <a:ext uri="{FF2B5EF4-FFF2-40B4-BE49-F238E27FC236}">
                <a16:creationId xmlns:a16="http://schemas.microsoft.com/office/drawing/2014/main" id="{75F8BE3C-E2E2-4482-82CE-3B0F9DF490A9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70297070"/>
              </p:ext>
            </p:extLst>
          </p:nvPr>
        </p:nvGraphicFramePr>
        <p:xfrm>
          <a:off x="4114800" y="1371600"/>
          <a:ext cx="3733800" cy="5120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44600">
                  <a:extLst>
                    <a:ext uri="{9D8B030D-6E8A-4147-A177-3AD203B41FA5}">
                      <a16:colId xmlns:a16="http://schemas.microsoft.com/office/drawing/2014/main" val="1323514495"/>
                    </a:ext>
                  </a:extLst>
                </a:gridCol>
                <a:gridCol w="1244600">
                  <a:extLst>
                    <a:ext uri="{9D8B030D-6E8A-4147-A177-3AD203B41FA5}">
                      <a16:colId xmlns:a16="http://schemas.microsoft.com/office/drawing/2014/main" val="3453164990"/>
                    </a:ext>
                  </a:extLst>
                </a:gridCol>
                <a:gridCol w="1244600">
                  <a:extLst>
                    <a:ext uri="{9D8B030D-6E8A-4147-A177-3AD203B41FA5}">
                      <a16:colId xmlns:a16="http://schemas.microsoft.com/office/drawing/2014/main" val="235899735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3600" dirty="0">
                          <a:solidFill>
                            <a:schemeClr val="tx1"/>
                          </a:solidFill>
                        </a:rPr>
                        <a:t>下标</a:t>
                      </a: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3600" dirty="0">
                          <a:solidFill>
                            <a:schemeClr val="tx1"/>
                          </a:solidFill>
                        </a:rPr>
                        <a:t>数据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3600" dirty="0">
                          <a:solidFill>
                            <a:schemeClr val="tx1"/>
                          </a:solidFill>
                        </a:rPr>
                        <a:t>指针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844628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60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CN" altLang="en-US" sz="3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3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60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CN" altLang="en-US" sz="3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6910928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60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CN" altLang="en-US" sz="3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600" dirty="0">
                          <a:solidFill>
                            <a:schemeClr val="tx1"/>
                          </a:solidFill>
                        </a:rPr>
                        <a:t>a</a:t>
                      </a:r>
                      <a:endParaRPr lang="zh-CN" altLang="en-US" sz="3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600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zh-CN" altLang="en-US" sz="3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5702226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600" b="1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zh-CN" altLang="en-US" sz="36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600" b="1" dirty="0">
                          <a:solidFill>
                            <a:schemeClr val="tx1"/>
                          </a:solidFill>
                        </a:rPr>
                        <a:t>b</a:t>
                      </a:r>
                      <a:endParaRPr lang="zh-CN" altLang="en-US" sz="36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600" b="1" dirty="0">
                          <a:solidFill>
                            <a:srgbClr val="FF0000"/>
                          </a:solidFill>
                        </a:rPr>
                        <a:t>6</a:t>
                      </a:r>
                      <a:endParaRPr lang="zh-CN" altLang="en-US" sz="3600" b="1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373756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600" b="1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zh-CN" altLang="en-US" sz="36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600" b="1" dirty="0">
                          <a:solidFill>
                            <a:schemeClr val="tx1"/>
                          </a:solidFill>
                        </a:rPr>
                        <a:t>d</a:t>
                      </a:r>
                      <a:endParaRPr lang="zh-CN" altLang="en-US" sz="36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600" b="1" dirty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zh-CN" altLang="en-US" sz="36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0190010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600" dirty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zh-CN" altLang="en-US" sz="3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600" dirty="0">
                          <a:solidFill>
                            <a:schemeClr val="tx1"/>
                          </a:solidFill>
                        </a:rPr>
                        <a:t>e</a:t>
                      </a:r>
                      <a:endParaRPr lang="zh-CN" altLang="en-US" sz="3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600" dirty="0">
                          <a:solidFill>
                            <a:schemeClr val="tx1"/>
                          </a:solidFill>
                        </a:rPr>
                        <a:t>5</a:t>
                      </a:r>
                      <a:endParaRPr lang="zh-CN" altLang="en-US" sz="3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855908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600" dirty="0">
                          <a:solidFill>
                            <a:schemeClr val="tx1"/>
                          </a:solidFill>
                        </a:rPr>
                        <a:t>5</a:t>
                      </a:r>
                      <a:endParaRPr lang="zh-CN" altLang="en-US" sz="3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600" dirty="0">
                          <a:solidFill>
                            <a:schemeClr val="tx1"/>
                          </a:solidFill>
                        </a:rPr>
                        <a:t>f</a:t>
                      </a:r>
                      <a:endParaRPr lang="zh-CN" altLang="en-US" sz="3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600" dirty="0">
                          <a:solidFill>
                            <a:schemeClr val="tx1"/>
                          </a:solidFill>
                        </a:rPr>
                        <a:t>-1</a:t>
                      </a:r>
                      <a:endParaRPr lang="zh-CN" altLang="en-US" sz="3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5593917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600" dirty="0">
                          <a:solidFill>
                            <a:schemeClr val="tx1"/>
                          </a:solidFill>
                        </a:rPr>
                        <a:t>6</a:t>
                      </a:r>
                      <a:endParaRPr lang="zh-CN" altLang="en-US" sz="3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600" b="1" dirty="0">
                          <a:solidFill>
                            <a:schemeClr val="tx1"/>
                          </a:solidFill>
                        </a:rPr>
                        <a:t>c</a:t>
                      </a:r>
                      <a:endParaRPr lang="zh-CN" altLang="en-US" sz="36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600" b="1" dirty="0">
                          <a:solidFill>
                            <a:srgbClr val="FF0000"/>
                          </a:solidFill>
                        </a:rPr>
                        <a:t>3</a:t>
                      </a:r>
                      <a:endParaRPr lang="zh-CN" altLang="en-US" sz="3600" b="1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66017331"/>
                  </a:ext>
                </a:extLst>
              </a:tr>
            </a:tbl>
          </a:graphicData>
        </a:graphic>
      </p:graphicFrame>
      <p:graphicFrame>
        <p:nvGraphicFramePr>
          <p:cNvPr id="11" name="表格 8">
            <a:extLst>
              <a:ext uri="{FF2B5EF4-FFF2-40B4-BE49-F238E27FC236}">
                <a16:creationId xmlns:a16="http://schemas.microsoft.com/office/drawing/2014/main" id="{EBA35457-F6AA-473B-8A94-3747BA5FCFA0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213616137"/>
              </p:ext>
            </p:extLst>
          </p:nvPr>
        </p:nvGraphicFramePr>
        <p:xfrm>
          <a:off x="8153400" y="1371600"/>
          <a:ext cx="3733800" cy="5120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44600">
                  <a:extLst>
                    <a:ext uri="{9D8B030D-6E8A-4147-A177-3AD203B41FA5}">
                      <a16:colId xmlns:a16="http://schemas.microsoft.com/office/drawing/2014/main" val="1323514495"/>
                    </a:ext>
                  </a:extLst>
                </a:gridCol>
                <a:gridCol w="1244600">
                  <a:extLst>
                    <a:ext uri="{9D8B030D-6E8A-4147-A177-3AD203B41FA5}">
                      <a16:colId xmlns:a16="http://schemas.microsoft.com/office/drawing/2014/main" val="3453164990"/>
                    </a:ext>
                  </a:extLst>
                </a:gridCol>
                <a:gridCol w="1244600">
                  <a:extLst>
                    <a:ext uri="{9D8B030D-6E8A-4147-A177-3AD203B41FA5}">
                      <a16:colId xmlns:a16="http://schemas.microsoft.com/office/drawing/2014/main" val="235899735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3600" dirty="0">
                          <a:solidFill>
                            <a:schemeClr val="tx1"/>
                          </a:solidFill>
                        </a:rPr>
                        <a:t>下标</a:t>
                      </a: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3600" dirty="0">
                          <a:solidFill>
                            <a:schemeClr val="tx1"/>
                          </a:solidFill>
                        </a:rPr>
                        <a:t>数据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3600" dirty="0">
                          <a:solidFill>
                            <a:schemeClr val="tx1"/>
                          </a:solidFill>
                        </a:rPr>
                        <a:t>指针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844628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60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CN" altLang="en-US" sz="3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3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60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CN" altLang="en-US" sz="3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6910928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60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CN" altLang="en-US" sz="3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600" dirty="0">
                          <a:solidFill>
                            <a:schemeClr val="tx1"/>
                          </a:solidFill>
                        </a:rPr>
                        <a:t>a</a:t>
                      </a:r>
                      <a:endParaRPr lang="zh-CN" altLang="en-US" sz="3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600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zh-CN" altLang="en-US" sz="3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5702226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600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zh-CN" altLang="en-US" sz="3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600" dirty="0">
                          <a:solidFill>
                            <a:schemeClr val="tx1"/>
                          </a:solidFill>
                        </a:rPr>
                        <a:t>b</a:t>
                      </a:r>
                      <a:endParaRPr lang="zh-CN" altLang="en-US" sz="3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600" dirty="0">
                          <a:solidFill>
                            <a:schemeClr val="tx1"/>
                          </a:solidFill>
                        </a:rPr>
                        <a:t>6</a:t>
                      </a:r>
                      <a:endParaRPr lang="zh-CN" altLang="en-US" sz="3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373756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600" b="1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zh-CN" altLang="en-US" sz="36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600" b="1" dirty="0">
                          <a:solidFill>
                            <a:schemeClr val="tx1"/>
                          </a:solidFill>
                        </a:rPr>
                        <a:t>d</a:t>
                      </a:r>
                      <a:endParaRPr lang="zh-CN" altLang="en-US" sz="36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600" b="1" dirty="0">
                          <a:solidFill>
                            <a:srgbClr val="FF0000"/>
                          </a:solidFill>
                        </a:rPr>
                        <a:t>5</a:t>
                      </a:r>
                      <a:endParaRPr lang="zh-CN" altLang="en-US" sz="3600" b="1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0190010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600" dirty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zh-CN" altLang="en-US" sz="3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600" dirty="0">
                          <a:solidFill>
                            <a:schemeClr val="tx1"/>
                          </a:solidFill>
                        </a:rPr>
                        <a:t>e</a:t>
                      </a:r>
                      <a:endParaRPr lang="zh-CN" altLang="en-US" sz="3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600" dirty="0">
                          <a:solidFill>
                            <a:schemeClr val="tx1"/>
                          </a:solidFill>
                        </a:rPr>
                        <a:t>5</a:t>
                      </a:r>
                      <a:endParaRPr lang="zh-CN" altLang="en-US" sz="3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855908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600" b="1" dirty="0">
                          <a:solidFill>
                            <a:schemeClr val="tx1"/>
                          </a:solidFill>
                        </a:rPr>
                        <a:t>5</a:t>
                      </a:r>
                      <a:endParaRPr lang="zh-CN" altLang="en-US" sz="36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600" b="1" dirty="0">
                          <a:solidFill>
                            <a:schemeClr val="tx1"/>
                          </a:solidFill>
                        </a:rPr>
                        <a:t>f</a:t>
                      </a:r>
                      <a:endParaRPr lang="zh-CN" altLang="en-US" sz="36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600" b="1" dirty="0">
                          <a:solidFill>
                            <a:schemeClr val="tx1"/>
                          </a:solidFill>
                        </a:rPr>
                        <a:t>-1</a:t>
                      </a:r>
                      <a:endParaRPr lang="zh-CN" altLang="en-US" sz="36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5593917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600" dirty="0">
                          <a:solidFill>
                            <a:schemeClr val="tx1"/>
                          </a:solidFill>
                        </a:rPr>
                        <a:t>6</a:t>
                      </a:r>
                      <a:endParaRPr lang="zh-CN" altLang="en-US" sz="3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600" dirty="0">
                          <a:solidFill>
                            <a:schemeClr val="tx1"/>
                          </a:solidFill>
                        </a:rPr>
                        <a:t>c</a:t>
                      </a:r>
                      <a:endParaRPr lang="zh-CN" altLang="en-US" sz="3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600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zh-CN" altLang="en-US" sz="3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6601733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58417990"/>
      </p:ext>
    </p:extLst>
  </p:cSld>
  <p:clrMapOvr>
    <a:masterClrMapping/>
  </p:clrMapOvr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AF91B2C-4910-4BF0-B2A9-5BC1A4A74F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本章小结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6779FE2-1A14-4F1F-9E64-7189779213B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线性表</a:t>
            </a:r>
            <a:endParaRPr lang="en-US" altLang="zh-CN" dirty="0"/>
          </a:p>
          <a:p>
            <a:pPr lvl="1"/>
            <a:r>
              <a:rPr lang="zh-CN" altLang="en-US" dirty="0"/>
              <a:t>顺序表：用顺序结构实现线性表</a:t>
            </a:r>
            <a:endParaRPr lang="en-US" altLang="zh-CN" dirty="0"/>
          </a:p>
          <a:p>
            <a:pPr lvl="2">
              <a:lnSpc>
                <a:spcPct val="125000"/>
              </a:lnSpc>
              <a:buFont typeface="Wingdings" panose="05000000000000000000" pitchFamily="2" charset="2"/>
              <a:buChar char="Ø"/>
            </a:pPr>
            <a:r>
              <a:rPr lang="zh-CN" altLang="en-US" sz="3200" b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静态数组（使用全局内存或栈内存）</a:t>
            </a:r>
            <a:endParaRPr lang="en-US" altLang="zh-CN" sz="3200" b="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2">
              <a:lnSpc>
                <a:spcPct val="125000"/>
              </a:lnSpc>
              <a:buFont typeface="Wingdings" panose="05000000000000000000" pitchFamily="2" charset="2"/>
              <a:buChar char="Ø"/>
            </a:pPr>
            <a:r>
              <a:rPr lang="zh-CN" altLang="en-US" sz="3200" b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动态数组（使用堆内存）</a:t>
            </a:r>
            <a:endParaRPr lang="en-US" altLang="zh-CN" sz="3200" b="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/>
            <a:r>
              <a:rPr lang="zh-CN" altLang="en-US" dirty="0"/>
              <a:t>单链表：用单向链式结构实现线性表</a:t>
            </a:r>
            <a:endParaRPr lang="en-US" altLang="zh-CN" dirty="0"/>
          </a:p>
          <a:p>
            <a:pPr lvl="1"/>
            <a:r>
              <a:rPr lang="zh-CN" altLang="en-US" dirty="0"/>
              <a:t>其他</a:t>
            </a:r>
            <a:endParaRPr lang="en-US" altLang="zh-CN" dirty="0"/>
          </a:p>
          <a:p>
            <a:pPr lvl="2">
              <a:lnSpc>
                <a:spcPct val="125000"/>
              </a:lnSpc>
              <a:buFont typeface="Wingdings" panose="05000000000000000000" pitchFamily="2" charset="2"/>
              <a:buChar char="Ø"/>
            </a:pPr>
            <a:r>
              <a:rPr lang="zh-CN" altLang="en-US" sz="3200" b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双向链表、循环链表</a:t>
            </a:r>
            <a:endParaRPr lang="en-US" altLang="zh-CN" sz="3200" b="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2">
              <a:lnSpc>
                <a:spcPct val="125000"/>
              </a:lnSpc>
              <a:buFont typeface="Wingdings" panose="05000000000000000000" pitchFamily="2" charset="2"/>
              <a:buChar char="Ø"/>
            </a:pPr>
            <a:r>
              <a:rPr lang="zh-CN" altLang="en-US" sz="3200" b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静态链表：用静态数组模拟链表</a:t>
            </a:r>
            <a:endParaRPr lang="en-US" altLang="zh-CN" sz="3200" b="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09416581"/>
      </p:ext>
    </p:extLst>
  </p:cSld>
  <p:clrMapOvr>
    <a:masterClrMapping/>
  </p:clrMapOvr>
</p:sld>
</file>

<file path=ppt/theme/theme1.xml><?xml version="1.0" encoding="utf-8"?>
<a:theme xmlns:a="http://schemas.openxmlformats.org/drawingml/2006/main" name="tm2">
  <a:themeElements>
    <a:clrScheme name="tm2 5">
      <a:dk1>
        <a:srgbClr val="000000"/>
      </a:dk1>
      <a:lt1>
        <a:srgbClr val="FFFFFF"/>
      </a:lt1>
      <a:dk2>
        <a:srgbClr val="000000"/>
      </a:dk2>
      <a:lt2>
        <a:srgbClr val="9F9F9F"/>
      </a:lt2>
      <a:accent1>
        <a:srgbClr val="FFCC66"/>
      </a:accent1>
      <a:accent2>
        <a:srgbClr val="0000FF"/>
      </a:accent2>
      <a:accent3>
        <a:srgbClr val="FFFFFF"/>
      </a:accent3>
      <a:accent4>
        <a:srgbClr val="000000"/>
      </a:accent4>
      <a:accent5>
        <a:srgbClr val="FFE2B8"/>
      </a:accent5>
      <a:accent6>
        <a:srgbClr val="0000E7"/>
      </a:accent6>
      <a:hlink>
        <a:srgbClr val="CC00CC"/>
      </a:hlink>
      <a:folHlink>
        <a:srgbClr val="C0C0C0"/>
      </a:folHlink>
    </a:clrScheme>
    <a:fontScheme name="tm2">
      <a:majorFont>
        <a:latin typeface="Arial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flat" cmpd="sng" algn="ctr">
          <a:solidFill>
            <a:schemeClr val="tx1"/>
          </a:solidFill>
          <a:prstDash val="solid"/>
          <a:round/>
          <a:headEnd type="none" w="sm" len="sm"/>
          <a:tailEnd type="none" w="sm" len="sm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</a:defRPr>
        </a:defPPr>
      </a:lstStyle>
    </a:spDef>
    <a:lnDef>
      <a:spPr bwMode="auto">
        <a:solidFill>
          <a:schemeClr val="accent1"/>
        </a:solidFill>
        <a:ln w="25400" cap="rnd" cmpd="sng" algn="ctr">
          <a:solidFill>
            <a:schemeClr val="tx1"/>
          </a:solidFill>
          <a:prstDash val="solid"/>
          <a:round/>
          <a:headEnd type="none" w="sm" len="sm"/>
          <a:tailEnd type="arrow" w="med" len="lg"/>
        </a:ln>
        <a:effectLst/>
      </a:spPr>
      <a:bodyPr/>
      <a:lstStyle/>
    </a:lnDef>
  </a:objectDefaults>
  <a:extraClrSchemeLst>
    <a:extraClrScheme>
      <a:clrScheme name="tm2 1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tm2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33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tm2 3">
        <a:dk1>
          <a:srgbClr val="000000"/>
        </a:dk1>
        <a:lt1>
          <a:srgbClr val="FFFFCC"/>
        </a:lt1>
        <a:dk2>
          <a:srgbClr val="999933"/>
        </a:dk2>
        <a:lt2>
          <a:srgbClr val="808000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tm2 4">
        <a:dk1>
          <a:srgbClr val="000000"/>
        </a:dk1>
        <a:lt1>
          <a:srgbClr val="FFFFFF"/>
        </a:lt1>
        <a:dk2>
          <a:srgbClr val="000000"/>
        </a:dk2>
        <a:lt2>
          <a:srgbClr val="393939"/>
        </a:lt2>
        <a:accent1>
          <a:srgbClr val="CBCBCB"/>
        </a:accent1>
        <a:accent2>
          <a:srgbClr val="868686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797979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tm2 5">
        <a:dk1>
          <a:srgbClr val="000000"/>
        </a:dk1>
        <a:lt1>
          <a:srgbClr val="FFFFFF"/>
        </a:lt1>
        <a:dk2>
          <a:srgbClr val="000000"/>
        </a:dk2>
        <a:lt2>
          <a:srgbClr val="9F9F9F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tm2 6">
        <a:dk1>
          <a:srgbClr val="000000"/>
        </a:dk1>
        <a:lt1>
          <a:srgbClr val="FFFFFF"/>
        </a:lt1>
        <a:dk2>
          <a:srgbClr val="000000"/>
        </a:dk2>
        <a:lt2>
          <a:srgbClr val="868686"/>
        </a:lt2>
        <a:accent1>
          <a:srgbClr val="CBCBCB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005CE7"/>
        </a:accent6>
        <a:hlink>
          <a:srgbClr val="FF0033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tm2 7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Slipstream</Template>
  <TotalTime>7274</TotalTime>
  <Words>3937</Words>
  <Application>Microsoft Office PowerPoint</Application>
  <PresentationFormat>宽屏</PresentationFormat>
  <Paragraphs>696</Paragraphs>
  <Slides>114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114</vt:i4>
      </vt:variant>
    </vt:vector>
  </HeadingPairs>
  <TitlesOfParts>
    <vt:vector size="122" baseType="lpstr">
      <vt:lpstr>等线</vt:lpstr>
      <vt:lpstr>宋体</vt:lpstr>
      <vt:lpstr>微软雅黑</vt:lpstr>
      <vt:lpstr>Arial</vt:lpstr>
      <vt:lpstr>Cambria Math</vt:lpstr>
      <vt:lpstr>Times New Roman</vt:lpstr>
      <vt:lpstr>Wingdings</vt:lpstr>
      <vt:lpstr>tm2</vt:lpstr>
      <vt:lpstr>第二章  线性表</vt:lpstr>
      <vt:lpstr>线性表的定义</vt:lpstr>
      <vt:lpstr>线性表抽象数据类型的定义</vt:lpstr>
      <vt:lpstr>线性表的顺序存储定义（1）</vt:lpstr>
      <vt:lpstr>线性表的顺序存储定义（2）</vt:lpstr>
      <vt:lpstr>线性表的顺序存储定义（3）</vt:lpstr>
      <vt:lpstr>线性表的顺序存储定义（4）</vt:lpstr>
      <vt:lpstr>线性表的顺序存储定义（5）</vt:lpstr>
      <vt:lpstr>线性表的顺序存储的实现</vt:lpstr>
      <vt:lpstr>顺序表的初始化</vt:lpstr>
      <vt:lpstr>初始化函数的调用及其执行结果</vt:lpstr>
      <vt:lpstr>顺序表的释放</vt:lpstr>
      <vt:lpstr>求顺序表的长度</vt:lpstr>
      <vt:lpstr>取顺序表中的元素</vt:lpstr>
      <vt:lpstr>在顺序表中查找</vt:lpstr>
      <vt:lpstr>在顺序表中查找(修正)</vt:lpstr>
      <vt:lpstr>向顺序表中追加</vt:lpstr>
      <vt:lpstr>向顺序表中插入到指定的位置</vt:lpstr>
      <vt:lpstr>向顺序表中插入到指定的位置（续）</vt:lpstr>
      <vt:lpstr>从顺序表中删除</vt:lpstr>
      <vt:lpstr>有序表合并算法</vt:lpstr>
      <vt:lpstr>有序表合并的实现</vt:lpstr>
      <vt:lpstr>有序表合并的实现（续）</vt:lpstr>
      <vt:lpstr>有序表合并的实现（再续）</vt:lpstr>
      <vt:lpstr>顺序表操作的时间复杂度</vt:lpstr>
      <vt:lpstr>顺序存储的优缺点</vt:lpstr>
      <vt:lpstr>List对象</vt:lpstr>
      <vt:lpstr>面向对象的特性</vt:lpstr>
      <vt:lpstr>封装 Encapsulation</vt:lpstr>
      <vt:lpstr>继承 Inheritance</vt:lpstr>
      <vt:lpstr>重载 Overloading</vt:lpstr>
      <vt:lpstr>多态 Polymorphism</vt:lpstr>
      <vt:lpstr>this 指针</vt:lpstr>
      <vt:lpstr>用C语言实现面向对象的特性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太初有道</vt:lpstr>
      <vt:lpstr>链式存储的优缺点</vt:lpstr>
      <vt:lpstr>线性表的链式存储</vt:lpstr>
      <vt:lpstr>单链表的定义（1）</vt:lpstr>
      <vt:lpstr>单链表的定义（2）</vt:lpstr>
      <vt:lpstr>单链表的定义（3）</vt:lpstr>
      <vt:lpstr>我们采用下面的定义</vt:lpstr>
      <vt:lpstr>单链表图示</vt:lpstr>
      <vt:lpstr>链表的初始化</vt:lpstr>
      <vt:lpstr>求链表的长度</vt:lpstr>
      <vt:lpstr>判断链表是否为空</vt:lpstr>
      <vt:lpstr>分配节点</vt:lpstr>
      <vt:lpstr>释放节点</vt:lpstr>
      <vt:lpstr>向链表插入数据</vt:lpstr>
      <vt:lpstr>向链表追加数据</vt:lpstr>
      <vt:lpstr>向链表追加数据(续)</vt:lpstr>
      <vt:lpstr>在指定位置插入数据</vt:lpstr>
      <vt:lpstr>从链表删除节点</vt:lpstr>
      <vt:lpstr>从链表删除节点(续)</vt:lpstr>
      <vt:lpstr>遍历链表</vt:lpstr>
      <vt:lpstr>查找链表</vt:lpstr>
      <vt:lpstr>释放链表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线性表的应用：一元整系数多项式</vt:lpstr>
      <vt:lpstr>多项式相加(1)</vt:lpstr>
      <vt:lpstr>多项式相加(2)</vt:lpstr>
      <vt:lpstr>多项式相加(3)</vt:lpstr>
      <vt:lpstr>多项式相加(4)</vt:lpstr>
      <vt:lpstr>多项式相加(5)</vt:lpstr>
      <vt:lpstr>多项式相加(6)</vt:lpstr>
      <vt:lpstr>循环链表和双向链表</vt:lpstr>
      <vt:lpstr>静态链表</vt:lpstr>
      <vt:lpstr>    静态链表            插入c                删除e</vt:lpstr>
      <vt:lpstr>本章小结</vt:lpstr>
    </vt:vector>
  </TitlesOfParts>
  <Company>Publication Services, Inc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No Slide Title</dc:title>
  <dc:creator>K. N. King</dc:creator>
  <cp:lastModifiedBy>xue zhang</cp:lastModifiedBy>
  <cp:revision>1228</cp:revision>
  <cp:lastPrinted>2021-02-27T03:34:59Z</cp:lastPrinted>
  <dcterms:created xsi:type="dcterms:W3CDTF">1999-08-24T18:39:05Z</dcterms:created>
  <dcterms:modified xsi:type="dcterms:W3CDTF">2026-03-11T00:51:29Z</dcterms:modified>
</cp:coreProperties>
</file>