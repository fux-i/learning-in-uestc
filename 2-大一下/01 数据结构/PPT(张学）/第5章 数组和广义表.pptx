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50" r:id="rId1"/>
  </p:sldMasterIdLst>
  <p:notesMasterIdLst>
    <p:notesMasterId r:id="rId26"/>
  </p:notesMasterIdLst>
  <p:handoutMasterIdLst>
    <p:handoutMasterId r:id="rId27"/>
  </p:handoutMasterIdLst>
  <p:sldIdLst>
    <p:sldId id="263" r:id="rId2"/>
    <p:sldId id="266" r:id="rId3"/>
    <p:sldId id="267" r:id="rId4"/>
    <p:sldId id="268" r:id="rId5"/>
    <p:sldId id="303" r:id="rId6"/>
    <p:sldId id="304" r:id="rId7"/>
    <p:sldId id="269" r:id="rId8"/>
    <p:sldId id="301" r:id="rId9"/>
    <p:sldId id="270" r:id="rId10"/>
    <p:sldId id="302" r:id="rId11"/>
    <p:sldId id="271" r:id="rId12"/>
    <p:sldId id="272" r:id="rId13"/>
    <p:sldId id="274" r:id="rId14"/>
    <p:sldId id="275" r:id="rId15"/>
    <p:sldId id="276" r:id="rId16"/>
    <p:sldId id="277" r:id="rId17"/>
    <p:sldId id="278" r:id="rId18"/>
    <p:sldId id="279" r:id="rId19"/>
    <p:sldId id="280" r:id="rId20"/>
    <p:sldId id="284" r:id="rId21"/>
    <p:sldId id="285" r:id="rId22"/>
    <p:sldId id="287" r:id="rId23"/>
    <p:sldId id="305" r:id="rId24"/>
    <p:sldId id="300" r:id="rId25"/>
  </p:sldIdLst>
  <p:sldSz cx="12192000" cy="6858000"/>
  <p:notesSz cx="6797675" cy="9928225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6" userDrawn="1">
          <p15:clr>
            <a:srgbClr val="A4A3A4"/>
          </p15:clr>
        </p15:guide>
        <p15:guide id="2" pos="2141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showAnimation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66"/>
    <a:srgbClr val="990033"/>
    <a:srgbClr val="660033"/>
    <a:srgbClr val="006600"/>
    <a:srgbClr val="C6A02E"/>
    <a:srgbClr val="B82F25"/>
    <a:srgbClr val="6DBFAB"/>
    <a:srgbClr val="FF7706"/>
    <a:srgbClr val="FFAB0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24" autoAdjust="0"/>
    <p:restoredTop sz="94660"/>
  </p:normalViewPr>
  <p:slideViewPr>
    <p:cSldViewPr>
      <p:cViewPr varScale="1">
        <p:scale>
          <a:sx n="85" d="100"/>
          <a:sy n="85" d="100"/>
        </p:scale>
        <p:origin x="542" y="5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546"/>
    </p:cViewPr>
  </p:sorterViewPr>
  <p:notesViewPr>
    <p:cSldViewPr>
      <p:cViewPr varScale="1">
        <p:scale>
          <a:sx n="39" d="100"/>
          <a:sy n="39" d="100"/>
        </p:scale>
        <p:origin x="2386" y="62"/>
      </p:cViewPr>
      <p:guideLst>
        <p:guide orient="horz" pos="3126"/>
        <p:guide pos="2141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238F26BC-7BC4-4E81-856A-C803AC3A2F6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122" cy="49743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D66C85D-8214-4E69-93B1-C7927D703D5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50011" y="0"/>
            <a:ext cx="2946122" cy="49743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16664E-1BF0-46AE-AAC0-8104A4986E05}" type="datetimeFigureOut">
              <a:rPr lang="zh-CN" altLang="en-US" smtClean="0"/>
              <a:t>2026/4/22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6825ABF-C6A2-43A4-994B-70B5FF6833C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30796"/>
            <a:ext cx="2946122" cy="49742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7813771-266C-4568-83F5-7D86B4D52A1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50011" y="9430796"/>
            <a:ext cx="2946122" cy="49742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3C5DD2-4AED-427E-8312-F2C1EDAA2E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81277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122" cy="49573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3013" tIns="46506" rIns="93013" bIns="46506" numCol="1" anchor="t" anchorCtr="0" compatLnSpc="1">
            <a:prstTxWarp prst="textNoShape">
              <a:avLst/>
            </a:prstTxWarp>
          </a:bodyPr>
          <a:lstStyle>
            <a:lvl1pPr defTabSz="930275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1554" y="0"/>
            <a:ext cx="2946122" cy="49573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3013" tIns="46506" rIns="93013" bIns="46506" numCol="1" anchor="t" anchorCtr="0" compatLnSpc="1">
            <a:prstTxWarp prst="textNoShape">
              <a:avLst/>
            </a:prstTxWarp>
          </a:bodyPr>
          <a:lstStyle>
            <a:lvl1pPr algn="r" defTabSz="930275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789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2075" y="744538"/>
            <a:ext cx="6616700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6974" y="4714549"/>
            <a:ext cx="4983728" cy="446838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3013" tIns="46506" rIns="93013" bIns="4650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0"/>
            <a:r>
              <a:rPr lang="en-US" noProof="0"/>
              <a:t>Second level</a:t>
            </a:r>
          </a:p>
          <a:p>
            <a:pPr lvl="0"/>
            <a:r>
              <a:rPr lang="en-US" noProof="0"/>
              <a:t>Third level</a:t>
            </a:r>
          </a:p>
          <a:p>
            <a:pPr lvl="0"/>
            <a:r>
              <a:rPr lang="en-US" noProof="0"/>
              <a:t>Fourth level</a:t>
            </a:r>
          </a:p>
          <a:p>
            <a:pPr lvl="0"/>
            <a:r>
              <a:rPr lang="en-US" noProof="0"/>
              <a:t>Fifth level</a:t>
            </a:r>
          </a:p>
        </p:txBody>
      </p:sp>
      <p:sp>
        <p:nvSpPr>
          <p:cNvPr id="1229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32493"/>
            <a:ext cx="2946122" cy="49573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3013" tIns="46506" rIns="93013" bIns="46506" numCol="1" anchor="b" anchorCtr="0" compatLnSpc="1">
            <a:prstTxWarp prst="textNoShape">
              <a:avLst/>
            </a:prstTxWarp>
          </a:bodyPr>
          <a:lstStyle>
            <a:lvl1pPr defTabSz="930275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229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1554" y="9432493"/>
            <a:ext cx="2946122" cy="49573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3013" tIns="46506" rIns="93013" bIns="46506" numCol="1" anchor="b" anchorCtr="0" compatLnSpc="1">
            <a:prstTxWarp prst="textNoShape">
              <a:avLst/>
            </a:prstTxWarp>
          </a:bodyPr>
          <a:lstStyle>
            <a:lvl1pPr algn="r" defTabSz="930275">
              <a:defRPr sz="1200"/>
            </a:lvl1pPr>
          </a:lstStyle>
          <a:p>
            <a:fld id="{B90D6BE3-42E0-4DA5-B156-66EF77FDC710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1905675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742950" indent="-28575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11430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6002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20574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7756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>
            <a:lvl1pPr>
              <a:defRPr sz="6000" b="1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 sz="4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8853305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6038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400" b="1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04800" y="1371600"/>
            <a:ext cx="11582400" cy="5181600"/>
          </a:xfrm>
        </p:spPr>
        <p:txBody>
          <a:bodyPr/>
          <a:lstStyle>
            <a:lvl1pPr marL="342900" indent="-342900">
              <a:lnSpc>
                <a:spcPct val="150000"/>
              </a:lnSpc>
              <a:spcBef>
                <a:spcPts val="0"/>
              </a:spcBef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lnSpc>
                <a:spcPct val="125000"/>
              </a:lnSpc>
              <a:spcBef>
                <a:spcPts val="0"/>
              </a:spcBef>
              <a:buSzPct val="60000"/>
              <a:buFont typeface="Wingdings" panose="05000000000000000000" pitchFamily="2" charset="2"/>
              <a:buChar char="u"/>
              <a:defRPr sz="32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085850" indent="-228600">
              <a:lnSpc>
                <a:spcPct val="120000"/>
              </a:lnSpc>
              <a:spcBef>
                <a:spcPts val="0"/>
              </a:spcBef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Ø"/>
              <a:defRPr sz="32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lnSpc>
                <a:spcPct val="150000"/>
              </a:lnSpc>
              <a:spcBef>
                <a:spcPts val="600"/>
              </a:spcBef>
              <a:defRPr b="1">
                <a:solidFill>
                  <a:schemeClr val="accent6">
                    <a:lumMod val="75000"/>
                  </a:schemeClr>
                </a:solidFill>
              </a:defRPr>
            </a:lvl4pPr>
            <a:lvl5pPr>
              <a:lnSpc>
                <a:spcPct val="150000"/>
              </a:lnSpc>
              <a:spcBef>
                <a:spcPts val="600"/>
              </a:spcBef>
              <a:defRPr b="1">
                <a:solidFill>
                  <a:schemeClr val="accent6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693321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2">
        <p:tmplLst>
          <p:tmpl lvl="1">
            <p:tnLst>
              <p:par>
                <p:cTn presetID="22" presetClass="entr" presetSubtype="4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22" presetClass="entr" presetSubtype="4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22" presetClass="entr" presetSubtype="4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400" b="1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04800" y="1524000"/>
            <a:ext cx="5689600" cy="4800600"/>
          </a:xfrm>
        </p:spPr>
        <p:txBody>
          <a:bodyPr/>
          <a:lstStyle>
            <a:lvl1pPr marL="342900" indent="-342900">
              <a:lnSpc>
                <a:spcPct val="150000"/>
              </a:lnSpc>
              <a:spcBef>
                <a:spcPts val="600"/>
              </a:spcBef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lnSpc>
                <a:spcPct val="125000"/>
              </a:lnSpc>
              <a:spcBef>
                <a:spcPts val="0"/>
              </a:spcBef>
              <a:buSzPct val="60000"/>
              <a:buFont typeface="Wingdings" panose="05000000000000000000" pitchFamily="2" charset="2"/>
              <a:buChar char="u"/>
              <a:defRPr sz="32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lnSpc>
                <a:spcPct val="150000"/>
              </a:lnSpc>
              <a:spcBef>
                <a:spcPts val="600"/>
              </a:spcBef>
              <a:defRPr sz="2000" b="1">
                <a:solidFill>
                  <a:srgbClr val="000066"/>
                </a:solidFill>
              </a:defRPr>
            </a:lvl3pPr>
            <a:lvl4pPr>
              <a:lnSpc>
                <a:spcPct val="150000"/>
              </a:lnSpc>
              <a:spcBef>
                <a:spcPts val="600"/>
              </a:spcBef>
              <a:defRPr sz="1800" b="1">
                <a:solidFill>
                  <a:schemeClr val="accent6">
                    <a:lumMod val="75000"/>
                  </a:schemeClr>
                </a:solidFill>
              </a:defRPr>
            </a:lvl4pPr>
            <a:lvl5pPr>
              <a:lnSpc>
                <a:spcPct val="150000"/>
              </a:lnSpc>
              <a:spcBef>
                <a:spcPts val="600"/>
              </a:spcBef>
              <a:defRPr sz="1800" b="1">
                <a:solidFill>
                  <a:schemeClr val="accent6">
                    <a:lumMod val="75000"/>
                  </a:schemeClr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197600" y="1524000"/>
            <a:ext cx="5689600" cy="4800600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>
            <a:lvl1pPr marL="342900" indent="-342900"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n"/>
              <a:defRPr lang="en-US" sz="3200" b="1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lnSpc>
                <a:spcPct val="125000"/>
              </a:lnSpc>
              <a:spcBef>
                <a:spcPts val="0"/>
              </a:spcBef>
              <a:buSzPct val="60000"/>
              <a:buFont typeface="Wingdings" panose="05000000000000000000" pitchFamily="2" charset="2"/>
              <a:buChar char="u"/>
              <a:defRPr lang="en-US" sz="3200" b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lang="en-US" b="1" smtClean="0">
                <a:solidFill>
                  <a:srgbClr val="000066"/>
                </a:solidFill>
              </a:defRPr>
            </a:lvl3pPr>
            <a:lvl4pPr>
              <a:defRPr lang="en-US" sz="1800" b="1" smtClean="0">
                <a:solidFill>
                  <a:schemeClr val="accent6">
                    <a:lumMod val="75000"/>
                  </a:schemeClr>
                </a:solidFill>
              </a:defRPr>
            </a:lvl4pPr>
            <a:lvl5pPr>
              <a:defRPr lang="en-US" sz="1800" b="1">
                <a:solidFill>
                  <a:schemeClr val="accent6">
                    <a:lumMod val="75000"/>
                  </a:schemeClr>
                </a:solidFill>
              </a:defRPr>
            </a:lvl5pPr>
          </a:lstStyle>
          <a:p>
            <a:pPr lvl="0">
              <a:lnSpc>
                <a:spcPct val="150000"/>
              </a:lnSpc>
              <a:spcBef>
                <a:spcPts val="600"/>
              </a:spcBef>
            </a:pPr>
            <a:r>
              <a:rPr lang="en-US" dirty="0"/>
              <a:t>Click to edit Master text styles</a:t>
            </a:r>
          </a:p>
          <a:p>
            <a:pPr lvl="1">
              <a:lnSpc>
                <a:spcPct val="150000"/>
              </a:lnSpc>
              <a:spcBef>
                <a:spcPts val="600"/>
              </a:spcBef>
            </a:pPr>
            <a:r>
              <a:rPr lang="en-US" dirty="0"/>
              <a:t>Second level</a:t>
            </a:r>
          </a:p>
          <a:p>
            <a:pPr lvl="2">
              <a:lnSpc>
                <a:spcPct val="150000"/>
              </a:lnSpc>
              <a:spcBef>
                <a:spcPts val="600"/>
              </a:spcBef>
            </a:pPr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7241652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2">
        <p:tmplLst>
          <p:tmpl lvl="1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2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3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  <p:bldP spid="4" grpId="0" build="p" bldLvl="2">
        <p:tmplLst>
          <p:tmpl lvl="1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2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3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62599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6800" y="762000"/>
            <a:ext cx="2590800" cy="5562600"/>
          </a:xfrm>
        </p:spPr>
        <p:txBody>
          <a:bodyPr vert="eaVert"/>
          <a:lstStyle>
            <a:lvl1pPr>
              <a:defRPr>
                <a:solidFill>
                  <a:srgbClr val="990033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914400" y="762000"/>
            <a:ext cx="7569200" cy="5562600"/>
          </a:xfrm>
        </p:spPr>
        <p:txBody>
          <a:bodyPr vert="eaVert"/>
          <a:lstStyle>
            <a:lvl1pPr>
              <a:defRPr>
                <a:solidFill>
                  <a:srgbClr val="000066"/>
                </a:solidFill>
              </a:defRPr>
            </a:lvl1pPr>
            <a:lvl2pPr>
              <a:defRPr>
                <a:solidFill>
                  <a:srgbClr val="000066"/>
                </a:solidFill>
              </a:defRPr>
            </a:lvl2pPr>
            <a:lvl3pPr>
              <a:defRPr>
                <a:solidFill>
                  <a:srgbClr val="000066"/>
                </a:solidFill>
              </a:defRPr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4013906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2">
        <p:tmplLst>
          <p:tmpl lvl="1">
            <p:tnLst>
              <p:par>
                <p:cTn presetID="2" presetClass="entr" presetSubtype="4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2">
            <p:tnLst>
              <p:par>
                <p:cTn presetID="2" presetClass="entr" presetSubtype="4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3">
            <p:tnLst>
              <p:par>
                <p:cTn presetID="2" presetClass="entr" presetSubtype="4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200238" cy="6865023"/>
          </a:xfrm>
          <a:prstGeom prst="rect">
            <a:avLst/>
          </a:prstGeom>
        </p:spPr>
      </p:pic>
      <p:sp>
        <p:nvSpPr>
          <p:cNvPr id="1028" name="Rectangle 2"/>
          <p:cNvSpPr>
            <a:spLocks noGrp="1" noChangeArrowheads="1"/>
          </p:cNvSpPr>
          <p:nvPr userDrawn="1">
            <p:ph type="title"/>
          </p:nvPr>
        </p:nvSpPr>
        <p:spPr bwMode="auto">
          <a:xfrm>
            <a:off x="914400" y="533400"/>
            <a:ext cx="103632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dirty="0"/>
              <a:t>Click to edit Master title style</a:t>
            </a:r>
          </a:p>
        </p:txBody>
      </p:sp>
      <p:sp>
        <p:nvSpPr>
          <p:cNvPr id="1029" name="Rectangle 3"/>
          <p:cNvSpPr>
            <a:spLocks noGrp="1" noChangeArrowheads="1"/>
          </p:cNvSpPr>
          <p:nvPr userDrawn="1">
            <p:ph type="body" idx="1"/>
          </p:nvPr>
        </p:nvSpPr>
        <p:spPr bwMode="auto">
          <a:xfrm>
            <a:off x="304800" y="1371600"/>
            <a:ext cx="11480800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>
              <a:lnSpc>
                <a:spcPct val="150000"/>
              </a:lnSpc>
              <a:spcBef>
                <a:spcPts val="600"/>
              </a:spcBef>
            </a:pPr>
            <a:r>
              <a:rPr lang="en-US" altLang="zh-CN" dirty="0"/>
              <a:t> Click to edit Master text styles</a:t>
            </a:r>
          </a:p>
          <a:p>
            <a:pPr lvl="1">
              <a:lnSpc>
                <a:spcPct val="150000"/>
              </a:lnSpc>
              <a:spcBef>
                <a:spcPts val="600"/>
              </a:spcBef>
            </a:pPr>
            <a:r>
              <a:rPr lang="en-US" altLang="zh-CN" dirty="0"/>
              <a:t>Second level</a:t>
            </a:r>
          </a:p>
          <a:p>
            <a:pPr lvl="2">
              <a:lnSpc>
                <a:spcPct val="150000"/>
              </a:lnSpc>
              <a:spcBef>
                <a:spcPts val="600"/>
              </a:spcBef>
            </a:pPr>
            <a:r>
              <a:rPr lang="en-US" altLang="zh-CN" dirty="0"/>
              <a:t>Third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47" r:id="rId1"/>
    <p:sldLayoutId id="2147484048" r:id="rId2"/>
    <p:sldLayoutId id="2147484050" r:id="rId3"/>
    <p:sldLayoutId id="2147484053" r:id="rId4"/>
    <p:sldLayoutId id="2147484057" r:id="rId5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990033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B82F25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B82F25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B82F25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B82F25"/>
          </a:solidFill>
          <a:latin typeface="Arial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FF7706"/>
          </a:solidFill>
          <a:latin typeface="Arial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FF7706"/>
          </a:solidFill>
          <a:latin typeface="Arial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FF7706"/>
          </a:solidFill>
          <a:latin typeface="Arial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FF7706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FF0000"/>
        </a:buClr>
        <a:buSzPct val="80000"/>
        <a:buFont typeface="Times New Roman" panose="02020603050405020304" pitchFamily="18" charset="0"/>
        <a:buChar char="☺"/>
        <a:defRPr lang="en-US" altLang="zh-CN" sz="2600" b="1" baseline="0" dirty="0" smtClean="0">
          <a:solidFill>
            <a:srgbClr val="000066"/>
          </a:solidFill>
          <a:latin typeface="+mn-ea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FF0000"/>
        </a:buClr>
        <a:buSzPct val="80000"/>
        <a:buFont typeface="Times New Roman" panose="02020603050405020304" pitchFamily="18" charset="0"/>
        <a:buChar char="♫"/>
        <a:defRPr lang="en-US" altLang="zh-CN" sz="2400" b="1" dirty="0" smtClean="0">
          <a:solidFill>
            <a:srgbClr val="000066"/>
          </a:solidFill>
          <a:latin typeface="+mn-ea"/>
          <a:ea typeface="+mn-ea"/>
        </a:defRPr>
      </a:lvl2pPr>
      <a:lvl3pPr marL="1085850" indent="-228600" algn="l" rtl="0" eaLnBrk="0" fontAlgn="base" hangingPunct="0">
        <a:spcBef>
          <a:spcPct val="20000"/>
        </a:spcBef>
        <a:spcAft>
          <a:spcPct val="0"/>
        </a:spcAft>
        <a:buClr>
          <a:srgbClr val="FF0000"/>
        </a:buClr>
        <a:buSzPct val="80000"/>
        <a:buFont typeface="Wingdings" panose="05000000000000000000" pitchFamily="2" charset="2"/>
        <a:buChar char="Ø"/>
        <a:defRPr lang="en-US" altLang="zh-CN" sz="2200" b="1" dirty="0" smtClean="0">
          <a:solidFill>
            <a:srgbClr val="000066"/>
          </a:solidFill>
          <a:latin typeface="+mn-lt"/>
        </a:defRPr>
      </a:lvl3pPr>
      <a:lvl4pPr marL="1428750" indent="-228600" algn="l" rtl="0" eaLnBrk="0" fontAlgn="base" hangingPunct="0">
        <a:spcBef>
          <a:spcPct val="20000"/>
        </a:spcBef>
        <a:spcAft>
          <a:spcPct val="0"/>
        </a:spcAft>
        <a:buChar char="–"/>
        <a:defRPr lang="en-US" altLang="zh-CN" sz="2000" b="1" dirty="0" smtClean="0">
          <a:solidFill>
            <a:schemeClr val="accent6">
              <a:lumMod val="75000"/>
            </a:schemeClr>
          </a:solidFill>
          <a:latin typeface="+mn-lt"/>
        </a:defRPr>
      </a:lvl4pPr>
      <a:lvl5pPr marL="1771650" indent="-228600" algn="l" rtl="0" eaLnBrk="0" fontAlgn="base" hangingPunct="0">
        <a:spcBef>
          <a:spcPct val="20000"/>
        </a:spcBef>
        <a:spcAft>
          <a:spcPct val="0"/>
        </a:spcAft>
        <a:buChar char="•"/>
        <a:defRPr lang="en-US" altLang="zh-CN" sz="1600" b="1" dirty="0" smtClean="0">
          <a:solidFill>
            <a:schemeClr val="accent6">
              <a:lumMod val="75000"/>
            </a:schemeClr>
          </a:solidFill>
          <a:latin typeface="+mn-lt"/>
        </a:defRPr>
      </a:lvl5pPr>
      <a:lvl6pPr marL="2228850" indent="-228600" algn="l" rtl="0" eaLnBrk="0" fontAlgn="base" hangingPunct="0">
        <a:spcBef>
          <a:spcPct val="20000"/>
        </a:spcBef>
        <a:spcAft>
          <a:spcPct val="0"/>
        </a:spcAft>
        <a:buChar char="•"/>
        <a:defRPr sz="1600">
          <a:solidFill>
            <a:schemeClr val="tx1"/>
          </a:solidFill>
          <a:latin typeface="+mn-lt"/>
        </a:defRPr>
      </a:lvl6pPr>
      <a:lvl7pPr marL="2686050" indent="-228600" algn="l" rtl="0" eaLnBrk="0" fontAlgn="base" hangingPunct="0">
        <a:spcBef>
          <a:spcPct val="20000"/>
        </a:spcBef>
        <a:spcAft>
          <a:spcPct val="0"/>
        </a:spcAft>
        <a:buChar char="•"/>
        <a:defRPr sz="1600">
          <a:solidFill>
            <a:schemeClr val="tx1"/>
          </a:solidFill>
          <a:latin typeface="+mn-lt"/>
        </a:defRPr>
      </a:lvl7pPr>
      <a:lvl8pPr marL="3143250" indent="-228600" algn="l" rtl="0" eaLnBrk="0" fontAlgn="base" hangingPunct="0">
        <a:spcBef>
          <a:spcPct val="20000"/>
        </a:spcBef>
        <a:spcAft>
          <a:spcPct val="0"/>
        </a:spcAft>
        <a:buChar char="•"/>
        <a:defRPr sz="1600">
          <a:solidFill>
            <a:schemeClr val="tx1"/>
          </a:solidFill>
          <a:latin typeface="+mn-lt"/>
        </a:defRPr>
      </a:lvl8pPr>
      <a:lvl9pPr marL="3600450" indent="-228600" algn="l" rtl="0" eaLnBrk="0" fontAlgn="base" hangingPunct="0">
        <a:spcBef>
          <a:spcPct val="20000"/>
        </a:spcBef>
        <a:spcAft>
          <a:spcPct val="0"/>
        </a:spcAft>
        <a:buChar char="•"/>
        <a:defRPr sz="16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71FFD2-C759-4331-B2C5-BD27D3F8708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第五章  数组和广义表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118536A-F4C9-408B-A1C2-8B253B477A1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张  学</a:t>
            </a:r>
            <a:endParaRPr lang="en-US" altLang="zh-CN" dirty="0"/>
          </a:p>
          <a:p>
            <a:r>
              <a:rPr lang="en-US" altLang="zh-CN" dirty="0"/>
              <a:t>zhangxue@uestc.edu.cn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478163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9CADD8-6595-4A2D-8713-BBF58A8829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数组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7D7C868-3FD9-4EAB-918F-6256D5BFE4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数组的特点：</a:t>
            </a:r>
            <a:r>
              <a:rPr lang="zh-CN" altLang="en-US" b="0" dirty="0"/>
              <a:t>占用连续内存，数据元素具有相同的类型。</a:t>
            </a:r>
            <a:endParaRPr lang="en-US" altLang="zh-CN" b="0" dirty="0"/>
          </a:p>
          <a:p>
            <a:pPr lvl="1"/>
            <a:r>
              <a:rPr lang="zh-CN" altLang="en-US" dirty="0"/>
              <a:t>一维数组就是线性表。</a:t>
            </a:r>
            <a:endParaRPr lang="en-US" altLang="zh-CN" dirty="0"/>
          </a:p>
          <a:p>
            <a:pPr lvl="1"/>
            <a:r>
              <a:rPr lang="zh-CN" altLang="en-US" dirty="0"/>
              <a:t>多维数组是线性表的线性表。</a:t>
            </a:r>
            <a:endParaRPr lang="en-US" altLang="zh-CN" dirty="0"/>
          </a:p>
          <a:p>
            <a:r>
              <a:rPr lang="zh-CN" altLang="en-US" dirty="0"/>
              <a:t>数组的一种描述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typedef struct {</a:t>
            </a:r>
          </a:p>
          <a:p>
            <a:pPr marL="457200" lvl="1" indent="0">
              <a:buNone/>
            </a:pPr>
            <a:r>
              <a:rPr lang="en-US" altLang="zh-CN" dirty="0"/>
              <a:t>    </a:t>
            </a:r>
            <a:r>
              <a:rPr lang="en-US" altLang="zh-CN" dirty="0" err="1"/>
              <a:t>ArrayElem</a:t>
            </a:r>
            <a:r>
              <a:rPr lang="en-US" altLang="zh-CN" dirty="0"/>
              <a:t>  a[ARRAY_SIZE];</a:t>
            </a:r>
          </a:p>
          <a:p>
            <a:pPr marL="457200" lvl="1" indent="0">
              <a:buNone/>
            </a:pPr>
            <a:r>
              <a:rPr lang="en-US" altLang="zh-CN" dirty="0"/>
              <a:t>    int  n;  // </a:t>
            </a:r>
            <a:r>
              <a:rPr lang="zh-CN" altLang="en-US" dirty="0"/>
              <a:t>数组的长度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} Array;</a:t>
            </a:r>
          </a:p>
          <a:p>
            <a:pPr lvl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288243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E86370-70E5-4F79-9B95-7C63C15EC3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数组的存储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FB91A15-2966-4186-AE44-4F79F961ED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295400"/>
            <a:ext cx="11582400" cy="5181600"/>
          </a:xfrm>
        </p:spPr>
        <p:txBody>
          <a:bodyPr/>
          <a:lstStyle/>
          <a:p>
            <a:r>
              <a:rPr lang="zh-CN" altLang="en-US" dirty="0"/>
              <a:t>一维数组：连续存储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C</a:t>
            </a:r>
            <a:r>
              <a:rPr lang="zh-CN" altLang="en-US" dirty="0"/>
              <a:t>语言中的数组</a:t>
            </a:r>
            <a:endParaRPr lang="en-US" altLang="zh-CN" dirty="0"/>
          </a:p>
          <a:p>
            <a:r>
              <a:rPr lang="zh-CN" altLang="en-US" dirty="0"/>
              <a:t>二维数组：一维数组的一维数组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b="0" dirty="0"/>
              <a:t>   </a:t>
            </a:r>
            <a:r>
              <a:rPr lang="en-US" altLang="zh-CN" b="0" dirty="0"/>
              <a:t>a[3][3] </a:t>
            </a:r>
            <a:r>
              <a:rPr lang="zh-CN" altLang="en-US" b="0" dirty="0"/>
              <a:t>的内部存储</a:t>
            </a:r>
            <a:endParaRPr lang="en-US" altLang="zh-CN" b="0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n</a:t>
            </a:r>
            <a:r>
              <a:rPr lang="zh-CN" altLang="en-US" dirty="0"/>
              <a:t>维数组：看成一维数组，每个元素都是 </a:t>
            </a:r>
            <a:r>
              <a:rPr lang="en-US" altLang="zh-CN" dirty="0"/>
              <a:t>n-1 </a:t>
            </a:r>
            <a:r>
              <a:rPr lang="zh-CN" altLang="en-US" dirty="0"/>
              <a:t>维数组</a:t>
            </a:r>
            <a:endParaRPr lang="en-US" altLang="zh-CN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5BAFAAF-051B-4118-A522-3874D704E03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r="24364" b="-3226"/>
          <a:stretch/>
        </p:blipFill>
        <p:spPr>
          <a:xfrm>
            <a:off x="4000500" y="1981200"/>
            <a:ext cx="7124700" cy="730738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DE2879B1-3179-4A84-9091-A385129ACD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4267200"/>
            <a:ext cx="10848295" cy="114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14662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E86370-70E5-4F79-9B95-7C63C15EC3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一维数组元素地址的计算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FB91A15-2966-4186-AE44-4F79F961ED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295400"/>
            <a:ext cx="11582400" cy="5181600"/>
          </a:xfrm>
        </p:spPr>
        <p:txBody>
          <a:bodyPr/>
          <a:lstStyle/>
          <a:p>
            <a:r>
              <a:rPr lang="en-US" altLang="zh-CN" dirty="0"/>
              <a:t>L(a[</a:t>
            </a:r>
            <a:r>
              <a:rPr lang="en-US" altLang="zh-CN" dirty="0" err="1"/>
              <a:t>i</a:t>
            </a:r>
            <a:r>
              <a:rPr lang="en-US" altLang="zh-CN" dirty="0"/>
              <a:t>])=L(a[0])+</a:t>
            </a:r>
            <a:r>
              <a:rPr lang="en-US" altLang="zh-CN" dirty="0" err="1"/>
              <a:t>i</a:t>
            </a:r>
            <a:r>
              <a:rPr lang="en-US" altLang="zh-CN" dirty="0"/>
              <a:t> </a:t>
            </a:r>
            <a:r>
              <a:rPr lang="zh-CN" altLang="en-US" dirty="0"/>
              <a:t>，其中 </a:t>
            </a:r>
            <a:r>
              <a:rPr lang="en-US" altLang="zh-CN" dirty="0"/>
              <a:t>L(x) </a:t>
            </a:r>
            <a:r>
              <a:rPr lang="zh-CN" altLang="en-US" dirty="0"/>
              <a:t>表示 </a:t>
            </a:r>
            <a:r>
              <a:rPr lang="en-US" altLang="zh-CN" dirty="0"/>
              <a:t>x </a:t>
            </a:r>
            <a:r>
              <a:rPr lang="zh-CN" altLang="en-US" dirty="0"/>
              <a:t>的地址。</a:t>
            </a:r>
            <a:endParaRPr lang="en-US" altLang="zh-CN" dirty="0"/>
          </a:p>
          <a:p>
            <a:r>
              <a:rPr lang="en-US" altLang="zh-CN" b="0" dirty="0"/>
              <a:t>C</a:t>
            </a:r>
            <a:r>
              <a:rPr lang="zh-CN" altLang="en-US" b="0" dirty="0"/>
              <a:t>编译器在计算元素地址时要考虑数据类型：实际上，</a:t>
            </a:r>
            <a:r>
              <a:rPr lang="en-US" altLang="zh-CN" b="0" dirty="0"/>
              <a:t>L(a[</a:t>
            </a:r>
            <a:r>
              <a:rPr lang="en-US" altLang="zh-CN" b="0" dirty="0" err="1"/>
              <a:t>i</a:t>
            </a:r>
            <a:r>
              <a:rPr lang="en-US" altLang="zh-CN" b="0" dirty="0"/>
              <a:t>])=L(a[0])+</a:t>
            </a:r>
            <a:r>
              <a:rPr lang="en-US" altLang="zh-CN" b="0" dirty="0" err="1"/>
              <a:t>i</a:t>
            </a:r>
            <a:r>
              <a:rPr lang="en-US" altLang="zh-CN" b="0" dirty="0"/>
              <a:t>*</a:t>
            </a:r>
            <a:r>
              <a:rPr lang="en-US" altLang="zh-CN" dirty="0" err="1"/>
              <a:t>sizeof</a:t>
            </a:r>
            <a:r>
              <a:rPr lang="en-US" altLang="zh-CN" dirty="0"/>
              <a:t>(</a:t>
            </a:r>
            <a:r>
              <a:rPr lang="zh-CN" altLang="en-US" dirty="0"/>
              <a:t>元素类型</a:t>
            </a:r>
            <a:r>
              <a:rPr lang="en-US" altLang="zh-CN" dirty="0"/>
              <a:t>)</a:t>
            </a:r>
            <a:r>
              <a:rPr lang="zh-CN" altLang="en-US" b="0" dirty="0"/>
              <a:t>。</a:t>
            </a:r>
            <a:endParaRPr lang="en-US" altLang="zh-CN" b="0" dirty="0"/>
          </a:p>
          <a:p>
            <a:pPr marL="0" indent="0">
              <a:buNone/>
            </a:pPr>
            <a:r>
              <a:rPr lang="zh-CN" altLang="en-US" b="0" dirty="0"/>
              <a:t>   例如，</a:t>
            </a:r>
            <a:r>
              <a:rPr lang="en-US" altLang="zh-CN" b="0" dirty="0"/>
              <a:t>int a[100];</a:t>
            </a:r>
          </a:p>
          <a:p>
            <a:pPr marL="0" indent="0">
              <a:buNone/>
            </a:pPr>
            <a:r>
              <a:rPr lang="en-US" altLang="zh-CN" b="0" dirty="0"/>
              <a:t>   L(a[7])=L(a[0])+7*</a:t>
            </a:r>
            <a:r>
              <a:rPr lang="en-US" altLang="zh-CN" dirty="0" err="1"/>
              <a:t>sizeof</a:t>
            </a:r>
            <a:r>
              <a:rPr lang="en-US" altLang="zh-CN" dirty="0"/>
              <a:t>(int)</a:t>
            </a:r>
            <a:r>
              <a:rPr lang="zh-CN" altLang="en-US" b="0" dirty="0"/>
              <a:t>。</a:t>
            </a:r>
            <a:endParaRPr lang="en-US" altLang="zh-CN" b="0" dirty="0"/>
          </a:p>
          <a:p>
            <a:pPr marL="457200" lvl="1" indent="0">
              <a:buNone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2224344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E86370-70E5-4F79-9B95-7C63C15EC3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二维数组元素地址的计算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FB91A15-2966-4186-AE44-4F79F961ED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295400"/>
            <a:ext cx="11582400" cy="5181600"/>
          </a:xfrm>
        </p:spPr>
        <p:txBody>
          <a:bodyPr/>
          <a:lstStyle/>
          <a:p>
            <a:r>
              <a:rPr lang="en-US" altLang="zh-CN" b="0" dirty="0"/>
              <a:t>L(a[</a:t>
            </a:r>
            <a:r>
              <a:rPr lang="en-US" altLang="zh-CN" b="0" dirty="0" err="1"/>
              <a:t>i</a:t>
            </a:r>
            <a:r>
              <a:rPr lang="en-US" altLang="zh-CN" b="0" dirty="0"/>
              <a:t>])=L(a[0][0])+</a:t>
            </a:r>
            <a:r>
              <a:rPr lang="en-US" altLang="zh-CN" b="0" dirty="0" err="1"/>
              <a:t>i</a:t>
            </a:r>
            <a:r>
              <a:rPr lang="en-US" altLang="zh-CN" b="0" dirty="0"/>
              <a:t>*</a:t>
            </a:r>
            <a:r>
              <a:rPr lang="en-US" altLang="zh-CN" b="0" dirty="0" err="1"/>
              <a:t>sizeof</a:t>
            </a:r>
            <a:r>
              <a:rPr lang="en-US" altLang="zh-CN" b="0" dirty="0"/>
              <a:t>(</a:t>
            </a:r>
            <a:r>
              <a:rPr lang="zh-CN" altLang="en-US" b="0" dirty="0"/>
              <a:t>一维数组</a:t>
            </a:r>
            <a:r>
              <a:rPr lang="en-US" altLang="zh-CN" b="0" dirty="0"/>
              <a:t>)</a:t>
            </a:r>
          </a:p>
          <a:p>
            <a:pPr marL="0" indent="0">
              <a:buNone/>
            </a:pPr>
            <a:r>
              <a:rPr lang="en-US" altLang="zh-CN" b="0" dirty="0"/>
              <a:t>            =L(a[0][0])+</a:t>
            </a:r>
            <a:r>
              <a:rPr lang="en-US" altLang="zh-CN" b="0" dirty="0" err="1"/>
              <a:t>i</a:t>
            </a:r>
            <a:r>
              <a:rPr lang="en-US" altLang="zh-CN" b="0" dirty="0"/>
              <a:t>*J</a:t>
            </a:r>
          </a:p>
          <a:p>
            <a:pPr marL="0" indent="0">
              <a:buNone/>
            </a:pPr>
            <a:r>
              <a:rPr lang="en-US" altLang="zh-CN" b="0" dirty="0"/>
              <a:t>   </a:t>
            </a:r>
            <a:r>
              <a:rPr lang="zh-CN" altLang="en-US" b="0" dirty="0"/>
              <a:t>其中</a:t>
            </a:r>
            <a:r>
              <a:rPr lang="en-US" altLang="zh-CN" b="0" dirty="0"/>
              <a:t>J</a:t>
            </a:r>
            <a:r>
              <a:rPr lang="zh-CN" altLang="en-US" b="0" dirty="0"/>
              <a:t>是列数。</a:t>
            </a:r>
            <a:endParaRPr lang="en-US" altLang="zh-CN" b="0" dirty="0"/>
          </a:p>
          <a:p>
            <a:r>
              <a:rPr lang="en-US" altLang="zh-CN" dirty="0"/>
              <a:t>L(a[</a:t>
            </a:r>
            <a:r>
              <a:rPr lang="en-US" altLang="zh-CN" dirty="0" err="1"/>
              <a:t>i</a:t>
            </a:r>
            <a:r>
              <a:rPr lang="en-US" altLang="zh-CN" dirty="0"/>
              <a:t>][j])=L(a[0][0])+</a:t>
            </a:r>
            <a:r>
              <a:rPr lang="en-US" altLang="zh-CN" dirty="0" err="1"/>
              <a:t>i</a:t>
            </a:r>
            <a:r>
              <a:rPr lang="en-US" altLang="zh-CN" dirty="0"/>
              <a:t>*</a:t>
            </a:r>
            <a:r>
              <a:rPr lang="en-US" altLang="zh-CN" dirty="0" err="1"/>
              <a:t>J+j</a:t>
            </a:r>
            <a:r>
              <a:rPr lang="zh-CN" altLang="en-US" dirty="0"/>
              <a:t>，其中</a:t>
            </a:r>
            <a:r>
              <a:rPr lang="en-US" altLang="zh-CN" dirty="0"/>
              <a:t>J</a:t>
            </a:r>
            <a:r>
              <a:rPr lang="zh-CN" altLang="en-US" dirty="0"/>
              <a:t>是列数。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4070389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E86370-70E5-4F79-9B95-7C63C15EC3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三维数组元素地址的计算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FB91A15-2966-4186-AE44-4F79F961ED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295400"/>
            <a:ext cx="11582400" cy="5181600"/>
          </a:xfrm>
        </p:spPr>
        <p:txBody>
          <a:bodyPr/>
          <a:lstStyle/>
          <a:p>
            <a:r>
              <a:rPr lang="zh-CN" altLang="en-US" b="0" dirty="0"/>
              <a:t>求三维数组元素 </a:t>
            </a:r>
            <a:r>
              <a:rPr lang="en-US" altLang="zh-CN" b="0" dirty="0"/>
              <a:t>a[</a:t>
            </a:r>
            <a:r>
              <a:rPr lang="en-US" altLang="zh-CN" b="0" dirty="0" err="1"/>
              <a:t>i</a:t>
            </a:r>
            <a:r>
              <a:rPr lang="en-US" altLang="zh-CN" b="0" dirty="0"/>
              <a:t>][j][k] </a:t>
            </a:r>
            <a:r>
              <a:rPr lang="zh-CN" altLang="en-US" b="0" dirty="0"/>
              <a:t>的地址，其中，</a:t>
            </a:r>
            <a:r>
              <a:rPr lang="en-US" altLang="zh-CN" b="0" dirty="0" err="1"/>
              <a:t>i</a:t>
            </a:r>
            <a:r>
              <a:rPr lang="en-US" altLang="zh-CN" b="0" dirty="0"/>
              <a:t>&lt;</a:t>
            </a:r>
            <a:r>
              <a:rPr lang="en-US" altLang="zh-CN" dirty="0"/>
              <a:t>I</a:t>
            </a:r>
            <a:r>
              <a:rPr lang="zh-CN" altLang="en-US" b="0" dirty="0"/>
              <a:t>，</a:t>
            </a:r>
            <a:r>
              <a:rPr lang="en-US" altLang="zh-CN" b="0" dirty="0"/>
              <a:t>j&lt;</a:t>
            </a:r>
            <a:r>
              <a:rPr lang="en-US" altLang="zh-CN" dirty="0"/>
              <a:t>J</a:t>
            </a:r>
            <a:r>
              <a:rPr lang="zh-CN" altLang="en-US" b="0" dirty="0"/>
              <a:t>，</a:t>
            </a:r>
            <a:r>
              <a:rPr lang="en-US" altLang="zh-CN" b="0" dirty="0"/>
              <a:t>k&lt;</a:t>
            </a:r>
            <a:r>
              <a:rPr lang="en-US" altLang="zh-CN" dirty="0"/>
              <a:t>K</a:t>
            </a:r>
            <a:r>
              <a:rPr lang="zh-CN" altLang="en-US" b="0" dirty="0"/>
              <a:t>。</a:t>
            </a:r>
            <a:endParaRPr lang="en-US" altLang="zh-CN" b="0" dirty="0"/>
          </a:p>
          <a:p>
            <a:pPr marL="0" indent="0">
              <a:buNone/>
            </a:pPr>
            <a:r>
              <a:rPr lang="en-US" altLang="zh-CN" b="0" dirty="0"/>
              <a:t>   L(a[</a:t>
            </a:r>
            <a:r>
              <a:rPr lang="en-US" altLang="zh-CN" b="0" dirty="0" err="1"/>
              <a:t>i</a:t>
            </a:r>
            <a:r>
              <a:rPr lang="en-US" altLang="zh-CN" b="0" dirty="0"/>
              <a:t>])=L(a[0][0][0])+</a:t>
            </a:r>
            <a:r>
              <a:rPr lang="en-US" altLang="zh-CN" b="0" dirty="0" err="1"/>
              <a:t>i</a:t>
            </a:r>
            <a:r>
              <a:rPr lang="en-US" altLang="zh-CN" b="0" dirty="0"/>
              <a:t>*</a:t>
            </a:r>
            <a:r>
              <a:rPr lang="en-US" altLang="zh-CN" b="0" dirty="0" err="1"/>
              <a:t>sizeof</a:t>
            </a:r>
            <a:r>
              <a:rPr lang="en-US" altLang="zh-CN" b="0" dirty="0"/>
              <a:t>(</a:t>
            </a:r>
            <a:r>
              <a:rPr lang="zh-CN" altLang="en-US" b="0" dirty="0"/>
              <a:t>二维数组</a:t>
            </a:r>
            <a:r>
              <a:rPr lang="en-US" altLang="zh-CN" b="0" dirty="0"/>
              <a:t>)</a:t>
            </a:r>
          </a:p>
          <a:p>
            <a:pPr marL="0" indent="0">
              <a:buNone/>
            </a:pPr>
            <a:r>
              <a:rPr lang="en-US" altLang="zh-CN" b="0" dirty="0"/>
              <a:t>            =L(a[0][0][0])+</a:t>
            </a:r>
            <a:r>
              <a:rPr lang="en-US" altLang="zh-CN" b="0" dirty="0" err="1"/>
              <a:t>i</a:t>
            </a:r>
            <a:r>
              <a:rPr lang="en-US" altLang="zh-CN" b="0" dirty="0"/>
              <a:t>*</a:t>
            </a:r>
            <a:r>
              <a:rPr lang="en-US" altLang="zh-CN" dirty="0"/>
              <a:t>J</a:t>
            </a:r>
            <a:r>
              <a:rPr lang="en-US" altLang="zh-CN" b="0" dirty="0"/>
              <a:t>*</a:t>
            </a:r>
            <a:r>
              <a:rPr lang="en-US" altLang="zh-CN" dirty="0"/>
              <a:t>K</a:t>
            </a:r>
          </a:p>
          <a:p>
            <a:pPr marL="0" indent="0">
              <a:buNone/>
            </a:pPr>
            <a:r>
              <a:rPr lang="en-US" altLang="zh-CN" dirty="0"/>
              <a:t>   </a:t>
            </a:r>
            <a:r>
              <a:rPr lang="en-US" altLang="zh-CN" b="0" dirty="0"/>
              <a:t>L(a[</a:t>
            </a:r>
            <a:r>
              <a:rPr lang="en-US" altLang="zh-CN" b="0" dirty="0" err="1"/>
              <a:t>i</a:t>
            </a:r>
            <a:r>
              <a:rPr lang="en-US" altLang="zh-CN" b="0" dirty="0"/>
              <a:t>][j])=L(a[0][0][0])+</a:t>
            </a:r>
            <a:r>
              <a:rPr lang="en-US" altLang="zh-CN" b="0" dirty="0" err="1"/>
              <a:t>i</a:t>
            </a:r>
            <a:r>
              <a:rPr lang="en-US" altLang="zh-CN" b="0" dirty="0"/>
              <a:t>*</a:t>
            </a:r>
            <a:r>
              <a:rPr lang="en-US" altLang="zh-CN" dirty="0"/>
              <a:t>J</a:t>
            </a:r>
            <a:r>
              <a:rPr lang="en-US" altLang="zh-CN" b="0" dirty="0"/>
              <a:t>*</a:t>
            </a:r>
            <a:r>
              <a:rPr lang="en-US" altLang="zh-CN" dirty="0" err="1"/>
              <a:t>K</a:t>
            </a:r>
            <a:r>
              <a:rPr lang="en-US" altLang="zh-CN" b="0" dirty="0" err="1"/>
              <a:t>+j</a:t>
            </a:r>
            <a:r>
              <a:rPr lang="en-US" altLang="zh-CN" b="0" dirty="0"/>
              <a:t>*</a:t>
            </a:r>
            <a:r>
              <a:rPr lang="en-US" altLang="zh-CN" b="0" dirty="0" err="1"/>
              <a:t>sizeof</a:t>
            </a:r>
            <a:r>
              <a:rPr lang="en-US" altLang="zh-CN" b="0" dirty="0"/>
              <a:t>(</a:t>
            </a:r>
            <a:r>
              <a:rPr lang="zh-CN" altLang="en-US" b="0" dirty="0"/>
              <a:t>一维数组</a:t>
            </a:r>
            <a:r>
              <a:rPr lang="en-US" altLang="zh-CN" b="0" dirty="0"/>
              <a:t>)</a:t>
            </a:r>
          </a:p>
          <a:p>
            <a:pPr marL="0" indent="0">
              <a:buNone/>
            </a:pPr>
            <a:r>
              <a:rPr lang="en-US" altLang="zh-CN" b="0" dirty="0"/>
              <a:t>               =L(a[0][0][0])+</a:t>
            </a:r>
            <a:r>
              <a:rPr lang="en-US" altLang="zh-CN" b="0" dirty="0" err="1"/>
              <a:t>i</a:t>
            </a:r>
            <a:r>
              <a:rPr lang="en-US" altLang="zh-CN" b="0" dirty="0"/>
              <a:t>*</a:t>
            </a:r>
            <a:r>
              <a:rPr lang="en-US" altLang="zh-CN" dirty="0"/>
              <a:t>J</a:t>
            </a:r>
            <a:r>
              <a:rPr lang="en-US" altLang="zh-CN" b="0" dirty="0"/>
              <a:t>*</a:t>
            </a:r>
            <a:r>
              <a:rPr lang="en-US" altLang="zh-CN" dirty="0" err="1"/>
              <a:t>K</a:t>
            </a:r>
            <a:r>
              <a:rPr lang="en-US" altLang="zh-CN" b="0" dirty="0" err="1"/>
              <a:t>+j</a:t>
            </a:r>
            <a:r>
              <a:rPr lang="en-US" altLang="zh-CN" b="0" dirty="0"/>
              <a:t>*</a:t>
            </a:r>
            <a:r>
              <a:rPr lang="en-US" altLang="zh-CN" dirty="0"/>
              <a:t>K</a:t>
            </a:r>
          </a:p>
          <a:p>
            <a:pPr marL="0" indent="0">
              <a:buNone/>
            </a:pPr>
            <a:r>
              <a:rPr lang="zh-CN" altLang="en-US" b="0" dirty="0"/>
              <a:t>   </a:t>
            </a:r>
            <a:r>
              <a:rPr lang="en-US" altLang="zh-CN" dirty="0"/>
              <a:t>L(a[</a:t>
            </a:r>
            <a:r>
              <a:rPr lang="en-US" altLang="zh-CN" dirty="0" err="1"/>
              <a:t>i</a:t>
            </a:r>
            <a:r>
              <a:rPr lang="en-US" altLang="zh-CN" dirty="0"/>
              <a:t>][j][k])=L(a[0][0][0])+</a:t>
            </a:r>
            <a:r>
              <a:rPr lang="en-US" altLang="zh-CN" dirty="0" err="1"/>
              <a:t>i</a:t>
            </a:r>
            <a:r>
              <a:rPr lang="en-US" altLang="zh-CN" dirty="0"/>
              <a:t>*J*</a:t>
            </a:r>
            <a:r>
              <a:rPr lang="en-US" altLang="zh-CN" dirty="0" err="1"/>
              <a:t>K+j</a:t>
            </a:r>
            <a:r>
              <a:rPr lang="en-US" altLang="zh-CN" dirty="0"/>
              <a:t>*</a:t>
            </a:r>
            <a:r>
              <a:rPr lang="en-US" altLang="zh-CN" dirty="0" err="1"/>
              <a:t>K+k</a:t>
            </a:r>
            <a:endParaRPr lang="en-US" altLang="zh-CN" dirty="0"/>
          </a:p>
          <a:p>
            <a:r>
              <a:rPr lang="zh-CN" altLang="en-US" dirty="0">
                <a:solidFill>
                  <a:srgbClr val="FF0000"/>
                </a:solidFill>
              </a:rPr>
              <a:t>特别说明：</a:t>
            </a:r>
            <a:r>
              <a:rPr lang="zh-CN" altLang="en-US" b="0" dirty="0">
                <a:solidFill>
                  <a:srgbClr val="FF0000"/>
                </a:solidFill>
              </a:rPr>
              <a:t>教材中的数组下标从</a:t>
            </a:r>
            <a:r>
              <a:rPr lang="en-US" altLang="zh-CN" b="0" dirty="0">
                <a:solidFill>
                  <a:srgbClr val="FF0000"/>
                </a:solidFill>
              </a:rPr>
              <a:t>1</a:t>
            </a:r>
            <a:r>
              <a:rPr lang="zh-CN" altLang="en-US" b="0" dirty="0">
                <a:solidFill>
                  <a:srgbClr val="FF0000"/>
                </a:solidFill>
              </a:rPr>
              <a:t>开始，这里的下标从</a:t>
            </a:r>
            <a:r>
              <a:rPr lang="en-US" altLang="zh-CN" b="0" dirty="0">
                <a:solidFill>
                  <a:srgbClr val="FF0000"/>
                </a:solidFill>
              </a:rPr>
              <a:t>0</a:t>
            </a:r>
            <a:r>
              <a:rPr lang="zh-CN" altLang="en-US" b="0" dirty="0">
                <a:solidFill>
                  <a:srgbClr val="FF0000"/>
                </a:solidFill>
              </a:rPr>
              <a:t>开始。</a:t>
            </a:r>
            <a:endParaRPr lang="en-US" altLang="zh-CN" b="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73667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E86370-70E5-4F79-9B95-7C63C15EC3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 dirty="0"/>
              <a:t>三角矩阵     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FB91A15-2966-4186-AE44-4F79F961ED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676400"/>
            <a:ext cx="11582400" cy="5181600"/>
          </a:xfrm>
        </p:spPr>
        <p:txBody>
          <a:bodyPr/>
          <a:lstStyle/>
          <a:p>
            <a:r>
              <a:rPr lang="zh-CN" altLang="en-US" dirty="0"/>
              <a:t>下三角矩阵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压缩存储</a:t>
            </a:r>
            <a:endParaRPr lang="en-US" altLang="zh-CN" dirty="0"/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b="0" dirty="0"/>
              <a:t>   a[0][0], a[1][0], a[1][1], a[2][0], a[2][1], a[2][2], a[3][0], ……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b="0" dirty="0"/>
              <a:t>   b[0],     b[1],     b[2],     b[3],     b[4],     b[5],     b[6],    ……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表格 4">
                <a:extLst>
                  <a:ext uri="{FF2B5EF4-FFF2-40B4-BE49-F238E27FC236}">
                    <a16:creationId xmlns:a16="http://schemas.microsoft.com/office/drawing/2014/main" id="{5CCCA858-E73D-472E-82F4-54EA43AD5DA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41911139"/>
                  </p:ext>
                </p:extLst>
              </p:nvPr>
            </p:nvGraphicFramePr>
            <p:xfrm>
              <a:off x="4038600" y="990600"/>
              <a:ext cx="7467600" cy="4191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93520">
                      <a:extLst>
                        <a:ext uri="{9D8B030D-6E8A-4147-A177-3AD203B41FA5}">
                          <a16:colId xmlns:a16="http://schemas.microsoft.com/office/drawing/2014/main" val="2009984656"/>
                        </a:ext>
                      </a:extLst>
                    </a:gridCol>
                    <a:gridCol w="1493520">
                      <a:extLst>
                        <a:ext uri="{9D8B030D-6E8A-4147-A177-3AD203B41FA5}">
                          <a16:colId xmlns:a16="http://schemas.microsoft.com/office/drawing/2014/main" val="4006008795"/>
                        </a:ext>
                      </a:extLst>
                    </a:gridCol>
                    <a:gridCol w="1493520">
                      <a:extLst>
                        <a:ext uri="{9D8B030D-6E8A-4147-A177-3AD203B41FA5}">
                          <a16:colId xmlns:a16="http://schemas.microsoft.com/office/drawing/2014/main" val="1487393938"/>
                        </a:ext>
                      </a:extLst>
                    </a:gridCol>
                    <a:gridCol w="1120140">
                      <a:extLst>
                        <a:ext uri="{9D8B030D-6E8A-4147-A177-3AD203B41FA5}">
                          <a16:colId xmlns:a16="http://schemas.microsoft.com/office/drawing/2014/main" val="4031830923"/>
                        </a:ext>
                      </a:extLst>
                    </a:gridCol>
                    <a:gridCol w="1866900">
                      <a:extLst>
                        <a:ext uri="{9D8B030D-6E8A-4147-A177-3AD203B41FA5}">
                          <a16:colId xmlns:a16="http://schemas.microsoft.com/office/drawing/2014/main" val="1659399356"/>
                        </a:ext>
                      </a:extLst>
                    </a:gridCol>
                  </a:tblGrid>
                  <a:tr h="8382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3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CN" sz="3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3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200" b="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zh-CN" altLang="en-US" sz="3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200" b="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zh-CN" altLang="en-US" sz="3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200" b="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zh-CN" altLang="en-US" sz="3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zh-CN" altLang="en-US" sz="3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oMath>
                            </m:oMathPara>
                          </a14:m>
                          <a:endParaRPr lang="zh-CN" altLang="en-US" sz="3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502716804"/>
                      </a:ext>
                    </a:extLst>
                  </a:tr>
                  <a:tr h="8382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3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CN" sz="3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3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3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CN" sz="3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3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200" b="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zh-CN" altLang="en-US" sz="3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200" b="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zh-CN" altLang="en-US" sz="3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zh-CN" altLang="en-US" sz="3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oMath>
                            </m:oMathPara>
                          </a14:m>
                          <a:endParaRPr lang="zh-CN" altLang="en-US" sz="3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125904304"/>
                      </a:ext>
                    </a:extLst>
                  </a:tr>
                  <a:tr h="8382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3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CN" sz="3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3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3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CN" sz="3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3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3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CN" sz="3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3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200" b="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zh-CN" altLang="en-US" sz="3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zh-CN" altLang="en-US" sz="3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oMath>
                            </m:oMathPara>
                          </a14:m>
                          <a:endParaRPr lang="zh-CN" altLang="en-US" sz="3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993742028"/>
                      </a:ext>
                    </a:extLst>
                  </a:tr>
                  <a:tr h="8382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zh-CN" altLang="en-US" sz="3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zh-CN" altLang="en-US" sz="3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zh-CN" altLang="en-US" sz="3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zh-CN" altLang="en-US" sz="3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zh-CN" altLang="en-US" sz="3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zh-CN" altLang="en-US" sz="3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zh-CN" altLang="en-US" sz="3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zh-CN" altLang="en-US" sz="3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zh-CN" altLang="en-US" sz="3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zh-CN" altLang="en-US" sz="3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823220411"/>
                      </a:ext>
                    </a:extLst>
                  </a:tr>
                  <a:tr h="8382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3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CN" sz="3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altLang="zh-CN" sz="3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−1,0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3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3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CN" sz="3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altLang="zh-CN" sz="3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−1,1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3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3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CN" sz="3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altLang="zh-CN" sz="3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−1,2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3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zh-CN" altLang="en-US" sz="3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oMath>
                            </m:oMathPara>
                          </a14:m>
                          <a:endParaRPr lang="zh-CN" altLang="en-US" sz="3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3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CN" sz="3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altLang="zh-CN" sz="3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−1,</m:t>
                                    </m:r>
                                    <m:r>
                                      <a:rPr lang="en-US" altLang="zh-CN" sz="3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altLang="zh-CN" sz="3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3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67479518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表格 4">
                <a:extLst>
                  <a:ext uri="{FF2B5EF4-FFF2-40B4-BE49-F238E27FC236}">
                    <a16:creationId xmlns:a16="http://schemas.microsoft.com/office/drawing/2014/main" id="{5CCCA858-E73D-472E-82F4-54EA43AD5DA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41911139"/>
                  </p:ext>
                </p:extLst>
              </p:nvPr>
            </p:nvGraphicFramePr>
            <p:xfrm>
              <a:off x="4038600" y="990600"/>
              <a:ext cx="7467600" cy="4191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93520">
                      <a:extLst>
                        <a:ext uri="{9D8B030D-6E8A-4147-A177-3AD203B41FA5}">
                          <a16:colId xmlns:a16="http://schemas.microsoft.com/office/drawing/2014/main" val="2009984656"/>
                        </a:ext>
                      </a:extLst>
                    </a:gridCol>
                    <a:gridCol w="1493520">
                      <a:extLst>
                        <a:ext uri="{9D8B030D-6E8A-4147-A177-3AD203B41FA5}">
                          <a16:colId xmlns:a16="http://schemas.microsoft.com/office/drawing/2014/main" val="4006008795"/>
                        </a:ext>
                      </a:extLst>
                    </a:gridCol>
                    <a:gridCol w="1493520">
                      <a:extLst>
                        <a:ext uri="{9D8B030D-6E8A-4147-A177-3AD203B41FA5}">
                          <a16:colId xmlns:a16="http://schemas.microsoft.com/office/drawing/2014/main" val="1487393938"/>
                        </a:ext>
                      </a:extLst>
                    </a:gridCol>
                    <a:gridCol w="1120140">
                      <a:extLst>
                        <a:ext uri="{9D8B030D-6E8A-4147-A177-3AD203B41FA5}">
                          <a16:colId xmlns:a16="http://schemas.microsoft.com/office/drawing/2014/main" val="4031830923"/>
                        </a:ext>
                      </a:extLst>
                    </a:gridCol>
                    <a:gridCol w="1866900">
                      <a:extLst>
                        <a:ext uri="{9D8B030D-6E8A-4147-A177-3AD203B41FA5}">
                          <a16:colId xmlns:a16="http://schemas.microsoft.com/office/drawing/2014/main" val="1659399356"/>
                        </a:ext>
                      </a:extLst>
                    </a:gridCol>
                  </a:tblGrid>
                  <a:tr h="83820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408" t="-9420" r="-400816" b="-4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200" b="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zh-CN" altLang="en-US" sz="3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200" b="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zh-CN" altLang="en-US" sz="3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200" b="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zh-CN" altLang="en-US" sz="3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00980" t="-9420" r="-327" b="-4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02716804"/>
                      </a:ext>
                    </a:extLst>
                  </a:tr>
                  <a:tr h="83820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408" t="-110219" r="-400816" b="-30292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0408" t="-110219" r="-300816" b="-30292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200" b="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zh-CN" altLang="en-US" sz="3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200" b="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zh-CN" altLang="en-US" sz="3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00980" t="-110219" r="-327" b="-30292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25904304"/>
                      </a:ext>
                    </a:extLst>
                  </a:tr>
                  <a:tr h="83820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408" t="-208696" r="-400816" b="-2007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0408" t="-208696" r="-300816" b="-2007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99593" t="-208696" r="-199593" b="-2007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200" b="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zh-CN" altLang="en-US" sz="3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00980" t="-208696" r="-327" b="-20072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93742028"/>
                      </a:ext>
                    </a:extLst>
                  </a:tr>
                  <a:tr h="83820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408" t="-310949" r="-400816" b="-1021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0408" t="-310949" r="-300816" b="-1021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99593" t="-310949" r="-199593" b="-1021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400543" t="-310949" r="-166848" b="-1021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00980" t="-310949" r="-327" b="-1021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23220411"/>
                      </a:ext>
                    </a:extLst>
                  </a:tr>
                  <a:tr h="83820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408" t="-407971" r="-400816" b="-144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0408" t="-407971" r="-300816" b="-144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99593" t="-407971" r="-199593" b="-144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400543" t="-407971" r="-166848" b="-144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00980" t="-407971" r="-327" b="-144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74795189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3241486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E86370-70E5-4F79-9B95-7C63C15EC3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838200"/>
            <a:ext cx="10363200" cy="685800"/>
          </a:xfrm>
        </p:spPr>
        <p:txBody>
          <a:bodyPr/>
          <a:lstStyle/>
          <a:p>
            <a:pPr algn="l"/>
            <a:r>
              <a:rPr lang="zh-CN" altLang="en-US" dirty="0"/>
              <a:t>下三角矩阵</a:t>
            </a:r>
            <a:br>
              <a:rPr lang="en-US" altLang="zh-CN" dirty="0"/>
            </a:br>
            <a:r>
              <a:rPr lang="zh-CN" altLang="en-US" dirty="0"/>
              <a:t>地址转换     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FB91A15-2966-4186-AE44-4F79F961ED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295400"/>
            <a:ext cx="11582400" cy="5181600"/>
          </a:xfrm>
        </p:spPr>
        <p:txBody>
          <a:bodyPr/>
          <a:lstStyle/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pPr>
              <a:lnSpc>
                <a:spcPct val="120000"/>
              </a:lnSpc>
            </a:pPr>
            <a:endParaRPr lang="en-US" altLang="zh-CN" b="0" dirty="0"/>
          </a:p>
          <a:p>
            <a:pPr>
              <a:lnSpc>
                <a:spcPct val="120000"/>
              </a:lnSpc>
            </a:pPr>
            <a:r>
              <a:rPr lang="en-US" altLang="zh-CN" b="0" dirty="0"/>
              <a:t>a[</a:t>
            </a:r>
            <a:r>
              <a:rPr lang="en-US" altLang="zh-CN" b="0" dirty="0" err="1"/>
              <a:t>i</a:t>
            </a:r>
            <a:r>
              <a:rPr lang="en-US" altLang="zh-CN" b="0" dirty="0"/>
              <a:t>][0]=b[</a:t>
            </a:r>
            <a:r>
              <a:rPr lang="en-US" altLang="zh-CN" b="0" dirty="0" err="1"/>
              <a:t>i</a:t>
            </a:r>
            <a:r>
              <a:rPr lang="en-US" altLang="zh-CN" b="0" dirty="0"/>
              <a:t>(i+1)/2]</a:t>
            </a:r>
          </a:p>
          <a:p>
            <a:pPr>
              <a:lnSpc>
                <a:spcPct val="120000"/>
              </a:lnSpc>
            </a:pPr>
            <a:endParaRPr lang="en-US" altLang="zh-CN" b="0" dirty="0"/>
          </a:p>
          <a:p>
            <a:pPr>
              <a:lnSpc>
                <a:spcPct val="120000"/>
              </a:lnSpc>
            </a:pPr>
            <a:r>
              <a:rPr lang="zh-CN" altLang="en-US" dirty="0"/>
              <a:t>当</a:t>
            </a:r>
            <a:r>
              <a:rPr lang="en-US" altLang="zh-CN" dirty="0"/>
              <a:t> </a:t>
            </a:r>
            <a:r>
              <a:rPr lang="en-US" altLang="zh-CN" dirty="0" err="1"/>
              <a:t>i≥j</a:t>
            </a:r>
            <a:r>
              <a:rPr lang="en-US" altLang="zh-CN" dirty="0"/>
              <a:t> </a:t>
            </a:r>
            <a:r>
              <a:rPr lang="zh-CN" altLang="en-US" dirty="0"/>
              <a:t>时，</a:t>
            </a:r>
            <a:r>
              <a:rPr lang="en-US" altLang="zh-CN" dirty="0"/>
              <a:t>a[</a:t>
            </a:r>
            <a:r>
              <a:rPr lang="en-US" altLang="zh-CN" dirty="0" err="1"/>
              <a:t>i</a:t>
            </a:r>
            <a:r>
              <a:rPr lang="en-US" altLang="zh-CN" dirty="0"/>
              <a:t>][j]=b[</a:t>
            </a:r>
            <a:r>
              <a:rPr lang="en-US" altLang="zh-CN" dirty="0" err="1"/>
              <a:t>i</a:t>
            </a:r>
            <a:r>
              <a:rPr lang="en-US" altLang="zh-CN" dirty="0"/>
              <a:t>*(i+1)/2+j]</a:t>
            </a:r>
            <a:r>
              <a:rPr lang="zh-CN" altLang="en-US" dirty="0"/>
              <a:t>；</a:t>
            </a:r>
            <a:endParaRPr lang="en-US" altLang="zh-CN" dirty="0"/>
          </a:p>
          <a:p>
            <a:pPr>
              <a:lnSpc>
                <a:spcPct val="120000"/>
              </a:lnSpc>
            </a:pPr>
            <a:r>
              <a:rPr lang="zh-CN" altLang="en-US" dirty="0"/>
              <a:t>当 </a:t>
            </a:r>
            <a:r>
              <a:rPr lang="en-US" altLang="zh-CN" dirty="0" err="1"/>
              <a:t>i</a:t>
            </a:r>
            <a:r>
              <a:rPr lang="en-US" altLang="zh-CN" dirty="0"/>
              <a:t>&lt;j </a:t>
            </a:r>
            <a:r>
              <a:rPr lang="zh-CN" altLang="en-US" dirty="0"/>
              <a:t>时，</a:t>
            </a:r>
            <a:r>
              <a:rPr lang="en-US" altLang="zh-CN" dirty="0"/>
              <a:t>a[</a:t>
            </a:r>
            <a:r>
              <a:rPr lang="en-US" altLang="zh-CN" dirty="0" err="1"/>
              <a:t>i</a:t>
            </a:r>
            <a:r>
              <a:rPr lang="en-US" altLang="zh-CN" dirty="0"/>
              <a:t>][j]=0</a:t>
            </a:r>
            <a:r>
              <a:rPr lang="zh-CN" altLang="en-US" dirty="0"/>
              <a:t>。</a:t>
            </a:r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表格 4">
                <a:extLst>
                  <a:ext uri="{FF2B5EF4-FFF2-40B4-BE49-F238E27FC236}">
                    <a16:creationId xmlns:a16="http://schemas.microsoft.com/office/drawing/2014/main" id="{5CCCA858-E73D-472E-82F4-54EA43AD5DA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22923191"/>
                  </p:ext>
                </p:extLst>
              </p:nvPr>
            </p:nvGraphicFramePr>
            <p:xfrm>
              <a:off x="4800600" y="457200"/>
              <a:ext cx="6781800" cy="4572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56360">
                      <a:extLst>
                        <a:ext uri="{9D8B030D-6E8A-4147-A177-3AD203B41FA5}">
                          <a16:colId xmlns:a16="http://schemas.microsoft.com/office/drawing/2014/main" val="2009984656"/>
                        </a:ext>
                      </a:extLst>
                    </a:gridCol>
                    <a:gridCol w="1356360">
                      <a:extLst>
                        <a:ext uri="{9D8B030D-6E8A-4147-A177-3AD203B41FA5}">
                          <a16:colId xmlns:a16="http://schemas.microsoft.com/office/drawing/2014/main" val="4006008795"/>
                        </a:ext>
                      </a:extLst>
                    </a:gridCol>
                    <a:gridCol w="1356360">
                      <a:extLst>
                        <a:ext uri="{9D8B030D-6E8A-4147-A177-3AD203B41FA5}">
                          <a16:colId xmlns:a16="http://schemas.microsoft.com/office/drawing/2014/main" val="1487393938"/>
                        </a:ext>
                      </a:extLst>
                    </a:gridCol>
                    <a:gridCol w="1017270">
                      <a:extLst>
                        <a:ext uri="{9D8B030D-6E8A-4147-A177-3AD203B41FA5}">
                          <a16:colId xmlns:a16="http://schemas.microsoft.com/office/drawing/2014/main" val="4031830923"/>
                        </a:ext>
                      </a:extLst>
                    </a:gridCol>
                    <a:gridCol w="1695450">
                      <a:extLst>
                        <a:ext uri="{9D8B030D-6E8A-4147-A177-3AD203B41FA5}">
                          <a16:colId xmlns:a16="http://schemas.microsoft.com/office/drawing/2014/main" val="1659399356"/>
                        </a:ext>
                      </a:extLst>
                    </a:gridCol>
                  </a:tblGrid>
                  <a:tr h="7620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3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CN" sz="3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3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200" b="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zh-CN" altLang="en-US" sz="3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200" b="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zh-CN" altLang="en-US" sz="3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200" b="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zh-CN" altLang="en-US" sz="3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zh-CN" altLang="en-US" sz="3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oMath>
                            </m:oMathPara>
                          </a14:m>
                          <a:endParaRPr lang="zh-CN" altLang="en-US" sz="3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502716804"/>
                      </a:ext>
                    </a:extLst>
                  </a:tr>
                  <a:tr h="7620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3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CN" sz="3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3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3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CN" sz="3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3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200" b="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zh-CN" altLang="en-US" sz="3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200" b="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zh-CN" altLang="en-US" sz="3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zh-CN" altLang="en-US" sz="3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oMath>
                            </m:oMathPara>
                          </a14:m>
                          <a:endParaRPr lang="zh-CN" altLang="en-US" sz="3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125904304"/>
                      </a:ext>
                    </a:extLst>
                  </a:tr>
                  <a:tr h="7620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3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CN" sz="3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3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3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CN" sz="3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3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3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CN" sz="3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3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200" b="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zh-CN" altLang="en-US" sz="3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zh-CN" altLang="en-US" sz="3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oMath>
                            </m:oMathPara>
                          </a14:m>
                          <a:endParaRPr lang="zh-CN" altLang="en-US" sz="3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993742028"/>
                      </a:ext>
                    </a:extLst>
                  </a:tr>
                  <a:tr h="7620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zh-CN" altLang="en-US" sz="3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zh-CN" altLang="en-US" sz="3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zh-CN" altLang="en-US" sz="3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zh-CN" altLang="en-US" sz="3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zh-CN" altLang="en-US" sz="3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zh-CN" altLang="en-US" sz="3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zh-CN" altLang="en-US" sz="3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zh-CN" altLang="en-US" sz="3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zh-CN" altLang="en-US" sz="3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zh-CN" altLang="en-US" sz="3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823220411"/>
                      </a:ext>
                    </a:extLst>
                  </a:tr>
                  <a:tr h="7620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3200" b="1" i="1" smtClean="0">
                                        <a:solidFill>
                                          <a:schemeClr val="accent2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200" b="1" i="1" smtClean="0">
                                        <a:solidFill>
                                          <a:schemeClr val="accent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𝒂</m:t>
                                    </m:r>
                                  </m:e>
                                  <m:sub>
                                    <m:r>
                                      <a:rPr lang="en-US" altLang="zh-CN" sz="3200" b="1" i="1" smtClean="0">
                                        <a:solidFill>
                                          <a:schemeClr val="accent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  <m:r>
                                      <a:rPr lang="en-US" altLang="zh-CN" sz="3200" b="1" i="1" smtClean="0">
                                        <a:solidFill>
                                          <a:schemeClr val="accent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zh-CN" sz="3200" b="1" i="1" smtClean="0">
                                        <a:solidFill>
                                          <a:schemeClr val="accent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32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3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CN" sz="3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altLang="zh-CN" sz="3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3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3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CN" sz="3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altLang="zh-CN" sz="3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3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zh-CN" altLang="en-US" sz="3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oMath>
                            </m:oMathPara>
                          </a14:m>
                          <a:endParaRPr lang="zh-CN" altLang="en-US" sz="3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3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CN" sz="3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altLang="zh-CN" sz="3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zh-CN" sz="3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3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674795189"/>
                      </a:ext>
                    </a:extLst>
                  </a:tr>
                  <a:tr h="7620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zh-CN" altLang="en-US" sz="3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zh-CN" altLang="en-US" sz="3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zh-CN" altLang="en-US" sz="3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zh-CN" altLang="en-US" sz="3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zh-CN" altLang="en-US" sz="3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zh-CN" altLang="en-US" sz="3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zh-CN" altLang="en-US" sz="3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zh-CN" altLang="en-US" sz="3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zh-CN" altLang="en-US" sz="3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zh-CN" altLang="en-US" sz="3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628697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表格 4">
                <a:extLst>
                  <a:ext uri="{FF2B5EF4-FFF2-40B4-BE49-F238E27FC236}">
                    <a16:creationId xmlns:a16="http://schemas.microsoft.com/office/drawing/2014/main" id="{5CCCA858-E73D-472E-82F4-54EA43AD5DA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22923191"/>
                  </p:ext>
                </p:extLst>
              </p:nvPr>
            </p:nvGraphicFramePr>
            <p:xfrm>
              <a:off x="4800600" y="457200"/>
              <a:ext cx="6781800" cy="4572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56360">
                      <a:extLst>
                        <a:ext uri="{9D8B030D-6E8A-4147-A177-3AD203B41FA5}">
                          <a16:colId xmlns:a16="http://schemas.microsoft.com/office/drawing/2014/main" val="2009984656"/>
                        </a:ext>
                      </a:extLst>
                    </a:gridCol>
                    <a:gridCol w="1356360">
                      <a:extLst>
                        <a:ext uri="{9D8B030D-6E8A-4147-A177-3AD203B41FA5}">
                          <a16:colId xmlns:a16="http://schemas.microsoft.com/office/drawing/2014/main" val="4006008795"/>
                        </a:ext>
                      </a:extLst>
                    </a:gridCol>
                    <a:gridCol w="1356360">
                      <a:extLst>
                        <a:ext uri="{9D8B030D-6E8A-4147-A177-3AD203B41FA5}">
                          <a16:colId xmlns:a16="http://schemas.microsoft.com/office/drawing/2014/main" val="1487393938"/>
                        </a:ext>
                      </a:extLst>
                    </a:gridCol>
                    <a:gridCol w="1017270">
                      <a:extLst>
                        <a:ext uri="{9D8B030D-6E8A-4147-A177-3AD203B41FA5}">
                          <a16:colId xmlns:a16="http://schemas.microsoft.com/office/drawing/2014/main" val="4031830923"/>
                        </a:ext>
                      </a:extLst>
                    </a:gridCol>
                    <a:gridCol w="1695450">
                      <a:extLst>
                        <a:ext uri="{9D8B030D-6E8A-4147-A177-3AD203B41FA5}">
                          <a16:colId xmlns:a16="http://schemas.microsoft.com/office/drawing/2014/main" val="1659399356"/>
                        </a:ext>
                      </a:extLst>
                    </a:gridCol>
                  </a:tblGrid>
                  <a:tr h="76200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448" t="-11200" r="-400000" b="-5016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200" b="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zh-CN" altLang="en-US" sz="3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200" b="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zh-CN" altLang="en-US" sz="3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200" b="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zh-CN" altLang="en-US" sz="3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00719" t="-11200" r="-719" b="-5016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02716804"/>
                      </a:ext>
                    </a:extLst>
                  </a:tr>
                  <a:tr h="76200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448" t="-111200" r="-400000" b="-4016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0901" t="-111200" r="-301802" b="-4016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200" b="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zh-CN" altLang="en-US" sz="3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200" b="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zh-CN" altLang="en-US" sz="3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00719" t="-111200" r="-719" b="-4016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25904304"/>
                      </a:ext>
                    </a:extLst>
                  </a:tr>
                  <a:tr h="76200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448" t="-211200" r="-400000" b="-3016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0901" t="-211200" r="-301802" b="-3016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0000" t="-211200" r="-200448" b="-3016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200" b="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zh-CN" altLang="en-US" sz="3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00719" t="-211200" r="-719" b="-3016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93742028"/>
                      </a:ext>
                    </a:extLst>
                  </a:tr>
                  <a:tr h="76200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448" t="-311200" r="-400000" b="-2016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0901" t="-311200" r="-301802" b="-2016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0000" t="-311200" r="-200448" b="-2016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400599" t="-311200" r="-167665" b="-2016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00719" t="-311200" r="-719" b="-2016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23220411"/>
                      </a:ext>
                    </a:extLst>
                  </a:tr>
                  <a:tr h="76200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448" t="-411200" r="-400000" b="-1016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0901" t="-411200" r="-301802" b="-1016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0000" t="-411200" r="-200448" b="-1016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400599" t="-411200" r="-167665" b="-1016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00719" t="-411200" r="-719" b="-1016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74795189"/>
                      </a:ext>
                    </a:extLst>
                  </a:tr>
                  <a:tr h="76200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448" t="-511200" r="-400000" b="-16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0901" t="-511200" r="-301802" b="-16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0000" t="-511200" r="-200448" b="-16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400599" t="-511200" r="-167665" b="-16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00719" t="-511200" r="-719" b="-16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6286970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7825805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E86370-70E5-4F79-9B95-7C63C15EC3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 dirty="0"/>
              <a:t>带状矩阵     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FB91A15-2966-4186-AE44-4F79F961ED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066800"/>
            <a:ext cx="11887200" cy="5181600"/>
          </a:xfrm>
        </p:spPr>
        <p:txBody>
          <a:bodyPr/>
          <a:lstStyle/>
          <a:p>
            <a:r>
              <a:rPr lang="zh-CN" altLang="en-US" dirty="0"/>
              <a:t>三对角带状矩阵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压缩存储</a:t>
            </a:r>
            <a:endParaRPr lang="en-US" altLang="zh-CN" dirty="0"/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b="0" dirty="0"/>
              <a:t>a[0][0], a[0][1], a[1][0], a[1][1], a[1][2], a[2][1], …, a[n-1][n-1]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b="0" dirty="0"/>
              <a:t>b[0],     b[1],     b[2],     b[3],     b[4],     b[5],     …, b[3n-3]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表格 5">
                <a:extLst>
                  <a:ext uri="{FF2B5EF4-FFF2-40B4-BE49-F238E27FC236}">
                    <a16:creationId xmlns:a16="http://schemas.microsoft.com/office/drawing/2014/main" id="{E679B40F-B5F2-47DB-95D1-B478191F348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25227024"/>
                  </p:ext>
                </p:extLst>
              </p:nvPr>
            </p:nvGraphicFramePr>
            <p:xfrm>
              <a:off x="3657600" y="457200"/>
              <a:ext cx="8381999" cy="495299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79181">
                      <a:extLst>
                        <a:ext uri="{9D8B030D-6E8A-4147-A177-3AD203B41FA5}">
                          <a16:colId xmlns:a16="http://schemas.microsoft.com/office/drawing/2014/main" val="290348235"/>
                        </a:ext>
                      </a:extLst>
                    </a:gridCol>
                    <a:gridCol w="1179181">
                      <a:extLst>
                        <a:ext uri="{9D8B030D-6E8A-4147-A177-3AD203B41FA5}">
                          <a16:colId xmlns:a16="http://schemas.microsoft.com/office/drawing/2014/main" val="1549004755"/>
                        </a:ext>
                      </a:extLst>
                    </a:gridCol>
                    <a:gridCol w="1179181">
                      <a:extLst>
                        <a:ext uri="{9D8B030D-6E8A-4147-A177-3AD203B41FA5}">
                          <a16:colId xmlns:a16="http://schemas.microsoft.com/office/drawing/2014/main" val="3624733910"/>
                        </a:ext>
                      </a:extLst>
                    </a:gridCol>
                    <a:gridCol w="1036251">
                      <a:extLst>
                        <a:ext uri="{9D8B030D-6E8A-4147-A177-3AD203B41FA5}">
                          <a16:colId xmlns:a16="http://schemas.microsoft.com/office/drawing/2014/main" val="3233845890"/>
                        </a:ext>
                      </a:extLst>
                    </a:gridCol>
                    <a:gridCol w="1778878">
                      <a:extLst>
                        <a:ext uri="{9D8B030D-6E8A-4147-A177-3AD203B41FA5}">
                          <a16:colId xmlns:a16="http://schemas.microsoft.com/office/drawing/2014/main" val="279117074"/>
                        </a:ext>
                      </a:extLst>
                    </a:gridCol>
                    <a:gridCol w="2029327">
                      <a:extLst>
                        <a:ext uri="{9D8B030D-6E8A-4147-A177-3AD203B41FA5}">
                          <a16:colId xmlns:a16="http://schemas.microsoft.com/office/drawing/2014/main" val="24254956"/>
                        </a:ext>
                      </a:extLst>
                    </a:gridCol>
                  </a:tblGrid>
                  <a:tr h="820447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3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CN" sz="3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3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3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CN" sz="3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3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3200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3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3200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3200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78500726"/>
                      </a:ext>
                    </a:extLst>
                  </a:tr>
                  <a:tr h="820447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3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CN" sz="3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3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3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CN" sz="3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3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3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CN" sz="3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3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3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3200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3200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896166555"/>
                      </a:ext>
                    </a:extLst>
                  </a:tr>
                  <a:tr h="820447"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3200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3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CN" sz="3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3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3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CN" sz="3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3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3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CN" sz="3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3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3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3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297378390"/>
                      </a:ext>
                    </a:extLst>
                  </a:tr>
                  <a:tr h="820447"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3200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3200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3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CN" sz="3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3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3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CN" sz="3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3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3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CN" sz="3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3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3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849773544"/>
                      </a:ext>
                    </a:extLst>
                  </a:tr>
                  <a:tr h="820447"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3200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3200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3200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zh-CN" altLang="en-US" sz="3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oMath>
                            </m:oMathPara>
                          </a14:m>
                          <a:endParaRPr lang="zh-CN" altLang="en-US" sz="3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zh-CN" altLang="en-US" sz="3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oMath>
                            </m:oMathPara>
                          </a14:m>
                          <a:endParaRPr lang="zh-CN" altLang="en-US" sz="3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zh-CN" altLang="en-US" sz="3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oMath>
                            </m:oMathPara>
                          </a14:m>
                          <a:endParaRPr lang="zh-CN" altLang="en-US" sz="3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2404163"/>
                      </a:ext>
                    </a:extLst>
                  </a:tr>
                  <a:tr h="850764"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3200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3200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3200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3200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3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CN" sz="3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altLang="zh-CN" sz="3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−1,</m:t>
                                    </m:r>
                                    <m:r>
                                      <a:rPr lang="en-US" altLang="zh-CN" sz="3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altLang="zh-CN" sz="3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3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3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CN" sz="3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altLang="zh-CN" sz="3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−1,</m:t>
                                    </m:r>
                                    <m:r>
                                      <a:rPr lang="en-US" altLang="zh-CN" sz="3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altLang="zh-CN" sz="3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3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81336767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表格 5">
                <a:extLst>
                  <a:ext uri="{FF2B5EF4-FFF2-40B4-BE49-F238E27FC236}">
                    <a16:creationId xmlns:a16="http://schemas.microsoft.com/office/drawing/2014/main" id="{E679B40F-B5F2-47DB-95D1-B478191F348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25227024"/>
                  </p:ext>
                </p:extLst>
              </p:nvPr>
            </p:nvGraphicFramePr>
            <p:xfrm>
              <a:off x="3657600" y="457200"/>
              <a:ext cx="8381999" cy="495299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79181">
                      <a:extLst>
                        <a:ext uri="{9D8B030D-6E8A-4147-A177-3AD203B41FA5}">
                          <a16:colId xmlns:a16="http://schemas.microsoft.com/office/drawing/2014/main" val="290348235"/>
                        </a:ext>
                      </a:extLst>
                    </a:gridCol>
                    <a:gridCol w="1179181">
                      <a:extLst>
                        <a:ext uri="{9D8B030D-6E8A-4147-A177-3AD203B41FA5}">
                          <a16:colId xmlns:a16="http://schemas.microsoft.com/office/drawing/2014/main" val="1549004755"/>
                        </a:ext>
                      </a:extLst>
                    </a:gridCol>
                    <a:gridCol w="1179181">
                      <a:extLst>
                        <a:ext uri="{9D8B030D-6E8A-4147-A177-3AD203B41FA5}">
                          <a16:colId xmlns:a16="http://schemas.microsoft.com/office/drawing/2014/main" val="3624733910"/>
                        </a:ext>
                      </a:extLst>
                    </a:gridCol>
                    <a:gridCol w="1036251">
                      <a:extLst>
                        <a:ext uri="{9D8B030D-6E8A-4147-A177-3AD203B41FA5}">
                          <a16:colId xmlns:a16="http://schemas.microsoft.com/office/drawing/2014/main" val="3233845890"/>
                        </a:ext>
                      </a:extLst>
                    </a:gridCol>
                    <a:gridCol w="1778878">
                      <a:extLst>
                        <a:ext uri="{9D8B030D-6E8A-4147-A177-3AD203B41FA5}">
                          <a16:colId xmlns:a16="http://schemas.microsoft.com/office/drawing/2014/main" val="279117074"/>
                        </a:ext>
                      </a:extLst>
                    </a:gridCol>
                    <a:gridCol w="2029327">
                      <a:extLst>
                        <a:ext uri="{9D8B030D-6E8A-4147-A177-3AD203B41FA5}">
                          <a16:colId xmlns:a16="http://schemas.microsoft.com/office/drawing/2014/main" val="24254956"/>
                        </a:ext>
                      </a:extLst>
                    </a:gridCol>
                  </a:tblGrid>
                  <a:tr h="820447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36" r="-613472" b="-5029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0515" r="-510309" b="-5029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3200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3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3200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3200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78500726"/>
                      </a:ext>
                    </a:extLst>
                  </a:tr>
                  <a:tr h="820447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36" t="-100746" r="-613472" b="-40671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0515" t="-100746" r="-510309" b="-40671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1554" t="-100746" r="-412953" b="-40671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3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3200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3200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896166555"/>
                      </a:ext>
                    </a:extLst>
                  </a:tr>
                  <a:tr h="820447"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3200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0515" t="-199259" r="-510309" b="-30370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1554" t="-199259" r="-412953" b="-30370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42353" t="-199259" r="-368824" b="-30370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3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3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297378390"/>
                      </a:ext>
                    </a:extLst>
                  </a:tr>
                  <a:tr h="820447"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3200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3200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1554" t="-299259" r="-412953" b="-20370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42353" t="-299259" r="-368824" b="-20370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57534" t="-299259" r="-114726" b="-20370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3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849773544"/>
                      </a:ext>
                    </a:extLst>
                  </a:tr>
                  <a:tr h="820447"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3200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3200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3200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42353" t="-402239" r="-368824" b="-1052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57534" t="-402239" r="-114726" b="-1052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13514" t="-402239" r="-601" b="-1052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404163"/>
                      </a:ext>
                    </a:extLst>
                  </a:tr>
                  <a:tr h="850764"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3200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3200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3200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3200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57534" t="-480714" r="-114726" b="-7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13514" t="-480714" r="-601" b="-71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1336767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0084214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E86370-70E5-4F79-9B95-7C63C15EC3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838200"/>
            <a:ext cx="10363200" cy="685800"/>
          </a:xfrm>
        </p:spPr>
        <p:txBody>
          <a:bodyPr/>
          <a:lstStyle/>
          <a:p>
            <a:pPr algn="l"/>
            <a:r>
              <a:rPr lang="zh-CN" altLang="en-US" dirty="0"/>
              <a:t>带状矩阵</a:t>
            </a:r>
            <a:br>
              <a:rPr lang="en-US" altLang="zh-CN" dirty="0"/>
            </a:br>
            <a:r>
              <a:rPr lang="zh-CN" altLang="en-US" dirty="0"/>
              <a:t>地址转换     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FB91A15-2966-4186-AE44-4F79F961ED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295400"/>
            <a:ext cx="11887200" cy="5181600"/>
          </a:xfrm>
        </p:spPr>
        <p:txBody>
          <a:bodyPr/>
          <a:lstStyle/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en-US" altLang="zh-CN" b="0" dirty="0"/>
              <a:t>a[</a:t>
            </a:r>
            <a:r>
              <a:rPr lang="en-US" altLang="zh-CN" b="0" dirty="0" err="1"/>
              <a:t>i</a:t>
            </a:r>
            <a:r>
              <a:rPr lang="en-US" altLang="zh-CN" b="0" dirty="0"/>
              <a:t>][</a:t>
            </a:r>
            <a:r>
              <a:rPr lang="en-US" altLang="zh-CN" b="0" dirty="0" err="1"/>
              <a:t>i</a:t>
            </a:r>
            <a:r>
              <a:rPr lang="en-US" altLang="zh-CN" b="0" dirty="0"/>
              <a:t>]=b[3i]</a:t>
            </a:r>
          </a:p>
          <a:p>
            <a:r>
              <a:rPr lang="en-US" altLang="zh-CN" b="0" dirty="0"/>
              <a:t>a[</a:t>
            </a:r>
            <a:r>
              <a:rPr lang="en-US" altLang="zh-CN" b="0" dirty="0" err="1">
                <a:solidFill>
                  <a:srgbClr val="FF0000"/>
                </a:solidFill>
              </a:rPr>
              <a:t>i</a:t>
            </a:r>
            <a:r>
              <a:rPr lang="en-US" altLang="zh-CN" b="0" dirty="0"/>
              <a:t>][</a:t>
            </a:r>
            <a:r>
              <a:rPr lang="en-US" altLang="zh-CN" b="0" dirty="0" err="1">
                <a:solidFill>
                  <a:schemeClr val="accent2"/>
                </a:solidFill>
              </a:rPr>
              <a:t>i</a:t>
            </a:r>
            <a:r>
              <a:rPr lang="en-US" altLang="zh-CN" b="0" dirty="0"/>
              <a:t>]=b[2</a:t>
            </a:r>
            <a:r>
              <a:rPr lang="en-US" altLang="zh-CN" b="0" dirty="0">
                <a:solidFill>
                  <a:srgbClr val="FF0000"/>
                </a:solidFill>
              </a:rPr>
              <a:t>i</a:t>
            </a:r>
            <a:r>
              <a:rPr lang="en-US" altLang="zh-CN" b="0" dirty="0"/>
              <a:t>+</a:t>
            </a:r>
            <a:r>
              <a:rPr lang="en-US" altLang="zh-CN" b="0" dirty="0">
                <a:solidFill>
                  <a:schemeClr val="accent2"/>
                </a:solidFill>
              </a:rPr>
              <a:t>i</a:t>
            </a:r>
            <a:r>
              <a:rPr lang="en-US" altLang="zh-CN" b="0" dirty="0"/>
              <a:t>], a[</a:t>
            </a:r>
            <a:r>
              <a:rPr lang="en-US" altLang="zh-CN" b="0" dirty="0" err="1">
                <a:solidFill>
                  <a:srgbClr val="FF0000"/>
                </a:solidFill>
              </a:rPr>
              <a:t>i</a:t>
            </a:r>
            <a:r>
              <a:rPr lang="en-US" altLang="zh-CN" b="0" dirty="0"/>
              <a:t>][</a:t>
            </a:r>
            <a:r>
              <a:rPr lang="en-US" altLang="zh-CN" b="0" dirty="0">
                <a:solidFill>
                  <a:schemeClr val="accent2"/>
                </a:solidFill>
              </a:rPr>
              <a:t>i-1</a:t>
            </a:r>
            <a:r>
              <a:rPr lang="en-US" altLang="zh-CN" b="0" dirty="0"/>
              <a:t>]=b[2</a:t>
            </a:r>
            <a:r>
              <a:rPr lang="en-US" altLang="zh-CN" b="0" dirty="0">
                <a:solidFill>
                  <a:srgbClr val="FF0000"/>
                </a:solidFill>
              </a:rPr>
              <a:t>i</a:t>
            </a:r>
            <a:r>
              <a:rPr lang="en-US" altLang="zh-CN" b="0" dirty="0"/>
              <a:t>+</a:t>
            </a:r>
            <a:r>
              <a:rPr lang="en-US" altLang="zh-CN" b="0" dirty="0">
                <a:solidFill>
                  <a:schemeClr val="accent2"/>
                </a:solidFill>
              </a:rPr>
              <a:t>i-1</a:t>
            </a:r>
            <a:r>
              <a:rPr lang="en-US" altLang="zh-CN" b="0" dirty="0"/>
              <a:t>], a[</a:t>
            </a:r>
            <a:r>
              <a:rPr lang="en-US" altLang="zh-CN" b="0" dirty="0" err="1">
                <a:solidFill>
                  <a:srgbClr val="FF0000"/>
                </a:solidFill>
              </a:rPr>
              <a:t>i</a:t>
            </a:r>
            <a:r>
              <a:rPr lang="en-US" altLang="zh-CN" b="0" dirty="0"/>
              <a:t>][</a:t>
            </a:r>
            <a:r>
              <a:rPr lang="en-US" altLang="zh-CN" b="0" dirty="0">
                <a:solidFill>
                  <a:schemeClr val="accent2"/>
                </a:solidFill>
              </a:rPr>
              <a:t>i+1</a:t>
            </a:r>
            <a:r>
              <a:rPr lang="en-US" altLang="zh-CN" b="0" dirty="0"/>
              <a:t>]=b[2</a:t>
            </a:r>
            <a:r>
              <a:rPr lang="en-US" altLang="zh-CN" b="0" dirty="0">
                <a:solidFill>
                  <a:srgbClr val="FF0000"/>
                </a:solidFill>
              </a:rPr>
              <a:t>i</a:t>
            </a:r>
            <a:r>
              <a:rPr lang="en-US" altLang="zh-CN" b="0" dirty="0"/>
              <a:t>+</a:t>
            </a:r>
            <a:r>
              <a:rPr lang="en-US" altLang="zh-CN" b="0" dirty="0">
                <a:solidFill>
                  <a:schemeClr val="accent2"/>
                </a:solidFill>
              </a:rPr>
              <a:t>i+1</a:t>
            </a:r>
            <a:r>
              <a:rPr lang="en-US" altLang="zh-CN" b="0" dirty="0"/>
              <a:t>]</a:t>
            </a:r>
          </a:p>
          <a:p>
            <a:r>
              <a:rPr lang="en-US" altLang="zh-CN" dirty="0"/>
              <a:t>a[</a:t>
            </a:r>
            <a:r>
              <a:rPr lang="en-US" altLang="zh-CN" dirty="0" err="1">
                <a:solidFill>
                  <a:srgbClr val="FF0000"/>
                </a:solidFill>
              </a:rPr>
              <a:t>i</a:t>
            </a:r>
            <a:r>
              <a:rPr lang="en-US" altLang="zh-CN" dirty="0"/>
              <a:t>][</a:t>
            </a:r>
            <a:r>
              <a:rPr lang="en-US" altLang="zh-CN" dirty="0">
                <a:solidFill>
                  <a:schemeClr val="accent2"/>
                </a:solidFill>
              </a:rPr>
              <a:t>j</a:t>
            </a:r>
            <a:r>
              <a:rPr lang="en-US" altLang="zh-CN" dirty="0"/>
              <a:t>]=b[2</a:t>
            </a:r>
            <a:r>
              <a:rPr lang="en-US" altLang="zh-CN" dirty="0">
                <a:solidFill>
                  <a:srgbClr val="FF0000"/>
                </a:solidFill>
              </a:rPr>
              <a:t>i</a:t>
            </a:r>
            <a:r>
              <a:rPr lang="en-US" altLang="zh-CN" dirty="0"/>
              <a:t>+</a:t>
            </a:r>
            <a:r>
              <a:rPr lang="en-US" altLang="zh-CN" dirty="0">
                <a:solidFill>
                  <a:schemeClr val="accent2"/>
                </a:solidFill>
              </a:rPr>
              <a:t>j</a:t>
            </a:r>
            <a:r>
              <a:rPr lang="en-US" altLang="zh-CN" dirty="0"/>
              <a:t>]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表格 5">
                <a:extLst>
                  <a:ext uri="{FF2B5EF4-FFF2-40B4-BE49-F238E27FC236}">
                    <a16:creationId xmlns:a16="http://schemas.microsoft.com/office/drawing/2014/main" id="{E679B40F-B5F2-47DB-95D1-B478191F348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86925944"/>
                  </p:ext>
                </p:extLst>
              </p:nvPr>
            </p:nvGraphicFramePr>
            <p:xfrm>
              <a:off x="3809999" y="457200"/>
              <a:ext cx="7820610" cy="441959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82703">
                      <a:extLst>
                        <a:ext uri="{9D8B030D-6E8A-4147-A177-3AD203B41FA5}">
                          <a16:colId xmlns:a16="http://schemas.microsoft.com/office/drawing/2014/main" val="290348235"/>
                        </a:ext>
                      </a:extLst>
                    </a:gridCol>
                    <a:gridCol w="1082703">
                      <a:extLst>
                        <a:ext uri="{9D8B030D-6E8A-4147-A177-3AD203B41FA5}">
                          <a16:colId xmlns:a16="http://schemas.microsoft.com/office/drawing/2014/main" val="1549004755"/>
                        </a:ext>
                      </a:extLst>
                    </a:gridCol>
                    <a:gridCol w="1082703">
                      <a:extLst>
                        <a:ext uri="{9D8B030D-6E8A-4147-A177-3AD203B41FA5}">
                          <a16:colId xmlns:a16="http://schemas.microsoft.com/office/drawing/2014/main" val="3624733910"/>
                        </a:ext>
                      </a:extLst>
                    </a:gridCol>
                    <a:gridCol w="951467">
                      <a:extLst>
                        <a:ext uri="{9D8B030D-6E8A-4147-A177-3AD203B41FA5}">
                          <a16:colId xmlns:a16="http://schemas.microsoft.com/office/drawing/2014/main" val="3233845890"/>
                        </a:ext>
                      </a:extLst>
                    </a:gridCol>
                    <a:gridCol w="1757743">
                      <a:extLst>
                        <a:ext uri="{9D8B030D-6E8A-4147-A177-3AD203B41FA5}">
                          <a16:colId xmlns:a16="http://schemas.microsoft.com/office/drawing/2014/main" val="279117074"/>
                        </a:ext>
                      </a:extLst>
                    </a:gridCol>
                    <a:gridCol w="1863291">
                      <a:extLst>
                        <a:ext uri="{9D8B030D-6E8A-4147-A177-3AD203B41FA5}">
                          <a16:colId xmlns:a16="http://schemas.microsoft.com/office/drawing/2014/main" val="24254956"/>
                        </a:ext>
                      </a:extLst>
                    </a:gridCol>
                  </a:tblGrid>
                  <a:tr h="732091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3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CN" sz="3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3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3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CN" sz="3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3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3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3200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3200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3200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78500726"/>
                      </a:ext>
                    </a:extLst>
                  </a:tr>
                  <a:tr h="732091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3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CN" sz="3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3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3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CN" sz="3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3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3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CN" sz="3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3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3200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3200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3200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896166555"/>
                      </a:ext>
                    </a:extLst>
                  </a:tr>
                  <a:tr h="732091"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3200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3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CN" sz="3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3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3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CN" sz="3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3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3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CN" sz="3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3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3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3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297378390"/>
                      </a:ext>
                    </a:extLst>
                  </a:tr>
                  <a:tr h="732091"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3200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3200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zh-CN" altLang="en-US" sz="3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oMath>
                            </m:oMathPara>
                          </a14:m>
                          <a:endParaRPr lang="zh-CN" altLang="en-US" sz="3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zh-CN" altLang="en-US" sz="3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oMath>
                            </m:oMathPara>
                          </a14:m>
                          <a:endParaRPr lang="zh-CN" altLang="en-US" sz="3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zh-CN" altLang="en-US" sz="3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oMath>
                            </m:oMathPara>
                          </a14:m>
                          <a:endParaRPr lang="zh-CN" altLang="en-US" sz="3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3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849773544"/>
                      </a:ext>
                    </a:extLst>
                  </a:tr>
                  <a:tr h="732091"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3200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3200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3200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3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CN" sz="3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altLang="zh-CN" sz="3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zh-CN" sz="3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altLang="zh-CN" sz="3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3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3200" b="1" i="1" smtClean="0">
                                        <a:solidFill>
                                          <a:schemeClr val="accent2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200" b="1" i="1" smtClean="0">
                                        <a:solidFill>
                                          <a:schemeClr val="accent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𝒂</m:t>
                                    </m:r>
                                  </m:e>
                                  <m:sub>
                                    <m:r>
                                      <a:rPr lang="en-US" altLang="zh-CN" sz="3200" b="1" i="1" smtClean="0">
                                        <a:solidFill>
                                          <a:schemeClr val="accent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  <m:r>
                                      <a:rPr lang="en-US" altLang="zh-CN" sz="3200" b="1" i="1" smtClean="0">
                                        <a:solidFill>
                                          <a:schemeClr val="accent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zh-CN" sz="3200" b="1" i="1" smtClean="0">
                                        <a:solidFill>
                                          <a:schemeClr val="accent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32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3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CN" sz="3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altLang="zh-CN" sz="3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zh-CN" sz="3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altLang="zh-CN" sz="3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3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2404163"/>
                      </a:ext>
                    </a:extLst>
                  </a:tr>
                  <a:tr h="759143"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3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3200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3200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3200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zh-CN" altLang="en-US" sz="3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⋯⋯</m:t>
                                </m:r>
                              </m:oMath>
                            </m:oMathPara>
                          </a14:m>
                          <a:endParaRPr lang="zh-CN" altLang="en-US" sz="3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3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81336767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表格 5">
                <a:extLst>
                  <a:ext uri="{FF2B5EF4-FFF2-40B4-BE49-F238E27FC236}">
                    <a16:creationId xmlns:a16="http://schemas.microsoft.com/office/drawing/2014/main" id="{E679B40F-B5F2-47DB-95D1-B478191F348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86925944"/>
                  </p:ext>
                </p:extLst>
              </p:nvPr>
            </p:nvGraphicFramePr>
            <p:xfrm>
              <a:off x="3809999" y="457200"/>
              <a:ext cx="7820610" cy="441959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82703">
                      <a:extLst>
                        <a:ext uri="{9D8B030D-6E8A-4147-A177-3AD203B41FA5}">
                          <a16:colId xmlns:a16="http://schemas.microsoft.com/office/drawing/2014/main" val="290348235"/>
                        </a:ext>
                      </a:extLst>
                    </a:gridCol>
                    <a:gridCol w="1082703">
                      <a:extLst>
                        <a:ext uri="{9D8B030D-6E8A-4147-A177-3AD203B41FA5}">
                          <a16:colId xmlns:a16="http://schemas.microsoft.com/office/drawing/2014/main" val="1549004755"/>
                        </a:ext>
                      </a:extLst>
                    </a:gridCol>
                    <a:gridCol w="1082703">
                      <a:extLst>
                        <a:ext uri="{9D8B030D-6E8A-4147-A177-3AD203B41FA5}">
                          <a16:colId xmlns:a16="http://schemas.microsoft.com/office/drawing/2014/main" val="3624733910"/>
                        </a:ext>
                      </a:extLst>
                    </a:gridCol>
                    <a:gridCol w="951467">
                      <a:extLst>
                        <a:ext uri="{9D8B030D-6E8A-4147-A177-3AD203B41FA5}">
                          <a16:colId xmlns:a16="http://schemas.microsoft.com/office/drawing/2014/main" val="3233845890"/>
                        </a:ext>
                      </a:extLst>
                    </a:gridCol>
                    <a:gridCol w="1757743">
                      <a:extLst>
                        <a:ext uri="{9D8B030D-6E8A-4147-A177-3AD203B41FA5}">
                          <a16:colId xmlns:a16="http://schemas.microsoft.com/office/drawing/2014/main" val="279117074"/>
                        </a:ext>
                      </a:extLst>
                    </a:gridCol>
                    <a:gridCol w="1863291">
                      <a:extLst>
                        <a:ext uri="{9D8B030D-6E8A-4147-A177-3AD203B41FA5}">
                          <a16:colId xmlns:a16="http://schemas.microsoft.com/office/drawing/2014/main" val="24254956"/>
                        </a:ext>
                      </a:extLst>
                    </a:gridCol>
                  </a:tblGrid>
                  <a:tr h="732091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562" r="-621910" b="-5058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0562" r="-521910" b="-5058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3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3200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3200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3200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78500726"/>
                      </a:ext>
                    </a:extLst>
                  </a:tr>
                  <a:tr h="732091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562" t="-100000" r="-621910" b="-4058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0562" t="-100000" r="-521910" b="-4058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1695" t="-100000" r="-424859" b="-4058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3200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3200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3200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896166555"/>
                      </a:ext>
                    </a:extLst>
                  </a:tr>
                  <a:tr h="732091"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3200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0562" t="-200000" r="-521910" b="-3058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1695" t="-200000" r="-424859" b="-3058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42308" t="-200000" r="-382051" b="-3058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3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3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297378390"/>
                      </a:ext>
                    </a:extLst>
                  </a:tr>
                  <a:tr h="732091"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3200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3200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1695" t="-300000" r="-424859" b="-2058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42308" t="-300000" r="-382051" b="-2058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38754" t="-300000" r="-106228" b="-2058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3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849773544"/>
                      </a:ext>
                    </a:extLst>
                  </a:tr>
                  <a:tr h="732091"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3200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3200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3200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42308" t="-400000" r="-382051" b="-1058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38754" t="-400000" r="-106228" b="-1058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19935" t="-400000" r="-327" b="-1058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404163"/>
                      </a:ext>
                    </a:extLst>
                  </a:tr>
                  <a:tr h="759143"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3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3200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3200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3200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38754" t="-480000" r="-106228" b="-16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3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81336767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424980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80F3DFB-07AE-4B40-92DB-3ECF17C4D4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稀疏矩阵</a:t>
            </a:r>
          </a:p>
        </p:txBody>
      </p:sp>
      <p:graphicFrame>
        <p:nvGraphicFramePr>
          <p:cNvPr id="6" name="表格 6">
            <a:extLst>
              <a:ext uri="{FF2B5EF4-FFF2-40B4-BE49-F238E27FC236}">
                <a16:creationId xmlns:a16="http://schemas.microsoft.com/office/drawing/2014/main" id="{3DE51C77-D6BE-4E7D-AE00-A3F9DE3CFE11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4213353978"/>
              </p:ext>
            </p:extLst>
          </p:nvPr>
        </p:nvGraphicFramePr>
        <p:xfrm>
          <a:off x="990600" y="2087880"/>
          <a:ext cx="472440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7400">
                  <a:extLst>
                    <a:ext uri="{9D8B030D-6E8A-4147-A177-3AD203B41FA5}">
                      <a16:colId xmlns:a16="http://schemas.microsoft.com/office/drawing/2014/main" val="930749675"/>
                    </a:ext>
                  </a:extLst>
                </a:gridCol>
                <a:gridCol w="787400">
                  <a:extLst>
                    <a:ext uri="{9D8B030D-6E8A-4147-A177-3AD203B41FA5}">
                      <a16:colId xmlns:a16="http://schemas.microsoft.com/office/drawing/2014/main" val="471469874"/>
                    </a:ext>
                  </a:extLst>
                </a:gridCol>
                <a:gridCol w="787400">
                  <a:extLst>
                    <a:ext uri="{9D8B030D-6E8A-4147-A177-3AD203B41FA5}">
                      <a16:colId xmlns:a16="http://schemas.microsoft.com/office/drawing/2014/main" val="1524743703"/>
                    </a:ext>
                  </a:extLst>
                </a:gridCol>
                <a:gridCol w="787400">
                  <a:extLst>
                    <a:ext uri="{9D8B030D-6E8A-4147-A177-3AD203B41FA5}">
                      <a16:colId xmlns:a16="http://schemas.microsoft.com/office/drawing/2014/main" val="2316158013"/>
                    </a:ext>
                  </a:extLst>
                </a:gridCol>
                <a:gridCol w="787400">
                  <a:extLst>
                    <a:ext uri="{9D8B030D-6E8A-4147-A177-3AD203B41FA5}">
                      <a16:colId xmlns:a16="http://schemas.microsoft.com/office/drawing/2014/main" val="1004607971"/>
                    </a:ext>
                  </a:extLst>
                </a:gridCol>
                <a:gridCol w="787400">
                  <a:extLst>
                    <a:ext uri="{9D8B030D-6E8A-4147-A177-3AD203B41FA5}">
                      <a16:colId xmlns:a16="http://schemas.microsoft.com/office/drawing/2014/main" val="111385097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1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CN" altLang="en-US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98259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65359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0693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1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zh-CN" altLang="en-US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1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CN" altLang="en-US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43579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1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CN" altLang="en-US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60132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9840812"/>
                  </a:ext>
                </a:extLst>
              </a:tr>
            </a:tbl>
          </a:graphicData>
        </a:graphic>
      </p:graphicFrame>
      <p:graphicFrame>
        <p:nvGraphicFramePr>
          <p:cNvPr id="8" name="表格 8">
            <a:extLst>
              <a:ext uri="{FF2B5EF4-FFF2-40B4-BE49-F238E27FC236}">
                <a16:creationId xmlns:a16="http://schemas.microsoft.com/office/drawing/2014/main" id="{FA24957E-41CB-4C1A-9D39-77788A8D4CE4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571015192"/>
              </p:ext>
            </p:extLst>
          </p:nvPr>
        </p:nvGraphicFramePr>
        <p:xfrm>
          <a:off x="6197600" y="2103120"/>
          <a:ext cx="5689599" cy="2895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6533">
                  <a:extLst>
                    <a:ext uri="{9D8B030D-6E8A-4147-A177-3AD203B41FA5}">
                      <a16:colId xmlns:a16="http://schemas.microsoft.com/office/drawing/2014/main" val="3780182454"/>
                    </a:ext>
                  </a:extLst>
                </a:gridCol>
                <a:gridCol w="1896533">
                  <a:extLst>
                    <a:ext uri="{9D8B030D-6E8A-4147-A177-3AD203B41FA5}">
                      <a16:colId xmlns:a16="http://schemas.microsoft.com/office/drawing/2014/main" val="2105856013"/>
                    </a:ext>
                  </a:extLst>
                </a:gridCol>
                <a:gridCol w="1896533">
                  <a:extLst>
                    <a:ext uri="{9D8B030D-6E8A-4147-A177-3AD203B41FA5}">
                      <a16:colId xmlns:a16="http://schemas.microsoft.com/office/drawing/2014/main" val="155005218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3200" dirty="0">
                          <a:solidFill>
                            <a:schemeClr val="tx1"/>
                          </a:solidFill>
                        </a:rPr>
                        <a:t>行号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3200" dirty="0">
                          <a:solidFill>
                            <a:schemeClr val="tx1"/>
                          </a:solidFill>
                        </a:rPr>
                        <a:t>列号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3200" dirty="0">
                          <a:solidFill>
                            <a:schemeClr val="tx1"/>
                          </a:solidFill>
                        </a:rPr>
                        <a:t>数值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452042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CN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281306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CN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zh-CN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659296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CN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CN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CN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59660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CN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CN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CN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0431966"/>
                  </a:ext>
                </a:extLst>
              </a:tr>
            </a:tbl>
          </a:graphicData>
        </a:graphic>
      </p:graphicFrame>
      <p:sp>
        <p:nvSpPr>
          <p:cNvPr id="10" name="文本框 9">
            <a:extLst>
              <a:ext uri="{FF2B5EF4-FFF2-40B4-BE49-F238E27FC236}">
                <a16:creationId xmlns:a16="http://schemas.microsoft.com/office/drawing/2014/main" id="{4583A5FD-E7CE-4DA9-8F9F-8819B41E8F80}"/>
              </a:ext>
            </a:extLst>
          </p:cNvPr>
          <p:cNvSpPr txBox="1"/>
          <p:nvPr/>
        </p:nvSpPr>
        <p:spPr>
          <a:xfrm>
            <a:off x="7848600" y="1447800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三元组描述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D410E9D-F2D4-4828-B5AA-05A00217E8E1}"/>
              </a:ext>
            </a:extLst>
          </p:cNvPr>
          <p:cNvSpPr txBox="1"/>
          <p:nvPr/>
        </p:nvSpPr>
        <p:spPr>
          <a:xfrm>
            <a:off x="6248400" y="5054025"/>
            <a:ext cx="34676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一般以行序为主序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8C5AD17-DA6F-4C2D-A087-541885B74B59}"/>
              </a:ext>
            </a:extLst>
          </p:cNvPr>
          <p:cNvSpPr txBox="1"/>
          <p:nvPr/>
        </p:nvSpPr>
        <p:spPr>
          <a:xfrm>
            <a:off x="2097616" y="1447800"/>
            <a:ext cx="270298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稀疏矩阵实例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371B2A4-26FD-4D69-AB18-69FB0B575953}"/>
              </a:ext>
            </a:extLst>
          </p:cNvPr>
          <p:cNvSpPr txBox="1"/>
          <p:nvPr/>
        </p:nvSpPr>
        <p:spPr>
          <a:xfrm>
            <a:off x="413084" y="2061781"/>
            <a:ext cx="425116" cy="37294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</a:p>
          <a:p>
            <a:pPr>
              <a:lnSpc>
                <a:spcPct val="120000"/>
              </a:lnSpc>
            </a:pP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</a:p>
          <a:p>
            <a:pPr>
              <a:lnSpc>
                <a:spcPct val="120000"/>
              </a:lnSpc>
            </a:pP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</a:p>
          <a:p>
            <a:pPr>
              <a:lnSpc>
                <a:spcPct val="120000"/>
              </a:lnSpc>
            </a:pP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</a:p>
          <a:p>
            <a:pPr>
              <a:lnSpc>
                <a:spcPct val="120000"/>
              </a:lnSpc>
            </a:pP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</a:p>
          <a:p>
            <a:pPr>
              <a:lnSpc>
                <a:spcPct val="120000"/>
              </a:lnSpc>
            </a:pP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4EC62630-9F95-4527-8D0A-413646ED25D3}"/>
              </a:ext>
            </a:extLst>
          </p:cNvPr>
          <p:cNvSpPr txBox="1"/>
          <p:nvPr/>
        </p:nvSpPr>
        <p:spPr>
          <a:xfrm>
            <a:off x="1143000" y="5587425"/>
            <a:ext cx="457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0     1    2     3    4     5</a:t>
            </a: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985071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31D1AB9-AC79-44DB-AA4C-0EAED607DE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稀疏矩阵的三元组描述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AE53939-FD31-4F65-83B0-AE13DE6B69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219200"/>
            <a:ext cx="11582400" cy="5181600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typedef struct {    // </a:t>
            </a:r>
            <a:r>
              <a:rPr lang="zh-CN" altLang="en-US" b="0" dirty="0"/>
              <a:t>定义三元组</a:t>
            </a:r>
            <a:endParaRPr lang="en-US" altLang="zh-CN" b="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int row;     // </a:t>
            </a:r>
            <a:r>
              <a:rPr lang="zh-CN" altLang="en-US" b="0" dirty="0"/>
              <a:t>行号</a:t>
            </a:r>
            <a:endParaRPr lang="en-US" altLang="zh-CN" b="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int column;      // </a:t>
            </a:r>
            <a:r>
              <a:rPr lang="zh-CN" altLang="en-US" b="0" dirty="0"/>
              <a:t>列号</a:t>
            </a:r>
            <a:endParaRPr lang="en-US" altLang="zh-CN" b="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Elem  value; // </a:t>
            </a:r>
            <a:r>
              <a:rPr lang="zh-CN" altLang="en-US" b="0" dirty="0"/>
              <a:t>第</a:t>
            </a:r>
            <a:r>
              <a:rPr lang="en-US" altLang="zh-CN" b="0" dirty="0"/>
              <a:t>row</a:t>
            </a:r>
            <a:r>
              <a:rPr lang="zh-CN" altLang="en-US" b="0" dirty="0"/>
              <a:t>行、第</a:t>
            </a:r>
            <a:r>
              <a:rPr lang="en-US" altLang="zh-CN" b="0" dirty="0"/>
              <a:t>column</a:t>
            </a:r>
            <a:r>
              <a:rPr lang="zh-CN" altLang="en-US" b="0" dirty="0"/>
              <a:t>列上的元素</a:t>
            </a:r>
            <a:endParaRPr lang="en-US" altLang="zh-CN" b="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} Triplet;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typedef struct 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Triplet triplets[MATRIX_SIZE];  // </a:t>
            </a:r>
            <a:r>
              <a:rPr lang="zh-CN" altLang="en-US" b="0" dirty="0"/>
              <a:t>三元组数组</a:t>
            </a:r>
            <a:endParaRPr lang="en-US" altLang="zh-CN" b="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int rows;   // </a:t>
            </a:r>
            <a:r>
              <a:rPr lang="zh-CN" altLang="en-US" b="0" dirty="0"/>
              <a:t>矩阵的行数</a:t>
            </a:r>
            <a:endParaRPr lang="en-US" altLang="zh-CN" b="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int columns;    // </a:t>
            </a:r>
            <a:r>
              <a:rPr lang="zh-CN" altLang="en-US" b="0" dirty="0"/>
              <a:t>矩阵的列数</a:t>
            </a:r>
            <a:endParaRPr lang="en-US" altLang="zh-CN" b="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int </a:t>
            </a:r>
            <a:r>
              <a:rPr lang="en-US" altLang="zh-CN" b="0" dirty="0" err="1"/>
              <a:t>nonzeros</a:t>
            </a:r>
            <a:r>
              <a:rPr lang="en-US" altLang="zh-CN" b="0" dirty="0"/>
              <a:t>;  // </a:t>
            </a:r>
            <a:r>
              <a:rPr lang="zh-CN" altLang="en-US" b="0" dirty="0"/>
              <a:t>非零元素的个数，也是</a:t>
            </a:r>
            <a:r>
              <a:rPr lang="en-US" altLang="zh-CN" b="0" dirty="0" err="1"/>
              <a:t>elem</a:t>
            </a:r>
            <a:r>
              <a:rPr lang="zh-CN" altLang="en-US" b="0" dirty="0"/>
              <a:t>数组的长度</a:t>
            </a:r>
            <a:endParaRPr lang="en-US" altLang="zh-CN" b="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} </a:t>
            </a:r>
            <a:r>
              <a:rPr lang="en-US" altLang="zh-CN" b="0" dirty="0" err="1"/>
              <a:t>SparseMatrix</a:t>
            </a:r>
            <a:r>
              <a:rPr lang="en-US" altLang="zh-CN" b="0" dirty="0"/>
              <a:t>;</a:t>
            </a:r>
            <a:endParaRPr lang="zh-CN" altLang="en-US" b="0" dirty="0"/>
          </a:p>
        </p:txBody>
      </p:sp>
    </p:spTree>
    <p:extLst>
      <p:ext uri="{BB962C8B-B14F-4D97-AF65-F5344CB8AC3E}">
        <p14:creationId xmlns:p14="http://schemas.microsoft.com/office/powerpoint/2010/main" val="31265088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31D1AB9-AC79-44DB-AA4C-0EAED607DE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列序递增转置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AE53939-FD31-4F65-83B0-AE13DE6B69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219200"/>
            <a:ext cx="11734800" cy="5181600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Status Transpose (</a:t>
            </a:r>
            <a:r>
              <a:rPr lang="en-US" altLang="zh-CN" b="0" dirty="0" err="1"/>
              <a:t>SparseMatrix</a:t>
            </a:r>
            <a:r>
              <a:rPr lang="en-US" altLang="zh-CN" b="0" dirty="0"/>
              <a:t>* </a:t>
            </a:r>
            <a:r>
              <a:rPr lang="en-US" altLang="zh-CN" b="0" dirty="0" err="1"/>
              <a:t>pSourceMatrix</a:t>
            </a:r>
            <a:r>
              <a:rPr lang="en-US" altLang="zh-CN" b="0" dirty="0"/>
              <a:t>,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                      </a:t>
            </a:r>
            <a:r>
              <a:rPr lang="en-US" altLang="zh-CN" b="0" dirty="0" err="1"/>
              <a:t>SparseMatrix</a:t>
            </a:r>
            <a:r>
              <a:rPr lang="en-US" altLang="zh-CN" b="0" dirty="0"/>
              <a:t>* </a:t>
            </a:r>
            <a:r>
              <a:rPr lang="en-US" altLang="zh-CN" b="0" dirty="0" err="1"/>
              <a:t>pDestMatrix</a:t>
            </a:r>
            <a:r>
              <a:rPr lang="en-US" altLang="zh-CN" b="0" dirty="0"/>
              <a:t>) 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int </a:t>
            </a:r>
            <a:r>
              <a:rPr lang="en-US" altLang="zh-CN" b="0" dirty="0" err="1"/>
              <a:t>i</a:t>
            </a:r>
            <a:r>
              <a:rPr lang="en-US" altLang="zh-CN" b="0" dirty="0"/>
              <a:t>, j, col;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if (</a:t>
            </a:r>
            <a:r>
              <a:rPr lang="en-US" altLang="zh-CN" b="0" dirty="0" err="1"/>
              <a:t>pSourceMatrix</a:t>
            </a:r>
            <a:r>
              <a:rPr lang="en-US" altLang="zh-CN" b="0" dirty="0"/>
              <a:t>-&gt;</a:t>
            </a:r>
            <a:r>
              <a:rPr lang="en-US" altLang="zh-CN" b="0" dirty="0" err="1"/>
              <a:t>nonzeros</a:t>
            </a:r>
            <a:r>
              <a:rPr lang="en-US" altLang="zh-CN" b="0" dirty="0"/>
              <a:t>&lt;=0) return OK;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j=0;  // </a:t>
            </a:r>
            <a:r>
              <a:rPr lang="zh-CN" altLang="en-US" b="0" dirty="0"/>
              <a:t>要写入目的三元组数组的位置</a:t>
            </a:r>
            <a:endParaRPr lang="en-US" altLang="zh-CN" b="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for(col=0; col&lt;</a:t>
            </a:r>
            <a:r>
              <a:rPr lang="en-US" altLang="zh-CN" b="0" dirty="0" err="1"/>
              <a:t>pSourceMatrix</a:t>
            </a:r>
            <a:r>
              <a:rPr lang="en-US" altLang="zh-CN" b="0" dirty="0"/>
              <a:t>-&gt;columns; col++){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/* </a:t>
            </a:r>
            <a:r>
              <a:rPr lang="zh-CN" altLang="en-US" b="0" dirty="0"/>
              <a:t>从第</a:t>
            </a:r>
            <a:r>
              <a:rPr lang="en-US" altLang="zh-CN" b="0" dirty="0"/>
              <a:t>0</a:t>
            </a:r>
            <a:r>
              <a:rPr lang="zh-CN" altLang="en-US" b="0" dirty="0"/>
              <a:t>列开始，一列一列地转置 *</a:t>
            </a:r>
            <a:r>
              <a:rPr lang="en-US" altLang="zh-CN" b="0" dirty="0"/>
              <a:t>/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for(</a:t>
            </a:r>
            <a:r>
              <a:rPr lang="en-US" altLang="zh-CN" b="0" dirty="0" err="1"/>
              <a:t>i</a:t>
            </a:r>
            <a:r>
              <a:rPr lang="en-US" altLang="zh-CN" b="0" dirty="0"/>
              <a:t>=0; </a:t>
            </a:r>
            <a:r>
              <a:rPr lang="en-US" altLang="zh-CN" b="0" dirty="0" err="1"/>
              <a:t>i</a:t>
            </a:r>
            <a:r>
              <a:rPr lang="en-US" altLang="zh-CN" b="0" dirty="0"/>
              <a:t>&lt;</a:t>
            </a:r>
            <a:r>
              <a:rPr lang="en-US" altLang="zh-CN" b="0" dirty="0" err="1"/>
              <a:t>pSourceMatrix</a:t>
            </a:r>
            <a:r>
              <a:rPr lang="en-US" altLang="zh-CN" b="0" dirty="0"/>
              <a:t>-&gt;</a:t>
            </a:r>
            <a:r>
              <a:rPr lang="en-US" altLang="zh-CN" b="0" dirty="0" err="1"/>
              <a:t>nonzeros</a:t>
            </a:r>
            <a:r>
              <a:rPr lang="en-US" altLang="zh-CN" b="0" dirty="0"/>
              <a:t>; </a:t>
            </a:r>
            <a:r>
              <a:rPr lang="en-US" altLang="zh-CN" b="0" dirty="0" err="1"/>
              <a:t>i</a:t>
            </a:r>
            <a:r>
              <a:rPr lang="en-US" altLang="zh-CN" b="0" dirty="0"/>
              <a:t>++) 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    // </a:t>
            </a:r>
            <a:r>
              <a:rPr lang="zh-CN" altLang="en-US" b="0" dirty="0"/>
              <a:t>寻找列号为</a:t>
            </a:r>
            <a:r>
              <a:rPr lang="en-US" altLang="zh-CN" b="0" dirty="0"/>
              <a:t>col</a:t>
            </a:r>
            <a:r>
              <a:rPr lang="zh-CN" altLang="en-US" b="0" dirty="0"/>
              <a:t>的三元组</a:t>
            </a:r>
            <a:r>
              <a:rPr lang="en-US" altLang="zh-CN" b="0" dirty="0"/>
              <a:t>                          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</a:t>
            </a:r>
            <a:endParaRPr lang="zh-CN" altLang="en-US" b="0" dirty="0"/>
          </a:p>
        </p:txBody>
      </p:sp>
    </p:spTree>
    <p:extLst>
      <p:ext uri="{BB962C8B-B14F-4D97-AF65-F5344CB8AC3E}">
        <p14:creationId xmlns:p14="http://schemas.microsoft.com/office/powerpoint/2010/main" val="7574603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31D1AB9-AC79-44DB-AA4C-0EAED607DE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列序递增转置</a:t>
            </a:r>
            <a:r>
              <a:rPr lang="en-US" altLang="zh-CN" dirty="0"/>
              <a:t>(</a:t>
            </a:r>
            <a:r>
              <a:rPr lang="zh-CN" altLang="en-US" dirty="0"/>
              <a:t>续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AE53939-FD31-4F65-83B0-AE13DE6B69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219200"/>
            <a:ext cx="11734800" cy="5181600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    if (</a:t>
            </a:r>
            <a:r>
              <a:rPr lang="en-US" altLang="zh-CN" b="0" dirty="0" err="1"/>
              <a:t>pSourceMatrix</a:t>
            </a:r>
            <a:r>
              <a:rPr lang="en-US" altLang="zh-CN" b="0" dirty="0"/>
              <a:t>-&gt;triplets[</a:t>
            </a:r>
            <a:r>
              <a:rPr lang="en-US" altLang="zh-CN" b="0" dirty="0" err="1"/>
              <a:t>i</a:t>
            </a:r>
            <a:r>
              <a:rPr lang="en-US" altLang="zh-CN" b="0" dirty="0"/>
              <a:t>].column==col) {             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        </a:t>
            </a:r>
            <a:r>
              <a:rPr lang="en-US" altLang="zh-CN" b="0" dirty="0" err="1"/>
              <a:t>pDestMatrix</a:t>
            </a:r>
            <a:r>
              <a:rPr lang="en-US" altLang="zh-CN" b="0" dirty="0"/>
              <a:t>-&gt;triplets[j].row=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                  </a:t>
            </a:r>
            <a:r>
              <a:rPr lang="en-US" altLang="zh-CN" b="0" dirty="0" err="1"/>
              <a:t>pSourceMatrix</a:t>
            </a:r>
            <a:r>
              <a:rPr lang="en-US" altLang="zh-CN" b="0" dirty="0"/>
              <a:t>-&gt;triplets[</a:t>
            </a:r>
            <a:r>
              <a:rPr lang="en-US" altLang="zh-CN" b="0" dirty="0" err="1"/>
              <a:t>i</a:t>
            </a:r>
            <a:r>
              <a:rPr lang="en-US" altLang="zh-CN" b="0" dirty="0"/>
              <a:t>].column;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        </a:t>
            </a:r>
            <a:r>
              <a:rPr lang="en-US" altLang="zh-CN" b="0" dirty="0" err="1"/>
              <a:t>pDestMatrix</a:t>
            </a:r>
            <a:r>
              <a:rPr lang="en-US" altLang="zh-CN" b="0" dirty="0"/>
              <a:t>-&gt;triplets[j].column=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                  </a:t>
            </a:r>
            <a:r>
              <a:rPr lang="en-US" altLang="zh-CN" b="0" dirty="0" err="1"/>
              <a:t>pSourceMatrix</a:t>
            </a:r>
            <a:r>
              <a:rPr lang="en-US" altLang="zh-CN" b="0" dirty="0"/>
              <a:t>-&gt;triplets[</a:t>
            </a:r>
            <a:r>
              <a:rPr lang="en-US" altLang="zh-CN" b="0" dirty="0" err="1"/>
              <a:t>i</a:t>
            </a:r>
            <a:r>
              <a:rPr lang="en-US" altLang="zh-CN" b="0" dirty="0"/>
              <a:t>].row;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        </a:t>
            </a:r>
            <a:r>
              <a:rPr lang="en-US" altLang="zh-CN" b="0" dirty="0" err="1"/>
              <a:t>pDestMatrix</a:t>
            </a:r>
            <a:r>
              <a:rPr lang="en-US" altLang="zh-CN" b="0" dirty="0"/>
              <a:t>-&gt;</a:t>
            </a:r>
            <a:r>
              <a:rPr lang="en-US" altLang="zh-CN" b="0" dirty="0" err="1"/>
              <a:t>tripleArray</a:t>
            </a:r>
            <a:r>
              <a:rPr lang="en-US" altLang="zh-CN" b="0" dirty="0"/>
              <a:t>[j].value=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                  </a:t>
            </a:r>
            <a:r>
              <a:rPr lang="en-US" altLang="zh-CN" b="0" dirty="0" err="1"/>
              <a:t>pSourceMatrix</a:t>
            </a:r>
            <a:r>
              <a:rPr lang="en-US" altLang="zh-CN" b="0" dirty="0"/>
              <a:t>-&gt;triplets[</a:t>
            </a:r>
            <a:r>
              <a:rPr lang="en-US" altLang="zh-CN" b="0" dirty="0" err="1"/>
              <a:t>i</a:t>
            </a:r>
            <a:r>
              <a:rPr lang="en-US" altLang="zh-CN" b="0" dirty="0"/>
              <a:t>].value;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        </a:t>
            </a:r>
            <a:r>
              <a:rPr lang="en-US" altLang="zh-CN" b="0" dirty="0" err="1"/>
              <a:t>j++</a:t>
            </a:r>
            <a:r>
              <a:rPr lang="en-US" altLang="zh-CN" b="0" dirty="0"/>
              <a:t>;  // </a:t>
            </a:r>
            <a:r>
              <a:rPr lang="zh-CN" altLang="en-US" b="0" dirty="0"/>
              <a:t>指向目的三元组数组的下一个空位置</a:t>
            </a:r>
            <a:endParaRPr lang="en-US" altLang="zh-CN" b="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    } /* if </a:t>
            </a:r>
            <a:r>
              <a:rPr lang="zh-CN" altLang="en-US" b="0" dirty="0"/>
              <a:t>结束 </a:t>
            </a:r>
            <a:r>
              <a:rPr lang="en-US" altLang="zh-CN" b="0" dirty="0"/>
              <a:t>*/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} /* </a:t>
            </a:r>
            <a:r>
              <a:rPr lang="zh-CN" altLang="en-US" b="0" dirty="0"/>
              <a:t>内循环结束 </a:t>
            </a:r>
            <a:r>
              <a:rPr lang="en-US" altLang="zh-CN" b="0" dirty="0"/>
              <a:t>*/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} /* </a:t>
            </a:r>
            <a:r>
              <a:rPr lang="zh-CN" altLang="en-US" b="0" dirty="0"/>
              <a:t>外循环结束 *</a:t>
            </a:r>
            <a:r>
              <a:rPr lang="en-US" altLang="zh-CN" b="0" dirty="0"/>
              <a:t>/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                           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</a:t>
            </a:r>
            <a:endParaRPr lang="zh-CN" altLang="en-US" b="0" dirty="0"/>
          </a:p>
        </p:txBody>
      </p:sp>
    </p:spTree>
    <p:extLst>
      <p:ext uri="{BB962C8B-B14F-4D97-AF65-F5344CB8AC3E}">
        <p14:creationId xmlns:p14="http://schemas.microsoft.com/office/powerpoint/2010/main" val="22073080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31D1AB9-AC79-44DB-AA4C-0EAED607DE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列序递增转置</a:t>
            </a:r>
            <a:r>
              <a:rPr lang="en-US" altLang="zh-CN" dirty="0"/>
              <a:t>(</a:t>
            </a:r>
            <a:r>
              <a:rPr lang="zh-CN" altLang="en-US" dirty="0"/>
              <a:t>续</a:t>
            </a:r>
            <a:r>
              <a:rPr lang="en-US" altLang="zh-CN" dirty="0"/>
              <a:t>)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1AE53939-FD31-4F65-83B0-AE13DE6B69C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04800" y="1219200"/>
                <a:ext cx="11734800" cy="5181600"/>
              </a:xfrm>
            </p:spPr>
            <p:txBody>
              <a:bodyPr/>
              <a:lstStyle/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altLang="zh-CN" b="0" dirty="0"/>
                  <a:t>    </a:t>
                </a:r>
                <a:r>
                  <a:rPr lang="en-US" altLang="zh-CN" b="0" dirty="0" err="1"/>
                  <a:t>pDestMatrix</a:t>
                </a:r>
                <a:r>
                  <a:rPr lang="en-US" altLang="zh-CN" b="0" dirty="0"/>
                  <a:t>-&gt;</a:t>
                </a:r>
                <a:r>
                  <a:rPr lang="en-US" altLang="zh-CN" b="0" dirty="0" err="1"/>
                  <a:t>numOfRows</a:t>
                </a:r>
                <a:r>
                  <a:rPr lang="en-US" altLang="zh-CN" b="0" dirty="0"/>
                  <a:t>=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altLang="zh-CN" b="0" dirty="0"/>
                  <a:t>                            </a:t>
                </a:r>
                <a:r>
                  <a:rPr lang="en-US" altLang="zh-CN" b="0" dirty="0" err="1"/>
                  <a:t>pSourceMatrix</a:t>
                </a:r>
                <a:r>
                  <a:rPr lang="en-US" altLang="zh-CN" b="0" dirty="0"/>
                  <a:t>-&gt;columns;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altLang="zh-CN" b="0" dirty="0"/>
                  <a:t>    </a:t>
                </a:r>
                <a:r>
                  <a:rPr lang="en-US" altLang="zh-CN" b="0" dirty="0" err="1"/>
                  <a:t>pDestMatrix</a:t>
                </a:r>
                <a:r>
                  <a:rPr lang="en-US" altLang="zh-CN" b="0" dirty="0"/>
                  <a:t>-&gt;</a:t>
                </a:r>
                <a:r>
                  <a:rPr lang="en-US" altLang="zh-CN" b="0" dirty="0" err="1"/>
                  <a:t>numOfColumns</a:t>
                </a:r>
                <a:r>
                  <a:rPr lang="en-US" altLang="zh-CN" b="0" dirty="0"/>
                  <a:t>=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altLang="zh-CN" b="0" dirty="0"/>
                  <a:t>                            </a:t>
                </a:r>
                <a:r>
                  <a:rPr lang="en-US" altLang="zh-CN" b="0" dirty="0" err="1"/>
                  <a:t>pSourceMatrix</a:t>
                </a:r>
                <a:r>
                  <a:rPr lang="en-US" altLang="zh-CN" b="0" dirty="0"/>
                  <a:t>-&gt;rows;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altLang="zh-CN" b="0" dirty="0"/>
                  <a:t>    </a:t>
                </a:r>
                <a:r>
                  <a:rPr lang="en-US" altLang="zh-CN" b="0" dirty="0" err="1"/>
                  <a:t>pDestMatrix</a:t>
                </a:r>
                <a:r>
                  <a:rPr lang="en-US" altLang="zh-CN" b="0" dirty="0"/>
                  <a:t>-&gt;</a:t>
                </a:r>
                <a:r>
                  <a:rPr lang="en-US" altLang="zh-CN" b="0" dirty="0" err="1"/>
                  <a:t>nonzeros</a:t>
                </a:r>
                <a:r>
                  <a:rPr lang="en-US" altLang="zh-CN" b="0" dirty="0"/>
                  <a:t>=</a:t>
                </a:r>
                <a:r>
                  <a:rPr lang="en-US" altLang="zh-CN" b="0" dirty="0" err="1"/>
                  <a:t>pSourceMatrix</a:t>
                </a:r>
                <a:r>
                  <a:rPr lang="en-US" altLang="zh-CN" b="0" dirty="0"/>
                  <a:t>-&gt;</a:t>
                </a:r>
                <a:r>
                  <a:rPr lang="en-US" altLang="zh-CN" b="0" dirty="0" err="1"/>
                  <a:t>nonzeros</a:t>
                </a:r>
                <a:r>
                  <a:rPr lang="en-US" altLang="zh-CN" b="0" dirty="0"/>
                  <a:t>;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altLang="zh-CN" b="0" dirty="0"/>
                  <a:t>    return OK;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altLang="zh-CN" b="0" dirty="0"/>
                  <a:t>}</a:t>
                </a:r>
              </a:p>
              <a:p>
                <a:pPr lvl="1">
                  <a:lnSpc>
                    <a:spcPct val="100000"/>
                  </a:lnSpc>
                </a:pPr>
                <a:r>
                  <a:rPr lang="zh-CN" altLang="en-US" b="0" dirty="0"/>
                  <a:t>算法的时间复杂度为</a:t>
                </a:r>
                <a14:m>
                  <m:oMath xmlns:m="http://schemas.openxmlformats.org/officeDocument/2006/math"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b="0" dirty="0"/>
                  <a:t>，其中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b="0" dirty="0"/>
                  <a:t>是列数，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zh-CN" altLang="en-US" b="0" dirty="0"/>
                  <a:t> 是长度。</a:t>
                </a:r>
                <a:r>
                  <a:rPr lang="en-US" altLang="zh-CN" b="0" dirty="0"/>
                  <a:t>  </a:t>
                </a:r>
              </a:p>
              <a:p>
                <a:pPr lvl="1">
                  <a:lnSpc>
                    <a:spcPct val="100000"/>
                  </a:lnSpc>
                </a:pPr>
                <a:r>
                  <a:rPr lang="zh-CN" altLang="en-US" b="0" dirty="0"/>
                  <a:t>如果不是稀疏矩阵，那么时间复杂度为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𝑚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b="0" dirty="0"/>
                  <a:t>，其中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zh-CN" altLang="en-US" b="0" i="1">
                        <a:latin typeface="Cambria Math" panose="02040503050406030204" pitchFamily="18" charset="0"/>
                      </a:rPr>
                      <m:t>是</m:t>
                    </m:r>
                  </m:oMath>
                </a14:m>
                <a:r>
                  <a:rPr lang="zh-CN" altLang="en-US" b="0" dirty="0"/>
                  <a:t>行数，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zh-CN" altLang="en-US" b="0" i="1">
                        <a:latin typeface="Cambria Math" panose="02040503050406030204" pitchFamily="18" charset="0"/>
                      </a:rPr>
                      <m:t>是</m:t>
                    </m:r>
                  </m:oMath>
                </a14:m>
                <a:r>
                  <a:rPr lang="zh-CN" altLang="en-US" b="0" dirty="0"/>
                  <a:t>列数。</a:t>
                </a:r>
                <a:endParaRPr lang="en-US" altLang="zh-CN" b="0" dirty="0"/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altLang="zh-CN" b="0" dirty="0"/>
                  <a:t>        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altLang="zh-CN" b="0" dirty="0"/>
                  <a:t>    </a:t>
                </a:r>
                <a:endParaRPr lang="zh-CN" altLang="en-US" b="0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1AE53939-FD31-4F65-83B0-AE13DE6B69C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04800" y="1219200"/>
                <a:ext cx="11734800" cy="5181600"/>
              </a:xfrm>
              <a:blipFill>
                <a:blip r:embed="rId2"/>
                <a:stretch>
                  <a:fillRect l="-1299" t="-15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396221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31D1AB9-AC79-44DB-AA4C-0EAED607DE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一次定位快速转置算法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AE53939-FD31-4F65-83B0-AE13DE6B69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219200"/>
            <a:ext cx="11734800" cy="5181600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zh-CN" b="0" dirty="0" err="1"/>
              <a:t>FastTranspose</a:t>
            </a:r>
            <a:r>
              <a:rPr lang="en-US" altLang="zh-CN" b="0" dirty="0"/>
              <a:t> (S, D) {  // </a:t>
            </a:r>
            <a:r>
              <a:rPr lang="zh-CN" altLang="en-US" b="0" dirty="0"/>
              <a:t>将</a:t>
            </a:r>
            <a:r>
              <a:rPr lang="en-US" altLang="zh-CN" b="0" dirty="0"/>
              <a:t>S</a:t>
            </a:r>
            <a:r>
              <a:rPr lang="zh-CN" altLang="en-US" b="0" dirty="0"/>
              <a:t>转置为</a:t>
            </a:r>
            <a:r>
              <a:rPr lang="en-US" altLang="zh-CN" b="0" dirty="0"/>
              <a:t>D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/</a:t>
            </a:r>
            <a:r>
              <a:rPr lang="zh-CN" altLang="en-US" b="0" dirty="0"/>
              <a:t>*</a:t>
            </a:r>
            <a:r>
              <a:rPr lang="en-US" altLang="zh-CN" b="0" dirty="0"/>
              <a:t> </a:t>
            </a:r>
            <a:r>
              <a:rPr lang="zh-CN" altLang="en-US" b="0" dirty="0"/>
              <a:t>先计算列转为行后在三元组数组中的位置；*</a:t>
            </a:r>
            <a:r>
              <a:rPr lang="en-US" altLang="zh-CN" b="0" dirty="0"/>
              <a:t>/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</a:t>
            </a:r>
          </a:p>
          <a:p>
            <a:pPr marL="0" indent="0">
              <a:lnSpc>
                <a:spcPct val="100000"/>
              </a:lnSpc>
              <a:buNone/>
            </a:pPr>
            <a:endParaRPr lang="en-US" altLang="zh-CN" b="0" dirty="0"/>
          </a:p>
          <a:p>
            <a:pPr marL="0" indent="0">
              <a:lnSpc>
                <a:spcPct val="100000"/>
              </a:lnSpc>
              <a:buNone/>
            </a:pPr>
            <a:endParaRPr lang="en-US" altLang="zh-CN" b="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for (</a:t>
            </a:r>
            <a:r>
              <a:rPr lang="en-US" altLang="zh-CN" b="0" dirty="0" err="1"/>
              <a:t>i</a:t>
            </a:r>
            <a:r>
              <a:rPr lang="en-US" altLang="zh-CN" b="0" dirty="0"/>
              <a:t>=0; </a:t>
            </a:r>
            <a:r>
              <a:rPr lang="en-US" altLang="zh-CN" b="0" dirty="0" err="1"/>
              <a:t>i</a:t>
            </a:r>
            <a:r>
              <a:rPr lang="en-US" altLang="zh-CN" b="0" dirty="0"/>
              <a:t>&lt;</a:t>
            </a:r>
            <a:r>
              <a:rPr lang="en-US" altLang="zh-CN" b="0" dirty="0" err="1"/>
              <a:t>S.nonzeros</a:t>
            </a:r>
            <a:r>
              <a:rPr lang="en-US" altLang="zh-CN" b="0" dirty="0"/>
              <a:t>; </a:t>
            </a:r>
            <a:r>
              <a:rPr lang="en-US" altLang="zh-CN" b="0" dirty="0" err="1"/>
              <a:t>i</a:t>
            </a:r>
            <a:r>
              <a:rPr lang="en-US" altLang="zh-CN" b="0" dirty="0"/>
              <a:t>++) 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</a:t>
            </a:r>
            <a:r>
              <a:rPr lang="zh-CN" altLang="en-US" b="0" dirty="0"/>
              <a:t>把第 </a:t>
            </a:r>
            <a:r>
              <a:rPr lang="en-US" altLang="zh-CN" b="0" dirty="0" err="1"/>
              <a:t>i</a:t>
            </a:r>
            <a:r>
              <a:rPr lang="en-US" altLang="zh-CN" b="0" dirty="0"/>
              <a:t> </a:t>
            </a:r>
            <a:r>
              <a:rPr lang="zh-CN" altLang="en-US" b="0" dirty="0"/>
              <a:t>个三元组转置；</a:t>
            </a:r>
            <a:r>
              <a:rPr lang="en-US" altLang="zh-CN" b="0" dirty="0"/>
              <a:t>/</a:t>
            </a:r>
            <a:r>
              <a:rPr lang="zh-CN" altLang="en-US" b="0" dirty="0"/>
              <a:t>*</a:t>
            </a:r>
            <a:r>
              <a:rPr lang="en-US" altLang="zh-CN" b="0" dirty="0"/>
              <a:t> </a:t>
            </a:r>
            <a:r>
              <a:rPr lang="zh-CN" altLang="en-US" b="0" dirty="0"/>
              <a:t>行号列号对换 *</a:t>
            </a:r>
            <a:r>
              <a:rPr lang="en-US" altLang="zh-CN" b="0" dirty="0"/>
              <a:t>/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position[col]++;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}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}</a:t>
            </a:r>
          </a:p>
        </p:txBody>
      </p:sp>
      <p:graphicFrame>
        <p:nvGraphicFramePr>
          <p:cNvPr id="6" name="表格 6">
            <a:extLst>
              <a:ext uri="{FF2B5EF4-FFF2-40B4-BE49-F238E27FC236}">
                <a16:creationId xmlns:a16="http://schemas.microsoft.com/office/drawing/2014/main" id="{52246E03-2732-4C10-B64B-ED00668AD5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0970639"/>
              </p:ext>
            </p:extLst>
          </p:nvPr>
        </p:nvGraphicFramePr>
        <p:xfrm>
          <a:off x="914400" y="2362200"/>
          <a:ext cx="10744201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62600">
                  <a:extLst>
                    <a:ext uri="{9D8B030D-6E8A-4147-A177-3AD203B41FA5}">
                      <a16:colId xmlns:a16="http://schemas.microsoft.com/office/drawing/2014/main" val="3961316507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16209123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1911886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72187443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52378448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3451729614"/>
                    </a:ext>
                  </a:extLst>
                </a:gridCol>
                <a:gridCol w="762001">
                  <a:extLst>
                    <a:ext uri="{9D8B030D-6E8A-4147-A177-3AD203B41FA5}">
                      <a16:colId xmlns:a16="http://schemas.microsoft.com/office/drawing/2014/main" val="39165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3200" b="0" dirty="0">
                          <a:solidFill>
                            <a:schemeClr val="tx1"/>
                          </a:solidFill>
                        </a:rPr>
                        <a:t>列号 </a:t>
                      </a:r>
                      <a:r>
                        <a:rPr lang="en-US" altLang="zh-CN" sz="3200" b="0" dirty="0">
                          <a:solidFill>
                            <a:schemeClr val="tx1"/>
                          </a:solidFill>
                        </a:rPr>
                        <a:t>col</a:t>
                      </a:r>
                      <a:endParaRPr lang="zh-CN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CN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CN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CN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0" dirty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zh-CN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83877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3200" dirty="0">
                          <a:solidFill>
                            <a:schemeClr val="tx1"/>
                          </a:solidFill>
                        </a:rPr>
                        <a:t>列上的元素个数</a:t>
                      </a:r>
                      <a:r>
                        <a:rPr lang="en-US" altLang="zh-CN" sz="3200" dirty="0">
                          <a:solidFill>
                            <a:schemeClr val="tx1"/>
                          </a:solidFill>
                        </a:rPr>
                        <a:t>num[col]</a:t>
                      </a:r>
                      <a:endParaRPr lang="zh-CN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CN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CN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zh-CN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86418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3200" dirty="0">
                          <a:solidFill>
                            <a:schemeClr val="tx1"/>
                          </a:solidFill>
                        </a:rPr>
                        <a:t>列转行后的位置</a:t>
                      </a:r>
                      <a:r>
                        <a:rPr lang="en-US" altLang="zh-CN" sz="3200" dirty="0">
                          <a:solidFill>
                            <a:schemeClr val="tx1"/>
                          </a:solidFill>
                        </a:rPr>
                        <a:t>position[col]</a:t>
                      </a:r>
                      <a:endParaRPr lang="zh-CN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CN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CN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CN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CN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zh-CN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31722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524897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31D1AB9-AC79-44DB-AA4C-0EAED607DE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十字链表</a:t>
            </a:r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D4DA67AF-5297-4C6C-9272-2E4CD9D9B2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9993" y="1371600"/>
            <a:ext cx="10662407" cy="4724400"/>
          </a:xfrm>
        </p:spPr>
      </p:pic>
      <p:graphicFrame>
        <p:nvGraphicFramePr>
          <p:cNvPr id="8" name="表格 11">
            <a:extLst>
              <a:ext uri="{FF2B5EF4-FFF2-40B4-BE49-F238E27FC236}">
                <a16:creationId xmlns:a16="http://schemas.microsoft.com/office/drawing/2014/main" id="{2D6A2323-E91B-4B85-818B-19FE91EBF6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3201373"/>
              </p:ext>
            </p:extLst>
          </p:nvPr>
        </p:nvGraphicFramePr>
        <p:xfrm>
          <a:off x="381000" y="3703320"/>
          <a:ext cx="2895600" cy="2316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9120">
                  <a:extLst>
                    <a:ext uri="{9D8B030D-6E8A-4147-A177-3AD203B41FA5}">
                      <a16:colId xmlns:a16="http://schemas.microsoft.com/office/drawing/2014/main" val="544441498"/>
                    </a:ext>
                  </a:extLst>
                </a:gridCol>
                <a:gridCol w="579120">
                  <a:extLst>
                    <a:ext uri="{9D8B030D-6E8A-4147-A177-3AD203B41FA5}">
                      <a16:colId xmlns:a16="http://schemas.microsoft.com/office/drawing/2014/main" val="474933333"/>
                    </a:ext>
                  </a:extLst>
                </a:gridCol>
                <a:gridCol w="579120">
                  <a:extLst>
                    <a:ext uri="{9D8B030D-6E8A-4147-A177-3AD203B41FA5}">
                      <a16:colId xmlns:a16="http://schemas.microsoft.com/office/drawing/2014/main" val="711603891"/>
                    </a:ext>
                  </a:extLst>
                </a:gridCol>
                <a:gridCol w="579120">
                  <a:extLst>
                    <a:ext uri="{9D8B030D-6E8A-4147-A177-3AD203B41FA5}">
                      <a16:colId xmlns:a16="http://schemas.microsoft.com/office/drawing/2014/main" val="1275186421"/>
                    </a:ext>
                  </a:extLst>
                </a:gridCol>
                <a:gridCol w="579120">
                  <a:extLst>
                    <a:ext uri="{9D8B030D-6E8A-4147-A177-3AD203B41FA5}">
                      <a16:colId xmlns:a16="http://schemas.microsoft.com/office/drawing/2014/main" val="101242027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CN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CN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66378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1" dirty="0"/>
                        <a:t>3</a:t>
                      </a:r>
                      <a:endParaRPr lang="zh-CN" altLang="en-US" sz="3200" b="1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3200" b="1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3200" b="1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3200" b="1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56028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3200" b="1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3200" b="1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1" dirty="0"/>
                        <a:t>5</a:t>
                      </a:r>
                      <a:endParaRPr lang="zh-CN" altLang="en-US" sz="3200" b="1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3200" b="1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37629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CN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1" dirty="0"/>
                        <a:t>2</a:t>
                      </a:r>
                      <a:endParaRPr lang="zh-CN" altLang="en-US" sz="3200" b="1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3200" b="1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3200" b="1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1" dirty="0"/>
                        <a:t>7</a:t>
                      </a:r>
                      <a:endParaRPr lang="zh-CN" altLang="en-US" sz="3200" b="1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65035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057185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754B905-4CE6-42EA-8914-8E5A0EF919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十字链表节点描述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56E41B7-A5A4-4A45-BF4D-9DFF6A45DD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25000"/>
              </a:lnSpc>
              <a:buNone/>
            </a:pPr>
            <a:r>
              <a:rPr lang="en-US" altLang="zh-CN" b="0" dirty="0"/>
              <a:t>typedef struct </a:t>
            </a:r>
            <a:r>
              <a:rPr lang="en-US" altLang="zh-CN" b="0" dirty="0" err="1"/>
              <a:t>CrossNode</a:t>
            </a:r>
            <a:r>
              <a:rPr lang="en-US" altLang="zh-CN" b="0" dirty="0"/>
              <a:t> {</a:t>
            </a:r>
          </a:p>
          <a:p>
            <a:pPr marL="0" indent="0">
              <a:lnSpc>
                <a:spcPct val="125000"/>
              </a:lnSpc>
              <a:buNone/>
            </a:pPr>
            <a:r>
              <a:rPr lang="en-US" altLang="zh-CN" b="0" dirty="0"/>
              <a:t>    int row;   // </a:t>
            </a:r>
            <a:r>
              <a:rPr lang="zh-CN" altLang="en-US" b="0" dirty="0"/>
              <a:t>行号</a:t>
            </a:r>
            <a:endParaRPr lang="en-US" altLang="zh-CN" b="0" dirty="0"/>
          </a:p>
          <a:p>
            <a:pPr marL="0" indent="0">
              <a:lnSpc>
                <a:spcPct val="125000"/>
              </a:lnSpc>
              <a:buNone/>
            </a:pPr>
            <a:r>
              <a:rPr lang="en-US" altLang="zh-CN" b="0" dirty="0"/>
              <a:t>    int column;   // </a:t>
            </a:r>
            <a:r>
              <a:rPr lang="zh-CN" altLang="en-US" b="0" dirty="0"/>
              <a:t>列号</a:t>
            </a:r>
            <a:endParaRPr lang="en-US" altLang="zh-CN" b="0" dirty="0"/>
          </a:p>
          <a:p>
            <a:pPr marL="0" indent="0">
              <a:lnSpc>
                <a:spcPct val="125000"/>
              </a:lnSpc>
              <a:buNone/>
            </a:pPr>
            <a:r>
              <a:rPr lang="en-US" altLang="zh-CN" b="0" dirty="0"/>
              <a:t>    </a:t>
            </a:r>
            <a:r>
              <a:rPr lang="en-US" altLang="zh-CN" b="0" dirty="0" err="1"/>
              <a:t>MatrixElem</a:t>
            </a:r>
            <a:r>
              <a:rPr lang="en-US" altLang="zh-CN" b="0" dirty="0"/>
              <a:t> value;   // </a:t>
            </a:r>
            <a:r>
              <a:rPr lang="zh-CN" altLang="en-US" b="0" dirty="0"/>
              <a:t>数值</a:t>
            </a:r>
            <a:endParaRPr lang="en-US" altLang="zh-CN" b="0" dirty="0"/>
          </a:p>
          <a:p>
            <a:pPr marL="0" indent="0">
              <a:lnSpc>
                <a:spcPct val="125000"/>
              </a:lnSpc>
              <a:buNone/>
            </a:pPr>
            <a:r>
              <a:rPr lang="en-US" altLang="zh-CN" b="0" dirty="0"/>
              <a:t>    struct </a:t>
            </a:r>
            <a:r>
              <a:rPr lang="en-US" altLang="zh-CN" b="0" dirty="0" err="1"/>
              <a:t>CrossNode</a:t>
            </a:r>
            <a:r>
              <a:rPr lang="en-US" altLang="zh-CN" b="0" dirty="0"/>
              <a:t> *</a:t>
            </a:r>
            <a:r>
              <a:rPr lang="en-US" altLang="zh-CN" b="0" dirty="0" err="1"/>
              <a:t>pRight</a:t>
            </a:r>
            <a:r>
              <a:rPr lang="en-US" altLang="zh-CN" b="0" dirty="0"/>
              <a:t>;     // </a:t>
            </a:r>
            <a:r>
              <a:rPr lang="zh-CN" altLang="en-US" b="0" dirty="0"/>
              <a:t>同行下一个节点</a:t>
            </a:r>
            <a:endParaRPr lang="en-US" altLang="zh-CN" b="0" dirty="0"/>
          </a:p>
          <a:p>
            <a:pPr marL="0" indent="0">
              <a:lnSpc>
                <a:spcPct val="125000"/>
              </a:lnSpc>
              <a:buNone/>
            </a:pPr>
            <a:r>
              <a:rPr lang="en-US" altLang="zh-CN" b="0" dirty="0"/>
              <a:t>    struct </a:t>
            </a:r>
            <a:r>
              <a:rPr lang="en-US" altLang="zh-CN" b="0" dirty="0" err="1"/>
              <a:t>CrossNode</a:t>
            </a:r>
            <a:r>
              <a:rPr lang="en-US" altLang="zh-CN" b="0" dirty="0"/>
              <a:t> *</a:t>
            </a:r>
            <a:r>
              <a:rPr lang="en-US" altLang="zh-CN" b="0" dirty="0" err="1"/>
              <a:t>pDown</a:t>
            </a:r>
            <a:r>
              <a:rPr lang="en-US" altLang="zh-CN" b="0" dirty="0"/>
              <a:t>;   // </a:t>
            </a:r>
            <a:r>
              <a:rPr lang="zh-CN" altLang="en-US" b="0" dirty="0"/>
              <a:t>同列下一个节点</a:t>
            </a:r>
            <a:endParaRPr lang="en-US" altLang="zh-CN" b="0" dirty="0"/>
          </a:p>
          <a:p>
            <a:pPr marL="0" indent="0">
              <a:lnSpc>
                <a:spcPct val="125000"/>
              </a:lnSpc>
              <a:buNone/>
            </a:pPr>
            <a:r>
              <a:rPr lang="en-US" altLang="zh-CN" b="0" dirty="0"/>
              <a:t>} </a:t>
            </a:r>
            <a:r>
              <a:rPr lang="en-US" altLang="zh-CN" b="0" dirty="0" err="1"/>
              <a:t>CrossNode</a:t>
            </a:r>
            <a:r>
              <a:rPr lang="en-US" altLang="zh-CN" b="0" dirty="0"/>
              <a:t>;</a:t>
            </a:r>
            <a:endParaRPr lang="zh-CN" altLang="en-US" b="0" dirty="0"/>
          </a:p>
        </p:txBody>
      </p:sp>
    </p:spTree>
    <p:extLst>
      <p:ext uri="{BB962C8B-B14F-4D97-AF65-F5344CB8AC3E}">
        <p14:creationId xmlns:p14="http://schemas.microsoft.com/office/powerpoint/2010/main" val="13275169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754B905-4CE6-42EA-8914-8E5A0EF919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用十字链表描述稀疏矩阵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56E41B7-A5A4-4A45-BF4D-9DFF6A45DD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25000"/>
              </a:lnSpc>
              <a:buNone/>
            </a:pPr>
            <a:r>
              <a:rPr lang="en-US" altLang="zh-CN" b="0" dirty="0"/>
              <a:t>typedef struct {</a:t>
            </a:r>
          </a:p>
          <a:p>
            <a:pPr marL="0" indent="0">
              <a:lnSpc>
                <a:spcPct val="125000"/>
              </a:lnSpc>
              <a:buNone/>
            </a:pPr>
            <a:r>
              <a:rPr lang="en-US" altLang="zh-CN" b="0" dirty="0"/>
              <a:t>    </a:t>
            </a:r>
            <a:r>
              <a:rPr lang="en-US" altLang="zh-CN" b="0" dirty="0" err="1"/>
              <a:t>CrossNode</a:t>
            </a:r>
            <a:r>
              <a:rPr lang="en-US" altLang="zh-CN" b="0" dirty="0"/>
              <a:t>* </a:t>
            </a:r>
            <a:r>
              <a:rPr lang="en-US" altLang="zh-CN" b="0" dirty="0" err="1"/>
              <a:t>rowHeads</a:t>
            </a:r>
            <a:r>
              <a:rPr lang="en-US" altLang="zh-CN" b="0" dirty="0"/>
              <a:t>[];</a:t>
            </a:r>
          </a:p>
          <a:p>
            <a:pPr marL="0" indent="0">
              <a:lnSpc>
                <a:spcPct val="125000"/>
              </a:lnSpc>
              <a:buNone/>
            </a:pPr>
            <a:r>
              <a:rPr lang="en-US" altLang="zh-CN" b="0" dirty="0"/>
              <a:t>    </a:t>
            </a:r>
            <a:r>
              <a:rPr lang="en-US" altLang="zh-CN" b="0" dirty="0" err="1"/>
              <a:t>CrossNode</a:t>
            </a:r>
            <a:r>
              <a:rPr lang="en-US" altLang="zh-CN" b="0" dirty="0"/>
              <a:t>* </a:t>
            </a:r>
            <a:r>
              <a:rPr lang="en-US" altLang="zh-CN" b="0" dirty="0" err="1"/>
              <a:t>columnHeads</a:t>
            </a:r>
            <a:r>
              <a:rPr lang="en-US" altLang="zh-CN" b="0" dirty="0"/>
              <a:t>[];</a:t>
            </a:r>
          </a:p>
          <a:p>
            <a:pPr marL="0" indent="0">
              <a:lnSpc>
                <a:spcPct val="125000"/>
              </a:lnSpc>
              <a:buNone/>
            </a:pPr>
            <a:r>
              <a:rPr lang="en-US" altLang="zh-CN" b="0" dirty="0"/>
              <a:t>    int rows;</a:t>
            </a:r>
          </a:p>
          <a:p>
            <a:pPr marL="0" indent="0">
              <a:lnSpc>
                <a:spcPct val="125000"/>
              </a:lnSpc>
              <a:buNone/>
            </a:pPr>
            <a:r>
              <a:rPr lang="en-US" altLang="zh-CN" b="0" dirty="0"/>
              <a:t>    int columns;</a:t>
            </a:r>
          </a:p>
          <a:p>
            <a:pPr marL="0" indent="0">
              <a:lnSpc>
                <a:spcPct val="125000"/>
              </a:lnSpc>
              <a:buNone/>
            </a:pPr>
            <a:r>
              <a:rPr lang="en-US" altLang="zh-CN" b="0" dirty="0"/>
              <a:t>    int </a:t>
            </a:r>
            <a:r>
              <a:rPr lang="en-US" altLang="zh-CN" b="0" dirty="0" err="1"/>
              <a:t>nonzeros</a:t>
            </a:r>
            <a:r>
              <a:rPr lang="en-US" altLang="zh-CN" b="0" dirty="0"/>
              <a:t>;</a:t>
            </a:r>
          </a:p>
          <a:p>
            <a:pPr marL="0" indent="0">
              <a:lnSpc>
                <a:spcPct val="125000"/>
              </a:lnSpc>
              <a:buNone/>
            </a:pPr>
            <a:r>
              <a:rPr lang="en-US" altLang="zh-CN" b="0" dirty="0"/>
              <a:t>} </a:t>
            </a:r>
            <a:r>
              <a:rPr lang="en-US" altLang="zh-CN" b="0" dirty="0" err="1"/>
              <a:t>SparseMatrix</a:t>
            </a:r>
            <a:r>
              <a:rPr lang="en-US" altLang="zh-CN" b="0" dirty="0"/>
              <a:t>;</a:t>
            </a:r>
            <a:endParaRPr lang="zh-CN" altLang="en-US" b="0" dirty="0"/>
          </a:p>
        </p:txBody>
      </p:sp>
    </p:spTree>
    <p:extLst>
      <p:ext uri="{BB962C8B-B14F-4D97-AF65-F5344CB8AC3E}">
        <p14:creationId xmlns:p14="http://schemas.microsoft.com/office/powerpoint/2010/main" val="25289574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727F56-F7C8-47A2-82AD-1F5E1240A2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广义表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2F2710B-2E09-4AAD-938F-7FB0C9151D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线性表</a:t>
            </a:r>
            <a:endParaRPr lang="en-US" altLang="zh-CN" dirty="0"/>
          </a:p>
          <a:p>
            <a:pPr lvl="1"/>
            <a:r>
              <a:rPr lang="zh-CN" altLang="en-US" dirty="0"/>
              <a:t>一个节点上通常只有一个数据元素。</a:t>
            </a:r>
            <a:endParaRPr lang="en-US" altLang="zh-CN" dirty="0"/>
          </a:p>
          <a:p>
            <a:pPr lvl="1"/>
            <a:r>
              <a:rPr lang="zh-CN" altLang="en-US" dirty="0"/>
              <a:t>这些数据元素通常具有相同的数据类型。</a:t>
            </a:r>
            <a:endParaRPr lang="en-US" altLang="zh-CN" dirty="0"/>
          </a:p>
          <a:p>
            <a:r>
              <a:rPr lang="zh-CN" altLang="en-US" dirty="0"/>
              <a:t>广义表：</a:t>
            </a:r>
            <a:r>
              <a:rPr lang="zh-CN" altLang="en-US" b="0" dirty="0"/>
              <a:t>表的节点又可以是广义表。</a:t>
            </a:r>
            <a:endParaRPr lang="en-US" altLang="zh-CN" b="0" dirty="0"/>
          </a:p>
          <a:p>
            <a:pPr lvl="1"/>
            <a:r>
              <a:rPr lang="zh-CN" altLang="en-US" dirty="0"/>
              <a:t>原子节点：只存一个数据元素。</a:t>
            </a:r>
            <a:endParaRPr lang="en-US" altLang="zh-CN" dirty="0"/>
          </a:p>
          <a:p>
            <a:pPr lvl="1"/>
            <a:r>
              <a:rPr lang="zh-CN" altLang="en-US" dirty="0"/>
              <a:t>子表节点：节点又是个广义表。</a:t>
            </a:r>
          </a:p>
        </p:txBody>
      </p:sp>
    </p:spTree>
    <p:extLst>
      <p:ext uri="{BB962C8B-B14F-4D97-AF65-F5344CB8AC3E}">
        <p14:creationId xmlns:p14="http://schemas.microsoft.com/office/powerpoint/2010/main" val="11413325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20DE86A-DC36-4278-A715-542C05633C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广义表的逻辑结构</a:t>
            </a:r>
          </a:p>
        </p:txBody>
      </p:sp>
      <p:pic>
        <p:nvPicPr>
          <p:cNvPr id="8" name="内容占位符 7">
            <a:extLst>
              <a:ext uri="{FF2B5EF4-FFF2-40B4-BE49-F238E27FC236}">
                <a16:creationId xmlns:a16="http://schemas.microsoft.com/office/drawing/2014/main" id="{EC4E07C5-6DF9-4E3B-BD2C-C7038EAA2BB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600" y="1414298"/>
            <a:ext cx="9372600" cy="4605502"/>
          </a:xfrm>
        </p:spPr>
      </p:pic>
    </p:spTree>
    <p:extLst>
      <p:ext uri="{BB962C8B-B14F-4D97-AF65-F5344CB8AC3E}">
        <p14:creationId xmlns:p14="http://schemas.microsoft.com/office/powerpoint/2010/main" val="31553043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FADA15-701E-4EE6-A4FA-11F8C4BA52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广义表的数学描述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97314AB-9AF0-4820-AD40-0D4E26BD73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20000"/>
              </a:lnSpc>
              <a:buNone/>
            </a:pPr>
            <a:r>
              <a:rPr lang="zh-CN" altLang="en-US" b="0" dirty="0"/>
              <a:t>在数学上通常用大写字母表示表</a:t>
            </a:r>
            <a:r>
              <a:rPr lang="en-US" altLang="zh-CN" b="0" dirty="0"/>
              <a:t>(</a:t>
            </a:r>
            <a:r>
              <a:rPr lang="zh-CN" altLang="en-US" b="0" dirty="0"/>
              <a:t>不是在程序中</a:t>
            </a:r>
            <a:r>
              <a:rPr lang="en-US" altLang="zh-CN" b="0" dirty="0"/>
              <a:t>)</a:t>
            </a:r>
            <a:r>
              <a:rPr lang="zh-CN" altLang="en-US" b="0" dirty="0"/>
              <a:t>，用小写字母表示原子节点，用括号表示表的内容。</a:t>
            </a:r>
            <a:endParaRPr lang="en-US" altLang="zh-CN" b="0" dirty="0"/>
          </a:p>
          <a:p>
            <a:pPr lvl="1"/>
            <a:r>
              <a:rPr lang="en-US" altLang="zh-CN" dirty="0"/>
              <a:t>A=( )  </a:t>
            </a:r>
            <a:r>
              <a:rPr lang="zh-CN" altLang="en-US" dirty="0"/>
              <a:t>空表，长度为零。</a:t>
            </a:r>
            <a:endParaRPr lang="en-US" altLang="zh-CN" dirty="0"/>
          </a:p>
          <a:p>
            <a:pPr lvl="1"/>
            <a:r>
              <a:rPr lang="en-US" altLang="zh-CN" dirty="0"/>
              <a:t>B=(e)  </a:t>
            </a:r>
            <a:r>
              <a:rPr lang="zh-CN" altLang="en-US" dirty="0"/>
              <a:t>只有一个元素的表。</a:t>
            </a:r>
            <a:endParaRPr lang="en-US" altLang="zh-CN" dirty="0"/>
          </a:p>
          <a:p>
            <a:pPr lvl="1"/>
            <a:r>
              <a:rPr lang="en-US" altLang="zh-CN" dirty="0"/>
              <a:t>C=(a, (</a:t>
            </a:r>
            <a:r>
              <a:rPr lang="en-US" altLang="zh-CN" dirty="0" err="1"/>
              <a:t>b,c,d</a:t>
            </a:r>
            <a:r>
              <a:rPr lang="en-US" altLang="zh-CN" dirty="0"/>
              <a:t>))  </a:t>
            </a:r>
            <a:r>
              <a:rPr lang="zh-CN" altLang="en-US" dirty="0"/>
              <a:t>表的长度为</a:t>
            </a:r>
            <a:r>
              <a:rPr lang="en-US" altLang="zh-CN" dirty="0"/>
              <a:t>2</a:t>
            </a:r>
            <a:r>
              <a:rPr lang="zh-CN" altLang="en-US" dirty="0"/>
              <a:t>，两个元素分别是</a:t>
            </a:r>
            <a:r>
              <a:rPr lang="en-US" altLang="zh-CN" dirty="0"/>
              <a:t>a</a:t>
            </a:r>
            <a:r>
              <a:rPr lang="zh-CN" altLang="en-US" dirty="0"/>
              <a:t>和</a:t>
            </a:r>
            <a:r>
              <a:rPr lang="en-US" altLang="zh-CN" dirty="0"/>
              <a:t>(</a:t>
            </a:r>
            <a:r>
              <a:rPr lang="en-US" altLang="zh-CN" dirty="0" err="1"/>
              <a:t>b,c,d</a:t>
            </a:r>
            <a:r>
              <a:rPr lang="en-US" altLang="zh-CN" dirty="0"/>
              <a:t>)</a:t>
            </a:r>
            <a:r>
              <a:rPr lang="zh-CN" altLang="en-US" dirty="0"/>
              <a:t>。</a:t>
            </a:r>
            <a:endParaRPr lang="en-US" altLang="zh-CN" dirty="0"/>
          </a:p>
          <a:p>
            <a:pPr lvl="1"/>
            <a:r>
              <a:rPr lang="en-US" altLang="zh-CN" dirty="0"/>
              <a:t>D=(A, B, C) </a:t>
            </a:r>
            <a:r>
              <a:rPr lang="zh-CN" altLang="en-US" dirty="0"/>
              <a:t>表的长度为</a:t>
            </a:r>
            <a:r>
              <a:rPr lang="en-US" altLang="zh-CN" dirty="0"/>
              <a:t>3</a:t>
            </a:r>
            <a:r>
              <a:rPr lang="zh-CN" altLang="en-US" dirty="0"/>
              <a:t>，三个元素都是表。</a:t>
            </a:r>
            <a:endParaRPr lang="en-US" altLang="zh-CN" dirty="0"/>
          </a:p>
          <a:p>
            <a:pPr lvl="1"/>
            <a:r>
              <a:rPr lang="en-US" altLang="zh-CN" dirty="0"/>
              <a:t>E=(a, E) </a:t>
            </a:r>
            <a:r>
              <a:rPr lang="zh-CN" altLang="en-US" dirty="0"/>
              <a:t>表的长度为</a:t>
            </a:r>
            <a:r>
              <a:rPr lang="en-US" altLang="zh-CN" dirty="0"/>
              <a:t>2</a:t>
            </a:r>
            <a:r>
              <a:rPr lang="zh-CN" altLang="en-US" dirty="0"/>
              <a:t>，这是一个递归表。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                </a:t>
            </a:r>
            <a:r>
              <a:rPr lang="zh-CN" altLang="en-US" dirty="0"/>
              <a:t>相当于 </a:t>
            </a:r>
            <a:r>
              <a:rPr lang="en-US" altLang="zh-CN" dirty="0"/>
              <a:t>E=(a,</a:t>
            </a:r>
            <a:r>
              <a:rPr lang="zh-CN" altLang="en-US" dirty="0"/>
              <a:t> </a:t>
            </a:r>
            <a:r>
              <a:rPr lang="en-US" altLang="zh-CN" dirty="0"/>
              <a:t>(a,</a:t>
            </a:r>
            <a:r>
              <a:rPr lang="zh-CN" altLang="en-US" dirty="0"/>
              <a:t> </a:t>
            </a:r>
            <a:r>
              <a:rPr lang="en-US" altLang="zh-CN" dirty="0"/>
              <a:t>(a,</a:t>
            </a:r>
            <a:r>
              <a:rPr lang="zh-CN" altLang="en-US" dirty="0"/>
              <a:t> </a:t>
            </a:r>
            <a:r>
              <a:rPr lang="en-US" altLang="zh-CN" dirty="0"/>
              <a:t>……)))</a:t>
            </a:r>
            <a:r>
              <a:rPr lang="zh-CN" altLang="en-US" dirty="0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424550062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4A6DE4-6C0F-D460-59BD-3E04A69F45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Assignments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E6EA723-5880-2B96-F076-85E7FF8ECB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575" y="1309687"/>
            <a:ext cx="11372850" cy="4238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475228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0F7E84E8-9AF5-4CAE-99AC-8FF0F9BD400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sz="9600" dirty="0"/>
              <a:t>Thanks</a:t>
            </a:r>
            <a:endParaRPr lang="zh-CN" altLang="en-US" sz="9600" dirty="0"/>
          </a:p>
        </p:txBody>
      </p:sp>
      <p:sp>
        <p:nvSpPr>
          <p:cNvPr id="5" name="副标题 4">
            <a:extLst>
              <a:ext uri="{FF2B5EF4-FFF2-40B4-BE49-F238E27FC236}">
                <a16:creationId xmlns:a16="http://schemas.microsoft.com/office/drawing/2014/main" id="{13760184-C24A-4093-9783-5B730E6037D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sz="9600" dirty="0"/>
              <a:t>Questions</a:t>
            </a:r>
            <a:endParaRPr lang="zh-CN" altLang="en-US" sz="9600" dirty="0"/>
          </a:p>
        </p:txBody>
      </p:sp>
    </p:spTree>
    <p:extLst>
      <p:ext uri="{BB962C8B-B14F-4D97-AF65-F5344CB8AC3E}">
        <p14:creationId xmlns:p14="http://schemas.microsoft.com/office/powerpoint/2010/main" val="189750828"/>
      </p:ext>
    </p:extLst>
  </p:cSld>
  <p:clrMapOvr>
    <a:masterClrMapping/>
  </p:clrMapOvr>
</p:sld>
</file>

<file path=ppt/theme/theme1.xml><?xml version="1.0" encoding="utf-8"?>
<a:theme xmlns:a="http://schemas.openxmlformats.org/drawingml/2006/main" name="tm2">
  <a:themeElements>
    <a:clrScheme name="tm2 5">
      <a:dk1>
        <a:srgbClr val="000000"/>
      </a:dk1>
      <a:lt1>
        <a:srgbClr val="FFFFFF"/>
      </a:lt1>
      <a:dk2>
        <a:srgbClr val="000000"/>
      </a:dk2>
      <a:lt2>
        <a:srgbClr val="9F9F9F"/>
      </a:lt2>
      <a:accent1>
        <a:srgbClr val="FFCC66"/>
      </a:accent1>
      <a:accent2>
        <a:srgbClr val="0000FF"/>
      </a:accent2>
      <a:accent3>
        <a:srgbClr val="FFFFFF"/>
      </a:accent3>
      <a:accent4>
        <a:srgbClr val="000000"/>
      </a:accent4>
      <a:accent5>
        <a:srgbClr val="FFE2B8"/>
      </a:accent5>
      <a:accent6>
        <a:srgbClr val="0000E7"/>
      </a:accent6>
      <a:hlink>
        <a:srgbClr val="CC00CC"/>
      </a:hlink>
      <a:folHlink>
        <a:srgbClr val="C0C0C0"/>
      </a:folHlink>
    </a:clrScheme>
    <a:fontScheme name="tm2">
      <a:majorFont>
        <a:latin typeface="Arial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tm2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m2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m2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m2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m2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m2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m2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Slipstream</Template>
  <TotalTime>9581</TotalTime>
  <Words>1746</Words>
  <Application>Microsoft Office PowerPoint</Application>
  <PresentationFormat>宽屏</PresentationFormat>
  <Paragraphs>351</Paragraphs>
  <Slides>24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30" baseType="lpstr">
      <vt:lpstr>微软雅黑</vt:lpstr>
      <vt:lpstr>Arial</vt:lpstr>
      <vt:lpstr>Cambria Math</vt:lpstr>
      <vt:lpstr>Times New Roman</vt:lpstr>
      <vt:lpstr>Wingdings</vt:lpstr>
      <vt:lpstr>tm2</vt:lpstr>
      <vt:lpstr>第五章  数组和广义表</vt:lpstr>
      <vt:lpstr>数组</vt:lpstr>
      <vt:lpstr>数组的存储</vt:lpstr>
      <vt:lpstr>一维数组元素地址的计算</vt:lpstr>
      <vt:lpstr>二维数组元素地址的计算</vt:lpstr>
      <vt:lpstr>三维数组元素地址的计算</vt:lpstr>
      <vt:lpstr>三角矩阵     </vt:lpstr>
      <vt:lpstr>下三角矩阵 地址转换     </vt:lpstr>
      <vt:lpstr>带状矩阵     </vt:lpstr>
      <vt:lpstr>带状矩阵 地址转换     </vt:lpstr>
      <vt:lpstr>稀疏矩阵</vt:lpstr>
      <vt:lpstr>稀疏矩阵的三元组描述</vt:lpstr>
      <vt:lpstr>列序递增转置</vt:lpstr>
      <vt:lpstr>列序递增转置(续)</vt:lpstr>
      <vt:lpstr>列序递增转置(续)</vt:lpstr>
      <vt:lpstr>一次定位快速转置算法</vt:lpstr>
      <vt:lpstr>十字链表</vt:lpstr>
      <vt:lpstr>十字链表节点描述</vt:lpstr>
      <vt:lpstr>用十字链表描述稀疏矩阵</vt:lpstr>
      <vt:lpstr>广义表</vt:lpstr>
      <vt:lpstr>广义表的逻辑结构</vt:lpstr>
      <vt:lpstr>广义表的数学描述</vt:lpstr>
      <vt:lpstr>Assignments</vt:lpstr>
      <vt:lpstr>Thanks</vt:lpstr>
    </vt:vector>
  </TitlesOfParts>
  <Company>Publication Services, Inc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 Slide Title</dc:title>
  <dc:creator>K. N. King</dc:creator>
  <cp:lastModifiedBy>xue zhang</cp:lastModifiedBy>
  <cp:revision>1287</cp:revision>
  <cp:lastPrinted>2024-02-25T09:17:16Z</cp:lastPrinted>
  <dcterms:created xsi:type="dcterms:W3CDTF">1999-08-24T18:39:05Z</dcterms:created>
  <dcterms:modified xsi:type="dcterms:W3CDTF">2026-04-22T00:15:47Z</dcterms:modified>
</cp:coreProperties>
</file>