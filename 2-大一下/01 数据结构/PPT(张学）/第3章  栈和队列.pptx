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68"/>
  </p:notesMasterIdLst>
  <p:handoutMasterIdLst>
    <p:handoutMasterId r:id="rId69"/>
  </p:handoutMasterIdLst>
  <p:sldIdLst>
    <p:sldId id="263" r:id="rId2"/>
    <p:sldId id="275" r:id="rId3"/>
    <p:sldId id="267" r:id="rId4"/>
    <p:sldId id="277" r:id="rId5"/>
    <p:sldId id="289" r:id="rId6"/>
    <p:sldId id="276" r:id="rId7"/>
    <p:sldId id="278" r:id="rId8"/>
    <p:sldId id="296" r:id="rId9"/>
    <p:sldId id="290" r:id="rId10"/>
    <p:sldId id="291" r:id="rId11"/>
    <p:sldId id="292" r:id="rId12"/>
    <p:sldId id="293" r:id="rId13"/>
    <p:sldId id="294" r:id="rId14"/>
    <p:sldId id="295" r:id="rId15"/>
    <p:sldId id="297" r:id="rId16"/>
    <p:sldId id="325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326" r:id="rId28"/>
    <p:sldId id="327" r:id="rId29"/>
    <p:sldId id="298" r:id="rId30"/>
    <p:sldId id="299" r:id="rId31"/>
    <p:sldId id="300" r:id="rId32"/>
    <p:sldId id="301" r:id="rId33"/>
    <p:sldId id="303" r:id="rId34"/>
    <p:sldId id="302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2" r:id="rId43"/>
    <p:sldId id="313" r:id="rId44"/>
    <p:sldId id="314" r:id="rId45"/>
    <p:sldId id="315" r:id="rId46"/>
    <p:sldId id="316" r:id="rId47"/>
    <p:sldId id="317" r:id="rId48"/>
    <p:sldId id="319" r:id="rId49"/>
    <p:sldId id="320" r:id="rId50"/>
    <p:sldId id="321" r:id="rId51"/>
    <p:sldId id="322" r:id="rId52"/>
    <p:sldId id="323" r:id="rId53"/>
    <p:sldId id="324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8" r:id="rId65"/>
    <p:sldId id="339" r:id="rId66"/>
    <p:sldId id="340" r:id="rId67"/>
  </p:sldIdLst>
  <p:sldSz cx="12192000" cy="6858000"/>
  <p:notesSz cx="6996113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990033"/>
    <a:srgbClr val="660033"/>
    <a:srgbClr val="006600"/>
    <a:srgbClr val="C6A02E"/>
    <a:srgbClr val="B82F25"/>
    <a:srgbClr val="6DBFAB"/>
    <a:srgbClr val="FF7706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4" autoAdjust="0"/>
    <p:restoredTop sz="94660"/>
  </p:normalViewPr>
  <p:slideViewPr>
    <p:cSldViewPr>
      <p:cViewPr varScale="1">
        <p:scale>
          <a:sx n="85" d="100"/>
          <a:sy n="85" d="100"/>
        </p:scale>
        <p:origin x="54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2923"/>
        <p:guide pos="22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212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62400" y="0"/>
            <a:ext cx="303212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32125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62400" y="8818563"/>
            <a:ext cx="3032125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83312" cy="3479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08488"/>
            <a:ext cx="5129213" cy="41783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20150"/>
            <a:ext cx="3032125" cy="463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第三章  栈和队列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34B8D-11F3-48A6-BD17-674966CA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D16D830-0C02-427E-A192-FC3DF82763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599"/>
            <a:ext cx="5471161" cy="4953001"/>
          </a:xfr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F50D07-1C38-4C45-BEEA-BA5171CBFA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栈的结构描述</a:t>
            </a:r>
            <a:endParaRPr lang="en-US" altLang="zh-CN" dirty="0"/>
          </a:p>
          <a:p>
            <a:pPr lvl="1"/>
            <a:r>
              <a:rPr lang="zh-CN" altLang="en-US" dirty="0"/>
              <a:t>栈底</a:t>
            </a:r>
            <a:endParaRPr lang="en-US" altLang="zh-CN" dirty="0"/>
          </a:p>
          <a:p>
            <a:pPr lvl="1"/>
            <a:r>
              <a:rPr lang="zh-CN" altLang="en-US" dirty="0"/>
              <a:t>栈顶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  <a:p>
            <a:r>
              <a:rPr lang="zh-CN" altLang="en-US" dirty="0"/>
              <a:t>对栈的各种操作</a:t>
            </a:r>
            <a:endParaRPr lang="en-US" altLang="zh-CN" dirty="0"/>
          </a:p>
          <a:p>
            <a:pPr lvl="1"/>
            <a:r>
              <a:rPr lang="zh-CN" altLang="en-US" dirty="0"/>
              <a:t>进栈</a:t>
            </a:r>
            <a:endParaRPr lang="en-US" altLang="zh-CN" dirty="0"/>
          </a:p>
          <a:p>
            <a:pPr lvl="1"/>
            <a:r>
              <a:rPr lang="zh-CN" altLang="en-US" dirty="0"/>
              <a:t>出栈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53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栈的定义（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用静态数组定义栈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StackElem</a:t>
            </a:r>
            <a:r>
              <a:rPr lang="en-US" altLang="zh-CN" b="0" dirty="0"/>
              <a:t>  a[STACK_SIZE];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top;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size;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StaticStack</a:t>
            </a:r>
            <a:r>
              <a:rPr lang="en-US" altLang="zh-CN" b="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8146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栈的定义（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用动态数组定义栈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StackElem</a:t>
            </a:r>
            <a:r>
              <a:rPr lang="zh-CN" altLang="en-US" b="0" dirty="0"/>
              <a:t>*  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StackElem</a:t>
            </a:r>
            <a:r>
              <a:rPr lang="en-US" altLang="zh-CN" b="0" dirty="0"/>
              <a:t>*  </a:t>
            </a:r>
            <a:r>
              <a:rPr lang="en-US" altLang="zh-CN" b="0" dirty="0" err="1"/>
              <a:t>pTop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size;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DynamicStack</a:t>
            </a:r>
            <a:r>
              <a:rPr lang="en-US" altLang="zh-CN" b="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8720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栈的定义（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void*  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void*  </a:t>
            </a:r>
            <a:r>
              <a:rPr lang="en-US" altLang="zh-CN" b="0" dirty="0" err="1"/>
              <a:t>pTop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elemSize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stackSize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Stack;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35648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栈的定义（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用链表定义栈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#include “</a:t>
            </a:r>
            <a:r>
              <a:rPr lang="en-US" altLang="zh-CN" b="0" dirty="0" err="1"/>
              <a:t>LinkedList.h</a:t>
            </a:r>
            <a:r>
              <a:rPr lang="en-US" altLang="zh-CN" b="0" dirty="0"/>
              <a:t>”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LinkedList </a:t>
            </a:r>
            <a:r>
              <a:rPr lang="en-US" altLang="zh-CN" b="0" dirty="0" err="1"/>
              <a:t>LinkedStack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进栈操作就是把数据插入到链表的头部。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出栈操作就是把链表中的第一个节点删除。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13007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用静态数组实现简单栈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StackElem</a:t>
            </a:r>
            <a:r>
              <a:rPr lang="en-US" altLang="zh-CN" b="0" dirty="0"/>
              <a:t>  a[STACK_SIZE];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top;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size;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1992632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627EF-0226-41AB-8638-822CD8004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分析对简单栈的各种操作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4B0499F-E4CB-4223-A951-E81D03CD00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0"/>
            <a:ext cx="5963936" cy="4800600"/>
          </a:xfrm>
        </p:spPr>
      </p:pic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C41FD9C-18F2-4CCD-901D-055BF2286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31000" y="1447800"/>
            <a:ext cx="5689600" cy="4800600"/>
          </a:xfrm>
        </p:spPr>
        <p:txBody>
          <a:bodyPr/>
          <a:lstStyle/>
          <a:p>
            <a:pPr lvl="1"/>
            <a:r>
              <a:rPr lang="zh-CN" altLang="en-US" dirty="0"/>
              <a:t>初始化</a:t>
            </a:r>
            <a:endParaRPr lang="en-US" altLang="zh-CN" dirty="0"/>
          </a:p>
          <a:p>
            <a:pPr lvl="1"/>
            <a:r>
              <a:rPr lang="zh-CN" altLang="en-US" dirty="0"/>
              <a:t>求栈的长度</a:t>
            </a:r>
            <a:endParaRPr lang="en-US" altLang="zh-CN" dirty="0"/>
          </a:p>
          <a:p>
            <a:pPr lvl="1"/>
            <a:r>
              <a:rPr lang="zh-CN" altLang="en-US" dirty="0"/>
              <a:t>清空栈</a:t>
            </a:r>
            <a:endParaRPr lang="en-US" altLang="zh-CN" dirty="0"/>
          </a:p>
          <a:p>
            <a:pPr lvl="1"/>
            <a:r>
              <a:rPr lang="zh-CN" altLang="en-US" dirty="0"/>
              <a:t>判断栈是否为空</a:t>
            </a:r>
            <a:endParaRPr lang="en-US" altLang="zh-CN" dirty="0"/>
          </a:p>
          <a:p>
            <a:pPr lvl="1"/>
            <a:r>
              <a:rPr lang="zh-CN" altLang="en-US" dirty="0"/>
              <a:t>进栈</a:t>
            </a:r>
            <a:endParaRPr lang="en-US" altLang="zh-CN" dirty="0"/>
          </a:p>
          <a:p>
            <a:pPr lvl="1"/>
            <a:r>
              <a:rPr lang="zh-CN" altLang="en-US" dirty="0"/>
              <a:t>出栈</a:t>
            </a:r>
            <a:endParaRPr lang="en-US" altLang="zh-CN" dirty="0"/>
          </a:p>
          <a:p>
            <a:pPr lvl="1"/>
            <a:r>
              <a:rPr lang="zh-CN" altLang="en-US" dirty="0"/>
              <a:t>遍历</a:t>
            </a:r>
            <a:endParaRPr lang="en-US" altLang="zh-CN" dirty="0"/>
          </a:p>
          <a:p>
            <a:pPr lvl="1"/>
            <a:r>
              <a:rPr lang="zh-CN" altLang="en-US" dirty="0"/>
              <a:t>构造栈、释放栈？</a:t>
            </a:r>
          </a:p>
        </p:txBody>
      </p:sp>
    </p:spTree>
    <p:extLst>
      <p:ext uri="{BB962C8B-B14F-4D97-AF65-F5344CB8AC3E}">
        <p14:creationId xmlns:p14="http://schemas.microsoft.com/office/powerpoint/2010/main" val="249613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InitSimpleStack</a:t>
            </a:r>
            <a:r>
              <a:rPr lang="en-US" altLang="zh-CN" b="0" dirty="0"/>
              <a:t>(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-&gt;size=STACK_SIZE;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124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求栈的长度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LengthOfSimpleStack</a:t>
            </a:r>
            <a:r>
              <a:rPr lang="en-US" altLang="zh-CN" b="0" dirty="0"/>
              <a:t>(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8418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清空栈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ClearSimpleStack</a:t>
            </a:r>
            <a:r>
              <a:rPr lang="en-US" altLang="zh-CN" b="0" dirty="0"/>
              <a:t>(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29946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判断栈是否空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bool </a:t>
            </a:r>
            <a:r>
              <a:rPr lang="en-US" altLang="zh-CN" b="0" dirty="0" err="1"/>
              <a:t>IsSimpleStackEmpty</a:t>
            </a:r>
            <a:r>
              <a:rPr lang="en-US" altLang="zh-CN" b="0" dirty="0"/>
              <a:t>(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-&gt;top==0){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true;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false;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45725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PushIntoSimpleStack</a:t>
            </a:r>
            <a:r>
              <a:rPr lang="en-US" altLang="zh-CN" b="0" dirty="0"/>
              <a:t>(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</a:t>
            </a:r>
            <a:r>
              <a:rPr lang="en-US" altLang="zh-CN" b="0" dirty="0" err="1"/>
              <a:t>StackElem</a:t>
            </a:r>
            <a:r>
              <a:rPr lang="en-US" altLang="zh-CN" b="0" dirty="0"/>
              <a:t> </a:t>
            </a:r>
            <a:r>
              <a:rPr lang="en-US" altLang="zh-CN" b="0" dirty="0" err="1"/>
              <a:t>elem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LengthOfSimpleStack</a:t>
            </a:r>
            <a:r>
              <a:rPr lang="en-US" altLang="zh-CN" b="0" dirty="0"/>
              <a:t>(</a:t>
            </a:r>
            <a:r>
              <a:rPr lang="en-US" altLang="zh-CN" b="0" dirty="0" err="1"/>
              <a:t>pStack</a:t>
            </a:r>
            <a:r>
              <a:rPr lang="en-US" altLang="zh-CN" b="0" dirty="0"/>
              <a:t>)&gt;=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-&gt;size){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-&gt;a[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-&gt;top]=</a:t>
            </a:r>
            <a:r>
              <a:rPr lang="en-US" altLang="zh-CN" b="0" dirty="0" err="1"/>
              <a:t>elem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00900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出栈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PopFromSimpleStack</a:t>
            </a:r>
            <a:r>
              <a:rPr lang="en-US" altLang="zh-CN" b="0" dirty="0"/>
              <a:t>(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 </a:t>
            </a:r>
            <a:r>
              <a:rPr lang="en-US" altLang="zh-CN" b="0" dirty="0" err="1"/>
              <a:t>StackElem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IsSimpleStackEmpty</a:t>
            </a:r>
            <a:r>
              <a:rPr lang="en-US" altLang="zh-CN" b="0" dirty="0"/>
              <a:t>(</a:t>
            </a:r>
            <a:r>
              <a:rPr lang="en-US" altLang="zh-CN" b="0" dirty="0" err="1"/>
              <a:t>pStack</a:t>
            </a:r>
            <a:r>
              <a:rPr lang="en-US" altLang="zh-CN" b="0" dirty="0"/>
              <a:t>)==true){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*</a:t>
            </a:r>
            <a:r>
              <a:rPr lang="en-US" altLang="zh-CN" b="0" dirty="0" err="1"/>
              <a:t>pElem</a:t>
            </a:r>
            <a:r>
              <a:rPr lang="en-US" altLang="zh-CN" b="0" dirty="0"/>
              <a:t>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-&gt;a[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714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TraverseSimpleStack</a:t>
            </a:r>
            <a:r>
              <a:rPr lang="en-US" altLang="zh-CN" b="0" dirty="0"/>
              <a:t>(</a:t>
            </a:r>
            <a:r>
              <a:rPr lang="en-US" altLang="zh-CN" b="0" dirty="0" err="1"/>
              <a:t>SimpleStack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Status (*visit)())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n=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-&gt;top;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(visit(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-&gt;a[</a:t>
            </a:r>
            <a:r>
              <a:rPr lang="en-US" altLang="zh-CN" b="0" dirty="0" err="1"/>
              <a:t>i</a:t>
            </a:r>
            <a:r>
              <a:rPr lang="en-US" altLang="zh-CN" b="0" dirty="0"/>
              <a:t>])==ERROR){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5652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用动态数组实现泛型栈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void*  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void*  </a:t>
            </a:r>
            <a:r>
              <a:rPr lang="en-US" altLang="zh-CN" b="0" dirty="0" err="1"/>
              <a:t>pTop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elemSize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stackSize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 Stack;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89452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InitStack</a:t>
            </a:r>
            <a:r>
              <a:rPr lang="en-US" altLang="zh-CN" b="0" dirty="0"/>
              <a:t>(Stack* </a:t>
            </a:r>
            <a:r>
              <a:rPr lang="en-US" altLang="zh-CN" b="0" dirty="0" err="1"/>
              <a:t>pStack,int</a:t>
            </a:r>
            <a:r>
              <a:rPr lang="en-US" altLang="zh-CN" b="0" dirty="0"/>
              <a:t> </a:t>
            </a:r>
            <a:r>
              <a:rPr lang="en-US" altLang="zh-CN" b="0" dirty="0" err="1"/>
              <a:t>elemSize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=(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*)malloc(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STACK_INIT_SIZE*</a:t>
            </a:r>
            <a:r>
              <a:rPr lang="en-US" altLang="zh-CN" b="0" dirty="0" err="1"/>
              <a:t>elemSize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elemSize</a:t>
            </a:r>
            <a:r>
              <a:rPr lang="en-US" altLang="zh-CN" b="0" dirty="0"/>
              <a:t>=</a:t>
            </a:r>
            <a:r>
              <a:rPr lang="en-US" altLang="zh-CN" b="0" dirty="0" err="1"/>
              <a:t>elemSize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stackSize</a:t>
            </a:r>
            <a:r>
              <a:rPr lang="en-US" altLang="zh-CN" b="0" dirty="0"/>
              <a:t>=STACK_INIT_SIZE;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193936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FreeStack</a:t>
            </a:r>
            <a:r>
              <a:rPr lang="en-US" altLang="zh-CN" b="0" dirty="0"/>
              <a:t>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 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n=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pTop-pStack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free(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free(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elemSize</a:t>
            </a:r>
            <a:r>
              <a:rPr lang="en-US" altLang="zh-CN" b="0" dirty="0"/>
              <a:t>=0;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stackSize</a:t>
            </a:r>
            <a:r>
              <a:rPr lang="en-US" altLang="zh-CN" b="0" dirty="0"/>
              <a:t>=0;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762108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清空栈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ClearStack</a:t>
            </a:r>
            <a:r>
              <a:rPr lang="en-US" altLang="zh-CN" b="0" dirty="0"/>
              <a:t>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n;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9358696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判断栈是否为空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bool  </a:t>
            </a:r>
            <a:r>
              <a:rPr lang="en-US" altLang="zh-CN" b="0" dirty="0" err="1"/>
              <a:t>IsStackEmpty</a:t>
            </a:r>
            <a:r>
              <a:rPr lang="en-US" altLang="zh-CN" b="0" dirty="0"/>
              <a:t>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==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return true;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return false;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543322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求栈的长度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 </a:t>
            </a:r>
            <a:r>
              <a:rPr lang="en-US" altLang="zh-CN" b="0" dirty="0" err="1"/>
              <a:t>LengthOfStack</a:t>
            </a:r>
            <a:r>
              <a:rPr lang="en-US" altLang="zh-CN" b="0" dirty="0"/>
              <a:t>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pTop-pStack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065800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取栈顶元素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Peek(Stack*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, 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IsStackEmpty</a:t>
            </a:r>
            <a:r>
              <a:rPr lang="en-US" altLang="zh-CN" b="0" dirty="0"/>
              <a:t>(</a:t>
            </a:r>
            <a:r>
              <a:rPr lang="en-US" altLang="zh-CN" b="0" dirty="0" err="1"/>
              <a:t>pStack</a:t>
            </a:r>
            <a:r>
              <a:rPr lang="en-US" altLang="zh-CN" b="0" dirty="0"/>
              <a:t>)==true)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// *</a:t>
            </a:r>
            <a:r>
              <a:rPr lang="en-US" altLang="zh-CN" b="0" dirty="0" err="1"/>
              <a:t>pData</a:t>
            </a:r>
            <a:r>
              <a:rPr lang="en-US" altLang="zh-CN" b="0" dirty="0"/>
              <a:t>=*(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-&gt;pTop-1);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515197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Push(Stack*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, void* </a:t>
            </a:r>
            <a:r>
              <a:rPr lang="en-US" altLang="zh-CN" b="0" dirty="0" err="1"/>
              <a:t>pData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* 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LengthOfStack</a:t>
            </a:r>
            <a:r>
              <a:rPr lang="en-US" altLang="zh-CN" b="0" dirty="0"/>
              <a:t>(</a:t>
            </a:r>
            <a:r>
              <a:rPr lang="en-US" altLang="zh-CN" b="0" dirty="0" err="1"/>
              <a:t>pStack</a:t>
            </a:r>
            <a:r>
              <a:rPr lang="en-US" altLang="zh-CN" b="0" dirty="0"/>
              <a:t>)&gt;=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-&gt;size)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pBase</a:t>
            </a:r>
            <a:r>
              <a:rPr lang="en-US" altLang="zh-CN" b="0" dirty="0"/>
              <a:t>=(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*)</a:t>
            </a:r>
            <a:r>
              <a:rPr lang="en-US" altLang="zh-CN" b="0" dirty="0" err="1"/>
              <a:t>realloc</a:t>
            </a:r>
            <a:r>
              <a:rPr lang="en-US" altLang="zh-CN" b="0" dirty="0"/>
              <a:t>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size+STACK_INCREMENT</a:t>
            </a:r>
            <a:r>
              <a:rPr lang="en-US" altLang="zh-CN" b="0" dirty="0"/>
              <a:t>)*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         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pBase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{</a:t>
            </a:r>
          </a:p>
        </p:txBody>
      </p:sp>
    </p:spTree>
    <p:extLst>
      <p:ext uri="{BB962C8B-B14F-4D97-AF65-F5344CB8AC3E}">
        <p14:creationId xmlns:p14="http://schemas.microsoft.com/office/powerpoint/2010/main" val="43226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入栈（续）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=</a:t>
            </a:r>
            <a:r>
              <a:rPr lang="en-US" altLang="zh-CN" b="0" dirty="0" err="1"/>
              <a:t>pBase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/>
              <a:t>=pBase</a:t>
            </a:r>
            <a:r>
              <a:rPr lang="en-US" altLang="zh-CN" b="0" dirty="0" err="1"/>
              <a:t>+pStack</a:t>
            </a:r>
            <a:r>
              <a:rPr lang="en-US" altLang="zh-CN" b="0" dirty="0"/>
              <a:t>-&gt;size;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-&gt;size+=STACK_INCREMENT;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*(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)=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3213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出栈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Pop(Stack*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, 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* </a:t>
            </a:r>
            <a:r>
              <a:rPr lang="en-US" altLang="zh-CN" b="0" dirty="0" err="1"/>
              <a:t>ppData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IsStackEmpty</a:t>
            </a:r>
            <a:r>
              <a:rPr lang="en-US" altLang="zh-CN" b="0" dirty="0"/>
              <a:t>(</a:t>
            </a:r>
            <a:r>
              <a:rPr lang="en-US" altLang="zh-CN" b="0" dirty="0" err="1"/>
              <a:t>pStack</a:t>
            </a:r>
            <a:r>
              <a:rPr lang="en-US" altLang="zh-CN" b="0" dirty="0"/>
              <a:t>)==true)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*</a:t>
            </a:r>
            <a:r>
              <a:rPr lang="en-US" altLang="zh-CN" b="0" dirty="0" err="1"/>
              <a:t>ppData</a:t>
            </a:r>
            <a:r>
              <a:rPr lang="en-US" altLang="zh-CN" b="0" dirty="0"/>
              <a:t>=*(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pTop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9122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TraverseStack</a:t>
            </a:r>
            <a:r>
              <a:rPr lang="en-US" altLang="zh-CN" b="0" dirty="0"/>
              <a:t>(Stack* </a:t>
            </a:r>
            <a:r>
              <a:rPr lang="en-US" altLang="zh-CN" b="0" dirty="0" err="1"/>
              <a:t>pStack</a:t>
            </a:r>
            <a:r>
              <a:rPr lang="en-US" altLang="zh-CN" b="0" dirty="0"/>
              <a:t>, Status (*visit)()){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n=</a:t>
            </a:r>
            <a:r>
              <a:rPr lang="en-US" altLang="zh-CN" b="0" dirty="0" err="1"/>
              <a:t>LengthOfStack</a:t>
            </a:r>
            <a:r>
              <a:rPr lang="en-US" altLang="zh-CN" b="0" dirty="0"/>
              <a:t>(</a:t>
            </a:r>
            <a:r>
              <a:rPr lang="en-US" altLang="zh-CN" b="0" dirty="0" err="1"/>
              <a:t>pStack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(visit(</a:t>
            </a:r>
            <a:r>
              <a:rPr lang="en-US" altLang="zh-CN" b="0" dirty="0" err="1"/>
              <a:t>pStack</a:t>
            </a:r>
            <a:r>
              <a:rPr lang="en-US" altLang="zh-CN" b="0" dirty="0"/>
              <a:t>-&gt;</a:t>
            </a:r>
            <a:r>
              <a:rPr lang="en-US" altLang="zh-CN" b="0" dirty="0" err="1"/>
              <a:t>pBase</a:t>
            </a:r>
            <a:r>
              <a:rPr lang="en-US" altLang="zh-CN" b="0" dirty="0"/>
              <a:t>[</a:t>
            </a:r>
            <a:r>
              <a:rPr lang="en-US" altLang="zh-CN" b="0" dirty="0" err="1"/>
              <a:t>i</a:t>
            </a:r>
            <a:r>
              <a:rPr lang="en-US" altLang="zh-CN" b="0" dirty="0"/>
              <a:t>])==ERROR){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7605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用链表实现栈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typedef LinkedList </a:t>
            </a:r>
            <a:r>
              <a:rPr lang="en-US" altLang="zh-CN" b="0" dirty="0" err="1"/>
              <a:t>LinkedStack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进栈操作就是把数据插入到链表的头部。</a:t>
            </a:r>
            <a:endParaRPr lang="en-US" altLang="zh-CN" b="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0" dirty="0"/>
              <a:t>出栈操作就是把链表中的第一个节点删除。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191529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以进栈为例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PushIntoLinkedStack</a:t>
            </a:r>
            <a:r>
              <a:rPr lang="en-US" altLang="zh-CN" b="0" dirty="0"/>
              <a:t>(</a:t>
            </a:r>
            <a:r>
              <a:rPr lang="en-US" altLang="zh-CN" b="0" dirty="0" err="1"/>
              <a:t>LinkedStack</a:t>
            </a:r>
            <a:r>
              <a:rPr lang="en-US" altLang="zh-CN" b="0" dirty="0"/>
              <a:t>* </a:t>
            </a:r>
            <a:r>
              <a:rPr lang="en-US" altLang="zh-CN" b="0" dirty="0" err="1"/>
              <a:t>pStack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                                        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 </a:t>
            </a:r>
            <a:r>
              <a:rPr lang="en-US" altLang="zh-CN" b="0" dirty="0" err="1"/>
              <a:t>pData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     return </a:t>
            </a:r>
            <a:r>
              <a:rPr lang="en-US" altLang="zh-CN" b="0" dirty="0" err="1"/>
              <a:t>InsertIntoLinkedList</a:t>
            </a:r>
            <a:r>
              <a:rPr lang="en-US" altLang="zh-CN" b="0" dirty="0"/>
              <a:t>((LinkedList*)</a:t>
            </a:r>
            <a:r>
              <a:rPr lang="en-US" altLang="zh-CN" b="0" dirty="0" err="1"/>
              <a:t>pStack</a:t>
            </a:r>
            <a:r>
              <a:rPr lang="en-US" altLang="zh-CN" b="0" dirty="0"/>
              <a:t>, </a:t>
            </a:r>
            <a:r>
              <a:rPr lang="en-US" altLang="zh-CN" b="0" dirty="0" err="1"/>
              <a:t>pData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79282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F265A-E6B1-4D21-B386-DF044DA7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7B3F8-9BF0-4586-9A3C-990E0D146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队列是一种先进先出的数据结构。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AF96DC-5E31-47D1-8AA8-6855A8181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705100"/>
            <a:ext cx="86868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84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C6C3D-6965-4B8E-AC0C-0FCBA336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队列的存储结构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4CD3A9-6560-4B00-AEFD-B8E16AC24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顺序结构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链式结构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A7469D-7FCC-4CD0-9180-5FC1D0F88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150" y="1881187"/>
            <a:ext cx="6800850" cy="17002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79E5E65-9867-4D34-9DDC-47F7B3AC4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4095750"/>
            <a:ext cx="6225833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99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用静态数组实现队列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QueueElem</a:t>
            </a:r>
            <a:r>
              <a:rPr lang="zh-CN" altLang="en-US" b="0" dirty="0"/>
              <a:t> </a:t>
            </a:r>
            <a:r>
              <a:rPr lang="en-US" altLang="zh-CN" b="0" dirty="0"/>
              <a:t> </a:t>
            </a:r>
            <a:r>
              <a:rPr lang="en-US" altLang="zh-CN" b="0" dirty="0" err="1"/>
              <a:t>elemArray</a:t>
            </a:r>
            <a:r>
              <a:rPr lang="en-US" altLang="zh-CN" b="0" dirty="0"/>
              <a:t>[QUEUE_SIZE];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front;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rear;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SeqQueue</a:t>
            </a:r>
            <a:r>
              <a:rPr lang="en-US" altLang="zh-CN" b="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27647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队列的初始化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InitSeqQueue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6960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CE3745-174D-4269-8520-E00A550E1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循环队列长度的计算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782AB94-06F4-4EA7-A543-034ED54AF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447800"/>
            <a:ext cx="7315200" cy="2380770"/>
          </a:xfr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E4EB874-8E19-4B05-9792-B322AF027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990975"/>
            <a:ext cx="762000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4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求队列的长度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LengthOfSeqQueue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-&gt;rear-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front+QUEUE_SIZE</a:t>
            </a:r>
            <a:r>
              <a:rPr lang="en-US" altLang="zh-CN" b="0" dirty="0"/>
              <a:t>)%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QUEUE_SIZE;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8A0F0DE-CB0F-44E1-894B-7BEA7C800A66}"/>
                  </a:ext>
                </a:extLst>
              </p:cNvPr>
              <p:cNvSpPr txBox="1"/>
              <p:nvPr/>
            </p:nvSpPr>
            <p:spPr>
              <a:xfrm>
                <a:off x="1447800" y="3727847"/>
                <a:ext cx="9372600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4000" dirty="0"/>
                  <a:t>长度</a:t>
                </a:r>
                <a14:m>
                  <m:oMath xmlns:m="http://schemas.openxmlformats.org/officeDocument/2006/math">
                    <m:r>
                      <a:rPr lang="en-US" altLang="zh-CN" sz="4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𝑟𝑒𝑎𝑟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𝑓𝑟𝑜𝑛𝑡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𝑠𝑖𝑧𝑒</m:t>
                        </m:r>
                      </m:e>
                    </m:d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 % 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𝑠𝑖𝑧𝑒</m:t>
                    </m:r>
                  </m:oMath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8A0F0DE-CB0F-44E1-894B-7BEA7C800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727847"/>
                <a:ext cx="9372600" cy="615553"/>
              </a:xfrm>
              <a:prstGeom prst="rect">
                <a:avLst/>
              </a:prstGeom>
              <a:blipFill>
                <a:blip r:embed="rId2"/>
                <a:stretch>
                  <a:fillRect l="-3318" t="-30693" b="-43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584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判断队列是否为空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bool </a:t>
            </a:r>
            <a:r>
              <a:rPr lang="en-US" altLang="zh-CN" b="0" dirty="0" err="1"/>
              <a:t>IsSeqQueueEmpty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-&gt;rear==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true;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false;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4574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判断队列是否已满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bool </a:t>
            </a:r>
            <a:r>
              <a:rPr lang="en-US" altLang="zh-CN" b="0" dirty="0" err="1"/>
              <a:t>IsSeqQueueFull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-&gt;rear+1)%QUEUE_SIZE==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true;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false;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04674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进入队列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EnterSeqQueue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</a:t>
            </a:r>
            <a:r>
              <a:rPr lang="en-US" altLang="zh-CN" b="0" dirty="0" err="1"/>
              <a:t>QueueElem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IsSeqQueueFull</a:t>
            </a:r>
            <a:r>
              <a:rPr lang="en-US" altLang="zh-CN" b="0" dirty="0"/>
              <a:t>(</a:t>
            </a:r>
            <a:r>
              <a:rPr lang="en-US" altLang="zh-CN" b="0" dirty="0" err="1"/>
              <a:t>pQueue</a:t>
            </a:r>
            <a:r>
              <a:rPr lang="en-US" altLang="zh-CN" b="0" dirty="0"/>
              <a:t>)==true)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-&gt;rear]=*</a:t>
            </a:r>
            <a:r>
              <a:rPr lang="en-US" altLang="zh-CN" b="0" dirty="0" err="1"/>
              <a:t>pElem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-&gt;rear=(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-&gt;rear+1)%QUEUE_SIZE;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0079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离开队列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LeaveSeqQueue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</a:t>
            </a:r>
            <a:r>
              <a:rPr lang="en-US" altLang="zh-CN" b="0" dirty="0" err="1"/>
              <a:t>QueueElem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IsSeqQueueEmpty</a:t>
            </a:r>
            <a:r>
              <a:rPr lang="en-US" altLang="zh-CN" b="0" dirty="0"/>
              <a:t>(</a:t>
            </a:r>
            <a:r>
              <a:rPr lang="en-US" altLang="zh-CN" b="0" dirty="0" err="1"/>
              <a:t>pQueue</a:t>
            </a:r>
            <a:r>
              <a:rPr lang="en-US" altLang="zh-CN" b="0" dirty="0"/>
              <a:t>)==true)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*</a:t>
            </a:r>
            <a:r>
              <a:rPr lang="en-US" altLang="zh-CN" b="0" dirty="0" err="1"/>
              <a:t>pElem</a:t>
            </a:r>
            <a:r>
              <a:rPr lang="en-US" altLang="zh-CN" b="0" dirty="0"/>
              <a:t>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elemArray</a:t>
            </a:r>
            <a:r>
              <a:rPr lang="en-US" altLang="zh-CN" b="0" dirty="0"/>
              <a:t>[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-&gt;front=(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-&gt;front+1)%QUEUE_SIZE;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1985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用动态数组实现队列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front;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rear;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</a:t>
            </a:r>
            <a:r>
              <a:rPr lang="en-US" altLang="zh-CN" b="0" dirty="0" err="1"/>
              <a:t>SeqQueue</a:t>
            </a:r>
            <a:r>
              <a:rPr lang="en-US" altLang="zh-CN" b="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2416116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InitSeqQueue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=(</a:t>
            </a:r>
            <a:r>
              <a:rPr lang="en-US" altLang="zh-CN" b="0" dirty="0" err="1"/>
              <a:t>QueueElem</a:t>
            </a:r>
            <a:r>
              <a:rPr lang="en-US" altLang="zh-CN" b="0" dirty="0"/>
              <a:t>*)malloc(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QUEUE_SIZE*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QueueElem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73572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FreeSeqQueue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free(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pElemArray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-&gt;front=0;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-&gt;rear=0;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95939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LengthOfSeqQueue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bool </a:t>
            </a:r>
            <a:r>
              <a:rPr lang="en-US" altLang="zh-CN" b="0" dirty="0" err="1"/>
              <a:t>IsSeqQueueEmpty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bool </a:t>
            </a:r>
            <a:r>
              <a:rPr lang="en-US" altLang="zh-CN" b="0" dirty="0" err="1"/>
              <a:t>IsSeqQueueFull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EnterSeqQueue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</a:t>
            </a:r>
            <a:r>
              <a:rPr lang="en-US" altLang="zh-CN" b="0" dirty="0" err="1"/>
              <a:t>QueueElem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LeaveSeqQueue</a:t>
            </a:r>
            <a:r>
              <a:rPr lang="en-US" altLang="zh-CN" b="0" dirty="0"/>
              <a:t>(</a:t>
            </a:r>
            <a:r>
              <a:rPr lang="en-US" altLang="zh-CN" b="0" dirty="0" err="1"/>
              <a:t>SeqQueue</a:t>
            </a:r>
            <a:r>
              <a:rPr lang="en-US" altLang="zh-CN" b="0" dirty="0"/>
              <a:t>* </a:t>
            </a:r>
            <a:r>
              <a:rPr lang="en-US" altLang="zh-CN" b="0" dirty="0" err="1"/>
              <a:t>pQueue</a:t>
            </a:r>
            <a:r>
              <a:rPr lang="en-US" altLang="zh-CN" b="0" dirty="0"/>
              <a:t>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      </a:t>
            </a:r>
            <a:r>
              <a:rPr lang="en-US" altLang="zh-CN" b="0" dirty="0" err="1"/>
              <a:t>QueueElem</a:t>
            </a:r>
            <a:r>
              <a:rPr lang="en-US" altLang="zh-CN" b="0" dirty="0"/>
              <a:t>* </a:t>
            </a:r>
            <a:r>
              <a:rPr lang="en-US" altLang="zh-CN" b="0" dirty="0" err="1"/>
              <a:t>pElem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0" dirty="0"/>
              <a:t>这些操作的实现从略。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504889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队列的链式实现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struct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 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 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typedef struct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 </a:t>
            </a:r>
            <a:r>
              <a:rPr lang="en-US" altLang="zh-CN" b="0" dirty="0" err="1"/>
              <a:t>pFront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 </a:t>
            </a:r>
            <a:r>
              <a:rPr lang="en-US" altLang="zh-CN" b="0" dirty="0" err="1"/>
              <a:t>pRear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length;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Queue;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1210830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InitQueue</a:t>
            </a:r>
            <a:r>
              <a:rPr lang="en-US" altLang="zh-CN" b="0" dirty="0"/>
              <a:t>(Queue*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pRear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1107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判断队列是否为空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bool </a:t>
            </a:r>
            <a:r>
              <a:rPr lang="en-US" altLang="zh-CN" b="0" dirty="0" err="1"/>
              <a:t>IsQueueEmpty</a:t>
            </a:r>
            <a:r>
              <a:rPr lang="en-US" altLang="zh-CN" b="0" dirty="0"/>
              <a:t>(Queue*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-&gt;length==0)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true;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false;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1738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求队列的长度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</a:t>
            </a:r>
            <a:r>
              <a:rPr lang="en-US" altLang="zh-CN" b="0" dirty="0" err="1"/>
              <a:t>LengthOfQueue</a:t>
            </a:r>
            <a:r>
              <a:rPr lang="en-US" altLang="zh-CN" b="0" dirty="0"/>
              <a:t>(Queue* </a:t>
            </a:r>
            <a:r>
              <a:rPr lang="en-US" altLang="zh-CN" b="0" dirty="0" err="1"/>
              <a:t>pQueue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72904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进入队列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EnterQueue</a:t>
            </a:r>
            <a:r>
              <a:rPr lang="en-US" altLang="zh-CN" b="0" dirty="0"/>
              <a:t>(Queue* </a:t>
            </a:r>
            <a:r>
              <a:rPr lang="en-US" altLang="zh-CN" b="0" dirty="0" err="1"/>
              <a:t>pQueue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 </a:t>
            </a:r>
            <a:r>
              <a:rPr lang="en-US" altLang="zh-CN" b="0" dirty="0" err="1"/>
              <a:t>pData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pNode</a:t>
            </a:r>
            <a:r>
              <a:rPr lang="en-US" altLang="zh-CN" b="0" dirty="0"/>
              <a:t>=(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*)malloc(</a:t>
            </a:r>
            <a:r>
              <a:rPr lang="en-US" altLang="zh-CN" b="0" dirty="0" err="1"/>
              <a:t>sizeof</a:t>
            </a:r>
            <a:r>
              <a:rPr lang="en-US" altLang="zh-CN" b="0" dirty="0"/>
              <a:t>(</a:t>
            </a:r>
            <a:r>
              <a:rPr lang="en-US" altLang="zh-CN" b="0" dirty="0" err="1"/>
              <a:t>QueueNode</a:t>
            </a:r>
            <a:r>
              <a:rPr lang="en-US" altLang="zh-CN" b="0" dirty="0"/>
              <a:t>));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</a:t>
            </a:r>
            <a:r>
              <a:rPr lang="en-US" altLang="zh-CN" b="0" dirty="0" err="1"/>
              <a:t>pNode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=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IsQueueEmpty</a:t>
            </a:r>
            <a:r>
              <a:rPr lang="en-US" altLang="zh-CN" b="0" dirty="0"/>
              <a:t>(</a:t>
            </a:r>
            <a:r>
              <a:rPr lang="en-US" altLang="zh-CN" b="0" dirty="0" err="1"/>
              <a:t>pQueue</a:t>
            </a:r>
            <a:r>
              <a:rPr lang="en-US" altLang="zh-CN" b="0" dirty="0"/>
              <a:t>)==true) {</a:t>
            </a:r>
          </a:p>
        </p:txBody>
      </p:sp>
    </p:spTree>
    <p:extLst>
      <p:ext uri="{BB962C8B-B14F-4D97-AF65-F5344CB8AC3E}">
        <p14:creationId xmlns:p14="http://schemas.microsoft.com/office/powerpoint/2010/main" val="499257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进入队列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pRear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pRear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pRear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470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离开队列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LeaveQueue</a:t>
            </a:r>
            <a:r>
              <a:rPr lang="en-US" altLang="zh-CN" b="0" dirty="0"/>
              <a:t>(Queue* </a:t>
            </a:r>
            <a:r>
              <a:rPr lang="en-US" altLang="zh-CN" b="0" dirty="0" err="1"/>
              <a:t>pQueue</a:t>
            </a:r>
            <a:r>
              <a:rPr lang="en-US" altLang="zh-CN" b="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                    </a:t>
            </a:r>
            <a:r>
              <a:rPr lang="en-US" altLang="zh-CN" b="0" dirty="0" err="1"/>
              <a:t>GenericPointer</a:t>
            </a:r>
            <a:r>
              <a:rPr lang="en-US" altLang="zh-CN" b="0" dirty="0"/>
              <a:t>* </a:t>
            </a:r>
            <a:r>
              <a:rPr lang="en-US" altLang="zh-CN" b="0" dirty="0" err="1"/>
              <a:t>ppData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IsQueueEmpty</a:t>
            </a:r>
            <a:r>
              <a:rPr lang="en-US" altLang="zh-CN" b="0" dirty="0"/>
              <a:t>(</a:t>
            </a:r>
            <a:r>
              <a:rPr lang="en-US" altLang="zh-CN" b="0" dirty="0" err="1"/>
              <a:t>pQueue</a:t>
            </a:r>
            <a:r>
              <a:rPr lang="en-US" altLang="zh-CN" b="0" dirty="0"/>
              <a:t>)==true)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pNode</a:t>
            </a:r>
            <a:r>
              <a:rPr lang="en-US" altLang="zh-CN" b="0" dirty="0"/>
              <a:t>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-&gt;length==1)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pRear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1347682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离开队列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*</a:t>
            </a:r>
            <a:r>
              <a:rPr lang="en-US" altLang="zh-CN" b="0" dirty="0" err="1"/>
              <a:t>ppData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free(</a:t>
            </a:r>
            <a:r>
              <a:rPr lang="en-US" altLang="zh-CN" b="0" dirty="0" err="1"/>
              <a:t>pNode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33821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FreeQueue</a:t>
            </a:r>
            <a:r>
              <a:rPr lang="en-US" altLang="zh-CN" b="0" dirty="0"/>
              <a:t>(Queue* </a:t>
            </a:r>
            <a:r>
              <a:rPr lang="en-US" altLang="zh-CN" b="0" dirty="0" err="1"/>
              <a:t>pQueue</a:t>
            </a:r>
            <a:r>
              <a:rPr lang="en-US" altLang="zh-CN" b="0" dirty="0"/>
              <a:t>, Status (*</a:t>
            </a:r>
            <a:r>
              <a:rPr lang="en-US" altLang="zh-CN" b="0" dirty="0" err="1"/>
              <a:t>freeData</a:t>
            </a:r>
            <a:r>
              <a:rPr lang="en-US" altLang="zh-CN" b="0" dirty="0"/>
              <a:t>)()){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==</a:t>
            </a:r>
            <a:r>
              <a:rPr lang="en-US" altLang="zh-CN" b="0" dirty="0" err="1"/>
              <a:t>nullptr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pNode</a:t>
            </a:r>
            <a:r>
              <a:rPr lang="en-US" altLang="zh-CN" b="0" dirty="0"/>
              <a:t>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freeData</a:t>
            </a:r>
            <a:r>
              <a:rPr lang="en-US" altLang="zh-CN" b="0" dirty="0"/>
              <a:t>(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)==ERROR)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6588286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释放队列</a:t>
            </a:r>
            <a:r>
              <a:rPr lang="en-US" altLang="zh-CN" dirty="0"/>
              <a:t>(</a:t>
            </a:r>
            <a:r>
              <a:rPr lang="zh-CN" altLang="en-US" dirty="0"/>
              <a:t>接上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free(</a:t>
            </a:r>
            <a:r>
              <a:rPr lang="en-US" altLang="zh-CN" b="0" dirty="0" err="1"/>
              <a:t>pNode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-&gt;length==0)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pRear</a:t>
            </a:r>
            <a:r>
              <a:rPr lang="en-US" altLang="zh-CN" b="0" dirty="0"/>
              <a:t>=</a:t>
            </a:r>
            <a:r>
              <a:rPr lang="en-US" altLang="zh-CN" b="0" dirty="0" err="1"/>
              <a:t>nullptr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FreeQueue</a:t>
            </a:r>
            <a:r>
              <a:rPr lang="en-US" altLang="zh-CN" b="0" dirty="0"/>
              <a:t>(</a:t>
            </a:r>
            <a:r>
              <a:rPr lang="en-US" altLang="zh-CN" b="0" dirty="0" err="1"/>
              <a:t>pQueue</a:t>
            </a:r>
            <a:r>
              <a:rPr lang="en-US" altLang="zh-CN" b="0" dirty="0"/>
              <a:t>, </a:t>
            </a:r>
            <a:r>
              <a:rPr lang="en-US" altLang="zh-CN" b="0" dirty="0" err="1"/>
              <a:t>freeData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744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遍历队列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91A15-2966-4186-AE44-4F79F961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Status </a:t>
            </a:r>
            <a:r>
              <a:rPr lang="en-US" altLang="zh-CN" b="0" dirty="0" err="1"/>
              <a:t>TraverseQueue</a:t>
            </a:r>
            <a:r>
              <a:rPr lang="en-US" altLang="zh-CN" b="0" dirty="0"/>
              <a:t>(Queue* </a:t>
            </a:r>
            <a:r>
              <a:rPr lang="en-US" altLang="zh-CN" b="0" dirty="0" err="1"/>
              <a:t>pQueue</a:t>
            </a:r>
            <a:r>
              <a:rPr lang="en-US" altLang="zh-CN" b="0" dirty="0"/>
              <a:t>, Status (*visit)()){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QueueNode</a:t>
            </a:r>
            <a:r>
              <a:rPr lang="en-US" altLang="zh-CN" b="0" dirty="0"/>
              <a:t>* </a:t>
            </a:r>
            <a:r>
              <a:rPr lang="en-US" altLang="zh-CN" b="0" dirty="0" err="1"/>
              <a:t>pNode</a:t>
            </a:r>
            <a:r>
              <a:rPr lang="en-US" altLang="zh-CN" b="0" dirty="0"/>
              <a:t>=</a:t>
            </a:r>
            <a:r>
              <a:rPr lang="en-US" altLang="zh-CN" b="0" dirty="0" err="1"/>
              <a:t>pQueue</a:t>
            </a:r>
            <a:r>
              <a:rPr lang="en-US" altLang="zh-CN" b="0" dirty="0"/>
              <a:t>-&gt;</a:t>
            </a:r>
            <a:r>
              <a:rPr lang="en-US" altLang="zh-CN" b="0" dirty="0" err="1"/>
              <a:t>pFront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pNode</a:t>
            </a:r>
            <a:r>
              <a:rPr lang="en-US" altLang="zh-CN" b="0" dirty="0"/>
              <a:t>!=</a:t>
            </a:r>
            <a:r>
              <a:rPr lang="en-US" altLang="zh-CN" b="0" dirty="0" err="1"/>
              <a:t>nullptr</a:t>
            </a:r>
            <a:r>
              <a:rPr lang="en-US" altLang="zh-CN" b="0" dirty="0"/>
              <a:t>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(visit(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pData</a:t>
            </a:r>
            <a:r>
              <a:rPr lang="en-US" altLang="zh-CN" b="0" dirty="0"/>
              <a:t>)==ERROR){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 ERROR;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pNode</a:t>
            </a:r>
            <a:r>
              <a:rPr lang="en-US" altLang="zh-CN" b="0" dirty="0"/>
              <a:t>=</a:t>
            </a:r>
            <a:r>
              <a:rPr lang="en-US" altLang="zh-CN" b="0" dirty="0" err="1"/>
              <a:t>pNode</a:t>
            </a:r>
            <a:r>
              <a:rPr lang="en-US" altLang="zh-CN" b="0" dirty="0"/>
              <a:t>-&gt;</a:t>
            </a:r>
            <a:r>
              <a:rPr lang="en-US" altLang="zh-CN" b="0" dirty="0" err="1"/>
              <a:t>pNext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OK;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35858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E8688-81A9-637D-1296-2F94EC3E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72690A0-0255-750C-5454-4C4993D82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533400"/>
            <a:ext cx="12372670" cy="5791200"/>
          </a:xfrm>
        </p:spPr>
      </p:pic>
    </p:spTree>
    <p:extLst>
      <p:ext uri="{BB962C8B-B14F-4D97-AF65-F5344CB8AC3E}">
        <p14:creationId xmlns:p14="http://schemas.microsoft.com/office/powerpoint/2010/main" val="1812375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A7A720-E66C-F5E4-F6EB-A7F69CB6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9AD4C75-DE7A-E074-B592-6A992C363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510988"/>
            <a:ext cx="12345851" cy="5966012"/>
          </a:xfrm>
        </p:spPr>
      </p:pic>
    </p:spTree>
    <p:extLst>
      <p:ext uri="{BB962C8B-B14F-4D97-AF65-F5344CB8AC3E}">
        <p14:creationId xmlns:p14="http://schemas.microsoft.com/office/powerpoint/2010/main" val="14568902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1B2C7-2F29-B536-84A6-758E59050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C8952F5-FE01-F5A4-69C0-92AEC272B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8426"/>
          <a:stretch/>
        </p:blipFill>
        <p:spPr>
          <a:xfrm>
            <a:off x="-1" y="475129"/>
            <a:ext cx="12192001" cy="5697071"/>
          </a:xfrm>
        </p:spPr>
      </p:pic>
    </p:spTree>
    <p:extLst>
      <p:ext uri="{BB962C8B-B14F-4D97-AF65-F5344CB8AC3E}">
        <p14:creationId xmlns:p14="http://schemas.microsoft.com/office/powerpoint/2010/main" val="728870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C33DE-9002-E103-601A-90982375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89137DF-7021-2464-AD92-AEDA7F794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457200"/>
            <a:ext cx="12538070" cy="5181600"/>
          </a:xfrm>
        </p:spPr>
      </p:pic>
    </p:spTree>
    <p:extLst>
      <p:ext uri="{BB962C8B-B14F-4D97-AF65-F5344CB8AC3E}">
        <p14:creationId xmlns:p14="http://schemas.microsoft.com/office/powerpoint/2010/main" val="15938207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820D0-09B5-A038-8251-B617F672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438E3A8-13A7-A365-FC60-0C349A7F7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533400"/>
            <a:ext cx="12602535" cy="5181600"/>
          </a:xfrm>
        </p:spPr>
      </p:pic>
    </p:spTree>
    <p:extLst>
      <p:ext uri="{BB962C8B-B14F-4D97-AF65-F5344CB8AC3E}">
        <p14:creationId xmlns:p14="http://schemas.microsoft.com/office/powerpoint/2010/main" val="3252550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37C05-7E10-0C1E-D7A8-F0C975D1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42F7E33-7183-D8B2-E64B-81B8F6F8B4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841"/>
          <a:stretch/>
        </p:blipFill>
        <p:spPr>
          <a:xfrm>
            <a:off x="1" y="497541"/>
            <a:ext cx="12039600" cy="6055659"/>
          </a:xfrm>
        </p:spPr>
      </p:pic>
    </p:spTree>
    <p:extLst>
      <p:ext uri="{BB962C8B-B14F-4D97-AF65-F5344CB8AC3E}">
        <p14:creationId xmlns:p14="http://schemas.microsoft.com/office/powerpoint/2010/main" val="20011604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513CA-4F2A-DF22-E7E7-9FF69992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48EAED8-E7C4-8E4F-107C-A284F7EB7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228"/>
          <a:stretch/>
        </p:blipFill>
        <p:spPr>
          <a:xfrm>
            <a:off x="8965" y="502024"/>
            <a:ext cx="11954436" cy="6203576"/>
          </a:xfrm>
        </p:spPr>
      </p:pic>
    </p:spTree>
    <p:extLst>
      <p:ext uri="{BB962C8B-B14F-4D97-AF65-F5344CB8AC3E}">
        <p14:creationId xmlns:p14="http://schemas.microsoft.com/office/powerpoint/2010/main" val="871361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99A57-F1B7-2937-99EA-754021404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D788C9F-1791-7AC7-D0CC-88DFFBFC6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637"/>
          <a:stretch/>
        </p:blipFill>
        <p:spPr>
          <a:xfrm>
            <a:off x="-1" y="502024"/>
            <a:ext cx="12192001" cy="5898776"/>
          </a:xfrm>
        </p:spPr>
      </p:pic>
    </p:spTree>
    <p:extLst>
      <p:ext uri="{BB962C8B-B14F-4D97-AF65-F5344CB8AC3E}">
        <p14:creationId xmlns:p14="http://schemas.microsoft.com/office/powerpoint/2010/main" val="18954347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D367E-4F4B-31B9-22B7-36347E28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E953582-E35C-ED30-D8EE-C15F48B11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6381"/>
          <a:stretch/>
        </p:blipFill>
        <p:spPr>
          <a:xfrm>
            <a:off x="-1" y="533400"/>
            <a:ext cx="12192001" cy="5943600"/>
          </a:xfrm>
        </p:spPr>
      </p:pic>
    </p:spTree>
    <p:extLst>
      <p:ext uri="{BB962C8B-B14F-4D97-AF65-F5344CB8AC3E}">
        <p14:creationId xmlns:p14="http://schemas.microsoft.com/office/powerpoint/2010/main" val="30421020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5B575-43E0-8B58-3957-B77DA0788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E7A34A-A250-AB6D-36DE-09C2C8B7C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2864"/>
          <a:stretch/>
        </p:blipFill>
        <p:spPr>
          <a:xfrm>
            <a:off x="26895" y="457200"/>
            <a:ext cx="12012706" cy="6172200"/>
          </a:xfrm>
        </p:spPr>
      </p:pic>
    </p:spTree>
    <p:extLst>
      <p:ext uri="{BB962C8B-B14F-4D97-AF65-F5344CB8AC3E}">
        <p14:creationId xmlns:p14="http://schemas.microsoft.com/office/powerpoint/2010/main" val="17356895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75D288-F82F-9598-3947-9D4C5AED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28B8CBD-8D4B-550C-351B-37960A0401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4" y="502024"/>
            <a:ext cx="11874465" cy="6203576"/>
          </a:xfrm>
        </p:spPr>
      </p:pic>
    </p:spTree>
    <p:extLst>
      <p:ext uri="{BB962C8B-B14F-4D97-AF65-F5344CB8AC3E}">
        <p14:creationId xmlns:p14="http://schemas.microsoft.com/office/powerpoint/2010/main" val="39612418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0A6AF-1FAF-E96B-0B03-2411FF47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8407E7E-A6F0-1446-3695-D9A0CFDAD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545"/>
          <a:stretch/>
        </p:blipFill>
        <p:spPr>
          <a:xfrm>
            <a:off x="26894" y="457200"/>
            <a:ext cx="12165106" cy="6324600"/>
          </a:xfrm>
        </p:spPr>
      </p:pic>
    </p:spTree>
    <p:extLst>
      <p:ext uri="{BB962C8B-B14F-4D97-AF65-F5344CB8AC3E}">
        <p14:creationId xmlns:p14="http://schemas.microsoft.com/office/powerpoint/2010/main" val="35132051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43B34-6D65-AEBC-8598-AA2C5A1F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28E38A5-9967-A5AC-4E82-6930BAEA4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834"/>
          <a:stretch/>
        </p:blipFill>
        <p:spPr>
          <a:xfrm>
            <a:off x="1" y="502024"/>
            <a:ext cx="12039600" cy="6203576"/>
          </a:xfrm>
        </p:spPr>
      </p:pic>
    </p:spTree>
    <p:extLst>
      <p:ext uri="{BB962C8B-B14F-4D97-AF65-F5344CB8AC3E}">
        <p14:creationId xmlns:p14="http://schemas.microsoft.com/office/powerpoint/2010/main" val="287390102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6837</TotalTime>
  <Words>2205</Words>
  <Application>Microsoft Office PowerPoint</Application>
  <PresentationFormat>宽屏</PresentationFormat>
  <Paragraphs>427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3" baseType="lpstr">
      <vt:lpstr>等线</vt:lpstr>
      <vt:lpstr>微软雅黑</vt:lpstr>
      <vt:lpstr>Arial</vt:lpstr>
      <vt:lpstr>Cambria Math</vt:lpstr>
      <vt:lpstr>Times New Roman</vt:lpstr>
      <vt:lpstr>Wingdings</vt:lpstr>
      <vt:lpstr>tm2</vt:lpstr>
      <vt:lpstr>第三章  栈和队列</vt:lpstr>
      <vt:lpstr>栈</vt:lpstr>
      <vt:lpstr>栈的定义（1）</vt:lpstr>
      <vt:lpstr>栈的定义（2）</vt:lpstr>
      <vt:lpstr>栈的定义（3）</vt:lpstr>
      <vt:lpstr>栈的定义（4）</vt:lpstr>
      <vt:lpstr>用静态数组实现简单栈</vt:lpstr>
      <vt:lpstr>分析对简单栈的各种操作</vt:lpstr>
      <vt:lpstr>初始化栈</vt:lpstr>
      <vt:lpstr>求栈的长度</vt:lpstr>
      <vt:lpstr>清空栈</vt:lpstr>
      <vt:lpstr>判断栈是否空</vt:lpstr>
      <vt:lpstr>入栈</vt:lpstr>
      <vt:lpstr>出栈</vt:lpstr>
      <vt:lpstr>遍历栈</vt:lpstr>
      <vt:lpstr>用动态数组实现泛型栈</vt:lpstr>
      <vt:lpstr>初始化栈</vt:lpstr>
      <vt:lpstr>释放栈</vt:lpstr>
      <vt:lpstr>清空栈</vt:lpstr>
      <vt:lpstr>判断栈是否为空</vt:lpstr>
      <vt:lpstr>求栈的长度</vt:lpstr>
      <vt:lpstr>取栈顶元素</vt:lpstr>
      <vt:lpstr>入栈</vt:lpstr>
      <vt:lpstr>入栈（续）</vt:lpstr>
      <vt:lpstr>出栈</vt:lpstr>
      <vt:lpstr>遍历栈</vt:lpstr>
      <vt:lpstr>用链表实现栈</vt:lpstr>
      <vt:lpstr>以进栈为例</vt:lpstr>
      <vt:lpstr>队列</vt:lpstr>
      <vt:lpstr>队列的存储结构</vt:lpstr>
      <vt:lpstr>用静态数组实现队列</vt:lpstr>
      <vt:lpstr>队列的初始化</vt:lpstr>
      <vt:lpstr>循环队列长度的计算</vt:lpstr>
      <vt:lpstr>求队列的长度</vt:lpstr>
      <vt:lpstr>判断队列是否为空</vt:lpstr>
      <vt:lpstr>判断队列是否已满</vt:lpstr>
      <vt:lpstr>进入队列</vt:lpstr>
      <vt:lpstr>离开队列</vt:lpstr>
      <vt:lpstr>用动态数组实现队列</vt:lpstr>
      <vt:lpstr>初始化队列</vt:lpstr>
      <vt:lpstr>释放队列</vt:lpstr>
      <vt:lpstr>其他操作</vt:lpstr>
      <vt:lpstr>队列的链式实现</vt:lpstr>
      <vt:lpstr>初始化队列</vt:lpstr>
      <vt:lpstr>判断队列是否为空</vt:lpstr>
      <vt:lpstr>求队列的长度</vt:lpstr>
      <vt:lpstr>进入队列</vt:lpstr>
      <vt:lpstr>进入队列(接上)</vt:lpstr>
      <vt:lpstr>离开队列</vt:lpstr>
      <vt:lpstr>离开队列(接上)</vt:lpstr>
      <vt:lpstr>释放队列</vt:lpstr>
      <vt:lpstr>释放队列(接上)</vt:lpstr>
      <vt:lpstr>遍历队列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1159</cp:revision>
  <cp:lastPrinted>1999-11-08T20:52:53Z</cp:lastPrinted>
  <dcterms:created xsi:type="dcterms:W3CDTF">1999-08-24T18:39:05Z</dcterms:created>
  <dcterms:modified xsi:type="dcterms:W3CDTF">2026-04-01T00:05:20Z</dcterms:modified>
</cp:coreProperties>
</file>