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61"/>
  </p:notesMasterIdLst>
  <p:handoutMasterIdLst>
    <p:handoutMasterId r:id="rId62"/>
  </p:handoutMasterIdLst>
  <p:sldIdLst>
    <p:sldId id="263" r:id="rId2"/>
    <p:sldId id="268" r:id="rId3"/>
    <p:sldId id="266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328" r:id="rId30"/>
    <p:sldId id="294" r:id="rId31"/>
    <p:sldId id="295" r:id="rId32"/>
    <p:sldId id="296" r:id="rId33"/>
    <p:sldId id="298" r:id="rId34"/>
    <p:sldId id="299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9" r:id="rId43"/>
    <p:sldId id="310" r:id="rId44"/>
    <p:sldId id="327" r:id="rId45"/>
    <p:sldId id="297" r:id="rId46"/>
    <p:sldId id="311" r:id="rId47"/>
    <p:sldId id="312" r:id="rId48"/>
    <p:sldId id="313" r:id="rId49"/>
    <p:sldId id="315" r:id="rId50"/>
    <p:sldId id="316" r:id="rId51"/>
    <p:sldId id="317" r:id="rId52"/>
    <p:sldId id="318" r:id="rId53"/>
    <p:sldId id="319" r:id="rId54"/>
    <p:sldId id="320" r:id="rId55"/>
    <p:sldId id="321" r:id="rId56"/>
    <p:sldId id="322" r:id="rId57"/>
    <p:sldId id="323" r:id="rId58"/>
    <p:sldId id="325" r:id="rId59"/>
    <p:sldId id="326" r:id="rId60"/>
  </p:sldIdLst>
  <p:sldSz cx="12192000" cy="6858000"/>
  <p:notesSz cx="6797675" cy="99282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990033"/>
    <a:srgbClr val="660033"/>
    <a:srgbClr val="006600"/>
    <a:srgbClr val="C6A02E"/>
    <a:srgbClr val="B82F25"/>
    <a:srgbClr val="6DBFAB"/>
    <a:srgbClr val="FF7706"/>
    <a:srgbClr val="FFAB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4" autoAdjust="0"/>
    <p:restoredTop sz="94660"/>
  </p:normalViewPr>
  <p:slideViewPr>
    <p:cSldViewPr>
      <p:cViewPr varScale="1">
        <p:scale>
          <a:sx n="85" d="100"/>
          <a:sy n="85" d="100"/>
        </p:scale>
        <p:origin x="542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46"/>
    </p:cViewPr>
  </p:sorterViewPr>
  <p:notesViewPr>
    <p:cSldViewPr>
      <p:cViewPr varScale="1">
        <p:scale>
          <a:sx n="39" d="100"/>
          <a:sy n="39" d="100"/>
        </p:scale>
        <p:origin x="2386" y="62"/>
      </p:cViewPr>
      <p:guideLst>
        <p:guide orient="horz" pos="3126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38F26BC-7BC4-4E81-856A-C803AC3A2F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122" cy="4974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66C85D-8214-4E69-93B1-C7927D703D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011" y="0"/>
            <a:ext cx="2946122" cy="4974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6664E-1BF0-46AE-AAC0-8104A4986E05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825ABF-C6A2-43A4-994B-70B5FF6833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0796"/>
            <a:ext cx="2946122" cy="4974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813771-266C-4568-83F5-7D86B4D52A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011" y="9430796"/>
            <a:ext cx="2946122" cy="4974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C5DD2-4AED-427E-8312-F2C1EDAA2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127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554" y="0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974" y="4714549"/>
            <a:ext cx="4983728" cy="446838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493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554" y="9432493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B90D6BE3-42E0-4DA5-B156-66EF77FDC71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90567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7756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60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第八章 查找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 sz="4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张  学</a:t>
            </a:r>
            <a:endParaRPr lang="en-US" altLang="zh-CN" dirty="0"/>
          </a:p>
          <a:p>
            <a:r>
              <a:rPr lang="en-US" dirty="0"/>
              <a:t>zhangxue</a:t>
            </a:r>
            <a:r>
              <a:rPr lang="en-US" altLang="zh-CN" dirty="0"/>
              <a:t>@uestc.edu.cn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330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3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371600"/>
            <a:ext cx="11582400" cy="5181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>
              <a:lnSpc>
                <a:spcPct val="12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600"/>
              </a:spcBef>
              <a:defRPr b="1">
                <a:solidFill>
                  <a:schemeClr val="accent6">
                    <a:lumMod val="7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600"/>
              </a:spcBef>
              <a:defRPr b="1"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933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4800" y="1524000"/>
            <a:ext cx="5689600" cy="4800600"/>
          </a:xfrm>
        </p:spPr>
        <p:txBody>
          <a:bodyPr/>
          <a:lstStyle>
            <a:lvl1pPr marL="342900" indent="-342900">
              <a:lnSpc>
                <a:spcPct val="125000"/>
              </a:lnSpc>
              <a:spcBef>
                <a:spcPts val="6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spcBef>
                <a:spcPts val="600"/>
              </a:spcBef>
              <a:defRPr sz="2000" b="1">
                <a:solidFill>
                  <a:srgbClr val="000066"/>
                </a:solidFill>
              </a:defRPr>
            </a:lvl3pPr>
            <a:lvl4pPr>
              <a:lnSpc>
                <a:spcPct val="150000"/>
              </a:lnSpc>
              <a:spcBef>
                <a:spcPts val="600"/>
              </a:spcBef>
              <a:defRPr sz="1800" b="1">
                <a:solidFill>
                  <a:schemeClr val="accent6">
                    <a:lumMod val="7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600"/>
              </a:spcBef>
              <a:defRPr sz="1800" b="1">
                <a:solidFill>
                  <a:schemeClr val="accent6">
                    <a:lumMod val="7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524000"/>
            <a:ext cx="5689600" cy="48006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>
              <a:lnSpc>
                <a:spcPct val="125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lang="en-US" sz="32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lang="en-US" sz="32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lang="en-US" b="1" smtClean="0">
                <a:solidFill>
                  <a:srgbClr val="000066"/>
                </a:solidFill>
              </a:defRPr>
            </a:lvl3pPr>
            <a:lvl4pPr>
              <a:defRPr lang="en-US" sz="1800" b="1" smtClean="0">
                <a:solidFill>
                  <a:schemeClr val="accent6">
                    <a:lumMod val="75000"/>
                  </a:schemeClr>
                </a:solidFill>
              </a:defRPr>
            </a:lvl4pPr>
            <a:lvl5pPr>
              <a:defRPr lang="en-US" sz="1800" b="1"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Second level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24165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" grpId="0" build="p" bldLvl="2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25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762000"/>
            <a:ext cx="2590800" cy="5562600"/>
          </a:xfrm>
        </p:spPr>
        <p:txBody>
          <a:bodyPr vert="eaVert"/>
          <a:lstStyle>
            <a:lvl1pPr>
              <a:defRPr>
                <a:solidFill>
                  <a:srgbClr val="9900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914400" y="762000"/>
            <a:ext cx="7569200" cy="5562600"/>
          </a:xfrm>
        </p:spPr>
        <p:txBody>
          <a:bodyPr vert="eaVert"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0139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00238" cy="6865023"/>
          </a:xfrm>
          <a:prstGeom prst="rect">
            <a:avLst/>
          </a:prstGeom>
        </p:spPr>
      </p:pic>
      <p:sp>
        <p:nvSpPr>
          <p:cNvPr id="1028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914400" y="533400"/>
            <a:ext cx="10363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304800" y="1371600"/>
            <a:ext cx="11480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 Click to edit Master text styles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Second level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50" r:id="rId3"/>
    <p:sldLayoutId id="2147484053" r:id="rId4"/>
    <p:sldLayoutId id="2147484057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990033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Times New Roman" panose="02020603050405020304" pitchFamily="18" charset="0"/>
        <a:buChar char="☺"/>
        <a:defRPr lang="en-US" altLang="zh-CN" sz="2600" b="1" baseline="0" dirty="0" smtClean="0">
          <a:solidFill>
            <a:srgbClr val="000066"/>
          </a:solidFill>
          <a:latin typeface="+mn-ea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Times New Roman" panose="02020603050405020304" pitchFamily="18" charset="0"/>
        <a:buChar char="♫"/>
        <a:defRPr lang="en-US" altLang="zh-CN" sz="2400" b="1" dirty="0" smtClean="0">
          <a:solidFill>
            <a:srgbClr val="000066"/>
          </a:solidFill>
          <a:latin typeface="+mn-ea"/>
          <a:ea typeface="+mn-ea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Wingdings" panose="05000000000000000000" pitchFamily="2" charset="2"/>
        <a:buChar char="Ø"/>
        <a:defRPr lang="en-US" altLang="zh-CN" sz="2200" b="1" dirty="0" smtClean="0">
          <a:solidFill>
            <a:srgbClr val="000066"/>
          </a:solidFill>
          <a:latin typeface="+mn-lt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har char="–"/>
        <a:defRPr lang="en-US" altLang="zh-CN" sz="2000" b="1" dirty="0" smtClean="0">
          <a:solidFill>
            <a:schemeClr val="accent6">
              <a:lumMod val="75000"/>
            </a:schemeClr>
          </a:solidFill>
          <a:latin typeface="+mn-lt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har char="•"/>
        <a:defRPr lang="en-US" altLang="zh-CN" sz="1600" b="1" dirty="0" smtClean="0">
          <a:solidFill>
            <a:schemeClr val="accent6">
              <a:lumMod val="75000"/>
            </a:schemeClr>
          </a:solidFill>
          <a:latin typeface="+mn-lt"/>
        </a:defRPr>
      </a:lvl5pPr>
      <a:lvl6pPr marL="22288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1FFD2-C759-4331-B2C5-BD27D3F870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第八章  查找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18536A-F4C9-408B-A1C2-8B253B477A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张  学</a:t>
            </a:r>
            <a:endParaRPr lang="en-US" altLang="zh-CN" dirty="0"/>
          </a:p>
          <a:p>
            <a:r>
              <a:rPr lang="en-US" altLang="zh-CN" dirty="0"/>
              <a:t>zhangxue@uestc.edu.cn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781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761ADC-8AAA-440C-8648-4335775FA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查找的概念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84568E-DAD6-45DD-B63E-9AFB8D0ED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主关键字</a:t>
            </a:r>
            <a:endParaRPr lang="en-US" altLang="zh-CN" b="0" dirty="0"/>
          </a:p>
          <a:p>
            <a:pPr lvl="1"/>
            <a:r>
              <a:rPr lang="zh-CN" altLang="en-US" b="0" dirty="0"/>
              <a:t>用来</a:t>
            </a:r>
            <a:r>
              <a:rPr lang="zh-CN" altLang="en-US" b="1" dirty="0"/>
              <a:t>唯一</a:t>
            </a:r>
            <a:r>
              <a:rPr lang="zh-CN" altLang="en-US" b="0" dirty="0"/>
              <a:t>标识一个数据元素</a:t>
            </a:r>
            <a:r>
              <a:rPr lang="en-US" altLang="zh-CN" b="0" dirty="0"/>
              <a:t>(</a:t>
            </a:r>
            <a:r>
              <a:rPr lang="zh-CN" altLang="en-US" b="0" dirty="0"/>
              <a:t>记录</a:t>
            </a:r>
            <a:r>
              <a:rPr lang="en-US" altLang="zh-CN" b="0" dirty="0"/>
              <a:t>)</a:t>
            </a:r>
            <a:r>
              <a:rPr lang="zh-CN" altLang="en-US" b="0" dirty="0"/>
              <a:t>的数据项。在数据库中，称为</a:t>
            </a:r>
            <a:r>
              <a:rPr lang="zh-CN" altLang="en-US" b="1" dirty="0"/>
              <a:t>主码</a:t>
            </a:r>
            <a:r>
              <a:rPr lang="zh-CN" altLang="en-US" dirty="0"/>
              <a:t>或</a:t>
            </a:r>
            <a:r>
              <a:rPr lang="zh-CN" altLang="en-US" b="1" dirty="0"/>
              <a:t>主键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pPr lvl="1"/>
            <a:r>
              <a:rPr lang="zh-CN" altLang="en-US" dirty="0"/>
              <a:t>例如学生记录的学号，考生记录的考生号。</a:t>
            </a:r>
            <a:endParaRPr lang="en-US" altLang="zh-CN" b="0" dirty="0"/>
          </a:p>
          <a:p>
            <a:r>
              <a:rPr lang="zh-CN" altLang="en-US" dirty="0"/>
              <a:t>查找</a:t>
            </a:r>
            <a:r>
              <a:rPr lang="zh-CN" altLang="en-US" b="0" dirty="0"/>
              <a:t>：找到关键字等于某个给定值的数据元素。</a:t>
            </a:r>
            <a:endParaRPr lang="en-US" altLang="zh-CN" b="0" dirty="0"/>
          </a:p>
          <a:p>
            <a:r>
              <a:rPr lang="zh-CN" altLang="en-US" dirty="0"/>
              <a:t>查找的性能</a:t>
            </a:r>
            <a:endParaRPr lang="en-US" altLang="zh-CN" dirty="0"/>
          </a:p>
          <a:p>
            <a:pPr lvl="1"/>
            <a:r>
              <a:rPr lang="zh-CN" altLang="en-US" dirty="0"/>
              <a:t>平均时间：平均比较次数，又称平均查找长度。</a:t>
            </a:r>
            <a:endParaRPr lang="en-US" altLang="zh-CN" dirty="0"/>
          </a:p>
          <a:p>
            <a:pPr lvl="1"/>
            <a:r>
              <a:rPr lang="zh-CN" altLang="en-US" dirty="0"/>
              <a:t>最坏时间：最坏情况下的比较次数。</a:t>
            </a:r>
          </a:p>
        </p:txBody>
      </p:sp>
    </p:spTree>
    <p:extLst>
      <p:ext uri="{BB962C8B-B14F-4D97-AF65-F5344CB8AC3E}">
        <p14:creationId xmlns:p14="http://schemas.microsoft.com/office/powerpoint/2010/main" val="3854050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CADD8-6595-4A2D-8713-BBF58A88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顺序查找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D7C868-3FD9-4EAB-918F-6256D5BFE4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371600"/>
                <a:ext cx="11887200" cy="5181600"/>
              </a:xfrm>
            </p:spPr>
            <p:txBody>
              <a:bodyPr/>
              <a:lstStyle/>
              <a:p>
                <a:pPr>
                  <a:lnSpc>
                    <a:spcPct val="125000"/>
                  </a:lnSpc>
                </a:pPr>
                <a:r>
                  <a:rPr lang="zh-CN" altLang="en-US" dirty="0"/>
                  <a:t>平均查找长度：</a:t>
                </a:r>
                <a:endParaRPr lang="en-US" altLang="zh-CN" dirty="0"/>
              </a:p>
              <a:p>
                <a:pPr marL="400050" lvl="1" indent="0">
                  <a:buNone/>
                </a:pPr>
                <a:r>
                  <a:rPr lang="zh-CN" altLang="en-US" b="0" dirty="0"/>
                  <a:t>      设表长为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b="0" dirty="0"/>
                  <a:t>，下标从</a:t>
                </a:r>
                <a:r>
                  <a:rPr lang="en-US" altLang="zh-CN" b="0" dirty="0"/>
                  <a:t>1</a:t>
                </a:r>
                <a:r>
                  <a:rPr lang="zh-CN" altLang="en-US" b="0" dirty="0"/>
                  <a:t>开始，则查找第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b="0" dirty="0"/>
                  <a:t>个元素的比较次数为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b="0" dirty="0"/>
                  <a:t>，并设查找概率为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box>
                  </m:oMath>
                </a14:m>
                <a:r>
                  <a:rPr lang="zh-CN" altLang="en-US" b="0" dirty="0"/>
                  <a:t>，则平均查找长度为</a:t>
                </a:r>
                <a:endParaRPr lang="en-US" altLang="zh-CN" b="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d>
                        <m:d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1+2+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sz="2800" dirty="0"/>
              </a:p>
              <a:p>
                <a:pPr>
                  <a:lnSpc>
                    <a:spcPct val="125000"/>
                  </a:lnSpc>
                </a:pPr>
                <a:r>
                  <a:rPr lang="zh-CN" altLang="en-US" dirty="0"/>
                  <a:t>优缺点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优点：简单，通用，顺序存储和链式存储都可以。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缺点：查找时间长。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D7C868-3FD9-4EAB-918F-6256D5BFE4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371600"/>
                <a:ext cx="11887200" cy="5181600"/>
              </a:xfrm>
              <a:blipFill>
                <a:blip r:embed="rId2"/>
                <a:stretch>
                  <a:fillRect l="-769" t="-235" b="-4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8824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D000D9-2259-4877-BCBB-448261F04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二分查找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AE4569-5A2D-413F-AFDB-9E5A9768F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810000"/>
            <a:ext cx="10591800" cy="2819400"/>
          </a:xfrm>
        </p:spPr>
        <p:txBody>
          <a:bodyPr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mid=(</a:t>
            </a:r>
            <a:r>
              <a:rPr lang="en-US" altLang="zh-CN" b="0" dirty="0" err="1"/>
              <a:t>left+right</a:t>
            </a:r>
            <a:r>
              <a:rPr lang="en-US" altLang="zh-CN" b="0" dirty="0"/>
              <a:t>)/2;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dirty="0"/>
              <a:t>if</a:t>
            </a:r>
            <a:r>
              <a:rPr lang="en-US" altLang="zh-CN" b="0" dirty="0"/>
              <a:t> key==a[mid], </a:t>
            </a:r>
            <a:r>
              <a:rPr lang="en-US" altLang="zh-CN" dirty="0"/>
              <a:t>then return</a:t>
            </a:r>
            <a:r>
              <a:rPr lang="en-US" altLang="zh-CN" b="0" dirty="0"/>
              <a:t> mid;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dirty="0"/>
              <a:t>else if</a:t>
            </a:r>
            <a:r>
              <a:rPr lang="en-US" altLang="zh-CN" b="0" dirty="0"/>
              <a:t> </a:t>
            </a:r>
            <a:r>
              <a:rPr lang="en-US" altLang="zh-CN" b="0"/>
              <a:t>key&lt;a</a:t>
            </a:r>
            <a:r>
              <a:rPr lang="en-US" altLang="zh-CN" b="0" dirty="0"/>
              <a:t>[mid], </a:t>
            </a:r>
            <a:r>
              <a:rPr lang="en-US" altLang="zh-CN" dirty="0"/>
              <a:t>then</a:t>
            </a:r>
            <a:r>
              <a:rPr lang="en-US" altLang="zh-CN" b="0" dirty="0"/>
              <a:t> right=mid-1;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dirty="0"/>
              <a:t>else</a:t>
            </a:r>
            <a:r>
              <a:rPr lang="en-US" altLang="zh-CN" b="0" dirty="0"/>
              <a:t> left=mid+1;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CB280CE4-B92C-44B4-AAF4-0C1FFE68E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442233"/>
              </p:ext>
            </p:extLst>
          </p:nvPr>
        </p:nvGraphicFramePr>
        <p:xfrm>
          <a:off x="1981200" y="1295400"/>
          <a:ext cx="8725024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3184">
                  <a:extLst>
                    <a:ext uri="{9D8B030D-6E8A-4147-A177-3AD203B41FA5}">
                      <a16:colId xmlns:a16="http://schemas.microsoft.com/office/drawing/2014/main" val="3113449931"/>
                    </a:ext>
                  </a:extLst>
                </a:gridCol>
                <a:gridCol w="793184">
                  <a:extLst>
                    <a:ext uri="{9D8B030D-6E8A-4147-A177-3AD203B41FA5}">
                      <a16:colId xmlns:a16="http://schemas.microsoft.com/office/drawing/2014/main" val="3575542411"/>
                    </a:ext>
                  </a:extLst>
                </a:gridCol>
                <a:gridCol w="793184">
                  <a:extLst>
                    <a:ext uri="{9D8B030D-6E8A-4147-A177-3AD203B41FA5}">
                      <a16:colId xmlns:a16="http://schemas.microsoft.com/office/drawing/2014/main" val="1130027016"/>
                    </a:ext>
                  </a:extLst>
                </a:gridCol>
                <a:gridCol w="793184">
                  <a:extLst>
                    <a:ext uri="{9D8B030D-6E8A-4147-A177-3AD203B41FA5}">
                      <a16:colId xmlns:a16="http://schemas.microsoft.com/office/drawing/2014/main" val="494862568"/>
                    </a:ext>
                  </a:extLst>
                </a:gridCol>
                <a:gridCol w="793184">
                  <a:extLst>
                    <a:ext uri="{9D8B030D-6E8A-4147-A177-3AD203B41FA5}">
                      <a16:colId xmlns:a16="http://schemas.microsoft.com/office/drawing/2014/main" val="3722443667"/>
                    </a:ext>
                  </a:extLst>
                </a:gridCol>
                <a:gridCol w="793184">
                  <a:extLst>
                    <a:ext uri="{9D8B030D-6E8A-4147-A177-3AD203B41FA5}">
                      <a16:colId xmlns:a16="http://schemas.microsoft.com/office/drawing/2014/main" val="2804802419"/>
                    </a:ext>
                  </a:extLst>
                </a:gridCol>
                <a:gridCol w="793184">
                  <a:extLst>
                    <a:ext uri="{9D8B030D-6E8A-4147-A177-3AD203B41FA5}">
                      <a16:colId xmlns:a16="http://schemas.microsoft.com/office/drawing/2014/main" val="1216453824"/>
                    </a:ext>
                  </a:extLst>
                </a:gridCol>
                <a:gridCol w="793184">
                  <a:extLst>
                    <a:ext uri="{9D8B030D-6E8A-4147-A177-3AD203B41FA5}">
                      <a16:colId xmlns:a16="http://schemas.microsoft.com/office/drawing/2014/main" val="382629341"/>
                    </a:ext>
                  </a:extLst>
                </a:gridCol>
                <a:gridCol w="793184">
                  <a:extLst>
                    <a:ext uri="{9D8B030D-6E8A-4147-A177-3AD203B41FA5}">
                      <a16:colId xmlns:a16="http://schemas.microsoft.com/office/drawing/2014/main" val="1362373583"/>
                    </a:ext>
                  </a:extLst>
                </a:gridCol>
                <a:gridCol w="793184">
                  <a:extLst>
                    <a:ext uri="{9D8B030D-6E8A-4147-A177-3AD203B41FA5}">
                      <a16:colId xmlns:a16="http://schemas.microsoft.com/office/drawing/2014/main" val="3006216376"/>
                    </a:ext>
                  </a:extLst>
                </a:gridCol>
                <a:gridCol w="793184">
                  <a:extLst>
                    <a:ext uri="{9D8B030D-6E8A-4147-A177-3AD203B41FA5}">
                      <a16:colId xmlns:a16="http://schemas.microsoft.com/office/drawing/2014/main" val="72436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3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3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3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3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3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745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/>
                        <a:t>6</a:t>
                      </a:r>
                      <a:endParaRPr lang="zh-CN" altLang="en-US" sz="3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/>
                        <a:t>12</a:t>
                      </a:r>
                      <a:endParaRPr lang="zh-CN" altLang="en-US" sz="3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/>
                        <a:t>15</a:t>
                      </a:r>
                      <a:endParaRPr lang="zh-CN" altLang="en-US" sz="3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/>
                        <a:t>18</a:t>
                      </a:r>
                      <a:endParaRPr lang="zh-CN" altLang="en-US" sz="3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/>
                        <a:t>22</a:t>
                      </a:r>
                      <a:endParaRPr lang="zh-CN" altLang="en-US" sz="3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/>
                        <a:t>25</a:t>
                      </a:r>
                      <a:endParaRPr lang="zh-CN" altLang="en-US" sz="3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/>
                        <a:t>28</a:t>
                      </a:r>
                      <a:endParaRPr lang="zh-CN" altLang="en-US" sz="3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/>
                        <a:t>35</a:t>
                      </a:r>
                      <a:endParaRPr lang="zh-CN" altLang="en-US" sz="3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/>
                        <a:t>46</a:t>
                      </a:r>
                      <a:endParaRPr lang="zh-CN" altLang="en-US" sz="3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/>
                        <a:t>58</a:t>
                      </a:r>
                      <a:endParaRPr lang="zh-CN" altLang="en-US" sz="3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/>
                        <a:t>60</a:t>
                      </a:r>
                      <a:endParaRPr lang="zh-CN" altLang="en-US" sz="3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509640"/>
                  </a:ext>
                </a:extLst>
              </a:tr>
            </a:tbl>
          </a:graphicData>
        </a:graphic>
      </p:graphicFrame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66D4689-EE77-46D9-992F-1C96E60B39AE}"/>
              </a:ext>
            </a:extLst>
          </p:cNvPr>
          <p:cNvCxnSpPr/>
          <p:nvPr/>
        </p:nvCxnSpPr>
        <p:spPr bwMode="auto">
          <a:xfrm flipV="1">
            <a:off x="2400419" y="2575560"/>
            <a:ext cx="0" cy="54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4A786CD3-2C9E-44B3-B9CE-3C9155D094E2}"/>
              </a:ext>
            </a:extLst>
          </p:cNvPr>
          <p:cNvSpPr txBox="1"/>
          <p:nvPr/>
        </p:nvSpPr>
        <p:spPr>
          <a:xfrm>
            <a:off x="9816983" y="3026509"/>
            <a:ext cx="1232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right</a:t>
            </a:r>
            <a:endParaRPr lang="zh-CN" altLang="en-US" sz="3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19BCE9-2954-4B45-A7CD-8CFF10063066}"/>
              </a:ext>
            </a:extLst>
          </p:cNvPr>
          <p:cNvSpPr txBox="1"/>
          <p:nvPr/>
        </p:nvSpPr>
        <p:spPr>
          <a:xfrm>
            <a:off x="4937765" y="3183795"/>
            <a:ext cx="3733795" cy="48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3600" dirty="0"/>
              <a:t>        mid</a:t>
            </a:r>
            <a:endParaRPr lang="zh-CN" altLang="en-US" sz="36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EB5940-86B4-475C-8952-C2A87A6DF74A}"/>
              </a:ext>
            </a:extLst>
          </p:cNvPr>
          <p:cNvSpPr txBox="1"/>
          <p:nvPr/>
        </p:nvSpPr>
        <p:spPr>
          <a:xfrm>
            <a:off x="1981200" y="3026509"/>
            <a:ext cx="876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left</a:t>
            </a:r>
            <a:endParaRPr lang="zh-CN" altLang="en-US" sz="3600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1C7F553-E73E-46DF-B5DD-10683122F00A}"/>
              </a:ext>
            </a:extLst>
          </p:cNvPr>
          <p:cNvCxnSpPr/>
          <p:nvPr/>
        </p:nvCxnSpPr>
        <p:spPr bwMode="auto">
          <a:xfrm flipV="1">
            <a:off x="6370320" y="2538480"/>
            <a:ext cx="0" cy="54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AE77259-91C9-4F8B-821D-C8E90E4627CF}"/>
              </a:ext>
            </a:extLst>
          </p:cNvPr>
          <p:cNvCxnSpPr/>
          <p:nvPr/>
        </p:nvCxnSpPr>
        <p:spPr bwMode="auto">
          <a:xfrm flipV="1">
            <a:off x="10302240" y="2568960"/>
            <a:ext cx="0" cy="54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19BE1210-0FF5-4BDB-A595-1BA576D0A432}"/>
              </a:ext>
            </a:extLst>
          </p:cNvPr>
          <p:cNvSpPr txBox="1"/>
          <p:nvPr/>
        </p:nvSpPr>
        <p:spPr>
          <a:xfrm>
            <a:off x="1371600" y="1883509"/>
            <a:ext cx="8764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/>
              <a:t>a</a:t>
            </a:r>
            <a:endParaRPr lang="zh-CN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5655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7F6B-6EC2-41EC-A7BF-2E3F6BBF5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二分查找的性能分析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3F20DEC-E026-4F69-9D99-30627F9BE90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04800" y="1524000"/>
                <a:ext cx="9829800" cy="4800600"/>
              </a:xfrm>
            </p:spPr>
            <p:txBody>
              <a:bodyPr/>
              <a:lstStyle/>
              <a:p>
                <a:r>
                  <a:rPr lang="zh-CN" altLang="en-US" dirty="0"/>
                  <a:t>二分查找过程</a:t>
                </a:r>
                <a:r>
                  <a:rPr lang="zh-CN" altLang="en-US" b="0" dirty="0"/>
                  <a:t>可用二叉判定树描述，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   </a:t>
                </a:r>
                <a:r>
                  <a:rPr lang="zh-CN" altLang="en-US" b="0" dirty="0"/>
                  <a:t>其深度为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zh-CN" altLang="en-US" dirty="0"/>
                  <a:t>设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sup>
                    </m:sSup>
                  </m:oMath>
                </a14:m>
                <a:r>
                  <a:rPr lang="en-US" altLang="zh-CN" dirty="0"/>
                  <a:t>-1</a:t>
                </a:r>
                <a:r>
                  <a:rPr lang="zh-CN" altLang="en-US" dirty="0"/>
                  <a:t>，则平均查找长度为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</m:e>
                    </m:func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func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3F20DEC-E026-4F69-9D99-30627F9BE9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04800" y="1524000"/>
                <a:ext cx="9829800" cy="4800600"/>
              </a:xfrm>
              <a:blipFill>
                <a:blip r:embed="rId2"/>
                <a:stretch>
                  <a:fillRect l="-930" t="-2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DFCE7E1-E75E-4915-B8BA-01D1C79FAD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641231"/>
            <a:ext cx="4400508" cy="3921369"/>
          </a:xfrm>
        </p:spPr>
      </p:pic>
    </p:spTree>
    <p:extLst>
      <p:ext uri="{BB962C8B-B14F-4D97-AF65-F5344CB8AC3E}">
        <p14:creationId xmlns:p14="http://schemas.microsoft.com/office/powerpoint/2010/main" val="1973604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8A33C1-80A8-468C-B84E-E4B4E2BF4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对二分查找的评价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913017-C8F4-4F6C-9E5E-844652880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二分查找的基本要求</a:t>
            </a:r>
            <a:endParaRPr lang="en-US" altLang="zh-CN" dirty="0"/>
          </a:p>
          <a:p>
            <a:pPr lvl="1"/>
            <a:r>
              <a:rPr lang="zh-CN" altLang="en-US" dirty="0"/>
              <a:t>顺序存储</a:t>
            </a:r>
            <a:endParaRPr lang="en-US" altLang="zh-CN" dirty="0"/>
          </a:p>
          <a:p>
            <a:pPr lvl="1"/>
            <a:r>
              <a:rPr lang="zh-CN" altLang="en-US" dirty="0"/>
              <a:t>有序</a:t>
            </a:r>
            <a:endParaRPr lang="en-US" altLang="zh-CN" dirty="0"/>
          </a:p>
          <a:p>
            <a:r>
              <a:rPr lang="zh-CN" altLang="en-US" dirty="0"/>
              <a:t>优缺点</a:t>
            </a:r>
            <a:endParaRPr lang="en-US" altLang="zh-CN" dirty="0"/>
          </a:p>
          <a:p>
            <a:pPr lvl="1"/>
            <a:r>
              <a:rPr lang="zh-CN" altLang="en-US" dirty="0"/>
              <a:t>优点：查找速度快</a:t>
            </a:r>
            <a:endParaRPr lang="en-US" altLang="zh-CN" dirty="0"/>
          </a:p>
          <a:p>
            <a:pPr lvl="1"/>
            <a:r>
              <a:rPr lang="zh-CN" altLang="en-US" dirty="0"/>
              <a:t>缺点：插入删除困难</a:t>
            </a:r>
            <a:endParaRPr lang="en-US" altLang="zh-CN" dirty="0"/>
          </a:p>
          <a:p>
            <a:r>
              <a:rPr lang="zh-CN" altLang="en-US" dirty="0"/>
              <a:t>适用于不经常变动而查找频繁的有序表。</a:t>
            </a:r>
          </a:p>
        </p:txBody>
      </p:sp>
    </p:spTree>
    <p:extLst>
      <p:ext uri="{BB962C8B-B14F-4D97-AF65-F5344CB8AC3E}">
        <p14:creationId xmlns:p14="http://schemas.microsoft.com/office/powerpoint/2010/main" val="1753248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AFDDA1-CCE6-4803-BD26-9699889F6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分块查找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685942-1AD3-4CC7-877A-64421DB95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4038600" cy="4343400"/>
          </a:xfrm>
        </p:spPr>
        <p:txBody>
          <a:bodyPr/>
          <a:lstStyle/>
          <a:p>
            <a:r>
              <a:rPr lang="zh-CN" altLang="en-US" dirty="0"/>
              <a:t>分块</a:t>
            </a:r>
            <a:endParaRPr lang="en-US" altLang="zh-CN" dirty="0"/>
          </a:p>
          <a:p>
            <a:pPr lvl="1"/>
            <a:r>
              <a:rPr lang="zh-CN" altLang="en-US" dirty="0"/>
              <a:t>块内可以无序</a:t>
            </a:r>
            <a:endParaRPr lang="en-US" altLang="zh-CN" dirty="0"/>
          </a:p>
          <a:p>
            <a:pPr lvl="1"/>
            <a:r>
              <a:rPr lang="zh-CN" altLang="en-US" dirty="0"/>
              <a:t>块间必须有序</a:t>
            </a:r>
            <a:endParaRPr lang="en-US" altLang="zh-CN" dirty="0"/>
          </a:p>
          <a:p>
            <a:r>
              <a:rPr lang="zh-CN" altLang="en-US" dirty="0"/>
              <a:t>索引</a:t>
            </a:r>
            <a:r>
              <a:rPr lang="zh-CN" altLang="en-US" b="0" dirty="0"/>
              <a:t>：索引项包含</a:t>
            </a:r>
            <a:endParaRPr lang="en-US" altLang="zh-CN" b="0" dirty="0"/>
          </a:p>
          <a:p>
            <a:pPr lvl="1"/>
            <a:r>
              <a:rPr lang="zh-CN" altLang="en-US" dirty="0"/>
              <a:t>块的开始地址</a:t>
            </a:r>
            <a:endParaRPr lang="en-US" altLang="zh-CN" dirty="0"/>
          </a:p>
          <a:p>
            <a:pPr lvl="1"/>
            <a:r>
              <a:rPr lang="zh-CN" altLang="en-US" dirty="0"/>
              <a:t>块内最大或最小关键字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5E4BCBAB-942E-4CDD-9840-90BBF9CC723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20093703"/>
              </p:ext>
            </p:extLst>
          </p:nvPr>
        </p:nvGraphicFramePr>
        <p:xfrm>
          <a:off x="5892801" y="1661160"/>
          <a:ext cx="2565399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133">
                  <a:extLst>
                    <a:ext uri="{9D8B030D-6E8A-4147-A177-3AD203B41FA5}">
                      <a16:colId xmlns:a16="http://schemas.microsoft.com/office/drawing/2014/main" val="3040098757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2665323902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27753362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58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039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438047"/>
                  </a:ext>
                </a:extLst>
              </a:tr>
            </a:tbl>
          </a:graphicData>
        </a:graphic>
      </p:graphicFrame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8A9A4D52-6039-4686-ADBD-879611E70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269289"/>
              </p:ext>
            </p:extLst>
          </p:nvPr>
        </p:nvGraphicFramePr>
        <p:xfrm>
          <a:off x="4343400" y="4328160"/>
          <a:ext cx="7467600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300">
                  <a:extLst>
                    <a:ext uri="{9D8B030D-6E8A-4147-A177-3AD203B41FA5}">
                      <a16:colId xmlns:a16="http://schemas.microsoft.com/office/drawing/2014/main" val="4268312751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478770972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880770985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229704472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1145276007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795849793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159426517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1616066470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493216021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1908385776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3464017480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52877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58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66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76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235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/>
                        <a:t>0</a:t>
                      </a:r>
                      <a:endParaRPr lang="zh-CN" altLang="en-US" sz="32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/>
                        <a:t>1</a:t>
                      </a:r>
                      <a:endParaRPr lang="zh-CN" altLang="en-US" sz="32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/>
                        <a:t>2</a:t>
                      </a:r>
                      <a:endParaRPr lang="zh-CN" altLang="en-US" sz="32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/>
                        <a:t>3</a:t>
                      </a:r>
                      <a:endParaRPr lang="zh-CN" altLang="en-US" sz="32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/>
                        <a:t>4</a:t>
                      </a:r>
                      <a:endParaRPr lang="zh-CN" altLang="en-US" sz="32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/>
                        <a:t>5</a:t>
                      </a:r>
                      <a:endParaRPr lang="zh-CN" altLang="en-US" sz="32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/>
                        <a:t>6</a:t>
                      </a:r>
                      <a:endParaRPr lang="zh-CN" altLang="en-US" sz="32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/>
                        <a:t>7</a:t>
                      </a:r>
                      <a:endParaRPr lang="zh-CN" altLang="en-US" sz="32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/>
                        <a:t>8</a:t>
                      </a:r>
                      <a:endParaRPr lang="zh-CN" altLang="en-US" sz="32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/>
                        <a:t>9</a:t>
                      </a:r>
                      <a:endParaRPr lang="zh-CN" altLang="en-US" sz="32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/>
                        <a:t>10</a:t>
                      </a:r>
                      <a:endParaRPr lang="zh-CN" altLang="en-US" sz="32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/>
                        <a:t>11</a:t>
                      </a:r>
                      <a:endParaRPr lang="zh-CN" altLang="en-US" sz="32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263258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B63D67C-6068-432D-92ED-00AB263368D0}"/>
              </a:ext>
            </a:extLst>
          </p:cNvPr>
          <p:cNvSpPr txBox="1"/>
          <p:nvPr/>
        </p:nvSpPr>
        <p:spPr>
          <a:xfrm>
            <a:off x="4572000" y="185302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18ED4D4-83B8-4AA0-B3B8-E27D6910B1A4}"/>
              </a:ext>
            </a:extLst>
          </p:cNvPr>
          <p:cNvSpPr txBox="1"/>
          <p:nvPr/>
        </p:nvSpPr>
        <p:spPr>
          <a:xfrm>
            <a:off x="8610600" y="1609785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块内最大关键字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D6631F0-D04D-4DDE-AE49-DDBA6655361C}"/>
              </a:ext>
            </a:extLst>
          </p:cNvPr>
          <p:cNvSpPr txBox="1"/>
          <p:nvPr/>
        </p:nvSpPr>
        <p:spPr>
          <a:xfrm>
            <a:off x="8610600" y="224398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块的开始地址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C43B583-C186-4D9B-BA74-90201B76E041}"/>
              </a:ext>
            </a:extLst>
          </p:cNvPr>
          <p:cNvCxnSpPr/>
          <p:nvPr/>
        </p:nvCxnSpPr>
        <p:spPr bwMode="auto">
          <a:xfrm flipH="1">
            <a:off x="4648200" y="2819400"/>
            <a:ext cx="1676400" cy="150876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AA44ABD-4023-4C3D-BE5D-68AD84611645}"/>
              </a:ext>
            </a:extLst>
          </p:cNvPr>
          <p:cNvCxnSpPr/>
          <p:nvPr/>
        </p:nvCxnSpPr>
        <p:spPr bwMode="auto">
          <a:xfrm>
            <a:off x="7162800" y="2819400"/>
            <a:ext cx="0" cy="150876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41E2150-0EAE-4905-A14E-FE6D40BC57A6}"/>
              </a:ext>
            </a:extLst>
          </p:cNvPr>
          <p:cNvCxnSpPr/>
          <p:nvPr/>
        </p:nvCxnSpPr>
        <p:spPr bwMode="auto">
          <a:xfrm>
            <a:off x="8077200" y="2819400"/>
            <a:ext cx="1524000" cy="150876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DD0EEA7A-B77F-49C2-A9FC-0E62CAD2BD1B}"/>
              </a:ext>
            </a:extLst>
          </p:cNvPr>
          <p:cNvSpPr txBox="1">
            <a:spLocks/>
          </p:cNvSpPr>
          <p:nvPr/>
        </p:nvSpPr>
        <p:spPr bwMode="auto">
          <a:xfrm>
            <a:off x="304800" y="5848644"/>
            <a:ext cx="7210145" cy="652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defRPr lang="en-US" altLang="zh-CN" sz="3200" b="1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Pct val="60000"/>
              <a:buFont typeface="Wingdings" panose="05000000000000000000" pitchFamily="2" charset="2"/>
              <a:buChar char="u"/>
              <a:defRPr lang="en-US" altLang="zh-CN"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 algn="l" rtl="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 lang="en-US" altLang="zh-CN" sz="2000" b="1">
                <a:solidFill>
                  <a:srgbClr val="000066"/>
                </a:solidFill>
                <a:latin typeface="+mn-lt"/>
              </a:defRPr>
            </a:lvl3pPr>
            <a:lvl4pPr marL="1428750" indent="-228600" algn="l" rtl="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har char="–"/>
              <a:defRPr lang="en-US" altLang="zh-CN" sz="1800" b="1">
                <a:solidFill>
                  <a:schemeClr val="accent6">
                    <a:lumMod val="75000"/>
                  </a:schemeClr>
                </a:solidFill>
                <a:latin typeface="+mn-lt"/>
              </a:defRPr>
            </a:lvl4pPr>
            <a:lvl5pPr marL="1771650" indent="-228600" algn="l" rtl="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har char="•"/>
              <a:defRPr lang="en-US" altLang="zh-CN" sz="1800" b="1">
                <a:solidFill>
                  <a:schemeClr val="accent6">
                    <a:lumMod val="75000"/>
                  </a:schemeClr>
                </a:solidFill>
                <a:latin typeface="+mn-lt"/>
              </a:defRPr>
            </a:lvl5pPr>
            <a:lvl6pPr marL="2228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6pPr>
            <a:lvl7pPr marL="26860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7pPr>
            <a:lvl8pPr marL="31432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8pPr>
            <a:lvl9pPr marL="3600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kern="0" dirty="0"/>
              <a:t>查找</a:t>
            </a:r>
            <a:r>
              <a:rPr lang="zh-CN" altLang="en-US" b="0" kern="0" dirty="0"/>
              <a:t>：先查索引、再查数据块。</a:t>
            </a:r>
          </a:p>
        </p:txBody>
      </p:sp>
    </p:spTree>
    <p:extLst>
      <p:ext uri="{BB962C8B-B14F-4D97-AF65-F5344CB8AC3E}">
        <p14:creationId xmlns:p14="http://schemas.microsoft.com/office/powerpoint/2010/main" val="1988835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A6BA08-D5F4-4D56-A42F-38B28AA07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基于二叉树的查找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0DA73A-F56A-47A8-A2D0-B443C38C53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5943600" cy="4800600"/>
          </a:xfrm>
        </p:spPr>
        <p:txBody>
          <a:bodyPr/>
          <a:lstStyle/>
          <a:p>
            <a:r>
              <a:rPr lang="zh-CN" altLang="en-US" dirty="0"/>
              <a:t>二叉排序树</a:t>
            </a:r>
            <a:endParaRPr lang="en-US" altLang="zh-CN" dirty="0"/>
          </a:p>
          <a:p>
            <a:pPr lvl="1"/>
            <a:r>
              <a:rPr lang="zh-CN" altLang="en-US" dirty="0"/>
              <a:t>左子树上节点的值小于根节点的值；</a:t>
            </a:r>
            <a:endParaRPr lang="en-US" altLang="zh-CN" dirty="0"/>
          </a:p>
          <a:p>
            <a:pPr lvl="1"/>
            <a:r>
              <a:rPr lang="zh-CN" altLang="en-US" dirty="0"/>
              <a:t>右子树上节点的值大于根节点的值；</a:t>
            </a:r>
            <a:endParaRPr lang="en-US" altLang="zh-CN" dirty="0"/>
          </a:p>
          <a:p>
            <a:pPr lvl="1"/>
            <a:r>
              <a:rPr lang="zh-CN" altLang="en-US" dirty="0"/>
              <a:t>左右子树都是二叉排序树。</a:t>
            </a:r>
            <a:endParaRPr lang="en-US" altLang="zh-CN" dirty="0"/>
          </a:p>
          <a:p>
            <a:r>
              <a:rPr lang="zh-CN" altLang="en-US" dirty="0"/>
              <a:t>中序遍历</a:t>
            </a:r>
            <a:r>
              <a:rPr lang="zh-CN" altLang="en-US" b="0" dirty="0"/>
              <a:t>可以得到递增序列。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3625936-5CA5-427D-8181-8FE082790A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1524000"/>
            <a:ext cx="5130637" cy="4572000"/>
          </a:xfrm>
        </p:spPr>
      </p:pic>
    </p:spTree>
    <p:extLst>
      <p:ext uri="{BB962C8B-B14F-4D97-AF65-F5344CB8AC3E}">
        <p14:creationId xmlns:p14="http://schemas.microsoft.com/office/powerpoint/2010/main" val="1245567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821CAD-0698-46BA-BB02-695EDF64C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二叉排序树的查找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9B686D-203B-4738-9CED-FEC39A4D1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0" dirty="0"/>
              <a:t>设要查的关键字是</a:t>
            </a:r>
            <a:r>
              <a:rPr lang="en-US" altLang="zh-CN" b="0" dirty="0"/>
              <a:t>key</a:t>
            </a:r>
            <a:r>
              <a:rPr lang="zh-CN" altLang="en-US" b="0" dirty="0"/>
              <a:t>，二叉树的根为</a:t>
            </a:r>
            <a:r>
              <a:rPr lang="en-US" altLang="zh-CN" b="0" dirty="0"/>
              <a:t>root</a:t>
            </a:r>
            <a:r>
              <a:rPr lang="zh-CN" altLang="en-US" b="0" dirty="0"/>
              <a:t>：</a:t>
            </a:r>
            <a:endParaRPr lang="en-US" altLang="zh-CN" b="0" dirty="0"/>
          </a:p>
          <a:p>
            <a:r>
              <a:rPr lang="zh-CN" altLang="en-US" dirty="0"/>
              <a:t>算法</a:t>
            </a:r>
            <a:endParaRPr lang="en-US" altLang="zh-CN" dirty="0"/>
          </a:p>
          <a:p>
            <a:pPr lvl="1"/>
            <a:r>
              <a:rPr lang="zh-CN" altLang="en-US" dirty="0"/>
              <a:t>如果 </a:t>
            </a:r>
            <a:r>
              <a:rPr lang="en-US" altLang="zh-CN" dirty="0"/>
              <a:t>key=</a:t>
            </a:r>
            <a:r>
              <a:rPr lang="en-US" altLang="zh-CN" dirty="0" err="1"/>
              <a:t>root.key</a:t>
            </a:r>
            <a:r>
              <a:rPr lang="zh-CN" altLang="en-US" dirty="0"/>
              <a:t>，就返回</a:t>
            </a:r>
            <a:r>
              <a:rPr lang="en-US" altLang="zh-CN" dirty="0"/>
              <a:t>root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/>
            <a:r>
              <a:rPr lang="zh-CN" altLang="en-US" dirty="0"/>
              <a:t>如果</a:t>
            </a:r>
            <a:r>
              <a:rPr lang="en-US" altLang="zh-CN" dirty="0"/>
              <a:t> key&lt;</a:t>
            </a:r>
            <a:r>
              <a:rPr lang="en-US" altLang="zh-CN" dirty="0" err="1"/>
              <a:t>root.key</a:t>
            </a:r>
            <a:r>
              <a:rPr lang="zh-CN" altLang="en-US" dirty="0"/>
              <a:t>，则查找</a:t>
            </a:r>
            <a:r>
              <a:rPr lang="en-US" altLang="zh-CN" dirty="0"/>
              <a:t>root</a:t>
            </a:r>
            <a:r>
              <a:rPr lang="zh-CN" altLang="en-US" dirty="0"/>
              <a:t>的左子树；</a:t>
            </a:r>
            <a:endParaRPr lang="en-US" altLang="zh-CN" dirty="0"/>
          </a:p>
          <a:p>
            <a:pPr lvl="1"/>
            <a:r>
              <a:rPr lang="zh-CN" altLang="en-US" dirty="0"/>
              <a:t>如果 </a:t>
            </a:r>
            <a:r>
              <a:rPr lang="en-US" altLang="zh-CN" dirty="0"/>
              <a:t>key&gt;</a:t>
            </a:r>
            <a:r>
              <a:rPr lang="en-US" altLang="zh-CN" dirty="0" err="1"/>
              <a:t>root.key</a:t>
            </a:r>
            <a:r>
              <a:rPr lang="zh-CN" altLang="en-US" dirty="0"/>
              <a:t>，则查找</a:t>
            </a:r>
            <a:r>
              <a:rPr lang="en-US" altLang="zh-CN" dirty="0"/>
              <a:t>root</a:t>
            </a:r>
            <a:r>
              <a:rPr lang="zh-CN" altLang="en-US" dirty="0"/>
              <a:t>的右子树。</a:t>
            </a:r>
            <a:endParaRPr lang="en-US" altLang="zh-CN" dirty="0"/>
          </a:p>
          <a:p>
            <a:r>
              <a:rPr lang="zh-CN" altLang="en-US" dirty="0"/>
              <a:t>实现</a:t>
            </a:r>
            <a:endParaRPr lang="en-US" altLang="zh-CN" dirty="0"/>
          </a:p>
          <a:p>
            <a:pPr lvl="1"/>
            <a:r>
              <a:rPr lang="zh-CN" altLang="en-US" dirty="0"/>
              <a:t>递归</a:t>
            </a:r>
            <a:endParaRPr lang="en-US" altLang="zh-CN" dirty="0"/>
          </a:p>
          <a:p>
            <a:pPr lvl="1"/>
            <a:r>
              <a:rPr lang="zh-CN" altLang="en-US" dirty="0"/>
              <a:t>迭代</a:t>
            </a:r>
          </a:p>
        </p:txBody>
      </p:sp>
    </p:spTree>
    <p:extLst>
      <p:ext uri="{BB962C8B-B14F-4D97-AF65-F5344CB8AC3E}">
        <p14:creationId xmlns:p14="http://schemas.microsoft.com/office/powerpoint/2010/main" val="2232146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F72B18-A936-48C3-94FC-86CD3CE74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二叉排序树的插入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70DFD9-FFC8-4047-AC8D-57DC0BE15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把关键字为</a:t>
            </a:r>
            <a:r>
              <a:rPr lang="en-US" altLang="zh-CN" dirty="0"/>
              <a:t>key</a:t>
            </a:r>
            <a:r>
              <a:rPr lang="zh-CN" altLang="en-US" dirty="0"/>
              <a:t>的节点插入到二叉排序树中：</a:t>
            </a:r>
            <a:endParaRPr lang="en-US" altLang="zh-CN" dirty="0"/>
          </a:p>
          <a:p>
            <a:r>
              <a:rPr lang="zh-CN" altLang="en-US" b="0" dirty="0"/>
              <a:t>如果二叉树是空的，则将</a:t>
            </a:r>
            <a:r>
              <a:rPr lang="en-US" altLang="zh-CN" b="0" dirty="0"/>
              <a:t>key</a:t>
            </a:r>
            <a:r>
              <a:rPr lang="zh-CN" altLang="en-US" b="0" dirty="0"/>
              <a:t>作为根节点；</a:t>
            </a:r>
            <a:endParaRPr lang="en-US" altLang="zh-CN" b="0" dirty="0"/>
          </a:p>
          <a:p>
            <a:r>
              <a:rPr lang="zh-CN" altLang="en-US" b="0" dirty="0"/>
              <a:t>如果二叉树的非空的，则将</a:t>
            </a:r>
            <a:r>
              <a:rPr lang="en-US" altLang="zh-CN" b="0" dirty="0"/>
              <a:t>key</a:t>
            </a:r>
            <a:r>
              <a:rPr lang="zh-CN" altLang="en-US" b="0" dirty="0"/>
              <a:t>和根节点比较：</a:t>
            </a:r>
            <a:endParaRPr lang="en-US" altLang="zh-CN" b="0" dirty="0"/>
          </a:p>
          <a:p>
            <a:pPr lvl="1"/>
            <a:r>
              <a:rPr lang="zh-CN" altLang="en-US" b="0" dirty="0"/>
              <a:t>如果</a:t>
            </a:r>
            <a:r>
              <a:rPr lang="en-US" altLang="zh-CN" b="0" dirty="0"/>
              <a:t>key</a:t>
            </a:r>
            <a:r>
              <a:rPr lang="zh-CN" altLang="en-US" b="0" dirty="0"/>
              <a:t>等于根节点，则报错；</a:t>
            </a:r>
            <a:endParaRPr lang="en-US" altLang="zh-CN" b="0" dirty="0"/>
          </a:p>
          <a:p>
            <a:pPr lvl="1"/>
            <a:r>
              <a:rPr lang="zh-CN" altLang="en-US" b="0" dirty="0"/>
              <a:t>如果</a:t>
            </a:r>
            <a:r>
              <a:rPr lang="en-US" altLang="zh-CN" b="0" dirty="0"/>
              <a:t>key</a:t>
            </a:r>
            <a:r>
              <a:rPr lang="zh-CN" altLang="en-US" b="0" dirty="0"/>
              <a:t>小于根节点，则将</a:t>
            </a:r>
            <a:r>
              <a:rPr lang="en-US" altLang="zh-CN" b="0" dirty="0"/>
              <a:t>key</a:t>
            </a:r>
            <a:r>
              <a:rPr lang="zh-CN" altLang="en-US" b="0" dirty="0"/>
              <a:t>插入到左子树；</a:t>
            </a:r>
            <a:endParaRPr lang="en-US" altLang="zh-CN" b="0" dirty="0"/>
          </a:p>
          <a:p>
            <a:pPr lvl="1"/>
            <a:r>
              <a:rPr lang="zh-CN" altLang="en-US" b="0" dirty="0"/>
              <a:t>如果</a:t>
            </a:r>
            <a:r>
              <a:rPr lang="en-US" altLang="zh-CN" b="0" dirty="0"/>
              <a:t>key</a:t>
            </a:r>
            <a:r>
              <a:rPr lang="zh-CN" altLang="en-US" b="0" dirty="0"/>
              <a:t>大于根节点，则将</a:t>
            </a:r>
            <a:r>
              <a:rPr lang="en-US" altLang="zh-CN" b="0" dirty="0"/>
              <a:t>key</a:t>
            </a:r>
            <a:r>
              <a:rPr lang="zh-CN" altLang="en-US" b="0" dirty="0"/>
              <a:t>插入到右子树。</a:t>
            </a:r>
          </a:p>
        </p:txBody>
      </p:sp>
    </p:spTree>
    <p:extLst>
      <p:ext uri="{BB962C8B-B14F-4D97-AF65-F5344CB8AC3E}">
        <p14:creationId xmlns:p14="http://schemas.microsoft.com/office/powerpoint/2010/main" val="1771968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83F94-33BD-4D69-A873-B4C4EAFF3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二叉排序树的删除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803D05-9B38-44E0-97DB-BD9D15DC80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0" dirty="0"/>
              <a:t>设要删除的节点为</a:t>
            </a:r>
            <a:r>
              <a:rPr lang="en-US" altLang="zh-CN" b="0" dirty="0"/>
              <a:t>k</a:t>
            </a:r>
            <a:r>
              <a:rPr lang="zh-CN" altLang="en-US" b="0" dirty="0"/>
              <a:t>，并设</a:t>
            </a:r>
            <a:r>
              <a:rPr lang="en-US" altLang="zh-CN" b="0" dirty="0"/>
              <a:t>k</a:t>
            </a:r>
            <a:r>
              <a:rPr lang="zh-CN" altLang="en-US" b="0" dirty="0"/>
              <a:t>是</a:t>
            </a:r>
            <a:r>
              <a:rPr lang="en-US" altLang="zh-CN" b="0" dirty="0"/>
              <a:t>p</a:t>
            </a:r>
            <a:r>
              <a:rPr lang="zh-CN" altLang="en-US" b="0" dirty="0"/>
              <a:t>的左孩子</a:t>
            </a:r>
            <a:r>
              <a:rPr lang="en-US" altLang="zh-CN" b="0" dirty="0"/>
              <a:t>(</a:t>
            </a:r>
            <a:r>
              <a:rPr lang="zh-CN" altLang="en-US" b="0" dirty="0"/>
              <a:t>右孩子情况类似</a:t>
            </a:r>
            <a:r>
              <a:rPr lang="en-US" altLang="zh-CN" b="0" dirty="0"/>
              <a:t>)</a:t>
            </a:r>
            <a:r>
              <a:rPr lang="zh-CN" altLang="en-US" b="0" dirty="0"/>
              <a:t>：</a:t>
            </a:r>
            <a:endParaRPr lang="en-US" altLang="zh-CN" b="0" dirty="0"/>
          </a:p>
          <a:p>
            <a:r>
              <a:rPr lang="zh-CN" altLang="en-US" b="0" dirty="0"/>
              <a:t>如果</a:t>
            </a:r>
            <a:r>
              <a:rPr lang="en-US" altLang="zh-CN" b="0" dirty="0"/>
              <a:t>k</a:t>
            </a:r>
            <a:r>
              <a:rPr lang="zh-CN" altLang="en-US" b="0" dirty="0"/>
              <a:t>是叶子节点，那么直接删除；</a:t>
            </a:r>
            <a:endParaRPr lang="en-US" altLang="zh-CN" b="0" dirty="0"/>
          </a:p>
          <a:p>
            <a:r>
              <a:rPr lang="zh-CN" altLang="en-US" b="0" dirty="0"/>
              <a:t>如果</a:t>
            </a:r>
            <a:r>
              <a:rPr lang="en-US" altLang="zh-CN" b="0" dirty="0"/>
              <a:t>k</a:t>
            </a:r>
            <a:r>
              <a:rPr lang="zh-CN" altLang="en-US" b="0" dirty="0"/>
              <a:t>只有左子树或只有右子树，则直接改为</a:t>
            </a:r>
            <a:r>
              <a:rPr lang="en-US" altLang="zh-CN" b="0" dirty="0"/>
              <a:t>p</a:t>
            </a:r>
            <a:r>
              <a:rPr lang="zh-CN" altLang="en-US" b="0" dirty="0"/>
              <a:t>的左子树；</a:t>
            </a:r>
          </a:p>
        </p:txBody>
      </p:sp>
      <p:pic>
        <p:nvPicPr>
          <p:cNvPr id="14" name="内容占位符 13">
            <a:extLst>
              <a:ext uri="{FF2B5EF4-FFF2-40B4-BE49-F238E27FC236}">
                <a16:creationId xmlns:a16="http://schemas.microsoft.com/office/drawing/2014/main" id="{506AF0DE-675D-4CED-AB10-444DBF604D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321" y="1541585"/>
            <a:ext cx="5611243" cy="4402015"/>
          </a:xfrm>
        </p:spPr>
      </p:pic>
    </p:spTree>
    <p:extLst>
      <p:ext uri="{BB962C8B-B14F-4D97-AF65-F5344CB8AC3E}">
        <p14:creationId xmlns:p14="http://schemas.microsoft.com/office/powerpoint/2010/main" val="3770977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83F94-33BD-4D69-A873-B4C4EAFF3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二叉排序树的删除</a:t>
            </a:r>
            <a:r>
              <a:rPr lang="en-US" altLang="zh-CN" dirty="0"/>
              <a:t>(</a:t>
            </a:r>
            <a:r>
              <a:rPr lang="zh-CN" altLang="en-US" dirty="0"/>
              <a:t>接上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803D05-9B38-44E0-97DB-BD9D15DC80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6324600" cy="4953000"/>
          </a:xfrm>
        </p:spPr>
        <p:txBody>
          <a:bodyPr/>
          <a:lstStyle/>
          <a:p>
            <a:r>
              <a:rPr lang="zh-CN" altLang="en-US" b="0" dirty="0"/>
              <a:t>若 </a:t>
            </a:r>
            <a:r>
              <a:rPr lang="en-US" altLang="zh-CN" b="0" dirty="0"/>
              <a:t>k </a:t>
            </a:r>
            <a:r>
              <a:rPr lang="zh-CN" altLang="en-US" b="0" dirty="0"/>
              <a:t>既有左子树，又有右子树，则找到 </a:t>
            </a:r>
            <a:r>
              <a:rPr lang="en-US" altLang="zh-CN" b="0" dirty="0"/>
              <a:t>k </a:t>
            </a:r>
            <a:r>
              <a:rPr lang="zh-CN" altLang="en-US" b="0" dirty="0"/>
              <a:t>的中序前驱 </a:t>
            </a:r>
            <a:r>
              <a:rPr lang="en-US" altLang="zh-CN" b="0" dirty="0"/>
              <a:t>s</a:t>
            </a:r>
            <a:r>
              <a:rPr lang="zh-CN" altLang="en-US" b="0" dirty="0"/>
              <a:t>，然后有两种方法：</a:t>
            </a:r>
          </a:p>
          <a:p>
            <a:pPr lvl="1"/>
            <a:r>
              <a:rPr lang="zh-CN" altLang="en-US" b="0" dirty="0"/>
              <a:t>方法</a:t>
            </a:r>
            <a:r>
              <a:rPr lang="en-US" altLang="zh-CN" b="0" dirty="0"/>
              <a:t>1</a:t>
            </a:r>
            <a:r>
              <a:rPr lang="zh-CN" altLang="en-US" b="0" dirty="0"/>
              <a:t>：</a:t>
            </a:r>
            <a:endParaRPr lang="en-US" altLang="zh-CN" b="0" dirty="0"/>
          </a:p>
          <a:p>
            <a:pPr marL="457200" lvl="1" indent="0">
              <a:buNone/>
            </a:pPr>
            <a:r>
              <a:rPr lang="en-US" altLang="zh-CN" b="0" dirty="0"/>
              <a:t>p-&gt;</a:t>
            </a:r>
            <a:r>
              <a:rPr lang="en-US" altLang="zh-CN" b="0" dirty="0" err="1"/>
              <a:t>leftChild</a:t>
            </a:r>
            <a:r>
              <a:rPr lang="en-US" altLang="zh-CN" b="0" dirty="0"/>
              <a:t>=k-&gt;</a:t>
            </a:r>
            <a:r>
              <a:rPr lang="en-US" altLang="zh-CN" b="0" dirty="0" err="1"/>
              <a:t>leftChild</a:t>
            </a:r>
            <a:r>
              <a:rPr lang="en-US" altLang="zh-CN" b="0" dirty="0"/>
              <a:t>;</a:t>
            </a:r>
          </a:p>
          <a:p>
            <a:pPr marL="457200" lvl="1" indent="0">
              <a:buNone/>
            </a:pPr>
            <a:r>
              <a:rPr lang="en-US" altLang="zh-CN" b="0" dirty="0"/>
              <a:t>s-&gt;</a:t>
            </a:r>
            <a:r>
              <a:rPr lang="en-US" altLang="zh-CN" b="0" dirty="0" err="1"/>
              <a:t>rightChild</a:t>
            </a:r>
            <a:r>
              <a:rPr lang="en-US" altLang="zh-CN" b="0" dirty="0"/>
              <a:t>=k-&gt;</a:t>
            </a:r>
            <a:r>
              <a:rPr lang="en-US" altLang="zh-CN" b="0" dirty="0" err="1"/>
              <a:t>rightChild</a:t>
            </a:r>
            <a:r>
              <a:rPr lang="en-US" altLang="zh-CN" b="0" dirty="0"/>
              <a:t>;</a:t>
            </a:r>
          </a:p>
          <a:p>
            <a:pPr marL="457200" lvl="1" indent="0">
              <a:buNone/>
            </a:pPr>
            <a:r>
              <a:rPr lang="en-US" altLang="zh-CN" dirty="0"/>
              <a:t>free(k);</a:t>
            </a:r>
          </a:p>
          <a:p>
            <a:pPr marL="457200" lvl="1" indent="0">
              <a:buNone/>
            </a:pPr>
            <a:r>
              <a:rPr lang="zh-CN" altLang="en-US" b="0" dirty="0"/>
              <a:t>其中 </a:t>
            </a:r>
            <a:r>
              <a:rPr lang="en-US" altLang="zh-CN" dirty="0"/>
              <a:t>s </a:t>
            </a:r>
            <a:r>
              <a:rPr lang="zh-CN" altLang="en-US" dirty="0"/>
              <a:t>没有右子树。</a:t>
            </a:r>
            <a:endParaRPr lang="zh-CN" altLang="en-US" b="0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B5E85CED-8AFB-497D-A8B0-843A7A02AE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272" y="1676400"/>
            <a:ext cx="5003728" cy="4800600"/>
          </a:xfrm>
        </p:spPr>
      </p:pic>
    </p:spTree>
    <p:extLst>
      <p:ext uri="{BB962C8B-B14F-4D97-AF65-F5344CB8AC3E}">
        <p14:creationId xmlns:p14="http://schemas.microsoft.com/office/powerpoint/2010/main" val="537884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83F94-33BD-4D69-A873-B4C4EAFF3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二叉排序树的删除</a:t>
            </a:r>
            <a:r>
              <a:rPr lang="en-US" altLang="zh-CN" dirty="0"/>
              <a:t>(</a:t>
            </a:r>
            <a:r>
              <a:rPr lang="zh-CN" altLang="en-US" dirty="0"/>
              <a:t>接上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803D05-9B38-44E0-97DB-BD9D15DC80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6324600" cy="4953000"/>
          </a:xfrm>
        </p:spPr>
        <p:txBody>
          <a:bodyPr/>
          <a:lstStyle/>
          <a:p>
            <a:pPr lvl="1"/>
            <a:r>
              <a:rPr lang="zh-CN" altLang="en-US" b="0" dirty="0"/>
              <a:t>方法</a:t>
            </a:r>
            <a:r>
              <a:rPr lang="en-US" altLang="zh-CN" b="0" dirty="0"/>
              <a:t>2</a:t>
            </a:r>
            <a:r>
              <a:rPr lang="zh-CN" altLang="en-US" b="0" dirty="0"/>
              <a:t>：</a:t>
            </a:r>
            <a:endParaRPr lang="en-US" altLang="zh-CN" b="0" dirty="0"/>
          </a:p>
          <a:p>
            <a:pPr marL="457200" lvl="1" indent="0">
              <a:buNone/>
            </a:pPr>
            <a:r>
              <a:rPr lang="en-US" altLang="zh-CN" b="0" dirty="0"/>
              <a:t>k-&gt;data=s-&gt;data;</a:t>
            </a:r>
          </a:p>
          <a:p>
            <a:pPr marL="457200" lvl="1" indent="0">
              <a:buNone/>
            </a:pPr>
            <a:r>
              <a:rPr lang="zh-CN" altLang="en-US" b="0" dirty="0"/>
              <a:t>再删 </a:t>
            </a:r>
            <a:r>
              <a:rPr lang="en-US" altLang="zh-CN" b="0" dirty="0"/>
              <a:t>s </a:t>
            </a:r>
            <a:r>
              <a:rPr lang="zh-CN" altLang="en-US" b="0" dirty="0"/>
              <a:t>；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b="0" dirty="0"/>
              <a:t>其中 </a:t>
            </a:r>
            <a:r>
              <a:rPr lang="en-US" altLang="zh-CN" dirty="0"/>
              <a:t>s </a:t>
            </a:r>
            <a:r>
              <a:rPr lang="zh-CN" altLang="en-US" dirty="0"/>
              <a:t>可能有左子树。</a:t>
            </a:r>
            <a:endParaRPr lang="zh-CN" altLang="en-US" b="0" dirty="0"/>
          </a:p>
        </p:txBody>
      </p:sp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D164C506-4763-4D6F-A5BB-8669FF88DC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447800"/>
            <a:ext cx="4678309" cy="5070807"/>
          </a:xfrm>
        </p:spPr>
      </p:pic>
    </p:spTree>
    <p:extLst>
      <p:ext uri="{BB962C8B-B14F-4D97-AF65-F5344CB8AC3E}">
        <p14:creationId xmlns:p14="http://schemas.microsoft.com/office/powerpoint/2010/main" val="2348318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DF3092-13F5-42D5-B02B-81D78D034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平衡二叉树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CC6C0D7-2B27-4D8C-AD7A-E765F40E99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平衡二叉树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又称</a:t>
                </a:r>
                <a:r>
                  <a:rPr lang="en-US" altLang="zh-CN" dirty="0"/>
                  <a:t>AVL</a:t>
                </a:r>
                <a:r>
                  <a:rPr lang="zh-CN" altLang="en-US" dirty="0"/>
                  <a:t>树</a:t>
                </a:r>
                <a:r>
                  <a:rPr lang="en-US" altLang="zh-CN" dirty="0"/>
                  <a:t>[Adelson-</a:t>
                </a:r>
                <a:r>
                  <a:rPr lang="en-US" altLang="zh-CN" dirty="0" err="1"/>
                  <a:t>Velsky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&amp; Landis,1962]</a:t>
                </a:r>
              </a:p>
              <a:p>
                <a:pPr lvl="1"/>
                <a:r>
                  <a:rPr lang="zh-CN" altLang="en-US" dirty="0"/>
                  <a:t>任意节点的两棵子树的深度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高度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差不超过</a:t>
                </a:r>
                <a:r>
                  <a:rPr lang="en-US" altLang="zh-CN" dirty="0"/>
                  <a:t>1</a:t>
                </a:r>
              </a:p>
              <a:p>
                <a:r>
                  <a:rPr lang="zh-CN" altLang="en-US" dirty="0"/>
                  <a:t>平衡因子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节点的平衡因子定义为：左子树的深度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CN" altLang="en-US" dirty="0"/>
                  <a:t> 右子树的深度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平衡因子的取值范围：</a:t>
                </a:r>
                <a:r>
                  <a:rPr lang="en-US" altLang="zh-CN" dirty="0"/>
                  <a:t>-1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+1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CC6C0D7-2B27-4D8C-AD7A-E765F40E99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0044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C11A6-9E9E-4973-9E40-94B23F12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平衡二叉树类型的定义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8C2C9A-C1A9-4B43-B40B-E7FC55610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0" dirty="0"/>
              <a:t>typedef struct </a:t>
            </a:r>
            <a:r>
              <a:rPr lang="en-US" altLang="zh-CN" b="0" dirty="0" err="1"/>
              <a:t>AvlTreeNode</a:t>
            </a:r>
            <a:r>
              <a:rPr lang="en-US" altLang="zh-CN" b="0" dirty="0"/>
              <a:t> </a:t>
            </a:r>
            <a:r>
              <a:rPr lang="en-US" altLang="zh-CN" b="0" dirty="0" err="1"/>
              <a:t>AvlTreeNode</a:t>
            </a:r>
            <a:r>
              <a:rPr lang="en-US" altLang="zh-CN" b="0" dirty="0"/>
              <a:t>, *</a:t>
            </a:r>
            <a:r>
              <a:rPr lang="en-US" altLang="zh-CN" b="0" dirty="0" err="1"/>
              <a:t>AvlTree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struct </a:t>
            </a:r>
            <a:r>
              <a:rPr lang="en-US" altLang="zh-CN" b="0" dirty="0" err="1"/>
              <a:t>AvlTreeNode</a:t>
            </a:r>
            <a:r>
              <a:rPr lang="en-US" altLang="zh-CN" b="0" dirty="0"/>
              <a:t> {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Data </a:t>
            </a:r>
            <a:r>
              <a:rPr lang="en-US" altLang="zh-CN" b="0" dirty="0" err="1"/>
              <a:t>data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AvlTreeNode</a:t>
            </a:r>
            <a:r>
              <a:rPr lang="en-US" altLang="zh-CN" b="0" dirty="0"/>
              <a:t>* </a:t>
            </a:r>
            <a:r>
              <a:rPr lang="en-US" altLang="zh-CN" b="0" dirty="0" err="1"/>
              <a:t>leftChild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AvlTreeNode</a:t>
            </a:r>
            <a:r>
              <a:rPr lang="en-US" altLang="zh-CN" b="0" dirty="0"/>
              <a:t>* </a:t>
            </a:r>
            <a:r>
              <a:rPr lang="en-US" altLang="zh-CN" b="0" dirty="0" err="1"/>
              <a:t>rightChild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AvlTreeNode</a:t>
            </a:r>
            <a:r>
              <a:rPr lang="en-US" altLang="zh-CN" b="0" dirty="0"/>
              <a:t>* parent;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balanceFactor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};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026610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59EC96-6484-42AC-AE75-08FE344E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平衡二叉树的插入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1EA129-D72E-4B4B-8914-59E3F0958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只有</a:t>
            </a:r>
            <a:r>
              <a:rPr lang="zh-CN" altLang="en-US" dirty="0"/>
              <a:t>新节点的祖先节点</a:t>
            </a:r>
            <a:r>
              <a:rPr lang="zh-CN" altLang="en-US" b="0" dirty="0"/>
              <a:t>的平衡因子受影响。</a:t>
            </a:r>
            <a:endParaRPr lang="en-US" altLang="zh-CN" b="0" dirty="0"/>
          </a:p>
          <a:p>
            <a:pPr>
              <a:lnSpc>
                <a:spcPct val="125000"/>
              </a:lnSpc>
            </a:pPr>
            <a:r>
              <a:rPr lang="zh-CN" altLang="en-US" b="0" dirty="0"/>
              <a:t>下层祖先节点恢复平衡，能使上层祖先节点恢复平衡，因此</a:t>
            </a:r>
            <a:r>
              <a:rPr lang="zh-CN" altLang="en-US" dirty="0"/>
              <a:t>只需调整最下面的失衡子树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r>
              <a:rPr lang="zh-CN" altLang="en-US" b="0" dirty="0"/>
              <a:t>原平衡因子为零的节点不可能失衡。</a:t>
            </a:r>
            <a:endParaRPr lang="en-US" altLang="zh-CN" b="0" dirty="0"/>
          </a:p>
          <a:p>
            <a:pPr>
              <a:lnSpc>
                <a:spcPct val="125000"/>
              </a:lnSpc>
            </a:pPr>
            <a:r>
              <a:rPr lang="zh-CN" altLang="en-US" b="0" dirty="0"/>
              <a:t>从新节点向上，遇到的</a:t>
            </a:r>
            <a:r>
              <a:rPr lang="zh-CN" altLang="en-US" dirty="0"/>
              <a:t>第一个平衡因子非零的祖先节点是可能失衡的节点</a:t>
            </a:r>
            <a:r>
              <a:rPr lang="zh-CN" altLang="en-US" b="0" dirty="0"/>
              <a:t>。如果失衡，那么就需要调整。</a:t>
            </a:r>
            <a:endParaRPr lang="en-US" altLang="zh-CN" b="0" dirty="0"/>
          </a:p>
          <a:p>
            <a:r>
              <a:rPr lang="zh-CN" altLang="en-US" b="0" dirty="0"/>
              <a:t>失衡情况可归纳为四种：</a:t>
            </a:r>
            <a:r>
              <a:rPr lang="en-US" altLang="zh-CN" dirty="0"/>
              <a:t>LL</a:t>
            </a:r>
            <a:r>
              <a:rPr lang="zh-CN" altLang="en-US" dirty="0"/>
              <a:t>、</a:t>
            </a:r>
            <a:r>
              <a:rPr lang="en-US" altLang="zh-CN" dirty="0"/>
              <a:t>RR</a:t>
            </a:r>
            <a:r>
              <a:rPr lang="zh-CN" altLang="en-US" dirty="0"/>
              <a:t>、</a:t>
            </a:r>
            <a:r>
              <a:rPr lang="en-US" altLang="zh-CN" dirty="0"/>
              <a:t>LR </a:t>
            </a:r>
            <a:r>
              <a:rPr lang="zh-CN" altLang="en-US" dirty="0"/>
              <a:t>和 </a:t>
            </a:r>
            <a:r>
              <a:rPr lang="en-US" altLang="zh-CN" dirty="0"/>
              <a:t>RL</a:t>
            </a:r>
            <a:r>
              <a:rPr lang="zh-CN" altLang="en-US" dirty="0"/>
              <a:t>型</a:t>
            </a:r>
            <a:r>
              <a:rPr lang="zh-CN" altLang="en-US" b="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77289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00B8B9-E105-4D06-BFE3-1943072B7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失衡子树的调整</a:t>
            </a:r>
            <a:r>
              <a:rPr lang="en-US" altLang="zh-CN" dirty="0"/>
              <a:t>-LL</a:t>
            </a:r>
            <a:r>
              <a:rPr lang="zh-CN" altLang="en-US" dirty="0"/>
              <a:t>型</a:t>
            </a:r>
          </a:p>
        </p:txBody>
      </p:sp>
      <p:pic>
        <p:nvPicPr>
          <p:cNvPr id="17" name="内容占位符 16">
            <a:extLst>
              <a:ext uri="{FF2B5EF4-FFF2-40B4-BE49-F238E27FC236}">
                <a16:creationId xmlns:a16="http://schemas.microsoft.com/office/drawing/2014/main" id="{50EA18AC-C58A-4524-B444-775A4BD6A2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505395"/>
            <a:ext cx="11582400" cy="4914009"/>
          </a:xfrm>
        </p:spPr>
      </p:pic>
    </p:spTree>
    <p:extLst>
      <p:ext uri="{BB962C8B-B14F-4D97-AF65-F5344CB8AC3E}">
        <p14:creationId xmlns:p14="http://schemas.microsoft.com/office/powerpoint/2010/main" val="2910167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00B8B9-E105-4D06-BFE3-1943072B7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失衡子树的调整</a:t>
            </a:r>
            <a:r>
              <a:rPr lang="en-US" altLang="zh-CN" dirty="0"/>
              <a:t>-RR</a:t>
            </a:r>
            <a:r>
              <a:rPr lang="zh-CN" altLang="en-US" dirty="0"/>
              <a:t>型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BD3CD70-4A57-43B4-AF3A-174E9D8E5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512277"/>
            <a:ext cx="11582400" cy="4900246"/>
          </a:xfrm>
        </p:spPr>
      </p:pic>
    </p:spTree>
    <p:extLst>
      <p:ext uri="{BB962C8B-B14F-4D97-AF65-F5344CB8AC3E}">
        <p14:creationId xmlns:p14="http://schemas.microsoft.com/office/powerpoint/2010/main" val="975591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00B8B9-E105-4D06-BFE3-1943072B7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失衡子树的调整</a:t>
            </a:r>
            <a:r>
              <a:rPr lang="en-US" altLang="zh-CN" dirty="0"/>
              <a:t>-LR</a:t>
            </a:r>
            <a:r>
              <a:rPr lang="zh-CN" altLang="en-US" dirty="0"/>
              <a:t>型</a:t>
            </a:r>
          </a:p>
        </p:txBody>
      </p:sp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F22569CB-6D26-49EA-97D9-AC9D079DBF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527802"/>
            <a:ext cx="11582400" cy="4869196"/>
          </a:xfrm>
        </p:spPr>
      </p:pic>
    </p:spTree>
    <p:extLst>
      <p:ext uri="{BB962C8B-B14F-4D97-AF65-F5344CB8AC3E}">
        <p14:creationId xmlns:p14="http://schemas.microsoft.com/office/powerpoint/2010/main" val="1243046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00B8B9-E105-4D06-BFE3-1943072B7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失衡子树的调整</a:t>
            </a:r>
            <a:r>
              <a:rPr lang="en-US" altLang="zh-CN" dirty="0"/>
              <a:t>-RL</a:t>
            </a:r>
            <a:r>
              <a:rPr lang="zh-CN" altLang="en-US" dirty="0"/>
              <a:t>型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84709E02-1D8D-4E2B-8BFD-DD610EFF07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527802"/>
            <a:ext cx="11582400" cy="4869196"/>
          </a:xfrm>
        </p:spPr>
      </p:pic>
    </p:spTree>
    <p:extLst>
      <p:ext uri="{BB962C8B-B14F-4D97-AF65-F5344CB8AC3E}">
        <p14:creationId xmlns:p14="http://schemas.microsoft.com/office/powerpoint/2010/main" val="4078595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60A9FC-55B9-489B-8321-72595DAB4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平衡二叉树插入算法的基本思想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5E4315-6A91-4CA7-8943-24C2236CB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6553200" cy="480060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b="0" dirty="0"/>
              <a:t>插入新节点</a:t>
            </a:r>
            <a:r>
              <a:rPr lang="en-US" altLang="zh-CN" b="0" dirty="0"/>
              <a:t>S</a:t>
            </a:r>
            <a:r>
              <a:rPr lang="zh-CN" altLang="en-US" b="0" dirty="0"/>
              <a:t>，找到</a:t>
            </a:r>
            <a:r>
              <a:rPr lang="zh-CN" altLang="en-US" dirty="0"/>
              <a:t>最近的平衡因子非零的祖先节点</a:t>
            </a:r>
            <a:r>
              <a:rPr lang="en-US" altLang="zh-CN" dirty="0"/>
              <a:t>A</a:t>
            </a:r>
            <a:r>
              <a:rPr lang="en-US" altLang="zh-CN" b="0" dirty="0"/>
              <a:t>(</a:t>
            </a:r>
            <a:r>
              <a:rPr lang="zh-CN" altLang="en-US" b="0" dirty="0"/>
              <a:t>可能失衡</a:t>
            </a:r>
            <a:r>
              <a:rPr lang="en-US" altLang="zh-CN" b="0" dirty="0"/>
              <a:t>)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pPr>
              <a:lnSpc>
                <a:spcPct val="125000"/>
              </a:lnSpc>
            </a:pPr>
            <a:r>
              <a:rPr lang="zh-CN" altLang="en-US" b="0" dirty="0"/>
              <a:t>修改从</a:t>
            </a:r>
            <a:r>
              <a:rPr lang="en-US" altLang="zh-CN" b="0" dirty="0"/>
              <a:t>A</a:t>
            </a:r>
            <a:r>
              <a:rPr lang="zh-CN" altLang="en-US" b="0" dirty="0"/>
              <a:t>到</a:t>
            </a:r>
            <a:r>
              <a:rPr lang="en-US" altLang="zh-CN" b="0" dirty="0"/>
              <a:t>S</a:t>
            </a:r>
            <a:r>
              <a:rPr lang="zh-CN" altLang="en-US" b="0" dirty="0"/>
              <a:t>路径上各节点的平衡因子，并确定节点</a:t>
            </a:r>
            <a:r>
              <a:rPr lang="en-US" altLang="zh-CN" b="0" dirty="0"/>
              <a:t>B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pPr>
              <a:lnSpc>
                <a:spcPct val="125000"/>
              </a:lnSpc>
            </a:pPr>
            <a:r>
              <a:rPr lang="zh-CN" altLang="en-US" dirty="0"/>
              <a:t>根据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的平衡因子，判断是否失衡和失衡的类型</a:t>
            </a:r>
            <a:r>
              <a:rPr lang="zh-CN" altLang="en-US" b="0" dirty="0"/>
              <a:t>，并做相应的处理。</a:t>
            </a:r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5CA46F8D-8930-4A76-9420-B9DB82C2517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24552803"/>
              </p:ext>
            </p:extLst>
          </p:nvPr>
        </p:nvGraphicFramePr>
        <p:xfrm>
          <a:off x="7010400" y="1752600"/>
          <a:ext cx="4775200" cy="417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67279616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73887042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2387868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5679791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失衡</a:t>
                      </a:r>
                      <a:endParaRPr lang="en-US" altLang="zh-CN" sz="3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类型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的平衡因子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321519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+1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712051"/>
                  </a:ext>
                </a:extLst>
              </a:tr>
              <a:tr h="130048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的</a:t>
                      </a:r>
                      <a:endParaRPr lang="en-US" altLang="zh-CN" sz="3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平</a:t>
                      </a:r>
                      <a:endParaRPr lang="en-US" altLang="zh-CN" sz="3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衡</a:t>
                      </a:r>
                      <a:endParaRPr lang="en-US" altLang="zh-CN" sz="3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因</a:t>
                      </a:r>
                      <a:endParaRPr lang="en-US" altLang="zh-CN" sz="3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+2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LL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LR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56285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RL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RR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695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2550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F29CF-D2FC-4956-8C17-FC43A2297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平衡二叉树插入的实现</a:t>
            </a:r>
            <a:r>
              <a:rPr lang="en-US" altLang="zh-CN" dirty="0"/>
              <a:t>-1/8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5EDF98-DB31-4D3B-8242-2BF336F18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InsertAvlTree</a:t>
            </a:r>
            <a:r>
              <a:rPr lang="en-US" altLang="zh-CN" b="0" dirty="0"/>
              <a:t>(</a:t>
            </a:r>
            <a:r>
              <a:rPr lang="en-US" altLang="zh-CN" b="0" dirty="0" err="1"/>
              <a:t>AvlTree</a:t>
            </a:r>
            <a:r>
              <a:rPr lang="en-US" altLang="zh-CN" b="0" dirty="0"/>
              <a:t>* </a:t>
            </a:r>
            <a:r>
              <a:rPr lang="en-US" altLang="zh-CN" b="0" dirty="0" err="1"/>
              <a:t>pAvlTree</a:t>
            </a:r>
            <a:r>
              <a:rPr lang="en-US" altLang="zh-CN" b="0" dirty="0"/>
              <a:t>, Data data){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AvlTreeNode</a:t>
            </a:r>
            <a:r>
              <a:rPr lang="en-US" altLang="zh-CN" b="0" dirty="0"/>
              <a:t>* </a:t>
            </a:r>
            <a:r>
              <a:rPr lang="en-US" altLang="zh-CN" b="0" dirty="0" err="1"/>
              <a:t>pS</a:t>
            </a:r>
            <a:r>
              <a:rPr lang="en-US" altLang="zh-CN" b="0" dirty="0"/>
              <a:t>=malloc(</a:t>
            </a:r>
            <a:r>
              <a:rPr lang="en-US" altLang="zh-CN" b="0" dirty="0" err="1"/>
              <a:t>sizeof</a:t>
            </a:r>
            <a:r>
              <a:rPr lang="en-US" altLang="zh-CN" b="0" dirty="0"/>
              <a:t>(</a:t>
            </a:r>
            <a:r>
              <a:rPr lang="en-US" altLang="zh-CN" b="0" dirty="0" err="1"/>
              <a:t>AvlTreeNode</a:t>
            </a:r>
            <a:r>
              <a:rPr lang="en-US" altLang="zh-CN" b="0" dirty="0"/>
              <a:t>));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pS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pS</a:t>
            </a:r>
            <a:r>
              <a:rPr lang="en-US" altLang="zh-CN" b="0" dirty="0"/>
              <a:t>-&gt;data=data;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pS</a:t>
            </a:r>
            <a:r>
              <a:rPr lang="en-US" altLang="zh-CN" b="0" dirty="0"/>
              <a:t>-&gt;</a:t>
            </a:r>
            <a:r>
              <a:rPr lang="en-US" altLang="zh-CN" b="0" dirty="0" err="1"/>
              <a:t>leftChild</a:t>
            </a:r>
            <a:r>
              <a:rPr lang="en-US" altLang="zh-CN" b="0" dirty="0"/>
              <a:t>=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pS</a:t>
            </a:r>
            <a:r>
              <a:rPr lang="en-US" altLang="zh-CN" b="0" dirty="0"/>
              <a:t>-&gt;</a:t>
            </a:r>
            <a:r>
              <a:rPr lang="en-US" altLang="zh-CN" b="0" dirty="0" err="1"/>
              <a:t>rightChild</a:t>
            </a:r>
            <a:r>
              <a:rPr lang="en-US" altLang="zh-CN" b="0" dirty="0"/>
              <a:t>=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pS</a:t>
            </a:r>
            <a:r>
              <a:rPr lang="en-US" altLang="zh-CN" b="0" dirty="0"/>
              <a:t>-&gt;parent=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pS</a:t>
            </a:r>
            <a:r>
              <a:rPr lang="en-US" altLang="zh-CN" b="0" dirty="0"/>
              <a:t>-&gt;</a:t>
            </a:r>
            <a:r>
              <a:rPr lang="en-US" altLang="zh-CN" b="0" dirty="0" err="1"/>
              <a:t>balanceFactor</a:t>
            </a:r>
            <a:r>
              <a:rPr lang="en-US" altLang="zh-CN" b="0" dirty="0"/>
              <a:t>=0;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3440655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F29CF-D2FC-4956-8C17-FC43A2297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平衡二叉树插入的实现</a:t>
            </a:r>
            <a:r>
              <a:rPr lang="en-US" altLang="zh-CN" dirty="0"/>
              <a:t>-2/8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5EDF98-DB31-4D3B-8242-2BF336F18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8872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(*</a:t>
            </a:r>
            <a:r>
              <a:rPr lang="en-US" altLang="zh-CN" b="0" dirty="0" err="1"/>
              <a:t>pAvlTree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 {  /* </a:t>
            </a:r>
            <a:r>
              <a:rPr lang="zh-CN" altLang="en-US" b="0" dirty="0"/>
              <a:t>如果为空树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*</a:t>
            </a:r>
            <a:r>
              <a:rPr lang="en-US" altLang="zh-CN" b="0" dirty="0" err="1"/>
              <a:t>pAvlTree</a:t>
            </a:r>
            <a:r>
              <a:rPr lang="en-US" altLang="zh-CN" b="0" dirty="0"/>
              <a:t>=</a:t>
            </a:r>
            <a:r>
              <a:rPr lang="en-US" altLang="zh-CN" b="0" dirty="0" err="1"/>
              <a:t>pS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OK;  // </a:t>
            </a:r>
            <a:r>
              <a:rPr lang="zh-CN" altLang="en-US" b="0" dirty="0"/>
              <a:t>下面的</a:t>
            </a:r>
            <a:r>
              <a:rPr lang="en-US" altLang="zh-CN" b="0" dirty="0" err="1"/>
              <a:t>pA</a:t>
            </a:r>
            <a:r>
              <a:rPr lang="zh-CN" altLang="en-US" b="0" dirty="0"/>
              <a:t>非空，否则这里就已经返回了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AvlTreeNode</a:t>
            </a:r>
            <a:r>
              <a:rPr lang="en-US" altLang="zh-CN" b="0" dirty="0"/>
              <a:t>* </a:t>
            </a:r>
            <a:r>
              <a:rPr lang="en-US" altLang="zh-CN" b="0" dirty="0" err="1"/>
              <a:t>pA</a:t>
            </a:r>
            <a:r>
              <a:rPr lang="en-US" altLang="zh-CN" b="0" dirty="0"/>
              <a:t>=*</a:t>
            </a:r>
            <a:r>
              <a:rPr lang="en-US" altLang="zh-CN" b="0" dirty="0" err="1"/>
              <a:t>pAvlTree</a:t>
            </a:r>
            <a:r>
              <a:rPr lang="en-US" altLang="zh-CN" b="0" dirty="0"/>
              <a:t>;  // </a:t>
            </a:r>
            <a:r>
              <a:rPr lang="en-US" altLang="zh-CN" b="0" dirty="0" err="1"/>
              <a:t>pA</a:t>
            </a:r>
            <a:r>
              <a:rPr lang="zh-CN" altLang="en-US" b="0" dirty="0"/>
              <a:t>指向根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AvlTreeNode</a:t>
            </a:r>
            <a:r>
              <a:rPr lang="en-US" altLang="zh-CN" b="0" dirty="0"/>
              <a:t>* p=*</a:t>
            </a:r>
            <a:r>
              <a:rPr lang="en-US" altLang="zh-CN" b="0" dirty="0" err="1"/>
              <a:t>pAvlTree</a:t>
            </a:r>
            <a:r>
              <a:rPr lang="en-US" altLang="zh-CN" b="0" dirty="0"/>
              <a:t>;    // </a:t>
            </a:r>
            <a:r>
              <a:rPr lang="zh-CN" altLang="en-US" b="0" dirty="0"/>
              <a:t>临时指针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AvlTreeNode</a:t>
            </a:r>
            <a:r>
              <a:rPr lang="en-US" altLang="zh-CN" b="0" dirty="0"/>
              <a:t>* parent=</a:t>
            </a:r>
            <a:r>
              <a:rPr lang="en-US" altLang="zh-CN" b="0" dirty="0" err="1"/>
              <a:t>nullptr</a:t>
            </a:r>
            <a:r>
              <a:rPr lang="en-US" altLang="zh-CN" b="0" dirty="0"/>
              <a:t>;   // </a:t>
            </a:r>
            <a:r>
              <a:rPr lang="zh-CN" altLang="en-US" b="0" dirty="0"/>
              <a:t>新节点的父亲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while(p!=</a:t>
            </a:r>
            <a:r>
              <a:rPr lang="en-US" altLang="zh-CN" b="0" dirty="0" err="1"/>
              <a:t>nullptr</a:t>
            </a:r>
            <a:r>
              <a:rPr lang="en-US" altLang="zh-CN" b="0" dirty="0"/>
              <a:t>) {  /</a:t>
            </a:r>
            <a:r>
              <a:rPr lang="zh-CN" altLang="en-US" b="0" dirty="0"/>
              <a:t>* 找插入位置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 (p-&gt;</a:t>
            </a:r>
            <a:r>
              <a:rPr lang="en-US" altLang="zh-CN" b="0" dirty="0" err="1"/>
              <a:t>balanceFactor</a:t>
            </a:r>
            <a:r>
              <a:rPr lang="en-US" altLang="zh-CN" b="0" dirty="0"/>
              <a:t> !=0)  </a:t>
            </a:r>
            <a:r>
              <a:rPr lang="en-US" altLang="zh-CN" b="0" dirty="0" err="1"/>
              <a:t>pA</a:t>
            </a:r>
            <a:r>
              <a:rPr lang="en-US" altLang="zh-CN" b="0" dirty="0"/>
              <a:t>=p;  // </a:t>
            </a:r>
            <a:r>
              <a:rPr lang="zh-CN" altLang="en-US" b="0" dirty="0"/>
              <a:t>可能失衡的最近祖先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parent=p;  /* </a:t>
            </a:r>
            <a:r>
              <a:rPr lang="zh-CN" altLang="en-US" b="0" dirty="0"/>
              <a:t>记录</a:t>
            </a:r>
            <a:r>
              <a:rPr lang="en-US" altLang="zh-CN" b="0" dirty="0"/>
              <a:t>p</a:t>
            </a:r>
            <a:r>
              <a:rPr lang="zh-CN" altLang="en-US" b="0" dirty="0"/>
              <a:t>的父亲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 (</a:t>
            </a:r>
            <a:r>
              <a:rPr lang="en-US" altLang="zh-CN" b="0" dirty="0" err="1"/>
              <a:t>pS</a:t>
            </a:r>
            <a:r>
              <a:rPr lang="en-US" altLang="zh-CN" b="0" dirty="0"/>
              <a:t>-&gt;</a:t>
            </a:r>
            <a:r>
              <a:rPr lang="en-US" altLang="zh-CN" b="0" dirty="0" err="1"/>
              <a:t>data.key</a:t>
            </a:r>
            <a:r>
              <a:rPr lang="en-US" altLang="zh-CN" b="0" dirty="0"/>
              <a:t>&lt;p-&gt;</a:t>
            </a:r>
            <a:r>
              <a:rPr lang="en-US" altLang="zh-CN" b="0" dirty="0" err="1"/>
              <a:t>data.key</a:t>
            </a:r>
            <a:r>
              <a:rPr lang="en-US" altLang="zh-CN" b="0" dirty="0"/>
              <a:t>) p=p-&gt;</a:t>
            </a:r>
            <a:r>
              <a:rPr lang="en-US" altLang="zh-CN" b="0" dirty="0" err="1"/>
              <a:t>leftChild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963607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F29CF-D2FC-4956-8C17-FC43A2297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平衡二叉树插入的实现</a:t>
            </a:r>
            <a:r>
              <a:rPr lang="en-US" altLang="zh-CN" dirty="0"/>
              <a:t>-3/8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5EDF98-DB31-4D3B-8242-2BF336F18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else if (</a:t>
            </a:r>
            <a:r>
              <a:rPr lang="en-US" altLang="zh-CN" b="0" dirty="0" err="1"/>
              <a:t>pS</a:t>
            </a:r>
            <a:r>
              <a:rPr lang="en-US" altLang="zh-CN" b="0" dirty="0"/>
              <a:t>-&gt;</a:t>
            </a:r>
            <a:r>
              <a:rPr lang="en-US" altLang="zh-CN" b="0" dirty="0" err="1"/>
              <a:t>data.key</a:t>
            </a:r>
            <a:r>
              <a:rPr lang="en-US" altLang="zh-CN" b="0" dirty="0"/>
              <a:t>&gt;p-&gt;</a:t>
            </a:r>
            <a:r>
              <a:rPr lang="en-US" altLang="zh-CN" b="0" dirty="0" err="1"/>
              <a:t>data.key</a:t>
            </a:r>
            <a:r>
              <a:rPr lang="en-US" altLang="zh-CN" b="0" dirty="0"/>
              <a:t>)  p=p-&gt;</a:t>
            </a:r>
            <a:r>
              <a:rPr lang="en-US" altLang="zh-CN" b="0" dirty="0" err="1"/>
              <a:t>rightChild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else return ERROR;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</a:t>
            </a:r>
            <a:r>
              <a:rPr lang="zh-CN" altLang="en-US" b="0" dirty="0"/>
              <a:t>* 插入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pS</a:t>
            </a:r>
            <a:r>
              <a:rPr lang="en-US" altLang="zh-CN" b="0" dirty="0"/>
              <a:t>-&gt;</a:t>
            </a:r>
            <a:r>
              <a:rPr lang="en-US" altLang="zh-CN" b="0" dirty="0" err="1"/>
              <a:t>data.key</a:t>
            </a:r>
            <a:r>
              <a:rPr lang="en-US" altLang="zh-CN" b="0" dirty="0"/>
              <a:t>&lt;parent-&gt;</a:t>
            </a:r>
            <a:r>
              <a:rPr lang="en-US" altLang="zh-CN" b="0" dirty="0" err="1"/>
              <a:t>data.key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parent-&gt;</a:t>
            </a:r>
            <a:r>
              <a:rPr lang="en-US" altLang="zh-CN" b="0" dirty="0" err="1"/>
              <a:t>leftChild</a:t>
            </a:r>
            <a:r>
              <a:rPr lang="en-US" altLang="zh-CN" b="0" dirty="0"/>
              <a:t>=</a:t>
            </a:r>
            <a:r>
              <a:rPr lang="en-US" altLang="zh-CN" b="0" dirty="0" err="1"/>
              <a:t>pS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else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parent-&gt;</a:t>
            </a:r>
            <a:r>
              <a:rPr lang="en-US" altLang="zh-CN" b="0" dirty="0" err="1"/>
              <a:t>rightChild</a:t>
            </a:r>
            <a:r>
              <a:rPr lang="en-US" altLang="zh-CN" b="0" dirty="0"/>
              <a:t>=</a:t>
            </a:r>
            <a:r>
              <a:rPr lang="en-US" altLang="zh-CN" b="0" dirty="0" err="1"/>
              <a:t>pS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pS</a:t>
            </a:r>
            <a:r>
              <a:rPr lang="en-US" altLang="zh-CN" b="0" dirty="0"/>
              <a:t>-&gt;parent=parent;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203624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F29CF-D2FC-4956-8C17-FC43A2297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平衡二叉树插入的实现</a:t>
            </a:r>
            <a:r>
              <a:rPr lang="en-US" altLang="zh-CN" dirty="0"/>
              <a:t>-4/8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5EDF98-DB31-4D3B-8242-2BF336F18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/* </a:t>
            </a:r>
            <a:r>
              <a:rPr lang="zh-CN" altLang="en-US" b="0" dirty="0"/>
              <a:t>确定</a:t>
            </a:r>
            <a:r>
              <a:rPr lang="en-US" altLang="zh-CN" b="0" dirty="0"/>
              <a:t>B</a:t>
            </a:r>
            <a:r>
              <a:rPr lang="zh-CN" altLang="en-US" b="0" dirty="0"/>
              <a:t>并修改平衡因子，</a:t>
            </a:r>
            <a:r>
              <a:rPr lang="en-US" altLang="zh-CN" b="0" dirty="0"/>
              <a:t>B</a:t>
            </a:r>
            <a:r>
              <a:rPr lang="zh-CN" altLang="en-US" b="0" dirty="0"/>
              <a:t>到</a:t>
            </a:r>
            <a:r>
              <a:rPr lang="en-US" altLang="zh-CN" b="0" dirty="0"/>
              <a:t>S</a:t>
            </a:r>
            <a:r>
              <a:rPr lang="zh-CN" altLang="en-US" b="0" dirty="0"/>
              <a:t>的原平衡因子都是零；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*  </a:t>
            </a:r>
            <a:r>
              <a:rPr lang="zh-CN" altLang="en-US" b="0" dirty="0"/>
              <a:t>特殊情况：</a:t>
            </a:r>
            <a:r>
              <a:rPr lang="en-US" altLang="zh-CN" b="0" dirty="0"/>
              <a:t>A</a:t>
            </a:r>
            <a:r>
              <a:rPr lang="zh-CN" altLang="en-US" b="0" dirty="0"/>
              <a:t>的原平衡因子也是零，并且</a:t>
            </a:r>
            <a:r>
              <a:rPr lang="en-US" altLang="zh-CN" b="0" dirty="0"/>
              <a:t>A</a:t>
            </a:r>
            <a:r>
              <a:rPr lang="zh-CN" altLang="en-US" b="0" dirty="0"/>
              <a:t>是根。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AvlTreeNode</a:t>
            </a:r>
            <a:r>
              <a:rPr lang="en-US" altLang="zh-CN" b="0" dirty="0"/>
              <a:t>* </a:t>
            </a:r>
            <a:r>
              <a:rPr lang="en-US" altLang="zh-CN" b="0" dirty="0" err="1"/>
              <a:t>pB</a:t>
            </a:r>
            <a:r>
              <a:rPr lang="en-US" altLang="zh-CN" b="0" dirty="0"/>
              <a:t>=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pS</a:t>
            </a:r>
            <a:r>
              <a:rPr lang="en-US" altLang="zh-CN" b="0" dirty="0"/>
              <a:t>-&gt;</a:t>
            </a:r>
            <a:r>
              <a:rPr lang="en-US" altLang="zh-CN" b="0" dirty="0" err="1"/>
              <a:t>data.key</a:t>
            </a:r>
            <a:r>
              <a:rPr lang="en-US" altLang="zh-CN" b="0" dirty="0"/>
              <a:t>&lt;</a:t>
            </a:r>
            <a:r>
              <a:rPr lang="en-US" altLang="zh-CN" b="0" dirty="0" err="1"/>
              <a:t>pA</a:t>
            </a:r>
            <a:r>
              <a:rPr lang="en-US" altLang="zh-CN" b="0" dirty="0"/>
              <a:t>-&gt;</a:t>
            </a:r>
            <a:r>
              <a:rPr lang="en-US" altLang="zh-CN" b="0" dirty="0" err="1"/>
              <a:t>data.key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pB</a:t>
            </a:r>
            <a:r>
              <a:rPr lang="en-US" altLang="zh-CN" b="0" dirty="0"/>
              <a:t>=</a:t>
            </a:r>
            <a:r>
              <a:rPr lang="en-US" altLang="zh-CN" b="0" dirty="0" err="1"/>
              <a:t>pA</a:t>
            </a:r>
            <a:r>
              <a:rPr lang="en-US" altLang="zh-CN" b="0" dirty="0"/>
              <a:t>-&gt;</a:t>
            </a:r>
            <a:r>
              <a:rPr lang="en-US" altLang="zh-CN" b="0" dirty="0" err="1"/>
              <a:t>leftChild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pA</a:t>
            </a:r>
            <a:r>
              <a:rPr lang="en-US" altLang="zh-CN" b="0" dirty="0"/>
              <a:t>-&gt;</a:t>
            </a:r>
            <a:r>
              <a:rPr lang="en-US" altLang="zh-CN" b="0" dirty="0" err="1"/>
              <a:t>balanceFactor</a:t>
            </a:r>
            <a:r>
              <a:rPr lang="en-US" altLang="zh-CN" b="0" dirty="0"/>
              <a:t>++;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else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pB</a:t>
            </a:r>
            <a:r>
              <a:rPr lang="en-US" altLang="zh-CN" b="0" dirty="0"/>
              <a:t>=</a:t>
            </a:r>
            <a:r>
              <a:rPr lang="en-US" altLang="zh-CN" b="0" dirty="0" err="1"/>
              <a:t>pA</a:t>
            </a:r>
            <a:r>
              <a:rPr lang="en-US" altLang="zh-CN" b="0" dirty="0"/>
              <a:t>-&gt;</a:t>
            </a:r>
            <a:r>
              <a:rPr lang="en-US" altLang="zh-CN" b="0" dirty="0" err="1"/>
              <a:t>rightChild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pA</a:t>
            </a:r>
            <a:r>
              <a:rPr lang="en-US" altLang="zh-CN" b="0" dirty="0"/>
              <a:t>-&gt;</a:t>
            </a:r>
            <a:r>
              <a:rPr lang="en-US" altLang="zh-CN" b="0" dirty="0" err="1"/>
              <a:t>balanceFactor</a:t>
            </a:r>
            <a:r>
              <a:rPr lang="en-US" altLang="zh-CN" b="0" dirty="0"/>
              <a:t>--;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454144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F29CF-D2FC-4956-8C17-FC43A2297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平衡二叉树插入的实现</a:t>
            </a:r>
            <a:r>
              <a:rPr lang="en-US" altLang="zh-CN" dirty="0"/>
              <a:t>-5/8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5EDF98-DB31-4D3B-8242-2BF336F18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/* </a:t>
            </a:r>
            <a:r>
              <a:rPr lang="zh-CN" altLang="en-US" b="0" dirty="0"/>
              <a:t>修改</a:t>
            </a:r>
            <a:r>
              <a:rPr lang="en-US" altLang="zh-CN" b="0" dirty="0"/>
              <a:t>B</a:t>
            </a:r>
            <a:r>
              <a:rPr lang="zh-CN" altLang="en-US" b="0" dirty="0"/>
              <a:t>到</a:t>
            </a:r>
            <a:r>
              <a:rPr lang="en-US" altLang="zh-CN" b="0" dirty="0"/>
              <a:t>S</a:t>
            </a:r>
            <a:r>
              <a:rPr lang="zh-CN" altLang="en-US" b="0" dirty="0"/>
              <a:t>路径上各节点的平衡因子，原值都是零。如果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* 非零，那么</a:t>
            </a:r>
            <a:r>
              <a:rPr lang="en-US" altLang="zh-CN" b="0" dirty="0"/>
              <a:t>A</a:t>
            </a:r>
            <a:r>
              <a:rPr lang="zh-CN" altLang="en-US" b="0" dirty="0"/>
              <a:t>必然下移，可证</a:t>
            </a:r>
            <a:r>
              <a:rPr lang="en-US" altLang="zh-CN" b="0" dirty="0"/>
              <a:t>B</a:t>
            </a:r>
            <a:r>
              <a:rPr lang="zh-CN" altLang="en-US" b="0" dirty="0"/>
              <a:t>到</a:t>
            </a:r>
            <a:r>
              <a:rPr lang="en-US" altLang="zh-CN" b="0" dirty="0"/>
              <a:t>S</a:t>
            </a:r>
            <a:r>
              <a:rPr lang="zh-CN" altLang="en-US" b="0" dirty="0"/>
              <a:t>平衡因子都是零。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p=</a:t>
            </a:r>
            <a:r>
              <a:rPr lang="en-US" altLang="zh-CN" b="0" dirty="0" err="1"/>
              <a:t>pB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while(p!=</a:t>
            </a:r>
            <a:r>
              <a:rPr lang="en-US" altLang="zh-CN" b="0" dirty="0" err="1"/>
              <a:t>pS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 (</a:t>
            </a:r>
            <a:r>
              <a:rPr lang="en-US" altLang="zh-CN" b="0" dirty="0" err="1"/>
              <a:t>pS</a:t>
            </a:r>
            <a:r>
              <a:rPr lang="en-US" altLang="zh-CN" b="0" dirty="0"/>
              <a:t>-&gt;</a:t>
            </a:r>
            <a:r>
              <a:rPr lang="en-US" altLang="zh-CN" b="0" dirty="0" err="1"/>
              <a:t>data.key</a:t>
            </a:r>
            <a:r>
              <a:rPr lang="en-US" altLang="zh-CN" b="0" dirty="0"/>
              <a:t>&lt;p-&gt;</a:t>
            </a:r>
            <a:r>
              <a:rPr lang="en-US" altLang="zh-CN" b="0" dirty="0" err="1"/>
              <a:t>data.key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p-&gt;</a:t>
            </a:r>
            <a:r>
              <a:rPr lang="en-US" altLang="zh-CN" b="0" dirty="0" err="1"/>
              <a:t>balanceFactor</a:t>
            </a:r>
            <a:r>
              <a:rPr lang="en-US" altLang="zh-CN" b="0" dirty="0"/>
              <a:t>=1;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p=p-&gt;</a:t>
            </a:r>
            <a:r>
              <a:rPr lang="en-US" altLang="zh-CN" b="0" dirty="0" err="1"/>
              <a:t>leftChild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 else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p-&gt;</a:t>
            </a:r>
            <a:r>
              <a:rPr lang="en-US" altLang="zh-CN" b="0" dirty="0" err="1"/>
              <a:t>balanceFactor</a:t>
            </a:r>
            <a:r>
              <a:rPr lang="en-US" altLang="zh-CN" b="0" dirty="0"/>
              <a:t>=-1;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p=p-&gt;</a:t>
            </a:r>
            <a:r>
              <a:rPr lang="en-US" altLang="zh-CN" b="0" dirty="0" err="1"/>
              <a:t>rightChild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6323319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F29CF-D2FC-4956-8C17-FC43A2297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平衡二叉树插入的实现</a:t>
            </a:r>
            <a:r>
              <a:rPr lang="en-US" altLang="zh-CN" dirty="0"/>
              <a:t>-6/8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5EDF98-DB31-4D3B-8242-2BF336F18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// End of while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</a:t>
            </a:r>
            <a:r>
              <a:rPr lang="zh-CN" altLang="en-US" b="0" dirty="0"/>
              <a:t>* 判断是否失衡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pA</a:t>
            </a:r>
            <a:r>
              <a:rPr lang="en-US" altLang="zh-CN" b="0" dirty="0"/>
              <a:t>-&gt;</a:t>
            </a:r>
            <a:r>
              <a:rPr lang="en-US" altLang="zh-CN" b="0" dirty="0" err="1"/>
              <a:t>balanceFactor</a:t>
            </a:r>
            <a:r>
              <a:rPr lang="en-US" altLang="zh-CN" b="0" dirty="0"/>
              <a:t>&gt;-2 &amp;&amp; </a:t>
            </a:r>
            <a:r>
              <a:rPr lang="en-US" altLang="zh-CN" b="0" dirty="0" err="1"/>
              <a:t>pA</a:t>
            </a:r>
            <a:r>
              <a:rPr lang="en-US" altLang="zh-CN" b="0" dirty="0"/>
              <a:t>-&gt;</a:t>
            </a:r>
            <a:r>
              <a:rPr lang="en-US" altLang="zh-CN" b="0" dirty="0" err="1"/>
              <a:t>balanceFactor</a:t>
            </a:r>
            <a:r>
              <a:rPr lang="en-US" altLang="zh-CN" b="0" dirty="0"/>
              <a:t>&lt;2){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OK;  // </a:t>
            </a:r>
            <a:r>
              <a:rPr lang="zh-CN" altLang="en-US" b="0" dirty="0"/>
              <a:t>未失衡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0" dirty="0"/>
              <a:t>    </a:t>
            </a:r>
            <a:r>
              <a:rPr lang="en-US" altLang="zh-CN" b="0" dirty="0"/>
              <a:t>/</a:t>
            </a:r>
            <a:r>
              <a:rPr lang="zh-CN" altLang="en-US" b="0" dirty="0"/>
              <a:t>* 判断失衡类型并做相应处理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pA</a:t>
            </a:r>
            <a:r>
              <a:rPr lang="en-US" altLang="zh-CN" b="0" dirty="0"/>
              <a:t>-&gt;</a:t>
            </a:r>
            <a:r>
              <a:rPr lang="en-US" altLang="zh-CN" b="0" dirty="0" err="1"/>
              <a:t>balanceFactor</a:t>
            </a:r>
            <a:r>
              <a:rPr lang="en-US" altLang="zh-CN" b="0" dirty="0"/>
              <a:t>==2 &amp;&amp; </a:t>
            </a:r>
            <a:r>
              <a:rPr lang="en-US" altLang="zh-CN" b="0" dirty="0" err="1"/>
              <a:t>pB</a:t>
            </a:r>
            <a:r>
              <a:rPr lang="en-US" altLang="zh-CN" b="0" dirty="0"/>
              <a:t>-&gt;</a:t>
            </a:r>
            <a:r>
              <a:rPr lang="en-US" altLang="zh-CN" b="0" dirty="0" err="1"/>
              <a:t>balanceFactor</a:t>
            </a:r>
            <a:r>
              <a:rPr lang="en-US" altLang="zh-CN" b="0" dirty="0"/>
              <a:t>==1){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/* LL </a:t>
            </a:r>
            <a:r>
              <a:rPr lang="zh-CN" altLang="en-US" b="0" dirty="0"/>
              <a:t>型失衡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pA</a:t>
            </a:r>
            <a:r>
              <a:rPr lang="en-US" altLang="zh-CN" b="0" dirty="0"/>
              <a:t>-&gt;</a:t>
            </a:r>
            <a:r>
              <a:rPr lang="en-US" altLang="zh-CN" b="0" dirty="0" err="1"/>
              <a:t>leftChild</a:t>
            </a:r>
            <a:r>
              <a:rPr lang="en-US" altLang="zh-CN" b="0" dirty="0"/>
              <a:t>=</a:t>
            </a:r>
            <a:r>
              <a:rPr lang="en-US" altLang="zh-CN" b="0" dirty="0" err="1"/>
              <a:t>pB</a:t>
            </a:r>
            <a:r>
              <a:rPr lang="en-US" altLang="zh-CN" b="0" dirty="0"/>
              <a:t>-&gt;</a:t>
            </a:r>
            <a:r>
              <a:rPr lang="en-US" altLang="zh-CN" b="0" dirty="0" err="1"/>
              <a:t>rightChild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pB</a:t>
            </a:r>
            <a:r>
              <a:rPr lang="en-US" altLang="zh-CN" b="0" dirty="0"/>
              <a:t>-&gt;</a:t>
            </a:r>
            <a:r>
              <a:rPr lang="en-US" altLang="zh-CN" b="0" dirty="0" err="1"/>
              <a:t>rightChild</a:t>
            </a:r>
            <a:r>
              <a:rPr lang="en-US" altLang="zh-CN" b="0" dirty="0"/>
              <a:t>=</a:t>
            </a:r>
            <a:r>
              <a:rPr lang="en-US" altLang="zh-CN" b="0" dirty="0" err="1"/>
              <a:t>pA</a:t>
            </a:r>
            <a:r>
              <a:rPr lang="en-US" altLang="zh-CN" b="0" dirty="0"/>
              <a:t>;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pA</a:t>
            </a:r>
            <a:r>
              <a:rPr lang="en-US" altLang="zh-CN" b="0" dirty="0"/>
              <a:t>-&gt;</a:t>
            </a:r>
            <a:r>
              <a:rPr lang="en-US" altLang="zh-CN" b="0" dirty="0" err="1"/>
              <a:t>leftChild</a:t>
            </a:r>
            <a:r>
              <a:rPr lang="en-US" altLang="zh-CN" b="0" dirty="0"/>
              <a:t>-&gt;parent=</a:t>
            </a:r>
            <a:r>
              <a:rPr lang="en-US" altLang="zh-CN" b="0" dirty="0" err="1"/>
              <a:t>pA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4282197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F29CF-D2FC-4956-8C17-FC43A2297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平衡二叉树插入的实现</a:t>
            </a:r>
            <a:r>
              <a:rPr lang="en-US" altLang="zh-CN" dirty="0"/>
              <a:t>-7/8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5EDF98-DB31-4D3B-8242-2BF336F18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pA</a:t>
            </a:r>
            <a:r>
              <a:rPr lang="en-US" altLang="zh-CN" b="0" dirty="0"/>
              <a:t>-&gt;</a:t>
            </a:r>
            <a:r>
              <a:rPr lang="en-US" altLang="zh-CN" b="0" dirty="0" err="1"/>
              <a:t>balanceFactor</a:t>
            </a:r>
            <a:r>
              <a:rPr lang="en-US" altLang="zh-CN" b="0" dirty="0"/>
              <a:t>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pB</a:t>
            </a:r>
            <a:r>
              <a:rPr lang="en-US" altLang="zh-CN" b="0" dirty="0"/>
              <a:t>-&gt;</a:t>
            </a:r>
            <a:r>
              <a:rPr lang="en-US" altLang="zh-CN" b="0" dirty="0" err="1"/>
              <a:t>balanceFactor</a:t>
            </a:r>
            <a:r>
              <a:rPr lang="en-US" altLang="zh-CN" b="0" dirty="0"/>
              <a:t>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 (</a:t>
            </a:r>
            <a:r>
              <a:rPr lang="en-US" altLang="zh-CN" b="0" dirty="0" err="1"/>
              <a:t>pA</a:t>
            </a:r>
            <a:r>
              <a:rPr lang="en-US" altLang="zh-CN" b="0" dirty="0"/>
              <a:t>-&gt;parent==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*</a:t>
            </a:r>
            <a:r>
              <a:rPr lang="en-US" altLang="zh-CN" b="0" dirty="0" err="1"/>
              <a:t>pAvlTree</a:t>
            </a:r>
            <a:r>
              <a:rPr lang="en-US" altLang="zh-CN" b="0" dirty="0"/>
              <a:t>=</a:t>
            </a:r>
            <a:r>
              <a:rPr lang="en-US" altLang="zh-CN" b="0" dirty="0" err="1"/>
              <a:t>pB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pB</a:t>
            </a:r>
            <a:r>
              <a:rPr lang="en-US" altLang="zh-CN" b="0" dirty="0"/>
              <a:t>-&gt;parent=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pA</a:t>
            </a:r>
            <a:r>
              <a:rPr lang="en-US" altLang="zh-CN" b="0" dirty="0"/>
              <a:t>-&gt;parent=</a:t>
            </a:r>
            <a:r>
              <a:rPr lang="en-US" altLang="zh-CN" b="0" dirty="0" err="1"/>
              <a:t>pB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else if(</a:t>
            </a:r>
            <a:r>
              <a:rPr lang="en-US" altLang="zh-CN" b="0" dirty="0" err="1"/>
              <a:t>pA</a:t>
            </a:r>
            <a:r>
              <a:rPr lang="en-US" altLang="zh-CN" b="0" dirty="0"/>
              <a:t>==</a:t>
            </a:r>
            <a:r>
              <a:rPr lang="en-US" altLang="zh-CN" b="0" dirty="0" err="1"/>
              <a:t>pA</a:t>
            </a:r>
            <a:r>
              <a:rPr lang="en-US" altLang="zh-CN" b="0" dirty="0"/>
              <a:t>-&gt;parent-&gt;</a:t>
            </a:r>
            <a:r>
              <a:rPr lang="en-US" altLang="zh-CN" b="0" dirty="0" err="1"/>
              <a:t>leftChild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pA</a:t>
            </a:r>
            <a:r>
              <a:rPr lang="en-US" altLang="zh-CN" b="0" dirty="0"/>
              <a:t>-&gt;parent-&gt;</a:t>
            </a:r>
            <a:r>
              <a:rPr lang="en-US" altLang="zh-CN" b="0" dirty="0" err="1"/>
              <a:t>leftChild</a:t>
            </a:r>
            <a:r>
              <a:rPr lang="en-US" altLang="zh-CN" b="0" dirty="0"/>
              <a:t>=</a:t>
            </a:r>
            <a:r>
              <a:rPr lang="en-US" altLang="zh-CN" b="0" dirty="0" err="1"/>
              <a:t>pB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pB</a:t>
            </a:r>
            <a:r>
              <a:rPr lang="en-US" altLang="zh-CN" b="0" dirty="0"/>
              <a:t>-&gt;parent=</a:t>
            </a:r>
            <a:r>
              <a:rPr lang="en-US" altLang="zh-CN" b="0" dirty="0" err="1"/>
              <a:t>pA</a:t>
            </a:r>
            <a:r>
              <a:rPr lang="en-US" altLang="zh-CN" b="0" dirty="0"/>
              <a:t>-&gt;parent;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pA</a:t>
            </a:r>
            <a:r>
              <a:rPr lang="en-US" altLang="zh-CN" b="0" dirty="0"/>
              <a:t>-&gt;parent=</a:t>
            </a:r>
            <a:r>
              <a:rPr lang="en-US" altLang="zh-CN" b="0" dirty="0" err="1"/>
              <a:t>pB</a:t>
            </a:r>
            <a:r>
              <a:rPr lang="en-US" altLang="zh-CN" b="0" dirty="0"/>
              <a:t>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8227812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F29CF-D2FC-4956-8C17-FC43A2297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平衡二叉树插入的实现</a:t>
            </a:r>
            <a:r>
              <a:rPr lang="en-US" altLang="zh-CN" dirty="0"/>
              <a:t>-8/8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5EDF98-DB31-4D3B-8242-2BF336F18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else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pA</a:t>
            </a:r>
            <a:r>
              <a:rPr lang="en-US" altLang="zh-CN" b="0" dirty="0"/>
              <a:t>-&gt;parent-&gt;</a:t>
            </a:r>
            <a:r>
              <a:rPr lang="en-US" altLang="zh-CN" b="0" dirty="0" err="1"/>
              <a:t>rightChild</a:t>
            </a:r>
            <a:r>
              <a:rPr lang="en-US" altLang="zh-CN" b="0" dirty="0"/>
              <a:t>=</a:t>
            </a:r>
            <a:r>
              <a:rPr lang="en-US" altLang="zh-CN" b="0" dirty="0" err="1"/>
              <a:t>pB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pB</a:t>
            </a:r>
            <a:r>
              <a:rPr lang="en-US" altLang="zh-CN" b="0" dirty="0"/>
              <a:t>-&gt;parent=</a:t>
            </a:r>
            <a:r>
              <a:rPr lang="en-US" altLang="zh-CN" b="0" dirty="0" err="1"/>
              <a:t>pA</a:t>
            </a:r>
            <a:r>
              <a:rPr lang="en-US" altLang="zh-CN" b="0" dirty="0"/>
              <a:t>-&gt;parent;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pA</a:t>
            </a:r>
            <a:r>
              <a:rPr lang="en-US" altLang="zh-CN" b="0" dirty="0"/>
              <a:t>-&gt;parent=</a:t>
            </a:r>
            <a:r>
              <a:rPr lang="en-US" altLang="zh-CN" b="0" dirty="0" err="1"/>
              <a:t>pB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// LL</a:t>
            </a:r>
            <a:r>
              <a:rPr lang="zh-CN" altLang="en-US" b="0" dirty="0"/>
              <a:t>型处理完毕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</a:t>
            </a:r>
            <a:r>
              <a:rPr lang="zh-CN" altLang="en-US" b="0" dirty="0"/>
              <a:t>* 下面处理</a:t>
            </a:r>
            <a:r>
              <a:rPr lang="en-US" altLang="zh-CN" b="0" dirty="0"/>
              <a:t>LR</a:t>
            </a:r>
            <a:r>
              <a:rPr lang="zh-CN" altLang="en-US" b="0" dirty="0"/>
              <a:t>、</a:t>
            </a:r>
            <a:r>
              <a:rPr lang="en-US" altLang="zh-CN" b="0" dirty="0"/>
              <a:t>RL</a:t>
            </a:r>
            <a:r>
              <a:rPr lang="zh-CN" altLang="en-US" b="0" dirty="0"/>
              <a:t>和</a:t>
            </a:r>
            <a:r>
              <a:rPr lang="en-US" altLang="zh-CN" b="0" dirty="0"/>
              <a:t>RR</a:t>
            </a:r>
            <a:r>
              <a:rPr lang="zh-CN" altLang="en-US" b="0" dirty="0"/>
              <a:t>型失衡，从略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……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  <a:r>
              <a:rPr lang="zh-CN" altLang="en-US" b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28972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153076-C72B-4E49-912E-3FF8C0510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平衡二叉树的删除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4EF1DF-1E1B-4BC0-BCB5-A18E7DFC5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删除一个节点，算法同二叉查找树的删除，分三种情况：</a:t>
            </a:r>
            <a:endParaRPr lang="en-US" altLang="zh-CN" dirty="0"/>
          </a:p>
          <a:p>
            <a:pPr lvl="1"/>
            <a:r>
              <a:rPr lang="zh-CN" altLang="en-US" dirty="0"/>
              <a:t>叶节点</a:t>
            </a:r>
            <a:endParaRPr lang="en-US" altLang="zh-CN" dirty="0"/>
          </a:p>
          <a:p>
            <a:pPr lvl="1"/>
            <a:r>
              <a:rPr lang="zh-CN" altLang="en-US" dirty="0"/>
              <a:t>只有一棵子树的节点</a:t>
            </a:r>
            <a:endParaRPr lang="en-US" altLang="zh-CN" dirty="0"/>
          </a:p>
          <a:p>
            <a:pPr lvl="1"/>
            <a:r>
              <a:rPr lang="zh-CN" altLang="en-US" dirty="0"/>
              <a:t>有两棵子树的节点</a:t>
            </a:r>
            <a:endParaRPr lang="en-US" altLang="zh-CN" dirty="0"/>
          </a:p>
          <a:p>
            <a:r>
              <a:rPr lang="zh-CN" altLang="en-US" dirty="0"/>
              <a:t>处理失衡情况</a:t>
            </a:r>
            <a:endParaRPr lang="en-US" altLang="zh-CN" dirty="0"/>
          </a:p>
          <a:p>
            <a:pPr lvl="1"/>
            <a:r>
              <a:rPr lang="zh-CN" altLang="en-US" dirty="0"/>
              <a:t>把一棵子树上的删除视为另一棵子树上的插入；</a:t>
            </a:r>
            <a:endParaRPr lang="en-US" altLang="zh-CN" dirty="0"/>
          </a:p>
          <a:p>
            <a:pPr lvl="1"/>
            <a:r>
              <a:rPr lang="zh-CN" altLang="en-US" dirty="0"/>
              <a:t>然后像插入时那样处理失衡情况，从略。</a:t>
            </a:r>
          </a:p>
        </p:txBody>
      </p:sp>
    </p:spTree>
    <p:extLst>
      <p:ext uri="{BB962C8B-B14F-4D97-AF65-F5344CB8AC3E}">
        <p14:creationId xmlns:p14="http://schemas.microsoft.com/office/powerpoint/2010/main" val="6823499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A85067-212A-40CF-B853-E6931F526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38200"/>
            <a:ext cx="10363200" cy="685800"/>
          </a:xfrm>
        </p:spPr>
        <p:txBody>
          <a:bodyPr/>
          <a:lstStyle/>
          <a:p>
            <a:r>
              <a:rPr lang="zh-CN" altLang="en-US" dirty="0"/>
              <a:t>平衡多叉查找树：</a:t>
            </a:r>
            <a:r>
              <a:rPr lang="en-US" altLang="zh-CN" dirty="0"/>
              <a:t>B</a:t>
            </a:r>
            <a:r>
              <a:rPr lang="zh-CN" altLang="en-US" dirty="0"/>
              <a:t>树</a:t>
            </a:r>
            <a:r>
              <a:rPr lang="en-US" altLang="zh-CN" dirty="0"/>
              <a:t>(Balanced Tree)</a:t>
            </a:r>
            <a:br>
              <a:rPr lang="en-US" altLang="zh-CN" dirty="0"/>
            </a:br>
            <a:r>
              <a:rPr lang="en-US" altLang="zh-CN" dirty="0"/>
              <a:t>[R. Bayer and E. McCreight, 1970]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9DF9A61-E936-4291-9CB4-2C3B05E6F7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600" y="1828800"/>
                <a:ext cx="11887200" cy="5181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0" dirty="0"/>
                  <a:t>一棵</a:t>
                </a:r>
                <a:r>
                  <a:rPr lang="en-US" altLang="zh-CN" b="0" dirty="0"/>
                  <a:t>m</a:t>
                </a:r>
                <a:r>
                  <a:rPr lang="zh-CN" altLang="en-US" b="0" dirty="0"/>
                  <a:t>叉的</a:t>
                </a:r>
                <a:r>
                  <a:rPr lang="en-US" altLang="zh-CN" b="0" dirty="0"/>
                  <a:t>B</a:t>
                </a:r>
                <a:r>
                  <a:rPr lang="zh-CN" altLang="en-US" b="0" dirty="0"/>
                  <a:t>树，具有下列性质：</a:t>
                </a:r>
                <a:endParaRPr lang="en-US" altLang="zh-CN" b="0" dirty="0"/>
              </a:p>
              <a:p>
                <a:pPr lvl="1"/>
                <a:r>
                  <a:rPr lang="zh-CN" altLang="en-US" dirty="0"/>
                  <a:t>每个节点</a:t>
                </a:r>
                <a:r>
                  <a:rPr lang="zh-CN" altLang="en-US" b="1" dirty="0"/>
                  <a:t>至多有</a:t>
                </a:r>
                <a:r>
                  <a:rPr lang="en-US" altLang="zh-CN" b="1" dirty="0"/>
                  <a:t>m</a:t>
                </a:r>
                <a:r>
                  <a:rPr lang="zh-CN" altLang="en-US" b="1" dirty="0"/>
                  <a:t>棵子树</a:t>
                </a:r>
                <a:r>
                  <a:rPr lang="zh-CN" altLang="en-US" dirty="0"/>
                  <a:t>；（</a:t>
                </a:r>
                <a:r>
                  <a:rPr lang="en-US" altLang="zh-CN" dirty="0"/>
                  <a:t>m-1</a:t>
                </a:r>
                <a:r>
                  <a:rPr lang="zh-CN" altLang="en-US" dirty="0"/>
                  <a:t>个关键字）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如果</a:t>
                </a:r>
                <a:r>
                  <a:rPr lang="zh-CN" altLang="en-US" b="1" dirty="0"/>
                  <a:t>根</a:t>
                </a:r>
                <a:r>
                  <a:rPr lang="zh-CN" altLang="en-US" dirty="0"/>
                  <a:t>节点不是叶子节点，那么</a:t>
                </a:r>
                <a:r>
                  <a:rPr lang="zh-CN" altLang="en-US" b="1" dirty="0"/>
                  <a:t>至少有两棵子树</a:t>
                </a:r>
                <a:r>
                  <a:rPr lang="zh-CN" altLang="en-US" dirty="0"/>
                  <a:t>；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除根之外的所有节点</a:t>
                </a:r>
                <a:r>
                  <a:rPr lang="zh-CN" altLang="en-US" b="1" dirty="0"/>
                  <a:t>至少有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4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ox>
                          <m:boxPr>
                            <m:ctrlPr>
                              <a:rPr lang="zh-CN" altLang="en-US" sz="4400" b="1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CN" sz="4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4400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num>
                              <m:den>
                                <m:r>
                                  <a:rPr lang="en-US" altLang="zh-CN" sz="44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box>
                      </m:e>
                    </m:d>
                  </m:oMath>
                </a14:m>
                <a:r>
                  <a:rPr lang="zh-CN" altLang="en-US" b="1" dirty="0"/>
                  <a:t>棵子树</a:t>
                </a:r>
                <a:r>
                  <a:rPr lang="zh-CN" altLang="en-US" dirty="0"/>
                  <a:t>；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节点具有信息：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/>
                  <a:t>是关键字个数，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是子树，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是关键字。</a:t>
                </a:r>
                <a:endParaRPr lang="en-US" altLang="zh-CN" dirty="0"/>
              </a:p>
              <a:p>
                <a:pPr lvl="1"/>
                <a:r>
                  <a:rPr lang="zh-CN" altLang="en-US" b="1" dirty="0"/>
                  <a:t>所有叶子节点都在同一层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有些教材增加一层虚拟叶子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9DF9A61-E936-4291-9CB4-2C3B05E6F7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828800"/>
                <a:ext cx="11887200" cy="5181600"/>
              </a:xfrm>
              <a:blipFill>
                <a:blip r:embed="rId2"/>
                <a:stretch>
                  <a:fillRect l="-1333" r="-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51898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AA1280-DB99-42E9-AB4C-648477372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一棵</a:t>
            </a:r>
            <a:r>
              <a:rPr lang="en-US" altLang="zh-CN" dirty="0"/>
              <a:t>3</a:t>
            </a:r>
            <a:r>
              <a:rPr lang="zh-CN" altLang="en-US" dirty="0"/>
              <a:t>叉的</a:t>
            </a:r>
            <a:r>
              <a:rPr lang="en-US" altLang="zh-CN" dirty="0"/>
              <a:t>B</a:t>
            </a:r>
            <a:r>
              <a:rPr lang="zh-CN" altLang="en-US" dirty="0"/>
              <a:t>树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158704C8-D5A7-41A7-B03A-FA92C4DBA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676400"/>
            <a:ext cx="11582400" cy="4176941"/>
          </a:xfrm>
        </p:spPr>
      </p:pic>
    </p:spTree>
    <p:extLst>
      <p:ext uri="{BB962C8B-B14F-4D97-AF65-F5344CB8AC3E}">
        <p14:creationId xmlns:p14="http://schemas.microsoft.com/office/powerpoint/2010/main" val="8071086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6B8FD7-578E-4768-8F4A-748AE60BE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</a:t>
            </a:r>
            <a:r>
              <a:rPr lang="zh-CN" altLang="en-US" dirty="0"/>
              <a:t>叉</a:t>
            </a:r>
            <a:r>
              <a:rPr lang="en-US" altLang="zh-CN" dirty="0"/>
              <a:t>B</a:t>
            </a:r>
            <a:r>
              <a:rPr lang="zh-CN" altLang="en-US" dirty="0"/>
              <a:t>树的查找性能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F471057-2482-4796-B105-872212B70E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5000"/>
                  </a:lnSpc>
                </a:pPr>
                <a:r>
                  <a:rPr lang="zh-CN" altLang="en-US" b="0" dirty="0"/>
                  <a:t>第</a:t>
                </a:r>
                <a:r>
                  <a:rPr lang="en-US" altLang="zh-CN" b="0" dirty="0"/>
                  <a:t>1</a:t>
                </a:r>
                <a:r>
                  <a:rPr lang="zh-CN" altLang="en-US" b="0" dirty="0"/>
                  <a:t>层至少有</a:t>
                </a:r>
                <a:r>
                  <a:rPr lang="en-US" altLang="zh-CN" dirty="0"/>
                  <a:t>1</a:t>
                </a:r>
                <a:r>
                  <a:rPr lang="zh-CN" altLang="en-US" b="0" dirty="0"/>
                  <a:t>个节点，第</a:t>
                </a:r>
                <a:r>
                  <a:rPr lang="en-US" altLang="zh-CN" b="0" dirty="0"/>
                  <a:t>2</a:t>
                </a:r>
                <a:r>
                  <a:rPr lang="zh-CN" altLang="en-US" b="0" dirty="0"/>
                  <a:t>层至少有</a:t>
                </a:r>
                <a:r>
                  <a:rPr lang="en-US" altLang="zh-CN" dirty="0"/>
                  <a:t>2</a:t>
                </a:r>
                <a:r>
                  <a:rPr lang="zh-CN" altLang="en-US" b="0" dirty="0"/>
                  <a:t>个节点，第</a:t>
                </a:r>
                <a:r>
                  <a:rPr lang="en-US" altLang="zh-CN" b="0" dirty="0"/>
                  <a:t>3</a:t>
                </a:r>
                <a:r>
                  <a:rPr lang="zh-CN" altLang="en-US" b="0" dirty="0"/>
                  <a:t>层至少有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begChr m:val="⌈"/>
                        <m:endChr m:val="⌉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b="0" dirty="0"/>
                  <a:t>个节点；</a:t>
                </a:r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r>
                  <a:rPr lang="zh-CN" altLang="en-US" b="0" dirty="0"/>
                  <a:t>设高度为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zh-CN" altLang="en-US" b="0" dirty="0"/>
                  <a:t>，则第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zh-CN" altLang="en-US" b="0" dirty="0"/>
                  <a:t>层至少有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d>
                          <m:dPr>
                            <m:begChr m:val="⌈"/>
                            <m:endChr m:val="⌉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num>
                              <m:den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b="0" dirty="0"/>
                  <a:t>个节点，第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0" dirty="0"/>
                  <a:t>层至少有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𝟐</m:t>
                        </m:r>
                        <m:d>
                          <m:dPr>
                            <m:begChr m:val="⌈"/>
                            <m:endChr m:val="⌉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num>
                              <m:den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zh-CN" altLang="en-US" b="0" dirty="0"/>
                  <a:t>个虚拟叶子；</a:t>
                </a:r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r>
                  <a:rPr lang="zh-CN" altLang="en-US" b="0" dirty="0"/>
                  <a:t>设共有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0" dirty="0"/>
                  <a:t>个关键字，虚拟叶子的个数则为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0" dirty="0"/>
                  <a:t>，所以</a:t>
                </a:r>
                <a:endParaRPr lang="en-US" altLang="zh-CN" b="0" dirty="0"/>
              </a:p>
              <a:p>
                <a:pPr marL="57150" indent="0">
                  <a:lnSpc>
                    <a:spcPct val="125000"/>
                  </a:lnSpc>
                  <a:buNone/>
                </a:pPr>
                <a:r>
                  <a:rPr lang="zh-CN" altLang="en-US" b="0" dirty="0"/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𝟐</m:t>
                        </m:r>
                        <m:d>
                          <m:dPr>
                            <m:begChr m:val="⌈"/>
                            <m:endChr m:val="⌉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num>
                              <m:den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0" dirty="0"/>
                  <a:t>，解得</a:t>
                </a:r>
                <a:r>
                  <a:rPr lang="en-US" altLang="zh-CN" b="0" dirty="0"/>
                  <a:t>m</a:t>
                </a:r>
                <a:r>
                  <a:rPr lang="zh-CN" altLang="en-US" b="0" dirty="0"/>
                  <a:t>叉</a:t>
                </a:r>
                <a:r>
                  <a:rPr lang="en-US" altLang="zh-CN" b="0" dirty="0"/>
                  <a:t>B</a:t>
                </a:r>
                <a:r>
                  <a:rPr lang="zh-CN" altLang="en-US" b="0" dirty="0"/>
                  <a:t>树的最大高度</a:t>
                </a:r>
                <a:r>
                  <a:rPr lang="en-US" altLang="zh-CN" b="0" dirty="0"/>
                  <a:t>(</a:t>
                </a:r>
                <a:r>
                  <a:rPr lang="zh-CN" altLang="en-US" b="0" dirty="0"/>
                  <a:t>最长查找路径</a:t>
                </a:r>
                <a:r>
                  <a:rPr lang="en-US" altLang="zh-CN" b="0" dirty="0"/>
                  <a:t>)</a:t>
                </a:r>
              </a:p>
              <a:p>
                <a:pPr marL="457200" lvl="1" indent="0">
                  <a:buNone/>
                </a:pP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sz="4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altLang="zh-CN" sz="4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altLang="zh-CN" sz="4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sz="4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𝐥𝐨𝐠</m:t>
                            </m:r>
                          </m:e>
                          <m:sub>
                            <m:d>
                              <m:dPr>
                                <m:begChr m:val="⌈"/>
                                <m:endChr m:val="⌉"/>
                                <m:ctrlPr>
                                  <a:rPr lang="en-US" altLang="zh-CN" sz="4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lin"/>
                                    <m:ctrlPr>
                                      <a:rPr lang="en-US" altLang="zh-CN" sz="4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4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𝒎</m:t>
                                    </m:r>
                                  </m:num>
                                  <m:den>
                                    <m:r>
                                      <a:rPr lang="en-US" altLang="zh-CN" sz="4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d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altLang="zh-CN" sz="4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4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4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4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4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CN" sz="4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4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4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4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</m:e>
                    </m:func>
                  </m:oMath>
                </a14:m>
                <a:endParaRPr lang="en-US" altLang="zh-CN" sz="4000" b="1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F471057-2482-4796-B105-872212B70E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9" t="-235" r="-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84118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85C850-4095-4F9D-9054-ADCB619CA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理解</a:t>
            </a:r>
            <a:r>
              <a:rPr lang="en-US" altLang="zh-CN" dirty="0"/>
              <a:t>B</a:t>
            </a:r>
            <a:r>
              <a:rPr lang="zh-CN" altLang="en-US" dirty="0"/>
              <a:t>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CDECF2-98FD-4EE5-863B-07530C535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主要用途</a:t>
            </a:r>
            <a:r>
              <a:rPr lang="zh-CN" altLang="en-US" b="0" dirty="0"/>
              <a:t>：大量数据的外部查找。</a:t>
            </a:r>
            <a:endParaRPr lang="en-US" altLang="zh-CN" b="0" dirty="0"/>
          </a:p>
          <a:p>
            <a:r>
              <a:rPr lang="en-US" altLang="zh-CN" dirty="0"/>
              <a:t>B</a:t>
            </a:r>
            <a:r>
              <a:rPr lang="zh-CN" altLang="en-US" dirty="0"/>
              <a:t>树的存储</a:t>
            </a:r>
            <a:r>
              <a:rPr lang="zh-CN" altLang="en-US" b="0" dirty="0"/>
              <a:t>：在磁盘上</a:t>
            </a:r>
            <a:r>
              <a:rPr lang="en-US" altLang="zh-CN" b="0" dirty="0"/>
              <a:t>(</a:t>
            </a:r>
            <a:r>
              <a:rPr lang="zh-CN" altLang="en-US" b="0" dirty="0"/>
              <a:t>根节点一般常驻内存</a:t>
            </a:r>
            <a:r>
              <a:rPr lang="en-US" altLang="zh-CN" b="0" dirty="0"/>
              <a:t>)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r>
              <a:rPr lang="zh-CN" altLang="en-US" dirty="0"/>
              <a:t>性能瓶颈</a:t>
            </a:r>
            <a:r>
              <a:rPr lang="zh-CN" altLang="en-US" b="0" dirty="0"/>
              <a:t>：磁盘读写。</a:t>
            </a:r>
            <a:endParaRPr lang="en-US" altLang="zh-CN" b="0" dirty="0"/>
          </a:p>
          <a:p>
            <a:r>
              <a:rPr lang="en-US" altLang="zh-CN" dirty="0"/>
              <a:t>m</a:t>
            </a:r>
            <a:r>
              <a:rPr lang="zh-CN" altLang="en-US" dirty="0"/>
              <a:t>的取值</a:t>
            </a:r>
            <a:r>
              <a:rPr lang="zh-CN" altLang="en-US" b="0" dirty="0"/>
              <a:t>：一般取值几十、几百甚至上千，通常由页面大小和索引项大小决定。</a:t>
            </a:r>
            <a:endParaRPr lang="en-US" altLang="zh-CN" b="0" dirty="0"/>
          </a:p>
          <a:p>
            <a:r>
              <a:rPr lang="zh-CN" altLang="en-US" dirty="0"/>
              <a:t>节点大小</a:t>
            </a:r>
            <a:r>
              <a:rPr lang="zh-CN" altLang="en-US" b="0" dirty="0"/>
              <a:t>：通常用一个页面来存放一个节点。</a:t>
            </a:r>
            <a:endParaRPr lang="en-US" altLang="zh-CN" b="0" dirty="0"/>
          </a:p>
          <a:p>
            <a:r>
              <a:rPr lang="en-US" altLang="zh-CN" dirty="0"/>
              <a:t>B</a:t>
            </a:r>
            <a:r>
              <a:rPr lang="zh-CN" altLang="en-US" dirty="0"/>
              <a:t>树形状</a:t>
            </a:r>
            <a:r>
              <a:rPr lang="zh-CN" altLang="en-US" b="0" dirty="0"/>
              <a:t>：矮而宽，高度通常只有</a:t>
            </a:r>
            <a:r>
              <a:rPr lang="en-US" altLang="zh-CN" b="0" dirty="0"/>
              <a:t> 2</a:t>
            </a:r>
            <a:r>
              <a:rPr lang="zh-CN" altLang="en-US" b="0" dirty="0"/>
              <a:t>至</a:t>
            </a:r>
            <a:r>
              <a:rPr lang="en-US" altLang="zh-CN" b="0" dirty="0"/>
              <a:t>4</a:t>
            </a:r>
            <a:r>
              <a:rPr lang="zh-CN" altLang="en-US" b="0" dirty="0"/>
              <a:t>层。</a:t>
            </a:r>
            <a:endParaRPr lang="en-US" altLang="zh-CN" b="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05789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A0480-3F8E-4457-967B-DDAD05E4C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认识磁盘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24EDE6C-DA40-4292-8EFA-17077044F9A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133600"/>
            <a:ext cx="4343400" cy="3520193"/>
          </a:xfrm>
        </p:spPr>
      </p:pic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08169910-48FC-48B2-8EEA-3122B56E1E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219200"/>
            <a:ext cx="6690032" cy="5410200"/>
          </a:xfrm>
        </p:spPr>
      </p:pic>
    </p:spTree>
    <p:extLst>
      <p:ext uri="{BB962C8B-B14F-4D97-AF65-F5344CB8AC3E}">
        <p14:creationId xmlns:p14="http://schemas.microsoft.com/office/powerpoint/2010/main" val="21846979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AFC359-C081-49EE-BB3A-1B116992B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磁盘和</a:t>
            </a:r>
            <a:r>
              <a:rPr lang="en-US" altLang="zh-CN" dirty="0"/>
              <a:t>B</a:t>
            </a:r>
            <a:r>
              <a:rPr lang="zh-CN" altLang="en-US" dirty="0"/>
              <a:t>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08DD2F-4049-4F91-8173-C89452C06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11658600" cy="5181600"/>
          </a:xfrm>
        </p:spPr>
        <p:txBody>
          <a:bodyPr/>
          <a:lstStyle/>
          <a:p>
            <a:r>
              <a:rPr lang="zh-CN" altLang="en-US" dirty="0"/>
              <a:t>磁盘容量</a:t>
            </a:r>
            <a:r>
              <a:rPr lang="en-US" altLang="zh-CN" b="0" dirty="0"/>
              <a:t>=</a:t>
            </a:r>
            <a:r>
              <a:rPr lang="zh-CN" altLang="en-US" b="0" dirty="0"/>
              <a:t>磁头数</a:t>
            </a:r>
            <a:r>
              <a:rPr lang="en-US" altLang="zh-CN" b="0" dirty="0"/>
              <a:t>(</a:t>
            </a:r>
            <a:r>
              <a:rPr lang="zh-CN" altLang="en-US" b="0" dirty="0"/>
              <a:t>盘面数</a:t>
            </a:r>
            <a:r>
              <a:rPr lang="en-US" altLang="zh-CN" b="0" dirty="0"/>
              <a:t>)</a:t>
            </a:r>
            <a:r>
              <a:rPr lang="zh-CN" altLang="en-US" b="0" dirty="0"/>
              <a:t>*柱面数</a:t>
            </a:r>
            <a:r>
              <a:rPr lang="en-US" altLang="zh-CN" b="0" dirty="0"/>
              <a:t>(</a:t>
            </a:r>
            <a:r>
              <a:rPr lang="zh-CN" altLang="en-US" b="0" dirty="0"/>
              <a:t>每面磁道数</a:t>
            </a:r>
            <a:r>
              <a:rPr lang="en-US" altLang="zh-CN" b="0" dirty="0"/>
              <a:t>)</a:t>
            </a:r>
            <a:r>
              <a:rPr lang="zh-CN" altLang="en-US" b="0" dirty="0"/>
              <a:t>*每道扇区数*每扇区字节数</a:t>
            </a:r>
            <a:endParaRPr lang="en-US" altLang="zh-CN" b="0" dirty="0"/>
          </a:p>
          <a:p>
            <a:pPr lvl="1"/>
            <a:r>
              <a:rPr lang="zh-CN" altLang="en-US" dirty="0"/>
              <a:t>大多数的磁盘：每扇区</a:t>
            </a:r>
            <a:r>
              <a:rPr lang="en-US" altLang="zh-CN" dirty="0"/>
              <a:t>512</a:t>
            </a:r>
            <a:r>
              <a:rPr lang="zh-CN" altLang="en-US" dirty="0"/>
              <a:t>字节，每磁道扇区数固定。</a:t>
            </a:r>
            <a:endParaRPr lang="en-US" altLang="zh-CN" dirty="0"/>
          </a:p>
          <a:p>
            <a:pPr lvl="1"/>
            <a:r>
              <a:rPr lang="zh-CN" altLang="en-US" dirty="0"/>
              <a:t>少数新式磁盘：每扇区可存</a:t>
            </a:r>
            <a:r>
              <a:rPr lang="en-US" altLang="zh-CN" dirty="0"/>
              <a:t>4096</a:t>
            </a:r>
            <a:r>
              <a:rPr lang="zh-CN" altLang="en-US" dirty="0"/>
              <a:t>字节，外围磁道扇区数多。</a:t>
            </a:r>
            <a:endParaRPr lang="en-US" altLang="zh-CN" dirty="0"/>
          </a:p>
          <a:p>
            <a:r>
              <a:rPr lang="zh-CN" altLang="en-US" dirty="0"/>
              <a:t>磁盘读写和</a:t>
            </a:r>
            <a:r>
              <a:rPr lang="en-US" altLang="zh-CN" dirty="0"/>
              <a:t>B</a:t>
            </a:r>
            <a:r>
              <a:rPr lang="zh-CN" altLang="en-US" dirty="0"/>
              <a:t>树</a:t>
            </a:r>
            <a:endParaRPr lang="en-US" altLang="zh-CN" dirty="0"/>
          </a:p>
          <a:p>
            <a:pPr lvl="1"/>
            <a:r>
              <a:rPr lang="zh-CN" altLang="en-US" dirty="0"/>
              <a:t>磁盘读写时间</a:t>
            </a:r>
            <a:r>
              <a:rPr lang="en-US" altLang="zh-CN" dirty="0"/>
              <a:t>=</a:t>
            </a:r>
            <a:r>
              <a:rPr lang="zh-CN" altLang="en-US" dirty="0"/>
              <a:t>寻道时间</a:t>
            </a:r>
            <a:r>
              <a:rPr lang="en-US" altLang="zh-CN" dirty="0"/>
              <a:t>+</a:t>
            </a:r>
            <a:r>
              <a:rPr lang="zh-CN" altLang="en-US" dirty="0"/>
              <a:t>旋转时间</a:t>
            </a:r>
            <a:r>
              <a:rPr lang="en-US" altLang="zh-CN" dirty="0"/>
              <a:t>+</a:t>
            </a:r>
            <a:r>
              <a:rPr lang="zh-CN" altLang="en-US" dirty="0"/>
              <a:t>传输时间。</a:t>
            </a:r>
            <a:endParaRPr lang="en-US" altLang="zh-CN" dirty="0"/>
          </a:p>
          <a:p>
            <a:pPr lvl="1"/>
            <a:r>
              <a:rPr lang="zh-CN" altLang="en-US" dirty="0"/>
              <a:t>读写单位：扇区</a:t>
            </a:r>
            <a:r>
              <a:rPr lang="en-US" altLang="zh-CN" dirty="0"/>
              <a:t>&lt;=</a:t>
            </a:r>
            <a:r>
              <a:rPr lang="zh-CN" altLang="en-US" dirty="0"/>
              <a:t>块</a:t>
            </a:r>
            <a:r>
              <a:rPr lang="en-US" altLang="zh-CN" dirty="0"/>
              <a:t>/</a:t>
            </a:r>
            <a:r>
              <a:rPr lang="zh-CN" altLang="en-US" dirty="0"/>
              <a:t>簇</a:t>
            </a:r>
            <a:r>
              <a:rPr lang="en-US" altLang="zh-CN" dirty="0"/>
              <a:t>&lt;=</a:t>
            </a:r>
            <a:r>
              <a:rPr lang="zh-CN" altLang="en-US" dirty="0"/>
              <a:t>页。</a:t>
            </a:r>
            <a:endParaRPr lang="en-US" altLang="zh-CN" dirty="0"/>
          </a:p>
          <a:p>
            <a:pPr lvl="1"/>
            <a:r>
              <a:rPr lang="en-US" altLang="zh-CN" dirty="0"/>
              <a:t>B</a:t>
            </a:r>
            <a:r>
              <a:rPr lang="zh-CN" altLang="en-US" dirty="0"/>
              <a:t>树的一个节点通常占一页。</a:t>
            </a:r>
          </a:p>
        </p:txBody>
      </p:sp>
    </p:spTree>
    <p:extLst>
      <p:ext uri="{BB962C8B-B14F-4D97-AF65-F5344CB8AC3E}">
        <p14:creationId xmlns:p14="http://schemas.microsoft.com/office/powerpoint/2010/main" val="567765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C8562-88C2-4D83-9021-8829FA547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树的插入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BFD51D-A80D-4334-962C-3B3387D35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先插入到相应的叶子节点中。</a:t>
            </a:r>
            <a:endParaRPr lang="en-US" altLang="zh-CN" b="0" dirty="0"/>
          </a:p>
          <a:p>
            <a:r>
              <a:rPr lang="zh-CN" altLang="en-US" b="0" dirty="0"/>
              <a:t>如果该叶子节点已满</a:t>
            </a:r>
            <a:r>
              <a:rPr lang="en-US" altLang="zh-CN" b="0" dirty="0"/>
              <a:t>(</a:t>
            </a:r>
            <a:r>
              <a:rPr lang="zh-CN" altLang="en-US" b="0" dirty="0"/>
              <a:t>关键字的个数等于</a:t>
            </a:r>
            <a:r>
              <a:rPr lang="en-US" altLang="zh-CN" b="0" dirty="0"/>
              <a:t>m</a:t>
            </a:r>
            <a:r>
              <a:rPr lang="zh-CN" altLang="en-US" b="0" dirty="0"/>
              <a:t>，子树</a:t>
            </a:r>
            <a:r>
              <a:rPr lang="en-US" altLang="zh-CN" b="0" dirty="0"/>
              <a:t>m+1</a:t>
            </a:r>
            <a:r>
              <a:rPr lang="zh-CN" altLang="en-US" b="0" dirty="0"/>
              <a:t>棵</a:t>
            </a:r>
            <a:r>
              <a:rPr lang="en-US" altLang="zh-CN" b="0" dirty="0"/>
              <a:t>)</a:t>
            </a:r>
            <a:r>
              <a:rPr lang="zh-CN" altLang="en-US" b="0" dirty="0"/>
              <a:t>，就把中间关键字提到父节点中，这样该节点就分裂成两个节点。</a:t>
            </a:r>
            <a:endParaRPr lang="en-US" altLang="zh-CN" b="0" dirty="0"/>
          </a:p>
          <a:p>
            <a:r>
              <a:rPr lang="zh-CN" altLang="en-US" b="0" dirty="0"/>
              <a:t>如果父节点已满，则继续分裂。如此进行下去。</a:t>
            </a:r>
          </a:p>
        </p:txBody>
      </p:sp>
    </p:spTree>
    <p:extLst>
      <p:ext uri="{BB962C8B-B14F-4D97-AF65-F5344CB8AC3E}">
        <p14:creationId xmlns:p14="http://schemas.microsoft.com/office/powerpoint/2010/main" val="26625309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FD2E73-AB29-4657-932F-03A1EC694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用插入的方法构建</a:t>
            </a:r>
            <a:r>
              <a:rPr lang="en-US" altLang="zh-CN" dirty="0"/>
              <a:t>B</a:t>
            </a:r>
            <a:r>
              <a:rPr lang="zh-CN" altLang="en-US" dirty="0"/>
              <a:t>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0295E0-01BE-4A97-BD99-A46FB8C4B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11582400" cy="144780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b="0" dirty="0"/>
              <a:t>设关键字集为</a:t>
            </a:r>
            <a:r>
              <a:rPr lang="en-US" altLang="zh-CN" b="0" dirty="0"/>
              <a:t>{37</a:t>
            </a:r>
            <a:r>
              <a:rPr lang="zh-CN" altLang="en-US" b="0" dirty="0"/>
              <a:t>、</a:t>
            </a:r>
            <a:r>
              <a:rPr lang="en-US" altLang="zh-CN" b="0" dirty="0"/>
              <a:t>70</a:t>
            </a:r>
            <a:r>
              <a:rPr lang="zh-CN" altLang="en-US" b="0" dirty="0"/>
              <a:t>、</a:t>
            </a:r>
            <a:r>
              <a:rPr lang="en-US" altLang="zh-CN" b="0" dirty="0"/>
              <a:t>12</a:t>
            </a:r>
            <a:r>
              <a:rPr lang="zh-CN" altLang="en-US" b="0" dirty="0"/>
              <a:t>、</a:t>
            </a:r>
            <a:r>
              <a:rPr lang="en-US" altLang="zh-CN" b="0" dirty="0"/>
              <a:t>45</a:t>
            </a:r>
            <a:r>
              <a:rPr lang="zh-CN" altLang="en-US" b="0" dirty="0"/>
              <a:t>、</a:t>
            </a:r>
            <a:r>
              <a:rPr lang="en-US" altLang="zh-CN" b="0" dirty="0"/>
              <a:t>90</a:t>
            </a:r>
            <a:r>
              <a:rPr lang="zh-CN" altLang="en-US" b="0" dirty="0"/>
              <a:t>、</a:t>
            </a:r>
            <a:r>
              <a:rPr lang="en-US" altLang="zh-CN" b="0" dirty="0"/>
              <a:t>3</a:t>
            </a:r>
            <a:r>
              <a:rPr lang="zh-CN" altLang="en-US" b="0" dirty="0"/>
              <a:t>、</a:t>
            </a:r>
            <a:r>
              <a:rPr lang="en-US" altLang="zh-CN" b="0" dirty="0"/>
              <a:t>24</a:t>
            </a:r>
            <a:r>
              <a:rPr lang="zh-CN" altLang="en-US" b="0" dirty="0"/>
              <a:t>、</a:t>
            </a:r>
            <a:r>
              <a:rPr lang="en-US" altLang="zh-CN" b="0" dirty="0"/>
              <a:t>61</a:t>
            </a:r>
            <a:r>
              <a:rPr lang="zh-CN" altLang="en-US" b="0" dirty="0"/>
              <a:t>、</a:t>
            </a:r>
            <a:r>
              <a:rPr lang="en-US" altLang="zh-CN" b="0" dirty="0"/>
              <a:t>53}</a:t>
            </a:r>
            <a:r>
              <a:rPr lang="zh-CN" altLang="en-US" b="0" dirty="0"/>
              <a:t>，用插入的方法构建一棵</a:t>
            </a:r>
            <a:r>
              <a:rPr lang="en-US" altLang="zh-CN" b="0" dirty="0"/>
              <a:t>3</a:t>
            </a:r>
            <a:r>
              <a:rPr lang="zh-CN" altLang="en-US" b="0" dirty="0"/>
              <a:t>叉</a:t>
            </a:r>
            <a:r>
              <a:rPr lang="en-US" altLang="zh-CN" b="0" dirty="0"/>
              <a:t>B</a:t>
            </a:r>
            <a:r>
              <a:rPr lang="zh-CN" altLang="en-US" b="0" dirty="0"/>
              <a:t>树，初始时为空树。</a:t>
            </a:r>
            <a:endParaRPr lang="en-US" altLang="zh-CN" b="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C5368D3-0EDE-46B4-BD5A-B198D77BC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138" y="3162300"/>
            <a:ext cx="714375" cy="5715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AA1DCEA-63B9-41CA-98ED-1388164908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148012"/>
            <a:ext cx="1459506" cy="58578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90F2692-3798-4F47-9E8C-579A38F506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267200"/>
            <a:ext cx="3200400" cy="161995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0416FF2-4E27-4084-9173-24F8285003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37" y="4267200"/>
            <a:ext cx="4964687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8708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7182FB-0E24-47C1-8993-924707578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用插入的方法构建</a:t>
            </a:r>
            <a:r>
              <a:rPr lang="en-US" altLang="zh-CN" dirty="0"/>
              <a:t>B</a:t>
            </a:r>
            <a:r>
              <a:rPr lang="zh-CN" altLang="en-US" dirty="0"/>
              <a:t>树</a:t>
            </a:r>
            <a:r>
              <a:rPr lang="en-US" altLang="zh-CN" dirty="0"/>
              <a:t>(</a:t>
            </a:r>
            <a:r>
              <a:rPr lang="zh-CN" altLang="en-US" dirty="0"/>
              <a:t>接上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A2A4BCC-E0A5-40A6-A573-D26005C1B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647825"/>
            <a:ext cx="3371850" cy="1552575"/>
          </a:xfrm>
          <a:prstGeom prst="rect">
            <a:avLst/>
          </a:prstGeom>
        </p:spPr>
      </p:pic>
      <p:pic>
        <p:nvPicPr>
          <p:cNvPr id="14" name="内容占位符 13">
            <a:extLst>
              <a:ext uri="{FF2B5EF4-FFF2-40B4-BE49-F238E27FC236}">
                <a16:creationId xmlns:a16="http://schemas.microsoft.com/office/drawing/2014/main" id="{0FE0E60C-B77E-4884-AC64-11751D0288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647825"/>
            <a:ext cx="7029450" cy="1552575"/>
          </a:xfr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E169A78-C08E-4501-844F-77624FC27A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" y="3790950"/>
            <a:ext cx="1137285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875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7182FB-0E24-47C1-8993-924707578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914400"/>
            <a:ext cx="5334000" cy="685800"/>
          </a:xfrm>
        </p:spPr>
        <p:txBody>
          <a:bodyPr/>
          <a:lstStyle/>
          <a:p>
            <a:r>
              <a:rPr lang="zh-CN" altLang="en-US" dirty="0"/>
              <a:t>用插入的方法</a:t>
            </a:r>
            <a:br>
              <a:rPr lang="en-US" altLang="zh-CN" dirty="0"/>
            </a:br>
            <a:r>
              <a:rPr lang="zh-CN" altLang="en-US" dirty="0"/>
              <a:t>构建</a:t>
            </a:r>
            <a:r>
              <a:rPr lang="en-US" altLang="zh-CN" dirty="0"/>
              <a:t>B</a:t>
            </a:r>
            <a:r>
              <a:rPr lang="zh-CN" altLang="en-US" dirty="0"/>
              <a:t>树</a:t>
            </a:r>
            <a:r>
              <a:rPr lang="en-US" altLang="zh-CN" dirty="0"/>
              <a:t>(</a:t>
            </a:r>
            <a:r>
              <a:rPr lang="zh-CN" altLang="en-US" dirty="0"/>
              <a:t>接上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2990F0-C403-4594-BAB5-B9D3CE9AA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533399"/>
            <a:ext cx="3999463" cy="27776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6EB4565-3935-492C-BDCA-DBD210866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99304"/>
            <a:ext cx="10473794" cy="277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6038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30F763-9A04-49B7-B4C0-94D605E51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插入算法和</a:t>
            </a:r>
            <a:r>
              <a:rPr lang="en-US" altLang="zh-CN" dirty="0"/>
              <a:t>B</a:t>
            </a:r>
            <a:r>
              <a:rPr lang="zh-CN" altLang="en-US" dirty="0"/>
              <a:t>树的定义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1173B1-1384-4881-812A-B7ACF0F29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11734800" cy="5181600"/>
          </a:xfrm>
        </p:spPr>
        <p:txBody>
          <a:bodyPr/>
          <a:lstStyle/>
          <a:p>
            <a:r>
              <a:rPr lang="en-US" altLang="zh-CN" b="0" dirty="0"/>
              <a:t>B</a:t>
            </a:r>
            <a:r>
              <a:rPr lang="zh-CN" altLang="en-US" b="0" dirty="0"/>
              <a:t>树的插入算法描述了</a:t>
            </a:r>
            <a:r>
              <a:rPr lang="en-US" altLang="zh-CN" b="0" dirty="0"/>
              <a:t>B</a:t>
            </a:r>
            <a:r>
              <a:rPr lang="zh-CN" altLang="en-US" b="0" dirty="0"/>
              <a:t>树的生成过程，</a:t>
            </a:r>
            <a:r>
              <a:rPr lang="en-US" altLang="zh-CN" dirty="0"/>
              <a:t>B</a:t>
            </a:r>
            <a:r>
              <a:rPr lang="zh-CN" altLang="en-US" dirty="0"/>
              <a:t>树的定义实际上是根据生成过程给出的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r>
              <a:rPr lang="en-US" altLang="zh-CN" b="0" dirty="0"/>
              <a:t>B</a:t>
            </a:r>
            <a:r>
              <a:rPr lang="zh-CN" altLang="en-US" b="0" dirty="0"/>
              <a:t>树的插入都是首先插入到叶子节点，然后</a:t>
            </a:r>
            <a:r>
              <a:rPr lang="zh-CN" altLang="en-US" dirty="0"/>
              <a:t>从叶往根生长</a:t>
            </a:r>
            <a:r>
              <a:rPr lang="zh-CN" altLang="en-US" b="0" dirty="0"/>
              <a:t>，只有当根节点分裂时，</a:t>
            </a:r>
            <a:r>
              <a:rPr lang="en-US" altLang="zh-CN" b="0" dirty="0"/>
              <a:t>B</a:t>
            </a:r>
            <a:r>
              <a:rPr lang="zh-CN" altLang="en-US" b="0" dirty="0"/>
              <a:t>树的深度才增</a:t>
            </a:r>
            <a:r>
              <a:rPr lang="en-US" altLang="zh-CN" b="0" dirty="0"/>
              <a:t>1</a:t>
            </a:r>
            <a:r>
              <a:rPr lang="zh-CN" altLang="en-US" b="0" dirty="0"/>
              <a:t>，因而各分支是平衡的。</a:t>
            </a:r>
            <a:endParaRPr lang="en-US" altLang="zh-CN" b="0" dirty="0"/>
          </a:p>
          <a:p>
            <a:r>
              <a:rPr lang="en-US" altLang="zh-CN" b="0" dirty="0"/>
              <a:t>B</a:t>
            </a:r>
            <a:r>
              <a:rPr lang="zh-CN" altLang="en-US" b="0" dirty="0"/>
              <a:t>树的删除算法是插入算法的逆过程，比插入算法略微复杂，因为删除操作可能发生在非叶子节点。</a:t>
            </a:r>
          </a:p>
        </p:txBody>
      </p:sp>
    </p:spTree>
    <p:extLst>
      <p:ext uri="{BB962C8B-B14F-4D97-AF65-F5344CB8AC3E}">
        <p14:creationId xmlns:p14="http://schemas.microsoft.com/office/powerpoint/2010/main" val="14953897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916FF8-ADAD-47A4-819A-DB143F6A4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B+</a:t>
            </a:r>
            <a:r>
              <a:rPr lang="zh-CN" altLang="en-US" dirty="0"/>
              <a:t>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A0792E-BB1E-42A8-845B-8B49E6DB8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582400" cy="5181600"/>
          </a:xfrm>
        </p:spPr>
        <p:txBody>
          <a:bodyPr/>
          <a:lstStyle/>
          <a:p>
            <a:r>
              <a:rPr lang="en-US" altLang="zh-CN" b="0" dirty="0"/>
              <a:t>B+</a:t>
            </a:r>
            <a:r>
              <a:rPr lang="zh-CN" altLang="en-US" b="0" dirty="0"/>
              <a:t>树是</a:t>
            </a:r>
            <a:r>
              <a:rPr lang="en-US" altLang="zh-CN" b="0" dirty="0"/>
              <a:t>B</a:t>
            </a:r>
            <a:r>
              <a:rPr lang="zh-CN" altLang="en-US" b="0" dirty="0"/>
              <a:t>树的变型，有时也简称</a:t>
            </a:r>
            <a:r>
              <a:rPr lang="en-US" altLang="zh-CN" b="0" dirty="0"/>
              <a:t>B</a:t>
            </a:r>
            <a:r>
              <a:rPr lang="zh-CN" altLang="en-US" b="0" dirty="0"/>
              <a:t>树。</a:t>
            </a:r>
            <a:endParaRPr lang="en-US" altLang="zh-CN" b="0" dirty="0"/>
          </a:p>
          <a:p>
            <a:r>
              <a:rPr lang="zh-CN" altLang="en-US" b="0" dirty="0"/>
              <a:t>一棵</a:t>
            </a:r>
            <a:r>
              <a:rPr lang="en-US" altLang="zh-CN" b="0" dirty="0"/>
              <a:t>m</a:t>
            </a:r>
            <a:r>
              <a:rPr lang="zh-CN" altLang="en-US" b="0" dirty="0"/>
              <a:t>叉</a:t>
            </a:r>
            <a:r>
              <a:rPr lang="en-US" altLang="zh-CN" b="0" dirty="0"/>
              <a:t>B+</a:t>
            </a:r>
            <a:r>
              <a:rPr lang="zh-CN" altLang="en-US" b="0" dirty="0"/>
              <a:t>树和</a:t>
            </a:r>
            <a:r>
              <a:rPr lang="en-US" altLang="zh-CN" b="0" dirty="0"/>
              <a:t>m</a:t>
            </a:r>
            <a:r>
              <a:rPr lang="zh-CN" altLang="en-US" b="0" dirty="0"/>
              <a:t>叉</a:t>
            </a:r>
            <a:r>
              <a:rPr lang="en-US" altLang="zh-CN" b="0" dirty="0"/>
              <a:t>B</a:t>
            </a:r>
            <a:r>
              <a:rPr lang="zh-CN" altLang="en-US" b="0" dirty="0"/>
              <a:t>树的区别在于：</a:t>
            </a:r>
            <a:endParaRPr lang="en-US" altLang="zh-CN" b="0" dirty="0"/>
          </a:p>
          <a:p>
            <a:pPr lvl="1"/>
            <a:r>
              <a:rPr lang="zh-CN" altLang="en-US" dirty="0"/>
              <a:t>有</a:t>
            </a:r>
            <a:r>
              <a:rPr lang="en-US" altLang="zh-CN" dirty="0"/>
              <a:t>k</a:t>
            </a:r>
            <a:r>
              <a:rPr lang="zh-CN" altLang="en-US" dirty="0"/>
              <a:t>个关键字的节点中含有</a:t>
            </a:r>
            <a:r>
              <a:rPr lang="en-US" altLang="zh-CN" dirty="0"/>
              <a:t>k</a:t>
            </a:r>
            <a:r>
              <a:rPr lang="zh-CN" altLang="en-US" dirty="0"/>
              <a:t>棵子树</a:t>
            </a:r>
            <a:r>
              <a:rPr lang="en-US" altLang="zh-CN" dirty="0"/>
              <a:t>;</a:t>
            </a:r>
          </a:p>
          <a:p>
            <a:pPr lvl="1"/>
            <a:r>
              <a:rPr lang="zh-CN" altLang="en-US" dirty="0"/>
              <a:t>所有叶子节点中包含了全部关键字信息，及指向相应数据的指针，且叶子节点本身按关键字大小顺序链接。</a:t>
            </a:r>
            <a:endParaRPr lang="en-US" altLang="zh-CN" dirty="0"/>
          </a:p>
          <a:p>
            <a:pPr lvl="1"/>
            <a:r>
              <a:rPr lang="zh-CN" altLang="en-US" dirty="0"/>
              <a:t>非叶子节点中仅含有其子树中最大</a:t>
            </a:r>
            <a:r>
              <a:rPr lang="en-US" altLang="zh-CN" dirty="0"/>
              <a:t>(</a:t>
            </a:r>
            <a:r>
              <a:rPr lang="zh-CN" altLang="en-US" dirty="0"/>
              <a:t>或最小</a:t>
            </a:r>
            <a:r>
              <a:rPr lang="en-US" altLang="zh-CN" dirty="0"/>
              <a:t>)</a:t>
            </a:r>
            <a:r>
              <a:rPr lang="zh-CN" altLang="en-US" dirty="0"/>
              <a:t>关键字。</a:t>
            </a:r>
            <a:endParaRPr lang="en-US" altLang="zh-CN" dirty="0"/>
          </a:p>
          <a:p>
            <a:r>
              <a:rPr lang="en-US" altLang="zh-CN" b="0" dirty="0"/>
              <a:t>B+</a:t>
            </a:r>
            <a:r>
              <a:rPr lang="zh-CN" altLang="en-US" b="0" dirty="0"/>
              <a:t>树不是严格意义的树。</a:t>
            </a:r>
            <a:endParaRPr lang="en-US" altLang="zh-CN" b="0" dirty="0"/>
          </a:p>
          <a:p>
            <a:pPr>
              <a:lnSpc>
                <a:spcPct val="125000"/>
              </a:lnSpc>
            </a:pPr>
            <a:r>
              <a:rPr lang="zh-CN" altLang="en-US" b="0" dirty="0"/>
              <a:t>文件系统和数据库系统普遍采用</a:t>
            </a:r>
            <a:r>
              <a:rPr lang="en-US" altLang="zh-CN" b="0" dirty="0"/>
              <a:t>B+</a:t>
            </a:r>
            <a:r>
              <a:rPr lang="zh-CN" altLang="en-US" b="0" dirty="0"/>
              <a:t>树作索引。</a:t>
            </a:r>
            <a:endParaRPr lang="en-US" altLang="zh-CN" b="0" dirty="0"/>
          </a:p>
          <a:p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6187732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916FF8-ADAD-47A4-819A-DB143F6A4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一棵</a:t>
            </a:r>
            <a:r>
              <a:rPr lang="en-US" altLang="zh-CN" dirty="0"/>
              <a:t>3</a:t>
            </a:r>
            <a:r>
              <a:rPr lang="zh-CN" altLang="en-US" dirty="0"/>
              <a:t>阶的</a:t>
            </a:r>
            <a:r>
              <a:rPr lang="en-US" altLang="zh-CN" dirty="0"/>
              <a:t>B+</a:t>
            </a:r>
            <a:r>
              <a:rPr lang="zh-CN" altLang="en-US" dirty="0"/>
              <a:t>树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D989A2AA-F220-4BAF-9218-2CF4738828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1447800"/>
            <a:ext cx="11635353" cy="5029200"/>
          </a:xfrm>
        </p:spPr>
      </p:pic>
    </p:spTree>
    <p:extLst>
      <p:ext uri="{BB962C8B-B14F-4D97-AF65-F5344CB8AC3E}">
        <p14:creationId xmlns:p14="http://schemas.microsoft.com/office/powerpoint/2010/main" val="354525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48B7E8-6399-4677-92F5-A31CD96F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B+</a:t>
            </a:r>
            <a:r>
              <a:rPr lang="zh-CN" altLang="en-US" dirty="0"/>
              <a:t>树相对于</a:t>
            </a:r>
            <a:r>
              <a:rPr lang="en-US" altLang="zh-CN" dirty="0"/>
              <a:t>B</a:t>
            </a:r>
            <a:r>
              <a:rPr lang="zh-CN" altLang="en-US" dirty="0"/>
              <a:t>树的优点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081A33-0691-4D88-9666-33500B430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582400" cy="5181600"/>
          </a:xfrm>
        </p:spPr>
        <p:txBody>
          <a:bodyPr/>
          <a:lstStyle/>
          <a:p>
            <a:r>
              <a:rPr lang="zh-CN" altLang="en-US" dirty="0"/>
              <a:t>节点的索引信息量大</a:t>
            </a:r>
            <a:endParaRPr lang="en-US" altLang="zh-CN" dirty="0"/>
          </a:p>
          <a:p>
            <a:pPr lvl="1"/>
            <a:r>
              <a:rPr lang="en-US" altLang="zh-CN" dirty="0"/>
              <a:t>B</a:t>
            </a:r>
            <a:r>
              <a:rPr lang="zh-CN" altLang="en-US" dirty="0"/>
              <a:t>树节点既存索引，又存数据，因此索引信息少，查找的磁盘</a:t>
            </a:r>
            <a:r>
              <a:rPr lang="en-US" altLang="zh-CN" dirty="0"/>
              <a:t>I/O</a:t>
            </a:r>
            <a:r>
              <a:rPr lang="zh-CN" altLang="en-US" dirty="0"/>
              <a:t>开销大。</a:t>
            </a:r>
            <a:endParaRPr lang="en-US" altLang="zh-CN" dirty="0"/>
          </a:p>
          <a:p>
            <a:pPr lvl="1"/>
            <a:r>
              <a:rPr lang="en-US" altLang="zh-CN" dirty="0"/>
              <a:t>B+</a:t>
            </a:r>
            <a:r>
              <a:rPr lang="zh-CN" altLang="en-US" dirty="0"/>
              <a:t>树只存索引，索引信息量大，查找的磁盘</a:t>
            </a:r>
            <a:r>
              <a:rPr lang="en-US" altLang="zh-CN" dirty="0"/>
              <a:t>I/O</a:t>
            </a:r>
            <a:r>
              <a:rPr lang="zh-CN" altLang="en-US" dirty="0"/>
              <a:t>开销小。</a:t>
            </a:r>
            <a:endParaRPr lang="en-US" altLang="zh-CN" dirty="0"/>
          </a:p>
          <a:p>
            <a:r>
              <a:rPr lang="zh-CN" altLang="en-US" dirty="0"/>
              <a:t>遍历效率高</a:t>
            </a:r>
            <a:endParaRPr lang="en-US" altLang="zh-CN" dirty="0"/>
          </a:p>
          <a:p>
            <a:pPr lvl="1"/>
            <a:r>
              <a:rPr lang="en-US" altLang="zh-CN" dirty="0"/>
              <a:t>B</a:t>
            </a:r>
            <a:r>
              <a:rPr lang="zh-CN" altLang="en-US" dirty="0"/>
              <a:t>树遍历效率低。</a:t>
            </a:r>
            <a:endParaRPr lang="en-US" altLang="zh-CN" dirty="0"/>
          </a:p>
          <a:p>
            <a:pPr lvl="1"/>
            <a:r>
              <a:rPr lang="en-US" altLang="zh-CN" dirty="0"/>
              <a:t>B+</a:t>
            </a:r>
            <a:r>
              <a:rPr lang="zh-CN" altLang="en-US" dirty="0"/>
              <a:t>树的数据都在叶子节点，把叶子串成链表，遍历方便。</a:t>
            </a:r>
            <a:endParaRPr lang="en-US" altLang="zh-CN" dirty="0"/>
          </a:p>
          <a:p>
            <a:r>
              <a:rPr lang="zh-CN" altLang="en-US" dirty="0"/>
              <a:t>查询效率稳定</a:t>
            </a:r>
            <a:r>
              <a:rPr lang="zh-CN" altLang="en-US" b="0" dirty="0"/>
              <a:t>：</a:t>
            </a:r>
            <a:r>
              <a:rPr lang="en-US" altLang="zh-CN" b="0" dirty="0"/>
              <a:t>B+</a:t>
            </a:r>
            <a:r>
              <a:rPr lang="zh-CN" altLang="en-US" b="0" dirty="0"/>
              <a:t>树的数据都在叶子上，查找时间都一样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5661281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ED51B-CC8B-4E43-980A-F5DF6F8A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B+</a:t>
            </a:r>
            <a:r>
              <a:rPr lang="zh-CN" altLang="en-US" dirty="0"/>
              <a:t>树类型的一种定义</a:t>
            </a:r>
            <a:r>
              <a:rPr lang="en-US" altLang="zh-CN" dirty="0"/>
              <a:t>-1/2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FA7770-95AC-4700-9C1B-0B13AD72C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typedef int Key;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typedef struct </a:t>
            </a:r>
            <a:r>
              <a:rPr lang="en-US" altLang="zh-CN" b="0" dirty="0" err="1"/>
              <a:t>BPlusNode</a:t>
            </a:r>
            <a:r>
              <a:rPr lang="en-US" altLang="zh-CN" b="0" dirty="0"/>
              <a:t>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numOfKeys</a:t>
            </a:r>
            <a:r>
              <a:rPr lang="en-US" altLang="zh-CN" b="0" dirty="0"/>
              <a:t>;  // </a:t>
            </a:r>
            <a:r>
              <a:rPr lang="zh-CN" altLang="en-US" b="0" dirty="0"/>
              <a:t>关键字的数量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Key key[M+1];   // </a:t>
            </a:r>
            <a:r>
              <a:rPr lang="zh-CN" altLang="en-US" b="0" dirty="0"/>
              <a:t>关键字数组，按从小到大顺序存放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bool </a:t>
            </a:r>
            <a:r>
              <a:rPr lang="en-US" altLang="zh-CN" b="0" dirty="0" err="1"/>
              <a:t>isLeaf</a:t>
            </a:r>
            <a:r>
              <a:rPr lang="en-US" altLang="zh-CN" b="0" dirty="0"/>
              <a:t>;     // </a:t>
            </a:r>
            <a:r>
              <a:rPr lang="zh-CN" altLang="en-US" b="0" dirty="0"/>
              <a:t>是否是叶子节点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struct </a:t>
            </a:r>
            <a:r>
              <a:rPr lang="en-US" altLang="zh-CN" b="0" dirty="0" err="1"/>
              <a:t>BPlusNode</a:t>
            </a:r>
            <a:r>
              <a:rPr lang="en-US" altLang="zh-CN" b="0" dirty="0"/>
              <a:t> *</a:t>
            </a:r>
            <a:r>
              <a:rPr lang="en-US" altLang="zh-CN" b="0" dirty="0" err="1"/>
              <a:t>pChild</a:t>
            </a:r>
            <a:r>
              <a:rPr lang="en-US" altLang="zh-CN" b="0" dirty="0"/>
              <a:t>[M+1];  // </a:t>
            </a:r>
            <a:r>
              <a:rPr lang="zh-CN" altLang="en-US" b="0" dirty="0"/>
              <a:t>孩子指针数组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struct </a:t>
            </a:r>
            <a:r>
              <a:rPr lang="en-US" altLang="zh-CN" b="0" dirty="0" err="1"/>
              <a:t>BPlusNode</a:t>
            </a:r>
            <a:r>
              <a:rPr lang="en-US" altLang="zh-CN" b="0" dirty="0"/>
              <a:t> *</a:t>
            </a:r>
            <a:r>
              <a:rPr lang="en-US" altLang="zh-CN" b="0" dirty="0" err="1"/>
              <a:t>pParent</a:t>
            </a:r>
            <a:r>
              <a:rPr lang="en-US" altLang="zh-CN" b="0" dirty="0"/>
              <a:t>;  // </a:t>
            </a:r>
            <a:r>
              <a:rPr lang="zh-CN" altLang="en-US" b="0" dirty="0"/>
              <a:t>双亲指针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struct </a:t>
            </a:r>
            <a:r>
              <a:rPr lang="en-US" altLang="zh-CN" b="0" dirty="0" err="1"/>
              <a:t>BPlusNode</a:t>
            </a:r>
            <a:r>
              <a:rPr lang="en-US" altLang="zh-CN" b="0" dirty="0"/>
              <a:t> *</a:t>
            </a:r>
            <a:r>
              <a:rPr lang="en-US" altLang="zh-CN" b="0" dirty="0" err="1"/>
              <a:t>pNextLeaf</a:t>
            </a:r>
            <a:r>
              <a:rPr lang="en-US" altLang="zh-CN" b="0" dirty="0"/>
              <a:t>;  // </a:t>
            </a:r>
            <a:r>
              <a:rPr lang="zh-CN" altLang="en-US" b="0" dirty="0"/>
              <a:t>下一个叶子节点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Record</a:t>
            </a:r>
            <a:r>
              <a:rPr lang="zh-CN" altLang="en-US" b="0" dirty="0"/>
              <a:t> *</a:t>
            </a:r>
            <a:r>
              <a:rPr lang="en-US" altLang="zh-CN" b="0" dirty="0" err="1"/>
              <a:t>pRecord</a:t>
            </a:r>
            <a:r>
              <a:rPr lang="en-US" altLang="zh-CN" b="0" dirty="0"/>
              <a:t>[M+1];  // </a:t>
            </a:r>
            <a:r>
              <a:rPr lang="zh-CN" altLang="en-US" b="0" dirty="0"/>
              <a:t>数据记录指针数组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 </a:t>
            </a:r>
            <a:r>
              <a:rPr lang="en-US" altLang="zh-CN" b="0" dirty="0" err="1"/>
              <a:t>BPlusNode</a:t>
            </a:r>
            <a:r>
              <a:rPr lang="en-US" altLang="zh-CN" b="0" dirty="0"/>
              <a:t>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5320689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ED51B-CC8B-4E43-980A-F5DF6F8A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B+</a:t>
            </a:r>
            <a:r>
              <a:rPr lang="zh-CN" altLang="en-US" dirty="0"/>
              <a:t>树类型的一种定义</a:t>
            </a:r>
            <a:r>
              <a:rPr lang="en-US" altLang="zh-CN" dirty="0"/>
              <a:t>-2/2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FA7770-95AC-4700-9C1B-0B13AD72C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7348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typedef struct </a:t>
            </a:r>
            <a:r>
              <a:rPr lang="en-US" altLang="zh-CN" b="0" dirty="0" err="1"/>
              <a:t>BPlusTree</a:t>
            </a:r>
            <a:r>
              <a:rPr lang="en-US" altLang="zh-CN" b="0" dirty="0"/>
              <a:t>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m;  // m</a:t>
            </a:r>
            <a:r>
              <a:rPr lang="zh-CN" altLang="en-US" b="0" dirty="0"/>
              <a:t>阶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BPlusNode</a:t>
            </a:r>
            <a:r>
              <a:rPr lang="en-US" altLang="zh-CN" b="0" dirty="0"/>
              <a:t>* </a:t>
            </a:r>
            <a:r>
              <a:rPr lang="en-US" altLang="zh-CN" b="0" dirty="0" err="1"/>
              <a:t>pRoot</a:t>
            </a:r>
            <a:r>
              <a:rPr lang="en-US" altLang="zh-CN" b="0" dirty="0"/>
              <a:t>;  // B+</a:t>
            </a:r>
            <a:r>
              <a:rPr lang="zh-CN" altLang="en-US" b="0" dirty="0"/>
              <a:t>树的根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BPlusNode</a:t>
            </a:r>
            <a:r>
              <a:rPr lang="en-US" altLang="zh-CN" b="0" dirty="0"/>
              <a:t>* </a:t>
            </a:r>
            <a:r>
              <a:rPr lang="en-US" altLang="zh-CN" b="0" dirty="0" err="1"/>
              <a:t>pFirstLeaf</a:t>
            </a:r>
            <a:r>
              <a:rPr lang="en-US" altLang="zh-CN" b="0" dirty="0"/>
              <a:t>;   // </a:t>
            </a:r>
            <a:r>
              <a:rPr lang="zh-CN" altLang="en-US" b="0" dirty="0"/>
              <a:t>叶节点链表中的第</a:t>
            </a:r>
            <a:r>
              <a:rPr lang="en-US" altLang="zh-CN" b="0" dirty="0"/>
              <a:t>1</a:t>
            </a:r>
            <a:r>
              <a:rPr lang="zh-CN" altLang="en-US" b="0" dirty="0"/>
              <a:t>片叶子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numOfRecords</a:t>
            </a:r>
            <a:r>
              <a:rPr lang="en-US" altLang="zh-CN" b="0" dirty="0"/>
              <a:t>;   // </a:t>
            </a:r>
            <a:r>
              <a:rPr lang="zh-CN" altLang="en-US" b="0" dirty="0"/>
              <a:t>数据记录的个数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 </a:t>
            </a:r>
            <a:r>
              <a:rPr lang="en-US" altLang="zh-CN" b="0" dirty="0" err="1"/>
              <a:t>BPlusTree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B+</a:t>
            </a:r>
            <a:r>
              <a:rPr lang="zh-CN" altLang="en-US" b="0" dirty="0"/>
              <a:t>树的实现和具体的应用密切相关。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0" dirty="0"/>
              <a:t>上述定义只适合在内存中构建</a:t>
            </a:r>
            <a:r>
              <a:rPr lang="en-US" altLang="zh-CN" b="0" dirty="0"/>
              <a:t>B+</a:t>
            </a:r>
            <a:r>
              <a:rPr lang="zh-CN" altLang="en-US" b="0" dirty="0"/>
              <a:t>树。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0" dirty="0"/>
              <a:t>如果在外存上构建</a:t>
            </a:r>
            <a:r>
              <a:rPr lang="en-US" altLang="zh-CN" b="0" dirty="0"/>
              <a:t>B+</a:t>
            </a:r>
            <a:r>
              <a:rPr lang="zh-CN" altLang="en-US" b="0" dirty="0"/>
              <a:t>树，那么节点指针就要改成外存地址。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5548830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FCFAF6-63D0-4A8F-83B8-89563425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33400"/>
            <a:ext cx="3505200" cy="685800"/>
          </a:xfrm>
        </p:spPr>
        <p:txBody>
          <a:bodyPr/>
          <a:lstStyle/>
          <a:p>
            <a:pPr algn="l"/>
            <a:r>
              <a:rPr lang="zh-CN" altLang="en-US" dirty="0"/>
              <a:t>计算式查找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A11641-255B-4E39-9280-4365C8467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4419600" cy="4800600"/>
          </a:xfrm>
        </p:spPr>
        <p:txBody>
          <a:bodyPr/>
          <a:lstStyle/>
          <a:p>
            <a:r>
              <a:rPr lang="zh-CN" altLang="en-US" b="0" dirty="0"/>
              <a:t>在关键字</a:t>
            </a:r>
            <a:r>
              <a:rPr lang="en-US" altLang="zh-CN" b="0" dirty="0"/>
              <a:t>k</a:t>
            </a:r>
            <a:r>
              <a:rPr lang="zh-CN" altLang="en-US" b="0" dirty="0"/>
              <a:t>和存储位置</a:t>
            </a:r>
            <a:r>
              <a:rPr lang="en-US" altLang="zh-CN" b="0" dirty="0"/>
              <a:t>p</a:t>
            </a:r>
            <a:r>
              <a:rPr lang="zh-CN" altLang="en-US" b="0" dirty="0"/>
              <a:t>之间建立映射关系</a:t>
            </a:r>
            <a:r>
              <a:rPr lang="en-US" altLang="zh-CN" b="0" dirty="0"/>
              <a:t>p=H(k)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r>
              <a:rPr lang="zh-CN" altLang="en-US" dirty="0"/>
              <a:t>直接定址法</a:t>
            </a:r>
            <a:r>
              <a:rPr lang="zh-CN" altLang="en-US" b="0" dirty="0"/>
              <a:t>：</a:t>
            </a:r>
            <a:r>
              <a:rPr lang="en-US" altLang="zh-CN" b="0" dirty="0"/>
              <a:t>H</a:t>
            </a:r>
            <a:r>
              <a:rPr lang="zh-CN" altLang="en-US" b="0" dirty="0"/>
              <a:t>是一对一映射。</a:t>
            </a:r>
            <a:endParaRPr lang="en-US" altLang="zh-CN" b="0" dirty="0"/>
          </a:p>
          <a:p>
            <a:r>
              <a:rPr lang="zh-CN" altLang="en-US" dirty="0"/>
              <a:t>哈希法</a:t>
            </a:r>
            <a:r>
              <a:rPr lang="zh-CN" altLang="en-US" b="0" dirty="0"/>
              <a:t>：</a:t>
            </a:r>
            <a:r>
              <a:rPr lang="en-US" altLang="zh-CN" b="0" dirty="0"/>
              <a:t>H</a:t>
            </a:r>
            <a:r>
              <a:rPr lang="zh-CN" altLang="en-US" b="0" dirty="0"/>
              <a:t>通常是一种压缩映射，称为</a:t>
            </a:r>
            <a:r>
              <a:rPr lang="zh-CN" altLang="en-US" dirty="0"/>
              <a:t>哈希函数</a:t>
            </a:r>
            <a:r>
              <a:rPr lang="zh-CN" altLang="en-US" b="0" dirty="0"/>
              <a:t>。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DE75AAA8-D9B6-47D8-837D-FEBE451C5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973788"/>
              </p:ext>
            </p:extLst>
          </p:nvPr>
        </p:nvGraphicFramePr>
        <p:xfrm>
          <a:off x="5105400" y="777240"/>
          <a:ext cx="1508443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443">
                  <a:extLst>
                    <a:ext uri="{9D8B030D-6E8A-4147-A177-3AD203B41FA5}">
                      <a16:colId xmlns:a16="http://schemas.microsoft.com/office/drawing/2014/main" val="4719076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关键字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784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学号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7004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484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002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9102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003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102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004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190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005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1233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428245"/>
                  </a:ext>
                </a:extLst>
              </a:tr>
            </a:tbl>
          </a:graphicData>
        </a:graphic>
      </p:graphicFrame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A7796C37-803A-4FA5-B413-B8BEE46A92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857632"/>
              </p:ext>
            </p:extLst>
          </p:nvPr>
        </p:nvGraphicFramePr>
        <p:xfrm>
          <a:off x="7924800" y="777240"/>
          <a:ext cx="3962400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107137740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5462682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9431695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18929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学生表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136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下标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学号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姓名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4029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673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002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161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003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828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004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3194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005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6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831174"/>
                  </a:ext>
                </a:extLst>
              </a:tr>
            </a:tbl>
          </a:graphicData>
        </a:graphic>
      </p:graphicFrame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C2B9AF1-F291-45E7-8E5D-F58EDAAFBAB8}"/>
              </a:ext>
            </a:extLst>
          </p:cNvPr>
          <p:cNvCxnSpPr>
            <a:cxnSpLocks/>
          </p:cNvCxnSpPr>
          <p:nvPr/>
        </p:nvCxnSpPr>
        <p:spPr bwMode="auto">
          <a:xfrm>
            <a:off x="6613843" y="2225040"/>
            <a:ext cx="1310957" cy="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E24B63C-4D28-42E7-932E-B0CD03D73A84}"/>
              </a:ext>
            </a:extLst>
          </p:cNvPr>
          <p:cNvCxnSpPr>
            <a:cxnSpLocks/>
          </p:cNvCxnSpPr>
          <p:nvPr/>
        </p:nvCxnSpPr>
        <p:spPr bwMode="auto">
          <a:xfrm>
            <a:off x="6613843" y="2781886"/>
            <a:ext cx="1310957" cy="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C483956-DC71-4102-8D12-07CC8108C7E1}"/>
              </a:ext>
            </a:extLst>
          </p:cNvPr>
          <p:cNvCxnSpPr>
            <a:cxnSpLocks/>
          </p:cNvCxnSpPr>
          <p:nvPr/>
        </p:nvCxnSpPr>
        <p:spPr bwMode="auto">
          <a:xfrm>
            <a:off x="6613843" y="3368040"/>
            <a:ext cx="1310957" cy="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A5C37B6-1B07-43AC-BD6E-5284E5BA785A}"/>
              </a:ext>
            </a:extLst>
          </p:cNvPr>
          <p:cNvCxnSpPr>
            <a:cxnSpLocks/>
          </p:cNvCxnSpPr>
          <p:nvPr/>
        </p:nvCxnSpPr>
        <p:spPr bwMode="auto">
          <a:xfrm>
            <a:off x="6613843" y="3954194"/>
            <a:ext cx="1310957" cy="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000AB29-C4D2-4D17-910D-150AC5FA4376}"/>
              </a:ext>
            </a:extLst>
          </p:cNvPr>
          <p:cNvCxnSpPr>
            <a:cxnSpLocks/>
          </p:cNvCxnSpPr>
          <p:nvPr/>
        </p:nvCxnSpPr>
        <p:spPr bwMode="auto">
          <a:xfrm>
            <a:off x="6613843" y="4522763"/>
            <a:ext cx="1310957" cy="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2BDA29EA-A975-4D2A-AB7F-2F7099388AC9}"/>
              </a:ext>
            </a:extLst>
          </p:cNvPr>
          <p:cNvSpPr txBox="1"/>
          <p:nvPr/>
        </p:nvSpPr>
        <p:spPr>
          <a:xfrm>
            <a:off x="5334000" y="5602069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一般难以给出一对一映射</a:t>
            </a:r>
          </a:p>
        </p:txBody>
      </p:sp>
    </p:spTree>
    <p:extLst>
      <p:ext uri="{BB962C8B-B14F-4D97-AF65-F5344CB8AC3E}">
        <p14:creationId xmlns:p14="http://schemas.microsoft.com/office/powerpoint/2010/main" val="5155424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984E91-0F16-4B7B-8FC3-6CA319BED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哈希法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2464D9-F312-4543-9C04-1C26236AC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/>
              <a:t>哈希</a:t>
            </a:r>
            <a:r>
              <a:rPr lang="zh-CN" altLang="en-US" b="0" dirty="0"/>
              <a:t>是</a:t>
            </a:r>
            <a:r>
              <a:rPr lang="en-US" altLang="zh-CN" b="0" dirty="0"/>
              <a:t>Hash</a:t>
            </a:r>
            <a:r>
              <a:rPr lang="zh-CN" altLang="en-US" b="0" dirty="0"/>
              <a:t>的音译，哈希法不是具体算法，而是一种思想。</a:t>
            </a:r>
            <a:endParaRPr lang="en-US" altLang="zh-CN" b="0" dirty="0"/>
          </a:p>
          <a:p>
            <a:pPr>
              <a:lnSpc>
                <a:spcPct val="125000"/>
              </a:lnSpc>
            </a:pPr>
            <a:r>
              <a:rPr lang="zh-CN" altLang="en-US" dirty="0"/>
              <a:t>哈希函数</a:t>
            </a:r>
            <a:r>
              <a:rPr lang="zh-CN" altLang="en-US" b="0" dirty="0"/>
              <a:t>又称散列函数。</a:t>
            </a:r>
            <a:endParaRPr lang="en-US" altLang="zh-CN" b="0" dirty="0"/>
          </a:p>
          <a:p>
            <a:pPr lvl="1"/>
            <a:r>
              <a:rPr lang="zh-CN" altLang="en-US" b="0" dirty="0"/>
              <a:t>是一种压缩映射，有确定性输出，但不可逆；</a:t>
            </a:r>
            <a:endParaRPr lang="en-US" altLang="zh-CN" b="0" dirty="0"/>
          </a:p>
          <a:p>
            <a:pPr lvl="1"/>
            <a:r>
              <a:rPr lang="zh-CN" altLang="en-US" b="0" dirty="0"/>
              <a:t>不同的输入可能产生相同的输出，称为哈希碰撞或冲突。</a:t>
            </a:r>
            <a:endParaRPr lang="en-US" altLang="zh-CN" b="0" dirty="0"/>
          </a:p>
          <a:p>
            <a:r>
              <a:rPr lang="zh-CN" altLang="en-US" b="0" dirty="0"/>
              <a:t>按哈希法构建的表称为</a:t>
            </a:r>
            <a:r>
              <a:rPr lang="zh-CN" altLang="en-US" dirty="0"/>
              <a:t>哈希表，</a:t>
            </a:r>
            <a:r>
              <a:rPr lang="zh-CN" altLang="en-US" b="0" dirty="0"/>
              <a:t>哈希查找要解决两个问题：</a:t>
            </a:r>
            <a:endParaRPr lang="en-US" altLang="zh-CN" b="0" dirty="0"/>
          </a:p>
          <a:p>
            <a:pPr lvl="1"/>
            <a:r>
              <a:rPr lang="zh-CN" altLang="en-US" b="0" dirty="0"/>
              <a:t>构造哈希函数：哈希地址越均匀越好。</a:t>
            </a:r>
            <a:endParaRPr lang="en-US" altLang="zh-CN" b="0" dirty="0"/>
          </a:p>
          <a:p>
            <a:pPr lvl="1"/>
            <a:r>
              <a:rPr lang="zh-CN" altLang="en-US" b="0" dirty="0"/>
              <a:t>解决冲突问题：不同的关键字映射到同一地址上。</a:t>
            </a:r>
            <a:endParaRPr lang="en-US" altLang="zh-CN" b="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22024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A1827-A8F5-4C9B-BAA5-AF4CCBA22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2000"/>
            <a:ext cx="6172200" cy="685800"/>
          </a:xfrm>
        </p:spPr>
        <p:txBody>
          <a:bodyPr/>
          <a:lstStyle/>
          <a:p>
            <a:pPr algn="l"/>
            <a:r>
              <a:rPr lang="zh-CN" altLang="en-US" dirty="0"/>
              <a:t>构造哈希函数：</a:t>
            </a:r>
            <a:br>
              <a:rPr lang="en-US" altLang="zh-CN" dirty="0"/>
            </a:br>
            <a:r>
              <a:rPr lang="zh-CN" altLang="en-US" dirty="0"/>
              <a:t>数字分析法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599CA7-67CA-43F7-B438-6D28E2AB6C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828800"/>
            <a:ext cx="5689600" cy="4800600"/>
          </a:xfrm>
        </p:spPr>
        <p:txBody>
          <a:bodyPr/>
          <a:lstStyle/>
          <a:p>
            <a:r>
              <a:rPr lang="zh-CN" altLang="en-US" b="0" dirty="0"/>
              <a:t>已知关键字集合，分析关键字的数位，</a:t>
            </a:r>
            <a:r>
              <a:rPr lang="zh-CN" altLang="en-US" dirty="0"/>
              <a:t>选取分布均匀的一些数位作哈希地址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r>
              <a:rPr lang="zh-CN" altLang="en-US" b="0" dirty="0"/>
              <a:t>例如，共有</a:t>
            </a:r>
            <a:r>
              <a:rPr lang="en-US" altLang="zh-CN" b="0" dirty="0"/>
              <a:t>800</a:t>
            </a:r>
            <a:r>
              <a:rPr lang="zh-CN" altLang="en-US" b="0" dirty="0"/>
              <a:t>个关键字，哈希表长度设为</a:t>
            </a:r>
            <a:r>
              <a:rPr lang="en-US" altLang="zh-CN" b="0" dirty="0"/>
              <a:t>1000</a:t>
            </a:r>
            <a:r>
              <a:rPr lang="zh-CN" altLang="en-US" b="0" dirty="0"/>
              <a:t>，中间</a:t>
            </a:r>
            <a:r>
              <a:rPr lang="en-US" altLang="zh-CN" b="0" dirty="0"/>
              <a:t>4</a:t>
            </a:r>
            <a:r>
              <a:rPr lang="zh-CN" altLang="en-US" b="0" dirty="0"/>
              <a:t>位近乎随机，可任选</a:t>
            </a:r>
            <a:r>
              <a:rPr lang="en-US" altLang="zh-CN" b="0" dirty="0"/>
              <a:t>3</a:t>
            </a:r>
            <a:r>
              <a:rPr lang="zh-CN" altLang="en-US" b="0" dirty="0"/>
              <a:t>位作哈希地址。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14FC4D2C-4FF4-4616-9BAB-7F37FC47F27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27803287"/>
              </p:ext>
            </p:extLst>
          </p:nvPr>
        </p:nvGraphicFramePr>
        <p:xfrm>
          <a:off x="6197600" y="457200"/>
          <a:ext cx="5689600" cy="637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3687983285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46953589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899245740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867667784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14595196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911032012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314425772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142031222"/>
                    </a:ext>
                  </a:extLst>
                </a:gridCol>
              </a:tblGrid>
              <a:tr h="5611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❶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❷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❸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accent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❹</a:t>
                      </a:r>
                      <a:endParaRPr lang="zh-CN" altLang="en-US" sz="32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accent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❺</a:t>
                      </a:r>
                      <a:endParaRPr lang="zh-CN" altLang="en-US" sz="32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accent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❻</a:t>
                      </a:r>
                      <a:endParaRPr lang="zh-CN" altLang="en-US" sz="32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accent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❼</a:t>
                      </a:r>
                      <a:endParaRPr lang="zh-CN" altLang="en-US" sz="32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❽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79545251"/>
                  </a:ext>
                </a:extLst>
              </a:tr>
              <a:tr h="561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38913301"/>
                  </a:ext>
                </a:extLst>
              </a:tr>
              <a:tr h="561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24983869"/>
                  </a:ext>
                </a:extLst>
              </a:tr>
              <a:tr h="561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68190345"/>
                  </a:ext>
                </a:extLst>
              </a:tr>
              <a:tr h="561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17222425"/>
                  </a:ext>
                </a:extLst>
              </a:tr>
              <a:tr h="561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10254750"/>
                  </a:ext>
                </a:extLst>
              </a:tr>
              <a:tr h="561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30217848"/>
                  </a:ext>
                </a:extLst>
              </a:tr>
              <a:tr h="561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9349760"/>
                  </a:ext>
                </a:extLst>
              </a:tr>
              <a:tr h="561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04786875"/>
                  </a:ext>
                </a:extLst>
              </a:tr>
              <a:tr h="561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75941343"/>
                  </a:ext>
                </a:extLst>
              </a:tr>
              <a:tr h="561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220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5420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10A38F-FBDE-4EBA-8A26-5115ADB73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38200"/>
            <a:ext cx="5562600" cy="685800"/>
          </a:xfrm>
        </p:spPr>
        <p:txBody>
          <a:bodyPr/>
          <a:lstStyle/>
          <a:p>
            <a:pPr algn="l"/>
            <a:r>
              <a:rPr lang="zh-CN" altLang="en-US" dirty="0"/>
              <a:t>构造哈希函数：</a:t>
            </a:r>
            <a:br>
              <a:rPr lang="en-US" altLang="zh-CN" dirty="0"/>
            </a:br>
            <a:r>
              <a:rPr lang="zh-CN" altLang="en-US" dirty="0"/>
              <a:t>平方取中法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1073F1-3700-4EF0-8BEE-F1D0D852A6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905000"/>
            <a:ext cx="5689600" cy="4800600"/>
          </a:xfrm>
        </p:spPr>
        <p:txBody>
          <a:bodyPr/>
          <a:lstStyle/>
          <a:p>
            <a:r>
              <a:rPr lang="zh-CN" altLang="en-US" dirty="0"/>
              <a:t>取关键字平方后的中间几位作为哈希地址。</a:t>
            </a:r>
            <a:endParaRPr lang="en-US" altLang="zh-CN" dirty="0"/>
          </a:p>
          <a:p>
            <a:r>
              <a:rPr lang="zh-CN" altLang="en-US" b="0" dirty="0"/>
              <a:t>平方后的中间几位和关键字的每一位都相关。</a:t>
            </a:r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273956D9-CB98-4F8C-9C59-31E7C2C9BC5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71330088"/>
              </p:ext>
            </p:extLst>
          </p:nvPr>
        </p:nvGraphicFramePr>
        <p:xfrm>
          <a:off x="6197602" y="533400"/>
          <a:ext cx="5689600" cy="569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2430782932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011473049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4043958565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732641524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43297939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405353497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00308062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4023743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550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85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80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FF0000"/>
                          </a:solidFill>
                        </a:rPr>
                        <a:t>ad</a:t>
                      </a:r>
                      <a:endParaRPr lang="zh-CN" altLang="en-US" sz="32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accent2"/>
                          </a:solidFill>
                        </a:rPr>
                        <a:t>bd</a:t>
                      </a:r>
                      <a:endParaRPr lang="zh-CN" altLang="en-US" sz="32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dd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6507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ac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 err="1">
                          <a:solidFill>
                            <a:srgbClr val="FF0000"/>
                          </a:solidFill>
                        </a:rPr>
                        <a:t>bc</a:t>
                      </a:r>
                      <a:endParaRPr lang="zh-CN" altLang="en-US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accent2"/>
                          </a:solidFill>
                        </a:rPr>
                        <a:t>cc</a:t>
                      </a:r>
                      <a:endParaRPr lang="zh-CN" altLang="en-US" sz="32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dc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822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accent2"/>
                          </a:solidFill>
                        </a:rPr>
                        <a:t>ab</a:t>
                      </a:r>
                      <a:endParaRPr lang="zh-CN" altLang="en-US" sz="32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bb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 err="1">
                          <a:solidFill>
                            <a:srgbClr val="FF0000"/>
                          </a:solidFill>
                        </a:rPr>
                        <a:t>cb</a:t>
                      </a:r>
                      <a:endParaRPr lang="zh-CN" altLang="en-US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 err="1">
                          <a:solidFill>
                            <a:schemeClr val="accent2"/>
                          </a:solidFill>
                        </a:rPr>
                        <a:t>db</a:t>
                      </a:r>
                      <a:endParaRPr lang="zh-CN" altLang="en-US" sz="32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004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aa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 err="1">
                          <a:solidFill>
                            <a:schemeClr val="accent2"/>
                          </a:solidFill>
                        </a:rPr>
                        <a:t>ba</a:t>
                      </a:r>
                      <a:endParaRPr lang="zh-CN" altLang="en-US" sz="32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ca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FF0000"/>
                          </a:solidFill>
                        </a:rPr>
                        <a:t>da</a:t>
                      </a:r>
                      <a:endParaRPr lang="zh-CN" altLang="en-US" sz="32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756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accent2"/>
                          </a:solidFill>
                        </a:rPr>
                        <a:t>C</a:t>
                      </a:r>
                      <a:endParaRPr lang="zh-CN" altLang="en-US" sz="32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D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FF0000"/>
                          </a:solidFill>
                        </a:rPr>
                        <a:t>E</a:t>
                      </a:r>
                      <a:endParaRPr lang="zh-CN" altLang="en-US" sz="32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accent2"/>
                          </a:solidFill>
                        </a:rPr>
                        <a:t>F</a:t>
                      </a:r>
                      <a:endParaRPr lang="zh-CN" altLang="en-US" sz="32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0789042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四位数平方后</a:t>
                      </a:r>
                      <a:endParaRPr lang="en-US" altLang="zh-CN" sz="32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第</a:t>
                      </a:r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位和所有位相关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296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01916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10A38F-FBDE-4EBA-8A26-5115ADB73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838200"/>
            <a:ext cx="5562600" cy="685800"/>
          </a:xfrm>
        </p:spPr>
        <p:txBody>
          <a:bodyPr/>
          <a:lstStyle/>
          <a:p>
            <a:pPr algn="l"/>
            <a:r>
              <a:rPr lang="zh-CN" altLang="en-US" dirty="0"/>
              <a:t>构造哈希函数：</a:t>
            </a:r>
            <a:br>
              <a:rPr lang="en-US" altLang="zh-CN" dirty="0"/>
            </a:br>
            <a:r>
              <a:rPr lang="zh-CN" altLang="en-US" dirty="0"/>
              <a:t>分段叠加法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1073F1-3700-4EF0-8BEE-F1D0D852A6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905000"/>
            <a:ext cx="5689600" cy="4800600"/>
          </a:xfrm>
        </p:spPr>
        <p:txBody>
          <a:bodyPr/>
          <a:lstStyle/>
          <a:p>
            <a:r>
              <a:rPr lang="zh-CN" altLang="en-US" dirty="0"/>
              <a:t>根据哈希地址位数，把关键字分成若干段</a:t>
            </a:r>
            <a:r>
              <a:rPr lang="en-US" altLang="zh-CN" dirty="0"/>
              <a:t>(</a:t>
            </a:r>
            <a:r>
              <a:rPr lang="zh-CN" altLang="en-US" b="0" dirty="0"/>
              <a:t>最后一段位数不足时可以舍掉或补零</a:t>
            </a:r>
            <a:r>
              <a:rPr lang="en-US" altLang="zh-CN" dirty="0"/>
              <a:t>)</a:t>
            </a:r>
            <a:r>
              <a:rPr lang="zh-CN" altLang="en-US" dirty="0"/>
              <a:t>，相加后舍弃最高位的进位。</a:t>
            </a:r>
            <a:endParaRPr lang="en-US" altLang="zh-CN" dirty="0"/>
          </a:p>
          <a:p>
            <a:r>
              <a:rPr lang="zh-CN" altLang="en-US" b="0" dirty="0"/>
              <a:t>这样做是为了使哈希地址的每一位与关键字的每一位都相关。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BA539284-B820-4F6A-AB60-3F3BC52CFCF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35934777"/>
              </p:ext>
            </p:extLst>
          </p:nvPr>
        </p:nvGraphicFramePr>
        <p:xfrm>
          <a:off x="6096000" y="838200"/>
          <a:ext cx="568960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403521572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49041791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31609057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66325695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34986588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95190161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30071297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21842288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07628353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41552396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12590728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78038460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97674278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8768532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a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b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c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d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e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g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h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 err="1">
                          <a:solidFill>
                            <a:schemeClr val="tx2"/>
                          </a:solidFill>
                        </a:rPr>
                        <a:t>i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j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k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l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m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n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025189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310721A1-A08B-491E-8229-EB0C9BB25B39}"/>
              </a:ext>
            </a:extLst>
          </p:cNvPr>
          <p:cNvSpPr txBox="1"/>
          <p:nvPr/>
        </p:nvSpPr>
        <p:spPr>
          <a:xfrm>
            <a:off x="4343400" y="808892"/>
            <a:ext cx="18723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 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key=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F896CE28-0F61-4362-90F7-A1788F00B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832596"/>
              </p:ext>
            </p:extLst>
          </p:nvPr>
        </p:nvGraphicFramePr>
        <p:xfrm>
          <a:off x="6230815" y="1965960"/>
          <a:ext cx="2379784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946">
                  <a:extLst>
                    <a:ext uri="{9D8B030D-6E8A-4147-A177-3AD203B41FA5}">
                      <a16:colId xmlns:a16="http://schemas.microsoft.com/office/drawing/2014/main" val="3703566321"/>
                    </a:ext>
                  </a:extLst>
                </a:gridCol>
                <a:gridCol w="594946">
                  <a:extLst>
                    <a:ext uri="{9D8B030D-6E8A-4147-A177-3AD203B41FA5}">
                      <a16:colId xmlns:a16="http://schemas.microsoft.com/office/drawing/2014/main" val="1712268030"/>
                    </a:ext>
                  </a:extLst>
                </a:gridCol>
                <a:gridCol w="594946">
                  <a:extLst>
                    <a:ext uri="{9D8B030D-6E8A-4147-A177-3AD203B41FA5}">
                      <a16:colId xmlns:a16="http://schemas.microsoft.com/office/drawing/2014/main" val="918892247"/>
                    </a:ext>
                  </a:extLst>
                </a:gridCol>
                <a:gridCol w="594946">
                  <a:extLst>
                    <a:ext uri="{9D8B030D-6E8A-4147-A177-3AD203B41FA5}">
                      <a16:colId xmlns:a16="http://schemas.microsoft.com/office/drawing/2014/main" val="33479314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a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b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c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968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d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e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510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g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h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 err="1">
                          <a:solidFill>
                            <a:schemeClr val="tx2"/>
                          </a:solidFill>
                        </a:rPr>
                        <a:t>i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9403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j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k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l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174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+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m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n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309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A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B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C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3503444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2"/>
                          </a:solidFill>
                        </a:rPr>
                        <a:t>移位叠加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461199"/>
                  </a:ext>
                </a:extLst>
              </a:tr>
            </a:tbl>
          </a:graphicData>
        </a:graphic>
      </p:graphicFrame>
      <p:graphicFrame>
        <p:nvGraphicFramePr>
          <p:cNvPr id="12" name="表格 9">
            <a:extLst>
              <a:ext uri="{FF2B5EF4-FFF2-40B4-BE49-F238E27FC236}">
                <a16:creationId xmlns:a16="http://schemas.microsoft.com/office/drawing/2014/main" id="{69332653-F2B3-45BB-BC5B-76C23B44A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295196"/>
              </p:ext>
            </p:extLst>
          </p:nvPr>
        </p:nvGraphicFramePr>
        <p:xfrm>
          <a:off x="9296400" y="1981200"/>
          <a:ext cx="2379784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946">
                  <a:extLst>
                    <a:ext uri="{9D8B030D-6E8A-4147-A177-3AD203B41FA5}">
                      <a16:colId xmlns:a16="http://schemas.microsoft.com/office/drawing/2014/main" val="3703566321"/>
                    </a:ext>
                  </a:extLst>
                </a:gridCol>
                <a:gridCol w="594946">
                  <a:extLst>
                    <a:ext uri="{9D8B030D-6E8A-4147-A177-3AD203B41FA5}">
                      <a16:colId xmlns:a16="http://schemas.microsoft.com/office/drawing/2014/main" val="1712268030"/>
                    </a:ext>
                  </a:extLst>
                </a:gridCol>
                <a:gridCol w="594946">
                  <a:extLst>
                    <a:ext uri="{9D8B030D-6E8A-4147-A177-3AD203B41FA5}">
                      <a16:colId xmlns:a16="http://schemas.microsoft.com/office/drawing/2014/main" val="918892247"/>
                    </a:ext>
                  </a:extLst>
                </a:gridCol>
                <a:gridCol w="594946">
                  <a:extLst>
                    <a:ext uri="{9D8B030D-6E8A-4147-A177-3AD203B41FA5}">
                      <a16:colId xmlns:a16="http://schemas.microsoft.com/office/drawing/2014/main" val="33479314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a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b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c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968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e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d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510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g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h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 err="1">
                          <a:solidFill>
                            <a:schemeClr val="tx2"/>
                          </a:solidFill>
                        </a:rPr>
                        <a:t>i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9403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l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k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j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174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+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m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n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309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D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E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3503444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2"/>
                          </a:solidFill>
                        </a:rPr>
                        <a:t>折叠叠加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461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2018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619E0C-20D5-401B-9202-DA74C35D4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构造哈希函数：除留余数法和伪随机数法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AB65C9-266F-47AB-BBC8-58CA14D14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除留余数法</a:t>
            </a:r>
            <a:endParaRPr lang="en-US" altLang="zh-CN" dirty="0"/>
          </a:p>
          <a:p>
            <a:pPr lvl="1"/>
            <a:r>
              <a:rPr lang="zh-CN" altLang="en-US" dirty="0"/>
              <a:t>选取一个素数</a:t>
            </a:r>
            <a:r>
              <a:rPr lang="en-US" altLang="zh-CN" dirty="0"/>
              <a:t>m</a:t>
            </a:r>
            <a:r>
              <a:rPr lang="zh-CN" altLang="en-US" dirty="0"/>
              <a:t>作为哈希表的长度，则哈希函数为：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H(k)=</a:t>
            </a:r>
            <a:r>
              <a:rPr lang="en-US" altLang="zh-CN" dirty="0" err="1"/>
              <a:t>k%m</a:t>
            </a:r>
            <a:r>
              <a:rPr lang="zh-CN" altLang="en-US" dirty="0"/>
              <a:t>，其中</a:t>
            </a:r>
            <a:r>
              <a:rPr lang="en-US" altLang="zh-CN" dirty="0"/>
              <a:t>%</a:t>
            </a:r>
            <a:r>
              <a:rPr lang="zh-CN" altLang="en-US" dirty="0"/>
              <a:t>表示取余运算。</a:t>
            </a:r>
            <a:endParaRPr lang="en-US" altLang="zh-CN" dirty="0"/>
          </a:p>
          <a:p>
            <a:pPr lvl="1"/>
            <a:r>
              <a:rPr lang="zh-CN" altLang="en-US" dirty="0"/>
              <a:t>对于随机输入的关键字，素数作除数能使哈希地址更均匀。除数的因子越多越不好。</a:t>
            </a:r>
            <a:endParaRPr lang="en-US" altLang="zh-CN" dirty="0"/>
          </a:p>
          <a:p>
            <a:r>
              <a:rPr lang="zh-CN" altLang="en-US" dirty="0"/>
              <a:t>伪随机数法</a:t>
            </a:r>
            <a:endParaRPr lang="en-US" altLang="zh-CN" dirty="0"/>
          </a:p>
          <a:p>
            <a:pPr lvl="1"/>
            <a:r>
              <a:rPr lang="zh-CN" altLang="en-US" dirty="0"/>
              <a:t>采用伪随机函数作为哈希函数。</a:t>
            </a:r>
            <a:endParaRPr lang="en-US" altLang="zh-CN" dirty="0"/>
          </a:p>
          <a:p>
            <a:pPr lvl="1"/>
            <a:r>
              <a:rPr lang="zh-CN" altLang="en-US" dirty="0"/>
              <a:t>即：</a:t>
            </a:r>
            <a:r>
              <a:rPr lang="en-US" altLang="zh-CN" dirty="0"/>
              <a:t>H(k)=random(k)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017740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E8D916-7A9D-425D-85C9-D6F957BA7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3200" cy="685800"/>
          </a:xfrm>
        </p:spPr>
        <p:txBody>
          <a:bodyPr/>
          <a:lstStyle/>
          <a:p>
            <a:r>
              <a:rPr lang="zh-CN" altLang="en-US" dirty="0"/>
              <a:t>处理哈希冲突：开放定址法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D9B589A-74AD-42B0-B4BC-5628EBCD5D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11582400" cy="5181600"/>
              </a:xfrm>
            </p:spPr>
            <p:txBody>
              <a:bodyPr/>
              <a:lstStyle/>
              <a:p>
                <a:pPr>
                  <a:lnSpc>
                    <a:spcPct val="125000"/>
                  </a:lnSpc>
                </a:pPr>
                <a:r>
                  <a:rPr lang="zh-CN" altLang="en-US" b="0" dirty="0"/>
                  <a:t>当关键字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b="0" dirty="0"/>
                  <a:t>的初始哈希地址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b="0" dirty="0"/>
                  <a:t>出现冲突时，以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b="0" dirty="0"/>
                  <a:t>为基础，产生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b="0" dirty="0"/>
                  <a:t>，如果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b="0" dirty="0"/>
                  <a:t>冲突，再以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b="0" dirty="0"/>
                  <a:t>为基础，产生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b="0" dirty="0"/>
                  <a:t>，直到不冲突为止。</a:t>
                </a:r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r>
                  <a:rPr lang="zh-CN" altLang="en-US" b="0" dirty="0"/>
                  <a:t>一般形式：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b="0" dirty="0"/>
                  <a:t>，其中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b="0" dirty="0"/>
                  <a:t>是表长，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b="0" dirty="0"/>
                  <a:t>是增量序列</a:t>
                </a:r>
                <a:endParaRPr lang="en-US" altLang="zh-CN" b="0" dirty="0"/>
              </a:p>
              <a:p>
                <a:pPr lvl="1"/>
                <a:r>
                  <a:rPr lang="zh-CN" altLang="en-US" b="0" dirty="0"/>
                  <a:t>线性探测：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=1,2,3,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endParaRPr lang="en-US" altLang="zh-CN" b="0" dirty="0"/>
              </a:p>
              <a:p>
                <a:pPr lvl="1"/>
                <a:r>
                  <a:rPr lang="zh-CN" altLang="en-US" b="0" dirty="0"/>
                  <a:t>二次探测：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,−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,−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endParaRPr lang="en-US" altLang="zh-CN" b="0" dirty="0"/>
              </a:p>
              <a:p>
                <a:pPr lvl="1"/>
                <a:r>
                  <a:rPr lang="zh-CN" altLang="en-US" b="0" dirty="0"/>
                  <a:t>伪随机探测：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b="0" dirty="0"/>
                  <a:t>伪随机序列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D9B589A-74AD-42B0-B4BC-5628EBCD5D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11582400" cy="5181600"/>
              </a:xfrm>
              <a:blipFill>
                <a:blip r:embed="rId2"/>
                <a:stretch>
                  <a:fillRect l="-789" t="-235" r="-842" b="-10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46D526AA-6E1B-4012-B51B-95B3A73431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5467086"/>
                  </p:ext>
                </p:extLst>
              </p:nvPr>
            </p:nvGraphicFramePr>
            <p:xfrm>
              <a:off x="3237521" y="2759481"/>
              <a:ext cx="8128003" cy="1158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5231">
                      <a:extLst>
                        <a:ext uri="{9D8B030D-6E8A-4147-A177-3AD203B41FA5}">
                          <a16:colId xmlns:a16="http://schemas.microsoft.com/office/drawing/2014/main" val="1595431659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3945566891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1675408667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948630812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3119641082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1458711976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1571209448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2676329343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1549149735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1980454340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336925152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2553295499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253375971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-5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-3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n-US" altLang="zh-CN" sz="3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+2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+4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+5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3805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51792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46D526AA-6E1B-4012-B51B-95B3A73431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5467086"/>
                  </p:ext>
                </p:extLst>
              </p:nvPr>
            </p:nvGraphicFramePr>
            <p:xfrm>
              <a:off x="3237521" y="2759481"/>
              <a:ext cx="8128003" cy="1158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5231">
                      <a:extLst>
                        <a:ext uri="{9D8B030D-6E8A-4147-A177-3AD203B41FA5}">
                          <a16:colId xmlns:a16="http://schemas.microsoft.com/office/drawing/2014/main" val="1595431659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3945566891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1675408667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948630812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3119641082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1458711976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1571209448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2676329343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1549149735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1980454340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336925152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2553295499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2533759711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-5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-3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604902" t="-13542" r="-607843" b="-101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+2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+4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+5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3805387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517923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A07ADD61-6D29-433A-89AC-9D44227751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19642"/>
              </p:ext>
            </p:extLst>
          </p:nvPr>
        </p:nvGraphicFramePr>
        <p:xfrm>
          <a:off x="736600" y="2790092"/>
          <a:ext cx="2235200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200">
                  <a:extLst>
                    <a:ext uri="{9D8B030D-6E8A-4147-A177-3AD203B41FA5}">
                      <a16:colId xmlns:a16="http://schemas.microsoft.com/office/drawing/2014/main" val="30954634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哈希表地址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871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哈希表数据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239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00881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16D8AC-2655-4089-ABB7-A847F312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处理哈希冲突：链地址法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B4E573-F9F9-4F0A-9AE9-3412D5265B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b="0" dirty="0"/>
              <a:t>将所有哈希地址为 </a:t>
            </a:r>
            <a:r>
              <a:rPr lang="en-US" altLang="zh-CN" b="0" dirty="0" err="1"/>
              <a:t>i</a:t>
            </a:r>
            <a:r>
              <a:rPr lang="en-US" altLang="zh-CN" b="0" dirty="0"/>
              <a:t> </a:t>
            </a:r>
            <a:r>
              <a:rPr lang="zh-CN" altLang="en-US" b="0" dirty="0"/>
              <a:t>的元素构成一个链表，链表的头指针存放在哈希表的第 </a:t>
            </a:r>
            <a:r>
              <a:rPr lang="en-US" altLang="zh-CN" b="0" dirty="0" err="1"/>
              <a:t>i</a:t>
            </a:r>
            <a:r>
              <a:rPr lang="en-US" altLang="zh-CN" b="0" dirty="0"/>
              <a:t> </a:t>
            </a:r>
            <a:r>
              <a:rPr lang="zh-CN" altLang="en-US" b="0" dirty="0"/>
              <a:t>个单元中。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9BDDD27-FDA0-4812-8DED-C04880AA27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407885"/>
            <a:ext cx="4572000" cy="5145315"/>
          </a:xfrm>
        </p:spPr>
      </p:pic>
    </p:spTree>
    <p:extLst>
      <p:ext uri="{BB962C8B-B14F-4D97-AF65-F5344CB8AC3E}">
        <p14:creationId xmlns:p14="http://schemas.microsoft.com/office/powerpoint/2010/main" val="36193390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72CDD8-9BF8-40A1-9C7E-33B21D159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处理哈希冲突：再哈希法和建立溢出区法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7EAC58C-80F3-4F35-86DE-FC8C088233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再哈希法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构造多个不同的哈希函数：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发生冲突时，计算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，如果再冲突，再计算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，如此进行，直到不冲突为止。</a:t>
                </a:r>
                <a:endParaRPr lang="en-US" altLang="zh-CN" dirty="0"/>
              </a:p>
              <a:p>
                <a:r>
                  <a:rPr lang="zh-CN" altLang="en-US" dirty="0"/>
                  <a:t>建立溢出区法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将哈希表分为基本表和溢出表；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凡是和基本表发生冲突的数据元素一律放入溢出表。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7EAC58C-80F3-4F35-86DE-FC8C088233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07216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ACC38D-5C5B-4ABD-AD83-DD7D95565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哈希表的查找性能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25311D-E8DF-4DE8-A3DE-F6A11A182D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哈希表的查找性能取决于三个因素：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哈希函数；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处理冲突的方法；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装填因子 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哈希表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中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已有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的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记录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数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哈希表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的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长度</m:t>
                        </m:r>
                      </m:den>
                    </m:f>
                  </m:oMath>
                </a14:m>
                <a:r>
                  <a:rPr lang="zh-CN" altLang="en-US" dirty="0"/>
                  <a:t>，表示装满程度。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25311D-E8DF-4DE8-A3DE-F6A11A182D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82136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64017C-55E6-4B59-ABFB-1DE9B0BE7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哈希表的平均查找长度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8">
                <a:extLst>
                  <a:ext uri="{FF2B5EF4-FFF2-40B4-BE49-F238E27FC236}">
                    <a16:creationId xmlns:a16="http://schemas.microsoft.com/office/drawing/2014/main" id="{800960DD-713C-407D-8136-F51EB56F708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26610972"/>
                  </p:ext>
                </p:extLst>
              </p:nvPr>
            </p:nvGraphicFramePr>
            <p:xfrm>
              <a:off x="1295400" y="1295400"/>
              <a:ext cx="9601200" cy="53110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00600">
                      <a:extLst>
                        <a:ext uri="{9D8B030D-6E8A-4147-A177-3AD203B41FA5}">
                          <a16:colId xmlns:a16="http://schemas.microsoft.com/office/drawing/2014/main" val="3624700587"/>
                        </a:ext>
                      </a:extLst>
                    </a:gridCol>
                    <a:gridCol w="4800600">
                      <a:extLst>
                        <a:ext uri="{9D8B030D-6E8A-4147-A177-3AD203B41FA5}">
                          <a16:colId xmlns:a16="http://schemas.microsoft.com/office/drawing/2014/main" val="206011985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处理哈希冲突的</a:t>
                          </a:r>
                          <a:endParaRPr lang="en-US" altLang="zh-CN" sz="3200" b="1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方法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查找成功时的</a:t>
                          </a:r>
                          <a:endParaRPr lang="en-US" altLang="zh-CN" sz="3200" b="1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平均查找长度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347961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线性探测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≈</m:t>
                                </m:r>
                                <m:f>
                                  <m:fPr>
                                    <m:ctrlPr>
                                      <a:rPr lang="en-US" altLang="zh-CN" sz="32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32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CN" sz="32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altLang="zh-CN" sz="32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1+</m:t>
                                    </m:r>
                                    <m:f>
                                      <m:fPr>
                                        <m:ctrlPr>
                                          <a:rPr lang="en-US" altLang="zh-CN" sz="32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1−</m:t>
                                        </m:r>
                                        <m:r>
                                          <a:rPr lang="zh-CN" altLang="en-US" sz="32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𝛼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165771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二次探测</a:t>
                          </a:r>
                          <a:endParaRPr lang="en-US" altLang="zh-CN" sz="32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伪随机探测</a:t>
                          </a:r>
                          <a:endParaRPr lang="en-US" altLang="zh-CN" sz="32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再哈希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≈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32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2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altLang="en-US" sz="32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𝛼</m:t>
                                    </m:r>
                                  </m:den>
                                </m:f>
                                <m:func>
                                  <m:funcPr>
                                    <m:ctrlPr>
                                      <a:rPr lang="en-US" altLang="zh-CN" sz="32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b="0" i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CN" sz="32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1−</m:t>
                                        </m:r>
                                        <m:r>
                                          <a:rPr lang="zh-CN" altLang="en-US" sz="32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𝛼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02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链地址法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≈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en-US" altLang="zh-CN" sz="32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32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CN" sz="32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618297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algn="l"/>
                          <a:r>
                            <a:rPr lang="zh-CN" altLang="en-US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设哈希函数是均匀的，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32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𝜶</m:t>
                              </m:r>
                            </m:oMath>
                          </a14:m>
                          <a:r>
                            <a:rPr lang="zh-CN" altLang="en-US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是装填因子。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36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362948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8">
                <a:extLst>
                  <a:ext uri="{FF2B5EF4-FFF2-40B4-BE49-F238E27FC236}">
                    <a16:creationId xmlns:a16="http://schemas.microsoft.com/office/drawing/2014/main" id="{800960DD-713C-407D-8136-F51EB56F708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26610972"/>
                  </p:ext>
                </p:extLst>
              </p:nvPr>
            </p:nvGraphicFramePr>
            <p:xfrm>
              <a:off x="1295400" y="1295400"/>
              <a:ext cx="9601200" cy="53110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00600">
                      <a:extLst>
                        <a:ext uri="{9D8B030D-6E8A-4147-A177-3AD203B41FA5}">
                          <a16:colId xmlns:a16="http://schemas.microsoft.com/office/drawing/2014/main" val="3624700587"/>
                        </a:ext>
                      </a:extLst>
                    </a:gridCol>
                    <a:gridCol w="4800600">
                      <a:extLst>
                        <a:ext uri="{9D8B030D-6E8A-4147-A177-3AD203B41FA5}">
                          <a16:colId xmlns:a16="http://schemas.microsoft.com/office/drawing/2014/main" val="2060119859"/>
                        </a:ext>
                      </a:extLst>
                    </a:gridCol>
                  </a:tblGrid>
                  <a:tr h="1066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处理哈希冲突的</a:t>
                          </a:r>
                          <a:endParaRPr lang="en-US" altLang="zh-CN" sz="3200" b="1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方法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查找成功时的</a:t>
                          </a:r>
                          <a:endParaRPr lang="en-US" altLang="zh-CN" sz="3200" b="1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平均查找长度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34796124"/>
                      </a:ext>
                    </a:extLst>
                  </a:tr>
                  <a:tr h="11872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线性探测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127" t="-95897" r="-254" b="-2743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6577180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二次探测</a:t>
                          </a:r>
                          <a:endParaRPr lang="en-US" altLang="zh-CN" sz="32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伪随机探测</a:t>
                          </a:r>
                          <a:endParaRPr lang="en-US" altLang="zh-CN" sz="32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再哈希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127" t="-149804" r="-254" b="-1098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30264"/>
                      </a:ext>
                    </a:extLst>
                  </a:tr>
                  <a:tr h="9233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链地址法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127" t="-419079" r="-254" b="-84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618297"/>
                      </a:ext>
                    </a:extLst>
                  </a:tr>
                  <a:tr h="579120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3" t="-830526" r="-127" b="-3473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36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362948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188883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DDCFB-8E49-4F64-B0B6-D8C3F3EE0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计算平均查找长度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53769E5-EF0E-4A4E-A8E1-838C6BECCF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0" dirty="0"/>
                  <a:t>已知一组关键字：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zh-CN" altLang="en-US" b="0" dirty="0"/>
                  <a:t>   哈希函数：</a:t>
                </a:r>
                <a:r>
                  <a:rPr lang="en-US" altLang="zh-CN" dirty="0"/>
                  <a:t>H(key)=key % 17</a:t>
                </a:r>
                <a:r>
                  <a:rPr lang="zh-CN" altLang="en-US" b="0" dirty="0"/>
                  <a:t>；按</a:t>
                </a:r>
                <a:r>
                  <a:rPr lang="zh-CN" altLang="en-US" dirty="0"/>
                  <a:t>线性探测</a:t>
                </a:r>
                <a:r>
                  <a:rPr lang="zh-CN" altLang="en-US" b="0" dirty="0"/>
                  <a:t>处理冲突。</a:t>
                </a:r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r>
                  <a:rPr lang="zh-CN" altLang="en-US" b="0" dirty="0"/>
                  <a:t>平均查找长度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×9+2×2+3×1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1.33</m:t>
                    </m:r>
                  </m:oMath>
                </a14:m>
                <a:endParaRPr lang="zh-CN" altLang="en-US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53769E5-EF0E-4A4E-A8E1-838C6BECCF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234ACFEC-2808-44A4-8633-254BA46D9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531474"/>
              </p:ext>
            </p:extLst>
          </p:nvPr>
        </p:nvGraphicFramePr>
        <p:xfrm>
          <a:off x="3886200" y="1447800"/>
          <a:ext cx="800100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0">
                  <a:extLst>
                    <a:ext uri="{9D8B030D-6E8A-4147-A177-3AD203B41FA5}">
                      <a16:colId xmlns:a16="http://schemas.microsoft.com/office/drawing/2014/main" val="2637754583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15625656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321155778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670581276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1311748399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1482369374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141887455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454405789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4059398908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3316845507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27023593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894468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19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14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23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68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36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84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27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55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11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10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</a:rPr>
                        <a:t>91</a:t>
                      </a:r>
                      <a:endParaRPr lang="zh-CN" altLang="en-US" sz="32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392929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1E943334-3285-4C08-952C-8A354A00D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598266"/>
              </p:ext>
            </p:extLst>
          </p:nvPr>
        </p:nvGraphicFramePr>
        <p:xfrm>
          <a:off x="0" y="3178984"/>
          <a:ext cx="16764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228447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2800" b="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哈希地址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672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2800" b="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哈希表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312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2800" b="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比较次数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268502"/>
                  </a:ext>
                </a:extLst>
              </a:tr>
            </a:tbl>
          </a:graphicData>
        </a:graphic>
      </p:graphicFrame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372B6EC7-1266-47B2-A94C-479C1145B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669215"/>
              </p:ext>
            </p:extLst>
          </p:nvPr>
        </p:nvGraphicFramePr>
        <p:xfrm>
          <a:off x="1676394" y="3093721"/>
          <a:ext cx="10287006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18">
                  <a:extLst>
                    <a:ext uri="{9D8B030D-6E8A-4147-A177-3AD203B41FA5}">
                      <a16:colId xmlns:a16="http://schemas.microsoft.com/office/drawing/2014/main" val="3844161566"/>
                    </a:ext>
                  </a:extLst>
                </a:gridCol>
                <a:gridCol w="605118">
                  <a:extLst>
                    <a:ext uri="{9D8B030D-6E8A-4147-A177-3AD203B41FA5}">
                      <a16:colId xmlns:a16="http://schemas.microsoft.com/office/drawing/2014/main" val="4244976743"/>
                    </a:ext>
                  </a:extLst>
                </a:gridCol>
                <a:gridCol w="605118">
                  <a:extLst>
                    <a:ext uri="{9D8B030D-6E8A-4147-A177-3AD203B41FA5}">
                      <a16:colId xmlns:a16="http://schemas.microsoft.com/office/drawing/2014/main" val="1419427440"/>
                    </a:ext>
                  </a:extLst>
                </a:gridCol>
                <a:gridCol w="605118">
                  <a:extLst>
                    <a:ext uri="{9D8B030D-6E8A-4147-A177-3AD203B41FA5}">
                      <a16:colId xmlns:a16="http://schemas.microsoft.com/office/drawing/2014/main" val="3088141739"/>
                    </a:ext>
                  </a:extLst>
                </a:gridCol>
                <a:gridCol w="605118">
                  <a:extLst>
                    <a:ext uri="{9D8B030D-6E8A-4147-A177-3AD203B41FA5}">
                      <a16:colId xmlns:a16="http://schemas.microsoft.com/office/drawing/2014/main" val="1122125239"/>
                    </a:ext>
                  </a:extLst>
                </a:gridCol>
                <a:gridCol w="605118">
                  <a:extLst>
                    <a:ext uri="{9D8B030D-6E8A-4147-A177-3AD203B41FA5}">
                      <a16:colId xmlns:a16="http://schemas.microsoft.com/office/drawing/2014/main" val="1742296346"/>
                    </a:ext>
                  </a:extLst>
                </a:gridCol>
                <a:gridCol w="605118">
                  <a:extLst>
                    <a:ext uri="{9D8B030D-6E8A-4147-A177-3AD203B41FA5}">
                      <a16:colId xmlns:a16="http://schemas.microsoft.com/office/drawing/2014/main" val="976892122"/>
                    </a:ext>
                  </a:extLst>
                </a:gridCol>
                <a:gridCol w="605118">
                  <a:extLst>
                    <a:ext uri="{9D8B030D-6E8A-4147-A177-3AD203B41FA5}">
                      <a16:colId xmlns:a16="http://schemas.microsoft.com/office/drawing/2014/main" val="2658440247"/>
                    </a:ext>
                  </a:extLst>
                </a:gridCol>
                <a:gridCol w="605118">
                  <a:extLst>
                    <a:ext uri="{9D8B030D-6E8A-4147-A177-3AD203B41FA5}">
                      <a16:colId xmlns:a16="http://schemas.microsoft.com/office/drawing/2014/main" val="868765919"/>
                    </a:ext>
                  </a:extLst>
                </a:gridCol>
                <a:gridCol w="605118">
                  <a:extLst>
                    <a:ext uri="{9D8B030D-6E8A-4147-A177-3AD203B41FA5}">
                      <a16:colId xmlns:a16="http://schemas.microsoft.com/office/drawing/2014/main" val="362232068"/>
                    </a:ext>
                  </a:extLst>
                </a:gridCol>
                <a:gridCol w="605118">
                  <a:extLst>
                    <a:ext uri="{9D8B030D-6E8A-4147-A177-3AD203B41FA5}">
                      <a16:colId xmlns:a16="http://schemas.microsoft.com/office/drawing/2014/main" val="3662419966"/>
                    </a:ext>
                  </a:extLst>
                </a:gridCol>
                <a:gridCol w="605118">
                  <a:extLst>
                    <a:ext uri="{9D8B030D-6E8A-4147-A177-3AD203B41FA5}">
                      <a16:colId xmlns:a16="http://schemas.microsoft.com/office/drawing/2014/main" val="836279571"/>
                    </a:ext>
                  </a:extLst>
                </a:gridCol>
                <a:gridCol w="605118">
                  <a:extLst>
                    <a:ext uri="{9D8B030D-6E8A-4147-A177-3AD203B41FA5}">
                      <a16:colId xmlns:a16="http://schemas.microsoft.com/office/drawing/2014/main" val="803225639"/>
                    </a:ext>
                  </a:extLst>
                </a:gridCol>
                <a:gridCol w="605118">
                  <a:extLst>
                    <a:ext uri="{9D8B030D-6E8A-4147-A177-3AD203B41FA5}">
                      <a16:colId xmlns:a16="http://schemas.microsoft.com/office/drawing/2014/main" val="4153702270"/>
                    </a:ext>
                  </a:extLst>
                </a:gridCol>
                <a:gridCol w="605118">
                  <a:extLst>
                    <a:ext uri="{9D8B030D-6E8A-4147-A177-3AD203B41FA5}">
                      <a16:colId xmlns:a16="http://schemas.microsoft.com/office/drawing/2014/main" val="625190952"/>
                    </a:ext>
                  </a:extLst>
                </a:gridCol>
                <a:gridCol w="605118">
                  <a:extLst>
                    <a:ext uri="{9D8B030D-6E8A-4147-A177-3AD203B41FA5}">
                      <a16:colId xmlns:a16="http://schemas.microsoft.com/office/drawing/2014/main" val="3370238004"/>
                    </a:ext>
                  </a:extLst>
                </a:gridCol>
                <a:gridCol w="605118">
                  <a:extLst>
                    <a:ext uri="{9D8B030D-6E8A-4147-A177-3AD203B41FA5}">
                      <a16:colId xmlns:a16="http://schemas.microsoft.com/office/drawing/2014/main" val="1350126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6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7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8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9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10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11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12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13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14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15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16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455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bg1"/>
                          </a:solidFill>
                        </a:rPr>
                        <a:t>68</a:t>
                      </a:r>
                      <a:endParaRPr lang="zh-CN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zh-CN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FFFF00"/>
                          </a:solidFill>
                        </a:rPr>
                        <a:t>36</a:t>
                      </a:r>
                      <a:endParaRPr lang="zh-CN" altLang="en-US" sz="3200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bg1"/>
                          </a:solidFill>
                        </a:rPr>
                        <a:t>55</a:t>
                      </a:r>
                      <a:endParaRPr lang="zh-CN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FFFF00"/>
                          </a:solidFill>
                        </a:rPr>
                        <a:t>91</a:t>
                      </a:r>
                      <a:endParaRPr lang="zh-CN" altLang="en-US" sz="3200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bg1"/>
                          </a:solidFill>
                        </a:rPr>
                        <a:t>27</a:t>
                      </a:r>
                      <a:endParaRPr lang="zh-CN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zh-CN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FFFF00"/>
                          </a:solidFill>
                        </a:rPr>
                        <a:t>10</a:t>
                      </a:r>
                      <a:endParaRPr lang="zh-CN" altLang="en-US" sz="3200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zh-CN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bg1"/>
                          </a:solidFill>
                        </a:rPr>
                        <a:t>84</a:t>
                      </a:r>
                      <a:endParaRPr lang="zh-CN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219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zh-CN" altLang="en-US" sz="32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371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911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A3880-20CB-430B-BCB7-DB8760443A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9600" dirty="0"/>
              <a:t>Thanks</a:t>
            </a:r>
            <a:endParaRPr lang="zh-CN" altLang="en-US" sz="96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CAD1061-F30E-4772-8876-E95D087407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9600" dirty="0"/>
              <a:t>Questions</a:t>
            </a:r>
            <a:endParaRPr lang="zh-CN" altLang="en-US" sz="9600" dirty="0"/>
          </a:p>
        </p:txBody>
      </p:sp>
    </p:spTree>
    <p:extLst>
      <p:ext uri="{BB962C8B-B14F-4D97-AF65-F5344CB8AC3E}">
        <p14:creationId xmlns:p14="http://schemas.microsoft.com/office/powerpoint/2010/main" val="1819622574"/>
      </p:ext>
    </p:extLst>
  </p:cSld>
  <p:clrMapOvr>
    <a:masterClrMapping/>
  </p:clrMapOvr>
</p:sld>
</file>

<file path=ppt/theme/theme1.xml><?xml version="1.0" encoding="utf-8"?>
<a:theme xmlns:a="http://schemas.openxmlformats.org/drawingml/2006/main" name="tm2">
  <a:themeElements>
    <a:clrScheme name="tm2 5">
      <a:dk1>
        <a:srgbClr val="000000"/>
      </a:dk1>
      <a:lt1>
        <a:srgbClr val="FFFFFF"/>
      </a:lt1>
      <a:dk2>
        <a:srgbClr val="000000"/>
      </a:dk2>
      <a:lt2>
        <a:srgbClr val="9F9F9F"/>
      </a:lt2>
      <a:accent1>
        <a:srgbClr val="FFCC66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E2B8"/>
      </a:accent5>
      <a:accent6>
        <a:srgbClr val="0000E7"/>
      </a:accent6>
      <a:hlink>
        <a:srgbClr val="CC00CC"/>
      </a:hlink>
      <a:folHlink>
        <a:srgbClr val="C0C0C0"/>
      </a:folHlink>
    </a:clrScheme>
    <a:fontScheme name="tm2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sm" len="sm"/>
          <a:tailEnd type="arrow"/>
        </a:ln>
        <a:effectLst/>
      </a:spPr>
      <a:bodyPr/>
      <a:lstStyle/>
    </a:lnDef>
  </a:objectDefaults>
  <a:extraClrSchemeLst>
    <a:extraClrScheme>
      <a:clrScheme name="tm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m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10934</TotalTime>
  <Words>4107</Words>
  <Application>Microsoft Office PowerPoint</Application>
  <PresentationFormat>宽屏</PresentationFormat>
  <Paragraphs>737</Paragraphs>
  <Slides>59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66" baseType="lpstr">
      <vt:lpstr>微软雅黑</vt:lpstr>
      <vt:lpstr>Arial</vt:lpstr>
      <vt:lpstr>Calibri</vt:lpstr>
      <vt:lpstr>Cambria Math</vt:lpstr>
      <vt:lpstr>Times New Roman</vt:lpstr>
      <vt:lpstr>Wingdings</vt:lpstr>
      <vt:lpstr>tm2</vt:lpstr>
      <vt:lpstr>第八章  查找</vt:lpstr>
      <vt:lpstr>查找的概念</vt:lpstr>
      <vt:lpstr>顺序查找</vt:lpstr>
      <vt:lpstr>二分查找</vt:lpstr>
      <vt:lpstr>二分查找的性能分析</vt:lpstr>
      <vt:lpstr>对二分查找的评价</vt:lpstr>
      <vt:lpstr>分块查找</vt:lpstr>
      <vt:lpstr>基于二叉树的查找</vt:lpstr>
      <vt:lpstr>二叉排序树的查找</vt:lpstr>
      <vt:lpstr>二叉排序树的插入</vt:lpstr>
      <vt:lpstr>二叉排序树的删除</vt:lpstr>
      <vt:lpstr>二叉排序树的删除(接上)</vt:lpstr>
      <vt:lpstr>二叉排序树的删除(接上)</vt:lpstr>
      <vt:lpstr>平衡二叉树</vt:lpstr>
      <vt:lpstr>平衡二叉树类型的定义</vt:lpstr>
      <vt:lpstr>平衡二叉树的插入</vt:lpstr>
      <vt:lpstr>失衡子树的调整-LL型</vt:lpstr>
      <vt:lpstr>失衡子树的调整-RR型</vt:lpstr>
      <vt:lpstr>失衡子树的调整-LR型</vt:lpstr>
      <vt:lpstr>失衡子树的调整-RL型</vt:lpstr>
      <vt:lpstr>平衡二叉树插入算法的基本思想</vt:lpstr>
      <vt:lpstr>平衡二叉树插入的实现-1/8</vt:lpstr>
      <vt:lpstr>平衡二叉树插入的实现-2/8</vt:lpstr>
      <vt:lpstr>平衡二叉树插入的实现-3/8</vt:lpstr>
      <vt:lpstr>平衡二叉树插入的实现-4/8</vt:lpstr>
      <vt:lpstr>平衡二叉树插入的实现-5/8</vt:lpstr>
      <vt:lpstr>平衡二叉树插入的实现-6/8</vt:lpstr>
      <vt:lpstr>平衡二叉树插入的实现-7/8</vt:lpstr>
      <vt:lpstr>平衡二叉树插入的实现-8/8</vt:lpstr>
      <vt:lpstr>平衡二叉树的删除</vt:lpstr>
      <vt:lpstr>平衡多叉查找树：B树(Balanced Tree) [R. Bayer and E. McCreight, 1970]</vt:lpstr>
      <vt:lpstr>一棵3叉的B树</vt:lpstr>
      <vt:lpstr>M叉B树的查找性能</vt:lpstr>
      <vt:lpstr>理解B树</vt:lpstr>
      <vt:lpstr>认识磁盘</vt:lpstr>
      <vt:lpstr>磁盘和B树</vt:lpstr>
      <vt:lpstr>B树的插入</vt:lpstr>
      <vt:lpstr>用插入的方法构建B树</vt:lpstr>
      <vt:lpstr>用插入的方法构建B树(接上)</vt:lpstr>
      <vt:lpstr>用插入的方法 构建B树(接上)</vt:lpstr>
      <vt:lpstr>插入算法和B树的定义</vt:lpstr>
      <vt:lpstr>B+树</vt:lpstr>
      <vt:lpstr>一棵3阶的B+树</vt:lpstr>
      <vt:lpstr>B+树相对于B树的优点</vt:lpstr>
      <vt:lpstr>B+树类型的一种定义-1/2</vt:lpstr>
      <vt:lpstr>B+树类型的一种定义-2/2</vt:lpstr>
      <vt:lpstr>计算式查找</vt:lpstr>
      <vt:lpstr>哈希法</vt:lpstr>
      <vt:lpstr>构造哈希函数： 数字分析法</vt:lpstr>
      <vt:lpstr>构造哈希函数： 平方取中法</vt:lpstr>
      <vt:lpstr>构造哈希函数： 分段叠加法</vt:lpstr>
      <vt:lpstr>构造哈希函数：除留余数法和伪随机数法</vt:lpstr>
      <vt:lpstr>处理哈希冲突：开放定址法</vt:lpstr>
      <vt:lpstr>处理哈希冲突：链地址法</vt:lpstr>
      <vt:lpstr>处理哈希冲突：再哈希法和建立溢出区法</vt:lpstr>
      <vt:lpstr>哈希表的查找性能</vt:lpstr>
      <vt:lpstr>哈希表的平均查找长度</vt:lpstr>
      <vt:lpstr>计算平均查找长度</vt:lpstr>
      <vt:lpstr>Thanks</vt:lpstr>
    </vt:vector>
  </TitlesOfParts>
  <Company>Publication Services,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K. N. King</dc:creator>
  <cp:lastModifiedBy>zhangxue@uestc.edu.cn</cp:lastModifiedBy>
  <cp:revision>1400</cp:revision>
  <cp:lastPrinted>2024-02-25T10:06:56Z</cp:lastPrinted>
  <dcterms:created xsi:type="dcterms:W3CDTF">1999-08-24T18:39:05Z</dcterms:created>
  <dcterms:modified xsi:type="dcterms:W3CDTF">2025-02-26T00:58:29Z</dcterms:modified>
</cp:coreProperties>
</file>