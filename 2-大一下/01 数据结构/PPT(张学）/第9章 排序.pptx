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0" r:id="rId1"/>
  </p:sldMasterIdLst>
  <p:notesMasterIdLst>
    <p:notesMasterId r:id="rId67"/>
  </p:notesMasterIdLst>
  <p:handoutMasterIdLst>
    <p:handoutMasterId r:id="rId68"/>
  </p:handoutMasterIdLst>
  <p:sldIdLst>
    <p:sldId id="263" r:id="rId2"/>
    <p:sldId id="268" r:id="rId3"/>
    <p:sldId id="266" r:id="rId4"/>
    <p:sldId id="267" r:id="rId5"/>
    <p:sldId id="269" r:id="rId6"/>
    <p:sldId id="270" r:id="rId7"/>
    <p:sldId id="272" r:id="rId8"/>
    <p:sldId id="273" r:id="rId9"/>
    <p:sldId id="286" r:id="rId10"/>
    <p:sldId id="274" r:id="rId11"/>
    <p:sldId id="277" r:id="rId12"/>
    <p:sldId id="278" r:id="rId13"/>
    <p:sldId id="279" r:id="rId14"/>
    <p:sldId id="325" r:id="rId15"/>
    <p:sldId id="275" r:id="rId16"/>
    <p:sldId id="280" r:id="rId17"/>
    <p:sldId id="281" r:id="rId18"/>
    <p:sldId id="282" r:id="rId19"/>
    <p:sldId id="283" r:id="rId20"/>
    <p:sldId id="328" r:id="rId21"/>
    <p:sldId id="329" r:id="rId22"/>
    <p:sldId id="276" r:id="rId23"/>
    <p:sldId id="285" r:id="rId24"/>
    <p:sldId id="284" r:id="rId25"/>
    <p:sldId id="287" r:id="rId26"/>
    <p:sldId id="288" r:id="rId27"/>
    <p:sldId id="289" r:id="rId28"/>
    <p:sldId id="290" r:id="rId29"/>
    <p:sldId id="291" r:id="rId30"/>
    <p:sldId id="292" r:id="rId31"/>
    <p:sldId id="293" r:id="rId32"/>
    <p:sldId id="294" r:id="rId33"/>
    <p:sldId id="295" r:id="rId34"/>
    <p:sldId id="296" r:id="rId35"/>
    <p:sldId id="297" r:id="rId36"/>
    <p:sldId id="298" r:id="rId37"/>
    <p:sldId id="299" r:id="rId38"/>
    <p:sldId id="300" r:id="rId39"/>
    <p:sldId id="301" r:id="rId40"/>
    <p:sldId id="302" r:id="rId41"/>
    <p:sldId id="303" r:id="rId42"/>
    <p:sldId id="304" r:id="rId43"/>
    <p:sldId id="305" r:id="rId44"/>
    <p:sldId id="326" r:id="rId45"/>
    <p:sldId id="306" r:id="rId46"/>
    <p:sldId id="307" r:id="rId47"/>
    <p:sldId id="308" r:id="rId48"/>
    <p:sldId id="309" r:id="rId49"/>
    <p:sldId id="310" r:id="rId50"/>
    <p:sldId id="311" r:id="rId51"/>
    <p:sldId id="312" r:id="rId52"/>
    <p:sldId id="313" r:id="rId53"/>
    <p:sldId id="314" r:id="rId54"/>
    <p:sldId id="330" r:id="rId55"/>
    <p:sldId id="315" r:id="rId56"/>
    <p:sldId id="316" r:id="rId57"/>
    <p:sldId id="317" r:id="rId58"/>
    <p:sldId id="318" r:id="rId59"/>
    <p:sldId id="319" r:id="rId60"/>
    <p:sldId id="320" r:id="rId61"/>
    <p:sldId id="321" r:id="rId62"/>
    <p:sldId id="322" r:id="rId63"/>
    <p:sldId id="323" r:id="rId64"/>
    <p:sldId id="324" r:id="rId65"/>
    <p:sldId id="327" r:id="rId66"/>
  </p:sldIdLst>
  <p:sldSz cx="12192000" cy="6858000"/>
  <p:notesSz cx="6797675" cy="992822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FF7706"/>
    <a:srgbClr val="C6A02E"/>
    <a:srgbClr val="000066"/>
    <a:srgbClr val="990033"/>
    <a:srgbClr val="660033"/>
    <a:srgbClr val="B82F25"/>
    <a:srgbClr val="6DBFAB"/>
    <a:srgbClr val="FFAB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458" autoAdjust="0"/>
    <p:restoredTop sz="94660"/>
  </p:normalViewPr>
  <p:slideViewPr>
    <p:cSldViewPr>
      <p:cViewPr varScale="1">
        <p:scale>
          <a:sx n="85" d="100"/>
          <a:sy n="85" d="100"/>
        </p:scale>
        <p:origin x="523" y="5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46"/>
    </p:cViewPr>
  </p:sorterViewPr>
  <p:notesViewPr>
    <p:cSldViewPr>
      <p:cViewPr varScale="1">
        <p:scale>
          <a:sx n="39" d="100"/>
          <a:sy n="39" d="100"/>
        </p:scale>
        <p:origin x="2386" y="62"/>
      </p:cViewPr>
      <p:guideLst>
        <p:guide orient="horz" pos="3126"/>
        <p:guide pos="2141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238F26BC-7BC4-4E81-856A-C803AC3A2F6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122" cy="49743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D66C85D-8214-4E69-93B1-C7927D703D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011" y="0"/>
            <a:ext cx="2946122" cy="49743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16664E-1BF0-46AE-AAC0-8104A4986E05}" type="datetimeFigureOut">
              <a:rPr lang="zh-CN" altLang="en-US" smtClean="0"/>
              <a:t>2025/6/4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6825ABF-C6A2-43A4-994B-70B5FF6833C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30796"/>
            <a:ext cx="2946122" cy="49742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7813771-266C-4568-83F5-7D86B4D52A1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011" y="9430796"/>
            <a:ext cx="2946122" cy="49742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C5DD2-4AED-427E-8312-F2C1EDAA2E7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81277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122" cy="4957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013" tIns="46506" rIns="93013" bIns="46506" numCol="1" anchor="t" anchorCtr="0" compatLnSpc="1">
            <a:prstTxWarp prst="textNoShape">
              <a:avLst/>
            </a:prstTxWarp>
          </a:bodyPr>
          <a:lstStyle>
            <a:lvl1pPr defTabSz="930275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554" y="0"/>
            <a:ext cx="2946122" cy="4957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013" tIns="46506" rIns="93013" bIns="46506" numCol="1" anchor="t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78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" y="744538"/>
            <a:ext cx="6616700" cy="37226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974" y="4714549"/>
            <a:ext cx="4983728" cy="4468380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013" tIns="46506" rIns="93013" bIns="4650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0"/>
            <a:r>
              <a:rPr lang="en-US" noProof="0"/>
              <a:t>Second level</a:t>
            </a:r>
          </a:p>
          <a:p>
            <a:pPr lvl="0"/>
            <a:r>
              <a:rPr lang="en-US" noProof="0"/>
              <a:t>Third level</a:t>
            </a:r>
          </a:p>
          <a:p>
            <a:pPr lvl="0"/>
            <a:r>
              <a:rPr lang="en-US" noProof="0"/>
              <a:t>Fourth level</a:t>
            </a:r>
          </a:p>
          <a:p>
            <a:pPr lvl="0"/>
            <a:r>
              <a:rPr lang="en-US" noProof="0"/>
              <a:t>Fifth level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2493"/>
            <a:ext cx="2946122" cy="4957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013" tIns="46506" rIns="93013" bIns="46506" numCol="1" anchor="b" anchorCtr="0" compatLnSpc="1">
            <a:prstTxWarp prst="textNoShape">
              <a:avLst/>
            </a:prstTxWarp>
          </a:bodyPr>
          <a:lstStyle>
            <a:lvl1pPr defTabSz="930275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554" y="9432493"/>
            <a:ext cx="2946122" cy="49573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3013" tIns="46506" rIns="93013" bIns="46506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fld id="{B90D6BE3-42E0-4DA5-B156-66EF77FDC71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1905675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7756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sz="6000" b="1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第八章 查找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 sz="4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dirty="0"/>
              <a:t>张  学</a:t>
            </a:r>
            <a:endParaRPr lang="en-US" altLang="zh-CN" dirty="0"/>
          </a:p>
          <a:p>
            <a:r>
              <a:rPr lang="en-US" dirty="0"/>
              <a:t>zhangxue</a:t>
            </a:r>
            <a:r>
              <a:rPr lang="en-US" altLang="zh-CN" dirty="0"/>
              <a:t>@uestc.edu.cn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5330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38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 b="1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04800" y="1371600"/>
            <a:ext cx="11582400" cy="5181600"/>
          </a:xfrm>
        </p:spPr>
        <p:txBody>
          <a:bodyPr/>
          <a:lstStyle>
            <a:lvl1pPr marL="342900" indent="-342900">
              <a:lnSpc>
                <a:spcPct val="150000"/>
              </a:lnSpc>
              <a:spcBef>
                <a:spcPts val="0"/>
              </a:spcBef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lnSpc>
                <a:spcPct val="125000"/>
              </a:lnSpc>
              <a:spcBef>
                <a:spcPts val="0"/>
              </a:spcBef>
              <a:buSzPct val="60000"/>
              <a:buFont typeface="Wingdings" panose="05000000000000000000" pitchFamily="2" charset="2"/>
              <a:buChar char="u"/>
              <a:defRPr sz="32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85850" indent="-228600">
              <a:lnSpc>
                <a:spcPct val="120000"/>
              </a:lnSpc>
              <a:spcBef>
                <a:spcPts val="0"/>
              </a:spcBef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Ø"/>
              <a:defRPr sz="32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50000"/>
              </a:lnSpc>
              <a:spcBef>
                <a:spcPts val="600"/>
              </a:spcBef>
              <a:defRPr b="1">
                <a:solidFill>
                  <a:schemeClr val="accent6">
                    <a:lumMod val="75000"/>
                  </a:schemeClr>
                </a:solidFill>
              </a:defRPr>
            </a:lvl4pPr>
            <a:lvl5pPr>
              <a:lnSpc>
                <a:spcPct val="150000"/>
              </a:lnSpc>
              <a:spcBef>
                <a:spcPts val="600"/>
              </a:spcBef>
              <a:defRPr b="1">
                <a:solidFill>
                  <a:schemeClr val="accent6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693321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>
        <p:tmplLst>
          <p:tmpl lvl="1">
            <p:tnLst>
              <p:par>
                <p:cTn presetID="2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2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2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down)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400" b="1">
                <a:solidFill>
                  <a:srgbClr val="000066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04800" y="1524000"/>
            <a:ext cx="5689600" cy="4800600"/>
          </a:xfrm>
        </p:spPr>
        <p:txBody>
          <a:bodyPr/>
          <a:lstStyle>
            <a:lvl1pPr marL="342900" indent="-342900">
              <a:lnSpc>
                <a:spcPct val="125000"/>
              </a:lnSpc>
              <a:spcBef>
                <a:spcPts val="600"/>
              </a:spcBef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lnSpc>
                <a:spcPct val="125000"/>
              </a:lnSpc>
              <a:spcBef>
                <a:spcPts val="0"/>
              </a:spcBef>
              <a:buSzPct val="60000"/>
              <a:buFont typeface="Wingdings" panose="05000000000000000000" pitchFamily="2" charset="2"/>
              <a:buChar char="u"/>
              <a:defRPr sz="32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50000"/>
              </a:lnSpc>
              <a:spcBef>
                <a:spcPts val="600"/>
              </a:spcBef>
              <a:defRPr sz="2000" b="1">
                <a:solidFill>
                  <a:srgbClr val="000066"/>
                </a:solidFill>
              </a:defRPr>
            </a:lvl3pPr>
            <a:lvl4pPr>
              <a:lnSpc>
                <a:spcPct val="150000"/>
              </a:lnSpc>
              <a:spcBef>
                <a:spcPts val="600"/>
              </a:spcBef>
              <a:defRPr sz="1800" b="1">
                <a:solidFill>
                  <a:schemeClr val="accent6">
                    <a:lumMod val="75000"/>
                  </a:schemeClr>
                </a:solidFill>
              </a:defRPr>
            </a:lvl4pPr>
            <a:lvl5pPr>
              <a:lnSpc>
                <a:spcPct val="150000"/>
              </a:lnSpc>
              <a:spcBef>
                <a:spcPts val="600"/>
              </a:spcBef>
              <a:defRPr sz="1800" b="1">
                <a:solidFill>
                  <a:schemeClr val="accent6">
                    <a:lumMod val="75000"/>
                  </a:schemeClr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97600" y="1524000"/>
            <a:ext cx="5689600" cy="48006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>
              <a:lnSpc>
                <a:spcPct val="125000"/>
              </a:lnSpc>
              <a:buClr>
                <a:schemeClr val="accent2">
                  <a:lumMod val="75000"/>
                </a:schemeClr>
              </a:buClr>
              <a:buFont typeface="Wingdings" panose="05000000000000000000" pitchFamily="2" charset="2"/>
              <a:buChar char="n"/>
              <a:defRPr lang="en-US" sz="3200" b="1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742950" indent="-285750">
              <a:lnSpc>
                <a:spcPct val="125000"/>
              </a:lnSpc>
              <a:spcBef>
                <a:spcPts val="0"/>
              </a:spcBef>
              <a:buSzPct val="60000"/>
              <a:buFont typeface="Wingdings" panose="05000000000000000000" pitchFamily="2" charset="2"/>
              <a:buChar char="u"/>
              <a:defRPr lang="en-US" sz="3200" b="0" smtClean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lang="en-US" b="1" smtClean="0">
                <a:solidFill>
                  <a:srgbClr val="000066"/>
                </a:solidFill>
              </a:defRPr>
            </a:lvl3pPr>
            <a:lvl4pPr>
              <a:defRPr lang="en-US" sz="1800" b="1" smtClean="0">
                <a:solidFill>
                  <a:schemeClr val="accent6">
                    <a:lumMod val="75000"/>
                  </a:schemeClr>
                </a:solidFill>
              </a:defRPr>
            </a:lvl4pPr>
            <a:lvl5pPr>
              <a:defRPr lang="en-US" sz="1800" b="1">
                <a:solidFill>
                  <a:schemeClr val="accent6">
                    <a:lumMod val="75000"/>
                  </a:schemeClr>
                </a:solidFill>
              </a:defRPr>
            </a:lvl5pPr>
          </a:lstStyle>
          <a:p>
            <a:pPr lvl="0">
              <a:lnSpc>
                <a:spcPct val="150000"/>
              </a:lnSpc>
              <a:spcBef>
                <a:spcPts val="600"/>
              </a:spcBef>
            </a:pPr>
            <a:r>
              <a:rPr lang="en-US" dirty="0"/>
              <a:t>Click to edit Master text styles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en-US" dirty="0"/>
              <a:t>Second level</a:t>
            </a:r>
          </a:p>
          <a:p>
            <a:pPr lvl="2">
              <a:lnSpc>
                <a:spcPct val="150000"/>
              </a:lnSpc>
              <a:spcBef>
                <a:spcPts val="600"/>
              </a:spcBef>
            </a:pPr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724165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4" grpId="0" build="p" bldLvl="2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62599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6800" y="762000"/>
            <a:ext cx="2590800" cy="5562600"/>
          </a:xfrm>
        </p:spPr>
        <p:txBody>
          <a:bodyPr vert="eaVert"/>
          <a:lstStyle>
            <a:lvl1pPr>
              <a:defRPr>
                <a:solidFill>
                  <a:srgbClr val="990033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914400" y="762000"/>
            <a:ext cx="7569200" cy="5562600"/>
          </a:xfrm>
        </p:spPr>
        <p:txBody>
          <a:bodyPr vert="eaVert"/>
          <a:lstStyle>
            <a:lvl1pPr>
              <a:defRPr>
                <a:solidFill>
                  <a:srgbClr val="000066"/>
                </a:solidFill>
              </a:defRPr>
            </a:lvl1pPr>
            <a:lvl2pPr>
              <a:defRPr>
                <a:solidFill>
                  <a:srgbClr val="000066"/>
                </a:solidFill>
              </a:defRPr>
            </a:lvl2pPr>
            <a:lvl3pPr>
              <a:defRPr>
                <a:solidFill>
                  <a:srgbClr val="000066"/>
                </a:solidFill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401390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>
        <p:tmplLst>
          <p:tmpl lvl="1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2">
            <p:tnLst>
              <p:par>
                <p:cTn presetID="2" presetClass="entr" presetSubtype="4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  <p:tmpl lvl="3">
            <p:tnLst>
              <p:par>
                <p:cTn presetID="2" presetClass="entr" presetSubtype="4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 additive="base">
                        <p:cTn dur="500" fill="hold"/>
                        <p:tgtEl>
                          <p:spTgt spid="3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1+#ppt_h/2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200238" cy="6865023"/>
          </a:xfrm>
          <a:prstGeom prst="rect">
            <a:avLst/>
          </a:prstGeom>
        </p:spPr>
      </p:pic>
      <p:sp>
        <p:nvSpPr>
          <p:cNvPr id="1028" name="Rectangle 2"/>
          <p:cNvSpPr>
            <a:spLocks noGrp="1" noChangeArrowheads="1"/>
          </p:cNvSpPr>
          <p:nvPr userDrawn="1">
            <p:ph type="title"/>
          </p:nvPr>
        </p:nvSpPr>
        <p:spPr bwMode="auto">
          <a:xfrm>
            <a:off x="914400" y="533400"/>
            <a:ext cx="103632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1029" name="Rectangle 3"/>
          <p:cNvSpPr>
            <a:spLocks noGrp="1" noChangeArrowheads="1"/>
          </p:cNvSpPr>
          <p:nvPr userDrawn="1">
            <p:ph type="body" idx="1"/>
          </p:nvPr>
        </p:nvSpPr>
        <p:spPr bwMode="auto">
          <a:xfrm>
            <a:off x="304800" y="1371600"/>
            <a:ext cx="11480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>
              <a:lnSpc>
                <a:spcPct val="150000"/>
              </a:lnSpc>
              <a:spcBef>
                <a:spcPts val="600"/>
              </a:spcBef>
            </a:pPr>
            <a:r>
              <a:rPr lang="en-US" altLang="zh-CN" dirty="0"/>
              <a:t> Click to edit Master text styles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en-US" altLang="zh-CN" dirty="0"/>
              <a:t>Second level</a:t>
            </a:r>
          </a:p>
          <a:p>
            <a:pPr lvl="2">
              <a:lnSpc>
                <a:spcPct val="150000"/>
              </a:lnSpc>
              <a:spcBef>
                <a:spcPts val="600"/>
              </a:spcBef>
            </a:pPr>
            <a:r>
              <a:rPr lang="en-US" altLang="zh-CN" dirty="0"/>
              <a:t>Third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47" r:id="rId1"/>
    <p:sldLayoutId id="2147484048" r:id="rId2"/>
    <p:sldLayoutId id="2147484050" r:id="rId3"/>
    <p:sldLayoutId id="2147484053" r:id="rId4"/>
    <p:sldLayoutId id="2147484057" r:id="rId5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rgbClr val="990033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B82F25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B82F25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B82F25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B82F25"/>
          </a:solidFill>
          <a:latin typeface="Arial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7706"/>
          </a:solidFill>
          <a:latin typeface="Arial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7706"/>
          </a:solidFill>
          <a:latin typeface="Arial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7706"/>
          </a:solidFill>
          <a:latin typeface="Arial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7706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80000"/>
        <a:buFont typeface="Times New Roman" panose="02020603050405020304" pitchFamily="18" charset="0"/>
        <a:buChar char="☺"/>
        <a:defRPr lang="en-US" altLang="zh-CN" sz="2600" b="1" baseline="0" dirty="0" smtClean="0">
          <a:solidFill>
            <a:srgbClr val="000066"/>
          </a:solidFill>
          <a:latin typeface="+mn-ea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80000"/>
        <a:buFont typeface="Times New Roman" panose="02020603050405020304" pitchFamily="18" charset="0"/>
        <a:buChar char="♫"/>
        <a:defRPr lang="en-US" altLang="zh-CN" sz="2400" b="1" dirty="0" smtClean="0">
          <a:solidFill>
            <a:srgbClr val="000066"/>
          </a:solidFill>
          <a:latin typeface="+mn-ea"/>
          <a:ea typeface="+mn-ea"/>
        </a:defRPr>
      </a:lvl2pPr>
      <a:lvl3pPr marL="108585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80000"/>
        <a:buFont typeface="Wingdings" panose="05000000000000000000" pitchFamily="2" charset="2"/>
        <a:buChar char="Ø"/>
        <a:defRPr lang="en-US" altLang="zh-CN" sz="2200" b="1" dirty="0" smtClean="0">
          <a:solidFill>
            <a:srgbClr val="000066"/>
          </a:solidFill>
          <a:latin typeface="+mn-lt"/>
        </a:defRPr>
      </a:lvl3pPr>
      <a:lvl4pPr marL="1428750" indent="-228600" algn="l" rtl="0" eaLnBrk="0" fontAlgn="base" hangingPunct="0">
        <a:spcBef>
          <a:spcPct val="20000"/>
        </a:spcBef>
        <a:spcAft>
          <a:spcPct val="0"/>
        </a:spcAft>
        <a:buChar char="–"/>
        <a:defRPr lang="en-US" altLang="zh-CN" sz="2000" b="1" dirty="0" smtClean="0">
          <a:solidFill>
            <a:schemeClr val="accent6">
              <a:lumMod val="75000"/>
            </a:schemeClr>
          </a:solidFill>
          <a:latin typeface="+mn-lt"/>
        </a:defRPr>
      </a:lvl4pPr>
      <a:lvl5pPr marL="1771650" indent="-228600" algn="l" rtl="0" eaLnBrk="0" fontAlgn="base" hangingPunct="0">
        <a:spcBef>
          <a:spcPct val="20000"/>
        </a:spcBef>
        <a:spcAft>
          <a:spcPct val="0"/>
        </a:spcAft>
        <a:buChar char="•"/>
        <a:defRPr lang="en-US" altLang="zh-CN" sz="1600" b="1" dirty="0" smtClean="0">
          <a:solidFill>
            <a:schemeClr val="accent6">
              <a:lumMod val="75000"/>
            </a:schemeClr>
          </a:solidFill>
          <a:latin typeface="+mn-lt"/>
        </a:defRPr>
      </a:lvl5pPr>
      <a:lvl6pPr marL="222885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6pPr>
      <a:lvl7pPr marL="268605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7pPr>
      <a:lvl8pPr marL="314325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8pPr>
      <a:lvl9pPr marL="360045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9.jpg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71FFD2-C759-4331-B2C5-BD27D3F870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第九</a:t>
            </a:r>
            <a:r>
              <a:rPr lang="zh-CN" altLang="en-US"/>
              <a:t>章  排序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118536A-F4C9-408B-A1C2-8B253B477A1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/>
              <a:t>张  学</a:t>
            </a:r>
            <a:endParaRPr lang="en-US" altLang="zh-CN" dirty="0"/>
          </a:p>
          <a:p>
            <a:r>
              <a:rPr lang="en-US" altLang="zh-CN" dirty="0"/>
              <a:t>zhangxue@uestc.edu.cn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478163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0F29B7-532E-46CF-A62A-C3825C4E9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排序的基本概念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DF4FB1-AAAD-4D93-9231-19693FDF73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95400"/>
            <a:ext cx="11582400" cy="5181600"/>
          </a:xfrm>
        </p:spPr>
        <p:txBody>
          <a:bodyPr/>
          <a:lstStyle/>
          <a:p>
            <a:r>
              <a:rPr lang="zh-CN" altLang="en-US" dirty="0"/>
              <a:t>排序：</a:t>
            </a:r>
            <a:r>
              <a:rPr lang="zh-CN" altLang="en-US" b="0" dirty="0"/>
              <a:t>使数据按关键字有序，从小到大或从大到小。</a:t>
            </a:r>
            <a:endParaRPr lang="en-US" altLang="zh-CN" b="0" dirty="0"/>
          </a:p>
          <a:p>
            <a:r>
              <a:rPr lang="zh-CN" altLang="en-US" dirty="0"/>
              <a:t>内部排序和外部排序</a:t>
            </a:r>
            <a:endParaRPr lang="en-US" altLang="zh-CN" dirty="0"/>
          </a:p>
          <a:p>
            <a:pPr lvl="1"/>
            <a:r>
              <a:rPr lang="zh-CN" altLang="en-US" dirty="0"/>
              <a:t>内部排序：数据全在内存。</a:t>
            </a:r>
            <a:endParaRPr lang="en-US" altLang="zh-CN" dirty="0"/>
          </a:p>
          <a:p>
            <a:pPr lvl="1"/>
            <a:r>
              <a:rPr lang="zh-CN" altLang="en-US" dirty="0"/>
              <a:t>外部排序：数据量大，在外存上，只能部分调入内存。</a:t>
            </a:r>
            <a:endParaRPr lang="en-US" altLang="zh-CN" dirty="0"/>
          </a:p>
          <a:p>
            <a:pPr>
              <a:lnSpc>
                <a:spcPct val="125000"/>
              </a:lnSpc>
            </a:pPr>
            <a:r>
              <a:rPr lang="zh-CN" altLang="en-US" dirty="0"/>
              <a:t>主关键字和次关键字：</a:t>
            </a:r>
            <a:r>
              <a:rPr lang="zh-CN" altLang="en-US" b="0" dirty="0"/>
              <a:t>排序一般不要求关键字具有唯一性，有时需要多关键字排序。</a:t>
            </a:r>
            <a:endParaRPr lang="en-US" altLang="zh-CN" b="0" dirty="0"/>
          </a:p>
          <a:p>
            <a:pPr>
              <a:lnSpc>
                <a:spcPct val="125000"/>
              </a:lnSpc>
            </a:pPr>
            <a:r>
              <a:rPr lang="zh-CN" altLang="en-US" dirty="0"/>
              <a:t>排序的稳定性：</a:t>
            </a:r>
            <a:r>
              <a:rPr lang="zh-CN" altLang="en-US" b="0" dirty="0"/>
              <a:t>设</a:t>
            </a:r>
            <a:r>
              <a:rPr lang="en-US" altLang="zh-CN" b="0" dirty="0"/>
              <a:t>a=b</a:t>
            </a:r>
            <a:r>
              <a:rPr lang="zh-CN" altLang="en-US" b="0" dirty="0"/>
              <a:t>，排序前</a:t>
            </a:r>
            <a:r>
              <a:rPr lang="en-US" altLang="zh-CN" b="0" dirty="0"/>
              <a:t>a</a:t>
            </a:r>
            <a:r>
              <a:rPr lang="zh-CN" altLang="en-US" b="0" dirty="0"/>
              <a:t>在</a:t>
            </a:r>
            <a:r>
              <a:rPr lang="en-US" altLang="zh-CN" b="0" dirty="0"/>
              <a:t>b</a:t>
            </a:r>
            <a:r>
              <a:rPr lang="zh-CN" altLang="en-US" b="0" dirty="0"/>
              <a:t>的前面，若排序后</a:t>
            </a:r>
            <a:r>
              <a:rPr lang="en-US" altLang="zh-CN" b="0" dirty="0"/>
              <a:t>a</a:t>
            </a:r>
            <a:r>
              <a:rPr lang="zh-CN" altLang="en-US" b="0" dirty="0"/>
              <a:t>仍然总在</a:t>
            </a:r>
            <a:r>
              <a:rPr lang="en-US" altLang="zh-CN" b="0" dirty="0"/>
              <a:t>b</a:t>
            </a:r>
            <a:r>
              <a:rPr lang="zh-CN" altLang="en-US" b="0" dirty="0"/>
              <a:t>的前面，则称排序算法是稳定的，否则就是不稳定的。</a:t>
            </a:r>
          </a:p>
        </p:txBody>
      </p:sp>
    </p:spTree>
    <p:extLst>
      <p:ext uri="{BB962C8B-B14F-4D97-AF65-F5344CB8AC3E}">
        <p14:creationId xmlns:p14="http://schemas.microsoft.com/office/powerpoint/2010/main" val="3854050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9CADD8-6595-4A2D-8713-BBF58A882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插入类排序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7D7C868-3FD9-4EAB-918F-6256D5BFE4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基本思想</a:t>
                </a:r>
                <a:r>
                  <a:rPr lang="zh-CN" altLang="en-US" b="0" dirty="0"/>
                  <a:t>：把待排序记录一个一个地插入到已排序记录中。</a:t>
                </a:r>
                <a:endParaRPr lang="en-US" altLang="zh-CN" b="0" dirty="0"/>
              </a:p>
              <a:p>
                <a:r>
                  <a:rPr lang="zh-CN" altLang="en-US" dirty="0"/>
                  <a:t>具体算法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直接插入排序：通过顺序查找找到插入位置。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zh-CN" altLang="en-US" dirty="0"/>
                  <a:t>折半插入排序：通过折半查找找到插入位置。比较次数降至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，</a:t>
                </a:r>
                <a:r>
                  <a:rPr lang="zh-CN" altLang="en-US"/>
                  <a:t>但移动次数</a:t>
                </a:r>
                <a:r>
                  <a:rPr lang="zh-CN" altLang="en-US" dirty="0"/>
                  <a:t>一样，总时间还是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希尔排序：先将整个待排记录分成若干子序列，分别进行插入排序，待整个序列中的记录</a:t>
                </a:r>
                <a:r>
                  <a:rPr lang="zh-CN" altLang="en-US" b="1" dirty="0"/>
                  <a:t>基本有序</a:t>
                </a:r>
                <a:r>
                  <a:rPr lang="zh-CN" altLang="en-US" dirty="0"/>
                  <a:t>时，再对全体记录做一次直接插入排序。</a:t>
                </a:r>
                <a:endParaRPr lang="en-US" altLang="zh-CN" dirty="0"/>
              </a:p>
              <a:p>
                <a:pPr lvl="1"/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7D7C868-3FD9-4EAB-918F-6256D5BFE4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89" r="-737" b="-34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88243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E86370-70E5-4F79-9B95-7C63C15EC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希尔排序</a:t>
            </a:r>
            <a:r>
              <a:rPr lang="en-US" altLang="zh-CN" dirty="0"/>
              <a:t>[Donald Shell</a:t>
            </a:r>
            <a:r>
              <a:rPr lang="zh-CN" altLang="en-US" dirty="0"/>
              <a:t>，</a:t>
            </a:r>
            <a:r>
              <a:rPr lang="en-US" altLang="zh-CN" dirty="0"/>
              <a:t>1959]</a:t>
            </a:r>
            <a:endParaRPr lang="zh-CN" altLang="en-US" dirty="0"/>
          </a:p>
        </p:txBody>
      </p:sp>
      <p:graphicFrame>
        <p:nvGraphicFramePr>
          <p:cNvPr id="12" name="表格 12">
            <a:extLst>
              <a:ext uri="{FF2B5EF4-FFF2-40B4-BE49-F238E27FC236}">
                <a16:creationId xmlns:a16="http://schemas.microsoft.com/office/drawing/2014/main" id="{6318ABC9-DB0C-47FD-B3E8-E98BE2EA63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2448206"/>
              </p:ext>
            </p:extLst>
          </p:nvPr>
        </p:nvGraphicFramePr>
        <p:xfrm>
          <a:off x="304800" y="1371600"/>
          <a:ext cx="1158240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60800">
                  <a:extLst>
                    <a:ext uri="{9D8B030D-6E8A-4147-A177-3AD203B41FA5}">
                      <a16:colId xmlns:a16="http://schemas.microsoft.com/office/drawing/2014/main" val="3946629357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1733605501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450555340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3990021474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06810105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546495377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4083189321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3830293078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214063683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b="1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初始关键字序列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46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55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42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94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70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664417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3200" b="1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子序列间隔</a:t>
                      </a:r>
                      <a:r>
                        <a:rPr lang="en-US" altLang="zh-CN" sz="3200" b="1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d3=4</a:t>
                      </a:r>
                      <a:endParaRPr lang="zh-CN" altLang="en-US" sz="3200" b="1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rgbClr val="FF0000"/>
                          </a:solidFill>
                        </a:rPr>
                        <a:t>46</a:t>
                      </a:r>
                      <a:endParaRPr lang="zh-CN" altLang="en-US" sz="3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rgbClr val="006600"/>
                          </a:solidFill>
                        </a:rPr>
                        <a:t>55</a:t>
                      </a:r>
                      <a:endParaRPr lang="zh-CN" altLang="en-US" sz="3200" b="1" dirty="0">
                        <a:solidFill>
                          <a:srgbClr val="006600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accent2"/>
                          </a:solidFill>
                        </a:rPr>
                        <a:t>13</a:t>
                      </a:r>
                      <a:endParaRPr lang="zh-CN" altLang="en-US" sz="3200" b="1" dirty="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rgbClr val="7030A0"/>
                          </a:solidFill>
                        </a:rPr>
                        <a:t>42</a:t>
                      </a:r>
                      <a:endParaRPr lang="zh-CN" altLang="en-US" sz="3200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rgbClr val="FF0000"/>
                          </a:solidFill>
                        </a:rPr>
                        <a:t>94</a:t>
                      </a:r>
                      <a:endParaRPr lang="zh-CN" altLang="en-US" sz="3200" b="1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rgbClr val="006600"/>
                          </a:solidFill>
                        </a:rPr>
                        <a:t>17</a:t>
                      </a:r>
                      <a:endParaRPr lang="zh-CN" altLang="en-US" sz="3200" b="1" dirty="0">
                        <a:solidFill>
                          <a:srgbClr val="006600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accent2"/>
                          </a:solidFill>
                        </a:rPr>
                        <a:t>5</a:t>
                      </a:r>
                      <a:endParaRPr lang="zh-CN" altLang="en-US" sz="3200" b="1" dirty="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rgbClr val="7030A0"/>
                          </a:solidFill>
                        </a:rPr>
                        <a:t>70</a:t>
                      </a:r>
                      <a:endParaRPr lang="zh-CN" altLang="en-US" sz="3200" b="1" dirty="0">
                        <a:solidFill>
                          <a:srgbClr val="7030A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72661009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zh-CN" altLang="en-US" sz="32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46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42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94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55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70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772146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3200" b="1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子序列间隔</a:t>
                      </a:r>
                      <a:r>
                        <a:rPr lang="en-US" altLang="zh-CN" sz="3200" b="1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d2=2</a:t>
                      </a:r>
                      <a:endParaRPr lang="zh-CN" altLang="en-US" sz="3200" b="1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rgbClr val="FF7706"/>
                          </a:solidFill>
                        </a:rPr>
                        <a:t>46</a:t>
                      </a:r>
                      <a:endParaRPr lang="zh-CN" altLang="en-US" sz="3200" b="1" dirty="0">
                        <a:solidFill>
                          <a:srgbClr val="FF7706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rgbClr val="00B0F0"/>
                          </a:solidFill>
                        </a:rPr>
                        <a:t>17</a:t>
                      </a:r>
                      <a:endParaRPr lang="zh-CN" altLang="en-US" sz="3200" b="1" dirty="0">
                        <a:solidFill>
                          <a:srgbClr val="00B0F0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rgbClr val="FF7706"/>
                          </a:solidFill>
                        </a:rPr>
                        <a:t>5</a:t>
                      </a:r>
                      <a:endParaRPr lang="zh-CN" altLang="en-US" sz="3200" b="1" dirty="0">
                        <a:solidFill>
                          <a:srgbClr val="FF7706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rgbClr val="00B0F0"/>
                          </a:solidFill>
                        </a:rPr>
                        <a:t>42</a:t>
                      </a:r>
                      <a:endParaRPr lang="zh-CN" altLang="en-US" sz="3200" b="1" dirty="0">
                        <a:solidFill>
                          <a:srgbClr val="00B0F0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rgbClr val="FF7706"/>
                          </a:solidFill>
                        </a:rPr>
                        <a:t>94</a:t>
                      </a:r>
                      <a:endParaRPr lang="zh-CN" altLang="en-US" sz="3200" b="1" dirty="0">
                        <a:solidFill>
                          <a:srgbClr val="FF7706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rgbClr val="00B0F0"/>
                          </a:solidFill>
                        </a:rPr>
                        <a:t>55</a:t>
                      </a:r>
                      <a:endParaRPr lang="zh-CN" altLang="en-US" sz="3200" b="1" dirty="0">
                        <a:solidFill>
                          <a:srgbClr val="00B0F0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rgbClr val="FF7706"/>
                          </a:solidFill>
                        </a:rPr>
                        <a:t>13</a:t>
                      </a:r>
                      <a:endParaRPr lang="zh-CN" altLang="en-US" sz="3200" b="1" dirty="0">
                        <a:solidFill>
                          <a:srgbClr val="FF7706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rgbClr val="00B0F0"/>
                          </a:solidFill>
                        </a:rPr>
                        <a:t>70</a:t>
                      </a:r>
                      <a:endParaRPr lang="zh-CN" altLang="en-US" sz="3200" b="1" dirty="0">
                        <a:solidFill>
                          <a:srgbClr val="00B0F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60196186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zh-CN" altLang="en-US" sz="32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42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46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55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94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70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9095392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3200" b="1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子序列间隔</a:t>
                      </a:r>
                      <a:r>
                        <a:rPr lang="en-US" altLang="zh-CN" sz="3200" b="1" dirty="0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d1=1</a:t>
                      </a:r>
                      <a:endParaRPr lang="zh-CN" altLang="en-US" sz="3200" b="1" dirty="0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rgbClr val="002060"/>
                          </a:solidFill>
                        </a:rPr>
                        <a:t>5</a:t>
                      </a:r>
                      <a:endParaRPr lang="zh-CN" altLang="en-US" sz="3200" b="1" dirty="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rgbClr val="002060"/>
                          </a:solidFill>
                        </a:rPr>
                        <a:t>17</a:t>
                      </a:r>
                      <a:endParaRPr lang="zh-CN" altLang="en-US" sz="3200" b="1" dirty="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rgbClr val="002060"/>
                          </a:solidFill>
                        </a:rPr>
                        <a:t>13</a:t>
                      </a:r>
                      <a:endParaRPr lang="zh-CN" altLang="en-US" sz="3200" b="1" dirty="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rgbClr val="002060"/>
                          </a:solidFill>
                        </a:rPr>
                        <a:t>42</a:t>
                      </a:r>
                      <a:endParaRPr lang="zh-CN" altLang="en-US" sz="3200" b="1" dirty="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rgbClr val="002060"/>
                          </a:solidFill>
                        </a:rPr>
                        <a:t>46</a:t>
                      </a:r>
                      <a:endParaRPr lang="zh-CN" altLang="en-US" sz="3200" b="1" dirty="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rgbClr val="002060"/>
                          </a:solidFill>
                        </a:rPr>
                        <a:t>55</a:t>
                      </a:r>
                      <a:endParaRPr lang="zh-CN" altLang="en-US" sz="3200" b="1" dirty="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rgbClr val="002060"/>
                          </a:solidFill>
                        </a:rPr>
                        <a:t>94</a:t>
                      </a:r>
                      <a:endParaRPr lang="zh-CN" altLang="en-US" sz="3200" b="1" dirty="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rgbClr val="002060"/>
                          </a:solidFill>
                        </a:rPr>
                        <a:t>70</a:t>
                      </a:r>
                      <a:endParaRPr lang="zh-CN" altLang="en-US" sz="3200" b="1" dirty="0">
                        <a:solidFill>
                          <a:srgbClr val="002060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85843633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zh-CN" altLang="en-US" sz="3200" b="1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42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46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55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70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chemeClr val="tx1"/>
                          </a:solidFill>
                        </a:rPr>
                        <a:t>94</a:t>
                      </a:r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8784475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zh-CN" altLang="en-US" sz="3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希尔排序基于</a:t>
                      </a:r>
                      <a:endParaRPr lang="en-US" altLang="zh-CN" sz="3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3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两点观察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8">
                  <a:txBody>
                    <a:bodyPr/>
                    <a:lstStyle/>
                    <a:p>
                      <a:pPr algn="l"/>
                      <a:r>
                        <a:rPr lang="zh-CN" altLang="en-US" sz="3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当待排序的</a:t>
                      </a:r>
                      <a:r>
                        <a:rPr lang="zh-CN" altLang="en-US" sz="3200" b="1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数较少时</a:t>
                      </a:r>
                      <a:r>
                        <a:rPr lang="zh-CN" altLang="en-US" sz="3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，插入排序速度快；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56583808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8">
                  <a:txBody>
                    <a:bodyPr/>
                    <a:lstStyle/>
                    <a:p>
                      <a:pPr algn="l"/>
                      <a:r>
                        <a:rPr lang="zh-CN" altLang="en-US" sz="3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当序列基本有序时，插入排序速度快。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3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89708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14662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7C2EAC-9769-4EAB-9F0A-693D6DE2B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希尔排序的实现</a:t>
            </a:r>
            <a:r>
              <a:rPr lang="en-US" altLang="zh-CN" dirty="0"/>
              <a:t>1/2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E29B64-17F0-4791-8F43-B4B7617E65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181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void </a:t>
            </a:r>
            <a:r>
              <a:rPr lang="en-US" altLang="zh-CN" b="0" dirty="0" err="1"/>
              <a:t>ShellSort</a:t>
            </a:r>
            <a:r>
              <a:rPr lang="en-US" altLang="zh-CN" b="0" dirty="0"/>
              <a:t>(int a[], unsigned int n){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int gap;     // </a:t>
            </a:r>
            <a:r>
              <a:rPr lang="zh-CN" altLang="en-US" b="0" dirty="0"/>
              <a:t>子序列的间隔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gap=n/3;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while(gap&gt;0)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Shell</a:t>
            </a:r>
            <a:r>
              <a:rPr lang="en-US" altLang="zh-CN" b="0" dirty="0" err="1">
                <a:latin typeface="Century" panose="02040604050505020304" pitchFamily="18" charset="0"/>
              </a:rPr>
              <a:t>I</a:t>
            </a:r>
            <a:r>
              <a:rPr lang="en-US" altLang="zh-CN" b="0" dirty="0" err="1"/>
              <a:t>nsert</a:t>
            </a:r>
            <a:r>
              <a:rPr lang="en-US" altLang="zh-CN" b="0" dirty="0"/>
              <a:t>(a, n, gap);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if(gap==1) {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return;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gap</a:t>
            </a:r>
            <a:r>
              <a:rPr lang="en-US" altLang="zh-CN" b="0"/>
              <a:t>=gap/</a:t>
            </a:r>
            <a:r>
              <a:rPr lang="en-US" altLang="zh-CN" b="0" dirty="0"/>
              <a:t>3+1;   // </a:t>
            </a:r>
            <a:r>
              <a:rPr lang="zh-CN" altLang="en-US" b="0" dirty="0"/>
              <a:t>类 </a:t>
            </a:r>
            <a:r>
              <a:rPr lang="en-US" altLang="zh-CN" b="0" dirty="0"/>
              <a:t>Knuth </a:t>
            </a:r>
            <a:r>
              <a:rPr lang="zh-CN" altLang="en-US" b="0" dirty="0"/>
              <a:t>序列。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2431081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A7C2EAC-9769-4EAB-9F0A-693D6DE2B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希尔排序的实现</a:t>
            </a:r>
            <a:r>
              <a:rPr lang="en-US" altLang="zh-CN" dirty="0"/>
              <a:t>2/2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E29B64-17F0-4791-8F43-B4B7617E65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void </a:t>
            </a:r>
            <a:r>
              <a:rPr lang="en-US" altLang="zh-CN" b="0" dirty="0" err="1"/>
              <a:t>ShellInsert</a:t>
            </a:r>
            <a:r>
              <a:rPr lang="en-US" altLang="zh-CN" b="0" dirty="0"/>
              <a:t>(int a[], unsigned int n, int gap){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int </a:t>
            </a:r>
            <a:r>
              <a:rPr lang="en-US" altLang="zh-CN" b="0" dirty="0" err="1"/>
              <a:t>i</a:t>
            </a:r>
            <a:r>
              <a:rPr lang="en-US" altLang="zh-CN" b="0" dirty="0"/>
              <a:t>, j, temp;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for(</a:t>
            </a:r>
            <a:r>
              <a:rPr lang="en-US" altLang="zh-CN" b="0" dirty="0" err="1"/>
              <a:t>i</a:t>
            </a:r>
            <a:r>
              <a:rPr lang="en-US" altLang="zh-CN" b="0" dirty="0"/>
              <a:t>=gap; </a:t>
            </a:r>
            <a:r>
              <a:rPr lang="en-US" altLang="zh-CN" b="0" dirty="0" err="1"/>
              <a:t>i</a:t>
            </a:r>
            <a:r>
              <a:rPr lang="en-US" altLang="zh-CN" b="0" dirty="0"/>
              <a:t>&lt;n; </a:t>
            </a:r>
            <a:r>
              <a:rPr lang="en-US" altLang="zh-CN" b="0" dirty="0" err="1"/>
              <a:t>i</a:t>
            </a:r>
            <a:r>
              <a:rPr lang="en-US" altLang="zh-CN" b="0" dirty="0"/>
              <a:t>++){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       temp=a[</a:t>
            </a:r>
            <a:r>
              <a:rPr lang="en-US" altLang="zh-CN" b="0" dirty="0" err="1"/>
              <a:t>i</a:t>
            </a:r>
            <a:r>
              <a:rPr lang="en-US" altLang="zh-CN" b="0" dirty="0"/>
              <a:t>];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        j=</a:t>
            </a:r>
            <a:r>
              <a:rPr lang="en-US" altLang="zh-CN" b="0" dirty="0" err="1"/>
              <a:t>i</a:t>
            </a:r>
            <a:r>
              <a:rPr lang="en-US" altLang="zh-CN" b="0" dirty="0"/>
              <a:t>-gap;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        while(j&gt;=0 &amp;&amp; temp&lt;a[j]) {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            a[</a:t>
            </a:r>
            <a:r>
              <a:rPr lang="en-US" altLang="zh-CN" b="0" dirty="0" err="1"/>
              <a:t>j+gap</a:t>
            </a:r>
            <a:r>
              <a:rPr lang="en-US" altLang="zh-CN" b="0" dirty="0"/>
              <a:t>]=a[j];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            j-=gap;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        }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        a[</a:t>
            </a:r>
            <a:r>
              <a:rPr lang="en-US" altLang="zh-CN" b="0" dirty="0" err="1"/>
              <a:t>j+gap</a:t>
            </a:r>
            <a:r>
              <a:rPr lang="en-US" altLang="zh-CN" b="0" dirty="0"/>
              <a:t>]=temp;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}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} 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4156936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65B7EC-EF3C-485A-9F0F-8EB77ABE9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希尔排序的时间复杂度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表格 6">
                <a:extLst>
                  <a:ext uri="{FF2B5EF4-FFF2-40B4-BE49-F238E27FC236}">
                    <a16:creationId xmlns:a16="http://schemas.microsoft.com/office/drawing/2014/main" id="{D5EAA091-812E-469B-AC1D-7459B688A435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284184924"/>
                  </p:ext>
                </p:extLst>
              </p:nvPr>
            </p:nvGraphicFramePr>
            <p:xfrm>
              <a:off x="381000" y="1371600"/>
              <a:ext cx="11430000" cy="516674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85203">
                      <a:extLst>
                        <a:ext uri="{9D8B030D-6E8A-4147-A177-3AD203B41FA5}">
                          <a16:colId xmlns:a16="http://schemas.microsoft.com/office/drawing/2014/main" val="803767129"/>
                        </a:ext>
                      </a:extLst>
                    </a:gridCol>
                    <a:gridCol w="5001397">
                      <a:extLst>
                        <a:ext uri="{9D8B030D-6E8A-4147-A177-3AD203B41FA5}">
                          <a16:colId xmlns:a16="http://schemas.microsoft.com/office/drawing/2014/main" val="767297903"/>
                        </a:ext>
                      </a:extLst>
                    </a:gridCol>
                    <a:gridCol w="4343400">
                      <a:extLst>
                        <a:ext uri="{9D8B030D-6E8A-4147-A177-3AD203B41FA5}">
                          <a16:colId xmlns:a16="http://schemas.microsoft.com/office/drawing/2014/main" val="90470833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dirty="0">
                              <a:solidFill>
                                <a:schemeClr val="tx1"/>
                              </a:solidFill>
                            </a:rPr>
                            <a:t>增量序列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dirty="0">
                              <a:solidFill>
                                <a:schemeClr val="tx1"/>
                              </a:solidFill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序列值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dirty="0">
                              <a:solidFill>
                                <a:schemeClr val="tx1"/>
                              </a:solidFill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时间复杂度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731860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>
                              <a:solidFill>
                                <a:schemeClr val="tx1"/>
                              </a:solidFill>
                            </a:rPr>
                            <a:t>Shell</a:t>
                          </a:r>
                          <a:endParaRPr lang="zh-CN" altLang="en-US" sz="3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1, 2, 4, 8, 16, 32, </m:t>
                                </m:r>
                                <m:r>
                                  <a:rPr lang="en-US" altLang="zh-CN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⋯,</m:t>
                                </m:r>
                                <m:sSup>
                                  <m:sSupPr>
                                    <m:ctrl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zh-CN" altLang="en-US" sz="3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zh-CN" sz="3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3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r>
                                          <a:rPr lang="en-US" altLang="zh-CN" sz="3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zh-CN" altLang="en-US" sz="3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4705675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>
                              <a:solidFill>
                                <a:schemeClr val="tx1"/>
                              </a:solidFill>
                            </a:rPr>
                            <a:t>Knuth</a:t>
                          </a:r>
                          <a:endParaRPr lang="zh-CN" altLang="en-US" sz="3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1, 4, 13, 40, </m:t>
                                </m:r>
                                <m:r>
                                  <a:rPr lang="en-US" altLang="zh-CN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⋯,</m:t>
                                </m:r>
                                <m:box>
                                  <m:boxPr>
                                    <m:ctrl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boxPr>
                                  <m:e>
                                    <m:argPr>
                                      <m:argSz m:val="-1"/>
                                    </m:argPr>
                                    <m:f>
                                      <m:fPr>
                                        <m:ctrlPr>
                                          <a:rPr lang="en-US" altLang="zh-CN" sz="3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CN" sz="3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US" altLang="zh-CN" sz="3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box>
                                <m:d>
                                  <m:dPr>
                                    <m:ctrl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zh-CN" sz="3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3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e>
                                      <m:sup>
                                        <m:r>
                                          <a:rPr lang="en-US" altLang="zh-CN" sz="3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p>
                                    </m:sSup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altLang="en-US" sz="3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  <m:d>
                                  <m:dPr>
                                    <m:ctrl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zh-CN" sz="3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3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e>
                                      <m:sup>
                                        <m:f>
                                          <m:fPr>
                                            <m:type m:val="lin"/>
                                            <m:ctrlPr>
                                              <a:rPr lang="en-US" altLang="zh-CN" sz="32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altLang="zh-CN" sz="32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num>
                                          <m:den>
                                            <m:r>
                                              <a:rPr lang="en-US" altLang="zh-CN" sz="32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zh-CN" altLang="en-US" sz="3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431626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>
                              <a:solidFill>
                                <a:schemeClr val="tx1"/>
                              </a:solidFill>
                            </a:rPr>
                            <a:t>Hibbard</a:t>
                          </a:r>
                          <a:endParaRPr lang="zh-CN" altLang="en-US" sz="3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1, 3, 7, </m:t>
                                </m:r>
                                <m:r>
                                  <a:rPr lang="en-US" altLang="zh-CN" sz="32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15, 31, </m:t>
                                </m:r>
                                <m:r>
                                  <a:rPr lang="en-US" altLang="zh-CN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⋯,</m:t>
                                </m:r>
                                <m:sSup>
                                  <m:sSupPr>
                                    <m:ctrl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𝑖</m:t>
                                    </m:r>
                                  </m:sup>
                                </m:sSup>
                                <m:r>
                                  <a:rPr lang="en-US" altLang="zh-CN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zh-CN" altLang="en-US" sz="3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CN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d>
                                <m:dPr>
                                  <m:ctrlPr>
                                    <a:rPr lang="en-US" altLang="zh-CN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altLang="zh-CN" sz="3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sz="3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p>
                                      <m:f>
                                        <m:fPr>
                                          <m:type m:val="lin"/>
                                          <m:ctrlPr>
                                            <a:rPr lang="en-US" altLang="zh-CN" sz="32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CN" sz="32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num>
                                        <m:den>
                                          <m:r>
                                            <a:rPr lang="en-US" altLang="zh-CN" sz="32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sup>
                                  </m:sSup>
                                </m:e>
                              </m:d>
                            </m:oMath>
                          </a14:m>
                          <a:r>
                            <a:rPr lang="en-US" altLang="zh-CN" sz="3200" dirty="0">
                              <a:solidFill>
                                <a:schemeClr val="tx1"/>
                              </a:solidFill>
                            </a:rPr>
                            <a:t>,</a:t>
                          </a:r>
                          <a:r>
                            <a:rPr lang="zh-CN" altLang="en-US" sz="3200" dirty="0">
                              <a:solidFill>
                                <a:schemeClr val="tx1"/>
                              </a:solidFill>
                            </a:rPr>
                            <a:t>平均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r>
                                <a:rPr lang="en-US" altLang="zh-CN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altLang="zh-CN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f>
                                    <m:fPr>
                                      <m:type m:val="lin"/>
                                      <m:ctrlPr>
                                        <a:rPr lang="en-US" altLang="zh-CN" sz="3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3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num>
                                    <m:den>
                                      <m:r>
                                        <a:rPr lang="en-US" altLang="zh-CN" sz="3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den>
                                  </m:f>
                                </m:sup>
                              </m:sSup>
                              <m:r>
                                <a:rPr lang="en-US" altLang="zh-CN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en-US" altLang="zh-CN" sz="3200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pPr algn="ctr"/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</a:rPr>
                            <a:t>[Papernov,1965]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786457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>
                              <a:solidFill>
                                <a:schemeClr val="tx1"/>
                              </a:solidFill>
                            </a:rPr>
                            <a:t>Pratt</a:t>
                          </a:r>
                          <a:endParaRPr lang="zh-CN" altLang="en-US" sz="3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1,2,3,4,6,8,</m:t>
                                </m:r>
                                <m:r>
                                  <a:rPr lang="en-US" altLang="zh-CN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⋯,</m:t>
                                </m:r>
                                <m:sSup>
                                  <m:sSupPr>
                                    <m:ctrl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𝑝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  <m:sup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𝑞</m:t>
                                    </m:r>
                                  </m:sup>
                                </m:sSup>
                                <m:r>
                                  <a:rPr lang="en-US" altLang="zh-CN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,⋯</m:t>
                                </m:r>
                              </m:oMath>
                            </m:oMathPara>
                          </a14:m>
                          <a:endParaRPr lang="zh-CN" altLang="en-US" sz="3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CN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r>
                                <a:rPr lang="en-US" altLang="zh-CN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sSup>
                                <m:sSupPr>
                                  <m:ctrlPr>
                                    <a:rPr lang="en-US" altLang="zh-CN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altLang="zh-CN" sz="3200" b="0" i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log</m:t>
                                  </m:r>
                                </m:e>
                                <m:sup>
                                  <m:r>
                                    <a:rPr lang="en-US" altLang="zh-CN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altLang="zh-CN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</a:rPr>
                            <a:t> [Pratt,1971]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3479144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>
                              <a:solidFill>
                                <a:schemeClr val="tx1"/>
                              </a:solidFill>
                            </a:rPr>
                            <a:t>Sedgewick</a:t>
                          </a:r>
                          <a:endParaRPr lang="zh-CN" altLang="en-US" sz="3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altLang="zh-CN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1,5,19,41,109,</m:t>
                                </m:r>
                                <m:r>
                                  <a:rPr lang="en-US" altLang="zh-CN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⋯,</m:t>
                                </m:r>
                                <m:r>
                                  <a:rPr lang="zh-CN" alt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通项略</m:t>
                                </m:r>
                              </m:oMath>
                            </m:oMathPara>
                          </a14:m>
                          <a:endParaRPr lang="zh-CN" altLang="en-US" sz="3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CN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r>
                                <a:rPr lang="en-US" altLang="zh-CN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altLang="zh-CN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f>
                                    <m:fPr>
                                      <m:type m:val="lin"/>
                                      <m:ctrlPr>
                                        <a:rPr lang="en-US" altLang="zh-CN" sz="3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zh-CN" sz="3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num>
                                    <m:den>
                                      <m:r>
                                        <a:rPr lang="en-US" altLang="zh-CN" sz="3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den>
                                  </m:f>
                                </m:sup>
                              </m:sSup>
                              <m:r>
                                <a:rPr lang="en-US" altLang="zh-CN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</a:rPr>
                            <a:t> [Sedgewick,1986]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106949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>
                              <a:solidFill>
                                <a:schemeClr val="tx1"/>
                              </a:solidFill>
                            </a:rPr>
                            <a:t>Tokuda</a:t>
                          </a:r>
                          <a:endParaRPr lang="zh-CN" altLang="en-US" sz="3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3200" dirty="0">
                              <a:solidFill>
                                <a:schemeClr val="tx1"/>
                              </a:solidFill>
                            </a:rPr>
                            <a:t>1,4,10,23,57,…</a:t>
                          </a:r>
                        </a:p>
                        <a:p>
                          <a:pPr algn="l"/>
                          <a:r>
                            <a:rPr lang="zh-CN" altLang="en-US" sz="3200" dirty="0">
                              <a:solidFill>
                                <a:schemeClr val="tx1"/>
                              </a:solidFill>
                            </a:rPr>
                            <a:t>经验序列，序列值有误差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sz="3200" b="0" i="0" dirty="0">
                              <a:solidFill>
                                <a:schemeClr val="tx1"/>
                              </a:solidFill>
                              <a:latin typeface="+mn-lt"/>
                            </a:rPr>
                            <a:t>约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𝑂</m:t>
                              </m:r>
                              <m:r>
                                <a:rPr lang="en-US" altLang="zh-CN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en-US" altLang="zh-CN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altLang="zh-CN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altLang="zh-CN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ε</m:t>
                                  </m:r>
                                </m:sup>
                              </m:sSup>
                              <m:r>
                                <a:rPr lang="en-US" altLang="zh-CN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altLang="zh-CN" sz="2800" dirty="0">
                              <a:solidFill>
                                <a:schemeClr val="tx1"/>
                              </a:solidFill>
                            </a:rPr>
                            <a:t> [Tokuda,1992]</a:t>
                          </a:r>
                          <a:endParaRPr lang="zh-CN" altLang="en-US" sz="28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800824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表格 6">
                <a:extLst>
                  <a:ext uri="{FF2B5EF4-FFF2-40B4-BE49-F238E27FC236}">
                    <a16:creationId xmlns:a16="http://schemas.microsoft.com/office/drawing/2014/main" id="{D5EAA091-812E-469B-AC1D-7459B688A435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284184924"/>
                  </p:ext>
                </p:extLst>
              </p:nvPr>
            </p:nvGraphicFramePr>
            <p:xfrm>
              <a:off x="381000" y="1371600"/>
              <a:ext cx="11430000" cy="516674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085203">
                      <a:extLst>
                        <a:ext uri="{9D8B030D-6E8A-4147-A177-3AD203B41FA5}">
                          <a16:colId xmlns:a16="http://schemas.microsoft.com/office/drawing/2014/main" val="803767129"/>
                        </a:ext>
                      </a:extLst>
                    </a:gridCol>
                    <a:gridCol w="5001397">
                      <a:extLst>
                        <a:ext uri="{9D8B030D-6E8A-4147-A177-3AD203B41FA5}">
                          <a16:colId xmlns:a16="http://schemas.microsoft.com/office/drawing/2014/main" val="767297903"/>
                        </a:ext>
                      </a:extLst>
                    </a:gridCol>
                    <a:gridCol w="4343400">
                      <a:extLst>
                        <a:ext uri="{9D8B030D-6E8A-4147-A177-3AD203B41FA5}">
                          <a16:colId xmlns:a16="http://schemas.microsoft.com/office/drawing/2014/main" val="904708335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dirty="0">
                              <a:solidFill>
                                <a:schemeClr val="tx1"/>
                              </a:solidFill>
                            </a:rPr>
                            <a:t>增量序列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dirty="0">
                              <a:solidFill>
                                <a:schemeClr val="tx1"/>
                              </a:solidFill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序列值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dirty="0">
                              <a:solidFill>
                                <a:schemeClr val="tx1"/>
                              </a:solidFill>
                              <a:latin typeface="黑体" panose="02010609060101010101" pitchFamily="49" charset="-122"/>
                              <a:ea typeface="黑体" panose="02010609060101010101" pitchFamily="49" charset="-122"/>
                            </a:rPr>
                            <a:t>时间复杂度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73186047"/>
                      </a:ext>
                    </a:extLst>
                  </a:tr>
                  <a:tr h="59499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>
                              <a:solidFill>
                                <a:schemeClr val="tx1"/>
                              </a:solidFill>
                            </a:rPr>
                            <a:t>Shell</a:t>
                          </a:r>
                          <a:endParaRPr lang="zh-CN" altLang="en-US" sz="3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1778" t="-114286" r="-87089" b="-6979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3254" t="-114286" r="-281" b="-6979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70567565"/>
                      </a:ext>
                    </a:extLst>
                  </a:tr>
                  <a:tr h="66167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>
                              <a:solidFill>
                                <a:schemeClr val="tx1"/>
                              </a:solidFill>
                            </a:rPr>
                            <a:t>Knuth</a:t>
                          </a:r>
                          <a:endParaRPr lang="zh-CN" altLang="en-US" sz="3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1778" t="-194444" r="-87089" b="-53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3254" t="-194444" r="-281" b="-53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316263"/>
                      </a:ext>
                    </a:extLst>
                  </a:tr>
                  <a:tr h="107543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>
                              <a:solidFill>
                                <a:schemeClr val="tx1"/>
                              </a:solidFill>
                            </a:rPr>
                            <a:t>Hibbard</a:t>
                          </a:r>
                          <a:endParaRPr lang="zh-CN" altLang="en-US" sz="3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1778" t="-179661" r="-87089" b="-2254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3254" t="-179661" r="-281" b="-22542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7864577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>
                              <a:solidFill>
                                <a:schemeClr val="tx1"/>
                              </a:solidFill>
                            </a:rPr>
                            <a:t>Pratt</a:t>
                          </a:r>
                          <a:endParaRPr lang="zh-CN" altLang="en-US" sz="3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1778" t="-521053" r="-87089" b="-32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3254" t="-521053" r="-281" b="-32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4791447"/>
                      </a:ext>
                    </a:extLst>
                  </a:tr>
                  <a:tr h="6096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>
                              <a:solidFill>
                                <a:schemeClr val="tx1"/>
                              </a:solidFill>
                            </a:rPr>
                            <a:t>Sedgewick</a:t>
                          </a:r>
                          <a:endParaRPr lang="zh-CN" altLang="en-US" sz="3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1778" t="-590000" r="-87089" b="-204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3254" t="-590000" r="-281" b="-204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10694952"/>
                      </a:ext>
                    </a:extLst>
                  </a:tr>
                  <a:tr h="1066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dirty="0">
                              <a:solidFill>
                                <a:schemeClr val="tx1"/>
                              </a:solidFill>
                            </a:rPr>
                            <a:t>Tokuda</a:t>
                          </a:r>
                          <a:endParaRPr lang="zh-CN" altLang="en-US" sz="32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3200" dirty="0">
                              <a:solidFill>
                                <a:schemeClr val="tx1"/>
                              </a:solidFill>
                            </a:rPr>
                            <a:t>1,4,10,23,57,…</a:t>
                          </a:r>
                        </a:p>
                        <a:p>
                          <a:pPr algn="l"/>
                          <a:r>
                            <a:rPr lang="zh-CN" altLang="en-US" sz="3200" dirty="0">
                              <a:solidFill>
                                <a:schemeClr val="tx1"/>
                              </a:solidFill>
                            </a:rPr>
                            <a:t>经验序列，序列值有误差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63254" t="-394286" r="-281" b="-1657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8008240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93232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9CADD8-6595-4A2D-8713-BBF58A882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交换类排序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D7C868-3FD9-4EAB-918F-6256D5BFE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基本思想</a:t>
            </a:r>
            <a:r>
              <a:rPr lang="zh-CN" altLang="en-US" b="0" dirty="0"/>
              <a:t>：交换逆序元素。</a:t>
            </a:r>
            <a:endParaRPr lang="en-US" altLang="zh-CN" b="0" dirty="0"/>
          </a:p>
          <a:p>
            <a:r>
              <a:rPr lang="zh-CN" altLang="en-US" dirty="0"/>
              <a:t>具体算法</a:t>
            </a:r>
            <a:endParaRPr lang="en-US" altLang="zh-CN" dirty="0"/>
          </a:p>
          <a:p>
            <a:pPr lvl="1"/>
            <a:r>
              <a:rPr lang="zh-CN" altLang="en-US" dirty="0"/>
              <a:t>冒泡排序：比较相邻的两个数，如果逆序，就交换。</a:t>
            </a:r>
            <a:endParaRPr lang="en-US" altLang="zh-CN" dirty="0"/>
          </a:p>
          <a:p>
            <a:pPr lvl="1"/>
            <a:r>
              <a:rPr lang="zh-CN" altLang="en-US" dirty="0"/>
              <a:t>改进的冒泡排序：</a:t>
            </a:r>
            <a:endParaRPr lang="en-US" altLang="zh-CN" dirty="0"/>
          </a:p>
          <a:p>
            <a:pPr lvl="2"/>
            <a:r>
              <a:rPr lang="zh-CN" altLang="en-US" dirty="0"/>
              <a:t>如果在某轮冒泡中，发现都不需要交换，那么就结束了；</a:t>
            </a:r>
            <a:endParaRPr lang="en-US" altLang="zh-CN" dirty="0"/>
          </a:p>
          <a:p>
            <a:pPr lvl="2"/>
            <a:r>
              <a:rPr lang="zh-CN" altLang="en-US" dirty="0"/>
              <a:t>在每轮中记录最后一次交换的位置，可知无序区的边界。</a:t>
            </a:r>
            <a:endParaRPr lang="en-US" altLang="zh-CN" dirty="0"/>
          </a:p>
          <a:p>
            <a:pPr lvl="1"/>
            <a:r>
              <a:rPr lang="zh-CN" altLang="en-US" dirty="0"/>
              <a:t>快速排序：选个支点，小于支点的放在左边，大于支点的放在右边，通过递归划分实现排序。</a:t>
            </a:r>
          </a:p>
        </p:txBody>
      </p:sp>
    </p:spTree>
    <p:extLst>
      <p:ext uri="{BB962C8B-B14F-4D97-AF65-F5344CB8AC3E}">
        <p14:creationId xmlns:p14="http://schemas.microsoft.com/office/powerpoint/2010/main" val="3313288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9625D4-7B84-428D-B0EC-AEC92EEDA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快速排序 </a:t>
            </a:r>
            <a:r>
              <a:rPr lang="en-US" altLang="zh-CN" dirty="0"/>
              <a:t>[Hoare1960</a:t>
            </a:r>
            <a:r>
              <a:rPr lang="zh-CN" altLang="en-US" dirty="0"/>
              <a:t>，</a:t>
            </a:r>
            <a:r>
              <a:rPr lang="en-US" altLang="zh-CN" dirty="0"/>
              <a:t>1980</a:t>
            </a:r>
            <a:r>
              <a:rPr lang="zh-CN" altLang="en-US" dirty="0"/>
              <a:t>图灵奖</a:t>
            </a:r>
            <a:r>
              <a:rPr lang="en-US" altLang="zh-CN" dirty="0"/>
              <a:t>]</a:t>
            </a:r>
            <a:endParaRPr lang="zh-CN" altLang="en-US" dirty="0"/>
          </a:p>
        </p:txBody>
      </p:sp>
      <p:pic>
        <p:nvPicPr>
          <p:cNvPr id="4" name="内容占位符 4">
            <a:extLst>
              <a:ext uri="{FF2B5EF4-FFF2-40B4-BE49-F238E27FC236}">
                <a16:creationId xmlns:a16="http://schemas.microsoft.com/office/drawing/2014/main" id="{38D9E8A6-E6F8-484E-8E8D-476D304A4F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200" y="1447800"/>
            <a:ext cx="9080500" cy="4953000"/>
          </a:xfrm>
        </p:spPr>
      </p:pic>
    </p:spTree>
    <p:extLst>
      <p:ext uri="{BB962C8B-B14F-4D97-AF65-F5344CB8AC3E}">
        <p14:creationId xmlns:p14="http://schemas.microsoft.com/office/powerpoint/2010/main" val="11226944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33F9E5-FF6F-4EE5-917F-619E46C2C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快速排序的实现</a:t>
            </a:r>
            <a:r>
              <a:rPr lang="en-US" altLang="zh-CN" dirty="0"/>
              <a:t>1/5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76D4D4-F777-439C-9715-870EC3C3D8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void </a:t>
            </a:r>
            <a:r>
              <a:rPr lang="en-US" altLang="zh-CN" b="0" dirty="0" err="1"/>
              <a:t>QuickSort</a:t>
            </a:r>
            <a:r>
              <a:rPr lang="en-US" altLang="zh-CN" b="0" dirty="0"/>
              <a:t>(int a[], unsigned int n){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int  t, pivot;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if(n&lt;=1) {  // </a:t>
            </a:r>
            <a:r>
              <a:rPr lang="zh-CN" altLang="en-US" b="0" dirty="0"/>
              <a:t>当</a:t>
            </a:r>
            <a:r>
              <a:rPr lang="en-US" altLang="zh-CN" b="0" dirty="0"/>
              <a:t>n</a:t>
            </a:r>
            <a:r>
              <a:rPr lang="zh-CN" altLang="en-US" b="0" dirty="0"/>
              <a:t>较小时，可以采用其他排序，不必递归。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return;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pivot=Split(</a:t>
            </a:r>
            <a:r>
              <a:rPr lang="en-US" altLang="zh-CN" b="0" dirty="0" err="1"/>
              <a:t>a,n</a:t>
            </a:r>
            <a:r>
              <a:rPr lang="en-US" altLang="zh-CN" b="0" dirty="0"/>
              <a:t>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QuickSort</a:t>
            </a:r>
            <a:r>
              <a:rPr lang="en-US" altLang="zh-CN" b="0" dirty="0"/>
              <a:t>(</a:t>
            </a:r>
            <a:r>
              <a:rPr lang="en-US" altLang="zh-CN" b="0" dirty="0" err="1"/>
              <a:t>a,pivot</a:t>
            </a:r>
            <a:r>
              <a:rPr lang="en-US" altLang="zh-CN" b="0" dirty="0"/>
              <a:t>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QuickSort</a:t>
            </a:r>
            <a:r>
              <a:rPr lang="en-US" altLang="zh-CN" b="0"/>
              <a:t>(a+pivot+1, </a:t>
            </a:r>
            <a:r>
              <a:rPr lang="en-US" altLang="zh-CN" b="0" dirty="0"/>
              <a:t>n-pivot-1);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return;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29414209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33F9E5-FF6F-4EE5-917F-619E46C2C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快速排序的实现</a:t>
            </a:r>
            <a:r>
              <a:rPr lang="en-US" altLang="zh-CN" dirty="0"/>
              <a:t>2/5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76D4D4-F777-439C-9715-870EC3C3D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181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int Split(int a[], unsigned int n){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int  pivot, low, high, temp;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pivot=a[0];  /</a:t>
            </a:r>
            <a:r>
              <a:rPr lang="zh-CN" altLang="en-US" b="0" dirty="0"/>
              <a:t>*</a:t>
            </a:r>
            <a:r>
              <a:rPr lang="en-US" altLang="zh-CN" b="0" dirty="0"/>
              <a:t> </a:t>
            </a:r>
            <a:r>
              <a:rPr lang="zh-CN" altLang="en-US" b="0" dirty="0"/>
              <a:t>选取</a:t>
            </a:r>
            <a:r>
              <a:rPr lang="en-US" altLang="zh-CN" b="0" dirty="0"/>
              <a:t>a[0]</a:t>
            </a:r>
            <a:r>
              <a:rPr lang="zh-CN" altLang="en-US" b="0" dirty="0"/>
              <a:t>作为支点的值。*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low=1;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high=n-1;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while(low&lt;high){ /</a:t>
            </a:r>
            <a:r>
              <a:rPr lang="zh-CN" altLang="en-US" b="0" dirty="0"/>
              <a:t>*</a:t>
            </a:r>
            <a:r>
              <a:rPr lang="en-US" altLang="zh-CN" b="0" dirty="0"/>
              <a:t> low</a:t>
            </a:r>
            <a:r>
              <a:rPr lang="zh-CN" altLang="en-US" b="0" dirty="0"/>
              <a:t>右移，</a:t>
            </a:r>
            <a:r>
              <a:rPr lang="en-US" altLang="zh-CN" b="0" dirty="0"/>
              <a:t>high</a:t>
            </a:r>
            <a:r>
              <a:rPr lang="zh-CN" altLang="en-US" b="0" dirty="0"/>
              <a:t>左移，碰头为止。*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while(a[low]&lt;pivot &amp;&amp; low&lt;high)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low++;  /</a:t>
            </a:r>
            <a:r>
              <a:rPr lang="zh-CN" altLang="en-US" b="0" dirty="0"/>
              <a:t>*</a:t>
            </a:r>
            <a:r>
              <a:rPr lang="en-US" altLang="zh-CN" b="0" dirty="0"/>
              <a:t> </a:t>
            </a:r>
            <a:r>
              <a:rPr lang="zh-CN" altLang="en-US" b="0" dirty="0"/>
              <a:t>找到一个大于等于支点的数 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while(a[high]&gt;=pivot &amp;&amp; low&lt;high)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high--;   /</a:t>
            </a:r>
            <a:r>
              <a:rPr lang="zh-CN" altLang="en-US" b="0" dirty="0"/>
              <a:t>*</a:t>
            </a:r>
            <a:r>
              <a:rPr lang="en-US" altLang="zh-CN" b="0" dirty="0"/>
              <a:t> </a:t>
            </a:r>
            <a:r>
              <a:rPr lang="zh-CN" altLang="en-US" b="0" dirty="0"/>
              <a:t>找到一个小于支点的数 *</a:t>
            </a:r>
            <a:r>
              <a:rPr lang="en-US" altLang="zh-CN" b="0" dirty="0"/>
              <a:t>/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20477622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33F9E5-FF6F-4EE5-917F-619E46C2C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快速排序的实现</a:t>
            </a:r>
            <a:r>
              <a:rPr lang="en-US" altLang="zh-CN" dirty="0"/>
              <a:t>3/5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76D4D4-F777-439C-9715-870EC3C3D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371600"/>
            <a:ext cx="11582400" cy="5181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if (low&lt;high) {  /</a:t>
            </a:r>
            <a:r>
              <a:rPr lang="zh-CN" altLang="en-US" b="0" dirty="0"/>
              <a:t>* </a:t>
            </a:r>
            <a:r>
              <a:rPr lang="en-US" altLang="zh-CN" b="0" dirty="0"/>
              <a:t>low</a:t>
            </a:r>
            <a:r>
              <a:rPr lang="zh-CN" altLang="en-US" b="0" dirty="0"/>
              <a:t>在左侧，</a:t>
            </a:r>
            <a:r>
              <a:rPr lang="en-US" altLang="zh-CN" b="0" dirty="0"/>
              <a:t>high</a:t>
            </a:r>
            <a:r>
              <a:rPr lang="zh-CN" altLang="en-US" b="0" dirty="0"/>
              <a:t>在右侧 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temp=a[low];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a[low]=a[high];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a[high]=temp;  /</a:t>
            </a:r>
            <a:r>
              <a:rPr lang="zh-CN" altLang="en-US" b="0" dirty="0"/>
              <a:t>* 交换 </a:t>
            </a:r>
            <a:r>
              <a:rPr lang="en-US" altLang="zh-CN" b="0" dirty="0"/>
              <a:t>a[low]</a:t>
            </a:r>
            <a:r>
              <a:rPr lang="zh-CN" altLang="en-US" b="0" dirty="0"/>
              <a:t>和</a:t>
            </a:r>
            <a:r>
              <a:rPr lang="en-US" altLang="zh-CN" b="0" dirty="0"/>
              <a:t>a[high]</a:t>
            </a:r>
            <a:r>
              <a:rPr lang="zh-CN" altLang="en-US" b="0" dirty="0"/>
              <a:t> 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low++; 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high--;              /</a:t>
            </a:r>
            <a:r>
              <a:rPr lang="zh-CN" altLang="en-US" b="0" dirty="0"/>
              <a:t>* </a:t>
            </a:r>
            <a:r>
              <a:rPr lang="en-US" altLang="zh-CN" b="0" dirty="0"/>
              <a:t>low</a:t>
            </a:r>
            <a:r>
              <a:rPr lang="zh-CN" altLang="en-US" b="0" dirty="0"/>
              <a:t>和</a:t>
            </a:r>
            <a:r>
              <a:rPr lang="en-US" altLang="zh-CN" b="0" dirty="0"/>
              <a:t>high</a:t>
            </a:r>
            <a:r>
              <a:rPr lang="zh-CN" altLang="en-US" b="0" dirty="0"/>
              <a:t>向支点靠近 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  /* while</a:t>
            </a:r>
            <a:r>
              <a:rPr lang="zh-CN" altLang="en-US" b="0" dirty="0"/>
              <a:t>结束 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/* </a:t>
            </a:r>
            <a:r>
              <a:rPr lang="zh-CN" altLang="en-US" b="0" dirty="0"/>
              <a:t>到此，两指针碰头，划分过程也是确定支点位置的过程 *</a:t>
            </a:r>
            <a:r>
              <a:rPr lang="en-US" altLang="zh-CN" b="0" dirty="0"/>
              <a:t>/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3896327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33F9E5-FF6F-4EE5-917F-619E46C2C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快速排序的实现</a:t>
            </a:r>
            <a:r>
              <a:rPr lang="en-US" altLang="zh-CN" dirty="0"/>
              <a:t>4/5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76D4D4-F777-439C-9715-870EC3C3D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371600"/>
            <a:ext cx="11582400" cy="5181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/* </a:t>
            </a:r>
            <a:r>
              <a:rPr lang="zh-CN" altLang="en-US" b="0" dirty="0"/>
              <a:t>下面确定支点位置。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</a:t>
            </a:r>
            <a:r>
              <a:rPr lang="zh-CN" altLang="en-US" b="0" dirty="0"/>
              <a:t>* 划分结束时，分两种情况讨论：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</a:t>
            </a:r>
            <a:r>
              <a:rPr lang="zh-CN" altLang="en-US" b="0" dirty="0"/>
              <a:t>* 一、</a:t>
            </a:r>
            <a:r>
              <a:rPr lang="en-US" altLang="zh-CN" b="0" dirty="0"/>
              <a:t>low&gt;high</a:t>
            </a:r>
            <a:r>
              <a:rPr lang="zh-CN" altLang="en-US" b="0" dirty="0"/>
              <a:t>，且二者相邻，这两个相邻的数刚刚交换，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</a:t>
            </a:r>
            <a:r>
              <a:rPr lang="zh-CN" altLang="en-US" b="0" dirty="0"/>
              <a:t>*        所以，</a:t>
            </a:r>
            <a:r>
              <a:rPr lang="en-US" altLang="zh-CN" b="0" dirty="0"/>
              <a:t>a[high]&lt;pivot&lt;=a[low]</a:t>
            </a:r>
            <a:r>
              <a:rPr lang="zh-CN" altLang="en-US" b="0" dirty="0"/>
              <a:t>，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</a:t>
            </a:r>
            <a:r>
              <a:rPr lang="zh-CN" altLang="en-US" b="0" dirty="0"/>
              <a:t>*        这时，支点位置是</a:t>
            </a:r>
            <a:r>
              <a:rPr lang="en-US" altLang="zh-CN" b="0" dirty="0"/>
              <a:t>high</a:t>
            </a:r>
            <a:r>
              <a:rPr lang="zh-CN" altLang="en-US" b="0" dirty="0"/>
              <a:t>，而</a:t>
            </a:r>
            <a:r>
              <a:rPr lang="en-US" altLang="zh-CN" b="0" dirty="0"/>
              <a:t>a[high]</a:t>
            </a:r>
            <a:r>
              <a:rPr lang="zh-CN" altLang="en-US" b="0" dirty="0"/>
              <a:t>应放到</a:t>
            </a:r>
            <a:r>
              <a:rPr lang="en-US" altLang="zh-CN" b="0" dirty="0"/>
              <a:t>a[0]</a:t>
            </a:r>
            <a:r>
              <a:rPr lang="zh-CN" altLang="en-US" b="0" dirty="0"/>
              <a:t>。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</a:t>
            </a:r>
            <a:r>
              <a:rPr lang="zh-CN" altLang="en-US" b="0" dirty="0"/>
              <a:t>* 二、</a:t>
            </a:r>
            <a:r>
              <a:rPr lang="en-US" altLang="zh-CN" b="0" dirty="0"/>
              <a:t>low=high</a:t>
            </a:r>
            <a:r>
              <a:rPr lang="zh-CN" altLang="en-US" b="0" dirty="0"/>
              <a:t>，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</a:t>
            </a:r>
            <a:r>
              <a:rPr lang="zh-CN" altLang="en-US" b="0" dirty="0"/>
              <a:t>*        如果这个位置的数小于</a:t>
            </a:r>
            <a:r>
              <a:rPr lang="en-US" altLang="zh-CN" b="0" dirty="0"/>
              <a:t>pivot</a:t>
            </a:r>
            <a:r>
              <a:rPr lang="zh-CN" altLang="en-US" b="0" dirty="0"/>
              <a:t>，支点为当前位置；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</a:t>
            </a:r>
            <a:r>
              <a:rPr lang="zh-CN" altLang="en-US" b="0" dirty="0"/>
              <a:t>*        如果这个位置的数大于等于</a:t>
            </a:r>
            <a:r>
              <a:rPr lang="en-US" altLang="zh-CN" b="0" dirty="0"/>
              <a:t>pivot</a:t>
            </a:r>
            <a:r>
              <a:rPr lang="zh-CN" altLang="en-US" b="0" dirty="0"/>
              <a:t>，支点为前一位置。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</a:t>
            </a:r>
            <a:r>
              <a:rPr lang="zh-CN" altLang="en-US" b="0" dirty="0"/>
              <a:t>* 总之，支点位置或者是</a:t>
            </a:r>
            <a:r>
              <a:rPr lang="en-US" altLang="zh-CN" b="0" dirty="0"/>
              <a:t>high</a:t>
            </a:r>
            <a:r>
              <a:rPr lang="zh-CN" altLang="en-US" b="0" dirty="0"/>
              <a:t>，或者是</a:t>
            </a:r>
            <a:r>
              <a:rPr lang="en-US" altLang="zh-CN" b="0" dirty="0"/>
              <a:t>high-1</a:t>
            </a:r>
            <a:r>
              <a:rPr lang="zh-CN" altLang="en-US" b="0" dirty="0"/>
              <a:t>。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</a:t>
            </a:r>
            <a:r>
              <a:rPr lang="zh-CN" altLang="en-US" b="0" dirty="0"/>
              <a:t>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28478510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33F9E5-FF6F-4EE5-917F-619E46C2C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快速排序的实现</a:t>
            </a:r>
            <a:r>
              <a:rPr lang="en-US" altLang="zh-CN" dirty="0"/>
              <a:t>5/5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76D4D4-F777-439C-9715-870EC3C3D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371600"/>
            <a:ext cx="11582400" cy="5181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if (a[high]&gt;=pivot) {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high--;  // </a:t>
            </a:r>
            <a:r>
              <a:rPr lang="zh-CN" altLang="en-US" b="0" dirty="0"/>
              <a:t>如果当前值大于等于支点值，支点应放前面。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                // </a:t>
            </a:r>
            <a:r>
              <a:rPr lang="zh-CN" altLang="en-US" b="0" dirty="0"/>
              <a:t>否则支点就放当前位置，不必调整指针。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a[0]=a[high];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a[high]=pivot;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return high;   // </a:t>
            </a:r>
            <a:r>
              <a:rPr lang="zh-CN" altLang="en-US" b="0" dirty="0"/>
              <a:t>返回支点的位置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22485957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33F9E5-FF6F-4EE5-917F-619E46C2C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快速排序的时间复杂度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F76D4D4-F777-439C-9715-870EC3C3D8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4800" y="1371600"/>
                <a:ext cx="11582400" cy="1295400"/>
              </a:xfrm>
            </p:spPr>
            <p:txBody>
              <a:bodyPr/>
              <a:lstStyle/>
              <a:p>
                <a:pPr marL="0" indent="0">
                  <a:lnSpc>
                    <a:spcPct val="125000"/>
                  </a:lnSpc>
                  <a:buNone/>
                </a:pPr>
                <a:r>
                  <a:rPr lang="zh-CN" altLang="en-US" b="0" dirty="0"/>
                  <a:t>快速排序最坏情况下的时间复杂度显然是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zh-CN" altLang="en-US" b="0" dirty="0"/>
                  <a:t>。</a:t>
                </a:r>
                <a:endParaRPr lang="en-US" altLang="zh-CN" b="0" dirty="0"/>
              </a:p>
              <a:p>
                <a:pPr marL="0" indent="0">
                  <a:lnSpc>
                    <a:spcPct val="125000"/>
                  </a:lnSpc>
                  <a:buNone/>
                </a:pPr>
                <a:r>
                  <a:rPr lang="zh-CN" altLang="en-US" b="0" dirty="0"/>
                  <a:t>下面分析平均时间：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F76D4D4-F777-439C-9715-870EC3C3D8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371600"/>
                <a:ext cx="11582400" cy="1295400"/>
              </a:xfrm>
              <a:blipFill>
                <a:blip r:embed="rId2"/>
                <a:stretch>
                  <a:fillRect l="-1316" t="-939" b="-122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4">
                <a:extLst>
                  <a:ext uri="{FF2B5EF4-FFF2-40B4-BE49-F238E27FC236}">
                    <a16:creationId xmlns:a16="http://schemas.microsoft.com/office/drawing/2014/main" id="{EEC1E5B2-766F-42F6-BA7E-D20D918EEDE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03781380"/>
                  </p:ext>
                </p:extLst>
              </p:nvPr>
            </p:nvGraphicFramePr>
            <p:xfrm>
              <a:off x="533400" y="2743200"/>
              <a:ext cx="11125200" cy="351815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58000">
                      <a:extLst>
                        <a:ext uri="{9D8B030D-6E8A-4147-A177-3AD203B41FA5}">
                          <a16:colId xmlns:a16="http://schemas.microsoft.com/office/drawing/2014/main" val="4163139121"/>
                        </a:ext>
                      </a:extLst>
                    </a:gridCol>
                    <a:gridCol w="4267200">
                      <a:extLst>
                        <a:ext uri="{9D8B030D-6E8A-4147-A177-3AD203B41FA5}">
                          <a16:colId xmlns:a16="http://schemas.microsoft.com/office/drawing/2014/main" val="128836811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3200" b="0" dirty="0" err="1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QuickSort</a:t>
                          </a:r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(a[ ], n)</a:t>
                          </a:r>
                          <a:endParaRPr lang="zh-CN" altLang="en-US" sz="3200" b="0" dirty="0">
                            <a:solidFill>
                              <a:schemeClr val="tx2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执行时间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6438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320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  If n&lt;=1, then return;</a:t>
                          </a:r>
                          <a:endParaRPr lang="zh-CN" altLang="en-US" sz="3200" dirty="0">
                            <a:solidFill>
                              <a:schemeClr val="tx2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32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𝑇</m:t>
                                </m:r>
                                <m:d>
                                  <m:dPr>
                                    <m:ctrlPr>
                                      <a:rPr lang="en-US" altLang="zh-CN" sz="32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32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0</m:t>
                                    </m:r>
                                  </m:e>
                                </m:d>
                                <m:r>
                                  <a:rPr lang="en-US" altLang="zh-CN" sz="32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=</m:t>
                                </m:r>
                                <m:r>
                                  <a:rPr lang="en-US" altLang="zh-CN" sz="32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𝑇</m:t>
                                </m:r>
                                <m:d>
                                  <m:dPr>
                                    <m:ctrlPr>
                                      <a:rPr lang="en-US" altLang="zh-CN" sz="32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3200" b="0" i="1" smtClean="0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e>
                                </m:d>
                                <m:r>
                                  <a:rPr lang="en-US" altLang="zh-CN" sz="32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zh-CN" altLang="en-US" sz="3200" dirty="0">
                            <a:solidFill>
                              <a:schemeClr val="tx2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372661902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320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2   k=Split(</a:t>
                          </a:r>
                          <a:r>
                            <a:rPr lang="en-US" altLang="zh-CN" sz="3200" dirty="0" err="1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a,n</a:t>
                          </a:r>
                          <a:r>
                            <a:rPr lang="en-US" altLang="zh-CN" sz="320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);</a:t>
                          </a:r>
                          <a:endParaRPr lang="zh-CN" altLang="en-US" sz="3200" dirty="0">
                            <a:solidFill>
                              <a:schemeClr val="tx2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320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3200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𝑇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altLang="zh-CN" sz="3200" b="0" i="0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Split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altLang="zh-CN" sz="3200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200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lang="en-US" altLang="zh-CN" sz="32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=</m:t>
                              </m:r>
                              <m:r>
                                <a:rPr lang="en-US" altLang="zh-CN" sz="32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oMath>
                          </a14:m>
                          <a:r>
                            <a:rPr lang="en-US" altLang="zh-CN" sz="320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-1</a:t>
                          </a:r>
                          <a:endParaRPr lang="zh-CN" altLang="en-US" sz="3200" dirty="0">
                            <a:solidFill>
                              <a:schemeClr val="tx2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79024299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514350" indent="-514350" algn="l">
                            <a:buAutoNum type="arabicPlain" startAt="3"/>
                          </a:pPr>
                          <a:r>
                            <a:rPr lang="en-US" altLang="zh-CN" sz="320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3200" dirty="0" err="1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QuickSort</a:t>
                          </a:r>
                          <a:r>
                            <a:rPr lang="en-US" altLang="zh-CN" sz="320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(</a:t>
                          </a:r>
                          <a:r>
                            <a:rPr lang="en-US" altLang="zh-CN" sz="3200" dirty="0" err="1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a,k</a:t>
                          </a:r>
                          <a:r>
                            <a:rPr lang="en-US" altLang="zh-CN" sz="320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);</a:t>
                          </a:r>
                          <a:endParaRPr lang="zh-CN" altLang="en-US" sz="3200" dirty="0">
                            <a:solidFill>
                              <a:schemeClr val="tx2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32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𝑇</m:t>
                                </m:r>
                                <m:r>
                                  <a:rPr lang="en-US" altLang="zh-CN" sz="32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(</m:t>
                                </m:r>
                                <m:r>
                                  <a:rPr lang="en-US" altLang="zh-CN" sz="32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𝑘</m:t>
                                </m:r>
                                <m:r>
                                  <a:rPr lang="en-US" altLang="zh-CN" sz="32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3200" dirty="0">
                            <a:solidFill>
                              <a:schemeClr val="tx2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9882725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514350" indent="-514350" algn="l">
                            <a:buAutoNum type="arabicPlain" startAt="4"/>
                          </a:pPr>
                          <a:r>
                            <a:rPr lang="en-US" altLang="zh-CN" sz="320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3200" dirty="0" err="1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QuickSort</a:t>
                          </a:r>
                          <a:r>
                            <a:rPr lang="en-US" altLang="zh-CN" sz="320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(&amp;a[k+1], n-k-1);</a:t>
                          </a:r>
                          <a:endParaRPr lang="zh-CN" altLang="en-US" sz="3200" dirty="0">
                            <a:solidFill>
                              <a:schemeClr val="tx2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32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𝑇</m:t>
                                </m:r>
                                <m:r>
                                  <a:rPr lang="en-US" altLang="zh-CN" sz="32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(</m:t>
                                </m:r>
                                <m:r>
                                  <a:rPr lang="en-US" altLang="zh-CN" sz="32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𝑛</m:t>
                                </m:r>
                                <m:r>
                                  <a:rPr lang="en-US" altLang="zh-CN" sz="32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−</m:t>
                                </m:r>
                                <m:r>
                                  <a:rPr lang="en-US" altLang="zh-CN" sz="32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𝑘</m:t>
                                </m:r>
                                <m:r>
                                  <a:rPr lang="en-US" altLang="zh-CN" sz="3200" b="0" i="1" smtClean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−1)</m:t>
                                </m:r>
                              </m:oMath>
                            </m:oMathPara>
                          </a14:m>
                          <a:endParaRPr lang="zh-CN" altLang="en-US" sz="3200" dirty="0">
                            <a:solidFill>
                              <a:schemeClr val="tx2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996883984"/>
                      </a:ext>
                    </a:extLst>
                  </a:tr>
                  <a:tr h="370840">
                    <a:tc gridSpan="2">
                      <a:txBody>
                        <a:bodyPr/>
                        <a:lstStyle/>
                        <a:p>
                          <a:pPr marL="0" indent="0" algn="l">
                            <a:buNone/>
                          </a:pPr>
                          <a:r>
                            <a:rPr lang="zh-CN" altLang="en-US" sz="3200" b="0" i="0" baseline="0" dirty="0">
                              <a:solidFill>
                                <a:schemeClr val="tx2"/>
                              </a:solidFill>
                              <a:latin typeface="+mn-lt"/>
                              <a:ea typeface="微软雅黑" panose="020B0503020204020204" pitchFamily="34" charset="-122"/>
                            </a:rPr>
                            <a:t> 总执行时间：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3200" b="0" i="0" baseline="0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 </m:t>
                              </m:r>
                              <m:r>
                                <a:rPr lang="en-US" altLang="zh-CN" sz="32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𝑇</m:t>
                              </m:r>
                              <m:d>
                                <m:dPr>
                                  <m:ctrlPr>
                                    <a:rPr lang="en-US" altLang="zh-CN" sz="3200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200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lang="en-US" altLang="zh-CN" sz="32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=</m:t>
                              </m:r>
                              <m:r>
                                <a:rPr lang="en-US" altLang="zh-CN" sz="32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𝑇</m:t>
                              </m:r>
                              <m:d>
                                <m:dPr>
                                  <m:ctrlPr>
                                    <a:rPr lang="en-US" altLang="zh-CN" sz="3200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200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𝑘</m:t>
                                  </m:r>
                                </m:e>
                              </m:d>
                              <m:r>
                                <a:rPr lang="en-US" altLang="zh-CN" sz="32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r>
                                <a:rPr lang="en-US" altLang="zh-CN" sz="32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𝑇</m:t>
                              </m:r>
                              <m:d>
                                <m:dPr>
                                  <m:ctrlPr>
                                    <a:rPr lang="en-US" altLang="zh-CN" sz="3200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200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  <m:r>
                                    <a:rPr lang="en-US" altLang="zh-CN" sz="3200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−</m:t>
                                  </m:r>
                                  <m:r>
                                    <a:rPr lang="en-US" altLang="zh-CN" sz="3200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𝑘</m:t>
                                  </m:r>
                                  <m:r>
                                    <a:rPr lang="en-US" altLang="zh-CN" sz="3200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altLang="zh-CN" sz="32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r>
                                <a:rPr lang="en-US" altLang="zh-CN" sz="32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oMath>
                          </a14:m>
                          <a:endParaRPr lang="zh-CN" altLang="en-US" sz="3200" dirty="0">
                            <a:solidFill>
                              <a:schemeClr val="tx2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3200" dirty="0">
                            <a:solidFill>
                              <a:schemeClr val="tx2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26988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4">
                <a:extLst>
                  <a:ext uri="{FF2B5EF4-FFF2-40B4-BE49-F238E27FC236}">
                    <a16:creationId xmlns:a16="http://schemas.microsoft.com/office/drawing/2014/main" id="{EEC1E5B2-766F-42F6-BA7E-D20D918EEDE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03781380"/>
                  </p:ext>
                </p:extLst>
              </p:nvPr>
            </p:nvGraphicFramePr>
            <p:xfrm>
              <a:off x="533400" y="2743200"/>
              <a:ext cx="11125200" cy="351815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858000">
                      <a:extLst>
                        <a:ext uri="{9D8B030D-6E8A-4147-A177-3AD203B41FA5}">
                          <a16:colId xmlns:a16="http://schemas.microsoft.com/office/drawing/2014/main" val="4163139121"/>
                        </a:ext>
                      </a:extLst>
                    </a:gridCol>
                    <a:gridCol w="4267200">
                      <a:extLst>
                        <a:ext uri="{9D8B030D-6E8A-4147-A177-3AD203B41FA5}">
                          <a16:colId xmlns:a16="http://schemas.microsoft.com/office/drawing/2014/main" val="1288368117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3200" b="0" dirty="0" err="1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QuickSort</a:t>
                          </a:r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(a[ ], n)</a:t>
                          </a:r>
                          <a:endParaRPr lang="zh-CN" altLang="en-US" sz="3200" b="0" dirty="0">
                            <a:solidFill>
                              <a:schemeClr val="tx2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执行时间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064388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320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  If n&lt;=1, then return;</a:t>
                          </a:r>
                          <a:endParaRPr lang="zh-CN" altLang="en-US" sz="3200" dirty="0">
                            <a:solidFill>
                              <a:schemeClr val="tx2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3"/>
                          <a:stretch>
                            <a:fillRect l="-161000" t="-113684" r="-286" b="-4421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6619021"/>
                      </a:ext>
                    </a:extLst>
                  </a:tr>
                  <a:tr h="622554"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320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2   k=Split(</a:t>
                          </a:r>
                          <a:r>
                            <a:rPr lang="en-US" altLang="zh-CN" sz="3200" dirty="0" err="1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a,n</a:t>
                          </a:r>
                          <a:r>
                            <a:rPr lang="en-US" altLang="zh-CN" sz="320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);</a:t>
                          </a:r>
                          <a:endParaRPr lang="zh-CN" altLang="en-US" sz="3200" dirty="0">
                            <a:solidFill>
                              <a:schemeClr val="tx2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61000" t="-197087" r="-286" b="-3077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90242990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marL="514350" indent="-514350" algn="l">
                            <a:buAutoNum type="arabicPlain" startAt="3"/>
                          </a:pPr>
                          <a:r>
                            <a:rPr lang="en-US" altLang="zh-CN" sz="320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3200" dirty="0" err="1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QuickSort</a:t>
                          </a:r>
                          <a:r>
                            <a:rPr lang="en-US" altLang="zh-CN" sz="320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(</a:t>
                          </a:r>
                          <a:r>
                            <a:rPr lang="en-US" altLang="zh-CN" sz="3200" dirty="0" err="1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a,k</a:t>
                          </a:r>
                          <a:r>
                            <a:rPr lang="en-US" altLang="zh-CN" sz="320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);</a:t>
                          </a:r>
                          <a:endParaRPr lang="zh-CN" altLang="en-US" sz="3200" dirty="0">
                            <a:solidFill>
                              <a:schemeClr val="tx2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61000" t="-322105" r="-286" b="-23368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8827255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marL="514350" indent="-514350" algn="l">
                            <a:buAutoNum type="arabicPlain" startAt="4"/>
                          </a:pPr>
                          <a:r>
                            <a:rPr lang="en-US" altLang="zh-CN" sz="320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3200" dirty="0" err="1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QuickSort</a:t>
                          </a:r>
                          <a:r>
                            <a:rPr lang="en-US" altLang="zh-CN" sz="320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(&amp;a[k+1], n-k-1);</a:t>
                          </a:r>
                          <a:endParaRPr lang="zh-CN" altLang="en-US" sz="3200" dirty="0">
                            <a:solidFill>
                              <a:schemeClr val="tx2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1000" t="-422105" r="-286" b="-13368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96883984"/>
                      </a:ext>
                    </a:extLst>
                  </a:tr>
                  <a:tr h="579120"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55" t="-522105" r="-110" b="-33684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3200" dirty="0">
                            <a:solidFill>
                              <a:schemeClr val="tx2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726988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3295120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F76D4D4-F777-439C-9715-870EC3C3D8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4800" y="457200"/>
                <a:ext cx="11582400" cy="6019800"/>
              </a:xfrm>
            </p:spPr>
            <p:txBody>
              <a:bodyPr/>
              <a:lstStyle/>
              <a:p>
                <a:pPr marL="0" indent="0">
                  <a:lnSpc>
                    <a:spcPct val="125000"/>
                  </a:lnSpc>
                  <a:buNone/>
                </a:pPr>
                <a:r>
                  <a:rPr lang="zh-CN" altLang="en-US" b="0" dirty="0">
                    <a:solidFill>
                      <a:schemeClr val="tx2"/>
                    </a:solidFill>
                  </a:rPr>
                  <a:t>由程序得：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b="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b="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b="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altLang="zh-CN" b="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b="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b="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b="0" i="1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altLang="zh-CN" b="0" i="1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en-US" altLang="zh-CN" b="0" dirty="0"/>
              </a:p>
              <a:p>
                <a:pPr marL="0" indent="0">
                  <a:lnSpc>
                    <a:spcPct val="100000"/>
                  </a:lnSpc>
                  <a:spcAft>
                    <a:spcPts val="600"/>
                  </a:spcAft>
                  <a:buNone/>
                </a:pPr>
                <a:r>
                  <a:rPr lang="en-US" altLang="zh-CN" b="0" dirty="0"/>
                  <a:t>                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=1.</m:t>
                    </m:r>
                  </m:oMath>
                </a14:m>
                <a:endParaRPr lang="en-US" altLang="zh-CN" b="0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b="0" i="1" dirty="0">
                          <a:latin typeface="Cambria Math" panose="02040503050406030204" pitchFamily="18" charset="0"/>
                        </a:rPr>
                        <m:t>平均</m:t>
                      </m:r>
                      <m:r>
                        <a:rPr lang="zh-CN" altLang="en-US" b="0" i="1" dirty="0" smtClean="0">
                          <a:latin typeface="Cambria Math" panose="02040503050406030204" pitchFamily="18" charset="0"/>
                        </a:rPr>
                        <m:t>时间</m:t>
                      </m:r>
                      <m:r>
                        <a:rPr lang="zh-CN" altLang="en-US" b="0" i="1" dirty="0">
                          <a:latin typeface="Cambria Math" panose="02040503050406030204" pitchFamily="18" charset="0"/>
                        </a:rPr>
                        <m:t>：</m:t>
                      </m:r>
                      <m:acc>
                        <m:accPr>
                          <m:chr m:val="̅"/>
                          <m:ctrlPr>
                            <a:rPr lang="zh-CN" altLang="en-US" b="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acc>
                      <m:d>
                        <m:d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CN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3"/>
                            </m:rPr>
                            <a:rPr lang="en-US" altLang="zh-CN" b="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acc>
                            <m:accPr>
                              <m:chr m:val="̅"/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acc>
                          <m:d>
                            <m:d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altLang="zh-CN" b="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brk m:alnAt="23"/>
                                </m:rP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  <m:e>
                              <m:acc>
                                <m:accPr>
                                  <m:chr m:val="̅"/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</m:acc>
                              <m:d>
                                <m:dPr>
                                  <m:ctrlP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  <m:r>
                                    <a:rPr lang="en-US" altLang="zh-CN" b="0" i="1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b="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en-US" altLang="zh-CN" b="0" dirty="0"/>
              </a:p>
              <a:p>
                <a:pPr marL="0" indent="0">
                  <a:lnSpc>
                    <a:spcPct val="125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b="0" i="1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即：</m:t>
                      </m:r>
                      <m:r>
                        <a:rPr lang="en-US" altLang="zh-CN" b="0" i="1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     </m:t>
                      </m:r>
                      <m:acc>
                        <m:accPr>
                          <m:chr m:val="̅"/>
                          <m:ctrlP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acc>
                      <m:d>
                        <m:dPr>
                          <m:ctrlP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CN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  <m:e>
                          <m:acc>
                            <m:accPr>
                              <m:chr m:val="̅"/>
                              <m:ctrlPr>
                                <a:rPr lang="en-US" altLang="zh-CN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CN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acc>
                          <m:d>
                            <m:dPr>
                              <m:ctrlPr>
                                <a:rPr lang="en-US" altLang="zh-CN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</m:d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nary>
                    </m:oMath>
                  </m:oMathPara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1200"/>
                  </a:spcBef>
                  <a:buNone/>
                </a:pPr>
                <a:r>
                  <a:rPr lang="zh-CN" altLang="en-US" b="0" dirty="0">
                    <a:solidFill>
                      <a:schemeClr val="tx2"/>
                    </a:solidFill>
                  </a:rPr>
                  <a:t>上式两边都乘以</a:t>
                </a:r>
                <a:r>
                  <a:rPr lang="en-US" altLang="zh-CN" b="0" dirty="0">
                    <a:solidFill>
                      <a:schemeClr val="tx2"/>
                    </a:solidFill>
                  </a:rPr>
                  <a:t>n/2</a:t>
                </a:r>
                <a:r>
                  <a:rPr lang="zh-CN" altLang="en-US" b="0" dirty="0">
                    <a:solidFill>
                      <a:schemeClr val="tx2"/>
                    </a:solidFill>
                  </a:rPr>
                  <a:t>，并把求和式展开，得</a:t>
                </a:r>
                <a:endParaRPr lang="en-US" altLang="zh-CN" b="0" dirty="0"/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acc>
                        <m:accPr>
                          <m:chr m:val="̅"/>
                          <m:ctrlP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acc>
                      <m:d>
                        <m:dPr>
                          <m:ctrlP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CN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acc>
                      <m:d>
                        <m:dPr>
                          <m:ctrlP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zh-CN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acc>
                      <m:d>
                        <m:dPr>
                          <m:ctrlP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en-US" altLang="zh-CN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⋯+</m:t>
                      </m:r>
                      <m:acc>
                        <m:accPr>
                          <m:chr m:val="̅"/>
                          <m:ctrlP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</m:acc>
                      <m:d>
                        <m:dPr>
                          <m:ctrlP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altLang="zh-CN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F76D4D4-F777-439C-9715-870EC3C3D8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457200"/>
                <a:ext cx="11582400" cy="6019800"/>
              </a:xfrm>
              <a:blipFill>
                <a:blip r:embed="rId2"/>
                <a:stretch>
                  <a:fillRect l="-1316" t="-20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19694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F76D4D4-F777-439C-9715-870EC3C3D8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4800" y="304800"/>
                <a:ext cx="11582400" cy="6324600"/>
              </a:xfrm>
            </p:spPr>
            <p:txBody>
              <a:bodyPr/>
              <a:lstStyle/>
              <a:p>
                <a:pPr marL="0" indent="0">
                  <a:lnSpc>
                    <a:spcPct val="125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       </m:t>
                      </m:r>
                      <m:f>
                        <m:fPr>
                          <m:ctrlP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acc>
                        <m:accPr>
                          <m:chr m:val="̅"/>
                          <m:ctrlP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acc>
                      <m:d>
                        <m:dPr>
                          <m:ctrlP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CN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acc>
                      <m:d>
                        <m:dPr>
                          <m:ctrlP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acc>
                      <m:d>
                        <m:dPr>
                          <m:ctrlP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⋯+</m:t>
                      </m:r>
                      <m:acc>
                        <m:accPr>
                          <m:chr m:val="̅"/>
                          <m:ctrlP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</m:acc>
                      <m:d>
                        <m:dPr>
                          <m:ctrlP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acc>
                        <m:accPr>
                          <m:chr m:val="̅"/>
                          <m:ctrlP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acc>
                      <m:d>
                        <m:dPr>
                          <m:ctrlP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zh-CN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̅"/>
                          <m:ctrlP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acc>
                      <m:d>
                        <m:dPr>
                          <m:ctrlP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−2</m:t>
                          </m:r>
                        </m:e>
                      </m:d>
                      <m:r>
                        <a:rPr lang="en-US" altLang="zh-CN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acc>
                        <m:accPr>
                          <m:chr m:val="̅"/>
                          <m:ctrlP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acc>
                      <m:d>
                        <m:dPr>
                          <m:ctrlP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−3</m:t>
                          </m:r>
                        </m:e>
                      </m:d>
                      <m:r>
                        <a:rPr lang="en-US" altLang="zh-CN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⋯+</m:t>
                      </m:r>
                      <m:acc>
                        <m:accPr>
                          <m:chr m:val="̅"/>
                          <m:ctrlP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e>
                      </m:acc>
                      <m:d>
                        <m:dPr>
                          <m:ctrlP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altLang="zh-CN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altLang="zh-CN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:r>
                  <a:rPr lang="zh-CN" altLang="en-US" b="0" dirty="0">
                    <a:solidFill>
                      <a:schemeClr val="tx2"/>
                    </a:solidFill>
                  </a:rPr>
                  <a:t>两式相减，得</a:t>
                </a:r>
                <a:endParaRPr lang="en-US" altLang="zh-CN" b="0" dirty="0">
                  <a:solidFill>
                    <a:schemeClr val="tx2"/>
                  </a:solidFill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num>
                        <m:den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acc>
                        <m:accPr>
                          <m:chr m:val="̅"/>
                          <m:ctrlP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acc>
                      <m:d>
                        <m:dPr>
                          <m:ctrlP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acc>
                        <m:accPr>
                          <m:chr m:val="̅"/>
                          <m:ctrlP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acc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−1)=</m:t>
                      </m:r>
                      <m:acc>
                        <m:accPr>
                          <m:chr m:val="̅"/>
                          <m:ctrlP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acc>
                      <m:d>
                        <m:dPr>
                          <m:ctrlP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zh-CN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altLang="zh-CN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altLang="zh-CN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altLang="zh-CN" b="0" dirty="0">
                  <a:solidFill>
                    <a:schemeClr val="tx2"/>
                  </a:solidFill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:r>
                  <a:rPr lang="zh-CN" altLang="en-US" b="0" dirty="0">
                    <a:solidFill>
                      <a:schemeClr val="tx2"/>
                    </a:solidFill>
                  </a:rPr>
                  <a:t>整理得</a:t>
                </a:r>
                <a:endParaRPr lang="en-US" altLang="zh-CN" b="0" dirty="0">
                  <a:solidFill>
                    <a:schemeClr val="tx2"/>
                  </a:solidFill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acc>
                      <m:d>
                        <m:dPr>
                          <m:ctrlP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CN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acc>
                        <m:accPr>
                          <m:chr m:val="̅"/>
                          <m:ctrlP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acc>
                      <m:d>
                        <m:dPr>
                          <m:ctrlP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zh-CN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(2</m:t>
                          </m:r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−1)</m:t>
                          </m:r>
                        </m:num>
                        <m:den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en-US" altLang="zh-CN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acc>
                        <m:accPr>
                          <m:chr m:val="̅"/>
                          <m:ctrlP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acc>
                      <m:d>
                        <m:dPr>
                          <m:ctrlP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US" altLang="zh-CN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n-US" altLang="zh-CN" b="0" dirty="0">
                  <a:solidFill>
                    <a:schemeClr val="tx2"/>
                  </a:solidFill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:endParaRPr lang="en-US" altLang="zh-CN" b="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F76D4D4-F777-439C-9715-870EC3C3D8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304800"/>
                <a:ext cx="11582400" cy="6324600"/>
              </a:xfrm>
              <a:blipFill>
                <a:blip r:embed="rId2"/>
                <a:stretch>
                  <a:fillRect l="-131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906484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表格 5">
                <a:extLst>
                  <a:ext uri="{FF2B5EF4-FFF2-40B4-BE49-F238E27FC236}">
                    <a16:creationId xmlns:a16="http://schemas.microsoft.com/office/drawing/2014/main" id="{EF696041-E699-4A15-870E-E3EE6C79BF8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179585641"/>
                  </p:ext>
                </p:extLst>
              </p:nvPr>
            </p:nvGraphicFramePr>
            <p:xfrm>
              <a:off x="228600" y="533400"/>
              <a:ext cx="11734800" cy="5791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2026">
                      <a:extLst>
                        <a:ext uri="{9D8B030D-6E8A-4147-A177-3AD203B41FA5}">
                          <a16:colId xmlns:a16="http://schemas.microsoft.com/office/drawing/2014/main" val="4040700117"/>
                        </a:ext>
                      </a:extLst>
                    </a:gridCol>
                    <a:gridCol w="1132974">
                      <a:extLst>
                        <a:ext uri="{9D8B030D-6E8A-4147-A177-3AD203B41FA5}">
                          <a16:colId xmlns:a16="http://schemas.microsoft.com/office/drawing/2014/main" val="4219247867"/>
                        </a:ext>
                      </a:extLst>
                    </a:gridCol>
                    <a:gridCol w="1905000">
                      <a:extLst>
                        <a:ext uri="{9D8B030D-6E8A-4147-A177-3AD203B41FA5}">
                          <a16:colId xmlns:a16="http://schemas.microsoft.com/office/drawing/2014/main" val="3164943362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516078595"/>
                        </a:ext>
                      </a:extLst>
                    </a:gridCol>
                    <a:gridCol w="3810000">
                      <a:extLst>
                        <a:ext uri="{9D8B030D-6E8A-4147-A177-3AD203B41FA5}">
                          <a16:colId xmlns:a16="http://schemas.microsoft.com/office/drawing/2014/main" val="3908086995"/>
                        </a:ext>
                      </a:extLst>
                    </a:gridCol>
                    <a:gridCol w="3352800">
                      <a:extLst>
                        <a:ext uri="{9D8B030D-6E8A-4147-A177-3AD203B41FA5}">
                          <a16:colId xmlns:a16="http://schemas.microsoft.com/office/drawing/2014/main" val="2918479607"/>
                        </a:ext>
                      </a:extLst>
                    </a:gridCol>
                  </a:tblGrid>
                  <a:tr h="757705">
                    <a:tc gridSpan="2">
                      <a:txBody>
                        <a:bodyPr/>
                        <a:lstStyle/>
                        <a:p>
                          <a:pPr algn="ctr"/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</m:acc>
                                <m:r>
                                  <a:rPr lang="en-US" altLang="zh-CN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box>
                                      <m:boxPr>
                                        <m:ctrlPr>
                                          <a:rPr lang="en-US" altLang="zh-CN" sz="32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boxPr>
                                      <m:e>
                                        <m:argPr>
                                          <m:argSz m:val="-1"/>
                                        </m:argPr>
                                        <m:f>
                                          <m:fPr>
                                            <m:ctrlPr>
                                              <a:rPr lang="en-US" altLang="zh-CN" sz="3200" b="0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altLang="zh-CN" sz="3200" b="0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  <m:r>
                                              <a:rPr lang="en-US" altLang="zh-CN" sz="3200" b="0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+1</m:t>
                                            </m:r>
                                          </m:num>
                                          <m:den>
                                            <m:r>
                                              <a:rPr lang="en-US" altLang="zh-CN" sz="3200" b="0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den>
                                        </m:f>
                                      </m:e>
                                    </m:box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sz="3200" b="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3200" b="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e>
                                    </m:acc>
                                    <m:d>
                                      <m:dPr>
                                        <m:ctrlPr>
                                          <a:rPr lang="en-US" altLang="zh-CN" sz="3200" b="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3200" b="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altLang="zh-CN" sz="3200" b="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e>
                                    </m:d>
                                    <m:r>
                                      <a:rPr lang="en-US" altLang="zh-CN" sz="3200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6018359"/>
                      </a:ext>
                    </a:extLst>
                  </a:tr>
                  <a:tr h="729696">
                    <a:tc gridSpan="2"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box>
                                  <m:boxPr>
                                    <m:ctrlPr>
                                      <a:rPr lang="zh-CN" altLang="en-US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oxPr>
                                  <m:e>
                                    <m:argPr>
                                      <m:argSz m:val="-1"/>
                                    </m:argPr>
                                    <m:f>
                                      <m:fPr>
                                        <m:ctrlPr>
                                          <a:rPr lang="en-US" altLang="zh-CN" sz="3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CN" sz="3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altLang="zh-CN" sz="3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num>
                                      <m:den>
                                        <m:r>
                                          <a:rPr lang="en-US" altLang="zh-CN" sz="3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den>
                                    </m:f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</m:e>
                                </m:box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</m:acc>
                                <m:r>
                                  <a:rPr lang="en-US" altLang="zh-CN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−1)</m:t>
                                </m:r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box>
                                      <m:boxPr>
                                        <m:ctrlPr>
                                          <a:rPr lang="en-US" altLang="zh-CN" sz="32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boxPr>
                                      <m:e>
                                        <m:argPr>
                                          <m:argSz m:val="-1"/>
                                        </m:argPr>
                                        <m:f>
                                          <m:fPr>
                                            <m:ctrlPr>
                                              <a:rPr lang="en-US" altLang="zh-CN" sz="3200" b="0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altLang="zh-CN" sz="3200" b="0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</m:num>
                                          <m:den>
                                            <m:r>
                                              <a:rPr lang="en-US" altLang="zh-CN" sz="3200" b="0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  <m:r>
                                              <a:rPr lang="en-US" altLang="zh-CN" sz="3200" b="0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−1</m:t>
                                            </m:r>
                                          </m:den>
                                        </m:f>
                                      </m:e>
                                    </m:box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sz="3200" b="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3200" b="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e>
                                    </m:acc>
                                    <m:d>
                                      <m:dPr>
                                        <m:ctrlPr>
                                          <a:rPr lang="en-US" altLang="zh-CN" sz="3200" b="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3200" b="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altLang="zh-CN" sz="3200" b="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−2</m:t>
                                        </m:r>
                                      </m:e>
                                    </m:d>
                                    <m:r>
                                      <a:rPr lang="en-US" altLang="zh-CN" sz="3200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box>
                                  <m:boxPr>
                                    <m:ctrlPr>
                                      <a:rPr lang="zh-CN" altLang="en-US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oxPr>
                                  <m:e>
                                    <m:argPr>
                                      <m:argSz m:val="-1"/>
                                    </m:argPr>
                                    <m:r>
                                      <m:rPr>
                                        <m:brk m:alnAt="63"/>
                                      </m:r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f>
                                      <m:fPr>
                                        <m:ctrlPr>
                                          <a:rPr lang="en-US" altLang="zh-CN" sz="3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CN" sz="3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altLang="zh-CN" sz="3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num>
                                      <m:den>
                                        <m:r>
                                          <a:rPr lang="en-US" altLang="zh-CN" sz="3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den>
                                    </m:f>
                                  </m:e>
                                </m:box>
                              </m:oMath>
                            </m:oMathPara>
                          </a14:m>
                          <a:endParaRPr lang="zh-CN" altLang="en-US" sz="3200" b="0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+mn-cs"/>
                          </a:endParaRP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416227"/>
                      </a:ext>
                    </a:extLst>
                  </a:tr>
                  <a:tr h="757705">
                    <a:tc gridSpan="2"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box>
                                  <m:boxPr>
                                    <m:ctrlPr>
                                      <a:rPr lang="zh-CN" altLang="en-US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oxPr>
                                  <m:e>
                                    <m:argPr>
                                      <m:argSz m:val="-1"/>
                                    </m:argPr>
                                    <m:f>
                                      <m:fPr>
                                        <m:ctrlPr>
                                          <a:rPr lang="en-US" altLang="zh-CN" sz="3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CN" sz="3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altLang="zh-CN" sz="3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num>
                                      <m:den>
                                        <m:r>
                                          <a:rPr lang="en-US" altLang="zh-CN" sz="3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altLang="zh-CN" sz="3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den>
                                    </m:f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</m:e>
                                </m:box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</m:acc>
                                <m:r>
                                  <a:rPr lang="en-US" altLang="zh-CN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−2)</m:t>
                                </m:r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box>
                                      <m:boxPr>
                                        <m:ctrlPr>
                                          <a:rPr lang="en-US" altLang="zh-CN" sz="32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boxPr>
                                      <m:e>
                                        <m:argPr>
                                          <m:argSz m:val="-1"/>
                                        </m:argPr>
                                        <m:f>
                                          <m:fPr>
                                            <m:ctrlPr>
                                              <a:rPr lang="en-US" altLang="zh-CN" sz="3200" b="0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altLang="zh-CN" sz="3200" b="0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  <m:r>
                                              <a:rPr lang="en-US" altLang="zh-CN" sz="3200" b="0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−1</m:t>
                                            </m:r>
                                          </m:num>
                                          <m:den>
                                            <m:r>
                                              <a:rPr lang="en-US" altLang="zh-CN" sz="3200" b="0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  <m:r>
                                              <a:rPr lang="en-US" altLang="zh-CN" sz="3200" b="0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−2</m:t>
                                            </m:r>
                                          </m:den>
                                        </m:f>
                                      </m:e>
                                    </m:box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sz="3200" b="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3200" b="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e>
                                    </m:acc>
                                    <m:d>
                                      <m:dPr>
                                        <m:ctrlPr>
                                          <a:rPr lang="en-US" altLang="zh-CN" sz="3200" b="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3200" b="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altLang="zh-CN" sz="3200" b="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−3</m:t>
                                        </m:r>
                                      </m:e>
                                    </m:d>
                                    <m:r>
                                      <a:rPr lang="en-US" altLang="zh-CN" sz="3200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box>
                                  <m:boxPr>
                                    <m:ctrlPr>
                                      <a:rPr lang="zh-CN" altLang="en-US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oxPr>
                                  <m:e>
                                    <m:argPr>
                                      <m:argSz m:val="-1"/>
                                    </m:argPr>
                                    <m:r>
                                      <m:rPr>
                                        <m:brk m:alnAt="63"/>
                                      </m:r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f>
                                      <m:fPr>
                                        <m:ctrlPr>
                                          <a:rPr lang="en-US" altLang="zh-CN" sz="3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CN" sz="3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altLang="zh-CN" sz="3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num>
                                      <m:den>
                                        <m:r>
                                          <a:rPr lang="en-US" altLang="zh-CN" sz="3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altLang="zh-CN" sz="3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den>
                                    </m:f>
                                  </m:e>
                                </m:box>
                              </m:oMath>
                            </m:oMathPara>
                          </a14:m>
                          <a:endParaRPr lang="zh-CN" altLang="en-US" sz="3200" b="0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+mn-cs"/>
                          </a:endParaRPr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90627"/>
                      </a:ext>
                    </a:extLst>
                  </a:tr>
                  <a:tr h="685784">
                    <a:tc gridSpan="2"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box>
                                  <m:boxPr>
                                    <m:ctrlPr>
                                      <a:rPr lang="zh-CN" altLang="en-US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oxPr>
                                  <m:e>
                                    <m:argPr>
                                      <m:argSz m:val="-1"/>
                                    </m:argPr>
                                    <m:f>
                                      <m:fPr>
                                        <m:ctrlPr>
                                          <a:rPr lang="en-US" altLang="zh-CN" sz="3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CN" sz="3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altLang="zh-CN" sz="3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num>
                                      <m:den>
                                        <m:r>
                                          <a:rPr lang="en-US" altLang="zh-CN" sz="3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altLang="zh-CN" sz="3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−2</m:t>
                                        </m:r>
                                      </m:den>
                                    </m:f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</m:e>
                                </m:box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</m:acc>
                                <m:r>
                                  <a:rPr lang="en-US" altLang="zh-CN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−3)</m:t>
                                </m:r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box>
                                      <m:boxPr>
                                        <m:ctrlPr>
                                          <a:rPr lang="en-US" altLang="zh-CN" sz="32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boxPr>
                                      <m:e>
                                        <m:argPr>
                                          <m:argSz m:val="-1"/>
                                        </m:argPr>
                                        <m:f>
                                          <m:fPr>
                                            <m:ctrlPr>
                                              <a:rPr lang="en-US" altLang="zh-CN" sz="3200" b="0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altLang="zh-CN" sz="3200" b="0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  <m:r>
                                              <a:rPr lang="en-US" altLang="zh-CN" sz="3200" b="0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−2</m:t>
                                            </m:r>
                                          </m:num>
                                          <m:den>
                                            <m:r>
                                              <a:rPr lang="en-US" altLang="zh-CN" sz="3200" b="0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  <m:r>
                                              <a:rPr lang="en-US" altLang="zh-CN" sz="3200" b="0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−3</m:t>
                                            </m:r>
                                          </m:den>
                                        </m:f>
                                      </m:e>
                                    </m:box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sz="3200" b="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3200" b="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e>
                                    </m:acc>
                                    <m:d>
                                      <m:dPr>
                                        <m:ctrlPr>
                                          <a:rPr lang="en-US" altLang="zh-CN" sz="3200" b="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3200" b="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altLang="zh-CN" sz="3200" b="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−4</m:t>
                                        </m:r>
                                      </m:e>
                                    </m:d>
                                    <m:r>
                                      <a:rPr lang="en-US" altLang="zh-CN" sz="3200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box>
                                  <m:boxPr>
                                    <m:ctrlPr>
                                      <a:rPr lang="zh-CN" altLang="en-US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oxPr>
                                  <m:e>
                                    <m:argPr>
                                      <m:argSz m:val="-1"/>
                                    </m:argPr>
                                    <m:r>
                                      <m:rPr>
                                        <m:brk m:alnAt="63"/>
                                      </m:r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f>
                                      <m:fPr>
                                        <m:ctrlPr>
                                          <a:rPr lang="en-US" altLang="zh-CN" sz="3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CN" sz="3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altLang="zh-CN" sz="3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num>
                                      <m:den>
                                        <m:r>
                                          <a:rPr lang="en-US" altLang="zh-CN" sz="3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altLang="zh-CN" sz="3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−2</m:t>
                                        </m:r>
                                      </m:den>
                                    </m:f>
                                  </m:e>
                                </m:box>
                              </m:oMath>
                            </m:oMathPara>
                          </a14:m>
                          <a:endParaRPr lang="zh-CN" altLang="en-US" sz="3200" b="0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39262054"/>
                      </a:ext>
                    </a:extLst>
                  </a:tr>
                  <a:tr h="661776">
                    <a:tc gridSpan="2">
                      <a:txBody>
                        <a:bodyPr/>
                        <a:lstStyle/>
                        <a:p>
                          <a:pPr algn="r"/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zh-CN" alt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zh-CN" alt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⋯</m:t>
                                </m:r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7653453"/>
                      </a:ext>
                    </a:extLst>
                  </a:tr>
                  <a:tr h="756399">
                    <a:tc gridSpan="2"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box>
                                  <m:boxPr>
                                    <m:ctrlPr>
                                      <a:rPr lang="zh-CN" altLang="en-US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oxPr>
                                  <m:e>
                                    <m:argPr>
                                      <m:argSz m:val="-1"/>
                                    </m:argPr>
                                    <m:f>
                                      <m:fPr>
                                        <m:ctrlPr>
                                          <a:rPr lang="en-US" altLang="zh-CN" sz="3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CN" sz="3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altLang="zh-CN" sz="3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num>
                                      <m:den>
                                        <m:r>
                                          <a:rPr lang="en-US" altLang="zh-CN" sz="3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</m:e>
                                </m:box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</m:acc>
                                <m:r>
                                  <a:rPr lang="en-US" altLang="zh-CN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(3)</m:t>
                                </m:r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box>
                                      <m:boxPr>
                                        <m:ctrlPr>
                                          <a:rPr lang="en-US" altLang="zh-CN" sz="32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boxPr>
                                      <m:e>
                                        <m:argPr>
                                          <m:argSz m:val="-1"/>
                                        </m:argPr>
                                        <m:f>
                                          <m:fPr>
                                            <m:ctrlPr>
                                              <a:rPr lang="en-US" altLang="zh-CN" sz="3200" b="0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altLang="zh-CN" sz="3200" b="0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4</m:t>
                                            </m:r>
                                          </m:num>
                                          <m:den>
                                            <m:r>
                                              <a:rPr lang="en-US" altLang="zh-CN" sz="3200" b="0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den>
                                        </m:f>
                                      </m:e>
                                    </m:box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sz="3200" b="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3200" b="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e>
                                    </m:acc>
                                    <m:d>
                                      <m:dPr>
                                        <m:ctrlPr>
                                          <a:rPr lang="en-US" altLang="zh-CN" sz="3200" b="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32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e>
                                    </m:d>
                                    <m:r>
                                      <a:rPr lang="en-US" altLang="zh-CN" sz="3200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box>
                                  <m:boxPr>
                                    <m:ctrlPr>
                                      <a:rPr lang="zh-CN" altLang="en-US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oxPr>
                                  <m:e>
                                    <m:argPr>
                                      <m:argSz m:val="-1"/>
                                    </m:argPr>
                                    <m:r>
                                      <m:rPr>
                                        <m:brk m:alnAt="63"/>
                                      </m:r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f>
                                      <m:fPr>
                                        <m:ctrlPr>
                                          <a:rPr lang="en-US" altLang="zh-CN" sz="3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CN" sz="3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altLang="zh-CN" sz="3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num>
                                      <m:den>
                                        <m:r>
                                          <a:rPr lang="en-US" altLang="zh-CN" sz="3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den>
                                    </m:f>
                                  </m:e>
                                </m:box>
                              </m:oMath>
                            </m:oMathPara>
                          </a14:m>
                          <a:endParaRPr lang="zh-CN" altLang="en-US" sz="3200" b="0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3232275"/>
                      </a:ext>
                    </a:extLst>
                  </a:tr>
                  <a:tr h="755892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r>
                                  <a:rPr lang="en-US" altLang="zh-CN" sz="36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</m:oMath>
                            </m:oMathPara>
                          </a14:m>
                          <a:endParaRPr lang="zh-CN" altLang="en-US" sz="3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box>
                                  <m:boxPr>
                                    <m:ctrlPr>
                                      <a:rPr lang="zh-CN" altLang="en-US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oxPr>
                                  <m:e>
                                    <m:argPr>
                                      <m:argSz m:val="-1"/>
                                    </m:argPr>
                                    <m:f>
                                      <m:fPr>
                                        <m:ctrlPr>
                                          <a:rPr lang="en-US" altLang="zh-CN" sz="3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CN" sz="3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altLang="zh-CN" sz="3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num>
                                      <m:den>
                                        <m:r>
                                          <a:rPr lang="en-US" altLang="zh-CN" sz="3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</m:e>
                                </m:box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</m:acc>
                                <m:r>
                                  <a:rPr lang="en-US" altLang="zh-CN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(2)</m:t>
                                </m:r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d>
                                  <m:dPr>
                                    <m:ctrl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box>
                                      <m:boxPr>
                                        <m:ctrlPr>
                                          <a:rPr lang="en-US" altLang="zh-CN" sz="32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boxPr>
                                      <m:e>
                                        <m:argPr>
                                          <m:argSz m:val="-1"/>
                                        </m:argPr>
                                        <m:f>
                                          <m:fPr>
                                            <m:ctrlPr>
                                              <a:rPr lang="en-US" altLang="zh-CN" sz="3200" b="0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altLang="zh-CN" sz="3200" b="0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num>
                                          <m:den>
                                            <m:r>
                                              <a:rPr lang="en-US" altLang="zh-CN" sz="3200" b="0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</m:e>
                                    </m:box>
                                    <m:acc>
                                      <m:accPr>
                                        <m:chr m:val="̅"/>
                                        <m:ctrlPr>
                                          <a:rPr lang="en-US" altLang="zh-CN" sz="3200" b="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zh-CN" sz="3200" b="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𝑇</m:t>
                                        </m:r>
                                      </m:e>
                                    </m:acc>
                                    <m:d>
                                      <m:dPr>
                                        <m:ctrlPr>
                                          <a:rPr lang="en-US" altLang="zh-CN" sz="3200" b="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zh-CN" sz="3200" b="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e>
                                    </m:d>
                                    <m:r>
                                      <a:rPr lang="en-US" altLang="zh-CN" sz="3200" b="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+2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box>
                                  <m:boxPr>
                                    <m:ctrlPr>
                                      <a:rPr lang="zh-CN" altLang="en-US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oxPr>
                                  <m:e>
                                    <m:argPr>
                                      <m:argSz m:val="-1"/>
                                    </m:argPr>
                                    <m:r>
                                      <m:rPr>
                                        <m:brk m:alnAt="63"/>
                                      </m:r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×</m:t>
                                    </m:r>
                                    <m:f>
                                      <m:fPr>
                                        <m:ctrlPr>
                                          <a:rPr lang="en-US" altLang="zh-CN" sz="3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CN" sz="3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altLang="zh-CN" sz="3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num>
                                      <m:den>
                                        <m:r>
                                          <a:rPr lang="en-US" altLang="zh-CN" sz="3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den>
                                    </m:f>
                                  </m:e>
                                </m:box>
                              </m:oMath>
                            </m:oMathPara>
                          </a14:m>
                          <a:endParaRPr lang="zh-CN" altLang="en-US" sz="3200" b="0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+mn-cs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1456219"/>
                      </a:ext>
                    </a:extLst>
                  </a:tr>
                  <a:tr h="686243">
                    <a:tc gridSpan="2">
                      <a:txBody>
                        <a:bodyPr/>
                        <a:lstStyle/>
                        <a:p>
                          <a:pPr algn="ctr"/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 xmlns:m="http://schemas.openxmlformats.org/officeDocument/2006/math">
                                <m:acc>
                                  <m:accPr>
                                    <m:chr m:val="̅"/>
                                    <m:ctrl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</m:acc>
                                <m:r>
                                  <a:rPr lang="en-US" altLang="zh-CN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altLang="zh-CN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zh-CN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&lt;</m:t>
                                </m:r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box>
                                  <m:boxPr>
                                    <m:ctrlPr>
                                      <a:rPr lang="zh-CN" altLang="en-US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boxPr>
                                  <m:e>
                                    <m:argPr>
                                      <m:argSz m:val="-1"/>
                                    </m:argPr>
                                    <m:f>
                                      <m:fPr>
                                        <m:ctrlPr>
                                          <a:rPr lang="en-US" altLang="zh-CN" sz="3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altLang="zh-CN" sz="3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altLang="zh-CN" sz="3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num>
                                      <m:den>
                                        <m:r>
                                          <a:rPr lang="en-US" altLang="zh-CN" sz="3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box>
                                <m:acc>
                                  <m:accPr>
                                    <m:chr m:val="̅"/>
                                    <m:ctrl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𝑇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e>
                                </m:d>
                                <m:r>
                                  <a:rPr lang="en-US" altLang="zh-CN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+2(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zh-CN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n</m:t>
                                </m:r>
                                <m:r>
                                  <a:rPr lang="en-US" altLang="zh-CN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+1)</m:t>
                                </m:r>
                                <m:d>
                                  <m:dPr>
                                    <m:ctrl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box>
                                      <m:boxPr>
                                        <m:ctrlPr>
                                          <a:rPr lang="en-US" altLang="zh-CN" sz="3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boxPr>
                                      <m:e>
                                        <m:argPr>
                                          <m:argSz m:val="-1"/>
                                        </m:argPr>
                                        <m:f>
                                          <m:fPr>
                                            <m:ctrlPr>
                                              <a:rPr lang="en-US" altLang="zh-CN" sz="32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altLang="zh-CN" sz="32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r>
                                              <a:rPr lang="en-US" altLang="zh-CN" sz="32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3</m:t>
                                            </m:r>
                                          </m:den>
                                        </m:f>
                                        <m:r>
                                          <a:rPr lang="en-US" altLang="zh-CN" sz="3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box>
                                          <m:boxPr>
                                            <m:ctrlPr>
                                              <a:rPr lang="en-US" altLang="zh-CN" sz="32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boxPr>
                                          <m:e>
                                            <m:argPr>
                                              <m:argSz m:val="-1"/>
                                            </m:argPr>
                                            <m:f>
                                              <m:fPr>
                                                <m:ctrlPr>
                                                  <a:rPr lang="en-US" altLang="zh-CN" sz="32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fPr>
                                              <m:num>
                                                <m:r>
                                                  <a:rPr lang="en-US" altLang="zh-CN" sz="32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1</m:t>
                                                </m:r>
                                              </m:num>
                                              <m:den>
                                                <m:r>
                                                  <a:rPr lang="en-US" altLang="zh-CN" sz="32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4</m:t>
                                                </m:r>
                                              </m:den>
                                            </m:f>
                                            <m:r>
                                              <a:rPr lang="en-US" altLang="zh-CN" sz="32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</a:rPr>
                                              <m:t>+</m:t>
                                            </m:r>
                                            <m:box>
                                              <m:boxPr>
                                                <m:ctrlPr>
                                                  <a:rPr lang="en-US" altLang="zh-CN" sz="32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boxPr>
                                              <m:e>
                                                <m:argPr>
                                                  <m:argSz m:val="-1"/>
                                                </m:argPr>
                                                <m:f>
                                                  <m:fPr>
                                                    <m:ctrlPr>
                                                      <a:rPr lang="en-US" altLang="zh-CN" sz="32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fPr>
                                                  <m:num>
                                                    <m:r>
                                                      <a:rPr lang="en-US" altLang="zh-CN" sz="32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1</m:t>
                                                    </m:r>
                                                  </m:num>
                                                  <m:den>
                                                    <m:r>
                                                      <a:rPr lang="en-US" altLang="zh-CN" sz="32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  <m:t>5</m:t>
                                                    </m:r>
                                                  </m:den>
                                                </m:f>
                                                <m:r>
                                                  <a:rPr lang="en-US" altLang="zh-CN" sz="32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</a:rPr>
                                                  <m:t>+</m:t>
                                                </m:r>
                                                <m:box>
                                                  <m:boxPr>
                                                    <m:ctrlPr>
                                                      <a:rPr lang="en-US" altLang="zh-CN" sz="32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</a:rPr>
                                                    </m:ctrlPr>
                                                  </m:boxPr>
                                                  <m:e>
                                                    <m:argPr>
                                                      <m:argSz m:val="-1"/>
                                                    </m:argPr>
                                                    <m:f>
                                                      <m:fPr>
                                                        <m:ctrlPr>
                                                          <a:rPr lang="en-US" altLang="zh-CN" sz="3200" b="0" i="1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</m:ctrlPr>
                                                      </m:fPr>
                                                      <m:num>
                                                        <m:r>
                                                          <a:rPr lang="en-US" altLang="zh-CN" sz="3200" b="0" i="1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1</m:t>
                                                        </m:r>
                                                      </m:num>
                                                      <m:den>
                                                        <m:r>
                                                          <a:rPr lang="en-US" altLang="zh-CN" sz="3200" b="0" i="1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</a:rPr>
                                                          <m:t>6</m:t>
                                                        </m:r>
                                                      </m:den>
                                                    </m:f>
                                                  </m:e>
                                                </m:box>
                                                <m:r>
                                                  <a:rPr lang="en-US" altLang="zh-CN" sz="3200" b="0" i="1" smtClean="0">
                                                    <a:solidFill>
                                                      <a:schemeClr val="tx1"/>
                                                    </a:solidFill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⋯+</m:t>
                                                </m:r>
                                                <m:box>
                                                  <m:boxPr>
                                                    <m:ctrlPr>
                                                      <a:rPr lang="en-US" altLang="zh-CN" sz="3200" b="0" i="1" smtClean="0">
                                                        <a:solidFill>
                                                          <a:schemeClr val="tx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ea typeface="Cambria Math" panose="02040503050406030204" pitchFamily="18" charset="0"/>
                                                      </a:rPr>
                                                    </m:ctrlPr>
                                                  </m:boxPr>
                                                  <m:e>
                                                    <m:argPr>
                                                      <m:argSz m:val="-1"/>
                                                    </m:argPr>
                                                    <m:f>
                                                      <m:fPr>
                                                        <m:ctrlPr>
                                                          <a:rPr lang="en-US" altLang="zh-CN" sz="3200" b="0" i="1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</m:ctrlPr>
                                                      </m:fPr>
                                                      <m:num>
                                                        <m:r>
                                                          <a:rPr lang="en-US" altLang="zh-CN" sz="3200" b="0" i="1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1</m:t>
                                                        </m:r>
                                                      </m:num>
                                                      <m:den>
                                                        <m:r>
                                                          <a:rPr lang="en-US" altLang="zh-CN" sz="3200" b="0" i="1" smtClean="0">
                                                            <a:solidFill>
                                                              <a:schemeClr val="tx1"/>
                                                            </a:solidFill>
                                                            <a:latin typeface="Cambria Math" panose="02040503050406030204" pitchFamily="18" charset="0"/>
                                                            <a:ea typeface="Cambria Math" panose="02040503050406030204" pitchFamily="18" charset="0"/>
                                                          </a:rPr>
                                                          <m:t>𝑛</m:t>
                                                        </m:r>
                                                      </m:den>
                                                    </m:f>
                                                  </m:e>
                                                </m:box>
                                              </m:e>
                                            </m:box>
                                          </m:e>
                                        </m:box>
                                      </m:e>
                                    </m:box>
                                  </m:e>
                                </m:d>
                                <m:r>
                                  <a:rPr lang="en-US" altLang="zh-CN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altLang="zh-CN" sz="3200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3200" b="0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+mn-cs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31379838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表格 5">
                <a:extLst>
                  <a:ext uri="{FF2B5EF4-FFF2-40B4-BE49-F238E27FC236}">
                    <a16:creationId xmlns:a16="http://schemas.microsoft.com/office/drawing/2014/main" id="{EF696041-E699-4A15-870E-E3EE6C79BF8C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179585641"/>
                  </p:ext>
                </p:extLst>
              </p:nvPr>
            </p:nvGraphicFramePr>
            <p:xfrm>
              <a:off x="228600" y="533400"/>
              <a:ext cx="11734800" cy="57912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72026">
                      <a:extLst>
                        <a:ext uri="{9D8B030D-6E8A-4147-A177-3AD203B41FA5}">
                          <a16:colId xmlns:a16="http://schemas.microsoft.com/office/drawing/2014/main" val="4040700117"/>
                        </a:ext>
                      </a:extLst>
                    </a:gridCol>
                    <a:gridCol w="1132974">
                      <a:extLst>
                        <a:ext uri="{9D8B030D-6E8A-4147-A177-3AD203B41FA5}">
                          <a16:colId xmlns:a16="http://schemas.microsoft.com/office/drawing/2014/main" val="4219247867"/>
                        </a:ext>
                      </a:extLst>
                    </a:gridCol>
                    <a:gridCol w="1905000">
                      <a:extLst>
                        <a:ext uri="{9D8B030D-6E8A-4147-A177-3AD203B41FA5}">
                          <a16:colId xmlns:a16="http://schemas.microsoft.com/office/drawing/2014/main" val="3164943362"/>
                        </a:ext>
                      </a:extLst>
                    </a:gridCol>
                    <a:gridCol w="762000">
                      <a:extLst>
                        <a:ext uri="{9D8B030D-6E8A-4147-A177-3AD203B41FA5}">
                          <a16:colId xmlns:a16="http://schemas.microsoft.com/office/drawing/2014/main" val="516078595"/>
                        </a:ext>
                      </a:extLst>
                    </a:gridCol>
                    <a:gridCol w="3810000">
                      <a:extLst>
                        <a:ext uri="{9D8B030D-6E8A-4147-A177-3AD203B41FA5}">
                          <a16:colId xmlns:a16="http://schemas.microsoft.com/office/drawing/2014/main" val="3908086995"/>
                        </a:ext>
                      </a:extLst>
                    </a:gridCol>
                    <a:gridCol w="3352800">
                      <a:extLst>
                        <a:ext uri="{9D8B030D-6E8A-4147-A177-3AD203B41FA5}">
                          <a16:colId xmlns:a16="http://schemas.microsoft.com/office/drawing/2014/main" val="2918479607"/>
                        </a:ext>
                      </a:extLst>
                    </a:gridCol>
                  </a:tblGrid>
                  <a:tr h="757705">
                    <a:tc gridSpan="2">
                      <a:txBody>
                        <a:bodyPr/>
                        <a:lstStyle/>
                        <a:p>
                          <a:pPr algn="ctr"/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641" t="-806" r="-417628" b="-6685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0800" t="-806" r="-942400" b="-6685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19968" t="-806" r="-88179" b="-6685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6018359"/>
                      </a:ext>
                    </a:extLst>
                  </a:tr>
                  <a:tr h="729696"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319" t="-104167" r="-515974" b="-59083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00641" t="-104167" r="-417628" b="-5908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00800" t="-104167" r="-942400" b="-5908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19968" t="-104167" r="-88179" b="-5908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250364" t="-104167" r="-364" b="-5908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98416227"/>
                      </a:ext>
                    </a:extLst>
                  </a:tr>
                  <a:tr h="757705"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2"/>
                          <a:stretch>
                            <a:fillRect l="-319" t="-196000" r="-515974" b="-46720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2"/>
                          <a:stretch>
                            <a:fillRect l="-100641" t="-196000" r="-417628" b="-4672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2"/>
                          <a:stretch>
                            <a:fillRect l="-500800" t="-196000" r="-942400" b="-4672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2"/>
                          <a:stretch>
                            <a:fillRect l="-119968" t="-196000" r="-88179" b="-4672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2"/>
                          <a:stretch>
                            <a:fillRect l="-250364" t="-196000" r="-364" b="-4672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2190627"/>
                      </a:ext>
                    </a:extLst>
                  </a:tr>
                  <a:tr h="685784"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9" t="-330357" r="-515974" b="-42142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641" t="-330357" r="-417628" b="-42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0800" t="-330357" r="-942400" b="-42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9968" t="-330357" r="-88179" b="-42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0364" t="-330357" r="-364" b="-42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39262054"/>
                      </a:ext>
                    </a:extLst>
                  </a:tr>
                  <a:tr h="661776">
                    <a:tc gridSpan="2">
                      <a:txBody>
                        <a:bodyPr/>
                        <a:lstStyle/>
                        <a:p>
                          <a:pPr algn="r"/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641" t="-442202" r="-417628" b="-3330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0800" t="-442202" r="-942400" b="-3330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9968" t="-442202" r="-88179" b="-33302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7653453"/>
                      </a:ext>
                    </a:extLst>
                  </a:tr>
                  <a:tr h="756399"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19" t="-476613" r="-515974" b="-192742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00641" t="-476613" r="-417628" b="-1927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500800" t="-476613" r="-942400" b="-1927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19968" t="-476613" r="-88179" b="-1927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50364" t="-476613" r="-364" b="-1927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3232275"/>
                      </a:ext>
                    </a:extLst>
                  </a:tr>
                  <a:tr h="755892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87" t="-576613" r="-1418110" b="-927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8817" t="-576613" r="-868280" b="-927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641" t="-576613" r="-417628" b="-927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0800" t="-576613" r="-942400" b="-927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19968" t="-576613" r="-88179" b="-927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50364" t="-576613" r="-364" b="-927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21456219"/>
                      </a:ext>
                    </a:extLst>
                  </a:tr>
                  <a:tr h="686243">
                    <a:tc gridSpan="2">
                      <a:txBody>
                        <a:bodyPr/>
                        <a:lstStyle/>
                        <a:p>
                          <a:pPr algn="ctr"/>
                          <a:endParaRPr lang="zh-CN" altLang="en-US" sz="32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2"/>
                          <a:stretch>
                            <a:fillRect l="-100641" t="-742478" r="-417628" b="-17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2"/>
                          <a:stretch>
                            <a:fillRect l="-500800" t="-742478" r="-942400" b="-1770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2"/>
                          <a:stretch>
                            <a:fillRect l="-63861" t="-742478" r="-170" b="-177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zh-CN" altLang="en-US" sz="3200" b="0" i="1" kern="1200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+mn-cs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31379838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378553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F76D4D4-F777-439C-9715-870EC3C3D8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6200" y="304800"/>
                <a:ext cx="10134600" cy="5715000"/>
              </a:xfrm>
            </p:spPr>
            <p:txBody>
              <a:bodyPr/>
              <a:lstStyle/>
              <a:p>
                <a:pPr marL="0" indent="0">
                  <a:lnSpc>
                    <a:spcPct val="125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acc>
                      <m:d>
                        <m:dPr>
                          <m:ctrlP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en-US" altLang="zh-CN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num>
                        <m:den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d>
                        <m:dPr>
                          <m:ctrlP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d>
                        <m:dPr>
                          <m:ctrlP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n>
                          </m:f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den>
                          </m:f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⋯+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d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+2</m:t>
                      </m:r>
                    </m:oMath>
                  </m:oMathPara>
                </a14:m>
                <a:endParaRPr lang="en-US" altLang="zh-CN" b="0" dirty="0">
                  <a:solidFill>
                    <a:schemeClr val="tx2"/>
                  </a:solidFill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altLang="zh-CN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&lt;</m:t>
                      </m:r>
                      <m:f>
                        <m:fPr>
                          <m:ctrlP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d>
                        <m:dPr>
                          <m:ctrlP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nary>
                        <m:naryPr>
                          <m:ctrlP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en-US" altLang="zh-CN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nary>
                    </m:oMath>
                  </m:oMathPara>
                </a14:m>
                <a:endParaRPr lang="en-US" altLang="zh-CN" b="0" dirty="0">
                  <a:solidFill>
                    <a:schemeClr val="tx2"/>
                  </a:solidFill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=</m:t>
                      </m:r>
                      <m:f>
                        <m:fPr>
                          <m:ctrlP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+5</m:t>
                          </m:r>
                        </m:num>
                        <m:den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altLang="zh-CN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+2</m:t>
                      </m:r>
                      <m:d>
                        <m:dPr>
                          <m:ctrlP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d>
                        <m:dPr>
                          <m:ctrlP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b="0" i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ln</m:t>
                                  </m:r>
                                </m:fName>
                                <m:e>
                                  <m:r>
                                    <a:rPr lang="en-US" altLang="zh-CN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func>
                            </m:e>
                          </m:func>
                        </m:e>
                      </m:d>
                    </m:oMath>
                  </m:oMathPara>
                </a14:m>
                <a:endParaRPr lang="en-US" altLang="zh-CN" b="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=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+1)</m:t>
                          </m:r>
                          <m:func>
                            <m:funcPr>
                              <m:ctrlP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CN" b="0" i="0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r>
                                <a:rPr lang="en-US" altLang="zh-CN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US" altLang="zh-CN" b="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=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func>
                        <m:funcPr>
                          <m:ctrlP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altLang="zh-CN" b="0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US" altLang="zh-CN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b="0" i="1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=</m:t>
                      </m:r>
                      <m:r>
                        <a:rPr lang="en-US" altLang="zh-CN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𝑶</m:t>
                      </m:r>
                      <m:r>
                        <a:rPr lang="en-US" altLang="zh-CN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𝒏</m:t>
                      </m:r>
                      <m:func>
                        <m:funcPr>
                          <m:ctrlPr>
                            <a:rPr lang="en-US" altLang="zh-CN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CN" b="1" i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𝐥𝐨𝐠</m:t>
                          </m:r>
                        </m:fName>
                        <m:e>
                          <m:r>
                            <a:rPr lang="en-US" altLang="zh-CN" b="1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𝒏</m:t>
                          </m:r>
                        </m:e>
                      </m:func>
                      <m:r>
                        <a:rPr lang="en-US" altLang="zh-CN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dirty="0">
                  <a:solidFill>
                    <a:schemeClr val="tx2"/>
                  </a:solidFill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:endParaRPr lang="en-US" altLang="zh-CN" b="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F76D4D4-F777-439C-9715-870EC3C3D8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" y="304800"/>
                <a:ext cx="10134600" cy="5715000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AF939028-AC65-46A6-98EB-BEF91C9AD7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2848" y="1905000"/>
            <a:ext cx="5774352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54648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233612-FD80-174C-E5A0-B5F5BA789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Median-of-Three Quicksort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CA0AF8EE-DF9C-3C48-3384-6A42F80996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55059"/>
            <a:ext cx="11582400" cy="5181600"/>
          </a:xfrm>
        </p:spPr>
        <p:txBody>
          <a:bodyPr/>
          <a:lstStyle/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void </a:t>
            </a:r>
            <a:r>
              <a:rPr lang="en-US" altLang="zh-CN" b="0" dirty="0" err="1"/>
              <a:t>QuickSort</a:t>
            </a:r>
            <a:r>
              <a:rPr lang="en-US" altLang="zh-CN" b="0" dirty="0"/>
              <a:t>(int a[], unsigned int n){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    if(n&lt;=9) {  </a:t>
            </a:r>
            <a:r>
              <a:rPr lang="en-US" altLang="zh-CN" b="0" dirty="0" err="1"/>
              <a:t>InsertionSort</a:t>
            </a:r>
            <a:r>
              <a:rPr lang="en-US" altLang="zh-CN" b="0" dirty="0"/>
              <a:t>(</a:t>
            </a:r>
            <a:r>
              <a:rPr lang="en-US" altLang="zh-CN" b="0" dirty="0" err="1"/>
              <a:t>a,n</a:t>
            </a:r>
            <a:r>
              <a:rPr lang="en-US" altLang="zh-CN" b="0" dirty="0"/>
              <a:t>);  return;    }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    pivot=</a:t>
            </a:r>
            <a:r>
              <a:rPr lang="en-US" altLang="zh-CN" b="0" dirty="0" err="1"/>
              <a:t>MiddleOf</a:t>
            </a:r>
            <a:r>
              <a:rPr lang="en-US" altLang="zh-CN" b="0" dirty="0"/>
              <a:t>(a[0],a[n/2],a[n-1]);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    loop: do{ left++; } while(*left&lt;pivot);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             do{ right--; } while(*right&gt;pivot);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             if(left&lt;right) { Swap(</a:t>
            </a:r>
            <a:r>
              <a:rPr lang="en-US" altLang="zh-CN" b="0" dirty="0" err="1"/>
              <a:t>left,right</a:t>
            </a:r>
            <a:r>
              <a:rPr lang="en-US" altLang="zh-CN" b="0" dirty="0"/>
              <a:t>); </a:t>
            </a:r>
            <a:r>
              <a:rPr lang="en-US" altLang="zh-CN" b="0" dirty="0" err="1"/>
              <a:t>goto</a:t>
            </a:r>
            <a:r>
              <a:rPr lang="en-US" altLang="zh-CN" b="0" dirty="0"/>
              <a:t> loop; }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QuickSort</a:t>
            </a:r>
            <a:r>
              <a:rPr lang="en-US" altLang="zh-CN" b="0" dirty="0"/>
              <a:t>(</a:t>
            </a:r>
            <a:r>
              <a:rPr lang="en-US" altLang="zh-CN" b="0" dirty="0" err="1"/>
              <a:t>LeftPart</a:t>
            </a:r>
            <a:r>
              <a:rPr lang="en-US" altLang="zh-CN" b="0" dirty="0"/>
              <a:t>);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QuickSort</a:t>
            </a:r>
            <a:r>
              <a:rPr lang="en-US" altLang="zh-CN" b="0" dirty="0"/>
              <a:t>(</a:t>
            </a:r>
            <a:r>
              <a:rPr lang="en-US" altLang="zh-CN" b="0" dirty="0" err="1"/>
              <a:t>RightPart</a:t>
            </a:r>
            <a:r>
              <a:rPr lang="en-US" altLang="zh-CN" b="0" dirty="0"/>
              <a:t>);</a:t>
            </a:r>
          </a:p>
          <a:p>
            <a:pPr marL="0" indent="0">
              <a:lnSpc>
                <a:spcPct val="125000"/>
              </a:lnSpc>
              <a:buNone/>
            </a:pPr>
            <a:r>
              <a:rPr lang="en-US" altLang="zh-CN" b="0" dirty="0"/>
              <a:t>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26727006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1AF639-2EA0-E4B0-ADB0-263F954B4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533400"/>
            <a:ext cx="11811000" cy="685800"/>
          </a:xfrm>
        </p:spPr>
        <p:txBody>
          <a:bodyPr/>
          <a:lstStyle/>
          <a:p>
            <a:r>
              <a:rPr lang="zh-CN" altLang="en-US" dirty="0"/>
              <a:t>快速排序的时间复杂度</a:t>
            </a:r>
            <a:r>
              <a:rPr lang="en-US" altLang="zh-CN" dirty="0"/>
              <a:t>[Sedgewick 1975]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EEB63B2-02FE-F9AA-627E-2ACE851C3EC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任选支点：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𝟑𝟖𝟔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𝒏</m:t>
                    </m:r>
                    <m:func>
                      <m:func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fName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func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三者取中：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𝟏𝟖𝟖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𝒏</m:t>
                    </m:r>
                    <m:func>
                      <m:func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fName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func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五者取中：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𝟏𝟐𝟒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𝒏</m:t>
                    </m:r>
                    <m:func>
                      <m:func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fName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func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r>
                  <a:rPr lang="zh-CN" altLang="en-US" dirty="0"/>
                  <a:t>一般地：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𝑯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𝒕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sub>
                        </m:sSub>
                      </m:den>
                    </m:f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𝒏</m:t>
                    </m:r>
                    <m:func>
                      <m:func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𝒆</m:t>
                            </m:r>
                          </m:sub>
                        </m:sSub>
                      </m:fName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𝑶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zh-CN" altLang="en-US" dirty="0"/>
                  <a:t>，其中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𝟏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,⋯</m:t>
                    </m:r>
                  </m:oMath>
                </a14:m>
                <a:r>
                  <a:rPr lang="en-US" altLang="zh-CN" dirty="0"/>
                  <a:t>,</a:t>
                </a:r>
              </a:p>
              <a:p>
                <a:pPr marL="0" indent="0">
                  <a:buNone/>
                </a:pPr>
                <a:r>
                  <a:rPr lang="zh-CN" altLang="en-US" dirty="0"/>
                  <a:t>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den>
                    </m:f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den>
                    </m:f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den>
                    </m:f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⋯+</m:t>
                    </m:r>
                    <m:f>
                      <m:fPr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𝒏</m:t>
                        </m:r>
                      </m:den>
                    </m:f>
                  </m:oMath>
                </a14:m>
                <a:r>
                  <a:rPr lang="zh-CN" altLang="en-US" dirty="0"/>
                  <a:t>  是调和数。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EEB63B2-02FE-F9AA-627E-2ACE851C3EC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8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94719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9CADD8-6595-4A2D-8713-BBF58A882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选择类排序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D7C868-3FD9-4EAB-918F-6256D5BFE4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基本思想</a:t>
            </a:r>
            <a:r>
              <a:rPr lang="zh-CN" altLang="en-US" b="0" dirty="0"/>
              <a:t>：选择最小的元素。</a:t>
            </a:r>
            <a:endParaRPr lang="en-US" altLang="zh-CN" b="0" dirty="0"/>
          </a:p>
          <a:p>
            <a:r>
              <a:rPr lang="zh-CN" altLang="en-US" dirty="0"/>
              <a:t>具体算法</a:t>
            </a:r>
            <a:endParaRPr lang="en-US" altLang="zh-CN" dirty="0"/>
          </a:p>
          <a:p>
            <a:pPr lvl="1"/>
            <a:r>
              <a:rPr lang="zh-CN" altLang="en-US" dirty="0"/>
              <a:t>简单选择排序：从待排序的数中选出最小的数，放在前面。</a:t>
            </a:r>
            <a:endParaRPr lang="en-US" altLang="zh-CN" dirty="0"/>
          </a:p>
          <a:p>
            <a:pPr lvl="1"/>
            <a:r>
              <a:rPr lang="zh-CN" altLang="en-US" dirty="0"/>
              <a:t>树形选择排序：像锦标赛一样两两相比，选出冠军</a:t>
            </a:r>
            <a:r>
              <a:rPr lang="en-US" altLang="zh-CN" dirty="0"/>
              <a:t>(</a:t>
            </a:r>
            <a:r>
              <a:rPr lang="zh-CN" altLang="en-US" dirty="0"/>
              <a:t>最小数或最大数</a:t>
            </a:r>
            <a:r>
              <a:rPr lang="en-US" altLang="zh-CN" dirty="0"/>
              <a:t>)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en-US" dirty="0"/>
              <a:t>堆排序：利用完全二叉树的顺序结构特性，改进树形选择排序。</a:t>
            </a:r>
          </a:p>
        </p:txBody>
      </p:sp>
    </p:spTree>
    <p:extLst>
      <p:ext uri="{BB962C8B-B14F-4D97-AF65-F5344CB8AC3E}">
        <p14:creationId xmlns:p14="http://schemas.microsoft.com/office/powerpoint/2010/main" val="25211401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1ED351-37F0-4485-AE39-9BE786E00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树形选择排序</a:t>
            </a:r>
            <a:r>
              <a:rPr lang="en-US" altLang="zh-CN" dirty="0"/>
              <a:t>(</a:t>
            </a:r>
            <a:r>
              <a:rPr lang="zh-CN" altLang="en-US" dirty="0"/>
              <a:t>锦标赛排序</a:t>
            </a:r>
            <a:r>
              <a:rPr lang="en-US" altLang="zh-CN" dirty="0"/>
              <a:t>)</a:t>
            </a:r>
            <a:endParaRPr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7FCEE26F-BC41-4F72-9EEB-5D968AD2B51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676400"/>
            <a:ext cx="5689600" cy="3622317"/>
          </a:xfrm>
        </p:spPr>
      </p:pic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F1F9C381-0AEE-425B-9FB3-6306C212A19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7600" y="1641581"/>
            <a:ext cx="5689600" cy="3616219"/>
          </a:xfr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F344E9D2-B7DA-4D7A-9EAD-948C516CFC99}"/>
              </a:ext>
            </a:extLst>
          </p:cNvPr>
          <p:cNvSpPr txBox="1"/>
          <p:nvPr/>
        </p:nvSpPr>
        <p:spPr>
          <a:xfrm>
            <a:off x="2136259" y="552508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选最小值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7A59292-3CB3-4B65-8175-FB72C54A15E1}"/>
              </a:ext>
            </a:extLst>
          </p:cNvPr>
          <p:cNvSpPr txBox="1"/>
          <p:nvPr/>
        </p:nvSpPr>
        <p:spPr>
          <a:xfrm>
            <a:off x="8077200" y="5525084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选次小值</a:t>
            </a:r>
          </a:p>
        </p:txBody>
      </p:sp>
    </p:spTree>
    <p:extLst>
      <p:ext uri="{BB962C8B-B14F-4D97-AF65-F5344CB8AC3E}">
        <p14:creationId xmlns:p14="http://schemas.microsoft.com/office/powerpoint/2010/main" val="21600519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9CADD8-6595-4A2D-8713-BBF58A882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锦标赛算法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7D7C868-3FD9-4EAB-918F-6256D5BFE4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算法描述</a:t>
                </a:r>
                <a:endParaRPr lang="en-US" altLang="zh-CN" b="0" dirty="0"/>
              </a:p>
              <a:p>
                <a:pPr lvl="1"/>
                <a:r>
                  <a:rPr lang="zh-CN" altLang="en-US" b="0" dirty="0"/>
                  <a:t>待排数看成叶子节点，表示为满二叉树，不满时用∞补满</a:t>
                </a:r>
                <a:r>
                  <a:rPr lang="zh-CN" altLang="en-US" dirty="0"/>
                  <a:t>；</a:t>
                </a:r>
                <a:endParaRPr lang="en-US" altLang="zh-CN" b="0" dirty="0"/>
              </a:p>
              <a:p>
                <a:pPr lvl="1"/>
                <a:r>
                  <a:rPr lang="zh-CN" altLang="en-US" b="0" dirty="0"/>
                  <a:t>像锦标赛一样选出冠军</a:t>
                </a:r>
                <a:r>
                  <a:rPr lang="en-US" altLang="zh-CN" b="0" dirty="0"/>
                  <a:t>(</a:t>
                </a:r>
                <a:r>
                  <a:rPr lang="zh-CN" altLang="en-US" b="0" dirty="0"/>
                  <a:t>最小值</a:t>
                </a:r>
                <a:r>
                  <a:rPr lang="en-US" altLang="zh-CN" b="0" dirty="0"/>
                  <a:t>)</a:t>
                </a:r>
                <a:r>
                  <a:rPr lang="zh-CN" altLang="en-US" b="0" dirty="0"/>
                  <a:t>；</a:t>
                </a:r>
                <a:endParaRPr lang="en-US" altLang="zh-CN" b="0" dirty="0"/>
              </a:p>
              <a:p>
                <a:pPr lvl="1"/>
                <a:r>
                  <a:rPr lang="zh-CN" altLang="en-US" b="0" dirty="0"/>
                  <a:t>把最小值设为∞，再选最小值，如此进行。</a:t>
                </a:r>
                <a:endParaRPr lang="en-US" altLang="zh-CN" b="0" dirty="0"/>
              </a:p>
              <a:p>
                <a:r>
                  <a:rPr lang="zh-CN" altLang="en-US" dirty="0"/>
                  <a:t>算法性能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时间复杂度：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𝒏</m:t>
                    </m:r>
                    <m:func>
                      <m:func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b>
                        </m:sSub>
                      </m:fName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func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zh-CN" altLang="en-US" dirty="0"/>
                  <a:t>空间复杂度：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𝒏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  <a:p>
                <a:pPr lvl="1"/>
                <a:r>
                  <a:rPr lang="zh-CN" altLang="en-US" b="0" dirty="0"/>
                  <a:t>需要额外空间存中间结果，需要用∞补满，相当于增加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b="0" dirty="0"/>
                  <a:t>。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17D7C868-3FD9-4EAB-918F-6256D5BFE4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89" r="-368" b="-34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13116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82DBD7-2D16-4062-91F1-4DB82C046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堆排序 </a:t>
            </a:r>
            <a:r>
              <a:rPr lang="en-US" altLang="zh-CN" dirty="0"/>
              <a:t>[Floyd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Williams,1964]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818F65-8F1B-4764-94E6-0207854B8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371600"/>
            <a:ext cx="11734800" cy="5181600"/>
          </a:xfrm>
        </p:spPr>
        <p:txBody>
          <a:bodyPr/>
          <a:lstStyle/>
          <a:p>
            <a:pPr>
              <a:lnSpc>
                <a:spcPct val="125000"/>
              </a:lnSpc>
            </a:pPr>
            <a:r>
              <a:rPr lang="zh-CN" altLang="en-US" b="0" dirty="0"/>
              <a:t>设待排序数在</a:t>
            </a:r>
            <a:r>
              <a:rPr lang="en-US" altLang="zh-CN" b="0" dirty="0"/>
              <a:t>a[1...n]</a:t>
            </a:r>
            <a:r>
              <a:rPr lang="zh-CN" altLang="en-US" b="0" dirty="0"/>
              <a:t>中，下标从</a:t>
            </a:r>
            <a:r>
              <a:rPr lang="en-US" altLang="zh-CN" b="0" dirty="0"/>
              <a:t>1</a:t>
            </a:r>
            <a:r>
              <a:rPr lang="zh-CN" altLang="en-US" b="0" dirty="0"/>
              <a:t>开始便于计算。</a:t>
            </a:r>
            <a:endParaRPr lang="en-US" altLang="zh-CN" b="0" dirty="0"/>
          </a:p>
          <a:p>
            <a:pPr>
              <a:lnSpc>
                <a:spcPct val="125000"/>
              </a:lnSpc>
            </a:pPr>
            <a:r>
              <a:rPr lang="zh-CN" altLang="en-US" b="0" dirty="0"/>
              <a:t>把</a:t>
            </a:r>
            <a:r>
              <a:rPr lang="en-US" altLang="zh-CN" b="0" dirty="0"/>
              <a:t>a[1…n]</a:t>
            </a:r>
            <a:r>
              <a:rPr lang="zh-CN" altLang="en-US" b="0" dirty="0"/>
              <a:t>看成完全二叉树，则 </a:t>
            </a:r>
            <a:r>
              <a:rPr lang="en-US" altLang="zh-CN" dirty="0" err="1"/>
              <a:t>i</a:t>
            </a:r>
            <a:r>
              <a:rPr lang="en-US" altLang="zh-CN" b="0" dirty="0"/>
              <a:t> </a:t>
            </a:r>
            <a:r>
              <a:rPr lang="zh-CN" altLang="en-US" b="0" dirty="0"/>
              <a:t>的双亲为 </a:t>
            </a:r>
            <a:r>
              <a:rPr lang="en-US" altLang="zh-CN" dirty="0" err="1"/>
              <a:t>i</a:t>
            </a:r>
            <a:r>
              <a:rPr lang="en-US" altLang="zh-CN" dirty="0"/>
              <a:t>/2</a:t>
            </a:r>
            <a:r>
              <a:rPr lang="zh-CN" altLang="en-US" b="0" dirty="0"/>
              <a:t>，</a:t>
            </a:r>
            <a:r>
              <a:rPr lang="en-US" altLang="zh-CN" b="0" dirty="0" err="1"/>
              <a:t>i</a:t>
            </a:r>
            <a:r>
              <a:rPr lang="en-US" altLang="zh-CN" b="0" dirty="0"/>
              <a:t> </a:t>
            </a:r>
            <a:r>
              <a:rPr lang="zh-CN" altLang="en-US" b="0" dirty="0"/>
              <a:t>的左右孩子分别为 </a:t>
            </a:r>
            <a:r>
              <a:rPr lang="en-US" altLang="zh-CN" dirty="0"/>
              <a:t>2i</a:t>
            </a:r>
            <a:r>
              <a:rPr lang="en-US" altLang="zh-CN" b="0" dirty="0"/>
              <a:t> </a:t>
            </a:r>
            <a:r>
              <a:rPr lang="zh-CN" altLang="en-US" b="0" dirty="0"/>
              <a:t>和 </a:t>
            </a:r>
            <a:r>
              <a:rPr lang="en-US" altLang="zh-CN" dirty="0"/>
              <a:t>2i+1</a:t>
            </a:r>
            <a:r>
              <a:rPr lang="zh-CN" altLang="en-US" b="0" dirty="0"/>
              <a:t>。</a:t>
            </a:r>
            <a:endParaRPr lang="en-US" altLang="zh-CN" b="0" dirty="0"/>
          </a:p>
          <a:p>
            <a:pPr>
              <a:lnSpc>
                <a:spcPct val="125000"/>
              </a:lnSpc>
            </a:pPr>
            <a:r>
              <a:rPr lang="zh-CN" altLang="en-US" b="0" dirty="0"/>
              <a:t>大根</a:t>
            </a:r>
            <a:r>
              <a:rPr lang="zh-CN" altLang="en-US" dirty="0"/>
              <a:t>堆</a:t>
            </a:r>
            <a:r>
              <a:rPr lang="zh-CN" altLang="en-US" b="0" dirty="0"/>
              <a:t>：对于任意的 </a:t>
            </a:r>
            <a:r>
              <a:rPr lang="en-US" altLang="zh-CN" b="0" dirty="0" err="1"/>
              <a:t>i</a:t>
            </a:r>
            <a:r>
              <a:rPr lang="en-US" altLang="zh-CN" b="0" dirty="0"/>
              <a:t>=1,2,3,…,n/2, </a:t>
            </a:r>
            <a:r>
              <a:rPr lang="zh-CN" altLang="en-US" b="0" dirty="0"/>
              <a:t>都有</a:t>
            </a:r>
            <a:r>
              <a:rPr lang="en-US" altLang="zh-CN" b="0" dirty="0"/>
              <a:t>a[</a:t>
            </a:r>
            <a:r>
              <a:rPr lang="en-US" altLang="zh-CN" b="0" dirty="0" err="1"/>
              <a:t>i</a:t>
            </a:r>
            <a:r>
              <a:rPr lang="en-US" altLang="zh-CN" b="0" dirty="0"/>
              <a:t>]&gt;=a[2i] </a:t>
            </a:r>
            <a:r>
              <a:rPr lang="zh-CN" altLang="en-US" b="0" dirty="0"/>
              <a:t>并且 </a:t>
            </a:r>
            <a:r>
              <a:rPr lang="en-US" altLang="zh-CN" b="0" dirty="0"/>
              <a:t>a[</a:t>
            </a:r>
            <a:r>
              <a:rPr lang="en-US" altLang="zh-CN" b="0" dirty="0" err="1"/>
              <a:t>i</a:t>
            </a:r>
            <a:r>
              <a:rPr lang="en-US" altLang="zh-CN" b="0" dirty="0"/>
              <a:t>]&gt;=a[2i+1] </a:t>
            </a:r>
            <a:r>
              <a:rPr lang="zh-CN" altLang="en-US" b="0" dirty="0"/>
              <a:t>的完全二叉树。类似地，可以定义小根堆。</a:t>
            </a:r>
            <a:endParaRPr lang="en-US" altLang="zh-CN" b="0" dirty="0"/>
          </a:p>
          <a:p>
            <a:pPr>
              <a:lnSpc>
                <a:spcPct val="125000"/>
              </a:lnSpc>
            </a:pPr>
            <a:r>
              <a:rPr lang="zh-CN" altLang="en-US" b="0" dirty="0"/>
              <a:t>堆顶</a:t>
            </a:r>
            <a:r>
              <a:rPr lang="en-US" altLang="zh-CN" b="0" dirty="0"/>
              <a:t>a[1]</a:t>
            </a:r>
            <a:r>
              <a:rPr lang="zh-CN" altLang="en-US" b="0" dirty="0"/>
              <a:t>即最大元素，放到最后即得</a:t>
            </a:r>
            <a:r>
              <a:rPr lang="en-US" altLang="zh-CN" b="0" dirty="0"/>
              <a:t>a[n]</a:t>
            </a:r>
            <a:r>
              <a:rPr lang="zh-CN" altLang="en-US" b="0" dirty="0"/>
              <a:t>，堆的规模</a:t>
            </a:r>
            <a:r>
              <a:rPr lang="en-US" altLang="zh-CN" b="0" dirty="0"/>
              <a:t>n</a:t>
            </a:r>
            <a:r>
              <a:rPr lang="zh-CN" altLang="en-US" b="0" dirty="0"/>
              <a:t>减</a:t>
            </a:r>
            <a:r>
              <a:rPr lang="en-US" altLang="zh-CN" b="0" dirty="0"/>
              <a:t>1</a:t>
            </a:r>
            <a:r>
              <a:rPr lang="zh-CN" altLang="en-US" b="0" dirty="0"/>
              <a:t>，再重建堆，得第二大的元素，如此进行下去。</a:t>
            </a:r>
            <a:endParaRPr lang="en-US" altLang="zh-CN" b="0" dirty="0"/>
          </a:p>
          <a:p>
            <a:pPr>
              <a:lnSpc>
                <a:spcPct val="125000"/>
              </a:lnSpc>
            </a:pPr>
            <a:r>
              <a:rPr lang="zh-CN" altLang="en-US" b="0" dirty="0"/>
              <a:t>主要操作：</a:t>
            </a:r>
            <a:r>
              <a:rPr lang="zh-CN" altLang="en-US" dirty="0"/>
              <a:t>初建堆</a:t>
            </a:r>
            <a:r>
              <a:rPr lang="zh-CN" altLang="en-US" b="0" dirty="0"/>
              <a:t>和</a:t>
            </a:r>
            <a:r>
              <a:rPr lang="zh-CN" altLang="en-US" dirty="0"/>
              <a:t>重建堆</a:t>
            </a:r>
            <a:r>
              <a:rPr lang="zh-CN" altLang="en-US" b="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9763812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543440-CBEC-4113-818C-BE9B052DD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重建堆</a:t>
            </a:r>
            <a:r>
              <a:rPr lang="en-US" altLang="zh-CN" dirty="0"/>
              <a:t>1/4</a:t>
            </a:r>
            <a:endParaRPr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4BBDE105-E88E-4F98-99B2-8AC5397914D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855" y="1524000"/>
            <a:ext cx="5687490" cy="4800600"/>
          </a:xfrm>
        </p:spPr>
      </p:pic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2371AC74-A5B6-44AB-95E5-6486E16CE30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5953" y="1524000"/>
            <a:ext cx="5532894" cy="4800600"/>
          </a:xfrm>
        </p:spPr>
      </p:pic>
    </p:spTree>
    <p:extLst>
      <p:ext uri="{BB962C8B-B14F-4D97-AF65-F5344CB8AC3E}">
        <p14:creationId xmlns:p14="http://schemas.microsoft.com/office/powerpoint/2010/main" val="122257617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75B29D-BDC5-4C35-A873-028E2EA90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重建堆</a:t>
            </a:r>
            <a:r>
              <a:rPr lang="en-US" altLang="zh-CN" dirty="0"/>
              <a:t>2/4</a:t>
            </a:r>
            <a:endParaRPr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EBD5454F-DBB3-4811-9C95-E9230814896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153" y="1524000"/>
            <a:ext cx="5532894" cy="4800600"/>
          </a:xfrm>
        </p:spPr>
      </p:pic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D01E76BA-A698-4606-B115-2F96DA9D8B8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5953" y="1524000"/>
            <a:ext cx="5532894" cy="4800600"/>
          </a:xfrm>
        </p:spPr>
      </p:pic>
    </p:spTree>
    <p:extLst>
      <p:ext uri="{BB962C8B-B14F-4D97-AF65-F5344CB8AC3E}">
        <p14:creationId xmlns:p14="http://schemas.microsoft.com/office/powerpoint/2010/main" val="41617924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97075B-FD99-4C79-91DF-06466123D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重建堆</a:t>
            </a:r>
            <a:r>
              <a:rPr lang="en-US" altLang="zh-CN" dirty="0"/>
              <a:t>3/4</a:t>
            </a:r>
            <a:endParaRPr lang="zh-CN" altLang="en-US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78F66AED-E0BC-4A6A-AE7A-D71DF6CCDCF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153" y="1524000"/>
            <a:ext cx="5532894" cy="4800600"/>
          </a:xfrm>
        </p:spPr>
      </p:pic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CFDC957A-1576-4D08-AA2C-0FFD11ED3A3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5953" y="1524000"/>
            <a:ext cx="5532894" cy="4800600"/>
          </a:xfrm>
        </p:spPr>
      </p:pic>
    </p:spTree>
    <p:extLst>
      <p:ext uri="{BB962C8B-B14F-4D97-AF65-F5344CB8AC3E}">
        <p14:creationId xmlns:p14="http://schemas.microsoft.com/office/powerpoint/2010/main" val="78967478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31498468-93E5-4C58-85F7-643F8313C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重建堆</a:t>
            </a:r>
            <a:r>
              <a:rPr lang="en-US" altLang="zh-CN" dirty="0"/>
              <a:t>4/4</a:t>
            </a:r>
            <a:endParaRPr lang="zh-CN" altLang="en-US" dirty="0"/>
          </a:p>
        </p:txBody>
      </p:sp>
      <p:pic>
        <p:nvPicPr>
          <p:cNvPr id="8" name="内容占位符 7">
            <a:extLst>
              <a:ext uri="{FF2B5EF4-FFF2-40B4-BE49-F238E27FC236}">
                <a16:creationId xmlns:a16="http://schemas.microsoft.com/office/drawing/2014/main" id="{7ACCA664-8745-4889-8BC6-7129126F350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153" y="1524000"/>
            <a:ext cx="5532894" cy="4800600"/>
          </a:xfrm>
        </p:spPr>
      </p:pic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E892FCEE-80CD-4FD1-87EB-84CE0F7185B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5953" y="1524000"/>
            <a:ext cx="5532894" cy="4800600"/>
          </a:xfrm>
        </p:spPr>
      </p:pic>
    </p:spTree>
    <p:extLst>
      <p:ext uri="{BB962C8B-B14F-4D97-AF65-F5344CB8AC3E}">
        <p14:creationId xmlns:p14="http://schemas.microsoft.com/office/powerpoint/2010/main" val="29450925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58BDC7-BE49-44F1-AC29-A113FD5F3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筛选的实现</a:t>
            </a:r>
            <a:r>
              <a:rPr lang="en-US" altLang="zh-CN" dirty="0"/>
              <a:t>1/2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24D832-E1B0-4B0C-B032-7141E0138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void Sift(int a[], int k, int m){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/</a:t>
            </a:r>
            <a:r>
              <a:rPr lang="zh-CN" altLang="en-US" b="0" dirty="0"/>
              <a:t>* 筛选</a:t>
            </a:r>
            <a:r>
              <a:rPr lang="en-US" altLang="zh-CN" b="0" dirty="0"/>
              <a:t>a[k]</a:t>
            </a:r>
            <a:r>
              <a:rPr lang="zh-CN" altLang="en-US" b="0" dirty="0"/>
              <a:t>，使</a:t>
            </a:r>
            <a:r>
              <a:rPr lang="en-US" altLang="zh-CN" b="0" dirty="0"/>
              <a:t>a[k…m]</a:t>
            </a:r>
            <a:r>
              <a:rPr lang="zh-CN" altLang="en-US" b="0" dirty="0"/>
              <a:t>满足堆的性质。*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int </a:t>
            </a:r>
            <a:r>
              <a:rPr lang="en-US" altLang="zh-CN" b="0" dirty="0" err="1"/>
              <a:t>i</a:t>
            </a:r>
            <a:r>
              <a:rPr lang="en-US" altLang="zh-CN" b="0" dirty="0"/>
              <a:t>, j, </a:t>
            </a:r>
            <a:r>
              <a:rPr lang="en-US" altLang="zh-CN" b="0" dirty="0" err="1"/>
              <a:t>rootKey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rootKey</a:t>
            </a:r>
            <a:r>
              <a:rPr lang="en-US" altLang="zh-CN" b="0" dirty="0"/>
              <a:t>=a[k];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i</a:t>
            </a:r>
            <a:r>
              <a:rPr lang="en-US" altLang="zh-CN" b="0" dirty="0"/>
              <a:t>=k;    // </a:t>
            </a:r>
            <a:r>
              <a:rPr lang="en-US" altLang="zh-CN" b="0" dirty="0" err="1"/>
              <a:t>i</a:t>
            </a:r>
            <a:r>
              <a:rPr lang="en-US" altLang="zh-CN" b="0" dirty="0"/>
              <a:t> </a:t>
            </a:r>
            <a:r>
              <a:rPr lang="zh-CN" altLang="en-US" b="0" dirty="0"/>
              <a:t>指向根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j=2*</a:t>
            </a:r>
            <a:r>
              <a:rPr lang="en-US" altLang="zh-CN" b="0" dirty="0" err="1"/>
              <a:t>i</a:t>
            </a:r>
            <a:r>
              <a:rPr lang="en-US" altLang="zh-CN" b="0" dirty="0"/>
              <a:t>; // j</a:t>
            </a:r>
            <a:r>
              <a:rPr lang="zh-CN" altLang="en-US" b="0" dirty="0"/>
              <a:t>指向</a:t>
            </a:r>
            <a:r>
              <a:rPr lang="en-US" altLang="zh-CN" b="0" dirty="0" err="1"/>
              <a:t>i</a:t>
            </a:r>
            <a:r>
              <a:rPr lang="zh-CN" altLang="en-US" b="0" dirty="0"/>
              <a:t>的左孩子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while(j&lt;=m){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if(j+1&lt;=m &amp;&amp; a[j]&lt;a[j+1]){ // </a:t>
            </a:r>
            <a:r>
              <a:rPr lang="zh-CN" altLang="en-US" b="0" dirty="0"/>
              <a:t>右孩子值比左孩子大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</a:t>
            </a:r>
            <a:r>
              <a:rPr lang="en-US" altLang="zh-CN" b="0" dirty="0" err="1"/>
              <a:t>j++</a:t>
            </a:r>
            <a:r>
              <a:rPr lang="en-US" altLang="zh-CN" b="0" dirty="0"/>
              <a:t>;  // </a:t>
            </a:r>
            <a:r>
              <a:rPr lang="zh-CN" altLang="en-US" b="0" dirty="0"/>
              <a:t>指向右孩子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}  // </a:t>
            </a:r>
            <a:r>
              <a:rPr lang="zh-CN" altLang="en-US" b="0" dirty="0"/>
              <a:t>让</a:t>
            </a:r>
            <a:r>
              <a:rPr lang="en-US" altLang="zh-CN" b="0" dirty="0"/>
              <a:t>j</a:t>
            </a:r>
            <a:r>
              <a:rPr lang="zh-CN" altLang="en-US" b="0"/>
              <a:t>指向最大的孩子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149935544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58BDC7-BE49-44F1-AC29-A113FD5F3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3200" cy="685800"/>
          </a:xfrm>
        </p:spPr>
        <p:txBody>
          <a:bodyPr/>
          <a:lstStyle/>
          <a:p>
            <a:r>
              <a:rPr lang="zh-CN" altLang="en-US" dirty="0"/>
              <a:t>筛选的实现</a:t>
            </a:r>
            <a:r>
              <a:rPr lang="en-US" altLang="zh-CN" dirty="0"/>
              <a:t>2/2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24D832-E1B0-4B0C-B032-7141E0138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181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if(</a:t>
            </a:r>
            <a:r>
              <a:rPr lang="en-US" altLang="zh-CN" b="0" dirty="0" err="1"/>
              <a:t>rootKey</a:t>
            </a:r>
            <a:r>
              <a:rPr lang="en-US" altLang="zh-CN" b="0" dirty="0"/>
              <a:t>&gt;=a[j]){ // </a:t>
            </a:r>
            <a:r>
              <a:rPr lang="zh-CN" altLang="en-US" b="0" dirty="0"/>
              <a:t>根值大于等于孩子值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break;   // </a:t>
            </a:r>
            <a:r>
              <a:rPr lang="zh-CN" altLang="en-US" b="0" dirty="0"/>
              <a:t>已经找到</a:t>
            </a:r>
            <a:r>
              <a:rPr lang="en-US" altLang="zh-CN" b="0" dirty="0" err="1"/>
              <a:t>rootKey</a:t>
            </a:r>
            <a:r>
              <a:rPr lang="zh-CN" altLang="en-US" b="0" dirty="0"/>
              <a:t>应该放的地方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else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a[</a:t>
            </a:r>
            <a:r>
              <a:rPr lang="en-US" altLang="zh-CN" b="0" dirty="0" err="1"/>
              <a:t>i</a:t>
            </a:r>
            <a:r>
              <a:rPr lang="en-US" altLang="zh-CN" b="0" dirty="0"/>
              <a:t>]=a[j];  // </a:t>
            </a:r>
            <a:r>
              <a:rPr lang="zh-CN" altLang="en-US" b="0" dirty="0"/>
              <a:t>把孩子值上移，然后继续筛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</a:t>
            </a:r>
            <a:r>
              <a:rPr lang="en-US" altLang="zh-CN" b="0" dirty="0" err="1"/>
              <a:t>i</a:t>
            </a:r>
            <a:r>
              <a:rPr lang="en-US" altLang="zh-CN" b="0" dirty="0"/>
              <a:t>=j;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j=2*</a:t>
            </a:r>
            <a:r>
              <a:rPr lang="en-US" altLang="zh-CN" b="0" dirty="0" err="1"/>
              <a:t>i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a[</a:t>
            </a:r>
            <a:r>
              <a:rPr lang="en-US" altLang="zh-CN" b="0" dirty="0" err="1"/>
              <a:t>i</a:t>
            </a:r>
            <a:r>
              <a:rPr lang="en-US" altLang="zh-CN" b="0" dirty="0"/>
              <a:t>]=</a:t>
            </a:r>
            <a:r>
              <a:rPr lang="en-US" altLang="zh-CN" b="0" dirty="0" err="1"/>
              <a:t>rootKey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316702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0B8A58-6D83-4A94-A747-EF1216447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初建堆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8DC8C5-44E3-42F8-A8C2-B894886C3A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800" y="1524000"/>
            <a:ext cx="5791200" cy="4800600"/>
          </a:xfrm>
        </p:spPr>
        <p:txBody>
          <a:bodyPr/>
          <a:lstStyle/>
          <a:p>
            <a:r>
              <a:rPr lang="zh-CN" altLang="en-US" b="0" dirty="0"/>
              <a:t>把叶子节点看成一个元素的堆，满足堆的性质。</a:t>
            </a:r>
            <a:endParaRPr lang="en-US" altLang="zh-CN" b="0" dirty="0"/>
          </a:p>
          <a:p>
            <a:r>
              <a:rPr lang="zh-CN" altLang="en-US" b="0" dirty="0"/>
              <a:t>最后一个非叶子节点是</a:t>
            </a:r>
            <a:r>
              <a:rPr lang="en-US" altLang="zh-CN" b="0" dirty="0"/>
              <a:t>n/2</a:t>
            </a:r>
            <a:r>
              <a:rPr lang="zh-CN" altLang="en-US" b="0" dirty="0"/>
              <a:t>。</a:t>
            </a:r>
            <a:endParaRPr lang="en-US" altLang="zh-CN" b="0" dirty="0"/>
          </a:p>
          <a:p>
            <a:r>
              <a:rPr lang="zh-CN" altLang="en-US" b="0" dirty="0"/>
              <a:t>从第</a:t>
            </a:r>
            <a:r>
              <a:rPr lang="en-US" altLang="zh-CN" b="0" dirty="0"/>
              <a:t>n/2</a:t>
            </a:r>
            <a:r>
              <a:rPr lang="zh-CN" altLang="en-US" b="0" dirty="0"/>
              <a:t>个节点开始，逐层向上，一个一个地筛。</a:t>
            </a:r>
            <a:endParaRPr lang="en-US" altLang="zh-CN" b="0" dirty="0"/>
          </a:p>
          <a:p>
            <a:pPr marL="0" indent="0">
              <a:buNone/>
            </a:pPr>
            <a:r>
              <a:rPr lang="zh-CN" altLang="en-US" b="0" dirty="0"/>
              <a:t>   注意：不能从上到下建堆。</a:t>
            </a:r>
            <a:endParaRPr lang="en-US" altLang="zh-CN" b="0" dirty="0"/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46DA50A7-7DB8-4124-8CD6-714B5B99868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0506" y="1524000"/>
            <a:ext cx="5532894" cy="4800600"/>
          </a:xfrm>
        </p:spPr>
      </p:pic>
    </p:spTree>
    <p:extLst>
      <p:ext uri="{BB962C8B-B14F-4D97-AF65-F5344CB8AC3E}">
        <p14:creationId xmlns:p14="http://schemas.microsoft.com/office/powerpoint/2010/main" val="24970629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58BDC7-BE49-44F1-AC29-A113FD5F3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初建堆的实现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24D832-E1B0-4B0C-B032-7141E01384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void </a:t>
            </a:r>
            <a:r>
              <a:rPr lang="en-US" altLang="zh-CN" b="0" dirty="0" err="1"/>
              <a:t>CreateHeap</a:t>
            </a:r>
            <a:r>
              <a:rPr lang="en-US" altLang="zh-CN" b="0" dirty="0"/>
              <a:t>(int a[], int n){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int </a:t>
            </a:r>
            <a:r>
              <a:rPr lang="en-US" altLang="zh-CN" b="0" dirty="0" err="1"/>
              <a:t>i</a:t>
            </a:r>
            <a:r>
              <a:rPr lang="en-US" altLang="zh-CN" b="0" dirty="0"/>
              <a:t>;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for(</a:t>
            </a:r>
            <a:r>
              <a:rPr lang="en-US" altLang="zh-CN" b="0" dirty="0" err="1"/>
              <a:t>i</a:t>
            </a:r>
            <a:r>
              <a:rPr lang="en-US" altLang="zh-CN" b="0" dirty="0"/>
              <a:t>=n/2; </a:t>
            </a:r>
            <a:r>
              <a:rPr lang="en-US" altLang="zh-CN" b="0" dirty="0" err="1"/>
              <a:t>i</a:t>
            </a:r>
            <a:r>
              <a:rPr lang="en-US" altLang="zh-CN" b="0" dirty="0"/>
              <a:t>&gt;=1; </a:t>
            </a:r>
            <a:r>
              <a:rPr lang="en-US" altLang="zh-CN" b="0" dirty="0" err="1"/>
              <a:t>i</a:t>
            </a:r>
            <a:r>
              <a:rPr lang="en-US" altLang="zh-CN" b="0" dirty="0"/>
              <a:t>--){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Sift(a, </a:t>
            </a:r>
            <a:r>
              <a:rPr lang="en-US" altLang="zh-CN" b="0" dirty="0" err="1"/>
              <a:t>i</a:t>
            </a:r>
            <a:r>
              <a:rPr lang="en-US" altLang="zh-CN" b="0" dirty="0"/>
              <a:t>, n);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return;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762901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58BDC7-BE49-44F1-AC29-A113FD5F3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堆排序的实现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24D832-E1B0-4B0C-B032-7141E0138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181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void </a:t>
            </a:r>
            <a:r>
              <a:rPr lang="en-US" altLang="zh-CN" b="0" dirty="0" err="1"/>
              <a:t>HeapSort</a:t>
            </a:r>
            <a:r>
              <a:rPr lang="en-US" altLang="zh-CN" b="0" dirty="0"/>
              <a:t>(int a[], int n){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/* </a:t>
            </a:r>
            <a:r>
              <a:rPr lang="zh-CN" altLang="en-US" b="0" dirty="0"/>
              <a:t>对</a:t>
            </a:r>
            <a:r>
              <a:rPr lang="en-US" altLang="zh-CN" b="0" dirty="0"/>
              <a:t>a[1…n]</a:t>
            </a:r>
            <a:r>
              <a:rPr lang="zh-CN" altLang="en-US" b="0" dirty="0"/>
              <a:t>进行排序，这里下标从</a:t>
            </a:r>
            <a:r>
              <a:rPr lang="en-US" altLang="zh-CN" b="0" dirty="0"/>
              <a:t>1</a:t>
            </a:r>
            <a:r>
              <a:rPr lang="zh-CN" altLang="en-US" b="0" dirty="0"/>
              <a:t>开始。*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int </a:t>
            </a:r>
            <a:r>
              <a:rPr lang="en-US" altLang="zh-CN" b="0" dirty="0" err="1"/>
              <a:t>i</a:t>
            </a:r>
            <a:r>
              <a:rPr lang="en-US" altLang="zh-CN" b="0" dirty="0"/>
              <a:t>, temp;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CreateHeap</a:t>
            </a:r>
            <a:r>
              <a:rPr lang="en-US" altLang="zh-CN" b="0" dirty="0"/>
              <a:t>(</a:t>
            </a:r>
            <a:r>
              <a:rPr lang="en-US" altLang="zh-CN" b="0" dirty="0" err="1"/>
              <a:t>a,n</a:t>
            </a:r>
            <a:r>
              <a:rPr lang="en-US" altLang="zh-CN" b="0" dirty="0"/>
              <a:t>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for(</a:t>
            </a:r>
            <a:r>
              <a:rPr lang="en-US" altLang="zh-CN" b="0" dirty="0" err="1"/>
              <a:t>i</a:t>
            </a:r>
            <a:r>
              <a:rPr lang="en-US" altLang="zh-CN" b="0" dirty="0"/>
              <a:t>=n; </a:t>
            </a:r>
            <a:r>
              <a:rPr lang="en-US" altLang="zh-CN" b="0" dirty="0" err="1"/>
              <a:t>i</a:t>
            </a:r>
            <a:r>
              <a:rPr lang="en-US" altLang="zh-CN" b="0" dirty="0"/>
              <a:t>&gt;=2; </a:t>
            </a:r>
            <a:r>
              <a:rPr lang="en-US" altLang="zh-CN" b="0" dirty="0" err="1"/>
              <a:t>i</a:t>
            </a:r>
            <a:r>
              <a:rPr lang="en-US" altLang="zh-CN" b="0" dirty="0"/>
              <a:t>--){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temp=a[</a:t>
            </a:r>
            <a:r>
              <a:rPr lang="en-US" altLang="zh-CN" b="0" dirty="0" err="1"/>
              <a:t>i</a:t>
            </a:r>
            <a:r>
              <a:rPr lang="en-US" altLang="zh-CN" b="0" dirty="0"/>
              <a:t>];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a[</a:t>
            </a:r>
            <a:r>
              <a:rPr lang="en-US" altLang="zh-CN" b="0" dirty="0" err="1"/>
              <a:t>i</a:t>
            </a:r>
            <a:r>
              <a:rPr lang="en-US" altLang="zh-CN" b="0" dirty="0"/>
              <a:t>]=a[1];         // a[1]</a:t>
            </a:r>
            <a:r>
              <a:rPr lang="zh-CN" altLang="en-US" b="0" dirty="0"/>
              <a:t>是根，是最大值。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a[1]=temp;     // </a:t>
            </a:r>
            <a:r>
              <a:rPr lang="zh-CN" altLang="en-US" b="0" dirty="0"/>
              <a:t>把</a:t>
            </a:r>
            <a:r>
              <a:rPr lang="en-US" altLang="zh-CN" b="0" dirty="0"/>
              <a:t>a[</a:t>
            </a:r>
            <a:r>
              <a:rPr lang="en-US" altLang="zh-CN" b="0" dirty="0" err="1"/>
              <a:t>i</a:t>
            </a:r>
            <a:r>
              <a:rPr lang="en-US" altLang="zh-CN" b="0" dirty="0"/>
              <a:t>]</a:t>
            </a:r>
            <a:r>
              <a:rPr lang="zh-CN" altLang="en-US" b="0" dirty="0"/>
              <a:t>放到根上，然后筛。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Sift(a, 1, i-1);   //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  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3434750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9E9270-3D4C-4B23-A5AC-A3EA5A585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3200" cy="685800"/>
          </a:xfrm>
        </p:spPr>
        <p:txBody>
          <a:bodyPr/>
          <a:lstStyle/>
          <a:p>
            <a:r>
              <a:rPr lang="zh-CN" altLang="en-US" dirty="0"/>
              <a:t>堆排序的时间复杂度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EA5103A-3FF3-4EF1-BCD7-B445D2BB281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4800" y="1219200"/>
                <a:ext cx="11582400" cy="5486400"/>
              </a:xfrm>
            </p:spPr>
            <p:txBody>
              <a:bodyPr/>
              <a:lstStyle/>
              <a:p>
                <a:pPr>
                  <a:lnSpc>
                    <a:spcPct val="125000"/>
                  </a:lnSpc>
                </a:pPr>
                <a:r>
                  <a:rPr lang="zh-CN" altLang="en-US" dirty="0"/>
                  <a:t>初建堆：</a:t>
                </a:r>
                <a:r>
                  <a:rPr lang="zh-CN" altLang="en-US" b="0" dirty="0"/>
                  <a:t>设深度为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⌊"/>
                        <m:endChr m:val="⌋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zh-CN" altLang="en-US" b="0" dirty="0"/>
                  <a:t>，在第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(1≤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zh-CN" altLang="en-US" b="0" dirty="0"/>
                  <a:t>层，至多有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zh-CN" altLang="en-US" b="0" dirty="0"/>
                  <a:t>个元素要筛，筛选时最多比较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2(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b="0" dirty="0"/>
                  <a:t>次。所以</a:t>
                </a:r>
                <a:endParaRPr lang="en-US" altLang="zh-CN" b="0" dirty="0"/>
              </a:p>
              <a:p>
                <a:pPr marL="0" indent="0">
                  <a:lnSpc>
                    <a:spcPct val="125000"/>
                  </a:lnSpc>
                  <a:buNone/>
                </a:pPr>
                <a:r>
                  <a:rPr lang="en-US" altLang="zh-CN" b="0" dirty="0"/>
                  <a:t> 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</m:e>
                    </m:nary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p>
                        </m:sSup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nary>
                          <m:naryPr>
                            <m:chr m:val="∑"/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p>
                            </m:s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e>
                        </m:nary>
                      </m:e>
                    </m:nary>
                  </m:oMath>
                </a14:m>
                <a:endParaRPr lang="en-US" altLang="zh-CN" b="0" i="1" dirty="0">
                  <a:latin typeface="Cambria Math" panose="02040503050406030204" pitchFamily="18" charset="0"/>
                </a:endParaRPr>
              </a:p>
              <a:p>
                <a:pPr marL="0" indent="0">
                  <a:lnSpc>
                    <a:spcPct val="125000"/>
                  </a:lnSpc>
                  <a:buNone/>
                </a:pPr>
                <a:r>
                  <a:rPr lang="zh-CN" altLang="en-US" b="0" dirty="0"/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  <m:nary>
                      <m:naryPr>
                        <m:chr m:val="∑"/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box>
                          <m:box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altLang="zh-CN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zh-CN" b="0" i="1">
                                        <a:latin typeface="Cambria Math" panose="02040503050406030204" pitchFamily="18" charset="0"/>
                                      </a:rPr>
                                      <m:t>𝑗</m:t>
                                    </m:r>
                                  </m:sup>
                                </m:sSup>
                              </m:den>
                            </m:f>
                          </m:e>
                        </m:box>
                      </m:e>
                    </m:nary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h</m:t>
                        </m:r>
                      </m:sup>
                    </m:sSup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2−</m:t>
                        </m:r>
                        <m:box>
                          <m:box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sup>
                                </m:sSup>
                              </m:den>
                            </m:f>
                          </m:e>
                        </m:box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&lt;2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=4×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≤4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zh-CN" altLang="en-US" b="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b="0" dirty="0"/>
              </a:p>
              <a:p>
                <a:pPr>
                  <a:lnSpc>
                    <a:spcPct val="125000"/>
                  </a:lnSpc>
                </a:pPr>
                <a:r>
                  <a:rPr lang="zh-CN" altLang="en-US" dirty="0"/>
                  <a:t>重建堆：</a:t>
                </a:r>
                <a:r>
                  <a:rPr lang="zh-CN" altLang="en-US" b="0" dirty="0"/>
                  <a:t>调用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zh-CN" altLang="en-US" b="0" i="1">
                        <a:latin typeface="Cambria Math" panose="02040503050406030204" pitchFamily="18" charset="0"/>
                      </a:rPr>
                      <m:t>次</m:t>
                    </m:r>
                  </m:oMath>
                </a14:m>
                <a:r>
                  <a:rPr lang="en-US" altLang="zh-CN" b="0" dirty="0"/>
                  <a:t>Sift(</a:t>
                </a:r>
                <a:r>
                  <a:rPr lang="zh-CN" altLang="en-US" b="0" dirty="0"/>
                  <a:t>初建堆得最大数、最后剩最小数</a:t>
                </a:r>
                <a:r>
                  <a:rPr lang="en-US" altLang="zh-CN" b="0" dirty="0"/>
                  <a:t>)</a:t>
                </a:r>
                <a:r>
                  <a:rPr lang="zh-CN" altLang="en-US" b="0" dirty="0"/>
                  <a:t>，高度为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zh-CN" altLang="en-US" b="0" dirty="0"/>
                  <a:t>时的最多比较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pitchFamily="18" charset="0"/>
                      </a:rPr>
                      <m:t>2(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zh-CN" altLang="en-US" b="0" dirty="0"/>
                  <a:t>次，所以总的比较次数不超过</a:t>
                </a:r>
                <a:endParaRPr lang="en-US" altLang="zh-CN" b="0" dirty="0"/>
              </a:p>
              <a:p>
                <a:pPr marL="0" indent="0">
                  <a:lnSpc>
                    <a:spcPct val="125000"/>
                  </a:lnSpc>
                  <a:buNone/>
                </a:pPr>
                <a:r>
                  <a:rPr lang="en-US" altLang="zh-CN" b="0" dirty="0"/>
                  <a:t>  </a:t>
                </a:r>
                <a14:m>
                  <m:oMath xmlns:m="http://schemas.openxmlformats.org/officeDocument/2006/math">
                    <m:r>
                      <a:rPr lang="en-US" altLang="zh-CN" b="0" i="1" dirty="0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⌊"/>
                        <m:endChr m:val="⌋"/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b="0" i="0" dirty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−1)</m:t>
                            </m:r>
                          </m:e>
                        </m:func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+2</m:t>
                    </m:r>
                    <m:d>
                      <m:dPr>
                        <m:begChr m:val="⌊"/>
                        <m:endChr m:val="⌋"/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b="0" i="0" dirty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−2)</m:t>
                            </m:r>
                          </m:e>
                        </m:func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⋯+2</m:t>
                    </m:r>
                    <m:d>
                      <m:dPr>
                        <m:begChr m:val="⌊"/>
                        <m:endChr m:val="⌋"/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b="0" i="0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e>
                        </m:func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&lt;2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d>
                      <m:dPr>
                        <m:begChr m:val="⌊"/>
                        <m:endChr m:val="⌋"/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b="0" i="0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altLang="zh-CN" b="0" dirty="0"/>
              </a:p>
              <a:p>
                <a:pPr>
                  <a:lnSpc>
                    <a:spcPct val="125000"/>
                  </a:lnSpc>
                </a:pPr>
                <a:r>
                  <a:rPr lang="zh-CN" altLang="en-US" dirty="0"/>
                  <a:t>堆排序总时间：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𝒏</m:t>
                    </m:r>
                    <m:func>
                      <m:func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b="1" i="0" smtClean="0">
                            <a:latin typeface="Cambria Math" panose="02040503050406030204" pitchFamily="18" charset="0"/>
                          </a:rPr>
                          <m:t>𝐥𝐨𝐠</m:t>
                        </m:r>
                      </m:fName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func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9EA5103A-3FF3-4EF1-BCD7-B445D2BB28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219200"/>
                <a:ext cx="11582400" cy="5486400"/>
              </a:xfrm>
              <a:blipFill>
                <a:blip r:embed="rId2"/>
                <a:stretch>
                  <a:fillRect l="-789" t="-222" r="-421" b="-12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712875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4562CB-9DB2-43F9-BD4D-78D3D55A9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归并排序 </a:t>
            </a:r>
            <a:r>
              <a:rPr lang="en-US" altLang="zh-CN" dirty="0"/>
              <a:t>[John von Neumann,1945]</a:t>
            </a:r>
            <a:endParaRPr lang="zh-CN" altLang="en-US" dirty="0"/>
          </a:p>
        </p:txBody>
      </p:sp>
      <p:pic>
        <p:nvPicPr>
          <p:cNvPr id="4" name="内容占位符 4">
            <a:extLst>
              <a:ext uri="{FF2B5EF4-FFF2-40B4-BE49-F238E27FC236}">
                <a16:creationId xmlns:a16="http://schemas.microsoft.com/office/drawing/2014/main" id="{82DC1A25-CC38-4260-A508-4A584A62E8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0" y="1600200"/>
            <a:ext cx="7543800" cy="4539066"/>
          </a:xfrm>
        </p:spPr>
      </p:pic>
    </p:spTree>
    <p:extLst>
      <p:ext uri="{BB962C8B-B14F-4D97-AF65-F5344CB8AC3E}">
        <p14:creationId xmlns:p14="http://schemas.microsoft.com/office/powerpoint/2010/main" val="3095630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28BD17-2D46-4B05-8246-E5FF856A5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归并排序的实现</a:t>
            </a:r>
            <a:r>
              <a:rPr lang="en-US" altLang="zh-CN" dirty="0"/>
              <a:t>1/3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65B3C5-E3E5-400E-98D2-35983531A7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void </a:t>
            </a:r>
            <a:r>
              <a:rPr lang="en-US" altLang="zh-CN" b="0" dirty="0" err="1"/>
              <a:t>MergeSort</a:t>
            </a:r>
            <a:r>
              <a:rPr lang="en-US" altLang="zh-CN" b="0" dirty="0"/>
              <a:t>(int a[], int n){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int m;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if (n&lt;=1)  return;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m=n/2;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MergeSort</a:t>
            </a:r>
            <a:r>
              <a:rPr lang="en-US" altLang="zh-CN" b="0" dirty="0"/>
              <a:t>(</a:t>
            </a:r>
            <a:r>
              <a:rPr lang="en-US" altLang="zh-CN" b="0" dirty="0" err="1"/>
              <a:t>a,m</a:t>
            </a:r>
            <a:r>
              <a:rPr lang="en-US" altLang="zh-CN" b="0" dirty="0"/>
              <a:t>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MergeSort</a:t>
            </a:r>
            <a:r>
              <a:rPr lang="en-US" altLang="zh-CN" b="0" dirty="0"/>
              <a:t>(&amp;a[m], n-m);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Merge(a, m, n);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return;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29314171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28BD17-2D46-4B05-8246-E5FF856A5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3200" cy="685800"/>
          </a:xfrm>
        </p:spPr>
        <p:txBody>
          <a:bodyPr/>
          <a:lstStyle/>
          <a:p>
            <a:r>
              <a:rPr lang="zh-CN" altLang="en-US" dirty="0"/>
              <a:t>归并排序的实现</a:t>
            </a:r>
            <a:r>
              <a:rPr lang="en-US" altLang="zh-CN" dirty="0"/>
              <a:t>2/3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65B3C5-E3E5-400E-98D2-35983531A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181600"/>
          </a:xfrm>
        </p:spPr>
        <p:txBody>
          <a:bodyPr/>
          <a:lstStyle/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void Merge(int a[], int m, int n){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/</a:t>
            </a:r>
            <a:r>
              <a:rPr lang="zh-CN" altLang="en-US" b="0" dirty="0"/>
              <a:t>* 把</a:t>
            </a:r>
            <a:r>
              <a:rPr lang="en-US" altLang="zh-CN" b="0" dirty="0"/>
              <a:t>a[0…m-1]</a:t>
            </a:r>
            <a:r>
              <a:rPr lang="zh-CN" altLang="en-US" b="0" dirty="0"/>
              <a:t>和</a:t>
            </a:r>
            <a:r>
              <a:rPr lang="en-US" altLang="zh-CN" b="0" dirty="0"/>
              <a:t>a[m...n-1]</a:t>
            </a:r>
            <a:r>
              <a:rPr lang="zh-CN" altLang="en-US" b="0" dirty="0"/>
              <a:t>两个有序数组归并为</a:t>
            </a:r>
            <a:r>
              <a:rPr lang="en-US" altLang="zh-CN" b="0" dirty="0"/>
              <a:t>a[0...n-1]</a:t>
            </a:r>
            <a:r>
              <a:rPr lang="zh-CN" altLang="en-US" b="0" dirty="0"/>
              <a:t>。</a:t>
            </a:r>
            <a:r>
              <a:rPr lang="en-US" altLang="zh-CN" b="0" dirty="0"/>
              <a:t>*/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int </a:t>
            </a:r>
            <a:r>
              <a:rPr lang="en-US" altLang="zh-CN" b="0" dirty="0" err="1"/>
              <a:t>i</a:t>
            </a:r>
            <a:r>
              <a:rPr lang="en-US" altLang="zh-CN" b="0" dirty="0"/>
              <a:t>=0, j=m, k=0, buffer[n];           // </a:t>
            </a:r>
            <a:r>
              <a:rPr lang="en-US" altLang="zh-CN" b="0" dirty="0" err="1"/>
              <a:t>i</a:t>
            </a:r>
            <a:r>
              <a:rPr lang="zh-CN" altLang="en-US" b="0" dirty="0"/>
              <a:t>：前半数组下标</a:t>
            </a:r>
            <a:endParaRPr lang="en-US" altLang="zh-CN" b="0" dirty="0"/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while(</a:t>
            </a:r>
            <a:r>
              <a:rPr lang="en-US" altLang="zh-CN" b="0" dirty="0" err="1"/>
              <a:t>i</a:t>
            </a:r>
            <a:r>
              <a:rPr lang="en-US" altLang="zh-CN" b="0" dirty="0"/>
              <a:t>&lt;m &amp;&amp; j&lt;n) {                      // j</a:t>
            </a:r>
            <a:r>
              <a:rPr lang="zh-CN" altLang="en-US" b="0" dirty="0"/>
              <a:t>：后半数组下标</a:t>
            </a:r>
            <a:endParaRPr lang="en-US" altLang="zh-CN" b="0" dirty="0"/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    if(a[</a:t>
            </a:r>
            <a:r>
              <a:rPr lang="en-US" altLang="zh-CN" b="0" dirty="0" err="1"/>
              <a:t>i</a:t>
            </a:r>
            <a:r>
              <a:rPr lang="en-US" altLang="zh-CN" b="0" dirty="0"/>
              <a:t>]&lt;a[j]) {                               // k</a:t>
            </a:r>
            <a:r>
              <a:rPr lang="zh-CN" altLang="en-US" b="0" dirty="0"/>
              <a:t>：</a:t>
            </a:r>
            <a:r>
              <a:rPr lang="en-US" altLang="zh-CN" b="0" dirty="0"/>
              <a:t>buffer</a:t>
            </a:r>
            <a:r>
              <a:rPr lang="zh-CN" altLang="en-US" b="0" dirty="0"/>
              <a:t>的下标</a:t>
            </a:r>
            <a:endParaRPr lang="en-US" altLang="zh-CN" b="0" dirty="0"/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        buffer[k]=a[</a:t>
            </a:r>
            <a:r>
              <a:rPr lang="en-US" altLang="zh-CN" b="0" dirty="0" err="1"/>
              <a:t>i</a:t>
            </a:r>
            <a:r>
              <a:rPr lang="en-US" altLang="zh-CN" b="0" dirty="0"/>
              <a:t>];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        </a:t>
            </a:r>
            <a:r>
              <a:rPr lang="en-US" altLang="zh-CN" b="0" dirty="0" err="1"/>
              <a:t>i</a:t>
            </a:r>
            <a:r>
              <a:rPr lang="en-US" altLang="zh-CN" b="0" dirty="0"/>
              <a:t>++;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    }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    else {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        buffer[k]=a[j];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        </a:t>
            </a:r>
            <a:r>
              <a:rPr lang="en-US" altLang="zh-CN" b="0" dirty="0" err="1"/>
              <a:t>j++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altLang="zh-CN" b="0" dirty="0"/>
              <a:t>        }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189445410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28BD17-2D46-4B05-8246-E5FF856A5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3200" cy="685800"/>
          </a:xfrm>
        </p:spPr>
        <p:txBody>
          <a:bodyPr/>
          <a:lstStyle/>
          <a:p>
            <a:r>
              <a:rPr lang="zh-CN" altLang="en-US" dirty="0"/>
              <a:t>归并排序的实现</a:t>
            </a:r>
            <a:r>
              <a:rPr lang="en-US" altLang="zh-CN" dirty="0"/>
              <a:t>3/3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765B3C5-E3E5-400E-98D2-35983531A7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658600" cy="5181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k++;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while(</a:t>
            </a:r>
            <a:r>
              <a:rPr lang="en-US" altLang="zh-CN" b="0" dirty="0" err="1"/>
              <a:t>i</a:t>
            </a:r>
            <a:r>
              <a:rPr lang="en-US" altLang="zh-CN" b="0" dirty="0"/>
              <a:t>&lt;m) {  /* </a:t>
            </a:r>
            <a:r>
              <a:rPr lang="zh-CN" altLang="en-US" b="0" dirty="0"/>
              <a:t>把前半数组中剩下的数拷贝过去 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buffer[k]=a[</a:t>
            </a:r>
            <a:r>
              <a:rPr lang="en-US" altLang="zh-CN" b="0" dirty="0" err="1"/>
              <a:t>i</a:t>
            </a:r>
            <a:r>
              <a:rPr lang="en-US" altLang="zh-CN" b="0" dirty="0"/>
              <a:t>];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i</a:t>
            </a:r>
            <a:r>
              <a:rPr lang="en-US" altLang="zh-CN" b="0" dirty="0"/>
              <a:t>++;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k++;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 /</a:t>
            </a:r>
            <a:r>
              <a:rPr lang="zh-CN" altLang="en-US" b="0" dirty="0"/>
              <a:t>* 如 </a:t>
            </a:r>
            <a:r>
              <a:rPr lang="en-US" altLang="zh-CN" b="0" dirty="0"/>
              <a:t>j&lt;n</a:t>
            </a:r>
            <a:r>
              <a:rPr lang="zh-CN" altLang="en-US" b="0" dirty="0"/>
              <a:t>，后半数组中剩下的数已在正确位置，不必再拷*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for(</a:t>
            </a:r>
            <a:r>
              <a:rPr lang="en-US" altLang="zh-CN" b="0" dirty="0" err="1"/>
              <a:t>i</a:t>
            </a:r>
            <a:r>
              <a:rPr lang="en-US" altLang="zh-CN" b="0" dirty="0"/>
              <a:t>=0; </a:t>
            </a:r>
            <a:r>
              <a:rPr lang="en-US" altLang="zh-CN" b="0" dirty="0" err="1"/>
              <a:t>i</a:t>
            </a:r>
            <a:r>
              <a:rPr lang="en-US" altLang="zh-CN" b="0" dirty="0"/>
              <a:t>&lt;k; </a:t>
            </a:r>
            <a:r>
              <a:rPr lang="en-US" altLang="zh-CN" b="0" dirty="0" err="1"/>
              <a:t>i</a:t>
            </a:r>
            <a:r>
              <a:rPr lang="en-US" altLang="zh-CN" b="0" dirty="0"/>
              <a:t>++){ /* buffer</a:t>
            </a:r>
            <a:r>
              <a:rPr lang="zh-CN" altLang="en-US" b="0" dirty="0"/>
              <a:t>中已排好序的数共</a:t>
            </a:r>
            <a:r>
              <a:rPr lang="en-US" altLang="zh-CN" b="0" dirty="0"/>
              <a:t>k</a:t>
            </a:r>
            <a:r>
              <a:rPr lang="zh-CN" altLang="en-US" b="0" dirty="0"/>
              <a:t>个 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a[</a:t>
            </a:r>
            <a:r>
              <a:rPr lang="en-US" altLang="zh-CN" b="0" dirty="0" err="1"/>
              <a:t>i</a:t>
            </a:r>
            <a:r>
              <a:rPr lang="en-US" altLang="zh-CN" b="0" dirty="0"/>
              <a:t>]=buffer[</a:t>
            </a:r>
            <a:r>
              <a:rPr lang="en-US" altLang="zh-CN" b="0" dirty="0" err="1"/>
              <a:t>i</a:t>
            </a:r>
            <a:r>
              <a:rPr lang="en-US" altLang="zh-CN" b="0" dirty="0"/>
              <a:t>];  /* </a:t>
            </a:r>
            <a:r>
              <a:rPr lang="zh-CN" altLang="en-US" b="0" dirty="0"/>
              <a:t>把</a:t>
            </a:r>
            <a:r>
              <a:rPr lang="en-US" altLang="zh-CN" b="0" dirty="0"/>
              <a:t>buffer</a:t>
            </a:r>
            <a:r>
              <a:rPr lang="zh-CN" altLang="en-US" b="0" dirty="0"/>
              <a:t>中排好序的数复制到原数组 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 /* </a:t>
            </a:r>
            <a:r>
              <a:rPr lang="zh-CN" altLang="en-US" b="0" dirty="0"/>
              <a:t>这种实现只用于教学，并不实用 </a:t>
            </a:r>
            <a:r>
              <a:rPr lang="en-US" altLang="zh-CN" b="0" dirty="0"/>
              <a:t>*/</a:t>
            </a:r>
          </a:p>
          <a:p>
            <a:pPr marL="0" indent="0">
              <a:lnSpc>
                <a:spcPct val="100000"/>
              </a:lnSpc>
              <a:buNone/>
            </a:pP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213027425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ED6998-BFC2-45F6-890F-7EB81F972A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归并排序的时间复杂度</a:t>
            </a:r>
            <a:r>
              <a:rPr lang="en-US" altLang="zh-CN" dirty="0"/>
              <a:t>1/2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4">
                <a:extLst>
                  <a:ext uri="{FF2B5EF4-FFF2-40B4-BE49-F238E27FC236}">
                    <a16:creationId xmlns:a16="http://schemas.microsoft.com/office/drawing/2014/main" id="{1BF2417D-13E0-45CC-A143-BEFFD7244859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082197744"/>
                  </p:ext>
                </p:extLst>
              </p:nvPr>
            </p:nvGraphicFramePr>
            <p:xfrm>
              <a:off x="304800" y="1371600"/>
              <a:ext cx="11582400" cy="43475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934200">
                      <a:extLst>
                        <a:ext uri="{9D8B030D-6E8A-4147-A177-3AD203B41FA5}">
                          <a16:colId xmlns:a16="http://schemas.microsoft.com/office/drawing/2014/main" val="3574099454"/>
                        </a:ext>
                      </a:extLst>
                    </a:gridCol>
                    <a:gridCol w="4648200">
                      <a:extLst>
                        <a:ext uri="{9D8B030D-6E8A-4147-A177-3AD203B41FA5}">
                          <a16:colId xmlns:a16="http://schemas.microsoft.com/office/drawing/2014/main" val="265846609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sz="3200" b="0" dirty="0" err="1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MergeSort</a:t>
                          </a:r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(a[], n)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执行时间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5285210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  If n&lt;=1, then return;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𝑇</m:t>
                                </m:r>
                                <m:d>
                                  <m:dPr>
                                    <m:ctrl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</m:t>
                                    </m:r>
                                  </m:e>
                                </m:d>
                                <m:r>
                                  <a:rPr lang="en-US" altLang="zh-CN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=1</m:t>
                                </m:r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9617122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2   m=n/2;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相对于第</a:t>
                          </a:r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5</a:t>
                          </a:r>
                          <a:r>
                            <a:rPr lang="zh-CN" altLang="en-US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行，可忽略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3881912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514350" indent="-514350">
                            <a:buAutoNum type="arabicPlain" startAt="3"/>
                          </a:pPr>
                          <a:r>
                            <a:rPr lang="en-US" altLang="zh-CN" sz="3200" b="0" dirty="0" err="1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MergeSort</a:t>
                          </a:r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(a, m);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𝑇</m:t>
                                </m:r>
                                <m:d>
                                  <m:dPr>
                                    <m:ctrl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dPr>
                                  <m:e>
                                    <m:box>
                                      <m:boxPr>
                                        <m:ctrlPr>
                                          <a:rPr lang="en-US" altLang="zh-CN" sz="3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boxPr>
                                      <m:e>
                                        <m:argPr>
                                          <m:argSz m:val="-1"/>
                                        </m:argPr>
                                        <m:f>
                                          <m:fPr>
                                            <m:ctrlPr>
                                              <a:rPr lang="en-US" altLang="zh-CN" sz="32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微软雅黑" panose="020B0503020204020204" pitchFamily="34" charset="-122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altLang="zh-CN" sz="32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微软雅黑" panose="020B0503020204020204" pitchFamily="34" charset="-122"/>
                                              </a:rPr>
                                              <m:t>𝑛</m:t>
                                            </m:r>
                                          </m:num>
                                          <m:den>
                                            <m:r>
                                              <a:rPr lang="en-US" altLang="zh-CN" sz="32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微软雅黑" panose="020B0503020204020204" pitchFamily="34" charset="-122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</m:e>
                                    </m:box>
                                  </m:e>
                                </m:d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4323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514350" indent="-514350">
                            <a:buAutoNum type="arabicPlain" startAt="4"/>
                          </a:pPr>
                          <a:r>
                            <a:rPr lang="en-US" altLang="zh-CN" sz="3200" b="0" dirty="0" err="1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MergeSort</a:t>
                          </a:r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(&amp;a[m], n-m);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𝑇</m:t>
                                </m:r>
                                <m:d>
                                  <m:dPr>
                                    <m:ctrl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dPr>
                                  <m:e>
                                    <m:box>
                                      <m:boxPr>
                                        <m:ctrlPr>
                                          <a:rPr lang="en-US" altLang="zh-CN" sz="3200" b="0" i="1" smtClean="0">
                                            <a:solidFill>
                                              <a:schemeClr val="tx1"/>
                                            </a:solidFill>
                                            <a:latin typeface="Cambria Math" panose="02040503050406030204" pitchFamily="18" charset="0"/>
                                            <a:ea typeface="微软雅黑" panose="020B0503020204020204" pitchFamily="34" charset="-122"/>
                                          </a:rPr>
                                        </m:ctrlPr>
                                      </m:boxPr>
                                      <m:e>
                                        <m:argPr>
                                          <m:argSz m:val="-1"/>
                                        </m:argPr>
                                        <m:f>
                                          <m:fPr>
                                            <m:ctrlPr>
                                              <a:rPr lang="en-US" altLang="zh-CN" sz="32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微软雅黑" panose="020B0503020204020204" pitchFamily="34" charset="-122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US" altLang="zh-CN" sz="32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微软雅黑" panose="020B0503020204020204" pitchFamily="34" charset="-122"/>
                                              </a:rPr>
                                              <m:t>𝑛</m:t>
                                            </m:r>
                                          </m:num>
                                          <m:den>
                                            <m:r>
                                              <a:rPr lang="en-US" altLang="zh-CN" sz="3200" b="0" i="1" smtClean="0">
                                                <a:solidFill>
                                                  <a:schemeClr val="tx1"/>
                                                </a:solidFill>
                                                <a:latin typeface="Cambria Math" panose="02040503050406030204" pitchFamily="18" charset="0"/>
                                                <a:ea typeface="微软雅黑" panose="020B0503020204020204" pitchFamily="34" charset="-122"/>
                                              </a:rPr>
                                              <m:t>2</m:t>
                                            </m:r>
                                          </m:den>
                                        </m:f>
                                      </m:e>
                                    </m:box>
                                  </m:e>
                                </m:d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56153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514350" indent="-514350">
                            <a:buAutoNum type="arabicPlain" startAt="5"/>
                          </a:pPr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Merge(a, m, n);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𝑇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altLang="zh-CN" sz="3200" b="0" i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Merge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3200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e>
                                </m:d>
                                <m:r>
                                  <a:rPr lang="en-US" altLang="zh-CN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=</m:t>
                                </m:r>
                                <m:r>
                                  <a:rPr lang="en-US" altLang="zh-CN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20559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zh-CN" altLang="en-US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总的执行时间：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𝑇</m:t>
                              </m:r>
                              <m:d>
                                <m:dPr>
                                  <m:ctrlPr>
                                    <a:rPr lang="en-US" altLang="zh-CN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e>
                              </m:d>
                              <m:r>
                                <a:rPr lang="en-US" altLang="zh-CN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=2</m:t>
                              </m:r>
                              <m:r>
                                <a:rPr lang="en-US" altLang="zh-CN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𝑇</m:t>
                              </m:r>
                              <m:d>
                                <m:dPr>
                                  <m:ctrlPr>
                                    <a:rPr lang="en-US" altLang="zh-CN" sz="32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dPr>
                                <m:e>
                                  <m:box>
                                    <m:boxPr>
                                      <m:ctrlPr>
                                        <a:rPr lang="en-US" altLang="zh-CN" sz="32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微软雅黑" panose="020B0503020204020204" pitchFamily="34" charset="-122"/>
                                        </a:rPr>
                                      </m:ctrlPr>
                                    </m:boxPr>
                                    <m:e>
                                      <m:argPr>
                                        <m:argSz m:val="-1"/>
                                      </m:argPr>
                                      <m:f>
                                        <m:fPr>
                                          <m:ctrlPr>
                                            <a:rPr lang="en-US" altLang="zh-CN" sz="32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altLang="zh-CN" sz="32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𝑛</m:t>
                                          </m:r>
                                        </m:num>
                                        <m:den>
                                          <m:r>
                                            <a:rPr lang="en-US" altLang="zh-CN" sz="32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微软雅黑" panose="020B0503020204020204" pitchFamily="34" charset="-122"/>
                                            </a:rPr>
                                            <m:t>2</m:t>
                                          </m:r>
                                        </m:den>
                                      </m:f>
                                    </m:e>
                                  </m:box>
                                </m:e>
                              </m:d>
                              <m:r>
                                <a:rPr lang="en-US" altLang="zh-CN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r>
                                <a:rPr lang="en-US" altLang="zh-CN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</m:oMath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55827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4">
                <a:extLst>
                  <a:ext uri="{FF2B5EF4-FFF2-40B4-BE49-F238E27FC236}">
                    <a16:creationId xmlns:a16="http://schemas.microsoft.com/office/drawing/2014/main" id="{1BF2417D-13E0-45CC-A143-BEFFD7244859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4082197744"/>
                  </p:ext>
                </p:extLst>
              </p:nvPr>
            </p:nvGraphicFramePr>
            <p:xfrm>
              <a:off x="304800" y="1371600"/>
              <a:ext cx="11582400" cy="434752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934200">
                      <a:extLst>
                        <a:ext uri="{9D8B030D-6E8A-4147-A177-3AD203B41FA5}">
                          <a16:colId xmlns:a16="http://schemas.microsoft.com/office/drawing/2014/main" val="3574099454"/>
                        </a:ext>
                      </a:extLst>
                    </a:gridCol>
                    <a:gridCol w="4648200">
                      <a:extLst>
                        <a:ext uri="{9D8B030D-6E8A-4147-A177-3AD203B41FA5}">
                          <a16:colId xmlns:a16="http://schemas.microsoft.com/office/drawing/2014/main" val="2658466098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r>
                            <a:rPr lang="en-US" altLang="zh-CN" sz="3200" b="0" dirty="0" err="1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MergeSort</a:t>
                          </a:r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(a[], n)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执行时间</a:t>
                          </a:r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52852106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   If n&lt;=1, then return;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2"/>
                          <a:stretch>
                            <a:fillRect l="-149606" t="-113684" r="-394" b="-57684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96171222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2   m=n/2;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相对于第</a:t>
                          </a:r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5</a:t>
                          </a:r>
                          <a:r>
                            <a:rPr lang="zh-CN" altLang="en-US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行，可忽略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38819127"/>
                      </a:ext>
                    </a:extLst>
                  </a:tr>
                  <a:tr h="661670">
                    <a:tc>
                      <a:txBody>
                        <a:bodyPr/>
                        <a:lstStyle/>
                        <a:p>
                          <a:pPr marL="514350" indent="-514350">
                            <a:buAutoNum type="arabicPlain" startAt="3"/>
                          </a:pPr>
                          <a:r>
                            <a:rPr lang="en-US" altLang="zh-CN" sz="3200" b="0" dirty="0" err="1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MergeSort</a:t>
                          </a:r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(a, m);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9606" t="-273394" r="-394" b="-3155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3432312"/>
                      </a:ext>
                    </a:extLst>
                  </a:tr>
                  <a:tr h="661670">
                    <a:tc>
                      <a:txBody>
                        <a:bodyPr/>
                        <a:lstStyle/>
                        <a:p>
                          <a:pPr marL="514350" indent="-514350">
                            <a:buAutoNum type="arabicPlain" startAt="4"/>
                          </a:pPr>
                          <a:r>
                            <a:rPr lang="en-US" altLang="zh-CN" sz="3200" b="0" dirty="0" err="1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MergeSort</a:t>
                          </a:r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(&amp;a[m], n-m);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149606" t="-373394" r="-394" b="-21559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15615389"/>
                      </a:ext>
                    </a:extLst>
                  </a:tr>
                  <a:tr h="625158">
                    <a:tc>
                      <a:txBody>
                        <a:bodyPr/>
                        <a:lstStyle/>
                        <a:p>
                          <a:pPr marL="514350" indent="-514350">
                            <a:buAutoNum type="arabicPlain" startAt="5"/>
                          </a:pPr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Merge(a, m, n);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9606" t="-505882" r="-394" b="-13039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2055907"/>
                      </a:ext>
                    </a:extLst>
                  </a:tr>
                  <a:tr h="66167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blipFill>
                          <a:blip r:embed="rId2"/>
                          <a:stretch>
                            <a:fillRect l="-176" t="-566972" r="-67223" b="-220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zh-CN" altLang="en-US" sz="32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755827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404972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73768A94-0057-4831-BB10-541397C4A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归并排序的时间复杂度</a:t>
            </a:r>
            <a:r>
              <a:rPr lang="en-US" altLang="zh-CN" dirty="0"/>
              <a:t>2/2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CD43E67-53C3-4455-A925-24E8DFE2D3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4800" y="990600"/>
                <a:ext cx="11582400" cy="51816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zh-CN" altLang="en-US" b="0" dirty="0"/>
                  <a:t>由程序得：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b="0" i="1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box>
                          <m:box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boxPr>
                          <m:e>
                            <m:argPr>
                              <m:argSz m:val="-1"/>
                            </m:argPr>
                            <m:f>
                              <m:fPr>
                                <m:ctrlP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box>
                      </m:e>
                    </m:d>
                    <m:r>
                      <a:rPr lang="en-US" altLang="zh-CN" b="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b="0" dirty="0"/>
                  <a:t>，</a:t>
                </a:r>
                <a14:m>
                  <m:oMath xmlns:m="http://schemas.openxmlformats.org/officeDocument/2006/math"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zh-CN" altLang="en-US" b="0" dirty="0"/>
                  <a:t>。</a:t>
                </a:r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b="0" i="1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altLang="zh-CN" b="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)+</m:t>
                        </m:r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=4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b="0" i="1" dirty="0"/>
                  <a:t>         </a:t>
                </a:r>
                <a14:m>
                  <m:oMath xmlns:m="http://schemas.openxmlformats.org/officeDocument/2006/math">
                    <m:r>
                      <a:rPr lang="en-US" altLang="zh-CN" b="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  <m:d>
                          <m:d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box>
                              <m:boxPr>
                                <m:ctrlPr>
                                  <a:rPr lang="en-US" altLang="zh-CN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boxPr>
                              <m:e>
                                <m:argPr>
                                  <m:argSz m:val="-1"/>
                                </m:argPr>
                                <m:f>
                                  <m:fPr>
                                    <m:ctrlP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num>
                                  <m:den>
                                    <m:r>
                                      <a:rPr lang="en-US" altLang="zh-CN" b="0" i="1" dirty="0" smtClean="0">
                                        <a:latin typeface="Cambria Math" panose="02040503050406030204" pitchFamily="18" charset="0"/>
                                      </a:rPr>
                                      <m:t>8</m:t>
                                    </m:r>
                                  </m:den>
                                </m:f>
                              </m:e>
                            </m:box>
                          </m:e>
                        </m:d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=8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+3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altLang="zh-CN" b="0" i="1" dirty="0"/>
              </a:p>
              <a:p>
                <a:pPr marL="0" indent="0">
                  <a:buNone/>
                </a:pPr>
                <a:r>
                  <a:rPr lang="zh-CN" altLang="en-US" b="0" dirty="0"/>
                  <a:t>如此进行，可得：</a:t>
                </a:r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𝑘𝑛</m:t>
                    </m:r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zh-CN" altLang="en-US" b="0" dirty="0"/>
                  <a:t>令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zh-CN" altLang="en-US" b="0" i="1">
                        <a:latin typeface="Cambria Math" panose="02040503050406030204" pitchFamily="18" charset="0"/>
                      </a:rPr>
                      <m:t>、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zh-CN" altLang="en-US" b="0" dirty="0"/>
                  <a:t>，则</a:t>
                </a:r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b="0" dirty="0"/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𝑇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𝑛𝑇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𝒏</m:t>
                    </m:r>
                    <m:func>
                      <m:func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altLang="zh-CN" b="1" i="0" smtClean="0">
                            <a:latin typeface="Cambria Math" panose="02040503050406030204" pitchFamily="18" charset="0"/>
                          </a:rPr>
                          <m:t>𝐥𝐨𝐠</m:t>
                        </m:r>
                      </m:fName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func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6CD43E67-53C3-4455-A925-24E8DFE2D3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990600"/>
                <a:ext cx="11582400" cy="5181600"/>
              </a:xfrm>
              <a:blipFill>
                <a:blip r:embed="rId2"/>
                <a:stretch>
                  <a:fillRect l="-1316" b="-74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36487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ED197E-3105-45DF-9783-BCD738258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各种基于比较的排序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4">
                <a:extLst>
                  <a:ext uri="{FF2B5EF4-FFF2-40B4-BE49-F238E27FC236}">
                    <a16:creationId xmlns:a16="http://schemas.microsoft.com/office/drawing/2014/main" id="{48E92DA8-6B69-4783-A64F-009D4CE7A5D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990714241"/>
                  </p:ext>
                </p:extLst>
              </p:nvPr>
            </p:nvGraphicFramePr>
            <p:xfrm>
              <a:off x="304800" y="1356360"/>
              <a:ext cx="11582400" cy="5120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00400">
                      <a:extLst>
                        <a:ext uri="{9D8B030D-6E8A-4147-A177-3AD203B41FA5}">
                          <a16:colId xmlns:a16="http://schemas.microsoft.com/office/drawing/2014/main" val="2704706673"/>
                        </a:ext>
                      </a:extLst>
                    </a:gridCol>
                    <a:gridCol w="2209800">
                      <a:extLst>
                        <a:ext uri="{9D8B030D-6E8A-4147-A177-3AD203B41FA5}">
                          <a16:colId xmlns:a16="http://schemas.microsoft.com/office/drawing/2014/main" val="1029798237"/>
                        </a:ext>
                      </a:extLst>
                    </a:gridCol>
                    <a:gridCol w="2209800">
                      <a:extLst>
                        <a:ext uri="{9D8B030D-6E8A-4147-A177-3AD203B41FA5}">
                          <a16:colId xmlns:a16="http://schemas.microsoft.com/office/drawing/2014/main" val="2497800845"/>
                        </a:ext>
                      </a:extLst>
                    </a:gridCol>
                    <a:gridCol w="2514600">
                      <a:extLst>
                        <a:ext uri="{9D8B030D-6E8A-4147-A177-3AD203B41FA5}">
                          <a16:colId xmlns:a16="http://schemas.microsoft.com/office/drawing/2014/main" val="2709829553"/>
                        </a:ext>
                      </a:extLst>
                    </a:gridCol>
                    <a:gridCol w="1447800">
                      <a:extLst>
                        <a:ext uri="{9D8B030D-6E8A-4147-A177-3AD203B41FA5}">
                          <a16:colId xmlns:a16="http://schemas.microsoft.com/office/drawing/2014/main" val="35003386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排序方法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平均时间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最坏时间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辅助存储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稳定性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607654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冒泡排序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𝑂</m:t>
                                </m:r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3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𝑂</m:t>
                                </m:r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3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𝑂</m:t>
                                </m:r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(1)</m:t>
                                </m:r>
                              </m:oMath>
                            </m:oMathPara>
                          </a14:m>
                          <a:endParaRPr lang="zh-CN" altLang="en-US" sz="3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是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8139844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直接插入排序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𝑂</m:t>
                                </m:r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3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𝑂</m:t>
                                </m:r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3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𝑂</m:t>
                                </m:r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(1)</m:t>
                                </m:r>
                              </m:oMath>
                            </m:oMathPara>
                          </a14:m>
                          <a:endParaRPr lang="zh-CN" altLang="en-US" sz="3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是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5758899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选择排序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𝑂</m:t>
                                </m:r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3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𝑂</m:t>
                                </m:r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3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𝑂</m:t>
                                </m:r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(1)</m:t>
                                </m:r>
                              </m:oMath>
                            </m:oMathPara>
                          </a14:m>
                          <a:endParaRPr lang="zh-CN" altLang="en-US" sz="3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308707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希尔排序</a:t>
                          </a:r>
                          <a:r>
                            <a:rPr lang="en-US" altLang="zh-CN" sz="3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Sedgewick</a:t>
                          </a:r>
                          <a:r>
                            <a:rPr lang="zh-CN" altLang="en-US" sz="3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序列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𝑂</m:t>
                                </m:r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1.33</m:t>
                                    </m:r>
                                  </m:sup>
                                </m:sSup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3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𝑂</m:t>
                                </m:r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1.33</m:t>
                                    </m:r>
                                  </m:sup>
                                </m:sSup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3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𝑂</m:t>
                                </m:r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(1)</m:t>
                                </m:r>
                              </m:oMath>
                            </m:oMathPara>
                          </a14:m>
                          <a:endParaRPr lang="zh-CN" altLang="en-US" sz="3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否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6183934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快速排序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𝑂</m:t>
                                </m:r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(</m:t>
                                </m:r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𝑛</m:t>
                                </m:r>
                                <m:func>
                                  <m:funcPr>
                                    <m:ctrlP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3200" b="0" i="0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3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𝑂</m:t>
                                </m:r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3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𝑂</m:t>
                              </m:r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(</m:t>
                              </m:r>
                              <m:func>
                                <m:funcPr>
                                  <m:ctrlP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en-US" altLang="zh-CN" sz="3200" b="0" i="0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log</m:t>
                                  </m:r>
                                </m:fName>
                                <m:e>
                                  <m:r>
                                    <a:rPr lang="en-US" altLang="zh-CN" sz="3200" b="0" i="1" smtClean="0">
                                      <a:latin typeface="Cambria Math" panose="02040503050406030204" pitchFamily="18" charset="0"/>
                                      <a:ea typeface="微软雅黑" panose="020B0503020204020204" pitchFamily="34" charset="-122"/>
                                    </a:rPr>
                                    <m:t>𝑛</m:t>
                                  </m:r>
                                </m:e>
                              </m:func>
                              <m:r>
                                <a:rPr lang="en-US" altLang="zh-CN" sz="3200" b="0" i="1" smtClean="0"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)</m:t>
                              </m:r>
                            </m:oMath>
                          </a14:m>
                          <a:r>
                            <a:rPr lang="zh-CN" altLang="en-US" sz="28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平均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0871054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归并排序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𝑂</m:t>
                                </m:r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(</m:t>
                                </m:r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𝑛</m:t>
                                </m:r>
                                <m:func>
                                  <m:funcPr>
                                    <m:ctrlP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3200" b="0" i="0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3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𝑂</m:t>
                                </m:r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(</m:t>
                                </m:r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𝑛</m:t>
                                </m:r>
                                <m:func>
                                  <m:funcPr>
                                    <m:ctrlP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3200" b="0" i="0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3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𝑂</m:t>
                                </m:r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(</m:t>
                                </m:r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𝑛</m:t>
                                </m:r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3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是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520518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堆排序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𝑂</m:t>
                                </m:r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(</m:t>
                                </m:r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𝑛</m:t>
                                </m:r>
                                <m:func>
                                  <m:funcPr>
                                    <m:ctrlP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3200" b="0" i="0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3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𝑂</m:t>
                                </m:r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(</m:t>
                                </m:r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𝑛</m:t>
                                </m:r>
                                <m:func>
                                  <m:funcPr>
                                    <m:ctrlP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altLang="zh-CN" sz="3200" b="0" i="0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altLang="zh-CN" sz="3200" b="0" i="1" smtClean="0">
                                        <a:latin typeface="Cambria Math" panose="02040503050406030204" pitchFamily="18" charset="0"/>
                                        <a:ea typeface="微软雅黑" panose="020B0503020204020204" pitchFamily="34" charset="-122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3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𝑂</m:t>
                                </m:r>
                                <m:r>
                                  <a:rPr lang="en-US" altLang="zh-CN" sz="3200" b="0" i="1" smtClean="0"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(1)</m:t>
                                </m:r>
                              </m:oMath>
                            </m:oMathPara>
                          </a14:m>
                          <a:endParaRPr lang="zh-CN" altLang="en-US" sz="3200" dirty="0"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3982997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4">
                <a:extLst>
                  <a:ext uri="{FF2B5EF4-FFF2-40B4-BE49-F238E27FC236}">
                    <a16:creationId xmlns:a16="http://schemas.microsoft.com/office/drawing/2014/main" id="{48E92DA8-6B69-4783-A64F-009D4CE7A5D2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990714241"/>
                  </p:ext>
                </p:extLst>
              </p:nvPr>
            </p:nvGraphicFramePr>
            <p:xfrm>
              <a:off x="304800" y="1356360"/>
              <a:ext cx="11582400" cy="512064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00400">
                      <a:extLst>
                        <a:ext uri="{9D8B030D-6E8A-4147-A177-3AD203B41FA5}">
                          <a16:colId xmlns:a16="http://schemas.microsoft.com/office/drawing/2014/main" val="2704706673"/>
                        </a:ext>
                      </a:extLst>
                    </a:gridCol>
                    <a:gridCol w="2209800">
                      <a:extLst>
                        <a:ext uri="{9D8B030D-6E8A-4147-A177-3AD203B41FA5}">
                          <a16:colId xmlns:a16="http://schemas.microsoft.com/office/drawing/2014/main" val="1029798237"/>
                        </a:ext>
                      </a:extLst>
                    </a:gridCol>
                    <a:gridCol w="2209800">
                      <a:extLst>
                        <a:ext uri="{9D8B030D-6E8A-4147-A177-3AD203B41FA5}">
                          <a16:colId xmlns:a16="http://schemas.microsoft.com/office/drawing/2014/main" val="2497800845"/>
                        </a:ext>
                      </a:extLst>
                    </a:gridCol>
                    <a:gridCol w="2514600">
                      <a:extLst>
                        <a:ext uri="{9D8B030D-6E8A-4147-A177-3AD203B41FA5}">
                          <a16:colId xmlns:a16="http://schemas.microsoft.com/office/drawing/2014/main" val="2709829553"/>
                        </a:ext>
                      </a:extLst>
                    </a:gridCol>
                    <a:gridCol w="1447800">
                      <a:extLst>
                        <a:ext uri="{9D8B030D-6E8A-4147-A177-3AD203B41FA5}">
                          <a16:colId xmlns:a16="http://schemas.microsoft.com/office/drawing/2014/main" val="350033867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排序方法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平均时间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最坏时间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辅助存储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稳定性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60765400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冒泡排序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5179" t="-112632" r="-279614" b="-7189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45856" t="-112632" r="-180387" b="-7189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3148" t="-112632" r="-58111" b="-7189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是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81398441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直接插入排序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5179" t="-212632" r="-279614" b="-6189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45856" t="-212632" r="-180387" b="-6189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3148" t="-212632" r="-58111" b="-6189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是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57588997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选择排序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5179" t="-312632" r="-279614" b="-5189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45856" t="-312632" r="-180387" b="-5189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3148" t="-312632" r="-58111" b="-5189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3087070"/>
                      </a:ext>
                    </a:extLst>
                  </a:tr>
                  <a:tr h="10668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希尔排序</a:t>
                          </a:r>
                          <a:r>
                            <a:rPr lang="en-US" altLang="zh-CN" sz="3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Sedgewick</a:t>
                          </a:r>
                          <a:r>
                            <a:rPr lang="zh-CN" altLang="en-US" sz="3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序列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5179" t="-222727" r="-279614" b="-1801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45856" t="-222727" r="-180387" b="-1801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3148" t="-222727" r="-58111" b="-18011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否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61839349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快速排序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5179" t="-597895" r="-279614" b="-2336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45856" t="-597895" r="-180387" b="-2336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3148" t="-597895" r="-58111" b="-2336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08710543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归并排序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5179" t="-697895" r="-279614" b="-1336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45856" t="-697895" r="-180387" b="-1336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3148" t="-697895" r="-58111" b="-1336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是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52051868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堆排序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45179" t="-797895" r="-279614" b="-336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45856" t="-797895" r="-180387" b="-336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3148" t="-797895" r="-58111" b="-336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dirty="0"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否</a:t>
                          </a: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63982997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534070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691F66-4FF4-4BAB-ACB5-E90A539C84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比较次数的理论下界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97AC05A1-D627-429E-893A-25045077609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189469" y="1371600"/>
                <a:ext cx="3239531" cy="4800600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b="0" dirty="0"/>
                  <a:t> </a:t>
                </a:r>
                <a:r>
                  <a:rPr lang="zh-CN" altLang="en-US" b="0" dirty="0"/>
                  <a:t>个数排序，可能的序列共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zh-CN" altLang="en-US" b="0" dirty="0"/>
                  <a:t>个。</a:t>
                </a:r>
                <a:endParaRPr lang="en-US" altLang="zh-CN" b="0" dirty="0"/>
              </a:p>
              <a:p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b="0" dirty="0"/>
                  <a:t> </a:t>
                </a:r>
                <a:r>
                  <a:rPr lang="zh-CN" altLang="en-US" b="0" dirty="0"/>
                  <a:t>个数的判定树，共有</a:t>
                </a:r>
                <a14:m>
                  <m:oMath xmlns:m="http://schemas.openxmlformats.org/officeDocument/2006/math">
                    <m:r>
                      <a:rPr lang="en-US" altLang="zh-CN" b="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zh-CN" altLang="en-US" b="0" dirty="0"/>
                  <a:t>个叶子。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97AC05A1-D627-429E-893A-2504507760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89469" y="1371600"/>
                <a:ext cx="3239531" cy="4800600"/>
              </a:xfrm>
              <a:blipFill>
                <a:blip r:embed="rId2"/>
                <a:stretch>
                  <a:fillRect t="-25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内容占位符 9">
            <a:extLst>
              <a:ext uri="{FF2B5EF4-FFF2-40B4-BE49-F238E27FC236}">
                <a16:creationId xmlns:a16="http://schemas.microsoft.com/office/drawing/2014/main" id="{9AF48333-3D7D-4F3E-90E1-C56A20D54D2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0239" y="1600200"/>
            <a:ext cx="8409361" cy="3962400"/>
          </a:xfr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C45B5D93-289A-4742-BD9D-AE62F7102ADA}"/>
              </a:ext>
            </a:extLst>
          </p:cNvPr>
          <p:cNvSpPr txBox="1"/>
          <p:nvPr/>
        </p:nvSpPr>
        <p:spPr>
          <a:xfrm>
            <a:off x="5105400" y="5892225"/>
            <a:ext cx="55819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三个数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K1,K2,K3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排序的判定树</a:t>
            </a:r>
          </a:p>
        </p:txBody>
      </p:sp>
    </p:spTree>
    <p:extLst>
      <p:ext uri="{BB962C8B-B14F-4D97-AF65-F5344CB8AC3E}">
        <p14:creationId xmlns:p14="http://schemas.microsoft.com/office/powerpoint/2010/main" val="36025936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8F691F66-4FF4-4BAB-ACB5-E90A539C8416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比较次数的理论下界：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0" smtClean="0">
                                    <a:latin typeface="Cambria Math" panose="02040503050406030204" pitchFamily="18" charset="0"/>
                                  </a:rPr>
                                  <m:t>𝐥𝐨𝐠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!</m:t>
                            </m:r>
                          </m:e>
                        </m:func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8F691F66-4FF4-4BAB-ACB5-E90A539C841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24107" b="-482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97AC05A1-D627-429E-893A-250450776095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189470" y="1371600"/>
                <a:ext cx="11469130" cy="4800600"/>
              </a:xfrm>
            </p:spPr>
            <p:txBody>
              <a:bodyPr/>
              <a:lstStyle/>
              <a:p>
                <a:r>
                  <a:rPr lang="zh-CN" altLang="en-US" b="0" dirty="0"/>
                  <a:t>高度为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zh-CN" altLang="en-US" b="0" dirty="0"/>
                  <a:t>的完全二叉树，叶子个数不超过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zh-CN" altLang="en-US" b="0" dirty="0"/>
                  <a:t>。</a:t>
                </a:r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b="0" dirty="0"/>
                  <a:t>  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en-US" altLang="zh-CN" b="0" dirty="0"/>
                  <a:t> </a:t>
                </a:r>
                <a:r>
                  <a:rPr lang="zh-CN" altLang="en-US" b="0" dirty="0"/>
                  <a:t>个叶子的判定树，有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!≤</m:t>
                    </m:r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h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zh-CN" altLang="en-US" b="0" dirty="0"/>
                  <a:t>。</a:t>
                </a:r>
                <a:endParaRPr lang="en-US" altLang="zh-CN" b="0" dirty="0"/>
              </a:p>
              <a:p>
                <a:r>
                  <a:rPr lang="zh-CN" altLang="en-US" b="0" dirty="0"/>
                  <a:t>判定树的高度至少为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zh-CN" alt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!</m:t>
                            </m:r>
                          </m:e>
                        </m:func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+1</m:t>
                    </m:r>
                    <m:r>
                      <a:rPr lang="zh-CN" altLang="en-US" b="0" i="1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en-US" altLang="zh-CN" b="0" dirty="0"/>
              </a:p>
              <a:p>
                <a:pPr marL="0" indent="0">
                  <a:buNone/>
                </a:pPr>
                <a:r>
                  <a:rPr lang="en-US" altLang="zh-CN" b="0" dirty="0"/>
                  <a:t>   </a:t>
                </a:r>
                <a:r>
                  <a:rPr lang="zh-CN" altLang="en-US" b="0" dirty="0"/>
                  <a:t>比较次数至少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zh-CN" altLang="en-US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zh-CN" b="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b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b="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b="0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e>
                        </m:func>
                      </m:e>
                    </m:d>
                  </m:oMath>
                </a14:m>
                <a:r>
                  <a:rPr lang="en-US" altLang="zh-CN" b="0" dirty="0"/>
                  <a:t> </a:t>
                </a:r>
                <a:r>
                  <a:rPr lang="zh-CN" altLang="en-US" b="0" dirty="0"/>
                  <a:t>次。</a:t>
                </a:r>
                <a:endParaRPr lang="en-US" altLang="zh-CN" b="0" dirty="0"/>
              </a:p>
              <a:p>
                <a:r>
                  <a:rPr lang="zh-CN" altLang="en-US" b="0" dirty="0"/>
                  <a:t>斯特林公式：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!≈</m:t>
                    </m:r>
                    <m:rad>
                      <m:radPr>
                        <m:degHide m:val="on"/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zh-CN" alt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𝜋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</m:rad>
                    <m:sSup>
                      <m:sSup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𝑒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US" altLang="zh-CN" b="0" dirty="0"/>
              </a:p>
              <a:p>
                <a:r>
                  <a:rPr lang="zh-CN" altLang="en-US" b="0" dirty="0"/>
                  <a:t>比较次数的理论下界：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zh-CN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1">
                                    <a:latin typeface="Cambria Math" panose="02040503050406030204" pitchFamily="18" charset="0"/>
                                  </a:rPr>
                                  <m:t>𝐥𝐨𝐠</m:t>
                                </m:r>
                              </m:e>
                              <m:sub>
                                <m:r>
                                  <a:rPr lang="en-US" altLang="zh-CN" b="1" i="1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altLang="zh-CN" b="1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e>
                        </m:func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𝑶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𝒏</m:t>
                    </m:r>
                    <m:func>
                      <m:func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e>
                    </m:func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4" name="内容占位符 3">
                <a:extLst>
                  <a:ext uri="{FF2B5EF4-FFF2-40B4-BE49-F238E27FC236}">
                    <a16:creationId xmlns:a16="http://schemas.microsoft.com/office/drawing/2014/main" id="{97AC05A1-D627-429E-893A-25045077609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189470" y="1371600"/>
                <a:ext cx="11469130" cy="4800600"/>
              </a:xfrm>
              <a:blipFill>
                <a:blip r:embed="rId3"/>
                <a:stretch>
                  <a:fillRect l="-797" t="-12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675778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23CC97-36A1-4592-A337-FF02F9A9D5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对理论下界的追求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7FAEF61-0916-40AD-9D5B-441DFF3C6067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304800" y="1524000"/>
                <a:ext cx="5791200" cy="4800600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zh-CN" alt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zh-CN" b="0" i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5!</m:t>
                            </m:r>
                          </m:e>
                        </m:func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zh-CN" altLang="en-US" b="0" dirty="0"/>
                  <a:t>：对</a:t>
                </a:r>
                <a:r>
                  <a:rPr lang="en-US" altLang="zh-CN" b="0" dirty="0"/>
                  <a:t>5</a:t>
                </a:r>
                <a:r>
                  <a:rPr lang="zh-CN" altLang="en-US" b="0" dirty="0"/>
                  <a:t>个数排序只需</a:t>
                </a:r>
                <a:r>
                  <a:rPr lang="en-US" altLang="zh-CN" b="0" dirty="0"/>
                  <a:t>7</a:t>
                </a:r>
                <a:r>
                  <a:rPr lang="zh-CN" altLang="en-US" b="0" dirty="0"/>
                  <a:t>次比较</a:t>
                </a:r>
                <a:r>
                  <a:rPr lang="en-US" altLang="zh-CN" b="0" dirty="0"/>
                  <a:t>[Demuth,1956]</a:t>
                </a:r>
                <a:r>
                  <a:rPr lang="zh-CN" altLang="en-US" b="0" dirty="0"/>
                  <a:t>。</a:t>
                </a:r>
                <a:endParaRPr lang="en-US" altLang="zh-CN" b="0" dirty="0"/>
              </a:p>
              <a:p>
                <a:r>
                  <a:rPr lang="en-US" altLang="zh-CN" b="0" dirty="0"/>
                  <a:t>Ford</a:t>
                </a:r>
                <a:r>
                  <a:rPr lang="zh-CN" altLang="en-US" b="0" dirty="0"/>
                  <a:t>和</a:t>
                </a:r>
                <a:r>
                  <a:rPr lang="en-US" altLang="zh-CN" b="0" dirty="0"/>
                  <a:t>Johnson[1959]</a:t>
                </a:r>
                <a:r>
                  <a:rPr lang="zh-CN" altLang="en-US" b="0" dirty="0"/>
                  <a:t>把这种方法推广，得插入归并排序，是到目前为止比较次数最少的排序算法。</a:t>
                </a:r>
                <a:endParaRPr lang="en-US" altLang="zh-CN" b="0" dirty="0"/>
              </a:p>
              <a:p>
                <a:r>
                  <a:rPr lang="en-US" altLang="zh-CN" b="0" dirty="0"/>
                  <a:t>Ford-Johnson</a:t>
                </a:r>
                <a:r>
                  <a:rPr lang="zh-CN" altLang="en-US" b="0" dirty="0"/>
                  <a:t>算法不是最优的</a:t>
                </a:r>
                <a:r>
                  <a:rPr lang="en-US" altLang="zh-CN" b="0" dirty="0"/>
                  <a:t>[Manacher,1979]</a:t>
                </a:r>
                <a:r>
                  <a:rPr lang="zh-CN" altLang="en-US" b="0" dirty="0"/>
                  <a:t>。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7FAEF61-0916-40AD-9D5B-441DFF3C60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304800" y="1524000"/>
                <a:ext cx="5791200" cy="4800600"/>
              </a:xfrm>
              <a:blipFill>
                <a:blip r:embed="rId2"/>
                <a:stretch>
                  <a:fillRect l="-1579" t="-254" r="-2737" b="-96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BB276738-B198-4132-B57F-530EDCEFD32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4114800"/>
            <a:ext cx="5546912" cy="1143000"/>
          </a:xfr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5347366-08A9-44B4-B21E-574D219C8A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1600199"/>
            <a:ext cx="3810000" cy="1873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30918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517967-1E4C-4433-A0F0-C79DFC99E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计数排序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738D16B-0117-4133-BF87-FA88286465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905000"/>
            <a:ext cx="11582400" cy="4572000"/>
          </a:xfrm>
        </p:spPr>
        <p:txBody>
          <a:bodyPr/>
          <a:lstStyle/>
          <a:p>
            <a:r>
              <a:rPr lang="zh-CN" altLang="en-US" b="0" dirty="0"/>
              <a:t>待排序： </a:t>
            </a:r>
            <a:endParaRPr lang="en-US" altLang="zh-CN" b="0" dirty="0"/>
          </a:p>
          <a:p>
            <a:endParaRPr lang="en-US" altLang="zh-CN" b="0" dirty="0"/>
          </a:p>
          <a:p>
            <a:r>
              <a:rPr lang="zh-CN" altLang="en-US" b="0" dirty="0"/>
              <a:t>计数：</a:t>
            </a:r>
            <a:endParaRPr lang="en-US" altLang="zh-CN" b="0" dirty="0"/>
          </a:p>
          <a:p>
            <a:r>
              <a:rPr lang="zh-CN" altLang="en-US" b="0" dirty="0"/>
              <a:t>计算位置：</a:t>
            </a:r>
            <a:endParaRPr lang="en-US" altLang="zh-CN" b="0" dirty="0"/>
          </a:p>
          <a:p>
            <a:endParaRPr lang="en-US" altLang="zh-CN" b="0" dirty="0"/>
          </a:p>
          <a:p>
            <a:r>
              <a:rPr lang="zh-CN" altLang="en-US" b="0" dirty="0"/>
              <a:t>排序输出：</a:t>
            </a: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271B3D9E-2EE9-4372-BDBE-4047C38B8B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1221196"/>
              </p:ext>
            </p:extLst>
          </p:nvPr>
        </p:nvGraphicFramePr>
        <p:xfrm>
          <a:off x="2516558" y="1295400"/>
          <a:ext cx="7365996" cy="129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8444">
                  <a:extLst>
                    <a:ext uri="{9D8B030D-6E8A-4147-A177-3AD203B41FA5}">
                      <a16:colId xmlns:a16="http://schemas.microsoft.com/office/drawing/2014/main" val="1121109603"/>
                    </a:ext>
                  </a:extLst>
                </a:gridCol>
                <a:gridCol w="818444">
                  <a:extLst>
                    <a:ext uri="{9D8B030D-6E8A-4147-A177-3AD203B41FA5}">
                      <a16:colId xmlns:a16="http://schemas.microsoft.com/office/drawing/2014/main" val="1786770514"/>
                    </a:ext>
                  </a:extLst>
                </a:gridCol>
                <a:gridCol w="818444">
                  <a:extLst>
                    <a:ext uri="{9D8B030D-6E8A-4147-A177-3AD203B41FA5}">
                      <a16:colId xmlns:a16="http://schemas.microsoft.com/office/drawing/2014/main" val="1490652728"/>
                    </a:ext>
                  </a:extLst>
                </a:gridCol>
                <a:gridCol w="818444">
                  <a:extLst>
                    <a:ext uri="{9D8B030D-6E8A-4147-A177-3AD203B41FA5}">
                      <a16:colId xmlns:a16="http://schemas.microsoft.com/office/drawing/2014/main" val="2149135877"/>
                    </a:ext>
                  </a:extLst>
                </a:gridCol>
                <a:gridCol w="818444">
                  <a:extLst>
                    <a:ext uri="{9D8B030D-6E8A-4147-A177-3AD203B41FA5}">
                      <a16:colId xmlns:a16="http://schemas.microsoft.com/office/drawing/2014/main" val="766876562"/>
                    </a:ext>
                  </a:extLst>
                </a:gridCol>
                <a:gridCol w="818444">
                  <a:extLst>
                    <a:ext uri="{9D8B030D-6E8A-4147-A177-3AD203B41FA5}">
                      <a16:colId xmlns:a16="http://schemas.microsoft.com/office/drawing/2014/main" val="2615319810"/>
                    </a:ext>
                  </a:extLst>
                </a:gridCol>
                <a:gridCol w="818444">
                  <a:extLst>
                    <a:ext uri="{9D8B030D-6E8A-4147-A177-3AD203B41FA5}">
                      <a16:colId xmlns:a16="http://schemas.microsoft.com/office/drawing/2014/main" val="1966907769"/>
                    </a:ext>
                  </a:extLst>
                </a:gridCol>
                <a:gridCol w="818444">
                  <a:extLst>
                    <a:ext uri="{9D8B030D-6E8A-4147-A177-3AD203B41FA5}">
                      <a16:colId xmlns:a16="http://schemas.microsoft.com/office/drawing/2014/main" val="220275407"/>
                    </a:ext>
                  </a:extLst>
                </a:gridCol>
                <a:gridCol w="818444">
                  <a:extLst>
                    <a:ext uri="{9D8B030D-6E8A-4147-A177-3AD203B41FA5}">
                      <a16:colId xmlns:a16="http://schemas.microsoft.com/office/drawing/2014/main" val="2606641770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algn="ctr"/>
                      <a:endParaRPr lang="zh-CN" altLang="en-US" sz="3600" b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dirty="0">
                          <a:solidFill>
                            <a:schemeClr val="tx2"/>
                          </a:solidFill>
                        </a:rPr>
                        <a:t>1</a:t>
                      </a:r>
                      <a:endParaRPr lang="zh-CN" altLang="en-US" sz="3600" b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dirty="0">
                          <a:solidFill>
                            <a:schemeClr val="tx2"/>
                          </a:solidFill>
                        </a:rPr>
                        <a:t>2</a:t>
                      </a:r>
                      <a:endParaRPr lang="zh-CN" altLang="en-US" sz="3600" b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dirty="0">
                          <a:solidFill>
                            <a:schemeClr val="tx2"/>
                          </a:solidFill>
                        </a:rPr>
                        <a:t>3</a:t>
                      </a:r>
                      <a:endParaRPr lang="zh-CN" altLang="en-US" sz="3600" b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dirty="0">
                          <a:solidFill>
                            <a:schemeClr val="tx2"/>
                          </a:solidFill>
                        </a:rPr>
                        <a:t>4</a:t>
                      </a:r>
                      <a:endParaRPr lang="zh-CN" altLang="en-US" sz="3600" b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dirty="0">
                          <a:solidFill>
                            <a:schemeClr val="tx2"/>
                          </a:solidFill>
                        </a:rPr>
                        <a:t>5</a:t>
                      </a:r>
                      <a:endParaRPr lang="zh-CN" altLang="en-US" sz="3600" b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dirty="0">
                          <a:solidFill>
                            <a:schemeClr val="tx2"/>
                          </a:solidFill>
                        </a:rPr>
                        <a:t>6</a:t>
                      </a:r>
                      <a:endParaRPr lang="zh-CN" altLang="en-US" sz="3600" b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dirty="0">
                          <a:solidFill>
                            <a:schemeClr val="tx2"/>
                          </a:solidFill>
                        </a:rPr>
                        <a:t>7</a:t>
                      </a:r>
                      <a:endParaRPr lang="zh-CN" altLang="en-US" sz="3600" b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dirty="0">
                          <a:solidFill>
                            <a:schemeClr val="tx2"/>
                          </a:solidFill>
                        </a:rPr>
                        <a:t>8</a:t>
                      </a:r>
                      <a:endParaRPr lang="zh-CN" altLang="en-US" sz="3600" b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1175006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dirty="0">
                          <a:solidFill>
                            <a:schemeClr val="tx2"/>
                          </a:solidFill>
                        </a:rPr>
                        <a:t>a</a:t>
                      </a:r>
                      <a:endParaRPr lang="zh-CN" altLang="en-US" sz="3600" b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chemeClr val="tx2"/>
                          </a:solidFill>
                        </a:rPr>
                        <a:t>2</a:t>
                      </a:r>
                      <a:endParaRPr lang="zh-CN" altLang="en-US" sz="3600" b="1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chemeClr val="tx2"/>
                          </a:solidFill>
                        </a:rPr>
                        <a:t>5</a:t>
                      </a:r>
                      <a:endParaRPr lang="zh-CN" altLang="en-US" sz="3600" b="1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chemeClr val="tx2"/>
                          </a:solidFill>
                        </a:rPr>
                        <a:t>3</a:t>
                      </a:r>
                      <a:endParaRPr lang="zh-CN" altLang="en-US" sz="3600" b="1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chemeClr val="tx2"/>
                          </a:solidFill>
                        </a:rPr>
                        <a:t>0</a:t>
                      </a:r>
                      <a:endParaRPr lang="zh-CN" altLang="en-US" sz="3600" b="1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chemeClr val="tx2"/>
                          </a:solidFill>
                        </a:rPr>
                        <a:t>2</a:t>
                      </a:r>
                      <a:endParaRPr lang="zh-CN" altLang="en-US" sz="3600" b="1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chemeClr val="tx2"/>
                          </a:solidFill>
                        </a:rPr>
                        <a:t>3</a:t>
                      </a:r>
                      <a:endParaRPr lang="zh-CN" altLang="en-US" sz="3600" b="1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chemeClr val="tx2"/>
                          </a:solidFill>
                        </a:rPr>
                        <a:t>0</a:t>
                      </a:r>
                      <a:endParaRPr lang="zh-CN" altLang="en-US" sz="3600" b="1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chemeClr val="tx2"/>
                          </a:solidFill>
                        </a:rPr>
                        <a:t>3</a:t>
                      </a:r>
                      <a:endParaRPr lang="zh-CN" altLang="en-US" sz="3600" b="1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8059193"/>
                  </a:ext>
                </a:extLst>
              </a:tr>
            </a:tbl>
          </a:graphicData>
        </a:graphic>
      </p:graphicFrame>
      <p:graphicFrame>
        <p:nvGraphicFramePr>
          <p:cNvPr id="6" name="表格 4">
            <a:extLst>
              <a:ext uri="{FF2B5EF4-FFF2-40B4-BE49-F238E27FC236}">
                <a16:creationId xmlns:a16="http://schemas.microsoft.com/office/drawing/2014/main" id="{A645106E-3FF5-47EF-9945-1B5FEDF193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3093714"/>
              </p:ext>
            </p:extLst>
          </p:nvPr>
        </p:nvGraphicFramePr>
        <p:xfrm>
          <a:off x="2500492" y="2743200"/>
          <a:ext cx="5729108" cy="129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8444">
                  <a:extLst>
                    <a:ext uri="{9D8B030D-6E8A-4147-A177-3AD203B41FA5}">
                      <a16:colId xmlns:a16="http://schemas.microsoft.com/office/drawing/2014/main" val="1121109603"/>
                    </a:ext>
                  </a:extLst>
                </a:gridCol>
                <a:gridCol w="818444">
                  <a:extLst>
                    <a:ext uri="{9D8B030D-6E8A-4147-A177-3AD203B41FA5}">
                      <a16:colId xmlns:a16="http://schemas.microsoft.com/office/drawing/2014/main" val="1786770514"/>
                    </a:ext>
                  </a:extLst>
                </a:gridCol>
                <a:gridCol w="818444">
                  <a:extLst>
                    <a:ext uri="{9D8B030D-6E8A-4147-A177-3AD203B41FA5}">
                      <a16:colId xmlns:a16="http://schemas.microsoft.com/office/drawing/2014/main" val="1490652728"/>
                    </a:ext>
                  </a:extLst>
                </a:gridCol>
                <a:gridCol w="818444">
                  <a:extLst>
                    <a:ext uri="{9D8B030D-6E8A-4147-A177-3AD203B41FA5}">
                      <a16:colId xmlns:a16="http://schemas.microsoft.com/office/drawing/2014/main" val="2149135877"/>
                    </a:ext>
                  </a:extLst>
                </a:gridCol>
                <a:gridCol w="818444">
                  <a:extLst>
                    <a:ext uri="{9D8B030D-6E8A-4147-A177-3AD203B41FA5}">
                      <a16:colId xmlns:a16="http://schemas.microsoft.com/office/drawing/2014/main" val="766876562"/>
                    </a:ext>
                  </a:extLst>
                </a:gridCol>
                <a:gridCol w="818444">
                  <a:extLst>
                    <a:ext uri="{9D8B030D-6E8A-4147-A177-3AD203B41FA5}">
                      <a16:colId xmlns:a16="http://schemas.microsoft.com/office/drawing/2014/main" val="2615319810"/>
                    </a:ext>
                  </a:extLst>
                </a:gridCol>
                <a:gridCol w="818444">
                  <a:extLst>
                    <a:ext uri="{9D8B030D-6E8A-4147-A177-3AD203B41FA5}">
                      <a16:colId xmlns:a16="http://schemas.microsoft.com/office/drawing/2014/main" val="1966907769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algn="ctr"/>
                      <a:endParaRPr lang="zh-CN" altLang="en-US" sz="3600" b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dirty="0">
                          <a:solidFill>
                            <a:schemeClr val="tx2"/>
                          </a:solidFill>
                        </a:rPr>
                        <a:t>0</a:t>
                      </a:r>
                      <a:endParaRPr lang="zh-CN" altLang="en-US" sz="3600" b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dirty="0">
                          <a:solidFill>
                            <a:schemeClr val="tx2"/>
                          </a:solidFill>
                        </a:rPr>
                        <a:t>1</a:t>
                      </a:r>
                      <a:endParaRPr lang="zh-CN" altLang="en-US" sz="3600" b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dirty="0">
                          <a:solidFill>
                            <a:schemeClr val="tx2"/>
                          </a:solidFill>
                        </a:rPr>
                        <a:t>2</a:t>
                      </a:r>
                      <a:endParaRPr lang="zh-CN" altLang="en-US" sz="3600" b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dirty="0">
                          <a:solidFill>
                            <a:schemeClr val="tx2"/>
                          </a:solidFill>
                        </a:rPr>
                        <a:t>3</a:t>
                      </a:r>
                      <a:endParaRPr lang="zh-CN" altLang="en-US" sz="3600" b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dirty="0">
                          <a:solidFill>
                            <a:schemeClr val="tx2"/>
                          </a:solidFill>
                        </a:rPr>
                        <a:t>4</a:t>
                      </a:r>
                      <a:endParaRPr lang="zh-CN" altLang="en-US" sz="3600" b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dirty="0">
                          <a:solidFill>
                            <a:schemeClr val="tx2"/>
                          </a:solidFill>
                        </a:rPr>
                        <a:t>5</a:t>
                      </a:r>
                      <a:endParaRPr lang="zh-CN" altLang="en-US" sz="3600" b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1175006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dirty="0">
                          <a:solidFill>
                            <a:schemeClr val="tx2"/>
                          </a:solidFill>
                        </a:rPr>
                        <a:t>c</a:t>
                      </a:r>
                      <a:endParaRPr lang="zh-CN" altLang="en-US" sz="3600" b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chemeClr val="tx2"/>
                          </a:solidFill>
                        </a:rPr>
                        <a:t>2</a:t>
                      </a:r>
                      <a:endParaRPr lang="zh-CN" altLang="en-US" sz="3600" b="1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chemeClr val="tx2"/>
                          </a:solidFill>
                        </a:rPr>
                        <a:t>0</a:t>
                      </a:r>
                      <a:endParaRPr lang="zh-CN" altLang="en-US" sz="3600" b="1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chemeClr val="tx2"/>
                          </a:solidFill>
                        </a:rPr>
                        <a:t>2</a:t>
                      </a:r>
                      <a:endParaRPr lang="zh-CN" altLang="en-US" sz="3600" b="1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chemeClr val="tx2"/>
                          </a:solidFill>
                        </a:rPr>
                        <a:t>3</a:t>
                      </a:r>
                      <a:endParaRPr lang="zh-CN" altLang="en-US" sz="3600" b="1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chemeClr val="tx2"/>
                          </a:solidFill>
                        </a:rPr>
                        <a:t>0</a:t>
                      </a:r>
                      <a:endParaRPr lang="zh-CN" altLang="en-US" sz="3600" b="1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chemeClr val="tx2"/>
                          </a:solidFill>
                        </a:rPr>
                        <a:t>1</a:t>
                      </a:r>
                      <a:endParaRPr lang="zh-CN" altLang="en-US" sz="3600" b="1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88059193"/>
                  </a:ext>
                </a:extLst>
              </a:tr>
            </a:tbl>
          </a:graphicData>
        </a:graphic>
      </p:graphicFrame>
      <p:graphicFrame>
        <p:nvGraphicFramePr>
          <p:cNvPr id="7" name="表格 4">
            <a:extLst>
              <a:ext uri="{FF2B5EF4-FFF2-40B4-BE49-F238E27FC236}">
                <a16:creationId xmlns:a16="http://schemas.microsoft.com/office/drawing/2014/main" id="{8572F914-E255-49A8-BF32-1095C4205D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5731144"/>
              </p:ext>
            </p:extLst>
          </p:nvPr>
        </p:nvGraphicFramePr>
        <p:xfrm>
          <a:off x="2500492" y="4191000"/>
          <a:ext cx="5729108" cy="647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8444">
                  <a:extLst>
                    <a:ext uri="{9D8B030D-6E8A-4147-A177-3AD203B41FA5}">
                      <a16:colId xmlns:a16="http://schemas.microsoft.com/office/drawing/2014/main" val="1121109603"/>
                    </a:ext>
                  </a:extLst>
                </a:gridCol>
                <a:gridCol w="818444">
                  <a:extLst>
                    <a:ext uri="{9D8B030D-6E8A-4147-A177-3AD203B41FA5}">
                      <a16:colId xmlns:a16="http://schemas.microsoft.com/office/drawing/2014/main" val="1786770514"/>
                    </a:ext>
                  </a:extLst>
                </a:gridCol>
                <a:gridCol w="818444">
                  <a:extLst>
                    <a:ext uri="{9D8B030D-6E8A-4147-A177-3AD203B41FA5}">
                      <a16:colId xmlns:a16="http://schemas.microsoft.com/office/drawing/2014/main" val="1490652728"/>
                    </a:ext>
                  </a:extLst>
                </a:gridCol>
                <a:gridCol w="818444">
                  <a:extLst>
                    <a:ext uri="{9D8B030D-6E8A-4147-A177-3AD203B41FA5}">
                      <a16:colId xmlns:a16="http://schemas.microsoft.com/office/drawing/2014/main" val="2149135877"/>
                    </a:ext>
                  </a:extLst>
                </a:gridCol>
                <a:gridCol w="818444">
                  <a:extLst>
                    <a:ext uri="{9D8B030D-6E8A-4147-A177-3AD203B41FA5}">
                      <a16:colId xmlns:a16="http://schemas.microsoft.com/office/drawing/2014/main" val="766876562"/>
                    </a:ext>
                  </a:extLst>
                </a:gridCol>
                <a:gridCol w="818444">
                  <a:extLst>
                    <a:ext uri="{9D8B030D-6E8A-4147-A177-3AD203B41FA5}">
                      <a16:colId xmlns:a16="http://schemas.microsoft.com/office/drawing/2014/main" val="2615319810"/>
                    </a:ext>
                  </a:extLst>
                </a:gridCol>
                <a:gridCol w="818444">
                  <a:extLst>
                    <a:ext uri="{9D8B030D-6E8A-4147-A177-3AD203B41FA5}">
                      <a16:colId xmlns:a16="http://schemas.microsoft.com/office/drawing/2014/main" val="1966907769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dirty="0">
                          <a:solidFill>
                            <a:schemeClr val="tx2"/>
                          </a:solidFill>
                        </a:rPr>
                        <a:t>c</a:t>
                      </a:r>
                      <a:endParaRPr lang="zh-CN" altLang="en-US" sz="3600" b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chemeClr val="tx2"/>
                          </a:solidFill>
                        </a:rPr>
                        <a:t>2</a:t>
                      </a:r>
                      <a:endParaRPr lang="zh-CN" altLang="en-US" sz="3600" b="1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chemeClr val="tx2"/>
                          </a:solidFill>
                        </a:rPr>
                        <a:t>2</a:t>
                      </a:r>
                      <a:endParaRPr lang="zh-CN" altLang="en-US" sz="3600" b="1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chemeClr val="tx2"/>
                          </a:solidFill>
                        </a:rPr>
                        <a:t>4</a:t>
                      </a:r>
                      <a:endParaRPr lang="zh-CN" altLang="en-US" sz="3600" b="1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chemeClr val="tx2"/>
                          </a:solidFill>
                        </a:rPr>
                        <a:t>7</a:t>
                      </a:r>
                      <a:endParaRPr lang="zh-CN" altLang="en-US" sz="3600" b="1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chemeClr val="tx2"/>
                          </a:solidFill>
                        </a:rPr>
                        <a:t>7</a:t>
                      </a:r>
                      <a:endParaRPr lang="zh-CN" altLang="en-US" sz="3600" b="1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chemeClr val="tx2"/>
                          </a:solidFill>
                        </a:rPr>
                        <a:t>8</a:t>
                      </a:r>
                      <a:endParaRPr lang="zh-CN" altLang="en-US" sz="3600" b="1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8059193"/>
                  </a:ext>
                </a:extLst>
              </a:tr>
            </a:tbl>
          </a:graphicData>
        </a:graphic>
      </p:graphicFrame>
      <p:graphicFrame>
        <p:nvGraphicFramePr>
          <p:cNvPr id="8" name="表格 4">
            <a:extLst>
              <a:ext uri="{FF2B5EF4-FFF2-40B4-BE49-F238E27FC236}">
                <a16:creationId xmlns:a16="http://schemas.microsoft.com/office/drawing/2014/main" id="{4A743FFB-38AE-4C16-B7E2-895A8F48D8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1298923"/>
              </p:ext>
            </p:extLst>
          </p:nvPr>
        </p:nvGraphicFramePr>
        <p:xfrm>
          <a:off x="2497015" y="5029200"/>
          <a:ext cx="7365996" cy="129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8444">
                  <a:extLst>
                    <a:ext uri="{9D8B030D-6E8A-4147-A177-3AD203B41FA5}">
                      <a16:colId xmlns:a16="http://schemas.microsoft.com/office/drawing/2014/main" val="1121109603"/>
                    </a:ext>
                  </a:extLst>
                </a:gridCol>
                <a:gridCol w="818444">
                  <a:extLst>
                    <a:ext uri="{9D8B030D-6E8A-4147-A177-3AD203B41FA5}">
                      <a16:colId xmlns:a16="http://schemas.microsoft.com/office/drawing/2014/main" val="1786770514"/>
                    </a:ext>
                  </a:extLst>
                </a:gridCol>
                <a:gridCol w="818444">
                  <a:extLst>
                    <a:ext uri="{9D8B030D-6E8A-4147-A177-3AD203B41FA5}">
                      <a16:colId xmlns:a16="http://schemas.microsoft.com/office/drawing/2014/main" val="1490652728"/>
                    </a:ext>
                  </a:extLst>
                </a:gridCol>
                <a:gridCol w="818444">
                  <a:extLst>
                    <a:ext uri="{9D8B030D-6E8A-4147-A177-3AD203B41FA5}">
                      <a16:colId xmlns:a16="http://schemas.microsoft.com/office/drawing/2014/main" val="2149135877"/>
                    </a:ext>
                  </a:extLst>
                </a:gridCol>
                <a:gridCol w="818444">
                  <a:extLst>
                    <a:ext uri="{9D8B030D-6E8A-4147-A177-3AD203B41FA5}">
                      <a16:colId xmlns:a16="http://schemas.microsoft.com/office/drawing/2014/main" val="766876562"/>
                    </a:ext>
                  </a:extLst>
                </a:gridCol>
                <a:gridCol w="818444">
                  <a:extLst>
                    <a:ext uri="{9D8B030D-6E8A-4147-A177-3AD203B41FA5}">
                      <a16:colId xmlns:a16="http://schemas.microsoft.com/office/drawing/2014/main" val="2615319810"/>
                    </a:ext>
                  </a:extLst>
                </a:gridCol>
                <a:gridCol w="818444">
                  <a:extLst>
                    <a:ext uri="{9D8B030D-6E8A-4147-A177-3AD203B41FA5}">
                      <a16:colId xmlns:a16="http://schemas.microsoft.com/office/drawing/2014/main" val="1966907769"/>
                    </a:ext>
                  </a:extLst>
                </a:gridCol>
                <a:gridCol w="818444">
                  <a:extLst>
                    <a:ext uri="{9D8B030D-6E8A-4147-A177-3AD203B41FA5}">
                      <a16:colId xmlns:a16="http://schemas.microsoft.com/office/drawing/2014/main" val="220275407"/>
                    </a:ext>
                  </a:extLst>
                </a:gridCol>
                <a:gridCol w="818444">
                  <a:extLst>
                    <a:ext uri="{9D8B030D-6E8A-4147-A177-3AD203B41FA5}">
                      <a16:colId xmlns:a16="http://schemas.microsoft.com/office/drawing/2014/main" val="2606641770"/>
                    </a:ext>
                  </a:extLst>
                </a:gridCol>
              </a:tblGrid>
              <a:tr h="647700">
                <a:tc>
                  <a:txBody>
                    <a:bodyPr/>
                    <a:lstStyle/>
                    <a:p>
                      <a:pPr algn="ctr"/>
                      <a:endParaRPr lang="zh-CN" altLang="en-US" sz="3600" b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dirty="0">
                          <a:solidFill>
                            <a:schemeClr val="tx2"/>
                          </a:solidFill>
                        </a:rPr>
                        <a:t>1</a:t>
                      </a:r>
                      <a:endParaRPr lang="zh-CN" altLang="en-US" sz="3600" b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dirty="0">
                          <a:solidFill>
                            <a:schemeClr val="tx2"/>
                          </a:solidFill>
                        </a:rPr>
                        <a:t>2</a:t>
                      </a:r>
                      <a:endParaRPr lang="zh-CN" altLang="en-US" sz="3600" b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dirty="0">
                          <a:solidFill>
                            <a:schemeClr val="tx2"/>
                          </a:solidFill>
                        </a:rPr>
                        <a:t>3</a:t>
                      </a:r>
                      <a:endParaRPr lang="zh-CN" altLang="en-US" sz="3600" b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dirty="0">
                          <a:solidFill>
                            <a:schemeClr val="tx2"/>
                          </a:solidFill>
                        </a:rPr>
                        <a:t>4</a:t>
                      </a:r>
                      <a:endParaRPr lang="zh-CN" altLang="en-US" sz="3600" b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dirty="0">
                          <a:solidFill>
                            <a:schemeClr val="tx2"/>
                          </a:solidFill>
                        </a:rPr>
                        <a:t>5</a:t>
                      </a:r>
                      <a:endParaRPr lang="zh-CN" altLang="en-US" sz="3600" b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dirty="0">
                          <a:solidFill>
                            <a:schemeClr val="tx2"/>
                          </a:solidFill>
                        </a:rPr>
                        <a:t>6</a:t>
                      </a:r>
                      <a:endParaRPr lang="zh-CN" altLang="en-US" sz="3600" b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dirty="0">
                          <a:solidFill>
                            <a:schemeClr val="tx2"/>
                          </a:solidFill>
                        </a:rPr>
                        <a:t>7</a:t>
                      </a:r>
                      <a:endParaRPr lang="zh-CN" altLang="en-US" sz="3600" b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dirty="0">
                          <a:solidFill>
                            <a:schemeClr val="tx2"/>
                          </a:solidFill>
                        </a:rPr>
                        <a:t>8</a:t>
                      </a:r>
                      <a:endParaRPr lang="zh-CN" altLang="en-US" sz="3600" b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1175006"/>
                  </a:ext>
                </a:extLst>
              </a:tr>
              <a:tr h="64770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0" dirty="0">
                          <a:solidFill>
                            <a:schemeClr val="tx2"/>
                          </a:solidFill>
                        </a:rPr>
                        <a:t>b</a:t>
                      </a:r>
                      <a:endParaRPr lang="zh-CN" altLang="en-US" sz="3600" b="0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chemeClr val="tx2"/>
                          </a:solidFill>
                        </a:rPr>
                        <a:t>0</a:t>
                      </a:r>
                      <a:endParaRPr lang="zh-CN" altLang="en-US" sz="3600" b="1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chemeClr val="tx2"/>
                          </a:solidFill>
                        </a:rPr>
                        <a:t>0</a:t>
                      </a:r>
                      <a:endParaRPr lang="zh-CN" altLang="en-US" sz="3600" b="1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chemeClr val="tx2"/>
                          </a:solidFill>
                        </a:rPr>
                        <a:t>2</a:t>
                      </a:r>
                      <a:endParaRPr lang="zh-CN" altLang="en-US" sz="3600" b="1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chemeClr val="tx2"/>
                          </a:solidFill>
                        </a:rPr>
                        <a:t>2</a:t>
                      </a:r>
                      <a:endParaRPr lang="zh-CN" altLang="en-US" sz="3600" b="1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chemeClr val="tx2"/>
                          </a:solidFill>
                        </a:rPr>
                        <a:t>3</a:t>
                      </a:r>
                      <a:endParaRPr lang="zh-CN" altLang="en-US" sz="3600" b="1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chemeClr val="tx2"/>
                          </a:solidFill>
                        </a:rPr>
                        <a:t>3</a:t>
                      </a:r>
                      <a:endParaRPr lang="zh-CN" altLang="en-US" sz="3600" b="1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chemeClr val="tx2"/>
                          </a:solidFill>
                        </a:rPr>
                        <a:t>3</a:t>
                      </a:r>
                      <a:endParaRPr lang="zh-CN" altLang="en-US" sz="3600" b="1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600" b="1" dirty="0">
                          <a:solidFill>
                            <a:schemeClr val="tx2"/>
                          </a:solidFill>
                        </a:rPr>
                        <a:t>5</a:t>
                      </a:r>
                      <a:endParaRPr lang="zh-CN" altLang="en-US" sz="3600" b="1" dirty="0">
                        <a:solidFill>
                          <a:schemeClr val="tx2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8059193"/>
                  </a:ext>
                </a:extLst>
              </a:tr>
            </a:tbl>
          </a:graphicData>
        </a:graphic>
      </p:graphicFrame>
      <p:cxnSp>
        <p:nvCxnSpPr>
          <p:cNvPr id="11" name="连接符: 肘形 10">
            <a:extLst>
              <a:ext uri="{FF2B5EF4-FFF2-40B4-BE49-F238E27FC236}">
                <a16:creationId xmlns:a16="http://schemas.microsoft.com/office/drawing/2014/main" id="{C3F2BF83-A540-5031-F790-C3AA39875D45}"/>
              </a:ext>
            </a:extLst>
          </p:cNvPr>
          <p:cNvCxnSpPr/>
          <p:nvPr/>
        </p:nvCxnSpPr>
        <p:spPr bwMode="auto">
          <a:xfrm rot="5400000">
            <a:off x="7848600" y="3352800"/>
            <a:ext cx="2438400" cy="914400"/>
          </a:xfrm>
          <a:prstGeom prst="bentConnector3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75981469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A1164A-37DE-4DB3-94C5-573329E3E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计数排序的伪代码描述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4">
                <a:extLst>
                  <a:ext uri="{FF2B5EF4-FFF2-40B4-BE49-F238E27FC236}">
                    <a16:creationId xmlns:a16="http://schemas.microsoft.com/office/drawing/2014/main" id="{8CD54240-9EDE-4903-916E-E6C3034C586B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90573596"/>
                  </p:ext>
                </p:extLst>
              </p:nvPr>
            </p:nvGraphicFramePr>
            <p:xfrm>
              <a:off x="304800" y="1295400"/>
              <a:ext cx="11582400" cy="5212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582400">
                      <a:extLst>
                        <a:ext uri="{9D8B030D-6E8A-4147-A177-3AD203B41FA5}">
                          <a16:colId xmlns:a16="http://schemas.microsoft.com/office/drawing/2014/main" val="105188276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altLang="zh-CN" sz="3200" b="0" dirty="0" err="1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CountingSort</a:t>
                          </a:r>
                          <a:r>
                            <a:rPr lang="zh-CN" altLang="en-US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：</a:t>
                          </a:r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Input a[], Output b[], length=n</a:t>
                          </a:r>
                          <a:endParaRPr lang="zh-CN" altLang="en-US" sz="3200" b="0" dirty="0">
                            <a:solidFill>
                              <a:schemeClr val="tx2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5366563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514350" indent="-514350">
                            <a:buAutoNum type="arabicPlain"/>
                          </a:pPr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3200" b="1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For</a:t>
                          </a:r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3200" b="0" dirty="0" err="1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i</a:t>
                          </a:r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=0…k, </a:t>
                          </a:r>
                          <a:r>
                            <a:rPr lang="en-US" altLang="zh-CN" sz="3200" b="1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do</a:t>
                          </a:r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c[</a:t>
                          </a:r>
                          <a:r>
                            <a:rPr lang="en-US" altLang="zh-CN" sz="3200" b="0" dirty="0" err="1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i</a:t>
                          </a:r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]=0;  //</a:t>
                          </a:r>
                          <a:r>
                            <a:rPr lang="zh-CN" altLang="en-US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关键字范围：</a:t>
                          </a:r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0…k </a:t>
                          </a:r>
                          <a:endParaRPr lang="zh-CN" altLang="en-US" sz="3200" b="0" dirty="0">
                            <a:solidFill>
                              <a:schemeClr val="tx2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48470573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2   </a:t>
                          </a:r>
                          <a:r>
                            <a:rPr lang="en-US" altLang="zh-CN" sz="3200" b="1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For</a:t>
                          </a:r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j=1…n, </a:t>
                          </a:r>
                          <a:r>
                            <a:rPr lang="en-US" altLang="zh-CN" sz="3200" b="1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do</a:t>
                          </a:r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c[a[j]]=c[a[j]]++; // c[</a:t>
                          </a:r>
                          <a:r>
                            <a:rPr lang="en-US" altLang="zh-CN" sz="3200" b="0" dirty="0" err="1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i</a:t>
                          </a:r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]</a:t>
                          </a:r>
                          <a:r>
                            <a:rPr lang="zh-CN" altLang="en-US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是</a:t>
                          </a:r>
                          <a:r>
                            <a:rPr lang="en-US" altLang="zh-CN" sz="3200" b="0" dirty="0" err="1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i</a:t>
                          </a:r>
                          <a:r>
                            <a:rPr lang="zh-CN" altLang="en-US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出现的次数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525915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3   </a:t>
                          </a:r>
                          <a:r>
                            <a:rPr lang="en-US" altLang="zh-CN" sz="3200" b="1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For</a:t>
                          </a:r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3200" b="0" dirty="0" err="1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i</a:t>
                          </a:r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=1…k, </a:t>
                          </a:r>
                          <a:r>
                            <a:rPr lang="en-US" altLang="zh-CN" sz="3200" b="1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do</a:t>
                          </a:r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c[</a:t>
                          </a:r>
                          <a:r>
                            <a:rPr lang="en-US" altLang="zh-CN" sz="3200" b="0" dirty="0" err="1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i</a:t>
                          </a:r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]=c[</a:t>
                          </a:r>
                          <a:r>
                            <a:rPr lang="en-US" altLang="zh-CN" sz="3200" b="0" dirty="0" err="1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i</a:t>
                          </a:r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]+c[i-1];</a:t>
                          </a:r>
                          <a:endParaRPr lang="zh-CN" altLang="en-US" sz="3200" b="0" dirty="0">
                            <a:solidFill>
                              <a:schemeClr val="tx2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4022675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4   /* </a:t>
                          </a:r>
                          <a:r>
                            <a:rPr lang="zh-CN" altLang="en-US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现在 </a:t>
                          </a:r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c[</a:t>
                          </a:r>
                          <a:r>
                            <a:rPr lang="en-US" altLang="zh-CN" sz="3200" b="0" dirty="0" err="1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i</a:t>
                          </a:r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] </a:t>
                          </a:r>
                          <a:r>
                            <a:rPr lang="zh-CN" altLang="en-US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记录的是小于等于 </a:t>
                          </a:r>
                          <a:r>
                            <a:rPr lang="en-US" altLang="zh-CN" sz="3200" b="0" dirty="0" err="1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i</a:t>
                          </a:r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zh-CN" altLang="en-US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的关键字出现的次数。*</a:t>
                          </a:r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</a:t>
                          </a:r>
                          <a:endParaRPr lang="zh-CN" altLang="en-US" sz="3200" b="0" dirty="0">
                            <a:solidFill>
                              <a:schemeClr val="tx2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748784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5   </a:t>
                          </a:r>
                          <a:r>
                            <a:rPr lang="en-US" altLang="zh-CN" sz="3200" b="1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For</a:t>
                          </a:r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j=n down to 1, </a:t>
                          </a:r>
                          <a:r>
                            <a:rPr lang="en-US" altLang="zh-CN" sz="3200" b="1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do</a:t>
                          </a:r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/* </a:t>
                          </a:r>
                          <a:r>
                            <a:rPr lang="zh-CN" altLang="en-US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从前向后排不稳定。*</a:t>
                          </a:r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</a:t>
                          </a:r>
                          <a:endParaRPr lang="zh-CN" altLang="en-US" sz="3200" b="0" dirty="0">
                            <a:solidFill>
                              <a:schemeClr val="tx2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239104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6       b[c[a[j]]]=a[j];  /* </a:t>
                          </a:r>
                          <a:r>
                            <a:rPr lang="zh-CN" altLang="en-US" sz="3200" b="0" dirty="0">
                              <a:solidFill>
                                <a:srgbClr val="FF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如果下标从</a:t>
                          </a:r>
                          <a:r>
                            <a:rPr lang="en-US" altLang="zh-CN" sz="3200" b="0" dirty="0">
                              <a:solidFill>
                                <a:srgbClr val="FF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r>
                            <a:rPr lang="zh-CN" altLang="en-US" sz="3200" b="0" dirty="0">
                              <a:solidFill>
                                <a:srgbClr val="FF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开始，则先把</a:t>
                          </a:r>
                          <a:r>
                            <a:rPr lang="en-US" altLang="zh-CN" sz="3200" b="0" dirty="0">
                              <a:solidFill>
                                <a:srgbClr val="FF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c[</a:t>
                          </a:r>
                          <a:r>
                            <a:rPr lang="en-US" altLang="zh-CN" sz="3200" b="0" dirty="0" err="1">
                              <a:solidFill>
                                <a:srgbClr val="FF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i</a:t>
                          </a:r>
                          <a:r>
                            <a:rPr lang="en-US" altLang="zh-CN" sz="3200" b="0" dirty="0">
                              <a:solidFill>
                                <a:srgbClr val="FF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]</a:t>
                          </a:r>
                          <a:r>
                            <a:rPr lang="zh-CN" altLang="en-US" sz="3200" b="0" dirty="0">
                              <a:solidFill>
                                <a:srgbClr val="FF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减</a:t>
                          </a:r>
                          <a:r>
                            <a:rPr lang="en-US" altLang="zh-CN" sz="3200" b="0" dirty="0">
                              <a:solidFill>
                                <a:srgbClr val="FF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r>
                            <a:rPr lang="zh-CN" altLang="en-US" sz="3200" b="0" dirty="0">
                              <a:solidFill>
                                <a:srgbClr val="FF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。</a:t>
                          </a:r>
                          <a:r>
                            <a:rPr lang="zh-CN" altLang="en-US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*</a:t>
                          </a:r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</a:t>
                          </a:r>
                          <a:endParaRPr lang="zh-CN" altLang="en-US" sz="3200" b="0" dirty="0">
                            <a:solidFill>
                              <a:schemeClr val="tx2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11160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7       c[a[j]]--</a:t>
                          </a:r>
                          <a:r>
                            <a:rPr lang="zh-CN" altLang="en-US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；         </a:t>
                          </a: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9410933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zh-CN" altLang="en-US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时间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32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𝑂</m:t>
                              </m:r>
                              <m:r>
                                <a:rPr lang="en-US" altLang="zh-CN" sz="32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(</m:t>
                              </m:r>
                              <m:r>
                                <a:rPr lang="en-US" altLang="zh-CN" sz="32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  <m:r>
                                <a:rPr lang="en-US" altLang="zh-CN" sz="32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r>
                                <a:rPr lang="en-US" altLang="zh-CN" sz="32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𝑘</m:t>
                              </m:r>
                              <m:r>
                                <a:rPr lang="en-US" altLang="zh-CN" sz="32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)</m:t>
                              </m:r>
                            </m:oMath>
                          </a14:m>
                          <a:r>
                            <a:rPr lang="zh-CN" altLang="en-US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，空间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32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𝑂</m:t>
                              </m:r>
                              <m:r>
                                <a:rPr lang="en-US" altLang="zh-CN" sz="32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(</m:t>
                              </m:r>
                              <m:r>
                                <a:rPr lang="en-US" altLang="zh-CN" sz="32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𝑛</m:t>
                              </m:r>
                              <m:r>
                                <a:rPr lang="en-US" altLang="zh-CN" sz="32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+</m:t>
                              </m:r>
                              <m:r>
                                <a:rPr lang="en-US" altLang="zh-CN" sz="32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𝑘</m:t>
                              </m:r>
                              <m:r>
                                <a:rPr lang="en-US" altLang="zh-CN" sz="3200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  <a:ea typeface="微软雅黑" panose="020B0503020204020204" pitchFamily="34" charset="-122"/>
                                </a:rPr>
                                <m:t>)</m:t>
                              </m:r>
                            </m:oMath>
                          </a14:m>
                          <a:r>
                            <a:rPr lang="zh-CN" altLang="en-US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。缺点：关键字范围不能太大。</a:t>
                          </a: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66089299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4">
                <a:extLst>
                  <a:ext uri="{FF2B5EF4-FFF2-40B4-BE49-F238E27FC236}">
                    <a16:creationId xmlns:a16="http://schemas.microsoft.com/office/drawing/2014/main" id="{8CD54240-9EDE-4903-916E-E6C3034C586B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90573596"/>
                  </p:ext>
                </p:extLst>
              </p:nvPr>
            </p:nvGraphicFramePr>
            <p:xfrm>
              <a:off x="304800" y="1295400"/>
              <a:ext cx="11582400" cy="5212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1582400">
                      <a:extLst>
                        <a:ext uri="{9D8B030D-6E8A-4147-A177-3AD203B41FA5}">
                          <a16:colId xmlns:a16="http://schemas.microsoft.com/office/drawing/2014/main" val="1051882767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r>
                            <a:rPr lang="en-US" altLang="zh-CN" sz="3200" b="0" dirty="0" err="1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CountingSort</a:t>
                          </a:r>
                          <a:r>
                            <a:rPr lang="zh-CN" altLang="en-US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：</a:t>
                          </a:r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Input a[], Output b[], length=n</a:t>
                          </a:r>
                          <a:endParaRPr lang="zh-CN" altLang="en-US" sz="3200" b="0" dirty="0">
                            <a:solidFill>
                              <a:schemeClr val="tx2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5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53665632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marL="514350" indent="-514350">
                            <a:buAutoNum type="arabicPlain"/>
                          </a:pPr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3200" b="1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For</a:t>
                          </a:r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3200" b="0" dirty="0" err="1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i</a:t>
                          </a:r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=0…k, </a:t>
                          </a:r>
                          <a:r>
                            <a:rPr lang="en-US" altLang="zh-CN" sz="3200" b="1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do</a:t>
                          </a:r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c[</a:t>
                          </a:r>
                          <a:r>
                            <a:rPr lang="en-US" altLang="zh-CN" sz="3200" b="0" dirty="0" err="1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i</a:t>
                          </a:r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]=0;  //</a:t>
                          </a:r>
                          <a:r>
                            <a:rPr lang="zh-CN" altLang="en-US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关键字范围：</a:t>
                          </a:r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0…k </a:t>
                          </a:r>
                          <a:endParaRPr lang="zh-CN" altLang="en-US" sz="3200" b="0" dirty="0">
                            <a:solidFill>
                              <a:schemeClr val="tx2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</a:tcPr>
                    </a:tc>
                    <a:extLst>
                      <a:ext uri="{0D108BD9-81ED-4DB2-BD59-A6C34878D82A}">
                        <a16:rowId xmlns:a16="http://schemas.microsoft.com/office/drawing/2014/main" val="1484705736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2   </a:t>
                          </a:r>
                          <a:r>
                            <a:rPr lang="en-US" altLang="zh-CN" sz="3200" b="1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For</a:t>
                          </a:r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j=1…n, </a:t>
                          </a:r>
                          <a:r>
                            <a:rPr lang="en-US" altLang="zh-CN" sz="3200" b="1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do</a:t>
                          </a:r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c[a[j]]=c[a[j]]++; // c[</a:t>
                          </a:r>
                          <a:r>
                            <a:rPr lang="en-US" altLang="zh-CN" sz="3200" b="0" dirty="0" err="1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i</a:t>
                          </a:r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]</a:t>
                          </a:r>
                          <a:r>
                            <a:rPr lang="zh-CN" altLang="en-US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是</a:t>
                          </a:r>
                          <a:r>
                            <a:rPr lang="en-US" altLang="zh-CN" sz="3200" b="0" dirty="0" err="1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i</a:t>
                          </a:r>
                          <a:r>
                            <a:rPr lang="zh-CN" altLang="en-US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出现的次数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5259159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3   </a:t>
                          </a:r>
                          <a:r>
                            <a:rPr lang="en-US" altLang="zh-CN" sz="3200" b="1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For</a:t>
                          </a:r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en-US" altLang="zh-CN" sz="3200" b="0" dirty="0" err="1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i</a:t>
                          </a:r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=1…k, </a:t>
                          </a:r>
                          <a:r>
                            <a:rPr lang="en-US" altLang="zh-CN" sz="3200" b="1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do</a:t>
                          </a:r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c[</a:t>
                          </a:r>
                          <a:r>
                            <a:rPr lang="en-US" altLang="zh-CN" sz="3200" b="0" dirty="0" err="1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i</a:t>
                          </a:r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]=c[</a:t>
                          </a:r>
                          <a:r>
                            <a:rPr lang="en-US" altLang="zh-CN" sz="3200" b="0" dirty="0" err="1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i</a:t>
                          </a:r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]+c[i-1];</a:t>
                          </a:r>
                          <a:endParaRPr lang="zh-CN" altLang="en-US" sz="3200" b="0" dirty="0">
                            <a:solidFill>
                              <a:schemeClr val="tx2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40226757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4   /* </a:t>
                          </a:r>
                          <a:r>
                            <a:rPr lang="zh-CN" altLang="en-US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现在 </a:t>
                          </a:r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c[</a:t>
                          </a:r>
                          <a:r>
                            <a:rPr lang="en-US" altLang="zh-CN" sz="3200" b="0" dirty="0" err="1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i</a:t>
                          </a:r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] </a:t>
                          </a:r>
                          <a:r>
                            <a:rPr lang="zh-CN" altLang="en-US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记录的是小于等于 </a:t>
                          </a:r>
                          <a:r>
                            <a:rPr lang="en-US" altLang="zh-CN" sz="3200" b="0" dirty="0" err="1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i</a:t>
                          </a:r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</a:t>
                          </a:r>
                          <a:r>
                            <a:rPr lang="zh-CN" altLang="en-US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的关键字出现的次数。*</a:t>
                          </a:r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</a:t>
                          </a:r>
                          <a:endParaRPr lang="zh-CN" altLang="en-US" sz="3200" b="0" dirty="0">
                            <a:solidFill>
                              <a:schemeClr val="tx2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74878444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5   </a:t>
                          </a:r>
                          <a:r>
                            <a:rPr lang="en-US" altLang="zh-CN" sz="3200" b="1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For</a:t>
                          </a:r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j=n down to 1, </a:t>
                          </a:r>
                          <a:r>
                            <a:rPr lang="en-US" altLang="zh-CN" sz="3200" b="1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do</a:t>
                          </a:r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/* </a:t>
                          </a:r>
                          <a:r>
                            <a:rPr lang="zh-CN" altLang="en-US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从前向后排不稳定。*</a:t>
                          </a:r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</a:t>
                          </a:r>
                          <a:endParaRPr lang="zh-CN" altLang="en-US" sz="3200" b="0" dirty="0">
                            <a:solidFill>
                              <a:schemeClr val="tx2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23910472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6       b[c[a[j]]]=a[j];  /* </a:t>
                          </a:r>
                          <a:r>
                            <a:rPr lang="zh-CN" altLang="en-US" sz="3200" b="0" dirty="0">
                              <a:solidFill>
                                <a:srgbClr val="FF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如果下标从</a:t>
                          </a:r>
                          <a:r>
                            <a:rPr lang="en-US" altLang="zh-CN" sz="3200" b="0" dirty="0">
                              <a:solidFill>
                                <a:srgbClr val="FF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0</a:t>
                          </a:r>
                          <a:r>
                            <a:rPr lang="zh-CN" altLang="en-US" sz="3200" b="0" dirty="0">
                              <a:solidFill>
                                <a:srgbClr val="FF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开始，则先把</a:t>
                          </a:r>
                          <a:r>
                            <a:rPr lang="en-US" altLang="zh-CN" sz="3200" b="0" dirty="0">
                              <a:solidFill>
                                <a:srgbClr val="FF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c[</a:t>
                          </a:r>
                          <a:r>
                            <a:rPr lang="en-US" altLang="zh-CN" sz="3200" b="0" dirty="0" err="1">
                              <a:solidFill>
                                <a:srgbClr val="FF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i</a:t>
                          </a:r>
                          <a:r>
                            <a:rPr lang="en-US" altLang="zh-CN" sz="3200" b="0" dirty="0">
                              <a:solidFill>
                                <a:srgbClr val="FF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]</a:t>
                          </a:r>
                          <a:r>
                            <a:rPr lang="zh-CN" altLang="en-US" sz="3200" b="0" dirty="0">
                              <a:solidFill>
                                <a:srgbClr val="FF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减</a:t>
                          </a:r>
                          <a:r>
                            <a:rPr lang="en-US" altLang="zh-CN" sz="3200" b="0" dirty="0">
                              <a:solidFill>
                                <a:srgbClr val="FF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1</a:t>
                          </a:r>
                          <a:r>
                            <a:rPr lang="zh-CN" altLang="en-US" sz="3200" b="0" dirty="0">
                              <a:solidFill>
                                <a:srgbClr val="FF0000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。</a:t>
                          </a:r>
                          <a:r>
                            <a:rPr lang="zh-CN" altLang="en-US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*</a:t>
                          </a:r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/</a:t>
                          </a:r>
                          <a:endParaRPr lang="zh-CN" altLang="en-US" sz="3200" b="0" dirty="0">
                            <a:solidFill>
                              <a:schemeClr val="tx2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01116013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marL="0" indent="0">
                            <a:buNone/>
                          </a:pPr>
                          <a:r>
                            <a:rPr lang="en-US" altLang="zh-CN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7       c[a[j]]--</a:t>
                          </a:r>
                          <a:r>
                            <a:rPr lang="zh-CN" altLang="en-US" sz="3200" b="0" dirty="0">
                              <a:solidFill>
                                <a:schemeClr val="tx2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；         </a:t>
                          </a:r>
                        </a:p>
                      </a:txBody>
                      <a:tcPr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94109330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5" t="-813684" r="-158" b="-3368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6089299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6114619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C33A8F-0014-44E1-9B9E-7D3226ADD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基数排序</a:t>
            </a:r>
          </a:p>
        </p:txBody>
      </p: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EE2819CD-DBD9-4F5F-A525-3C3BB5541BA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5911846"/>
              </p:ext>
            </p:extLst>
          </p:nvPr>
        </p:nvGraphicFramePr>
        <p:xfrm>
          <a:off x="304800" y="1371600"/>
          <a:ext cx="11582396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695578834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821334027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852137993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1543564136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108047516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4160308452"/>
                    </a:ext>
                  </a:extLst>
                </a:gridCol>
                <a:gridCol w="1981196">
                  <a:extLst>
                    <a:ext uri="{9D8B030D-6E8A-4147-A177-3AD203B41FA5}">
                      <a16:colId xmlns:a16="http://schemas.microsoft.com/office/drawing/2014/main" val="41358353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b="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待排数组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b="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b="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个位排序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b="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b="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十位排序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b="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b="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百位排序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67032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329</a:t>
                      </a:r>
                      <a:endParaRPr lang="zh-CN" altLang="en-US" sz="32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72</a:t>
                      </a:r>
                      <a:r>
                        <a:rPr lang="en-US" altLang="zh-CN" sz="32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32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r>
                        <a:rPr lang="en-US" altLang="zh-CN" sz="32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en-US" altLang="zh-CN" sz="32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zh-CN" altLang="en-US" sz="32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en-US" altLang="zh-CN" sz="32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</a:t>
                      </a:r>
                      <a:endParaRPr lang="zh-CN" altLang="en-US" sz="32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7378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457</a:t>
                      </a:r>
                      <a:endParaRPr lang="zh-CN" altLang="en-US" sz="32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32</a:t>
                      </a:r>
                      <a:r>
                        <a:rPr lang="en-US" altLang="zh-CN" sz="32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zh-CN" altLang="en-US" sz="32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2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en-US" altLang="zh-CN" sz="32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en-US" altLang="zh-CN" sz="32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endParaRPr lang="zh-CN" altLang="en-US" sz="32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en-US" altLang="zh-CN" sz="32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29</a:t>
                      </a:r>
                      <a:endParaRPr lang="zh-CN" altLang="en-US" sz="32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2959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657</a:t>
                      </a:r>
                      <a:endParaRPr lang="zh-CN" altLang="en-US" sz="32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43</a:t>
                      </a:r>
                      <a:r>
                        <a:rPr lang="en-US" altLang="zh-CN" sz="32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zh-CN" altLang="en-US" sz="32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2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en-US" altLang="zh-CN" sz="32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en-US" altLang="zh-CN" sz="32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endParaRPr lang="zh-CN" altLang="en-US" sz="32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en-US" altLang="zh-CN" sz="32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36</a:t>
                      </a:r>
                      <a:endParaRPr lang="zh-CN" altLang="en-US" sz="32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2224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839</a:t>
                      </a:r>
                      <a:endParaRPr lang="zh-CN" altLang="en-US" sz="32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45</a:t>
                      </a:r>
                      <a:r>
                        <a:rPr lang="en-US" altLang="zh-CN" sz="32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zh-CN" altLang="en-US" sz="32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2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en-US" altLang="zh-CN" sz="32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en-US" altLang="zh-CN" sz="32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endParaRPr lang="zh-CN" altLang="en-US" sz="32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en-US" altLang="zh-CN" sz="32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57</a:t>
                      </a:r>
                      <a:endParaRPr lang="zh-CN" altLang="en-US" sz="32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91711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436</a:t>
                      </a:r>
                      <a:endParaRPr lang="zh-CN" altLang="en-US" sz="32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65</a:t>
                      </a:r>
                      <a:r>
                        <a:rPr lang="en-US" altLang="zh-CN" sz="32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zh-CN" altLang="en-US" sz="32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2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r>
                        <a:rPr lang="en-US" altLang="zh-CN" sz="32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en-US" altLang="zh-CN" sz="32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endParaRPr lang="zh-CN" altLang="en-US" sz="32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r>
                        <a:rPr lang="en-US" altLang="zh-CN" sz="32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57</a:t>
                      </a:r>
                      <a:endParaRPr lang="zh-CN" altLang="en-US" sz="32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198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720</a:t>
                      </a:r>
                      <a:endParaRPr lang="zh-CN" altLang="en-US" sz="32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32</a:t>
                      </a:r>
                      <a:r>
                        <a:rPr lang="en-US" altLang="zh-CN" sz="32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endParaRPr lang="zh-CN" altLang="en-US" sz="32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  <a:r>
                        <a:rPr lang="en-US" altLang="zh-CN" sz="32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en-US" altLang="zh-CN" sz="32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zh-CN" altLang="en-US" sz="32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r>
                        <a:rPr lang="en-US" altLang="zh-CN" sz="32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</a:t>
                      </a:r>
                      <a:endParaRPr lang="zh-CN" altLang="en-US" sz="32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1693871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325</a:t>
                      </a:r>
                      <a:endParaRPr lang="zh-CN" altLang="en-US" sz="32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83</a:t>
                      </a:r>
                      <a:r>
                        <a:rPr lang="en-US" altLang="zh-CN" sz="32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endParaRPr lang="zh-CN" altLang="en-US" sz="32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r>
                        <a:rPr lang="en-US" altLang="zh-CN" sz="32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en-US" altLang="zh-CN" sz="32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zh-CN" altLang="en-US" sz="32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r>
                        <a:rPr lang="en-US" altLang="zh-CN" sz="3200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39</a:t>
                      </a:r>
                      <a:endParaRPr lang="zh-CN" altLang="en-US" sz="32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7097869"/>
                  </a:ext>
                </a:extLst>
              </a:tr>
              <a:tr h="370840">
                <a:tc gridSpan="7">
                  <a:txBody>
                    <a:bodyPr/>
                    <a:lstStyle/>
                    <a:p>
                      <a:pPr algn="l"/>
                      <a:r>
                        <a:rPr lang="zh-CN" altLang="en-US" sz="3200" b="1" dirty="0">
                          <a:solidFill>
                            <a:schemeClr val="tx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先按低位排序，再按高位排序，子排序算法必须是稳定的。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382346"/>
                  </a:ext>
                </a:extLst>
              </a:tr>
            </a:tbl>
          </a:graphicData>
        </a:graphic>
      </p:graphicFrame>
      <p:sp>
        <p:nvSpPr>
          <p:cNvPr id="6" name="箭头: 右 5">
            <a:extLst>
              <a:ext uri="{FF2B5EF4-FFF2-40B4-BE49-F238E27FC236}">
                <a16:creationId xmlns:a16="http://schemas.microsoft.com/office/drawing/2014/main" id="{01AA7ABA-7D2D-44B6-BF7B-1D80F620ECC8}"/>
              </a:ext>
            </a:extLst>
          </p:cNvPr>
          <p:cNvSpPr/>
          <p:nvPr/>
        </p:nvSpPr>
        <p:spPr bwMode="auto">
          <a:xfrm>
            <a:off x="2286000" y="3733800"/>
            <a:ext cx="978408" cy="484632"/>
          </a:xfrm>
          <a:prstGeom prst="rightArrow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7" name="箭头: 右 6">
            <a:extLst>
              <a:ext uri="{FF2B5EF4-FFF2-40B4-BE49-F238E27FC236}">
                <a16:creationId xmlns:a16="http://schemas.microsoft.com/office/drawing/2014/main" id="{C5515E36-9881-4212-9306-9EC329E8E8CA}"/>
              </a:ext>
            </a:extLst>
          </p:cNvPr>
          <p:cNvSpPr/>
          <p:nvPr/>
        </p:nvSpPr>
        <p:spPr bwMode="auto">
          <a:xfrm>
            <a:off x="5638800" y="3706368"/>
            <a:ext cx="978408" cy="484632"/>
          </a:xfrm>
          <a:prstGeom prst="rightArrow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8" name="箭头: 右 7">
            <a:extLst>
              <a:ext uri="{FF2B5EF4-FFF2-40B4-BE49-F238E27FC236}">
                <a16:creationId xmlns:a16="http://schemas.microsoft.com/office/drawing/2014/main" id="{03F8B3A9-62F4-44E5-ADAC-B20315EB63AB}"/>
              </a:ext>
            </a:extLst>
          </p:cNvPr>
          <p:cNvSpPr/>
          <p:nvPr/>
        </p:nvSpPr>
        <p:spPr bwMode="auto">
          <a:xfrm>
            <a:off x="8851392" y="3733800"/>
            <a:ext cx="978408" cy="484632"/>
          </a:xfrm>
          <a:prstGeom prst="rightArrow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2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398CF94B-78FD-8851-6842-E0C35F17F78B}"/>
              </a:ext>
            </a:extLst>
          </p:cNvPr>
          <p:cNvCxnSpPr/>
          <p:nvPr/>
        </p:nvCxnSpPr>
        <p:spPr bwMode="auto">
          <a:xfrm flipV="1">
            <a:off x="8229600" y="2286000"/>
            <a:ext cx="2133600" cy="53340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DD3BD757-A8DC-3B30-1CA1-C21CB602B04C}"/>
              </a:ext>
            </a:extLst>
          </p:cNvPr>
          <p:cNvCxnSpPr/>
          <p:nvPr/>
        </p:nvCxnSpPr>
        <p:spPr bwMode="auto">
          <a:xfrm flipV="1">
            <a:off x="8229600" y="2819400"/>
            <a:ext cx="2133600" cy="60960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02150780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703838-C93F-4E5B-8792-DB7A5D078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基数排序算法及性能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DC4D41E-62BB-4996-BD94-A67F1DE8A1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25000"/>
                  </a:lnSpc>
                </a:pPr>
                <a:r>
                  <a:rPr lang="zh-CN" altLang="en-US" dirty="0"/>
                  <a:t>基数排序算法</a:t>
                </a:r>
                <a:endParaRPr lang="en-US" altLang="zh-CN" dirty="0"/>
              </a:p>
              <a:p>
                <a:pPr>
                  <a:lnSpc>
                    <a:spcPct val="125000"/>
                  </a:lnSpc>
                </a:pPr>
                <a:endParaRPr lang="en-US" altLang="zh-CN" dirty="0"/>
              </a:p>
              <a:p>
                <a:pPr>
                  <a:lnSpc>
                    <a:spcPct val="125000"/>
                  </a:lnSpc>
                </a:pPr>
                <a:endParaRPr lang="en-US" altLang="zh-CN" dirty="0"/>
              </a:p>
              <a:p>
                <a:pPr>
                  <a:lnSpc>
                    <a:spcPct val="125000"/>
                  </a:lnSpc>
                </a:pPr>
                <a:endParaRPr lang="en-US" altLang="zh-CN" dirty="0"/>
              </a:p>
              <a:p>
                <a:pPr>
                  <a:lnSpc>
                    <a:spcPct val="125000"/>
                  </a:lnSpc>
                </a:pPr>
                <a:r>
                  <a:rPr lang="zh-CN" altLang="en-US" dirty="0"/>
                  <a:t>计算复杂性：</a:t>
                </a:r>
                <a:r>
                  <a:rPr lang="zh-CN" altLang="en-US" b="0" dirty="0"/>
                  <a:t>时间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</m:d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b="0" dirty="0"/>
                  <a:t>，空间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</m:d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zh-CN" altLang="en-US" b="0" dirty="0"/>
                  <a:t>，其中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zh-CN" altLang="en-US" b="0" dirty="0"/>
                  <a:t>是基数。</a:t>
                </a:r>
                <a:endParaRPr lang="en-US" altLang="zh-CN" b="0" dirty="0"/>
              </a:p>
              <a:p>
                <a:pPr>
                  <a:lnSpc>
                    <a:spcPct val="125000"/>
                  </a:lnSpc>
                </a:pPr>
                <a:r>
                  <a:rPr lang="zh-CN" altLang="en-US" dirty="0"/>
                  <a:t>基数排序和快速排序的比较</a:t>
                </a:r>
                <a:endParaRPr lang="en-US" altLang="zh-CN" dirty="0"/>
              </a:p>
              <a:p>
                <a:pPr marL="0" indent="0">
                  <a:lnSpc>
                    <a:spcPct val="125000"/>
                  </a:lnSpc>
                  <a:buNone/>
                </a:pPr>
                <a:r>
                  <a:rPr lang="zh-CN" altLang="en-US" b="0" dirty="0"/>
                  <a:t>   </a:t>
                </a:r>
                <a:r>
                  <a:rPr lang="zh-CN" altLang="en-US" b="0"/>
                  <a:t>基数排序比</a:t>
                </a:r>
                <a:r>
                  <a:rPr lang="zh-CN" altLang="en-US" b="0" dirty="0"/>
                  <a:t>快速排序快，但空间复杂度高。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DC4D41E-62BB-4996-BD94-A67F1DE8A1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89" t="-235" b="-2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" name="表格 6">
            <a:extLst>
              <a:ext uri="{FF2B5EF4-FFF2-40B4-BE49-F238E27FC236}">
                <a16:creationId xmlns:a16="http://schemas.microsoft.com/office/drawing/2014/main" id="{67395F1D-FC8F-4036-A34B-6090ECF0A8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0231530"/>
              </p:ext>
            </p:extLst>
          </p:nvPr>
        </p:nvGraphicFramePr>
        <p:xfrm>
          <a:off x="762000" y="2072640"/>
          <a:ext cx="1074420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44200">
                  <a:extLst>
                    <a:ext uri="{9D8B030D-6E8A-4147-A177-3AD203B41FA5}">
                      <a16:colId xmlns:a16="http://schemas.microsoft.com/office/drawing/2014/main" val="29294666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3200" b="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RadixSort</a:t>
                      </a:r>
                      <a:r>
                        <a:rPr lang="en-US" altLang="zh-CN" sz="3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(a, n, d)</a:t>
                      </a:r>
                      <a:r>
                        <a:rPr lang="zh-CN" altLang="en-US" sz="3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</a:t>
                      </a:r>
                      <a:r>
                        <a:rPr lang="en-US" altLang="zh-CN" sz="3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//</a:t>
                      </a:r>
                      <a:r>
                        <a:rPr lang="zh-CN" altLang="en-US" sz="3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3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</a:t>
                      </a:r>
                      <a:r>
                        <a:rPr lang="zh-CN" altLang="en-US" sz="3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是关键字位数。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42098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14350" indent="-514350" algn="l">
                        <a:buAutoNum type="arabicPlain"/>
                      </a:pPr>
                      <a:r>
                        <a:rPr lang="en-US" altLang="zh-CN" sz="3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For</a:t>
                      </a:r>
                      <a:r>
                        <a:rPr lang="en-US" altLang="zh-CN" sz="3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32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</a:t>
                      </a:r>
                      <a:r>
                        <a:rPr lang="en-US" altLang="zh-CN" sz="3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=1…d,</a:t>
                      </a:r>
                      <a:r>
                        <a:rPr lang="zh-CN" altLang="en-US" sz="3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</a:t>
                      </a:r>
                      <a:r>
                        <a:rPr lang="en-US" altLang="zh-CN" sz="3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do</a:t>
                      </a:r>
                      <a:r>
                        <a:rPr lang="en-US" altLang="zh-CN" sz="3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          // </a:t>
                      </a:r>
                      <a:r>
                        <a:rPr lang="zh-CN" altLang="en-US" sz="3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在第</a:t>
                      </a:r>
                      <a:r>
                        <a:rPr lang="en-US" altLang="zh-CN" sz="32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</a:t>
                      </a:r>
                      <a:r>
                        <a:rPr lang="zh-CN" altLang="en-US" sz="3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位对</a:t>
                      </a:r>
                      <a:r>
                        <a:rPr lang="en-US" altLang="zh-CN" sz="3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</a:t>
                      </a:r>
                      <a:r>
                        <a:rPr lang="zh-CN" altLang="en-US" sz="3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做计数排序。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22752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514350" indent="-514350" algn="l">
                        <a:buAutoNum type="arabicPlain" startAt="2"/>
                      </a:pPr>
                      <a:r>
                        <a:rPr lang="en-US" altLang="zh-CN" sz="3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    </a:t>
                      </a:r>
                      <a:r>
                        <a:rPr lang="en-US" altLang="zh-CN" sz="32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CountingSort</a:t>
                      </a:r>
                      <a:r>
                        <a:rPr lang="en-US" altLang="zh-CN" sz="3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(a, n, </a:t>
                      </a:r>
                      <a:r>
                        <a:rPr lang="en-US" altLang="zh-CN" sz="32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</a:t>
                      </a:r>
                      <a:r>
                        <a:rPr lang="en-US" altLang="zh-CN" sz="3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); // </a:t>
                      </a:r>
                      <a:r>
                        <a:rPr lang="zh-CN" altLang="en-US" sz="3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用其他稳定排序算法亦可。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76796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1437625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4E1F2E-0528-4D95-B2A9-04DE26B5D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基数排序的实现</a:t>
            </a:r>
            <a:r>
              <a:rPr lang="en-US" altLang="zh-CN" dirty="0"/>
              <a:t>1/3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E02BF8-0D91-4B4F-9201-6D522594A3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181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void </a:t>
            </a:r>
            <a:r>
              <a:rPr lang="en-US" altLang="zh-CN" b="0" dirty="0" err="1"/>
              <a:t>RadixSort</a:t>
            </a:r>
            <a:r>
              <a:rPr lang="en-US" altLang="zh-CN" b="0" dirty="0"/>
              <a:t>(int a[], int n){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int </a:t>
            </a:r>
            <a:r>
              <a:rPr lang="en-US" altLang="zh-CN" b="0" dirty="0" err="1"/>
              <a:t>i</a:t>
            </a:r>
            <a:r>
              <a:rPr lang="en-US" altLang="zh-CN" b="0" dirty="0"/>
              <a:t>,</a:t>
            </a:r>
            <a:r>
              <a:rPr lang="zh-CN" altLang="en-US" b="0" dirty="0"/>
              <a:t> </a:t>
            </a:r>
            <a:r>
              <a:rPr lang="en-US" altLang="zh-CN" b="0" dirty="0" err="1"/>
              <a:t>maxDigits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</a:t>
            </a:r>
            <a:r>
              <a:rPr lang="en-US" altLang="zh-CN" b="0" dirty="0" err="1"/>
              <a:t>maxDigits</a:t>
            </a:r>
            <a:r>
              <a:rPr lang="en-US" altLang="zh-CN" b="0" dirty="0"/>
              <a:t>=</a:t>
            </a:r>
            <a:r>
              <a:rPr lang="en-US" altLang="zh-CN" b="0" dirty="0" err="1"/>
              <a:t>sizeof</a:t>
            </a:r>
            <a:r>
              <a:rPr lang="en-US" altLang="zh-CN" b="0" dirty="0"/>
              <a:t>(int)*8/NUM_OF_RADIX_BITS;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/* </a:t>
            </a:r>
            <a:r>
              <a:rPr lang="zh-CN" altLang="en-US" b="0" dirty="0"/>
              <a:t>基数及其位数也可以通过参数传入，这里定义为宏。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</a:t>
            </a:r>
            <a:r>
              <a:rPr lang="zh-CN" altLang="en-US" b="0" dirty="0"/>
              <a:t>* 关键字的最大位数也可以通过参数传入，这里计算出来的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</a:t>
            </a:r>
            <a:r>
              <a:rPr lang="zh-CN" altLang="en-US" b="0" dirty="0"/>
              <a:t>* 最大位数很可能比实际应用中的最大位数大，从而使排序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</a:t>
            </a:r>
            <a:r>
              <a:rPr lang="zh-CN" altLang="en-US" b="0" dirty="0"/>
              <a:t>* 时间增加。*</a:t>
            </a:r>
            <a:r>
              <a:rPr lang="en-US" altLang="zh-CN" b="0" dirty="0"/>
              <a:t>/  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for(</a:t>
            </a:r>
            <a:r>
              <a:rPr lang="en-US" altLang="zh-CN" b="0" dirty="0" err="1"/>
              <a:t>i</a:t>
            </a:r>
            <a:r>
              <a:rPr lang="en-US" altLang="zh-CN" b="0" dirty="0"/>
              <a:t>=1; </a:t>
            </a:r>
            <a:r>
              <a:rPr lang="en-US" altLang="zh-CN" b="0" dirty="0" err="1"/>
              <a:t>i</a:t>
            </a:r>
            <a:r>
              <a:rPr lang="en-US" altLang="zh-CN" b="0" dirty="0"/>
              <a:t>&lt;=</a:t>
            </a:r>
            <a:r>
              <a:rPr lang="en-US" altLang="zh-CN" b="0" dirty="0" err="1"/>
              <a:t>maxDigits</a:t>
            </a:r>
            <a:r>
              <a:rPr lang="en-US" altLang="zh-CN" b="0" dirty="0"/>
              <a:t>; </a:t>
            </a:r>
            <a:r>
              <a:rPr lang="en-US" altLang="zh-CN" b="0" dirty="0" err="1"/>
              <a:t>i</a:t>
            </a:r>
            <a:r>
              <a:rPr lang="en-US" altLang="zh-CN" b="0" dirty="0"/>
              <a:t>++){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</a:t>
            </a:r>
            <a:r>
              <a:rPr lang="en-US" altLang="zh-CN" b="0" dirty="0" err="1"/>
              <a:t>CountingSort</a:t>
            </a:r>
            <a:r>
              <a:rPr lang="en-US" altLang="zh-CN" b="0" dirty="0"/>
              <a:t>(a, n, </a:t>
            </a:r>
            <a:r>
              <a:rPr lang="en-US" altLang="zh-CN" b="0" dirty="0" err="1"/>
              <a:t>i</a:t>
            </a:r>
            <a:r>
              <a:rPr lang="en-US" altLang="zh-CN" b="0" dirty="0"/>
              <a:t>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28993542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4E1F2E-0528-4D95-B2A9-04DE26B5D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基数排序的实现</a:t>
            </a:r>
            <a:r>
              <a:rPr lang="en-US" altLang="zh-CN" dirty="0"/>
              <a:t>2/3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E02BF8-0D91-4B4F-9201-6D522594A3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181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void </a:t>
            </a:r>
            <a:r>
              <a:rPr lang="en-US" altLang="zh-CN" b="0" dirty="0" err="1"/>
              <a:t>CountingSort</a:t>
            </a:r>
            <a:r>
              <a:rPr lang="en-US" altLang="zh-CN" b="0" dirty="0"/>
              <a:t>(int a[], int n,</a:t>
            </a:r>
            <a:r>
              <a:rPr lang="zh-CN" altLang="en-US" b="0" dirty="0"/>
              <a:t> </a:t>
            </a:r>
            <a:r>
              <a:rPr lang="en-US" altLang="zh-CN" b="0" dirty="0"/>
              <a:t>int </a:t>
            </a:r>
            <a:r>
              <a:rPr lang="en-US" altLang="zh-CN" b="0" dirty="0" err="1"/>
              <a:t>k_thDigit</a:t>
            </a:r>
            <a:r>
              <a:rPr lang="en-US" altLang="zh-CN" b="0" dirty="0"/>
              <a:t>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int i, j,</a:t>
            </a:r>
            <a:r>
              <a:rPr lang="zh-CN" altLang="en-US" b="0" dirty="0"/>
              <a:t> </a:t>
            </a:r>
            <a:r>
              <a:rPr lang="en-US" altLang="zh-CN" b="0" dirty="0"/>
              <a:t>quotient, remainder;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int b[n], c[RADIX];  // </a:t>
            </a:r>
            <a:r>
              <a:rPr lang="zh-CN" altLang="en-US" b="0" dirty="0"/>
              <a:t>建议用堆内存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for(</a:t>
            </a:r>
            <a:r>
              <a:rPr lang="en-US" altLang="zh-CN" b="0" dirty="0" err="1"/>
              <a:t>i</a:t>
            </a:r>
            <a:r>
              <a:rPr lang="en-US" altLang="zh-CN" b="0" dirty="0"/>
              <a:t>=0; </a:t>
            </a:r>
            <a:r>
              <a:rPr lang="en-US" altLang="zh-CN" b="0" dirty="0" err="1"/>
              <a:t>i</a:t>
            </a:r>
            <a:r>
              <a:rPr lang="en-US" altLang="zh-CN" b="0" dirty="0"/>
              <a:t>&lt;RADIX; </a:t>
            </a:r>
            <a:r>
              <a:rPr lang="en-US" altLang="zh-CN" b="0" dirty="0" err="1"/>
              <a:t>i</a:t>
            </a:r>
            <a:r>
              <a:rPr lang="en-US" altLang="zh-CN" b="0" dirty="0"/>
              <a:t>++){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c[</a:t>
            </a:r>
            <a:r>
              <a:rPr lang="en-US" altLang="zh-CN" b="0" dirty="0" err="1"/>
              <a:t>i</a:t>
            </a:r>
            <a:r>
              <a:rPr lang="en-US" altLang="zh-CN" b="0" dirty="0"/>
              <a:t>]=0;    // </a:t>
            </a:r>
            <a:r>
              <a:rPr lang="zh-CN" altLang="en-US" b="0" dirty="0"/>
              <a:t>计数数组清零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for(</a:t>
            </a:r>
            <a:r>
              <a:rPr lang="en-US" altLang="zh-CN" b="0" dirty="0" err="1"/>
              <a:t>i</a:t>
            </a:r>
            <a:r>
              <a:rPr lang="en-US" altLang="zh-CN" b="0" dirty="0"/>
              <a:t>=0; </a:t>
            </a:r>
            <a:r>
              <a:rPr lang="en-US" altLang="zh-CN" b="0" dirty="0" err="1"/>
              <a:t>i</a:t>
            </a:r>
            <a:r>
              <a:rPr lang="en-US" altLang="zh-CN" b="0" dirty="0"/>
              <a:t>&lt;n; </a:t>
            </a:r>
            <a:r>
              <a:rPr lang="en-US" altLang="zh-CN" b="0" dirty="0" err="1"/>
              <a:t>i</a:t>
            </a:r>
            <a:r>
              <a:rPr lang="en-US" altLang="zh-CN" b="0" dirty="0"/>
              <a:t>++) {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quotient=a[</a:t>
            </a:r>
            <a:r>
              <a:rPr lang="en-US" altLang="zh-CN" b="0" dirty="0" err="1"/>
              <a:t>i</a:t>
            </a:r>
            <a:r>
              <a:rPr lang="en-US" altLang="zh-CN" b="0" dirty="0"/>
              <a:t>]&gt;&gt;((k_thDigit-1)*NUM_OF_RADIX_BITS);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remainder=</a:t>
            </a:r>
            <a:r>
              <a:rPr lang="en-US" altLang="zh-CN" b="0" dirty="0" err="1"/>
              <a:t>quotient%RADIX</a:t>
            </a:r>
            <a:r>
              <a:rPr lang="en-US" altLang="zh-CN" b="0" dirty="0"/>
              <a:t>;</a:t>
            </a:r>
            <a:endParaRPr lang="zh-CN" altLang="en-US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c[remainder]++;  /* </a:t>
            </a:r>
            <a:r>
              <a:rPr lang="zh-CN" altLang="en-US" b="0" dirty="0"/>
              <a:t>计数 *</a:t>
            </a:r>
            <a:r>
              <a:rPr lang="en-US" altLang="zh-CN" b="0" dirty="0"/>
              <a:t>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</a:t>
            </a:r>
          </a:p>
          <a:p>
            <a:pPr marL="0" indent="0">
              <a:lnSpc>
                <a:spcPct val="100000"/>
              </a:lnSpc>
              <a:buNone/>
            </a:pP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42694676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4E1F2E-0528-4D95-B2A9-04DE26B5D2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基数排序的实现</a:t>
            </a:r>
            <a:r>
              <a:rPr lang="en-US" altLang="zh-CN" dirty="0"/>
              <a:t>3/3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E02BF8-0D91-4B4F-9201-6D522594A3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219200"/>
            <a:ext cx="11582400" cy="5181600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for(</a:t>
            </a:r>
            <a:r>
              <a:rPr lang="en-US" altLang="zh-CN" b="0" dirty="0" err="1"/>
              <a:t>i</a:t>
            </a:r>
            <a:r>
              <a:rPr lang="en-US" altLang="zh-CN" b="0" dirty="0"/>
              <a:t>=1; </a:t>
            </a:r>
            <a:r>
              <a:rPr lang="en-US" altLang="zh-CN" b="0" dirty="0" err="1"/>
              <a:t>i</a:t>
            </a:r>
            <a:r>
              <a:rPr lang="en-US" altLang="zh-CN" b="0" dirty="0"/>
              <a:t>&lt;RADIX; </a:t>
            </a:r>
            <a:r>
              <a:rPr lang="en-US" altLang="zh-CN" b="0" dirty="0" err="1"/>
              <a:t>i</a:t>
            </a:r>
            <a:r>
              <a:rPr lang="en-US" altLang="zh-CN" b="0" dirty="0"/>
              <a:t>++)   c[</a:t>
            </a:r>
            <a:r>
              <a:rPr lang="en-US" altLang="zh-CN" b="0" dirty="0" err="1"/>
              <a:t>i</a:t>
            </a:r>
            <a:r>
              <a:rPr lang="en-US" altLang="zh-CN" b="0" dirty="0"/>
              <a:t>]+=c[i-1];  //</a:t>
            </a:r>
            <a:r>
              <a:rPr lang="zh-CN" altLang="en-US" b="0" dirty="0"/>
              <a:t> 计算位置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for(</a:t>
            </a:r>
            <a:r>
              <a:rPr lang="en-US" altLang="zh-CN" b="0" dirty="0" err="1"/>
              <a:t>i</a:t>
            </a:r>
            <a:r>
              <a:rPr lang="en-US" altLang="zh-CN" b="0" dirty="0"/>
              <a:t>=0; </a:t>
            </a:r>
            <a:r>
              <a:rPr lang="en-US" altLang="zh-CN" b="0" dirty="0" err="1"/>
              <a:t>i</a:t>
            </a:r>
            <a:r>
              <a:rPr lang="en-US" altLang="zh-CN" b="0" dirty="0"/>
              <a:t>&lt;RADIX; </a:t>
            </a:r>
            <a:r>
              <a:rPr lang="en-US" altLang="zh-CN" b="0" dirty="0" err="1"/>
              <a:t>i</a:t>
            </a:r>
            <a:r>
              <a:rPr lang="en-US" altLang="zh-CN" b="0" dirty="0"/>
              <a:t>++)   c[</a:t>
            </a:r>
            <a:r>
              <a:rPr lang="en-US" altLang="zh-CN" b="0" dirty="0" err="1"/>
              <a:t>i</a:t>
            </a:r>
            <a:r>
              <a:rPr lang="en-US" altLang="zh-CN" b="0" dirty="0"/>
              <a:t>]--;  // </a:t>
            </a:r>
            <a:r>
              <a:rPr lang="zh-CN" altLang="en-US" b="0" dirty="0"/>
              <a:t>修正，因下标从</a:t>
            </a:r>
            <a:r>
              <a:rPr lang="en-US" altLang="zh-CN" b="0" dirty="0"/>
              <a:t>0</a:t>
            </a:r>
            <a:r>
              <a:rPr lang="zh-CN" altLang="en-US" b="0" dirty="0"/>
              <a:t>开始</a:t>
            </a:r>
            <a:endParaRPr lang="en-US" altLang="zh-CN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for (</a:t>
            </a:r>
            <a:r>
              <a:rPr lang="en-US" altLang="zh-CN" b="0" dirty="0" err="1"/>
              <a:t>i</a:t>
            </a:r>
            <a:r>
              <a:rPr lang="en-US" altLang="zh-CN" b="0" dirty="0"/>
              <a:t>=n-1; </a:t>
            </a:r>
            <a:r>
              <a:rPr lang="en-US" altLang="zh-CN" b="0" dirty="0" err="1"/>
              <a:t>i</a:t>
            </a:r>
            <a:r>
              <a:rPr lang="en-US" altLang="zh-CN" b="0" dirty="0"/>
              <a:t>&gt;=0; </a:t>
            </a:r>
            <a:r>
              <a:rPr lang="en-US" altLang="zh-CN" b="0" dirty="0" err="1"/>
              <a:t>i</a:t>
            </a:r>
            <a:r>
              <a:rPr lang="en-US" altLang="zh-CN" b="0" dirty="0"/>
              <a:t>--){ /* </a:t>
            </a:r>
            <a:r>
              <a:rPr lang="zh-CN" altLang="en-US" b="0" dirty="0"/>
              <a:t>根据</a:t>
            </a:r>
            <a:r>
              <a:rPr lang="en-US" altLang="zh-CN" b="0" dirty="0"/>
              <a:t>c</a:t>
            </a:r>
            <a:r>
              <a:rPr lang="zh-CN" altLang="en-US" b="0" dirty="0"/>
              <a:t>计算的位置，输出到</a:t>
            </a:r>
            <a:r>
              <a:rPr lang="en-US" altLang="zh-CN" b="0" dirty="0"/>
              <a:t>b */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quotient=a[</a:t>
            </a:r>
            <a:r>
              <a:rPr lang="en-US" altLang="zh-CN" b="0" dirty="0" err="1"/>
              <a:t>i</a:t>
            </a:r>
            <a:r>
              <a:rPr lang="en-US" altLang="zh-CN" b="0" dirty="0"/>
              <a:t>]&gt;&gt;((k_thDigit-1)*NUM_OF_RADIX_BITS);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remainder=</a:t>
            </a:r>
            <a:r>
              <a:rPr lang="en-US" altLang="zh-CN" b="0" dirty="0" err="1"/>
              <a:t>quotient%RADIX</a:t>
            </a:r>
            <a:r>
              <a:rPr lang="en-US" altLang="zh-CN" b="0" dirty="0"/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b[c[remainder]]=a[</a:t>
            </a:r>
            <a:r>
              <a:rPr lang="en-US" altLang="zh-CN" b="0" dirty="0" err="1"/>
              <a:t>i</a:t>
            </a:r>
            <a:r>
              <a:rPr lang="en-US" altLang="zh-CN" b="0" dirty="0"/>
              <a:t>];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c[remainder]--;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}   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for(</a:t>
            </a:r>
            <a:r>
              <a:rPr lang="en-US" altLang="zh-CN" b="0" dirty="0" err="1"/>
              <a:t>i</a:t>
            </a:r>
            <a:r>
              <a:rPr lang="en-US" altLang="zh-CN" b="0" dirty="0"/>
              <a:t>=0; </a:t>
            </a:r>
            <a:r>
              <a:rPr lang="en-US" altLang="zh-CN" b="0" dirty="0" err="1"/>
              <a:t>i</a:t>
            </a:r>
            <a:r>
              <a:rPr lang="en-US" altLang="zh-CN" b="0" dirty="0"/>
              <a:t>&lt;n; </a:t>
            </a:r>
            <a:r>
              <a:rPr lang="en-US" altLang="zh-CN" b="0" dirty="0" err="1"/>
              <a:t>i</a:t>
            </a:r>
            <a:r>
              <a:rPr lang="en-US" altLang="zh-CN" b="0" dirty="0"/>
              <a:t>++)  a[</a:t>
            </a:r>
            <a:r>
              <a:rPr lang="en-US" altLang="zh-CN" b="0" dirty="0" err="1"/>
              <a:t>i</a:t>
            </a:r>
            <a:r>
              <a:rPr lang="en-US" altLang="zh-CN" b="0" dirty="0"/>
              <a:t>]=b[</a:t>
            </a:r>
            <a:r>
              <a:rPr lang="en-US" altLang="zh-CN" b="0" dirty="0" err="1"/>
              <a:t>i</a:t>
            </a:r>
            <a:r>
              <a:rPr lang="en-US" altLang="zh-CN" b="0" dirty="0"/>
              <a:t>];   //</a:t>
            </a:r>
            <a:r>
              <a:rPr lang="zh-CN" altLang="en-US" b="0" dirty="0"/>
              <a:t> 把排好序的数组</a:t>
            </a:r>
            <a:r>
              <a:rPr lang="en-US" altLang="zh-CN" b="0" dirty="0"/>
              <a:t>b</a:t>
            </a:r>
            <a:r>
              <a:rPr lang="zh-CN" altLang="en-US" b="0" dirty="0"/>
              <a:t>拷回</a:t>
            </a:r>
            <a:r>
              <a:rPr lang="en-US" altLang="zh-CN" b="0" dirty="0"/>
              <a:t>a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}</a:t>
            </a:r>
            <a:endParaRPr lang="zh-CN" altLang="en-US" b="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b="0" dirty="0"/>
              <a:t>            </a:t>
            </a:r>
            <a:endParaRPr lang="zh-CN" altLang="en-US" b="0" dirty="0"/>
          </a:p>
        </p:txBody>
      </p:sp>
    </p:spTree>
    <p:extLst>
      <p:ext uri="{BB962C8B-B14F-4D97-AF65-F5344CB8AC3E}">
        <p14:creationId xmlns:p14="http://schemas.microsoft.com/office/powerpoint/2010/main" val="286058109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D6E05A-B711-4892-90B0-6302396578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多关键字排序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46FFE4D-1520-4B37-8560-5DFA421531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4800" y="1066800"/>
                <a:ext cx="11582400" cy="5562600"/>
              </a:xfrm>
            </p:spPr>
            <p:txBody>
              <a:bodyPr/>
              <a:lstStyle/>
              <a:p>
                <a:pPr>
                  <a:lnSpc>
                    <a:spcPct val="125000"/>
                  </a:lnSpc>
                </a:pPr>
                <a:r>
                  <a:rPr lang="zh-CN" altLang="en-US" dirty="0"/>
                  <a:t>多关键字</a:t>
                </a:r>
                <a:r>
                  <a:rPr lang="zh-CN" altLang="en-US" b="0" dirty="0"/>
                  <a:t>：</a:t>
                </a:r>
                <a:endParaRPr lang="en-US" altLang="zh-CN" b="0" dirty="0"/>
              </a:p>
              <a:p>
                <a:pPr lvl="1"/>
                <a:r>
                  <a:rPr lang="zh-CN" altLang="en-US" b="0" dirty="0"/>
                  <a:t>每个记录含有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zh-CN" altLang="en-US" b="0" dirty="0"/>
                  <a:t>个关键字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⋯,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b="0" dirty="0"/>
                  <a:t>，</a:t>
                </a:r>
                <a:endParaRPr lang="en-US" altLang="zh-CN" b="0" dirty="0"/>
              </a:p>
              <a:p>
                <a:pPr lvl="1"/>
                <a:r>
                  <a:rPr lang="zh-CN" altLang="en-US" b="0" dirty="0"/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zh-CN" altLang="en-US" b="0" dirty="0"/>
                  <a:t>为最主关键字，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b="0" dirty="0"/>
                  <a:t>为最次关键字。</a:t>
                </a:r>
                <a:endParaRPr lang="en-US" altLang="zh-CN" b="0" dirty="0"/>
              </a:p>
              <a:p>
                <a:pPr>
                  <a:lnSpc>
                    <a:spcPct val="125000"/>
                  </a:lnSpc>
                </a:pPr>
                <a:r>
                  <a:rPr lang="zh-CN" altLang="en-US" dirty="0"/>
                  <a:t>多关键字排序</a:t>
                </a:r>
                <a:endParaRPr lang="en-US" altLang="zh-CN" dirty="0"/>
              </a:p>
              <a:p>
                <a:pPr lvl="1"/>
                <a:r>
                  <a:rPr lang="zh-CN" altLang="en-US" b="0" dirty="0"/>
                  <a:t>例如扑克牌先按花色排序，再按面值排序。</a:t>
                </a:r>
                <a:endParaRPr lang="en-US" altLang="zh-CN" b="0" dirty="0"/>
              </a:p>
              <a:p>
                <a:pPr lvl="1"/>
                <a:r>
                  <a:rPr lang="zh-CN" altLang="en-US" b="0" dirty="0"/>
                  <a:t>基数排序把一个关键字拆成多个关键字，再排序。</a:t>
                </a:r>
                <a:endParaRPr lang="en-US" altLang="zh-CN" b="0" dirty="0"/>
              </a:p>
              <a:p>
                <a:pPr>
                  <a:lnSpc>
                    <a:spcPct val="125000"/>
                  </a:lnSpc>
                </a:pPr>
                <a:r>
                  <a:rPr lang="zh-CN" altLang="en-US" dirty="0"/>
                  <a:t>两种排序方法</a:t>
                </a:r>
                <a:endParaRPr lang="en-US" altLang="zh-CN" dirty="0"/>
              </a:p>
              <a:p>
                <a:pPr lvl="1"/>
                <a:r>
                  <a:rPr lang="zh-CN" altLang="en-US" b="0" dirty="0"/>
                  <a:t>高位优先：</a:t>
                </a:r>
                <a:r>
                  <a:rPr lang="zh-CN" altLang="en-US" dirty="0"/>
                  <a:t>先按高位分成子序列，再分别按低位排序。</a:t>
                </a:r>
                <a:endParaRPr lang="en-US" altLang="zh-CN" b="0" dirty="0"/>
              </a:p>
              <a:p>
                <a:pPr lvl="1"/>
                <a:r>
                  <a:rPr lang="zh-CN" altLang="en-US" b="0" dirty="0"/>
                  <a:t>低位优先：不必分子序列，但必须选用稳定排序算法。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46FFE4D-1520-4B37-8560-5DFA421531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066800"/>
                <a:ext cx="11582400" cy="5562600"/>
              </a:xfrm>
              <a:blipFill>
                <a:blip r:embed="rId2"/>
                <a:stretch>
                  <a:fillRect l="-789" t="-219" b="-284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8315891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32D703-CB88-65DB-E81D-26E9BDB02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现代排序算法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6865FB-EB0B-69AD-DB63-E914425F30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371600"/>
            <a:ext cx="11811000" cy="5181600"/>
          </a:xfrm>
        </p:spPr>
        <p:txBody>
          <a:bodyPr/>
          <a:lstStyle/>
          <a:p>
            <a:r>
              <a:rPr lang="zh-CN" altLang="en-US" dirty="0"/>
              <a:t>使用多种排序算法 </a:t>
            </a:r>
            <a:r>
              <a:rPr lang="en-US" altLang="zh-CN" dirty="0"/>
              <a:t>[</a:t>
            </a:r>
            <a:r>
              <a:rPr lang="en-US" altLang="zh-CN" dirty="0" err="1"/>
              <a:t>Introsort</a:t>
            </a:r>
            <a:r>
              <a:rPr lang="en-US" altLang="zh-CN" dirty="0"/>
              <a:t>, David Musser, 1997]</a:t>
            </a:r>
          </a:p>
          <a:p>
            <a:r>
              <a:rPr lang="zh-CN" altLang="en-US" dirty="0"/>
              <a:t>适应数据分布 </a:t>
            </a:r>
            <a:r>
              <a:rPr lang="en-US" altLang="zh-CN" dirty="0"/>
              <a:t>[</a:t>
            </a:r>
            <a:r>
              <a:rPr lang="en-US" altLang="zh-CN" dirty="0" err="1"/>
              <a:t>Timsort</a:t>
            </a:r>
            <a:r>
              <a:rPr lang="en-US" altLang="zh-CN" dirty="0"/>
              <a:t>, Tim Peters, 2002]</a:t>
            </a:r>
          </a:p>
          <a:p>
            <a:r>
              <a:rPr lang="zh-CN" altLang="en-US" dirty="0"/>
              <a:t>适应现代</a:t>
            </a:r>
            <a:r>
              <a:rPr lang="en-US" altLang="zh-CN" dirty="0"/>
              <a:t>CPU, </a:t>
            </a:r>
            <a:r>
              <a:rPr lang="zh-CN" altLang="en-US" dirty="0"/>
              <a:t>使用无分支技术减少分支预测失败 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   [</a:t>
            </a:r>
            <a:r>
              <a:rPr lang="en-US" altLang="zh-CN" dirty="0" err="1"/>
              <a:t>Brachless</a:t>
            </a:r>
            <a:r>
              <a:rPr lang="en-US" altLang="zh-CN" dirty="0"/>
              <a:t> </a:t>
            </a:r>
            <a:r>
              <a:rPr lang="en-US" altLang="zh-CN" dirty="0" err="1"/>
              <a:t>Mergesort</a:t>
            </a:r>
            <a:r>
              <a:rPr lang="en-US" altLang="zh-CN" dirty="0"/>
              <a:t>, Elmasry et al, 2012]</a:t>
            </a:r>
          </a:p>
          <a:p>
            <a:pPr lvl="1"/>
            <a:r>
              <a:rPr lang="zh-CN" altLang="en-US" dirty="0"/>
              <a:t>利用</a:t>
            </a:r>
            <a:r>
              <a:rPr lang="en-US" altLang="zh-CN" dirty="0" err="1"/>
              <a:t>CMOVcc</a:t>
            </a:r>
            <a:r>
              <a:rPr lang="zh-CN" altLang="en-US" dirty="0"/>
              <a:t>指令：  </a:t>
            </a:r>
            <a:r>
              <a:rPr lang="en-US" altLang="zh-CN" dirty="0"/>
              <a:t>min=a[0]&gt;a[1]?a[1]:a[0];  </a:t>
            </a:r>
          </a:p>
          <a:p>
            <a:pPr lvl="1"/>
            <a:r>
              <a:rPr lang="zh-CN" altLang="en-US" dirty="0"/>
              <a:t>利用</a:t>
            </a:r>
            <a:r>
              <a:rPr lang="en-US" altLang="zh-CN" dirty="0" err="1"/>
              <a:t>SETcc</a:t>
            </a:r>
            <a:r>
              <a:rPr lang="zh-CN" altLang="en-US" dirty="0"/>
              <a:t>等位指令：</a:t>
            </a:r>
            <a:r>
              <a:rPr lang="en-US" altLang="zh-CN" dirty="0"/>
              <a:t>x=a[0]&gt;a[1]; min=a[x]; max=a[x^1]; </a:t>
            </a:r>
          </a:p>
          <a:p>
            <a:r>
              <a:rPr lang="zh-CN" altLang="en-US" dirty="0"/>
              <a:t>适应现代</a:t>
            </a:r>
            <a:r>
              <a:rPr lang="en-US" altLang="zh-CN" dirty="0"/>
              <a:t>CPU</a:t>
            </a:r>
            <a:r>
              <a:rPr lang="zh-CN" altLang="en-US" dirty="0"/>
              <a:t>，缓存友好 </a:t>
            </a:r>
            <a:r>
              <a:rPr lang="en-US" altLang="zh-CN" dirty="0"/>
              <a:t>[</a:t>
            </a:r>
            <a:r>
              <a:rPr lang="en-US" altLang="zh-CN" dirty="0" err="1"/>
              <a:t>BlockQuicksort</a:t>
            </a:r>
            <a:r>
              <a:rPr lang="en-US" altLang="zh-CN" dirty="0"/>
              <a:t>, 2016]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9637040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A4C83D-7C78-4BE2-A073-CCD45FE2E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外部排序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250870-C8ED-4ADE-8359-4D23DAD5F1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问题：</a:t>
            </a:r>
            <a:r>
              <a:rPr lang="zh-CN" altLang="en-US" b="0" dirty="0"/>
              <a:t>待排序的数据量太大，内存装不下。</a:t>
            </a:r>
            <a:endParaRPr lang="en-US" altLang="zh-CN" b="0" dirty="0"/>
          </a:p>
          <a:p>
            <a:r>
              <a:rPr lang="zh-CN" altLang="en-US" dirty="0"/>
              <a:t>解决办法</a:t>
            </a:r>
            <a:endParaRPr lang="en-US" altLang="zh-CN" dirty="0"/>
          </a:p>
          <a:p>
            <a:pPr lvl="1"/>
            <a:r>
              <a:rPr lang="zh-CN" altLang="en-US" dirty="0"/>
              <a:t>把待排序的文件分成</a:t>
            </a:r>
            <a:r>
              <a:rPr lang="en-US" altLang="zh-CN" dirty="0"/>
              <a:t>m</a:t>
            </a:r>
            <a:r>
              <a:rPr lang="zh-CN" altLang="en-US" dirty="0"/>
              <a:t>个子文件；</a:t>
            </a:r>
            <a:endParaRPr lang="en-US" altLang="zh-CN" dirty="0"/>
          </a:p>
          <a:p>
            <a:pPr lvl="1"/>
            <a:r>
              <a:rPr lang="zh-CN" altLang="en-US" dirty="0"/>
              <a:t>分别对子文件排序，得</a:t>
            </a:r>
            <a:r>
              <a:rPr lang="en-US" altLang="zh-CN" dirty="0"/>
              <a:t>m</a:t>
            </a:r>
            <a:r>
              <a:rPr lang="zh-CN" altLang="en-US" dirty="0"/>
              <a:t>个顺串</a:t>
            </a:r>
            <a:r>
              <a:rPr lang="en-US" altLang="zh-CN" dirty="0"/>
              <a:t>(</a:t>
            </a:r>
            <a:r>
              <a:rPr lang="zh-CN" altLang="en-US" dirty="0"/>
              <a:t>归并段</a:t>
            </a:r>
            <a:r>
              <a:rPr lang="en-US" altLang="zh-CN" dirty="0"/>
              <a:t>)</a:t>
            </a:r>
            <a:r>
              <a:rPr lang="zh-CN" altLang="en-US" dirty="0"/>
              <a:t>；</a:t>
            </a:r>
            <a:endParaRPr lang="en-US" altLang="zh-CN" dirty="0"/>
          </a:p>
          <a:p>
            <a:pPr lvl="1"/>
            <a:r>
              <a:rPr lang="zh-CN" altLang="en-US" dirty="0"/>
              <a:t>对这些顺串进行多次归并，使整个文件有序。</a:t>
            </a:r>
          </a:p>
        </p:txBody>
      </p:sp>
    </p:spTree>
    <p:extLst>
      <p:ext uri="{BB962C8B-B14F-4D97-AF65-F5344CB8AC3E}">
        <p14:creationId xmlns:p14="http://schemas.microsoft.com/office/powerpoint/2010/main" val="184637496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A4C83D-7C78-4BE2-A073-CCD45FE2EE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外部排序时间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F250870-C8ED-4ADE-8359-4D23DAD5F16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04800" y="1219200"/>
                <a:ext cx="11582400" cy="5181600"/>
              </a:xfrm>
            </p:spPr>
            <p:txBody>
              <a:bodyPr/>
              <a:lstStyle/>
              <a:p>
                <a:r>
                  <a:rPr lang="zh-CN" altLang="en-US" dirty="0"/>
                  <a:t>外部排序时间</a:t>
                </a:r>
                <a:endParaRPr lang="en-US" altLang="zh-CN" dirty="0"/>
              </a:p>
              <a:p>
                <a:pPr marL="0" indent="0">
                  <a:buNone/>
                </a:pPr>
                <a:r>
                  <a:rPr lang="en-US" altLang="zh-CN" dirty="0"/>
                  <a:t>   </a:t>
                </a:r>
                <a:r>
                  <a:rPr lang="en-US" altLang="zh-CN" b="0" dirty="0"/>
                  <a:t>= </a:t>
                </a:r>
                <a:r>
                  <a:rPr lang="zh-CN" altLang="en-US" b="0" dirty="0"/>
                  <a:t>初始归并段的排序时间 </a:t>
                </a:r>
                <a:r>
                  <a:rPr lang="en-US" altLang="zh-CN" b="0" dirty="0"/>
                  <a:t>+ </a:t>
                </a:r>
                <a:r>
                  <a:rPr lang="zh-CN" altLang="en-US" b="0" dirty="0"/>
                  <a:t>归并时间 </a:t>
                </a:r>
                <a:r>
                  <a:rPr lang="en-US" altLang="zh-CN" b="0" dirty="0"/>
                  <a:t>+ </a:t>
                </a:r>
                <a:r>
                  <a:rPr lang="zh-CN" altLang="en-US" dirty="0"/>
                  <a:t>磁盘读写时间</a:t>
                </a:r>
                <a:endParaRPr lang="en-US" altLang="zh-CN" dirty="0"/>
              </a:p>
              <a:p>
                <a:r>
                  <a:rPr lang="zh-CN" altLang="en-US" dirty="0"/>
                  <a:t>磁盘读写时间</a:t>
                </a:r>
                <a:r>
                  <a:rPr lang="zh-CN" altLang="en-US" b="0" dirty="0"/>
                  <a:t>与读写次数成正比</a:t>
                </a:r>
                <a:endParaRPr lang="en-US" altLang="zh-CN" b="0" dirty="0"/>
              </a:p>
              <a:p>
                <a:pPr lvl="1"/>
                <a:r>
                  <a:rPr lang="zh-CN" altLang="en-US" dirty="0"/>
                  <a:t>可用归并的趟数来衡量。归并的趟数不是归并的次数，</a:t>
                </a:r>
                <a:r>
                  <a:rPr lang="zh-CN" altLang="en-US" b="1" dirty="0"/>
                  <a:t>一趟归并是指把所有的归并段都处理一遍</a:t>
                </a:r>
                <a:r>
                  <a:rPr lang="zh-CN" altLang="en-US" dirty="0"/>
                  <a:t>。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对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zh-CN" altLang="en-US" dirty="0"/>
                  <a:t>个初始归并段进行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dirty="0"/>
                  <a:t>路归并，</a:t>
                </a:r>
                <a14:m>
                  <m:oMath xmlns:m="http://schemas.openxmlformats.org/officeDocument/2006/math">
                    <m:r>
                      <a:rPr lang="zh-CN" altLang="en-US" i="1" dirty="0">
                        <a:latin typeface="Cambria Math" panose="02040503050406030204" pitchFamily="18" charset="0"/>
                      </a:rPr>
                      <m:t>归并</m:t>
                    </m:r>
                    <m:r>
                      <a:rPr lang="zh-CN" altLang="en-US" i="1" dirty="0" smtClean="0">
                        <a:latin typeface="Cambria Math" panose="02040503050406030204" pitchFamily="18" charset="0"/>
                      </a:rPr>
                      <m:t>趟</m:t>
                    </m:r>
                    <m:r>
                      <a:rPr lang="zh-CN" altLang="en-US" i="1" dirty="0">
                        <a:latin typeface="Cambria Math" panose="02040503050406030204" pitchFamily="18" charset="0"/>
                      </a:rPr>
                      <m:t>数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⌊"/>
                        <m:endChr m:val="⌋"/>
                        <m:ctrlPr>
                          <a:rPr lang="zh-CN" alt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b>
                              <m:sSub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1" i="0" smtClean="0">
                                    <a:latin typeface="Cambria Math" panose="02040503050406030204" pitchFamily="18" charset="0"/>
                                  </a:rPr>
                                  <m:t>𝐥𝐨𝐠</m:t>
                                </m:r>
                              </m:e>
                              <m:sub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sub>
                            </m:sSub>
                          </m:fName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𝒎</m:t>
                            </m:r>
                          </m:e>
                        </m:func>
                      </m:e>
                    </m:d>
                  </m:oMath>
                </a14:m>
                <a:endParaRPr lang="en-US" altLang="zh-CN" b="1" dirty="0"/>
              </a:p>
              <a:p>
                <a:pPr lvl="1"/>
                <a:r>
                  <a:rPr lang="zh-CN" altLang="en-US" dirty="0"/>
                  <a:t>为减少磁盘读写，需要增加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dirty="0"/>
                  <a:t>并减小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zh-CN" altLang="en-US" dirty="0"/>
                  <a:t>。然而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</a:rPr>
                      <m:t>𝒌</m:t>
                    </m:r>
                  </m:oMath>
                </a14:m>
                <a:r>
                  <a:rPr lang="zh-CN" altLang="en-US" dirty="0"/>
                  <a:t>越大，内部排序时间越长，占用内存越多；而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</a:rPr>
                      <m:t>𝒎</m:t>
                    </m:r>
                  </m:oMath>
                </a14:m>
                <a:r>
                  <a:rPr lang="zh-CN" altLang="en-US" dirty="0"/>
                  <a:t>又受内存限制。</a:t>
                </a:r>
                <a:endParaRPr lang="en-US" altLang="zh-CN" dirty="0"/>
              </a:p>
              <a:p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F250870-C8ED-4ADE-8359-4D23DAD5F16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4800" y="1219200"/>
                <a:ext cx="11582400" cy="5181600"/>
              </a:xfrm>
              <a:blipFill>
                <a:blip r:embed="rId2"/>
                <a:stretch>
                  <a:fillRect l="-789" r="-1316" b="-57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183028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EDBC60-82E6-4F4E-BFA5-23F81B246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多路归并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D1796BE-96FB-4CB5-BEDF-1F12FDCB5C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lnSpc>
                    <a:spcPct val="125000"/>
                  </a:lnSpc>
                </a:pPr>
                <a:r>
                  <a:rPr lang="zh-CN" altLang="en-US" dirty="0"/>
                  <a:t>输入：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b="0" dirty="0"/>
                  <a:t>个归并段</a:t>
                </a:r>
                <a:r>
                  <a:rPr lang="en-US" altLang="zh-CN" b="0" dirty="0"/>
                  <a:t>(</a:t>
                </a:r>
                <a:r>
                  <a:rPr lang="zh-CN" altLang="en-US" b="0" dirty="0"/>
                  <a:t>输入文件流</a:t>
                </a:r>
                <a:r>
                  <a:rPr lang="en-US" altLang="zh-CN" b="0" dirty="0"/>
                  <a:t>)</a:t>
                </a:r>
                <a:r>
                  <a:rPr lang="zh-CN" altLang="en-US" b="0" dirty="0"/>
                  <a:t>。</a:t>
                </a:r>
                <a:endParaRPr lang="en-US" altLang="zh-CN" b="0" dirty="0"/>
              </a:p>
              <a:p>
                <a:pPr>
                  <a:lnSpc>
                    <a:spcPct val="125000"/>
                  </a:lnSpc>
                </a:pPr>
                <a:r>
                  <a:rPr lang="zh-CN" altLang="en-US" dirty="0"/>
                  <a:t>归并：</a:t>
                </a:r>
                <a:r>
                  <a:rPr lang="zh-CN" altLang="en-US" b="0" dirty="0"/>
                  <a:t>不断地从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zh-CN" altLang="en-US" b="0" dirty="0"/>
                  <a:t>个归并段的最小值中找最小值。</a:t>
                </a:r>
                <a:r>
                  <a:rPr lang="zh-CN" altLang="en-US" dirty="0"/>
                  <a:t>怎么选？</a:t>
                </a:r>
                <a:endParaRPr lang="en-US" altLang="zh-CN" dirty="0"/>
              </a:p>
              <a:p>
                <a:pPr>
                  <a:lnSpc>
                    <a:spcPct val="125000"/>
                  </a:lnSpc>
                </a:pPr>
                <a:endParaRPr lang="en-US" altLang="zh-CN" b="0" dirty="0"/>
              </a:p>
              <a:p>
                <a:pPr>
                  <a:lnSpc>
                    <a:spcPct val="125000"/>
                  </a:lnSpc>
                </a:pPr>
                <a:endParaRPr lang="en-US" altLang="zh-CN" b="0" dirty="0"/>
              </a:p>
              <a:p>
                <a:pPr>
                  <a:lnSpc>
                    <a:spcPct val="125000"/>
                  </a:lnSpc>
                </a:pPr>
                <a:endParaRPr lang="en-US" altLang="zh-CN" b="0" dirty="0"/>
              </a:p>
              <a:p>
                <a:pPr>
                  <a:lnSpc>
                    <a:spcPct val="125000"/>
                  </a:lnSpc>
                </a:pPr>
                <a:endParaRPr lang="en-US" altLang="zh-CN" b="0" dirty="0"/>
              </a:p>
              <a:p>
                <a:pPr>
                  <a:lnSpc>
                    <a:spcPct val="125000"/>
                  </a:lnSpc>
                </a:pPr>
                <a:endParaRPr lang="en-US" altLang="zh-CN" b="0" dirty="0"/>
              </a:p>
              <a:p>
                <a:pPr>
                  <a:lnSpc>
                    <a:spcPct val="125000"/>
                  </a:lnSpc>
                </a:pPr>
                <a:r>
                  <a:rPr lang="zh-CN" altLang="en-US" dirty="0"/>
                  <a:t>输出：</a:t>
                </a:r>
                <a:r>
                  <a:rPr lang="en-US" altLang="zh-CN" b="0" dirty="0"/>
                  <a:t>1</a:t>
                </a:r>
                <a:r>
                  <a:rPr lang="zh-CN" altLang="en-US" b="0" dirty="0"/>
                  <a:t>个归并段</a:t>
                </a:r>
                <a:r>
                  <a:rPr lang="en-US" altLang="zh-CN" b="0" dirty="0"/>
                  <a:t>(</a:t>
                </a:r>
                <a:r>
                  <a:rPr lang="zh-CN" altLang="en-US" b="0" dirty="0"/>
                  <a:t>输出文件流</a:t>
                </a:r>
                <a:r>
                  <a:rPr lang="en-US" altLang="zh-CN" b="0" dirty="0"/>
                  <a:t>)</a:t>
                </a:r>
                <a:r>
                  <a:rPr lang="zh-CN" altLang="en-US" b="0" dirty="0"/>
                  <a:t>。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D1796BE-96FB-4CB5-BEDF-1F12FDCB5C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89" t="-2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4">
                <a:extLst>
                  <a:ext uri="{FF2B5EF4-FFF2-40B4-BE49-F238E27FC236}">
                    <a16:creationId xmlns:a16="http://schemas.microsoft.com/office/drawing/2014/main" id="{A54628F4-9D45-41AF-9118-11EC381905D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68456825"/>
                  </p:ext>
                </p:extLst>
              </p:nvPr>
            </p:nvGraphicFramePr>
            <p:xfrm>
              <a:off x="762000" y="2667000"/>
              <a:ext cx="10515600" cy="2895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04160">
                      <a:extLst>
                        <a:ext uri="{9D8B030D-6E8A-4147-A177-3AD203B41FA5}">
                          <a16:colId xmlns:a16="http://schemas.microsoft.com/office/drawing/2014/main" val="6465530"/>
                        </a:ext>
                      </a:extLst>
                    </a:gridCol>
                    <a:gridCol w="7711440">
                      <a:extLst>
                        <a:ext uri="{9D8B030D-6E8A-4147-A177-3AD203B41FA5}">
                          <a16:colId xmlns:a16="http://schemas.microsoft.com/office/drawing/2014/main" val="409193090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最小值数组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归并段：待归并的有序输入文件流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52575068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b[1]=6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←  6  15  25  33  44  56  73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</m:t>
                              </m:r>
                            </m:oMath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3838064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b[2]=5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←  5  22  27  32  34  45  89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</m:t>
                              </m:r>
                            </m:oMath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7349999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⋯⋯</m:t>
                                </m:r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zh-CN" altLang="en-US" sz="32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微软雅黑" panose="020B0503020204020204" pitchFamily="34" charset="-122"/>
                                  </a:rPr>
                                  <m:t>⋯⋯</m:t>
                                </m:r>
                              </m:oMath>
                            </m:oMathPara>
                          </a14:m>
                          <a:endParaRPr lang="zh-CN" altLang="en-US" sz="32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61916306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b[k]=9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←  9  12  40  46  68  89  97  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⋯</m:t>
                              </m:r>
                            </m:oMath>
                          </a14:m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  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39480359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4">
                <a:extLst>
                  <a:ext uri="{FF2B5EF4-FFF2-40B4-BE49-F238E27FC236}">
                    <a16:creationId xmlns:a16="http://schemas.microsoft.com/office/drawing/2014/main" id="{A54628F4-9D45-41AF-9118-11EC381905D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68456825"/>
                  </p:ext>
                </p:extLst>
              </p:nvPr>
            </p:nvGraphicFramePr>
            <p:xfrm>
              <a:off x="762000" y="2667000"/>
              <a:ext cx="10515600" cy="2895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804160">
                      <a:extLst>
                        <a:ext uri="{9D8B030D-6E8A-4147-A177-3AD203B41FA5}">
                          <a16:colId xmlns:a16="http://schemas.microsoft.com/office/drawing/2014/main" val="6465530"/>
                        </a:ext>
                      </a:extLst>
                    </a:gridCol>
                    <a:gridCol w="7711440">
                      <a:extLst>
                        <a:ext uri="{9D8B030D-6E8A-4147-A177-3AD203B41FA5}">
                          <a16:colId xmlns:a16="http://schemas.microsoft.com/office/drawing/2014/main" val="4091930908"/>
                        </a:ext>
                      </a:extLst>
                    </a:gridCol>
                  </a:tblGrid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最小值数组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zh-CN" altLang="en-US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归并段：待归并的有序输入文件流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525750680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b[1]=6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6522" t="-112632" r="-237" b="-33473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83806444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b[2]=5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6522" t="-210417" r="-237" b="-2312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4999904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435" t="-313684" r="-275652" b="-1336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6522" t="-313684" r="-237" b="-13368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9163068"/>
                      </a:ext>
                    </a:extLst>
                  </a:tr>
                  <a:tr h="57912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3200" b="0" dirty="0">
                              <a:solidFill>
                                <a:schemeClr val="tx1"/>
                              </a:solidFill>
                              <a:latin typeface="微软雅黑" panose="020B0503020204020204" pitchFamily="34" charset="-122"/>
                              <a:ea typeface="微软雅黑" panose="020B0503020204020204" pitchFamily="34" charset="-122"/>
                            </a:rPr>
                            <a:t>b[k]=9</a:t>
                          </a:r>
                          <a:endParaRPr lang="zh-CN" altLang="en-US" sz="3200" b="0" dirty="0">
                            <a:solidFill>
                              <a:schemeClr val="tx1"/>
                            </a:solidFill>
                            <a:latin typeface="微软雅黑" panose="020B0503020204020204" pitchFamily="34" charset="-122"/>
                            <a:ea typeface="微软雅黑" panose="020B0503020204020204" pitchFamily="34" charset="-122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3"/>
                          <a:stretch>
                            <a:fillRect l="-36522" t="-413684" r="-237" b="-3368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39480359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7653778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3107BA-831B-4F97-AE11-F162255E9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用堆做多路归并</a:t>
            </a:r>
          </a:p>
        </p:txBody>
      </p:sp>
      <p:pic>
        <p:nvPicPr>
          <p:cNvPr id="7" name="内容占位符 6">
            <a:extLst>
              <a:ext uri="{FF2B5EF4-FFF2-40B4-BE49-F238E27FC236}">
                <a16:creationId xmlns:a16="http://schemas.microsoft.com/office/drawing/2014/main" id="{D2DDE286-1E2C-4658-B569-8A8B57D1CD5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253770"/>
            <a:ext cx="5689600" cy="2937230"/>
          </a:xfrm>
        </p:spPr>
      </p:pic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C7748400-D62A-41EB-A93E-1040A0D699F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6200" y="1219200"/>
            <a:ext cx="5689600" cy="2937230"/>
          </a:xfrm>
        </p:spPr>
      </p:pic>
      <p:graphicFrame>
        <p:nvGraphicFramePr>
          <p:cNvPr id="12" name="表格 12">
            <a:extLst>
              <a:ext uri="{FF2B5EF4-FFF2-40B4-BE49-F238E27FC236}">
                <a16:creationId xmlns:a16="http://schemas.microsoft.com/office/drawing/2014/main" id="{5016DF80-E897-428E-9B91-161823020C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4068867"/>
              </p:ext>
            </p:extLst>
          </p:nvPr>
        </p:nvGraphicFramePr>
        <p:xfrm>
          <a:off x="304800" y="4267200"/>
          <a:ext cx="7010400" cy="231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6885">
                  <a:extLst>
                    <a:ext uri="{9D8B030D-6E8A-4147-A177-3AD203B41FA5}">
                      <a16:colId xmlns:a16="http://schemas.microsoft.com/office/drawing/2014/main" val="244918171"/>
                    </a:ext>
                  </a:extLst>
                </a:gridCol>
                <a:gridCol w="3803515">
                  <a:extLst>
                    <a:ext uri="{9D8B030D-6E8A-4147-A177-3AD203B41FA5}">
                      <a16:colId xmlns:a16="http://schemas.microsoft.com/office/drawing/2014/main" val="22885196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3200" b="0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b[1]=11, 17, …</a:t>
                      </a:r>
                      <a:endParaRPr lang="zh-CN" altLang="en-US" sz="3200" b="0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3200" b="0" dirty="0">
                          <a:solidFill>
                            <a:schemeClr val="accent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b[4]=  7, </a:t>
                      </a:r>
                      <a:r>
                        <a:rPr lang="en-US" altLang="zh-CN" sz="3200" b="1" dirty="0">
                          <a:solidFill>
                            <a:schemeClr val="accent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26</a:t>
                      </a:r>
                      <a:r>
                        <a:rPr lang="en-US" altLang="zh-CN" sz="3200" b="0" dirty="0">
                          <a:solidFill>
                            <a:schemeClr val="accent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 …</a:t>
                      </a:r>
                      <a:endParaRPr lang="zh-CN" altLang="en-US" sz="3200" b="0" dirty="0">
                        <a:solidFill>
                          <a:schemeClr val="accent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51207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3200" b="0" dirty="0">
                          <a:solidFill>
                            <a:srgbClr val="FF7706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b[2]=28, 30, …</a:t>
                      </a:r>
                      <a:endParaRPr lang="zh-CN" altLang="en-US" sz="3200" b="0" dirty="0">
                        <a:solidFill>
                          <a:srgbClr val="FF770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3200" b="0" dirty="0">
                          <a:solidFill>
                            <a:srgbClr val="7030A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b[5]=25, 27, …</a:t>
                      </a:r>
                      <a:endParaRPr lang="zh-CN" altLang="en-US" sz="3200" b="0" dirty="0">
                        <a:solidFill>
                          <a:srgbClr val="7030A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2624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3200" b="0" dirty="0">
                          <a:solidFill>
                            <a:srgbClr val="0066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b[3]=13, 19, …</a:t>
                      </a:r>
                      <a:endParaRPr lang="zh-CN" altLang="en-US" sz="3200" b="0" dirty="0">
                        <a:solidFill>
                          <a:srgbClr val="0066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</a:t>
                      </a:r>
                      <a:r>
                        <a:rPr lang="zh-CN" altLang="en-US" sz="3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是堆</a:t>
                      </a:r>
                      <a:r>
                        <a:rPr lang="en-US" altLang="zh-CN" sz="3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</a:t>
                      </a:r>
                      <a:r>
                        <a:rPr lang="zh-CN" altLang="en-US" sz="3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初始时</a:t>
                      </a:r>
                      <a:r>
                        <a:rPr lang="en-US" altLang="zh-CN" sz="3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h[</a:t>
                      </a:r>
                      <a:r>
                        <a:rPr lang="en-US" altLang="zh-CN" sz="3200" b="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</a:t>
                      </a:r>
                      <a:r>
                        <a:rPr lang="en-US" altLang="zh-CN" sz="3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]=</a:t>
                      </a:r>
                      <a:r>
                        <a:rPr lang="en-US" altLang="zh-CN" sz="3200" b="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i</a:t>
                      </a:r>
                      <a:endParaRPr lang="zh-CN" altLang="en-US" sz="3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0117992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3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堆中节点实际存储的是</a:t>
                      </a:r>
                      <a:r>
                        <a:rPr lang="en-US" altLang="zh-CN" sz="3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</a:t>
                      </a:r>
                      <a:r>
                        <a:rPr lang="zh-CN" altLang="en-US" sz="3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的下标。</a:t>
                      </a:r>
                      <a:endParaRPr lang="zh-CN" altLang="en-US" sz="3200" b="0" dirty="0">
                        <a:solidFill>
                          <a:srgbClr val="0066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sz="3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3552720"/>
                  </a:ext>
                </a:extLst>
              </a:tr>
            </a:tbl>
          </a:graphicData>
        </a:graphic>
      </p:graphicFrame>
      <p:sp>
        <p:nvSpPr>
          <p:cNvPr id="14" name="文本框 13">
            <a:extLst>
              <a:ext uri="{FF2B5EF4-FFF2-40B4-BE49-F238E27FC236}">
                <a16:creationId xmlns:a16="http://schemas.microsoft.com/office/drawing/2014/main" id="{0909DDAA-E5AD-4A90-8E5E-E0EA33650C73}"/>
              </a:ext>
            </a:extLst>
          </p:cNvPr>
          <p:cNvSpPr txBox="1"/>
          <p:nvPr/>
        </p:nvSpPr>
        <p:spPr>
          <a:xfrm>
            <a:off x="8077200" y="4297740"/>
            <a:ext cx="3708066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自顶向下调整，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要调整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层，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每层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次比较。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怎样减少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次比较？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0C608BF-1AF8-4929-BF41-3DD22D969001}"/>
              </a:ext>
            </a:extLst>
          </p:cNvPr>
          <p:cNvSpPr txBox="1"/>
          <p:nvPr/>
        </p:nvSpPr>
        <p:spPr>
          <a:xfrm>
            <a:off x="3810000" y="1295400"/>
            <a:ext cx="12458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en-US" altLang="zh-CN" sz="32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endParaRPr lang="zh-CN" altLang="en-US" sz="32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882B8642-ACCC-44CD-95E2-3974865D8C99}"/>
              </a:ext>
            </a:extLst>
          </p:cNvPr>
          <p:cNvSpPr txBox="1"/>
          <p:nvPr/>
        </p:nvSpPr>
        <p:spPr>
          <a:xfrm>
            <a:off x="9906000" y="1219200"/>
            <a:ext cx="14863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</a:t>
            </a:r>
            <a:r>
              <a:rPr lang="en-US" altLang="zh-CN" sz="32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26</a:t>
            </a:r>
            <a:endParaRPr lang="zh-CN" altLang="en-US" sz="32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1407001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0D992C-03A6-4F19-B852-B4CBBB9D4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用胜者树做多路归并</a:t>
            </a:r>
          </a:p>
        </p:txBody>
      </p:sp>
      <p:pic>
        <p:nvPicPr>
          <p:cNvPr id="9" name="内容占位符 8">
            <a:extLst>
              <a:ext uri="{FF2B5EF4-FFF2-40B4-BE49-F238E27FC236}">
                <a16:creationId xmlns:a16="http://schemas.microsoft.com/office/drawing/2014/main" id="{8E87BD87-66F3-4F42-8805-E1526B3D16D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765" y="1295400"/>
            <a:ext cx="4807670" cy="4800600"/>
          </a:xfr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CDEF5F64-E6B1-4516-A77B-0CD84331ECA3}"/>
              </a:ext>
            </a:extLst>
          </p:cNvPr>
          <p:cNvSpPr txBox="1"/>
          <p:nvPr/>
        </p:nvSpPr>
        <p:spPr>
          <a:xfrm>
            <a:off x="3810000" y="1274565"/>
            <a:ext cx="124585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en-US" altLang="zh-CN" sz="3200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endParaRPr lang="zh-CN" altLang="en-US" sz="32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0B30C63-4E6F-4BB7-A778-939509768A51}"/>
              </a:ext>
            </a:extLst>
          </p:cNvPr>
          <p:cNvSpPr txBox="1"/>
          <p:nvPr/>
        </p:nvSpPr>
        <p:spPr>
          <a:xfrm>
            <a:off x="2974459" y="5313165"/>
            <a:ext cx="18261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值小者胜</a:t>
            </a:r>
            <a:endParaRPr lang="zh-CN" altLang="en-US" sz="3200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0" name="内容占位符 19">
            <a:extLst>
              <a:ext uri="{FF2B5EF4-FFF2-40B4-BE49-F238E27FC236}">
                <a16:creationId xmlns:a16="http://schemas.microsoft.com/office/drawing/2014/main" id="{EC69AF90-6B01-4266-A9C1-62A16827BFB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9673" y="1274565"/>
            <a:ext cx="5316717" cy="4800600"/>
          </a:xfrm>
        </p:spPr>
      </p:pic>
      <p:sp>
        <p:nvSpPr>
          <p:cNvPr id="21" name="文本框 20">
            <a:extLst>
              <a:ext uri="{FF2B5EF4-FFF2-40B4-BE49-F238E27FC236}">
                <a16:creationId xmlns:a16="http://schemas.microsoft.com/office/drawing/2014/main" id="{B12150ED-9F12-4C94-80D1-DA91102D7635}"/>
              </a:ext>
            </a:extLst>
          </p:cNvPr>
          <p:cNvSpPr txBox="1"/>
          <p:nvPr/>
        </p:nvSpPr>
        <p:spPr>
          <a:xfrm>
            <a:off x="8630722" y="4953000"/>
            <a:ext cx="264687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自底向上调整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每层比较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只和兄弟比较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18AD91D-ECD8-4FD3-BD76-A0EAE683DC10}"/>
              </a:ext>
            </a:extLst>
          </p:cNvPr>
          <p:cNvSpPr txBox="1"/>
          <p:nvPr/>
        </p:nvSpPr>
        <p:spPr>
          <a:xfrm>
            <a:off x="9829800" y="1219200"/>
            <a:ext cx="14863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en-US" altLang="zh-CN" sz="3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endParaRPr lang="zh-CN" altLang="en-US" sz="3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7015526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E078BA-9612-4F15-9C1D-5A8A63DC1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用败者树做归并</a:t>
            </a:r>
          </a:p>
        </p:txBody>
      </p:sp>
      <p:pic>
        <p:nvPicPr>
          <p:cNvPr id="18" name="内容占位符 17">
            <a:extLst>
              <a:ext uri="{FF2B5EF4-FFF2-40B4-BE49-F238E27FC236}">
                <a16:creationId xmlns:a16="http://schemas.microsoft.com/office/drawing/2014/main" id="{D696B81E-6D6F-4DE0-8741-0242F3B15EC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307811"/>
            <a:ext cx="4800601" cy="5307617"/>
          </a:xfrm>
        </p:spPr>
      </p:pic>
      <p:pic>
        <p:nvPicPr>
          <p:cNvPr id="21" name="内容占位符 20">
            <a:extLst>
              <a:ext uri="{FF2B5EF4-FFF2-40B4-BE49-F238E27FC236}">
                <a16:creationId xmlns:a16="http://schemas.microsoft.com/office/drawing/2014/main" id="{964E07CA-0653-42DF-B5F8-522C4F846E2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6026" y="1307811"/>
            <a:ext cx="4841573" cy="5296272"/>
          </a:xfrm>
        </p:spPr>
      </p:pic>
    </p:spTree>
    <p:extLst>
      <p:ext uri="{BB962C8B-B14F-4D97-AF65-F5344CB8AC3E}">
        <p14:creationId xmlns:p14="http://schemas.microsoft.com/office/powerpoint/2010/main" val="49234440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BBBEA3-9064-4D96-B489-69A5F8BCC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置换选择排序</a:t>
            </a:r>
            <a:r>
              <a:rPr lang="en-US" altLang="zh-CN" dirty="0"/>
              <a:t>-</a:t>
            </a:r>
            <a:r>
              <a:rPr lang="zh-CN" altLang="en-US" dirty="0"/>
              <a:t>减少初始归并段的数量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B7263A-700F-4BCB-A5BB-AB36AD4A58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基本思想：</a:t>
            </a:r>
            <a:r>
              <a:rPr lang="zh-CN" altLang="en-US" b="0" dirty="0"/>
              <a:t>使用树形选择排序；边输入、边输出。</a:t>
            </a:r>
            <a:endParaRPr lang="en-US" altLang="zh-CN" b="0" dirty="0"/>
          </a:p>
          <a:p>
            <a:r>
              <a:rPr lang="zh-CN" altLang="en-US" dirty="0"/>
              <a:t>具体做法</a:t>
            </a:r>
            <a:endParaRPr lang="en-US" altLang="zh-CN" dirty="0"/>
          </a:p>
          <a:p>
            <a:pPr lvl="1"/>
            <a:r>
              <a:rPr lang="zh-CN" altLang="en-US" dirty="0"/>
              <a:t>用树形选择排序选出最小值。</a:t>
            </a:r>
            <a:endParaRPr lang="en-US" altLang="zh-CN" dirty="0"/>
          </a:p>
          <a:p>
            <a:pPr lvl="1"/>
            <a:r>
              <a:rPr lang="zh-CN" altLang="en-US" dirty="0"/>
              <a:t>输出最小值，把输出的数作为</a:t>
            </a:r>
            <a:r>
              <a:rPr lang="en-US" altLang="zh-CN" dirty="0" err="1"/>
              <a:t>miniMax</a:t>
            </a:r>
            <a:r>
              <a:rPr lang="zh-CN" altLang="en-US" dirty="0"/>
              <a:t>标记。</a:t>
            </a:r>
            <a:endParaRPr lang="en-US" altLang="zh-CN" dirty="0"/>
          </a:p>
          <a:p>
            <a:pPr lvl="1"/>
            <a:r>
              <a:rPr lang="zh-CN" altLang="en-US" dirty="0"/>
              <a:t>输入一个数，如果此数比</a:t>
            </a:r>
            <a:r>
              <a:rPr lang="en-US" altLang="zh-CN" dirty="0" err="1"/>
              <a:t>miniMax</a:t>
            </a:r>
            <a:r>
              <a:rPr lang="zh-CN" altLang="en-US" dirty="0"/>
              <a:t>小，则不参与树形选择。</a:t>
            </a:r>
            <a:endParaRPr lang="en-US" altLang="zh-CN" dirty="0"/>
          </a:p>
          <a:p>
            <a:pPr lvl="1"/>
            <a:r>
              <a:rPr lang="zh-CN" altLang="en-US" dirty="0"/>
              <a:t>下次只输出比</a:t>
            </a:r>
            <a:r>
              <a:rPr lang="en-US" altLang="zh-CN" dirty="0" err="1"/>
              <a:t>miniMax</a:t>
            </a:r>
            <a:r>
              <a:rPr lang="zh-CN" altLang="en-US" dirty="0"/>
              <a:t>大的最小数，保证初始归并段有序。</a:t>
            </a:r>
            <a:endParaRPr lang="en-US" altLang="zh-CN" dirty="0"/>
          </a:p>
          <a:p>
            <a:pPr lvl="1"/>
            <a:r>
              <a:rPr lang="zh-CN" altLang="en-US" dirty="0"/>
              <a:t>当找不到比</a:t>
            </a:r>
            <a:r>
              <a:rPr lang="en-US" altLang="zh-CN" dirty="0" err="1"/>
              <a:t>miniMax</a:t>
            </a:r>
            <a:r>
              <a:rPr lang="zh-CN" altLang="en-US" dirty="0"/>
              <a:t>大的数时，重新开始输出新的归并段。</a:t>
            </a:r>
          </a:p>
        </p:txBody>
      </p:sp>
    </p:spTree>
    <p:extLst>
      <p:ext uri="{BB962C8B-B14F-4D97-AF65-F5344CB8AC3E}">
        <p14:creationId xmlns:p14="http://schemas.microsoft.com/office/powerpoint/2010/main" val="318885305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E5B5F164-396E-48CC-80E8-048E6571E8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1567637"/>
              </p:ext>
            </p:extLst>
          </p:nvPr>
        </p:nvGraphicFramePr>
        <p:xfrm>
          <a:off x="304800" y="502920"/>
          <a:ext cx="11582400" cy="627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881183469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908725625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47978775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输出流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内存工作区</a:t>
                      </a:r>
                      <a:endParaRPr lang="en-US" altLang="zh-CN" sz="3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/>
                      <a:r>
                        <a:rPr lang="zh-CN" altLang="en-US" sz="3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设只能存</a:t>
                      </a:r>
                      <a:r>
                        <a:rPr lang="en-US" altLang="zh-CN" sz="3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  <a:r>
                        <a:rPr lang="zh-CN" altLang="en-US" sz="3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个关键字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输入流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27214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zh-CN" altLang="en-US" sz="3200" b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endParaRPr lang="zh-CN" altLang="en-US" sz="3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200" b="0" dirty="0">
                          <a:solidFill>
                            <a:schemeClr val="accent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51,49,39,46,38,29</a:t>
                      </a:r>
                      <a:r>
                        <a:rPr lang="en-US" altLang="zh-CN" sz="3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,14,61, …</a:t>
                      </a:r>
                      <a:endParaRPr lang="zh-CN" altLang="en-US" sz="3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30367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endParaRPr lang="zh-CN" altLang="en-US" sz="3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51,49,39,46,38,</a:t>
                      </a:r>
                      <a:r>
                        <a:rPr lang="en-US" altLang="zh-CN" sz="32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29</a:t>
                      </a:r>
                      <a:endParaRPr lang="zh-CN" altLang="en-US" sz="3200" b="1" dirty="0">
                        <a:solidFill>
                          <a:srgbClr val="FF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14,61,15,30,1,48,52,3,63, …</a:t>
                      </a:r>
                      <a:endParaRPr lang="zh-CN" altLang="en-US" sz="3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8136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3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29</a:t>
                      </a:r>
                      <a:endParaRPr lang="zh-CN" altLang="en-US" sz="3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51,49,39,46,38,</a:t>
                      </a:r>
                      <a:endParaRPr lang="zh-CN" altLang="en-US" sz="3200" b="1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200" b="0" dirty="0">
                          <a:solidFill>
                            <a:schemeClr val="accent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</a:t>
                      </a:r>
                      <a:r>
                        <a:rPr lang="en-US" altLang="zh-CN" sz="3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,61,15,30,1,48,52,3,63, …</a:t>
                      </a:r>
                      <a:endParaRPr lang="zh-CN" altLang="en-US" sz="3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5088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3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29</a:t>
                      </a:r>
                      <a:endParaRPr lang="zh-CN" altLang="en-US" sz="3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51,49,39,46,38,</a:t>
                      </a:r>
                      <a:r>
                        <a:rPr lang="en-US" altLang="zh-CN" sz="3200" b="1" dirty="0">
                          <a:solidFill>
                            <a:schemeClr val="accent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</a:t>
                      </a:r>
                      <a:endParaRPr lang="zh-CN" altLang="en-US" sz="3200" b="1" dirty="0">
                        <a:solidFill>
                          <a:schemeClr val="accent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61,15,30,1,48,52,3,63,27, …</a:t>
                      </a:r>
                      <a:endParaRPr lang="zh-CN" altLang="en-US" sz="3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802403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3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29</a:t>
                      </a:r>
                      <a:endParaRPr lang="zh-CN" altLang="en-US" sz="3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51,49,39,46,</a:t>
                      </a:r>
                      <a:r>
                        <a:rPr lang="en-US" altLang="zh-CN" sz="32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38</a:t>
                      </a:r>
                      <a:r>
                        <a:rPr lang="en-US" altLang="zh-CN" sz="3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</a:t>
                      </a:r>
                      <a:r>
                        <a:rPr lang="en-US" altLang="zh-CN" sz="32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</a:t>
                      </a:r>
                      <a:endParaRPr lang="zh-CN" altLang="en-US" sz="32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61,15,30,1,48,52,3,63,27, …</a:t>
                      </a:r>
                      <a:endParaRPr lang="zh-CN" altLang="en-US" sz="3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48588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3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29,38</a:t>
                      </a:r>
                      <a:endParaRPr lang="zh-CN" altLang="en-US" sz="3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51,49,39,46,    ,</a:t>
                      </a:r>
                      <a:r>
                        <a:rPr lang="en-US" altLang="zh-CN" sz="32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</a:t>
                      </a:r>
                      <a:endParaRPr lang="zh-CN" altLang="en-US" sz="32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200" b="0" dirty="0">
                          <a:solidFill>
                            <a:schemeClr val="accent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61</a:t>
                      </a:r>
                      <a:r>
                        <a:rPr lang="en-US" altLang="zh-CN" sz="3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,15,30,1,48,52,3,63,27, …</a:t>
                      </a:r>
                      <a:endParaRPr lang="zh-CN" altLang="en-US" sz="3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364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3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29,38</a:t>
                      </a:r>
                      <a:endParaRPr lang="zh-CN" altLang="en-US" sz="3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51,49,39,46,</a:t>
                      </a:r>
                      <a:r>
                        <a:rPr lang="en-US" altLang="zh-CN" sz="3200" b="1" dirty="0">
                          <a:solidFill>
                            <a:schemeClr val="accent2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61</a:t>
                      </a:r>
                      <a:r>
                        <a:rPr lang="en-US" altLang="zh-CN" sz="3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</a:t>
                      </a:r>
                      <a:r>
                        <a:rPr lang="en-US" altLang="zh-CN" sz="32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</a:t>
                      </a:r>
                      <a:endParaRPr lang="zh-CN" altLang="en-US" sz="32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15,30,1,48,52,3,63,27,12, …</a:t>
                      </a:r>
                      <a:endParaRPr lang="zh-CN" altLang="en-US" sz="3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68855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3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29,38</a:t>
                      </a:r>
                      <a:endParaRPr lang="zh-CN" altLang="en-US" sz="3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51,49,</a:t>
                      </a:r>
                      <a:r>
                        <a:rPr lang="en-US" altLang="zh-CN" sz="3200" b="1" dirty="0">
                          <a:solidFill>
                            <a:srgbClr val="FF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39</a:t>
                      </a:r>
                      <a:r>
                        <a:rPr lang="en-US" altLang="zh-CN" sz="3200" b="1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,46,61,</a:t>
                      </a:r>
                      <a:r>
                        <a:rPr lang="en-US" altLang="zh-CN" sz="32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</a:t>
                      </a:r>
                      <a:endParaRPr lang="zh-CN" altLang="en-US" sz="32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15,30,1,48,52,3,63,27,12, …</a:t>
                      </a:r>
                      <a:endParaRPr lang="zh-CN" altLang="en-US" sz="3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41932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3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……</a:t>
                      </a:r>
                      <a:endParaRPr lang="zh-CN" altLang="en-US" sz="3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2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……</a:t>
                      </a:r>
                      <a:endParaRPr lang="zh-CN" altLang="en-US" sz="32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2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……</a:t>
                      </a:r>
                      <a:endParaRPr lang="zh-CN" altLang="en-US" sz="3200" b="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79740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219318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3399E0-5776-4F8A-93D5-D1D53B149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扫雪机定理 </a:t>
            </a:r>
            <a:r>
              <a:rPr lang="en-US" altLang="zh-CN" dirty="0"/>
              <a:t>[Moore 1961]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3A0B0F1-F531-4216-A82F-99FD42FFA2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371600"/>
            <a:ext cx="11582400" cy="1295400"/>
          </a:xfrm>
        </p:spPr>
        <p:txBody>
          <a:bodyPr/>
          <a:lstStyle/>
          <a:p>
            <a:pPr>
              <a:lnSpc>
                <a:spcPct val="125000"/>
              </a:lnSpc>
            </a:pPr>
            <a:r>
              <a:rPr lang="zh-CN" altLang="en-US" dirty="0"/>
              <a:t>定理：</a:t>
            </a:r>
            <a:r>
              <a:rPr lang="zh-CN" altLang="en-US" b="0" dirty="0"/>
              <a:t>设置换选择排序的内存工作区大小为</a:t>
            </a:r>
            <a:r>
              <a:rPr lang="en-US" altLang="zh-CN" b="0" dirty="0"/>
              <a:t>w</a:t>
            </a:r>
            <a:r>
              <a:rPr lang="zh-CN" altLang="en-US" b="0" dirty="0"/>
              <a:t>个关键字，当输入的关键字是随机数时，所得初始归并段的平均长度为</a:t>
            </a:r>
            <a:r>
              <a:rPr lang="en-US" altLang="zh-CN" b="0" dirty="0"/>
              <a:t>2w</a:t>
            </a:r>
            <a:r>
              <a:rPr lang="zh-CN" altLang="en-US" b="0" dirty="0"/>
              <a:t>。</a:t>
            </a:r>
            <a:endParaRPr lang="en-US" altLang="zh-CN" b="0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73A1B9F2-8BC4-44DD-9EE3-D4E91A271F5F}"/>
              </a:ext>
            </a:extLst>
          </p:cNvPr>
          <p:cNvSpPr txBox="1">
            <a:spLocks/>
          </p:cNvSpPr>
          <p:nvPr/>
        </p:nvSpPr>
        <p:spPr bwMode="auto">
          <a:xfrm>
            <a:off x="304800" y="2590800"/>
            <a:ext cx="50292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2">
                  <a:lumMod val="75000"/>
                </a:schemeClr>
              </a:buClr>
              <a:buSzPct val="80000"/>
              <a:buFont typeface="Wingdings" panose="05000000000000000000" pitchFamily="2" charset="2"/>
              <a:buChar char="n"/>
              <a:defRPr lang="en-US" altLang="zh-CN" sz="3200" b="1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742950" indent="-285750" algn="l" rtl="0" eaLnBrk="0" fontAlgn="base" hangingPunct="0">
              <a:lnSpc>
                <a:spcPct val="125000"/>
              </a:lnSpc>
              <a:spcBef>
                <a:spcPts val="0"/>
              </a:spcBef>
              <a:spcAft>
                <a:spcPct val="0"/>
              </a:spcAft>
              <a:buClr>
                <a:srgbClr val="FF0000"/>
              </a:buClr>
              <a:buSzPct val="60000"/>
              <a:buFont typeface="Wingdings" panose="05000000000000000000" pitchFamily="2" charset="2"/>
              <a:buChar char="u"/>
              <a:defRPr lang="en-US" altLang="zh-CN" sz="32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1085850" indent="-228600" algn="l" rtl="0" eaLnBrk="0" fontAlgn="base" hangingPunct="0">
              <a:lnSpc>
                <a:spcPct val="120000"/>
              </a:lnSpc>
              <a:spcBef>
                <a:spcPts val="0"/>
              </a:spcBef>
              <a:spcAft>
                <a:spcPct val="0"/>
              </a:spcAft>
              <a:buClr>
                <a:schemeClr val="accent2">
                  <a:lumMod val="75000"/>
                </a:schemeClr>
              </a:buClr>
              <a:buSzPct val="80000"/>
              <a:buFont typeface="Wingdings" panose="05000000000000000000" pitchFamily="2" charset="2"/>
              <a:buChar char="Ø"/>
              <a:defRPr lang="en-US" altLang="zh-CN" sz="32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428750" indent="-228600" algn="l" rtl="0" eaLnBrk="0" fontAlgn="base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har char="–"/>
              <a:defRPr lang="en-US" altLang="zh-CN" sz="2000" b="1">
                <a:solidFill>
                  <a:schemeClr val="accent6">
                    <a:lumMod val="75000"/>
                  </a:schemeClr>
                </a:solidFill>
                <a:latin typeface="+mn-lt"/>
              </a:defRPr>
            </a:lvl4pPr>
            <a:lvl5pPr marL="1771650" indent="-228600" algn="l" rtl="0" eaLnBrk="0" fontAlgn="base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Char char="•"/>
              <a:defRPr lang="en-US" altLang="zh-CN" sz="1600" b="1">
                <a:solidFill>
                  <a:schemeClr val="accent6">
                    <a:lumMod val="75000"/>
                  </a:schemeClr>
                </a:solidFill>
                <a:latin typeface="+mn-lt"/>
              </a:defRPr>
            </a:lvl5pPr>
            <a:lvl6pPr marL="22288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+mn-lt"/>
              </a:defRPr>
            </a:lvl6pPr>
            <a:lvl7pPr marL="26860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+mn-lt"/>
              </a:defRPr>
            </a:lvl7pPr>
            <a:lvl8pPr marL="31432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+mn-lt"/>
              </a:defRPr>
            </a:lvl8pPr>
            <a:lvl9pPr marL="360045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16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zh-CN" altLang="en-US" kern="0" dirty="0"/>
              <a:t>扫雪机模型</a:t>
            </a:r>
          </a:p>
          <a:p>
            <a:pPr lvl="1"/>
            <a:r>
              <a:rPr lang="zh-CN" altLang="en-US" kern="0" dirty="0"/>
              <a:t>平衡时积雪总量不变。</a:t>
            </a:r>
          </a:p>
          <a:p>
            <a:pPr lvl="1"/>
            <a:r>
              <a:rPr lang="zh-CN" altLang="en-US" kern="0" dirty="0"/>
              <a:t>关键字如均匀下的雪。</a:t>
            </a:r>
          </a:p>
          <a:p>
            <a:pPr lvl="1"/>
            <a:r>
              <a:rPr lang="zh-CN" altLang="en-US" kern="0" dirty="0"/>
              <a:t>比</a:t>
            </a:r>
            <a:r>
              <a:rPr lang="en-US" altLang="zh-CN" kern="0" dirty="0" err="1"/>
              <a:t>miniMax</a:t>
            </a:r>
            <a:r>
              <a:rPr lang="zh-CN" altLang="en-US" kern="0" dirty="0"/>
              <a:t>小的落在扫雪机之后，属于下</a:t>
            </a:r>
            <a:endParaRPr lang="en-US" altLang="zh-CN" kern="0" dirty="0"/>
          </a:p>
          <a:p>
            <a:pPr marL="457200" lvl="1" indent="0">
              <a:buNone/>
            </a:pPr>
            <a:r>
              <a:rPr lang="en-US" altLang="zh-CN" kern="0" dirty="0"/>
              <a:t>   </a:t>
            </a:r>
            <a:r>
              <a:rPr lang="zh-CN" altLang="en-US" kern="0" dirty="0"/>
              <a:t>一个归并段。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225A9EA-F1CF-4DC6-B164-EF6D522A43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0201" y="2819401"/>
            <a:ext cx="6436936" cy="25908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2DDA0DD-BEAD-4FF5-9860-F9B6EBCADF98}"/>
                  </a:ext>
                </a:extLst>
              </p:cNvPr>
              <p:cNvSpPr txBox="1"/>
              <p:nvPr/>
            </p:nvSpPr>
            <p:spPr>
              <a:xfrm>
                <a:off x="5664024" y="5638800"/>
                <a:ext cx="5893152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200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扫雪量</m:t>
                      </m:r>
                      <m:r>
                        <a:rPr lang="en-US" altLang="zh-CN" sz="3200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</m:t>
                      </m:r>
                      <m:r>
                        <a:rPr lang="en-US" altLang="zh-CN" sz="3200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h𝑙</m:t>
                      </m:r>
                      <m:r>
                        <a:rPr lang="en-US" altLang="zh-CN" sz="3200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=2∗</m:t>
                      </m:r>
                      <m:r>
                        <a:rPr lang="zh-CN" altLang="en-US" sz="3200" i="1" dirty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积雪量</m:t>
                      </m:r>
                      <m:r>
                        <a:rPr lang="en-US" altLang="zh-CN" sz="3200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=2</m:t>
                      </m:r>
                      <m:r>
                        <a:rPr lang="en-US" altLang="zh-CN" sz="3200" b="0" i="1" dirty="0" smtClean="0">
                          <a:latin typeface="Cambria Math" panose="02040503050406030204" pitchFamily="18" charset="0"/>
                          <a:ea typeface="微软雅黑" panose="020B0503020204020204" pitchFamily="34" charset="-122"/>
                        </a:rPr>
                        <m:t>𝑤</m:t>
                      </m:r>
                    </m:oMath>
                  </m:oMathPara>
                </a14:m>
                <a:endParaRPr lang="zh-CN" altLang="en-US" sz="32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42DDA0DD-BEAD-4FF5-9860-F9B6EBCADF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4024" y="5638800"/>
                <a:ext cx="5893152" cy="58477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6161959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776248-359B-4BE6-A05E-98D599809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最佳归并树</a:t>
            </a:r>
            <a:r>
              <a:rPr lang="en-US" altLang="zh-CN" dirty="0"/>
              <a:t>-k</a:t>
            </a:r>
            <a:r>
              <a:rPr lang="zh-CN" altLang="en-US" dirty="0"/>
              <a:t>叉哈夫曼树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5E1508E-724C-468B-8A5D-F37F90D6BD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4800" y="1524000"/>
            <a:ext cx="4648200" cy="4800600"/>
          </a:xfrm>
        </p:spPr>
        <p:txBody>
          <a:bodyPr/>
          <a:lstStyle/>
          <a:p>
            <a:r>
              <a:rPr lang="zh-CN" altLang="en-US" dirty="0"/>
              <a:t>问题：</a:t>
            </a:r>
            <a:r>
              <a:rPr lang="zh-CN" altLang="en-US" b="0" dirty="0"/>
              <a:t>置换选择排序输出的初始归并段长度不等，怎样归并最佳？</a:t>
            </a:r>
            <a:endParaRPr lang="en-US" altLang="zh-CN" b="0" dirty="0"/>
          </a:p>
          <a:p>
            <a:r>
              <a:rPr lang="zh-CN" altLang="en-US" dirty="0"/>
              <a:t>解决：</a:t>
            </a:r>
            <a:r>
              <a:rPr lang="zh-CN" altLang="en-US" b="0" dirty="0"/>
              <a:t>把归并段的长度作为权值，构造</a:t>
            </a:r>
            <a:r>
              <a:rPr lang="en-US" altLang="zh-CN" b="0" dirty="0"/>
              <a:t>k</a:t>
            </a:r>
            <a:r>
              <a:rPr lang="zh-CN" altLang="en-US" b="0" dirty="0"/>
              <a:t>叉哈夫曼树，即得最佳归并树。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08CF4BA2-CA74-41EB-8B2E-0E9262B7E69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8849" y="1524000"/>
            <a:ext cx="6325951" cy="4800600"/>
          </a:xfrm>
        </p:spPr>
      </p:pic>
    </p:spTree>
    <p:extLst>
      <p:ext uri="{BB962C8B-B14F-4D97-AF65-F5344CB8AC3E}">
        <p14:creationId xmlns:p14="http://schemas.microsoft.com/office/powerpoint/2010/main" val="418857824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5F11AC-A989-41A1-A64A-76B146FCF8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sz="9600" dirty="0"/>
              <a:t>Thank you</a:t>
            </a:r>
            <a:endParaRPr lang="zh-CN" altLang="en-US" sz="9600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7E58EDB-3B7D-468C-BC83-DD6A1C8F96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sz="9600" dirty="0"/>
              <a:t>Questions</a:t>
            </a:r>
            <a:endParaRPr lang="zh-CN" altLang="en-US" sz="9600" dirty="0"/>
          </a:p>
        </p:txBody>
      </p:sp>
    </p:spTree>
    <p:extLst>
      <p:ext uri="{BB962C8B-B14F-4D97-AF65-F5344CB8AC3E}">
        <p14:creationId xmlns:p14="http://schemas.microsoft.com/office/powerpoint/2010/main" val="2169326287"/>
      </p:ext>
    </p:extLst>
  </p:cSld>
  <p:clrMapOvr>
    <a:masterClrMapping/>
  </p:clrMapOvr>
</p:sld>
</file>

<file path=ppt/theme/theme1.xml><?xml version="1.0" encoding="utf-8"?>
<a:theme xmlns:a="http://schemas.openxmlformats.org/drawingml/2006/main" name="tm2">
  <a:themeElements>
    <a:clrScheme name="tm2 5">
      <a:dk1>
        <a:srgbClr val="000000"/>
      </a:dk1>
      <a:lt1>
        <a:srgbClr val="FFFFFF"/>
      </a:lt1>
      <a:dk2>
        <a:srgbClr val="000000"/>
      </a:dk2>
      <a:lt2>
        <a:srgbClr val="9F9F9F"/>
      </a:lt2>
      <a:accent1>
        <a:srgbClr val="FFCC66"/>
      </a:accent1>
      <a:accent2>
        <a:srgbClr val="0000FF"/>
      </a:accent2>
      <a:accent3>
        <a:srgbClr val="FFFFFF"/>
      </a:accent3>
      <a:accent4>
        <a:srgbClr val="000000"/>
      </a:accent4>
      <a:accent5>
        <a:srgbClr val="FFE2B8"/>
      </a:accent5>
      <a:accent6>
        <a:srgbClr val="0000E7"/>
      </a:accent6>
      <a:hlink>
        <a:srgbClr val="CC00CC"/>
      </a:hlink>
      <a:folHlink>
        <a:srgbClr val="C0C0C0"/>
      </a:folHlink>
    </a:clrScheme>
    <a:fontScheme name="tm2">
      <a:majorFont>
        <a:latin typeface="Arial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tm2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m2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tm2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m2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m2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m2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tm2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Slipstream</Template>
  <TotalTime>11764</TotalTime>
  <Words>5263</Words>
  <Application>Microsoft Office PowerPoint</Application>
  <PresentationFormat>宽屏</PresentationFormat>
  <Paragraphs>747</Paragraphs>
  <Slides>65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65</vt:i4>
      </vt:variant>
    </vt:vector>
  </HeadingPairs>
  <TitlesOfParts>
    <vt:vector size="73" baseType="lpstr">
      <vt:lpstr>黑体</vt:lpstr>
      <vt:lpstr>微软雅黑</vt:lpstr>
      <vt:lpstr>Arial</vt:lpstr>
      <vt:lpstr>Cambria Math</vt:lpstr>
      <vt:lpstr>Century</vt:lpstr>
      <vt:lpstr>Times New Roman</vt:lpstr>
      <vt:lpstr>Wingdings</vt:lpstr>
      <vt:lpstr>tm2</vt:lpstr>
      <vt:lpstr>第九章  排序</vt:lpstr>
      <vt:lpstr>排序的基本概念</vt:lpstr>
      <vt:lpstr>插入类排序</vt:lpstr>
      <vt:lpstr>希尔排序[Donald Shell，1959]</vt:lpstr>
      <vt:lpstr>希尔排序的实现1/2</vt:lpstr>
      <vt:lpstr>希尔排序的实现2/2</vt:lpstr>
      <vt:lpstr>希尔排序的时间复杂度</vt:lpstr>
      <vt:lpstr>交换类排序</vt:lpstr>
      <vt:lpstr>快速排序 [Hoare1960，1980图灵奖]</vt:lpstr>
      <vt:lpstr>快速排序的实现1/5</vt:lpstr>
      <vt:lpstr>快速排序的实现2/5</vt:lpstr>
      <vt:lpstr>快速排序的实现3/5</vt:lpstr>
      <vt:lpstr>快速排序的实现4/5</vt:lpstr>
      <vt:lpstr>快速排序的实现5/5</vt:lpstr>
      <vt:lpstr>快速排序的时间复杂度</vt:lpstr>
      <vt:lpstr>PowerPoint 演示文稿</vt:lpstr>
      <vt:lpstr>PowerPoint 演示文稿</vt:lpstr>
      <vt:lpstr>PowerPoint 演示文稿</vt:lpstr>
      <vt:lpstr>PowerPoint 演示文稿</vt:lpstr>
      <vt:lpstr>Median-of-Three Quicksort</vt:lpstr>
      <vt:lpstr>快速排序的时间复杂度[Sedgewick 1975]</vt:lpstr>
      <vt:lpstr>选择类排序</vt:lpstr>
      <vt:lpstr>树形选择排序(锦标赛排序)</vt:lpstr>
      <vt:lpstr>锦标赛算法</vt:lpstr>
      <vt:lpstr>堆排序 [Floyd and Williams,1964]</vt:lpstr>
      <vt:lpstr>重建堆1/4</vt:lpstr>
      <vt:lpstr>重建堆2/4</vt:lpstr>
      <vt:lpstr>重建堆3/4</vt:lpstr>
      <vt:lpstr>重建堆4/4</vt:lpstr>
      <vt:lpstr>筛选的实现1/2</vt:lpstr>
      <vt:lpstr>筛选的实现2/2</vt:lpstr>
      <vt:lpstr>初建堆</vt:lpstr>
      <vt:lpstr>初建堆的实现</vt:lpstr>
      <vt:lpstr>堆排序的实现</vt:lpstr>
      <vt:lpstr>堆排序的时间复杂度</vt:lpstr>
      <vt:lpstr>归并排序 [John von Neumann,1945]</vt:lpstr>
      <vt:lpstr>归并排序的实现1/3</vt:lpstr>
      <vt:lpstr>归并排序的实现2/3</vt:lpstr>
      <vt:lpstr>归并排序的实现3/3</vt:lpstr>
      <vt:lpstr>归并排序的时间复杂度1/2</vt:lpstr>
      <vt:lpstr>归并排序的时间复杂度2/2</vt:lpstr>
      <vt:lpstr>各种基于比较的排序</vt:lpstr>
      <vt:lpstr>比较次数的理论下界</vt:lpstr>
      <vt:lpstr>比较次数的理论下界：⌈〖log〗_2⁡n! ⌉</vt:lpstr>
      <vt:lpstr>对理论下界的追求</vt:lpstr>
      <vt:lpstr>计数排序</vt:lpstr>
      <vt:lpstr>计数排序的伪代码描述</vt:lpstr>
      <vt:lpstr>基数排序</vt:lpstr>
      <vt:lpstr>基数排序算法及性能</vt:lpstr>
      <vt:lpstr>基数排序的实现1/3</vt:lpstr>
      <vt:lpstr>基数排序的实现2/3</vt:lpstr>
      <vt:lpstr>基数排序的实现3/3</vt:lpstr>
      <vt:lpstr>多关键字排序</vt:lpstr>
      <vt:lpstr>现代排序算法</vt:lpstr>
      <vt:lpstr>外部排序</vt:lpstr>
      <vt:lpstr>外部排序时间</vt:lpstr>
      <vt:lpstr>多路归并</vt:lpstr>
      <vt:lpstr>用堆做多路归并</vt:lpstr>
      <vt:lpstr>用胜者树做多路归并</vt:lpstr>
      <vt:lpstr>用败者树做归并</vt:lpstr>
      <vt:lpstr>置换选择排序-减少初始归并段的数量</vt:lpstr>
      <vt:lpstr>PowerPoint 演示文稿</vt:lpstr>
      <vt:lpstr>扫雪机定理 [Moore 1961]</vt:lpstr>
      <vt:lpstr>最佳归并树-k叉哈夫曼树</vt:lpstr>
      <vt:lpstr>Thank you</vt:lpstr>
    </vt:vector>
  </TitlesOfParts>
  <Company>Publication Services, Inc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K. N. King</dc:creator>
  <cp:lastModifiedBy>xue zhang</cp:lastModifiedBy>
  <cp:revision>1455</cp:revision>
  <cp:lastPrinted>2024-02-25T10:13:42Z</cp:lastPrinted>
  <dcterms:created xsi:type="dcterms:W3CDTF">1999-08-24T18:39:05Z</dcterms:created>
  <dcterms:modified xsi:type="dcterms:W3CDTF">2025-06-04T03:34:36Z</dcterms:modified>
</cp:coreProperties>
</file>