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8"/>
  </p:notesMasterIdLst>
  <p:handoutMasterIdLst>
    <p:handoutMasterId r:id="rId9"/>
  </p:handoutMasterIdLst>
  <p:sldIdLst>
    <p:sldId id="419" r:id="rId2"/>
    <p:sldId id="263" r:id="rId3"/>
    <p:sldId id="400" r:id="rId4"/>
    <p:sldId id="416" r:id="rId5"/>
    <p:sldId id="264" r:id="rId6"/>
    <p:sldId id="417" r:id="rId7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33"/>
    <a:srgbClr val="660033"/>
    <a:srgbClr val="006600"/>
    <a:srgbClr val="C6A02E"/>
    <a:srgbClr val="B82F25"/>
    <a:srgbClr val="6DBFAB"/>
    <a:srgbClr val="FF7706"/>
    <a:srgbClr val="FF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4" autoAdjust="0"/>
    <p:restoredTop sz="94660"/>
  </p:normalViewPr>
  <p:slideViewPr>
    <p:cSldViewPr>
      <p:cViewPr varScale="1">
        <p:scale>
          <a:sx n="85" d="100"/>
          <a:sy n="85" d="100"/>
        </p:scale>
        <p:origin x="54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39" d="100"/>
          <a:sy n="39" d="100"/>
        </p:scale>
        <p:origin x="2386" y="62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8F26BC-7BC4-4E81-856A-C803AC3A2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6C85D-8214-4E69-93B1-C7927D703D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11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6664E-1BF0-46AE-AAC0-8104A4986E05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25ABF-C6A2-43A4-994B-70B5FF683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813771-266C-4568-83F5-7D86B4D52A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11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5DD2-4AED-427E-8312-F2C1EDAA2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2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54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974" y="4714549"/>
            <a:ext cx="4983728" cy="44683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54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60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314450" indent="-4572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0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lang="en-US" sz="3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lang="en-US" sz="32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99003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+mn-ea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54CE7-1483-7336-EF0A-B005A551D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057400"/>
            <a:ext cx="11887200" cy="3584574"/>
          </a:xfrm>
        </p:spPr>
        <p:txBody>
          <a:bodyPr/>
          <a:lstStyle/>
          <a:p>
            <a:r>
              <a:rPr lang="zh-CN" altLang="en-US" sz="9600" dirty="0"/>
              <a:t>坐在最后一排的同学</a:t>
            </a:r>
            <a:br>
              <a:rPr lang="en-US" altLang="zh-CN" sz="9600" dirty="0"/>
            </a:br>
            <a:r>
              <a:rPr lang="zh-CN" altLang="en-US" sz="9600" dirty="0"/>
              <a:t>将回答老师的提问</a:t>
            </a:r>
          </a:p>
        </p:txBody>
      </p:sp>
    </p:spTree>
    <p:extLst>
      <p:ext uri="{BB962C8B-B14F-4D97-AF65-F5344CB8AC3E}">
        <p14:creationId xmlns:p14="http://schemas.microsoft.com/office/powerpoint/2010/main" val="1107543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FFD2-C759-4331-B2C5-BD27D3F87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程序设计与算法基础</a:t>
            </a:r>
            <a:r>
              <a:rPr lang="en-US" altLang="zh-CN" dirty="0"/>
              <a:t>II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8536A-F4C9-408B-A1C2-8B253B47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altLang="zh-CN" dirty="0"/>
              <a:t>zhangxue@uestc.edu.cn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81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9F1E6-8DEE-4EB5-9F20-1455C2A4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上学期程算</a:t>
            </a:r>
            <a:r>
              <a:rPr lang="en-US" altLang="zh-CN" dirty="0"/>
              <a:t>1</a:t>
            </a:r>
            <a:r>
              <a:rPr lang="zh-CN" altLang="en-US" dirty="0"/>
              <a:t>成绩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86190F-AB92-4F29-B49F-088DD1966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60929"/>
            <a:ext cx="11582400" cy="5181600"/>
          </a:xfrm>
        </p:spPr>
        <p:txBody>
          <a:bodyPr/>
          <a:lstStyle/>
          <a:p>
            <a:r>
              <a:rPr lang="zh-CN" altLang="en-US" dirty="0"/>
              <a:t>总评成绩：共</a:t>
            </a:r>
            <a:r>
              <a:rPr lang="en-US" altLang="zh-CN" dirty="0"/>
              <a:t>75</a:t>
            </a:r>
            <a:r>
              <a:rPr lang="zh-CN" altLang="en-US" dirty="0"/>
              <a:t>人，平均</a:t>
            </a:r>
            <a:r>
              <a:rPr lang="en-US" altLang="zh-CN" dirty="0"/>
              <a:t>84.6</a:t>
            </a:r>
            <a:r>
              <a:rPr lang="zh-CN" altLang="en-US" dirty="0"/>
              <a:t>分，最高</a:t>
            </a:r>
            <a:r>
              <a:rPr lang="en-US" altLang="zh-CN" dirty="0"/>
              <a:t>100</a:t>
            </a:r>
            <a:r>
              <a:rPr lang="zh-CN" altLang="en-US" dirty="0"/>
              <a:t>分，最低</a:t>
            </a:r>
            <a:r>
              <a:rPr lang="en-US" altLang="zh-CN" dirty="0"/>
              <a:t>47</a:t>
            </a:r>
            <a:r>
              <a:rPr lang="zh-CN" altLang="en-US" dirty="0"/>
              <a:t>分。（去年平均</a:t>
            </a:r>
            <a:r>
              <a:rPr lang="en-US" altLang="zh-CN" dirty="0"/>
              <a:t>91.3</a:t>
            </a:r>
            <a:r>
              <a:rPr lang="zh-CN" altLang="en-US" dirty="0"/>
              <a:t>，最高</a:t>
            </a:r>
            <a:r>
              <a:rPr lang="en-US" altLang="zh-CN" dirty="0"/>
              <a:t>100</a:t>
            </a:r>
            <a:r>
              <a:rPr lang="zh-CN" altLang="en-US" dirty="0"/>
              <a:t>，最低</a:t>
            </a:r>
            <a:r>
              <a:rPr lang="en-US" altLang="zh-CN" dirty="0"/>
              <a:t>61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90</a:t>
            </a:r>
            <a:r>
              <a:rPr lang="zh-CN" altLang="en-US" dirty="0"/>
              <a:t>分以上：</a:t>
            </a:r>
            <a:r>
              <a:rPr lang="en-US" altLang="zh-CN" dirty="0"/>
              <a:t>33</a:t>
            </a:r>
            <a:r>
              <a:rPr lang="zh-CN" altLang="en-US" dirty="0"/>
              <a:t>人，占</a:t>
            </a:r>
            <a:r>
              <a:rPr lang="en-US" altLang="zh-CN" dirty="0"/>
              <a:t>44%</a:t>
            </a:r>
            <a:r>
              <a:rPr lang="zh-CN" altLang="en-US" dirty="0"/>
              <a:t>。（去年</a:t>
            </a:r>
            <a:r>
              <a:rPr lang="en-US" altLang="zh-CN" dirty="0"/>
              <a:t>71%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80</a:t>
            </a:r>
            <a:r>
              <a:rPr lang="zh-CN" altLang="en-US" dirty="0"/>
              <a:t>至</a:t>
            </a:r>
            <a:r>
              <a:rPr lang="en-US" altLang="zh-CN" dirty="0"/>
              <a:t>89</a:t>
            </a:r>
            <a:r>
              <a:rPr lang="zh-CN" altLang="en-US" dirty="0"/>
              <a:t>分：</a:t>
            </a:r>
            <a:r>
              <a:rPr lang="en-US" altLang="zh-CN" dirty="0"/>
              <a:t>20</a:t>
            </a:r>
            <a:r>
              <a:rPr lang="zh-CN" altLang="en-US" dirty="0"/>
              <a:t>人，占</a:t>
            </a:r>
            <a:r>
              <a:rPr lang="en-US" altLang="zh-CN" dirty="0"/>
              <a:t>26.7</a:t>
            </a:r>
            <a:r>
              <a:rPr lang="zh-CN" altLang="en-US" dirty="0"/>
              <a:t>。（去年</a:t>
            </a:r>
            <a:r>
              <a:rPr lang="en-US" altLang="zh-CN" dirty="0"/>
              <a:t>8.7%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70</a:t>
            </a:r>
            <a:r>
              <a:rPr lang="zh-CN" altLang="en-US" dirty="0"/>
              <a:t>至</a:t>
            </a:r>
            <a:r>
              <a:rPr lang="en-US" altLang="zh-CN" dirty="0"/>
              <a:t>79</a:t>
            </a:r>
            <a:r>
              <a:rPr lang="zh-CN" altLang="en-US" dirty="0"/>
              <a:t>分：</a:t>
            </a:r>
            <a:r>
              <a:rPr lang="en-US" altLang="zh-CN" dirty="0"/>
              <a:t>10</a:t>
            </a:r>
            <a:r>
              <a:rPr lang="zh-CN" altLang="en-US" dirty="0"/>
              <a:t>人，占</a:t>
            </a:r>
            <a:r>
              <a:rPr lang="en-US" altLang="zh-CN" dirty="0"/>
              <a:t>13.3</a:t>
            </a:r>
            <a:r>
              <a:rPr lang="zh-CN" altLang="en-US" dirty="0"/>
              <a:t>。（去年</a:t>
            </a:r>
            <a:r>
              <a:rPr lang="en-US" altLang="zh-CN" dirty="0"/>
              <a:t>13%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60</a:t>
            </a:r>
            <a:r>
              <a:rPr lang="zh-CN" altLang="en-US" dirty="0"/>
              <a:t>至</a:t>
            </a:r>
            <a:r>
              <a:rPr lang="en-US" altLang="zh-CN" dirty="0"/>
              <a:t>69</a:t>
            </a:r>
            <a:r>
              <a:rPr lang="zh-CN" altLang="en-US" dirty="0"/>
              <a:t>分： </a:t>
            </a:r>
            <a:r>
              <a:rPr lang="en-US" altLang="zh-CN" dirty="0"/>
              <a:t>8</a:t>
            </a:r>
            <a:r>
              <a:rPr lang="zh-CN" altLang="en-US" dirty="0"/>
              <a:t>人，占</a:t>
            </a:r>
            <a:r>
              <a:rPr lang="en-US" altLang="zh-CN" dirty="0"/>
              <a:t>10.7%</a:t>
            </a:r>
            <a:r>
              <a:rPr lang="zh-CN" altLang="en-US" dirty="0"/>
              <a:t>。（去年</a:t>
            </a:r>
            <a:r>
              <a:rPr lang="en-US" altLang="zh-CN" dirty="0"/>
              <a:t>7.2%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60</a:t>
            </a:r>
            <a:r>
              <a:rPr lang="zh-CN" altLang="en-US" dirty="0"/>
              <a:t>分以下： </a:t>
            </a:r>
            <a:r>
              <a:rPr lang="en-US" altLang="zh-CN" dirty="0"/>
              <a:t>4</a:t>
            </a:r>
            <a:r>
              <a:rPr lang="zh-CN" altLang="en-US" dirty="0"/>
              <a:t>人，占</a:t>
            </a:r>
            <a:r>
              <a:rPr lang="en-US" altLang="zh-CN" dirty="0"/>
              <a:t>5.3%</a:t>
            </a:r>
            <a:r>
              <a:rPr lang="zh-CN" altLang="en-US" dirty="0"/>
              <a:t>。（去年无）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62171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167E2-64EE-608B-BA29-0DB9D20D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62A5C-FB8C-0540-3F01-4108D1C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上学期</a:t>
            </a:r>
            <a:r>
              <a:rPr lang="en-US" altLang="zh-CN" dirty="0"/>
              <a:t>PBLF</a:t>
            </a:r>
            <a:r>
              <a:rPr lang="zh-CN" altLang="en-US" dirty="0"/>
              <a:t>成绩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8CDA0-F20A-09D6-61DA-52BDE82FD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60929"/>
            <a:ext cx="11582400" cy="5181600"/>
          </a:xfrm>
        </p:spPr>
        <p:txBody>
          <a:bodyPr/>
          <a:lstStyle/>
          <a:p>
            <a:r>
              <a:rPr lang="zh-CN" altLang="en-US" dirty="0"/>
              <a:t>总评成绩（共</a:t>
            </a:r>
            <a:r>
              <a:rPr lang="en-US" altLang="zh-CN" dirty="0"/>
              <a:t>75</a:t>
            </a:r>
            <a:r>
              <a:rPr lang="zh-CN" altLang="en-US" dirty="0"/>
              <a:t>人，平均</a:t>
            </a:r>
            <a:r>
              <a:rPr lang="en-US" altLang="zh-CN" dirty="0"/>
              <a:t>85.9</a:t>
            </a:r>
            <a:r>
              <a:rPr lang="zh-CN" altLang="en-US" dirty="0"/>
              <a:t>，最高</a:t>
            </a:r>
            <a:r>
              <a:rPr lang="en-US" altLang="zh-CN" dirty="0"/>
              <a:t>99</a:t>
            </a:r>
            <a:r>
              <a:rPr lang="zh-CN" altLang="en-US" dirty="0"/>
              <a:t>，最低</a:t>
            </a:r>
            <a:r>
              <a:rPr lang="en-US" altLang="zh-CN" dirty="0"/>
              <a:t>63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90</a:t>
            </a:r>
            <a:r>
              <a:rPr lang="zh-CN" altLang="en-US" dirty="0"/>
              <a:t>分以上： </a:t>
            </a:r>
            <a:r>
              <a:rPr lang="en-US" altLang="zh-CN" dirty="0"/>
              <a:t>30</a:t>
            </a:r>
            <a:r>
              <a:rPr lang="zh-CN" altLang="en-US" dirty="0"/>
              <a:t>人，占</a:t>
            </a:r>
            <a:r>
              <a:rPr lang="en-US" altLang="zh-CN" dirty="0"/>
              <a:t>40%</a:t>
            </a:r>
          </a:p>
          <a:p>
            <a:pPr lvl="1"/>
            <a:r>
              <a:rPr lang="en-US" altLang="zh-CN" dirty="0"/>
              <a:t>80</a:t>
            </a:r>
            <a:r>
              <a:rPr lang="zh-CN" altLang="en-US" dirty="0"/>
              <a:t>至</a:t>
            </a:r>
            <a:r>
              <a:rPr lang="en-US" altLang="zh-CN" dirty="0"/>
              <a:t>89</a:t>
            </a:r>
            <a:r>
              <a:rPr lang="zh-CN" altLang="en-US" dirty="0"/>
              <a:t>分：</a:t>
            </a:r>
            <a:r>
              <a:rPr lang="en-US" altLang="zh-CN" dirty="0"/>
              <a:t>23</a:t>
            </a:r>
            <a:r>
              <a:rPr lang="zh-CN" altLang="en-US" dirty="0"/>
              <a:t>人，占</a:t>
            </a:r>
            <a:r>
              <a:rPr lang="en-US" altLang="zh-CN" dirty="0"/>
              <a:t>30.7%</a:t>
            </a:r>
          </a:p>
          <a:p>
            <a:pPr lvl="1"/>
            <a:r>
              <a:rPr lang="en-US" altLang="zh-CN" dirty="0"/>
              <a:t>70</a:t>
            </a:r>
            <a:r>
              <a:rPr lang="zh-CN" altLang="en-US" dirty="0"/>
              <a:t>至</a:t>
            </a:r>
            <a:r>
              <a:rPr lang="en-US" altLang="zh-CN" dirty="0"/>
              <a:t>79</a:t>
            </a:r>
            <a:r>
              <a:rPr lang="zh-CN" altLang="en-US" dirty="0"/>
              <a:t>分：</a:t>
            </a:r>
            <a:r>
              <a:rPr lang="en-US" altLang="zh-CN" dirty="0"/>
              <a:t>20</a:t>
            </a:r>
            <a:r>
              <a:rPr lang="zh-CN" altLang="en-US" dirty="0"/>
              <a:t>人，占</a:t>
            </a:r>
            <a:r>
              <a:rPr lang="en-US" altLang="zh-CN" dirty="0"/>
              <a:t>26.7%</a:t>
            </a:r>
          </a:p>
          <a:p>
            <a:pPr lvl="1"/>
            <a:r>
              <a:rPr lang="en-US" altLang="zh-CN" dirty="0"/>
              <a:t>60</a:t>
            </a:r>
            <a:r>
              <a:rPr lang="zh-CN" altLang="en-US" dirty="0"/>
              <a:t>至</a:t>
            </a:r>
            <a:r>
              <a:rPr lang="en-US" altLang="zh-CN" dirty="0"/>
              <a:t>69</a:t>
            </a:r>
            <a:r>
              <a:rPr lang="zh-CN" altLang="en-US" dirty="0"/>
              <a:t>分：  </a:t>
            </a:r>
            <a:r>
              <a:rPr lang="en-US" altLang="zh-CN" dirty="0"/>
              <a:t>2</a:t>
            </a:r>
            <a:r>
              <a:rPr lang="zh-CN" altLang="en-US" dirty="0"/>
              <a:t>人，占</a:t>
            </a:r>
            <a:r>
              <a:rPr lang="en-US" altLang="zh-CN" dirty="0"/>
              <a:t>2.7%</a:t>
            </a:r>
          </a:p>
          <a:p>
            <a:pPr lvl="1"/>
            <a:r>
              <a:rPr lang="en-US" altLang="zh-CN" dirty="0"/>
              <a:t>60</a:t>
            </a:r>
            <a:r>
              <a:rPr lang="zh-CN" altLang="en-US" dirty="0"/>
              <a:t>分以下：无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919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D0562-A880-4680-A5C4-BF029A611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本学期课程安排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4106D-2FE3-416F-8E8D-F7F181191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学时和上课时间</a:t>
            </a:r>
            <a:endParaRPr lang="en-US" altLang="zh-CN" dirty="0"/>
          </a:p>
          <a:p>
            <a:pPr lvl="1"/>
            <a:r>
              <a:rPr lang="en-US" altLang="zh-CN" dirty="0"/>
              <a:t>48</a:t>
            </a:r>
            <a:r>
              <a:rPr lang="zh-CN" altLang="en-US" dirty="0"/>
              <a:t>学时，</a:t>
            </a:r>
            <a:r>
              <a:rPr lang="en-US" altLang="zh-CN" dirty="0"/>
              <a:t>1-16</a:t>
            </a:r>
            <a:r>
              <a:rPr lang="zh-CN" altLang="en-US" dirty="0"/>
              <a:t>周</a:t>
            </a:r>
            <a:endParaRPr lang="en-US" altLang="zh-CN" dirty="0"/>
          </a:p>
          <a:p>
            <a:pPr lvl="1"/>
            <a:r>
              <a:rPr lang="zh-CN" altLang="en-US" dirty="0"/>
              <a:t>星期三下午第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节课（</a:t>
            </a:r>
            <a:r>
              <a:rPr lang="en-US" altLang="zh-CN" dirty="0"/>
              <a:t>14:30-17:05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地点：二教</a:t>
            </a:r>
            <a:r>
              <a:rPr lang="en-US" altLang="zh-CN" dirty="0"/>
              <a:t>108</a:t>
            </a:r>
          </a:p>
          <a:p>
            <a:r>
              <a:rPr lang="zh-CN" altLang="en-US" dirty="0"/>
              <a:t>教材和参考书</a:t>
            </a:r>
            <a:endParaRPr lang="en-US" altLang="zh-CN" dirty="0"/>
          </a:p>
          <a:p>
            <a:pPr lvl="1"/>
            <a:r>
              <a:rPr lang="zh-CN" altLang="en-US" dirty="0"/>
              <a:t>教材：耿国华</a:t>
            </a:r>
            <a:r>
              <a:rPr lang="en-US" altLang="zh-CN" dirty="0"/>
              <a:t>《</a:t>
            </a:r>
            <a:r>
              <a:rPr lang="zh-CN" altLang="en-US" dirty="0"/>
              <a:t>数据结构</a:t>
            </a:r>
            <a:r>
              <a:rPr lang="en-US" altLang="zh-CN" dirty="0"/>
              <a:t>-</a:t>
            </a:r>
            <a:r>
              <a:rPr lang="zh-CN" altLang="en-US" dirty="0"/>
              <a:t>用</a:t>
            </a:r>
            <a:r>
              <a:rPr lang="en-US" altLang="zh-CN" dirty="0"/>
              <a:t>C</a:t>
            </a:r>
            <a:r>
              <a:rPr lang="zh-CN" altLang="en-US" dirty="0"/>
              <a:t>语言描述</a:t>
            </a:r>
            <a:r>
              <a:rPr lang="en-US" altLang="zh-CN" dirty="0"/>
              <a:t>》</a:t>
            </a:r>
          </a:p>
          <a:p>
            <a:pPr lvl="1"/>
            <a:r>
              <a:rPr lang="zh-CN" altLang="en-US" dirty="0"/>
              <a:t>参考书：严蔚敏</a:t>
            </a:r>
            <a:r>
              <a:rPr lang="en-US" altLang="zh-CN" dirty="0"/>
              <a:t>《</a:t>
            </a:r>
            <a:r>
              <a:rPr lang="zh-CN" altLang="en-US" dirty="0"/>
              <a:t>数据结构</a:t>
            </a:r>
            <a:r>
              <a:rPr lang="en-US" altLang="zh-CN" dirty="0"/>
              <a:t>》</a:t>
            </a:r>
          </a:p>
          <a:p>
            <a:pPr lvl="1"/>
            <a:r>
              <a:rPr lang="zh-CN" altLang="en-US" dirty="0"/>
              <a:t>参考书：李春葆</a:t>
            </a:r>
            <a:r>
              <a:rPr lang="en-US" altLang="zh-CN" dirty="0"/>
              <a:t>《</a:t>
            </a:r>
            <a:r>
              <a:rPr lang="zh-CN" altLang="en-US" dirty="0"/>
              <a:t>数据结构教程</a:t>
            </a:r>
            <a:r>
              <a:rPr lang="en-US" altLang="zh-CN" dirty="0"/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50704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FE095-920D-4DC5-1593-3774D214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20C47-69E3-CCD3-7934-42864191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83B9D1-6F16-91A1-B4EC-195DC93FC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r>
              <a:rPr lang="zh-CN" altLang="en-US" sz="3200" dirty="0"/>
              <a:t>总成绩</a:t>
            </a:r>
            <a:r>
              <a:rPr lang="en-US" altLang="zh-CN" sz="3200" dirty="0"/>
              <a:t>=</a:t>
            </a:r>
            <a:r>
              <a:rPr lang="zh-CN" altLang="en-US" sz="3200" dirty="0"/>
              <a:t>课堂考核</a:t>
            </a:r>
            <a:r>
              <a:rPr lang="en-US" altLang="zh-CN" sz="3200" dirty="0"/>
              <a:t>*15%+</a:t>
            </a:r>
            <a:r>
              <a:rPr lang="en-US" altLang="zh-CN" sz="3200" dirty="0" err="1"/>
              <a:t>icoding</a:t>
            </a:r>
            <a:r>
              <a:rPr lang="en-US" altLang="zh-CN" sz="3200" dirty="0"/>
              <a:t>*40%+</a:t>
            </a:r>
            <a:r>
              <a:rPr lang="zh-CN" altLang="en-US" sz="3200" dirty="0"/>
              <a:t>期末机考</a:t>
            </a:r>
            <a:r>
              <a:rPr lang="en-US" altLang="zh-CN" sz="3200" dirty="0"/>
              <a:t>*45%</a:t>
            </a:r>
            <a:endParaRPr lang="en-US" altLang="zh-CN" dirty="0"/>
          </a:p>
          <a:p>
            <a:pPr lvl="1"/>
            <a:r>
              <a:rPr lang="zh-CN" altLang="en-US" dirty="0"/>
              <a:t>课堂考核：占</a:t>
            </a:r>
            <a:r>
              <a:rPr lang="en-US" altLang="zh-CN" dirty="0"/>
              <a:t>15</a:t>
            </a:r>
            <a:r>
              <a:rPr lang="zh-CN" altLang="en-US" dirty="0"/>
              <a:t>分，包括 考勤</a:t>
            </a:r>
            <a:r>
              <a:rPr lang="en-US" altLang="zh-CN" dirty="0"/>
              <a:t>+</a:t>
            </a:r>
            <a:r>
              <a:rPr lang="zh-CN" altLang="en-US" dirty="0"/>
              <a:t>雨课堂</a:t>
            </a:r>
            <a:r>
              <a:rPr lang="en-US" altLang="zh-CN" dirty="0"/>
              <a:t>+</a:t>
            </a:r>
            <a:r>
              <a:rPr lang="zh-CN" altLang="en-US" b="1" dirty="0"/>
              <a:t>课堂表现（主观）</a:t>
            </a:r>
            <a:endParaRPr lang="en-US" altLang="zh-CN" b="1" dirty="0"/>
          </a:p>
          <a:p>
            <a:pPr lvl="1"/>
            <a:r>
              <a:rPr lang="en-US" altLang="zh-CN" dirty="0" err="1"/>
              <a:t>Icoding</a:t>
            </a:r>
            <a:r>
              <a:rPr lang="zh-CN" altLang="en-US" dirty="0"/>
              <a:t>： 占</a:t>
            </a:r>
            <a:r>
              <a:rPr lang="en-US" altLang="zh-CN" dirty="0"/>
              <a:t>40</a:t>
            </a:r>
            <a:r>
              <a:rPr lang="zh-CN" altLang="en-US" dirty="0"/>
              <a:t>分，由平台自动打分</a:t>
            </a:r>
            <a:endParaRPr lang="en-US" altLang="zh-CN" dirty="0"/>
          </a:p>
          <a:p>
            <a:pPr lvl="1"/>
            <a:r>
              <a:rPr lang="zh-CN" altLang="en-US" dirty="0"/>
              <a:t>期末机考：占</a:t>
            </a:r>
            <a:r>
              <a:rPr lang="en-US" altLang="zh-CN" dirty="0"/>
              <a:t>45</a:t>
            </a:r>
            <a:r>
              <a:rPr lang="zh-CN" altLang="en-US" dirty="0"/>
              <a:t>分，平台自动打分</a:t>
            </a:r>
            <a:endParaRPr lang="en-US" altLang="zh-CN" dirty="0"/>
          </a:p>
          <a:p>
            <a:r>
              <a:rPr lang="en-US" altLang="zh-CN" dirty="0" err="1"/>
              <a:t>Icoding</a:t>
            </a:r>
            <a:r>
              <a:rPr lang="zh-CN" altLang="en-US" dirty="0"/>
              <a:t>网址</a:t>
            </a:r>
            <a:r>
              <a:rPr lang="en-US" altLang="zh-CN" dirty="0"/>
              <a:t>https://icoding.run/login</a:t>
            </a:r>
            <a:endParaRPr lang="zh-CN" altLang="zh-CN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zh-CN" dirty="0"/>
              <a:t>默认账号为自己的学号；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初始</a:t>
            </a:r>
            <a:r>
              <a:rPr lang="zh-CN" altLang="zh-CN" dirty="0"/>
              <a:t>密码：</a:t>
            </a:r>
            <a:r>
              <a:rPr lang="zh-CN" altLang="en-US" dirty="0"/>
              <a:t>自己姓名拼音各汉字首个字母</a:t>
            </a:r>
            <a:r>
              <a:rPr lang="en-US" altLang="zh-CN" dirty="0"/>
              <a:t>+uestc123</a:t>
            </a:r>
            <a:r>
              <a:rPr lang="zh-CN" altLang="en-US" dirty="0"/>
              <a:t>；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密码举例：唐亿  </a:t>
            </a:r>
            <a:r>
              <a:rPr lang="en-US" altLang="zh-CN" dirty="0"/>
              <a:t>tyuestc123</a:t>
            </a:r>
            <a:r>
              <a:rPr lang="zh-CN" altLang="zh-CN" dirty="0"/>
              <a:t>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0398173"/>
      </p:ext>
    </p:extLst>
  </p:cSld>
  <p:clrMapOvr>
    <a:masterClrMapping/>
  </p:clrMapOvr>
</p:sld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8466</TotalTime>
  <Words>371</Words>
  <Application>Microsoft Office PowerPoint</Application>
  <PresentationFormat>宽屏</PresentationFormat>
  <Paragraphs>36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微软雅黑</vt:lpstr>
      <vt:lpstr>Arial</vt:lpstr>
      <vt:lpstr>Times New Roman</vt:lpstr>
      <vt:lpstr>Wingdings</vt:lpstr>
      <vt:lpstr>tm2</vt:lpstr>
      <vt:lpstr>坐在最后一排的同学 将回答老师的提问</vt:lpstr>
      <vt:lpstr>程序设计与算法基础II</vt:lpstr>
      <vt:lpstr>上学期程算1成绩</vt:lpstr>
      <vt:lpstr>上学期PBLF成绩</vt:lpstr>
      <vt:lpstr>本学期课程安排</vt:lpstr>
      <vt:lpstr>考核方式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xue zhang</cp:lastModifiedBy>
  <cp:revision>1252</cp:revision>
  <cp:lastPrinted>2021-02-27T03:24:38Z</cp:lastPrinted>
  <dcterms:created xsi:type="dcterms:W3CDTF">1999-08-24T18:39:05Z</dcterms:created>
  <dcterms:modified xsi:type="dcterms:W3CDTF">2026-03-04T01:12:29Z</dcterms:modified>
</cp:coreProperties>
</file>