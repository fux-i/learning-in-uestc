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3"/>
  </p:notesMasterIdLst>
  <p:sldIdLst>
    <p:sldId id="256" r:id="rId2"/>
    <p:sldId id="899" r:id="rId3"/>
    <p:sldId id="296" r:id="rId4"/>
    <p:sldId id="297" r:id="rId5"/>
    <p:sldId id="300" r:id="rId6"/>
    <p:sldId id="900" r:id="rId7"/>
    <p:sldId id="298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4" r:id="rId21"/>
    <p:sldId id="316" r:id="rId22"/>
  </p:sldIdLst>
  <p:sldSz cx="12192000" cy="6858000"/>
  <p:notesSz cx="6996113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6600"/>
    <a:srgbClr val="FFFFCC"/>
    <a:srgbClr val="0000CC"/>
    <a:srgbClr val="CC0099"/>
    <a:srgbClr val="9900CC"/>
    <a:srgbClr val="FFCCFF"/>
    <a:srgbClr val="FFFFFF"/>
    <a:srgbClr val="990033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7" autoAdjust="0"/>
    <p:restoredTop sz="94660"/>
  </p:normalViewPr>
  <p:slideViewPr>
    <p:cSldViewPr>
      <p:cViewPr varScale="1">
        <p:scale>
          <a:sx n="85" d="100"/>
          <a:sy n="85" d="100"/>
        </p:scale>
        <p:origin x="787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60" d="100"/>
          <a:sy n="60" d="100"/>
        </p:scale>
        <p:origin x="2568" y="56"/>
      </p:cViewPr>
      <p:guideLst>
        <p:guide orient="horz" pos="2923"/>
        <p:guide pos="22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8331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08488"/>
            <a:ext cx="5129213" cy="4178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2015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  <a:r>
              <a:rPr lang="en-US" altLang="zh-CN" dirty="0"/>
              <a:t>7.2 </a:t>
            </a:r>
            <a:r>
              <a:rPr lang="zh-CN" altLang="en-US" dirty="0"/>
              <a:t>有多个结点的红黑树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008CF-1236-45C0-8F04-DC1AC43477D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72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00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>
              <a:lnSpc>
                <a:spcPct val="150000"/>
              </a:lnSpc>
              <a:spcBef>
                <a:spcPts val="600"/>
              </a:spcBef>
              <a:defRPr b="1">
                <a:solidFill>
                  <a:srgbClr val="000066"/>
                </a:solidFill>
              </a:defRPr>
            </a:lvl1pPr>
            <a:lvl2pPr>
              <a:lnSpc>
                <a:spcPct val="150000"/>
              </a:lnSpc>
              <a:spcBef>
                <a:spcPts val="600"/>
              </a:spcBef>
              <a:defRPr b="1">
                <a:solidFill>
                  <a:srgbClr val="000066"/>
                </a:solidFill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>
              <a:lnSpc>
                <a:spcPct val="150000"/>
              </a:lnSpc>
              <a:spcBef>
                <a:spcPts val="600"/>
              </a:spcBef>
              <a:defRPr sz="2600" b="1">
                <a:solidFill>
                  <a:srgbClr val="000066"/>
                </a:solidFill>
              </a:defRPr>
            </a:lvl1pPr>
            <a:lvl2pPr>
              <a:lnSpc>
                <a:spcPct val="150000"/>
              </a:lnSpc>
              <a:spcBef>
                <a:spcPts val="600"/>
              </a:spcBef>
              <a:defRPr sz="2400" b="1">
                <a:solidFill>
                  <a:srgbClr val="000066"/>
                </a:solidFill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2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lang="en-US" b="1" smtClean="0">
                <a:solidFill>
                  <a:srgbClr val="000066"/>
                </a:solidFill>
              </a:defRPr>
            </a:lvl1pPr>
            <a:lvl2pPr>
              <a:defRPr lang="en-US" b="1" smtClean="0">
                <a:solidFill>
                  <a:srgbClr val="000066"/>
                </a:solidFill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lnSpc>
                <a:spcPct val="150000"/>
              </a:lnSpc>
              <a:spcBef>
                <a:spcPts val="600"/>
              </a:spcBef>
              <a:defRPr>
                <a:solidFill>
                  <a:srgbClr val="000066"/>
                </a:solidFill>
              </a:defRPr>
            </a:lvl1pPr>
            <a:lvl2pPr>
              <a:lnSpc>
                <a:spcPct val="150000"/>
              </a:lnSpc>
              <a:spcBef>
                <a:spcPts val="600"/>
              </a:spcBef>
              <a:defRPr>
                <a:solidFill>
                  <a:srgbClr val="000066"/>
                </a:solidFill>
              </a:defRPr>
            </a:lvl2pPr>
            <a:lvl3pPr>
              <a:lnSpc>
                <a:spcPct val="150000"/>
              </a:lnSpc>
              <a:spcBef>
                <a:spcPts val="600"/>
              </a:spcBef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800" b="0">
                <a:solidFill>
                  <a:schemeClr val="tx2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+mn-lt"/>
                <a:ea typeface="微软雅黑" panose="020B0503020204020204" pitchFamily="34" charset="-122"/>
                <a:cs typeface="Fira Code" pitchFamily="1" charset="0"/>
              </a:defRPr>
            </a:lvl1pPr>
            <a:lvl2pPr algn="just">
              <a:lnSpc>
                <a:spcPct val="150000"/>
              </a:lnSpc>
              <a:defRPr sz="2000">
                <a:latin typeface="+mn-lt"/>
                <a:ea typeface="微软雅黑" panose="020B0503020204020204" pitchFamily="34" charset="-122"/>
                <a:cs typeface="Fira Code" pitchFamily="1" charset="0"/>
              </a:defRPr>
            </a:lvl2pPr>
            <a:lvl3pPr algn="just">
              <a:lnSpc>
                <a:spcPct val="150000"/>
              </a:lnSpc>
              <a:defRPr sz="1800">
                <a:latin typeface="+mn-lt"/>
                <a:ea typeface="微软雅黑" panose="020B0503020204020204" pitchFamily="34" charset="-122"/>
                <a:cs typeface="Fira Code" pitchFamily="1" charset="0"/>
              </a:defRPr>
            </a:lvl3pPr>
            <a:lvl4pPr algn="just">
              <a:lnSpc>
                <a:spcPct val="150000"/>
              </a:lnSpc>
              <a:defRPr sz="1600">
                <a:latin typeface="+mn-lt"/>
                <a:ea typeface="微软雅黑" panose="020B0503020204020204" pitchFamily="34" charset="-122"/>
                <a:cs typeface="Fira Code" pitchFamily="1" charset="0"/>
              </a:defRPr>
            </a:lvl4pPr>
            <a:lvl5pPr algn="just">
              <a:lnSpc>
                <a:spcPct val="150000"/>
              </a:lnSpc>
              <a:defRPr sz="1600">
                <a:latin typeface="+mn-lt"/>
                <a:ea typeface="微软雅黑" panose="020B0503020204020204" pitchFamily="34" charset="-122"/>
                <a:cs typeface="Fira Code" pitchFamily="1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669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  <p:sldLayoutId id="2147484060" r:id="rId6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ts val="60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ts val="60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085850" indent="-228600" algn="l" rtl="0" eaLnBrk="0" fontAlgn="base" hangingPunct="0">
        <a:spcBef>
          <a:spcPct val="20000"/>
        </a:spcBef>
        <a:spcAft>
          <a:spcPts val="60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200" dirty="0"/>
              <a:t>红黑树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512337D7-EDB8-3224-3CA8-32FBAF22F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4400" dirty="0"/>
              <a:t>平衡二叉树的一个变种</a:t>
            </a:r>
          </a:p>
        </p:txBody>
      </p:sp>
    </p:spTree>
    <p:extLst>
      <p:ext uri="{BB962C8B-B14F-4D97-AF65-F5344CB8AC3E}">
        <p14:creationId xmlns:p14="http://schemas.microsoft.com/office/powerpoint/2010/main" val="374652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5353-B23F-E9A4-3F29-5083B829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C9DE4F-1BDE-2849-EC34-69295CE3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13CDBD-7123-D50A-99F5-ACA6FE2F3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红黑树</a:t>
            </a:r>
            <a:r>
              <a:rPr lang="zh-CN" altLang="en-US" dirty="0"/>
              <a:t>是一种</a:t>
            </a:r>
            <a:r>
              <a:rPr lang="zh-CN" altLang="en-US" b="1" dirty="0">
                <a:solidFill>
                  <a:srgbClr val="FF0000"/>
                </a:solidFill>
              </a:rPr>
              <a:t>自平衡二叉树</a:t>
            </a:r>
            <a:r>
              <a:rPr lang="zh-CN" altLang="en-US" dirty="0"/>
              <a:t>，常被认为是平衡二叉树的一个变种。</a:t>
            </a:r>
            <a:endParaRPr lang="en-US" altLang="zh-CN" dirty="0"/>
          </a:p>
          <a:p>
            <a:pPr lvl="1"/>
            <a:r>
              <a:rPr lang="zh-CN" altLang="en-US" dirty="0"/>
              <a:t>红黑树的平衡特性不像平衡二叉树那样严格，而是允许一定的不平衡存在。这种特性在保证各种操作性能影响不大的情况下，有效地减少了平衡调整次数，从而提高了整体性能。</a:t>
            </a:r>
          </a:p>
          <a:p>
            <a:r>
              <a:rPr lang="zh-CN" altLang="en-US" dirty="0"/>
              <a:t>红黑树每个结点都被着色成</a:t>
            </a:r>
            <a:r>
              <a:rPr lang="zh-CN" altLang="en-US" b="1" dirty="0">
                <a:solidFill>
                  <a:srgbClr val="FF0000"/>
                </a:solidFill>
              </a:rPr>
              <a:t>红色</a:t>
            </a:r>
            <a:r>
              <a:rPr lang="en-US" altLang="zh-CN" b="1" dirty="0">
                <a:solidFill>
                  <a:srgbClr val="FF0000"/>
                </a:solidFill>
              </a:rPr>
              <a:t>(red)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FF0000"/>
                </a:solidFill>
              </a:rPr>
              <a:t>黑色</a:t>
            </a:r>
            <a:r>
              <a:rPr lang="en-US" altLang="zh-CN" b="1" dirty="0">
                <a:solidFill>
                  <a:srgbClr val="FF0000"/>
                </a:solidFill>
              </a:rPr>
              <a:t>(black)</a:t>
            </a:r>
            <a:r>
              <a:rPr lang="zh-CN" altLang="en-US" dirty="0"/>
              <a:t>之一。</a:t>
            </a:r>
            <a:endParaRPr lang="en-US" altLang="zh-CN" dirty="0"/>
          </a:p>
          <a:p>
            <a:pPr lvl="1"/>
            <a:r>
              <a:rPr lang="zh-CN" altLang="en-US" dirty="0"/>
              <a:t>这也是红黑树名称的由来。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132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B9E1A8D-317D-27C0-D4C0-BD321A4E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D07BE1-29ED-EF87-285E-27A1DC30D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为了方便描述，将红黑树上实际叶结点的空子树视为最终叶结点，不妨称为</a:t>
            </a:r>
            <a:r>
              <a:rPr lang="zh-CN" altLang="en-US" dirty="0">
                <a:solidFill>
                  <a:srgbClr val="FF0000"/>
                </a:solidFill>
              </a:rPr>
              <a:t>空叶结点（</a:t>
            </a:r>
            <a:r>
              <a:rPr lang="en-US" altLang="zh-CN" dirty="0">
                <a:solidFill>
                  <a:srgbClr val="FF0000"/>
                </a:solidFill>
              </a:rPr>
              <a:t>nil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。这些空叶结点作为红黑树处理边界条件时的哨兵，可以有效减少比较的次数。后文中，把空叶结点统称为</a:t>
            </a:r>
            <a:r>
              <a:rPr lang="zh-CN" altLang="en-US" dirty="0">
                <a:solidFill>
                  <a:srgbClr val="FF0000"/>
                </a:solidFill>
              </a:rPr>
              <a:t>哨兵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588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87F2D-7190-4A19-5845-65E3B4B6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红黑树的性质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15775D-0778-07B2-E567-72B8D60A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每一个结点都被着色为</a:t>
            </a:r>
            <a:r>
              <a:rPr lang="zh-CN" altLang="en-US" b="1" dirty="0">
                <a:solidFill>
                  <a:srgbClr val="FF0000"/>
                </a:solidFill>
              </a:rPr>
              <a:t>红色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FF0000"/>
                </a:solidFill>
              </a:rPr>
              <a:t>黑色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b="1" dirty="0">
                <a:solidFill>
                  <a:srgbClr val="FF0000"/>
                </a:solidFill>
              </a:rPr>
              <a:t>根结点必须是黑色的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>
                <a:solidFill>
                  <a:srgbClr val="FF0000"/>
                </a:solidFill>
              </a:rPr>
              <a:t>空叶结点（哨兵）都是黑色的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b="1" dirty="0">
                <a:solidFill>
                  <a:srgbClr val="FF0000"/>
                </a:solidFill>
              </a:rPr>
              <a:t>不存在连续两个红色结点</a:t>
            </a:r>
            <a:r>
              <a:rPr lang="zh-CN" altLang="en-US" dirty="0"/>
              <a:t>。即：如果一个结点是红色的，那么其所有子结点都必须是黑色的。</a:t>
            </a:r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b="1" dirty="0">
                <a:solidFill>
                  <a:srgbClr val="FF0000"/>
                </a:solidFill>
              </a:rPr>
              <a:t>从任意一个结点</a:t>
            </a: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zh-CN" altLang="en-US" b="1" dirty="0">
                <a:solidFill>
                  <a:srgbClr val="FF0000"/>
                </a:solidFill>
              </a:rPr>
              <a:t>到其所有后代哨兵的任何一条简单路径上，都必须包含相同数量的黑色结点。</a:t>
            </a:r>
            <a:r>
              <a:rPr lang="zh-CN" altLang="en-US" dirty="0"/>
              <a:t>这条路径上，黑色结点的数量称为结点</a:t>
            </a:r>
            <a:r>
              <a:rPr lang="en-US" altLang="zh-CN" dirty="0"/>
              <a:t>t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黑高（</a:t>
            </a:r>
            <a:r>
              <a:rPr lang="en-US" altLang="zh-CN" b="1" dirty="0">
                <a:solidFill>
                  <a:srgbClr val="FF0000"/>
                </a:solidFill>
              </a:rPr>
              <a:t>black height</a:t>
            </a:r>
            <a:r>
              <a:rPr lang="zh-CN" altLang="en-US" b="1" dirty="0">
                <a:solidFill>
                  <a:srgbClr val="FF0000"/>
                </a:solidFill>
              </a:rPr>
              <a:t>），</a:t>
            </a:r>
            <a:r>
              <a:rPr lang="zh-CN" altLang="en-US" dirty="0"/>
              <a:t>记为</a:t>
            </a:r>
            <a:r>
              <a:rPr lang="en-US" altLang="zh-CN" b="1" dirty="0" err="1">
                <a:solidFill>
                  <a:srgbClr val="FF0000"/>
                </a:solidFill>
              </a:rPr>
              <a:t>bh</a:t>
            </a:r>
            <a:r>
              <a:rPr lang="en-US" altLang="zh-CN" b="1" dirty="0">
                <a:solidFill>
                  <a:srgbClr val="FF0000"/>
                </a:solidFill>
              </a:rPr>
              <a:t>(t)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r>
              <a:rPr lang="zh-CN" altLang="en-US" dirty="0"/>
              <a:t>根结点</a:t>
            </a:r>
            <a:r>
              <a:rPr lang="en-US" altLang="zh-CN" dirty="0"/>
              <a:t>R</a:t>
            </a:r>
            <a:r>
              <a:rPr lang="zh-CN" altLang="en-US" dirty="0"/>
              <a:t>的黑高记为</a:t>
            </a:r>
            <a:r>
              <a:rPr lang="en-US" altLang="zh-CN" b="1" dirty="0" err="1">
                <a:solidFill>
                  <a:srgbClr val="FF0000"/>
                </a:solidFill>
              </a:rPr>
              <a:t>bh</a:t>
            </a:r>
            <a:r>
              <a:rPr lang="en-US" altLang="zh-CN" b="1" dirty="0">
                <a:solidFill>
                  <a:srgbClr val="FF0000"/>
                </a:solidFill>
              </a:rPr>
              <a:t>(R)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r>
              <a:rPr lang="en-US" altLang="zh-CN" dirty="0" err="1"/>
              <a:t>bh</a:t>
            </a:r>
            <a:r>
              <a:rPr lang="en-US" altLang="zh-CN" dirty="0"/>
              <a:t>(R)</a:t>
            </a:r>
            <a:r>
              <a:rPr lang="zh-CN" altLang="en-US" dirty="0"/>
              <a:t>是整棵红黑树的黑高。哨兵的黑高为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5069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A4EE8-B048-E352-2232-0211960E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典型的红黑树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6F402E-3D3C-AE55-A0D9-4D68E636E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528" y="1371600"/>
            <a:ext cx="6284943" cy="45490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830EC6C-50DC-E474-404D-FFFC08CF2B77}"/>
              </a:ext>
            </a:extLst>
          </p:cNvPr>
          <p:cNvSpPr txBox="1"/>
          <p:nvPr/>
        </p:nvSpPr>
        <p:spPr>
          <a:xfrm>
            <a:off x="4065318" y="6073036"/>
            <a:ext cx="4061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左上角数值为结点的黑高</a:t>
            </a:r>
          </a:p>
        </p:txBody>
      </p:sp>
    </p:spTree>
    <p:extLst>
      <p:ext uri="{BB962C8B-B14F-4D97-AF65-F5344CB8AC3E}">
        <p14:creationId xmlns:p14="http://schemas.microsoft.com/office/powerpoint/2010/main" val="58358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F2659-C71A-3668-2FF9-FABE59615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节约存储空间的红黑树：共享唯一哨兵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2984E6-12AA-14A6-5C2A-47BEA12CE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625" y="1368284"/>
            <a:ext cx="5944749" cy="48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16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59B17-698D-DBD7-959D-DFC502F30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830BF9-4F89-B787-4124-4BC4CDD72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设红黑树有</a:t>
            </a:r>
            <a:r>
              <a:rPr lang="en-US" altLang="zh-CN" dirty="0"/>
              <a:t>n</a:t>
            </a:r>
            <a:r>
              <a:rPr lang="zh-CN" altLang="en-US" dirty="0"/>
              <a:t>个结点，树的高度为</a:t>
            </a:r>
            <a:r>
              <a:rPr lang="en-US" altLang="zh-CN" dirty="0"/>
              <a:t>h</a:t>
            </a:r>
            <a:r>
              <a:rPr lang="zh-CN" altLang="en-US" dirty="0"/>
              <a:t>，根结点的黑高为</a:t>
            </a:r>
            <a:r>
              <a:rPr lang="en-US" altLang="zh-CN" dirty="0" err="1"/>
              <a:t>bh</a:t>
            </a:r>
            <a:r>
              <a:rPr lang="en-US" altLang="zh-CN" dirty="0"/>
              <a:t>(R)</a:t>
            </a:r>
            <a:r>
              <a:rPr lang="zh-CN" altLang="en-US" dirty="0"/>
              <a:t>。根据红黑树的</a:t>
            </a:r>
            <a:r>
              <a:rPr lang="en-US" altLang="zh-CN" dirty="0"/>
              <a:t>5</a:t>
            </a:r>
            <a:r>
              <a:rPr lang="zh-CN" altLang="en-US" dirty="0"/>
              <a:t>条性质，可以得出以下有用的推论。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A547D82-79AF-4B5C-249F-A88A28FA4344}"/>
                  </a:ext>
                </a:extLst>
              </p:cNvPr>
              <p:cNvSpPr txBox="1"/>
              <p:nvPr/>
            </p:nvSpPr>
            <p:spPr>
              <a:xfrm>
                <a:off x="3047011" y="2961744"/>
                <a:ext cx="6097978" cy="1774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𝑏h</m:t>
                      </m:r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</m:d>
                      <m:r>
                        <a:rPr lang="zh-CN" altLang="zh-CN" sz="2400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≥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zh-CN" altLang="zh-CN" sz="2400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𝑏h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zh-CN" altLang="zh-CN" sz="2400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A547D82-79AF-4B5C-249F-A88A28FA4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11" y="2961744"/>
                <a:ext cx="6097978" cy="17742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66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3A266-8B21-3E7C-EFB8-9C57C35C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一些方便描述的术语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011E55-7E98-3959-5B0C-9E09E1D2A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当前节点</a:t>
            </a:r>
            <a:r>
              <a:rPr lang="zh-CN" altLang="en-US" dirty="0"/>
              <a:t>。正在处理的结点。假设是前页图中的结点</a:t>
            </a:r>
            <a:r>
              <a:rPr lang="en-US" altLang="zh-CN" dirty="0"/>
              <a:t>26</a:t>
            </a:r>
            <a:r>
              <a:rPr lang="zh-CN" altLang="en-US" dirty="0"/>
              <a:t>。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父结点</a:t>
            </a:r>
            <a:r>
              <a:rPr lang="en-US" altLang="zh-CN" b="1" dirty="0">
                <a:solidFill>
                  <a:srgbClr val="FF0000"/>
                </a:solidFill>
              </a:rPr>
              <a:t>(parent)</a:t>
            </a:r>
            <a:r>
              <a:rPr lang="zh-CN" altLang="en-US" dirty="0"/>
              <a:t>。图中结点</a:t>
            </a:r>
            <a:r>
              <a:rPr lang="en-US" altLang="zh-CN" dirty="0"/>
              <a:t>37</a:t>
            </a:r>
            <a:r>
              <a:rPr lang="zh-CN" altLang="en-US" dirty="0"/>
              <a:t>是结点</a:t>
            </a:r>
            <a:r>
              <a:rPr lang="en-US" altLang="zh-CN" dirty="0"/>
              <a:t>26</a:t>
            </a:r>
            <a:r>
              <a:rPr lang="zh-CN" altLang="en-US" dirty="0"/>
              <a:t>的父节点。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叔父结点</a:t>
            </a:r>
            <a:r>
              <a:rPr lang="en-US" altLang="zh-CN" b="1" dirty="0">
                <a:solidFill>
                  <a:srgbClr val="FF0000"/>
                </a:solidFill>
              </a:rPr>
              <a:t>(parents' sibling)</a:t>
            </a:r>
            <a:r>
              <a:rPr lang="zh-CN" altLang="en-US" dirty="0"/>
              <a:t>。父结点的兄弟结点。图中结点</a:t>
            </a:r>
            <a:r>
              <a:rPr lang="en-US" altLang="zh-CN" dirty="0"/>
              <a:t>62</a:t>
            </a:r>
            <a:r>
              <a:rPr lang="zh-CN" altLang="en-US" dirty="0"/>
              <a:t>就是结点</a:t>
            </a:r>
            <a:r>
              <a:rPr lang="en-US" altLang="zh-CN" dirty="0"/>
              <a:t>26</a:t>
            </a:r>
            <a:r>
              <a:rPr lang="zh-CN" altLang="en-US" dirty="0"/>
              <a:t>的叔父结点。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祖父结点</a:t>
            </a:r>
            <a:r>
              <a:rPr lang="en-US" altLang="zh-CN" b="1" dirty="0">
                <a:solidFill>
                  <a:srgbClr val="FF0000"/>
                </a:solidFill>
              </a:rPr>
              <a:t>(grandparent)</a:t>
            </a:r>
            <a:r>
              <a:rPr lang="zh-CN" altLang="en-US" dirty="0"/>
              <a:t>。父结点的父结点。图中的结点</a:t>
            </a:r>
            <a:r>
              <a:rPr lang="en-US" altLang="zh-CN" dirty="0"/>
              <a:t>45</a:t>
            </a:r>
            <a:r>
              <a:rPr lang="zh-CN" altLang="en-US" dirty="0"/>
              <a:t>就是结点</a:t>
            </a:r>
            <a:r>
              <a:rPr lang="en-US" altLang="zh-CN" dirty="0"/>
              <a:t>26</a:t>
            </a:r>
            <a:r>
              <a:rPr lang="zh-CN" altLang="en-US" dirty="0"/>
              <a:t>的祖父节点。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155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3B332-5BE5-F807-F9EF-28484D73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红黑树的描述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5EE044-99B1-CB5C-31A7-BA341245F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dirty="0"/>
              <a:t>typedef </a:t>
            </a:r>
            <a:r>
              <a:rPr lang="en-US" altLang="zh-CN" dirty="0" err="1"/>
              <a:t>enum</a:t>
            </a:r>
            <a:r>
              <a:rPr lang="en-US" altLang="zh-CN" dirty="0"/>
              <a:t> {RED, BLACK} </a:t>
            </a:r>
            <a:r>
              <a:rPr lang="en-US" altLang="zh-CN" dirty="0" err="1"/>
              <a:t>color_t</a:t>
            </a:r>
            <a:r>
              <a:rPr lang="en-US" altLang="zh-CN" dirty="0"/>
              <a:t>; // </a:t>
            </a:r>
            <a:r>
              <a:rPr lang="zh-CN" altLang="en-US" dirty="0"/>
              <a:t>定义颜色枚举类型，仅适用于红黑树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struct </a:t>
            </a:r>
            <a:r>
              <a:rPr lang="en-US" altLang="zh-CN" dirty="0" err="1"/>
              <a:t>rbnode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typedef struct </a:t>
            </a:r>
            <a:r>
              <a:rPr lang="en-US" altLang="zh-CN" dirty="0" err="1"/>
              <a:t>rbnode</a:t>
            </a:r>
            <a:r>
              <a:rPr lang="en-US" altLang="zh-CN" dirty="0"/>
              <a:t>* </a:t>
            </a:r>
            <a:r>
              <a:rPr lang="en-US" altLang="zh-CN" dirty="0" err="1"/>
              <a:t>rbnodeptr_t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typedef struct </a:t>
            </a:r>
            <a:r>
              <a:rPr lang="en-US" altLang="zh-CN" dirty="0" err="1"/>
              <a:t>rbnode</a:t>
            </a:r>
            <a:r>
              <a:rPr lang="en-US" altLang="zh-CN" dirty="0"/>
              <a:t> { //</a:t>
            </a:r>
            <a:r>
              <a:rPr lang="zh-CN" altLang="en-US" dirty="0"/>
              <a:t> 定义红黑树结点类型：三叉链表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key_type</a:t>
            </a:r>
            <a:r>
              <a:rPr lang="en-US" altLang="zh-CN" dirty="0"/>
              <a:t> key; // </a:t>
            </a:r>
            <a:r>
              <a:rPr lang="zh-CN" altLang="en-US" dirty="0"/>
              <a:t>键值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sz="2400" dirty="0" err="1">
                <a:solidFill>
                  <a:srgbClr val="FF0000"/>
                </a:solidFill>
              </a:rPr>
              <a:t>color_t</a:t>
            </a:r>
            <a:r>
              <a:rPr lang="en-US" altLang="zh-CN" sz="2400" dirty="0">
                <a:solidFill>
                  <a:srgbClr val="FF0000"/>
                </a:solidFill>
              </a:rPr>
              <a:t> color; // </a:t>
            </a:r>
            <a:r>
              <a:rPr lang="zh-CN" altLang="en-US" sz="2400" dirty="0">
                <a:solidFill>
                  <a:srgbClr val="FF0000"/>
                </a:solidFill>
              </a:rPr>
              <a:t>结点的颜色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b="1" dirty="0" err="1">
                <a:solidFill>
                  <a:srgbClr val="FF0000"/>
                </a:solidFill>
              </a:rPr>
              <a:t>rbnodeptr_t</a:t>
            </a:r>
            <a:r>
              <a:rPr lang="en-US" altLang="zh-CN" b="1" dirty="0">
                <a:solidFill>
                  <a:srgbClr val="FF0000"/>
                </a:solidFill>
              </a:rPr>
              <a:t> left, right; // </a:t>
            </a:r>
            <a:r>
              <a:rPr lang="zh-CN" altLang="en-US" b="1" dirty="0">
                <a:solidFill>
                  <a:srgbClr val="FF0000"/>
                </a:solidFill>
              </a:rPr>
              <a:t>左右子树</a:t>
            </a:r>
          </a:p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    </a:t>
            </a:r>
            <a:r>
              <a:rPr lang="en-US" altLang="zh-CN" b="1" dirty="0" err="1">
                <a:solidFill>
                  <a:srgbClr val="FF0000"/>
                </a:solidFill>
              </a:rPr>
              <a:t>rbnodeptr_t</a:t>
            </a:r>
            <a:r>
              <a:rPr lang="en-US" altLang="zh-CN" b="1" dirty="0">
                <a:solidFill>
                  <a:srgbClr val="FF0000"/>
                </a:solidFill>
              </a:rPr>
              <a:t> parent; // </a:t>
            </a:r>
            <a:r>
              <a:rPr lang="zh-CN" altLang="en-US" b="1" dirty="0">
                <a:solidFill>
                  <a:srgbClr val="FF0000"/>
                </a:solidFill>
              </a:rPr>
              <a:t>父结点</a:t>
            </a:r>
          </a:p>
          <a:p>
            <a:pPr marL="0" indent="0">
              <a:buNone/>
            </a:pPr>
            <a:r>
              <a:rPr lang="en-US" altLang="zh-CN" dirty="0"/>
              <a:t>} </a:t>
            </a:r>
            <a:r>
              <a:rPr lang="en-US" altLang="zh-CN" dirty="0" err="1"/>
              <a:t>rbnode_t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typedef </a:t>
            </a:r>
            <a:r>
              <a:rPr lang="en-US" altLang="zh-CN" dirty="0" err="1"/>
              <a:t>rbnodeptr_t</a:t>
            </a:r>
            <a:r>
              <a:rPr lang="en-US" altLang="zh-CN" dirty="0"/>
              <a:t> </a:t>
            </a:r>
            <a:r>
              <a:rPr lang="en-US" altLang="zh-CN" dirty="0" err="1"/>
              <a:t>rbtree_t</a:t>
            </a:r>
            <a:r>
              <a:rPr lang="en-US" altLang="zh-CN" dirty="0"/>
              <a:t>; // </a:t>
            </a:r>
            <a:r>
              <a:rPr lang="zh-CN" altLang="en-US" dirty="0"/>
              <a:t>定义红黑树类型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122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45E81-C1C3-01BF-4C77-2CA1C852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红黑树插入：新结点颜色是红色的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7293E1-981D-ED09-C18B-9170C9362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新结点的颜色</a:t>
            </a:r>
          </a:p>
          <a:p>
            <a:r>
              <a:rPr lang="zh-CN" altLang="en-US" dirty="0"/>
              <a:t>如果插入时红黑树是空树，那么新结点将成为这棵树的根结点。根据性质</a:t>
            </a:r>
            <a:r>
              <a:rPr lang="en-US" altLang="zh-CN" dirty="0"/>
              <a:t>3</a:t>
            </a:r>
            <a:r>
              <a:rPr lang="zh-CN" altLang="en-US" dirty="0"/>
              <a:t>，根结点必须着色成黑色。</a:t>
            </a:r>
          </a:p>
          <a:p>
            <a:r>
              <a:rPr lang="zh-CN" altLang="en-US" dirty="0"/>
              <a:t>如果红黑树不空。如果新结点的颜色是黑色，那么其插入的某条路径的黑高就会加</a:t>
            </a:r>
            <a:r>
              <a:rPr lang="en-US" altLang="zh-CN" dirty="0"/>
              <a:t>1</a:t>
            </a:r>
            <a:r>
              <a:rPr lang="zh-CN" altLang="en-US" dirty="0"/>
              <a:t>。显然，这违背了红黑树的性质</a:t>
            </a:r>
            <a:r>
              <a:rPr lang="en-US" altLang="zh-CN" dirty="0"/>
              <a:t>5</a:t>
            </a:r>
            <a:r>
              <a:rPr lang="zh-CN" altLang="en-US" dirty="0"/>
              <a:t>。此时，必须要对新结点的一些前辈结点进行重新着色，甚至要做更多操作。这些操作比较复杂，代价较高。</a:t>
            </a:r>
            <a:endParaRPr lang="en-US" altLang="zh-CN" dirty="0"/>
          </a:p>
          <a:p>
            <a:r>
              <a:rPr lang="zh-CN" altLang="en-US" dirty="0"/>
              <a:t>因此，</a:t>
            </a:r>
            <a:r>
              <a:rPr lang="zh-CN" altLang="en-US" b="1" dirty="0">
                <a:solidFill>
                  <a:srgbClr val="FF0000"/>
                </a:solidFill>
              </a:rPr>
              <a:t>新结点的颜色应该是红色</a:t>
            </a:r>
            <a:r>
              <a:rPr lang="zh-CN" altLang="en-US" dirty="0"/>
              <a:t>。当然，插入红色结点依然会导致重新着色和平衡调整，但此时的操作会相对简单一些。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60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CC604-D2B9-A9FB-2ADF-4DCCF15E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634648-CAE1-EE63-21B1-2BCF7055F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1</a:t>
            </a:r>
            <a:r>
              <a:rPr lang="zh-CN" altLang="zh-CN" sz="2400" b="1" dirty="0"/>
              <a:t>：父结点是黑色的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zh-CN" sz="2000" dirty="0"/>
              <a:t>在黑色结点</a:t>
            </a:r>
            <a:r>
              <a:rPr lang="en-US" altLang="zh-CN" sz="2000" dirty="0"/>
              <a:t>37</a:t>
            </a:r>
            <a:r>
              <a:rPr lang="zh-CN" altLang="zh-CN" sz="2000" dirty="0"/>
              <a:t>后插入新结点的四种情况</a:t>
            </a:r>
            <a:endParaRPr lang="en-US" altLang="zh-CN" sz="2000" b="1" dirty="0"/>
          </a:p>
          <a:p>
            <a:pPr marL="0" indent="0">
              <a:buNone/>
            </a:pPr>
            <a:endParaRPr lang="zh-CN" altLang="en-US" sz="24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553F6D0-26FF-77A8-9BC7-CF3A4AD8552F}"/>
              </a:ext>
            </a:extLst>
          </p:cNvPr>
          <p:cNvGrpSpPr/>
          <p:nvPr/>
        </p:nvGrpSpPr>
        <p:grpSpPr>
          <a:xfrm>
            <a:off x="1704780" y="3214697"/>
            <a:ext cx="8782439" cy="1789341"/>
            <a:chOff x="1650026" y="2675147"/>
            <a:chExt cx="8782439" cy="178934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54EB948-1F52-4827-0A0C-37DFDA2BF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7131" y="2675147"/>
              <a:ext cx="672939" cy="67200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37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4E6837C4-B991-69EC-A60D-2FEA68F10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4192" y="3792479"/>
              <a:ext cx="672939" cy="672009"/>
            </a:xfrm>
            <a:prstGeom prst="ellipse">
              <a:avLst/>
            </a:prstGeom>
            <a:solidFill>
              <a:srgbClr val="FF0000"/>
            </a:solidFill>
            <a:ln w="50800" cmpd="dbl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19</a:t>
              </a: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B557E598-52D5-7EC7-D172-1CCD4B227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070" y="3792479"/>
              <a:ext cx="672939" cy="67200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42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3F6D4EA-DFD5-192C-2A0F-A7D452884590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 flipH="1">
              <a:off x="6060662" y="3248743"/>
              <a:ext cx="435019" cy="543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DB9C424-9B0A-610D-067E-1721D59F5780}"/>
                </a:ext>
              </a:extLst>
            </p:cNvPr>
            <p:cNvCxnSpPr>
              <a:cxnSpLocks/>
              <a:stCxn id="6" idx="5"/>
              <a:endCxn id="8" idx="0"/>
            </p:cNvCxnSpPr>
            <p:nvPr/>
          </p:nvCxnSpPr>
          <p:spPr>
            <a:xfrm>
              <a:off x="6971520" y="3248743"/>
              <a:ext cx="435020" cy="543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64E220B-B1B6-C534-8919-097A81CDC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6587" y="2675147"/>
              <a:ext cx="672939" cy="67200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37</a:t>
              </a:r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C1CD7FAA-7482-1165-15CD-724EDDAB1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3648" y="3792479"/>
              <a:ext cx="672939" cy="67200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19</a:t>
              </a:r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DF3D4549-5237-16F6-AEE4-6ACEC8BAC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526" y="3792479"/>
              <a:ext cx="672939" cy="672009"/>
            </a:xfrm>
            <a:prstGeom prst="ellipse">
              <a:avLst/>
            </a:prstGeom>
            <a:solidFill>
              <a:srgbClr val="FF0000"/>
            </a:solidFill>
            <a:ln w="50800" cmpd="dbl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42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5E0C302-5945-69F2-F171-EC6CB3AF19D1}"/>
                </a:ext>
              </a:extLst>
            </p:cNvPr>
            <p:cNvCxnSpPr>
              <a:cxnSpLocks/>
              <a:stCxn id="11" idx="3"/>
              <a:endCxn id="12" idx="0"/>
            </p:cNvCxnSpPr>
            <p:nvPr/>
          </p:nvCxnSpPr>
          <p:spPr>
            <a:xfrm flipH="1">
              <a:off x="8750118" y="3248743"/>
              <a:ext cx="435019" cy="543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7C91F74-C54B-FC3D-4235-BA1C2C213531}"/>
                </a:ext>
              </a:extLst>
            </p:cNvPr>
            <p:cNvCxnSpPr>
              <a:cxnSpLocks/>
              <a:stCxn id="11" idx="5"/>
              <a:endCxn id="13" idx="0"/>
            </p:cNvCxnSpPr>
            <p:nvPr/>
          </p:nvCxnSpPr>
          <p:spPr>
            <a:xfrm>
              <a:off x="9660976" y="3248743"/>
              <a:ext cx="435020" cy="543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Oval 5">
              <a:extLst>
                <a:ext uri="{FF2B5EF4-FFF2-40B4-BE49-F238E27FC236}">
                  <a16:creationId xmlns:a16="http://schemas.microsoft.com/office/drawing/2014/main" id="{8E9E4D45-2FD3-EF3D-B248-94CF20E2F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965" y="2675147"/>
              <a:ext cx="672939" cy="67200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37</a:t>
              </a:r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F706D174-95BC-5F59-ECC5-16CE9CDF5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0026" y="3792479"/>
              <a:ext cx="672939" cy="672009"/>
            </a:xfrm>
            <a:prstGeom prst="ellipse">
              <a:avLst/>
            </a:prstGeom>
            <a:solidFill>
              <a:srgbClr val="FF0000"/>
            </a:solidFill>
            <a:ln w="50800" cmpd="dbl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19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544A14A-FB9F-C932-7566-B3A3D4590C86}"/>
                </a:ext>
              </a:extLst>
            </p:cNvPr>
            <p:cNvCxnSpPr>
              <a:cxnSpLocks/>
              <a:stCxn id="16" idx="3"/>
              <a:endCxn id="17" idx="0"/>
            </p:cNvCxnSpPr>
            <p:nvPr/>
          </p:nvCxnSpPr>
          <p:spPr>
            <a:xfrm flipH="1">
              <a:off x="1986496" y="3248743"/>
              <a:ext cx="435019" cy="543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C1F1261C-2482-29E7-E54F-FBB7B8EF0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675" y="2675147"/>
              <a:ext cx="672939" cy="67200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37</a:t>
              </a:r>
            </a:p>
          </p:txBody>
        </p:sp>
        <p:sp>
          <p:nvSpPr>
            <p:cNvPr id="20" name="Oval 8">
              <a:extLst>
                <a:ext uri="{FF2B5EF4-FFF2-40B4-BE49-F238E27FC236}">
                  <a16:creationId xmlns:a16="http://schemas.microsoft.com/office/drawing/2014/main" id="{ADB3D354-6160-E402-D8E4-258F743FD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614" y="3792479"/>
              <a:ext cx="672939" cy="672009"/>
            </a:xfrm>
            <a:prstGeom prst="ellipse">
              <a:avLst/>
            </a:prstGeom>
            <a:solidFill>
              <a:srgbClr val="FF0000"/>
            </a:solidFill>
            <a:ln w="50800" cmpd="dbl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Fira Code Medium" panose="020B0809050000020004" pitchFamily="49" charset="0"/>
                  <a:cs typeface="Fira Code Medium" panose="020B0809050000020004" pitchFamily="49" charset="0"/>
                </a:rPr>
                <a:t>42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07F5579-DEEB-41BC-F26C-5707702DB486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4282064" y="3248743"/>
              <a:ext cx="435020" cy="5437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1955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FD596-5BFE-8EEE-95D1-A325C883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FFAAB-B437-1352-D0D2-32404844E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64BD5-6AAE-ABF2-3C7D-55F6DD856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2</a:t>
            </a:r>
            <a:r>
              <a:rPr lang="zh-CN" altLang="zh-CN" sz="2400" b="1" dirty="0"/>
              <a:t>：父结点是红色的，叔父结点也是红色的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zh-CN" sz="2000" dirty="0"/>
              <a:t>在</a:t>
            </a:r>
            <a:r>
              <a:rPr lang="zh-CN" altLang="en-US" sz="2000" dirty="0"/>
              <a:t>父结点的左哨兵位置</a:t>
            </a:r>
            <a:r>
              <a:rPr lang="zh-CN" altLang="zh-CN" sz="2000" dirty="0"/>
              <a:t>插入新结点</a:t>
            </a:r>
            <a:endParaRPr lang="en-US" altLang="zh-CN" sz="2000" b="1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6BD020-020F-F623-031B-399FA4CAD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47" y="1978010"/>
            <a:ext cx="2560542" cy="431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52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493C-B6AC-57BF-2BDC-A7EF134B2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ACB84-BF67-63FC-BFB2-244AB501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B8877E-24B2-DE6F-F532-05C66B64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2</a:t>
            </a:r>
            <a:r>
              <a:rPr lang="zh-CN" altLang="zh-CN" sz="2400" b="1" dirty="0"/>
              <a:t>：父结点是红色的，叔父结点也是红色的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zh-CN" sz="2000" dirty="0"/>
              <a:t>在</a:t>
            </a:r>
            <a:r>
              <a:rPr lang="zh-CN" altLang="en-US" sz="2000" dirty="0"/>
              <a:t>父</a:t>
            </a:r>
            <a:r>
              <a:rPr lang="zh-CN" altLang="zh-CN" sz="2000" dirty="0"/>
              <a:t>结点</a:t>
            </a:r>
            <a:r>
              <a:rPr lang="zh-CN" altLang="en-US" sz="2000" dirty="0"/>
              <a:t>的左哨兵位置</a:t>
            </a:r>
            <a:r>
              <a:rPr lang="zh-CN" altLang="zh-CN" sz="2000" dirty="0"/>
              <a:t>插入新结点</a:t>
            </a:r>
            <a:endParaRPr lang="en-US" altLang="zh-CN" sz="2000" b="1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5" name="对话气泡: 圆角矩形 44">
            <a:extLst>
              <a:ext uri="{FF2B5EF4-FFF2-40B4-BE49-F238E27FC236}">
                <a16:creationId xmlns:a16="http://schemas.microsoft.com/office/drawing/2014/main" id="{7C4E1259-7D25-6144-6544-3ABEF5A10486}"/>
              </a:ext>
            </a:extLst>
          </p:cNvPr>
          <p:cNvSpPr/>
          <p:nvPr/>
        </p:nvSpPr>
        <p:spPr>
          <a:xfrm>
            <a:off x="736956" y="2719632"/>
            <a:ext cx="3861566" cy="1781299"/>
          </a:xfrm>
          <a:prstGeom prst="wedgeRoundRectCallout">
            <a:avLst>
              <a:gd name="adj1" fmla="val 63122"/>
              <a:gd name="adj2" fmla="val -31500"/>
              <a:gd name="adj3" fmla="val 16667"/>
            </a:avLst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如果曾祖节点是黑色的，只需将父结点和叔父结点重新着色为黑色，祖父结点重新着色为红色即可达到新的平衡。</a:t>
            </a:r>
          </a:p>
        </p:txBody>
      </p:sp>
      <p:sp>
        <p:nvSpPr>
          <p:cNvPr id="46" name="对话气泡: 圆角矩形 45">
            <a:extLst>
              <a:ext uri="{FF2B5EF4-FFF2-40B4-BE49-F238E27FC236}">
                <a16:creationId xmlns:a16="http://schemas.microsoft.com/office/drawing/2014/main" id="{C09A1881-B3D9-54C5-68BA-E01F5B89038D}"/>
              </a:ext>
            </a:extLst>
          </p:cNvPr>
          <p:cNvSpPr/>
          <p:nvPr/>
        </p:nvSpPr>
        <p:spPr>
          <a:xfrm>
            <a:off x="7822196" y="1728892"/>
            <a:ext cx="3861566" cy="4062307"/>
          </a:xfrm>
          <a:prstGeom prst="wedgeRoundRectCallout">
            <a:avLst>
              <a:gd name="adj1" fmla="val -69422"/>
              <a:gd name="adj2" fmla="val -18150"/>
              <a:gd name="adj3" fmla="val 16667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如果曾祖结点是红色，那么重新着色后，组父结点和曾祖结点都是红色的，这违背了性质</a:t>
            </a:r>
            <a:r>
              <a:rPr lang="en-US" altLang="zh-CN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，因此还需要继续进行平衡调整。调整的方法是，以祖父结点为子结点、曾祖结点为父结点，递推地沿路径上溯进行平衡调整，直到遇到黑色的父结点为止。这些平衡调整操作可能涉及上下文中各种场景描述的方法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1636FA-844B-6030-A113-BFEBFA068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037214"/>
            <a:ext cx="2548349" cy="431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05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BF862-48FB-3B76-989D-3A76ECAE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D2433-959C-2B7E-DD5D-B8959FE01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AC831A-263C-808B-3CC7-3CA3780DF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：父结点是红色的，但叔父结点</a:t>
            </a:r>
            <a:r>
              <a:rPr lang="zh-CN" altLang="en-US" sz="2400" dirty="0"/>
              <a:t>是黑色的（可能是哨兵）</a:t>
            </a:r>
            <a:endParaRPr lang="en-US" altLang="zh-CN" sz="2400" b="1" dirty="0"/>
          </a:p>
          <a:p>
            <a:pPr marL="457200" indent="-457200">
              <a:buAutoNum type="arabicParenBoth"/>
            </a:pPr>
            <a:r>
              <a:rPr lang="zh-CN" altLang="en-US" sz="2000" dirty="0"/>
              <a:t>插入位置是父结点的左哨兵位置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仅重新着色不能达到目标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BE19EA-8F92-541D-96B7-F62C54C56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99" y="2209800"/>
            <a:ext cx="5133509" cy="3962400"/>
          </a:xfrm>
          <a:prstGeom prst="rect">
            <a:avLst/>
          </a:prstGeom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9DA6DE80-3355-D2D8-37FA-E6DDDB91BA5F}"/>
              </a:ext>
            </a:extLst>
          </p:cNvPr>
          <p:cNvSpPr/>
          <p:nvPr/>
        </p:nvSpPr>
        <p:spPr>
          <a:xfrm>
            <a:off x="2284562" y="3962400"/>
            <a:ext cx="2447750" cy="959240"/>
          </a:xfrm>
          <a:prstGeom prst="wedgeRoundRectCallout">
            <a:avLst>
              <a:gd name="adj1" fmla="val 63122"/>
              <a:gd name="adj2" fmla="val -31500"/>
              <a:gd name="adj3" fmla="val 16667"/>
            </a:avLst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zh-CN" altLang="en-US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绿色路径的黑高比叔那条大</a:t>
            </a:r>
            <a:r>
              <a:rPr lang="en-US" altLang="zh-CN" sz="2002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zh-CN" altLang="en-US" sz="2002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5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EC0C-A271-BD72-92F7-AE192184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086D0-E098-68B8-E065-BB8A93E92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920CC-BCFA-D529-140B-628FBCEBE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：父结点是红色的，但叔父结点</a:t>
            </a:r>
            <a:r>
              <a:rPr lang="zh-CN" altLang="en-US" sz="2400" b="1" dirty="0"/>
              <a:t>是</a:t>
            </a:r>
            <a:r>
              <a:rPr lang="zh-CN" altLang="en-US" sz="2400" dirty="0"/>
              <a:t>黑色的（可能是哨兵）</a:t>
            </a:r>
            <a:endParaRPr lang="en-US" altLang="zh-CN" sz="2400" b="1" dirty="0"/>
          </a:p>
          <a:p>
            <a:pPr marL="457200" indent="-457200">
              <a:buAutoNum type="arabicParenBoth"/>
            </a:pPr>
            <a:r>
              <a:rPr lang="zh-CN" altLang="en-US" sz="2000" dirty="0"/>
              <a:t>插入位置是父结点的左哨兵位置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正确做法：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先右旋，再着色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8BDC48-DAE4-8E61-3F25-E054EF4B5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209800"/>
            <a:ext cx="7267499" cy="403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02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CF585-9721-0B50-EE3C-4387A06B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3E42F-EEC0-62CD-2604-9B31B34E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68050-F7F3-F755-879F-3E9A97AA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：父结点是红色的，但叔父结点</a:t>
            </a:r>
            <a:r>
              <a:rPr lang="zh-CN" altLang="en-US" sz="2400" b="1" dirty="0"/>
              <a:t>是黑色的（可能是哨兵）</a:t>
            </a:r>
            <a:endParaRPr lang="en-US" altLang="zh-CN" sz="2400" b="1" dirty="0"/>
          </a:p>
          <a:p>
            <a:pPr marL="457200" indent="-457200">
              <a:buAutoNum type="arabicParenBoth"/>
            </a:pPr>
            <a:r>
              <a:rPr lang="zh-CN" altLang="en-US" sz="2000" dirty="0"/>
              <a:t>插入位置是父结点的左哨兵位置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镜像场景：先左旋，再着色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404AE3-4BE2-F997-BFE2-172303AEE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332830"/>
            <a:ext cx="7079044" cy="397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82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B350-BD8F-0AF8-94F1-00081900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68EF0-08F8-0AA1-76AA-C7BA8DB4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2C3D1B-B664-236E-24FE-5C0260EF7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：父结点是红色的，但叔父结点</a:t>
            </a:r>
            <a:r>
              <a:rPr lang="zh-CN" altLang="en-US" sz="2400" dirty="0"/>
              <a:t>是黑色的（可能是哨兵）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000" dirty="0"/>
              <a:t>(2)</a:t>
            </a:r>
            <a:r>
              <a:rPr lang="zh-CN" altLang="en-US" sz="2000" dirty="0"/>
              <a:t>插入位置是父结点的右哨兵位置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CB0AB8-A53E-6703-BC54-AFBD4A08B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080" y="1981200"/>
            <a:ext cx="2589840" cy="42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6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A2C4-9FDA-1275-5C55-71B40550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66E2C-9719-834F-ABF7-CB2A7DB9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7280F-1BAE-D36D-80CD-2E422ECCD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：父结点是红色的，但叔父结点</a:t>
            </a:r>
            <a:r>
              <a:rPr lang="zh-CN" altLang="en-US" sz="2400" dirty="0"/>
              <a:t>是黑色的（可能是哨兵）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000" dirty="0"/>
              <a:t>(2)</a:t>
            </a:r>
            <a:r>
              <a:rPr lang="zh-CN" altLang="en-US" sz="2000" dirty="0"/>
              <a:t>插入位置是父结点的右哨兵位置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9F94D0-A26B-3257-34F2-7517E37FE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514600"/>
            <a:ext cx="10310263" cy="392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19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83519-015B-150E-4857-88D7D5F1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F5ECA-A0D0-5F57-9B24-CBDB08B9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红黑树插入：平衡调整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4217A3-01F4-A323-975B-CBF3199F7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场景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：父结点是红色的，但叔父结点</a:t>
            </a:r>
            <a:r>
              <a:rPr lang="zh-CN" altLang="en-US" sz="2400" dirty="0"/>
              <a:t>是黑色的（可能是哨兵）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000" dirty="0"/>
              <a:t>(2)</a:t>
            </a:r>
            <a:r>
              <a:rPr lang="zh-CN" altLang="en-US" sz="2000" dirty="0"/>
              <a:t>插入位置是父结点的右哨兵位置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镜像场景</a:t>
            </a:r>
            <a:r>
              <a:rPr lang="en-US" altLang="zh-CN" sz="2000" dirty="0"/>
              <a:t>   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21EBE7-28CB-CCB5-B524-276513D56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665" y="2587732"/>
            <a:ext cx="10285714" cy="38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9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D376E-4124-4CA1-24D5-76C7C4FB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红黑树插入总结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963F07-1A90-3AF6-CA1D-715CBAA0C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500114"/>
              </p:ext>
            </p:extLst>
          </p:nvPr>
        </p:nvGraphicFramePr>
        <p:xfrm>
          <a:off x="838200" y="1295400"/>
          <a:ext cx="10515600" cy="5123284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373337">
                  <a:extLst>
                    <a:ext uri="{9D8B030D-6E8A-4147-A177-3AD203B41FA5}">
                      <a16:colId xmlns:a16="http://schemas.microsoft.com/office/drawing/2014/main" val="4024622419"/>
                    </a:ext>
                  </a:extLst>
                </a:gridCol>
                <a:gridCol w="5079912">
                  <a:extLst>
                    <a:ext uri="{9D8B030D-6E8A-4147-A177-3AD203B41FA5}">
                      <a16:colId xmlns:a16="http://schemas.microsoft.com/office/drawing/2014/main" val="2494784456"/>
                    </a:ext>
                  </a:extLst>
                </a:gridCol>
                <a:gridCol w="4062351">
                  <a:extLst>
                    <a:ext uri="{9D8B030D-6E8A-4147-A177-3AD203B41FA5}">
                      <a16:colId xmlns:a16="http://schemas.microsoft.com/office/drawing/2014/main" val="1946669183"/>
                    </a:ext>
                  </a:extLst>
                </a:gridCol>
              </a:tblGrid>
              <a:tr h="4083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场景描述</a:t>
                      </a:r>
                      <a:endParaRPr lang="zh-CN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0491618"/>
                  </a:ext>
                </a:extLst>
              </a:tr>
              <a:tr h="409592"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父结点是黑色的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直接插入。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extLst>
                  <a:ext uri="{0D108BD9-81ED-4DB2-BD59-A6C34878D82A}">
                    <a16:rowId xmlns:a16="http://schemas.microsoft.com/office/drawing/2014/main" val="2758135329"/>
                  </a:ext>
                </a:extLst>
              </a:tr>
              <a:tr h="843188"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父结点和叔父节点都是红色的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父结点和叔父结点着黑色，祖父结点着红色。如果曾祖结点是红色，则继续向上调整。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extLst>
                  <a:ext uri="{0D108BD9-81ED-4DB2-BD59-A6C34878D82A}">
                    <a16:rowId xmlns:a16="http://schemas.microsoft.com/office/drawing/2014/main" val="2687189324"/>
                  </a:ext>
                </a:extLst>
              </a:tr>
              <a:tr h="843188"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父结点是红色的，叔父结点是黑色的。父结点是组父结点的左孩子，插入位置是父结点的左哨兵位置。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单右旋，然后父结点着黑色，祖父结点着红色。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3881" marR="63881" marT="19050" marB="19050" anchor="ctr"/>
                </a:tc>
                <a:extLst>
                  <a:ext uri="{0D108BD9-81ED-4DB2-BD59-A6C34878D82A}">
                    <a16:rowId xmlns:a16="http://schemas.microsoft.com/office/drawing/2014/main" val="3353178103"/>
                  </a:ext>
                </a:extLst>
              </a:tr>
              <a:tr h="846911"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父结点是红色的，叔父结点是黑色的。父结点是组父结点的左孩子，插入位置是父结点的右哨兵位置。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先左旋，再右旋，最后插入结点着黑色，祖父结点着红色。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3881" marR="63881" marT="19050" marB="19050" anchor="ctr"/>
                </a:tc>
                <a:extLst>
                  <a:ext uri="{0D108BD9-81ED-4DB2-BD59-A6C34878D82A}">
                    <a16:rowId xmlns:a16="http://schemas.microsoft.com/office/drawing/2014/main" val="1322572882"/>
                  </a:ext>
                </a:extLst>
              </a:tr>
              <a:tr h="843188"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</a:t>
                      </a: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的镜像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父结点是红色的，叔父结点是黑色的。父结点是组父结点的右孩子，插入位置是父结点的右哨兵位置。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单左旋，然后父结点着黑色，祖父结点着红色。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3881" marR="63881" marT="19050" marB="19050" anchor="ctr"/>
                </a:tc>
                <a:extLst>
                  <a:ext uri="{0D108BD9-81ED-4DB2-BD59-A6C34878D82A}">
                    <a16:rowId xmlns:a16="http://schemas.microsoft.com/office/drawing/2014/main" val="2502493691"/>
                  </a:ext>
                </a:extLst>
              </a:tr>
              <a:tr h="846911"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</a:t>
                      </a: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的镜像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父结点是红色的，叔父结点是黑色的。父结点是组父结点的右孩子，插入位置是父结点的左哨兵位子。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63881" marR="63881" marT="19050" marB="19050" anchor="ctr"/>
                </a:tc>
                <a:tc>
                  <a:txBody>
                    <a:bodyPr/>
                    <a:lstStyle/>
                    <a:p>
                      <a:pPr algn="just" fontAlgn="ctr" latinLnBrk="1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先右旋，再左旋，最后插入结点着黑色，祖父结点着红色。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63881" marR="63881" marT="19050" marB="19050" anchor="ctr"/>
                </a:tc>
                <a:extLst>
                  <a:ext uri="{0D108BD9-81ED-4DB2-BD59-A6C34878D82A}">
                    <a16:rowId xmlns:a16="http://schemas.microsoft.com/office/drawing/2014/main" val="242623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334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0F2C-F07D-95A2-A4E7-EB48AFF6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11515-045A-D69D-8264-5F8CB37AF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红黑树查找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5D43CC-E779-723A-ED02-7230CA7E05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红黑树本质上是一种自平衡的二叉搜索树，因此查找方法和二叉搜索树、二叉平衡树是非常相似的。</a:t>
                </a:r>
                <a:endParaRPr lang="en-US" altLang="zh-CN" sz="2400" dirty="0"/>
              </a:p>
              <a:p>
                <a:r>
                  <a:rPr lang="zh-CN" altLang="en-US" sz="2400" dirty="0"/>
                  <a:t>红黑树搜索的时间复杂度是：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45D43CC-E779-723A-ED02-7230CA7E05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1" r="-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3305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2D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22225" cap="flat" cmpd="sng" algn="ctr">
          <a:solidFill>
            <a:srgbClr val="006600"/>
          </a:solidFill>
          <a:prstDash val="solid"/>
          <a:round/>
          <a:headEnd type="none" w="sm" len="sm"/>
          <a:tailEnd type="none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/>
        </a:defPPr>
      </a:lstStyle>
    </a:spDef>
    <a:lnDef>
      <a:spPr bwMode="auto">
        <a:solidFill>
          <a:schemeClr val="accent1"/>
        </a:solidFill>
        <a:ln w="22225" cap="flat" cmpd="sng" algn="ctr">
          <a:solidFill>
            <a:schemeClr val="accent2">
              <a:lumMod val="75000"/>
            </a:schemeClr>
          </a:solidFill>
          <a:prstDash val="solid"/>
          <a:round/>
          <a:headEnd type="none" w="sm" len="sm"/>
          <a:tailEnd type="none"/>
        </a:ln>
        <a:effectLst/>
      </a:spPr>
      <a:bodyPr/>
      <a:lstStyle/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6372</TotalTime>
  <Words>1563</Words>
  <Application>Microsoft Office PowerPoint</Application>
  <PresentationFormat>宽屏</PresentationFormat>
  <Paragraphs>120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等线</vt:lpstr>
      <vt:lpstr>微软雅黑</vt:lpstr>
      <vt:lpstr>Arial</vt:lpstr>
      <vt:lpstr>Cambria Math</vt:lpstr>
      <vt:lpstr>Consolas</vt:lpstr>
      <vt:lpstr>Times New Roman</vt:lpstr>
      <vt:lpstr>Wingdings</vt:lpstr>
      <vt:lpstr>tm2</vt:lpstr>
      <vt:lpstr>红黑树</vt:lpstr>
      <vt:lpstr>红黑树</vt:lpstr>
      <vt:lpstr>红黑树</vt:lpstr>
      <vt:lpstr>红黑树的性质</vt:lpstr>
      <vt:lpstr>典型的红黑树</vt:lpstr>
      <vt:lpstr>节约存储空间的红黑树：共享唯一哨兵</vt:lpstr>
      <vt:lpstr>红黑树</vt:lpstr>
      <vt:lpstr>一些方便描述的术语</vt:lpstr>
      <vt:lpstr>红黑树的描述</vt:lpstr>
      <vt:lpstr>红黑树插入：新结点颜色是红色的</vt:lpstr>
      <vt:lpstr>红黑树插入：平衡调整</vt:lpstr>
      <vt:lpstr>红黑树插入：平衡调整</vt:lpstr>
      <vt:lpstr>红黑树插入：平衡调整</vt:lpstr>
      <vt:lpstr>红黑树插入：平衡调整</vt:lpstr>
      <vt:lpstr>红黑树插入：平衡调整</vt:lpstr>
      <vt:lpstr>红黑树插入：平衡调整</vt:lpstr>
      <vt:lpstr>红黑树插入：平衡调整</vt:lpstr>
      <vt:lpstr>红黑树插入：平衡调整</vt:lpstr>
      <vt:lpstr>红黑树插入：平衡调整</vt:lpstr>
      <vt:lpstr>红黑树插入总结</vt:lpstr>
      <vt:lpstr>红黑树查找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1212</cp:revision>
  <cp:lastPrinted>1999-11-08T20:52:53Z</cp:lastPrinted>
  <dcterms:created xsi:type="dcterms:W3CDTF">1999-08-24T18:39:05Z</dcterms:created>
  <dcterms:modified xsi:type="dcterms:W3CDTF">2026-06-10T00:52:29Z</dcterms:modified>
</cp:coreProperties>
</file>