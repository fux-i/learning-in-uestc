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76"/>
  </p:notesMasterIdLst>
  <p:handoutMasterIdLst>
    <p:handoutMasterId r:id="rId77"/>
  </p:handoutMasterIdLst>
  <p:sldIdLst>
    <p:sldId id="263" r:id="rId2"/>
    <p:sldId id="268" r:id="rId3"/>
    <p:sldId id="266" r:id="rId4"/>
    <p:sldId id="269" r:id="rId5"/>
    <p:sldId id="270" r:id="rId6"/>
    <p:sldId id="267" r:id="rId7"/>
    <p:sldId id="271" r:id="rId8"/>
    <p:sldId id="273" r:id="rId9"/>
    <p:sldId id="274" r:id="rId10"/>
    <p:sldId id="275" r:id="rId11"/>
    <p:sldId id="276" r:id="rId12"/>
    <p:sldId id="277" r:id="rId13"/>
    <p:sldId id="278" r:id="rId14"/>
    <p:sldId id="280" r:id="rId15"/>
    <p:sldId id="279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3" r:id="rId28"/>
    <p:sldId id="292" r:id="rId29"/>
    <p:sldId id="294" r:id="rId30"/>
    <p:sldId id="297" r:id="rId31"/>
    <p:sldId id="338" r:id="rId32"/>
    <p:sldId id="339" r:id="rId33"/>
    <p:sldId id="340" r:id="rId34"/>
    <p:sldId id="341" r:id="rId35"/>
    <p:sldId id="337" r:id="rId36"/>
    <p:sldId id="306" r:id="rId37"/>
    <p:sldId id="307" r:id="rId38"/>
    <p:sldId id="308" r:id="rId39"/>
    <p:sldId id="309" r:id="rId40"/>
    <p:sldId id="296" r:id="rId41"/>
    <p:sldId id="298" r:id="rId42"/>
    <p:sldId id="344" r:id="rId43"/>
    <p:sldId id="345" r:id="rId44"/>
    <p:sldId id="330" r:id="rId45"/>
    <p:sldId id="299" r:id="rId46"/>
    <p:sldId id="300" r:id="rId47"/>
    <p:sldId id="301" r:id="rId48"/>
    <p:sldId id="302" r:id="rId49"/>
    <p:sldId id="310" r:id="rId50"/>
    <p:sldId id="311" r:id="rId51"/>
    <p:sldId id="312" r:id="rId52"/>
    <p:sldId id="313" r:id="rId53"/>
    <p:sldId id="303" r:id="rId54"/>
    <p:sldId id="304" r:id="rId55"/>
    <p:sldId id="305" r:id="rId56"/>
    <p:sldId id="314" r:id="rId57"/>
    <p:sldId id="315" r:id="rId58"/>
    <p:sldId id="317" r:id="rId59"/>
    <p:sldId id="316" r:id="rId60"/>
    <p:sldId id="318" r:id="rId61"/>
    <p:sldId id="319" r:id="rId62"/>
    <p:sldId id="320" r:id="rId63"/>
    <p:sldId id="321" r:id="rId64"/>
    <p:sldId id="322" r:id="rId65"/>
    <p:sldId id="333" r:id="rId66"/>
    <p:sldId id="334" r:id="rId67"/>
    <p:sldId id="335" r:id="rId68"/>
    <p:sldId id="336" r:id="rId69"/>
    <p:sldId id="324" r:id="rId70"/>
    <p:sldId id="325" r:id="rId71"/>
    <p:sldId id="326" r:id="rId72"/>
    <p:sldId id="327" r:id="rId73"/>
    <p:sldId id="328" r:id="rId74"/>
    <p:sldId id="329" r:id="rId75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33"/>
    <a:srgbClr val="660033"/>
    <a:srgbClr val="006600"/>
    <a:srgbClr val="C6A02E"/>
    <a:srgbClr val="B82F25"/>
    <a:srgbClr val="6DBFAB"/>
    <a:srgbClr val="FF7706"/>
    <a:srgbClr val="FF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4" autoAdjust="0"/>
    <p:restoredTop sz="94660"/>
  </p:normalViewPr>
  <p:slideViewPr>
    <p:cSldViewPr>
      <p:cViewPr varScale="1">
        <p:scale>
          <a:sx n="85" d="100"/>
          <a:sy n="85" d="100"/>
        </p:scale>
        <p:origin x="54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39" d="100"/>
          <a:sy n="39" d="100"/>
        </p:scale>
        <p:origin x="2386" y="62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8F26BC-7BC4-4E81-856A-C803AC3A2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6C85D-8214-4E69-93B1-C7927D703D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11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6664E-1BF0-46AE-AAC0-8104A4986E0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25ABF-C6A2-43A4-994B-70B5FF683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813771-266C-4568-83F5-7D86B4D52A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11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5DD2-4AED-427E-8312-F2C1EDAA2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2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54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974" y="4714549"/>
            <a:ext cx="4983728" cy="44683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54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60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>
              <a:lnSpc>
                <a:spcPct val="12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 marL="342900" indent="-342900">
              <a:lnSpc>
                <a:spcPct val="125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0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>
              <a:lnSpc>
                <a:spcPct val="125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lang="en-US" sz="3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lang="en-US" sz="32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99003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+mn-ea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FFD2-C759-4331-B2C5-BD27D3F87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第七章  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8536A-F4C9-408B-A1C2-8B253B47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altLang="zh-CN" dirty="0"/>
              <a:t>zhangxue@uestc.edu.cn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8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2A13D04-216A-4502-87AE-1AF31C99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图是一种网状结构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81C0FE65-8779-4E4F-9403-6631A08960F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1295400"/>
                <a:ext cx="11506200" cy="4800600"/>
              </a:xfrm>
            </p:spPr>
            <p:txBody>
              <a:bodyPr/>
              <a:lstStyle/>
              <a:p>
                <a:r>
                  <a:rPr lang="zh-CN" altLang="en-US" dirty="0"/>
                  <a:t>图 </a:t>
                </a:r>
                <a:r>
                  <a:rPr lang="en-US" altLang="zh-CN" dirty="0"/>
                  <a:t>G=(V, E)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V</a:t>
                </a:r>
                <a:r>
                  <a:rPr lang="zh-CN" altLang="en-US" dirty="0"/>
                  <a:t>是顶点的集合，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E</a:t>
                </a:r>
                <a:r>
                  <a:rPr lang="zh-CN" altLang="en-US" dirty="0"/>
                  <a:t>是边的集合。</a:t>
                </a:r>
                <a:endParaRPr lang="en-US" altLang="zh-CN" dirty="0"/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 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,(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⃑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, 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81C0FE65-8779-4E4F-9403-6631A08960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1295400"/>
                <a:ext cx="11506200" cy="4800600"/>
              </a:xfrm>
              <a:blipFill>
                <a:blip r:embed="rId2"/>
                <a:stretch>
                  <a:fillRect l="-794" t="-254" r="-159" b="-8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85ED13FD-9F23-4FDA-A32C-9FF33A1089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461" y="1295400"/>
            <a:ext cx="3695877" cy="2066925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1057D3-0A7B-4954-9F6B-B13AEBDF4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295401"/>
            <a:ext cx="3695877" cy="2066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BBE9D3F-4AF0-418C-B295-2FEC6B60E387}"/>
                  </a:ext>
                </a:extLst>
              </p:cNvPr>
              <p:cNvSpPr txBox="1"/>
              <p:nvPr/>
            </p:nvSpPr>
            <p:spPr>
              <a:xfrm>
                <a:off x="5486400" y="3508734"/>
                <a:ext cx="2133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BBE9D3F-4AF0-418C-B295-2FEC6B60E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508734"/>
                <a:ext cx="2133600" cy="584775"/>
              </a:xfrm>
              <a:prstGeom prst="rect">
                <a:avLst/>
              </a:prstGeom>
              <a:blipFill>
                <a:blip r:embed="rId5"/>
                <a:stretch>
                  <a:fillRect l="-7143"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93002F-052A-4039-9D03-F98443C10CC2}"/>
                  </a:ext>
                </a:extLst>
              </p:cNvPr>
              <p:cNvSpPr txBox="1"/>
              <p:nvPr/>
            </p:nvSpPr>
            <p:spPr>
              <a:xfrm>
                <a:off x="9372600" y="3496689"/>
                <a:ext cx="2133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𝐺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93002F-052A-4039-9D03-F98443C10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0" y="3496689"/>
                <a:ext cx="2133600" cy="584775"/>
              </a:xfrm>
              <a:prstGeom prst="rect">
                <a:avLst/>
              </a:prstGeom>
              <a:blipFill>
                <a:blip r:embed="rId6"/>
                <a:stretch>
                  <a:fillRect l="-7429"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050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图的基本术语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7C868-3FD9-4EAB-918F-6256D5BF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完全图</a:t>
            </a:r>
            <a:r>
              <a:rPr lang="zh-CN" altLang="en-US" b="0" dirty="0"/>
              <a:t>：任意两点间都有边直接相连。</a:t>
            </a:r>
            <a:endParaRPr lang="en-US" altLang="zh-CN" b="0" dirty="0"/>
          </a:p>
          <a:p>
            <a:pPr lvl="1"/>
            <a:r>
              <a:rPr lang="zh-CN" altLang="en-US" dirty="0"/>
              <a:t>无向完全图共</a:t>
            </a:r>
            <a:r>
              <a:rPr lang="en-US" altLang="zh-CN" dirty="0"/>
              <a:t>n(n-1)/2</a:t>
            </a:r>
            <a:r>
              <a:rPr lang="zh-CN" altLang="en-US" dirty="0"/>
              <a:t>条边；</a:t>
            </a:r>
            <a:endParaRPr lang="en-US" altLang="zh-CN" dirty="0"/>
          </a:p>
          <a:p>
            <a:pPr lvl="1"/>
            <a:r>
              <a:rPr lang="zh-CN" altLang="en-US" dirty="0"/>
              <a:t>有向完全图共</a:t>
            </a:r>
            <a:r>
              <a:rPr lang="en-US" altLang="zh-CN" dirty="0"/>
              <a:t>n(n-1)</a:t>
            </a:r>
            <a:r>
              <a:rPr lang="zh-CN" altLang="en-US" dirty="0"/>
              <a:t>条边。</a:t>
            </a:r>
            <a:endParaRPr lang="en-US" altLang="zh-CN" dirty="0"/>
          </a:p>
          <a:p>
            <a:r>
              <a:rPr lang="zh-CN" altLang="en-US" dirty="0"/>
              <a:t>子图</a:t>
            </a:r>
            <a:r>
              <a:rPr lang="zh-CN" altLang="en-US" b="0" dirty="0"/>
              <a:t>：顶点集和边集都是另一图的子集。</a:t>
            </a:r>
            <a:endParaRPr lang="en-US" altLang="zh-CN" b="0" dirty="0"/>
          </a:p>
          <a:p>
            <a:r>
              <a:rPr lang="zh-CN" altLang="en-US" dirty="0"/>
              <a:t>邻接点</a:t>
            </a:r>
            <a:r>
              <a:rPr lang="zh-CN" altLang="en-US" b="0" dirty="0"/>
              <a:t>：有边相连的两点。</a:t>
            </a:r>
            <a:endParaRPr lang="en-US" altLang="zh-CN" b="0" dirty="0"/>
          </a:p>
          <a:p>
            <a:pPr lvl="1"/>
            <a:r>
              <a:rPr lang="zh-CN" altLang="en-US" dirty="0"/>
              <a:t>对于无向边</a:t>
            </a:r>
            <a:r>
              <a:rPr lang="en-US" altLang="zh-CN" dirty="0"/>
              <a:t>(m, n)</a:t>
            </a:r>
            <a:r>
              <a:rPr lang="zh-CN" altLang="en-US" dirty="0"/>
              <a:t>，顶点</a:t>
            </a:r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相邻，互为邻接点；</a:t>
            </a:r>
            <a:endParaRPr lang="en-US" altLang="zh-CN" dirty="0"/>
          </a:p>
          <a:p>
            <a:pPr lvl="1"/>
            <a:r>
              <a:rPr lang="zh-CN" altLang="en-US" dirty="0"/>
              <a:t>对于有向边</a:t>
            </a:r>
            <a:r>
              <a:rPr lang="en-US" altLang="zh-CN" dirty="0"/>
              <a:t>&lt;m,</a:t>
            </a:r>
            <a:r>
              <a:rPr lang="zh-CN" altLang="en-US" dirty="0"/>
              <a:t> </a:t>
            </a:r>
            <a:r>
              <a:rPr lang="en-US" altLang="zh-CN" dirty="0"/>
              <a:t>n&gt;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dirty="0"/>
              <a:t>邻接</a:t>
            </a:r>
            <a:r>
              <a:rPr lang="zh-CN" altLang="en-US" b="1" dirty="0"/>
              <a:t>到</a:t>
            </a:r>
            <a:r>
              <a:rPr lang="en-US" altLang="zh-CN" dirty="0"/>
              <a:t>n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邻接</a:t>
            </a:r>
            <a:r>
              <a:rPr lang="zh-CN" altLang="en-US" b="1" dirty="0"/>
              <a:t>自</a:t>
            </a:r>
            <a:r>
              <a:rPr lang="en-US" altLang="zh-CN" dirty="0"/>
              <a:t>m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2882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图的基本术语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7C868-3FD9-4EAB-918F-6256D5BFE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r>
              <a:rPr lang="zh-CN" altLang="en-US" dirty="0"/>
              <a:t>顶点的度</a:t>
            </a:r>
            <a:endParaRPr lang="en-US" altLang="zh-CN" dirty="0"/>
          </a:p>
          <a:p>
            <a:pPr lvl="1"/>
            <a:r>
              <a:rPr lang="zh-CN" altLang="en-US" dirty="0"/>
              <a:t>在无向图中，顶点的度是指与该点相连的边数；</a:t>
            </a:r>
            <a:endParaRPr lang="en-US" altLang="zh-CN" dirty="0"/>
          </a:p>
          <a:p>
            <a:pPr lvl="1"/>
            <a:r>
              <a:rPr lang="zh-CN" altLang="en-US" dirty="0"/>
              <a:t>在有向图中，又分</a:t>
            </a:r>
            <a:r>
              <a:rPr lang="zh-CN" altLang="en-US" b="1" dirty="0"/>
              <a:t>出度</a:t>
            </a:r>
            <a:r>
              <a:rPr lang="zh-CN" altLang="en-US" dirty="0"/>
              <a:t>和</a:t>
            </a:r>
            <a:r>
              <a:rPr lang="zh-CN" altLang="en-US" b="1" dirty="0"/>
              <a:t>入度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zh-CN" altLang="en-US" dirty="0"/>
              <a:t>权</a:t>
            </a:r>
            <a:r>
              <a:rPr lang="zh-CN" altLang="en-US" b="0" dirty="0"/>
              <a:t>：与边相关联的有实际意义的数，如距离或代价等。也可以为顶点赋权值。</a:t>
            </a:r>
            <a:endParaRPr lang="en-US" altLang="zh-CN" b="0" dirty="0"/>
          </a:p>
          <a:p>
            <a:r>
              <a:rPr lang="zh-CN" altLang="en-US" dirty="0"/>
              <a:t>路径</a:t>
            </a:r>
            <a:r>
              <a:rPr lang="zh-CN" altLang="en-US" b="0" dirty="0"/>
              <a:t>：从一点到另一点经过的边的序列，常写成顶点的序列。</a:t>
            </a:r>
            <a:endParaRPr lang="en-US" altLang="zh-CN" b="0" dirty="0"/>
          </a:p>
          <a:p>
            <a:r>
              <a:rPr lang="zh-CN" altLang="en-US" dirty="0"/>
              <a:t>回路</a:t>
            </a:r>
            <a:r>
              <a:rPr lang="zh-CN" altLang="en-US" b="0" dirty="0"/>
              <a:t>：也叫环，即路径上的环路。</a:t>
            </a:r>
            <a:endParaRPr lang="en-US" altLang="zh-CN" b="0" dirty="0"/>
          </a:p>
          <a:p>
            <a:r>
              <a:rPr lang="zh-CN" altLang="en-US" dirty="0"/>
              <a:t>连通图</a:t>
            </a:r>
            <a:r>
              <a:rPr lang="zh-CN" altLang="en-US" b="0" dirty="0"/>
              <a:t>：任意两点间都有路径可达。</a:t>
            </a:r>
            <a:endParaRPr lang="en-US" altLang="zh-CN" b="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597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6A5C54-915A-42CD-8912-DC25C582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  <a:r>
              <a:rPr lang="en-US" altLang="zh-CN" dirty="0"/>
              <a:t>-</a:t>
            </a:r>
            <a:r>
              <a:rPr lang="zh-CN" altLang="en-US" dirty="0"/>
              <a:t>邻接矩阵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4009F1B-DFB0-4F9D-B456-D26E63018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12374"/>
            <a:ext cx="2159640" cy="1890486"/>
          </a:xfrm>
        </p:spPr>
      </p:pic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5379E513-0A74-4941-80B9-2FEF349FD5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760" y="1309914"/>
            <a:ext cx="2159640" cy="1890486"/>
          </a:xfrm>
        </p:spPr>
      </p:pic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4DA87114-2E03-4D69-8930-BDA87E787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545501"/>
              </p:ext>
            </p:extLst>
          </p:nvPr>
        </p:nvGraphicFramePr>
        <p:xfrm>
          <a:off x="1727840" y="2895600"/>
          <a:ext cx="3682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472">
                  <a:extLst>
                    <a:ext uri="{9D8B030D-6E8A-4147-A177-3AD203B41FA5}">
                      <a16:colId xmlns:a16="http://schemas.microsoft.com/office/drawing/2014/main" val="2541678468"/>
                    </a:ext>
                  </a:extLst>
                </a:gridCol>
                <a:gridCol w="736472">
                  <a:extLst>
                    <a:ext uri="{9D8B030D-6E8A-4147-A177-3AD203B41FA5}">
                      <a16:colId xmlns:a16="http://schemas.microsoft.com/office/drawing/2014/main" val="544039844"/>
                    </a:ext>
                  </a:extLst>
                </a:gridCol>
                <a:gridCol w="736472">
                  <a:extLst>
                    <a:ext uri="{9D8B030D-6E8A-4147-A177-3AD203B41FA5}">
                      <a16:colId xmlns:a16="http://schemas.microsoft.com/office/drawing/2014/main" val="2587863243"/>
                    </a:ext>
                  </a:extLst>
                </a:gridCol>
                <a:gridCol w="736472">
                  <a:extLst>
                    <a:ext uri="{9D8B030D-6E8A-4147-A177-3AD203B41FA5}">
                      <a16:colId xmlns:a16="http://schemas.microsoft.com/office/drawing/2014/main" val="3607464601"/>
                    </a:ext>
                  </a:extLst>
                </a:gridCol>
                <a:gridCol w="736472">
                  <a:extLst>
                    <a:ext uri="{9D8B030D-6E8A-4147-A177-3AD203B41FA5}">
                      <a16:colId xmlns:a16="http://schemas.microsoft.com/office/drawing/2014/main" val="1187715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650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179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17261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74154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86899117"/>
                  </a:ext>
                </a:extLst>
              </a:tr>
            </a:tbl>
          </a:graphicData>
        </a:graphic>
      </p:graphicFrame>
      <p:graphicFrame>
        <p:nvGraphicFramePr>
          <p:cNvPr id="13" name="表格 11">
            <a:extLst>
              <a:ext uri="{FF2B5EF4-FFF2-40B4-BE49-F238E27FC236}">
                <a16:creationId xmlns:a16="http://schemas.microsoft.com/office/drawing/2014/main" id="{BDD27A08-B7B2-4B25-8C1A-31C0B307D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460293"/>
              </p:ext>
            </p:extLst>
          </p:nvPr>
        </p:nvGraphicFramePr>
        <p:xfrm>
          <a:off x="7747640" y="2895600"/>
          <a:ext cx="3682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472">
                  <a:extLst>
                    <a:ext uri="{9D8B030D-6E8A-4147-A177-3AD203B41FA5}">
                      <a16:colId xmlns:a16="http://schemas.microsoft.com/office/drawing/2014/main" val="2541678468"/>
                    </a:ext>
                  </a:extLst>
                </a:gridCol>
                <a:gridCol w="736472">
                  <a:extLst>
                    <a:ext uri="{9D8B030D-6E8A-4147-A177-3AD203B41FA5}">
                      <a16:colId xmlns:a16="http://schemas.microsoft.com/office/drawing/2014/main" val="544039844"/>
                    </a:ext>
                  </a:extLst>
                </a:gridCol>
                <a:gridCol w="736472">
                  <a:extLst>
                    <a:ext uri="{9D8B030D-6E8A-4147-A177-3AD203B41FA5}">
                      <a16:colId xmlns:a16="http://schemas.microsoft.com/office/drawing/2014/main" val="2587863243"/>
                    </a:ext>
                  </a:extLst>
                </a:gridCol>
                <a:gridCol w="736472">
                  <a:extLst>
                    <a:ext uri="{9D8B030D-6E8A-4147-A177-3AD203B41FA5}">
                      <a16:colId xmlns:a16="http://schemas.microsoft.com/office/drawing/2014/main" val="3607464601"/>
                    </a:ext>
                  </a:extLst>
                </a:gridCol>
                <a:gridCol w="736472">
                  <a:extLst>
                    <a:ext uri="{9D8B030D-6E8A-4147-A177-3AD203B41FA5}">
                      <a16:colId xmlns:a16="http://schemas.microsoft.com/office/drawing/2014/main" val="1187715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650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179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17261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74154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86899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79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  <a:r>
              <a:rPr lang="en-US" altLang="zh-CN" dirty="0"/>
              <a:t>-</a:t>
            </a:r>
            <a:r>
              <a:rPr lang="zh-CN" altLang="en-US" dirty="0"/>
              <a:t>邻接矩阵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50D3564-08D8-4741-8247-CFBD683ECD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29048"/>
            <a:ext cx="5689600" cy="3790503"/>
          </a:xfrm>
        </p:spPr>
      </p:pic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F1EA1EEE-2BCB-47A7-B124-91395BA331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6065029"/>
              </p:ext>
            </p:extLst>
          </p:nvPr>
        </p:nvGraphicFramePr>
        <p:xfrm>
          <a:off x="6426202" y="1676400"/>
          <a:ext cx="507999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714">
                  <a:extLst>
                    <a:ext uri="{9D8B030D-6E8A-4147-A177-3AD203B41FA5}">
                      <a16:colId xmlns:a16="http://schemas.microsoft.com/office/drawing/2014/main" val="204280013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4995586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124672211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1432031509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1938541917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26128573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3720537055"/>
                    </a:ext>
                  </a:extLst>
                </a:gridCol>
              </a:tblGrid>
              <a:tr h="591879">
                <a:tc>
                  <a:txBody>
                    <a:bodyPr/>
                    <a:lstStyle/>
                    <a:p>
                      <a:pPr algn="ctr"/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82362"/>
                  </a:ext>
                </a:extLst>
              </a:tr>
              <a:tr h="5918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0709574"/>
                  </a:ext>
                </a:extLst>
              </a:tr>
              <a:tr h="5918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73492571"/>
                  </a:ext>
                </a:extLst>
              </a:tr>
              <a:tr h="5918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20307198"/>
                  </a:ext>
                </a:extLst>
              </a:tr>
              <a:tr h="5918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5700819"/>
                  </a:ext>
                </a:extLst>
              </a:tr>
              <a:tr h="5918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2829106"/>
                  </a:ext>
                </a:extLst>
              </a:tr>
              <a:tr h="5918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∞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1000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466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5807A-BB5A-4373-86B2-ABC84E21B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  <a:r>
              <a:rPr lang="en-US" altLang="zh-CN" dirty="0"/>
              <a:t>-</a:t>
            </a:r>
            <a:r>
              <a:rPr lang="zh-CN" altLang="en-US" dirty="0"/>
              <a:t>邻接矩阵的一种定义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EFE14-6EE1-4ACB-BA03-BB2AC0AB7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Vertex vertex[NUM_OF_VERTEXES];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Edge matrix[NUM_OF_VERTEXES][NUM_OF_VERTEXES];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AdjacencyMatrixGraph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202044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C2D2B-F005-436F-8B15-6D7873B0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               图的存储</a:t>
            </a:r>
            <a:r>
              <a:rPr lang="en-US" altLang="zh-CN" dirty="0"/>
              <a:t>-</a:t>
            </a:r>
            <a:r>
              <a:rPr lang="zh-CN" altLang="en-US" dirty="0"/>
              <a:t>邻接表</a:t>
            </a:r>
          </a:p>
        </p:txBody>
      </p:sp>
      <p:pic>
        <p:nvPicPr>
          <p:cNvPr id="17" name="内容占位符 16">
            <a:extLst>
              <a:ext uri="{FF2B5EF4-FFF2-40B4-BE49-F238E27FC236}">
                <a16:creationId xmlns:a16="http://schemas.microsoft.com/office/drawing/2014/main" id="{34EB6065-E06D-4474-A8A0-34180FC315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57400"/>
            <a:ext cx="10096501" cy="4038600"/>
          </a:xfrm>
        </p:spPr>
      </p:pic>
      <p:pic>
        <p:nvPicPr>
          <p:cNvPr id="23" name="内容占位符 22">
            <a:extLst>
              <a:ext uri="{FF2B5EF4-FFF2-40B4-BE49-F238E27FC236}">
                <a16:creationId xmlns:a16="http://schemas.microsoft.com/office/drawing/2014/main" id="{36BBCC72-F9F9-4D17-97B4-77D185B436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425" y="600544"/>
            <a:ext cx="3533775" cy="3057056"/>
          </a:xfrm>
        </p:spPr>
      </p:pic>
    </p:spTree>
    <p:extLst>
      <p:ext uri="{BB962C8B-B14F-4D97-AF65-F5344CB8AC3E}">
        <p14:creationId xmlns:p14="http://schemas.microsoft.com/office/powerpoint/2010/main" val="96468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10B0940-85F3-42BE-925B-276E3C64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  <a:r>
              <a:rPr lang="en-US" altLang="zh-CN" dirty="0"/>
              <a:t>-</a:t>
            </a:r>
            <a:r>
              <a:rPr lang="zh-CN" altLang="en-US" dirty="0"/>
              <a:t>邻接表的一种定义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18949B-4CEF-4FF2-917A-4BD1268AB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Edge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int </a:t>
            </a:r>
            <a:r>
              <a:rPr lang="en-US" altLang="zh-CN" b="0" dirty="0" err="1"/>
              <a:t>adjacentToVertex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Weight </a:t>
            </a:r>
            <a:r>
              <a:rPr lang="en-US" altLang="zh-CN" b="0" dirty="0" err="1"/>
              <a:t>weight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struct Edge *</a:t>
            </a:r>
            <a:r>
              <a:rPr lang="en-US" altLang="zh-CN" b="0" dirty="0" err="1"/>
              <a:t>pNextEdge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Edge;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Vertex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VertexInfo</a:t>
            </a:r>
            <a:r>
              <a:rPr lang="en-US" altLang="zh-CN" b="0" dirty="0"/>
              <a:t> info;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Edge *</a:t>
            </a:r>
            <a:r>
              <a:rPr lang="en-US" altLang="zh-CN" b="0" dirty="0" err="1"/>
              <a:t>pFirstEdge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Vertex;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945129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10B0940-85F3-42BE-925B-276E3C64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  <a:r>
              <a:rPr lang="en-US" altLang="zh-CN" dirty="0"/>
              <a:t>-</a:t>
            </a:r>
            <a:r>
              <a:rPr lang="zh-CN" altLang="en-US" dirty="0"/>
              <a:t>邻接表的一种定义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18949B-4CEF-4FF2-917A-4BD1268AB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Vertex vertex[NUM_OF_VERTEXES];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也可以有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</a:t>
            </a:r>
            <a:r>
              <a:rPr lang="en-US" altLang="zh-CN" b="0" dirty="0"/>
              <a:t>int </a:t>
            </a:r>
            <a:r>
              <a:rPr lang="en-US" altLang="zh-CN" b="0" dirty="0" err="1"/>
              <a:t>numOfEdges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* </a:t>
            </a:r>
            <a:r>
              <a:rPr lang="en-US" altLang="zh-CN" b="0" dirty="0" err="1"/>
              <a:t>GraphType</a:t>
            </a:r>
            <a:r>
              <a:rPr lang="en-US" altLang="zh-CN" b="0" dirty="0"/>
              <a:t> </a:t>
            </a:r>
            <a:r>
              <a:rPr lang="en-US" altLang="zh-CN" b="0" dirty="0" err="1"/>
              <a:t>graphType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* </a:t>
            </a:r>
            <a:r>
              <a:rPr lang="zh-CN" altLang="en-US" b="0" dirty="0"/>
              <a:t>其实通用的图效率不高，一般根据具体的应用来定义。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AdjacencyListGraph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061061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2E275-CE0F-4823-B49F-7ACBA067E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图的逆邻接表</a:t>
            </a:r>
          </a:p>
        </p:txBody>
      </p:sp>
      <p:pic>
        <p:nvPicPr>
          <p:cNvPr id="20" name="内容占位符 19">
            <a:extLst>
              <a:ext uri="{FF2B5EF4-FFF2-40B4-BE49-F238E27FC236}">
                <a16:creationId xmlns:a16="http://schemas.microsoft.com/office/drawing/2014/main" id="{F413F2BA-4235-4BFB-BDFF-B22D9613D9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568" y="1547813"/>
            <a:ext cx="7387456" cy="3938587"/>
          </a:xfrm>
        </p:spPr>
      </p:pic>
      <p:pic>
        <p:nvPicPr>
          <p:cNvPr id="23" name="内容占位符 22">
            <a:extLst>
              <a:ext uri="{FF2B5EF4-FFF2-40B4-BE49-F238E27FC236}">
                <a16:creationId xmlns:a16="http://schemas.microsoft.com/office/drawing/2014/main" id="{49562218-3F81-464C-9D23-44E318B986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82994"/>
            <a:ext cx="4159775" cy="3598606"/>
          </a:xfrm>
        </p:spPr>
      </p:pic>
    </p:spTree>
    <p:extLst>
      <p:ext uri="{BB962C8B-B14F-4D97-AF65-F5344CB8AC3E}">
        <p14:creationId xmlns:p14="http://schemas.microsoft.com/office/powerpoint/2010/main" val="99514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2E275-CE0F-4823-B49F-7ACBA067E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  <a:r>
              <a:rPr lang="en-US" altLang="zh-CN" dirty="0"/>
              <a:t>-</a:t>
            </a:r>
            <a:r>
              <a:rPr lang="zh-CN" altLang="en-US" dirty="0"/>
              <a:t>十字链表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E840CB9-493D-47EF-85AF-86E6C3D911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71600"/>
            <a:ext cx="9262135" cy="3505200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E84A499-2A35-492E-9832-6E5E97CCA3EB}"/>
              </a:ext>
            </a:extLst>
          </p:cNvPr>
          <p:cNvSpPr txBox="1"/>
          <p:nvPr/>
        </p:nvSpPr>
        <p:spPr>
          <a:xfrm>
            <a:off x="349032" y="5105400"/>
            <a:ext cx="8032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十字链表是邻接表和逆邻接表的结合。</a:t>
            </a:r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72770030-3FF2-4579-B4C8-1836BC004B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183" y="3922428"/>
            <a:ext cx="3041017" cy="2630772"/>
          </a:xfrm>
        </p:spPr>
      </p:pic>
    </p:spTree>
    <p:extLst>
      <p:ext uri="{BB962C8B-B14F-4D97-AF65-F5344CB8AC3E}">
        <p14:creationId xmlns:p14="http://schemas.microsoft.com/office/powerpoint/2010/main" val="1601139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3F328-1CA6-4F94-B431-FB1A5FC8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  <a:r>
              <a:rPr lang="en-US" altLang="zh-CN" dirty="0"/>
              <a:t>-</a:t>
            </a:r>
            <a:r>
              <a:rPr lang="zh-CN" altLang="en-US" dirty="0"/>
              <a:t>深度优先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A92291A-5167-4C17-89D8-328A59332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5943600" cy="4800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b="0" dirty="0"/>
              <a:t>访问出发点</a:t>
            </a:r>
            <a:r>
              <a:rPr lang="en-US" altLang="zh-CN" b="0" dirty="0"/>
              <a:t>A</a:t>
            </a:r>
            <a:r>
              <a:rPr lang="zh-CN" altLang="en-US" b="0" dirty="0"/>
              <a:t>；</a:t>
            </a:r>
            <a:endParaRPr lang="en-US" altLang="zh-CN" b="0" dirty="0"/>
          </a:p>
          <a:p>
            <a:pPr>
              <a:spcBef>
                <a:spcPts val="0"/>
              </a:spcBef>
            </a:pPr>
            <a:r>
              <a:rPr lang="zh-CN" altLang="en-US" b="0" dirty="0"/>
              <a:t>依次从</a:t>
            </a:r>
            <a:r>
              <a:rPr lang="en-US" altLang="zh-CN" b="0" dirty="0"/>
              <a:t>A</a:t>
            </a:r>
            <a:r>
              <a:rPr lang="zh-CN" altLang="en-US" b="0" dirty="0"/>
              <a:t>的未被访问的邻接点出发，深度优先搜索，直到所有与</a:t>
            </a:r>
            <a:r>
              <a:rPr lang="en-US" altLang="zh-CN" b="0" dirty="0"/>
              <a:t>A</a:t>
            </a:r>
            <a:r>
              <a:rPr lang="zh-CN" altLang="en-US" b="0" dirty="0"/>
              <a:t>连通的顶点都被访问；</a:t>
            </a:r>
            <a:endParaRPr lang="en-US" altLang="zh-CN" b="0" dirty="0"/>
          </a:p>
          <a:p>
            <a:pPr>
              <a:spcBef>
                <a:spcPts val="0"/>
              </a:spcBef>
            </a:pPr>
            <a:r>
              <a:rPr lang="zh-CN" altLang="en-US" b="0" dirty="0"/>
              <a:t>如果图不是连通的，那么就选一个未被访问过的节点，重复上述过程，直到所有节点都被访问为止。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5DFF4C2E-91CB-48CA-AC1F-BF6232A4B9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025" y="1524000"/>
            <a:ext cx="5489575" cy="4800600"/>
          </a:xfrm>
        </p:spPr>
      </p:pic>
    </p:spTree>
    <p:extLst>
      <p:ext uri="{BB962C8B-B14F-4D97-AF65-F5344CB8AC3E}">
        <p14:creationId xmlns:p14="http://schemas.microsoft.com/office/powerpoint/2010/main" val="3286040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3F328-1CA6-4F94-B431-FB1A5FC8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  <a:r>
              <a:rPr lang="en-US" altLang="zh-CN" dirty="0"/>
              <a:t>-</a:t>
            </a:r>
            <a:r>
              <a:rPr lang="zh-CN" altLang="en-US" dirty="0"/>
              <a:t>广度优先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A92291A-5167-4C17-89D8-328A59332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" y="1524000"/>
            <a:ext cx="6553200" cy="4800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b="0" dirty="0"/>
              <a:t>访问起始顶点</a:t>
            </a:r>
            <a:r>
              <a:rPr lang="en-US" altLang="zh-CN" b="0" dirty="0"/>
              <a:t>A</a:t>
            </a:r>
            <a:r>
              <a:rPr lang="zh-CN" altLang="en-US" b="0" dirty="0"/>
              <a:t>；</a:t>
            </a:r>
            <a:endParaRPr lang="en-US" altLang="zh-CN" b="0" dirty="0"/>
          </a:p>
          <a:p>
            <a:pPr>
              <a:spcBef>
                <a:spcPts val="0"/>
              </a:spcBef>
            </a:pPr>
            <a:r>
              <a:rPr lang="zh-CN" altLang="en-US" b="0" dirty="0"/>
              <a:t>依次访问</a:t>
            </a:r>
            <a:r>
              <a:rPr lang="en-US" altLang="zh-CN" b="0" dirty="0"/>
              <a:t>A</a:t>
            </a:r>
            <a:r>
              <a:rPr lang="zh-CN" altLang="en-US" b="0" dirty="0"/>
              <a:t>的未被访问的邻接点；</a:t>
            </a:r>
            <a:endParaRPr lang="en-US" altLang="zh-CN" b="0" dirty="0"/>
          </a:p>
          <a:p>
            <a:pPr>
              <a:spcBef>
                <a:spcPts val="0"/>
              </a:spcBef>
            </a:pPr>
            <a:r>
              <a:rPr lang="zh-CN" altLang="en-US" b="0" dirty="0"/>
              <a:t>依次访问这些邻接点的未被访问的邻接点，如此进行下去，直到没有未被访问的邻接点。</a:t>
            </a:r>
            <a:endParaRPr lang="en-US" altLang="zh-CN" b="0" dirty="0"/>
          </a:p>
          <a:p>
            <a:pPr>
              <a:spcBef>
                <a:spcPts val="0"/>
              </a:spcBef>
            </a:pPr>
            <a:r>
              <a:rPr lang="zh-CN" altLang="en-US" b="0" dirty="0"/>
              <a:t>如果还有未被访问的顶点，那么就选一个作为起始顶点，重复上述过程。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103A51-6922-43DD-B549-CF486724CC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524000"/>
            <a:ext cx="5371595" cy="4648200"/>
          </a:xfrm>
        </p:spPr>
      </p:pic>
    </p:spTree>
    <p:extLst>
      <p:ext uri="{BB962C8B-B14F-4D97-AF65-F5344CB8AC3E}">
        <p14:creationId xmlns:p14="http://schemas.microsoft.com/office/powerpoint/2010/main" val="731583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797E1A-DA9F-4B84-A156-0A3A815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图的遍历的实现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4BA64C-8CBD-4DBE-B0FD-EE57F3A5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TraverseGraph</a:t>
            </a:r>
            <a:r>
              <a:rPr lang="en-US" altLang="zh-CN" b="0" dirty="0"/>
              <a:t>(Graph* </a:t>
            </a:r>
            <a:r>
              <a:rPr lang="en-US" altLang="zh-CN" b="0" dirty="0" err="1"/>
              <a:t>pGraph</a:t>
            </a:r>
            <a:r>
              <a:rPr lang="en-US" altLang="zh-CN" b="0" dirty="0"/>
              <a:t>, void (*visit)())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用动态数组记录图中的节点是否被访问过。*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bool* </a:t>
            </a:r>
            <a:r>
              <a:rPr lang="en-US" altLang="zh-CN" b="0" dirty="0" err="1"/>
              <a:t>pVisited</a:t>
            </a:r>
            <a:r>
              <a:rPr lang="en-US" altLang="zh-CN" b="0" dirty="0"/>
              <a:t>=(bool*)malloc(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 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pVisited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pVisited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]=NO;  /</a:t>
            </a:r>
            <a:r>
              <a:rPr lang="zh-CN" altLang="en-US" b="0" dirty="0"/>
              <a:t>* 初始化，所有节点未访问。*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102284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797E1A-DA9F-4B84-A156-0A3A815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图的遍历的实现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4BA64C-8CBD-4DBE-B0FD-EE57F3A5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 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pVisited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]==NO)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/* </a:t>
            </a:r>
            <a:r>
              <a:rPr lang="zh-CN" altLang="en-US" b="0" dirty="0"/>
              <a:t>调用深度优先遍历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DepthFirstTraverse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</a:t>
            </a:r>
            <a:r>
              <a:rPr lang="en-US" altLang="zh-CN" b="0" dirty="0" err="1"/>
              <a:t>i</a:t>
            </a:r>
            <a:r>
              <a:rPr lang="en-US" altLang="zh-CN" b="0" dirty="0"/>
              <a:t>, </a:t>
            </a:r>
            <a:r>
              <a:rPr lang="en-US" altLang="zh-CN" b="0" dirty="0" err="1"/>
              <a:t>pVisited</a:t>
            </a:r>
            <a:r>
              <a:rPr lang="en-US" altLang="zh-CN" b="0" dirty="0"/>
              <a:t>, visit);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/* </a:t>
            </a:r>
            <a:r>
              <a:rPr lang="zh-CN" altLang="en-US" b="0" dirty="0"/>
              <a:t>或调用广度优先遍历 </a:t>
            </a:r>
            <a:r>
              <a:rPr lang="en-US" altLang="zh-CN" b="0" dirty="0" err="1"/>
              <a:t>BreadthFirstTraverse</a:t>
            </a:r>
            <a:r>
              <a:rPr lang="en-US" altLang="zh-CN" b="0" dirty="0"/>
              <a:t>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free(</a:t>
            </a:r>
            <a:r>
              <a:rPr lang="en-US" altLang="zh-CN" b="0" dirty="0" err="1"/>
              <a:t>pVisited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293146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797E1A-DA9F-4B84-A156-0A3A815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深度优先遍历的实现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4BA64C-8CBD-4DBE-B0FD-EE57F3A5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DepthFirstTraverse</a:t>
            </a:r>
            <a:r>
              <a:rPr lang="en-US" altLang="zh-CN" b="0" dirty="0"/>
              <a:t>(Graph* </a:t>
            </a:r>
            <a:r>
              <a:rPr lang="en-US" altLang="zh-CN" b="0" dirty="0" err="1"/>
              <a:t>pGraph</a:t>
            </a:r>
            <a:r>
              <a:rPr lang="en-US" altLang="zh-CN" b="0" dirty="0"/>
              <a:t>, int </a:t>
            </a:r>
            <a:r>
              <a:rPr lang="en-US" altLang="zh-CN" b="0" dirty="0" err="1"/>
              <a:t>i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                            bool </a:t>
            </a:r>
            <a:r>
              <a:rPr lang="en-US" altLang="zh-CN" b="0" dirty="0" err="1"/>
              <a:t>pVisited</a:t>
            </a:r>
            <a:r>
              <a:rPr lang="en-US" altLang="zh-CN" b="0" dirty="0"/>
              <a:t>[ ], void (*visit)()){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visit(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-&gt;vertex[</a:t>
            </a:r>
            <a:r>
              <a:rPr lang="en-US" altLang="zh-CN" b="0" dirty="0" err="1"/>
              <a:t>i</a:t>
            </a:r>
            <a:r>
              <a:rPr lang="en-US" altLang="zh-CN" b="0" dirty="0"/>
              <a:t>]);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pVisited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]=true;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int j=</a:t>
            </a:r>
            <a:r>
              <a:rPr lang="en-US" altLang="zh-CN" b="0" dirty="0" err="1"/>
              <a:t>FirstAdjacentVertex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</a:t>
            </a:r>
            <a:r>
              <a:rPr lang="en-US" altLang="zh-CN" b="0" dirty="0" err="1"/>
              <a:t>i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while (j&gt;=0) {  /* j&gt;=0 </a:t>
            </a:r>
            <a:r>
              <a:rPr lang="zh-CN" altLang="en-US" b="0" dirty="0"/>
              <a:t>表示存在邻接点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pVisited</a:t>
            </a:r>
            <a:r>
              <a:rPr lang="en-US" altLang="zh-CN" b="0" dirty="0"/>
              <a:t>[j]==NO)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DepthFirstTraverse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j, </a:t>
            </a:r>
            <a:r>
              <a:rPr lang="en-US" altLang="zh-CN" b="0" dirty="0" err="1"/>
              <a:t>pVisited</a:t>
            </a:r>
            <a:r>
              <a:rPr lang="en-US" altLang="zh-CN" b="0" dirty="0"/>
              <a:t>, visit);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j=</a:t>
            </a:r>
            <a:r>
              <a:rPr lang="en-US" altLang="zh-CN" b="0" dirty="0" err="1"/>
              <a:t>NextAdjacentVertex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</a:t>
            </a:r>
            <a:r>
              <a:rPr lang="en-US" altLang="zh-CN" b="0" dirty="0" err="1"/>
              <a:t>i</a:t>
            </a:r>
            <a:r>
              <a:rPr lang="en-US" altLang="zh-CN" b="0" dirty="0"/>
              <a:t>, j);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652232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797E1A-DA9F-4B84-A156-0A3A815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广度优先遍历的实现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4BA64C-8CBD-4DBE-B0FD-EE57F3A5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BreadthFirstTraverse</a:t>
            </a:r>
            <a:r>
              <a:rPr lang="en-US" altLang="zh-CN" b="0" dirty="0"/>
              <a:t>(Graph* </a:t>
            </a:r>
            <a:r>
              <a:rPr lang="en-US" altLang="zh-CN" b="0" dirty="0" err="1"/>
              <a:t>pGraph</a:t>
            </a:r>
            <a:r>
              <a:rPr lang="en-US" altLang="zh-CN" b="0" dirty="0"/>
              <a:t>, int </a:t>
            </a:r>
            <a:r>
              <a:rPr lang="en-US" altLang="zh-CN" b="0" dirty="0" err="1"/>
              <a:t>i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bool </a:t>
            </a:r>
            <a:r>
              <a:rPr lang="en-US" altLang="zh-CN" b="0" dirty="0" err="1"/>
              <a:t>pVisited</a:t>
            </a:r>
            <a:r>
              <a:rPr lang="en-US" altLang="zh-CN" b="0" dirty="0"/>
              <a:t>[ ], void (*visit)()){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j, 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Queue </a:t>
            </a:r>
            <a:r>
              <a:rPr lang="en-US" altLang="zh-CN" b="0" dirty="0" err="1"/>
              <a:t>queue</a:t>
            </a:r>
            <a:r>
              <a:rPr lang="en-US" altLang="zh-CN" b="0" dirty="0"/>
              <a:t>;  // </a:t>
            </a:r>
            <a:r>
              <a:rPr lang="zh-CN" altLang="en-US" b="0" dirty="0"/>
              <a:t>不能用栈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visit(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-&gt;vertex[</a:t>
            </a:r>
            <a:r>
              <a:rPr lang="en-US" altLang="zh-CN" b="0" dirty="0" err="1"/>
              <a:t>i</a:t>
            </a:r>
            <a:r>
              <a:rPr lang="en-US" altLang="zh-CN" b="0" dirty="0"/>
              <a:t>]);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pVisited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]=true;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InitQueue</a:t>
            </a:r>
            <a:r>
              <a:rPr lang="en-US" altLang="zh-CN" b="0" dirty="0"/>
              <a:t>(&amp;queue);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EnterQueue</a:t>
            </a:r>
            <a:r>
              <a:rPr lang="en-US" altLang="zh-CN" b="0" dirty="0"/>
              <a:t>(&amp;queue, </a:t>
            </a:r>
            <a:r>
              <a:rPr lang="en-US" altLang="zh-CN" b="0" dirty="0" err="1"/>
              <a:t>i</a:t>
            </a:r>
            <a:r>
              <a:rPr lang="en-US" altLang="zh-CN" b="0" dirty="0"/>
              <a:t>);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队列中的顶点的邻接点尚未遍历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IsQueueEmpty</a:t>
            </a:r>
            <a:r>
              <a:rPr lang="en-US" altLang="zh-CN" b="0" dirty="0"/>
              <a:t>(&amp;queue)!=true){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LeaveQueue</a:t>
            </a:r>
            <a:r>
              <a:rPr lang="en-US" altLang="zh-CN" b="0" dirty="0"/>
              <a:t>(&amp;queue, &amp;j); </a:t>
            </a:r>
          </a:p>
        </p:txBody>
      </p:sp>
    </p:spTree>
    <p:extLst>
      <p:ext uri="{BB962C8B-B14F-4D97-AF65-F5344CB8AC3E}">
        <p14:creationId xmlns:p14="http://schemas.microsoft.com/office/powerpoint/2010/main" val="3654882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797E1A-DA9F-4B84-A156-0A3A815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广度优先遍历的实现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4BA64C-8CBD-4DBE-B0FD-EE57F3A5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k=</a:t>
            </a:r>
            <a:r>
              <a:rPr lang="en-US" altLang="zh-CN" b="0" dirty="0" err="1"/>
              <a:t>FirstAdjacentVertex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j);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while(k&gt;=0) {  /* </a:t>
            </a:r>
            <a:r>
              <a:rPr lang="zh-CN" altLang="en-US" b="0" dirty="0"/>
              <a:t>遍历 </a:t>
            </a:r>
            <a:r>
              <a:rPr lang="en-US" altLang="zh-CN" b="0" dirty="0"/>
              <a:t>j </a:t>
            </a:r>
            <a:r>
              <a:rPr lang="zh-CN" altLang="en-US" b="0" dirty="0"/>
              <a:t>的邻接点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if (</a:t>
            </a:r>
            <a:r>
              <a:rPr lang="en-US" altLang="zh-CN" b="0" dirty="0" err="1"/>
              <a:t>pVisited</a:t>
            </a:r>
            <a:r>
              <a:rPr lang="en-US" altLang="zh-CN" b="0" dirty="0"/>
              <a:t>[k]==NO)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visit(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-&gt;vertex[k]);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pVisited</a:t>
            </a:r>
            <a:r>
              <a:rPr lang="en-US" altLang="zh-CN" b="0" dirty="0"/>
              <a:t>[k]=true;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EnterQueue</a:t>
            </a:r>
            <a:r>
              <a:rPr lang="en-US" altLang="zh-CN" b="0" dirty="0"/>
              <a:t>(&amp;queue, k); /</a:t>
            </a:r>
            <a:r>
              <a:rPr lang="zh-CN" altLang="en-US" b="0" dirty="0"/>
              <a:t>* </a:t>
            </a:r>
            <a:r>
              <a:rPr lang="en-US" altLang="zh-CN" b="0" dirty="0"/>
              <a:t>k</a:t>
            </a:r>
            <a:r>
              <a:rPr lang="zh-CN" altLang="en-US" b="0" dirty="0"/>
              <a:t>的邻接点尚未遍历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k=</a:t>
            </a:r>
            <a:r>
              <a:rPr lang="en-US" altLang="zh-CN" b="0" dirty="0" err="1"/>
              <a:t>NextAdjacentVertex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j, k);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 /</a:t>
            </a:r>
            <a:r>
              <a:rPr lang="zh-CN" altLang="en-US" b="0" dirty="0"/>
              <a:t>* </a:t>
            </a:r>
            <a:r>
              <a:rPr lang="en-US" altLang="zh-CN" b="0" dirty="0"/>
              <a:t>j </a:t>
            </a:r>
            <a:r>
              <a:rPr lang="zh-CN" altLang="en-US" b="0" dirty="0"/>
              <a:t>的邻接点遍历完毕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/</a:t>
            </a:r>
            <a:r>
              <a:rPr lang="zh-CN" altLang="en-US" b="0" dirty="0"/>
              <a:t>* 队列中所有点的邻接点遍历完毕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5438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E2FF8-E2B8-4D74-BD15-E1AEEE27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图的连通性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D3E60-73C5-4417-A646-738AC0AC3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6324600" cy="4800600"/>
          </a:xfrm>
        </p:spPr>
        <p:txBody>
          <a:bodyPr/>
          <a:lstStyle/>
          <a:p>
            <a:r>
              <a:rPr lang="zh-CN" altLang="en-US" dirty="0"/>
              <a:t>无向图的连通性</a:t>
            </a:r>
            <a:endParaRPr lang="en-US" altLang="zh-CN" dirty="0"/>
          </a:p>
          <a:p>
            <a:pPr lvl="1"/>
            <a:r>
              <a:rPr lang="zh-CN" altLang="en-US" dirty="0"/>
              <a:t>如果图是连通的，那么一次深度优先或广度优先遍历即可遍历图中的所有顶点。</a:t>
            </a:r>
            <a:endParaRPr lang="en-US" altLang="zh-CN" dirty="0"/>
          </a:p>
          <a:p>
            <a:pPr lvl="1"/>
            <a:r>
              <a:rPr lang="zh-CN" altLang="en-US" dirty="0"/>
              <a:t>调用深度优先或广度优先函数的次数即为连通分量的个数。</a:t>
            </a:r>
            <a:endParaRPr lang="en-US" altLang="zh-CN" dirty="0"/>
          </a:p>
          <a:p>
            <a:r>
              <a:rPr lang="zh-CN" altLang="en-US" dirty="0"/>
              <a:t>有向图的连通性</a:t>
            </a:r>
            <a:endParaRPr lang="en-US" altLang="zh-CN" dirty="0"/>
          </a:p>
          <a:p>
            <a:pPr lvl="1"/>
            <a:r>
              <a:rPr lang="zh-CN" altLang="en-US" b="0" dirty="0"/>
              <a:t>还须逆向遍历。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7938649-62FB-4E5F-AC56-AC5A5E0BE0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524000"/>
            <a:ext cx="5029200" cy="4142998"/>
          </a:xfrm>
        </p:spPr>
      </p:pic>
    </p:spTree>
    <p:extLst>
      <p:ext uri="{BB962C8B-B14F-4D97-AF65-F5344CB8AC3E}">
        <p14:creationId xmlns:p14="http://schemas.microsoft.com/office/powerpoint/2010/main" val="3548241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3B4A3-6687-4CFE-9FB7-BBC726B9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两点间的简单路径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A84FF-B2E9-4B68-87C4-0F6EA6CFA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6477000" cy="4800600"/>
          </a:xfrm>
        </p:spPr>
        <p:txBody>
          <a:bodyPr/>
          <a:lstStyle/>
          <a:p>
            <a:r>
              <a:rPr lang="zh-CN" altLang="en-US" dirty="0"/>
              <a:t>简单路径</a:t>
            </a:r>
            <a:r>
              <a:rPr lang="zh-CN" altLang="en-US" b="0" dirty="0"/>
              <a:t>上的顶点只出现一次。</a:t>
            </a:r>
            <a:endParaRPr lang="en-US" altLang="zh-CN" b="0" dirty="0"/>
          </a:p>
          <a:p>
            <a:r>
              <a:rPr lang="zh-CN" altLang="en-US" dirty="0"/>
              <a:t>求</a:t>
            </a:r>
            <a:r>
              <a:rPr lang="en-US" altLang="zh-CN" dirty="0"/>
              <a:t>u</a:t>
            </a:r>
            <a:r>
              <a:rPr lang="zh-CN" altLang="en-US" dirty="0"/>
              <a:t>到</a:t>
            </a:r>
            <a:r>
              <a:rPr lang="en-US" altLang="zh-CN" dirty="0"/>
              <a:t>v</a:t>
            </a:r>
            <a:r>
              <a:rPr lang="zh-CN" altLang="en-US" dirty="0"/>
              <a:t>的一条简单路径</a:t>
            </a:r>
            <a:endParaRPr lang="en-US" altLang="zh-CN" dirty="0"/>
          </a:p>
          <a:p>
            <a:pPr lvl="1"/>
            <a:r>
              <a:rPr lang="zh-CN" altLang="en-US" dirty="0"/>
              <a:t>从</a:t>
            </a:r>
            <a:r>
              <a:rPr lang="en-US" altLang="zh-CN" dirty="0"/>
              <a:t>u</a:t>
            </a:r>
            <a:r>
              <a:rPr lang="zh-CN" altLang="en-US" dirty="0"/>
              <a:t>开始，进行深度优先或广度优先搜索。</a:t>
            </a:r>
            <a:endParaRPr lang="en-US" altLang="zh-CN" dirty="0"/>
          </a:p>
          <a:p>
            <a:pPr lvl="1"/>
            <a:r>
              <a:rPr lang="zh-CN" altLang="en-US" dirty="0"/>
              <a:t>设置</a:t>
            </a:r>
            <a:r>
              <a:rPr lang="en-US" altLang="zh-CN" dirty="0" err="1"/>
              <a:t>prev</a:t>
            </a:r>
            <a:r>
              <a:rPr lang="zh-CN" altLang="en-US" dirty="0"/>
              <a:t>数组，</a:t>
            </a:r>
            <a:r>
              <a:rPr lang="en-US" altLang="zh-CN" dirty="0" err="1"/>
              <a:t>prev</a:t>
            </a:r>
            <a:r>
              <a:rPr lang="en-US" altLang="zh-CN" dirty="0"/>
              <a:t>[j]=</a:t>
            </a:r>
            <a:r>
              <a:rPr lang="en-US" altLang="zh-CN" dirty="0" err="1"/>
              <a:t>i</a:t>
            </a:r>
            <a:r>
              <a:rPr lang="zh-CN" altLang="en-US" dirty="0"/>
              <a:t>表明从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搜到邻接点 </a:t>
            </a:r>
            <a:r>
              <a:rPr lang="en-US" altLang="zh-CN" dirty="0"/>
              <a:t>j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搜到</a:t>
            </a:r>
            <a:r>
              <a:rPr lang="en-US" altLang="zh-CN" dirty="0"/>
              <a:t>v</a:t>
            </a:r>
            <a:r>
              <a:rPr lang="zh-CN" altLang="en-US" dirty="0"/>
              <a:t>后，根据</a:t>
            </a:r>
            <a:r>
              <a:rPr lang="en-US" altLang="zh-CN" dirty="0" err="1"/>
              <a:t>prev</a:t>
            </a:r>
            <a:r>
              <a:rPr lang="zh-CN" altLang="en-US" dirty="0"/>
              <a:t>数组追溯到</a:t>
            </a:r>
            <a:r>
              <a:rPr lang="en-US" altLang="zh-CN" dirty="0"/>
              <a:t>u</a:t>
            </a:r>
            <a:r>
              <a:rPr lang="zh-CN" altLang="en-US" dirty="0"/>
              <a:t>，即得一条简单路径。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0F43EC7-E995-49B2-BC05-D1BDA5CF6C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300" y="1248697"/>
            <a:ext cx="5107300" cy="4466303"/>
          </a:xfrm>
        </p:spPr>
      </p:pic>
    </p:spTree>
    <p:extLst>
      <p:ext uri="{BB962C8B-B14F-4D97-AF65-F5344CB8AC3E}">
        <p14:creationId xmlns:p14="http://schemas.microsoft.com/office/powerpoint/2010/main" val="18533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797E1A-DA9F-4B84-A156-0A3A815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深度优先找简单路径</a:t>
            </a:r>
            <a:r>
              <a:rPr lang="en-US" altLang="zh-CN" dirty="0"/>
              <a:t>1/4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4BA64C-8CBD-4DBE-B0FD-EE57F3A5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102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FindPath</a:t>
            </a:r>
            <a:r>
              <a:rPr lang="en-US" altLang="zh-CN" b="0" dirty="0"/>
              <a:t>(Graph* </a:t>
            </a:r>
            <a:r>
              <a:rPr lang="en-US" altLang="zh-CN" b="0" dirty="0" err="1"/>
              <a:t>pGraph</a:t>
            </a:r>
            <a:r>
              <a:rPr lang="en-US" altLang="zh-CN" b="0" dirty="0"/>
              <a:t>, int u, int v, int path[])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prev</a:t>
            </a:r>
            <a:r>
              <a:rPr lang="en-US" altLang="zh-CN" b="0" dirty="0"/>
              <a:t>[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];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最好使用动态数组。这里为了简洁，使用变长数组。*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 (int 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prev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]=-1;  /* </a:t>
            </a:r>
            <a:r>
              <a:rPr lang="zh-CN" altLang="en-US" b="0" dirty="0"/>
              <a:t>初始化，用负值表示没有前驱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prev</a:t>
            </a:r>
            <a:r>
              <a:rPr lang="en-US" altLang="zh-CN" b="0" dirty="0"/>
              <a:t>[u]=u;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表示</a:t>
            </a:r>
            <a:r>
              <a:rPr lang="en-US" altLang="zh-CN" b="0" dirty="0"/>
              <a:t>u</a:t>
            </a:r>
            <a:r>
              <a:rPr lang="zh-CN" altLang="en-US" b="0" dirty="0"/>
              <a:t>已经被遍历过，</a:t>
            </a:r>
            <a:r>
              <a:rPr lang="en-US" altLang="zh-CN" b="0" dirty="0" err="1"/>
              <a:t>prev</a:t>
            </a:r>
            <a:r>
              <a:rPr lang="zh-CN" altLang="en-US" b="0" dirty="0"/>
              <a:t>同时充当</a:t>
            </a:r>
            <a:r>
              <a:rPr lang="en-US" altLang="zh-CN" b="0" dirty="0"/>
              <a:t>visited</a:t>
            </a:r>
            <a:r>
              <a:rPr lang="zh-CN" altLang="en-US" b="0" dirty="0"/>
              <a:t>数组。*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DepthFirstSearch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u, v, </a:t>
            </a:r>
            <a:r>
              <a:rPr lang="en-US" altLang="zh-CN" b="0" dirty="0" err="1"/>
              <a:t>prev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从</a:t>
            </a:r>
            <a:r>
              <a:rPr lang="en-US" altLang="zh-CN" b="0" dirty="0"/>
              <a:t>u</a:t>
            </a:r>
            <a:r>
              <a:rPr lang="zh-CN" altLang="en-US" b="0" dirty="0"/>
              <a:t>开始搜索</a:t>
            </a:r>
            <a:r>
              <a:rPr lang="en-US" altLang="zh-CN" b="0" dirty="0"/>
              <a:t>v</a:t>
            </a:r>
            <a:r>
              <a:rPr lang="zh-CN" altLang="en-US" b="0" dirty="0"/>
              <a:t>，把遍历过的点的前驱记录在</a:t>
            </a:r>
            <a:r>
              <a:rPr lang="en-US" altLang="zh-CN" b="0" dirty="0" err="1"/>
              <a:t>prev</a:t>
            </a:r>
            <a:r>
              <a:rPr lang="zh-CN" altLang="en-US" b="0" dirty="0"/>
              <a:t>中。 *</a:t>
            </a:r>
            <a:r>
              <a:rPr lang="en-US" altLang="zh-CN" b="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39312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797E1A-DA9F-4B84-A156-0A3A815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深度优先找简单路径</a:t>
            </a:r>
            <a:r>
              <a:rPr lang="en-US" altLang="zh-CN" dirty="0"/>
              <a:t>2/4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4BA64C-8CBD-4DBE-B0FD-EE57F3A5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102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TracePathBack</a:t>
            </a:r>
            <a:r>
              <a:rPr lang="en-US" altLang="zh-CN" b="0" dirty="0"/>
              <a:t>(</a:t>
            </a:r>
            <a:r>
              <a:rPr lang="en-US" altLang="zh-CN" b="0" dirty="0" err="1"/>
              <a:t>prev</a:t>
            </a:r>
            <a:r>
              <a:rPr lang="en-US" altLang="zh-CN" b="0" dirty="0"/>
              <a:t>, v, u, path,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/</a:t>
            </a:r>
            <a:r>
              <a:rPr lang="zh-CN" altLang="en-US" b="0" dirty="0"/>
              <a:t>* 根据</a:t>
            </a:r>
            <a:r>
              <a:rPr lang="en-US" altLang="zh-CN" b="0" dirty="0" err="1"/>
              <a:t>prev</a:t>
            </a:r>
            <a:r>
              <a:rPr lang="zh-CN" altLang="en-US" b="0" dirty="0"/>
              <a:t>数组，从</a:t>
            </a:r>
            <a:r>
              <a:rPr lang="en-US" altLang="zh-CN" b="0" dirty="0"/>
              <a:t>v</a:t>
            </a:r>
            <a:r>
              <a:rPr lang="zh-CN" altLang="en-US" b="0" dirty="0"/>
              <a:t>反向追溯到</a:t>
            </a:r>
            <a:r>
              <a:rPr lang="en-US" altLang="zh-CN" b="0" dirty="0"/>
              <a:t>u</a:t>
            </a:r>
            <a:r>
              <a:rPr lang="zh-CN" altLang="en-US" b="0" dirty="0"/>
              <a:t>，得到的路径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</a:t>
            </a:r>
            <a:r>
              <a:rPr lang="zh-CN" altLang="en-US" b="0" dirty="0"/>
              <a:t>* 存储在</a:t>
            </a:r>
            <a:r>
              <a:rPr lang="en-US" altLang="zh-CN" b="0" dirty="0"/>
              <a:t>path</a:t>
            </a:r>
            <a:r>
              <a:rPr lang="zh-CN" altLang="en-US" b="0" dirty="0"/>
              <a:t>数组中。</a:t>
            </a:r>
            <a:r>
              <a:rPr lang="en-US" altLang="zh-CN" b="0" dirty="0" err="1"/>
              <a:t>prev</a:t>
            </a:r>
            <a:r>
              <a:rPr lang="zh-CN" altLang="en-US" b="0" dirty="0"/>
              <a:t>数组和</a:t>
            </a:r>
            <a:r>
              <a:rPr lang="en-US" altLang="zh-CN" b="0" dirty="0"/>
              <a:t>path</a:t>
            </a:r>
            <a:r>
              <a:rPr lang="zh-CN" altLang="en-US" b="0" dirty="0"/>
              <a:t>数组的长度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zh-CN" altLang="en-US" b="0" dirty="0"/>
              <a:t> * 都是 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 </a:t>
            </a:r>
            <a:r>
              <a:rPr lang="zh-CN" altLang="en-US" b="0" dirty="0"/>
              <a:t>。其实现从略。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2556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797E1A-DA9F-4B84-A156-0A3A815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深度优先找简单路径</a:t>
            </a:r>
            <a:r>
              <a:rPr lang="en-US" altLang="zh-CN" dirty="0"/>
              <a:t>3/4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4BA64C-8CBD-4DBE-B0FD-EE57F3A5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102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DepthFirstSearch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u, v, </a:t>
            </a:r>
            <a:r>
              <a:rPr lang="en-US" altLang="zh-CN" b="0" dirty="0" err="1"/>
              <a:t>prev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static bool founded=false;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if(u==v){  // </a:t>
            </a:r>
            <a:r>
              <a:rPr lang="zh-CN" altLang="en-US" b="0" dirty="0"/>
              <a:t>这个 </a:t>
            </a:r>
            <a:r>
              <a:rPr lang="en-US" altLang="zh-CN" b="0" dirty="0"/>
              <a:t>if </a:t>
            </a:r>
            <a:r>
              <a:rPr lang="zh-CN" altLang="en-US" b="0" dirty="0"/>
              <a:t>不能与下面的 </a:t>
            </a:r>
            <a:r>
              <a:rPr lang="en-US" altLang="zh-CN" b="0" dirty="0"/>
              <a:t>if </a:t>
            </a:r>
            <a:r>
              <a:rPr lang="zh-CN" altLang="en-US" b="0" dirty="0"/>
              <a:t>合并，因为递归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founded=true;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if(founded==true){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=</a:t>
            </a:r>
            <a:r>
              <a:rPr lang="en-US" altLang="zh-CN" b="0" dirty="0" err="1"/>
              <a:t>FirstAdjacentVertex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u);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 (</a:t>
            </a:r>
            <a:r>
              <a:rPr lang="en-US" altLang="zh-CN" b="0" dirty="0" err="1"/>
              <a:t>i</a:t>
            </a:r>
            <a:r>
              <a:rPr lang="en-US" altLang="zh-CN" b="0" dirty="0"/>
              <a:t>&gt;=0) {  /</a:t>
            </a:r>
            <a:r>
              <a:rPr lang="zh-CN" altLang="en-US" b="0" dirty="0"/>
              <a:t>* 对每个邻接点，做下面的操作。*</a:t>
            </a:r>
            <a:r>
              <a:rPr lang="en-US" altLang="zh-CN" b="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745159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797E1A-DA9F-4B84-A156-0A3A815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深度优先找简单路径</a:t>
            </a:r>
            <a:r>
              <a:rPr lang="en-US" altLang="zh-CN" dirty="0"/>
              <a:t>4/4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4BA64C-8CBD-4DBE-B0FD-EE57F3A5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102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</a:t>
            </a:r>
            <a:r>
              <a:rPr lang="en-US" altLang="zh-CN" b="0" dirty="0" err="1"/>
              <a:t>prev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]&lt;0){  // </a:t>
            </a:r>
            <a:r>
              <a:rPr lang="en-US" altLang="zh-CN" b="0" dirty="0" err="1"/>
              <a:t>prev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]&lt;0 </a:t>
            </a:r>
            <a:r>
              <a:rPr lang="zh-CN" altLang="en-US" b="0" dirty="0"/>
              <a:t>表示顶点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尚未被访问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prev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]=u;   // </a:t>
            </a:r>
            <a:r>
              <a:rPr lang="zh-CN" altLang="en-US" b="0" dirty="0"/>
              <a:t>是从 </a:t>
            </a:r>
            <a:r>
              <a:rPr lang="en-US" altLang="zh-CN" b="0" dirty="0"/>
              <a:t>u </a:t>
            </a:r>
            <a:r>
              <a:rPr lang="zh-CN" altLang="en-US" b="0" dirty="0"/>
              <a:t>找到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的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DepthFirstSearch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</a:t>
            </a:r>
            <a:r>
              <a:rPr lang="en-US" altLang="zh-CN" b="0" dirty="0" err="1"/>
              <a:t>i</a:t>
            </a:r>
            <a:r>
              <a:rPr lang="en-US" altLang="zh-CN" b="0" dirty="0"/>
              <a:t>, v, </a:t>
            </a:r>
            <a:r>
              <a:rPr lang="en-US" altLang="zh-CN" b="0" dirty="0" err="1"/>
              <a:t>prev</a:t>
            </a:r>
            <a:r>
              <a:rPr lang="en-US" altLang="zh-CN" b="0" dirty="0"/>
              <a:t>);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i</a:t>
            </a:r>
            <a:r>
              <a:rPr lang="en-US" altLang="zh-CN" b="0" dirty="0"/>
              <a:t>=</a:t>
            </a:r>
            <a:r>
              <a:rPr lang="en-US" altLang="zh-CN" b="0" dirty="0" err="1"/>
              <a:t>NextAdjacentVertex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u, </a:t>
            </a:r>
            <a:r>
              <a:rPr lang="en-US" altLang="zh-CN" b="0" dirty="0" err="1"/>
              <a:t>i</a:t>
            </a:r>
            <a:r>
              <a:rPr lang="en-US" altLang="zh-CN" b="0" dirty="0"/>
              <a:t>);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/</a:t>
            </a:r>
            <a:r>
              <a:rPr lang="zh-CN" altLang="en-US" b="0" dirty="0"/>
              <a:t>* </a:t>
            </a:r>
            <a:r>
              <a:rPr lang="en-US" altLang="zh-CN" b="0" dirty="0"/>
              <a:t>while</a:t>
            </a:r>
            <a:r>
              <a:rPr lang="zh-CN" altLang="en-US" b="0" dirty="0"/>
              <a:t>结束，即</a:t>
            </a:r>
            <a:r>
              <a:rPr lang="en-US" altLang="zh-CN" b="0" dirty="0"/>
              <a:t>u</a:t>
            </a:r>
            <a:r>
              <a:rPr lang="zh-CN" altLang="en-US" b="0" dirty="0"/>
              <a:t>的所有邻接点处理结束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 /</a:t>
            </a:r>
            <a:r>
              <a:rPr lang="zh-CN" altLang="en-US" b="0" dirty="0"/>
              <a:t>* </a:t>
            </a:r>
            <a:r>
              <a:rPr lang="en-US" altLang="zh-CN" b="0" dirty="0" err="1"/>
              <a:t>DepthFirstSearch</a:t>
            </a:r>
            <a:r>
              <a:rPr lang="zh-CN" altLang="en-US" b="0" dirty="0"/>
              <a:t>函数结束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907717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EF4E8-934A-4B45-B866-2499F965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211630-EF27-4D3F-A0F7-7B30111AC4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生成树</a:t>
            </a:r>
            <a:endParaRPr lang="en-US" altLang="zh-CN" dirty="0"/>
          </a:p>
          <a:p>
            <a:pPr lvl="1"/>
            <a:r>
              <a:rPr lang="zh-CN" altLang="en-US" dirty="0"/>
              <a:t>定义：连通图的生成树含有全部</a:t>
            </a:r>
            <a:r>
              <a:rPr lang="en-US" altLang="zh-CN" dirty="0"/>
              <a:t>n</a:t>
            </a:r>
            <a:r>
              <a:rPr lang="zh-CN" altLang="en-US" dirty="0"/>
              <a:t>个顶点，但只有足以构成一棵树的</a:t>
            </a:r>
            <a:r>
              <a:rPr lang="en-US" altLang="zh-CN" dirty="0"/>
              <a:t>n-1</a:t>
            </a:r>
            <a:r>
              <a:rPr lang="zh-CN" altLang="en-US" dirty="0"/>
              <a:t>条边。</a:t>
            </a:r>
            <a:endParaRPr lang="en-US" altLang="zh-CN" dirty="0"/>
          </a:p>
          <a:p>
            <a:pPr lvl="1"/>
            <a:r>
              <a:rPr lang="zh-CN" altLang="en-US" dirty="0"/>
              <a:t>性质：如果再添一条边，必定构成一个环。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47C9F9-94D2-4294-A7A6-39BC45D22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524000"/>
            <a:ext cx="5105400" cy="46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94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EF4E8-934A-4B45-B866-2499F965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211630-EF27-4D3F-A0F7-7B30111AC4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95400"/>
                <a:ext cx="11582400" cy="5181600"/>
              </a:xfrm>
            </p:spPr>
            <p:txBody>
              <a:bodyPr/>
              <a:lstStyle/>
              <a:p>
                <a:r>
                  <a:rPr lang="zh-CN" altLang="en-US" dirty="0"/>
                  <a:t>最小生成树</a:t>
                </a:r>
                <a:r>
                  <a:rPr lang="en-US" altLang="zh-CN" dirty="0"/>
                  <a:t>(MST: Minimum Spanning Tree)</a:t>
                </a:r>
              </a:p>
              <a:p>
                <a:pPr lvl="1"/>
                <a:r>
                  <a:rPr lang="zh-CN" altLang="en-US" dirty="0"/>
                  <a:t>定义：各边的代价之和最小的生成树。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MST</a:t>
                </a:r>
                <a:r>
                  <a:rPr lang="zh-CN" altLang="en-US" dirty="0"/>
                  <a:t>性质：若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是一条具有最小权值的边，则必然存在一棵包含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的最小生成树。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211630-EF27-4D3F-A0F7-7B30111AC4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95400"/>
                <a:ext cx="11582400" cy="5181600"/>
              </a:xfrm>
              <a:blipFill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139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EF4E8-934A-4B45-B866-2499F965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MST</a:t>
            </a:r>
            <a:r>
              <a:rPr lang="zh-CN" altLang="en-US" dirty="0"/>
              <a:t>性质的证明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211630-EF27-4D3F-A0F7-7B30111AC48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1524000"/>
                <a:ext cx="6400800" cy="4800600"/>
              </a:xfrm>
            </p:spPr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反证：</a:t>
                </a:r>
                <a:r>
                  <a:rPr lang="zh-CN" altLang="en-US" b="0" dirty="0"/>
                  <a:t>假设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b="0" dirty="0"/>
                  <a:t>的任何一棵最小生成树都不包含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，并假设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b="0" dirty="0"/>
                  <a:t>是最小生成树。将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加入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后</m:t>
                    </m:r>
                  </m:oMath>
                </a14:m>
                <a:r>
                  <a:rPr lang="zh-CN" altLang="en-US" b="0" dirty="0"/>
                  <a:t>，根据生成树的定义，必然存在一个包含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的环。删去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后所得的生成树的代价不高于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b="0" dirty="0"/>
                  <a:t>。矛盾。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211630-EF27-4D3F-A0F7-7B30111AC4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1524000"/>
                <a:ext cx="6400800" cy="4800600"/>
              </a:xfrm>
              <a:blipFill>
                <a:blip r:embed="rId2"/>
                <a:stretch>
                  <a:fillRect l="-1429" t="-254" r="-2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98E881C-D340-417E-A391-D16E53669A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645" y="1676400"/>
            <a:ext cx="5267602" cy="3523081"/>
          </a:xfrm>
        </p:spPr>
      </p:pic>
    </p:spTree>
    <p:extLst>
      <p:ext uri="{BB962C8B-B14F-4D97-AF65-F5344CB8AC3E}">
        <p14:creationId xmlns:p14="http://schemas.microsoft.com/office/powerpoint/2010/main" val="1359546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E8FF1A-7E29-4BDA-8EC0-F7FDB827E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8200"/>
            <a:ext cx="10363200" cy="685800"/>
          </a:xfrm>
        </p:spPr>
        <p:txBody>
          <a:bodyPr/>
          <a:lstStyle/>
          <a:p>
            <a:r>
              <a:rPr lang="zh-CN" altLang="en-US" dirty="0"/>
              <a:t>普里姆算法（加点法）</a:t>
            </a:r>
            <a:br>
              <a:rPr lang="en-US" altLang="zh-CN" dirty="0"/>
            </a:br>
            <a:r>
              <a:rPr lang="en-US" altLang="zh-CN" dirty="0"/>
              <a:t>[</a:t>
            </a:r>
            <a:r>
              <a:rPr lang="en-US" altLang="zh-CN" dirty="0" err="1"/>
              <a:t>Jarnik</a:t>
            </a:r>
            <a:r>
              <a:rPr lang="en-US" altLang="zh-CN" dirty="0"/>
              <a:t> 1930, Prim 1957]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653B393-64EF-43FE-B26E-8AB166028D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981200"/>
                <a:ext cx="115824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0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是带权连通图，求最小生成树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r>
                  <a:rPr lang="zh-CN" altLang="en-US" b="0" dirty="0"/>
                  <a:t>初始时，令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0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zh-CN" altLang="en-US" b="0" dirty="0"/>
                  <a:t>；</a:t>
                </a:r>
                <a:endParaRPr lang="en-US" altLang="zh-CN" b="0" dirty="0"/>
              </a:p>
              <a:p>
                <a:r>
                  <a:rPr lang="zh-CN" altLang="en-US" b="0" dirty="0"/>
                  <a:t>在所有的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b="0" dirty="0"/>
                  <a:t>、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b="0" dirty="0"/>
                  <a:t>的边中，选一条代价最小的边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加入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b="0" dirty="0"/>
                  <a:t>，同时将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0" dirty="0"/>
                  <a:t>加入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b="0" dirty="0"/>
                  <a:t>；</a:t>
                </a:r>
                <a:endParaRPr lang="en-US" altLang="zh-CN" b="0" dirty="0"/>
              </a:p>
              <a:p>
                <a:r>
                  <a:rPr lang="zh-CN" altLang="en-US" b="0" dirty="0"/>
                  <a:t>重复上面的步骤，直到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653B393-64EF-43FE-B26E-8AB166028D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981200"/>
                <a:ext cx="11582400" cy="5181600"/>
              </a:xfr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973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032B-1930-42CD-91DE-19C9220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6672426-3BC3-4C00-889C-CFB32F40BD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1877"/>
            <a:ext cx="5486400" cy="4870433"/>
          </a:xfrm>
        </p:spPr>
      </p:pic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C4101036-D40B-4E13-8401-ED323474BF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436961"/>
            <a:ext cx="5643971" cy="4870432"/>
          </a:xfrm>
        </p:spPr>
      </p:pic>
      <p:sp>
        <p:nvSpPr>
          <p:cNvPr id="3" name="等腰三角形 2">
            <a:extLst>
              <a:ext uri="{FF2B5EF4-FFF2-40B4-BE49-F238E27FC236}">
                <a16:creationId xmlns:a16="http://schemas.microsoft.com/office/drawing/2014/main" id="{3DE57491-9F54-397D-B467-8CF15275E3B7}"/>
              </a:ext>
            </a:extLst>
          </p:cNvPr>
          <p:cNvSpPr/>
          <p:nvPr/>
        </p:nvSpPr>
        <p:spPr bwMode="auto">
          <a:xfrm>
            <a:off x="2895600" y="20574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009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032B-1930-42CD-91DE-19C9220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6672426-3BC3-4C00-889C-CFB32F40BD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1877"/>
            <a:ext cx="5486400" cy="4870433"/>
          </a:xfrm>
        </p:spPr>
      </p:pic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C4101036-D40B-4E13-8401-ED323474BF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436961"/>
            <a:ext cx="5643971" cy="4870432"/>
          </a:xfrm>
        </p:spPr>
      </p:pic>
      <p:sp>
        <p:nvSpPr>
          <p:cNvPr id="3" name="等腰三角形 2">
            <a:extLst>
              <a:ext uri="{FF2B5EF4-FFF2-40B4-BE49-F238E27FC236}">
                <a16:creationId xmlns:a16="http://schemas.microsoft.com/office/drawing/2014/main" id="{3DE57491-9F54-397D-B467-8CF15275E3B7}"/>
              </a:ext>
            </a:extLst>
          </p:cNvPr>
          <p:cNvSpPr/>
          <p:nvPr/>
        </p:nvSpPr>
        <p:spPr bwMode="auto">
          <a:xfrm>
            <a:off x="2895600" y="20574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4CE56295-2CA5-A7CE-4DC2-DB2DECCE1C00}"/>
              </a:ext>
            </a:extLst>
          </p:cNvPr>
          <p:cNvSpPr/>
          <p:nvPr/>
        </p:nvSpPr>
        <p:spPr bwMode="auto">
          <a:xfrm>
            <a:off x="2895600" y="42672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2668FDD-0F0D-9ADF-52B5-1AECB7E2FB38}"/>
              </a:ext>
            </a:extLst>
          </p:cNvPr>
          <p:cNvCxnSpPr>
            <a:cxnSpLocks/>
          </p:cNvCxnSpPr>
          <p:nvPr/>
        </p:nvCxnSpPr>
        <p:spPr bwMode="auto">
          <a:xfrm>
            <a:off x="2819400" y="2286000"/>
            <a:ext cx="0" cy="1447800"/>
          </a:xfrm>
          <a:prstGeom prst="line">
            <a:avLst/>
          </a:prstGeom>
          <a:ln w="38100">
            <a:headEnd type="none" w="sm" len="sm"/>
            <a:tailEnd type="none" w="sm" len="sm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701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032B-1930-42CD-91DE-19C9220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6672426-3BC3-4C00-889C-CFB32F40BD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1877"/>
            <a:ext cx="5486400" cy="4870433"/>
          </a:xfrm>
        </p:spPr>
      </p:pic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C4101036-D40B-4E13-8401-ED323474BF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436961"/>
            <a:ext cx="5643971" cy="4870432"/>
          </a:xfrm>
        </p:spPr>
      </p:pic>
      <p:sp>
        <p:nvSpPr>
          <p:cNvPr id="3" name="等腰三角形 2">
            <a:extLst>
              <a:ext uri="{FF2B5EF4-FFF2-40B4-BE49-F238E27FC236}">
                <a16:creationId xmlns:a16="http://schemas.microsoft.com/office/drawing/2014/main" id="{3DE57491-9F54-397D-B467-8CF15275E3B7}"/>
              </a:ext>
            </a:extLst>
          </p:cNvPr>
          <p:cNvSpPr/>
          <p:nvPr/>
        </p:nvSpPr>
        <p:spPr bwMode="auto">
          <a:xfrm>
            <a:off x="2895600" y="20574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4CE56295-2CA5-A7CE-4DC2-DB2DECCE1C00}"/>
              </a:ext>
            </a:extLst>
          </p:cNvPr>
          <p:cNvSpPr/>
          <p:nvPr/>
        </p:nvSpPr>
        <p:spPr bwMode="auto">
          <a:xfrm>
            <a:off x="2895600" y="42672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2668FDD-0F0D-9ADF-52B5-1AECB7E2FB38}"/>
              </a:ext>
            </a:extLst>
          </p:cNvPr>
          <p:cNvCxnSpPr>
            <a:cxnSpLocks/>
          </p:cNvCxnSpPr>
          <p:nvPr/>
        </p:nvCxnSpPr>
        <p:spPr bwMode="auto">
          <a:xfrm>
            <a:off x="2819400" y="2286000"/>
            <a:ext cx="0" cy="1447800"/>
          </a:xfrm>
          <a:prstGeom prst="line">
            <a:avLst/>
          </a:prstGeom>
          <a:ln w="38100">
            <a:headEnd type="none" w="sm" len="sm"/>
            <a:tailEnd type="none" w="sm" len="sm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5C29A736-D308-70DC-691D-EA8ED499AA52}"/>
              </a:ext>
            </a:extLst>
          </p:cNvPr>
          <p:cNvSpPr/>
          <p:nvPr/>
        </p:nvSpPr>
        <p:spPr bwMode="auto">
          <a:xfrm>
            <a:off x="4495800" y="6096000"/>
            <a:ext cx="228600" cy="211393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67E076-27AD-E13F-7387-9F862288FB66}"/>
              </a:ext>
            </a:extLst>
          </p:cNvPr>
          <p:cNvCxnSpPr/>
          <p:nvPr/>
        </p:nvCxnSpPr>
        <p:spPr bwMode="auto">
          <a:xfrm>
            <a:off x="3124200" y="4572000"/>
            <a:ext cx="990600" cy="105451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520781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032B-1930-42CD-91DE-19C9220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6672426-3BC3-4C00-889C-CFB32F40BD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1877"/>
            <a:ext cx="5486400" cy="4870433"/>
          </a:xfrm>
        </p:spPr>
      </p:pic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C4101036-D40B-4E13-8401-ED323474BF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436961"/>
            <a:ext cx="5643971" cy="4870432"/>
          </a:xfrm>
        </p:spPr>
      </p:pic>
      <p:sp>
        <p:nvSpPr>
          <p:cNvPr id="3" name="等腰三角形 2">
            <a:extLst>
              <a:ext uri="{FF2B5EF4-FFF2-40B4-BE49-F238E27FC236}">
                <a16:creationId xmlns:a16="http://schemas.microsoft.com/office/drawing/2014/main" id="{3DE57491-9F54-397D-B467-8CF15275E3B7}"/>
              </a:ext>
            </a:extLst>
          </p:cNvPr>
          <p:cNvSpPr/>
          <p:nvPr/>
        </p:nvSpPr>
        <p:spPr bwMode="auto">
          <a:xfrm>
            <a:off x="2895600" y="20574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4CE56295-2CA5-A7CE-4DC2-DB2DECCE1C00}"/>
              </a:ext>
            </a:extLst>
          </p:cNvPr>
          <p:cNvSpPr/>
          <p:nvPr/>
        </p:nvSpPr>
        <p:spPr bwMode="auto">
          <a:xfrm>
            <a:off x="2895600" y="42672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2668FDD-0F0D-9ADF-52B5-1AECB7E2FB38}"/>
              </a:ext>
            </a:extLst>
          </p:cNvPr>
          <p:cNvCxnSpPr>
            <a:cxnSpLocks/>
          </p:cNvCxnSpPr>
          <p:nvPr/>
        </p:nvCxnSpPr>
        <p:spPr bwMode="auto">
          <a:xfrm>
            <a:off x="2819400" y="2286000"/>
            <a:ext cx="0" cy="1447800"/>
          </a:xfrm>
          <a:prstGeom prst="line">
            <a:avLst/>
          </a:prstGeom>
          <a:ln w="38100">
            <a:headEnd type="none" w="sm" len="sm"/>
            <a:tailEnd type="none" w="sm" len="sm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5C29A736-D308-70DC-691D-EA8ED499AA52}"/>
              </a:ext>
            </a:extLst>
          </p:cNvPr>
          <p:cNvSpPr/>
          <p:nvPr/>
        </p:nvSpPr>
        <p:spPr bwMode="auto">
          <a:xfrm>
            <a:off x="4495800" y="6096000"/>
            <a:ext cx="228600" cy="211393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67E076-27AD-E13F-7387-9F862288FB66}"/>
              </a:ext>
            </a:extLst>
          </p:cNvPr>
          <p:cNvCxnSpPr/>
          <p:nvPr/>
        </p:nvCxnSpPr>
        <p:spPr bwMode="auto">
          <a:xfrm>
            <a:off x="3124200" y="4572000"/>
            <a:ext cx="990600" cy="105451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05D6761A-ACDC-0666-C36C-2ACC5454797E}"/>
              </a:ext>
            </a:extLst>
          </p:cNvPr>
          <p:cNvSpPr/>
          <p:nvPr/>
        </p:nvSpPr>
        <p:spPr bwMode="auto">
          <a:xfrm>
            <a:off x="5181600" y="3733800"/>
            <a:ext cx="228594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F727EED-090B-7852-F46C-795A1F9F0358}"/>
              </a:ext>
            </a:extLst>
          </p:cNvPr>
          <p:cNvCxnSpPr/>
          <p:nvPr/>
        </p:nvCxnSpPr>
        <p:spPr bwMode="auto">
          <a:xfrm flipH="1">
            <a:off x="4495800" y="3962400"/>
            <a:ext cx="533400" cy="15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558050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032B-1930-42CD-91DE-19C9220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6672426-3BC3-4C00-889C-CFB32F40BD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1877"/>
            <a:ext cx="5486400" cy="4870433"/>
          </a:xfrm>
        </p:spPr>
      </p:pic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C4101036-D40B-4E13-8401-ED323474BF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436961"/>
            <a:ext cx="5643971" cy="4870432"/>
          </a:xfrm>
        </p:spPr>
      </p:pic>
      <p:sp>
        <p:nvSpPr>
          <p:cNvPr id="3" name="等腰三角形 2">
            <a:extLst>
              <a:ext uri="{FF2B5EF4-FFF2-40B4-BE49-F238E27FC236}">
                <a16:creationId xmlns:a16="http://schemas.microsoft.com/office/drawing/2014/main" id="{3DE57491-9F54-397D-B467-8CF15275E3B7}"/>
              </a:ext>
            </a:extLst>
          </p:cNvPr>
          <p:cNvSpPr/>
          <p:nvPr/>
        </p:nvSpPr>
        <p:spPr bwMode="auto">
          <a:xfrm>
            <a:off x="2895600" y="20574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4CE56295-2CA5-A7CE-4DC2-DB2DECCE1C00}"/>
              </a:ext>
            </a:extLst>
          </p:cNvPr>
          <p:cNvSpPr/>
          <p:nvPr/>
        </p:nvSpPr>
        <p:spPr bwMode="auto">
          <a:xfrm>
            <a:off x="2895600" y="42672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2668FDD-0F0D-9ADF-52B5-1AECB7E2FB38}"/>
              </a:ext>
            </a:extLst>
          </p:cNvPr>
          <p:cNvCxnSpPr>
            <a:cxnSpLocks/>
          </p:cNvCxnSpPr>
          <p:nvPr/>
        </p:nvCxnSpPr>
        <p:spPr bwMode="auto">
          <a:xfrm>
            <a:off x="2819400" y="2286000"/>
            <a:ext cx="0" cy="1447800"/>
          </a:xfrm>
          <a:prstGeom prst="line">
            <a:avLst/>
          </a:prstGeom>
          <a:ln w="38100">
            <a:headEnd type="none" w="sm" len="sm"/>
            <a:tailEnd type="none" w="sm" len="sm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5C29A736-D308-70DC-691D-EA8ED499AA52}"/>
              </a:ext>
            </a:extLst>
          </p:cNvPr>
          <p:cNvSpPr/>
          <p:nvPr/>
        </p:nvSpPr>
        <p:spPr bwMode="auto">
          <a:xfrm>
            <a:off x="4495800" y="6096000"/>
            <a:ext cx="228600" cy="211393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67E076-27AD-E13F-7387-9F862288FB66}"/>
              </a:ext>
            </a:extLst>
          </p:cNvPr>
          <p:cNvCxnSpPr/>
          <p:nvPr/>
        </p:nvCxnSpPr>
        <p:spPr bwMode="auto">
          <a:xfrm>
            <a:off x="3124200" y="4572000"/>
            <a:ext cx="990600" cy="105451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05D6761A-ACDC-0666-C36C-2ACC5454797E}"/>
              </a:ext>
            </a:extLst>
          </p:cNvPr>
          <p:cNvSpPr/>
          <p:nvPr/>
        </p:nvSpPr>
        <p:spPr bwMode="auto">
          <a:xfrm>
            <a:off x="5181600" y="3733800"/>
            <a:ext cx="228594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F727EED-090B-7852-F46C-795A1F9F0358}"/>
              </a:ext>
            </a:extLst>
          </p:cNvPr>
          <p:cNvCxnSpPr/>
          <p:nvPr/>
        </p:nvCxnSpPr>
        <p:spPr bwMode="auto">
          <a:xfrm flipH="1">
            <a:off x="4495800" y="3962400"/>
            <a:ext cx="533400" cy="15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61BE6223-A6E5-E54F-A881-FC557175E196}"/>
              </a:ext>
            </a:extLst>
          </p:cNvPr>
          <p:cNvSpPr/>
          <p:nvPr/>
        </p:nvSpPr>
        <p:spPr bwMode="auto">
          <a:xfrm>
            <a:off x="609600" y="3733800"/>
            <a:ext cx="228591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20708FF-F65A-F87F-D381-6B34A9AEB503}"/>
              </a:ext>
            </a:extLst>
          </p:cNvPr>
          <p:cNvCxnSpPr/>
          <p:nvPr/>
        </p:nvCxnSpPr>
        <p:spPr bwMode="auto">
          <a:xfrm>
            <a:off x="1066800" y="3886200"/>
            <a:ext cx="1371600" cy="381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605167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032B-1930-42CD-91DE-19C9220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6672426-3BC3-4C00-889C-CFB32F40BD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1877"/>
            <a:ext cx="5486400" cy="4870433"/>
          </a:xfrm>
        </p:spPr>
      </p:pic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C4101036-D40B-4E13-8401-ED323474BF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436961"/>
            <a:ext cx="5643971" cy="4870432"/>
          </a:xfrm>
        </p:spPr>
      </p:pic>
    </p:spTree>
    <p:extLst>
      <p:ext uri="{BB962C8B-B14F-4D97-AF65-F5344CB8AC3E}">
        <p14:creationId xmlns:p14="http://schemas.microsoft.com/office/powerpoint/2010/main" val="21036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算法的实现</a:t>
            </a:r>
            <a:r>
              <a:rPr lang="en-US" altLang="zh-CN" dirty="0"/>
              <a:t>1/4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从点</a:t>
            </a:r>
            <a:r>
              <a:rPr lang="en-US" altLang="zh-CN" b="0" dirty="0"/>
              <a:t>root</a:t>
            </a:r>
            <a:r>
              <a:rPr lang="zh-CN" altLang="en-US" b="0" dirty="0"/>
              <a:t>开始生成</a:t>
            </a:r>
            <a:r>
              <a:rPr lang="en-US" altLang="zh-CN" b="0" dirty="0"/>
              <a:t>MST</a:t>
            </a:r>
            <a:r>
              <a:rPr lang="zh-CN" altLang="en-US" b="0" dirty="0"/>
              <a:t>，把边输出到</a:t>
            </a:r>
            <a:r>
              <a:rPr lang="en-US" altLang="zh-CN" b="0" dirty="0" err="1"/>
              <a:t>miniTreeEdge</a:t>
            </a:r>
            <a:r>
              <a:rPr lang="zh-CN" altLang="en-US" b="0" dirty="0"/>
              <a:t>数组中。*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MiniSpanTreeByPrim</a:t>
            </a:r>
            <a:r>
              <a:rPr lang="en-US" altLang="zh-CN" b="0" dirty="0"/>
              <a:t>(Graph* </a:t>
            </a:r>
            <a:r>
              <a:rPr lang="en-US" altLang="zh-CN" b="0" dirty="0" err="1"/>
              <a:t>pGraph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int root, Edge </a:t>
            </a:r>
            <a:r>
              <a:rPr lang="en-US" altLang="zh-CN" b="0" dirty="0" err="1"/>
              <a:t>miniTreeEdge</a:t>
            </a:r>
            <a:r>
              <a:rPr lang="en-US" altLang="zh-CN" b="0" dirty="0"/>
              <a:t>[]){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k, u, n, weight;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n=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struct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>
                <a:solidFill>
                  <a:schemeClr val="accent2"/>
                </a:solidFill>
              </a:rPr>
              <a:t>int u</a:t>
            </a:r>
            <a:r>
              <a:rPr lang="en-US" altLang="zh-CN" b="0" dirty="0"/>
              <a:t>;  // U</a:t>
            </a:r>
            <a:r>
              <a:rPr lang="zh-CN" altLang="en-US" b="0" dirty="0"/>
              <a:t>中的与</a:t>
            </a:r>
            <a:r>
              <a:rPr lang="en-US" altLang="zh-CN" b="0" dirty="0" err="1"/>
              <a:t>i</a:t>
            </a:r>
            <a:r>
              <a:rPr lang="zh-CN" altLang="en-US" b="0" dirty="0"/>
              <a:t>距离最近的点</a:t>
            </a:r>
            <a:r>
              <a:rPr lang="en-US" altLang="zh-CN" b="0" dirty="0"/>
              <a:t>u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>
                <a:solidFill>
                  <a:schemeClr val="accent2"/>
                </a:solidFill>
              </a:rPr>
              <a:t>int distance</a:t>
            </a:r>
            <a:r>
              <a:rPr lang="en-US" altLang="zh-CN" b="0" dirty="0"/>
              <a:t>;    // </a:t>
            </a:r>
            <a:r>
              <a:rPr lang="en-US" altLang="zh-CN" b="0" dirty="0" err="1"/>
              <a:t>i</a:t>
            </a:r>
            <a:r>
              <a:rPr lang="zh-CN" altLang="en-US" b="0" dirty="0"/>
              <a:t>到</a:t>
            </a:r>
            <a:r>
              <a:rPr lang="en-US" altLang="zh-CN" b="0" dirty="0"/>
              <a:t>U</a:t>
            </a:r>
            <a:r>
              <a:rPr lang="zh-CN" altLang="en-US" b="0" dirty="0"/>
              <a:t>的距离，即</a:t>
            </a:r>
            <a:r>
              <a:rPr lang="en-US" altLang="zh-CN" b="0" dirty="0"/>
              <a:t>(</a:t>
            </a:r>
            <a:r>
              <a:rPr lang="en-US" altLang="zh-CN" b="0" dirty="0" err="1"/>
              <a:t>u,i</a:t>
            </a:r>
            <a:r>
              <a:rPr lang="en-US" altLang="zh-CN" b="0" dirty="0"/>
              <a:t>)</a:t>
            </a:r>
            <a:r>
              <a:rPr lang="zh-CN" altLang="en-US" b="0" dirty="0"/>
              <a:t>的权值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</a:t>
            </a:r>
            <a:r>
              <a:rPr lang="en-US" altLang="zh-CN" b="0" dirty="0" err="1">
                <a:solidFill>
                  <a:srgbClr val="FF0000"/>
                </a:solidFill>
              </a:rPr>
              <a:t>distanceToU</a:t>
            </a:r>
            <a:r>
              <a:rPr lang="en-US" altLang="zh-CN" b="0" dirty="0">
                <a:solidFill>
                  <a:srgbClr val="FF0000"/>
                </a:solidFill>
              </a:rPr>
              <a:t>[n]</a:t>
            </a:r>
            <a:r>
              <a:rPr lang="en-US" altLang="zh-CN" b="0" dirty="0"/>
              <a:t>;  // </a:t>
            </a:r>
            <a:r>
              <a:rPr lang="zh-CN" altLang="en-US" b="0" dirty="0"/>
              <a:t>建议使用动态数组，这里只为简洁。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</a:t>
            </a:r>
            <a:r>
              <a:rPr lang="en-US" altLang="zh-CN" b="0" dirty="0" err="1"/>
              <a:t>distanceToU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</a:t>
            </a:r>
            <a:r>
              <a:rPr lang="zh-CN" altLang="en-US" b="0" dirty="0"/>
              <a:t>表示顶点</a:t>
            </a:r>
            <a:r>
              <a:rPr lang="en-US" altLang="zh-CN" b="0" dirty="0" err="1"/>
              <a:t>i</a:t>
            </a:r>
            <a:r>
              <a:rPr lang="zh-CN" altLang="en-US" b="0" dirty="0"/>
              <a:t>到</a:t>
            </a:r>
            <a:r>
              <a:rPr lang="en-US" altLang="zh-CN" b="0" dirty="0"/>
              <a:t>U</a:t>
            </a:r>
            <a:r>
              <a:rPr lang="zh-CN" altLang="en-US" b="0" dirty="0"/>
              <a:t>的距离，即</a:t>
            </a:r>
            <a:r>
              <a:rPr lang="en-US" altLang="zh-CN" b="0" dirty="0" err="1"/>
              <a:t>i</a:t>
            </a:r>
            <a:r>
              <a:rPr lang="zh-CN" altLang="en-US" b="0" dirty="0"/>
              <a:t>到</a:t>
            </a:r>
            <a:r>
              <a:rPr lang="en-US" altLang="zh-CN" b="0" dirty="0"/>
              <a:t>U</a:t>
            </a:r>
            <a:r>
              <a:rPr lang="zh-CN" altLang="en-US" b="0" dirty="0"/>
              <a:t>中的所有点的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最小权值。当</a:t>
            </a:r>
            <a:r>
              <a:rPr lang="en-US" altLang="zh-CN" b="0" dirty="0" err="1"/>
              <a:t>i</a:t>
            </a:r>
            <a:r>
              <a:rPr lang="zh-CN" altLang="en-US" b="0" dirty="0"/>
              <a:t>在</a:t>
            </a:r>
            <a:r>
              <a:rPr lang="en-US" altLang="zh-CN" b="0" dirty="0"/>
              <a:t>U</a:t>
            </a:r>
            <a:r>
              <a:rPr lang="zh-CN" altLang="en-US" b="0" dirty="0"/>
              <a:t>中时，其</a:t>
            </a:r>
            <a:r>
              <a:rPr lang="en-US" altLang="zh-CN" b="0" dirty="0"/>
              <a:t>distance</a:t>
            </a:r>
            <a:r>
              <a:rPr lang="zh-CN" altLang="en-US" b="0" dirty="0"/>
              <a:t>用</a:t>
            </a:r>
            <a:r>
              <a:rPr lang="en-US" altLang="zh-CN" b="0" dirty="0"/>
              <a:t>0</a:t>
            </a:r>
            <a:r>
              <a:rPr lang="zh-CN" altLang="en-US" b="0" dirty="0"/>
              <a:t>表示。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1041627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算法的实现</a:t>
            </a:r>
            <a:r>
              <a:rPr lang="en-US" altLang="zh-CN" dirty="0"/>
              <a:t>2/4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8872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u=root;  // </a:t>
            </a:r>
            <a:r>
              <a:rPr lang="zh-CN" altLang="en-US" b="0" dirty="0"/>
              <a:t>习惯用</a:t>
            </a:r>
            <a:r>
              <a:rPr lang="en-US" altLang="zh-CN" b="0" dirty="0"/>
              <a:t>u</a:t>
            </a:r>
            <a:r>
              <a:rPr lang="zh-CN" altLang="en-US" b="0" dirty="0"/>
              <a:t>表示</a:t>
            </a:r>
            <a:r>
              <a:rPr lang="en-US" altLang="zh-CN" b="0" dirty="0"/>
              <a:t>U</a:t>
            </a:r>
            <a:r>
              <a:rPr lang="zh-CN" altLang="en-US" b="0" dirty="0"/>
              <a:t>中的点，初始时</a:t>
            </a:r>
            <a:r>
              <a:rPr lang="en-US" altLang="zh-CN" b="0" dirty="0"/>
              <a:t>root</a:t>
            </a:r>
            <a:r>
              <a:rPr lang="zh-CN" altLang="en-US" b="0" dirty="0"/>
              <a:t>应该在</a:t>
            </a:r>
            <a:r>
              <a:rPr lang="en-US" altLang="zh-CN" b="0" dirty="0"/>
              <a:t>U</a:t>
            </a:r>
            <a:r>
              <a:rPr lang="zh-CN" altLang="en-US" b="0" dirty="0"/>
              <a:t>中。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distanceToU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].u=u;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distanceToU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].distance=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-&gt;matrix[u][</a:t>
            </a:r>
            <a:r>
              <a:rPr lang="en-US" altLang="zh-CN" b="0" dirty="0" err="1"/>
              <a:t>i</a:t>
            </a:r>
            <a:r>
              <a:rPr lang="en-US" altLang="zh-CN" b="0" dirty="0"/>
              <a:t>].weight;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distanceToU</a:t>
            </a:r>
            <a:r>
              <a:rPr lang="en-US" altLang="zh-CN" b="0" dirty="0"/>
              <a:t>[u].distance=0;  // </a:t>
            </a:r>
            <a:r>
              <a:rPr lang="zh-CN" altLang="en-US" b="0" dirty="0"/>
              <a:t>把 </a:t>
            </a:r>
            <a:r>
              <a:rPr lang="en-US" altLang="zh-CN" b="0" dirty="0"/>
              <a:t>u=root </a:t>
            </a:r>
            <a:r>
              <a:rPr lang="zh-CN" altLang="en-US" b="0" dirty="0"/>
              <a:t>加入</a:t>
            </a:r>
            <a:r>
              <a:rPr lang="en-US" altLang="zh-CN" b="0" dirty="0"/>
              <a:t>U</a:t>
            </a:r>
            <a:r>
              <a:rPr lang="zh-CN" altLang="en-US" b="0" dirty="0"/>
              <a:t>中。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以上为初始化，</a:t>
            </a:r>
            <a:r>
              <a:rPr lang="en-US" altLang="zh-CN" b="0" dirty="0"/>
              <a:t>for</a:t>
            </a:r>
            <a:r>
              <a:rPr lang="zh-CN" altLang="en-US" b="0" dirty="0"/>
              <a:t>循环给出所有顶点到</a:t>
            </a:r>
            <a:r>
              <a:rPr lang="en-US" altLang="zh-CN" b="0" dirty="0"/>
              <a:t>U</a:t>
            </a:r>
            <a:r>
              <a:rPr lang="zh-CN" altLang="en-US" b="0" dirty="0"/>
              <a:t>的距离。初始时，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</a:t>
            </a:r>
            <a:r>
              <a:rPr lang="en-US" altLang="zh-CN" b="0" dirty="0"/>
              <a:t>U</a:t>
            </a:r>
            <a:r>
              <a:rPr lang="zh-CN" altLang="en-US" b="0" dirty="0"/>
              <a:t>中只有一个顶点</a:t>
            </a:r>
            <a:r>
              <a:rPr lang="en-US" altLang="zh-CN" b="0" dirty="0"/>
              <a:t>root</a:t>
            </a:r>
            <a:r>
              <a:rPr lang="zh-CN" altLang="en-US" b="0" dirty="0"/>
              <a:t>。在大多数情况下，</a:t>
            </a:r>
            <a:r>
              <a:rPr lang="en-US" altLang="zh-CN" b="0" dirty="0"/>
              <a:t>(</a:t>
            </a:r>
            <a:r>
              <a:rPr lang="en-US" altLang="zh-CN" b="0" dirty="0" err="1"/>
              <a:t>x,x</a:t>
            </a:r>
            <a:r>
              <a:rPr lang="en-US" altLang="zh-CN" b="0" dirty="0"/>
              <a:t>)</a:t>
            </a:r>
            <a:r>
              <a:rPr lang="zh-CN" altLang="en-US" b="0" dirty="0"/>
              <a:t>的权值为</a:t>
            </a:r>
            <a:r>
              <a:rPr lang="en-US" altLang="zh-CN" b="0" dirty="0"/>
              <a:t>0</a:t>
            </a:r>
            <a:r>
              <a:rPr lang="zh-CN" altLang="en-US" b="0" dirty="0"/>
              <a:t>，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所以最后的赋值有时可省，这里明确写出，一是为了强调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把</a:t>
            </a:r>
            <a:r>
              <a:rPr lang="en-US" altLang="zh-CN" b="0" dirty="0"/>
              <a:t>u=root</a:t>
            </a:r>
            <a:r>
              <a:rPr lang="zh-CN" altLang="en-US" b="0" dirty="0"/>
              <a:t>加入</a:t>
            </a:r>
            <a:r>
              <a:rPr lang="en-US" altLang="zh-CN" b="0" dirty="0"/>
              <a:t>U</a:t>
            </a:r>
            <a:r>
              <a:rPr lang="zh-CN" altLang="en-US" b="0" dirty="0"/>
              <a:t>，二是为避免特殊情况下的程序漏洞。</a:t>
            </a:r>
            <a:r>
              <a:rPr lang="en-US" altLang="zh-CN" b="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</a:t>
            </a:r>
            <a:r>
              <a:rPr lang="en-US" altLang="zh-CN" b="0" dirty="0"/>
              <a:t>/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666855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算法的实现</a:t>
            </a:r>
            <a:r>
              <a:rPr lang="en-US" altLang="zh-CN" dirty="0"/>
              <a:t>3/4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8872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再找</a:t>
            </a:r>
            <a:r>
              <a:rPr lang="en-US" altLang="zh-CN" b="0" dirty="0"/>
              <a:t>n-1</a:t>
            </a:r>
            <a:r>
              <a:rPr lang="zh-CN" altLang="en-US" b="0" dirty="0"/>
              <a:t>个点到</a:t>
            </a:r>
            <a:r>
              <a:rPr lang="en-US" altLang="zh-CN" b="0" dirty="0"/>
              <a:t>U</a:t>
            </a:r>
            <a:r>
              <a:rPr lang="zh-CN" altLang="en-US" b="0" dirty="0"/>
              <a:t>中。或者说，找</a:t>
            </a:r>
            <a:r>
              <a:rPr lang="en-US" altLang="zh-CN" b="0" dirty="0"/>
              <a:t>MST</a:t>
            </a:r>
            <a:r>
              <a:rPr lang="zh-CN" altLang="en-US" b="0" dirty="0"/>
              <a:t>的</a:t>
            </a:r>
            <a:r>
              <a:rPr lang="en-US" altLang="zh-CN" b="0" dirty="0"/>
              <a:t>n-1</a:t>
            </a:r>
            <a:r>
              <a:rPr lang="zh-CN" altLang="en-US" b="0" dirty="0"/>
              <a:t>条边。*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for(k=0; k&lt;n-1; k++) {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v=</a:t>
            </a:r>
            <a:r>
              <a:rPr lang="en-US" altLang="zh-CN" b="0" dirty="0" err="1"/>
              <a:t>NearestVertex</a:t>
            </a:r>
            <a:r>
              <a:rPr lang="en-US" altLang="zh-CN" b="0" dirty="0"/>
              <a:t>(</a:t>
            </a:r>
            <a:r>
              <a:rPr lang="en-US" altLang="zh-CN" b="0" dirty="0" err="1"/>
              <a:t>distanceToU</a:t>
            </a:r>
            <a:r>
              <a:rPr lang="en-US" altLang="zh-CN" b="0" dirty="0"/>
              <a:t>, n);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/* </a:t>
            </a:r>
            <a:r>
              <a:rPr lang="zh-CN" altLang="en-US" b="0" dirty="0"/>
              <a:t>从</a:t>
            </a:r>
            <a:r>
              <a:rPr lang="en-US" altLang="zh-CN" b="0" dirty="0"/>
              <a:t>U</a:t>
            </a:r>
            <a:r>
              <a:rPr lang="zh-CN" altLang="en-US" b="0" dirty="0"/>
              <a:t>外找一个距</a:t>
            </a:r>
            <a:r>
              <a:rPr lang="en-US" altLang="zh-CN" b="0" dirty="0"/>
              <a:t>U</a:t>
            </a:r>
            <a:r>
              <a:rPr lang="zh-CN" altLang="en-US" b="0" dirty="0"/>
              <a:t>最近的点</a:t>
            </a:r>
            <a:r>
              <a:rPr lang="en-US" altLang="zh-CN" b="0" dirty="0"/>
              <a:t>v</a:t>
            </a:r>
            <a:r>
              <a:rPr lang="zh-CN" altLang="en-US" b="0" dirty="0"/>
              <a:t>，其实现从略。*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u=</a:t>
            </a:r>
            <a:r>
              <a:rPr lang="en-US" altLang="zh-CN" b="0" dirty="0" err="1"/>
              <a:t>distanceToU</a:t>
            </a:r>
            <a:r>
              <a:rPr lang="en-US" altLang="zh-CN" b="0" dirty="0"/>
              <a:t>[v].u; // u</a:t>
            </a:r>
            <a:r>
              <a:rPr lang="zh-CN" altLang="en-US" b="0" dirty="0"/>
              <a:t>是</a:t>
            </a:r>
            <a:r>
              <a:rPr lang="en-US" altLang="zh-CN" b="0" dirty="0"/>
              <a:t>U</a:t>
            </a:r>
            <a:r>
              <a:rPr lang="zh-CN" altLang="en-US" b="0" dirty="0"/>
              <a:t>中的与</a:t>
            </a:r>
            <a:r>
              <a:rPr lang="en-US" altLang="zh-CN" b="0" dirty="0"/>
              <a:t>v</a:t>
            </a:r>
            <a:r>
              <a:rPr lang="zh-CN" altLang="en-US" b="0" dirty="0"/>
              <a:t>最近的点。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miniTreeEdge</a:t>
            </a:r>
            <a:r>
              <a:rPr lang="en-US" altLang="zh-CN" b="0" dirty="0"/>
              <a:t>[k].u=u;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miniTreeEdge</a:t>
            </a:r>
            <a:r>
              <a:rPr lang="en-US" altLang="zh-CN" b="0" dirty="0"/>
              <a:t>[k].v=v; // </a:t>
            </a:r>
            <a:r>
              <a:rPr lang="zh-CN" altLang="en-US" b="0" dirty="0"/>
              <a:t>这两句把</a:t>
            </a:r>
            <a:r>
              <a:rPr lang="en-US" altLang="zh-CN" b="0" dirty="0"/>
              <a:t>(</a:t>
            </a:r>
            <a:r>
              <a:rPr lang="en-US" altLang="zh-CN" b="0" dirty="0" err="1"/>
              <a:t>u,v</a:t>
            </a:r>
            <a:r>
              <a:rPr lang="en-US" altLang="zh-CN" b="0" dirty="0"/>
              <a:t>)</a:t>
            </a:r>
            <a:r>
              <a:rPr lang="zh-CN" altLang="en-US" b="0" dirty="0"/>
              <a:t>记入最小生成树。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distanceToU</a:t>
            </a:r>
            <a:r>
              <a:rPr lang="en-US" altLang="zh-CN" b="0" dirty="0"/>
              <a:t>[v].distance=0;  // </a:t>
            </a:r>
            <a:r>
              <a:rPr lang="zh-CN" altLang="en-US" b="0" dirty="0"/>
              <a:t>把</a:t>
            </a:r>
            <a:r>
              <a:rPr lang="en-US" altLang="zh-CN" b="0" dirty="0"/>
              <a:t>v</a:t>
            </a:r>
            <a:r>
              <a:rPr lang="zh-CN" altLang="en-US" b="0" dirty="0"/>
              <a:t>加入</a:t>
            </a:r>
            <a:r>
              <a:rPr lang="en-US" altLang="zh-CN" b="0" dirty="0"/>
              <a:t>U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/</a:t>
            </a:r>
            <a:r>
              <a:rPr lang="zh-CN" altLang="en-US" b="0" dirty="0"/>
              <a:t>*</a:t>
            </a:r>
            <a:r>
              <a:rPr lang="en-US" altLang="zh-CN" b="0" dirty="0"/>
              <a:t> U</a:t>
            </a:r>
            <a:r>
              <a:rPr lang="zh-CN" altLang="en-US" b="0" dirty="0"/>
              <a:t>中多了一个点</a:t>
            </a:r>
            <a:r>
              <a:rPr lang="en-US" altLang="zh-CN" b="0" dirty="0"/>
              <a:t>v</a:t>
            </a:r>
            <a:r>
              <a:rPr lang="zh-CN" altLang="en-US" b="0" dirty="0"/>
              <a:t>，下面须更新</a:t>
            </a:r>
            <a:r>
              <a:rPr lang="en-US" altLang="zh-CN" b="0" dirty="0" err="1"/>
              <a:t>distanceToU</a:t>
            </a:r>
            <a:r>
              <a:rPr lang="en-US" altLang="zh-CN" b="0" dirty="0"/>
              <a:t> </a:t>
            </a:r>
            <a:r>
              <a:rPr lang="zh-CN" altLang="en-US" b="0" dirty="0"/>
              <a:t>。*</a:t>
            </a:r>
            <a:r>
              <a:rPr lang="en-US" altLang="zh-CN" b="0" dirty="0"/>
              <a:t>/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620469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算法的实现</a:t>
            </a:r>
            <a:r>
              <a:rPr lang="en-US" altLang="zh-CN" dirty="0"/>
              <a:t>4/4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1FE73D3A-0A98-4837-9FAB-6966FAF7B3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11887200" cy="5181600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for(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=0; 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&lt;n; 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++) {   //  </a:t>
                </a:r>
                <a:r>
                  <a:rPr lang="zh-CN" altLang="en-US" b="0" dirty="0"/>
                  <a:t>更新</a:t>
                </a:r>
                <a:r>
                  <a:rPr lang="en-US" altLang="zh-CN" b="0" dirty="0" err="1"/>
                  <a:t>distanceToU</a:t>
                </a:r>
                <a:endParaRPr lang="en-US" altLang="zh-CN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    weight=</a:t>
                </a:r>
                <a:r>
                  <a:rPr lang="en-US" altLang="zh-CN" b="0" dirty="0" err="1"/>
                  <a:t>pGraph</a:t>
                </a:r>
                <a:r>
                  <a:rPr lang="en-US" altLang="zh-CN" b="0" dirty="0"/>
                  <a:t>-&gt;matrix[v][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].weight;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    if (weight !=∞ &amp;&amp; weight&lt;</a:t>
                </a:r>
                <a:r>
                  <a:rPr lang="en-US" altLang="zh-CN" b="0" dirty="0" err="1"/>
                  <a:t>distanceToU</a:t>
                </a:r>
                <a:r>
                  <a:rPr lang="en-US" altLang="zh-CN" b="0" dirty="0"/>
                  <a:t>[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].distance){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        </a:t>
                </a:r>
                <a:r>
                  <a:rPr lang="en-US" altLang="zh-CN" b="0" dirty="0" err="1"/>
                  <a:t>distanceToU</a:t>
                </a:r>
                <a:r>
                  <a:rPr lang="en-US" altLang="zh-CN" b="0" dirty="0"/>
                  <a:t>[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].u=v;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        </a:t>
                </a:r>
                <a:r>
                  <a:rPr lang="en-US" altLang="zh-CN" b="0" dirty="0" err="1"/>
                  <a:t>distanceToU</a:t>
                </a:r>
                <a:r>
                  <a:rPr lang="en-US" altLang="zh-CN" b="0" dirty="0"/>
                  <a:t>[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].distance=weight;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    }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}   // </a:t>
                </a:r>
                <a:r>
                  <a:rPr lang="en-US" altLang="zh-CN" b="0" dirty="0" err="1"/>
                  <a:t>distanceToU</a:t>
                </a:r>
                <a:r>
                  <a:rPr lang="zh-CN" altLang="en-US" b="0" dirty="0"/>
                  <a:t>更新完毕；已成功加入一个最近的点。</a:t>
                </a:r>
                <a:endParaRPr lang="en-US" altLang="zh-CN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}  // </a:t>
                </a:r>
                <a:r>
                  <a:rPr lang="zh-CN" altLang="en-US" b="0" dirty="0"/>
                  <a:t>外循环结束；</a:t>
                </a:r>
                <a:r>
                  <a:rPr lang="en-US" altLang="zh-CN" b="0" dirty="0"/>
                  <a:t>MST</a:t>
                </a:r>
                <a:r>
                  <a:rPr lang="zh-CN" altLang="en-US" b="0" dirty="0"/>
                  <a:t>已生成，并存入</a:t>
                </a:r>
                <a:r>
                  <a:rPr lang="en-US" altLang="zh-CN" b="0" dirty="0" err="1"/>
                  <a:t>miniTreeEdge</a:t>
                </a:r>
                <a:r>
                  <a:rPr lang="zh-CN" altLang="en-US" b="0" dirty="0"/>
                  <a:t>数组。</a:t>
                </a:r>
                <a:endParaRPr lang="en-US" altLang="zh-CN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return OK;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}   /* </a:t>
                </a:r>
                <a:r>
                  <a:rPr lang="zh-CN" altLang="en-US" b="0" dirty="0"/>
                  <a:t>时间复杂度为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0" dirty="0"/>
                  <a:t> </a:t>
                </a:r>
                <a:r>
                  <a:rPr lang="en-US" altLang="zh-CN" b="0" dirty="0"/>
                  <a:t>*/</a:t>
                </a:r>
                <a:endParaRPr lang="zh-CN" altLang="en-US" b="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1FE73D3A-0A98-4837-9FAB-6966FAF7B3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11887200" cy="5181600"/>
              </a:xfrm>
              <a:blipFill>
                <a:blip r:embed="rId2"/>
                <a:stretch>
                  <a:fillRect l="-1282" t="-1529" r="-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0104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E8FF1A-7E29-4BDA-8EC0-F7FDB827E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8200"/>
            <a:ext cx="10363200" cy="685800"/>
          </a:xfrm>
        </p:spPr>
        <p:txBody>
          <a:bodyPr/>
          <a:lstStyle/>
          <a:p>
            <a:r>
              <a:rPr lang="zh-CN" altLang="en-US" dirty="0"/>
              <a:t>克鲁斯卡尔算法（加边法）</a:t>
            </a:r>
            <a:br>
              <a:rPr lang="en-US" altLang="zh-CN" dirty="0"/>
            </a:br>
            <a:r>
              <a:rPr lang="en-US" altLang="zh-CN" dirty="0"/>
              <a:t>[Kruskal 1956]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653B393-64EF-43FE-B26E-8AB166028D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981200"/>
                <a:ext cx="115824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0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是带权连通图，求最小生成树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r>
                  <a:rPr lang="zh-CN" altLang="en-US" b="0" dirty="0"/>
                  <a:t>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个顶点看成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个集合；</a:t>
                </a:r>
                <a:endParaRPr lang="en-US" altLang="zh-CN" b="0" dirty="0"/>
              </a:p>
              <a:p>
                <a:r>
                  <a:rPr lang="zh-CN" altLang="en-US" b="0" dirty="0"/>
                  <a:t>在所有的两个顶点不在同一集合内的边中，选择权值最小的边加入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b="0" dirty="0"/>
                  <a:t>，同时把两个顶点集合并；</a:t>
                </a:r>
                <a:endParaRPr lang="en-US" altLang="zh-CN" b="0" dirty="0"/>
              </a:p>
              <a:p>
                <a:r>
                  <a:rPr lang="zh-CN" altLang="en-US" b="0" dirty="0"/>
                  <a:t>重复上面的步骤，直到所有的顶点都在同一个集合内。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653B393-64EF-43FE-B26E-8AB166028D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981200"/>
                <a:ext cx="11582400" cy="5181600"/>
              </a:xfrm>
              <a:blipFill>
                <a:blip r:embed="rId2"/>
                <a:stretch>
                  <a:fillRect l="-1316" r="-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824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032B-1930-42CD-91DE-19C9220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  <a:r>
              <a:rPr lang="zh-CN" altLang="en-US" dirty="0"/>
              <a:t>算法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F356FC7-492F-434B-BAB5-A201DF4617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74" y="1524000"/>
            <a:ext cx="5279252" cy="4800600"/>
          </a:xfrm>
        </p:spPr>
      </p:pic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36574BC0-50A9-4D89-B18D-CD00780DA3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774" y="1524000"/>
            <a:ext cx="5279252" cy="4800600"/>
          </a:xfr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D1F8771-EDC5-FFE9-BE77-09FA4AEA5728}"/>
              </a:ext>
            </a:extLst>
          </p:cNvPr>
          <p:cNvCxnSpPr/>
          <p:nvPr/>
        </p:nvCxnSpPr>
        <p:spPr bwMode="auto">
          <a:xfrm>
            <a:off x="2971800" y="2438400"/>
            <a:ext cx="0" cy="1295400"/>
          </a:xfrm>
          <a:prstGeom prst="line">
            <a:avLst/>
          </a:prstGeom>
          <a:ln w="38100">
            <a:solidFill>
              <a:schemeClr val="accent2"/>
            </a:solidFill>
            <a:headEnd type="none" w="sm" len="sm"/>
            <a:tailEnd type="none" w="sm" len="sm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EDB7ECAE-67FA-F670-F472-AD50DCD9051E}"/>
              </a:ext>
            </a:extLst>
          </p:cNvPr>
          <p:cNvSpPr/>
          <p:nvPr/>
        </p:nvSpPr>
        <p:spPr bwMode="auto">
          <a:xfrm>
            <a:off x="3048000" y="21336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3F5B1104-E927-62E4-1D08-C95B03347FCF}"/>
              </a:ext>
            </a:extLst>
          </p:cNvPr>
          <p:cNvSpPr/>
          <p:nvPr/>
        </p:nvSpPr>
        <p:spPr bwMode="auto">
          <a:xfrm>
            <a:off x="3048000" y="43434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44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032B-1930-42CD-91DE-19C9220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  <a:r>
              <a:rPr lang="zh-CN" altLang="en-US" dirty="0"/>
              <a:t>算法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F356FC7-492F-434B-BAB5-A201DF4617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74" y="1524000"/>
            <a:ext cx="5279252" cy="4800600"/>
          </a:xfrm>
        </p:spPr>
      </p:pic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36574BC0-50A9-4D89-B18D-CD00780DA3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774" y="1524000"/>
            <a:ext cx="5279252" cy="4800600"/>
          </a:xfr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D1F8771-EDC5-FFE9-BE77-09FA4AEA5728}"/>
              </a:ext>
            </a:extLst>
          </p:cNvPr>
          <p:cNvCxnSpPr/>
          <p:nvPr/>
        </p:nvCxnSpPr>
        <p:spPr bwMode="auto">
          <a:xfrm>
            <a:off x="2971800" y="2438400"/>
            <a:ext cx="0" cy="1295400"/>
          </a:xfrm>
          <a:prstGeom prst="line">
            <a:avLst/>
          </a:prstGeom>
          <a:ln w="38100">
            <a:solidFill>
              <a:schemeClr val="accent2"/>
            </a:solidFill>
            <a:headEnd type="none" w="sm" len="sm"/>
            <a:tailEnd type="none" w="sm" len="sm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EDB7ECAE-67FA-F670-F472-AD50DCD9051E}"/>
              </a:ext>
            </a:extLst>
          </p:cNvPr>
          <p:cNvSpPr/>
          <p:nvPr/>
        </p:nvSpPr>
        <p:spPr bwMode="auto">
          <a:xfrm>
            <a:off x="3048000" y="21336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3F5B1104-E927-62E4-1D08-C95B03347FCF}"/>
              </a:ext>
            </a:extLst>
          </p:cNvPr>
          <p:cNvSpPr/>
          <p:nvPr/>
        </p:nvSpPr>
        <p:spPr bwMode="auto">
          <a:xfrm>
            <a:off x="3048000" y="43434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41F798C-E501-F092-DD7B-1879FBD7726F}"/>
              </a:ext>
            </a:extLst>
          </p:cNvPr>
          <p:cNvCxnSpPr/>
          <p:nvPr/>
        </p:nvCxnSpPr>
        <p:spPr bwMode="auto">
          <a:xfrm flipH="1">
            <a:off x="4648200" y="3962400"/>
            <a:ext cx="533400" cy="1600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BE56B53F-FAB7-0975-00E5-53DCDF80FD97}"/>
              </a:ext>
            </a:extLst>
          </p:cNvPr>
          <p:cNvSpPr/>
          <p:nvPr/>
        </p:nvSpPr>
        <p:spPr bwMode="auto">
          <a:xfrm>
            <a:off x="5334000" y="3810000"/>
            <a:ext cx="2286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4223587D-5101-F9AC-F43C-B3FF015FAC81}"/>
              </a:ext>
            </a:extLst>
          </p:cNvPr>
          <p:cNvSpPr/>
          <p:nvPr/>
        </p:nvSpPr>
        <p:spPr bwMode="auto">
          <a:xfrm>
            <a:off x="4648200" y="6019800"/>
            <a:ext cx="2286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58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032B-1930-42CD-91DE-19C9220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  <a:r>
              <a:rPr lang="zh-CN" altLang="en-US" dirty="0"/>
              <a:t>算法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F356FC7-492F-434B-BAB5-A201DF4617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74" y="1524000"/>
            <a:ext cx="5279252" cy="4800600"/>
          </a:xfrm>
        </p:spPr>
      </p:pic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36574BC0-50A9-4D89-B18D-CD00780DA3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774" y="1524000"/>
            <a:ext cx="5279252" cy="4800600"/>
          </a:xfr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D1F8771-EDC5-FFE9-BE77-09FA4AEA5728}"/>
              </a:ext>
            </a:extLst>
          </p:cNvPr>
          <p:cNvCxnSpPr/>
          <p:nvPr/>
        </p:nvCxnSpPr>
        <p:spPr bwMode="auto">
          <a:xfrm>
            <a:off x="2971800" y="2438400"/>
            <a:ext cx="0" cy="1295400"/>
          </a:xfrm>
          <a:prstGeom prst="line">
            <a:avLst/>
          </a:prstGeom>
          <a:ln w="38100">
            <a:solidFill>
              <a:schemeClr val="accent2"/>
            </a:solidFill>
            <a:headEnd type="none" w="sm" len="sm"/>
            <a:tailEnd type="none" w="sm" len="sm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EDB7ECAE-67FA-F670-F472-AD50DCD9051E}"/>
              </a:ext>
            </a:extLst>
          </p:cNvPr>
          <p:cNvSpPr/>
          <p:nvPr/>
        </p:nvSpPr>
        <p:spPr bwMode="auto">
          <a:xfrm>
            <a:off x="3048000" y="21336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3F5B1104-E927-62E4-1D08-C95B03347FCF}"/>
              </a:ext>
            </a:extLst>
          </p:cNvPr>
          <p:cNvSpPr/>
          <p:nvPr/>
        </p:nvSpPr>
        <p:spPr bwMode="auto">
          <a:xfrm>
            <a:off x="3048000" y="4343400"/>
            <a:ext cx="228600" cy="228600"/>
          </a:xfrm>
          <a:prstGeom prst="triangle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41F798C-E501-F092-DD7B-1879FBD7726F}"/>
              </a:ext>
            </a:extLst>
          </p:cNvPr>
          <p:cNvCxnSpPr/>
          <p:nvPr/>
        </p:nvCxnSpPr>
        <p:spPr bwMode="auto">
          <a:xfrm flipH="1">
            <a:off x="4648200" y="3962400"/>
            <a:ext cx="533400" cy="1600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BE56B53F-FAB7-0975-00E5-53DCDF80FD97}"/>
              </a:ext>
            </a:extLst>
          </p:cNvPr>
          <p:cNvSpPr/>
          <p:nvPr/>
        </p:nvSpPr>
        <p:spPr bwMode="auto">
          <a:xfrm>
            <a:off x="5334000" y="3810000"/>
            <a:ext cx="2286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4223587D-5101-F9AC-F43C-B3FF015FAC81}"/>
              </a:ext>
            </a:extLst>
          </p:cNvPr>
          <p:cNvSpPr/>
          <p:nvPr/>
        </p:nvSpPr>
        <p:spPr bwMode="auto">
          <a:xfrm>
            <a:off x="4648200" y="6019800"/>
            <a:ext cx="2286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B1CD12E-2C9C-8164-6D50-01785CB6EECA}"/>
              </a:ext>
            </a:extLst>
          </p:cNvPr>
          <p:cNvCxnSpPr/>
          <p:nvPr/>
        </p:nvCxnSpPr>
        <p:spPr bwMode="auto">
          <a:xfrm>
            <a:off x="1066800" y="3962400"/>
            <a:ext cx="533400" cy="14478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41595F1E-48DD-F1A1-7F52-29D68BF1DE60}"/>
              </a:ext>
            </a:extLst>
          </p:cNvPr>
          <p:cNvSpPr/>
          <p:nvPr/>
        </p:nvSpPr>
        <p:spPr bwMode="auto">
          <a:xfrm>
            <a:off x="1600200" y="6019800"/>
            <a:ext cx="228600" cy="304800"/>
          </a:xfrm>
          <a:prstGeom prst="triangl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422A2CF4-5A36-1697-20C5-3FE3FF505AD2}"/>
              </a:ext>
            </a:extLst>
          </p:cNvPr>
          <p:cNvSpPr/>
          <p:nvPr/>
        </p:nvSpPr>
        <p:spPr bwMode="auto">
          <a:xfrm>
            <a:off x="838200" y="3733800"/>
            <a:ext cx="228598" cy="304800"/>
          </a:xfrm>
          <a:prstGeom prst="triangl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4474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103AB66-D6F0-44FC-ACA2-F6422F7F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  <a:r>
              <a:rPr lang="zh-CN" altLang="en-US" dirty="0"/>
              <a:t>算法的伪代码描述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626629DF-A3FE-4EC2-8300-0BA66AF97C4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90208509"/>
                  </p:ext>
                </p:extLst>
              </p:nvPr>
            </p:nvGraphicFramePr>
            <p:xfrm>
              <a:off x="304800" y="1371600"/>
              <a:ext cx="11582400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82400">
                      <a:extLst>
                        <a:ext uri="{9D8B030D-6E8A-4147-A177-3AD203B41FA5}">
                          <a16:colId xmlns:a16="http://schemas.microsoft.com/office/drawing/2014/main" val="10329090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MiniSpanTreeByKruskal(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)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6214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1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3200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MST</m:t>
                              </m:r>
                              <m:r>
                                <a:rPr lang="en-US" altLang="zh-CN" sz="3200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oMath>
                          </a14:m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;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14910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2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 each vertex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</a:rPr>
                            <a:t>MakeSet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);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2642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3   Sort the edges into nondecreasing order by weight;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9856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4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 each edge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, taken in nondecreasing order,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9221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14350" indent="-514350">
                            <a:buAutoNum type="arabicPlain" startAt="5"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  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</a:rPr>
                            <a:t>if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Set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)≠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Set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,  </a:t>
                          </a:r>
                        </a:p>
                        <a:p>
                          <a:pPr marL="514350" indent="-514350">
                            <a:buAutoNum type="arabicPlain" startAt="5"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  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</a:rPr>
                            <a:t>then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MST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MST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⋃ 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, and</a:t>
                          </a:r>
                          <a:r>
                            <a:rPr lang="en-US" altLang="zh-CN" sz="3200" b="0" baseline="0" dirty="0">
                              <a:solidFill>
                                <a:schemeClr val="tx2"/>
                              </a:solidFill>
                            </a:rPr>
                            <a:t> Unite(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3200" b="0" i="0" baseline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Set</m:t>
                              </m:r>
                              <m:d>
                                <m:dPr>
                                  <m:ctrlPr>
                                    <a:rPr lang="en-US" altLang="zh-CN" sz="3200" b="0" i="1" baseline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baseline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altLang="zh-CN" sz="3200" b="0" i="1" baseline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200" b="0" i="0" baseline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Set</m:t>
                              </m:r>
                              <m:r>
                                <a:rPr lang="en-US" altLang="zh-CN" sz="3200" b="0" i="1" baseline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b="0" i="1" baseline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3200" b="0" i="1" baseline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3200" b="0" baseline="0" dirty="0">
                              <a:solidFill>
                                <a:schemeClr val="tx2"/>
                              </a:solidFill>
                            </a:rPr>
                            <a:t>);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198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7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</a:rPr>
                            <a:t>Return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MST</m:t>
                              </m:r>
                            </m:oMath>
                          </a14:m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;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97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时间主要花在第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3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行排序上，复杂度为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𝑒</m:t>
                                  </m:r>
                                  <m:func>
                                    <m:funcPr>
                                      <m:ctrlPr>
                                        <a:rPr lang="en-US" altLang="zh-CN" sz="32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3200" b="0" i="0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𝑒</m:t>
                                      </m:r>
                                    </m:e>
                                  </m:func>
                                </m:e>
                              </m:d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𝑂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  <m:func>
                                <m:funcPr>
                                  <m:ctrlP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b="0" i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。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436746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626629DF-A3FE-4EC2-8300-0BA66AF97C4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90208509"/>
                  </p:ext>
                </p:extLst>
              </p:nvPr>
            </p:nvGraphicFramePr>
            <p:xfrm>
              <a:off x="304800" y="1371600"/>
              <a:ext cx="11582400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82400">
                      <a:extLst>
                        <a:ext uri="{9D8B030D-6E8A-4147-A177-3AD203B41FA5}">
                          <a16:colId xmlns:a16="http://schemas.microsoft.com/office/drawing/2014/main" val="103290908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" t="-14737" r="-158" b="-81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2148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5" t="-114737" r="-158" b="-71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149108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5" t="-214737" r="-158" b="-61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264203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</a:rPr>
                            <a:t>3   Sort the edges into nondecreasing order by weight;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98568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5" t="-414737" r="-158" b="-41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9221493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5" t="-279429" r="-158" b="-127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198185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" t="-698947" r="-158" b="-13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97246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5" t="-798947" r="-158" b="-3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7463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35290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43ECA-675E-4AA5-B0A4-81A069923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有向无环图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2B8F16-DB5F-4457-9834-83D84B8F4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6400800" cy="4800600"/>
          </a:xfrm>
        </p:spPr>
        <p:txBody>
          <a:bodyPr/>
          <a:lstStyle/>
          <a:p>
            <a:r>
              <a:rPr lang="zh-CN" altLang="en-US" dirty="0"/>
              <a:t>有向无环图</a:t>
            </a:r>
            <a:r>
              <a:rPr lang="en-US" altLang="zh-CN" dirty="0"/>
              <a:t>(DAG</a:t>
            </a:r>
            <a:r>
              <a:rPr lang="zh-CN" altLang="en-US" dirty="0"/>
              <a:t>：</a:t>
            </a:r>
            <a:r>
              <a:rPr lang="en-US" altLang="zh-CN" dirty="0"/>
              <a:t>Directed Acyclic Graph)</a:t>
            </a:r>
          </a:p>
          <a:p>
            <a:pPr lvl="1"/>
            <a:r>
              <a:rPr lang="zh-CN" altLang="en-US" dirty="0"/>
              <a:t>有向</a:t>
            </a:r>
            <a:endParaRPr lang="en-US" altLang="zh-CN" dirty="0"/>
          </a:p>
          <a:p>
            <a:pPr lvl="1"/>
            <a:r>
              <a:rPr lang="zh-CN" altLang="en-US" dirty="0"/>
              <a:t>无环</a:t>
            </a:r>
            <a:endParaRPr lang="en-US" altLang="zh-CN" dirty="0"/>
          </a:p>
          <a:p>
            <a:r>
              <a:rPr lang="zh-CN" altLang="en-US" dirty="0"/>
              <a:t>两类有向无环图</a:t>
            </a:r>
            <a:endParaRPr lang="en-US" altLang="zh-CN" dirty="0"/>
          </a:p>
          <a:p>
            <a:pPr lvl="1"/>
            <a:r>
              <a:rPr lang="en-US" altLang="zh-CN" dirty="0"/>
              <a:t>AOV (Activity On Vertex) </a:t>
            </a:r>
            <a:r>
              <a:rPr lang="zh-CN" altLang="en-US" dirty="0"/>
              <a:t>网</a:t>
            </a:r>
            <a:endParaRPr lang="en-US" altLang="zh-CN" dirty="0"/>
          </a:p>
          <a:p>
            <a:pPr lvl="1"/>
            <a:r>
              <a:rPr lang="en-US" altLang="zh-CN" dirty="0"/>
              <a:t>AOE (Activity On Edge) </a:t>
            </a:r>
            <a:r>
              <a:rPr lang="zh-CN" altLang="en-US" dirty="0"/>
              <a:t>网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D8785E5-1AF1-424C-A20F-DFE977FB3F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972439"/>
            <a:ext cx="4648200" cy="3666361"/>
          </a:xfrm>
        </p:spPr>
      </p:pic>
    </p:spTree>
    <p:extLst>
      <p:ext uri="{BB962C8B-B14F-4D97-AF65-F5344CB8AC3E}">
        <p14:creationId xmlns:p14="http://schemas.microsoft.com/office/powerpoint/2010/main" val="4374504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A67B049-07D1-448A-A688-5821F0F3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AOV</a:t>
            </a:r>
            <a:r>
              <a:rPr lang="zh-CN" altLang="en-US" dirty="0"/>
              <a:t>网描述课程关系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1D7FC069-0E67-493E-A094-10F8FCD57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31" y="1219200"/>
            <a:ext cx="10484069" cy="5334000"/>
          </a:xfrm>
        </p:spPr>
      </p:pic>
    </p:spTree>
    <p:extLst>
      <p:ext uri="{BB962C8B-B14F-4D97-AF65-F5344CB8AC3E}">
        <p14:creationId xmlns:p14="http://schemas.microsoft.com/office/powerpoint/2010/main" val="39813284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14204-8C12-41FD-B04F-C98FD399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5DF734-1DFA-4AF3-A011-0AE8EA1653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拓扑</a:t>
            </a:r>
            <a:r>
              <a:rPr lang="en-US" altLang="zh-CN" dirty="0"/>
              <a:t>(Topology)</a:t>
            </a:r>
          </a:p>
          <a:p>
            <a:pPr lvl="1"/>
            <a:r>
              <a:rPr lang="zh-CN" altLang="en-US" dirty="0"/>
              <a:t>拓扑结构，构相。</a:t>
            </a:r>
            <a:endParaRPr lang="en-US" altLang="zh-CN" dirty="0"/>
          </a:p>
          <a:p>
            <a:pPr lvl="1"/>
            <a:r>
              <a:rPr lang="zh-CN" altLang="en-US" dirty="0"/>
              <a:t>描述拓扑结构的图又称拓扑图。</a:t>
            </a:r>
            <a:endParaRPr lang="en-US" altLang="zh-CN" dirty="0"/>
          </a:p>
          <a:p>
            <a:r>
              <a:rPr lang="zh-CN" altLang="en-US" dirty="0"/>
              <a:t>拓扑排序</a:t>
            </a:r>
            <a:endParaRPr lang="en-US" altLang="zh-CN" dirty="0"/>
          </a:p>
          <a:p>
            <a:pPr lvl="1"/>
            <a:r>
              <a:rPr lang="zh-CN" altLang="en-US" dirty="0"/>
              <a:t>由</a:t>
            </a:r>
            <a:r>
              <a:rPr lang="zh-CN" altLang="en-US" b="1" dirty="0"/>
              <a:t>偏序</a:t>
            </a:r>
            <a:r>
              <a:rPr lang="zh-CN" altLang="en-US" dirty="0"/>
              <a:t>得到一个</a:t>
            </a:r>
            <a:r>
              <a:rPr lang="zh-CN" altLang="en-US" b="1" dirty="0"/>
              <a:t>全序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sz="2800" dirty="0"/>
              <a:t>   偏序（自反、反对称，传递）</a:t>
            </a:r>
          </a:p>
          <a:p>
            <a:pPr lvl="1"/>
            <a:r>
              <a:rPr lang="zh-CN" altLang="en-US" dirty="0"/>
              <a:t>有向无环图可拓扑排序。</a:t>
            </a:r>
            <a:endParaRPr lang="en-US" altLang="zh-CN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914B9B4-D250-4951-8503-4091D52DF3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752600"/>
            <a:ext cx="5943600" cy="3694074"/>
          </a:xfrm>
        </p:spPr>
      </p:pic>
    </p:spTree>
    <p:extLst>
      <p:ext uri="{BB962C8B-B14F-4D97-AF65-F5344CB8AC3E}">
        <p14:creationId xmlns:p14="http://schemas.microsoft.com/office/powerpoint/2010/main" val="40514627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14204-8C12-41FD-B04F-C98FD399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5DF734-1DFA-4AF3-A011-0AE8EA1653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拓扑排序算法</a:t>
            </a:r>
            <a:endParaRPr lang="en-US" altLang="zh-CN" dirty="0"/>
          </a:p>
          <a:p>
            <a:pPr lvl="1"/>
            <a:r>
              <a:rPr lang="zh-CN" altLang="en-US" dirty="0"/>
              <a:t>选一个没有前驱的顶点；</a:t>
            </a:r>
            <a:endParaRPr lang="en-US" altLang="zh-CN" dirty="0"/>
          </a:p>
          <a:p>
            <a:pPr lvl="1"/>
            <a:r>
              <a:rPr lang="zh-CN" altLang="en-US" dirty="0"/>
              <a:t>删去由该顶点引出的边；</a:t>
            </a:r>
            <a:endParaRPr lang="en-US" altLang="zh-CN" dirty="0"/>
          </a:p>
          <a:p>
            <a:pPr lvl="1"/>
            <a:r>
              <a:rPr lang="zh-CN" altLang="en-US" dirty="0"/>
              <a:t>重复上述两步。</a:t>
            </a:r>
            <a:endParaRPr lang="en-US" altLang="zh-CN" dirty="0"/>
          </a:p>
          <a:p>
            <a:r>
              <a:rPr lang="zh-CN" altLang="en-US" dirty="0"/>
              <a:t>拓扑序列</a:t>
            </a:r>
            <a:endParaRPr lang="en-US" altLang="zh-CN" dirty="0"/>
          </a:p>
          <a:p>
            <a:pPr lvl="1"/>
            <a:r>
              <a:rPr lang="en-US" altLang="zh-CN" dirty="0"/>
              <a:t>A B C D E F G H I</a:t>
            </a:r>
            <a:endParaRPr lang="zh-CN" altLang="en-US" dirty="0"/>
          </a:p>
          <a:p>
            <a:pPr lvl="1"/>
            <a:r>
              <a:rPr lang="en-US" altLang="zh-CN" dirty="0"/>
              <a:t>A C B D F H E G I</a:t>
            </a:r>
          </a:p>
          <a:p>
            <a:pPr lvl="1"/>
            <a:r>
              <a:rPr lang="en-US" altLang="zh-CN" dirty="0"/>
              <a:t>B A E D C F G I H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914B9B4-D250-4951-8503-4091D52DF3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752600"/>
            <a:ext cx="5943600" cy="3694074"/>
          </a:xfrm>
        </p:spPr>
      </p:pic>
    </p:spTree>
    <p:extLst>
      <p:ext uri="{BB962C8B-B14F-4D97-AF65-F5344CB8AC3E}">
        <p14:creationId xmlns:p14="http://schemas.microsoft.com/office/powerpoint/2010/main" val="25149799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拓扑排序的实现</a:t>
            </a:r>
            <a:r>
              <a:rPr lang="en-US" altLang="zh-CN" dirty="0"/>
              <a:t>1/4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TopoSort</a:t>
            </a:r>
            <a:r>
              <a:rPr lang="en-US" altLang="zh-CN" b="0" dirty="0"/>
              <a:t>(Graph* </a:t>
            </a:r>
            <a:r>
              <a:rPr lang="en-US" altLang="zh-CN" b="0" dirty="0" err="1"/>
              <a:t>pGraph</a:t>
            </a:r>
            <a:r>
              <a:rPr lang="en-US" altLang="zh-CN" b="0" dirty="0"/>
              <a:t>, int </a:t>
            </a:r>
            <a:r>
              <a:rPr lang="en-US" altLang="zh-CN" b="0" dirty="0" err="1"/>
              <a:t>topoSequence</a:t>
            </a:r>
            <a:r>
              <a:rPr lang="en-US" altLang="zh-CN" b="0" dirty="0"/>
              <a:t>[ ]){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/>
              <a:t>j, u, v;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n=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indegree[n];  // </a:t>
            </a:r>
            <a:r>
              <a:rPr lang="zh-CN" altLang="en-US" b="0" dirty="0"/>
              <a:t>建议使用动态数组，这里只为简洁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CalculateIndegree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indegree);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计算各顶点的入度，其实现从略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Queue </a:t>
            </a:r>
            <a:r>
              <a:rPr lang="en-US" altLang="zh-CN" b="0" dirty="0" err="1"/>
              <a:t>queue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InitQueue</a:t>
            </a:r>
            <a:r>
              <a:rPr lang="en-US" altLang="zh-CN" b="0" dirty="0"/>
              <a:t>(&amp;queue)==ERROR){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8285792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拓扑排序的实现</a:t>
            </a:r>
            <a:r>
              <a:rPr lang="en-US" altLang="zh-CN" dirty="0"/>
              <a:t>2/4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if(indegree[</a:t>
            </a:r>
            <a:r>
              <a:rPr lang="en-US" altLang="zh-CN" b="0" dirty="0" err="1"/>
              <a:t>i</a:t>
            </a:r>
            <a:r>
              <a:rPr lang="en-US" altLang="zh-CN" b="0" dirty="0"/>
              <a:t>]==0){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EnterQueue</a:t>
            </a:r>
            <a:r>
              <a:rPr lang="en-US" altLang="zh-CN" b="0" dirty="0"/>
              <a:t>(&amp;queue, </a:t>
            </a:r>
            <a:r>
              <a:rPr lang="en-US" altLang="zh-CN" b="0" dirty="0" err="1"/>
              <a:t>i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// </a:t>
            </a:r>
            <a:r>
              <a:rPr lang="zh-CN" altLang="en-US" b="0" dirty="0"/>
              <a:t>入度为零的顶点已全部进入队列。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j=0;  // </a:t>
            </a:r>
            <a:r>
              <a:rPr lang="zh-CN" altLang="en-US" b="0" dirty="0"/>
              <a:t>拓扑序列的下标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Edge* </a:t>
            </a:r>
            <a:r>
              <a:rPr lang="en-US" altLang="zh-CN" b="0" dirty="0" err="1"/>
              <a:t>pEdge</a:t>
            </a:r>
            <a:r>
              <a:rPr lang="en-US" altLang="zh-CN" b="0" dirty="0"/>
              <a:t>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IsQueueEmpty</a:t>
            </a:r>
            <a:r>
              <a:rPr lang="en-US" altLang="zh-CN" b="0" dirty="0"/>
              <a:t>(&amp;queue) != true)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LeaveQueue</a:t>
            </a:r>
            <a:r>
              <a:rPr lang="en-US" altLang="zh-CN" b="0" dirty="0"/>
              <a:t>(&amp;queue, &amp;u);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topoSequence</a:t>
            </a:r>
            <a:r>
              <a:rPr lang="en-US" altLang="zh-CN" b="0" dirty="0"/>
              <a:t>[j]=u;  // </a:t>
            </a:r>
            <a:r>
              <a:rPr lang="zh-CN" altLang="en-US" b="0" dirty="0"/>
              <a:t>输出到拓扑序列中</a:t>
            </a:r>
            <a:r>
              <a:rPr lang="en-US" altLang="zh-CN" b="0"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4433847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拓扑排序的实现</a:t>
            </a:r>
            <a:r>
              <a:rPr lang="en-US" altLang="zh-CN" dirty="0"/>
              <a:t>3/4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j++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pEdge</a:t>
            </a:r>
            <a:r>
              <a:rPr lang="en-US" altLang="zh-CN" b="0" dirty="0"/>
              <a:t>=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-&gt;vertex[u].</a:t>
            </a:r>
            <a:r>
              <a:rPr lang="en-US" altLang="zh-CN" b="0" dirty="0" err="1"/>
              <a:t>pFirstEdge</a:t>
            </a:r>
            <a:r>
              <a:rPr lang="en-US" altLang="zh-CN" b="0" dirty="0"/>
              <a:t>;  // </a:t>
            </a:r>
            <a:r>
              <a:rPr lang="zh-CN" altLang="en-US" b="0" dirty="0"/>
              <a:t>取</a:t>
            </a:r>
            <a:r>
              <a:rPr lang="en-US" altLang="zh-CN" b="0" dirty="0"/>
              <a:t>u</a:t>
            </a:r>
            <a:r>
              <a:rPr lang="zh-CN" altLang="en-US" b="0" dirty="0"/>
              <a:t>的邻接表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while(</a:t>
            </a:r>
            <a:r>
              <a:rPr lang="en-US" altLang="zh-CN" b="0" dirty="0" err="1"/>
              <a:t>pEdge</a:t>
            </a:r>
            <a:r>
              <a:rPr lang="en-US" altLang="zh-CN" b="0" dirty="0"/>
              <a:t>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v=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</a:t>
            </a:r>
            <a:r>
              <a:rPr lang="en-US" altLang="zh-CN" b="0" dirty="0" err="1"/>
              <a:t>adjacentToVertex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indegree[v]--;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// </a:t>
            </a:r>
            <a:r>
              <a:rPr lang="zh-CN" altLang="en-US" b="0" dirty="0"/>
              <a:t>对于</a:t>
            </a:r>
            <a:r>
              <a:rPr lang="en-US" altLang="zh-CN" b="0" dirty="0"/>
              <a:t>(</a:t>
            </a:r>
            <a:r>
              <a:rPr lang="en-US" altLang="zh-CN" b="0" dirty="0" err="1"/>
              <a:t>u,v</a:t>
            </a:r>
            <a:r>
              <a:rPr lang="en-US" altLang="zh-CN" b="0" dirty="0"/>
              <a:t>)</a:t>
            </a:r>
            <a:r>
              <a:rPr lang="zh-CN" altLang="en-US" b="0" dirty="0"/>
              <a:t>，当</a:t>
            </a:r>
            <a:r>
              <a:rPr lang="en-US" altLang="zh-CN" b="0" dirty="0"/>
              <a:t>u</a:t>
            </a:r>
            <a:r>
              <a:rPr lang="zh-CN" altLang="en-US" b="0" dirty="0"/>
              <a:t>输出到拓扑序列后，</a:t>
            </a:r>
            <a:r>
              <a:rPr lang="en-US" altLang="zh-CN" b="0" dirty="0"/>
              <a:t>v</a:t>
            </a:r>
            <a:r>
              <a:rPr lang="zh-CN" altLang="en-US" b="0" dirty="0"/>
              <a:t>的入度减</a:t>
            </a:r>
            <a:r>
              <a:rPr lang="en-US" altLang="zh-CN" b="0" dirty="0"/>
              <a:t>1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if (indegree[v]==0)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EnterQueue</a:t>
            </a:r>
            <a:r>
              <a:rPr lang="en-US" altLang="zh-CN" b="0" dirty="0"/>
              <a:t>(&amp;queue, v);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pEdge</a:t>
            </a:r>
            <a:r>
              <a:rPr lang="en-US" altLang="zh-CN" b="0" dirty="0"/>
              <a:t>=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pNextEdge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 // </a:t>
            </a:r>
            <a:r>
              <a:rPr lang="zh-CN" altLang="en-US" b="0" dirty="0"/>
              <a:t>内循环结束，凡</a:t>
            </a:r>
            <a:r>
              <a:rPr lang="en-US" altLang="zh-CN" b="0" dirty="0"/>
              <a:t>u</a:t>
            </a:r>
            <a:r>
              <a:rPr lang="zh-CN" altLang="en-US" b="0" dirty="0"/>
              <a:t>邻接到的顶点入度减</a:t>
            </a:r>
            <a:r>
              <a:rPr lang="en-US" altLang="zh-CN" b="0" dirty="0"/>
              <a:t>1</a:t>
            </a:r>
            <a:r>
              <a:rPr lang="zh-CN" altLang="en-US" b="0" dirty="0"/>
              <a:t>，处理完毕。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2634503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拓扑排序的实现</a:t>
            </a:r>
            <a:r>
              <a:rPr lang="en-US" altLang="zh-CN" dirty="0"/>
              <a:t>4/4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// </a:t>
            </a:r>
            <a:r>
              <a:rPr lang="zh-CN" altLang="en-US" b="0" dirty="0"/>
              <a:t>外循环结束，拓扑排序结束。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(j != n){  // </a:t>
            </a:r>
            <a:r>
              <a:rPr lang="zh-CN" altLang="en-US" b="0" dirty="0"/>
              <a:t>有环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FreeQueue</a:t>
            </a:r>
            <a:r>
              <a:rPr lang="en-US" altLang="zh-CN" b="0" dirty="0"/>
              <a:t>(&amp;queue);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/</a:t>
            </a:r>
            <a:r>
              <a:rPr lang="zh-CN" altLang="en-US" b="0" dirty="0"/>
              <a:t>* 思考：</a:t>
            </a:r>
            <a:r>
              <a:rPr lang="en-US" altLang="zh-CN" b="0" dirty="0"/>
              <a:t>1</a:t>
            </a:r>
            <a:r>
              <a:rPr lang="zh-CN" altLang="en-US" b="0" dirty="0"/>
              <a:t>、是否可以用栈代替程序中的队列？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</a:t>
            </a:r>
            <a:r>
              <a:rPr lang="zh-CN" altLang="en-US" b="0" dirty="0"/>
              <a:t>*            </a:t>
            </a:r>
            <a:r>
              <a:rPr lang="en-US" altLang="zh-CN" b="0" dirty="0"/>
              <a:t>2</a:t>
            </a:r>
            <a:r>
              <a:rPr lang="zh-CN" altLang="en-US" b="0" dirty="0"/>
              <a:t>、入度为零的顶点是否可以不进栈或队列，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</a:t>
            </a:r>
            <a:r>
              <a:rPr lang="zh-CN" altLang="en-US" b="0" dirty="0"/>
              <a:t>*</a:t>
            </a:r>
            <a:r>
              <a:rPr lang="en-US" altLang="zh-CN" b="0" dirty="0"/>
              <a:t>                  </a:t>
            </a:r>
            <a:r>
              <a:rPr lang="zh-CN" altLang="en-US" b="0" dirty="0"/>
              <a:t>而直接输出到拓扑序列中呢？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</a:t>
            </a:r>
            <a:r>
              <a:rPr lang="zh-CN" altLang="en-US" b="0" dirty="0"/>
              <a:t>*</a:t>
            </a:r>
            <a:r>
              <a:rPr lang="en-US" altLang="zh-CN" b="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9823239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A67B049-07D1-448A-A688-5821F0F3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AOE</a:t>
            </a:r>
            <a:r>
              <a:rPr lang="zh-CN" altLang="en-US" dirty="0"/>
              <a:t>网描述工程过程</a:t>
            </a:r>
          </a:p>
        </p:txBody>
      </p:sp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873BE7AA-F30D-4311-88F2-91801A721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47800"/>
            <a:ext cx="11300661" cy="4953000"/>
          </a:xfrm>
        </p:spPr>
      </p:pic>
    </p:spTree>
    <p:extLst>
      <p:ext uri="{BB962C8B-B14F-4D97-AF65-F5344CB8AC3E}">
        <p14:creationId xmlns:p14="http://schemas.microsoft.com/office/powerpoint/2010/main" val="34077621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3B2F1-5D0C-43B1-A9C8-9CAD07B68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关键路径：从开始点到结束点的最长路径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78CC61-2F4C-42FC-876B-FB29FBC0D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关键活动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表示状态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即节点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的最早发生时间，用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表示状态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/>
                  <a:t>的最晚发生时间。则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𝒍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为状态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/>
                  <a:t>的时间余量。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𝒍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的活动为关键活动，关键活动都在关键路径上。</a:t>
                </a:r>
                <a:endParaRPr lang="en-US" altLang="zh-CN" dirty="0"/>
              </a:p>
              <a:p>
                <a:r>
                  <a:rPr lang="zh-CN" altLang="en-US" dirty="0"/>
                  <a:t>关键路径的计算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𝒆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/>
                  <a:t>，按拓扑顺序计算各顶点的最早发生时间；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𝒍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，按逆拓扑顺序计算最晚发生时间；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找出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𝒍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的点，即得关键路径。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78CC61-2F4C-42FC-876B-FB29FBC0D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3604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C8132-2379-4F45-AEBB-7679B4C0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关键路径的计算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1BF4D5C-1638-4049-BEE0-A29CF605A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1219200"/>
            <a:ext cx="11494575" cy="5334000"/>
          </a:xfrm>
        </p:spPr>
      </p:pic>
    </p:spTree>
    <p:extLst>
      <p:ext uri="{BB962C8B-B14F-4D97-AF65-F5344CB8AC3E}">
        <p14:creationId xmlns:p14="http://schemas.microsoft.com/office/powerpoint/2010/main" val="33223158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关键路径的计算</a:t>
            </a:r>
            <a:r>
              <a:rPr lang="en-US" altLang="zh-CN" dirty="0"/>
              <a:t>1/7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CriticalPath</a:t>
            </a:r>
            <a:r>
              <a:rPr lang="en-US" altLang="zh-CN" b="0" dirty="0"/>
              <a:t>(Graph* </a:t>
            </a:r>
            <a:r>
              <a:rPr lang="en-US" altLang="zh-CN" b="0" dirty="0" err="1"/>
              <a:t>pGraph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n=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</a:t>
            </a:r>
            <a:r>
              <a:rPr lang="en-US" altLang="zh-CN" b="0" dirty="0" err="1"/>
              <a:t>numOfVertexes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reverseTopoSeq</a:t>
            </a:r>
            <a:r>
              <a:rPr lang="en-US" altLang="zh-CN" b="0" dirty="0"/>
              <a:t>[n], </a:t>
            </a:r>
            <a:r>
              <a:rPr lang="en-US" altLang="zh-CN" b="0" dirty="0" err="1"/>
              <a:t>earliestTime</a:t>
            </a:r>
            <a:r>
              <a:rPr lang="en-US" altLang="zh-CN" b="0" dirty="0"/>
              <a:t>[n], </a:t>
            </a:r>
            <a:r>
              <a:rPr lang="en-US" altLang="zh-CN" b="0" dirty="0" err="1"/>
              <a:t>latestTime</a:t>
            </a:r>
            <a:r>
              <a:rPr lang="en-US" altLang="zh-CN" b="0" dirty="0"/>
              <a:t>[n];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下面计算逆拓扑序列和最早时间，过程与拓扑排序相似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indegree[n];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CalculateIndegree</a:t>
            </a:r>
            <a:r>
              <a:rPr lang="en-US" altLang="zh-CN" b="0" dirty="0"/>
              <a:t>(</a:t>
            </a:r>
            <a:r>
              <a:rPr lang="en-US" altLang="zh-CN" b="0" dirty="0" err="1"/>
              <a:t>pGraph</a:t>
            </a:r>
            <a:r>
              <a:rPr lang="en-US" altLang="zh-CN" b="0" dirty="0"/>
              <a:t>, indegree);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Queue </a:t>
            </a:r>
            <a:r>
              <a:rPr lang="en-US" altLang="zh-CN" b="0" dirty="0" err="1"/>
              <a:t>queue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InitQueue</a:t>
            </a:r>
            <a:r>
              <a:rPr lang="en-US" altLang="zh-CN" b="0" dirty="0"/>
              <a:t>(&amp;queue)==ERROR){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</a:t>
            </a:r>
          </a:p>
        </p:txBody>
      </p:sp>
    </p:spTree>
    <p:extLst>
      <p:ext uri="{BB962C8B-B14F-4D97-AF65-F5344CB8AC3E}">
        <p14:creationId xmlns:p14="http://schemas.microsoft.com/office/powerpoint/2010/main" val="40363924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关键路径的计算</a:t>
            </a:r>
            <a:r>
              <a:rPr lang="en-US" altLang="zh-CN" dirty="0"/>
              <a:t>2/7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for(int 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if(indegree[</a:t>
            </a:r>
            <a:r>
              <a:rPr lang="en-US" altLang="zh-CN" b="0" dirty="0" err="1"/>
              <a:t>i</a:t>
            </a:r>
            <a:r>
              <a:rPr lang="en-US" altLang="zh-CN" b="0" dirty="0"/>
              <a:t>]==0){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EnterQueue</a:t>
            </a:r>
            <a:r>
              <a:rPr lang="en-US" altLang="zh-CN" b="0" dirty="0"/>
              <a:t>(&amp;queue, </a:t>
            </a:r>
            <a:r>
              <a:rPr lang="en-US" altLang="zh-CN" b="0" dirty="0" err="1"/>
              <a:t>i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// </a:t>
            </a:r>
            <a:r>
              <a:rPr lang="zh-CN" altLang="en-US" b="0" dirty="0"/>
              <a:t>入度为零的顶点已全部进入队列。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earliestTime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]=0; // </a:t>
            </a:r>
            <a:r>
              <a:rPr lang="zh-CN" altLang="en-US" b="0" dirty="0"/>
              <a:t>最早发生时间初始化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>
                <a:solidFill>
                  <a:srgbClr val="FF0000"/>
                </a:solidFill>
              </a:rPr>
              <a:t>j=n-1</a:t>
            </a:r>
            <a:r>
              <a:rPr lang="en-US" altLang="zh-CN" b="0" dirty="0"/>
              <a:t>; // </a:t>
            </a:r>
            <a:r>
              <a:rPr lang="zh-CN" altLang="en-US" b="0" dirty="0"/>
              <a:t>拓扑序列的下标，倒序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u, v; // </a:t>
            </a:r>
            <a:r>
              <a:rPr lang="zh-CN" altLang="en-US" b="0" dirty="0"/>
              <a:t>存顶点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Edge* </a:t>
            </a:r>
            <a:r>
              <a:rPr lang="en-US" altLang="zh-CN" b="0" dirty="0" err="1"/>
              <a:t>pEdge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IsQueueEmpty</a:t>
            </a:r>
            <a:r>
              <a:rPr lang="en-US" altLang="zh-CN" b="0" dirty="0"/>
              <a:t>(&amp;queue)!=true){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LeaveQueue</a:t>
            </a:r>
            <a:r>
              <a:rPr lang="en-US" altLang="zh-CN" b="0" dirty="0"/>
              <a:t>(&amp;queue, &amp;u);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8946596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关键路径的计算</a:t>
            </a:r>
            <a:r>
              <a:rPr lang="en-US" altLang="zh-CN" dirty="0"/>
              <a:t>3/7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>
                <a:solidFill>
                  <a:srgbClr val="FF0000"/>
                </a:solidFill>
              </a:rPr>
              <a:t>reverseTopoSeq</a:t>
            </a:r>
            <a:r>
              <a:rPr lang="en-US" altLang="zh-CN" b="0" dirty="0">
                <a:solidFill>
                  <a:srgbClr val="FF0000"/>
                </a:solidFill>
              </a:rPr>
              <a:t>[j]=u;</a:t>
            </a:r>
            <a:r>
              <a:rPr lang="en-US" altLang="zh-CN" b="0" dirty="0"/>
              <a:t> // </a:t>
            </a:r>
            <a:r>
              <a:rPr lang="zh-CN" altLang="en-US" b="0" dirty="0"/>
              <a:t>输出逆拓扑序列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>
                <a:solidFill>
                  <a:srgbClr val="FF0000"/>
                </a:solidFill>
              </a:rPr>
              <a:t>j--;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pEdge</a:t>
            </a:r>
            <a:r>
              <a:rPr lang="en-US" altLang="zh-CN" b="0" dirty="0"/>
              <a:t>=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-&gt;vertex[u].</a:t>
            </a:r>
            <a:r>
              <a:rPr lang="en-US" altLang="zh-CN" b="0" dirty="0" err="1"/>
              <a:t>pFirstEdge</a:t>
            </a:r>
            <a:r>
              <a:rPr lang="en-US" altLang="zh-CN" b="0" dirty="0"/>
              <a:t>; // </a:t>
            </a:r>
            <a:r>
              <a:rPr lang="zh-CN" altLang="en-US" b="0" dirty="0"/>
              <a:t>取邻接表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while(</a:t>
            </a:r>
            <a:r>
              <a:rPr lang="en-US" altLang="zh-CN" b="0" dirty="0" err="1"/>
              <a:t>pEdge</a:t>
            </a:r>
            <a:r>
              <a:rPr lang="en-US" altLang="zh-CN" b="0" dirty="0"/>
              <a:t>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v=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</a:t>
            </a:r>
            <a:r>
              <a:rPr lang="en-US" altLang="zh-CN" b="0" dirty="0" err="1"/>
              <a:t>adjacentToVertex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indegree[v]--;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if (indegree[v]==0){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EnterQueue</a:t>
            </a:r>
            <a:r>
              <a:rPr lang="en-US" altLang="zh-CN" b="0" dirty="0"/>
              <a:t>(&amp;queue, v);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/* </a:t>
            </a:r>
            <a:r>
              <a:rPr lang="zh-CN" altLang="en-US" b="0" dirty="0"/>
              <a:t>下面计算最早发生时间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>
                <a:solidFill>
                  <a:srgbClr val="FF0000"/>
                </a:solidFill>
              </a:rPr>
              <a:t>if (</a:t>
            </a:r>
            <a:r>
              <a:rPr lang="en-US" altLang="zh-CN" b="0" dirty="0" err="1">
                <a:solidFill>
                  <a:srgbClr val="FF0000"/>
                </a:solidFill>
              </a:rPr>
              <a:t>earliestTime</a:t>
            </a:r>
            <a:r>
              <a:rPr lang="en-US" altLang="zh-CN" b="0" dirty="0">
                <a:solidFill>
                  <a:srgbClr val="FF0000"/>
                </a:solidFill>
              </a:rPr>
              <a:t>[u]+</a:t>
            </a:r>
            <a:r>
              <a:rPr lang="en-US" altLang="zh-CN" b="0" dirty="0" err="1">
                <a:solidFill>
                  <a:srgbClr val="FF0000"/>
                </a:solidFill>
              </a:rPr>
              <a:t>pEdge</a:t>
            </a:r>
            <a:r>
              <a:rPr lang="en-US" altLang="zh-CN" b="0" dirty="0">
                <a:solidFill>
                  <a:srgbClr val="FF0000"/>
                </a:solidFill>
              </a:rPr>
              <a:t>-&gt;weight&gt;</a:t>
            </a:r>
            <a:r>
              <a:rPr lang="en-US" altLang="zh-CN" b="0" dirty="0" err="1">
                <a:solidFill>
                  <a:srgbClr val="FF0000"/>
                </a:solidFill>
              </a:rPr>
              <a:t>earliestTime</a:t>
            </a:r>
            <a:r>
              <a:rPr lang="en-US" altLang="zh-CN" b="0" dirty="0">
                <a:solidFill>
                  <a:srgbClr val="FF0000"/>
                </a:solidFill>
              </a:rPr>
              <a:t>[v]){     </a:t>
            </a:r>
          </a:p>
        </p:txBody>
      </p:sp>
    </p:spTree>
    <p:extLst>
      <p:ext uri="{BB962C8B-B14F-4D97-AF65-F5344CB8AC3E}">
        <p14:creationId xmlns:p14="http://schemas.microsoft.com/office/powerpoint/2010/main" val="11498904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关键路径的计算</a:t>
            </a:r>
            <a:r>
              <a:rPr lang="en-US" altLang="zh-CN" dirty="0"/>
              <a:t>-4/7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>
                <a:solidFill>
                  <a:srgbClr val="FF0000"/>
                </a:solidFill>
              </a:rPr>
              <a:t>earliestTime</a:t>
            </a:r>
            <a:r>
              <a:rPr lang="en-US" altLang="zh-CN" b="0" dirty="0">
                <a:solidFill>
                  <a:srgbClr val="FF0000"/>
                </a:solidFill>
              </a:rPr>
              <a:t>[v]=</a:t>
            </a:r>
            <a:r>
              <a:rPr lang="en-US" altLang="zh-CN" b="0" dirty="0" err="1">
                <a:solidFill>
                  <a:srgbClr val="FF0000"/>
                </a:solidFill>
              </a:rPr>
              <a:t>earliestTime</a:t>
            </a:r>
            <a:r>
              <a:rPr lang="en-US" altLang="zh-CN" b="0" dirty="0">
                <a:solidFill>
                  <a:srgbClr val="FF0000"/>
                </a:solidFill>
              </a:rPr>
              <a:t>[u]+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                                          </a:t>
            </a:r>
            <a:r>
              <a:rPr lang="en-US" altLang="zh-CN" b="0" dirty="0" err="1">
                <a:solidFill>
                  <a:srgbClr val="FF0000"/>
                </a:solidFill>
              </a:rPr>
              <a:t>pEdge</a:t>
            </a:r>
            <a:r>
              <a:rPr lang="en-US" altLang="zh-CN" b="0" dirty="0">
                <a:solidFill>
                  <a:srgbClr val="FF0000"/>
                </a:solidFill>
              </a:rPr>
              <a:t>-&gt;weight;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pEdge</a:t>
            </a:r>
            <a:r>
              <a:rPr lang="en-US" altLang="zh-CN" b="0" dirty="0"/>
              <a:t>=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pNextEdge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// u</a:t>
            </a:r>
            <a:r>
              <a:rPr lang="zh-CN" altLang="en-US" b="0" dirty="0"/>
              <a:t>邻接到的点处理完毕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// </a:t>
            </a:r>
            <a:r>
              <a:rPr lang="zh-CN" altLang="en-US" b="0" dirty="0"/>
              <a:t>外循环结束，计算完毕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>
                <a:solidFill>
                  <a:srgbClr val="FF0000"/>
                </a:solidFill>
              </a:rPr>
              <a:t>j&gt;=0</a:t>
            </a:r>
            <a:r>
              <a:rPr lang="en-US" altLang="zh-CN" b="0" dirty="0"/>
              <a:t>) {  // </a:t>
            </a:r>
            <a:r>
              <a:rPr lang="zh-CN" altLang="en-US" b="0" dirty="0"/>
              <a:t>检错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FreeQueue</a:t>
            </a:r>
            <a:r>
              <a:rPr lang="en-US" altLang="zh-CN" b="0" dirty="0"/>
              <a:t>(&amp;queue);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以上对最早发生时间和逆拓扑序列的计算与拓扑排序相似 *</a:t>
            </a:r>
            <a:r>
              <a:rPr lang="en-US" altLang="zh-CN" b="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2234234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关键路径的计算</a:t>
            </a:r>
            <a:r>
              <a:rPr lang="en-US" altLang="zh-CN" dirty="0"/>
              <a:t>-5/7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下面计算最晚发生时间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for(int 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latestTime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]=</a:t>
            </a:r>
            <a:r>
              <a:rPr lang="en-US" altLang="zh-CN" b="0" dirty="0" err="1"/>
              <a:t>earliestTime</a:t>
            </a:r>
            <a:r>
              <a:rPr lang="en-US" altLang="zh-CN" b="0" dirty="0"/>
              <a:t>[n-1];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// </a:t>
            </a:r>
            <a:r>
              <a:rPr lang="zh-CN" altLang="en-US" b="0" dirty="0"/>
              <a:t>最晚发生时间初始化，</a:t>
            </a:r>
            <a:r>
              <a:rPr lang="en-US" altLang="zh-CN" b="0" dirty="0"/>
              <a:t>0</a:t>
            </a:r>
            <a:r>
              <a:rPr lang="zh-CN" altLang="en-US" b="0" dirty="0"/>
              <a:t>是源点，</a:t>
            </a:r>
            <a:r>
              <a:rPr lang="en-US" altLang="zh-CN" b="0" dirty="0"/>
              <a:t>n-1</a:t>
            </a:r>
            <a:r>
              <a:rPr lang="zh-CN" altLang="en-US" b="0" dirty="0"/>
              <a:t>是汇聚点。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for(j=1; j&lt;n; </a:t>
            </a:r>
            <a:r>
              <a:rPr lang="en-US" altLang="zh-CN" b="0" dirty="0" err="1"/>
              <a:t>j++</a:t>
            </a:r>
            <a:r>
              <a:rPr lang="en-US" altLang="zh-CN" b="0" dirty="0"/>
              <a:t>) { // </a:t>
            </a:r>
            <a:r>
              <a:rPr lang="zh-CN" altLang="en-US" b="0" dirty="0"/>
              <a:t>在逆拓扑序列中，下标为</a:t>
            </a:r>
            <a:r>
              <a:rPr lang="en-US" altLang="zh-CN" b="0" dirty="0"/>
              <a:t>0</a:t>
            </a:r>
            <a:r>
              <a:rPr lang="zh-CN" altLang="en-US" b="0" dirty="0"/>
              <a:t>的是汇点。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u=</a:t>
            </a:r>
            <a:r>
              <a:rPr lang="en-US" altLang="zh-CN" b="0" dirty="0" err="1"/>
              <a:t>reverseTopoSeq</a:t>
            </a:r>
            <a:r>
              <a:rPr lang="en-US" altLang="zh-CN" b="0" dirty="0"/>
              <a:t>[j];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pEdge</a:t>
            </a:r>
            <a:r>
              <a:rPr lang="en-US" altLang="zh-CN" b="0" dirty="0"/>
              <a:t>=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-&gt;vertex[u].</a:t>
            </a:r>
            <a:r>
              <a:rPr lang="en-US" altLang="zh-CN" b="0" dirty="0" err="1"/>
              <a:t>pFirstEdge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while(</a:t>
            </a:r>
            <a:r>
              <a:rPr lang="en-US" altLang="zh-CN" b="0" dirty="0" err="1"/>
              <a:t>pEdge</a:t>
            </a:r>
            <a:r>
              <a:rPr lang="en-US" altLang="zh-CN" b="0" dirty="0"/>
              <a:t>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v=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</a:t>
            </a:r>
            <a:r>
              <a:rPr lang="en-US" altLang="zh-CN" b="0" dirty="0" err="1"/>
              <a:t>adjacentToVertex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if (</a:t>
            </a:r>
            <a:r>
              <a:rPr lang="en-US" altLang="zh-CN" b="0" dirty="0" err="1"/>
              <a:t>latestTime</a:t>
            </a:r>
            <a:r>
              <a:rPr lang="en-US" altLang="zh-CN" b="0" dirty="0"/>
              <a:t>[v]-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-&gt;weight&lt;</a:t>
            </a:r>
            <a:r>
              <a:rPr lang="en-US" altLang="zh-CN" b="0" dirty="0" err="1"/>
              <a:t>latestTime</a:t>
            </a:r>
            <a:r>
              <a:rPr lang="en-US" altLang="zh-CN" b="0" dirty="0"/>
              <a:t>[u])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latestTime</a:t>
            </a:r>
            <a:r>
              <a:rPr lang="en-US" altLang="zh-CN" b="0" dirty="0"/>
              <a:t>[u]=</a:t>
            </a:r>
            <a:r>
              <a:rPr lang="en-US" altLang="zh-CN" b="0" dirty="0" err="1"/>
              <a:t>latestTime</a:t>
            </a:r>
            <a:r>
              <a:rPr lang="en-US" altLang="zh-CN" b="0" dirty="0"/>
              <a:t>[v]-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-&gt;weight;</a:t>
            </a:r>
          </a:p>
        </p:txBody>
      </p:sp>
    </p:spTree>
    <p:extLst>
      <p:ext uri="{BB962C8B-B14F-4D97-AF65-F5344CB8AC3E}">
        <p14:creationId xmlns:p14="http://schemas.microsoft.com/office/powerpoint/2010/main" val="21897554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关键路径的计算</a:t>
            </a:r>
            <a:r>
              <a:rPr lang="en-US" altLang="zh-CN" dirty="0"/>
              <a:t>-6/7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pEdge</a:t>
            </a:r>
            <a:r>
              <a:rPr lang="en-US" altLang="zh-CN" b="0" dirty="0"/>
              <a:t>=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pNextEdge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//</a:t>
            </a:r>
            <a:r>
              <a:rPr lang="zh-CN" altLang="en-US" b="0" dirty="0"/>
              <a:t> </a:t>
            </a:r>
            <a:r>
              <a:rPr lang="en-US" altLang="zh-CN" b="0" dirty="0"/>
              <a:t>u</a:t>
            </a:r>
            <a:r>
              <a:rPr lang="zh-CN" altLang="en-US" b="0" dirty="0"/>
              <a:t>的最晚发生时间计算完毕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//</a:t>
            </a:r>
            <a:r>
              <a:rPr lang="zh-CN" altLang="en-US" b="0" dirty="0"/>
              <a:t> 所有顶点的最晚发生时间计算完毕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下面标记关键路径，设邻接表节点</a:t>
            </a:r>
            <a:r>
              <a:rPr lang="en-US" altLang="zh-CN" b="0" dirty="0"/>
              <a:t>(</a:t>
            </a:r>
            <a:r>
              <a:rPr lang="zh-CN" altLang="en-US" b="0" dirty="0"/>
              <a:t>边</a:t>
            </a:r>
            <a:r>
              <a:rPr lang="en-US" altLang="zh-CN" b="0" dirty="0"/>
              <a:t>)</a:t>
            </a:r>
            <a:r>
              <a:rPr lang="zh-CN" altLang="en-US" b="0" dirty="0"/>
              <a:t>中有</a:t>
            </a:r>
            <a:r>
              <a:rPr lang="en-US" altLang="zh-CN" b="0" dirty="0"/>
              <a:t> </a:t>
            </a:r>
            <a:r>
              <a:rPr lang="en-US" altLang="zh-CN" b="0" dirty="0" err="1"/>
              <a:t>isCritical</a:t>
            </a:r>
            <a:r>
              <a:rPr lang="zh-CN" altLang="en-US" b="0" dirty="0"/>
              <a:t>字段。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注意：为边做标记，因为边表示活动，而顶点不表示活动。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两顶点</a:t>
            </a:r>
            <a:r>
              <a:rPr lang="en-US" altLang="zh-CN" b="0" dirty="0" err="1"/>
              <a:t>u,v</a:t>
            </a:r>
            <a:r>
              <a:rPr lang="zh-CN" altLang="en-US" b="0" dirty="0"/>
              <a:t>在关键路径上不能证明</a:t>
            </a:r>
            <a:r>
              <a:rPr lang="en-US" altLang="zh-CN" b="0" dirty="0"/>
              <a:t>(</a:t>
            </a:r>
            <a:r>
              <a:rPr lang="en-US" altLang="zh-CN" b="0" dirty="0" err="1"/>
              <a:t>u,v</a:t>
            </a:r>
            <a:r>
              <a:rPr lang="en-US" altLang="zh-CN" b="0" dirty="0"/>
              <a:t>)</a:t>
            </a:r>
            <a:r>
              <a:rPr lang="zh-CN" altLang="en-US" b="0" dirty="0"/>
              <a:t>也在关键路径上。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for(u=0; u&lt;n; u++){  // </a:t>
            </a:r>
            <a:r>
              <a:rPr lang="zh-CN" altLang="en-US" b="0" dirty="0"/>
              <a:t>依次处理每个顶点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pEdge</a:t>
            </a:r>
            <a:r>
              <a:rPr lang="en-US" altLang="zh-CN" b="0" dirty="0"/>
              <a:t>=</a:t>
            </a:r>
            <a:r>
              <a:rPr lang="en-US" altLang="zh-CN" b="0" dirty="0" err="1"/>
              <a:t>pGraph</a:t>
            </a:r>
            <a:r>
              <a:rPr lang="en-US" altLang="zh-CN" b="0" dirty="0"/>
              <a:t>-&gt;vertex[u].</a:t>
            </a:r>
            <a:r>
              <a:rPr lang="en-US" altLang="zh-CN" b="0" dirty="0" err="1"/>
              <a:t>pFirstEdge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 (</a:t>
            </a:r>
            <a:r>
              <a:rPr lang="en-US" altLang="zh-CN" b="0" dirty="0" err="1"/>
              <a:t>pEdge</a:t>
            </a:r>
            <a:r>
              <a:rPr lang="en-US" altLang="zh-CN" b="0" dirty="0"/>
              <a:t>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 // </a:t>
            </a:r>
            <a:r>
              <a:rPr lang="zh-CN" altLang="en-US" b="0" dirty="0"/>
              <a:t>依次标记由</a:t>
            </a:r>
            <a:r>
              <a:rPr lang="en-US" altLang="zh-CN" b="0" dirty="0"/>
              <a:t>u</a:t>
            </a:r>
            <a:r>
              <a:rPr lang="zh-CN" altLang="en-US" b="0" dirty="0"/>
              <a:t>引出的边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19485789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41EE41-F4E3-4AD0-B94A-64E7A66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关键路径的计算</a:t>
            </a:r>
            <a:r>
              <a:rPr lang="en-US" altLang="zh-CN" dirty="0"/>
              <a:t>-7/7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E73D3A-0A98-4837-9FAB-6966FAF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887200" cy="556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v=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</a:t>
            </a:r>
            <a:r>
              <a:rPr lang="en-US" altLang="zh-CN" b="0" dirty="0" err="1"/>
              <a:t>adjacentToVertex</a:t>
            </a:r>
            <a:r>
              <a:rPr lang="en-US" altLang="zh-CN" b="0" dirty="0"/>
              <a:t>; // </a:t>
            </a:r>
            <a:r>
              <a:rPr lang="zh-CN" altLang="en-US" b="0" dirty="0"/>
              <a:t>取</a:t>
            </a:r>
            <a:r>
              <a:rPr lang="en-US" altLang="zh-CN" b="0" dirty="0"/>
              <a:t>u</a:t>
            </a:r>
            <a:r>
              <a:rPr lang="zh-CN" altLang="en-US" b="0" dirty="0"/>
              <a:t>的一个邻接点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if (</a:t>
            </a:r>
            <a:r>
              <a:rPr lang="en-US" altLang="zh-CN" b="0" dirty="0" err="1"/>
              <a:t>earliestTime</a:t>
            </a:r>
            <a:r>
              <a:rPr lang="en-US" altLang="zh-CN" b="0" dirty="0"/>
              <a:t>[u]==</a:t>
            </a:r>
            <a:r>
              <a:rPr lang="en-US" altLang="zh-CN" b="0" dirty="0" err="1"/>
              <a:t>latestTime</a:t>
            </a:r>
            <a:r>
              <a:rPr lang="en-US" altLang="zh-CN" b="0" dirty="0"/>
              <a:t>[u] &amp;&amp;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earliestTime</a:t>
            </a:r>
            <a:r>
              <a:rPr lang="en-US" altLang="zh-CN" b="0" dirty="0"/>
              <a:t>[v]==</a:t>
            </a:r>
            <a:r>
              <a:rPr lang="en-US" altLang="zh-CN" b="0" dirty="0" err="1"/>
              <a:t>latestTime</a:t>
            </a:r>
            <a:r>
              <a:rPr lang="en-US" altLang="zh-CN" b="0" dirty="0"/>
              <a:t>[v] &amp;&amp;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earliestTime</a:t>
            </a:r>
            <a:r>
              <a:rPr lang="en-US" altLang="zh-CN" b="0" dirty="0"/>
              <a:t>[u]==</a:t>
            </a:r>
            <a:r>
              <a:rPr lang="en-US" altLang="zh-CN" b="0" dirty="0" err="1"/>
              <a:t>latestTime</a:t>
            </a:r>
            <a:r>
              <a:rPr lang="en-US" altLang="zh-CN" b="0" dirty="0"/>
              <a:t>[v]-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-&gt;weight){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</a:t>
            </a:r>
            <a:r>
              <a:rPr lang="en-US" altLang="zh-CN" b="0" dirty="0" err="1"/>
              <a:t>isCritical</a:t>
            </a:r>
            <a:r>
              <a:rPr lang="en-US" altLang="zh-CN" b="0" dirty="0"/>
              <a:t>=true;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pEdge</a:t>
            </a:r>
            <a:r>
              <a:rPr lang="en-US" altLang="zh-CN" b="0" dirty="0"/>
              <a:t>=</a:t>
            </a:r>
            <a:r>
              <a:rPr lang="en-US" altLang="zh-CN" b="0" dirty="0" err="1"/>
              <a:t>pEdge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pNextEdge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// </a:t>
            </a:r>
            <a:r>
              <a:rPr lang="zh-CN" altLang="en-US" b="0" dirty="0"/>
              <a:t>从</a:t>
            </a:r>
            <a:r>
              <a:rPr lang="en-US" altLang="zh-CN" b="0" dirty="0"/>
              <a:t>u</a:t>
            </a:r>
            <a:r>
              <a:rPr lang="zh-CN" altLang="en-US" b="0" dirty="0"/>
              <a:t>引出的所有边标记完毕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// </a:t>
            </a:r>
            <a:r>
              <a:rPr lang="zh-CN" altLang="en-US" b="0" dirty="0"/>
              <a:t>全部标记完毕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41414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14184-0A57-4A3A-B58B-17C928DC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9600"/>
            <a:ext cx="11869174" cy="685800"/>
          </a:xfrm>
        </p:spPr>
        <p:txBody>
          <a:bodyPr/>
          <a:lstStyle/>
          <a:p>
            <a:r>
              <a:rPr lang="zh-CN" altLang="en-US" dirty="0"/>
              <a:t>最短路径：狄克斯特拉算法 </a:t>
            </a:r>
            <a:r>
              <a:rPr lang="en-US" altLang="zh-CN" dirty="0"/>
              <a:t>[Dijkstra1959]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EBF919-DA68-4D9F-A1FA-9D074F2316E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799" y="1524000"/>
                <a:ext cx="6019801" cy="4800600"/>
              </a:xfrm>
            </p:spPr>
            <p:txBody>
              <a:bodyPr/>
              <a:lstStyle/>
              <a:p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dirty="0"/>
                  <a:t>到各顶点的最短路径。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将顶点分成两个集合</a:t>
                </a:r>
                <a:endParaRPr lang="en-US" altLang="zh-CN" dirty="0"/>
              </a:p>
              <a:p>
                <a:pPr lvl="2">
                  <a:lnSpc>
                    <a:spcPct val="125000"/>
                  </a:lnSpc>
                  <a:spcBef>
                    <a:spcPts val="0"/>
                  </a:spcBef>
                  <a:buClr>
                    <a:srgbClr val="000066"/>
                  </a:buClr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𝑆</m:t>
                    </m:r>
                  </m:oMath>
                </a14:m>
                <a:r>
                  <a:rPr lang="zh-CN" altLang="en-US" sz="32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：已求出最短路径的顶点集合，初始时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𝑆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sz="32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32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5000"/>
                  </a:lnSpc>
                  <a:spcBef>
                    <a:spcPts val="0"/>
                  </a:spcBef>
                  <a:buClr>
                    <a:srgbClr val="000066"/>
                  </a:buClr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𝑉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𝑆</m:t>
                    </m:r>
                  </m:oMath>
                </a14:m>
                <a:r>
                  <a:rPr lang="zh-CN" altLang="en-US" sz="32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32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</a:p>
              <a:p>
                <a:pPr lvl="1"/>
                <a:r>
                  <a:rPr lang="zh-CN" altLang="en-US" dirty="0"/>
                  <a:t>算法按最短路径长度的递增顺序逐个将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中的顶点加入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EBF919-DA68-4D9F-A1FA-9D074F231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799" y="1524000"/>
                <a:ext cx="6019801" cy="4800600"/>
              </a:xfrm>
              <a:blipFill>
                <a:blip r:embed="rId2"/>
                <a:stretch>
                  <a:fillRect l="-1518" t="-254" r="-2429" b="-6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B01636E-6217-4693-9633-F8227744FA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74" y="1905000"/>
            <a:ext cx="5689600" cy="3677652"/>
          </a:xfrm>
        </p:spPr>
      </p:pic>
    </p:spTree>
    <p:extLst>
      <p:ext uri="{BB962C8B-B14F-4D97-AF65-F5344CB8AC3E}">
        <p14:creationId xmlns:p14="http://schemas.microsoft.com/office/powerpoint/2010/main" val="3752451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14184-0A57-4A3A-B58B-17C928DCB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算法的相关定理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EBF919-DA68-4D9F-A1FA-9D074F2316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定理：下一条最短路径或者是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，或者是中间经过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中的某些顶点</a:t>
                </a:r>
                <a:r>
                  <a:rPr lang="zh-CN" altLang="en-US" dirty="0"/>
                  <a:t>而后到达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zh-CN" altLang="en-US" dirty="0"/>
                  <a:t>的路径。</a:t>
                </a: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b="1" dirty="0"/>
                  <a:t>反证</a:t>
                </a:r>
                <a:r>
                  <a:rPr lang="zh-CN" altLang="en-US" dirty="0"/>
                  <a:t>：</a:t>
                </a:r>
                <a:r>
                  <a:rPr lang="zh-CN" altLang="en-US" b="0" dirty="0"/>
                  <a:t>假设下一条最短路径上有一个顶点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en-US" b="0" dirty="0"/>
                  <a:t>不在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b="0" dirty="0"/>
                  <a:t>中，即此路径为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。显然，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的长度小于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0" dirty="0"/>
                  <a:t>的长度，所以下一条最短路径不是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, </a:t>
                </a:r>
                <a:r>
                  <a:rPr lang="zh-CN" altLang="en-US" b="0" dirty="0"/>
                  <a:t>与假设矛盾。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6EBF919-DA68-4D9F-A1FA-9D074F231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 t="-235" r="-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7452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B43A-52FA-467B-B3BA-C47D4E22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算法的计算过程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F363C53-A246-48E0-B1E1-914383410C20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080985470"/>
                  </p:ext>
                </p:extLst>
              </p:nvPr>
            </p:nvGraphicFramePr>
            <p:xfrm>
              <a:off x="304800" y="1524000"/>
              <a:ext cx="6172200" cy="4084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3604247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547678094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3206366804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4123070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源点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终点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最短路径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路长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227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8492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2539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54837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37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zh-CN" alt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254439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F363C53-A246-48E0-B1E1-914383410C20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080985470"/>
                  </p:ext>
                </p:extLst>
              </p:nvPr>
            </p:nvGraphicFramePr>
            <p:xfrm>
              <a:off x="304800" y="1524000"/>
              <a:ext cx="6172200" cy="4084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3604247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547678094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3206366804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412307017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源点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终点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最短路径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路长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227319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93913" r="-480000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93913" r="-346809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93913" r="-37263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84926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193913" r="-480000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193913" r="-346809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193913" r="-37263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253976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293913" r="-480000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293913" r="-346809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293913" r="-37263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548371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393913" r="-48000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393913" r="-346809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393913" r="-37263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371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493913" r="-4800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493913" r="-346809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0000" t="-493913" r="-1143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544396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C60AD37-391C-4DA5-864E-2DA4F674FC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941" y="1499311"/>
            <a:ext cx="5461000" cy="3529889"/>
          </a:xfrm>
        </p:spPr>
      </p:pic>
      <p:sp>
        <p:nvSpPr>
          <p:cNvPr id="3" name="等腰三角形 2">
            <a:extLst>
              <a:ext uri="{FF2B5EF4-FFF2-40B4-BE49-F238E27FC236}">
                <a16:creationId xmlns:a16="http://schemas.microsoft.com/office/drawing/2014/main" id="{35BA4CFD-3EA4-A77F-066F-0D20C950C234}"/>
              </a:ext>
            </a:extLst>
          </p:cNvPr>
          <p:cNvSpPr/>
          <p:nvPr/>
        </p:nvSpPr>
        <p:spPr bwMode="auto">
          <a:xfrm>
            <a:off x="7391400" y="2895600"/>
            <a:ext cx="2286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9420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B43A-52FA-467B-B3BA-C47D4E22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算法的计算过程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F363C53-A246-48E0-B1E1-914383410C20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73617836"/>
                  </p:ext>
                </p:extLst>
              </p:nvPr>
            </p:nvGraphicFramePr>
            <p:xfrm>
              <a:off x="304800" y="1524000"/>
              <a:ext cx="6172200" cy="4084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3604247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547678094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3206366804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4123070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源点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终点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最短路径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路长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227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8492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2539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54837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37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zh-CN" alt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254439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F363C53-A246-48E0-B1E1-914383410C20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73617836"/>
                  </p:ext>
                </p:extLst>
              </p:nvPr>
            </p:nvGraphicFramePr>
            <p:xfrm>
              <a:off x="304800" y="1524000"/>
              <a:ext cx="6172200" cy="4084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3604247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547678094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3206366804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412307017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源点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终点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最短路径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路长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227319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93913" r="-480000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93913" r="-346809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93913" r="-37263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84926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193913" r="-480000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193913" r="-346809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193913" r="-37263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253976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293913" r="-480000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293913" r="-346809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293913" r="-37263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548371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393913" r="-48000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393913" r="-346809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393913" r="-37263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371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493913" r="-4800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493913" r="-346809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0000" t="-493913" r="-1143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544396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C60AD37-391C-4DA5-864E-2DA4F674FC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941" y="1499311"/>
            <a:ext cx="5461000" cy="3529889"/>
          </a:xfrm>
        </p:spPr>
      </p:pic>
      <p:sp>
        <p:nvSpPr>
          <p:cNvPr id="3" name="等腰三角形 2">
            <a:extLst>
              <a:ext uri="{FF2B5EF4-FFF2-40B4-BE49-F238E27FC236}">
                <a16:creationId xmlns:a16="http://schemas.microsoft.com/office/drawing/2014/main" id="{35BA4CFD-3EA4-A77F-066F-0D20C950C234}"/>
              </a:ext>
            </a:extLst>
          </p:cNvPr>
          <p:cNvSpPr/>
          <p:nvPr/>
        </p:nvSpPr>
        <p:spPr bwMode="auto">
          <a:xfrm>
            <a:off x="7391400" y="2895600"/>
            <a:ext cx="2286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4FC55EE4-1C28-89AA-E849-3C791AE074C6}"/>
              </a:ext>
            </a:extLst>
          </p:cNvPr>
          <p:cNvSpPr/>
          <p:nvPr/>
        </p:nvSpPr>
        <p:spPr bwMode="auto">
          <a:xfrm>
            <a:off x="7391400" y="4670612"/>
            <a:ext cx="228600" cy="228600"/>
          </a:xfrm>
          <a:prstGeom prst="triangl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47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B43A-52FA-467B-B3BA-C47D4E22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算法的计算过程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F363C53-A246-48E0-B1E1-914383410C20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345415132"/>
                  </p:ext>
                </p:extLst>
              </p:nvPr>
            </p:nvGraphicFramePr>
            <p:xfrm>
              <a:off x="304800" y="1524000"/>
              <a:ext cx="6172200" cy="4084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3604247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547678094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3206366804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4123070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源点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终点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最短路径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路长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227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8492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2539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4837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37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zh-CN" alt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254439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F363C53-A246-48E0-B1E1-914383410C20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345415132"/>
                  </p:ext>
                </p:extLst>
              </p:nvPr>
            </p:nvGraphicFramePr>
            <p:xfrm>
              <a:off x="304800" y="1524000"/>
              <a:ext cx="6172200" cy="4084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3604247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547678094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3206366804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412307017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源点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终点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最短路径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路长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227319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93913" r="-480000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93913" r="-346809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93913" r="-37263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84926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193913" r="-480000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193913" r="-346809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193913" r="-37263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253976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293913" r="-480000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293913" r="-346809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293913" r="-37263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48371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393913" r="-48000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393913" r="-346809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393913" r="-37263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371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493913" r="-4800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493913" r="-346809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0000" t="-493913" r="-1143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544396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C60AD37-391C-4DA5-864E-2DA4F674FC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941" y="1499311"/>
            <a:ext cx="5461000" cy="3529889"/>
          </a:xfrm>
        </p:spPr>
      </p:pic>
      <p:sp>
        <p:nvSpPr>
          <p:cNvPr id="3" name="等腰三角形 2">
            <a:extLst>
              <a:ext uri="{FF2B5EF4-FFF2-40B4-BE49-F238E27FC236}">
                <a16:creationId xmlns:a16="http://schemas.microsoft.com/office/drawing/2014/main" id="{35BA4CFD-3EA4-A77F-066F-0D20C950C234}"/>
              </a:ext>
            </a:extLst>
          </p:cNvPr>
          <p:cNvSpPr/>
          <p:nvPr/>
        </p:nvSpPr>
        <p:spPr bwMode="auto">
          <a:xfrm>
            <a:off x="7391400" y="2895600"/>
            <a:ext cx="2286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4FC55EE4-1C28-89AA-E849-3C791AE074C6}"/>
              </a:ext>
            </a:extLst>
          </p:cNvPr>
          <p:cNvSpPr/>
          <p:nvPr/>
        </p:nvSpPr>
        <p:spPr bwMode="auto">
          <a:xfrm>
            <a:off x="7391400" y="4670612"/>
            <a:ext cx="228600" cy="228600"/>
          </a:xfrm>
          <a:prstGeom prst="triangl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984F3078-B13C-5FB8-5D87-DFF9C6930730}"/>
              </a:ext>
            </a:extLst>
          </p:cNvPr>
          <p:cNvSpPr/>
          <p:nvPr/>
        </p:nvSpPr>
        <p:spPr bwMode="auto">
          <a:xfrm>
            <a:off x="9525000" y="4670612"/>
            <a:ext cx="1524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9147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B43A-52FA-467B-B3BA-C47D4E22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算法的计算过程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F363C53-A246-48E0-B1E1-914383410C20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10927578"/>
                  </p:ext>
                </p:extLst>
              </p:nvPr>
            </p:nvGraphicFramePr>
            <p:xfrm>
              <a:off x="304800" y="1524000"/>
              <a:ext cx="6172200" cy="4084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3604247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547678094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3206366804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4123070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源点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终点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最短路径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路长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227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8492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2539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4837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37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4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zh-CN" alt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4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254439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F363C53-A246-48E0-B1E1-914383410C20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10927578"/>
                  </p:ext>
                </p:extLst>
              </p:nvPr>
            </p:nvGraphicFramePr>
            <p:xfrm>
              <a:off x="304800" y="1524000"/>
              <a:ext cx="6172200" cy="4084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3604247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547678094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3206366804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412307017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源点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终点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最短路径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路长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227319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93913" r="-480000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93913" r="-346809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93913" r="-37263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84926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193913" r="-480000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193913" r="-346809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193913" r="-37263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253976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293913" r="-480000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293913" r="-346809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293913" r="-37263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48371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393913" r="-48000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393913" r="-346809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842" t="-393913" r="-37263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371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493913" r="-4800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4149" t="-493913" r="-346809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0000" t="-493913" r="-1143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544396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C60AD37-391C-4DA5-864E-2DA4F674FC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941" y="1499311"/>
            <a:ext cx="5461000" cy="3529889"/>
          </a:xfrm>
        </p:spPr>
      </p:pic>
      <p:sp>
        <p:nvSpPr>
          <p:cNvPr id="3" name="等腰三角形 2">
            <a:extLst>
              <a:ext uri="{FF2B5EF4-FFF2-40B4-BE49-F238E27FC236}">
                <a16:creationId xmlns:a16="http://schemas.microsoft.com/office/drawing/2014/main" id="{35BA4CFD-3EA4-A77F-066F-0D20C950C234}"/>
              </a:ext>
            </a:extLst>
          </p:cNvPr>
          <p:cNvSpPr/>
          <p:nvPr/>
        </p:nvSpPr>
        <p:spPr bwMode="auto">
          <a:xfrm>
            <a:off x="7391400" y="2895600"/>
            <a:ext cx="2286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4FC55EE4-1C28-89AA-E849-3C791AE074C6}"/>
              </a:ext>
            </a:extLst>
          </p:cNvPr>
          <p:cNvSpPr/>
          <p:nvPr/>
        </p:nvSpPr>
        <p:spPr bwMode="auto">
          <a:xfrm>
            <a:off x="7391400" y="4670612"/>
            <a:ext cx="228600" cy="228600"/>
          </a:xfrm>
          <a:prstGeom prst="triangl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984F3078-B13C-5FB8-5D87-DFF9C6930730}"/>
              </a:ext>
            </a:extLst>
          </p:cNvPr>
          <p:cNvSpPr/>
          <p:nvPr/>
        </p:nvSpPr>
        <p:spPr bwMode="auto">
          <a:xfrm>
            <a:off x="9525000" y="4670612"/>
            <a:ext cx="1524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11B6AFB4-0B3F-F51E-8501-3B95B875C1BF}"/>
              </a:ext>
            </a:extLst>
          </p:cNvPr>
          <p:cNvSpPr/>
          <p:nvPr/>
        </p:nvSpPr>
        <p:spPr bwMode="auto">
          <a:xfrm>
            <a:off x="11582400" y="2895600"/>
            <a:ext cx="228600" cy="228600"/>
          </a:xfrm>
          <a:prstGeom prst="triangle">
            <a:avLst/>
          </a:prstGeom>
          <a:solidFill>
            <a:srgbClr val="92D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6122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CD0D3-F4AA-4C12-9C52-B02137D4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算法的描述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E4D9B7-11A8-4663-AC62-5027B39E6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设图用邻接矩阵表示，求顶点</a:t>
                </a:r>
                <a:r>
                  <a:rPr lang="en-US" altLang="zh-CN" b="0" dirty="0"/>
                  <a:t>0</a:t>
                </a:r>
                <a:r>
                  <a:rPr lang="zh-CN" altLang="en-US" b="0" dirty="0"/>
                  <a:t>到其他顶点的最短路径。</a:t>
                </a:r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(1)</a:t>
                </a:r>
                <a:r>
                  <a:rPr lang="zh-CN" altLang="en-US" b="0" dirty="0"/>
                  <a:t> </a:t>
                </a:r>
                <a:r>
                  <a:rPr lang="en-US" altLang="zh-CN" b="0" dirty="0"/>
                  <a:t>S={ 0 }; 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     用</a:t>
                </a:r>
                <a:r>
                  <a:rPr lang="en-US" altLang="zh-CN" b="0" dirty="0"/>
                  <a:t>distance</a:t>
                </a:r>
                <a:r>
                  <a:rPr lang="zh-CN" altLang="en-US" b="0" dirty="0"/>
                  <a:t>数组存放</a:t>
                </a:r>
                <a:r>
                  <a:rPr lang="en-US" altLang="zh-CN" b="0" dirty="0"/>
                  <a:t>0</a:t>
                </a:r>
                <a:r>
                  <a:rPr lang="zh-CN" altLang="en-US" b="0" dirty="0"/>
                  <a:t>到其他顶点的最短路径长度，</a:t>
                </a:r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     </a:t>
                </a:r>
                <a:r>
                  <a:rPr lang="zh-CN" altLang="en-US" b="0" dirty="0"/>
                  <a:t>初始化为</a:t>
                </a:r>
                <a:r>
                  <a:rPr lang="en-US" altLang="zh-CN" b="0" dirty="0"/>
                  <a:t> distance[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]=matrix[0][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].weight;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(2) </a:t>
                </a:r>
                <a:r>
                  <a:rPr lang="zh-CN" altLang="en-US" b="0" dirty="0"/>
                  <a:t>选择 </a:t>
                </a:r>
                <a:r>
                  <a:rPr lang="en-US" altLang="zh-CN" b="0" dirty="0"/>
                  <a:t>k</a:t>
                </a:r>
                <a:r>
                  <a:rPr lang="zh-CN" altLang="en-US" b="0" dirty="0"/>
                  <a:t>，使得</a:t>
                </a:r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     distance[k]=Min{ distance[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] | 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CN" b="0" dirty="0"/>
                  <a:t> V-S }, 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     k </a:t>
                </a:r>
                <a:r>
                  <a:rPr lang="zh-CN" altLang="en-US" b="0" dirty="0"/>
                  <a:t>就是当前求得的下一条最短路径的终点；</a:t>
                </a:r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(3) </a:t>
                </a:r>
                <a:r>
                  <a:rPr lang="zh-CN" altLang="en-US" b="0" dirty="0"/>
                  <a:t>将 </a:t>
                </a:r>
                <a:r>
                  <a:rPr lang="en-US" altLang="zh-CN" b="0" dirty="0"/>
                  <a:t>k </a:t>
                </a:r>
                <a:r>
                  <a:rPr lang="zh-CN" altLang="en-US" b="0" dirty="0"/>
                  <a:t>加入</a:t>
                </a:r>
                <a:r>
                  <a:rPr lang="en-US" altLang="zh-CN" b="0" dirty="0"/>
                  <a:t>S</a:t>
                </a:r>
                <a:r>
                  <a:rPr lang="zh-CN" altLang="en-US" b="0" dirty="0"/>
                  <a:t>；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E4D9B7-11A8-4663-AC62-5027B39E6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6" t="-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790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CD0D3-F4AA-4C12-9C52-B02137D4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算法的描述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E4D9B7-11A8-4663-AC62-5027B39E6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887200" cy="51816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(4)</a:t>
            </a:r>
            <a:r>
              <a:rPr lang="zh-CN" altLang="en-US" b="0" dirty="0"/>
              <a:t> 因为 </a:t>
            </a:r>
            <a:r>
              <a:rPr lang="en-US" altLang="zh-CN" b="0" dirty="0"/>
              <a:t>k </a:t>
            </a:r>
            <a:r>
              <a:rPr lang="zh-CN" altLang="en-US" b="0" dirty="0"/>
              <a:t>加入了</a:t>
            </a:r>
            <a:r>
              <a:rPr lang="en-US" altLang="zh-CN" b="0" dirty="0"/>
              <a:t>S</a:t>
            </a:r>
            <a:r>
              <a:rPr lang="zh-CN" altLang="en-US" b="0" dirty="0"/>
              <a:t>，所以多了一个可中转节点。这时需要修正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zh-CN" altLang="en-US" b="0" dirty="0"/>
              <a:t> 从</a:t>
            </a:r>
            <a:r>
              <a:rPr lang="en-US" altLang="zh-CN" b="0" dirty="0"/>
              <a:t>0</a:t>
            </a:r>
            <a:r>
              <a:rPr lang="zh-CN" altLang="en-US" b="0" dirty="0"/>
              <a:t>出发可到集合 </a:t>
            </a:r>
            <a:r>
              <a:rPr lang="en-US" altLang="zh-CN" b="0" dirty="0"/>
              <a:t>V-S </a:t>
            </a:r>
            <a:r>
              <a:rPr lang="zh-CN" altLang="en-US" b="0" dirty="0"/>
              <a:t>中每个顶点的最短路径长度：</a:t>
            </a:r>
            <a:r>
              <a:rPr lang="en-US" altLang="zh-CN" b="0" dirty="0"/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如果 </a:t>
            </a:r>
            <a:r>
              <a:rPr lang="en-US" altLang="zh-CN" b="0" dirty="0"/>
              <a:t>distance[k]+matrix[k][</a:t>
            </a:r>
            <a:r>
              <a:rPr lang="en-US" altLang="zh-CN" b="0" dirty="0" err="1"/>
              <a:t>i</a:t>
            </a:r>
            <a:r>
              <a:rPr lang="en-US" altLang="zh-CN" b="0" dirty="0"/>
              <a:t>].weight&lt;distance[</a:t>
            </a:r>
            <a:r>
              <a:rPr lang="en-US" altLang="zh-CN" b="0" dirty="0" err="1"/>
              <a:t>i</a:t>
            </a:r>
            <a:r>
              <a:rPr lang="en-US" altLang="zh-CN" b="0" dirty="0"/>
              <a:t>]</a:t>
            </a:r>
            <a:r>
              <a:rPr lang="zh-CN" altLang="en-US" b="0" dirty="0"/>
              <a:t>，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则 </a:t>
            </a:r>
            <a:r>
              <a:rPr lang="en-US" altLang="zh-CN" b="0" dirty="0"/>
              <a:t>distance[</a:t>
            </a:r>
            <a:r>
              <a:rPr lang="en-US" altLang="zh-CN" b="0" dirty="0" err="1"/>
              <a:t>i</a:t>
            </a:r>
            <a:r>
              <a:rPr lang="en-US" altLang="zh-CN" b="0" dirty="0"/>
              <a:t>]=distance[k]+matrix[k][</a:t>
            </a:r>
            <a:r>
              <a:rPr lang="en-US" altLang="zh-CN" b="0" dirty="0" err="1"/>
              <a:t>i</a:t>
            </a:r>
            <a:r>
              <a:rPr lang="en-US" altLang="zh-CN" b="0" dirty="0"/>
              <a:t>].weight;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(5) </a:t>
            </a:r>
            <a:r>
              <a:rPr lang="zh-CN" altLang="en-US" b="0" dirty="0"/>
              <a:t>重复执行 </a:t>
            </a:r>
            <a:r>
              <a:rPr lang="en-US" altLang="zh-CN" b="0" dirty="0"/>
              <a:t>(2)(3)(4) </a:t>
            </a:r>
            <a:r>
              <a:rPr lang="zh-CN" altLang="en-US" b="0" dirty="0"/>
              <a:t>，共执行</a:t>
            </a:r>
            <a:r>
              <a:rPr lang="en-US" altLang="zh-CN" b="0" dirty="0"/>
              <a:t>n-1</a:t>
            </a:r>
            <a:r>
              <a:rPr lang="zh-CN" altLang="en-US" b="0" dirty="0"/>
              <a:t>次。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思考：</a:t>
            </a:r>
            <a:r>
              <a:rPr lang="en-US" altLang="zh-CN" b="0" dirty="0"/>
              <a:t>1</a:t>
            </a:r>
            <a:r>
              <a:rPr lang="zh-CN" altLang="en-US" b="0" dirty="0"/>
              <a:t>、</a:t>
            </a:r>
            <a:r>
              <a:rPr lang="en-US" altLang="zh-CN" b="0" dirty="0"/>
              <a:t>Dijkstra</a:t>
            </a:r>
            <a:r>
              <a:rPr lang="zh-CN" altLang="en-US" b="0" dirty="0"/>
              <a:t>算法的时间复杂度是多少？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      2</a:t>
            </a:r>
            <a:r>
              <a:rPr lang="zh-CN" altLang="en-US" b="0" dirty="0"/>
              <a:t>、怎样求所有顶点间的最短路径，其时间复杂度是多少？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8172794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CD0D3-F4AA-4C12-9C52-B02137D4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最短路径：弗洛伊德算法 </a:t>
            </a:r>
            <a:r>
              <a:rPr lang="en-US" altLang="zh-CN" dirty="0"/>
              <a:t>[Floyd 1962]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E4D9B7-11A8-4663-AC62-5027B39E6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887200" cy="57150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求所有顶点间的最短路径。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(-1)</a:t>
            </a:r>
            <a:r>
              <a:rPr lang="zh-CN" altLang="en-US" b="0" dirty="0"/>
              <a:t> 将顶点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到 </a:t>
            </a:r>
            <a:r>
              <a:rPr lang="en-US" altLang="zh-CN" b="0" dirty="0"/>
              <a:t>j </a:t>
            </a:r>
            <a:r>
              <a:rPr lang="zh-CN" altLang="en-US" b="0" dirty="0"/>
              <a:t>的最短路径长度初始化为：</a:t>
            </a:r>
            <a:r>
              <a:rPr lang="en-US" altLang="zh-CN" b="0" dirty="0"/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     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-1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][j]=matrix[</a:t>
            </a:r>
            <a:r>
              <a:rPr lang="en-US" altLang="zh-CN" b="0" dirty="0" err="1"/>
              <a:t>i</a:t>
            </a:r>
            <a:r>
              <a:rPr lang="en-US" altLang="zh-CN" b="0" dirty="0"/>
              <a:t>][j].weight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然后进行</a:t>
            </a:r>
            <a:r>
              <a:rPr lang="en-US" altLang="zh-CN" b="0" dirty="0"/>
              <a:t>n</a:t>
            </a:r>
            <a:r>
              <a:rPr lang="zh-CN" altLang="en-US" b="0" dirty="0"/>
              <a:t>次修正，依次产生 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0</a:t>
            </a:r>
            <a:r>
              <a:rPr lang="zh-CN" altLang="en-US" b="0" dirty="0"/>
              <a:t>、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1</a:t>
            </a:r>
            <a:r>
              <a:rPr lang="zh-CN" altLang="en-US" b="0" dirty="0"/>
              <a:t>、</a:t>
            </a:r>
            <a:r>
              <a:rPr lang="en-US" altLang="zh-CN" b="0" dirty="0"/>
              <a:t>… </a:t>
            </a:r>
            <a:r>
              <a:rPr lang="zh-CN" altLang="en-US" b="0" dirty="0"/>
              <a:t>、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n-1 </a:t>
            </a:r>
            <a:r>
              <a:rPr lang="zh-CN" altLang="en-US" b="0" dirty="0"/>
              <a:t>矩阵。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</a:t>
            </a:r>
            <a:r>
              <a:rPr lang="zh-CN" altLang="en-US" b="0" dirty="0"/>
              <a:t>  </a:t>
            </a:r>
            <a:r>
              <a:rPr lang="en-US" altLang="zh-CN" b="0" dirty="0">
                <a:solidFill>
                  <a:srgbClr val="FF0000"/>
                </a:solidFill>
              </a:rPr>
              <a:t>D</a:t>
            </a:r>
            <a:r>
              <a:rPr lang="en-US" altLang="zh-CN" b="0" baseline="-25000" dirty="0">
                <a:solidFill>
                  <a:srgbClr val="FF0000"/>
                </a:solidFill>
              </a:rPr>
              <a:t>k</a:t>
            </a:r>
            <a:r>
              <a:rPr lang="en-US" altLang="zh-CN" b="0" dirty="0">
                <a:solidFill>
                  <a:srgbClr val="FF0000"/>
                </a:solidFill>
              </a:rPr>
              <a:t>[</a:t>
            </a:r>
            <a:r>
              <a:rPr lang="en-US" altLang="zh-CN" b="0" dirty="0" err="1">
                <a:solidFill>
                  <a:srgbClr val="FF0000"/>
                </a:solidFill>
              </a:rPr>
              <a:t>i</a:t>
            </a:r>
            <a:r>
              <a:rPr lang="en-US" altLang="zh-CN" b="0" dirty="0">
                <a:solidFill>
                  <a:srgbClr val="FF0000"/>
                </a:solidFill>
              </a:rPr>
              <a:t>][j]</a:t>
            </a:r>
            <a:r>
              <a:rPr lang="zh-CN" altLang="en-US" b="0" dirty="0">
                <a:solidFill>
                  <a:srgbClr val="FF0000"/>
                </a:solidFill>
              </a:rPr>
              <a:t>表示从 </a:t>
            </a:r>
            <a:r>
              <a:rPr lang="en-US" altLang="zh-CN" b="0" dirty="0" err="1">
                <a:solidFill>
                  <a:srgbClr val="FF0000"/>
                </a:solidFill>
              </a:rPr>
              <a:t>i</a:t>
            </a:r>
            <a:r>
              <a:rPr lang="en-US" altLang="zh-CN" b="0" dirty="0">
                <a:solidFill>
                  <a:srgbClr val="FF0000"/>
                </a:solidFill>
              </a:rPr>
              <a:t> </a:t>
            </a:r>
            <a:r>
              <a:rPr lang="zh-CN" altLang="en-US" b="0" dirty="0">
                <a:solidFill>
                  <a:srgbClr val="FF0000"/>
                </a:solidFill>
              </a:rPr>
              <a:t>到 </a:t>
            </a:r>
            <a:r>
              <a:rPr lang="en-US" altLang="zh-CN" b="0" dirty="0">
                <a:solidFill>
                  <a:srgbClr val="FF0000"/>
                </a:solidFill>
              </a:rPr>
              <a:t>j </a:t>
            </a:r>
            <a:r>
              <a:rPr lang="zh-CN" altLang="en-US" b="0" dirty="0">
                <a:solidFill>
                  <a:srgbClr val="FF0000"/>
                </a:solidFill>
              </a:rPr>
              <a:t>的中间顶点号不超过 </a:t>
            </a:r>
            <a:r>
              <a:rPr lang="en-US" altLang="zh-CN" b="0" dirty="0">
                <a:solidFill>
                  <a:srgbClr val="FF0000"/>
                </a:solidFill>
              </a:rPr>
              <a:t>k </a:t>
            </a:r>
            <a:r>
              <a:rPr lang="zh-CN" altLang="en-US" b="0" dirty="0">
                <a:solidFill>
                  <a:srgbClr val="FF0000"/>
                </a:solidFill>
              </a:rPr>
              <a:t>的最短路径长度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 D</a:t>
            </a:r>
            <a:r>
              <a:rPr lang="en-US" altLang="zh-CN" b="0" baseline="-25000" dirty="0"/>
              <a:t>n-1</a:t>
            </a:r>
            <a:r>
              <a:rPr lang="zh-CN" altLang="en-US" b="0" dirty="0"/>
              <a:t>即是最终结果。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(0) </a:t>
            </a:r>
            <a:r>
              <a:rPr lang="zh-CN" altLang="en-US" b="0" dirty="0"/>
              <a:t>在 </a:t>
            </a:r>
            <a:r>
              <a:rPr lang="en-US" altLang="zh-CN" b="0" dirty="0" err="1"/>
              <a:t>i</a:t>
            </a:r>
            <a:r>
              <a:rPr lang="zh-CN" altLang="en-US" b="0" dirty="0"/>
              <a:t>、</a:t>
            </a:r>
            <a:r>
              <a:rPr lang="en-US" altLang="zh-CN" b="0" dirty="0"/>
              <a:t>j </a:t>
            </a:r>
            <a:r>
              <a:rPr lang="zh-CN" altLang="en-US" b="0" dirty="0"/>
              <a:t>之间加入顶点</a:t>
            </a:r>
            <a:r>
              <a:rPr lang="en-US" altLang="zh-CN" b="0" dirty="0"/>
              <a:t>0</a:t>
            </a:r>
            <a:r>
              <a:rPr lang="zh-CN" altLang="en-US" b="0" dirty="0"/>
              <a:t>，比较</a:t>
            </a:r>
            <a:r>
              <a:rPr lang="en-US" altLang="zh-CN" b="0" dirty="0"/>
              <a:t>(</a:t>
            </a:r>
            <a:r>
              <a:rPr lang="en-US" altLang="zh-CN" b="0" dirty="0" err="1"/>
              <a:t>i</a:t>
            </a:r>
            <a:r>
              <a:rPr lang="en-US" altLang="zh-CN" b="0" dirty="0"/>
              <a:t>, 0, j)</a:t>
            </a:r>
            <a:r>
              <a:rPr lang="zh-CN" altLang="en-US" b="0" dirty="0"/>
              <a:t>和</a:t>
            </a:r>
            <a:r>
              <a:rPr lang="en-US" altLang="zh-CN" b="0" dirty="0"/>
              <a:t>(</a:t>
            </a:r>
            <a:r>
              <a:rPr lang="en-US" altLang="zh-CN" b="0" dirty="0" err="1"/>
              <a:t>i</a:t>
            </a:r>
            <a:r>
              <a:rPr lang="en-US" altLang="zh-CN" b="0" dirty="0"/>
              <a:t>, j)</a:t>
            </a:r>
            <a:r>
              <a:rPr lang="zh-CN" altLang="en-US" b="0" dirty="0"/>
              <a:t>的路径长度，可得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从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到 </a:t>
            </a:r>
            <a:r>
              <a:rPr lang="en-US" altLang="zh-CN" b="0" dirty="0"/>
              <a:t>j </a:t>
            </a:r>
            <a:r>
              <a:rPr lang="zh-CN" altLang="en-US" b="0" dirty="0"/>
              <a:t>的且中间顶点号不大于</a:t>
            </a:r>
            <a:r>
              <a:rPr lang="en-US" altLang="zh-CN" b="0" dirty="0"/>
              <a:t>0</a:t>
            </a:r>
            <a:r>
              <a:rPr lang="zh-CN" altLang="en-US" b="0" dirty="0"/>
              <a:t>的最短路径长度 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0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][j]</a:t>
            </a:r>
            <a:r>
              <a:rPr lang="zh-CN" altLang="en-US" b="0" dirty="0"/>
              <a:t>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5960089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CD0D3-F4AA-4C12-9C52-B02137D4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最短路径：</a:t>
            </a:r>
            <a:r>
              <a:rPr lang="en-US" altLang="zh-CN" dirty="0"/>
              <a:t>Floyd</a:t>
            </a:r>
            <a:r>
              <a:rPr lang="zh-CN" altLang="en-US" dirty="0"/>
              <a:t>算法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E4D9B7-11A8-4663-AC62-5027B39E6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734800" cy="51816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(1)</a:t>
            </a:r>
            <a:r>
              <a:rPr lang="zh-CN" altLang="en-US" b="0" dirty="0"/>
              <a:t> 在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、</a:t>
            </a:r>
            <a:r>
              <a:rPr lang="en-US" altLang="zh-CN" b="0" dirty="0"/>
              <a:t>j </a:t>
            </a:r>
            <a:r>
              <a:rPr lang="zh-CN" altLang="en-US" b="0" dirty="0"/>
              <a:t>之间加入顶点</a:t>
            </a:r>
            <a:r>
              <a:rPr lang="en-US" altLang="zh-CN" b="0" dirty="0"/>
              <a:t>1</a:t>
            </a:r>
            <a:r>
              <a:rPr lang="zh-CN" altLang="en-US" b="0" dirty="0"/>
              <a:t>，得路径 </a:t>
            </a:r>
            <a:r>
              <a:rPr lang="en-US" altLang="zh-CN" b="0" dirty="0"/>
              <a:t>(</a:t>
            </a:r>
            <a:r>
              <a:rPr lang="en-US" altLang="zh-CN" b="0" dirty="0" err="1"/>
              <a:t>i</a:t>
            </a:r>
            <a:r>
              <a:rPr lang="en-US" altLang="zh-CN" b="0" dirty="0"/>
              <a:t> …1 … j)</a:t>
            </a:r>
            <a:r>
              <a:rPr lang="zh-CN" altLang="en-US" b="0" dirty="0"/>
              <a:t>，其中 </a:t>
            </a:r>
            <a:r>
              <a:rPr lang="en-US" altLang="zh-CN" b="0" dirty="0"/>
              <a:t>(</a:t>
            </a:r>
            <a:r>
              <a:rPr lang="en-US" altLang="zh-CN" b="0" dirty="0" err="1"/>
              <a:t>i</a:t>
            </a:r>
            <a:r>
              <a:rPr lang="en-US" altLang="zh-CN" b="0" dirty="0"/>
              <a:t>…1)</a:t>
            </a:r>
            <a:r>
              <a:rPr lang="zh-CN" altLang="en-US" b="0" dirty="0"/>
              <a:t>和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     </a:t>
            </a:r>
            <a:r>
              <a:rPr lang="en-US" altLang="zh-CN" b="0" dirty="0"/>
              <a:t>(1…j)</a:t>
            </a:r>
            <a:r>
              <a:rPr lang="zh-CN" altLang="en-US" b="0" dirty="0"/>
              <a:t>的中间顶点号不大于</a:t>
            </a:r>
            <a:r>
              <a:rPr lang="en-US" altLang="zh-CN" b="0" dirty="0"/>
              <a:t>0</a:t>
            </a:r>
            <a:r>
              <a:rPr lang="zh-CN" altLang="en-US" b="0" dirty="0"/>
              <a:t>的最短路径长度已在上一步求出，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</a:t>
            </a:r>
            <a:r>
              <a:rPr lang="zh-CN" altLang="en-US" b="0" dirty="0"/>
              <a:t>  即 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0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][1] </a:t>
            </a:r>
            <a:r>
              <a:rPr lang="zh-CN" altLang="en-US" b="0" dirty="0"/>
              <a:t>和 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0</a:t>
            </a:r>
            <a:r>
              <a:rPr lang="en-US" altLang="zh-CN" b="0" dirty="0"/>
              <a:t>[1][j]</a:t>
            </a:r>
            <a:r>
              <a:rPr lang="zh-CN" altLang="en-US" b="0" dirty="0"/>
              <a:t>。由此可得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 D</a:t>
            </a:r>
            <a:r>
              <a:rPr lang="en-US" altLang="zh-CN" b="0" baseline="-25000" dirty="0"/>
              <a:t>1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][j]=Min{D</a:t>
            </a:r>
            <a:r>
              <a:rPr lang="en-US" altLang="zh-CN" b="0" baseline="-25000" dirty="0"/>
              <a:t>0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][j], D</a:t>
            </a:r>
            <a:r>
              <a:rPr lang="en-US" altLang="zh-CN" b="0" baseline="-25000" dirty="0"/>
              <a:t>0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][1]+D</a:t>
            </a:r>
            <a:r>
              <a:rPr lang="en-US" altLang="zh-CN" b="0" baseline="-25000" dirty="0"/>
              <a:t>0</a:t>
            </a:r>
            <a:r>
              <a:rPr lang="en-US" altLang="zh-CN" b="0" dirty="0"/>
              <a:t>[1][j] }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以此类推，依次得 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2</a:t>
            </a:r>
            <a:r>
              <a:rPr lang="zh-CN" altLang="en-US" b="0" dirty="0"/>
              <a:t>、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3</a:t>
            </a:r>
            <a:r>
              <a:rPr lang="zh-CN" altLang="en-US" b="0" dirty="0"/>
              <a:t>、</a:t>
            </a:r>
            <a:r>
              <a:rPr lang="en-US" altLang="zh-CN" b="0" dirty="0"/>
              <a:t>… </a:t>
            </a:r>
            <a:r>
              <a:rPr lang="zh-CN" altLang="en-US" b="0" dirty="0"/>
              <a:t>、</a:t>
            </a:r>
            <a:r>
              <a:rPr lang="en-US" altLang="zh-CN" b="0" dirty="0"/>
              <a:t>D</a:t>
            </a:r>
            <a:r>
              <a:rPr lang="en-US" altLang="zh-CN" b="0" baseline="-25000" dirty="0"/>
              <a:t>n-1 </a:t>
            </a:r>
            <a:r>
              <a:rPr lang="zh-CN" altLang="en-US" b="0" dirty="0"/>
              <a:t>矩阵。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D</a:t>
            </a:r>
            <a:r>
              <a:rPr lang="en-US" altLang="zh-CN" b="0" baseline="-25000" dirty="0"/>
              <a:t>n-1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][j] </a:t>
            </a:r>
            <a:r>
              <a:rPr lang="zh-CN" altLang="en-US" b="0" dirty="0"/>
              <a:t>就是顶点</a:t>
            </a:r>
            <a:r>
              <a:rPr lang="en-US" altLang="zh-CN" b="0" dirty="0"/>
              <a:t>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到 </a:t>
            </a:r>
            <a:r>
              <a:rPr lang="en-US" altLang="zh-CN" b="0" dirty="0"/>
              <a:t>j </a:t>
            </a:r>
            <a:r>
              <a:rPr lang="zh-CN" altLang="en-US" b="0" dirty="0"/>
              <a:t>的最短路径的长度。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思考：</a:t>
            </a:r>
            <a:r>
              <a:rPr lang="en-US" altLang="zh-CN" b="0" dirty="0"/>
              <a:t>Floyd</a:t>
            </a:r>
            <a:r>
              <a:rPr lang="zh-CN" altLang="en-US" b="0" dirty="0"/>
              <a:t>算法的时间复杂度是多少？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2372358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CD0D3-F4AA-4C12-9C52-B02137D4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11506200" cy="685800"/>
          </a:xfrm>
        </p:spPr>
        <p:txBody>
          <a:bodyPr/>
          <a:lstStyle/>
          <a:p>
            <a:r>
              <a:rPr lang="zh-CN" altLang="en-US" dirty="0"/>
              <a:t>最短路径：贝尔曼</a:t>
            </a:r>
            <a:r>
              <a:rPr lang="en-US" altLang="zh-CN" dirty="0"/>
              <a:t>-</a:t>
            </a:r>
            <a:r>
              <a:rPr lang="zh-CN" altLang="en-US" dirty="0"/>
              <a:t>福特算法 </a:t>
            </a:r>
            <a:r>
              <a:rPr lang="en-US" altLang="zh-CN" dirty="0"/>
              <a:t>[Ford 1956]</a:t>
            </a:r>
            <a:br>
              <a:rPr lang="en-US" altLang="zh-CN" dirty="0"/>
            </a:br>
            <a:r>
              <a:rPr lang="en-US" altLang="zh-CN" dirty="0"/>
              <a:t>[Moore 1957, Richard Bellman 1958]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E4D9B7-11A8-4663-AC62-5027B39E6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752600"/>
                <a:ext cx="11887200" cy="5715000"/>
              </a:xfrm>
            </p:spPr>
            <p:txBody>
              <a:bodyPr/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zh-CN" altLang="en-US" b="0" dirty="0"/>
                  <a:t>用 </a:t>
                </a:r>
                <a:r>
                  <a:rPr lang="en-US" altLang="zh-CN" b="0" dirty="0"/>
                  <a:t>d[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] </a:t>
                </a:r>
                <a:r>
                  <a:rPr lang="zh-CN" altLang="en-US" b="0" dirty="0"/>
                  <a:t>表示目前已知的从单源顶点 </a:t>
                </a:r>
                <a:r>
                  <a:rPr lang="en-US" altLang="zh-CN" b="0" dirty="0"/>
                  <a:t>0 </a:t>
                </a:r>
                <a:r>
                  <a:rPr lang="zh-CN" altLang="en-US" b="0" dirty="0"/>
                  <a:t>到顶点 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 </a:t>
                </a:r>
                <a:r>
                  <a:rPr lang="zh-CN" altLang="en-US" b="0" dirty="0"/>
                  <a:t>的最短路径长度。</a:t>
                </a:r>
                <a:endParaRPr lang="en-US" altLang="zh-CN" b="0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 err="1"/>
                  <a:t>BellmanFord</a:t>
                </a:r>
                <a:r>
                  <a:rPr lang="en-US" altLang="zh-CN" b="0" dirty="0"/>
                  <a:t>(0){ 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/>
                  <a:t>    d[0]=0</a:t>
                </a:r>
                <a:r>
                  <a:rPr lang="zh-CN" altLang="en-US" b="0" dirty="0"/>
                  <a:t>，</a:t>
                </a:r>
                <a:r>
                  <a:rPr lang="en-US" altLang="zh-CN" b="0" dirty="0"/>
                  <a:t>d[1]…d[n-1]=∞;  // </a:t>
                </a:r>
                <a:r>
                  <a:rPr lang="zh-CN" altLang="en-US" b="0" dirty="0"/>
                  <a:t>初始化</a:t>
                </a:r>
                <a:endParaRPr lang="en-US" altLang="zh-CN" b="0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/>
                  <a:t>    </a:t>
                </a:r>
                <a:r>
                  <a:rPr lang="en-US" altLang="zh-CN" dirty="0"/>
                  <a:t>for</a:t>
                </a:r>
                <a:r>
                  <a:rPr lang="en-US" altLang="zh-CN" b="0" dirty="0"/>
                  <a:t> (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=1; 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&lt;n; 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++) {  // </a:t>
                </a:r>
                <a:r>
                  <a:rPr lang="zh-CN" altLang="en-US" b="0" dirty="0"/>
                  <a:t>最短路径上的边数不超过</a:t>
                </a:r>
                <a:r>
                  <a:rPr lang="en-US" altLang="zh-CN" b="0" dirty="0"/>
                  <a:t>n-1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/>
                  <a:t>        </a:t>
                </a:r>
                <a:r>
                  <a:rPr lang="en-US" altLang="zh-CN" dirty="0"/>
                  <a:t>for</a:t>
                </a:r>
                <a:r>
                  <a:rPr lang="en-US" altLang="zh-CN" b="0" dirty="0"/>
                  <a:t> each edge (</a:t>
                </a:r>
                <a:r>
                  <a:rPr lang="en-US" altLang="zh-CN" b="0" dirty="0" err="1"/>
                  <a:t>u,v</a:t>
                </a:r>
                <a:r>
                  <a:rPr lang="en-US" altLang="zh-CN" b="0" dirty="0"/>
                  <a:t>) {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/>
                  <a:t>            // </a:t>
                </a:r>
                <a:r>
                  <a:rPr lang="zh-CN" altLang="en-US" b="0" dirty="0"/>
                  <a:t>做松弛操作：</a:t>
                </a:r>
                <a:endParaRPr lang="en-US" altLang="zh-CN" b="0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/>
                  <a:t>            </a:t>
                </a:r>
                <a:r>
                  <a:rPr lang="en-US" altLang="zh-CN" dirty="0"/>
                  <a:t>if</a:t>
                </a:r>
                <a:r>
                  <a:rPr lang="en-US" altLang="zh-CN" b="0" dirty="0"/>
                  <a:t>  d[v]&gt;d[u]+weight(</a:t>
                </a:r>
                <a:r>
                  <a:rPr lang="en-US" altLang="zh-CN" b="0" dirty="0" err="1"/>
                  <a:t>u,v</a:t>
                </a:r>
                <a:r>
                  <a:rPr lang="en-US" altLang="zh-CN" b="0" dirty="0"/>
                  <a:t>),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/>
                  <a:t>            </a:t>
                </a:r>
                <a:r>
                  <a:rPr lang="en-US" altLang="zh-CN" dirty="0"/>
                  <a:t>then</a:t>
                </a:r>
                <a:r>
                  <a:rPr lang="en-US" altLang="zh-CN" b="0" dirty="0"/>
                  <a:t>  d[v]=d[u]+weight(</a:t>
                </a:r>
                <a:r>
                  <a:rPr lang="en-US" altLang="zh-CN" b="0" dirty="0" err="1"/>
                  <a:t>u,v</a:t>
                </a:r>
                <a:r>
                  <a:rPr lang="en-US" altLang="zh-CN" b="0" dirty="0"/>
                  <a:t>);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/>
                  <a:t>        }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/>
                  <a:t>    } // </a:t>
                </a:r>
                <a:r>
                  <a:rPr lang="zh-CN" altLang="en-US" b="0" dirty="0"/>
                  <a:t>在第 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 </a:t>
                </a:r>
                <a:r>
                  <a:rPr lang="zh-CN" altLang="en-US" b="0" dirty="0"/>
                  <a:t>次松弛迭代中，必定松弛了最短路径上的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0" dirty="0"/>
                  <a:t>} // </a:t>
                </a:r>
                <a:r>
                  <a:rPr lang="zh-CN" altLang="en-US" b="0" dirty="0"/>
                  <a:t>时间复杂度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E4D9B7-11A8-4663-AC62-5027B39E6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752600"/>
                <a:ext cx="11887200" cy="5715000"/>
              </a:xfrm>
              <a:blipFill>
                <a:blip r:embed="rId2"/>
                <a:stretch>
                  <a:fillRect l="-1282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7685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973A84F-CC26-445C-9557-78DAE9324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9600" dirty="0"/>
              <a:t>Thanks</a:t>
            </a:r>
            <a:endParaRPr lang="zh-CN" altLang="en-US" sz="96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50DF2250-098B-4699-9E3D-63A1FD7252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9600" dirty="0"/>
              <a:t>Questions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773962330"/>
      </p:ext>
    </p:extLst>
  </p:cSld>
  <p:clrMapOvr>
    <a:masterClrMapping/>
  </p:clrMapOvr>
</p:sld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12614</TotalTime>
  <Words>5361</Words>
  <Application>Microsoft Office PowerPoint</Application>
  <PresentationFormat>宽屏</PresentationFormat>
  <Paragraphs>700</Paragraphs>
  <Slides>74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80" baseType="lpstr">
      <vt:lpstr>微软雅黑</vt:lpstr>
      <vt:lpstr>Arial</vt:lpstr>
      <vt:lpstr>Cambria Math</vt:lpstr>
      <vt:lpstr>Times New Roman</vt:lpstr>
      <vt:lpstr>Wingdings</vt:lpstr>
      <vt:lpstr>tm2</vt:lpstr>
      <vt:lpstr>第七章  图</vt:lpstr>
      <vt:lpstr>图是一种网状结构</vt:lpstr>
      <vt:lpstr>图的基本术语</vt:lpstr>
      <vt:lpstr>图的基本术语(接上)</vt:lpstr>
      <vt:lpstr>图的存储-邻接矩阵</vt:lpstr>
      <vt:lpstr>图的存储-邻接矩阵</vt:lpstr>
      <vt:lpstr>图的存储-邻接矩阵的一种定义</vt:lpstr>
      <vt:lpstr>               图的存储-邻接表</vt:lpstr>
      <vt:lpstr>图的存储-邻接表的一种定义</vt:lpstr>
      <vt:lpstr>图的存储-邻接表的一种定义(接上)</vt:lpstr>
      <vt:lpstr>图的逆邻接表</vt:lpstr>
      <vt:lpstr>图的存储-十字链表</vt:lpstr>
      <vt:lpstr>图的遍历-深度优先</vt:lpstr>
      <vt:lpstr>图的遍历-广度优先</vt:lpstr>
      <vt:lpstr>图的遍历的实现</vt:lpstr>
      <vt:lpstr>图的遍历的实现(接上)</vt:lpstr>
      <vt:lpstr>深度优先遍历的实现</vt:lpstr>
      <vt:lpstr>广度优先遍历的实现</vt:lpstr>
      <vt:lpstr>广度优先遍历的实现(接上)</vt:lpstr>
      <vt:lpstr>图的连通性</vt:lpstr>
      <vt:lpstr>两点间的简单路径</vt:lpstr>
      <vt:lpstr>深度优先找简单路径1/4</vt:lpstr>
      <vt:lpstr>深度优先找简单路径2/4</vt:lpstr>
      <vt:lpstr>深度优先找简单路径3/4</vt:lpstr>
      <vt:lpstr>深度优先找简单路径4/4</vt:lpstr>
      <vt:lpstr>生成树</vt:lpstr>
      <vt:lpstr>最小生成树</vt:lpstr>
      <vt:lpstr>MST性质的证明</vt:lpstr>
      <vt:lpstr>普里姆算法（加点法） [Jarnik 1930, Prim 1957]</vt:lpstr>
      <vt:lpstr>Prim算法</vt:lpstr>
      <vt:lpstr>Prim算法</vt:lpstr>
      <vt:lpstr>Prim算法</vt:lpstr>
      <vt:lpstr>Prim算法</vt:lpstr>
      <vt:lpstr>Prim算法</vt:lpstr>
      <vt:lpstr>Prim算法</vt:lpstr>
      <vt:lpstr>Prim算法的实现1/4</vt:lpstr>
      <vt:lpstr>Prim算法的实现2/4</vt:lpstr>
      <vt:lpstr>Prim算法的实现3/4</vt:lpstr>
      <vt:lpstr>Prim算法的实现4/4</vt:lpstr>
      <vt:lpstr>克鲁斯卡尔算法（加边法） [Kruskal 1956]</vt:lpstr>
      <vt:lpstr>Kruskal算法</vt:lpstr>
      <vt:lpstr>Kruskal算法</vt:lpstr>
      <vt:lpstr>Kruskal算法</vt:lpstr>
      <vt:lpstr>Kruskal算法的伪代码描述</vt:lpstr>
      <vt:lpstr>有向无环图</vt:lpstr>
      <vt:lpstr>用AOV网描述课程关系</vt:lpstr>
      <vt:lpstr>拓扑排序概念</vt:lpstr>
      <vt:lpstr>拓扑排序算法</vt:lpstr>
      <vt:lpstr>拓扑排序的实现1/4</vt:lpstr>
      <vt:lpstr>拓扑排序的实现2/4</vt:lpstr>
      <vt:lpstr>拓扑排序的实现3/4</vt:lpstr>
      <vt:lpstr>拓扑排序的实现4/4</vt:lpstr>
      <vt:lpstr>用AOE网描述工程过程</vt:lpstr>
      <vt:lpstr>关键路径：从开始点到结束点的最长路径</vt:lpstr>
      <vt:lpstr>关键路径的计算</vt:lpstr>
      <vt:lpstr>关键路径的计算1/7</vt:lpstr>
      <vt:lpstr>关键路径的计算2/7</vt:lpstr>
      <vt:lpstr>关键路径的计算3/7</vt:lpstr>
      <vt:lpstr>关键路径的计算-4/7</vt:lpstr>
      <vt:lpstr>关键路径的计算-5/7</vt:lpstr>
      <vt:lpstr>关键路径的计算-6/7</vt:lpstr>
      <vt:lpstr>关键路径的计算-7/7</vt:lpstr>
      <vt:lpstr>最短路径：狄克斯特拉算法 [Dijkstra1959]</vt:lpstr>
      <vt:lpstr>Dijkstra算法的相关定理</vt:lpstr>
      <vt:lpstr>Dijkstra算法的计算过程</vt:lpstr>
      <vt:lpstr>Dijkstra算法的计算过程</vt:lpstr>
      <vt:lpstr>Dijkstra算法的计算过程</vt:lpstr>
      <vt:lpstr>Dijkstra算法的计算过程</vt:lpstr>
      <vt:lpstr>Dijkstra算法的描述</vt:lpstr>
      <vt:lpstr>Dijkstra算法的描述(接上)</vt:lpstr>
      <vt:lpstr>最短路径：弗洛伊德算法 [Floyd 1962]</vt:lpstr>
      <vt:lpstr>最短路径：Floyd算法(接上)</vt:lpstr>
      <vt:lpstr>最短路径：贝尔曼-福特算法 [Ford 1956] [Moore 1957, Richard Bellman 1958]</vt:lpstr>
      <vt:lpstr>Thanks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xue zhang</cp:lastModifiedBy>
  <cp:revision>1499</cp:revision>
  <cp:lastPrinted>2024-02-25T10:02:58Z</cp:lastPrinted>
  <dcterms:created xsi:type="dcterms:W3CDTF">1999-08-24T18:39:05Z</dcterms:created>
  <dcterms:modified xsi:type="dcterms:W3CDTF">2026-05-19T03:43:51Z</dcterms:modified>
</cp:coreProperties>
</file>