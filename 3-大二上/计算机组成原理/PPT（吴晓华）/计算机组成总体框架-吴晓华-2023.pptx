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CC00"/>
    <a:srgbClr val="CCFF99"/>
    <a:srgbClr val="CCFFCC"/>
    <a:srgbClr val="800000"/>
    <a:srgbClr val="FFFF99"/>
    <a:srgbClr val="7FFF7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94"/>
    <p:restoredTop sz="90305"/>
  </p:normalViewPr>
  <p:slideViewPr>
    <p:cSldViewPr snapToGrid="0" showGuides="1">
      <p:cViewPr>
        <p:scale>
          <a:sx n="73" d="100"/>
          <a:sy n="73" d="100"/>
        </p:scale>
        <p:origin x="-630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0"/>
            <a:r>
              <a:rPr lang="zh-CN" altLang="en-US"/>
              <a:t>第二级</a:t>
            </a:r>
            <a:endParaRPr lang="zh-CN" altLang="en-US"/>
          </a:p>
          <a:p>
            <a:pPr lvl="2" indent="0"/>
            <a:r>
              <a:rPr lang="zh-CN" altLang="en-US"/>
              <a:t>第三级</a:t>
            </a:r>
            <a:endParaRPr lang="zh-CN" altLang="en-US"/>
          </a:p>
          <a:p>
            <a:pPr lvl="3" indent="0"/>
            <a:r>
              <a:rPr lang="zh-CN" altLang="en-US"/>
              <a:t>第四级</a:t>
            </a:r>
            <a:endParaRPr lang="zh-CN" altLang="en-US"/>
          </a:p>
          <a:p>
            <a:pPr lvl="4" indent="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5122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6145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2051" name="任意多边形 6146"/>
            <p:cNvSpPr/>
            <p:nvPr/>
          </p:nvSpPr>
          <p:spPr>
            <a:xfrm>
              <a:off x="2061" y="1707"/>
              <a:ext cx="3699" cy="2613"/>
            </a:xfrm>
            <a:custGeom>
              <a:avLst/>
              <a:gdLst/>
              <a:ahLst/>
              <a:cxnLst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6147"/>
            <p:cNvSpPr/>
            <p:nvPr/>
          </p:nvSpPr>
          <p:spPr>
            <a:xfrm>
              <a:off x="-652" y="978"/>
              <a:ext cx="4237" cy="3342"/>
            </a:xfrm>
            <a:custGeom>
              <a:avLst/>
              <a:gdLst/>
              <a:ahLst/>
              <a:cxnLst>
                <a:cxn ang="270">
                  <a:pos x="3977" y="0"/>
                </a:cxn>
                <a:cxn ang="0">
                  <a:pos x="21600" y="21231"/>
                </a:cxn>
                <a:cxn ang="180">
                  <a:pos x="0" y="21231"/>
                </a:cxn>
              </a:cxnLst>
              <a:pathLst>
                <a:path w="21600" h="21231" fill="none">
                  <a:moveTo>
                    <a:pt x="3977" y="0"/>
                  </a:moveTo>
                  <a:cubicBezTo>
                    <a:pt x="14012" y="1869"/>
                    <a:pt x="21600" y="10664"/>
                    <a:pt x="21600" y="21231"/>
                  </a:cubicBezTo>
                </a:path>
                <a:path w="21600" h="21231" stroke="0">
                  <a:moveTo>
                    <a:pt x="3977" y="0"/>
                  </a:moveTo>
                  <a:cubicBezTo>
                    <a:pt x="14012" y="1869"/>
                    <a:pt x="21600" y="10664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149" name="标题 6148"/>
          <p:cNvSpPr>
            <a:spLocks noGrp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>
            <a:lvl1pPr lvl="0">
              <a:buClrTx/>
              <a:buSzTx/>
              <a:buFontTx/>
              <a:defRPr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6150" name="副标题 6149"/>
          <p:cNvSpPr>
            <a:spLocks noGrp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marL="0" lvl="0" indent="0" algn="ctr"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tx1"/>
              </a:buClr>
              <a:buSzPct val="90000"/>
              <a:buFontTx/>
              <a:buNone/>
              <a:defRPr/>
            </a:lvl2pPr>
            <a:lvl3pPr marL="914400" lvl="2" indent="0" algn="ctr">
              <a:buClr>
                <a:schemeClr val="accent1"/>
              </a:buClr>
              <a:buSzPct val="6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tx1"/>
              </a:buClr>
              <a:buSzTx/>
              <a:buFontTx/>
              <a:buNone/>
              <a:defRPr/>
            </a:lvl4pPr>
            <a:lvl5pPr marL="1828800" lvl="4" indent="0" algn="ctr">
              <a:buClr>
                <a:schemeClr val="accent1"/>
              </a:buClr>
              <a:buSzTx/>
              <a:buFontTx/>
              <a:buNone/>
              <a:defRPr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6151" name="日期占位符 6150"/>
          <p:cNvSpPr>
            <a:spLocks noGrp="1"/>
          </p:cNvSpPr>
          <p:nvPr>
            <p:ph type="dt" sz="quarter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>
              <a:defRPr sz="1400"/>
            </a:lvl1pPr>
          </a:lstStyle>
          <a:p>
            <a:pPr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" name="页脚占位符 6151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algn="ctr">
              <a:defRPr sz="1400"/>
            </a:lvl1pPr>
          </a:lstStyle>
          <a:p>
            <a:pPr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" name="灯片编号占位符 6152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algn="r">
              <a:defRPr sz="1400"/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5121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1027" name="任意多边形 5122"/>
            <p:cNvSpPr/>
            <p:nvPr/>
          </p:nvSpPr>
          <p:spPr>
            <a:xfrm>
              <a:off x="3394" y="999"/>
              <a:ext cx="2359" cy="3314"/>
            </a:xfrm>
            <a:custGeom>
              <a:avLst/>
              <a:gdLst/>
              <a:ahLst/>
              <a:cxnLst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rgbClr val="182F76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5123"/>
            <p:cNvSpPr/>
            <p:nvPr/>
          </p:nvSpPr>
          <p:spPr>
            <a:xfrm>
              <a:off x="0" y="1"/>
              <a:ext cx="5298" cy="4312"/>
            </a:xfrm>
            <a:custGeom>
              <a:avLst/>
              <a:gdLst/>
              <a:ahLst/>
              <a:cxnLst>
                <a:cxn ang="270">
                  <a:pos x="0" y="0"/>
                </a:cxn>
                <a:cxn ang="90">
                  <a:pos x="21600" y="21600"/>
                </a:cxn>
                <a:cxn ang="90">
                  <a:pos x="0" y="21600"/>
                </a:cxn>
              </a:cxnLst>
              <a:pathLst>
                <a:path w="21600" h="21600" fill="none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</a:path>
                <a:path w="21600" h="21600" stroke="0">
                  <a:moveTo>
                    <a:pt x="0" y="0"/>
                  </a:moveTo>
                  <a:cubicBezTo>
                    <a:pt x="11929" y="0"/>
                    <a:pt x="21600" y="9671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5125" name="标题 5124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126" name="日期占位符 5125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7" name="页脚占位符 5126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8" name="灯片编号占位符 5127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文本占位符 5128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effectLst>
            <a:outerShdw blurRad="38100" dist="38100" dir="2700000">
              <a:srgbClr val="000000"/>
            </a:outerShdw>
          </a:effectLst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90000"/>
        <a:buFontTx/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Tx/>
        <a:buFontTx/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Tx/>
        <a:buFontTx/>
        <a:buChar char="•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grpSp>
        <p:nvGrpSpPr>
          <p:cNvPr id="4164" name="组合 4163"/>
          <p:cNvGrpSpPr/>
          <p:nvPr/>
        </p:nvGrpSpPr>
        <p:grpSpPr>
          <a:xfrm>
            <a:off x="685800" y="2089150"/>
            <a:ext cx="1114425" cy="957263"/>
            <a:chOff x="512" y="1316"/>
            <a:chExt cx="702" cy="603"/>
          </a:xfrm>
        </p:grpSpPr>
        <p:sp>
          <p:nvSpPr>
            <p:cNvPr id="4098" name="文本框 4097"/>
            <p:cNvSpPr txBox="1"/>
            <p:nvPr/>
          </p:nvSpPr>
          <p:spPr>
            <a:xfrm>
              <a:off x="512" y="1316"/>
              <a:ext cx="702" cy="271"/>
            </a:xfrm>
            <a:prstGeom prst="rect">
              <a:avLst/>
            </a:prstGeom>
            <a:solidFill>
              <a:srgbClr val="CCFFFF"/>
            </a:solidFill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300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控制器</a:t>
              </a:r>
              <a:endParaRPr lang="zh-CN" altLang="en-US" sz="2300" b="1" dirty="0">
                <a:solidFill>
                  <a:srgbClr val="0038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9" name="文本框 4098"/>
            <p:cNvSpPr txBox="1"/>
            <p:nvPr/>
          </p:nvSpPr>
          <p:spPr>
            <a:xfrm>
              <a:off x="512" y="1648"/>
              <a:ext cx="702" cy="271"/>
            </a:xfrm>
            <a:prstGeom prst="rect">
              <a:avLst/>
            </a:prstGeom>
            <a:solidFill>
              <a:srgbClr val="CCFFFF"/>
            </a:solidFill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300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运算器</a:t>
              </a:r>
              <a:endParaRPr lang="zh-CN" altLang="en-US" sz="2300" b="1" dirty="0">
                <a:solidFill>
                  <a:srgbClr val="0038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00" name="文本框 4099"/>
          <p:cNvSpPr txBox="1"/>
          <p:nvPr/>
        </p:nvSpPr>
        <p:spPr>
          <a:xfrm>
            <a:off x="1933575" y="2089150"/>
            <a:ext cx="554038" cy="960438"/>
          </a:xfrm>
          <a:prstGeom prst="rect">
            <a:avLst/>
          </a:prstGeom>
          <a:solidFill>
            <a:srgbClr val="CC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300" b="1" dirty="0">
                <a:solidFill>
                  <a:srgbClr val="003800"/>
                </a:solidFill>
                <a:latin typeface="Times New Roman" panose="02020603050405020304" pitchFamily="18" charset="0"/>
              </a:rPr>
              <a:t>Cache</a:t>
            </a:r>
            <a:endParaRPr lang="en-US" altLang="zh-CN" sz="2300" b="1" dirty="0">
              <a:solidFill>
                <a:srgbClr val="0038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3" name="文本框 4102"/>
          <p:cNvSpPr txBox="1"/>
          <p:nvPr/>
        </p:nvSpPr>
        <p:spPr>
          <a:xfrm>
            <a:off x="4911725" y="2717800"/>
            <a:ext cx="3657600" cy="696913"/>
          </a:xfrm>
          <a:prstGeom prst="rect">
            <a:avLst/>
          </a:prstGeom>
          <a:solidFill>
            <a:srgbClr val="CC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 defTabSz="936625">
              <a:lnSpc>
                <a:spcPct val="85000"/>
              </a:lnSpc>
              <a:spcBef>
                <a:spcPct val="50000"/>
              </a:spcBef>
            </a:pPr>
            <a:r>
              <a:rPr lang="zh-CN" altLang="en-US" sz="2200" b="1" dirty="0">
                <a:solidFill>
                  <a:srgbClr val="800000"/>
                </a:solidFill>
                <a:latin typeface="Times New Roman" panose="02020603050405020304" pitchFamily="18" charset="0"/>
              </a:rPr>
              <a:t>                                         接口</a:t>
            </a:r>
            <a:endParaRPr lang="zh-CN" altLang="en-US" sz="2200" b="1" dirty="0">
              <a:solidFill>
                <a:srgbClr val="800000"/>
              </a:solidFill>
              <a:latin typeface="Times New Roman" panose="02020603050405020304" pitchFamily="18" charset="0"/>
            </a:endParaRPr>
          </a:p>
          <a:p>
            <a:pPr defTabSz="936625">
              <a:lnSpc>
                <a:spcPct val="90000"/>
              </a:lnSpc>
            </a:pPr>
            <a:r>
              <a:rPr lang="zh-CN" altLang="en-US" sz="2200" b="1" dirty="0">
                <a:solidFill>
                  <a:srgbClr val="003800"/>
                </a:solidFill>
                <a:latin typeface="Times New Roman" panose="02020603050405020304" pitchFamily="18" charset="0"/>
              </a:rPr>
              <a:t> 查询           中断         </a:t>
            </a:r>
            <a:r>
              <a:rPr lang="en-US" altLang="zh-CN" sz="2200" b="1" dirty="0">
                <a:solidFill>
                  <a:srgbClr val="003800"/>
                </a:solidFill>
                <a:latin typeface="Times New Roman" panose="02020603050405020304" pitchFamily="18" charset="0"/>
              </a:rPr>
              <a:t>DMA</a:t>
            </a:r>
            <a:endParaRPr lang="en-US" altLang="zh-CN" sz="2200" b="1" dirty="0">
              <a:solidFill>
                <a:srgbClr val="0038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7" name="矩形 4106"/>
          <p:cNvSpPr/>
          <p:nvPr/>
        </p:nvSpPr>
        <p:spPr>
          <a:xfrm>
            <a:off x="565150" y="2000250"/>
            <a:ext cx="2160588" cy="1131888"/>
          </a:xfrm>
          <a:prstGeom prst="rect">
            <a:avLst/>
          </a:prstGeom>
          <a:noFill/>
          <a:ln w="15875" cap="flat" cmpd="sng">
            <a:solidFill>
              <a:srgbClr val="CC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4157" name="组合 4156"/>
          <p:cNvGrpSpPr/>
          <p:nvPr/>
        </p:nvGrpSpPr>
        <p:grpSpPr>
          <a:xfrm>
            <a:off x="2741613" y="2263775"/>
            <a:ext cx="5981700" cy="438150"/>
            <a:chOff x="1799" y="1514"/>
            <a:chExt cx="3768" cy="326"/>
          </a:xfrm>
        </p:grpSpPr>
        <p:sp>
          <p:nvSpPr>
            <p:cNvPr id="4104" name="直接连接符 4107"/>
            <p:cNvSpPr/>
            <p:nvPr/>
          </p:nvSpPr>
          <p:spPr>
            <a:xfrm>
              <a:off x="1799" y="1524"/>
              <a:ext cx="3768" cy="0"/>
            </a:xfrm>
            <a:prstGeom prst="line">
              <a:avLst/>
            </a:prstGeom>
            <a:ln w="53975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05" name="直接连接符 4108"/>
            <p:cNvSpPr/>
            <p:nvPr/>
          </p:nvSpPr>
          <p:spPr>
            <a:xfrm>
              <a:off x="2425" y="1514"/>
              <a:ext cx="0" cy="240"/>
            </a:xfrm>
            <a:prstGeom prst="line">
              <a:avLst/>
            </a:prstGeom>
            <a:ln w="25400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06" name="直接连接符 4113"/>
            <p:cNvSpPr/>
            <p:nvPr/>
          </p:nvSpPr>
          <p:spPr>
            <a:xfrm>
              <a:off x="4230" y="1532"/>
              <a:ext cx="0" cy="308"/>
            </a:xfrm>
            <a:prstGeom prst="line">
              <a:avLst/>
            </a:prstGeom>
            <a:ln w="31750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</p:grpSp>
      <p:sp>
        <p:nvSpPr>
          <p:cNvPr id="4116" name="文本框 4115"/>
          <p:cNvSpPr txBox="1"/>
          <p:nvPr/>
        </p:nvSpPr>
        <p:spPr>
          <a:xfrm>
            <a:off x="55563" y="122238"/>
            <a:ext cx="1462087" cy="762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以指令系统为基础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53" name="组合 4152"/>
          <p:cNvGrpSpPr/>
          <p:nvPr/>
        </p:nvGrpSpPr>
        <p:grpSpPr>
          <a:xfrm>
            <a:off x="1319213" y="-15875"/>
            <a:ext cx="1744662" cy="1044575"/>
            <a:chOff x="831" y="-10"/>
            <a:chExt cx="1099" cy="658"/>
          </a:xfrm>
        </p:grpSpPr>
        <p:sp>
          <p:nvSpPr>
            <p:cNvPr id="4109" name="左大括号 4116"/>
            <p:cNvSpPr/>
            <p:nvPr/>
          </p:nvSpPr>
          <p:spPr>
            <a:xfrm>
              <a:off x="831" y="49"/>
              <a:ext cx="122" cy="540"/>
            </a:xfrm>
            <a:prstGeom prst="leftBrace">
              <a:avLst>
                <a:gd name="adj1" fmla="val 36864"/>
                <a:gd name="adj2" fmla="val 50000"/>
              </a:avLst>
            </a:prstGeom>
            <a:noFill/>
            <a:ln w="19050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110" name="文本框 4117"/>
            <p:cNvSpPr txBox="1"/>
            <p:nvPr/>
          </p:nvSpPr>
          <p:spPr>
            <a:xfrm>
              <a:off x="922" y="-10"/>
              <a:ext cx="1008" cy="6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95000"/>
                </a:lnSpc>
              </a:pPr>
              <a:r>
                <a:rPr lang="zh-CN" altLang="en-US" sz="2200" b="1" dirty="0">
                  <a:solidFill>
                    <a:srgbClr val="CCFFFF"/>
                  </a:solidFill>
                  <a:latin typeface="Times New Roman" panose="02020603050405020304" pitchFamily="18" charset="0"/>
                </a:rPr>
                <a:t>寻址方式</a:t>
              </a:r>
              <a:endPara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95000"/>
                </a:lnSpc>
              </a:pPr>
              <a:r>
                <a:rPr lang="zh-CN" altLang="en-US" sz="2200" b="1" dirty="0">
                  <a:solidFill>
                    <a:srgbClr val="CCFFFF"/>
                  </a:solidFill>
                  <a:latin typeface="Times New Roman" panose="02020603050405020304" pitchFamily="18" charset="0"/>
                </a:rPr>
                <a:t>指令格式</a:t>
              </a:r>
              <a:endPara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95000"/>
                </a:lnSpc>
              </a:pPr>
              <a:r>
                <a:rPr lang="zh-CN" altLang="en-US" sz="2200" b="1" dirty="0">
                  <a:solidFill>
                    <a:srgbClr val="CCFFFF"/>
                  </a:solidFill>
                  <a:latin typeface="Times New Roman" panose="02020603050405020304" pitchFamily="18" charset="0"/>
                </a:rPr>
                <a:t>指令类型</a:t>
              </a:r>
              <a:endPara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11" name="左大括号 4118"/>
            <p:cNvSpPr/>
            <p:nvPr/>
          </p:nvSpPr>
          <p:spPr>
            <a:xfrm flipH="1">
              <a:off x="1716" y="60"/>
              <a:ext cx="115" cy="517"/>
            </a:xfrm>
            <a:prstGeom prst="leftBrace">
              <a:avLst>
                <a:gd name="adj1" fmla="val 37442"/>
                <a:gd name="adj2" fmla="val 50000"/>
              </a:avLst>
            </a:prstGeom>
            <a:noFill/>
            <a:ln w="19050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120" name="文本框 4119"/>
          <p:cNvSpPr txBox="1"/>
          <p:nvPr/>
        </p:nvSpPr>
        <p:spPr>
          <a:xfrm>
            <a:off x="2830513" y="88900"/>
            <a:ext cx="2043112" cy="812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5000"/>
              </a:spcBef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组合逻辑设计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15000"/>
              </a:spcBef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微程序设计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27" name="直接连接符 4126"/>
          <p:cNvSpPr/>
          <p:nvPr/>
        </p:nvSpPr>
        <p:spPr>
          <a:xfrm flipH="1">
            <a:off x="820738" y="3074988"/>
            <a:ext cx="306387" cy="384175"/>
          </a:xfrm>
          <a:prstGeom prst="line">
            <a:avLst/>
          </a:prstGeom>
          <a:ln w="19050" cap="flat" cmpd="sng">
            <a:solidFill>
              <a:srgbClr val="7FFF7F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4128" name="文本框 4127"/>
          <p:cNvSpPr txBox="1"/>
          <p:nvPr/>
        </p:nvSpPr>
        <p:spPr>
          <a:xfrm>
            <a:off x="14288" y="3443288"/>
            <a:ext cx="2312987" cy="3542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机器码的表示和互相转换；进制之间转化；机器码的四则运算转换成加法的原理 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(加、减、乘、</a:t>
            </a: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除)；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浮点数表示；</a:t>
            </a:r>
            <a:r>
              <a:rPr lang="en-US" altLang="zh-CN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IEEE754</a:t>
            </a: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；</a:t>
            </a:r>
            <a:endParaRPr lang="en-US" altLang="zh-CN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运算器的工作原理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0" name="文本框 4129"/>
          <p:cNvSpPr txBox="1"/>
          <p:nvPr/>
        </p:nvSpPr>
        <p:spPr>
          <a:xfrm>
            <a:off x="2174875" y="3525838"/>
            <a:ext cx="2133600" cy="1376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存储信息原理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存储器组织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存储器刷新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56" name="组合 4155"/>
          <p:cNvGrpSpPr/>
          <p:nvPr/>
        </p:nvGrpSpPr>
        <p:grpSpPr>
          <a:xfrm>
            <a:off x="2497138" y="2605088"/>
            <a:ext cx="1739900" cy="479425"/>
            <a:chOff x="1661" y="1769"/>
            <a:chExt cx="1154" cy="302"/>
          </a:xfrm>
        </p:grpSpPr>
        <p:sp>
          <p:nvSpPr>
            <p:cNvPr id="4117" name="直接连接符 4109"/>
            <p:cNvSpPr/>
            <p:nvPr/>
          </p:nvSpPr>
          <p:spPr>
            <a:xfrm>
              <a:off x="1661" y="1873"/>
              <a:ext cx="370" cy="0"/>
            </a:xfrm>
            <a:prstGeom prst="line">
              <a:avLst/>
            </a:prstGeom>
            <a:ln w="22225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18" name="文本框 4131"/>
            <p:cNvSpPr txBox="1"/>
            <p:nvPr/>
          </p:nvSpPr>
          <p:spPr>
            <a:xfrm>
              <a:off x="2047" y="1769"/>
              <a:ext cx="768" cy="302"/>
            </a:xfrm>
            <a:prstGeom prst="rect">
              <a:avLst/>
            </a:prstGeom>
            <a:solidFill>
              <a:srgbClr val="CCFFFF"/>
            </a:solidFill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存储器</a:t>
              </a:r>
              <a:endParaRPr lang="zh-CN" altLang="en-US" b="1" dirty="0">
                <a:solidFill>
                  <a:srgbClr val="0038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133" name="任意多边形 4132"/>
          <p:cNvSpPr/>
          <p:nvPr/>
        </p:nvSpPr>
        <p:spPr>
          <a:xfrm>
            <a:off x="3759200" y="4041775"/>
            <a:ext cx="568325" cy="849313"/>
          </a:xfrm>
          <a:custGeom>
            <a:avLst/>
            <a:gdLst/>
            <a:ahLst/>
            <a:cxnLst/>
            <a:pathLst>
              <a:path w="279" h="605">
                <a:moveTo>
                  <a:pt x="0" y="0"/>
                </a:moveTo>
                <a:lnTo>
                  <a:pt x="279" y="0"/>
                </a:lnTo>
                <a:lnTo>
                  <a:pt x="279" y="605"/>
                </a:lnTo>
              </a:path>
            </a:pathLst>
          </a:custGeom>
          <a:noFill/>
          <a:ln w="19050" cap="flat" cmpd="sng">
            <a:solidFill>
              <a:srgbClr val="CCFFF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sp>
        <p:nvSpPr>
          <p:cNvPr id="4134" name="文本框 4133"/>
          <p:cNvSpPr txBox="1"/>
          <p:nvPr/>
        </p:nvSpPr>
        <p:spPr>
          <a:xfrm>
            <a:off x="3494088" y="4875213"/>
            <a:ext cx="1462087" cy="1044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芯片选用</a:t>
            </a:r>
            <a:endParaRPr lang="zh-CN" altLang="en-US" sz="2200" b="1" dirty="0">
              <a:solidFill>
                <a:srgbClr val="FFC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地址分配</a:t>
            </a:r>
            <a:endParaRPr lang="zh-CN" altLang="en-US" sz="2200" b="1" dirty="0">
              <a:solidFill>
                <a:srgbClr val="FFC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片选逻辑</a:t>
            </a:r>
            <a:endParaRPr lang="zh-CN" altLang="en-US" sz="2200" b="1" dirty="0">
              <a:solidFill>
                <a:srgbClr val="FFC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35" name="椭圆 4134"/>
          <p:cNvSpPr/>
          <p:nvPr/>
        </p:nvSpPr>
        <p:spPr>
          <a:xfrm>
            <a:off x="287338" y="1755775"/>
            <a:ext cx="4308475" cy="1663700"/>
          </a:xfrm>
          <a:prstGeom prst="ellipse">
            <a:avLst/>
          </a:prstGeom>
          <a:noFill/>
          <a:ln w="19050" cap="flat" cmpd="sng">
            <a:solidFill>
              <a:srgbClr val="CCFF99"/>
            </a:solidFill>
            <a:prstDash val="dash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38" name="直接连接符 4137"/>
          <p:cNvSpPr/>
          <p:nvPr/>
        </p:nvSpPr>
        <p:spPr>
          <a:xfrm flipH="1" flipV="1">
            <a:off x="785813" y="827088"/>
            <a:ext cx="419100" cy="1319212"/>
          </a:xfrm>
          <a:prstGeom prst="line">
            <a:avLst/>
          </a:prstGeom>
          <a:ln w="19050" cap="flat" cmpd="sng">
            <a:solidFill>
              <a:srgbClr val="7FFF7F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4140" name="椭圆 4139"/>
          <p:cNvSpPr/>
          <p:nvPr/>
        </p:nvSpPr>
        <p:spPr>
          <a:xfrm>
            <a:off x="6253163" y="2927350"/>
            <a:ext cx="900112" cy="457200"/>
          </a:xfrm>
          <a:prstGeom prst="ellipse">
            <a:avLst/>
          </a:prstGeom>
          <a:noFill/>
          <a:ln w="19050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144" name="文本框 4143"/>
          <p:cNvSpPr txBox="1"/>
          <p:nvPr/>
        </p:nvSpPr>
        <p:spPr>
          <a:xfrm>
            <a:off x="4068763" y="604838"/>
            <a:ext cx="5197475" cy="1682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中断信号产生与传递 </a:t>
            </a: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(工作完成且未屏蔽)</a:t>
            </a:r>
            <a:endParaRPr lang="zh-CN" altLang="en-US" sz="21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优先排队 </a:t>
            </a: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(软件排队与硬件排队)</a:t>
            </a:r>
            <a:endParaRPr lang="zh-CN" altLang="en-US" sz="21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向量中断 </a:t>
            </a: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(中断号、向量地址、中断向量)</a:t>
            </a:r>
            <a:endParaRPr lang="zh-CN" altLang="en-US" sz="21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中断响应 </a:t>
            </a: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INTA、</a:t>
            </a: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获取中断号)</a:t>
            </a:r>
            <a:endParaRPr lang="zh-CN" altLang="en-US" sz="21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中断</a:t>
            </a:r>
            <a:r>
              <a:rPr lang="zh-CN" altLang="en-US" sz="21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处理</a:t>
            </a:r>
            <a:endParaRPr lang="zh-CN" altLang="en-US" sz="21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45" name="任意多边形 4144"/>
          <p:cNvSpPr/>
          <p:nvPr/>
        </p:nvSpPr>
        <p:spPr>
          <a:xfrm>
            <a:off x="3641725" y="1447800"/>
            <a:ext cx="2597150" cy="1682750"/>
          </a:xfrm>
          <a:custGeom>
            <a:avLst/>
            <a:gdLst/>
            <a:ahLst/>
            <a:cxnLst/>
            <a:pathLst>
              <a:path w="1680" h="1219">
                <a:moveTo>
                  <a:pt x="1680" y="1219"/>
                </a:moveTo>
                <a:lnTo>
                  <a:pt x="0" y="0"/>
                </a:lnTo>
                <a:lnTo>
                  <a:pt x="288" y="0"/>
                </a:lnTo>
              </a:path>
            </a:pathLst>
          </a:custGeom>
          <a:noFill/>
          <a:ln w="19050" cap="flat" cmpd="sng">
            <a:solidFill>
              <a:srgbClr val="7FFF7F"/>
            </a:solidFill>
            <a:prstDash val="solid"/>
            <a:round/>
            <a:headEnd type="oval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4160" name="组合 4159"/>
          <p:cNvGrpSpPr/>
          <p:nvPr/>
        </p:nvGrpSpPr>
        <p:grpSpPr>
          <a:xfrm>
            <a:off x="4849813" y="3414713"/>
            <a:ext cx="3614737" cy="998537"/>
            <a:chOff x="3135" y="2387"/>
            <a:chExt cx="2277" cy="686"/>
          </a:xfrm>
        </p:grpSpPr>
        <p:sp>
          <p:nvSpPr>
            <p:cNvPr id="2" name="文本框 4103"/>
            <p:cNvSpPr txBox="1"/>
            <p:nvPr/>
          </p:nvSpPr>
          <p:spPr>
            <a:xfrm>
              <a:off x="3135" y="2624"/>
              <a:ext cx="672" cy="302"/>
            </a:xfrm>
            <a:prstGeom prst="rect">
              <a:avLst/>
            </a:prstGeom>
            <a:solidFill>
              <a:srgbClr val="CC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外设1</a:t>
              </a:r>
              <a:endParaRPr lang="zh-CN" altLang="en-US" b="1" dirty="0">
                <a:solidFill>
                  <a:srgbClr val="0038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" name="文本框 4104"/>
            <p:cNvSpPr txBox="1"/>
            <p:nvPr/>
          </p:nvSpPr>
          <p:spPr>
            <a:xfrm>
              <a:off x="3959" y="2624"/>
              <a:ext cx="672" cy="302"/>
            </a:xfrm>
            <a:prstGeom prst="rect">
              <a:avLst/>
            </a:prstGeom>
            <a:solidFill>
              <a:srgbClr val="CC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外设2</a:t>
              </a:r>
              <a:endParaRPr lang="zh-CN" altLang="en-US" b="1" dirty="0">
                <a:solidFill>
                  <a:srgbClr val="0038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29" name="文本框 4105"/>
            <p:cNvSpPr txBox="1"/>
            <p:nvPr/>
          </p:nvSpPr>
          <p:spPr>
            <a:xfrm>
              <a:off x="4740" y="2625"/>
              <a:ext cx="672" cy="302"/>
            </a:xfrm>
            <a:prstGeom prst="rect">
              <a:avLst/>
            </a:prstGeom>
            <a:solidFill>
              <a:srgbClr val="CCFFFF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外设</a:t>
              </a:r>
              <a:r>
                <a:rPr lang="en-US" altLang="zh-CN" b="1" dirty="0">
                  <a:solidFill>
                    <a:srgbClr val="0038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b="1" dirty="0">
                <a:solidFill>
                  <a:srgbClr val="0038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" name="直接连接符 4110"/>
            <p:cNvSpPr/>
            <p:nvPr/>
          </p:nvSpPr>
          <p:spPr>
            <a:xfrm>
              <a:off x="3469" y="2387"/>
              <a:ext cx="0" cy="240"/>
            </a:xfrm>
            <a:prstGeom prst="line">
              <a:avLst/>
            </a:prstGeom>
            <a:ln w="25400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31" name="直接连接符 4111"/>
            <p:cNvSpPr/>
            <p:nvPr/>
          </p:nvSpPr>
          <p:spPr>
            <a:xfrm>
              <a:off x="5033" y="2387"/>
              <a:ext cx="0" cy="240"/>
            </a:xfrm>
            <a:prstGeom prst="line">
              <a:avLst/>
            </a:prstGeom>
            <a:ln w="25400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32" name="直接连接符 4112"/>
            <p:cNvSpPr/>
            <p:nvPr/>
          </p:nvSpPr>
          <p:spPr>
            <a:xfrm>
              <a:off x="4285" y="2387"/>
              <a:ext cx="0" cy="240"/>
            </a:xfrm>
            <a:prstGeom prst="line">
              <a:avLst/>
            </a:prstGeom>
            <a:ln w="25400" cap="flat" cmpd="sng">
              <a:solidFill>
                <a:srgbClr val="CCFF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5" name="左大括号 4145"/>
            <p:cNvSpPr/>
            <p:nvPr/>
          </p:nvSpPr>
          <p:spPr>
            <a:xfrm rot="-5400000">
              <a:off x="4151" y="2097"/>
              <a:ext cx="125" cy="1824"/>
            </a:xfrm>
            <a:prstGeom prst="leftBrace">
              <a:avLst>
                <a:gd name="adj1" fmla="val 121600"/>
                <a:gd name="adj2" fmla="val 50000"/>
              </a:avLst>
            </a:prstGeom>
            <a:noFill/>
            <a:ln w="19050" cap="flat" cmpd="sng">
              <a:solidFill>
                <a:srgbClr val="CC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147" name="文本框 4146"/>
          <p:cNvSpPr txBox="1"/>
          <p:nvPr/>
        </p:nvSpPr>
        <p:spPr>
          <a:xfrm>
            <a:off x="4843463" y="4387850"/>
            <a:ext cx="3673475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键盘: 识别按键位置是关键</a:t>
            </a:r>
            <a:endParaRPr lang="zh-CN" altLang="en-US" sz="22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95000"/>
              </a:lnSpc>
            </a:pPr>
            <a:r>
              <a:rPr lang="zh-CN" altLang="en-US" sz="22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          </a:t>
            </a:r>
            <a:r>
              <a:rPr lang="zh-CN" altLang="en-US" sz="20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(软件扫描与硬件扫描)</a:t>
            </a:r>
            <a:endParaRPr lang="zh-CN" altLang="en-US" sz="20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20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Bef>
                <a:spcPct val="10000"/>
              </a:spcBef>
            </a:pPr>
            <a:r>
              <a:rPr lang="zh-CN" altLang="en-US" sz="20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显示器</a:t>
            </a:r>
            <a:r>
              <a:rPr lang="en-US" altLang="zh-CN" sz="20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CRT</a:t>
            </a:r>
            <a:endParaRPr lang="en-US" altLang="zh-CN" sz="20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50" name="直接连接符 4149"/>
          <p:cNvSpPr/>
          <p:nvPr/>
        </p:nvSpPr>
        <p:spPr>
          <a:xfrm flipH="1">
            <a:off x="2840038" y="411163"/>
            <a:ext cx="665162" cy="684212"/>
          </a:xfrm>
          <a:prstGeom prst="line">
            <a:avLst/>
          </a:prstGeom>
          <a:ln w="19050" cap="flat" cmpd="sng">
            <a:solidFill>
              <a:srgbClr val="CCFFFF"/>
            </a:solidFill>
            <a:prstDash val="solid"/>
            <a:round/>
            <a:headEnd type="oval" w="med" len="med"/>
            <a:tailEnd type="triangle" w="med" len="med"/>
          </a:ln>
        </p:spPr>
      </p:sp>
      <p:sp>
        <p:nvSpPr>
          <p:cNvPr id="4151" name="文本框 4150"/>
          <p:cNvSpPr txBox="1"/>
          <p:nvPr/>
        </p:nvSpPr>
        <p:spPr>
          <a:xfrm>
            <a:off x="1644650" y="1028700"/>
            <a:ext cx="2090738" cy="669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5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rgbClr val="FFC000"/>
                </a:solidFill>
                <a:latin typeface="Times New Roman" panose="02020603050405020304" pitchFamily="18" charset="0"/>
              </a:rPr>
              <a:t>关键:</a:t>
            </a:r>
            <a:r>
              <a:rPr lang="zh-CN" altLang="en-US" sz="2000" b="1" dirty="0">
                <a:solidFill>
                  <a:srgbClr val="CCFFFF"/>
                </a:solidFill>
                <a:latin typeface="Times New Roman" panose="02020603050405020304" pitchFamily="18" charset="0"/>
              </a:rPr>
              <a:t> 指令流程和操作时间表</a:t>
            </a:r>
            <a:endParaRPr lang="zh-CN" altLang="en-US" sz="2000" b="1" dirty="0">
              <a:solidFill>
                <a:srgbClr val="CCFF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161" name="组合 4160"/>
          <p:cNvGrpSpPr/>
          <p:nvPr/>
        </p:nvGrpSpPr>
        <p:grpSpPr>
          <a:xfrm>
            <a:off x="2571750" y="3033713"/>
            <a:ext cx="1233488" cy="563562"/>
            <a:chOff x="1652" y="1971"/>
            <a:chExt cx="777" cy="490"/>
          </a:xfrm>
        </p:grpSpPr>
        <p:sp>
          <p:nvSpPr>
            <p:cNvPr id="6" name="直接连接符 4161"/>
            <p:cNvSpPr/>
            <p:nvPr/>
          </p:nvSpPr>
          <p:spPr>
            <a:xfrm flipH="1">
              <a:off x="2094" y="2000"/>
              <a:ext cx="335" cy="461"/>
            </a:xfrm>
            <a:prstGeom prst="line">
              <a:avLst/>
            </a:prstGeom>
            <a:ln w="19050" cap="flat" cmpd="sng">
              <a:solidFill>
                <a:srgbClr val="00CC00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4139" name="直接连接符 4162"/>
            <p:cNvSpPr/>
            <p:nvPr/>
          </p:nvSpPr>
          <p:spPr>
            <a:xfrm>
              <a:off x="1652" y="1971"/>
              <a:ext cx="394" cy="471"/>
            </a:xfrm>
            <a:prstGeom prst="line">
              <a:avLst/>
            </a:prstGeom>
            <a:ln w="19050" cap="flat" cmpd="sng">
              <a:solidFill>
                <a:srgbClr val="00CC00"/>
              </a:solidFill>
              <a:prstDash val="solid"/>
              <a:round/>
              <a:headEnd type="oval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8" grpId="0"/>
      <p:bldP spid="4116" grpId="0"/>
      <p:bldP spid="4120" grpId="0"/>
      <p:bldP spid="4151" grpId="0"/>
      <p:bldP spid="4135" grpId="1" animBg="1"/>
      <p:bldP spid="4107" grpId="0" animBg="1"/>
      <p:bldP spid="4130" grpId="0"/>
      <p:bldP spid="4133" grpId="0" animBg="1"/>
      <p:bldP spid="4134" grpId="0"/>
      <p:bldP spid="4135" grpId="2" animBg="1"/>
      <p:bldP spid="4103" grpId="0" animBg="1"/>
      <p:bldP spid="4140" grpId="0" animBg="1"/>
      <p:bldP spid="4145" grpId="0" animBg="1"/>
      <p:bldP spid="4144" grpId="0"/>
      <p:bldP spid="4147" grpId="0"/>
      <p:bldP spid="4100" grpId="0" animBg="1"/>
      <p:bldP spid="4100" grpId="1" animBg="1"/>
    </p:bldLst>
  </p:timing>
</p:sld>
</file>

<file path=ppt/tags/tag1.xml><?xml version="1.0" encoding="utf-8"?>
<p:tagLst xmlns:p="http://schemas.openxmlformats.org/presentationml/2006/main">
  <p:tag name="COMMONDATA" val="eyJoZGlkIjoiM2NmY2U0MjQxMjVhMzViM2U2NDc0NTI2ZDMwMzBmZGIifQ=="/>
  <p:tag name="commondata" val="eyJoZGlkIjoiZmM2NjlmMjNiODUzODBkMzc2YmU5NmY3ZDYxZjNhMzMifQ=="/>
</p:tagLst>
</file>

<file path=ppt/theme/theme1.xml><?xml version="1.0" encoding="utf-8"?>
<a:theme xmlns:a="http://schemas.openxmlformats.org/drawingml/2006/main" name="Soaring">
  <a:themeElements>
    <a:clrScheme name="">
      <a:dk1>
        <a:srgbClr val="FFFFFF"/>
      </a:dk1>
      <a:lt1>
        <a:srgbClr val="0000FF"/>
      </a:lt1>
      <a:dk2>
        <a:srgbClr val="FFCC66"/>
      </a:dk2>
      <a:lt2>
        <a:srgbClr val="000000"/>
      </a:lt2>
      <a:accent1>
        <a:srgbClr val="00FFFF"/>
      </a:accent1>
      <a:accent2>
        <a:srgbClr val="3366FF"/>
      </a:accent2>
      <a:accent3>
        <a:srgbClr val="AAAAFF"/>
      </a:accent3>
      <a:accent4>
        <a:srgbClr val="DCDCDC"/>
      </a:accent4>
      <a:accent5>
        <a:srgbClr val="AAFFFF"/>
      </a:accent5>
      <a:accent6>
        <a:srgbClr val="2D5BE5"/>
      </a:accent6>
      <a:hlink>
        <a:srgbClr val="FF0033"/>
      </a:hlink>
      <a:folHlink>
        <a:srgbClr val="FFFF00"/>
      </a:folHlink>
    </a:clrScheme>
    <a:fontScheme name="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CC66"/>
        </a:dk2>
        <a:lt2>
          <a:srgbClr val="000000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CDCDC"/>
        </a:accent4>
        <a:accent5>
          <a:srgbClr val="AAFFFF"/>
        </a:accent5>
        <a:accent6>
          <a:srgbClr val="2D5BE5"/>
        </a:accent6>
        <a:hlink>
          <a:srgbClr val="FF0033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9CAFF"/>
        </a:accent5>
        <a:accent6>
          <a:srgbClr val="5BB7E5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1E1E1"/>
        </a:accent5>
        <a:accent6>
          <a:srgbClr val="D2D2D2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CC66"/>
        </a:dk2>
        <a:lt2>
          <a:srgbClr val="000000"/>
        </a:lt2>
        <a:accent1>
          <a:srgbClr val="0099CC"/>
        </a:accent1>
        <a:accent2>
          <a:srgbClr val="009999"/>
        </a:accent2>
        <a:accent3>
          <a:srgbClr val="AAC1C1"/>
        </a:accent3>
        <a:accent4>
          <a:srgbClr val="DCDCDC"/>
        </a:accent4>
        <a:accent5>
          <a:srgbClr val="AACAE2"/>
        </a:accent5>
        <a:accent6>
          <a:srgbClr val="008989"/>
        </a:accent6>
        <a:hlink>
          <a:srgbClr val="6600CC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993300"/>
        </a:lt1>
        <a:dk2>
          <a:srgbClr val="FFCC66"/>
        </a:dk2>
        <a:lt2>
          <a:srgbClr val="000000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CDCDC"/>
        </a:accent4>
        <a:accent5>
          <a:srgbClr val="FFB9AD"/>
        </a:accent5>
        <a:accent6>
          <a:srgbClr val="B75B00"/>
        </a:accent6>
        <a:hlink>
          <a:srgbClr val="CC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352</Words>
  <Application>WPS 演示</Application>
  <PresentationFormat>屏幕显示</PresentationFormat>
  <Paragraphs>53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Soaring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贝妈</cp:lastModifiedBy>
  <cp:revision>53</cp:revision>
  <dcterms:created xsi:type="dcterms:W3CDTF">2020-11-04T03:57:00Z</dcterms:created>
  <dcterms:modified xsi:type="dcterms:W3CDTF">2024-10-23T10:40:32Z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3C6126AF6B064B889E5EDCD0283FB4A6</vt:lpwstr>
  </property>
</Properties>
</file>